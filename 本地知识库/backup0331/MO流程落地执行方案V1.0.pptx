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3.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1.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5" r:id="rId2"/>
  </p:sldMasterIdLst>
  <p:notesMasterIdLst>
    <p:notesMasterId r:id="rId38"/>
  </p:notesMasterIdLst>
  <p:sldIdLst>
    <p:sldId id="256" r:id="rId3"/>
    <p:sldId id="359" r:id="rId4"/>
    <p:sldId id="383" r:id="rId5"/>
    <p:sldId id="371" r:id="rId6"/>
    <p:sldId id="384" r:id="rId7"/>
    <p:sldId id="369" r:id="rId8"/>
    <p:sldId id="370" r:id="rId9"/>
    <p:sldId id="382" r:id="rId10"/>
    <p:sldId id="374" r:id="rId11"/>
    <p:sldId id="381" r:id="rId12"/>
    <p:sldId id="386" r:id="rId13"/>
    <p:sldId id="387" r:id="rId14"/>
    <p:sldId id="388" r:id="rId15"/>
    <p:sldId id="389" r:id="rId16"/>
    <p:sldId id="390" r:id="rId17"/>
    <p:sldId id="352" r:id="rId18"/>
    <p:sldId id="385" r:id="rId19"/>
    <p:sldId id="364" r:id="rId20"/>
    <p:sldId id="354" r:id="rId21"/>
    <p:sldId id="355" r:id="rId22"/>
    <p:sldId id="356" r:id="rId23"/>
    <p:sldId id="357" r:id="rId24"/>
    <p:sldId id="358" r:id="rId25"/>
    <p:sldId id="365" r:id="rId26"/>
    <p:sldId id="366" r:id="rId27"/>
    <p:sldId id="367" r:id="rId28"/>
    <p:sldId id="368" r:id="rId29"/>
    <p:sldId id="391" r:id="rId30"/>
    <p:sldId id="392" r:id="rId31"/>
    <p:sldId id="266" r:id="rId32"/>
    <p:sldId id="346" r:id="rId33"/>
    <p:sldId id="378" r:id="rId34"/>
    <p:sldId id="379" r:id="rId35"/>
    <p:sldId id="380" r:id="rId36"/>
    <p:sldId id="373" r:id="rId37"/>
  </p:sldIdLst>
  <p:sldSz cx="12192000" cy="6858000"/>
  <p:notesSz cx="6858000" cy="9144000"/>
  <p:custDataLst>
    <p:tags r:id="rId3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R02753" initials="R" lastIdx="1" clrIdx="0"/>
  <p:cmAuthor id="7" name="wanghaizhen" initials="w" lastIdx="2" clrIdx="6"/>
  <p:cmAuthor id="1" name="HE JC" initials="HJ" lastIdx="1" clrIdx="0"/>
  <p:cmAuthor id="2" name="作者" initials="A" lastIdx="0" clrIdx="1"/>
  <p:cmAuthor id="3" name="米 羽" initials="米" lastIdx="1" clrIdx="2"/>
  <p:cmAuthor id="4" name="孙 喜桐" initials="孙" lastIdx="1" clrIdx="3"/>
  <p:cmAuthor id="5" name="R11988" initials="R" lastIdx="1" clrIdx="4"/>
  <p:cmAuthor id="6" name="Loda" initials="L" lastIdx="1" clrIdx="5"/>
  <p:cmAuthor id="76" name="dell" initials="d" lastIdx="2" clrIdx="2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D53F"/>
    <a:srgbClr val="FFE3BB"/>
    <a:srgbClr val="FF9700"/>
    <a:srgbClr val="0070C0"/>
    <a:srgbClr val="3979C1"/>
    <a:srgbClr val="4F98EB"/>
    <a:srgbClr val="D0E4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270" autoAdjust="0"/>
    <p:restoredTop sz="90196" autoAdjust="0"/>
  </p:normalViewPr>
  <p:slideViewPr>
    <p:cSldViewPr snapToGrid="0">
      <p:cViewPr varScale="1">
        <p:scale>
          <a:sx n="84" d="100"/>
          <a:sy n="84" d="100"/>
        </p:scale>
        <p:origin x="581" y="62"/>
      </p:cViewPr>
      <p:guideLst/>
    </p:cSldViewPr>
  </p:slideViewPr>
  <p:notesTextViewPr>
    <p:cViewPr>
      <p:scale>
        <a:sx n="1" d="1"/>
        <a:sy n="1" d="1"/>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gs" Target="tags/tag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050FCB-07F6-4B22-B162-6C5FE8368D04}" type="datetimeFigureOut">
              <a:rPr lang="zh-CN" altLang="en-US" smtClean="0"/>
              <a:t>2025/12/3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E951AD-B4A1-46FE-A52F-08C91A0806C2}" type="slidenum">
              <a:rPr lang="zh-CN" altLang="en-US" smtClean="0"/>
              <a:t>‹#›</a:t>
            </a:fld>
            <a:endParaRPr lang="zh-CN" altLang="en-US"/>
          </a:p>
        </p:txBody>
      </p:sp>
    </p:spTree>
    <p:extLst>
      <p:ext uri="{BB962C8B-B14F-4D97-AF65-F5344CB8AC3E}">
        <p14:creationId xmlns:p14="http://schemas.microsoft.com/office/powerpoint/2010/main" val="1660895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6827110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981281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5405945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9087298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2608982955"/>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4.xml"/><Relationship Id="rId7"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9"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www.ruijie.com.cn/" TargetMode="External"/><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12.xml"/><Relationship Id="rId7" Type="http://schemas.openxmlformats.org/officeDocument/2006/relationships/image" Target="../media/image2.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slideMaster" Target="../slideMasters/slideMaster2.xml"/><Relationship Id="rId5" Type="http://schemas.openxmlformats.org/officeDocument/2006/relationships/tags" Target="../tags/tag14.xml"/><Relationship Id="rId4" Type="http://schemas.openxmlformats.org/officeDocument/2006/relationships/tags" Target="../tags/tag13.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pic>
        <p:nvPicPr>
          <p:cNvPr id="13" name="图片 12" descr="蓝色的天空&#10;&#10;描述已自动生成"/>
          <p:cNvPicPr>
            <a:picLocks noChangeAspect="1"/>
          </p:cNvPicPr>
          <p:nvPr userDrawn="1">
            <p:custDataLst>
              <p:tags r:id="rId1"/>
            </p:custDataLst>
          </p:nvPr>
        </p:nvPicPr>
        <p:blipFill>
          <a:blip r:embed="rId8" cstate="screen">
            <a:alphaModFix amt="35000"/>
          </a:blip>
          <a:stretch>
            <a:fillRect/>
          </a:stretch>
        </p:blipFill>
        <p:spPr>
          <a:xfrm>
            <a:off x="438" y="0"/>
            <a:ext cx="12191562" cy="6858000"/>
          </a:xfrm>
          <a:prstGeom prst="rect">
            <a:avLst/>
          </a:prstGeom>
        </p:spPr>
      </p:pic>
      <p:pic>
        <p:nvPicPr>
          <p:cNvPr id="7" name="图片 6"/>
          <p:cNvPicPr>
            <a:picLocks noChangeAspect="1"/>
          </p:cNvPicPr>
          <p:nvPr userDrawn="1">
            <p:custDataLst>
              <p:tags r:id="rId2"/>
            </p:custDataLst>
          </p:nvPr>
        </p:nvPicPr>
        <p:blipFill>
          <a:blip r:embed="rId9" cstate="screen"/>
          <a:stretch>
            <a:fillRect/>
          </a:stretch>
        </p:blipFill>
        <p:spPr>
          <a:xfrm>
            <a:off x="10144927" y="351797"/>
            <a:ext cx="1492890" cy="253694"/>
          </a:xfrm>
          <a:prstGeom prst="rect">
            <a:avLst/>
          </a:prstGeom>
        </p:spPr>
      </p:pic>
      <p:sp>
        <p:nvSpPr>
          <p:cNvPr id="10" name="矩形 9"/>
          <p:cNvSpPr/>
          <p:nvPr userDrawn="1">
            <p:custDataLst>
              <p:tags r:id="rId3"/>
            </p:custDataLst>
          </p:nvPr>
        </p:nvSpPr>
        <p:spPr>
          <a:xfrm>
            <a:off x="554182" y="763832"/>
            <a:ext cx="11083635" cy="28388"/>
          </a:xfrm>
          <a:prstGeom prst="rect">
            <a:avLst/>
          </a:prstGeom>
          <a:gradFill>
            <a:gsLst>
              <a:gs pos="0">
                <a:srgbClr val="4F98EB"/>
              </a:gs>
              <a:gs pos="100000">
                <a:srgbClr val="4F98E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灯片编号占位符 1"/>
          <p:cNvSpPr txBox="1"/>
          <p:nvPr userDrawn="1">
            <p:custDataLst>
              <p:tags r:id="rId4"/>
            </p:custDataLst>
          </p:nvPr>
        </p:nvSpPr>
        <p:spPr>
          <a:xfrm>
            <a:off x="331770" y="6356350"/>
            <a:ext cx="517113"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4EADD4-75EE-B446-88DA-ECFA910E472F}" type="slidenum">
              <a:rPr kumimoji="1" lang="zh-CN" altLang="en-US" smtClean="0"/>
              <a:t>‹#›</a:t>
            </a:fld>
            <a:endParaRPr kumimoji="1" lang="zh-CN" altLang="en-US" dirty="0"/>
          </a:p>
        </p:txBody>
      </p:sp>
      <p:sp>
        <p:nvSpPr>
          <p:cNvPr id="14" name="灯片编号占位符 1"/>
          <p:cNvSpPr txBox="1"/>
          <p:nvPr userDrawn="1">
            <p:custDataLst>
              <p:tags r:id="rId5"/>
            </p:custDataLst>
          </p:nvPr>
        </p:nvSpPr>
        <p:spPr>
          <a:xfrm>
            <a:off x="724661" y="6356350"/>
            <a:ext cx="2350470"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dirty="0"/>
              <a:t>｜ </a:t>
            </a:r>
            <a:r>
              <a:rPr kumimoji="1" lang="en-US" altLang="zh-CN" dirty="0" err="1"/>
              <a:t>www.ruijie.com.cn</a:t>
            </a:r>
            <a:endParaRPr kumimoji="1" lang="zh-CN" altLang="en-US" dirty="0"/>
          </a:p>
        </p:txBody>
      </p:sp>
      <p:sp>
        <p:nvSpPr>
          <p:cNvPr id="15" name="文本占位符 17"/>
          <p:cNvSpPr>
            <a:spLocks noGrp="1"/>
          </p:cNvSpPr>
          <p:nvPr>
            <p:ph type="body" sz="quarter" idx="13" hasCustomPrompt="1"/>
            <p:custDataLst>
              <p:tags r:id="rId6"/>
            </p:custDataLst>
          </p:nvPr>
        </p:nvSpPr>
        <p:spPr>
          <a:xfrm>
            <a:off x="573405" y="274320"/>
            <a:ext cx="4513580" cy="495935"/>
          </a:xfrm>
          <a:prstGeom prst="rect">
            <a:avLst/>
          </a:prstGeom>
        </p:spPr>
        <p:txBody>
          <a:bodyPr>
            <a:noAutofit/>
          </a:bodyPr>
          <a:lstStyle>
            <a:lvl1pPr marL="0" indent="0" algn="l" defTabSz="914400" rtl="0" eaLnBrk="1" latinLnBrk="0" hangingPunct="1">
              <a:buNone/>
              <a:defRPr kumimoji="1" lang="zh-CN" altLang="en-US" sz="2200" b="1" kern="1200" dirty="0" smtClean="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pic>
        <p:nvPicPr>
          <p:cNvPr id="7" name="图片 6" descr="图片包含 游戏机&#10;&#10;描述已自动生成"/>
          <p:cNvPicPr>
            <a:picLocks noChangeAspect="1"/>
          </p:cNvPicPr>
          <p:nvPr userDrawn="1"/>
        </p:nvPicPr>
        <p:blipFill>
          <a:blip r:embed="rId2" cstate="screen"/>
          <a:stretch>
            <a:fillRect/>
          </a:stretch>
        </p:blipFill>
        <p:spPr>
          <a:xfrm>
            <a:off x="439" y="0"/>
            <a:ext cx="12191124" cy="6858000"/>
          </a:xfrm>
          <a:prstGeom prst="rect">
            <a:avLst/>
          </a:prstGeom>
        </p:spPr>
      </p:pic>
      <p:pic>
        <p:nvPicPr>
          <p:cNvPr id="10" name="图片 9"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篇章页">
    <p:spTree>
      <p:nvGrpSpPr>
        <p:cNvPr id="1" name=""/>
        <p:cNvGrpSpPr/>
        <p:nvPr/>
      </p:nvGrpSpPr>
      <p:grpSpPr>
        <a:xfrm>
          <a:off x="0" y="0"/>
          <a:ext cx="0" cy="0"/>
          <a:chOff x="0" y="0"/>
          <a:chExt cx="0" cy="0"/>
        </a:xfrm>
      </p:grpSpPr>
      <p:pic>
        <p:nvPicPr>
          <p:cNvPr id="7" name="图片 6" descr="背景图案&#10;&#10;描述已自动生成"/>
          <p:cNvPicPr>
            <a:picLocks noChangeAspect="1"/>
          </p:cNvPicPr>
          <p:nvPr userDrawn="1"/>
        </p:nvPicPr>
        <p:blipFill>
          <a:blip r:embed="rId2" cstate="screen"/>
          <a:stretch>
            <a:fillRect/>
          </a:stretch>
        </p:blipFill>
        <p:spPr>
          <a:xfrm>
            <a:off x="438" y="0"/>
            <a:ext cx="12191561" cy="6858246"/>
          </a:xfrm>
          <a:prstGeom prst="rect">
            <a:avLst/>
          </a:prstGeom>
        </p:spPr>
      </p:pic>
      <p:pic>
        <p:nvPicPr>
          <p:cNvPr id="8" name="图片 7"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10" name="图片 9" descr="背景图案&#10;&#10;描述已自动生成"/>
          <p:cNvPicPr>
            <a:picLocks noChangeAspect="1"/>
          </p:cNvPicPr>
          <p:nvPr userDrawn="1"/>
        </p:nvPicPr>
        <p:blipFill>
          <a:blip r:embed="rId2" cstate="screen"/>
          <a:stretch>
            <a:fillRect/>
          </a:stretch>
        </p:blipFill>
        <p:spPr>
          <a:xfrm>
            <a:off x="438" y="0"/>
            <a:ext cx="12191561" cy="6858000"/>
          </a:xfrm>
          <a:prstGeom prst="rect">
            <a:avLst/>
          </a:prstGeom>
        </p:spPr>
      </p:pic>
      <p:sp>
        <p:nvSpPr>
          <p:cNvPr id="11" name="TextBox 6"/>
          <p:cNvSpPr>
            <a:spLocks noChangeArrowheads="1"/>
          </p:cNvSpPr>
          <p:nvPr userDrawn="1"/>
        </p:nvSpPr>
        <p:spPr bwMode="auto">
          <a:xfrm>
            <a:off x="573759" y="1771142"/>
            <a:ext cx="404812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eaLnBrk="1" hangingPunct="1">
              <a:spcBef>
                <a:spcPct val="0"/>
              </a:spcBef>
              <a:buFont typeface="Arial" panose="020B0604020202020204" pitchFamily="34" charset="0"/>
              <a:buNone/>
            </a:pPr>
            <a:r>
              <a:rPr lang="en-US" altLang="zh-CN" sz="4400" b="1" dirty="0">
                <a:solidFill>
                  <a:schemeClr val="bg1">
                    <a:lumMod val="50000"/>
                  </a:schemeClr>
                </a:solidFill>
                <a:latin typeface="Arial" panose="020B0604020202020204" pitchFamily="34" charset="0"/>
                <a:ea typeface="Arial" panose="020B0604020202020204" pitchFamily="34" charset="0"/>
                <a:cs typeface="Arial" panose="020B0604020202020204" pitchFamily="34" charset="0"/>
                <a:sym typeface="微软雅黑" panose="020B0503020204020204" pitchFamily="34" charset="-122"/>
              </a:rPr>
              <a:t>THANKS.</a:t>
            </a:r>
          </a:p>
        </p:txBody>
      </p:sp>
      <p:sp>
        <p:nvSpPr>
          <p:cNvPr id="12" name="TextBox 7"/>
          <p:cNvSpPr>
            <a:spLocks noChangeArrowheads="1"/>
          </p:cNvSpPr>
          <p:nvPr userDrawn="1"/>
        </p:nvSpPr>
        <p:spPr bwMode="auto">
          <a:xfrm>
            <a:off x="573758" y="2502536"/>
            <a:ext cx="5323894" cy="84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eaLnBrk="1" hangingPunct="1">
              <a:lnSpc>
                <a:spcPct val="150000"/>
              </a:lnSpc>
              <a:spcBef>
                <a:spcPct val="0"/>
              </a:spcBef>
              <a:buFont typeface="Arial" panose="020B0604020202020204" pitchFamily="34" charset="0"/>
              <a:buNone/>
            </a:pPr>
            <a:r>
              <a:rPr lang="zh-CN" altLang="en-US" sz="1400" b="1"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锐捷网络股份有限公司</a:t>
            </a:r>
          </a:p>
          <a:p>
            <a:pPr eaLnBrk="1" hangingPunct="1">
              <a:lnSpc>
                <a:spcPct val="150000"/>
              </a:lnSpc>
              <a:spcBef>
                <a:spcPct val="0"/>
              </a:spcBef>
              <a:buFont typeface="Arial" panose="020B0604020202020204" pitchFamily="34" charset="0"/>
              <a:buNone/>
            </a:pPr>
            <a:r>
              <a:rPr lang="en-US"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欲了解更多信息，欢迎登</a:t>
            </a:r>
            <a:r>
              <a:rPr lang="zh-CN"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录</a:t>
            </a:r>
            <a:r>
              <a:rPr lang="en-US" altLang="zh-CN"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hlinkClick r:id="rId3"/>
              </a:rPr>
              <a:t>www.ruijie.com.cn</a:t>
            </a:r>
            <a:r>
              <a:rPr lang="en-US"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，咨询电话：400-620-8818</a:t>
            </a:r>
          </a:p>
          <a:p>
            <a:pPr eaLnBrk="1" hangingPunct="1">
              <a:lnSpc>
                <a:spcPct val="150000"/>
              </a:lnSpc>
              <a:spcBef>
                <a:spcPct val="0"/>
              </a:spcBef>
              <a:buFont typeface="Arial" panose="020B0604020202020204" pitchFamily="34" charset="0"/>
              <a:buNone/>
            </a:pPr>
            <a:r>
              <a:rPr lang="en-US" altLang="en-US"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*本资料产品图片及技术数据仅供参考，如有更新恕不另行通知，具体内容解释权归锐捷网络所有。</a:t>
            </a:r>
            <a:endParaRPr lang="en-US" altLang="zh-CN"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pic>
        <p:nvPicPr>
          <p:cNvPr id="13" name="图片 12" descr="徽标&#10;&#10;描述已自动生成"/>
          <p:cNvPicPr>
            <a:picLocks noChangeAspect="1"/>
          </p:cNvPicPr>
          <p:nvPr userDrawn="1"/>
        </p:nvPicPr>
        <p:blipFill>
          <a:blip r:embed="rId4" cstate="screen"/>
          <a:stretch>
            <a:fillRect/>
          </a:stretch>
        </p:blipFill>
        <p:spPr>
          <a:xfrm>
            <a:off x="592015" y="503702"/>
            <a:ext cx="2085672" cy="35442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pic>
        <p:nvPicPr>
          <p:cNvPr id="7" name="图片 6" descr="蓝色的天空&#10;&#10;描述已自动生成"/>
          <p:cNvPicPr>
            <a:picLocks noChangeAspect="1"/>
          </p:cNvPicPr>
          <p:nvPr userDrawn="1"/>
        </p:nvPicPr>
        <p:blipFill>
          <a:blip r:embed="rId2" cstate="screen">
            <a:alphaModFix amt="35000"/>
          </a:blip>
          <a:stretch>
            <a:fillRect/>
          </a:stretch>
        </p:blipFill>
        <p:spPr>
          <a:xfrm>
            <a:off x="438" y="0"/>
            <a:ext cx="12191562" cy="6858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7" name="图片 6"/>
          <p:cNvPicPr>
            <a:picLocks noChangeAspect="1"/>
          </p:cNvPicPr>
          <p:nvPr userDrawn="1">
            <p:custDataLst>
              <p:tags r:id="rId1"/>
            </p:custDataLst>
          </p:nvPr>
        </p:nvPicPr>
        <p:blipFill>
          <a:blip r:embed="rId7" cstate="screen"/>
          <a:stretch>
            <a:fillRect/>
          </a:stretch>
        </p:blipFill>
        <p:spPr>
          <a:xfrm>
            <a:off x="10144927" y="351797"/>
            <a:ext cx="1492890" cy="253694"/>
          </a:xfrm>
          <a:prstGeom prst="rect">
            <a:avLst/>
          </a:prstGeom>
        </p:spPr>
      </p:pic>
      <p:sp>
        <p:nvSpPr>
          <p:cNvPr id="10" name="矩形 9"/>
          <p:cNvSpPr/>
          <p:nvPr userDrawn="1">
            <p:custDataLst>
              <p:tags r:id="rId2"/>
            </p:custDataLst>
          </p:nvPr>
        </p:nvSpPr>
        <p:spPr>
          <a:xfrm>
            <a:off x="554182" y="763832"/>
            <a:ext cx="11083635" cy="28388"/>
          </a:xfrm>
          <a:prstGeom prst="rect">
            <a:avLst/>
          </a:prstGeom>
          <a:gradFill>
            <a:gsLst>
              <a:gs pos="0">
                <a:srgbClr val="4F98EB"/>
              </a:gs>
              <a:gs pos="100000">
                <a:srgbClr val="4F98E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灯片编号占位符 1"/>
          <p:cNvSpPr txBox="1"/>
          <p:nvPr userDrawn="1">
            <p:custDataLst>
              <p:tags r:id="rId3"/>
            </p:custDataLst>
          </p:nvPr>
        </p:nvSpPr>
        <p:spPr>
          <a:xfrm>
            <a:off x="331770" y="6356350"/>
            <a:ext cx="517113"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4EADD4-75EE-B446-88DA-ECFA910E472F}" type="slidenum">
              <a:rPr kumimoji="1" lang="zh-CN" altLang="en-US" smtClean="0"/>
              <a:t>‹#›</a:t>
            </a:fld>
            <a:endParaRPr kumimoji="1" lang="zh-CN" altLang="en-US" dirty="0"/>
          </a:p>
        </p:txBody>
      </p:sp>
      <p:sp>
        <p:nvSpPr>
          <p:cNvPr id="14" name="灯片编号占位符 1"/>
          <p:cNvSpPr txBox="1"/>
          <p:nvPr userDrawn="1">
            <p:custDataLst>
              <p:tags r:id="rId4"/>
            </p:custDataLst>
          </p:nvPr>
        </p:nvSpPr>
        <p:spPr>
          <a:xfrm>
            <a:off x="724661" y="6356350"/>
            <a:ext cx="2350470"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dirty="0"/>
              <a:t>｜ </a:t>
            </a:r>
            <a:r>
              <a:rPr kumimoji="1" lang="en-US" altLang="zh-CN" dirty="0" err="1"/>
              <a:t>www.ruijie.com.cn</a:t>
            </a:r>
            <a:endParaRPr kumimoji="1" lang="zh-CN" altLang="en-US" dirty="0"/>
          </a:p>
        </p:txBody>
      </p:sp>
      <p:sp>
        <p:nvSpPr>
          <p:cNvPr id="15" name="文本占位符 17"/>
          <p:cNvSpPr>
            <a:spLocks noGrp="1"/>
          </p:cNvSpPr>
          <p:nvPr>
            <p:ph type="body" sz="quarter" idx="13" hasCustomPrompt="1"/>
            <p:custDataLst>
              <p:tags r:id="rId5"/>
            </p:custDataLst>
          </p:nvPr>
        </p:nvSpPr>
        <p:spPr>
          <a:xfrm>
            <a:off x="573405" y="274320"/>
            <a:ext cx="4513580" cy="495935"/>
          </a:xfrm>
          <a:prstGeom prst="rect">
            <a:avLst/>
          </a:prstGeom>
        </p:spPr>
        <p:txBody>
          <a:bodyPr>
            <a:noAutofit/>
          </a:bodyPr>
          <a:lstStyle>
            <a:lvl1pPr marL="0" indent="0" algn="l" defTabSz="914400" rtl="0" eaLnBrk="1" latinLnBrk="0" hangingPunct="1">
              <a:buNone/>
              <a:defRPr kumimoji="1" lang="zh-CN" altLang="en-US" sz="2200" b="1" kern="1200" dirty="0" smtClean="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目录">
    <p:spTree>
      <p:nvGrpSpPr>
        <p:cNvPr id="1" name=""/>
        <p:cNvGrpSpPr/>
        <p:nvPr/>
      </p:nvGrpSpPr>
      <p:grpSpPr>
        <a:xfrm>
          <a:off x="0" y="0"/>
          <a:ext cx="0" cy="0"/>
          <a:chOff x="0" y="0"/>
          <a:chExt cx="0" cy="0"/>
        </a:xfrm>
      </p:grpSpPr>
      <p:pic>
        <p:nvPicPr>
          <p:cNvPr id="7" name="图片 6" descr="图片包含 游戏机&#10;&#10;描述已自动生成"/>
          <p:cNvPicPr>
            <a:picLocks noChangeAspect="1"/>
          </p:cNvPicPr>
          <p:nvPr userDrawn="1"/>
        </p:nvPicPr>
        <p:blipFill>
          <a:blip r:embed="rId2" cstate="screen"/>
          <a:stretch>
            <a:fillRect/>
          </a:stretch>
        </p:blipFill>
        <p:spPr>
          <a:xfrm>
            <a:off x="439" y="0"/>
            <a:ext cx="12191124" cy="6858000"/>
          </a:xfrm>
          <a:prstGeom prst="rect">
            <a:avLst/>
          </a:prstGeom>
        </p:spPr>
      </p:pic>
      <p:pic>
        <p:nvPicPr>
          <p:cNvPr id="10" name="图片 9"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image" Target="../media/image1.jpeg"/><Relationship Id="rId5" Type="http://schemas.openxmlformats.org/officeDocument/2006/relationships/tags" Target="../tags/tag9.xml"/><Relationship Id="rId4" Type="http://schemas.openxmlformats.org/officeDocument/2006/relationships/tags" Target="../tags/tag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679380-D657-8D4E-9A0F-A362142B5069}" type="datetimeFigureOut">
              <a:rPr kumimoji="1" lang="zh-CN" altLang="en-US" smtClean="0"/>
              <a:t>2025/12/3</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5A8893-B06F-FA45-8416-383DCFC04A69}"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13" name="图片 12" descr="蓝色的天空&#10;&#10;描述已自动生成"/>
          <p:cNvPicPr>
            <a:picLocks noChangeAspect="1"/>
          </p:cNvPicPr>
          <p:nvPr userDrawn="1">
            <p:custDataLst>
              <p:tags r:id="rId5"/>
            </p:custDataLst>
          </p:nvPr>
        </p:nvPicPr>
        <p:blipFill>
          <a:blip r:embed="rId6" cstate="screen">
            <a:alphaModFix amt="35000"/>
          </a:blip>
          <a:stretch>
            <a:fillRect/>
          </a:stretch>
        </p:blipFill>
        <p:spPr>
          <a:xfrm>
            <a:off x="438" y="0"/>
            <a:ext cx="12191562" cy="6858000"/>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56" r:id="rId1"/>
    <p:sldLayoutId id="2147483657" r:id="rId2"/>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slide" Target="slide33.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https://ruijie.feishu.cn/wiki/TfVcwj2ALivZlZk8lQRc2bmknzd" TargetMode="External"/><Relationship Id="rId2" Type="http://schemas.openxmlformats.org/officeDocument/2006/relationships/hyperlink" Target="https://ruijie.feishu.cn/wiki/EIYdwxOdEiJeqDkg3t4c05XLnih" TargetMode="External"/><Relationship Id="rId1" Type="http://schemas.openxmlformats.org/officeDocument/2006/relationships/slideLayout" Target="../slideLayouts/slideLayout7.xml"/><Relationship Id="rId5" Type="http://schemas.openxmlformats.org/officeDocument/2006/relationships/hyperlink" Target="https://ruijie.feishu.cn/wiki/Y6AHwvbv2i5krVkCV3KceXCenMd" TargetMode="External"/><Relationship Id="rId4" Type="http://schemas.openxmlformats.org/officeDocument/2006/relationships/hyperlink" Target="https://ruijie.feishu.cn/wiki/Wcygw76jAir9vnkN67Icpr22nUg"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ruijie.feishu.cn/wiki/FEHFwfdcBipTvzkEofsc1v8yn4f" TargetMode="External"/><Relationship Id="rId2" Type="http://schemas.openxmlformats.org/officeDocument/2006/relationships/hyperlink" Target="N&#21644;3T&#27969;&#31243;&#22521;&#35757;&#23459;&#36143;&#26448;&#26009;_V5.0.pptx" TargetMode="Externa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ruijie.feishu.cn/wiki/VSwIw2RBciydzxkNT2DcnqzAnKg" TargetMode="Externa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ruijie.feishu.cn/wiki/LLPjwTsVxilKFDkZ3uGcFv7gnpb" TargetMode="Externa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s://ruijie.feishu.cn/wiki/KCyrw4wtViAalrkgqMUcShBNn9e"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5.xml"/></Relationships>
</file>

<file path=ppt/slides/_rels/slide25.xml.rels><?xml version="1.0" encoding="UTF-8" standalone="yes"?>
<Relationships xmlns="http://schemas.openxmlformats.org/package/2006/relationships"><Relationship Id="rId8" Type="http://schemas.openxmlformats.org/officeDocument/2006/relationships/tags" Target="../tags/tag23.xml"/><Relationship Id="rId3" Type="http://schemas.openxmlformats.org/officeDocument/2006/relationships/tags" Target="../tags/tag18.xml"/><Relationship Id="rId7" Type="http://schemas.openxmlformats.org/officeDocument/2006/relationships/tags" Target="../tags/tag22.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notesSlide" Target="../notesSlides/notesSlide1.xml"/><Relationship Id="rId5" Type="http://schemas.openxmlformats.org/officeDocument/2006/relationships/tags" Target="../tags/tag20.xml"/><Relationship Id="rId10" Type="http://schemas.openxmlformats.org/officeDocument/2006/relationships/slideLayout" Target="../slideLayouts/slideLayout7.xml"/><Relationship Id="rId4" Type="http://schemas.openxmlformats.org/officeDocument/2006/relationships/tags" Target="../tags/tag19.xml"/><Relationship Id="rId9" Type="http://schemas.openxmlformats.org/officeDocument/2006/relationships/tags" Target="../tags/tag24.xml"/></Relationships>
</file>

<file path=ppt/slides/_rels/slide26.xml.rels><?xml version="1.0" encoding="UTF-8" standalone="yes"?>
<Relationships xmlns="http://schemas.openxmlformats.org/package/2006/relationships"><Relationship Id="rId8" Type="http://schemas.openxmlformats.org/officeDocument/2006/relationships/tags" Target="../tags/tag32.xml"/><Relationship Id="rId3" Type="http://schemas.openxmlformats.org/officeDocument/2006/relationships/tags" Target="../tags/tag27.xml"/><Relationship Id="rId7" Type="http://schemas.openxmlformats.org/officeDocument/2006/relationships/tags" Target="../tags/tag31.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5" Type="http://schemas.openxmlformats.org/officeDocument/2006/relationships/tags" Target="../tags/tag29.xml"/><Relationship Id="rId10" Type="http://schemas.openxmlformats.org/officeDocument/2006/relationships/notesSlide" Target="../notesSlides/notesSlide2.xml"/><Relationship Id="rId4" Type="http://schemas.openxmlformats.org/officeDocument/2006/relationships/tags" Target="../tags/tag28.xml"/><Relationship Id="rId9"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3"/>
          </p:nvPr>
        </p:nvSpPr>
        <p:spPr/>
        <p:txBody>
          <a:bodyPr/>
          <a:lstStyle/>
          <a:p>
            <a:endParaRPr lang="zh-CN" altLang="en-US"/>
          </a:p>
        </p:txBody>
      </p:sp>
      <p:pic>
        <p:nvPicPr>
          <p:cNvPr id="9" name="图片 8"/>
          <p:cNvPicPr>
            <a:picLocks noChangeAspect="1"/>
          </p:cNvPicPr>
          <p:nvPr/>
        </p:nvPicPr>
        <p:blipFill>
          <a:blip r:embed="rId2" cstate="screen"/>
          <a:stretch>
            <a:fillRect/>
          </a:stretch>
        </p:blipFill>
        <p:spPr>
          <a:xfrm>
            <a:off x="0" y="864"/>
            <a:ext cx="12193538" cy="6857136"/>
          </a:xfrm>
          <a:prstGeom prst="rect">
            <a:avLst/>
          </a:prstGeom>
        </p:spPr>
      </p:pic>
      <p:pic>
        <p:nvPicPr>
          <p:cNvPr id="11" name="图片 10" descr="徽标&#10;&#10;描述已自动生成"/>
          <p:cNvPicPr>
            <a:picLocks noChangeAspect="1"/>
          </p:cNvPicPr>
          <p:nvPr/>
        </p:nvPicPr>
        <p:blipFill>
          <a:blip r:embed="rId3" cstate="screen"/>
          <a:stretch>
            <a:fillRect/>
          </a:stretch>
        </p:blipFill>
        <p:spPr>
          <a:xfrm>
            <a:off x="592015" y="503702"/>
            <a:ext cx="2085672" cy="354428"/>
          </a:xfrm>
          <a:prstGeom prst="rect">
            <a:avLst/>
          </a:prstGeom>
        </p:spPr>
      </p:pic>
      <p:sp>
        <p:nvSpPr>
          <p:cNvPr id="13" name="文本框 12"/>
          <p:cNvSpPr txBox="1"/>
          <p:nvPr/>
        </p:nvSpPr>
        <p:spPr>
          <a:xfrm>
            <a:off x="518199" y="2670643"/>
            <a:ext cx="3852337" cy="892552"/>
          </a:xfrm>
          <a:prstGeom prst="rect">
            <a:avLst/>
          </a:prstGeom>
          <a:noFill/>
        </p:spPr>
        <p:txBody>
          <a:bodyPr wrap="none" rtlCol="0">
            <a:spAutoFit/>
          </a:bodyPr>
          <a:lstStyle/>
          <a:p>
            <a:r>
              <a:rPr kumimoji="1" lang="zh-CN" altLang="en-US" sz="2600" b="1" dirty="0" smtClean="0">
                <a:solidFill>
                  <a:schemeClr val="bg1">
                    <a:lumMod val="50000"/>
                  </a:schemeClr>
                </a:solidFill>
                <a:latin typeface="微软雅黑" panose="020B0503020204020204" pitchFamily="34" charset="-122"/>
                <a:ea typeface="微软雅黑" panose="020B0503020204020204" pitchFamily="34" charset="-122"/>
              </a:rPr>
              <a:t>推进</a:t>
            </a:r>
            <a:r>
              <a:rPr kumimoji="1" lang="en-US" altLang="zh-CN" sz="2600" b="1" dirty="0" smtClean="0">
                <a:solidFill>
                  <a:schemeClr val="bg1">
                    <a:lumMod val="50000"/>
                  </a:schemeClr>
                </a:solidFill>
                <a:latin typeface="微软雅黑" panose="020B0503020204020204" pitchFamily="34" charset="-122"/>
                <a:ea typeface="微软雅黑" panose="020B0503020204020204" pitchFamily="34" charset="-122"/>
              </a:rPr>
              <a:t>MO</a:t>
            </a:r>
            <a:r>
              <a:rPr kumimoji="1" lang="zh-CN" altLang="en-US" sz="2600" b="1" dirty="0" smtClean="0">
                <a:solidFill>
                  <a:schemeClr val="bg1">
                    <a:lumMod val="50000"/>
                  </a:schemeClr>
                </a:solidFill>
                <a:latin typeface="微软雅黑" panose="020B0503020204020204" pitchFamily="34" charset="-122"/>
                <a:ea typeface="微软雅黑" panose="020B0503020204020204" pitchFamily="34" charset="-122"/>
              </a:rPr>
              <a:t>流程高质量执行</a:t>
            </a:r>
            <a:endParaRPr kumimoji="1" lang="en-US" altLang="zh-CN" sz="2600" b="1" dirty="0">
              <a:solidFill>
                <a:schemeClr val="bg1">
                  <a:lumMod val="50000"/>
                </a:schemeClr>
              </a:solidFill>
              <a:latin typeface="微软雅黑" panose="020B0503020204020204" pitchFamily="34" charset="-122"/>
              <a:ea typeface="微软雅黑" panose="020B0503020204020204" pitchFamily="34" charset="-122"/>
            </a:endParaRPr>
          </a:p>
          <a:p>
            <a:r>
              <a:rPr kumimoji="1" lang="zh-CN" altLang="en-US" sz="2600" b="1" dirty="0" smtClean="0">
                <a:solidFill>
                  <a:schemeClr val="bg1">
                    <a:lumMod val="50000"/>
                  </a:schemeClr>
                </a:solidFill>
                <a:latin typeface="微软雅黑" panose="020B0503020204020204" pitchFamily="34" charset="-122"/>
                <a:ea typeface="微软雅黑" panose="020B0503020204020204" pitchFamily="34" charset="-122"/>
              </a:rPr>
              <a:t>提升端到端流程协同效率</a:t>
            </a:r>
            <a:endParaRPr kumimoji="1" lang="en-US" altLang="zh-CN" sz="2600" b="1" dirty="0" smtClean="0">
              <a:solidFill>
                <a:schemeClr val="bg1">
                  <a:lumMod val="50000"/>
                </a:schemeClr>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592015" y="5806598"/>
            <a:ext cx="862737" cy="307777"/>
          </a:xfrm>
          <a:prstGeom prst="rect">
            <a:avLst/>
          </a:prstGeom>
          <a:noFill/>
        </p:spPr>
        <p:txBody>
          <a:bodyPr wrap="none" rtlCol="0">
            <a:spAutoFit/>
          </a:bodyPr>
          <a:lstStyle/>
          <a:p>
            <a:r>
              <a:rPr kumimoji="1" lang="en-US" altLang="zh-CN" sz="1400" dirty="0" smtClean="0">
                <a:solidFill>
                  <a:schemeClr val="bg1">
                    <a:lumMod val="50000"/>
                  </a:schemeClr>
                </a:solidFill>
                <a:latin typeface="微软雅黑" panose="020B0503020204020204" pitchFamily="34" charset="-122"/>
                <a:ea typeface="微软雅黑" panose="020B0503020204020204" pitchFamily="34" charset="-122"/>
              </a:rPr>
              <a:t>2025.11</a:t>
            </a:r>
            <a:endParaRPr kumimoji="1" lang="zh-CN" altLang="en-US" sz="1400" dirty="0">
              <a:solidFill>
                <a:schemeClr val="bg1">
                  <a:lumMod val="50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08134" y="2361254"/>
            <a:ext cx="4497355"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4" y="2368088"/>
            <a:ext cx="5479649" cy="3009669"/>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20204" pitchFamily="34" charset="0"/>
              <a:buChar char="•"/>
              <a:defRPr/>
            </a:pPr>
            <a:r>
              <a:rPr lang="zh-CN" altLang="en-US" dirty="0" smtClean="0"/>
              <a:t>关键点识别与现状分析</a:t>
            </a:r>
            <a:endParaRPr lang="en-US" altLang="zh-CN" dirty="0" smtClean="0"/>
          </a:p>
          <a:p>
            <a:pPr marL="342900" indent="-342900">
              <a:lnSpc>
                <a:spcPct val="150000"/>
              </a:lnSpc>
              <a:buFont typeface="Arial" panose="020B0604020202020204" pitchFamily="34" charset="0"/>
              <a:buChar char="•"/>
              <a:defRPr/>
            </a:pPr>
            <a:r>
              <a:rPr lang="zh-CN" altLang="en-US" dirty="0" smtClean="0"/>
              <a:t>课题</a:t>
            </a:r>
            <a:r>
              <a:rPr lang="en-US" altLang="zh-CN" dirty="0" smtClean="0"/>
              <a:t>1</a:t>
            </a:r>
            <a:r>
              <a:rPr lang="zh-CN" altLang="en-US" dirty="0" smtClean="0"/>
              <a:t>：做准</a:t>
            </a:r>
            <a:r>
              <a:rPr lang="en-US" altLang="zh-CN" dirty="0" smtClean="0"/>
              <a:t>N</a:t>
            </a:r>
            <a:r>
              <a:rPr lang="zh-CN" altLang="en-US" dirty="0" smtClean="0"/>
              <a:t>和</a:t>
            </a:r>
            <a:r>
              <a:rPr lang="en-US" altLang="zh-CN" dirty="0" smtClean="0"/>
              <a:t>T</a:t>
            </a:r>
          </a:p>
          <a:p>
            <a:pPr marL="342900" indent="-342900">
              <a:lnSpc>
                <a:spcPct val="150000"/>
              </a:lnSpc>
              <a:buFont typeface="Arial" panose="020B0604020202020204" pitchFamily="34" charset="0"/>
              <a:buChar char="•"/>
              <a:defRPr/>
            </a:pPr>
            <a:r>
              <a:rPr lang="zh-CN" altLang="en-US" dirty="0" smtClean="0"/>
              <a:t>课题</a:t>
            </a:r>
            <a:r>
              <a:rPr lang="en-US" altLang="zh-CN" dirty="0" smtClean="0"/>
              <a:t>2</a:t>
            </a:r>
            <a:r>
              <a:rPr lang="zh-CN" altLang="en-US" dirty="0" smtClean="0"/>
              <a:t>：提升</a:t>
            </a:r>
            <a:r>
              <a:rPr lang="en-US" altLang="zh-CN" dirty="0" smtClean="0"/>
              <a:t>MO</a:t>
            </a:r>
            <a:r>
              <a:rPr lang="zh-CN" altLang="en-US" dirty="0" smtClean="0"/>
              <a:t>流程执行效率与执行质量</a:t>
            </a:r>
            <a:endParaRPr lang="en-US" altLang="zh-CN" dirty="0" smtClean="0"/>
          </a:p>
        </p:txBody>
      </p:sp>
    </p:spTree>
    <p:extLst>
      <p:ext uri="{BB962C8B-B14F-4D97-AF65-F5344CB8AC3E}">
        <p14:creationId xmlns:p14="http://schemas.microsoft.com/office/powerpoint/2010/main" val="30979912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51453" y="274320"/>
            <a:ext cx="7606768" cy="495935"/>
          </a:xfrm>
        </p:spPr>
        <p:txBody>
          <a:bodyPr/>
          <a:lstStyle/>
          <a:p>
            <a:r>
              <a:rPr lang="zh-CN" altLang="en-US" dirty="0" smtClean="0"/>
              <a:t>高质量推进销售项目要关注的核心点</a:t>
            </a:r>
            <a:endParaRPr lang="zh-CN" altLang="en-US" dirty="0"/>
          </a:p>
        </p:txBody>
      </p:sp>
      <p:sp>
        <p:nvSpPr>
          <p:cNvPr id="60" name="矩形 59"/>
          <p:cNvSpPr/>
          <p:nvPr/>
        </p:nvSpPr>
        <p:spPr>
          <a:xfrm>
            <a:off x="10118573" y="1327514"/>
            <a:ext cx="1933889" cy="47608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本次</a:t>
            </a:r>
          </a:p>
        </p:txBody>
      </p:sp>
      <p:sp>
        <p:nvSpPr>
          <p:cNvPr id="61" name="文本框 60"/>
          <p:cNvSpPr txBox="1"/>
          <p:nvPr/>
        </p:nvSpPr>
        <p:spPr>
          <a:xfrm>
            <a:off x="10030229" y="892834"/>
            <a:ext cx="1688221" cy="369332"/>
          </a:xfrm>
          <a:prstGeom prst="rect">
            <a:avLst/>
          </a:prstGeom>
          <a:noFill/>
        </p:spPr>
        <p:txBody>
          <a:bodyPr wrap="square" rtlCol="0">
            <a:spAutoFit/>
          </a:bodyPr>
          <a:lstStyle/>
          <a:p>
            <a:r>
              <a:rPr lang="zh-CN" altLang="en-US" b="1" dirty="0" smtClean="0">
                <a:latin typeface="微软雅黑" panose="020B0503020204020204" pitchFamily="34" charset="-122"/>
                <a:ea typeface="微软雅黑" panose="020B0503020204020204" pitchFamily="34" charset="-122"/>
              </a:rPr>
              <a:t>关注点</a:t>
            </a:r>
            <a:endParaRPr lang="zh-CN" altLang="en-US" b="1" dirty="0">
              <a:latin typeface="微软雅黑" panose="020B0503020204020204" pitchFamily="34" charset="-122"/>
              <a:ea typeface="微软雅黑" panose="020B0503020204020204" pitchFamily="34" charset="-122"/>
            </a:endParaRPr>
          </a:p>
        </p:txBody>
      </p:sp>
      <p:sp>
        <p:nvSpPr>
          <p:cNvPr id="3" name="矩形 2"/>
          <p:cNvSpPr/>
          <p:nvPr/>
        </p:nvSpPr>
        <p:spPr>
          <a:xfrm>
            <a:off x="10101851" y="1399623"/>
            <a:ext cx="1967331" cy="4524315"/>
          </a:xfrm>
          <a:prstGeom prst="rect">
            <a:avLst/>
          </a:prstGeom>
        </p:spPr>
        <p:txBody>
          <a:bodyPr wrap="square">
            <a:spAutoFit/>
          </a:bodyPr>
          <a:lstStyle/>
          <a:p>
            <a:r>
              <a:rPr lang="en-US" altLang="zh-CN" sz="1200" b="1" dirty="0" smtClean="0"/>
              <a:t>1</a:t>
            </a:r>
            <a:r>
              <a:rPr lang="zh-CN" altLang="en-US" sz="1200" b="1" dirty="0" smtClean="0"/>
              <a:t>、做准</a:t>
            </a:r>
            <a:r>
              <a:rPr lang="en-US" altLang="zh-CN" sz="1200" b="1" dirty="0" smtClean="0"/>
              <a:t>N</a:t>
            </a:r>
            <a:r>
              <a:rPr lang="zh-CN" altLang="en-US" sz="1200" b="1" dirty="0" smtClean="0"/>
              <a:t>和</a:t>
            </a:r>
            <a:r>
              <a:rPr lang="en-US" altLang="zh-CN" sz="1200" b="1" dirty="0" smtClean="0"/>
              <a:t>T</a:t>
            </a:r>
            <a:r>
              <a:rPr lang="zh-CN" altLang="en-US" sz="1200" b="1" dirty="0" smtClean="0"/>
              <a:t>：</a:t>
            </a:r>
            <a:endParaRPr lang="en-US" altLang="zh-CN" sz="1200" b="1" dirty="0" smtClean="0"/>
          </a:p>
          <a:p>
            <a:r>
              <a:rPr lang="zh-CN" altLang="en-US" sz="1200" dirty="0" smtClean="0"/>
              <a:t>为了更好的作准</a:t>
            </a:r>
            <a:r>
              <a:rPr lang="en-US" altLang="zh-CN" sz="1200" dirty="0" smtClean="0"/>
              <a:t>N</a:t>
            </a:r>
            <a:r>
              <a:rPr lang="zh-CN" altLang="en-US" sz="1200" dirty="0" smtClean="0"/>
              <a:t>和</a:t>
            </a:r>
            <a:r>
              <a:rPr lang="en-US" altLang="zh-CN" sz="1200" dirty="0" smtClean="0"/>
              <a:t>T</a:t>
            </a:r>
            <a:r>
              <a:rPr lang="zh-CN" altLang="en-US" sz="1200" dirty="0" smtClean="0"/>
              <a:t>，几个重要抓手要执行到位：</a:t>
            </a:r>
            <a:endParaRPr lang="en-US" altLang="zh-CN" sz="1200" dirty="0" smtClean="0"/>
          </a:p>
          <a:p>
            <a:pPr marL="171450" indent="-171450">
              <a:buFont typeface="Arial" panose="020B0604020202020204" pitchFamily="34" charset="0"/>
              <a:buChar char="•"/>
            </a:pPr>
            <a:r>
              <a:rPr lang="zh-CN" altLang="en-US" sz="1200" dirty="0" smtClean="0"/>
              <a:t>持续探索和改进</a:t>
            </a:r>
            <a:r>
              <a:rPr lang="en-US" altLang="zh-CN" sz="1200" dirty="0" smtClean="0"/>
              <a:t>N</a:t>
            </a:r>
            <a:r>
              <a:rPr lang="zh-CN" altLang="en-US" sz="1200" dirty="0" smtClean="0"/>
              <a:t>和</a:t>
            </a:r>
            <a:r>
              <a:rPr lang="en-US" altLang="zh-CN" sz="1200" dirty="0" smtClean="0"/>
              <a:t>T</a:t>
            </a:r>
            <a:r>
              <a:rPr lang="zh-CN" altLang="en-US" sz="1200" dirty="0" smtClean="0"/>
              <a:t>的新方法，支持一线做准</a:t>
            </a:r>
            <a:r>
              <a:rPr lang="en-US" altLang="zh-CN" sz="1200" dirty="0" smtClean="0"/>
              <a:t>N</a:t>
            </a:r>
            <a:r>
              <a:rPr lang="zh-CN" altLang="en-US" sz="1200" dirty="0" smtClean="0"/>
              <a:t>和</a:t>
            </a:r>
            <a:r>
              <a:rPr lang="en-US" altLang="zh-CN" sz="1200" dirty="0" smtClean="0"/>
              <a:t>3T</a:t>
            </a:r>
            <a:r>
              <a:rPr lang="zh-CN" altLang="en-US" sz="1200" dirty="0" smtClean="0"/>
              <a:t>的输入；</a:t>
            </a:r>
            <a:endParaRPr lang="en-US" altLang="zh-CN" sz="1200" dirty="0" smtClean="0"/>
          </a:p>
          <a:p>
            <a:pPr marL="171450" indent="-171450">
              <a:buFont typeface="Arial" panose="020B0604020202020204" pitchFamily="34" charset="0"/>
              <a:buChar char="•"/>
            </a:pPr>
            <a:r>
              <a:rPr lang="zh-CN" altLang="en-US" sz="1200" dirty="0" smtClean="0"/>
              <a:t>通过销售预测流程管好下单和要货的预测</a:t>
            </a:r>
            <a:endParaRPr lang="en-US" altLang="zh-CN" sz="1200" dirty="0" smtClean="0"/>
          </a:p>
          <a:p>
            <a:pPr marL="171450" indent="-171450">
              <a:buFont typeface="Arial" panose="020B0604020202020204" pitchFamily="34" charset="0"/>
              <a:buChar char="•"/>
            </a:pPr>
            <a:r>
              <a:rPr lang="zh-CN" altLang="en-US" sz="1200" dirty="0" smtClean="0"/>
              <a:t>确保渠道下单流程中下单时间和要货时间与销售预测一致。</a:t>
            </a:r>
            <a:endParaRPr lang="en-US" altLang="zh-CN" sz="1200" dirty="0" smtClean="0"/>
          </a:p>
          <a:p>
            <a:pPr marL="171450" indent="-171450">
              <a:buFont typeface="Arial" panose="020B0604020202020204" pitchFamily="34" charset="0"/>
              <a:buChar char="•"/>
            </a:pPr>
            <a:r>
              <a:rPr lang="en-US" altLang="zh-CN" sz="1200" dirty="0" smtClean="0"/>
              <a:t>IT</a:t>
            </a:r>
            <a:r>
              <a:rPr lang="zh-CN" altLang="en-US" sz="1200" dirty="0" smtClean="0"/>
              <a:t>数字化支撑</a:t>
            </a:r>
            <a:endParaRPr lang="en-US" altLang="zh-CN" sz="1200" dirty="0" smtClean="0"/>
          </a:p>
          <a:p>
            <a:pPr marL="171450" indent="-171450">
              <a:buFont typeface="Arial" panose="020B0604020202020204" pitchFamily="34" charset="0"/>
              <a:buChar char="•"/>
            </a:pPr>
            <a:endParaRPr lang="en-US" altLang="zh-CN" sz="1200" dirty="0" smtClean="0"/>
          </a:p>
          <a:p>
            <a:r>
              <a:rPr lang="en-US" altLang="zh-CN" sz="1200" b="1" dirty="0" smtClean="0"/>
              <a:t>2</a:t>
            </a:r>
            <a:r>
              <a:rPr lang="zh-CN" altLang="en-US" sz="1200" b="1" dirty="0" smtClean="0"/>
              <a:t>、高质量执行</a:t>
            </a:r>
            <a:r>
              <a:rPr lang="en-US" altLang="zh-CN" sz="1200" b="1" dirty="0" smtClean="0"/>
              <a:t>MO</a:t>
            </a:r>
            <a:r>
              <a:rPr lang="zh-CN" altLang="en-US" sz="1200" b="1" dirty="0" smtClean="0"/>
              <a:t>流程：</a:t>
            </a:r>
            <a:endParaRPr lang="en-US" altLang="zh-CN" sz="1200" b="1" dirty="0" smtClean="0"/>
          </a:p>
          <a:p>
            <a:pPr marL="171450" indent="-171450">
              <a:buFont typeface="Arial" panose="020B0604020202020204" pitchFamily="34" charset="0"/>
              <a:buChar char="•"/>
            </a:pPr>
            <a:r>
              <a:rPr lang="zh-CN" altLang="en-US" sz="1200" dirty="0" smtClean="0"/>
              <a:t>提升流程执行率：通过流程运转机制，抓关键</a:t>
            </a:r>
            <a:r>
              <a:rPr lang="en-US" altLang="zh-CN" sz="1200" dirty="0" smtClean="0"/>
              <a:t>KCP/KDP</a:t>
            </a:r>
            <a:r>
              <a:rPr lang="zh-CN" altLang="en-US" sz="1200" dirty="0" smtClean="0"/>
              <a:t>执行。</a:t>
            </a:r>
            <a:endParaRPr lang="en-US" altLang="zh-CN" sz="1200" dirty="0" smtClean="0"/>
          </a:p>
          <a:p>
            <a:pPr marL="171450" indent="-171450">
              <a:buFont typeface="Arial" panose="020B0604020202020204" pitchFamily="34" charset="0"/>
              <a:buChar char="•"/>
            </a:pPr>
            <a:r>
              <a:rPr lang="zh-CN" altLang="en-US" sz="1200" dirty="0" smtClean="0"/>
              <a:t>提升项目质量：执行好解决方案评审确保方案质量，通过标前评审确保特价流程的有效性；通过在关键环节植入供应链规则，做好项目供应支持与风险提示。</a:t>
            </a:r>
            <a:endParaRPr lang="en-US" altLang="zh-CN" sz="1200" dirty="0" smtClean="0"/>
          </a:p>
        </p:txBody>
      </p:sp>
      <p:pic>
        <p:nvPicPr>
          <p:cNvPr id="6" name="图片 5"/>
          <p:cNvPicPr>
            <a:picLocks noChangeAspect="1"/>
          </p:cNvPicPr>
          <p:nvPr/>
        </p:nvPicPr>
        <p:blipFill>
          <a:blip r:embed="rId2"/>
          <a:stretch>
            <a:fillRect/>
          </a:stretch>
        </p:blipFill>
        <p:spPr>
          <a:xfrm>
            <a:off x="351453" y="1162184"/>
            <a:ext cx="9561551" cy="5157135"/>
          </a:xfrm>
          <a:prstGeom prst="rect">
            <a:avLst/>
          </a:prstGeom>
        </p:spPr>
      </p:pic>
    </p:spTree>
    <p:extLst>
      <p:ext uri="{BB962C8B-B14F-4D97-AF65-F5344CB8AC3E}">
        <p14:creationId xmlns:p14="http://schemas.microsoft.com/office/powerpoint/2010/main" val="700083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smtClean="0"/>
              <a:t>目标</a:t>
            </a:r>
            <a:endParaRPr lang="zh-CN" altLang="en-US" dirty="0"/>
          </a:p>
        </p:txBody>
      </p:sp>
      <p:graphicFrame>
        <p:nvGraphicFramePr>
          <p:cNvPr id="3" name="表格 2"/>
          <p:cNvGraphicFramePr>
            <a:graphicFrameLocks noGrp="1"/>
          </p:cNvGraphicFramePr>
          <p:nvPr>
            <p:extLst>
              <p:ext uri="{D42A27DB-BD31-4B8C-83A1-F6EECF244321}">
                <p14:modId xmlns:p14="http://schemas.microsoft.com/office/powerpoint/2010/main" val="2578550681"/>
              </p:ext>
            </p:extLst>
          </p:nvPr>
        </p:nvGraphicFramePr>
        <p:xfrm>
          <a:off x="645833" y="1018431"/>
          <a:ext cx="10438646" cy="5273040"/>
        </p:xfrm>
        <a:graphic>
          <a:graphicData uri="http://schemas.openxmlformats.org/drawingml/2006/table">
            <a:tbl>
              <a:tblPr firstRow="1" bandRow="1">
                <a:tableStyleId>{5C22544A-7EE6-4342-B048-85BDC9FD1C3A}</a:tableStyleId>
              </a:tblPr>
              <a:tblGrid>
                <a:gridCol w="2453895"/>
                <a:gridCol w="2323431"/>
                <a:gridCol w="1288374"/>
                <a:gridCol w="1354203"/>
                <a:gridCol w="1381875"/>
                <a:gridCol w="1636868"/>
              </a:tblGrid>
              <a:tr h="185420">
                <a:tc rowSpan="2">
                  <a:txBody>
                    <a:bodyPr/>
                    <a:lstStyle/>
                    <a:p>
                      <a:pPr algn="ctr"/>
                      <a:r>
                        <a:rPr lang="zh-CN" altLang="en-US" sz="1400" b="1" dirty="0" smtClean="0"/>
                        <a:t>目标</a:t>
                      </a:r>
                      <a:endParaRPr lang="zh-CN" altLang="en-US" sz="1400" b="1" dirty="0"/>
                    </a:p>
                  </a:txBody>
                  <a:tcPr/>
                </a:tc>
                <a:tc>
                  <a:txBody>
                    <a:bodyPr/>
                    <a:lstStyle/>
                    <a:p>
                      <a:pPr algn="ctr"/>
                      <a:r>
                        <a:rPr lang="zh-CN" altLang="en-US" sz="1400" dirty="0" smtClean="0"/>
                        <a:t>试点</a:t>
                      </a:r>
                      <a:endParaRPr lang="zh-CN" altLang="en-US" sz="1400" dirty="0"/>
                    </a:p>
                  </a:txBody>
                  <a:tcPr/>
                </a:tc>
                <a:tc gridSpan="4">
                  <a:txBody>
                    <a:bodyPr/>
                    <a:lstStyle/>
                    <a:p>
                      <a:pPr algn="ctr"/>
                      <a:r>
                        <a:rPr lang="zh-CN" altLang="en-US" sz="1400" dirty="0" smtClean="0"/>
                        <a:t>推广</a:t>
                      </a:r>
                      <a:endParaRPr lang="zh-CN" altLang="en-US" sz="1400" dirty="0"/>
                    </a:p>
                  </a:txBody>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r>
              <a:tr h="185420">
                <a:tc vMerge="1">
                  <a:txBody>
                    <a:bodyPr/>
                    <a:lstStyle/>
                    <a:p>
                      <a:pPr algn="ctr"/>
                      <a:endParaRPr lang="zh-CN" altLang="en-US" sz="1600" dirty="0"/>
                    </a:p>
                  </a:txBody>
                  <a:tcPr/>
                </a:tc>
                <a:tc>
                  <a:txBody>
                    <a:bodyPr/>
                    <a:lstStyle/>
                    <a:p>
                      <a:pPr algn="ctr"/>
                      <a:r>
                        <a:rPr lang="en-US" altLang="zh-CN" sz="1400" b="1" dirty="0" smtClean="0"/>
                        <a:t>2025</a:t>
                      </a:r>
                      <a:r>
                        <a:rPr lang="zh-CN" altLang="en-US" sz="1400" b="1" dirty="0" smtClean="0"/>
                        <a:t>年</a:t>
                      </a:r>
                      <a:r>
                        <a:rPr lang="en-US" altLang="zh-CN" sz="1400" b="1" dirty="0" smtClean="0"/>
                        <a:t>12</a:t>
                      </a:r>
                      <a:r>
                        <a:rPr lang="zh-CN" altLang="en-US" sz="1400" b="1" dirty="0" smtClean="0"/>
                        <a:t>月</a:t>
                      </a:r>
                      <a:endParaRPr lang="zh-CN" altLang="en-US" sz="14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t>2026-Q1</a:t>
                      </a:r>
                      <a:endParaRPr lang="zh-CN" altLang="en-US" sz="1400" b="1" dirty="0" smtClean="0"/>
                    </a:p>
                  </a:txBody>
                  <a:tcPr/>
                </a:tc>
                <a:tc>
                  <a:txBody>
                    <a:bodyPr/>
                    <a:lstStyle/>
                    <a:p>
                      <a:pPr algn="ctr"/>
                      <a:r>
                        <a:rPr lang="en-US" altLang="zh-CN" sz="1400" b="1" dirty="0" smtClean="0"/>
                        <a:t>2026-Q2</a:t>
                      </a:r>
                      <a:endParaRPr lang="zh-CN" altLang="en-US" sz="1400" b="1" dirty="0"/>
                    </a:p>
                  </a:txBody>
                  <a:tcPr/>
                </a:tc>
                <a:tc>
                  <a:txBody>
                    <a:bodyPr/>
                    <a:lstStyle/>
                    <a:p>
                      <a:pPr algn="ctr"/>
                      <a:r>
                        <a:rPr lang="en-US" altLang="zh-CN" sz="1400" b="1" dirty="0" smtClean="0"/>
                        <a:t>2026-Q3</a:t>
                      </a:r>
                      <a:endParaRPr lang="zh-CN" altLang="en-US" sz="1400" b="1" dirty="0"/>
                    </a:p>
                  </a:txBody>
                  <a:tcPr/>
                </a:tc>
                <a:tc>
                  <a:txBody>
                    <a:bodyPr/>
                    <a:lstStyle/>
                    <a:p>
                      <a:pPr algn="ctr"/>
                      <a:r>
                        <a:rPr lang="en-US" altLang="zh-CN" sz="1400" b="1" dirty="0" smtClean="0"/>
                        <a:t>2026-Q4</a:t>
                      </a:r>
                      <a:endParaRPr lang="zh-CN" altLang="en-US" sz="1400" b="1" dirty="0"/>
                    </a:p>
                  </a:txBody>
                  <a:tcPr/>
                </a:tc>
              </a:tr>
              <a:tr h="302771">
                <a:tc gridSpan="6">
                  <a:txBody>
                    <a:bodyPr/>
                    <a:lstStyle/>
                    <a:p>
                      <a:pPr algn="l"/>
                      <a:r>
                        <a:rPr lang="zh-CN" altLang="en-US" sz="1400" b="1" dirty="0" smtClean="0"/>
                        <a:t>流程跑起来：</a:t>
                      </a:r>
                      <a:endParaRPr lang="zh-CN" altLang="en-US" sz="1400" b="1" dirty="0"/>
                    </a:p>
                  </a:txBody>
                  <a:tcPr/>
                </a:tc>
                <a:tc hMerge="1">
                  <a:txBody>
                    <a:bodyPr/>
                    <a:lstStyle/>
                    <a:p>
                      <a:pPr algn="l"/>
                      <a:endParaRPr lang="zh-CN" altLang="en-US" sz="1400" dirty="0"/>
                    </a:p>
                  </a:txBody>
                  <a:tcPr/>
                </a:tc>
                <a:tc hMerge="1">
                  <a:txBody>
                    <a:bodyPr/>
                    <a:lstStyle/>
                    <a:p>
                      <a:pPr algn="l"/>
                      <a:endParaRPr lang="zh-CN" altLang="en-US" sz="1400" dirty="0" smtClean="0"/>
                    </a:p>
                  </a:txBody>
                  <a:tcPr/>
                </a:tc>
                <a:tc hMerge="1">
                  <a:txBody>
                    <a:bodyPr/>
                    <a:lstStyle/>
                    <a:p>
                      <a:pPr algn="l"/>
                      <a:endParaRPr lang="zh-CN" altLang="en-US" sz="1400" dirty="0"/>
                    </a:p>
                  </a:txBody>
                  <a:tcPr/>
                </a:tc>
                <a:tc hMerge="1">
                  <a:txBody>
                    <a:bodyPr/>
                    <a:lstStyle/>
                    <a:p>
                      <a:pPr algn="l"/>
                      <a:endParaRPr lang="zh-CN" altLang="en-US" sz="1400" dirty="0" smtClean="0"/>
                    </a:p>
                  </a:txBody>
                  <a:tcPr/>
                </a:tc>
                <a:tc hMerge="1">
                  <a:txBody>
                    <a:bodyPr/>
                    <a:lstStyle/>
                    <a:p>
                      <a:pPr algn="l"/>
                      <a:endParaRPr lang="zh-CN" altLang="en-US" sz="1400" dirty="0"/>
                    </a:p>
                  </a:txBody>
                  <a:tcPr/>
                </a:tc>
              </a:tr>
              <a:tr h="4724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400" dirty="0" smtClean="0"/>
                        <a:t>提升</a:t>
                      </a:r>
                      <a:r>
                        <a:rPr lang="en-US" altLang="zh-CN" sz="1400" dirty="0" smtClean="0"/>
                        <a:t>MO</a:t>
                      </a:r>
                      <a:r>
                        <a:rPr lang="zh-CN" altLang="en-US" sz="1400" dirty="0" smtClean="0"/>
                        <a:t>流程执行率；</a:t>
                      </a:r>
                    </a:p>
                  </a:txBody>
                  <a:tcPr/>
                </a:tc>
                <a:tc>
                  <a:txBody>
                    <a:bodyPr/>
                    <a:lstStyle/>
                    <a:p>
                      <a:pPr algn="l"/>
                      <a:r>
                        <a:rPr lang="zh-CN" altLang="en-US" sz="1400" dirty="0" smtClean="0"/>
                        <a:t>启动会：</a:t>
                      </a:r>
                      <a:r>
                        <a:rPr lang="en-US" altLang="zh-CN" sz="1400" dirty="0" smtClean="0"/>
                        <a:t>60%</a:t>
                      </a:r>
                    </a:p>
                    <a:p>
                      <a:pPr algn="l"/>
                      <a:r>
                        <a:rPr lang="zh-CN" altLang="en-US" sz="1400" dirty="0" smtClean="0"/>
                        <a:t>解决方案评审：</a:t>
                      </a:r>
                      <a:r>
                        <a:rPr lang="en-US" altLang="zh-CN" sz="1400" dirty="0" smtClean="0"/>
                        <a:t>60%</a:t>
                      </a:r>
                    </a:p>
                    <a:p>
                      <a:pPr algn="l"/>
                      <a:r>
                        <a:rPr lang="zh-CN" altLang="en-US" sz="1400" dirty="0" smtClean="0"/>
                        <a:t>标前分析：</a:t>
                      </a:r>
                      <a:r>
                        <a:rPr lang="en-US" altLang="zh-CN" sz="1400" dirty="0" smtClean="0"/>
                        <a:t>60%</a:t>
                      </a:r>
                    </a:p>
                    <a:p>
                      <a:pPr algn="l"/>
                      <a:r>
                        <a:rPr lang="zh-CN" altLang="en-US" sz="1400" dirty="0" smtClean="0"/>
                        <a:t>赢丢单复盘：</a:t>
                      </a:r>
                      <a:r>
                        <a:rPr lang="en-US" altLang="zh-CN" sz="1400" dirty="0" smtClean="0"/>
                        <a:t>60%</a:t>
                      </a:r>
                      <a:endParaRPr lang="zh-CN" altLang="en-US" sz="1400" dirty="0" smtClean="0"/>
                    </a:p>
                  </a:txBody>
                  <a:tcPr/>
                </a:tc>
                <a:tc gridSpan="2">
                  <a:txBody>
                    <a:bodyPr/>
                    <a:lstStyle/>
                    <a:p>
                      <a:pPr algn="l"/>
                      <a:r>
                        <a:rPr lang="zh-CN" altLang="en-US" sz="1400" dirty="0" smtClean="0"/>
                        <a:t>启动会：</a:t>
                      </a:r>
                      <a:r>
                        <a:rPr lang="en-US" altLang="zh-CN" sz="1400" dirty="0" smtClean="0"/>
                        <a:t>80%</a:t>
                      </a:r>
                    </a:p>
                    <a:p>
                      <a:pPr algn="l"/>
                      <a:r>
                        <a:rPr lang="zh-CN" altLang="en-US" sz="1400" dirty="0" smtClean="0"/>
                        <a:t>解决方案评审：</a:t>
                      </a:r>
                      <a:r>
                        <a:rPr lang="en-US" altLang="zh-CN" sz="1400" dirty="0" smtClean="0"/>
                        <a:t>80%</a:t>
                      </a:r>
                    </a:p>
                    <a:p>
                      <a:pPr algn="l"/>
                      <a:r>
                        <a:rPr lang="zh-CN" altLang="en-US" sz="1400" dirty="0" smtClean="0"/>
                        <a:t>标前分析：</a:t>
                      </a:r>
                      <a:r>
                        <a:rPr lang="en-US" altLang="zh-CN" sz="1400" dirty="0" smtClean="0"/>
                        <a:t>80%</a:t>
                      </a:r>
                    </a:p>
                    <a:p>
                      <a:pPr algn="l"/>
                      <a:r>
                        <a:rPr lang="zh-CN" altLang="en-US" sz="1400" dirty="0" smtClean="0"/>
                        <a:t>赢丢单复盘：</a:t>
                      </a:r>
                      <a:r>
                        <a:rPr lang="en-US" altLang="zh-CN" sz="1400" dirty="0" smtClean="0"/>
                        <a:t>80%</a:t>
                      </a:r>
                      <a:endParaRPr lang="zh-CN" altLang="en-US" sz="1400" dirty="0" smtClean="0"/>
                    </a:p>
                  </a:txBody>
                  <a:tcPr/>
                </a:tc>
                <a:tc hMerge="1">
                  <a:txBody>
                    <a:bodyPr/>
                    <a:lstStyle/>
                    <a:p>
                      <a:endParaRPr lang="zh-CN" altLang="en-US"/>
                    </a:p>
                  </a:txBody>
                  <a:tcPr/>
                </a:tc>
                <a:tc gridSpan="2">
                  <a:txBody>
                    <a:bodyPr/>
                    <a:lstStyle/>
                    <a:p>
                      <a:pPr algn="l"/>
                      <a:r>
                        <a:rPr lang="zh-CN" altLang="en-US" sz="1400" dirty="0" smtClean="0"/>
                        <a:t>启动会：</a:t>
                      </a:r>
                      <a:r>
                        <a:rPr lang="en-US" altLang="zh-CN" sz="1400" dirty="0" smtClean="0"/>
                        <a:t>100%</a:t>
                      </a:r>
                    </a:p>
                    <a:p>
                      <a:pPr algn="l"/>
                      <a:r>
                        <a:rPr lang="zh-CN" altLang="en-US" sz="1400" dirty="0" smtClean="0"/>
                        <a:t>解决方案评审：</a:t>
                      </a:r>
                      <a:r>
                        <a:rPr lang="en-US" altLang="zh-CN" sz="1400" dirty="0" smtClean="0"/>
                        <a:t>100%</a:t>
                      </a:r>
                    </a:p>
                    <a:p>
                      <a:pPr algn="l"/>
                      <a:r>
                        <a:rPr lang="zh-CN" altLang="en-US" sz="1400" dirty="0" smtClean="0"/>
                        <a:t>标前分析：</a:t>
                      </a:r>
                      <a:r>
                        <a:rPr lang="en-US" altLang="zh-CN" sz="1400" dirty="0" smtClean="0"/>
                        <a:t>100%</a:t>
                      </a:r>
                    </a:p>
                    <a:p>
                      <a:pPr algn="l"/>
                      <a:r>
                        <a:rPr lang="zh-CN" altLang="en-US" sz="1400" dirty="0" smtClean="0"/>
                        <a:t>赢丢单复盘：</a:t>
                      </a:r>
                      <a:r>
                        <a:rPr lang="en-US" altLang="zh-CN" sz="1400" dirty="0" smtClean="0"/>
                        <a:t>100%</a:t>
                      </a:r>
                      <a:endParaRPr lang="zh-CN" altLang="en-US" sz="1400" dirty="0" smtClean="0"/>
                    </a:p>
                  </a:txBody>
                  <a:tcPr/>
                </a:tc>
                <a:tc hMerge="1">
                  <a:txBody>
                    <a:bodyPr/>
                    <a:lstStyle/>
                    <a:p>
                      <a:endParaRPr lang="zh-CN" altLang="en-US"/>
                    </a:p>
                  </a:txBody>
                  <a:tcPr/>
                </a:tc>
              </a:tr>
              <a:tr h="152400">
                <a:tc>
                  <a:txBody>
                    <a:bodyPr/>
                    <a:lstStyle/>
                    <a:p>
                      <a:pPr algn="l"/>
                      <a:r>
                        <a:rPr lang="zh-CN" altLang="en-US" sz="1400" dirty="0" smtClean="0"/>
                        <a:t>提高项目推进质量</a:t>
                      </a:r>
                      <a:endParaRPr lang="zh-CN" altLang="en-US" sz="1400" b="1" dirty="0"/>
                    </a:p>
                  </a:txBody>
                  <a:tcPr/>
                </a:tc>
                <a:tc gridSpan="5">
                  <a:txBody>
                    <a:bodyPr/>
                    <a:lstStyle/>
                    <a:p>
                      <a:pPr algn="l"/>
                      <a:r>
                        <a:rPr lang="zh-CN" altLang="en-US" sz="1400" dirty="0" smtClean="0"/>
                        <a:t>抽查：项目立项表，分析会模板（方案评审与标前评审结论</a:t>
                      </a:r>
                      <a:r>
                        <a:rPr lang="en-US" altLang="zh-CN" sz="1400" dirty="0" smtClean="0"/>
                        <a:t>&amp;</a:t>
                      </a:r>
                      <a:r>
                        <a:rPr lang="zh-CN" altLang="en-US" sz="1400" dirty="0" smtClean="0"/>
                        <a:t>意见，特价审批情况，赢丢单复盘材料）</a:t>
                      </a:r>
                      <a:endParaRPr lang="zh-CN" altLang="en-US" sz="1400" dirty="0"/>
                    </a:p>
                  </a:txBody>
                  <a:tcPr/>
                </a:tc>
                <a:tc hMerge="1">
                  <a:txBody>
                    <a:bodyPr/>
                    <a:lstStyle/>
                    <a:p>
                      <a:pPr algn="l"/>
                      <a:endParaRPr lang="zh-CN" altLang="en-US" sz="1600" dirty="0"/>
                    </a:p>
                  </a:txBody>
                  <a:tcPr/>
                </a:tc>
                <a:tc hMerge="1">
                  <a:txBody>
                    <a:bodyPr/>
                    <a:lstStyle/>
                    <a:p>
                      <a:pPr algn="l"/>
                      <a:endParaRPr lang="zh-CN" altLang="en-US" sz="1600" dirty="0"/>
                    </a:p>
                  </a:txBody>
                  <a:tcPr/>
                </a:tc>
                <a:tc hMerge="1">
                  <a:txBody>
                    <a:bodyPr/>
                    <a:lstStyle/>
                    <a:p>
                      <a:pPr algn="l"/>
                      <a:endParaRPr lang="zh-CN" altLang="en-US" sz="1600" dirty="0"/>
                    </a:p>
                  </a:txBody>
                  <a:tcPr/>
                </a:tc>
                <a:tc hMerge="1">
                  <a:txBody>
                    <a:bodyPr/>
                    <a:lstStyle/>
                    <a:p>
                      <a:pPr algn="l"/>
                      <a:endParaRPr lang="zh-CN" altLang="en-US" sz="1600" dirty="0"/>
                    </a:p>
                  </a:txBody>
                  <a:tcPr/>
                </a:tc>
              </a:tr>
              <a:tr h="152400">
                <a:tc gridSpan="6">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400" b="1" dirty="0" smtClean="0"/>
                        <a:t>做准</a:t>
                      </a:r>
                      <a:r>
                        <a:rPr lang="en-US" altLang="zh-CN" sz="1400" b="1" dirty="0" smtClean="0"/>
                        <a:t>N</a:t>
                      </a:r>
                      <a:r>
                        <a:rPr lang="zh-CN" altLang="en-US" sz="1400" b="1" dirty="0" smtClean="0"/>
                        <a:t>和</a:t>
                      </a:r>
                      <a:r>
                        <a:rPr lang="en-US" altLang="zh-CN" sz="1400" b="1" dirty="0" smtClean="0"/>
                        <a:t>T</a:t>
                      </a:r>
                      <a:r>
                        <a:rPr lang="zh-CN" altLang="en-US" sz="1400" b="1" dirty="0" smtClean="0"/>
                        <a:t>：</a:t>
                      </a:r>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1498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400" kern="1200" dirty="0" smtClean="0">
                          <a:solidFill>
                            <a:schemeClr val="dk1"/>
                          </a:solidFill>
                          <a:effectLst/>
                          <a:latin typeface="+mn-lt"/>
                          <a:ea typeface="+mn-ea"/>
                          <a:cs typeface="+mn-cs"/>
                        </a:rPr>
                        <a:t>下单项目清单准确率（不区分备货）</a:t>
                      </a:r>
                      <a:r>
                        <a:rPr lang="en-US" altLang="zh-CN" sz="1400" kern="1200" dirty="0" smtClean="0">
                          <a:solidFill>
                            <a:schemeClr val="dk1"/>
                          </a:solidFill>
                          <a:effectLst/>
                          <a:latin typeface="+mn-lt"/>
                          <a:ea typeface="+mn-ea"/>
                          <a:cs typeface="+mn-cs"/>
                        </a:rPr>
                        <a:t>-</a:t>
                      </a:r>
                      <a:r>
                        <a:rPr lang="zh-CN" altLang="en-US" sz="1400" kern="1200" dirty="0" smtClean="0">
                          <a:solidFill>
                            <a:schemeClr val="dk1"/>
                          </a:solidFill>
                          <a:effectLst/>
                          <a:latin typeface="+mn-lt"/>
                          <a:ea typeface="+mn-ea"/>
                          <a:cs typeface="+mn-cs"/>
                        </a:rPr>
                        <a:t>产品权重</a:t>
                      </a:r>
                      <a:endParaRPr lang="zh-CN" altLang="en-US" sz="1200" dirty="0" smtClean="0">
                        <a:effectLst/>
                      </a:endParaRPr>
                    </a:p>
                  </a:txBody>
                  <a:tcPr/>
                </a:tc>
                <a:tc gridSpan="3">
                  <a:txBody>
                    <a:bodyPr/>
                    <a:lstStyle/>
                    <a:p>
                      <a:pPr algn="l"/>
                      <a:r>
                        <a:rPr lang="en-US" altLang="zh-CN" sz="1600" dirty="0" smtClean="0"/>
                        <a:t>M-0</a:t>
                      </a:r>
                      <a:r>
                        <a:rPr lang="zh-CN" altLang="en-US" sz="1600" dirty="0" smtClean="0"/>
                        <a:t>：</a:t>
                      </a:r>
                      <a:r>
                        <a:rPr lang="en-US" altLang="zh-CN" sz="1600" dirty="0" smtClean="0"/>
                        <a:t>85%</a:t>
                      </a:r>
                    </a:p>
                    <a:p>
                      <a:pPr algn="l"/>
                      <a:r>
                        <a:rPr lang="en-US" altLang="zh-CN" sz="1600" dirty="0" smtClean="0"/>
                        <a:t>M-1</a:t>
                      </a:r>
                      <a:r>
                        <a:rPr lang="zh-CN" altLang="en-US" sz="1600" dirty="0" smtClean="0"/>
                        <a:t>：</a:t>
                      </a:r>
                      <a:r>
                        <a:rPr lang="en-US" altLang="zh-CN" sz="1600" dirty="0" smtClean="0"/>
                        <a:t>75%</a:t>
                      </a:r>
                    </a:p>
                    <a:p>
                      <a:pPr algn="l"/>
                      <a:r>
                        <a:rPr lang="en-US" altLang="zh-CN" sz="1600" dirty="0" smtClean="0"/>
                        <a:t>M-2</a:t>
                      </a:r>
                      <a:r>
                        <a:rPr lang="zh-CN" altLang="en-US" sz="1600" dirty="0" smtClean="0"/>
                        <a:t>：</a:t>
                      </a:r>
                      <a:r>
                        <a:rPr lang="en-US" altLang="zh-CN" sz="1600" dirty="0" smtClean="0"/>
                        <a:t>65%</a:t>
                      </a:r>
                    </a:p>
                  </a:txBody>
                  <a:tcPr/>
                </a:tc>
                <a:tc hMerge="1">
                  <a:txBody>
                    <a:bodyPr/>
                    <a:lstStyle/>
                    <a:p>
                      <a:pPr algn="l"/>
                      <a:endParaRPr lang="en-US" altLang="zh-CN" sz="1600" dirty="0" smtClean="0"/>
                    </a:p>
                  </a:txBody>
                  <a:tcPr/>
                </a:tc>
                <a:tc hMerge="1">
                  <a:txBody>
                    <a:bodyPr/>
                    <a:lstStyle/>
                    <a:p>
                      <a:pPr algn="l"/>
                      <a:endParaRPr lang="en-US" altLang="zh-CN" sz="1600" dirty="0" smtClean="0"/>
                    </a:p>
                  </a:txBody>
                  <a:tcPr/>
                </a:tc>
                <a:tc gridSpan="2">
                  <a:txBody>
                    <a:bodyPr/>
                    <a:lstStyle/>
                    <a:p>
                      <a:pPr algn="l"/>
                      <a:r>
                        <a:rPr lang="en-US" altLang="zh-CN" sz="1600" dirty="0" smtClean="0"/>
                        <a:t>M-0</a:t>
                      </a:r>
                      <a:r>
                        <a:rPr lang="zh-CN" altLang="en-US" sz="1600" dirty="0" smtClean="0"/>
                        <a:t>：</a:t>
                      </a:r>
                      <a:r>
                        <a:rPr lang="en-US" altLang="zh-CN" sz="1600" dirty="0" smtClean="0"/>
                        <a:t>95%</a:t>
                      </a:r>
                    </a:p>
                    <a:p>
                      <a:pPr algn="l"/>
                      <a:r>
                        <a:rPr lang="en-US" altLang="zh-CN" sz="1600" dirty="0" smtClean="0"/>
                        <a:t>M-1</a:t>
                      </a:r>
                      <a:r>
                        <a:rPr lang="zh-CN" altLang="en-US" sz="1600" dirty="0" smtClean="0"/>
                        <a:t>：</a:t>
                      </a:r>
                      <a:r>
                        <a:rPr lang="en-US" altLang="zh-CN" sz="1600" dirty="0" smtClean="0"/>
                        <a:t>90%</a:t>
                      </a:r>
                    </a:p>
                    <a:p>
                      <a:pPr algn="l"/>
                      <a:r>
                        <a:rPr lang="en-US" altLang="zh-CN" sz="1600" dirty="0" smtClean="0"/>
                        <a:t>M-2</a:t>
                      </a:r>
                      <a:r>
                        <a:rPr lang="zh-CN" altLang="en-US" sz="1600" dirty="0" smtClean="0"/>
                        <a:t>：</a:t>
                      </a:r>
                      <a:r>
                        <a:rPr lang="en-US" altLang="zh-CN" sz="1600" dirty="0" smtClean="0"/>
                        <a:t>80%</a:t>
                      </a:r>
                    </a:p>
                  </a:txBody>
                  <a:tcPr/>
                </a:tc>
                <a:tc hMerge="1">
                  <a:txBody>
                    <a:bodyPr/>
                    <a:lstStyle/>
                    <a:p>
                      <a:pPr algn="l"/>
                      <a:endParaRPr lang="zh-CN" altLang="en-US" sz="1600" dirty="0"/>
                    </a:p>
                  </a:txBody>
                  <a:tcPr/>
                </a:tc>
              </a:tr>
              <a:tr h="0">
                <a:tc>
                  <a:txBody>
                    <a:bodyPr/>
                    <a:lstStyle/>
                    <a:p>
                      <a:r>
                        <a:rPr lang="zh-CN" altLang="en-US" sz="1400" kern="1200" dirty="0" smtClean="0">
                          <a:solidFill>
                            <a:schemeClr val="dk1"/>
                          </a:solidFill>
                          <a:effectLst/>
                          <a:latin typeface="+mn-lt"/>
                          <a:ea typeface="+mn-ea"/>
                          <a:cs typeface="+mn-cs"/>
                        </a:rPr>
                        <a:t>下单时间准确率（不区分备货）</a:t>
                      </a:r>
                      <a:endParaRPr lang="zh-CN" altLang="en-US" sz="1400" dirty="0" smtClean="0">
                        <a:effectLst/>
                      </a:endParaRPr>
                    </a:p>
                  </a:txBody>
                  <a:tcPr/>
                </a:tc>
                <a:tc gridSpan="3">
                  <a:txBody>
                    <a:bodyPr/>
                    <a:lstStyle/>
                    <a:p>
                      <a:pPr algn="l"/>
                      <a:r>
                        <a:rPr lang="en-US" altLang="zh-CN" sz="1600" dirty="0" smtClean="0"/>
                        <a:t>M-0</a:t>
                      </a:r>
                      <a:r>
                        <a:rPr lang="zh-CN" altLang="en-US" sz="1600" dirty="0" smtClean="0"/>
                        <a:t>：</a:t>
                      </a:r>
                      <a:r>
                        <a:rPr lang="en-US" altLang="zh-CN" sz="1600" dirty="0" smtClean="0"/>
                        <a:t>95%</a:t>
                      </a:r>
                    </a:p>
                    <a:p>
                      <a:pPr algn="l"/>
                      <a:r>
                        <a:rPr lang="en-US" altLang="zh-CN" sz="1600" dirty="0" smtClean="0"/>
                        <a:t>M-1</a:t>
                      </a:r>
                      <a:r>
                        <a:rPr lang="zh-CN" altLang="en-US" sz="1600" dirty="0" smtClean="0"/>
                        <a:t>：</a:t>
                      </a:r>
                      <a:r>
                        <a:rPr lang="en-US" altLang="zh-CN" sz="1600" dirty="0" smtClean="0"/>
                        <a:t>80%</a:t>
                      </a:r>
                    </a:p>
                    <a:p>
                      <a:pPr algn="l"/>
                      <a:r>
                        <a:rPr lang="en-US" altLang="zh-CN" sz="1600" dirty="0" smtClean="0"/>
                        <a:t>M-2</a:t>
                      </a:r>
                      <a:r>
                        <a:rPr lang="zh-CN" altLang="en-US" sz="1600" dirty="0" smtClean="0"/>
                        <a:t>：</a:t>
                      </a:r>
                      <a:r>
                        <a:rPr lang="en-US" altLang="zh-CN" sz="1600" dirty="0" smtClean="0"/>
                        <a:t>65%</a:t>
                      </a:r>
                    </a:p>
                  </a:txBody>
                  <a:tcPr/>
                </a:tc>
                <a:tc hMerge="1">
                  <a:txBody>
                    <a:bodyPr/>
                    <a:lstStyle/>
                    <a:p>
                      <a:pPr algn="l"/>
                      <a:endParaRPr lang="en-US" altLang="zh-CN" sz="1600" dirty="0" smtClean="0"/>
                    </a:p>
                  </a:txBody>
                  <a:tcPr/>
                </a:tc>
                <a:tc hMerge="1">
                  <a:txBody>
                    <a:bodyPr/>
                    <a:lstStyle/>
                    <a:p>
                      <a:pPr algn="l"/>
                      <a:endParaRPr lang="en-US" altLang="zh-CN" sz="1600" dirty="0" smtClean="0"/>
                    </a:p>
                  </a:txBody>
                  <a:tcPr/>
                </a:tc>
                <a:tc gridSpan="2">
                  <a:txBody>
                    <a:bodyPr/>
                    <a:lstStyle/>
                    <a:p>
                      <a:pPr algn="l"/>
                      <a:r>
                        <a:rPr lang="en-US" altLang="zh-CN" sz="1600" dirty="0" smtClean="0"/>
                        <a:t>M-0</a:t>
                      </a:r>
                      <a:r>
                        <a:rPr lang="zh-CN" altLang="en-US" sz="1600" dirty="0" smtClean="0"/>
                        <a:t>：</a:t>
                      </a:r>
                      <a:r>
                        <a:rPr lang="en-US" altLang="zh-CN" sz="1600" dirty="0" smtClean="0"/>
                        <a:t>95%</a:t>
                      </a:r>
                    </a:p>
                    <a:p>
                      <a:pPr algn="l"/>
                      <a:r>
                        <a:rPr lang="en-US" altLang="zh-CN" sz="1600" dirty="0" smtClean="0"/>
                        <a:t>M-1</a:t>
                      </a:r>
                      <a:r>
                        <a:rPr lang="zh-CN" altLang="en-US" sz="1600" dirty="0" smtClean="0"/>
                        <a:t>：</a:t>
                      </a:r>
                      <a:r>
                        <a:rPr lang="en-US" altLang="zh-CN" sz="1600" dirty="0" smtClean="0"/>
                        <a:t>90%</a:t>
                      </a:r>
                    </a:p>
                    <a:p>
                      <a:pPr algn="l"/>
                      <a:r>
                        <a:rPr lang="en-US" altLang="zh-CN" sz="1600" dirty="0" smtClean="0"/>
                        <a:t>M-2</a:t>
                      </a:r>
                      <a:r>
                        <a:rPr lang="zh-CN" altLang="en-US" sz="1600" dirty="0" smtClean="0"/>
                        <a:t>：</a:t>
                      </a:r>
                      <a:r>
                        <a:rPr lang="en-US" altLang="zh-CN" sz="1600" dirty="0" smtClean="0"/>
                        <a:t>75%</a:t>
                      </a:r>
                    </a:p>
                  </a:txBody>
                  <a:tcPr/>
                </a:tc>
                <a:tc hMerge="1">
                  <a:txBody>
                    <a:bodyPr/>
                    <a:lstStyle/>
                    <a:p>
                      <a:pPr algn="l"/>
                      <a:endParaRPr lang="zh-CN" altLang="en-US" sz="1600" dirty="0"/>
                    </a:p>
                  </a:txBody>
                  <a:tcPr/>
                </a:tc>
              </a:tr>
              <a:tr h="223520">
                <a:tc>
                  <a:txBody>
                    <a:bodyPr/>
                    <a:lstStyle/>
                    <a:p>
                      <a:r>
                        <a:rPr lang="zh-CN" altLang="en-US" sz="1400" kern="1200" dirty="0" smtClean="0">
                          <a:solidFill>
                            <a:schemeClr val="dk1"/>
                          </a:solidFill>
                          <a:effectLst/>
                          <a:latin typeface="+mn-lt"/>
                          <a:ea typeface="+mn-ea"/>
                          <a:cs typeface="+mn-cs"/>
                        </a:rPr>
                        <a:t>下单项目要货时间准确率（不区分备货）</a:t>
                      </a:r>
                      <a:endParaRPr lang="zh-CN" altLang="en-US" sz="1200" dirty="0" smtClean="0">
                        <a:effectLst/>
                      </a:endParaRPr>
                    </a:p>
                  </a:txBody>
                  <a:tcPr/>
                </a:tc>
                <a:tc gridSpan="3">
                  <a:txBody>
                    <a:bodyPr/>
                    <a:lstStyle/>
                    <a:p>
                      <a:pPr algn="l"/>
                      <a:r>
                        <a:rPr lang="en-US" altLang="zh-CN" sz="1600" dirty="0" smtClean="0"/>
                        <a:t>M-0</a:t>
                      </a:r>
                      <a:r>
                        <a:rPr lang="zh-CN" altLang="en-US" sz="1600" dirty="0" smtClean="0"/>
                        <a:t>：</a:t>
                      </a:r>
                      <a:r>
                        <a:rPr lang="en-US" altLang="zh-CN" sz="1600" dirty="0" smtClean="0"/>
                        <a:t>70%</a:t>
                      </a:r>
                    </a:p>
                    <a:p>
                      <a:pPr algn="l"/>
                      <a:r>
                        <a:rPr lang="en-US" altLang="zh-CN" sz="1600" dirty="0" smtClean="0"/>
                        <a:t>M-1</a:t>
                      </a:r>
                      <a:r>
                        <a:rPr lang="zh-CN" altLang="en-US" sz="1600" dirty="0" smtClean="0"/>
                        <a:t>：</a:t>
                      </a:r>
                      <a:r>
                        <a:rPr lang="en-US" altLang="zh-CN" sz="1600" dirty="0" smtClean="0"/>
                        <a:t>60%</a:t>
                      </a:r>
                    </a:p>
                    <a:p>
                      <a:pPr algn="l"/>
                      <a:r>
                        <a:rPr lang="en-US" altLang="zh-CN" sz="1600" dirty="0" smtClean="0"/>
                        <a:t>M-2</a:t>
                      </a:r>
                      <a:r>
                        <a:rPr lang="zh-CN" altLang="en-US" sz="1600" dirty="0" smtClean="0"/>
                        <a:t>：</a:t>
                      </a:r>
                      <a:r>
                        <a:rPr lang="en-US" altLang="zh-CN" sz="1600" dirty="0" smtClean="0"/>
                        <a:t>50%</a:t>
                      </a:r>
                    </a:p>
                  </a:txBody>
                  <a:tcPr/>
                </a:tc>
                <a:tc hMerge="1">
                  <a:txBody>
                    <a:bodyPr/>
                    <a:lstStyle/>
                    <a:p>
                      <a:pPr algn="l"/>
                      <a:endParaRPr lang="en-US" altLang="zh-CN" sz="1600" dirty="0" smtClean="0"/>
                    </a:p>
                  </a:txBody>
                  <a:tcPr/>
                </a:tc>
                <a:tc hMerge="1">
                  <a:txBody>
                    <a:bodyPr/>
                    <a:lstStyle/>
                    <a:p>
                      <a:pPr algn="l"/>
                      <a:endParaRPr lang="en-US" altLang="zh-CN" sz="1600" dirty="0" smtClean="0"/>
                    </a:p>
                  </a:txBody>
                  <a:tcPr/>
                </a:tc>
                <a:tc gridSpan="2">
                  <a:txBody>
                    <a:bodyPr/>
                    <a:lstStyle/>
                    <a:p>
                      <a:pPr algn="l"/>
                      <a:r>
                        <a:rPr lang="en-US" altLang="zh-CN" sz="1600" dirty="0" smtClean="0"/>
                        <a:t>M-0</a:t>
                      </a:r>
                      <a:r>
                        <a:rPr lang="zh-CN" altLang="en-US" sz="1600" dirty="0" smtClean="0"/>
                        <a:t>：</a:t>
                      </a:r>
                      <a:r>
                        <a:rPr lang="en-US" altLang="zh-CN" sz="1600" dirty="0" smtClean="0"/>
                        <a:t>95%</a:t>
                      </a:r>
                    </a:p>
                    <a:p>
                      <a:pPr algn="l"/>
                      <a:r>
                        <a:rPr lang="en-US" altLang="zh-CN" sz="1600" dirty="0" smtClean="0"/>
                        <a:t>M-1</a:t>
                      </a:r>
                      <a:r>
                        <a:rPr lang="zh-CN" altLang="en-US" sz="1600" dirty="0" smtClean="0"/>
                        <a:t>：</a:t>
                      </a:r>
                      <a:r>
                        <a:rPr lang="en-US" altLang="zh-CN" sz="1600" dirty="0" smtClean="0"/>
                        <a:t>90%</a:t>
                      </a:r>
                    </a:p>
                    <a:p>
                      <a:pPr algn="l"/>
                      <a:r>
                        <a:rPr lang="en-US" altLang="zh-CN" sz="1600" dirty="0" smtClean="0"/>
                        <a:t>M-2</a:t>
                      </a:r>
                      <a:r>
                        <a:rPr lang="zh-CN" altLang="en-US" sz="1600" dirty="0" smtClean="0"/>
                        <a:t>：</a:t>
                      </a:r>
                      <a:r>
                        <a:rPr lang="en-US" altLang="zh-CN" sz="1600" dirty="0" smtClean="0"/>
                        <a:t>75%</a:t>
                      </a:r>
                    </a:p>
                  </a:txBody>
                  <a:tcPr/>
                </a:tc>
                <a:tc hMerge="1">
                  <a:txBody>
                    <a:bodyPr/>
                    <a:lstStyle/>
                    <a:p>
                      <a:pPr algn="l"/>
                      <a:endParaRPr lang="zh-CN" altLang="en-US" sz="1600" dirty="0"/>
                    </a:p>
                  </a:txBody>
                  <a:tcPr/>
                </a:tc>
              </a:tr>
              <a:tr h="0">
                <a:tc>
                  <a:txBody>
                    <a:bodyPr/>
                    <a:lstStyle/>
                    <a:p>
                      <a:pPr algn="l"/>
                      <a:endParaRPr lang="zh-CN" altLang="en-US" sz="1600" dirty="0"/>
                    </a:p>
                  </a:txBody>
                  <a:tcPr/>
                </a:tc>
                <a:tc>
                  <a:txBody>
                    <a:bodyPr/>
                    <a:lstStyle/>
                    <a:p>
                      <a:pPr algn="l"/>
                      <a:endParaRPr lang="zh-CN" altLang="en-US" sz="1600" dirty="0"/>
                    </a:p>
                  </a:txBody>
                  <a:tcPr/>
                </a:tc>
                <a:tc>
                  <a:txBody>
                    <a:bodyPr/>
                    <a:lstStyle/>
                    <a:p>
                      <a:pPr algn="l"/>
                      <a:endParaRPr lang="zh-CN" altLang="en-US" sz="1600" dirty="0"/>
                    </a:p>
                  </a:txBody>
                  <a:tcPr/>
                </a:tc>
                <a:tc>
                  <a:txBody>
                    <a:bodyPr/>
                    <a:lstStyle/>
                    <a:p>
                      <a:pPr algn="l"/>
                      <a:endParaRPr lang="zh-CN" altLang="en-US" sz="1600" dirty="0"/>
                    </a:p>
                  </a:txBody>
                  <a:tcPr/>
                </a:tc>
                <a:tc>
                  <a:txBody>
                    <a:bodyPr/>
                    <a:lstStyle/>
                    <a:p>
                      <a:pPr algn="l"/>
                      <a:endParaRPr lang="zh-CN" altLang="en-US" sz="1600" dirty="0"/>
                    </a:p>
                  </a:txBody>
                  <a:tcPr/>
                </a:tc>
                <a:tc>
                  <a:txBody>
                    <a:bodyPr/>
                    <a:lstStyle/>
                    <a:p>
                      <a:pPr algn="l"/>
                      <a:endParaRPr lang="zh-CN" altLang="en-US" sz="1600" dirty="0"/>
                    </a:p>
                  </a:txBody>
                  <a:tcPr/>
                </a:tc>
              </a:tr>
            </a:tbl>
          </a:graphicData>
        </a:graphic>
      </p:graphicFrame>
    </p:spTree>
    <p:extLst>
      <p:ext uri="{BB962C8B-B14F-4D97-AF65-F5344CB8AC3E}">
        <p14:creationId xmlns:p14="http://schemas.microsoft.com/office/powerpoint/2010/main" val="17708568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08134" y="2832034"/>
            <a:ext cx="4497355"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占位符 2"/>
          <p:cNvSpPr txBox="1"/>
          <p:nvPr/>
        </p:nvSpPr>
        <p:spPr>
          <a:xfrm>
            <a:off x="1219915" y="2214179"/>
            <a:ext cx="5479649" cy="3009669"/>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20204" pitchFamily="34" charset="0"/>
              <a:buChar char="•"/>
              <a:defRPr/>
            </a:pPr>
            <a:r>
              <a:rPr lang="zh-CN" altLang="en-US" dirty="0" smtClean="0"/>
              <a:t>关键点识别与现状分析</a:t>
            </a:r>
            <a:endParaRPr lang="en-US" altLang="zh-CN" dirty="0" smtClean="0"/>
          </a:p>
          <a:p>
            <a:pPr marL="342900" indent="-342900">
              <a:lnSpc>
                <a:spcPct val="150000"/>
              </a:lnSpc>
              <a:buFont typeface="Arial" panose="020B0604020202020204" pitchFamily="34" charset="0"/>
              <a:buChar char="•"/>
              <a:defRPr/>
            </a:pPr>
            <a:r>
              <a:rPr lang="zh-CN" altLang="en-US" dirty="0" smtClean="0"/>
              <a:t>课题</a:t>
            </a:r>
            <a:r>
              <a:rPr lang="en-US" altLang="zh-CN" dirty="0" smtClean="0"/>
              <a:t>1</a:t>
            </a:r>
            <a:r>
              <a:rPr lang="zh-CN" altLang="en-US" dirty="0" smtClean="0"/>
              <a:t>：做准</a:t>
            </a:r>
            <a:r>
              <a:rPr lang="en-US" altLang="zh-CN" dirty="0" smtClean="0"/>
              <a:t>N</a:t>
            </a:r>
            <a:r>
              <a:rPr lang="zh-CN" altLang="en-US" dirty="0" smtClean="0"/>
              <a:t>和</a:t>
            </a:r>
            <a:r>
              <a:rPr lang="en-US" altLang="zh-CN" dirty="0" smtClean="0"/>
              <a:t>T</a:t>
            </a:r>
          </a:p>
          <a:p>
            <a:pPr marL="342900" indent="-342900">
              <a:lnSpc>
                <a:spcPct val="150000"/>
              </a:lnSpc>
              <a:buFont typeface="Arial" panose="020B0604020202020204" pitchFamily="34" charset="0"/>
              <a:buChar char="•"/>
              <a:defRPr/>
            </a:pPr>
            <a:r>
              <a:rPr lang="zh-CN" altLang="en-US" dirty="0" smtClean="0"/>
              <a:t>课题</a:t>
            </a:r>
            <a:r>
              <a:rPr lang="en-US" altLang="zh-CN" dirty="0" smtClean="0"/>
              <a:t>2</a:t>
            </a:r>
            <a:r>
              <a:rPr lang="zh-CN" altLang="en-US" dirty="0" smtClean="0"/>
              <a:t>：提升</a:t>
            </a:r>
            <a:r>
              <a:rPr lang="en-US" altLang="zh-CN" dirty="0" smtClean="0"/>
              <a:t>MO</a:t>
            </a:r>
            <a:r>
              <a:rPr lang="zh-CN" altLang="en-US" dirty="0" smtClean="0"/>
              <a:t>流程执行效率与执行质量</a:t>
            </a:r>
            <a:endParaRPr lang="en-US" altLang="zh-CN" dirty="0" smtClean="0"/>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Tree>
    <p:extLst>
      <p:ext uri="{BB962C8B-B14F-4D97-AF65-F5344CB8AC3E}">
        <p14:creationId xmlns:p14="http://schemas.microsoft.com/office/powerpoint/2010/main" val="1212277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4" y="274320"/>
            <a:ext cx="8570595" cy="495935"/>
          </a:xfrm>
        </p:spPr>
        <p:txBody>
          <a:bodyPr/>
          <a:lstStyle/>
          <a:p>
            <a:r>
              <a:rPr lang="zh-CN" altLang="en-US" dirty="0" smtClean="0"/>
              <a:t>课题</a:t>
            </a:r>
            <a:r>
              <a:rPr lang="en-US" altLang="zh-CN" dirty="0" smtClean="0"/>
              <a:t>1</a:t>
            </a:r>
            <a:r>
              <a:rPr lang="zh-CN" altLang="en-US" dirty="0" smtClean="0"/>
              <a:t>：做准</a:t>
            </a:r>
            <a:r>
              <a:rPr lang="en-US" altLang="zh-CN" dirty="0" smtClean="0"/>
              <a:t>N</a:t>
            </a:r>
            <a:r>
              <a:rPr lang="zh-CN" altLang="en-US" dirty="0" smtClean="0"/>
              <a:t>和</a:t>
            </a:r>
            <a:r>
              <a:rPr lang="en-US" altLang="zh-CN" dirty="0" smtClean="0"/>
              <a:t>T</a:t>
            </a:r>
            <a:r>
              <a:rPr lang="zh-CN" altLang="en-US" dirty="0" smtClean="0"/>
              <a:t>的准确性数据统计与分析</a:t>
            </a:r>
            <a:r>
              <a:rPr lang="en-US" altLang="zh-CN" dirty="0" smtClean="0"/>
              <a:t>-8</a:t>
            </a:r>
            <a:r>
              <a:rPr lang="zh-CN" altLang="en-US" dirty="0" smtClean="0"/>
              <a:t>，</a:t>
            </a:r>
            <a:r>
              <a:rPr lang="en-US" altLang="zh-CN" dirty="0" smtClean="0"/>
              <a:t>9</a:t>
            </a:r>
            <a:r>
              <a:rPr lang="zh-CN" altLang="en-US" dirty="0" smtClean="0"/>
              <a:t>，</a:t>
            </a:r>
            <a:r>
              <a:rPr lang="en-US" altLang="zh-CN" dirty="0" smtClean="0"/>
              <a:t>10</a:t>
            </a:r>
            <a:r>
              <a:rPr lang="zh-CN" altLang="en-US" dirty="0" smtClean="0"/>
              <a:t>，</a:t>
            </a:r>
            <a:r>
              <a:rPr lang="en-US" altLang="zh-CN" dirty="0" smtClean="0"/>
              <a:t>11</a:t>
            </a:r>
            <a:r>
              <a:rPr lang="zh-CN" altLang="en-US" dirty="0" smtClean="0"/>
              <a:t>月</a:t>
            </a:r>
            <a:endParaRPr lang="zh-CN" altLang="en-US" dirty="0"/>
          </a:p>
        </p:txBody>
      </p:sp>
      <p:sp>
        <p:nvSpPr>
          <p:cNvPr id="6" name="文本框 5"/>
          <p:cNvSpPr txBox="1"/>
          <p:nvPr/>
        </p:nvSpPr>
        <p:spPr>
          <a:xfrm>
            <a:off x="2018923" y="908217"/>
            <a:ext cx="2262158" cy="369332"/>
          </a:xfrm>
          <a:prstGeom prst="rect">
            <a:avLst/>
          </a:prstGeom>
          <a:noFill/>
        </p:spPr>
        <p:txBody>
          <a:bodyPr wrap="none" rtlCol="0">
            <a:spAutoFit/>
          </a:bodyPr>
          <a:lstStyle/>
          <a:p>
            <a:r>
              <a:rPr lang="zh-CN" altLang="en-US" b="1" dirty="0"/>
              <a:t>配置</a:t>
            </a:r>
            <a:r>
              <a:rPr lang="zh-CN" altLang="en-US" b="1" dirty="0" smtClean="0"/>
              <a:t>清单准确率统计</a:t>
            </a:r>
            <a:endParaRPr lang="zh-CN" altLang="en-US" b="1" dirty="0"/>
          </a:p>
        </p:txBody>
      </p:sp>
      <p:sp>
        <p:nvSpPr>
          <p:cNvPr id="10" name="等腰三角形 9"/>
          <p:cNvSpPr/>
          <p:nvPr/>
        </p:nvSpPr>
        <p:spPr>
          <a:xfrm rot="5400000">
            <a:off x="6925272" y="3428385"/>
            <a:ext cx="1953038" cy="30052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9269240" y="1046179"/>
            <a:ext cx="1107996" cy="369332"/>
          </a:xfrm>
          <a:prstGeom prst="rect">
            <a:avLst/>
          </a:prstGeom>
          <a:noFill/>
        </p:spPr>
        <p:txBody>
          <a:bodyPr wrap="none" rtlCol="0">
            <a:spAutoFit/>
          </a:bodyPr>
          <a:lstStyle/>
          <a:p>
            <a:r>
              <a:rPr lang="zh-CN" altLang="en-US" b="1" dirty="0" smtClean="0"/>
              <a:t>数据分析</a:t>
            </a:r>
            <a:endParaRPr lang="zh-CN" altLang="en-US" b="1" dirty="0"/>
          </a:p>
        </p:txBody>
      </p:sp>
      <p:sp>
        <p:nvSpPr>
          <p:cNvPr id="12" name="文本框 11"/>
          <p:cNvSpPr txBox="1"/>
          <p:nvPr/>
        </p:nvSpPr>
        <p:spPr>
          <a:xfrm>
            <a:off x="8162960" y="1691435"/>
            <a:ext cx="3876393" cy="4401205"/>
          </a:xfrm>
          <a:prstGeom prst="rect">
            <a:avLst/>
          </a:prstGeom>
          <a:noFill/>
          <a:ln>
            <a:solidFill>
              <a:schemeClr val="accent1"/>
            </a:solidFill>
          </a:ln>
        </p:spPr>
        <p:txBody>
          <a:bodyPr wrap="square" rtlCol="0">
            <a:spAutoFit/>
          </a:bodyPr>
          <a:lstStyle/>
          <a:p>
            <a:r>
              <a:rPr lang="zh-CN" altLang="en-US" sz="1400" b="1" dirty="0" smtClean="0"/>
              <a:t>北京区域：</a:t>
            </a:r>
            <a:r>
              <a:rPr lang="en-US" altLang="zh-CN" sz="1400" dirty="0" smtClean="0"/>
              <a:t>M0</a:t>
            </a:r>
            <a:r>
              <a:rPr lang="zh-CN" altLang="en-US" sz="1400" dirty="0" smtClean="0"/>
              <a:t>准确率高，但是</a:t>
            </a:r>
            <a:r>
              <a:rPr lang="en-US" altLang="zh-CN" sz="1400" dirty="0" smtClean="0"/>
              <a:t>M1</a:t>
            </a:r>
            <a:r>
              <a:rPr lang="zh-CN" altLang="en-US" sz="1400" dirty="0" smtClean="0"/>
              <a:t>和</a:t>
            </a:r>
            <a:r>
              <a:rPr lang="en-US" altLang="zh-CN" sz="1400" dirty="0" smtClean="0"/>
              <a:t>M2</a:t>
            </a:r>
            <a:r>
              <a:rPr lang="zh-CN" altLang="en-US" sz="1400" dirty="0" smtClean="0"/>
              <a:t>准确率比较低，尤其是</a:t>
            </a:r>
            <a:r>
              <a:rPr lang="en-US" altLang="zh-CN" sz="1400" dirty="0" smtClean="0"/>
              <a:t>M2</a:t>
            </a:r>
            <a:r>
              <a:rPr lang="zh-CN" altLang="en-US" sz="1400" dirty="0" smtClean="0"/>
              <a:t>准确率呈明显下降趋势，</a:t>
            </a:r>
            <a:r>
              <a:rPr lang="en-US" altLang="zh-CN" sz="1400" dirty="0" smtClean="0"/>
              <a:t>11</a:t>
            </a:r>
            <a:r>
              <a:rPr lang="zh-CN" altLang="en-US" sz="1400" dirty="0" smtClean="0"/>
              <a:t>月准确率才</a:t>
            </a:r>
            <a:r>
              <a:rPr lang="en-US" altLang="zh-CN" sz="1400" dirty="0" smtClean="0"/>
              <a:t>15%</a:t>
            </a:r>
            <a:r>
              <a:rPr lang="zh-CN" altLang="en-US" sz="1400" dirty="0" smtClean="0"/>
              <a:t>，需要重点关注长期预测能力提升</a:t>
            </a:r>
            <a:endParaRPr lang="en-US" altLang="zh-CN" sz="1400" dirty="0" smtClean="0"/>
          </a:p>
          <a:p>
            <a:r>
              <a:rPr lang="zh-CN" altLang="en-US" sz="1400" b="1" dirty="0" smtClean="0">
                <a:solidFill>
                  <a:schemeClr val="accent4">
                    <a:lumMod val="50000"/>
                  </a:schemeClr>
                </a:solidFill>
              </a:rPr>
              <a:t>川藏区域：</a:t>
            </a:r>
            <a:r>
              <a:rPr lang="zh-CN" altLang="en-US" sz="1400" dirty="0" smtClean="0"/>
              <a:t>呈现明显改善趋势，</a:t>
            </a:r>
            <a:r>
              <a:rPr lang="en-US" altLang="zh-CN" sz="1400" dirty="0"/>
              <a:t>11</a:t>
            </a:r>
            <a:r>
              <a:rPr lang="zh-CN" altLang="en-US" sz="1400" dirty="0" smtClean="0"/>
              <a:t>月的</a:t>
            </a:r>
            <a:r>
              <a:rPr lang="en-US" altLang="zh-CN" sz="1400" dirty="0" smtClean="0"/>
              <a:t>M0</a:t>
            </a:r>
            <a:r>
              <a:rPr lang="zh-CN" altLang="en-US" sz="1400" dirty="0" smtClean="0"/>
              <a:t>，</a:t>
            </a:r>
            <a:r>
              <a:rPr lang="en-US" altLang="zh-CN" sz="1400" dirty="0" smtClean="0"/>
              <a:t>M1</a:t>
            </a:r>
            <a:r>
              <a:rPr lang="zh-CN" altLang="en-US" sz="1400" dirty="0" smtClean="0"/>
              <a:t>和</a:t>
            </a:r>
            <a:r>
              <a:rPr lang="en-US" altLang="zh-CN" sz="1400" dirty="0" smtClean="0"/>
              <a:t>M2</a:t>
            </a:r>
            <a:r>
              <a:rPr lang="zh-CN" altLang="en-US" sz="1400" dirty="0" smtClean="0"/>
              <a:t>数据均已经达到标准要求，值得学习和借鉴。</a:t>
            </a:r>
            <a:endParaRPr lang="en-US" altLang="zh-CN" sz="1400" dirty="0" smtClean="0"/>
          </a:p>
          <a:p>
            <a:r>
              <a:rPr lang="zh-CN" altLang="en-US" sz="1400" b="1" dirty="0" smtClean="0"/>
              <a:t>福建区域：</a:t>
            </a:r>
            <a:r>
              <a:rPr lang="zh-CN" altLang="en-US" sz="1400" dirty="0" smtClean="0"/>
              <a:t>数据呈现不规律变化，</a:t>
            </a:r>
            <a:r>
              <a:rPr lang="en-US" altLang="zh-CN" sz="1400" dirty="0" smtClean="0"/>
              <a:t>M0</a:t>
            </a:r>
            <a:r>
              <a:rPr lang="zh-CN" altLang="en-US" sz="1400" dirty="0" smtClean="0"/>
              <a:t>尚可，</a:t>
            </a:r>
            <a:r>
              <a:rPr lang="en-US" altLang="zh-CN" sz="1400" dirty="0" smtClean="0"/>
              <a:t>M1</a:t>
            </a:r>
            <a:r>
              <a:rPr lang="zh-CN" altLang="en-US" sz="1400" dirty="0" smtClean="0"/>
              <a:t>和</a:t>
            </a:r>
            <a:r>
              <a:rPr lang="en-US" altLang="zh-CN" sz="1400" dirty="0" smtClean="0"/>
              <a:t>M2</a:t>
            </a:r>
            <a:r>
              <a:rPr lang="zh-CN" altLang="en-US" sz="1400" dirty="0" smtClean="0"/>
              <a:t>离目标还有距离。</a:t>
            </a:r>
            <a:endParaRPr lang="en-US" altLang="zh-CN" sz="1400" dirty="0" smtClean="0"/>
          </a:p>
          <a:p>
            <a:r>
              <a:rPr lang="zh-CN" altLang="en-US" sz="1400" b="1" dirty="0" smtClean="0"/>
              <a:t>广东区域</a:t>
            </a:r>
            <a:r>
              <a:rPr lang="zh-CN" altLang="en-US" sz="1400" dirty="0" smtClean="0"/>
              <a:t>：跟福建区域类似，数据呈现不规律起伏变化，</a:t>
            </a:r>
            <a:r>
              <a:rPr lang="en-US" altLang="zh-CN" sz="1400" dirty="0" smtClean="0"/>
              <a:t>M1</a:t>
            </a:r>
            <a:r>
              <a:rPr lang="zh-CN" altLang="en-US" sz="1400" dirty="0" smtClean="0"/>
              <a:t>和</a:t>
            </a:r>
            <a:r>
              <a:rPr lang="en-US" altLang="zh-CN" sz="1400" dirty="0" smtClean="0"/>
              <a:t>M2</a:t>
            </a:r>
            <a:r>
              <a:rPr lang="zh-CN" altLang="en-US" sz="1400" dirty="0"/>
              <a:t>偏</a:t>
            </a:r>
            <a:r>
              <a:rPr lang="zh-CN" altLang="en-US" sz="1400" dirty="0" smtClean="0"/>
              <a:t>低</a:t>
            </a:r>
            <a:endParaRPr lang="en-US" altLang="zh-CN" sz="1400" dirty="0" smtClean="0"/>
          </a:p>
          <a:p>
            <a:r>
              <a:rPr lang="zh-CN" altLang="en-US" sz="1400" b="1" dirty="0" smtClean="0"/>
              <a:t>河南区域：</a:t>
            </a:r>
            <a:r>
              <a:rPr lang="zh-CN" altLang="en-US" sz="1400" dirty="0" smtClean="0"/>
              <a:t>数据相对稳定，但是离目标还是有一定差距，并且数据也出现无规律起伏变化</a:t>
            </a:r>
            <a:endParaRPr lang="en-US" altLang="zh-CN" sz="1400" dirty="0" smtClean="0"/>
          </a:p>
          <a:p>
            <a:r>
              <a:rPr lang="zh-CN" altLang="en-US" sz="1400" b="1" dirty="0" smtClean="0"/>
              <a:t>湖南区域：</a:t>
            </a:r>
            <a:r>
              <a:rPr lang="en-US" altLang="zh-CN" sz="1400" dirty="0" smtClean="0"/>
              <a:t>9</a:t>
            </a:r>
            <a:r>
              <a:rPr lang="zh-CN" altLang="en-US" sz="1400" dirty="0" smtClean="0"/>
              <a:t>月的</a:t>
            </a:r>
            <a:r>
              <a:rPr lang="en-US" altLang="zh-CN" sz="1400" dirty="0" smtClean="0"/>
              <a:t>M2</a:t>
            </a:r>
            <a:r>
              <a:rPr lang="zh-CN" altLang="en-US" sz="1400" dirty="0" smtClean="0"/>
              <a:t>数据准确率异常才</a:t>
            </a:r>
            <a:r>
              <a:rPr lang="en-US" altLang="zh-CN" sz="1400" dirty="0" smtClean="0"/>
              <a:t>5%</a:t>
            </a:r>
            <a:r>
              <a:rPr lang="zh-CN" altLang="en-US" sz="1400" dirty="0" smtClean="0"/>
              <a:t>，其他数据呈现无规律变化，离目标有一定差距。</a:t>
            </a:r>
            <a:endParaRPr lang="en-US" altLang="zh-CN" sz="1400" dirty="0" smtClean="0"/>
          </a:p>
          <a:p>
            <a:r>
              <a:rPr lang="zh-CN" altLang="en-US" sz="1400" b="1" dirty="0" smtClean="0"/>
              <a:t>江西区域：</a:t>
            </a:r>
            <a:r>
              <a:rPr lang="zh-CN" altLang="en-US" sz="1400" dirty="0" smtClean="0"/>
              <a:t>起伏变化大，</a:t>
            </a:r>
            <a:r>
              <a:rPr lang="en-US" altLang="zh-CN" sz="1400" dirty="0" smtClean="0"/>
              <a:t>10</a:t>
            </a:r>
            <a:r>
              <a:rPr lang="zh-CN" altLang="en-US" sz="1400" dirty="0" smtClean="0"/>
              <a:t>月份数据质量高，其他月份数值偏低，需要复盘总结根因</a:t>
            </a:r>
            <a:endParaRPr lang="en-US" altLang="zh-CN" sz="1400" dirty="0" smtClean="0"/>
          </a:p>
          <a:p>
            <a:r>
              <a:rPr lang="zh-CN" altLang="en-US" sz="1400" b="1" dirty="0" smtClean="0"/>
              <a:t>山东区域：</a:t>
            </a:r>
            <a:r>
              <a:rPr lang="zh-CN" altLang="en-US" sz="1400" dirty="0" smtClean="0"/>
              <a:t>山东数据不完整，导致</a:t>
            </a:r>
            <a:r>
              <a:rPr lang="en-US" altLang="zh-CN" sz="1400" dirty="0" smtClean="0"/>
              <a:t>10</a:t>
            </a:r>
            <a:r>
              <a:rPr lang="zh-CN" altLang="en-US" sz="1400" dirty="0" smtClean="0"/>
              <a:t>月的</a:t>
            </a:r>
            <a:r>
              <a:rPr lang="en-US" altLang="zh-CN" sz="1400" dirty="0" smtClean="0"/>
              <a:t>M1</a:t>
            </a:r>
            <a:r>
              <a:rPr lang="zh-CN" altLang="en-US" sz="1400" dirty="0" smtClean="0"/>
              <a:t>和</a:t>
            </a:r>
            <a:r>
              <a:rPr lang="en-US" altLang="zh-CN" sz="1400" dirty="0" smtClean="0"/>
              <a:t>M2</a:t>
            </a:r>
            <a:r>
              <a:rPr lang="zh-CN" altLang="en-US" sz="1400" dirty="0" smtClean="0"/>
              <a:t>数据缺失，</a:t>
            </a:r>
            <a:r>
              <a:rPr lang="en-US" altLang="zh-CN" sz="1400" dirty="0" smtClean="0"/>
              <a:t>11</a:t>
            </a:r>
            <a:r>
              <a:rPr lang="zh-CN" altLang="en-US" sz="1400" dirty="0" smtClean="0"/>
              <a:t>月份数据整体偏低</a:t>
            </a:r>
            <a:endParaRPr lang="en-US" altLang="zh-CN" sz="1400" dirty="0"/>
          </a:p>
          <a:p>
            <a:pPr marL="285750" indent="-285750">
              <a:buFont typeface="Arial" panose="020B0604020202020204" pitchFamily="34" charset="0"/>
              <a:buChar char="•"/>
            </a:pPr>
            <a:endParaRPr lang="zh-CN" altLang="en-US" sz="1400" dirty="0"/>
          </a:p>
        </p:txBody>
      </p:sp>
      <p:pic>
        <p:nvPicPr>
          <p:cNvPr id="5" name="图片 4"/>
          <p:cNvPicPr>
            <a:picLocks noChangeAspect="1"/>
          </p:cNvPicPr>
          <p:nvPr/>
        </p:nvPicPr>
        <p:blipFill>
          <a:blip r:embed="rId2"/>
          <a:stretch>
            <a:fillRect/>
          </a:stretch>
        </p:blipFill>
        <p:spPr>
          <a:xfrm>
            <a:off x="213328" y="1415511"/>
            <a:ext cx="7427294" cy="5075824"/>
          </a:xfrm>
          <a:prstGeom prst="rect">
            <a:avLst/>
          </a:prstGeom>
        </p:spPr>
      </p:pic>
    </p:spTree>
    <p:extLst>
      <p:ext uri="{BB962C8B-B14F-4D97-AF65-F5344CB8AC3E}">
        <p14:creationId xmlns:p14="http://schemas.microsoft.com/office/powerpoint/2010/main" val="337323890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8760718" cy="495935"/>
          </a:xfrm>
        </p:spPr>
        <p:txBody>
          <a:bodyPr/>
          <a:lstStyle/>
          <a:p>
            <a:r>
              <a:rPr lang="zh-CN" altLang="en-US" dirty="0" smtClean="0"/>
              <a:t>课题</a:t>
            </a:r>
            <a:r>
              <a:rPr lang="en-US" altLang="zh-CN" dirty="0" smtClean="0"/>
              <a:t>1</a:t>
            </a:r>
            <a:r>
              <a:rPr lang="zh-CN" altLang="en-US" dirty="0" smtClean="0"/>
              <a:t>：做</a:t>
            </a:r>
            <a:r>
              <a:rPr lang="zh-CN" altLang="en-US" dirty="0"/>
              <a:t>准</a:t>
            </a:r>
            <a:r>
              <a:rPr lang="en-US" altLang="zh-CN" dirty="0"/>
              <a:t>N</a:t>
            </a:r>
            <a:r>
              <a:rPr lang="zh-CN" altLang="en-US" dirty="0"/>
              <a:t>和</a:t>
            </a:r>
            <a:r>
              <a:rPr lang="en-US" altLang="zh-CN" dirty="0"/>
              <a:t>T</a:t>
            </a:r>
            <a:r>
              <a:rPr lang="zh-CN" altLang="en-US" dirty="0"/>
              <a:t>的准确性数据统计与分析</a:t>
            </a:r>
            <a:r>
              <a:rPr lang="en-US" altLang="zh-CN" dirty="0"/>
              <a:t>-8</a:t>
            </a:r>
            <a:r>
              <a:rPr lang="zh-CN" altLang="en-US" dirty="0"/>
              <a:t>，</a:t>
            </a:r>
            <a:r>
              <a:rPr lang="en-US" altLang="zh-CN" dirty="0"/>
              <a:t>9</a:t>
            </a:r>
            <a:r>
              <a:rPr lang="zh-CN" altLang="en-US" dirty="0"/>
              <a:t>，</a:t>
            </a:r>
            <a:r>
              <a:rPr lang="en-US" altLang="zh-CN" dirty="0" smtClean="0"/>
              <a:t>10</a:t>
            </a:r>
            <a:r>
              <a:rPr lang="zh-CN" altLang="en-US" dirty="0" smtClean="0"/>
              <a:t>，</a:t>
            </a:r>
            <a:r>
              <a:rPr lang="en-US" altLang="zh-CN" dirty="0" smtClean="0"/>
              <a:t>11</a:t>
            </a:r>
            <a:r>
              <a:rPr lang="zh-CN" altLang="en-US" dirty="0" smtClean="0"/>
              <a:t>月</a:t>
            </a:r>
            <a:endParaRPr lang="zh-CN" altLang="en-US" dirty="0"/>
          </a:p>
        </p:txBody>
      </p:sp>
      <p:sp>
        <p:nvSpPr>
          <p:cNvPr id="6" name="文本框 5"/>
          <p:cNvSpPr txBox="1"/>
          <p:nvPr/>
        </p:nvSpPr>
        <p:spPr>
          <a:xfrm>
            <a:off x="2318793" y="963525"/>
            <a:ext cx="2262158" cy="369332"/>
          </a:xfrm>
          <a:prstGeom prst="rect">
            <a:avLst/>
          </a:prstGeom>
          <a:noFill/>
        </p:spPr>
        <p:txBody>
          <a:bodyPr wrap="none" rtlCol="0">
            <a:spAutoFit/>
          </a:bodyPr>
          <a:lstStyle/>
          <a:p>
            <a:r>
              <a:rPr lang="zh-CN" altLang="en-US" b="1" dirty="0" smtClean="0"/>
              <a:t>下单时间准确率统计</a:t>
            </a:r>
            <a:endParaRPr lang="zh-CN" altLang="en-US" b="1" dirty="0"/>
          </a:p>
        </p:txBody>
      </p:sp>
      <p:sp>
        <p:nvSpPr>
          <p:cNvPr id="9" name="文本框 8"/>
          <p:cNvSpPr txBox="1"/>
          <p:nvPr/>
        </p:nvSpPr>
        <p:spPr>
          <a:xfrm>
            <a:off x="9103627" y="919057"/>
            <a:ext cx="1107996" cy="369332"/>
          </a:xfrm>
          <a:prstGeom prst="rect">
            <a:avLst/>
          </a:prstGeom>
          <a:noFill/>
        </p:spPr>
        <p:txBody>
          <a:bodyPr wrap="none" rtlCol="0">
            <a:spAutoFit/>
          </a:bodyPr>
          <a:lstStyle/>
          <a:p>
            <a:r>
              <a:rPr lang="zh-CN" altLang="en-US" b="1" dirty="0" smtClean="0"/>
              <a:t>数据分析</a:t>
            </a:r>
            <a:endParaRPr lang="zh-CN" altLang="en-US" b="1" dirty="0"/>
          </a:p>
        </p:txBody>
      </p:sp>
      <p:sp>
        <p:nvSpPr>
          <p:cNvPr id="10" name="等腰三角形 9"/>
          <p:cNvSpPr/>
          <p:nvPr/>
        </p:nvSpPr>
        <p:spPr>
          <a:xfrm rot="5400000">
            <a:off x="5971560" y="3764073"/>
            <a:ext cx="2703475" cy="30052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11"/>
          <p:cNvSpPr/>
          <p:nvPr/>
        </p:nvSpPr>
        <p:spPr>
          <a:xfrm>
            <a:off x="7695446" y="1526127"/>
            <a:ext cx="4107778" cy="3570208"/>
          </a:xfrm>
          <a:prstGeom prst="rect">
            <a:avLst/>
          </a:prstGeom>
        </p:spPr>
        <p:txBody>
          <a:bodyPr wrap="square">
            <a:spAutoFit/>
          </a:bodyPr>
          <a:lstStyle/>
          <a:p>
            <a:endParaRPr lang="en-US" altLang="zh-CN" sz="1600" b="1" i="0" dirty="0" smtClean="0">
              <a:solidFill>
                <a:srgbClr val="000000"/>
              </a:solidFill>
              <a:effectLst/>
              <a:latin typeface="Inter"/>
            </a:endParaRPr>
          </a:p>
          <a:p>
            <a:r>
              <a:rPr lang="zh-CN" altLang="en-US" sz="1400" b="1" dirty="0" smtClean="0"/>
              <a:t>北京区域：</a:t>
            </a:r>
            <a:r>
              <a:rPr lang="en-US" altLang="zh-CN" sz="1400" dirty="0" smtClean="0"/>
              <a:t>M0</a:t>
            </a:r>
            <a:r>
              <a:rPr lang="zh-CN" altLang="en-US" sz="1400" dirty="0" smtClean="0"/>
              <a:t>当月预测准确率高，但是</a:t>
            </a:r>
            <a:r>
              <a:rPr lang="en-US" altLang="zh-CN" sz="1400" dirty="0" smtClean="0"/>
              <a:t>M1</a:t>
            </a:r>
            <a:r>
              <a:rPr lang="zh-CN" altLang="en-US" sz="1400" dirty="0" smtClean="0"/>
              <a:t>和</a:t>
            </a:r>
            <a:r>
              <a:rPr lang="en-US" altLang="zh-CN" sz="1400" dirty="0" smtClean="0"/>
              <a:t>M2</a:t>
            </a:r>
            <a:r>
              <a:rPr lang="zh-CN" altLang="en-US" sz="1400" dirty="0" smtClean="0"/>
              <a:t>的数据质量差，准确率很低</a:t>
            </a:r>
            <a:endParaRPr lang="en-US" altLang="zh-CN" sz="1400" dirty="0" smtClean="0"/>
          </a:p>
          <a:p>
            <a:r>
              <a:rPr lang="zh-CN" altLang="en-US" sz="1400" b="1" i="0" dirty="0">
                <a:solidFill>
                  <a:srgbClr val="000000"/>
                </a:solidFill>
                <a:effectLst/>
                <a:latin typeface="微软"/>
              </a:rPr>
              <a:t>川</a:t>
            </a:r>
            <a:r>
              <a:rPr lang="zh-CN" altLang="en-US" sz="1400" b="1" i="0" dirty="0" smtClean="0">
                <a:solidFill>
                  <a:srgbClr val="000000"/>
                </a:solidFill>
                <a:effectLst/>
                <a:latin typeface="微软"/>
              </a:rPr>
              <a:t>藏区域：</a:t>
            </a:r>
            <a:r>
              <a:rPr lang="en-US" altLang="zh-CN" sz="1400" dirty="0" smtClean="0">
                <a:solidFill>
                  <a:srgbClr val="000000"/>
                </a:solidFill>
                <a:latin typeface="+mj-ea"/>
                <a:ea typeface="+mj-ea"/>
              </a:rPr>
              <a:t>M0</a:t>
            </a:r>
            <a:r>
              <a:rPr lang="zh-CN" altLang="en-US" sz="1400" dirty="0" smtClean="0">
                <a:solidFill>
                  <a:srgbClr val="000000"/>
                </a:solidFill>
                <a:latin typeface="微软"/>
              </a:rPr>
              <a:t>数据除了</a:t>
            </a:r>
            <a:r>
              <a:rPr lang="en-US" altLang="zh-CN" sz="1400" dirty="0" smtClean="0">
                <a:solidFill>
                  <a:srgbClr val="000000"/>
                </a:solidFill>
                <a:latin typeface="微软"/>
              </a:rPr>
              <a:t>10</a:t>
            </a:r>
            <a:r>
              <a:rPr lang="zh-CN" altLang="en-US" sz="1400" dirty="0" smtClean="0">
                <a:solidFill>
                  <a:srgbClr val="000000"/>
                </a:solidFill>
                <a:latin typeface="微软"/>
              </a:rPr>
              <a:t>月份数据外，其他月份数据正常，</a:t>
            </a:r>
            <a:r>
              <a:rPr lang="en-US" altLang="zh-CN" sz="1400" dirty="0" smtClean="0">
                <a:solidFill>
                  <a:srgbClr val="000000"/>
                </a:solidFill>
                <a:latin typeface="微软"/>
              </a:rPr>
              <a:t>M1</a:t>
            </a:r>
            <a:r>
              <a:rPr lang="zh-CN" altLang="en-US" sz="1400" dirty="0" smtClean="0">
                <a:solidFill>
                  <a:srgbClr val="000000"/>
                </a:solidFill>
                <a:latin typeface="微软"/>
              </a:rPr>
              <a:t>和</a:t>
            </a:r>
            <a:r>
              <a:rPr lang="en-US" altLang="zh-CN" sz="1400" dirty="0" smtClean="0">
                <a:solidFill>
                  <a:srgbClr val="000000"/>
                </a:solidFill>
                <a:latin typeface="微软"/>
              </a:rPr>
              <a:t>M2</a:t>
            </a:r>
            <a:r>
              <a:rPr lang="zh-CN" altLang="en-US" sz="1400" dirty="0" smtClean="0">
                <a:solidFill>
                  <a:srgbClr val="000000"/>
                </a:solidFill>
                <a:latin typeface="微软"/>
              </a:rPr>
              <a:t>的数据偏低，尤其是</a:t>
            </a:r>
            <a:r>
              <a:rPr lang="en-US" altLang="zh-CN" sz="1400" dirty="0" smtClean="0">
                <a:solidFill>
                  <a:srgbClr val="000000"/>
                </a:solidFill>
                <a:latin typeface="微软"/>
              </a:rPr>
              <a:t>M2</a:t>
            </a:r>
          </a:p>
          <a:p>
            <a:r>
              <a:rPr lang="zh-CN" altLang="en-US" sz="1400" b="1" i="0" dirty="0" smtClean="0">
                <a:solidFill>
                  <a:srgbClr val="000000"/>
                </a:solidFill>
                <a:effectLst/>
                <a:latin typeface="微软"/>
              </a:rPr>
              <a:t>福建区域：</a:t>
            </a:r>
            <a:r>
              <a:rPr lang="en-US" altLang="zh-CN" sz="1400" i="0" dirty="0" smtClean="0">
                <a:solidFill>
                  <a:srgbClr val="000000"/>
                </a:solidFill>
                <a:effectLst/>
                <a:latin typeface="微软"/>
              </a:rPr>
              <a:t>M0</a:t>
            </a:r>
            <a:r>
              <a:rPr lang="zh-CN" altLang="en-US" sz="1400" i="0" dirty="0" smtClean="0">
                <a:solidFill>
                  <a:srgbClr val="000000"/>
                </a:solidFill>
                <a:effectLst/>
                <a:latin typeface="微软"/>
              </a:rPr>
              <a:t>数据准确率高，</a:t>
            </a:r>
            <a:r>
              <a:rPr lang="en-US" altLang="zh-CN" sz="1400" i="0" dirty="0" smtClean="0">
                <a:solidFill>
                  <a:srgbClr val="000000"/>
                </a:solidFill>
                <a:effectLst/>
                <a:latin typeface="微软"/>
              </a:rPr>
              <a:t>M1</a:t>
            </a:r>
            <a:r>
              <a:rPr lang="zh-CN" altLang="en-US" sz="1400" i="0" dirty="0" smtClean="0">
                <a:solidFill>
                  <a:srgbClr val="000000"/>
                </a:solidFill>
                <a:effectLst/>
                <a:latin typeface="微软"/>
              </a:rPr>
              <a:t>和</a:t>
            </a:r>
            <a:r>
              <a:rPr lang="en-US" altLang="zh-CN" sz="1400" i="0" dirty="0" smtClean="0">
                <a:solidFill>
                  <a:srgbClr val="000000"/>
                </a:solidFill>
                <a:effectLst/>
                <a:latin typeface="微软"/>
              </a:rPr>
              <a:t>M2</a:t>
            </a:r>
            <a:r>
              <a:rPr lang="zh-CN" altLang="en-US" sz="1400" i="0" dirty="0" smtClean="0">
                <a:solidFill>
                  <a:srgbClr val="000000"/>
                </a:solidFill>
                <a:effectLst/>
                <a:latin typeface="微软"/>
              </a:rPr>
              <a:t>待改善</a:t>
            </a:r>
            <a:endParaRPr lang="en-US" altLang="zh-CN" sz="1600" dirty="0">
              <a:solidFill>
                <a:srgbClr val="000000"/>
              </a:solidFill>
              <a:latin typeface="微软"/>
            </a:endParaRPr>
          </a:p>
          <a:p>
            <a:r>
              <a:rPr lang="zh-CN" altLang="en-US" sz="1400" b="1" dirty="0" smtClean="0">
                <a:solidFill>
                  <a:srgbClr val="000000"/>
                </a:solidFill>
                <a:latin typeface="微软"/>
              </a:rPr>
              <a:t>广东区域：</a:t>
            </a:r>
            <a:r>
              <a:rPr lang="en-US" altLang="zh-CN" sz="1400" dirty="0" smtClean="0">
                <a:solidFill>
                  <a:srgbClr val="000000"/>
                </a:solidFill>
                <a:latin typeface="微软"/>
              </a:rPr>
              <a:t>M0</a:t>
            </a:r>
            <a:r>
              <a:rPr lang="zh-CN" altLang="en-US" sz="1400" dirty="0" smtClean="0">
                <a:solidFill>
                  <a:srgbClr val="000000"/>
                </a:solidFill>
                <a:latin typeface="微软"/>
              </a:rPr>
              <a:t>数据尚可，</a:t>
            </a:r>
            <a:r>
              <a:rPr lang="en-US" altLang="zh-CN" sz="1400" dirty="0" smtClean="0">
                <a:solidFill>
                  <a:srgbClr val="000000"/>
                </a:solidFill>
                <a:latin typeface="微软"/>
              </a:rPr>
              <a:t>M1</a:t>
            </a:r>
            <a:r>
              <a:rPr lang="zh-CN" altLang="en-US" sz="1400" dirty="0" smtClean="0">
                <a:solidFill>
                  <a:srgbClr val="000000"/>
                </a:solidFill>
                <a:latin typeface="微软"/>
              </a:rPr>
              <a:t>和</a:t>
            </a:r>
            <a:r>
              <a:rPr lang="en-US" altLang="zh-CN" sz="1400" dirty="0" smtClean="0">
                <a:solidFill>
                  <a:srgbClr val="000000"/>
                </a:solidFill>
                <a:latin typeface="微软"/>
              </a:rPr>
              <a:t>M2</a:t>
            </a:r>
            <a:r>
              <a:rPr lang="zh-CN" altLang="en-US" sz="1400" dirty="0" smtClean="0">
                <a:solidFill>
                  <a:srgbClr val="000000"/>
                </a:solidFill>
                <a:latin typeface="微软"/>
              </a:rPr>
              <a:t>的数据待改善</a:t>
            </a:r>
            <a:endParaRPr lang="en-US" altLang="zh-CN" sz="1400" dirty="0" smtClean="0">
              <a:solidFill>
                <a:srgbClr val="000000"/>
              </a:solidFill>
              <a:latin typeface="微软"/>
            </a:endParaRPr>
          </a:p>
          <a:p>
            <a:r>
              <a:rPr lang="zh-CN" altLang="en-US" sz="1400" b="1" i="0" dirty="0" smtClean="0">
                <a:solidFill>
                  <a:srgbClr val="000000"/>
                </a:solidFill>
                <a:effectLst/>
                <a:latin typeface="微软"/>
              </a:rPr>
              <a:t>河南区域：</a:t>
            </a:r>
            <a:r>
              <a:rPr lang="en-US" altLang="zh-CN" sz="1400" i="0" dirty="0" smtClean="0">
                <a:solidFill>
                  <a:srgbClr val="000000"/>
                </a:solidFill>
                <a:effectLst/>
                <a:latin typeface="微软"/>
              </a:rPr>
              <a:t>11</a:t>
            </a:r>
            <a:r>
              <a:rPr lang="zh-CN" altLang="en-US" sz="1400" i="0" dirty="0" smtClean="0">
                <a:solidFill>
                  <a:srgbClr val="000000"/>
                </a:solidFill>
                <a:effectLst/>
                <a:latin typeface="微软"/>
              </a:rPr>
              <a:t>月数据有明显改善，要继续监控后续数据情况</a:t>
            </a:r>
            <a:endParaRPr lang="en-US" altLang="zh-CN" sz="1400" i="0" dirty="0" smtClean="0">
              <a:solidFill>
                <a:srgbClr val="000000"/>
              </a:solidFill>
              <a:effectLst/>
              <a:latin typeface="微软"/>
            </a:endParaRPr>
          </a:p>
          <a:p>
            <a:r>
              <a:rPr lang="zh-CN" altLang="en-US" sz="1400" b="1" dirty="0" smtClean="0">
                <a:solidFill>
                  <a:srgbClr val="000000"/>
                </a:solidFill>
                <a:latin typeface="微软"/>
              </a:rPr>
              <a:t>湖南区域：</a:t>
            </a:r>
            <a:r>
              <a:rPr lang="zh-CN" altLang="en-US" sz="1400" dirty="0" smtClean="0">
                <a:solidFill>
                  <a:srgbClr val="000000"/>
                </a:solidFill>
                <a:latin typeface="微软"/>
              </a:rPr>
              <a:t>数据出现无规则变化，</a:t>
            </a:r>
            <a:r>
              <a:rPr lang="en-US" altLang="zh-CN" sz="1400" dirty="0" smtClean="0">
                <a:solidFill>
                  <a:srgbClr val="000000"/>
                </a:solidFill>
                <a:latin typeface="微软"/>
              </a:rPr>
              <a:t>M0</a:t>
            </a:r>
            <a:r>
              <a:rPr lang="zh-CN" altLang="en-US" sz="1400" dirty="0" smtClean="0">
                <a:solidFill>
                  <a:srgbClr val="000000"/>
                </a:solidFill>
                <a:latin typeface="微软"/>
              </a:rPr>
              <a:t>和</a:t>
            </a:r>
            <a:r>
              <a:rPr lang="en-US" altLang="zh-CN" sz="1400" dirty="0" smtClean="0">
                <a:solidFill>
                  <a:srgbClr val="000000"/>
                </a:solidFill>
                <a:latin typeface="微软"/>
              </a:rPr>
              <a:t>M1</a:t>
            </a:r>
            <a:r>
              <a:rPr lang="zh-CN" altLang="en-US" sz="1400" dirty="0" smtClean="0">
                <a:solidFill>
                  <a:srgbClr val="000000"/>
                </a:solidFill>
                <a:latin typeface="微软"/>
              </a:rPr>
              <a:t>尚可，</a:t>
            </a:r>
            <a:r>
              <a:rPr lang="en-US" altLang="zh-CN" sz="1400" dirty="0" smtClean="0">
                <a:solidFill>
                  <a:srgbClr val="000000"/>
                </a:solidFill>
                <a:latin typeface="微软"/>
              </a:rPr>
              <a:t>M2</a:t>
            </a:r>
            <a:r>
              <a:rPr lang="zh-CN" altLang="en-US" sz="1400" dirty="0" smtClean="0">
                <a:solidFill>
                  <a:srgbClr val="000000"/>
                </a:solidFill>
                <a:latin typeface="微软"/>
              </a:rPr>
              <a:t>的数据有提高</a:t>
            </a:r>
            <a:endParaRPr lang="en-US" altLang="zh-CN" sz="1400" dirty="0" smtClean="0">
              <a:solidFill>
                <a:srgbClr val="000000"/>
              </a:solidFill>
              <a:latin typeface="微软"/>
            </a:endParaRPr>
          </a:p>
          <a:p>
            <a:r>
              <a:rPr lang="zh-CN" altLang="en-US" sz="1400" b="1" i="0" dirty="0" smtClean="0">
                <a:solidFill>
                  <a:schemeClr val="accent4">
                    <a:lumMod val="50000"/>
                  </a:schemeClr>
                </a:solidFill>
                <a:effectLst/>
                <a:latin typeface="微软"/>
              </a:rPr>
              <a:t>江西区域：</a:t>
            </a:r>
            <a:r>
              <a:rPr lang="en-US" altLang="zh-CN" sz="1400" i="0" dirty="0" smtClean="0">
                <a:solidFill>
                  <a:srgbClr val="000000"/>
                </a:solidFill>
                <a:effectLst/>
                <a:latin typeface="微软"/>
              </a:rPr>
              <a:t>M0</a:t>
            </a:r>
            <a:r>
              <a:rPr lang="zh-CN" altLang="en-US" sz="1400" i="0" dirty="0" smtClean="0">
                <a:solidFill>
                  <a:srgbClr val="000000"/>
                </a:solidFill>
                <a:effectLst/>
                <a:latin typeface="微软"/>
              </a:rPr>
              <a:t>准确率非常高，均为</a:t>
            </a:r>
            <a:r>
              <a:rPr lang="en-US" altLang="zh-CN" sz="1400" i="0" dirty="0" smtClean="0">
                <a:solidFill>
                  <a:srgbClr val="000000"/>
                </a:solidFill>
                <a:effectLst/>
                <a:latin typeface="微软"/>
              </a:rPr>
              <a:t>100%</a:t>
            </a:r>
            <a:r>
              <a:rPr lang="zh-CN" altLang="en-US" sz="1400" i="0" dirty="0" smtClean="0">
                <a:solidFill>
                  <a:srgbClr val="000000"/>
                </a:solidFill>
                <a:effectLst/>
                <a:latin typeface="微软"/>
              </a:rPr>
              <a:t>，值得学习和表扬，</a:t>
            </a:r>
            <a:r>
              <a:rPr lang="zh-CN" altLang="en-US" sz="1400" dirty="0">
                <a:solidFill>
                  <a:srgbClr val="000000"/>
                </a:solidFill>
                <a:latin typeface="微软"/>
              </a:rPr>
              <a:t>除了个别月份没有项目参与预测，准确率为</a:t>
            </a:r>
            <a:r>
              <a:rPr lang="en-US" altLang="zh-CN" sz="1400" dirty="0">
                <a:solidFill>
                  <a:srgbClr val="000000"/>
                </a:solidFill>
                <a:latin typeface="微软"/>
              </a:rPr>
              <a:t>0</a:t>
            </a:r>
            <a:r>
              <a:rPr lang="zh-CN" altLang="en-US" sz="1400" dirty="0" smtClean="0">
                <a:solidFill>
                  <a:srgbClr val="000000"/>
                </a:solidFill>
                <a:latin typeface="微软"/>
              </a:rPr>
              <a:t>以外，</a:t>
            </a:r>
            <a:r>
              <a:rPr lang="en-US" altLang="zh-CN" sz="1400" i="0" dirty="0" smtClean="0">
                <a:solidFill>
                  <a:srgbClr val="000000"/>
                </a:solidFill>
                <a:effectLst/>
                <a:latin typeface="微软"/>
              </a:rPr>
              <a:t>M1</a:t>
            </a:r>
            <a:r>
              <a:rPr lang="zh-CN" altLang="en-US" sz="1400" i="0" dirty="0" smtClean="0">
                <a:solidFill>
                  <a:srgbClr val="000000"/>
                </a:solidFill>
                <a:effectLst/>
                <a:latin typeface="微软"/>
              </a:rPr>
              <a:t>，</a:t>
            </a:r>
            <a:r>
              <a:rPr lang="en-US" altLang="zh-CN" sz="1400" i="0" dirty="0" smtClean="0">
                <a:solidFill>
                  <a:srgbClr val="000000"/>
                </a:solidFill>
                <a:effectLst/>
                <a:latin typeface="微软"/>
              </a:rPr>
              <a:t>M2</a:t>
            </a:r>
            <a:r>
              <a:rPr lang="zh-CN" altLang="en-US" sz="1400" i="0" dirty="0" smtClean="0">
                <a:solidFill>
                  <a:srgbClr val="000000"/>
                </a:solidFill>
                <a:effectLst/>
                <a:latin typeface="微软"/>
              </a:rPr>
              <a:t>的数据整体志昂也很高，</a:t>
            </a:r>
            <a:endParaRPr lang="en-US" altLang="zh-CN" sz="1400" i="0" dirty="0" smtClean="0">
              <a:solidFill>
                <a:srgbClr val="000000"/>
              </a:solidFill>
              <a:effectLst/>
              <a:latin typeface="微软"/>
            </a:endParaRPr>
          </a:p>
          <a:p>
            <a:r>
              <a:rPr lang="zh-CN" altLang="en-US" sz="1400" b="1" dirty="0" smtClean="0">
                <a:solidFill>
                  <a:srgbClr val="000000"/>
                </a:solidFill>
                <a:latin typeface="微软"/>
              </a:rPr>
              <a:t>山东区域：</a:t>
            </a:r>
            <a:r>
              <a:rPr lang="en-US" altLang="zh-CN" sz="1400" dirty="0" smtClean="0">
                <a:solidFill>
                  <a:srgbClr val="000000"/>
                </a:solidFill>
                <a:latin typeface="微软"/>
              </a:rPr>
              <a:t>M0</a:t>
            </a:r>
            <a:r>
              <a:rPr lang="zh-CN" altLang="en-US" sz="1400" dirty="0" smtClean="0">
                <a:solidFill>
                  <a:srgbClr val="000000"/>
                </a:solidFill>
                <a:latin typeface="微软"/>
              </a:rPr>
              <a:t>准确率高且达标，</a:t>
            </a:r>
            <a:r>
              <a:rPr lang="en-US" altLang="zh-CN" sz="1400" dirty="0" smtClean="0">
                <a:solidFill>
                  <a:srgbClr val="000000"/>
                </a:solidFill>
                <a:latin typeface="微软"/>
              </a:rPr>
              <a:t>M1</a:t>
            </a:r>
            <a:r>
              <a:rPr lang="zh-CN" altLang="en-US" sz="1400" dirty="0" smtClean="0">
                <a:solidFill>
                  <a:srgbClr val="000000"/>
                </a:solidFill>
                <a:latin typeface="微软"/>
              </a:rPr>
              <a:t>和</a:t>
            </a:r>
            <a:r>
              <a:rPr lang="en-US" altLang="zh-CN" sz="1400" dirty="0" smtClean="0">
                <a:solidFill>
                  <a:srgbClr val="000000"/>
                </a:solidFill>
                <a:latin typeface="微软"/>
              </a:rPr>
              <a:t>M2</a:t>
            </a:r>
            <a:r>
              <a:rPr lang="zh-CN" altLang="en-US" sz="1400" dirty="0" smtClean="0">
                <a:solidFill>
                  <a:srgbClr val="000000"/>
                </a:solidFill>
                <a:latin typeface="微软"/>
              </a:rPr>
              <a:t>需要关注并复盘总结数据异常原因</a:t>
            </a:r>
            <a:endParaRPr lang="en-US" altLang="zh-CN" sz="1200" i="0" dirty="0" smtClean="0">
              <a:solidFill>
                <a:srgbClr val="000000"/>
              </a:solidFill>
              <a:effectLst/>
              <a:latin typeface="微软"/>
            </a:endParaRPr>
          </a:p>
        </p:txBody>
      </p:sp>
      <p:pic>
        <p:nvPicPr>
          <p:cNvPr id="13" name="图片 12"/>
          <p:cNvPicPr>
            <a:picLocks noChangeAspect="1"/>
          </p:cNvPicPr>
          <p:nvPr/>
        </p:nvPicPr>
        <p:blipFill>
          <a:blip r:embed="rId2"/>
          <a:stretch>
            <a:fillRect/>
          </a:stretch>
        </p:blipFill>
        <p:spPr>
          <a:xfrm>
            <a:off x="389761" y="1437192"/>
            <a:ext cx="6561389" cy="5189670"/>
          </a:xfrm>
          <a:prstGeom prst="rect">
            <a:avLst/>
          </a:prstGeom>
        </p:spPr>
      </p:pic>
    </p:spTree>
    <p:extLst>
      <p:ext uri="{BB962C8B-B14F-4D97-AF65-F5344CB8AC3E}">
        <p14:creationId xmlns:p14="http://schemas.microsoft.com/office/powerpoint/2010/main" val="36896407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8760718" cy="495935"/>
          </a:xfrm>
        </p:spPr>
        <p:txBody>
          <a:bodyPr/>
          <a:lstStyle/>
          <a:p>
            <a:r>
              <a:rPr lang="zh-CN" altLang="en-US" dirty="0" smtClean="0"/>
              <a:t>课题</a:t>
            </a:r>
            <a:r>
              <a:rPr lang="en-US" altLang="zh-CN" dirty="0" smtClean="0"/>
              <a:t>1</a:t>
            </a:r>
            <a:r>
              <a:rPr lang="zh-CN" altLang="en-US" dirty="0" smtClean="0"/>
              <a:t>：做</a:t>
            </a:r>
            <a:r>
              <a:rPr lang="zh-CN" altLang="en-US" dirty="0"/>
              <a:t>准</a:t>
            </a:r>
            <a:r>
              <a:rPr lang="en-US" altLang="zh-CN" dirty="0"/>
              <a:t>N</a:t>
            </a:r>
            <a:r>
              <a:rPr lang="zh-CN" altLang="en-US" dirty="0"/>
              <a:t>和</a:t>
            </a:r>
            <a:r>
              <a:rPr lang="en-US" altLang="zh-CN" dirty="0"/>
              <a:t>T</a:t>
            </a:r>
            <a:r>
              <a:rPr lang="zh-CN" altLang="en-US" dirty="0"/>
              <a:t>的准确性数据统计与分析</a:t>
            </a:r>
            <a:r>
              <a:rPr lang="en-US" altLang="zh-CN" dirty="0"/>
              <a:t>-8</a:t>
            </a:r>
            <a:r>
              <a:rPr lang="zh-CN" altLang="en-US" dirty="0"/>
              <a:t>，</a:t>
            </a:r>
            <a:r>
              <a:rPr lang="en-US" altLang="zh-CN" dirty="0"/>
              <a:t>9</a:t>
            </a:r>
            <a:r>
              <a:rPr lang="zh-CN" altLang="en-US" dirty="0"/>
              <a:t>，</a:t>
            </a:r>
            <a:r>
              <a:rPr lang="en-US" altLang="zh-CN" dirty="0" smtClean="0"/>
              <a:t>10</a:t>
            </a:r>
            <a:r>
              <a:rPr lang="zh-CN" altLang="en-US" dirty="0" smtClean="0"/>
              <a:t>，</a:t>
            </a:r>
            <a:r>
              <a:rPr lang="en-US" altLang="zh-CN" dirty="0" smtClean="0"/>
              <a:t>11</a:t>
            </a:r>
            <a:r>
              <a:rPr lang="zh-CN" altLang="en-US" dirty="0" smtClean="0"/>
              <a:t>月</a:t>
            </a:r>
            <a:endParaRPr lang="zh-CN" altLang="en-US" dirty="0"/>
          </a:p>
        </p:txBody>
      </p:sp>
      <p:sp>
        <p:nvSpPr>
          <p:cNvPr id="6" name="文本框 5"/>
          <p:cNvSpPr txBox="1"/>
          <p:nvPr/>
        </p:nvSpPr>
        <p:spPr>
          <a:xfrm>
            <a:off x="2544895" y="967383"/>
            <a:ext cx="2262158" cy="369332"/>
          </a:xfrm>
          <a:prstGeom prst="rect">
            <a:avLst/>
          </a:prstGeom>
          <a:noFill/>
        </p:spPr>
        <p:txBody>
          <a:bodyPr wrap="none" rtlCol="0">
            <a:spAutoFit/>
          </a:bodyPr>
          <a:lstStyle/>
          <a:p>
            <a:r>
              <a:rPr lang="zh-CN" altLang="en-US" b="1" dirty="0" smtClean="0"/>
              <a:t>要货时间准确率统计</a:t>
            </a:r>
            <a:endParaRPr lang="zh-CN" altLang="en-US" b="1" dirty="0"/>
          </a:p>
        </p:txBody>
      </p:sp>
      <p:sp>
        <p:nvSpPr>
          <p:cNvPr id="9" name="文本框 8"/>
          <p:cNvSpPr txBox="1"/>
          <p:nvPr/>
        </p:nvSpPr>
        <p:spPr>
          <a:xfrm>
            <a:off x="9013092" y="963525"/>
            <a:ext cx="1107996" cy="369332"/>
          </a:xfrm>
          <a:prstGeom prst="rect">
            <a:avLst/>
          </a:prstGeom>
          <a:noFill/>
        </p:spPr>
        <p:txBody>
          <a:bodyPr wrap="none" rtlCol="0">
            <a:spAutoFit/>
          </a:bodyPr>
          <a:lstStyle/>
          <a:p>
            <a:r>
              <a:rPr lang="zh-CN" altLang="en-US" b="1" dirty="0" smtClean="0"/>
              <a:t>数据分析</a:t>
            </a:r>
            <a:endParaRPr lang="zh-CN" altLang="en-US" b="1" dirty="0"/>
          </a:p>
        </p:txBody>
      </p:sp>
      <p:sp>
        <p:nvSpPr>
          <p:cNvPr id="10" name="等腰三角形 9"/>
          <p:cNvSpPr/>
          <p:nvPr/>
        </p:nvSpPr>
        <p:spPr>
          <a:xfrm rot="5400000">
            <a:off x="6168043" y="3742848"/>
            <a:ext cx="2703475" cy="30052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11"/>
          <p:cNvSpPr/>
          <p:nvPr/>
        </p:nvSpPr>
        <p:spPr>
          <a:xfrm>
            <a:off x="7867621" y="2132709"/>
            <a:ext cx="3302759" cy="2677656"/>
          </a:xfrm>
          <a:prstGeom prst="rect">
            <a:avLst/>
          </a:prstGeom>
        </p:spPr>
        <p:txBody>
          <a:bodyPr wrap="square">
            <a:spAutoFit/>
          </a:bodyPr>
          <a:lstStyle/>
          <a:p>
            <a:r>
              <a:rPr lang="en-US" altLang="zh-CN" sz="1400" dirty="0" smtClean="0">
                <a:solidFill>
                  <a:srgbClr val="000000"/>
                </a:solidFill>
                <a:latin typeface="Inter"/>
              </a:rPr>
              <a:t>8</a:t>
            </a:r>
            <a:r>
              <a:rPr lang="zh-CN" altLang="en-US" sz="1400" dirty="0" smtClean="0">
                <a:solidFill>
                  <a:srgbClr val="000000"/>
                </a:solidFill>
                <a:latin typeface="Inter"/>
              </a:rPr>
              <a:t>个区域整体准确率偏低，</a:t>
            </a:r>
            <a:r>
              <a:rPr lang="en-US" altLang="zh-CN" sz="1400" dirty="0" smtClean="0">
                <a:solidFill>
                  <a:srgbClr val="000000"/>
                </a:solidFill>
                <a:latin typeface="Inter"/>
              </a:rPr>
              <a:t>M0:</a:t>
            </a:r>
            <a:r>
              <a:rPr lang="zh-CN" altLang="en-US" sz="1400" dirty="0" smtClean="0">
                <a:solidFill>
                  <a:srgbClr val="000000"/>
                </a:solidFill>
                <a:latin typeface="Inter"/>
              </a:rPr>
              <a:t>部分区域能看到</a:t>
            </a:r>
            <a:r>
              <a:rPr lang="en-US" altLang="zh-CN" sz="1400" dirty="0" smtClean="0">
                <a:solidFill>
                  <a:srgbClr val="000000"/>
                </a:solidFill>
                <a:latin typeface="Inter"/>
              </a:rPr>
              <a:t>11</a:t>
            </a:r>
            <a:r>
              <a:rPr lang="zh-CN" altLang="en-US" sz="1400" dirty="0" smtClean="0">
                <a:solidFill>
                  <a:srgbClr val="000000"/>
                </a:solidFill>
                <a:latin typeface="Inter"/>
              </a:rPr>
              <a:t>月数据的改善，如：江西，福建</a:t>
            </a:r>
            <a:r>
              <a:rPr lang="en-US" altLang="zh-CN" sz="1400" dirty="0" smtClean="0">
                <a:solidFill>
                  <a:srgbClr val="000000"/>
                </a:solidFill>
                <a:latin typeface="Inter"/>
              </a:rPr>
              <a:t>,</a:t>
            </a:r>
            <a:r>
              <a:rPr lang="zh-CN" altLang="en-US" sz="1400" dirty="0" smtClean="0">
                <a:solidFill>
                  <a:srgbClr val="000000"/>
                </a:solidFill>
                <a:latin typeface="Inter"/>
              </a:rPr>
              <a:t>尤其是江西区域，</a:t>
            </a:r>
            <a:r>
              <a:rPr lang="en-US" altLang="zh-CN" sz="1400" dirty="0" smtClean="0">
                <a:solidFill>
                  <a:srgbClr val="000000"/>
                </a:solidFill>
                <a:latin typeface="Inter"/>
              </a:rPr>
              <a:t>11</a:t>
            </a:r>
            <a:r>
              <a:rPr lang="zh-CN" altLang="en-US" sz="1400" dirty="0" smtClean="0">
                <a:solidFill>
                  <a:srgbClr val="000000"/>
                </a:solidFill>
                <a:latin typeface="Inter"/>
              </a:rPr>
              <a:t>月的</a:t>
            </a:r>
            <a:r>
              <a:rPr lang="en-US" altLang="zh-CN" sz="1400" dirty="0" smtClean="0">
                <a:solidFill>
                  <a:srgbClr val="000000"/>
                </a:solidFill>
                <a:latin typeface="Inter"/>
              </a:rPr>
              <a:t>M0,M1</a:t>
            </a:r>
            <a:r>
              <a:rPr lang="zh-CN" altLang="en-US" sz="1400" dirty="0" smtClean="0">
                <a:solidFill>
                  <a:srgbClr val="000000"/>
                </a:solidFill>
                <a:latin typeface="Inter"/>
              </a:rPr>
              <a:t>和</a:t>
            </a:r>
            <a:r>
              <a:rPr lang="en-US" altLang="zh-CN" sz="1400" dirty="0" smtClean="0">
                <a:solidFill>
                  <a:srgbClr val="000000"/>
                </a:solidFill>
                <a:latin typeface="Inter"/>
              </a:rPr>
              <a:t>M2</a:t>
            </a:r>
            <a:r>
              <a:rPr lang="zh-CN" altLang="en-US" sz="1400" dirty="0" smtClean="0">
                <a:solidFill>
                  <a:srgbClr val="000000"/>
                </a:solidFill>
                <a:latin typeface="Inter"/>
              </a:rPr>
              <a:t>准确率均为</a:t>
            </a:r>
            <a:r>
              <a:rPr lang="en-US" altLang="zh-CN" sz="1400" dirty="0" smtClean="0">
                <a:solidFill>
                  <a:srgbClr val="000000"/>
                </a:solidFill>
                <a:latin typeface="Inter"/>
              </a:rPr>
              <a:t>100%</a:t>
            </a:r>
            <a:r>
              <a:rPr lang="zh-CN" altLang="en-US" sz="1400" dirty="0" smtClean="0">
                <a:solidFill>
                  <a:srgbClr val="000000"/>
                </a:solidFill>
                <a:latin typeface="Inter"/>
              </a:rPr>
              <a:t>，表现非常优秀，江西区域要进行经验分享，如何能做到所有数据的准确率达</a:t>
            </a:r>
            <a:r>
              <a:rPr lang="en-US" altLang="zh-CN" sz="1400" dirty="0" smtClean="0">
                <a:solidFill>
                  <a:srgbClr val="000000"/>
                </a:solidFill>
                <a:latin typeface="Inter"/>
              </a:rPr>
              <a:t>100%</a:t>
            </a:r>
            <a:r>
              <a:rPr lang="zh-CN" altLang="en-US" sz="1400" dirty="0" smtClean="0">
                <a:solidFill>
                  <a:srgbClr val="000000"/>
                </a:solidFill>
                <a:latin typeface="Inter"/>
              </a:rPr>
              <a:t>；</a:t>
            </a:r>
            <a:endParaRPr lang="en-US" altLang="zh-CN" sz="1400" dirty="0" smtClean="0">
              <a:solidFill>
                <a:srgbClr val="000000"/>
              </a:solidFill>
              <a:latin typeface="Inter"/>
            </a:endParaRPr>
          </a:p>
          <a:p>
            <a:endParaRPr lang="en-US" altLang="zh-CN" sz="1400" i="0" dirty="0">
              <a:solidFill>
                <a:srgbClr val="000000"/>
              </a:solidFill>
              <a:effectLst/>
              <a:latin typeface="Inter"/>
            </a:endParaRPr>
          </a:p>
          <a:p>
            <a:r>
              <a:rPr lang="zh-CN" altLang="en-US" sz="1400" dirty="0" smtClean="0">
                <a:solidFill>
                  <a:srgbClr val="000000"/>
                </a:solidFill>
                <a:latin typeface="Inter"/>
              </a:rPr>
              <a:t>建议把要货时间准确率也管理起来， 尤其是销售及时刷新要货时间保持准确性的同时还需要及时与渠道沟通下单时间和要货时间，确保与预测流程中提供给供应链的信息保持一致。</a:t>
            </a:r>
            <a:endParaRPr lang="en-US" altLang="zh-CN" sz="1400" i="0" dirty="0" smtClean="0">
              <a:solidFill>
                <a:srgbClr val="000000"/>
              </a:solidFill>
              <a:effectLst/>
              <a:latin typeface="Inter"/>
            </a:endParaRPr>
          </a:p>
        </p:txBody>
      </p:sp>
      <p:pic>
        <p:nvPicPr>
          <p:cNvPr id="3" name="图片 2"/>
          <p:cNvPicPr>
            <a:picLocks noChangeAspect="1"/>
          </p:cNvPicPr>
          <p:nvPr/>
        </p:nvPicPr>
        <p:blipFill>
          <a:blip r:embed="rId2"/>
          <a:stretch>
            <a:fillRect/>
          </a:stretch>
        </p:blipFill>
        <p:spPr>
          <a:xfrm>
            <a:off x="228960" y="1526127"/>
            <a:ext cx="7140559" cy="5075360"/>
          </a:xfrm>
          <a:prstGeom prst="rect">
            <a:avLst/>
          </a:prstGeom>
        </p:spPr>
      </p:pic>
    </p:spTree>
    <p:extLst>
      <p:ext uri="{BB962C8B-B14F-4D97-AF65-F5344CB8AC3E}">
        <p14:creationId xmlns:p14="http://schemas.microsoft.com/office/powerpoint/2010/main" val="89745223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810104" cy="495935"/>
          </a:xfrm>
        </p:spPr>
        <p:txBody>
          <a:bodyPr/>
          <a:lstStyle/>
          <a:p>
            <a:r>
              <a:rPr lang="zh-CN" altLang="en-US" dirty="0" smtClean="0"/>
              <a:t>课题</a:t>
            </a:r>
            <a:r>
              <a:rPr lang="en-US" altLang="zh-CN" dirty="0" smtClean="0"/>
              <a:t>1</a:t>
            </a:r>
            <a:r>
              <a:rPr lang="zh-CN" altLang="en-US" dirty="0" smtClean="0"/>
              <a:t>：针对数据基于流程再分析</a:t>
            </a:r>
            <a:endParaRPr lang="zh-CN" altLang="en-US" dirty="0"/>
          </a:p>
        </p:txBody>
      </p:sp>
      <p:pic>
        <p:nvPicPr>
          <p:cNvPr id="3" name="图片 2"/>
          <p:cNvPicPr>
            <a:picLocks noChangeAspect="1"/>
          </p:cNvPicPr>
          <p:nvPr/>
        </p:nvPicPr>
        <p:blipFill>
          <a:blip r:embed="rId2"/>
          <a:stretch>
            <a:fillRect/>
          </a:stretch>
        </p:blipFill>
        <p:spPr>
          <a:xfrm>
            <a:off x="175052" y="887238"/>
            <a:ext cx="8744099" cy="5490329"/>
          </a:xfrm>
          <a:prstGeom prst="rect">
            <a:avLst/>
          </a:prstGeom>
        </p:spPr>
      </p:pic>
      <p:sp>
        <p:nvSpPr>
          <p:cNvPr id="9" name="文本框 8"/>
          <p:cNvSpPr txBox="1"/>
          <p:nvPr/>
        </p:nvSpPr>
        <p:spPr>
          <a:xfrm>
            <a:off x="9087104" y="1180119"/>
            <a:ext cx="2736721" cy="3323987"/>
          </a:xfrm>
          <a:prstGeom prst="rect">
            <a:avLst/>
          </a:prstGeom>
          <a:noFill/>
          <a:ln>
            <a:solidFill>
              <a:schemeClr val="accent1"/>
            </a:solidFill>
          </a:ln>
        </p:spPr>
        <p:txBody>
          <a:bodyPr wrap="square" rtlCol="0">
            <a:spAutoFit/>
          </a:bodyPr>
          <a:lstStyle/>
          <a:p>
            <a:r>
              <a:rPr lang="zh-CN" altLang="en-US" sz="1400" b="1" dirty="0" smtClean="0"/>
              <a:t>识别的解决办法：</a:t>
            </a:r>
            <a:endParaRPr lang="en-US" altLang="zh-CN" sz="1400" b="1" dirty="0" smtClean="0"/>
          </a:p>
          <a:p>
            <a:endParaRPr lang="en-US" altLang="zh-CN" sz="1400" dirty="0"/>
          </a:p>
          <a:p>
            <a:r>
              <a:rPr lang="zh-CN" altLang="en-US" sz="1400" b="1" dirty="0" smtClean="0"/>
              <a:t>短期：</a:t>
            </a:r>
            <a:endParaRPr lang="en-US" altLang="zh-CN" sz="1400" b="1" dirty="0" smtClean="0"/>
          </a:p>
          <a:p>
            <a:r>
              <a:rPr lang="en-US" altLang="zh-CN" sz="1400" dirty="0" smtClean="0"/>
              <a:t>1</a:t>
            </a:r>
            <a:r>
              <a:rPr lang="zh-CN" altLang="en-US" sz="1400" dirty="0" smtClean="0"/>
              <a:t>）通过销售预测流程，把下单和要货都管理起来。</a:t>
            </a:r>
            <a:endParaRPr lang="en-US" altLang="zh-CN" sz="1400" dirty="0" smtClean="0"/>
          </a:p>
          <a:p>
            <a:r>
              <a:rPr lang="en-US" altLang="zh-CN" sz="1400" dirty="0" smtClean="0"/>
              <a:t>2</a:t>
            </a:r>
            <a:r>
              <a:rPr lang="zh-CN" altLang="en-US" sz="1400" dirty="0" smtClean="0"/>
              <a:t>）销售线下与渠道沟通好下单要货时间，确保一致性</a:t>
            </a:r>
            <a:endParaRPr lang="en-US" altLang="zh-CN" sz="1400" dirty="0" smtClean="0"/>
          </a:p>
          <a:p>
            <a:r>
              <a:rPr lang="en-US" altLang="zh-CN" sz="1400" dirty="0"/>
              <a:t>3</a:t>
            </a:r>
            <a:r>
              <a:rPr lang="zh-CN" altLang="en-US" sz="1400" dirty="0" smtClean="0"/>
              <a:t>）建立</a:t>
            </a:r>
            <a:r>
              <a:rPr lang="zh-CN" altLang="en-US" sz="1400" dirty="0"/>
              <a:t>月度销售，销管和供应链的复盘总结机制，对数据进行分析，持续优化</a:t>
            </a:r>
            <a:endParaRPr lang="en-US" altLang="zh-CN" sz="1400" dirty="0"/>
          </a:p>
          <a:p>
            <a:endParaRPr lang="en-US" altLang="zh-CN" sz="1400" dirty="0" smtClean="0"/>
          </a:p>
          <a:p>
            <a:r>
              <a:rPr lang="zh-CN" altLang="en-US" sz="1400" b="1" dirty="0" smtClean="0"/>
              <a:t>中长期：</a:t>
            </a:r>
            <a:endParaRPr lang="en-US" altLang="zh-CN" sz="1400" b="1" dirty="0" smtClean="0"/>
          </a:p>
          <a:p>
            <a:r>
              <a:rPr lang="zh-CN" altLang="en-US" sz="1400" dirty="0" smtClean="0"/>
              <a:t>针对整个下单要货时间准确率控制的</a:t>
            </a:r>
            <a:r>
              <a:rPr lang="en-US" altLang="zh-CN" sz="1400" dirty="0" smtClean="0"/>
              <a:t>IT</a:t>
            </a:r>
            <a:r>
              <a:rPr lang="zh-CN" altLang="en-US" sz="1400" dirty="0" smtClean="0"/>
              <a:t>方案</a:t>
            </a:r>
            <a:r>
              <a:rPr lang="en-US" altLang="zh-CN" sz="1400" dirty="0" smtClean="0"/>
              <a:t>-</a:t>
            </a:r>
            <a:r>
              <a:rPr lang="zh-CN" altLang="en-US" sz="1400" dirty="0" smtClean="0"/>
              <a:t>渠道下单时要货时间与销售输入的要货时间保持一致</a:t>
            </a:r>
            <a:endParaRPr lang="en-US" altLang="zh-CN" sz="1400" dirty="0" smtClean="0"/>
          </a:p>
        </p:txBody>
      </p:sp>
    </p:spTree>
    <p:extLst>
      <p:ext uri="{BB962C8B-B14F-4D97-AF65-F5344CB8AC3E}">
        <p14:creationId xmlns:p14="http://schemas.microsoft.com/office/powerpoint/2010/main" val="361345566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smtClean="0"/>
              <a:t>执行</a:t>
            </a:r>
            <a:r>
              <a:rPr lang="zh-CN" altLang="en-US" dirty="0" smtClean="0"/>
              <a:t>计划</a:t>
            </a:r>
            <a:endParaRPr lang="zh-CN" altLang="en-US" dirty="0"/>
          </a:p>
        </p:txBody>
      </p:sp>
      <p:sp>
        <p:nvSpPr>
          <p:cNvPr id="3" name="五边形 2"/>
          <p:cNvSpPr/>
          <p:nvPr/>
        </p:nvSpPr>
        <p:spPr>
          <a:xfrm>
            <a:off x="1163740" y="986829"/>
            <a:ext cx="2417274" cy="742384"/>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共识阶段目标</a:t>
            </a:r>
            <a:endParaRPr lang="en-US" altLang="zh-CN" dirty="0" smtClean="0"/>
          </a:p>
          <a:p>
            <a:pPr algn="ctr"/>
            <a:r>
              <a:rPr lang="zh-CN" altLang="en-US" dirty="0" smtClean="0"/>
              <a:t>（截止</a:t>
            </a:r>
            <a:r>
              <a:rPr lang="en-US" altLang="zh-CN" dirty="0" smtClean="0"/>
              <a:t>26</a:t>
            </a:r>
            <a:r>
              <a:rPr lang="zh-CN" altLang="en-US" dirty="0" smtClean="0"/>
              <a:t>年</a:t>
            </a:r>
            <a:r>
              <a:rPr lang="en-US" altLang="zh-CN" dirty="0" smtClean="0"/>
              <a:t>Q2</a:t>
            </a:r>
            <a:r>
              <a:rPr lang="zh-CN" altLang="en-US" dirty="0" smtClean="0"/>
              <a:t>）</a:t>
            </a:r>
            <a:endParaRPr lang="zh-CN" altLang="en-US" dirty="0"/>
          </a:p>
        </p:txBody>
      </p:sp>
      <p:sp>
        <p:nvSpPr>
          <p:cNvPr id="4" name="燕尾形 3"/>
          <p:cNvSpPr/>
          <p:nvPr/>
        </p:nvSpPr>
        <p:spPr>
          <a:xfrm>
            <a:off x="3309410" y="964195"/>
            <a:ext cx="2779413" cy="765018"/>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确定方案</a:t>
            </a:r>
          </a:p>
        </p:txBody>
      </p:sp>
      <p:sp>
        <p:nvSpPr>
          <p:cNvPr id="6" name="燕尾形 5"/>
          <p:cNvSpPr/>
          <p:nvPr/>
        </p:nvSpPr>
        <p:spPr>
          <a:xfrm>
            <a:off x="5835326" y="964195"/>
            <a:ext cx="2779413" cy="765018"/>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试点验证</a:t>
            </a:r>
            <a:endParaRPr lang="zh-CN" altLang="en-US" dirty="0"/>
          </a:p>
        </p:txBody>
      </p:sp>
      <p:sp>
        <p:nvSpPr>
          <p:cNvPr id="7" name="燕尾形 6"/>
          <p:cNvSpPr/>
          <p:nvPr/>
        </p:nvSpPr>
        <p:spPr>
          <a:xfrm>
            <a:off x="8343135" y="964195"/>
            <a:ext cx="2797520" cy="765018"/>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全面推广</a:t>
            </a:r>
            <a:endParaRPr lang="en-US" altLang="zh-CN" dirty="0" smtClean="0"/>
          </a:p>
          <a:p>
            <a:pPr algn="ctr"/>
            <a:r>
              <a:rPr lang="zh-CN" altLang="en-US" dirty="0" smtClean="0"/>
              <a:t>（持续监控与优化）</a:t>
            </a:r>
            <a:endParaRPr lang="zh-CN" altLang="en-US" dirty="0"/>
          </a:p>
        </p:txBody>
      </p:sp>
      <p:sp>
        <p:nvSpPr>
          <p:cNvPr id="5" name="矩形 4"/>
          <p:cNvSpPr/>
          <p:nvPr/>
        </p:nvSpPr>
        <p:spPr>
          <a:xfrm>
            <a:off x="1163740" y="1751847"/>
            <a:ext cx="2145670" cy="445430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zh-CN" altLang="en-US" sz="1300" b="1" dirty="0" smtClean="0">
                <a:solidFill>
                  <a:schemeClr val="tx1"/>
                </a:solidFill>
              </a:rPr>
              <a:t>试点区域：</a:t>
            </a:r>
            <a:endParaRPr lang="en-US" altLang="zh-CN" sz="1300" b="1" dirty="0" smtClean="0">
              <a:solidFill>
                <a:schemeClr val="tx1"/>
              </a:solidFill>
            </a:endParaRPr>
          </a:p>
          <a:p>
            <a:r>
              <a:rPr lang="zh-CN" altLang="en-US" sz="1300" dirty="0" smtClean="0">
                <a:solidFill>
                  <a:schemeClr val="tx1"/>
                </a:solidFill>
              </a:rPr>
              <a:t>湖南，广东，福建，山东，</a:t>
            </a:r>
            <a:endParaRPr lang="en-US" altLang="zh-CN" sz="1300" dirty="0" smtClean="0">
              <a:solidFill>
                <a:schemeClr val="tx1"/>
              </a:solidFill>
            </a:endParaRPr>
          </a:p>
          <a:p>
            <a:r>
              <a:rPr lang="zh-CN" altLang="en-US" sz="1300" dirty="0">
                <a:solidFill>
                  <a:schemeClr val="tx1"/>
                </a:solidFill>
              </a:rPr>
              <a:t>川</a:t>
            </a:r>
            <a:r>
              <a:rPr lang="zh-CN" altLang="en-US" sz="1300" dirty="0" smtClean="0">
                <a:solidFill>
                  <a:schemeClr val="tx1"/>
                </a:solidFill>
              </a:rPr>
              <a:t>藏，河南，北京，江西</a:t>
            </a:r>
            <a:endParaRPr lang="en-US" altLang="zh-CN" sz="1300" dirty="0" smtClean="0">
              <a:solidFill>
                <a:schemeClr val="tx1"/>
              </a:solidFill>
            </a:endParaRPr>
          </a:p>
          <a:p>
            <a:endParaRPr lang="en-US" altLang="zh-CN" sz="1300" dirty="0" smtClean="0">
              <a:solidFill>
                <a:schemeClr val="tx1"/>
              </a:solidFill>
            </a:endParaRPr>
          </a:p>
          <a:p>
            <a:r>
              <a:rPr lang="en-US" altLang="zh-CN" sz="1300" b="1" dirty="0" smtClean="0">
                <a:solidFill>
                  <a:schemeClr val="tx1"/>
                </a:solidFill>
              </a:rPr>
              <a:t>1</a:t>
            </a:r>
            <a:r>
              <a:rPr lang="zh-CN" altLang="en-US" sz="1300" b="1" dirty="0" smtClean="0">
                <a:solidFill>
                  <a:schemeClr val="tx1"/>
                </a:solidFill>
              </a:rPr>
              <a:t>、</a:t>
            </a:r>
            <a:r>
              <a:rPr lang="en-US" altLang="zh-CN" sz="1300" b="1" dirty="0" smtClean="0">
                <a:solidFill>
                  <a:schemeClr val="tx1"/>
                </a:solidFill>
              </a:rPr>
              <a:t>N-</a:t>
            </a:r>
            <a:r>
              <a:rPr lang="zh-CN" altLang="en-US" sz="1300" b="1" dirty="0" smtClean="0">
                <a:solidFill>
                  <a:schemeClr val="tx1"/>
                </a:solidFill>
              </a:rPr>
              <a:t>下单项目清单准确性：</a:t>
            </a:r>
            <a:endParaRPr lang="en-US" altLang="zh-CN" sz="1300" b="1" dirty="0" smtClean="0">
              <a:solidFill>
                <a:schemeClr val="tx1"/>
              </a:solidFill>
            </a:endParaRPr>
          </a:p>
          <a:p>
            <a:r>
              <a:rPr lang="en-US" altLang="zh-CN" sz="1300" dirty="0" smtClean="0">
                <a:solidFill>
                  <a:schemeClr val="tx1"/>
                </a:solidFill>
              </a:rPr>
              <a:t>M-0</a:t>
            </a:r>
            <a:r>
              <a:rPr lang="zh-CN" altLang="en-US" sz="1300" dirty="0" smtClean="0">
                <a:solidFill>
                  <a:schemeClr val="tx1"/>
                </a:solidFill>
              </a:rPr>
              <a:t>：</a:t>
            </a:r>
            <a:r>
              <a:rPr lang="en-US" altLang="zh-CN" sz="1300" dirty="0" smtClean="0">
                <a:solidFill>
                  <a:schemeClr val="tx1"/>
                </a:solidFill>
              </a:rPr>
              <a:t>85%</a:t>
            </a:r>
          </a:p>
          <a:p>
            <a:r>
              <a:rPr lang="en-US" altLang="zh-CN" sz="1300" dirty="0" smtClean="0">
                <a:solidFill>
                  <a:schemeClr val="tx1"/>
                </a:solidFill>
              </a:rPr>
              <a:t>M-1</a:t>
            </a:r>
            <a:r>
              <a:rPr lang="zh-CN" altLang="en-US" sz="1300" dirty="0" smtClean="0">
                <a:solidFill>
                  <a:schemeClr val="tx1"/>
                </a:solidFill>
              </a:rPr>
              <a:t>：</a:t>
            </a:r>
            <a:r>
              <a:rPr lang="en-US" altLang="zh-CN" sz="1300" dirty="0" smtClean="0">
                <a:solidFill>
                  <a:schemeClr val="tx1"/>
                </a:solidFill>
              </a:rPr>
              <a:t>75%</a:t>
            </a:r>
          </a:p>
          <a:p>
            <a:r>
              <a:rPr lang="en-US" altLang="zh-CN" sz="1300" dirty="0" smtClean="0">
                <a:solidFill>
                  <a:schemeClr val="tx1"/>
                </a:solidFill>
              </a:rPr>
              <a:t>M-2</a:t>
            </a:r>
            <a:r>
              <a:rPr lang="zh-CN" altLang="en-US" sz="1300" dirty="0" smtClean="0">
                <a:solidFill>
                  <a:schemeClr val="tx1"/>
                </a:solidFill>
              </a:rPr>
              <a:t>：</a:t>
            </a:r>
            <a:r>
              <a:rPr lang="en-US" altLang="zh-CN" sz="1300" dirty="0" smtClean="0">
                <a:solidFill>
                  <a:schemeClr val="tx1"/>
                </a:solidFill>
              </a:rPr>
              <a:t>65%</a:t>
            </a:r>
          </a:p>
          <a:p>
            <a:endParaRPr lang="en-US" altLang="zh-CN" sz="1300" dirty="0">
              <a:solidFill>
                <a:schemeClr val="tx1"/>
              </a:solidFill>
            </a:endParaRPr>
          </a:p>
          <a:p>
            <a:r>
              <a:rPr lang="en-US" altLang="zh-CN" sz="1300" b="1" dirty="0" smtClean="0">
                <a:solidFill>
                  <a:schemeClr val="tx1"/>
                </a:solidFill>
              </a:rPr>
              <a:t>2</a:t>
            </a:r>
            <a:r>
              <a:rPr lang="zh-CN" altLang="en-US" sz="1300" b="1" dirty="0" smtClean="0">
                <a:solidFill>
                  <a:schemeClr val="tx1"/>
                </a:solidFill>
              </a:rPr>
              <a:t>、</a:t>
            </a:r>
            <a:r>
              <a:rPr lang="en-US" altLang="zh-CN" sz="1300" b="1" dirty="0" smtClean="0">
                <a:solidFill>
                  <a:schemeClr val="tx1"/>
                </a:solidFill>
              </a:rPr>
              <a:t>3T-</a:t>
            </a:r>
            <a:r>
              <a:rPr lang="zh-CN" altLang="en-US" sz="1300" b="1" dirty="0" smtClean="0">
                <a:solidFill>
                  <a:schemeClr val="tx1"/>
                </a:solidFill>
              </a:rPr>
              <a:t>下单时间准确率：</a:t>
            </a:r>
            <a:endParaRPr lang="en-US" altLang="zh-CN" sz="1300" b="1" dirty="0" smtClean="0">
              <a:solidFill>
                <a:schemeClr val="tx1"/>
              </a:solidFill>
            </a:endParaRPr>
          </a:p>
          <a:p>
            <a:r>
              <a:rPr lang="en-US" altLang="zh-CN" sz="1300" dirty="0" smtClean="0">
                <a:solidFill>
                  <a:schemeClr val="tx1"/>
                </a:solidFill>
              </a:rPr>
              <a:t>M-0</a:t>
            </a:r>
            <a:r>
              <a:rPr lang="zh-CN" altLang="en-US" sz="1300" dirty="0" smtClean="0">
                <a:solidFill>
                  <a:schemeClr val="tx1"/>
                </a:solidFill>
              </a:rPr>
              <a:t>：</a:t>
            </a:r>
            <a:r>
              <a:rPr lang="en-US" altLang="zh-CN" sz="1300" dirty="0" smtClean="0">
                <a:solidFill>
                  <a:schemeClr val="tx1"/>
                </a:solidFill>
              </a:rPr>
              <a:t>95%</a:t>
            </a:r>
          </a:p>
          <a:p>
            <a:r>
              <a:rPr lang="en-US" altLang="zh-CN" sz="1300" dirty="0" smtClean="0">
                <a:solidFill>
                  <a:schemeClr val="tx1"/>
                </a:solidFill>
              </a:rPr>
              <a:t>M-1</a:t>
            </a:r>
            <a:r>
              <a:rPr lang="zh-CN" altLang="en-US" sz="1300" dirty="0" smtClean="0">
                <a:solidFill>
                  <a:schemeClr val="tx1"/>
                </a:solidFill>
              </a:rPr>
              <a:t>：</a:t>
            </a:r>
            <a:r>
              <a:rPr lang="en-US" altLang="zh-CN" sz="1300" dirty="0" smtClean="0">
                <a:solidFill>
                  <a:schemeClr val="tx1"/>
                </a:solidFill>
              </a:rPr>
              <a:t>80%</a:t>
            </a:r>
          </a:p>
          <a:p>
            <a:r>
              <a:rPr lang="en-US" altLang="zh-CN" sz="1300" dirty="0" smtClean="0">
                <a:solidFill>
                  <a:schemeClr val="tx1"/>
                </a:solidFill>
              </a:rPr>
              <a:t>M-2</a:t>
            </a:r>
            <a:r>
              <a:rPr lang="zh-CN" altLang="en-US" sz="1300" dirty="0" smtClean="0">
                <a:solidFill>
                  <a:schemeClr val="tx1"/>
                </a:solidFill>
              </a:rPr>
              <a:t>：</a:t>
            </a:r>
            <a:r>
              <a:rPr lang="en-US" altLang="zh-CN" sz="1300" dirty="0" smtClean="0">
                <a:solidFill>
                  <a:schemeClr val="tx1"/>
                </a:solidFill>
              </a:rPr>
              <a:t>65%</a:t>
            </a:r>
          </a:p>
          <a:p>
            <a:endParaRPr lang="en-US" altLang="zh-CN" sz="1300" dirty="0">
              <a:solidFill>
                <a:schemeClr val="tx1"/>
              </a:solidFill>
            </a:endParaRPr>
          </a:p>
          <a:p>
            <a:r>
              <a:rPr lang="en-US" altLang="zh-CN" sz="1300" b="1" dirty="0" smtClean="0">
                <a:solidFill>
                  <a:schemeClr val="tx1"/>
                </a:solidFill>
              </a:rPr>
              <a:t>3</a:t>
            </a:r>
            <a:r>
              <a:rPr lang="zh-CN" altLang="en-US" sz="1300" b="1" dirty="0" smtClean="0">
                <a:solidFill>
                  <a:schemeClr val="tx1"/>
                </a:solidFill>
              </a:rPr>
              <a:t>、</a:t>
            </a:r>
            <a:r>
              <a:rPr lang="en-US" altLang="zh-CN" sz="1300" b="1" dirty="0" smtClean="0">
                <a:solidFill>
                  <a:schemeClr val="tx1"/>
                </a:solidFill>
              </a:rPr>
              <a:t>3T-</a:t>
            </a:r>
            <a:r>
              <a:rPr lang="zh-CN" altLang="en-US" sz="1300" b="1" dirty="0" smtClean="0">
                <a:solidFill>
                  <a:schemeClr val="tx1"/>
                </a:solidFill>
              </a:rPr>
              <a:t>下单项目要货时间准确率</a:t>
            </a:r>
            <a:r>
              <a:rPr lang="en-US" altLang="zh-CN" sz="1300" b="1" dirty="0" smtClean="0">
                <a:solidFill>
                  <a:schemeClr val="tx1"/>
                </a:solidFill>
              </a:rPr>
              <a:t>-</a:t>
            </a:r>
            <a:r>
              <a:rPr lang="zh-CN" altLang="en-US" sz="1300" b="1" dirty="0" smtClean="0">
                <a:solidFill>
                  <a:schemeClr val="tx1"/>
                </a:solidFill>
              </a:rPr>
              <a:t>（</a:t>
            </a:r>
            <a:r>
              <a:rPr lang="en-US" altLang="zh-CN" sz="1300" b="1" dirty="0" smtClean="0">
                <a:solidFill>
                  <a:schemeClr val="tx1"/>
                </a:solidFill>
              </a:rPr>
              <a:t>+-15</a:t>
            </a:r>
            <a:r>
              <a:rPr lang="zh-CN" altLang="en-US" sz="1300" b="1" dirty="0" smtClean="0">
                <a:solidFill>
                  <a:schemeClr val="tx1"/>
                </a:solidFill>
              </a:rPr>
              <a:t>天偏离）：</a:t>
            </a:r>
            <a:endParaRPr lang="en-US" altLang="zh-CN" sz="1300" b="1" dirty="0" smtClean="0">
              <a:solidFill>
                <a:schemeClr val="tx1"/>
              </a:solidFill>
            </a:endParaRPr>
          </a:p>
          <a:p>
            <a:r>
              <a:rPr lang="en-US" altLang="zh-CN" sz="1300" dirty="0" smtClean="0">
                <a:solidFill>
                  <a:schemeClr val="tx1"/>
                </a:solidFill>
              </a:rPr>
              <a:t>M-0</a:t>
            </a:r>
            <a:r>
              <a:rPr lang="zh-CN" altLang="en-US" sz="1300" dirty="0" smtClean="0">
                <a:solidFill>
                  <a:schemeClr val="tx1"/>
                </a:solidFill>
              </a:rPr>
              <a:t>：</a:t>
            </a:r>
            <a:r>
              <a:rPr lang="en-US" altLang="zh-CN" sz="1300" dirty="0" smtClean="0">
                <a:solidFill>
                  <a:schemeClr val="tx1"/>
                </a:solidFill>
              </a:rPr>
              <a:t>70%</a:t>
            </a:r>
          </a:p>
          <a:p>
            <a:r>
              <a:rPr lang="en-US" altLang="zh-CN" sz="1300" dirty="0" smtClean="0">
                <a:solidFill>
                  <a:schemeClr val="tx1"/>
                </a:solidFill>
              </a:rPr>
              <a:t>M-1</a:t>
            </a:r>
            <a:r>
              <a:rPr lang="zh-CN" altLang="en-US" sz="1300" dirty="0" smtClean="0">
                <a:solidFill>
                  <a:schemeClr val="tx1"/>
                </a:solidFill>
              </a:rPr>
              <a:t>：</a:t>
            </a:r>
            <a:r>
              <a:rPr lang="en-US" altLang="zh-CN" sz="1300" dirty="0" smtClean="0">
                <a:solidFill>
                  <a:schemeClr val="tx1"/>
                </a:solidFill>
              </a:rPr>
              <a:t>60%</a:t>
            </a:r>
          </a:p>
          <a:p>
            <a:r>
              <a:rPr lang="en-US" altLang="zh-CN" sz="1300" dirty="0" smtClean="0">
                <a:solidFill>
                  <a:schemeClr val="tx1"/>
                </a:solidFill>
              </a:rPr>
              <a:t>M-2:  50%</a:t>
            </a:r>
            <a:endParaRPr lang="zh-CN" altLang="en-US" sz="1300" dirty="0">
              <a:solidFill>
                <a:schemeClr val="tx1"/>
              </a:solidFill>
            </a:endParaRPr>
          </a:p>
        </p:txBody>
      </p:sp>
      <p:sp>
        <p:nvSpPr>
          <p:cNvPr id="10" name="矩形 9"/>
          <p:cNvSpPr/>
          <p:nvPr/>
        </p:nvSpPr>
        <p:spPr>
          <a:xfrm>
            <a:off x="3372785" y="1751847"/>
            <a:ext cx="4970349" cy="445430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zh-CN" altLang="en-US" sz="1300" b="1" dirty="0" smtClean="0">
                <a:solidFill>
                  <a:schemeClr val="tx1"/>
                </a:solidFill>
              </a:rPr>
              <a:t>举措和计划：</a:t>
            </a:r>
            <a:endParaRPr lang="en-US" altLang="zh-CN" sz="1300" b="1" dirty="0" smtClean="0">
              <a:solidFill>
                <a:schemeClr val="tx1"/>
              </a:solidFill>
            </a:endParaRPr>
          </a:p>
          <a:p>
            <a:r>
              <a:rPr lang="en-US" altLang="zh-CN" sz="1300" b="1" dirty="0" smtClean="0">
                <a:solidFill>
                  <a:schemeClr val="tx1"/>
                </a:solidFill>
              </a:rPr>
              <a:t>1</a:t>
            </a:r>
            <a:r>
              <a:rPr lang="zh-CN" altLang="en-US" sz="1300" b="1" dirty="0">
                <a:solidFill>
                  <a:schemeClr val="tx1"/>
                </a:solidFill>
              </a:rPr>
              <a:t>、</a:t>
            </a:r>
            <a:r>
              <a:rPr lang="en-US" altLang="zh-CN" sz="1300" dirty="0" smtClean="0">
                <a:solidFill>
                  <a:schemeClr val="tx1"/>
                </a:solidFill>
              </a:rPr>
              <a:t>12</a:t>
            </a:r>
            <a:r>
              <a:rPr lang="zh-CN" altLang="en-US" sz="1300" dirty="0">
                <a:solidFill>
                  <a:schemeClr val="tx1"/>
                </a:solidFill>
              </a:rPr>
              <a:t>月</a:t>
            </a:r>
            <a:r>
              <a:rPr lang="en-US" altLang="zh-CN" sz="1300" dirty="0">
                <a:solidFill>
                  <a:schemeClr val="tx1"/>
                </a:solidFill>
              </a:rPr>
              <a:t>12</a:t>
            </a:r>
            <a:r>
              <a:rPr lang="zh-CN" altLang="en-US" sz="1300" dirty="0" smtClean="0">
                <a:solidFill>
                  <a:schemeClr val="tx1"/>
                </a:solidFill>
              </a:rPr>
              <a:t>日前，下发共识目标；</a:t>
            </a:r>
            <a:endParaRPr lang="en-US" altLang="zh-CN" sz="1300" dirty="0" smtClean="0">
              <a:solidFill>
                <a:schemeClr val="tx1"/>
              </a:solidFill>
            </a:endParaRPr>
          </a:p>
          <a:p>
            <a:r>
              <a:rPr lang="en-US" altLang="zh-CN" sz="1300" b="1" dirty="0" smtClean="0">
                <a:solidFill>
                  <a:schemeClr val="tx1"/>
                </a:solidFill>
              </a:rPr>
              <a:t>2</a:t>
            </a:r>
            <a:r>
              <a:rPr lang="zh-CN" altLang="en-US" sz="1300" b="1" dirty="0" smtClean="0">
                <a:solidFill>
                  <a:schemeClr val="tx1"/>
                </a:solidFill>
              </a:rPr>
              <a:t>、</a:t>
            </a:r>
            <a:r>
              <a:rPr lang="zh-CN" altLang="en-US" sz="1300" dirty="0" smtClean="0">
                <a:solidFill>
                  <a:schemeClr val="tx1"/>
                </a:solidFill>
              </a:rPr>
              <a:t>区域宣贯沟通，达成共识并执行</a:t>
            </a:r>
            <a:r>
              <a:rPr lang="zh-CN" altLang="en-US" sz="1300" dirty="0" smtClean="0">
                <a:solidFill>
                  <a:schemeClr val="tx1"/>
                </a:solidFill>
                <a:sym typeface="Wingdings" panose="05000000000000000000" pitchFamily="2" charset="2"/>
              </a:rPr>
              <a:t>：（销售预测流程）</a:t>
            </a:r>
            <a:endParaRPr lang="en-US" altLang="zh-CN" sz="1300" dirty="0" smtClean="0">
              <a:solidFill>
                <a:schemeClr val="tx1"/>
              </a:solidFill>
            </a:endParaRPr>
          </a:p>
          <a:p>
            <a:pPr marL="742950" lvl="1" indent="-285750">
              <a:buFont typeface="Arial" panose="020B0604020202020204" pitchFamily="34" charset="0"/>
              <a:buChar char="•"/>
            </a:pPr>
            <a:r>
              <a:rPr lang="en-US" altLang="zh-CN" sz="1300" dirty="0" smtClean="0">
                <a:solidFill>
                  <a:schemeClr val="tx1"/>
                </a:solidFill>
              </a:rPr>
              <a:t>12</a:t>
            </a:r>
            <a:r>
              <a:rPr lang="zh-CN" altLang="en-US" sz="1300" dirty="0" smtClean="0">
                <a:solidFill>
                  <a:schemeClr val="tx1"/>
                </a:solidFill>
              </a:rPr>
              <a:t>月</a:t>
            </a:r>
            <a:r>
              <a:rPr lang="en-US" altLang="zh-CN" sz="1300" dirty="0" smtClean="0">
                <a:solidFill>
                  <a:schemeClr val="tx1"/>
                </a:solidFill>
              </a:rPr>
              <a:t>13</a:t>
            </a:r>
            <a:r>
              <a:rPr lang="zh-CN" altLang="en-US" sz="1300" dirty="0" smtClean="0">
                <a:solidFill>
                  <a:schemeClr val="tx1"/>
                </a:solidFill>
              </a:rPr>
              <a:t>日</a:t>
            </a:r>
            <a:r>
              <a:rPr lang="en-US" altLang="zh-CN" sz="1300" dirty="0" smtClean="0">
                <a:solidFill>
                  <a:schemeClr val="tx1"/>
                </a:solidFill>
              </a:rPr>
              <a:t>-20</a:t>
            </a:r>
            <a:r>
              <a:rPr lang="zh-CN" altLang="en-US" sz="1300" dirty="0" smtClean="0">
                <a:solidFill>
                  <a:schemeClr val="tx1"/>
                </a:solidFill>
              </a:rPr>
              <a:t>日期间，把明年</a:t>
            </a:r>
            <a:r>
              <a:rPr lang="en-US" altLang="zh-CN" sz="1300" dirty="0" smtClean="0">
                <a:solidFill>
                  <a:schemeClr val="tx1"/>
                </a:solidFill>
              </a:rPr>
              <a:t>1,2,3</a:t>
            </a:r>
            <a:r>
              <a:rPr lang="zh-CN" altLang="en-US" sz="1300" dirty="0" smtClean="0">
                <a:solidFill>
                  <a:schemeClr val="tx1"/>
                </a:solidFill>
              </a:rPr>
              <a:t>月的项目</a:t>
            </a:r>
            <a:r>
              <a:rPr lang="en-US" altLang="zh-CN" sz="1300" dirty="0" smtClean="0">
                <a:solidFill>
                  <a:schemeClr val="tx1"/>
                </a:solidFill>
              </a:rPr>
              <a:t>,</a:t>
            </a:r>
            <a:r>
              <a:rPr lang="zh-CN" altLang="en-US" sz="1300" dirty="0" smtClean="0">
                <a:solidFill>
                  <a:schemeClr val="tx1"/>
                </a:solidFill>
              </a:rPr>
              <a:t>开标时间，下单时间，要货时间做统一更新和留痕；</a:t>
            </a:r>
            <a:endParaRPr lang="en-US" altLang="zh-CN" sz="1300" dirty="0" smtClean="0">
              <a:solidFill>
                <a:schemeClr val="tx1"/>
              </a:solidFill>
            </a:endParaRPr>
          </a:p>
          <a:p>
            <a:pPr marL="742950" lvl="1" indent="-285750">
              <a:buFont typeface="Arial" panose="020B0604020202020204" pitchFamily="34" charset="0"/>
              <a:buChar char="•"/>
            </a:pPr>
            <a:r>
              <a:rPr lang="en-US" altLang="zh-CN" sz="1300" dirty="0" smtClean="0">
                <a:solidFill>
                  <a:schemeClr val="tx1"/>
                </a:solidFill>
              </a:rPr>
              <a:t>12</a:t>
            </a:r>
            <a:r>
              <a:rPr lang="zh-CN" altLang="en-US" sz="1300" dirty="0" smtClean="0">
                <a:solidFill>
                  <a:schemeClr val="tx1"/>
                </a:solidFill>
              </a:rPr>
              <a:t>月</a:t>
            </a:r>
            <a:r>
              <a:rPr lang="en-US" altLang="zh-CN" sz="1300" dirty="0" smtClean="0">
                <a:solidFill>
                  <a:schemeClr val="tx1"/>
                </a:solidFill>
              </a:rPr>
              <a:t>21</a:t>
            </a:r>
            <a:r>
              <a:rPr lang="zh-CN" altLang="en-US" sz="1300" dirty="0" smtClean="0">
                <a:solidFill>
                  <a:schemeClr val="tx1"/>
                </a:solidFill>
              </a:rPr>
              <a:t>日取商机漏斗，确定下单，要货预测</a:t>
            </a:r>
            <a:endParaRPr lang="en-US" altLang="zh-CN" sz="1300" dirty="0" smtClean="0">
              <a:solidFill>
                <a:schemeClr val="tx1"/>
              </a:solidFill>
            </a:endParaRPr>
          </a:p>
          <a:p>
            <a:pPr marL="742950" lvl="1" indent="-285750">
              <a:buFont typeface="Arial" panose="020B0604020202020204" pitchFamily="34" charset="0"/>
              <a:buChar char="•"/>
            </a:pPr>
            <a:r>
              <a:rPr lang="zh-CN" altLang="en-US" sz="1300" dirty="0" smtClean="0">
                <a:solidFill>
                  <a:schemeClr val="tx1"/>
                </a:solidFill>
              </a:rPr>
              <a:t>销售与渠道沟通好实际下单和要货时间：</a:t>
            </a:r>
            <a:r>
              <a:rPr lang="zh-CN" altLang="en-US" sz="1300" dirty="0" smtClean="0">
                <a:solidFill>
                  <a:schemeClr val="tx1"/>
                </a:solidFill>
                <a:hlinkClick r:id="rId2" action="ppaction://hlinksldjump"/>
              </a:rPr>
              <a:t>渠道下单流程</a:t>
            </a:r>
            <a:endParaRPr lang="en-US" altLang="zh-CN" sz="1300" dirty="0" smtClean="0">
              <a:solidFill>
                <a:schemeClr val="tx1"/>
              </a:solidFill>
            </a:endParaRPr>
          </a:p>
          <a:p>
            <a:pPr marL="742950" lvl="1" indent="-285750">
              <a:buFont typeface="Arial" panose="020B0604020202020204" pitchFamily="34" charset="0"/>
              <a:buChar char="•"/>
            </a:pPr>
            <a:r>
              <a:rPr lang="en-US" altLang="zh-CN" sz="1300" dirty="0" smtClean="0">
                <a:solidFill>
                  <a:schemeClr val="tx1"/>
                </a:solidFill>
              </a:rPr>
              <a:t>1</a:t>
            </a:r>
            <a:r>
              <a:rPr lang="zh-CN" altLang="en-US" sz="1300" dirty="0" smtClean="0">
                <a:solidFill>
                  <a:schemeClr val="tx1"/>
                </a:solidFill>
              </a:rPr>
              <a:t>月底，拿实际订单数据与前期漏斗预测比对，计算</a:t>
            </a:r>
            <a:r>
              <a:rPr lang="en-US" altLang="zh-CN" sz="1300" dirty="0" smtClean="0">
                <a:solidFill>
                  <a:schemeClr val="tx1"/>
                </a:solidFill>
              </a:rPr>
              <a:t>M0,M1</a:t>
            </a:r>
            <a:r>
              <a:rPr lang="zh-CN" altLang="en-US" sz="1300" dirty="0" smtClean="0">
                <a:solidFill>
                  <a:schemeClr val="tx1"/>
                </a:solidFill>
              </a:rPr>
              <a:t>和</a:t>
            </a:r>
            <a:r>
              <a:rPr lang="en-US" altLang="zh-CN" sz="1300" dirty="0" smtClean="0">
                <a:solidFill>
                  <a:schemeClr val="tx1"/>
                </a:solidFill>
              </a:rPr>
              <a:t>M2</a:t>
            </a:r>
            <a:r>
              <a:rPr lang="zh-CN" altLang="en-US" sz="1300" dirty="0" smtClean="0">
                <a:solidFill>
                  <a:schemeClr val="tx1"/>
                </a:solidFill>
              </a:rPr>
              <a:t>准确率，并发布数据结果</a:t>
            </a:r>
            <a:endParaRPr lang="en-US" altLang="zh-CN" sz="1300" dirty="0" smtClean="0">
              <a:solidFill>
                <a:schemeClr val="tx1"/>
              </a:solidFill>
            </a:endParaRPr>
          </a:p>
          <a:p>
            <a:pPr marL="742950" lvl="1" indent="-285750">
              <a:buFont typeface="Arial" panose="020B0604020202020204" pitchFamily="34" charset="0"/>
              <a:buChar char="•"/>
            </a:pPr>
            <a:r>
              <a:rPr lang="zh-CN" altLang="en-US" sz="1300" dirty="0" smtClean="0">
                <a:solidFill>
                  <a:schemeClr val="tx1"/>
                </a:solidFill>
              </a:rPr>
              <a:t>开展试点区域复盘查看</a:t>
            </a:r>
            <a:r>
              <a:rPr lang="en-US" altLang="zh-CN" sz="1300" dirty="0" smtClean="0">
                <a:solidFill>
                  <a:schemeClr val="tx1"/>
                </a:solidFill>
              </a:rPr>
              <a:t>M</a:t>
            </a:r>
            <a:r>
              <a:rPr lang="zh-CN" altLang="en-US" sz="1300" dirty="0" smtClean="0">
                <a:solidFill>
                  <a:schemeClr val="tx1"/>
                </a:solidFill>
              </a:rPr>
              <a:t>和</a:t>
            </a:r>
            <a:r>
              <a:rPr lang="en-US" altLang="zh-CN" sz="1300" dirty="0" smtClean="0">
                <a:solidFill>
                  <a:schemeClr val="tx1"/>
                </a:solidFill>
              </a:rPr>
              <a:t>M-1</a:t>
            </a:r>
            <a:r>
              <a:rPr lang="zh-CN" altLang="en-US" sz="1300" dirty="0" smtClean="0">
                <a:solidFill>
                  <a:schemeClr val="tx1"/>
                </a:solidFill>
              </a:rPr>
              <a:t>的下单时间和要货时间；</a:t>
            </a:r>
            <a:endParaRPr lang="en-US" altLang="zh-CN" sz="1300" dirty="0">
              <a:solidFill>
                <a:schemeClr val="tx1"/>
              </a:solidFill>
            </a:endParaRPr>
          </a:p>
          <a:p>
            <a:endParaRPr lang="en-US" altLang="zh-CN" sz="1300" b="1" dirty="0" smtClean="0">
              <a:solidFill>
                <a:schemeClr val="tx1"/>
              </a:solidFill>
            </a:endParaRPr>
          </a:p>
          <a:p>
            <a:pPr marL="0" lvl="1"/>
            <a:r>
              <a:rPr lang="en-US" altLang="zh-CN" sz="1300" b="1" dirty="0" smtClean="0">
                <a:solidFill>
                  <a:schemeClr val="tx1"/>
                </a:solidFill>
              </a:rPr>
              <a:t>3</a:t>
            </a:r>
            <a:r>
              <a:rPr lang="zh-CN" altLang="en-US" sz="1300" b="1" dirty="0" smtClean="0">
                <a:solidFill>
                  <a:schemeClr val="tx1"/>
                </a:solidFill>
              </a:rPr>
              <a:t>、</a:t>
            </a:r>
            <a:r>
              <a:rPr lang="zh-CN" altLang="en-US" sz="1300" dirty="0">
                <a:solidFill>
                  <a:schemeClr val="tx1"/>
                </a:solidFill>
              </a:rPr>
              <a:t>销售与渠道沟通好实际下单和要货时间：</a:t>
            </a:r>
            <a:r>
              <a:rPr lang="zh-CN" altLang="en-US" sz="1300" dirty="0">
                <a:solidFill>
                  <a:schemeClr val="tx1"/>
                </a:solidFill>
                <a:hlinkClick r:id="rId3" action="ppaction://hlinksldjump"/>
              </a:rPr>
              <a:t>渠道下单</a:t>
            </a:r>
            <a:r>
              <a:rPr lang="zh-CN" altLang="en-US" sz="1300" dirty="0" smtClean="0">
                <a:solidFill>
                  <a:schemeClr val="tx1"/>
                </a:solidFill>
                <a:hlinkClick r:id="rId3" action="ppaction://hlinksldjump"/>
              </a:rPr>
              <a:t>流程</a:t>
            </a:r>
            <a:endParaRPr lang="en-US" altLang="zh-CN" sz="1300" b="1" dirty="0" smtClean="0">
              <a:solidFill>
                <a:schemeClr val="tx1"/>
              </a:solidFill>
            </a:endParaRPr>
          </a:p>
          <a:p>
            <a:r>
              <a:rPr lang="en-US" altLang="zh-CN" sz="1300" b="1" dirty="0">
                <a:solidFill>
                  <a:schemeClr val="tx1"/>
                </a:solidFill>
              </a:rPr>
              <a:t>4</a:t>
            </a:r>
            <a:r>
              <a:rPr lang="zh-CN" altLang="en-US" sz="1300" b="1" dirty="0" smtClean="0">
                <a:solidFill>
                  <a:schemeClr val="tx1"/>
                </a:solidFill>
              </a:rPr>
              <a:t>、</a:t>
            </a:r>
            <a:r>
              <a:rPr lang="zh-CN" altLang="en-US" sz="1300" dirty="0" smtClean="0">
                <a:solidFill>
                  <a:schemeClr val="tx1"/>
                </a:solidFill>
              </a:rPr>
              <a:t>组织区域经理</a:t>
            </a:r>
            <a:r>
              <a:rPr lang="en-US" altLang="zh-CN" sz="1300" dirty="0" smtClean="0">
                <a:solidFill>
                  <a:schemeClr val="tx1"/>
                </a:solidFill>
              </a:rPr>
              <a:t>+</a:t>
            </a:r>
            <a:r>
              <a:rPr lang="zh-CN" altLang="en-US" sz="1300" dirty="0" smtClean="0">
                <a:solidFill>
                  <a:schemeClr val="tx1"/>
                </a:solidFill>
              </a:rPr>
              <a:t>平台总复盘总结（月度复盘）</a:t>
            </a:r>
            <a:endParaRPr lang="en-US" altLang="zh-CN" sz="1300" dirty="0" smtClean="0">
              <a:solidFill>
                <a:schemeClr val="tx1"/>
              </a:solidFill>
            </a:endParaRPr>
          </a:p>
          <a:p>
            <a:endParaRPr lang="en-US" altLang="zh-CN" sz="1300" b="1" dirty="0" smtClean="0">
              <a:solidFill>
                <a:schemeClr val="tx1"/>
              </a:solidFill>
            </a:endParaRPr>
          </a:p>
          <a:p>
            <a:endParaRPr lang="en-US" altLang="zh-CN" sz="1300" b="1" dirty="0">
              <a:solidFill>
                <a:schemeClr val="tx1"/>
              </a:solidFill>
            </a:endParaRPr>
          </a:p>
          <a:p>
            <a:r>
              <a:rPr lang="en-US" altLang="zh-CN" sz="1300" b="1" dirty="0" smtClean="0">
                <a:solidFill>
                  <a:schemeClr val="tx1"/>
                </a:solidFill>
              </a:rPr>
              <a:t>IT</a:t>
            </a:r>
            <a:r>
              <a:rPr lang="zh-CN" altLang="en-US" sz="1300" b="1" dirty="0" smtClean="0">
                <a:solidFill>
                  <a:schemeClr val="tx1"/>
                </a:solidFill>
              </a:rPr>
              <a:t>支撑方案：</a:t>
            </a:r>
            <a:endParaRPr lang="en-US" altLang="zh-CN" sz="1300" b="1" dirty="0" smtClean="0">
              <a:solidFill>
                <a:schemeClr val="tx1"/>
              </a:solidFill>
            </a:endParaRPr>
          </a:p>
          <a:p>
            <a:pPr marL="342900" indent="-342900">
              <a:buFont typeface="+mj-lt"/>
              <a:buAutoNum type="arabicPeriod"/>
            </a:pPr>
            <a:r>
              <a:rPr lang="zh-CN" altLang="en-US" sz="1300" dirty="0">
                <a:solidFill>
                  <a:schemeClr val="tx1"/>
                </a:solidFill>
              </a:rPr>
              <a:t>前端产品方案配置时显示</a:t>
            </a:r>
            <a:r>
              <a:rPr lang="en-US" altLang="zh-CN" sz="1300" dirty="0">
                <a:solidFill>
                  <a:schemeClr val="tx1"/>
                </a:solidFill>
              </a:rPr>
              <a:t>SLA</a:t>
            </a:r>
            <a:r>
              <a:rPr lang="zh-CN" altLang="en-US" sz="1300" dirty="0">
                <a:solidFill>
                  <a:schemeClr val="tx1"/>
                </a:solidFill>
              </a:rPr>
              <a:t>，辅助销售了解产品方案交付周期；</a:t>
            </a:r>
            <a:endParaRPr lang="en-US" altLang="zh-CN" sz="1300" dirty="0">
              <a:solidFill>
                <a:schemeClr val="tx1"/>
              </a:solidFill>
            </a:endParaRPr>
          </a:p>
          <a:p>
            <a:pPr marL="342900" indent="-342900">
              <a:buFont typeface="+mj-lt"/>
              <a:buAutoNum type="arabicPeriod"/>
            </a:pPr>
            <a:r>
              <a:rPr lang="zh-CN" altLang="en-US" sz="1300" dirty="0">
                <a:solidFill>
                  <a:schemeClr val="tx1"/>
                </a:solidFill>
              </a:rPr>
              <a:t>分批要货功能优化，推广销售使用。</a:t>
            </a:r>
            <a:endParaRPr lang="en-US" altLang="zh-CN" sz="1300" dirty="0">
              <a:solidFill>
                <a:schemeClr val="tx1"/>
              </a:solidFill>
            </a:endParaRPr>
          </a:p>
          <a:p>
            <a:pPr marL="342900" indent="-342900">
              <a:buFont typeface="+mj-lt"/>
              <a:buAutoNum type="arabicPeriod"/>
            </a:pPr>
            <a:r>
              <a:rPr lang="en-US" altLang="zh-CN" sz="1300" dirty="0">
                <a:solidFill>
                  <a:schemeClr val="tx1"/>
                </a:solidFill>
              </a:rPr>
              <a:t>CES</a:t>
            </a:r>
            <a:r>
              <a:rPr lang="zh-CN" altLang="en-US" sz="1300" dirty="0">
                <a:solidFill>
                  <a:schemeClr val="tx1"/>
                </a:solidFill>
              </a:rPr>
              <a:t>渠道下单系统增强，提供推荐客期（取</a:t>
            </a:r>
            <a:r>
              <a:rPr lang="en-US" altLang="zh-CN" sz="1300" dirty="0">
                <a:solidFill>
                  <a:schemeClr val="tx1"/>
                </a:solidFill>
              </a:rPr>
              <a:t>CRM</a:t>
            </a:r>
            <a:r>
              <a:rPr lang="zh-CN" altLang="en-US" sz="1300" dirty="0">
                <a:solidFill>
                  <a:schemeClr val="tx1"/>
                </a:solidFill>
              </a:rPr>
              <a:t>中的要货时间和供应链</a:t>
            </a:r>
            <a:r>
              <a:rPr lang="en-US" altLang="zh-CN" sz="1300" dirty="0">
                <a:solidFill>
                  <a:schemeClr val="tx1"/>
                </a:solidFill>
              </a:rPr>
              <a:t>SLA</a:t>
            </a:r>
            <a:r>
              <a:rPr lang="zh-CN" altLang="en-US" sz="1300" dirty="0">
                <a:solidFill>
                  <a:schemeClr val="tx1"/>
                </a:solidFill>
              </a:rPr>
              <a:t>中交付时间的最大值）</a:t>
            </a:r>
            <a:endParaRPr lang="en-US" altLang="zh-CN" sz="1300" dirty="0">
              <a:solidFill>
                <a:schemeClr val="tx1"/>
              </a:solidFill>
            </a:endParaRPr>
          </a:p>
          <a:p>
            <a:pPr marL="342900" indent="-342900">
              <a:buFont typeface="+mj-lt"/>
              <a:buAutoNum type="arabicPeriod"/>
            </a:pPr>
            <a:r>
              <a:rPr lang="zh-CN" altLang="en-US" sz="1300" dirty="0">
                <a:solidFill>
                  <a:schemeClr val="tx1"/>
                </a:solidFill>
              </a:rPr>
              <a:t>特殊订单审批流程（如：加急订单，未计划订单等</a:t>
            </a:r>
            <a:r>
              <a:rPr lang="zh-CN" altLang="en-US" sz="1400" dirty="0">
                <a:solidFill>
                  <a:schemeClr val="tx1"/>
                </a:solidFill>
              </a:rPr>
              <a:t>）</a:t>
            </a:r>
          </a:p>
          <a:p>
            <a:endParaRPr lang="en-US" altLang="zh-CN" sz="1300" b="1" dirty="0">
              <a:solidFill>
                <a:schemeClr val="tx1"/>
              </a:solidFill>
            </a:endParaRPr>
          </a:p>
        </p:txBody>
      </p:sp>
      <p:sp>
        <p:nvSpPr>
          <p:cNvPr id="11" name="矩形 10"/>
          <p:cNvSpPr/>
          <p:nvPr/>
        </p:nvSpPr>
        <p:spPr>
          <a:xfrm>
            <a:off x="8420457" y="1751847"/>
            <a:ext cx="2720197" cy="445430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zh-CN" altLang="en-US" sz="1300" dirty="0" smtClean="0">
                <a:solidFill>
                  <a:schemeClr val="tx1"/>
                </a:solidFill>
              </a:rPr>
              <a:t>结合第二轮试点结果和经验对所有区域进行全面宣贯与培训；</a:t>
            </a:r>
            <a:endParaRPr lang="en-US" altLang="zh-CN" sz="1300" dirty="0" smtClean="0">
              <a:solidFill>
                <a:schemeClr val="tx1"/>
              </a:solidFill>
            </a:endParaRPr>
          </a:p>
          <a:p>
            <a:pPr marL="285750" indent="-285750">
              <a:buFont typeface="Arial" panose="020B0604020202020204" pitchFamily="34" charset="0"/>
              <a:buChar char="•"/>
            </a:pPr>
            <a:r>
              <a:rPr lang="zh-CN" altLang="en-US" sz="1300" dirty="0" smtClean="0">
                <a:solidFill>
                  <a:schemeClr val="tx1"/>
                </a:solidFill>
              </a:rPr>
              <a:t>同时，结合</a:t>
            </a:r>
            <a:r>
              <a:rPr lang="en-US" altLang="zh-CN" sz="1300" dirty="0" smtClean="0">
                <a:solidFill>
                  <a:schemeClr val="tx1"/>
                </a:solidFill>
              </a:rPr>
              <a:t>IT</a:t>
            </a:r>
            <a:r>
              <a:rPr lang="zh-CN" altLang="en-US" sz="1300" dirty="0" smtClean="0">
                <a:solidFill>
                  <a:schemeClr val="tx1"/>
                </a:solidFill>
              </a:rPr>
              <a:t>方案上线情况，对区域进行培训与支持，确保新功能的正常使用。</a:t>
            </a:r>
            <a:endParaRPr lang="en-US" altLang="zh-CN" sz="1300" dirty="0" smtClean="0">
              <a:solidFill>
                <a:schemeClr val="tx1"/>
              </a:solidFill>
            </a:endParaRPr>
          </a:p>
          <a:p>
            <a:endParaRPr lang="en-US" altLang="zh-CN" sz="1300" b="1" dirty="0">
              <a:solidFill>
                <a:schemeClr val="tx1"/>
              </a:solidFill>
            </a:endParaRPr>
          </a:p>
          <a:p>
            <a:pPr marL="285750" indent="-285750">
              <a:buFont typeface="Arial" panose="020B0604020202020204" pitchFamily="34" charset="0"/>
              <a:buChar char="•"/>
            </a:pPr>
            <a:r>
              <a:rPr lang="zh-CN" altLang="en-US" sz="1300" b="1" dirty="0" smtClean="0">
                <a:solidFill>
                  <a:schemeClr val="accent4">
                    <a:lumMod val="50000"/>
                  </a:schemeClr>
                </a:solidFill>
              </a:rPr>
              <a:t>本次试点与第一次试点工作的主要区别：重点针对</a:t>
            </a:r>
            <a:r>
              <a:rPr lang="en-US" altLang="zh-CN" sz="1300" b="1" dirty="0" smtClean="0">
                <a:solidFill>
                  <a:schemeClr val="accent4">
                    <a:lumMod val="50000"/>
                  </a:schemeClr>
                </a:solidFill>
              </a:rPr>
              <a:t>3T</a:t>
            </a:r>
            <a:r>
              <a:rPr lang="zh-CN" altLang="en-US" sz="1300" b="1" dirty="0" smtClean="0">
                <a:solidFill>
                  <a:schemeClr val="accent4">
                    <a:lumMod val="50000"/>
                  </a:schemeClr>
                </a:solidFill>
              </a:rPr>
              <a:t>的试点与验证，加入了销售预测流程对要货时间的管理。同时，通过第二次试点，明确</a:t>
            </a:r>
            <a:r>
              <a:rPr lang="en-US" altLang="zh-CN" sz="1300" b="1" dirty="0" smtClean="0">
                <a:solidFill>
                  <a:schemeClr val="accent4">
                    <a:lumMod val="50000"/>
                  </a:schemeClr>
                </a:solidFill>
              </a:rPr>
              <a:t>3T</a:t>
            </a:r>
            <a:r>
              <a:rPr lang="zh-CN" altLang="en-US" sz="1300" b="1" dirty="0" smtClean="0">
                <a:solidFill>
                  <a:schemeClr val="accent4">
                    <a:lumMod val="50000"/>
                  </a:schemeClr>
                </a:solidFill>
              </a:rPr>
              <a:t>的</a:t>
            </a:r>
            <a:r>
              <a:rPr lang="en-US" altLang="zh-CN" sz="1300" b="1" dirty="0" smtClean="0">
                <a:solidFill>
                  <a:schemeClr val="accent4">
                    <a:lumMod val="50000"/>
                  </a:schemeClr>
                </a:solidFill>
              </a:rPr>
              <a:t>IT</a:t>
            </a:r>
            <a:r>
              <a:rPr lang="zh-CN" altLang="en-US" sz="1300" b="1" dirty="0" smtClean="0">
                <a:solidFill>
                  <a:schemeClr val="accent4">
                    <a:lumMod val="50000"/>
                  </a:schemeClr>
                </a:solidFill>
              </a:rPr>
              <a:t>需求，确定上线计划。</a:t>
            </a:r>
            <a:endParaRPr lang="zh-CN" altLang="en-US" sz="1300" b="1" dirty="0">
              <a:solidFill>
                <a:schemeClr val="tx1"/>
              </a:solidFill>
            </a:endParaRPr>
          </a:p>
        </p:txBody>
      </p:sp>
      <p:pic>
        <p:nvPicPr>
          <p:cNvPr id="8" name="图片 7"/>
          <p:cNvPicPr>
            <a:picLocks noChangeAspect="1"/>
          </p:cNvPicPr>
          <p:nvPr/>
        </p:nvPicPr>
        <p:blipFill>
          <a:blip r:embed="rId4"/>
          <a:stretch>
            <a:fillRect/>
          </a:stretch>
        </p:blipFill>
        <p:spPr>
          <a:xfrm>
            <a:off x="3530332" y="2417276"/>
            <a:ext cx="4812802" cy="1461833"/>
          </a:xfrm>
          <a:prstGeom prst="rect">
            <a:avLst/>
          </a:prstGeom>
        </p:spPr>
      </p:pic>
    </p:spTree>
    <p:extLst>
      <p:ext uri="{BB962C8B-B14F-4D97-AF65-F5344CB8AC3E}">
        <p14:creationId xmlns:p14="http://schemas.microsoft.com/office/powerpoint/2010/main" val="36655052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smtClean="0"/>
              <a:t>举措</a:t>
            </a:r>
            <a:r>
              <a:rPr lang="en-US" altLang="zh-CN" dirty="0" smtClean="0"/>
              <a:t>1</a:t>
            </a:r>
            <a:r>
              <a:rPr lang="zh-CN" altLang="en-US" dirty="0" smtClean="0"/>
              <a:t>：销售预测流程和机制</a:t>
            </a:r>
            <a:r>
              <a:rPr lang="en-US" altLang="zh-CN" dirty="0" smtClean="0"/>
              <a:t>-</a:t>
            </a:r>
            <a:r>
              <a:rPr lang="zh-CN" altLang="en-US" dirty="0" smtClean="0"/>
              <a:t>现状分析</a:t>
            </a:r>
            <a:endParaRPr lang="zh-CN" altLang="en-US" dirty="0"/>
          </a:p>
        </p:txBody>
      </p:sp>
      <p:sp>
        <p:nvSpPr>
          <p:cNvPr id="3" name="矩形 2"/>
          <p:cNvSpPr/>
          <p:nvPr/>
        </p:nvSpPr>
        <p:spPr>
          <a:xfrm>
            <a:off x="573405" y="958427"/>
            <a:ext cx="10776643" cy="830997"/>
          </a:xfrm>
          <a:prstGeom prst="rect">
            <a:avLst/>
          </a:prstGeom>
        </p:spPr>
        <p:txBody>
          <a:bodyPr wrap="square">
            <a:spAutoFit/>
          </a:bodyPr>
          <a:lstStyle/>
          <a:p>
            <a:r>
              <a:rPr lang="zh-CN" altLang="en-US" sz="1600" dirty="0"/>
              <a:t>为了帮助销售提升项目把控度，根据预测制定出更合理的阶段性目标。及时履行订单，最大限度地减少缺货或延误，提高客户满意度。有效地规划库存水平和供应链管理，更合理的分配资源，减少呆滞和急单成本所释放的利润。同时降低销售在协调供货上的时间投入，释放精力到销售拜访活动中</a:t>
            </a:r>
            <a:r>
              <a:rPr lang="zh-CN" altLang="en-US" sz="1600" dirty="0" smtClean="0"/>
              <a:t>，设计滚动</a:t>
            </a:r>
            <a:r>
              <a:rPr lang="en-US" altLang="zh-CN" sz="1600" dirty="0"/>
              <a:t>3</a:t>
            </a:r>
            <a:r>
              <a:rPr lang="zh-CN" altLang="en-US" sz="1600" dirty="0"/>
              <a:t>个月预测管理机制。</a:t>
            </a:r>
          </a:p>
        </p:txBody>
      </p:sp>
      <p:pic>
        <p:nvPicPr>
          <p:cNvPr id="4097" name="Picture 1" descr="https://ruijie.feishu.cn/space/api/box/stream/download/asynccode/?code=MzgxN2JmMDU4YTg2MGUxN2EyOTYxYjg1ZTIzOGZkYThfcWdMRWtsWmpFbm5xcjlHcGw5NGhCVnA1aWZTMGwxZmRfVG9rZW46UW82YWJrRDNtb0VSSEV4WWJSeWN4Y0JsbjdnXzE3NjQ3MzI3MTM6MTc2NDczNjMxM19WN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7221" y="2055137"/>
            <a:ext cx="8324850" cy="200025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431586" y="2055137"/>
            <a:ext cx="525100" cy="20002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b="1" dirty="0"/>
              <a:t>下单预测准确性</a:t>
            </a:r>
          </a:p>
        </p:txBody>
      </p:sp>
      <p:sp>
        <p:nvSpPr>
          <p:cNvPr id="11" name="矩形 10"/>
          <p:cNvSpPr/>
          <p:nvPr/>
        </p:nvSpPr>
        <p:spPr>
          <a:xfrm>
            <a:off x="9729458" y="2162710"/>
            <a:ext cx="2049100" cy="1785104"/>
          </a:xfrm>
          <a:prstGeom prst="rect">
            <a:avLst/>
          </a:prstGeom>
          <a:ln>
            <a:solidFill>
              <a:schemeClr val="accent1"/>
            </a:solidFill>
          </a:ln>
        </p:spPr>
        <p:txBody>
          <a:bodyPr wrap="square">
            <a:spAutoFit/>
          </a:bodyPr>
          <a:lstStyle/>
          <a:p>
            <a:pPr>
              <a:buFont typeface="Arial" panose="020B0604020202020204" pitchFamily="34" charset="0"/>
              <a:buChar char="•"/>
            </a:pPr>
            <a:r>
              <a:rPr lang="en-US" altLang="zh-CN" sz="1100" dirty="0"/>
              <a:t>M</a:t>
            </a:r>
            <a:r>
              <a:rPr lang="zh-CN" altLang="en-US" sz="1100" dirty="0"/>
              <a:t>月预测准确率已经是很好的水平，并在持续改善（</a:t>
            </a:r>
            <a:r>
              <a:rPr lang="en-US" altLang="zh-CN" sz="1100" b="1" dirty="0">
                <a:solidFill>
                  <a:srgbClr val="245BDB"/>
                </a:solidFill>
              </a:rPr>
              <a:t>23</a:t>
            </a:r>
            <a:r>
              <a:rPr lang="zh-CN" altLang="en-US" sz="1100" b="1" dirty="0">
                <a:solidFill>
                  <a:srgbClr val="245BDB"/>
                </a:solidFill>
              </a:rPr>
              <a:t>年</a:t>
            </a:r>
            <a:r>
              <a:rPr lang="en-US" altLang="zh-CN" sz="1100" b="1" dirty="0">
                <a:solidFill>
                  <a:srgbClr val="245BDB"/>
                </a:solidFill>
              </a:rPr>
              <a:t>88%</a:t>
            </a:r>
            <a:r>
              <a:rPr lang="zh-CN" altLang="en-US" sz="1100" b="1" dirty="0">
                <a:solidFill>
                  <a:srgbClr val="245BDB"/>
                </a:solidFill>
              </a:rPr>
              <a:t>、</a:t>
            </a:r>
            <a:r>
              <a:rPr lang="en-US" altLang="zh-CN" sz="1100" b="1" dirty="0">
                <a:solidFill>
                  <a:srgbClr val="245BDB"/>
                </a:solidFill>
              </a:rPr>
              <a:t>24</a:t>
            </a:r>
            <a:r>
              <a:rPr lang="zh-CN" altLang="en-US" sz="1100" b="1" dirty="0">
                <a:solidFill>
                  <a:srgbClr val="245BDB"/>
                </a:solidFill>
              </a:rPr>
              <a:t>年</a:t>
            </a:r>
            <a:r>
              <a:rPr lang="en-US" altLang="zh-CN" sz="1100" b="1" dirty="0">
                <a:solidFill>
                  <a:srgbClr val="245BDB"/>
                </a:solidFill>
              </a:rPr>
              <a:t>92.5%</a:t>
            </a:r>
            <a:r>
              <a:rPr lang="zh-CN" altLang="en-US" sz="1100" b="1" dirty="0">
                <a:solidFill>
                  <a:srgbClr val="245BDB"/>
                </a:solidFill>
              </a:rPr>
              <a:t>、</a:t>
            </a:r>
            <a:r>
              <a:rPr lang="en-US" altLang="zh-CN" sz="1100" b="1" dirty="0">
                <a:solidFill>
                  <a:srgbClr val="245BDB"/>
                </a:solidFill>
              </a:rPr>
              <a:t>25</a:t>
            </a:r>
            <a:r>
              <a:rPr lang="zh-CN" altLang="en-US" sz="1100" b="1" dirty="0">
                <a:solidFill>
                  <a:srgbClr val="245BDB"/>
                </a:solidFill>
              </a:rPr>
              <a:t>年</a:t>
            </a:r>
            <a:r>
              <a:rPr lang="en-US" altLang="zh-CN" sz="1100" b="1" dirty="0">
                <a:solidFill>
                  <a:srgbClr val="245BDB"/>
                </a:solidFill>
              </a:rPr>
              <a:t>97.3%</a:t>
            </a:r>
            <a:r>
              <a:rPr lang="zh-CN" altLang="en-US" sz="1100" dirty="0"/>
              <a:t>）</a:t>
            </a:r>
          </a:p>
          <a:p>
            <a:pPr>
              <a:buFont typeface="Arial" panose="020B0604020202020204" pitchFamily="34" charset="0"/>
              <a:buChar char="•"/>
            </a:pPr>
            <a:r>
              <a:rPr lang="en-US" altLang="zh-CN" sz="1100" dirty="0"/>
              <a:t>M+1</a:t>
            </a:r>
            <a:r>
              <a:rPr lang="zh-CN" altLang="en-US" sz="1100" dirty="0"/>
              <a:t>月预测准确率有一定改善空间，且在持续改善（</a:t>
            </a:r>
            <a:r>
              <a:rPr lang="en-US" altLang="zh-CN" sz="1100" b="1" dirty="0">
                <a:solidFill>
                  <a:srgbClr val="245BDB"/>
                </a:solidFill>
              </a:rPr>
              <a:t>23</a:t>
            </a:r>
            <a:r>
              <a:rPr lang="zh-CN" altLang="en-US" sz="1100" b="1" dirty="0">
                <a:solidFill>
                  <a:srgbClr val="245BDB"/>
                </a:solidFill>
              </a:rPr>
              <a:t>年</a:t>
            </a:r>
            <a:r>
              <a:rPr lang="en-US" altLang="zh-CN" sz="1100" b="1" dirty="0">
                <a:solidFill>
                  <a:srgbClr val="245BDB"/>
                </a:solidFill>
              </a:rPr>
              <a:t>37%</a:t>
            </a:r>
            <a:r>
              <a:rPr lang="zh-CN" altLang="en-US" sz="1100" b="1" dirty="0">
                <a:solidFill>
                  <a:srgbClr val="245BDB"/>
                </a:solidFill>
              </a:rPr>
              <a:t>、</a:t>
            </a:r>
            <a:r>
              <a:rPr lang="en-US" altLang="zh-CN" sz="1100" b="1" dirty="0">
                <a:solidFill>
                  <a:srgbClr val="245BDB"/>
                </a:solidFill>
              </a:rPr>
              <a:t>24</a:t>
            </a:r>
            <a:r>
              <a:rPr lang="zh-CN" altLang="en-US" sz="1100" b="1" dirty="0">
                <a:solidFill>
                  <a:srgbClr val="245BDB"/>
                </a:solidFill>
              </a:rPr>
              <a:t>年</a:t>
            </a:r>
            <a:r>
              <a:rPr lang="en-US" altLang="zh-CN" sz="1100" b="1" dirty="0">
                <a:solidFill>
                  <a:srgbClr val="245BDB"/>
                </a:solidFill>
              </a:rPr>
              <a:t>51%</a:t>
            </a:r>
            <a:r>
              <a:rPr lang="zh-CN" altLang="en-US" sz="1100" b="1" dirty="0">
                <a:solidFill>
                  <a:srgbClr val="245BDB"/>
                </a:solidFill>
              </a:rPr>
              <a:t>、</a:t>
            </a:r>
            <a:r>
              <a:rPr lang="en-US" altLang="zh-CN" sz="1100" b="1" dirty="0">
                <a:solidFill>
                  <a:srgbClr val="245BDB"/>
                </a:solidFill>
              </a:rPr>
              <a:t>25</a:t>
            </a:r>
            <a:r>
              <a:rPr lang="zh-CN" altLang="en-US" sz="1100" b="1" dirty="0">
                <a:solidFill>
                  <a:srgbClr val="245BDB"/>
                </a:solidFill>
              </a:rPr>
              <a:t>年</a:t>
            </a:r>
            <a:r>
              <a:rPr lang="en-US" altLang="zh-CN" sz="1100" b="1" dirty="0">
                <a:solidFill>
                  <a:srgbClr val="245BDB"/>
                </a:solidFill>
              </a:rPr>
              <a:t>61%</a:t>
            </a:r>
            <a:r>
              <a:rPr lang="zh-CN" altLang="en-US" sz="1100" dirty="0"/>
              <a:t>）</a:t>
            </a:r>
          </a:p>
          <a:p>
            <a:pPr>
              <a:buFont typeface="Arial" panose="020B0604020202020204" pitchFamily="34" charset="0"/>
              <a:buChar char="•"/>
            </a:pPr>
            <a:r>
              <a:rPr lang="en-US" altLang="zh-CN" sz="1100" b="1" dirty="0">
                <a:solidFill>
                  <a:srgbClr val="D83931"/>
                </a:solidFill>
              </a:rPr>
              <a:t>M+2</a:t>
            </a:r>
            <a:r>
              <a:rPr lang="zh-CN" altLang="en-US" sz="1100" b="1" dirty="0">
                <a:solidFill>
                  <a:srgbClr val="D83931"/>
                </a:solidFill>
              </a:rPr>
              <a:t>月预测准确率十分严峻，且无改善迹象</a:t>
            </a:r>
            <a:r>
              <a:rPr lang="zh-CN" altLang="en-US" sz="1100" dirty="0"/>
              <a:t>（</a:t>
            </a:r>
            <a:r>
              <a:rPr lang="en-US" altLang="zh-CN" sz="1100" b="1" dirty="0">
                <a:solidFill>
                  <a:srgbClr val="D83931"/>
                </a:solidFill>
              </a:rPr>
              <a:t>24</a:t>
            </a:r>
            <a:r>
              <a:rPr lang="zh-CN" altLang="en-US" sz="1100" b="1" dirty="0">
                <a:solidFill>
                  <a:srgbClr val="D83931"/>
                </a:solidFill>
              </a:rPr>
              <a:t>年</a:t>
            </a:r>
            <a:r>
              <a:rPr lang="en-US" altLang="zh-CN" sz="1100" b="1" dirty="0">
                <a:solidFill>
                  <a:srgbClr val="D83931"/>
                </a:solidFill>
              </a:rPr>
              <a:t>22%</a:t>
            </a:r>
            <a:r>
              <a:rPr lang="zh-CN" altLang="en-US" sz="1100" b="1" dirty="0">
                <a:solidFill>
                  <a:srgbClr val="D83931"/>
                </a:solidFill>
              </a:rPr>
              <a:t>、</a:t>
            </a:r>
            <a:r>
              <a:rPr lang="en-US" altLang="zh-CN" sz="1100" b="1" dirty="0">
                <a:solidFill>
                  <a:srgbClr val="D83931"/>
                </a:solidFill>
              </a:rPr>
              <a:t>25</a:t>
            </a:r>
            <a:r>
              <a:rPr lang="zh-CN" altLang="en-US" sz="1100" b="1" dirty="0">
                <a:solidFill>
                  <a:srgbClr val="D83931"/>
                </a:solidFill>
              </a:rPr>
              <a:t>年</a:t>
            </a:r>
            <a:r>
              <a:rPr lang="en-US" altLang="zh-CN" sz="1100" b="1" dirty="0">
                <a:solidFill>
                  <a:srgbClr val="D83931"/>
                </a:solidFill>
              </a:rPr>
              <a:t>22%</a:t>
            </a:r>
            <a:r>
              <a:rPr lang="zh-CN" altLang="en-US" sz="1100" dirty="0"/>
              <a:t>）</a:t>
            </a:r>
          </a:p>
        </p:txBody>
      </p:sp>
      <p:sp>
        <p:nvSpPr>
          <p:cNvPr id="13" name="等腰三角形 12"/>
          <p:cNvSpPr/>
          <p:nvPr/>
        </p:nvSpPr>
        <p:spPr>
          <a:xfrm rot="5400000">
            <a:off x="8837064" y="2905002"/>
            <a:ext cx="1427399" cy="30052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13"/>
          <p:cNvSpPr/>
          <p:nvPr/>
        </p:nvSpPr>
        <p:spPr>
          <a:xfrm>
            <a:off x="431586" y="4172139"/>
            <a:ext cx="525100" cy="20002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b="1" dirty="0"/>
              <a:t>下单项目要货时间准确性数据</a:t>
            </a:r>
          </a:p>
        </p:txBody>
      </p:sp>
      <p:pic>
        <p:nvPicPr>
          <p:cNvPr id="4099" name="Picture 3" descr="https://ruijie.feishu.cn/space/api/box/stream/download/asynccode/?code=NDM0MWVjZTQzMDcwNWJkMWNlMzNjMWIyNmU2OThhY2FfSmdkN3RMS0RlbnNMdG5aMjRQOVQ1SWk5elNUZ3RhdnhfVG9rZW46Q0dLdmJkdXFTbzJvWDd4ZG1JemNhaWRTbjFnXzE3NjQ3MzI4NzM6MTc2NDczNjQ3M19WN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7221" y="4321100"/>
            <a:ext cx="8285844" cy="1545546"/>
          </a:xfrm>
          <a:prstGeom prst="rect">
            <a:avLst/>
          </a:prstGeom>
          <a:noFill/>
          <a:extLst>
            <a:ext uri="{909E8E84-426E-40DD-AFC4-6F175D3DCCD1}">
              <a14:hiddenFill xmlns:a14="http://schemas.microsoft.com/office/drawing/2010/main">
                <a:solidFill>
                  <a:srgbClr val="FFFFFF"/>
                </a:solidFill>
              </a14:hiddenFill>
            </a:ext>
          </a:extLst>
        </p:spPr>
      </p:pic>
      <p:sp>
        <p:nvSpPr>
          <p:cNvPr id="17" name="等腰三角形 16"/>
          <p:cNvSpPr/>
          <p:nvPr/>
        </p:nvSpPr>
        <p:spPr>
          <a:xfrm rot="5400000">
            <a:off x="8837064" y="4884539"/>
            <a:ext cx="1427399" cy="30052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矩形 14"/>
          <p:cNvSpPr/>
          <p:nvPr/>
        </p:nvSpPr>
        <p:spPr>
          <a:xfrm>
            <a:off x="9768462" y="4734717"/>
            <a:ext cx="1986998" cy="600164"/>
          </a:xfrm>
          <a:prstGeom prst="rect">
            <a:avLst/>
          </a:prstGeom>
          <a:ln>
            <a:solidFill>
              <a:schemeClr val="accent1"/>
            </a:solidFill>
          </a:ln>
        </p:spPr>
        <p:txBody>
          <a:bodyPr wrap="square">
            <a:spAutoFit/>
          </a:bodyPr>
          <a:lstStyle/>
          <a:p>
            <a:pPr>
              <a:buFont typeface="Arial" panose="020B0604020202020204" pitchFamily="34" charset="0"/>
              <a:buChar char="•"/>
            </a:pPr>
            <a:r>
              <a:rPr lang="en-US" altLang="zh-CN" sz="1100" dirty="0"/>
              <a:t>M</a:t>
            </a:r>
            <a:r>
              <a:rPr lang="zh-CN" altLang="en-US" sz="1100" dirty="0"/>
              <a:t>月、</a:t>
            </a:r>
            <a:r>
              <a:rPr lang="en-US" altLang="zh-CN" sz="1100" dirty="0"/>
              <a:t>M+1</a:t>
            </a:r>
            <a:r>
              <a:rPr lang="zh-CN" altLang="en-US" sz="1100" dirty="0"/>
              <a:t>月、</a:t>
            </a:r>
            <a:r>
              <a:rPr lang="en-US" altLang="zh-CN" sz="1100" dirty="0"/>
              <a:t>M+2</a:t>
            </a:r>
            <a:r>
              <a:rPr lang="zh-CN" altLang="en-US" sz="1100" dirty="0"/>
              <a:t>月下单项目要货时间准确率十分严峻，且无改善迹象</a:t>
            </a:r>
          </a:p>
        </p:txBody>
      </p:sp>
    </p:spTree>
    <p:extLst>
      <p:ext uri="{BB962C8B-B14F-4D97-AF65-F5344CB8AC3E}">
        <p14:creationId xmlns:p14="http://schemas.microsoft.com/office/powerpoint/2010/main" val="7221445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smtClean="0"/>
              <a:t>举措</a:t>
            </a:r>
            <a:r>
              <a:rPr lang="en-US" altLang="zh-CN" dirty="0" smtClean="0"/>
              <a:t>1</a:t>
            </a:r>
            <a:r>
              <a:rPr lang="zh-CN" altLang="en-US" dirty="0" smtClean="0"/>
              <a:t>：销售预测流程和机制</a:t>
            </a:r>
            <a:r>
              <a:rPr lang="en-US" altLang="zh-CN" dirty="0" smtClean="0"/>
              <a:t>-</a:t>
            </a:r>
            <a:r>
              <a:rPr lang="zh-CN" altLang="en-US" dirty="0" smtClean="0"/>
              <a:t>目标</a:t>
            </a:r>
            <a:endParaRPr lang="zh-CN" altLang="en-US" dirty="0"/>
          </a:p>
        </p:txBody>
      </p:sp>
      <p:pic>
        <p:nvPicPr>
          <p:cNvPr id="5" name="图片 4"/>
          <p:cNvPicPr>
            <a:picLocks noChangeAspect="1"/>
          </p:cNvPicPr>
          <p:nvPr/>
        </p:nvPicPr>
        <p:blipFill>
          <a:blip r:embed="rId2"/>
          <a:stretch>
            <a:fillRect/>
          </a:stretch>
        </p:blipFill>
        <p:spPr>
          <a:xfrm>
            <a:off x="891530" y="998308"/>
            <a:ext cx="10087310" cy="5067514"/>
          </a:xfrm>
          <a:prstGeom prst="rect">
            <a:avLst/>
          </a:prstGeom>
        </p:spPr>
      </p:pic>
    </p:spTree>
    <p:extLst>
      <p:ext uri="{BB962C8B-B14F-4D97-AF65-F5344CB8AC3E}">
        <p14:creationId xmlns:p14="http://schemas.microsoft.com/office/powerpoint/2010/main" val="73456670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4" y="274320"/>
            <a:ext cx="8163189" cy="495935"/>
          </a:xfrm>
        </p:spPr>
        <p:txBody>
          <a:bodyPr/>
          <a:lstStyle/>
          <a:p>
            <a:r>
              <a:rPr lang="zh-CN" altLang="en-US" dirty="0" smtClean="0"/>
              <a:t>举措</a:t>
            </a:r>
            <a:r>
              <a:rPr lang="en-US" altLang="zh-CN" dirty="0" smtClean="0"/>
              <a:t>1</a:t>
            </a:r>
            <a:r>
              <a:rPr lang="zh-CN" altLang="en-US" dirty="0" smtClean="0"/>
              <a:t>：销售预测流程和机制</a:t>
            </a:r>
            <a:r>
              <a:rPr lang="en-US" altLang="zh-CN" dirty="0" smtClean="0"/>
              <a:t>-</a:t>
            </a:r>
            <a:r>
              <a:rPr lang="zh-CN" altLang="en-US" dirty="0" smtClean="0"/>
              <a:t>达到目标的做法</a:t>
            </a:r>
            <a:endParaRPr lang="zh-CN" altLang="en-US" dirty="0"/>
          </a:p>
        </p:txBody>
      </p:sp>
      <p:pic>
        <p:nvPicPr>
          <p:cNvPr id="3" name="图片 2"/>
          <p:cNvPicPr>
            <a:picLocks noChangeAspect="1"/>
          </p:cNvPicPr>
          <p:nvPr/>
        </p:nvPicPr>
        <p:blipFill>
          <a:blip r:embed="rId2"/>
          <a:stretch>
            <a:fillRect/>
          </a:stretch>
        </p:blipFill>
        <p:spPr>
          <a:xfrm>
            <a:off x="4206201" y="861726"/>
            <a:ext cx="7554251" cy="5538906"/>
          </a:xfrm>
          <a:prstGeom prst="rect">
            <a:avLst/>
          </a:prstGeom>
        </p:spPr>
      </p:pic>
      <p:sp>
        <p:nvSpPr>
          <p:cNvPr id="4" name="矩形 3"/>
          <p:cNvSpPr/>
          <p:nvPr/>
        </p:nvSpPr>
        <p:spPr>
          <a:xfrm>
            <a:off x="399541" y="861726"/>
            <a:ext cx="3678724" cy="646331"/>
          </a:xfrm>
          <a:prstGeom prst="rect">
            <a:avLst/>
          </a:prstGeom>
        </p:spPr>
        <p:txBody>
          <a:bodyPr wrap="square">
            <a:spAutoFit/>
          </a:bodyPr>
          <a:lstStyle/>
          <a:p>
            <a:r>
              <a:rPr lang="zh-CN" altLang="en-US" b="1" u="sng" dirty="0" smtClean="0"/>
              <a:t>固化</a:t>
            </a:r>
            <a:r>
              <a:rPr lang="zh-CN" altLang="en-US" b="1" u="sng" dirty="0"/>
              <a:t>流程</a:t>
            </a:r>
            <a:r>
              <a:rPr lang="en-US" altLang="zh-CN" b="1" u="sng" dirty="0"/>
              <a:t>-</a:t>
            </a:r>
            <a:r>
              <a:rPr lang="zh-CN" altLang="en-US" b="1" u="sng" dirty="0"/>
              <a:t>增补</a:t>
            </a:r>
            <a:r>
              <a:rPr lang="zh-CN" altLang="en-US" dirty="0"/>
              <a:t>隔两个月预测及要货时间管理并推动流程落地</a:t>
            </a:r>
          </a:p>
        </p:txBody>
      </p:sp>
      <p:sp>
        <p:nvSpPr>
          <p:cNvPr id="10" name="文本框 9"/>
          <p:cNvSpPr txBox="1"/>
          <p:nvPr/>
        </p:nvSpPr>
        <p:spPr>
          <a:xfrm>
            <a:off x="271605" y="1508057"/>
            <a:ext cx="3934596" cy="5109091"/>
          </a:xfrm>
          <a:prstGeom prst="rect">
            <a:avLst/>
          </a:prstGeom>
          <a:noFill/>
        </p:spPr>
        <p:txBody>
          <a:bodyPr wrap="square" rtlCol="0">
            <a:spAutoFit/>
          </a:bodyPr>
          <a:lstStyle/>
          <a:p>
            <a:r>
              <a:rPr lang="zh-CN" altLang="en-US" sz="1400" b="1" dirty="0" smtClean="0"/>
              <a:t>承诺预测标准：</a:t>
            </a:r>
            <a:endParaRPr lang="en-US" altLang="zh-CN" sz="1400" b="1" dirty="0" smtClean="0"/>
          </a:p>
          <a:p>
            <a:pPr marL="285750" indent="-285750">
              <a:buFont typeface="Arial" panose="020B0604020202020204" pitchFamily="34" charset="0"/>
              <a:buChar char="•"/>
            </a:pPr>
            <a:r>
              <a:rPr lang="en-US" altLang="zh-CN" sz="1200" b="1" dirty="0" smtClean="0"/>
              <a:t>1+1+1</a:t>
            </a:r>
            <a:r>
              <a:rPr lang="zh-CN" altLang="en-US" sz="1200" b="1" dirty="0"/>
              <a:t>承诺预测定义</a:t>
            </a:r>
            <a:r>
              <a:rPr lang="en-US" altLang="zh-CN" sz="1200" b="1" dirty="0" smtClean="0"/>
              <a:t>:</a:t>
            </a:r>
            <a:r>
              <a:rPr lang="zh-CN" altLang="en-US" sz="1200" dirty="0" smtClean="0"/>
              <a:t>每个月</a:t>
            </a:r>
            <a:r>
              <a:rPr lang="zh-CN" altLang="en-US" sz="1200" dirty="0"/>
              <a:t>的</a:t>
            </a:r>
            <a:r>
              <a:rPr lang="en-US" altLang="zh-CN" sz="1200" dirty="0"/>
              <a:t>20</a:t>
            </a:r>
            <a:r>
              <a:rPr lang="zh-CN" altLang="en-US" sz="1200" dirty="0"/>
              <a:t>日之前，销售、区域、系统部必须做好未来三个月的项目承诺及预测，第一个</a:t>
            </a:r>
            <a:r>
              <a:rPr lang="en-US" altLang="zh-CN" sz="1200" dirty="0"/>
              <a:t>1</a:t>
            </a:r>
            <a:r>
              <a:rPr lang="zh-CN" altLang="en-US" sz="1200" dirty="0"/>
              <a:t>是指当月承诺，第二个</a:t>
            </a:r>
            <a:r>
              <a:rPr lang="en-US" altLang="zh-CN" sz="1200" dirty="0"/>
              <a:t>1</a:t>
            </a:r>
            <a:r>
              <a:rPr lang="zh-CN" altLang="en-US" sz="1200" dirty="0"/>
              <a:t>是指隔月预测，第三个</a:t>
            </a:r>
            <a:r>
              <a:rPr lang="en-US" altLang="zh-CN" sz="1200" dirty="0"/>
              <a:t>1</a:t>
            </a:r>
            <a:r>
              <a:rPr lang="zh-CN" altLang="en-US" sz="1200" dirty="0"/>
              <a:t>是指隔</a:t>
            </a:r>
            <a:r>
              <a:rPr lang="en-US" altLang="zh-CN" sz="1200" dirty="0"/>
              <a:t>2</a:t>
            </a:r>
            <a:r>
              <a:rPr lang="zh-CN" altLang="en-US" sz="1200" dirty="0"/>
              <a:t>月预测</a:t>
            </a:r>
            <a:r>
              <a:rPr lang="zh-CN" altLang="en-US" sz="1200" dirty="0" smtClean="0"/>
              <a:t>。</a:t>
            </a:r>
            <a:endParaRPr lang="en-US" altLang="zh-CN" sz="1200" dirty="0" smtClean="0"/>
          </a:p>
          <a:p>
            <a:pPr marL="285750" indent="-285750">
              <a:buFont typeface="Arial" panose="020B0604020202020204" pitchFamily="34" charset="0"/>
              <a:buChar char="•"/>
            </a:pPr>
            <a:r>
              <a:rPr lang="zh-CN" altLang="en-US" sz="1200" b="1" dirty="0"/>
              <a:t>第一个</a:t>
            </a:r>
            <a:r>
              <a:rPr lang="en-US" altLang="zh-CN" sz="1200" b="1" dirty="0" smtClean="0"/>
              <a:t>1</a:t>
            </a:r>
            <a:r>
              <a:rPr lang="zh-CN" altLang="en-US" sz="1200" dirty="0" smtClean="0"/>
              <a:t>，</a:t>
            </a:r>
            <a:r>
              <a:rPr lang="zh-CN" altLang="en-US" sz="1200" dirty="0"/>
              <a:t>当月承诺标准</a:t>
            </a:r>
            <a:r>
              <a:rPr lang="en-US" altLang="zh-CN" sz="1200" dirty="0" smtClean="0"/>
              <a:t>:</a:t>
            </a:r>
            <a:r>
              <a:rPr lang="zh-CN" altLang="en-US" sz="1200" dirty="0" smtClean="0"/>
              <a:t>正规</a:t>
            </a:r>
            <a:r>
              <a:rPr lang="zh-CN" altLang="en-US" sz="1200" dirty="0"/>
              <a:t>招投标项目已经中标，或</a:t>
            </a:r>
            <a:r>
              <a:rPr lang="en-US" altLang="zh-CN" sz="1200" dirty="0"/>
              <a:t>ICT</a:t>
            </a:r>
            <a:r>
              <a:rPr lang="zh-CN" altLang="en-US" sz="1200" dirty="0"/>
              <a:t>投融资</a:t>
            </a:r>
            <a:r>
              <a:rPr lang="en-US" altLang="zh-CN" sz="1200" dirty="0"/>
              <a:t>/</a:t>
            </a:r>
            <a:r>
              <a:rPr lang="zh-CN" altLang="en-US" sz="1200" dirty="0"/>
              <a:t>三头弱电项目必须是投资商</a:t>
            </a:r>
            <a:r>
              <a:rPr lang="en-US" altLang="zh-CN" sz="1200" dirty="0"/>
              <a:t>/</a:t>
            </a:r>
            <a:r>
              <a:rPr lang="zh-CN" altLang="en-US" sz="1200" dirty="0"/>
              <a:t>弱电商与我司签订合同，且确定在这个月要货的项目</a:t>
            </a:r>
            <a:r>
              <a:rPr lang="zh-CN" altLang="en-US" sz="1200" dirty="0" smtClean="0"/>
              <a:t>。</a:t>
            </a:r>
            <a:endParaRPr lang="en-US" altLang="zh-CN" sz="1200" dirty="0" smtClean="0"/>
          </a:p>
          <a:p>
            <a:pPr marL="285750" indent="-285750">
              <a:buFont typeface="Arial" panose="020B0604020202020204" pitchFamily="34" charset="0"/>
              <a:buChar char="•"/>
            </a:pPr>
            <a:r>
              <a:rPr lang="zh-CN" altLang="en-US" sz="1200" b="1" dirty="0"/>
              <a:t>第二个</a:t>
            </a:r>
            <a:r>
              <a:rPr lang="en-US" altLang="zh-CN" sz="1200" b="1" dirty="0"/>
              <a:t>1</a:t>
            </a:r>
            <a:r>
              <a:rPr lang="zh-CN" altLang="en-US" sz="1200" dirty="0"/>
              <a:t>，隔月预测标准</a:t>
            </a:r>
            <a:r>
              <a:rPr lang="en-US" altLang="zh-CN" sz="1200" dirty="0" smtClean="0"/>
              <a:t>:</a:t>
            </a:r>
            <a:r>
              <a:rPr lang="zh-CN" altLang="en-US" sz="1200" dirty="0" smtClean="0"/>
              <a:t>正规</a:t>
            </a:r>
            <a:r>
              <a:rPr lang="zh-CN" altLang="en-US" sz="1200" dirty="0"/>
              <a:t>招投标项目已经中标，或</a:t>
            </a:r>
            <a:r>
              <a:rPr lang="en-US" altLang="zh-CN" sz="1200" dirty="0"/>
              <a:t>ICT</a:t>
            </a:r>
            <a:r>
              <a:rPr lang="zh-CN" altLang="en-US" sz="1200" dirty="0"/>
              <a:t>投融资</a:t>
            </a:r>
            <a:r>
              <a:rPr lang="en-US" altLang="zh-CN" sz="1200" dirty="0"/>
              <a:t>/</a:t>
            </a:r>
            <a:r>
              <a:rPr lang="zh-CN" altLang="en-US" sz="1200" dirty="0"/>
              <a:t>三头弱电项目必须是投资商</a:t>
            </a:r>
            <a:r>
              <a:rPr lang="en-US" altLang="zh-CN" sz="1200" dirty="0"/>
              <a:t>/</a:t>
            </a:r>
            <a:r>
              <a:rPr lang="zh-CN" altLang="en-US" sz="1200" dirty="0"/>
              <a:t>弱电商与我司签订合同，且计划在这个月要货</a:t>
            </a:r>
            <a:r>
              <a:rPr lang="zh-CN" altLang="en-US" sz="1200" dirty="0" smtClean="0"/>
              <a:t>。或</a:t>
            </a:r>
            <a:r>
              <a:rPr lang="zh-CN" altLang="en-US" sz="1200" dirty="0"/>
              <a:t>，正规招投标项目已经发标，且在上个月</a:t>
            </a:r>
            <a:r>
              <a:rPr lang="en-US" altLang="zh-CN" sz="1200" dirty="0"/>
              <a:t>15</a:t>
            </a:r>
            <a:r>
              <a:rPr lang="zh-CN" altLang="en-US" sz="1200" dirty="0"/>
              <a:t>号之前能中标，且在这个月要货的项目。或，</a:t>
            </a:r>
            <a:r>
              <a:rPr lang="en-US" altLang="zh-CN" sz="1200" dirty="0"/>
              <a:t>ICT</a:t>
            </a:r>
            <a:r>
              <a:rPr lang="zh-CN" altLang="en-US" sz="1200" dirty="0"/>
              <a:t>投融资</a:t>
            </a:r>
            <a:r>
              <a:rPr lang="en-US" altLang="zh-CN" sz="1200" dirty="0"/>
              <a:t>/</a:t>
            </a:r>
            <a:r>
              <a:rPr lang="zh-CN" altLang="en-US" sz="1200" dirty="0"/>
              <a:t>三头弱电项目投资商</a:t>
            </a:r>
            <a:r>
              <a:rPr lang="en-US" altLang="zh-CN" sz="1200" dirty="0"/>
              <a:t>/</a:t>
            </a:r>
            <a:r>
              <a:rPr lang="zh-CN" altLang="en-US" sz="1200" dirty="0"/>
              <a:t>弱电商与我司已经签订合同，且投资商</a:t>
            </a:r>
            <a:r>
              <a:rPr lang="en-US" altLang="zh-CN" sz="1200" dirty="0"/>
              <a:t>/</a:t>
            </a:r>
            <a:r>
              <a:rPr lang="zh-CN" altLang="en-US" sz="1200" dirty="0"/>
              <a:t>弱电商明确以邮件</a:t>
            </a:r>
            <a:r>
              <a:rPr lang="en-US" altLang="zh-CN" sz="1200" dirty="0"/>
              <a:t>/</a:t>
            </a:r>
            <a:r>
              <a:rPr lang="zh-CN" altLang="en-US" sz="1200" dirty="0"/>
              <a:t>微信等书面形式确认在这个月要货的项目。注意，</a:t>
            </a:r>
            <a:r>
              <a:rPr lang="en-US" altLang="zh-CN" sz="1200" dirty="0"/>
              <a:t>ICT</a:t>
            </a:r>
            <a:r>
              <a:rPr lang="zh-CN" altLang="en-US" sz="1200" dirty="0"/>
              <a:t>投融资</a:t>
            </a:r>
            <a:r>
              <a:rPr lang="en-US" altLang="zh-CN" sz="1200" dirty="0"/>
              <a:t>/</a:t>
            </a:r>
            <a:r>
              <a:rPr lang="zh-CN" altLang="en-US" sz="1200" dirty="0"/>
              <a:t>三头弱电项目，如果当前投资商</a:t>
            </a:r>
            <a:r>
              <a:rPr lang="en-US" altLang="zh-CN" sz="1200" dirty="0"/>
              <a:t>/</a:t>
            </a:r>
            <a:r>
              <a:rPr lang="zh-CN" altLang="en-US" sz="1200" dirty="0"/>
              <a:t>弱电商与我司尚未签订合同，不得做隔月预测</a:t>
            </a:r>
            <a:r>
              <a:rPr lang="zh-CN" altLang="en-US" sz="1200" dirty="0" smtClean="0"/>
              <a:t>。</a:t>
            </a:r>
            <a:endParaRPr lang="en-US" altLang="zh-CN" sz="1200" dirty="0" smtClean="0"/>
          </a:p>
          <a:p>
            <a:pPr marL="285750" indent="-285750">
              <a:buFont typeface="Arial" panose="020B0604020202020204" pitchFamily="34" charset="0"/>
              <a:buChar char="•"/>
            </a:pPr>
            <a:r>
              <a:rPr lang="zh-CN" altLang="en-US" sz="1200" b="1" dirty="0"/>
              <a:t>第三个</a:t>
            </a:r>
            <a:r>
              <a:rPr lang="en-US" altLang="zh-CN" sz="1200" b="1" dirty="0"/>
              <a:t>1</a:t>
            </a:r>
            <a:r>
              <a:rPr lang="zh-CN" altLang="en-US" sz="1200" b="1" dirty="0"/>
              <a:t>，</a:t>
            </a:r>
            <a:r>
              <a:rPr lang="zh-CN" altLang="en-US" sz="1200" dirty="0"/>
              <a:t>隔</a:t>
            </a:r>
            <a:r>
              <a:rPr lang="en-US" altLang="zh-CN" sz="1200" dirty="0"/>
              <a:t>2</a:t>
            </a:r>
            <a:r>
              <a:rPr lang="zh-CN" altLang="en-US" sz="1200" dirty="0"/>
              <a:t>月预测标准</a:t>
            </a:r>
            <a:r>
              <a:rPr lang="en-US" altLang="zh-CN" sz="1200" dirty="0" smtClean="0"/>
              <a:t>:</a:t>
            </a:r>
            <a:r>
              <a:rPr lang="zh-CN" altLang="en-US" sz="1200" dirty="0" smtClean="0"/>
              <a:t>正规</a:t>
            </a:r>
            <a:r>
              <a:rPr lang="zh-CN" altLang="en-US" sz="1200" dirty="0"/>
              <a:t>招投标项目已经中标，或</a:t>
            </a:r>
            <a:r>
              <a:rPr lang="en-US" altLang="zh-CN" sz="1200" dirty="0"/>
              <a:t>ICT</a:t>
            </a:r>
            <a:r>
              <a:rPr lang="zh-CN" altLang="en-US" sz="1200" dirty="0"/>
              <a:t>投融资</a:t>
            </a:r>
            <a:r>
              <a:rPr lang="en-US" altLang="zh-CN" sz="1200" dirty="0"/>
              <a:t>/</a:t>
            </a:r>
            <a:r>
              <a:rPr lang="zh-CN" altLang="en-US" sz="1200" dirty="0"/>
              <a:t>三头弱电项目必须是投资商</a:t>
            </a:r>
            <a:r>
              <a:rPr lang="en-US" altLang="zh-CN" sz="1200" dirty="0"/>
              <a:t>/</a:t>
            </a:r>
            <a:r>
              <a:rPr lang="zh-CN" altLang="en-US" sz="1200" dirty="0"/>
              <a:t>弱电商与我司签订合同，且计划在这个月要货</a:t>
            </a:r>
            <a:r>
              <a:rPr lang="zh-CN" altLang="en-US" sz="1200" dirty="0" smtClean="0"/>
              <a:t>。 </a:t>
            </a:r>
            <a:r>
              <a:rPr lang="zh-CN" altLang="en-US" sz="1200" dirty="0"/>
              <a:t>或，正规招投标项目已经递交招采部门，开始在走流程，且预估上个月</a:t>
            </a:r>
            <a:r>
              <a:rPr lang="en-US" altLang="zh-CN" sz="1200" dirty="0"/>
              <a:t>15</a:t>
            </a:r>
            <a:r>
              <a:rPr lang="zh-CN" altLang="en-US" sz="1200" dirty="0"/>
              <a:t>号之前能中标，且在这个月要货的项目</a:t>
            </a:r>
            <a:r>
              <a:rPr lang="zh-CN" altLang="en-US" sz="1200" dirty="0" smtClean="0"/>
              <a:t>。或</a:t>
            </a:r>
            <a:r>
              <a:rPr lang="zh-CN" altLang="en-US" sz="1200" dirty="0"/>
              <a:t>，</a:t>
            </a:r>
            <a:r>
              <a:rPr lang="en-US" altLang="zh-CN" sz="1200" dirty="0"/>
              <a:t>ICT</a:t>
            </a:r>
            <a:r>
              <a:rPr lang="zh-CN" altLang="en-US" sz="1200" dirty="0"/>
              <a:t>投融资项目投资方已经明确</a:t>
            </a:r>
            <a:r>
              <a:rPr lang="en-US" altLang="zh-CN" sz="1200" dirty="0"/>
              <a:t>/</a:t>
            </a:r>
            <a:r>
              <a:rPr lang="zh-CN" altLang="en-US" sz="1200" dirty="0"/>
              <a:t>中标，三头弱电项目必须是弱电商已经中标，在上个月</a:t>
            </a:r>
            <a:r>
              <a:rPr lang="en-US" altLang="zh-CN" sz="1200" dirty="0"/>
              <a:t>15</a:t>
            </a:r>
            <a:r>
              <a:rPr lang="zh-CN" altLang="en-US" sz="1200" dirty="0"/>
              <a:t>号之前能签订合同，且在这个月要贷的项目。</a:t>
            </a:r>
            <a:endParaRPr lang="en-US" altLang="zh-CN" sz="1200" dirty="0" smtClean="0"/>
          </a:p>
          <a:p>
            <a:pPr marL="285750" indent="-285750">
              <a:buFont typeface="Arial" panose="020B0604020202020204" pitchFamily="34" charset="0"/>
              <a:buChar char="•"/>
            </a:pPr>
            <a:endParaRPr lang="zh-CN" altLang="en-US" sz="1200" dirty="0" smtClean="0"/>
          </a:p>
        </p:txBody>
      </p:sp>
    </p:spTree>
    <p:extLst>
      <p:ext uri="{BB962C8B-B14F-4D97-AF65-F5344CB8AC3E}">
        <p14:creationId xmlns:p14="http://schemas.microsoft.com/office/powerpoint/2010/main" val="214357354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8289938" cy="495935"/>
          </a:xfrm>
        </p:spPr>
        <p:txBody>
          <a:bodyPr/>
          <a:lstStyle/>
          <a:p>
            <a:r>
              <a:rPr lang="zh-CN" altLang="en-US" dirty="0" smtClean="0"/>
              <a:t>举措</a:t>
            </a:r>
            <a:r>
              <a:rPr lang="en-US" altLang="zh-CN" dirty="0" smtClean="0"/>
              <a:t>1</a:t>
            </a:r>
            <a:r>
              <a:rPr lang="zh-CN" altLang="en-US" dirty="0" smtClean="0"/>
              <a:t>：销售预测流程和机制</a:t>
            </a:r>
            <a:r>
              <a:rPr lang="en-US" altLang="zh-CN" dirty="0" smtClean="0"/>
              <a:t>-</a:t>
            </a:r>
            <a:r>
              <a:rPr lang="zh-CN" altLang="en-US" dirty="0" smtClean="0"/>
              <a:t>达到目标的管理机制</a:t>
            </a:r>
            <a:endParaRPr lang="zh-CN" altLang="en-US" dirty="0"/>
          </a:p>
        </p:txBody>
      </p:sp>
      <p:sp>
        <p:nvSpPr>
          <p:cNvPr id="5" name="矩形 4"/>
          <p:cNvSpPr/>
          <p:nvPr/>
        </p:nvSpPr>
        <p:spPr>
          <a:xfrm>
            <a:off x="1032095" y="1720158"/>
            <a:ext cx="1131683" cy="15571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奖惩机制</a:t>
            </a:r>
            <a:endParaRPr lang="zh-CN" altLang="en-US" dirty="0"/>
          </a:p>
        </p:txBody>
      </p:sp>
      <p:sp>
        <p:nvSpPr>
          <p:cNvPr id="6" name="矩形 5"/>
          <p:cNvSpPr/>
          <p:nvPr/>
        </p:nvSpPr>
        <p:spPr>
          <a:xfrm>
            <a:off x="2317687" y="1720158"/>
            <a:ext cx="8745647" cy="155719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ysClr val="windowText" lastClr="000000"/>
                </a:solidFill>
              </a:rPr>
              <a:t>过程指标达成牵引</a:t>
            </a:r>
            <a:r>
              <a:rPr lang="zh-CN" altLang="en-US" dirty="0">
                <a:solidFill>
                  <a:sysClr val="windowText" lastClr="000000"/>
                </a:solidFill>
              </a:rPr>
              <a:t>：各个承诺预测指标准确率奖罚的通告</a:t>
            </a:r>
            <a:r>
              <a:rPr lang="en-US" altLang="zh-CN" dirty="0">
                <a:solidFill>
                  <a:sysClr val="windowText" lastClr="000000"/>
                </a:solidFill>
              </a:rPr>
              <a:t>-</a:t>
            </a:r>
            <a:r>
              <a:rPr lang="zh-CN" altLang="en-US" dirty="0">
                <a:solidFill>
                  <a:sysClr val="windowText" lastClr="000000"/>
                </a:solidFill>
              </a:rPr>
              <a:t>参考四绿激励及不质量惩处</a:t>
            </a:r>
          </a:p>
          <a:p>
            <a:r>
              <a:rPr lang="en-US" altLang="zh-CN" b="1" dirty="0">
                <a:solidFill>
                  <a:sysClr val="windowText" lastClr="000000"/>
                </a:solidFill>
              </a:rPr>
              <a:t>KPI</a:t>
            </a:r>
            <a:r>
              <a:rPr lang="zh-CN" altLang="en-US" b="1" dirty="0">
                <a:solidFill>
                  <a:sysClr val="windowText" lastClr="000000"/>
                </a:solidFill>
              </a:rPr>
              <a:t>牵引：</a:t>
            </a:r>
            <a:r>
              <a:rPr lang="zh-CN" altLang="en-US" dirty="0">
                <a:solidFill>
                  <a:sysClr val="windowText" lastClr="000000"/>
                </a:solidFill>
              </a:rPr>
              <a:t>参考</a:t>
            </a:r>
            <a:r>
              <a:rPr lang="en-US" altLang="zh-CN" dirty="0">
                <a:solidFill>
                  <a:sysClr val="windowText" lastClr="000000"/>
                </a:solidFill>
              </a:rPr>
              <a:t>24</a:t>
            </a:r>
            <a:r>
              <a:rPr lang="zh-CN" altLang="en-US" dirty="0">
                <a:solidFill>
                  <a:sysClr val="windowText" lastClr="000000"/>
                </a:solidFill>
              </a:rPr>
              <a:t>年作为区域经理级管理者</a:t>
            </a:r>
            <a:r>
              <a:rPr lang="en-US" altLang="zh-CN" dirty="0">
                <a:solidFill>
                  <a:sysClr val="windowText" lastClr="000000"/>
                </a:solidFill>
              </a:rPr>
              <a:t>KPI</a:t>
            </a:r>
            <a:r>
              <a:rPr lang="zh-CN" altLang="en-US" dirty="0">
                <a:solidFill>
                  <a:sysClr val="windowText" lastClr="000000"/>
                </a:solidFill>
              </a:rPr>
              <a:t>的一部分，占比</a:t>
            </a:r>
            <a:r>
              <a:rPr lang="en-US" altLang="zh-CN" dirty="0">
                <a:solidFill>
                  <a:sysClr val="windowText" lastClr="000000"/>
                </a:solidFill>
              </a:rPr>
              <a:t>10%</a:t>
            </a:r>
            <a:r>
              <a:rPr lang="zh-CN" altLang="en-US" dirty="0">
                <a:solidFill>
                  <a:sysClr val="windowText" lastClr="000000"/>
                </a:solidFill>
              </a:rPr>
              <a:t>，待</a:t>
            </a:r>
            <a:r>
              <a:rPr lang="zh-CN" altLang="en-US" dirty="0" smtClean="0">
                <a:solidFill>
                  <a:sysClr val="windowText" lastClr="000000"/>
                </a:solidFill>
              </a:rPr>
              <a:t>公司</a:t>
            </a:r>
            <a:r>
              <a:rPr lang="en-US" altLang="zh-CN" dirty="0" smtClean="0">
                <a:solidFill>
                  <a:sysClr val="windowText" lastClr="000000"/>
                </a:solidFill>
              </a:rPr>
              <a:t>KPI</a:t>
            </a:r>
            <a:r>
              <a:rPr lang="zh-CN" altLang="en-US" dirty="0" smtClean="0">
                <a:solidFill>
                  <a:sysClr val="windowText" lastClr="000000"/>
                </a:solidFill>
              </a:rPr>
              <a:t>发布</a:t>
            </a:r>
            <a:r>
              <a:rPr lang="zh-CN" altLang="en-US" dirty="0">
                <a:solidFill>
                  <a:sysClr val="windowText" lastClr="000000"/>
                </a:solidFill>
              </a:rPr>
              <a:t>后确定</a:t>
            </a:r>
          </a:p>
          <a:p>
            <a:r>
              <a:rPr lang="zh-CN" altLang="en-US" b="1" dirty="0">
                <a:solidFill>
                  <a:sysClr val="windowText" lastClr="000000"/>
                </a:solidFill>
              </a:rPr>
              <a:t>销售信用关联：</a:t>
            </a:r>
            <a:r>
              <a:rPr lang="zh-CN" altLang="en-US" b="1" dirty="0">
                <a:solidFill>
                  <a:schemeClr val="accent4">
                    <a:lumMod val="50000"/>
                  </a:schemeClr>
                </a:solidFill>
              </a:rPr>
              <a:t>明确细则后增补</a:t>
            </a:r>
            <a:endParaRPr lang="zh-CN" altLang="en-US" dirty="0">
              <a:solidFill>
                <a:schemeClr val="accent4">
                  <a:lumMod val="50000"/>
                </a:schemeClr>
              </a:solidFill>
            </a:endParaRPr>
          </a:p>
        </p:txBody>
      </p:sp>
      <p:sp>
        <p:nvSpPr>
          <p:cNvPr id="9" name="矩形 8"/>
          <p:cNvSpPr/>
          <p:nvPr/>
        </p:nvSpPr>
        <p:spPr>
          <a:xfrm>
            <a:off x="1032095" y="3594226"/>
            <a:ext cx="1131683" cy="15571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复盘机制</a:t>
            </a:r>
            <a:endParaRPr lang="zh-CN" altLang="en-US" dirty="0"/>
          </a:p>
        </p:txBody>
      </p:sp>
      <p:sp>
        <p:nvSpPr>
          <p:cNvPr id="11" name="矩形 10"/>
          <p:cNvSpPr/>
          <p:nvPr/>
        </p:nvSpPr>
        <p:spPr>
          <a:xfrm>
            <a:off x="2317687" y="3594225"/>
            <a:ext cx="8745648" cy="155719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chemeClr val="tx1"/>
                </a:solidFill>
              </a:rPr>
              <a:t>部门</a:t>
            </a:r>
            <a:r>
              <a:rPr lang="zh-CN" altLang="en-US" dirty="0">
                <a:solidFill>
                  <a:schemeClr val="tx1"/>
                </a:solidFill>
              </a:rPr>
              <a:t>：每月</a:t>
            </a:r>
            <a:r>
              <a:rPr lang="en-US" altLang="zh-CN" dirty="0">
                <a:solidFill>
                  <a:schemeClr val="tx1"/>
                </a:solidFill>
              </a:rPr>
              <a:t>20</a:t>
            </a:r>
            <a:r>
              <a:rPr lang="zh-CN" altLang="en-US" dirty="0">
                <a:solidFill>
                  <a:schemeClr val="tx1"/>
                </a:solidFill>
              </a:rPr>
              <a:t>日</a:t>
            </a:r>
            <a:r>
              <a:rPr lang="en-US" altLang="zh-CN" dirty="0">
                <a:solidFill>
                  <a:schemeClr val="tx1"/>
                </a:solidFill>
              </a:rPr>
              <a:t>-30</a:t>
            </a:r>
            <a:r>
              <a:rPr lang="zh-CN" altLang="en-US" dirty="0">
                <a:solidFill>
                  <a:schemeClr val="tx1"/>
                </a:solidFill>
              </a:rPr>
              <a:t>日专项组织复盘，针对当月不准的区域</a:t>
            </a:r>
            <a:r>
              <a:rPr lang="en-US" altLang="zh-CN" dirty="0">
                <a:solidFill>
                  <a:schemeClr val="tx1"/>
                </a:solidFill>
              </a:rPr>
              <a:t>/</a:t>
            </a:r>
            <a:r>
              <a:rPr lang="zh-CN" altLang="en-US" dirty="0">
                <a:solidFill>
                  <a:schemeClr val="tx1"/>
                </a:solidFill>
              </a:rPr>
              <a:t>个人，针对项目联合平台总张毅涌晖复盘，并持续做跟踪改善，连续三个月不准的区域联合育辉做复盘改善</a:t>
            </a:r>
          </a:p>
          <a:p>
            <a:r>
              <a:rPr lang="zh-CN" altLang="en-US" b="1" dirty="0">
                <a:solidFill>
                  <a:schemeClr val="tx1"/>
                </a:solidFill>
              </a:rPr>
              <a:t>区域</a:t>
            </a:r>
            <a:r>
              <a:rPr lang="zh-CN" altLang="en-US" dirty="0">
                <a:solidFill>
                  <a:schemeClr val="tx1"/>
                </a:solidFill>
              </a:rPr>
              <a:t>：每月例会，第一环节晾晒累计个人的预测准确率，及不准确的项目教训</a:t>
            </a:r>
          </a:p>
        </p:txBody>
      </p:sp>
    </p:spTree>
    <p:extLst>
      <p:ext uri="{BB962C8B-B14F-4D97-AF65-F5344CB8AC3E}">
        <p14:creationId xmlns:p14="http://schemas.microsoft.com/office/powerpoint/2010/main" val="369106220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8289938" cy="495935"/>
          </a:xfrm>
        </p:spPr>
        <p:txBody>
          <a:bodyPr/>
          <a:lstStyle/>
          <a:p>
            <a:r>
              <a:rPr lang="zh-CN" altLang="en-US" dirty="0" smtClean="0"/>
              <a:t>举措</a:t>
            </a:r>
            <a:r>
              <a:rPr lang="en-US" altLang="zh-CN" dirty="0" smtClean="0"/>
              <a:t>1</a:t>
            </a:r>
            <a:r>
              <a:rPr lang="zh-CN" altLang="en-US" dirty="0" smtClean="0"/>
              <a:t>：销售预测流程和机制</a:t>
            </a:r>
            <a:r>
              <a:rPr lang="en-US" altLang="zh-CN" dirty="0" smtClean="0"/>
              <a:t>-</a:t>
            </a:r>
            <a:r>
              <a:rPr lang="zh-CN" altLang="en-US" dirty="0" smtClean="0"/>
              <a:t>关键行动项</a:t>
            </a:r>
            <a:endParaRPr lang="zh-CN" altLang="en-US" dirty="0"/>
          </a:p>
        </p:txBody>
      </p:sp>
      <p:graphicFrame>
        <p:nvGraphicFramePr>
          <p:cNvPr id="3" name="表格 2"/>
          <p:cNvGraphicFramePr>
            <a:graphicFrameLocks noGrp="1"/>
          </p:cNvGraphicFramePr>
          <p:nvPr>
            <p:extLst>
              <p:ext uri="{D42A27DB-BD31-4B8C-83A1-F6EECF244321}">
                <p14:modId xmlns:p14="http://schemas.microsoft.com/office/powerpoint/2010/main" val="3560031432"/>
              </p:ext>
            </p:extLst>
          </p:nvPr>
        </p:nvGraphicFramePr>
        <p:xfrm>
          <a:off x="401389" y="974271"/>
          <a:ext cx="11431491" cy="5105310"/>
        </p:xfrm>
        <a:graphic>
          <a:graphicData uri="http://schemas.openxmlformats.org/drawingml/2006/table">
            <a:tbl>
              <a:tblPr/>
              <a:tblGrid>
                <a:gridCol w="1161661"/>
                <a:gridCol w="7472308"/>
                <a:gridCol w="1326026"/>
                <a:gridCol w="1471496"/>
              </a:tblGrid>
              <a:tr h="205191">
                <a:tc>
                  <a:txBody>
                    <a:bodyPr/>
                    <a:lstStyle/>
                    <a:p>
                      <a:pPr algn="ctr" fontAlgn="t"/>
                      <a:r>
                        <a:rPr lang="zh-CN" altLang="en-US" sz="1200" b="1" dirty="0">
                          <a:effectLst/>
                          <a:latin typeface="+mj-ea"/>
                          <a:ea typeface="+mj-ea"/>
                        </a:rPr>
                        <a:t>举措</a:t>
                      </a:r>
                      <a:endParaRPr lang="zh-CN" altLang="en-US" sz="1200" dirty="0">
                        <a:effectLst/>
                        <a:latin typeface="+mj-ea"/>
                        <a:ea typeface="+mj-ea"/>
                      </a:endParaRP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solidFill>
                      <a:srgbClr val="F0F4FF"/>
                    </a:solidFill>
                  </a:tcPr>
                </a:tc>
                <a:tc>
                  <a:txBody>
                    <a:bodyPr/>
                    <a:lstStyle/>
                    <a:p>
                      <a:pPr algn="ctr" fontAlgn="t"/>
                      <a:r>
                        <a:rPr lang="zh-CN" altLang="en-US" sz="1200" b="1">
                          <a:effectLst/>
                          <a:latin typeface="+mj-ea"/>
                          <a:ea typeface="+mj-ea"/>
                        </a:rPr>
                        <a:t>行动项</a:t>
                      </a:r>
                      <a:endParaRPr lang="zh-CN" altLang="en-US" sz="1200">
                        <a:effectLst/>
                        <a:latin typeface="+mj-ea"/>
                        <a:ea typeface="+mj-ea"/>
                      </a:endParaRP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solidFill>
                      <a:srgbClr val="F0F4FF"/>
                    </a:solidFill>
                  </a:tcPr>
                </a:tc>
                <a:tc>
                  <a:txBody>
                    <a:bodyPr/>
                    <a:lstStyle/>
                    <a:p>
                      <a:pPr algn="ctr" fontAlgn="ctr"/>
                      <a:r>
                        <a:rPr lang="zh-CN" altLang="en-US" sz="1200" b="1" dirty="0">
                          <a:effectLst/>
                          <a:latin typeface="+mj-ea"/>
                          <a:ea typeface="+mj-ea"/>
                        </a:rPr>
                        <a:t>完成时间</a:t>
                      </a:r>
                      <a:endParaRPr lang="zh-CN" altLang="en-US" sz="1200" dirty="0">
                        <a:effectLst/>
                        <a:latin typeface="+mj-ea"/>
                        <a:ea typeface="+mj-ea"/>
                      </a:endParaRP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solidFill>
                      <a:srgbClr val="F0F4FF"/>
                    </a:solidFill>
                  </a:tcPr>
                </a:tc>
                <a:tc>
                  <a:txBody>
                    <a:bodyPr/>
                    <a:lstStyle/>
                    <a:p>
                      <a:pPr algn="ctr" fontAlgn="t"/>
                      <a:r>
                        <a:rPr lang="zh-CN" altLang="en-US" sz="1200" b="1">
                          <a:effectLst/>
                          <a:latin typeface="+mj-ea"/>
                          <a:ea typeface="+mj-ea"/>
                        </a:rPr>
                        <a:t>责任人</a:t>
                      </a:r>
                      <a:endParaRPr lang="zh-CN" altLang="en-US" sz="1200">
                        <a:effectLst/>
                        <a:latin typeface="+mj-ea"/>
                        <a:ea typeface="+mj-ea"/>
                      </a:endParaRP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solidFill>
                      <a:srgbClr val="F0F4FF"/>
                    </a:solidFill>
                  </a:tcPr>
                </a:tc>
              </a:tr>
              <a:tr h="498320">
                <a:tc rowSpan="6">
                  <a:txBody>
                    <a:bodyPr/>
                    <a:lstStyle/>
                    <a:p>
                      <a:pPr algn="ctr" fontAlgn="ctr"/>
                      <a:r>
                        <a:rPr lang="zh-CN" altLang="en-US" sz="1200" b="1" dirty="0">
                          <a:effectLst/>
                          <a:latin typeface="+mj-ea"/>
                          <a:ea typeface="+mj-ea"/>
                        </a:rPr>
                        <a:t>关键管控点</a:t>
                      </a:r>
                      <a:r>
                        <a:rPr lang="en-US" altLang="zh-CN" sz="1200" b="1" dirty="0">
                          <a:effectLst/>
                          <a:latin typeface="+mj-ea"/>
                          <a:ea typeface="+mj-ea"/>
                        </a:rPr>
                        <a:t>-</a:t>
                      </a:r>
                      <a:r>
                        <a:rPr lang="en-US" sz="1200" b="1" dirty="0">
                          <a:effectLst/>
                          <a:latin typeface="+mj-ea"/>
                          <a:ea typeface="+mj-ea"/>
                        </a:rPr>
                        <a:t>KCP</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l" fontAlgn="ctr"/>
                      <a:r>
                        <a:rPr lang="en-US" altLang="zh-CN" sz="1200" dirty="0">
                          <a:effectLst/>
                          <a:latin typeface="+mj-ea"/>
                          <a:ea typeface="+mj-ea"/>
                        </a:rPr>
                        <a:t>KCP1</a:t>
                      </a:r>
                      <a:r>
                        <a:rPr lang="zh-CN" altLang="en-US" sz="1200" dirty="0">
                          <a:effectLst/>
                          <a:latin typeface="+mj-ea"/>
                          <a:ea typeface="+mj-ea"/>
                        </a:rPr>
                        <a:t>：做隔两个月预测干预</a:t>
                      </a:r>
                    </a:p>
                    <a:p>
                      <a:pPr algn="l" fontAlgn="ctr"/>
                      <a:r>
                        <a:rPr lang="zh-CN" altLang="en-US" sz="1200" dirty="0">
                          <a:effectLst/>
                          <a:latin typeface="+mj-ea"/>
                          <a:ea typeface="+mj-ea"/>
                        </a:rPr>
                        <a:t>控制符合标准的比例小于</a:t>
                      </a:r>
                      <a:r>
                        <a:rPr lang="en-US" altLang="zh-CN" sz="1200" dirty="0">
                          <a:effectLst/>
                          <a:latin typeface="+mj-ea"/>
                          <a:ea typeface="+mj-ea"/>
                        </a:rPr>
                        <a:t>40%</a:t>
                      </a:r>
                      <a:r>
                        <a:rPr lang="zh-CN" altLang="en-US" sz="1200" dirty="0">
                          <a:effectLst/>
                          <a:latin typeface="+mj-ea"/>
                          <a:ea typeface="+mj-ea"/>
                        </a:rPr>
                        <a:t>，超过</a:t>
                      </a:r>
                      <a:r>
                        <a:rPr lang="en-US" altLang="zh-CN" sz="1200" dirty="0">
                          <a:effectLst/>
                          <a:latin typeface="+mj-ea"/>
                          <a:ea typeface="+mj-ea"/>
                        </a:rPr>
                        <a:t>40%</a:t>
                      </a:r>
                      <a:r>
                        <a:rPr lang="zh-CN" altLang="en-US" sz="1200" dirty="0">
                          <a:effectLst/>
                          <a:latin typeface="+mj-ea"/>
                          <a:ea typeface="+mj-ea"/>
                        </a:rPr>
                        <a:t>的项目评估风险拦截</a:t>
                      </a:r>
                      <a:r>
                        <a:rPr lang="en-US" altLang="zh-CN" sz="1200" dirty="0">
                          <a:effectLst/>
                          <a:latin typeface="+mj-ea"/>
                          <a:ea typeface="+mj-ea"/>
                        </a:rPr>
                        <a:t>/</a:t>
                      </a:r>
                      <a:r>
                        <a:rPr lang="zh-CN" altLang="en-US" sz="1200" dirty="0">
                          <a:effectLst/>
                          <a:latin typeface="+mj-ea"/>
                          <a:ea typeface="+mj-ea"/>
                        </a:rPr>
                        <a:t>说明准入</a:t>
                      </a:r>
                      <a:r>
                        <a:rPr lang="zh-CN" altLang="en-US" sz="1200" dirty="0" smtClean="0">
                          <a:effectLst/>
                          <a:latin typeface="+mj-ea"/>
                          <a:ea typeface="+mj-ea"/>
                        </a:rPr>
                        <a:t>原因</a:t>
                      </a:r>
                      <a:endParaRPr lang="zh-CN" altLang="en-US" sz="1200" dirty="0">
                        <a:effectLst/>
                        <a:latin typeface="+mj-ea"/>
                        <a:ea typeface="+mj-ea"/>
                      </a:endParaRP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ctr"/>
                      <a:r>
                        <a:rPr lang="zh-CN" altLang="en-US" sz="1200" dirty="0">
                          <a:effectLst/>
                          <a:latin typeface="+mj-ea"/>
                          <a:ea typeface="+mj-ea"/>
                        </a:rPr>
                        <a:t>每月</a:t>
                      </a:r>
                      <a:r>
                        <a:rPr lang="en-US" altLang="zh-CN" sz="1200" dirty="0">
                          <a:effectLst/>
                          <a:latin typeface="+mj-ea"/>
                          <a:ea typeface="+mj-ea"/>
                        </a:rPr>
                        <a:t>16</a:t>
                      </a:r>
                      <a:r>
                        <a:rPr lang="zh-CN" altLang="en-US" sz="1200" dirty="0">
                          <a:effectLst/>
                          <a:latin typeface="+mj-ea"/>
                          <a:ea typeface="+mj-ea"/>
                        </a:rPr>
                        <a:t>日</a:t>
                      </a:r>
                      <a:r>
                        <a:rPr lang="en-US" altLang="zh-CN" sz="1200" dirty="0">
                          <a:effectLst/>
                          <a:latin typeface="+mj-ea"/>
                          <a:ea typeface="+mj-ea"/>
                        </a:rPr>
                        <a:t>-18</a:t>
                      </a:r>
                      <a:r>
                        <a:rPr lang="zh-CN" altLang="en-US" sz="1200" dirty="0" smtClean="0">
                          <a:effectLst/>
                          <a:latin typeface="+mj-ea"/>
                          <a:ea typeface="+mj-ea"/>
                        </a:rPr>
                        <a:t>日</a:t>
                      </a:r>
                      <a:endParaRPr lang="zh-CN" altLang="en-US" sz="1200" dirty="0">
                        <a:effectLst/>
                        <a:latin typeface="+mj-ea"/>
                        <a:ea typeface="+mj-ea"/>
                      </a:endParaRP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t"/>
                      <a:r>
                        <a:rPr lang="zh-CN" altLang="en-US" sz="1200" dirty="0">
                          <a:effectLst/>
                          <a:latin typeface="+mj-ea"/>
                          <a:ea typeface="+mj-ea"/>
                        </a:rPr>
                        <a:t>区域</a:t>
                      </a:r>
                      <a:r>
                        <a:rPr lang="zh-CN" altLang="en-US" sz="1200" dirty="0" smtClean="0">
                          <a:effectLst/>
                          <a:latin typeface="+mj-ea"/>
                          <a:ea typeface="+mj-ea"/>
                        </a:rPr>
                        <a:t>经理、运营</a:t>
                      </a:r>
                      <a:r>
                        <a:rPr lang="en-US" altLang="zh-CN" sz="1200" dirty="0" smtClean="0">
                          <a:effectLst/>
                          <a:latin typeface="+mj-ea"/>
                          <a:ea typeface="+mj-ea"/>
                        </a:rPr>
                        <a:t>BP</a:t>
                      </a:r>
                      <a:r>
                        <a:rPr lang="zh-CN" altLang="en-US" sz="1200" dirty="0" smtClean="0">
                          <a:effectLst/>
                          <a:latin typeface="+mj-ea"/>
                          <a:ea typeface="+mj-ea"/>
                        </a:rPr>
                        <a:t>、销售</a:t>
                      </a:r>
                      <a:endParaRPr lang="zh-CN" altLang="en-US" sz="1200" dirty="0">
                        <a:effectLst/>
                        <a:latin typeface="+mj-ea"/>
                        <a:ea typeface="+mj-ea"/>
                      </a:endParaRP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r>
              <a:tr h="425038">
                <a:tc vMerge="1">
                  <a:txBody>
                    <a:bodyPr/>
                    <a:lstStyle/>
                    <a:p>
                      <a:endParaRPr lang="zh-CN" altLang="en-US"/>
                    </a:p>
                  </a:txBody>
                  <a:tcPr/>
                </a:tc>
                <a:tc>
                  <a:txBody>
                    <a:bodyPr/>
                    <a:lstStyle/>
                    <a:p>
                      <a:pPr algn="l" fontAlgn="ctr"/>
                      <a:r>
                        <a:rPr lang="en-US" altLang="zh-CN" sz="1200" dirty="0">
                          <a:effectLst/>
                          <a:latin typeface="+mj-ea"/>
                          <a:ea typeface="+mj-ea"/>
                        </a:rPr>
                        <a:t>KCP2</a:t>
                      </a:r>
                      <a:r>
                        <a:rPr lang="zh-CN" altLang="en-US" sz="1200" dirty="0">
                          <a:effectLst/>
                          <a:latin typeface="+mj-ea"/>
                          <a:ea typeface="+mj-ea"/>
                        </a:rPr>
                        <a:t>：隔两个月预测转隔月预测干预</a:t>
                      </a:r>
                    </a:p>
                    <a:p>
                      <a:pPr algn="l" fontAlgn="ctr"/>
                      <a:r>
                        <a:rPr lang="zh-CN" altLang="en-US" sz="1200" dirty="0">
                          <a:effectLst/>
                          <a:latin typeface="+mj-ea"/>
                          <a:ea typeface="+mj-ea"/>
                        </a:rPr>
                        <a:t>控制符合标准的比例小于</a:t>
                      </a:r>
                      <a:r>
                        <a:rPr lang="en-US" altLang="zh-CN" sz="1200" dirty="0">
                          <a:effectLst/>
                          <a:latin typeface="+mj-ea"/>
                          <a:ea typeface="+mj-ea"/>
                        </a:rPr>
                        <a:t>40%</a:t>
                      </a:r>
                      <a:r>
                        <a:rPr lang="zh-CN" altLang="en-US" sz="1200" dirty="0">
                          <a:effectLst/>
                          <a:latin typeface="+mj-ea"/>
                          <a:ea typeface="+mj-ea"/>
                        </a:rPr>
                        <a:t>，超过</a:t>
                      </a:r>
                      <a:r>
                        <a:rPr lang="en-US" altLang="zh-CN" sz="1200" dirty="0">
                          <a:effectLst/>
                          <a:latin typeface="+mj-ea"/>
                          <a:ea typeface="+mj-ea"/>
                        </a:rPr>
                        <a:t>40%</a:t>
                      </a:r>
                      <a:r>
                        <a:rPr lang="zh-CN" altLang="en-US" sz="1200" dirty="0">
                          <a:effectLst/>
                          <a:latin typeface="+mj-ea"/>
                          <a:ea typeface="+mj-ea"/>
                        </a:rPr>
                        <a:t>的项目评估风险拦截</a:t>
                      </a:r>
                      <a:r>
                        <a:rPr lang="en-US" altLang="zh-CN" sz="1200" dirty="0">
                          <a:effectLst/>
                          <a:latin typeface="+mj-ea"/>
                          <a:ea typeface="+mj-ea"/>
                        </a:rPr>
                        <a:t>/</a:t>
                      </a:r>
                      <a:r>
                        <a:rPr lang="zh-CN" altLang="en-US" sz="1200" dirty="0">
                          <a:effectLst/>
                          <a:latin typeface="+mj-ea"/>
                          <a:ea typeface="+mj-ea"/>
                        </a:rPr>
                        <a:t>说明准入原因</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ctr"/>
                      <a:r>
                        <a:rPr lang="zh-CN" altLang="en-US" sz="1200">
                          <a:effectLst/>
                          <a:latin typeface="+mj-ea"/>
                          <a:ea typeface="+mj-ea"/>
                        </a:rPr>
                        <a:t>每月</a:t>
                      </a:r>
                      <a:r>
                        <a:rPr lang="en-US" altLang="zh-CN" sz="1200">
                          <a:effectLst/>
                          <a:latin typeface="+mj-ea"/>
                          <a:ea typeface="+mj-ea"/>
                        </a:rPr>
                        <a:t>16</a:t>
                      </a:r>
                      <a:r>
                        <a:rPr lang="zh-CN" altLang="en-US" sz="1200">
                          <a:effectLst/>
                          <a:latin typeface="+mj-ea"/>
                          <a:ea typeface="+mj-ea"/>
                        </a:rPr>
                        <a:t>日</a:t>
                      </a:r>
                      <a:r>
                        <a:rPr lang="en-US" altLang="zh-CN" sz="1200">
                          <a:effectLst/>
                          <a:latin typeface="+mj-ea"/>
                          <a:ea typeface="+mj-ea"/>
                        </a:rPr>
                        <a:t>-18</a:t>
                      </a:r>
                      <a:r>
                        <a:rPr lang="zh-CN" altLang="en-US" sz="1200">
                          <a:effectLst/>
                          <a:latin typeface="+mj-ea"/>
                          <a:ea typeface="+mj-ea"/>
                        </a:rPr>
                        <a:t>日</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t"/>
                      <a:r>
                        <a:rPr lang="zh-CN" altLang="en-US" sz="1200" dirty="0">
                          <a:effectLst/>
                          <a:latin typeface="+mj-ea"/>
                          <a:ea typeface="+mj-ea"/>
                        </a:rPr>
                        <a:t>区域</a:t>
                      </a:r>
                      <a:r>
                        <a:rPr lang="zh-CN" altLang="en-US" sz="1200" dirty="0" smtClean="0">
                          <a:effectLst/>
                          <a:latin typeface="+mj-ea"/>
                          <a:ea typeface="+mj-ea"/>
                        </a:rPr>
                        <a:t>经理、运营</a:t>
                      </a:r>
                      <a:r>
                        <a:rPr lang="en-US" altLang="zh-CN" sz="1200" dirty="0" smtClean="0">
                          <a:effectLst/>
                          <a:latin typeface="+mj-ea"/>
                          <a:ea typeface="+mj-ea"/>
                        </a:rPr>
                        <a:t>BP</a:t>
                      </a:r>
                      <a:r>
                        <a:rPr lang="zh-CN" altLang="en-US" sz="1200" dirty="0" smtClean="0">
                          <a:effectLst/>
                          <a:latin typeface="+mj-ea"/>
                          <a:ea typeface="+mj-ea"/>
                        </a:rPr>
                        <a:t>、销售</a:t>
                      </a:r>
                      <a:endParaRPr lang="zh-CN" altLang="en-US" sz="1200" dirty="0">
                        <a:effectLst/>
                        <a:latin typeface="+mj-ea"/>
                        <a:ea typeface="+mj-ea"/>
                      </a:endParaRP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r>
              <a:tr h="467092">
                <a:tc vMerge="1">
                  <a:txBody>
                    <a:bodyPr/>
                    <a:lstStyle/>
                    <a:p>
                      <a:endParaRPr lang="zh-CN" altLang="en-US"/>
                    </a:p>
                  </a:txBody>
                  <a:tcPr/>
                </a:tc>
                <a:tc>
                  <a:txBody>
                    <a:bodyPr/>
                    <a:lstStyle/>
                    <a:p>
                      <a:pPr algn="l" fontAlgn="ctr"/>
                      <a:r>
                        <a:rPr lang="en-US" altLang="zh-CN" sz="1200" dirty="0">
                          <a:effectLst/>
                          <a:latin typeface="+mj-ea"/>
                          <a:ea typeface="+mj-ea"/>
                        </a:rPr>
                        <a:t>KCP3</a:t>
                      </a:r>
                      <a:r>
                        <a:rPr lang="zh-CN" altLang="en-US" sz="1200" dirty="0">
                          <a:effectLst/>
                          <a:latin typeface="+mj-ea"/>
                          <a:ea typeface="+mj-ea"/>
                        </a:rPr>
                        <a:t>：隔月预测当月转承诺干预</a:t>
                      </a:r>
                    </a:p>
                    <a:p>
                      <a:pPr algn="l" fontAlgn="ctr"/>
                      <a:r>
                        <a:rPr lang="zh-CN" altLang="en-US" sz="1200" dirty="0">
                          <a:effectLst/>
                          <a:latin typeface="+mj-ea"/>
                          <a:ea typeface="+mj-ea"/>
                        </a:rPr>
                        <a:t>未预测的项目，如果客户不着急要货尽量拦截不要做</a:t>
                      </a:r>
                      <a:r>
                        <a:rPr lang="zh-CN" altLang="en-US" sz="1200" dirty="0" smtClean="0">
                          <a:effectLst/>
                          <a:latin typeface="+mj-ea"/>
                          <a:ea typeface="+mj-ea"/>
                        </a:rPr>
                        <a:t>承诺</a:t>
                      </a:r>
                      <a:endParaRPr lang="zh-CN" altLang="en-US" sz="1200" dirty="0">
                        <a:effectLst/>
                        <a:latin typeface="+mj-ea"/>
                        <a:ea typeface="+mj-ea"/>
                      </a:endParaRP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ctr"/>
                      <a:r>
                        <a:rPr lang="zh-CN" altLang="en-US" sz="1200" dirty="0">
                          <a:effectLst/>
                          <a:latin typeface="+mj-ea"/>
                          <a:ea typeface="+mj-ea"/>
                        </a:rPr>
                        <a:t>每月</a:t>
                      </a:r>
                      <a:r>
                        <a:rPr lang="en-US" altLang="zh-CN" sz="1200" dirty="0">
                          <a:effectLst/>
                          <a:latin typeface="+mj-ea"/>
                          <a:ea typeface="+mj-ea"/>
                        </a:rPr>
                        <a:t>16</a:t>
                      </a:r>
                      <a:r>
                        <a:rPr lang="zh-CN" altLang="en-US" sz="1200" dirty="0">
                          <a:effectLst/>
                          <a:latin typeface="+mj-ea"/>
                          <a:ea typeface="+mj-ea"/>
                        </a:rPr>
                        <a:t>日</a:t>
                      </a:r>
                      <a:r>
                        <a:rPr lang="en-US" altLang="zh-CN" sz="1200" dirty="0">
                          <a:effectLst/>
                          <a:latin typeface="+mj-ea"/>
                          <a:ea typeface="+mj-ea"/>
                        </a:rPr>
                        <a:t>-18</a:t>
                      </a:r>
                      <a:r>
                        <a:rPr lang="zh-CN" altLang="en-US" sz="1200" dirty="0">
                          <a:effectLst/>
                          <a:latin typeface="+mj-ea"/>
                          <a:ea typeface="+mj-ea"/>
                        </a:rPr>
                        <a:t>日</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t"/>
                      <a:r>
                        <a:rPr lang="zh-CN" altLang="en-US" sz="1200" dirty="0">
                          <a:effectLst/>
                          <a:latin typeface="+mj-ea"/>
                          <a:ea typeface="+mj-ea"/>
                        </a:rPr>
                        <a:t>区域</a:t>
                      </a:r>
                      <a:r>
                        <a:rPr lang="zh-CN" altLang="en-US" sz="1200" dirty="0" smtClean="0">
                          <a:effectLst/>
                          <a:latin typeface="+mj-ea"/>
                          <a:ea typeface="+mj-ea"/>
                        </a:rPr>
                        <a:t>经理、运营</a:t>
                      </a:r>
                      <a:r>
                        <a:rPr lang="en-US" altLang="zh-CN" sz="1200" dirty="0" smtClean="0">
                          <a:effectLst/>
                          <a:latin typeface="+mj-ea"/>
                          <a:ea typeface="+mj-ea"/>
                        </a:rPr>
                        <a:t>BP</a:t>
                      </a:r>
                      <a:r>
                        <a:rPr lang="zh-CN" altLang="en-US" sz="1200" dirty="0" smtClean="0">
                          <a:effectLst/>
                          <a:latin typeface="+mj-ea"/>
                          <a:ea typeface="+mj-ea"/>
                        </a:rPr>
                        <a:t>、销售</a:t>
                      </a:r>
                      <a:endParaRPr lang="zh-CN" altLang="en-US" sz="1200" dirty="0">
                        <a:effectLst/>
                        <a:latin typeface="+mj-ea"/>
                        <a:ea typeface="+mj-ea"/>
                      </a:endParaRP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r>
              <a:tr h="425038">
                <a:tc vMerge="1">
                  <a:txBody>
                    <a:bodyPr/>
                    <a:lstStyle/>
                    <a:p>
                      <a:endParaRPr lang="zh-CN" altLang="en-US"/>
                    </a:p>
                  </a:txBody>
                  <a:tcPr/>
                </a:tc>
                <a:tc>
                  <a:txBody>
                    <a:bodyPr/>
                    <a:lstStyle/>
                    <a:p>
                      <a:pPr algn="l" fontAlgn="ctr"/>
                      <a:r>
                        <a:rPr lang="zh-CN" altLang="en-US" sz="1200" dirty="0">
                          <a:effectLst/>
                          <a:latin typeface="+mj-ea"/>
                          <a:ea typeface="+mj-ea"/>
                        </a:rPr>
                        <a:t>专项负责人与区域经理共识调出项目，并确人不符合标准比例、项目风险情况</a:t>
                      </a:r>
                    </a:p>
                    <a:p>
                      <a:pPr algn="l" fontAlgn="ctr"/>
                      <a:r>
                        <a:rPr lang="zh-CN" altLang="en-US" sz="1200" dirty="0">
                          <a:effectLst/>
                          <a:latin typeface="+mj-ea"/>
                          <a:ea typeface="+mj-ea"/>
                        </a:rPr>
                        <a:t>汇总风险项目清单预警给平台总、何平</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ctr"/>
                      <a:r>
                        <a:rPr lang="zh-CN" altLang="en-US" sz="1200">
                          <a:effectLst/>
                          <a:latin typeface="+mj-ea"/>
                          <a:ea typeface="+mj-ea"/>
                        </a:rPr>
                        <a:t>每月</a:t>
                      </a:r>
                      <a:r>
                        <a:rPr lang="en-US" altLang="zh-CN" sz="1200">
                          <a:effectLst/>
                          <a:latin typeface="+mj-ea"/>
                          <a:ea typeface="+mj-ea"/>
                        </a:rPr>
                        <a:t>19</a:t>
                      </a:r>
                      <a:r>
                        <a:rPr lang="zh-CN" altLang="en-US" sz="1200">
                          <a:effectLst/>
                          <a:latin typeface="+mj-ea"/>
                          <a:ea typeface="+mj-ea"/>
                        </a:rPr>
                        <a:t>日</a:t>
                      </a:r>
                      <a:r>
                        <a:rPr lang="en-US" altLang="zh-CN" sz="1200">
                          <a:effectLst/>
                          <a:latin typeface="+mj-ea"/>
                          <a:ea typeface="+mj-ea"/>
                        </a:rPr>
                        <a:t>-20</a:t>
                      </a:r>
                      <a:r>
                        <a:rPr lang="zh-CN" altLang="en-US" sz="1200">
                          <a:effectLst/>
                          <a:latin typeface="+mj-ea"/>
                          <a:ea typeface="+mj-ea"/>
                        </a:rPr>
                        <a:t>日</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t"/>
                      <a:r>
                        <a:rPr lang="zh-CN" altLang="en-US" sz="1200" dirty="0" smtClean="0">
                          <a:effectLst/>
                          <a:latin typeface="+mj-ea"/>
                          <a:ea typeface="+mj-ea"/>
                        </a:rPr>
                        <a:t>张萌、区域</a:t>
                      </a:r>
                      <a:r>
                        <a:rPr lang="zh-CN" altLang="en-US" sz="1200" dirty="0">
                          <a:effectLst/>
                          <a:latin typeface="+mj-ea"/>
                          <a:ea typeface="+mj-ea"/>
                        </a:rPr>
                        <a:t>经理</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r>
              <a:tr h="0">
                <a:tc vMerge="1">
                  <a:txBody>
                    <a:bodyPr/>
                    <a:lstStyle/>
                    <a:p>
                      <a:endParaRPr lang="zh-CN" altLang="en-US"/>
                    </a:p>
                  </a:txBody>
                  <a:tcPr/>
                </a:tc>
                <a:tc>
                  <a:txBody>
                    <a:bodyPr/>
                    <a:lstStyle/>
                    <a:p>
                      <a:pPr algn="l" fontAlgn="ctr"/>
                      <a:r>
                        <a:rPr lang="zh-CN" altLang="en-US" sz="1200" dirty="0">
                          <a:effectLst/>
                          <a:latin typeface="+mj-ea"/>
                          <a:ea typeface="+mj-ea"/>
                        </a:rPr>
                        <a:t>风险项目决策准</a:t>
                      </a:r>
                      <a:r>
                        <a:rPr lang="zh-CN" altLang="en-US" sz="1200" dirty="0" smtClean="0">
                          <a:effectLst/>
                          <a:latin typeface="+mj-ea"/>
                          <a:ea typeface="+mj-ea"/>
                        </a:rPr>
                        <a:t>入</a:t>
                      </a:r>
                      <a:endParaRPr lang="zh-CN" altLang="en-US" sz="1200" dirty="0">
                        <a:effectLst/>
                        <a:latin typeface="+mj-ea"/>
                        <a:ea typeface="+mj-ea"/>
                      </a:endParaRP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ctr"/>
                      <a:r>
                        <a:rPr lang="zh-CN" altLang="en-US" sz="1200" dirty="0">
                          <a:effectLst/>
                          <a:latin typeface="+mj-ea"/>
                          <a:ea typeface="+mj-ea"/>
                        </a:rPr>
                        <a:t>每月</a:t>
                      </a:r>
                      <a:r>
                        <a:rPr lang="en-US" altLang="zh-CN" sz="1200" dirty="0">
                          <a:effectLst/>
                          <a:latin typeface="+mj-ea"/>
                          <a:ea typeface="+mj-ea"/>
                        </a:rPr>
                        <a:t>20</a:t>
                      </a:r>
                      <a:r>
                        <a:rPr lang="zh-CN" altLang="en-US" sz="1200" dirty="0">
                          <a:effectLst/>
                          <a:latin typeface="+mj-ea"/>
                          <a:ea typeface="+mj-ea"/>
                        </a:rPr>
                        <a:t>日</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t"/>
                      <a:r>
                        <a:rPr lang="zh-CN" altLang="en-US" sz="1200" dirty="0">
                          <a:effectLst/>
                          <a:latin typeface="+mj-ea"/>
                          <a:ea typeface="+mj-ea"/>
                        </a:rPr>
                        <a:t>张萌、张毅、陈涌晖、</a:t>
                      </a:r>
                      <a:r>
                        <a:rPr lang="en-US" altLang="zh-CN" sz="1200" dirty="0">
                          <a:effectLst/>
                          <a:latin typeface="+mj-ea"/>
                          <a:ea typeface="+mj-ea"/>
                        </a:rPr>
                        <a:t>LV</a:t>
                      </a:r>
                      <a:r>
                        <a:rPr lang="zh-CN" altLang="en-US" sz="1200" dirty="0">
                          <a:effectLst/>
                          <a:latin typeface="+mj-ea"/>
                          <a:ea typeface="+mj-ea"/>
                        </a:rPr>
                        <a:t>、何平</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r>
              <a:tr h="425943">
                <a:tc vMerge="1">
                  <a:txBody>
                    <a:bodyPr/>
                    <a:lstStyle/>
                    <a:p>
                      <a:endParaRPr lang="zh-CN" altLang="en-US"/>
                    </a:p>
                  </a:txBody>
                  <a:tcPr/>
                </a:tc>
                <a:tc>
                  <a:txBody>
                    <a:bodyPr/>
                    <a:lstStyle/>
                    <a:p>
                      <a:pPr algn="l" fontAlgn="ctr"/>
                      <a:r>
                        <a:rPr lang="en-US" altLang="zh-CN" sz="1200" dirty="0">
                          <a:effectLst/>
                          <a:latin typeface="+mj-ea"/>
                          <a:ea typeface="+mj-ea"/>
                        </a:rPr>
                        <a:t>KCP4</a:t>
                      </a:r>
                      <a:r>
                        <a:rPr lang="zh-CN" altLang="en-US" sz="1200" dirty="0">
                          <a:effectLst/>
                          <a:latin typeface="+mj-ea"/>
                          <a:ea typeface="+mj-ea"/>
                        </a:rPr>
                        <a:t>：未承诺下单干预</a:t>
                      </a:r>
                    </a:p>
                    <a:p>
                      <a:pPr algn="l" fontAlgn="ctr"/>
                      <a:r>
                        <a:rPr lang="zh-CN" altLang="en-US" sz="1200" dirty="0">
                          <a:effectLst/>
                          <a:latin typeface="+mj-ea"/>
                          <a:ea typeface="+mj-ea"/>
                        </a:rPr>
                        <a:t>承诺</a:t>
                      </a:r>
                      <a:r>
                        <a:rPr lang="en-US" altLang="zh-CN" sz="1200" dirty="0">
                          <a:effectLst/>
                          <a:latin typeface="+mj-ea"/>
                          <a:ea typeface="+mj-ea"/>
                        </a:rPr>
                        <a:t>&amp;</a:t>
                      </a:r>
                      <a:r>
                        <a:rPr lang="zh-CN" altLang="en-US" sz="1200" dirty="0">
                          <a:effectLst/>
                          <a:latin typeface="+mj-ea"/>
                          <a:ea typeface="+mj-ea"/>
                        </a:rPr>
                        <a:t>未预测的项目，重点关注</a:t>
                      </a:r>
                      <a:r>
                        <a:rPr lang="en-US" altLang="zh-CN" sz="1200" dirty="0">
                          <a:effectLst/>
                          <a:latin typeface="+mj-ea"/>
                          <a:ea typeface="+mj-ea"/>
                        </a:rPr>
                        <a:t>15-20</a:t>
                      </a:r>
                      <a:r>
                        <a:rPr lang="zh-CN" altLang="en-US" sz="1200" dirty="0">
                          <a:effectLst/>
                          <a:latin typeface="+mj-ea"/>
                          <a:ea typeface="+mj-ea"/>
                        </a:rPr>
                        <a:t>号之间要下单，如果不是影响到项目丢单，运营</a:t>
                      </a:r>
                      <a:r>
                        <a:rPr lang="en-US" altLang="zh-CN" sz="1200" dirty="0">
                          <a:effectLst/>
                          <a:latin typeface="+mj-ea"/>
                          <a:ea typeface="+mj-ea"/>
                        </a:rPr>
                        <a:t>BP</a:t>
                      </a:r>
                      <a:r>
                        <a:rPr lang="zh-CN" altLang="en-US" sz="1200" dirty="0">
                          <a:effectLst/>
                          <a:latin typeface="+mj-ea"/>
                          <a:ea typeface="+mj-ea"/>
                        </a:rPr>
                        <a:t>联合商务拦截到下个月</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ctr"/>
                      <a:r>
                        <a:rPr lang="zh-CN" altLang="en-US" sz="1200" dirty="0">
                          <a:effectLst/>
                          <a:latin typeface="+mj-ea"/>
                          <a:ea typeface="+mj-ea"/>
                        </a:rPr>
                        <a:t>上月</a:t>
                      </a:r>
                      <a:r>
                        <a:rPr lang="en-US" altLang="zh-CN" sz="1200" dirty="0">
                          <a:effectLst/>
                          <a:latin typeface="+mj-ea"/>
                          <a:ea typeface="+mj-ea"/>
                        </a:rPr>
                        <a:t>21</a:t>
                      </a:r>
                      <a:r>
                        <a:rPr lang="zh-CN" altLang="en-US" sz="1200" dirty="0">
                          <a:effectLst/>
                          <a:latin typeface="+mj-ea"/>
                          <a:ea typeface="+mj-ea"/>
                        </a:rPr>
                        <a:t>日</a:t>
                      </a:r>
                      <a:r>
                        <a:rPr lang="en-US" altLang="zh-CN" sz="1200" dirty="0">
                          <a:effectLst/>
                          <a:latin typeface="+mj-ea"/>
                          <a:ea typeface="+mj-ea"/>
                        </a:rPr>
                        <a:t>-</a:t>
                      </a:r>
                      <a:r>
                        <a:rPr lang="zh-CN" altLang="en-US" sz="1200" dirty="0">
                          <a:effectLst/>
                          <a:latin typeface="+mj-ea"/>
                          <a:ea typeface="+mj-ea"/>
                        </a:rPr>
                        <a:t>本月</a:t>
                      </a:r>
                      <a:r>
                        <a:rPr lang="en-US" altLang="zh-CN" sz="1200" dirty="0">
                          <a:effectLst/>
                          <a:latin typeface="+mj-ea"/>
                          <a:ea typeface="+mj-ea"/>
                        </a:rPr>
                        <a:t>20</a:t>
                      </a:r>
                      <a:r>
                        <a:rPr lang="zh-CN" altLang="en-US" sz="1200" dirty="0" smtClean="0">
                          <a:effectLst/>
                          <a:latin typeface="+mj-ea"/>
                          <a:ea typeface="+mj-ea"/>
                        </a:rPr>
                        <a:t>日</a:t>
                      </a:r>
                      <a:r>
                        <a:rPr lang="zh-CN" altLang="en-US" sz="1200" dirty="0">
                          <a:effectLst/>
                          <a:latin typeface="+mj-ea"/>
                          <a:ea typeface="+mj-ea"/>
                        </a:rPr>
                        <a:t/>
                      </a:r>
                      <a:br>
                        <a:rPr lang="zh-CN" altLang="en-US" sz="1200" dirty="0">
                          <a:effectLst/>
                          <a:latin typeface="+mj-ea"/>
                          <a:ea typeface="+mj-ea"/>
                        </a:rPr>
                      </a:br>
                      <a:endParaRPr lang="zh-CN" altLang="en-US" sz="1200" dirty="0">
                        <a:effectLst/>
                        <a:latin typeface="+mj-ea"/>
                        <a:ea typeface="+mj-ea"/>
                      </a:endParaRP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t"/>
                      <a:r>
                        <a:rPr lang="zh-CN" altLang="en-US" sz="1200">
                          <a:effectLst/>
                          <a:latin typeface="+mj-ea"/>
                          <a:ea typeface="+mj-ea"/>
                        </a:rPr>
                        <a:t>张萌、张毅、涌晖</a:t>
                      </a:r>
                    </a:p>
                    <a:p>
                      <a:pPr algn="ctr" fontAlgn="t"/>
                      <a:r>
                        <a:rPr lang="zh-CN" altLang="en-US" sz="1200">
                          <a:effectLst/>
                          <a:latin typeface="+mj-ea"/>
                          <a:ea typeface="+mj-ea"/>
                        </a:rPr>
                        <a:t>区域经理</a:t>
                      </a:r>
                    </a:p>
                    <a:p>
                      <a:pPr algn="ctr" fontAlgn="t"/>
                      <a:r>
                        <a:rPr lang="zh-CN" altLang="en-US" sz="1200">
                          <a:effectLst/>
                          <a:latin typeface="+mj-ea"/>
                          <a:ea typeface="+mj-ea"/>
                        </a:rPr>
                        <a:t>运营</a:t>
                      </a:r>
                      <a:r>
                        <a:rPr lang="en-US" altLang="zh-CN" sz="1200">
                          <a:effectLst/>
                          <a:latin typeface="+mj-ea"/>
                          <a:ea typeface="+mj-ea"/>
                        </a:rPr>
                        <a:t>BP</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r>
              <a:tr h="0">
                <a:tc rowSpan="2">
                  <a:txBody>
                    <a:bodyPr/>
                    <a:lstStyle/>
                    <a:p>
                      <a:pPr algn="ctr" fontAlgn="ctr"/>
                      <a:r>
                        <a:rPr lang="zh-CN" altLang="en-US" sz="1200" b="1" dirty="0">
                          <a:effectLst/>
                          <a:latin typeface="+mj-ea"/>
                          <a:ea typeface="+mj-ea"/>
                        </a:rPr>
                        <a:t>奖惩机制</a:t>
                      </a:r>
                    </a:p>
                    <a:p>
                      <a:pPr algn="ctr" fontAlgn="ctr"/>
                      <a:r>
                        <a:rPr lang="zh-CN" altLang="en-US" sz="1200" b="1" dirty="0">
                          <a:effectLst/>
                          <a:latin typeface="+mj-ea"/>
                          <a:ea typeface="+mj-ea"/>
                        </a:rPr>
                        <a:t/>
                      </a:r>
                      <a:br>
                        <a:rPr lang="zh-CN" altLang="en-US" sz="1200" b="1" dirty="0">
                          <a:effectLst/>
                          <a:latin typeface="+mj-ea"/>
                          <a:ea typeface="+mj-ea"/>
                        </a:rPr>
                      </a:br>
                      <a:endParaRPr lang="zh-CN" altLang="en-US" sz="1200" b="1" dirty="0">
                        <a:effectLst/>
                        <a:latin typeface="+mj-ea"/>
                        <a:ea typeface="+mj-ea"/>
                      </a:endParaRP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l" fontAlgn="ctr"/>
                      <a:r>
                        <a:rPr lang="zh-CN" altLang="en-US" sz="1200" b="1" dirty="0">
                          <a:solidFill>
                            <a:srgbClr val="6425D0"/>
                          </a:solidFill>
                          <a:effectLst/>
                          <a:latin typeface="+mj-ea"/>
                          <a:ea typeface="+mj-ea"/>
                        </a:rPr>
                        <a:t>过程指标达成牵引</a:t>
                      </a:r>
                      <a:r>
                        <a:rPr lang="zh-CN" altLang="en-US" sz="1200" dirty="0">
                          <a:effectLst/>
                          <a:latin typeface="+mj-ea"/>
                          <a:ea typeface="+mj-ea"/>
                        </a:rPr>
                        <a:t>：各个承诺预测指标准确率奖罚的通告</a:t>
                      </a:r>
                      <a:r>
                        <a:rPr lang="en-US" altLang="zh-CN" sz="1200" dirty="0">
                          <a:effectLst/>
                          <a:latin typeface="+mj-ea"/>
                          <a:ea typeface="+mj-ea"/>
                        </a:rPr>
                        <a:t>-</a:t>
                      </a:r>
                      <a:r>
                        <a:rPr lang="zh-CN" altLang="en-US" sz="1200" dirty="0">
                          <a:effectLst/>
                          <a:latin typeface="+mj-ea"/>
                          <a:ea typeface="+mj-ea"/>
                        </a:rPr>
                        <a:t>含四绿激励及不质量惩处</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ctr"/>
                      <a:r>
                        <a:rPr lang="en-US" altLang="zh-CN" sz="1200">
                          <a:effectLst/>
                          <a:latin typeface="+mj-ea"/>
                          <a:ea typeface="+mj-ea"/>
                        </a:rPr>
                        <a:t>12</a:t>
                      </a:r>
                      <a:r>
                        <a:rPr lang="zh-CN" altLang="en-US" sz="1200">
                          <a:effectLst/>
                          <a:latin typeface="+mj-ea"/>
                          <a:ea typeface="+mj-ea"/>
                        </a:rPr>
                        <a:t>月</a:t>
                      </a:r>
                      <a:r>
                        <a:rPr lang="en-US" altLang="zh-CN" sz="1200">
                          <a:effectLst/>
                          <a:latin typeface="+mj-ea"/>
                          <a:ea typeface="+mj-ea"/>
                        </a:rPr>
                        <a:t>30</a:t>
                      </a:r>
                      <a:r>
                        <a:rPr lang="zh-CN" altLang="en-US" sz="1200">
                          <a:effectLst/>
                          <a:latin typeface="+mj-ea"/>
                          <a:ea typeface="+mj-ea"/>
                        </a:rPr>
                        <a:t>日前</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t"/>
                      <a:r>
                        <a:rPr lang="zh-CN" altLang="en-US" sz="1200" dirty="0">
                          <a:effectLst/>
                          <a:latin typeface="+mj-ea"/>
                          <a:ea typeface="+mj-ea"/>
                        </a:rPr>
                        <a:t>何平、</a:t>
                      </a:r>
                      <a:r>
                        <a:rPr lang="zh-CN" altLang="en-US" sz="1200" dirty="0" smtClean="0">
                          <a:effectLst/>
                          <a:latin typeface="+mj-ea"/>
                          <a:ea typeface="+mj-ea"/>
                        </a:rPr>
                        <a:t>张萌</a:t>
                      </a:r>
                      <a:endParaRPr lang="zh-CN" altLang="en-US" sz="1200" dirty="0">
                        <a:effectLst/>
                        <a:latin typeface="+mj-ea"/>
                        <a:ea typeface="+mj-ea"/>
                      </a:endParaRP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r>
              <a:tr h="0">
                <a:tc vMerge="1">
                  <a:txBody>
                    <a:bodyPr/>
                    <a:lstStyle/>
                    <a:p>
                      <a:endParaRPr lang="zh-CN" altLang="en-US"/>
                    </a:p>
                  </a:txBody>
                  <a:tcPr/>
                </a:tc>
                <a:tc>
                  <a:txBody>
                    <a:bodyPr/>
                    <a:lstStyle/>
                    <a:p>
                      <a:pPr algn="l" fontAlgn="ctr"/>
                      <a:r>
                        <a:rPr lang="zh-CN" altLang="en-US" sz="1200" b="1" dirty="0">
                          <a:solidFill>
                            <a:schemeClr val="accent6"/>
                          </a:solidFill>
                          <a:effectLst/>
                          <a:latin typeface="+mj-ea"/>
                          <a:ea typeface="+mj-ea"/>
                        </a:rPr>
                        <a:t>销售信用</a:t>
                      </a:r>
                      <a:r>
                        <a:rPr lang="zh-CN" altLang="en-US" sz="1200" b="1" dirty="0" smtClean="0">
                          <a:solidFill>
                            <a:schemeClr val="accent6"/>
                          </a:solidFill>
                          <a:effectLst/>
                          <a:latin typeface="+mj-ea"/>
                          <a:ea typeface="+mj-ea"/>
                        </a:rPr>
                        <a:t>关联</a:t>
                      </a:r>
                      <a:endParaRPr lang="zh-CN" altLang="en-US" sz="1200" dirty="0">
                        <a:solidFill>
                          <a:schemeClr val="accent6"/>
                        </a:solidFill>
                        <a:effectLst/>
                        <a:latin typeface="+mj-ea"/>
                        <a:ea typeface="+mj-ea"/>
                      </a:endParaRP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ctr"/>
                      <a:r>
                        <a:rPr lang="en-US" altLang="zh-CN" sz="1200" dirty="0">
                          <a:effectLst/>
                          <a:latin typeface="+mj-ea"/>
                          <a:ea typeface="+mj-ea"/>
                        </a:rPr>
                        <a:t>12</a:t>
                      </a:r>
                      <a:r>
                        <a:rPr lang="zh-CN" altLang="en-US" sz="1200" dirty="0">
                          <a:effectLst/>
                          <a:latin typeface="+mj-ea"/>
                          <a:ea typeface="+mj-ea"/>
                        </a:rPr>
                        <a:t>月</a:t>
                      </a:r>
                      <a:r>
                        <a:rPr lang="en-US" altLang="zh-CN" sz="1200" dirty="0">
                          <a:effectLst/>
                          <a:latin typeface="+mj-ea"/>
                          <a:ea typeface="+mj-ea"/>
                        </a:rPr>
                        <a:t>30</a:t>
                      </a:r>
                      <a:r>
                        <a:rPr lang="zh-CN" altLang="en-US" sz="1200" dirty="0">
                          <a:effectLst/>
                          <a:latin typeface="+mj-ea"/>
                          <a:ea typeface="+mj-ea"/>
                        </a:rPr>
                        <a:t>日前</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t"/>
                      <a:r>
                        <a:rPr lang="zh-CN" altLang="en-US" sz="1200" dirty="0">
                          <a:effectLst/>
                          <a:latin typeface="+mj-ea"/>
                          <a:ea typeface="+mj-ea"/>
                        </a:rPr>
                        <a:t>侯玉莲、</a:t>
                      </a:r>
                      <a:r>
                        <a:rPr lang="zh-CN" altLang="en-US" sz="1200" dirty="0" smtClean="0">
                          <a:effectLst/>
                          <a:latin typeface="+mj-ea"/>
                          <a:ea typeface="+mj-ea"/>
                        </a:rPr>
                        <a:t>张萌</a:t>
                      </a:r>
                      <a:endParaRPr lang="zh-CN" altLang="en-US" sz="1200" dirty="0">
                        <a:effectLst/>
                        <a:latin typeface="+mj-ea"/>
                        <a:ea typeface="+mj-ea"/>
                      </a:endParaRP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r>
              <a:tr h="425038">
                <a:tc rowSpan="3">
                  <a:txBody>
                    <a:bodyPr/>
                    <a:lstStyle/>
                    <a:p>
                      <a:pPr algn="ctr" fontAlgn="ctr"/>
                      <a:r>
                        <a:rPr lang="zh-CN" altLang="en-US" sz="1200" b="1" dirty="0">
                          <a:effectLst/>
                          <a:latin typeface="+mj-ea"/>
                          <a:ea typeface="+mj-ea"/>
                        </a:rPr>
                        <a:t>复盘机制</a:t>
                      </a:r>
                    </a:p>
                    <a:p>
                      <a:pPr algn="ctr" fontAlgn="ctr"/>
                      <a:r>
                        <a:rPr lang="zh-CN" altLang="en-US" sz="1200" b="1" dirty="0">
                          <a:effectLst/>
                          <a:latin typeface="+mj-ea"/>
                          <a:ea typeface="+mj-ea"/>
                        </a:rPr>
                        <a:t/>
                      </a:r>
                      <a:br>
                        <a:rPr lang="zh-CN" altLang="en-US" sz="1200" b="1" dirty="0">
                          <a:effectLst/>
                          <a:latin typeface="+mj-ea"/>
                          <a:ea typeface="+mj-ea"/>
                        </a:rPr>
                      </a:br>
                      <a:endParaRPr lang="zh-CN" altLang="en-US" sz="1200" b="1" dirty="0">
                        <a:effectLst/>
                        <a:latin typeface="+mj-ea"/>
                        <a:ea typeface="+mj-ea"/>
                      </a:endParaRP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l" fontAlgn="ctr"/>
                      <a:r>
                        <a:rPr lang="zh-CN" altLang="en-US" sz="1200" dirty="0">
                          <a:effectLst/>
                          <a:latin typeface="+mj-ea"/>
                          <a:ea typeface="+mj-ea"/>
                        </a:rPr>
                        <a:t>部门：每月</a:t>
                      </a:r>
                      <a:r>
                        <a:rPr lang="en-US" altLang="zh-CN" sz="1200" dirty="0">
                          <a:effectLst/>
                          <a:latin typeface="+mj-ea"/>
                          <a:ea typeface="+mj-ea"/>
                        </a:rPr>
                        <a:t>20</a:t>
                      </a:r>
                      <a:r>
                        <a:rPr lang="zh-CN" altLang="en-US" sz="1200" dirty="0">
                          <a:effectLst/>
                          <a:latin typeface="+mj-ea"/>
                          <a:ea typeface="+mj-ea"/>
                        </a:rPr>
                        <a:t>日</a:t>
                      </a:r>
                      <a:r>
                        <a:rPr lang="en-US" altLang="zh-CN" sz="1200" dirty="0">
                          <a:effectLst/>
                          <a:latin typeface="+mj-ea"/>
                          <a:ea typeface="+mj-ea"/>
                        </a:rPr>
                        <a:t>-30</a:t>
                      </a:r>
                      <a:r>
                        <a:rPr lang="zh-CN" altLang="en-US" sz="1200" dirty="0">
                          <a:effectLst/>
                          <a:latin typeface="+mj-ea"/>
                          <a:ea typeface="+mj-ea"/>
                        </a:rPr>
                        <a:t>日专项组织复盘，针对当月不准的区域</a:t>
                      </a:r>
                      <a:r>
                        <a:rPr lang="en-US" altLang="zh-CN" sz="1200" dirty="0">
                          <a:effectLst/>
                          <a:latin typeface="+mj-ea"/>
                          <a:ea typeface="+mj-ea"/>
                        </a:rPr>
                        <a:t>/</a:t>
                      </a:r>
                      <a:r>
                        <a:rPr lang="zh-CN" altLang="en-US" sz="1200" dirty="0">
                          <a:effectLst/>
                          <a:latin typeface="+mj-ea"/>
                          <a:ea typeface="+mj-ea"/>
                        </a:rPr>
                        <a:t>项目</a:t>
                      </a:r>
                      <a:r>
                        <a:rPr lang="en-US" altLang="zh-CN" sz="1200" dirty="0">
                          <a:effectLst/>
                          <a:latin typeface="+mj-ea"/>
                          <a:ea typeface="+mj-ea"/>
                        </a:rPr>
                        <a:t>/</a:t>
                      </a:r>
                      <a:r>
                        <a:rPr lang="zh-CN" altLang="en-US" sz="1200" dirty="0">
                          <a:effectLst/>
                          <a:latin typeface="+mj-ea"/>
                          <a:ea typeface="+mj-ea"/>
                        </a:rPr>
                        <a:t>个人做联合张毅及涌晖复盘并持续做跟踪改善</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ctr"/>
                      <a:r>
                        <a:rPr lang="zh-CN" altLang="en-US" sz="1200" dirty="0">
                          <a:effectLst/>
                          <a:latin typeface="+mj-ea"/>
                          <a:ea typeface="+mj-ea"/>
                        </a:rPr>
                        <a:t>每月</a:t>
                      </a:r>
                      <a:r>
                        <a:rPr lang="en-US" altLang="zh-CN" sz="1200" dirty="0">
                          <a:effectLst/>
                          <a:latin typeface="+mj-ea"/>
                          <a:ea typeface="+mj-ea"/>
                        </a:rPr>
                        <a:t>21</a:t>
                      </a:r>
                      <a:r>
                        <a:rPr lang="zh-CN" altLang="en-US" sz="1200" dirty="0">
                          <a:effectLst/>
                          <a:latin typeface="+mj-ea"/>
                          <a:ea typeface="+mj-ea"/>
                        </a:rPr>
                        <a:t>日</a:t>
                      </a:r>
                      <a:r>
                        <a:rPr lang="en-US" altLang="zh-CN" sz="1200" dirty="0">
                          <a:effectLst/>
                          <a:latin typeface="+mj-ea"/>
                          <a:ea typeface="+mj-ea"/>
                        </a:rPr>
                        <a:t>-30</a:t>
                      </a:r>
                      <a:r>
                        <a:rPr lang="zh-CN" altLang="en-US" sz="1200" dirty="0">
                          <a:effectLst/>
                          <a:latin typeface="+mj-ea"/>
                          <a:ea typeface="+mj-ea"/>
                        </a:rPr>
                        <a:t>日</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t"/>
                      <a:r>
                        <a:rPr lang="zh-CN" altLang="en-US" sz="1200">
                          <a:effectLst/>
                          <a:latin typeface="+mj-ea"/>
                          <a:ea typeface="+mj-ea"/>
                        </a:rPr>
                        <a:t>张毅、陈涌晖、</a:t>
                      </a:r>
                      <a:r>
                        <a:rPr lang="en-US" altLang="zh-CN" sz="1200">
                          <a:effectLst/>
                          <a:latin typeface="+mj-ea"/>
                          <a:ea typeface="+mj-ea"/>
                        </a:rPr>
                        <a:t>LV</a:t>
                      </a:r>
                      <a:r>
                        <a:rPr lang="zh-CN" altLang="en-US" sz="1200">
                          <a:effectLst/>
                          <a:latin typeface="+mj-ea"/>
                          <a:ea typeface="+mj-ea"/>
                        </a:rPr>
                        <a:t>、何平、张萌、</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r>
              <a:tr h="351756">
                <a:tc vMerge="1">
                  <a:txBody>
                    <a:bodyPr/>
                    <a:lstStyle/>
                    <a:p>
                      <a:endParaRPr lang="zh-CN" altLang="en-US"/>
                    </a:p>
                  </a:txBody>
                  <a:tcPr/>
                </a:tc>
                <a:tc>
                  <a:txBody>
                    <a:bodyPr/>
                    <a:lstStyle/>
                    <a:p>
                      <a:pPr algn="l" fontAlgn="ctr"/>
                      <a:r>
                        <a:rPr lang="zh-CN" altLang="en-US" sz="1200" dirty="0">
                          <a:effectLst/>
                          <a:latin typeface="+mj-ea"/>
                          <a:ea typeface="+mj-ea"/>
                        </a:rPr>
                        <a:t>区域：每月例会，第一环节晾晒累计个人的预测准确率，及不准确的项目教训</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ctr"/>
                      <a:r>
                        <a:rPr lang="zh-CN" altLang="en-US" sz="1200" dirty="0">
                          <a:effectLst/>
                          <a:latin typeface="+mj-ea"/>
                          <a:ea typeface="+mj-ea"/>
                        </a:rPr>
                        <a:t>每月</a:t>
                      </a:r>
                      <a:r>
                        <a:rPr lang="en-US" altLang="zh-CN" sz="1200" dirty="0">
                          <a:effectLst/>
                          <a:latin typeface="+mj-ea"/>
                          <a:ea typeface="+mj-ea"/>
                        </a:rPr>
                        <a:t>21</a:t>
                      </a:r>
                      <a:r>
                        <a:rPr lang="zh-CN" altLang="en-US" sz="1200" dirty="0">
                          <a:effectLst/>
                          <a:latin typeface="+mj-ea"/>
                          <a:ea typeface="+mj-ea"/>
                        </a:rPr>
                        <a:t>日</a:t>
                      </a:r>
                      <a:r>
                        <a:rPr lang="en-US" altLang="zh-CN" sz="1200" dirty="0">
                          <a:effectLst/>
                          <a:latin typeface="+mj-ea"/>
                          <a:ea typeface="+mj-ea"/>
                        </a:rPr>
                        <a:t>-28</a:t>
                      </a:r>
                      <a:r>
                        <a:rPr lang="zh-CN" altLang="en-US" sz="1200" dirty="0">
                          <a:effectLst/>
                          <a:latin typeface="+mj-ea"/>
                          <a:ea typeface="+mj-ea"/>
                        </a:rPr>
                        <a:t>日</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t"/>
                      <a:r>
                        <a:rPr lang="zh-CN" altLang="en-US" sz="1200" dirty="0">
                          <a:effectLst/>
                          <a:latin typeface="+mj-ea"/>
                          <a:ea typeface="+mj-ea"/>
                        </a:rPr>
                        <a:t>区域经理、运营</a:t>
                      </a:r>
                      <a:r>
                        <a:rPr lang="en-US" altLang="zh-CN" sz="1200" dirty="0">
                          <a:effectLst/>
                          <a:latin typeface="+mj-ea"/>
                          <a:ea typeface="+mj-ea"/>
                        </a:rPr>
                        <a:t>BP</a:t>
                      </a:r>
                      <a:r>
                        <a:rPr lang="zh-CN" altLang="en-US" sz="1200" dirty="0">
                          <a:effectLst/>
                          <a:latin typeface="+mj-ea"/>
                          <a:ea typeface="+mj-ea"/>
                        </a:rPr>
                        <a:t>、许佳乐</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r>
              <a:tr h="571603">
                <a:tc vMerge="1">
                  <a:txBody>
                    <a:bodyPr/>
                    <a:lstStyle/>
                    <a:p>
                      <a:endParaRPr lang="zh-CN" altLang="en-US"/>
                    </a:p>
                  </a:txBody>
                  <a:tcPr/>
                </a:tc>
                <a:tc>
                  <a:txBody>
                    <a:bodyPr/>
                    <a:lstStyle/>
                    <a:p>
                      <a:pPr algn="l" fontAlgn="ctr"/>
                      <a:r>
                        <a:rPr lang="zh-CN" altLang="en-US" sz="1200" dirty="0">
                          <a:effectLst/>
                          <a:latin typeface="+mj-ea"/>
                          <a:ea typeface="+mj-ea"/>
                        </a:rPr>
                        <a:t>部门：每季度</a:t>
                      </a:r>
                      <a:r>
                        <a:rPr lang="en-US" altLang="zh-CN" sz="1200" dirty="0">
                          <a:effectLst/>
                          <a:latin typeface="+mj-ea"/>
                          <a:ea typeface="+mj-ea"/>
                        </a:rPr>
                        <a:t>20</a:t>
                      </a:r>
                      <a:r>
                        <a:rPr lang="zh-CN" altLang="en-US" sz="1200" dirty="0">
                          <a:effectLst/>
                          <a:latin typeface="+mj-ea"/>
                          <a:ea typeface="+mj-ea"/>
                        </a:rPr>
                        <a:t>日</a:t>
                      </a:r>
                      <a:r>
                        <a:rPr lang="en-US" altLang="zh-CN" sz="1200" dirty="0">
                          <a:effectLst/>
                          <a:latin typeface="+mj-ea"/>
                          <a:ea typeface="+mj-ea"/>
                        </a:rPr>
                        <a:t>-30</a:t>
                      </a:r>
                      <a:r>
                        <a:rPr lang="zh-CN" altLang="en-US" sz="1200" dirty="0">
                          <a:effectLst/>
                          <a:latin typeface="+mj-ea"/>
                          <a:ea typeface="+mj-ea"/>
                        </a:rPr>
                        <a:t>日专项组织复盘，针对连续三个月不准的区域联合育辉做复盘改善</a:t>
                      </a:r>
                    </a:p>
                    <a:p>
                      <a:pPr algn="l" fontAlgn="ctr"/>
                      <a:r>
                        <a:rPr lang="zh-CN" altLang="en-US" sz="1200" dirty="0">
                          <a:effectLst/>
                          <a:latin typeface="+mj-ea"/>
                          <a:ea typeface="+mj-ea"/>
                        </a:rPr>
                        <a:t/>
                      </a:r>
                      <a:br>
                        <a:rPr lang="zh-CN" altLang="en-US" sz="1200" dirty="0">
                          <a:effectLst/>
                          <a:latin typeface="+mj-ea"/>
                          <a:ea typeface="+mj-ea"/>
                        </a:rPr>
                      </a:br>
                      <a:endParaRPr lang="zh-CN" altLang="en-US" sz="1200" dirty="0">
                        <a:effectLst/>
                        <a:latin typeface="+mj-ea"/>
                        <a:ea typeface="+mj-ea"/>
                      </a:endParaRP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ctr"/>
                      <a:r>
                        <a:rPr lang="zh-CN" altLang="en-US" sz="1200" dirty="0">
                          <a:effectLst/>
                          <a:latin typeface="+mj-ea"/>
                          <a:ea typeface="+mj-ea"/>
                        </a:rPr>
                        <a:t>每季度</a:t>
                      </a:r>
                      <a:r>
                        <a:rPr lang="en-US" altLang="zh-CN" sz="1200" dirty="0">
                          <a:effectLst/>
                          <a:latin typeface="+mj-ea"/>
                          <a:ea typeface="+mj-ea"/>
                        </a:rPr>
                        <a:t>21</a:t>
                      </a:r>
                      <a:r>
                        <a:rPr lang="zh-CN" altLang="en-US" sz="1200" dirty="0">
                          <a:effectLst/>
                          <a:latin typeface="+mj-ea"/>
                          <a:ea typeface="+mj-ea"/>
                        </a:rPr>
                        <a:t>日</a:t>
                      </a:r>
                      <a:r>
                        <a:rPr lang="en-US" altLang="zh-CN" sz="1200" dirty="0">
                          <a:effectLst/>
                          <a:latin typeface="+mj-ea"/>
                          <a:ea typeface="+mj-ea"/>
                        </a:rPr>
                        <a:t>-30</a:t>
                      </a:r>
                      <a:r>
                        <a:rPr lang="zh-CN" altLang="en-US" sz="1200" dirty="0">
                          <a:effectLst/>
                          <a:latin typeface="+mj-ea"/>
                          <a:ea typeface="+mj-ea"/>
                        </a:rPr>
                        <a:t>日</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t"/>
                      <a:r>
                        <a:rPr lang="zh-CN" altLang="en-US" sz="1200" dirty="0">
                          <a:effectLst/>
                          <a:latin typeface="+mj-ea"/>
                          <a:ea typeface="+mj-ea"/>
                        </a:rPr>
                        <a:t>育辉、张毅、陈涌晖、</a:t>
                      </a:r>
                      <a:r>
                        <a:rPr lang="en-US" altLang="zh-CN" sz="1200" dirty="0">
                          <a:effectLst/>
                          <a:latin typeface="+mj-ea"/>
                          <a:ea typeface="+mj-ea"/>
                        </a:rPr>
                        <a:t>LV</a:t>
                      </a:r>
                      <a:r>
                        <a:rPr lang="zh-CN" altLang="en-US" sz="1200" dirty="0">
                          <a:effectLst/>
                          <a:latin typeface="+mj-ea"/>
                          <a:ea typeface="+mj-ea"/>
                        </a:rPr>
                        <a:t>、李冰、何平、张萌、</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56148158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84517" y="182892"/>
            <a:ext cx="7606768" cy="495935"/>
          </a:xfrm>
        </p:spPr>
        <p:txBody>
          <a:bodyPr/>
          <a:lstStyle/>
          <a:p>
            <a:r>
              <a:rPr lang="zh-CN" altLang="en-US" dirty="0" smtClean="0"/>
              <a:t>举措</a:t>
            </a:r>
            <a:r>
              <a:rPr lang="en-US" altLang="zh-CN" dirty="0" smtClean="0"/>
              <a:t>2</a:t>
            </a:r>
            <a:r>
              <a:rPr lang="zh-CN" altLang="en-US" dirty="0" smtClean="0"/>
              <a:t>：建立销售，销管和供应链月度复盘机制</a:t>
            </a:r>
            <a:r>
              <a:rPr lang="en-US" altLang="zh-CN" dirty="0" smtClean="0"/>
              <a:t>-</a:t>
            </a:r>
            <a:r>
              <a:rPr lang="zh-CN" altLang="en-US" dirty="0" smtClean="0"/>
              <a:t>待设计</a:t>
            </a:r>
            <a:endParaRPr lang="zh-CN" altLang="en-US" dirty="0"/>
          </a:p>
        </p:txBody>
      </p:sp>
      <p:sp>
        <p:nvSpPr>
          <p:cNvPr id="4" name="矩形 3"/>
          <p:cNvSpPr/>
          <p:nvPr/>
        </p:nvSpPr>
        <p:spPr>
          <a:xfrm>
            <a:off x="2023815" y="3060070"/>
            <a:ext cx="3241141" cy="15934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销管和供应链针对数据做分析和总结复盘</a:t>
            </a:r>
            <a:endParaRPr lang="en-US" altLang="zh-CN" dirty="0" smtClean="0"/>
          </a:p>
          <a:p>
            <a:pPr algn="ctr"/>
            <a:r>
              <a:rPr lang="zh-CN" altLang="en-US" dirty="0" smtClean="0"/>
              <a:t>（下单时间准确率，要货时间</a:t>
            </a:r>
            <a:r>
              <a:rPr lang="zh-CN" altLang="en-US" dirty="0" smtClean="0"/>
              <a:t>准确率及下单清单准确率）</a:t>
            </a:r>
            <a:endParaRPr lang="zh-CN" altLang="en-US" dirty="0"/>
          </a:p>
        </p:txBody>
      </p:sp>
      <p:sp>
        <p:nvSpPr>
          <p:cNvPr id="6" name="矩形 5"/>
          <p:cNvSpPr/>
          <p:nvPr/>
        </p:nvSpPr>
        <p:spPr>
          <a:xfrm>
            <a:off x="6559602" y="3060070"/>
            <a:ext cx="3241141" cy="15934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销售执行和调整</a:t>
            </a:r>
            <a:endParaRPr lang="zh-CN" altLang="en-US" dirty="0"/>
          </a:p>
        </p:txBody>
      </p:sp>
      <p:sp>
        <p:nvSpPr>
          <p:cNvPr id="7" name="左右箭头 6"/>
          <p:cNvSpPr/>
          <p:nvPr/>
        </p:nvSpPr>
        <p:spPr>
          <a:xfrm>
            <a:off x="5504873" y="3612331"/>
            <a:ext cx="814812" cy="488887"/>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2"/>
          <a:stretch>
            <a:fillRect/>
          </a:stretch>
        </p:blipFill>
        <p:spPr>
          <a:xfrm>
            <a:off x="605459" y="5051123"/>
            <a:ext cx="10983942" cy="1204820"/>
          </a:xfrm>
          <a:prstGeom prst="rect">
            <a:avLst/>
          </a:prstGeom>
        </p:spPr>
      </p:pic>
      <p:sp>
        <p:nvSpPr>
          <p:cNvPr id="3" name="矩形 2"/>
          <p:cNvSpPr/>
          <p:nvPr/>
        </p:nvSpPr>
        <p:spPr>
          <a:xfrm>
            <a:off x="476427" y="746064"/>
            <a:ext cx="9577058" cy="2246769"/>
          </a:xfrm>
          <a:prstGeom prst="rect">
            <a:avLst/>
          </a:prstGeom>
        </p:spPr>
        <p:txBody>
          <a:bodyPr wrap="square">
            <a:spAutoFit/>
          </a:bodyPr>
          <a:lstStyle/>
          <a:p>
            <a:r>
              <a:rPr lang="zh-CN" altLang="en-US" sz="1400" b="1" dirty="0"/>
              <a:t>下单、要货时间</a:t>
            </a:r>
            <a:r>
              <a:rPr lang="zh-CN" altLang="en-US" sz="1400" b="1" dirty="0" smtClean="0"/>
              <a:t>准确率复</a:t>
            </a:r>
            <a:r>
              <a:rPr lang="zh-CN" altLang="en-US" sz="1400" b="1" dirty="0"/>
              <a:t>盘</a:t>
            </a:r>
            <a:r>
              <a:rPr lang="zh-CN" altLang="en-US" sz="1400" b="1" dirty="0" smtClean="0"/>
              <a:t>会议：</a:t>
            </a:r>
            <a:endParaRPr lang="en-US" altLang="zh-CN" sz="1400" b="1" dirty="0" smtClean="0"/>
          </a:p>
          <a:p>
            <a:pPr marL="742950" lvl="1" indent="-285750">
              <a:buFont typeface="Arial" panose="020B0604020202020204" pitchFamily="34" charset="0"/>
              <a:buChar char="•"/>
            </a:pPr>
            <a:r>
              <a:rPr lang="zh-CN" altLang="en-US" sz="1400" dirty="0" smtClean="0"/>
              <a:t>建议</a:t>
            </a:r>
            <a:r>
              <a:rPr lang="zh-CN" altLang="en-US" sz="1400" dirty="0"/>
              <a:t>时间</a:t>
            </a:r>
            <a:r>
              <a:rPr lang="en-US" altLang="zh-CN" sz="1400" dirty="0"/>
              <a:t>:</a:t>
            </a:r>
            <a:r>
              <a:rPr lang="zh-CN" altLang="en-US" sz="1400" dirty="0"/>
              <a:t>每月月初周四 </a:t>
            </a:r>
            <a:endParaRPr lang="en-US" altLang="zh-CN" sz="1400" dirty="0" smtClean="0"/>
          </a:p>
          <a:p>
            <a:pPr marL="742950" lvl="1" indent="-285750">
              <a:buFont typeface="Arial" panose="020B0604020202020204" pitchFamily="34" charset="0"/>
              <a:buChar char="•"/>
            </a:pPr>
            <a:r>
              <a:rPr lang="zh-CN" altLang="en-US" sz="1400" dirty="0" smtClean="0"/>
              <a:t>参与</a:t>
            </a:r>
            <a:r>
              <a:rPr lang="zh-CN" altLang="en-US" sz="1400" dirty="0"/>
              <a:t>角色与人员</a:t>
            </a:r>
            <a:r>
              <a:rPr lang="en-US" altLang="zh-CN" sz="1400" dirty="0"/>
              <a:t>:</a:t>
            </a:r>
            <a:r>
              <a:rPr lang="zh-CN" altLang="en-US" sz="1400" dirty="0"/>
              <a:t>排名最后的</a:t>
            </a:r>
            <a:r>
              <a:rPr lang="en-US" altLang="zh-CN" sz="1400" dirty="0"/>
              <a:t>5</a:t>
            </a:r>
            <a:r>
              <a:rPr lang="zh-CN" altLang="en-US" sz="1400" dirty="0"/>
              <a:t>个区域</a:t>
            </a:r>
            <a:r>
              <a:rPr lang="en-US" altLang="zh-CN" sz="1400" dirty="0"/>
              <a:t>——</a:t>
            </a:r>
            <a:r>
              <a:rPr lang="zh-CN" altLang="en-US" sz="1400" dirty="0"/>
              <a:t>销管、供应链市场计划、销售、区域经理 </a:t>
            </a:r>
            <a:endParaRPr lang="en-US" altLang="zh-CN" sz="1400" dirty="0" smtClean="0"/>
          </a:p>
          <a:p>
            <a:pPr marL="742950" lvl="1" indent="-285750">
              <a:buFont typeface="Arial" panose="020B0604020202020204" pitchFamily="34" charset="0"/>
              <a:buChar char="•"/>
            </a:pPr>
            <a:r>
              <a:rPr lang="zh-CN" altLang="en-US" sz="1400" dirty="0" smtClean="0"/>
              <a:t>关键</a:t>
            </a:r>
            <a:r>
              <a:rPr lang="zh-CN" altLang="en-US" sz="1400" dirty="0"/>
              <a:t>议程</a:t>
            </a:r>
            <a:r>
              <a:rPr lang="en-US" altLang="zh-CN" sz="1400" dirty="0"/>
              <a:t>:</a:t>
            </a:r>
            <a:r>
              <a:rPr lang="zh-CN" altLang="en-US" sz="1400" dirty="0"/>
              <a:t>下单要货时间不准的原因分析 </a:t>
            </a:r>
            <a:endParaRPr lang="en-US" altLang="zh-CN" sz="1400" dirty="0" smtClean="0"/>
          </a:p>
          <a:p>
            <a:pPr marL="742950" lvl="1" indent="-285750">
              <a:buFont typeface="Arial" panose="020B0604020202020204" pitchFamily="34" charset="0"/>
              <a:buChar char="•"/>
            </a:pPr>
            <a:r>
              <a:rPr lang="zh-CN" altLang="en-US" sz="1400" dirty="0" smtClean="0"/>
              <a:t>闭环</a:t>
            </a:r>
            <a:r>
              <a:rPr lang="zh-CN" altLang="en-US" sz="1400" dirty="0"/>
              <a:t>机制</a:t>
            </a:r>
            <a:r>
              <a:rPr lang="en-US" altLang="zh-CN" sz="1400" dirty="0"/>
              <a:t>:</a:t>
            </a:r>
            <a:r>
              <a:rPr lang="zh-CN" altLang="en-US" sz="1400" dirty="0"/>
              <a:t>制定改善方案并跟踪解决 </a:t>
            </a:r>
            <a:endParaRPr lang="en-US" altLang="zh-CN" sz="1400" dirty="0" smtClean="0"/>
          </a:p>
          <a:p>
            <a:r>
              <a:rPr lang="zh-CN" altLang="en-US" sz="1400" b="1" dirty="0" smtClean="0"/>
              <a:t>下</a:t>
            </a:r>
            <a:r>
              <a:rPr lang="zh-CN" altLang="en-US" sz="1400" b="1" dirty="0"/>
              <a:t>单项目清单</a:t>
            </a:r>
            <a:r>
              <a:rPr lang="zh-CN" altLang="en-US" sz="1400" b="1" dirty="0" smtClean="0"/>
              <a:t>准确率复</a:t>
            </a:r>
            <a:r>
              <a:rPr lang="zh-CN" altLang="en-US" sz="1400" b="1" dirty="0"/>
              <a:t>盘</a:t>
            </a:r>
            <a:r>
              <a:rPr lang="zh-CN" altLang="en-US" sz="1400" b="1" dirty="0" smtClean="0"/>
              <a:t>会议：</a:t>
            </a:r>
            <a:endParaRPr lang="en-US" altLang="zh-CN" sz="1400" b="1" dirty="0" smtClean="0"/>
          </a:p>
          <a:p>
            <a:pPr marL="742950" lvl="1" indent="-285750">
              <a:buFont typeface="Arial" panose="020B0604020202020204" pitchFamily="34" charset="0"/>
              <a:buChar char="•"/>
            </a:pPr>
            <a:r>
              <a:rPr lang="zh-CN" altLang="en-US" sz="1400" dirty="0" smtClean="0"/>
              <a:t>建议</a:t>
            </a:r>
            <a:r>
              <a:rPr lang="zh-CN" altLang="en-US" sz="1400" dirty="0"/>
              <a:t>时间</a:t>
            </a:r>
            <a:r>
              <a:rPr lang="en-US" altLang="zh-CN" sz="1400" dirty="0"/>
              <a:t>:</a:t>
            </a:r>
            <a:r>
              <a:rPr lang="zh-CN" altLang="en-US" sz="1400" dirty="0"/>
              <a:t>每月月初周三 </a:t>
            </a:r>
            <a:endParaRPr lang="en-US" altLang="zh-CN" sz="1400" dirty="0" smtClean="0"/>
          </a:p>
          <a:p>
            <a:pPr marL="742950" lvl="1" indent="-285750">
              <a:buFont typeface="Arial" panose="020B0604020202020204" pitchFamily="34" charset="0"/>
              <a:buChar char="•"/>
            </a:pPr>
            <a:r>
              <a:rPr lang="zh-CN" altLang="en-US" sz="1400" dirty="0" smtClean="0"/>
              <a:t>参与</a:t>
            </a:r>
            <a:r>
              <a:rPr lang="zh-CN" altLang="en-US" sz="1400" dirty="0"/>
              <a:t>角色与人员</a:t>
            </a:r>
            <a:r>
              <a:rPr lang="en-US" altLang="zh-CN" sz="1400" dirty="0"/>
              <a:t>:</a:t>
            </a:r>
            <a:r>
              <a:rPr lang="zh-CN" altLang="en-US" sz="1400" dirty="0"/>
              <a:t>排名最后的</a:t>
            </a:r>
            <a:r>
              <a:rPr lang="en-US" altLang="zh-CN" sz="1400" dirty="0"/>
              <a:t>5</a:t>
            </a:r>
            <a:r>
              <a:rPr lang="zh-CN" altLang="en-US" sz="1400" dirty="0"/>
              <a:t>个区域</a:t>
            </a:r>
            <a:r>
              <a:rPr lang="en-US" altLang="zh-CN" sz="1400" dirty="0"/>
              <a:t>——</a:t>
            </a:r>
            <a:r>
              <a:rPr lang="zh-CN" altLang="en-US" sz="1400" dirty="0"/>
              <a:t>供应链市场计划、售前、技术经理 </a:t>
            </a:r>
            <a:endParaRPr lang="en-US" altLang="zh-CN" sz="1400" dirty="0" smtClean="0"/>
          </a:p>
          <a:p>
            <a:pPr marL="742950" lvl="1" indent="-285750">
              <a:buFont typeface="Arial" panose="020B0604020202020204" pitchFamily="34" charset="0"/>
              <a:buChar char="•"/>
            </a:pPr>
            <a:r>
              <a:rPr lang="zh-CN" altLang="en-US" sz="1400" dirty="0" smtClean="0"/>
              <a:t>关键</a:t>
            </a:r>
            <a:r>
              <a:rPr lang="zh-CN" altLang="en-US" sz="1400" dirty="0"/>
              <a:t>议程</a:t>
            </a:r>
            <a:r>
              <a:rPr lang="en-US" altLang="zh-CN" sz="1400" dirty="0"/>
              <a:t>:</a:t>
            </a:r>
            <a:r>
              <a:rPr lang="zh-CN" altLang="en-US" sz="1400" dirty="0"/>
              <a:t>下单项目清单不准的原因分析 </a:t>
            </a:r>
            <a:endParaRPr lang="en-US" altLang="zh-CN" sz="1400" dirty="0" smtClean="0"/>
          </a:p>
          <a:p>
            <a:pPr marL="742950" lvl="1" indent="-285750">
              <a:buFont typeface="Arial" panose="020B0604020202020204" pitchFamily="34" charset="0"/>
              <a:buChar char="•"/>
            </a:pPr>
            <a:r>
              <a:rPr lang="zh-CN" altLang="en-US" sz="1400" dirty="0" smtClean="0"/>
              <a:t>闭环</a:t>
            </a:r>
            <a:r>
              <a:rPr lang="zh-CN" altLang="en-US" sz="1400" dirty="0"/>
              <a:t>机制</a:t>
            </a:r>
            <a:r>
              <a:rPr lang="en-US" altLang="zh-CN" sz="1400" dirty="0"/>
              <a:t>:</a:t>
            </a:r>
            <a:r>
              <a:rPr lang="zh-CN" altLang="en-US" sz="1400" dirty="0"/>
              <a:t>制定改善方案并跟踪</a:t>
            </a:r>
            <a:r>
              <a:rPr lang="zh-CN" altLang="en-US" sz="1400" dirty="0" smtClean="0"/>
              <a:t>解决沉淀</a:t>
            </a:r>
            <a:endParaRPr lang="zh-CN" altLang="en-US" sz="1400" dirty="0"/>
          </a:p>
        </p:txBody>
      </p:sp>
    </p:spTree>
    <p:extLst>
      <p:ext uri="{BB962C8B-B14F-4D97-AF65-F5344CB8AC3E}">
        <p14:creationId xmlns:p14="http://schemas.microsoft.com/office/powerpoint/2010/main" val="71439910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53402" y="3408355"/>
            <a:ext cx="4901719"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占位符 2"/>
          <p:cNvSpPr txBox="1"/>
          <p:nvPr/>
        </p:nvSpPr>
        <p:spPr>
          <a:xfrm>
            <a:off x="1219915" y="2165720"/>
            <a:ext cx="5479649" cy="3009669"/>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20204" pitchFamily="34" charset="0"/>
              <a:buChar char="•"/>
              <a:defRPr/>
            </a:pPr>
            <a:r>
              <a:rPr lang="zh-CN" altLang="en-US" dirty="0" smtClean="0"/>
              <a:t>关键点识别与现状分析</a:t>
            </a:r>
            <a:endParaRPr lang="en-US" altLang="zh-CN" dirty="0" smtClean="0"/>
          </a:p>
          <a:p>
            <a:pPr marL="342900" indent="-342900">
              <a:lnSpc>
                <a:spcPct val="150000"/>
              </a:lnSpc>
              <a:buFont typeface="Arial" panose="020B0604020202020204" pitchFamily="34" charset="0"/>
              <a:buChar char="•"/>
              <a:defRPr/>
            </a:pPr>
            <a:r>
              <a:rPr lang="zh-CN" altLang="en-US" dirty="0" smtClean="0"/>
              <a:t>课题</a:t>
            </a:r>
            <a:r>
              <a:rPr lang="en-US" altLang="zh-CN" dirty="0" smtClean="0"/>
              <a:t>1</a:t>
            </a:r>
            <a:r>
              <a:rPr lang="zh-CN" altLang="en-US" dirty="0" smtClean="0"/>
              <a:t>：做准</a:t>
            </a:r>
            <a:r>
              <a:rPr lang="en-US" altLang="zh-CN" dirty="0" smtClean="0"/>
              <a:t>N</a:t>
            </a:r>
            <a:r>
              <a:rPr lang="zh-CN" altLang="en-US" dirty="0" smtClean="0"/>
              <a:t>和</a:t>
            </a:r>
            <a:r>
              <a:rPr lang="en-US" altLang="zh-CN" dirty="0" smtClean="0"/>
              <a:t>T</a:t>
            </a:r>
          </a:p>
          <a:p>
            <a:pPr marL="342900" indent="-342900">
              <a:lnSpc>
                <a:spcPct val="150000"/>
              </a:lnSpc>
              <a:buFont typeface="Arial" panose="020B0604020202020204" pitchFamily="34" charset="0"/>
              <a:buChar char="•"/>
              <a:defRPr/>
            </a:pPr>
            <a:r>
              <a:rPr lang="zh-CN" altLang="en-US" dirty="0" smtClean="0"/>
              <a:t>课题</a:t>
            </a:r>
            <a:r>
              <a:rPr lang="en-US" altLang="zh-CN" dirty="0" smtClean="0"/>
              <a:t>2</a:t>
            </a:r>
            <a:r>
              <a:rPr lang="zh-CN" altLang="en-US" dirty="0" smtClean="0"/>
              <a:t>：提升</a:t>
            </a:r>
            <a:r>
              <a:rPr lang="en-US" altLang="zh-CN" dirty="0" smtClean="0"/>
              <a:t>MO</a:t>
            </a:r>
            <a:r>
              <a:rPr lang="zh-CN" altLang="en-US" dirty="0" smtClean="0"/>
              <a:t>流程执行效率与执行质量</a:t>
            </a:r>
            <a:endParaRPr lang="en-US" altLang="zh-CN" dirty="0" smtClean="0"/>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Tree>
    <p:extLst>
      <p:ext uri="{BB962C8B-B14F-4D97-AF65-F5344CB8AC3E}">
        <p14:creationId xmlns:p14="http://schemas.microsoft.com/office/powerpoint/2010/main" val="345124730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en-US" altLang="zh-CN" dirty="0" smtClean="0"/>
              <a:t>MO</a:t>
            </a:r>
            <a:r>
              <a:rPr lang="zh-CN" altLang="en-US" dirty="0" smtClean="0"/>
              <a:t>流程目前执行的情况统计和分析</a:t>
            </a:r>
            <a:endParaRPr lang="zh-CN" altLang="en-US" dirty="0"/>
          </a:p>
        </p:txBody>
      </p:sp>
      <p:sp>
        <p:nvSpPr>
          <p:cNvPr id="5" name="文本框 4"/>
          <p:cNvSpPr txBox="1"/>
          <p:nvPr/>
        </p:nvSpPr>
        <p:spPr>
          <a:xfrm>
            <a:off x="267453" y="3558011"/>
            <a:ext cx="11520159" cy="2769989"/>
          </a:xfrm>
          <a:prstGeom prst="rect">
            <a:avLst/>
          </a:prstGeom>
          <a:noFill/>
        </p:spPr>
        <p:txBody>
          <a:bodyPr wrap="square" rtlCol="0">
            <a:spAutoFit/>
          </a:bodyPr>
          <a:lstStyle/>
          <a:p>
            <a:r>
              <a:rPr lang="zh-CN" altLang="en-US" sz="1600" b="1" dirty="0" smtClean="0"/>
              <a:t>流程执行数据分析：</a:t>
            </a:r>
            <a:endParaRPr lang="en-US" altLang="zh-CN" sz="1600" b="1" dirty="0" smtClean="0"/>
          </a:p>
          <a:p>
            <a:pPr marL="285750" indent="-285750">
              <a:buFont typeface="Arial" panose="020B0604020202020204" pitchFamily="34" charset="0"/>
              <a:buChar char="•"/>
            </a:pPr>
            <a:r>
              <a:rPr lang="zh-CN" altLang="en-US" sz="1400" dirty="0"/>
              <a:t>启动</a:t>
            </a:r>
            <a:r>
              <a:rPr lang="zh-CN" altLang="en-US" sz="1400" dirty="0" smtClean="0"/>
              <a:t>会执行情况是几个</a:t>
            </a:r>
            <a:r>
              <a:rPr lang="en-US" altLang="zh-CN" sz="1400" dirty="0" smtClean="0"/>
              <a:t>KCP/KDP</a:t>
            </a:r>
            <a:r>
              <a:rPr lang="zh-CN" altLang="en-US" sz="1400" dirty="0" smtClean="0"/>
              <a:t>环节里面执行最好的一个活动，但六个区域均未达到</a:t>
            </a:r>
            <a:r>
              <a:rPr lang="en-US" altLang="zh-CN" sz="1400" dirty="0" smtClean="0"/>
              <a:t>60%</a:t>
            </a:r>
            <a:r>
              <a:rPr lang="zh-CN" altLang="en-US" sz="1400" dirty="0" smtClean="0"/>
              <a:t>的执行目标。</a:t>
            </a:r>
            <a:endParaRPr lang="en-US" altLang="zh-CN" sz="1400" dirty="0" smtClean="0"/>
          </a:p>
          <a:p>
            <a:pPr marL="285750" indent="-285750">
              <a:buFont typeface="Arial" panose="020B0604020202020204" pitchFamily="34" charset="0"/>
              <a:buChar char="•"/>
            </a:pPr>
            <a:r>
              <a:rPr lang="zh-CN" altLang="en-US" sz="1400" dirty="0" smtClean="0"/>
              <a:t>解决方案评审会的执行场次和执行率从数据上来看很差，基本没有运转起来，部分区域习惯把解决方案评审放在项目分析会中执行，在</a:t>
            </a:r>
            <a:r>
              <a:rPr lang="en-US" altLang="zh-CN" sz="1400" dirty="0" smtClean="0"/>
              <a:t>CRM</a:t>
            </a:r>
            <a:r>
              <a:rPr lang="zh-CN" altLang="en-US" sz="1400" dirty="0" smtClean="0"/>
              <a:t>的大项目管理解决方案评审模块没有单独留痕，建议下一步对于解决方案评审会的执行情况和留痕还是要单独在对应的功能中实现。</a:t>
            </a:r>
            <a:endParaRPr lang="en-US" altLang="zh-CN" sz="1400" dirty="0" smtClean="0"/>
          </a:p>
          <a:p>
            <a:pPr marL="285750" indent="-285750">
              <a:buFont typeface="Arial" panose="020B0604020202020204" pitchFamily="34" charset="0"/>
              <a:buChar char="•"/>
            </a:pPr>
            <a:r>
              <a:rPr lang="zh-CN" altLang="en-US" sz="1400" dirty="0" smtClean="0"/>
              <a:t>标前评审会：从数据上看，执行场次和执行率都很低，几个区域均未达成目标。</a:t>
            </a:r>
            <a:endParaRPr lang="en-US" altLang="zh-CN" sz="1400" dirty="0" smtClean="0"/>
          </a:p>
          <a:p>
            <a:pPr marL="285750" indent="-285750">
              <a:buFont typeface="Arial" panose="020B0604020202020204" pitchFamily="34" charset="0"/>
              <a:buChar char="•"/>
            </a:pPr>
            <a:r>
              <a:rPr lang="zh-CN" altLang="en-US" sz="1400" dirty="0"/>
              <a:t>赢丢</a:t>
            </a:r>
            <a:r>
              <a:rPr lang="zh-CN" altLang="en-US" sz="1400" dirty="0" smtClean="0"/>
              <a:t>单复盘：赢单复盘没有开展，丢单复盘有部分执行，但离大项目</a:t>
            </a:r>
            <a:r>
              <a:rPr lang="en-US" altLang="zh-CN" sz="1400" dirty="0" smtClean="0"/>
              <a:t>100%</a:t>
            </a:r>
            <a:r>
              <a:rPr lang="zh-CN" altLang="en-US" sz="1400" dirty="0" smtClean="0"/>
              <a:t>复盘的目标有很大差距。</a:t>
            </a:r>
            <a:endParaRPr lang="en-US" altLang="zh-CN" sz="1400" dirty="0" smtClean="0"/>
          </a:p>
          <a:p>
            <a:pPr marL="285750" indent="-285750">
              <a:buFont typeface="Arial" panose="020B0604020202020204" pitchFamily="34" charset="0"/>
              <a:buChar char="•"/>
            </a:pPr>
            <a:endParaRPr lang="en-US" altLang="zh-CN" sz="1600" dirty="0"/>
          </a:p>
          <a:p>
            <a:r>
              <a:rPr lang="zh-CN" altLang="en-US" sz="1600" b="1" dirty="0" smtClean="0"/>
              <a:t>下一步执行建议</a:t>
            </a:r>
            <a:r>
              <a:rPr lang="zh-CN" altLang="en-US" sz="1600" dirty="0" smtClean="0"/>
              <a:t>：</a:t>
            </a:r>
            <a:endParaRPr lang="en-US" altLang="zh-CN" sz="1600" dirty="0" smtClean="0"/>
          </a:p>
          <a:p>
            <a:pPr marL="285750" indent="-285750">
              <a:buFont typeface="Arial" panose="020B0604020202020204" pitchFamily="34" charset="0"/>
              <a:buChar char="•"/>
            </a:pPr>
            <a:r>
              <a:rPr lang="zh-CN" altLang="en-US" sz="1400" dirty="0" smtClean="0"/>
              <a:t>通过既定的落地执行机制，由销管</a:t>
            </a:r>
            <a:r>
              <a:rPr lang="en-US" altLang="zh-CN" sz="1400" dirty="0" smtClean="0"/>
              <a:t>BP</a:t>
            </a:r>
            <a:r>
              <a:rPr lang="zh-CN" altLang="en-US" sz="1400" dirty="0" smtClean="0"/>
              <a:t>配合区域把</a:t>
            </a:r>
            <a:r>
              <a:rPr lang="en-US" altLang="zh-CN" sz="1400" dirty="0" smtClean="0"/>
              <a:t>KCP/KDP</a:t>
            </a:r>
            <a:r>
              <a:rPr lang="zh-CN" altLang="en-US" sz="1400" dirty="0" smtClean="0"/>
              <a:t>的执行率提升起来，区域一定要重视流程的执行率和遵从度。</a:t>
            </a:r>
            <a:endParaRPr lang="en-US" altLang="zh-CN" sz="1400" dirty="0" smtClean="0"/>
          </a:p>
          <a:p>
            <a:pPr marL="285750" indent="-285750">
              <a:buFont typeface="Arial" panose="020B0604020202020204" pitchFamily="34" charset="0"/>
              <a:buChar char="•"/>
            </a:pPr>
            <a:r>
              <a:rPr lang="zh-CN" altLang="en-US" sz="1400" dirty="0" smtClean="0"/>
              <a:t>除了执行率以外，重点活动的执行质量也需要提升，系统留痕，项目交付物的质量都需要严格把关，按照流程要求严格执行，对于项目质量定期进行抽查，对于质量不达标的情况进行重点辅导和跟踪</a:t>
            </a:r>
            <a:r>
              <a:rPr lang="zh-CN" altLang="en-US" sz="1400" dirty="0" smtClean="0"/>
              <a:t>。</a:t>
            </a:r>
            <a:endParaRPr lang="en-US" altLang="zh-CN" sz="1400" dirty="0" smtClean="0"/>
          </a:p>
          <a:p>
            <a:pPr marL="285750" indent="-285750">
              <a:buFont typeface="Arial" panose="020B0604020202020204" pitchFamily="34" charset="0"/>
              <a:buChar char="•"/>
            </a:pPr>
            <a:endParaRPr lang="zh-CN" altLang="en-US" sz="1400" dirty="0"/>
          </a:p>
        </p:txBody>
      </p:sp>
      <p:sp>
        <p:nvSpPr>
          <p:cNvPr id="6" name="文本占位符 1"/>
          <p:cNvSpPr txBox="1">
            <a:spLocks/>
          </p:cNvSpPr>
          <p:nvPr/>
        </p:nvSpPr>
        <p:spPr>
          <a:xfrm>
            <a:off x="500978" y="804370"/>
            <a:ext cx="9845268" cy="495935"/>
          </a:xfrm>
          <a:prstGeom prst="rect">
            <a:avLst/>
          </a:prstGeom>
        </p:spPr>
        <p:txBody>
          <a:bodyPr>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kumimoji="1" lang="zh-CN" altLang="en-US" sz="2200" b="1" u="none" strike="noStrike" kern="1200" cap="none" spc="150" normalizeH="0" baseline="0" dirty="0" smtClean="0">
                <a:solidFill>
                  <a:schemeClr val="tx1">
                    <a:lumMod val="50000"/>
                    <a:lumOff val="50000"/>
                  </a:schemeClr>
                </a:solidFill>
                <a:uFillTx/>
                <a:latin typeface="微软雅黑" panose="020B0503020204020204" pitchFamily="34" charset="-122"/>
                <a:ea typeface="微软雅黑" panose="020B0503020204020204" pitchFamily="34" charset="-122"/>
                <a:cs typeface="+mn-cs"/>
              </a:defRPr>
            </a:lvl1pPr>
            <a:lvl2pPr marL="457200" indent="0" algn="l" defTabSz="914400" rtl="0" eaLnBrk="1" fontAlgn="auto" latinLnBrk="0" hangingPunct="1">
              <a:lnSpc>
                <a:spcPct val="120000"/>
              </a:lnSpc>
              <a:spcBef>
                <a:spcPts val="0"/>
              </a:spcBef>
              <a:spcAft>
                <a:spcPts val="600"/>
              </a:spcAft>
              <a:buFont typeface="Arial" panose="020B0604020202020204" pitchFamily="34" charset="0"/>
              <a:buNone/>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914400" indent="0" algn="l" defTabSz="914400" rtl="0" eaLnBrk="1" fontAlgn="auto" latinLnBrk="0" hangingPunct="1">
              <a:lnSpc>
                <a:spcPct val="120000"/>
              </a:lnSpc>
              <a:spcBef>
                <a:spcPts val="0"/>
              </a:spcBef>
              <a:spcAft>
                <a:spcPts val="6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mn-lt"/>
                <a:ea typeface="+mn-ea"/>
                <a:cs typeface="+mn-cs"/>
              </a:defRPr>
            </a:lvl3pPr>
            <a:lvl4pPr marL="1371600" indent="0" algn="l" defTabSz="914400" rtl="0" eaLnBrk="1" fontAlgn="auto" latinLnBrk="0" hangingPunct="1">
              <a:lnSpc>
                <a:spcPct val="120000"/>
              </a:lnSpc>
              <a:spcBef>
                <a:spcPts val="0"/>
              </a:spcBef>
              <a:spcAft>
                <a:spcPts val="300"/>
              </a:spcAft>
              <a:buFont typeface="Wingdings" panose="05000000000000000000" charset="0"/>
              <a:buNone/>
              <a:defRPr sz="1400" u="none" strike="noStrike" kern="1200" cap="none" spc="150" normalizeH="0" baseline="0">
                <a:solidFill>
                  <a:schemeClr val="tx1">
                    <a:lumMod val="65000"/>
                    <a:lumOff val="35000"/>
                  </a:schemeClr>
                </a:solidFill>
                <a:uFillTx/>
                <a:latin typeface="+mn-lt"/>
                <a:ea typeface="+mn-ea"/>
                <a:cs typeface="+mn-cs"/>
              </a:defRPr>
            </a:lvl4pPr>
            <a:lvl5pPr marL="1828800" indent="0" algn="l" defTabSz="914400" rtl="0" eaLnBrk="1" fontAlgn="auto" latinLnBrk="0" hangingPunct="1">
              <a:lnSpc>
                <a:spcPct val="120000"/>
              </a:lnSpc>
              <a:spcBef>
                <a:spcPts val="0"/>
              </a:spcBef>
              <a:spcAft>
                <a:spcPts val="300"/>
              </a:spcAft>
              <a:buFont typeface="Arial" panose="020B0604020202020204" pitchFamily="34" charset="0"/>
              <a:buNone/>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1400" dirty="0" smtClean="0">
                <a:solidFill>
                  <a:srgbClr val="FF0000"/>
                </a:solidFill>
              </a:rPr>
              <a:t>MO KCP/KDP</a:t>
            </a:r>
            <a:r>
              <a:rPr lang="zh-CN" altLang="en-US" sz="1400" dirty="0" smtClean="0">
                <a:solidFill>
                  <a:srgbClr val="FF0000"/>
                </a:solidFill>
              </a:rPr>
              <a:t>执行跟踪</a:t>
            </a:r>
            <a:r>
              <a:rPr lang="en-US" altLang="zh-CN" sz="1400" dirty="0" smtClean="0">
                <a:solidFill>
                  <a:srgbClr val="FF0000"/>
                </a:solidFill>
              </a:rPr>
              <a:t>8</a:t>
            </a:r>
            <a:r>
              <a:rPr lang="zh-CN" altLang="en-US" sz="1400" dirty="0" smtClean="0">
                <a:solidFill>
                  <a:srgbClr val="FF0000"/>
                </a:solidFill>
              </a:rPr>
              <a:t>个区域：</a:t>
            </a:r>
            <a:r>
              <a:rPr lang="zh-CN" altLang="en-US" sz="1400" dirty="0"/>
              <a:t>湖南，广东，福建，山东，川藏，河南，北京，</a:t>
            </a:r>
            <a:r>
              <a:rPr lang="zh-CN" altLang="en-US" sz="1400" dirty="0" smtClean="0"/>
              <a:t>江西</a:t>
            </a:r>
            <a:endParaRPr lang="en-US" altLang="zh-CN" sz="1400" dirty="0" smtClean="0">
              <a:solidFill>
                <a:srgbClr val="FF0000"/>
              </a:solidFill>
            </a:endParaRPr>
          </a:p>
          <a:p>
            <a:pPr>
              <a:lnSpc>
                <a:spcPct val="100000"/>
              </a:lnSpc>
            </a:pPr>
            <a:r>
              <a:rPr lang="zh-CN" altLang="en-US" sz="1400" dirty="0">
                <a:solidFill>
                  <a:srgbClr val="FF0000"/>
                </a:solidFill>
              </a:rPr>
              <a:t>供应</a:t>
            </a:r>
            <a:r>
              <a:rPr lang="zh-CN" altLang="en-US" sz="1400" dirty="0" smtClean="0">
                <a:solidFill>
                  <a:srgbClr val="FF0000"/>
                </a:solidFill>
              </a:rPr>
              <a:t>链协同试点</a:t>
            </a:r>
            <a:r>
              <a:rPr lang="en-US" altLang="zh-CN" sz="1400" dirty="0" smtClean="0">
                <a:solidFill>
                  <a:srgbClr val="FF0000"/>
                </a:solidFill>
              </a:rPr>
              <a:t>4</a:t>
            </a:r>
            <a:r>
              <a:rPr lang="zh-CN" altLang="en-US" sz="1400" dirty="0" smtClean="0">
                <a:solidFill>
                  <a:srgbClr val="FF0000"/>
                </a:solidFill>
              </a:rPr>
              <a:t>个区域：</a:t>
            </a:r>
            <a:r>
              <a:rPr lang="zh-CN" altLang="en-US" sz="1400" dirty="0"/>
              <a:t>湖南，广东，福建，山东</a:t>
            </a:r>
          </a:p>
          <a:p>
            <a:pPr>
              <a:lnSpc>
                <a:spcPct val="100000"/>
              </a:lnSpc>
            </a:pPr>
            <a:endParaRPr lang="zh-CN" altLang="en-US" sz="1400" dirty="0">
              <a:solidFill>
                <a:srgbClr val="FF0000"/>
              </a:solidFill>
            </a:endParaRPr>
          </a:p>
        </p:txBody>
      </p:sp>
      <p:pic>
        <p:nvPicPr>
          <p:cNvPr id="3" name="图片 2"/>
          <p:cNvPicPr>
            <a:picLocks noChangeAspect="1"/>
          </p:cNvPicPr>
          <p:nvPr/>
        </p:nvPicPr>
        <p:blipFill>
          <a:blip r:embed="rId2"/>
          <a:stretch>
            <a:fillRect/>
          </a:stretch>
        </p:blipFill>
        <p:spPr>
          <a:xfrm>
            <a:off x="729512" y="1449732"/>
            <a:ext cx="10388144" cy="2011226"/>
          </a:xfrm>
          <a:prstGeom prst="rect">
            <a:avLst/>
          </a:prstGeom>
        </p:spPr>
      </p:pic>
    </p:spTree>
    <p:extLst>
      <p:ext uri="{BB962C8B-B14F-4D97-AF65-F5344CB8AC3E}">
        <p14:creationId xmlns:p14="http://schemas.microsoft.com/office/powerpoint/2010/main" val="389020046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en-US" altLang="zh-CN" dirty="0" smtClean="0"/>
              <a:t>MO</a:t>
            </a:r>
            <a:r>
              <a:rPr lang="zh-CN" altLang="en-US" dirty="0" smtClean="0"/>
              <a:t>流程端到端设计思路</a:t>
            </a:r>
            <a:endParaRPr lang="zh-CN" altLang="en-US" dirty="0"/>
          </a:p>
        </p:txBody>
      </p:sp>
      <p:sp>
        <p:nvSpPr>
          <p:cNvPr id="12" name="圆角矩形 11"/>
          <p:cNvSpPr/>
          <p:nvPr/>
        </p:nvSpPr>
        <p:spPr bwMode="auto">
          <a:xfrm>
            <a:off x="6291301" y="3580702"/>
            <a:ext cx="5175895" cy="2832338"/>
          </a:xfrm>
          <a:prstGeom prst="roundRect">
            <a:avLst>
              <a:gd name="adj" fmla="val 6098"/>
            </a:avLst>
          </a:prstGeom>
          <a:solidFill>
            <a:srgbClr val="FBD89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3" name="矩形 12"/>
          <p:cNvSpPr/>
          <p:nvPr/>
        </p:nvSpPr>
        <p:spPr bwMode="auto">
          <a:xfrm>
            <a:off x="6282226" y="3580702"/>
            <a:ext cx="5174253" cy="528389"/>
          </a:xfrm>
          <a:prstGeom prst="rect">
            <a:avLst/>
          </a:prstGeom>
          <a:solidFill>
            <a:srgbClr val="0070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5" name="圆角矩形 14"/>
          <p:cNvSpPr/>
          <p:nvPr/>
        </p:nvSpPr>
        <p:spPr bwMode="auto">
          <a:xfrm>
            <a:off x="868476" y="3566975"/>
            <a:ext cx="5273121" cy="2846065"/>
          </a:xfrm>
          <a:prstGeom prst="roundRect">
            <a:avLst>
              <a:gd name="adj" fmla="val 7017"/>
            </a:avLst>
          </a:prstGeom>
          <a:solidFill>
            <a:srgbClr val="FBD89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6" name="矩形 15"/>
          <p:cNvSpPr/>
          <p:nvPr/>
        </p:nvSpPr>
        <p:spPr bwMode="auto">
          <a:xfrm>
            <a:off x="859435" y="3580702"/>
            <a:ext cx="5282161" cy="528389"/>
          </a:xfrm>
          <a:prstGeom prst="rect">
            <a:avLst/>
          </a:prstGeom>
          <a:solidFill>
            <a:srgbClr val="0070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7" name="AutoShape 16"/>
          <p:cNvSpPr>
            <a:spLocks noChangeArrowheads="1"/>
          </p:cNvSpPr>
          <p:nvPr/>
        </p:nvSpPr>
        <p:spPr bwMode="auto">
          <a:xfrm>
            <a:off x="870147" y="1142331"/>
            <a:ext cx="10597176" cy="1298899"/>
          </a:xfrm>
          <a:prstGeom prst="chevron">
            <a:avLst>
              <a:gd name="adj" fmla="val 11465"/>
            </a:avLst>
          </a:prstGeom>
          <a:solidFill>
            <a:srgbClr val="00ACE2">
              <a:alpha val="80000"/>
            </a:srgbClr>
          </a:solidFill>
          <a:ln w="9525" cap="flat" cmpd="sng" algn="ctr">
            <a:noFill/>
            <a:prstDash val="solid"/>
            <a:round/>
            <a:headEnd type="none" w="med" len="med"/>
            <a:tailEnd type="none" w="med" len="med"/>
          </a:ln>
          <a:effectLst/>
        </p:spPr>
        <p:txBody>
          <a:bodyPr lIns="77939" tIns="38970" rIns="77939" bIns="38970"/>
          <a:lstStyle/>
          <a:p>
            <a:pPr algn="ctr" defTabSz="582930">
              <a:defRPr/>
            </a:pPr>
            <a:r>
              <a:rPr lang="en-US" altLang="zh-CN" sz="1600" b="1" dirty="0" smtClean="0">
                <a:solidFill>
                  <a:srgbClr val="FFFFFF"/>
                </a:solidFill>
                <a:latin typeface="微软雅黑" panose="020B0503020204020204" pitchFamily="34" charset="-122"/>
                <a:ea typeface="微软雅黑" panose="020B0503020204020204" pitchFamily="34" charset="-122"/>
                <a:cs typeface="Arial" panose="020B0604020202090204" pitchFamily="34" charset="0"/>
              </a:rPr>
              <a:t>MO</a:t>
            </a:r>
            <a:r>
              <a:rPr lang="zh-CN" altLang="en-US" sz="1600" b="1" dirty="0" smtClean="0">
                <a:solidFill>
                  <a:srgbClr val="FFFFFF"/>
                </a:solidFill>
                <a:latin typeface="微软雅黑" panose="020B0503020204020204" pitchFamily="34" charset="-122"/>
                <a:ea typeface="微软雅黑" panose="020B0503020204020204" pitchFamily="34" charset="-122"/>
                <a:cs typeface="Arial" panose="020B0604020202090204" pitchFamily="34" charset="0"/>
              </a:rPr>
              <a:t>管理</a:t>
            </a:r>
            <a:r>
              <a:rPr lang="zh-CN" altLang="en-US" sz="16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rPr>
              <a:t>机会点</a:t>
            </a:r>
            <a:endParaRPr lang="zh-HK" altLang="en-US" sz="16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8" name="AutoShape 12"/>
          <p:cNvSpPr>
            <a:spLocks noChangeArrowheads="1"/>
          </p:cNvSpPr>
          <p:nvPr/>
        </p:nvSpPr>
        <p:spPr bwMode="gray">
          <a:xfrm>
            <a:off x="3341557" y="1931895"/>
            <a:ext cx="2586134" cy="437462"/>
          </a:xfrm>
          <a:prstGeom prst="chevron">
            <a:avLst>
              <a:gd name="adj" fmla="val 15486"/>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9" name="AutoShape 13"/>
          <p:cNvSpPr>
            <a:spLocks noChangeArrowheads="1"/>
          </p:cNvSpPr>
          <p:nvPr/>
        </p:nvSpPr>
        <p:spPr bwMode="gray">
          <a:xfrm>
            <a:off x="5903744" y="1931895"/>
            <a:ext cx="2758542" cy="437462"/>
          </a:xfrm>
          <a:prstGeom prst="chevron">
            <a:avLst>
              <a:gd name="adj" fmla="val 16781"/>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0" name="AutoShape 10"/>
          <p:cNvSpPr>
            <a:spLocks noChangeArrowheads="1"/>
          </p:cNvSpPr>
          <p:nvPr/>
        </p:nvSpPr>
        <p:spPr bwMode="gray">
          <a:xfrm>
            <a:off x="1016664" y="1931895"/>
            <a:ext cx="2348839" cy="437462"/>
          </a:xfrm>
          <a:prstGeom prst="chevron">
            <a:avLst>
              <a:gd name="adj" fmla="val 15711"/>
            </a:avLst>
          </a:prstGeom>
          <a:solidFill>
            <a:schemeClr val="bg1"/>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p>
        </p:txBody>
      </p:sp>
      <p:sp>
        <p:nvSpPr>
          <p:cNvPr id="21" name="AutoShape 14"/>
          <p:cNvSpPr>
            <a:spLocks noChangeArrowheads="1"/>
          </p:cNvSpPr>
          <p:nvPr/>
        </p:nvSpPr>
        <p:spPr bwMode="gray">
          <a:xfrm>
            <a:off x="8638339" y="1931895"/>
            <a:ext cx="2658433" cy="437462"/>
          </a:xfrm>
          <a:prstGeom prst="chevron">
            <a:avLst>
              <a:gd name="adj" fmla="val 15684"/>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2" name="AutoShape 10"/>
          <p:cNvSpPr>
            <a:spLocks noChangeArrowheads="1"/>
          </p:cNvSpPr>
          <p:nvPr/>
        </p:nvSpPr>
        <p:spPr bwMode="gray">
          <a:xfrm>
            <a:off x="1122793" y="1565654"/>
            <a:ext cx="10173980" cy="289837"/>
          </a:xfrm>
          <a:prstGeom prst="chevron">
            <a:avLst>
              <a:gd name="adj" fmla="val 15711"/>
            </a:avLst>
          </a:prstGeom>
          <a:solidFill>
            <a:schemeClr val="bg1">
              <a:lumMod val="85000"/>
            </a:schemeClr>
          </a:solidFill>
          <a:ln w="12700" algn="ctr">
            <a:noFill/>
            <a:miter lim="800000"/>
          </a:ln>
          <a:effectLst/>
        </p:spPr>
        <p:txBody>
          <a:bodyPr lIns="0" tIns="7793" rIns="0" bIns="7793" anchor="ctr"/>
          <a:lstStyle/>
          <a:p>
            <a:pPr algn="ctr" eaLnBrk="0" hangingPunct="0">
              <a:buSzPct val="100000"/>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管理决策链</a:t>
            </a:r>
          </a:p>
        </p:txBody>
      </p:sp>
      <p:sp>
        <p:nvSpPr>
          <p:cNvPr id="24" name="AutoShape 47"/>
          <p:cNvSpPr>
            <a:spLocks noChangeArrowheads="1"/>
          </p:cNvSpPr>
          <p:nvPr/>
        </p:nvSpPr>
        <p:spPr bwMode="auto">
          <a:xfrm>
            <a:off x="7119235" y="1628849"/>
            <a:ext cx="613356" cy="259035"/>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5" name="Rectangle 76"/>
          <p:cNvSpPr>
            <a:spLocks noChangeArrowheads="1"/>
          </p:cNvSpPr>
          <p:nvPr/>
        </p:nvSpPr>
        <p:spPr bwMode="auto">
          <a:xfrm>
            <a:off x="7049580" y="1642254"/>
            <a:ext cx="752667" cy="230832"/>
          </a:xfrm>
          <a:prstGeom prst="rect">
            <a:avLst/>
          </a:prstGeom>
          <a:noFill/>
          <a:ln w="9525" algn="ctr">
            <a:noFill/>
            <a:miter lim="800000"/>
          </a:ln>
        </p:spPr>
        <p:txBody>
          <a:bodyPr anchor="ctr">
            <a:spAutoFit/>
          </a:bodyPr>
          <a:lstStyle/>
          <a:p>
            <a:pPr algn="ctr"/>
            <a:r>
              <a:rPr lang="zh-CN" altLang="en-US" sz="900" b="1" dirty="0" smtClean="0">
                <a:solidFill>
                  <a:srgbClr val="000000"/>
                </a:solidFill>
                <a:latin typeface="微软雅黑" panose="020B0503020204020204" pitchFamily="34" charset="-122"/>
                <a:ea typeface="微软雅黑" panose="020B0503020204020204" pitchFamily="34" charset="-122"/>
                <a:cs typeface="Arial" panose="020B0604020202090204" pitchFamily="34" charset="0"/>
              </a:rPr>
              <a:t>投标决策</a:t>
            </a:r>
            <a:endParaRPr lang="en-US" altLang="zh-CN" sz="900" b="1" dirty="0">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7" name="AutoShape 80"/>
          <p:cNvSpPr>
            <a:spLocks noChangeArrowheads="1"/>
          </p:cNvSpPr>
          <p:nvPr/>
        </p:nvSpPr>
        <p:spPr bwMode="auto">
          <a:xfrm>
            <a:off x="9158198" y="1618743"/>
            <a:ext cx="656559" cy="275837"/>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8" name="Rectangle 81"/>
          <p:cNvSpPr>
            <a:spLocks noChangeArrowheads="1"/>
          </p:cNvSpPr>
          <p:nvPr/>
        </p:nvSpPr>
        <p:spPr bwMode="auto">
          <a:xfrm>
            <a:off x="9109218" y="1640548"/>
            <a:ext cx="754521" cy="230832"/>
          </a:xfrm>
          <a:prstGeom prst="rect">
            <a:avLst/>
          </a:prstGeom>
          <a:noFill/>
          <a:ln w="9525" algn="ctr">
            <a:noFill/>
            <a:miter lim="800000"/>
          </a:ln>
        </p:spPr>
        <p:txBody>
          <a:bodyPr anchor="ctr">
            <a:spAutoFit/>
          </a:bodyPr>
          <a:lstStyle/>
          <a:p>
            <a:pPr algn="ctr"/>
            <a:r>
              <a:rPr lang="zh-CN" altLang="en-US" sz="900" b="1" dirty="0" smtClean="0">
                <a:solidFill>
                  <a:srgbClr val="000000"/>
                </a:solidFill>
                <a:latin typeface="微软雅黑" panose="020B0503020204020204" pitchFamily="34" charset="-122"/>
                <a:ea typeface="微软雅黑" panose="020B0503020204020204" pitchFamily="34" charset="-122"/>
                <a:cs typeface="Arial" panose="020B0604020202090204" pitchFamily="34" charset="0"/>
              </a:rPr>
              <a:t>签约决策</a:t>
            </a:r>
            <a:endParaRPr lang="en-US" altLang="zh-CN" sz="900" b="1" dirty="0">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0" name="AutoShape 47"/>
          <p:cNvSpPr>
            <a:spLocks noChangeArrowheads="1"/>
          </p:cNvSpPr>
          <p:nvPr/>
        </p:nvSpPr>
        <p:spPr bwMode="auto">
          <a:xfrm>
            <a:off x="2293640" y="1642325"/>
            <a:ext cx="613356" cy="259035"/>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1" name="Rectangle 76"/>
          <p:cNvSpPr>
            <a:spLocks noChangeArrowheads="1"/>
          </p:cNvSpPr>
          <p:nvPr/>
        </p:nvSpPr>
        <p:spPr bwMode="auto">
          <a:xfrm>
            <a:off x="2223984" y="1655730"/>
            <a:ext cx="752667" cy="230832"/>
          </a:xfrm>
          <a:prstGeom prst="rect">
            <a:avLst/>
          </a:prstGeom>
          <a:noFill/>
          <a:ln w="9525" algn="ctr">
            <a:noFill/>
            <a:miter lim="800000"/>
          </a:ln>
        </p:spPr>
        <p:txBody>
          <a:bodyPr anchor="ctr">
            <a:spAutoFit/>
          </a:bodyPr>
          <a:lstStyle/>
          <a:p>
            <a:pPr algn="ctr"/>
            <a:r>
              <a:rPr lang="zh-CN" altLang="en-US" sz="900" b="1" dirty="0" smtClean="0">
                <a:solidFill>
                  <a:srgbClr val="000000"/>
                </a:solidFill>
                <a:latin typeface="微软雅黑" panose="020B0503020204020204" pitchFamily="34" charset="-122"/>
                <a:ea typeface="微软雅黑" panose="020B0503020204020204" pitchFamily="34" charset="-122"/>
                <a:cs typeface="Arial" panose="020B0604020202090204" pitchFamily="34" charset="0"/>
              </a:rPr>
              <a:t>立项决策</a:t>
            </a:r>
            <a:endParaRPr lang="en-US" altLang="zh-CN" sz="900" b="1" dirty="0">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2" name="Flowchart: Process 113"/>
          <p:cNvSpPr>
            <a:spLocks noChangeArrowheads="1"/>
          </p:cNvSpPr>
          <p:nvPr/>
        </p:nvSpPr>
        <p:spPr bwMode="auto">
          <a:xfrm>
            <a:off x="3562472" y="2407529"/>
            <a:ext cx="2384063" cy="1105003"/>
          </a:xfrm>
          <a:prstGeom prst="flowChartProcess">
            <a:avLst/>
          </a:prstGeom>
          <a:noFill/>
          <a:ln w="28575" algn="ctr">
            <a:noFill/>
            <a:round/>
          </a:ln>
        </p:spPr>
        <p:txBody>
          <a:bodyPr lIns="77939" tIns="38970" rIns="77939" bIns="38970"/>
          <a:lstStyle/>
          <a:p>
            <a:pPr defTabSz="582930">
              <a:defRPr/>
            </a:pPr>
            <a:endParaRPr lang="en-US" altLang="zh-CN" sz="1400" dirty="0">
              <a:solidFill>
                <a:srgbClr val="080808"/>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3" name="Flowchart: Process 115"/>
          <p:cNvSpPr>
            <a:spLocks noChangeArrowheads="1"/>
          </p:cNvSpPr>
          <p:nvPr/>
        </p:nvSpPr>
        <p:spPr bwMode="auto">
          <a:xfrm>
            <a:off x="6152313" y="2407529"/>
            <a:ext cx="2382209" cy="1105003"/>
          </a:xfrm>
          <a:prstGeom prst="flowChartProcess">
            <a:avLst/>
          </a:prstGeom>
          <a:noFill/>
          <a:ln w="28575" algn="ctr">
            <a:noFill/>
            <a:round/>
          </a:ln>
        </p:spPr>
        <p:txBody>
          <a:bodyPr lIns="77939" tIns="38970" rIns="77939" bIns="38970"/>
          <a:lstStyle/>
          <a:p>
            <a:pPr defTabSz="582930" fontAlgn="ctr">
              <a:defRPr/>
            </a:pPr>
            <a:endParaRPr lang="en-US" altLang="zh-CN" sz="1400" dirty="0">
              <a:solidFill>
                <a:srgbClr val="080808"/>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4" name="Flowchart: Process 117"/>
          <p:cNvSpPr>
            <a:spLocks noChangeArrowheads="1"/>
          </p:cNvSpPr>
          <p:nvPr/>
        </p:nvSpPr>
        <p:spPr bwMode="auto">
          <a:xfrm>
            <a:off x="8740300" y="2517493"/>
            <a:ext cx="2473048" cy="842228"/>
          </a:xfrm>
          <a:prstGeom prst="flowChartProcess">
            <a:avLst/>
          </a:prstGeom>
          <a:noFill/>
          <a:ln w="28575" algn="ctr">
            <a:noFill/>
            <a:round/>
          </a:ln>
        </p:spPr>
        <p:txBody>
          <a:bodyPr lIns="77939" tIns="38970" rIns="77939" bIns="38970"/>
          <a:lstStyle/>
          <a:p>
            <a:pPr defTabSz="582930" fontAlgn="ctr">
              <a:defRPr/>
            </a:pPr>
            <a:endPar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5" name="Flowchart: Process 109"/>
          <p:cNvSpPr>
            <a:spLocks noChangeArrowheads="1"/>
          </p:cNvSpPr>
          <p:nvPr/>
        </p:nvSpPr>
        <p:spPr bwMode="auto">
          <a:xfrm>
            <a:off x="823223" y="2615140"/>
            <a:ext cx="2652872" cy="722368"/>
          </a:xfrm>
          <a:prstGeom prst="flowChartProcess">
            <a:avLst/>
          </a:prstGeom>
          <a:noFill/>
          <a:ln w="28575" algn="ctr">
            <a:noFill/>
            <a:round/>
          </a:ln>
        </p:spPr>
        <p:txBody>
          <a:bodyPr lIns="77939" tIns="38970" rIns="77939" bIns="38970"/>
          <a:lstStyle/>
          <a:p>
            <a:pPr defTabSz="582930" eaLnBrk="0" hangingPunct="0">
              <a:defRPr/>
            </a:pPr>
            <a:endParaRPr lang="en-US" altLang="zh-CN" sz="1400" dirty="0">
              <a:solidFill>
                <a:schemeClr val="bg2">
                  <a:lumMod val="7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6" name="Flowchart: Process 115"/>
          <p:cNvSpPr>
            <a:spLocks noChangeArrowheads="1"/>
          </p:cNvSpPr>
          <p:nvPr/>
        </p:nvSpPr>
        <p:spPr bwMode="auto">
          <a:xfrm>
            <a:off x="5973331" y="2594506"/>
            <a:ext cx="2436055" cy="765216"/>
          </a:xfrm>
          <a:prstGeom prst="flowChartProcess">
            <a:avLst/>
          </a:prstGeom>
          <a:noFill/>
          <a:ln w="28575" algn="ctr">
            <a:noFill/>
            <a:round/>
          </a:ln>
        </p:spPr>
        <p:txBody>
          <a:bodyPr lIns="77939" tIns="38970" rIns="77939" bIns="38970"/>
          <a:lstStyle/>
          <a:p>
            <a:pPr defTabSz="582930" fontAlgn="ctr">
              <a:defRPr/>
            </a:pPr>
            <a:endParaRPr lang="en-US" altLang="zh-CN" sz="1400" dirty="0">
              <a:solidFill>
                <a:srgbClr val="080808"/>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7" name="TextBox 15"/>
          <p:cNvSpPr txBox="1"/>
          <p:nvPr/>
        </p:nvSpPr>
        <p:spPr bwMode="auto">
          <a:xfrm>
            <a:off x="2907257" y="3688976"/>
            <a:ext cx="2009800" cy="294145"/>
          </a:xfrm>
          <a:prstGeom prst="rect">
            <a:avLst/>
          </a:prstGeom>
          <a:noFill/>
          <a:ln w="9525">
            <a:noFill/>
            <a:miter lim="800000"/>
          </a:ln>
        </p:spPr>
        <p:txBody>
          <a:bodyPr wrap="square" lIns="77939" tIns="38970" rIns="77939" bIns="38970" anchor="b">
            <a:spAutoFit/>
          </a:bodyPr>
          <a:lstStyle>
            <a:defPPr>
              <a:defRPr lang="zh-CN"/>
            </a:defPPr>
            <a:lvl1pPr algn="l" rtl="0" fontAlgn="base">
              <a:spcBef>
                <a:spcPct val="0"/>
              </a:spcBef>
              <a:spcAft>
                <a:spcPct val="0"/>
              </a:spcAft>
              <a:defRPr kern="1200">
                <a:solidFill>
                  <a:schemeClr val="tx1"/>
                </a:solidFill>
                <a:latin typeface="Calibri" panose="020F0502020204030204" charset="0"/>
                <a:ea typeface="宋体" pitchFamily="2" charset="-122"/>
                <a:cs typeface="+mn-cs"/>
              </a:defRPr>
            </a:lvl1pPr>
            <a:lvl2pPr marL="457200" algn="l" rtl="0" fontAlgn="base">
              <a:spcBef>
                <a:spcPct val="0"/>
              </a:spcBef>
              <a:spcAft>
                <a:spcPct val="0"/>
              </a:spcAft>
              <a:defRPr kern="1200">
                <a:solidFill>
                  <a:schemeClr val="tx1"/>
                </a:solidFill>
                <a:latin typeface="Calibri" panose="020F0502020204030204" charset="0"/>
                <a:ea typeface="宋体" pitchFamily="2" charset="-122"/>
                <a:cs typeface="+mn-cs"/>
              </a:defRPr>
            </a:lvl2pPr>
            <a:lvl3pPr marL="914400" algn="l" rtl="0" fontAlgn="base">
              <a:spcBef>
                <a:spcPct val="0"/>
              </a:spcBef>
              <a:spcAft>
                <a:spcPct val="0"/>
              </a:spcAft>
              <a:defRPr kern="1200">
                <a:solidFill>
                  <a:schemeClr val="tx1"/>
                </a:solidFill>
                <a:latin typeface="Calibri" panose="020F0502020204030204" charset="0"/>
                <a:ea typeface="宋体" pitchFamily="2" charset="-122"/>
                <a:cs typeface="+mn-cs"/>
              </a:defRPr>
            </a:lvl3pPr>
            <a:lvl4pPr marL="1371600" algn="l" rtl="0" fontAlgn="base">
              <a:spcBef>
                <a:spcPct val="0"/>
              </a:spcBef>
              <a:spcAft>
                <a:spcPct val="0"/>
              </a:spcAft>
              <a:defRPr kern="1200">
                <a:solidFill>
                  <a:schemeClr val="tx1"/>
                </a:solidFill>
                <a:latin typeface="Calibri" panose="020F0502020204030204" charset="0"/>
                <a:ea typeface="宋体" pitchFamily="2" charset="-122"/>
                <a:cs typeface="+mn-cs"/>
              </a:defRPr>
            </a:lvl4pPr>
            <a:lvl5pPr marL="1828800" algn="l" rtl="0" fontAlgn="base">
              <a:spcBef>
                <a:spcPct val="0"/>
              </a:spcBef>
              <a:spcAft>
                <a:spcPct val="0"/>
              </a:spcAft>
              <a:defRPr kern="1200">
                <a:solidFill>
                  <a:schemeClr val="tx1"/>
                </a:solidFill>
                <a:latin typeface="Calibri" panose="020F0502020204030204" charset="0"/>
                <a:ea typeface="宋体" pitchFamily="2" charset="-122"/>
                <a:cs typeface="+mn-cs"/>
              </a:defRPr>
            </a:lvl5pPr>
            <a:lvl6pPr marL="2286000" algn="l" defTabSz="914400" rtl="0" eaLnBrk="1" latinLnBrk="0" hangingPunct="1">
              <a:defRPr kern="1200">
                <a:solidFill>
                  <a:schemeClr val="tx1"/>
                </a:solidFill>
                <a:latin typeface="Calibri" panose="020F0502020204030204" charset="0"/>
                <a:ea typeface="宋体" pitchFamily="2" charset="-122"/>
                <a:cs typeface="+mn-cs"/>
              </a:defRPr>
            </a:lvl6pPr>
            <a:lvl7pPr marL="2743200" algn="l" defTabSz="914400" rtl="0" eaLnBrk="1" latinLnBrk="0" hangingPunct="1">
              <a:defRPr kern="1200">
                <a:solidFill>
                  <a:schemeClr val="tx1"/>
                </a:solidFill>
                <a:latin typeface="Calibri" panose="020F0502020204030204" charset="0"/>
                <a:ea typeface="宋体" pitchFamily="2" charset="-122"/>
                <a:cs typeface="+mn-cs"/>
              </a:defRPr>
            </a:lvl7pPr>
            <a:lvl8pPr marL="3200400" algn="l" defTabSz="914400" rtl="0" eaLnBrk="1" latinLnBrk="0" hangingPunct="1">
              <a:defRPr kern="1200">
                <a:solidFill>
                  <a:schemeClr val="tx1"/>
                </a:solidFill>
                <a:latin typeface="Calibri" panose="020F0502020204030204" charset="0"/>
                <a:ea typeface="宋体" pitchFamily="2" charset="-122"/>
                <a:cs typeface="+mn-cs"/>
              </a:defRPr>
            </a:lvl8pPr>
            <a:lvl9pPr marL="3657600" algn="l" defTabSz="914400" rtl="0" eaLnBrk="1" latinLnBrk="0" hangingPunct="1">
              <a:defRPr kern="1200">
                <a:solidFill>
                  <a:schemeClr val="tx1"/>
                </a:solidFill>
                <a:latin typeface="Calibri" panose="020F0502020204030204" charset="0"/>
                <a:ea typeface="宋体" pitchFamily="2" charset="-122"/>
                <a:cs typeface="+mn-cs"/>
              </a:defRPr>
            </a:lvl9pPr>
          </a:lstStyle>
          <a:p>
            <a:pPr>
              <a:defRPr/>
            </a:pPr>
            <a:r>
              <a:rPr lang="zh-CN" altLang="en-US" sz="14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关键</a:t>
            </a:r>
            <a:r>
              <a:rPr lang="en-US" altLang="zh-CN" sz="14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KCP/KDP</a:t>
            </a:r>
            <a:r>
              <a:rPr lang="zh-CN" altLang="en-US" sz="14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设计</a:t>
            </a:r>
            <a:endParaRPr lang="en-US" altLang="zh-CN" sz="1400" b="1"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8" name="TextBox 103"/>
          <p:cNvSpPr txBox="1"/>
          <p:nvPr/>
        </p:nvSpPr>
        <p:spPr bwMode="auto">
          <a:xfrm>
            <a:off x="8236622" y="3688976"/>
            <a:ext cx="2192970" cy="294145"/>
          </a:xfrm>
          <a:prstGeom prst="rect">
            <a:avLst/>
          </a:prstGeom>
          <a:noFill/>
          <a:ln w="9525">
            <a:noFill/>
            <a:miter lim="800000"/>
          </a:ln>
        </p:spPr>
        <p:txBody>
          <a:bodyPr wrap="square" lIns="77939" tIns="38970" rIns="77939" bIns="38970" anchor="b">
            <a:spAutoFit/>
          </a:bodyPr>
          <a:lstStyle>
            <a:defPPr>
              <a:defRPr lang="zh-CN"/>
            </a:defPPr>
            <a:lvl1pPr algn="l" rtl="0" fontAlgn="base">
              <a:spcBef>
                <a:spcPct val="0"/>
              </a:spcBef>
              <a:spcAft>
                <a:spcPct val="0"/>
              </a:spcAft>
              <a:defRPr kern="1200">
                <a:solidFill>
                  <a:schemeClr val="tx1"/>
                </a:solidFill>
                <a:latin typeface="Calibri" panose="020F0502020204030204" charset="0"/>
                <a:ea typeface="宋体" pitchFamily="2" charset="-122"/>
                <a:cs typeface="+mn-cs"/>
              </a:defRPr>
            </a:lvl1pPr>
            <a:lvl2pPr marL="457200" algn="l" rtl="0" fontAlgn="base">
              <a:spcBef>
                <a:spcPct val="0"/>
              </a:spcBef>
              <a:spcAft>
                <a:spcPct val="0"/>
              </a:spcAft>
              <a:defRPr kern="1200">
                <a:solidFill>
                  <a:schemeClr val="tx1"/>
                </a:solidFill>
                <a:latin typeface="Calibri" panose="020F0502020204030204" charset="0"/>
                <a:ea typeface="宋体" pitchFamily="2" charset="-122"/>
                <a:cs typeface="+mn-cs"/>
              </a:defRPr>
            </a:lvl2pPr>
            <a:lvl3pPr marL="914400" algn="l" rtl="0" fontAlgn="base">
              <a:spcBef>
                <a:spcPct val="0"/>
              </a:spcBef>
              <a:spcAft>
                <a:spcPct val="0"/>
              </a:spcAft>
              <a:defRPr kern="1200">
                <a:solidFill>
                  <a:schemeClr val="tx1"/>
                </a:solidFill>
                <a:latin typeface="Calibri" panose="020F0502020204030204" charset="0"/>
                <a:ea typeface="宋体" pitchFamily="2" charset="-122"/>
                <a:cs typeface="+mn-cs"/>
              </a:defRPr>
            </a:lvl3pPr>
            <a:lvl4pPr marL="1371600" algn="l" rtl="0" fontAlgn="base">
              <a:spcBef>
                <a:spcPct val="0"/>
              </a:spcBef>
              <a:spcAft>
                <a:spcPct val="0"/>
              </a:spcAft>
              <a:defRPr kern="1200">
                <a:solidFill>
                  <a:schemeClr val="tx1"/>
                </a:solidFill>
                <a:latin typeface="Calibri" panose="020F0502020204030204" charset="0"/>
                <a:ea typeface="宋体" pitchFamily="2" charset="-122"/>
                <a:cs typeface="+mn-cs"/>
              </a:defRPr>
            </a:lvl4pPr>
            <a:lvl5pPr marL="1828800" algn="l" rtl="0" fontAlgn="base">
              <a:spcBef>
                <a:spcPct val="0"/>
              </a:spcBef>
              <a:spcAft>
                <a:spcPct val="0"/>
              </a:spcAft>
              <a:defRPr kern="1200">
                <a:solidFill>
                  <a:schemeClr val="tx1"/>
                </a:solidFill>
                <a:latin typeface="Calibri" panose="020F0502020204030204" charset="0"/>
                <a:ea typeface="宋体" pitchFamily="2" charset="-122"/>
                <a:cs typeface="+mn-cs"/>
              </a:defRPr>
            </a:lvl5pPr>
            <a:lvl6pPr marL="2286000" algn="l" defTabSz="914400" rtl="0" eaLnBrk="1" latinLnBrk="0" hangingPunct="1">
              <a:defRPr kern="1200">
                <a:solidFill>
                  <a:schemeClr val="tx1"/>
                </a:solidFill>
                <a:latin typeface="Calibri" panose="020F0502020204030204" charset="0"/>
                <a:ea typeface="宋体" pitchFamily="2" charset="-122"/>
                <a:cs typeface="+mn-cs"/>
              </a:defRPr>
            </a:lvl6pPr>
            <a:lvl7pPr marL="2743200" algn="l" defTabSz="914400" rtl="0" eaLnBrk="1" latinLnBrk="0" hangingPunct="1">
              <a:defRPr kern="1200">
                <a:solidFill>
                  <a:schemeClr val="tx1"/>
                </a:solidFill>
                <a:latin typeface="Calibri" panose="020F0502020204030204" charset="0"/>
                <a:ea typeface="宋体" pitchFamily="2" charset="-122"/>
                <a:cs typeface="+mn-cs"/>
              </a:defRPr>
            </a:lvl7pPr>
            <a:lvl8pPr marL="3200400" algn="l" defTabSz="914400" rtl="0" eaLnBrk="1" latinLnBrk="0" hangingPunct="1">
              <a:defRPr kern="1200">
                <a:solidFill>
                  <a:schemeClr val="tx1"/>
                </a:solidFill>
                <a:latin typeface="Calibri" panose="020F0502020204030204" charset="0"/>
                <a:ea typeface="宋体" pitchFamily="2" charset="-122"/>
                <a:cs typeface="+mn-cs"/>
              </a:defRPr>
            </a:lvl8pPr>
            <a:lvl9pPr marL="3657600" algn="l" defTabSz="914400" rtl="0" eaLnBrk="1" latinLnBrk="0" hangingPunct="1">
              <a:defRPr kern="1200">
                <a:solidFill>
                  <a:schemeClr val="tx1"/>
                </a:solidFill>
                <a:latin typeface="Calibri" panose="020F0502020204030204" charset="0"/>
                <a:ea typeface="宋体" pitchFamily="2" charset="-122"/>
                <a:cs typeface="+mn-cs"/>
              </a:defRPr>
            </a:lvl9pPr>
          </a:lstStyle>
          <a:p>
            <a:pPr>
              <a:defRPr/>
            </a:pPr>
            <a:r>
              <a:rPr lang="zh-CN" altLang="en-US" sz="14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重要指导书和工作模板</a:t>
            </a:r>
            <a:endParaRPr lang="en-US" altLang="zh-CN" sz="1400" b="1"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2" name="Rectangle 100"/>
          <p:cNvSpPr/>
          <p:nvPr/>
        </p:nvSpPr>
        <p:spPr>
          <a:xfrm>
            <a:off x="6476692" y="4435186"/>
            <a:ext cx="4913510" cy="263367"/>
          </a:xfrm>
          <a:prstGeom prst="rect">
            <a:avLst/>
          </a:prstGeom>
        </p:spPr>
        <p:txBody>
          <a:bodyPr wrap="none" lIns="77939" tIns="38970" rIns="77939" bIns="38970">
            <a:spAutoFit/>
          </a:bodyPr>
          <a:lstStyle/>
          <a:p>
            <a:r>
              <a:rPr lang="en-US" altLang="zh-CN" sz="1200" dirty="0" smtClean="0">
                <a:hlinkClick r:id="rId2"/>
              </a:rPr>
              <a:t>EBG</a:t>
            </a:r>
            <a:r>
              <a:rPr lang="zh-CN" altLang="en-US" sz="1200" dirty="0">
                <a:hlinkClick r:id="rId2"/>
              </a:rPr>
              <a:t>关于各区域 高质量落实</a:t>
            </a:r>
            <a:r>
              <a:rPr lang="en-US" altLang="zh-CN" sz="1200" dirty="0">
                <a:hlinkClick r:id="rId2"/>
              </a:rPr>
              <a:t>MO</a:t>
            </a:r>
            <a:r>
              <a:rPr lang="zh-CN" altLang="en-US" sz="1200" dirty="0">
                <a:hlinkClick r:id="rId2"/>
              </a:rPr>
              <a:t>商机管理流程的运转机制 </a:t>
            </a:r>
            <a:r>
              <a:rPr lang="en-US" altLang="zh-CN" sz="1200" dirty="0">
                <a:hlinkClick r:id="rId2"/>
              </a:rPr>
              <a:t>- </a:t>
            </a:r>
            <a:r>
              <a:rPr lang="zh-CN" altLang="en-US" sz="1200" dirty="0">
                <a:hlinkClick r:id="rId2"/>
              </a:rPr>
              <a:t>飞书云文档</a:t>
            </a:r>
            <a:endParaRPr lang="zh-CN" altLang="en-US" sz="1200" dirty="0"/>
          </a:p>
        </p:txBody>
      </p:sp>
      <p:sp>
        <p:nvSpPr>
          <p:cNvPr id="46" name="Rectangle 81"/>
          <p:cNvSpPr/>
          <p:nvPr/>
        </p:nvSpPr>
        <p:spPr bwMode="auto">
          <a:xfrm>
            <a:off x="6171745"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fontAlgn="ctr">
              <a:defRPr/>
            </a:pP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7" name="矩形 46"/>
          <p:cNvSpPr/>
          <p:nvPr/>
        </p:nvSpPr>
        <p:spPr>
          <a:xfrm>
            <a:off x="6291302" y="2704996"/>
            <a:ext cx="2220243" cy="646331"/>
          </a:xfrm>
          <a:prstGeom prst="rect">
            <a:avLst/>
          </a:prstGeom>
        </p:spPr>
        <p:txBody>
          <a:bodyPr wrap="square">
            <a:spAutoFit/>
          </a:bodyPr>
          <a:lstStyle/>
          <a:p>
            <a:pPr defTabSz="582930" fontAlgn="ctr">
              <a:defRPr/>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分析客户标书，制定有效</a:t>
            </a:r>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投标策略</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，包括</a:t>
            </a:r>
            <a:r>
              <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a:t>
            </a:r>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价格策略</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，商务策略等</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9" name="Rectangle 86"/>
          <p:cNvSpPr/>
          <p:nvPr/>
        </p:nvSpPr>
        <p:spPr bwMode="auto">
          <a:xfrm>
            <a:off x="8811057"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fontAlgn="ctr">
              <a:defRPr/>
            </a:pP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0" name="矩形 49"/>
          <p:cNvSpPr/>
          <p:nvPr/>
        </p:nvSpPr>
        <p:spPr>
          <a:xfrm>
            <a:off x="8799576" y="2704996"/>
            <a:ext cx="2482317" cy="646331"/>
          </a:xfrm>
          <a:prstGeom prst="rect">
            <a:avLst/>
          </a:prstGeom>
        </p:spPr>
        <p:txBody>
          <a:bodyPr wrap="square">
            <a:spAutoFit/>
          </a:bodyPr>
          <a:lstStyle/>
          <a:p>
            <a:pPr defTabSz="582930" fontAlgn="ctr">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与客户谈判并签约，准备合同交接并关闭机会</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点，同时，启动</a:t>
            </a:r>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丢</a:t>
            </a:r>
            <a:r>
              <a:rPr lang="en-US" altLang="zh-CN" sz="12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a:t>
            </a:r>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赢单复盘</a:t>
            </a:r>
            <a:endPar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2" name="Rectangle 83"/>
          <p:cNvSpPr/>
          <p:nvPr/>
        </p:nvSpPr>
        <p:spPr bwMode="auto">
          <a:xfrm>
            <a:off x="868474"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eaLnBrk="0" hangingPunct="0">
              <a:defRPr/>
            </a:pP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3" name="矩形 52"/>
          <p:cNvSpPr/>
          <p:nvPr/>
        </p:nvSpPr>
        <p:spPr>
          <a:xfrm>
            <a:off x="923878" y="2704996"/>
            <a:ext cx="2451562" cy="461665"/>
          </a:xfrm>
          <a:prstGeom prst="rect">
            <a:avLst/>
          </a:prstGeom>
        </p:spPr>
        <p:txBody>
          <a:bodyPr wrap="square">
            <a:spAutoFit/>
          </a:bodyPr>
          <a:lstStyle/>
          <a:p>
            <a:pPr defTabSz="582930" eaLnBrk="0" hangingPunct="0">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分析和评估机会点</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，完成商机进漏斗审批，</a:t>
            </a:r>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分级分层及立项</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决策</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5" name="Rectangle 82"/>
          <p:cNvSpPr/>
          <p:nvPr/>
        </p:nvSpPr>
        <p:spPr bwMode="auto">
          <a:xfrm>
            <a:off x="3543915"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fontAlgn="ctr">
              <a:defRPr/>
            </a:pP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6" name="矩形 55"/>
          <p:cNvSpPr/>
          <p:nvPr/>
        </p:nvSpPr>
        <p:spPr>
          <a:xfrm>
            <a:off x="3581561" y="2729001"/>
            <a:ext cx="2384063" cy="646331"/>
          </a:xfrm>
          <a:prstGeom prst="rect">
            <a:avLst/>
          </a:prstGeom>
        </p:spPr>
        <p:txBody>
          <a:bodyPr wrap="square">
            <a:spAutoFit/>
          </a:bodyPr>
          <a:lstStyle/>
          <a:p>
            <a:pPr defTabSz="582930" fontAlgn="ctr">
              <a:defRPr/>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a:t>
            </a:r>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解决方案和价值主张</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，影响</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客户</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的</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购买构想并取得认可，引导客户标书和评标标准</a:t>
            </a:r>
          </a:p>
        </p:txBody>
      </p:sp>
      <p:sp>
        <p:nvSpPr>
          <p:cNvPr id="74" name="Rectangle 100"/>
          <p:cNvSpPr/>
          <p:nvPr/>
        </p:nvSpPr>
        <p:spPr>
          <a:xfrm>
            <a:off x="945048" y="4337981"/>
            <a:ext cx="2566393"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验证商机：商机审批，</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立项决策</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75" name="Rectangle 100"/>
          <p:cNvSpPr/>
          <p:nvPr/>
        </p:nvSpPr>
        <p:spPr>
          <a:xfrm>
            <a:off x="952043" y="4761957"/>
            <a:ext cx="2104728"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推进商机：解决方案评审</a:t>
            </a:r>
          </a:p>
        </p:txBody>
      </p:sp>
      <p:sp>
        <p:nvSpPr>
          <p:cNvPr id="76" name="Rectangle 100"/>
          <p:cNvSpPr/>
          <p:nvPr/>
        </p:nvSpPr>
        <p:spPr>
          <a:xfrm>
            <a:off x="952043" y="5226193"/>
            <a:ext cx="3335834"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制定并执行投标策略：标前评审，特价审批</a:t>
            </a:r>
          </a:p>
        </p:txBody>
      </p:sp>
      <p:sp>
        <p:nvSpPr>
          <p:cNvPr id="77" name="Rectangle 100"/>
          <p:cNvSpPr/>
          <p:nvPr/>
        </p:nvSpPr>
        <p:spPr>
          <a:xfrm>
            <a:off x="962168" y="5709139"/>
            <a:ext cx="3863223"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谈判并签订合同：直签项目合同评审，丢</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赢单复盘</a:t>
            </a:r>
          </a:p>
        </p:txBody>
      </p:sp>
      <p:sp>
        <p:nvSpPr>
          <p:cNvPr id="3" name="矩形 2"/>
          <p:cNvSpPr/>
          <p:nvPr/>
        </p:nvSpPr>
        <p:spPr>
          <a:xfrm>
            <a:off x="392218" y="792554"/>
            <a:ext cx="6096000" cy="307777"/>
          </a:xfrm>
          <a:prstGeom prst="rect">
            <a:avLst/>
          </a:prstGeom>
        </p:spPr>
        <p:txBody>
          <a:bodyPr>
            <a:spAutoFit/>
          </a:bodyPr>
          <a:lstStyle/>
          <a:p>
            <a:r>
              <a:rPr lang="zh-CN" altLang="en-US" sz="1400" dirty="0">
                <a:hlinkClick r:id="rId2"/>
              </a:rPr>
              <a:t>‌​﻿​​​​​​​​​‬​﻿‌‬</a:t>
            </a:r>
            <a:r>
              <a:rPr lang="zh-CN" altLang="en-US" sz="1400" dirty="0" smtClean="0">
                <a:hlinkClick r:id="rId2"/>
              </a:rPr>
              <a:t>⁠‌‍‍‍​​‍​⁠‍​​​﻿⁠⁠‌‌‍​‍​‍‍​​​⁠‍﻿﻿​</a:t>
            </a:r>
            <a:endParaRPr lang="zh-CN" altLang="en-US" sz="1400" dirty="0"/>
          </a:p>
        </p:txBody>
      </p:sp>
      <p:sp>
        <p:nvSpPr>
          <p:cNvPr id="48" name="Rectangle 100"/>
          <p:cNvSpPr/>
          <p:nvPr/>
        </p:nvSpPr>
        <p:spPr>
          <a:xfrm>
            <a:off x="6476692" y="4706457"/>
            <a:ext cx="2252526" cy="448033"/>
          </a:xfrm>
          <a:prstGeom prst="rect">
            <a:avLst/>
          </a:prstGeom>
        </p:spPr>
        <p:txBody>
          <a:bodyPr wrap="none" lIns="77939" tIns="38970" rIns="77939" bIns="38970">
            <a:spAutoFit/>
          </a:bodyPr>
          <a:lstStyle/>
          <a:p>
            <a:r>
              <a:rPr lang="en-US" altLang="zh-CN" sz="1200" dirty="0">
                <a:hlinkClick r:id="rId3"/>
              </a:rPr>
              <a:t>MO</a:t>
            </a:r>
            <a:r>
              <a:rPr lang="zh-CN" altLang="en-US" sz="1200" dirty="0">
                <a:hlinkClick r:id="rId3"/>
              </a:rPr>
              <a:t>管理立项项目过程分析模</a:t>
            </a:r>
            <a:r>
              <a:rPr lang="zh-CN" altLang="en-US" sz="1200" dirty="0" smtClean="0">
                <a:hlinkClick r:id="rId3"/>
              </a:rPr>
              <a:t>版</a:t>
            </a:r>
            <a:endParaRPr lang="en-US" altLang="zh-CN" sz="1200" dirty="0" smtClean="0"/>
          </a:p>
          <a:p>
            <a:endParaRPr lang="zh-CN" altLang="en-US" sz="1200" dirty="0"/>
          </a:p>
        </p:txBody>
      </p:sp>
      <p:sp>
        <p:nvSpPr>
          <p:cNvPr id="5" name="矩形 4"/>
          <p:cNvSpPr/>
          <p:nvPr/>
        </p:nvSpPr>
        <p:spPr>
          <a:xfrm>
            <a:off x="6476692" y="5019468"/>
            <a:ext cx="2149933" cy="263367"/>
          </a:xfrm>
          <a:prstGeom prst="rect">
            <a:avLst/>
          </a:prstGeom>
        </p:spPr>
        <p:txBody>
          <a:bodyPr wrap="none" lIns="77939" tIns="38970" rIns="77939" bIns="38970">
            <a:spAutoFit/>
          </a:bodyPr>
          <a:lstStyle/>
          <a:p>
            <a:r>
              <a:rPr lang="en-US" altLang="zh-CN" sz="1200" dirty="0">
                <a:hlinkClick r:id="rId4"/>
              </a:rPr>
              <a:t>MO</a:t>
            </a:r>
            <a:r>
              <a:rPr lang="zh-CN" altLang="en-US" sz="1200" dirty="0">
                <a:hlinkClick r:id="rId4"/>
              </a:rPr>
              <a:t>管理商机流程手册</a:t>
            </a:r>
            <a:r>
              <a:rPr lang="en-US" altLang="zh-CN" sz="1200" dirty="0">
                <a:hlinkClick r:id="rId4"/>
              </a:rPr>
              <a:t>-</a:t>
            </a:r>
            <a:r>
              <a:rPr lang="zh-CN" altLang="en-US" sz="1200" dirty="0">
                <a:hlinkClick r:id="rId4"/>
              </a:rPr>
              <a:t>整合版</a:t>
            </a:r>
            <a:endParaRPr lang="zh-CN" altLang="en-US" sz="1200" dirty="0"/>
          </a:p>
        </p:txBody>
      </p:sp>
      <p:sp>
        <p:nvSpPr>
          <p:cNvPr id="6" name="矩形 5"/>
          <p:cNvSpPr/>
          <p:nvPr/>
        </p:nvSpPr>
        <p:spPr>
          <a:xfrm>
            <a:off x="6486411" y="5344693"/>
            <a:ext cx="1688269" cy="263367"/>
          </a:xfrm>
          <a:prstGeom prst="rect">
            <a:avLst/>
          </a:prstGeom>
        </p:spPr>
        <p:txBody>
          <a:bodyPr wrap="none" lIns="77939" tIns="38970" rIns="77939" bIns="38970">
            <a:spAutoFit/>
          </a:bodyPr>
          <a:lstStyle/>
          <a:p>
            <a:r>
              <a:rPr lang="en-US" altLang="zh-CN" sz="1200" dirty="0">
                <a:hlinkClick r:id="rId5"/>
              </a:rPr>
              <a:t>MO</a:t>
            </a:r>
            <a:r>
              <a:rPr lang="zh-CN" altLang="en-US" sz="1200" dirty="0">
                <a:hlinkClick r:id="rId5"/>
              </a:rPr>
              <a:t>流程执行卡</a:t>
            </a:r>
            <a:r>
              <a:rPr lang="en-US" altLang="zh-CN" sz="1200" dirty="0">
                <a:hlinkClick r:id="rId5"/>
              </a:rPr>
              <a:t>-</a:t>
            </a:r>
            <a:r>
              <a:rPr lang="zh-CN" altLang="en-US" sz="1200" dirty="0">
                <a:hlinkClick r:id="rId5"/>
              </a:rPr>
              <a:t>更新版</a:t>
            </a:r>
            <a:endParaRPr lang="zh-CN" altLang="en-US" sz="1200" dirty="0"/>
          </a:p>
        </p:txBody>
      </p:sp>
    </p:spTree>
    <p:extLst>
      <p:ext uri="{BB962C8B-B14F-4D97-AF65-F5344CB8AC3E}">
        <p14:creationId xmlns:p14="http://schemas.microsoft.com/office/powerpoint/2010/main" val="160633242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M11.1 </a:t>
            </a:r>
            <a:r>
              <a:rPr lang="zh-CN" altLang="en-US" dirty="0" smtClean="0"/>
              <a:t>验证商机</a:t>
            </a:r>
            <a:r>
              <a:rPr lang="en-US" altLang="zh-CN" dirty="0" smtClean="0"/>
              <a:t>-</a:t>
            </a:r>
            <a:r>
              <a:rPr lang="zh-CN" altLang="en-US" dirty="0" smtClean="0"/>
              <a:t>做准</a:t>
            </a:r>
            <a:r>
              <a:rPr lang="en-US" altLang="zh-CN" dirty="0" smtClean="0"/>
              <a:t>N</a:t>
            </a:r>
            <a:r>
              <a:rPr lang="zh-CN" altLang="en-US" dirty="0" smtClean="0"/>
              <a:t>和</a:t>
            </a:r>
            <a:r>
              <a:rPr lang="en-US" altLang="zh-CN" dirty="0" smtClean="0"/>
              <a:t>T</a:t>
            </a:r>
            <a:r>
              <a:rPr lang="zh-CN" altLang="en-US" dirty="0" smtClean="0"/>
              <a:t>的输入和审核</a:t>
            </a:r>
            <a:endParaRPr lang="zh-CN" altLang="en-US" dirty="0"/>
          </a:p>
        </p:txBody>
      </p:sp>
      <p:grpSp>
        <p:nvGrpSpPr>
          <p:cNvPr id="10" name="group 162"/>
          <p:cNvGrpSpPr/>
          <p:nvPr/>
        </p:nvGrpSpPr>
        <p:grpSpPr>
          <a:xfrm rot="21600000">
            <a:off x="784436" y="2292157"/>
            <a:ext cx="5935979" cy="4117269"/>
            <a:chOff x="-12700" y="-12700"/>
            <a:chExt cx="5935979" cy="4117269"/>
          </a:xfrm>
        </p:grpSpPr>
        <p:grpSp>
          <p:nvGrpSpPr>
            <p:cNvPr id="11" name="group 164"/>
            <p:cNvGrpSpPr/>
            <p:nvPr/>
          </p:nvGrpSpPr>
          <p:grpSpPr>
            <a:xfrm rot="21600000">
              <a:off x="0" y="0"/>
              <a:ext cx="5910071" cy="4104569"/>
              <a:chOff x="0" y="0"/>
              <a:chExt cx="5910071" cy="4104569"/>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5"/>
                <a:ext cx="5910071" cy="3626034"/>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90204"/>
                <a:ea typeface="Arial" panose="020B0604020202090204"/>
                <a:cs typeface="Arial" panose="020B0604020202090204"/>
              </a:endParaRPr>
            </a:p>
            <a:p>
              <a:pPr marL="2513965" eaLnBrk="0">
                <a:lnSpc>
                  <a:spcPct val="95000"/>
                </a:lnSpc>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流程</a:t>
              </a:r>
              <a:endParaRPr sz="1000" dirty="0">
                <a:latin typeface="Arial" panose="020B0604020202090204"/>
                <a:ea typeface="Arial" panose="020B0604020202090204"/>
                <a:cs typeface="Arial" panose="020B0604020202090204"/>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p:txBody>
        </p:sp>
      </p:grpSp>
      <p:grpSp>
        <p:nvGrpSpPr>
          <p:cNvPr id="15" name="group 166"/>
          <p:cNvGrpSpPr/>
          <p:nvPr/>
        </p:nvGrpSpPr>
        <p:grpSpPr>
          <a:xfrm rot="21600000">
            <a:off x="6799665" y="2289869"/>
            <a:ext cx="4154170" cy="4119556"/>
            <a:chOff x="-12700" y="-12700"/>
            <a:chExt cx="4154170" cy="3491022"/>
          </a:xfrm>
        </p:grpSpPr>
        <p:grpSp>
          <p:nvGrpSpPr>
            <p:cNvPr id="16" name="group 168"/>
            <p:cNvGrpSpPr/>
            <p:nvPr/>
          </p:nvGrpSpPr>
          <p:grpSpPr>
            <a:xfrm rot="21600000">
              <a:off x="0" y="0"/>
              <a:ext cx="4126991" cy="3478322"/>
              <a:chOff x="0" y="0"/>
              <a:chExt cx="4126991" cy="3478322"/>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6"/>
                <a:ext cx="4126991" cy="2979976"/>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90204"/>
                <a:ea typeface="Arial" panose="020B0604020202090204"/>
                <a:cs typeface="Arial" panose="020B0604020202090204"/>
              </a:endParaRPr>
            </a:p>
            <a:p>
              <a:pPr marL="1623060" algn="l" rtl="0" eaLnBrk="0">
                <a:lnSpc>
                  <a:spcPct val="96000"/>
                </a:lnSpc>
                <a:spcBef>
                  <a:spcPts val="5"/>
                </a:spcBef>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注意事项</a:t>
              </a:r>
              <a:endParaRPr sz="1000" dirty="0" smtClean="0">
                <a:latin typeface="Arial" panose="020B0604020202090204"/>
                <a:ea typeface="Arial" panose="020B0604020202090204"/>
                <a:cs typeface="Arial" panose="020B0604020202090204"/>
              </a:endParaRPr>
            </a:p>
            <a:p>
              <a:pPr algn="l" rtl="0" eaLnBrk="0">
                <a:lnSpc>
                  <a:spcPct val="119000"/>
                </a:lnSpc>
              </a:pPr>
              <a:endParaRPr sz="300" dirty="0">
                <a:latin typeface="Arial" panose="020B0604020202090204"/>
                <a:ea typeface="Arial" panose="020B0604020202090204"/>
                <a:cs typeface="Arial" panose="020B0604020202090204"/>
              </a:endParaRPr>
            </a:p>
          </p:txBody>
        </p:sp>
      </p:grpSp>
      <p:sp>
        <p:nvSpPr>
          <p:cNvPr id="28" name="矩形 27"/>
          <p:cNvSpPr/>
          <p:nvPr/>
        </p:nvSpPr>
        <p:spPr>
          <a:xfrm>
            <a:off x="448027" y="866134"/>
            <a:ext cx="10705928" cy="830997"/>
          </a:xfrm>
          <a:prstGeom prst="rect">
            <a:avLst/>
          </a:prstGeom>
        </p:spPr>
        <p:txBody>
          <a:bodyPr wrap="square">
            <a:spAutoFit/>
          </a:bodyPr>
          <a:lstStyle/>
          <a:p>
            <a:r>
              <a:rPr lang="zh-CN" altLang="en-US" sz="1600" dirty="0" smtClean="0"/>
              <a:t>本流程专注于优化商机验证环节，其核心旨在确保进入销售漏斗的商机具备真实性和健康性。通过对符合条件的商机进行细致评估与分级分层管理，我们能够更精准地识别出重点商机。重点商机发起立项流程，经过立项评审决策后，一旦立项通过，即投入相应资源全力推进。</a:t>
            </a:r>
            <a:endParaRPr lang="zh-CN" altLang="en-US" sz="1600" dirty="0"/>
          </a:p>
        </p:txBody>
      </p:sp>
      <p:sp>
        <p:nvSpPr>
          <p:cNvPr id="31" name="矩形 30"/>
          <p:cNvSpPr/>
          <p:nvPr/>
        </p:nvSpPr>
        <p:spPr>
          <a:xfrm>
            <a:off x="6727594" y="3000147"/>
            <a:ext cx="4029546" cy="2768707"/>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重点注意事项</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、商机进漏斗时输入准确的配置清单和</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3T</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；售前做好配置可信度评分工作，销售负责</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3T</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的填写和及时刷新；具体方法参照做准</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3T</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的方法；</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hlinkClick r:id="rId2" action="ppaction://hlinkpres?slideindex=1&amp;slidetitle="/>
              </a:rPr>
              <a:t>N</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hlinkClick r:id="rId2" action="ppaction://hlinkpres?slideindex=1&amp;slidetitle="/>
              </a:rPr>
              <a:t>和</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hlinkClick r:id="rId2" action="ppaction://hlinkpres?slideindex=1&amp;slidetitle="/>
              </a:rPr>
              <a:t>3T</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hlinkClick r:id="rId2" action="ppaction://hlinkpres?slideindex=1&amp;slidetitle="/>
              </a:rPr>
              <a:t>流程培训宣贯材料</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hlinkClick r:id="rId2" action="ppaction://hlinkpres?slideindex=1&amp;slidetitle="/>
              </a:rPr>
              <a:t>_V5.0.pptx</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、区域经理对于进漏斗的机会进行严格审批，具体审批规则参考</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MO</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验证商机流程；</a:t>
            </a:r>
            <a:r>
              <a:rPr lang="en-US" altLang="zh-CN" sz="1400" dirty="0">
                <a:hlinkClick r:id="rId3"/>
              </a:rPr>
              <a:t>M11.1 </a:t>
            </a:r>
            <a:r>
              <a:rPr lang="zh-CN" altLang="en-US" sz="1400" dirty="0">
                <a:hlinkClick r:id="rId3"/>
              </a:rPr>
              <a:t>验证商机流程说明文件</a:t>
            </a:r>
            <a:r>
              <a:rPr lang="en-US" altLang="zh-CN" sz="1400" dirty="0">
                <a:hlinkClick r:id="rId3"/>
              </a:rPr>
              <a:t>-V1.0</a:t>
            </a:r>
            <a:endParaRPr lang="zh-CN" altLang="en-US" sz="1400" dirty="0"/>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、项目分类分级和立项决策发起均由</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CRM</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自动功能支撑，对应的审批人做好项目立项审批决策工作，</a:t>
            </a: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对于满足立项条件但决定不立项的项目要提供明确的说明；</a:t>
            </a:r>
            <a:endParaRPr lang="en-US" altLang="zh-CN"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38" name="AutoShape 12"/>
          <p:cNvSpPr>
            <a:spLocks noChangeArrowheads="1"/>
          </p:cNvSpPr>
          <p:nvPr/>
        </p:nvSpPr>
        <p:spPr bwMode="gray">
          <a:xfrm>
            <a:off x="3109329" y="1852407"/>
            <a:ext cx="2586134" cy="437462"/>
          </a:xfrm>
          <a:prstGeom prst="chevron">
            <a:avLst>
              <a:gd name="adj" fmla="val 15486"/>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AutoShape 13"/>
          <p:cNvSpPr>
            <a:spLocks noChangeArrowheads="1"/>
          </p:cNvSpPr>
          <p:nvPr/>
        </p:nvSpPr>
        <p:spPr bwMode="gray">
          <a:xfrm>
            <a:off x="5671516" y="1852407"/>
            <a:ext cx="2758542" cy="437462"/>
          </a:xfrm>
          <a:prstGeom prst="chevron">
            <a:avLst>
              <a:gd name="adj" fmla="val 16781"/>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AutoShape 10"/>
          <p:cNvSpPr>
            <a:spLocks noChangeArrowheads="1"/>
          </p:cNvSpPr>
          <p:nvPr/>
        </p:nvSpPr>
        <p:spPr bwMode="gray">
          <a:xfrm>
            <a:off x="784436" y="1852407"/>
            <a:ext cx="2348839" cy="437462"/>
          </a:xfrm>
          <a:prstGeom prst="chevron">
            <a:avLst>
              <a:gd name="adj" fmla="val 15711"/>
            </a:avLst>
          </a:prstGeom>
          <a:solidFill>
            <a:schemeClr val="accent4">
              <a:lumMod val="75000"/>
            </a:schemeClr>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p>
        </p:txBody>
      </p:sp>
      <p:sp>
        <p:nvSpPr>
          <p:cNvPr id="41" name="AutoShape 14"/>
          <p:cNvSpPr>
            <a:spLocks noChangeArrowheads="1"/>
          </p:cNvSpPr>
          <p:nvPr/>
        </p:nvSpPr>
        <p:spPr bwMode="gray">
          <a:xfrm>
            <a:off x="8406112" y="1852407"/>
            <a:ext cx="2547724" cy="437462"/>
          </a:xfrm>
          <a:prstGeom prst="chevron">
            <a:avLst>
              <a:gd name="adj" fmla="val 15684"/>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1" name="矩形 50"/>
          <p:cNvSpPr/>
          <p:nvPr/>
        </p:nvSpPr>
        <p:spPr>
          <a:xfrm>
            <a:off x="6792486" y="2962370"/>
            <a:ext cx="3964654" cy="1069267"/>
          </a:xfrm>
          <a:prstGeom prst="rect">
            <a:avLst/>
          </a:prstGeom>
        </p:spPr>
        <p:txBody>
          <a:bodyPr wrap="square">
            <a:spAutoFit/>
          </a:bodyPr>
          <a:lstStyle/>
          <a:p>
            <a:pPr marL="399415" indent="-285750" eaLnBrk="0">
              <a:lnSpc>
                <a:spcPct val="85000"/>
              </a:lnSpc>
              <a:spcBef>
                <a:spcPts val="425"/>
              </a:spcBef>
              <a:buFont typeface="Arial" panose="020B0604020202090204" pitchFamily="34" charset="0"/>
              <a:buChar char="•"/>
            </a:pPr>
            <a:endParaRPr lang="zh-CN" altLang="en-US" sz="1400" dirty="0" smtClean="0"/>
          </a:p>
          <a:p>
            <a:pPr marL="399415" indent="-285750" eaLnBrk="0">
              <a:lnSpc>
                <a:spcPct val="85000"/>
              </a:lnSpc>
              <a:spcBef>
                <a:spcPts val="425"/>
              </a:spcBef>
              <a:buFont typeface="Arial" panose="020B0604020202090204" pitchFamily="34" charset="0"/>
              <a:buChar char="•"/>
            </a:pPr>
            <a:endParaRPr lang="en-US" altLang="zh-CN" sz="1400" dirty="0" smtClean="0"/>
          </a:p>
          <a:p>
            <a:pPr marL="399415" indent="-285750" eaLnBrk="0">
              <a:lnSpc>
                <a:spcPct val="85000"/>
              </a:lnSpc>
              <a:spcBef>
                <a:spcPts val="425"/>
              </a:spcBef>
              <a:buFont typeface="Arial" panose="020B0604020202090204" pitchFamily="34" charset="0"/>
              <a:buChar char="•"/>
            </a:pPr>
            <a:endParaRPr lang="en-US" altLang="zh-CN" sz="1400" dirty="0"/>
          </a:p>
          <a:p>
            <a:pPr marL="399415" indent="-285750" eaLnBrk="0">
              <a:lnSpc>
                <a:spcPct val="85000"/>
              </a:lnSpc>
              <a:spcBef>
                <a:spcPts val="425"/>
              </a:spcBef>
              <a:buFont typeface="Arial" panose="020B0604020202090204" pitchFamily="34" charset="0"/>
              <a:buChar char="•"/>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pic>
        <p:nvPicPr>
          <p:cNvPr id="3" name="图片 2"/>
          <p:cNvPicPr>
            <a:picLocks noChangeAspect="1"/>
          </p:cNvPicPr>
          <p:nvPr/>
        </p:nvPicPr>
        <p:blipFill>
          <a:blip r:embed="rId4"/>
          <a:stretch>
            <a:fillRect/>
          </a:stretch>
        </p:blipFill>
        <p:spPr>
          <a:xfrm>
            <a:off x="1256252" y="2840007"/>
            <a:ext cx="4990315" cy="3512803"/>
          </a:xfrm>
          <a:prstGeom prst="rect">
            <a:avLst/>
          </a:prstGeom>
        </p:spPr>
      </p:pic>
    </p:spTree>
    <p:extLst>
      <p:ext uri="{BB962C8B-B14F-4D97-AF65-F5344CB8AC3E}">
        <p14:creationId xmlns:p14="http://schemas.microsoft.com/office/powerpoint/2010/main" val="14824683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M11.2 </a:t>
            </a:r>
            <a:r>
              <a:rPr lang="zh-CN" altLang="en-US" dirty="0" smtClean="0"/>
              <a:t>推进商机</a:t>
            </a:r>
            <a:r>
              <a:rPr lang="en-US" altLang="zh-CN" dirty="0" smtClean="0"/>
              <a:t>-</a:t>
            </a:r>
            <a:r>
              <a:rPr lang="zh-CN" altLang="en-US" dirty="0" smtClean="0"/>
              <a:t>做好项目启动会和解决方案评审</a:t>
            </a:r>
            <a:endParaRPr lang="zh-CN" altLang="en-US" dirty="0"/>
          </a:p>
        </p:txBody>
      </p:sp>
      <p:grpSp>
        <p:nvGrpSpPr>
          <p:cNvPr id="10" name="group 162"/>
          <p:cNvGrpSpPr/>
          <p:nvPr/>
        </p:nvGrpSpPr>
        <p:grpSpPr>
          <a:xfrm rot="21600000">
            <a:off x="784436" y="2136881"/>
            <a:ext cx="5935979" cy="4539963"/>
            <a:chOff x="-12700" y="-12700"/>
            <a:chExt cx="5935979" cy="4539963"/>
          </a:xfrm>
        </p:grpSpPr>
        <p:grpSp>
          <p:nvGrpSpPr>
            <p:cNvPr id="11" name="group 164"/>
            <p:cNvGrpSpPr/>
            <p:nvPr/>
          </p:nvGrpSpPr>
          <p:grpSpPr>
            <a:xfrm rot="21600000">
              <a:off x="0" y="0"/>
              <a:ext cx="5910071" cy="4527263"/>
              <a:chOff x="0" y="0"/>
              <a:chExt cx="5910071" cy="4527263"/>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4"/>
                <a:ext cx="5910071" cy="4048729"/>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90204"/>
                <a:ea typeface="Arial" panose="020B0604020202090204"/>
                <a:cs typeface="Arial" panose="020B0604020202090204"/>
              </a:endParaRPr>
            </a:p>
            <a:p>
              <a:pPr marL="2513965" eaLnBrk="0">
                <a:lnSpc>
                  <a:spcPct val="95000"/>
                </a:lnSpc>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流程</a:t>
              </a:r>
              <a:endParaRPr sz="1000" dirty="0">
                <a:latin typeface="Arial" panose="020B0604020202090204"/>
                <a:ea typeface="Arial" panose="020B0604020202090204"/>
                <a:cs typeface="Arial" panose="020B0604020202090204"/>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p:txBody>
        </p:sp>
      </p:grpSp>
      <p:grpSp>
        <p:nvGrpSpPr>
          <p:cNvPr id="15" name="group 166"/>
          <p:cNvGrpSpPr/>
          <p:nvPr/>
        </p:nvGrpSpPr>
        <p:grpSpPr>
          <a:xfrm rot="21600000">
            <a:off x="6799665" y="2134593"/>
            <a:ext cx="4154170" cy="4542250"/>
            <a:chOff x="-12700" y="-12700"/>
            <a:chExt cx="4154170" cy="3849224"/>
          </a:xfrm>
        </p:grpSpPr>
        <p:grpSp>
          <p:nvGrpSpPr>
            <p:cNvPr id="16" name="group 168"/>
            <p:cNvGrpSpPr/>
            <p:nvPr/>
          </p:nvGrpSpPr>
          <p:grpSpPr>
            <a:xfrm rot="21600000">
              <a:off x="0" y="0"/>
              <a:ext cx="4126991" cy="3836524"/>
              <a:chOff x="0" y="0"/>
              <a:chExt cx="4126991" cy="3836524"/>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5"/>
                <a:ext cx="4126991" cy="3338179"/>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90204"/>
                <a:ea typeface="Arial" panose="020B0604020202090204"/>
                <a:cs typeface="Arial" panose="020B0604020202090204"/>
              </a:endParaRPr>
            </a:p>
            <a:p>
              <a:pPr marL="1623060" eaLnBrk="0">
                <a:lnSpc>
                  <a:spcPct val="96000"/>
                </a:lnSpc>
                <a:spcBef>
                  <a:spcPts val="5"/>
                </a:spcBef>
              </a:pPr>
              <a:r>
                <a:rPr lang="zh-CN" altLang="en-US" sz="1700"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注意事项</a:t>
              </a:r>
              <a:endParaRPr lang="zh-CN" altLang="en-US" sz="1000" dirty="0">
                <a:ea typeface="Arial" panose="020B0604020202090204"/>
                <a:cs typeface="Arial" panose="020B0604020202090204"/>
              </a:endParaRPr>
            </a:p>
            <a:p>
              <a:pPr algn="l" rtl="0" eaLnBrk="0">
                <a:lnSpc>
                  <a:spcPct val="138000"/>
                </a:lnSpc>
              </a:pPr>
              <a:endParaRPr sz="1000" dirty="0">
                <a:latin typeface="Arial" panose="020B0604020202090204"/>
                <a:ea typeface="Arial" panose="020B0604020202090204"/>
                <a:cs typeface="Arial" panose="020B0604020202090204"/>
              </a:endParaRPr>
            </a:p>
            <a:p>
              <a:pPr algn="l" rtl="0" eaLnBrk="0">
                <a:lnSpc>
                  <a:spcPct val="119000"/>
                </a:lnSpc>
              </a:pPr>
              <a:endParaRPr sz="300" dirty="0">
                <a:latin typeface="Arial" panose="020B0604020202090204"/>
                <a:ea typeface="Arial" panose="020B0604020202090204"/>
                <a:cs typeface="Arial" panose="020B0604020202090204"/>
              </a:endParaRPr>
            </a:p>
          </p:txBody>
        </p:sp>
      </p:grpSp>
      <p:sp>
        <p:nvSpPr>
          <p:cNvPr id="28" name="矩形 27"/>
          <p:cNvSpPr/>
          <p:nvPr/>
        </p:nvSpPr>
        <p:spPr>
          <a:xfrm>
            <a:off x="448027" y="866134"/>
            <a:ext cx="10705928" cy="830997"/>
          </a:xfrm>
          <a:prstGeom prst="rect">
            <a:avLst/>
          </a:prstGeom>
        </p:spPr>
        <p:txBody>
          <a:bodyPr wrap="square">
            <a:spAutoFit/>
          </a:bodyPr>
          <a:lstStyle/>
          <a:p>
            <a:r>
              <a:rPr lang="zh-CN" altLang="en-US" sz="1600" dirty="0"/>
              <a:t>推进商机流程是指一系列有计划、有组织的步骤和活动，旨在识别、评估、推进并最终转化销售机会为实际销售成果的过程。它涵盖了从初步接触客户到成功赢得订单的整个销售周期，包括制定价值主张、提供解决方案、引导客户决策以及执行相关销售策略等关键环节。</a:t>
            </a:r>
          </a:p>
        </p:txBody>
      </p:sp>
      <p:sp>
        <p:nvSpPr>
          <p:cNvPr id="31" name="矩形 30"/>
          <p:cNvSpPr/>
          <p:nvPr/>
        </p:nvSpPr>
        <p:spPr>
          <a:xfrm>
            <a:off x="6843140" y="2838087"/>
            <a:ext cx="4065440" cy="3015184"/>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重点注意事项</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项目启动会</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及后续的项目分析会为商机推进工作稳步推进做保障。立项决策后</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7</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日内做好项目启动会工作；</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开展解决方案评审会</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：售后部门前置参与解决方案评审，确保方案交付落地可行性和解决方案质量</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dirty="0">
                <a:hlinkClick r:id="rId2"/>
              </a:rPr>
              <a:t>M11.2 </a:t>
            </a:r>
            <a:r>
              <a:rPr lang="zh-CN" altLang="en-US" sz="1400" dirty="0">
                <a:hlinkClick r:id="rId2"/>
              </a:rPr>
              <a:t>推进商机流程说明文件</a:t>
            </a:r>
            <a:r>
              <a:rPr lang="en-US" altLang="zh-CN" sz="1400" dirty="0">
                <a:hlinkClick r:id="rId2"/>
              </a:rPr>
              <a:t>-</a:t>
            </a:r>
            <a:r>
              <a:rPr lang="en-US" altLang="zh-CN" sz="1400" dirty="0" smtClean="0">
                <a:hlinkClick r:id="rId2"/>
              </a:rPr>
              <a:t>V1.0</a:t>
            </a:r>
            <a:endParaRPr lang="en-US" altLang="zh-CN"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供应链诉求：</a:t>
            </a:r>
          </a:p>
          <a:p>
            <a:pPr marL="113665" eaLnBrk="0">
              <a:lnSpc>
                <a:spcPct val="85000"/>
              </a:lnSpc>
              <a:spcBef>
                <a:spcPts val="425"/>
              </a:spcBef>
            </a:pPr>
            <a:r>
              <a:rPr lang="en-US" altLang="zh-CN"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、项目启动会和</a:t>
            </a: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项目运转群</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需要让市场计划</a:t>
            </a:r>
            <a:r>
              <a:rPr lang="en-US" altLang="zh-CN"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供应经理</a:t>
            </a:r>
            <a:r>
              <a:rPr lang="en-US" altLang="zh-CN"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参与；</a:t>
            </a:r>
          </a:p>
          <a:p>
            <a:pPr marL="113665" eaLnBrk="0">
              <a:lnSpc>
                <a:spcPct val="85000"/>
              </a:lnSpc>
              <a:spcBef>
                <a:spcPts val="425"/>
              </a:spcBef>
            </a:pPr>
            <a:r>
              <a:rPr lang="en-US" altLang="zh-CN"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供应链前置参与</a:t>
            </a: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解决方案评审</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，确保测试产品选型具备</a:t>
            </a: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可供应性</a:t>
            </a:r>
            <a:endPar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8" name="AutoShape 12"/>
          <p:cNvSpPr>
            <a:spLocks noChangeArrowheads="1"/>
          </p:cNvSpPr>
          <p:nvPr/>
        </p:nvSpPr>
        <p:spPr bwMode="gray">
          <a:xfrm>
            <a:off x="3109329" y="1697131"/>
            <a:ext cx="2586134" cy="437462"/>
          </a:xfrm>
          <a:prstGeom prst="chevron">
            <a:avLst>
              <a:gd name="adj" fmla="val 15486"/>
            </a:avLst>
          </a:prstGeom>
          <a:solidFill>
            <a:srgbClr val="FF9700"/>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AutoShape 13"/>
          <p:cNvSpPr>
            <a:spLocks noChangeArrowheads="1"/>
          </p:cNvSpPr>
          <p:nvPr/>
        </p:nvSpPr>
        <p:spPr bwMode="gray">
          <a:xfrm>
            <a:off x="5671516" y="1697131"/>
            <a:ext cx="2758542" cy="437462"/>
          </a:xfrm>
          <a:prstGeom prst="chevron">
            <a:avLst>
              <a:gd name="adj" fmla="val 16781"/>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AutoShape 10"/>
          <p:cNvSpPr>
            <a:spLocks noChangeArrowheads="1"/>
          </p:cNvSpPr>
          <p:nvPr/>
        </p:nvSpPr>
        <p:spPr bwMode="gray">
          <a:xfrm>
            <a:off x="784436" y="1697131"/>
            <a:ext cx="2348839" cy="437462"/>
          </a:xfrm>
          <a:prstGeom prst="chevron">
            <a:avLst>
              <a:gd name="adj" fmla="val 15711"/>
            </a:avLst>
          </a:prstGeom>
          <a:solidFill>
            <a:srgbClr val="FFE3BB"/>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p>
        </p:txBody>
      </p:sp>
      <p:sp>
        <p:nvSpPr>
          <p:cNvPr id="41" name="AutoShape 14"/>
          <p:cNvSpPr>
            <a:spLocks noChangeArrowheads="1"/>
          </p:cNvSpPr>
          <p:nvPr/>
        </p:nvSpPr>
        <p:spPr bwMode="gray">
          <a:xfrm>
            <a:off x="8406112" y="1697131"/>
            <a:ext cx="2547724" cy="437462"/>
          </a:xfrm>
          <a:prstGeom prst="chevron">
            <a:avLst>
              <a:gd name="adj" fmla="val 15684"/>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pic>
        <p:nvPicPr>
          <p:cNvPr id="3" name="图片 2"/>
          <p:cNvPicPr>
            <a:picLocks noChangeAspect="1"/>
          </p:cNvPicPr>
          <p:nvPr/>
        </p:nvPicPr>
        <p:blipFill>
          <a:blip r:embed="rId3"/>
          <a:stretch>
            <a:fillRect/>
          </a:stretch>
        </p:blipFill>
        <p:spPr>
          <a:xfrm>
            <a:off x="963559" y="2965590"/>
            <a:ext cx="5575702" cy="2829395"/>
          </a:xfrm>
          <a:prstGeom prst="rect">
            <a:avLst/>
          </a:prstGeom>
        </p:spPr>
      </p:pic>
    </p:spTree>
    <p:extLst>
      <p:ext uri="{BB962C8B-B14F-4D97-AF65-F5344CB8AC3E}">
        <p14:creationId xmlns:p14="http://schemas.microsoft.com/office/powerpoint/2010/main" val="4133802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M11.3 </a:t>
            </a:r>
            <a:r>
              <a:rPr lang="zh-CN" altLang="en-US" dirty="0" smtClean="0"/>
              <a:t>制定并执行投标策略</a:t>
            </a:r>
            <a:r>
              <a:rPr lang="en-US" altLang="zh-CN" dirty="0" smtClean="0"/>
              <a:t>-</a:t>
            </a:r>
            <a:r>
              <a:rPr lang="zh-CN" altLang="en-US" dirty="0" smtClean="0"/>
              <a:t>做好标前分析和投标策略评审</a:t>
            </a:r>
            <a:endParaRPr lang="zh-CN" altLang="en-US" dirty="0"/>
          </a:p>
        </p:txBody>
      </p:sp>
      <p:grpSp>
        <p:nvGrpSpPr>
          <p:cNvPr id="10" name="group 162"/>
          <p:cNvGrpSpPr/>
          <p:nvPr/>
        </p:nvGrpSpPr>
        <p:grpSpPr>
          <a:xfrm rot="21600000">
            <a:off x="784436" y="2292157"/>
            <a:ext cx="5935979" cy="4117269"/>
            <a:chOff x="-12700" y="-12700"/>
            <a:chExt cx="5935979" cy="4117269"/>
          </a:xfrm>
        </p:grpSpPr>
        <p:grpSp>
          <p:nvGrpSpPr>
            <p:cNvPr id="11" name="group 164"/>
            <p:cNvGrpSpPr/>
            <p:nvPr/>
          </p:nvGrpSpPr>
          <p:grpSpPr>
            <a:xfrm rot="21600000">
              <a:off x="0" y="0"/>
              <a:ext cx="5910071" cy="4104569"/>
              <a:chOff x="0" y="0"/>
              <a:chExt cx="5910071" cy="4104569"/>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5"/>
                <a:ext cx="5910071" cy="3626034"/>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90204"/>
                <a:ea typeface="Arial" panose="020B0604020202090204"/>
                <a:cs typeface="Arial" panose="020B0604020202090204"/>
              </a:endParaRPr>
            </a:p>
            <a:p>
              <a:pPr marL="2513965" eaLnBrk="0">
                <a:lnSpc>
                  <a:spcPct val="95000"/>
                </a:lnSpc>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流程</a:t>
              </a:r>
              <a:endParaRPr sz="1000" dirty="0">
                <a:latin typeface="Arial" panose="020B0604020202090204"/>
                <a:ea typeface="Arial" panose="020B0604020202090204"/>
                <a:cs typeface="Arial" panose="020B0604020202090204"/>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p:txBody>
        </p:sp>
      </p:grpSp>
      <p:grpSp>
        <p:nvGrpSpPr>
          <p:cNvPr id="15" name="group 166"/>
          <p:cNvGrpSpPr/>
          <p:nvPr/>
        </p:nvGrpSpPr>
        <p:grpSpPr>
          <a:xfrm rot="21600000">
            <a:off x="6799665" y="2289869"/>
            <a:ext cx="4154170" cy="4119556"/>
            <a:chOff x="-12700" y="-12700"/>
            <a:chExt cx="4154170" cy="3491022"/>
          </a:xfrm>
        </p:grpSpPr>
        <p:grpSp>
          <p:nvGrpSpPr>
            <p:cNvPr id="16" name="group 168"/>
            <p:cNvGrpSpPr/>
            <p:nvPr/>
          </p:nvGrpSpPr>
          <p:grpSpPr>
            <a:xfrm rot="21600000">
              <a:off x="0" y="0"/>
              <a:ext cx="4126991" cy="3478322"/>
              <a:chOff x="0" y="0"/>
              <a:chExt cx="4126991" cy="3478322"/>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6"/>
                <a:ext cx="4126991" cy="2979976"/>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90204"/>
                <a:ea typeface="Arial" panose="020B0604020202090204"/>
                <a:cs typeface="Arial" panose="020B0604020202090204"/>
              </a:endParaRPr>
            </a:p>
            <a:p>
              <a:pPr marL="1623060" algn="l" rtl="0" eaLnBrk="0">
                <a:lnSpc>
                  <a:spcPct val="96000"/>
                </a:lnSpc>
                <a:spcBef>
                  <a:spcPts val="5"/>
                </a:spcBef>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注意事项</a:t>
              </a:r>
              <a:endParaRPr sz="1000" dirty="0" smtClean="0">
                <a:latin typeface="Arial" panose="020B0604020202090204"/>
                <a:ea typeface="Arial" panose="020B0604020202090204"/>
                <a:cs typeface="Arial" panose="020B0604020202090204"/>
              </a:endParaRPr>
            </a:p>
            <a:p>
              <a:pPr algn="l" rtl="0" eaLnBrk="0">
                <a:lnSpc>
                  <a:spcPct val="119000"/>
                </a:lnSpc>
              </a:pPr>
              <a:endParaRPr sz="300" dirty="0">
                <a:latin typeface="Arial" panose="020B0604020202090204"/>
                <a:ea typeface="Arial" panose="020B0604020202090204"/>
                <a:cs typeface="Arial" panose="020B0604020202090204"/>
              </a:endParaRPr>
            </a:p>
          </p:txBody>
        </p:sp>
      </p:grpSp>
      <p:sp>
        <p:nvSpPr>
          <p:cNvPr id="28" name="矩形 27"/>
          <p:cNvSpPr/>
          <p:nvPr/>
        </p:nvSpPr>
        <p:spPr>
          <a:xfrm>
            <a:off x="439400" y="786348"/>
            <a:ext cx="10705928" cy="1077218"/>
          </a:xfrm>
          <a:prstGeom prst="rect">
            <a:avLst/>
          </a:prstGeom>
        </p:spPr>
        <p:txBody>
          <a:bodyPr wrap="square">
            <a:spAutoFit/>
          </a:bodyPr>
          <a:lstStyle/>
          <a:p>
            <a:r>
              <a:rPr lang="zh-CN" altLang="en-US" sz="1600" dirty="0"/>
              <a:t>制定并执行投标策略是参与市场竞争、提升中标率的重要手段。通过深入的市场调研与分析、明确投标目标、制定投标方案、建立投标团队等步骤，可以制定出一套科学、合理的投标策略。在执行投标策略的过程中，要密切关注市场动态和竞争对手的动向，及时调整策略，确保投标工作的顺利进行。同时，要对每次投标活动进行总结和反思，不断优化投标策略，提升我们的投标能力和水平。</a:t>
            </a:r>
          </a:p>
        </p:txBody>
      </p:sp>
      <p:sp>
        <p:nvSpPr>
          <p:cNvPr id="31" name="矩形 30"/>
          <p:cNvSpPr/>
          <p:nvPr/>
        </p:nvSpPr>
        <p:spPr>
          <a:xfrm>
            <a:off x="7050655" y="2929625"/>
            <a:ext cx="3650409" cy="3706399"/>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重点注意事项</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分析</a:t>
            </a: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标书</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环节要吃透招标</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需求，充分进行竞争对手与我司优劣势分析，同时要进行合规性自查与风险预判评估等工作。</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制定投标策略要锚定招标核心需求</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，进行差异化分析，价格策略，商务策略，风险兜底以及备选方案都必须充分关注与考虑。</a:t>
            </a:r>
            <a:endParaRPr lang="en-US" altLang="zh-CN"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执行标前评审会</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，把控风险提高质量，提升中标率；直投项目遵循公司</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BR</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流程</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特价申请与审批严格执行</a:t>
            </a:r>
            <a:r>
              <a:rPr lang="en-US" altLang="zh-CN"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EBG</a:t>
            </a: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现有流程</a:t>
            </a:r>
            <a:endParaRPr lang="en-US" altLang="zh-CN"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dirty="0">
                <a:hlinkClick r:id="rId2"/>
              </a:rPr>
              <a:t>M11.3 </a:t>
            </a:r>
            <a:r>
              <a:rPr lang="zh-CN" altLang="en-US" sz="1400" dirty="0">
                <a:hlinkClick r:id="rId2"/>
              </a:rPr>
              <a:t>制定并执行投标策略流程说明文件</a:t>
            </a:r>
            <a:r>
              <a:rPr lang="en-US" altLang="zh-CN" sz="1400" dirty="0">
                <a:hlinkClick r:id="rId2"/>
              </a:rPr>
              <a:t>-</a:t>
            </a:r>
            <a:r>
              <a:rPr lang="en-US" altLang="zh-CN" sz="1400" dirty="0" smtClean="0">
                <a:hlinkClick r:id="rId2"/>
              </a:rPr>
              <a:t>V1.0</a:t>
            </a:r>
            <a:endParaRPr lang="en-US" altLang="zh-CN"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供应链诉求：</a:t>
            </a:r>
            <a:endParaRPr lang="en-US" altLang="zh-CN"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供应链前置参与</a:t>
            </a: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投标策略评审</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，确保投标产品具备</a:t>
            </a: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可供应性，</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如存在供应风险需升级决策。</a:t>
            </a:r>
            <a:endPar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38" name="AutoShape 12"/>
          <p:cNvSpPr>
            <a:spLocks noChangeArrowheads="1"/>
          </p:cNvSpPr>
          <p:nvPr/>
        </p:nvSpPr>
        <p:spPr bwMode="gray">
          <a:xfrm>
            <a:off x="3109329" y="1852407"/>
            <a:ext cx="2586134" cy="437462"/>
          </a:xfrm>
          <a:prstGeom prst="chevron">
            <a:avLst>
              <a:gd name="adj" fmla="val 15486"/>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AutoShape 13"/>
          <p:cNvSpPr>
            <a:spLocks noChangeArrowheads="1"/>
          </p:cNvSpPr>
          <p:nvPr/>
        </p:nvSpPr>
        <p:spPr bwMode="gray">
          <a:xfrm>
            <a:off x="5671516" y="1852407"/>
            <a:ext cx="2758542" cy="437462"/>
          </a:xfrm>
          <a:prstGeom prst="chevron">
            <a:avLst>
              <a:gd name="adj" fmla="val 16781"/>
            </a:avLst>
          </a:prstGeom>
          <a:solidFill>
            <a:srgbClr val="FF9700"/>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AutoShape 10"/>
          <p:cNvSpPr>
            <a:spLocks noChangeArrowheads="1"/>
          </p:cNvSpPr>
          <p:nvPr/>
        </p:nvSpPr>
        <p:spPr bwMode="gray">
          <a:xfrm>
            <a:off x="784436" y="1852407"/>
            <a:ext cx="2348839" cy="437462"/>
          </a:xfrm>
          <a:prstGeom prst="chevron">
            <a:avLst>
              <a:gd name="adj" fmla="val 15711"/>
            </a:avLst>
          </a:prstGeom>
          <a:solidFill>
            <a:srgbClr val="FFE3BB"/>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p>
        </p:txBody>
      </p:sp>
      <p:sp>
        <p:nvSpPr>
          <p:cNvPr id="41" name="AutoShape 14"/>
          <p:cNvSpPr>
            <a:spLocks noChangeArrowheads="1"/>
          </p:cNvSpPr>
          <p:nvPr/>
        </p:nvSpPr>
        <p:spPr bwMode="gray">
          <a:xfrm>
            <a:off x="8406112" y="1852407"/>
            <a:ext cx="2547724" cy="437462"/>
          </a:xfrm>
          <a:prstGeom prst="chevron">
            <a:avLst>
              <a:gd name="adj" fmla="val 15684"/>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pic>
        <p:nvPicPr>
          <p:cNvPr id="4" name="图片 3"/>
          <p:cNvPicPr>
            <a:picLocks noChangeAspect="1"/>
          </p:cNvPicPr>
          <p:nvPr/>
        </p:nvPicPr>
        <p:blipFill>
          <a:blip r:embed="rId3"/>
          <a:stretch>
            <a:fillRect/>
          </a:stretch>
        </p:blipFill>
        <p:spPr>
          <a:xfrm>
            <a:off x="1229196" y="2841031"/>
            <a:ext cx="5044428" cy="3510755"/>
          </a:xfrm>
          <a:prstGeom prst="rect">
            <a:avLst/>
          </a:prstGeom>
        </p:spPr>
      </p:pic>
      <p:sp>
        <p:nvSpPr>
          <p:cNvPr id="3" name="矩形标注 2"/>
          <p:cNvSpPr/>
          <p:nvPr/>
        </p:nvSpPr>
        <p:spPr>
          <a:xfrm>
            <a:off x="558844" y="4290084"/>
            <a:ext cx="1505502" cy="612648"/>
          </a:xfrm>
          <a:prstGeom prst="wedgeRectCallout">
            <a:avLst>
              <a:gd name="adj1" fmla="val 80399"/>
              <a:gd name="adj2" fmla="val -15821"/>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sz="1200" dirty="0" smtClean="0"/>
              <a:t>直投项目需要遵循公司统一</a:t>
            </a:r>
            <a:r>
              <a:rPr lang="en-US" altLang="zh-CN" sz="1200" dirty="0" smtClean="0"/>
              <a:t>BR</a:t>
            </a:r>
            <a:r>
              <a:rPr lang="zh-CN" altLang="en-US" sz="1200" dirty="0" smtClean="0"/>
              <a:t>流程（</a:t>
            </a:r>
            <a:r>
              <a:rPr lang="en-US" altLang="zh-CN" sz="1200" dirty="0" smtClean="0"/>
              <a:t>LTC</a:t>
            </a:r>
            <a:r>
              <a:rPr lang="zh-CN" altLang="en-US" sz="1200" dirty="0" smtClean="0"/>
              <a:t>平台）</a:t>
            </a:r>
            <a:endParaRPr lang="zh-CN" altLang="en-US" sz="1200" dirty="0"/>
          </a:p>
        </p:txBody>
      </p:sp>
    </p:spTree>
    <p:extLst>
      <p:ext uri="{BB962C8B-B14F-4D97-AF65-F5344CB8AC3E}">
        <p14:creationId xmlns:p14="http://schemas.microsoft.com/office/powerpoint/2010/main" val="264206002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M11.4 </a:t>
            </a:r>
            <a:r>
              <a:rPr lang="zh-CN" altLang="en-US" dirty="0" smtClean="0"/>
              <a:t>谈判并签订合同</a:t>
            </a:r>
            <a:r>
              <a:rPr lang="en-US" altLang="zh-CN" dirty="0" smtClean="0"/>
              <a:t>-</a:t>
            </a:r>
            <a:r>
              <a:rPr lang="zh-CN" altLang="en-US" dirty="0" smtClean="0"/>
              <a:t>做好合同评审和赢丢单复盘</a:t>
            </a:r>
            <a:endParaRPr lang="zh-CN" altLang="en-US" dirty="0"/>
          </a:p>
        </p:txBody>
      </p:sp>
      <p:grpSp>
        <p:nvGrpSpPr>
          <p:cNvPr id="10" name="group 162"/>
          <p:cNvGrpSpPr/>
          <p:nvPr/>
        </p:nvGrpSpPr>
        <p:grpSpPr>
          <a:xfrm rot="21600000">
            <a:off x="784436" y="2292157"/>
            <a:ext cx="5935979" cy="4445073"/>
            <a:chOff x="-12700" y="-12700"/>
            <a:chExt cx="5935979" cy="4380823"/>
          </a:xfrm>
        </p:grpSpPr>
        <p:grpSp>
          <p:nvGrpSpPr>
            <p:cNvPr id="11" name="group 164"/>
            <p:cNvGrpSpPr/>
            <p:nvPr/>
          </p:nvGrpSpPr>
          <p:grpSpPr>
            <a:xfrm rot="21600000">
              <a:off x="0" y="0"/>
              <a:ext cx="5910071" cy="4368123"/>
              <a:chOff x="0" y="0"/>
              <a:chExt cx="5910071" cy="4368123"/>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5"/>
                <a:ext cx="5910071" cy="3889588"/>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90204"/>
                <a:ea typeface="Arial" panose="020B0604020202090204"/>
                <a:cs typeface="Arial" panose="020B0604020202090204"/>
              </a:endParaRPr>
            </a:p>
            <a:p>
              <a:pPr marL="2513965" eaLnBrk="0">
                <a:lnSpc>
                  <a:spcPct val="95000"/>
                </a:lnSpc>
              </a:pPr>
              <a:r>
                <a:rPr lang="zh-CN" altLang="en-US" sz="1700"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关键活动</a:t>
              </a:r>
              <a:endParaRPr lang="zh-CN" altLang="en-US" sz="17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p:txBody>
        </p:sp>
      </p:grpSp>
      <p:grpSp>
        <p:nvGrpSpPr>
          <p:cNvPr id="15" name="group 166"/>
          <p:cNvGrpSpPr/>
          <p:nvPr/>
        </p:nvGrpSpPr>
        <p:grpSpPr>
          <a:xfrm rot="21600000">
            <a:off x="6814129" y="2289869"/>
            <a:ext cx="4154170" cy="4385002"/>
            <a:chOff x="-12700" y="-12700"/>
            <a:chExt cx="4154170" cy="3715968"/>
          </a:xfrm>
        </p:grpSpPr>
        <p:grpSp>
          <p:nvGrpSpPr>
            <p:cNvPr id="16" name="group 168"/>
            <p:cNvGrpSpPr/>
            <p:nvPr/>
          </p:nvGrpSpPr>
          <p:grpSpPr>
            <a:xfrm rot="21600000">
              <a:off x="0" y="0"/>
              <a:ext cx="4126991" cy="3703268"/>
              <a:chOff x="0" y="0"/>
              <a:chExt cx="4126991" cy="3703268"/>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5"/>
                <a:ext cx="4126991" cy="3204923"/>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90204"/>
                <a:ea typeface="Arial" panose="020B0604020202090204"/>
                <a:cs typeface="Arial" panose="020B0604020202090204"/>
              </a:endParaRPr>
            </a:p>
            <a:p>
              <a:pPr marL="1623060" algn="l" rtl="0" eaLnBrk="0">
                <a:lnSpc>
                  <a:spcPct val="96000"/>
                </a:lnSpc>
                <a:spcBef>
                  <a:spcPts val="5"/>
                </a:spcBef>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注意事项</a:t>
              </a:r>
              <a:endParaRPr sz="1000" dirty="0" smtClean="0">
                <a:latin typeface="Arial" panose="020B0604020202090204"/>
                <a:ea typeface="Arial" panose="020B0604020202090204"/>
                <a:cs typeface="Arial" panose="020B0604020202090204"/>
              </a:endParaRPr>
            </a:p>
            <a:p>
              <a:pPr algn="l" rtl="0" eaLnBrk="0">
                <a:lnSpc>
                  <a:spcPct val="119000"/>
                </a:lnSpc>
              </a:pPr>
              <a:endParaRPr sz="300" dirty="0">
                <a:latin typeface="Arial" panose="020B0604020202090204"/>
                <a:ea typeface="Arial" panose="020B0604020202090204"/>
                <a:cs typeface="Arial" panose="020B0604020202090204"/>
              </a:endParaRPr>
            </a:p>
          </p:txBody>
        </p:sp>
      </p:grpSp>
      <p:sp>
        <p:nvSpPr>
          <p:cNvPr id="28" name="矩形 27"/>
          <p:cNvSpPr/>
          <p:nvPr/>
        </p:nvSpPr>
        <p:spPr>
          <a:xfrm>
            <a:off x="439400" y="786348"/>
            <a:ext cx="10705928" cy="1077218"/>
          </a:xfrm>
          <a:prstGeom prst="rect">
            <a:avLst/>
          </a:prstGeom>
        </p:spPr>
        <p:txBody>
          <a:bodyPr wrap="square">
            <a:spAutoFit/>
          </a:bodyPr>
          <a:lstStyle/>
          <a:p>
            <a:r>
              <a:rPr lang="zh-CN" altLang="en-US" sz="1600" dirty="0"/>
              <a:t>谈判并签订合同流程是一个复杂而细致的过程，其中包括：</a:t>
            </a:r>
            <a:r>
              <a:rPr lang="zh-CN" altLang="en-US" sz="1600" b="1" dirty="0"/>
              <a:t>非直签项目中标后与下级渠道确认合同条款及二次谈判，</a:t>
            </a:r>
            <a:r>
              <a:rPr lang="zh-CN" altLang="en-US" sz="1600" dirty="0"/>
              <a:t>促成一级渠道与下级渠道签订合同；</a:t>
            </a:r>
            <a:r>
              <a:rPr lang="zh-CN" altLang="en-US" sz="1600" b="1" dirty="0"/>
              <a:t>直签项目中标后与最终用户确认合同条款及二次谈判；赢单</a:t>
            </a:r>
            <a:r>
              <a:rPr lang="en-US" altLang="zh-CN" sz="1600" b="1" dirty="0"/>
              <a:t>/</a:t>
            </a:r>
            <a:r>
              <a:rPr lang="zh-CN" altLang="en-US" sz="1600" b="1" dirty="0"/>
              <a:t>丢单总结复盘分析</a:t>
            </a:r>
            <a:r>
              <a:rPr lang="zh-CN" altLang="en-US" sz="1600" dirty="0"/>
              <a:t>等关键过程，特别是在</a:t>
            </a:r>
            <a:r>
              <a:rPr lang="zh-CN" altLang="en-US" sz="1600" b="1" dirty="0"/>
              <a:t>立项的大项目</a:t>
            </a:r>
            <a:r>
              <a:rPr lang="zh-CN" altLang="en-US" sz="1600" dirty="0"/>
              <a:t>中，它要求我司业务人员具备高度的专业素养、良好的沟通谈判能力以及持续学习的态度。通过不断优化与合作，我司将与各级渠道合作伙伴建立稳定而长久的合作关系，共同实现商业目标。</a:t>
            </a:r>
            <a:endParaRPr lang="zh-CN" altLang="en-US" sz="1600" dirty="0">
              <a:effectLst/>
            </a:endParaRPr>
          </a:p>
        </p:txBody>
      </p:sp>
      <p:sp>
        <p:nvSpPr>
          <p:cNvPr id="31" name="矩形 30"/>
          <p:cNvSpPr/>
          <p:nvPr/>
        </p:nvSpPr>
        <p:spPr>
          <a:xfrm>
            <a:off x="6800920" y="3051389"/>
            <a:ext cx="3963131" cy="2354234"/>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重点注意事项</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、通过合同评审环节严控直签类合同签署，确保核心条款明确，合规合法。</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、确保每一个项目都做到丢</a:t>
            </a:r>
            <a:r>
              <a:rPr lang="en-US" altLang="zh-CN"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赢单复盘，通过经验总结为后续工作提供指导。</a:t>
            </a:r>
            <a:endParaRPr lang="en-US" altLang="zh-CN"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dirty="0">
                <a:hlinkClick r:id="rId2"/>
              </a:rPr>
              <a:t>M11.4 </a:t>
            </a:r>
            <a:r>
              <a:rPr lang="zh-CN" altLang="en-US" sz="1400" dirty="0">
                <a:hlinkClick r:id="rId2"/>
              </a:rPr>
              <a:t>谈判并签订合同流程说明文件</a:t>
            </a:r>
            <a:r>
              <a:rPr lang="en-US" altLang="zh-CN" sz="1400" dirty="0">
                <a:hlinkClick r:id="rId2"/>
              </a:rPr>
              <a:t>-V1.0</a:t>
            </a:r>
            <a:endParaRPr lang="zh-CN" altLang="en-US" sz="1400" dirty="0"/>
          </a:p>
          <a:p>
            <a:pPr marL="113665" eaLnBrk="0">
              <a:lnSpc>
                <a:spcPct val="85000"/>
              </a:lnSpc>
              <a:spcBef>
                <a:spcPts val="425"/>
              </a:spcBef>
            </a:pPr>
            <a:endParaRPr lang="en-US" altLang="zh-CN"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供应链诉求：</a:t>
            </a:r>
          </a:p>
          <a:p>
            <a:pPr marL="113665" eaLnBrk="0">
              <a:lnSpc>
                <a:spcPct val="85000"/>
              </a:lnSpc>
              <a:spcBef>
                <a:spcPts val="425"/>
              </a:spcBef>
            </a:pPr>
            <a:r>
              <a:rPr lang="en-US" altLang="zh-CN"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、直签项目</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供应链参与合同评审；</a:t>
            </a:r>
            <a:endParaRPr lang="en-US" altLang="zh-CN"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38" name="AutoShape 12"/>
          <p:cNvSpPr>
            <a:spLocks noChangeArrowheads="1"/>
          </p:cNvSpPr>
          <p:nvPr/>
        </p:nvSpPr>
        <p:spPr bwMode="gray">
          <a:xfrm>
            <a:off x="3109329" y="1852407"/>
            <a:ext cx="2586134" cy="437462"/>
          </a:xfrm>
          <a:prstGeom prst="chevron">
            <a:avLst>
              <a:gd name="adj" fmla="val 15486"/>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AutoShape 13"/>
          <p:cNvSpPr>
            <a:spLocks noChangeArrowheads="1"/>
          </p:cNvSpPr>
          <p:nvPr/>
        </p:nvSpPr>
        <p:spPr bwMode="gray">
          <a:xfrm>
            <a:off x="5671516" y="1852407"/>
            <a:ext cx="2758542" cy="437462"/>
          </a:xfrm>
          <a:prstGeom prst="chevron">
            <a:avLst>
              <a:gd name="adj" fmla="val 16781"/>
            </a:avLst>
          </a:prstGeom>
          <a:solidFill>
            <a:srgbClr val="FFE3BB"/>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AutoShape 10"/>
          <p:cNvSpPr>
            <a:spLocks noChangeArrowheads="1"/>
          </p:cNvSpPr>
          <p:nvPr/>
        </p:nvSpPr>
        <p:spPr bwMode="gray">
          <a:xfrm>
            <a:off x="784436" y="1852407"/>
            <a:ext cx="2348839" cy="437462"/>
          </a:xfrm>
          <a:prstGeom prst="chevron">
            <a:avLst>
              <a:gd name="adj" fmla="val 15711"/>
            </a:avLst>
          </a:prstGeom>
          <a:solidFill>
            <a:srgbClr val="FFE3BB"/>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p>
        </p:txBody>
      </p:sp>
      <p:sp>
        <p:nvSpPr>
          <p:cNvPr id="41" name="AutoShape 14"/>
          <p:cNvSpPr>
            <a:spLocks noChangeArrowheads="1"/>
          </p:cNvSpPr>
          <p:nvPr/>
        </p:nvSpPr>
        <p:spPr bwMode="gray">
          <a:xfrm>
            <a:off x="8406112" y="1852407"/>
            <a:ext cx="2547724" cy="437462"/>
          </a:xfrm>
          <a:prstGeom prst="chevron">
            <a:avLst>
              <a:gd name="adj" fmla="val 15684"/>
            </a:avLst>
          </a:prstGeom>
          <a:solidFill>
            <a:srgbClr val="FF9700"/>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1" name="矩形 50"/>
          <p:cNvSpPr/>
          <p:nvPr/>
        </p:nvSpPr>
        <p:spPr>
          <a:xfrm>
            <a:off x="6705684" y="2975434"/>
            <a:ext cx="3964654" cy="834844"/>
          </a:xfrm>
          <a:prstGeom prst="rect">
            <a:avLst/>
          </a:prstGeom>
        </p:spPr>
        <p:txBody>
          <a:bodyPr wrap="square">
            <a:spAutoFit/>
          </a:bodyPr>
          <a:lstStyle/>
          <a:p>
            <a:pPr marL="399415" indent="-285750" eaLnBrk="0">
              <a:lnSpc>
                <a:spcPct val="85000"/>
              </a:lnSpc>
              <a:spcBef>
                <a:spcPts val="425"/>
              </a:spcBef>
              <a:buFont typeface="Arial" panose="020B0604020202090204" pitchFamily="34" charset="0"/>
              <a:buChar char="•"/>
            </a:pPr>
            <a:endParaRPr lang="en-US" altLang="zh-CN" sz="1400" dirty="0" smtClean="0"/>
          </a:p>
          <a:p>
            <a:pPr marL="399415" indent="-285750" eaLnBrk="0">
              <a:lnSpc>
                <a:spcPct val="85000"/>
              </a:lnSpc>
              <a:spcBef>
                <a:spcPts val="425"/>
              </a:spcBef>
              <a:buFont typeface="Arial" panose="020B0604020202090204" pitchFamily="34" charset="0"/>
              <a:buChar char="•"/>
            </a:pPr>
            <a:endParaRPr lang="en-US" altLang="zh-CN" sz="1400" dirty="0"/>
          </a:p>
          <a:p>
            <a:pPr marL="399415" indent="-285750" eaLnBrk="0">
              <a:lnSpc>
                <a:spcPct val="85000"/>
              </a:lnSpc>
              <a:spcBef>
                <a:spcPts val="425"/>
              </a:spcBef>
              <a:buFont typeface="Arial" panose="020B0604020202090204" pitchFamily="34" charset="0"/>
              <a:buChar char="•"/>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pic>
        <p:nvPicPr>
          <p:cNvPr id="4" name="图片 3"/>
          <p:cNvPicPr>
            <a:picLocks noChangeAspect="1"/>
          </p:cNvPicPr>
          <p:nvPr/>
        </p:nvPicPr>
        <p:blipFill>
          <a:blip r:embed="rId3"/>
          <a:stretch>
            <a:fillRect/>
          </a:stretch>
        </p:blipFill>
        <p:spPr>
          <a:xfrm>
            <a:off x="1146443" y="3149090"/>
            <a:ext cx="5209934" cy="2978151"/>
          </a:xfrm>
          <a:prstGeom prst="rect">
            <a:avLst/>
          </a:prstGeom>
        </p:spPr>
      </p:pic>
      <p:sp>
        <p:nvSpPr>
          <p:cNvPr id="22" name="矩形标注 21"/>
          <p:cNvSpPr/>
          <p:nvPr/>
        </p:nvSpPr>
        <p:spPr>
          <a:xfrm>
            <a:off x="4536063" y="2809370"/>
            <a:ext cx="1505502" cy="612648"/>
          </a:xfrm>
          <a:prstGeom prst="wedgeRectCallout">
            <a:avLst>
              <a:gd name="adj1" fmla="val -44082"/>
              <a:gd name="adj2" fmla="val 204365"/>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sz="1200" dirty="0" smtClean="0"/>
              <a:t>直签项目遵循公司</a:t>
            </a:r>
            <a:r>
              <a:rPr lang="en-US" altLang="zh-CN" sz="1200" dirty="0" smtClean="0"/>
              <a:t>CR</a:t>
            </a:r>
            <a:r>
              <a:rPr lang="zh-CN" altLang="en-US" sz="1200" dirty="0" smtClean="0"/>
              <a:t>流程</a:t>
            </a:r>
            <a:endParaRPr lang="zh-CN" altLang="en-US" sz="1200" dirty="0"/>
          </a:p>
        </p:txBody>
      </p:sp>
    </p:spTree>
    <p:extLst>
      <p:ext uri="{BB962C8B-B14F-4D97-AF65-F5344CB8AC3E}">
        <p14:creationId xmlns:p14="http://schemas.microsoft.com/office/powerpoint/2010/main" val="385464116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52088" y="196215"/>
            <a:ext cx="7606768" cy="495935"/>
          </a:xfrm>
        </p:spPr>
        <p:txBody>
          <a:bodyPr/>
          <a:lstStyle/>
          <a:p>
            <a:r>
              <a:rPr lang="en-US" altLang="zh-CN" dirty="0"/>
              <a:t>MO</a:t>
            </a:r>
            <a:r>
              <a:rPr dirty="0"/>
              <a:t>流程植入供应链协同</a:t>
            </a:r>
          </a:p>
        </p:txBody>
      </p:sp>
      <p:sp>
        <p:nvSpPr>
          <p:cNvPr id="8" name="矩形 7"/>
          <p:cNvSpPr/>
          <p:nvPr/>
        </p:nvSpPr>
        <p:spPr>
          <a:xfrm>
            <a:off x="577215" y="859790"/>
            <a:ext cx="10692130" cy="1252855"/>
          </a:xfrm>
          <a:prstGeom prst="rect">
            <a:avLst/>
          </a:prstGeom>
          <a:noFill/>
          <a:ln>
            <a:solidFill>
              <a:schemeClr val="accent1"/>
            </a:solidFill>
          </a:ln>
          <a:extLst>
            <a:ext uri="{909E8E84-426E-40DD-AFC4-6F175D3DCCD1}">
              <a14:hiddenFill xmlns:a14="http://schemas.microsoft.com/office/drawing/2010/main">
                <a:solidFill>
                  <a:schemeClr val="accent1">
                    <a:lumMod val="20000"/>
                    <a:lumOff val="80000"/>
                  </a:schemeClr>
                </a:solidFill>
              </a14:hiddenFill>
            </a:ext>
          </a:extLst>
        </p:spPr>
        <p:txBody>
          <a:bodyPr wrap="square">
            <a:noAutofit/>
          </a:bodyPr>
          <a:lstStyle/>
          <a:p>
            <a:pPr fontAlgn="ctr">
              <a:lnSpc>
                <a:spcPct val="150000"/>
              </a:lnSpc>
            </a:pPr>
            <a:r>
              <a:rPr lang="zh-CN" altLang="en-US" sz="1600" b="1" dirty="0">
                <a:effectLst/>
              </a:rPr>
              <a:t>两类场景（协同范围）：</a:t>
            </a:r>
            <a:r>
              <a:rPr lang="zh-CN" altLang="en-US" sz="1600" b="1" dirty="0">
                <a:solidFill>
                  <a:srgbClr val="FF0000"/>
                </a:solidFill>
                <a:effectLst/>
              </a:rPr>
              <a:t>所有的立项项目</a:t>
            </a:r>
            <a:r>
              <a:rPr lang="zh-CN" altLang="en-US" sz="1600" dirty="0">
                <a:effectLst/>
              </a:rPr>
              <a:t>、</a:t>
            </a:r>
            <a:r>
              <a:rPr lang="zh-CN" altLang="en-US" sz="1600" b="1" dirty="0">
                <a:solidFill>
                  <a:srgbClr val="FF0000"/>
                </a:solidFill>
                <a:sym typeface="+mn-ea"/>
              </a:rPr>
              <a:t>一般项目中</a:t>
            </a:r>
            <a:r>
              <a:rPr lang="zh-CN" altLang="en-US" sz="1600" b="1" dirty="0">
                <a:solidFill>
                  <a:schemeClr val="tx1"/>
                </a:solidFill>
                <a:sym typeface="+mn-ea"/>
              </a:rPr>
              <a:t>所有框架项目</a:t>
            </a:r>
            <a:r>
              <a:rPr lang="zh-CN" altLang="en-US" sz="1600" dirty="0">
                <a:solidFill>
                  <a:schemeClr val="tx1"/>
                </a:solidFill>
                <a:sym typeface="+mn-ea"/>
              </a:rPr>
              <a:t>或</a:t>
            </a:r>
            <a:r>
              <a:rPr lang="zh-CN" altLang="en-US" sz="1600" b="1" dirty="0">
                <a:solidFill>
                  <a:schemeClr val="tx1"/>
                </a:solidFill>
                <a:sym typeface="+mn-ea"/>
              </a:rPr>
              <a:t>含供应风险产品</a:t>
            </a:r>
            <a:r>
              <a:rPr lang="zh-CN" altLang="en-US" sz="1600" dirty="0">
                <a:solidFill>
                  <a:schemeClr val="tx1"/>
                </a:solidFill>
                <a:sym typeface="+mn-ea"/>
              </a:rPr>
              <a:t>的项目；</a:t>
            </a:r>
          </a:p>
          <a:p>
            <a:pPr fontAlgn="ctr">
              <a:lnSpc>
                <a:spcPct val="150000"/>
              </a:lnSpc>
            </a:pPr>
            <a:r>
              <a:rPr lang="zh-CN" altLang="en-US" sz="1600" b="1" dirty="0">
                <a:solidFill>
                  <a:schemeClr val="tx1"/>
                </a:solidFill>
                <a:sym typeface="+mn-ea"/>
              </a:rPr>
              <a:t>对销售的需求：立项项目</a:t>
            </a:r>
            <a:r>
              <a:rPr lang="zh-CN" altLang="en-US" sz="1600" dirty="0">
                <a:solidFill>
                  <a:schemeClr val="tx1"/>
                </a:solidFill>
                <a:sym typeface="+mn-ea"/>
              </a:rPr>
              <a:t>关键阶段有意识的</a:t>
            </a:r>
            <a:r>
              <a:rPr lang="zh-CN" altLang="en-US" sz="1600" b="1" dirty="0">
                <a:solidFill>
                  <a:schemeClr val="tx1"/>
                </a:solidFill>
                <a:sym typeface="+mn-ea"/>
              </a:rPr>
              <a:t>主动协同供应链</a:t>
            </a:r>
            <a:r>
              <a:rPr lang="zh-CN" altLang="en-US" sz="1600" dirty="0">
                <a:solidFill>
                  <a:schemeClr val="tx1"/>
                </a:solidFill>
                <a:sym typeface="+mn-ea"/>
              </a:rPr>
              <a:t>，</a:t>
            </a:r>
            <a:r>
              <a:rPr lang="zh-CN" altLang="en-US" sz="1600" b="1" dirty="0">
                <a:solidFill>
                  <a:schemeClr val="tx1"/>
                </a:solidFill>
                <a:sym typeface="+mn-ea"/>
              </a:rPr>
              <a:t>一般项目</a:t>
            </a:r>
            <a:r>
              <a:rPr lang="zh-CN" altLang="en-US" sz="1600" dirty="0">
                <a:solidFill>
                  <a:schemeClr val="tx1"/>
                </a:solidFill>
                <a:sym typeface="+mn-ea"/>
              </a:rPr>
              <a:t>识别到风险后拉通供应链；</a:t>
            </a:r>
          </a:p>
          <a:p>
            <a:pPr fontAlgn="ctr">
              <a:lnSpc>
                <a:spcPct val="150000"/>
              </a:lnSpc>
            </a:pPr>
            <a:r>
              <a:rPr lang="zh-CN" altLang="en-US" sz="1600" b="1" dirty="0"/>
              <a:t>供应链管理重点：</a:t>
            </a:r>
            <a:r>
              <a:rPr lang="zh-CN" altLang="en-US" sz="1600" dirty="0"/>
              <a:t>在</a:t>
            </a:r>
            <a:r>
              <a:rPr lang="zh-CN" altLang="en-US" sz="1600" b="1" dirty="0">
                <a:solidFill>
                  <a:srgbClr val="FF0000"/>
                </a:solidFill>
              </a:rPr>
              <a:t>产品选型、制定投标策略、合同评审</a:t>
            </a:r>
            <a:r>
              <a:rPr lang="zh-CN" altLang="en-US" sz="1600" dirty="0"/>
              <a:t>三个环节提供</a:t>
            </a:r>
            <a:r>
              <a:rPr lang="zh-CN" altLang="en-US" sz="1600" b="1" dirty="0"/>
              <a:t>可供应性评审和供应方案；</a:t>
            </a:r>
          </a:p>
          <a:p>
            <a:pPr fontAlgn="ctr">
              <a:lnSpc>
                <a:spcPct val="150000"/>
              </a:lnSpc>
            </a:pPr>
            <a:endParaRPr lang="zh-CN" altLang="en-US" sz="1600" b="1" dirty="0">
              <a:effectLst/>
            </a:endParaRPr>
          </a:p>
        </p:txBody>
      </p:sp>
      <p:graphicFrame>
        <p:nvGraphicFramePr>
          <p:cNvPr id="13" name="表格 12"/>
          <p:cNvGraphicFramePr/>
          <p:nvPr/>
        </p:nvGraphicFramePr>
        <p:xfrm>
          <a:off x="577850" y="2295525"/>
          <a:ext cx="6106160" cy="4070985"/>
        </p:xfrm>
        <a:graphic>
          <a:graphicData uri="http://schemas.openxmlformats.org/drawingml/2006/table">
            <a:tbl>
              <a:tblPr/>
              <a:tblGrid>
                <a:gridCol w="1911985"/>
                <a:gridCol w="2205990"/>
                <a:gridCol w="1988185"/>
              </a:tblGrid>
              <a:tr h="441325">
                <a:tc>
                  <a:txBody>
                    <a:bodyPr/>
                    <a:lstStyle/>
                    <a:p>
                      <a:pPr fontAlgn="t"/>
                      <a:r>
                        <a:rPr lang="zh-CN" altLang="en-US" sz="1400" b="1"/>
                        <a:t>协同范围</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E1EAFF"/>
                    </a:solidFill>
                  </a:tcPr>
                </a:tc>
                <a:tc>
                  <a:txBody>
                    <a:bodyPr/>
                    <a:lstStyle/>
                    <a:p>
                      <a:pPr fontAlgn="t"/>
                      <a:r>
                        <a:rPr lang="zh-CN" altLang="en-US" sz="1400" b="1"/>
                        <a:t>定义</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E1EAFF"/>
                    </a:solidFill>
                  </a:tcPr>
                </a:tc>
                <a:tc>
                  <a:txBody>
                    <a:bodyPr/>
                    <a:lstStyle/>
                    <a:p>
                      <a:pPr fontAlgn="t"/>
                      <a:r>
                        <a:rPr lang="zh-CN" altLang="en-US" sz="1400" b="1"/>
                        <a:t>协同机制</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E1EAFF"/>
                    </a:solidFill>
                  </a:tcPr>
                </a:tc>
              </a:tr>
              <a:tr h="1264920">
                <a:tc>
                  <a:txBody>
                    <a:bodyPr/>
                    <a:lstStyle/>
                    <a:p>
                      <a:pPr fontAlgn="ctr"/>
                      <a:r>
                        <a:rPr lang="zh-CN" altLang="en-US" sz="1400">
                          <a:solidFill>
                            <a:srgbClr val="245BDB"/>
                          </a:solidFill>
                        </a:rPr>
                        <a:t>所有的立项项目</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ctr"/>
                      <a:r>
                        <a:rPr lang="en-US" altLang="zh-CN" sz="1400"/>
                        <a:t>BG</a:t>
                      </a:r>
                      <a:r>
                        <a:rPr lang="zh-CN" altLang="en-US" sz="1400"/>
                        <a:t>级</a:t>
                      </a:r>
                      <a:r>
                        <a:rPr lang="en-US" altLang="zh-CN" sz="1400"/>
                        <a:t>/BU</a:t>
                      </a:r>
                      <a:r>
                        <a:rPr lang="zh-CN" altLang="en-US" sz="1400"/>
                        <a:t>级</a:t>
                      </a:r>
                      <a:r>
                        <a:rPr lang="en-US" altLang="zh-CN" sz="1400"/>
                        <a:t>/</a:t>
                      </a:r>
                      <a:r>
                        <a:rPr lang="zh-CN" altLang="en-US" sz="1400"/>
                        <a:t>区域级重点项目（参考项目分层分级标准）</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ctr"/>
                      <a:r>
                        <a:rPr lang="zh-CN" altLang="en-US" sz="1400"/>
                        <a:t>销售代表（项目经理）将供应经理纳入项目组成员和项目运作群</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r h="2364740">
                <a:tc>
                  <a:txBody>
                    <a:bodyPr/>
                    <a:lstStyle/>
                    <a:p>
                      <a:pPr fontAlgn="ctr"/>
                      <a:r>
                        <a:rPr lang="zh-CN" altLang="en-US" sz="1400"/>
                        <a:t>一般项目中</a:t>
                      </a:r>
                      <a:r>
                        <a:rPr lang="zh-CN" altLang="en-US" sz="1400">
                          <a:solidFill>
                            <a:srgbClr val="245BDB"/>
                          </a:solidFill>
                        </a:rPr>
                        <a:t>所有框架项目</a:t>
                      </a:r>
                      <a:r>
                        <a:rPr lang="zh-CN" altLang="en-US" sz="1400"/>
                        <a:t>或</a:t>
                      </a:r>
                      <a:r>
                        <a:rPr lang="zh-CN" altLang="en-US" sz="1400">
                          <a:solidFill>
                            <a:srgbClr val="245BDB"/>
                          </a:solidFill>
                        </a:rPr>
                        <a:t>含供应风险产品</a:t>
                      </a:r>
                      <a:r>
                        <a:rPr lang="zh-CN" altLang="en-US" sz="1400"/>
                        <a:t>的项目</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ctr"/>
                      <a:r>
                        <a:rPr lang="zh-CN" altLang="en-US" sz="1400"/>
                        <a:t>一般项目（参考项目分层分级标准）中的框架项目以及含供应风险产品的项目。供应风险定义参考如下附表</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ctr"/>
                      <a:r>
                        <a:rPr lang="zh-CN" altLang="en-US" sz="1400"/>
                        <a:t>供应经理主动管理；</a:t>
                      </a:r>
                    </a:p>
                    <a:p>
                      <a:pPr fontAlgn="ctr"/>
                      <a:r>
                        <a:rPr lang="zh-CN" altLang="en-US" sz="1400"/>
                        <a:t>销售主动协同，系统打标识别和提醒（长期方案）</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bl>
          </a:graphicData>
        </a:graphic>
      </p:graphicFrame>
      <p:graphicFrame>
        <p:nvGraphicFramePr>
          <p:cNvPr id="18" name="表格 17"/>
          <p:cNvGraphicFramePr/>
          <p:nvPr>
            <p:custDataLst>
              <p:tags r:id="rId1"/>
            </p:custDataLst>
          </p:nvPr>
        </p:nvGraphicFramePr>
        <p:xfrm>
          <a:off x="6990715" y="2846705"/>
          <a:ext cx="4418965" cy="3495040"/>
        </p:xfrm>
        <a:graphic>
          <a:graphicData uri="http://schemas.openxmlformats.org/drawingml/2006/table">
            <a:tbl>
              <a:tblPr/>
              <a:tblGrid>
                <a:gridCol w="1518285"/>
                <a:gridCol w="2900680"/>
              </a:tblGrid>
              <a:tr h="420370">
                <a:tc>
                  <a:txBody>
                    <a:bodyPr/>
                    <a:lstStyle/>
                    <a:p>
                      <a:pPr algn="l" fontAlgn="t"/>
                      <a:r>
                        <a:rPr lang="zh-CN" altLang="en-US" sz="1400" b="1"/>
                        <a:t>供应风险类型</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chemeClr val="bg1">
                        <a:lumMod val="85000"/>
                      </a:schemeClr>
                    </a:solidFill>
                  </a:tcPr>
                </a:tc>
                <a:tc>
                  <a:txBody>
                    <a:bodyPr/>
                    <a:lstStyle/>
                    <a:p>
                      <a:pPr algn="l" fontAlgn="t"/>
                      <a:r>
                        <a:rPr lang="zh-CN" altLang="en-US" sz="1400" b="1"/>
                        <a:t>定义</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chemeClr val="bg1">
                        <a:lumMod val="85000"/>
                      </a:schemeClr>
                    </a:solidFill>
                  </a:tcPr>
                </a:tc>
              </a:tr>
              <a:tr h="657225">
                <a:tc>
                  <a:txBody>
                    <a:bodyPr/>
                    <a:lstStyle/>
                    <a:p>
                      <a:pPr fontAlgn="t"/>
                      <a:r>
                        <a:rPr lang="zh-CN" altLang="en-US" sz="1400"/>
                        <a:t>定制产品</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t"/>
                      <a:r>
                        <a:rPr lang="zh-CN" altLang="en-US" sz="1400"/>
                        <a:t>定制产品，如云桌面灵活配置</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r h="657225">
                <a:tc>
                  <a:txBody>
                    <a:bodyPr/>
                    <a:lstStyle/>
                    <a:p>
                      <a:pPr fontAlgn="t"/>
                      <a:r>
                        <a:rPr lang="zh-CN" altLang="en-US" sz="1400"/>
                        <a:t>超流速</a:t>
                      </a:r>
                      <a:r>
                        <a:rPr lang="en-US" altLang="zh-CN" sz="1400"/>
                        <a:t>4</a:t>
                      </a:r>
                      <a:r>
                        <a:rPr lang="zh-CN" altLang="en-US" sz="1400"/>
                        <a:t>倍</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t"/>
                      <a:r>
                        <a:rPr lang="zh-CN" altLang="en-US" sz="1400"/>
                        <a:t>需求数量</a:t>
                      </a:r>
                      <a:r>
                        <a:rPr lang="en-US" altLang="zh-CN" sz="1400"/>
                        <a:t>&gt;</a:t>
                      </a:r>
                      <a:r>
                        <a:rPr lang="zh-CN" altLang="en-US" sz="1400"/>
                        <a:t>公司月均流速的</a:t>
                      </a:r>
                      <a:r>
                        <a:rPr lang="en-US" altLang="zh-CN" sz="1400"/>
                        <a:t>4</a:t>
                      </a:r>
                      <a:r>
                        <a:rPr lang="zh-CN" altLang="en-US" sz="1400"/>
                        <a:t>倍</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r h="657860">
                <a:tc>
                  <a:txBody>
                    <a:bodyPr/>
                    <a:lstStyle/>
                    <a:p>
                      <a:pPr fontAlgn="t"/>
                      <a:r>
                        <a:rPr lang="zh-CN" altLang="en-US" sz="1400"/>
                        <a:t>退市</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t"/>
                      <a:r>
                        <a:rPr lang="zh-CN" altLang="en-US" sz="1400"/>
                        <a:t>即将退市产品或已退市产品</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r h="421005">
                <a:tc>
                  <a:txBody>
                    <a:bodyPr/>
                    <a:lstStyle/>
                    <a:p>
                      <a:pPr fontAlgn="t"/>
                      <a:r>
                        <a:rPr lang="zh-CN" altLang="en-US" sz="1400"/>
                        <a:t>新品早销</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t"/>
                      <a:r>
                        <a:rPr lang="zh-CN" altLang="en-US" sz="1400"/>
                        <a:t>新品未上市早销</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r h="681355">
                <a:tc>
                  <a:txBody>
                    <a:bodyPr/>
                    <a:lstStyle/>
                    <a:p>
                      <a:pPr fontAlgn="t"/>
                      <a:r>
                        <a:rPr lang="zh-CN" altLang="en-US" sz="1400"/>
                        <a:t>供应风险</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t"/>
                      <a:r>
                        <a:rPr lang="en-US" altLang="zh-CN" sz="1400"/>
                        <a:t>MDS</a:t>
                      </a:r>
                      <a:r>
                        <a:rPr lang="zh-CN" altLang="en-US" sz="1400"/>
                        <a:t>持续</a:t>
                      </a:r>
                      <a:r>
                        <a:rPr lang="en-US" altLang="zh-CN" sz="1400"/>
                        <a:t>3</a:t>
                      </a:r>
                      <a:r>
                        <a:rPr lang="zh-CN" altLang="en-US" sz="1400"/>
                        <a:t>个月缺口且无明确解决方案</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bl>
          </a:graphicData>
        </a:graphic>
      </p:graphicFrame>
      <p:sp>
        <p:nvSpPr>
          <p:cNvPr id="40" name="AutoShape 10"/>
          <p:cNvSpPr>
            <a:spLocks noChangeArrowheads="1"/>
          </p:cNvSpPr>
          <p:nvPr/>
        </p:nvSpPr>
        <p:spPr bwMode="gray">
          <a:xfrm>
            <a:off x="6990926" y="2307067"/>
            <a:ext cx="2348839" cy="437462"/>
          </a:xfrm>
          <a:prstGeom prst="rect">
            <a:avLst/>
          </a:prstGeom>
          <a:solidFill>
            <a:schemeClr val="accent1">
              <a:lumMod val="20000"/>
              <a:lumOff val="80000"/>
            </a:schemeClr>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供应风险说明</a:t>
            </a:r>
          </a:p>
        </p:txBody>
      </p:sp>
    </p:spTree>
    <p:extLst>
      <p:ext uri="{BB962C8B-B14F-4D97-AF65-F5344CB8AC3E}">
        <p14:creationId xmlns:p14="http://schemas.microsoft.com/office/powerpoint/2010/main" val="275328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52088" y="196215"/>
            <a:ext cx="7606768" cy="495935"/>
          </a:xfrm>
        </p:spPr>
        <p:txBody>
          <a:bodyPr/>
          <a:lstStyle/>
          <a:p>
            <a:r>
              <a:rPr lang="en-US" altLang="zh-CN" dirty="0"/>
              <a:t>MO</a:t>
            </a:r>
            <a:r>
              <a:rPr dirty="0"/>
              <a:t>流程植入供应链协同</a:t>
            </a:r>
            <a:r>
              <a:rPr lang="en-US" altLang="zh-CN" dirty="0"/>
              <a:t>-</a:t>
            </a:r>
            <a:r>
              <a:rPr dirty="0"/>
              <a:t>立项项目</a:t>
            </a:r>
          </a:p>
        </p:txBody>
      </p:sp>
      <p:sp>
        <p:nvSpPr>
          <p:cNvPr id="13" name="矩形 12"/>
          <p:cNvSpPr/>
          <p:nvPr/>
        </p:nvSpPr>
        <p:spPr>
          <a:xfrm>
            <a:off x="577215" y="859790"/>
            <a:ext cx="10692130" cy="908685"/>
          </a:xfrm>
          <a:prstGeom prst="rect">
            <a:avLst/>
          </a:prstGeom>
          <a:noFill/>
          <a:ln>
            <a:solidFill>
              <a:schemeClr val="accent1"/>
            </a:solidFill>
          </a:ln>
          <a:extLst>
            <a:ext uri="{909E8E84-426E-40DD-AFC4-6F175D3DCCD1}">
              <a14:hiddenFill xmlns:a14="http://schemas.microsoft.com/office/drawing/2010/main">
                <a:solidFill>
                  <a:schemeClr val="accent1">
                    <a:lumMod val="20000"/>
                    <a:lumOff val="80000"/>
                  </a:schemeClr>
                </a:solidFill>
              </a14:hiddenFill>
            </a:ext>
          </a:extLst>
        </p:spPr>
        <p:txBody>
          <a:bodyPr wrap="square">
            <a:noAutofit/>
          </a:bodyPr>
          <a:lstStyle/>
          <a:p>
            <a:pPr fontAlgn="ctr">
              <a:lnSpc>
                <a:spcPct val="150000"/>
              </a:lnSpc>
            </a:pPr>
            <a:r>
              <a:rPr lang="zh-CN" altLang="en-US" sz="1600" b="1" dirty="0">
                <a:effectLst/>
              </a:rPr>
              <a:t>流程起点：</a:t>
            </a:r>
            <a:r>
              <a:rPr lang="zh-CN" altLang="en-US" sz="1600" b="1" dirty="0">
                <a:solidFill>
                  <a:srgbClr val="FF0000"/>
                </a:solidFill>
                <a:effectLst/>
              </a:rPr>
              <a:t>立项启动</a:t>
            </a:r>
            <a:r>
              <a:rPr lang="zh-CN" altLang="en-US" sz="1600" b="1" dirty="0">
                <a:effectLst/>
              </a:rPr>
              <a:t>，</a:t>
            </a:r>
            <a:r>
              <a:rPr lang="zh-CN" altLang="en-US" sz="1600" dirty="0">
                <a:effectLst/>
              </a:rPr>
              <a:t>销售需要</a:t>
            </a:r>
            <a:r>
              <a:rPr lang="zh-CN" altLang="en-US" b="1" dirty="0">
                <a:solidFill>
                  <a:srgbClr val="FF0000"/>
                </a:solidFill>
                <a:effectLst/>
              </a:rPr>
              <a:t>主动</a:t>
            </a:r>
            <a:r>
              <a:rPr lang="zh-CN" altLang="en-US" sz="1600" dirty="0">
                <a:solidFill>
                  <a:schemeClr val="tx1"/>
                </a:solidFill>
                <a:effectLst/>
              </a:rPr>
              <a:t>将供应经理（市场计划）拉入</a:t>
            </a:r>
            <a:r>
              <a:rPr lang="zh-CN" altLang="en-US" sz="1600" b="1" dirty="0">
                <a:solidFill>
                  <a:schemeClr val="tx1"/>
                </a:solidFill>
                <a:effectLst/>
              </a:rPr>
              <a:t>项目运转群</a:t>
            </a:r>
            <a:r>
              <a:rPr lang="zh-CN" altLang="en-US" sz="1600" dirty="0">
                <a:solidFill>
                  <a:schemeClr val="tx1"/>
                </a:solidFill>
                <a:effectLst/>
              </a:rPr>
              <a:t>，组织</a:t>
            </a:r>
            <a:r>
              <a:rPr lang="zh-CN" altLang="en-US" sz="1600" b="1" dirty="0">
                <a:solidFill>
                  <a:schemeClr val="tx1"/>
                </a:solidFill>
                <a:effectLst/>
              </a:rPr>
              <a:t>立项启动会</a:t>
            </a:r>
            <a:r>
              <a:rPr lang="zh-CN" altLang="en-US" sz="1600" dirty="0">
                <a:solidFill>
                  <a:schemeClr val="tx1"/>
                </a:solidFill>
                <a:effectLst/>
              </a:rPr>
              <a:t>时邀请供应经理参与。</a:t>
            </a:r>
            <a:endParaRPr lang="zh-CN" altLang="en-US" sz="1600" b="1" dirty="0">
              <a:effectLst/>
            </a:endParaRPr>
          </a:p>
          <a:p>
            <a:pPr fontAlgn="ctr">
              <a:lnSpc>
                <a:spcPct val="150000"/>
              </a:lnSpc>
            </a:pPr>
            <a:r>
              <a:rPr lang="zh-CN" altLang="en-US" sz="1600" b="1" dirty="0">
                <a:effectLst/>
              </a:rPr>
              <a:t>三个关键节点：</a:t>
            </a:r>
            <a:r>
              <a:rPr lang="zh-CN" altLang="en-US" sz="1600" b="1" dirty="0">
                <a:solidFill>
                  <a:srgbClr val="FF0000"/>
                </a:solidFill>
                <a:effectLst/>
              </a:rPr>
              <a:t>解决方案评审、制定投标策略、合同评审</a:t>
            </a:r>
            <a:r>
              <a:rPr lang="zh-CN" altLang="en-US" sz="1600" dirty="0">
                <a:effectLst/>
              </a:rPr>
              <a:t>；供应经理在项目组内提供可供应性评审和供应方案。</a:t>
            </a:r>
          </a:p>
        </p:txBody>
      </p:sp>
      <p:sp>
        <p:nvSpPr>
          <p:cNvPr id="4" name="矩形 3"/>
          <p:cNvSpPr/>
          <p:nvPr>
            <p:custDataLst>
              <p:tags r:id="rId1"/>
            </p:custDataLst>
          </p:nvPr>
        </p:nvSpPr>
        <p:spPr>
          <a:xfrm>
            <a:off x="577850" y="2026285"/>
            <a:ext cx="1940560" cy="474345"/>
          </a:xfrm>
          <a:prstGeom prst="rect">
            <a:avLst/>
          </a:prstGeom>
          <a:solidFill>
            <a:schemeClr val="accent1">
              <a:lumMod val="20000"/>
              <a:lumOff val="80000"/>
            </a:schemeClr>
          </a:solidFill>
          <a:ln>
            <a:noFill/>
          </a:ln>
        </p:spPr>
        <p:txBody>
          <a:bodyPr wrap="square">
            <a:noAutofit/>
          </a:bodyPr>
          <a:lstStyle/>
          <a:p>
            <a:pPr algn="ctr" fontAlgn="ctr">
              <a:lnSpc>
                <a:spcPct val="150000"/>
              </a:lnSpc>
            </a:pPr>
            <a:r>
              <a:rPr lang="zh-CN" altLang="en-US" sz="1600" b="1" dirty="0">
                <a:effectLst/>
              </a:rPr>
              <a:t>关键节点</a:t>
            </a:r>
          </a:p>
        </p:txBody>
      </p:sp>
      <p:sp>
        <p:nvSpPr>
          <p:cNvPr id="5" name="矩形 4"/>
          <p:cNvSpPr/>
          <p:nvPr>
            <p:custDataLst>
              <p:tags r:id="rId2"/>
            </p:custDataLst>
          </p:nvPr>
        </p:nvSpPr>
        <p:spPr>
          <a:xfrm>
            <a:off x="2665095" y="2026285"/>
            <a:ext cx="3430905" cy="474345"/>
          </a:xfrm>
          <a:prstGeom prst="rect">
            <a:avLst/>
          </a:prstGeom>
          <a:solidFill>
            <a:schemeClr val="accent1">
              <a:lumMod val="20000"/>
              <a:lumOff val="80000"/>
            </a:schemeClr>
          </a:solidFill>
          <a:ln>
            <a:noFill/>
          </a:ln>
        </p:spPr>
        <p:txBody>
          <a:bodyPr wrap="square">
            <a:noAutofit/>
          </a:bodyPr>
          <a:lstStyle/>
          <a:p>
            <a:pPr algn="ctr" fontAlgn="ctr">
              <a:lnSpc>
                <a:spcPct val="140000"/>
              </a:lnSpc>
            </a:pPr>
            <a:r>
              <a:rPr lang="zh-CN" altLang="en-US" sz="1600" b="1" dirty="0">
                <a:effectLst/>
              </a:rPr>
              <a:t>供应链提供什么</a:t>
            </a:r>
          </a:p>
        </p:txBody>
      </p:sp>
      <p:sp>
        <p:nvSpPr>
          <p:cNvPr id="7" name="矩形 6"/>
          <p:cNvSpPr/>
          <p:nvPr/>
        </p:nvSpPr>
        <p:spPr>
          <a:xfrm>
            <a:off x="586740" y="3912235"/>
            <a:ext cx="1932305" cy="1236980"/>
          </a:xfrm>
          <a:prstGeom prst="rect">
            <a:avLst/>
          </a:prstGeom>
          <a:solidFill>
            <a:schemeClr val="accent1">
              <a:lumMod val="20000"/>
              <a:lumOff val="80000"/>
            </a:schemeClr>
          </a:solidFill>
          <a:ln>
            <a:noFill/>
          </a:ln>
        </p:spPr>
        <p:txBody>
          <a:bodyPr wrap="square">
            <a:noAutofit/>
          </a:bodyPr>
          <a:lstStyle/>
          <a:p>
            <a:pPr algn="ctr" fontAlgn="ctr">
              <a:lnSpc>
                <a:spcPct val="130000"/>
              </a:lnSpc>
            </a:pPr>
            <a:r>
              <a:rPr lang="zh-CN" altLang="en-US" sz="1600" b="1" dirty="0">
                <a:solidFill>
                  <a:schemeClr val="tx1"/>
                </a:solidFill>
                <a:effectLst/>
              </a:rPr>
              <a:t>制订投标策略</a:t>
            </a:r>
          </a:p>
        </p:txBody>
      </p:sp>
      <p:sp>
        <p:nvSpPr>
          <p:cNvPr id="6" name="矩形 5"/>
          <p:cNvSpPr/>
          <p:nvPr>
            <p:custDataLst>
              <p:tags r:id="rId3"/>
            </p:custDataLst>
          </p:nvPr>
        </p:nvSpPr>
        <p:spPr>
          <a:xfrm>
            <a:off x="586740" y="2595245"/>
            <a:ext cx="1932305" cy="1186180"/>
          </a:xfrm>
          <a:prstGeom prst="rect">
            <a:avLst/>
          </a:prstGeom>
          <a:solidFill>
            <a:schemeClr val="accent1">
              <a:lumMod val="20000"/>
              <a:lumOff val="80000"/>
            </a:schemeClr>
          </a:solidFill>
          <a:ln>
            <a:noFill/>
          </a:ln>
        </p:spPr>
        <p:txBody>
          <a:bodyPr wrap="square">
            <a:noAutofit/>
          </a:bodyPr>
          <a:lstStyle/>
          <a:p>
            <a:pPr algn="ctr" fontAlgn="ctr">
              <a:lnSpc>
                <a:spcPct val="150000"/>
              </a:lnSpc>
            </a:pPr>
            <a:r>
              <a:rPr lang="zh-CN" altLang="en-US" sz="1600" b="1" dirty="0">
                <a:effectLst/>
              </a:rPr>
              <a:t>解决方案评审</a:t>
            </a:r>
          </a:p>
        </p:txBody>
      </p:sp>
      <p:sp>
        <p:nvSpPr>
          <p:cNvPr id="8" name="矩形 7"/>
          <p:cNvSpPr/>
          <p:nvPr>
            <p:custDataLst>
              <p:tags r:id="rId4"/>
            </p:custDataLst>
          </p:nvPr>
        </p:nvSpPr>
        <p:spPr>
          <a:xfrm>
            <a:off x="2654935" y="2595245"/>
            <a:ext cx="3440430" cy="1191260"/>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dirty="0">
                <a:effectLst/>
              </a:rPr>
              <a:t>针对</a:t>
            </a:r>
            <a:r>
              <a:rPr lang="zh-CN" altLang="en-US" sz="1600" b="1" dirty="0">
                <a:effectLst/>
              </a:rPr>
              <a:t>产品选型</a:t>
            </a:r>
            <a:r>
              <a:rPr lang="zh-CN" altLang="en-US" sz="1600" dirty="0">
                <a:effectLst/>
              </a:rPr>
              <a:t>进行供应可行性评估，输出供应方案建议等；</a:t>
            </a:r>
          </a:p>
        </p:txBody>
      </p:sp>
      <p:sp>
        <p:nvSpPr>
          <p:cNvPr id="9" name="矩形 8"/>
          <p:cNvSpPr/>
          <p:nvPr>
            <p:custDataLst>
              <p:tags r:id="rId5"/>
            </p:custDataLst>
          </p:nvPr>
        </p:nvSpPr>
        <p:spPr>
          <a:xfrm>
            <a:off x="9186545" y="2026285"/>
            <a:ext cx="2345055" cy="474345"/>
          </a:xfrm>
          <a:prstGeom prst="rect">
            <a:avLst/>
          </a:prstGeom>
          <a:solidFill>
            <a:schemeClr val="accent1">
              <a:lumMod val="20000"/>
              <a:lumOff val="80000"/>
            </a:schemeClr>
          </a:solidFill>
          <a:ln>
            <a:noFill/>
          </a:ln>
        </p:spPr>
        <p:txBody>
          <a:bodyPr wrap="square">
            <a:noAutofit/>
          </a:bodyPr>
          <a:lstStyle/>
          <a:p>
            <a:pPr algn="ctr" fontAlgn="ctr">
              <a:lnSpc>
                <a:spcPct val="140000"/>
              </a:lnSpc>
            </a:pPr>
            <a:r>
              <a:rPr lang="zh-CN" altLang="en-US" sz="1600" b="1" dirty="0">
                <a:effectLst/>
              </a:rPr>
              <a:t>案例分享</a:t>
            </a:r>
          </a:p>
        </p:txBody>
      </p:sp>
      <p:sp>
        <p:nvSpPr>
          <p:cNvPr id="10" name="矩形 9"/>
          <p:cNvSpPr/>
          <p:nvPr/>
        </p:nvSpPr>
        <p:spPr>
          <a:xfrm>
            <a:off x="2654935" y="3919855"/>
            <a:ext cx="3430270" cy="1221740"/>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dirty="0">
                <a:effectLst/>
                <a:sym typeface="+mn-ea"/>
              </a:rPr>
              <a:t>评估</a:t>
            </a:r>
            <a:r>
              <a:rPr lang="zh-CN" altLang="en-US" sz="1600" b="1" dirty="0">
                <a:effectLst/>
                <a:sym typeface="+mn-ea"/>
              </a:rPr>
              <a:t>投标产品</a:t>
            </a:r>
            <a:r>
              <a:rPr lang="zh-CN" altLang="en-US" sz="1600" dirty="0">
                <a:effectLst/>
                <a:sym typeface="+mn-ea"/>
              </a:rPr>
              <a:t>的供应能力是否具备，并输出供应方案建议等；</a:t>
            </a:r>
            <a:endParaRPr lang="zh-CN" altLang="en-US" sz="1600" dirty="0">
              <a:effectLst/>
            </a:endParaRPr>
          </a:p>
          <a:p>
            <a:pPr marL="285750" indent="-285750" algn="l" fontAlgn="ctr">
              <a:lnSpc>
                <a:spcPct val="150000"/>
              </a:lnSpc>
              <a:buFont typeface="Wingdings" panose="05000000000000000000" charset="0"/>
              <a:buChar char="l"/>
            </a:pPr>
            <a:r>
              <a:rPr lang="zh-CN" altLang="en-US" sz="1600" dirty="0">
                <a:effectLst/>
              </a:rPr>
              <a:t>针对</a:t>
            </a:r>
            <a:r>
              <a:rPr lang="zh-CN" altLang="en-US" sz="1600" b="1" dirty="0">
                <a:effectLst/>
              </a:rPr>
              <a:t>标书</a:t>
            </a:r>
            <a:r>
              <a:rPr lang="zh-CN" altLang="en-US" sz="1600" dirty="0">
                <a:effectLst/>
              </a:rPr>
              <a:t>中的</a:t>
            </a:r>
            <a:r>
              <a:rPr lang="zh-CN" altLang="en-US" sz="1600" b="1" dirty="0">
                <a:effectLst/>
              </a:rPr>
              <a:t>交期</a:t>
            </a:r>
            <a:r>
              <a:rPr lang="zh-CN" altLang="en-US" sz="1600" dirty="0">
                <a:effectLst/>
              </a:rPr>
              <a:t>评估能否满足；</a:t>
            </a:r>
          </a:p>
          <a:p>
            <a:pPr marL="285750" indent="-285750" algn="l" fontAlgn="ctr">
              <a:lnSpc>
                <a:spcPct val="150000"/>
              </a:lnSpc>
              <a:buFont typeface="Wingdings" panose="05000000000000000000" charset="0"/>
              <a:buChar char="l"/>
            </a:pPr>
            <a:endParaRPr lang="zh-CN" altLang="en-US" sz="1600" dirty="0">
              <a:effectLst/>
            </a:endParaRPr>
          </a:p>
        </p:txBody>
      </p:sp>
      <p:sp>
        <p:nvSpPr>
          <p:cNvPr id="12" name="矩形 11"/>
          <p:cNvSpPr/>
          <p:nvPr>
            <p:custDataLst>
              <p:tags r:id="rId6"/>
            </p:custDataLst>
          </p:nvPr>
        </p:nvSpPr>
        <p:spPr>
          <a:xfrm>
            <a:off x="6243320" y="2026285"/>
            <a:ext cx="2794635" cy="474345"/>
          </a:xfrm>
          <a:prstGeom prst="rect">
            <a:avLst/>
          </a:prstGeom>
          <a:solidFill>
            <a:schemeClr val="accent1">
              <a:lumMod val="20000"/>
              <a:lumOff val="80000"/>
            </a:schemeClr>
          </a:solidFill>
          <a:ln>
            <a:noFill/>
          </a:ln>
        </p:spPr>
        <p:txBody>
          <a:bodyPr wrap="square">
            <a:noAutofit/>
          </a:bodyPr>
          <a:lstStyle/>
          <a:p>
            <a:pPr algn="ctr" fontAlgn="ctr">
              <a:lnSpc>
                <a:spcPct val="140000"/>
              </a:lnSpc>
            </a:pPr>
            <a:r>
              <a:rPr lang="zh-CN" altLang="en-US" sz="1600" b="1" dirty="0">
                <a:effectLst/>
              </a:rPr>
              <a:t>怎么协同</a:t>
            </a:r>
          </a:p>
        </p:txBody>
      </p:sp>
      <p:sp>
        <p:nvSpPr>
          <p:cNvPr id="14" name="矩形 13"/>
          <p:cNvSpPr/>
          <p:nvPr>
            <p:custDataLst>
              <p:tags r:id="rId7"/>
            </p:custDataLst>
          </p:nvPr>
        </p:nvSpPr>
        <p:spPr>
          <a:xfrm>
            <a:off x="6233795" y="2595245"/>
            <a:ext cx="2806065" cy="1195705"/>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dirty="0">
                <a:effectLst/>
              </a:rPr>
              <a:t>销售主导的</a:t>
            </a:r>
            <a:r>
              <a:rPr lang="zh-CN" altLang="en-US" sz="1600" b="1" dirty="0">
                <a:effectLst/>
              </a:rPr>
              <a:t>项目运转群</a:t>
            </a:r>
            <a:r>
              <a:rPr lang="zh-CN" altLang="en-US" sz="1600" dirty="0">
                <a:effectLst/>
              </a:rPr>
              <a:t>内；</a:t>
            </a:r>
          </a:p>
          <a:p>
            <a:pPr marL="285750" indent="-285750" algn="l" fontAlgn="ctr">
              <a:lnSpc>
                <a:spcPct val="150000"/>
              </a:lnSpc>
              <a:buFont typeface="Wingdings" panose="05000000000000000000" charset="0"/>
              <a:buChar char="l"/>
            </a:pPr>
            <a:r>
              <a:rPr lang="zh-CN" altLang="en-US" sz="1600" b="1" dirty="0">
                <a:effectLst/>
              </a:rPr>
              <a:t>解决方案评审会议</a:t>
            </a:r>
            <a:r>
              <a:rPr lang="zh-CN" altLang="en-US" sz="1600" dirty="0">
                <a:effectLst/>
              </a:rPr>
              <a:t>；</a:t>
            </a:r>
          </a:p>
        </p:txBody>
      </p:sp>
      <p:sp>
        <p:nvSpPr>
          <p:cNvPr id="15" name="矩形 14"/>
          <p:cNvSpPr/>
          <p:nvPr/>
        </p:nvSpPr>
        <p:spPr>
          <a:xfrm>
            <a:off x="9178290" y="2595880"/>
            <a:ext cx="2428875" cy="3891280"/>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b="1" dirty="0">
                <a:effectLst/>
                <a:sym typeface="+mn-ea"/>
              </a:rPr>
              <a:t>企业系统部</a:t>
            </a:r>
            <a:r>
              <a:rPr lang="en-US" altLang="zh-CN" sz="1600" b="1" dirty="0">
                <a:effectLst/>
                <a:sym typeface="+mn-ea"/>
              </a:rPr>
              <a:t>-</a:t>
            </a:r>
            <a:r>
              <a:rPr lang="zh-CN" sz="1600" b="1" dirty="0">
                <a:effectLst/>
                <a:sym typeface="+mn-ea"/>
              </a:rPr>
              <a:t>大唐</a:t>
            </a:r>
          </a:p>
          <a:p>
            <a:pPr indent="0" algn="l" fontAlgn="ctr">
              <a:lnSpc>
                <a:spcPct val="150000"/>
              </a:lnSpc>
              <a:buFont typeface="Wingdings" panose="05000000000000000000" charset="0"/>
              <a:buNone/>
            </a:pPr>
            <a:r>
              <a:rPr lang="zh-CN" altLang="en-US" sz="1600" dirty="0">
                <a:effectLst/>
              </a:rPr>
              <a:t>云桌面框架</a:t>
            </a:r>
            <a:r>
              <a:rPr lang="en-US" altLang="zh-CN" sz="1600" dirty="0">
                <a:effectLst/>
              </a:rPr>
              <a:t>600W</a:t>
            </a:r>
            <a:r>
              <a:rPr lang="zh-CN" altLang="en-US" sz="1600" dirty="0">
                <a:effectLst/>
              </a:rPr>
              <a:t>，</a:t>
            </a:r>
            <a:r>
              <a:rPr lang="en-US" altLang="zh-CN" sz="1600" dirty="0">
                <a:effectLst/>
              </a:rPr>
              <a:t>8</a:t>
            </a:r>
            <a:r>
              <a:rPr lang="zh-CN" altLang="en-US" sz="1600" dirty="0">
                <a:effectLst/>
              </a:rPr>
              <a:t>月</a:t>
            </a:r>
          </a:p>
          <a:p>
            <a:pPr indent="0" algn="l" fontAlgn="ctr">
              <a:lnSpc>
                <a:spcPct val="150000"/>
              </a:lnSpc>
              <a:buFont typeface="Wingdings" panose="05000000000000000000" charset="0"/>
              <a:buNone/>
            </a:pPr>
            <a:r>
              <a:rPr lang="zh-CN" altLang="en-US" sz="1600" dirty="0">
                <a:effectLst/>
              </a:rPr>
              <a:t>市场通知项目启动，计划</a:t>
            </a:r>
            <a:r>
              <a:rPr lang="en-US" altLang="zh-CN" sz="1600" dirty="0">
                <a:effectLst/>
              </a:rPr>
              <a:t>9</a:t>
            </a:r>
            <a:r>
              <a:rPr lang="zh-CN" altLang="en-US" sz="1600" dirty="0">
                <a:effectLst/>
              </a:rPr>
              <a:t>月投标，首批供货</a:t>
            </a:r>
            <a:r>
              <a:rPr lang="en-US" altLang="zh-CN" sz="1600" dirty="0">
                <a:effectLst/>
              </a:rPr>
              <a:t>11</a:t>
            </a:r>
            <a:r>
              <a:rPr lang="zh-CN" altLang="en-US" sz="1600" dirty="0">
                <a:effectLst/>
              </a:rPr>
              <a:t>月底。</a:t>
            </a:r>
            <a:r>
              <a:rPr lang="en-US" altLang="zh-CN" sz="1600" b="1" dirty="0">
                <a:effectLst/>
              </a:rPr>
              <a:t>8</a:t>
            </a:r>
            <a:r>
              <a:rPr lang="zh-CN" altLang="en-US" sz="1600" b="1" dirty="0">
                <a:effectLst/>
              </a:rPr>
              <a:t>月项目启动时</a:t>
            </a:r>
            <a:r>
              <a:rPr lang="zh-CN" altLang="en-US" sz="1600" dirty="0">
                <a:effectLst/>
              </a:rPr>
              <a:t>识别</a:t>
            </a:r>
            <a:r>
              <a:rPr lang="en-US" altLang="zh-CN" sz="1600" dirty="0">
                <a:effectLst/>
              </a:rPr>
              <a:t>CT7529</a:t>
            </a:r>
            <a:r>
              <a:rPr lang="zh-CN" altLang="en-US" sz="1600" b="1" dirty="0">
                <a:effectLst/>
              </a:rPr>
              <a:t>断供</a:t>
            </a:r>
            <a:r>
              <a:rPr lang="zh-CN" altLang="en-US" sz="1600" dirty="0">
                <a:effectLst/>
              </a:rPr>
              <a:t>风险，拉通产品部引导</a:t>
            </a:r>
            <a:r>
              <a:rPr lang="zh-CN" altLang="en-US" sz="1600" b="1" dirty="0">
                <a:effectLst/>
              </a:rPr>
              <a:t>引流</a:t>
            </a:r>
            <a:r>
              <a:rPr lang="en-US" altLang="zh-CN" sz="1600" dirty="0">
                <a:effectLst/>
              </a:rPr>
              <a:t>7528</a:t>
            </a:r>
            <a:r>
              <a:rPr lang="zh-CN" altLang="en-US" sz="1600" dirty="0">
                <a:effectLst/>
              </a:rPr>
              <a:t>，</a:t>
            </a:r>
            <a:r>
              <a:rPr lang="zh-CN" altLang="en-US" sz="1600" b="1" dirty="0">
                <a:effectLst/>
              </a:rPr>
              <a:t>基于</a:t>
            </a:r>
            <a:r>
              <a:rPr lang="en-US" altLang="zh-CN" sz="1600" b="1" dirty="0">
                <a:effectLst/>
              </a:rPr>
              <a:t>SLA </a:t>
            </a:r>
            <a:r>
              <a:rPr lang="en-US" altLang="zh-CN" sz="1600" dirty="0">
                <a:effectLst/>
              </a:rPr>
              <a:t>10</a:t>
            </a:r>
            <a:r>
              <a:rPr lang="zh-CN" altLang="en-US" sz="1600" dirty="0">
                <a:effectLst/>
              </a:rPr>
              <a:t>月中推动决策</a:t>
            </a:r>
            <a:r>
              <a:rPr lang="zh-CN" altLang="en-US" sz="1600" b="1" dirty="0">
                <a:effectLst/>
              </a:rPr>
              <a:t>高风险备货</a:t>
            </a:r>
            <a:r>
              <a:rPr lang="en-US" altLang="zh-CN" sz="1600" dirty="0">
                <a:effectLst/>
              </a:rPr>
              <a:t>40</a:t>
            </a:r>
            <a:r>
              <a:rPr lang="zh-CN" altLang="en-US" sz="1600" dirty="0">
                <a:effectLst/>
              </a:rPr>
              <a:t>台，共识</a:t>
            </a:r>
            <a:r>
              <a:rPr lang="en-US" altLang="zh-CN" sz="1600" dirty="0">
                <a:effectLst/>
              </a:rPr>
              <a:t>11~12</a:t>
            </a:r>
            <a:r>
              <a:rPr lang="zh-CN" altLang="en-US" sz="1600" dirty="0">
                <a:effectLst/>
              </a:rPr>
              <a:t>月分批供货。</a:t>
            </a:r>
          </a:p>
        </p:txBody>
      </p:sp>
      <p:sp>
        <p:nvSpPr>
          <p:cNvPr id="16" name="矩形 15"/>
          <p:cNvSpPr/>
          <p:nvPr>
            <p:custDataLst>
              <p:tags r:id="rId8"/>
            </p:custDataLst>
          </p:nvPr>
        </p:nvSpPr>
        <p:spPr>
          <a:xfrm>
            <a:off x="6241415" y="3920490"/>
            <a:ext cx="2806065" cy="1224280"/>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dirty="0">
                <a:effectLst/>
                <a:sym typeface="+mn-ea"/>
              </a:rPr>
              <a:t>销售主导的</a:t>
            </a:r>
            <a:r>
              <a:rPr lang="zh-CN" altLang="en-US" sz="1600" b="1" dirty="0">
                <a:effectLst/>
                <a:sym typeface="+mn-ea"/>
              </a:rPr>
              <a:t>项目运转群</a:t>
            </a:r>
            <a:r>
              <a:rPr lang="zh-CN" altLang="en-US" sz="1600" dirty="0">
                <a:effectLst/>
                <a:sym typeface="+mn-ea"/>
              </a:rPr>
              <a:t>内；</a:t>
            </a:r>
            <a:endParaRPr lang="zh-CN" altLang="en-US" sz="1600" dirty="0">
              <a:effectLst/>
            </a:endParaRPr>
          </a:p>
          <a:p>
            <a:pPr marL="285750" indent="-285750" algn="l" fontAlgn="ctr">
              <a:lnSpc>
                <a:spcPct val="150000"/>
              </a:lnSpc>
              <a:buFont typeface="Wingdings" panose="05000000000000000000" charset="0"/>
              <a:buChar char="l"/>
            </a:pPr>
            <a:r>
              <a:rPr lang="zh-CN" altLang="en-US" sz="1600" b="1" dirty="0">
                <a:effectLst/>
                <a:sym typeface="+mn-ea"/>
              </a:rPr>
              <a:t>投标策略评审会议</a:t>
            </a:r>
            <a:r>
              <a:rPr lang="zh-CN" altLang="en-US" sz="1600" dirty="0">
                <a:effectLst/>
                <a:sym typeface="+mn-ea"/>
              </a:rPr>
              <a:t>；</a:t>
            </a:r>
            <a:endParaRPr lang="zh-CN" altLang="en-US" sz="1600" dirty="0">
              <a:effectLst/>
            </a:endParaRPr>
          </a:p>
        </p:txBody>
      </p:sp>
      <p:sp>
        <p:nvSpPr>
          <p:cNvPr id="19" name="矩形 18"/>
          <p:cNvSpPr/>
          <p:nvPr/>
        </p:nvSpPr>
        <p:spPr>
          <a:xfrm>
            <a:off x="579755" y="5280025"/>
            <a:ext cx="1932305" cy="1236980"/>
          </a:xfrm>
          <a:prstGeom prst="rect">
            <a:avLst/>
          </a:prstGeom>
          <a:solidFill>
            <a:schemeClr val="accent1">
              <a:lumMod val="20000"/>
              <a:lumOff val="80000"/>
            </a:schemeClr>
          </a:solidFill>
          <a:ln>
            <a:noFill/>
          </a:ln>
        </p:spPr>
        <p:txBody>
          <a:bodyPr wrap="square">
            <a:noAutofit/>
          </a:bodyPr>
          <a:lstStyle/>
          <a:p>
            <a:pPr algn="ctr" fontAlgn="ctr">
              <a:lnSpc>
                <a:spcPct val="130000"/>
              </a:lnSpc>
            </a:pPr>
            <a:r>
              <a:rPr lang="zh-CN" altLang="en-US" sz="1600" b="1" dirty="0">
                <a:solidFill>
                  <a:schemeClr val="tx1"/>
                </a:solidFill>
                <a:effectLst/>
              </a:rPr>
              <a:t>合同评审</a:t>
            </a:r>
          </a:p>
        </p:txBody>
      </p:sp>
      <p:sp>
        <p:nvSpPr>
          <p:cNvPr id="20" name="矩形 19"/>
          <p:cNvSpPr/>
          <p:nvPr/>
        </p:nvSpPr>
        <p:spPr>
          <a:xfrm>
            <a:off x="2647950" y="5287645"/>
            <a:ext cx="3430270" cy="1221740"/>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dirty="0">
                <a:effectLst/>
              </a:rPr>
              <a:t>直签项目：</a:t>
            </a:r>
            <a:r>
              <a:rPr lang="en-US" altLang="zh-CN" sz="1600" dirty="0">
                <a:effectLst/>
              </a:rPr>
              <a:t>BPMS</a:t>
            </a:r>
            <a:r>
              <a:rPr lang="zh-CN" altLang="en-US" sz="1600" dirty="0">
                <a:effectLst/>
              </a:rPr>
              <a:t>流程评审；</a:t>
            </a:r>
          </a:p>
          <a:p>
            <a:pPr marL="285750" indent="-285750" algn="l" fontAlgn="ctr">
              <a:lnSpc>
                <a:spcPct val="150000"/>
              </a:lnSpc>
              <a:buFont typeface="Wingdings" panose="05000000000000000000" charset="0"/>
              <a:buChar char="l"/>
            </a:pPr>
            <a:r>
              <a:rPr lang="zh-CN" altLang="en-US" sz="1600" dirty="0">
                <a:effectLst/>
              </a:rPr>
              <a:t>非直签项目：中标的产品供应能力确认和</a:t>
            </a:r>
            <a:r>
              <a:rPr lang="en-US" altLang="zh-CN" sz="1600" dirty="0">
                <a:effectLst/>
              </a:rPr>
              <a:t>T</a:t>
            </a:r>
            <a:r>
              <a:rPr lang="zh-CN" altLang="en-US" sz="1600" dirty="0">
                <a:effectLst/>
              </a:rPr>
              <a:t>的监控</a:t>
            </a:r>
          </a:p>
        </p:txBody>
      </p:sp>
      <p:sp>
        <p:nvSpPr>
          <p:cNvPr id="21" name="矩形 20"/>
          <p:cNvSpPr/>
          <p:nvPr>
            <p:custDataLst>
              <p:tags r:id="rId9"/>
            </p:custDataLst>
          </p:nvPr>
        </p:nvSpPr>
        <p:spPr>
          <a:xfrm>
            <a:off x="6234430" y="5299710"/>
            <a:ext cx="2806065" cy="1224280"/>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dirty="0">
                <a:effectLst/>
                <a:sym typeface="+mn-ea"/>
              </a:rPr>
              <a:t>直签项目</a:t>
            </a:r>
            <a:r>
              <a:rPr lang="en-US" altLang="zh-CN" sz="1600" dirty="0">
                <a:effectLst/>
                <a:sym typeface="+mn-ea"/>
              </a:rPr>
              <a:t>: BPMS</a:t>
            </a:r>
            <a:r>
              <a:rPr lang="zh-CN" altLang="en-US" sz="1600" dirty="0">
                <a:effectLst/>
                <a:sym typeface="+mn-ea"/>
              </a:rPr>
              <a:t>流程评审；</a:t>
            </a:r>
          </a:p>
          <a:p>
            <a:pPr indent="0" algn="l" fontAlgn="ctr">
              <a:lnSpc>
                <a:spcPct val="150000"/>
              </a:lnSpc>
              <a:buFont typeface="Wingdings" panose="05000000000000000000" charset="0"/>
              <a:buNone/>
            </a:pPr>
            <a:endParaRPr lang="en-US" altLang="zh-CN" sz="1600" dirty="0">
              <a:effectLst/>
            </a:endParaRPr>
          </a:p>
        </p:txBody>
      </p:sp>
    </p:spTree>
    <p:extLst>
      <p:ext uri="{BB962C8B-B14F-4D97-AF65-F5344CB8AC3E}">
        <p14:creationId xmlns:p14="http://schemas.microsoft.com/office/powerpoint/2010/main" val="15674010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51790" y="196215"/>
            <a:ext cx="9565640" cy="495935"/>
          </a:xfrm>
        </p:spPr>
        <p:txBody>
          <a:bodyPr/>
          <a:lstStyle/>
          <a:p>
            <a:r>
              <a:rPr lang="en-US" altLang="zh-CN" dirty="0"/>
              <a:t>MO</a:t>
            </a:r>
            <a:r>
              <a:rPr dirty="0"/>
              <a:t>流程植入供应链协同</a:t>
            </a:r>
            <a:r>
              <a:rPr lang="en-US" altLang="zh-CN" dirty="0"/>
              <a:t>-</a:t>
            </a:r>
            <a:r>
              <a:rPr dirty="0"/>
              <a:t>一般项目中的框架和含供应风险的项目</a:t>
            </a:r>
          </a:p>
        </p:txBody>
      </p:sp>
      <p:sp>
        <p:nvSpPr>
          <p:cNvPr id="13" name="矩形 12"/>
          <p:cNvSpPr/>
          <p:nvPr/>
        </p:nvSpPr>
        <p:spPr>
          <a:xfrm>
            <a:off x="602615" y="904875"/>
            <a:ext cx="10953750" cy="908685"/>
          </a:xfrm>
          <a:prstGeom prst="rect">
            <a:avLst/>
          </a:prstGeom>
          <a:noFill/>
          <a:ln>
            <a:solidFill>
              <a:schemeClr val="accent1"/>
            </a:solidFill>
          </a:ln>
          <a:extLst>
            <a:ext uri="{909E8E84-426E-40DD-AFC4-6F175D3DCCD1}">
              <a14:hiddenFill xmlns:a14="http://schemas.microsoft.com/office/drawing/2010/main">
                <a:solidFill>
                  <a:schemeClr val="accent1">
                    <a:lumMod val="20000"/>
                    <a:lumOff val="80000"/>
                  </a:schemeClr>
                </a:solidFill>
              </a14:hiddenFill>
            </a:ext>
          </a:extLst>
        </p:spPr>
        <p:txBody>
          <a:bodyPr wrap="square">
            <a:noAutofit/>
          </a:bodyPr>
          <a:lstStyle/>
          <a:p>
            <a:pPr fontAlgn="ctr">
              <a:lnSpc>
                <a:spcPct val="150000"/>
              </a:lnSpc>
            </a:pPr>
            <a:r>
              <a:rPr lang="zh-CN" altLang="en-US" sz="1600" b="1" dirty="0">
                <a:effectLst/>
              </a:rPr>
              <a:t>管理重点：</a:t>
            </a:r>
            <a:r>
              <a:rPr lang="zh-CN" altLang="en-US" sz="1600" b="1" dirty="0">
                <a:solidFill>
                  <a:srgbClr val="FF0000"/>
                </a:solidFill>
                <a:effectLst/>
              </a:rPr>
              <a:t>框架项目、含供应风险产品的项目</a:t>
            </a:r>
            <a:r>
              <a:rPr lang="zh-CN" altLang="en-US" sz="1600" dirty="0">
                <a:effectLst/>
              </a:rPr>
              <a:t>，通过销售识别后</a:t>
            </a:r>
            <a:r>
              <a:rPr lang="zh-CN" altLang="en-US" sz="1600" b="1" dirty="0">
                <a:effectLst/>
              </a:rPr>
              <a:t>主动协同</a:t>
            </a:r>
            <a:r>
              <a:rPr lang="zh-CN" altLang="en-US" sz="1600" dirty="0">
                <a:effectLst/>
              </a:rPr>
              <a:t>、供应链每周项目盘点协同提供可供应性评审；</a:t>
            </a:r>
          </a:p>
          <a:p>
            <a:pPr fontAlgn="ctr">
              <a:lnSpc>
                <a:spcPct val="150000"/>
              </a:lnSpc>
            </a:pPr>
            <a:r>
              <a:rPr lang="zh-CN" altLang="en-US" sz="1600" b="1" dirty="0">
                <a:effectLst/>
              </a:rPr>
              <a:t>业务价值：</a:t>
            </a:r>
            <a:r>
              <a:rPr lang="zh-CN" altLang="en-US" sz="1600" dirty="0">
                <a:effectLst/>
              </a:rPr>
              <a:t>供应链</a:t>
            </a:r>
            <a:r>
              <a:rPr lang="zh-CN" altLang="en-US" sz="1600" b="1" dirty="0">
                <a:effectLst/>
              </a:rPr>
              <a:t>前置参与项目可供应性评估</a:t>
            </a:r>
            <a:r>
              <a:rPr lang="zh-CN" altLang="en-US" sz="1600" dirty="0">
                <a:effectLst/>
              </a:rPr>
              <a:t>，及时发现风险并输出可供应性评审结果及供应方案，助力项目交付达成。</a:t>
            </a:r>
          </a:p>
        </p:txBody>
      </p:sp>
      <p:sp>
        <p:nvSpPr>
          <p:cNvPr id="3" name="矩形 2"/>
          <p:cNvSpPr/>
          <p:nvPr>
            <p:custDataLst>
              <p:tags r:id="rId1"/>
            </p:custDataLst>
          </p:nvPr>
        </p:nvSpPr>
        <p:spPr>
          <a:xfrm>
            <a:off x="577850" y="2026285"/>
            <a:ext cx="1940560" cy="474345"/>
          </a:xfrm>
          <a:prstGeom prst="rect">
            <a:avLst/>
          </a:prstGeom>
          <a:solidFill>
            <a:schemeClr val="accent1">
              <a:lumMod val="20000"/>
              <a:lumOff val="80000"/>
            </a:schemeClr>
          </a:solidFill>
          <a:ln>
            <a:noFill/>
          </a:ln>
        </p:spPr>
        <p:txBody>
          <a:bodyPr wrap="square">
            <a:noAutofit/>
          </a:bodyPr>
          <a:lstStyle/>
          <a:p>
            <a:pPr algn="ctr" fontAlgn="ctr">
              <a:lnSpc>
                <a:spcPct val="130000"/>
              </a:lnSpc>
            </a:pPr>
            <a:r>
              <a:rPr lang="zh-CN" altLang="en-US" sz="1600" b="1" dirty="0">
                <a:effectLst/>
              </a:rPr>
              <a:t>场景</a:t>
            </a:r>
          </a:p>
          <a:p>
            <a:pPr algn="ctr" fontAlgn="ctr">
              <a:lnSpc>
                <a:spcPct val="150000"/>
              </a:lnSpc>
            </a:pPr>
            <a:endParaRPr lang="zh-CN" altLang="en-US" sz="1600" dirty="0">
              <a:effectLst/>
            </a:endParaRPr>
          </a:p>
        </p:txBody>
      </p:sp>
      <p:sp>
        <p:nvSpPr>
          <p:cNvPr id="4" name="矩形 3"/>
          <p:cNvSpPr/>
          <p:nvPr>
            <p:custDataLst>
              <p:tags r:id="rId2"/>
            </p:custDataLst>
          </p:nvPr>
        </p:nvSpPr>
        <p:spPr>
          <a:xfrm>
            <a:off x="2665095" y="2026285"/>
            <a:ext cx="3430905" cy="474345"/>
          </a:xfrm>
          <a:prstGeom prst="rect">
            <a:avLst/>
          </a:prstGeom>
          <a:solidFill>
            <a:schemeClr val="accent1">
              <a:lumMod val="20000"/>
              <a:lumOff val="80000"/>
            </a:schemeClr>
          </a:solidFill>
          <a:ln>
            <a:noFill/>
          </a:ln>
        </p:spPr>
        <p:txBody>
          <a:bodyPr wrap="square">
            <a:noAutofit/>
          </a:bodyPr>
          <a:lstStyle/>
          <a:p>
            <a:pPr algn="ctr" fontAlgn="ctr">
              <a:lnSpc>
                <a:spcPct val="140000"/>
              </a:lnSpc>
            </a:pPr>
            <a:r>
              <a:rPr lang="zh-CN" altLang="en-US" sz="1600" b="1" dirty="0">
                <a:effectLst/>
              </a:rPr>
              <a:t>如何识别</a:t>
            </a:r>
            <a:endParaRPr lang="zh-CN" altLang="en-US" sz="1600" dirty="0">
              <a:effectLst/>
            </a:endParaRPr>
          </a:p>
        </p:txBody>
      </p:sp>
      <p:sp>
        <p:nvSpPr>
          <p:cNvPr id="5" name="矩形 4"/>
          <p:cNvSpPr/>
          <p:nvPr>
            <p:custDataLst>
              <p:tags r:id="rId3"/>
            </p:custDataLst>
          </p:nvPr>
        </p:nvSpPr>
        <p:spPr>
          <a:xfrm>
            <a:off x="586740" y="2595245"/>
            <a:ext cx="1932305" cy="1198245"/>
          </a:xfrm>
          <a:prstGeom prst="rect">
            <a:avLst/>
          </a:prstGeom>
          <a:solidFill>
            <a:schemeClr val="accent1">
              <a:lumMod val="20000"/>
              <a:lumOff val="80000"/>
            </a:schemeClr>
          </a:solidFill>
          <a:ln>
            <a:noFill/>
          </a:ln>
        </p:spPr>
        <p:txBody>
          <a:bodyPr wrap="square">
            <a:noAutofit/>
          </a:bodyPr>
          <a:lstStyle/>
          <a:p>
            <a:pPr algn="ctr" fontAlgn="ctr">
              <a:lnSpc>
                <a:spcPct val="150000"/>
              </a:lnSpc>
            </a:pPr>
            <a:r>
              <a:rPr lang="zh-CN" altLang="en-US" sz="1600" b="1" dirty="0">
                <a:effectLst/>
              </a:rPr>
              <a:t>框架项目</a:t>
            </a:r>
          </a:p>
        </p:txBody>
      </p:sp>
      <p:sp>
        <p:nvSpPr>
          <p:cNvPr id="6" name="矩形 5"/>
          <p:cNvSpPr/>
          <p:nvPr/>
        </p:nvSpPr>
        <p:spPr>
          <a:xfrm>
            <a:off x="586740" y="3888105"/>
            <a:ext cx="1932305" cy="2646680"/>
          </a:xfrm>
          <a:prstGeom prst="rect">
            <a:avLst/>
          </a:prstGeom>
          <a:solidFill>
            <a:schemeClr val="accent1">
              <a:lumMod val="20000"/>
              <a:lumOff val="80000"/>
            </a:schemeClr>
          </a:solidFill>
          <a:ln>
            <a:noFill/>
          </a:ln>
        </p:spPr>
        <p:txBody>
          <a:bodyPr wrap="square">
            <a:noAutofit/>
          </a:bodyPr>
          <a:lstStyle/>
          <a:p>
            <a:pPr algn="l" fontAlgn="ctr">
              <a:lnSpc>
                <a:spcPct val="130000"/>
              </a:lnSpc>
            </a:pPr>
            <a:r>
              <a:rPr lang="zh-CN" altLang="en-US" sz="1600" b="1" dirty="0">
                <a:effectLst/>
              </a:rPr>
              <a:t>含供应风险的项目</a:t>
            </a:r>
          </a:p>
          <a:p>
            <a:pPr algn="l" fontAlgn="ctr">
              <a:lnSpc>
                <a:spcPct val="150000"/>
              </a:lnSpc>
            </a:pPr>
            <a:r>
              <a:rPr lang="zh-CN" altLang="en-US" sz="1600" dirty="0">
                <a:solidFill>
                  <a:schemeClr val="tx1">
                    <a:lumMod val="65000"/>
                    <a:lumOff val="35000"/>
                  </a:schemeClr>
                </a:solidFill>
                <a:effectLst/>
              </a:rPr>
              <a:t>产品供应风险包含：</a:t>
            </a:r>
            <a:endParaRPr lang="zh-CN" altLang="en-US" sz="1600" dirty="0">
              <a:effectLst/>
            </a:endParaRPr>
          </a:p>
          <a:p>
            <a:pPr marL="342900" indent="-342900" algn="l" fontAlgn="ctr">
              <a:lnSpc>
                <a:spcPct val="150000"/>
              </a:lnSpc>
              <a:buFont typeface="+mj-lt"/>
              <a:buAutoNum type="arabicPeriod"/>
            </a:pPr>
            <a:r>
              <a:rPr lang="zh-CN" altLang="en-US" sz="1500" dirty="0">
                <a:solidFill>
                  <a:schemeClr val="tx1">
                    <a:lumMod val="65000"/>
                    <a:lumOff val="35000"/>
                  </a:schemeClr>
                </a:solidFill>
                <a:effectLst/>
              </a:rPr>
              <a:t>定制产品</a:t>
            </a:r>
          </a:p>
          <a:p>
            <a:pPr marL="342900" indent="-342900" algn="l" fontAlgn="ctr">
              <a:lnSpc>
                <a:spcPct val="150000"/>
              </a:lnSpc>
              <a:buFont typeface="+mj-lt"/>
              <a:buAutoNum type="arabicPeriod"/>
            </a:pPr>
            <a:r>
              <a:rPr lang="zh-CN" altLang="en-US" sz="1500" dirty="0">
                <a:solidFill>
                  <a:schemeClr val="tx1">
                    <a:lumMod val="65000"/>
                    <a:lumOff val="35000"/>
                  </a:schemeClr>
                </a:solidFill>
                <a:effectLst/>
              </a:rPr>
              <a:t>超流速</a:t>
            </a:r>
            <a:r>
              <a:rPr lang="en-US" altLang="zh-CN" sz="1500" dirty="0">
                <a:solidFill>
                  <a:schemeClr val="tx1">
                    <a:lumMod val="65000"/>
                    <a:lumOff val="35000"/>
                  </a:schemeClr>
                </a:solidFill>
                <a:effectLst/>
              </a:rPr>
              <a:t>4</a:t>
            </a:r>
            <a:r>
              <a:rPr lang="zh-CN" altLang="en-US" sz="1500" dirty="0">
                <a:solidFill>
                  <a:schemeClr val="tx1">
                    <a:lumMod val="65000"/>
                    <a:lumOff val="35000"/>
                  </a:schemeClr>
                </a:solidFill>
                <a:effectLst/>
              </a:rPr>
              <a:t>倍</a:t>
            </a:r>
          </a:p>
          <a:p>
            <a:pPr marL="342900" indent="-342900" algn="l" fontAlgn="ctr">
              <a:lnSpc>
                <a:spcPct val="150000"/>
              </a:lnSpc>
              <a:buFont typeface="+mj-lt"/>
              <a:buAutoNum type="arabicPeriod"/>
            </a:pPr>
            <a:r>
              <a:rPr lang="zh-CN" altLang="en-US" sz="1500" dirty="0">
                <a:solidFill>
                  <a:schemeClr val="tx1">
                    <a:lumMod val="65000"/>
                    <a:lumOff val="35000"/>
                  </a:schemeClr>
                </a:solidFill>
                <a:effectLst/>
              </a:rPr>
              <a:t>退市品</a:t>
            </a:r>
          </a:p>
          <a:p>
            <a:pPr marL="342900" indent="-342900" algn="l" fontAlgn="ctr">
              <a:lnSpc>
                <a:spcPct val="150000"/>
              </a:lnSpc>
              <a:buFont typeface="+mj-lt"/>
              <a:buAutoNum type="arabicPeriod"/>
            </a:pPr>
            <a:r>
              <a:rPr lang="zh-CN" altLang="en-US" sz="1500" dirty="0">
                <a:solidFill>
                  <a:schemeClr val="tx1">
                    <a:lumMod val="65000"/>
                    <a:lumOff val="35000"/>
                  </a:schemeClr>
                </a:solidFill>
                <a:effectLst/>
              </a:rPr>
              <a:t>新品早销</a:t>
            </a:r>
          </a:p>
          <a:p>
            <a:pPr marL="342900" indent="-342900" algn="l" fontAlgn="ctr">
              <a:lnSpc>
                <a:spcPct val="150000"/>
              </a:lnSpc>
              <a:buFont typeface="+mj-lt"/>
              <a:buAutoNum type="arabicPeriod"/>
            </a:pPr>
            <a:r>
              <a:rPr lang="zh-CN" altLang="en-US" sz="1500" dirty="0">
                <a:solidFill>
                  <a:schemeClr val="tx1">
                    <a:lumMod val="65000"/>
                    <a:lumOff val="35000"/>
                  </a:schemeClr>
                </a:solidFill>
                <a:effectLst/>
              </a:rPr>
              <a:t>供应风险</a:t>
            </a:r>
          </a:p>
        </p:txBody>
      </p:sp>
      <p:sp>
        <p:nvSpPr>
          <p:cNvPr id="8" name="矩形 7"/>
          <p:cNvSpPr/>
          <p:nvPr>
            <p:custDataLst>
              <p:tags r:id="rId4"/>
            </p:custDataLst>
          </p:nvPr>
        </p:nvSpPr>
        <p:spPr>
          <a:xfrm>
            <a:off x="2654935" y="2595245"/>
            <a:ext cx="3440430" cy="1198245"/>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b="1" dirty="0">
                <a:effectLst/>
              </a:rPr>
              <a:t>销售运作项目时判断</a:t>
            </a:r>
            <a:r>
              <a:rPr lang="zh-CN" altLang="en-US" sz="1600" dirty="0">
                <a:effectLst/>
              </a:rPr>
              <a:t>；</a:t>
            </a:r>
          </a:p>
          <a:p>
            <a:pPr marL="285750" indent="-285750" algn="l" fontAlgn="ctr">
              <a:lnSpc>
                <a:spcPct val="150000"/>
              </a:lnSpc>
              <a:buFont typeface="Wingdings" panose="05000000000000000000" charset="0"/>
              <a:buChar char="l"/>
            </a:pPr>
            <a:r>
              <a:rPr lang="zh-CN" altLang="en-US" sz="1600" dirty="0">
                <a:effectLst/>
              </a:rPr>
              <a:t>供应链通过</a:t>
            </a:r>
            <a:r>
              <a:rPr lang="zh-CN" altLang="en-US" sz="1600" b="1" dirty="0">
                <a:effectLst/>
              </a:rPr>
              <a:t>业务机会名称识别</a:t>
            </a:r>
            <a:r>
              <a:rPr lang="zh-CN" altLang="en-US" sz="1600" dirty="0">
                <a:effectLst/>
              </a:rPr>
              <a:t>，如含</a:t>
            </a:r>
            <a:r>
              <a:rPr lang="en-US" altLang="zh-CN" sz="1600" dirty="0">
                <a:effectLst/>
              </a:rPr>
              <a:t>”</a:t>
            </a:r>
            <a:r>
              <a:rPr lang="zh-CN" altLang="en-US" sz="1600" dirty="0">
                <a:effectLst/>
              </a:rPr>
              <a:t>框架采购</a:t>
            </a:r>
            <a:r>
              <a:rPr lang="en-US" altLang="zh-CN" sz="1600" dirty="0">
                <a:effectLst/>
              </a:rPr>
              <a:t>”</a:t>
            </a:r>
          </a:p>
        </p:txBody>
      </p:sp>
      <p:sp>
        <p:nvSpPr>
          <p:cNvPr id="9" name="矩形 8"/>
          <p:cNvSpPr/>
          <p:nvPr>
            <p:custDataLst>
              <p:tags r:id="rId5"/>
            </p:custDataLst>
          </p:nvPr>
        </p:nvSpPr>
        <p:spPr>
          <a:xfrm>
            <a:off x="9186545" y="2026285"/>
            <a:ext cx="2345055" cy="474345"/>
          </a:xfrm>
          <a:prstGeom prst="rect">
            <a:avLst/>
          </a:prstGeom>
          <a:solidFill>
            <a:schemeClr val="accent1">
              <a:lumMod val="20000"/>
              <a:lumOff val="80000"/>
            </a:schemeClr>
          </a:solidFill>
          <a:ln>
            <a:noFill/>
          </a:ln>
        </p:spPr>
        <p:txBody>
          <a:bodyPr wrap="square">
            <a:noAutofit/>
          </a:bodyPr>
          <a:lstStyle/>
          <a:p>
            <a:pPr algn="ctr" fontAlgn="ctr">
              <a:lnSpc>
                <a:spcPct val="140000"/>
              </a:lnSpc>
            </a:pPr>
            <a:r>
              <a:rPr lang="zh-CN" altLang="en-US" sz="1600" b="1" dirty="0">
                <a:effectLst/>
              </a:rPr>
              <a:t>案例分享</a:t>
            </a:r>
          </a:p>
        </p:txBody>
      </p:sp>
      <p:sp>
        <p:nvSpPr>
          <p:cNvPr id="10" name="矩形 9"/>
          <p:cNvSpPr/>
          <p:nvPr/>
        </p:nvSpPr>
        <p:spPr>
          <a:xfrm>
            <a:off x="2654935" y="3888105"/>
            <a:ext cx="3430270" cy="2656840"/>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b="1" dirty="0">
                <a:effectLst/>
                <a:sym typeface="+mn-ea"/>
              </a:rPr>
              <a:t>销售</a:t>
            </a:r>
            <a:r>
              <a:rPr lang="zh-CN" altLang="en-US" sz="1600" dirty="0">
                <a:effectLst/>
                <a:sym typeface="+mn-ea"/>
              </a:rPr>
              <a:t>在配置或修改产品清单时可识别部分供应风险产品；</a:t>
            </a:r>
          </a:p>
          <a:p>
            <a:pPr marL="285750" indent="-285750" algn="l" fontAlgn="ctr">
              <a:lnSpc>
                <a:spcPct val="150000"/>
              </a:lnSpc>
              <a:buFont typeface="Wingdings" panose="05000000000000000000" charset="0"/>
              <a:buChar char="ü"/>
            </a:pPr>
            <a:r>
              <a:rPr lang="zh-CN" altLang="en-US" sz="1600" dirty="0">
                <a:effectLst/>
                <a:sym typeface="+mn-ea"/>
              </a:rPr>
              <a:t>短期：现有打标</a:t>
            </a:r>
            <a:r>
              <a:rPr lang="en-US" altLang="zh-CN" sz="1600" dirty="0">
                <a:effectLst/>
                <a:sym typeface="+mn-ea"/>
              </a:rPr>
              <a:t>(</a:t>
            </a:r>
            <a:r>
              <a:rPr lang="zh-CN" altLang="en-US" sz="1600" dirty="0">
                <a:effectLst/>
                <a:sym typeface="+mn-ea"/>
              </a:rPr>
              <a:t>灵活配置</a:t>
            </a:r>
            <a:r>
              <a:rPr lang="en-US" altLang="zh-CN" sz="1600" dirty="0">
                <a:effectLst/>
                <a:sym typeface="+mn-ea"/>
              </a:rPr>
              <a:t>/</a:t>
            </a:r>
            <a:r>
              <a:rPr lang="zh-CN" altLang="en-US" sz="1600" dirty="0">
                <a:effectLst/>
                <a:sym typeface="+mn-ea"/>
              </a:rPr>
              <a:t>退市</a:t>
            </a:r>
            <a:r>
              <a:rPr lang="en-US" altLang="zh-CN" sz="1600" dirty="0">
                <a:effectLst/>
                <a:sym typeface="+mn-ea"/>
              </a:rPr>
              <a:t>)</a:t>
            </a:r>
          </a:p>
          <a:p>
            <a:pPr marL="285750" indent="-285750" algn="l" fontAlgn="ctr">
              <a:lnSpc>
                <a:spcPct val="150000"/>
              </a:lnSpc>
              <a:buFont typeface="Wingdings" panose="05000000000000000000" charset="0"/>
              <a:buChar char="ü"/>
            </a:pPr>
            <a:r>
              <a:rPr lang="zh-CN" altLang="en-US" sz="1600" dirty="0">
                <a:effectLst/>
                <a:sym typeface="+mn-ea"/>
              </a:rPr>
              <a:t>长期：</a:t>
            </a:r>
            <a:r>
              <a:rPr lang="en-US" altLang="zh-CN" sz="1600" dirty="0">
                <a:effectLst/>
                <a:sym typeface="+mn-ea"/>
              </a:rPr>
              <a:t>ECP</a:t>
            </a:r>
            <a:r>
              <a:rPr lang="zh-CN" altLang="en-US" sz="1600" dirty="0">
                <a:effectLst/>
                <a:sym typeface="+mn-ea"/>
              </a:rPr>
              <a:t>和</a:t>
            </a:r>
            <a:r>
              <a:rPr lang="en-US" altLang="zh-CN" sz="1600" dirty="0">
                <a:effectLst/>
                <a:sym typeface="+mn-ea"/>
              </a:rPr>
              <a:t>CRM</a:t>
            </a:r>
            <a:r>
              <a:rPr lang="zh-CN" altLang="en-US" sz="1600" dirty="0">
                <a:effectLst/>
                <a:sym typeface="+mn-ea"/>
              </a:rPr>
              <a:t>对风险产品打</a:t>
            </a:r>
            <a:r>
              <a:rPr lang="en-US" altLang="zh-CN" sz="1600" dirty="0">
                <a:effectLst/>
                <a:sym typeface="+mn-ea"/>
              </a:rPr>
              <a:t>   </a:t>
            </a:r>
            <a:r>
              <a:rPr lang="zh-CN" altLang="en-US" sz="1600" dirty="0">
                <a:effectLst/>
                <a:sym typeface="+mn-ea"/>
              </a:rPr>
              <a:t>标，系统自动提醒销售需协同；</a:t>
            </a:r>
          </a:p>
          <a:p>
            <a:pPr marL="285750" indent="-285750" algn="l" fontAlgn="ctr">
              <a:lnSpc>
                <a:spcPct val="150000"/>
              </a:lnSpc>
              <a:buFont typeface="Wingdings" panose="05000000000000000000" charset="0"/>
              <a:buChar char="l"/>
            </a:pPr>
            <a:r>
              <a:rPr lang="zh-CN" altLang="en-US" sz="1600" b="1" dirty="0">
                <a:effectLst/>
                <a:sym typeface="+mn-ea"/>
              </a:rPr>
              <a:t>供应链</a:t>
            </a:r>
            <a:r>
              <a:rPr lang="zh-CN" altLang="en-US" sz="1600" dirty="0">
                <a:effectLst/>
                <a:sym typeface="+mn-ea"/>
              </a:rPr>
              <a:t>盘点项目中通过供应风险清单匹配项目需求时识别</a:t>
            </a:r>
          </a:p>
          <a:p>
            <a:pPr marL="285750" indent="-285750" algn="l" fontAlgn="ctr">
              <a:lnSpc>
                <a:spcPct val="150000"/>
              </a:lnSpc>
              <a:buFont typeface="Wingdings" panose="05000000000000000000" charset="0"/>
              <a:buChar char="l"/>
            </a:pPr>
            <a:endParaRPr lang="zh-CN" altLang="en-US" sz="1600" dirty="0">
              <a:effectLst/>
            </a:endParaRPr>
          </a:p>
        </p:txBody>
      </p:sp>
      <p:sp>
        <p:nvSpPr>
          <p:cNvPr id="7" name="矩形 6"/>
          <p:cNvSpPr/>
          <p:nvPr>
            <p:custDataLst>
              <p:tags r:id="rId6"/>
            </p:custDataLst>
          </p:nvPr>
        </p:nvSpPr>
        <p:spPr>
          <a:xfrm>
            <a:off x="6243320" y="2026285"/>
            <a:ext cx="2794635" cy="474345"/>
          </a:xfrm>
          <a:prstGeom prst="rect">
            <a:avLst/>
          </a:prstGeom>
          <a:solidFill>
            <a:schemeClr val="accent1">
              <a:lumMod val="20000"/>
              <a:lumOff val="80000"/>
            </a:schemeClr>
          </a:solidFill>
          <a:ln>
            <a:noFill/>
          </a:ln>
        </p:spPr>
        <p:txBody>
          <a:bodyPr wrap="square">
            <a:noAutofit/>
          </a:bodyPr>
          <a:lstStyle/>
          <a:p>
            <a:pPr algn="ctr" fontAlgn="ctr">
              <a:lnSpc>
                <a:spcPct val="140000"/>
              </a:lnSpc>
            </a:pPr>
            <a:r>
              <a:rPr lang="zh-CN" altLang="en-US" sz="1600" b="1" dirty="0">
                <a:effectLst/>
              </a:rPr>
              <a:t>怎么协同</a:t>
            </a:r>
          </a:p>
        </p:txBody>
      </p:sp>
      <p:sp>
        <p:nvSpPr>
          <p:cNvPr id="11" name="矩形 10"/>
          <p:cNvSpPr/>
          <p:nvPr>
            <p:custDataLst>
              <p:tags r:id="rId7"/>
            </p:custDataLst>
          </p:nvPr>
        </p:nvSpPr>
        <p:spPr>
          <a:xfrm>
            <a:off x="6233795" y="2595245"/>
            <a:ext cx="2806065" cy="1198245"/>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dirty="0">
                <a:effectLst/>
              </a:rPr>
              <a:t>销售</a:t>
            </a:r>
            <a:r>
              <a:rPr lang="zh-CN" altLang="en-US" sz="1600" b="1" dirty="0">
                <a:effectLst/>
              </a:rPr>
              <a:t>主动拉通</a:t>
            </a:r>
            <a:r>
              <a:rPr lang="zh-CN" altLang="en-US" sz="1600" dirty="0">
                <a:effectLst/>
              </a:rPr>
              <a:t>供应链协同</a:t>
            </a:r>
          </a:p>
          <a:p>
            <a:pPr marL="285750" indent="-285750" algn="l" fontAlgn="ctr">
              <a:lnSpc>
                <a:spcPct val="150000"/>
              </a:lnSpc>
              <a:buFont typeface="Wingdings" panose="05000000000000000000" charset="0"/>
              <a:buChar char="l"/>
            </a:pPr>
            <a:r>
              <a:rPr lang="zh-CN" altLang="en-US" sz="1600" dirty="0">
                <a:effectLst/>
              </a:rPr>
              <a:t>供应链识别后和销售确认</a:t>
            </a:r>
            <a:endParaRPr lang="en-US" altLang="zh-CN" sz="1600" dirty="0">
              <a:effectLst/>
            </a:endParaRPr>
          </a:p>
        </p:txBody>
      </p:sp>
      <p:sp>
        <p:nvSpPr>
          <p:cNvPr id="12" name="矩形 11"/>
          <p:cNvSpPr/>
          <p:nvPr/>
        </p:nvSpPr>
        <p:spPr>
          <a:xfrm>
            <a:off x="9178290" y="2595880"/>
            <a:ext cx="2428875" cy="3949700"/>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b="1" dirty="0">
                <a:effectLst/>
              </a:rPr>
              <a:t>广东</a:t>
            </a:r>
            <a:r>
              <a:rPr lang="en-US" altLang="zh-CN" sz="1600" b="1" dirty="0">
                <a:effectLst/>
              </a:rPr>
              <a:t>-OPPO</a:t>
            </a:r>
            <a:r>
              <a:rPr lang="zh-CN" altLang="en-US" sz="1600" b="1" dirty="0">
                <a:effectLst/>
              </a:rPr>
              <a:t>框采</a:t>
            </a:r>
          </a:p>
          <a:p>
            <a:pPr indent="0" algn="l" fontAlgn="ctr">
              <a:lnSpc>
                <a:spcPct val="150000"/>
              </a:lnSpc>
              <a:buFont typeface="Wingdings" panose="05000000000000000000" charset="0"/>
              <a:buNone/>
            </a:pPr>
            <a:r>
              <a:rPr lang="en-US" altLang="zh-CN" sz="1600" dirty="0">
                <a:effectLst/>
              </a:rPr>
              <a:t>26</a:t>
            </a:r>
            <a:r>
              <a:rPr lang="zh-CN" altLang="en-US" sz="1600" dirty="0">
                <a:effectLst/>
              </a:rPr>
              <a:t>年中要货，供应链无法识别但销售主动协同。在可供应性评审中发现</a:t>
            </a:r>
            <a:r>
              <a:rPr lang="en-US" altLang="zh-CN" sz="1600" dirty="0">
                <a:effectLst/>
              </a:rPr>
              <a:t>S65</a:t>
            </a:r>
            <a:r>
              <a:rPr lang="zh-CN" altLang="en-US" sz="1600" dirty="0">
                <a:effectLst/>
              </a:rPr>
              <a:t>因</a:t>
            </a:r>
            <a:r>
              <a:rPr lang="en-US" altLang="zh-CN" sz="1600" dirty="0">
                <a:effectLst/>
              </a:rPr>
              <a:t>TD3</a:t>
            </a:r>
            <a:r>
              <a:rPr lang="zh-CN" altLang="en-US" sz="1600" dirty="0">
                <a:effectLst/>
              </a:rPr>
              <a:t>芯片短缺风险，快速升级决策分配芯片资源，确保项目投标。</a:t>
            </a:r>
          </a:p>
        </p:txBody>
      </p:sp>
      <p:sp>
        <p:nvSpPr>
          <p:cNvPr id="14" name="矩形 13"/>
          <p:cNvSpPr/>
          <p:nvPr>
            <p:custDataLst>
              <p:tags r:id="rId8"/>
            </p:custDataLst>
          </p:nvPr>
        </p:nvSpPr>
        <p:spPr>
          <a:xfrm>
            <a:off x="6241415" y="3920490"/>
            <a:ext cx="2806065" cy="2618740"/>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dirty="0">
                <a:effectLst/>
              </a:rPr>
              <a:t>供应链提供</a:t>
            </a:r>
            <a:r>
              <a:rPr lang="zh-CN" altLang="en-US" sz="1600" b="1" dirty="0">
                <a:effectLst/>
              </a:rPr>
              <a:t>供应风险清单</a:t>
            </a:r>
            <a:r>
              <a:rPr lang="zh-CN" altLang="en-US" sz="1600" dirty="0">
                <a:effectLst/>
              </a:rPr>
              <a:t>；</a:t>
            </a:r>
          </a:p>
          <a:p>
            <a:pPr marL="285750" indent="-285750" algn="l" fontAlgn="ctr">
              <a:lnSpc>
                <a:spcPct val="150000"/>
              </a:lnSpc>
              <a:buFont typeface="Wingdings" panose="05000000000000000000" charset="0"/>
              <a:buChar char="l"/>
            </a:pPr>
            <a:r>
              <a:rPr lang="zh-CN" altLang="en-US" sz="1600" b="1" dirty="0">
                <a:effectLst/>
              </a:rPr>
              <a:t>销售</a:t>
            </a:r>
            <a:r>
              <a:rPr lang="zh-CN" altLang="en-US" sz="1600" dirty="0">
                <a:effectLst/>
              </a:rPr>
              <a:t>识别后和供应链</a:t>
            </a:r>
            <a:r>
              <a:rPr lang="zh-CN" altLang="en-US" sz="1600" b="1" dirty="0">
                <a:effectLst/>
              </a:rPr>
              <a:t>主动协同</a:t>
            </a:r>
            <a:r>
              <a:rPr lang="zh-CN" altLang="en-US" sz="1600" dirty="0">
                <a:effectLst/>
              </a:rPr>
              <a:t>；</a:t>
            </a:r>
          </a:p>
          <a:p>
            <a:pPr marL="285750" indent="-285750" algn="l" fontAlgn="ctr">
              <a:lnSpc>
                <a:spcPct val="150000"/>
              </a:lnSpc>
              <a:buFont typeface="Wingdings" panose="05000000000000000000" charset="0"/>
              <a:buChar char="l"/>
            </a:pPr>
            <a:r>
              <a:rPr lang="zh-CN" altLang="en-US" sz="1600" b="1" dirty="0">
                <a:effectLst/>
              </a:rPr>
              <a:t>供应链盘点</a:t>
            </a:r>
            <a:r>
              <a:rPr lang="zh-CN" altLang="en-US" sz="1600" dirty="0">
                <a:effectLst/>
              </a:rPr>
              <a:t>中识别后和销售协同；</a:t>
            </a:r>
          </a:p>
          <a:p>
            <a:pPr marL="285750" indent="-285750" algn="l" fontAlgn="ctr">
              <a:lnSpc>
                <a:spcPct val="150000"/>
              </a:lnSpc>
              <a:buFont typeface="Wingdings" panose="05000000000000000000" charset="0"/>
              <a:buChar char="l"/>
            </a:pPr>
            <a:r>
              <a:rPr lang="zh-CN" altLang="en-US" sz="1600" dirty="0">
                <a:effectLst/>
              </a:rPr>
              <a:t>供应链在</a:t>
            </a:r>
            <a:r>
              <a:rPr lang="en-US" altLang="zh-CN" sz="1600" dirty="0">
                <a:effectLst/>
              </a:rPr>
              <a:t>PTM</a:t>
            </a:r>
            <a:r>
              <a:rPr lang="zh-CN" altLang="en-US" sz="1600" dirty="0">
                <a:effectLst/>
              </a:rPr>
              <a:t>中上传含供应能力确认的沟通记录</a:t>
            </a:r>
          </a:p>
        </p:txBody>
      </p:sp>
    </p:spTree>
    <p:extLst>
      <p:ext uri="{BB962C8B-B14F-4D97-AF65-F5344CB8AC3E}">
        <p14:creationId xmlns:p14="http://schemas.microsoft.com/office/powerpoint/2010/main" val="10534721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51790" y="196215"/>
            <a:ext cx="9565640" cy="495935"/>
          </a:xfrm>
        </p:spPr>
        <p:txBody>
          <a:bodyPr/>
          <a:lstStyle/>
          <a:p>
            <a:r>
              <a:rPr lang="zh-CN" altLang="en-US" dirty="0"/>
              <a:t>市场协同供应风险升级机制</a:t>
            </a:r>
          </a:p>
        </p:txBody>
      </p:sp>
      <p:sp>
        <p:nvSpPr>
          <p:cNvPr id="13" name="矩形 12"/>
          <p:cNvSpPr/>
          <p:nvPr/>
        </p:nvSpPr>
        <p:spPr>
          <a:xfrm>
            <a:off x="577215" y="859790"/>
            <a:ext cx="10692130" cy="908685"/>
          </a:xfrm>
          <a:prstGeom prst="rect">
            <a:avLst/>
          </a:prstGeom>
          <a:noFill/>
          <a:ln>
            <a:solidFill>
              <a:schemeClr val="accent1"/>
            </a:solidFill>
          </a:ln>
          <a:extLst>
            <a:ext uri="{909E8E84-426E-40DD-AFC4-6F175D3DCCD1}">
              <a14:hiddenFill xmlns:a14="http://schemas.microsoft.com/office/drawing/2010/main">
                <a:solidFill>
                  <a:schemeClr val="accent1">
                    <a:lumMod val="20000"/>
                    <a:lumOff val="80000"/>
                  </a:schemeClr>
                </a:solidFill>
              </a14:hiddenFill>
            </a:ext>
          </a:extLst>
        </p:spPr>
        <p:txBody>
          <a:bodyPr wrap="square">
            <a:noAutofit/>
          </a:bodyPr>
          <a:lstStyle/>
          <a:p>
            <a:pPr marL="285750" indent="-285750" fontAlgn="ctr">
              <a:lnSpc>
                <a:spcPct val="150000"/>
              </a:lnSpc>
              <a:buFont typeface="Wingdings" panose="05000000000000000000" charset="0"/>
              <a:buChar char="Ø"/>
            </a:pPr>
            <a:r>
              <a:rPr lang="zh-CN" altLang="en-US" sz="1600" b="1" dirty="0">
                <a:effectLst/>
              </a:rPr>
              <a:t>风险等级：</a:t>
            </a:r>
            <a:r>
              <a:rPr lang="zh-CN" altLang="en-US" sz="1600" dirty="0">
                <a:effectLst/>
              </a:rPr>
              <a:t>根据项目类型、客户属性、未及时交付存在的影响等，将从项目供应风险区分高、中、低三个级别。</a:t>
            </a:r>
          </a:p>
          <a:p>
            <a:pPr marL="285750" indent="-285750" fontAlgn="ctr">
              <a:lnSpc>
                <a:spcPct val="150000"/>
              </a:lnSpc>
              <a:buFont typeface="Wingdings" panose="05000000000000000000" charset="0"/>
              <a:buChar char="Ø"/>
            </a:pPr>
            <a:r>
              <a:rPr lang="zh-CN" altLang="en-US" sz="1600" dirty="0">
                <a:effectLst/>
              </a:rPr>
              <a:t>针对不同级别的供需缺口风险，供应链拉通市场和供应链</a:t>
            </a:r>
            <a:r>
              <a:rPr lang="zh-CN" altLang="en-US" sz="1600" b="1" dirty="0">
                <a:effectLst/>
              </a:rPr>
              <a:t>评审团队</a:t>
            </a:r>
            <a:r>
              <a:rPr lang="zh-CN" altLang="en-US" sz="1600" dirty="0">
                <a:effectLst/>
              </a:rPr>
              <a:t>进行升级决策。</a:t>
            </a:r>
          </a:p>
        </p:txBody>
      </p:sp>
      <p:graphicFrame>
        <p:nvGraphicFramePr>
          <p:cNvPr id="3" name="表格 2"/>
          <p:cNvGraphicFramePr/>
          <p:nvPr/>
        </p:nvGraphicFramePr>
        <p:xfrm>
          <a:off x="577850" y="2117090"/>
          <a:ext cx="10691495" cy="4032250"/>
        </p:xfrm>
        <a:graphic>
          <a:graphicData uri="http://schemas.openxmlformats.org/drawingml/2006/table">
            <a:tbl>
              <a:tblPr/>
              <a:tblGrid>
                <a:gridCol w="899795"/>
                <a:gridCol w="4077970"/>
                <a:gridCol w="2056765"/>
                <a:gridCol w="1903095"/>
                <a:gridCol w="1753870"/>
              </a:tblGrid>
              <a:tr h="608330">
                <a:tc>
                  <a:txBody>
                    <a:bodyPr/>
                    <a:lstStyle/>
                    <a:p>
                      <a:pPr algn="ctr" fontAlgn="ctr"/>
                      <a:r>
                        <a:rPr lang="zh-CN" altLang="en-US" sz="1400">
                          <a:latin typeface="微软雅黑" panose="020B0503020204020204" pitchFamily="34" charset="-122"/>
                          <a:ea typeface="微软雅黑" panose="020B0503020204020204" pitchFamily="34" charset="-122"/>
                        </a:rPr>
                        <a:t>项目供应风险等级</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E1EAFF"/>
                    </a:solidFill>
                  </a:tcPr>
                </a:tc>
                <a:tc>
                  <a:txBody>
                    <a:bodyPr/>
                    <a:lstStyle/>
                    <a:p>
                      <a:pPr algn="ctr" fontAlgn="t"/>
                      <a:r>
                        <a:rPr lang="zh-CN" altLang="en-US" sz="1400">
                          <a:latin typeface="微软雅黑" panose="020B0503020204020204" pitchFamily="34" charset="-122"/>
                          <a:ea typeface="微软雅黑" panose="020B0503020204020204" pitchFamily="34" charset="-122"/>
                        </a:rPr>
                        <a:t>项目供应风险等级定义</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E1EAFF"/>
                    </a:solidFill>
                  </a:tcPr>
                </a:tc>
                <a:tc>
                  <a:txBody>
                    <a:bodyPr/>
                    <a:lstStyle/>
                    <a:p>
                      <a:pPr algn="ctr" fontAlgn="ctr"/>
                      <a:r>
                        <a:rPr lang="zh-CN" altLang="en-US" sz="1400">
                          <a:latin typeface="微软雅黑" panose="020B0503020204020204" pitchFamily="34" charset="-122"/>
                          <a:ea typeface="微软雅黑" panose="020B0503020204020204" pitchFamily="34" charset="-122"/>
                        </a:rPr>
                        <a:t>评审团队</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E1EAFF"/>
                    </a:solidFill>
                  </a:tcPr>
                </a:tc>
                <a:tc>
                  <a:txBody>
                    <a:bodyPr/>
                    <a:lstStyle/>
                    <a:p>
                      <a:pPr algn="ctr" fontAlgn="ct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关键输入</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评估依据</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E1EAFF"/>
                    </a:solidFill>
                  </a:tcPr>
                </a:tc>
                <a:tc>
                  <a:txBody>
                    <a:bodyPr/>
                    <a:lstStyle/>
                    <a:p>
                      <a:pPr algn="ctr" fontAlgn="ctr"/>
                      <a:r>
                        <a:rPr lang="zh-CN" altLang="en-US" sz="1400">
                          <a:latin typeface="微软雅黑" panose="020B0503020204020204" pitchFamily="34" charset="-122"/>
                          <a:ea typeface="微软雅黑" panose="020B0503020204020204" pitchFamily="34" charset="-122"/>
                          <a:cs typeface="微软雅黑" panose="020B0503020204020204" pitchFamily="34" charset="-122"/>
                        </a:rPr>
                        <a:t>预期输出</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决策结果</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E1EAFF"/>
                    </a:solidFill>
                  </a:tcPr>
                </a:tc>
              </a:tr>
              <a:tr h="1470660">
                <a:tc>
                  <a:txBody>
                    <a:bodyPr/>
                    <a:lstStyle/>
                    <a:p>
                      <a:pPr algn="ctr" fontAlgn="ctr"/>
                      <a:r>
                        <a:rPr lang="zh-CN" altLang="en-US" sz="1400">
                          <a:latin typeface="微软雅黑" panose="020B0503020204020204" pitchFamily="34" charset="-122"/>
                          <a:ea typeface="微软雅黑" panose="020B0503020204020204" pitchFamily="34" charset="-122"/>
                        </a:rPr>
                        <a:t>高</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marL="285750" indent="-285750">
                        <a:buFont typeface="Wingdings" panose="05000000000000000000" charset="0"/>
                        <a:buChar char="l"/>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直投</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直签项目，标书</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合同中明确未及时交付存在罚责风险，或市场评估存在重大商誉影响</a:t>
                      </a:r>
                    </a:p>
                    <a:p>
                      <a:pPr marL="285750" indent="-285750">
                        <a:buFont typeface="Wingdings" panose="05000000000000000000" charset="0"/>
                        <a:buChar char="l"/>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重客项目，标书</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合同中明确未及时交付存在罚责风险，或市场评估存在重大商誉影响</a:t>
                      </a:r>
                      <a:endParaRPr lang="en-US" altLang="zh-CN" sz="1400">
                        <a:latin typeface="微软雅黑" panose="020B0503020204020204" pitchFamily="34" charset="-122"/>
                        <a:ea typeface="微软雅黑" panose="020B0503020204020204" pitchFamily="34" charset="-122"/>
                        <a:cs typeface="微软雅黑" panose="020B0503020204020204" pitchFamily="34" charset="-122"/>
                      </a:endParaRP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t"/>
                      <a:r>
                        <a:rPr lang="zh-CN" altLang="en-US" sz="1400">
                          <a:latin typeface="微软雅黑" panose="020B0503020204020204" pitchFamily="34" charset="-122"/>
                          <a:ea typeface="微软雅黑" panose="020B0503020204020204" pitchFamily="34" charset="-122"/>
                          <a:cs typeface="微软雅黑" panose="020B0503020204020204" pitchFamily="34" charset="-122"/>
                        </a:rPr>
                        <a:t>市场：</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BG</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总经理</a:t>
                      </a:r>
                    </a:p>
                    <a:p>
                      <a:pPr fontAlgn="t"/>
                      <a:r>
                        <a:rPr lang="zh-CN" altLang="en-US" sz="1400">
                          <a:latin typeface="微软雅黑" panose="020B0503020204020204" pitchFamily="34" charset="-122"/>
                          <a:ea typeface="微软雅黑" panose="020B0503020204020204" pitchFamily="34" charset="-122"/>
                          <a:cs typeface="微软雅黑" panose="020B0503020204020204" pitchFamily="34" charset="-122"/>
                        </a:rPr>
                        <a:t>供应链：一级部门主管</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rowSpan="3">
                  <a:txBody>
                    <a:bodyPr/>
                    <a:lstStyle/>
                    <a:p>
                      <a:endParaRPr lang="en-US" altLang="zh-CN" sz="1400">
                        <a:latin typeface="微软雅黑" panose="020B0503020204020204" pitchFamily="34" charset="-122"/>
                        <a:ea typeface="微软雅黑" panose="020B0503020204020204" pitchFamily="34" charset="-122"/>
                      </a:endParaRPr>
                    </a:p>
                    <a:p>
                      <a:pPr indent="0">
                        <a:buFont typeface="Wingdings" panose="05000000000000000000" charset="0"/>
                        <a:buNone/>
                      </a:pPr>
                      <a:endParaRPr lang="zh-CN" altLang="en-US" sz="1400">
                        <a:latin typeface="微软雅黑" panose="020B0503020204020204" pitchFamily="34" charset="-122"/>
                        <a:ea typeface="微软雅黑" panose="020B0503020204020204" pitchFamily="34" charset="-122"/>
                      </a:endParaRPr>
                    </a:p>
                    <a:p>
                      <a:pPr indent="0">
                        <a:buFont typeface="Wingdings" panose="05000000000000000000" charset="0"/>
                        <a:buNone/>
                      </a:pPr>
                      <a:endParaRPr lang="zh-CN" altLang="en-US" sz="1400">
                        <a:latin typeface="微软雅黑" panose="020B0503020204020204" pitchFamily="34" charset="-122"/>
                        <a:ea typeface="微软雅黑" panose="020B0503020204020204" pitchFamily="34" charset="-122"/>
                      </a:endParaRPr>
                    </a:p>
                    <a:p>
                      <a:pPr indent="0">
                        <a:buFont typeface="Wingdings" panose="05000000000000000000" charset="0"/>
                        <a:buNone/>
                      </a:pPr>
                      <a:endParaRPr lang="zh-CN" altLang="en-US" sz="1400">
                        <a:latin typeface="微软雅黑" panose="020B0503020204020204" pitchFamily="34" charset="-122"/>
                        <a:ea typeface="微软雅黑" panose="020B0503020204020204" pitchFamily="34" charset="-122"/>
                      </a:endParaRPr>
                    </a:p>
                    <a:p>
                      <a:pPr indent="0">
                        <a:buFont typeface="Wingdings" panose="05000000000000000000" charset="0"/>
                        <a:buNone/>
                      </a:pPr>
                      <a:endParaRPr lang="zh-CN" altLang="en-US" sz="1400">
                        <a:latin typeface="微软雅黑" panose="020B0503020204020204" pitchFamily="34" charset="-122"/>
                        <a:ea typeface="微软雅黑" panose="020B0503020204020204" pitchFamily="34" charset="-122"/>
                      </a:endParaRPr>
                    </a:p>
                    <a:p>
                      <a:pPr marL="285750" indent="-285750">
                        <a:buFont typeface="Wingdings" panose="05000000000000000000" charset="0"/>
                        <a:buChar char="l"/>
                      </a:pPr>
                      <a:r>
                        <a:rPr lang="zh-CN" altLang="en-US" sz="1400">
                          <a:latin typeface="微软雅黑" panose="020B0503020204020204" pitchFamily="34" charset="-122"/>
                          <a:ea typeface="微软雅黑" panose="020B0503020204020204" pitchFamily="34" charset="-122"/>
                        </a:rPr>
                        <a:t>项目风险度（项目金额、客户级别、违约罚则、声誉风险）；</a:t>
                      </a:r>
                    </a:p>
                    <a:p>
                      <a:pPr marL="285750" indent="-285750">
                        <a:buFont typeface="Wingdings" panose="05000000000000000000" charset="0"/>
                        <a:buChar char="l"/>
                      </a:pPr>
                      <a:r>
                        <a:rPr lang="zh-CN" altLang="en-US" sz="1400">
                          <a:latin typeface="微软雅黑" panose="020B0503020204020204" pitchFamily="34" charset="-122"/>
                          <a:ea typeface="微软雅黑" panose="020B0503020204020204" pitchFamily="34" charset="-122"/>
                        </a:rPr>
                        <a:t>供应方案：供应风险的原因、方案和影响</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rowSpan="3">
                  <a:txBody>
                    <a:bodyPr/>
                    <a:lstStyle/>
                    <a:p>
                      <a:pPr algn="l" fontAlgn="ctr"/>
                      <a:r>
                        <a:rPr lang="zh-CN" altLang="en-US" sz="1400">
                          <a:latin typeface="微软雅黑" panose="020B0503020204020204" pitchFamily="34" charset="-122"/>
                          <a:ea typeface="微软雅黑" panose="020B0503020204020204" pitchFamily="34" charset="-122"/>
                        </a:rPr>
                        <a:t>项目是否继续招投标；资源倾斜方向和相关方行动指令</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r h="1099185">
                <a:tc>
                  <a:txBody>
                    <a:bodyPr/>
                    <a:lstStyle/>
                    <a:p>
                      <a:pPr algn="ctr" fontAlgn="ctr"/>
                      <a:r>
                        <a:rPr lang="zh-CN" altLang="en-US" sz="1400">
                          <a:latin typeface="微软雅黑" panose="020B0503020204020204" pitchFamily="34" charset="-122"/>
                          <a:ea typeface="微软雅黑" panose="020B0503020204020204" pitchFamily="34" charset="-122"/>
                        </a:rPr>
                        <a:t>中</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marL="285750" indent="-285750">
                        <a:buFont typeface="Wingdings" panose="05000000000000000000" charset="0"/>
                        <a:buChar char="l"/>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项目金额</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≥80</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万，标书</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合同中明确未及时交付存在罚责风险，或市场评估存在重大商誉影响</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t"/>
                      <a:r>
                        <a:rPr lang="zh-CN" altLang="en-US" sz="1400">
                          <a:latin typeface="微软雅黑" panose="020B0503020204020204" pitchFamily="34" charset="-122"/>
                          <a:ea typeface="微软雅黑" panose="020B0503020204020204" pitchFamily="34" charset="-122"/>
                        </a:rPr>
                        <a:t>市场：销售大区经理</a:t>
                      </a:r>
                    </a:p>
                    <a:p>
                      <a:pPr fontAlgn="t"/>
                      <a:r>
                        <a:rPr lang="zh-CN" altLang="en-US" sz="1400">
                          <a:latin typeface="微软雅黑" panose="020B0503020204020204" pitchFamily="34" charset="-122"/>
                          <a:ea typeface="微软雅黑" panose="020B0503020204020204" pitchFamily="34" charset="-122"/>
                        </a:rPr>
                        <a:t>供应链：集成计划部经理</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vMerge="1">
                  <a:txBody>
                    <a:bodyPr/>
                    <a:lstStyle/>
                    <a:p>
                      <a:endParaRPr lang="zh-CN"/>
                    </a:p>
                  </a:txBody>
                  <a:tcP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tcPr>
                </a:tc>
                <a:tc vMerge="1">
                  <a:txBody>
                    <a:bodyPr/>
                    <a:lstStyle/>
                    <a:p>
                      <a:endParaRPr lang="zh-CN"/>
                    </a:p>
                  </a:txBody>
                  <a:tcP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tcPr>
                </a:tc>
              </a:tr>
              <a:tr h="854075">
                <a:tc>
                  <a:txBody>
                    <a:bodyPr/>
                    <a:lstStyle/>
                    <a:p>
                      <a:pPr algn="ctr" fontAlgn="ctr"/>
                      <a:r>
                        <a:rPr lang="zh-CN" altLang="en-US" sz="1400">
                          <a:latin typeface="微软雅黑" panose="020B0503020204020204" pitchFamily="34" charset="-122"/>
                          <a:ea typeface="微软雅黑" panose="020B0503020204020204" pitchFamily="34" charset="-122"/>
                        </a:rPr>
                        <a:t>低</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marL="285750" indent="-285750">
                        <a:buFont typeface="Wingdings" panose="05000000000000000000" charset="0"/>
                        <a:buChar char="l"/>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标书</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合同中明确未及时交付存在罚责风险，或市场评估存在商誉影响</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t"/>
                      <a:r>
                        <a:rPr lang="zh-CN" altLang="en-US" sz="1400">
                          <a:latin typeface="微软雅黑" panose="020B0503020204020204" pitchFamily="34" charset="-122"/>
                          <a:ea typeface="微软雅黑" panose="020B0503020204020204" pitchFamily="34" charset="-122"/>
                        </a:rPr>
                        <a:t>市场：销售区域经理</a:t>
                      </a:r>
                    </a:p>
                    <a:p>
                      <a:pPr fontAlgn="t"/>
                      <a:r>
                        <a:rPr lang="zh-CN" altLang="en-US" sz="1400">
                          <a:latin typeface="微软雅黑" panose="020B0503020204020204" pitchFamily="34" charset="-122"/>
                          <a:ea typeface="微软雅黑" panose="020B0503020204020204" pitchFamily="34" charset="-122"/>
                        </a:rPr>
                        <a:t>供应链：市场计划经理</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vMerge="1">
                  <a:txBody>
                    <a:bodyPr/>
                    <a:lstStyle/>
                    <a:p>
                      <a:endParaRPr lang="zh-CN"/>
                    </a:p>
                  </a:txBody>
                  <a:tcP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B w="6350" cap="flat" cmpd="sng">
                      <a:solidFill>
                        <a:srgbClr val="DEE0E3"/>
                      </a:solidFill>
                      <a:prstDash val="solid"/>
                      <a:headEnd type="none" w="med" len="med"/>
                      <a:tailEnd type="none" w="med" len="med"/>
                    </a:lnB>
                  </a:tcPr>
                </a:tc>
                <a:tc vMerge="1">
                  <a:txBody>
                    <a:bodyPr/>
                    <a:lstStyle/>
                    <a:p>
                      <a:endParaRPr lang="zh-CN"/>
                    </a:p>
                  </a:txBody>
                  <a:tcP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B w="6350" cap="flat" cmpd="sng">
                      <a:solidFill>
                        <a:srgbClr val="DEE0E3"/>
                      </a:solidFill>
                      <a:prstDash val="solid"/>
                      <a:headEnd type="none" w="med" len="med"/>
                      <a:tailEnd type="none" w="med" len="med"/>
                    </a:lnB>
                  </a:tcPr>
                </a:tc>
              </a:tr>
            </a:tbl>
          </a:graphicData>
        </a:graphic>
      </p:graphicFrame>
    </p:spTree>
    <p:extLst>
      <p:ext uri="{BB962C8B-B14F-4D97-AF65-F5344CB8AC3E}">
        <p14:creationId xmlns:p14="http://schemas.microsoft.com/office/powerpoint/2010/main" val="16918622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51790" y="196215"/>
            <a:ext cx="9565640" cy="495935"/>
          </a:xfrm>
        </p:spPr>
        <p:txBody>
          <a:bodyPr/>
          <a:lstStyle/>
          <a:p>
            <a:r>
              <a:rPr lang="en-US" altLang="zh-CN" dirty="0" smtClean="0"/>
              <a:t>MO</a:t>
            </a:r>
            <a:r>
              <a:rPr lang="zh-CN" altLang="en-US" dirty="0" smtClean="0"/>
              <a:t>落地执行的机制与办法</a:t>
            </a:r>
            <a:endParaRPr lang="zh-CN" altLang="en-US" dirty="0"/>
          </a:p>
        </p:txBody>
      </p:sp>
      <p:pic>
        <p:nvPicPr>
          <p:cNvPr id="4" name="图片 3"/>
          <p:cNvPicPr>
            <a:picLocks noChangeAspect="1"/>
          </p:cNvPicPr>
          <p:nvPr/>
        </p:nvPicPr>
        <p:blipFill>
          <a:blip r:embed="rId3"/>
          <a:stretch>
            <a:fillRect/>
          </a:stretch>
        </p:blipFill>
        <p:spPr>
          <a:xfrm>
            <a:off x="2688179" y="851172"/>
            <a:ext cx="8900257" cy="5687913"/>
          </a:xfrm>
          <a:prstGeom prst="rect">
            <a:avLst/>
          </a:prstGeom>
        </p:spPr>
      </p:pic>
      <p:sp>
        <p:nvSpPr>
          <p:cNvPr id="6" name="矩形 5"/>
          <p:cNvSpPr/>
          <p:nvPr/>
        </p:nvSpPr>
        <p:spPr>
          <a:xfrm>
            <a:off x="427282" y="978146"/>
            <a:ext cx="1863246" cy="600421"/>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关键节点执行要求</a:t>
            </a:r>
            <a:endParaRPr lang="en-US" altLang="zh-CN"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Tree>
    <p:extLst>
      <p:ext uri="{BB962C8B-B14F-4D97-AF65-F5344CB8AC3E}">
        <p14:creationId xmlns:p14="http://schemas.microsoft.com/office/powerpoint/2010/main" val="99886613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51790" y="196215"/>
            <a:ext cx="9565640" cy="495935"/>
          </a:xfrm>
        </p:spPr>
        <p:txBody>
          <a:bodyPr/>
          <a:lstStyle/>
          <a:p>
            <a:r>
              <a:rPr lang="en-US" altLang="zh-CN" dirty="0" smtClean="0"/>
              <a:t>MO</a:t>
            </a:r>
            <a:r>
              <a:rPr lang="zh-CN" altLang="en-US" dirty="0" smtClean="0"/>
              <a:t>落地执行的机制与办法</a:t>
            </a:r>
            <a:endParaRPr lang="zh-CN" altLang="en-US" dirty="0"/>
          </a:p>
        </p:txBody>
      </p:sp>
      <p:sp>
        <p:nvSpPr>
          <p:cNvPr id="3" name="矩形 2"/>
          <p:cNvSpPr/>
          <p:nvPr/>
        </p:nvSpPr>
        <p:spPr>
          <a:xfrm>
            <a:off x="4065002" y="950613"/>
            <a:ext cx="3114393" cy="7423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区域销售周例会晾晒数据</a:t>
            </a:r>
            <a:endParaRPr lang="en-US" altLang="zh-CN" dirty="0" smtClean="0"/>
          </a:p>
          <a:p>
            <a:pPr algn="ctr"/>
            <a:r>
              <a:rPr lang="zh-CN" altLang="en-US" dirty="0" smtClean="0"/>
              <a:t>（销售</a:t>
            </a:r>
            <a:r>
              <a:rPr lang="en-US" altLang="zh-CN" dirty="0" smtClean="0"/>
              <a:t>/</a:t>
            </a:r>
            <a:r>
              <a:rPr lang="zh-CN" altLang="en-US" dirty="0" smtClean="0"/>
              <a:t>销管</a:t>
            </a:r>
            <a:r>
              <a:rPr lang="en-US" altLang="zh-CN" dirty="0" smtClean="0"/>
              <a:t>/</a:t>
            </a:r>
            <a:r>
              <a:rPr lang="zh-CN" altLang="en-US" dirty="0" smtClean="0"/>
              <a:t>区域经理）</a:t>
            </a:r>
            <a:endParaRPr lang="zh-CN" altLang="en-US" dirty="0"/>
          </a:p>
        </p:txBody>
      </p:sp>
      <p:sp>
        <p:nvSpPr>
          <p:cNvPr id="7" name="矩形 6"/>
          <p:cNvSpPr/>
          <p:nvPr/>
        </p:nvSpPr>
        <p:spPr>
          <a:xfrm>
            <a:off x="506991" y="950613"/>
            <a:ext cx="3114393" cy="7423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项目</a:t>
            </a:r>
            <a:r>
              <a:rPr lang="zh-CN" altLang="en-US" dirty="0" smtClean="0"/>
              <a:t>数据整理盘点</a:t>
            </a:r>
            <a:endParaRPr lang="en-US" altLang="zh-CN" dirty="0" smtClean="0"/>
          </a:p>
          <a:p>
            <a:pPr algn="ctr"/>
            <a:r>
              <a:rPr lang="zh-CN" altLang="en-US" dirty="0" smtClean="0"/>
              <a:t>（销售</a:t>
            </a:r>
            <a:r>
              <a:rPr lang="en-US" altLang="zh-CN" dirty="0" smtClean="0"/>
              <a:t>/</a:t>
            </a:r>
            <a:r>
              <a:rPr lang="zh-CN" altLang="en-US" dirty="0" smtClean="0"/>
              <a:t>销管）</a:t>
            </a:r>
            <a:endParaRPr lang="zh-CN" altLang="en-US" dirty="0"/>
          </a:p>
        </p:txBody>
      </p:sp>
      <p:sp>
        <p:nvSpPr>
          <p:cNvPr id="5" name="燕尾形 4"/>
          <p:cNvSpPr/>
          <p:nvPr/>
        </p:nvSpPr>
        <p:spPr>
          <a:xfrm>
            <a:off x="3671179" y="1077361"/>
            <a:ext cx="344028" cy="488887"/>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矩形 7"/>
          <p:cNvSpPr/>
          <p:nvPr/>
        </p:nvSpPr>
        <p:spPr>
          <a:xfrm>
            <a:off x="7623013" y="950613"/>
            <a:ext cx="4019743" cy="7423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落地执行检查</a:t>
            </a:r>
            <a:endParaRPr lang="en-US" altLang="zh-CN" dirty="0" smtClean="0"/>
          </a:p>
          <a:p>
            <a:pPr algn="ctr"/>
            <a:r>
              <a:rPr lang="zh-CN" altLang="en-US" dirty="0" smtClean="0"/>
              <a:t>（流程管理部</a:t>
            </a:r>
            <a:r>
              <a:rPr lang="en-US" altLang="zh-CN" dirty="0" smtClean="0"/>
              <a:t>/</a:t>
            </a:r>
            <a:r>
              <a:rPr lang="zh-CN" altLang="en-US" dirty="0" smtClean="0"/>
              <a:t>平台管理部</a:t>
            </a:r>
            <a:r>
              <a:rPr lang="en-US" altLang="zh-CN" dirty="0" smtClean="0"/>
              <a:t>/</a:t>
            </a:r>
            <a:r>
              <a:rPr lang="zh-CN" altLang="en-US" dirty="0" smtClean="0"/>
              <a:t>系统部）</a:t>
            </a:r>
            <a:endParaRPr lang="zh-CN" altLang="en-US" dirty="0"/>
          </a:p>
        </p:txBody>
      </p:sp>
      <p:sp>
        <p:nvSpPr>
          <p:cNvPr id="9" name="燕尾形 8"/>
          <p:cNvSpPr/>
          <p:nvPr/>
        </p:nvSpPr>
        <p:spPr>
          <a:xfrm>
            <a:off x="7229190" y="1077361"/>
            <a:ext cx="344028" cy="488887"/>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矩形 9"/>
          <p:cNvSpPr/>
          <p:nvPr/>
        </p:nvSpPr>
        <p:spPr>
          <a:xfrm>
            <a:off x="506991" y="1801639"/>
            <a:ext cx="6672404" cy="407406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11"/>
          <p:cNvSpPr/>
          <p:nvPr/>
        </p:nvSpPr>
        <p:spPr>
          <a:xfrm>
            <a:off x="506991" y="1928389"/>
            <a:ext cx="1509953" cy="1137747"/>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进行中项目关键活动执行数据</a:t>
            </a:r>
            <a:endParaRPr lang="en-US" altLang="zh-CN"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zh-CN" altLang="en-US" sz="12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（通过进行中报表按照区域或系统部查看各</a:t>
            </a:r>
            <a:r>
              <a:rPr lang="en-US" altLang="zh-CN" sz="12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KCP/KDP</a:t>
            </a:r>
            <a:r>
              <a:rPr lang="zh-CN" altLang="en-US" sz="12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执行情况，识别问题）</a:t>
            </a:r>
            <a:endParaRPr lang="en-US" altLang="zh-CN" sz="12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 name="矩形 13"/>
          <p:cNvSpPr/>
          <p:nvPr/>
        </p:nvSpPr>
        <p:spPr>
          <a:xfrm>
            <a:off x="506990" y="3838669"/>
            <a:ext cx="1509953" cy="1137747"/>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关键阶段完成情况明细</a:t>
            </a:r>
            <a:endParaRPr lang="en-US" altLang="zh-CN"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zh-CN" altLang="en-US" sz="12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（通过明细表跟踪每个具体项目的关键</a:t>
            </a:r>
            <a:r>
              <a:rPr lang="en-US" altLang="zh-CN" sz="12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KCP/KDP</a:t>
            </a:r>
            <a:r>
              <a:rPr lang="zh-CN" altLang="en-US" sz="12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完成情况，精准定位跟催）</a:t>
            </a:r>
            <a:endParaRPr lang="zh-CN" altLang="en-US" sz="200" dirty="0">
              <a:ea typeface="Arial" panose="020B0604020202090204"/>
              <a:cs typeface="Arial" panose="020B0604020202090204"/>
            </a:endParaRPr>
          </a:p>
        </p:txBody>
      </p:sp>
      <p:pic>
        <p:nvPicPr>
          <p:cNvPr id="17" name="图片 16"/>
          <p:cNvPicPr>
            <a:picLocks noChangeAspect="1"/>
          </p:cNvPicPr>
          <p:nvPr/>
        </p:nvPicPr>
        <p:blipFill>
          <a:blip r:embed="rId3"/>
          <a:stretch>
            <a:fillRect/>
          </a:stretch>
        </p:blipFill>
        <p:spPr>
          <a:xfrm>
            <a:off x="2662868" y="3778551"/>
            <a:ext cx="3835244" cy="2021649"/>
          </a:xfrm>
          <a:prstGeom prst="rect">
            <a:avLst/>
          </a:prstGeom>
        </p:spPr>
      </p:pic>
      <p:pic>
        <p:nvPicPr>
          <p:cNvPr id="18" name="图片 17"/>
          <p:cNvPicPr>
            <a:picLocks noChangeAspect="1"/>
          </p:cNvPicPr>
          <p:nvPr/>
        </p:nvPicPr>
        <p:blipFill>
          <a:blip r:embed="rId4"/>
          <a:stretch>
            <a:fillRect/>
          </a:stretch>
        </p:blipFill>
        <p:spPr>
          <a:xfrm>
            <a:off x="2016943" y="1792042"/>
            <a:ext cx="5127094" cy="1868814"/>
          </a:xfrm>
          <a:prstGeom prst="rect">
            <a:avLst/>
          </a:prstGeom>
        </p:spPr>
      </p:pic>
      <p:sp>
        <p:nvSpPr>
          <p:cNvPr id="19" name="矩形 18"/>
          <p:cNvSpPr/>
          <p:nvPr/>
        </p:nvSpPr>
        <p:spPr>
          <a:xfrm>
            <a:off x="7573218" y="1801639"/>
            <a:ext cx="3997110" cy="407406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0" name="图片 19"/>
          <p:cNvPicPr>
            <a:picLocks noChangeAspect="1"/>
          </p:cNvPicPr>
          <p:nvPr/>
        </p:nvPicPr>
        <p:blipFill>
          <a:blip r:embed="rId5"/>
          <a:stretch>
            <a:fillRect/>
          </a:stretch>
        </p:blipFill>
        <p:spPr>
          <a:xfrm>
            <a:off x="7639668" y="2396023"/>
            <a:ext cx="3864210" cy="1964602"/>
          </a:xfrm>
          <a:prstGeom prst="rect">
            <a:avLst/>
          </a:prstGeom>
        </p:spPr>
      </p:pic>
      <p:sp>
        <p:nvSpPr>
          <p:cNvPr id="21" name="矩形 20"/>
          <p:cNvSpPr/>
          <p:nvPr/>
        </p:nvSpPr>
        <p:spPr>
          <a:xfrm>
            <a:off x="8342203" y="1884235"/>
            <a:ext cx="2581361" cy="275460"/>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流程关键活动执行率报表</a:t>
            </a:r>
            <a:endParaRPr lang="zh-CN" altLang="en-US" sz="300" dirty="0">
              <a:ea typeface="Arial" panose="020B0604020202090204"/>
              <a:cs typeface="Arial" panose="020B0604020202090204"/>
            </a:endParaRPr>
          </a:p>
        </p:txBody>
      </p:sp>
      <p:sp>
        <p:nvSpPr>
          <p:cNvPr id="22" name="矩形 21"/>
          <p:cNvSpPr/>
          <p:nvPr/>
        </p:nvSpPr>
        <p:spPr>
          <a:xfrm>
            <a:off x="7623013" y="4912888"/>
            <a:ext cx="3825359" cy="824841"/>
          </a:xfrm>
          <a:prstGeom prst="rect">
            <a:avLst/>
          </a:prstGeom>
        </p:spPr>
        <p:txBody>
          <a:bodyPr wrap="square">
            <a:spAutoFit/>
          </a:bodyPr>
          <a:lstStyle/>
          <a:p>
            <a:pPr marL="113665" eaLnBrk="0">
              <a:lnSpc>
                <a:spcPct val="85000"/>
              </a:lnSpc>
              <a:spcBef>
                <a:spcPts val="425"/>
              </a:spcBef>
            </a:pPr>
            <a:r>
              <a:rPr lang="zh-CN" altLang="en-US" sz="1400" kern="0" spc="-50" dirty="0" smtClean="0">
                <a:latin typeface="微软雅黑" panose="020B0503020204020204" pitchFamily="34" charset="-122"/>
                <a:ea typeface="微软雅黑" panose="020B0503020204020204" pitchFamily="34" charset="-122"/>
                <a:cs typeface="Arial" panose="020B0604020202090204"/>
              </a:rPr>
              <a:t>不定期对重点项目进行项目推进质量抽查，主要抽查内容包括：</a:t>
            </a:r>
            <a:r>
              <a:rPr lang="en-US" altLang="zh-CN" sz="1400" kern="0" spc="-50" dirty="0" smtClean="0">
                <a:latin typeface="微软雅黑" panose="020B0503020204020204" pitchFamily="34" charset="-122"/>
                <a:ea typeface="微软雅黑" panose="020B0503020204020204" pitchFamily="34" charset="-122"/>
                <a:cs typeface="Arial" panose="020B0604020202090204"/>
              </a:rPr>
              <a:t>CRM</a:t>
            </a:r>
            <a:r>
              <a:rPr lang="zh-CN" altLang="en-US" sz="1400" kern="0" spc="-50" dirty="0" smtClean="0">
                <a:latin typeface="微软雅黑" panose="020B0503020204020204" pitchFamily="34" charset="-122"/>
                <a:ea typeface="微软雅黑" panose="020B0503020204020204" pitchFamily="34" charset="-122"/>
                <a:cs typeface="Arial" panose="020B0604020202090204"/>
              </a:rPr>
              <a:t>信息录入规范程度，大项目管理模块使用情况，相关飞书标准工作模板的项目留痕信息完整性和质量检查。</a:t>
            </a:r>
            <a:endParaRPr lang="zh-CN" altLang="en-US" sz="300" dirty="0">
              <a:ea typeface="Arial" panose="020B0604020202090204"/>
              <a:cs typeface="Arial" panose="020B0604020202090204"/>
            </a:endParaRPr>
          </a:p>
        </p:txBody>
      </p:sp>
      <p:sp>
        <p:nvSpPr>
          <p:cNvPr id="23" name="矩形 22"/>
          <p:cNvSpPr/>
          <p:nvPr/>
        </p:nvSpPr>
        <p:spPr>
          <a:xfrm>
            <a:off x="8496111" y="4528787"/>
            <a:ext cx="2581361" cy="275460"/>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流程执行质量抽查</a:t>
            </a:r>
            <a:endParaRPr lang="zh-CN" altLang="en-US" sz="300" dirty="0">
              <a:ea typeface="Arial" panose="020B0604020202090204"/>
              <a:cs typeface="Arial" panose="020B0604020202090204"/>
            </a:endParaRPr>
          </a:p>
        </p:txBody>
      </p:sp>
      <p:sp>
        <p:nvSpPr>
          <p:cNvPr id="24" name="矩形 23"/>
          <p:cNvSpPr/>
          <p:nvPr/>
        </p:nvSpPr>
        <p:spPr>
          <a:xfrm>
            <a:off x="7488400" y="2140760"/>
            <a:ext cx="4015478" cy="249299"/>
          </a:xfrm>
          <a:prstGeom prst="rect">
            <a:avLst/>
          </a:prstGeom>
        </p:spPr>
        <p:txBody>
          <a:bodyPr wrap="square">
            <a:spAutoFit/>
          </a:bodyPr>
          <a:lstStyle/>
          <a:p>
            <a:pPr marL="113665" eaLnBrk="0">
              <a:lnSpc>
                <a:spcPct val="85000"/>
              </a:lnSpc>
              <a:spcBef>
                <a:spcPts val="425"/>
              </a:spcBef>
            </a:pPr>
            <a:r>
              <a:rPr lang="zh-CN" altLang="en-US" sz="12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定期查看报表，统计各</a:t>
            </a:r>
            <a:r>
              <a:rPr lang="en-US" altLang="zh-CN" sz="12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KCP/KDP</a:t>
            </a:r>
            <a:r>
              <a:rPr lang="zh-CN" altLang="en-US" sz="12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执行率：</a:t>
            </a:r>
            <a:endParaRPr lang="zh-CN" altLang="en-US" sz="200" dirty="0">
              <a:ea typeface="Arial" panose="020B0604020202090204"/>
              <a:cs typeface="Arial" panose="020B0604020202090204"/>
            </a:endParaRPr>
          </a:p>
        </p:txBody>
      </p:sp>
    </p:spTree>
    <p:extLst>
      <p:ext uri="{BB962C8B-B14F-4D97-AF65-F5344CB8AC3E}">
        <p14:creationId xmlns:p14="http://schemas.microsoft.com/office/powerpoint/2010/main" val="275785846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2012293" y="5947150"/>
            <a:ext cx="1223412" cy="275588"/>
          </a:xfrm>
          <a:prstGeom prst="rect">
            <a:avLst/>
          </a:prstGeom>
          <a:noFill/>
        </p:spPr>
        <p:txBody>
          <a:bodyPr wrap="none" rtlCol="0">
            <a:spAutoFit/>
          </a:bodyPr>
          <a:lstStyle/>
          <a:p>
            <a:pPr>
              <a:lnSpc>
                <a:spcPct val="150000"/>
              </a:lnSpc>
            </a:pPr>
            <a:r>
              <a:rPr kumimoji="1" lang="zh-CN" altLang="en-US"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扫一扫了解更多资讯</a:t>
            </a:r>
          </a:p>
        </p:txBody>
      </p:sp>
      <p:pic>
        <p:nvPicPr>
          <p:cNvPr id="27" name="图片 26"/>
          <p:cNvPicPr>
            <a:picLocks noChangeAspect="1"/>
          </p:cNvPicPr>
          <p:nvPr/>
        </p:nvPicPr>
        <p:blipFill>
          <a:blip r:embed="rId2" cstate="screen"/>
          <a:stretch>
            <a:fillRect/>
          </a:stretch>
        </p:blipFill>
        <p:spPr>
          <a:xfrm>
            <a:off x="764301" y="5154553"/>
            <a:ext cx="1082787" cy="1082787"/>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smtClean="0"/>
              <a:t>预测流程</a:t>
            </a:r>
            <a:endParaRPr lang="zh-CN" altLang="en-US" dirty="0"/>
          </a:p>
        </p:txBody>
      </p:sp>
      <p:sp>
        <p:nvSpPr>
          <p:cNvPr id="4" name="矩形 3"/>
          <p:cNvSpPr/>
          <p:nvPr/>
        </p:nvSpPr>
        <p:spPr>
          <a:xfrm>
            <a:off x="9205559" y="1109912"/>
            <a:ext cx="2410037" cy="1569660"/>
          </a:xfrm>
          <a:prstGeom prst="rect">
            <a:avLst/>
          </a:prstGeom>
        </p:spPr>
        <p:txBody>
          <a:bodyPr wrap="square">
            <a:spAutoFit/>
          </a:bodyPr>
          <a:lstStyle/>
          <a:p>
            <a:r>
              <a:rPr lang="zh-CN" altLang="en-US" sz="1200" b="1" dirty="0" smtClean="0"/>
              <a:t>通过销管隔月预测流程把下单承诺和要货预测都管起来：</a:t>
            </a:r>
            <a:endParaRPr lang="en-US" altLang="zh-CN" sz="1200" b="1" dirty="0" smtClean="0"/>
          </a:p>
          <a:p>
            <a:endParaRPr lang="en-US" altLang="zh-CN" sz="1200" b="1" dirty="0"/>
          </a:p>
          <a:p>
            <a:r>
              <a:rPr lang="zh-CN" altLang="en-US" sz="1200" b="1" dirty="0" smtClean="0"/>
              <a:t>预计下单承诺流程保持与之前流程一致；</a:t>
            </a:r>
            <a:endParaRPr lang="en-US" altLang="zh-CN" sz="1200" b="1" dirty="0" smtClean="0"/>
          </a:p>
          <a:p>
            <a:endParaRPr lang="en-US" altLang="zh-CN" sz="1200" b="1" dirty="0"/>
          </a:p>
          <a:p>
            <a:r>
              <a:rPr lang="zh-CN" altLang="en-US" sz="1200" b="1" dirty="0">
                <a:solidFill>
                  <a:srgbClr val="FF0000"/>
                </a:solidFill>
              </a:rPr>
              <a:t>要</a:t>
            </a:r>
            <a:r>
              <a:rPr lang="zh-CN" altLang="en-US" sz="1200" b="1" dirty="0" smtClean="0">
                <a:solidFill>
                  <a:srgbClr val="FF0000"/>
                </a:solidFill>
              </a:rPr>
              <a:t>货时间管理需要设计流程，怎么管？</a:t>
            </a:r>
            <a:endParaRPr lang="en-US" altLang="zh-CN" sz="1200" b="1" dirty="0">
              <a:solidFill>
                <a:srgbClr val="FF0000"/>
              </a:solidFill>
            </a:endParaRPr>
          </a:p>
        </p:txBody>
      </p:sp>
      <p:pic>
        <p:nvPicPr>
          <p:cNvPr id="3" name="图片 2"/>
          <p:cNvPicPr>
            <a:picLocks noChangeAspect="1"/>
          </p:cNvPicPr>
          <p:nvPr/>
        </p:nvPicPr>
        <p:blipFill>
          <a:blip r:embed="rId2"/>
          <a:stretch>
            <a:fillRect/>
          </a:stretch>
        </p:blipFill>
        <p:spPr>
          <a:xfrm>
            <a:off x="120444" y="878186"/>
            <a:ext cx="9085115" cy="5304488"/>
          </a:xfrm>
          <a:prstGeom prst="rect">
            <a:avLst/>
          </a:prstGeom>
        </p:spPr>
      </p:pic>
    </p:spTree>
    <p:extLst>
      <p:ext uri="{BB962C8B-B14F-4D97-AF65-F5344CB8AC3E}">
        <p14:creationId xmlns:p14="http://schemas.microsoft.com/office/powerpoint/2010/main" val="27222578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8760718" cy="495935"/>
          </a:xfrm>
        </p:spPr>
        <p:txBody>
          <a:bodyPr/>
          <a:lstStyle/>
          <a:p>
            <a:r>
              <a:rPr lang="zh-CN" altLang="en-US" dirty="0" smtClean="0"/>
              <a:t>课题</a:t>
            </a:r>
            <a:r>
              <a:rPr lang="en-US" altLang="zh-CN" dirty="0" smtClean="0"/>
              <a:t>1</a:t>
            </a:r>
            <a:r>
              <a:rPr lang="zh-CN" altLang="en-US" dirty="0" smtClean="0"/>
              <a:t>：要货时间准确率分析</a:t>
            </a:r>
            <a:endParaRPr lang="zh-CN" altLang="en-US" dirty="0"/>
          </a:p>
        </p:txBody>
      </p:sp>
      <p:pic>
        <p:nvPicPr>
          <p:cNvPr id="3" name="图片 2"/>
          <p:cNvPicPr>
            <a:picLocks noChangeAspect="1"/>
          </p:cNvPicPr>
          <p:nvPr/>
        </p:nvPicPr>
        <p:blipFill>
          <a:blip r:embed="rId2"/>
          <a:stretch>
            <a:fillRect/>
          </a:stretch>
        </p:blipFill>
        <p:spPr>
          <a:xfrm>
            <a:off x="690608" y="958471"/>
            <a:ext cx="7982151" cy="5899529"/>
          </a:xfrm>
          <a:prstGeom prst="rect">
            <a:avLst/>
          </a:prstGeom>
        </p:spPr>
      </p:pic>
    </p:spTree>
    <p:extLst>
      <p:ext uri="{BB962C8B-B14F-4D97-AF65-F5344CB8AC3E}">
        <p14:creationId xmlns:p14="http://schemas.microsoft.com/office/powerpoint/2010/main" val="301485948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smtClean="0"/>
              <a:t>动作</a:t>
            </a:r>
            <a:r>
              <a:rPr lang="en-US" altLang="zh-CN" dirty="0"/>
              <a:t>1</a:t>
            </a:r>
            <a:r>
              <a:rPr lang="zh-CN" altLang="en-US" dirty="0" smtClean="0"/>
              <a:t>：管控渠道下单要货时间</a:t>
            </a:r>
            <a:endParaRPr lang="zh-CN" altLang="en-US" dirty="0"/>
          </a:p>
        </p:txBody>
      </p:sp>
      <p:pic>
        <p:nvPicPr>
          <p:cNvPr id="3" name="图片 2"/>
          <p:cNvPicPr>
            <a:picLocks noChangeAspect="1"/>
          </p:cNvPicPr>
          <p:nvPr/>
        </p:nvPicPr>
        <p:blipFill>
          <a:blip r:embed="rId2"/>
          <a:stretch>
            <a:fillRect/>
          </a:stretch>
        </p:blipFill>
        <p:spPr>
          <a:xfrm>
            <a:off x="314186" y="914400"/>
            <a:ext cx="11631425" cy="4066979"/>
          </a:xfrm>
          <a:prstGeom prst="rect">
            <a:avLst/>
          </a:prstGeom>
        </p:spPr>
      </p:pic>
      <p:sp>
        <p:nvSpPr>
          <p:cNvPr id="5" name="矩形 4"/>
          <p:cNvSpPr/>
          <p:nvPr/>
        </p:nvSpPr>
        <p:spPr>
          <a:xfrm>
            <a:off x="439400" y="5125524"/>
            <a:ext cx="11203356" cy="1323439"/>
          </a:xfrm>
          <a:prstGeom prst="rect">
            <a:avLst/>
          </a:prstGeom>
        </p:spPr>
        <p:txBody>
          <a:bodyPr wrap="square">
            <a:spAutoFit/>
          </a:bodyPr>
          <a:lstStyle/>
          <a:p>
            <a:r>
              <a:rPr lang="zh-CN" altLang="en-US" sz="1600" dirty="0" smtClean="0"/>
              <a:t>渠道下单流程中需要注意的问题：</a:t>
            </a:r>
            <a:endParaRPr lang="en-US" altLang="zh-CN" sz="1600" dirty="0" smtClean="0"/>
          </a:p>
          <a:p>
            <a:r>
              <a:rPr lang="en-US" altLang="zh-CN" sz="1600" dirty="0" smtClean="0"/>
              <a:t>1</a:t>
            </a:r>
            <a:r>
              <a:rPr lang="zh-CN" altLang="en-US" sz="1600" dirty="0" smtClean="0"/>
              <a:t>）销售需要提前跟渠道沟通下单时间，渠道根据项目实际情况按照销售预测承诺的下单时间执行下单操作；</a:t>
            </a:r>
            <a:endParaRPr lang="en-US" altLang="zh-CN" sz="1600" dirty="0" smtClean="0"/>
          </a:p>
          <a:p>
            <a:r>
              <a:rPr lang="en-US" altLang="zh-CN" sz="1600" dirty="0" smtClean="0"/>
              <a:t>2</a:t>
            </a:r>
            <a:r>
              <a:rPr lang="zh-CN" altLang="en-US" sz="1600" dirty="0" smtClean="0"/>
              <a:t>）渠道</a:t>
            </a:r>
            <a:r>
              <a:rPr lang="zh-CN" altLang="en-US" sz="1600" dirty="0"/>
              <a:t>在</a:t>
            </a:r>
            <a:r>
              <a:rPr lang="en-US" altLang="zh-CN" sz="1600" dirty="0"/>
              <a:t>CES</a:t>
            </a:r>
            <a:r>
              <a:rPr lang="zh-CN" altLang="en-US" sz="1600" dirty="0"/>
              <a:t>下单的要货时间参考</a:t>
            </a:r>
            <a:r>
              <a:rPr lang="zh-CN" altLang="en-US" sz="1600" b="1" dirty="0"/>
              <a:t>推荐客</a:t>
            </a:r>
            <a:r>
              <a:rPr lang="zh-CN" altLang="en-US" sz="1600" b="1" dirty="0" smtClean="0"/>
              <a:t>期</a:t>
            </a:r>
            <a:r>
              <a:rPr lang="zh-CN" altLang="en-US" sz="1600" dirty="0" smtClean="0"/>
              <a:t>（</a:t>
            </a:r>
            <a:r>
              <a:rPr lang="en-US" altLang="zh-CN" sz="1600" dirty="0" smtClean="0"/>
              <a:t>CRM</a:t>
            </a:r>
            <a:r>
              <a:rPr lang="zh-CN" altLang="en-US" sz="1600" dirty="0"/>
              <a:t>中销售填写的要求到货日期与下单时间</a:t>
            </a:r>
            <a:r>
              <a:rPr lang="en-US" altLang="zh-CN" sz="1600" dirty="0"/>
              <a:t>+SLA</a:t>
            </a:r>
            <a:r>
              <a:rPr lang="zh-CN" altLang="en-US" sz="1600" dirty="0"/>
              <a:t>两者最大值）</a:t>
            </a:r>
            <a:endParaRPr lang="zh-CN" altLang="en-US" sz="1600" b="1" dirty="0"/>
          </a:p>
          <a:p>
            <a:r>
              <a:rPr lang="zh-CN" altLang="en-US" sz="1600" b="1" dirty="0"/>
              <a:t>结合渠道期望到货日期和供应链备货计划和供应能力给出最终到货日期</a:t>
            </a:r>
          </a:p>
          <a:p>
            <a:endParaRPr lang="zh-CN" altLang="en-US" sz="1600" dirty="0"/>
          </a:p>
        </p:txBody>
      </p:sp>
    </p:spTree>
    <p:extLst>
      <p:ext uri="{BB962C8B-B14F-4D97-AF65-F5344CB8AC3E}">
        <p14:creationId xmlns:p14="http://schemas.microsoft.com/office/powerpoint/2010/main" val="159149321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smtClean="0"/>
              <a:t>动作</a:t>
            </a:r>
            <a:r>
              <a:rPr lang="en-US" altLang="zh-CN" dirty="0" smtClean="0"/>
              <a:t>3</a:t>
            </a:r>
            <a:r>
              <a:rPr lang="zh-CN" altLang="en-US" dirty="0" smtClean="0"/>
              <a:t>：</a:t>
            </a:r>
            <a:r>
              <a:rPr lang="en-US" altLang="zh-CN" dirty="0" smtClean="0"/>
              <a:t>IT</a:t>
            </a:r>
            <a:r>
              <a:rPr lang="zh-CN" altLang="en-US" dirty="0" smtClean="0"/>
              <a:t>功能落地增强</a:t>
            </a:r>
            <a:endParaRPr lang="zh-CN" altLang="en-US" dirty="0"/>
          </a:p>
        </p:txBody>
      </p:sp>
      <p:sp>
        <p:nvSpPr>
          <p:cNvPr id="9" name="矩形 8"/>
          <p:cNvSpPr/>
          <p:nvPr/>
        </p:nvSpPr>
        <p:spPr>
          <a:xfrm>
            <a:off x="826902" y="988091"/>
            <a:ext cx="9982936" cy="2062103"/>
          </a:xfrm>
          <a:prstGeom prst="rect">
            <a:avLst/>
          </a:prstGeom>
        </p:spPr>
        <p:txBody>
          <a:bodyPr wrap="square">
            <a:spAutoFit/>
          </a:bodyPr>
          <a:lstStyle/>
          <a:p>
            <a:pPr marL="342900" indent="-342900">
              <a:lnSpc>
                <a:spcPct val="200000"/>
              </a:lnSpc>
              <a:buFont typeface="+mj-lt"/>
              <a:buAutoNum type="arabicPeriod"/>
            </a:pPr>
            <a:r>
              <a:rPr lang="zh-CN" altLang="en-US" sz="1600" dirty="0" smtClean="0"/>
              <a:t>前端产品方案配置时显示</a:t>
            </a:r>
            <a:r>
              <a:rPr lang="en-US" altLang="zh-CN" sz="1600" dirty="0" smtClean="0"/>
              <a:t>SLA</a:t>
            </a:r>
            <a:r>
              <a:rPr lang="zh-CN" altLang="en-US" sz="1600" dirty="0" smtClean="0"/>
              <a:t>，辅助销售了解产品方案交付周期；</a:t>
            </a:r>
            <a:endParaRPr lang="en-US" altLang="zh-CN" sz="1600" dirty="0" smtClean="0"/>
          </a:p>
          <a:p>
            <a:pPr marL="342900" indent="-342900">
              <a:lnSpc>
                <a:spcPct val="200000"/>
              </a:lnSpc>
              <a:buFont typeface="+mj-lt"/>
              <a:buAutoNum type="arabicPeriod"/>
            </a:pPr>
            <a:r>
              <a:rPr lang="zh-CN" altLang="en-US" sz="1600" dirty="0" smtClean="0"/>
              <a:t>分批要货功能优化，推广销售使用。</a:t>
            </a:r>
            <a:endParaRPr lang="en-US" altLang="zh-CN" sz="1600" dirty="0" smtClean="0"/>
          </a:p>
          <a:p>
            <a:pPr marL="342900" indent="-342900">
              <a:lnSpc>
                <a:spcPct val="200000"/>
              </a:lnSpc>
              <a:buFont typeface="+mj-lt"/>
              <a:buAutoNum type="arabicPeriod"/>
            </a:pPr>
            <a:r>
              <a:rPr lang="en-US" altLang="zh-CN" sz="1600" dirty="0" smtClean="0"/>
              <a:t>CES</a:t>
            </a:r>
            <a:r>
              <a:rPr lang="zh-CN" altLang="en-US" sz="1600" dirty="0" smtClean="0"/>
              <a:t>渠道下单系统增强，提供推荐客期（取</a:t>
            </a:r>
            <a:r>
              <a:rPr lang="en-US" altLang="zh-CN" sz="1600" dirty="0" smtClean="0"/>
              <a:t>CRM</a:t>
            </a:r>
            <a:r>
              <a:rPr lang="zh-CN" altLang="en-US" sz="1600" dirty="0" smtClean="0"/>
              <a:t>中的要货时间和供应链</a:t>
            </a:r>
            <a:r>
              <a:rPr lang="en-US" altLang="zh-CN" sz="1600" dirty="0" smtClean="0"/>
              <a:t>SLA</a:t>
            </a:r>
            <a:r>
              <a:rPr lang="zh-CN" altLang="en-US" sz="1600" dirty="0" smtClean="0"/>
              <a:t>中交付时间的最大值）</a:t>
            </a:r>
            <a:endParaRPr lang="en-US" altLang="zh-CN" sz="1600" dirty="0" smtClean="0"/>
          </a:p>
          <a:p>
            <a:pPr marL="342900" indent="-342900">
              <a:lnSpc>
                <a:spcPct val="200000"/>
              </a:lnSpc>
              <a:buFont typeface="+mj-lt"/>
              <a:buAutoNum type="arabicPeriod"/>
            </a:pPr>
            <a:r>
              <a:rPr lang="zh-CN" altLang="en-US" sz="1600" dirty="0" smtClean="0"/>
              <a:t>特殊订单审批流程（如：加急订单，未计划订单等）</a:t>
            </a:r>
            <a:endParaRPr lang="zh-CN" altLang="en-US" sz="1600" dirty="0"/>
          </a:p>
        </p:txBody>
      </p:sp>
    </p:spTree>
    <p:extLst>
      <p:ext uri="{BB962C8B-B14F-4D97-AF65-F5344CB8AC3E}">
        <p14:creationId xmlns:p14="http://schemas.microsoft.com/office/powerpoint/2010/main" val="136110022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19908" y="274320"/>
            <a:ext cx="7606768" cy="495935"/>
          </a:xfrm>
        </p:spPr>
        <p:txBody>
          <a:bodyPr/>
          <a:lstStyle/>
          <a:p>
            <a:r>
              <a:rPr lang="zh-CN" altLang="en-US" dirty="0" smtClean="0"/>
              <a:t>课题</a:t>
            </a:r>
            <a:r>
              <a:rPr lang="en-US" altLang="zh-CN" dirty="0" smtClean="0"/>
              <a:t>1</a:t>
            </a:r>
            <a:r>
              <a:rPr lang="zh-CN" altLang="en-US" dirty="0" smtClean="0"/>
              <a:t>：做准</a:t>
            </a:r>
            <a:r>
              <a:rPr lang="en-US" altLang="zh-CN" dirty="0" smtClean="0"/>
              <a:t>N</a:t>
            </a:r>
            <a:r>
              <a:rPr lang="zh-CN" altLang="en-US" dirty="0" smtClean="0"/>
              <a:t>和</a:t>
            </a:r>
            <a:r>
              <a:rPr lang="en-US" altLang="zh-CN" dirty="0" smtClean="0"/>
              <a:t>T</a:t>
            </a:r>
            <a:endParaRPr lang="zh-CN" altLang="en-US" dirty="0"/>
          </a:p>
        </p:txBody>
      </p:sp>
      <p:sp>
        <p:nvSpPr>
          <p:cNvPr id="45" name="矩形 44"/>
          <p:cNvSpPr/>
          <p:nvPr/>
        </p:nvSpPr>
        <p:spPr>
          <a:xfrm>
            <a:off x="2483370" y="1415668"/>
            <a:ext cx="1027359" cy="2472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培训，宣贯</a:t>
            </a:r>
          </a:p>
        </p:txBody>
      </p:sp>
      <p:sp>
        <p:nvSpPr>
          <p:cNvPr id="48" name="矩形 47"/>
          <p:cNvSpPr/>
          <p:nvPr/>
        </p:nvSpPr>
        <p:spPr>
          <a:xfrm>
            <a:off x="6197744" y="1415668"/>
            <a:ext cx="1122648" cy="2472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IT</a:t>
            </a:r>
            <a:r>
              <a:rPr lang="zh-CN" altLang="en-US" dirty="0"/>
              <a:t>上线及培训</a:t>
            </a:r>
          </a:p>
        </p:txBody>
      </p:sp>
      <p:sp>
        <p:nvSpPr>
          <p:cNvPr id="51" name="矩形 50"/>
          <p:cNvSpPr/>
          <p:nvPr/>
        </p:nvSpPr>
        <p:spPr>
          <a:xfrm>
            <a:off x="4237152" y="1415668"/>
            <a:ext cx="1224293" cy="2472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线下盘点手头活动中项目并及时更新</a:t>
            </a:r>
            <a:r>
              <a:rPr lang="en-US" altLang="zh-CN" dirty="0"/>
              <a:t>CRM</a:t>
            </a:r>
            <a:r>
              <a:rPr lang="zh-CN" altLang="en-US" dirty="0"/>
              <a:t>相关信息</a:t>
            </a:r>
          </a:p>
        </p:txBody>
      </p:sp>
      <p:sp>
        <p:nvSpPr>
          <p:cNvPr id="54" name="矩形 53"/>
          <p:cNvSpPr/>
          <p:nvPr/>
        </p:nvSpPr>
        <p:spPr>
          <a:xfrm>
            <a:off x="8086014" y="1415668"/>
            <a:ext cx="1162840" cy="2472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流程执行</a:t>
            </a:r>
            <a:endParaRPr lang="en-US" altLang="zh-CN" dirty="0"/>
          </a:p>
        </p:txBody>
      </p:sp>
      <p:sp>
        <p:nvSpPr>
          <p:cNvPr id="57" name="矩形 56"/>
          <p:cNvSpPr/>
          <p:nvPr/>
        </p:nvSpPr>
        <p:spPr>
          <a:xfrm>
            <a:off x="10128023" y="1415668"/>
            <a:ext cx="1404956" cy="2472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监控</a:t>
            </a:r>
            <a:r>
              <a:rPr lang="zh-CN" altLang="en-US" dirty="0" smtClean="0"/>
              <a:t>及持续改善（</a:t>
            </a:r>
            <a:r>
              <a:rPr lang="zh-CN" altLang="en-US" dirty="0"/>
              <a:t>数据看板，管理机制）</a:t>
            </a:r>
          </a:p>
        </p:txBody>
      </p:sp>
      <p:sp>
        <p:nvSpPr>
          <p:cNvPr id="58" name="右箭头 57"/>
          <p:cNvSpPr/>
          <p:nvPr/>
        </p:nvSpPr>
        <p:spPr>
          <a:xfrm>
            <a:off x="1694984" y="2432986"/>
            <a:ext cx="623507"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右箭头 58"/>
          <p:cNvSpPr/>
          <p:nvPr/>
        </p:nvSpPr>
        <p:spPr>
          <a:xfrm>
            <a:off x="5546243" y="2409658"/>
            <a:ext cx="623507"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右箭头 59"/>
          <p:cNvSpPr/>
          <p:nvPr/>
        </p:nvSpPr>
        <p:spPr>
          <a:xfrm>
            <a:off x="7366912" y="2409658"/>
            <a:ext cx="623507"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右箭头 60"/>
          <p:cNvSpPr/>
          <p:nvPr/>
        </p:nvSpPr>
        <p:spPr>
          <a:xfrm>
            <a:off x="9376685" y="2409658"/>
            <a:ext cx="623507"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上箭头 61"/>
          <p:cNvSpPr/>
          <p:nvPr/>
        </p:nvSpPr>
        <p:spPr>
          <a:xfrm rot="5400000">
            <a:off x="7341942" y="4870774"/>
            <a:ext cx="457200" cy="839755"/>
          </a:xfrm>
          <a:prstGeom prst="upArrow">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p:cNvSpPr txBox="1"/>
          <p:nvPr/>
        </p:nvSpPr>
        <p:spPr>
          <a:xfrm>
            <a:off x="5454378" y="5158351"/>
            <a:ext cx="1680909" cy="369332"/>
          </a:xfrm>
          <a:prstGeom prst="rect">
            <a:avLst/>
          </a:prstGeom>
          <a:noFill/>
        </p:spPr>
        <p:txBody>
          <a:bodyPr wrap="none" rtlCol="0">
            <a:spAutoFit/>
          </a:bodyPr>
          <a:lstStyle/>
          <a:p>
            <a:r>
              <a:rPr lang="en-US" altLang="zh-CN" dirty="0"/>
              <a:t>We are here</a:t>
            </a:r>
            <a:r>
              <a:rPr lang="zh-CN" altLang="en-US" dirty="0"/>
              <a:t>！</a:t>
            </a:r>
          </a:p>
        </p:txBody>
      </p:sp>
      <p:sp>
        <p:nvSpPr>
          <p:cNvPr id="64" name="矩形 63"/>
          <p:cNvSpPr/>
          <p:nvPr/>
        </p:nvSpPr>
        <p:spPr>
          <a:xfrm>
            <a:off x="502747" y="1415668"/>
            <a:ext cx="1027359" cy="2472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设计并试点</a:t>
            </a:r>
            <a:r>
              <a:rPr lang="en-US" altLang="zh-CN" dirty="0"/>
              <a:t>-</a:t>
            </a:r>
            <a:r>
              <a:rPr lang="zh-CN" altLang="en-US" dirty="0"/>
              <a:t>上海、山东区域</a:t>
            </a:r>
          </a:p>
        </p:txBody>
      </p:sp>
      <p:sp>
        <p:nvSpPr>
          <p:cNvPr id="65" name="右箭头 64"/>
          <p:cNvSpPr/>
          <p:nvPr/>
        </p:nvSpPr>
        <p:spPr>
          <a:xfrm>
            <a:off x="3599648" y="2409658"/>
            <a:ext cx="623507"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p:cNvSpPr/>
          <p:nvPr/>
        </p:nvSpPr>
        <p:spPr>
          <a:xfrm>
            <a:off x="8175279" y="4897925"/>
            <a:ext cx="3482136" cy="785452"/>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二期试点专项</a:t>
            </a:r>
            <a:endParaRPr lang="en-US" altLang="zh-CN" dirty="0" smtClean="0"/>
          </a:p>
          <a:p>
            <a:pPr algn="ctr"/>
            <a:r>
              <a:rPr lang="zh-CN" altLang="en-US" dirty="0" smtClean="0"/>
              <a:t>（广东，山东，福建，湖南）</a:t>
            </a:r>
            <a:endParaRPr lang="zh-CN" altLang="en-US" dirty="0"/>
          </a:p>
        </p:txBody>
      </p:sp>
      <p:sp>
        <p:nvSpPr>
          <p:cNvPr id="67" name="右箭头 66"/>
          <p:cNvSpPr/>
          <p:nvPr/>
        </p:nvSpPr>
        <p:spPr>
          <a:xfrm rot="5400000">
            <a:off x="10585814" y="4150787"/>
            <a:ext cx="623507"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49573219"/>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PP_MARK_KEY" val="5a5b54e7-09c9-4e3b-8074-73364de01119"/>
  <p:tag name="COMMONDATA" val="eyJoZGlkIjoiYTg1ODA4OWVjMjRhODZlMDEyMmFhZDlhODFjYTBiYzUifQ=="/>
  <p:tag name="RESOURCE_RECORD_KEY" val="{&quot;13&quot;:[4364928]}"/>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199.310236220474}"/>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9.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199.310236220474}"/>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TABLE_ENDDRAG_ORIGIN_RECT" val="347*275"/>
  <p:tag name="TABLE_ENDDRAG_RECT" val="550*196*347*275"/>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b="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11995</TotalTime>
  <Words>5970</Words>
  <Application>Microsoft Office PowerPoint</Application>
  <PresentationFormat>宽屏</PresentationFormat>
  <Paragraphs>524</Paragraphs>
  <Slides>35</Slides>
  <Notes>5</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35</vt:i4>
      </vt:variant>
    </vt:vector>
  </HeadingPairs>
  <TitlesOfParts>
    <vt:vector size="46" baseType="lpstr">
      <vt:lpstr>Inter</vt:lpstr>
      <vt:lpstr>等线</vt:lpstr>
      <vt:lpstr>等线 Light</vt:lpstr>
      <vt:lpstr>宋体</vt:lpstr>
      <vt:lpstr>微软</vt:lpstr>
      <vt:lpstr>微软雅黑</vt:lpstr>
      <vt:lpstr>Arial</vt:lpstr>
      <vt:lpstr>Calibri</vt:lpstr>
      <vt:lpstr>Wingdings</vt:lpstr>
      <vt:lpstr>Office 主题​​</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1405</dc:creator>
  <cp:lastModifiedBy>Lenovo</cp:lastModifiedBy>
  <cp:revision>377</cp:revision>
  <dcterms:created xsi:type="dcterms:W3CDTF">2025-07-28T02:11:00Z</dcterms:created>
  <dcterms:modified xsi:type="dcterms:W3CDTF">2025-12-05T09:22:45Z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D94573FBE26046E28D578AEA2B965915_13</vt:lpwstr>
  </property>
  <property fmtid="{D5CDD505-2E9C-101B-9397-08002B2CF9AE}" pid="3" name="KSOProductBuildVer">
    <vt:lpwstr>2052-12.1.0.22529</vt:lpwstr>
  </property>
</Properties>
</file>