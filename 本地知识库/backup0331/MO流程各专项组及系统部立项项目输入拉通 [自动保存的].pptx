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12192000"/>
  <p:embeddedFontLst>
    <p:embeddedFont>
      <p:font typeface="等线" panose="02010600030101010101" pitchFamily="2" charset="-122"/>
      <p:regular r:id="rId16"/>
      <p:bold r:id="rId17"/>
    </p:embeddedFont>
    <p:embeddedFont>
      <p:font typeface="MiSans" panose="02010600030101010101" charset="-122"/>
      <p:regular r:id="rId18"/>
    </p:embeddedFont>
    <p:embeddedFont>
      <p:font typeface="Alimama ShuHeiTi" panose="02010600030101010101" charset="-122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61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22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egativespace.co/b6029b99ccd2b3a1187b65d772ce54082922931e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8906" b="2890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22521"/>
            <a:ext cx="2486025" cy="495300"/>
          </a:xfrm>
          <a:custGeom>
            <a:avLst/>
            <a:gdLst/>
            <a:ahLst/>
            <a:cxnLst/>
            <a:rect l="l" t="t" r="r" b="b"/>
            <a:pathLst>
              <a:path w="2486025" h="495300">
                <a:moveTo>
                  <a:pt x="0" y="0"/>
                </a:moveTo>
                <a:lnTo>
                  <a:pt x="2486025" y="0"/>
                </a:lnTo>
                <a:lnTo>
                  <a:pt x="24860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22521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47700" y="1236821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MO商机管理流程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22621"/>
            <a:ext cx="7886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MO流程各专项组及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系统部立项项目输入拉通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65721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227671"/>
            <a:ext cx="7686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26年GTM、重客、系统部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重点关注项目立项管理要求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9016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1" name="Shape 8"/>
          <p:cNvSpPr/>
          <p:nvPr/>
        </p:nvSpPr>
        <p:spPr>
          <a:xfrm>
            <a:off x="423863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9"/>
          <p:cNvSpPr/>
          <p:nvPr/>
        </p:nvSpPr>
        <p:spPr>
          <a:xfrm>
            <a:off x="781050" y="621030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934051" y="6229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1"/>
          <p:cNvSpPr/>
          <p:nvPr/>
        </p:nvSpPr>
        <p:spPr>
          <a:xfrm>
            <a:off x="2276951" y="62103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EBG事业部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96500" y="62103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商机管理流程项目组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会议议程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859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847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847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2076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576263" y="20764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20764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立项管理变革背景与核心变化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49543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从单一金额标准到多维度评估体系的演进逻辑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847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847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2076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5563" y="20764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20764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7100" y="249543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BG级/BU级/区域级/一般项目的四级分类体系详解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4671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695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0" name="Text 18"/>
          <p:cNvSpPr/>
          <p:nvPr/>
        </p:nvSpPr>
        <p:spPr>
          <a:xfrm>
            <a:off x="576263" y="36957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36957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MO流程运转机制与关键节点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411468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六大关键节点、责任人、时间要求与业务目标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4671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695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5563" y="36957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36957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各角色职责与协作要求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77100" y="411468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GTM/重客/系统部项目清单提报要求与协作机制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863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0863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314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2" name="Text 30"/>
          <p:cNvSpPr/>
          <p:nvPr/>
        </p:nvSpPr>
        <p:spPr>
          <a:xfrm>
            <a:off x="576263" y="53149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5314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7800" y="573393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会前准备、会中跟进、会后执行的完整闭环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50863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50863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5314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5563" y="53149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77100" y="5314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系统操作指南与执行检查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77100" y="5733931"/>
            <a:ext cx="4391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CRM系统操作、考核机制与下一步执行要求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90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643467"/>
            <a:ext cx="116670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立项管理变革：从单一金额到多维度标准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667" y="1117600"/>
            <a:ext cx="1083733" cy="50800"/>
          </a:xfrm>
          <a:custGeom>
            <a:avLst/>
            <a:gdLst/>
            <a:ahLst/>
            <a:cxnLst/>
            <a:rect l="l" t="t" r="r" b="b"/>
            <a:pathLst>
              <a:path w="1083733" h="50800">
                <a:moveTo>
                  <a:pt x="0" y="0"/>
                </a:moveTo>
                <a:lnTo>
                  <a:pt x="1083733" y="0"/>
                </a:lnTo>
                <a:lnTo>
                  <a:pt x="1083733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55600" y="1371600"/>
            <a:ext cx="5164667" cy="1778000"/>
          </a:xfrm>
          <a:custGeom>
            <a:avLst/>
            <a:gdLst/>
            <a:ahLst/>
            <a:cxnLst/>
            <a:rect l="l" t="t" r="r" b="b"/>
            <a:pathLst>
              <a:path w="5164667" h="1778000">
                <a:moveTo>
                  <a:pt x="0" y="0"/>
                </a:moveTo>
                <a:lnTo>
                  <a:pt x="5164667" y="0"/>
                </a:lnTo>
                <a:lnTo>
                  <a:pt x="5164667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5600" y="1371600"/>
            <a:ext cx="33867" cy="1778000"/>
          </a:xfrm>
          <a:custGeom>
            <a:avLst/>
            <a:gdLst/>
            <a:ahLst/>
            <a:cxnLst/>
            <a:rect l="l" t="t" r="r" b="b"/>
            <a:pathLst>
              <a:path w="33867" h="1778000">
                <a:moveTo>
                  <a:pt x="0" y="0"/>
                </a:moveTo>
                <a:lnTo>
                  <a:pt x="33867" y="0"/>
                </a:lnTo>
                <a:lnTo>
                  <a:pt x="33867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7" name="Shape 5"/>
          <p:cNvSpPr/>
          <p:nvPr/>
        </p:nvSpPr>
        <p:spPr>
          <a:xfrm>
            <a:off x="554567" y="1574695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25400"/>
                </a:moveTo>
                <a:cubicBezTo>
                  <a:pt x="156369" y="25400"/>
                  <a:pt x="190500" y="59531"/>
                  <a:pt x="190500" y="101600"/>
                </a:cubicBezTo>
                <a:cubicBezTo>
                  <a:pt x="190500" y="143669"/>
                  <a:pt x="156369" y="177800"/>
                  <a:pt x="114300" y="177800"/>
                </a:cubicBezTo>
                <a:cubicBezTo>
                  <a:pt x="88424" y="177800"/>
                  <a:pt x="65524" y="164902"/>
                  <a:pt x="51753" y="145137"/>
                </a:cubicBezTo>
                <a:cubicBezTo>
                  <a:pt x="47744" y="139383"/>
                  <a:pt x="39807" y="137993"/>
                  <a:pt x="34052" y="142002"/>
                </a:cubicBezTo>
                <a:cubicBezTo>
                  <a:pt x="28297" y="146010"/>
                  <a:pt x="26908" y="153948"/>
                  <a:pt x="30917" y="159703"/>
                </a:cubicBezTo>
                <a:cubicBezTo>
                  <a:pt x="49252" y="185976"/>
                  <a:pt x="79772" y="203200"/>
                  <a:pt x="114300" y="203200"/>
                </a:cubicBezTo>
                <a:cubicBezTo>
                  <a:pt x="170418" y="203200"/>
                  <a:pt x="215900" y="157718"/>
                  <a:pt x="215900" y="101600"/>
                </a:cubicBezTo>
                <a:cubicBezTo>
                  <a:pt x="215900" y="45482"/>
                  <a:pt x="170418" y="0"/>
                  <a:pt x="114300" y="0"/>
                </a:cubicBezTo>
                <a:cubicBezTo>
                  <a:pt x="80288" y="0"/>
                  <a:pt x="50205" y="16708"/>
                  <a:pt x="31750" y="42347"/>
                </a:cubicBezTo>
                <a:lnTo>
                  <a:pt x="31750" y="31750"/>
                </a:lnTo>
                <a:cubicBezTo>
                  <a:pt x="31750" y="24725"/>
                  <a:pt x="26075" y="19050"/>
                  <a:pt x="19050" y="19050"/>
                </a:cubicBezTo>
                <a:cubicBezTo>
                  <a:pt x="12025" y="19050"/>
                  <a:pt x="6350" y="24725"/>
                  <a:pt x="6350" y="31750"/>
                </a:cubicBezTo>
                <a:lnTo>
                  <a:pt x="6350" y="76200"/>
                </a:lnTo>
                <a:cubicBezTo>
                  <a:pt x="6350" y="83225"/>
                  <a:pt x="12025" y="88900"/>
                  <a:pt x="19050" y="88900"/>
                </a:cubicBezTo>
                <a:lnTo>
                  <a:pt x="28813" y="88900"/>
                </a:lnTo>
                <a:cubicBezTo>
                  <a:pt x="29012" y="88900"/>
                  <a:pt x="29210" y="88900"/>
                  <a:pt x="29408" y="88900"/>
                </a:cubicBezTo>
                <a:lnTo>
                  <a:pt x="63540" y="88900"/>
                </a:lnTo>
                <a:cubicBezTo>
                  <a:pt x="70564" y="88900"/>
                  <a:pt x="76240" y="83225"/>
                  <a:pt x="76240" y="76200"/>
                </a:cubicBezTo>
                <a:cubicBezTo>
                  <a:pt x="76240" y="69175"/>
                  <a:pt x="70564" y="63500"/>
                  <a:pt x="63540" y="63500"/>
                </a:cubicBezTo>
                <a:lnTo>
                  <a:pt x="48339" y="63500"/>
                </a:lnTo>
                <a:cubicBezTo>
                  <a:pt x="61476" y="40719"/>
                  <a:pt x="86122" y="25400"/>
                  <a:pt x="114300" y="25400"/>
                </a:cubicBezTo>
                <a:close/>
                <a:moveTo>
                  <a:pt x="123825" y="60325"/>
                </a:moveTo>
                <a:cubicBezTo>
                  <a:pt x="123825" y="55047"/>
                  <a:pt x="119578" y="50800"/>
                  <a:pt x="114300" y="50800"/>
                </a:cubicBezTo>
                <a:cubicBezTo>
                  <a:pt x="109022" y="50800"/>
                  <a:pt x="104775" y="55047"/>
                  <a:pt x="104775" y="60325"/>
                </a:cubicBezTo>
                <a:lnTo>
                  <a:pt x="104775" y="101600"/>
                </a:lnTo>
                <a:cubicBezTo>
                  <a:pt x="104775" y="104140"/>
                  <a:pt x="105767" y="106561"/>
                  <a:pt x="107553" y="108347"/>
                </a:cubicBezTo>
                <a:lnTo>
                  <a:pt x="136128" y="136922"/>
                </a:lnTo>
                <a:cubicBezTo>
                  <a:pt x="139859" y="140652"/>
                  <a:pt x="145891" y="140652"/>
                  <a:pt x="149582" y="136922"/>
                </a:cubicBezTo>
                <a:cubicBezTo>
                  <a:pt x="153273" y="133191"/>
                  <a:pt x="153313" y="127159"/>
                  <a:pt x="149582" y="123468"/>
                </a:cubicBezTo>
                <a:lnTo>
                  <a:pt x="123785" y="97671"/>
                </a:lnTo>
                <a:lnTo>
                  <a:pt x="123785" y="60325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8" name="Text 6"/>
          <p:cNvSpPr/>
          <p:nvPr/>
        </p:nvSpPr>
        <p:spPr>
          <a:xfrm>
            <a:off x="897467" y="1540933"/>
            <a:ext cx="9144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原有标准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867" y="1947228"/>
            <a:ext cx="4876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单一金额判断：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仅根据项目预估金额是否达到200万门槛值来确定是否发起立项，缺乏对客户战略重要性、竞争态势、</a:t>
            </a:r>
            <a:r>
              <a:rPr 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重要级</a:t>
            </a:r>
            <a:r>
              <a:rPr lang="en-US" sz="1067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复杂度等关键维度的综合评估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3033" y="27854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2743095"/>
            <a:ext cx="14478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易导致战略资源错配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5600" y="3284961"/>
            <a:ext cx="5164667" cy="1557867"/>
          </a:xfrm>
          <a:custGeom>
            <a:avLst/>
            <a:gdLst/>
            <a:ahLst/>
            <a:cxnLst/>
            <a:rect l="l" t="t" r="r" b="b"/>
            <a:pathLst>
              <a:path w="5164667" h="1557867">
                <a:moveTo>
                  <a:pt x="0" y="0"/>
                </a:moveTo>
                <a:lnTo>
                  <a:pt x="5164667" y="0"/>
                </a:lnTo>
                <a:lnTo>
                  <a:pt x="5164667" y="1557867"/>
                </a:lnTo>
                <a:lnTo>
                  <a:pt x="0" y="155786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5600" y="3284961"/>
            <a:ext cx="33867" cy="1557867"/>
          </a:xfrm>
          <a:custGeom>
            <a:avLst/>
            <a:gdLst/>
            <a:ahLst/>
            <a:cxnLst/>
            <a:rect l="l" t="t" r="r" b="b"/>
            <a:pathLst>
              <a:path w="33867" h="1557867">
                <a:moveTo>
                  <a:pt x="0" y="0"/>
                </a:moveTo>
                <a:lnTo>
                  <a:pt x="33867" y="0"/>
                </a:lnTo>
                <a:lnTo>
                  <a:pt x="33867" y="1557867"/>
                </a:lnTo>
                <a:lnTo>
                  <a:pt x="0" y="155786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Shape 12"/>
          <p:cNvSpPr/>
          <p:nvPr/>
        </p:nvSpPr>
        <p:spPr>
          <a:xfrm>
            <a:off x="567267" y="34880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897467" y="3454295"/>
            <a:ext cx="11176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变革驱动力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033" y="38944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860588"/>
            <a:ext cx="23706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提升管理精准性：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前置识别战略级项目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3033" y="41992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4165388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优化资源配置：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确保核心资源投入关键战场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033" y="4504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470189"/>
            <a:ext cx="27770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强化协同作战：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通过立项机制组建项目铁三角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40400" y="1371600"/>
            <a:ext cx="6112933" cy="5080000"/>
          </a:xfrm>
          <a:custGeom>
            <a:avLst/>
            <a:gdLst/>
            <a:ahLst/>
            <a:cxnLst/>
            <a:rect l="l" t="t" r="r" b="b"/>
            <a:pathLst>
              <a:path w="6112933" h="5080000">
                <a:moveTo>
                  <a:pt x="0" y="0"/>
                </a:moveTo>
                <a:lnTo>
                  <a:pt x="6112933" y="0"/>
                </a:lnTo>
                <a:lnTo>
                  <a:pt x="6112933" y="5080000"/>
                </a:lnTo>
                <a:lnTo>
                  <a:pt x="0" y="5080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706534" y="1371600"/>
            <a:ext cx="67733" cy="4707466"/>
          </a:xfrm>
          <a:custGeom>
            <a:avLst/>
            <a:gdLst/>
            <a:ahLst/>
            <a:cxnLst/>
            <a:rect l="l" t="t" r="r" b="b"/>
            <a:pathLst>
              <a:path w="33867" h="5080000">
                <a:moveTo>
                  <a:pt x="0" y="0"/>
                </a:moveTo>
                <a:lnTo>
                  <a:pt x="33867" y="0"/>
                </a:lnTo>
                <a:lnTo>
                  <a:pt x="33867" y="5080000"/>
                </a:lnTo>
                <a:lnTo>
                  <a:pt x="0" y="5080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Shape 22"/>
          <p:cNvSpPr/>
          <p:nvPr/>
        </p:nvSpPr>
        <p:spPr>
          <a:xfrm>
            <a:off x="5977467" y="1574695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6282267" y="1540933"/>
            <a:ext cx="15240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新标准核心变化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1095"/>
            <a:ext cx="5740400" cy="795867"/>
          </a:xfrm>
          <a:custGeom>
            <a:avLst/>
            <a:gdLst/>
            <a:ahLst/>
            <a:cxnLst/>
            <a:rect l="l" t="t" r="r" b="b"/>
            <a:pathLst>
              <a:path w="5740400" h="795867">
                <a:moveTo>
                  <a:pt x="33864" y="0"/>
                </a:moveTo>
                <a:lnTo>
                  <a:pt x="5706536" y="0"/>
                </a:lnTo>
                <a:cubicBezTo>
                  <a:pt x="5725239" y="0"/>
                  <a:pt x="5740400" y="15161"/>
                  <a:pt x="5740400" y="33864"/>
                </a:cubicBezTo>
                <a:lnTo>
                  <a:pt x="5740400" y="762003"/>
                </a:lnTo>
                <a:cubicBezTo>
                  <a:pt x="5740400" y="780705"/>
                  <a:pt x="5725239" y="795867"/>
                  <a:pt x="5706536" y="795867"/>
                </a:cubicBezTo>
                <a:lnTo>
                  <a:pt x="33864" y="795867"/>
                </a:lnTo>
                <a:cubicBezTo>
                  <a:pt x="15161" y="795867"/>
                  <a:pt x="0" y="780705"/>
                  <a:pt x="0" y="762003"/>
                </a:cubicBezTo>
                <a:lnTo>
                  <a:pt x="0" y="33864"/>
                </a:lnTo>
                <a:cubicBezTo>
                  <a:pt x="0" y="15161"/>
                  <a:pt x="15161" y="0"/>
                  <a:pt x="338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1981095"/>
            <a:ext cx="33867" cy="795867"/>
          </a:xfrm>
          <a:custGeom>
            <a:avLst/>
            <a:gdLst/>
            <a:ahLst/>
            <a:cxnLst/>
            <a:rect l="l" t="t" r="r" b="b"/>
            <a:pathLst>
              <a:path w="33867" h="795867">
                <a:moveTo>
                  <a:pt x="33867" y="0"/>
                </a:moveTo>
                <a:lnTo>
                  <a:pt x="33867" y="0"/>
                </a:lnTo>
                <a:lnTo>
                  <a:pt x="33867" y="795867"/>
                </a:lnTo>
                <a:lnTo>
                  <a:pt x="33867" y="795867"/>
                </a:lnTo>
                <a:cubicBezTo>
                  <a:pt x="15163" y="795867"/>
                  <a:pt x="0" y="780704"/>
                  <a:pt x="0" y="7620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0" y="2116561"/>
            <a:ext cx="5528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金额标准保留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0" y="2421361"/>
            <a:ext cx="55202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保留200万+/500万+/800万+的金额门槛作为基础判断维度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0" y="2912428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33863" y="0"/>
                </a:moveTo>
                <a:lnTo>
                  <a:pt x="5706537" y="0"/>
                </a:lnTo>
                <a:cubicBezTo>
                  <a:pt x="5725239" y="0"/>
                  <a:pt x="5740400" y="15161"/>
                  <a:pt x="5740400" y="33863"/>
                </a:cubicBezTo>
                <a:lnTo>
                  <a:pt x="5740400" y="982137"/>
                </a:lnTo>
                <a:cubicBezTo>
                  <a:pt x="5740400" y="1000839"/>
                  <a:pt x="5725239" y="1016000"/>
                  <a:pt x="5706537" y="1016000"/>
                </a:cubicBezTo>
                <a:lnTo>
                  <a:pt x="33863" y="1016000"/>
                </a:lnTo>
                <a:cubicBezTo>
                  <a:pt x="15161" y="1016000"/>
                  <a:pt x="0" y="1000839"/>
                  <a:pt x="0" y="982137"/>
                </a:cubicBezTo>
                <a:lnTo>
                  <a:pt x="0" y="33863"/>
                </a:lnTo>
                <a:cubicBezTo>
                  <a:pt x="0" y="15174"/>
                  <a:pt x="15174" y="0"/>
                  <a:pt x="338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0" y="2912428"/>
            <a:ext cx="33867" cy="1016000"/>
          </a:xfrm>
          <a:custGeom>
            <a:avLst/>
            <a:gdLst/>
            <a:ahLst/>
            <a:cxnLst/>
            <a:rect l="l" t="t" r="r" b="b"/>
            <a:pathLst>
              <a:path w="33867" h="1016000">
                <a:moveTo>
                  <a:pt x="33867" y="0"/>
                </a:moveTo>
                <a:lnTo>
                  <a:pt x="33867" y="0"/>
                </a:lnTo>
                <a:lnTo>
                  <a:pt x="33867" y="1016000"/>
                </a:lnTo>
                <a:lnTo>
                  <a:pt x="33867" y="1016000"/>
                </a:lnTo>
                <a:cubicBezTo>
                  <a:pt x="15163" y="1016000"/>
                  <a:pt x="0" y="1000837"/>
                  <a:pt x="0" y="9821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6096000" y="3047895"/>
            <a:ext cx="5528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负责人指定项目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0" y="3352695"/>
            <a:ext cx="55202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核心变革：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GTM负责人、重客负责人、系统总年初指定的重点项目清单，</a:t>
            </a:r>
            <a:r>
              <a:rPr lang="en-US" sz="1067" dirty="0">
                <a:solidFill>
                  <a:srgbClr val="E8E8E8"/>
                </a:solidFill>
                <a:highlight>
                  <a:srgbClr val="D4A373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无论金额大小均需立项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0" y="4063895"/>
            <a:ext cx="5740400" cy="795867"/>
          </a:xfrm>
          <a:custGeom>
            <a:avLst/>
            <a:gdLst/>
            <a:ahLst/>
            <a:cxnLst/>
            <a:rect l="l" t="t" r="r" b="b"/>
            <a:pathLst>
              <a:path w="5740400" h="795867">
                <a:moveTo>
                  <a:pt x="33864" y="0"/>
                </a:moveTo>
                <a:lnTo>
                  <a:pt x="5706536" y="0"/>
                </a:lnTo>
                <a:cubicBezTo>
                  <a:pt x="5725239" y="0"/>
                  <a:pt x="5740400" y="15161"/>
                  <a:pt x="5740400" y="33864"/>
                </a:cubicBezTo>
                <a:lnTo>
                  <a:pt x="5740400" y="762003"/>
                </a:lnTo>
                <a:cubicBezTo>
                  <a:pt x="5740400" y="780705"/>
                  <a:pt x="5725239" y="795867"/>
                  <a:pt x="5706536" y="795867"/>
                </a:cubicBezTo>
                <a:lnTo>
                  <a:pt x="33864" y="795867"/>
                </a:lnTo>
                <a:cubicBezTo>
                  <a:pt x="15161" y="795867"/>
                  <a:pt x="0" y="780705"/>
                  <a:pt x="0" y="762003"/>
                </a:cubicBezTo>
                <a:lnTo>
                  <a:pt x="0" y="33864"/>
                </a:lnTo>
                <a:cubicBezTo>
                  <a:pt x="0" y="15161"/>
                  <a:pt x="15161" y="0"/>
                  <a:pt x="338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4063895"/>
            <a:ext cx="33867" cy="795867"/>
          </a:xfrm>
          <a:custGeom>
            <a:avLst/>
            <a:gdLst/>
            <a:ahLst/>
            <a:cxnLst/>
            <a:rect l="l" t="t" r="r" b="b"/>
            <a:pathLst>
              <a:path w="33867" h="795867">
                <a:moveTo>
                  <a:pt x="33867" y="0"/>
                </a:moveTo>
                <a:lnTo>
                  <a:pt x="33867" y="0"/>
                </a:lnTo>
                <a:lnTo>
                  <a:pt x="33867" y="795867"/>
                </a:lnTo>
                <a:lnTo>
                  <a:pt x="33867" y="795867"/>
                </a:lnTo>
                <a:cubicBezTo>
                  <a:pt x="15163" y="795867"/>
                  <a:pt x="0" y="780704"/>
                  <a:pt x="0" y="7620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6096000" y="4199361"/>
            <a:ext cx="5528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客户维度强制立项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96000" y="4504161"/>
            <a:ext cx="55202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立项规则从默认所有金额</a:t>
            </a:r>
            <a:r>
              <a:rPr lang="en-US" sz="1067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必须立项</a:t>
            </a:r>
            <a:r>
              <a:rPr 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修订为大于</a:t>
            </a:r>
            <a:r>
              <a:rPr lang="en-US" altLang="zh-CN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80W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立项，</a:t>
            </a:r>
            <a:r>
              <a:rPr lang="en-US" sz="1067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资源投入有效性。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0" y="4995228"/>
            <a:ext cx="5740400" cy="795867"/>
          </a:xfrm>
          <a:custGeom>
            <a:avLst/>
            <a:gdLst/>
            <a:ahLst/>
            <a:cxnLst/>
            <a:rect l="l" t="t" r="r" b="b"/>
            <a:pathLst>
              <a:path w="5740400" h="795867">
                <a:moveTo>
                  <a:pt x="33864" y="0"/>
                </a:moveTo>
                <a:lnTo>
                  <a:pt x="5706536" y="0"/>
                </a:lnTo>
                <a:cubicBezTo>
                  <a:pt x="5725239" y="0"/>
                  <a:pt x="5740400" y="15161"/>
                  <a:pt x="5740400" y="33864"/>
                </a:cubicBezTo>
                <a:lnTo>
                  <a:pt x="5740400" y="762003"/>
                </a:lnTo>
                <a:cubicBezTo>
                  <a:pt x="5740400" y="780705"/>
                  <a:pt x="5725239" y="795867"/>
                  <a:pt x="5706536" y="795867"/>
                </a:cubicBezTo>
                <a:lnTo>
                  <a:pt x="33864" y="795867"/>
                </a:lnTo>
                <a:cubicBezTo>
                  <a:pt x="15161" y="795867"/>
                  <a:pt x="0" y="780705"/>
                  <a:pt x="0" y="762003"/>
                </a:cubicBezTo>
                <a:lnTo>
                  <a:pt x="0" y="33864"/>
                </a:lnTo>
                <a:cubicBezTo>
                  <a:pt x="0" y="15161"/>
                  <a:pt x="15161" y="0"/>
                  <a:pt x="338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43600" y="4995228"/>
            <a:ext cx="33867" cy="795867"/>
          </a:xfrm>
          <a:custGeom>
            <a:avLst/>
            <a:gdLst/>
            <a:ahLst/>
            <a:cxnLst/>
            <a:rect l="l" t="t" r="r" b="b"/>
            <a:pathLst>
              <a:path w="33867" h="795867">
                <a:moveTo>
                  <a:pt x="33867" y="0"/>
                </a:moveTo>
                <a:lnTo>
                  <a:pt x="33867" y="0"/>
                </a:lnTo>
                <a:lnTo>
                  <a:pt x="33867" y="795867"/>
                </a:lnTo>
                <a:lnTo>
                  <a:pt x="33867" y="795867"/>
                </a:lnTo>
                <a:cubicBezTo>
                  <a:pt x="15163" y="795867"/>
                  <a:pt x="0" y="780704"/>
                  <a:pt x="0" y="762000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Text 38"/>
          <p:cNvSpPr/>
          <p:nvPr/>
        </p:nvSpPr>
        <p:spPr>
          <a:xfrm>
            <a:off x="6096000" y="5130695"/>
            <a:ext cx="5528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特殊项目识别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96000" y="5580343"/>
            <a:ext cx="55202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可由系统部和平台管理部直接勾选的立项商机，比如：部门级</a:t>
            </a:r>
            <a:r>
              <a:rPr lang="en-US" altLang="zh-CN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系统部解决方案前三单、行业类大金额的框采，行业</a:t>
            </a:r>
            <a:r>
              <a:rPr lang="en-US" altLang="zh-CN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EC&amp;DC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类项目、区域直签项目等（需要</a:t>
            </a:r>
            <a:r>
              <a:rPr lang="en-US" altLang="zh-CN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</a:t>
            </a:r>
            <a:r>
              <a:rPr lang="zh-CN" altLang="en-US" sz="1067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在系统添加“特殊立项”勾选项）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96334" y="6197600"/>
            <a:ext cx="11497733" cy="508000"/>
          </a:xfrm>
          <a:custGeom>
            <a:avLst/>
            <a:gdLst/>
            <a:ahLst/>
            <a:cxnLst/>
            <a:rect l="l" t="t" r="r" b="b"/>
            <a:pathLst>
              <a:path w="11497733" h="508000">
                <a:moveTo>
                  <a:pt x="0" y="0"/>
                </a:moveTo>
                <a:lnTo>
                  <a:pt x="11497733" y="0"/>
                </a:lnTo>
                <a:lnTo>
                  <a:pt x="1149773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96334" y="6197600"/>
            <a:ext cx="33867" cy="508000"/>
          </a:xfrm>
          <a:custGeom>
            <a:avLst/>
            <a:gdLst/>
            <a:ahLst/>
            <a:cxnLst/>
            <a:rect l="l" t="t" r="r" b="b"/>
            <a:pathLst>
              <a:path w="33867" h="508000">
                <a:moveTo>
                  <a:pt x="0" y="0"/>
                </a:moveTo>
                <a:lnTo>
                  <a:pt x="33867" y="0"/>
                </a:lnTo>
                <a:lnTo>
                  <a:pt x="33867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Shape 42"/>
          <p:cNvSpPr/>
          <p:nvPr/>
        </p:nvSpPr>
        <p:spPr>
          <a:xfrm>
            <a:off x="469901" y="63669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711201" y="6333067"/>
            <a:ext cx="110236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通过多维度立项标准，实现</a:t>
            </a: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从"被动立项"到"主动识别"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的转变，确保战略项目100%纳入全生命周期管理体系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&amp; CLASSIFICATION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512570"/>
            <a:ext cx="2729865" cy="3739515"/>
          </a:xfrm>
          <a:custGeom>
            <a:avLst/>
            <a:gdLst/>
            <a:ahLst/>
            <a:cxnLst/>
            <a:rect l="l" t="t" r="r" b="b"/>
            <a:pathLst>
              <a:path w="2729865" h="3739515">
                <a:moveTo>
                  <a:pt x="0" y="0"/>
                </a:moveTo>
                <a:lnTo>
                  <a:pt x="2729865" y="0"/>
                </a:lnTo>
                <a:lnTo>
                  <a:pt x="2729865" y="3739515"/>
                </a:lnTo>
                <a:lnTo>
                  <a:pt x="0" y="3739515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4902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72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501015" y="1672591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29741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BG级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6789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重客200w+, 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非重客漏斗内预估下单金额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800w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08487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负责人、重客负责人、系统总年初指定的立项项目（</a:t>
            </a:r>
            <a:r>
              <a:rPr lang="en-US" altLang="zh-CN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级）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94346"/>
            <a:ext cx="248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总、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售前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客户体验部总经理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</a:t>
            </a:r>
            <a:r>
              <a:rPr lang="en-US" altLang="zh-CN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7690" y="373684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1"/>
          <p:cNvSpPr/>
          <p:nvPr/>
        </p:nvSpPr>
        <p:spPr>
          <a:xfrm>
            <a:off x="720090" y="3691121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4220" y="1512570"/>
            <a:ext cx="2729865" cy="3739515"/>
          </a:xfrm>
          <a:custGeom>
            <a:avLst/>
            <a:gdLst/>
            <a:ahLst/>
            <a:cxnLst/>
            <a:rect l="l" t="t" r="r" b="b"/>
            <a:pathLst>
              <a:path w="2729865" h="3739515">
                <a:moveTo>
                  <a:pt x="0" y="0"/>
                </a:moveTo>
                <a:lnTo>
                  <a:pt x="2729865" y="0"/>
                </a:lnTo>
                <a:lnTo>
                  <a:pt x="2729865" y="3739515"/>
                </a:lnTo>
                <a:lnTo>
                  <a:pt x="0" y="373951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20320">
            <a:solidFill>
              <a:srgbClr val="4A5C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4240" y="1672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Text 14"/>
          <p:cNvSpPr/>
          <p:nvPr/>
        </p:nvSpPr>
        <p:spPr>
          <a:xfrm>
            <a:off x="3396615" y="1672591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01440" y="1729741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BU级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44240" y="216789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重客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80-200W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，非重客漏斗内预估下单金额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500w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44240" y="261754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负责人、重客负责人、系统总年初指定的立项项目（</a:t>
            </a:r>
            <a:r>
              <a:rPr lang="en-US" altLang="zh-CN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级）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44240" y="3021927"/>
            <a:ext cx="248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行业营销拓展负责人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、区域铁三角，项目铁三角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63290" y="36915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2" name="Text 20"/>
          <p:cNvSpPr/>
          <p:nvPr/>
        </p:nvSpPr>
        <p:spPr>
          <a:xfrm>
            <a:off x="3615690" y="3654911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9820" y="1512570"/>
            <a:ext cx="2729865" cy="3739515"/>
          </a:xfrm>
          <a:custGeom>
            <a:avLst/>
            <a:gdLst/>
            <a:ahLst/>
            <a:cxnLst/>
            <a:rect l="l" t="t" r="r" b="b"/>
            <a:pathLst>
              <a:path w="2729865" h="3739515">
                <a:moveTo>
                  <a:pt x="0" y="0"/>
                </a:moveTo>
                <a:lnTo>
                  <a:pt x="2729865" y="0"/>
                </a:lnTo>
                <a:lnTo>
                  <a:pt x="2729865" y="3739515"/>
                </a:lnTo>
                <a:lnTo>
                  <a:pt x="0" y="3739515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4902"/>
            </a:srgbClr>
          </a:solidFill>
          <a:ln w="20320">
            <a:solidFill>
              <a:srgbClr val="888B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9840" y="1672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25" name="Text 23"/>
          <p:cNvSpPr/>
          <p:nvPr/>
        </p:nvSpPr>
        <p:spPr>
          <a:xfrm>
            <a:off x="6292215" y="1672591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7040" y="1729741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区域级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9840" y="216789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漏斗内预估下单金额</a:t>
            </a:r>
            <a:r>
              <a:rPr 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9840" y="252701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直签类项目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9840" y="2904237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区域铁三角、行业经理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8890" y="331812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290" y="3263356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75420" y="1512570"/>
            <a:ext cx="2729865" cy="3739515"/>
          </a:xfrm>
          <a:custGeom>
            <a:avLst/>
            <a:gdLst/>
            <a:ahLst/>
            <a:cxnLst/>
            <a:rect l="l" t="t" r="r" b="b"/>
            <a:pathLst>
              <a:path w="2729865" h="3739515">
                <a:moveTo>
                  <a:pt x="0" y="0"/>
                </a:moveTo>
                <a:lnTo>
                  <a:pt x="2729865" y="0"/>
                </a:lnTo>
                <a:lnTo>
                  <a:pt x="2729865" y="3739515"/>
                </a:lnTo>
                <a:lnTo>
                  <a:pt x="0" y="373951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 w="2032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0" y="1672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A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187815" y="1672591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92640" y="172974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一般项目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35440" y="216789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未达立项标准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35440" y="2590382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满足立项条件但是决策不立项项目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35440" y="3248268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销售经理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54490" y="35987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40" name="Text 38"/>
          <p:cNvSpPr/>
          <p:nvPr/>
        </p:nvSpPr>
        <p:spPr>
          <a:xfrm>
            <a:off x="9406890" y="3553068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仅标前评审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448300"/>
            <a:ext cx="2724150" cy="1028700"/>
          </a:xfrm>
          <a:custGeom>
            <a:avLst/>
            <a:gdLst/>
            <a:ahLst/>
            <a:cxnLst/>
            <a:rect l="l" t="t" r="r" b="b"/>
            <a:pathLst>
              <a:path w="2724150" h="1028700">
                <a:moveTo>
                  <a:pt x="0" y="0"/>
                </a:moveTo>
                <a:lnTo>
                  <a:pt x="2724150" y="0"/>
                </a:lnTo>
                <a:lnTo>
                  <a:pt x="27241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Shape 41"/>
          <p:cNvSpPr/>
          <p:nvPr/>
        </p:nvSpPr>
        <p:spPr>
          <a:xfrm>
            <a:off x="535781" y="56007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2"/>
          <p:cNvSpPr/>
          <p:nvPr/>
        </p:nvSpPr>
        <p:spPr>
          <a:xfrm>
            <a:off x="809625" y="5562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3400" y="5905500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重点项目</a:t>
            </a:r>
            <a:r>
              <a:rPr lang="en-US" sz="12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必须立项</a:t>
            </a:r>
            <a:r>
              <a:rPr lang="en-US" sz="1200" dirty="0" err="1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，确保战略客户全流程管理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95650" y="5448300"/>
            <a:ext cx="2724150" cy="1028700"/>
          </a:xfrm>
          <a:custGeom>
            <a:avLst/>
            <a:gdLst/>
            <a:ahLst/>
            <a:cxnLst/>
            <a:rect l="l" t="t" r="r" b="b"/>
            <a:pathLst>
              <a:path w="2724150" h="1028700">
                <a:moveTo>
                  <a:pt x="0" y="0"/>
                </a:moveTo>
                <a:lnTo>
                  <a:pt x="2724150" y="0"/>
                </a:lnTo>
                <a:lnTo>
                  <a:pt x="27241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2956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8" name="Shape 46"/>
          <p:cNvSpPr/>
          <p:nvPr/>
        </p:nvSpPr>
        <p:spPr>
          <a:xfrm>
            <a:off x="3452813" y="5600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9" name="Text 47"/>
          <p:cNvSpPr/>
          <p:nvPr/>
        </p:nvSpPr>
        <p:spPr>
          <a:xfrm>
            <a:off x="3705225" y="5562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竞争程度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429000" y="5905500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小项目不立项，避免资源浪费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50" y="5448300"/>
            <a:ext cx="2724150" cy="1028700"/>
          </a:xfrm>
          <a:custGeom>
            <a:avLst/>
            <a:gdLst/>
            <a:ahLst/>
            <a:cxnLst/>
            <a:rect l="l" t="t" r="r" b="b"/>
            <a:pathLst>
              <a:path w="2724150" h="1028700">
                <a:moveTo>
                  <a:pt x="0" y="0"/>
                </a:moveTo>
                <a:lnTo>
                  <a:pt x="2724150" y="0"/>
                </a:lnTo>
                <a:lnTo>
                  <a:pt x="27241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912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0559" y="5600700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45541" y="8037"/>
                </a:moveTo>
                <a:cubicBezTo>
                  <a:pt x="45541" y="3583"/>
                  <a:pt x="49124" y="0"/>
                  <a:pt x="53578" y="0"/>
                </a:cubicBezTo>
                <a:cubicBezTo>
                  <a:pt x="58032" y="0"/>
                  <a:pt x="61615" y="3583"/>
                  <a:pt x="61615" y="8037"/>
                </a:cubicBezTo>
                <a:lnTo>
                  <a:pt x="61615" y="21431"/>
                </a:lnTo>
                <a:lnTo>
                  <a:pt x="80367" y="21431"/>
                </a:lnTo>
                <a:cubicBezTo>
                  <a:pt x="86294" y="21431"/>
                  <a:pt x="91083" y="26220"/>
                  <a:pt x="91083" y="32147"/>
                </a:cubicBezTo>
                <a:cubicBezTo>
                  <a:pt x="91083" y="38074"/>
                  <a:pt x="86294" y="42863"/>
                  <a:pt x="80367" y="42863"/>
                </a:cubicBezTo>
                <a:lnTo>
                  <a:pt x="41891" y="42863"/>
                </a:lnTo>
                <a:cubicBezTo>
                  <a:pt x="33553" y="42863"/>
                  <a:pt x="26789" y="49627"/>
                  <a:pt x="26789" y="57965"/>
                </a:cubicBezTo>
                <a:cubicBezTo>
                  <a:pt x="26789" y="65499"/>
                  <a:pt x="32314" y="71862"/>
                  <a:pt x="39748" y="72933"/>
                </a:cubicBezTo>
                <a:lnTo>
                  <a:pt x="70422" y="77320"/>
                </a:lnTo>
                <a:cubicBezTo>
                  <a:pt x="88437" y="79898"/>
                  <a:pt x="101798" y="95302"/>
                  <a:pt x="101798" y="113485"/>
                </a:cubicBezTo>
                <a:cubicBezTo>
                  <a:pt x="101798" y="133677"/>
                  <a:pt x="85424" y="150019"/>
                  <a:pt x="65265" y="150019"/>
                </a:cubicBezTo>
                <a:lnTo>
                  <a:pt x="61615" y="150019"/>
                </a:lnTo>
                <a:lnTo>
                  <a:pt x="61615" y="163413"/>
                </a:lnTo>
                <a:cubicBezTo>
                  <a:pt x="61615" y="167867"/>
                  <a:pt x="58032" y="171450"/>
                  <a:pt x="53578" y="171450"/>
                </a:cubicBezTo>
                <a:cubicBezTo>
                  <a:pt x="49124" y="171450"/>
                  <a:pt x="45541" y="167867"/>
                  <a:pt x="45541" y="163413"/>
                </a:cubicBezTo>
                <a:lnTo>
                  <a:pt x="45541" y="150019"/>
                </a:lnTo>
                <a:lnTo>
                  <a:pt x="21431" y="150019"/>
                </a:lnTo>
                <a:cubicBezTo>
                  <a:pt x="15504" y="150019"/>
                  <a:pt x="10716" y="145230"/>
                  <a:pt x="10716" y="139303"/>
                </a:cubicBezTo>
                <a:cubicBezTo>
                  <a:pt x="10716" y="133376"/>
                  <a:pt x="15504" y="128588"/>
                  <a:pt x="21431" y="128588"/>
                </a:cubicBezTo>
                <a:lnTo>
                  <a:pt x="65265" y="128588"/>
                </a:lnTo>
                <a:cubicBezTo>
                  <a:pt x="73603" y="128588"/>
                  <a:pt x="80367" y="121823"/>
                  <a:pt x="80367" y="113485"/>
                </a:cubicBezTo>
                <a:cubicBezTo>
                  <a:pt x="80367" y="105951"/>
                  <a:pt x="74842" y="99588"/>
                  <a:pt x="67408" y="98517"/>
                </a:cubicBezTo>
                <a:lnTo>
                  <a:pt x="36735" y="94130"/>
                </a:lnTo>
                <a:cubicBezTo>
                  <a:pt x="18719" y="91585"/>
                  <a:pt x="5358" y="76148"/>
                  <a:pt x="5358" y="57965"/>
                </a:cubicBezTo>
                <a:cubicBezTo>
                  <a:pt x="5358" y="37806"/>
                  <a:pt x="21733" y="21431"/>
                  <a:pt x="41891" y="21431"/>
                </a:cubicBezTo>
                <a:lnTo>
                  <a:pt x="45541" y="21431"/>
                </a:lnTo>
                <a:lnTo>
                  <a:pt x="45541" y="8037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54" name="Text 52"/>
          <p:cNvSpPr/>
          <p:nvPr/>
        </p:nvSpPr>
        <p:spPr>
          <a:xfrm>
            <a:off x="6600825" y="5562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24600" y="5905500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重客：</a:t>
            </a:r>
            <a:r>
              <a:rPr lang="en-US" altLang="zh-CN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80W+/200W+/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非重客：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</a:t>
            </a: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+/500w+/800w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级触发标准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86850" y="5448300"/>
            <a:ext cx="2724150" cy="1028700"/>
          </a:xfrm>
          <a:custGeom>
            <a:avLst/>
            <a:gdLst/>
            <a:ahLst/>
            <a:cxnLst/>
            <a:rect l="l" t="t" r="r" b="b"/>
            <a:pathLst>
              <a:path w="2724150" h="1028700">
                <a:moveTo>
                  <a:pt x="0" y="0"/>
                </a:moveTo>
                <a:lnTo>
                  <a:pt x="2724150" y="0"/>
                </a:lnTo>
                <a:lnTo>
                  <a:pt x="27241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868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8" name="Shape 56"/>
          <p:cNvSpPr/>
          <p:nvPr/>
        </p:nvSpPr>
        <p:spPr>
          <a:xfrm>
            <a:off x="9233297" y="56007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9" name="Text 57"/>
          <p:cNvSpPr/>
          <p:nvPr/>
        </p:nvSpPr>
        <p:spPr>
          <a:xfrm>
            <a:off x="9496425" y="5562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特殊立项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20200" y="5905500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系统部</a:t>
            </a:r>
            <a:r>
              <a:rPr lang="en-US" sz="1200" b="1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sz="12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平台管理部</a:t>
            </a:r>
            <a:r>
              <a:rPr lang="en-US" sz="12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直接勾选的</a:t>
            </a:r>
            <a:r>
              <a:rPr lang="zh-CN" altLang="en-US" sz="12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MO商机管理流程概览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pic>
        <p:nvPicPr>
          <p:cNvPr id="5" name="Image 0" descr="https://kimi-img.moonshot.cn/pub/slides/26-01-19-15:43:38-d5mu1akqdqem5p84e300.png"/>
          <p:cNvPicPr>
            <a:picLocks noChangeAspect="1"/>
          </p:cNvPicPr>
          <p:nvPr/>
        </p:nvPicPr>
        <p:blipFill>
          <a:blip r:embed="rId3"/>
          <a:srcRect l="48" r="48"/>
          <a:stretch/>
        </p:blipFill>
        <p:spPr>
          <a:xfrm>
            <a:off x="381000" y="1466850"/>
            <a:ext cx="11430000" cy="39433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400050" y="5600700"/>
            <a:ext cx="2724150" cy="876300"/>
          </a:xfrm>
          <a:custGeom>
            <a:avLst/>
            <a:gdLst/>
            <a:ahLst/>
            <a:cxnLst/>
            <a:rect l="l" t="t" r="r" b="b"/>
            <a:pathLst>
              <a:path w="2724150" h="876300">
                <a:moveTo>
                  <a:pt x="0" y="0"/>
                </a:moveTo>
                <a:lnTo>
                  <a:pt x="2724150" y="0"/>
                </a:lnTo>
                <a:lnTo>
                  <a:pt x="27241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00050" y="560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533400" y="57531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立项启动率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18398" y="5715000"/>
            <a:ext cx="733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61341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7天内完成立项决策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5650" y="5600700"/>
            <a:ext cx="2724150" cy="876300"/>
          </a:xfrm>
          <a:custGeom>
            <a:avLst/>
            <a:gdLst/>
            <a:ahLst/>
            <a:cxnLst/>
            <a:rect l="l" t="t" r="r" b="b"/>
            <a:pathLst>
              <a:path w="2724150" h="876300">
                <a:moveTo>
                  <a:pt x="0" y="0"/>
                </a:moveTo>
                <a:lnTo>
                  <a:pt x="2724150" y="0"/>
                </a:lnTo>
                <a:lnTo>
                  <a:pt x="27241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95650" y="560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57531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解决方案评审率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00531" y="5715000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29000" y="61341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所有立项项目必须执行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1250" y="5600700"/>
            <a:ext cx="2724150" cy="876300"/>
          </a:xfrm>
          <a:custGeom>
            <a:avLst/>
            <a:gdLst/>
            <a:ahLst/>
            <a:cxnLst/>
            <a:rect l="l" t="t" r="r" b="b"/>
            <a:pathLst>
              <a:path w="2724150" h="876300">
                <a:moveTo>
                  <a:pt x="0" y="0"/>
                </a:moveTo>
                <a:lnTo>
                  <a:pt x="2724150" y="0"/>
                </a:lnTo>
                <a:lnTo>
                  <a:pt x="27241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191250" y="560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18" name="Text 15"/>
          <p:cNvSpPr/>
          <p:nvPr/>
        </p:nvSpPr>
        <p:spPr>
          <a:xfrm>
            <a:off x="6324600" y="57531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标前评审执行率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09598" y="5715000"/>
            <a:ext cx="733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24600" y="61341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3天内组织标前评审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086850" y="5600700"/>
            <a:ext cx="2724150" cy="876300"/>
          </a:xfrm>
          <a:custGeom>
            <a:avLst/>
            <a:gdLst/>
            <a:ahLst/>
            <a:cxnLst/>
            <a:rect l="l" t="t" r="r" b="b"/>
            <a:pathLst>
              <a:path w="2724150" h="876300">
                <a:moveTo>
                  <a:pt x="0" y="0"/>
                </a:moveTo>
                <a:lnTo>
                  <a:pt x="2724150" y="0"/>
                </a:lnTo>
                <a:lnTo>
                  <a:pt x="27241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086850" y="560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0"/>
          <p:cNvSpPr/>
          <p:nvPr/>
        </p:nvSpPr>
        <p:spPr>
          <a:xfrm>
            <a:off x="9220200" y="575310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丢/赢单复盘率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91731" y="5715000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20200" y="61341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2周内完成经验总结</a:t>
            </a:r>
            <a:endParaRPr lang="en-US" sz="16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709985" y="2878937"/>
            <a:ext cx="1353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chemeClr val="bg1"/>
                </a:solidFill>
              </a:rPr>
              <a:t>获取标书</a:t>
            </a:r>
            <a:r>
              <a:rPr lang="en-US" altLang="zh-CN" sz="1400" b="1" dirty="0" smtClean="0">
                <a:solidFill>
                  <a:schemeClr val="bg1"/>
                </a:solidFill>
              </a:rPr>
              <a:t>3</a:t>
            </a:r>
            <a:r>
              <a:rPr lang="zh-CN" altLang="en-US" sz="1400" b="1" dirty="0" smtClean="0">
                <a:solidFill>
                  <a:schemeClr val="bg1"/>
                </a:solidFill>
              </a:rPr>
              <a:t>天内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877300" y="350211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chemeClr val="bg1"/>
                </a:solidFill>
              </a:rPr>
              <a:t>商机关闭两周内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84177" y="508785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chemeClr val="bg1"/>
                </a:solidFill>
              </a:rPr>
              <a:t>执行目标：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NODES &amp; RESPONSIBILITIES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关键节点执行要求与责任人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619750" cy="1914525"/>
          </a:xfrm>
          <a:custGeom>
            <a:avLst/>
            <a:gdLst/>
            <a:ahLst/>
            <a:cxnLst/>
            <a:rect l="l" t="t" r="r" b="b"/>
            <a:pathLst>
              <a:path w="5619750" h="1914525">
                <a:moveTo>
                  <a:pt x="0" y="0"/>
                </a:moveTo>
                <a:lnTo>
                  <a:pt x="5619750" y="0"/>
                </a:lnTo>
                <a:lnTo>
                  <a:pt x="561975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04950"/>
            <a:ext cx="38100" cy="1914525"/>
          </a:xfrm>
          <a:custGeom>
            <a:avLst/>
            <a:gdLst/>
            <a:ahLst/>
            <a:cxnLst/>
            <a:rect l="l" t="t" r="r" b="b"/>
            <a:pathLst>
              <a:path w="38100" h="1914525">
                <a:moveTo>
                  <a:pt x="0" y="0"/>
                </a:moveTo>
                <a:lnTo>
                  <a:pt x="38100" y="0"/>
                </a:lnTo>
                <a:lnTo>
                  <a:pt x="3810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" y="16573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573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立项评审决策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92405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责任人：销售经理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2288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进入漏斗7天内发起立项评审决策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5336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决策是否立项及确定项目组成员，每周销售例会呈现立项项目池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8384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运转机制：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销管BP通过周例会看板追踪，区域经理督促执行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1504950"/>
            <a:ext cx="5619750" cy="1914525"/>
          </a:xfrm>
          <a:custGeom>
            <a:avLst/>
            <a:gdLst/>
            <a:ahLst/>
            <a:cxnLst/>
            <a:rect l="l" t="t" r="r" b="b"/>
            <a:pathLst>
              <a:path w="5619750" h="1914525">
                <a:moveTo>
                  <a:pt x="0" y="0"/>
                </a:moveTo>
                <a:lnTo>
                  <a:pt x="5619750" y="0"/>
                </a:lnTo>
                <a:lnTo>
                  <a:pt x="561975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91250" y="1504950"/>
            <a:ext cx="38100" cy="1914525"/>
          </a:xfrm>
          <a:custGeom>
            <a:avLst/>
            <a:gdLst/>
            <a:ahLst/>
            <a:cxnLst/>
            <a:rect l="l" t="t" r="r" b="b"/>
            <a:pathLst>
              <a:path w="38100" h="1914525">
                <a:moveTo>
                  <a:pt x="0" y="0"/>
                </a:moveTo>
                <a:lnTo>
                  <a:pt x="38100" y="0"/>
                </a:lnTo>
                <a:lnTo>
                  <a:pt x="3810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27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15075" y="16573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0" y="16573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19240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责任人：项目经理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2700" y="22288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立项评审通过7天内召开第一次项目分析会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2700" y="25336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明确项目组成员及分工，组建项目飞书群，应用至QBC季度考核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2700" y="28384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考核机制：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每个未执行周关键任务次数扣减0.5分QBC分值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571875"/>
            <a:ext cx="5619750" cy="1914525"/>
          </a:xfrm>
          <a:custGeom>
            <a:avLst/>
            <a:gdLst/>
            <a:ahLst/>
            <a:cxnLst/>
            <a:rect l="l" t="t" r="r" b="b"/>
            <a:pathLst>
              <a:path w="5619750" h="1914525">
                <a:moveTo>
                  <a:pt x="0" y="0"/>
                </a:moveTo>
                <a:lnTo>
                  <a:pt x="5619750" y="0"/>
                </a:lnTo>
                <a:lnTo>
                  <a:pt x="561975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3571875"/>
            <a:ext cx="38100" cy="1914525"/>
          </a:xfrm>
          <a:custGeom>
            <a:avLst/>
            <a:gdLst/>
            <a:ahLst/>
            <a:cxnLst/>
            <a:rect l="l" t="t" r="r" b="b"/>
            <a:pathLst>
              <a:path w="38100" h="1914525">
                <a:moveTo>
                  <a:pt x="0" y="0"/>
                </a:moveTo>
                <a:lnTo>
                  <a:pt x="38100" y="0"/>
                </a:lnTo>
                <a:lnTo>
                  <a:pt x="3810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3724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6" name="Text 24"/>
          <p:cNvSpPr/>
          <p:nvPr/>
        </p:nvSpPr>
        <p:spPr>
          <a:xfrm>
            <a:off x="523875" y="37242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72427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99097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责任人：技术负责人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2957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执行时机：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明确客户需求后及时制定解决方案并发起评审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46005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及时刷新方案保证有效性，夯实在客户端构建方案价值认可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9053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目标要求：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立项项目解决方案评审率100%，标前评审会前必须完成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3571875"/>
            <a:ext cx="5619750" cy="1914525"/>
          </a:xfrm>
          <a:custGeom>
            <a:avLst/>
            <a:gdLst/>
            <a:ahLst/>
            <a:cxnLst/>
            <a:rect l="l" t="t" r="r" b="b"/>
            <a:pathLst>
              <a:path w="5619750" h="1914525">
                <a:moveTo>
                  <a:pt x="0" y="0"/>
                </a:moveTo>
                <a:lnTo>
                  <a:pt x="5619750" y="0"/>
                </a:lnTo>
                <a:lnTo>
                  <a:pt x="561975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91250" y="3571875"/>
            <a:ext cx="38100" cy="1914525"/>
          </a:xfrm>
          <a:custGeom>
            <a:avLst/>
            <a:gdLst/>
            <a:ahLst/>
            <a:cxnLst/>
            <a:rect l="l" t="t" r="r" b="b"/>
            <a:pathLst>
              <a:path w="38100" h="1914525">
                <a:moveTo>
                  <a:pt x="0" y="0"/>
                </a:moveTo>
                <a:lnTo>
                  <a:pt x="38100" y="0"/>
                </a:lnTo>
                <a:lnTo>
                  <a:pt x="3810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2700" y="3724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5" name="Text 33"/>
          <p:cNvSpPr/>
          <p:nvPr/>
        </p:nvSpPr>
        <p:spPr>
          <a:xfrm>
            <a:off x="6315075" y="37242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37242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标前评审会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34200" y="3990975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责任人：客户关系负责人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2700" y="42957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获取正式标书3天内组织开展标前评审会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2700" y="46005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技术负责人给出技术方案审核、价格策略、投标策略建议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62700" y="4905375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监控机制：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销管BP提前30天提醒跟踪，周例会呈现30日内开标项目清单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6388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0" y="0"/>
                </a:moveTo>
                <a:lnTo>
                  <a:pt x="11410950" y="0"/>
                </a:lnTo>
                <a:lnTo>
                  <a:pt x="114109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638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Shape 41"/>
          <p:cNvSpPr/>
          <p:nvPr/>
        </p:nvSpPr>
        <p:spPr>
          <a:xfrm>
            <a:off x="600075" y="594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2"/>
          <p:cNvSpPr/>
          <p:nvPr/>
        </p:nvSpPr>
        <p:spPr>
          <a:xfrm>
            <a:off x="1009650" y="5791200"/>
            <a:ext cx="10734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赢/丢单复盘会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9650" y="6096000"/>
            <a:ext cx="1072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 | </a:t>
            </a: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关闭活动商机2周内开展复盘 | </a:t>
            </a: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丢/赢单复盘率100%，经验总结闭环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113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GTM、重客、系统部项目清单提报要求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4313248" cy="45719"/>
          </a:xfrm>
          <a:custGeom>
            <a:avLst/>
            <a:gdLst/>
            <a:ahLst/>
            <a:cxnLst/>
            <a:rect l="l" t="t" r="r" b="b"/>
            <a:pathLst>
              <a:path w="1016000" h="47625">
                <a:moveTo>
                  <a:pt x="0" y="0"/>
                </a:moveTo>
                <a:lnTo>
                  <a:pt x="1016000" y="0"/>
                </a:lnTo>
                <a:lnTo>
                  <a:pt x="1016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23850" y="1260475"/>
            <a:ext cx="4029075" cy="3068638"/>
          </a:xfrm>
          <a:custGeom>
            <a:avLst/>
            <a:gdLst/>
            <a:ahLst/>
            <a:cxnLst/>
            <a:rect l="l" t="t" r="r" b="b"/>
            <a:pathLst>
              <a:path w="4029075" h="3068638">
                <a:moveTo>
                  <a:pt x="0" y="0"/>
                </a:moveTo>
                <a:lnTo>
                  <a:pt x="4029075" y="0"/>
                </a:lnTo>
                <a:lnTo>
                  <a:pt x="4029075" y="3068638"/>
                </a:lnTo>
                <a:lnTo>
                  <a:pt x="0" y="3068638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763" y="1457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822325" y="1425576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950" y="1806475"/>
            <a:ext cx="3698875" cy="873125"/>
          </a:xfrm>
          <a:custGeom>
            <a:avLst/>
            <a:gdLst/>
            <a:ahLst/>
            <a:cxnLst/>
            <a:rect l="l" t="t" r="r" b="b"/>
            <a:pathLst>
              <a:path w="3698875" h="873125">
                <a:moveTo>
                  <a:pt x="31747" y="0"/>
                </a:moveTo>
                <a:lnTo>
                  <a:pt x="3667128" y="0"/>
                </a:lnTo>
                <a:cubicBezTo>
                  <a:pt x="3684661" y="0"/>
                  <a:pt x="3698875" y="14214"/>
                  <a:pt x="3698875" y="31747"/>
                </a:cubicBezTo>
                <a:lnTo>
                  <a:pt x="3698875" y="841378"/>
                </a:lnTo>
                <a:cubicBezTo>
                  <a:pt x="3698875" y="858911"/>
                  <a:pt x="3684661" y="873125"/>
                  <a:pt x="3667128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5950" y="1933475"/>
            <a:ext cx="3508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年初指定立项项目范围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GTM负责人、重客负责人、系统总需在年初明确指定本年度重点关注项目清单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8950" y="2774850"/>
            <a:ext cx="3698875" cy="873125"/>
          </a:xfrm>
          <a:custGeom>
            <a:avLst/>
            <a:gdLst/>
            <a:ahLst/>
            <a:cxnLst/>
            <a:rect l="l" t="t" r="r" b="b"/>
            <a:pathLst>
              <a:path w="3698875" h="873125">
                <a:moveTo>
                  <a:pt x="31747" y="0"/>
                </a:moveTo>
                <a:lnTo>
                  <a:pt x="3667128" y="0"/>
                </a:lnTo>
                <a:cubicBezTo>
                  <a:pt x="3684661" y="0"/>
                  <a:pt x="3698875" y="14214"/>
                  <a:pt x="3698875" y="31747"/>
                </a:cubicBezTo>
                <a:lnTo>
                  <a:pt x="3698875" y="841378"/>
                </a:lnTo>
                <a:cubicBezTo>
                  <a:pt x="3698875" y="858911"/>
                  <a:pt x="3684661" y="873125"/>
                  <a:pt x="3667128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5950" y="2901850"/>
            <a:ext cx="3508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CRM中批量立项并跟踪推进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MO流程项目组协调IT统一在系统中批量立项，各负责人全生命周期管理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375" y="4495900"/>
            <a:ext cx="4032250" cy="1977328"/>
          </a:xfrm>
          <a:custGeom>
            <a:avLst/>
            <a:gdLst/>
            <a:ahLst/>
            <a:cxnLst/>
            <a:rect l="l" t="t" r="r" b="b"/>
            <a:pathLst>
              <a:path w="4032250" h="3079750">
                <a:moveTo>
                  <a:pt x="0" y="0"/>
                </a:moveTo>
                <a:lnTo>
                  <a:pt x="4032250" y="0"/>
                </a:lnTo>
                <a:lnTo>
                  <a:pt x="4032250" y="3079750"/>
                </a:lnTo>
                <a:lnTo>
                  <a:pt x="0" y="30797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3374" y="4495899"/>
            <a:ext cx="45719" cy="4434743"/>
          </a:xfrm>
          <a:custGeom>
            <a:avLst/>
            <a:gdLst/>
            <a:ahLst/>
            <a:cxnLst/>
            <a:rect l="l" t="t" r="r" b="b"/>
            <a:pathLst>
              <a:path w="31750" h="3079750">
                <a:moveTo>
                  <a:pt x="0" y="0"/>
                </a:moveTo>
                <a:lnTo>
                  <a:pt x="31750" y="0"/>
                </a:lnTo>
                <a:lnTo>
                  <a:pt x="31750" y="3079750"/>
                </a:lnTo>
                <a:lnTo>
                  <a:pt x="0" y="30797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1813" y="46862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375" y="4654650"/>
            <a:ext cx="1238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输出时间节点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000" y="5035549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年初：</a:t>
            </a: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提交年度重点项目清单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000" y="5321299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季度更新：</a:t>
            </a: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根据业务变化动态调整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8000" y="5607049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月度补充：</a:t>
            </a: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新增战略项目及时提报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" y="5892799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周度跟进：</a:t>
            </a: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区域例会同步项目进展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68825" y="1254125"/>
            <a:ext cx="7302500" cy="5143403"/>
          </a:xfrm>
          <a:custGeom>
            <a:avLst/>
            <a:gdLst/>
            <a:ahLst/>
            <a:cxnLst/>
            <a:rect l="l" t="t" r="r" b="b"/>
            <a:pathLst>
              <a:path w="7302500" h="6421438">
                <a:moveTo>
                  <a:pt x="0" y="0"/>
                </a:moveTo>
                <a:lnTo>
                  <a:pt x="7302500" y="0"/>
                </a:lnTo>
                <a:lnTo>
                  <a:pt x="7302500" y="6421438"/>
                </a:lnTo>
                <a:lnTo>
                  <a:pt x="0" y="64214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85029" y="1333818"/>
            <a:ext cx="45719" cy="4936710"/>
          </a:xfrm>
          <a:custGeom>
            <a:avLst/>
            <a:gdLst/>
            <a:ahLst/>
            <a:cxnLst/>
            <a:rect l="l" t="t" r="r" b="b"/>
            <a:pathLst>
              <a:path w="31750" h="6421438">
                <a:moveTo>
                  <a:pt x="0" y="0"/>
                </a:moveTo>
                <a:lnTo>
                  <a:pt x="31750" y="0"/>
                </a:lnTo>
                <a:lnTo>
                  <a:pt x="31750" y="6421438"/>
                </a:lnTo>
                <a:lnTo>
                  <a:pt x="0" y="6421438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7263" y="14445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076824" y="1412875"/>
            <a:ext cx="2844957" cy="27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 err="1" smtClean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项目清单</a:t>
            </a:r>
            <a:r>
              <a:rPr lang="zh-CN" altLang="en-US" sz="1500" b="1" dirty="0" smtClean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内容及</a:t>
            </a:r>
            <a:r>
              <a:rPr lang="en-US" sz="1500" b="1" dirty="0" err="1" smtClean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格式要求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9325" y="1825528"/>
            <a:ext cx="6953250" cy="1524000"/>
          </a:xfrm>
          <a:custGeom>
            <a:avLst/>
            <a:gdLst/>
            <a:ahLst/>
            <a:cxnLst/>
            <a:rect l="l" t="t" r="r" b="b"/>
            <a:pathLst>
              <a:path w="6953250" h="1524000">
                <a:moveTo>
                  <a:pt x="31745" y="0"/>
                </a:moveTo>
                <a:lnTo>
                  <a:pt x="6921505" y="0"/>
                </a:lnTo>
                <a:cubicBezTo>
                  <a:pt x="6939037" y="0"/>
                  <a:pt x="6953250" y="14213"/>
                  <a:pt x="6953250" y="31745"/>
                </a:cubicBezTo>
                <a:lnTo>
                  <a:pt x="6953250" y="1492255"/>
                </a:lnTo>
                <a:cubicBezTo>
                  <a:pt x="6953250" y="1509787"/>
                  <a:pt x="6939037" y="1524000"/>
                  <a:pt x="6921505" y="1524000"/>
                </a:cubicBezTo>
                <a:lnTo>
                  <a:pt x="31745" y="1524000"/>
                </a:lnTo>
                <a:cubicBezTo>
                  <a:pt x="14213" y="1524000"/>
                  <a:pt x="0" y="1509787"/>
                  <a:pt x="0" y="1492255"/>
                </a:cubicBezTo>
                <a:lnTo>
                  <a:pt x="0" y="31745"/>
                </a:lnTo>
                <a:cubicBezTo>
                  <a:pt x="0" y="14213"/>
                  <a:pt x="14213" y="0"/>
                  <a:pt x="3174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59325" y="1825528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4902200" y="1952528"/>
            <a:ext cx="675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5" b="1" dirty="0" smtClean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项目基础信息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25021" y="2308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5084763" y="2270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业务机会编码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31796" y="2308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8491538" y="2270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业务机会名称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25021" y="2562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5084763" y="2524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预估</a:t>
            </a:r>
            <a:r>
              <a:rPr lang="zh-CN" altLang="en-US" sz="10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下单</a:t>
            </a:r>
            <a:r>
              <a:rPr lang="en-US" sz="10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31796" y="2562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8491538" y="2524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预计要货时间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25021" y="2816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5084763" y="2778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预计下单时间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31796" y="2816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8491538" y="2778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预计开标时间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25021" y="3070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Text 38"/>
          <p:cNvSpPr/>
          <p:nvPr/>
        </p:nvSpPr>
        <p:spPr>
          <a:xfrm>
            <a:off x="5084763" y="3032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竞争态势</a:t>
            </a:r>
            <a:r>
              <a:rPr lang="zh-CN" altLang="en-US" sz="10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（预测类别）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1796" y="30701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8491538" y="3032028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00" dirty="0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是否重客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59325" y="3422206"/>
            <a:ext cx="6953250" cy="1400271"/>
          </a:xfrm>
          <a:custGeom>
            <a:avLst/>
            <a:gdLst/>
            <a:ahLst/>
            <a:cxnLst/>
            <a:rect l="l" t="t" r="r" b="b"/>
            <a:pathLst>
              <a:path w="6953250" h="1270000">
                <a:moveTo>
                  <a:pt x="31750" y="0"/>
                </a:moveTo>
                <a:lnTo>
                  <a:pt x="6921500" y="0"/>
                </a:lnTo>
                <a:cubicBezTo>
                  <a:pt x="6939023" y="0"/>
                  <a:pt x="6953250" y="14227"/>
                  <a:pt x="6953250" y="31750"/>
                </a:cubicBezTo>
                <a:lnTo>
                  <a:pt x="6953250" y="1238250"/>
                </a:lnTo>
                <a:cubicBezTo>
                  <a:pt x="6953250" y="1255773"/>
                  <a:pt x="6939023" y="1270000"/>
                  <a:pt x="6921500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59325" y="3476528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5" name="Text 43"/>
          <p:cNvSpPr/>
          <p:nvPr/>
        </p:nvSpPr>
        <p:spPr>
          <a:xfrm>
            <a:off x="4902200" y="3603528"/>
            <a:ext cx="675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5" b="1" dirty="0" smtClean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立项组织信息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02200" y="4256000"/>
            <a:ext cx="674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项目经理：</a:t>
            </a:r>
            <a:endParaRPr lang="en-US" altLang="zh-CN" sz="1000" dirty="0">
              <a:solidFill>
                <a:srgbClr val="E8E8E8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  <a:r>
              <a:rPr lang="en-US" altLang="zh-CN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Wingdings" panose="05000000000000000000" pitchFamily="2" charset="2"/>
              </a:rPr>
              <a:t>: </a:t>
            </a: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Wingdings" panose="05000000000000000000" pitchFamily="2" charset="2"/>
              </a:rPr>
              <a:t>（机会所有人</a:t>
            </a:r>
            <a:r>
              <a:rPr lang="en-US" altLang="zh-CN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Wingdings" panose="05000000000000000000" pitchFamily="2" charset="2"/>
              </a:rPr>
              <a:t>/</a:t>
            </a: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Wingdings" panose="05000000000000000000" pitchFamily="2" charset="2"/>
              </a:rPr>
              <a:t>销售）</a:t>
            </a:r>
            <a:endParaRPr lang="en-US" altLang="zh-CN" sz="1000" dirty="0">
              <a:solidFill>
                <a:srgbClr val="E8E8E8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技术负责人：</a:t>
            </a:r>
            <a:endParaRPr lang="en-US" altLang="zh-CN" sz="1000" dirty="0">
              <a:solidFill>
                <a:srgbClr val="E8E8E8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客户体验负责人：</a:t>
            </a:r>
            <a:endParaRPr lang="en-US" altLang="zh-CN" sz="1000" dirty="0">
              <a:solidFill>
                <a:srgbClr val="E8E8E8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</a:t>
            </a:r>
            <a:r>
              <a:rPr lang="en-US" altLang="zh-CN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BP</a:t>
            </a:r>
            <a:r>
              <a:rPr lang="zh-CN" alt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000" dirty="0">
              <a:solidFill>
                <a:srgbClr val="E8E8E8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759325" y="4873528"/>
            <a:ext cx="6953250" cy="1524000"/>
          </a:xfrm>
          <a:custGeom>
            <a:avLst/>
            <a:gdLst/>
            <a:ahLst/>
            <a:cxnLst/>
            <a:rect l="l" t="t" r="r" b="b"/>
            <a:pathLst>
              <a:path w="6953250" h="1524000">
                <a:moveTo>
                  <a:pt x="31745" y="0"/>
                </a:moveTo>
                <a:lnTo>
                  <a:pt x="6921505" y="0"/>
                </a:lnTo>
                <a:cubicBezTo>
                  <a:pt x="6939037" y="0"/>
                  <a:pt x="6953250" y="14213"/>
                  <a:pt x="6953250" y="31745"/>
                </a:cubicBezTo>
                <a:lnTo>
                  <a:pt x="6953250" y="1492255"/>
                </a:lnTo>
                <a:cubicBezTo>
                  <a:pt x="6953250" y="1509787"/>
                  <a:pt x="6939037" y="1524000"/>
                  <a:pt x="6921505" y="1524000"/>
                </a:cubicBezTo>
                <a:lnTo>
                  <a:pt x="31745" y="1524000"/>
                </a:lnTo>
                <a:cubicBezTo>
                  <a:pt x="14213" y="1524000"/>
                  <a:pt x="0" y="1509787"/>
                  <a:pt x="0" y="1492255"/>
                </a:cubicBezTo>
                <a:lnTo>
                  <a:pt x="0" y="31745"/>
                </a:lnTo>
                <a:cubicBezTo>
                  <a:pt x="0" y="14213"/>
                  <a:pt x="14213" y="0"/>
                  <a:pt x="3174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759325" y="4873528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9"/>
          <p:cNvSpPr/>
          <p:nvPr/>
        </p:nvSpPr>
        <p:spPr>
          <a:xfrm>
            <a:off x="4902200" y="5000528"/>
            <a:ext cx="675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5" b="1" dirty="0" smtClean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其他信息：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04813" y="6305867"/>
            <a:ext cx="11541125" cy="476250"/>
          </a:xfrm>
          <a:custGeom>
            <a:avLst/>
            <a:gdLst/>
            <a:ahLst/>
            <a:cxnLst/>
            <a:rect l="l" t="t" r="r" b="b"/>
            <a:pathLst>
              <a:path w="11541125" h="476250">
                <a:moveTo>
                  <a:pt x="0" y="0"/>
                </a:moveTo>
                <a:lnTo>
                  <a:pt x="11541125" y="0"/>
                </a:lnTo>
                <a:lnTo>
                  <a:pt x="115411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04813" y="6305867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2" name="Shape 60"/>
          <p:cNvSpPr/>
          <p:nvPr/>
        </p:nvSpPr>
        <p:spPr>
          <a:xfrm>
            <a:off x="567532" y="646461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3" name="Text 61"/>
          <p:cNvSpPr/>
          <p:nvPr/>
        </p:nvSpPr>
        <p:spPr>
          <a:xfrm>
            <a:off x="789782" y="6432867"/>
            <a:ext cx="1110059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核心目标：</a:t>
            </a: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各负责人需在</a:t>
            </a:r>
            <a:r>
              <a:rPr lang="en-US" sz="112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年初一次性提供完整清单</a:t>
            </a: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，MO流程项目组协调IT批量导入CRM系统立项，实现全生命周期管理</a:t>
            </a:r>
            <a:endParaRPr lang="en-US" sz="1600" dirty="0"/>
          </a:p>
        </p:txBody>
      </p:sp>
      <p:sp>
        <p:nvSpPr>
          <p:cNvPr id="64" name="Text 44"/>
          <p:cNvSpPr/>
          <p:nvPr/>
        </p:nvSpPr>
        <p:spPr>
          <a:xfrm>
            <a:off x="4919652" y="5622142"/>
            <a:ext cx="674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000" b="1" dirty="0" err="1" smtClean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xxxx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&amp; COLLABORATION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各角色主要职责与协作机制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0" y="0"/>
                </a:moveTo>
                <a:lnTo>
                  <a:pt x="5619750" y="0"/>
                </a:lnTo>
                <a:lnTo>
                  <a:pt x="5619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049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614363" y="1676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" y="16573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销售/业务机会所有人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383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登录CRM填写商机关键信息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3431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3T时间：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准确填写预计要货、下单、开标时间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6479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发起立项申请：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对漏斗内满足立项条件的商机自动发起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9527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项目文档：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下载模板创建项目过程管理材料并上传飞书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0" y="150495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0" y="0"/>
                </a:moveTo>
                <a:lnTo>
                  <a:pt x="5619750" y="0"/>
                </a:lnTo>
                <a:lnTo>
                  <a:pt x="5619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1250" y="15049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6988" y="1676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2750" y="165735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区域经理/系统总/主管VP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2700" y="20383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审批决策：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审批决策是否立项通过（区域级/BU级/BG级）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2700" y="23431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确认项目组：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确认项目经理及铁三角人员准确无误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2700" y="26479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漏斗审批：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核实商机信息，交叉验证后审批进漏斗申请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2700" y="29527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分级分层：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根据项目分级分层要求对项目是否立项进行填写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48615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0" y="0"/>
                </a:moveTo>
                <a:lnTo>
                  <a:pt x="5619750" y="0"/>
                </a:lnTo>
                <a:lnTo>
                  <a:pt x="5619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34861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3657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" y="36385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40195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7天内组织召开第一次项目分析会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3243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组织召开不同阶段的项目分析会（价值主张、招标策略等）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46291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关闭商机2周内开展赢丢单复盘经验总结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49339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在CRM各模块留痕并完成飞书项目文档填写上传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348615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0" y="0"/>
                </a:moveTo>
                <a:lnTo>
                  <a:pt x="5619750" y="0"/>
                </a:lnTo>
                <a:lnTo>
                  <a:pt x="5619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91250" y="348615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1" name="Shape 29"/>
          <p:cNvSpPr/>
          <p:nvPr/>
        </p:nvSpPr>
        <p:spPr>
          <a:xfrm>
            <a:off x="6362700" y="3657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14523" y="3572"/>
                </a:moveTo>
                <a:cubicBezTo>
                  <a:pt x="144094" y="3572"/>
                  <a:pt x="168101" y="27579"/>
                  <a:pt x="168101" y="57150"/>
                </a:cubicBezTo>
                <a:cubicBezTo>
                  <a:pt x="168101" y="86721"/>
                  <a:pt x="144094" y="110728"/>
                  <a:pt x="114523" y="110728"/>
                </a:cubicBezTo>
                <a:cubicBezTo>
                  <a:pt x="84953" y="110728"/>
                  <a:pt x="60945" y="86721"/>
                  <a:pt x="60945" y="57150"/>
                </a:cubicBezTo>
                <a:cubicBezTo>
                  <a:pt x="60945" y="27579"/>
                  <a:pt x="84953" y="3572"/>
                  <a:pt x="114523" y="3572"/>
                </a:cubicBezTo>
                <a:close/>
                <a:moveTo>
                  <a:pt x="101218" y="135731"/>
                </a:moveTo>
                <a:lnTo>
                  <a:pt x="127739" y="135731"/>
                </a:lnTo>
                <a:lnTo>
                  <a:pt x="128409" y="135731"/>
                </a:lnTo>
                <a:cubicBezTo>
                  <a:pt x="122649" y="147697"/>
                  <a:pt x="124926" y="161717"/>
                  <a:pt x="133543" y="171227"/>
                </a:cubicBezTo>
                <a:cubicBezTo>
                  <a:pt x="124524" y="181183"/>
                  <a:pt x="122471" y="196141"/>
                  <a:pt x="129347" y="208464"/>
                </a:cubicBezTo>
                <a:lnTo>
                  <a:pt x="139392" y="226502"/>
                </a:lnTo>
                <a:cubicBezTo>
                  <a:pt x="139794" y="227216"/>
                  <a:pt x="140241" y="227930"/>
                  <a:pt x="140687" y="228600"/>
                </a:cubicBezTo>
                <a:lnTo>
                  <a:pt x="34870" y="228600"/>
                </a:lnTo>
                <a:cubicBezTo>
                  <a:pt x="27548" y="228600"/>
                  <a:pt x="21610" y="222662"/>
                  <a:pt x="21610" y="215339"/>
                </a:cubicBezTo>
                <a:cubicBezTo>
                  <a:pt x="21610" y="171361"/>
                  <a:pt x="57239" y="135731"/>
                  <a:pt x="101218" y="135731"/>
                </a:cubicBezTo>
                <a:close/>
                <a:moveTo>
                  <a:pt x="193149" y="110550"/>
                </a:moveTo>
                <a:cubicBezTo>
                  <a:pt x="193149" y="104611"/>
                  <a:pt x="197927" y="99834"/>
                  <a:pt x="203865" y="99834"/>
                </a:cubicBezTo>
                <a:lnTo>
                  <a:pt x="225296" y="99834"/>
                </a:lnTo>
                <a:cubicBezTo>
                  <a:pt x="231234" y="99834"/>
                  <a:pt x="236012" y="104611"/>
                  <a:pt x="236012" y="110550"/>
                </a:cubicBezTo>
                <a:lnTo>
                  <a:pt x="236012" y="113273"/>
                </a:lnTo>
                <a:cubicBezTo>
                  <a:pt x="236012" y="121712"/>
                  <a:pt x="246772" y="127918"/>
                  <a:pt x="254094" y="123721"/>
                </a:cubicBezTo>
                <a:lnTo>
                  <a:pt x="256327" y="122426"/>
                </a:lnTo>
                <a:cubicBezTo>
                  <a:pt x="261506" y="119435"/>
                  <a:pt x="268159" y="121265"/>
                  <a:pt x="271061" y="126489"/>
                </a:cubicBezTo>
                <a:lnTo>
                  <a:pt x="281062" y="144438"/>
                </a:lnTo>
                <a:cubicBezTo>
                  <a:pt x="283830" y="149438"/>
                  <a:pt x="282223" y="155689"/>
                  <a:pt x="277401" y="158725"/>
                </a:cubicBezTo>
                <a:lnTo>
                  <a:pt x="275302" y="160020"/>
                </a:lnTo>
                <a:cubicBezTo>
                  <a:pt x="268069" y="164529"/>
                  <a:pt x="268069" y="177835"/>
                  <a:pt x="275302" y="182389"/>
                </a:cubicBezTo>
                <a:lnTo>
                  <a:pt x="277356" y="183684"/>
                </a:lnTo>
                <a:cubicBezTo>
                  <a:pt x="282178" y="186720"/>
                  <a:pt x="283830" y="192971"/>
                  <a:pt x="281062" y="197971"/>
                </a:cubicBezTo>
                <a:lnTo>
                  <a:pt x="271016" y="216009"/>
                </a:lnTo>
                <a:cubicBezTo>
                  <a:pt x="268114" y="221233"/>
                  <a:pt x="261461" y="223108"/>
                  <a:pt x="256282" y="220072"/>
                </a:cubicBezTo>
                <a:lnTo>
                  <a:pt x="254094" y="218777"/>
                </a:lnTo>
                <a:cubicBezTo>
                  <a:pt x="246772" y="214536"/>
                  <a:pt x="236012" y="220787"/>
                  <a:pt x="236012" y="229225"/>
                </a:cubicBezTo>
                <a:lnTo>
                  <a:pt x="236012" y="231949"/>
                </a:lnTo>
                <a:cubicBezTo>
                  <a:pt x="236012" y="237887"/>
                  <a:pt x="231234" y="242664"/>
                  <a:pt x="225296" y="242664"/>
                </a:cubicBezTo>
                <a:lnTo>
                  <a:pt x="203865" y="242664"/>
                </a:lnTo>
                <a:cubicBezTo>
                  <a:pt x="197927" y="242664"/>
                  <a:pt x="193149" y="237887"/>
                  <a:pt x="193149" y="231949"/>
                </a:cubicBezTo>
                <a:lnTo>
                  <a:pt x="193149" y="229314"/>
                </a:lnTo>
                <a:cubicBezTo>
                  <a:pt x="193149" y="220831"/>
                  <a:pt x="182344" y="214580"/>
                  <a:pt x="174977" y="218822"/>
                </a:cubicBezTo>
                <a:lnTo>
                  <a:pt x="172834" y="220072"/>
                </a:lnTo>
                <a:cubicBezTo>
                  <a:pt x="167655" y="223064"/>
                  <a:pt x="161047" y="221233"/>
                  <a:pt x="158100" y="216009"/>
                </a:cubicBezTo>
                <a:lnTo>
                  <a:pt x="148010" y="197971"/>
                </a:lnTo>
                <a:cubicBezTo>
                  <a:pt x="145241" y="192971"/>
                  <a:pt x="146849" y="186675"/>
                  <a:pt x="151715" y="183639"/>
                </a:cubicBezTo>
                <a:lnTo>
                  <a:pt x="153680" y="182434"/>
                </a:lnTo>
                <a:cubicBezTo>
                  <a:pt x="160958" y="177924"/>
                  <a:pt x="160958" y="164529"/>
                  <a:pt x="153680" y="160020"/>
                </a:cubicBezTo>
                <a:lnTo>
                  <a:pt x="151671" y="158770"/>
                </a:lnTo>
                <a:cubicBezTo>
                  <a:pt x="146804" y="155734"/>
                  <a:pt x="145197" y="149438"/>
                  <a:pt x="147965" y="144438"/>
                </a:cubicBezTo>
                <a:lnTo>
                  <a:pt x="158011" y="126444"/>
                </a:lnTo>
                <a:cubicBezTo>
                  <a:pt x="160913" y="121221"/>
                  <a:pt x="167566" y="119390"/>
                  <a:pt x="172700" y="122381"/>
                </a:cubicBezTo>
                <a:lnTo>
                  <a:pt x="174843" y="123632"/>
                </a:lnTo>
                <a:cubicBezTo>
                  <a:pt x="182210" y="127873"/>
                  <a:pt x="193015" y="121622"/>
                  <a:pt x="193015" y="113139"/>
                </a:cubicBezTo>
                <a:lnTo>
                  <a:pt x="193015" y="110505"/>
                </a:lnTo>
                <a:close/>
                <a:moveTo>
                  <a:pt x="237753" y="171361"/>
                </a:moveTo>
                <a:cubicBezTo>
                  <a:pt x="237753" y="158547"/>
                  <a:pt x="227350" y="148144"/>
                  <a:pt x="214536" y="148144"/>
                </a:cubicBezTo>
                <a:cubicBezTo>
                  <a:pt x="201722" y="148144"/>
                  <a:pt x="191319" y="158547"/>
                  <a:pt x="191319" y="171361"/>
                </a:cubicBezTo>
                <a:cubicBezTo>
                  <a:pt x="191319" y="184175"/>
                  <a:pt x="201722" y="194578"/>
                  <a:pt x="214536" y="194578"/>
                </a:cubicBezTo>
                <a:cubicBezTo>
                  <a:pt x="227350" y="194578"/>
                  <a:pt x="237753" y="184175"/>
                  <a:pt x="237753" y="171361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2" name="Text 30"/>
          <p:cNvSpPr/>
          <p:nvPr/>
        </p:nvSpPr>
        <p:spPr>
          <a:xfrm>
            <a:off x="6762750" y="36385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技术把关负责人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2700" y="40195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明确价值主张或建议项目铁三角明确需求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2700" y="43243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给出技术方案审核、价格策略、投标策略建议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2700" y="46291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夯实价值：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夯实在客户端构建方案价值认可，愿景重构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2700" y="49339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策略建议：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项目铁三角根据技术负责人输入进行修订完善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5505450"/>
            <a:ext cx="5619750" cy="1219200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0" y="0"/>
                </a:moveTo>
                <a:lnTo>
                  <a:pt x="5619750" y="0"/>
                </a:lnTo>
                <a:lnTo>
                  <a:pt x="56197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55054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788" y="5676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57150"/>
                </a:moveTo>
                <a:cubicBezTo>
                  <a:pt x="28575" y="29551"/>
                  <a:pt x="50982" y="7144"/>
                  <a:pt x="78581" y="7144"/>
                </a:cubicBezTo>
                <a:cubicBezTo>
                  <a:pt x="106180" y="7144"/>
                  <a:pt x="128588" y="29551"/>
                  <a:pt x="128588" y="57150"/>
                </a:cubicBezTo>
                <a:cubicBezTo>
                  <a:pt x="128588" y="84749"/>
                  <a:pt x="106180" y="107156"/>
                  <a:pt x="78581" y="107156"/>
                </a:cubicBezTo>
                <a:cubicBezTo>
                  <a:pt x="50982" y="107156"/>
                  <a:pt x="28575" y="84749"/>
                  <a:pt x="28575" y="57150"/>
                </a:cubicBezTo>
                <a:close/>
                <a:moveTo>
                  <a:pt x="0" y="207169"/>
                </a:moveTo>
                <a:cubicBezTo>
                  <a:pt x="0" y="163770"/>
                  <a:pt x="35183" y="128588"/>
                  <a:pt x="78581" y="128588"/>
                </a:cubicBezTo>
                <a:cubicBezTo>
                  <a:pt x="121980" y="128588"/>
                  <a:pt x="157163" y="163770"/>
                  <a:pt x="157163" y="207169"/>
                </a:cubicBezTo>
                <a:lnTo>
                  <a:pt x="157163" y="209848"/>
                </a:lnTo>
                <a:cubicBezTo>
                  <a:pt x="157163" y="220206"/>
                  <a:pt x="148769" y="228600"/>
                  <a:pt x="138410" y="228600"/>
                </a:cubicBezTo>
                <a:lnTo>
                  <a:pt x="18752" y="228600"/>
                </a:lnTo>
                <a:cubicBezTo>
                  <a:pt x="8394" y="228600"/>
                  <a:pt x="0" y="220206"/>
                  <a:pt x="0" y="209848"/>
                </a:cubicBezTo>
                <a:lnTo>
                  <a:pt x="0" y="207169"/>
                </a:lnTo>
                <a:close/>
                <a:moveTo>
                  <a:pt x="192881" y="28575"/>
                </a:moveTo>
                <a:cubicBezTo>
                  <a:pt x="216538" y="28575"/>
                  <a:pt x="235744" y="47781"/>
                  <a:pt x="235744" y="71438"/>
                </a:cubicBezTo>
                <a:cubicBezTo>
                  <a:pt x="235744" y="95094"/>
                  <a:pt x="216538" y="114300"/>
                  <a:pt x="192881" y="114300"/>
                </a:cubicBezTo>
                <a:cubicBezTo>
                  <a:pt x="169225" y="114300"/>
                  <a:pt x="150019" y="95094"/>
                  <a:pt x="150019" y="71438"/>
                </a:cubicBezTo>
                <a:cubicBezTo>
                  <a:pt x="150019" y="47781"/>
                  <a:pt x="169225" y="28575"/>
                  <a:pt x="192881" y="28575"/>
                </a:cubicBezTo>
                <a:close/>
                <a:moveTo>
                  <a:pt x="192881" y="135731"/>
                </a:moveTo>
                <a:cubicBezTo>
                  <a:pt x="228377" y="135731"/>
                  <a:pt x="257175" y="164529"/>
                  <a:pt x="257175" y="200025"/>
                </a:cubicBezTo>
                <a:lnTo>
                  <a:pt x="257175" y="210026"/>
                </a:lnTo>
                <a:cubicBezTo>
                  <a:pt x="257175" y="220295"/>
                  <a:pt x="248870" y="228600"/>
                  <a:pt x="238601" y="228600"/>
                </a:cubicBezTo>
                <a:lnTo>
                  <a:pt x="173950" y="228600"/>
                </a:lnTo>
                <a:cubicBezTo>
                  <a:pt x="176897" y="223019"/>
                  <a:pt x="178594" y="216634"/>
                  <a:pt x="178594" y="209848"/>
                </a:cubicBezTo>
                <a:lnTo>
                  <a:pt x="178594" y="207169"/>
                </a:lnTo>
                <a:cubicBezTo>
                  <a:pt x="178594" y="184175"/>
                  <a:pt x="170825" y="163011"/>
                  <a:pt x="157832" y="146134"/>
                </a:cubicBezTo>
                <a:cubicBezTo>
                  <a:pt x="167923" y="139571"/>
                  <a:pt x="179978" y="135731"/>
                  <a:pt x="192881" y="1357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Text 38"/>
          <p:cNvSpPr/>
          <p:nvPr/>
        </p:nvSpPr>
        <p:spPr>
          <a:xfrm>
            <a:off x="971550" y="565785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销管BP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0550" y="60845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800100" y="60388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周例会看板准备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76600" y="60845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2"/>
          <p:cNvSpPr/>
          <p:nvPr/>
        </p:nvSpPr>
        <p:spPr>
          <a:xfrm>
            <a:off x="3486150" y="60388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数据追踪监控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0550" y="63893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" y="63436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任务提醒跟催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76600" y="63893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6"/>
          <p:cNvSpPr/>
          <p:nvPr/>
        </p:nvSpPr>
        <p:spPr>
          <a:xfrm>
            <a:off x="3486150" y="63436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CRM系统留痕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1250" y="5505450"/>
            <a:ext cx="5619750" cy="1219200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0" y="0"/>
                </a:moveTo>
                <a:lnTo>
                  <a:pt x="5619750" y="0"/>
                </a:lnTo>
                <a:lnTo>
                  <a:pt x="56197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191250" y="55054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1" name="Shape 49"/>
          <p:cNvSpPr/>
          <p:nvPr/>
        </p:nvSpPr>
        <p:spPr>
          <a:xfrm>
            <a:off x="6376988" y="5676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2" name="Text 50"/>
          <p:cNvSpPr/>
          <p:nvPr/>
        </p:nvSpPr>
        <p:spPr>
          <a:xfrm>
            <a:off x="6762750" y="56578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协作机制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45856" y="6038850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区域铁三角：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区域经理+行业经理+项目铁三角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315450" y="6038850"/>
            <a:ext cx="193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项目铁三角：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销售+技术+客户关系负责人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WEEKLY MEETING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512570"/>
            <a:ext cx="3415665" cy="5282565"/>
          </a:xfrm>
          <a:custGeom>
            <a:avLst/>
            <a:gdLst/>
            <a:ahLst/>
            <a:cxnLst/>
            <a:rect l="l" t="t" r="r" b="b"/>
            <a:pathLst>
              <a:path w="3415665" h="5282565">
                <a:moveTo>
                  <a:pt x="0" y="0"/>
                </a:moveTo>
                <a:lnTo>
                  <a:pt x="3415665" y="0"/>
                </a:lnTo>
                <a:lnTo>
                  <a:pt x="3415665" y="5282565"/>
                </a:lnTo>
                <a:lnTo>
                  <a:pt x="0" y="5282565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4902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0799" y="292643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71438" y="142875"/>
                </a:moveTo>
                <a:cubicBezTo>
                  <a:pt x="61559" y="142875"/>
                  <a:pt x="53578" y="150856"/>
                  <a:pt x="53578" y="160734"/>
                </a:cubicBezTo>
                <a:lnTo>
                  <a:pt x="53578" y="196453"/>
                </a:lnTo>
                <a:cubicBezTo>
                  <a:pt x="53578" y="206332"/>
                  <a:pt x="61559" y="214313"/>
                  <a:pt x="71438" y="214313"/>
                </a:cubicBezTo>
                <a:lnTo>
                  <a:pt x="178594" y="214313"/>
                </a:lnTo>
                <a:cubicBezTo>
                  <a:pt x="188472" y="214313"/>
                  <a:pt x="196453" y="206332"/>
                  <a:pt x="196453" y="196453"/>
                </a:cubicBezTo>
                <a:lnTo>
                  <a:pt x="196453" y="160734"/>
                </a:lnTo>
                <a:cubicBezTo>
                  <a:pt x="196453" y="150856"/>
                  <a:pt x="188472" y="142875"/>
                  <a:pt x="178594" y="142875"/>
                </a:cubicBezTo>
                <a:lnTo>
                  <a:pt x="71438" y="14287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1096327" y="291703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召开频次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6240" y="3412210"/>
            <a:ext cx="3400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402" y="4440910"/>
            <a:ext cx="308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次/周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977" y="4860010"/>
            <a:ext cx="3028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固定时间召开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确保全员参与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57650" y="1504950"/>
            <a:ext cx="7753350" cy="1657350"/>
          </a:xfrm>
          <a:custGeom>
            <a:avLst/>
            <a:gdLst/>
            <a:ahLst/>
            <a:cxnLst/>
            <a:rect l="l" t="t" r="r" b="b"/>
            <a:pathLst>
              <a:path w="7753350" h="1657350">
                <a:moveTo>
                  <a:pt x="0" y="0"/>
                </a:moveTo>
                <a:lnTo>
                  <a:pt x="7753350" y="0"/>
                </a:lnTo>
                <a:lnTo>
                  <a:pt x="775335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57650" y="15049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6250" y="1676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150" y="16573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会前准备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9100" y="2038350"/>
            <a:ext cx="2400300" cy="971550"/>
          </a:xfrm>
          <a:custGeom>
            <a:avLst/>
            <a:gdLst/>
            <a:ahLst/>
            <a:cxnLst/>
            <a:rect l="l" t="t" r="r" b="b"/>
            <a:pathLst>
              <a:path w="2400300" h="971550">
                <a:moveTo>
                  <a:pt x="38104" y="0"/>
                </a:moveTo>
                <a:lnTo>
                  <a:pt x="2362196" y="0"/>
                </a:lnTo>
                <a:cubicBezTo>
                  <a:pt x="2383240" y="0"/>
                  <a:pt x="2400300" y="17060"/>
                  <a:pt x="2400300" y="38104"/>
                </a:cubicBezTo>
                <a:lnTo>
                  <a:pt x="2400300" y="933446"/>
                </a:lnTo>
                <a:cubicBezTo>
                  <a:pt x="2400300" y="954490"/>
                  <a:pt x="2383240" y="971550"/>
                  <a:pt x="2362196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15265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销售准备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400" y="2457450"/>
            <a:ext cx="223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整理名下商机数据，分类梳理，搞清楚所处阶段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43700" y="2038350"/>
            <a:ext cx="2400300" cy="971550"/>
          </a:xfrm>
          <a:custGeom>
            <a:avLst/>
            <a:gdLst/>
            <a:ahLst/>
            <a:cxnLst/>
            <a:rect l="l" t="t" r="r" b="b"/>
            <a:pathLst>
              <a:path w="2400300" h="971550">
                <a:moveTo>
                  <a:pt x="38104" y="0"/>
                </a:moveTo>
                <a:lnTo>
                  <a:pt x="2362196" y="0"/>
                </a:lnTo>
                <a:cubicBezTo>
                  <a:pt x="2383240" y="0"/>
                  <a:pt x="2400300" y="17060"/>
                  <a:pt x="2400300" y="38104"/>
                </a:cubicBezTo>
                <a:lnTo>
                  <a:pt x="2400300" y="933446"/>
                </a:lnTo>
                <a:cubicBezTo>
                  <a:pt x="2400300" y="954490"/>
                  <a:pt x="2383240" y="971550"/>
                  <a:pt x="2362196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15265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销管BP准备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2457450"/>
            <a:ext cx="223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准备上周异常数据、本周需提醒执行的数据，发会议通知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58300" y="2038350"/>
            <a:ext cx="2400300" cy="971550"/>
          </a:xfrm>
          <a:custGeom>
            <a:avLst/>
            <a:gdLst/>
            <a:ahLst/>
            <a:cxnLst/>
            <a:rect l="l" t="t" r="r" b="b"/>
            <a:pathLst>
              <a:path w="2400300" h="971550">
                <a:moveTo>
                  <a:pt x="38104" y="0"/>
                </a:moveTo>
                <a:lnTo>
                  <a:pt x="2362196" y="0"/>
                </a:lnTo>
                <a:cubicBezTo>
                  <a:pt x="2383240" y="0"/>
                  <a:pt x="2400300" y="17060"/>
                  <a:pt x="2400300" y="38104"/>
                </a:cubicBezTo>
                <a:lnTo>
                  <a:pt x="2400300" y="933446"/>
                </a:lnTo>
                <a:cubicBezTo>
                  <a:pt x="2400300" y="954490"/>
                  <a:pt x="2383240" y="971550"/>
                  <a:pt x="2362196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215265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区域经理准备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0" y="2457450"/>
            <a:ext cx="223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明确需重点讨论的异常项目及需提醒执行关键流程活动的项目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57650" y="3309938"/>
            <a:ext cx="3790950" cy="2200275"/>
          </a:xfrm>
          <a:custGeom>
            <a:avLst/>
            <a:gdLst/>
            <a:ahLst/>
            <a:cxnLst/>
            <a:rect l="l" t="t" r="r" b="b"/>
            <a:pathLst>
              <a:path w="3790950" h="2200275">
                <a:moveTo>
                  <a:pt x="0" y="0"/>
                </a:moveTo>
                <a:lnTo>
                  <a:pt x="3790950" y="0"/>
                </a:lnTo>
                <a:lnTo>
                  <a:pt x="3790950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57650" y="3309938"/>
            <a:ext cx="38100" cy="2200275"/>
          </a:xfrm>
          <a:custGeom>
            <a:avLst/>
            <a:gdLst/>
            <a:ahLst/>
            <a:cxnLst/>
            <a:rect l="l" t="t" r="r" b="b"/>
            <a:pathLst>
              <a:path w="38100" h="2200275">
                <a:moveTo>
                  <a:pt x="0" y="0"/>
                </a:moveTo>
                <a:lnTo>
                  <a:pt x="38100" y="0"/>
                </a:lnTo>
                <a:lnTo>
                  <a:pt x="38100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6" name="Shape 24"/>
          <p:cNvSpPr/>
          <p:nvPr/>
        </p:nvSpPr>
        <p:spPr>
          <a:xfrm>
            <a:off x="4243388" y="34813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5"/>
          <p:cNvSpPr/>
          <p:nvPr/>
        </p:nvSpPr>
        <p:spPr>
          <a:xfrm>
            <a:off x="4629150" y="3462338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会中要求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29100" y="3843338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反馈与跟进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29100" y="4110038"/>
            <a:ext cx="3533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商机所有人反馈项目情况、异常活动执行情况及下一步计划，销管BP实时记录更新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29100" y="46577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5C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行动计划与任务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29100" y="4924425"/>
            <a:ext cx="3533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异常数据责任人认领行动，销管BP跟催提醒，明确截止时间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20050" y="3309938"/>
            <a:ext cx="3790950" cy="2200275"/>
          </a:xfrm>
          <a:custGeom>
            <a:avLst/>
            <a:gdLst/>
            <a:ahLst/>
            <a:cxnLst/>
            <a:rect l="l" t="t" r="r" b="b"/>
            <a:pathLst>
              <a:path w="3790950" h="2200275">
                <a:moveTo>
                  <a:pt x="0" y="0"/>
                </a:moveTo>
                <a:lnTo>
                  <a:pt x="3790950" y="0"/>
                </a:lnTo>
                <a:lnTo>
                  <a:pt x="3790950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solidFill>
            <a:srgbClr val="888B8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020050" y="3309938"/>
            <a:ext cx="38100" cy="2200275"/>
          </a:xfrm>
          <a:custGeom>
            <a:avLst/>
            <a:gdLst/>
            <a:ahLst/>
            <a:cxnLst/>
            <a:rect l="l" t="t" r="r" b="b"/>
            <a:pathLst>
              <a:path w="38100" h="2200275">
                <a:moveTo>
                  <a:pt x="0" y="0"/>
                </a:moveTo>
                <a:lnTo>
                  <a:pt x="38100" y="0"/>
                </a:lnTo>
                <a:lnTo>
                  <a:pt x="38100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0075" y="34813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5" name="Text 33"/>
          <p:cNvSpPr/>
          <p:nvPr/>
        </p:nvSpPr>
        <p:spPr>
          <a:xfrm>
            <a:off x="8591550" y="3462338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88B8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会后要求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91500" y="3843338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系统操作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91500" y="4110038"/>
            <a:ext cx="3533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根据会议要求在CRM及飞书中执行相应操作，确保流程闭环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91500" y="4657725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持续跟进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91500" y="4924425"/>
            <a:ext cx="3533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销管BP对进行中项目做任务提醒，活动责任人及时跟进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57650" y="5662613"/>
            <a:ext cx="7753350" cy="1143000"/>
          </a:xfrm>
          <a:custGeom>
            <a:avLst/>
            <a:gdLst/>
            <a:ahLst/>
            <a:cxnLst/>
            <a:rect l="l" t="t" r="r" b="b"/>
            <a:pathLst>
              <a:path w="7753350" h="1143000">
                <a:moveTo>
                  <a:pt x="0" y="0"/>
                </a:moveTo>
                <a:lnTo>
                  <a:pt x="7753350" y="0"/>
                </a:lnTo>
                <a:lnTo>
                  <a:pt x="77533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57650" y="566261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40"/>
          <p:cNvSpPr/>
          <p:nvPr/>
        </p:nvSpPr>
        <p:spPr>
          <a:xfrm>
            <a:off x="4257675" y="58340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4629150" y="5815013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周例会呈现的四大数据看板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29100" y="6196013"/>
            <a:ext cx="1771650" cy="457200"/>
          </a:xfrm>
          <a:custGeom>
            <a:avLst/>
            <a:gdLst/>
            <a:ahLst/>
            <a:cxnLst/>
            <a:rect l="l" t="t" r="r" b="b"/>
            <a:pathLst>
              <a:path w="1771650" h="457200">
                <a:moveTo>
                  <a:pt x="38098" y="0"/>
                </a:moveTo>
                <a:lnTo>
                  <a:pt x="1733552" y="0"/>
                </a:lnTo>
                <a:cubicBezTo>
                  <a:pt x="1754593" y="0"/>
                  <a:pt x="1771650" y="17057"/>
                  <a:pt x="1771650" y="38098"/>
                </a:cubicBezTo>
                <a:lnTo>
                  <a:pt x="1771650" y="419102"/>
                </a:lnTo>
                <a:cubicBezTo>
                  <a:pt x="1771650" y="440143"/>
                  <a:pt x="1754593" y="457200"/>
                  <a:pt x="17335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305300" y="631031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立项申请进展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15050" y="6196013"/>
            <a:ext cx="1771650" cy="457200"/>
          </a:xfrm>
          <a:custGeom>
            <a:avLst/>
            <a:gdLst/>
            <a:ahLst/>
            <a:cxnLst/>
            <a:rect l="l" t="t" r="r" b="b"/>
            <a:pathLst>
              <a:path w="1771650" h="457200">
                <a:moveTo>
                  <a:pt x="38098" y="0"/>
                </a:moveTo>
                <a:lnTo>
                  <a:pt x="1733552" y="0"/>
                </a:lnTo>
                <a:cubicBezTo>
                  <a:pt x="1754593" y="0"/>
                  <a:pt x="1771650" y="17057"/>
                  <a:pt x="1771650" y="38098"/>
                </a:cubicBezTo>
                <a:lnTo>
                  <a:pt x="1771650" y="419102"/>
                </a:lnTo>
                <a:cubicBezTo>
                  <a:pt x="1771650" y="440143"/>
                  <a:pt x="1754593" y="457200"/>
                  <a:pt x="17335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91250" y="631031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立项启动会进展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01000" y="6196013"/>
            <a:ext cx="1771650" cy="457200"/>
          </a:xfrm>
          <a:custGeom>
            <a:avLst/>
            <a:gdLst/>
            <a:ahLst/>
            <a:cxnLst/>
            <a:rect l="l" t="t" r="r" b="b"/>
            <a:pathLst>
              <a:path w="1771650" h="457200">
                <a:moveTo>
                  <a:pt x="38098" y="0"/>
                </a:moveTo>
                <a:lnTo>
                  <a:pt x="1733552" y="0"/>
                </a:lnTo>
                <a:cubicBezTo>
                  <a:pt x="1754593" y="0"/>
                  <a:pt x="1771650" y="17057"/>
                  <a:pt x="1771650" y="38098"/>
                </a:cubicBezTo>
                <a:lnTo>
                  <a:pt x="1771650" y="419102"/>
                </a:lnTo>
                <a:cubicBezTo>
                  <a:pt x="1771650" y="440143"/>
                  <a:pt x="1754593" y="457200"/>
                  <a:pt x="17335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077200" y="631031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标前分析会进展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886950" y="6196013"/>
            <a:ext cx="1771650" cy="457200"/>
          </a:xfrm>
          <a:custGeom>
            <a:avLst/>
            <a:gdLst/>
            <a:ahLst/>
            <a:cxnLst/>
            <a:rect l="l" t="t" r="r" b="b"/>
            <a:pathLst>
              <a:path w="1771650" h="457200">
                <a:moveTo>
                  <a:pt x="38098" y="0"/>
                </a:moveTo>
                <a:lnTo>
                  <a:pt x="1733552" y="0"/>
                </a:lnTo>
                <a:cubicBezTo>
                  <a:pt x="1754593" y="0"/>
                  <a:pt x="1771650" y="17057"/>
                  <a:pt x="1771650" y="38098"/>
                </a:cubicBezTo>
                <a:lnTo>
                  <a:pt x="1771650" y="419102"/>
                </a:lnTo>
                <a:cubicBezTo>
                  <a:pt x="1771650" y="440143"/>
                  <a:pt x="1754593" y="457200"/>
                  <a:pt x="17335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963150" y="631031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赢丢单复盘会进展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95" y="337495"/>
            <a:ext cx="11592947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kern="0" spc="12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OPERATION &amp; INSPECTION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495" y="641240"/>
            <a:ext cx="11668883" cy="33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2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系统操作指南与落地执行检查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495" y="1113733"/>
            <a:ext cx="1079983" cy="50624"/>
          </a:xfrm>
          <a:custGeom>
            <a:avLst/>
            <a:gdLst/>
            <a:ahLst/>
            <a:cxnLst/>
            <a:rect l="l" t="t" r="r" b="b"/>
            <a:pathLst>
              <a:path w="1079983" h="50624">
                <a:moveTo>
                  <a:pt x="0" y="0"/>
                </a:moveTo>
                <a:lnTo>
                  <a:pt x="1079983" y="0"/>
                </a:lnTo>
                <a:lnTo>
                  <a:pt x="1079983" y="50624"/>
                </a:lnTo>
                <a:lnTo>
                  <a:pt x="0" y="50624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54370" y="1333104"/>
            <a:ext cx="6319590" cy="3569008"/>
          </a:xfrm>
          <a:custGeom>
            <a:avLst/>
            <a:gdLst/>
            <a:ahLst/>
            <a:cxnLst/>
            <a:rect l="l" t="t" r="r" b="b"/>
            <a:pathLst>
              <a:path w="6319590" h="3569008">
                <a:moveTo>
                  <a:pt x="0" y="0"/>
                </a:moveTo>
                <a:lnTo>
                  <a:pt x="6319590" y="0"/>
                </a:lnTo>
                <a:lnTo>
                  <a:pt x="6319590" y="3569008"/>
                </a:lnTo>
                <a:lnTo>
                  <a:pt x="0" y="3569008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370" y="1333104"/>
            <a:ext cx="33749" cy="3569008"/>
          </a:xfrm>
          <a:custGeom>
            <a:avLst/>
            <a:gdLst/>
            <a:ahLst/>
            <a:cxnLst/>
            <a:rect l="l" t="t" r="r" b="b"/>
            <a:pathLst>
              <a:path w="33749" h="3569008">
                <a:moveTo>
                  <a:pt x="0" y="0"/>
                </a:moveTo>
                <a:lnTo>
                  <a:pt x="33749" y="0"/>
                </a:lnTo>
                <a:lnTo>
                  <a:pt x="33749" y="3569008"/>
                </a:lnTo>
                <a:lnTo>
                  <a:pt x="0" y="3569008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06242" y="1484977"/>
            <a:ext cx="253121" cy="202497"/>
          </a:xfrm>
          <a:custGeom>
            <a:avLst/>
            <a:gdLst/>
            <a:ahLst/>
            <a:cxnLst/>
            <a:rect l="l" t="t" r="r" b="b"/>
            <a:pathLst>
              <a:path w="253121" h="202497">
                <a:moveTo>
                  <a:pt x="25312" y="37968"/>
                </a:moveTo>
                <a:cubicBezTo>
                  <a:pt x="25312" y="24007"/>
                  <a:pt x="36663" y="12656"/>
                  <a:pt x="50624" y="12656"/>
                </a:cubicBezTo>
                <a:lnTo>
                  <a:pt x="202497" y="12656"/>
                </a:lnTo>
                <a:cubicBezTo>
                  <a:pt x="216458" y="12656"/>
                  <a:pt x="227809" y="24007"/>
                  <a:pt x="227809" y="37968"/>
                </a:cubicBezTo>
                <a:lnTo>
                  <a:pt x="227809" y="132889"/>
                </a:lnTo>
                <a:lnTo>
                  <a:pt x="202497" y="132889"/>
                </a:lnTo>
                <a:lnTo>
                  <a:pt x="202497" y="37968"/>
                </a:lnTo>
                <a:lnTo>
                  <a:pt x="50624" y="37968"/>
                </a:lnTo>
                <a:lnTo>
                  <a:pt x="50624" y="132889"/>
                </a:lnTo>
                <a:lnTo>
                  <a:pt x="25312" y="132889"/>
                </a:lnTo>
                <a:lnTo>
                  <a:pt x="25312" y="37968"/>
                </a:lnTo>
                <a:close/>
                <a:moveTo>
                  <a:pt x="0" y="159466"/>
                </a:moveTo>
                <a:cubicBezTo>
                  <a:pt x="0" y="155274"/>
                  <a:pt x="3401" y="151873"/>
                  <a:pt x="7594" y="151873"/>
                </a:cubicBezTo>
                <a:lnTo>
                  <a:pt x="245527" y="151873"/>
                </a:lnTo>
                <a:cubicBezTo>
                  <a:pt x="249720" y="151873"/>
                  <a:pt x="253121" y="155274"/>
                  <a:pt x="253121" y="159466"/>
                </a:cubicBezTo>
                <a:cubicBezTo>
                  <a:pt x="253121" y="176236"/>
                  <a:pt x="239516" y="189841"/>
                  <a:pt x="222747" y="189841"/>
                </a:cubicBezTo>
                <a:lnTo>
                  <a:pt x="30375" y="189841"/>
                </a:lnTo>
                <a:cubicBezTo>
                  <a:pt x="13605" y="189841"/>
                  <a:pt x="0" y="176236"/>
                  <a:pt x="0" y="159466"/>
                </a:cubicBezTo>
                <a:close/>
                <a:moveTo>
                  <a:pt x="111136" y="82660"/>
                </a:moveTo>
                <a:lnTo>
                  <a:pt x="98875" y="94920"/>
                </a:lnTo>
                <a:lnTo>
                  <a:pt x="111136" y="107181"/>
                </a:lnTo>
                <a:cubicBezTo>
                  <a:pt x="114854" y="110899"/>
                  <a:pt x="114854" y="116910"/>
                  <a:pt x="111136" y="120588"/>
                </a:cubicBezTo>
                <a:cubicBezTo>
                  <a:pt x="107418" y="124267"/>
                  <a:pt x="101407" y="124306"/>
                  <a:pt x="97728" y="120588"/>
                </a:cubicBezTo>
                <a:lnTo>
                  <a:pt x="78744" y="101604"/>
                </a:lnTo>
                <a:cubicBezTo>
                  <a:pt x="75027" y="97887"/>
                  <a:pt x="75027" y="91875"/>
                  <a:pt x="78744" y="88197"/>
                </a:cubicBezTo>
                <a:lnTo>
                  <a:pt x="97728" y="69213"/>
                </a:lnTo>
                <a:cubicBezTo>
                  <a:pt x="101446" y="65495"/>
                  <a:pt x="107458" y="65495"/>
                  <a:pt x="111136" y="69213"/>
                </a:cubicBezTo>
                <a:cubicBezTo>
                  <a:pt x="114814" y="72931"/>
                  <a:pt x="114854" y="78942"/>
                  <a:pt x="111136" y="82620"/>
                </a:cubicBezTo>
                <a:close/>
                <a:moveTo>
                  <a:pt x="155432" y="69213"/>
                </a:moveTo>
                <a:lnTo>
                  <a:pt x="174416" y="88197"/>
                </a:lnTo>
                <a:cubicBezTo>
                  <a:pt x="178134" y="91915"/>
                  <a:pt x="178134" y="97926"/>
                  <a:pt x="174416" y="101604"/>
                </a:cubicBezTo>
                <a:lnTo>
                  <a:pt x="155432" y="120588"/>
                </a:lnTo>
                <a:cubicBezTo>
                  <a:pt x="151714" y="124306"/>
                  <a:pt x="145703" y="124306"/>
                  <a:pt x="142025" y="120588"/>
                </a:cubicBezTo>
                <a:cubicBezTo>
                  <a:pt x="138347" y="116871"/>
                  <a:pt x="138307" y="110859"/>
                  <a:pt x="142025" y="107181"/>
                </a:cubicBezTo>
                <a:lnTo>
                  <a:pt x="154285" y="94920"/>
                </a:lnTo>
                <a:lnTo>
                  <a:pt x="142025" y="82660"/>
                </a:lnTo>
                <a:cubicBezTo>
                  <a:pt x="138307" y="78942"/>
                  <a:pt x="138307" y="72931"/>
                  <a:pt x="142025" y="69252"/>
                </a:cubicBezTo>
                <a:cubicBezTo>
                  <a:pt x="145742" y="65574"/>
                  <a:pt x="151754" y="65535"/>
                  <a:pt x="155432" y="6925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860612" y="1468102"/>
            <a:ext cx="147654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CRM系统关键操作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6242" y="1805597"/>
            <a:ext cx="6032720" cy="666552"/>
          </a:xfrm>
          <a:custGeom>
            <a:avLst/>
            <a:gdLst/>
            <a:ahLst/>
            <a:cxnLst/>
            <a:rect l="l" t="t" r="r" b="b"/>
            <a:pathLst>
              <a:path w="6032720" h="666552">
                <a:moveTo>
                  <a:pt x="33748" y="0"/>
                </a:moveTo>
                <a:lnTo>
                  <a:pt x="5998972" y="0"/>
                </a:lnTo>
                <a:cubicBezTo>
                  <a:pt x="6017610" y="0"/>
                  <a:pt x="6032720" y="15109"/>
                  <a:pt x="6032720" y="33748"/>
                </a:cubicBezTo>
                <a:lnTo>
                  <a:pt x="6032720" y="632805"/>
                </a:lnTo>
                <a:cubicBezTo>
                  <a:pt x="6032720" y="651443"/>
                  <a:pt x="6017610" y="666552"/>
                  <a:pt x="5998972" y="666552"/>
                </a:cubicBezTo>
                <a:lnTo>
                  <a:pt x="33748" y="666552"/>
                </a:lnTo>
                <a:cubicBezTo>
                  <a:pt x="15109" y="666552"/>
                  <a:pt x="0" y="651443"/>
                  <a:pt x="0" y="632805"/>
                </a:cubicBezTo>
                <a:lnTo>
                  <a:pt x="0" y="33748"/>
                </a:lnTo>
                <a:cubicBezTo>
                  <a:pt x="0" y="15109"/>
                  <a:pt x="15109" y="0"/>
                  <a:pt x="337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7491" y="1906846"/>
            <a:ext cx="5897722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提交漏斗审批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7491" y="2176842"/>
            <a:ext cx="5889284" cy="19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填写MANT信息、3T时间、项目分级分层，区域经理审批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6242" y="2571289"/>
            <a:ext cx="6032720" cy="666552"/>
          </a:xfrm>
          <a:custGeom>
            <a:avLst/>
            <a:gdLst/>
            <a:ahLst/>
            <a:cxnLst/>
            <a:rect l="l" t="t" r="r" b="b"/>
            <a:pathLst>
              <a:path w="6032720" h="666552">
                <a:moveTo>
                  <a:pt x="33748" y="0"/>
                </a:moveTo>
                <a:lnTo>
                  <a:pt x="5998972" y="0"/>
                </a:lnTo>
                <a:cubicBezTo>
                  <a:pt x="6017610" y="0"/>
                  <a:pt x="6032720" y="15109"/>
                  <a:pt x="6032720" y="33748"/>
                </a:cubicBezTo>
                <a:lnTo>
                  <a:pt x="6032720" y="632805"/>
                </a:lnTo>
                <a:cubicBezTo>
                  <a:pt x="6032720" y="651443"/>
                  <a:pt x="6017610" y="666552"/>
                  <a:pt x="5998972" y="666552"/>
                </a:cubicBezTo>
                <a:lnTo>
                  <a:pt x="33748" y="666552"/>
                </a:lnTo>
                <a:cubicBezTo>
                  <a:pt x="15109" y="666552"/>
                  <a:pt x="0" y="651443"/>
                  <a:pt x="0" y="632805"/>
                </a:cubicBezTo>
                <a:lnTo>
                  <a:pt x="0" y="33748"/>
                </a:lnTo>
                <a:cubicBezTo>
                  <a:pt x="0" y="15109"/>
                  <a:pt x="15109" y="0"/>
                  <a:pt x="337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7491" y="2672537"/>
            <a:ext cx="5897722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自动立项审批提交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7491" y="2942533"/>
            <a:ext cx="5889284" cy="19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系统根据项目级别自动发起立项决策申请，自动发送决策人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242" y="3336980"/>
            <a:ext cx="6032720" cy="666552"/>
          </a:xfrm>
          <a:custGeom>
            <a:avLst/>
            <a:gdLst/>
            <a:ahLst/>
            <a:cxnLst/>
            <a:rect l="l" t="t" r="r" b="b"/>
            <a:pathLst>
              <a:path w="6032720" h="666552">
                <a:moveTo>
                  <a:pt x="33748" y="0"/>
                </a:moveTo>
                <a:lnTo>
                  <a:pt x="5998972" y="0"/>
                </a:lnTo>
                <a:cubicBezTo>
                  <a:pt x="6017610" y="0"/>
                  <a:pt x="6032720" y="15109"/>
                  <a:pt x="6032720" y="33748"/>
                </a:cubicBezTo>
                <a:lnTo>
                  <a:pt x="6032720" y="632805"/>
                </a:lnTo>
                <a:cubicBezTo>
                  <a:pt x="6032720" y="651443"/>
                  <a:pt x="6017610" y="666552"/>
                  <a:pt x="5998972" y="666552"/>
                </a:cubicBezTo>
                <a:lnTo>
                  <a:pt x="33748" y="666552"/>
                </a:lnTo>
                <a:cubicBezTo>
                  <a:pt x="15109" y="666552"/>
                  <a:pt x="0" y="651443"/>
                  <a:pt x="0" y="632805"/>
                </a:cubicBezTo>
                <a:lnTo>
                  <a:pt x="0" y="33748"/>
                </a:lnTo>
                <a:cubicBezTo>
                  <a:pt x="0" y="15109"/>
                  <a:pt x="15109" y="0"/>
                  <a:pt x="337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7491" y="3438228"/>
            <a:ext cx="5897722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7491" y="3708224"/>
            <a:ext cx="5889284" cy="19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下载模板创建项目文档、上传飞书、填写项目基本信息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6242" y="4102671"/>
            <a:ext cx="6032720" cy="666552"/>
          </a:xfrm>
          <a:custGeom>
            <a:avLst/>
            <a:gdLst/>
            <a:ahLst/>
            <a:cxnLst/>
            <a:rect l="l" t="t" r="r" b="b"/>
            <a:pathLst>
              <a:path w="6032720" h="666552">
                <a:moveTo>
                  <a:pt x="33748" y="0"/>
                </a:moveTo>
                <a:lnTo>
                  <a:pt x="5998972" y="0"/>
                </a:lnTo>
                <a:cubicBezTo>
                  <a:pt x="6017610" y="0"/>
                  <a:pt x="6032720" y="15109"/>
                  <a:pt x="6032720" y="33748"/>
                </a:cubicBezTo>
                <a:lnTo>
                  <a:pt x="6032720" y="632805"/>
                </a:lnTo>
                <a:cubicBezTo>
                  <a:pt x="6032720" y="651443"/>
                  <a:pt x="6017610" y="666552"/>
                  <a:pt x="5998972" y="666552"/>
                </a:cubicBezTo>
                <a:lnTo>
                  <a:pt x="33748" y="666552"/>
                </a:lnTo>
                <a:cubicBezTo>
                  <a:pt x="15109" y="666552"/>
                  <a:pt x="0" y="651443"/>
                  <a:pt x="0" y="632805"/>
                </a:cubicBezTo>
                <a:lnTo>
                  <a:pt x="0" y="33748"/>
                </a:lnTo>
                <a:cubicBezTo>
                  <a:pt x="0" y="15109"/>
                  <a:pt x="15109" y="0"/>
                  <a:pt x="337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7491" y="4203920"/>
            <a:ext cx="5897722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评审会留痕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7491" y="4473916"/>
            <a:ext cx="5889284" cy="19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解决方案评审会/标前分析会/赢丢单复盘会CRM留痕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4370" y="5037110"/>
            <a:ext cx="6319590" cy="877487"/>
          </a:xfrm>
          <a:custGeom>
            <a:avLst/>
            <a:gdLst/>
            <a:ahLst/>
            <a:cxnLst/>
            <a:rect l="l" t="t" r="r" b="b"/>
            <a:pathLst>
              <a:path w="6319590" h="877487">
                <a:moveTo>
                  <a:pt x="0" y="0"/>
                </a:moveTo>
                <a:lnTo>
                  <a:pt x="6319590" y="0"/>
                </a:lnTo>
                <a:lnTo>
                  <a:pt x="6319590" y="877487"/>
                </a:lnTo>
                <a:lnTo>
                  <a:pt x="0" y="87748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70" y="5037110"/>
            <a:ext cx="33749" cy="877487"/>
          </a:xfrm>
          <a:custGeom>
            <a:avLst/>
            <a:gdLst/>
            <a:ahLst/>
            <a:cxnLst/>
            <a:rect l="l" t="t" r="r" b="b"/>
            <a:pathLst>
              <a:path w="33749" h="877487">
                <a:moveTo>
                  <a:pt x="0" y="0"/>
                </a:moveTo>
                <a:lnTo>
                  <a:pt x="33749" y="0"/>
                </a:lnTo>
                <a:lnTo>
                  <a:pt x="33749" y="877487"/>
                </a:lnTo>
                <a:lnTo>
                  <a:pt x="0" y="87748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554" y="5188983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202497" y="37968"/>
                </a:moveTo>
                <a:cubicBezTo>
                  <a:pt x="202497" y="57822"/>
                  <a:pt x="179123" y="87445"/>
                  <a:pt x="169037" y="99271"/>
                </a:cubicBezTo>
                <a:cubicBezTo>
                  <a:pt x="167535" y="101011"/>
                  <a:pt x="165320" y="101683"/>
                  <a:pt x="163303" y="101248"/>
                </a:cubicBezTo>
                <a:lnTo>
                  <a:pt x="126561" y="101248"/>
                </a:lnTo>
                <a:cubicBezTo>
                  <a:pt x="119560" y="101248"/>
                  <a:pt x="113904" y="106904"/>
                  <a:pt x="113904" y="113904"/>
                </a:cubicBezTo>
                <a:cubicBezTo>
                  <a:pt x="113904" y="120905"/>
                  <a:pt x="119560" y="126561"/>
                  <a:pt x="126561" y="126561"/>
                </a:cubicBezTo>
                <a:lnTo>
                  <a:pt x="164529" y="126561"/>
                </a:lnTo>
                <a:cubicBezTo>
                  <a:pt x="185490" y="126561"/>
                  <a:pt x="202497" y="143567"/>
                  <a:pt x="202497" y="164529"/>
                </a:cubicBezTo>
                <a:cubicBezTo>
                  <a:pt x="202497" y="185490"/>
                  <a:pt x="185490" y="202497"/>
                  <a:pt x="164529" y="202497"/>
                </a:cubicBezTo>
                <a:lnTo>
                  <a:pt x="55212" y="202497"/>
                </a:lnTo>
                <a:cubicBezTo>
                  <a:pt x="58653" y="198581"/>
                  <a:pt x="62845" y="193559"/>
                  <a:pt x="67077" y="187942"/>
                </a:cubicBezTo>
                <a:cubicBezTo>
                  <a:pt x="69569" y="184620"/>
                  <a:pt x="72140" y="180982"/>
                  <a:pt x="74592" y="177185"/>
                </a:cubicBezTo>
                <a:lnTo>
                  <a:pt x="164529" y="177185"/>
                </a:lnTo>
                <a:cubicBezTo>
                  <a:pt x="171529" y="177185"/>
                  <a:pt x="177185" y="171529"/>
                  <a:pt x="177185" y="164529"/>
                </a:cubicBezTo>
                <a:cubicBezTo>
                  <a:pt x="177185" y="157528"/>
                  <a:pt x="171529" y="151873"/>
                  <a:pt x="164529" y="151873"/>
                </a:cubicBezTo>
                <a:lnTo>
                  <a:pt x="126561" y="151873"/>
                </a:lnTo>
                <a:cubicBezTo>
                  <a:pt x="105599" y="151873"/>
                  <a:pt x="88592" y="134866"/>
                  <a:pt x="88592" y="113904"/>
                </a:cubicBezTo>
                <a:cubicBezTo>
                  <a:pt x="88592" y="92943"/>
                  <a:pt x="105599" y="75936"/>
                  <a:pt x="126561" y="75936"/>
                </a:cubicBezTo>
                <a:lnTo>
                  <a:pt x="142302" y="75936"/>
                </a:lnTo>
                <a:cubicBezTo>
                  <a:pt x="133996" y="63478"/>
                  <a:pt x="126561" y="49161"/>
                  <a:pt x="126561" y="37968"/>
                </a:cubicBezTo>
                <a:cubicBezTo>
                  <a:pt x="126561" y="17007"/>
                  <a:pt x="143567" y="0"/>
                  <a:pt x="164529" y="0"/>
                </a:cubicBezTo>
                <a:cubicBezTo>
                  <a:pt x="185490" y="0"/>
                  <a:pt x="202497" y="17007"/>
                  <a:pt x="202497" y="37968"/>
                </a:cubicBezTo>
                <a:close/>
                <a:moveTo>
                  <a:pt x="46313" y="193440"/>
                </a:moveTo>
                <a:cubicBezTo>
                  <a:pt x="44810" y="195141"/>
                  <a:pt x="43466" y="196643"/>
                  <a:pt x="42319" y="197909"/>
                </a:cubicBezTo>
                <a:lnTo>
                  <a:pt x="41607" y="198700"/>
                </a:lnTo>
                <a:lnTo>
                  <a:pt x="41528" y="198621"/>
                </a:lnTo>
                <a:cubicBezTo>
                  <a:pt x="39155" y="200440"/>
                  <a:pt x="35753" y="200203"/>
                  <a:pt x="33618" y="197909"/>
                </a:cubicBezTo>
                <a:cubicBezTo>
                  <a:pt x="23651" y="187072"/>
                  <a:pt x="0" y="159189"/>
                  <a:pt x="0" y="139217"/>
                </a:cubicBezTo>
                <a:cubicBezTo>
                  <a:pt x="0" y="118255"/>
                  <a:pt x="17007" y="101248"/>
                  <a:pt x="37968" y="101248"/>
                </a:cubicBezTo>
                <a:cubicBezTo>
                  <a:pt x="58930" y="101248"/>
                  <a:pt x="75936" y="118255"/>
                  <a:pt x="75936" y="139217"/>
                </a:cubicBezTo>
                <a:cubicBezTo>
                  <a:pt x="75936" y="151082"/>
                  <a:pt x="67591" y="165715"/>
                  <a:pt x="58732" y="177936"/>
                </a:cubicBezTo>
                <a:cubicBezTo>
                  <a:pt x="54500" y="183750"/>
                  <a:pt x="50150" y="189010"/>
                  <a:pt x="46551" y="193163"/>
                </a:cubicBezTo>
                <a:lnTo>
                  <a:pt x="46313" y="193440"/>
                </a:lnTo>
                <a:close/>
                <a:moveTo>
                  <a:pt x="50624" y="139217"/>
                </a:moveTo>
                <a:cubicBezTo>
                  <a:pt x="50624" y="132232"/>
                  <a:pt x="44953" y="126561"/>
                  <a:pt x="37968" y="126561"/>
                </a:cubicBezTo>
                <a:cubicBezTo>
                  <a:pt x="30983" y="126561"/>
                  <a:pt x="25312" y="132232"/>
                  <a:pt x="25312" y="139217"/>
                </a:cubicBezTo>
                <a:cubicBezTo>
                  <a:pt x="25312" y="146202"/>
                  <a:pt x="30983" y="151873"/>
                  <a:pt x="37968" y="151873"/>
                </a:cubicBezTo>
                <a:cubicBezTo>
                  <a:pt x="44953" y="151873"/>
                  <a:pt x="50624" y="146202"/>
                  <a:pt x="50624" y="139217"/>
                </a:cubicBezTo>
                <a:close/>
                <a:moveTo>
                  <a:pt x="164529" y="50624"/>
                </a:moveTo>
                <a:cubicBezTo>
                  <a:pt x="171514" y="50624"/>
                  <a:pt x="177185" y="44953"/>
                  <a:pt x="177185" y="37968"/>
                </a:cubicBezTo>
                <a:cubicBezTo>
                  <a:pt x="177185" y="30983"/>
                  <a:pt x="171514" y="25312"/>
                  <a:pt x="164529" y="25312"/>
                </a:cubicBezTo>
                <a:cubicBezTo>
                  <a:pt x="157544" y="25312"/>
                  <a:pt x="151873" y="30983"/>
                  <a:pt x="151873" y="37968"/>
                </a:cubicBezTo>
                <a:cubicBezTo>
                  <a:pt x="151873" y="44953"/>
                  <a:pt x="157544" y="50624"/>
                  <a:pt x="164529" y="5062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Text 22"/>
          <p:cNvSpPr/>
          <p:nvPr/>
        </p:nvSpPr>
        <p:spPr>
          <a:xfrm>
            <a:off x="860612" y="5172108"/>
            <a:ext cx="113904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CRM访问路径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6242" y="5509603"/>
            <a:ext cx="767801" cy="269996"/>
          </a:xfrm>
          <a:custGeom>
            <a:avLst/>
            <a:gdLst/>
            <a:ahLst/>
            <a:cxnLst/>
            <a:rect l="l" t="t" r="r" b="b"/>
            <a:pathLst>
              <a:path w="767801" h="269996">
                <a:moveTo>
                  <a:pt x="33749" y="0"/>
                </a:moveTo>
                <a:lnTo>
                  <a:pt x="734051" y="0"/>
                </a:lnTo>
                <a:cubicBezTo>
                  <a:pt x="752691" y="0"/>
                  <a:pt x="767801" y="15110"/>
                  <a:pt x="767801" y="33749"/>
                </a:cubicBezTo>
                <a:lnTo>
                  <a:pt x="767801" y="236246"/>
                </a:lnTo>
                <a:cubicBezTo>
                  <a:pt x="767801" y="254886"/>
                  <a:pt x="752691" y="269996"/>
                  <a:pt x="734051" y="269996"/>
                </a:cubicBezTo>
                <a:lnTo>
                  <a:pt x="33749" y="269996"/>
                </a:lnTo>
                <a:cubicBezTo>
                  <a:pt x="15110" y="269996"/>
                  <a:pt x="0" y="254886"/>
                  <a:pt x="0" y="236246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6242" y="5509603"/>
            <a:ext cx="835300" cy="269996"/>
          </a:xfrm>
          <a:prstGeom prst="rect">
            <a:avLst/>
          </a:prstGeom>
          <a:noFill/>
          <a:ln/>
        </p:spPr>
        <p:txBody>
          <a:bodyPr wrap="square" lIns="101248" tIns="33749" rIns="101248" bIns="33749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登录CRM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59893" y="5577102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32519" y="73458"/>
                </a:moveTo>
                <a:cubicBezTo>
                  <a:pt x="135815" y="70162"/>
                  <a:pt x="135815" y="64810"/>
                  <a:pt x="132519" y="61514"/>
                </a:cubicBezTo>
                <a:lnTo>
                  <a:pt x="90333" y="19327"/>
                </a:lnTo>
                <a:cubicBezTo>
                  <a:pt x="87037" y="16031"/>
                  <a:pt x="81684" y="16031"/>
                  <a:pt x="78388" y="19327"/>
                </a:cubicBezTo>
                <a:cubicBezTo>
                  <a:pt x="75093" y="22623"/>
                  <a:pt x="75093" y="27975"/>
                  <a:pt x="78388" y="31271"/>
                </a:cubicBezTo>
                <a:lnTo>
                  <a:pt x="106179" y="59062"/>
                </a:lnTo>
                <a:lnTo>
                  <a:pt x="8437" y="59062"/>
                </a:lnTo>
                <a:cubicBezTo>
                  <a:pt x="3770" y="59062"/>
                  <a:pt x="0" y="62832"/>
                  <a:pt x="0" y="67499"/>
                </a:cubicBezTo>
                <a:cubicBezTo>
                  <a:pt x="0" y="72166"/>
                  <a:pt x="3770" y="75936"/>
                  <a:pt x="8437" y="75936"/>
                </a:cubicBezTo>
                <a:lnTo>
                  <a:pt x="106179" y="75936"/>
                </a:lnTo>
                <a:lnTo>
                  <a:pt x="78388" y="103727"/>
                </a:lnTo>
                <a:cubicBezTo>
                  <a:pt x="75093" y="107023"/>
                  <a:pt x="75093" y="112375"/>
                  <a:pt x="78388" y="115671"/>
                </a:cubicBezTo>
                <a:cubicBezTo>
                  <a:pt x="81684" y="118967"/>
                  <a:pt x="87037" y="118967"/>
                  <a:pt x="90333" y="115671"/>
                </a:cubicBezTo>
                <a:lnTo>
                  <a:pt x="132519" y="73484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9265" y="5509603"/>
            <a:ext cx="742489" cy="269996"/>
          </a:xfrm>
          <a:custGeom>
            <a:avLst/>
            <a:gdLst/>
            <a:ahLst/>
            <a:cxnLst/>
            <a:rect l="l" t="t" r="r" b="b"/>
            <a:pathLst>
              <a:path w="742489" h="269996">
                <a:moveTo>
                  <a:pt x="33749" y="0"/>
                </a:moveTo>
                <a:lnTo>
                  <a:pt x="708739" y="0"/>
                </a:lnTo>
                <a:cubicBezTo>
                  <a:pt x="727378" y="0"/>
                  <a:pt x="742489" y="15110"/>
                  <a:pt x="742489" y="33749"/>
                </a:cubicBezTo>
                <a:lnTo>
                  <a:pt x="742489" y="236246"/>
                </a:lnTo>
                <a:cubicBezTo>
                  <a:pt x="742489" y="254886"/>
                  <a:pt x="727378" y="269996"/>
                  <a:pt x="708739" y="269996"/>
                </a:cubicBezTo>
                <a:lnTo>
                  <a:pt x="33749" y="269996"/>
                </a:lnTo>
                <a:cubicBezTo>
                  <a:pt x="15110" y="269996"/>
                  <a:pt x="0" y="254886"/>
                  <a:pt x="0" y="236246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579265" y="5509603"/>
            <a:ext cx="809988" cy="269996"/>
          </a:xfrm>
          <a:prstGeom prst="rect">
            <a:avLst/>
          </a:prstGeom>
          <a:noFill/>
          <a:ln/>
        </p:spPr>
        <p:txBody>
          <a:bodyPr wrap="square" lIns="101248" tIns="33749" rIns="101248" bIns="33749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06127" y="5577102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32519" y="73458"/>
                </a:moveTo>
                <a:cubicBezTo>
                  <a:pt x="135815" y="70162"/>
                  <a:pt x="135815" y="64810"/>
                  <a:pt x="132519" y="61514"/>
                </a:cubicBezTo>
                <a:lnTo>
                  <a:pt x="90333" y="19327"/>
                </a:lnTo>
                <a:cubicBezTo>
                  <a:pt x="87037" y="16031"/>
                  <a:pt x="81684" y="16031"/>
                  <a:pt x="78388" y="19327"/>
                </a:cubicBezTo>
                <a:cubicBezTo>
                  <a:pt x="75093" y="22623"/>
                  <a:pt x="75093" y="27975"/>
                  <a:pt x="78388" y="31271"/>
                </a:cubicBezTo>
                <a:lnTo>
                  <a:pt x="106179" y="59062"/>
                </a:lnTo>
                <a:lnTo>
                  <a:pt x="8437" y="59062"/>
                </a:lnTo>
                <a:cubicBezTo>
                  <a:pt x="3770" y="59062"/>
                  <a:pt x="0" y="62832"/>
                  <a:pt x="0" y="67499"/>
                </a:cubicBezTo>
                <a:cubicBezTo>
                  <a:pt x="0" y="72166"/>
                  <a:pt x="3770" y="75936"/>
                  <a:pt x="8437" y="75936"/>
                </a:cubicBezTo>
                <a:lnTo>
                  <a:pt x="106179" y="75936"/>
                </a:lnTo>
                <a:lnTo>
                  <a:pt x="78388" y="103727"/>
                </a:lnTo>
                <a:cubicBezTo>
                  <a:pt x="75093" y="107023"/>
                  <a:pt x="75093" y="112375"/>
                  <a:pt x="78388" y="115671"/>
                </a:cubicBezTo>
                <a:cubicBezTo>
                  <a:pt x="81684" y="118967"/>
                  <a:pt x="87037" y="118967"/>
                  <a:pt x="90333" y="115671"/>
                </a:cubicBezTo>
                <a:lnTo>
                  <a:pt x="132519" y="73484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1" name="Shape 29"/>
          <p:cNvSpPr/>
          <p:nvPr/>
        </p:nvSpPr>
        <p:spPr>
          <a:xfrm>
            <a:off x="2625499" y="5509603"/>
            <a:ext cx="742489" cy="269996"/>
          </a:xfrm>
          <a:custGeom>
            <a:avLst/>
            <a:gdLst/>
            <a:ahLst/>
            <a:cxnLst/>
            <a:rect l="l" t="t" r="r" b="b"/>
            <a:pathLst>
              <a:path w="742489" h="269996">
                <a:moveTo>
                  <a:pt x="33749" y="0"/>
                </a:moveTo>
                <a:lnTo>
                  <a:pt x="708739" y="0"/>
                </a:lnTo>
                <a:cubicBezTo>
                  <a:pt x="727378" y="0"/>
                  <a:pt x="742489" y="15110"/>
                  <a:pt x="742489" y="33749"/>
                </a:cubicBezTo>
                <a:lnTo>
                  <a:pt x="742489" y="236246"/>
                </a:lnTo>
                <a:cubicBezTo>
                  <a:pt x="742489" y="254886"/>
                  <a:pt x="727378" y="269996"/>
                  <a:pt x="708739" y="269996"/>
                </a:cubicBezTo>
                <a:lnTo>
                  <a:pt x="33749" y="269996"/>
                </a:lnTo>
                <a:cubicBezTo>
                  <a:pt x="15110" y="269996"/>
                  <a:pt x="0" y="254886"/>
                  <a:pt x="0" y="236246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625499" y="5509603"/>
            <a:ext cx="809988" cy="269996"/>
          </a:xfrm>
          <a:prstGeom prst="rect">
            <a:avLst/>
          </a:prstGeom>
          <a:noFill/>
          <a:ln/>
        </p:spPr>
        <p:txBody>
          <a:bodyPr wrap="square" lIns="101248" tIns="33749" rIns="101248" bIns="33749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公共空间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52361" y="5577102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32519" y="73458"/>
                </a:moveTo>
                <a:cubicBezTo>
                  <a:pt x="135815" y="70162"/>
                  <a:pt x="135815" y="64810"/>
                  <a:pt x="132519" y="61514"/>
                </a:cubicBezTo>
                <a:lnTo>
                  <a:pt x="90333" y="19327"/>
                </a:lnTo>
                <a:cubicBezTo>
                  <a:pt x="87037" y="16031"/>
                  <a:pt x="81684" y="16031"/>
                  <a:pt x="78388" y="19327"/>
                </a:cubicBezTo>
                <a:cubicBezTo>
                  <a:pt x="75093" y="22623"/>
                  <a:pt x="75093" y="27975"/>
                  <a:pt x="78388" y="31271"/>
                </a:cubicBezTo>
                <a:lnTo>
                  <a:pt x="106179" y="59062"/>
                </a:lnTo>
                <a:lnTo>
                  <a:pt x="8437" y="59062"/>
                </a:lnTo>
                <a:cubicBezTo>
                  <a:pt x="3770" y="59062"/>
                  <a:pt x="0" y="62832"/>
                  <a:pt x="0" y="67499"/>
                </a:cubicBezTo>
                <a:cubicBezTo>
                  <a:pt x="0" y="72166"/>
                  <a:pt x="3770" y="75936"/>
                  <a:pt x="8437" y="75936"/>
                </a:cubicBezTo>
                <a:lnTo>
                  <a:pt x="106179" y="75936"/>
                </a:lnTo>
                <a:lnTo>
                  <a:pt x="78388" y="103727"/>
                </a:lnTo>
                <a:cubicBezTo>
                  <a:pt x="75093" y="107023"/>
                  <a:pt x="75093" y="112375"/>
                  <a:pt x="78388" y="115671"/>
                </a:cubicBezTo>
                <a:cubicBezTo>
                  <a:pt x="81684" y="118967"/>
                  <a:pt x="87037" y="118967"/>
                  <a:pt x="90333" y="115671"/>
                </a:cubicBezTo>
                <a:lnTo>
                  <a:pt x="132519" y="73484"/>
                </a:lnTo>
                <a:close/>
              </a:path>
            </a:pathLst>
          </a:custGeom>
          <a:solidFill>
            <a:srgbClr val="888B8D"/>
          </a:solidFill>
          <a:ln/>
        </p:spPr>
      </p:sp>
      <p:sp>
        <p:nvSpPr>
          <p:cNvPr id="34" name="Shape 32"/>
          <p:cNvSpPr/>
          <p:nvPr/>
        </p:nvSpPr>
        <p:spPr>
          <a:xfrm>
            <a:off x="3671733" y="5509603"/>
            <a:ext cx="961860" cy="269996"/>
          </a:xfrm>
          <a:custGeom>
            <a:avLst/>
            <a:gdLst/>
            <a:ahLst/>
            <a:cxnLst/>
            <a:rect l="l" t="t" r="r" b="b"/>
            <a:pathLst>
              <a:path w="961860" h="269996">
                <a:moveTo>
                  <a:pt x="33749" y="0"/>
                </a:moveTo>
                <a:lnTo>
                  <a:pt x="928111" y="0"/>
                </a:lnTo>
                <a:cubicBezTo>
                  <a:pt x="946750" y="0"/>
                  <a:pt x="961860" y="15110"/>
                  <a:pt x="961860" y="33749"/>
                </a:cubicBezTo>
                <a:lnTo>
                  <a:pt x="961860" y="236246"/>
                </a:lnTo>
                <a:cubicBezTo>
                  <a:pt x="961860" y="254886"/>
                  <a:pt x="946750" y="269996"/>
                  <a:pt x="928111" y="269996"/>
                </a:cubicBezTo>
                <a:lnTo>
                  <a:pt x="33749" y="269996"/>
                </a:lnTo>
                <a:cubicBezTo>
                  <a:pt x="15110" y="269996"/>
                  <a:pt x="0" y="254886"/>
                  <a:pt x="0" y="236246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671733" y="5509603"/>
            <a:ext cx="1029359" cy="269996"/>
          </a:xfrm>
          <a:prstGeom prst="rect">
            <a:avLst/>
          </a:prstGeom>
          <a:noFill/>
          <a:ln/>
        </p:spPr>
        <p:txBody>
          <a:bodyPr wrap="square" lIns="101248" tIns="33749" rIns="101248" bIns="33749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MO流程看板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82574" y="1339854"/>
            <a:ext cx="4966236" cy="3017204"/>
          </a:xfrm>
          <a:custGeom>
            <a:avLst/>
            <a:gdLst/>
            <a:ahLst/>
            <a:cxnLst/>
            <a:rect l="l" t="t" r="r" b="b"/>
            <a:pathLst>
              <a:path w="4966236" h="3017204">
                <a:moveTo>
                  <a:pt x="0" y="0"/>
                </a:moveTo>
                <a:lnTo>
                  <a:pt x="4966236" y="0"/>
                </a:lnTo>
                <a:lnTo>
                  <a:pt x="4966236" y="3017204"/>
                </a:lnTo>
                <a:lnTo>
                  <a:pt x="0" y="3017204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4902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74946" y="1498478"/>
            <a:ext cx="151873" cy="202497"/>
          </a:xfrm>
          <a:custGeom>
            <a:avLst/>
            <a:gdLst/>
            <a:ahLst/>
            <a:cxnLst/>
            <a:rect l="l" t="t" r="r" b="b"/>
            <a:pathLst>
              <a:path w="151873" h="202497">
                <a:moveTo>
                  <a:pt x="123159" y="12656"/>
                </a:moveTo>
                <a:lnTo>
                  <a:pt x="126561" y="12656"/>
                </a:lnTo>
                <a:cubicBezTo>
                  <a:pt x="140522" y="12656"/>
                  <a:pt x="151873" y="24007"/>
                  <a:pt x="151873" y="37968"/>
                </a:cubicBezTo>
                <a:lnTo>
                  <a:pt x="151873" y="177185"/>
                </a:lnTo>
                <a:cubicBezTo>
                  <a:pt x="151873" y="191146"/>
                  <a:pt x="140522" y="202497"/>
                  <a:pt x="126561" y="202497"/>
                </a:cubicBezTo>
                <a:lnTo>
                  <a:pt x="25312" y="202497"/>
                </a:lnTo>
                <a:cubicBezTo>
                  <a:pt x="11351" y="202497"/>
                  <a:pt x="0" y="191146"/>
                  <a:pt x="0" y="177185"/>
                </a:cubicBezTo>
                <a:lnTo>
                  <a:pt x="0" y="37968"/>
                </a:lnTo>
                <a:cubicBezTo>
                  <a:pt x="0" y="24007"/>
                  <a:pt x="11351" y="12656"/>
                  <a:pt x="25312" y="12656"/>
                </a:cubicBezTo>
                <a:lnTo>
                  <a:pt x="28713" y="12656"/>
                </a:lnTo>
                <a:cubicBezTo>
                  <a:pt x="33064" y="5102"/>
                  <a:pt x="41251" y="0"/>
                  <a:pt x="50624" y="0"/>
                </a:cubicBezTo>
                <a:lnTo>
                  <a:pt x="101248" y="0"/>
                </a:lnTo>
                <a:cubicBezTo>
                  <a:pt x="110622" y="0"/>
                  <a:pt x="118809" y="5102"/>
                  <a:pt x="123159" y="12656"/>
                </a:cubicBezTo>
                <a:close/>
                <a:moveTo>
                  <a:pt x="98084" y="44296"/>
                </a:moveTo>
                <a:cubicBezTo>
                  <a:pt x="103345" y="44296"/>
                  <a:pt x="107576" y="40064"/>
                  <a:pt x="107576" y="34804"/>
                </a:cubicBezTo>
                <a:cubicBezTo>
                  <a:pt x="107576" y="29544"/>
                  <a:pt x="103345" y="25312"/>
                  <a:pt x="98084" y="25312"/>
                </a:cubicBezTo>
                <a:lnTo>
                  <a:pt x="53788" y="25312"/>
                </a:lnTo>
                <a:cubicBezTo>
                  <a:pt x="48528" y="25312"/>
                  <a:pt x="44296" y="29544"/>
                  <a:pt x="44296" y="34804"/>
                </a:cubicBezTo>
                <a:cubicBezTo>
                  <a:pt x="44296" y="40064"/>
                  <a:pt x="48528" y="44296"/>
                  <a:pt x="53788" y="44296"/>
                </a:cubicBezTo>
                <a:lnTo>
                  <a:pt x="98084" y="44296"/>
                </a:lnTo>
                <a:close/>
                <a:moveTo>
                  <a:pt x="109317" y="103107"/>
                </a:moveTo>
                <a:cubicBezTo>
                  <a:pt x="112085" y="98678"/>
                  <a:pt x="110740" y="92824"/>
                  <a:pt x="106311" y="90016"/>
                </a:cubicBezTo>
                <a:cubicBezTo>
                  <a:pt x="101881" y="87208"/>
                  <a:pt x="96028" y="88592"/>
                  <a:pt x="93220" y="93022"/>
                </a:cubicBezTo>
                <a:lnTo>
                  <a:pt x="68936" y="131900"/>
                </a:lnTo>
                <a:lnTo>
                  <a:pt x="58257" y="117662"/>
                </a:lnTo>
                <a:cubicBezTo>
                  <a:pt x="55093" y="113469"/>
                  <a:pt x="49161" y="112599"/>
                  <a:pt x="44969" y="115763"/>
                </a:cubicBezTo>
                <a:cubicBezTo>
                  <a:pt x="40776" y="118927"/>
                  <a:pt x="39906" y="124860"/>
                  <a:pt x="43070" y="129052"/>
                </a:cubicBezTo>
                <a:lnTo>
                  <a:pt x="62054" y="154364"/>
                </a:lnTo>
                <a:cubicBezTo>
                  <a:pt x="63913" y="156856"/>
                  <a:pt x="66919" y="158280"/>
                  <a:pt x="70043" y="158161"/>
                </a:cubicBezTo>
                <a:cubicBezTo>
                  <a:pt x="73168" y="158042"/>
                  <a:pt x="76015" y="156381"/>
                  <a:pt x="77677" y="153692"/>
                </a:cubicBezTo>
                <a:lnTo>
                  <a:pt x="109317" y="10306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7378691" y="1481603"/>
            <a:ext cx="109685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执行检查机制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24322" y="1819098"/>
            <a:ext cx="4682740" cy="708739"/>
          </a:xfrm>
          <a:custGeom>
            <a:avLst/>
            <a:gdLst/>
            <a:ahLst/>
            <a:cxnLst/>
            <a:rect l="l" t="t" r="r" b="b"/>
            <a:pathLst>
              <a:path w="4682740" h="708739">
                <a:moveTo>
                  <a:pt x="33750" y="0"/>
                </a:moveTo>
                <a:lnTo>
                  <a:pt x="4648990" y="0"/>
                </a:lnTo>
                <a:cubicBezTo>
                  <a:pt x="4667630" y="0"/>
                  <a:pt x="4682740" y="15110"/>
                  <a:pt x="4682740" y="33750"/>
                </a:cubicBezTo>
                <a:lnTo>
                  <a:pt x="4682740" y="674989"/>
                </a:lnTo>
                <a:cubicBezTo>
                  <a:pt x="4682740" y="693629"/>
                  <a:pt x="4667630" y="708739"/>
                  <a:pt x="4648990" y="708739"/>
                </a:cubicBezTo>
                <a:lnTo>
                  <a:pt x="33750" y="708739"/>
                </a:lnTo>
                <a:cubicBezTo>
                  <a:pt x="15123" y="708739"/>
                  <a:pt x="0" y="693616"/>
                  <a:pt x="0" y="674989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25570" y="1920346"/>
            <a:ext cx="455618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考核周期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5570" y="2224092"/>
            <a:ext cx="4547743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月度、季度进行关键任务执行看板检查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24322" y="2629085"/>
            <a:ext cx="4682740" cy="708739"/>
          </a:xfrm>
          <a:custGeom>
            <a:avLst/>
            <a:gdLst/>
            <a:ahLst/>
            <a:cxnLst/>
            <a:rect l="l" t="t" r="r" b="b"/>
            <a:pathLst>
              <a:path w="4682740" h="708739">
                <a:moveTo>
                  <a:pt x="33750" y="0"/>
                </a:moveTo>
                <a:lnTo>
                  <a:pt x="4648990" y="0"/>
                </a:lnTo>
                <a:cubicBezTo>
                  <a:pt x="4667630" y="0"/>
                  <a:pt x="4682740" y="15110"/>
                  <a:pt x="4682740" y="33750"/>
                </a:cubicBezTo>
                <a:lnTo>
                  <a:pt x="4682740" y="674989"/>
                </a:lnTo>
                <a:cubicBezTo>
                  <a:pt x="4682740" y="693629"/>
                  <a:pt x="4667630" y="708739"/>
                  <a:pt x="4648990" y="708739"/>
                </a:cubicBezTo>
                <a:lnTo>
                  <a:pt x="33750" y="708739"/>
                </a:lnTo>
                <a:cubicBezTo>
                  <a:pt x="15123" y="708739"/>
                  <a:pt x="0" y="693616"/>
                  <a:pt x="0" y="674989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25570" y="2730334"/>
            <a:ext cx="455618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考核应用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25570" y="3034079"/>
            <a:ext cx="4547743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应用至QBC季度考核打分，直接应用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24322" y="3439073"/>
            <a:ext cx="4682740" cy="776238"/>
          </a:xfrm>
          <a:custGeom>
            <a:avLst/>
            <a:gdLst/>
            <a:ahLst/>
            <a:cxnLst/>
            <a:rect l="l" t="t" r="r" b="b"/>
            <a:pathLst>
              <a:path w="4682740" h="776238">
                <a:moveTo>
                  <a:pt x="33751" y="0"/>
                </a:moveTo>
                <a:lnTo>
                  <a:pt x="4648990" y="0"/>
                </a:lnTo>
                <a:cubicBezTo>
                  <a:pt x="4667630" y="0"/>
                  <a:pt x="4682740" y="15111"/>
                  <a:pt x="4682740" y="33751"/>
                </a:cubicBezTo>
                <a:lnTo>
                  <a:pt x="4682740" y="742487"/>
                </a:lnTo>
                <a:cubicBezTo>
                  <a:pt x="4682740" y="761127"/>
                  <a:pt x="4667630" y="776238"/>
                  <a:pt x="4648990" y="776238"/>
                </a:cubicBezTo>
                <a:lnTo>
                  <a:pt x="33751" y="776238"/>
                </a:lnTo>
                <a:cubicBezTo>
                  <a:pt x="15111" y="776238"/>
                  <a:pt x="0" y="761127"/>
                  <a:pt x="0" y="742487"/>
                </a:cubicBezTo>
                <a:lnTo>
                  <a:pt x="0" y="33751"/>
                </a:lnTo>
                <a:cubicBezTo>
                  <a:pt x="0" y="15123"/>
                  <a:pt x="15123" y="0"/>
                  <a:pt x="337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125570" y="3540321"/>
            <a:ext cx="4556180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扣分标准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25570" y="3844067"/>
            <a:ext cx="4547743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</a:t>
            </a:r>
            <a:r>
              <a:rPr lang="en-US" sz="1594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0.5分</a:t>
            </a: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QBC分值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92699" y="4498700"/>
            <a:ext cx="4961174" cy="1484977"/>
          </a:xfrm>
          <a:custGeom>
            <a:avLst/>
            <a:gdLst/>
            <a:ahLst/>
            <a:cxnLst/>
            <a:rect l="l" t="t" r="r" b="b"/>
            <a:pathLst>
              <a:path w="4961174" h="1484977">
                <a:moveTo>
                  <a:pt x="0" y="0"/>
                </a:moveTo>
                <a:lnTo>
                  <a:pt x="4961174" y="0"/>
                </a:lnTo>
                <a:lnTo>
                  <a:pt x="4961174" y="1484977"/>
                </a:lnTo>
                <a:lnTo>
                  <a:pt x="0" y="148497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92699" y="4498700"/>
            <a:ext cx="33749" cy="1484977"/>
          </a:xfrm>
          <a:custGeom>
            <a:avLst/>
            <a:gdLst/>
            <a:ahLst/>
            <a:cxnLst/>
            <a:rect l="l" t="t" r="r" b="b"/>
            <a:pathLst>
              <a:path w="33749" h="1484977">
                <a:moveTo>
                  <a:pt x="0" y="0"/>
                </a:moveTo>
                <a:lnTo>
                  <a:pt x="33749" y="0"/>
                </a:lnTo>
                <a:lnTo>
                  <a:pt x="33749" y="1484977"/>
                </a:lnTo>
                <a:lnTo>
                  <a:pt x="0" y="148497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0" name="Shape 48"/>
          <p:cNvSpPr/>
          <p:nvPr/>
        </p:nvSpPr>
        <p:spPr>
          <a:xfrm>
            <a:off x="7069883" y="4650573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01248" y="0"/>
                </a:moveTo>
                <a:cubicBezTo>
                  <a:pt x="107062" y="0"/>
                  <a:pt x="112402" y="3204"/>
                  <a:pt x="115170" y="8306"/>
                </a:cubicBezTo>
                <a:lnTo>
                  <a:pt x="200598" y="166506"/>
                </a:lnTo>
                <a:cubicBezTo>
                  <a:pt x="203248" y="171410"/>
                  <a:pt x="203130" y="177343"/>
                  <a:pt x="200282" y="182129"/>
                </a:cubicBezTo>
                <a:cubicBezTo>
                  <a:pt x="197434" y="186914"/>
                  <a:pt x="192253" y="189841"/>
                  <a:pt x="186677" y="189841"/>
                </a:cubicBezTo>
                <a:lnTo>
                  <a:pt x="15820" y="189841"/>
                </a:lnTo>
                <a:cubicBezTo>
                  <a:pt x="10243" y="189841"/>
                  <a:pt x="5102" y="186914"/>
                  <a:pt x="2215" y="182129"/>
                </a:cubicBezTo>
                <a:cubicBezTo>
                  <a:pt x="-672" y="177343"/>
                  <a:pt x="-751" y="171410"/>
                  <a:pt x="1898" y="166506"/>
                </a:cubicBezTo>
                <a:lnTo>
                  <a:pt x="87327" y="8306"/>
                </a:lnTo>
                <a:cubicBezTo>
                  <a:pt x="90095" y="3204"/>
                  <a:pt x="95435" y="0"/>
                  <a:pt x="101248" y="0"/>
                </a:cubicBezTo>
                <a:close/>
                <a:moveTo>
                  <a:pt x="101248" y="66444"/>
                </a:moveTo>
                <a:cubicBezTo>
                  <a:pt x="95988" y="66444"/>
                  <a:pt x="91756" y="70676"/>
                  <a:pt x="91756" y="75936"/>
                </a:cubicBezTo>
                <a:lnTo>
                  <a:pt x="91756" y="120233"/>
                </a:lnTo>
                <a:cubicBezTo>
                  <a:pt x="91756" y="125493"/>
                  <a:pt x="95988" y="129725"/>
                  <a:pt x="101248" y="129725"/>
                </a:cubicBezTo>
                <a:cubicBezTo>
                  <a:pt x="106509" y="129725"/>
                  <a:pt x="110740" y="125493"/>
                  <a:pt x="110740" y="120233"/>
                </a:cubicBezTo>
                <a:lnTo>
                  <a:pt x="110740" y="75936"/>
                </a:lnTo>
                <a:cubicBezTo>
                  <a:pt x="110740" y="70676"/>
                  <a:pt x="106509" y="66444"/>
                  <a:pt x="101248" y="66444"/>
                </a:cubicBezTo>
                <a:close/>
                <a:moveTo>
                  <a:pt x="111808" y="151873"/>
                </a:moveTo>
                <a:cubicBezTo>
                  <a:pt x="112049" y="147953"/>
                  <a:pt x="110094" y="144224"/>
                  <a:pt x="106734" y="142191"/>
                </a:cubicBezTo>
                <a:cubicBezTo>
                  <a:pt x="103373" y="140159"/>
                  <a:pt x="99163" y="140159"/>
                  <a:pt x="95803" y="142191"/>
                </a:cubicBezTo>
                <a:cubicBezTo>
                  <a:pt x="92443" y="144224"/>
                  <a:pt x="90488" y="147953"/>
                  <a:pt x="90728" y="151873"/>
                </a:cubicBezTo>
                <a:cubicBezTo>
                  <a:pt x="90488" y="155792"/>
                  <a:pt x="92443" y="159522"/>
                  <a:pt x="95803" y="161554"/>
                </a:cubicBezTo>
                <a:cubicBezTo>
                  <a:pt x="99163" y="163587"/>
                  <a:pt x="103373" y="163587"/>
                  <a:pt x="106734" y="161554"/>
                </a:cubicBezTo>
                <a:cubicBezTo>
                  <a:pt x="110094" y="159522"/>
                  <a:pt x="112049" y="155792"/>
                  <a:pt x="111808" y="151873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1" name="Text 49"/>
          <p:cNvSpPr/>
          <p:nvPr/>
        </p:nvSpPr>
        <p:spPr>
          <a:xfrm>
            <a:off x="7398941" y="4633698"/>
            <a:ext cx="109685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特殊场景说明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4571" y="4971193"/>
            <a:ext cx="4741802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场景1：</a:t>
            </a: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满足立项标准的区域级/BU级/BG级项目修改"是否发起立项申请"为"否"，需填写具体不立项原因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44571" y="5443686"/>
            <a:ext cx="4741802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场景2：</a:t>
            </a:r>
            <a:r>
              <a:rPr lang="en-US" sz="106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不满足立项初始标准的一般项目想要立项，需调整"分级分层"为区域级/BU级/BG级，同时"是否发起立项申请"填写为"是"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43a5dc47b94bae8d30779408aa862ffe4f5d73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3748" b="33748"/>
          <a:stretch/>
        </p:blipFill>
        <p:spPr>
          <a:xfrm>
            <a:off x="0" y="0"/>
            <a:ext cx="12192000" cy="70711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6672404"/>
          </a:xfrm>
          <a:custGeom>
            <a:avLst/>
            <a:gdLst/>
            <a:ahLst/>
            <a:cxnLst/>
            <a:rect l="l" t="t" r="r" b="b"/>
            <a:pathLst>
              <a:path w="12192000" h="7071175">
                <a:moveTo>
                  <a:pt x="0" y="0"/>
                </a:moveTo>
                <a:lnTo>
                  <a:pt x="12192000" y="0"/>
                </a:lnTo>
                <a:lnTo>
                  <a:pt x="12192000" y="7071175"/>
                </a:lnTo>
                <a:lnTo>
                  <a:pt x="0" y="70711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97290" y="10630"/>
            <a:ext cx="4601348" cy="598970"/>
          </a:xfrm>
          <a:custGeom>
            <a:avLst/>
            <a:gdLst/>
            <a:ahLst/>
            <a:cxnLst/>
            <a:rect l="l" t="t" r="r" b="b"/>
            <a:pathLst>
              <a:path w="4601348" h="598970">
                <a:moveTo>
                  <a:pt x="73949" y="0"/>
                </a:moveTo>
                <a:lnTo>
                  <a:pt x="4527399" y="0"/>
                </a:lnTo>
                <a:cubicBezTo>
                  <a:pt x="4568240" y="0"/>
                  <a:pt x="4601348" y="33108"/>
                  <a:pt x="4601348" y="73949"/>
                </a:cubicBezTo>
                <a:lnTo>
                  <a:pt x="4601348" y="525021"/>
                </a:lnTo>
                <a:cubicBezTo>
                  <a:pt x="4601348" y="565862"/>
                  <a:pt x="4568240" y="598970"/>
                  <a:pt x="4527399" y="598970"/>
                </a:cubicBezTo>
                <a:lnTo>
                  <a:pt x="73949" y="598970"/>
                </a:lnTo>
                <a:cubicBezTo>
                  <a:pt x="33135" y="598970"/>
                  <a:pt x="0" y="565835"/>
                  <a:pt x="0" y="525021"/>
                </a:cubicBezTo>
                <a:lnTo>
                  <a:pt x="0" y="73949"/>
                </a:lnTo>
                <a:cubicBezTo>
                  <a:pt x="0" y="33108"/>
                  <a:pt x="33108" y="0"/>
                  <a:pt x="73949" y="0"/>
                </a:cubicBezTo>
                <a:close/>
              </a:path>
            </a:pathLst>
          </a:custGeom>
          <a:solidFill>
            <a:srgbClr val="D4A373"/>
          </a:solidFill>
          <a:ln w="10160">
            <a:solidFill>
              <a:srgbClr val="D4A37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1315" y="162228"/>
            <a:ext cx="4113298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kern="0" spc="87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全生命周期管理 · 共创高质量商机转化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95891" y="908973"/>
            <a:ext cx="6202299" cy="138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6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携手并进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6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推动MO流程高质量落地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56993" y="2591266"/>
            <a:ext cx="1478939" cy="55460"/>
          </a:xfrm>
          <a:custGeom>
            <a:avLst/>
            <a:gdLst/>
            <a:ahLst/>
            <a:cxnLst/>
            <a:rect l="l" t="t" r="r" b="b"/>
            <a:pathLst>
              <a:path w="1478939" h="55460">
                <a:moveTo>
                  <a:pt x="0" y="0"/>
                </a:moveTo>
                <a:lnTo>
                  <a:pt x="1478939" y="0"/>
                </a:lnTo>
                <a:lnTo>
                  <a:pt x="1478939" y="55460"/>
                </a:lnTo>
                <a:lnTo>
                  <a:pt x="0" y="5546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5"/>
          <p:cNvSpPr/>
          <p:nvPr/>
        </p:nvSpPr>
        <p:spPr>
          <a:xfrm>
            <a:off x="1367556" y="3020158"/>
            <a:ext cx="2946785" cy="2077909"/>
          </a:xfrm>
          <a:custGeom>
            <a:avLst/>
            <a:gdLst/>
            <a:ahLst/>
            <a:cxnLst/>
            <a:rect l="l" t="t" r="r" b="b"/>
            <a:pathLst>
              <a:path w="2946785" h="2077909">
                <a:moveTo>
                  <a:pt x="110919" y="0"/>
                </a:moveTo>
                <a:lnTo>
                  <a:pt x="2835866" y="0"/>
                </a:lnTo>
                <a:cubicBezTo>
                  <a:pt x="2897125" y="0"/>
                  <a:pt x="2946785" y="49660"/>
                  <a:pt x="2946785" y="110919"/>
                </a:cubicBezTo>
                <a:lnTo>
                  <a:pt x="2946785" y="1966990"/>
                </a:lnTo>
                <a:cubicBezTo>
                  <a:pt x="2946785" y="2028249"/>
                  <a:pt x="2897125" y="2077909"/>
                  <a:pt x="2835866" y="2077909"/>
                </a:cubicBezTo>
                <a:lnTo>
                  <a:pt x="110919" y="2077909"/>
                </a:lnTo>
                <a:cubicBezTo>
                  <a:pt x="49660" y="2077909"/>
                  <a:pt x="0" y="2028249"/>
                  <a:pt x="0" y="1966990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47010" y="3245694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2477684" y="3245694"/>
            <a:ext cx="730226" cy="59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37634" y="3985164"/>
            <a:ext cx="2606629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年初提报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56121" y="4391754"/>
            <a:ext cx="256965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GTM/重客/系统部负责人按要求提供重点项目清单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21221" y="3020158"/>
            <a:ext cx="2946785" cy="2077909"/>
          </a:xfrm>
          <a:custGeom>
            <a:avLst/>
            <a:gdLst/>
            <a:ahLst/>
            <a:cxnLst/>
            <a:rect l="l" t="t" r="r" b="b"/>
            <a:pathLst>
              <a:path w="2946785" h="2077909">
                <a:moveTo>
                  <a:pt x="110919" y="0"/>
                </a:moveTo>
                <a:lnTo>
                  <a:pt x="2835866" y="0"/>
                </a:lnTo>
                <a:cubicBezTo>
                  <a:pt x="2897125" y="0"/>
                  <a:pt x="2946785" y="49660"/>
                  <a:pt x="2946785" y="110919"/>
                </a:cubicBezTo>
                <a:lnTo>
                  <a:pt x="2946785" y="1966990"/>
                </a:lnTo>
                <a:cubicBezTo>
                  <a:pt x="2946785" y="2028249"/>
                  <a:pt x="2897125" y="2077909"/>
                  <a:pt x="2835866" y="2077909"/>
                </a:cubicBezTo>
                <a:lnTo>
                  <a:pt x="110919" y="2077909"/>
                </a:lnTo>
                <a:cubicBezTo>
                  <a:pt x="49660" y="2077909"/>
                  <a:pt x="0" y="2028249"/>
                  <a:pt x="0" y="1966990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00674" y="3245694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5731349" y="3245694"/>
            <a:ext cx="730226" cy="59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91299" y="3985164"/>
            <a:ext cx="2606629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系统立项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9786" y="4391754"/>
            <a:ext cx="256965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MO项目组协调IT批量导入CRM统一立项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74886" y="3020158"/>
            <a:ext cx="2946785" cy="2077909"/>
          </a:xfrm>
          <a:custGeom>
            <a:avLst/>
            <a:gdLst/>
            <a:ahLst/>
            <a:cxnLst/>
            <a:rect l="l" t="t" r="r" b="b"/>
            <a:pathLst>
              <a:path w="2946785" h="2077909">
                <a:moveTo>
                  <a:pt x="110919" y="0"/>
                </a:moveTo>
                <a:lnTo>
                  <a:pt x="2835866" y="0"/>
                </a:lnTo>
                <a:cubicBezTo>
                  <a:pt x="2897125" y="0"/>
                  <a:pt x="2946785" y="49660"/>
                  <a:pt x="2946785" y="110919"/>
                </a:cubicBezTo>
                <a:lnTo>
                  <a:pt x="2946785" y="1966990"/>
                </a:lnTo>
                <a:cubicBezTo>
                  <a:pt x="2946785" y="2028249"/>
                  <a:pt x="2897125" y="2077909"/>
                  <a:pt x="2835866" y="2077909"/>
                </a:cubicBezTo>
                <a:lnTo>
                  <a:pt x="110919" y="2077909"/>
                </a:lnTo>
                <a:cubicBezTo>
                  <a:pt x="49660" y="2077909"/>
                  <a:pt x="0" y="2028249"/>
                  <a:pt x="0" y="1966990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4339" y="3245694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7"/>
          <p:cNvSpPr/>
          <p:nvPr/>
        </p:nvSpPr>
        <p:spPr>
          <a:xfrm>
            <a:off x="8985014" y="3245694"/>
            <a:ext cx="730226" cy="59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4964" y="3985164"/>
            <a:ext cx="2606629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全周期管理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63451" y="4391754"/>
            <a:ext cx="256965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通过周例会机制持续追踪推进，提升转化效率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15959" y="5478781"/>
            <a:ext cx="3564242" cy="1087020"/>
          </a:xfrm>
          <a:custGeom>
            <a:avLst/>
            <a:gdLst/>
            <a:ahLst/>
            <a:cxnLst/>
            <a:rect l="l" t="t" r="r" b="b"/>
            <a:pathLst>
              <a:path w="3564242" h="1087020">
                <a:moveTo>
                  <a:pt x="110920" y="0"/>
                </a:moveTo>
                <a:lnTo>
                  <a:pt x="3453322" y="0"/>
                </a:lnTo>
                <a:cubicBezTo>
                  <a:pt x="3514582" y="0"/>
                  <a:pt x="3564242" y="49660"/>
                  <a:pt x="3564242" y="110920"/>
                </a:cubicBezTo>
                <a:lnTo>
                  <a:pt x="3564242" y="976100"/>
                </a:lnTo>
                <a:cubicBezTo>
                  <a:pt x="3564242" y="1037360"/>
                  <a:pt x="3514582" y="1087020"/>
                  <a:pt x="3453322" y="1087020"/>
                </a:cubicBezTo>
                <a:lnTo>
                  <a:pt x="110920" y="1087020"/>
                </a:lnTo>
                <a:cubicBezTo>
                  <a:pt x="49660" y="1087020"/>
                  <a:pt x="0" y="1037360"/>
                  <a:pt x="0" y="976100"/>
                </a:cubicBezTo>
                <a:lnTo>
                  <a:pt x="0" y="110920"/>
                </a:lnTo>
                <a:cubicBezTo>
                  <a:pt x="0" y="49701"/>
                  <a:pt x="49701" y="0"/>
                  <a:pt x="11092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20320">
            <a:solidFill>
              <a:srgbClr val="D4A3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7628" y="5708013"/>
            <a:ext cx="2920904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严格执行MO流程各关键节点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46871" y="6077631"/>
            <a:ext cx="290241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共同提升商机转化质量和效率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69735" y="6576778"/>
            <a:ext cx="11452531" cy="7395"/>
          </a:xfrm>
          <a:custGeom>
            <a:avLst/>
            <a:gdLst/>
            <a:ahLst/>
            <a:cxnLst/>
            <a:rect l="l" t="t" r="r" b="b"/>
            <a:pathLst>
              <a:path w="11452531" h="7395">
                <a:moveTo>
                  <a:pt x="0" y="0"/>
                </a:moveTo>
                <a:lnTo>
                  <a:pt x="11452531" y="0"/>
                </a:lnTo>
                <a:lnTo>
                  <a:pt x="11452531" y="7395"/>
                </a:lnTo>
                <a:lnTo>
                  <a:pt x="0" y="739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Shape 24"/>
          <p:cNvSpPr/>
          <p:nvPr/>
        </p:nvSpPr>
        <p:spPr>
          <a:xfrm>
            <a:off x="203354" y="6307917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15598" y="20798"/>
                </a:moveTo>
                <a:cubicBezTo>
                  <a:pt x="6987" y="20798"/>
                  <a:pt x="0" y="27784"/>
                  <a:pt x="0" y="36396"/>
                </a:cubicBezTo>
                <a:cubicBezTo>
                  <a:pt x="0" y="41303"/>
                  <a:pt x="2307" y="45917"/>
                  <a:pt x="6239" y="48874"/>
                </a:cubicBezTo>
                <a:lnTo>
                  <a:pt x="73831" y="99568"/>
                </a:lnTo>
                <a:cubicBezTo>
                  <a:pt x="79388" y="103728"/>
                  <a:pt x="86992" y="103728"/>
                  <a:pt x="92549" y="99568"/>
                </a:cubicBezTo>
                <a:lnTo>
                  <a:pt x="160141" y="48874"/>
                </a:lnTo>
                <a:cubicBezTo>
                  <a:pt x="164073" y="45917"/>
                  <a:pt x="166381" y="41303"/>
                  <a:pt x="166381" y="36396"/>
                </a:cubicBezTo>
                <a:cubicBezTo>
                  <a:pt x="166381" y="27784"/>
                  <a:pt x="159394" y="20798"/>
                  <a:pt x="150782" y="20798"/>
                </a:cubicBezTo>
                <a:lnTo>
                  <a:pt x="15598" y="20798"/>
                </a:lnTo>
                <a:close/>
                <a:moveTo>
                  <a:pt x="0" y="63693"/>
                </a:moveTo>
                <a:lnTo>
                  <a:pt x="0" y="124785"/>
                </a:lnTo>
                <a:cubicBezTo>
                  <a:pt x="0" y="136257"/>
                  <a:pt x="9326" y="145583"/>
                  <a:pt x="20798" y="145583"/>
                </a:cubicBezTo>
                <a:lnTo>
                  <a:pt x="145583" y="145583"/>
                </a:lnTo>
                <a:cubicBezTo>
                  <a:pt x="157054" y="145583"/>
                  <a:pt x="166381" y="136257"/>
                  <a:pt x="166381" y="124785"/>
                </a:cubicBezTo>
                <a:lnTo>
                  <a:pt x="166381" y="63693"/>
                </a:lnTo>
                <a:lnTo>
                  <a:pt x="101908" y="112047"/>
                </a:lnTo>
                <a:cubicBezTo>
                  <a:pt x="90827" y="120366"/>
                  <a:pt x="75554" y="120366"/>
                  <a:pt x="64472" y="112047"/>
                </a:cubicBezTo>
                <a:lnTo>
                  <a:pt x="0" y="6369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5"/>
          <p:cNvSpPr/>
          <p:nvPr/>
        </p:nvSpPr>
        <p:spPr>
          <a:xfrm>
            <a:off x="392843" y="6261701"/>
            <a:ext cx="252343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如有疑问，请联系MO流程项目组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748302" y="6848531"/>
            <a:ext cx="145583" cy="166381"/>
          </a:xfrm>
          <a:custGeom>
            <a:avLst/>
            <a:gdLst/>
            <a:ahLst/>
            <a:cxnLst/>
            <a:rect l="l" t="t" r="r" b="b"/>
            <a:pathLst>
              <a:path w="145583" h="166381">
                <a:moveTo>
                  <a:pt x="41595" y="0"/>
                </a:moveTo>
                <a:cubicBezTo>
                  <a:pt x="47347" y="0"/>
                  <a:pt x="51994" y="4647"/>
                  <a:pt x="51994" y="10399"/>
                </a:cubicBezTo>
                <a:lnTo>
                  <a:pt x="51994" y="20798"/>
                </a:lnTo>
                <a:lnTo>
                  <a:pt x="93589" y="20798"/>
                </a:lnTo>
                <a:lnTo>
                  <a:pt x="93589" y="10399"/>
                </a:lnTo>
                <a:cubicBezTo>
                  <a:pt x="93589" y="4647"/>
                  <a:pt x="98236" y="0"/>
                  <a:pt x="103988" y="0"/>
                </a:cubicBezTo>
                <a:cubicBezTo>
                  <a:pt x="109740" y="0"/>
                  <a:pt x="114387" y="4647"/>
                  <a:pt x="114387" y="10399"/>
                </a:cubicBezTo>
                <a:lnTo>
                  <a:pt x="114387" y="20798"/>
                </a:lnTo>
                <a:lnTo>
                  <a:pt x="124785" y="20798"/>
                </a:lnTo>
                <a:cubicBezTo>
                  <a:pt x="136257" y="20798"/>
                  <a:pt x="145583" y="30124"/>
                  <a:pt x="145583" y="41595"/>
                </a:cubicBezTo>
                <a:lnTo>
                  <a:pt x="145583" y="135184"/>
                </a:lnTo>
                <a:cubicBezTo>
                  <a:pt x="145583" y="146655"/>
                  <a:pt x="136257" y="155982"/>
                  <a:pt x="124785" y="155982"/>
                </a:cubicBezTo>
                <a:lnTo>
                  <a:pt x="20798" y="155982"/>
                </a:lnTo>
                <a:cubicBezTo>
                  <a:pt x="9326" y="155982"/>
                  <a:pt x="0" y="146655"/>
                  <a:pt x="0" y="135184"/>
                </a:cubicBezTo>
                <a:lnTo>
                  <a:pt x="0" y="41595"/>
                </a:lnTo>
                <a:cubicBezTo>
                  <a:pt x="0" y="30124"/>
                  <a:pt x="9326" y="20798"/>
                  <a:pt x="20798" y="20798"/>
                </a:cubicBezTo>
                <a:lnTo>
                  <a:pt x="31196" y="20798"/>
                </a:lnTo>
                <a:lnTo>
                  <a:pt x="31196" y="10399"/>
                </a:lnTo>
                <a:cubicBezTo>
                  <a:pt x="31196" y="4647"/>
                  <a:pt x="35843" y="0"/>
                  <a:pt x="41595" y="0"/>
                </a:cubicBezTo>
                <a:close/>
                <a:moveTo>
                  <a:pt x="20798" y="77991"/>
                </a:moveTo>
                <a:lnTo>
                  <a:pt x="20798" y="88390"/>
                </a:lnTo>
                <a:cubicBezTo>
                  <a:pt x="20798" y="91249"/>
                  <a:pt x="23137" y="93589"/>
                  <a:pt x="25997" y="93589"/>
                </a:cubicBezTo>
                <a:lnTo>
                  <a:pt x="36396" y="93589"/>
                </a:lnTo>
                <a:cubicBezTo>
                  <a:pt x="39255" y="93589"/>
                  <a:pt x="41595" y="91249"/>
                  <a:pt x="41595" y="88390"/>
                </a:cubicBezTo>
                <a:lnTo>
                  <a:pt x="41595" y="77991"/>
                </a:lnTo>
                <a:cubicBezTo>
                  <a:pt x="41595" y="75131"/>
                  <a:pt x="39255" y="72792"/>
                  <a:pt x="36396" y="72792"/>
                </a:cubicBezTo>
                <a:lnTo>
                  <a:pt x="25997" y="72792"/>
                </a:lnTo>
                <a:cubicBezTo>
                  <a:pt x="23137" y="72792"/>
                  <a:pt x="20798" y="75131"/>
                  <a:pt x="20798" y="77991"/>
                </a:cubicBezTo>
                <a:close/>
                <a:moveTo>
                  <a:pt x="62393" y="77991"/>
                </a:moveTo>
                <a:lnTo>
                  <a:pt x="62393" y="88390"/>
                </a:lnTo>
                <a:cubicBezTo>
                  <a:pt x="62393" y="91249"/>
                  <a:pt x="64732" y="93589"/>
                  <a:pt x="67592" y="93589"/>
                </a:cubicBezTo>
                <a:lnTo>
                  <a:pt x="77991" y="93589"/>
                </a:lnTo>
                <a:cubicBezTo>
                  <a:pt x="80851" y="93589"/>
                  <a:pt x="83190" y="91249"/>
                  <a:pt x="83190" y="88390"/>
                </a:cubicBezTo>
                <a:lnTo>
                  <a:pt x="83190" y="77991"/>
                </a:lnTo>
                <a:cubicBezTo>
                  <a:pt x="83190" y="75131"/>
                  <a:pt x="80851" y="72792"/>
                  <a:pt x="77991" y="72792"/>
                </a:cubicBezTo>
                <a:lnTo>
                  <a:pt x="67592" y="72792"/>
                </a:lnTo>
                <a:cubicBezTo>
                  <a:pt x="64732" y="72792"/>
                  <a:pt x="62393" y="75131"/>
                  <a:pt x="62393" y="77991"/>
                </a:cubicBezTo>
                <a:close/>
                <a:moveTo>
                  <a:pt x="109187" y="72792"/>
                </a:moveTo>
                <a:cubicBezTo>
                  <a:pt x="106328" y="72792"/>
                  <a:pt x="103988" y="75131"/>
                  <a:pt x="103988" y="77991"/>
                </a:cubicBezTo>
                <a:lnTo>
                  <a:pt x="103988" y="88390"/>
                </a:lnTo>
                <a:cubicBezTo>
                  <a:pt x="103988" y="91249"/>
                  <a:pt x="106328" y="93589"/>
                  <a:pt x="109187" y="93589"/>
                </a:cubicBezTo>
                <a:lnTo>
                  <a:pt x="119586" y="93589"/>
                </a:lnTo>
                <a:cubicBezTo>
                  <a:pt x="122446" y="93589"/>
                  <a:pt x="124785" y="91249"/>
                  <a:pt x="124785" y="88390"/>
                </a:cubicBezTo>
                <a:lnTo>
                  <a:pt x="124785" y="77991"/>
                </a:lnTo>
                <a:cubicBezTo>
                  <a:pt x="124785" y="75131"/>
                  <a:pt x="122446" y="72792"/>
                  <a:pt x="119586" y="72792"/>
                </a:cubicBezTo>
                <a:lnTo>
                  <a:pt x="109187" y="72792"/>
                </a:lnTo>
                <a:close/>
                <a:moveTo>
                  <a:pt x="20798" y="119586"/>
                </a:moveTo>
                <a:lnTo>
                  <a:pt x="20798" y="129985"/>
                </a:lnTo>
                <a:cubicBezTo>
                  <a:pt x="20798" y="132845"/>
                  <a:pt x="23137" y="135184"/>
                  <a:pt x="25997" y="135184"/>
                </a:cubicBezTo>
                <a:lnTo>
                  <a:pt x="36396" y="135184"/>
                </a:lnTo>
                <a:cubicBezTo>
                  <a:pt x="39255" y="135184"/>
                  <a:pt x="41595" y="132845"/>
                  <a:pt x="41595" y="129985"/>
                </a:cubicBezTo>
                <a:lnTo>
                  <a:pt x="41595" y="119586"/>
                </a:lnTo>
                <a:cubicBezTo>
                  <a:pt x="41595" y="116726"/>
                  <a:pt x="39255" y="114387"/>
                  <a:pt x="36396" y="114387"/>
                </a:cubicBezTo>
                <a:lnTo>
                  <a:pt x="25997" y="114387"/>
                </a:lnTo>
                <a:cubicBezTo>
                  <a:pt x="23137" y="114387"/>
                  <a:pt x="20798" y="116726"/>
                  <a:pt x="20798" y="119586"/>
                </a:cubicBezTo>
                <a:close/>
                <a:moveTo>
                  <a:pt x="67592" y="114387"/>
                </a:moveTo>
                <a:cubicBezTo>
                  <a:pt x="64732" y="114387"/>
                  <a:pt x="62393" y="116726"/>
                  <a:pt x="62393" y="119586"/>
                </a:cubicBezTo>
                <a:lnTo>
                  <a:pt x="62393" y="129985"/>
                </a:lnTo>
                <a:cubicBezTo>
                  <a:pt x="62393" y="132845"/>
                  <a:pt x="64732" y="135184"/>
                  <a:pt x="67592" y="135184"/>
                </a:cubicBezTo>
                <a:lnTo>
                  <a:pt x="77991" y="135184"/>
                </a:lnTo>
                <a:cubicBezTo>
                  <a:pt x="80851" y="135184"/>
                  <a:pt x="83190" y="132845"/>
                  <a:pt x="83190" y="129985"/>
                </a:cubicBezTo>
                <a:lnTo>
                  <a:pt x="83190" y="119586"/>
                </a:lnTo>
                <a:cubicBezTo>
                  <a:pt x="83190" y="116726"/>
                  <a:pt x="80851" y="114387"/>
                  <a:pt x="77991" y="114387"/>
                </a:cubicBezTo>
                <a:lnTo>
                  <a:pt x="67592" y="114387"/>
                </a:lnTo>
                <a:close/>
                <a:moveTo>
                  <a:pt x="103988" y="119586"/>
                </a:moveTo>
                <a:lnTo>
                  <a:pt x="103988" y="129985"/>
                </a:lnTo>
                <a:cubicBezTo>
                  <a:pt x="103988" y="132845"/>
                  <a:pt x="106328" y="135184"/>
                  <a:pt x="109187" y="135184"/>
                </a:cubicBezTo>
                <a:lnTo>
                  <a:pt x="119586" y="135184"/>
                </a:lnTo>
                <a:cubicBezTo>
                  <a:pt x="122446" y="135184"/>
                  <a:pt x="124785" y="132845"/>
                  <a:pt x="124785" y="129985"/>
                </a:cubicBezTo>
                <a:lnTo>
                  <a:pt x="124785" y="119586"/>
                </a:lnTo>
                <a:cubicBezTo>
                  <a:pt x="124785" y="116726"/>
                  <a:pt x="122446" y="114387"/>
                  <a:pt x="119586" y="114387"/>
                </a:cubicBezTo>
                <a:lnTo>
                  <a:pt x="109187" y="114387"/>
                </a:lnTo>
                <a:cubicBezTo>
                  <a:pt x="106328" y="114387"/>
                  <a:pt x="103988" y="116726"/>
                  <a:pt x="103988" y="11958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7"/>
          <p:cNvSpPr/>
          <p:nvPr/>
        </p:nvSpPr>
        <p:spPr>
          <a:xfrm>
            <a:off x="11033691" y="6802314"/>
            <a:ext cx="86887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"/>
          <p:cNvSpPr/>
          <p:nvPr/>
        </p:nvSpPr>
        <p:spPr>
          <a:xfrm>
            <a:off x="2914410" y="2230779"/>
            <a:ext cx="6202299" cy="138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67" b="1" dirty="0" smtClean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BACKUP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1690933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113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STATUS &amp; 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032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当前执行情况分析与下一步要求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1016000" cy="47625"/>
          </a:xfrm>
          <a:custGeom>
            <a:avLst/>
            <a:gdLst/>
            <a:ahLst/>
            <a:cxnLst/>
            <a:rect l="l" t="t" r="r" b="b"/>
            <a:pathLst>
              <a:path w="1016000" h="47625">
                <a:moveTo>
                  <a:pt x="0" y="0"/>
                </a:moveTo>
                <a:lnTo>
                  <a:pt x="1016000" y="0"/>
                </a:lnTo>
                <a:lnTo>
                  <a:pt x="1016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254125"/>
            <a:ext cx="5183188" cy="3333750"/>
          </a:xfrm>
          <a:custGeom>
            <a:avLst/>
            <a:gdLst/>
            <a:ahLst/>
            <a:cxnLst/>
            <a:rect l="l" t="t" r="r" b="b"/>
            <a:pathLst>
              <a:path w="5183188" h="3333750">
                <a:moveTo>
                  <a:pt x="0" y="0"/>
                </a:moveTo>
                <a:lnTo>
                  <a:pt x="5183188" y="0"/>
                </a:lnTo>
                <a:lnTo>
                  <a:pt x="5183188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254125"/>
            <a:ext cx="31750" cy="3333750"/>
          </a:xfrm>
          <a:custGeom>
            <a:avLst/>
            <a:gdLst/>
            <a:ahLst/>
            <a:cxnLst/>
            <a:rect l="l" t="t" r="r" b="b"/>
            <a:pathLst>
              <a:path w="31750" h="3333750">
                <a:moveTo>
                  <a:pt x="0" y="0"/>
                </a:moveTo>
                <a:lnTo>
                  <a:pt x="31750" y="0"/>
                </a:lnTo>
                <a:lnTo>
                  <a:pt x="317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44452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841375" y="1412875"/>
            <a:ext cx="2333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执行数据（截至9月25日）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93774"/>
            <a:ext cx="4849813" cy="793750"/>
          </a:xfrm>
          <a:custGeom>
            <a:avLst/>
            <a:gdLst/>
            <a:ahLst/>
            <a:cxnLst/>
            <a:rect l="l" t="t" r="r" b="b"/>
            <a:pathLst>
              <a:path w="4849813" h="793750">
                <a:moveTo>
                  <a:pt x="31750" y="0"/>
                </a:moveTo>
                <a:lnTo>
                  <a:pt x="4818063" y="0"/>
                </a:lnTo>
                <a:cubicBezTo>
                  <a:pt x="4835586" y="0"/>
                  <a:pt x="4849813" y="14227"/>
                  <a:pt x="4849813" y="31750"/>
                </a:cubicBezTo>
                <a:lnTo>
                  <a:pt x="4849813" y="762000"/>
                </a:lnTo>
                <a:cubicBezTo>
                  <a:pt x="4849813" y="779523"/>
                  <a:pt x="4835586" y="793750"/>
                  <a:pt x="4818063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00" y="1920774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大项目启动会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" y="2143024"/>
            <a:ext cx="984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23.9%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96259" y="207158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99808" y="8093"/>
                </a:moveTo>
                <a:cubicBezTo>
                  <a:pt x="93994" y="2279"/>
                  <a:pt x="84553" y="2279"/>
                  <a:pt x="78739" y="8093"/>
                </a:cubicBezTo>
                <a:lnTo>
                  <a:pt x="4325" y="82507"/>
                </a:lnTo>
                <a:cubicBezTo>
                  <a:pt x="-1488" y="88320"/>
                  <a:pt x="-1488" y="97761"/>
                  <a:pt x="4325" y="103575"/>
                </a:cubicBezTo>
                <a:cubicBezTo>
                  <a:pt x="10139" y="109389"/>
                  <a:pt x="19580" y="109389"/>
                  <a:pt x="25394" y="103575"/>
                </a:cubicBezTo>
                <a:lnTo>
                  <a:pt x="74414" y="54555"/>
                </a:lnTo>
                <a:lnTo>
                  <a:pt x="74414" y="226963"/>
                </a:lnTo>
                <a:cubicBezTo>
                  <a:pt x="74414" y="235195"/>
                  <a:pt x="81065" y="241846"/>
                  <a:pt x="89297" y="241846"/>
                </a:cubicBezTo>
                <a:cubicBezTo>
                  <a:pt x="97529" y="241846"/>
                  <a:pt x="104180" y="235195"/>
                  <a:pt x="104180" y="226963"/>
                </a:cubicBezTo>
                <a:lnTo>
                  <a:pt x="104180" y="54555"/>
                </a:lnTo>
                <a:lnTo>
                  <a:pt x="153200" y="103575"/>
                </a:lnTo>
                <a:cubicBezTo>
                  <a:pt x="159014" y="109389"/>
                  <a:pt x="168455" y="109389"/>
                  <a:pt x="174268" y="103575"/>
                </a:cubicBezTo>
                <a:cubicBezTo>
                  <a:pt x="180082" y="97761"/>
                  <a:pt x="180082" y="88320"/>
                  <a:pt x="174268" y="82507"/>
                </a:cubicBezTo>
                <a:lnTo>
                  <a:pt x="99854" y="809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Shape 11"/>
          <p:cNvSpPr/>
          <p:nvPr/>
        </p:nvSpPr>
        <p:spPr>
          <a:xfrm>
            <a:off x="508000" y="2714524"/>
            <a:ext cx="4849813" cy="793750"/>
          </a:xfrm>
          <a:custGeom>
            <a:avLst/>
            <a:gdLst/>
            <a:ahLst/>
            <a:cxnLst/>
            <a:rect l="l" t="t" r="r" b="b"/>
            <a:pathLst>
              <a:path w="4849813" h="793750">
                <a:moveTo>
                  <a:pt x="31750" y="0"/>
                </a:moveTo>
                <a:lnTo>
                  <a:pt x="4818063" y="0"/>
                </a:lnTo>
                <a:cubicBezTo>
                  <a:pt x="4835586" y="0"/>
                  <a:pt x="4849813" y="14227"/>
                  <a:pt x="4849813" y="31750"/>
                </a:cubicBezTo>
                <a:lnTo>
                  <a:pt x="4849813" y="762000"/>
                </a:lnTo>
                <a:cubicBezTo>
                  <a:pt x="4849813" y="779523"/>
                  <a:pt x="4835586" y="793750"/>
                  <a:pt x="4818063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" y="2841524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" y="3063774"/>
            <a:ext cx="1031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96259" y="299233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000" y="3635274"/>
            <a:ext cx="4849813" cy="793750"/>
          </a:xfrm>
          <a:custGeom>
            <a:avLst/>
            <a:gdLst/>
            <a:ahLst/>
            <a:cxnLst/>
            <a:rect l="l" t="t" r="r" b="b"/>
            <a:pathLst>
              <a:path w="4849813" h="793750">
                <a:moveTo>
                  <a:pt x="31750" y="0"/>
                </a:moveTo>
                <a:lnTo>
                  <a:pt x="4818063" y="0"/>
                </a:lnTo>
                <a:cubicBezTo>
                  <a:pt x="4835586" y="0"/>
                  <a:pt x="4849813" y="14227"/>
                  <a:pt x="4849813" y="31750"/>
                </a:cubicBezTo>
                <a:lnTo>
                  <a:pt x="4849813" y="762000"/>
                </a:lnTo>
                <a:cubicBezTo>
                  <a:pt x="4849813" y="779523"/>
                  <a:pt x="4835586" y="793750"/>
                  <a:pt x="4818063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762274"/>
            <a:ext cx="73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" y="3984524"/>
            <a:ext cx="809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D4A37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3.2%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96259" y="391308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Shape 19"/>
          <p:cNvSpPr/>
          <p:nvPr/>
        </p:nvSpPr>
        <p:spPr>
          <a:xfrm>
            <a:off x="5724525" y="1254125"/>
            <a:ext cx="6151563" cy="3333750"/>
          </a:xfrm>
          <a:custGeom>
            <a:avLst/>
            <a:gdLst/>
            <a:ahLst/>
            <a:cxnLst/>
            <a:rect l="l" t="t" r="r" b="b"/>
            <a:pathLst>
              <a:path w="6151563" h="3333750">
                <a:moveTo>
                  <a:pt x="0" y="0"/>
                </a:moveTo>
                <a:lnTo>
                  <a:pt x="6151563" y="0"/>
                </a:lnTo>
                <a:lnTo>
                  <a:pt x="6151563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724525" y="1254125"/>
            <a:ext cx="31750" cy="3333750"/>
          </a:xfrm>
          <a:custGeom>
            <a:avLst/>
            <a:gdLst/>
            <a:ahLst/>
            <a:cxnLst/>
            <a:rect l="l" t="t" r="r" b="b"/>
            <a:pathLst>
              <a:path w="31750" h="3333750">
                <a:moveTo>
                  <a:pt x="0" y="0"/>
                </a:moveTo>
                <a:lnTo>
                  <a:pt x="31750" y="0"/>
                </a:lnTo>
                <a:lnTo>
                  <a:pt x="3175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2963" y="144452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Text 22"/>
          <p:cNvSpPr/>
          <p:nvPr/>
        </p:nvSpPr>
        <p:spPr>
          <a:xfrm>
            <a:off x="6232525" y="1412875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A5C6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存在的主要问题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15025" y="1793774"/>
            <a:ext cx="5802313" cy="635000"/>
          </a:xfrm>
          <a:custGeom>
            <a:avLst/>
            <a:gdLst/>
            <a:ahLst/>
            <a:cxnLst/>
            <a:rect l="l" t="t" r="r" b="b"/>
            <a:pathLst>
              <a:path w="5802313" h="635000">
                <a:moveTo>
                  <a:pt x="31750" y="0"/>
                </a:moveTo>
                <a:lnTo>
                  <a:pt x="5770563" y="0"/>
                </a:lnTo>
                <a:cubicBezTo>
                  <a:pt x="5788086" y="0"/>
                  <a:pt x="5802313" y="14227"/>
                  <a:pt x="5802313" y="31750"/>
                </a:cubicBezTo>
                <a:lnTo>
                  <a:pt x="5802313" y="603250"/>
                </a:lnTo>
                <a:cubicBezTo>
                  <a:pt x="5802313" y="620773"/>
                  <a:pt x="5788086" y="635000"/>
                  <a:pt x="5770563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15025" y="1793774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5"/>
          <p:cNvSpPr/>
          <p:nvPr/>
        </p:nvSpPr>
        <p:spPr>
          <a:xfrm>
            <a:off x="6026150" y="1889024"/>
            <a:ext cx="566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整体执行率偏低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26150" y="2143024"/>
            <a:ext cx="565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流程落地存在明显断点，相关会议未留痕，资料未上系统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15025" y="2524024"/>
            <a:ext cx="5802313" cy="635000"/>
          </a:xfrm>
          <a:custGeom>
            <a:avLst/>
            <a:gdLst/>
            <a:ahLst/>
            <a:cxnLst/>
            <a:rect l="l" t="t" r="r" b="b"/>
            <a:pathLst>
              <a:path w="5802313" h="635000">
                <a:moveTo>
                  <a:pt x="31750" y="0"/>
                </a:moveTo>
                <a:lnTo>
                  <a:pt x="5770563" y="0"/>
                </a:lnTo>
                <a:cubicBezTo>
                  <a:pt x="5788086" y="0"/>
                  <a:pt x="5802313" y="14227"/>
                  <a:pt x="5802313" y="31750"/>
                </a:cubicBezTo>
                <a:lnTo>
                  <a:pt x="5802313" y="603250"/>
                </a:lnTo>
                <a:cubicBezTo>
                  <a:pt x="5802313" y="620773"/>
                  <a:pt x="5788086" y="635000"/>
                  <a:pt x="5770563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15025" y="2524024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9"/>
          <p:cNvSpPr/>
          <p:nvPr/>
        </p:nvSpPr>
        <p:spPr>
          <a:xfrm>
            <a:off x="6026150" y="2619274"/>
            <a:ext cx="566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区域间执行差异显著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26150" y="2873274"/>
            <a:ext cx="565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北京、新疆、福建等执行率接近100%，浙江、广东等为0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15025" y="3254274"/>
            <a:ext cx="5802313" cy="635000"/>
          </a:xfrm>
          <a:custGeom>
            <a:avLst/>
            <a:gdLst/>
            <a:ahLst/>
            <a:cxnLst/>
            <a:rect l="l" t="t" r="r" b="b"/>
            <a:pathLst>
              <a:path w="5802313" h="635000">
                <a:moveTo>
                  <a:pt x="31750" y="0"/>
                </a:moveTo>
                <a:lnTo>
                  <a:pt x="5770563" y="0"/>
                </a:lnTo>
                <a:cubicBezTo>
                  <a:pt x="5788086" y="0"/>
                  <a:pt x="5802313" y="14227"/>
                  <a:pt x="5802313" y="31750"/>
                </a:cubicBezTo>
                <a:lnTo>
                  <a:pt x="5802313" y="603250"/>
                </a:lnTo>
                <a:cubicBezTo>
                  <a:pt x="5802313" y="620773"/>
                  <a:pt x="5788086" y="635000"/>
                  <a:pt x="5770563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15025" y="3254274"/>
            <a:ext cx="31750" cy="635000"/>
          </a:xfrm>
          <a:custGeom>
            <a:avLst/>
            <a:gdLst/>
            <a:ahLst/>
            <a:cxnLst/>
            <a:rect l="l" t="t" r="r" b="b"/>
            <a:pathLst>
              <a:path w="31750" h="635000">
                <a:moveTo>
                  <a:pt x="31750" y="0"/>
                </a:moveTo>
                <a:lnTo>
                  <a:pt x="31750" y="0"/>
                </a:lnTo>
                <a:lnTo>
                  <a:pt x="31750" y="635000"/>
                </a:ln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5" name="Text 33"/>
          <p:cNvSpPr/>
          <p:nvPr/>
        </p:nvSpPr>
        <p:spPr>
          <a:xfrm>
            <a:off x="6026150" y="3349524"/>
            <a:ext cx="566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管理缺失问题突出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26150" y="3603524"/>
            <a:ext cx="565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88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立项项目为可能+-项目，更需要组织协同推优，现阶段存在管理缺失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31759</TotalTime>
  <Words>1078</Words>
  <Application>Microsoft Office PowerPoint</Application>
  <PresentationFormat>宽屏</PresentationFormat>
  <Paragraphs>292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Wingdings</vt:lpstr>
      <vt:lpstr>等线</vt:lpstr>
      <vt:lpstr>Arial</vt:lpstr>
      <vt:lpstr>MiSans</vt:lpstr>
      <vt:lpstr>Alimama ShuHeiTi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MO流程各专项组及系统部立项项目输入拉通</dc:title>
  <dc:subject>MO流程各专项组及系统部立项项目输入拉通</dc:subject>
  <dc:creator>Kimi</dc:creator>
  <cp:lastModifiedBy>Lenovo</cp:lastModifiedBy>
  <cp:revision>11</cp:revision>
  <dcterms:created xsi:type="dcterms:W3CDTF">2026-01-19T07:44:06Z</dcterms:created>
  <dcterms:modified xsi:type="dcterms:W3CDTF">2026-03-09T03:22:51Z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O流程各专项组及系统部立项项目输入拉通","ContentProducer":"001191110108MACG2KBH8F10000","ProduceID":"19bd5268-e312-86d7-8000-00001db95c41","ReservedCode1":"","ContentPropagator":"001191110108MACG2KBH8F20000","PropagateID":"19bd5268-e312-86d7-8000-00001db95c41","R</vt:lpwstr>
  </property>
</Properties>
</file>