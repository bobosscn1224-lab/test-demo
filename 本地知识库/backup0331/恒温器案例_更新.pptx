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63" r:id="rId3"/>
    <p:sldId id="265" r:id="rId4"/>
    <p:sldId id="264" r:id="rId5"/>
    <p:sldId id="266" r:id="rId6"/>
    <p:sldId id="258" r:id="rId7"/>
    <p:sldId id="259" r:id="rId8"/>
    <p:sldId id="260" r:id="rId9"/>
    <p:sldId id="25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D"/>
    <a:srgbClr val="D5C889"/>
    <a:srgbClr val="347B90"/>
    <a:srgbClr val="32798F"/>
    <a:srgbClr val="F1F5F6"/>
    <a:srgbClr val="F1F5F4"/>
    <a:srgbClr val="F2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933" autoAdjust="0"/>
  </p:normalViewPr>
  <p:slideViewPr>
    <p:cSldViewPr snapToGrid="0">
      <p:cViewPr varScale="1">
        <p:scale>
          <a:sx n="69" d="100"/>
          <a:sy n="69" d="100"/>
        </p:scale>
        <p:origin x="10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ACAF8-3E03-4BC7-9875-CE2FD5250F0E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708F0-414E-42BB-8B00-A85611F02E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80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 smtClean="0"/>
              <a:t>产品介绍（图片</a:t>
            </a:r>
            <a:r>
              <a:rPr lang="en-US" altLang="zh-CN" dirty="0" smtClean="0"/>
              <a:t>+</a:t>
            </a:r>
            <a:r>
              <a:rPr lang="zh-CN" altLang="en-US" dirty="0" smtClean="0"/>
              <a:t>文字介绍）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让大家知道是个啥东西，用来干嘛的</a:t>
            </a:r>
            <a:endParaRPr lang="en-US" altLang="zh-CN" dirty="0" smtClean="0"/>
          </a:p>
          <a:p>
            <a:pPr marL="228600" indent="-228600">
              <a:buAutoNum type="arabicPeriod"/>
            </a:pPr>
            <a:r>
              <a:rPr lang="zh-CN" altLang="en-US" dirty="0" smtClean="0"/>
              <a:t>两大巨头、</a:t>
            </a:r>
            <a:r>
              <a:rPr lang="en-US" altLang="zh-CN" dirty="0" smtClean="0"/>
              <a:t>70%</a:t>
            </a:r>
            <a:r>
              <a:rPr lang="zh-CN" altLang="en-US" dirty="0" smtClean="0"/>
              <a:t>市场份额</a:t>
            </a:r>
            <a:r>
              <a:rPr lang="en-US" altLang="zh-CN" dirty="0" smtClean="0"/>
              <a:t>—— </a:t>
            </a:r>
            <a:r>
              <a:rPr lang="zh-CN" altLang="en-US" dirty="0" smtClean="0"/>
              <a:t>让大家感受到</a:t>
            </a:r>
            <a:r>
              <a:rPr lang="zh-CN" altLang="en-US" baseline="0" dirty="0" smtClean="0"/>
              <a:t> 主角（</a:t>
            </a:r>
            <a:r>
              <a:rPr lang="en-US" altLang="zh-CN" baseline="0" dirty="0" smtClean="0"/>
              <a:t>Nest</a:t>
            </a:r>
            <a:r>
              <a:rPr lang="zh-CN" altLang="en-US" baseline="0" dirty="0" smtClean="0"/>
              <a:t>）面临的压力和挑战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F708F0-414E-42BB-8B00-A85611F02ED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125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Nest</a:t>
            </a:r>
            <a:r>
              <a:rPr lang="zh-CN" altLang="en-US" dirty="0" smtClean="0"/>
              <a:t>的产品介绍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功能、价值、定价， 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让大家代入，锐捷彩光 是好产品，应该定好价格</a:t>
            </a:r>
            <a:endParaRPr lang="en-US" altLang="zh-CN" dirty="0" smtClean="0"/>
          </a:p>
          <a:p>
            <a:r>
              <a:rPr lang="zh-CN" altLang="en-US" dirty="0" smtClean="0"/>
              <a:t>用户对</a:t>
            </a:r>
            <a:r>
              <a:rPr lang="en-US" altLang="zh-CN" dirty="0" smtClean="0"/>
              <a:t>Nest</a:t>
            </a:r>
            <a:r>
              <a:rPr lang="zh-CN" altLang="en-US" dirty="0" smtClean="0"/>
              <a:t>的评价，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让大家代入，好产品是有人认可的（类比彩光）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F708F0-414E-42BB-8B00-A85611F02ED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447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找一个快速做大市场份额，优势到胜势的商业案例</a:t>
            </a:r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077CC-FB9E-B64F-8E5D-9AAAFFC6134C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2740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找一个快速做大市场份额，优势到胜势的商业案例</a:t>
            </a:r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077CC-FB9E-B64F-8E5D-9AAAFFC6134C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6942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457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318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95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94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78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81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12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9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91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029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0754" y="364237"/>
            <a:ext cx="621026" cy="504018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752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23EC8-9CEA-46D1-BE98-B54D2D048BA8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58307-97BF-468E-9B9A-D0AB304E9F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83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NUL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4.xml"/><Relationship Id="rId7" Type="http://schemas.openxmlformats.org/officeDocument/2006/relationships/image" Target="../media/image1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16200000" flipH="1">
            <a:off x="1605973" y="2754989"/>
            <a:ext cx="4638217" cy="2446255"/>
          </a:xfrm>
          <a:prstGeom prst="triangle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891153" y="1457325"/>
            <a:ext cx="11000810" cy="2405362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1013552" y="1577107"/>
            <a:ext cx="10878411" cy="4488613"/>
            <a:chOff x="856180" y="1767682"/>
            <a:chExt cx="4782619" cy="3984541"/>
          </a:xfrm>
        </p:grpSpPr>
        <p:sp>
          <p:nvSpPr>
            <p:cNvPr id="11" name="矩形: 圆角 49"/>
            <p:cNvSpPr/>
            <p:nvPr/>
          </p:nvSpPr>
          <p:spPr>
            <a:xfrm>
              <a:off x="856180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矩形: 圆角 50"/>
            <p:cNvSpPr/>
            <p:nvPr/>
          </p:nvSpPr>
          <p:spPr>
            <a:xfrm>
              <a:off x="856180" y="1767683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矩形: 圆角 51"/>
            <p:cNvSpPr/>
            <p:nvPr/>
          </p:nvSpPr>
          <p:spPr>
            <a:xfrm>
              <a:off x="882462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" name="矩形: 圆角 52"/>
            <p:cNvSpPr/>
            <p:nvPr/>
          </p:nvSpPr>
          <p:spPr>
            <a:xfrm>
              <a:off x="882462" y="1767682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dirty="0">
                <a:solidFill>
                  <a:prstClr val="white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26638" y="1024936"/>
            <a:ext cx="3010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174E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2400" b="1" dirty="0">
              <a:solidFill>
                <a:srgbClr val="174E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63"/>
          <p:cNvPicPr>
            <a:picLocks noChangeAspect="1"/>
          </p:cNvPicPr>
          <p:nvPr/>
        </p:nvPicPr>
        <p:blipFill>
          <a:blip r:embed="rId3" cstate="screen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93332" y="1083303"/>
            <a:ext cx="360000" cy="3600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372526" y="1978591"/>
            <a:ext cx="4220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rgbClr val="313131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R" panose="00020600040101010101" pitchFamily="18" charset="-122"/>
              </a:rPr>
              <a:t>恒温器</a:t>
            </a:r>
            <a:r>
              <a:rPr lang="zh-CN" altLang="en-US" sz="1400" dirty="0">
                <a:solidFill>
                  <a:srgbClr val="313131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R" panose="00020600040101010101" pitchFamily="18" charset="-122"/>
              </a:rPr>
              <a:t>也叫风机盘管温控器，是中央空调的控制部件，在所有使用中央空调的地方均有使用。可以自动控制暖气、通风及空气调节设备（如空调、电暖器等），让室内温度恒定在你设定的温度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366902" y="1642032"/>
            <a:ext cx="283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>
              <a:defRPr/>
            </a:pPr>
            <a:r>
              <a:rPr lang="zh-CN" altLang="en-US" b="1" kern="0" dirty="0" smtClean="0">
                <a:solidFill>
                  <a:srgbClr val="174E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产品介绍</a:t>
            </a:r>
            <a:endParaRPr lang="zh-CN" altLang="en-US" b="1" kern="0" dirty="0">
              <a:solidFill>
                <a:srgbClr val="174E7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sp>
        <p:nvSpPr>
          <p:cNvPr id="19" name="矩形: 圆角 79"/>
          <p:cNvSpPr/>
          <p:nvPr/>
        </p:nvSpPr>
        <p:spPr>
          <a:xfrm>
            <a:off x="9703898" y="1656297"/>
            <a:ext cx="2064003" cy="1952740"/>
          </a:xfrm>
          <a:prstGeom prst="roundRect">
            <a:avLst>
              <a:gd name="adj" fmla="val 5158"/>
            </a:avLst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791742" y="2109953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zh-CN" altLang="en-US" sz="1200" b="1" dirty="0" smtClean="0">
                <a:solidFill>
                  <a:srgbClr val="E7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精准控温</a:t>
            </a:r>
            <a:endParaRPr lang="zh-CN" altLang="en-US" sz="1200" b="1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791742" y="2672273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zh-CN" altLang="en-US" sz="1200" b="1" dirty="0" smtClean="0">
                <a:solidFill>
                  <a:srgbClr val="E7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智能交互</a:t>
            </a:r>
            <a:endParaRPr sz="1200" b="1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791742" y="3234593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zh-CN" altLang="en-US" sz="1200" b="1" dirty="0" smtClean="0">
                <a:solidFill>
                  <a:srgbClr val="E7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M" panose="00020600040101010101" pitchFamily="18" charset="-122"/>
              </a:rPr>
              <a:t>能耗管理</a:t>
            </a:r>
            <a:endParaRPr lang="zh-CN" altLang="en-US" sz="1200" b="1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M" panose="00020600040101010101" pitchFamily="18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650409" y="1787367"/>
            <a:ext cx="251383" cy="251382"/>
            <a:chOff x="7986757" y="4416196"/>
            <a:chExt cx="251383" cy="251382"/>
          </a:xfrm>
        </p:grpSpPr>
        <p:sp>
          <p:nvSpPr>
            <p:cNvPr id="24" name="椭圆 2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2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0650409" y="2373292"/>
            <a:ext cx="251383" cy="251382"/>
            <a:chOff x="7986757" y="4416196"/>
            <a:chExt cx="251383" cy="251382"/>
          </a:xfrm>
        </p:grpSpPr>
        <p:sp>
          <p:nvSpPr>
            <p:cNvPr id="27" name="椭圆 2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2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0650409" y="2959217"/>
            <a:ext cx="251383" cy="251382"/>
            <a:chOff x="7986757" y="4416196"/>
            <a:chExt cx="251383" cy="251382"/>
          </a:xfrm>
        </p:grpSpPr>
        <p:sp>
          <p:nvSpPr>
            <p:cNvPr id="30" name="椭圆 29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31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6864104" y="1895619"/>
            <a:ext cx="2569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5446856" y="4430517"/>
            <a:ext cx="2286986" cy="145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50" b="0" i="0" u="none" strike="noStrike" cap="none" spc="0" normalizeH="0" baseline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defRPr>
            </a:lvl1pPr>
          </a:lstStyle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年前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，全球智能温控器市场由</a:t>
            </a:r>
            <a:r>
              <a:rPr lang="zh-CN" altLang="en-US" sz="1400" b="1" dirty="0">
                <a:solidFill>
                  <a:srgbClr val="FF0000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霍尼韦尔（</a:t>
            </a:r>
            <a:r>
              <a:rPr lang="en-US" altLang="zh-CN" sz="1400" b="1" dirty="0">
                <a:solidFill>
                  <a:srgbClr val="FF0000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Honeywell</a:t>
            </a:r>
            <a:r>
              <a:rPr lang="zh-CN" altLang="en-US" sz="1400" b="1" dirty="0">
                <a:solidFill>
                  <a:srgbClr val="FF0000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400" b="1" dirty="0" smtClean="0">
                <a:solidFill>
                  <a:srgbClr val="FF0000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西门子</a:t>
            </a:r>
            <a:r>
              <a:rPr lang="en-US" altLang="zh-CN" sz="1400" b="1" dirty="0" smtClean="0">
                <a:solidFill>
                  <a:srgbClr val="FF0000">
                    <a:alpha val="6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(SIEMENS)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工业巨头主导，占据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份额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366902" y="4023592"/>
            <a:ext cx="283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 smtClean="0">
                <a:solidFill>
                  <a:srgbClr val="904C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行业格局</a:t>
            </a:r>
            <a:endParaRPr lang="zh-CN" altLang="en-US" dirty="0">
              <a:solidFill>
                <a:srgbClr val="904C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: 圆角 92"/>
          <p:cNvSpPr/>
          <p:nvPr/>
        </p:nvSpPr>
        <p:spPr>
          <a:xfrm>
            <a:off x="9703898" y="4053065"/>
            <a:ext cx="2064003" cy="1952740"/>
          </a:xfrm>
          <a:prstGeom prst="roundRect">
            <a:avLst>
              <a:gd name="adj" fmla="val 5158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864104" y="4288961"/>
            <a:ext cx="256945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791742" y="4454418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市场主导者明确</a:t>
            </a:r>
            <a:endParaRPr lang="zh-CN" altLang="en-US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791742" y="4968389"/>
            <a:ext cx="1888314" cy="184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产品功能单一</a:t>
            </a:r>
            <a:endParaRPr lang="zh-CN" altLang="en-US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825151" y="5482360"/>
            <a:ext cx="182149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用户体验不佳</a:t>
            </a:r>
            <a:endParaRPr lang="zh-CN" altLang="en-US" dirty="0">
              <a:solidFill>
                <a:srgbClr val="E7E6E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0650409" y="4141542"/>
            <a:ext cx="251383" cy="251382"/>
            <a:chOff x="7986757" y="4416196"/>
            <a:chExt cx="251383" cy="251382"/>
          </a:xfrm>
        </p:grpSpPr>
        <p:sp>
          <p:nvSpPr>
            <p:cNvPr id="41" name="椭圆 40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42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0650409" y="4695506"/>
            <a:ext cx="251383" cy="251382"/>
            <a:chOff x="7986757" y="4416196"/>
            <a:chExt cx="251383" cy="251382"/>
          </a:xfrm>
        </p:grpSpPr>
        <p:sp>
          <p:nvSpPr>
            <p:cNvPr id="44" name="椭圆 4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4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0650409" y="5209715"/>
            <a:ext cx="251383" cy="251382"/>
            <a:chOff x="7986757" y="4416196"/>
            <a:chExt cx="251383" cy="251382"/>
          </a:xfrm>
        </p:grpSpPr>
        <p:sp>
          <p:nvSpPr>
            <p:cNvPr id="47" name="椭圆 4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4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kumimoji="1" lang="zh-CN" altLang="en-US">
                <a:solidFill>
                  <a:srgbClr val="000000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393" y="1895619"/>
            <a:ext cx="1637479" cy="1474306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8833" y="1895619"/>
            <a:ext cx="1637478" cy="1474305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E5191627-FA02-469B-8AB8-A216DA03FCCE}"/>
              </a:ext>
            </a:extLst>
          </p:cNvPr>
          <p:cNvSpPr txBox="1"/>
          <p:nvPr/>
        </p:nvSpPr>
        <p:spPr>
          <a:xfrm>
            <a:off x="626638" y="371410"/>
            <a:ext cx="9711161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>
                <a:sym typeface="+mn-ea"/>
              </a:rPr>
              <a:t>哈佛商学院经典案例</a:t>
            </a:r>
            <a:r>
              <a:rPr lang="en-US" altLang="zh-CN" dirty="0" smtClean="0">
                <a:sym typeface="+mn-ea"/>
              </a:rPr>
              <a:t>——</a:t>
            </a:r>
            <a:r>
              <a:rPr lang="zh-CN" altLang="en-US" dirty="0" smtClean="0">
                <a:sym typeface="+mn-ea"/>
              </a:rPr>
              <a:t>产品与行业格局</a:t>
            </a:r>
            <a:endParaRPr lang="en-US" altLang="zh-CN" dirty="0">
              <a:highlight>
                <a:srgbClr val="FFFF00"/>
              </a:highlight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8816" y="4484051"/>
            <a:ext cx="1869849" cy="99830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1929" y="4427404"/>
            <a:ext cx="1960204" cy="1181769"/>
          </a:xfrm>
          <a:prstGeom prst="rect">
            <a:avLst/>
          </a:prstGeom>
        </p:spPr>
      </p:pic>
      <p:sp>
        <p:nvSpPr>
          <p:cNvPr id="49" name="textbox 18"/>
          <p:cNvSpPr/>
          <p:nvPr/>
        </p:nvSpPr>
        <p:spPr>
          <a:xfrm>
            <a:off x="7821686" y="4776688"/>
            <a:ext cx="1789023" cy="832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altLang="zh-CN" sz="6000" b="1" dirty="0" smtClean="0">
                <a:solidFill>
                  <a:srgbClr val="1A3F8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70%</a:t>
            </a:r>
            <a:endParaRPr lang="en-US" altLang="zh-CN" sz="6000" b="1" dirty="0">
              <a:solidFill>
                <a:srgbClr val="1A3F8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450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圆角矩形 70"/>
          <p:cNvSpPr/>
          <p:nvPr/>
        </p:nvSpPr>
        <p:spPr>
          <a:xfrm>
            <a:off x="318184" y="2526836"/>
            <a:ext cx="3407330" cy="2881777"/>
          </a:xfrm>
          <a:prstGeom prst="roundRect">
            <a:avLst>
              <a:gd name="adj" fmla="val 2166"/>
            </a:avLst>
          </a:prstGeom>
          <a:solidFill>
            <a:srgbClr val="904C47">
              <a:lumMod val="20000"/>
              <a:lumOff val="80000"/>
              <a:alpha val="1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4092507" y="2519213"/>
            <a:ext cx="7796438" cy="2881777"/>
          </a:xfrm>
          <a:prstGeom prst="roundRect">
            <a:avLst>
              <a:gd name="adj" fmla="val 2166"/>
            </a:avLst>
          </a:prstGeom>
          <a:solidFill>
            <a:srgbClr val="904C47">
              <a:lumMod val="20000"/>
              <a:lumOff val="80000"/>
              <a:alpha val="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7179655" y="2615413"/>
            <a:ext cx="4453545" cy="644432"/>
          </a:xfrm>
          <a:prstGeom prst="roundRect">
            <a:avLst/>
          </a:prstGeom>
          <a:gradFill flip="none" rotWithShape="1">
            <a:gsLst>
              <a:gs pos="0">
                <a:srgbClr val="904C47">
                  <a:alpha val="0"/>
                </a:srgbClr>
              </a:gs>
              <a:gs pos="100000">
                <a:srgbClr val="904C47">
                  <a:lumMod val="20000"/>
                  <a:lumOff val="8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7414952" y="3559733"/>
            <a:ext cx="4453545" cy="644432"/>
          </a:xfrm>
          <a:prstGeom prst="roundRect">
            <a:avLst/>
          </a:prstGeom>
          <a:gradFill flip="none" rotWithShape="1">
            <a:gsLst>
              <a:gs pos="0">
                <a:srgbClr val="904C47">
                  <a:alpha val="0"/>
                </a:srgbClr>
              </a:gs>
              <a:gs pos="100000">
                <a:srgbClr val="904C47">
                  <a:lumMod val="20000"/>
                  <a:lumOff val="8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7179655" y="4472943"/>
            <a:ext cx="4453545" cy="644432"/>
          </a:xfrm>
          <a:prstGeom prst="roundRect">
            <a:avLst/>
          </a:prstGeom>
          <a:gradFill flip="none" rotWithShape="1">
            <a:gsLst>
              <a:gs pos="0">
                <a:srgbClr val="904C47">
                  <a:alpha val="0"/>
                </a:srgbClr>
              </a:gs>
              <a:gs pos="100000">
                <a:srgbClr val="904C47">
                  <a:lumMod val="20000"/>
                  <a:lumOff val="8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349036" y="5170715"/>
            <a:ext cx="11572666" cy="1687286"/>
            <a:chOff x="334963" y="2161129"/>
            <a:chExt cx="11523727" cy="4632616"/>
          </a:xfrm>
        </p:grpSpPr>
        <p:sp>
          <p:nvSpPr>
            <p:cNvPr id="80" name="矩形 79"/>
            <p:cNvSpPr/>
            <p:nvPr/>
          </p:nvSpPr>
          <p:spPr>
            <a:xfrm>
              <a:off x="334963" y="3099135"/>
              <a:ext cx="11523727" cy="3694610"/>
            </a:xfrm>
            <a:prstGeom prst="rect">
              <a:avLst/>
            </a:prstGeom>
            <a:solidFill>
              <a:srgbClr val="174E78"/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81" name="梯形 80"/>
            <p:cNvSpPr/>
            <p:nvPr/>
          </p:nvSpPr>
          <p:spPr>
            <a:xfrm>
              <a:off x="348976" y="2161129"/>
              <a:ext cx="11494048" cy="932994"/>
            </a:xfrm>
            <a:prstGeom prst="trapezoid">
              <a:avLst>
                <a:gd name="adj" fmla="val 97150"/>
              </a:avLst>
            </a:prstGeom>
            <a:gradFill flip="none" rotWithShape="1">
              <a:gsLst>
                <a:gs pos="0">
                  <a:srgbClr val="174E78"/>
                </a:gs>
                <a:gs pos="66000">
                  <a:srgbClr val="174E78">
                    <a:lumMod val="60000"/>
                    <a:lumOff val="40000"/>
                    <a:alpha val="0"/>
                  </a:srgbClr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</p:grpSp>
      <p:sp>
        <p:nvSpPr>
          <p:cNvPr id="88" name="任意多边形: 形状 28"/>
          <p:cNvSpPr/>
          <p:nvPr/>
        </p:nvSpPr>
        <p:spPr>
          <a:xfrm flipH="1">
            <a:off x="7833432" y="1111220"/>
            <a:ext cx="2631440" cy="270481"/>
          </a:xfrm>
          <a:custGeom>
            <a:avLst/>
            <a:gdLst>
              <a:gd name="connsiteX0" fmla="*/ 0 w 2631440"/>
              <a:gd name="connsiteY0" fmla="*/ 528320 h 751840"/>
              <a:gd name="connsiteX1" fmla="*/ 1554480 w 2631440"/>
              <a:gd name="connsiteY1" fmla="*/ 528320 h 751840"/>
              <a:gd name="connsiteX2" fmla="*/ 1676400 w 2631440"/>
              <a:gd name="connsiteY2" fmla="*/ 203200 h 751840"/>
              <a:gd name="connsiteX3" fmla="*/ 1869440 w 2631440"/>
              <a:gd name="connsiteY3" fmla="*/ 751840 h 751840"/>
              <a:gd name="connsiteX4" fmla="*/ 1991360 w 2631440"/>
              <a:gd name="connsiteY4" fmla="*/ 0 h 751840"/>
              <a:gd name="connsiteX5" fmla="*/ 2133600 w 2631440"/>
              <a:gd name="connsiteY5" fmla="*/ 660400 h 751840"/>
              <a:gd name="connsiteX6" fmla="*/ 2255520 w 2631440"/>
              <a:gd name="connsiteY6" fmla="*/ 447040 h 751840"/>
              <a:gd name="connsiteX7" fmla="*/ 2631440 w 2631440"/>
              <a:gd name="connsiteY7" fmla="*/ 447040 h 75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1440" h="751840">
                <a:moveTo>
                  <a:pt x="0" y="528320"/>
                </a:moveTo>
                <a:lnTo>
                  <a:pt x="1554480" y="528320"/>
                </a:lnTo>
                <a:lnTo>
                  <a:pt x="1676400" y="203200"/>
                </a:lnTo>
                <a:lnTo>
                  <a:pt x="1869440" y="751840"/>
                </a:lnTo>
                <a:lnTo>
                  <a:pt x="1991360" y="0"/>
                </a:lnTo>
                <a:lnTo>
                  <a:pt x="2133600" y="660400"/>
                </a:lnTo>
                <a:lnTo>
                  <a:pt x="2255520" y="447040"/>
                </a:lnTo>
                <a:lnTo>
                  <a:pt x="2631440" y="447040"/>
                </a:lnTo>
              </a:path>
            </a:pathLst>
          </a:custGeom>
          <a:noFill/>
          <a:ln w="12700" cap="flat" cmpd="sng" algn="ctr">
            <a:gradFill flip="none" rotWithShape="1">
              <a:gsLst>
                <a:gs pos="0">
                  <a:srgbClr val="174E78">
                    <a:alpha val="0"/>
                  </a:srgbClr>
                </a:gs>
                <a:gs pos="34000">
                  <a:srgbClr val="174E78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HarmonyOS Sans SC" panose="00000500000000000000" pitchFamily="2" charset="-122"/>
            </a:endParaRPr>
          </a:p>
        </p:txBody>
      </p:sp>
      <p:sp>
        <p:nvSpPr>
          <p:cNvPr id="89" name="任意多边形: 形状 27"/>
          <p:cNvSpPr/>
          <p:nvPr/>
        </p:nvSpPr>
        <p:spPr>
          <a:xfrm>
            <a:off x="1688550" y="1130270"/>
            <a:ext cx="2631440" cy="270481"/>
          </a:xfrm>
          <a:custGeom>
            <a:avLst/>
            <a:gdLst>
              <a:gd name="connsiteX0" fmla="*/ 0 w 2631440"/>
              <a:gd name="connsiteY0" fmla="*/ 528320 h 751840"/>
              <a:gd name="connsiteX1" fmla="*/ 1554480 w 2631440"/>
              <a:gd name="connsiteY1" fmla="*/ 528320 h 751840"/>
              <a:gd name="connsiteX2" fmla="*/ 1676400 w 2631440"/>
              <a:gd name="connsiteY2" fmla="*/ 203200 h 751840"/>
              <a:gd name="connsiteX3" fmla="*/ 1869440 w 2631440"/>
              <a:gd name="connsiteY3" fmla="*/ 751840 h 751840"/>
              <a:gd name="connsiteX4" fmla="*/ 1991360 w 2631440"/>
              <a:gd name="connsiteY4" fmla="*/ 0 h 751840"/>
              <a:gd name="connsiteX5" fmla="*/ 2133600 w 2631440"/>
              <a:gd name="connsiteY5" fmla="*/ 660400 h 751840"/>
              <a:gd name="connsiteX6" fmla="*/ 2255520 w 2631440"/>
              <a:gd name="connsiteY6" fmla="*/ 447040 h 751840"/>
              <a:gd name="connsiteX7" fmla="*/ 2631440 w 2631440"/>
              <a:gd name="connsiteY7" fmla="*/ 447040 h 75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31440" h="751840">
                <a:moveTo>
                  <a:pt x="0" y="528320"/>
                </a:moveTo>
                <a:lnTo>
                  <a:pt x="1554480" y="528320"/>
                </a:lnTo>
                <a:lnTo>
                  <a:pt x="1676400" y="203200"/>
                </a:lnTo>
                <a:lnTo>
                  <a:pt x="1869440" y="751840"/>
                </a:lnTo>
                <a:lnTo>
                  <a:pt x="1991360" y="0"/>
                </a:lnTo>
                <a:lnTo>
                  <a:pt x="2133600" y="660400"/>
                </a:lnTo>
                <a:lnTo>
                  <a:pt x="2255520" y="447040"/>
                </a:lnTo>
                <a:lnTo>
                  <a:pt x="2631440" y="447040"/>
                </a:lnTo>
              </a:path>
            </a:pathLst>
          </a:custGeom>
          <a:noFill/>
          <a:ln w="12700" cap="flat" cmpd="sng" algn="ctr">
            <a:gradFill flip="none" rotWithShape="1">
              <a:gsLst>
                <a:gs pos="0">
                  <a:srgbClr val="174E78">
                    <a:alpha val="0"/>
                  </a:srgbClr>
                </a:gs>
                <a:gs pos="34000">
                  <a:srgbClr val="174E78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HarmonyOS Sans SC" panose="00000500000000000000" pitchFamily="2" charset="-122"/>
            </a:endParaRPr>
          </a:p>
        </p:txBody>
      </p:sp>
      <p:sp>
        <p:nvSpPr>
          <p:cNvPr id="90" name="文本框 89"/>
          <p:cNvSpPr txBox="1"/>
          <p:nvPr>
            <p:custDataLst>
              <p:tags r:id="rId1"/>
            </p:custDataLst>
          </p:nvPr>
        </p:nvSpPr>
        <p:spPr>
          <a:xfrm>
            <a:off x="3964225" y="1111220"/>
            <a:ext cx="426355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>
                    <a:lumMod val="50000"/>
                  </a:schemeClr>
                </a:solidFill>
                <a:effectLst>
                  <a:reflection blurRad="101600" stA="19000" endPos="45500" dist="38100" dir="5400000" sy="-100000" algn="bl" rotWithShape="0"/>
                </a:effectLst>
              </a:defRPr>
            </a:lvl1pPr>
          </a:lstStyle>
          <a:p>
            <a:pPr>
              <a:defRPr/>
            </a:pPr>
            <a:r>
              <a:rPr lang="zh-CN" altLang="en-US" sz="2400" b="1" dirty="0" smtClean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以</a:t>
            </a:r>
            <a:r>
              <a:rPr lang="zh-CN" altLang="en-US" sz="2400" b="1" dirty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用户</a:t>
            </a:r>
            <a:r>
              <a:rPr lang="zh-CN" altLang="en-US" sz="2400" b="1" dirty="0" smtClean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为</a:t>
            </a:r>
            <a:r>
              <a:rPr lang="zh-CN" altLang="en-US" sz="2400" b="1" dirty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中心创造价值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2202024" y="1614854"/>
            <a:ext cx="7820782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174E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“定调 ：</a:t>
            </a:r>
            <a:r>
              <a:rPr lang="zh-CN" altLang="en-US" sz="1600" dirty="0" smtClean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确定方向</a:t>
            </a:r>
            <a:r>
              <a:rPr lang="zh-CN" altLang="en-US" sz="160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和</a:t>
            </a:r>
            <a:r>
              <a:rPr lang="zh-CN" altLang="en-US" sz="1600" dirty="0" smtClean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立足点</a:t>
            </a:r>
            <a:endParaRPr lang="zh-CN" altLang="en-US" sz="160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30880" y="5580802"/>
            <a:ext cx="2587957" cy="27749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b="1" dirty="0" smtClean="0"/>
              <a:t>用户反馈与评价：</a:t>
            </a:r>
            <a:endParaRPr lang="en-US" altLang="zh-CN" b="1" dirty="0" smtClean="0"/>
          </a:p>
        </p:txBody>
      </p:sp>
      <p:sp>
        <p:nvSpPr>
          <p:cNvPr id="100" name="矩形 99"/>
          <p:cNvSpPr/>
          <p:nvPr/>
        </p:nvSpPr>
        <p:spPr>
          <a:xfrm>
            <a:off x="327298" y="2000683"/>
            <a:ext cx="3398216" cy="491364"/>
          </a:xfrm>
          <a:prstGeom prst="rect">
            <a:avLst/>
          </a:prstGeom>
          <a:solidFill>
            <a:srgbClr val="904C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kern="0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全新的产品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079875" y="2000683"/>
            <a:ext cx="7826094" cy="491490"/>
          </a:xfrm>
          <a:prstGeom prst="rect">
            <a:avLst/>
          </a:prstGeom>
          <a:solidFill>
            <a:srgbClr val="904C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制胜引擎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：技术差异化、用户体验优化、创新的市场策略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08" name="椭圆 107"/>
          <p:cNvSpPr/>
          <p:nvPr/>
        </p:nvSpPr>
        <p:spPr>
          <a:xfrm>
            <a:off x="5668614" y="3219093"/>
            <a:ext cx="1231618" cy="1231618"/>
          </a:xfrm>
          <a:prstGeom prst="ellipse">
            <a:avLst/>
          </a:prstGeom>
          <a:gradFill flip="none" rotWithShape="1">
            <a:gsLst>
              <a:gs pos="0">
                <a:srgbClr val="904C47"/>
              </a:gs>
              <a:gs pos="89000">
                <a:srgbClr val="904C47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innerShdw blurRad="203200">
              <a:sysClr val="window" lastClr="FFFFFF"/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sp>
        <p:nvSpPr>
          <p:cNvPr id="109" name="椭圆 108"/>
          <p:cNvSpPr/>
          <p:nvPr/>
        </p:nvSpPr>
        <p:spPr>
          <a:xfrm>
            <a:off x="5193893" y="2797545"/>
            <a:ext cx="2223314" cy="2223314"/>
          </a:xfrm>
          <a:prstGeom prst="ellipse">
            <a:avLst/>
          </a:prstGeom>
          <a:noFill/>
          <a:ln w="12700" cap="flat" cmpd="sng" algn="ctr">
            <a:gradFill flip="none" rotWithShape="1">
              <a:gsLst>
                <a:gs pos="24000">
                  <a:srgbClr val="904C47">
                    <a:alpha val="0"/>
                  </a:srgbClr>
                </a:gs>
                <a:gs pos="100000">
                  <a:srgbClr val="904C47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</a:endParaRPr>
          </a:p>
        </p:txBody>
      </p:sp>
      <p:grpSp>
        <p:nvGrpSpPr>
          <p:cNvPr id="110" name="组合 109"/>
          <p:cNvGrpSpPr/>
          <p:nvPr/>
        </p:nvGrpSpPr>
        <p:grpSpPr>
          <a:xfrm>
            <a:off x="6763518" y="2646549"/>
            <a:ext cx="519458" cy="519458"/>
            <a:chOff x="5335998" y="6516722"/>
            <a:chExt cx="1020486" cy="1020484"/>
          </a:xfrm>
        </p:grpSpPr>
        <p:sp>
          <p:nvSpPr>
            <p:cNvPr id="111" name="椭圆 110"/>
            <p:cNvSpPr/>
            <p:nvPr/>
          </p:nvSpPr>
          <p:spPr>
            <a:xfrm flipH="1">
              <a:off x="5335998" y="6516722"/>
              <a:ext cx="1020486" cy="1020484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" dist="101600" dir="8100000" sx="102000" sy="102000" algn="tl" rotWithShape="0">
                <a:srgbClr val="174E78">
                  <a:alpha val="17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12" name="椭圆 111"/>
            <p:cNvSpPr/>
            <p:nvPr/>
          </p:nvSpPr>
          <p:spPr>
            <a:xfrm flipH="1">
              <a:off x="5335998" y="6516722"/>
              <a:ext cx="1020486" cy="1020484"/>
            </a:xfrm>
            <a:prstGeom prst="ellipse">
              <a:avLst/>
            </a:prstGeom>
            <a:solidFill>
              <a:srgbClr val="904C47"/>
            </a:solidFill>
            <a:ln w="6350" cap="flat" cmpd="sng" algn="ctr">
              <a:noFill/>
              <a:prstDash val="solid"/>
              <a:miter lim="800000"/>
            </a:ln>
            <a:effectLst>
              <a:outerShdw blurRad="50800" dist="25400" dir="8100000" sx="101000" sy="101000" algn="tl" rotWithShape="0">
                <a:sysClr val="window" lastClr="FFFFFF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13" name="椭圆 112"/>
            <p:cNvSpPr/>
            <p:nvPr/>
          </p:nvSpPr>
          <p:spPr>
            <a:xfrm flipH="1">
              <a:off x="5368718" y="6549442"/>
              <a:ext cx="955046" cy="95504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  <a:miter lim="800000"/>
            </a:ln>
            <a:effectLst>
              <a:innerShdw blurRad="520700">
                <a:sysClr val="window" lastClr="FFFFFF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</p:grpSp>
      <p:sp>
        <p:nvSpPr>
          <p:cNvPr id="114" name="文本框 113"/>
          <p:cNvSpPr txBox="1"/>
          <p:nvPr/>
        </p:nvSpPr>
        <p:spPr>
          <a:xfrm>
            <a:off x="4664118" y="3706718"/>
            <a:ext cx="66364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cap="none" spc="0" normalizeH="0" baseline="0">
                <a:ln>
                  <a:noFill/>
                </a:ln>
                <a:solidFill>
                  <a:srgbClr val="A13422"/>
                </a:solidFill>
                <a:effectLst/>
                <a:uLnTx/>
                <a:uFillTx/>
                <a:latin typeface="+mn-ea"/>
                <a:cs typeface="思源黑体 CN Normal" charset="-122"/>
              </a:defRPr>
            </a:lvl1pPr>
          </a:lstStyle>
          <a:p>
            <a:r>
              <a:rPr lang="zh-CN" altLang="en-US" dirty="0">
                <a:solidFill>
                  <a:srgbClr val="904C47"/>
                </a:solidFill>
                <a:latin typeface="思源黑体 CN Regular"/>
              </a:rPr>
              <a:t>“ </a:t>
            </a:r>
            <a:r>
              <a:rPr lang="zh-CN" altLang="en-US" dirty="0" smtClean="0">
                <a:solidFill>
                  <a:srgbClr val="904C47"/>
                </a:solidFill>
                <a:latin typeface="思源黑体 CN Regular"/>
              </a:rPr>
              <a:t>术 ”</a:t>
            </a:r>
            <a:endParaRPr lang="zh-CN" altLang="en-US" dirty="0">
              <a:solidFill>
                <a:srgbClr val="904C47"/>
              </a:solidFill>
              <a:latin typeface="思源黑体 CN Regular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5782123" y="3541295"/>
            <a:ext cx="1033232" cy="517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产品</a:t>
            </a:r>
            <a:endParaRPr lang="en-US" altLang="zh-CN" sz="1400" b="1" dirty="0" smtClea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  <a:p>
            <a:pPr algn="ctr">
              <a:lnSpc>
                <a:spcPct val="120000"/>
              </a:lnSpc>
              <a:defRPr/>
            </a:pPr>
            <a:r>
              <a:rPr lang="zh-CN" altLang="en-US" sz="1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（</a:t>
            </a:r>
            <a:r>
              <a:rPr lang="en-US" altLang="zh-CN" sz="1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Product</a:t>
            </a:r>
            <a:r>
              <a:rPr lang="zh-CN" altLang="en-US" sz="14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）</a:t>
            </a:r>
            <a:endParaRPr lang="zh-CN" alt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16" name="矩形: 圆角 189"/>
          <p:cNvSpPr/>
          <p:nvPr/>
        </p:nvSpPr>
        <p:spPr>
          <a:xfrm>
            <a:off x="7542596" y="2767284"/>
            <a:ext cx="1430817" cy="32694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联网功能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7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17" name="矩形: 圆角 189"/>
          <p:cNvSpPr/>
          <p:nvPr/>
        </p:nvSpPr>
        <p:spPr>
          <a:xfrm>
            <a:off x="8965195" y="2767284"/>
            <a:ext cx="1430817" cy="32694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  <a:sym typeface="+mn-ea"/>
              </a:rPr>
              <a:t>能耗管理</a:t>
            </a:r>
            <a:endPara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7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18" name="矩形: 圆角 189"/>
          <p:cNvSpPr/>
          <p:nvPr/>
        </p:nvSpPr>
        <p:spPr>
          <a:xfrm>
            <a:off x="10390614" y="2767284"/>
            <a:ext cx="1430817" cy="32694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200" kern="0" dirty="0" smtClean="0">
                <a:solidFill>
                  <a:srgbClr val="0007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远程迭代升级</a:t>
            </a:r>
            <a:endPara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7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19" name="矩形: 圆角 189"/>
          <p:cNvSpPr/>
          <p:nvPr/>
        </p:nvSpPr>
        <p:spPr>
          <a:xfrm>
            <a:off x="7609271" y="4719791"/>
            <a:ext cx="1779245" cy="25981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价值定价</a:t>
            </a:r>
          </a:p>
        </p:txBody>
      </p:sp>
      <p:sp>
        <p:nvSpPr>
          <p:cNvPr id="120" name="矩形: 圆角 189"/>
          <p:cNvSpPr/>
          <p:nvPr/>
        </p:nvSpPr>
        <p:spPr>
          <a:xfrm>
            <a:off x="8978714" y="4729316"/>
            <a:ext cx="1779245" cy="25981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200" kern="0" dirty="0" smtClean="0">
                <a:solidFill>
                  <a:srgbClr val="0007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  <a:sym typeface="+mn-ea"/>
              </a:rPr>
              <a:t>规模化降本</a:t>
            </a:r>
            <a:endPara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7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22" name="矩形: 圆角 189"/>
          <p:cNvSpPr/>
          <p:nvPr/>
        </p:nvSpPr>
        <p:spPr>
          <a:xfrm>
            <a:off x="7756908" y="3702194"/>
            <a:ext cx="2265898" cy="3269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安装简化</a:t>
            </a:r>
          </a:p>
        </p:txBody>
      </p:sp>
      <p:sp>
        <p:nvSpPr>
          <p:cNvPr id="123" name="矩形: 圆角 189"/>
          <p:cNvSpPr/>
          <p:nvPr/>
        </p:nvSpPr>
        <p:spPr>
          <a:xfrm>
            <a:off x="8925300" y="3702194"/>
            <a:ext cx="2265898" cy="3269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7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  <a:sym typeface="+mn-ea"/>
              </a:rPr>
              <a:t>功能丰富</a:t>
            </a:r>
            <a:endPara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7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7122293" y="3635411"/>
            <a:ext cx="519458" cy="519458"/>
            <a:chOff x="5335998" y="6516722"/>
            <a:chExt cx="1020486" cy="1020484"/>
          </a:xfrm>
        </p:grpSpPr>
        <p:sp>
          <p:nvSpPr>
            <p:cNvPr id="126" name="椭圆 125"/>
            <p:cNvSpPr/>
            <p:nvPr/>
          </p:nvSpPr>
          <p:spPr>
            <a:xfrm flipH="1">
              <a:off x="5335998" y="6516722"/>
              <a:ext cx="1020486" cy="1020484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" dist="101600" dir="8100000" sx="102000" sy="102000" algn="tl" rotWithShape="0">
                <a:srgbClr val="174E78">
                  <a:alpha val="17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27" name="椭圆 126"/>
            <p:cNvSpPr/>
            <p:nvPr/>
          </p:nvSpPr>
          <p:spPr>
            <a:xfrm flipH="1">
              <a:off x="5335998" y="6516722"/>
              <a:ext cx="1020486" cy="1020484"/>
            </a:xfrm>
            <a:prstGeom prst="ellipse">
              <a:avLst/>
            </a:prstGeom>
            <a:solidFill>
              <a:srgbClr val="904C47"/>
            </a:solidFill>
            <a:ln w="6350" cap="flat" cmpd="sng" algn="ctr">
              <a:noFill/>
              <a:prstDash val="solid"/>
              <a:miter lim="800000"/>
            </a:ln>
            <a:effectLst>
              <a:outerShdw blurRad="50800" dist="25400" dir="8100000" sx="101000" sy="101000" algn="tl" rotWithShape="0">
                <a:sysClr val="window" lastClr="FFFFFF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28" name="椭圆 127"/>
            <p:cNvSpPr/>
            <p:nvPr/>
          </p:nvSpPr>
          <p:spPr>
            <a:xfrm flipH="1">
              <a:off x="5368718" y="6549442"/>
              <a:ext cx="955046" cy="95504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  <a:miter lim="800000"/>
            </a:ln>
            <a:effectLst>
              <a:innerShdw blurRad="520700">
                <a:sysClr val="window" lastClr="FFFFFF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6725594" y="4496792"/>
            <a:ext cx="519458" cy="519458"/>
            <a:chOff x="5335998" y="6516722"/>
            <a:chExt cx="1020486" cy="1020484"/>
          </a:xfrm>
          <a:solidFill>
            <a:srgbClr val="FFFFFD"/>
          </a:solidFill>
        </p:grpSpPr>
        <p:sp>
          <p:nvSpPr>
            <p:cNvPr id="130" name="椭圆 129"/>
            <p:cNvSpPr/>
            <p:nvPr/>
          </p:nvSpPr>
          <p:spPr>
            <a:xfrm flipH="1">
              <a:off x="5335998" y="6516722"/>
              <a:ext cx="1020486" cy="1020484"/>
            </a:xfrm>
            <a:prstGeom prst="ellipse">
              <a:avLst/>
            </a:prstGeom>
            <a:grpFill/>
            <a:ln w="635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>
              <a:outerShdw blurRad="76200" dist="101600" dir="8100000" sx="102000" sy="102000" algn="tl" rotWithShape="0">
                <a:srgbClr val="174E78">
                  <a:alpha val="17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31" name="椭圆 130"/>
            <p:cNvSpPr/>
            <p:nvPr/>
          </p:nvSpPr>
          <p:spPr>
            <a:xfrm flipH="1">
              <a:off x="5335998" y="6516722"/>
              <a:ext cx="1020486" cy="1020484"/>
            </a:xfrm>
            <a:prstGeom prst="ellipse">
              <a:avLst/>
            </a:prstGeom>
            <a:grpFill/>
            <a:ln w="635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>
              <a:outerShdw blurRad="50800" dist="25400" dir="8100000" sx="101000" sy="101000" algn="tl" rotWithShape="0">
                <a:sysClr val="window" lastClr="FFFFFF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32" name="椭圆 131"/>
            <p:cNvSpPr/>
            <p:nvPr/>
          </p:nvSpPr>
          <p:spPr>
            <a:xfrm flipH="1">
              <a:off x="5368718" y="6549442"/>
              <a:ext cx="955046" cy="955044"/>
            </a:xfrm>
            <a:prstGeom prst="ellipse">
              <a:avLst/>
            </a:prstGeom>
            <a:grpFill/>
            <a:ln w="9525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>
              <a:innerShdw blurRad="520700">
                <a:sysClr val="window" lastClr="FFFFFF"/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</p:grpSp>
      <p:sp>
        <p:nvSpPr>
          <p:cNvPr id="133" name="文本框 132"/>
          <p:cNvSpPr txBox="1"/>
          <p:nvPr/>
        </p:nvSpPr>
        <p:spPr>
          <a:xfrm>
            <a:off x="6819157" y="2759445"/>
            <a:ext cx="41037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cap="none" spc="0" normalizeH="0" baseline="0">
                <a:ln>
                  <a:noFill/>
                </a:ln>
                <a:solidFill>
                  <a:srgbClr val="904C4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defRPr>
            </a:lvl1pPr>
          </a:lstStyle>
          <a:p>
            <a:r>
              <a:rPr lang="zh-CN" altLang="en-US" dirty="0" smtClean="0"/>
              <a:t>功能</a:t>
            </a:r>
            <a:endParaRPr lang="zh-CN" altLang="en-US" dirty="0"/>
          </a:p>
        </p:txBody>
      </p:sp>
      <p:sp>
        <p:nvSpPr>
          <p:cNvPr id="134" name="文本框 133"/>
          <p:cNvSpPr txBox="1"/>
          <p:nvPr/>
        </p:nvSpPr>
        <p:spPr>
          <a:xfrm>
            <a:off x="7173258" y="3785243"/>
            <a:ext cx="41037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cap="none" spc="0" normalizeH="0" baseline="0">
                <a:ln>
                  <a:noFill/>
                </a:ln>
                <a:solidFill>
                  <a:srgbClr val="1D427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Normal" charset="-122"/>
              </a:defRPr>
            </a:lvl1pPr>
          </a:lstStyle>
          <a:p>
            <a:pPr>
              <a:defRPr/>
            </a:pPr>
            <a:r>
              <a:rPr lang="zh-CN" altLang="en-US" dirty="0" smtClean="0">
                <a:solidFill>
                  <a:srgbClr val="904C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</a:t>
            </a:r>
            <a:endParaRPr lang="zh-CN" altLang="en-US" dirty="0">
              <a:solidFill>
                <a:srgbClr val="904C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6800340" y="4633736"/>
            <a:ext cx="4103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cap="none" spc="0" normalizeH="0" baseline="0">
                <a:ln>
                  <a:noFill/>
                </a:ln>
                <a:solidFill>
                  <a:srgbClr val="904C4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defRPr>
            </a:lvl1pPr>
          </a:lstStyle>
          <a:p>
            <a:r>
              <a:rPr lang="zh-CN" altLang="en-US" dirty="0" smtClean="0"/>
              <a:t>定价</a:t>
            </a:r>
            <a:endParaRPr lang="zh-CN" altLang="en-US" dirty="0"/>
          </a:p>
        </p:txBody>
      </p:sp>
      <p:grpSp>
        <p:nvGrpSpPr>
          <p:cNvPr id="137" name="组合 136"/>
          <p:cNvGrpSpPr/>
          <p:nvPr/>
        </p:nvGrpSpPr>
        <p:grpSpPr>
          <a:xfrm>
            <a:off x="4319990" y="3822313"/>
            <a:ext cx="1289714" cy="332556"/>
            <a:chOff x="5078379" y="3210921"/>
            <a:chExt cx="2029992" cy="523439"/>
          </a:xfrm>
        </p:grpSpPr>
        <p:sp>
          <p:nvSpPr>
            <p:cNvPr id="138" name="梯形 137"/>
            <p:cNvSpPr/>
            <p:nvPr/>
          </p:nvSpPr>
          <p:spPr>
            <a:xfrm>
              <a:off x="5246915" y="3210921"/>
              <a:ext cx="1719942" cy="442965"/>
            </a:xfrm>
            <a:prstGeom prst="trapezoid">
              <a:avLst>
                <a:gd name="adj" fmla="val 96266"/>
              </a:avLst>
            </a:prstGeom>
            <a:gradFill flip="none" rotWithShape="1">
              <a:gsLst>
                <a:gs pos="0">
                  <a:srgbClr val="904C47">
                    <a:lumMod val="60000"/>
                    <a:lumOff val="40000"/>
                    <a:alpha val="0"/>
                  </a:srgbClr>
                </a:gs>
                <a:gs pos="100000">
                  <a:srgbClr val="904C47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gradFill>
                  <a:gsLst>
                    <a:gs pos="0">
                      <a:srgbClr val="904C47"/>
                    </a:gs>
                    <a:gs pos="93000">
                      <a:srgbClr val="904C47">
                        <a:lumMod val="60000"/>
                        <a:lumOff val="40000"/>
                      </a:srgbClr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39" name="梯形 138"/>
            <p:cNvSpPr/>
            <p:nvPr/>
          </p:nvSpPr>
          <p:spPr>
            <a:xfrm>
              <a:off x="5078379" y="3355378"/>
              <a:ext cx="2029992" cy="378982"/>
            </a:xfrm>
            <a:prstGeom prst="trapezoid">
              <a:avLst>
                <a:gd name="adj" fmla="val 96266"/>
              </a:avLst>
            </a:prstGeom>
            <a:noFill/>
            <a:ln w="12700" cap="flat" cmpd="sng" algn="ctr">
              <a:gradFill>
                <a:gsLst>
                  <a:gs pos="0">
                    <a:srgbClr val="904C47">
                      <a:alpha val="0"/>
                    </a:srgbClr>
                  </a:gs>
                  <a:gs pos="100000">
                    <a:srgbClr val="904C47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</p:grpSp>
      <p:pic>
        <p:nvPicPr>
          <p:cNvPr id="140" name="Picture 2" descr="https://bkimg.cdn.bcebos.com/pic/267f9e2f07082838b73299f8b999a9014c08f11b?x-bce-process=image/format,f_auto/watermark,image_d2F0ZXIvYmFpa2UyNzI,g_7,xp_5,yp_5,P_20/resize,m_lfit,limit_1,h_108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989" y="2545387"/>
            <a:ext cx="2125018" cy="163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文本框 140">
            <a:extLst>
              <a:ext uri="{FF2B5EF4-FFF2-40B4-BE49-F238E27FC236}">
                <a16:creationId xmlns:a16="http://schemas.microsoft.com/office/drawing/2014/main" xmlns="" id="{E5191627-FA02-469B-8AB8-A216DA03FCCE}"/>
              </a:ext>
            </a:extLst>
          </p:cNvPr>
          <p:cNvSpPr txBox="1"/>
          <p:nvPr/>
        </p:nvSpPr>
        <p:spPr>
          <a:xfrm>
            <a:off x="626638" y="371410"/>
            <a:ext cx="9711161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>
                <a:sym typeface="+mn-ea"/>
              </a:rPr>
              <a:t>哈佛商学院经典案例</a:t>
            </a:r>
            <a:r>
              <a:rPr lang="en-US" altLang="zh-CN" dirty="0" smtClean="0">
                <a:sym typeface="+mn-ea"/>
              </a:rPr>
              <a:t>——Nest</a:t>
            </a:r>
            <a:r>
              <a:rPr lang="zh-CN" altLang="en-US" dirty="0" smtClean="0">
                <a:sym typeface="+mn-ea"/>
              </a:rPr>
              <a:t>恒温器</a:t>
            </a:r>
            <a:endParaRPr lang="en-US" altLang="zh-CN" dirty="0">
              <a:highlight>
                <a:srgbClr val="FFFF00"/>
              </a:highlight>
              <a:sym typeface="+mn-ea"/>
            </a:endParaRPr>
          </a:p>
        </p:txBody>
      </p:sp>
      <p:sp>
        <p:nvSpPr>
          <p:cNvPr id="142" name="矩形: 圆角 189"/>
          <p:cNvSpPr/>
          <p:nvPr/>
        </p:nvSpPr>
        <p:spPr>
          <a:xfrm>
            <a:off x="10464872" y="3702194"/>
            <a:ext cx="1601587" cy="3269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1200" kern="0" dirty="0" smtClean="0">
                <a:solidFill>
                  <a:srgbClr val="0007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  <a:sym typeface="+mn-ea"/>
              </a:rPr>
              <a:t>易操便捷</a:t>
            </a:r>
            <a:endParaRPr kumimoji="0" lang="zh-CN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7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449251" y="4265255"/>
            <a:ext cx="3276264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Nest Labs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的起点‌：</a:t>
            </a:r>
          </a:p>
          <a:p>
            <a:pPr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由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iPod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之父托尼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·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法德尔（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Tony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Fadell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）和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Matt Rogers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于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2011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年创立，托尼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·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法戴尔是前苹果公司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iPod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部门主管，被称为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iPod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之父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，做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了一个突破性产品：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Nest Learning Thermostat‌</a:t>
            </a:r>
          </a:p>
        </p:txBody>
      </p:sp>
      <p:sp>
        <p:nvSpPr>
          <p:cNvPr id="145" name="矩形 144"/>
          <p:cNvSpPr/>
          <p:nvPr/>
        </p:nvSpPr>
        <p:spPr>
          <a:xfrm>
            <a:off x="1904529" y="6055871"/>
            <a:ext cx="93989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“终于不用每天手动调温度了，它比我更懂我的习惯。”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科技博客读者。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等腰三角形 148"/>
          <p:cNvSpPr/>
          <p:nvPr/>
        </p:nvSpPr>
        <p:spPr>
          <a:xfrm flipH="1">
            <a:off x="4646987" y="4915624"/>
            <a:ext cx="4638217" cy="506531"/>
          </a:xfrm>
          <a:prstGeom prst="triangle">
            <a:avLst/>
          </a:prstGeom>
          <a:gradFill flip="none" rotWithShape="1">
            <a:gsLst>
              <a:gs pos="81000">
                <a:schemeClr val="accent5">
                  <a:lumMod val="60000"/>
                  <a:lumOff val="40000"/>
                </a:schemeClr>
              </a:gs>
              <a:gs pos="47000">
                <a:schemeClr val="accent1">
                  <a:alpha val="1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prstClr val="white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93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7561" y="765096"/>
            <a:ext cx="1860041" cy="3396234"/>
          </a:xfrm>
          <a:prstGeom prst="rect">
            <a:avLst/>
          </a:prstGeom>
        </p:spPr>
      </p:pic>
      <p:pic>
        <p:nvPicPr>
          <p:cNvPr id="30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1327" y="1587107"/>
            <a:ext cx="1860041" cy="339623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E5191627-FA02-469B-8AB8-A216DA03FCCE}"/>
              </a:ext>
            </a:extLst>
          </p:cNvPr>
          <p:cNvSpPr txBox="1"/>
          <p:nvPr/>
        </p:nvSpPr>
        <p:spPr>
          <a:xfrm>
            <a:off x="626638" y="371410"/>
            <a:ext cx="9711161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一个好产品出来以后，做的怎么样啊？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5446726" y="3074912"/>
            <a:ext cx="173384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年‌：市场份额跃升至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，营收突破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亿美元，成为美国智能温控器市场第一。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869" y="2413803"/>
            <a:ext cx="1860041" cy="3396234"/>
          </a:xfrm>
          <a:prstGeom prst="rect">
            <a:avLst/>
          </a:prstGeom>
        </p:spPr>
      </p:pic>
      <p:sp>
        <p:nvSpPr>
          <p:cNvPr id="25" name="object 9"/>
          <p:cNvSpPr/>
          <p:nvPr/>
        </p:nvSpPr>
        <p:spPr>
          <a:xfrm>
            <a:off x="5447430" y="1587107"/>
            <a:ext cx="1722120" cy="1487805"/>
          </a:xfrm>
          <a:custGeom>
            <a:avLst/>
            <a:gdLst/>
            <a:ahLst/>
            <a:cxnLst/>
            <a:rect l="l" t="t" r="r" b="b"/>
            <a:pathLst>
              <a:path w="1722120" h="1487804">
                <a:moveTo>
                  <a:pt x="0" y="1487424"/>
                </a:moveTo>
                <a:lnTo>
                  <a:pt x="1722120" y="1487424"/>
                </a:lnTo>
                <a:lnTo>
                  <a:pt x="1722120" y="0"/>
                </a:lnTo>
                <a:lnTo>
                  <a:pt x="0" y="0"/>
                </a:lnTo>
                <a:lnTo>
                  <a:pt x="0" y="1487424"/>
                </a:lnTo>
                <a:close/>
              </a:path>
            </a:pathLst>
          </a:custGeom>
          <a:solidFill>
            <a:srgbClr val="BC37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7"/>
          <p:cNvSpPr/>
          <p:nvPr/>
        </p:nvSpPr>
        <p:spPr>
          <a:xfrm>
            <a:off x="1680084" y="2443002"/>
            <a:ext cx="1719580" cy="1487805"/>
          </a:xfrm>
          <a:custGeom>
            <a:avLst/>
            <a:gdLst/>
            <a:ahLst/>
            <a:cxnLst/>
            <a:rect l="l" t="t" r="r" b="b"/>
            <a:pathLst>
              <a:path w="1719579" h="1487804">
                <a:moveTo>
                  <a:pt x="0" y="1487424"/>
                </a:moveTo>
                <a:lnTo>
                  <a:pt x="1719072" y="1487424"/>
                </a:lnTo>
                <a:lnTo>
                  <a:pt x="1719072" y="0"/>
                </a:lnTo>
                <a:lnTo>
                  <a:pt x="0" y="0"/>
                </a:lnTo>
                <a:lnTo>
                  <a:pt x="0" y="1487424"/>
                </a:lnTo>
                <a:close/>
              </a:path>
            </a:pathLst>
          </a:custGeom>
          <a:solidFill>
            <a:srgbClr val="6A858F"/>
          </a:solidFill>
        </p:spPr>
        <p:txBody>
          <a:bodyPr wrap="square" lIns="0" tIns="0" rIns="0" bIns="0" rtlCol="0"/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7" name="object 11"/>
          <p:cNvSpPr/>
          <p:nvPr/>
        </p:nvSpPr>
        <p:spPr>
          <a:xfrm>
            <a:off x="8967793" y="773443"/>
            <a:ext cx="1719580" cy="1487805"/>
          </a:xfrm>
          <a:custGeom>
            <a:avLst/>
            <a:gdLst/>
            <a:ahLst/>
            <a:cxnLst/>
            <a:rect l="l" t="t" r="r" b="b"/>
            <a:pathLst>
              <a:path w="1719579" h="1487804">
                <a:moveTo>
                  <a:pt x="0" y="1487424"/>
                </a:moveTo>
                <a:lnTo>
                  <a:pt x="1719072" y="1487424"/>
                </a:lnTo>
                <a:lnTo>
                  <a:pt x="1719072" y="0"/>
                </a:lnTo>
                <a:lnTo>
                  <a:pt x="0" y="0"/>
                </a:lnTo>
                <a:lnTo>
                  <a:pt x="0" y="1487424"/>
                </a:lnTo>
                <a:close/>
              </a:path>
            </a:pathLst>
          </a:custGeom>
          <a:solidFill>
            <a:srgbClr val="347B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2015566" y="3002238"/>
            <a:ext cx="1092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spc="-3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起步阶段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756232" y="4141119"/>
            <a:ext cx="1567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年刚开始市场份额不足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762186" y="2171409"/>
            <a:ext cx="1092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spc="-3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发展阶段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9281279" y="1332679"/>
            <a:ext cx="1092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spc="-3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巩固阶段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9043939" y="2406795"/>
            <a:ext cx="15672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年被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谷歌以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亿美元收购，巩固行业领导地位。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509311" y="5831066"/>
            <a:ext cx="9248291" cy="830271"/>
          </a:xfrm>
          <a:prstGeom prst="rect">
            <a:avLst/>
          </a:prstGeom>
          <a:solidFill>
            <a:srgbClr val="D5C8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4663695" y="4999728"/>
            <a:ext cx="6093907" cy="830271"/>
          </a:xfrm>
          <a:prstGeom prst="rect">
            <a:avLst/>
          </a:prstGeom>
          <a:solidFill>
            <a:srgbClr val="D5C8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8163499" y="4166541"/>
            <a:ext cx="2594103" cy="830271"/>
          </a:xfrm>
          <a:prstGeom prst="rect">
            <a:avLst/>
          </a:prstGeom>
          <a:solidFill>
            <a:srgbClr val="D5C8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456" y="2436532"/>
            <a:ext cx="1722892" cy="1638485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019" y="1713939"/>
            <a:ext cx="1722892" cy="163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813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42925" y="906941"/>
            <a:ext cx="3086138" cy="5874859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68776" y="3688225"/>
            <a:ext cx="5664877" cy="31272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E5191627-FA02-469B-8AB8-A216DA03FCCE}"/>
              </a:ext>
            </a:extLst>
          </p:cNvPr>
          <p:cNvSpPr txBox="1"/>
          <p:nvPr/>
        </p:nvSpPr>
        <p:spPr>
          <a:xfrm>
            <a:off x="626638" y="371410"/>
            <a:ext cx="9711161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>
                <a:sym typeface="+mn-ea"/>
              </a:rPr>
              <a:t>哈佛商学院经典案例</a:t>
            </a:r>
            <a:r>
              <a:rPr lang="en-US" altLang="zh-CN" dirty="0" smtClean="0">
                <a:sym typeface="+mn-ea"/>
              </a:rPr>
              <a:t>——Nest</a:t>
            </a:r>
            <a:r>
              <a:rPr lang="zh-CN" altLang="en-US" dirty="0" smtClean="0">
                <a:sym typeface="+mn-ea"/>
              </a:rPr>
              <a:t>恒温器</a:t>
            </a:r>
            <a:endParaRPr lang="en-US" altLang="zh-CN" dirty="0">
              <a:highlight>
                <a:srgbClr val="FFFF00"/>
              </a:highlight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1219" y="1716384"/>
            <a:ext cx="594412" cy="47248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219" y="3655715"/>
            <a:ext cx="579170" cy="44199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1219" y="5592336"/>
            <a:ext cx="609653" cy="480102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676195" y="1716384"/>
            <a:ext cx="1969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>
                    <a:lumMod val="50000"/>
                  </a:schemeClr>
                </a:solidFill>
                <a:effectLst>
                  <a:reflection blurRad="101600" stA="19000" endPos="45500" dist="38100" dir="5400000" sy="-100000" algn="bl" rotWithShape="0"/>
                </a:effectLst>
              </a:defRPr>
            </a:lvl1pPr>
          </a:lstStyle>
          <a:p>
            <a:pPr>
              <a:defRPr/>
            </a:pPr>
            <a:r>
              <a:rPr lang="zh-CN" altLang="en-US" sz="2400" b="1" dirty="0" smtClean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起步阶段</a:t>
            </a:r>
            <a:endParaRPr lang="zh-CN" altLang="en-US" sz="2400" b="1" dirty="0">
              <a:solidFill>
                <a:srgbClr val="174E78"/>
              </a:solidFill>
              <a:effectLst>
                <a:reflection blurRad="101600" stA="33000" endPos="22000" dist="381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86153" y="1746260"/>
            <a:ext cx="40831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做了一个好产品，拿出一个要赚毛利的价格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745499" y="3424882"/>
            <a:ext cx="1969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>
                    <a:lumMod val="50000"/>
                  </a:schemeClr>
                </a:solidFill>
                <a:effectLst>
                  <a:reflection blurRad="101600" stA="19000" endPos="45500" dist="38100" dir="5400000" sy="-100000" algn="bl" rotWithShape="0"/>
                </a:effectLst>
              </a:defRPr>
            </a:lvl1pPr>
          </a:lstStyle>
          <a:p>
            <a:pPr>
              <a:defRPr/>
            </a:pPr>
            <a:r>
              <a:rPr lang="zh-CN" altLang="en-US" sz="2400" b="1" dirty="0" smtClean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面对竞争如何应对</a:t>
            </a:r>
            <a:endParaRPr lang="zh-CN" altLang="en-US" sz="2400" b="1" dirty="0">
              <a:solidFill>
                <a:srgbClr val="174E78"/>
              </a:solidFill>
              <a:effectLst>
                <a:reflection blurRad="101600" stA="33000" endPos="22000" dist="381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786153" y="2376302"/>
            <a:ext cx="821340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友商看到了，跟进，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，突出品牌，打压他，控制他的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份额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应对之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策：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渠道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创新‌：避开传统建材渠道，直接通过苹果零售店、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Best Buy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等消费电子渠道销售，利用苹果的品牌背书吸引早期用户。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营销引爆‌：</a:t>
            </a:r>
          </a:p>
          <a:p>
            <a:pPr marL="800100" lvl="1" indent="-342900"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口碑传播‌：早期用户多为科技爱好者，通过社交媒体分享使用体验，形成病毒式传播。</a:t>
            </a:r>
          </a:p>
          <a:p>
            <a:pPr marL="800100" lvl="1" indent="-342900"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KOL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合作‌：与科技博主（如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MKBHD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）合作测评，突出产品易用性和设计美感。</a:t>
            </a:r>
          </a:p>
          <a:p>
            <a:pPr marL="800100" lvl="1" indent="-342900"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环保叙事‌：强调产品对减少碳排放的贡献，吸引环保意识较强的消费者。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快速迭代‌：通过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（空中升级）持续优化算法，如增加“离家模式”自动关闭温控，提升用户体验。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生态扩展‌：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年推出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接口，允许第三方开发者接入，构建智能家居生态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676195" y="5557705"/>
            <a:ext cx="1969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>
                    <a:lumMod val="50000"/>
                  </a:schemeClr>
                </a:solidFill>
                <a:effectLst>
                  <a:reflection blurRad="101600" stA="19000" endPos="45500" dist="38100" dir="5400000" sy="-100000" algn="bl" rotWithShape="0"/>
                </a:effectLst>
              </a:defRPr>
            </a:lvl1pPr>
          </a:lstStyle>
          <a:p>
            <a:pPr>
              <a:defRPr/>
            </a:pPr>
            <a:r>
              <a:rPr lang="zh-CN" altLang="en-US" sz="2400" b="1" dirty="0" smtClean="0">
                <a:solidFill>
                  <a:srgbClr val="174E78"/>
                </a:solidFill>
                <a:effectLst>
                  <a:reflection blurRad="101600" stA="33000" endPos="220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charset="-122"/>
              </a:rPr>
              <a:t>取得成果并巩固</a:t>
            </a:r>
            <a:endParaRPr lang="zh-CN" altLang="en-US" sz="2400" b="1" dirty="0">
              <a:solidFill>
                <a:srgbClr val="174E78"/>
              </a:solidFill>
              <a:effectLst>
                <a:reflection blurRad="101600" stA="33000" endPos="22000" dist="381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 CN Normal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823044" y="566771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快速把优势做到胜势，以市场份额为目标，干到行业第一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干到行业第一后，通过规模效应降低成本，调整价格更具市场竞争力，巩固第一位置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325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E5191627-FA02-469B-8AB8-A216DA03FCCE}"/>
              </a:ext>
            </a:extLst>
          </p:cNvPr>
          <p:cNvSpPr txBox="1"/>
          <p:nvPr/>
        </p:nvSpPr>
        <p:spPr>
          <a:xfrm>
            <a:off x="626638" y="371410"/>
            <a:ext cx="9711161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 smtClean="0">
                <a:sym typeface="+mn-ea"/>
              </a:rPr>
              <a:t>Nest</a:t>
            </a:r>
            <a:r>
              <a:rPr lang="zh-CN" altLang="en-US" dirty="0" smtClean="0">
                <a:sym typeface="+mn-ea"/>
              </a:rPr>
              <a:t>恒温器是怎么做到的？</a:t>
            </a:r>
            <a:endParaRPr lang="en-US" altLang="zh-CN" dirty="0">
              <a:highlight>
                <a:srgbClr val="FFFF00"/>
              </a:highlight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9110" y="1703070"/>
            <a:ext cx="11692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做了一个好产品，拿出一个要赚毛利的价格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 startAt="2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友商看到了，跟进，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，突出品牌，打压他，控制他的份额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他又做了什么呢？搞营销啊、开辟新渠道啊、建立早期客户成功啊、与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KOL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合作啊、各种造势啊（环保叙事）、迭代升级产品啊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快速把优势做到胜势，以市场份额为目标，干到行业第一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到行业第一，他又做了什么呢 ，调价，控场，巩固第一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6748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53066" y="3466532"/>
            <a:ext cx="1236016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技术</a:t>
            </a:r>
            <a:r>
              <a:rPr lang="zh-CN" altLang="en-US" dirty="0"/>
              <a:t>差异化‌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r>
              <a:rPr lang="zh-CN" altLang="en-US" dirty="0"/>
              <a:t>机器学习算法‌：设备通过记录用户手动调节习惯，自动学习并预测温度需求（如工作日早晨自动升温，夜间降温），减少用户干预。</a:t>
            </a:r>
          </a:p>
          <a:p>
            <a:r>
              <a:rPr lang="zh-CN" altLang="en-US" dirty="0"/>
              <a:t>联网功能‌：支持</a:t>
            </a:r>
            <a:r>
              <a:rPr lang="en-US" altLang="zh-CN" dirty="0"/>
              <a:t>Wi-Fi</a:t>
            </a:r>
            <a:r>
              <a:rPr lang="zh-CN" altLang="en-US" dirty="0"/>
              <a:t>连接，用户可通过手机</a:t>
            </a:r>
            <a:r>
              <a:rPr lang="en-US" altLang="zh-CN" dirty="0"/>
              <a:t>APP</a:t>
            </a:r>
            <a:r>
              <a:rPr lang="zh-CN" altLang="en-US" dirty="0"/>
              <a:t>远程控制，并接收能耗报告。</a:t>
            </a:r>
          </a:p>
          <a:p>
            <a:r>
              <a:rPr lang="zh-CN" altLang="en-US" dirty="0"/>
              <a:t>工业设计‌：采用圆形触控屏和金属机身，外观简洁时尚，与传统温控器的塑料面板形成鲜明对比。</a:t>
            </a:r>
          </a:p>
          <a:p>
            <a:r>
              <a:rPr lang="zh-CN" altLang="en-US" dirty="0"/>
              <a:t>用户体验优化‌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r>
              <a:rPr lang="zh-CN" altLang="en-US" dirty="0"/>
              <a:t>安装简化‌：提供视频教程和在线支持，用户可自行安装，无需专业电工。</a:t>
            </a:r>
          </a:p>
          <a:p>
            <a:r>
              <a:rPr lang="zh-CN" altLang="en-US" dirty="0"/>
              <a:t>能耗可视化‌：通过</a:t>
            </a:r>
            <a:r>
              <a:rPr lang="en-US" altLang="zh-CN" dirty="0"/>
              <a:t>APP</a:t>
            </a:r>
            <a:r>
              <a:rPr lang="zh-CN" altLang="en-US" dirty="0"/>
              <a:t>展示每日能耗数据，帮助用户优化用电习惯，降低能源成本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首款产品定价</a:t>
            </a:r>
            <a:r>
              <a:rPr lang="en-US" altLang="zh-CN" dirty="0"/>
              <a:t>249</a:t>
            </a:r>
            <a:r>
              <a:rPr lang="zh-CN" altLang="en-US" dirty="0"/>
              <a:t>美元，高于传统温控器（约</a:t>
            </a:r>
            <a:r>
              <a:rPr lang="en-US" altLang="zh-CN" dirty="0"/>
              <a:t>100</a:t>
            </a:r>
            <a:r>
              <a:rPr lang="zh-CN" altLang="en-US" dirty="0"/>
              <a:t>美元），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E5191627-FA02-469B-8AB8-A216DA03FCCE}"/>
              </a:ext>
            </a:extLst>
          </p:cNvPr>
          <p:cNvSpPr txBox="1"/>
          <p:nvPr/>
        </p:nvSpPr>
        <p:spPr>
          <a:xfrm>
            <a:off x="626638" y="371410"/>
            <a:ext cx="9711161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>
                <a:sym typeface="+mn-ea"/>
              </a:rPr>
              <a:t>哈佛商学院经典案例</a:t>
            </a:r>
            <a:r>
              <a:rPr lang="en-US" altLang="zh-CN" dirty="0" smtClean="0">
                <a:sym typeface="+mn-ea"/>
              </a:rPr>
              <a:t>——Nest</a:t>
            </a:r>
            <a:r>
              <a:rPr lang="zh-CN" altLang="en-US" dirty="0" smtClean="0">
                <a:sym typeface="+mn-ea"/>
              </a:rPr>
              <a:t>恒温器</a:t>
            </a:r>
            <a:endParaRPr lang="en-US" altLang="zh-CN" dirty="0">
              <a:highlight>
                <a:srgbClr val="FFFF00"/>
              </a:highlight>
              <a:sym typeface="+mn-ea"/>
            </a:endParaRPr>
          </a:p>
        </p:txBody>
      </p:sp>
      <p:pic>
        <p:nvPicPr>
          <p:cNvPr id="1026" name="Picture 2" descr="https://bkimg.cdn.bcebos.com/pic/267f9e2f07082838b73299f8b999a9014c08f11b?x-bce-process=image/format,f_auto/watermark,image_d2F0ZXIvYmFpa2UyNzI,g_7,xp_5,yp_5,P_20/resize,m_lfit,limit_1,h_108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66" y="1092457"/>
            <a:ext cx="2839983" cy="218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3478924" y="1146712"/>
            <a:ext cx="852389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Nest Labs</a:t>
            </a:r>
            <a:r>
              <a:rPr lang="zh-CN" altLang="en-US" dirty="0"/>
              <a:t>的起点‌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zh-CN" altLang="en-US" dirty="0" smtClean="0"/>
              <a:t>由</a:t>
            </a:r>
            <a:r>
              <a:rPr lang="en-US" altLang="zh-CN" dirty="0"/>
              <a:t>iPod</a:t>
            </a:r>
            <a:r>
              <a:rPr lang="zh-CN" altLang="en-US" dirty="0"/>
              <a:t>之父托尼</a:t>
            </a:r>
            <a:r>
              <a:rPr lang="en-US" altLang="zh-CN" dirty="0"/>
              <a:t>·</a:t>
            </a:r>
            <a:r>
              <a:rPr lang="zh-CN" altLang="en-US" dirty="0"/>
              <a:t>法德尔（</a:t>
            </a:r>
            <a:r>
              <a:rPr lang="en-US" altLang="zh-CN" dirty="0"/>
              <a:t>Tony Fadell</a:t>
            </a:r>
            <a:r>
              <a:rPr lang="zh-CN" altLang="en-US" dirty="0"/>
              <a:t>）和</a:t>
            </a:r>
            <a:r>
              <a:rPr lang="en-US" altLang="zh-CN" dirty="0"/>
              <a:t>Matt Rogers</a:t>
            </a:r>
            <a:r>
              <a:rPr lang="zh-CN" altLang="en-US" dirty="0"/>
              <a:t>于</a:t>
            </a:r>
            <a:r>
              <a:rPr lang="en-US" altLang="zh-CN" dirty="0"/>
              <a:t>2011</a:t>
            </a:r>
            <a:r>
              <a:rPr lang="zh-CN" altLang="en-US" dirty="0"/>
              <a:t>年</a:t>
            </a:r>
            <a:r>
              <a:rPr lang="zh-CN" altLang="en-US" dirty="0" smtClean="0"/>
              <a:t>创立，</a:t>
            </a:r>
            <a:r>
              <a:rPr lang="zh-CN" altLang="en-US" b="1" dirty="0" smtClean="0"/>
              <a:t>托尼</a:t>
            </a:r>
            <a:r>
              <a:rPr lang="en-US" altLang="zh-CN" b="1" dirty="0"/>
              <a:t>·</a:t>
            </a:r>
            <a:r>
              <a:rPr lang="zh-CN" altLang="en-US" b="1" dirty="0" smtClean="0"/>
              <a:t>法戴尔是</a:t>
            </a:r>
            <a:r>
              <a:rPr lang="zh-CN" altLang="en-US" b="1" dirty="0"/>
              <a:t>前苹果公司</a:t>
            </a:r>
            <a:r>
              <a:rPr lang="en-US" altLang="zh-CN" b="1" dirty="0"/>
              <a:t>iPod </a:t>
            </a:r>
            <a:r>
              <a:rPr lang="zh-CN" altLang="en-US" b="1" dirty="0"/>
              <a:t>部门主管，被称为</a:t>
            </a:r>
            <a:r>
              <a:rPr lang="en-US" altLang="zh-CN" b="1" dirty="0"/>
              <a:t>iPod</a:t>
            </a:r>
            <a:r>
              <a:rPr lang="zh-CN" altLang="en-US" b="1" dirty="0"/>
              <a:t>之父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做了一个突破性</a:t>
            </a:r>
            <a:r>
              <a:rPr lang="zh-CN" altLang="en-US" dirty="0"/>
              <a:t>产品：</a:t>
            </a:r>
            <a:r>
              <a:rPr lang="en-US" altLang="zh-CN" dirty="0"/>
              <a:t>Nest Learning Thermostat‌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由于</a:t>
            </a:r>
            <a:r>
              <a:rPr lang="zh-CN" altLang="en-US" dirty="0"/>
              <a:t>这个原因，</a:t>
            </a:r>
            <a:r>
              <a:rPr lang="en-US" altLang="zh-CN" b="1" dirty="0"/>
              <a:t>Nest</a:t>
            </a:r>
            <a:r>
              <a:rPr lang="zh-CN" altLang="en-US" b="1" dirty="0"/>
              <a:t>也被人们称为恒温器领域的</a:t>
            </a:r>
            <a:r>
              <a:rPr lang="en-US" altLang="zh-CN" b="1" dirty="0" smtClean="0"/>
              <a:t>iPod</a:t>
            </a:r>
            <a:r>
              <a:rPr lang="zh-CN" altLang="en-US" b="1" dirty="0" smtClean="0"/>
              <a:t>，</a:t>
            </a:r>
            <a:endParaRPr lang="zh-CN" altLang="en-US" sz="2000" b="1" dirty="0"/>
          </a:p>
        </p:txBody>
      </p:sp>
      <p:sp>
        <p:nvSpPr>
          <p:cNvPr id="2" name="矩形 1"/>
          <p:cNvSpPr/>
          <p:nvPr/>
        </p:nvSpPr>
        <p:spPr>
          <a:xfrm>
            <a:off x="5906814" y="62326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早期用户评价‌：“终于不用每天手动调温度了，它比我更懂我的习惯。”</a:t>
            </a:r>
            <a:r>
              <a:rPr lang="en-US" altLang="zh-CN" dirty="0"/>
              <a:t>——</a:t>
            </a:r>
            <a:r>
              <a:rPr lang="zh-CN" altLang="en-US" dirty="0"/>
              <a:t>科技博客读者。</a:t>
            </a:r>
          </a:p>
        </p:txBody>
      </p:sp>
    </p:spTree>
    <p:extLst>
      <p:ext uri="{BB962C8B-B14F-4D97-AF65-F5344CB8AC3E}">
        <p14:creationId xmlns:p14="http://schemas.microsoft.com/office/powerpoint/2010/main" val="273560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6538" y="1088563"/>
            <a:ext cx="3448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但</a:t>
            </a:r>
            <a:r>
              <a:rPr lang="zh-CN" altLang="en-US" dirty="0" smtClean="0"/>
              <a:t>初期</a:t>
            </a:r>
            <a:r>
              <a:rPr lang="en-US" altLang="zh-CN" dirty="0" smtClean="0"/>
              <a:t>2011</a:t>
            </a:r>
            <a:r>
              <a:rPr lang="zh-CN" altLang="en-US" dirty="0" smtClean="0"/>
              <a:t>年，市场</a:t>
            </a:r>
            <a:r>
              <a:rPr lang="zh-CN" altLang="en-US" dirty="0"/>
              <a:t>份额不足</a:t>
            </a:r>
            <a:r>
              <a:rPr lang="en-US" altLang="zh-CN" dirty="0"/>
              <a:t>5%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546538" y="2442526"/>
            <a:ext cx="1137219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快速推出与市场策略</a:t>
            </a:r>
            <a:r>
              <a:rPr lang="zh-CN" altLang="en-US" dirty="0" smtClean="0"/>
              <a:t>‌</a:t>
            </a:r>
            <a:endParaRPr lang="zh-CN" altLang="en-US" dirty="0"/>
          </a:p>
          <a:p>
            <a:r>
              <a:rPr lang="zh-CN" altLang="en-US" dirty="0"/>
              <a:t>定价策略‌：首款产品定价</a:t>
            </a:r>
            <a:r>
              <a:rPr lang="en-US" altLang="zh-CN" dirty="0"/>
              <a:t>249</a:t>
            </a:r>
            <a:r>
              <a:rPr lang="zh-CN" altLang="en-US" dirty="0"/>
              <a:t>美元，高于传统温控器（约</a:t>
            </a:r>
            <a:r>
              <a:rPr lang="en-US" altLang="zh-CN" dirty="0"/>
              <a:t>100</a:t>
            </a:r>
            <a:r>
              <a:rPr lang="zh-CN" altLang="en-US" dirty="0"/>
              <a:t>美元），但通过“节能回报”宣传（如用户反馈年省电费约</a:t>
            </a:r>
            <a:r>
              <a:rPr lang="en-US" altLang="zh-CN" dirty="0"/>
              <a:t>10%-15%</a:t>
            </a:r>
            <a:r>
              <a:rPr lang="zh-CN" altLang="en-US" dirty="0"/>
              <a:t>），强化价值感知。</a:t>
            </a:r>
          </a:p>
          <a:p>
            <a:r>
              <a:rPr lang="zh-CN" altLang="en-US" dirty="0"/>
              <a:t>渠道创新‌：避开传统建材渠道，直接通过苹果零售店、</a:t>
            </a:r>
            <a:r>
              <a:rPr lang="en-US" altLang="zh-CN" dirty="0"/>
              <a:t>Best Buy</a:t>
            </a:r>
            <a:r>
              <a:rPr lang="zh-CN" altLang="en-US" dirty="0"/>
              <a:t>等消费电子渠道销售，利用苹果的品牌背书吸引早期用户。</a:t>
            </a:r>
          </a:p>
          <a:p>
            <a:r>
              <a:rPr lang="zh-CN" altLang="en-US" dirty="0"/>
              <a:t>营销引爆‌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r>
              <a:rPr lang="zh-CN" altLang="en-US" dirty="0"/>
              <a:t>口碑传播‌：早期用户多为科技爱好者，通过社交媒体分享使用体验，形成病毒式传播。</a:t>
            </a:r>
          </a:p>
          <a:p>
            <a:r>
              <a:rPr lang="en-US" altLang="zh-CN" dirty="0"/>
              <a:t>KOL</a:t>
            </a:r>
            <a:r>
              <a:rPr lang="zh-CN" altLang="en-US" dirty="0"/>
              <a:t>合作‌：与科技博主（如</a:t>
            </a:r>
            <a:r>
              <a:rPr lang="en-US" altLang="zh-CN" dirty="0"/>
              <a:t>MKBHD</a:t>
            </a:r>
            <a:r>
              <a:rPr lang="zh-CN" altLang="en-US" dirty="0"/>
              <a:t>）合作测评，突出产品易用性和设计美感。</a:t>
            </a:r>
          </a:p>
          <a:p>
            <a:r>
              <a:rPr lang="zh-CN" altLang="en-US" dirty="0"/>
              <a:t>环保叙事‌：强调产品对减少碳排放的贡献，吸引环保意识较强的消费者。</a:t>
            </a:r>
          </a:p>
          <a:p>
            <a:r>
              <a:rPr lang="zh-CN" altLang="en-US" dirty="0"/>
              <a:t>快速迭代‌</a:t>
            </a:r>
            <a:r>
              <a:rPr lang="zh-CN" altLang="en-US" dirty="0" smtClean="0"/>
              <a:t>：通过</a:t>
            </a:r>
            <a:r>
              <a:rPr lang="en-US" altLang="zh-CN" dirty="0"/>
              <a:t>OTA</a:t>
            </a:r>
            <a:r>
              <a:rPr lang="zh-CN" altLang="en-US" dirty="0"/>
              <a:t>（空中升级）持续优化算法，如增加“离家模式”自动关闭温控，提升用户体验。</a:t>
            </a:r>
          </a:p>
          <a:p>
            <a:r>
              <a:rPr lang="zh-CN" altLang="en-US" dirty="0"/>
              <a:t>生态扩展‌：</a:t>
            </a:r>
            <a:r>
              <a:rPr lang="en-US" altLang="zh-CN" dirty="0"/>
              <a:t>2012</a:t>
            </a:r>
            <a:r>
              <a:rPr lang="zh-CN" altLang="en-US" dirty="0"/>
              <a:t>年推出</a:t>
            </a:r>
            <a:r>
              <a:rPr lang="en-US" altLang="zh-CN" dirty="0"/>
              <a:t>API</a:t>
            </a:r>
            <a:r>
              <a:rPr lang="zh-CN" altLang="en-US" dirty="0"/>
              <a:t>接口，允许第三方开发者接入，构建智能家居生态。</a:t>
            </a:r>
          </a:p>
          <a:p>
            <a:r>
              <a:rPr lang="zh-CN" altLang="en-US" dirty="0"/>
              <a:t>市场反应与竞争应对‌</a:t>
            </a:r>
          </a:p>
          <a:p>
            <a:r>
              <a:rPr lang="zh-CN" altLang="en-US" dirty="0"/>
              <a:t>用户反馈‌：</a:t>
            </a:r>
          </a:p>
          <a:p>
            <a:endParaRPr lang="zh-CN" altLang="en-US" dirty="0"/>
          </a:p>
          <a:p>
            <a:r>
              <a:rPr lang="zh-CN" altLang="en-US" dirty="0" smtClean="0"/>
              <a:t>能耗</a:t>
            </a:r>
            <a:r>
              <a:rPr lang="zh-CN" altLang="en-US" dirty="0"/>
              <a:t>数据‌：用户平均节省</a:t>
            </a:r>
            <a:r>
              <a:rPr lang="en-US" altLang="zh-CN" dirty="0"/>
              <a:t>12%</a:t>
            </a:r>
            <a:r>
              <a:rPr lang="zh-CN" altLang="en-US" dirty="0"/>
              <a:t>的能源费用，成为核心卖点。</a:t>
            </a:r>
          </a:p>
          <a:p>
            <a:endParaRPr lang="zh-CN" altLang="en-US" dirty="0"/>
          </a:p>
          <a:p>
            <a:r>
              <a:rPr lang="zh-CN" altLang="en-US" dirty="0"/>
              <a:t>降价策略‌：</a:t>
            </a:r>
            <a:r>
              <a:rPr lang="en-US" altLang="zh-CN" dirty="0"/>
              <a:t>2014</a:t>
            </a:r>
            <a:r>
              <a:rPr lang="zh-CN" altLang="en-US" dirty="0"/>
              <a:t>年将价格降至</a:t>
            </a:r>
            <a:r>
              <a:rPr lang="en-US" altLang="zh-CN" dirty="0"/>
              <a:t>199</a:t>
            </a:r>
            <a:r>
              <a:rPr lang="zh-CN" altLang="en-US" dirty="0"/>
              <a:t>美元，扩大受众范围</a:t>
            </a:r>
            <a:r>
              <a:rPr lang="zh-CN" altLang="en-US" dirty="0" smtClean="0"/>
              <a:t>。生态整合‌：与谷歌合作（</a:t>
            </a:r>
            <a:r>
              <a:rPr lang="en-US" altLang="zh-CN" dirty="0" smtClean="0"/>
              <a:t>2014</a:t>
            </a:r>
            <a:r>
              <a:rPr lang="zh-CN" altLang="en-US" dirty="0" smtClean="0"/>
              <a:t>年被谷歌收购），接入</a:t>
            </a:r>
            <a:r>
              <a:rPr lang="en-US" altLang="zh-CN" dirty="0" smtClean="0"/>
              <a:t>Google Home</a:t>
            </a:r>
            <a:r>
              <a:rPr lang="zh-CN" altLang="en-US" dirty="0" smtClean="0"/>
              <a:t>生态，进一步巩固市场地位。</a:t>
            </a:r>
          </a:p>
        </p:txBody>
      </p:sp>
      <p:sp>
        <p:nvSpPr>
          <p:cNvPr id="5" name="矩形 4"/>
          <p:cNvSpPr/>
          <p:nvPr/>
        </p:nvSpPr>
        <p:spPr>
          <a:xfrm>
            <a:off x="546538" y="1627045"/>
            <a:ext cx="108992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霍尼韦尔回应‌：</a:t>
            </a:r>
            <a:r>
              <a:rPr lang="en-US" altLang="zh-CN" dirty="0"/>
              <a:t>2013</a:t>
            </a:r>
            <a:r>
              <a:rPr lang="zh-CN" altLang="en-US" dirty="0"/>
              <a:t>年推出</a:t>
            </a:r>
            <a:r>
              <a:rPr lang="en-US" altLang="zh-CN" dirty="0"/>
              <a:t>Lyric</a:t>
            </a:r>
            <a:r>
              <a:rPr lang="zh-CN" altLang="en-US" dirty="0"/>
              <a:t>温控器，模仿</a:t>
            </a:r>
            <a:r>
              <a:rPr lang="en-US" altLang="zh-CN" dirty="0"/>
              <a:t>Nest</a:t>
            </a:r>
            <a:r>
              <a:rPr lang="zh-CN" altLang="en-US" dirty="0"/>
              <a:t>的联网功能，但定价更高（</a:t>
            </a:r>
            <a:r>
              <a:rPr lang="en-US" altLang="zh-CN" dirty="0"/>
              <a:t>279</a:t>
            </a:r>
            <a:r>
              <a:rPr lang="zh-CN" altLang="en-US" dirty="0"/>
              <a:t>美元），且缺乏机器学习能力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3432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54621" y="183035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2011</a:t>
            </a:r>
            <a:r>
              <a:rPr lang="zh-CN" altLang="en-US" dirty="0"/>
              <a:t>年‌：</a:t>
            </a:r>
            <a:r>
              <a:rPr lang="en-US" altLang="zh-CN" dirty="0"/>
              <a:t>Nest</a:t>
            </a:r>
            <a:r>
              <a:rPr lang="zh-CN" altLang="en-US" dirty="0"/>
              <a:t>市场份额不足</a:t>
            </a:r>
            <a:r>
              <a:rPr lang="en-US" altLang="zh-CN" dirty="0"/>
              <a:t>5%</a:t>
            </a:r>
            <a:r>
              <a:rPr lang="zh-CN" altLang="en-US" dirty="0"/>
              <a:t>，营收约</a:t>
            </a:r>
            <a:r>
              <a:rPr lang="en-US" altLang="zh-CN" dirty="0"/>
              <a:t>2000</a:t>
            </a:r>
            <a:r>
              <a:rPr lang="zh-CN" altLang="en-US" dirty="0"/>
              <a:t>万美元。</a:t>
            </a:r>
          </a:p>
          <a:p>
            <a:r>
              <a:rPr lang="en-US" altLang="zh-CN" dirty="0"/>
              <a:t>2013</a:t>
            </a:r>
            <a:r>
              <a:rPr lang="zh-CN" altLang="en-US" dirty="0"/>
              <a:t>年‌：市场份额跃升至</a:t>
            </a:r>
            <a:r>
              <a:rPr lang="en-US" altLang="zh-CN" dirty="0"/>
              <a:t>20%</a:t>
            </a:r>
            <a:r>
              <a:rPr lang="zh-CN" altLang="en-US" dirty="0"/>
              <a:t>，营收突破</a:t>
            </a:r>
            <a:r>
              <a:rPr lang="en-US" altLang="zh-CN" dirty="0"/>
              <a:t>1</a:t>
            </a:r>
            <a:r>
              <a:rPr lang="zh-CN" altLang="en-US" dirty="0"/>
              <a:t>亿美元，成为美国智能温控器市场第一。</a:t>
            </a:r>
          </a:p>
          <a:p>
            <a:r>
              <a:rPr lang="en-US" altLang="zh-CN" dirty="0"/>
              <a:t>2014</a:t>
            </a:r>
            <a:r>
              <a:rPr lang="zh-CN" altLang="en-US" dirty="0"/>
              <a:t>年‌：被谷歌以</a:t>
            </a:r>
            <a:r>
              <a:rPr lang="en-US" altLang="zh-CN" dirty="0"/>
              <a:t>32</a:t>
            </a:r>
            <a:r>
              <a:rPr lang="zh-CN" altLang="en-US" dirty="0"/>
              <a:t>亿美元收购，巩固行业领导地位。</a:t>
            </a:r>
          </a:p>
        </p:txBody>
      </p:sp>
    </p:spTree>
    <p:extLst>
      <p:ext uri="{BB962C8B-B14F-4D97-AF65-F5344CB8AC3E}">
        <p14:creationId xmlns:p14="http://schemas.microsoft.com/office/powerpoint/2010/main" val="3550648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E5191627-FA02-469B-8AB8-A216DA03FCCE}"/>
              </a:ext>
            </a:extLst>
          </p:cNvPr>
          <p:cNvSpPr txBox="1"/>
          <p:nvPr/>
        </p:nvSpPr>
        <p:spPr>
          <a:xfrm>
            <a:off x="626638" y="371410"/>
            <a:ext cx="9711161" cy="5355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>
                <a:sym typeface="+mn-ea"/>
              </a:rPr>
              <a:t>哈佛商学院经典案例</a:t>
            </a:r>
            <a:r>
              <a:rPr lang="en-US" altLang="zh-CN" dirty="0" smtClean="0">
                <a:sym typeface="+mn-ea"/>
              </a:rPr>
              <a:t>——Nest</a:t>
            </a:r>
            <a:r>
              <a:rPr lang="zh-CN" altLang="en-US" dirty="0" smtClean="0">
                <a:sym typeface="+mn-ea"/>
              </a:rPr>
              <a:t>恒温器的逆袭之路</a:t>
            </a:r>
            <a:endParaRPr lang="en-US" altLang="zh-CN" dirty="0">
              <a:highlight>
                <a:srgbClr val="FFFF00"/>
              </a:highlight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83357" y="1366932"/>
            <a:ext cx="600354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恒温器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叫风机盘管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温控器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中央空调的控制部件，在所有使用中央空调的地方均有使用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可以自动控制暖气、通风及空气调节设备（如空调、电暖器等），让室内温度恒定在你设定的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温度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6080" y="4404764"/>
            <a:ext cx="1196081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行业格局‌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年前，全球智能温控器市场由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霍尼韦尔（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Honeywell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西门子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等工业巨头主导，占据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市场份额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，产品以功能单一、操作复杂著称，用户需手动调节温度，且缺乏联网能力。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80" y="1394490"/>
            <a:ext cx="2750593" cy="255028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295" y="1394490"/>
            <a:ext cx="2832542" cy="255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5349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1539</Words>
  <Application>Microsoft Office PowerPoint</Application>
  <PresentationFormat>宽屏</PresentationFormat>
  <Paragraphs>116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HarmonyOS Sans SC</vt:lpstr>
      <vt:lpstr>OPPOSans M</vt:lpstr>
      <vt:lpstr>OPPOSans R</vt:lpstr>
      <vt:lpstr>等线</vt:lpstr>
      <vt:lpstr>等线 Light</vt:lpstr>
      <vt:lpstr>思源黑体 CN Normal</vt:lpstr>
      <vt:lpstr>思源黑体 CN Regular</vt:lpstr>
      <vt:lpstr>宋体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ruijie</dc:creator>
  <cp:lastModifiedBy>Lenovo</cp:lastModifiedBy>
  <cp:revision>20</cp:revision>
  <dcterms:created xsi:type="dcterms:W3CDTF">2026-01-08T03:33:34Z</dcterms:created>
  <dcterms:modified xsi:type="dcterms:W3CDTF">2026-01-08T07:58:36Z</dcterms:modified>
</cp:coreProperties>
</file>