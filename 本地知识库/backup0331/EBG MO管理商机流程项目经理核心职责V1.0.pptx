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等线" panose="02010600030101010101" pitchFamily="2" charset="-122"/>
      <p:regular r:id="rId15"/>
      <p:bold r:id="rId16"/>
    </p:embeddedFont>
    <p:embeddedFont>
      <p:font typeface="MiSans" panose="02010600030101010101" charset="-122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4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A3Bsw8XayiJ3uzkSbOyc9Ulbnv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281308db27f647616c105eb6b9942e52e640c85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656" b="126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0000"/>
                </a:srgbClr>
              </a:gs>
              <a:gs pos="50000">
                <a:srgbClr val="0052CC">
                  <a:alpha val="70000"/>
                </a:srgbClr>
              </a:gs>
              <a:gs pos="100000">
                <a:srgbClr val="00B8D9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91075" y="1724025"/>
            <a:ext cx="2609850" cy="495300"/>
          </a:xfrm>
          <a:custGeom>
            <a:avLst/>
            <a:gdLst/>
            <a:ahLst/>
            <a:cxnLst/>
            <a:rect l="l" t="t" r="r" b="b"/>
            <a:pathLst>
              <a:path w="2609850" h="495300">
                <a:moveTo>
                  <a:pt x="247650" y="0"/>
                </a:moveTo>
                <a:lnTo>
                  <a:pt x="2362200" y="0"/>
                </a:lnTo>
                <a:cubicBezTo>
                  <a:pt x="2498882" y="0"/>
                  <a:pt x="2609850" y="110968"/>
                  <a:pt x="2609850" y="247650"/>
                </a:cubicBezTo>
                <a:lnTo>
                  <a:pt x="2609850" y="247650"/>
                </a:lnTo>
                <a:cubicBezTo>
                  <a:pt x="2609850" y="384332"/>
                  <a:pt x="2498882" y="495300"/>
                  <a:pt x="23622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48250" y="18383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立项项目管理培训宣贯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20196" y="2524125"/>
            <a:ext cx="7153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MO管理商机流程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项目经理核心职责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467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734991" y="4829175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 · 以目标为导向 · 以结果为核心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0383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核心定位与履职原则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明确项目经理的角色定位与五大履职原则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579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20383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覆盖五大核心阶段的项目全生命周期管理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信息同步、节点跟进、跨部门协同等日常工作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64579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考核标准与核心要求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五项基本要求与五项核心考核标准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7287" y="4936779"/>
            <a:ext cx="11410950" cy="1584545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38100" y="0"/>
                </a:moveTo>
                <a:lnTo>
                  <a:pt x="11296649" y="0"/>
                </a:lnTo>
                <a:cubicBezTo>
                  <a:pt x="11359776" y="0"/>
                  <a:pt x="11410950" y="51174"/>
                  <a:pt x="11410950" y="114301"/>
                </a:cubicBezTo>
                <a:lnTo>
                  <a:pt x="11410950" y="819149"/>
                </a:lnTo>
                <a:cubicBezTo>
                  <a:pt x="11410950" y="882276"/>
                  <a:pt x="11359776" y="933450"/>
                  <a:pt x="11296649" y="933450"/>
                </a:cubicBez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933950"/>
            <a:ext cx="38100" cy="1548000"/>
          </a:xfrm>
          <a:custGeom>
            <a:avLst/>
            <a:gdLst/>
            <a:ahLst/>
            <a:cxnLst/>
            <a:rect l="l" t="t" r="r" b="b"/>
            <a:pathLst>
              <a:path w="38100" h="933450">
                <a:moveTo>
                  <a:pt x="38100" y="0"/>
                </a:moveTo>
                <a:lnTo>
                  <a:pt x="38100" y="0"/>
                </a:lnTo>
                <a:lnTo>
                  <a:pt x="38100" y="933450"/>
                </a:ln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419" y="51625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1119188" y="5124450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培训目标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9188" y="542925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帮助项目经理全面掌握MO流程要求,明确核心职责,提升项目管理能力,确保重点项目高效推进与赢单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62994" y="613410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 smtClean="0">
                <a:hlinkClick r:id="rId3"/>
              </a:rPr>
              <a:t>‬﻿﻿​​‬‌​​﻿﻿‌‌﻿​﻿‍‌​​﻿‌​​​​﻿​‍​‍​​​⁠﻿⁠⁠​‍​‬​‬​​​‌</a:t>
            </a:r>
            <a:r>
              <a:rPr lang="en-US" altLang="zh-CN" sz="1200" dirty="0" smtClean="0">
                <a:hlinkClick r:id="rId3"/>
              </a:rPr>
              <a:t>MO </a:t>
            </a:r>
            <a:r>
              <a:rPr lang="zh-CN" altLang="en-US" sz="1200" dirty="0" smtClean="0">
                <a:hlinkClick r:id="rId3"/>
              </a:rPr>
              <a:t>商机管理流程项目经理核心职责 </a:t>
            </a:r>
            <a:r>
              <a:rPr lang="en-US" altLang="zh-CN" sz="1200" dirty="0" smtClean="0">
                <a:hlinkClick r:id="rId3"/>
              </a:rPr>
              <a:t>- </a:t>
            </a:r>
            <a:r>
              <a:rPr lang="zh-CN" altLang="en-US" sz="1200" dirty="0" smtClean="0">
                <a:hlinkClick r:id="rId3"/>
              </a:rPr>
              <a:t>飞书云文档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126780" y="5893240"/>
            <a:ext cx="2268269" cy="24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操作指南参见</a:t>
            </a:r>
            <a:r>
              <a:rPr lang="zh-CN" altLang="en-US" sz="135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飞书文档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POSITIONING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项目经理的核心定位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1513" y="1809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第一责任人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对项目从立项启动到赢/丢单复盘的全流程结果负责,统筹项目内外部资源,推动项目各环节按MO流程要求落地。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25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67475" y="18097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统筹协调者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175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牵头组建项目组,明确成员分工,拉齐项目信息,协调跨部门、跨区域资源,解决项目推进中的各类问题。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100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确保项目立项、启动、方案评审、标前评审、投标执行、合同谈判、赢丢单复盘等关键环节严格遵循MO流程要求。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175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9605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695325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风险管控者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全程识别项目推进中的各类风险(交付风险、投标风险、客户关系风险等),制定应对策略,推动风险闭环解决。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81965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104900"/>
                </a:lnTo>
                <a:cubicBezTo>
                  <a:pt x="11430000" y="1167984"/>
                  <a:pt x="11378784" y="1219200"/>
                  <a:pt x="113157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6978" y="5048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073229" y="5010150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岗位匹配规则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3229" y="5353050"/>
            <a:ext cx="1062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区域级项目由区域行业经理担任; BU级、BG级、GTM及重客项目由系统部拓展经理担任。所有项目经理需严格按照要求落实各项工作,协同项目组完成项目目标。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OPERATING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履职的五大原则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66850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1104900"/>
                </a:lnTo>
                <a:cubicBezTo>
                  <a:pt x="11410950" y="1167984"/>
                  <a:pt x="11359734" y="1219200"/>
                  <a:pt x="112966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668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657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6573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流程至上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00250"/>
            <a:ext cx="1036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所有项目工作均需严格遵循MO商机管理流程及各子流程(验证商机、推进商机、制定并执行投标策略、谈判并签订合同)要求,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不随意简化流程、跳过关键节点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3845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2838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028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" y="3028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0289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目标导向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37185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以项目赢单为核心目标,统筹各项工作,确保项目各环节动作围绕赢单策略落地,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所有工作指向明确的结果导向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96240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9624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4152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15290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协同高效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49580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建立高效的项目组沟通机制,确保项目组成员信息同步、分工明确、行动一致,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提升跨部门协同效率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0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留痕可溯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所有项目工作动作、决策、会议结论均需按要求在CRM及飞书项目文档中留痕,确保项目过程可追溯、可复盘。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12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531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04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结果负责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对项目各关键节点执行质量、项目推进效率及最终赢/丢单结果承担全部责任,未按流程执行导致项目问题的,按相关考核规则追责。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966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2301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2863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16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夯实基础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明确分工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9839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276987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853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8879" y="35719"/>
                </a:moveTo>
                <a:cubicBezTo>
                  <a:pt x="74786" y="35719"/>
                  <a:pt x="71438" y="39067"/>
                  <a:pt x="71438" y="43160"/>
                </a:cubicBezTo>
                <a:lnTo>
                  <a:pt x="71438" y="44648"/>
                </a:lnTo>
                <a:cubicBezTo>
                  <a:pt x="60722" y="44760"/>
                  <a:pt x="52090" y="53467"/>
                  <a:pt x="52090" y="64182"/>
                </a:cubicBezTo>
                <a:cubicBezTo>
                  <a:pt x="52090" y="73744"/>
                  <a:pt x="58973" y="81893"/>
                  <a:pt x="68424" y="83455"/>
                </a:cubicBezTo>
                <a:lnTo>
                  <a:pt x="83939" y="86060"/>
                </a:lnTo>
                <a:cubicBezTo>
                  <a:pt x="86171" y="86432"/>
                  <a:pt x="87809" y="88367"/>
                  <a:pt x="87809" y="90636"/>
                </a:cubicBezTo>
                <a:cubicBezTo>
                  <a:pt x="87809" y="93204"/>
                  <a:pt x="85725" y="95287"/>
                  <a:pt x="83158" y="95287"/>
                </a:cubicBezTo>
                <a:lnTo>
                  <a:pt x="62508" y="95250"/>
                </a:lnTo>
                <a:cubicBezTo>
                  <a:pt x="58415" y="95250"/>
                  <a:pt x="55066" y="98599"/>
                  <a:pt x="55066" y="102691"/>
                </a:cubicBezTo>
                <a:cubicBezTo>
                  <a:pt x="55066" y="106784"/>
                  <a:pt x="58415" y="110133"/>
                  <a:pt x="62508" y="110133"/>
                </a:cubicBezTo>
                <a:lnTo>
                  <a:pt x="71438" y="110133"/>
                </a:lnTo>
                <a:lnTo>
                  <a:pt x="71438" y="111621"/>
                </a:lnTo>
                <a:cubicBezTo>
                  <a:pt x="71438" y="115714"/>
                  <a:pt x="74786" y="119063"/>
                  <a:pt x="78879" y="119063"/>
                </a:cubicBezTo>
                <a:cubicBezTo>
                  <a:pt x="82972" y="119063"/>
                  <a:pt x="86320" y="115714"/>
                  <a:pt x="86320" y="111621"/>
                </a:cubicBezTo>
                <a:lnTo>
                  <a:pt x="86320" y="109872"/>
                </a:lnTo>
                <a:cubicBezTo>
                  <a:pt x="95622" y="108347"/>
                  <a:pt x="102691" y="100310"/>
                  <a:pt x="102691" y="90599"/>
                </a:cubicBezTo>
                <a:cubicBezTo>
                  <a:pt x="102691" y="81037"/>
                  <a:pt x="95808" y="72889"/>
                  <a:pt x="86358" y="71326"/>
                </a:cubicBezTo>
                <a:lnTo>
                  <a:pt x="70842" y="68721"/>
                </a:lnTo>
                <a:cubicBezTo>
                  <a:pt x="68610" y="68349"/>
                  <a:pt x="66973" y="66415"/>
                  <a:pt x="66973" y="64145"/>
                </a:cubicBezTo>
                <a:cubicBezTo>
                  <a:pt x="66973" y="61578"/>
                  <a:pt x="69056" y="59494"/>
                  <a:pt x="71624" y="59494"/>
                </a:cubicBezTo>
                <a:lnTo>
                  <a:pt x="89297" y="59494"/>
                </a:lnTo>
                <a:cubicBezTo>
                  <a:pt x="93390" y="59494"/>
                  <a:pt x="96738" y="56145"/>
                  <a:pt x="96738" y="52053"/>
                </a:cubicBezTo>
                <a:cubicBezTo>
                  <a:pt x="96738" y="47960"/>
                  <a:pt x="93390" y="44611"/>
                  <a:pt x="89297" y="44611"/>
                </a:cubicBezTo>
                <a:lnTo>
                  <a:pt x="86320" y="44611"/>
                </a:lnTo>
                <a:lnTo>
                  <a:pt x="86320" y="43123"/>
                </a:lnTo>
                <a:cubicBezTo>
                  <a:pt x="86320" y="39030"/>
                  <a:pt x="82972" y="35682"/>
                  <a:pt x="78879" y="356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1750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703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聚焦需求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8726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874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35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674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76938" y="1790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50" y="23812"/>
                </a:moveTo>
                <a:cubicBezTo>
                  <a:pt x="23850" y="10678"/>
                  <a:pt x="34528" y="0"/>
                  <a:pt x="47662" y="0"/>
                </a:cubicBezTo>
                <a:lnTo>
                  <a:pt x="103287" y="0"/>
                </a:lnTo>
                <a:cubicBezTo>
                  <a:pt x="109612" y="0"/>
                  <a:pt x="115677" y="2493"/>
                  <a:pt x="120142" y="6958"/>
                </a:cubicBezTo>
                <a:lnTo>
                  <a:pt x="159730" y="46620"/>
                </a:lnTo>
                <a:cubicBezTo>
                  <a:pt x="164195" y="51085"/>
                  <a:pt x="166688" y="57150"/>
                  <a:pt x="166688" y="63475"/>
                </a:cubicBezTo>
                <a:lnTo>
                  <a:pt x="166688" y="99752"/>
                </a:lnTo>
                <a:lnTo>
                  <a:pt x="117574" y="148865"/>
                </a:lnTo>
                <a:lnTo>
                  <a:pt x="101910" y="148865"/>
                </a:lnTo>
                <a:lnTo>
                  <a:pt x="95920" y="128922"/>
                </a:lnTo>
                <a:cubicBezTo>
                  <a:pt x="94171" y="123081"/>
                  <a:pt x="88813" y="119100"/>
                  <a:pt x="82711" y="119100"/>
                </a:cubicBezTo>
                <a:cubicBezTo>
                  <a:pt x="78507" y="119100"/>
                  <a:pt x="74563" y="120997"/>
                  <a:pt x="71958" y="124271"/>
                </a:cubicBezTo>
                <a:lnTo>
                  <a:pt x="49597" y="152177"/>
                </a:lnTo>
                <a:cubicBezTo>
                  <a:pt x="46509" y="156009"/>
                  <a:pt x="47141" y="161665"/>
                  <a:pt x="50974" y="164716"/>
                </a:cubicBezTo>
                <a:cubicBezTo>
                  <a:pt x="54806" y="167767"/>
                  <a:pt x="60461" y="167171"/>
                  <a:pt x="63512" y="163302"/>
                </a:cubicBezTo>
                <a:lnTo>
                  <a:pt x="81037" y="141424"/>
                </a:lnTo>
                <a:lnTo>
                  <a:pt x="86692" y="160288"/>
                </a:lnTo>
                <a:cubicBezTo>
                  <a:pt x="87809" y="164083"/>
                  <a:pt x="91306" y="166650"/>
                  <a:pt x="95250" y="166650"/>
                </a:cubicBezTo>
                <a:lnTo>
                  <a:pt x="106970" y="166650"/>
                </a:lnTo>
                <a:cubicBezTo>
                  <a:pt x="106635" y="167804"/>
                  <a:pt x="106338" y="168994"/>
                  <a:pt x="106114" y="170185"/>
                </a:cubicBezTo>
                <a:lnTo>
                  <a:pt x="102059" y="190463"/>
                </a:lnTo>
                <a:lnTo>
                  <a:pt x="47662" y="190463"/>
                </a:lnTo>
                <a:cubicBezTo>
                  <a:pt x="34528" y="190463"/>
                  <a:pt x="23850" y="179784"/>
                  <a:pt x="23850" y="166650"/>
                </a:cubicBezTo>
                <a:lnTo>
                  <a:pt x="23850" y="23775"/>
                </a:lnTo>
                <a:close/>
                <a:moveTo>
                  <a:pt x="101240" y="21766"/>
                </a:moveTo>
                <a:lnTo>
                  <a:pt x="101240" y="56555"/>
                </a:lnTo>
                <a:cubicBezTo>
                  <a:pt x="101240" y="61503"/>
                  <a:pt x="105221" y="65484"/>
                  <a:pt x="110170" y="65484"/>
                </a:cubicBezTo>
                <a:lnTo>
                  <a:pt x="144959" y="65484"/>
                </a:lnTo>
                <a:lnTo>
                  <a:pt x="101240" y="21766"/>
                </a:lnTo>
                <a:close/>
                <a:moveTo>
                  <a:pt x="123639" y="173720"/>
                </a:moveTo>
                <a:cubicBezTo>
                  <a:pt x="124569" y="169106"/>
                  <a:pt x="126839" y="164864"/>
                  <a:pt x="130150" y="161553"/>
                </a:cubicBezTo>
                <a:lnTo>
                  <a:pt x="174389" y="117314"/>
                </a:lnTo>
                <a:lnTo>
                  <a:pt x="204155" y="147079"/>
                </a:lnTo>
                <a:lnTo>
                  <a:pt x="159916" y="191319"/>
                </a:lnTo>
                <a:cubicBezTo>
                  <a:pt x="156604" y="194630"/>
                  <a:pt x="152363" y="196900"/>
                  <a:pt x="147749" y="197830"/>
                </a:cubicBezTo>
                <a:lnTo>
                  <a:pt x="125574" y="202257"/>
                </a:lnTo>
                <a:cubicBezTo>
                  <a:pt x="125239" y="202332"/>
                  <a:pt x="124867" y="202369"/>
                  <a:pt x="124495" y="202369"/>
                </a:cubicBezTo>
                <a:cubicBezTo>
                  <a:pt x="121518" y="202369"/>
                  <a:pt x="119063" y="199951"/>
                  <a:pt x="119063" y="196937"/>
                </a:cubicBezTo>
                <a:cubicBezTo>
                  <a:pt x="119063" y="196565"/>
                  <a:pt x="119100" y="196230"/>
                  <a:pt x="119174" y="195858"/>
                </a:cubicBezTo>
                <a:lnTo>
                  <a:pt x="123602" y="173682"/>
                </a:lnTo>
                <a:close/>
                <a:moveTo>
                  <a:pt x="223279" y="127955"/>
                </a:moveTo>
                <a:lnTo>
                  <a:pt x="212564" y="138671"/>
                </a:lnTo>
                <a:lnTo>
                  <a:pt x="182798" y="108905"/>
                </a:lnTo>
                <a:lnTo>
                  <a:pt x="193514" y="98189"/>
                </a:lnTo>
                <a:cubicBezTo>
                  <a:pt x="201737" y="89967"/>
                  <a:pt x="215057" y="89967"/>
                  <a:pt x="223279" y="98189"/>
                </a:cubicBezTo>
                <a:cubicBezTo>
                  <a:pt x="231502" y="106412"/>
                  <a:pt x="231502" y="119732"/>
                  <a:pt x="223279" y="1279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637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590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精准施策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高效落地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613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761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5627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77714" y="1790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9524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477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促成签约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500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36481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4514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7849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411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9364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沉淀复用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007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6" name="Text 34"/>
          <p:cNvSpPr/>
          <p:nvPr/>
        </p:nvSpPr>
        <p:spPr>
          <a:xfrm>
            <a:off x="97155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各阶段工作均需严格遵循MO流程时间要求,确保关键节点按时完成,不得拖延。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446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02110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501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执行标准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4496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每个阶段都有明确的执行标准和质量要求,确保项目推进的科学性和规范性。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27921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75571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8718471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18421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所有工作动作、决策、会议结论均需在CRM及飞书项目文档中完整留痕。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0050" y="4743450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38100" y="0"/>
                </a:moveTo>
                <a:lnTo>
                  <a:pt x="11296655" y="0"/>
                </a:lnTo>
                <a:cubicBezTo>
                  <a:pt x="11359778" y="0"/>
                  <a:pt x="11410950" y="51172"/>
                  <a:pt x="11410950" y="114295"/>
                </a:cubicBezTo>
                <a:lnTo>
                  <a:pt x="11410950" y="1066805"/>
                </a:lnTo>
                <a:cubicBezTo>
                  <a:pt x="11410950" y="1129928"/>
                  <a:pt x="11359778" y="1181100"/>
                  <a:pt x="11296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00050" y="47434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Shape 46"/>
          <p:cNvSpPr/>
          <p:nvPr/>
        </p:nvSpPr>
        <p:spPr>
          <a:xfrm>
            <a:off x="623888" y="4972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1015246" y="4933950"/>
            <a:ext cx="106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全流程管理闭环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5246" y="5238750"/>
            <a:ext cx="1067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项目经理的职责覆盖项目立项启动、商机推进、投标执行、合同谈判、赢丢单复盘五大核心阶段,形成完整的项目全生命周期管理闭环,确保项目从始至终都在可控范围内高效推进。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01 · PROJECT INITIATION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立项启动阶段:夯实基础,明确分工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827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826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完成项目立项审批、组建项目组、召开立项启动会,明确项目目标与成员分工,完成项目基础信息同步,为项目推进奠定基础。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立项审批跟进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306705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确认项目分级符合MO商机分级标准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跟进立项申请审批流程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3638550"/>
            <a:ext cx="1679258" cy="205740"/>
          </a:xfrm>
          <a:custGeom>
            <a:avLst/>
            <a:gdLst/>
            <a:ahLst/>
            <a:cxnLst/>
            <a:rect l="l" t="t" r="r" b="b"/>
            <a:pathLst>
              <a:path w="1679258" h="205740">
                <a:moveTo>
                  <a:pt x="0" y="0"/>
                </a:moveTo>
                <a:lnTo>
                  <a:pt x="1679258" y="0"/>
                </a:lnTo>
                <a:lnTo>
                  <a:pt x="16792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" y="3638550"/>
            <a:ext cx="17554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7天内完成立项评审决策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45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3924300"/>
            <a:ext cx="1295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及时协调解决问题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172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8942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项目组组建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082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按项目分级要求组建项目组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0821" y="335280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明确项目铁三角(销售、技术、客户关系)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3" name="Text 31"/>
          <p:cNvSpPr/>
          <p:nvPr/>
        </p:nvSpPr>
        <p:spPr>
          <a:xfrm>
            <a:off x="4660821" y="363855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确定其他关键参与人员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0821" y="392430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通过飞书项目群建立沟通载体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256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8" name="Shape 36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026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2" name="Shape 40"/>
          <p:cNvSpPr/>
          <p:nvPr/>
        </p:nvSpPr>
        <p:spPr>
          <a:xfrm>
            <a:off x="8521661" y="3067050"/>
            <a:ext cx="1831658" cy="205740"/>
          </a:xfrm>
          <a:custGeom>
            <a:avLst/>
            <a:gdLst/>
            <a:ahLst/>
            <a:cxnLst/>
            <a:rect l="l" t="t" r="r" b="b"/>
            <a:pathLst>
              <a:path w="1831658" h="205740">
                <a:moveTo>
                  <a:pt x="0" y="0"/>
                </a:moveTo>
                <a:lnTo>
                  <a:pt x="1831658" y="0"/>
                </a:lnTo>
                <a:lnTo>
                  <a:pt x="18316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21661" y="3067050"/>
            <a:ext cx="19078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7天内组织召开立项启动会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Text 43"/>
          <p:cNvSpPr/>
          <p:nvPr/>
        </p:nvSpPr>
        <p:spPr>
          <a:xfrm>
            <a:off x="8521661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完成项目基础资料准备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Text 45"/>
          <p:cNvSpPr/>
          <p:nvPr/>
        </p:nvSpPr>
        <p:spPr>
          <a:xfrm>
            <a:off x="8521661" y="3638550"/>
            <a:ext cx="220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明确项目目标、分工及关键动作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8521661" y="3924300"/>
            <a:ext cx="1666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CRM留痕,上传飞书文档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00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Shape 50"/>
          <p:cNvSpPr/>
          <p:nvPr/>
        </p:nvSpPr>
        <p:spPr>
          <a:xfrm>
            <a:off x="571500" y="462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立项审批通过后7天内组织召开立项启动会(第一次项目分析会),此为MO流程硬性要求,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不得拖延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12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912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Shape 55"/>
          <p:cNvSpPr/>
          <p:nvPr/>
        </p:nvSpPr>
        <p:spPr>
          <a:xfrm>
            <a:off x="6391275" y="4629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8" name="Text 56"/>
          <p:cNvSpPr/>
          <p:nvPr/>
        </p:nvSpPr>
        <p:spPr>
          <a:xfrm>
            <a:off x="67056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056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启动会前完成项目基础资料准备(含MANT+P信息、客户需求、项目分级、预计节点等),确保会议高效有成果。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kern="0" spc="111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02 · OPPORTUNITY ADVANCEMENT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商机推进阶段:聚焦需求,制定策略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087632"/>
            <a:ext cx="701698" cy="52627"/>
          </a:xfrm>
          <a:custGeom>
            <a:avLst/>
            <a:gdLst/>
            <a:ahLst/>
            <a:cxnLst/>
            <a:rect l="l" t="t" r="r" b="b"/>
            <a:pathLst>
              <a:path w="701698" h="52627">
                <a:moveTo>
                  <a:pt x="0" y="0"/>
                </a:moveTo>
                <a:lnTo>
                  <a:pt x="701698" y="0"/>
                </a:lnTo>
                <a:lnTo>
                  <a:pt x="701698" y="52627"/>
                </a:lnTo>
                <a:lnTo>
                  <a:pt x="0" y="52627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50849" y="1280599"/>
            <a:ext cx="11490302" cy="771868"/>
          </a:xfrm>
          <a:custGeom>
            <a:avLst/>
            <a:gdLst/>
            <a:ahLst/>
            <a:cxnLst/>
            <a:rect l="l" t="t" r="r" b="b"/>
            <a:pathLst>
              <a:path w="11490302" h="771868">
                <a:moveTo>
                  <a:pt x="105252" y="0"/>
                </a:moveTo>
                <a:lnTo>
                  <a:pt x="11385050" y="0"/>
                </a:lnTo>
                <a:cubicBezTo>
                  <a:pt x="11443179" y="0"/>
                  <a:pt x="11490302" y="47123"/>
                  <a:pt x="11490302" y="105252"/>
                </a:cubicBezTo>
                <a:lnTo>
                  <a:pt x="11490302" y="666616"/>
                </a:lnTo>
                <a:cubicBezTo>
                  <a:pt x="11490302" y="724745"/>
                  <a:pt x="11443179" y="771868"/>
                  <a:pt x="11385050" y="771868"/>
                </a:cubicBezTo>
                <a:lnTo>
                  <a:pt x="105252" y="771868"/>
                </a:lnTo>
                <a:cubicBezTo>
                  <a:pt x="47123" y="771868"/>
                  <a:pt x="0" y="724745"/>
                  <a:pt x="0" y="666616"/>
                </a:cubicBezTo>
                <a:lnTo>
                  <a:pt x="0" y="105252"/>
                </a:lnTo>
                <a:cubicBezTo>
                  <a:pt x="0" y="47162"/>
                  <a:pt x="47162" y="0"/>
                  <a:pt x="10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" name="Shape 4"/>
          <p:cNvSpPr/>
          <p:nvPr/>
        </p:nvSpPr>
        <p:spPr>
          <a:xfrm>
            <a:off x="526273" y="1534964"/>
            <a:ext cx="263137" cy="263137"/>
          </a:xfrm>
          <a:custGeom>
            <a:avLst/>
            <a:gdLst/>
            <a:ahLst/>
            <a:cxnLst/>
            <a:rect l="l" t="t" r="r" b="b"/>
            <a:pathLst>
              <a:path w="263137" h="263137">
                <a:moveTo>
                  <a:pt x="230245" y="131568"/>
                </a:moveTo>
                <a:cubicBezTo>
                  <a:pt x="230245" y="77107"/>
                  <a:pt x="186029" y="32892"/>
                  <a:pt x="131568" y="32892"/>
                </a:cubicBezTo>
                <a:cubicBezTo>
                  <a:pt x="77107" y="32892"/>
                  <a:pt x="32892" y="77107"/>
                  <a:pt x="32892" y="131568"/>
                </a:cubicBezTo>
                <a:cubicBezTo>
                  <a:pt x="32892" y="186029"/>
                  <a:pt x="77107" y="230245"/>
                  <a:pt x="131568" y="230245"/>
                </a:cubicBezTo>
                <a:cubicBezTo>
                  <a:pt x="186029" y="230245"/>
                  <a:pt x="230245" y="186029"/>
                  <a:pt x="230245" y="131568"/>
                </a:cubicBezTo>
                <a:close/>
                <a:moveTo>
                  <a:pt x="0" y="131568"/>
                </a:moveTo>
                <a:cubicBezTo>
                  <a:pt x="0" y="58954"/>
                  <a:pt x="58954" y="0"/>
                  <a:pt x="131568" y="0"/>
                </a:cubicBezTo>
                <a:cubicBezTo>
                  <a:pt x="204183" y="0"/>
                  <a:pt x="263137" y="58954"/>
                  <a:pt x="263137" y="131568"/>
                </a:cubicBezTo>
                <a:cubicBezTo>
                  <a:pt x="263137" y="204183"/>
                  <a:pt x="204183" y="263137"/>
                  <a:pt x="131568" y="263137"/>
                </a:cubicBezTo>
                <a:cubicBezTo>
                  <a:pt x="58954" y="263137"/>
                  <a:pt x="0" y="204183"/>
                  <a:pt x="0" y="131568"/>
                </a:cubicBezTo>
                <a:close/>
                <a:moveTo>
                  <a:pt x="131568" y="172683"/>
                </a:moveTo>
                <a:cubicBezTo>
                  <a:pt x="154260" y="172683"/>
                  <a:pt x="172683" y="154260"/>
                  <a:pt x="172683" y="131568"/>
                </a:cubicBezTo>
                <a:cubicBezTo>
                  <a:pt x="172683" y="108876"/>
                  <a:pt x="154260" y="90453"/>
                  <a:pt x="131568" y="90453"/>
                </a:cubicBezTo>
                <a:cubicBezTo>
                  <a:pt x="108876" y="90453"/>
                  <a:pt x="90453" y="108876"/>
                  <a:pt x="90453" y="131568"/>
                </a:cubicBezTo>
                <a:cubicBezTo>
                  <a:pt x="90453" y="154260"/>
                  <a:pt x="108876" y="172683"/>
                  <a:pt x="131568" y="172683"/>
                </a:cubicBezTo>
                <a:close/>
                <a:moveTo>
                  <a:pt x="131568" y="57561"/>
                </a:moveTo>
                <a:cubicBezTo>
                  <a:pt x="172414" y="57561"/>
                  <a:pt x="205576" y="90723"/>
                  <a:pt x="205576" y="131568"/>
                </a:cubicBezTo>
                <a:cubicBezTo>
                  <a:pt x="205576" y="172414"/>
                  <a:pt x="172414" y="205576"/>
                  <a:pt x="131568" y="205576"/>
                </a:cubicBezTo>
                <a:cubicBezTo>
                  <a:pt x="90723" y="205576"/>
                  <a:pt x="57561" y="172414"/>
                  <a:pt x="57561" y="131568"/>
                </a:cubicBezTo>
                <a:cubicBezTo>
                  <a:pt x="57561" y="90723"/>
                  <a:pt x="90723" y="57561"/>
                  <a:pt x="131568" y="57561"/>
                </a:cubicBezTo>
                <a:close/>
                <a:moveTo>
                  <a:pt x="115122" y="131568"/>
                </a:moveTo>
                <a:cubicBezTo>
                  <a:pt x="115122" y="122492"/>
                  <a:pt x="122492" y="115122"/>
                  <a:pt x="131568" y="115122"/>
                </a:cubicBezTo>
                <a:cubicBezTo>
                  <a:pt x="140645" y="115122"/>
                  <a:pt x="148014" y="122492"/>
                  <a:pt x="148014" y="131568"/>
                </a:cubicBezTo>
                <a:cubicBezTo>
                  <a:pt x="148014" y="140645"/>
                  <a:pt x="140645" y="148014"/>
                  <a:pt x="131568" y="148014"/>
                </a:cubicBezTo>
                <a:cubicBezTo>
                  <a:pt x="122492" y="148014"/>
                  <a:pt x="115122" y="140645"/>
                  <a:pt x="115122" y="1315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449" y="1420938"/>
            <a:ext cx="863965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449" y="1701617"/>
            <a:ext cx="86308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带领项目组深入分析客户需求,制定价值主张与赢单策略,完成解决方案编制与评审,引导客户决策标准向我司倾斜,为投标工作奠定策略基础。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8391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391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26273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058" y="2420858"/>
            <a:ext cx="219281" cy="175424"/>
          </a:xfrm>
          <a:custGeom>
            <a:avLst/>
            <a:gdLst/>
            <a:ahLst/>
            <a:cxnLst/>
            <a:rect l="l" t="t" r="r" b="b"/>
            <a:pathLst>
              <a:path w="219281" h="175424">
                <a:moveTo>
                  <a:pt x="109640" y="5482"/>
                </a:moveTo>
                <a:cubicBezTo>
                  <a:pt x="129307" y="5482"/>
                  <a:pt x="145273" y="21449"/>
                  <a:pt x="145273" y="41115"/>
                </a:cubicBezTo>
                <a:cubicBezTo>
                  <a:pt x="145273" y="60782"/>
                  <a:pt x="129307" y="76748"/>
                  <a:pt x="109640" y="76748"/>
                </a:cubicBezTo>
                <a:cubicBezTo>
                  <a:pt x="89974" y="76748"/>
                  <a:pt x="74007" y="60782"/>
                  <a:pt x="74007" y="41115"/>
                </a:cubicBezTo>
                <a:cubicBezTo>
                  <a:pt x="74007" y="21449"/>
                  <a:pt x="89974" y="5482"/>
                  <a:pt x="109640" y="5482"/>
                </a:cubicBezTo>
                <a:close/>
                <a:moveTo>
                  <a:pt x="32892" y="30151"/>
                </a:moveTo>
                <a:cubicBezTo>
                  <a:pt x="46507" y="30151"/>
                  <a:pt x="57561" y="41205"/>
                  <a:pt x="57561" y="54820"/>
                </a:cubicBezTo>
                <a:cubicBezTo>
                  <a:pt x="57561" y="68435"/>
                  <a:pt x="46507" y="79489"/>
                  <a:pt x="32892" y="79489"/>
                </a:cubicBezTo>
                <a:cubicBezTo>
                  <a:pt x="19277" y="79489"/>
                  <a:pt x="8223" y="68435"/>
                  <a:pt x="8223" y="54820"/>
                </a:cubicBezTo>
                <a:cubicBezTo>
                  <a:pt x="8223" y="41205"/>
                  <a:pt x="19277" y="30151"/>
                  <a:pt x="32892" y="30151"/>
                </a:cubicBezTo>
                <a:close/>
                <a:moveTo>
                  <a:pt x="0" y="142532"/>
                </a:moveTo>
                <a:cubicBezTo>
                  <a:pt x="0" y="118309"/>
                  <a:pt x="19632" y="98676"/>
                  <a:pt x="43856" y="98676"/>
                </a:cubicBezTo>
                <a:cubicBezTo>
                  <a:pt x="48242" y="98676"/>
                  <a:pt x="52490" y="99327"/>
                  <a:pt x="56499" y="100526"/>
                </a:cubicBezTo>
                <a:cubicBezTo>
                  <a:pt x="45227" y="113135"/>
                  <a:pt x="38374" y="129787"/>
                  <a:pt x="38374" y="148014"/>
                </a:cubicBezTo>
                <a:lnTo>
                  <a:pt x="38374" y="153496"/>
                </a:lnTo>
                <a:cubicBezTo>
                  <a:pt x="38374" y="157402"/>
                  <a:pt x="39196" y="161103"/>
                  <a:pt x="40670" y="164460"/>
                </a:cubicBezTo>
                <a:lnTo>
                  <a:pt x="10964" y="164460"/>
                </a:lnTo>
                <a:cubicBezTo>
                  <a:pt x="4900" y="164460"/>
                  <a:pt x="0" y="159561"/>
                  <a:pt x="0" y="153496"/>
                </a:cubicBezTo>
                <a:lnTo>
                  <a:pt x="0" y="142532"/>
                </a:lnTo>
                <a:close/>
                <a:moveTo>
                  <a:pt x="178611" y="164460"/>
                </a:moveTo>
                <a:cubicBezTo>
                  <a:pt x="180084" y="161103"/>
                  <a:pt x="180906" y="157402"/>
                  <a:pt x="180906" y="153496"/>
                </a:cubicBezTo>
                <a:lnTo>
                  <a:pt x="180906" y="148014"/>
                </a:lnTo>
                <a:cubicBezTo>
                  <a:pt x="180906" y="129787"/>
                  <a:pt x="174054" y="113135"/>
                  <a:pt x="162782" y="100526"/>
                </a:cubicBezTo>
                <a:cubicBezTo>
                  <a:pt x="166790" y="99327"/>
                  <a:pt x="171039" y="98676"/>
                  <a:pt x="175424" y="98676"/>
                </a:cubicBezTo>
                <a:cubicBezTo>
                  <a:pt x="199648" y="98676"/>
                  <a:pt x="219281" y="118309"/>
                  <a:pt x="219281" y="142532"/>
                </a:cubicBezTo>
                <a:lnTo>
                  <a:pt x="219281" y="153496"/>
                </a:lnTo>
                <a:cubicBezTo>
                  <a:pt x="219281" y="159561"/>
                  <a:pt x="214381" y="164460"/>
                  <a:pt x="208317" y="164460"/>
                </a:cubicBezTo>
                <a:lnTo>
                  <a:pt x="178611" y="164460"/>
                </a:lnTo>
                <a:close/>
                <a:moveTo>
                  <a:pt x="161719" y="54820"/>
                </a:moveTo>
                <a:cubicBezTo>
                  <a:pt x="161719" y="41205"/>
                  <a:pt x="172773" y="30151"/>
                  <a:pt x="186388" y="30151"/>
                </a:cubicBezTo>
                <a:cubicBezTo>
                  <a:pt x="200004" y="30151"/>
                  <a:pt x="211058" y="41205"/>
                  <a:pt x="211058" y="54820"/>
                </a:cubicBezTo>
                <a:cubicBezTo>
                  <a:pt x="211058" y="68435"/>
                  <a:pt x="200004" y="79489"/>
                  <a:pt x="186388" y="79489"/>
                </a:cubicBezTo>
                <a:cubicBezTo>
                  <a:pt x="172773" y="79489"/>
                  <a:pt x="161719" y="68435"/>
                  <a:pt x="161719" y="54820"/>
                </a:cubicBezTo>
                <a:close/>
                <a:moveTo>
                  <a:pt x="54820" y="148014"/>
                </a:moveTo>
                <a:cubicBezTo>
                  <a:pt x="54820" y="117726"/>
                  <a:pt x="79352" y="93194"/>
                  <a:pt x="109640" y="93194"/>
                </a:cubicBezTo>
                <a:cubicBezTo>
                  <a:pt x="139928" y="93194"/>
                  <a:pt x="164460" y="117726"/>
                  <a:pt x="164460" y="148014"/>
                </a:cubicBezTo>
                <a:lnTo>
                  <a:pt x="164460" y="153496"/>
                </a:lnTo>
                <a:cubicBezTo>
                  <a:pt x="164460" y="159561"/>
                  <a:pt x="159561" y="164460"/>
                  <a:pt x="153496" y="164460"/>
                </a:cubicBezTo>
                <a:lnTo>
                  <a:pt x="65784" y="164460"/>
                </a:lnTo>
                <a:cubicBezTo>
                  <a:pt x="59720" y="164460"/>
                  <a:pt x="54820" y="159561"/>
                  <a:pt x="54820" y="153496"/>
                </a:cubicBezTo>
                <a:lnTo>
                  <a:pt x="54820" y="148014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3" name="Text 11"/>
          <p:cNvSpPr/>
          <p:nvPr/>
        </p:nvSpPr>
        <p:spPr>
          <a:xfrm>
            <a:off x="982377" y="2385773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项目分析会统筹组织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6273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960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953" y="2789249"/>
            <a:ext cx="3578659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牵头组织价值主张制定、招标策略分析等各类项目分析会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6273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499960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6953" y="3069928"/>
            <a:ext cx="277170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会议前明确讨论议题,提前组织准备相关资料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6273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9960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6953" y="3350607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会议中引导团队达成共识,确定价值主张与赢单策略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273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4" name="Text 22"/>
          <p:cNvSpPr/>
          <p:nvPr/>
        </p:nvSpPr>
        <p:spPr>
          <a:xfrm>
            <a:off x="499960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6953" y="3631286"/>
            <a:ext cx="3534803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会议后整理会议纪要,上传飞书及CRM,明确责任人与时限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4590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4590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2472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52112" y="2420858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0355" y="131568"/>
                </a:moveTo>
                <a:cubicBezTo>
                  <a:pt x="102856" y="123928"/>
                  <a:pt x="107859" y="117007"/>
                  <a:pt x="113512" y="111045"/>
                </a:cubicBezTo>
                <a:cubicBezTo>
                  <a:pt x="124716" y="99259"/>
                  <a:pt x="131568" y="83327"/>
                  <a:pt x="131568" y="65784"/>
                </a:cubicBezTo>
                <a:cubicBezTo>
                  <a:pt x="131568" y="29466"/>
                  <a:pt x="102103" y="0"/>
                  <a:pt x="65784" y="0"/>
                </a:cubicBezTo>
                <a:cubicBezTo>
                  <a:pt x="29466" y="0"/>
                  <a:pt x="0" y="29466"/>
                  <a:pt x="0" y="65784"/>
                </a:cubicBezTo>
                <a:cubicBezTo>
                  <a:pt x="0" y="83327"/>
                  <a:pt x="6853" y="99259"/>
                  <a:pt x="18056" y="111045"/>
                </a:cubicBezTo>
                <a:cubicBezTo>
                  <a:pt x="23710" y="117007"/>
                  <a:pt x="28746" y="123928"/>
                  <a:pt x="31213" y="131568"/>
                </a:cubicBezTo>
                <a:lnTo>
                  <a:pt x="100321" y="131568"/>
                </a:lnTo>
                <a:close/>
                <a:moveTo>
                  <a:pt x="98676" y="148014"/>
                </a:moveTo>
                <a:lnTo>
                  <a:pt x="32892" y="148014"/>
                </a:lnTo>
                <a:lnTo>
                  <a:pt x="32892" y="153496"/>
                </a:lnTo>
                <a:cubicBezTo>
                  <a:pt x="32892" y="168640"/>
                  <a:pt x="45158" y="180906"/>
                  <a:pt x="60302" y="180906"/>
                </a:cubicBezTo>
                <a:lnTo>
                  <a:pt x="71266" y="180906"/>
                </a:lnTo>
                <a:cubicBezTo>
                  <a:pt x="86410" y="180906"/>
                  <a:pt x="98676" y="168640"/>
                  <a:pt x="98676" y="153496"/>
                </a:cubicBezTo>
                <a:lnTo>
                  <a:pt x="98676" y="148014"/>
                </a:lnTo>
                <a:close/>
                <a:moveTo>
                  <a:pt x="63043" y="38374"/>
                </a:moveTo>
                <a:cubicBezTo>
                  <a:pt x="49407" y="38374"/>
                  <a:pt x="38374" y="49407"/>
                  <a:pt x="38374" y="63043"/>
                </a:cubicBezTo>
                <a:cubicBezTo>
                  <a:pt x="38374" y="67600"/>
                  <a:pt x="34708" y="71266"/>
                  <a:pt x="30151" y="71266"/>
                </a:cubicBezTo>
                <a:cubicBezTo>
                  <a:pt x="25594" y="71266"/>
                  <a:pt x="21928" y="67600"/>
                  <a:pt x="21928" y="63043"/>
                </a:cubicBezTo>
                <a:cubicBezTo>
                  <a:pt x="21928" y="40327"/>
                  <a:pt x="40327" y="21928"/>
                  <a:pt x="63043" y="21928"/>
                </a:cubicBezTo>
                <a:cubicBezTo>
                  <a:pt x="67600" y="21928"/>
                  <a:pt x="71266" y="25594"/>
                  <a:pt x="71266" y="30151"/>
                </a:cubicBezTo>
                <a:cubicBezTo>
                  <a:pt x="71266" y="34708"/>
                  <a:pt x="67600" y="38374"/>
                  <a:pt x="63043" y="38374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6798575" y="2385773"/>
            <a:ext cx="181564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价值主张与赢单策略制定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2472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16158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3151" y="2789249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审核并指导项目组制定的价值主张及赢单策略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472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6316158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3151" y="3069928"/>
            <a:ext cx="308747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确保策略贴合客户需求、突出我司USP(独特卖点)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2472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6316158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23151" y="3350607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针对竞争对手制定有效应对方案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2472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1" name="Text 39"/>
          <p:cNvSpPr/>
          <p:nvPr/>
        </p:nvSpPr>
        <p:spPr>
          <a:xfrm>
            <a:off x="6316158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3151" y="3631286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组织与客户决策人沟通,推动客户认可我司价值主张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8391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8391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5" name="Shape 43"/>
          <p:cNvSpPr/>
          <p:nvPr/>
        </p:nvSpPr>
        <p:spPr>
          <a:xfrm>
            <a:off x="526273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914" y="4368069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6694" y="10964"/>
                </a:moveTo>
                <a:lnTo>
                  <a:pt x="109640" y="10964"/>
                </a:lnTo>
                <a:cubicBezTo>
                  <a:pt x="121735" y="10964"/>
                  <a:pt x="131568" y="20797"/>
                  <a:pt x="131568" y="32892"/>
                </a:cubicBezTo>
                <a:lnTo>
                  <a:pt x="131568" y="153496"/>
                </a:lnTo>
                <a:cubicBezTo>
                  <a:pt x="131568" y="165591"/>
                  <a:pt x="121735" y="175424"/>
                  <a:pt x="109640" y="175424"/>
                </a:cubicBezTo>
                <a:lnTo>
                  <a:pt x="21928" y="175424"/>
                </a:lnTo>
                <a:cubicBezTo>
                  <a:pt x="9833" y="175424"/>
                  <a:pt x="0" y="165591"/>
                  <a:pt x="0" y="153496"/>
                </a:cubicBezTo>
                <a:lnTo>
                  <a:pt x="0" y="32892"/>
                </a:lnTo>
                <a:cubicBezTo>
                  <a:pt x="0" y="20797"/>
                  <a:pt x="9833" y="10964"/>
                  <a:pt x="21928" y="10964"/>
                </a:cubicBezTo>
                <a:lnTo>
                  <a:pt x="24875" y="10964"/>
                </a:lnTo>
                <a:cubicBezTo>
                  <a:pt x="28644" y="4420"/>
                  <a:pt x="35736" y="0"/>
                  <a:pt x="43856" y="0"/>
                </a:cubicBezTo>
                <a:lnTo>
                  <a:pt x="87712" y="0"/>
                </a:lnTo>
                <a:cubicBezTo>
                  <a:pt x="95832" y="0"/>
                  <a:pt x="102925" y="4420"/>
                  <a:pt x="106694" y="10964"/>
                </a:cubicBezTo>
                <a:close/>
                <a:moveTo>
                  <a:pt x="84971" y="38374"/>
                </a:moveTo>
                <a:cubicBezTo>
                  <a:pt x="89528" y="38374"/>
                  <a:pt x="93194" y="34708"/>
                  <a:pt x="93194" y="30151"/>
                </a:cubicBezTo>
                <a:cubicBezTo>
                  <a:pt x="93194" y="25594"/>
                  <a:pt x="89528" y="21928"/>
                  <a:pt x="84971" y="21928"/>
                </a:cubicBezTo>
                <a:lnTo>
                  <a:pt x="46597" y="21928"/>
                </a:lnTo>
                <a:cubicBezTo>
                  <a:pt x="42040" y="21928"/>
                  <a:pt x="38374" y="25594"/>
                  <a:pt x="38374" y="30151"/>
                </a:cubicBezTo>
                <a:cubicBezTo>
                  <a:pt x="38374" y="34708"/>
                  <a:pt x="42040" y="38374"/>
                  <a:pt x="46597" y="38374"/>
                </a:cubicBezTo>
                <a:lnTo>
                  <a:pt x="84971" y="38374"/>
                </a:lnTo>
                <a:close/>
                <a:moveTo>
                  <a:pt x="94702" y="89323"/>
                </a:moveTo>
                <a:cubicBezTo>
                  <a:pt x="97100" y="85485"/>
                  <a:pt x="95935" y="80414"/>
                  <a:pt x="92098" y="77982"/>
                </a:cubicBezTo>
                <a:cubicBezTo>
                  <a:pt x="88260" y="75549"/>
                  <a:pt x="83190" y="76748"/>
                  <a:pt x="80757" y="80586"/>
                </a:cubicBezTo>
                <a:lnTo>
                  <a:pt x="59720" y="114266"/>
                </a:lnTo>
                <a:lnTo>
                  <a:pt x="50469" y="101931"/>
                </a:lnTo>
                <a:cubicBezTo>
                  <a:pt x="47728" y="98299"/>
                  <a:pt x="42588" y="97546"/>
                  <a:pt x="38957" y="100287"/>
                </a:cubicBezTo>
                <a:cubicBezTo>
                  <a:pt x="35325" y="103028"/>
                  <a:pt x="34571" y="108167"/>
                  <a:pt x="37312" y="111799"/>
                </a:cubicBezTo>
                <a:lnTo>
                  <a:pt x="53758" y="133727"/>
                </a:lnTo>
                <a:cubicBezTo>
                  <a:pt x="55368" y="135885"/>
                  <a:pt x="57972" y="137119"/>
                  <a:pt x="60679" y="137016"/>
                </a:cubicBezTo>
                <a:cubicBezTo>
                  <a:pt x="63386" y="136913"/>
                  <a:pt x="65853" y="135474"/>
                  <a:pt x="67292" y="133144"/>
                </a:cubicBezTo>
                <a:lnTo>
                  <a:pt x="94702" y="8928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982377" y="4332984"/>
            <a:ext cx="134199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解决方案评审跟进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6273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499960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6953" y="4736460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督促技术负责人按项目进度制定客户解决方案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6273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499960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6953" y="5017140"/>
            <a:ext cx="2521507" cy="189458"/>
          </a:xfrm>
          <a:custGeom>
            <a:avLst/>
            <a:gdLst/>
            <a:ahLst/>
            <a:cxnLst/>
            <a:rect l="l" t="t" r="r" b="b"/>
            <a:pathLst>
              <a:path w="2521507" h="189458">
                <a:moveTo>
                  <a:pt x="0" y="0"/>
                </a:moveTo>
                <a:lnTo>
                  <a:pt x="2521507" y="0"/>
                </a:lnTo>
                <a:lnTo>
                  <a:pt x="2521507" y="189458"/>
                </a:lnTo>
                <a:lnTo>
                  <a:pt x="0" y="189458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06953" y="5017140"/>
            <a:ext cx="2591677" cy="189458"/>
          </a:xfrm>
          <a:prstGeom prst="rect">
            <a:avLst/>
          </a:prstGeom>
          <a:noFill/>
          <a:ln/>
        </p:spPr>
        <p:txBody>
          <a:bodyPr wrap="square" lIns="35085" tIns="0" rIns="35085" bIns="0" rtlCol="0" anchor="ctr"/>
          <a:lstStyle/>
          <a:p>
            <a:pPr>
              <a:lnSpc>
                <a:spcPct val="110000"/>
              </a:lnSpc>
            </a:pPr>
            <a:r>
              <a:rPr lang="en-US" sz="1105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确保立项项目100%召开解决方案评审会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6273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499960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6953" y="5297819"/>
            <a:ext cx="175424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评审会在标前评审会前完成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26273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499960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6953" y="5578498"/>
            <a:ext cx="248225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确保解决方案评审会结果在CRM中留痕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4590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84590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3" name="Shape 61"/>
          <p:cNvSpPr/>
          <p:nvPr/>
        </p:nvSpPr>
        <p:spPr>
          <a:xfrm>
            <a:off x="6342472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19220" y="4368069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92132" y="29192"/>
                </a:moveTo>
                <a:lnTo>
                  <a:pt x="52182" y="73596"/>
                </a:lnTo>
                <a:cubicBezTo>
                  <a:pt x="50606" y="75343"/>
                  <a:pt x="50674" y="78050"/>
                  <a:pt x="52353" y="79729"/>
                </a:cubicBezTo>
                <a:cubicBezTo>
                  <a:pt x="62803" y="90179"/>
                  <a:pt x="79763" y="90179"/>
                  <a:pt x="90213" y="79729"/>
                </a:cubicBezTo>
                <a:lnTo>
                  <a:pt x="101109" y="68834"/>
                </a:lnTo>
                <a:cubicBezTo>
                  <a:pt x="102548" y="67395"/>
                  <a:pt x="104364" y="66606"/>
                  <a:pt x="106214" y="66469"/>
                </a:cubicBezTo>
                <a:cubicBezTo>
                  <a:pt x="108544" y="66264"/>
                  <a:pt x="110942" y="67052"/>
                  <a:pt x="112724" y="68834"/>
                </a:cubicBezTo>
                <a:lnTo>
                  <a:pt x="173232" y="128827"/>
                </a:lnTo>
                <a:lnTo>
                  <a:pt x="197353" y="109640"/>
                </a:lnTo>
                <a:lnTo>
                  <a:pt x="197353" y="10964"/>
                </a:lnTo>
                <a:lnTo>
                  <a:pt x="158978" y="32892"/>
                </a:lnTo>
                <a:lnTo>
                  <a:pt x="150824" y="27444"/>
                </a:lnTo>
                <a:cubicBezTo>
                  <a:pt x="145410" y="23847"/>
                  <a:pt x="139072" y="21928"/>
                  <a:pt x="132562" y="21928"/>
                </a:cubicBezTo>
                <a:lnTo>
                  <a:pt x="108441" y="21928"/>
                </a:lnTo>
                <a:cubicBezTo>
                  <a:pt x="108064" y="21928"/>
                  <a:pt x="107653" y="21928"/>
                  <a:pt x="107276" y="21962"/>
                </a:cubicBezTo>
                <a:cubicBezTo>
                  <a:pt x="101486" y="22271"/>
                  <a:pt x="96038" y="24875"/>
                  <a:pt x="92132" y="29192"/>
                </a:cubicBezTo>
                <a:close/>
                <a:moveTo>
                  <a:pt x="39950" y="62598"/>
                </a:moveTo>
                <a:lnTo>
                  <a:pt x="76543" y="21928"/>
                </a:lnTo>
                <a:lnTo>
                  <a:pt x="62975" y="21928"/>
                </a:lnTo>
                <a:cubicBezTo>
                  <a:pt x="54238" y="21928"/>
                  <a:pt x="45878" y="25389"/>
                  <a:pt x="39710" y="31556"/>
                </a:cubicBezTo>
                <a:lnTo>
                  <a:pt x="38374" y="32892"/>
                </a:lnTo>
                <a:lnTo>
                  <a:pt x="0" y="10964"/>
                </a:lnTo>
                <a:lnTo>
                  <a:pt x="0" y="109640"/>
                </a:lnTo>
                <a:lnTo>
                  <a:pt x="53587" y="154284"/>
                </a:lnTo>
                <a:cubicBezTo>
                  <a:pt x="61467" y="160863"/>
                  <a:pt x="71403" y="164460"/>
                  <a:pt x="81648" y="164460"/>
                </a:cubicBezTo>
                <a:lnTo>
                  <a:pt x="87027" y="164460"/>
                </a:lnTo>
                <a:lnTo>
                  <a:pt x="84629" y="162062"/>
                </a:lnTo>
                <a:cubicBezTo>
                  <a:pt x="81408" y="158841"/>
                  <a:pt x="81408" y="153633"/>
                  <a:pt x="84629" y="150447"/>
                </a:cubicBezTo>
                <a:cubicBezTo>
                  <a:pt x="87849" y="147261"/>
                  <a:pt x="93057" y="147226"/>
                  <a:pt x="96244" y="150447"/>
                </a:cubicBezTo>
                <a:lnTo>
                  <a:pt x="110291" y="164495"/>
                </a:lnTo>
                <a:lnTo>
                  <a:pt x="113375" y="164495"/>
                </a:lnTo>
                <a:cubicBezTo>
                  <a:pt x="119919" y="164495"/>
                  <a:pt x="126326" y="163021"/>
                  <a:pt x="132151" y="160280"/>
                </a:cubicBezTo>
                <a:lnTo>
                  <a:pt x="123003" y="151098"/>
                </a:lnTo>
                <a:cubicBezTo>
                  <a:pt x="119782" y="147877"/>
                  <a:pt x="119782" y="142669"/>
                  <a:pt x="123003" y="139483"/>
                </a:cubicBezTo>
                <a:cubicBezTo>
                  <a:pt x="126223" y="136297"/>
                  <a:pt x="131431" y="136262"/>
                  <a:pt x="134618" y="139483"/>
                </a:cubicBezTo>
                <a:lnTo>
                  <a:pt x="145582" y="150447"/>
                </a:lnTo>
                <a:lnTo>
                  <a:pt x="151578" y="144451"/>
                </a:lnTo>
                <a:cubicBezTo>
                  <a:pt x="154627" y="141402"/>
                  <a:pt x="155518" y="136982"/>
                  <a:pt x="154182" y="133110"/>
                </a:cubicBezTo>
                <a:lnTo>
                  <a:pt x="106934" y="86239"/>
                </a:lnTo>
                <a:lnTo>
                  <a:pt x="101828" y="91344"/>
                </a:lnTo>
                <a:cubicBezTo>
                  <a:pt x="84937" y="108236"/>
                  <a:pt x="57595" y="108236"/>
                  <a:pt x="40704" y="91344"/>
                </a:cubicBezTo>
                <a:cubicBezTo>
                  <a:pt x="32824" y="83464"/>
                  <a:pt x="32515" y="70821"/>
                  <a:pt x="39950" y="6256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6798575" y="4332984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客户关系与需求跟进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2472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7" name="Text 65"/>
          <p:cNvSpPr/>
          <p:nvPr/>
        </p:nvSpPr>
        <p:spPr>
          <a:xfrm>
            <a:off x="6316158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623151" y="4736460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维护客户拍板者的核心客户关系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42472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0" name="Text 68"/>
          <p:cNvSpPr/>
          <p:nvPr/>
        </p:nvSpPr>
        <p:spPr>
          <a:xfrm>
            <a:off x="6316158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23151" y="5017140"/>
            <a:ext cx="322781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协同客户关系负责人开展高质量客户交流、11N活动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42472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3" name="Text 71"/>
          <p:cNvSpPr/>
          <p:nvPr/>
        </p:nvSpPr>
        <p:spPr>
          <a:xfrm>
            <a:off x="6316158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23151" y="5297819"/>
            <a:ext cx="329798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及时掌握客户需求变化、决策链动态及竞争对手动作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472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6" name="Text 74"/>
          <p:cNvSpPr/>
          <p:nvPr/>
        </p:nvSpPr>
        <p:spPr>
          <a:xfrm>
            <a:off x="6316158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23151" y="5578498"/>
            <a:ext cx="2210348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针对客户侧问题,及时协调资源解决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68391" y="6087229"/>
            <a:ext cx="11472760" cy="421019"/>
          </a:xfrm>
          <a:custGeom>
            <a:avLst/>
            <a:gdLst/>
            <a:ahLst/>
            <a:cxnLst/>
            <a:rect l="l" t="t" r="r" b="b"/>
            <a:pathLst>
              <a:path w="11472760" h="421019">
                <a:moveTo>
                  <a:pt x="35085" y="0"/>
                </a:moveTo>
                <a:lnTo>
                  <a:pt x="11367505" y="0"/>
                </a:lnTo>
                <a:cubicBezTo>
                  <a:pt x="11425636" y="0"/>
                  <a:pt x="11472760" y="47124"/>
                  <a:pt x="11472760" y="105255"/>
                </a:cubicBezTo>
                <a:lnTo>
                  <a:pt x="11472760" y="315764"/>
                </a:lnTo>
                <a:cubicBezTo>
                  <a:pt x="11472760" y="373895"/>
                  <a:pt x="11425636" y="421019"/>
                  <a:pt x="11367505" y="421019"/>
                </a:cubicBez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8391" y="6087229"/>
            <a:ext cx="35085" cy="421019"/>
          </a:xfrm>
          <a:custGeom>
            <a:avLst/>
            <a:gdLst/>
            <a:ahLst/>
            <a:cxnLst/>
            <a:rect l="l" t="t" r="r" b="b"/>
            <a:pathLst>
              <a:path w="35085" h="421019">
                <a:moveTo>
                  <a:pt x="35085" y="0"/>
                </a:moveTo>
                <a:lnTo>
                  <a:pt x="35085" y="0"/>
                </a:lnTo>
                <a:lnTo>
                  <a:pt x="35085" y="421019"/>
                </a:ln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153" y="6210026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106043" y="-6476"/>
                </a:moveTo>
                <a:cubicBezTo>
                  <a:pt x="104638" y="-9217"/>
                  <a:pt x="101794" y="-10964"/>
                  <a:pt x="98711" y="-10964"/>
                </a:cubicBezTo>
                <a:cubicBezTo>
                  <a:pt x="95627" y="-10964"/>
                  <a:pt x="92783" y="-9217"/>
                  <a:pt x="91378" y="-6476"/>
                </a:cubicBezTo>
                <a:lnTo>
                  <a:pt x="66161" y="42931"/>
                </a:lnTo>
                <a:lnTo>
                  <a:pt x="11375" y="51634"/>
                </a:lnTo>
                <a:cubicBezTo>
                  <a:pt x="8326" y="52113"/>
                  <a:pt x="5790" y="54272"/>
                  <a:pt x="4831" y="57219"/>
                </a:cubicBezTo>
                <a:cubicBezTo>
                  <a:pt x="3872" y="60165"/>
                  <a:pt x="4660" y="63386"/>
                  <a:pt x="6818" y="65579"/>
                </a:cubicBezTo>
                <a:lnTo>
                  <a:pt x="46015" y="104809"/>
                </a:lnTo>
                <a:lnTo>
                  <a:pt x="37380" y="159595"/>
                </a:lnTo>
                <a:cubicBezTo>
                  <a:pt x="36901" y="162645"/>
                  <a:pt x="38169" y="165728"/>
                  <a:pt x="40670" y="167544"/>
                </a:cubicBezTo>
                <a:cubicBezTo>
                  <a:pt x="43171" y="169360"/>
                  <a:pt x="46460" y="169634"/>
                  <a:pt x="49235" y="168229"/>
                </a:cubicBezTo>
                <a:lnTo>
                  <a:pt x="98711" y="143081"/>
                </a:lnTo>
                <a:lnTo>
                  <a:pt x="148151" y="168229"/>
                </a:lnTo>
                <a:cubicBezTo>
                  <a:pt x="150892" y="169634"/>
                  <a:pt x="154216" y="169360"/>
                  <a:pt x="156717" y="167544"/>
                </a:cubicBezTo>
                <a:cubicBezTo>
                  <a:pt x="159218" y="165728"/>
                  <a:pt x="160486" y="162679"/>
                  <a:pt x="160006" y="159595"/>
                </a:cubicBezTo>
                <a:lnTo>
                  <a:pt x="151338" y="104809"/>
                </a:lnTo>
                <a:lnTo>
                  <a:pt x="190534" y="65579"/>
                </a:lnTo>
                <a:cubicBezTo>
                  <a:pt x="192727" y="63386"/>
                  <a:pt x="193481" y="60165"/>
                  <a:pt x="192521" y="57219"/>
                </a:cubicBezTo>
                <a:cubicBezTo>
                  <a:pt x="191562" y="54272"/>
                  <a:pt x="189061" y="52113"/>
                  <a:pt x="185977" y="51634"/>
                </a:cubicBezTo>
                <a:lnTo>
                  <a:pt x="131226" y="42931"/>
                </a:lnTo>
                <a:lnTo>
                  <a:pt x="106043" y="-6476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1" name="Text 79"/>
          <p:cNvSpPr/>
          <p:nvPr/>
        </p:nvSpPr>
        <p:spPr>
          <a:xfrm>
            <a:off x="815724" y="6192483"/>
            <a:ext cx="43943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</a:t>
            </a: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引导客户决策标准倾向我司,为投标工作奠定坚实的策略基础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03 · BID EXECUTION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投标执行阶段:精准施策,高效落地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782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781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带领项目组完成标书分析、投标策略制定与评审,推动投标策略高效执行,确保投标工作科学、有序开展,提升中标率。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067050"/>
            <a:ext cx="3381375" cy="628650"/>
          </a:xfrm>
          <a:custGeom>
            <a:avLst/>
            <a:gdLst/>
            <a:ahLst/>
            <a:cxnLst/>
            <a:rect l="l" t="t" r="r" b="b"/>
            <a:pathLst>
              <a:path w="3381375" h="628650">
                <a:moveTo>
                  <a:pt x="38100" y="0"/>
                </a:moveTo>
                <a:lnTo>
                  <a:pt x="3305176" y="0"/>
                </a:lnTo>
                <a:cubicBezTo>
                  <a:pt x="3347260" y="0"/>
                  <a:pt x="3381375" y="34115"/>
                  <a:pt x="3381375" y="76199"/>
                </a:cubicBezTo>
                <a:lnTo>
                  <a:pt x="3381375" y="552451"/>
                </a:lnTo>
                <a:cubicBezTo>
                  <a:pt x="3381375" y="594535"/>
                  <a:pt x="3347260" y="628650"/>
                  <a:pt x="3305176" y="628650"/>
                </a:cubicBez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2450" y="3067050"/>
            <a:ext cx="38100" cy="628650"/>
          </a:xfrm>
          <a:custGeom>
            <a:avLst/>
            <a:gdLst/>
            <a:ahLst/>
            <a:cxnLst/>
            <a:rect l="l" t="t" r="r" b="b"/>
            <a:pathLst>
              <a:path w="38100" h="628650">
                <a:moveTo>
                  <a:pt x="38100" y="0"/>
                </a:moveTo>
                <a:lnTo>
                  <a:pt x="38100" y="0"/>
                </a:lnTo>
                <a:lnTo>
                  <a:pt x="38100" y="628650"/>
                </a:ln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" y="31432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硬性时间要求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409950"/>
            <a:ext cx="3286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拿到标书后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3天内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组织召开标前评审会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810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7719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督促客户关系负责人及时获取正式标书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4095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0576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组织完成标书分析(技术、商务、服务条款)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4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" y="434340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制定投标策略(价格、商务、竞争应对策略)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450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46291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评估投标风险并制定应对方案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24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" y="4914900"/>
            <a:ext cx="2390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确保标前评审会结果在CRM中留痕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72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8942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投标策略制定与评审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Text 32"/>
          <p:cNvSpPr/>
          <p:nvPr/>
        </p:nvSpPr>
        <p:spPr>
          <a:xfrm>
            <a:off x="4660821" y="30670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牵头组织项目组制定投标策略规划书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0821" y="335280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整合技术、商务、服务等各板块意见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4660821" y="36385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组织评审委员会对投标策略进行评审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660821" y="39243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汇总各方分歧点并推动决策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1317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2" name="Text 40"/>
          <p:cNvSpPr/>
          <p:nvPr/>
        </p:nvSpPr>
        <p:spPr>
          <a:xfrm>
            <a:off x="4660821" y="4210050"/>
            <a:ext cx="3009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跟踪策略修订闭环,确保策略落地、风险可控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1317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4" name="Text 42"/>
          <p:cNvSpPr/>
          <p:nvPr/>
        </p:nvSpPr>
        <p:spPr>
          <a:xfrm>
            <a:off x="4660821" y="4495800"/>
            <a:ext cx="2552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跟进特价申请,协调内部价格审批流程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6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5026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投标策略执行与管控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52166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全程跟踪投标策略执行进展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521661" y="33528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针对执行中的异常问题及时跟催、协调解决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521661" y="36385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督促完成技术标书、商务标书、服务方案编制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7" name="Text 55"/>
          <p:cNvSpPr/>
          <p:nvPr/>
        </p:nvSpPr>
        <p:spPr>
          <a:xfrm>
            <a:off x="8521661" y="39243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协助合作伙伴完成投标文件,确保标书质量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7401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8521661" y="42100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统筹安排讲标人员与演示材料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401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8521661" y="44958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确保讲标过程突出我司优势,贴合客户需求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000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00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2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885825" y="55435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时间红线: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拿到标书后3天内必须召开标前评审会,这是MO流程的硬性要求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12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1912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8" name="Shape 66"/>
          <p:cNvSpPr/>
          <p:nvPr/>
        </p:nvSpPr>
        <p:spPr>
          <a:xfrm>
            <a:off x="63484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9" name="Text 67"/>
          <p:cNvSpPr/>
          <p:nvPr/>
        </p:nvSpPr>
        <p:spPr>
          <a:xfrm>
            <a:off x="6677025" y="554355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关键提醒: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投标策略需在标前评审会中充分讨论,确保策略落地、风险可控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04 &amp; 05 · CONTRACT &amp;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合同谈判与复盘阶段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97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875" y="153987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严控风险,促成签约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19208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375" y="19208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438" y="2047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合同谈判统筹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2270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非直签项目:协同确认价格及商务条款,推动合同谈判与签约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476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直签项目:直接参与与最终用户的合同谈判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" y="2682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把控价格、付款方式、交付周期、验收标准、服务条款等核心内容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500" y="2889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坚决规避重大商业风险,及时组织评估并制定应对策略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3206750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375" y="3206750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6250" y="3333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" y="33020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合同评审跟进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500" y="3556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督促商务助理及时在BPMS上发起业务三审流程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500" y="3762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协调信控、法务、客户体验、销管等部门完成合同评审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500" y="3968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督促客户体验负责人对服务条款进行审核,评估交付可行性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500" y="4175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针对评审提出的问题,及时组织与客沟通修订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449262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375" y="449262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500" y="46196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5900" y="15875"/>
                </a:moveTo>
                <a:cubicBezTo>
                  <a:pt x="15900" y="7119"/>
                  <a:pt x="23019" y="0"/>
                  <a:pt x="31775" y="0"/>
                </a:cubicBezTo>
                <a:lnTo>
                  <a:pt x="68858" y="0"/>
                </a:lnTo>
                <a:cubicBezTo>
                  <a:pt x="73075" y="0"/>
                  <a:pt x="77118" y="1662"/>
                  <a:pt x="80094" y="4638"/>
                </a:cubicBezTo>
                <a:lnTo>
                  <a:pt x="106487" y="31080"/>
                </a:lnTo>
                <a:cubicBezTo>
                  <a:pt x="109463" y="34057"/>
                  <a:pt x="111125" y="38100"/>
                  <a:pt x="111125" y="42317"/>
                </a:cubicBezTo>
                <a:lnTo>
                  <a:pt x="111125" y="66501"/>
                </a:lnTo>
                <a:lnTo>
                  <a:pt x="78383" y="99244"/>
                </a:lnTo>
                <a:lnTo>
                  <a:pt x="67940" y="99244"/>
                </a:lnTo>
                <a:lnTo>
                  <a:pt x="63946" y="85948"/>
                </a:lnTo>
                <a:cubicBezTo>
                  <a:pt x="62781" y="82054"/>
                  <a:pt x="59209" y="79400"/>
                  <a:pt x="55141" y="79400"/>
                </a:cubicBezTo>
                <a:cubicBezTo>
                  <a:pt x="52338" y="79400"/>
                  <a:pt x="49709" y="80665"/>
                  <a:pt x="47972" y="82848"/>
                </a:cubicBezTo>
                <a:lnTo>
                  <a:pt x="33065" y="101451"/>
                </a:lnTo>
                <a:cubicBezTo>
                  <a:pt x="31006" y="104006"/>
                  <a:pt x="31428" y="107776"/>
                  <a:pt x="33982" y="109810"/>
                </a:cubicBezTo>
                <a:cubicBezTo>
                  <a:pt x="36537" y="111844"/>
                  <a:pt x="40308" y="111447"/>
                  <a:pt x="42342" y="108868"/>
                </a:cubicBezTo>
                <a:lnTo>
                  <a:pt x="54025" y="94283"/>
                </a:lnTo>
                <a:lnTo>
                  <a:pt x="57795" y="106859"/>
                </a:lnTo>
                <a:cubicBezTo>
                  <a:pt x="58539" y="109389"/>
                  <a:pt x="60871" y="111100"/>
                  <a:pt x="63500" y="111100"/>
                </a:cubicBezTo>
                <a:lnTo>
                  <a:pt x="71313" y="111100"/>
                </a:lnTo>
                <a:cubicBezTo>
                  <a:pt x="71090" y="111869"/>
                  <a:pt x="70892" y="112663"/>
                  <a:pt x="70743" y="113457"/>
                </a:cubicBezTo>
                <a:lnTo>
                  <a:pt x="68039" y="126975"/>
                </a:lnTo>
                <a:lnTo>
                  <a:pt x="31775" y="126975"/>
                </a:lnTo>
                <a:cubicBezTo>
                  <a:pt x="23019" y="126975"/>
                  <a:pt x="15900" y="119856"/>
                  <a:pt x="15900" y="111100"/>
                </a:cubicBezTo>
                <a:lnTo>
                  <a:pt x="15900" y="15850"/>
                </a:lnTo>
                <a:close/>
                <a:moveTo>
                  <a:pt x="67494" y="14511"/>
                </a:moveTo>
                <a:lnTo>
                  <a:pt x="67494" y="37703"/>
                </a:lnTo>
                <a:cubicBezTo>
                  <a:pt x="67494" y="41002"/>
                  <a:pt x="70148" y="43656"/>
                  <a:pt x="73447" y="43656"/>
                </a:cubicBezTo>
                <a:lnTo>
                  <a:pt x="96639" y="43656"/>
                </a:lnTo>
                <a:lnTo>
                  <a:pt x="67494" y="14511"/>
                </a:lnTo>
                <a:close/>
                <a:moveTo>
                  <a:pt x="82426" y="115813"/>
                </a:moveTo>
                <a:cubicBezTo>
                  <a:pt x="83046" y="112737"/>
                  <a:pt x="84559" y="109910"/>
                  <a:pt x="86767" y="107702"/>
                </a:cubicBezTo>
                <a:lnTo>
                  <a:pt x="116260" y="78209"/>
                </a:lnTo>
                <a:lnTo>
                  <a:pt x="136103" y="98053"/>
                </a:lnTo>
                <a:lnTo>
                  <a:pt x="106611" y="127546"/>
                </a:lnTo>
                <a:cubicBezTo>
                  <a:pt x="104403" y="129753"/>
                  <a:pt x="101575" y="131266"/>
                  <a:pt x="98499" y="131887"/>
                </a:cubicBezTo>
                <a:lnTo>
                  <a:pt x="83716" y="134838"/>
                </a:lnTo>
                <a:cubicBezTo>
                  <a:pt x="83493" y="134888"/>
                  <a:pt x="83245" y="134913"/>
                  <a:pt x="82996" y="134913"/>
                </a:cubicBezTo>
                <a:cubicBezTo>
                  <a:pt x="81012" y="134913"/>
                  <a:pt x="79375" y="133300"/>
                  <a:pt x="79375" y="131291"/>
                </a:cubicBezTo>
                <a:cubicBezTo>
                  <a:pt x="79375" y="131043"/>
                  <a:pt x="79400" y="130820"/>
                  <a:pt x="79449" y="130572"/>
                </a:cubicBezTo>
                <a:lnTo>
                  <a:pt x="82401" y="115788"/>
                </a:lnTo>
                <a:close/>
                <a:moveTo>
                  <a:pt x="148853" y="85303"/>
                </a:moveTo>
                <a:lnTo>
                  <a:pt x="141709" y="92447"/>
                </a:lnTo>
                <a:lnTo>
                  <a:pt x="121865" y="72603"/>
                </a:lnTo>
                <a:lnTo>
                  <a:pt x="129009" y="65460"/>
                </a:lnTo>
                <a:cubicBezTo>
                  <a:pt x="134491" y="59978"/>
                  <a:pt x="143371" y="59978"/>
                  <a:pt x="148853" y="65460"/>
                </a:cubicBezTo>
                <a:cubicBezTo>
                  <a:pt x="154335" y="70941"/>
                  <a:pt x="154335" y="79821"/>
                  <a:pt x="148853" y="8530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58787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合同签订与信息留痕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500" y="4841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推动合同双方完成盖章签约,确保过程规范、高效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048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合同签订后,及时将正式合同上传至飞书及CRM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500" y="5254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督促技术负责人在项目下单后3天内完成售前移交售后表单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500" y="5461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确保售前售后衔接顺畅,为项目交付奠定基础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375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6188" y="139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635750" y="1285875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赢丢单复盘阶段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35750" y="1539875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总结经验,沉淀复用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1920875"/>
            <a:ext cx="5683250" cy="1524000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1250" y="1920875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2375" y="2047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0" name="Text 38"/>
          <p:cNvSpPr/>
          <p:nvPr/>
        </p:nvSpPr>
        <p:spPr>
          <a:xfrm>
            <a:off x="6461125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复盘会议组织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8250" y="2270125"/>
            <a:ext cx="5461000" cy="444500"/>
          </a:xfrm>
          <a:custGeom>
            <a:avLst/>
            <a:gdLst/>
            <a:ahLst/>
            <a:cxnLst/>
            <a:rect l="l" t="t" r="r" b="b"/>
            <a:pathLst>
              <a:path w="5461000" h="444500">
                <a:moveTo>
                  <a:pt x="31750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412749"/>
                </a:lnTo>
                <a:cubicBezTo>
                  <a:pt x="5461000" y="430285"/>
                  <a:pt x="5446785" y="444500"/>
                  <a:pt x="54292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18250" y="2270125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6397625" y="233362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97625" y="249237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项目丢单/赢单(下单)后,在关闭活动商机时间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2周内 </a:t>
            </a: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组织召开赢丢单复盘会,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所有立项项目必须100%完成复盘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2375" y="2778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提前明确复盘会议时间、参与人员及讨论议题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2375" y="2984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组织项目组成员按时间轴还原项目全流程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02375" y="3190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客观分析赢单关键因素或丢单核心原因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35083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91250" y="35083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334125" y="3635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461125" y="36036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复盘报告编制与上传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02375" y="3857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结合复盘会议结论,组织编制赢丢单复盘总结报告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2375" y="4064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报告需客观、真实反映项目问题,提炼可复用的经验教训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02375" y="4270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明确后续改进方向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02375" y="4476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确保复盘报告在CRM中完成留痕,并上传至飞书项目文档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1250" y="4794250"/>
            <a:ext cx="5683250" cy="1016000"/>
          </a:xfrm>
          <a:custGeom>
            <a:avLst/>
            <a:gdLst/>
            <a:ahLst/>
            <a:cxnLst/>
            <a:rect l="l" t="t" r="r" b="b"/>
            <a:pathLst>
              <a:path w="5683250" h="1016000">
                <a:moveTo>
                  <a:pt x="3175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952500"/>
                </a:lnTo>
                <a:cubicBezTo>
                  <a:pt x="5683250" y="987547"/>
                  <a:pt x="5654797" y="1016000"/>
                  <a:pt x="5619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91250" y="4794250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8" name="Shape 56"/>
          <p:cNvSpPr/>
          <p:nvPr/>
        </p:nvSpPr>
        <p:spPr>
          <a:xfrm>
            <a:off x="6318250" y="4921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5250" y="47625"/>
                </a:moveTo>
                <a:cubicBezTo>
                  <a:pt x="108396" y="47625"/>
                  <a:pt x="119063" y="36959"/>
                  <a:pt x="119063" y="23812"/>
                </a:cubicBezTo>
                <a:cubicBezTo>
                  <a:pt x="119063" y="10666"/>
                  <a:pt x="108396" y="0"/>
                  <a:pt x="95250" y="0"/>
                </a:cubicBezTo>
                <a:cubicBezTo>
                  <a:pt x="82104" y="0"/>
                  <a:pt x="71438" y="10666"/>
                  <a:pt x="71438" y="23812"/>
                </a:cubicBezTo>
                <a:cubicBezTo>
                  <a:pt x="71438" y="25152"/>
                  <a:pt x="71562" y="26491"/>
                  <a:pt x="71760" y="27781"/>
                </a:cubicBezTo>
                <a:lnTo>
                  <a:pt x="39588" y="45665"/>
                </a:lnTo>
                <a:cubicBezTo>
                  <a:pt x="35396" y="41945"/>
                  <a:pt x="29865" y="39688"/>
                  <a:pt x="23812" y="39688"/>
                </a:cubicBezTo>
                <a:cubicBezTo>
                  <a:pt x="10666" y="39688"/>
                  <a:pt x="0" y="50354"/>
                  <a:pt x="0" y="63500"/>
                </a:cubicBezTo>
                <a:cubicBezTo>
                  <a:pt x="0" y="76646"/>
                  <a:pt x="10666" y="87313"/>
                  <a:pt x="23812" y="87313"/>
                </a:cubicBezTo>
                <a:cubicBezTo>
                  <a:pt x="29865" y="87313"/>
                  <a:pt x="35371" y="85055"/>
                  <a:pt x="39588" y="81335"/>
                </a:cubicBezTo>
                <a:lnTo>
                  <a:pt x="71760" y="99219"/>
                </a:lnTo>
                <a:cubicBezTo>
                  <a:pt x="71537" y="100509"/>
                  <a:pt x="71438" y="101823"/>
                  <a:pt x="71438" y="103188"/>
                </a:cubicBezTo>
                <a:cubicBezTo>
                  <a:pt x="71438" y="116334"/>
                  <a:pt x="82104" y="127000"/>
                  <a:pt x="95250" y="127000"/>
                </a:cubicBezTo>
                <a:cubicBezTo>
                  <a:pt x="108396" y="127000"/>
                  <a:pt x="119063" y="116334"/>
                  <a:pt x="119063" y="103188"/>
                </a:cubicBezTo>
                <a:cubicBezTo>
                  <a:pt x="119063" y="90041"/>
                  <a:pt x="108396" y="79375"/>
                  <a:pt x="95250" y="79375"/>
                </a:cubicBezTo>
                <a:cubicBezTo>
                  <a:pt x="89198" y="79375"/>
                  <a:pt x="83691" y="81632"/>
                  <a:pt x="79474" y="85353"/>
                </a:cubicBezTo>
                <a:lnTo>
                  <a:pt x="47303" y="67469"/>
                </a:lnTo>
                <a:cubicBezTo>
                  <a:pt x="47526" y="66179"/>
                  <a:pt x="47625" y="64864"/>
                  <a:pt x="47625" y="63500"/>
                </a:cubicBezTo>
                <a:cubicBezTo>
                  <a:pt x="47625" y="62136"/>
                  <a:pt x="47501" y="60821"/>
                  <a:pt x="47303" y="59531"/>
                </a:cubicBezTo>
                <a:lnTo>
                  <a:pt x="79474" y="41647"/>
                </a:lnTo>
                <a:cubicBezTo>
                  <a:pt x="83666" y="45368"/>
                  <a:pt x="89198" y="47625"/>
                  <a:pt x="95250" y="476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6461125" y="48895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经验沉淀与推广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02375" y="5143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针对赢单项目:提炼可复制的项目推进策略、客户应对方法、团队协同模式,在区域/系统部内进行推广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02375" y="5349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针对丢单项目:制定针对性改进措施,避免后续项目出现同类问题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2375" y="5556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参与公司/区域组织的复盘经验分享会,推动团队整体能力提升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3375" y="5937250"/>
            <a:ext cx="11541125" cy="381000"/>
          </a:xfrm>
          <a:custGeom>
            <a:avLst/>
            <a:gdLst/>
            <a:ahLst/>
            <a:cxnLst/>
            <a:rect l="l" t="t" r="r" b="b"/>
            <a:pathLst>
              <a:path w="11541125" h="381000">
                <a:moveTo>
                  <a:pt x="31750" y="0"/>
                </a:moveTo>
                <a:lnTo>
                  <a:pt x="11445875" y="0"/>
                </a:lnTo>
                <a:cubicBezTo>
                  <a:pt x="11498445" y="0"/>
                  <a:pt x="11541125" y="42680"/>
                  <a:pt x="11541125" y="95250"/>
                </a:cubicBezTo>
                <a:lnTo>
                  <a:pt x="11541125" y="285750"/>
                </a:lnTo>
                <a:cubicBezTo>
                  <a:pt x="11541125" y="338320"/>
                  <a:pt x="11498445" y="381000"/>
                  <a:pt x="11445875" y="381000"/>
                </a:cubicBezTo>
                <a:lnTo>
                  <a:pt x="31750" y="381000"/>
                </a:lnTo>
                <a:cubicBezTo>
                  <a:pt x="14215" y="381000"/>
                  <a:pt x="0" y="366785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33375" y="593725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Shape 63"/>
          <p:cNvSpPr/>
          <p:nvPr/>
        </p:nvSpPr>
        <p:spPr>
          <a:xfrm>
            <a:off x="484187" y="6048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6" name="Text 64"/>
          <p:cNvSpPr/>
          <p:nvPr/>
        </p:nvSpPr>
        <p:spPr>
          <a:xfrm>
            <a:off x="738188" y="6032500"/>
            <a:ext cx="886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关键价值: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合同谈判阶段确保合同条款合法合规、保障公司利益;复盘阶段实现经验沉淀与复用,为后续项目提供参考,推动团队整体项目管理能力与赢单能力提升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63156"/>
            <a:ext cx="685907" cy="51443"/>
          </a:xfrm>
          <a:custGeom>
            <a:avLst/>
            <a:gdLst/>
            <a:ahLst/>
            <a:cxnLst/>
            <a:rect l="l" t="t" r="r" b="b"/>
            <a:pathLst>
              <a:path w="685907" h="51443">
                <a:moveTo>
                  <a:pt x="0" y="0"/>
                </a:moveTo>
                <a:lnTo>
                  <a:pt x="685907" y="0"/>
                </a:lnTo>
                <a:lnTo>
                  <a:pt x="685907" y="51443"/>
                </a:lnTo>
                <a:lnTo>
                  <a:pt x="0" y="51443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42954" y="1251781"/>
            <a:ext cx="11506093" cy="531578"/>
          </a:xfrm>
          <a:custGeom>
            <a:avLst/>
            <a:gdLst/>
            <a:ahLst/>
            <a:cxnLst/>
            <a:rect l="l" t="t" r="r" b="b"/>
            <a:pathLst>
              <a:path w="11506093" h="531578">
                <a:moveTo>
                  <a:pt x="102887" y="0"/>
                </a:moveTo>
                <a:lnTo>
                  <a:pt x="11403206" y="0"/>
                </a:lnTo>
                <a:cubicBezTo>
                  <a:pt x="11460029" y="0"/>
                  <a:pt x="11506093" y="46064"/>
                  <a:pt x="11506093" y="102887"/>
                </a:cubicBezTo>
                <a:lnTo>
                  <a:pt x="11506093" y="428691"/>
                </a:lnTo>
                <a:cubicBezTo>
                  <a:pt x="11506093" y="485514"/>
                  <a:pt x="11460029" y="531578"/>
                  <a:pt x="11403206" y="531578"/>
                </a:cubicBezTo>
                <a:lnTo>
                  <a:pt x="102887" y="531578"/>
                </a:lnTo>
                <a:cubicBezTo>
                  <a:pt x="46064" y="531578"/>
                  <a:pt x="0" y="485514"/>
                  <a:pt x="0" y="428691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14430" y="1388962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128608" y="257215"/>
                </a:moveTo>
                <a:cubicBezTo>
                  <a:pt x="199588" y="257215"/>
                  <a:pt x="257215" y="199588"/>
                  <a:pt x="257215" y="128608"/>
                </a:cubicBezTo>
                <a:cubicBezTo>
                  <a:pt x="257215" y="57627"/>
                  <a:pt x="199588" y="0"/>
                  <a:pt x="128608" y="0"/>
                </a:cubicBezTo>
                <a:cubicBezTo>
                  <a:pt x="57627" y="0"/>
                  <a:pt x="0" y="57627"/>
                  <a:pt x="0" y="128608"/>
                </a:cubicBezTo>
                <a:cubicBezTo>
                  <a:pt x="0" y="199588"/>
                  <a:pt x="57627" y="257215"/>
                  <a:pt x="128608" y="257215"/>
                </a:cubicBezTo>
                <a:close/>
                <a:moveTo>
                  <a:pt x="112532" y="80380"/>
                </a:moveTo>
                <a:cubicBezTo>
                  <a:pt x="112532" y="71507"/>
                  <a:pt x="119735" y="64304"/>
                  <a:pt x="128608" y="64304"/>
                </a:cubicBezTo>
                <a:cubicBezTo>
                  <a:pt x="137480" y="64304"/>
                  <a:pt x="144684" y="71507"/>
                  <a:pt x="144684" y="80380"/>
                </a:cubicBezTo>
                <a:cubicBezTo>
                  <a:pt x="144684" y="89252"/>
                  <a:pt x="137480" y="96456"/>
                  <a:pt x="128608" y="96456"/>
                </a:cubicBezTo>
                <a:cubicBezTo>
                  <a:pt x="119735" y="96456"/>
                  <a:pt x="112532" y="89252"/>
                  <a:pt x="112532" y="80380"/>
                </a:cubicBezTo>
                <a:close/>
                <a:moveTo>
                  <a:pt x="108513" y="112532"/>
                </a:moveTo>
                <a:lnTo>
                  <a:pt x="132627" y="112532"/>
                </a:lnTo>
                <a:cubicBezTo>
                  <a:pt x="139308" y="112532"/>
                  <a:pt x="144684" y="117907"/>
                  <a:pt x="144684" y="124589"/>
                </a:cubicBezTo>
                <a:lnTo>
                  <a:pt x="144684" y="168797"/>
                </a:lnTo>
                <a:lnTo>
                  <a:pt x="148703" y="168797"/>
                </a:lnTo>
                <a:cubicBezTo>
                  <a:pt x="155384" y="168797"/>
                  <a:pt x="160759" y="174173"/>
                  <a:pt x="160759" y="180854"/>
                </a:cubicBezTo>
                <a:cubicBezTo>
                  <a:pt x="160759" y="187536"/>
                  <a:pt x="155384" y="192911"/>
                  <a:pt x="148703" y="192911"/>
                </a:cubicBezTo>
                <a:lnTo>
                  <a:pt x="108513" y="192911"/>
                </a:lnTo>
                <a:cubicBezTo>
                  <a:pt x="101831" y="192911"/>
                  <a:pt x="96456" y="187536"/>
                  <a:pt x="96456" y="180854"/>
                </a:cubicBezTo>
                <a:cubicBezTo>
                  <a:pt x="96456" y="174173"/>
                  <a:pt x="101831" y="168797"/>
                  <a:pt x="108513" y="168797"/>
                </a:cubicBezTo>
                <a:lnTo>
                  <a:pt x="120570" y="168797"/>
                </a:lnTo>
                <a:lnTo>
                  <a:pt x="120570" y="136646"/>
                </a:lnTo>
                <a:lnTo>
                  <a:pt x="108513" y="136646"/>
                </a:lnTo>
                <a:cubicBezTo>
                  <a:pt x="101831" y="136646"/>
                  <a:pt x="96456" y="131270"/>
                  <a:pt x="96456" y="124589"/>
                </a:cubicBezTo>
                <a:cubicBezTo>
                  <a:pt x="96456" y="117907"/>
                  <a:pt x="101831" y="112532"/>
                  <a:pt x="108513" y="1125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38835" y="1414684"/>
            <a:ext cx="1007426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除项目各阶段核心工作外,项目经理还需履行日常项目管理与协同职责,尤其是与销管BP的信息协同,确保项目推进的连续性和高效性,同时配合MO流程的整体运转要求。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54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54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135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37266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4565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项目信息同步与更新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7283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20203" y="2606447"/>
            <a:ext cx="2563578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持续更新飞书项目群及CRM中的项目信息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283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6" name="Text 14"/>
          <p:cNvSpPr/>
          <p:nvPr/>
        </p:nvSpPr>
        <p:spPr>
          <a:xfrm>
            <a:off x="720203" y="2863662"/>
            <a:ext cx="390967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包括项目推进进度、客户动态、竞争信息、关键动作完成情况等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283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20203" y="3120878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确保项目组成员信息同步、实时掌握项目状态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7283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0" name="Text 18"/>
          <p:cNvSpPr/>
          <p:nvPr/>
        </p:nvSpPr>
        <p:spPr>
          <a:xfrm>
            <a:off x="720203" y="3378093"/>
            <a:ext cx="4286920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按要求参加区域销售周例会,汇报项目进展,反馈问题,提出资源协调需求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5448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5448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2630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259761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7060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关键节点跟进与提醒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9778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42697" y="2606447"/>
            <a:ext cx="317232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对照MO流程看板实时跟踪项目各关键节点完成情况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9778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9" name="Text 27"/>
          <p:cNvSpPr/>
          <p:nvPr/>
        </p:nvSpPr>
        <p:spPr>
          <a:xfrm>
            <a:off x="6542697" y="2863662"/>
            <a:ext cx="462987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包括:立项申请进展、立项启动会进展、标前分析会进展、赢丢单复盘会进展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9778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6542697" y="3120878"/>
            <a:ext cx="325805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对即将到期的动作及时提醒责任人,确保节点按时完成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9778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542697" y="3378093"/>
            <a:ext cx="474990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若项目出现节点延误,及时分析原因,制定补救措施,同时向区域经理/系统总汇报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2954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54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135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437266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4565" y="4098295"/>
            <a:ext cx="152614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跨部门/跨区域协同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7283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720203" y="4526987"/>
            <a:ext cx="5238616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针对项目推进中的跨部门(售前、售后、法务、供应链)、跨区域资源需求,主动作为,牵头协调对接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7283" y="500712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720203" y="497282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明确各方职责与时间节点,确保资源及时到位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283" y="526433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20203" y="5230042"/>
            <a:ext cx="356671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建立高效的协同沟通机制,减少沟通成本,提升问题解决效率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5448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5448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2630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Text 46"/>
          <p:cNvSpPr/>
          <p:nvPr/>
        </p:nvSpPr>
        <p:spPr>
          <a:xfrm>
            <a:off x="6259761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7060" y="4098295"/>
            <a:ext cx="197198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配合流程考核与看板监控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9778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1" name="Text 49"/>
          <p:cNvSpPr/>
          <p:nvPr/>
        </p:nvSpPr>
        <p:spPr>
          <a:xfrm>
            <a:off x="6542697" y="452698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协同销管BP完成项目各环节数据统计与看板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9778" y="481849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3" name="Text 51"/>
          <p:cNvSpPr/>
          <p:nvPr/>
        </p:nvSpPr>
        <p:spPr>
          <a:xfrm>
            <a:off x="6542697" y="4784203"/>
            <a:ext cx="334379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确保数据真实、准确,支撑MO流程的可视化监控与考核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9778" y="507571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5" name="Text 53"/>
          <p:cNvSpPr/>
          <p:nvPr/>
        </p:nvSpPr>
        <p:spPr>
          <a:xfrm>
            <a:off x="6542697" y="5041418"/>
            <a:ext cx="252070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针对MO流程考核中发现的问题,及时整改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9778" y="533292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Text 55"/>
          <p:cNvSpPr/>
          <p:nvPr/>
        </p:nvSpPr>
        <p:spPr>
          <a:xfrm>
            <a:off x="6542697" y="5298633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不断提升自身项目管理能力与流程执行规范性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0101" y="5761620"/>
            <a:ext cx="11488945" cy="411544"/>
          </a:xfrm>
          <a:custGeom>
            <a:avLst/>
            <a:gdLst/>
            <a:ahLst/>
            <a:cxnLst/>
            <a:rect l="l" t="t" r="r" b="b"/>
            <a:pathLst>
              <a:path w="11488945" h="411544">
                <a:moveTo>
                  <a:pt x="34295" y="0"/>
                </a:moveTo>
                <a:lnTo>
                  <a:pt x="11386059" y="0"/>
                </a:lnTo>
                <a:cubicBezTo>
                  <a:pt x="11442881" y="0"/>
                  <a:pt x="11488945" y="46064"/>
                  <a:pt x="11488945" y="102886"/>
                </a:cubicBezTo>
                <a:lnTo>
                  <a:pt x="11488945" y="308658"/>
                </a:lnTo>
                <a:cubicBezTo>
                  <a:pt x="11488945" y="365481"/>
                  <a:pt x="11442881" y="411544"/>
                  <a:pt x="11386059" y="411544"/>
                </a:cubicBez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60101" y="5761620"/>
            <a:ext cx="34295" cy="411544"/>
          </a:xfrm>
          <a:custGeom>
            <a:avLst/>
            <a:gdLst/>
            <a:ahLst/>
            <a:cxnLst/>
            <a:rect l="l" t="t" r="r" b="b"/>
            <a:pathLst>
              <a:path w="34295" h="411544">
                <a:moveTo>
                  <a:pt x="34295" y="0"/>
                </a:moveTo>
                <a:lnTo>
                  <a:pt x="34295" y="0"/>
                </a:lnTo>
                <a:lnTo>
                  <a:pt x="34295" y="411544"/>
                </a:ln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0" name="Shape 58"/>
          <p:cNvSpPr/>
          <p:nvPr/>
        </p:nvSpPr>
        <p:spPr>
          <a:xfrm>
            <a:off x="490852" y="5881654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103656" y="-6330"/>
                </a:moveTo>
                <a:cubicBezTo>
                  <a:pt x="102283" y="-9009"/>
                  <a:pt x="99503" y="-10717"/>
                  <a:pt x="96489" y="-10717"/>
                </a:cubicBezTo>
                <a:cubicBezTo>
                  <a:pt x="93475" y="-10717"/>
                  <a:pt x="90695" y="-9009"/>
                  <a:pt x="89322" y="-6330"/>
                </a:cubicBezTo>
                <a:lnTo>
                  <a:pt x="64672" y="41965"/>
                </a:lnTo>
                <a:lnTo>
                  <a:pt x="11119" y="50472"/>
                </a:lnTo>
                <a:cubicBezTo>
                  <a:pt x="8138" y="50941"/>
                  <a:pt x="5660" y="53051"/>
                  <a:pt x="4722" y="55931"/>
                </a:cubicBezTo>
                <a:cubicBezTo>
                  <a:pt x="3785" y="58811"/>
                  <a:pt x="4555" y="61959"/>
                  <a:pt x="6665" y="64103"/>
                </a:cubicBezTo>
                <a:lnTo>
                  <a:pt x="44979" y="102451"/>
                </a:lnTo>
                <a:lnTo>
                  <a:pt x="36539" y="156004"/>
                </a:lnTo>
                <a:cubicBezTo>
                  <a:pt x="36070" y="158984"/>
                  <a:pt x="37310" y="161999"/>
                  <a:pt x="39754" y="163774"/>
                </a:cubicBezTo>
                <a:cubicBezTo>
                  <a:pt x="42199" y="165549"/>
                  <a:pt x="45415" y="165817"/>
                  <a:pt x="48127" y="164444"/>
                </a:cubicBezTo>
                <a:lnTo>
                  <a:pt x="96489" y="139861"/>
                </a:lnTo>
                <a:lnTo>
                  <a:pt x="144818" y="164444"/>
                </a:lnTo>
                <a:cubicBezTo>
                  <a:pt x="147497" y="165817"/>
                  <a:pt x="150746" y="165549"/>
                  <a:pt x="153190" y="163774"/>
                </a:cubicBezTo>
                <a:cubicBezTo>
                  <a:pt x="155635" y="161999"/>
                  <a:pt x="156874" y="159018"/>
                  <a:pt x="156406" y="156004"/>
                </a:cubicBezTo>
                <a:lnTo>
                  <a:pt x="147932" y="102451"/>
                </a:lnTo>
                <a:lnTo>
                  <a:pt x="186247" y="64103"/>
                </a:lnTo>
                <a:cubicBezTo>
                  <a:pt x="188390" y="61959"/>
                  <a:pt x="189127" y="58811"/>
                  <a:pt x="188189" y="55931"/>
                </a:cubicBezTo>
                <a:cubicBezTo>
                  <a:pt x="187251" y="53051"/>
                  <a:pt x="184806" y="50941"/>
                  <a:pt x="181792" y="50472"/>
                </a:cubicBezTo>
                <a:lnTo>
                  <a:pt x="128273" y="41965"/>
                </a:lnTo>
                <a:lnTo>
                  <a:pt x="103656" y="-6330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1" name="Text 59"/>
          <p:cNvSpPr/>
          <p:nvPr/>
        </p:nvSpPr>
        <p:spPr>
          <a:xfrm>
            <a:off x="797367" y="5864506"/>
            <a:ext cx="885677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核心要点:</a:t>
            </a: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日常管理工作是确保项目顺利推进的基础保障,项目经理需保持高度的责任心和主动性,确保信息同步及时、节点跟进到位、协同高效顺畅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 &amp; STANDARDS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考核标准与核心要求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01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730375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375" y="1730375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500" y="1825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16719" y="1825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750" y="1825625"/>
            <a:ext cx="438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50" y="2047875"/>
            <a:ext cx="438150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全面掌握MO商机管理流程及各子流程的全部要求,包括时间节点、执行标准、留痕规范等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2359422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375" y="2359422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500" y="24546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16719" y="245467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3750" y="2454672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主动作为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750" y="2676922"/>
            <a:ext cx="500062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以第一责任人的姿态主动推进项目工作,不推诿、不拖延,针对项目问题主动识别、主动协调、主动解决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375" y="298846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375" y="298846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" y="308371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16719" y="308371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3750" y="308371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3750" y="330596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具备良好的客户关系维护能力、策略制定能力、统筹协调能力、风险管控能力,能够带领项目组高效完成项目目标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75" y="3770313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375" y="3770313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4500" y="3865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16719" y="386556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3750" y="3865563"/>
            <a:ext cx="423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3750" y="4087812"/>
            <a:ext cx="422275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善于调动项目组成员积极性,建立良好的团队协作氛围,确保项目组高效协同、目标一致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375" y="439935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375" y="439935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444500" y="44946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16719" y="449460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3750" y="449460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3750" y="471685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严格遵守MO流程留痕要求,所有项目工作动作、决策、会议结论均需在CRM及飞书中完整留痕,做到过程可溯、结果可查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Shape 37"/>
          <p:cNvSpPr/>
          <p:nvPr/>
        </p:nvSpPr>
        <p:spPr>
          <a:xfrm>
            <a:off x="6326188" y="130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35750" y="128587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五项核心考核标准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730375"/>
            <a:ext cx="5699125" cy="3897313"/>
          </a:xfrm>
          <a:custGeom>
            <a:avLst/>
            <a:gdLst/>
            <a:ahLst/>
            <a:cxnLst/>
            <a:rect l="l" t="t" r="r" b="b"/>
            <a:pathLst>
              <a:path w="5699125" h="3897313">
                <a:moveTo>
                  <a:pt x="95250" y="0"/>
                </a:moveTo>
                <a:lnTo>
                  <a:pt x="5603875" y="0"/>
                </a:lnTo>
                <a:cubicBezTo>
                  <a:pt x="5656480" y="0"/>
                  <a:pt x="5699125" y="42645"/>
                  <a:pt x="5699125" y="95250"/>
                </a:cubicBezTo>
                <a:lnTo>
                  <a:pt x="5699125" y="3802062"/>
                </a:lnTo>
                <a:cubicBezTo>
                  <a:pt x="5699125" y="3854667"/>
                  <a:pt x="5656480" y="3897313"/>
                  <a:pt x="5603875" y="3897312"/>
                </a:cubicBezTo>
                <a:lnTo>
                  <a:pt x="95250" y="3897313"/>
                </a:lnTo>
                <a:cubicBezTo>
                  <a:pt x="42645" y="3897312"/>
                  <a:pt x="0" y="3854667"/>
                  <a:pt x="0" y="380206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2375" y="1857375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 err="1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项目经理的履职情况纳入MO</a:t>
            </a:r>
            <a:r>
              <a:rPr lang="en-US" sz="875" dirty="0" err="1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流程考核体系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，逐步与</a:t>
            </a:r>
            <a:r>
              <a:rPr lang="en-US" altLang="zh-CN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QBC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挂钩。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8250" y="2111375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18250" y="211137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5250" y="2238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6" name="Text 44"/>
          <p:cNvSpPr/>
          <p:nvPr/>
        </p:nvSpPr>
        <p:spPr>
          <a:xfrm>
            <a:off x="6651625" y="22066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流程节点及时性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9375" y="2428875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5" dirty="0" err="1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立项启动会、标前评审会、</a:t>
            </a:r>
            <a:r>
              <a:rPr lang="en-US" sz="875" dirty="0" err="1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赢丢单复盘会等关键节点是否按时间要求完成</a:t>
            </a:r>
            <a:r>
              <a:rPr lang="zh-CN" alt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每未执行 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1 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周关键任务，会进行看板呈现及问题复盘联合分析（后续逐步应用于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QBC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）</a:t>
            </a:r>
            <a:endParaRPr lang="zh-CN" altLang="en-US" sz="900" b="1" dirty="0">
              <a:solidFill>
                <a:srgbClr val="FF0000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18250" y="289321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18250" y="289321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5250" y="29568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651625" y="2943204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流程执行完整性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9375" y="3228825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解决方案评审率、标前评审执行率、赢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丢单复盘率是否达到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流程目标（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年目标为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，上半年目标为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8250" y="3522266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18250" y="3522266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461125" y="364926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6651625" y="3617516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项目留痕规范性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29375" y="3839766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CRM及飞书项目文档中的项目信息、会议结论、流程结果等是否完整、准确留痕,未按要求留痕的按相关规则考核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250" y="430410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318250" y="430410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5250" y="436773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1" name="Text 59"/>
          <p:cNvSpPr/>
          <p:nvPr/>
        </p:nvSpPr>
        <p:spPr>
          <a:xfrm>
            <a:off x="6651625" y="431788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项目结果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29375" y="4621609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880" dirty="0" smtClean="0"/>
              <a:t>项目最终赢单率、合同签订质量、项目交付风险管控情况等，作为项目经理履职的核心结果考核依据，执行及结果</a:t>
            </a:r>
            <a:r>
              <a:rPr lang="en-US" altLang="zh-CN" sz="880" dirty="0" smtClean="0"/>
              <a:t>TOP10</a:t>
            </a:r>
            <a:r>
              <a:rPr lang="zh-CN" altLang="en-US" sz="880" dirty="0" smtClean="0"/>
              <a:t>各级项目经理，会给与现金、荣誉及</a:t>
            </a:r>
            <a:r>
              <a:rPr lang="en-US" altLang="zh-CN" sz="880" dirty="0" smtClean="0"/>
              <a:t>QBC</a:t>
            </a:r>
            <a:r>
              <a:rPr lang="zh-CN" altLang="en-US" sz="880" dirty="0" smtClean="0"/>
              <a:t>加分奖励。</a:t>
            </a:r>
            <a:endParaRPr lang="zh-CN" alt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318250" y="4933156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18250" y="4933156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5" name="Shape 63"/>
          <p:cNvSpPr/>
          <p:nvPr/>
        </p:nvSpPr>
        <p:spPr>
          <a:xfrm>
            <a:off x="6437313" y="506015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6" name="Text 64"/>
          <p:cNvSpPr/>
          <p:nvPr/>
        </p:nvSpPr>
        <p:spPr>
          <a:xfrm>
            <a:off x="6651625" y="5028406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协同配合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29375" y="5250656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配合销管BP、区域经理完成流程看板填报、数据统计、例会汇报等工作的及时性与准确性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17500" y="5752703"/>
            <a:ext cx="11557000" cy="381000"/>
          </a:xfrm>
          <a:custGeom>
            <a:avLst/>
            <a:gdLst/>
            <a:ahLst/>
            <a:cxnLst/>
            <a:rect l="l" t="t" r="r" b="b"/>
            <a:pathLst>
              <a:path w="11557000" h="38100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285750"/>
                </a:lnTo>
                <a:cubicBezTo>
                  <a:pt x="11557000" y="338320"/>
                  <a:pt x="11514320" y="381000"/>
                  <a:pt x="11461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9" name="Shape 67"/>
          <p:cNvSpPr/>
          <p:nvPr/>
        </p:nvSpPr>
        <p:spPr>
          <a:xfrm>
            <a:off x="432594" y="58638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706438" y="5847953"/>
            <a:ext cx="642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重要提示: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项目经理需严格按照基本要求和考核标准履行职责,未按流程执行导致项目问题的,将按相关考核规则追责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wproject.com/56b2afb5449d4b40c2aa2c600972bf9ca3642abb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7811" b="7811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26"/>
          </a:xfrm>
          <a:custGeom>
            <a:avLst/>
            <a:gdLst/>
            <a:ahLst/>
            <a:cxnLst/>
            <a:rect l="l" t="t" r="r" b="b"/>
            <a:pathLst>
              <a:path w="12192000" h="6855626">
                <a:moveTo>
                  <a:pt x="0" y="0"/>
                </a:moveTo>
                <a:lnTo>
                  <a:pt x="12192000" y="0"/>
                </a:lnTo>
                <a:lnTo>
                  <a:pt x="12192000" y="6855626"/>
                </a:lnTo>
                <a:lnTo>
                  <a:pt x="0" y="68556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5000"/>
                </a:srgbClr>
              </a:gs>
              <a:gs pos="50000">
                <a:srgbClr val="0052CC">
                  <a:alpha val="85000"/>
                </a:srgbClr>
              </a:gs>
              <a:gs pos="100000">
                <a:srgbClr val="00B8D9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09004" y="-13056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569720" h="569720">
                <a:moveTo>
                  <a:pt x="142430" y="356075"/>
                </a:moveTo>
                <a:lnTo>
                  <a:pt x="27262" y="356075"/>
                </a:lnTo>
                <a:cubicBezTo>
                  <a:pt x="-445" y="356075"/>
                  <a:pt x="-17470" y="325920"/>
                  <a:pt x="-3227" y="302107"/>
                </a:cubicBezTo>
                <a:lnTo>
                  <a:pt x="55637" y="203964"/>
                </a:lnTo>
                <a:cubicBezTo>
                  <a:pt x="65317" y="187829"/>
                  <a:pt x="82676" y="178037"/>
                  <a:pt x="101481" y="178037"/>
                </a:cubicBezTo>
                <a:lnTo>
                  <a:pt x="207191" y="178037"/>
                </a:lnTo>
                <a:cubicBezTo>
                  <a:pt x="291870" y="34606"/>
                  <a:pt x="418165" y="27373"/>
                  <a:pt x="502622" y="39725"/>
                </a:cubicBezTo>
                <a:cubicBezTo>
                  <a:pt x="516865" y="41839"/>
                  <a:pt x="527992" y="52966"/>
                  <a:pt x="529995" y="67098"/>
                </a:cubicBezTo>
                <a:cubicBezTo>
                  <a:pt x="542346" y="151554"/>
                  <a:pt x="535114" y="277850"/>
                  <a:pt x="391682" y="362529"/>
                </a:cubicBezTo>
                <a:lnTo>
                  <a:pt x="391682" y="468238"/>
                </a:lnTo>
                <a:cubicBezTo>
                  <a:pt x="391682" y="487044"/>
                  <a:pt x="381890" y="504402"/>
                  <a:pt x="365756" y="514083"/>
                </a:cubicBezTo>
                <a:lnTo>
                  <a:pt x="267612" y="572947"/>
                </a:lnTo>
                <a:cubicBezTo>
                  <a:pt x="243911" y="587190"/>
                  <a:pt x="213645" y="570053"/>
                  <a:pt x="213645" y="542458"/>
                </a:cubicBezTo>
                <a:lnTo>
                  <a:pt x="213645" y="427290"/>
                </a:lnTo>
                <a:cubicBezTo>
                  <a:pt x="213645" y="388010"/>
                  <a:pt x="181709" y="356075"/>
                  <a:pt x="142430" y="356075"/>
                </a:cubicBezTo>
                <a:lnTo>
                  <a:pt x="142319" y="356075"/>
                </a:lnTo>
                <a:close/>
                <a:moveTo>
                  <a:pt x="445093" y="178037"/>
                </a:moveTo>
                <a:cubicBezTo>
                  <a:pt x="445093" y="148559"/>
                  <a:pt x="421161" y="124626"/>
                  <a:pt x="391682" y="124626"/>
                </a:cubicBezTo>
                <a:cubicBezTo>
                  <a:pt x="362204" y="124626"/>
                  <a:pt x="338271" y="148559"/>
                  <a:pt x="338271" y="178037"/>
                </a:cubicBezTo>
                <a:cubicBezTo>
                  <a:pt x="338271" y="207516"/>
                  <a:pt x="362204" y="231449"/>
                  <a:pt x="391682" y="231449"/>
                </a:cubicBezTo>
                <a:cubicBezTo>
                  <a:pt x="421161" y="231449"/>
                  <a:pt x="445093" y="207516"/>
                  <a:pt x="445093" y="178037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4612592" y="708589"/>
            <a:ext cx="2962542" cy="113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以结果为核心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163" y="1999953"/>
            <a:ext cx="1215402" cy="56972"/>
          </a:xfrm>
          <a:custGeom>
            <a:avLst/>
            <a:gdLst/>
            <a:ahLst/>
            <a:cxnLst/>
            <a:rect l="l" t="t" r="r" b="b"/>
            <a:pathLst>
              <a:path w="1215402" h="56972">
                <a:moveTo>
                  <a:pt x="0" y="0"/>
                </a:moveTo>
                <a:lnTo>
                  <a:pt x="1215402" y="0"/>
                </a:lnTo>
                <a:lnTo>
                  <a:pt x="1215402" y="56972"/>
                </a:lnTo>
                <a:lnTo>
                  <a:pt x="0" y="56972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Shape 4"/>
          <p:cNvSpPr/>
          <p:nvPr/>
        </p:nvSpPr>
        <p:spPr>
          <a:xfrm>
            <a:off x="1839957" y="2512701"/>
            <a:ext cx="8507813" cy="2060486"/>
          </a:xfrm>
          <a:custGeom>
            <a:avLst/>
            <a:gdLst/>
            <a:ahLst/>
            <a:cxnLst/>
            <a:rect l="l" t="t" r="r" b="b"/>
            <a:pathLst>
              <a:path w="8507813" h="2060486">
                <a:moveTo>
                  <a:pt x="151920" y="0"/>
                </a:moveTo>
                <a:lnTo>
                  <a:pt x="8355893" y="0"/>
                </a:lnTo>
                <a:cubicBezTo>
                  <a:pt x="8439796" y="0"/>
                  <a:pt x="8507813" y="68017"/>
                  <a:pt x="8507813" y="151920"/>
                </a:cubicBezTo>
                <a:lnTo>
                  <a:pt x="8507813" y="1908566"/>
                </a:lnTo>
                <a:cubicBezTo>
                  <a:pt x="8507813" y="1992469"/>
                  <a:pt x="8439796" y="2060486"/>
                  <a:pt x="8355893" y="2060486"/>
                </a:cubicBezTo>
                <a:lnTo>
                  <a:pt x="151920" y="2060486"/>
                </a:lnTo>
                <a:cubicBezTo>
                  <a:pt x="68073" y="2060486"/>
                  <a:pt x="0" y="1992413"/>
                  <a:pt x="0" y="1908566"/>
                </a:cubicBezTo>
                <a:lnTo>
                  <a:pt x="0" y="151920"/>
                </a:lnTo>
                <a:cubicBezTo>
                  <a:pt x="0" y="68073"/>
                  <a:pt x="68073" y="0"/>
                  <a:pt x="1519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20368" y="2740589"/>
            <a:ext cx="8146991" cy="61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立项项目经理是MO商机管理流程落地的</a:t>
            </a:r>
            <a:r>
              <a:rPr lang="en-US" sz="1495" b="1" dirty="0">
                <a:solidFill>
                  <a:srgbClr val="FFFFFF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核心关键角色 </a:t>
            </a: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,其履职能力与工作成效直接决定了重点项目的推进效率与赢单概率。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25116" y="3509710"/>
            <a:ext cx="8137495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作为项目第一责任人,所有项目经理需严格遵循本材料明确的核心职责与履职要求,将MO流程要求贯穿项目全生命周期,以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流程为准则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目标为导向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协同为支撑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结果为核心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,扎实做好项目统筹、推进、管控工作,确保项目各关键环节落地见效。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9957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041828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142430" y="84568"/>
                </a:moveTo>
                <a:cubicBezTo>
                  <a:pt x="169452" y="84568"/>
                  <a:pt x="191390" y="62629"/>
                  <a:pt x="191390" y="35607"/>
                </a:cubicBezTo>
                <a:cubicBezTo>
                  <a:pt x="191390" y="8586"/>
                  <a:pt x="169452" y="-13353"/>
                  <a:pt x="142430" y="-13353"/>
                </a:cubicBezTo>
                <a:cubicBezTo>
                  <a:pt x="115408" y="-13353"/>
                  <a:pt x="93470" y="8586"/>
                  <a:pt x="93470" y="35607"/>
                </a:cubicBezTo>
                <a:cubicBezTo>
                  <a:pt x="93470" y="62629"/>
                  <a:pt x="115408" y="84568"/>
                  <a:pt x="142430" y="84568"/>
                </a:cubicBezTo>
                <a:close/>
                <a:moveTo>
                  <a:pt x="142430" y="250755"/>
                </a:moveTo>
                <a:lnTo>
                  <a:pt x="142430" y="167689"/>
                </a:lnTo>
                <a:cubicBezTo>
                  <a:pt x="151499" y="163906"/>
                  <a:pt x="160734" y="160067"/>
                  <a:pt x="170081" y="156172"/>
                </a:cubicBezTo>
                <a:cubicBezTo>
                  <a:pt x="191780" y="147159"/>
                  <a:pt x="215036" y="142486"/>
                  <a:pt x="238570" y="142486"/>
                </a:cubicBezTo>
                <a:lnTo>
                  <a:pt x="249252" y="142486"/>
                </a:lnTo>
                <a:lnTo>
                  <a:pt x="249252" y="231504"/>
                </a:lnTo>
                <a:lnTo>
                  <a:pt x="238570" y="231504"/>
                </a:lnTo>
                <a:cubicBezTo>
                  <a:pt x="205689" y="231504"/>
                  <a:pt x="173086" y="238014"/>
                  <a:pt x="142708" y="250699"/>
                </a:cubicBezTo>
                <a:lnTo>
                  <a:pt x="142430" y="250810"/>
                </a:lnTo>
                <a:close/>
                <a:moveTo>
                  <a:pt x="142430" y="129077"/>
                </a:moveTo>
                <a:lnTo>
                  <a:pt x="128465" y="123235"/>
                </a:lnTo>
                <a:cubicBezTo>
                  <a:pt x="102427" y="112386"/>
                  <a:pt x="74498" y="106822"/>
                  <a:pt x="46290" y="106822"/>
                </a:cubicBezTo>
                <a:lnTo>
                  <a:pt x="26706" y="106822"/>
                </a:lnTo>
                <a:cubicBezTo>
                  <a:pt x="11962" y="106822"/>
                  <a:pt x="0" y="118784"/>
                  <a:pt x="0" y="133528"/>
                </a:cubicBezTo>
                <a:lnTo>
                  <a:pt x="0" y="240350"/>
                </a:lnTo>
                <a:cubicBezTo>
                  <a:pt x="0" y="255094"/>
                  <a:pt x="11962" y="267056"/>
                  <a:pt x="26706" y="267056"/>
                </a:cubicBezTo>
                <a:lnTo>
                  <a:pt x="46290" y="267056"/>
                </a:lnTo>
                <a:cubicBezTo>
                  <a:pt x="74498" y="267056"/>
                  <a:pt x="102427" y="272620"/>
                  <a:pt x="128465" y="283469"/>
                </a:cubicBezTo>
                <a:lnTo>
                  <a:pt x="135587" y="286418"/>
                </a:lnTo>
                <a:cubicBezTo>
                  <a:pt x="139982" y="288254"/>
                  <a:pt x="144878" y="288254"/>
                  <a:pt x="149273" y="286418"/>
                </a:cubicBezTo>
                <a:lnTo>
                  <a:pt x="156395" y="283469"/>
                </a:lnTo>
                <a:cubicBezTo>
                  <a:pt x="182433" y="272620"/>
                  <a:pt x="210362" y="267056"/>
                  <a:pt x="238570" y="267056"/>
                </a:cubicBezTo>
                <a:lnTo>
                  <a:pt x="258154" y="267056"/>
                </a:lnTo>
                <a:cubicBezTo>
                  <a:pt x="272898" y="267056"/>
                  <a:pt x="284860" y="255094"/>
                  <a:pt x="284860" y="240350"/>
                </a:cubicBezTo>
                <a:lnTo>
                  <a:pt x="284860" y="133528"/>
                </a:lnTo>
                <a:cubicBezTo>
                  <a:pt x="284860" y="118784"/>
                  <a:pt x="272898" y="106822"/>
                  <a:pt x="258154" y="106822"/>
                </a:cubicBezTo>
                <a:lnTo>
                  <a:pt x="238570" y="106822"/>
                </a:lnTo>
                <a:cubicBezTo>
                  <a:pt x="210362" y="106822"/>
                  <a:pt x="182433" y="112386"/>
                  <a:pt x="156395" y="123235"/>
                </a:cubicBezTo>
                <a:lnTo>
                  <a:pt x="142430" y="129077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1949153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5864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不断学习MO流程细则、项目管理技巧、行业知识及竞品信息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1818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53689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35607" y="35607"/>
                </a:moveTo>
                <a:cubicBezTo>
                  <a:pt x="35607" y="25760"/>
                  <a:pt x="27651" y="17804"/>
                  <a:pt x="17804" y="17804"/>
                </a:cubicBezTo>
                <a:cubicBezTo>
                  <a:pt x="7956" y="17804"/>
                  <a:pt x="0" y="25760"/>
                  <a:pt x="0" y="35607"/>
                </a:cubicBezTo>
                <a:lnTo>
                  <a:pt x="0" y="222547"/>
                </a:lnTo>
                <a:cubicBezTo>
                  <a:pt x="0" y="247138"/>
                  <a:pt x="19918" y="267056"/>
                  <a:pt x="44509" y="267056"/>
                </a:cubicBezTo>
                <a:lnTo>
                  <a:pt x="267056" y="267056"/>
                </a:lnTo>
                <a:cubicBezTo>
                  <a:pt x="276904" y="267056"/>
                  <a:pt x="284860" y="259100"/>
                  <a:pt x="284860" y="249252"/>
                </a:cubicBezTo>
                <a:cubicBezTo>
                  <a:pt x="284860" y="239405"/>
                  <a:pt x="276904" y="231449"/>
                  <a:pt x="267056" y="231449"/>
                </a:cubicBezTo>
                <a:lnTo>
                  <a:pt x="44509" y="231449"/>
                </a:lnTo>
                <a:cubicBezTo>
                  <a:pt x="39613" y="231449"/>
                  <a:pt x="35607" y="227443"/>
                  <a:pt x="35607" y="222547"/>
                </a:cubicBezTo>
                <a:lnTo>
                  <a:pt x="35607" y="35607"/>
                </a:lnTo>
                <a:close/>
                <a:moveTo>
                  <a:pt x="261826" y="83789"/>
                </a:moveTo>
                <a:cubicBezTo>
                  <a:pt x="268781" y="76834"/>
                  <a:pt x="268781" y="65540"/>
                  <a:pt x="261826" y="58585"/>
                </a:cubicBezTo>
                <a:cubicBezTo>
                  <a:pt x="254872" y="51631"/>
                  <a:pt x="243577" y="51631"/>
                  <a:pt x="236623" y="58585"/>
                </a:cubicBezTo>
                <a:lnTo>
                  <a:pt x="178037" y="117226"/>
                </a:lnTo>
                <a:lnTo>
                  <a:pt x="146102" y="85347"/>
                </a:lnTo>
                <a:cubicBezTo>
                  <a:pt x="139147" y="78392"/>
                  <a:pt x="127853" y="78392"/>
                  <a:pt x="120899" y="85347"/>
                </a:cubicBezTo>
                <a:lnTo>
                  <a:pt x="67487" y="138758"/>
                </a:lnTo>
                <a:cubicBezTo>
                  <a:pt x="60533" y="145712"/>
                  <a:pt x="60533" y="157007"/>
                  <a:pt x="67487" y="163961"/>
                </a:cubicBezTo>
                <a:cubicBezTo>
                  <a:pt x="74442" y="170916"/>
                  <a:pt x="85736" y="170916"/>
                  <a:pt x="92691" y="163961"/>
                </a:cubicBezTo>
                <a:lnTo>
                  <a:pt x="133528" y="123124"/>
                </a:lnTo>
                <a:lnTo>
                  <a:pt x="165463" y="155059"/>
                </a:lnTo>
                <a:cubicBezTo>
                  <a:pt x="172418" y="162014"/>
                  <a:pt x="183712" y="162014"/>
                  <a:pt x="190667" y="155059"/>
                </a:cubicBezTo>
                <a:lnTo>
                  <a:pt x="261882" y="83844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861014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能力提升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7050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提升统筹协调能力、策略制定能力和风险管控能力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63679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830061" y="4950626"/>
            <a:ext cx="356075" cy="284860"/>
          </a:xfrm>
          <a:custGeom>
            <a:avLst/>
            <a:gdLst/>
            <a:ahLst/>
            <a:cxnLst/>
            <a:rect l="l" t="t" r="r" b="b"/>
            <a:pathLst>
              <a:path w="356075" h="284860">
                <a:moveTo>
                  <a:pt x="178037" y="8902"/>
                </a:moveTo>
                <a:cubicBezTo>
                  <a:pt x="209972" y="8902"/>
                  <a:pt x="235900" y="34829"/>
                  <a:pt x="235900" y="66764"/>
                </a:cubicBezTo>
                <a:cubicBezTo>
                  <a:pt x="235900" y="98699"/>
                  <a:pt x="209972" y="124626"/>
                  <a:pt x="178037" y="124626"/>
                </a:cubicBezTo>
                <a:cubicBezTo>
                  <a:pt x="146102" y="124626"/>
                  <a:pt x="120175" y="98699"/>
                  <a:pt x="120175" y="66764"/>
                </a:cubicBezTo>
                <a:cubicBezTo>
                  <a:pt x="120175" y="34829"/>
                  <a:pt x="146102" y="8902"/>
                  <a:pt x="178037" y="8902"/>
                </a:cubicBezTo>
                <a:close/>
                <a:moveTo>
                  <a:pt x="53411" y="48960"/>
                </a:moveTo>
                <a:cubicBezTo>
                  <a:pt x="75520" y="48960"/>
                  <a:pt x="93470" y="66910"/>
                  <a:pt x="93470" y="89019"/>
                </a:cubicBezTo>
                <a:cubicBezTo>
                  <a:pt x="93470" y="111128"/>
                  <a:pt x="75520" y="129077"/>
                  <a:pt x="53411" y="129077"/>
                </a:cubicBezTo>
                <a:cubicBezTo>
                  <a:pt x="31302" y="129077"/>
                  <a:pt x="13353" y="111128"/>
                  <a:pt x="13353" y="89019"/>
                </a:cubicBezTo>
                <a:cubicBezTo>
                  <a:pt x="13353" y="66910"/>
                  <a:pt x="31302" y="48960"/>
                  <a:pt x="53411" y="48960"/>
                </a:cubicBezTo>
                <a:close/>
                <a:moveTo>
                  <a:pt x="0" y="231449"/>
                </a:moveTo>
                <a:cubicBezTo>
                  <a:pt x="0" y="192113"/>
                  <a:pt x="31880" y="160234"/>
                  <a:pt x="71215" y="160234"/>
                </a:cubicBezTo>
                <a:cubicBezTo>
                  <a:pt x="78336" y="160234"/>
                  <a:pt x="85235" y="161291"/>
                  <a:pt x="91745" y="163238"/>
                </a:cubicBezTo>
                <a:cubicBezTo>
                  <a:pt x="73440" y="183712"/>
                  <a:pt x="62313" y="210752"/>
                  <a:pt x="62313" y="240350"/>
                </a:cubicBezTo>
                <a:lnTo>
                  <a:pt x="62313" y="249252"/>
                </a:lnTo>
                <a:cubicBezTo>
                  <a:pt x="62313" y="255595"/>
                  <a:pt x="63648" y="261604"/>
                  <a:pt x="66041" y="267056"/>
                </a:cubicBezTo>
                <a:lnTo>
                  <a:pt x="17804" y="267056"/>
                </a:lnTo>
                <a:cubicBezTo>
                  <a:pt x="7956" y="267056"/>
                  <a:pt x="0" y="259100"/>
                  <a:pt x="0" y="249252"/>
                </a:cubicBezTo>
                <a:lnTo>
                  <a:pt x="0" y="231449"/>
                </a:lnTo>
                <a:close/>
                <a:moveTo>
                  <a:pt x="290034" y="267056"/>
                </a:moveTo>
                <a:cubicBezTo>
                  <a:pt x="292426" y="261604"/>
                  <a:pt x="293762" y="255595"/>
                  <a:pt x="293762" y="249252"/>
                </a:cubicBezTo>
                <a:lnTo>
                  <a:pt x="293762" y="240350"/>
                </a:lnTo>
                <a:cubicBezTo>
                  <a:pt x="293762" y="210752"/>
                  <a:pt x="282634" y="183712"/>
                  <a:pt x="264330" y="163238"/>
                </a:cubicBezTo>
                <a:cubicBezTo>
                  <a:pt x="270839" y="161291"/>
                  <a:pt x="277738" y="160234"/>
                  <a:pt x="284860" y="160234"/>
                </a:cubicBezTo>
                <a:cubicBezTo>
                  <a:pt x="324195" y="160234"/>
                  <a:pt x="356075" y="192113"/>
                  <a:pt x="356075" y="231449"/>
                </a:cubicBezTo>
                <a:lnTo>
                  <a:pt x="356075" y="249252"/>
                </a:lnTo>
                <a:cubicBezTo>
                  <a:pt x="356075" y="259100"/>
                  <a:pt x="348119" y="267056"/>
                  <a:pt x="338271" y="267056"/>
                </a:cubicBezTo>
                <a:lnTo>
                  <a:pt x="290034" y="267056"/>
                </a:lnTo>
                <a:close/>
                <a:moveTo>
                  <a:pt x="262605" y="89019"/>
                </a:moveTo>
                <a:cubicBezTo>
                  <a:pt x="262605" y="66910"/>
                  <a:pt x="280555" y="48960"/>
                  <a:pt x="302664" y="48960"/>
                </a:cubicBezTo>
                <a:cubicBezTo>
                  <a:pt x="324772" y="48960"/>
                  <a:pt x="342722" y="66910"/>
                  <a:pt x="342722" y="89019"/>
                </a:cubicBezTo>
                <a:cubicBezTo>
                  <a:pt x="342722" y="111128"/>
                  <a:pt x="324772" y="129077"/>
                  <a:pt x="302664" y="129077"/>
                </a:cubicBezTo>
                <a:cubicBezTo>
                  <a:pt x="280555" y="129077"/>
                  <a:pt x="262605" y="111128"/>
                  <a:pt x="262605" y="89019"/>
                </a:cubicBezTo>
                <a:close/>
                <a:moveTo>
                  <a:pt x="89019" y="240350"/>
                </a:moveTo>
                <a:cubicBezTo>
                  <a:pt x="89019" y="191168"/>
                  <a:pt x="128855" y="151332"/>
                  <a:pt x="178037" y="151332"/>
                </a:cubicBezTo>
                <a:cubicBezTo>
                  <a:pt x="227220" y="151332"/>
                  <a:pt x="267056" y="191168"/>
                  <a:pt x="267056" y="240350"/>
                </a:cubicBezTo>
                <a:lnTo>
                  <a:pt x="267056" y="249252"/>
                </a:lnTo>
                <a:cubicBezTo>
                  <a:pt x="267056" y="259100"/>
                  <a:pt x="259100" y="267056"/>
                  <a:pt x="249252" y="267056"/>
                </a:cubicBezTo>
                <a:lnTo>
                  <a:pt x="106822" y="267056"/>
                </a:lnTo>
                <a:cubicBezTo>
                  <a:pt x="96975" y="267056"/>
                  <a:pt x="89019" y="259100"/>
                  <a:pt x="89019" y="249252"/>
                </a:cubicBezTo>
                <a:lnTo>
                  <a:pt x="89019" y="24035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875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团队成长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82370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推动团队项目管理能力与MO流程执行水平的整体提升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55621" y="6374925"/>
            <a:ext cx="3076486" cy="493757"/>
          </a:xfrm>
          <a:custGeom>
            <a:avLst/>
            <a:gdLst/>
            <a:ahLst/>
            <a:cxnLst/>
            <a:rect l="l" t="t" r="r" b="b"/>
            <a:pathLst>
              <a:path w="3076486" h="493757">
                <a:moveTo>
                  <a:pt x="246879" y="0"/>
                </a:moveTo>
                <a:lnTo>
                  <a:pt x="2829607" y="0"/>
                </a:lnTo>
                <a:cubicBezTo>
                  <a:pt x="2965955" y="0"/>
                  <a:pt x="3076486" y="110531"/>
                  <a:pt x="3076486" y="246879"/>
                </a:cubicBezTo>
                <a:lnTo>
                  <a:pt x="3076486" y="246879"/>
                </a:lnTo>
                <a:cubicBezTo>
                  <a:pt x="3076486" y="383226"/>
                  <a:pt x="2965955" y="493757"/>
                  <a:pt x="2829607" y="493757"/>
                </a:cubicBezTo>
                <a:lnTo>
                  <a:pt x="246879" y="493757"/>
                </a:lnTo>
                <a:cubicBezTo>
                  <a:pt x="110531" y="493757"/>
                  <a:pt x="0" y="383226"/>
                  <a:pt x="0" y="246879"/>
                </a:cubicBezTo>
                <a:lnTo>
                  <a:pt x="0" y="246879"/>
                </a:lnTo>
                <a:cubicBezTo>
                  <a:pt x="0" y="110531"/>
                  <a:pt x="110531" y="0"/>
                  <a:pt x="24687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4811994" y="6488869"/>
            <a:ext cx="256373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为公司业务增长提供坚实保障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1116</Words>
  <Application>Microsoft Office PowerPoint</Application>
  <PresentationFormat>宽屏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Arial</vt:lpstr>
      <vt:lpstr>MiSans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MO管理商机流程项目经理核心职责</dc:title>
  <dc:subject>EBG MO管理商机流程项目经理核心职责</dc:subject>
  <dc:creator>Kimi</dc:creator>
  <cp:lastModifiedBy>Lenovo</cp:lastModifiedBy>
  <cp:revision>3</cp:revision>
  <dcterms:created xsi:type="dcterms:W3CDTF">2026-03-04T02:23:58Z</dcterms:created>
  <dcterms:modified xsi:type="dcterms:W3CDTF">2026-03-04T02:55:42Z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MO管理商机流程项目经理核心职责","ContentProducer":"001191110108MACG2KBH8F10000","ProduceID":"19cb6a4b-8e92-8d49-8000-00000ef74a05","ReservedCode1":"","ContentPropagator":"001191110108MACG2KBH8F20000","PropagateID":"19cb6a4b-8e92-8d49-8000-00000ef74a05","R</vt:lpwstr>
  </property>
</Properties>
</file>