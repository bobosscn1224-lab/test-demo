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Liter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微软雅黑" panose="020B0503020204020204" pitchFamily="34" charset="-122"/>
      <p:regular r:id="rId20"/>
      <p:bold r:id="rId21"/>
    </p:embeddedFont>
    <p:embeddedFont>
      <p:font typeface="Quattrocento Sans" panose="020B0604020202020204" charset="0"/>
      <p:regular r:id="rId22"/>
    </p:embeddedFont>
    <p:embeddedFont>
      <p:font typeface="MiSans" panose="02010600030101010101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51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332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nalytic-edge.com/277a6788a72afb2a268cfc17b30309cf9c9ce2d8.jpg"/>
          <p:cNvPicPr>
            <a:picLocks noChangeAspect="1"/>
          </p:cNvPicPr>
          <p:nvPr/>
        </p:nvPicPr>
        <p:blipFill>
          <a:blip r:embed="rId3"/>
          <a:srcRect l="8333" r="833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C6A72">
                  <a:alpha val="85000"/>
                </a:srgbClr>
              </a:gs>
              <a:gs pos="50000">
                <a:srgbClr val="4C6A72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67903"/>
            <a:ext cx="1924050" cy="381000"/>
          </a:xfrm>
          <a:custGeom>
            <a:avLst/>
            <a:gdLst/>
            <a:ahLst/>
            <a:cxnLst/>
            <a:rect l="l" t="t" r="r" b="b"/>
            <a:pathLst>
              <a:path w="1924050" h="381000">
                <a:moveTo>
                  <a:pt x="76200" y="0"/>
                </a:moveTo>
                <a:lnTo>
                  <a:pt x="1847850" y="0"/>
                </a:lnTo>
                <a:cubicBezTo>
                  <a:pt x="1889906" y="0"/>
                  <a:pt x="1924050" y="34144"/>
                  <a:pt x="1924050" y="76200"/>
                </a:cubicBezTo>
                <a:lnTo>
                  <a:pt x="1924050" y="304800"/>
                </a:lnTo>
                <a:cubicBezTo>
                  <a:pt x="1924050" y="346856"/>
                  <a:pt x="1889906" y="381000"/>
                  <a:pt x="18478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44103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MODULE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977503"/>
            <a:ext cx="692467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Improve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Forecasting and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711303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5073253"/>
            <a:ext cx="66103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FF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Training on N and T Parameters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994797"/>
            <a:ext cx="2200275" cy="495300"/>
          </a:xfrm>
          <a:custGeom>
            <a:avLst/>
            <a:gdLst/>
            <a:ahLst/>
            <a:cxnLst/>
            <a:rect l="l" t="t" r="r" b="b"/>
            <a:pathLst>
              <a:path w="2200275" h="495300">
                <a:moveTo>
                  <a:pt x="114300" y="0"/>
                </a:moveTo>
                <a:lnTo>
                  <a:pt x="2085975" y="0"/>
                </a:lnTo>
                <a:cubicBezTo>
                  <a:pt x="2149101" y="0"/>
                  <a:pt x="2200275" y="51174"/>
                  <a:pt x="2200275" y="114300"/>
                </a:cubicBezTo>
                <a:lnTo>
                  <a:pt x="2200275" y="381000"/>
                </a:lnTo>
                <a:cubicBezTo>
                  <a:pt x="2200275" y="444126"/>
                  <a:pt x="2149101" y="495300"/>
                  <a:pt x="2085975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52463" y="612814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11" name="Text 8"/>
          <p:cNvSpPr/>
          <p:nvPr/>
        </p:nvSpPr>
        <p:spPr>
          <a:xfrm>
            <a:off x="1009650" y="6109097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November 2025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D9A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24000"/>
            <a:ext cx="5543550" cy="1552575"/>
          </a:xfrm>
          <a:custGeom>
            <a:avLst/>
            <a:gdLst/>
            <a:ahLst/>
            <a:cxnLst/>
            <a:rect l="l" t="t" r="r" b="b"/>
            <a:pathLst>
              <a:path w="5543550" h="1552575">
                <a:moveTo>
                  <a:pt x="38100" y="0"/>
                </a:moveTo>
                <a:lnTo>
                  <a:pt x="5429249" y="0"/>
                </a:lnTo>
                <a:cubicBezTo>
                  <a:pt x="5492376" y="0"/>
                  <a:pt x="5543550" y="51174"/>
                  <a:pt x="5543550" y="114301"/>
                </a:cubicBezTo>
                <a:lnTo>
                  <a:pt x="5543550" y="1438274"/>
                </a:lnTo>
                <a:cubicBezTo>
                  <a:pt x="5543550" y="1501401"/>
                  <a:pt x="5492376" y="1552575"/>
                  <a:pt x="5429249" y="1552575"/>
                </a:cubicBez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524000"/>
            <a:ext cx="38100" cy="1552575"/>
          </a:xfrm>
          <a:custGeom>
            <a:avLst/>
            <a:gdLst/>
            <a:ahLst/>
            <a:cxnLst/>
            <a:rect l="l" t="t" r="r" b="b"/>
            <a:pathLst>
              <a:path w="38100" h="1552575">
                <a:moveTo>
                  <a:pt x="38100" y="0"/>
                </a:moveTo>
                <a:lnTo>
                  <a:pt x="38100" y="0"/>
                </a:lnTo>
                <a:lnTo>
                  <a:pt x="38100" y="1552575"/>
                </a:ln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8" name="Text 6"/>
          <p:cNvSpPr/>
          <p:nvPr/>
        </p:nvSpPr>
        <p:spPr>
          <a:xfrm>
            <a:off x="514350" y="16764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7300" y="1676400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Points Identification &amp; Analysis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57300" y="19812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2E3A41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core challenges in forecasting and delivery processes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7450" y="1524000"/>
            <a:ext cx="5543550" cy="1552575"/>
          </a:xfrm>
          <a:custGeom>
            <a:avLst/>
            <a:gdLst/>
            <a:ahLst/>
            <a:cxnLst/>
            <a:rect l="l" t="t" r="r" b="b"/>
            <a:pathLst>
              <a:path w="5543550" h="1552575">
                <a:moveTo>
                  <a:pt x="38100" y="0"/>
                </a:moveTo>
                <a:lnTo>
                  <a:pt x="5429249" y="0"/>
                </a:lnTo>
                <a:cubicBezTo>
                  <a:pt x="5492376" y="0"/>
                  <a:pt x="5543550" y="51174"/>
                  <a:pt x="5543550" y="114301"/>
                </a:cubicBezTo>
                <a:lnTo>
                  <a:pt x="5543550" y="1438274"/>
                </a:lnTo>
                <a:cubicBezTo>
                  <a:pt x="5543550" y="1501401"/>
                  <a:pt x="5492376" y="1552575"/>
                  <a:pt x="5429249" y="1552575"/>
                </a:cubicBez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7450" y="1524000"/>
            <a:ext cx="38100" cy="1552575"/>
          </a:xfrm>
          <a:custGeom>
            <a:avLst/>
            <a:gdLst/>
            <a:ahLst/>
            <a:cxnLst/>
            <a:rect l="l" t="t" r="r" b="b"/>
            <a:pathLst>
              <a:path w="38100" h="1552575">
                <a:moveTo>
                  <a:pt x="38100" y="0"/>
                </a:moveTo>
                <a:lnTo>
                  <a:pt x="38100" y="0"/>
                </a:lnTo>
                <a:lnTo>
                  <a:pt x="38100" y="1552575"/>
                </a:ln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8B8C2"/>
          </a:solidFill>
          <a:ln/>
        </p:spPr>
      </p:sp>
      <p:sp>
        <p:nvSpPr>
          <p:cNvPr id="13" name="Shape 11"/>
          <p:cNvSpPr/>
          <p:nvPr/>
        </p:nvSpPr>
        <p:spPr>
          <a:xfrm>
            <a:off x="6438900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A8B8C2"/>
          </a:solidFill>
          <a:ln/>
        </p:spPr>
      </p:sp>
      <p:sp>
        <p:nvSpPr>
          <p:cNvPr id="14" name="Text 12"/>
          <p:cNvSpPr/>
          <p:nvPr/>
        </p:nvSpPr>
        <p:spPr>
          <a:xfrm>
            <a:off x="6381750" y="16764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24700" y="1676400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Input Accurate N and 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24700" y="1981200"/>
            <a:ext cx="461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2E3A41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Mastering product list accuracy and time parameter management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228975"/>
            <a:ext cx="5543550" cy="1552575"/>
          </a:xfrm>
          <a:custGeom>
            <a:avLst/>
            <a:gdLst/>
            <a:ahLst/>
            <a:cxnLst/>
            <a:rect l="l" t="t" r="r" b="b"/>
            <a:pathLst>
              <a:path w="5543550" h="1552575">
                <a:moveTo>
                  <a:pt x="38100" y="0"/>
                </a:moveTo>
                <a:lnTo>
                  <a:pt x="5429249" y="0"/>
                </a:lnTo>
                <a:cubicBezTo>
                  <a:pt x="5492376" y="0"/>
                  <a:pt x="5543550" y="51174"/>
                  <a:pt x="5543550" y="114301"/>
                </a:cubicBezTo>
                <a:lnTo>
                  <a:pt x="5543550" y="1438274"/>
                </a:lnTo>
                <a:cubicBezTo>
                  <a:pt x="5543550" y="1501401"/>
                  <a:pt x="5492376" y="1552575"/>
                  <a:pt x="5429249" y="1552575"/>
                </a:cubicBez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3228975"/>
            <a:ext cx="38100" cy="1552575"/>
          </a:xfrm>
          <a:custGeom>
            <a:avLst/>
            <a:gdLst/>
            <a:ahLst/>
            <a:cxnLst/>
            <a:rect l="l" t="t" r="r" b="b"/>
            <a:pathLst>
              <a:path w="38100" h="1552575">
                <a:moveTo>
                  <a:pt x="38100" y="0"/>
                </a:moveTo>
                <a:lnTo>
                  <a:pt x="38100" y="0"/>
                </a:lnTo>
                <a:lnTo>
                  <a:pt x="38100" y="1552575"/>
                </a:ln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" y="33813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20" name="Text 18"/>
          <p:cNvSpPr/>
          <p:nvPr/>
        </p:nvSpPr>
        <p:spPr>
          <a:xfrm>
            <a:off x="514350" y="338137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57300" y="3381375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Sales Forecasting Process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57300" y="3686175"/>
            <a:ext cx="461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2E3A41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commitments and delivery planning in forecasting workflows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7450" y="3228975"/>
            <a:ext cx="5543550" cy="1552575"/>
          </a:xfrm>
          <a:custGeom>
            <a:avLst/>
            <a:gdLst/>
            <a:ahLst/>
            <a:cxnLst/>
            <a:rect l="l" t="t" r="r" b="b"/>
            <a:pathLst>
              <a:path w="5543550" h="1552575">
                <a:moveTo>
                  <a:pt x="38100" y="0"/>
                </a:moveTo>
                <a:lnTo>
                  <a:pt x="5429249" y="0"/>
                </a:lnTo>
                <a:cubicBezTo>
                  <a:pt x="5492376" y="0"/>
                  <a:pt x="5543550" y="51174"/>
                  <a:pt x="5543550" y="114301"/>
                </a:cubicBezTo>
                <a:lnTo>
                  <a:pt x="5543550" y="1438274"/>
                </a:lnTo>
                <a:cubicBezTo>
                  <a:pt x="5543550" y="1501401"/>
                  <a:pt x="5492376" y="1552575"/>
                  <a:pt x="5429249" y="1552575"/>
                </a:cubicBez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7450" y="3228975"/>
            <a:ext cx="38100" cy="1552575"/>
          </a:xfrm>
          <a:custGeom>
            <a:avLst/>
            <a:gdLst/>
            <a:ahLst/>
            <a:cxnLst/>
            <a:rect l="l" t="t" r="r" b="b"/>
            <a:pathLst>
              <a:path w="38100" h="1552575">
                <a:moveTo>
                  <a:pt x="38100" y="0"/>
                </a:moveTo>
                <a:lnTo>
                  <a:pt x="38100" y="0"/>
                </a:lnTo>
                <a:lnTo>
                  <a:pt x="38100" y="1552575"/>
                </a:lnTo>
                <a:lnTo>
                  <a:pt x="38100" y="1552575"/>
                </a:lnTo>
                <a:cubicBezTo>
                  <a:pt x="17072" y="1552575"/>
                  <a:pt x="0" y="1535503"/>
                  <a:pt x="0" y="1514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25" name="Shape 23"/>
          <p:cNvSpPr/>
          <p:nvPr/>
        </p:nvSpPr>
        <p:spPr>
          <a:xfrm>
            <a:off x="6438900" y="33813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26" name="Text 24"/>
          <p:cNvSpPr/>
          <p:nvPr/>
        </p:nvSpPr>
        <p:spPr>
          <a:xfrm>
            <a:off x="6381750" y="338137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24700" y="3381375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&amp; Supply Chain Coordination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24700" y="3686175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2E3A41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Collaboration between approved projects, general projects, and supply chain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93700" y="4895850"/>
            <a:ext cx="5549900" cy="1695450"/>
          </a:xfrm>
          <a:custGeom>
            <a:avLst/>
            <a:gdLst/>
            <a:ahLst/>
            <a:cxnLst/>
            <a:rect l="l" t="t" r="r" b="b"/>
            <a:pathLst>
              <a:path w="5549900" h="1695450">
                <a:moveTo>
                  <a:pt x="112505" y="0"/>
                </a:moveTo>
                <a:lnTo>
                  <a:pt x="5437395" y="0"/>
                </a:lnTo>
                <a:cubicBezTo>
                  <a:pt x="5499530" y="0"/>
                  <a:pt x="5549900" y="51177"/>
                  <a:pt x="5549900" y="114307"/>
                </a:cubicBezTo>
                <a:lnTo>
                  <a:pt x="5549900" y="1581143"/>
                </a:lnTo>
                <a:cubicBezTo>
                  <a:pt x="5549900" y="1644273"/>
                  <a:pt x="5499530" y="1695450"/>
                  <a:pt x="5437395" y="1695450"/>
                </a:cubicBezTo>
                <a:lnTo>
                  <a:pt x="112505" y="1695450"/>
                </a:lnTo>
                <a:cubicBezTo>
                  <a:pt x="50370" y="1695450"/>
                  <a:pt x="0" y="1644273"/>
                  <a:pt x="0" y="1581143"/>
                </a:cubicBezTo>
                <a:lnTo>
                  <a:pt x="0" y="114307"/>
                </a:lnTo>
                <a:cubicBezTo>
                  <a:pt x="0" y="51219"/>
                  <a:pt x="50412" y="0"/>
                  <a:pt x="112505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30" name="Shape 28"/>
          <p:cNvSpPr/>
          <p:nvPr/>
        </p:nvSpPr>
        <p:spPr>
          <a:xfrm>
            <a:off x="660400" y="51244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31" name="Text 29"/>
          <p:cNvSpPr/>
          <p:nvPr/>
        </p:nvSpPr>
        <p:spPr>
          <a:xfrm>
            <a:off x="622300" y="5524500"/>
            <a:ext cx="527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Objective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2300" y="5867400"/>
            <a:ext cx="5257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 forecasting accuracy and delivery efficiency through systematic training on N and T parameters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67450" y="4895850"/>
            <a:ext cx="5556250" cy="1695450"/>
          </a:xfrm>
          <a:custGeom>
            <a:avLst/>
            <a:gdLst/>
            <a:ahLst/>
            <a:cxnLst/>
            <a:rect l="l" t="t" r="r" b="b"/>
            <a:pathLst>
              <a:path w="5556250" h="1695450">
                <a:moveTo>
                  <a:pt x="112634" y="0"/>
                </a:moveTo>
                <a:lnTo>
                  <a:pt x="5443616" y="0"/>
                </a:lnTo>
                <a:cubicBezTo>
                  <a:pt x="5505822" y="0"/>
                  <a:pt x="5556250" y="51177"/>
                  <a:pt x="5556250" y="114307"/>
                </a:cubicBezTo>
                <a:lnTo>
                  <a:pt x="5556250" y="1581143"/>
                </a:lnTo>
                <a:cubicBezTo>
                  <a:pt x="5556250" y="1644273"/>
                  <a:pt x="5505822" y="1695450"/>
                  <a:pt x="5443616" y="1695450"/>
                </a:cubicBezTo>
                <a:lnTo>
                  <a:pt x="112634" y="1695450"/>
                </a:lnTo>
                <a:cubicBezTo>
                  <a:pt x="50428" y="1695450"/>
                  <a:pt x="0" y="1644273"/>
                  <a:pt x="0" y="1581143"/>
                </a:cubicBezTo>
                <a:lnTo>
                  <a:pt x="0" y="114307"/>
                </a:lnTo>
                <a:cubicBezTo>
                  <a:pt x="0" y="51219"/>
                  <a:pt x="50470" y="0"/>
                  <a:pt x="112634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34" name="Shape 32"/>
          <p:cNvSpPr/>
          <p:nvPr/>
        </p:nvSpPr>
        <p:spPr>
          <a:xfrm>
            <a:off x="6415881" y="512445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413500" y="5524500"/>
            <a:ext cx="527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Audience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13500" y="5867400"/>
            <a:ext cx="5257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Sales teams, pre-sales engineers, and supply chain professionals involved in forecasting processes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D9A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FOUNDATIONAL CONCEPTS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Core Points for Forecasting &amp; Delivery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51388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6" name="Text 4"/>
          <p:cNvSpPr/>
          <p:nvPr/>
        </p:nvSpPr>
        <p:spPr>
          <a:xfrm>
            <a:off x="309563" y="151388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1100" y="1513880"/>
            <a:ext cx="1074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of N and T Parameters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1100" y="1894761"/>
            <a:ext cx="10715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Accurate N (product list) and T (time parameters) directly impact three critical business functions: </a:t>
            </a:r>
            <a:r>
              <a:rPr lang="en-US" sz="1350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sales forecasting</a:t>
            </a:r>
            <a:r>
              <a:rPr lang="en-US" sz="1350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350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supply chain preparation</a:t>
            </a:r>
            <a:r>
              <a:rPr lang="en-US" sz="1350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r>
              <a:rPr lang="en-US" sz="1350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delivery processes</a:t>
            </a:r>
            <a:r>
              <a:rPr lang="en-US" sz="1350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Inaccurate inputs create cascading failures across the entire fulfillment cycle.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250805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8B8C2"/>
          </a:solidFill>
          <a:ln/>
        </p:spPr>
      </p:sp>
      <p:sp>
        <p:nvSpPr>
          <p:cNvPr id="10" name="Text 8"/>
          <p:cNvSpPr/>
          <p:nvPr/>
        </p:nvSpPr>
        <p:spPr>
          <a:xfrm>
            <a:off x="309563" y="2508052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1100" y="2508052"/>
            <a:ext cx="1074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Beyond Order Commitment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1100" y="2888933"/>
            <a:ext cx="10715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better support backend preparation and delivery, sales forecasting must manage not only </a:t>
            </a:r>
            <a:r>
              <a:rPr lang="en-US" sz="1350" dirty="0">
                <a:solidFill>
                  <a:srgbClr val="4C6A72"/>
                </a:solidFill>
                <a:highlight>
                  <a:srgbClr val="D9A467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commitments </a:t>
            </a:r>
            <a:r>
              <a:rPr lang="en-US" sz="1350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 also </a:t>
            </a:r>
            <a:r>
              <a:rPr lang="en-US" sz="1350" dirty="0">
                <a:solidFill>
                  <a:srgbClr val="4C6A72"/>
                </a:solidFill>
                <a:highlight>
                  <a:srgbClr val="D9A467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delivery timing requirements </a:t>
            </a:r>
            <a:r>
              <a:rPr lang="en-US" sz="1350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Both dimensions are essential for synchronized operations.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350222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14" name="Text 12"/>
          <p:cNvSpPr/>
          <p:nvPr/>
        </p:nvSpPr>
        <p:spPr>
          <a:xfrm>
            <a:off x="309563" y="3502223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1100" y="3502223"/>
            <a:ext cx="1074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Supply Chain Support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1100" y="3883105"/>
            <a:ext cx="10715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Supply chain support for front-end sales projects plays a </a:t>
            </a:r>
            <a:r>
              <a:rPr lang="en-US" sz="1350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crucial role</a:t>
            </a:r>
            <a:r>
              <a:rPr lang="en-US" sz="1350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both preparation and delivery. Early engagement and collaboration ensure that forecasted demands align with operational capabilities and inventory strategies.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449639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18" name="Text 16"/>
          <p:cNvSpPr/>
          <p:nvPr/>
        </p:nvSpPr>
        <p:spPr>
          <a:xfrm>
            <a:off x="309563" y="4496395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1100" y="4496395"/>
            <a:ext cx="1074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Channel Communication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1100" y="4877277"/>
            <a:ext cx="10715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Forecasted order and delivery timing must be </a:t>
            </a:r>
            <a:r>
              <a:rPr lang="en-US" sz="1350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promptly communicated and confirmed</a:t>
            </a:r>
            <a:r>
              <a:rPr lang="en-US" sz="1350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channels. This ensures that front-end commitments remain synchronized with back-end execution, preventing costly mismatches.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5614988"/>
            <a:ext cx="11430000" cy="866775"/>
          </a:xfrm>
          <a:custGeom>
            <a:avLst/>
            <a:gdLst/>
            <a:ahLst/>
            <a:cxnLst/>
            <a:rect l="l" t="t" r="r" b="b"/>
            <a:pathLst>
              <a:path w="11430000" h="866775">
                <a:moveTo>
                  <a:pt x="114302" y="0"/>
                </a:moveTo>
                <a:lnTo>
                  <a:pt x="11315698" y="0"/>
                </a:lnTo>
                <a:cubicBezTo>
                  <a:pt x="11378825" y="0"/>
                  <a:pt x="11430000" y="51175"/>
                  <a:pt x="11430000" y="114302"/>
                </a:cubicBezTo>
                <a:lnTo>
                  <a:pt x="11430000" y="752473"/>
                </a:lnTo>
                <a:cubicBezTo>
                  <a:pt x="11430000" y="815600"/>
                  <a:pt x="11378825" y="866775"/>
                  <a:pt x="11315698" y="866775"/>
                </a:cubicBezTo>
                <a:lnTo>
                  <a:pt x="114302" y="866775"/>
                </a:lnTo>
                <a:cubicBezTo>
                  <a:pt x="51217" y="866775"/>
                  <a:pt x="0" y="815558"/>
                  <a:pt x="0" y="7524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22" name="Shape 20"/>
          <p:cNvSpPr/>
          <p:nvPr/>
        </p:nvSpPr>
        <p:spPr>
          <a:xfrm>
            <a:off x="661988" y="5931694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23" name="Text 21"/>
          <p:cNvSpPr/>
          <p:nvPr/>
        </p:nvSpPr>
        <p:spPr>
          <a:xfrm>
            <a:off x="1042035" y="5767388"/>
            <a:ext cx="106299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four points are interdependent. Success requires coordinated effort across sales, pre-sales, supply chain, and channel partners.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644" y="326644"/>
            <a:ext cx="11595874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kern="0" spc="90" dirty="0">
                <a:solidFill>
                  <a:srgbClr val="D9A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PARAMETER 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6644" y="555295"/>
            <a:ext cx="11734698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86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N: Definition &amp; Key Factors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6644" y="1045262"/>
            <a:ext cx="783946" cy="32664"/>
          </a:xfrm>
          <a:custGeom>
            <a:avLst/>
            <a:gdLst/>
            <a:ahLst/>
            <a:cxnLst/>
            <a:rect l="l" t="t" r="r" b="b"/>
            <a:pathLst>
              <a:path w="783946" h="32664">
                <a:moveTo>
                  <a:pt x="0" y="0"/>
                </a:moveTo>
                <a:lnTo>
                  <a:pt x="783946" y="0"/>
                </a:lnTo>
                <a:lnTo>
                  <a:pt x="783946" y="32664"/>
                </a:lnTo>
                <a:lnTo>
                  <a:pt x="0" y="32664"/>
                </a:lnTo>
                <a:lnTo>
                  <a:pt x="0" y="0"/>
                </a:ln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5" name="Shape 3"/>
          <p:cNvSpPr/>
          <p:nvPr/>
        </p:nvSpPr>
        <p:spPr>
          <a:xfrm>
            <a:off x="326644" y="1224916"/>
            <a:ext cx="5708110" cy="2498829"/>
          </a:xfrm>
          <a:custGeom>
            <a:avLst/>
            <a:gdLst/>
            <a:ahLst/>
            <a:cxnLst/>
            <a:rect l="l" t="t" r="r" b="b"/>
            <a:pathLst>
              <a:path w="5708110" h="2498829">
                <a:moveTo>
                  <a:pt x="32664" y="0"/>
                </a:moveTo>
                <a:lnTo>
                  <a:pt x="5675445" y="0"/>
                </a:lnTo>
                <a:cubicBezTo>
                  <a:pt x="5693485" y="0"/>
                  <a:pt x="5708110" y="14624"/>
                  <a:pt x="5708110" y="32664"/>
                </a:cubicBezTo>
                <a:lnTo>
                  <a:pt x="5708110" y="2400825"/>
                </a:lnTo>
                <a:cubicBezTo>
                  <a:pt x="5708110" y="2454951"/>
                  <a:pt x="5664232" y="2498829"/>
                  <a:pt x="5610106" y="2498829"/>
                </a:cubicBezTo>
                <a:lnTo>
                  <a:pt x="98004" y="2498829"/>
                </a:lnTo>
                <a:cubicBezTo>
                  <a:pt x="43878" y="2498829"/>
                  <a:pt x="0" y="2454951"/>
                  <a:pt x="0" y="2400825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8997" dist="326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6644" y="1224916"/>
            <a:ext cx="5708110" cy="32664"/>
          </a:xfrm>
          <a:custGeom>
            <a:avLst/>
            <a:gdLst/>
            <a:ahLst/>
            <a:cxnLst/>
            <a:rect l="l" t="t" r="r" b="b"/>
            <a:pathLst>
              <a:path w="5708110" h="32664">
                <a:moveTo>
                  <a:pt x="32664" y="0"/>
                </a:moveTo>
                <a:lnTo>
                  <a:pt x="5675445" y="0"/>
                </a:lnTo>
                <a:cubicBezTo>
                  <a:pt x="5693485" y="0"/>
                  <a:pt x="5708110" y="14624"/>
                  <a:pt x="5708110" y="32664"/>
                </a:cubicBezTo>
                <a:lnTo>
                  <a:pt x="5708110" y="32664"/>
                </a:lnTo>
                <a:lnTo>
                  <a:pt x="0" y="32664"/>
                </a:ln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7" name="Shape 5"/>
          <p:cNvSpPr/>
          <p:nvPr/>
        </p:nvSpPr>
        <p:spPr>
          <a:xfrm>
            <a:off x="457302" y="1371906"/>
            <a:ext cx="457302" cy="457302"/>
          </a:xfrm>
          <a:custGeom>
            <a:avLst/>
            <a:gdLst/>
            <a:ahLst/>
            <a:cxnLst/>
            <a:rect l="l" t="t" r="r" b="b"/>
            <a:pathLst>
              <a:path w="457302" h="457302">
                <a:moveTo>
                  <a:pt x="228651" y="0"/>
                </a:moveTo>
                <a:lnTo>
                  <a:pt x="228651" y="0"/>
                </a:lnTo>
                <a:cubicBezTo>
                  <a:pt x="354847" y="0"/>
                  <a:pt x="457302" y="102455"/>
                  <a:pt x="457302" y="228651"/>
                </a:cubicBezTo>
                <a:lnTo>
                  <a:pt x="457302" y="228651"/>
                </a:lnTo>
                <a:cubicBezTo>
                  <a:pt x="457302" y="354847"/>
                  <a:pt x="354847" y="457302"/>
                  <a:pt x="228651" y="457302"/>
                </a:cubicBezTo>
                <a:lnTo>
                  <a:pt x="228651" y="457302"/>
                </a:lnTo>
                <a:cubicBezTo>
                  <a:pt x="102455" y="457302"/>
                  <a:pt x="0" y="354847"/>
                  <a:pt x="0" y="228651"/>
                </a:cubicBezTo>
                <a:lnTo>
                  <a:pt x="0" y="228651"/>
                </a:lnTo>
                <a:cubicBezTo>
                  <a:pt x="0" y="102455"/>
                  <a:pt x="102455" y="0"/>
                  <a:pt x="228651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8" name="Shape 6"/>
          <p:cNvSpPr/>
          <p:nvPr/>
        </p:nvSpPr>
        <p:spPr>
          <a:xfrm>
            <a:off x="600209" y="1502564"/>
            <a:ext cx="171488" cy="195987"/>
          </a:xfrm>
          <a:custGeom>
            <a:avLst/>
            <a:gdLst/>
            <a:ahLst/>
            <a:cxnLst/>
            <a:rect l="l" t="t" r="r" b="b"/>
            <a:pathLst>
              <a:path w="171488" h="195987">
                <a:moveTo>
                  <a:pt x="141401" y="48997"/>
                </a:moveTo>
                <a:lnTo>
                  <a:pt x="128272" y="30623"/>
                </a:lnTo>
                <a:lnTo>
                  <a:pt x="43255" y="30623"/>
                </a:lnTo>
                <a:lnTo>
                  <a:pt x="30125" y="48997"/>
                </a:lnTo>
                <a:lnTo>
                  <a:pt x="141401" y="48997"/>
                </a:lnTo>
                <a:close/>
                <a:moveTo>
                  <a:pt x="0" y="56844"/>
                </a:moveTo>
                <a:cubicBezTo>
                  <a:pt x="0" y="51753"/>
                  <a:pt x="1608" y="46776"/>
                  <a:pt x="4555" y="42604"/>
                </a:cubicBezTo>
                <a:lnTo>
                  <a:pt x="23312" y="16383"/>
                </a:lnTo>
                <a:cubicBezTo>
                  <a:pt x="27905" y="9952"/>
                  <a:pt x="35331" y="6125"/>
                  <a:pt x="43217" y="6125"/>
                </a:cubicBezTo>
                <a:lnTo>
                  <a:pt x="128233" y="6125"/>
                </a:lnTo>
                <a:cubicBezTo>
                  <a:pt x="136157" y="6125"/>
                  <a:pt x="143583" y="9952"/>
                  <a:pt x="148177" y="16383"/>
                </a:cubicBezTo>
                <a:lnTo>
                  <a:pt x="166895" y="42604"/>
                </a:lnTo>
                <a:cubicBezTo>
                  <a:pt x="169881" y="46776"/>
                  <a:pt x="171450" y="51753"/>
                  <a:pt x="171450" y="56844"/>
                </a:cubicBezTo>
                <a:lnTo>
                  <a:pt x="171488" y="159239"/>
                </a:lnTo>
                <a:cubicBezTo>
                  <a:pt x="171488" y="172751"/>
                  <a:pt x="160502" y="183737"/>
                  <a:pt x="146990" y="183737"/>
                </a:cubicBezTo>
                <a:lnTo>
                  <a:pt x="24498" y="183737"/>
                </a:lnTo>
                <a:cubicBezTo>
                  <a:pt x="10986" y="183737"/>
                  <a:pt x="0" y="172751"/>
                  <a:pt x="0" y="159239"/>
                </a:cubicBezTo>
                <a:lnTo>
                  <a:pt x="0" y="5684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12597" y="1469900"/>
            <a:ext cx="102893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3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N?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302" y="1927202"/>
            <a:ext cx="5512123" cy="42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 represents the Product List</a:t>
            </a:r>
            <a:r>
              <a:rPr lang="en-US" sz="1029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definitive expression of customer requirements. Making N accurate means ensuring the product list is precise and aligned with actual needs.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7717" y="2482497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81661" y="163322"/>
                </a:moveTo>
                <a:cubicBezTo>
                  <a:pt x="126731" y="163322"/>
                  <a:pt x="163322" y="126731"/>
                  <a:pt x="163322" y="81661"/>
                </a:cubicBezTo>
                <a:cubicBezTo>
                  <a:pt x="163322" y="36591"/>
                  <a:pt x="126731" y="0"/>
                  <a:pt x="81661" y="0"/>
                </a:cubicBezTo>
                <a:cubicBezTo>
                  <a:pt x="36591" y="0"/>
                  <a:pt x="0" y="36591"/>
                  <a:pt x="0" y="81661"/>
                </a:cubicBezTo>
                <a:cubicBezTo>
                  <a:pt x="0" y="126731"/>
                  <a:pt x="36591" y="163322"/>
                  <a:pt x="81661" y="163322"/>
                </a:cubicBezTo>
                <a:close/>
                <a:moveTo>
                  <a:pt x="108584" y="67849"/>
                </a:moveTo>
                <a:lnTo>
                  <a:pt x="83065" y="108679"/>
                </a:lnTo>
                <a:cubicBezTo>
                  <a:pt x="81725" y="110817"/>
                  <a:pt x="79428" y="112156"/>
                  <a:pt x="76908" y="112284"/>
                </a:cubicBezTo>
                <a:cubicBezTo>
                  <a:pt x="74388" y="112412"/>
                  <a:pt x="71964" y="111263"/>
                  <a:pt x="70465" y="109222"/>
                </a:cubicBezTo>
                <a:lnTo>
                  <a:pt x="55153" y="88806"/>
                </a:lnTo>
                <a:cubicBezTo>
                  <a:pt x="52601" y="85425"/>
                  <a:pt x="53303" y="80640"/>
                  <a:pt x="56684" y="78088"/>
                </a:cubicBezTo>
                <a:cubicBezTo>
                  <a:pt x="60066" y="75537"/>
                  <a:pt x="64850" y="76238"/>
                  <a:pt x="67402" y="79620"/>
                </a:cubicBezTo>
                <a:lnTo>
                  <a:pt x="76015" y="91103"/>
                </a:lnTo>
                <a:lnTo>
                  <a:pt x="95601" y="59747"/>
                </a:lnTo>
                <a:cubicBezTo>
                  <a:pt x="97834" y="56174"/>
                  <a:pt x="102555" y="55057"/>
                  <a:pt x="106159" y="57322"/>
                </a:cubicBezTo>
                <a:cubicBezTo>
                  <a:pt x="109764" y="59587"/>
                  <a:pt x="110849" y="64276"/>
                  <a:pt x="108584" y="67881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12" name="Text 10"/>
          <p:cNvSpPr/>
          <p:nvPr/>
        </p:nvSpPr>
        <p:spPr>
          <a:xfrm>
            <a:off x="757611" y="2449833"/>
            <a:ext cx="5218143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Condition 1: Accurate Configuration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7611" y="2678484"/>
            <a:ext cx="5209977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list must be accurately configured to match customer needs, following </a:t>
            </a:r>
            <a:r>
              <a:rPr lang="en-US" sz="1029" dirty="0">
                <a:solidFill>
                  <a:srgbClr val="4C6A72"/>
                </a:solidFill>
                <a:highlight>
                  <a:srgbClr val="D9A467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PMF strategy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7717" y="3201115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81661" y="163322"/>
                </a:moveTo>
                <a:cubicBezTo>
                  <a:pt x="126731" y="163322"/>
                  <a:pt x="163322" y="126731"/>
                  <a:pt x="163322" y="81661"/>
                </a:cubicBezTo>
                <a:cubicBezTo>
                  <a:pt x="163322" y="36591"/>
                  <a:pt x="126731" y="0"/>
                  <a:pt x="81661" y="0"/>
                </a:cubicBezTo>
                <a:cubicBezTo>
                  <a:pt x="36591" y="0"/>
                  <a:pt x="0" y="36591"/>
                  <a:pt x="0" y="81661"/>
                </a:cubicBezTo>
                <a:cubicBezTo>
                  <a:pt x="0" y="126731"/>
                  <a:pt x="36591" y="163322"/>
                  <a:pt x="81661" y="163322"/>
                </a:cubicBezTo>
                <a:close/>
                <a:moveTo>
                  <a:pt x="108584" y="67849"/>
                </a:moveTo>
                <a:lnTo>
                  <a:pt x="83065" y="108679"/>
                </a:lnTo>
                <a:cubicBezTo>
                  <a:pt x="81725" y="110817"/>
                  <a:pt x="79428" y="112156"/>
                  <a:pt x="76908" y="112284"/>
                </a:cubicBezTo>
                <a:cubicBezTo>
                  <a:pt x="74388" y="112412"/>
                  <a:pt x="71964" y="111263"/>
                  <a:pt x="70465" y="109222"/>
                </a:cubicBezTo>
                <a:lnTo>
                  <a:pt x="55153" y="88806"/>
                </a:lnTo>
                <a:cubicBezTo>
                  <a:pt x="52601" y="85425"/>
                  <a:pt x="53303" y="80640"/>
                  <a:pt x="56684" y="78088"/>
                </a:cubicBezTo>
                <a:cubicBezTo>
                  <a:pt x="60066" y="75537"/>
                  <a:pt x="64850" y="76238"/>
                  <a:pt x="67402" y="79620"/>
                </a:cubicBezTo>
                <a:lnTo>
                  <a:pt x="76015" y="91103"/>
                </a:lnTo>
                <a:lnTo>
                  <a:pt x="95601" y="59747"/>
                </a:lnTo>
                <a:cubicBezTo>
                  <a:pt x="97834" y="56174"/>
                  <a:pt x="102555" y="55057"/>
                  <a:pt x="106159" y="57322"/>
                </a:cubicBezTo>
                <a:cubicBezTo>
                  <a:pt x="109764" y="59587"/>
                  <a:pt x="110849" y="64276"/>
                  <a:pt x="108584" y="67881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15" name="Text 13"/>
          <p:cNvSpPr/>
          <p:nvPr/>
        </p:nvSpPr>
        <p:spPr>
          <a:xfrm>
            <a:off x="759448" y="3168450"/>
            <a:ext cx="4793506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Condition 2: Timely CRM Updates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9448" y="3397101"/>
            <a:ext cx="4785340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list must be promptly updated in the CRM system for system-wide visibility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6644" y="3854403"/>
            <a:ext cx="5708110" cy="2916548"/>
          </a:xfrm>
          <a:custGeom>
            <a:avLst/>
            <a:gdLst/>
            <a:ahLst/>
            <a:cxnLst/>
            <a:rect l="l" t="t" r="r" b="b"/>
            <a:pathLst>
              <a:path w="5708110" h="2384504">
                <a:moveTo>
                  <a:pt x="98003" y="0"/>
                </a:moveTo>
                <a:lnTo>
                  <a:pt x="5610107" y="0"/>
                </a:lnTo>
                <a:cubicBezTo>
                  <a:pt x="5664232" y="0"/>
                  <a:pt x="5708110" y="43877"/>
                  <a:pt x="5708110" y="98003"/>
                </a:cubicBezTo>
                <a:lnTo>
                  <a:pt x="5708110" y="2286501"/>
                </a:lnTo>
                <a:cubicBezTo>
                  <a:pt x="5708110" y="2340626"/>
                  <a:pt x="5664232" y="2384504"/>
                  <a:pt x="5610107" y="2384504"/>
                </a:cubicBezTo>
                <a:lnTo>
                  <a:pt x="98003" y="2384504"/>
                </a:lnTo>
                <a:cubicBezTo>
                  <a:pt x="43877" y="2384504"/>
                  <a:pt x="0" y="2340626"/>
                  <a:pt x="0" y="2286501"/>
                </a:cubicBezTo>
                <a:lnTo>
                  <a:pt x="0" y="98003"/>
                </a:lnTo>
                <a:cubicBezTo>
                  <a:pt x="0" y="43914"/>
                  <a:pt x="43914" y="0"/>
                  <a:pt x="98003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302" y="3985061"/>
            <a:ext cx="5528455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Business Scenarios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302" y="4279041"/>
            <a:ext cx="5446794" cy="881940"/>
          </a:xfrm>
          <a:custGeom>
            <a:avLst/>
            <a:gdLst/>
            <a:ahLst/>
            <a:cxnLst/>
            <a:rect l="l" t="t" r="r" b="b"/>
            <a:pathLst>
              <a:path w="5446794" h="881940">
                <a:moveTo>
                  <a:pt x="65325" y="0"/>
                </a:moveTo>
                <a:lnTo>
                  <a:pt x="5381469" y="0"/>
                </a:lnTo>
                <a:cubicBezTo>
                  <a:pt x="5417547" y="0"/>
                  <a:pt x="5446794" y="29247"/>
                  <a:pt x="5446794" y="65325"/>
                </a:cubicBezTo>
                <a:lnTo>
                  <a:pt x="5446794" y="816614"/>
                </a:lnTo>
                <a:cubicBezTo>
                  <a:pt x="5446794" y="852693"/>
                  <a:pt x="5417547" y="881940"/>
                  <a:pt x="5381469" y="881940"/>
                </a:cubicBezTo>
                <a:lnTo>
                  <a:pt x="65325" y="881940"/>
                </a:lnTo>
                <a:cubicBezTo>
                  <a:pt x="29247" y="881940"/>
                  <a:pt x="0" y="852693"/>
                  <a:pt x="0" y="816614"/>
                </a:cubicBezTo>
                <a:lnTo>
                  <a:pt x="0" y="65325"/>
                </a:lnTo>
                <a:cubicBezTo>
                  <a:pt x="0" y="29247"/>
                  <a:pt x="29247" y="0"/>
                  <a:pt x="65325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55295" y="4377034"/>
            <a:ext cx="5324303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Entering Funnel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5295" y="4638350"/>
            <a:ext cx="5316137" cy="42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project moves from outside to inside funnel, </a:t>
            </a:r>
            <a:r>
              <a:rPr lang="en-US" sz="102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series must be clearly defined</a:t>
            </a:r>
            <a:r>
              <a:rPr lang="en-US" sz="102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otherwise, funnel entry is not permitted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302" y="5552231"/>
            <a:ext cx="5446794" cy="881940"/>
          </a:xfrm>
          <a:custGeom>
            <a:avLst/>
            <a:gdLst/>
            <a:ahLst/>
            <a:cxnLst/>
            <a:rect l="l" t="t" r="r" b="b"/>
            <a:pathLst>
              <a:path w="5446794" h="881940">
                <a:moveTo>
                  <a:pt x="65325" y="0"/>
                </a:moveTo>
                <a:lnTo>
                  <a:pt x="5381469" y="0"/>
                </a:lnTo>
                <a:cubicBezTo>
                  <a:pt x="5417547" y="0"/>
                  <a:pt x="5446794" y="29247"/>
                  <a:pt x="5446794" y="65325"/>
                </a:cubicBezTo>
                <a:lnTo>
                  <a:pt x="5446794" y="816614"/>
                </a:lnTo>
                <a:cubicBezTo>
                  <a:pt x="5446794" y="852693"/>
                  <a:pt x="5417547" y="881940"/>
                  <a:pt x="5381469" y="881940"/>
                </a:cubicBezTo>
                <a:lnTo>
                  <a:pt x="65325" y="881940"/>
                </a:lnTo>
                <a:cubicBezTo>
                  <a:pt x="29247" y="881940"/>
                  <a:pt x="0" y="852693"/>
                  <a:pt x="0" y="816614"/>
                </a:cubicBezTo>
                <a:lnTo>
                  <a:pt x="0" y="65325"/>
                </a:lnTo>
                <a:cubicBezTo>
                  <a:pt x="0" y="29247"/>
                  <a:pt x="29247" y="0"/>
                  <a:pt x="65325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55295" y="5559690"/>
            <a:ext cx="5324303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Funnel Management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5295" y="5875328"/>
            <a:ext cx="5316137" cy="42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funnel projects, </a:t>
            </a:r>
            <a:r>
              <a:rPr lang="en-US" sz="102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category</a:t>
            </a:r>
            <a:r>
              <a:rPr lang="en-US" sz="102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r>
              <a:rPr lang="en-US" sz="102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to bid opening</a:t>
            </a:r>
            <a:r>
              <a:rPr lang="en-US" sz="102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determine credibility requirements. Lists below threshold must be improved within specified timeframe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8988" y="1208584"/>
            <a:ext cx="5691778" cy="3358923"/>
          </a:xfrm>
          <a:custGeom>
            <a:avLst/>
            <a:gdLst/>
            <a:ahLst/>
            <a:cxnLst/>
            <a:rect l="l" t="t" r="r" b="b"/>
            <a:pathLst>
              <a:path w="5691778" h="3486928">
                <a:moveTo>
                  <a:pt x="32664" y="0"/>
                </a:moveTo>
                <a:lnTo>
                  <a:pt x="5593795" y="0"/>
                </a:lnTo>
                <a:cubicBezTo>
                  <a:pt x="5647909" y="0"/>
                  <a:pt x="5691778" y="43868"/>
                  <a:pt x="5691778" y="97983"/>
                </a:cubicBezTo>
                <a:lnTo>
                  <a:pt x="5691778" y="3388946"/>
                </a:lnTo>
                <a:cubicBezTo>
                  <a:pt x="5691778" y="3443060"/>
                  <a:pt x="5647909" y="3486928"/>
                  <a:pt x="5593795" y="3486928"/>
                </a:cubicBezTo>
                <a:lnTo>
                  <a:pt x="32664" y="3486928"/>
                </a:lnTo>
                <a:cubicBezTo>
                  <a:pt x="14624" y="3486928"/>
                  <a:pt x="0" y="3472304"/>
                  <a:pt x="0" y="3454264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8997" dist="326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8988" y="1208584"/>
            <a:ext cx="32664" cy="3486928"/>
          </a:xfrm>
          <a:custGeom>
            <a:avLst/>
            <a:gdLst/>
            <a:ahLst/>
            <a:cxnLst/>
            <a:rect l="l" t="t" r="r" b="b"/>
            <a:pathLst>
              <a:path w="32664" h="3486928">
                <a:moveTo>
                  <a:pt x="32664" y="0"/>
                </a:moveTo>
                <a:lnTo>
                  <a:pt x="32664" y="0"/>
                </a:lnTo>
                <a:lnTo>
                  <a:pt x="32664" y="3486928"/>
                </a:lnTo>
                <a:lnTo>
                  <a:pt x="32664" y="3486928"/>
                </a:lnTo>
                <a:cubicBezTo>
                  <a:pt x="14624" y="3486928"/>
                  <a:pt x="0" y="3472304"/>
                  <a:pt x="0" y="3454264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27" name="Text 25"/>
          <p:cNvSpPr/>
          <p:nvPr/>
        </p:nvSpPr>
        <p:spPr>
          <a:xfrm>
            <a:off x="6325978" y="1339242"/>
            <a:ext cx="551212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3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Funnel Entry Decision Flow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25978" y="1826555"/>
            <a:ext cx="5414130" cy="800279"/>
          </a:xfrm>
          <a:custGeom>
            <a:avLst/>
            <a:gdLst/>
            <a:ahLst/>
            <a:cxnLst/>
            <a:rect l="l" t="t" r="r" b="b"/>
            <a:pathLst>
              <a:path w="5414130" h="800279">
                <a:moveTo>
                  <a:pt x="97994" y="0"/>
                </a:moveTo>
                <a:lnTo>
                  <a:pt x="5316136" y="0"/>
                </a:lnTo>
                <a:cubicBezTo>
                  <a:pt x="5370256" y="0"/>
                  <a:pt x="5414130" y="43873"/>
                  <a:pt x="5414130" y="97994"/>
                </a:cubicBezTo>
                <a:lnTo>
                  <a:pt x="5414130" y="702285"/>
                </a:lnTo>
                <a:cubicBezTo>
                  <a:pt x="5414130" y="756405"/>
                  <a:pt x="5370256" y="800279"/>
                  <a:pt x="5316136" y="800279"/>
                </a:cubicBezTo>
                <a:lnTo>
                  <a:pt x="97994" y="800279"/>
                </a:lnTo>
                <a:cubicBezTo>
                  <a:pt x="43873" y="800279"/>
                  <a:pt x="0" y="756405"/>
                  <a:pt x="0" y="702285"/>
                </a:cubicBezTo>
                <a:lnTo>
                  <a:pt x="0" y="97994"/>
                </a:lnTo>
                <a:cubicBezTo>
                  <a:pt x="0" y="43910"/>
                  <a:pt x="43910" y="0"/>
                  <a:pt x="97994" y="0"/>
                </a:cubicBezTo>
                <a:close/>
              </a:path>
            </a:pathLst>
          </a:custGeom>
          <a:solidFill>
            <a:srgbClr val="4C6A72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911164" y="1957212"/>
            <a:ext cx="244983" cy="244983"/>
          </a:xfrm>
          <a:custGeom>
            <a:avLst/>
            <a:gdLst/>
            <a:ahLst/>
            <a:cxnLst/>
            <a:rect l="l" t="t" r="r" b="b"/>
            <a:pathLst>
              <a:path w="244983" h="244983">
                <a:moveTo>
                  <a:pt x="122492" y="244983"/>
                </a:moveTo>
                <a:cubicBezTo>
                  <a:pt x="190097" y="244983"/>
                  <a:pt x="244983" y="190097"/>
                  <a:pt x="244983" y="122492"/>
                </a:cubicBezTo>
                <a:cubicBezTo>
                  <a:pt x="244983" y="54887"/>
                  <a:pt x="190097" y="0"/>
                  <a:pt x="122492" y="0"/>
                </a:cubicBezTo>
                <a:cubicBezTo>
                  <a:pt x="54887" y="0"/>
                  <a:pt x="0" y="54887"/>
                  <a:pt x="0" y="122492"/>
                </a:cubicBezTo>
                <a:cubicBezTo>
                  <a:pt x="0" y="190097"/>
                  <a:pt x="54887" y="244983"/>
                  <a:pt x="122492" y="244983"/>
                </a:cubicBezTo>
                <a:close/>
                <a:moveTo>
                  <a:pt x="122492" y="84213"/>
                </a:moveTo>
                <a:cubicBezTo>
                  <a:pt x="114022" y="84213"/>
                  <a:pt x="107180" y="91055"/>
                  <a:pt x="107180" y="99524"/>
                </a:cubicBezTo>
                <a:cubicBezTo>
                  <a:pt x="107180" y="105888"/>
                  <a:pt x="102060" y="111008"/>
                  <a:pt x="95697" y="111008"/>
                </a:cubicBezTo>
                <a:cubicBezTo>
                  <a:pt x="89333" y="111008"/>
                  <a:pt x="84213" y="105888"/>
                  <a:pt x="84213" y="99524"/>
                </a:cubicBezTo>
                <a:cubicBezTo>
                  <a:pt x="84213" y="78376"/>
                  <a:pt x="101343" y="61246"/>
                  <a:pt x="122492" y="61246"/>
                </a:cubicBezTo>
                <a:cubicBezTo>
                  <a:pt x="143641" y="61246"/>
                  <a:pt x="160770" y="78376"/>
                  <a:pt x="160770" y="99524"/>
                </a:cubicBezTo>
                <a:cubicBezTo>
                  <a:pt x="160770" y="122109"/>
                  <a:pt x="143545" y="131678"/>
                  <a:pt x="133975" y="135171"/>
                </a:cubicBezTo>
                <a:lnTo>
                  <a:pt x="133975" y="136990"/>
                </a:lnTo>
                <a:cubicBezTo>
                  <a:pt x="133975" y="143353"/>
                  <a:pt x="128855" y="148473"/>
                  <a:pt x="122492" y="148473"/>
                </a:cubicBezTo>
                <a:cubicBezTo>
                  <a:pt x="116128" y="148473"/>
                  <a:pt x="111008" y="143353"/>
                  <a:pt x="111008" y="136990"/>
                </a:cubicBezTo>
                <a:lnTo>
                  <a:pt x="111008" y="133114"/>
                </a:lnTo>
                <a:cubicBezTo>
                  <a:pt x="111008" y="123305"/>
                  <a:pt x="118090" y="116271"/>
                  <a:pt x="125410" y="113879"/>
                </a:cubicBezTo>
                <a:cubicBezTo>
                  <a:pt x="128473" y="112874"/>
                  <a:pt x="131726" y="111247"/>
                  <a:pt x="134119" y="108951"/>
                </a:cubicBezTo>
                <a:cubicBezTo>
                  <a:pt x="136176" y="106941"/>
                  <a:pt x="137803" y="104166"/>
                  <a:pt x="137803" y="99572"/>
                </a:cubicBezTo>
                <a:cubicBezTo>
                  <a:pt x="137803" y="91103"/>
                  <a:pt x="130961" y="84261"/>
                  <a:pt x="122492" y="84261"/>
                </a:cubicBezTo>
                <a:close/>
                <a:moveTo>
                  <a:pt x="107180" y="176082"/>
                </a:moveTo>
                <a:cubicBezTo>
                  <a:pt x="107180" y="167631"/>
                  <a:pt x="114041" y="160770"/>
                  <a:pt x="122492" y="160770"/>
                </a:cubicBezTo>
                <a:cubicBezTo>
                  <a:pt x="130942" y="160770"/>
                  <a:pt x="137803" y="167631"/>
                  <a:pt x="137803" y="176082"/>
                </a:cubicBezTo>
                <a:cubicBezTo>
                  <a:pt x="137803" y="184532"/>
                  <a:pt x="130942" y="191393"/>
                  <a:pt x="122492" y="191393"/>
                </a:cubicBezTo>
                <a:cubicBezTo>
                  <a:pt x="114041" y="191393"/>
                  <a:pt x="107180" y="184532"/>
                  <a:pt x="107180" y="176082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30" name="Text 28"/>
          <p:cNvSpPr/>
          <p:nvPr/>
        </p:nvSpPr>
        <p:spPr>
          <a:xfrm>
            <a:off x="6419889" y="2267525"/>
            <a:ext cx="5226309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4C6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Product Series Clear?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25978" y="2883045"/>
            <a:ext cx="2637653" cy="636956"/>
          </a:xfrm>
          <a:custGeom>
            <a:avLst/>
            <a:gdLst/>
            <a:ahLst/>
            <a:cxnLst/>
            <a:rect l="l" t="t" r="r" b="b"/>
            <a:pathLst>
              <a:path w="2637653" h="636956">
                <a:moveTo>
                  <a:pt x="97996" y="0"/>
                </a:moveTo>
                <a:lnTo>
                  <a:pt x="2539657" y="0"/>
                </a:lnTo>
                <a:cubicBezTo>
                  <a:pt x="2593779" y="0"/>
                  <a:pt x="2637653" y="43874"/>
                  <a:pt x="2637653" y="97996"/>
                </a:cubicBezTo>
                <a:lnTo>
                  <a:pt x="2637653" y="538961"/>
                </a:lnTo>
                <a:cubicBezTo>
                  <a:pt x="2637653" y="593082"/>
                  <a:pt x="2593779" y="636956"/>
                  <a:pt x="2539657" y="636956"/>
                </a:cubicBezTo>
                <a:lnTo>
                  <a:pt x="97996" y="636956"/>
                </a:lnTo>
                <a:cubicBezTo>
                  <a:pt x="43874" y="636956"/>
                  <a:pt x="0" y="593082"/>
                  <a:pt x="0" y="538961"/>
                </a:cubicBezTo>
                <a:lnTo>
                  <a:pt x="0" y="97996"/>
                </a:lnTo>
                <a:cubicBezTo>
                  <a:pt x="0" y="43874"/>
                  <a:pt x="43874" y="0"/>
                  <a:pt x="97996" y="0"/>
                </a:cubicBezTo>
                <a:close/>
              </a:path>
            </a:pathLst>
          </a:custGeom>
          <a:solidFill>
            <a:srgbClr val="D9A467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560388" y="2981038"/>
            <a:ext cx="171488" cy="195987"/>
          </a:xfrm>
          <a:custGeom>
            <a:avLst/>
            <a:gdLst/>
            <a:ahLst/>
            <a:cxnLst/>
            <a:rect l="l" t="t" r="r" b="b"/>
            <a:pathLst>
              <a:path w="171488" h="195987">
                <a:moveTo>
                  <a:pt x="166435" y="26833"/>
                </a:moveTo>
                <a:cubicBezTo>
                  <a:pt x="171909" y="30814"/>
                  <a:pt x="173134" y="38470"/>
                  <a:pt x="169153" y="43944"/>
                </a:cubicBezTo>
                <a:lnTo>
                  <a:pt x="71160" y="178685"/>
                </a:lnTo>
                <a:cubicBezTo>
                  <a:pt x="69055" y="181594"/>
                  <a:pt x="65801" y="183393"/>
                  <a:pt x="62203" y="183699"/>
                </a:cubicBezTo>
                <a:cubicBezTo>
                  <a:pt x="58605" y="184005"/>
                  <a:pt x="55121" y="182666"/>
                  <a:pt x="52595" y="180139"/>
                </a:cubicBezTo>
                <a:lnTo>
                  <a:pt x="3598" y="131143"/>
                </a:lnTo>
                <a:cubicBezTo>
                  <a:pt x="-1187" y="126358"/>
                  <a:pt x="-1187" y="118587"/>
                  <a:pt x="3598" y="113802"/>
                </a:cubicBezTo>
                <a:cubicBezTo>
                  <a:pt x="8383" y="109018"/>
                  <a:pt x="16154" y="109018"/>
                  <a:pt x="20938" y="113802"/>
                </a:cubicBezTo>
                <a:lnTo>
                  <a:pt x="59791" y="152655"/>
                </a:lnTo>
                <a:lnTo>
                  <a:pt x="149363" y="29513"/>
                </a:lnTo>
                <a:cubicBezTo>
                  <a:pt x="153344" y="24039"/>
                  <a:pt x="161000" y="22814"/>
                  <a:pt x="166474" y="26795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33" name="Text 31"/>
          <p:cNvSpPr/>
          <p:nvPr/>
        </p:nvSpPr>
        <p:spPr>
          <a:xfrm>
            <a:off x="6391307" y="3222756"/>
            <a:ext cx="250699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b="1" dirty="0">
                <a:solidFill>
                  <a:srgbClr val="4C6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YES → Proceed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96943" y="2883045"/>
            <a:ext cx="2637653" cy="636956"/>
          </a:xfrm>
          <a:custGeom>
            <a:avLst/>
            <a:gdLst/>
            <a:ahLst/>
            <a:cxnLst/>
            <a:rect l="l" t="t" r="r" b="b"/>
            <a:pathLst>
              <a:path w="2637653" h="636956">
                <a:moveTo>
                  <a:pt x="97996" y="0"/>
                </a:moveTo>
                <a:lnTo>
                  <a:pt x="2539657" y="0"/>
                </a:lnTo>
                <a:cubicBezTo>
                  <a:pt x="2593779" y="0"/>
                  <a:pt x="2637653" y="43874"/>
                  <a:pt x="2637653" y="97996"/>
                </a:cubicBezTo>
                <a:lnTo>
                  <a:pt x="2637653" y="538961"/>
                </a:lnTo>
                <a:cubicBezTo>
                  <a:pt x="2637653" y="593082"/>
                  <a:pt x="2593779" y="636956"/>
                  <a:pt x="2539657" y="636956"/>
                </a:cubicBezTo>
                <a:lnTo>
                  <a:pt x="97996" y="636956"/>
                </a:lnTo>
                <a:cubicBezTo>
                  <a:pt x="43874" y="636956"/>
                  <a:pt x="0" y="593082"/>
                  <a:pt x="0" y="538961"/>
                </a:cubicBezTo>
                <a:lnTo>
                  <a:pt x="0" y="97996"/>
                </a:lnTo>
                <a:cubicBezTo>
                  <a:pt x="0" y="43874"/>
                  <a:pt x="43874" y="0"/>
                  <a:pt x="97996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35" name="Shape 33"/>
          <p:cNvSpPr/>
          <p:nvPr/>
        </p:nvSpPr>
        <p:spPr>
          <a:xfrm>
            <a:off x="10343602" y="2981038"/>
            <a:ext cx="146990" cy="195987"/>
          </a:xfrm>
          <a:custGeom>
            <a:avLst/>
            <a:gdLst/>
            <a:ahLst/>
            <a:cxnLst/>
            <a:rect l="l" t="t" r="r" b="b"/>
            <a:pathLst>
              <a:path w="146990" h="195987">
                <a:moveTo>
                  <a:pt x="21092" y="28097"/>
                </a:moveTo>
                <a:cubicBezTo>
                  <a:pt x="16307" y="23312"/>
                  <a:pt x="8536" y="23312"/>
                  <a:pt x="3751" y="28097"/>
                </a:cubicBezTo>
                <a:cubicBezTo>
                  <a:pt x="-1034" y="32881"/>
                  <a:pt x="-1034" y="40652"/>
                  <a:pt x="3751" y="45437"/>
                </a:cubicBezTo>
                <a:lnTo>
                  <a:pt x="56346" y="97993"/>
                </a:lnTo>
                <a:lnTo>
                  <a:pt x="3790" y="150588"/>
                </a:lnTo>
                <a:cubicBezTo>
                  <a:pt x="-995" y="155373"/>
                  <a:pt x="-995" y="163144"/>
                  <a:pt x="3790" y="167928"/>
                </a:cubicBezTo>
                <a:cubicBezTo>
                  <a:pt x="8574" y="172713"/>
                  <a:pt x="16345" y="172713"/>
                  <a:pt x="21130" y="167928"/>
                </a:cubicBezTo>
                <a:lnTo>
                  <a:pt x="73686" y="115334"/>
                </a:lnTo>
                <a:lnTo>
                  <a:pt x="126281" y="167890"/>
                </a:lnTo>
                <a:cubicBezTo>
                  <a:pt x="131066" y="172675"/>
                  <a:pt x="138837" y="172675"/>
                  <a:pt x="143621" y="167890"/>
                </a:cubicBezTo>
                <a:cubicBezTo>
                  <a:pt x="148406" y="163105"/>
                  <a:pt x="148406" y="155335"/>
                  <a:pt x="143621" y="150550"/>
                </a:cubicBezTo>
                <a:lnTo>
                  <a:pt x="91027" y="97993"/>
                </a:lnTo>
                <a:lnTo>
                  <a:pt x="143583" y="45398"/>
                </a:lnTo>
                <a:cubicBezTo>
                  <a:pt x="148368" y="40614"/>
                  <a:pt x="148368" y="32843"/>
                  <a:pt x="143583" y="28058"/>
                </a:cubicBezTo>
                <a:cubicBezTo>
                  <a:pt x="138798" y="23273"/>
                  <a:pt x="131028" y="23273"/>
                  <a:pt x="126243" y="28058"/>
                </a:cubicBezTo>
                <a:lnTo>
                  <a:pt x="73686" y="80653"/>
                </a:lnTo>
                <a:lnTo>
                  <a:pt x="21092" y="28097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6" name="Text 34"/>
          <p:cNvSpPr/>
          <p:nvPr/>
        </p:nvSpPr>
        <p:spPr>
          <a:xfrm>
            <a:off x="9162272" y="3222756"/>
            <a:ext cx="250699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b="1" dirty="0">
                <a:solidFill>
                  <a:srgbClr val="E700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→ Stop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25978" y="3773049"/>
            <a:ext cx="5414130" cy="669621"/>
          </a:xfrm>
          <a:custGeom>
            <a:avLst/>
            <a:gdLst/>
            <a:ahLst/>
            <a:cxnLst/>
            <a:rect l="l" t="t" r="r" b="b"/>
            <a:pathLst>
              <a:path w="5414130" h="669621">
                <a:moveTo>
                  <a:pt x="97992" y="0"/>
                </a:moveTo>
                <a:lnTo>
                  <a:pt x="5316138" y="0"/>
                </a:lnTo>
                <a:cubicBezTo>
                  <a:pt x="5370257" y="0"/>
                  <a:pt x="5414130" y="43873"/>
                  <a:pt x="5414130" y="97992"/>
                </a:cubicBezTo>
                <a:lnTo>
                  <a:pt x="5414130" y="571629"/>
                </a:lnTo>
                <a:cubicBezTo>
                  <a:pt x="5414130" y="625748"/>
                  <a:pt x="5370257" y="669621"/>
                  <a:pt x="5316138" y="669621"/>
                </a:cubicBezTo>
                <a:lnTo>
                  <a:pt x="97992" y="669621"/>
                </a:lnTo>
                <a:cubicBezTo>
                  <a:pt x="43873" y="669621"/>
                  <a:pt x="0" y="625748"/>
                  <a:pt x="0" y="571629"/>
                </a:cubicBezTo>
                <a:lnTo>
                  <a:pt x="0" y="97992"/>
                </a:lnTo>
                <a:cubicBezTo>
                  <a:pt x="0" y="43909"/>
                  <a:pt x="43909" y="0"/>
                  <a:pt x="97992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38" name="Shape 36"/>
          <p:cNvSpPr/>
          <p:nvPr/>
        </p:nvSpPr>
        <p:spPr>
          <a:xfrm>
            <a:off x="8933621" y="3871042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192388" y="106644"/>
                </a:moveTo>
                <a:cubicBezTo>
                  <a:pt x="197173" y="101859"/>
                  <a:pt x="197173" y="94089"/>
                  <a:pt x="192388" y="89304"/>
                </a:cubicBezTo>
                <a:lnTo>
                  <a:pt x="131143" y="28058"/>
                </a:lnTo>
                <a:cubicBezTo>
                  <a:pt x="126358" y="23273"/>
                  <a:pt x="118587" y="23273"/>
                  <a:pt x="113802" y="28058"/>
                </a:cubicBezTo>
                <a:cubicBezTo>
                  <a:pt x="109018" y="32843"/>
                  <a:pt x="109018" y="40614"/>
                  <a:pt x="113802" y="45398"/>
                </a:cubicBezTo>
                <a:lnTo>
                  <a:pt x="154148" y="85744"/>
                </a:lnTo>
                <a:lnTo>
                  <a:pt x="12249" y="85744"/>
                </a:lnTo>
                <a:cubicBezTo>
                  <a:pt x="5474" y="85744"/>
                  <a:pt x="0" y="91218"/>
                  <a:pt x="0" y="97993"/>
                </a:cubicBezTo>
                <a:cubicBezTo>
                  <a:pt x="0" y="104769"/>
                  <a:pt x="5474" y="110242"/>
                  <a:pt x="12249" y="110242"/>
                </a:cubicBezTo>
                <a:lnTo>
                  <a:pt x="154148" y="110242"/>
                </a:lnTo>
                <a:lnTo>
                  <a:pt x="113802" y="150588"/>
                </a:lnTo>
                <a:cubicBezTo>
                  <a:pt x="109018" y="155373"/>
                  <a:pt x="109018" y="163144"/>
                  <a:pt x="113802" y="167928"/>
                </a:cubicBezTo>
                <a:cubicBezTo>
                  <a:pt x="118587" y="172713"/>
                  <a:pt x="126358" y="172713"/>
                  <a:pt x="131143" y="167928"/>
                </a:cubicBezTo>
                <a:lnTo>
                  <a:pt x="192388" y="10668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387224" y="4112758"/>
            <a:ext cx="5291638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 Funnel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78988" y="4647763"/>
            <a:ext cx="5691778" cy="1306577"/>
          </a:xfrm>
          <a:custGeom>
            <a:avLst/>
            <a:gdLst/>
            <a:ahLst/>
            <a:cxnLst/>
            <a:rect l="l" t="t" r="r" b="b"/>
            <a:pathLst>
              <a:path w="5691778" h="1306577">
                <a:moveTo>
                  <a:pt x="32664" y="0"/>
                </a:moveTo>
                <a:lnTo>
                  <a:pt x="5593784" y="0"/>
                </a:lnTo>
                <a:cubicBezTo>
                  <a:pt x="5647905" y="0"/>
                  <a:pt x="5691778" y="43873"/>
                  <a:pt x="5691778" y="97993"/>
                </a:cubicBezTo>
                <a:lnTo>
                  <a:pt x="5691778" y="1208584"/>
                </a:lnTo>
                <a:cubicBezTo>
                  <a:pt x="5691778" y="1262704"/>
                  <a:pt x="5647905" y="1306577"/>
                  <a:pt x="5593784" y="1306577"/>
                </a:cubicBezTo>
                <a:lnTo>
                  <a:pt x="32664" y="1306577"/>
                </a:lnTo>
                <a:cubicBezTo>
                  <a:pt x="14624" y="1306577"/>
                  <a:pt x="0" y="1291953"/>
                  <a:pt x="0" y="1273913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178988" y="4647763"/>
            <a:ext cx="32664" cy="1306577"/>
          </a:xfrm>
          <a:custGeom>
            <a:avLst/>
            <a:gdLst/>
            <a:ahLst/>
            <a:cxnLst/>
            <a:rect l="l" t="t" r="r" b="b"/>
            <a:pathLst>
              <a:path w="32664" h="1306577">
                <a:moveTo>
                  <a:pt x="32664" y="0"/>
                </a:moveTo>
                <a:lnTo>
                  <a:pt x="32664" y="0"/>
                </a:lnTo>
                <a:lnTo>
                  <a:pt x="32664" y="1306577"/>
                </a:lnTo>
                <a:lnTo>
                  <a:pt x="32664" y="1306577"/>
                </a:lnTo>
                <a:cubicBezTo>
                  <a:pt x="14624" y="1306577"/>
                  <a:pt x="0" y="1291953"/>
                  <a:pt x="0" y="1273913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42" name="Text 40"/>
          <p:cNvSpPr/>
          <p:nvPr/>
        </p:nvSpPr>
        <p:spPr>
          <a:xfrm>
            <a:off x="6325978" y="4778420"/>
            <a:ext cx="5495791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42311" y="5137729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128259" y="71096"/>
                </a:moveTo>
                <a:cubicBezTo>
                  <a:pt x="131449" y="67906"/>
                  <a:pt x="131449" y="62726"/>
                  <a:pt x="128259" y="59536"/>
                </a:cubicBezTo>
                <a:lnTo>
                  <a:pt x="87428" y="18705"/>
                </a:lnTo>
                <a:cubicBezTo>
                  <a:pt x="84239" y="15516"/>
                  <a:pt x="79058" y="15516"/>
                  <a:pt x="75868" y="18705"/>
                </a:cubicBezTo>
                <a:cubicBezTo>
                  <a:pt x="72678" y="21895"/>
                  <a:pt x="72678" y="27076"/>
                  <a:pt x="75868" y="30266"/>
                </a:cubicBezTo>
                <a:lnTo>
                  <a:pt x="102765" y="57163"/>
                </a:lnTo>
                <a:lnTo>
                  <a:pt x="8166" y="57163"/>
                </a:lnTo>
                <a:cubicBezTo>
                  <a:pt x="3649" y="57163"/>
                  <a:pt x="0" y="60812"/>
                  <a:pt x="0" y="65329"/>
                </a:cubicBezTo>
                <a:cubicBezTo>
                  <a:pt x="0" y="69846"/>
                  <a:pt x="3649" y="73495"/>
                  <a:pt x="8166" y="73495"/>
                </a:cubicBezTo>
                <a:lnTo>
                  <a:pt x="102765" y="73495"/>
                </a:lnTo>
                <a:lnTo>
                  <a:pt x="75868" y="100392"/>
                </a:lnTo>
                <a:cubicBezTo>
                  <a:pt x="72678" y="103582"/>
                  <a:pt x="72678" y="108762"/>
                  <a:pt x="75868" y="111952"/>
                </a:cubicBezTo>
                <a:cubicBezTo>
                  <a:pt x="79058" y="115142"/>
                  <a:pt x="84239" y="115142"/>
                  <a:pt x="87428" y="111952"/>
                </a:cubicBezTo>
                <a:lnTo>
                  <a:pt x="128259" y="71122"/>
                </a:ln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44" name="Text 42"/>
          <p:cNvSpPr/>
          <p:nvPr/>
        </p:nvSpPr>
        <p:spPr>
          <a:xfrm>
            <a:off x="6554629" y="5105065"/>
            <a:ext cx="1812876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Improves overall funnel quality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42311" y="5399045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128259" y="71096"/>
                </a:moveTo>
                <a:cubicBezTo>
                  <a:pt x="131449" y="67906"/>
                  <a:pt x="131449" y="62726"/>
                  <a:pt x="128259" y="59536"/>
                </a:cubicBezTo>
                <a:lnTo>
                  <a:pt x="87428" y="18705"/>
                </a:lnTo>
                <a:cubicBezTo>
                  <a:pt x="84239" y="15516"/>
                  <a:pt x="79058" y="15516"/>
                  <a:pt x="75868" y="18705"/>
                </a:cubicBezTo>
                <a:cubicBezTo>
                  <a:pt x="72678" y="21895"/>
                  <a:pt x="72678" y="27076"/>
                  <a:pt x="75868" y="30266"/>
                </a:cubicBezTo>
                <a:lnTo>
                  <a:pt x="102765" y="57163"/>
                </a:lnTo>
                <a:lnTo>
                  <a:pt x="8166" y="57163"/>
                </a:lnTo>
                <a:cubicBezTo>
                  <a:pt x="3649" y="57163"/>
                  <a:pt x="0" y="60812"/>
                  <a:pt x="0" y="65329"/>
                </a:cubicBezTo>
                <a:cubicBezTo>
                  <a:pt x="0" y="69846"/>
                  <a:pt x="3649" y="73495"/>
                  <a:pt x="8166" y="73495"/>
                </a:cubicBezTo>
                <a:lnTo>
                  <a:pt x="102765" y="73495"/>
                </a:lnTo>
                <a:lnTo>
                  <a:pt x="75868" y="100392"/>
                </a:lnTo>
                <a:cubicBezTo>
                  <a:pt x="72678" y="103582"/>
                  <a:pt x="72678" y="108762"/>
                  <a:pt x="75868" y="111952"/>
                </a:cubicBezTo>
                <a:cubicBezTo>
                  <a:pt x="79058" y="115142"/>
                  <a:pt x="84239" y="115142"/>
                  <a:pt x="87428" y="111952"/>
                </a:cubicBezTo>
                <a:lnTo>
                  <a:pt x="128259" y="71122"/>
                </a:ln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46" name="Text 44"/>
          <p:cNvSpPr/>
          <p:nvPr/>
        </p:nvSpPr>
        <p:spPr>
          <a:xfrm>
            <a:off x="6554629" y="5366380"/>
            <a:ext cx="2180351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Strengthens product sales forecasting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42311" y="5660360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128259" y="71096"/>
                </a:moveTo>
                <a:cubicBezTo>
                  <a:pt x="131449" y="67906"/>
                  <a:pt x="131449" y="62726"/>
                  <a:pt x="128259" y="59536"/>
                </a:cubicBezTo>
                <a:lnTo>
                  <a:pt x="87428" y="18705"/>
                </a:lnTo>
                <a:cubicBezTo>
                  <a:pt x="84239" y="15516"/>
                  <a:pt x="79058" y="15516"/>
                  <a:pt x="75868" y="18705"/>
                </a:cubicBezTo>
                <a:cubicBezTo>
                  <a:pt x="72678" y="21895"/>
                  <a:pt x="72678" y="27076"/>
                  <a:pt x="75868" y="30266"/>
                </a:cubicBezTo>
                <a:lnTo>
                  <a:pt x="102765" y="57163"/>
                </a:lnTo>
                <a:lnTo>
                  <a:pt x="8166" y="57163"/>
                </a:lnTo>
                <a:cubicBezTo>
                  <a:pt x="3649" y="57163"/>
                  <a:pt x="0" y="60812"/>
                  <a:pt x="0" y="65329"/>
                </a:cubicBezTo>
                <a:cubicBezTo>
                  <a:pt x="0" y="69846"/>
                  <a:pt x="3649" y="73495"/>
                  <a:pt x="8166" y="73495"/>
                </a:cubicBezTo>
                <a:lnTo>
                  <a:pt x="102765" y="73495"/>
                </a:lnTo>
                <a:lnTo>
                  <a:pt x="75868" y="100392"/>
                </a:lnTo>
                <a:cubicBezTo>
                  <a:pt x="72678" y="103582"/>
                  <a:pt x="72678" y="108762"/>
                  <a:pt x="75868" y="111952"/>
                </a:cubicBezTo>
                <a:cubicBezTo>
                  <a:pt x="79058" y="115142"/>
                  <a:pt x="84239" y="115142"/>
                  <a:pt x="87428" y="111952"/>
                </a:cubicBezTo>
                <a:lnTo>
                  <a:pt x="128259" y="71122"/>
                </a:ln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48" name="Text 46"/>
          <p:cNvSpPr/>
          <p:nvPr/>
        </p:nvSpPr>
        <p:spPr>
          <a:xfrm>
            <a:off x="6554629" y="5627696"/>
            <a:ext cx="2041527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Accurately reflects market demand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62656" y="6084998"/>
            <a:ext cx="5708110" cy="685953"/>
          </a:xfrm>
          <a:custGeom>
            <a:avLst/>
            <a:gdLst/>
            <a:ahLst/>
            <a:cxnLst/>
            <a:rect l="l" t="t" r="r" b="b"/>
            <a:pathLst>
              <a:path w="5708110" h="685953">
                <a:moveTo>
                  <a:pt x="97995" y="0"/>
                </a:moveTo>
                <a:lnTo>
                  <a:pt x="5610115" y="0"/>
                </a:lnTo>
                <a:cubicBezTo>
                  <a:pt x="5664236" y="0"/>
                  <a:pt x="5708110" y="43874"/>
                  <a:pt x="5708110" y="97995"/>
                </a:cubicBezTo>
                <a:lnTo>
                  <a:pt x="5708110" y="587958"/>
                </a:lnTo>
                <a:cubicBezTo>
                  <a:pt x="5708110" y="642079"/>
                  <a:pt x="5664236" y="685953"/>
                  <a:pt x="5610115" y="685953"/>
                </a:cubicBezTo>
                <a:lnTo>
                  <a:pt x="97995" y="685953"/>
                </a:lnTo>
                <a:cubicBezTo>
                  <a:pt x="43874" y="685953"/>
                  <a:pt x="0" y="642079"/>
                  <a:pt x="0" y="587958"/>
                </a:cubicBezTo>
                <a:lnTo>
                  <a:pt x="0" y="97995"/>
                </a:lnTo>
                <a:cubicBezTo>
                  <a:pt x="0" y="43910"/>
                  <a:pt x="43910" y="0"/>
                  <a:pt x="97995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50" name="Text 48"/>
          <p:cNvSpPr/>
          <p:nvPr/>
        </p:nvSpPr>
        <p:spPr>
          <a:xfrm>
            <a:off x="6260649" y="6182991"/>
            <a:ext cx="5585618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Ownership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260649" y="6476971"/>
            <a:ext cx="2751979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Primary:</a:t>
            </a:r>
            <a:r>
              <a:rPr lang="en-US" sz="102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Pre-sales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080611" y="6476971"/>
            <a:ext cx="2751979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Support:</a:t>
            </a:r>
            <a:r>
              <a:rPr lang="en-US" sz="102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Sales (CRM updates)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D9A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CREDIBILITY ASSESSMENT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 Credibility: Four Standards &amp; Two Business Types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09700"/>
            <a:ext cx="4514850" cy="2743200"/>
          </a:xfrm>
          <a:custGeom>
            <a:avLst/>
            <a:gdLst/>
            <a:ahLst/>
            <a:cxnLst/>
            <a:rect l="l" t="t" r="r" b="b"/>
            <a:pathLst>
              <a:path w="4514850" h="2743200">
                <a:moveTo>
                  <a:pt x="114309" y="0"/>
                </a:moveTo>
                <a:lnTo>
                  <a:pt x="4400541" y="0"/>
                </a:lnTo>
                <a:cubicBezTo>
                  <a:pt x="4463672" y="0"/>
                  <a:pt x="4514850" y="51178"/>
                  <a:pt x="4514850" y="114309"/>
                </a:cubicBezTo>
                <a:lnTo>
                  <a:pt x="4514850" y="2628891"/>
                </a:lnTo>
                <a:cubicBezTo>
                  <a:pt x="4514850" y="2692022"/>
                  <a:pt x="4463672" y="2743200"/>
                  <a:pt x="4400541" y="2743200"/>
                </a:cubicBezTo>
                <a:lnTo>
                  <a:pt x="114309" y="2743200"/>
                </a:lnTo>
                <a:cubicBezTo>
                  <a:pt x="51178" y="2743200"/>
                  <a:pt x="0" y="2692022"/>
                  <a:pt x="0" y="262889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600200"/>
            <a:ext cx="4248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Business Processes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1500" y="2057281"/>
            <a:ext cx="4133850" cy="895350"/>
          </a:xfrm>
          <a:custGeom>
            <a:avLst/>
            <a:gdLst/>
            <a:ahLst/>
            <a:cxnLst/>
            <a:rect l="l" t="t" r="r" b="b"/>
            <a:pathLst>
              <a:path w="4133850" h="895350">
                <a:moveTo>
                  <a:pt x="114300" y="0"/>
                </a:moveTo>
                <a:lnTo>
                  <a:pt x="4019550" y="0"/>
                </a:lnTo>
                <a:cubicBezTo>
                  <a:pt x="4082676" y="0"/>
                  <a:pt x="4133850" y="51174"/>
                  <a:pt x="4133850" y="114300"/>
                </a:cubicBezTo>
                <a:lnTo>
                  <a:pt x="4133850" y="781050"/>
                </a:lnTo>
                <a:cubicBezTo>
                  <a:pt x="4133850" y="844176"/>
                  <a:pt x="4082676" y="895350"/>
                  <a:pt x="4019550" y="895350"/>
                </a:cubicBezTo>
                <a:lnTo>
                  <a:pt x="114300" y="895350"/>
                </a:lnTo>
                <a:cubicBezTo>
                  <a:pt x="51174" y="895350"/>
                  <a:pt x="0" y="844176"/>
                  <a:pt x="0" y="7810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52475" y="22287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28575"/>
                </a:moveTo>
                <a:cubicBezTo>
                  <a:pt x="8528" y="28575"/>
                  <a:pt x="3304" y="32058"/>
                  <a:pt x="1072" y="37415"/>
                </a:cubicBezTo>
                <a:cubicBezTo>
                  <a:pt x="-1161" y="42773"/>
                  <a:pt x="89" y="48890"/>
                  <a:pt x="4197" y="52953"/>
                </a:cubicBezTo>
                <a:lnTo>
                  <a:pt x="85725" y="134526"/>
                </a:lnTo>
                <a:lnTo>
                  <a:pt x="85725" y="185738"/>
                </a:lnTo>
                <a:cubicBezTo>
                  <a:pt x="85725" y="189533"/>
                  <a:pt x="87243" y="193149"/>
                  <a:pt x="89922" y="195828"/>
                </a:cubicBezTo>
                <a:lnTo>
                  <a:pt x="118497" y="224403"/>
                </a:lnTo>
                <a:cubicBezTo>
                  <a:pt x="122605" y="228511"/>
                  <a:pt x="128721" y="229716"/>
                  <a:pt x="134079" y="227484"/>
                </a:cubicBezTo>
                <a:cubicBezTo>
                  <a:pt x="139437" y="225251"/>
                  <a:pt x="142875" y="220072"/>
                  <a:pt x="142875" y="214313"/>
                </a:cubicBezTo>
                <a:lnTo>
                  <a:pt x="142875" y="134526"/>
                </a:lnTo>
                <a:lnTo>
                  <a:pt x="224403" y="52998"/>
                </a:lnTo>
                <a:cubicBezTo>
                  <a:pt x="228511" y="48890"/>
                  <a:pt x="229716" y="42773"/>
                  <a:pt x="227484" y="37415"/>
                </a:cubicBezTo>
                <a:cubicBezTo>
                  <a:pt x="225251" y="32058"/>
                  <a:pt x="220072" y="28575"/>
                  <a:pt x="214313" y="28575"/>
                </a:cubicBezTo>
                <a:lnTo>
                  <a:pt x="14288" y="28575"/>
                </a:ln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9" name="Text 7"/>
          <p:cNvSpPr/>
          <p:nvPr/>
        </p:nvSpPr>
        <p:spPr>
          <a:xfrm>
            <a:off x="1123950" y="2209681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1: Funnel Entry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3900" y="2552581"/>
            <a:ext cx="3905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Projects moving from outside to inside funnel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3066931"/>
            <a:ext cx="4133850" cy="895350"/>
          </a:xfrm>
          <a:custGeom>
            <a:avLst/>
            <a:gdLst/>
            <a:ahLst/>
            <a:cxnLst/>
            <a:rect l="l" t="t" r="r" b="b"/>
            <a:pathLst>
              <a:path w="4133850" h="895350">
                <a:moveTo>
                  <a:pt x="114300" y="0"/>
                </a:moveTo>
                <a:lnTo>
                  <a:pt x="4019550" y="0"/>
                </a:lnTo>
                <a:cubicBezTo>
                  <a:pt x="4082676" y="0"/>
                  <a:pt x="4133850" y="51174"/>
                  <a:pt x="4133850" y="114300"/>
                </a:cubicBezTo>
                <a:lnTo>
                  <a:pt x="4133850" y="781050"/>
                </a:lnTo>
                <a:cubicBezTo>
                  <a:pt x="4133850" y="844176"/>
                  <a:pt x="4082676" y="895350"/>
                  <a:pt x="4019550" y="895350"/>
                </a:cubicBezTo>
                <a:lnTo>
                  <a:pt x="114300" y="895350"/>
                </a:lnTo>
                <a:cubicBezTo>
                  <a:pt x="51174" y="895350"/>
                  <a:pt x="0" y="844176"/>
                  <a:pt x="0" y="7810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2475" y="32383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13" name="Text 11"/>
          <p:cNvSpPr/>
          <p:nvPr/>
        </p:nvSpPr>
        <p:spPr>
          <a:xfrm>
            <a:off x="1123950" y="3219331"/>
            <a:ext cx="2724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2: Funnel Management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3900" y="3562231"/>
            <a:ext cx="3905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Ongoing management of existing funnel projects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4267081"/>
            <a:ext cx="4495800" cy="1600200"/>
          </a:xfrm>
          <a:custGeom>
            <a:avLst/>
            <a:gdLst/>
            <a:ahLst/>
            <a:cxnLst/>
            <a:rect l="l" t="t" r="r" b="b"/>
            <a:pathLst>
              <a:path w="4495800" h="1600200">
                <a:moveTo>
                  <a:pt x="38100" y="0"/>
                </a:moveTo>
                <a:lnTo>
                  <a:pt x="4381498" y="0"/>
                </a:lnTo>
                <a:cubicBezTo>
                  <a:pt x="4444583" y="0"/>
                  <a:pt x="4495800" y="51217"/>
                  <a:pt x="4495800" y="114302"/>
                </a:cubicBezTo>
                <a:lnTo>
                  <a:pt x="4495800" y="1485898"/>
                </a:lnTo>
                <a:cubicBezTo>
                  <a:pt x="4495800" y="1548983"/>
                  <a:pt x="4444583" y="1600200"/>
                  <a:pt x="438149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00050" y="4267081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17" name="Text 15"/>
          <p:cNvSpPr/>
          <p:nvPr/>
        </p:nvSpPr>
        <p:spPr>
          <a:xfrm>
            <a:off x="609600" y="4457581"/>
            <a:ext cx="419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 Benefits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8175" y="487668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19" name="Text 17"/>
          <p:cNvSpPr/>
          <p:nvPr/>
        </p:nvSpPr>
        <p:spPr>
          <a:xfrm>
            <a:off x="876300" y="4838581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evaluation criteria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8175" y="518148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21" name="Text 19"/>
          <p:cNvSpPr/>
          <p:nvPr/>
        </p:nvSpPr>
        <p:spPr>
          <a:xfrm>
            <a:off x="876300" y="5143381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 quality measurement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8175" y="548628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23" name="Text 21"/>
          <p:cNvSpPr/>
          <p:nvPr/>
        </p:nvSpPr>
        <p:spPr>
          <a:xfrm>
            <a:off x="876300" y="5448181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issue identification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44440" y="1428750"/>
            <a:ext cx="3324225" cy="2152650"/>
          </a:xfrm>
          <a:custGeom>
            <a:avLst/>
            <a:gdLst/>
            <a:ahLst/>
            <a:cxnLst/>
            <a:rect l="l" t="t" r="r" b="b"/>
            <a:pathLst>
              <a:path w="3324225" h="2152650">
                <a:moveTo>
                  <a:pt x="38100" y="0"/>
                </a:moveTo>
                <a:lnTo>
                  <a:pt x="3286125" y="0"/>
                </a:lnTo>
                <a:cubicBezTo>
                  <a:pt x="3307153" y="0"/>
                  <a:pt x="3324225" y="17072"/>
                  <a:pt x="3324225" y="38100"/>
                </a:cubicBezTo>
                <a:lnTo>
                  <a:pt x="3324225" y="2038344"/>
                </a:lnTo>
                <a:cubicBezTo>
                  <a:pt x="3324225" y="2101474"/>
                  <a:pt x="3273049" y="2152650"/>
                  <a:pt x="3209919" y="2152650"/>
                </a:cubicBezTo>
                <a:lnTo>
                  <a:pt x="114306" y="2152650"/>
                </a:lnTo>
                <a:cubicBezTo>
                  <a:pt x="51176" y="2152650"/>
                  <a:pt x="0" y="2101474"/>
                  <a:pt x="0" y="20383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44440" y="1428750"/>
            <a:ext cx="3324225" cy="38100"/>
          </a:xfrm>
          <a:custGeom>
            <a:avLst/>
            <a:gdLst/>
            <a:ahLst/>
            <a:cxnLst/>
            <a:rect l="l" t="t" r="r" b="b"/>
            <a:pathLst>
              <a:path w="3324225" h="38100">
                <a:moveTo>
                  <a:pt x="38100" y="0"/>
                </a:moveTo>
                <a:lnTo>
                  <a:pt x="3286125" y="0"/>
                </a:lnTo>
                <a:cubicBezTo>
                  <a:pt x="3307153" y="0"/>
                  <a:pt x="3324225" y="17072"/>
                  <a:pt x="3324225" y="38100"/>
                </a:cubicBezTo>
                <a:lnTo>
                  <a:pt x="3324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26" name="Shape 24"/>
          <p:cNvSpPr/>
          <p:nvPr/>
        </p:nvSpPr>
        <p:spPr>
          <a:xfrm>
            <a:off x="519684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27" name="Text 25"/>
          <p:cNvSpPr/>
          <p:nvPr/>
        </p:nvSpPr>
        <p:spPr>
          <a:xfrm>
            <a:off x="5149215" y="1600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68340" y="169545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Self-Assessment Scoring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96840" y="2171700"/>
            <a:ext cx="309562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Pre-sales evaluates product lists using weighted criteria across four dimensions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96840" y="2971681"/>
            <a:ext cx="3019425" cy="457200"/>
          </a:xfrm>
          <a:custGeom>
            <a:avLst/>
            <a:gdLst/>
            <a:ahLst/>
            <a:cxnLst/>
            <a:rect l="l" t="t" r="r" b="b"/>
            <a:pathLst>
              <a:path w="3019425" h="457200">
                <a:moveTo>
                  <a:pt x="76202" y="0"/>
                </a:moveTo>
                <a:lnTo>
                  <a:pt x="2943223" y="0"/>
                </a:lnTo>
                <a:cubicBezTo>
                  <a:pt x="2985308" y="0"/>
                  <a:pt x="3019425" y="34117"/>
                  <a:pt x="3019425" y="76202"/>
                </a:cubicBezTo>
                <a:lnTo>
                  <a:pt x="3019425" y="380998"/>
                </a:lnTo>
                <a:cubicBezTo>
                  <a:pt x="3019425" y="423083"/>
                  <a:pt x="2985308" y="457200"/>
                  <a:pt x="29432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C6A72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311140" y="3085981"/>
            <a:ext cx="286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6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in: Both processes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84870" y="1428750"/>
            <a:ext cx="3324225" cy="2152650"/>
          </a:xfrm>
          <a:custGeom>
            <a:avLst/>
            <a:gdLst/>
            <a:ahLst/>
            <a:cxnLst/>
            <a:rect l="l" t="t" r="r" b="b"/>
            <a:pathLst>
              <a:path w="3324225" h="2152650">
                <a:moveTo>
                  <a:pt x="38100" y="0"/>
                </a:moveTo>
                <a:lnTo>
                  <a:pt x="3286125" y="0"/>
                </a:lnTo>
                <a:cubicBezTo>
                  <a:pt x="3307153" y="0"/>
                  <a:pt x="3324225" y="17072"/>
                  <a:pt x="3324225" y="38100"/>
                </a:cubicBezTo>
                <a:lnTo>
                  <a:pt x="3324225" y="2038344"/>
                </a:lnTo>
                <a:cubicBezTo>
                  <a:pt x="3324225" y="2101474"/>
                  <a:pt x="3273049" y="2152650"/>
                  <a:pt x="3209919" y="2152650"/>
                </a:cubicBezTo>
                <a:lnTo>
                  <a:pt x="114306" y="2152650"/>
                </a:lnTo>
                <a:cubicBezTo>
                  <a:pt x="51176" y="2152650"/>
                  <a:pt x="0" y="2101474"/>
                  <a:pt x="0" y="20383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84870" y="1428750"/>
            <a:ext cx="3324225" cy="38100"/>
          </a:xfrm>
          <a:custGeom>
            <a:avLst/>
            <a:gdLst/>
            <a:ahLst/>
            <a:cxnLst/>
            <a:rect l="l" t="t" r="r" b="b"/>
            <a:pathLst>
              <a:path w="3324225" h="38100">
                <a:moveTo>
                  <a:pt x="38100" y="0"/>
                </a:moveTo>
                <a:lnTo>
                  <a:pt x="3286125" y="0"/>
                </a:lnTo>
                <a:cubicBezTo>
                  <a:pt x="3307153" y="0"/>
                  <a:pt x="3324225" y="17072"/>
                  <a:pt x="3324225" y="38100"/>
                </a:cubicBezTo>
                <a:lnTo>
                  <a:pt x="3324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8B8C2"/>
          </a:solidFill>
          <a:ln/>
        </p:spPr>
      </p:sp>
      <p:sp>
        <p:nvSpPr>
          <p:cNvPr id="34" name="Shape 32"/>
          <p:cNvSpPr/>
          <p:nvPr/>
        </p:nvSpPr>
        <p:spPr>
          <a:xfrm>
            <a:off x="863727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A8B8C2"/>
          </a:solidFill>
          <a:ln/>
        </p:spPr>
      </p:sp>
      <p:sp>
        <p:nvSpPr>
          <p:cNvPr id="35" name="Text 33"/>
          <p:cNvSpPr/>
          <p:nvPr/>
        </p:nvSpPr>
        <p:spPr>
          <a:xfrm>
            <a:off x="8589645" y="1600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208770" y="1695450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Funnel Entry Criteria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37270" y="2171700"/>
            <a:ext cx="309562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Minimum requirements for projects entering the funnel: Budget ≥3 AND Product Series ≥3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637270" y="2971681"/>
            <a:ext cx="3019425" cy="457200"/>
          </a:xfrm>
          <a:custGeom>
            <a:avLst/>
            <a:gdLst/>
            <a:ahLst/>
            <a:cxnLst/>
            <a:rect l="l" t="t" r="r" b="b"/>
            <a:pathLst>
              <a:path w="3019425" h="457200">
                <a:moveTo>
                  <a:pt x="76202" y="0"/>
                </a:moveTo>
                <a:lnTo>
                  <a:pt x="2943223" y="0"/>
                </a:lnTo>
                <a:cubicBezTo>
                  <a:pt x="2985308" y="0"/>
                  <a:pt x="3019425" y="34117"/>
                  <a:pt x="3019425" y="76202"/>
                </a:cubicBezTo>
                <a:lnTo>
                  <a:pt x="3019425" y="380998"/>
                </a:lnTo>
                <a:cubicBezTo>
                  <a:pt x="3019425" y="423083"/>
                  <a:pt x="2985308" y="457200"/>
                  <a:pt x="29432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8B8C2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751570" y="3085981"/>
            <a:ext cx="286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6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in: Process 1 only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044440" y="3714631"/>
            <a:ext cx="3324225" cy="2152650"/>
          </a:xfrm>
          <a:custGeom>
            <a:avLst/>
            <a:gdLst/>
            <a:ahLst/>
            <a:cxnLst/>
            <a:rect l="l" t="t" r="r" b="b"/>
            <a:pathLst>
              <a:path w="3324225" h="2152650">
                <a:moveTo>
                  <a:pt x="38100" y="0"/>
                </a:moveTo>
                <a:lnTo>
                  <a:pt x="3286125" y="0"/>
                </a:lnTo>
                <a:cubicBezTo>
                  <a:pt x="3307153" y="0"/>
                  <a:pt x="3324225" y="17072"/>
                  <a:pt x="3324225" y="38100"/>
                </a:cubicBezTo>
                <a:lnTo>
                  <a:pt x="3324225" y="2038344"/>
                </a:lnTo>
                <a:cubicBezTo>
                  <a:pt x="3324225" y="2101474"/>
                  <a:pt x="3273049" y="2152650"/>
                  <a:pt x="3209919" y="2152650"/>
                </a:cubicBezTo>
                <a:lnTo>
                  <a:pt x="114306" y="2152650"/>
                </a:lnTo>
                <a:cubicBezTo>
                  <a:pt x="51176" y="2152650"/>
                  <a:pt x="0" y="2101474"/>
                  <a:pt x="0" y="20383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044440" y="3714631"/>
            <a:ext cx="3324225" cy="38100"/>
          </a:xfrm>
          <a:custGeom>
            <a:avLst/>
            <a:gdLst/>
            <a:ahLst/>
            <a:cxnLst/>
            <a:rect l="l" t="t" r="r" b="b"/>
            <a:pathLst>
              <a:path w="3324225" h="38100">
                <a:moveTo>
                  <a:pt x="38100" y="0"/>
                </a:moveTo>
                <a:lnTo>
                  <a:pt x="3286125" y="0"/>
                </a:lnTo>
                <a:cubicBezTo>
                  <a:pt x="3307153" y="0"/>
                  <a:pt x="3324225" y="17072"/>
                  <a:pt x="3324225" y="38100"/>
                </a:cubicBezTo>
                <a:lnTo>
                  <a:pt x="3324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42" name="Shape 40"/>
          <p:cNvSpPr/>
          <p:nvPr/>
        </p:nvSpPr>
        <p:spPr>
          <a:xfrm>
            <a:off x="5196840" y="38860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43" name="Text 41"/>
          <p:cNvSpPr/>
          <p:nvPr/>
        </p:nvSpPr>
        <p:spPr>
          <a:xfrm>
            <a:off x="5149215" y="388608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768340" y="3981331"/>
            <a:ext cx="2362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Forecast Category Thresholds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196840" y="4457581"/>
            <a:ext cx="309562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credibility requirements based on prediction category: Possible- (24%), Possible+ (60%), Advantaged (80%)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196840" y="5257681"/>
            <a:ext cx="3019425" cy="457200"/>
          </a:xfrm>
          <a:custGeom>
            <a:avLst/>
            <a:gdLst/>
            <a:ahLst/>
            <a:cxnLst/>
            <a:rect l="l" t="t" r="r" b="b"/>
            <a:pathLst>
              <a:path w="3019425" h="457200">
                <a:moveTo>
                  <a:pt x="76202" y="0"/>
                </a:moveTo>
                <a:lnTo>
                  <a:pt x="2943223" y="0"/>
                </a:lnTo>
                <a:cubicBezTo>
                  <a:pt x="2985308" y="0"/>
                  <a:pt x="3019425" y="34117"/>
                  <a:pt x="3019425" y="76202"/>
                </a:cubicBezTo>
                <a:lnTo>
                  <a:pt x="3019425" y="380998"/>
                </a:lnTo>
                <a:cubicBezTo>
                  <a:pt x="3019425" y="423083"/>
                  <a:pt x="2985308" y="457200"/>
                  <a:pt x="29432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A467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311140" y="5371981"/>
            <a:ext cx="286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6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in: Process 2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84870" y="3714631"/>
            <a:ext cx="3324225" cy="2152650"/>
          </a:xfrm>
          <a:custGeom>
            <a:avLst/>
            <a:gdLst/>
            <a:ahLst/>
            <a:cxnLst/>
            <a:rect l="l" t="t" r="r" b="b"/>
            <a:pathLst>
              <a:path w="3324225" h="2152650">
                <a:moveTo>
                  <a:pt x="38100" y="0"/>
                </a:moveTo>
                <a:lnTo>
                  <a:pt x="3286125" y="0"/>
                </a:lnTo>
                <a:cubicBezTo>
                  <a:pt x="3307153" y="0"/>
                  <a:pt x="3324225" y="17072"/>
                  <a:pt x="3324225" y="38100"/>
                </a:cubicBezTo>
                <a:lnTo>
                  <a:pt x="3324225" y="2038344"/>
                </a:lnTo>
                <a:cubicBezTo>
                  <a:pt x="3324225" y="2101474"/>
                  <a:pt x="3273049" y="2152650"/>
                  <a:pt x="3209919" y="2152650"/>
                </a:cubicBezTo>
                <a:lnTo>
                  <a:pt x="114306" y="2152650"/>
                </a:lnTo>
                <a:cubicBezTo>
                  <a:pt x="51176" y="2152650"/>
                  <a:pt x="0" y="2101474"/>
                  <a:pt x="0" y="20383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484870" y="3714631"/>
            <a:ext cx="3324225" cy="38100"/>
          </a:xfrm>
          <a:custGeom>
            <a:avLst/>
            <a:gdLst/>
            <a:ahLst/>
            <a:cxnLst/>
            <a:rect l="l" t="t" r="r" b="b"/>
            <a:pathLst>
              <a:path w="3324225" h="38100">
                <a:moveTo>
                  <a:pt x="38100" y="0"/>
                </a:moveTo>
                <a:lnTo>
                  <a:pt x="3286125" y="0"/>
                </a:lnTo>
                <a:cubicBezTo>
                  <a:pt x="3307153" y="0"/>
                  <a:pt x="3324225" y="17072"/>
                  <a:pt x="3324225" y="38100"/>
                </a:cubicBezTo>
                <a:lnTo>
                  <a:pt x="3324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50" name="Shape 48"/>
          <p:cNvSpPr/>
          <p:nvPr/>
        </p:nvSpPr>
        <p:spPr>
          <a:xfrm>
            <a:off x="8637270" y="38860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51" name="Text 49"/>
          <p:cNvSpPr/>
          <p:nvPr/>
        </p:nvSpPr>
        <p:spPr>
          <a:xfrm>
            <a:off x="8589645" y="388608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208770" y="3981331"/>
            <a:ext cx="2105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Bid Timeline Requirements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637270" y="4457581"/>
            <a:ext cx="309562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Within 30 days of bid opening: Non-weak current/ICT (100%), Weak current/ICT (65%)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637270" y="5257681"/>
            <a:ext cx="3019425" cy="457200"/>
          </a:xfrm>
          <a:custGeom>
            <a:avLst/>
            <a:gdLst/>
            <a:ahLst/>
            <a:cxnLst/>
            <a:rect l="l" t="t" r="r" b="b"/>
            <a:pathLst>
              <a:path w="3019425" h="457200">
                <a:moveTo>
                  <a:pt x="76202" y="0"/>
                </a:moveTo>
                <a:lnTo>
                  <a:pt x="2943223" y="0"/>
                </a:lnTo>
                <a:cubicBezTo>
                  <a:pt x="2985308" y="0"/>
                  <a:pt x="3019425" y="34117"/>
                  <a:pt x="3019425" y="76202"/>
                </a:cubicBezTo>
                <a:lnTo>
                  <a:pt x="3019425" y="380998"/>
                </a:lnTo>
                <a:cubicBezTo>
                  <a:pt x="3019425" y="423083"/>
                  <a:pt x="2985308" y="457200"/>
                  <a:pt x="29432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C6A72">
              <a:alpha val="1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751570" y="5371981"/>
            <a:ext cx="286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6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in: Process 2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00050" y="6019681"/>
            <a:ext cx="11410950" cy="552450"/>
          </a:xfrm>
          <a:custGeom>
            <a:avLst/>
            <a:gdLst/>
            <a:ahLst/>
            <a:cxnLst/>
            <a:rect l="l" t="t" r="r" b="b"/>
            <a:pathLst>
              <a:path w="11410950" h="552450">
                <a:moveTo>
                  <a:pt x="38100" y="0"/>
                </a:moveTo>
                <a:lnTo>
                  <a:pt x="11296648" y="0"/>
                </a:lnTo>
                <a:cubicBezTo>
                  <a:pt x="11359775" y="0"/>
                  <a:pt x="11410950" y="51175"/>
                  <a:pt x="11410950" y="114302"/>
                </a:cubicBezTo>
                <a:lnTo>
                  <a:pt x="11410950" y="438148"/>
                </a:lnTo>
                <a:cubicBezTo>
                  <a:pt x="11410950" y="501275"/>
                  <a:pt x="11359775" y="552450"/>
                  <a:pt x="11296648" y="552450"/>
                </a:cubicBez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00050" y="6019681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100" y="0"/>
                </a:moveTo>
                <a:lnTo>
                  <a:pt x="38100" y="0"/>
                </a:lnTo>
                <a:lnTo>
                  <a:pt x="38100" y="552450"/>
                </a:ln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58" name="Text 56"/>
          <p:cNvSpPr/>
          <p:nvPr/>
        </p:nvSpPr>
        <p:spPr>
          <a:xfrm>
            <a:off x="571500" y="6172081"/>
            <a:ext cx="11163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Note:</a:t>
            </a:r>
            <a:r>
              <a:rPr lang="en-US" sz="1200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four standards work together to ensure product list quality throughout the project lifecycle, from initial entry to ongoing management.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340" y="378340"/>
            <a:ext cx="11501530" cy="18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3" b="1" kern="0" spc="104" dirty="0">
                <a:solidFill>
                  <a:srgbClr val="D9A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8340" y="643178"/>
            <a:ext cx="11662324" cy="45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75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Self-Assessment Scoring Criteria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8340" y="1210690"/>
            <a:ext cx="908016" cy="37834"/>
          </a:xfrm>
          <a:custGeom>
            <a:avLst/>
            <a:gdLst/>
            <a:ahLst/>
            <a:cxnLst/>
            <a:rect l="l" t="t" r="r" b="b"/>
            <a:pathLst>
              <a:path w="908016" h="37834">
                <a:moveTo>
                  <a:pt x="0" y="0"/>
                </a:moveTo>
                <a:lnTo>
                  <a:pt x="908016" y="0"/>
                </a:lnTo>
                <a:lnTo>
                  <a:pt x="908016" y="37834"/>
                </a:lnTo>
                <a:lnTo>
                  <a:pt x="0" y="37834"/>
                </a:lnTo>
                <a:lnTo>
                  <a:pt x="0" y="0"/>
                </a:ln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5" name="Shape 3"/>
          <p:cNvSpPr/>
          <p:nvPr/>
        </p:nvSpPr>
        <p:spPr>
          <a:xfrm>
            <a:off x="378340" y="1399860"/>
            <a:ext cx="11435320" cy="3603687"/>
          </a:xfrm>
          <a:custGeom>
            <a:avLst/>
            <a:gdLst/>
            <a:ahLst/>
            <a:cxnLst/>
            <a:rect l="l" t="t" r="r" b="b"/>
            <a:pathLst>
              <a:path w="11435320" h="3603687">
                <a:moveTo>
                  <a:pt x="113516" y="0"/>
                </a:moveTo>
                <a:lnTo>
                  <a:pt x="11321804" y="0"/>
                </a:lnTo>
                <a:cubicBezTo>
                  <a:pt x="11384498" y="0"/>
                  <a:pt x="11435320" y="50823"/>
                  <a:pt x="11435320" y="113516"/>
                </a:cubicBezTo>
                <a:lnTo>
                  <a:pt x="11435320" y="3490170"/>
                </a:lnTo>
                <a:cubicBezTo>
                  <a:pt x="11435320" y="3552864"/>
                  <a:pt x="11384498" y="3603687"/>
                  <a:pt x="11321804" y="3603687"/>
                </a:cubicBezTo>
                <a:lnTo>
                  <a:pt x="113516" y="3603687"/>
                </a:lnTo>
                <a:cubicBezTo>
                  <a:pt x="50823" y="3603687"/>
                  <a:pt x="0" y="3552864"/>
                  <a:pt x="0" y="3490170"/>
                </a:cubicBezTo>
                <a:lnTo>
                  <a:pt x="0" y="113516"/>
                </a:lnTo>
                <a:cubicBezTo>
                  <a:pt x="0" y="50865"/>
                  <a:pt x="50865" y="0"/>
                  <a:pt x="11351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751" dist="37834" dir="5400000" algn="bl" rotWithShape="0">
              <a:srgbClr val="000000">
                <a:alpha val="10196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9676" y="1551195"/>
          <a:ext cx="11132650" cy="3301015"/>
        </p:xfrm>
        <a:graphic>
          <a:graphicData uri="http://schemas.openxmlformats.org/drawingml/2006/table">
            <a:tbl>
              <a:tblPr/>
              <a:tblGrid>
                <a:gridCol w="2565432"/>
                <a:gridCol w="1211717"/>
                <a:gridCol w="1031853"/>
                <a:gridCol w="1069719"/>
                <a:gridCol w="5253929"/>
              </a:tblGrid>
              <a:tr h="660203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Category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A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Weight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A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Score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A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A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Scoring Criteria (5-Point System)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A72"/>
                    </a:solidFill>
                  </a:tcPr>
                </a:tc>
              </a:tr>
              <a:tr h="660203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4C6A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Project Budget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A72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2E3A4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20%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A72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2E3A4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A72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D9A46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A72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E3A4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5: Confirmed budget &amp;amp; pricing strategy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E3A4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4: Clear budget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E3A4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3: Estimable budget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A72">
                        <a:alpha val="5000"/>
                      </a:srgbClr>
                    </a:solidFill>
                  </a:tcPr>
                </a:tc>
              </a:tr>
              <a:tr h="660203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4C6A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Technical Route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2E3A4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20%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2E3A4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D9A46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E3A4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5: All series confirmable (in tender doc)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E3A4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4: 80%+ series confirmable (decision made)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E3A4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3: 50%+ series confirmable (our recommendation)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60203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4C6A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Product Model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A72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2E3A4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30%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A72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2E3A4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A72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D9A46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A72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E3A4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5: All models confirmable (specs in tender)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E3A4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4: 80%+ models confirmable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E3A4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3: 50%+ models confirmable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A72">
                        <a:alpha val="5000"/>
                      </a:srgbClr>
                    </a:solidFill>
                  </a:tcPr>
                </a:tc>
              </a:tr>
              <a:tr h="660203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4C6A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Performance/Quantity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2E3A4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30%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2E3A4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D9A46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E3A4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5: All quantities confirmed (in tender)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E3A4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4: 80%+ quantities confirmed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E3A4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3: 50%+ quantities confirmed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3502" marR="113502" marT="75668" marB="75668" anchor="ctr">
                    <a:lnL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378340" y="5140289"/>
            <a:ext cx="3707730" cy="1702529"/>
          </a:xfrm>
          <a:custGeom>
            <a:avLst/>
            <a:gdLst/>
            <a:ahLst/>
            <a:cxnLst/>
            <a:rect l="l" t="t" r="r" b="b"/>
            <a:pathLst>
              <a:path w="3707730" h="1702529">
                <a:moveTo>
                  <a:pt x="113508" y="0"/>
                </a:moveTo>
                <a:lnTo>
                  <a:pt x="3594222" y="0"/>
                </a:lnTo>
                <a:cubicBezTo>
                  <a:pt x="3656911" y="0"/>
                  <a:pt x="3707730" y="50819"/>
                  <a:pt x="3707730" y="113508"/>
                </a:cubicBezTo>
                <a:lnTo>
                  <a:pt x="3707730" y="1589021"/>
                </a:lnTo>
                <a:cubicBezTo>
                  <a:pt x="3707730" y="1651710"/>
                  <a:pt x="3656911" y="1702529"/>
                  <a:pt x="3594222" y="1702529"/>
                </a:cubicBezTo>
                <a:lnTo>
                  <a:pt x="113508" y="1702529"/>
                </a:lnTo>
                <a:cubicBezTo>
                  <a:pt x="50819" y="1702529"/>
                  <a:pt x="0" y="1651710"/>
                  <a:pt x="0" y="1589021"/>
                </a:cubicBezTo>
                <a:lnTo>
                  <a:pt x="0" y="113508"/>
                </a:lnTo>
                <a:cubicBezTo>
                  <a:pt x="0" y="50861"/>
                  <a:pt x="50861" y="0"/>
                  <a:pt x="113508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8" name="Text 5"/>
          <p:cNvSpPr/>
          <p:nvPr/>
        </p:nvSpPr>
        <p:spPr>
          <a:xfrm>
            <a:off x="529676" y="5291624"/>
            <a:ext cx="3499643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Credibility Score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9676" y="5669964"/>
            <a:ext cx="3632062" cy="45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75" b="1" dirty="0">
                <a:solidFill>
                  <a:srgbClr val="D9A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29676" y="6199640"/>
            <a:ext cx="3480726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Minimum for funnel entry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84698" y="5113940"/>
            <a:ext cx="3688813" cy="1683613"/>
          </a:xfrm>
          <a:custGeom>
            <a:avLst/>
            <a:gdLst/>
            <a:ahLst/>
            <a:cxnLst/>
            <a:rect l="l" t="t" r="r" b="b"/>
            <a:pathLst>
              <a:path w="3688813" h="1702529">
                <a:moveTo>
                  <a:pt x="37834" y="0"/>
                </a:moveTo>
                <a:lnTo>
                  <a:pt x="3575305" y="0"/>
                </a:lnTo>
                <a:cubicBezTo>
                  <a:pt x="3637994" y="0"/>
                  <a:pt x="3688813" y="50819"/>
                  <a:pt x="3688813" y="113508"/>
                </a:cubicBezTo>
                <a:lnTo>
                  <a:pt x="3688813" y="1589021"/>
                </a:lnTo>
                <a:cubicBezTo>
                  <a:pt x="3688813" y="1651710"/>
                  <a:pt x="3637994" y="1702529"/>
                  <a:pt x="3575305" y="1702529"/>
                </a:cubicBezTo>
                <a:lnTo>
                  <a:pt x="37834" y="1702529"/>
                </a:lnTo>
                <a:cubicBezTo>
                  <a:pt x="16939" y="1702529"/>
                  <a:pt x="0" y="1685590"/>
                  <a:pt x="0" y="1664695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751" dist="378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9042" y="5140289"/>
            <a:ext cx="37834" cy="1702529"/>
          </a:xfrm>
          <a:custGeom>
            <a:avLst/>
            <a:gdLst/>
            <a:ahLst/>
            <a:cxnLst/>
            <a:rect l="l" t="t" r="r" b="b"/>
            <a:pathLst>
              <a:path w="37834" h="1702529">
                <a:moveTo>
                  <a:pt x="37834" y="0"/>
                </a:moveTo>
                <a:lnTo>
                  <a:pt x="37834" y="0"/>
                </a:lnTo>
                <a:lnTo>
                  <a:pt x="37834" y="1702529"/>
                </a:lnTo>
                <a:lnTo>
                  <a:pt x="37834" y="1702529"/>
                </a:lnTo>
                <a:cubicBezTo>
                  <a:pt x="16939" y="1702529"/>
                  <a:pt x="0" y="1685590"/>
                  <a:pt x="0" y="1664695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13" name="Text 10"/>
          <p:cNvSpPr/>
          <p:nvPr/>
        </p:nvSpPr>
        <p:spPr>
          <a:xfrm>
            <a:off x="4429295" y="5291624"/>
            <a:ext cx="3452351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1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Scoring System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29295" y="5669964"/>
            <a:ext cx="3442892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5:</a:t>
            </a:r>
            <a:r>
              <a:rPr lang="en-US" sz="1192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Fully confirmed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429295" y="5934802"/>
            <a:ext cx="3442892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4:</a:t>
            </a:r>
            <a:r>
              <a:rPr lang="en-US" sz="1192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80%+ certain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429295" y="6199640"/>
            <a:ext cx="3442892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3:</a:t>
            </a:r>
            <a:r>
              <a:rPr lang="en-US" sz="1192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50%+ certain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29295" y="6464478"/>
            <a:ext cx="3442892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0:</a:t>
            </a:r>
            <a:r>
              <a:rPr lang="en-US" sz="1192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Below 50%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20946" y="5085970"/>
            <a:ext cx="3688813" cy="1702529"/>
          </a:xfrm>
          <a:custGeom>
            <a:avLst/>
            <a:gdLst/>
            <a:ahLst/>
            <a:cxnLst/>
            <a:rect l="l" t="t" r="r" b="b"/>
            <a:pathLst>
              <a:path w="3688813" h="1702529">
                <a:moveTo>
                  <a:pt x="37834" y="0"/>
                </a:moveTo>
                <a:lnTo>
                  <a:pt x="3575305" y="0"/>
                </a:lnTo>
                <a:cubicBezTo>
                  <a:pt x="3637994" y="0"/>
                  <a:pt x="3688813" y="50819"/>
                  <a:pt x="3688813" y="113508"/>
                </a:cubicBezTo>
                <a:lnTo>
                  <a:pt x="3688813" y="1589021"/>
                </a:lnTo>
                <a:cubicBezTo>
                  <a:pt x="3688813" y="1651710"/>
                  <a:pt x="3637994" y="1702529"/>
                  <a:pt x="3575305" y="1702529"/>
                </a:cubicBezTo>
                <a:lnTo>
                  <a:pt x="37834" y="1702529"/>
                </a:lnTo>
                <a:cubicBezTo>
                  <a:pt x="16939" y="1702529"/>
                  <a:pt x="0" y="1685590"/>
                  <a:pt x="0" y="1664695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751" dist="378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20946" y="5140289"/>
            <a:ext cx="37834" cy="1702529"/>
          </a:xfrm>
          <a:custGeom>
            <a:avLst/>
            <a:gdLst/>
            <a:ahLst/>
            <a:cxnLst/>
            <a:rect l="l" t="t" r="r" b="b"/>
            <a:pathLst>
              <a:path w="37834" h="1702529">
                <a:moveTo>
                  <a:pt x="37834" y="0"/>
                </a:moveTo>
                <a:lnTo>
                  <a:pt x="37834" y="0"/>
                </a:lnTo>
                <a:lnTo>
                  <a:pt x="37834" y="1702529"/>
                </a:lnTo>
                <a:lnTo>
                  <a:pt x="37834" y="1702529"/>
                </a:lnTo>
                <a:cubicBezTo>
                  <a:pt x="16939" y="1702529"/>
                  <a:pt x="0" y="1685590"/>
                  <a:pt x="0" y="1664695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20" name="Text 17"/>
          <p:cNvSpPr/>
          <p:nvPr/>
        </p:nvSpPr>
        <p:spPr>
          <a:xfrm>
            <a:off x="8291199" y="5291624"/>
            <a:ext cx="3452351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1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Notes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291199" y="5669964"/>
            <a:ext cx="3442892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Product series defined by configurator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91199" y="5934802"/>
            <a:ext cx="3442892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Sales judgment for budget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291199" y="6199640"/>
            <a:ext cx="3442892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Technical specs in tender docs = highest certainty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887" y="332887"/>
            <a:ext cx="11584481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kern="0" spc="92" dirty="0">
                <a:solidFill>
                  <a:srgbClr val="D9A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STANDARDS 2-4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2887" y="565909"/>
            <a:ext cx="11725958" cy="39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45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Funnel Entry &amp; Forecast Thresholds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2887" y="1065240"/>
            <a:ext cx="798930" cy="33289"/>
          </a:xfrm>
          <a:custGeom>
            <a:avLst/>
            <a:gdLst/>
            <a:ahLst/>
            <a:cxnLst/>
            <a:rect l="l" t="t" r="r" b="b"/>
            <a:pathLst>
              <a:path w="798930" h="33289">
                <a:moveTo>
                  <a:pt x="0" y="0"/>
                </a:moveTo>
                <a:lnTo>
                  <a:pt x="798930" y="0"/>
                </a:lnTo>
                <a:lnTo>
                  <a:pt x="798930" y="33289"/>
                </a:lnTo>
                <a:lnTo>
                  <a:pt x="0" y="33289"/>
                </a:lnTo>
                <a:lnTo>
                  <a:pt x="0" y="0"/>
                </a:ln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5" name="Shape 3"/>
          <p:cNvSpPr/>
          <p:nvPr/>
        </p:nvSpPr>
        <p:spPr>
          <a:xfrm>
            <a:off x="349532" y="1231683"/>
            <a:ext cx="11509581" cy="2296923"/>
          </a:xfrm>
          <a:custGeom>
            <a:avLst/>
            <a:gdLst/>
            <a:ahLst/>
            <a:cxnLst/>
            <a:rect l="l" t="t" r="r" b="b"/>
            <a:pathLst>
              <a:path w="11509581" h="2296923">
                <a:moveTo>
                  <a:pt x="33289" y="0"/>
                </a:moveTo>
                <a:lnTo>
                  <a:pt x="11409711" y="0"/>
                </a:lnTo>
                <a:cubicBezTo>
                  <a:pt x="11464867" y="0"/>
                  <a:pt x="11509581" y="44713"/>
                  <a:pt x="11509581" y="99870"/>
                </a:cubicBezTo>
                <a:lnTo>
                  <a:pt x="11509581" y="2197053"/>
                </a:lnTo>
                <a:cubicBezTo>
                  <a:pt x="11509581" y="2252209"/>
                  <a:pt x="11464867" y="2296923"/>
                  <a:pt x="11409711" y="2296923"/>
                </a:cubicBezTo>
                <a:lnTo>
                  <a:pt x="33289" y="2296923"/>
                </a:lnTo>
                <a:cubicBezTo>
                  <a:pt x="14904" y="2296923"/>
                  <a:pt x="0" y="2282019"/>
                  <a:pt x="0" y="2263634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933" dist="332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9532" y="1231683"/>
            <a:ext cx="33289" cy="2296923"/>
          </a:xfrm>
          <a:custGeom>
            <a:avLst/>
            <a:gdLst/>
            <a:ahLst/>
            <a:cxnLst/>
            <a:rect l="l" t="t" r="r" b="b"/>
            <a:pathLst>
              <a:path w="33289" h="2296923">
                <a:moveTo>
                  <a:pt x="33289" y="0"/>
                </a:moveTo>
                <a:lnTo>
                  <a:pt x="33289" y="0"/>
                </a:lnTo>
                <a:lnTo>
                  <a:pt x="33289" y="2296923"/>
                </a:lnTo>
                <a:lnTo>
                  <a:pt x="33289" y="2296923"/>
                </a:lnTo>
                <a:cubicBezTo>
                  <a:pt x="14904" y="2296923"/>
                  <a:pt x="0" y="2282019"/>
                  <a:pt x="0" y="2263634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A8B8C2"/>
          </a:solidFill>
          <a:ln/>
        </p:spPr>
      </p:sp>
      <p:sp>
        <p:nvSpPr>
          <p:cNvPr id="7" name="Shape 5"/>
          <p:cNvSpPr/>
          <p:nvPr/>
        </p:nvSpPr>
        <p:spPr>
          <a:xfrm>
            <a:off x="532620" y="1398127"/>
            <a:ext cx="466042" cy="466042"/>
          </a:xfrm>
          <a:custGeom>
            <a:avLst/>
            <a:gdLst/>
            <a:ahLst/>
            <a:cxnLst/>
            <a:rect l="l" t="t" r="r" b="b"/>
            <a:pathLst>
              <a:path w="466042" h="466042">
                <a:moveTo>
                  <a:pt x="233021" y="0"/>
                </a:moveTo>
                <a:lnTo>
                  <a:pt x="233021" y="0"/>
                </a:lnTo>
                <a:cubicBezTo>
                  <a:pt x="361629" y="0"/>
                  <a:pt x="466042" y="104413"/>
                  <a:pt x="466042" y="233021"/>
                </a:cubicBezTo>
                <a:lnTo>
                  <a:pt x="466042" y="233021"/>
                </a:lnTo>
                <a:cubicBezTo>
                  <a:pt x="466042" y="361629"/>
                  <a:pt x="361629" y="466042"/>
                  <a:pt x="233021" y="466042"/>
                </a:cubicBezTo>
                <a:lnTo>
                  <a:pt x="233021" y="466042"/>
                </a:lnTo>
                <a:cubicBezTo>
                  <a:pt x="104413" y="466042"/>
                  <a:pt x="0" y="361629"/>
                  <a:pt x="0" y="233021"/>
                </a:cubicBezTo>
                <a:lnTo>
                  <a:pt x="0" y="233021"/>
                </a:lnTo>
                <a:cubicBezTo>
                  <a:pt x="0" y="104413"/>
                  <a:pt x="104413" y="0"/>
                  <a:pt x="233021" y="0"/>
                </a:cubicBezTo>
                <a:close/>
              </a:path>
            </a:pathLst>
          </a:custGeom>
          <a:solidFill>
            <a:srgbClr val="A8B8C2"/>
          </a:solidFill>
          <a:ln/>
        </p:spPr>
      </p:sp>
      <p:sp>
        <p:nvSpPr>
          <p:cNvPr id="8" name="Text 6"/>
          <p:cNvSpPr/>
          <p:nvPr/>
        </p:nvSpPr>
        <p:spPr>
          <a:xfrm>
            <a:off x="482687" y="1398127"/>
            <a:ext cx="565909" cy="46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31817" y="1497993"/>
            <a:ext cx="2937731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3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2: Funnel Entry Criteria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2620" y="1964035"/>
            <a:ext cx="11226627" cy="432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8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entering the funnel, pre-sales conducts self-assessment. The product list can only be shared with sales when </a:t>
            </a:r>
            <a:r>
              <a:rPr lang="en-US" sz="1048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"Budget Amount" and "Product Series" score ≥3 points</a:t>
            </a:r>
            <a:r>
              <a:rPr lang="en-US" sz="1048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Sales can then import the shared list (which carries the credibility score) and submit the funnel application.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2620" y="2496655"/>
            <a:ext cx="5509286" cy="865507"/>
          </a:xfrm>
          <a:custGeom>
            <a:avLst/>
            <a:gdLst/>
            <a:ahLst/>
            <a:cxnLst/>
            <a:rect l="l" t="t" r="r" b="b"/>
            <a:pathLst>
              <a:path w="5509286" h="865507">
                <a:moveTo>
                  <a:pt x="99862" y="0"/>
                </a:moveTo>
                <a:lnTo>
                  <a:pt x="5409424" y="0"/>
                </a:lnTo>
                <a:cubicBezTo>
                  <a:pt x="5464576" y="0"/>
                  <a:pt x="5509286" y="44710"/>
                  <a:pt x="5509286" y="99862"/>
                </a:cubicBezTo>
                <a:lnTo>
                  <a:pt x="5509286" y="765645"/>
                </a:lnTo>
                <a:cubicBezTo>
                  <a:pt x="5509286" y="820797"/>
                  <a:pt x="5464576" y="865507"/>
                  <a:pt x="5409424" y="865507"/>
                </a:cubicBezTo>
                <a:lnTo>
                  <a:pt x="99862" y="865507"/>
                </a:lnTo>
                <a:cubicBezTo>
                  <a:pt x="44710" y="865507"/>
                  <a:pt x="0" y="820797"/>
                  <a:pt x="0" y="765645"/>
                </a:cubicBezTo>
                <a:lnTo>
                  <a:pt x="0" y="99862"/>
                </a:lnTo>
                <a:cubicBezTo>
                  <a:pt x="0" y="44747"/>
                  <a:pt x="44747" y="0"/>
                  <a:pt x="99862" y="0"/>
                </a:cubicBezTo>
                <a:close/>
              </a:path>
            </a:pathLst>
          </a:custGeom>
          <a:solidFill>
            <a:srgbClr val="D9A467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0875" y="2629810"/>
            <a:ext cx="5392775" cy="332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59" b="1" dirty="0">
                <a:solidFill>
                  <a:srgbClr val="D9A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8325" y="2995986"/>
            <a:ext cx="5317876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4C6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Budget Amount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8702" y="2496655"/>
            <a:ext cx="5509286" cy="865507"/>
          </a:xfrm>
          <a:custGeom>
            <a:avLst/>
            <a:gdLst/>
            <a:ahLst/>
            <a:cxnLst/>
            <a:rect l="l" t="t" r="r" b="b"/>
            <a:pathLst>
              <a:path w="5509286" h="865507">
                <a:moveTo>
                  <a:pt x="99862" y="0"/>
                </a:moveTo>
                <a:lnTo>
                  <a:pt x="5409424" y="0"/>
                </a:lnTo>
                <a:cubicBezTo>
                  <a:pt x="5464576" y="0"/>
                  <a:pt x="5509286" y="44710"/>
                  <a:pt x="5509286" y="99862"/>
                </a:cubicBezTo>
                <a:lnTo>
                  <a:pt x="5509286" y="765645"/>
                </a:lnTo>
                <a:cubicBezTo>
                  <a:pt x="5509286" y="820797"/>
                  <a:pt x="5464576" y="865507"/>
                  <a:pt x="5409424" y="865507"/>
                </a:cubicBezTo>
                <a:lnTo>
                  <a:pt x="99862" y="865507"/>
                </a:lnTo>
                <a:cubicBezTo>
                  <a:pt x="44710" y="865507"/>
                  <a:pt x="0" y="820797"/>
                  <a:pt x="0" y="765645"/>
                </a:cubicBezTo>
                <a:lnTo>
                  <a:pt x="0" y="99862"/>
                </a:lnTo>
                <a:cubicBezTo>
                  <a:pt x="0" y="44747"/>
                  <a:pt x="44747" y="0"/>
                  <a:pt x="99862" y="0"/>
                </a:cubicBezTo>
                <a:close/>
              </a:path>
            </a:pathLst>
          </a:custGeom>
          <a:solidFill>
            <a:srgbClr val="D9A467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236957" y="2629810"/>
            <a:ext cx="5392775" cy="332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59" b="1" dirty="0">
                <a:solidFill>
                  <a:srgbClr val="D9A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74407" y="2995986"/>
            <a:ext cx="5317876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4C6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Series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9532" y="3661761"/>
            <a:ext cx="5675730" cy="3073072"/>
          </a:xfrm>
          <a:custGeom>
            <a:avLst/>
            <a:gdLst/>
            <a:ahLst/>
            <a:cxnLst/>
            <a:rect l="l" t="t" r="r" b="b"/>
            <a:pathLst>
              <a:path w="5675730" h="3073072">
                <a:moveTo>
                  <a:pt x="33289" y="0"/>
                </a:moveTo>
                <a:lnTo>
                  <a:pt x="5575877" y="0"/>
                </a:lnTo>
                <a:cubicBezTo>
                  <a:pt x="5631024" y="0"/>
                  <a:pt x="5675730" y="38125"/>
                  <a:pt x="5675730" y="85155"/>
                </a:cubicBezTo>
                <a:lnTo>
                  <a:pt x="5675730" y="2987917"/>
                </a:lnTo>
                <a:cubicBezTo>
                  <a:pt x="5675730" y="3034947"/>
                  <a:pt x="5631024" y="3073072"/>
                  <a:pt x="5575877" y="3073072"/>
                </a:cubicBezTo>
                <a:lnTo>
                  <a:pt x="33289" y="3073072"/>
                </a:lnTo>
                <a:cubicBezTo>
                  <a:pt x="14904" y="3073072"/>
                  <a:pt x="0" y="3060362"/>
                  <a:pt x="0" y="3044684"/>
                </a:cubicBezTo>
                <a:lnTo>
                  <a:pt x="0" y="28389"/>
                </a:lnTo>
                <a:cubicBezTo>
                  <a:pt x="0" y="12710"/>
                  <a:pt x="14904" y="0"/>
                  <a:pt x="332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933" dist="332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9532" y="3661761"/>
            <a:ext cx="33289" cy="3096000"/>
          </a:xfrm>
          <a:custGeom>
            <a:avLst/>
            <a:gdLst/>
            <a:ahLst/>
            <a:cxnLst/>
            <a:rect l="l" t="t" r="r" b="b"/>
            <a:pathLst>
              <a:path w="33289" h="3603506">
                <a:moveTo>
                  <a:pt x="33289" y="0"/>
                </a:moveTo>
                <a:lnTo>
                  <a:pt x="33289" y="0"/>
                </a:lnTo>
                <a:lnTo>
                  <a:pt x="33289" y="3603506"/>
                </a:lnTo>
                <a:lnTo>
                  <a:pt x="33289" y="3603506"/>
                </a:lnTo>
                <a:cubicBezTo>
                  <a:pt x="14904" y="3603506"/>
                  <a:pt x="0" y="3588602"/>
                  <a:pt x="0" y="3570217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19" name="Shape 17"/>
          <p:cNvSpPr/>
          <p:nvPr/>
        </p:nvSpPr>
        <p:spPr>
          <a:xfrm>
            <a:off x="532620" y="3828205"/>
            <a:ext cx="466042" cy="466042"/>
          </a:xfrm>
          <a:custGeom>
            <a:avLst/>
            <a:gdLst/>
            <a:ahLst/>
            <a:cxnLst/>
            <a:rect l="l" t="t" r="r" b="b"/>
            <a:pathLst>
              <a:path w="466042" h="466042">
                <a:moveTo>
                  <a:pt x="233021" y="0"/>
                </a:moveTo>
                <a:lnTo>
                  <a:pt x="233021" y="0"/>
                </a:lnTo>
                <a:cubicBezTo>
                  <a:pt x="361629" y="0"/>
                  <a:pt x="466042" y="104413"/>
                  <a:pt x="466042" y="233021"/>
                </a:cubicBezTo>
                <a:lnTo>
                  <a:pt x="466042" y="233021"/>
                </a:lnTo>
                <a:cubicBezTo>
                  <a:pt x="466042" y="361629"/>
                  <a:pt x="361629" y="466042"/>
                  <a:pt x="233021" y="466042"/>
                </a:cubicBezTo>
                <a:lnTo>
                  <a:pt x="233021" y="466042"/>
                </a:lnTo>
                <a:cubicBezTo>
                  <a:pt x="104413" y="466042"/>
                  <a:pt x="0" y="361629"/>
                  <a:pt x="0" y="233021"/>
                </a:cubicBezTo>
                <a:lnTo>
                  <a:pt x="0" y="233021"/>
                </a:lnTo>
                <a:cubicBezTo>
                  <a:pt x="0" y="104413"/>
                  <a:pt x="104413" y="0"/>
                  <a:pt x="233021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20" name="Text 18"/>
          <p:cNvSpPr/>
          <p:nvPr/>
        </p:nvSpPr>
        <p:spPr>
          <a:xfrm>
            <a:off x="482687" y="3828205"/>
            <a:ext cx="565909" cy="46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31817" y="3928071"/>
            <a:ext cx="3794916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3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3: Forecast Category Thresholds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2620" y="4394113"/>
            <a:ext cx="5392775" cy="21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8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forecast categories require different levels of credibility: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2620" y="4710356"/>
            <a:ext cx="5326198" cy="499331"/>
          </a:xfrm>
          <a:custGeom>
            <a:avLst/>
            <a:gdLst/>
            <a:ahLst/>
            <a:cxnLst/>
            <a:rect l="l" t="t" r="r" b="b"/>
            <a:pathLst>
              <a:path w="5326198" h="499331">
                <a:moveTo>
                  <a:pt x="99866" y="0"/>
                </a:moveTo>
                <a:lnTo>
                  <a:pt x="5226332" y="0"/>
                </a:lnTo>
                <a:cubicBezTo>
                  <a:pt x="5281486" y="0"/>
                  <a:pt x="5326198" y="44712"/>
                  <a:pt x="5326198" y="99866"/>
                </a:cubicBezTo>
                <a:lnTo>
                  <a:pt x="5326198" y="399465"/>
                </a:lnTo>
                <a:cubicBezTo>
                  <a:pt x="5326198" y="454619"/>
                  <a:pt x="5281486" y="499331"/>
                  <a:pt x="5226332" y="499331"/>
                </a:cubicBezTo>
                <a:lnTo>
                  <a:pt x="99866" y="499331"/>
                </a:lnTo>
                <a:cubicBezTo>
                  <a:pt x="44749" y="499331"/>
                  <a:pt x="0" y="454583"/>
                  <a:pt x="0" y="399465"/>
                </a:cubicBezTo>
                <a:lnTo>
                  <a:pt x="0" y="99866"/>
                </a:lnTo>
                <a:cubicBezTo>
                  <a:pt x="0" y="44749"/>
                  <a:pt x="44749" y="0"/>
                  <a:pt x="99866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24" name="Text 22"/>
          <p:cNvSpPr/>
          <p:nvPr/>
        </p:nvSpPr>
        <p:spPr>
          <a:xfrm>
            <a:off x="632486" y="4843511"/>
            <a:ext cx="674097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4C6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Possible-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04456" y="4810223"/>
            <a:ext cx="582553" cy="29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66" b="1" dirty="0">
                <a:solidFill>
                  <a:srgbClr val="E700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2620" y="5262370"/>
            <a:ext cx="5326198" cy="499331"/>
          </a:xfrm>
          <a:custGeom>
            <a:avLst/>
            <a:gdLst/>
            <a:ahLst/>
            <a:cxnLst/>
            <a:rect l="l" t="t" r="r" b="b"/>
            <a:pathLst>
              <a:path w="5326198" h="499331">
                <a:moveTo>
                  <a:pt x="99866" y="0"/>
                </a:moveTo>
                <a:lnTo>
                  <a:pt x="5226332" y="0"/>
                </a:lnTo>
                <a:cubicBezTo>
                  <a:pt x="5281486" y="0"/>
                  <a:pt x="5326198" y="44712"/>
                  <a:pt x="5326198" y="99866"/>
                </a:cubicBezTo>
                <a:lnTo>
                  <a:pt x="5326198" y="399465"/>
                </a:lnTo>
                <a:cubicBezTo>
                  <a:pt x="5326198" y="454619"/>
                  <a:pt x="5281486" y="499331"/>
                  <a:pt x="5226332" y="499331"/>
                </a:cubicBezTo>
                <a:lnTo>
                  <a:pt x="99866" y="499331"/>
                </a:lnTo>
                <a:cubicBezTo>
                  <a:pt x="44749" y="499331"/>
                  <a:pt x="0" y="454583"/>
                  <a:pt x="0" y="399465"/>
                </a:cubicBezTo>
                <a:lnTo>
                  <a:pt x="0" y="99866"/>
                </a:lnTo>
                <a:cubicBezTo>
                  <a:pt x="0" y="44749"/>
                  <a:pt x="44749" y="0"/>
                  <a:pt x="99866" y="0"/>
                </a:cubicBez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27" name="Text 25"/>
          <p:cNvSpPr/>
          <p:nvPr/>
        </p:nvSpPr>
        <p:spPr>
          <a:xfrm>
            <a:off x="632486" y="5395525"/>
            <a:ext cx="674097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4C6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Possible+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8684" y="5362236"/>
            <a:ext cx="632486" cy="29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66" b="1" dirty="0">
                <a:solidFill>
                  <a:srgbClr val="D08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2620" y="5902615"/>
            <a:ext cx="5326198" cy="499331"/>
          </a:xfrm>
          <a:custGeom>
            <a:avLst/>
            <a:gdLst/>
            <a:ahLst/>
            <a:cxnLst/>
            <a:rect l="l" t="t" r="r" b="b"/>
            <a:pathLst>
              <a:path w="5326198" h="499331">
                <a:moveTo>
                  <a:pt x="99866" y="0"/>
                </a:moveTo>
                <a:lnTo>
                  <a:pt x="5226332" y="0"/>
                </a:lnTo>
                <a:cubicBezTo>
                  <a:pt x="5281486" y="0"/>
                  <a:pt x="5326198" y="44712"/>
                  <a:pt x="5326198" y="99866"/>
                </a:cubicBezTo>
                <a:lnTo>
                  <a:pt x="5326198" y="399465"/>
                </a:lnTo>
                <a:cubicBezTo>
                  <a:pt x="5326198" y="454619"/>
                  <a:pt x="5281486" y="499331"/>
                  <a:pt x="5226332" y="499331"/>
                </a:cubicBezTo>
                <a:lnTo>
                  <a:pt x="99866" y="499331"/>
                </a:lnTo>
                <a:cubicBezTo>
                  <a:pt x="44749" y="499331"/>
                  <a:pt x="0" y="454583"/>
                  <a:pt x="0" y="399465"/>
                </a:cubicBezTo>
                <a:lnTo>
                  <a:pt x="0" y="99866"/>
                </a:lnTo>
                <a:cubicBezTo>
                  <a:pt x="0" y="44749"/>
                  <a:pt x="44749" y="0"/>
                  <a:pt x="99866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30" name="Text 28"/>
          <p:cNvSpPr/>
          <p:nvPr/>
        </p:nvSpPr>
        <p:spPr>
          <a:xfrm>
            <a:off x="632486" y="6035770"/>
            <a:ext cx="848863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4C6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Advantaged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57020" y="6002481"/>
            <a:ext cx="632486" cy="29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66" b="1" dirty="0">
                <a:solidFill>
                  <a:srgbClr val="00A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8702" y="3661761"/>
            <a:ext cx="5675730" cy="3073072"/>
          </a:xfrm>
          <a:custGeom>
            <a:avLst/>
            <a:gdLst/>
            <a:ahLst/>
            <a:cxnLst/>
            <a:rect l="l" t="t" r="r" b="b"/>
            <a:pathLst>
              <a:path w="5675730" h="3073072">
                <a:moveTo>
                  <a:pt x="33289" y="0"/>
                </a:moveTo>
                <a:lnTo>
                  <a:pt x="5575877" y="0"/>
                </a:lnTo>
                <a:cubicBezTo>
                  <a:pt x="5631024" y="0"/>
                  <a:pt x="5675730" y="38125"/>
                  <a:pt x="5675730" y="85155"/>
                </a:cubicBezTo>
                <a:lnTo>
                  <a:pt x="5675730" y="2987917"/>
                </a:lnTo>
                <a:cubicBezTo>
                  <a:pt x="5675730" y="3034947"/>
                  <a:pt x="5631024" y="3073072"/>
                  <a:pt x="5575877" y="3073072"/>
                </a:cubicBezTo>
                <a:lnTo>
                  <a:pt x="33289" y="3073072"/>
                </a:lnTo>
                <a:cubicBezTo>
                  <a:pt x="14904" y="3073072"/>
                  <a:pt x="0" y="3060362"/>
                  <a:pt x="0" y="3044684"/>
                </a:cubicBezTo>
                <a:lnTo>
                  <a:pt x="0" y="28389"/>
                </a:lnTo>
                <a:cubicBezTo>
                  <a:pt x="0" y="12710"/>
                  <a:pt x="14904" y="0"/>
                  <a:pt x="332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933" dist="332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8702" y="3661761"/>
            <a:ext cx="33289" cy="3132000"/>
          </a:xfrm>
          <a:custGeom>
            <a:avLst/>
            <a:gdLst/>
            <a:ahLst/>
            <a:cxnLst/>
            <a:rect l="l" t="t" r="r" b="b"/>
            <a:pathLst>
              <a:path w="33289" h="3603506">
                <a:moveTo>
                  <a:pt x="33289" y="0"/>
                </a:moveTo>
                <a:lnTo>
                  <a:pt x="33289" y="0"/>
                </a:lnTo>
                <a:lnTo>
                  <a:pt x="33289" y="3603506"/>
                </a:lnTo>
                <a:lnTo>
                  <a:pt x="33289" y="3603506"/>
                </a:lnTo>
                <a:cubicBezTo>
                  <a:pt x="14904" y="3603506"/>
                  <a:pt x="0" y="3588602"/>
                  <a:pt x="0" y="3570217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34" name="Shape 32"/>
          <p:cNvSpPr/>
          <p:nvPr/>
        </p:nvSpPr>
        <p:spPr>
          <a:xfrm>
            <a:off x="6361790" y="3828205"/>
            <a:ext cx="466042" cy="466042"/>
          </a:xfrm>
          <a:custGeom>
            <a:avLst/>
            <a:gdLst/>
            <a:ahLst/>
            <a:cxnLst/>
            <a:rect l="l" t="t" r="r" b="b"/>
            <a:pathLst>
              <a:path w="466042" h="466042">
                <a:moveTo>
                  <a:pt x="233021" y="0"/>
                </a:moveTo>
                <a:lnTo>
                  <a:pt x="233021" y="0"/>
                </a:lnTo>
                <a:cubicBezTo>
                  <a:pt x="361629" y="0"/>
                  <a:pt x="466042" y="104413"/>
                  <a:pt x="466042" y="233021"/>
                </a:cubicBezTo>
                <a:lnTo>
                  <a:pt x="466042" y="233021"/>
                </a:lnTo>
                <a:cubicBezTo>
                  <a:pt x="466042" y="361629"/>
                  <a:pt x="361629" y="466042"/>
                  <a:pt x="233021" y="466042"/>
                </a:cubicBezTo>
                <a:lnTo>
                  <a:pt x="233021" y="466042"/>
                </a:lnTo>
                <a:cubicBezTo>
                  <a:pt x="104413" y="466042"/>
                  <a:pt x="0" y="361629"/>
                  <a:pt x="0" y="233021"/>
                </a:cubicBezTo>
                <a:lnTo>
                  <a:pt x="0" y="233021"/>
                </a:lnTo>
                <a:cubicBezTo>
                  <a:pt x="0" y="104413"/>
                  <a:pt x="104413" y="0"/>
                  <a:pt x="233021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35" name="Text 33"/>
          <p:cNvSpPr/>
          <p:nvPr/>
        </p:nvSpPr>
        <p:spPr>
          <a:xfrm>
            <a:off x="6311857" y="3828205"/>
            <a:ext cx="565909" cy="46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60987" y="3928071"/>
            <a:ext cx="3495317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3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4: Bid Timeline Requirements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61790" y="4394113"/>
            <a:ext cx="5392775" cy="21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8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bid opening is within </a:t>
            </a:r>
            <a:r>
              <a:rPr lang="en-US" sz="1048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 days</a:t>
            </a:r>
            <a:r>
              <a:rPr lang="en-US" sz="1048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credibility requirements vary by project type: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61790" y="4710356"/>
            <a:ext cx="5326198" cy="832218"/>
          </a:xfrm>
          <a:custGeom>
            <a:avLst/>
            <a:gdLst/>
            <a:ahLst/>
            <a:cxnLst/>
            <a:rect l="l" t="t" r="r" b="b"/>
            <a:pathLst>
              <a:path w="5326198" h="832218">
                <a:moveTo>
                  <a:pt x="99866" y="0"/>
                </a:moveTo>
                <a:lnTo>
                  <a:pt x="5226332" y="0"/>
                </a:lnTo>
                <a:cubicBezTo>
                  <a:pt x="5281486" y="0"/>
                  <a:pt x="5326198" y="44712"/>
                  <a:pt x="5326198" y="99866"/>
                </a:cubicBezTo>
                <a:lnTo>
                  <a:pt x="5326198" y="732352"/>
                </a:lnTo>
                <a:cubicBezTo>
                  <a:pt x="5326198" y="787507"/>
                  <a:pt x="5281486" y="832218"/>
                  <a:pt x="5226332" y="832218"/>
                </a:cubicBezTo>
                <a:lnTo>
                  <a:pt x="99866" y="832218"/>
                </a:lnTo>
                <a:cubicBezTo>
                  <a:pt x="44712" y="832218"/>
                  <a:pt x="0" y="787507"/>
                  <a:pt x="0" y="732352"/>
                </a:cubicBezTo>
                <a:lnTo>
                  <a:pt x="0" y="99866"/>
                </a:lnTo>
                <a:cubicBezTo>
                  <a:pt x="0" y="44749"/>
                  <a:pt x="44749" y="0"/>
                  <a:pt x="99866" y="0"/>
                </a:cubicBezTo>
                <a:close/>
              </a:path>
            </a:pathLst>
          </a:custGeom>
          <a:solidFill>
            <a:srgbClr val="4C6A72">
              <a:alpha val="1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94945" y="4893444"/>
            <a:ext cx="1722692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4C6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Non-Weak Current &amp; ICT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829554" y="4843511"/>
            <a:ext cx="882152" cy="332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9" b="1" dirty="0">
                <a:solidFill>
                  <a:srgbClr val="4C6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94945" y="5209687"/>
            <a:ext cx="5126466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certainty required due to tight timeline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61790" y="5628546"/>
            <a:ext cx="5326198" cy="1002036"/>
          </a:xfrm>
          <a:custGeom>
            <a:avLst/>
            <a:gdLst/>
            <a:ahLst/>
            <a:cxnLst/>
            <a:rect l="l" t="t" r="r" b="b"/>
            <a:pathLst>
              <a:path w="5326198" h="832218">
                <a:moveTo>
                  <a:pt x="99866" y="0"/>
                </a:moveTo>
                <a:lnTo>
                  <a:pt x="5226332" y="0"/>
                </a:lnTo>
                <a:cubicBezTo>
                  <a:pt x="5281486" y="0"/>
                  <a:pt x="5326198" y="44712"/>
                  <a:pt x="5326198" y="99866"/>
                </a:cubicBezTo>
                <a:lnTo>
                  <a:pt x="5326198" y="732352"/>
                </a:lnTo>
                <a:cubicBezTo>
                  <a:pt x="5326198" y="787507"/>
                  <a:pt x="5281486" y="832218"/>
                  <a:pt x="5226332" y="832218"/>
                </a:cubicBezTo>
                <a:lnTo>
                  <a:pt x="99866" y="832218"/>
                </a:lnTo>
                <a:cubicBezTo>
                  <a:pt x="44712" y="832218"/>
                  <a:pt x="0" y="787507"/>
                  <a:pt x="0" y="732352"/>
                </a:cubicBezTo>
                <a:lnTo>
                  <a:pt x="0" y="99866"/>
                </a:lnTo>
                <a:cubicBezTo>
                  <a:pt x="0" y="44749"/>
                  <a:pt x="44749" y="0"/>
                  <a:pt x="99866" y="0"/>
                </a:cubicBezTo>
                <a:close/>
              </a:path>
            </a:pathLst>
          </a:custGeom>
          <a:solidFill>
            <a:srgbClr val="A8B8C2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94945" y="6261766"/>
            <a:ext cx="1423094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4C6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 Current &amp; EPC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987156" y="6401946"/>
            <a:ext cx="724030" cy="332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9" b="1" dirty="0">
                <a:solidFill>
                  <a:srgbClr val="A8B8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61522" y="5902615"/>
            <a:ext cx="5126466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threshold accounting for project complexity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679" y="343679"/>
            <a:ext cx="11564786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kern="0" spc="95" dirty="0">
                <a:solidFill>
                  <a:srgbClr val="D9A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PARAMETER 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3679" y="584254"/>
            <a:ext cx="11710850" cy="41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47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3T: Critical Time Parameters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3679" y="1099772"/>
            <a:ext cx="824829" cy="34368"/>
          </a:xfrm>
          <a:custGeom>
            <a:avLst/>
            <a:gdLst/>
            <a:ahLst/>
            <a:cxnLst/>
            <a:rect l="l" t="t" r="r" b="b"/>
            <a:pathLst>
              <a:path w="824829" h="34368">
                <a:moveTo>
                  <a:pt x="0" y="0"/>
                </a:moveTo>
                <a:lnTo>
                  <a:pt x="824829" y="0"/>
                </a:lnTo>
                <a:lnTo>
                  <a:pt x="824829" y="34368"/>
                </a:lnTo>
                <a:lnTo>
                  <a:pt x="0" y="34368"/>
                </a:lnTo>
                <a:lnTo>
                  <a:pt x="0" y="0"/>
                </a:ln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5" name="Shape 3"/>
          <p:cNvSpPr/>
          <p:nvPr/>
        </p:nvSpPr>
        <p:spPr>
          <a:xfrm>
            <a:off x="343679" y="1271611"/>
            <a:ext cx="3746097" cy="2285463"/>
          </a:xfrm>
          <a:custGeom>
            <a:avLst/>
            <a:gdLst/>
            <a:ahLst/>
            <a:cxnLst/>
            <a:rect l="l" t="t" r="r" b="b"/>
            <a:pathLst>
              <a:path w="3746097" h="2285463">
                <a:moveTo>
                  <a:pt x="103097" y="0"/>
                </a:moveTo>
                <a:lnTo>
                  <a:pt x="3643000" y="0"/>
                </a:lnTo>
                <a:cubicBezTo>
                  <a:pt x="3699939" y="0"/>
                  <a:pt x="3746097" y="46158"/>
                  <a:pt x="3746097" y="103097"/>
                </a:cubicBezTo>
                <a:lnTo>
                  <a:pt x="3746097" y="2182366"/>
                </a:lnTo>
                <a:cubicBezTo>
                  <a:pt x="3746097" y="2239305"/>
                  <a:pt x="3699939" y="2285463"/>
                  <a:pt x="3643000" y="2285463"/>
                </a:cubicBezTo>
                <a:lnTo>
                  <a:pt x="103097" y="2285463"/>
                </a:lnTo>
                <a:cubicBezTo>
                  <a:pt x="46158" y="2285463"/>
                  <a:pt x="0" y="2239305"/>
                  <a:pt x="0" y="2182366"/>
                </a:cubicBezTo>
                <a:lnTo>
                  <a:pt x="0" y="103097"/>
                </a:lnTo>
                <a:cubicBezTo>
                  <a:pt x="0" y="46196"/>
                  <a:pt x="46196" y="0"/>
                  <a:pt x="103097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6" name="Shape 4"/>
          <p:cNvSpPr/>
          <p:nvPr/>
        </p:nvSpPr>
        <p:spPr>
          <a:xfrm>
            <a:off x="481150" y="1409082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206207" y="0"/>
                </a:moveTo>
                <a:lnTo>
                  <a:pt x="206207" y="0"/>
                </a:lnTo>
                <a:cubicBezTo>
                  <a:pt x="320016" y="0"/>
                  <a:pt x="412414" y="92398"/>
                  <a:pt x="412414" y="206207"/>
                </a:cubicBezTo>
                <a:lnTo>
                  <a:pt x="412414" y="206207"/>
                </a:lnTo>
                <a:cubicBezTo>
                  <a:pt x="412414" y="320016"/>
                  <a:pt x="320016" y="412414"/>
                  <a:pt x="206207" y="412414"/>
                </a:cubicBezTo>
                <a:lnTo>
                  <a:pt x="206207" y="412414"/>
                </a:lnTo>
                <a:cubicBezTo>
                  <a:pt x="92398" y="412414"/>
                  <a:pt x="0" y="320016"/>
                  <a:pt x="0" y="206207"/>
                </a:cubicBezTo>
                <a:lnTo>
                  <a:pt x="0" y="206207"/>
                </a:lnTo>
                <a:cubicBezTo>
                  <a:pt x="0" y="92398"/>
                  <a:pt x="92398" y="0"/>
                  <a:pt x="20620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71366" y="1512186"/>
            <a:ext cx="231983" cy="206207"/>
          </a:xfrm>
          <a:custGeom>
            <a:avLst/>
            <a:gdLst/>
            <a:ahLst/>
            <a:cxnLst/>
            <a:rect l="l" t="t" r="r" b="b"/>
            <a:pathLst>
              <a:path w="231983" h="206207">
                <a:moveTo>
                  <a:pt x="0" y="38664"/>
                </a:moveTo>
                <a:cubicBezTo>
                  <a:pt x="0" y="24447"/>
                  <a:pt x="11559" y="12888"/>
                  <a:pt x="25776" y="12888"/>
                </a:cubicBezTo>
                <a:lnTo>
                  <a:pt x="141767" y="12888"/>
                </a:lnTo>
                <a:cubicBezTo>
                  <a:pt x="155984" y="12888"/>
                  <a:pt x="167543" y="24447"/>
                  <a:pt x="167543" y="38664"/>
                </a:cubicBezTo>
                <a:lnTo>
                  <a:pt x="167543" y="51552"/>
                </a:lnTo>
                <a:lnTo>
                  <a:pt x="187963" y="51552"/>
                </a:lnTo>
                <a:cubicBezTo>
                  <a:pt x="194809" y="51552"/>
                  <a:pt x="201374" y="54250"/>
                  <a:pt x="206207" y="59083"/>
                </a:cubicBezTo>
                <a:lnTo>
                  <a:pt x="224452" y="77328"/>
                </a:lnTo>
                <a:cubicBezTo>
                  <a:pt x="229285" y="82161"/>
                  <a:pt x="231983" y="88725"/>
                  <a:pt x="231983" y="95572"/>
                </a:cubicBezTo>
                <a:lnTo>
                  <a:pt x="231983" y="154655"/>
                </a:lnTo>
                <a:cubicBezTo>
                  <a:pt x="231983" y="168872"/>
                  <a:pt x="220424" y="180431"/>
                  <a:pt x="206207" y="180431"/>
                </a:cubicBezTo>
                <a:lnTo>
                  <a:pt x="204878" y="180431"/>
                </a:lnTo>
                <a:cubicBezTo>
                  <a:pt x="200690" y="195293"/>
                  <a:pt x="186996" y="206207"/>
                  <a:pt x="170765" y="206207"/>
                </a:cubicBezTo>
                <a:cubicBezTo>
                  <a:pt x="154535" y="206207"/>
                  <a:pt x="140881" y="195293"/>
                  <a:pt x="136653" y="180431"/>
                </a:cubicBezTo>
                <a:lnTo>
                  <a:pt x="95331" y="180431"/>
                </a:lnTo>
                <a:cubicBezTo>
                  <a:pt x="91142" y="195293"/>
                  <a:pt x="77449" y="206207"/>
                  <a:pt x="61218" y="206207"/>
                </a:cubicBezTo>
                <a:cubicBezTo>
                  <a:pt x="44987" y="206207"/>
                  <a:pt x="31334" y="195293"/>
                  <a:pt x="27105" y="180431"/>
                </a:cubicBezTo>
                <a:lnTo>
                  <a:pt x="25776" y="180431"/>
                </a:lnTo>
                <a:cubicBezTo>
                  <a:pt x="11559" y="180431"/>
                  <a:pt x="0" y="168872"/>
                  <a:pt x="0" y="154655"/>
                </a:cubicBezTo>
                <a:lnTo>
                  <a:pt x="0" y="38664"/>
                </a:lnTo>
                <a:close/>
                <a:moveTo>
                  <a:pt x="206207" y="115992"/>
                </a:moveTo>
                <a:lnTo>
                  <a:pt x="206207" y="95572"/>
                </a:lnTo>
                <a:lnTo>
                  <a:pt x="187963" y="77328"/>
                </a:lnTo>
                <a:lnTo>
                  <a:pt x="167543" y="77328"/>
                </a:lnTo>
                <a:lnTo>
                  <a:pt x="167543" y="115992"/>
                </a:lnTo>
                <a:lnTo>
                  <a:pt x="206207" y="115992"/>
                </a:lnTo>
                <a:close/>
                <a:moveTo>
                  <a:pt x="77328" y="170765"/>
                </a:moveTo>
                <a:cubicBezTo>
                  <a:pt x="77328" y="161874"/>
                  <a:pt x="70109" y="154655"/>
                  <a:pt x="61218" y="154655"/>
                </a:cubicBezTo>
                <a:cubicBezTo>
                  <a:pt x="52326" y="154655"/>
                  <a:pt x="45108" y="161874"/>
                  <a:pt x="45108" y="170765"/>
                </a:cubicBezTo>
                <a:cubicBezTo>
                  <a:pt x="45108" y="179657"/>
                  <a:pt x="52326" y="186875"/>
                  <a:pt x="61218" y="186875"/>
                </a:cubicBezTo>
                <a:cubicBezTo>
                  <a:pt x="70109" y="186875"/>
                  <a:pt x="77328" y="179657"/>
                  <a:pt x="77328" y="170765"/>
                </a:cubicBezTo>
                <a:close/>
                <a:moveTo>
                  <a:pt x="170765" y="186875"/>
                </a:moveTo>
                <a:cubicBezTo>
                  <a:pt x="179657" y="186875"/>
                  <a:pt x="186875" y="179657"/>
                  <a:pt x="186875" y="170765"/>
                </a:cubicBezTo>
                <a:cubicBezTo>
                  <a:pt x="186875" y="161874"/>
                  <a:pt x="179657" y="154655"/>
                  <a:pt x="170765" y="154655"/>
                </a:cubicBezTo>
                <a:cubicBezTo>
                  <a:pt x="161874" y="154655"/>
                  <a:pt x="154655" y="161874"/>
                  <a:pt x="154655" y="170765"/>
                </a:cubicBezTo>
                <a:cubicBezTo>
                  <a:pt x="154655" y="179657"/>
                  <a:pt x="161874" y="186875"/>
                  <a:pt x="170765" y="186875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8" name="Text 6"/>
          <p:cNvSpPr/>
          <p:nvPr/>
        </p:nvSpPr>
        <p:spPr>
          <a:xfrm>
            <a:off x="996668" y="1477818"/>
            <a:ext cx="309311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1150" y="1924600"/>
            <a:ext cx="3557074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Required Delivery Time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1150" y="2233911"/>
            <a:ext cx="3539890" cy="670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time when customer requires goods on site (not just our company, but for the entire project). Calculated by working backward from go-live date.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1150" y="3007188"/>
            <a:ext cx="3471154" cy="412414"/>
          </a:xfrm>
          <a:custGeom>
            <a:avLst/>
            <a:gdLst/>
            <a:ahLst/>
            <a:cxnLst/>
            <a:rect l="l" t="t" r="r" b="b"/>
            <a:pathLst>
              <a:path w="3471154" h="412414">
                <a:moveTo>
                  <a:pt x="68737" y="0"/>
                </a:moveTo>
                <a:lnTo>
                  <a:pt x="3402417" y="0"/>
                </a:lnTo>
                <a:cubicBezTo>
                  <a:pt x="3440380" y="0"/>
                  <a:pt x="3471154" y="30775"/>
                  <a:pt x="3471154" y="68737"/>
                </a:cubicBezTo>
                <a:lnTo>
                  <a:pt x="3471154" y="343677"/>
                </a:lnTo>
                <a:cubicBezTo>
                  <a:pt x="3471154" y="381640"/>
                  <a:pt x="3440380" y="412414"/>
                  <a:pt x="3402417" y="412414"/>
                </a:cubicBezTo>
                <a:lnTo>
                  <a:pt x="68737" y="412414"/>
                </a:lnTo>
                <a:cubicBezTo>
                  <a:pt x="30800" y="412414"/>
                  <a:pt x="0" y="381614"/>
                  <a:pt x="0" y="343677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84254" y="3110292"/>
            <a:ext cx="3333683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Applies to: All projects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23381" y="1271611"/>
            <a:ext cx="3746097" cy="2285463"/>
          </a:xfrm>
          <a:custGeom>
            <a:avLst/>
            <a:gdLst/>
            <a:ahLst/>
            <a:cxnLst/>
            <a:rect l="l" t="t" r="r" b="b"/>
            <a:pathLst>
              <a:path w="3746097" h="2285463">
                <a:moveTo>
                  <a:pt x="103097" y="0"/>
                </a:moveTo>
                <a:lnTo>
                  <a:pt x="3643000" y="0"/>
                </a:lnTo>
                <a:cubicBezTo>
                  <a:pt x="3699939" y="0"/>
                  <a:pt x="3746097" y="46158"/>
                  <a:pt x="3746097" y="103097"/>
                </a:cubicBezTo>
                <a:lnTo>
                  <a:pt x="3746097" y="2182366"/>
                </a:lnTo>
                <a:cubicBezTo>
                  <a:pt x="3746097" y="2239305"/>
                  <a:pt x="3699939" y="2285463"/>
                  <a:pt x="3643000" y="2285463"/>
                </a:cubicBezTo>
                <a:lnTo>
                  <a:pt x="103097" y="2285463"/>
                </a:lnTo>
                <a:cubicBezTo>
                  <a:pt x="46158" y="2285463"/>
                  <a:pt x="0" y="2239305"/>
                  <a:pt x="0" y="2182366"/>
                </a:cubicBezTo>
                <a:lnTo>
                  <a:pt x="0" y="103097"/>
                </a:lnTo>
                <a:cubicBezTo>
                  <a:pt x="0" y="46196"/>
                  <a:pt x="46196" y="0"/>
                  <a:pt x="103097" y="0"/>
                </a:cubicBezTo>
                <a:close/>
              </a:path>
            </a:pathLst>
          </a:custGeom>
          <a:solidFill>
            <a:srgbClr val="A8B8C2"/>
          </a:solidFill>
          <a:ln/>
        </p:spPr>
      </p:sp>
      <p:sp>
        <p:nvSpPr>
          <p:cNvPr id="14" name="Shape 12"/>
          <p:cNvSpPr/>
          <p:nvPr/>
        </p:nvSpPr>
        <p:spPr>
          <a:xfrm>
            <a:off x="4360853" y="1409082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206207" y="0"/>
                </a:moveTo>
                <a:lnTo>
                  <a:pt x="206207" y="0"/>
                </a:lnTo>
                <a:cubicBezTo>
                  <a:pt x="320016" y="0"/>
                  <a:pt x="412414" y="92398"/>
                  <a:pt x="412414" y="206207"/>
                </a:cubicBezTo>
                <a:lnTo>
                  <a:pt x="412414" y="206207"/>
                </a:lnTo>
                <a:cubicBezTo>
                  <a:pt x="412414" y="320016"/>
                  <a:pt x="320016" y="412414"/>
                  <a:pt x="206207" y="412414"/>
                </a:cubicBezTo>
                <a:lnTo>
                  <a:pt x="206207" y="412414"/>
                </a:lnTo>
                <a:cubicBezTo>
                  <a:pt x="92398" y="412414"/>
                  <a:pt x="0" y="320016"/>
                  <a:pt x="0" y="206207"/>
                </a:cubicBezTo>
                <a:lnTo>
                  <a:pt x="0" y="206207"/>
                </a:lnTo>
                <a:cubicBezTo>
                  <a:pt x="0" y="92398"/>
                  <a:pt x="92398" y="0"/>
                  <a:pt x="20620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438180" y="1512186"/>
            <a:ext cx="257759" cy="206207"/>
          </a:xfrm>
          <a:custGeom>
            <a:avLst/>
            <a:gdLst/>
            <a:ahLst/>
            <a:cxnLst/>
            <a:rect l="l" t="t" r="r" b="b"/>
            <a:pathLst>
              <a:path w="257759" h="206207">
                <a:moveTo>
                  <a:pt x="25816" y="25776"/>
                </a:moveTo>
                <a:cubicBezTo>
                  <a:pt x="25816" y="11559"/>
                  <a:pt x="37375" y="0"/>
                  <a:pt x="51592" y="0"/>
                </a:cubicBezTo>
                <a:lnTo>
                  <a:pt x="111803" y="0"/>
                </a:lnTo>
                <a:cubicBezTo>
                  <a:pt x="118650" y="0"/>
                  <a:pt x="125214" y="2698"/>
                  <a:pt x="130047" y="7531"/>
                </a:cubicBezTo>
                <a:lnTo>
                  <a:pt x="172900" y="50464"/>
                </a:lnTo>
                <a:cubicBezTo>
                  <a:pt x="177733" y="55297"/>
                  <a:pt x="180431" y="61862"/>
                  <a:pt x="180431" y="68709"/>
                </a:cubicBezTo>
                <a:lnTo>
                  <a:pt x="180431" y="107977"/>
                </a:lnTo>
                <a:lnTo>
                  <a:pt x="127268" y="161140"/>
                </a:lnTo>
                <a:lnTo>
                  <a:pt x="110313" y="161140"/>
                </a:lnTo>
                <a:lnTo>
                  <a:pt x="103829" y="139552"/>
                </a:lnTo>
                <a:cubicBezTo>
                  <a:pt x="101936" y="133229"/>
                  <a:pt x="96136" y="128920"/>
                  <a:pt x="89531" y="128920"/>
                </a:cubicBezTo>
                <a:cubicBezTo>
                  <a:pt x="84980" y="128920"/>
                  <a:pt x="80711" y="130974"/>
                  <a:pt x="77892" y="134518"/>
                </a:cubicBezTo>
                <a:lnTo>
                  <a:pt x="53686" y="164724"/>
                </a:lnTo>
                <a:cubicBezTo>
                  <a:pt x="50344" y="168872"/>
                  <a:pt x="51028" y="174994"/>
                  <a:pt x="55177" y="178297"/>
                </a:cubicBezTo>
                <a:cubicBezTo>
                  <a:pt x="59325" y="181599"/>
                  <a:pt x="65447" y="180955"/>
                  <a:pt x="68749" y="176766"/>
                </a:cubicBezTo>
                <a:lnTo>
                  <a:pt x="87719" y="153085"/>
                </a:lnTo>
                <a:lnTo>
                  <a:pt x="93840" y="173504"/>
                </a:lnTo>
                <a:cubicBezTo>
                  <a:pt x="95049" y="177612"/>
                  <a:pt x="98834" y="180391"/>
                  <a:pt x="103104" y="180391"/>
                </a:cubicBezTo>
                <a:lnTo>
                  <a:pt x="115790" y="180391"/>
                </a:lnTo>
                <a:cubicBezTo>
                  <a:pt x="115428" y="181640"/>
                  <a:pt x="115105" y="182928"/>
                  <a:pt x="114864" y="184217"/>
                </a:cubicBezTo>
                <a:lnTo>
                  <a:pt x="110474" y="206167"/>
                </a:lnTo>
                <a:lnTo>
                  <a:pt x="51592" y="206167"/>
                </a:lnTo>
                <a:cubicBezTo>
                  <a:pt x="37375" y="206167"/>
                  <a:pt x="25816" y="194608"/>
                  <a:pt x="25816" y="180391"/>
                </a:cubicBezTo>
                <a:lnTo>
                  <a:pt x="25816" y="25736"/>
                </a:lnTo>
                <a:close/>
                <a:moveTo>
                  <a:pt x="109588" y="23561"/>
                </a:moveTo>
                <a:lnTo>
                  <a:pt x="109588" y="61218"/>
                </a:lnTo>
                <a:cubicBezTo>
                  <a:pt x="109588" y="66574"/>
                  <a:pt x="113897" y="70884"/>
                  <a:pt x="119254" y="70884"/>
                </a:cubicBezTo>
                <a:lnTo>
                  <a:pt x="156911" y="70884"/>
                </a:lnTo>
                <a:lnTo>
                  <a:pt x="109588" y="23561"/>
                </a:lnTo>
                <a:close/>
                <a:moveTo>
                  <a:pt x="133833" y="188043"/>
                </a:moveTo>
                <a:cubicBezTo>
                  <a:pt x="134840" y="183049"/>
                  <a:pt x="137297" y="178458"/>
                  <a:pt x="140881" y="174873"/>
                </a:cubicBezTo>
                <a:lnTo>
                  <a:pt x="188768" y="126987"/>
                </a:lnTo>
                <a:lnTo>
                  <a:pt x="220988" y="159206"/>
                </a:lnTo>
                <a:lnTo>
                  <a:pt x="173101" y="207093"/>
                </a:lnTo>
                <a:cubicBezTo>
                  <a:pt x="169517" y="210678"/>
                  <a:pt x="164925" y="213134"/>
                  <a:pt x="159931" y="214141"/>
                </a:cubicBezTo>
                <a:lnTo>
                  <a:pt x="135928" y="218934"/>
                </a:lnTo>
                <a:cubicBezTo>
                  <a:pt x="135565" y="219015"/>
                  <a:pt x="135162" y="219055"/>
                  <a:pt x="134760" y="219055"/>
                </a:cubicBezTo>
                <a:cubicBezTo>
                  <a:pt x="131538" y="219055"/>
                  <a:pt x="128879" y="216437"/>
                  <a:pt x="128879" y="213175"/>
                </a:cubicBezTo>
                <a:cubicBezTo>
                  <a:pt x="128879" y="212772"/>
                  <a:pt x="128920" y="212410"/>
                  <a:pt x="129000" y="212007"/>
                </a:cubicBezTo>
                <a:lnTo>
                  <a:pt x="133793" y="188003"/>
                </a:lnTo>
                <a:close/>
                <a:moveTo>
                  <a:pt x="241689" y="138505"/>
                </a:moveTo>
                <a:lnTo>
                  <a:pt x="230090" y="150104"/>
                </a:lnTo>
                <a:lnTo>
                  <a:pt x="197870" y="117884"/>
                </a:lnTo>
                <a:lnTo>
                  <a:pt x="209469" y="106285"/>
                </a:lnTo>
                <a:cubicBezTo>
                  <a:pt x="218370" y="97385"/>
                  <a:pt x="232789" y="97385"/>
                  <a:pt x="241689" y="106285"/>
                </a:cubicBezTo>
                <a:cubicBezTo>
                  <a:pt x="250590" y="115186"/>
                  <a:pt x="250590" y="129604"/>
                  <a:pt x="241689" y="138505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16" name="Text 14"/>
          <p:cNvSpPr/>
          <p:nvPr/>
        </p:nvSpPr>
        <p:spPr>
          <a:xfrm>
            <a:off x="4876370" y="1477818"/>
            <a:ext cx="343679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60853" y="1924600"/>
            <a:ext cx="3557074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Estimated Order Date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60853" y="2233911"/>
            <a:ext cx="3539890" cy="670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Calculated as: Required Delivery Time minus SLA (order processing lead time in ERP system)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60853" y="3007188"/>
            <a:ext cx="3471154" cy="412414"/>
          </a:xfrm>
          <a:custGeom>
            <a:avLst/>
            <a:gdLst/>
            <a:ahLst/>
            <a:cxnLst/>
            <a:rect l="l" t="t" r="r" b="b"/>
            <a:pathLst>
              <a:path w="3471154" h="412414">
                <a:moveTo>
                  <a:pt x="68737" y="0"/>
                </a:moveTo>
                <a:lnTo>
                  <a:pt x="3402417" y="0"/>
                </a:lnTo>
                <a:cubicBezTo>
                  <a:pt x="3440380" y="0"/>
                  <a:pt x="3471154" y="30775"/>
                  <a:pt x="3471154" y="68737"/>
                </a:cubicBezTo>
                <a:lnTo>
                  <a:pt x="3471154" y="343677"/>
                </a:lnTo>
                <a:cubicBezTo>
                  <a:pt x="3471154" y="381640"/>
                  <a:pt x="3440380" y="412414"/>
                  <a:pt x="3402417" y="412414"/>
                </a:cubicBezTo>
                <a:lnTo>
                  <a:pt x="68737" y="412414"/>
                </a:lnTo>
                <a:cubicBezTo>
                  <a:pt x="30800" y="412414"/>
                  <a:pt x="0" y="381614"/>
                  <a:pt x="0" y="343677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463956" y="3110292"/>
            <a:ext cx="3333683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Applies to: All projects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03084" y="1271611"/>
            <a:ext cx="3746097" cy="2285463"/>
          </a:xfrm>
          <a:custGeom>
            <a:avLst/>
            <a:gdLst/>
            <a:ahLst/>
            <a:cxnLst/>
            <a:rect l="l" t="t" r="r" b="b"/>
            <a:pathLst>
              <a:path w="3746097" h="2285463">
                <a:moveTo>
                  <a:pt x="103097" y="0"/>
                </a:moveTo>
                <a:lnTo>
                  <a:pt x="3643000" y="0"/>
                </a:lnTo>
                <a:cubicBezTo>
                  <a:pt x="3699939" y="0"/>
                  <a:pt x="3746097" y="46158"/>
                  <a:pt x="3746097" y="103097"/>
                </a:cubicBezTo>
                <a:lnTo>
                  <a:pt x="3746097" y="2182366"/>
                </a:lnTo>
                <a:cubicBezTo>
                  <a:pt x="3746097" y="2239305"/>
                  <a:pt x="3699939" y="2285463"/>
                  <a:pt x="3643000" y="2285463"/>
                </a:cubicBezTo>
                <a:lnTo>
                  <a:pt x="103097" y="2285463"/>
                </a:lnTo>
                <a:cubicBezTo>
                  <a:pt x="46158" y="2285463"/>
                  <a:pt x="0" y="2239305"/>
                  <a:pt x="0" y="2182366"/>
                </a:cubicBezTo>
                <a:lnTo>
                  <a:pt x="0" y="103097"/>
                </a:lnTo>
                <a:cubicBezTo>
                  <a:pt x="0" y="46196"/>
                  <a:pt x="46196" y="0"/>
                  <a:pt x="103097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22" name="Shape 20"/>
          <p:cNvSpPr/>
          <p:nvPr/>
        </p:nvSpPr>
        <p:spPr>
          <a:xfrm>
            <a:off x="8240555" y="1409082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206207" y="0"/>
                </a:moveTo>
                <a:lnTo>
                  <a:pt x="206207" y="0"/>
                </a:lnTo>
                <a:cubicBezTo>
                  <a:pt x="320016" y="0"/>
                  <a:pt x="412414" y="92398"/>
                  <a:pt x="412414" y="206207"/>
                </a:cubicBezTo>
                <a:lnTo>
                  <a:pt x="412414" y="206207"/>
                </a:lnTo>
                <a:cubicBezTo>
                  <a:pt x="412414" y="320016"/>
                  <a:pt x="320016" y="412414"/>
                  <a:pt x="206207" y="412414"/>
                </a:cubicBezTo>
                <a:lnTo>
                  <a:pt x="206207" y="412414"/>
                </a:lnTo>
                <a:cubicBezTo>
                  <a:pt x="92398" y="412414"/>
                  <a:pt x="0" y="320016"/>
                  <a:pt x="0" y="206207"/>
                </a:cubicBezTo>
                <a:lnTo>
                  <a:pt x="0" y="206207"/>
                </a:lnTo>
                <a:cubicBezTo>
                  <a:pt x="0" y="92398"/>
                  <a:pt x="92398" y="0"/>
                  <a:pt x="20620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330771" y="1512186"/>
            <a:ext cx="231983" cy="206207"/>
          </a:xfrm>
          <a:custGeom>
            <a:avLst/>
            <a:gdLst/>
            <a:ahLst/>
            <a:cxnLst/>
            <a:rect l="l" t="t" r="r" b="b"/>
            <a:pathLst>
              <a:path w="231983" h="206207">
                <a:moveTo>
                  <a:pt x="68306" y="61782"/>
                </a:moveTo>
                <a:lnTo>
                  <a:pt x="60775" y="54250"/>
                </a:lnTo>
                <a:cubicBezTo>
                  <a:pt x="55740" y="49216"/>
                  <a:pt x="55740" y="41040"/>
                  <a:pt x="60775" y="36006"/>
                </a:cubicBezTo>
                <a:lnTo>
                  <a:pt x="106970" y="-10230"/>
                </a:lnTo>
                <a:cubicBezTo>
                  <a:pt x="112004" y="-15264"/>
                  <a:pt x="120180" y="-15264"/>
                  <a:pt x="125214" y="-10230"/>
                </a:cubicBezTo>
                <a:lnTo>
                  <a:pt x="132746" y="-2658"/>
                </a:lnTo>
                <a:cubicBezTo>
                  <a:pt x="137780" y="2376"/>
                  <a:pt x="137780" y="10552"/>
                  <a:pt x="132746" y="15586"/>
                </a:cubicBezTo>
                <a:lnTo>
                  <a:pt x="86551" y="61782"/>
                </a:lnTo>
                <a:cubicBezTo>
                  <a:pt x="81516" y="66816"/>
                  <a:pt x="73340" y="66816"/>
                  <a:pt x="68306" y="61782"/>
                </a:cubicBezTo>
                <a:close/>
                <a:moveTo>
                  <a:pt x="111159" y="85262"/>
                </a:moveTo>
                <a:lnTo>
                  <a:pt x="98512" y="72616"/>
                </a:lnTo>
                <a:lnTo>
                  <a:pt x="143620" y="27508"/>
                </a:lnTo>
                <a:lnTo>
                  <a:pt x="191708" y="75596"/>
                </a:lnTo>
                <a:lnTo>
                  <a:pt x="146600" y="120704"/>
                </a:lnTo>
                <a:lnTo>
                  <a:pt x="133954" y="108057"/>
                </a:lnTo>
                <a:lnTo>
                  <a:pt x="40516" y="201495"/>
                </a:lnTo>
                <a:cubicBezTo>
                  <a:pt x="34234" y="207778"/>
                  <a:pt x="24044" y="207778"/>
                  <a:pt x="17721" y="201495"/>
                </a:cubicBezTo>
                <a:cubicBezTo>
                  <a:pt x="11398" y="195212"/>
                  <a:pt x="11438" y="185023"/>
                  <a:pt x="17721" y="178699"/>
                </a:cubicBezTo>
                <a:lnTo>
                  <a:pt x="111159" y="85262"/>
                </a:lnTo>
                <a:close/>
                <a:moveTo>
                  <a:pt x="157434" y="150870"/>
                </a:moveTo>
                <a:cubicBezTo>
                  <a:pt x="152400" y="145835"/>
                  <a:pt x="152400" y="137659"/>
                  <a:pt x="157434" y="132625"/>
                </a:cubicBezTo>
                <a:lnTo>
                  <a:pt x="203630" y="86430"/>
                </a:lnTo>
                <a:cubicBezTo>
                  <a:pt x="208664" y="81395"/>
                  <a:pt x="216840" y="81395"/>
                  <a:pt x="221874" y="86430"/>
                </a:cubicBezTo>
                <a:lnTo>
                  <a:pt x="229405" y="93961"/>
                </a:lnTo>
                <a:cubicBezTo>
                  <a:pt x="234440" y="98996"/>
                  <a:pt x="234440" y="107171"/>
                  <a:pt x="229405" y="112206"/>
                </a:cubicBezTo>
                <a:lnTo>
                  <a:pt x="183210" y="158441"/>
                </a:lnTo>
                <a:cubicBezTo>
                  <a:pt x="178176" y="163476"/>
                  <a:pt x="170000" y="163476"/>
                  <a:pt x="164966" y="158441"/>
                </a:cubicBezTo>
                <a:lnTo>
                  <a:pt x="157434" y="15091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756073" y="1477818"/>
            <a:ext cx="352271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40555" y="1924600"/>
            <a:ext cx="3557074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Estimated Bid Date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40555" y="2233911"/>
            <a:ext cx="3539890" cy="670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Varies by project type (see details in next section)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40555" y="3007188"/>
            <a:ext cx="3471154" cy="412414"/>
          </a:xfrm>
          <a:custGeom>
            <a:avLst/>
            <a:gdLst/>
            <a:ahLst/>
            <a:cxnLst/>
            <a:rect l="l" t="t" r="r" b="b"/>
            <a:pathLst>
              <a:path w="3471154" h="412414">
                <a:moveTo>
                  <a:pt x="68737" y="0"/>
                </a:moveTo>
                <a:lnTo>
                  <a:pt x="3402417" y="0"/>
                </a:lnTo>
                <a:cubicBezTo>
                  <a:pt x="3440380" y="0"/>
                  <a:pt x="3471154" y="30775"/>
                  <a:pt x="3471154" y="68737"/>
                </a:cubicBezTo>
                <a:lnTo>
                  <a:pt x="3471154" y="343677"/>
                </a:lnTo>
                <a:cubicBezTo>
                  <a:pt x="3471154" y="381640"/>
                  <a:pt x="3440380" y="412414"/>
                  <a:pt x="3402417" y="412414"/>
                </a:cubicBezTo>
                <a:lnTo>
                  <a:pt x="68737" y="412414"/>
                </a:lnTo>
                <a:cubicBezTo>
                  <a:pt x="30800" y="412414"/>
                  <a:pt x="0" y="381614"/>
                  <a:pt x="0" y="343677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343659" y="3110292"/>
            <a:ext cx="3333683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Applies to: Specific project types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0863" y="3694545"/>
            <a:ext cx="11487459" cy="1993336"/>
          </a:xfrm>
          <a:custGeom>
            <a:avLst/>
            <a:gdLst/>
            <a:ahLst/>
            <a:cxnLst/>
            <a:rect l="l" t="t" r="r" b="b"/>
            <a:pathLst>
              <a:path w="11487459" h="1993336">
                <a:moveTo>
                  <a:pt x="34368" y="0"/>
                </a:moveTo>
                <a:lnTo>
                  <a:pt x="11384363" y="0"/>
                </a:lnTo>
                <a:cubicBezTo>
                  <a:pt x="11441301" y="0"/>
                  <a:pt x="11487459" y="46157"/>
                  <a:pt x="11487459" y="103095"/>
                </a:cubicBezTo>
                <a:lnTo>
                  <a:pt x="11487459" y="1890241"/>
                </a:lnTo>
                <a:cubicBezTo>
                  <a:pt x="11487459" y="1947179"/>
                  <a:pt x="11441301" y="1993336"/>
                  <a:pt x="11384363" y="1993336"/>
                </a:cubicBezTo>
                <a:lnTo>
                  <a:pt x="34368" y="1993336"/>
                </a:lnTo>
                <a:cubicBezTo>
                  <a:pt x="15387" y="1993336"/>
                  <a:pt x="0" y="1977949"/>
                  <a:pt x="0" y="1958968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1552" dist="3436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0863" y="3694545"/>
            <a:ext cx="34368" cy="1993336"/>
          </a:xfrm>
          <a:custGeom>
            <a:avLst/>
            <a:gdLst/>
            <a:ahLst/>
            <a:cxnLst/>
            <a:rect l="l" t="t" r="r" b="b"/>
            <a:pathLst>
              <a:path w="34368" h="1993336">
                <a:moveTo>
                  <a:pt x="34368" y="0"/>
                </a:moveTo>
                <a:lnTo>
                  <a:pt x="34368" y="0"/>
                </a:lnTo>
                <a:lnTo>
                  <a:pt x="34368" y="1993336"/>
                </a:lnTo>
                <a:lnTo>
                  <a:pt x="34368" y="1993336"/>
                </a:lnTo>
                <a:cubicBezTo>
                  <a:pt x="15387" y="1993336"/>
                  <a:pt x="0" y="1977949"/>
                  <a:pt x="0" y="1958968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31" name="Text 29"/>
          <p:cNvSpPr/>
          <p:nvPr/>
        </p:nvSpPr>
        <p:spPr>
          <a:xfrm>
            <a:off x="515518" y="3832017"/>
            <a:ext cx="11281252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Estimated Bid Date (T3) by Project Type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5518" y="4175696"/>
            <a:ext cx="5524634" cy="652989"/>
          </a:xfrm>
          <a:custGeom>
            <a:avLst/>
            <a:gdLst/>
            <a:ahLst/>
            <a:cxnLst/>
            <a:rect l="l" t="t" r="r" b="b"/>
            <a:pathLst>
              <a:path w="5524634" h="652989">
                <a:moveTo>
                  <a:pt x="103101" y="0"/>
                </a:moveTo>
                <a:lnTo>
                  <a:pt x="5421534" y="0"/>
                </a:lnTo>
                <a:cubicBezTo>
                  <a:pt x="5478475" y="0"/>
                  <a:pt x="5524634" y="46160"/>
                  <a:pt x="5524634" y="103101"/>
                </a:cubicBezTo>
                <a:lnTo>
                  <a:pt x="5524634" y="549889"/>
                </a:lnTo>
                <a:cubicBezTo>
                  <a:pt x="5524634" y="606830"/>
                  <a:pt x="5478475" y="652989"/>
                  <a:pt x="5421534" y="652989"/>
                </a:cubicBezTo>
                <a:lnTo>
                  <a:pt x="103101" y="652989"/>
                </a:lnTo>
                <a:cubicBezTo>
                  <a:pt x="46160" y="652989"/>
                  <a:pt x="0" y="606830"/>
                  <a:pt x="0" y="549889"/>
                </a:cubicBezTo>
                <a:lnTo>
                  <a:pt x="0" y="103101"/>
                </a:lnTo>
                <a:cubicBezTo>
                  <a:pt x="0" y="46198"/>
                  <a:pt x="46198" y="0"/>
                  <a:pt x="103101" y="0"/>
                </a:cubicBezTo>
                <a:close/>
              </a:path>
            </a:pathLst>
          </a:custGeom>
          <a:solidFill>
            <a:srgbClr val="4C6A72">
              <a:alpha val="1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18622" y="4278799"/>
            <a:ext cx="5387163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Government/Standard Procurement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8622" y="4519374"/>
            <a:ext cx="5387163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 of bid announcement or notification (not bidding date)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80416" y="4175696"/>
            <a:ext cx="5524634" cy="652989"/>
          </a:xfrm>
          <a:custGeom>
            <a:avLst/>
            <a:gdLst/>
            <a:ahLst/>
            <a:cxnLst/>
            <a:rect l="l" t="t" r="r" b="b"/>
            <a:pathLst>
              <a:path w="5524634" h="652989">
                <a:moveTo>
                  <a:pt x="103101" y="0"/>
                </a:moveTo>
                <a:lnTo>
                  <a:pt x="5421534" y="0"/>
                </a:lnTo>
                <a:cubicBezTo>
                  <a:pt x="5478475" y="0"/>
                  <a:pt x="5524634" y="46160"/>
                  <a:pt x="5524634" y="103101"/>
                </a:cubicBezTo>
                <a:lnTo>
                  <a:pt x="5524634" y="549889"/>
                </a:lnTo>
                <a:cubicBezTo>
                  <a:pt x="5524634" y="606830"/>
                  <a:pt x="5478475" y="652989"/>
                  <a:pt x="5421534" y="652989"/>
                </a:cubicBezTo>
                <a:lnTo>
                  <a:pt x="103101" y="652989"/>
                </a:lnTo>
                <a:cubicBezTo>
                  <a:pt x="46160" y="652989"/>
                  <a:pt x="0" y="606830"/>
                  <a:pt x="0" y="549889"/>
                </a:cubicBezTo>
                <a:lnTo>
                  <a:pt x="0" y="103101"/>
                </a:lnTo>
                <a:cubicBezTo>
                  <a:pt x="0" y="46198"/>
                  <a:pt x="46198" y="0"/>
                  <a:pt x="103101" y="0"/>
                </a:cubicBezTo>
                <a:close/>
              </a:path>
            </a:pathLst>
          </a:custGeom>
          <a:solidFill>
            <a:srgbClr val="A8B8C2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283520" y="4278799"/>
            <a:ext cx="5387163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Weak Current &amp; EPC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83520" y="4519374"/>
            <a:ext cx="5387163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Contract signing date with us or our agent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15518" y="4897421"/>
            <a:ext cx="5524634" cy="652989"/>
          </a:xfrm>
          <a:custGeom>
            <a:avLst/>
            <a:gdLst/>
            <a:ahLst/>
            <a:cxnLst/>
            <a:rect l="l" t="t" r="r" b="b"/>
            <a:pathLst>
              <a:path w="5524634" h="652989">
                <a:moveTo>
                  <a:pt x="103101" y="0"/>
                </a:moveTo>
                <a:lnTo>
                  <a:pt x="5421534" y="0"/>
                </a:lnTo>
                <a:cubicBezTo>
                  <a:pt x="5478475" y="0"/>
                  <a:pt x="5524634" y="46160"/>
                  <a:pt x="5524634" y="103101"/>
                </a:cubicBezTo>
                <a:lnTo>
                  <a:pt x="5524634" y="549889"/>
                </a:lnTo>
                <a:cubicBezTo>
                  <a:pt x="5524634" y="606830"/>
                  <a:pt x="5478475" y="652989"/>
                  <a:pt x="5421534" y="652989"/>
                </a:cubicBezTo>
                <a:lnTo>
                  <a:pt x="103101" y="652989"/>
                </a:lnTo>
                <a:cubicBezTo>
                  <a:pt x="46160" y="652989"/>
                  <a:pt x="0" y="606830"/>
                  <a:pt x="0" y="549889"/>
                </a:cubicBezTo>
                <a:lnTo>
                  <a:pt x="0" y="103101"/>
                </a:lnTo>
                <a:cubicBezTo>
                  <a:pt x="0" y="46198"/>
                  <a:pt x="46198" y="0"/>
                  <a:pt x="103101" y="0"/>
                </a:cubicBezTo>
                <a:close/>
              </a:path>
            </a:pathLst>
          </a:custGeom>
          <a:solidFill>
            <a:srgbClr val="D9A467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18622" y="5000524"/>
            <a:ext cx="5387163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ICT &amp; Investment/Financing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18622" y="5241099"/>
            <a:ext cx="5387163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Contract signing with investor or designated financing channel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80416" y="4897421"/>
            <a:ext cx="5524634" cy="652989"/>
          </a:xfrm>
          <a:custGeom>
            <a:avLst/>
            <a:gdLst/>
            <a:ahLst/>
            <a:cxnLst/>
            <a:rect l="l" t="t" r="r" b="b"/>
            <a:pathLst>
              <a:path w="5524634" h="652989">
                <a:moveTo>
                  <a:pt x="103101" y="0"/>
                </a:moveTo>
                <a:lnTo>
                  <a:pt x="5421534" y="0"/>
                </a:lnTo>
                <a:cubicBezTo>
                  <a:pt x="5478475" y="0"/>
                  <a:pt x="5524634" y="46160"/>
                  <a:pt x="5524634" y="103101"/>
                </a:cubicBezTo>
                <a:lnTo>
                  <a:pt x="5524634" y="549889"/>
                </a:lnTo>
                <a:cubicBezTo>
                  <a:pt x="5524634" y="606830"/>
                  <a:pt x="5478475" y="652989"/>
                  <a:pt x="5421534" y="652989"/>
                </a:cubicBezTo>
                <a:lnTo>
                  <a:pt x="103101" y="652989"/>
                </a:lnTo>
                <a:cubicBezTo>
                  <a:pt x="46160" y="652989"/>
                  <a:pt x="0" y="606830"/>
                  <a:pt x="0" y="549889"/>
                </a:cubicBezTo>
                <a:lnTo>
                  <a:pt x="0" y="103101"/>
                </a:lnTo>
                <a:cubicBezTo>
                  <a:pt x="0" y="46198"/>
                  <a:pt x="46198" y="0"/>
                  <a:pt x="103101" y="0"/>
                </a:cubicBezTo>
                <a:close/>
              </a:path>
            </a:pathLst>
          </a:custGeom>
          <a:solidFill>
            <a:srgbClr val="4C6A72">
              <a:alpha val="1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283520" y="5000524"/>
            <a:ext cx="5387163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 OC Sub-projects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83520" y="5241099"/>
            <a:ext cx="5387163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 (Purchase Order) generation time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60863" y="5771035"/>
            <a:ext cx="5662106" cy="1031036"/>
          </a:xfrm>
          <a:custGeom>
            <a:avLst/>
            <a:gdLst/>
            <a:ahLst/>
            <a:cxnLst/>
            <a:rect l="l" t="t" r="r" b="b"/>
            <a:pathLst>
              <a:path w="5662106" h="1031036">
                <a:moveTo>
                  <a:pt x="34368" y="0"/>
                </a:moveTo>
                <a:lnTo>
                  <a:pt x="5559002" y="0"/>
                </a:lnTo>
                <a:cubicBezTo>
                  <a:pt x="5615945" y="0"/>
                  <a:pt x="5662106" y="46161"/>
                  <a:pt x="5662106" y="103104"/>
                </a:cubicBezTo>
                <a:lnTo>
                  <a:pt x="5662106" y="927932"/>
                </a:lnTo>
                <a:cubicBezTo>
                  <a:pt x="5662106" y="984875"/>
                  <a:pt x="5615945" y="1031036"/>
                  <a:pt x="5559002" y="1031036"/>
                </a:cubicBezTo>
                <a:lnTo>
                  <a:pt x="34368" y="1031036"/>
                </a:lnTo>
                <a:cubicBezTo>
                  <a:pt x="15387" y="1031036"/>
                  <a:pt x="0" y="1015649"/>
                  <a:pt x="0" y="996668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60863" y="5771035"/>
            <a:ext cx="34368" cy="1031036"/>
          </a:xfrm>
          <a:custGeom>
            <a:avLst/>
            <a:gdLst/>
            <a:ahLst/>
            <a:cxnLst/>
            <a:rect l="l" t="t" r="r" b="b"/>
            <a:pathLst>
              <a:path w="34368" h="1031036">
                <a:moveTo>
                  <a:pt x="34368" y="0"/>
                </a:moveTo>
                <a:lnTo>
                  <a:pt x="34368" y="0"/>
                </a:lnTo>
                <a:lnTo>
                  <a:pt x="34368" y="1031036"/>
                </a:lnTo>
                <a:lnTo>
                  <a:pt x="34368" y="1031036"/>
                </a:lnTo>
                <a:cubicBezTo>
                  <a:pt x="15387" y="1031036"/>
                  <a:pt x="0" y="1015649"/>
                  <a:pt x="0" y="996668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46" name="Text 44"/>
          <p:cNvSpPr/>
          <p:nvPr/>
        </p:nvSpPr>
        <p:spPr>
          <a:xfrm>
            <a:off x="515518" y="5908507"/>
            <a:ext cx="5447307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Principle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15518" y="6217817"/>
            <a:ext cx="5438715" cy="446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T1 drives T2:</a:t>
            </a:r>
            <a:r>
              <a:rPr lang="en-US" sz="1082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Required Delivery Time (T1) minus SLA determines Estimated Order Date (T2). Accurate T1 is critical for the entire timeline.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63232" y="5771035"/>
            <a:ext cx="5679290" cy="1031036"/>
          </a:xfrm>
          <a:custGeom>
            <a:avLst/>
            <a:gdLst/>
            <a:ahLst/>
            <a:cxnLst/>
            <a:rect l="l" t="t" r="r" b="b"/>
            <a:pathLst>
              <a:path w="5679290" h="1031036">
                <a:moveTo>
                  <a:pt x="103104" y="0"/>
                </a:moveTo>
                <a:lnTo>
                  <a:pt x="5576186" y="0"/>
                </a:lnTo>
                <a:cubicBezTo>
                  <a:pt x="5633129" y="0"/>
                  <a:pt x="5679290" y="46161"/>
                  <a:pt x="5679290" y="103104"/>
                </a:cubicBezTo>
                <a:lnTo>
                  <a:pt x="5679290" y="927932"/>
                </a:lnTo>
                <a:cubicBezTo>
                  <a:pt x="5679290" y="984875"/>
                  <a:pt x="5633129" y="1031036"/>
                  <a:pt x="5576186" y="1031036"/>
                </a:cubicBezTo>
                <a:lnTo>
                  <a:pt x="103104" y="1031036"/>
                </a:lnTo>
                <a:cubicBezTo>
                  <a:pt x="46161" y="1031036"/>
                  <a:pt x="0" y="984875"/>
                  <a:pt x="0" y="927932"/>
                </a:cubicBezTo>
                <a:lnTo>
                  <a:pt x="0" y="103104"/>
                </a:lnTo>
                <a:cubicBezTo>
                  <a:pt x="0" y="46199"/>
                  <a:pt x="46199" y="0"/>
                  <a:pt x="103104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49" name="Text 47"/>
          <p:cNvSpPr/>
          <p:nvPr/>
        </p:nvSpPr>
        <p:spPr>
          <a:xfrm>
            <a:off x="6300704" y="5908507"/>
            <a:ext cx="5481674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Note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00704" y="6217817"/>
            <a:ext cx="5473082" cy="446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"Required Delivery Time" is no longer strongly tied to "Stock-up or Not" — it's for planning, not commitment.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842" y="349842"/>
            <a:ext cx="11553538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kern="0" spc="96" dirty="0">
                <a:solidFill>
                  <a:srgbClr val="D9A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T1 ESTIMATION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842" y="594732"/>
            <a:ext cx="11702221" cy="41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06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Required Delivery Time: Estimation Methods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9842" y="1119495"/>
            <a:ext cx="839621" cy="34984"/>
          </a:xfrm>
          <a:custGeom>
            <a:avLst/>
            <a:gdLst/>
            <a:ahLst/>
            <a:cxnLst/>
            <a:rect l="l" t="t" r="r" b="b"/>
            <a:pathLst>
              <a:path w="839621" h="34984">
                <a:moveTo>
                  <a:pt x="0" y="0"/>
                </a:moveTo>
                <a:lnTo>
                  <a:pt x="839621" y="0"/>
                </a:lnTo>
                <a:lnTo>
                  <a:pt x="839621" y="34984"/>
                </a:lnTo>
                <a:lnTo>
                  <a:pt x="0" y="34984"/>
                </a:lnTo>
                <a:lnTo>
                  <a:pt x="0" y="0"/>
                </a:ln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5" name="Shape 3"/>
          <p:cNvSpPr/>
          <p:nvPr/>
        </p:nvSpPr>
        <p:spPr>
          <a:xfrm>
            <a:off x="349842" y="1311908"/>
            <a:ext cx="5676189" cy="4364281"/>
          </a:xfrm>
          <a:custGeom>
            <a:avLst/>
            <a:gdLst/>
            <a:ahLst/>
            <a:cxnLst/>
            <a:rect l="l" t="t" r="r" b="b"/>
            <a:pathLst>
              <a:path w="5676189" h="4364281">
                <a:moveTo>
                  <a:pt x="34984" y="0"/>
                </a:moveTo>
                <a:lnTo>
                  <a:pt x="5641205" y="0"/>
                </a:lnTo>
                <a:cubicBezTo>
                  <a:pt x="5660526" y="0"/>
                  <a:pt x="5676189" y="15663"/>
                  <a:pt x="5676189" y="34984"/>
                </a:cubicBezTo>
                <a:lnTo>
                  <a:pt x="5676189" y="4259320"/>
                </a:lnTo>
                <a:cubicBezTo>
                  <a:pt x="5676189" y="4317289"/>
                  <a:pt x="5629197" y="4364281"/>
                  <a:pt x="5571228" y="4364281"/>
                </a:cubicBezTo>
                <a:lnTo>
                  <a:pt x="104961" y="4364281"/>
                </a:lnTo>
                <a:cubicBezTo>
                  <a:pt x="46993" y="4364281"/>
                  <a:pt x="0" y="4317289"/>
                  <a:pt x="0" y="4259320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476" dist="3498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9842" y="1311908"/>
            <a:ext cx="5676189" cy="34984"/>
          </a:xfrm>
          <a:custGeom>
            <a:avLst/>
            <a:gdLst/>
            <a:ahLst/>
            <a:cxnLst/>
            <a:rect l="l" t="t" r="r" b="b"/>
            <a:pathLst>
              <a:path w="5676189" h="34984">
                <a:moveTo>
                  <a:pt x="34984" y="0"/>
                </a:moveTo>
                <a:lnTo>
                  <a:pt x="5641205" y="0"/>
                </a:lnTo>
                <a:cubicBezTo>
                  <a:pt x="5660526" y="0"/>
                  <a:pt x="5676189" y="15663"/>
                  <a:pt x="5676189" y="34984"/>
                </a:cubicBezTo>
                <a:lnTo>
                  <a:pt x="5676189" y="34984"/>
                </a:lnTo>
                <a:lnTo>
                  <a:pt x="0" y="34984"/>
                </a:ln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7" name="Text 5"/>
          <p:cNvSpPr/>
          <p:nvPr/>
        </p:nvSpPr>
        <p:spPr>
          <a:xfrm>
            <a:off x="489779" y="1469337"/>
            <a:ext cx="5501268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Estimation Scenarios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9779" y="1854057"/>
            <a:ext cx="5396316" cy="1784195"/>
          </a:xfrm>
          <a:custGeom>
            <a:avLst/>
            <a:gdLst/>
            <a:ahLst/>
            <a:cxnLst/>
            <a:rect l="l" t="t" r="r" b="b"/>
            <a:pathLst>
              <a:path w="5396316" h="1784195">
                <a:moveTo>
                  <a:pt x="104946" y="0"/>
                </a:moveTo>
                <a:lnTo>
                  <a:pt x="5291369" y="0"/>
                </a:lnTo>
                <a:cubicBezTo>
                  <a:pt x="5349330" y="0"/>
                  <a:pt x="5396316" y="46986"/>
                  <a:pt x="5396316" y="104946"/>
                </a:cubicBezTo>
                <a:lnTo>
                  <a:pt x="5396316" y="1679249"/>
                </a:lnTo>
                <a:cubicBezTo>
                  <a:pt x="5396316" y="1737209"/>
                  <a:pt x="5349330" y="1784195"/>
                  <a:pt x="5291369" y="1784195"/>
                </a:cubicBezTo>
                <a:lnTo>
                  <a:pt x="104946" y="1784195"/>
                </a:lnTo>
                <a:cubicBezTo>
                  <a:pt x="46986" y="1784195"/>
                  <a:pt x="0" y="1737209"/>
                  <a:pt x="0" y="1679249"/>
                </a:cubicBezTo>
                <a:lnTo>
                  <a:pt x="0" y="104946"/>
                </a:lnTo>
                <a:cubicBezTo>
                  <a:pt x="0" y="47025"/>
                  <a:pt x="47025" y="0"/>
                  <a:pt x="104946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9716" y="1993994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209905" y="0"/>
                </a:moveTo>
                <a:lnTo>
                  <a:pt x="209905" y="0"/>
                </a:lnTo>
                <a:cubicBezTo>
                  <a:pt x="325755" y="0"/>
                  <a:pt x="419811" y="94055"/>
                  <a:pt x="419811" y="209905"/>
                </a:cubicBezTo>
                <a:lnTo>
                  <a:pt x="419811" y="209905"/>
                </a:lnTo>
                <a:cubicBezTo>
                  <a:pt x="419811" y="325755"/>
                  <a:pt x="325755" y="419811"/>
                  <a:pt x="209905" y="419811"/>
                </a:cubicBezTo>
                <a:lnTo>
                  <a:pt x="209905" y="419811"/>
                </a:lnTo>
                <a:cubicBezTo>
                  <a:pt x="94055" y="419811"/>
                  <a:pt x="0" y="325755"/>
                  <a:pt x="0" y="209905"/>
                </a:cubicBezTo>
                <a:lnTo>
                  <a:pt x="0" y="209905"/>
                </a:lnTo>
                <a:cubicBezTo>
                  <a:pt x="0" y="94055"/>
                  <a:pt x="94055" y="0"/>
                  <a:pt x="209905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10" name="Text 8"/>
          <p:cNvSpPr/>
          <p:nvPr/>
        </p:nvSpPr>
        <p:spPr>
          <a:xfrm>
            <a:off x="585986" y="1993994"/>
            <a:ext cx="507271" cy="41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4479" y="2081454"/>
            <a:ext cx="2580086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Scenario 1: No Extensive Cabling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9716" y="2483773"/>
            <a:ext cx="5186410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projects </a:t>
            </a:r>
            <a:r>
              <a:rPr lang="en-US" sz="1102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requiring extensive cabling work</a:t>
            </a:r>
            <a:r>
              <a:rPr lang="en-US" sz="1102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calculate backward from go-live date: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9716" y="3008536"/>
            <a:ext cx="5116442" cy="489779"/>
          </a:xfrm>
          <a:custGeom>
            <a:avLst/>
            <a:gdLst/>
            <a:ahLst/>
            <a:cxnLst/>
            <a:rect l="l" t="t" r="r" b="b"/>
            <a:pathLst>
              <a:path w="5116442" h="489779">
                <a:moveTo>
                  <a:pt x="69970" y="0"/>
                </a:moveTo>
                <a:lnTo>
                  <a:pt x="5046472" y="0"/>
                </a:lnTo>
                <a:cubicBezTo>
                  <a:pt x="5085115" y="0"/>
                  <a:pt x="5116442" y="31327"/>
                  <a:pt x="5116442" y="69970"/>
                </a:cubicBezTo>
                <a:lnTo>
                  <a:pt x="5116442" y="419809"/>
                </a:lnTo>
                <a:cubicBezTo>
                  <a:pt x="5116442" y="458452"/>
                  <a:pt x="5085115" y="489779"/>
                  <a:pt x="5046472" y="489779"/>
                </a:cubicBezTo>
                <a:lnTo>
                  <a:pt x="69970" y="489779"/>
                </a:lnTo>
                <a:cubicBezTo>
                  <a:pt x="31327" y="489779"/>
                  <a:pt x="0" y="458452"/>
                  <a:pt x="0" y="419809"/>
                </a:cubicBezTo>
                <a:lnTo>
                  <a:pt x="0" y="69970"/>
                </a:lnTo>
                <a:cubicBezTo>
                  <a:pt x="0" y="31327"/>
                  <a:pt x="31327" y="0"/>
                  <a:pt x="6997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2192" y="3113489"/>
            <a:ext cx="5011489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53" b="1" dirty="0">
                <a:solidFill>
                  <a:srgbClr val="4C6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Go-Live Date − 15 Days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9779" y="3743094"/>
            <a:ext cx="5396316" cy="1792941"/>
          </a:xfrm>
          <a:custGeom>
            <a:avLst/>
            <a:gdLst/>
            <a:ahLst/>
            <a:cxnLst/>
            <a:rect l="l" t="t" r="r" b="b"/>
            <a:pathLst>
              <a:path w="5396316" h="1792941">
                <a:moveTo>
                  <a:pt x="104959" y="0"/>
                </a:moveTo>
                <a:lnTo>
                  <a:pt x="5291357" y="0"/>
                </a:lnTo>
                <a:cubicBezTo>
                  <a:pt x="5349324" y="0"/>
                  <a:pt x="5396316" y="46992"/>
                  <a:pt x="5396316" y="104959"/>
                </a:cubicBezTo>
                <a:lnTo>
                  <a:pt x="5396316" y="1687982"/>
                </a:lnTo>
                <a:cubicBezTo>
                  <a:pt x="5396316" y="1745950"/>
                  <a:pt x="5349324" y="1792941"/>
                  <a:pt x="5291357" y="1792941"/>
                </a:cubicBezTo>
                <a:lnTo>
                  <a:pt x="104959" y="1792941"/>
                </a:lnTo>
                <a:cubicBezTo>
                  <a:pt x="46992" y="1792941"/>
                  <a:pt x="0" y="1745950"/>
                  <a:pt x="0" y="1687982"/>
                </a:cubicBezTo>
                <a:lnTo>
                  <a:pt x="0" y="104959"/>
                </a:lnTo>
                <a:cubicBezTo>
                  <a:pt x="0" y="47030"/>
                  <a:pt x="47030" y="0"/>
                  <a:pt x="104959" y="0"/>
                </a:cubicBezTo>
                <a:close/>
              </a:path>
            </a:pathLst>
          </a:custGeom>
          <a:solidFill>
            <a:srgbClr val="4C6A72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9716" y="3883030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209905" y="0"/>
                </a:moveTo>
                <a:lnTo>
                  <a:pt x="209905" y="0"/>
                </a:lnTo>
                <a:cubicBezTo>
                  <a:pt x="325755" y="0"/>
                  <a:pt x="419811" y="94055"/>
                  <a:pt x="419811" y="209905"/>
                </a:cubicBezTo>
                <a:lnTo>
                  <a:pt x="419811" y="209905"/>
                </a:lnTo>
                <a:cubicBezTo>
                  <a:pt x="419811" y="325755"/>
                  <a:pt x="325755" y="419811"/>
                  <a:pt x="209905" y="419811"/>
                </a:cubicBezTo>
                <a:lnTo>
                  <a:pt x="209905" y="419811"/>
                </a:lnTo>
                <a:cubicBezTo>
                  <a:pt x="94055" y="419811"/>
                  <a:pt x="0" y="325755"/>
                  <a:pt x="0" y="209905"/>
                </a:cubicBezTo>
                <a:lnTo>
                  <a:pt x="0" y="209905"/>
                </a:lnTo>
                <a:cubicBezTo>
                  <a:pt x="0" y="94055"/>
                  <a:pt x="94055" y="0"/>
                  <a:pt x="209905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17" name="Text 15"/>
          <p:cNvSpPr/>
          <p:nvPr/>
        </p:nvSpPr>
        <p:spPr>
          <a:xfrm>
            <a:off x="585986" y="3883030"/>
            <a:ext cx="507271" cy="41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4479" y="3970491"/>
            <a:ext cx="2352689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Scenario 2: Extensive Cabling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9716" y="4372809"/>
            <a:ext cx="5186410" cy="227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projects </a:t>
            </a:r>
            <a:r>
              <a:rPr lang="en-US" sz="1102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involving extensive cabling work</a:t>
            </a:r>
            <a:r>
              <a:rPr lang="en-US" sz="1102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allow longer lead time: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9716" y="4670175"/>
            <a:ext cx="5116442" cy="489779"/>
          </a:xfrm>
          <a:custGeom>
            <a:avLst/>
            <a:gdLst/>
            <a:ahLst/>
            <a:cxnLst/>
            <a:rect l="l" t="t" r="r" b="b"/>
            <a:pathLst>
              <a:path w="5116442" h="489779">
                <a:moveTo>
                  <a:pt x="69970" y="0"/>
                </a:moveTo>
                <a:lnTo>
                  <a:pt x="5046472" y="0"/>
                </a:lnTo>
                <a:cubicBezTo>
                  <a:pt x="5085115" y="0"/>
                  <a:pt x="5116442" y="31327"/>
                  <a:pt x="5116442" y="69970"/>
                </a:cubicBezTo>
                <a:lnTo>
                  <a:pt x="5116442" y="419809"/>
                </a:lnTo>
                <a:cubicBezTo>
                  <a:pt x="5116442" y="458452"/>
                  <a:pt x="5085115" y="489779"/>
                  <a:pt x="5046472" y="489779"/>
                </a:cubicBezTo>
                <a:lnTo>
                  <a:pt x="69970" y="489779"/>
                </a:lnTo>
                <a:cubicBezTo>
                  <a:pt x="31327" y="489779"/>
                  <a:pt x="0" y="458452"/>
                  <a:pt x="0" y="419809"/>
                </a:cubicBezTo>
                <a:lnTo>
                  <a:pt x="0" y="69970"/>
                </a:lnTo>
                <a:cubicBezTo>
                  <a:pt x="0" y="31327"/>
                  <a:pt x="31327" y="0"/>
                  <a:pt x="6997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2192" y="4775128"/>
            <a:ext cx="5011489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53" b="1" dirty="0">
                <a:solidFill>
                  <a:srgbClr val="4C6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Go-Live Date − 30 Days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9842" y="5728876"/>
            <a:ext cx="5676189" cy="1049527"/>
          </a:xfrm>
          <a:custGeom>
            <a:avLst/>
            <a:gdLst/>
            <a:ahLst/>
            <a:cxnLst/>
            <a:rect l="l" t="t" r="r" b="b"/>
            <a:pathLst>
              <a:path w="5676189" h="1049527">
                <a:moveTo>
                  <a:pt x="104953" y="0"/>
                </a:moveTo>
                <a:lnTo>
                  <a:pt x="5571237" y="0"/>
                </a:lnTo>
                <a:cubicBezTo>
                  <a:pt x="5629200" y="0"/>
                  <a:pt x="5676189" y="46989"/>
                  <a:pt x="5676189" y="104953"/>
                </a:cubicBezTo>
                <a:lnTo>
                  <a:pt x="5676189" y="944574"/>
                </a:lnTo>
                <a:cubicBezTo>
                  <a:pt x="5676189" y="1002538"/>
                  <a:pt x="5629200" y="1049527"/>
                  <a:pt x="5571237" y="1049527"/>
                </a:cubicBezTo>
                <a:lnTo>
                  <a:pt x="104953" y="1049527"/>
                </a:lnTo>
                <a:cubicBezTo>
                  <a:pt x="46989" y="1049527"/>
                  <a:pt x="0" y="1002538"/>
                  <a:pt x="0" y="944574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23" name="Text 21"/>
          <p:cNvSpPr/>
          <p:nvPr/>
        </p:nvSpPr>
        <p:spPr>
          <a:xfrm>
            <a:off x="489779" y="5868813"/>
            <a:ext cx="5483776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Success Factor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9779" y="6183671"/>
            <a:ext cx="5466284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Sales must proactively communicate with customers/channels to confirm final go-live time and construction cycle, updating "Required Delivery Time" in CRM promptly.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82477" y="1294416"/>
            <a:ext cx="5658697" cy="4381773"/>
          </a:xfrm>
          <a:custGeom>
            <a:avLst/>
            <a:gdLst/>
            <a:ahLst/>
            <a:cxnLst/>
            <a:rect l="l" t="t" r="r" b="b"/>
            <a:pathLst>
              <a:path w="5658697" h="4381773">
                <a:moveTo>
                  <a:pt x="34984" y="0"/>
                </a:moveTo>
                <a:lnTo>
                  <a:pt x="5553754" y="0"/>
                </a:lnTo>
                <a:cubicBezTo>
                  <a:pt x="5611712" y="0"/>
                  <a:pt x="5658697" y="46985"/>
                  <a:pt x="5658697" y="104943"/>
                </a:cubicBezTo>
                <a:lnTo>
                  <a:pt x="5658697" y="4276830"/>
                </a:lnTo>
                <a:cubicBezTo>
                  <a:pt x="5658697" y="4334789"/>
                  <a:pt x="5611712" y="4381773"/>
                  <a:pt x="5553754" y="4381773"/>
                </a:cubicBezTo>
                <a:lnTo>
                  <a:pt x="34984" y="4381773"/>
                </a:lnTo>
                <a:cubicBezTo>
                  <a:pt x="15663" y="4381773"/>
                  <a:pt x="0" y="4366110"/>
                  <a:pt x="0" y="4346789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476" dist="3498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82477" y="1294416"/>
            <a:ext cx="34984" cy="4381773"/>
          </a:xfrm>
          <a:custGeom>
            <a:avLst/>
            <a:gdLst/>
            <a:ahLst/>
            <a:cxnLst/>
            <a:rect l="l" t="t" r="r" b="b"/>
            <a:pathLst>
              <a:path w="34984" h="4381773">
                <a:moveTo>
                  <a:pt x="34984" y="0"/>
                </a:moveTo>
                <a:lnTo>
                  <a:pt x="34984" y="0"/>
                </a:lnTo>
                <a:lnTo>
                  <a:pt x="34984" y="4381773"/>
                </a:lnTo>
                <a:lnTo>
                  <a:pt x="34984" y="4381773"/>
                </a:lnTo>
                <a:cubicBezTo>
                  <a:pt x="15663" y="4381773"/>
                  <a:pt x="0" y="4366110"/>
                  <a:pt x="0" y="4346789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27" name="Text 25"/>
          <p:cNvSpPr/>
          <p:nvPr/>
        </p:nvSpPr>
        <p:spPr>
          <a:xfrm>
            <a:off x="6339906" y="1434353"/>
            <a:ext cx="5466284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Filling Examples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39906" y="1819073"/>
            <a:ext cx="5361331" cy="822129"/>
          </a:xfrm>
          <a:custGeom>
            <a:avLst/>
            <a:gdLst/>
            <a:ahLst/>
            <a:cxnLst/>
            <a:rect l="l" t="t" r="r" b="b"/>
            <a:pathLst>
              <a:path w="5361331" h="822129">
                <a:moveTo>
                  <a:pt x="104953" y="0"/>
                </a:moveTo>
                <a:lnTo>
                  <a:pt x="5256378" y="0"/>
                </a:lnTo>
                <a:cubicBezTo>
                  <a:pt x="5314342" y="0"/>
                  <a:pt x="5361331" y="46989"/>
                  <a:pt x="5361331" y="104953"/>
                </a:cubicBezTo>
                <a:lnTo>
                  <a:pt x="5361331" y="717176"/>
                </a:lnTo>
                <a:cubicBezTo>
                  <a:pt x="5361331" y="775140"/>
                  <a:pt x="5314342" y="822129"/>
                  <a:pt x="5256378" y="822129"/>
                </a:cubicBezTo>
                <a:lnTo>
                  <a:pt x="104953" y="822129"/>
                </a:lnTo>
                <a:cubicBezTo>
                  <a:pt x="46989" y="822129"/>
                  <a:pt x="0" y="775140"/>
                  <a:pt x="0" y="717176"/>
                </a:cubicBezTo>
                <a:lnTo>
                  <a:pt x="0" y="104953"/>
                </a:lnTo>
                <a:cubicBezTo>
                  <a:pt x="0" y="46989"/>
                  <a:pt x="46989" y="0"/>
                  <a:pt x="104953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44858" y="1924025"/>
            <a:ext cx="5221395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1: No Extensive Cabling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44858" y="2168915"/>
            <a:ext cx="5212648" cy="36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64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"Confirmed with client's IT Director: project go-live Sep 30. No extensive cabling. 15-day lead time gives </a:t>
            </a:r>
            <a:r>
              <a:rPr lang="en-US" sz="964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 15 Required Delivery Time</a:t>
            </a:r>
            <a:r>
              <a:rPr lang="en-US" sz="964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confirmed feasible."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39906" y="3242436"/>
            <a:ext cx="5361331" cy="822129"/>
          </a:xfrm>
          <a:custGeom>
            <a:avLst/>
            <a:gdLst/>
            <a:ahLst/>
            <a:cxnLst/>
            <a:rect l="l" t="t" r="r" b="b"/>
            <a:pathLst>
              <a:path w="5361331" h="822129">
                <a:moveTo>
                  <a:pt x="104953" y="0"/>
                </a:moveTo>
                <a:lnTo>
                  <a:pt x="5256378" y="0"/>
                </a:lnTo>
                <a:cubicBezTo>
                  <a:pt x="5314342" y="0"/>
                  <a:pt x="5361331" y="46989"/>
                  <a:pt x="5361331" y="104953"/>
                </a:cubicBezTo>
                <a:lnTo>
                  <a:pt x="5361331" y="717176"/>
                </a:lnTo>
                <a:cubicBezTo>
                  <a:pt x="5361331" y="775140"/>
                  <a:pt x="5314342" y="822129"/>
                  <a:pt x="5256378" y="822129"/>
                </a:cubicBezTo>
                <a:lnTo>
                  <a:pt x="104953" y="822129"/>
                </a:lnTo>
                <a:cubicBezTo>
                  <a:pt x="46989" y="822129"/>
                  <a:pt x="0" y="775140"/>
                  <a:pt x="0" y="717176"/>
                </a:cubicBezTo>
                <a:lnTo>
                  <a:pt x="0" y="104953"/>
                </a:lnTo>
                <a:cubicBezTo>
                  <a:pt x="0" y="46989"/>
                  <a:pt x="46989" y="0"/>
                  <a:pt x="104953" y="0"/>
                </a:cubicBezTo>
                <a:close/>
              </a:path>
            </a:pathLst>
          </a:custGeom>
          <a:solidFill>
            <a:srgbClr val="4C6A72">
              <a:alpha val="1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44858" y="3347388"/>
            <a:ext cx="5221395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2: Extensive Cabling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44858" y="3592278"/>
            <a:ext cx="5212648" cy="36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64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"Confirmed with PM: go-live Sep 30. Extensive cabling needed. 30-day lead time gives </a:t>
            </a:r>
            <a:r>
              <a:rPr lang="en-US" sz="964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 1 Required Delivery Time</a:t>
            </a:r>
            <a:r>
              <a:rPr lang="en-US" sz="964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confirmed feasible."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57398" y="4901070"/>
            <a:ext cx="5343839" cy="638462"/>
          </a:xfrm>
          <a:custGeom>
            <a:avLst/>
            <a:gdLst/>
            <a:ahLst/>
            <a:cxnLst/>
            <a:rect l="l" t="t" r="r" b="b"/>
            <a:pathLst>
              <a:path w="5343839" h="638462">
                <a:moveTo>
                  <a:pt x="34984" y="0"/>
                </a:moveTo>
                <a:lnTo>
                  <a:pt x="5238889" y="0"/>
                </a:lnTo>
                <a:cubicBezTo>
                  <a:pt x="5296851" y="0"/>
                  <a:pt x="5343839" y="46988"/>
                  <a:pt x="5343839" y="104950"/>
                </a:cubicBezTo>
                <a:lnTo>
                  <a:pt x="5343839" y="533512"/>
                </a:lnTo>
                <a:cubicBezTo>
                  <a:pt x="5343839" y="591474"/>
                  <a:pt x="5296851" y="638462"/>
                  <a:pt x="5238889" y="638462"/>
                </a:cubicBezTo>
                <a:lnTo>
                  <a:pt x="34984" y="638462"/>
                </a:lnTo>
                <a:cubicBezTo>
                  <a:pt x="15663" y="638462"/>
                  <a:pt x="0" y="622799"/>
                  <a:pt x="0" y="60347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35" name="Shape 33"/>
          <p:cNvSpPr/>
          <p:nvPr/>
        </p:nvSpPr>
        <p:spPr>
          <a:xfrm>
            <a:off x="6357398" y="4901070"/>
            <a:ext cx="34984" cy="638462"/>
          </a:xfrm>
          <a:custGeom>
            <a:avLst/>
            <a:gdLst/>
            <a:ahLst/>
            <a:cxnLst/>
            <a:rect l="l" t="t" r="r" b="b"/>
            <a:pathLst>
              <a:path w="34984" h="638462">
                <a:moveTo>
                  <a:pt x="34984" y="0"/>
                </a:moveTo>
                <a:lnTo>
                  <a:pt x="34984" y="0"/>
                </a:lnTo>
                <a:lnTo>
                  <a:pt x="34984" y="638462"/>
                </a:lnTo>
                <a:lnTo>
                  <a:pt x="34984" y="638462"/>
                </a:lnTo>
                <a:cubicBezTo>
                  <a:pt x="15663" y="638462"/>
                  <a:pt x="0" y="622799"/>
                  <a:pt x="0" y="60347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36" name="Text 34"/>
          <p:cNvSpPr/>
          <p:nvPr/>
        </p:nvSpPr>
        <p:spPr>
          <a:xfrm>
            <a:off x="6479843" y="5006023"/>
            <a:ext cx="5186410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3: Urgent/Flow Projects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79843" y="5250912"/>
            <a:ext cx="5177664" cy="183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64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Fill based on actual situation. Maintain close communication with supply chain for coordination.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82478" y="5728876"/>
            <a:ext cx="5658696" cy="1049527"/>
          </a:xfrm>
          <a:custGeom>
            <a:avLst/>
            <a:gdLst/>
            <a:ahLst/>
            <a:cxnLst/>
            <a:rect l="l" t="t" r="r" b="b"/>
            <a:pathLst>
              <a:path w="5658697" h="1049527">
                <a:moveTo>
                  <a:pt x="34984" y="0"/>
                </a:moveTo>
                <a:lnTo>
                  <a:pt x="5553745" y="0"/>
                </a:lnTo>
                <a:cubicBezTo>
                  <a:pt x="5611708" y="0"/>
                  <a:pt x="5658697" y="46989"/>
                  <a:pt x="5658697" y="104953"/>
                </a:cubicBezTo>
                <a:lnTo>
                  <a:pt x="5658697" y="944574"/>
                </a:lnTo>
                <a:cubicBezTo>
                  <a:pt x="5658697" y="1002538"/>
                  <a:pt x="5611708" y="1049527"/>
                  <a:pt x="5553745" y="1049527"/>
                </a:cubicBezTo>
                <a:lnTo>
                  <a:pt x="34984" y="1049527"/>
                </a:lnTo>
                <a:cubicBezTo>
                  <a:pt x="15663" y="1049527"/>
                  <a:pt x="0" y="1033864"/>
                  <a:pt x="0" y="101454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82477" y="5728876"/>
            <a:ext cx="34984" cy="1049527"/>
          </a:xfrm>
          <a:custGeom>
            <a:avLst/>
            <a:gdLst/>
            <a:ahLst/>
            <a:cxnLst/>
            <a:rect l="l" t="t" r="r" b="b"/>
            <a:pathLst>
              <a:path w="34984" h="1049527">
                <a:moveTo>
                  <a:pt x="34984" y="0"/>
                </a:moveTo>
                <a:lnTo>
                  <a:pt x="34984" y="0"/>
                </a:lnTo>
                <a:lnTo>
                  <a:pt x="34984" y="1049527"/>
                </a:lnTo>
                <a:lnTo>
                  <a:pt x="34984" y="1049527"/>
                </a:lnTo>
                <a:cubicBezTo>
                  <a:pt x="15663" y="1049527"/>
                  <a:pt x="0" y="1033864"/>
                  <a:pt x="0" y="101454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40" name="Text 38"/>
          <p:cNvSpPr/>
          <p:nvPr/>
        </p:nvSpPr>
        <p:spPr>
          <a:xfrm>
            <a:off x="6339906" y="5868813"/>
            <a:ext cx="5440046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Note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39906" y="6183671"/>
            <a:ext cx="5431300" cy="454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2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Sales must fill "Required Delivery Time" AND explain basis in "Stock-up Notes" field; otherwise, the date cannot be submitted.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940" y="363940"/>
            <a:ext cx="1152780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kern="0" spc="100" dirty="0">
                <a:solidFill>
                  <a:srgbClr val="D9A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T2 &amp; T3 CALCULATION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3940" y="618699"/>
            <a:ext cx="11682484" cy="436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39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Estimated Order &amp; Bid Time: Methods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3940" y="1164609"/>
            <a:ext cx="873457" cy="36394"/>
          </a:xfrm>
          <a:custGeom>
            <a:avLst/>
            <a:gdLst/>
            <a:ahLst/>
            <a:cxnLst/>
            <a:rect l="l" t="t" r="r" b="b"/>
            <a:pathLst>
              <a:path w="873457" h="36394">
                <a:moveTo>
                  <a:pt x="0" y="0"/>
                </a:moveTo>
                <a:lnTo>
                  <a:pt x="873457" y="0"/>
                </a:lnTo>
                <a:lnTo>
                  <a:pt x="873457" y="36394"/>
                </a:lnTo>
                <a:lnTo>
                  <a:pt x="0" y="36394"/>
                </a:lnTo>
                <a:lnTo>
                  <a:pt x="0" y="0"/>
                </a:ln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5" name="Shape 3"/>
          <p:cNvSpPr/>
          <p:nvPr/>
        </p:nvSpPr>
        <p:spPr>
          <a:xfrm>
            <a:off x="363940" y="1364776"/>
            <a:ext cx="11464119" cy="1637731"/>
          </a:xfrm>
          <a:custGeom>
            <a:avLst/>
            <a:gdLst/>
            <a:ahLst/>
            <a:cxnLst/>
            <a:rect l="l" t="t" r="r" b="b"/>
            <a:pathLst>
              <a:path w="11464119" h="1637731">
                <a:moveTo>
                  <a:pt x="36394" y="0"/>
                </a:moveTo>
                <a:lnTo>
                  <a:pt x="11427725" y="0"/>
                </a:lnTo>
                <a:cubicBezTo>
                  <a:pt x="11447825" y="0"/>
                  <a:pt x="11464119" y="16294"/>
                  <a:pt x="11464119" y="36394"/>
                </a:cubicBezTo>
                <a:lnTo>
                  <a:pt x="11464119" y="1528544"/>
                </a:lnTo>
                <a:cubicBezTo>
                  <a:pt x="11464119" y="1588846"/>
                  <a:pt x="11415234" y="1637731"/>
                  <a:pt x="11354932" y="1637731"/>
                </a:cubicBezTo>
                <a:lnTo>
                  <a:pt x="109188" y="1637731"/>
                </a:lnTo>
                <a:cubicBezTo>
                  <a:pt x="48925" y="1637731"/>
                  <a:pt x="0" y="1588806"/>
                  <a:pt x="0" y="1528544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4591" dist="3639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3940" y="1364776"/>
            <a:ext cx="11464119" cy="36394"/>
          </a:xfrm>
          <a:custGeom>
            <a:avLst/>
            <a:gdLst/>
            <a:ahLst/>
            <a:cxnLst/>
            <a:rect l="l" t="t" r="r" b="b"/>
            <a:pathLst>
              <a:path w="11464119" h="36394">
                <a:moveTo>
                  <a:pt x="36394" y="0"/>
                </a:moveTo>
                <a:lnTo>
                  <a:pt x="11427725" y="0"/>
                </a:lnTo>
                <a:cubicBezTo>
                  <a:pt x="11447825" y="0"/>
                  <a:pt x="11464119" y="16294"/>
                  <a:pt x="11464119" y="36394"/>
                </a:cubicBezTo>
                <a:lnTo>
                  <a:pt x="11464119" y="36394"/>
                </a:lnTo>
                <a:lnTo>
                  <a:pt x="0" y="36394"/>
                </a:ln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A8B8C2"/>
          </a:solidFill>
          <a:ln/>
        </p:spPr>
      </p:sp>
      <p:sp>
        <p:nvSpPr>
          <p:cNvPr id="7" name="Text 5"/>
          <p:cNvSpPr/>
          <p:nvPr/>
        </p:nvSpPr>
        <p:spPr>
          <a:xfrm>
            <a:off x="509516" y="1528549"/>
            <a:ext cx="11282149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T2: Estimated Order Date Calculation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9516" y="1892378"/>
            <a:ext cx="11245755" cy="23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all projects, Estimated Order Date = </a:t>
            </a:r>
            <a:r>
              <a:rPr lang="en-US" sz="1146" b="1" dirty="0">
                <a:solidFill>
                  <a:srgbClr val="4C6A72"/>
                </a:solidFill>
                <a:highlight>
                  <a:srgbClr val="D9A467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Required Delivery Time (T1) − SLA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516" y="2201728"/>
            <a:ext cx="3648501" cy="655093"/>
          </a:xfrm>
          <a:custGeom>
            <a:avLst/>
            <a:gdLst/>
            <a:ahLst/>
            <a:cxnLst/>
            <a:rect l="l" t="t" r="r" b="b"/>
            <a:pathLst>
              <a:path w="3648501" h="655093">
                <a:moveTo>
                  <a:pt x="109184" y="0"/>
                </a:moveTo>
                <a:lnTo>
                  <a:pt x="3539317" y="0"/>
                </a:lnTo>
                <a:cubicBezTo>
                  <a:pt x="3599618" y="0"/>
                  <a:pt x="3648501" y="48883"/>
                  <a:pt x="3648501" y="109184"/>
                </a:cubicBezTo>
                <a:lnTo>
                  <a:pt x="3648501" y="545908"/>
                </a:lnTo>
                <a:cubicBezTo>
                  <a:pt x="3648501" y="606209"/>
                  <a:pt x="3599618" y="655093"/>
                  <a:pt x="3539317" y="655093"/>
                </a:cubicBezTo>
                <a:lnTo>
                  <a:pt x="109184" y="655093"/>
                </a:lnTo>
                <a:cubicBezTo>
                  <a:pt x="48883" y="655093"/>
                  <a:pt x="0" y="606209"/>
                  <a:pt x="0" y="545908"/>
                </a:cubicBezTo>
                <a:lnTo>
                  <a:pt x="0" y="109184"/>
                </a:lnTo>
                <a:cubicBezTo>
                  <a:pt x="0" y="48883"/>
                  <a:pt x="48883" y="0"/>
                  <a:pt x="109184" y="0"/>
                </a:cubicBezTo>
                <a:close/>
              </a:path>
            </a:pathLst>
          </a:custGeom>
          <a:solidFill>
            <a:srgbClr val="4C6A72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18699" y="2310910"/>
            <a:ext cx="3502925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Multi-Product Orders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8699" y="2565668"/>
            <a:ext cx="3493827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products have different SLAs, use the </a:t>
            </a:r>
            <a:r>
              <a:rPr lang="en-US" sz="1003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SLA value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71522" y="2201728"/>
            <a:ext cx="3648501" cy="655093"/>
          </a:xfrm>
          <a:custGeom>
            <a:avLst/>
            <a:gdLst/>
            <a:ahLst/>
            <a:cxnLst/>
            <a:rect l="l" t="t" r="r" b="b"/>
            <a:pathLst>
              <a:path w="3648501" h="655093">
                <a:moveTo>
                  <a:pt x="109184" y="0"/>
                </a:moveTo>
                <a:lnTo>
                  <a:pt x="3539317" y="0"/>
                </a:lnTo>
                <a:cubicBezTo>
                  <a:pt x="3599618" y="0"/>
                  <a:pt x="3648501" y="48883"/>
                  <a:pt x="3648501" y="109184"/>
                </a:cubicBezTo>
                <a:lnTo>
                  <a:pt x="3648501" y="545908"/>
                </a:lnTo>
                <a:cubicBezTo>
                  <a:pt x="3648501" y="606209"/>
                  <a:pt x="3599618" y="655093"/>
                  <a:pt x="3539317" y="655093"/>
                </a:cubicBezTo>
                <a:lnTo>
                  <a:pt x="109184" y="655093"/>
                </a:lnTo>
                <a:cubicBezTo>
                  <a:pt x="48883" y="655093"/>
                  <a:pt x="0" y="606209"/>
                  <a:pt x="0" y="545908"/>
                </a:cubicBezTo>
                <a:lnTo>
                  <a:pt x="0" y="109184"/>
                </a:lnTo>
                <a:cubicBezTo>
                  <a:pt x="0" y="48883"/>
                  <a:pt x="48883" y="0"/>
                  <a:pt x="109184" y="0"/>
                </a:cubicBezTo>
                <a:close/>
              </a:path>
            </a:pathLst>
          </a:custGeom>
          <a:solidFill>
            <a:srgbClr val="D9A467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380704" y="2310910"/>
            <a:ext cx="3502925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0704" y="2565668"/>
            <a:ext cx="3493827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Products A (3d), B (7d), C (14d) → Order SLA = </a:t>
            </a:r>
            <a:r>
              <a:rPr lang="en-US" sz="1003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days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33527" y="2201728"/>
            <a:ext cx="3648501" cy="655093"/>
          </a:xfrm>
          <a:custGeom>
            <a:avLst/>
            <a:gdLst/>
            <a:ahLst/>
            <a:cxnLst/>
            <a:rect l="l" t="t" r="r" b="b"/>
            <a:pathLst>
              <a:path w="3648501" h="655093">
                <a:moveTo>
                  <a:pt x="109184" y="0"/>
                </a:moveTo>
                <a:lnTo>
                  <a:pt x="3539317" y="0"/>
                </a:lnTo>
                <a:cubicBezTo>
                  <a:pt x="3599618" y="0"/>
                  <a:pt x="3648501" y="48883"/>
                  <a:pt x="3648501" y="109184"/>
                </a:cubicBezTo>
                <a:lnTo>
                  <a:pt x="3648501" y="545908"/>
                </a:lnTo>
                <a:cubicBezTo>
                  <a:pt x="3648501" y="606209"/>
                  <a:pt x="3599618" y="655093"/>
                  <a:pt x="3539317" y="655093"/>
                </a:cubicBezTo>
                <a:lnTo>
                  <a:pt x="109184" y="655093"/>
                </a:lnTo>
                <a:cubicBezTo>
                  <a:pt x="48883" y="655093"/>
                  <a:pt x="0" y="606209"/>
                  <a:pt x="0" y="545908"/>
                </a:cubicBezTo>
                <a:lnTo>
                  <a:pt x="0" y="109184"/>
                </a:lnTo>
                <a:cubicBezTo>
                  <a:pt x="0" y="48883"/>
                  <a:pt x="48883" y="0"/>
                  <a:pt x="109184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16" name="Text 14"/>
          <p:cNvSpPr/>
          <p:nvPr/>
        </p:nvSpPr>
        <p:spPr>
          <a:xfrm>
            <a:off x="8142709" y="2310910"/>
            <a:ext cx="3502925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Check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42709" y="2565668"/>
            <a:ext cx="3493827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Entered date must be </a:t>
            </a:r>
            <a:r>
              <a:rPr lang="en-US" sz="100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SLA-calculated date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3940" y="3129776"/>
            <a:ext cx="5677469" cy="2984310"/>
          </a:xfrm>
          <a:custGeom>
            <a:avLst/>
            <a:gdLst/>
            <a:ahLst/>
            <a:cxnLst/>
            <a:rect l="l" t="t" r="r" b="b"/>
            <a:pathLst>
              <a:path w="5677469" h="2984310">
                <a:moveTo>
                  <a:pt x="36394" y="0"/>
                </a:moveTo>
                <a:lnTo>
                  <a:pt x="5641075" y="0"/>
                </a:lnTo>
                <a:cubicBezTo>
                  <a:pt x="5661174" y="0"/>
                  <a:pt x="5677469" y="16294"/>
                  <a:pt x="5677469" y="36394"/>
                </a:cubicBezTo>
                <a:lnTo>
                  <a:pt x="5677469" y="2875115"/>
                </a:lnTo>
                <a:cubicBezTo>
                  <a:pt x="5677469" y="2935422"/>
                  <a:pt x="5628580" y="2984310"/>
                  <a:pt x="5568273" y="2984310"/>
                </a:cubicBezTo>
                <a:lnTo>
                  <a:pt x="109196" y="2984310"/>
                </a:lnTo>
                <a:cubicBezTo>
                  <a:pt x="48889" y="2984310"/>
                  <a:pt x="0" y="2935422"/>
                  <a:pt x="0" y="2875115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4591" dist="3639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3940" y="3129776"/>
            <a:ext cx="5677469" cy="36394"/>
          </a:xfrm>
          <a:custGeom>
            <a:avLst/>
            <a:gdLst/>
            <a:ahLst/>
            <a:cxnLst/>
            <a:rect l="l" t="t" r="r" b="b"/>
            <a:pathLst>
              <a:path w="5677469" h="36394">
                <a:moveTo>
                  <a:pt x="36394" y="0"/>
                </a:moveTo>
                <a:lnTo>
                  <a:pt x="5641075" y="0"/>
                </a:lnTo>
                <a:cubicBezTo>
                  <a:pt x="5661174" y="0"/>
                  <a:pt x="5677469" y="16294"/>
                  <a:pt x="5677469" y="36394"/>
                </a:cubicBezTo>
                <a:lnTo>
                  <a:pt x="5677469" y="36394"/>
                </a:lnTo>
                <a:lnTo>
                  <a:pt x="0" y="36394"/>
                </a:ln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20" name="Text 18"/>
          <p:cNvSpPr/>
          <p:nvPr/>
        </p:nvSpPr>
        <p:spPr>
          <a:xfrm>
            <a:off x="509516" y="3293549"/>
            <a:ext cx="5495499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T3: Forward Method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9516" y="3657373"/>
            <a:ext cx="5459104" cy="23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Formula:</a:t>
            </a:r>
            <a:r>
              <a:rPr lang="en-US" sz="1146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Current Time + Customer Procurement Cycles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9516" y="3966723"/>
            <a:ext cx="5386316" cy="1564943"/>
          </a:xfrm>
          <a:custGeom>
            <a:avLst/>
            <a:gdLst/>
            <a:ahLst/>
            <a:cxnLst/>
            <a:rect l="l" t="t" r="r" b="b"/>
            <a:pathLst>
              <a:path w="5386316" h="1564943">
                <a:moveTo>
                  <a:pt x="109186" y="0"/>
                </a:moveTo>
                <a:lnTo>
                  <a:pt x="5277130" y="0"/>
                </a:lnTo>
                <a:cubicBezTo>
                  <a:pt x="5337432" y="0"/>
                  <a:pt x="5386316" y="48884"/>
                  <a:pt x="5386316" y="109186"/>
                </a:cubicBezTo>
                <a:lnTo>
                  <a:pt x="5386316" y="1455757"/>
                </a:lnTo>
                <a:cubicBezTo>
                  <a:pt x="5386316" y="1516059"/>
                  <a:pt x="5337432" y="1564943"/>
                  <a:pt x="5277130" y="1564943"/>
                </a:cubicBezTo>
                <a:lnTo>
                  <a:pt x="109186" y="1564943"/>
                </a:lnTo>
                <a:cubicBezTo>
                  <a:pt x="48884" y="1564943"/>
                  <a:pt x="0" y="1516059"/>
                  <a:pt x="0" y="1455757"/>
                </a:cubicBezTo>
                <a:lnTo>
                  <a:pt x="0" y="109186"/>
                </a:lnTo>
                <a:cubicBezTo>
                  <a:pt x="0" y="48884"/>
                  <a:pt x="48884" y="0"/>
                  <a:pt x="109186" y="0"/>
                </a:cubicBezTo>
                <a:close/>
              </a:path>
            </a:pathLst>
          </a:custGeom>
          <a:solidFill>
            <a:srgbClr val="4C6A72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18699" y="4075905"/>
            <a:ext cx="5240740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Steps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8699" y="4367057"/>
            <a:ext cx="5231642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Identify current project stage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8699" y="4585421"/>
            <a:ext cx="5231642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Map customer procurement process steps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8699" y="4803785"/>
            <a:ext cx="5231642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Estimate duration for each step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8699" y="5022150"/>
            <a:ext cx="5231642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Sum all procurement cycle times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8699" y="5240514"/>
            <a:ext cx="5231642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Add to current date for estimated bid date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9516" y="5604454"/>
            <a:ext cx="5386316" cy="363940"/>
          </a:xfrm>
          <a:custGeom>
            <a:avLst/>
            <a:gdLst/>
            <a:ahLst/>
            <a:cxnLst/>
            <a:rect l="l" t="t" r="r" b="b"/>
            <a:pathLst>
              <a:path w="5386316" h="363940">
                <a:moveTo>
                  <a:pt x="109182" y="0"/>
                </a:moveTo>
                <a:lnTo>
                  <a:pt x="5277134" y="0"/>
                </a:lnTo>
                <a:cubicBezTo>
                  <a:pt x="5337434" y="0"/>
                  <a:pt x="5386316" y="48882"/>
                  <a:pt x="5386316" y="109182"/>
                </a:cubicBezTo>
                <a:lnTo>
                  <a:pt x="5386316" y="254758"/>
                </a:lnTo>
                <a:cubicBezTo>
                  <a:pt x="5386316" y="315058"/>
                  <a:pt x="5337434" y="363940"/>
                  <a:pt x="5277134" y="363940"/>
                </a:cubicBezTo>
                <a:lnTo>
                  <a:pt x="109182" y="363940"/>
                </a:lnTo>
                <a:cubicBezTo>
                  <a:pt x="48923" y="363940"/>
                  <a:pt x="0" y="315017"/>
                  <a:pt x="0" y="254758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D9A467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45910" y="5677242"/>
            <a:ext cx="5313528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b="1" dirty="0">
                <a:solidFill>
                  <a:srgbClr val="4C6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 Early-stage projects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52525" y="3129776"/>
            <a:ext cx="5677469" cy="2984310"/>
          </a:xfrm>
          <a:custGeom>
            <a:avLst/>
            <a:gdLst/>
            <a:ahLst/>
            <a:cxnLst/>
            <a:rect l="l" t="t" r="r" b="b"/>
            <a:pathLst>
              <a:path w="5677469" h="2984310">
                <a:moveTo>
                  <a:pt x="36394" y="0"/>
                </a:moveTo>
                <a:lnTo>
                  <a:pt x="5641075" y="0"/>
                </a:lnTo>
                <a:cubicBezTo>
                  <a:pt x="5661174" y="0"/>
                  <a:pt x="5677469" y="16294"/>
                  <a:pt x="5677469" y="36394"/>
                </a:cubicBezTo>
                <a:lnTo>
                  <a:pt x="5677469" y="2875115"/>
                </a:lnTo>
                <a:cubicBezTo>
                  <a:pt x="5677469" y="2935422"/>
                  <a:pt x="5628580" y="2984310"/>
                  <a:pt x="5568273" y="2984310"/>
                </a:cubicBezTo>
                <a:lnTo>
                  <a:pt x="109196" y="2984310"/>
                </a:lnTo>
                <a:cubicBezTo>
                  <a:pt x="48889" y="2984310"/>
                  <a:pt x="0" y="2935422"/>
                  <a:pt x="0" y="2875115"/>
                </a:cubicBez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4591" dist="3639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52525" y="3129776"/>
            <a:ext cx="5677469" cy="36394"/>
          </a:xfrm>
          <a:custGeom>
            <a:avLst/>
            <a:gdLst/>
            <a:ahLst/>
            <a:cxnLst/>
            <a:rect l="l" t="t" r="r" b="b"/>
            <a:pathLst>
              <a:path w="5677469" h="36394">
                <a:moveTo>
                  <a:pt x="36394" y="0"/>
                </a:moveTo>
                <a:lnTo>
                  <a:pt x="5641075" y="0"/>
                </a:lnTo>
                <a:cubicBezTo>
                  <a:pt x="5661174" y="0"/>
                  <a:pt x="5677469" y="16294"/>
                  <a:pt x="5677469" y="36394"/>
                </a:cubicBezTo>
                <a:lnTo>
                  <a:pt x="5677469" y="36394"/>
                </a:lnTo>
                <a:lnTo>
                  <a:pt x="0" y="36394"/>
                </a:lnTo>
                <a:lnTo>
                  <a:pt x="0" y="36394"/>
                </a:lnTo>
                <a:cubicBezTo>
                  <a:pt x="0" y="16308"/>
                  <a:pt x="16308" y="0"/>
                  <a:pt x="36394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33" name="Text 31"/>
          <p:cNvSpPr/>
          <p:nvPr/>
        </p:nvSpPr>
        <p:spPr>
          <a:xfrm>
            <a:off x="6298101" y="3293549"/>
            <a:ext cx="5495499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9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T3: Backward Method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98101" y="3657373"/>
            <a:ext cx="5459104" cy="23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Formula:</a:t>
            </a:r>
            <a:r>
              <a:rPr lang="en-US" sz="1146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Customer Required Delivery − Key Activity Durations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98101" y="3966723"/>
            <a:ext cx="5386316" cy="1564943"/>
          </a:xfrm>
          <a:custGeom>
            <a:avLst/>
            <a:gdLst/>
            <a:ahLst/>
            <a:cxnLst/>
            <a:rect l="l" t="t" r="r" b="b"/>
            <a:pathLst>
              <a:path w="5386316" h="1564943">
                <a:moveTo>
                  <a:pt x="109186" y="0"/>
                </a:moveTo>
                <a:lnTo>
                  <a:pt x="5277130" y="0"/>
                </a:lnTo>
                <a:cubicBezTo>
                  <a:pt x="5337432" y="0"/>
                  <a:pt x="5386316" y="48884"/>
                  <a:pt x="5386316" y="109186"/>
                </a:cubicBezTo>
                <a:lnTo>
                  <a:pt x="5386316" y="1455757"/>
                </a:lnTo>
                <a:cubicBezTo>
                  <a:pt x="5386316" y="1516059"/>
                  <a:pt x="5337432" y="1564943"/>
                  <a:pt x="5277130" y="1564943"/>
                </a:cubicBezTo>
                <a:lnTo>
                  <a:pt x="109186" y="1564943"/>
                </a:lnTo>
                <a:cubicBezTo>
                  <a:pt x="48884" y="1564943"/>
                  <a:pt x="0" y="1516059"/>
                  <a:pt x="0" y="1455757"/>
                </a:cubicBezTo>
                <a:lnTo>
                  <a:pt x="0" y="109186"/>
                </a:lnTo>
                <a:cubicBezTo>
                  <a:pt x="0" y="48884"/>
                  <a:pt x="48884" y="0"/>
                  <a:pt x="109186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07283" y="4075905"/>
            <a:ext cx="5240740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Deduction Items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07283" y="4367057"/>
            <a:ext cx="5231642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Contract signing and order processing cycle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7283" y="4585421"/>
            <a:ext cx="5231642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Project complexity buffer time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07283" y="4803785"/>
            <a:ext cx="5231642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Customer internal approval periods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07283" y="5022150"/>
            <a:ext cx="5231642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Buffer for potential delays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98101" y="5604454"/>
            <a:ext cx="5386316" cy="363940"/>
          </a:xfrm>
          <a:custGeom>
            <a:avLst/>
            <a:gdLst/>
            <a:ahLst/>
            <a:cxnLst/>
            <a:rect l="l" t="t" r="r" b="b"/>
            <a:pathLst>
              <a:path w="5386316" h="363940">
                <a:moveTo>
                  <a:pt x="109182" y="0"/>
                </a:moveTo>
                <a:lnTo>
                  <a:pt x="5277134" y="0"/>
                </a:lnTo>
                <a:cubicBezTo>
                  <a:pt x="5337434" y="0"/>
                  <a:pt x="5386316" y="48882"/>
                  <a:pt x="5386316" y="109182"/>
                </a:cubicBezTo>
                <a:lnTo>
                  <a:pt x="5386316" y="254758"/>
                </a:lnTo>
                <a:cubicBezTo>
                  <a:pt x="5386316" y="315058"/>
                  <a:pt x="5337434" y="363940"/>
                  <a:pt x="5277134" y="363940"/>
                </a:cubicBezTo>
                <a:lnTo>
                  <a:pt x="109182" y="363940"/>
                </a:lnTo>
                <a:cubicBezTo>
                  <a:pt x="48923" y="363940"/>
                  <a:pt x="0" y="315017"/>
                  <a:pt x="0" y="254758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4C6A72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334495" y="5677242"/>
            <a:ext cx="5313528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b="1" dirty="0">
                <a:solidFill>
                  <a:srgbClr val="4C6A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 Projects with fixed delivery dates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63940" y="6223157"/>
            <a:ext cx="11464119" cy="454925"/>
          </a:xfrm>
          <a:custGeom>
            <a:avLst/>
            <a:gdLst/>
            <a:ahLst/>
            <a:cxnLst/>
            <a:rect l="l" t="t" r="r" b="b"/>
            <a:pathLst>
              <a:path w="11464119" h="454925">
                <a:moveTo>
                  <a:pt x="109182" y="0"/>
                </a:moveTo>
                <a:lnTo>
                  <a:pt x="11354937" y="0"/>
                </a:lnTo>
                <a:cubicBezTo>
                  <a:pt x="11415237" y="0"/>
                  <a:pt x="11464119" y="48882"/>
                  <a:pt x="11464119" y="109182"/>
                </a:cubicBezTo>
                <a:lnTo>
                  <a:pt x="11464119" y="345743"/>
                </a:lnTo>
                <a:cubicBezTo>
                  <a:pt x="11464119" y="406043"/>
                  <a:pt x="11415237" y="454925"/>
                  <a:pt x="11354937" y="454925"/>
                </a:cubicBezTo>
                <a:lnTo>
                  <a:pt x="109182" y="454925"/>
                </a:lnTo>
                <a:cubicBezTo>
                  <a:pt x="48923" y="454925"/>
                  <a:pt x="0" y="406003"/>
                  <a:pt x="0" y="345743"/>
                </a:cubicBezTo>
                <a:lnTo>
                  <a:pt x="0" y="109182"/>
                </a:lnTo>
                <a:cubicBezTo>
                  <a:pt x="0" y="48923"/>
                  <a:pt x="48923" y="0"/>
                  <a:pt x="109182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44" name="Shape 42"/>
          <p:cNvSpPr/>
          <p:nvPr/>
        </p:nvSpPr>
        <p:spPr>
          <a:xfrm>
            <a:off x="527713" y="6341438"/>
            <a:ext cx="163773" cy="218364"/>
          </a:xfrm>
          <a:custGeom>
            <a:avLst/>
            <a:gdLst/>
            <a:ahLst/>
            <a:cxnLst/>
            <a:rect l="l" t="t" r="r" b="b"/>
            <a:pathLst>
              <a:path w="163773" h="218364">
                <a:moveTo>
                  <a:pt x="124920" y="163773"/>
                </a:moveTo>
                <a:cubicBezTo>
                  <a:pt x="128033" y="154262"/>
                  <a:pt x="134260" y="145647"/>
                  <a:pt x="141297" y="138226"/>
                </a:cubicBezTo>
                <a:cubicBezTo>
                  <a:pt x="155243" y="123555"/>
                  <a:pt x="163773" y="103723"/>
                  <a:pt x="163773" y="81887"/>
                </a:cubicBezTo>
                <a:cubicBezTo>
                  <a:pt x="163773" y="36678"/>
                  <a:pt x="127095" y="0"/>
                  <a:pt x="81887" y="0"/>
                </a:cubicBezTo>
                <a:cubicBezTo>
                  <a:pt x="36678" y="0"/>
                  <a:pt x="0" y="36678"/>
                  <a:pt x="0" y="81887"/>
                </a:cubicBezTo>
                <a:cubicBezTo>
                  <a:pt x="0" y="103723"/>
                  <a:pt x="8530" y="123555"/>
                  <a:pt x="22476" y="138226"/>
                </a:cubicBezTo>
                <a:cubicBezTo>
                  <a:pt x="29513" y="145647"/>
                  <a:pt x="35783" y="154262"/>
                  <a:pt x="38853" y="163773"/>
                </a:cubicBezTo>
                <a:lnTo>
                  <a:pt x="124877" y="163773"/>
                </a:lnTo>
                <a:close/>
                <a:moveTo>
                  <a:pt x="122830" y="184245"/>
                </a:moveTo>
                <a:lnTo>
                  <a:pt x="40943" y="184245"/>
                </a:lnTo>
                <a:lnTo>
                  <a:pt x="40943" y="191069"/>
                </a:lnTo>
                <a:cubicBezTo>
                  <a:pt x="40943" y="209920"/>
                  <a:pt x="56212" y="225188"/>
                  <a:pt x="75063" y="225188"/>
                </a:cubicBezTo>
                <a:lnTo>
                  <a:pt x="88710" y="225188"/>
                </a:lnTo>
                <a:cubicBezTo>
                  <a:pt x="107561" y="225188"/>
                  <a:pt x="122830" y="209920"/>
                  <a:pt x="122830" y="191069"/>
                </a:cubicBezTo>
                <a:lnTo>
                  <a:pt x="122830" y="184245"/>
                </a:lnTo>
                <a:close/>
                <a:moveTo>
                  <a:pt x="78475" y="47767"/>
                </a:moveTo>
                <a:cubicBezTo>
                  <a:pt x="61500" y="47767"/>
                  <a:pt x="47767" y="61500"/>
                  <a:pt x="47767" y="78475"/>
                </a:cubicBezTo>
                <a:cubicBezTo>
                  <a:pt x="47767" y="84147"/>
                  <a:pt x="43204" y="88710"/>
                  <a:pt x="37531" y="88710"/>
                </a:cubicBezTo>
                <a:cubicBezTo>
                  <a:pt x="31859" y="88710"/>
                  <a:pt x="27296" y="84147"/>
                  <a:pt x="27296" y="78475"/>
                </a:cubicBezTo>
                <a:cubicBezTo>
                  <a:pt x="27296" y="50198"/>
                  <a:pt x="50198" y="27296"/>
                  <a:pt x="78475" y="27296"/>
                </a:cubicBezTo>
                <a:cubicBezTo>
                  <a:pt x="84147" y="27296"/>
                  <a:pt x="88710" y="31859"/>
                  <a:pt x="88710" y="37531"/>
                </a:cubicBezTo>
                <a:cubicBezTo>
                  <a:pt x="88710" y="43204"/>
                  <a:pt x="84147" y="47767"/>
                  <a:pt x="78475" y="47767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45" name="Text 43"/>
          <p:cNvSpPr/>
          <p:nvPr/>
        </p:nvSpPr>
        <p:spPr>
          <a:xfrm>
            <a:off x="855260" y="6332339"/>
            <a:ext cx="7151427" cy="23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Guidance:</a:t>
            </a:r>
            <a:r>
              <a:rPr lang="en-US" sz="114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Forward Method as primary, Backward Method as validation. Combining both improves accuracy.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928" y="378928"/>
            <a:ext cx="11500457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kern="0" spc="104" dirty="0">
                <a:solidFill>
                  <a:srgbClr val="D9A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8928" y="644177"/>
            <a:ext cx="11661501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0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Processes: Funnel Entry &amp; Management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8928" y="1212569"/>
            <a:ext cx="909427" cy="37893"/>
          </a:xfrm>
          <a:custGeom>
            <a:avLst/>
            <a:gdLst/>
            <a:ahLst/>
            <a:cxnLst/>
            <a:rect l="l" t="t" r="r" b="b"/>
            <a:pathLst>
              <a:path w="909427" h="37893">
                <a:moveTo>
                  <a:pt x="0" y="0"/>
                </a:moveTo>
                <a:lnTo>
                  <a:pt x="909427" y="0"/>
                </a:lnTo>
                <a:lnTo>
                  <a:pt x="909427" y="37893"/>
                </a:lnTo>
                <a:lnTo>
                  <a:pt x="0" y="37893"/>
                </a:lnTo>
                <a:lnTo>
                  <a:pt x="0" y="0"/>
                </a:ln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5" name="Shape 3"/>
          <p:cNvSpPr/>
          <p:nvPr/>
        </p:nvSpPr>
        <p:spPr>
          <a:xfrm>
            <a:off x="378928" y="1420979"/>
            <a:ext cx="5646023" cy="4566079"/>
          </a:xfrm>
          <a:custGeom>
            <a:avLst/>
            <a:gdLst/>
            <a:ahLst/>
            <a:cxnLst/>
            <a:rect l="l" t="t" r="r" b="b"/>
            <a:pathLst>
              <a:path w="5646023" h="4566079">
                <a:moveTo>
                  <a:pt x="37893" y="0"/>
                </a:moveTo>
                <a:lnTo>
                  <a:pt x="5608131" y="0"/>
                </a:lnTo>
                <a:cubicBezTo>
                  <a:pt x="5629058" y="0"/>
                  <a:pt x="5646023" y="16965"/>
                  <a:pt x="5646023" y="37893"/>
                </a:cubicBezTo>
                <a:lnTo>
                  <a:pt x="5646023" y="4452384"/>
                </a:lnTo>
                <a:cubicBezTo>
                  <a:pt x="5646023" y="4515176"/>
                  <a:pt x="5595120" y="4566079"/>
                  <a:pt x="5532328" y="4566079"/>
                </a:cubicBezTo>
                <a:lnTo>
                  <a:pt x="113695" y="4566079"/>
                </a:lnTo>
                <a:cubicBezTo>
                  <a:pt x="50903" y="4566079"/>
                  <a:pt x="0" y="4515176"/>
                  <a:pt x="0" y="4452384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839" dist="3789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8928" y="1420979"/>
            <a:ext cx="5646023" cy="37893"/>
          </a:xfrm>
          <a:custGeom>
            <a:avLst/>
            <a:gdLst/>
            <a:ahLst/>
            <a:cxnLst/>
            <a:rect l="l" t="t" r="r" b="b"/>
            <a:pathLst>
              <a:path w="5646023" h="37893">
                <a:moveTo>
                  <a:pt x="37893" y="0"/>
                </a:moveTo>
                <a:lnTo>
                  <a:pt x="5608131" y="0"/>
                </a:lnTo>
                <a:cubicBezTo>
                  <a:pt x="5629058" y="0"/>
                  <a:pt x="5646023" y="16965"/>
                  <a:pt x="5646023" y="37893"/>
                </a:cubicBezTo>
                <a:lnTo>
                  <a:pt x="5646023" y="37893"/>
                </a:lnTo>
                <a:lnTo>
                  <a:pt x="0" y="37893"/>
                </a:ln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7" name="Shape 5"/>
          <p:cNvSpPr/>
          <p:nvPr/>
        </p:nvSpPr>
        <p:spPr>
          <a:xfrm>
            <a:off x="530499" y="1591497"/>
            <a:ext cx="454713" cy="454713"/>
          </a:xfrm>
          <a:custGeom>
            <a:avLst/>
            <a:gdLst/>
            <a:ahLst/>
            <a:cxnLst/>
            <a:rect l="l" t="t" r="r" b="b"/>
            <a:pathLst>
              <a:path w="454713" h="454713">
                <a:moveTo>
                  <a:pt x="227357" y="0"/>
                </a:moveTo>
                <a:lnTo>
                  <a:pt x="227357" y="0"/>
                </a:lnTo>
                <a:cubicBezTo>
                  <a:pt x="352838" y="0"/>
                  <a:pt x="454713" y="101875"/>
                  <a:pt x="454713" y="227357"/>
                </a:cubicBezTo>
                <a:lnTo>
                  <a:pt x="454713" y="227357"/>
                </a:lnTo>
                <a:cubicBezTo>
                  <a:pt x="454713" y="352838"/>
                  <a:pt x="352838" y="454713"/>
                  <a:pt x="227357" y="454713"/>
                </a:cubicBezTo>
                <a:lnTo>
                  <a:pt x="227357" y="454713"/>
                </a:lnTo>
                <a:cubicBezTo>
                  <a:pt x="101875" y="454713"/>
                  <a:pt x="0" y="352838"/>
                  <a:pt x="0" y="227357"/>
                </a:cubicBezTo>
                <a:lnTo>
                  <a:pt x="0" y="227357"/>
                </a:lnTo>
                <a:cubicBezTo>
                  <a:pt x="0" y="101875"/>
                  <a:pt x="101875" y="0"/>
                  <a:pt x="227357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8" name="Text 6"/>
          <p:cNvSpPr/>
          <p:nvPr/>
        </p:nvSpPr>
        <p:spPr>
          <a:xfrm>
            <a:off x="483133" y="1591497"/>
            <a:ext cx="549445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8890" y="1686228"/>
            <a:ext cx="2008317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1: Funnel Entry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0499" y="2159888"/>
            <a:ext cx="5342881" cy="795748"/>
          </a:xfrm>
          <a:custGeom>
            <a:avLst/>
            <a:gdLst/>
            <a:ahLst/>
            <a:cxnLst/>
            <a:rect l="l" t="t" r="r" b="b"/>
            <a:pathLst>
              <a:path w="5342881" h="795748">
                <a:moveTo>
                  <a:pt x="113681" y="0"/>
                </a:moveTo>
                <a:lnTo>
                  <a:pt x="5229201" y="0"/>
                </a:lnTo>
                <a:cubicBezTo>
                  <a:pt x="5291985" y="0"/>
                  <a:pt x="5342881" y="50897"/>
                  <a:pt x="5342881" y="113681"/>
                </a:cubicBezTo>
                <a:lnTo>
                  <a:pt x="5342881" y="682068"/>
                </a:lnTo>
                <a:cubicBezTo>
                  <a:pt x="5342881" y="744852"/>
                  <a:pt x="5291985" y="795748"/>
                  <a:pt x="5229201" y="795748"/>
                </a:cubicBezTo>
                <a:lnTo>
                  <a:pt x="113681" y="795748"/>
                </a:lnTo>
                <a:cubicBezTo>
                  <a:pt x="50939" y="795748"/>
                  <a:pt x="0" y="744810"/>
                  <a:pt x="0" y="682068"/>
                </a:cubicBezTo>
                <a:lnTo>
                  <a:pt x="0" y="113681"/>
                </a:lnTo>
                <a:cubicBezTo>
                  <a:pt x="0" y="50939"/>
                  <a:pt x="50939" y="0"/>
                  <a:pt x="113681" y="0"/>
                </a:cubicBezTo>
                <a:close/>
              </a:path>
            </a:pathLst>
          </a:custGeom>
          <a:solidFill>
            <a:srgbClr val="4C6A72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06284" y="2235674"/>
            <a:ext cx="526709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1: Configure List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6284" y="2500923"/>
            <a:ext cx="5257622" cy="37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r>
              <a:rPr lang="en-US" sz="1044" dirty="0">
                <a:solidFill>
                  <a:srgbClr val="2E3A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Pre-sales | Configures product list, completes credibility self-assessment, shares if达标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499" y="3069194"/>
            <a:ext cx="5342881" cy="606284"/>
          </a:xfrm>
          <a:custGeom>
            <a:avLst/>
            <a:gdLst/>
            <a:ahLst/>
            <a:cxnLst/>
            <a:rect l="l" t="t" r="r" b="b"/>
            <a:pathLst>
              <a:path w="5342881" h="606284">
                <a:moveTo>
                  <a:pt x="113678" y="0"/>
                </a:moveTo>
                <a:lnTo>
                  <a:pt x="5229203" y="0"/>
                </a:lnTo>
                <a:cubicBezTo>
                  <a:pt x="5291986" y="0"/>
                  <a:pt x="5342881" y="50896"/>
                  <a:pt x="5342881" y="113678"/>
                </a:cubicBezTo>
                <a:lnTo>
                  <a:pt x="5342881" y="492606"/>
                </a:lnTo>
                <a:cubicBezTo>
                  <a:pt x="5342881" y="555389"/>
                  <a:pt x="5291986" y="606284"/>
                  <a:pt x="5229203" y="606284"/>
                </a:cubicBezTo>
                <a:lnTo>
                  <a:pt x="113678" y="606284"/>
                </a:lnTo>
                <a:cubicBezTo>
                  <a:pt x="50896" y="606284"/>
                  <a:pt x="0" y="555389"/>
                  <a:pt x="0" y="492606"/>
                </a:cubicBezTo>
                <a:lnTo>
                  <a:pt x="0" y="113678"/>
                </a:lnTo>
                <a:cubicBezTo>
                  <a:pt x="0" y="50938"/>
                  <a:pt x="50938" y="0"/>
                  <a:pt x="113678" y="0"/>
                </a:cubicBezTo>
                <a:close/>
              </a:path>
            </a:pathLst>
          </a:custGeom>
          <a:solidFill>
            <a:srgbClr val="A8B8C2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06284" y="3144980"/>
            <a:ext cx="526709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2: Import List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6284" y="3410229"/>
            <a:ext cx="525762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r>
              <a:rPr lang="en-US" sz="1044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Sales | Imports latest shared list (auto-verified), saves to CRM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0499" y="3789157"/>
            <a:ext cx="5342881" cy="606284"/>
          </a:xfrm>
          <a:custGeom>
            <a:avLst/>
            <a:gdLst/>
            <a:ahLst/>
            <a:cxnLst/>
            <a:rect l="l" t="t" r="r" b="b"/>
            <a:pathLst>
              <a:path w="5342881" h="606284">
                <a:moveTo>
                  <a:pt x="113678" y="0"/>
                </a:moveTo>
                <a:lnTo>
                  <a:pt x="5229203" y="0"/>
                </a:lnTo>
                <a:cubicBezTo>
                  <a:pt x="5291986" y="0"/>
                  <a:pt x="5342881" y="50896"/>
                  <a:pt x="5342881" y="113678"/>
                </a:cubicBezTo>
                <a:lnTo>
                  <a:pt x="5342881" y="492606"/>
                </a:lnTo>
                <a:cubicBezTo>
                  <a:pt x="5342881" y="555389"/>
                  <a:pt x="5291986" y="606284"/>
                  <a:pt x="5229203" y="606284"/>
                </a:cubicBezTo>
                <a:lnTo>
                  <a:pt x="113678" y="606284"/>
                </a:lnTo>
                <a:cubicBezTo>
                  <a:pt x="50896" y="606284"/>
                  <a:pt x="0" y="555389"/>
                  <a:pt x="0" y="492606"/>
                </a:cubicBezTo>
                <a:lnTo>
                  <a:pt x="0" y="113678"/>
                </a:lnTo>
                <a:cubicBezTo>
                  <a:pt x="0" y="50938"/>
                  <a:pt x="50938" y="0"/>
                  <a:pt x="113678" y="0"/>
                </a:cubicBezTo>
                <a:close/>
              </a:path>
            </a:pathLst>
          </a:custGeom>
          <a:solidFill>
            <a:srgbClr val="D9A467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06284" y="3864943"/>
            <a:ext cx="526709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3: Submit Application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6284" y="4130192"/>
            <a:ext cx="525762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r>
              <a:rPr lang="en-US" sz="1044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Sales | CRM auto-checks credibility; blocks if below threshold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0499" y="4509000"/>
            <a:ext cx="5342881" cy="606284"/>
          </a:xfrm>
          <a:custGeom>
            <a:avLst/>
            <a:gdLst/>
            <a:ahLst/>
            <a:cxnLst/>
            <a:rect l="l" t="t" r="r" b="b"/>
            <a:pathLst>
              <a:path w="5342881" h="606284">
                <a:moveTo>
                  <a:pt x="113678" y="0"/>
                </a:moveTo>
                <a:lnTo>
                  <a:pt x="5229203" y="0"/>
                </a:lnTo>
                <a:cubicBezTo>
                  <a:pt x="5291986" y="0"/>
                  <a:pt x="5342881" y="50896"/>
                  <a:pt x="5342881" y="113678"/>
                </a:cubicBezTo>
                <a:lnTo>
                  <a:pt x="5342881" y="492606"/>
                </a:lnTo>
                <a:cubicBezTo>
                  <a:pt x="5342881" y="555389"/>
                  <a:pt x="5291986" y="606284"/>
                  <a:pt x="5229203" y="606284"/>
                </a:cubicBezTo>
                <a:lnTo>
                  <a:pt x="113678" y="606284"/>
                </a:lnTo>
                <a:cubicBezTo>
                  <a:pt x="50896" y="606284"/>
                  <a:pt x="0" y="555389"/>
                  <a:pt x="0" y="492606"/>
                </a:cubicBezTo>
                <a:lnTo>
                  <a:pt x="0" y="113678"/>
                </a:lnTo>
                <a:cubicBezTo>
                  <a:pt x="0" y="50938"/>
                  <a:pt x="50938" y="0"/>
                  <a:pt x="113678" y="0"/>
                </a:cubicBezTo>
                <a:close/>
              </a:path>
            </a:pathLst>
          </a:custGeom>
          <a:solidFill>
            <a:srgbClr val="4C6A72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06284" y="4584785"/>
            <a:ext cx="526709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4: Approve Funnel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6284" y="4850035"/>
            <a:ext cx="525762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r>
              <a:rPr lang="en-US" sz="1044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Regional Manager | Reviews application and credibility score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0499" y="5228842"/>
            <a:ext cx="5342881" cy="606284"/>
          </a:xfrm>
          <a:custGeom>
            <a:avLst/>
            <a:gdLst/>
            <a:ahLst/>
            <a:cxnLst/>
            <a:rect l="l" t="t" r="r" b="b"/>
            <a:pathLst>
              <a:path w="5342881" h="606284">
                <a:moveTo>
                  <a:pt x="113678" y="0"/>
                </a:moveTo>
                <a:lnTo>
                  <a:pt x="5229203" y="0"/>
                </a:lnTo>
                <a:cubicBezTo>
                  <a:pt x="5291986" y="0"/>
                  <a:pt x="5342881" y="50896"/>
                  <a:pt x="5342881" y="113678"/>
                </a:cubicBezTo>
                <a:lnTo>
                  <a:pt x="5342881" y="492606"/>
                </a:lnTo>
                <a:cubicBezTo>
                  <a:pt x="5342881" y="555389"/>
                  <a:pt x="5291986" y="606284"/>
                  <a:pt x="5229203" y="606284"/>
                </a:cubicBezTo>
                <a:lnTo>
                  <a:pt x="113678" y="606284"/>
                </a:lnTo>
                <a:cubicBezTo>
                  <a:pt x="50896" y="606284"/>
                  <a:pt x="0" y="555389"/>
                  <a:pt x="0" y="492606"/>
                </a:cubicBezTo>
                <a:lnTo>
                  <a:pt x="0" y="113678"/>
                </a:lnTo>
                <a:cubicBezTo>
                  <a:pt x="0" y="50938"/>
                  <a:pt x="50938" y="0"/>
                  <a:pt x="113678" y="0"/>
                </a:cubicBezTo>
                <a:close/>
              </a:path>
            </a:pathLst>
          </a:custGeom>
          <a:solidFill>
            <a:srgbClr val="A8B8C2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06284" y="5304628"/>
            <a:ext cx="526709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5: Calibrate List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6284" y="5569877"/>
            <a:ext cx="525762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r>
              <a:rPr lang="en-US" sz="1044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Pre-sales | Verifies consistency across systems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2259" y="1420979"/>
            <a:ext cx="5646023" cy="4566079"/>
          </a:xfrm>
          <a:custGeom>
            <a:avLst/>
            <a:gdLst/>
            <a:ahLst/>
            <a:cxnLst/>
            <a:rect l="l" t="t" r="r" b="b"/>
            <a:pathLst>
              <a:path w="5646023" h="4566079">
                <a:moveTo>
                  <a:pt x="37893" y="0"/>
                </a:moveTo>
                <a:lnTo>
                  <a:pt x="5608131" y="0"/>
                </a:lnTo>
                <a:cubicBezTo>
                  <a:pt x="5629058" y="0"/>
                  <a:pt x="5646023" y="16965"/>
                  <a:pt x="5646023" y="37893"/>
                </a:cubicBezTo>
                <a:lnTo>
                  <a:pt x="5646023" y="4452384"/>
                </a:lnTo>
                <a:cubicBezTo>
                  <a:pt x="5646023" y="4515176"/>
                  <a:pt x="5595120" y="4566079"/>
                  <a:pt x="5532328" y="4566079"/>
                </a:cubicBezTo>
                <a:lnTo>
                  <a:pt x="113695" y="4566079"/>
                </a:lnTo>
                <a:cubicBezTo>
                  <a:pt x="50903" y="4566079"/>
                  <a:pt x="0" y="4515176"/>
                  <a:pt x="0" y="4452384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839" dist="3789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59" y="1420979"/>
            <a:ext cx="5646023" cy="37893"/>
          </a:xfrm>
          <a:custGeom>
            <a:avLst/>
            <a:gdLst/>
            <a:ahLst/>
            <a:cxnLst/>
            <a:rect l="l" t="t" r="r" b="b"/>
            <a:pathLst>
              <a:path w="5646023" h="37893">
                <a:moveTo>
                  <a:pt x="37893" y="0"/>
                </a:moveTo>
                <a:lnTo>
                  <a:pt x="5608131" y="0"/>
                </a:lnTo>
                <a:cubicBezTo>
                  <a:pt x="5629058" y="0"/>
                  <a:pt x="5646023" y="16965"/>
                  <a:pt x="5646023" y="37893"/>
                </a:cubicBezTo>
                <a:lnTo>
                  <a:pt x="5646023" y="37893"/>
                </a:lnTo>
                <a:lnTo>
                  <a:pt x="0" y="37893"/>
                </a:ln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27" name="Shape 25"/>
          <p:cNvSpPr/>
          <p:nvPr/>
        </p:nvSpPr>
        <p:spPr>
          <a:xfrm>
            <a:off x="6323830" y="1591497"/>
            <a:ext cx="454713" cy="454713"/>
          </a:xfrm>
          <a:custGeom>
            <a:avLst/>
            <a:gdLst/>
            <a:ahLst/>
            <a:cxnLst/>
            <a:rect l="l" t="t" r="r" b="b"/>
            <a:pathLst>
              <a:path w="454713" h="454713">
                <a:moveTo>
                  <a:pt x="227357" y="0"/>
                </a:moveTo>
                <a:lnTo>
                  <a:pt x="227357" y="0"/>
                </a:lnTo>
                <a:cubicBezTo>
                  <a:pt x="352838" y="0"/>
                  <a:pt x="454713" y="101875"/>
                  <a:pt x="454713" y="227357"/>
                </a:cubicBezTo>
                <a:lnTo>
                  <a:pt x="454713" y="227357"/>
                </a:lnTo>
                <a:cubicBezTo>
                  <a:pt x="454713" y="352838"/>
                  <a:pt x="352838" y="454713"/>
                  <a:pt x="227357" y="454713"/>
                </a:cubicBezTo>
                <a:lnTo>
                  <a:pt x="227357" y="454713"/>
                </a:lnTo>
                <a:cubicBezTo>
                  <a:pt x="101875" y="454713"/>
                  <a:pt x="0" y="352838"/>
                  <a:pt x="0" y="227357"/>
                </a:cubicBezTo>
                <a:lnTo>
                  <a:pt x="0" y="227357"/>
                </a:lnTo>
                <a:cubicBezTo>
                  <a:pt x="0" y="101875"/>
                  <a:pt x="101875" y="0"/>
                  <a:pt x="227357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28" name="Text 26"/>
          <p:cNvSpPr/>
          <p:nvPr/>
        </p:nvSpPr>
        <p:spPr>
          <a:xfrm>
            <a:off x="6276464" y="1591497"/>
            <a:ext cx="549445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92222" y="1686228"/>
            <a:ext cx="2709333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2: Funnel Management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23830" y="2159888"/>
            <a:ext cx="5342881" cy="871534"/>
          </a:xfrm>
          <a:custGeom>
            <a:avLst/>
            <a:gdLst/>
            <a:ahLst/>
            <a:cxnLst/>
            <a:rect l="l" t="t" r="r" b="b"/>
            <a:pathLst>
              <a:path w="5342881" h="871534">
                <a:moveTo>
                  <a:pt x="113674" y="0"/>
                </a:moveTo>
                <a:lnTo>
                  <a:pt x="5229207" y="0"/>
                </a:lnTo>
                <a:cubicBezTo>
                  <a:pt x="5291987" y="0"/>
                  <a:pt x="5342881" y="50894"/>
                  <a:pt x="5342881" y="113674"/>
                </a:cubicBezTo>
                <a:lnTo>
                  <a:pt x="5342881" y="757860"/>
                </a:lnTo>
                <a:cubicBezTo>
                  <a:pt x="5342881" y="820640"/>
                  <a:pt x="5291987" y="871534"/>
                  <a:pt x="5229207" y="871534"/>
                </a:cubicBezTo>
                <a:lnTo>
                  <a:pt x="113674" y="871534"/>
                </a:lnTo>
                <a:cubicBezTo>
                  <a:pt x="50936" y="871534"/>
                  <a:pt x="0" y="820598"/>
                  <a:pt x="0" y="757860"/>
                </a:cubicBezTo>
                <a:lnTo>
                  <a:pt x="0" y="113674"/>
                </a:lnTo>
                <a:cubicBezTo>
                  <a:pt x="0" y="50936"/>
                  <a:pt x="50936" y="0"/>
                  <a:pt x="113674" y="0"/>
                </a:cubicBezTo>
                <a:close/>
              </a:path>
            </a:pathLst>
          </a:custGeom>
          <a:solidFill>
            <a:srgbClr val="D9A467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399616" y="2235674"/>
            <a:ext cx="526709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Daily Self-Check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99616" y="2500923"/>
            <a:ext cx="525762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 monitoring of product list credibility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9616" y="2728280"/>
            <a:ext cx="5191310" cy="227357"/>
          </a:xfrm>
          <a:custGeom>
            <a:avLst/>
            <a:gdLst/>
            <a:ahLst/>
            <a:cxnLst/>
            <a:rect l="l" t="t" r="r" b="b"/>
            <a:pathLst>
              <a:path w="5191310" h="227357">
                <a:moveTo>
                  <a:pt x="75785" y="0"/>
                </a:moveTo>
                <a:lnTo>
                  <a:pt x="5115525" y="0"/>
                </a:lnTo>
                <a:cubicBezTo>
                  <a:pt x="5157380" y="0"/>
                  <a:pt x="5191310" y="33930"/>
                  <a:pt x="5191310" y="75785"/>
                </a:cubicBezTo>
                <a:lnTo>
                  <a:pt x="5191310" y="151572"/>
                </a:lnTo>
                <a:cubicBezTo>
                  <a:pt x="5191310" y="193427"/>
                  <a:pt x="5157380" y="227357"/>
                  <a:pt x="5115525" y="227357"/>
                </a:cubicBezTo>
                <a:lnTo>
                  <a:pt x="75785" y="227357"/>
                </a:lnTo>
                <a:cubicBezTo>
                  <a:pt x="33958" y="227357"/>
                  <a:pt x="0" y="193399"/>
                  <a:pt x="0" y="151572"/>
                </a:cubicBezTo>
                <a:lnTo>
                  <a:pt x="0" y="75785"/>
                </a:lnTo>
                <a:cubicBezTo>
                  <a:pt x="0" y="33958"/>
                  <a:pt x="33958" y="0"/>
                  <a:pt x="7578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437509" y="2766172"/>
            <a:ext cx="5172364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2E3A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</a:t>
            </a:r>
            <a:r>
              <a:rPr lang="en-US" sz="895" dirty="0" smtClean="0">
                <a:solidFill>
                  <a:srgbClr val="2E3A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 meet </a:t>
            </a:r>
            <a:r>
              <a:rPr lang="en-US" altLang="zh-CN" sz="895" dirty="0" smtClean="0">
                <a:solidFill>
                  <a:srgbClr val="2E3A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standard</a:t>
            </a:r>
            <a:r>
              <a:rPr lang="en-US" sz="895" dirty="0" smtClean="0">
                <a:solidFill>
                  <a:srgbClr val="2E3A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r>
              <a:rPr lang="en-US" sz="895" dirty="0">
                <a:solidFill>
                  <a:srgbClr val="2E3A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Daily email alerts; </a:t>
            </a:r>
            <a:r>
              <a:rPr lang="en-US" sz="895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30-day window</a:t>
            </a:r>
            <a:r>
              <a:rPr lang="en-US" sz="895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improve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23830" y="3031302"/>
            <a:ext cx="5342881" cy="871534"/>
          </a:xfrm>
          <a:custGeom>
            <a:avLst/>
            <a:gdLst/>
            <a:ahLst/>
            <a:cxnLst/>
            <a:rect l="l" t="t" r="r" b="b"/>
            <a:pathLst>
              <a:path w="5342881" h="871534">
                <a:moveTo>
                  <a:pt x="113674" y="0"/>
                </a:moveTo>
                <a:lnTo>
                  <a:pt x="5229207" y="0"/>
                </a:lnTo>
                <a:cubicBezTo>
                  <a:pt x="5291987" y="0"/>
                  <a:pt x="5342881" y="50894"/>
                  <a:pt x="5342881" y="113674"/>
                </a:cubicBezTo>
                <a:lnTo>
                  <a:pt x="5342881" y="757860"/>
                </a:lnTo>
                <a:cubicBezTo>
                  <a:pt x="5342881" y="820640"/>
                  <a:pt x="5291987" y="871534"/>
                  <a:pt x="5229207" y="871534"/>
                </a:cubicBezTo>
                <a:lnTo>
                  <a:pt x="113674" y="871534"/>
                </a:lnTo>
                <a:cubicBezTo>
                  <a:pt x="50936" y="871534"/>
                  <a:pt x="0" y="820598"/>
                  <a:pt x="0" y="757860"/>
                </a:cubicBezTo>
                <a:lnTo>
                  <a:pt x="0" y="113674"/>
                </a:lnTo>
                <a:cubicBezTo>
                  <a:pt x="0" y="50936"/>
                  <a:pt x="50936" y="0"/>
                  <a:pt x="113674" y="0"/>
                </a:cubicBezTo>
                <a:close/>
              </a:path>
            </a:pathLst>
          </a:custGeom>
          <a:solidFill>
            <a:srgbClr val="4C6A72">
              <a:alpha val="1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399616" y="3107087"/>
            <a:ext cx="526709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Upgrade Forecast Category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99616" y="3372337"/>
            <a:ext cx="525762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upgrading (e.g., Possible+ to Advantaged)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9616" y="3599693"/>
            <a:ext cx="5191310" cy="227357"/>
          </a:xfrm>
          <a:custGeom>
            <a:avLst/>
            <a:gdLst/>
            <a:ahLst/>
            <a:cxnLst/>
            <a:rect l="l" t="t" r="r" b="b"/>
            <a:pathLst>
              <a:path w="5191310" h="227357">
                <a:moveTo>
                  <a:pt x="75785" y="0"/>
                </a:moveTo>
                <a:lnTo>
                  <a:pt x="5115525" y="0"/>
                </a:lnTo>
                <a:cubicBezTo>
                  <a:pt x="5157380" y="0"/>
                  <a:pt x="5191310" y="33930"/>
                  <a:pt x="5191310" y="75785"/>
                </a:cubicBezTo>
                <a:lnTo>
                  <a:pt x="5191310" y="151572"/>
                </a:lnTo>
                <a:cubicBezTo>
                  <a:pt x="5191310" y="193427"/>
                  <a:pt x="5157380" y="227357"/>
                  <a:pt x="5115525" y="227357"/>
                </a:cubicBezTo>
                <a:lnTo>
                  <a:pt x="75785" y="227357"/>
                </a:lnTo>
                <a:cubicBezTo>
                  <a:pt x="33958" y="227357"/>
                  <a:pt x="0" y="193399"/>
                  <a:pt x="0" y="151572"/>
                </a:cubicBezTo>
                <a:lnTo>
                  <a:pt x="0" y="75785"/>
                </a:lnTo>
                <a:cubicBezTo>
                  <a:pt x="0" y="33958"/>
                  <a:pt x="33958" y="0"/>
                  <a:pt x="7578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437509" y="3637586"/>
            <a:ext cx="5172364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checks credibility; </a:t>
            </a:r>
            <a:r>
              <a:rPr lang="en-US" sz="895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30-day compliance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23830" y="3902715"/>
            <a:ext cx="5342881" cy="871534"/>
          </a:xfrm>
          <a:custGeom>
            <a:avLst/>
            <a:gdLst/>
            <a:ahLst/>
            <a:cxnLst/>
            <a:rect l="l" t="t" r="r" b="b"/>
            <a:pathLst>
              <a:path w="5342881" h="871534">
                <a:moveTo>
                  <a:pt x="113674" y="0"/>
                </a:moveTo>
                <a:lnTo>
                  <a:pt x="5229207" y="0"/>
                </a:lnTo>
                <a:cubicBezTo>
                  <a:pt x="5291987" y="0"/>
                  <a:pt x="5342881" y="50894"/>
                  <a:pt x="5342881" y="113674"/>
                </a:cubicBezTo>
                <a:lnTo>
                  <a:pt x="5342881" y="757860"/>
                </a:lnTo>
                <a:cubicBezTo>
                  <a:pt x="5342881" y="820640"/>
                  <a:pt x="5291987" y="871534"/>
                  <a:pt x="5229207" y="871534"/>
                </a:cubicBezTo>
                <a:lnTo>
                  <a:pt x="113674" y="871534"/>
                </a:lnTo>
                <a:cubicBezTo>
                  <a:pt x="50936" y="871534"/>
                  <a:pt x="0" y="820598"/>
                  <a:pt x="0" y="757860"/>
                </a:cubicBezTo>
                <a:lnTo>
                  <a:pt x="0" y="113674"/>
                </a:lnTo>
                <a:cubicBezTo>
                  <a:pt x="0" y="50936"/>
                  <a:pt x="50936" y="0"/>
                  <a:pt x="113674" y="0"/>
                </a:cubicBezTo>
                <a:close/>
              </a:path>
            </a:pathLst>
          </a:custGeom>
          <a:solidFill>
            <a:srgbClr val="A8B8C2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399616" y="3978501"/>
            <a:ext cx="526709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Bid Timeline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99616" y="4243750"/>
            <a:ext cx="525762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bid opening date changes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99616" y="4471107"/>
            <a:ext cx="5191310" cy="227357"/>
          </a:xfrm>
          <a:custGeom>
            <a:avLst/>
            <a:gdLst/>
            <a:ahLst/>
            <a:cxnLst/>
            <a:rect l="l" t="t" r="r" b="b"/>
            <a:pathLst>
              <a:path w="5191310" h="227357">
                <a:moveTo>
                  <a:pt x="75785" y="0"/>
                </a:moveTo>
                <a:lnTo>
                  <a:pt x="5115525" y="0"/>
                </a:lnTo>
                <a:cubicBezTo>
                  <a:pt x="5157380" y="0"/>
                  <a:pt x="5191310" y="33930"/>
                  <a:pt x="5191310" y="75785"/>
                </a:cubicBezTo>
                <a:lnTo>
                  <a:pt x="5191310" y="151572"/>
                </a:lnTo>
                <a:cubicBezTo>
                  <a:pt x="5191310" y="193427"/>
                  <a:pt x="5157380" y="227357"/>
                  <a:pt x="5115525" y="227357"/>
                </a:cubicBezTo>
                <a:lnTo>
                  <a:pt x="75785" y="227357"/>
                </a:lnTo>
                <a:cubicBezTo>
                  <a:pt x="33958" y="227357"/>
                  <a:pt x="0" y="193399"/>
                  <a:pt x="0" y="151572"/>
                </a:cubicBezTo>
                <a:lnTo>
                  <a:pt x="0" y="75785"/>
                </a:lnTo>
                <a:cubicBezTo>
                  <a:pt x="0" y="33958"/>
                  <a:pt x="33958" y="0"/>
                  <a:pt x="7578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437509" y="4509000"/>
            <a:ext cx="5172364" cy="151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5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checks against Standard 4; </a:t>
            </a:r>
            <a:r>
              <a:rPr lang="en-US" sz="895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7-day compliance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23830" y="4774129"/>
            <a:ext cx="5342881" cy="1060998"/>
          </a:xfrm>
          <a:custGeom>
            <a:avLst/>
            <a:gdLst/>
            <a:ahLst/>
            <a:cxnLst/>
            <a:rect l="l" t="t" r="r" b="b"/>
            <a:pathLst>
              <a:path w="5342881" h="1060998">
                <a:moveTo>
                  <a:pt x="113675" y="0"/>
                </a:moveTo>
                <a:lnTo>
                  <a:pt x="5229206" y="0"/>
                </a:lnTo>
                <a:cubicBezTo>
                  <a:pt x="5291987" y="0"/>
                  <a:pt x="5342881" y="50894"/>
                  <a:pt x="5342881" y="113675"/>
                </a:cubicBezTo>
                <a:lnTo>
                  <a:pt x="5342881" y="947322"/>
                </a:lnTo>
                <a:cubicBezTo>
                  <a:pt x="5342881" y="1010104"/>
                  <a:pt x="5291987" y="1060998"/>
                  <a:pt x="5229206" y="1060998"/>
                </a:cubicBezTo>
                <a:lnTo>
                  <a:pt x="113675" y="1060998"/>
                </a:lnTo>
                <a:cubicBezTo>
                  <a:pt x="50894" y="1060998"/>
                  <a:pt x="0" y="1010104"/>
                  <a:pt x="0" y="947322"/>
                </a:cubicBezTo>
                <a:lnTo>
                  <a:pt x="0" y="113675"/>
                </a:lnTo>
                <a:cubicBezTo>
                  <a:pt x="0" y="50936"/>
                  <a:pt x="50936" y="0"/>
                  <a:pt x="113675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46" name="Text 44"/>
          <p:cNvSpPr/>
          <p:nvPr/>
        </p:nvSpPr>
        <p:spPr>
          <a:xfrm>
            <a:off x="6399616" y="4849914"/>
            <a:ext cx="526709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Follow-up Actions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99616" y="5115164"/>
            <a:ext cx="525762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Pre-sales updates and shares list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99616" y="5342520"/>
            <a:ext cx="525762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Sales updates CRM system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99616" y="5569877"/>
            <a:ext cx="525762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Pre-sales calibrates for accuracy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97874" y="6056792"/>
            <a:ext cx="3694545" cy="719963"/>
          </a:xfrm>
          <a:custGeom>
            <a:avLst/>
            <a:gdLst/>
            <a:ahLst/>
            <a:cxnLst/>
            <a:rect l="l" t="t" r="r" b="b"/>
            <a:pathLst>
              <a:path w="3694545" h="719963">
                <a:moveTo>
                  <a:pt x="37893" y="0"/>
                </a:moveTo>
                <a:lnTo>
                  <a:pt x="3580871" y="0"/>
                </a:lnTo>
                <a:cubicBezTo>
                  <a:pt x="3643651" y="0"/>
                  <a:pt x="3694545" y="50894"/>
                  <a:pt x="3694545" y="113675"/>
                </a:cubicBezTo>
                <a:lnTo>
                  <a:pt x="3694545" y="606288"/>
                </a:lnTo>
                <a:cubicBezTo>
                  <a:pt x="3694545" y="669069"/>
                  <a:pt x="3643651" y="719963"/>
                  <a:pt x="3580871" y="719963"/>
                </a:cubicBezTo>
                <a:lnTo>
                  <a:pt x="37893" y="719963"/>
                </a:lnTo>
                <a:cubicBezTo>
                  <a:pt x="16965" y="719963"/>
                  <a:pt x="0" y="702998"/>
                  <a:pt x="0" y="682070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397874" y="6056792"/>
            <a:ext cx="37893" cy="719963"/>
          </a:xfrm>
          <a:custGeom>
            <a:avLst/>
            <a:gdLst/>
            <a:ahLst/>
            <a:cxnLst/>
            <a:rect l="l" t="t" r="r" b="b"/>
            <a:pathLst>
              <a:path w="37893" h="719963">
                <a:moveTo>
                  <a:pt x="37893" y="0"/>
                </a:moveTo>
                <a:lnTo>
                  <a:pt x="37893" y="0"/>
                </a:lnTo>
                <a:lnTo>
                  <a:pt x="37893" y="719963"/>
                </a:lnTo>
                <a:lnTo>
                  <a:pt x="37893" y="719963"/>
                </a:lnTo>
                <a:cubicBezTo>
                  <a:pt x="16965" y="719963"/>
                  <a:pt x="0" y="702998"/>
                  <a:pt x="0" y="682070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52" name="Text 50"/>
          <p:cNvSpPr/>
          <p:nvPr/>
        </p:nvSpPr>
        <p:spPr>
          <a:xfrm>
            <a:off x="492606" y="6170470"/>
            <a:ext cx="352402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1 Key Control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92606" y="6435719"/>
            <a:ext cx="352402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System-enforced credibility check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260095" y="6056792"/>
            <a:ext cx="3694545" cy="719963"/>
          </a:xfrm>
          <a:custGeom>
            <a:avLst/>
            <a:gdLst/>
            <a:ahLst/>
            <a:cxnLst/>
            <a:rect l="l" t="t" r="r" b="b"/>
            <a:pathLst>
              <a:path w="3694545" h="719963">
                <a:moveTo>
                  <a:pt x="37893" y="0"/>
                </a:moveTo>
                <a:lnTo>
                  <a:pt x="3580871" y="0"/>
                </a:lnTo>
                <a:cubicBezTo>
                  <a:pt x="3643651" y="0"/>
                  <a:pt x="3694545" y="50894"/>
                  <a:pt x="3694545" y="113675"/>
                </a:cubicBezTo>
                <a:lnTo>
                  <a:pt x="3694545" y="606288"/>
                </a:lnTo>
                <a:cubicBezTo>
                  <a:pt x="3694545" y="669069"/>
                  <a:pt x="3643651" y="719963"/>
                  <a:pt x="3580871" y="719963"/>
                </a:cubicBezTo>
                <a:lnTo>
                  <a:pt x="37893" y="719963"/>
                </a:lnTo>
                <a:cubicBezTo>
                  <a:pt x="16965" y="719963"/>
                  <a:pt x="0" y="702998"/>
                  <a:pt x="0" y="682070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4C6A72">
              <a:alpha val="1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260095" y="6056792"/>
            <a:ext cx="37893" cy="719963"/>
          </a:xfrm>
          <a:custGeom>
            <a:avLst/>
            <a:gdLst/>
            <a:ahLst/>
            <a:cxnLst/>
            <a:rect l="l" t="t" r="r" b="b"/>
            <a:pathLst>
              <a:path w="37893" h="719963">
                <a:moveTo>
                  <a:pt x="37893" y="0"/>
                </a:moveTo>
                <a:lnTo>
                  <a:pt x="37893" y="0"/>
                </a:lnTo>
                <a:lnTo>
                  <a:pt x="37893" y="719963"/>
                </a:lnTo>
                <a:lnTo>
                  <a:pt x="37893" y="719963"/>
                </a:lnTo>
                <a:cubicBezTo>
                  <a:pt x="16965" y="719963"/>
                  <a:pt x="0" y="702998"/>
                  <a:pt x="0" y="682070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56" name="Text 54"/>
          <p:cNvSpPr/>
          <p:nvPr/>
        </p:nvSpPr>
        <p:spPr>
          <a:xfrm>
            <a:off x="4354827" y="6170470"/>
            <a:ext cx="352402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2 Key Control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354827" y="6435719"/>
            <a:ext cx="352402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alerts &amp; time-bound compliance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122316" y="6056792"/>
            <a:ext cx="3694545" cy="719963"/>
          </a:xfrm>
          <a:custGeom>
            <a:avLst/>
            <a:gdLst/>
            <a:ahLst/>
            <a:cxnLst/>
            <a:rect l="l" t="t" r="r" b="b"/>
            <a:pathLst>
              <a:path w="3694545" h="719963">
                <a:moveTo>
                  <a:pt x="37893" y="0"/>
                </a:moveTo>
                <a:lnTo>
                  <a:pt x="3580871" y="0"/>
                </a:lnTo>
                <a:cubicBezTo>
                  <a:pt x="3643651" y="0"/>
                  <a:pt x="3694545" y="50894"/>
                  <a:pt x="3694545" y="113675"/>
                </a:cubicBezTo>
                <a:lnTo>
                  <a:pt x="3694545" y="606288"/>
                </a:lnTo>
                <a:cubicBezTo>
                  <a:pt x="3694545" y="669069"/>
                  <a:pt x="3643651" y="719963"/>
                  <a:pt x="3580871" y="719963"/>
                </a:cubicBezTo>
                <a:lnTo>
                  <a:pt x="37893" y="719963"/>
                </a:lnTo>
                <a:cubicBezTo>
                  <a:pt x="16965" y="719963"/>
                  <a:pt x="0" y="702998"/>
                  <a:pt x="0" y="682070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D9A467">
              <a:alpha val="1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122316" y="6056792"/>
            <a:ext cx="37893" cy="719963"/>
          </a:xfrm>
          <a:custGeom>
            <a:avLst/>
            <a:gdLst/>
            <a:ahLst/>
            <a:cxnLst/>
            <a:rect l="l" t="t" r="r" b="b"/>
            <a:pathLst>
              <a:path w="37893" h="719963">
                <a:moveTo>
                  <a:pt x="37893" y="0"/>
                </a:moveTo>
                <a:lnTo>
                  <a:pt x="37893" y="0"/>
                </a:lnTo>
                <a:lnTo>
                  <a:pt x="37893" y="719963"/>
                </a:lnTo>
                <a:lnTo>
                  <a:pt x="37893" y="719963"/>
                </a:lnTo>
                <a:cubicBezTo>
                  <a:pt x="16965" y="719963"/>
                  <a:pt x="0" y="702998"/>
                  <a:pt x="0" y="682070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60" name="Text 58"/>
          <p:cNvSpPr/>
          <p:nvPr/>
        </p:nvSpPr>
        <p:spPr>
          <a:xfrm>
            <a:off x="8217048" y="6170470"/>
            <a:ext cx="352402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 Factor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217048" y="6435719"/>
            <a:ext cx="352402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Collaboration &amp; system enforcement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4e1cab55d82beb72cc771991cff45c53256a038b.jpg"/>
          <p:cNvPicPr>
            <a:picLocks noChangeAspect="1"/>
          </p:cNvPicPr>
          <p:nvPr/>
        </p:nvPicPr>
        <p:blipFill>
          <a:blip r:embed="rId3"/>
          <a:srcRect t="5646" b="5646"/>
          <a:stretch/>
        </p:blipFill>
        <p:spPr>
          <a:xfrm>
            <a:off x="0" y="0"/>
            <a:ext cx="12192000" cy="7210128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210128"/>
          </a:xfrm>
          <a:custGeom>
            <a:avLst/>
            <a:gdLst/>
            <a:ahLst/>
            <a:cxnLst/>
            <a:rect l="l" t="t" r="r" b="b"/>
            <a:pathLst>
              <a:path w="12192000" h="7210128">
                <a:moveTo>
                  <a:pt x="0" y="0"/>
                </a:moveTo>
                <a:lnTo>
                  <a:pt x="12192000" y="0"/>
                </a:lnTo>
                <a:lnTo>
                  <a:pt x="12192000" y="7210128"/>
                </a:lnTo>
                <a:lnTo>
                  <a:pt x="0" y="721012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C6A72">
                  <a:alpha val="90000"/>
                </a:srgbClr>
              </a:gs>
              <a:gs pos="50000">
                <a:srgbClr val="4C6A72">
                  <a:alpha val="80000"/>
                </a:srgbClr>
              </a:gs>
              <a:gs pos="100000">
                <a:srgbClr val="A8B8C2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62318" y="10075"/>
            <a:ext cx="1956517" cy="362318"/>
          </a:xfrm>
          <a:custGeom>
            <a:avLst/>
            <a:gdLst/>
            <a:ahLst/>
            <a:cxnLst/>
            <a:rect l="l" t="t" r="r" b="b"/>
            <a:pathLst>
              <a:path w="1956517" h="362318">
                <a:moveTo>
                  <a:pt x="72464" y="0"/>
                </a:moveTo>
                <a:lnTo>
                  <a:pt x="1884053" y="0"/>
                </a:lnTo>
                <a:cubicBezTo>
                  <a:pt x="1924074" y="0"/>
                  <a:pt x="1956517" y="32443"/>
                  <a:pt x="1956517" y="72464"/>
                </a:cubicBezTo>
                <a:lnTo>
                  <a:pt x="1956517" y="289854"/>
                </a:lnTo>
                <a:cubicBezTo>
                  <a:pt x="1956517" y="329875"/>
                  <a:pt x="1924074" y="362318"/>
                  <a:pt x="1884053" y="362318"/>
                </a:cubicBezTo>
                <a:lnTo>
                  <a:pt x="72464" y="362318"/>
                </a:lnTo>
                <a:cubicBezTo>
                  <a:pt x="32443" y="362318"/>
                  <a:pt x="0" y="329875"/>
                  <a:pt x="0" y="289854"/>
                </a:cubicBezTo>
                <a:lnTo>
                  <a:pt x="0" y="72464"/>
                </a:lnTo>
                <a:cubicBezTo>
                  <a:pt x="0" y="32443"/>
                  <a:pt x="32443" y="0"/>
                  <a:pt x="72464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5" name="Text 2"/>
          <p:cNvSpPr/>
          <p:nvPr/>
        </p:nvSpPr>
        <p:spPr>
          <a:xfrm>
            <a:off x="543477" y="82539"/>
            <a:ext cx="1666663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kern="0" spc="11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SUMMARY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2318" y="517320"/>
            <a:ext cx="11739103" cy="1358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7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27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Next Steps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2318" y="2020940"/>
            <a:ext cx="1449272" cy="54348"/>
          </a:xfrm>
          <a:custGeom>
            <a:avLst/>
            <a:gdLst/>
            <a:ahLst/>
            <a:cxnLst/>
            <a:rect l="l" t="t" r="r" b="b"/>
            <a:pathLst>
              <a:path w="1449272" h="54348">
                <a:moveTo>
                  <a:pt x="0" y="0"/>
                </a:moveTo>
                <a:lnTo>
                  <a:pt x="1449272" y="0"/>
                </a:lnTo>
                <a:lnTo>
                  <a:pt x="1449272" y="54348"/>
                </a:lnTo>
                <a:lnTo>
                  <a:pt x="0" y="54348"/>
                </a:lnTo>
                <a:lnTo>
                  <a:pt x="0" y="0"/>
                </a:ln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8" name="Shape 5"/>
          <p:cNvSpPr/>
          <p:nvPr/>
        </p:nvSpPr>
        <p:spPr>
          <a:xfrm>
            <a:off x="362318" y="2292678"/>
            <a:ext cx="5661218" cy="1304345"/>
          </a:xfrm>
          <a:custGeom>
            <a:avLst/>
            <a:gdLst/>
            <a:ahLst/>
            <a:cxnLst/>
            <a:rect l="l" t="t" r="r" b="b"/>
            <a:pathLst>
              <a:path w="5661218" h="1304345">
                <a:moveTo>
                  <a:pt x="108691" y="0"/>
                </a:moveTo>
                <a:lnTo>
                  <a:pt x="5552527" y="0"/>
                </a:lnTo>
                <a:cubicBezTo>
                  <a:pt x="5612556" y="0"/>
                  <a:pt x="5661218" y="48663"/>
                  <a:pt x="5661218" y="108691"/>
                </a:cubicBezTo>
                <a:lnTo>
                  <a:pt x="5661218" y="1195654"/>
                </a:lnTo>
                <a:cubicBezTo>
                  <a:pt x="5661218" y="1255682"/>
                  <a:pt x="5612556" y="1304345"/>
                  <a:pt x="5552527" y="1304345"/>
                </a:cubicBezTo>
                <a:lnTo>
                  <a:pt x="108691" y="1304345"/>
                </a:lnTo>
                <a:cubicBezTo>
                  <a:pt x="48663" y="1304345"/>
                  <a:pt x="0" y="1255682"/>
                  <a:pt x="0" y="1195654"/>
                </a:cubicBezTo>
                <a:lnTo>
                  <a:pt x="0" y="108691"/>
                </a:lnTo>
                <a:cubicBezTo>
                  <a:pt x="0" y="48703"/>
                  <a:pt x="48703" y="0"/>
                  <a:pt x="108691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43477" y="2473837"/>
            <a:ext cx="434782" cy="434782"/>
          </a:xfrm>
          <a:custGeom>
            <a:avLst/>
            <a:gdLst/>
            <a:ahLst/>
            <a:cxnLst/>
            <a:rect l="l" t="t" r="r" b="b"/>
            <a:pathLst>
              <a:path w="434782" h="434782">
                <a:moveTo>
                  <a:pt x="217391" y="0"/>
                </a:moveTo>
                <a:lnTo>
                  <a:pt x="217391" y="0"/>
                </a:lnTo>
                <a:cubicBezTo>
                  <a:pt x="337452" y="0"/>
                  <a:pt x="434782" y="97329"/>
                  <a:pt x="434782" y="217391"/>
                </a:cubicBezTo>
                <a:lnTo>
                  <a:pt x="434782" y="217391"/>
                </a:lnTo>
                <a:cubicBezTo>
                  <a:pt x="434782" y="337452"/>
                  <a:pt x="337452" y="434782"/>
                  <a:pt x="217391" y="434782"/>
                </a:cubicBezTo>
                <a:lnTo>
                  <a:pt x="217391" y="434782"/>
                </a:lnTo>
                <a:cubicBezTo>
                  <a:pt x="97329" y="434782"/>
                  <a:pt x="0" y="337452"/>
                  <a:pt x="0" y="217391"/>
                </a:cubicBezTo>
                <a:lnTo>
                  <a:pt x="0" y="217391"/>
                </a:lnTo>
                <a:cubicBezTo>
                  <a:pt x="0" y="97329"/>
                  <a:pt x="97329" y="0"/>
                  <a:pt x="217391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10" name="Text 7"/>
          <p:cNvSpPr/>
          <p:nvPr/>
        </p:nvSpPr>
        <p:spPr>
          <a:xfrm>
            <a:off x="498187" y="2473837"/>
            <a:ext cx="525361" cy="434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86954" y="2564417"/>
            <a:ext cx="1956517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6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is Foundation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3477" y="2981083"/>
            <a:ext cx="5371364" cy="434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Accurate N and T input is the </a:t>
            </a:r>
            <a:r>
              <a:rPr lang="en-US" sz="1141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cornerstone</a:t>
            </a:r>
            <a:r>
              <a:rPr lang="en-US" sz="114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supply chain efficiency. Quality inputs drive quality outputs.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67445" y="2292678"/>
            <a:ext cx="5661218" cy="1304345"/>
          </a:xfrm>
          <a:custGeom>
            <a:avLst/>
            <a:gdLst/>
            <a:ahLst/>
            <a:cxnLst/>
            <a:rect l="l" t="t" r="r" b="b"/>
            <a:pathLst>
              <a:path w="5661218" h="1304345">
                <a:moveTo>
                  <a:pt x="108691" y="0"/>
                </a:moveTo>
                <a:lnTo>
                  <a:pt x="5552527" y="0"/>
                </a:lnTo>
                <a:cubicBezTo>
                  <a:pt x="5612556" y="0"/>
                  <a:pt x="5661218" y="48663"/>
                  <a:pt x="5661218" y="108691"/>
                </a:cubicBezTo>
                <a:lnTo>
                  <a:pt x="5661218" y="1195654"/>
                </a:lnTo>
                <a:cubicBezTo>
                  <a:pt x="5661218" y="1255682"/>
                  <a:pt x="5612556" y="1304345"/>
                  <a:pt x="5552527" y="1304345"/>
                </a:cubicBezTo>
                <a:lnTo>
                  <a:pt x="108691" y="1304345"/>
                </a:lnTo>
                <a:cubicBezTo>
                  <a:pt x="48663" y="1304345"/>
                  <a:pt x="0" y="1255682"/>
                  <a:pt x="0" y="1195654"/>
                </a:cubicBezTo>
                <a:lnTo>
                  <a:pt x="0" y="108691"/>
                </a:lnTo>
                <a:cubicBezTo>
                  <a:pt x="0" y="48703"/>
                  <a:pt x="48703" y="0"/>
                  <a:pt x="108691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348604" y="2473837"/>
            <a:ext cx="434782" cy="434782"/>
          </a:xfrm>
          <a:custGeom>
            <a:avLst/>
            <a:gdLst/>
            <a:ahLst/>
            <a:cxnLst/>
            <a:rect l="l" t="t" r="r" b="b"/>
            <a:pathLst>
              <a:path w="434782" h="434782">
                <a:moveTo>
                  <a:pt x="217391" y="0"/>
                </a:moveTo>
                <a:lnTo>
                  <a:pt x="217391" y="0"/>
                </a:lnTo>
                <a:cubicBezTo>
                  <a:pt x="337452" y="0"/>
                  <a:pt x="434782" y="97329"/>
                  <a:pt x="434782" y="217391"/>
                </a:cubicBezTo>
                <a:lnTo>
                  <a:pt x="434782" y="217391"/>
                </a:lnTo>
                <a:cubicBezTo>
                  <a:pt x="434782" y="337452"/>
                  <a:pt x="337452" y="434782"/>
                  <a:pt x="217391" y="434782"/>
                </a:cubicBezTo>
                <a:lnTo>
                  <a:pt x="217391" y="434782"/>
                </a:lnTo>
                <a:cubicBezTo>
                  <a:pt x="97329" y="434782"/>
                  <a:pt x="0" y="337452"/>
                  <a:pt x="0" y="217391"/>
                </a:cubicBezTo>
                <a:lnTo>
                  <a:pt x="0" y="217391"/>
                </a:lnTo>
                <a:cubicBezTo>
                  <a:pt x="0" y="97329"/>
                  <a:pt x="97329" y="0"/>
                  <a:pt x="217391" y="0"/>
                </a:cubicBezTo>
                <a:close/>
              </a:path>
            </a:pathLst>
          </a:custGeom>
          <a:solidFill>
            <a:srgbClr val="A8B8C2"/>
          </a:solidFill>
          <a:ln/>
        </p:spPr>
      </p:sp>
      <p:sp>
        <p:nvSpPr>
          <p:cNvPr id="15" name="Text 12"/>
          <p:cNvSpPr/>
          <p:nvPr/>
        </p:nvSpPr>
        <p:spPr>
          <a:xfrm>
            <a:off x="6303314" y="2473837"/>
            <a:ext cx="525361" cy="434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92081" y="2564417"/>
            <a:ext cx="2192024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6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Credibility Ensures Quality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48604" y="2981083"/>
            <a:ext cx="5371364" cy="434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r>
              <a:rPr lang="en-US" sz="1141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four-standard credibility framework</a:t>
            </a:r>
            <a:r>
              <a:rPr lang="en-US" sz="114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ensures forecast quality and enables continuous improvement.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62318" y="3741950"/>
            <a:ext cx="5661218" cy="1304345"/>
          </a:xfrm>
          <a:custGeom>
            <a:avLst/>
            <a:gdLst/>
            <a:ahLst/>
            <a:cxnLst/>
            <a:rect l="l" t="t" r="r" b="b"/>
            <a:pathLst>
              <a:path w="5661218" h="1304345">
                <a:moveTo>
                  <a:pt x="108691" y="0"/>
                </a:moveTo>
                <a:lnTo>
                  <a:pt x="5552527" y="0"/>
                </a:lnTo>
                <a:cubicBezTo>
                  <a:pt x="5612556" y="0"/>
                  <a:pt x="5661218" y="48663"/>
                  <a:pt x="5661218" y="108691"/>
                </a:cubicBezTo>
                <a:lnTo>
                  <a:pt x="5661218" y="1195654"/>
                </a:lnTo>
                <a:cubicBezTo>
                  <a:pt x="5661218" y="1255682"/>
                  <a:pt x="5612556" y="1304345"/>
                  <a:pt x="5552527" y="1304345"/>
                </a:cubicBezTo>
                <a:lnTo>
                  <a:pt x="108691" y="1304345"/>
                </a:lnTo>
                <a:cubicBezTo>
                  <a:pt x="48663" y="1304345"/>
                  <a:pt x="0" y="1255682"/>
                  <a:pt x="0" y="1195654"/>
                </a:cubicBezTo>
                <a:lnTo>
                  <a:pt x="0" y="108691"/>
                </a:lnTo>
                <a:cubicBezTo>
                  <a:pt x="0" y="48703"/>
                  <a:pt x="48703" y="0"/>
                  <a:pt x="108691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543477" y="3923109"/>
            <a:ext cx="434782" cy="434782"/>
          </a:xfrm>
          <a:custGeom>
            <a:avLst/>
            <a:gdLst/>
            <a:ahLst/>
            <a:cxnLst/>
            <a:rect l="l" t="t" r="r" b="b"/>
            <a:pathLst>
              <a:path w="434782" h="434782">
                <a:moveTo>
                  <a:pt x="217391" y="0"/>
                </a:moveTo>
                <a:lnTo>
                  <a:pt x="217391" y="0"/>
                </a:lnTo>
                <a:cubicBezTo>
                  <a:pt x="337452" y="0"/>
                  <a:pt x="434782" y="97329"/>
                  <a:pt x="434782" y="217391"/>
                </a:cubicBezTo>
                <a:lnTo>
                  <a:pt x="434782" y="217391"/>
                </a:lnTo>
                <a:cubicBezTo>
                  <a:pt x="434782" y="337452"/>
                  <a:pt x="337452" y="434782"/>
                  <a:pt x="217391" y="434782"/>
                </a:cubicBezTo>
                <a:lnTo>
                  <a:pt x="217391" y="434782"/>
                </a:lnTo>
                <a:cubicBezTo>
                  <a:pt x="97329" y="434782"/>
                  <a:pt x="0" y="337452"/>
                  <a:pt x="0" y="217391"/>
                </a:cubicBezTo>
                <a:lnTo>
                  <a:pt x="0" y="217391"/>
                </a:lnTo>
                <a:cubicBezTo>
                  <a:pt x="0" y="97329"/>
                  <a:pt x="97329" y="0"/>
                  <a:pt x="217391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20" name="Text 17"/>
          <p:cNvSpPr/>
          <p:nvPr/>
        </p:nvSpPr>
        <p:spPr>
          <a:xfrm>
            <a:off x="498187" y="3923109"/>
            <a:ext cx="525361" cy="434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86954" y="4013689"/>
            <a:ext cx="2282603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6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is Essential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43477" y="4430355"/>
            <a:ext cx="5371364" cy="434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communication with </a:t>
            </a:r>
            <a:r>
              <a:rPr lang="en-US" sz="1141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channels and customers</a:t>
            </a:r>
            <a:r>
              <a:rPr lang="en-US" sz="114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prevents mismatches and ensures alignment.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67445" y="3741950"/>
            <a:ext cx="5661218" cy="1304345"/>
          </a:xfrm>
          <a:custGeom>
            <a:avLst/>
            <a:gdLst/>
            <a:ahLst/>
            <a:cxnLst/>
            <a:rect l="l" t="t" r="r" b="b"/>
            <a:pathLst>
              <a:path w="5661218" h="1304345">
                <a:moveTo>
                  <a:pt x="108691" y="0"/>
                </a:moveTo>
                <a:lnTo>
                  <a:pt x="5552527" y="0"/>
                </a:lnTo>
                <a:cubicBezTo>
                  <a:pt x="5612556" y="0"/>
                  <a:pt x="5661218" y="48663"/>
                  <a:pt x="5661218" y="108691"/>
                </a:cubicBezTo>
                <a:lnTo>
                  <a:pt x="5661218" y="1195654"/>
                </a:lnTo>
                <a:cubicBezTo>
                  <a:pt x="5661218" y="1255682"/>
                  <a:pt x="5612556" y="1304345"/>
                  <a:pt x="5552527" y="1304345"/>
                </a:cubicBezTo>
                <a:lnTo>
                  <a:pt x="108691" y="1304345"/>
                </a:lnTo>
                <a:cubicBezTo>
                  <a:pt x="48663" y="1304345"/>
                  <a:pt x="0" y="1255682"/>
                  <a:pt x="0" y="1195654"/>
                </a:cubicBezTo>
                <a:lnTo>
                  <a:pt x="0" y="108691"/>
                </a:lnTo>
                <a:cubicBezTo>
                  <a:pt x="0" y="48703"/>
                  <a:pt x="48703" y="0"/>
                  <a:pt x="108691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348604" y="3923109"/>
            <a:ext cx="434782" cy="434782"/>
          </a:xfrm>
          <a:custGeom>
            <a:avLst/>
            <a:gdLst/>
            <a:ahLst/>
            <a:cxnLst/>
            <a:rect l="l" t="t" r="r" b="b"/>
            <a:pathLst>
              <a:path w="434782" h="434782">
                <a:moveTo>
                  <a:pt x="217391" y="0"/>
                </a:moveTo>
                <a:lnTo>
                  <a:pt x="217391" y="0"/>
                </a:lnTo>
                <a:cubicBezTo>
                  <a:pt x="337452" y="0"/>
                  <a:pt x="434782" y="97329"/>
                  <a:pt x="434782" y="217391"/>
                </a:cubicBezTo>
                <a:lnTo>
                  <a:pt x="434782" y="217391"/>
                </a:lnTo>
                <a:cubicBezTo>
                  <a:pt x="434782" y="337452"/>
                  <a:pt x="337452" y="434782"/>
                  <a:pt x="217391" y="434782"/>
                </a:cubicBezTo>
                <a:lnTo>
                  <a:pt x="217391" y="434782"/>
                </a:lnTo>
                <a:cubicBezTo>
                  <a:pt x="97329" y="434782"/>
                  <a:pt x="0" y="337452"/>
                  <a:pt x="0" y="217391"/>
                </a:cubicBezTo>
                <a:lnTo>
                  <a:pt x="0" y="217391"/>
                </a:lnTo>
                <a:cubicBezTo>
                  <a:pt x="0" y="97329"/>
                  <a:pt x="97329" y="0"/>
                  <a:pt x="217391" y="0"/>
                </a:cubicBezTo>
                <a:close/>
              </a:path>
            </a:pathLst>
          </a:custGeom>
          <a:solidFill>
            <a:srgbClr val="4C6A72"/>
          </a:solidFill>
          <a:ln/>
        </p:spPr>
      </p:sp>
      <p:sp>
        <p:nvSpPr>
          <p:cNvPr id="25" name="Text 22"/>
          <p:cNvSpPr/>
          <p:nvPr/>
        </p:nvSpPr>
        <p:spPr>
          <a:xfrm>
            <a:off x="6303314" y="3923109"/>
            <a:ext cx="525361" cy="434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892081" y="4013689"/>
            <a:ext cx="1920285" cy="25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6" b="1" dirty="0">
                <a:solidFill>
                  <a:srgbClr val="4C6A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Monitoring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348604" y="4430355"/>
            <a:ext cx="5371364" cy="434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 updates and calibration maintain </a:t>
            </a:r>
            <a:r>
              <a:rPr lang="en-US" sz="1141" b="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accuracy</a:t>
            </a:r>
            <a:r>
              <a:rPr lang="en-US" sz="1141" dirty="0">
                <a:solidFill>
                  <a:srgbClr val="2E3A4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throughout the project lifecycle.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62318" y="5227454"/>
            <a:ext cx="11467364" cy="1286229"/>
          </a:xfrm>
          <a:custGeom>
            <a:avLst/>
            <a:gdLst/>
            <a:ahLst/>
            <a:cxnLst/>
            <a:rect l="l" t="t" r="r" b="b"/>
            <a:pathLst>
              <a:path w="11467364" h="1286229">
                <a:moveTo>
                  <a:pt x="108699" y="0"/>
                </a:moveTo>
                <a:lnTo>
                  <a:pt x="11358665" y="0"/>
                </a:lnTo>
                <a:cubicBezTo>
                  <a:pt x="11418698" y="0"/>
                  <a:pt x="11467364" y="48666"/>
                  <a:pt x="11467364" y="108699"/>
                </a:cubicBezTo>
                <a:lnTo>
                  <a:pt x="11467364" y="1177530"/>
                </a:lnTo>
                <a:cubicBezTo>
                  <a:pt x="11467364" y="1237563"/>
                  <a:pt x="11418698" y="1286229"/>
                  <a:pt x="11358665" y="1286229"/>
                </a:cubicBezTo>
                <a:lnTo>
                  <a:pt x="108699" y="1286229"/>
                </a:lnTo>
                <a:cubicBezTo>
                  <a:pt x="48666" y="1286229"/>
                  <a:pt x="0" y="1237563"/>
                  <a:pt x="0" y="1177530"/>
                </a:cubicBezTo>
                <a:lnTo>
                  <a:pt x="0" y="108699"/>
                </a:lnTo>
                <a:cubicBezTo>
                  <a:pt x="0" y="48706"/>
                  <a:pt x="48706" y="0"/>
                  <a:pt x="108699" y="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29" name="Text 26"/>
          <p:cNvSpPr/>
          <p:nvPr/>
        </p:nvSpPr>
        <p:spPr>
          <a:xfrm>
            <a:off x="543477" y="5408613"/>
            <a:ext cx="11213741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 to Action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43477" y="5807048"/>
            <a:ext cx="11186568" cy="53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these practices in your daily work. Collaborate closely with Sales, Pre-sales, and Supply Chain teams. Leverage the credibility framework and automated alerts to maintain high forecast quality and drive operational excellence.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3807736" y="6699256"/>
            <a:ext cx="1594199" cy="498187"/>
          </a:xfrm>
          <a:custGeom>
            <a:avLst/>
            <a:gdLst/>
            <a:ahLst/>
            <a:cxnLst/>
            <a:rect l="l" t="t" r="r" b="b"/>
            <a:pathLst>
              <a:path w="1594199" h="498187">
                <a:moveTo>
                  <a:pt x="108694" y="0"/>
                </a:moveTo>
                <a:lnTo>
                  <a:pt x="1485505" y="0"/>
                </a:lnTo>
                <a:cubicBezTo>
                  <a:pt x="1545535" y="0"/>
                  <a:pt x="1594199" y="48664"/>
                  <a:pt x="1594199" y="108694"/>
                </a:cubicBezTo>
                <a:lnTo>
                  <a:pt x="1594199" y="389493"/>
                </a:lnTo>
                <a:cubicBezTo>
                  <a:pt x="1594199" y="449523"/>
                  <a:pt x="1545535" y="498187"/>
                  <a:pt x="1485505" y="498187"/>
                </a:cubicBezTo>
                <a:lnTo>
                  <a:pt x="108694" y="498187"/>
                </a:lnTo>
                <a:cubicBezTo>
                  <a:pt x="48664" y="498187"/>
                  <a:pt x="0" y="449523"/>
                  <a:pt x="0" y="389493"/>
                </a:cubicBezTo>
                <a:lnTo>
                  <a:pt x="0" y="108694"/>
                </a:lnTo>
                <a:cubicBezTo>
                  <a:pt x="0" y="48664"/>
                  <a:pt x="48664" y="0"/>
                  <a:pt x="10869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4052300" y="6807951"/>
            <a:ext cx="217391" cy="217391"/>
          </a:xfrm>
          <a:custGeom>
            <a:avLst/>
            <a:gdLst/>
            <a:ahLst/>
            <a:cxnLst/>
            <a:rect l="l" t="t" r="r" b="b"/>
            <a:pathLst>
              <a:path w="217391" h="217391">
                <a:moveTo>
                  <a:pt x="108695" y="217391"/>
                </a:moveTo>
                <a:cubicBezTo>
                  <a:pt x="168686" y="217391"/>
                  <a:pt x="217391" y="168686"/>
                  <a:pt x="217391" y="108695"/>
                </a:cubicBezTo>
                <a:cubicBezTo>
                  <a:pt x="217391" y="48705"/>
                  <a:pt x="168686" y="0"/>
                  <a:pt x="108695" y="0"/>
                </a:cubicBezTo>
                <a:cubicBezTo>
                  <a:pt x="48705" y="0"/>
                  <a:pt x="0" y="48705"/>
                  <a:pt x="0" y="108695"/>
                </a:cubicBezTo>
                <a:cubicBezTo>
                  <a:pt x="0" y="168686"/>
                  <a:pt x="48705" y="217391"/>
                  <a:pt x="108695" y="217391"/>
                </a:cubicBezTo>
                <a:close/>
                <a:moveTo>
                  <a:pt x="108695" y="74728"/>
                </a:moveTo>
                <a:cubicBezTo>
                  <a:pt x="101180" y="74728"/>
                  <a:pt x="95108" y="80800"/>
                  <a:pt x="95108" y="88315"/>
                </a:cubicBezTo>
                <a:cubicBezTo>
                  <a:pt x="95108" y="93962"/>
                  <a:pt x="90565" y="98505"/>
                  <a:pt x="84918" y="98505"/>
                </a:cubicBezTo>
                <a:cubicBezTo>
                  <a:pt x="79271" y="98505"/>
                  <a:pt x="74728" y="93962"/>
                  <a:pt x="74728" y="88315"/>
                </a:cubicBezTo>
                <a:cubicBezTo>
                  <a:pt x="74728" y="69548"/>
                  <a:pt x="89928" y="54348"/>
                  <a:pt x="108695" y="54348"/>
                </a:cubicBezTo>
                <a:cubicBezTo>
                  <a:pt x="127462" y="54348"/>
                  <a:pt x="142663" y="69548"/>
                  <a:pt x="142663" y="88315"/>
                </a:cubicBezTo>
                <a:cubicBezTo>
                  <a:pt x="142663" y="108356"/>
                  <a:pt x="127377" y="116848"/>
                  <a:pt x="118886" y="119947"/>
                </a:cubicBezTo>
                <a:lnTo>
                  <a:pt x="118886" y="121561"/>
                </a:lnTo>
                <a:cubicBezTo>
                  <a:pt x="118886" y="127208"/>
                  <a:pt x="114342" y="131751"/>
                  <a:pt x="108695" y="131751"/>
                </a:cubicBezTo>
                <a:cubicBezTo>
                  <a:pt x="103048" y="131751"/>
                  <a:pt x="98505" y="127208"/>
                  <a:pt x="98505" y="121561"/>
                </a:cubicBezTo>
                <a:lnTo>
                  <a:pt x="98505" y="118121"/>
                </a:lnTo>
                <a:cubicBezTo>
                  <a:pt x="98505" y="109417"/>
                  <a:pt x="104789" y="103176"/>
                  <a:pt x="111285" y="101053"/>
                </a:cubicBezTo>
                <a:cubicBezTo>
                  <a:pt x="114003" y="100161"/>
                  <a:pt x="116890" y="98717"/>
                  <a:pt x="119013" y="96679"/>
                </a:cubicBezTo>
                <a:cubicBezTo>
                  <a:pt x="120839" y="94896"/>
                  <a:pt x="122282" y="92434"/>
                  <a:pt x="122282" y="88357"/>
                </a:cubicBezTo>
                <a:cubicBezTo>
                  <a:pt x="122282" y="80842"/>
                  <a:pt x="116211" y="74771"/>
                  <a:pt x="108695" y="74771"/>
                </a:cubicBezTo>
                <a:close/>
                <a:moveTo>
                  <a:pt x="95108" y="156250"/>
                </a:moveTo>
                <a:cubicBezTo>
                  <a:pt x="95108" y="148751"/>
                  <a:pt x="101197" y="142663"/>
                  <a:pt x="108695" y="142663"/>
                </a:cubicBezTo>
                <a:cubicBezTo>
                  <a:pt x="116194" y="142663"/>
                  <a:pt x="122282" y="148751"/>
                  <a:pt x="122282" y="156250"/>
                </a:cubicBezTo>
                <a:cubicBezTo>
                  <a:pt x="122282" y="163748"/>
                  <a:pt x="116194" y="169837"/>
                  <a:pt x="108695" y="169837"/>
                </a:cubicBezTo>
                <a:cubicBezTo>
                  <a:pt x="101197" y="169837"/>
                  <a:pt x="95108" y="163748"/>
                  <a:pt x="95108" y="156250"/>
                </a:cubicBez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33" name="Text 30"/>
          <p:cNvSpPr/>
          <p:nvPr/>
        </p:nvSpPr>
        <p:spPr>
          <a:xfrm>
            <a:off x="4404881" y="6873170"/>
            <a:ext cx="857448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615589" y="6699256"/>
            <a:ext cx="2762675" cy="498187"/>
          </a:xfrm>
          <a:custGeom>
            <a:avLst/>
            <a:gdLst/>
            <a:ahLst/>
            <a:cxnLst/>
            <a:rect l="l" t="t" r="r" b="b"/>
            <a:pathLst>
              <a:path w="2762675" h="498187">
                <a:moveTo>
                  <a:pt x="108694" y="0"/>
                </a:moveTo>
                <a:lnTo>
                  <a:pt x="2653980" y="0"/>
                </a:lnTo>
                <a:cubicBezTo>
                  <a:pt x="2714010" y="0"/>
                  <a:pt x="2762675" y="48664"/>
                  <a:pt x="2762675" y="108694"/>
                </a:cubicBezTo>
                <a:lnTo>
                  <a:pt x="2762675" y="389493"/>
                </a:lnTo>
                <a:cubicBezTo>
                  <a:pt x="2762675" y="449523"/>
                  <a:pt x="2714010" y="498187"/>
                  <a:pt x="2653980" y="498187"/>
                </a:cubicBezTo>
                <a:lnTo>
                  <a:pt x="108694" y="498187"/>
                </a:lnTo>
                <a:cubicBezTo>
                  <a:pt x="48664" y="498187"/>
                  <a:pt x="0" y="449523"/>
                  <a:pt x="0" y="389493"/>
                </a:cubicBezTo>
                <a:lnTo>
                  <a:pt x="0" y="108694"/>
                </a:lnTo>
                <a:cubicBezTo>
                  <a:pt x="0" y="48664"/>
                  <a:pt x="48664" y="0"/>
                  <a:pt x="10869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5860154" y="6807951"/>
            <a:ext cx="217391" cy="217391"/>
          </a:xfrm>
          <a:custGeom>
            <a:avLst/>
            <a:gdLst/>
            <a:ahLst/>
            <a:cxnLst/>
            <a:rect l="l" t="t" r="r" b="b"/>
            <a:pathLst>
              <a:path w="217391" h="217391">
                <a:moveTo>
                  <a:pt x="20380" y="27174"/>
                </a:moveTo>
                <a:cubicBezTo>
                  <a:pt x="9129" y="27174"/>
                  <a:pt x="0" y="36303"/>
                  <a:pt x="0" y="47554"/>
                </a:cubicBezTo>
                <a:cubicBezTo>
                  <a:pt x="0" y="53966"/>
                  <a:pt x="3015" y="59995"/>
                  <a:pt x="8152" y="63859"/>
                </a:cubicBezTo>
                <a:lnTo>
                  <a:pt x="96467" y="130095"/>
                </a:lnTo>
                <a:cubicBezTo>
                  <a:pt x="103728" y="135530"/>
                  <a:pt x="113663" y="135530"/>
                  <a:pt x="120924" y="130095"/>
                </a:cubicBezTo>
                <a:lnTo>
                  <a:pt x="209239" y="63859"/>
                </a:lnTo>
                <a:cubicBezTo>
                  <a:pt x="214376" y="59995"/>
                  <a:pt x="217391" y="53966"/>
                  <a:pt x="217391" y="47554"/>
                </a:cubicBezTo>
                <a:cubicBezTo>
                  <a:pt x="217391" y="36303"/>
                  <a:pt x="208262" y="27174"/>
                  <a:pt x="197010" y="27174"/>
                </a:cubicBezTo>
                <a:lnTo>
                  <a:pt x="20380" y="27174"/>
                </a:lnTo>
                <a:close/>
                <a:moveTo>
                  <a:pt x="0" y="83220"/>
                </a:moveTo>
                <a:lnTo>
                  <a:pt x="0" y="163043"/>
                </a:lnTo>
                <a:cubicBezTo>
                  <a:pt x="0" y="178031"/>
                  <a:pt x="12186" y="190217"/>
                  <a:pt x="27174" y="190217"/>
                </a:cubicBezTo>
                <a:lnTo>
                  <a:pt x="190217" y="190217"/>
                </a:lnTo>
                <a:cubicBezTo>
                  <a:pt x="205205" y="190217"/>
                  <a:pt x="217391" y="178031"/>
                  <a:pt x="217391" y="163043"/>
                </a:cubicBezTo>
                <a:lnTo>
                  <a:pt x="217391" y="83220"/>
                </a:lnTo>
                <a:lnTo>
                  <a:pt x="133152" y="146399"/>
                </a:lnTo>
                <a:cubicBezTo>
                  <a:pt x="118673" y="157269"/>
                  <a:pt x="98717" y="157269"/>
                  <a:pt x="84239" y="146399"/>
                </a:cubicBezTo>
                <a:lnTo>
                  <a:pt x="0" y="83220"/>
                </a:lnTo>
                <a:close/>
              </a:path>
            </a:pathLst>
          </a:custGeom>
          <a:solidFill>
            <a:srgbClr val="D9A467"/>
          </a:solidFill>
          <a:ln/>
        </p:spPr>
      </p:sp>
      <p:sp>
        <p:nvSpPr>
          <p:cNvPr id="36" name="Text 33"/>
          <p:cNvSpPr/>
          <p:nvPr/>
        </p:nvSpPr>
        <p:spPr>
          <a:xfrm>
            <a:off x="6212734" y="6873170"/>
            <a:ext cx="2033510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 Supply Chain Team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1919</Words>
  <Application>Microsoft Office PowerPoint</Application>
  <PresentationFormat>宽屏</PresentationFormat>
  <Paragraphs>309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Liter</vt:lpstr>
      <vt:lpstr>Calibri</vt:lpstr>
      <vt:lpstr>微软雅黑</vt:lpstr>
      <vt:lpstr>Arial</vt:lpstr>
      <vt:lpstr>Quattrocento Sans</vt:lpstr>
      <vt:lpstr>MiSans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Improve Forecasting and Delivery</dc:title>
  <dc:subject>How to Improve Forecasting and Delivery</dc:subject>
  <dc:creator>Kimi</dc:creator>
  <cp:lastModifiedBy>Lenovo</cp:lastModifiedBy>
  <cp:revision>3</cp:revision>
  <dcterms:created xsi:type="dcterms:W3CDTF">2026-01-22T07:09:56Z</dcterms:created>
  <dcterms:modified xsi:type="dcterms:W3CDTF">2026-01-22T07:20:14Z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{"Label":"How to Improve Forecasting and Delivery","ContentProducer":"001191110108MACG2KBH8F10000","ProduceID":"19be485b-29a2-801a-8000-0000ea8c0f79","ReservedCode1":"","ContentPropagator":"001191110108MACG2KBH8F20000","PropagateID":"19be485b-29a2-801a-80</vt:lpwstr>
  </property>
</Properties>
</file>