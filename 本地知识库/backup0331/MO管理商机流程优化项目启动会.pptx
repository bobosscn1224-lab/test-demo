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iSans" panose="02010600030101010101" charset="-122"/>
      <p:regular r:id="rId20"/>
    </p:embeddedFont>
    <p:embeddedFont>
      <p:font typeface="Alimama ShuHeiTi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56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edheadproductions.co.uk/4cce846a6305f04234e754587f8b5d93388db090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5556" r="5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73E8"/>
              </a:gs>
              <a:gs pos="50000">
                <a:srgbClr val="1A73E8">
                  <a:alpha val="90000"/>
                </a:srgbClr>
              </a:gs>
              <a:gs pos="100000">
                <a:srgbClr val="34A853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66725"/>
            <a:ext cx="762000" cy="57150"/>
          </a:xfrm>
          <a:custGeom>
            <a:avLst/>
            <a:gdLst/>
            <a:ahLst/>
            <a:cxnLst/>
            <a:rect l="l" t="t" r="r" b="b"/>
            <a:pathLst>
              <a:path w="762000" h="57150">
                <a:moveTo>
                  <a:pt x="0" y="0"/>
                </a:moveTo>
                <a:lnTo>
                  <a:pt x="762000" y="0"/>
                </a:lnTo>
                <a:lnTo>
                  <a:pt x="762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810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FBBC0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KICKOFF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072099" y="381000"/>
            <a:ext cx="742950" cy="419100"/>
          </a:xfrm>
          <a:custGeom>
            <a:avLst/>
            <a:gdLst/>
            <a:ahLst/>
            <a:cxnLst/>
            <a:rect l="l" t="t" r="r" b="b"/>
            <a:pathLst>
              <a:path w="742950" h="419100">
                <a:moveTo>
                  <a:pt x="38100" y="0"/>
                </a:moveTo>
                <a:lnTo>
                  <a:pt x="704850" y="0"/>
                </a:lnTo>
                <a:cubicBezTo>
                  <a:pt x="725892" y="0"/>
                  <a:pt x="742950" y="17058"/>
                  <a:pt x="742950" y="38100"/>
                </a:cubicBezTo>
                <a:lnTo>
                  <a:pt x="742950" y="381000"/>
                </a:lnTo>
                <a:cubicBezTo>
                  <a:pt x="742950" y="402042"/>
                  <a:pt x="725892" y="419100"/>
                  <a:pt x="7048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7" name="Text 4"/>
          <p:cNvSpPr/>
          <p:nvPr/>
        </p:nvSpPr>
        <p:spPr>
          <a:xfrm>
            <a:off x="11262599" y="483870"/>
            <a:ext cx="43410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17646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MO管理商机流程优化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提升销售项目策略及执行质量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833812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119562"/>
            <a:ext cx="11544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以流程提效、质量赋能，冲刺更高中标率与客户满意度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6719" y="5905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2" name="Text 9"/>
          <p:cNvSpPr/>
          <p:nvPr/>
        </p:nvSpPr>
        <p:spPr>
          <a:xfrm>
            <a:off x="733425" y="5867400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汇报人：XXX / 行业系统部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4" name="Text 11"/>
          <p:cNvSpPr/>
          <p:nvPr/>
        </p:nvSpPr>
        <p:spPr>
          <a:xfrm>
            <a:off x="733425" y="621030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日期：XXXX年XX月XX日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2108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6" name="Shape 13"/>
          <p:cNvSpPr/>
          <p:nvPr/>
        </p:nvSpPr>
        <p:spPr>
          <a:xfrm>
            <a:off x="10363200" y="6096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17" name="Text 14"/>
          <p:cNvSpPr/>
          <p:nvPr/>
        </p:nvSpPr>
        <p:spPr>
          <a:xfrm>
            <a:off x="10858500" y="6076950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项目启动会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304449"/>
            <a:ext cx="609600" cy="57150"/>
          </a:xfrm>
          <a:custGeom>
            <a:avLst/>
            <a:gdLst/>
            <a:ahLst/>
            <a:cxnLst/>
            <a:rect l="l" t="t" r="r" b="b"/>
            <a:pathLst>
              <a:path w="609600" h="57150">
                <a:moveTo>
                  <a:pt x="0" y="0"/>
                </a:moveTo>
                <a:lnTo>
                  <a:pt x="609600" y="0"/>
                </a:lnTo>
                <a:lnTo>
                  <a:pt x="6096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1237774"/>
            <a:ext cx="657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542574"/>
            <a:ext cx="426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1A73E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571274"/>
            <a:ext cx="39814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六大核心章节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系统化流程优化方案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4219099"/>
            <a:ext cx="3810000" cy="1400175"/>
          </a:xfrm>
          <a:custGeom>
            <a:avLst/>
            <a:gdLst/>
            <a:ahLst/>
            <a:cxnLst/>
            <a:rect l="l" t="t" r="r" b="b"/>
            <a:pathLst>
              <a:path w="3810000" h="1400175">
                <a:moveTo>
                  <a:pt x="152395" y="0"/>
                </a:moveTo>
                <a:lnTo>
                  <a:pt x="3657605" y="0"/>
                </a:lnTo>
                <a:cubicBezTo>
                  <a:pt x="3741770" y="0"/>
                  <a:pt x="3810000" y="68230"/>
                  <a:pt x="3810000" y="152395"/>
                </a:cubicBezTo>
                <a:lnTo>
                  <a:pt x="3810000" y="1247780"/>
                </a:lnTo>
                <a:cubicBezTo>
                  <a:pt x="3810000" y="1331945"/>
                  <a:pt x="3741770" y="1400175"/>
                  <a:pt x="3657605" y="1400175"/>
                </a:cubicBezTo>
                <a:lnTo>
                  <a:pt x="152395" y="1400175"/>
                </a:lnTo>
                <a:cubicBezTo>
                  <a:pt x="68230" y="1400175"/>
                  <a:pt x="0" y="1331945"/>
                  <a:pt x="0" y="1247780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447699"/>
            <a:ext cx="34480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全面优化MO管理流程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从问题剖析到实施落地，构建可持续优化的业务体系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14850" y="381000"/>
            <a:ext cx="3562350" cy="1933575"/>
          </a:xfrm>
          <a:custGeom>
            <a:avLst/>
            <a:gdLst/>
            <a:ahLst/>
            <a:cxnLst/>
            <a:rect l="l" t="t" r="r" b="b"/>
            <a:pathLst>
              <a:path w="3562350" h="1933575">
                <a:moveTo>
                  <a:pt x="38100" y="0"/>
                </a:moveTo>
                <a:lnTo>
                  <a:pt x="3448056" y="0"/>
                </a:lnTo>
                <a:cubicBezTo>
                  <a:pt x="3511179" y="0"/>
                  <a:pt x="3562350" y="51171"/>
                  <a:pt x="3562350" y="114294"/>
                </a:cubicBezTo>
                <a:lnTo>
                  <a:pt x="3562350" y="1819281"/>
                </a:lnTo>
                <a:cubicBezTo>
                  <a:pt x="3562350" y="1882404"/>
                  <a:pt x="3511179" y="1933575"/>
                  <a:pt x="34480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14850" y="381000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0" y="104132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4932402" y="119372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2600" y="1079421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项目背景与核心目标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2600" y="138422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业务基础、核心目标、战略价值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48650" y="381000"/>
            <a:ext cx="3562350" cy="1933575"/>
          </a:xfrm>
          <a:custGeom>
            <a:avLst/>
            <a:gdLst/>
            <a:ahLst/>
            <a:cxnLst/>
            <a:rect l="l" t="t" r="r" b="b"/>
            <a:pathLst>
              <a:path w="3562350" h="1933575">
                <a:moveTo>
                  <a:pt x="38100" y="0"/>
                </a:moveTo>
                <a:lnTo>
                  <a:pt x="3448056" y="0"/>
                </a:lnTo>
                <a:cubicBezTo>
                  <a:pt x="3511179" y="0"/>
                  <a:pt x="3562350" y="51171"/>
                  <a:pt x="3562350" y="114294"/>
                </a:cubicBezTo>
                <a:lnTo>
                  <a:pt x="3562350" y="1819281"/>
                </a:lnTo>
                <a:cubicBezTo>
                  <a:pt x="3562350" y="1882404"/>
                  <a:pt x="3511179" y="1933575"/>
                  <a:pt x="34480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8650" y="381000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96300" y="104132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8666202" y="119372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96400" y="1079421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现存问题与根因剖析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6400" y="138422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执行短板、根因分析、业务痛点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14850" y="2463760"/>
            <a:ext cx="3562350" cy="1933575"/>
          </a:xfrm>
          <a:custGeom>
            <a:avLst/>
            <a:gdLst/>
            <a:ahLst/>
            <a:cxnLst/>
            <a:rect l="l" t="t" r="r" b="b"/>
            <a:pathLst>
              <a:path w="3562350" h="1933575">
                <a:moveTo>
                  <a:pt x="38100" y="0"/>
                </a:moveTo>
                <a:lnTo>
                  <a:pt x="3448056" y="0"/>
                </a:lnTo>
                <a:cubicBezTo>
                  <a:pt x="3511179" y="0"/>
                  <a:pt x="3562350" y="51171"/>
                  <a:pt x="3562350" y="114294"/>
                </a:cubicBezTo>
                <a:lnTo>
                  <a:pt x="3562350" y="1819281"/>
                </a:lnTo>
                <a:cubicBezTo>
                  <a:pt x="3562350" y="1882404"/>
                  <a:pt x="3511179" y="1933575"/>
                  <a:pt x="34480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14850" y="2463760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2" name="Shape 20"/>
          <p:cNvSpPr/>
          <p:nvPr/>
        </p:nvSpPr>
        <p:spPr>
          <a:xfrm>
            <a:off x="4762500" y="31240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2402" y="327648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62600" y="3162181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针对性优化对策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62600" y="346698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责任管理、业务质量、团队协同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48650" y="2463760"/>
            <a:ext cx="3562350" cy="1933575"/>
          </a:xfrm>
          <a:custGeom>
            <a:avLst/>
            <a:gdLst/>
            <a:ahLst/>
            <a:cxnLst/>
            <a:rect l="l" t="t" r="r" b="b"/>
            <a:pathLst>
              <a:path w="3562350" h="1933575">
                <a:moveTo>
                  <a:pt x="38100" y="0"/>
                </a:moveTo>
                <a:lnTo>
                  <a:pt x="3448056" y="0"/>
                </a:lnTo>
                <a:cubicBezTo>
                  <a:pt x="3511179" y="0"/>
                  <a:pt x="3562350" y="51171"/>
                  <a:pt x="3562350" y="114294"/>
                </a:cubicBezTo>
                <a:lnTo>
                  <a:pt x="3562350" y="1819281"/>
                </a:lnTo>
                <a:cubicBezTo>
                  <a:pt x="3562350" y="1882404"/>
                  <a:pt x="3511179" y="1933575"/>
                  <a:pt x="34480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48650" y="2463760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28" name="Shape 26"/>
          <p:cNvSpPr/>
          <p:nvPr/>
        </p:nvSpPr>
        <p:spPr>
          <a:xfrm>
            <a:off x="8496300" y="312408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8666202" y="327648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96400" y="3162181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实施路径与分阶段计划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96400" y="346698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短期破局、中期深化、长期闭环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14850" y="4546521"/>
            <a:ext cx="3562350" cy="1933575"/>
          </a:xfrm>
          <a:custGeom>
            <a:avLst/>
            <a:gdLst/>
            <a:ahLst/>
            <a:cxnLst/>
            <a:rect l="l" t="t" r="r" b="b"/>
            <a:pathLst>
              <a:path w="3562350" h="1933575">
                <a:moveTo>
                  <a:pt x="38100" y="0"/>
                </a:moveTo>
                <a:lnTo>
                  <a:pt x="3448056" y="0"/>
                </a:lnTo>
                <a:cubicBezTo>
                  <a:pt x="3511179" y="0"/>
                  <a:pt x="3562350" y="51171"/>
                  <a:pt x="3562350" y="114294"/>
                </a:cubicBezTo>
                <a:lnTo>
                  <a:pt x="3562350" y="1819281"/>
                </a:lnTo>
                <a:cubicBezTo>
                  <a:pt x="3562350" y="1882404"/>
                  <a:pt x="3511179" y="1933575"/>
                  <a:pt x="34480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14850" y="4546521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5206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4932402" y="535924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62600" y="5244941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责任分工与预期成效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62600" y="5549741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责任矩阵、量化指标、价值产出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8650" y="4546521"/>
            <a:ext cx="3562350" cy="1933575"/>
          </a:xfrm>
          <a:custGeom>
            <a:avLst/>
            <a:gdLst/>
            <a:ahLst/>
            <a:cxnLst/>
            <a:rect l="l" t="t" r="r" b="b"/>
            <a:pathLst>
              <a:path w="3562350" h="1933575">
                <a:moveTo>
                  <a:pt x="38100" y="0"/>
                </a:moveTo>
                <a:lnTo>
                  <a:pt x="3448056" y="0"/>
                </a:lnTo>
                <a:cubicBezTo>
                  <a:pt x="3511179" y="0"/>
                  <a:pt x="3562350" y="51171"/>
                  <a:pt x="3562350" y="114294"/>
                </a:cubicBezTo>
                <a:lnTo>
                  <a:pt x="3562350" y="1819281"/>
                </a:lnTo>
                <a:cubicBezTo>
                  <a:pt x="3562350" y="1882404"/>
                  <a:pt x="3511179" y="1933575"/>
                  <a:pt x="3448056" y="1933575"/>
                </a:cubicBez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48650" y="4546521"/>
            <a:ext cx="38100" cy="1933575"/>
          </a:xfrm>
          <a:custGeom>
            <a:avLst/>
            <a:gdLst/>
            <a:ahLst/>
            <a:cxnLst/>
            <a:rect l="l" t="t" r="r" b="b"/>
            <a:pathLst>
              <a:path w="38100" h="1933575">
                <a:moveTo>
                  <a:pt x="38100" y="0"/>
                </a:moveTo>
                <a:lnTo>
                  <a:pt x="38100" y="0"/>
                </a:lnTo>
                <a:lnTo>
                  <a:pt x="38100" y="1933575"/>
                </a:lnTo>
                <a:lnTo>
                  <a:pt x="38100" y="1933575"/>
                </a:lnTo>
                <a:cubicBezTo>
                  <a:pt x="17072" y="1933575"/>
                  <a:pt x="0" y="1916503"/>
                  <a:pt x="0" y="1895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0" name="Shape 38"/>
          <p:cNvSpPr/>
          <p:nvPr/>
        </p:nvSpPr>
        <p:spPr>
          <a:xfrm>
            <a:off x="8496300" y="520684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1" name="Text 39"/>
          <p:cNvSpPr/>
          <p:nvPr/>
        </p:nvSpPr>
        <p:spPr>
          <a:xfrm>
            <a:off x="8666202" y="535924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96400" y="5130641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下一步行动与问答环节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96400" y="5435441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immediate行动、开放交流、凝聚共识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4723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216223" y="381000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BACKGROUND &amp;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项目背景与核心目标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构建系统化MO流程优化体系，实现策略与执行双重升级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409700"/>
            <a:ext cx="11430000" cy="1619250"/>
          </a:xfrm>
          <a:custGeom>
            <a:avLst/>
            <a:gdLst/>
            <a:ahLst/>
            <a:cxnLst/>
            <a:rect l="l" t="t" r="r" b="b"/>
            <a:pathLst>
              <a:path w="11430000" h="1619250">
                <a:moveTo>
                  <a:pt x="114303" y="0"/>
                </a:moveTo>
                <a:lnTo>
                  <a:pt x="11315697" y="0"/>
                </a:lnTo>
                <a:cubicBezTo>
                  <a:pt x="11378783" y="0"/>
                  <a:pt x="11430000" y="51217"/>
                  <a:pt x="11430000" y="114303"/>
                </a:cubicBezTo>
                <a:lnTo>
                  <a:pt x="11430000" y="1504947"/>
                </a:lnTo>
                <a:cubicBezTo>
                  <a:pt x="11430000" y="1568033"/>
                  <a:pt x="11378783" y="1619250"/>
                  <a:pt x="113156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34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9" name="Shape 7"/>
          <p:cNvSpPr/>
          <p:nvPr/>
        </p:nvSpPr>
        <p:spPr>
          <a:xfrm>
            <a:off x="640556" y="166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1619250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业务基础：MO流程现有机制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057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437" y="2095500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" y="20764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分级分层立项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400" y="2381250"/>
            <a:ext cx="3686175" cy="495300"/>
          </a:xfrm>
          <a:prstGeom prst="rect">
            <a:avLst/>
          </a:prstGeom>
          <a:noFill/>
          <a:ln/>
        </p:spPr>
        <p:txBody>
          <a:bodyPr wrap="square" lIns="3429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按项目金额+重要程度，划分为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区域级、BU级、BG级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三类，确保资源精准匹配项目需求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2560" y="2057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4388406" y="20955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5460" y="207645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铁三角支撑体系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2560" y="2381250"/>
            <a:ext cx="3686175" cy="495300"/>
          </a:xfrm>
          <a:prstGeom prst="rect">
            <a:avLst/>
          </a:prstGeom>
          <a:noFill/>
          <a:ln/>
        </p:spPr>
        <p:txBody>
          <a:bodyPr wrap="square" lIns="3429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不同层级立项匹配对应层级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铁三角团队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，保障资源适配与策略协同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1721" y="20574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8145780" y="20955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94621" y="207645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关键管控节点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51721" y="2381250"/>
            <a:ext cx="3686175" cy="495300"/>
          </a:xfrm>
          <a:prstGeom prst="rect">
            <a:avLst/>
          </a:prstGeom>
          <a:noFill/>
          <a:ln/>
        </p:spPr>
        <p:txBody>
          <a:bodyPr wrap="square" lIns="3429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四大核心会议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（启动会、方案评审会、标前评审会、复盘会），把控业务质量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3105150"/>
            <a:ext cx="3705225" cy="1485900"/>
          </a:xfrm>
          <a:custGeom>
            <a:avLst/>
            <a:gdLst/>
            <a:ahLst/>
            <a:cxnLst/>
            <a:rect l="l" t="t" r="r" b="b"/>
            <a:pathLst>
              <a:path w="3705225" h="1485900">
                <a:moveTo>
                  <a:pt x="114295" y="0"/>
                </a:moveTo>
                <a:lnTo>
                  <a:pt x="3590930" y="0"/>
                </a:lnTo>
                <a:cubicBezTo>
                  <a:pt x="3654011" y="0"/>
                  <a:pt x="3705225" y="51214"/>
                  <a:pt x="3705225" y="114295"/>
                </a:cubicBezTo>
                <a:lnTo>
                  <a:pt x="3705225" y="1371605"/>
                </a:lnTo>
                <a:cubicBezTo>
                  <a:pt x="3705225" y="1434686"/>
                  <a:pt x="3654011" y="1485900"/>
                  <a:pt x="3590930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1975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895350" y="32575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短期目标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400" y="363855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提升MO流程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关键节点执行率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，解决执行缺位问题，建立标准化作业体系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2450" y="4276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8" name="Text 26"/>
          <p:cNvSpPr/>
          <p:nvPr/>
        </p:nvSpPr>
        <p:spPr>
          <a:xfrm>
            <a:off x="776288" y="4248150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1-2个月内实现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1721" y="3105150"/>
            <a:ext cx="3705225" cy="1485900"/>
          </a:xfrm>
          <a:custGeom>
            <a:avLst/>
            <a:gdLst/>
            <a:ahLst/>
            <a:cxnLst/>
            <a:rect l="l" t="t" r="r" b="b"/>
            <a:pathLst>
              <a:path w="3705225" h="1485900">
                <a:moveTo>
                  <a:pt x="114295" y="0"/>
                </a:moveTo>
                <a:lnTo>
                  <a:pt x="3590930" y="0"/>
                </a:lnTo>
                <a:cubicBezTo>
                  <a:pt x="3654011" y="0"/>
                  <a:pt x="3705225" y="51214"/>
                  <a:pt x="3705225" y="114295"/>
                </a:cubicBezTo>
                <a:lnTo>
                  <a:pt x="3705225" y="1371605"/>
                </a:lnTo>
                <a:cubicBezTo>
                  <a:pt x="3705225" y="1434686"/>
                  <a:pt x="3654011" y="1485900"/>
                  <a:pt x="3590930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34A853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22696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1" name="Text 29"/>
          <p:cNvSpPr/>
          <p:nvPr/>
        </p:nvSpPr>
        <p:spPr>
          <a:xfrm>
            <a:off x="4756071" y="32575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中期目标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94121" y="363855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优化业务核心质量，提升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解决方案适配度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价格策略有效性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，增强市场竞争力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13171" y="4276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4" name="Text 32"/>
          <p:cNvSpPr/>
          <p:nvPr/>
        </p:nvSpPr>
        <p:spPr>
          <a:xfrm>
            <a:off x="4637008" y="4248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3-4个月内实现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561" y="3105150"/>
            <a:ext cx="3705225" cy="1485900"/>
          </a:xfrm>
          <a:custGeom>
            <a:avLst/>
            <a:gdLst/>
            <a:ahLst/>
            <a:cxnLst/>
            <a:rect l="l" t="t" r="r" b="b"/>
            <a:pathLst>
              <a:path w="3705225" h="1485900">
                <a:moveTo>
                  <a:pt x="114295" y="0"/>
                </a:moveTo>
                <a:lnTo>
                  <a:pt x="3590930" y="0"/>
                </a:lnTo>
                <a:cubicBezTo>
                  <a:pt x="3654011" y="0"/>
                  <a:pt x="3705225" y="51214"/>
                  <a:pt x="3705225" y="114295"/>
                </a:cubicBezTo>
                <a:lnTo>
                  <a:pt x="3705225" y="1371605"/>
                </a:lnTo>
                <a:cubicBezTo>
                  <a:pt x="3705225" y="1434686"/>
                  <a:pt x="3654011" y="1485900"/>
                  <a:pt x="3590930" y="1485900"/>
                </a:cubicBezTo>
                <a:lnTo>
                  <a:pt x="114295" y="1485900"/>
                </a:lnTo>
                <a:cubicBezTo>
                  <a:pt x="51214" y="1485900"/>
                  <a:pt x="0" y="1434686"/>
                  <a:pt x="0" y="13716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BBC05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83536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37" name="Text 35"/>
          <p:cNvSpPr/>
          <p:nvPr/>
        </p:nvSpPr>
        <p:spPr>
          <a:xfrm>
            <a:off x="8616911" y="32575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长期目标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54961" y="363855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后端团队前置协同</a:t>
            </a:r>
            <a:r>
              <a:rPr lang="en-US" sz="120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，保障交付质量与客户满意度，最终提升项目</a:t>
            </a: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中标率与毛利率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74011" y="4276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0" name="Text 38"/>
          <p:cNvSpPr/>
          <p:nvPr/>
        </p:nvSpPr>
        <p:spPr>
          <a:xfrm>
            <a:off x="8497848" y="42481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5-6个月内实现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4667250"/>
            <a:ext cx="11410950" cy="742950"/>
          </a:xfrm>
          <a:custGeom>
            <a:avLst/>
            <a:gdLst/>
            <a:ahLst/>
            <a:cxnLst/>
            <a:rect l="l" t="t" r="r" b="b"/>
            <a:pathLst>
              <a:path w="11410950" h="742950">
                <a:moveTo>
                  <a:pt x="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628647"/>
                </a:lnTo>
                <a:cubicBezTo>
                  <a:pt x="11410950" y="691733"/>
                  <a:pt x="11359733" y="742950"/>
                  <a:pt x="1129664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4667250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3" name="Shape 41"/>
          <p:cNvSpPr/>
          <p:nvPr/>
        </p:nvSpPr>
        <p:spPr>
          <a:xfrm>
            <a:off x="581025" y="4800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4" name="Text 42"/>
          <p:cNvSpPr/>
          <p:nvPr/>
        </p:nvSpPr>
        <p:spPr>
          <a:xfrm>
            <a:off x="885825" y="4781550"/>
            <a:ext cx="870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5825" y="5048250"/>
            <a:ext cx="8705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流程标准化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责任清晰化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协同前置化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三大抓手，构建可持续优化的MO管理生态，实现从执行效率到业务质量的全方位提升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A8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67226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1238726" y="3810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PROBLEMS &amp; ROOT CAUSES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现存核心问题与根因剖析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668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直面执行短板，深挖业务痛点根源，为精准优化奠定基础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409700"/>
            <a:ext cx="11430000" cy="2171700"/>
          </a:xfrm>
          <a:custGeom>
            <a:avLst/>
            <a:gdLst/>
            <a:ahLst/>
            <a:cxnLst/>
            <a:rect l="l" t="t" r="r" b="b"/>
            <a:pathLst>
              <a:path w="11430000" h="21717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2057403"/>
                </a:lnTo>
                <a:cubicBezTo>
                  <a:pt x="11430000" y="2120528"/>
                  <a:pt x="11378828" y="2171700"/>
                  <a:pt x="11315703" y="2171700"/>
                </a:cubicBezTo>
                <a:lnTo>
                  <a:pt x="114297" y="2171700"/>
                </a:lnTo>
                <a:cubicBezTo>
                  <a:pt x="51172" y="2171700"/>
                  <a:pt x="0" y="2120528"/>
                  <a:pt x="0" y="20574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34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9" name="Shape 7"/>
          <p:cNvSpPr/>
          <p:nvPr/>
        </p:nvSpPr>
        <p:spPr>
          <a:xfrm>
            <a:off x="640556" y="16668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28700" y="1619250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流程执行质量短板：关键节点执行率堪忧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2450" y="2057400"/>
            <a:ext cx="3590925" cy="1371600"/>
          </a:xfrm>
          <a:custGeom>
            <a:avLst/>
            <a:gdLst/>
            <a:ahLst/>
            <a:cxnLst/>
            <a:rect l="l" t="t" r="r" b="b"/>
            <a:pathLst>
              <a:path w="3590925" h="1371600">
                <a:moveTo>
                  <a:pt x="38100" y="0"/>
                </a:moveTo>
                <a:lnTo>
                  <a:pt x="3514719" y="0"/>
                </a:lnTo>
                <a:cubicBezTo>
                  <a:pt x="3556806" y="0"/>
                  <a:pt x="3590925" y="34119"/>
                  <a:pt x="3590925" y="76206"/>
                </a:cubicBezTo>
                <a:lnTo>
                  <a:pt x="3590925" y="1295394"/>
                </a:lnTo>
                <a:cubicBezTo>
                  <a:pt x="3590925" y="1337481"/>
                  <a:pt x="3556806" y="1371600"/>
                  <a:pt x="3514719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52450" y="20574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09681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项目启动会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33524" y="2171700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50%+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552581"/>
            <a:ext cx="3419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执行率仅50%以上，部分项目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无明确启动与分工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，导致后续执行缺乏统一方向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1519" y="315265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928688" y="3124081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执行率严重偏低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11610" y="2057400"/>
            <a:ext cx="3590925" cy="1371600"/>
          </a:xfrm>
          <a:custGeom>
            <a:avLst/>
            <a:gdLst/>
            <a:ahLst/>
            <a:cxnLst/>
            <a:rect l="l" t="t" r="r" b="b"/>
            <a:pathLst>
              <a:path w="3590925" h="1371600">
                <a:moveTo>
                  <a:pt x="38100" y="0"/>
                </a:moveTo>
                <a:lnTo>
                  <a:pt x="3514719" y="0"/>
                </a:lnTo>
                <a:cubicBezTo>
                  <a:pt x="3556806" y="0"/>
                  <a:pt x="3590925" y="34119"/>
                  <a:pt x="3590925" y="76206"/>
                </a:cubicBezTo>
                <a:lnTo>
                  <a:pt x="3590925" y="1295394"/>
                </a:lnTo>
                <a:cubicBezTo>
                  <a:pt x="3590925" y="1337481"/>
                  <a:pt x="3556806" y="1371600"/>
                  <a:pt x="3514719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11610" y="20574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0" name="Text 18"/>
          <p:cNvSpPr/>
          <p:nvPr/>
        </p:nvSpPr>
        <p:spPr>
          <a:xfrm>
            <a:off x="4444960" y="2209681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核心评审类会议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92685" y="2171700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&lt;10%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44960" y="2552581"/>
            <a:ext cx="3419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解决方案评审会、标前评审会执行率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低于10%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，价格、方案缺乏前置校验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679" y="315265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4" name="Text 22"/>
          <p:cNvSpPr/>
          <p:nvPr/>
        </p:nvSpPr>
        <p:spPr>
          <a:xfrm>
            <a:off x="4687848" y="3124081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关键环节严重缺失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70771" y="2057400"/>
            <a:ext cx="3590925" cy="1371600"/>
          </a:xfrm>
          <a:custGeom>
            <a:avLst/>
            <a:gdLst/>
            <a:ahLst/>
            <a:cxnLst/>
            <a:rect l="l" t="t" r="r" b="b"/>
            <a:pathLst>
              <a:path w="3590925" h="1371600">
                <a:moveTo>
                  <a:pt x="38100" y="0"/>
                </a:moveTo>
                <a:lnTo>
                  <a:pt x="3514719" y="0"/>
                </a:lnTo>
                <a:cubicBezTo>
                  <a:pt x="3556806" y="0"/>
                  <a:pt x="3590925" y="34119"/>
                  <a:pt x="3590925" y="76206"/>
                </a:cubicBezTo>
                <a:lnTo>
                  <a:pt x="3590925" y="1295394"/>
                </a:lnTo>
                <a:cubicBezTo>
                  <a:pt x="3590925" y="1337481"/>
                  <a:pt x="3556806" y="1371600"/>
                  <a:pt x="3514719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70771" y="205740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7" name="Text 25"/>
          <p:cNvSpPr/>
          <p:nvPr/>
        </p:nvSpPr>
        <p:spPr>
          <a:xfrm>
            <a:off x="8204121" y="2209681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复盘环节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51964" y="2171700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&lt;10%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04121" y="2552581"/>
            <a:ext cx="3419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赢丢单复盘执行率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不足10%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，经验无法沉淀复用，持续改进机制缺失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39839" y="315265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44120" y="130902"/>
                </a:moveTo>
                <a:cubicBezTo>
                  <a:pt x="47376" y="134157"/>
                  <a:pt x="52663" y="134157"/>
                  <a:pt x="55918" y="130902"/>
                </a:cubicBezTo>
                <a:lnTo>
                  <a:pt x="97590" y="89230"/>
                </a:lnTo>
                <a:cubicBezTo>
                  <a:pt x="100846" y="85974"/>
                  <a:pt x="100846" y="80687"/>
                  <a:pt x="97590" y="77432"/>
                </a:cubicBezTo>
                <a:cubicBezTo>
                  <a:pt x="94335" y="74176"/>
                  <a:pt x="89048" y="74176"/>
                  <a:pt x="85792" y="77432"/>
                </a:cubicBezTo>
                <a:lnTo>
                  <a:pt x="58341" y="104883"/>
                </a:lnTo>
                <a:lnTo>
                  <a:pt x="58341" y="8334"/>
                </a:lnTo>
                <a:cubicBezTo>
                  <a:pt x="58341" y="3724"/>
                  <a:pt x="54616" y="0"/>
                  <a:pt x="50006" y="0"/>
                </a:cubicBezTo>
                <a:cubicBezTo>
                  <a:pt x="45396" y="0"/>
                  <a:pt x="41672" y="3724"/>
                  <a:pt x="41672" y="8334"/>
                </a:cubicBezTo>
                <a:lnTo>
                  <a:pt x="41672" y="104883"/>
                </a:lnTo>
                <a:lnTo>
                  <a:pt x="14221" y="77432"/>
                </a:lnTo>
                <a:cubicBezTo>
                  <a:pt x="10965" y="74176"/>
                  <a:pt x="5678" y="74176"/>
                  <a:pt x="2422" y="77432"/>
                </a:cubicBezTo>
                <a:cubicBezTo>
                  <a:pt x="-833" y="80687"/>
                  <a:pt x="-833" y="85974"/>
                  <a:pt x="2422" y="89230"/>
                </a:cubicBezTo>
                <a:lnTo>
                  <a:pt x="44094" y="13090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1" name="Text 29"/>
          <p:cNvSpPr/>
          <p:nvPr/>
        </p:nvSpPr>
        <p:spPr>
          <a:xfrm>
            <a:off x="8447008" y="3124081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经验流失严重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3657481"/>
            <a:ext cx="5657850" cy="2647950"/>
          </a:xfrm>
          <a:custGeom>
            <a:avLst/>
            <a:gdLst/>
            <a:ahLst/>
            <a:cxnLst/>
            <a:rect l="l" t="t" r="r" b="b"/>
            <a:pathLst>
              <a:path w="5657850" h="2647950">
                <a:moveTo>
                  <a:pt x="114312" y="0"/>
                </a:moveTo>
                <a:lnTo>
                  <a:pt x="5543538" y="0"/>
                </a:lnTo>
                <a:cubicBezTo>
                  <a:pt x="5606671" y="0"/>
                  <a:pt x="5657850" y="51179"/>
                  <a:pt x="5657850" y="114312"/>
                </a:cubicBezTo>
                <a:lnTo>
                  <a:pt x="5657850" y="2533638"/>
                </a:lnTo>
                <a:cubicBezTo>
                  <a:pt x="5657850" y="2596771"/>
                  <a:pt x="5606671" y="2647950"/>
                  <a:pt x="5543538" y="2647950"/>
                </a:cubicBezTo>
                <a:lnTo>
                  <a:pt x="114312" y="2647950"/>
                </a:lnTo>
                <a:cubicBezTo>
                  <a:pt x="51179" y="2647950"/>
                  <a:pt x="0" y="2596771"/>
                  <a:pt x="0" y="2533638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3400" y="380988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76199" y="0"/>
                </a:moveTo>
                <a:lnTo>
                  <a:pt x="266701" y="0"/>
                </a:lnTo>
                <a:cubicBezTo>
                  <a:pt x="308756" y="0"/>
                  <a:pt x="342900" y="34144"/>
                  <a:pt x="342900" y="76199"/>
                </a:cubicBezTo>
                <a:lnTo>
                  <a:pt x="342900" y="266701"/>
                </a:lnTo>
                <a:cubicBezTo>
                  <a:pt x="342900" y="308756"/>
                  <a:pt x="308756" y="342900"/>
                  <a:pt x="266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" y="39051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3847981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核心根因：责任与角色双重缺位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4267081"/>
            <a:ext cx="5353050" cy="1028700"/>
          </a:xfrm>
          <a:custGeom>
            <a:avLst/>
            <a:gdLst/>
            <a:ahLst/>
            <a:cxnLst/>
            <a:rect l="l" t="t" r="r" b="b"/>
            <a:pathLst>
              <a:path w="5353050" h="1028700">
                <a:moveTo>
                  <a:pt x="76196" y="0"/>
                </a:moveTo>
                <a:lnTo>
                  <a:pt x="5276854" y="0"/>
                </a:lnTo>
                <a:cubicBezTo>
                  <a:pt x="5318936" y="0"/>
                  <a:pt x="5353050" y="34114"/>
                  <a:pt x="5353050" y="76196"/>
                </a:cubicBezTo>
                <a:lnTo>
                  <a:pt x="5353050" y="952504"/>
                </a:lnTo>
                <a:cubicBezTo>
                  <a:pt x="5353050" y="994586"/>
                  <a:pt x="5318936" y="1028700"/>
                  <a:pt x="527685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6275" y="441948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438138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项目经理层面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" y="4686181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权责不清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，缺乏清晰执行指引，未切实承担流程推进责任，导致关键环节执行缺位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3400" y="5371981"/>
            <a:ext cx="5353050" cy="781050"/>
          </a:xfrm>
          <a:custGeom>
            <a:avLst/>
            <a:gdLst/>
            <a:ahLst/>
            <a:cxnLst/>
            <a:rect l="l" t="t" r="r" b="b"/>
            <a:pathLst>
              <a:path w="5353050" h="78105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704851"/>
                </a:lnTo>
                <a:cubicBezTo>
                  <a:pt x="5353050" y="746934"/>
                  <a:pt x="5318934" y="781050"/>
                  <a:pt x="527685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7700" y="552438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5486281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关键角色层面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700" y="5791081"/>
            <a:ext cx="520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铁三角及相关核心角色</a:t>
            </a: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未深入前端MO流程，提拉、支持作用未充分发挥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53150" y="3657481"/>
            <a:ext cx="5657850" cy="2647950"/>
          </a:xfrm>
          <a:custGeom>
            <a:avLst/>
            <a:gdLst/>
            <a:ahLst/>
            <a:cxnLst/>
            <a:rect l="l" t="t" r="r" b="b"/>
            <a:pathLst>
              <a:path w="5657850" h="2647950">
                <a:moveTo>
                  <a:pt x="114312" y="0"/>
                </a:moveTo>
                <a:lnTo>
                  <a:pt x="5543538" y="0"/>
                </a:lnTo>
                <a:cubicBezTo>
                  <a:pt x="5606671" y="0"/>
                  <a:pt x="5657850" y="51179"/>
                  <a:pt x="5657850" y="114312"/>
                </a:cubicBezTo>
                <a:lnTo>
                  <a:pt x="5657850" y="2533638"/>
                </a:lnTo>
                <a:cubicBezTo>
                  <a:pt x="5657850" y="2596771"/>
                  <a:pt x="5606671" y="2647950"/>
                  <a:pt x="5543538" y="2647950"/>
                </a:cubicBezTo>
                <a:lnTo>
                  <a:pt x="114312" y="2647950"/>
                </a:lnTo>
                <a:cubicBezTo>
                  <a:pt x="51179" y="2647950"/>
                  <a:pt x="0" y="2596771"/>
                  <a:pt x="0" y="2533638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5550" y="3809881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76199" y="0"/>
                </a:moveTo>
                <a:lnTo>
                  <a:pt x="266701" y="0"/>
                </a:lnTo>
                <a:cubicBezTo>
                  <a:pt x="308756" y="0"/>
                  <a:pt x="342900" y="34144"/>
                  <a:pt x="342900" y="76199"/>
                </a:cubicBezTo>
                <a:lnTo>
                  <a:pt x="342900" y="266701"/>
                </a:lnTo>
                <a:cubicBezTo>
                  <a:pt x="342900" y="308756"/>
                  <a:pt x="308756" y="342900"/>
                  <a:pt x="2667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6" name="Shape 44"/>
          <p:cNvSpPr/>
          <p:nvPr/>
        </p:nvSpPr>
        <p:spPr>
          <a:xfrm>
            <a:off x="6400800" y="39051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724650" y="3847981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业务质量衍生痛点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600" y="426708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9" name="Shape 47"/>
          <p:cNvSpPr/>
          <p:nvPr/>
        </p:nvSpPr>
        <p:spPr>
          <a:xfrm>
            <a:off x="6496050" y="432423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0" name="Text 48"/>
          <p:cNvSpPr/>
          <p:nvPr/>
        </p:nvSpPr>
        <p:spPr>
          <a:xfrm>
            <a:off x="6724650" y="4305181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方案质量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4650" y="4552831"/>
            <a:ext cx="419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解决方案与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客户需求、公司价值主张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匹配度不足，缺乏竞争力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4600" y="487668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493383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4" name="Text 52"/>
          <p:cNvSpPr/>
          <p:nvPr/>
        </p:nvSpPr>
        <p:spPr>
          <a:xfrm>
            <a:off x="6724650" y="4914781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盈利与中标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24650" y="5162431"/>
            <a:ext cx="4495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价格策略有效性低，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中标率、毛利率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双承压，影响业务可持续发展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24600" y="5486281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7" name="Shape 55"/>
          <p:cNvSpPr/>
          <p:nvPr/>
        </p:nvSpPr>
        <p:spPr>
          <a:xfrm>
            <a:off x="6457950" y="5543431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23825" y="9525"/>
                </a:lnTo>
                <a:cubicBezTo>
                  <a:pt x="134332" y="9525"/>
                  <a:pt x="142875" y="18068"/>
                  <a:pt x="142875" y="28575"/>
                </a:cubicBezTo>
                <a:lnTo>
                  <a:pt x="142875" y="38100"/>
                </a:lnTo>
                <a:lnTo>
                  <a:pt x="157966" y="38100"/>
                </a:lnTo>
                <a:cubicBezTo>
                  <a:pt x="163026" y="38100"/>
                  <a:pt x="167878" y="40094"/>
                  <a:pt x="171450" y="43666"/>
                </a:cubicBezTo>
                <a:lnTo>
                  <a:pt x="184934" y="57150"/>
                </a:lnTo>
                <a:cubicBezTo>
                  <a:pt x="188506" y="60722"/>
                  <a:pt x="190500" y="65574"/>
                  <a:pt x="190500" y="70634"/>
                </a:cubicBezTo>
                <a:lnTo>
                  <a:pt x="190500" y="114300"/>
                </a:lnTo>
                <a:cubicBezTo>
                  <a:pt x="190500" y="124807"/>
                  <a:pt x="181957" y="133350"/>
                  <a:pt x="171450" y="133350"/>
                </a:cubicBezTo>
                <a:lnTo>
                  <a:pt x="170468" y="133350"/>
                </a:lnTo>
                <a:cubicBezTo>
                  <a:pt x="167372" y="144334"/>
                  <a:pt x="157252" y="152400"/>
                  <a:pt x="145256" y="152400"/>
                </a:cubicBezTo>
                <a:cubicBezTo>
                  <a:pt x="133261" y="152400"/>
                  <a:pt x="123170" y="144334"/>
                  <a:pt x="120045" y="133350"/>
                </a:cubicBezTo>
                <a:lnTo>
                  <a:pt x="89505" y="133350"/>
                </a:lnTo>
                <a:cubicBezTo>
                  <a:pt x="86410" y="144334"/>
                  <a:pt x="76289" y="152400"/>
                  <a:pt x="64294" y="152400"/>
                </a:cubicBezTo>
                <a:cubicBezTo>
                  <a:pt x="52298" y="152400"/>
                  <a:pt x="42208" y="144334"/>
                  <a:pt x="39082" y="133350"/>
                </a:cubicBezTo>
                <a:lnTo>
                  <a:pt x="38100" y="133350"/>
                </a:lnTo>
                <a:cubicBezTo>
                  <a:pt x="27593" y="133350"/>
                  <a:pt x="19050" y="124807"/>
                  <a:pt x="19050" y="114300"/>
                </a:cubicBez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96828"/>
                  <a:pt x="0" y="92869"/>
                </a:cubicBezTo>
                <a:cubicBezTo>
                  <a:pt x="0" y="88910"/>
                  <a:pt x="3185" y="85725"/>
                  <a:pt x="7144" y="85725"/>
                </a:cubicBezTo>
                <a:lnTo>
                  <a:pt x="40481" y="85725"/>
                </a:lnTo>
                <a:cubicBezTo>
                  <a:pt x="44440" y="85725"/>
                  <a:pt x="47625" y="82540"/>
                  <a:pt x="47625" y="78581"/>
                </a:cubicBezTo>
                <a:cubicBezTo>
                  <a:pt x="47625" y="74622"/>
                  <a:pt x="44440" y="71438"/>
                  <a:pt x="40481" y="71438"/>
                </a:cubicBezTo>
                <a:lnTo>
                  <a:pt x="7144" y="71438"/>
                </a:lnTo>
                <a:cubicBezTo>
                  <a:pt x="3185" y="71438"/>
                  <a:pt x="0" y="68253"/>
                  <a:pt x="0" y="64294"/>
                </a:cubicBezTo>
                <a:cubicBezTo>
                  <a:pt x="0" y="60335"/>
                  <a:pt x="3185" y="57150"/>
                  <a:pt x="7144" y="57150"/>
                </a:cubicBezTo>
                <a:lnTo>
                  <a:pt x="59531" y="57150"/>
                </a:lnTo>
                <a:cubicBezTo>
                  <a:pt x="63490" y="57150"/>
                  <a:pt x="66675" y="53965"/>
                  <a:pt x="66675" y="50006"/>
                </a:cubicBezTo>
                <a:cubicBezTo>
                  <a:pt x="66675" y="46047"/>
                  <a:pt x="63490" y="42863"/>
                  <a:pt x="59531" y="42863"/>
                </a:cubicBezTo>
                <a:lnTo>
                  <a:pt x="7144" y="42863"/>
                </a:lnTo>
                <a:cubicBezTo>
                  <a:pt x="3185" y="42863"/>
                  <a:pt x="0" y="39678"/>
                  <a:pt x="0" y="35719"/>
                </a:cubicBezTo>
                <a:cubicBezTo>
                  <a:pt x="0" y="31760"/>
                  <a:pt x="3185" y="28575"/>
                  <a:pt x="7144" y="28575"/>
                </a:cubicBezTo>
                <a:lnTo>
                  <a:pt x="19050" y="28575"/>
                </a:lnTo>
                <a:close/>
                <a:moveTo>
                  <a:pt x="171450" y="85725"/>
                </a:moveTo>
                <a:lnTo>
                  <a:pt x="171450" y="70634"/>
                </a:lnTo>
                <a:lnTo>
                  <a:pt x="157966" y="57150"/>
                </a:lnTo>
                <a:lnTo>
                  <a:pt x="142875" y="57150"/>
                </a:lnTo>
                <a:lnTo>
                  <a:pt x="142875" y="85725"/>
                </a:lnTo>
                <a:lnTo>
                  <a:pt x="171450" y="85725"/>
                </a:lnTo>
                <a:close/>
                <a:moveTo>
                  <a:pt x="76200" y="126206"/>
                </a:moveTo>
                <a:cubicBezTo>
                  <a:pt x="76200" y="119635"/>
                  <a:pt x="70865" y="114300"/>
                  <a:pt x="64294" y="114300"/>
                </a:cubicBezTo>
                <a:cubicBezTo>
                  <a:pt x="57723" y="114300"/>
                  <a:pt x="52388" y="119635"/>
                  <a:pt x="52388" y="126206"/>
                </a:cubicBezTo>
                <a:cubicBezTo>
                  <a:pt x="52388" y="132777"/>
                  <a:pt x="57723" y="138113"/>
                  <a:pt x="64294" y="138113"/>
                </a:cubicBezTo>
                <a:cubicBezTo>
                  <a:pt x="70865" y="138113"/>
                  <a:pt x="76200" y="132777"/>
                  <a:pt x="76200" y="126206"/>
                </a:cubicBezTo>
                <a:close/>
                <a:moveTo>
                  <a:pt x="145256" y="138113"/>
                </a:moveTo>
                <a:cubicBezTo>
                  <a:pt x="151827" y="138113"/>
                  <a:pt x="157163" y="132777"/>
                  <a:pt x="157163" y="126206"/>
                </a:cubicBezTo>
                <a:cubicBezTo>
                  <a:pt x="157163" y="119635"/>
                  <a:pt x="151827" y="114300"/>
                  <a:pt x="145256" y="114300"/>
                </a:cubicBezTo>
                <a:cubicBezTo>
                  <a:pt x="138685" y="114300"/>
                  <a:pt x="133350" y="119635"/>
                  <a:pt x="133350" y="126206"/>
                </a:cubicBezTo>
                <a:cubicBezTo>
                  <a:pt x="133350" y="132777"/>
                  <a:pt x="138685" y="138113"/>
                  <a:pt x="145256" y="138113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8" name="Text 56"/>
          <p:cNvSpPr/>
          <p:nvPr/>
        </p:nvSpPr>
        <p:spPr>
          <a:xfrm>
            <a:off x="6724650" y="5524381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交付保障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24650" y="5772031"/>
            <a:ext cx="4495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后端团队参与滞后，影响</a:t>
            </a:r>
            <a:r>
              <a:rPr lang="en-US" sz="120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供应、交付及产品质量</a:t>
            </a:r>
            <a:r>
              <a:rPr lang="en-US" sz="120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，降低客户满意度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303" y="365303"/>
            <a:ext cx="356171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50" dirty="0">
                <a:solidFill>
                  <a:srgbClr val="FBBC0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03-1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3484" y="447497"/>
            <a:ext cx="438364" cy="18265"/>
          </a:xfrm>
          <a:custGeom>
            <a:avLst/>
            <a:gdLst/>
            <a:ahLst/>
            <a:cxnLst/>
            <a:rect l="l" t="t" r="r" b="b"/>
            <a:pathLst>
              <a:path w="438364" h="18265">
                <a:moveTo>
                  <a:pt x="0" y="0"/>
                </a:moveTo>
                <a:lnTo>
                  <a:pt x="438364" y="0"/>
                </a:lnTo>
                <a:lnTo>
                  <a:pt x="438364" y="18265"/>
                </a:lnTo>
                <a:lnTo>
                  <a:pt x="0" y="18265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" name="Text 2"/>
          <p:cNvSpPr/>
          <p:nvPr/>
        </p:nvSpPr>
        <p:spPr>
          <a:xfrm>
            <a:off x="1311439" y="365303"/>
            <a:ext cx="1223766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SOLUTIONS 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303" y="621016"/>
            <a:ext cx="11598382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7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针对性优化对策（一）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303" y="986319"/>
            <a:ext cx="11534454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强化流程执行责任与角色管理，解决执行缺位核心问题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303" y="1278562"/>
            <a:ext cx="5662202" cy="4392773"/>
          </a:xfrm>
          <a:custGeom>
            <a:avLst/>
            <a:gdLst/>
            <a:ahLst/>
            <a:cxnLst/>
            <a:rect l="l" t="t" r="r" b="b"/>
            <a:pathLst>
              <a:path w="5662202" h="4392773">
                <a:moveTo>
                  <a:pt x="109600" y="0"/>
                </a:moveTo>
                <a:lnTo>
                  <a:pt x="5552603" y="0"/>
                </a:lnTo>
                <a:cubicBezTo>
                  <a:pt x="5613133" y="0"/>
                  <a:pt x="5662202" y="49069"/>
                  <a:pt x="5662202" y="109600"/>
                </a:cubicBezTo>
                <a:lnTo>
                  <a:pt x="5662202" y="4283173"/>
                </a:lnTo>
                <a:cubicBezTo>
                  <a:pt x="5662202" y="4343704"/>
                  <a:pt x="5613133" y="4392773"/>
                  <a:pt x="5552603" y="4392773"/>
                </a:cubicBezTo>
                <a:lnTo>
                  <a:pt x="109600" y="4392773"/>
                </a:lnTo>
                <a:cubicBezTo>
                  <a:pt x="49069" y="4392773"/>
                  <a:pt x="0" y="4343704"/>
                  <a:pt x="0" y="4283173"/>
                </a:cubicBezTo>
                <a:lnTo>
                  <a:pt x="0" y="109600"/>
                </a:lnTo>
                <a:cubicBezTo>
                  <a:pt x="0" y="49110"/>
                  <a:pt x="49110" y="0"/>
                  <a:pt x="109600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4796" dist="365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1425" y="1424683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73062" y="0"/>
                </a:moveTo>
                <a:lnTo>
                  <a:pt x="365302" y="0"/>
                </a:lnTo>
                <a:cubicBezTo>
                  <a:pt x="405653" y="0"/>
                  <a:pt x="438364" y="32711"/>
                  <a:pt x="438364" y="73062"/>
                </a:cubicBezTo>
                <a:lnTo>
                  <a:pt x="438364" y="365302"/>
                </a:lnTo>
                <a:cubicBezTo>
                  <a:pt x="438364" y="405653"/>
                  <a:pt x="405653" y="438364"/>
                  <a:pt x="365302" y="438364"/>
                </a:cubicBezTo>
                <a:lnTo>
                  <a:pt x="73062" y="438364"/>
                </a:lnTo>
                <a:cubicBezTo>
                  <a:pt x="32711" y="438364"/>
                  <a:pt x="0" y="405653"/>
                  <a:pt x="0" y="365302"/>
                </a:cubicBezTo>
                <a:lnTo>
                  <a:pt x="0" y="73062"/>
                </a:lnTo>
                <a:cubicBezTo>
                  <a:pt x="0" y="32738"/>
                  <a:pt x="32738" y="0"/>
                  <a:pt x="7306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2112" y="1552539"/>
            <a:ext cx="136989" cy="182652"/>
          </a:xfrm>
          <a:custGeom>
            <a:avLst/>
            <a:gdLst/>
            <a:ahLst/>
            <a:cxnLst/>
            <a:rect l="l" t="t" r="r" b="b"/>
            <a:pathLst>
              <a:path w="136989" h="182652">
                <a:moveTo>
                  <a:pt x="111089" y="11416"/>
                </a:moveTo>
                <a:lnTo>
                  <a:pt x="114157" y="11416"/>
                </a:lnTo>
                <a:cubicBezTo>
                  <a:pt x="126750" y="11416"/>
                  <a:pt x="136989" y="21654"/>
                  <a:pt x="136989" y="34247"/>
                </a:cubicBezTo>
                <a:lnTo>
                  <a:pt x="136989" y="159820"/>
                </a:lnTo>
                <a:cubicBezTo>
                  <a:pt x="136989" y="172413"/>
                  <a:pt x="126750" y="182652"/>
                  <a:pt x="114157" y="182652"/>
                </a:cubicBezTo>
                <a:lnTo>
                  <a:pt x="22831" y="182652"/>
                </a:lnTo>
                <a:cubicBezTo>
                  <a:pt x="10238" y="182652"/>
                  <a:pt x="0" y="172413"/>
                  <a:pt x="0" y="159820"/>
                </a:cubicBezTo>
                <a:lnTo>
                  <a:pt x="0" y="34247"/>
                </a:lnTo>
                <a:cubicBezTo>
                  <a:pt x="0" y="21654"/>
                  <a:pt x="10238" y="11416"/>
                  <a:pt x="22831" y="11416"/>
                </a:cubicBezTo>
                <a:lnTo>
                  <a:pt x="25899" y="11416"/>
                </a:lnTo>
                <a:cubicBezTo>
                  <a:pt x="29824" y="4602"/>
                  <a:pt x="37208" y="0"/>
                  <a:pt x="45663" y="0"/>
                </a:cubicBezTo>
                <a:lnTo>
                  <a:pt x="91326" y="0"/>
                </a:lnTo>
                <a:cubicBezTo>
                  <a:pt x="99781" y="0"/>
                  <a:pt x="107165" y="4602"/>
                  <a:pt x="111089" y="11416"/>
                </a:cubicBezTo>
                <a:close/>
                <a:moveTo>
                  <a:pt x="88472" y="39955"/>
                </a:moveTo>
                <a:cubicBezTo>
                  <a:pt x="93217" y="39955"/>
                  <a:pt x="97034" y="36138"/>
                  <a:pt x="97034" y="31393"/>
                </a:cubicBezTo>
                <a:cubicBezTo>
                  <a:pt x="97034" y="26649"/>
                  <a:pt x="93217" y="22831"/>
                  <a:pt x="88472" y="22831"/>
                </a:cubicBezTo>
                <a:lnTo>
                  <a:pt x="48517" y="22831"/>
                </a:lnTo>
                <a:cubicBezTo>
                  <a:pt x="43772" y="22831"/>
                  <a:pt x="39955" y="26649"/>
                  <a:pt x="39955" y="31393"/>
                </a:cubicBezTo>
                <a:cubicBezTo>
                  <a:pt x="39955" y="36138"/>
                  <a:pt x="43772" y="39955"/>
                  <a:pt x="48517" y="39955"/>
                </a:cubicBezTo>
                <a:lnTo>
                  <a:pt x="88472" y="39955"/>
                </a:lnTo>
                <a:close/>
                <a:moveTo>
                  <a:pt x="45663" y="91326"/>
                </a:moveTo>
                <a:cubicBezTo>
                  <a:pt x="45663" y="85025"/>
                  <a:pt x="40548" y="79910"/>
                  <a:pt x="34247" y="79910"/>
                </a:cubicBezTo>
                <a:cubicBezTo>
                  <a:pt x="27947" y="79910"/>
                  <a:pt x="22831" y="85025"/>
                  <a:pt x="22831" y="91326"/>
                </a:cubicBezTo>
                <a:cubicBezTo>
                  <a:pt x="22831" y="97626"/>
                  <a:pt x="27947" y="102742"/>
                  <a:pt x="34247" y="102742"/>
                </a:cubicBezTo>
                <a:cubicBezTo>
                  <a:pt x="40548" y="102742"/>
                  <a:pt x="45663" y="97626"/>
                  <a:pt x="45663" y="91326"/>
                </a:cubicBezTo>
                <a:close/>
                <a:moveTo>
                  <a:pt x="57079" y="91326"/>
                </a:moveTo>
                <a:cubicBezTo>
                  <a:pt x="57079" y="96071"/>
                  <a:pt x="60896" y="99888"/>
                  <a:pt x="65640" y="99888"/>
                </a:cubicBezTo>
                <a:lnTo>
                  <a:pt x="105596" y="99888"/>
                </a:lnTo>
                <a:cubicBezTo>
                  <a:pt x="110340" y="99888"/>
                  <a:pt x="114157" y="96071"/>
                  <a:pt x="114157" y="91326"/>
                </a:cubicBezTo>
                <a:cubicBezTo>
                  <a:pt x="114157" y="86581"/>
                  <a:pt x="110340" y="82764"/>
                  <a:pt x="105596" y="82764"/>
                </a:cubicBezTo>
                <a:lnTo>
                  <a:pt x="65640" y="82764"/>
                </a:lnTo>
                <a:cubicBezTo>
                  <a:pt x="60896" y="82764"/>
                  <a:pt x="57079" y="86581"/>
                  <a:pt x="57079" y="91326"/>
                </a:cubicBezTo>
                <a:close/>
                <a:moveTo>
                  <a:pt x="57079" y="136989"/>
                </a:moveTo>
                <a:cubicBezTo>
                  <a:pt x="57079" y="141733"/>
                  <a:pt x="60896" y="145551"/>
                  <a:pt x="65640" y="145551"/>
                </a:cubicBezTo>
                <a:lnTo>
                  <a:pt x="105596" y="145551"/>
                </a:lnTo>
                <a:cubicBezTo>
                  <a:pt x="110340" y="145551"/>
                  <a:pt x="114157" y="141733"/>
                  <a:pt x="114157" y="136989"/>
                </a:cubicBezTo>
                <a:cubicBezTo>
                  <a:pt x="114157" y="132244"/>
                  <a:pt x="110340" y="128427"/>
                  <a:pt x="105596" y="128427"/>
                </a:cubicBezTo>
                <a:lnTo>
                  <a:pt x="65640" y="128427"/>
                </a:lnTo>
                <a:cubicBezTo>
                  <a:pt x="60896" y="128427"/>
                  <a:pt x="57079" y="132244"/>
                  <a:pt x="57079" y="136989"/>
                </a:cubicBezTo>
                <a:close/>
                <a:moveTo>
                  <a:pt x="34247" y="148404"/>
                </a:moveTo>
                <a:cubicBezTo>
                  <a:pt x="40548" y="148404"/>
                  <a:pt x="45663" y="143289"/>
                  <a:pt x="45663" y="136989"/>
                </a:cubicBezTo>
                <a:cubicBezTo>
                  <a:pt x="45663" y="130688"/>
                  <a:pt x="40548" y="125573"/>
                  <a:pt x="34247" y="125573"/>
                </a:cubicBezTo>
                <a:cubicBezTo>
                  <a:pt x="27947" y="125573"/>
                  <a:pt x="22831" y="130688"/>
                  <a:pt x="22831" y="136989"/>
                </a:cubicBezTo>
                <a:cubicBezTo>
                  <a:pt x="22831" y="143289"/>
                  <a:pt x="27947" y="148404"/>
                  <a:pt x="34247" y="14840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1059380" y="1516009"/>
            <a:ext cx="191784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明确项目经理权责清单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1425" y="1972638"/>
            <a:ext cx="5369960" cy="986319"/>
          </a:xfrm>
          <a:custGeom>
            <a:avLst/>
            <a:gdLst/>
            <a:ahLst/>
            <a:cxnLst/>
            <a:rect l="l" t="t" r="r" b="b"/>
            <a:pathLst>
              <a:path w="5369960" h="986319">
                <a:moveTo>
                  <a:pt x="73057" y="0"/>
                </a:moveTo>
                <a:lnTo>
                  <a:pt x="5296903" y="0"/>
                </a:lnTo>
                <a:cubicBezTo>
                  <a:pt x="5337251" y="0"/>
                  <a:pt x="5369960" y="32709"/>
                  <a:pt x="5369960" y="73057"/>
                </a:cubicBezTo>
                <a:lnTo>
                  <a:pt x="5369960" y="913262"/>
                </a:lnTo>
                <a:cubicBezTo>
                  <a:pt x="5369960" y="953611"/>
                  <a:pt x="5337251" y="986319"/>
                  <a:pt x="529690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39281" y="2118760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73061" y="146121"/>
                </a:moveTo>
                <a:cubicBezTo>
                  <a:pt x="113384" y="146121"/>
                  <a:pt x="146121" y="113384"/>
                  <a:pt x="146121" y="73061"/>
                </a:cubicBezTo>
                <a:cubicBezTo>
                  <a:pt x="146121" y="32737"/>
                  <a:pt x="113384" y="0"/>
                  <a:pt x="73061" y="0"/>
                </a:cubicBezTo>
                <a:cubicBezTo>
                  <a:pt x="32737" y="0"/>
                  <a:pt x="0" y="32737"/>
                  <a:pt x="0" y="73061"/>
                </a:cubicBezTo>
                <a:cubicBezTo>
                  <a:pt x="0" y="113384"/>
                  <a:pt x="32737" y="146121"/>
                  <a:pt x="73061" y="146121"/>
                </a:cubicBezTo>
                <a:close/>
                <a:moveTo>
                  <a:pt x="97148" y="60703"/>
                </a:moveTo>
                <a:lnTo>
                  <a:pt x="74316" y="97233"/>
                </a:lnTo>
                <a:cubicBezTo>
                  <a:pt x="73118" y="99146"/>
                  <a:pt x="71063" y="100344"/>
                  <a:pt x="68808" y="100458"/>
                </a:cubicBezTo>
                <a:cubicBezTo>
                  <a:pt x="66554" y="100573"/>
                  <a:pt x="64385" y="99545"/>
                  <a:pt x="63043" y="97719"/>
                </a:cubicBezTo>
                <a:lnTo>
                  <a:pt x="49344" y="79453"/>
                </a:lnTo>
                <a:cubicBezTo>
                  <a:pt x="47061" y="76428"/>
                  <a:pt x="47689" y="72147"/>
                  <a:pt x="50714" y="69864"/>
                </a:cubicBezTo>
                <a:cubicBezTo>
                  <a:pt x="53740" y="67581"/>
                  <a:pt x="58020" y="68209"/>
                  <a:pt x="60304" y="71234"/>
                </a:cubicBezTo>
                <a:lnTo>
                  <a:pt x="68009" y="81508"/>
                </a:lnTo>
                <a:lnTo>
                  <a:pt x="85532" y="53454"/>
                </a:lnTo>
                <a:cubicBezTo>
                  <a:pt x="87530" y="50258"/>
                  <a:pt x="91754" y="49259"/>
                  <a:pt x="94979" y="51285"/>
                </a:cubicBezTo>
                <a:cubicBezTo>
                  <a:pt x="98204" y="53311"/>
                  <a:pt x="99174" y="57507"/>
                  <a:pt x="97148" y="60732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876728" y="2082229"/>
            <a:ext cx="1095910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标准化执行手册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016" y="2374472"/>
            <a:ext cx="5223838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</a:t>
            </a:r>
            <a:r>
              <a:rPr lang="en-US" sz="1151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项目经理标准化执行手册（SOP</a:t>
            </a:r>
            <a:r>
              <a:rPr lang="en-US" sz="1151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）</a:t>
            </a:r>
            <a:r>
              <a:rPr lang="en-US" sz="115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15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详细界定四大核心会议的召开标准</a:t>
            </a:r>
            <a:r>
              <a:rPr lang="en-US" sz="115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、参与人员、输出成果，确保执行有章可循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425" y="3032018"/>
            <a:ext cx="5369960" cy="986319"/>
          </a:xfrm>
          <a:custGeom>
            <a:avLst/>
            <a:gdLst/>
            <a:ahLst/>
            <a:cxnLst/>
            <a:rect l="l" t="t" r="r" b="b"/>
            <a:pathLst>
              <a:path w="5369960" h="986319">
                <a:moveTo>
                  <a:pt x="73057" y="0"/>
                </a:moveTo>
                <a:lnTo>
                  <a:pt x="5296903" y="0"/>
                </a:lnTo>
                <a:cubicBezTo>
                  <a:pt x="5337251" y="0"/>
                  <a:pt x="5369960" y="32709"/>
                  <a:pt x="5369960" y="73057"/>
                </a:cubicBezTo>
                <a:lnTo>
                  <a:pt x="5369960" y="913262"/>
                </a:lnTo>
                <a:cubicBezTo>
                  <a:pt x="5369960" y="953611"/>
                  <a:pt x="5337251" y="986319"/>
                  <a:pt x="529690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9281" y="3178139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73061" y="146121"/>
                </a:moveTo>
                <a:cubicBezTo>
                  <a:pt x="113384" y="146121"/>
                  <a:pt x="146121" y="113384"/>
                  <a:pt x="146121" y="73061"/>
                </a:cubicBezTo>
                <a:cubicBezTo>
                  <a:pt x="146121" y="32737"/>
                  <a:pt x="113384" y="0"/>
                  <a:pt x="73061" y="0"/>
                </a:cubicBezTo>
                <a:cubicBezTo>
                  <a:pt x="32737" y="0"/>
                  <a:pt x="0" y="32737"/>
                  <a:pt x="0" y="73061"/>
                </a:cubicBezTo>
                <a:cubicBezTo>
                  <a:pt x="0" y="113384"/>
                  <a:pt x="32737" y="146121"/>
                  <a:pt x="73061" y="146121"/>
                </a:cubicBezTo>
                <a:close/>
                <a:moveTo>
                  <a:pt x="97148" y="60703"/>
                </a:moveTo>
                <a:lnTo>
                  <a:pt x="74316" y="97233"/>
                </a:lnTo>
                <a:cubicBezTo>
                  <a:pt x="73118" y="99146"/>
                  <a:pt x="71063" y="100344"/>
                  <a:pt x="68808" y="100458"/>
                </a:cubicBezTo>
                <a:cubicBezTo>
                  <a:pt x="66554" y="100573"/>
                  <a:pt x="64385" y="99545"/>
                  <a:pt x="63043" y="97719"/>
                </a:cubicBezTo>
                <a:lnTo>
                  <a:pt x="49344" y="79453"/>
                </a:lnTo>
                <a:cubicBezTo>
                  <a:pt x="47061" y="76428"/>
                  <a:pt x="47689" y="72147"/>
                  <a:pt x="50714" y="69864"/>
                </a:cubicBezTo>
                <a:cubicBezTo>
                  <a:pt x="53740" y="67581"/>
                  <a:pt x="58020" y="68209"/>
                  <a:pt x="60304" y="71234"/>
                </a:cubicBezTo>
                <a:lnTo>
                  <a:pt x="68009" y="81508"/>
                </a:lnTo>
                <a:lnTo>
                  <a:pt x="85532" y="53454"/>
                </a:lnTo>
                <a:cubicBezTo>
                  <a:pt x="87530" y="50258"/>
                  <a:pt x="91754" y="49259"/>
                  <a:pt x="94979" y="51285"/>
                </a:cubicBezTo>
                <a:cubicBezTo>
                  <a:pt x="98204" y="53311"/>
                  <a:pt x="99174" y="57507"/>
                  <a:pt x="97148" y="60732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876728" y="3141609"/>
            <a:ext cx="803667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权责清晰化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016" y="3433852"/>
            <a:ext cx="5223838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明确项目经理在MO流程中的</a:t>
            </a:r>
            <a:r>
              <a:rPr lang="en-US" sz="11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核心工作内容与考核标准</a:t>
            </a:r>
            <a:r>
              <a:rPr lang="en-US" sz="115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，包括节点推进、资源协调、质量把控等关键职责，建立问责机制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1425" y="4091398"/>
            <a:ext cx="5369960" cy="986319"/>
          </a:xfrm>
          <a:custGeom>
            <a:avLst/>
            <a:gdLst/>
            <a:ahLst/>
            <a:cxnLst/>
            <a:rect l="l" t="t" r="r" b="b"/>
            <a:pathLst>
              <a:path w="5369960" h="986319">
                <a:moveTo>
                  <a:pt x="73057" y="0"/>
                </a:moveTo>
                <a:lnTo>
                  <a:pt x="5296903" y="0"/>
                </a:lnTo>
                <a:cubicBezTo>
                  <a:pt x="5337251" y="0"/>
                  <a:pt x="5369960" y="32709"/>
                  <a:pt x="5369960" y="73057"/>
                </a:cubicBezTo>
                <a:lnTo>
                  <a:pt x="5369960" y="913262"/>
                </a:lnTo>
                <a:cubicBezTo>
                  <a:pt x="5369960" y="953611"/>
                  <a:pt x="5337251" y="986319"/>
                  <a:pt x="529690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9281" y="4237519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73061" y="146121"/>
                </a:moveTo>
                <a:cubicBezTo>
                  <a:pt x="113384" y="146121"/>
                  <a:pt x="146121" y="113384"/>
                  <a:pt x="146121" y="73061"/>
                </a:cubicBezTo>
                <a:cubicBezTo>
                  <a:pt x="146121" y="32737"/>
                  <a:pt x="113384" y="0"/>
                  <a:pt x="73061" y="0"/>
                </a:cubicBezTo>
                <a:cubicBezTo>
                  <a:pt x="32737" y="0"/>
                  <a:pt x="0" y="32737"/>
                  <a:pt x="0" y="73061"/>
                </a:cubicBezTo>
                <a:cubicBezTo>
                  <a:pt x="0" y="113384"/>
                  <a:pt x="32737" y="146121"/>
                  <a:pt x="73061" y="146121"/>
                </a:cubicBezTo>
                <a:close/>
                <a:moveTo>
                  <a:pt x="97148" y="60703"/>
                </a:moveTo>
                <a:lnTo>
                  <a:pt x="74316" y="97233"/>
                </a:lnTo>
                <a:cubicBezTo>
                  <a:pt x="73118" y="99146"/>
                  <a:pt x="71063" y="100344"/>
                  <a:pt x="68808" y="100458"/>
                </a:cubicBezTo>
                <a:cubicBezTo>
                  <a:pt x="66554" y="100573"/>
                  <a:pt x="64385" y="99545"/>
                  <a:pt x="63043" y="97719"/>
                </a:cubicBezTo>
                <a:lnTo>
                  <a:pt x="49344" y="79453"/>
                </a:lnTo>
                <a:cubicBezTo>
                  <a:pt x="47061" y="76428"/>
                  <a:pt x="47689" y="72147"/>
                  <a:pt x="50714" y="69864"/>
                </a:cubicBezTo>
                <a:cubicBezTo>
                  <a:pt x="53740" y="67581"/>
                  <a:pt x="58020" y="68209"/>
                  <a:pt x="60304" y="71234"/>
                </a:cubicBezTo>
                <a:lnTo>
                  <a:pt x="68009" y="81508"/>
                </a:lnTo>
                <a:lnTo>
                  <a:pt x="85532" y="53454"/>
                </a:lnTo>
                <a:cubicBezTo>
                  <a:pt x="87530" y="50258"/>
                  <a:pt x="91754" y="49259"/>
                  <a:pt x="94979" y="51285"/>
                </a:cubicBezTo>
                <a:cubicBezTo>
                  <a:pt x="98204" y="53311"/>
                  <a:pt x="99174" y="57507"/>
                  <a:pt x="97148" y="60732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1" name="Text 19"/>
          <p:cNvSpPr/>
          <p:nvPr/>
        </p:nvSpPr>
        <p:spPr>
          <a:xfrm>
            <a:off x="876728" y="4200989"/>
            <a:ext cx="803667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运转群机制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016" y="4493231"/>
            <a:ext cx="5223838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组建项目经理运转群</a:t>
            </a:r>
            <a:r>
              <a:rPr lang="en-US" sz="115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，定期同步项目进展、分享最佳实践、解决执行难题，形成横向协同与学习平台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1425" y="5190961"/>
            <a:ext cx="5369960" cy="7306"/>
          </a:xfrm>
          <a:custGeom>
            <a:avLst/>
            <a:gdLst/>
            <a:ahLst/>
            <a:cxnLst/>
            <a:rect l="l" t="t" r="r" b="b"/>
            <a:pathLst>
              <a:path w="5369960" h="7306">
                <a:moveTo>
                  <a:pt x="0" y="0"/>
                </a:moveTo>
                <a:lnTo>
                  <a:pt x="5369960" y="0"/>
                </a:lnTo>
                <a:lnTo>
                  <a:pt x="5369960" y="7306"/>
                </a:lnTo>
                <a:lnTo>
                  <a:pt x="0" y="73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29690" y="5340736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18807" y="65212"/>
                </a:moveTo>
                <a:cubicBezTo>
                  <a:pt x="22603" y="38671"/>
                  <a:pt x="45463" y="18265"/>
                  <a:pt x="73061" y="18265"/>
                </a:cubicBezTo>
                <a:cubicBezTo>
                  <a:pt x="88187" y="18265"/>
                  <a:pt x="101885" y="24401"/>
                  <a:pt x="111817" y="34304"/>
                </a:cubicBezTo>
                <a:cubicBezTo>
                  <a:pt x="111874" y="34361"/>
                  <a:pt x="111931" y="34418"/>
                  <a:pt x="111988" y="34476"/>
                </a:cubicBezTo>
                <a:lnTo>
                  <a:pt x="114157" y="36530"/>
                </a:lnTo>
                <a:lnTo>
                  <a:pt x="100487" y="36530"/>
                </a:lnTo>
                <a:cubicBezTo>
                  <a:pt x="95436" y="36530"/>
                  <a:pt x="91354" y="40611"/>
                  <a:pt x="91354" y="45663"/>
                </a:cubicBezTo>
                <a:cubicBezTo>
                  <a:pt x="91354" y="50714"/>
                  <a:pt x="95436" y="54796"/>
                  <a:pt x="100487" y="54796"/>
                </a:cubicBezTo>
                <a:lnTo>
                  <a:pt x="137017" y="54796"/>
                </a:lnTo>
                <a:cubicBezTo>
                  <a:pt x="142069" y="54796"/>
                  <a:pt x="146150" y="50714"/>
                  <a:pt x="146150" y="45663"/>
                </a:cubicBezTo>
                <a:lnTo>
                  <a:pt x="146150" y="9133"/>
                </a:lnTo>
                <a:cubicBezTo>
                  <a:pt x="146150" y="4081"/>
                  <a:pt x="142069" y="0"/>
                  <a:pt x="137017" y="0"/>
                </a:cubicBezTo>
                <a:cubicBezTo>
                  <a:pt x="131966" y="0"/>
                  <a:pt x="127885" y="4081"/>
                  <a:pt x="127885" y="9133"/>
                </a:cubicBezTo>
                <a:lnTo>
                  <a:pt x="127885" y="24373"/>
                </a:lnTo>
                <a:lnTo>
                  <a:pt x="124660" y="21319"/>
                </a:lnTo>
                <a:cubicBezTo>
                  <a:pt x="111446" y="8162"/>
                  <a:pt x="93181" y="0"/>
                  <a:pt x="73061" y="0"/>
                </a:cubicBezTo>
                <a:cubicBezTo>
                  <a:pt x="36245" y="0"/>
                  <a:pt x="5793" y="27227"/>
                  <a:pt x="742" y="62644"/>
                </a:cubicBezTo>
                <a:cubicBezTo>
                  <a:pt x="29" y="67638"/>
                  <a:pt x="3482" y="72262"/>
                  <a:pt x="8476" y="72975"/>
                </a:cubicBezTo>
                <a:cubicBezTo>
                  <a:pt x="13471" y="73689"/>
                  <a:pt x="18094" y="70207"/>
                  <a:pt x="18807" y="65241"/>
                </a:cubicBezTo>
                <a:close/>
                <a:moveTo>
                  <a:pt x="145379" y="83478"/>
                </a:moveTo>
                <a:cubicBezTo>
                  <a:pt x="146093" y="78483"/>
                  <a:pt x="142611" y="73860"/>
                  <a:pt x="137645" y="73146"/>
                </a:cubicBezTo>
                <a:cubicBezTo>
                  <a:pt x="132679" y="72433"/>
                  <a:pt x="128027" y="75915"/>
                  <a:pt x="127314" y="80880"/>
                </a:cubicBezTo>
                <a:cubicBezTo>
                  <a:pt x="123518" y="107422"/>
                  <a:pt x="100658" y="127828"/>
                  <a:pt x="73061" y="127828"/>
                </a:cubicBezTo>
                <a:cubicBezTo>
                  <a:pt x="57935" y="127828"/>
                  <a:pt x="44236" y="121692"/>
                  <a:pt x="34304" y="111789"/>
                </a:cubicBezTo>
                <a:cubicBezTo>
                  <a:pt x="34247" y="111731"/>
                  <a:pt x="34190" y="111674"/>
                  <a:pt x="34133" y="111617"/>
                </a:cubicBezTo>
                <a:lnTo>
                  <a:pt x="31964" y="109562"/>
                </a:lnTo>
                <a:lnTo>
                  <a:pt x="45634" y="109562"/>
                </a:lnTo>
                <a:cubicBezTo>
                  <a:pt x="50686" y="109562"/>
                  <a:pt x="54767" y="105481"/>
                  <a:pt x="54767" y="100430"/>
                </a:cubicBezTo>
                <a:cubicBezTo>
                  <a:pt x="54767" y="95378"/>
                  <a:pt x="50686" y="91297"/>
                  <a:pt x="45634" y="91297"/>
                </a:cubicBezTo>
                <a:lnTo>
                  <a:pt x="9133" y="91326"/>
                </a:lnTo>
                <a:cubicBezTo>
                  <a:pt x="6707" y="91326"/>
                  <a:pt x="4367" y="92296"/>
                  <a:pt x="2654" y="94037"/>
                </a:cubicBezTo>
                <a:cubicBezTo>
                  <a:pt x="942" y="95778"/>
                  <a:pt x="-29" y="98090"/>
                  <a:pt x="0" y="100544"/>
                </a:cubicBezTo>
                <a:lnTo>
                  <a:pt x="285" y="136789"/>
                </a:lnTo>
                <a:cubicBezTo>
                  <a:pt x="314" y="141840"/>
                  <a:pt x="4452" y="145893"/>
                  <a:pt x="9504" y="145836"/>
                </a:cubicBezTo>
                <a:cubicBezTo>
                  <a:pt x="14555" y="145779"/>
                  <a:pt x="18608" y="141669"/>
                  <a:pt x="18551" y="136618"/>
                </a:cubicBezTo>
                <a:lnTo>
                  <a:pt x="18436" y="121920"/>
                </a:lnTo>
                <a:lnTo>
                  <a:pt x="21490" y="124802"/>
                </a:lnTo>
                <a:cubicBezTo>
                  <a:pt x="34704" y="137959"/>
                  <a:pt x="52940" y="146121"/>
                  <a:pt x="73061" y="146121"/>
                </a:cubicBezTo>
                <a:cubicBezTo>
                  <a:pt x="109876" y="146121"/>
                  <a:pt x="140328" y="118895"/>
                  <a:pt x="145379" y="83478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767137" y="5304205"/>
            <a:ext cx="3433852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预期效果：项目经理从被动执行者转变为主动推进者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9517" y="1278562"/>
            <a:ext cx="5662202" cy="4392773"/>
          </a:xfrm>
          <a:custGeom>
            <a:avLst/>
            <a:gdLst/>
            <a:ahLst/>
            <a:cxnLst/>
            <a:rect l="l" t="t" r="r" b="b"/>
            <a:pathLst>
              <a:path w="5662202" h="4392773">
                <a:moveTo>
                  <a:pt x="109600" y="0"/>
                </a:moveTo>
                <a:lnTo>
                  <a:pt x="5552603" y="0"/>
                </a:lnTo>
                <a:cubicBezTo>
                  <a:pt x="5613133" y="0"/>
                  <a:pt x="5662202" y="49069"/>
                  <a:pt x="5662202" y="109600"/>
                </a:cubicBezTo>
                <a:lnTo>
                  <a:pt x="5662202" y="4283173"/>
                </a:lnTo>
                <a:cubicBezTo>
                  <a:pt x="5662202" y="4343704"/>
                  <a:pt x="5613133" y="4392773"/>
                  <a:pt x="5552603" y="4392773"/>
                </a:cubicBezTo>
                <a:lnTo>
                  <a:pt x="109600" y="4392773"/>
                </a:lnTo>
                <a:cubicBezTo>
                  <a:pt x="49069" y="4392773"/>
                  <a:pt x="0" y="4343704"/>
                  <a:pt x="0" y="4283173"/>
                </a:cubicBezTo>
                <a:lnTo>
                  <a:pt x="0" y="109600"/>
                </a:lnTo>
                <a:cubicBezTo>
                  <a:pt x="0" y="49110"/>
                  <a:pt x="49110" y="0"/>
                  <a:pt x="1096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96" dist="3653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15639" y="1424683"/>
            <a:ext cx="438364" cy="438364"/>
          </a:xfrm>
          <a:custGeom>
            <a:avLst/>
            <a:gdLst/>
            <a:ahLst/>
            <a:cxnLst/>
            <a:rect l="l" t="t" r="r" b="b"/>
            <a:pathLst>
              <a:path w="438364" h="438364">
                <a:moveTo>
                  <a:pt x="73062" y="0"/>
                </a:moveTo>
                <a:lnTo>
                  <a:pt x="365302" y="0"/>
                </a:lnTo>
                <a:cubicBezTo>
                  <a:pt x="405653" y="0"/>
                  <a:pt x="438364" y="32711"/>
                  <a:pt x="438364" y="73062"/>
                </a:cubicBezTo>
                <a:lnTo>
                  <a:pt x="438364" y="365302"/>
                </a:lnTo>
                <a:cubicBezTo>
                  <a:pt x="438364" y="405653"/>
                  <a:pt x="405653" y="438364"/>
                  <a:pt x="365302" y="438364"/>
                </a:cubicBezTo>
                <a:lnTo>
                  <a:pt x="73062" y="438364"/>
                </a:lnTo>
                <a:cubicBezTo>
                  <a:pt x="32711" y="438364"/>
                  <a:pt x="0" y="405653"/>
                  <a:pt x="0" y="365302"/>
                </a:cubicBezTo>
                <a:lnTo>
                  <a:pt x="0" y="73062"/>
                </a:lnTo>
                <a:cubicBezTo>
                  <a:pt x="0" y="32738"/>
                  <a:pt x="32738" y="0"/>
                  <a:pt x="73062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20663" y="1552539"/>
            <a:ext cx="228315" cy="182652"/>
          </a:xfrm>
          <a:custGeom>
            <a:avLst/>
            <a:gdLst/>
            <a:ahLst/>
            <a:cxnLst/>
            <a:rect l="l" t="t" r="r" b="b"/>
            <a:pathLst>
              <a:path w="228315" h="182652">
                <a:moveTo>
                  <a:pt x="114157" y="79910"/>
                </a:moveTo>
                <a:cubicBezTo>
                  <a:pt x="134634" y="79910"/>
                  <a:pt x="151258" y="63286"/>
                  <a:pt x="151258" y="42809"/>
                </a:cubicBezTo>
                <a:cubicBezTo>
                  <a:pt x="151258" y="22332"/>
                  <a:pt x="134634" y="5708"/>
                  <a:pt x="114157" y="5708"/>
                </a:cubicBezTo>
                <a:cubicBezTo>
                  <a:pt x="93681" y="5708"/>
                  <a:pt x="77056" y="22332"/>
                  <a:pt x="77056" y="42809"/>
                </a:cubicBezTo>
                <a:cubicBezTo>
                  <a:pt x="77056" y="63286"/>
                  <a:pt x="93681" y="79910"/>
                  <a:pt x="114157" y="79910"/>
                </a:cubicBezTo>
                <a:close/>
                <a:moveTo>
                  <a:pt x="34247" y="82764"/>
                </a:moveTo>
                <a:cubicBezTo>
                  <a:pt x="48423" y="82764"/>
                  <a:pt x="59933" y="71255"/>
                  <a:pt x="59933" y="57079"/>
                </a:cubicBezTo>
                <a:cubicBezTo>
                  <a:pt x="59933" y="42902"/>
                  <a:pt x="48423" y="31393"/>
                  <a:pt x="34247" y="31393"/>
                </a:cubicBezTo>
                <a:cubicBezTo>
                  <a:pt x="20071" y="31393"/>
                  <a:pt x="8562" y="42902"/>
                  <a:pt x="8562" y="57079"/>
                </a:cubicBezTo>
                <a:cubicBezTo>
                  <a:pt x="8562" y="71255"/>
                  <a:pt x="20071" y="82764"/>
                  <a:pt x="34247" y="82764"/>
                </a:cubicBezTo>
                <a:close/>
                <a:moveTo>
                  <a:pt x="0" y="148404"/>
                </a:moveTo>
                <a:lnTo>
                  <a:pt x="0" y="159820"/>
                </a:lnTo>
                <a:cubicBezTo>
                  <a:pt x="0" y="166135"/>
                  <a:pt x="5101" y="171236"/>
                  <a:pt x="11416" y="171236"/>
                </a:cubicBezTo>
                <a:lnTo>
                  <a:pt x="42345" y="171236"/>
                </a:lnTo>
                <a:cubicBezTo>
                  <a:pt x="40811" y="167740"/>
                  <a:pt x="39955" y="163887"/>
                  <a:pt x="39955" y="159820"/>
                </a:cubicBezTo>
                <a:lnTo>
                  <a:pt x="39955" y="154112"/>
                </a:lnTo>
                <a:cubicBezTo>
                  <a:pt x="39955" y="135134"/>
                  <a:pt x="47090" y="117796"/>
                  <a:pt x="58827" y="104668"/>
                </a:cubicBezTo>
                <a:cubicBezTo>
                  <a:pt x="54653" y="103419"/>
                  <a:pt x="50229" y="102742"/>
                  <a:pt x="45663" y="102742"/>
                </a:cubicBezTo>
                <a:cubicBezTo>
                  <a:pt x="20441" y="102742"/>
                  <a:pt x="0" y="123183"/>
                  <a:pt x="0" y="148404"/>
                </a:cubicBezTo>
                <a:close/>
                <a:moveTo>
                  <a:pt x="219753" y="57079"/>
                </a:moveTo>
                <a:cubicBezTo>
                  <a:pt x="219753" y="42902"/>
                  <a:pt x="208244" y="31393"/>
                  <a:pt x="194067" y="31393"/>
                </a:cubicBezTo>
                <a:cubicBezTo>
                  <a:pt x="179891" y="31393"/>
                  <a:pt x="168382" y="42902"/>
                  <a:pt x="168382" y="57079"/>
                </a:cubicBezTo>
                <a:cubicBezTo>
                  <a:pt x="168382" y="71255"/>
                  <a:pt x="179891" y="82764"/>
                  <a:pt x="194067" y="82764"/>
                </a:cubicBezTo>
                <a:cubicBezTo>
                  <a:pt x="208244" y="82764"/>
                  <a:pt x="219753" y="71255"/>
                  <a:pt x="219753" y="57079"/>
                </a:cubicBezTo>
                <a:close/>
                <a:moveTo>
                  <a:pt x="57079" y="154112"/>
                </a:moveTo>
                <a:lnTo>
                  <a:pt x="57079" y="159820"/>
                </a:lnTo>
                <a:cubicBezTo>
                  <a:pt x="57079" y="166135"/>
                  <a:pt x="62180" y="171236"/>
                  <a:pt x="68494" y="171236"/>
                </a:cubicBezTo>
                <a:lnTo>
                  <a:pt x="124431" y="171236"/>
                </a:lnTo>
                <a:cubicBezTo>
                  <a:pt x="121899" y="163530"/>
                  <a:pt x="122184" y="155397"/>
                  <a:pt x="128249" y="148404"/>
                </a:cubicBezTo>
                <a:cubicBezTo>
                  <a:pt x="123254" y="142625"/>
                  <a:pt x="120935" y="134242"/>
                  <a:pt x="124182" y="125823"/>
                </a:cubicBezTo>
                <a:cubicBezTo>
                  <a:pt x="126536" y="119722"/>
                  <a:pt x="129854" y="114015"/>
                  <a:pt x="133956" y="108949"/>
                </a:cubicBezTo>
                <a:cubicBezTo>
                  <a:pt x="135883" y="106594"/>
                  <a:pt x="138095" y="104775"/>
                  <a:pt x="140485" y="103455"/>
                </a:cubicBezTo>
                <a:cubicBezTo>
                  <a:pt x="132601" y="99353"/>
                  <a:pt x="123647" y="97034"/>
                  <a:pt x="114157" y="97034"/>
                </a:cubicBezTo>
                <a:cubicBezTo>
                  <a:pt x="82621" y="97034"/>
                  <a:pt x="57079" y="122576"/>
                  <a:pt x="57079" y="154112"/>
                </a:cubicBezTo>
                <a:close/>
                <a:moveTo>
                  <a:pt x="222821" y="138380"/>
                </a:moveTo>
                <a:cubicBezTo>
                  <a:pt x="225068" y="137096"/>
                  <a:pt x="226210" y="134420"/>
                  <a:pt x="225247" y="131959"/>
                </a:cubicBezTo>
                <a:cubicBezTo>
                  <a:pt x="223534" y="127535"/>
                  <a:pt x="221144" y="123361"/>
                  <a:pt x="218147" y="119687"/>
                </a:cubicBezTo>
                <a:cubicBezTo>
                  <a:pt x="216506" y="117653"/>
                  <a:pt x="213617" y="117297"/>
                  <a:pt x="211369" y="118617"/>
                </a:cubicBezTo>
                <a:cubicBezTo>
                  <a:pt x="203592" y="123112"/>
                  <a:pt x="194032" y="117618"/>
                  <a:pt x="194032" y="108592"/>
                </a:cubicBezTo>
                <a:cubicBezTo>
                  <a:pt x="194032" y="105988"/>
                  <a:pt x="192284" y="103669"/>
                  <a:pt x="189715" y="103277"/>
                </a:cubicBezTo>
                <a:cubicBezTo>
                  <a:pt x="185113" y="102563"/>
                  <a:pt x="180154" y="102563"/>
                  <a:pt x="175553" y="103277"/>
                </a:cubicBezTo>
                <a:cubicBezTo>
                  <a:pt x="172984" y="103669"/>
                  <a:pt x="171236" y="105988"/>
                  <a:pt x="171236" y="108592"/>
                </a:cubicBezTo>
                <a:cubicBezTo>
                  <a:pt x="171236" y="117582"/>
                  <a:pt x="161675" y="123112"/>
                  <a:pt x="153898" y="118617"/>
                </a:cubicBezTo>
                <a:cubicBezTo>
                  <a:pt x="151651" y="117332"/>
                  <a:pt x="148761" y="117689"/>
                  <a:pt x="147120" y="119687"/>
                </a:cubicBezTo>
                <a:cubicBezTo>
                  <a:pt x="144124" y="123361"/>
                  <a:pt x="141733" y="127535"/>
                  <a:pt x="140021" y="131959"/>
                </a:cubicBezTo>
                <a:cubicBezTo>
                  <a:pt x="139094" y="134385"/>
                  <a:pt x="140199" y="137060"/>
                  <a:pt x="142447" y="138344"/>
                </a:cubicBezTo>
                <a:cubicBezTo>
                  <a:pt x="150260" y="142839"/>
                  <a:pt x="150260" y="153863"/>
                  <a:pt x="142447" y="158393"/>
                </a:cubicBezTo>
                <a:cubicBezTo>
                  <a:pt x="140199" y="159678"/>
                  <a:pt x="139058" y="162353"/>
                  <a:pt x="140021" y="164779"/>
                </a:cubicBezTo>
                <a:cubicBezTo>
                  <a:pt x="141733" y="169203"/>
                  <a:pt x="144124" y="173376"/>
                  <a:pt x="147120" y="177051"/>
                </a:cubicBezTo>
                <a:cubicBezTo>
                  <a:pt x="148761" y="179084"/>
                  <a:pt x="151651" y="179441"/>
                  <a:pt x="153898" y="178121"/>
                </a:cubicBezTo>
                <a:cubicBezTo>
                  <a:pt x="161675" y="173626"/>
                  <a:pt x="171236" y="179156"/>
                  <a:pt x="171236" y="188146"/>
                </a:cubicBezTo>
                <a:cubicBezTo>
                  <a:pt x="171236" y="190750"/>
                  <a:pt x="172984" y="193069"/>
                  <a:pt x="175553" y="193461"/>
                </a:cubicBezTo>
                <a:cubicBezTo>
                  <a:pt x="180154" y="194174"/>
                  <a:pt x="185113" y="194174"/>
                  <a:pt x="189715" y="193461"/>
                </a:cubicBezTo>
                <a:cubicBezTo>
                  <a:pt x="192284" y="193069"/>
                  <a:pt x="194032" y="190750"/>
                  <a:pt x="194032" y="188146"/>
                </a:cubicBezTo>
                <a:cubicBezTo>
                  <a:pt x="194032" y="179156"/>
                  <a:pt x="203592" y="173626"/>
                  <a:pt x="211369" y="178121"/>
                </a:cubicBezTo>
                <a:cubicBezTo>
                  <a:pt x="213617" y="179405"/>
                  <a:pt x="216506" y="179049"/>
                  <a:pt x="218147" y="177051"/>
                </a:cubicBezTo>
                <a:cubicBezTo>
                  <a:pt x="221144" y="173376"/>
                  <a:pt x="223534" y="169203"/>
                  <a:pt x="225247" y="164779"/>
                </a:cubicBezTo>
                <a:cubicBezTo>
                  <a:pt x="226174" y="162353"/>
                  <a:pt x="225068" y="159678"/>
                  <a:pt x="222821" y="158393"/>
                </a:cubicBezTo>
                <a:cubicBezTo>
                  <a:pt x="215008" y="153898"/>
                  <a:pt x="215008" y="142875"/>
                  <a:pt x="222821" y="138344"/>
                </a:cubicBezTo>
                <a:close/>
                <a:moveTo>
                  <a:pt x="168382" y="148404"/>
                </a:moveTo>
                <a:cubicBezTo>
                  <a:pt x="168382" y="140529"/>
                  <a:pt x="174776" y="134135"/>
                  <a:pt x="182652" y="134135"/>
                </a:cubicBezTo>
                <a:cubicBezTo>
                  <a:pt x="190527" y="134135"/>
                  <a:pt x="196921" y="140529"/>
                  <a:pt x="196921" y="148404"/>
                </a:cubicBezTo>
                <a:cubicBezTo>
                  <a:pt x="196921" y="156280"/>
                  <a:pt x="190527" y="162674"/>
                  <a:pt x="182652" y="162674"/>
                </a:cubicBezTo>
                <a:cubicBezTo>
                  <a:pt x="174776" y="162674"/>
                  <a:pt x="168382" y="156280"/>
                  <a:pt x="168382" y="1484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63594" y="1516009"/>
            <a:ext cx="1917843" cy="25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8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推动关键角色前置介入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3904" y="1972638"/>
            <a:ext cx="36530" cy="858463"/>
          </a:xfrm>
          <a:custGeom>
            <a:avLst/>
            <a:gdLst/>
            <a:ahLst/>
            <a:cxnLst/>
            <a:rect l="l" t="t" r="r" b="b"/>
            <a:pathLst>
              <a:path w="36530" h="858463">
                <a:moveTo>
                  <a:pt x="0" y="0"/>
                </a:moveTo>
                <a:lnTo>
                  <a:pt x="36530" y="0"/>
                </a:lnTo>
                <a:lnTo>
                  <a:pt x="36530" y="858463"/>
                </a:lnTo>
                <a:lnTo>
                  <a:pt x="0" y="858463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80025" y="2063964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2683" y="66611"/>
                </a:moveTo>
                <a:cubicBezTo>
                  <a:pt x="-885" y="70178"/>
                  <a:pt x="-885" y="75972"/>
                  <a:pt x="2683" y="79539"/>
                </a:cubicBezTo>
                <a:lnTo>
                  <a:pt x="48346" y="125202"/>
                </a:lnTo>
                <a:cubicBezTo>
                  <a:pt x="51913" y="128769"/>
                  <a:pt x="57707" y="128769"/>
                  <a:pt x="61274" y="125202"/>
                </a:cubicBezTo>
                <a:cubicBezTo>
                  <a:pt x="64841" y="121635"/>
                  <a:pt x="64841" y="115841"/>
                  <a:pt x="61274" y="112274"/>
                </a:cubicBezTo>
                <a:lnTo>
                  <a:pt x="31193" y="82193"/>
                </a:lnTo>
                <a:lnTo>
                  <a:pt x="136989" y="82193"/>
                </a:lnTo>
                <a:cubicBezTo>
                  <a:pt x="142040" y="82193"/>
                  <a:pt x="146121" y="78112"/>
                  <a:pt x="146121" y="73061"/>
                </a:cubicBezTo>
                <a:cubicBezTo>
                  <a:pt x="146121" y="68009"/>
                  <a:pt x="142040" y="63928"/>
                  <a:pt x="136989" y="63928"/>
                </a:cubicBezTo>
                <a:lnTo>
                  <a:pt x="31193" y="63928"/>
                </a:lnTo>
                <a:lnTo>
                  <a:pt x="61274" y="33848"/>
                </a:lnTo>
                <a:cubicBezTo>
                  <a:pt x="64841" y="30280"/>
                  <a:pt x="64841" y="24487"/>
                  <a:pt x="61274" y="20919"/>
                </a:cubicBezTo>
                <a:cubicBezTo>
                  <a:pt x="57707" y="17352"/>
                  <a:pt x="51913" y="17352"/>
                  <a:pt x="48346" y="20919"/>
                </a:cubicBezTo>
                <a:lnTo>
                  <a:pt x="2683" y="66582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2" name="Text 30"/>
          <p:cNvSpPr/>
          <p:nvPr/>
        </p:nvSpPr>
        <p:spPr>
          <a:xfrm>
            <a:off x="6717472" y="2027434"/>
            <a:ext cx="138815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铁三角前端驻场机制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1760" y="2301411"/>
            <a:ext cx="5296899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151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铁三角前端驻场机制</a:t>
            </a:r>
            <a:r>
              <a:rPr lang="en-US" sz="115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，让技术、商务、交付等关键角色主动深入项目前端，从被动响应转为前置支撑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3904" y="2904162"/>
            <a:ext cx="36530" cy="858463"/>
          </a:xfrm>
          <a:custGeom>
            <a:avLst/>
            <a:gdLst/>
            <a:ahLst/>
            <a:cxnLst/>
            <a:rect l="l" t="t" r="r" b="b"/>
            <a:pathLst>
              <a:path w="36530" h="858463">
                <a:moveTo>
                  <a:pt x="0" y="0"/>
                </a:moveTo>
                <a:lnTo>
                  <a:pt x="36530" y="0"/>
                </a:lnTo>
                <a:lnTo>
                  <a:pt x="36530" y="858463"/>
                </a:lnTo>
                <a:lnTo>
                  <a:pt x="0" y="858463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5" name="Shape 33"/>
          <p:cNvSpPr/>
          <p:nvPr/>
        </p:nvSpPr>
        <p:spPr>
          <a:xfrm>
            <a:off x="6470892" y="2995488"/>
            <a:ext cx="164387" cy="146121"/>
          </a:xfrm>
          <a:custGeom>
            <a:avLst/>
            <a:gdLst/>
            <a:ahLst/>
            <a:cxnLst/>
            <a:rect l="l" t="t" r="r" b="b"/>
            <a:pathLst>
              <a:path w="164387" h="146121">
                <a:moveTo>
                  <a:pt x="76742" y="24316"/>
                </a:moveTo>
                <a:lnTo>
                  <a:pt x="43465" y="61302"/>
                </a:lnTo>
                <a:cubicBezTo>
                  <a:pt x="42153" y="62758"/>
                  <a:pt x="42210" y="65013"/>
                  <a:pt x="43608" y="66411"/>
                </a:cubicBezTo>
                <a:cubicBezTo>
                  <a:pt x="52313" y="75116"/>
                  <a:pt x="66440" y="75116"/>
                  <a:pt x="75144" y="66411"/>
                </a:cubicBezTo>
                <a:lnTo>
                  <a:pt x="84220" y="57336"/>
                </a:lnTo>
                <a:cubicBezTo>
                  <a:pt x="85418" y="56137"/>
                  <a:pt x="86931" y="55480"/>
                  <a:pt x="88472" y="55366"/>
                </a:cubicBezTo>
                <a:cubicBezTo>
                  <a:pt x="90413" y="55195"/>
                  <a:pt x="92410" y="55851"/>
                  <a:pt x="93894" y="57336"/>
                </a:cubicBezTo>
                <a:lnTo>
                  <a:pt x="144295" y="107308"/>
                </a:lnTo>
                <a:lnTo>
                  <a:pt x="164387" y="91326"/>
                </a:lnTo>
                <a:lnTo>
                  <a:pt x="164387" y="9133"/>
                </a:lnTo>
                <a:lnTo>
                  <a:pt x="132422" y="27398"/>
                </a:lnTo>
                <a:lnTo>
                  <a:pt x="125630" y="22860"/>
                </a:lnTo>
                <a:cubicBezTo>
                  <a:pt x="121121" y="19863"/>
                  <a:pt x="115841" y="18265"/>
                  <a:pt x="110419" y="18265"/>
                </a:cubicBezTo>
                <a:lnTo>
                  <a:pt x="90327" y="18265"/>
                </a:lnTo>
                <a:cubicBezTo>
                  <a:pt x="90013" y="18265"/>
                  <a:pt x="89671" y="18265"/>
                  <a:pt x="89357" y="18294"/>
                </a:cubicBezTo>
                <a:cubicBezTo>
                  <a:pt x="84533" y="18551"/>
                  <a:pt x="79996" y="20720"/>
                  <a:pt x="76742" y="24316"/>
                </a:cubicBezTo>
                <a:close/>
                <a:moveTo>
                  <a:pt x="33277" y="52141"/>
                </a:moveTo>
                <a:lnTo>
                  <a:pt x="63757" y="18265"/>
                </a:lnTo>
                <a:lnTo>
                  <a:pt x="52455" y="18265"/>
                </a:lnTo>
                <a:cubicBezTo>
                  <a:pt x="45178" y="18265"/>
                  <a:pt x="38214" y="21148"/>
                  <a:pt x="33077" y="26285"/>
                </a:cubicBezTo>
                <a:lnTo>
                  <a:pt x="31964" y="27398"/>
                </a:lnTo>
                <a:lnTo>
                  <a:pt x="0" y="9133"/>
                </a:lnTo>
                <a:lnTo>
                  <a:pt x="0" y="91326"/>
                </a:lnTo>
                <a:lnTo>
                  <a:pt x="44636" y="128513"/>
                </a:lnTo>
                <a:cubicBezTo>
                  <a:pt x="51200" y="133992"/>
                  <a:pt x="59476" y="136989"/>
                  <a:pt x="68009" y="136989"/>
                </a:cubicBezTo>
                <a:lnTo>
                  <a:pt x="72490" y="136989"/>
                </a:lnTo>
                <a:lnTo>
                  <a:pt x="70492" y="134991"/>
                </a:lnTo>
                <a:cubicBezTo>
                  <a:pt x="67809" y="132308"/>
                  <a:pt x="67809" y="127970"/>
                  <a:pt x="70492" y="125316"/>
                </a:cubicBezTo>
                <a:cubicBezTo>
                  <a:pt x="73175" y="122662"/>
                  <a:pt x="77513" y="122633"/>
                  <a:pt x="80167" y="125316"/>
                </a:cubicBezTo>
                <a:lnTo>
                  <a:pt x="91868" y="137017"/>
                </a:lnTo>
                <a:lnTo>
                  <a:pt x="94437" y="137017"/>
                </a:lnTo>
                <a:cubicBezTo>
                  <a:pt x="99888" y="137017"/>
                  <a:pt x="105224" y="135790"/>
                  <a:pt x="110076" y="133507"/>
                </a:cubicBezTo>
                <a:lnTo>
                  <a:pt x="102456" y="125858"/>
                </a:lnTo>
                <a:cubicBezTo>
                  <a:pt x="99773" y="123176"/>
                  <a:pt x="99773" y="118838"/>
                  <a:pt x="102456" y="116184"/>
                </a:cubicBezTo>
                <a:cubicBezTo>
                  <a:pt x="105139" y="113529"/>
                  <a:pt x="109477" y="113501"/>
                  <a:pt x="112131" y="116184"/>
                </a:cubicBezTo>
                <a:lnTo>
                  <a:pt x="121264" y="125316"/>
                </a:lnTo>
                <a:lnTo>
                  <a:pt x="126258" y="120322"/>
                </a:lnTo>
                <a:cubicBezTo>
                  <a:pt x="128798" y="117782"/>
                  <a:pt x="129540" y="114100"/>
                  <a:pt x="128427" y="110875"/>
                </a:cubicBezTo>
                <a:lnTo>
                  <a:pt x="89071" y="71833"/>
                </a:lnTo>
                <a:lnTo>
                  <a:pt x="84819" y="76086"/>
                </a:lnTo>
                <a:cubicBezTo>
                  <a:pt x="70749" y="90156"/>
                  <a:pt x="47975" y="90156"/>
                  <a:pt x="33905" y="76086"/>
                </a:cubicBezTo>
                <a:cubicBezTo>
                  <a:pt x="27341" y="69522"/>
                  <a:pt x="27084" y="58991"/>
                  <a:pt x="33277" y="52113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6" name="Text 34"/>
          <p:cNvSpPr/>
          <p:nvPr/>
        </p:nvSpPr>
        <p:spPr>
          <a:xfrm>
            <a:off x="6717472" y="2958957"/>
            <a:ext cx="1388153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主动参与流程各环节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61760" y="3232935"/>
            <a:ext cx="5296899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关键角色需</a:t>
            </a:r>
            <a:r>
              <a:rPr lang="en-US" sz="1151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主动参与MO流程各环节</a:t>
            </a:r>
            <a:r>
              <a:rPr lang="en-US" sz="115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，在项目启动、方案制定、价格策略等关键节点提供提拉支持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3904" y="3835685"/>
            <a:ext cx="36530" cy="858463"/>
          </a:xfrm>
          <a:custGeom>
            <a:avLst/>
            <a:gdLst/>
            <a:ahLst/>
            <a:cxnLst/>
            <a:rect l="l" t="t" r="r" b="b"/>
            <a:pathLst>
              <a:path w="36530" h="858463">
                <a:moveTo>
                  <a:pt x="0" y="0"/>
                </a:moveTo>
                <a:lnTo>
                  <a:pt x="36530" y="0"/>
                </a:lnTo>
                <a:lnTo>
                  <a:pt x="36530" y="858463"/>
                </a:lnTo>
                <a:lnTo>
                  <a:pt x="0" y="858463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9" name="Shape 37"/>
          <p:cNvSpPr/>
          <p:nvPr/>
        </p:nvSpPr>
        <p:spPr>
          <a:xfrm>
            <a:off x="6480025" y="3927011"/>
            <a:ext cx="146121" cy="146121"/>
          </a:xfrm>
          <a:custGeom>
            <a:avLst/>
            <a:gdLst/>
            <a:ahLst/>
            <a:cxnLst/>
            <a:rect l="l" t="t" r="r" b="b"/>
            <a:pathLst>
              <a:path w="146121" h="146121">
                <a:moveTo>
                  <a:pt x="18265" y="18265"/>
                </a:moveTo>
                <a:cubicBezTo>
                  <a:pt x="18265" y="13214"/>
                  <a:pt x="14184" y="9133"/>
                  <a:pt x="9133" y="9133"/>
                </a:cubicBezTo>
                <a:cubicBezTo>
                  <a:pt x="4081" y="9133"/>
                  <a:pt x="0" y="13214"/>
                  <a:pt x="0" y="18265"/>
                </a:cubicBezTo>
                <a:lnTo>
                  <a:pt x="0" y="114157"/>
                </a:lnTo>
                <a:cubicBezTo>
                  <a:pt x="0" y="126772"/>
                  <a:pt x="10217" y="136989"/>
                  <a:pt x="22831" y="136989"/>
                </a:cubicBezTo>
                <a:lnTo>
                  <a:pt x="136989" y="136989"/>
                </a:lnTo>
                <a:cubicBezTo>
                  <a:pt x="142040" y="136989"/>
                  <a:pt x="146121" y="132908"/>
                  <a:pt x="146121" y="127856"/>
                </a:cubicBezTo>
                <a:cubicBezTo>
                  <a:pt x="146121" y="122805"/>
                  <a:pt x="142040" y="118724"/>
                  <a:pt x="136989" y="118724"/>
                </a:cubicBezTo>
                <a:lnTo>
                  <a:pt x="22831" y="118724"/>
                </a:lnTo>
                <a:cubicBezTo>
                  <a:pt x="20320" y="118724"/>
                  <a:pt x="18265" y="116669"/>
                  <a:pt x="18265" y="114157"/>
                </a:cubicBezTo>
                <a:lnTo>
                  <a:pt x="18265" y="18265"/>
                </a:lnTo>
                <a:close/>
                <a:moveTo>
                  <a:pt x="134306" y="42980"/>
                </a:moveTo>
                <a:cubicBezTo>
                  <a:pt x="137873" y="39413"/>
                  <a:pt x="137873" y="33619"/>
                  <a:pt x="134306" y="30052"/>
                </a:cubicBezTo>
                <a:cubicBezTo>
                  <a:pt x="130739" y="26484"/>
                  <a:pt x="124945" y="26484"/>
                  <a:pt x="121378" y="30052"/>
                </a:cubicBezTo>
                <a:lnTo>
                  <a:pt x="91326" y="60132"/>
                </a:lnTo>
                <a:lnTo>
                  <a:pt x="74944" y="43779"/>
                </a:lnTo>
                <a:cubicBezTo>
                  <a:pt x="71377" y="40212"/>
                  <a:pt x="65583" y="40212"/>
                  <a:pt x="62016" y="43779"/>
                </a:cubicBezTo>
                <a:lnTo>
                  <a:pt x="34618" y="71177"/>
                </a:lnTo>
                <a:cubicBezTo>
                  <a:pt x="31051" y="74744"/>
                  <a:pt x="31051" y="80538"/>
                  <a:pt x="34618" y="84105"/>
                </a:cubicBezTo>
                <a:cubicBezTo>
                  <a:pt x="38186" y="87673"/>
                  <a:pt x="43979" y="87673"/>
                  <a:pt x="47547" y="84105"/>
                </a:cubicBezTo>
                <a:lnTo>
                  <a:pt x="68494" y="63158"/>
                </a:lnTo>
                <a:lnTo>
                  <a:pt x="84876" y="79539"/>
                </a:lnTo>
                <a:cubicBezTo>
                  <a:pt x="88443" y="83107"/>
                  <a:pt x="94237" y="83107"/>
                  <a:pt x="97804" y="79539"/>
                </a:cubicBezTo>
                <a:lnTo>
                  <a:pt x="134335" y="43009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0" name="Text 38"/>
          <p:cNvSpPr/>
          <p:nvPr/>
        </p:nvSpPr>
        <p:spPr>
          <a:xfrm>
            <a:off x="6717472" y="3890481"/>
            <a:ext cx="949789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协同赋能体系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61760" y="4164458"/>
            <a:ext cx="5296899" cy="474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151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横向协同与纵向赋能</a:t>
            </a:r>
            <a:r>
              <a:rPr lang="en-US" sz="115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相结合的工作机制，打破部门壁垒，实现从"单打独斗"到"团队协作"的转变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5639" y="4803739"/>
            <a:ext cx="5369960" cy="438364"/>
          </a:xfrm>
          <a:custGeom>
            <a:avLst/>
            <a:gdLst/>
            <a:ahLst/>
            <a:cxnLst/>
            <a:rect l="l" t="t" r="r" b="b"/>
            <a:pathLst>
              <a:path w="5369960" h="438364">
                <a:moveTo>
                  <a:pt x="73062" y="0"/>
                </a:moveTo>
                <a:lnTo>
                  <a:pt x="5296897" y="0"/>
                </a:lnTo>
                <a:cubicBezTo>
                  <a:pt x="5337249" y="0"/>
                  <a:pt x="5369960" y="32711"/>
                  <a:pt x="5369960" y="73062"/>
                </a:cubicBezTo>
                <a:lnTo>
                  <a:pt x="5369960" y="365302"/>
                </a:lnTo>
                <a:cubicBezTo>
                  <a:pt x="5369960" y="405653"/>
                  <a:pt x="5337249" y="438364"/>
                  <a:pt x="5296897" y="438364"/>
                </a:cubicBezTo>
                <a:lnTo>
                  <a:pt x="73062" y="438364"/>
                </a:lnTo>
                <a:cubicBezTo>
                  <a:pt x="32711" y="438364"/>
                  <a:pt x="0" y="405653"/>
                  <a:pt x="0" y="365302"/>
                </a:cubicBezTo>
                <a:lnTo>
                  <a:pt x="0" y="73062"/>
                </a:lnTo>
                <a:cubicBezTo>
                  <a:pt x="0" y="32738"/>
                  <a:pt x="32738" y="0"/>
                  <a:pt x="73062" y="0"/>
                </a:cubicBezTo>
                <a:close/>
              </a:path>
            </a:pathLst>
          </a:custGeom>
          <a:solidFill>
            <a:srgbClr val="34A853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34362" y="4949861"/>
            <a:ext cx="164387" cy="146121"/>
          </a:xfrm>
          <a:custGeom>
            <a:avLst/>
            <a:gdLst/>
            <a:ahLst/>
            <a:cxnLst/>
            <a:rect l="l" t="t" r="r" b="b"/>
            <a:pathLst>
              <a:path w="164387" h="146121">
                <a:moveTo>
                  <a:pt x="88329" y="-5394"/>
                </a:moveTo>
                <a:cubicBezTo>
                  <a:pt x="87159" y="-7677"/>
                  <a:pt x="84790" y="-9133"/>
                  <a:pt x="82222" y="-9133"/>
                </a:cubicBezTo>
                <a:cubicBezTo>
                  <a:pt x="79653" y="-9133"/>
                  <a:pt x="77284" y="-7677"/>
                  <a:pt x="76114" y="-5394"/>
                </a:cubicBezTo>
                <a:lnTo>
                  <a:pt x="55109" y="35760"/>
                </a:lnTo>
                <a:lnTo>
                  <a:pt x="9475" y="43009"/>
                </a:lnTo>
                <a:cubicBezTo>
                  <a:pt x="6935" y="43408"/>
                  <a:pt x="4823" y="45206"/>
                  <a:pt x="4024" y="47661"/>
                </a:cubicBezTo>
                <a:cubicBezTo>
                  <a:pt x="3225" y="50115"/>
                  <a:pt x="3881" y="52798"/>
                  <a:pt x="5679" y="54624"/>
                </a:cubicBezTo>
                <a:lnTo>
                  <a:pt x="38328" y="87302"/>
                </a:lnTo>
                <a:lnTo>
                  <a:pt x="31136" y="132936"/>
                </a:lnTo>
                <a:cubicBezTo>
                  <a:pt x="30737" y="135476"/>
                  <a:pt x="31793" y="138045"/>
                  <a:pt x="33876" y="139557"/>
                </a:cubicBezTo>
                <a:cubicBezTo>
                  <a:pt x="35960" y="141070"/>
                  <a:pt x="38699" y="141298"/>
                  <a:pt x="41011" y="140128"/>
                </a:cubicBezTo>
                <a:lnTo>
                  <a:pt x="82222" y="119180"/>
                </a:lnTo>
                <a:lnTo>
                  <a:pt x="123404" y="140128"/>
                </a:lnTo>
                <a:cubicBezTo>
                  <a:pt x="125687" y="141298"/>
                  <a:pt x="128456" y="141070"/>
                  <a:pt x="130539" y="139557"/>
                </a:cubicBezTo>
                <a:cubicBezTo>
                  <a:pt x="132622" y="138045"/>
                  <a:pt x="133678" y="135505"/>
                  <a:pt x="133279" y="132936"/>
                </a:cubicBezTo>
                <a:lnTo>
                  <a:pt x="126058" y="87302"/>
                </a:lnTo>
                <a:lnTo>
                  <a:pt x="158707" y="54624"/>
                </a:lnTo>
                <a:cubicBezTo>
                  <a:pt x="160534" y="52798"/>
                  <a:pt x="161162" y="50115"/>
                  <a:pt x="160362" y="47661"/>
                </a:cubicBezTo>
                <a:cubicBezTo>
                  <a:pt x="159563" y="45206"/>
                  <a:pt x="157480" y="43408"/>
                  <a:pt x="154911" y="43009"/>
                </a:cubicBezTo>
                <a:lnTo>
                  <a:pt x="109306" y="35760"/>
                </a:lnTo>
                <a:lnTo>
                  <a:pt x="88329" y="-5394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4" name="Text 42"/>
          <p:cNvSpPr/>
          <p:nvPr/>
        </p:nvSpPr>
        <p:spPr>
          <a:xfrm>
            <a:off x="6680942" y="4913330"/>
            <a:ext cx="3917879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核心价值：从"事后补救"到"事前预防"，提升整体项目成功率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3569" y="5779100"/>
            <a:ext cx="11443128" cy="712342"/>
          </a:xfrm>
          <a:custGeom>
            <a:avLst/>
            <a:gdLst/>
            <a:ahLst/>
            <a:cxnLst/>
            <a:rect l="l" t="t" r="r" b="b"/>
            <a:pathLst>
              <a:path w="11443128" h="712342">
                <a:moveTo>
                  <a:pt x="0" y="0"/>
                </a:moveTo>
                <a:lnTo>
                  <a:pt x="11333534" y="0"/>
                </a:lnTo>
                <a:cubicBezTo>
                  <a:pt x="11394061" y="0"/>
                  <a:pt x="11443128" y="49067"/>
                  <a:pt x="11443128" y="109594"/>
                </a:cubicBezTo>
                <a:lnTo>
                  <a:pt x="11443128" y="602748"/>
                </a:lnTo>
                <a:cubicBezTo>
                  <a:pt x="11443128" y="663275"/>
                  <a:pt x="11394061" y="712342"/>
                  <a:pt x="11333534" y="712342"/>
                </a:cubicBezTo>
                <a:lnTo>
                  <a:pt x="0" y="712342"/>
                </a:lnTo>
                <a:lnTo>
                  <a:pt x="0" y="0"/>
                </a:lnTo>
                <a:close/>
              </a:path>
            </a:pathLst>
          </a:custGeom>
          <a:solidFill>
            <a:srgbClr val="1A73E8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83569" y="5779100"/>
            <a:ext cx="36530" cy="712342"/>
          </a:xfrm>
          <a:custGeom>
            <a:avLst/>
            <a:gdLst/>
            <a:ahLst/>
            <a:cxnLst/>
            <a:rect l="l" t="t" r="r" b="b"/>
            <a:pathLst>
              <a:path w="36530" h="712342">
                <a:moveTo>
                  <a:pt x="0" y="0"/>
                </a:moveTo>
                <a:lnTo>
                  <a:pt x="36530" y="0"/>
                </a:lnTo>
                <a:lnTo>
                  <a:pt x="36530" y="712342"/>
                </a:lnTo>
                <a:lnTo>
                  <a:pt x="0" y="712342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7" name="Shape 45"/>
          <p:cNvSpPr/>
          <p:nvPr/>
        </p:nvSpPr>
        <p:spPr>
          <a:xfrm>
            <a:off x="557088" y="6043945"/>
            <a:ext cx="136989" cy="182652"/>
          </a:xfrm>
          <a:custGeom>
            <a:avLst/>
            <a:gdLst/>
            <a:ahLst/>
            <a:cxnLst/>
            <a:rect l="l" t="t" r="r" b="b"/>
            <a:pathLst>
              <a:path w="136989" h="182652">
                <a:moveTo>
                  <a:pt x="104490" y="136989"/>
                </a:moveTo>
                <a:cubicBezTo>
                  <a:pt x="107094" y="129033"/>
                  <a:pt x="112302" y="121827"/>
                  <a:pt x="118188" y="115620"/>
                </a:cubicBezTo>
                <a:cubicBezTo>
                  <a:pt x="129854" y="103348"/>
                  <a:pt x="136989" y="86760"/>
                  <a:pt x="136989" y="68494"/>
                </a:cubicBezTo>
                <a:cubicBezTo>
                  <a:pt x="136989" y="30680"/>
                  <a:pt x="106309" y="0"/>
                  <a:pt x="68494" y="0"/>
                </a:cubicBezTo>
                <a:cubicBezTo>
                  <a:pt x="30680" y="0"/>
                  <a:pt x="0" y="30680"/>
                  <a:pt x="0" y="68494"/>
                </a:cubicBezTo>
                <a:cubicBezTo>
                  <a:pt x="0" y="86760"/>
                  <a:pt x="7135" y="103348"/>
                  <a:pt x="18800" y="115620"/>
                </a:cubicBezTo>
                <a:cubicBezTo>
                  <a:pt x="24687" y="121827"/>
                  <a:pt x="29931" y="129033"/>
                  <a:pt x="32499" y="136989"/>
                </a:cubicBezTo>
                <a:lnTo>
                  <a:pt x="104454" y="136989"/>
                </a:lnTo>
                <a:close/>
                <a:moveTo>
                  <a:pt x="102742" y="154112"/>
                </a:moveTo>
                <a:lnTo>
                  <a:pt x="34247" y="154112"/>
                </a:lnTo>
                <a:lnTo>
                  <a:pt x="34247" y="159820"/>
                </a:lnTo>
                <a:cubicBezTo>
                  <a:pt x="34247" y="175588"/>
                  <a:pt x="47019" y="188360"/>
                  <a:pt x="62787" y="188360"/>
                </a:cubicBezTo>
                <a:lnTo>
                  <a:pt x="74202" y="188360"/>
                </a:lnTo>
                <a:cubicBezTo>
                  <a:pt x="89970" y="188360"/>
                  <a:pt x="102742" y="175588"/>
                  <a:pt x="102742" y="159820"/>
                </a:cubicBezTo>
                <a:lnTo>
                  <a:pt x="102742" y="154112"/>
                </a:lnTo>
                <a:close/>
                <a:moveTo>
                  <a:pt x="65640" y="39955"/>
                </a:moveTo>
                <a:cubicBezTo>
                  <a:pt x="51442" y="39955"/>
                  <a:pt x="39955" y="51442"/>
                  <a:pt x="39955" y="65640"/>
                </a:cubicBezTo>
                <a:cubicBezTo>
                  <a:pt x="39955" y="70385"/>
                  <a:pt x="36138" y="74202"/>
                  <a:pt x="31393" y="74202"/>
                </a:cubicBezTo>
                <a:cubicBezTo>
                  <a:pt x="26649" y="74202"/>
                  <a:pt x="22831" y="70385"/>
                  <a:pt x="22831" y="65640"/>
                </a:cubicBezTo>
                <a:cubicBezTo>
                  <a:pt x="22831" y="41988"/>
                  <a:pt x="41988" y="22831"/>
                  <a:pt x="65640" y="22831"/>
                </a:cubicBezTo>
                <a:cubicBezTo>
                  <a:pt x="70385" y="22831"/>
                  <a:pt x="74202" y="26649"/>
                  <a:pt x="74202" y="31393"/>
                </a:cubicBezTo>
                <a:cubicBezTo>
                  <a:pt x="74202" y="36138"/>
                  <a:pt x="70385" y="39955"/>
                  <a:pt x="65640" y="39955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8" name="Text 46"/>
          <p:cNvSpPr/>
          <p:nvPr/>
        </p:nvSpPr>
        <p:spPr>
          <a:xfrm>
            <a:off x="849330" y="5888691"/>
            <a:ext cx="8146265" cy="21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1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对策一核心逻辑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9330" y="6144403"/>
            <a:ext cx="8146265" cy="237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151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责任清晰化</a:t>
            </a:r>
            <a:r>
              <a:rPr lang="en-US" sz="115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151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角色前置化</a:t>
            </a:r>
            <a:r>
              <a:rPr lang="en-US" sz="115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双轮驱动，构建"项目经理主导+关键角色支撑"的协同执行体系，从根本上解决流程执行缺位问题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BBC0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03-2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18912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" name="Text 2"/>
          <p:cNvSpPr/>
          <p:nvPr/>
        </p:nvSpPr>
        <p:spPr>
          <a:xfrm>
            <a:off x="1390412" y="3810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SOLUTIONS 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针对性优化对策（二）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聚焦业务质量，攻克核心痛点，实现从执行到质量的全面升级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295400"/>
            <a:ext cx="11430000" cy="1438275"/>
          </a:xfrm>
          <a:custGeom>
            <a:avLst/>
            <a:gdLst/>
            <a:ahLst/>
            <a:cxnLst/>
            <a:rect l="l" t="t" r="r" b="b"/>
            <a:pathLst>
              <a:path w="11430000" h="1438275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1323975"/>
                </a:lnTo>
                <a:cubicBezTo>
                  <a:pt x="11430000" y="1387101"/>
                  <a:pt x="11378826" y="1438275"/>
                  <a:pt x="11315700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53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2456" y="1514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009" y="0"/>
                </a:moveTo>
                <a:cubicBezTo>
                  <a:pt x="86830" y="0"/>
                  <a:pt x="96441" y="7200"/>
                  <a:pt x="96441" y="16073"/>
                </a:cubicBezTo>
                <a:cubicBezTo>
                  <a:pt x="96441" y="19556"/>
                  <a:pt x="94967" y="22771"/>
                  <a:pt x="92422" y="25416"/>
                </a:cubicBezTo>
                <a:cubicBezTo>
                  <a:pt x="90212" y="27727"/>
                  <a:pt x="88404" y="30540"/>
                  <a:pt x="88404" y="33754"/>
                </a:cubicBezTo>
                <a:cubicBezTo>
                  <a:pt x="88404" y="38777"/>
                  <a:pt x="92489" y="42863"/>
                  <a:pt x="97512" y="42863"/>
                </a:cubicBezTo>
                <a:lnTo>
                  <a:pt x="112514" y="42863"/>
                </a:lnTo>
                <a:cubicBezTo>
                  <a:pt x="121388" y="42863"/>
                  <a:pt x="128588" y="50062"/>
                  <a:pt x="128588" y="58936"/>
                </a:cubicBezTo>
                <a:lnTo>
                  <a:pt x="128588" y="73938"/>
                </a:lnTo>
                <a:cubicBezTo>
                  <a:pt x="128588" y="78961"/>
                  <a:pt x="132673" y="83046"/>
                  <a:pt x="137696" y="83046"/>
                </a:cubicBezTo>
                <a:cubicBezTo>
                  <a:pt x="140877" y="83046"/>
                  <a:pt x="143723" y="81238"/>
                  <a:pt x="146034" y="79028"/>
                </a:cubicBezTo>
                <a:cubicBezTo>
                  <a:pt x="148679" y="76516"/>
                  <a:pt x="151894" y="75009"/>
                  <a:pt x="155377" y="75009"/>
                </a:cubicBezTo>
                <a:cubicBezTo>
                  <a:pt x="164250" y="75009"/>
                  <a:pt x="171450" y="84620"/>
                  <a:pt x="171450" y="96441"/>
                </a:cubicBezTo>
                <a:cubicBezTo>
                  <a:pt x="171450" y="108261"/>
                  <a:pt x="164250" y="117872"/>
                  <a:pt x="155377" y="117872"/>
                </a:cubicBezTo>
                <a:cubicBezTo>
                  <a:pt x="151894" y="117872"/>
                  <a:pt x="148646" y="116398"/>
                  <a:pt x="146034" y="113854"/>
                </a:cubicBezTo>
                <a:cubicBezTo>
                  <a:pt x="143723" y="111643"/>
                  <a:pt x="140910" y="109835"/>
                  <a:pt x="137696" y="109835"/>
                </a:cubicBezTo>
                <a:cubicBezTo>
                  <a:pt x="132673" y="109835"/>
                  <a:pt x="128588" y="113920"/>
                  <a:pt x="128588" y="118943"/>
                </a:cubicBezTo>
                <a:lnTo>
                  <a:pt x="128588" y="155377"/>
                </a:lnTo>
                <a:cubicBezTo>
                  <a:pt x="128588" y="164250"/>
                  <a:pt x="121388" y="171450"/>
                  <a:pt x="112514" y="171450"/>
                </a:cubicBezTo>
                <a:lnTo>
                  <a:pt x="93494" y="171450"/>
                </a:lnTo>
                <a:cubicBezTo>
                  <a:pt x="89208" y="171450"/>
                  <a:pt x="85725" y="167967"/>
                  <a:pt x="85725" y="163681"/>
                </a:cubicBezTo>
                <a:cubicBezTo>
                  <a:pt x="85725" y="160600"/>
                  <a:pt x="87667" y="157888"/>
                  <a:pt x="90145" y="156046"/>
                </a:cubicBezTo>
                <a:cubicBezTo>
                  <a:pt x="94030" y="153133"/>
                  <a:pt x="96441" y="149115"/>
                  <a:pt x="96441" y="144661"/>
                </a:cubicBezTo>
                <a:cubicBezTo>
                  <a:pt x="96441" y="135787"/>
                  <a:pt x="86830" y="128588"/>
                  <a:pt x="75009" y="128588"/>
                </a:cubicBezTo>
                <a:cubicBezTo>
                  <a:pt x="63189" y="128588"/>
                  <a:pt x="53578" y="135787"/>
                  <a:pt x="53578" y="144661"/>
                </a:cubicBezTo>
                <a:cubicBezTo>
                  <a:pt x="53578" y="149115"/>
                  <a:pt x="55989" y="153133"/>
                  <a:pt x="59874" y="156046"/>
                </a:cubicBezTo>
                <a:cubicBezTo>
                  <a:pt x="62352" y="157888"/>
                  <a:pt x="64294" y="160567"/>
                  <a:pt x="64294" y="163681"/>
                </a:cubicBezTo>
                <a:cubicBezTo>
                  <a:pt x="64294" y="167967"/>
                  <a:pt x="60811" y="171450"/>
                  <a:pt x="56525" y="171450"/>
                </a:cubicBezTo>
                <a:lnTo>
                  <a:pt x="16073" y="171450"/>
                </a:lnTo>
                <a:cubicBezTo>
                  <a:pt x="7200" y="171450"/>
                  <a:pt x="0" y="164250"/>
                  <a:pt x="0" y="155377"/>
                </a:cubicBezTo>
                <a:lnTo>
                  <a:pt x="0" y="114925"/>
                </a:lnTo>
                <a:cubicBezTo>
                  <a:pt x="0" y="110639"/>
                  <a:pt x="3483" y="107156"/>
                  <a:pt x="7769" y="107156"/>
                </a:cubicBezTo>
                <a:cubicBezTo>
                  <a:pt x="10850" y="107156"/>
                  <a:pt x="13562" y="109098"/>
                  <a:pt x="15404" y="111576"/>
                </a:cubicBezTo>
                <a:cubicBezTo>
                  <a:pt x="18317" y="115461"/>
                  <a:pt x="22335" y="117872"/>
                  <a:pt x="26789" y="117872"/>
                </a:cubicBezTo>
                <a:cubicBezTo>
                  <a:pt x="35663" y="117872"/>
                  <a:pt x="42863" y="108261"/>
                  <a:pt x="42863" y="96441"/>
                </a:cubicBezTo>
                <a:cubicBezTo>
                  <a:pt x="42863" y="84620"/>
                  <a:pt x="35663" y="75009"/>
                  <a:pt x="26789" y="75009"/>
                </a:cubicBezTo>
                <a:cubicBezTo>
                  <a:pt x="22335" y="75009"/>
                  <a:pt x="18317" y="77420"/>
                  <a:pt x="15404" y="81305"/>
                </a:cubicBezTo>
                <a:cubicBezTo>
                  <a:pt x="13562" y="83783"/>
                  <a:pt x="10883" y="85725"/>
                  <a:pt x="7769" y="85725"/>
                </a:cubicBezTo>
                <a:cubicBezTo>
                  <a:pt x="3483" y="85725"/>
                  <a:pt x="0" y="82242"/>
                  <a:pt x="0" y="77956"/>
                </a:cubicBezTo>
                <a:lnTo>
                  <a:pt x="0" y="58936"/>
                </a:lnTo>
                <a:cubicBezTo>
                  <a:pt x="0" y="50062"/>
                  <a:pt x="7200" y="42863"/>
                  <a:pt x="16073" y="42863"/>
                </a:cubicBezTo>
                <a:lnTo>
                  <a:pt x="52507" y="42863"/>
                </a:lnTo>
                <a:cubicBezTo>
                  <a:pt x="57530" y="42863"/>
                  <a:pt x="61615" y="38777"/>
                  <a:pt x="61615" y="33754"/>
                </a:cubicBezTo>
                <a:cubicBezTo>
                  <a:pt x="61615" y="30573"/>
                  <a:pt x="59807" y="27727"/>
                  <a:pt x="57596" y="25416"/>
                </a:cubicBezTo>
                <a:cubicBezTo>
                  <a:pt x="55085" y="22771"/>
                  <a:pt x="53578" y="19556"/>
                  <a:pt x="53578" y="16073"/>
                </a:cubicBezTo>
                <a:cubicBezTo>
                  <a:pt x="53578" y="7200"/>
                  <a:pt x="63189" y="0"/>
                  <a:pt x="75009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146685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解决方案质量管控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" y="1828800"/>
            <a:ext cx="5562600" cy="790575"/>
          </a:xfrm>
          <a:custGeom>
            <a:avLst/>
            <a:gdLst/>
            <a:ahLst/>
            <a:cxnLst/>
            <a:rect l="l" t="t" r="r" b="b"/>
            <a:pathLst>
              <a:path w="5562600" h="790575">
                <a:moveTo>
                  <a:pt x="76204" y="0"/>
                </a:moveTo>
                <a:lnTo>
                  <a:pt x="5486396" y="0"/>
                </a:lnTo>
                <a:cubicBezTo>
                  <a:pt x="5528483" y="0"/>
                  <a:pt x="5562600" y="34117"/>
                  <a:pt x="5562600" y="76204"/>
                </a:cubicBezTo>
                <a:lnTo>
                  <a:pt x="5562600" y="714371"/>
                </a:lnTo>
                <a:cubicBezTo>
                  <a:pt x="5562600" y="756458"/>
                  <a:pt x="5528483" y="790575"/>
                  <a:pt x="548639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194310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" y="19050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客户需求-方案匹配校验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" y="2171702"/>
            <a:ext cx="5476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"客户需求-方案"匹配校验标准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，从需求理解、方案设计、价值呈现三个维度进行系统评估，确保方案精准响应客户核心诉求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34100" y="1828800"/>
            <a:ext cx="5562600" cy="790575"/>
          </a:xfrm>
          <a:custGeom>
            <a:avLst/>
            <a:gdLst/>
            <a:ahLst/>
            <a:cxnLst/>
            <a:rect l="l" t="t" r="r" b="b"/>
            <a:pathLst>
              <a:path w="5562600" h="790575">
                <a:moveTo>
                  <a:pt x="76204" y="0"/>
                </a:moveTo>
                <a:lnTo>
                  <a:pt x="5486396" y="0"/>
                </a:lnTo>
                <a:cubicBezTo>
                  <a:pt x="5528483" y="0"/>
                  <a:pt x="5562600" y="34117"/>
                  <a:pt x="5562600" y="76204"/>
                </a:cubicBezTo>
                <a:lnTo>
                  <a:pt x="5562600" y="714371"/>
                </a:lnTo>
                <a:cubicBezTo>
                  <a:pt x="5562600" y="756458"/>
                  <a:pt x="5528483" y="790575"/>
                  <a:pt x="548639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10300" y="194310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6477000" y="19050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技术专家评审机制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0300" y="2171702"/>
            <a:ext cx="5476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技术专家评审机制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，对技术方案可行性、创新性、风险点进行全面评估，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技术把关负责人对该环节负主责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2767015"/>
            <a:ext cx="11430000" cy="1438275"/>
          </a:xfrm>
          <a:custGeom>
            <a:avLst/>
            <a:gdLst/>
            <a:ahLst/>
            <a:cxnLst/>
            <a:rect l="l" t="t" r="r" b="b"/>
            <a:pathLst>
              <a:path w="11430000" h="1438275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1323975"/>
                </a:lnTo>
                <a:cubicBezTo>
                  <a:pt x="11430000" y="1387101"/>
                  <a:pt x="11378826" y="1438275"/>
                  <a:pt x="11315700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4A853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300" y="288131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1741" y="298609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4347" y="13093"/>
                </a:moveTo>
                <a:lnTo>
                  <a:pt x="183974" y="63423"/>
                </a:lnTo>
                <a:cubicBezTo>
                  <a:pt x="193250" y="72833"/>
                  <a:pt x="193250" y="87902"/>
                  <a:pt x="183974" y="97311"/>
                </a:cubicBezTo>
                <a:lnTo>
                  <a:pt x="131601" y="150320"/>
                </a:lnTo>
                <a:cubicBezTo>
                  <a:pt x="128487" y="153468"/>
                  <a:pt x="123397" y="153501"/>
                  <a:pt x="120249" y="150387"/>
                </a:cubicBezTo>
                <a:cubicBezTo>
                  <a:pt x="117102" y="147273"/>
                  <a:pt x="117068" y="142183"/>
                  <a:pt x="120182" y="139035"/>
                </a:cubicBezTo>
                <a:lnTo>
                  <a:pt x="172555" y="85993"/>
                </a:lnTo>
                <a:cubicBezTo>
                  <a:pt x="175636" y="82879"/>
                  <a:pt x="175636" y="77822"/>
                  <a:pt x="172555" y="74708"/>
                </a:cubicBezTo>
                <a:lnTo>
                  <a:pt x="122895" y="24412"/>
                </a:lnTo>
                <a:cubicBezTo>
                  <a:pt x="119781" y="21264"/>
                  <a:pt x="119814" y="16174"/>
                  <a:pt x="122962" y="13060"/>
                </a:cubicBezTo>
                <a:cubicBezTo>
                  <a:pt x="126110" y="9945"/>
                  <a:pt x="131199" y="9979"/>
                  <a:pt x="134314" y="13127"/>
                </a:cubicBezTo>
                <a:close/>
                <a:moveTo>
                  <a:pt x="10749" y="76851"/>
                </a:moveTo>
                <a:lnTo>
                  <a:pt x="10749" y="32147"/>
                </a:lnTo>
                <a:cubicBezTo>
                  <a:pt x="10749" y="20326"/>
                  <a:pt x="20360" y="10716"/>
                  <a:pt x="32180" y="10716"/>
                </a:cubicBezTo>
                <a:lnTo>
                  <a:pt x="76885" y="10716"/>
                </a:lnTo>
                <a:cubicBezTo>
                  <a:pt x="82577" y="10716"/>
                  <a:pt x="88036" y="12959"/>
                  <a:pt x="92054" y="16978"/>
                </a:cubicBezTo>
                <a:lnTo>
                  <a:pt x="140274" y="65198"/>
                </a:lnTo>
                <a:cubicBezTo>
                  <a:pt x="148646" y="73569"/>
                  <a:pt x="148646" y="87131"/>
                  <a:pt x="140274" y="95503"/>
                </a:cubicBezTo>
                <a:lnTo>
                  <a:pt x="95570" y="140207"/>
                </a:lnTo>
                <a:cubicBezTo>
                  <a:pt x="87198" y="148579"/>
                  <a:pt x="73636" y="148579"/>
                  <a:pt x="65265" y="140207"/>
                </a:cubicBezTo>
                <a:lnTo>
                  <a:pt x="17045" y="91987"/>
                </a:lnTo>
                <a:cubicBezTo>
                  <a:pt x="13026" y="87969"/>
                  <a:pt x="10783" y="82510"/>
                  <a:pt x="10783" y="76818"/>
                </a:cubicBezTo>
                <a:close/>
                <a:moveTo>
                  <a:pt x="58969" y="48220"/>
                </a:moveTo>
                <a:cubicBezTo>
                  <a:pt x="58969" y="42306"/>
                  <a:pt x="54168" y="37505"/>
                  <a:pt x="48254" y="37505"/>
                </a:cubicBezTo>
                <a:cubicBezTo>
                  <a:pt x="42340" y="37505"/>
                  <a:pt x="37538" y="42306"/>
                  <a:pt x="37538" y="48220"/>
                </a:cubicBezTo>
                <a:cubicBezTo>
                  <a:pt x="37538" y="54134"/>
                  <a:pt x="42340" y="58936"/>
                  <a:pt x="48254" y="58936"/>
                </a:cubicBezTo>
                <a:cubicBezTo>
                  <a:pt x="54168" y="58936"/>
                  <a:pt x="58969" y="54134"/>
                  <a:pt x="58969" y="4822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2938465"/>
            <a:ext cx="2657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深化标前评审，实现价格策略优化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5300" y="3300415"/>
            <a:ext cx="5562600" cy="790575"/>
          </a:xfrm>
          <a:custGeom>
            <a:avLst/>
            <a:gdLst/>
            <a:ahLst/>
            <a:cxnLst/>
            <a:rect l="l" t="t" r="r" b="b"/>
            <a:pathLst>
              <a:path w="5562600" h="790575">
                <a:moveTo>
                  <a:pt x="76204" y="0"/>
                </a:moveTo>
                <a:lnTo>
                  <a:pt x="5486396" y="0"/>
                </a:lnTo>
                <a:cubicBezTo>
                  <a:pt x="5528483" y="0"/>
                  <a:pt x="5562600" y="34117"/>
                  <a:pt x="5562600" y="76204"/>
                </a:cubicBezTo>
                <a:lnTo>
                  <a:pt x="5562600" y="714371"/>
                </a:lnTo>
                <a:cubicBezTo>
                  <a:pt x="5562600" y="756458"/>
                  <a:pt x="5528483" y="790575"/>
                  <a:pt x="548639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0550" y="34147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71438" y="28575"/>
                </a:moveTo>
                <a:cubicBezTo>
                  <a:pt x="73432" y="28575"/>
                  <a:pt x="75337" y="29408"/>
                  <a:pt x="76706" y="30897"/>
                </a:cubicBezTo>
                <a:lnTo>
                  <a:pt x="97869" y="53965"/>
                </a:lnTo>
                <a:lnTo>
                  <a:pt x="111621" y="40184"/>
                </a:lnTo>
                <a:cubicBezTo>
                  <a:pt x="114419" y="37386"/>
                  <a:pt x="118943" y="37386"/>
                  <a:pt x="121712" y="40184"/>
                </a:cubicBezTo>
                <a:lnTo>
                  <a:pt x="140762" y="59234"/>
                </a:lnTo>
                <a:cubicBezTo>
                  <a:pt x="142101" y="60573"/>
                  <a:pt x="142845" y="62389"/>
                  <a:pt x="142845" y="64294"/>
                </a:cubicBezTo>
                <a:lnTo>
                  <a:pt x="142845" y="97631"/>
                </a:lnTo>
                <a:cubicBezTo>
                  <a:pt x="142845" y="101590"/>
                  <a:pt x="139660" y="104775"/>
                  <a:pt x="135701" y="104775"/>
                </a:cubicBezTo>
                <a:lnTo>
                  <a:pt x="45214" y="104775"/>
                </a:lnTo>
                <a:cubicBezTo>
                  <a:pt x="41255" y="104775"/>
                  <a:pt x="38070" y="101590"/>
                  <a:pt x="38070" y="97631"/>
                </a:cubicBezTo>
                <a:lnTo>
                  <a:pt x="38070" y="64294"/>
                </a:lnTo>
                <a:cubicBezTo>
                  <a:pt x="38070" y="62508"/>
                  <a:pt x="38755" y="60781"/>
                  <a:pt x="39945" y="59472"/>
                </a:cubicBezTo>
                <a:lnTo>
                  <a:pt x="66139" y="30897"/>
                </a:lnTo>
                <a:cubicBezTo>
                  <a:pt x="67479" y="29408"/>
                  <a:pt x="69413" y="28575"/>
                  <a:pt x="71408" y="2857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838200" y="337661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动态定价机制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" y="3643315"/>
            <a:ext cx="5476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项目分级、成本数据、市场竞争态势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，搭建动态定价模型，为不同项目提供差异化价格策略，平衡中标率与毛利率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34100" y="3300415"/>
            <a:ext cx="5562600" cy="790575"/>
          </a:xfrm>
          <a:custGeom>
            <a:avLst/>
            <a:gdLst/>
            <a:ahLst/>
            <a:cxnLst/>
            <a:rect l="l" t="t" r="r" b="b"/>
            <a:pathLst>
              <a:path w="5562600" h="790575">
                <a:moveTo>
                  <a:pt x="76204" y="0"/>
                </a:moveTo>
                <a:lnTo>
                  <a:pt x="5486396" y="0"/>
                </a:lnTo>
                <a:cubicBezTo>
                  <a:pt x="5528483" y="0"/>
                  <a:pt x="5562600" y="34117"/>
                  <a:pt x="5562600" y="76204"/>
                </a:cubicBezTo>
                <a:lnTo>
                  <a:pt x="5562600" y="714371"/>
                </a:lnTo>
                <a:cubicBezTo>
                  <a:pt x="5562600" y="756458"/>
                  <a:pt x="5528483" y="790575"/>
                  <a:pt x="5486396" y="790575"/>
                </a:cubicBezTo>
                <a:lnTo>
                  <a:pt x="76204" y="790575"/>
                </a:lnTo>
                <a:cubicBezTo>
                  <a:pt x="34117" y="790575"/>
                  <a:pt x="0" y="756458"/>
                  <a:pt x="0" y="7143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48400" y="341471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82272" y="77599"/>
                </a:moveTo>
                <a:cubicBezTo>
                  <a:pt x="84356" y="74265"/>
                  <a:pt x="83344" y="69860"/>
                  <a:pt x="80010" y="67747"/>
                </a:cubicBezTo>
                <a:cubicBezTo>
                  <a:pt x="76676" y="65633"/>
                  <a:pt x="72271" y="66675"/>
                  <a:pt x="70158" y="70009"/>
                </a:cubicBezTo>
                <a:lnTo>
                  <a:pt x="51881" y="99268"/>
                </a:lnTo>
                <a:lnTo>
                  <a:pt x="43845" y="88553"/>
                </a:lnTo>
                <a:cubicBezTo>
                  <a:pt x="41464" y="85398"/>
                  <a:pt x="36999" y="84743"/>
                  <a:pt x="33844" y="87124"/>
                </a:cubicBezTo>
                <a:cubicBezTo>
                  <a:pt x="30688" y="89505"/>
                  <a:pt x="30034" y="93970"/>
                  <a:pt x="32415" y="97125"/>
                </a:cubicBezTo>
                <a:lnTo>
                  <a:pt x="46702" y="116175"/>
                </a:lnTo>
                <a:cubicBezTo>
                  <a:pt x="48101" y="118050"/>
                  <a:pt x="50363" y="119122"/>
                  <a:pt x="52715" y="119033"/>
                </a:cubicBezTo>
                <a:cubicBezTo>
                  <a:pt x="55066" y="118943"/>
                  <a:pt x="57210" y="117693"/>
                  <a:pt x="58460" y="115669"/>
                </a:cubicBezTo>
                <a:lnTo>
                  <a:pt x="82272" y="77569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0" y="3376615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特价及商务流程优化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0300" y="3643315"/>
            <a:ext cx="5476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标前评审会环节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，落实特价审批流程及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价格和商务策略留痕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项目经理对该环节负主责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，确保决策可追溯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4238627"/>
            <a:ext cx="11430000" cy="1362075"/>
          </a:xfrm>
          <a:custGeom>
            <a:avLst/>
            <a:gdLst/>
            <a:ahLst/>
            <a:cxnLst/>
            <a:rect l="l" t="t" r="r" b="b"/>
            <a:pathLst>
              <a:path w="11430000" h="1362075">
                <a:moveTo>
                  <a:pt x="114305" y="0"/>
                </a:moveTo>
                <a:lnTo>
                  <a:pt x="11315695" y="0"/>
                </a:lnTo>
                <a:cubicBezTo>
                  <a:pt x="11378824" y="0"/>
                  <a:pt x="11430000" y="51176"/>
                  <a:pt x="11430000" y="114305"/>
                </a:cubicBezTo>
                <a:lnTo>
                  <a:pt x="11430000" y="1247770"/>
                </a:lnTo>
                <a:cubicBezTo>
                  <a:pt x="11430000" y="1310899"/>
                  <a:pt x="11378824" y="1362075"/>
                  <a:pt x="11315695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5300" y="43529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3" name="Shape 31"/>
          <p:cNvSpPr/>
          <p:nvPr/>
        </p:nvSpPr>
        <p:spPr>
          <a:xfrm>
            <a:off x="581025" y="4457702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90600" y="4410077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后端团队协同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4350" y="4772027"/>
            <a:ext cx="38100" cy="714375"/>
          </a:xfrm>
          <a:custGeom>
            <a:avLst/>
            <a:gdLst/>
            <a:ahLst/>
            <a:cxnLst/>
            <a:rect l="l" t="t" r="r" b="b"/>
            <a:pathLst>
              <a:path w="38100" h="714375">
                <a:moveTo>
                  <a:pt x="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" y="4848227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61925" y="28575"/>
                </a:moveTo>
                <a:cubicBezTo>
                  <a:pt x="165884" y="28575"/>
                  <a:pt x="169069" y="31760"/>
                  <a:pt x="169069" y="35719"/>
                </a:cubicBezTo>
                <a:lnTo>
                  <a:pt x="169069" y="50006"/>
                </a:lnTo>
                <a:lnTo>
                  <a:pt x="183356" y="50006"/>
                </a:lnTo>
                <a:cubicBezTo>
                  <a:pt x="187315" y="50006"/>
                  <a:pt x="190500" y="53191"/>
                  <a:pt x="190500" y="57150"/>
                </a:cubicBezTo>
                <a:cubicBezTo>
                  <a:pt x="190500" y="61109"/>
                  <a:pt x="187315" y="64294"/>
                  <a:pt x="183356" y="64294"/>
                </a:cubicBezTo>
                <a:lnTo>
                  <a:pt x="169069" y="64294"/>
                </a:lnTo>
                <a:lnTo>
                  <a:pt x="169069" y="78581"/>
                </a:lnTo>
                <a:cubicBezTo>
                  <a:pt x="169069" y="82540"/>
                  <a:pt x="165884" y="85725"/>
                  <a:pt x="161925" y="85725"/>
                </a:cubicBezTo>
                <a:cubicBezTo>
                  <a:pt x="157966" y="85725"/>
                  <a:pt x="154781" y="82540"/>
                  <a:pt x="154781" y="78581"/>
                </a:cubicBezTo>
                <a:lnTo>
                  <a:pt x="154781" y="64294"/>
                </a:lnTo>
                <a:lnTo>
                  <a:pt x="140494" y="64294"/>
                </a:lnTo>
                <a:cubicBezTo>
                  <a:pt x="136535" y="64294"/>
                  <a:pt x="133350" y="61109"/>
                  <a:pt x="133350" y="57150"/>
                </a:cubicBezTo>
                <a:cubicBezTo>
                  <a:pt x="133350" y="53191"/>
                  <a:pt x="136535" y="50006"/>
                  <a:pt x="140494" y="50006"/>
                </a:cubicBezTo>
                <a:lnTo>
                  <a:pt x="154781" y="50006"/>
                </a:lnTo>
                <a:lnTo>
                  <a:pt x="154781" y="35719"/>
                </a:lnTo>
                <a:cubicBezTo>
                  <a:pt x="154781" y="31760"/>
                  <a:pt x="157966" y="28575"/>
                  <a:pt x="161925" y="2857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810127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纳入关键节点评审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00" y="5076827"/>
            <a:ext cx="547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售后、商务、供应链、研发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纳入四大关键节点评审体系，提前识别交付、供应、技术风险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53150" y="4772027"/>
            <a:ext cx="38100" cy="714375"/>
          </a:xfrm>
          <a:custGeom>
            <a:avLst/>
            <a:gdLst/>
            <a:ahLst/>
            <a:cxnLst/>
            <a:rect l="l" t="t" r="r" b="b"/>
            <a:pathLst>
              <a:path w="38100" h="714375">
                <a:moveTo>
                  <a:pt x="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5550" y="484822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1" name="Text 39"/>
          <p:cNvSpPr/>
          <p:nvPr/>
        </p:nvSpPr>
        <p:spPr>
          <a:xfrm>
            <a:off x="6553200" y="4810127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提前规划交付方案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86500" y="5076827"/>
            <a:ext cx="54768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在项目前期即</a:t>
            </a: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规划交付、供应及产品质量方案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，实现前置支撑，避免"销售承诺-交付能力"脱节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0050" y="5634040"/>
            <a:ext cx="3743325" cy="571500"/>
          </a:xfrm>
          <a:custGeom>
            <a:avLst/>
            <a:gdLst/>
            <a:ahLst/>
            <a:cxnLst/>
            <a:rect l="l" t="t" r="r" b="b"/>
            <a:pathLst>
              <a:path w="3743325" h="571500">
                <a:moveTo>
                  <a:pt x="0" y="0"/>
                </a:moveTo>
                <a:lnTo>
                  <a:pt x="3667127" y="0"/>
                </a:lnTo>
                <a:cubicBezTo>
                  <a:pt x="3709210" y="0"/>
                  <a:pt x="3743325" y="34115"/>
                  <a:pt x="3743325" y="76198"/>
                </a:cubicBezTo>
                <a:lnTo>
                  <a:pt x="3743325" y="495302"/>
                </a:lnTo>
                <a:cubicBezTo>
                  <a:pt x="3743325" y="537385"/>
                  <a:pt x="3709210" y="571500"/>
                  <a:pt x="3667127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73E8">
              <a:alpha val="5098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" y="563404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5" name="Shape 43"/>
          <p:cNvSpPr/>
          <p:nvPr/>
        </p:nvSpPr>
        <p:spPr>
          <a:xfrm>
            <a:off x="519113" y="58340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6" name="Text 44"/>
          <p:cNvSpPr/>
          <p:nvPr/>
        </p:nvSpPr>
        <p:spPr>
          <a:xfrm>
            <a:off x="785813" y="571024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方案质量提升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5813" y="593884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匹配度+精准度双提升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35410" y="5634040"/>
            <a:ext cx="3743325" cy="571500"/>
          </a:xfrm>
          <a:custGeom>
            <a:avLst/>
            <a:gdLst/>
            <a:ahLst/>
            <a:cxnLst/>
            <a:rect l="l" t="t" r="r" b="b"/>
            <a:pathLst>
              <a:path w="3743325" h="571500">
                <a:moveTo>
                  <a:pt x="0" y="0"/>
                </a:moveTo>
                <a:lnTo>
                  <a:pt x="3667127" y="0"/>
                </a:lnTo>
                <a:cubicBezTo>
                  <a:pt x="3709210" y="0"/>
                  <a:pt x="3743325" y="34115"/>
                  <a:pt x="3743325" y="76198"/>
                </a:cubicBezTo>
                <a:lnTo>
                  <a:pt x="3743325" y="495302"/>
                </a:lnTo>
                <a:cubicBezTo>
                  <a:pt x="3743325" y="537385"/>
                  <a:pt x="3709210" y="571500"/>
                  <a:pt x="3667127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34A853">
              <a:alpha val="5098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235410" y="563404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50" name="Shape 48"/>
          <p:cNvSpPr/>
          <p:nvPr/>
        </p:nvSpPr>
        <p:spPr>
          <a:xfrm>
            <a:off x="4354473" y="58340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51" name="Text 49"/>
          <p:cNvSpPr/>
          <p:nvPr/>
        </p:nvSpPr>
        <p:spPr>
          <a:xfrm>
            <a:off x="4621173" y="571024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盈利能力增强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21173" y="593884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中标率+毛利率双增长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070771" y="5634040"/>
            <a:ext cx="3743325" cy="571500"/>
          </a:xfrm>
          <a:custGeom>
            <a:avLst/>
            <a:gdLst/>
            <a:ahLst/>
            <a:cxnLst/>
            <a:rect l="l" t="t" r="r" b="b"/>
            <a:pathLst>
              <a:path w="3743325" h="571500">
                <a:moveTo>
                  <a:pt x="0" y="0"/>
                </a:moveTo>
                <a:lnTo>
                  <a:pt x="3667127" y="0"/>
                </a:lnTo>
                <a:cubicBezTo>
                  <a:pt x="3709210" y="0"/>
                  <a:pt x="3743325" y="34115"/>
                  <a:pt x="3743325" y="76198"/>
                </a:cubicBezTo>
                <a:lnTo>
                  <a:pt x="3743325" y="495302"/>
                </a:lnTo>
                <a:cubicBezTo>
                  <a:pt x="3743325" y="537385"/>
                  <a:pt x="3709210" y="571500"/>
                  <a:pt x="3667127" y="571500"/>
                </a:cubicBez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70771" y="563404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0" y="0"/>
                </a:moveTo>
                <a:lnTo>
                  <a:pt x="38100" y="0"/>
                </a:lnTo>
                <a:lnTo>
                  <a:pt x="381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5" name="Shape 53"/>
          <p:cNvSpPr/>
          <p:nvPr/>
        </p:nvSpPr>
        <p:spPr>
          <a:xfrm>
            <a:off x="8189833" y="583406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48220" y="69652"/>
                </a:moveTo>
                <a:cubicBezTo>
                  <a:pt x="48220" y="63737"/>
                  <a:pt x="53022" y="58936"/>
                  <a:pt x="58936" y="58936"/>
                </a:cubicBezTo>
                <a:cubicBezTo>
                  <a:pt x="64850" y="58936"/>
                  <a:pt x="69652" y="63737"/>
                  <a:pt x="69652" y="69652"/>
                </a:cubicBezTo>
                <a:cubicBezTo>
                  <a:pt x="69652" y="75566"/>
                  <a:pt x="64850" y="80367"/>
                  <a:pt x="58936" y="80367"/>
                </a:cubicBezTo>
                <a:cubicBezTo>
                  <a:pt x="53022" y="80367"/>
                  <a:pt x="48220" y="75566"/>
                  <a:pt x="48220" y="69652"/>
                </a:cubicBezTo>
                <a:close/>
                <a:moveTo>
                  <a:pt x="112514" y="58936"/>
                </a:moveTo>
                <a:cubicBezTo>
                  <a:pt x="118428" y="58936"/>
                  <a:pt x="123230" y="63737"/>
                  <a:pt x="123230" y="69652"/>
                </a:cubicBezTo>
                <a:cubicBezTo>
                  <a:pt x="123230" y="75566"/>
                  <a:pt x="118428" y="80367"/>
                  <a:pt x="112514" y="80367"/>
                </a:cubicBezTo>
                <a:cubicBezTo>
                  <a:pt x="106600" y="80367"/>
                  <a:pt x="101798" y="75566"/>
                  <a:pt x="101798" y="69652"/>
                </a:cubicBezTo>
                <a:cubicBezTo>
                  <a:pt x="101798" y="63737"/>
                  <a:pt x="106600" y="58936"/>
                  <a:pt x="112514" y="58936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6" name="Text 54"/>
          <p:cNvSpPr/>
          <p:nvPr/>
        </p:nvSpPr>
        <p:spPr>
          <a:xfrm>
            <a:off x="8456533" y="571024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客户满意度提高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56533" y="593884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交付质量+服务体验双保障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96052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367552" y="3810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SHORT-TERM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实施路径与分阶段计划（短期：1-2个月）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夯实基础，快速破局，建立标准化执行体系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34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0563" y="161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制度落地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6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71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项目经理权责表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项目经理权责表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编制，明确节点推进、资源协调、质量把控等核心职责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6275" y="31861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480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流程执行SOP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编制并发布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流程执行SOP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，详细规定四大核心会议标准、参与人员、输出成果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66750" y="416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24325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发布与培训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全员培训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，确保项目经理及相关角色充分理解新制度要求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3400" y="5146356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里程碑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847374" y="518445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6" name="Text 24"/>
          <p:cNvSpPr/>
          <p:nvPr/>
        </p:nvSpPr>
        <p:spPr>
          <a:xfrm>
            <a:off x="2085499" y="5146356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第2周完成初稿，第4周发布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41721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34A853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9412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27471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0" name="Text 28"/>
          <p:cNvSpPr/>
          <p:nvPr/>
        </p:nvSpPr>
        <p:spPr>
          <a:xfrm>
            <a:off x="4965621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监控搭建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94121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17946" y="2209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9525"/>
                </a:moveTo>
                <a:cubicBezTo>
                  <a:pt x="61674" y="9525"/>
                  <a:pt x="42416" y="20479"/>
                  <a:pt x="28396" y="33516"/>
                </a:cubicBezTo>
                <a:cubicBezTo>
                  <a:pt x="14466" y="46464"/>
                  <a:pt x="5149" y="61912"/>
                  <a:pt x="714" y="72539"/>
                </a:cubicBezTo>
                <a:cubicBezTo>
                  <a:pt x="-268" y="74890"/>
                  <a:pt x="-268" y="77510"/>
                  <a:pt x="714" y="79861"/>
                </a:cubicBezTo>
                <a:cubicBezTo>
                  <a:pt x="5149" y="90488"/>
                  <a:pt x="14466" y="105966"/>
                  <a:pt x="28396" y="118884"/>
                </a:cubicBezTo>
                <a:cubicBezTo>
                  <a:pt x="42416" y="131891"/>
                  <a:pt x="61674" y="142875"/>
                  <a:pt x="85725" y="142875"/>
                </a:cubicBezTo>
                <a:cubicBezTo>
                  <a:pt x="109776" y="142875"/>
                  <a:pt x="129034" y="131921"/>
                  <a:pt x="143054" y="118884"/>
                </a:cubicBezTo>
                <a:cubicBezTo>
                  <a:pt x="156984" y="105936"/>
                  <a:pt x="166301" y="90488"/>
                  <a:pt x="170736" y="79861"/>
                </a:cubicBezTo>
                <a:cubicBezTo>
                  <a:pt x="171718" y="77510"/>
                  <a:pt x="171718" y="74890"/>
                  <a:pt x="170736" y="72539"/>
                </a:cubicBezTo>
                <a:cubicBezTo>
                  <a:pt x="166301" y="61912"/>
                  <a:pt x="156984" y="46434"/>
                  <a:pt x="143054" y="33516"/>
                </a:cubicBezTo>
                <a:cubicBezTo>
                  <a:pt x="129034" y="20509"/>
                  <a:pt x="109776" y="9525"/>
                  <a:pt x="85725" y="9525"/>
                </a:cubicBezTo>
                <a:close/>
                <a:moveTo>
                  <a:pt x="42863" y="76200"/>
                </a:moveTo>
                <a:cubicBezTo>
                  <a:pt x="42863" y="52544"/>
                  <a:pt x="62069" y="33338"/>
                  <a:pt x="85725" y="33338"/>
                </a:cubicBezTo>
                <a:cubicBezTo>
                  <a:pt x="109381" y="33338"/>
                  <a:pt x="128588" y="52544"/>
                  <a:pt x="128588" y="76200"/>
                </a:cubicBezTo>
                <a:cubicBezTo>
                  <a:pt x="128588" y="99856"/>
                  <a:pt x="109381" y="119062"/>
                  <a:pt x="85725" y="119062"/>
                </a:cubicBezTo>
                <a:cubicBezTo>
                  <a:pt x="62069" y="119062"/>
                  <a:pt x="42863" y="99856"/>
                  <a:pt x="42863" y="76200"/>
                </a:cubicBezTo>
                <a:close/>
                <a:moveTo>
                  <a:pt x="85725" y="57150"/>
                </a:moveTo>
                <a:cubicBezTo>
                  <a:pt x="85725" y="67657"/>
                  <a:pt x="77182" y="76200"/>
                  <a:pt x="66675" y="76200"/>
                </a:cubicBezTo>
                <a:cubicBezTo>
                  <a:pt x="63252" y="76200"/>
                  <a:pt x="60037" y="75307"/>
                  <a:pt x="57239" y="73700"/>
                </a:cubicBezTo>
                <a:cubicBezTo>
                  <a:pt x="56942" y="76944"/>
                  <a:pt x="57210" y="80278"/>
                  <a:pt x="58103" y="83582"/>
                </a:cubicBezTo>
                <a:cubicBezTo>
                  <a:pt x="62180" y="98822"/>
                  <a:pt x="77867" y="107871"/>
                  <a:pt x="93107" y="103793"/>
                </a:cubicBezTo>
                <a:cubicBezTo>
                  <a:pt x="108347" y="99715"/>
                  <a:pt x="117396" y="84028"/>
                  <a:pt x="113318" y="68788"/>
                </a:cubicBezTo>
                <a:cubicBezTo>
                  <a:pt x="109686" y="55185"/>
                  <a:pt x="96798" y="46524"/>
                  <a:pt x="83225" y="47714"/>
                </a:cubicBezTo>
                <a:cubicBezTo>
                  <a:pt x="84802" y="50483"/>
                  <a:pt x="85725" y="53697"/>
                  <a:pt x="85725" y="5715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3" name="Text 31"/>
          <p:cNvSpPr/>
          <p:nvPr/>
        </p:nvSpPr>
        <p:spPr>
          <a:xfrm>
            <a:off x="4775121" y="2171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执行率监控看板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08421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上线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关键节点执行率监控看板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，实时追踪项目启动会、方案评审会等核心节点执行情况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4121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536996" y="31861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7" name="Text 35"/>
          <p:cNvSpPr/>
          <p:nvPr/>
        </p:nvSpPr>
        <p:spPr>
          <a:xfrm>
            <a:off x="4775121" y="314801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数据源集成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08421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整合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CRM、ERP等系统数据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，建立统一数据仓库，为监控看板提供实时、准确数据支撑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94121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36996" y="4162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1" name="Text 39"/>
          <p:cNvSpPr/>
          <p:nvPr/>
        </p:nvSpPr>
        <p:spPr>
          <a:xfrm>
            <a:off x="4775121" y="41243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预警机制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08421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预警阈值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，当关键节点执行率低于标准时自动提醒，及时干预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394121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394121" y="5146356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里程碑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1158" y="518445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6" name="Text 44"/>
          <p:cNvSpPr/>
          <p:nvPr/>
        </p:nvSpPr>
        <p:spPr>
          <a:xfrm>
            <a:off x="6639283" y="5146356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第6周上线试运行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02561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BBC05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5496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64498" y="16192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0" name="Text 48"/>
          <p:cNvSpPr/>
          <p:nvPr/>
        </p:nvSpPr>
        <p:spPr>
          <a:xfrm>
            <a:off x="8826461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协同铺垫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54961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69261" y="2209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3" name="Text 51"/>
          <p:cNvSpPr/>
          <p:nvPr/>
        </p:nvSpPr>
        <p:spPr>
          <a:xfrm>
            <a:off x="8635961" y="2171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跨部门协同培训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69261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后端团队与销售前端协同培训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，统一认知与流程标准，打破部门壁垒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54961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378786" y="318611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7" name="Text 55"/>
          <p:cNvSpPr/>
          <p:nvPr/>
        </p:nvSpPr>
        <p:spPr>
          <a:xfrm>
            <a:off x="8635961" y="31480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建立对接机制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69261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后端部门与销售端对接机制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，明确各项目对接人，确保信息畅通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54961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378786" y="41624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61" name="Text 59"/>
          <p:cNvSpPr/>
          <p:nvPr/>
        </p:nvSpPr>
        <p:spPr>
          <a:xfrm>
            <a:off x="8635961" y="41243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沟通平台搭建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69261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项目沟通群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，实现项目信息实时共享，提升协同效率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54961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254961" y="5146356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里程碑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106145" y="518445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66" name="Text 64"/>
          <p:cNvSpPr/>
          <p:nvPr/>
        </p:nvSpPr>
        <p:spPr>
          <a:xfrm>
            <a:off x="10344270" y="5146356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第8周完成首轮培训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00050" y="5641656"/>
            <a:ext cx="11410950" cy="742950"/>
          </a:xfrm>
          <a:custGeom>
            <a:avLst/>
            <a:gdLst/>
            <a:ahLst/>
            <a:cxnLst/>
            <a:rect l="l" t="t" r="r" b="b"/>
            <a:pathLst>
              <a:path w="11410950" h="742950">
                <a:moveTo>
                  <a:pt x="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628647"/>
                </a:lnTo>
                <a:cubicBezTo>
                  <a:pt x="11410950" y="691733"/>
                  <a:pt x="11359733" y="742950"/>
                  <a:pt x="1129664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>
              <a:alpha val="5098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00050" y="5641656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69" name="Shape 67"/>
          <p:cNvSpPr/>
          <p:nvPr/>
        </p:nvSpPr>
        <p:spPr>
          <a:xfrm>
            <a:off x="569119" y="591788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70" name="Text 68"/>
          <p:cNvSpPr/>
          <p:nvPr/>
        </p:nvSpPr>
        <p:spPr>
          <a:xfrm>
            <a:off x="885825" y="5755956"/>
            <a:ext cx="7600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短期计划核心目标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85825" y="6022656"/>
            <a:ext cx="7600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制度落地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监控搭建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协同铺垫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三大任务，在1-2个月内建立标准化执行体系，为后续深化优化奠定坚实基础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A8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18555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1390055" y="381000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MID-TERM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实施路径与分阶段计划（中期：3-4个月）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深化落地，试点复制，推动业务质量实质性提升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34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0563" y="161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方案优化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6750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717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标准化模板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推行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解决方案标准化模板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，包括需求分析、技术方案、商务报价等模块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6275" y="318611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480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技术专家评审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落地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技术专家评审机制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，对所有高价值项目方案进行专业评估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6275" y="4162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3194" y="-7709"/>
                </a:moveTo>
                <a:cubicBezTo>
                  <a:pt x="69205" y="-10150"/>
                  <a:pt x="64175" y="-10150"/>
                  <a:pt x="60186" y="-7709"/>
                </a:cubicBezTo>
                <a:cubicBezTo>
                  <a:pt x="52923" y="-3274"/>
                  <a:pt x="48429" y="-2084"/>
                  <a:pt x="39916" y="-2262"/>
                </a:cubicBezTo>
                <a:cubicBezTo>
                  <a:pt x="35243" y="-2381"/>
                  <a:pt x="30897" y="149"/>
                  <a:pt x="28635" y="4256"/>
                </a:cubicBezTo>
                <a:cubicBezTo>
                  <a:pt x="24557" y="11728"/>
                  <a:pt x="21253" y="15032"/>
                  <a:pt x="13781" y="19110"/>
                </a:cubicBezTo>
                <a:cubicBezTo>
                  <a:pt x="9674" y="21342"/>
                  <a:pt x="7174" y="25718"/>
                  <a:pt x="7263" y="30391"/>
                </a:cubicBezTo>
                <a:cubicBezTo>
                  <a:pt x="7471" y="38904"/>
                  <a:pt x="6251" y="43398"/>
                  <a:pt x="1816" y="50661"/>
                </a:cubicBezTo>
                <a:cubicBezTo>
                  <a:pt x="-625" y="54650"/>
                  <a:pt x="-625" y="59680"/>
                  <a:pt x="1816" y="63669"/>
                </a:cubicBezTo>
                <a:cubicBezTo>
                  <a:pt x="6251" y="70931"/>
                  <a:pt x="7441" y="75426"/>
                  <a:pt x="7263" y="83939"/>
                </a:cubicBezTo>
                <a:cubicBezTo>
                  <a:pt x="7144" y="88612"/>
                  <a:pt x="9674" y="92958"/>
                  <a:pt x="13781" y="95220"/>
                </a:cubicBezTo>
                <a:cubicBezTo>
                  <a:pt x="20360" y="98822"/>
                  <a:pt x="23693" y="101798"/>
                  <a:pt x="27206" y="107573"/>
                </a:cubicBezTo>
                <a:lnTo>
                  <a:pt x="12710" y="136475"/>
                </a:lnTo>
                <a:cubicBezTo>
                  <a:pt x="10954" y="140018"/>
                  <a:pt x="12383" y="144304"/>
                  <a:pt x="15895" y="146060"/>
                </a:cubicBezTo>
                <a:lnTo>
                  <a:pt x="41493" y="158859"/>
                </a:lnTo>
                <a:cubicBezTo>
                  <a:pt x="44916" y="160556"/>
                  <a:pt x="49084" y="159276"/>
                  <a:pt x="50929" y="155942"/>
                </a:cubicBezTo>
                <a:lnTo>
                  <a:pt x="66645" y="127635"/>
                </a:lnTo>
                <a:lnTo>
                  <a:pt x="82361" y="155942"/>
                </a:lnTo>
                <a:cubicBezTo>
                  <a:pt x="84207" y="159276"/>
                  <a:pt x="88374" y="160586"/>
                  <a:pt x="91797" y="158859"/>
                </a:cubicBezTo>
                <a:lnTo>
                  <a:pt x="117396" y="146060"/>
                </a:lnTo>
                <a:cubicBezTo>
                  <a:pt x="120938" y="144304"/>
                  <a:pt x="122366" y="140018"/>
                  <a:pt x="120581" y="136475"/>
                </a:cubicBezTo>
                <a:lnTo>
                  <a:pt x="106114" y="107543"/>
                </a:lnTo>
                <a:cubicBezTo>
                  <a:pt x="109597" y="101769"/>
                  <a:pt x="112961" y="98792"/>
                  <a:pt x="119539" y="95190"/>
                </a:cubicBezTo>
                <a:cubicBezTo>
                  <a:pt x="123646" y="92958"/>
                  <a:pt x="126147" y="88583"/>
                  <a:pt x="126057" y="83909"/>
                </a:cubicBezTo>
                <a:cubicBezTo>
                  <a:pt x="125849" y="75396"/>
                  <a:pt x="127069" y="70902"/>
                  <a:pt x="131505" y="63639"/>
                </a:cubicBezTo>
                <a:cubicBezTo>
                  <a:pt x="133945" y="59650"/>
                  <a:pt x="133945" y="54620"/>
                  <a:pt x="131505" y="50631"/>
                </a:cubicBezTo>
                <a:cubicBezTo>
                  <a:pt x="127069" y="43369"/>
                  <a:pt x="125879" y="38874"/>
                  <a:pt x="126057" y="30361"/>
                </a:cubicBezTo>
                <a:cubicBezTo>
                  <a:pt x="126176" y="25688"/>
                  <a:pt x="123646" y="21342"/>
                  <a:pt x="119539" y="19080"/>
                </a:cubicBezTo>
                <a:cubicBezTo>
                  <a:pt x="112068" y="15002"/>
                  <a:pt x="108764" y="11698"/>
                  <a:pt x="104686" y="4227"/>
                </a:cubicBezTo>
                <a:cubicBezTo>
                  <a:pt x="102453" y="119"/>
                  <a:pt x="98078" y="-2381"/>
                  <a:pt x="93405" y="-2292"/>
                </a:cubicBezTo>
                <a:cubicBezTo>
                  <a:pt x="84892" y="-2084"/>
                  <a:pt x="80397" y="-3304"/>
                  <a:pt x="73134" y="-7739"/>
                </a:cubicBezTo>
                <a:close/>
                <a:moveTo>
                  <a:pt x="66675" y="28575"/>
                </a:moveTo>
                <a:cubicBezTo>
                  <a:pt x="82446" y="28575"/>
                  <a:pt x="95250" y="41379"/>
                  <a:pt x="95250" y="57150"/>
                </a:cubicBezTo>
                <a:cubicBezTo>
                  <a:pt x="95250" y="72921"/>
                  <a:pt x="82446" y="85725"/>
                  <a:pt x="66675" y="85725"/>
                </a:cubicBezTo>
                <a:cubicBezTo>
                  <a:pt x="50904" y="85725"/>
                  <a:pt x="38100" y="72921"/>
                  <a:pt x="38100" y="57150"/>
                </a:cubicBezTo>
                <a:cubicBezTo>
                  <a:pt x="38100" y="41379"/>
                  <a:pt x="50904" y="28575"/>
                  <a:pt x="66675" y="2857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243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质量评估体系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方案质量评估体系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，从匹配度、创新性、可行性等维度打分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2450" y="518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51463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目标：方案质量评分提升20%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1721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34A853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9412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51283" y="161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621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特价管理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94121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27471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3103" y="28575"/>
                </a:moveTo>
                <a:cubicBezTo>
                  <a:pt x="59829" y="28575"/>
                  <a:pt x="57150" y="31254"/>
                  <a:pt x="57150" y="34528"/>
                </a:cubicBezTo>
                <a:lnTo>
                  <a:pt x="57150" y="35719"/>
                </a:lnTo>
                <a:cubicBezTo>
                  <a:pt x="48578" y="35808"/>
                  <a:pt x="41672" y="42773"/>
                  <a:pt x="41672" y="51346"/>
                </a:cubicBezTo>
                <a:cubicBezTo>
                  <a:pt x="41672" y="58995"/>
                  <a:pt x="47179" y="65514"/>
                  <a:pt x="54739" y="66764"/>
                </a:cubicBezTo>
                <a:lnTo>
                  <a:pt x="67151" y="68848"/>
                </a:lnTo>
                <a:cubicBezTo>
                  <a:pt x="68937" y="69146"/>
                  <a:pt x="70247" y="70693"/>
                  <a:pt x="70247" y="72509"/>
                </a:cubicBezTo>
                <a:cubicBezTo>
                  <a:pt x="70247" y="74563"/>
                  <a:pt x="68580" y="76230"/>
                  <a:pt x="66526" y="76230"/>
                </a:cubicBezTo>
                <a:lnTo>
                  <a:pt x="50006" y="76200"/>
                </a:lnTo>
                <a:cubicBezTo>
                  <a:pt x="46732" y="76200"/>
                  <a:pt x="44053" y="78879"/>
                  <a:pt x="44053" y="82153"/>
                </a:cubicBezTo>
                <a:cubicBezTo>
                  <a:pt x="44053" y="85427"/>
                  <a:pt x="46732" y="88106"/>
                  <a:pt x="50006" y="88106"/>
                </a:cubicBezTo>
                <a:lnTo>
                  <a:pt x="57150" y="88106"/>
                </a:lnTo>
                <a:lnTo>
                  <a:pt x="57150" y="89297"/>
                </a:lnTo>
                <a:cubicBezTo>
                  <a:pt x="57150" y="92571"/>
                  <a:pt x="59829" y="95250"/>
                  <a:pt x="63103" y="95250"/>
                </a:cubicBezTo>
                <a:cubicBezTo>
                  <a:pt x="66377" y="95250"/>
                  <a:pt x="69056" y="92571"/>
                  <a:pt x="69056" y="89297"/>
                </a:cubicBezTo>
                <a:lnTo>
                  <a:pt x="69056" y="87898"/>
                </a:lnTo>
                <a:cubicBezTo>
                  <a:pt x="76498" y="86678"/>
                  <a:pt x="82153" y="80248"/>
                  <a:pt x="82153" y="72479"/>
                </a:cubicBezTo>
                <a:cubicBezTo>
                  <a:pt x="82153" y="64830"/>
                  <a:pt x="76646" y="58311"/>
                  <a:pt x="69086" y="57061"/>
                </a:cubicBezTo>
                <a:lnTo>
                  <a:pt x="56674" y="54977"/>
                </a:lnTo>
                <a:cubicBezTo>
                  <a:pt x="54888" y="54679"/>
                  <a:pt x="53578" y="53132"/>
                  <a:pt x="53578" y="51316"/>
                </a:cubicBezTo>
                <a:cubicBezTo>
                  <a:pt x="53578" y="49262"/>
                  <a:pt x="55245" y="47595"/>
                  <a:pt x="57299" y="47595"/>
                </a:cubicBezTo>
                <a:lnTo>
                  <a:pt x="71438" y="47595"/>
                </a:lnTo>
                <a:cubicBezTo>
                  <a:pt x="74712" y="47595"/>
                  <a:pt x="77391" y="44916"/>
                  <a:pt x="77391" y="41642"/>
                </a:cubicBezTo>
                <a:cubicBezTo>
                  <a:pt x="77391" y="38368"/>
                  <a:pt x="74712" y="35689"/>
                  <a:pt x="71438" y="35689"/>
                </a:cubicBezTo>
                <a:lnTo>
                  <a:pt x="69056" y="35689"/>
                </a:lnTo>
                <a:lnTo>
                  <a:pt x="69056" y="34498"/>
                </a:lnTo>
                <a:cubicBezTo>
                  <a:pt x="69056" y="31224"/>
                  <a:pt x="66377" y="28545"/>
                  <a:pt x="63103" y="2854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2" name="Text 30"/>
          <p:cNvSpPr/>
          <p:nvPr/>
        </p:nvSpPr>
        <p:spPr>
          <a:xfrm>
            <a:off x="4775121" y="21717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标前评审会环节落实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08421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标前评审会环节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，落实特价审批流程，确保所有价格决策经过充分论证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94121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17946" y="318611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6" name="Text 34"/>
          <p:cNvSpPr/>
          <p:nvPr/>
        </p:nvSpPr>
        <p:spPr>
          <a:xfrm>
            <a:off x="4775121" y="314801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价格和商务策略留痕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08421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价格和商务策略留痕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，所有审批意见、决策依据完整记录，便于复盘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4121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17946" y="41624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0" name="Text 38"/>
          <p:cNvSpPr/>
          <p:nvPr/>
        </p:nvSpPr>
        <p:spPr>
          <a:xfrm>
            <a:off x="4775121" y="41243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价格分析模型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08421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价格分析模型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，为后续项目提供数据驱动的定价建议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94121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13171" y="518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4" name="Text 42"/>
          <p:cNvSpPr/>
          <p:nvPr/>
        </p:nvSpPr>
        <p:spPr>
          <a:xfrm>
            <a:off x="4660821" y="5146356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目标：特价流程效率提升30%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61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BBC05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5496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00217" y="1619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8" name="Text 46"/>
          <p:cNvSpPr/>
          <p:nvPr/>
        </p:nvSpPr>
        <p:spPr>
          <a:xfrm>
            <a:off x="8826461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试点推广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54961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69261" y="2209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71450" y="14288"/>
                </a:moveTo>
                <a:cubicBezTo>
                  <a:pt x="171450" y="10984"/>
                  <a:pt x="169753" y="7918"/>
                  <a:pt x="166926" y="6191"/>
                </a:cubicBezTo>
                <a:cubicBezTo>
                  <a:pt x="164098" y="4465"/>
                  <a:pt x="160615" y="4286"/>
                  <a:pt x="157669" y="5775"/>
                </a:cubicBezTo>
                <a:lnTo>
                  <a:pt x="123081" y="23068"/>
                </a:lnTo>
                <a:lnTo>
                  <a:pt x="69681" y="5239"/>
                </a:lnTo>
                <a:cubicBezTo>
                  <a:pt x="67270" y="4435"/>
                  <a:pt x="64681" y="4614"/>
                  <a:pt x="62419" y="5745"/>
                </a:cubicBezTo>
                <a:lnTo>
                  <a:pt x="24319" y="24795"/>
                </a:lnTo>
                <a:cubicBezTo>
                  <a:pt x="21074" y="26432"/>
                  <a:pt x="19050" y="29736"/>
                  <a:pt x="19050" y="33338"/>
                </a:cubicBezTo>
                <a:lnTo>
                  <a:pt x="19050" y="138113"/>
                </a:lnTo>
                <a:cubicBezTo>
                  <a:pt x="19050" y="141416"/>
                  <a:pt x="20747" y="144482"/>
                  <a:pt x="23574" y="146209"/>
                </a:cubicBezTo>
                <a:cubicBezTo>
                  <a:pt x="26402" y="147935"/>
                  <a:pt x="29885" y="148114"/>
                  <a:pt x="32831" y="146625"/>
                </a:cubicBezTo>
                <a:lnTo>
                  <a:pt x="67389" y="129332"/>
                </a:lnTo>
                <a:lnTo>
                  <a:pt x="118973" y="146536"/>
                </a:lnTo>
                <a:cubicBezTo>
                  <a:pt x="117693" y="144631"/>
                  <a:pt x="116443" y="142637"/>
                  <a:pt x="115223" y="140613"/>
                </a:cubicBezTo>
                <a:cubicBezTo>
                  <a:pt x="111949" y="135166"/>
                  <a:pt x="108704" y="128915"/>
                  <a:pt x="106293" y="122218"/>
                </a:cubicBezTo>
                <a:lnTo>
                  <a:pt x="76170" y="112187"/>
                </a:lnTo>
                <a:lnTo>
                  <a:pt x="76170" y="27503"/>
                </a:lnTo>
                <a:lnTo>
                  <a:pt x="114270" y="40213"/>
                </a:lnTo>
                <a:lnTo>
                  <a:pt x="114270" y="69771"/>
                </a:lnTo>
                <a:cubicBezTo>
                  <a:pt x="123498" y="59115"/>
                  <a:pt x="137190" y="52387"/>
                  <a:pt x="152370" y="52387"/>
                </a:cubicBezTo>
                <a:cubicBezTo>
                  <a:pt x="159097" y="52387"/>
                  <a:pt x="165527" y="53697"/>
                  <a:pt x="171420" y="56108"/>
                </a:cubicBezTo>
                <a:lnTo>
                  <a:pt x="171450" y="14288"/>
                </a:lnTo>
                <a:close/>
                <a:moveTo>
                  <a:pt x="152400" y="66675"/>
                </a:moveTo>
                <a:cubicBezTo>
                  <a:pt x="132665" y="66675"/>
                  <a:pt x="116681" y="82391"/>
                  <a:pt x="116681" y="101769"/>
                </a:cubicBezTo>
                <a:cubicBezTo>
                  <a:pt x="116681" y="122277"/>
                  <a:pt x="135761" y="146536"/>
                  <a:pt x="146030" y="158115"/>
                </a:cubicBezTo>
                <a:cubicBezTo>
                  <a:pt x="149483" y="161985"/>
                  <a:pt x="155347" y="161985"/>
                  <a:pt x="158800" y="158115"/>
                </a:cubicBezTo>
                <a:cubicBezTo>
                  <a:pt x="169069" y="146536"/>
                  <a:pt x="188149" y="122277"/>
                  <a:pt x="188149" y="101769"/>
                </a:cubicBezTo>
                <a:cubicBezTo>
                  <a:pt x="188149" y="82391"/>
                  <a:pt x="172164" y="66675"/>
                  <a:pt x="152430" y="66675"/>
                </a:cubicBezTo>
                <a:close/>
                <a:moveTo>
                  <a:pt x="140494" y="102394"/>
                </a:moveTo>
                <a:cubicBezTo>
                  <a:pt x="140494" y="95823"/>
                  <a:pt x="145829" y="90488"/>
                  <a:pt x="152400" y="90488"/>
                </a:cubicBezTo>
                <a:cubicBezTo>
                  <a:pt x="158971" y="90488"/>
                  <a:pt x="164306" y="95823"/>
                  <a:pt x="164306" y="102394"/>
                </a:cubicBezTo>
                <a:cubicBezTo>
                  <a:pt x="164306" y="108965"/>
                  <a:pt x="158971" y="114300"/>
                  <a:pt x="152400" y="114300"/>
                </a:cubicBezTo>
                <a:cubicBezTo>
                  <a:pt x="145829" y="114300"/>
                  <a:pt x="140494" y="108965"/>
                  <a:pt x="140494" y="102394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1" name="Text 49"/>
          <p:cNvSpPr/>
          <p:nvPr/>
        </p:nvSpPr>
        <p:spPr>
          <a:xfrm>
            <a:off x="8635961" y="21717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选取重点项目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69261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选取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BG级、高价值BU级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等重点项目作为试点，验证后端团队前置参与效果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54961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69261" y="318611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5" name="Text 53"/>
          <p:cNvSpPr/>
          <p:nvPr/>
        </p:nvSpPr>
        <p:spPr>
          <a:xfrm>
            <a:off x="8635961" y="3148013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后端团队前置参与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9261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试点项目中，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后端团队（售后、供应链、研发）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前置参与关键节点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54961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8311" y="416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45244"/>
                </a:moveTo>
                <a:cubicBezTo>
                  <a:pt x="90657" y="45244"/>
                  <a:pt x="102394" y="33507"/>
                  <a:pt x="102394" y="19050"/>
                </a:cubicBezTo>
                <a:cubicBezTo>
                  <a:pt x="102394" y="4593"/>
                  <a:pt x="90657" y="-7144"/>
                  <a:pt x="76200" y="-7144"/>
                </a:cubicBezTo>
                <a:cubicBezTo>
                  <a:pt x="61743" y="-7144"/>
                  <a:pt x="50006" y="4593"/>
                  <a:pt x="50006" y="19050"/>
                </a:cubicBezTo>
                <a:cubicBezTo>
                  <a:pt x="50006" y="33507"/>
                  <a:pt x="61743" y="45244"/>
                  <a:pt x="76200" y="45244"/>
                </a:cubicBezTo>
                <a:close/>
                <a:moveTo>
                  <a:pt x="76200" y="134154"/>
                </a:moveTo>
                <a:lnTo>
                  <a:pt x="76200" y="89714"/>
                </a:lnTo>
                <a:cubicBezTo>
                  <a:pt x="81052" y="87690"/>
                  <a:pt x="85993" y="85636"/>
                  <a:pt x="90994" y="83552"/>
                </a:cubicBezTo>
                <a:cubicBezTo>
                  <a:pt x="102602" y="78730"/>
                  <a:pt x="115044" y="76230"/>
                  <a:pt x="127635" y="76230"/>
                </a:cubicBezTo>
                <a:lnTo>
                  <a:pt x="133350" y="76230"/>
                </a:lnTo>
                <a:lnTo>
                  <a:pt x="133350" y="123855"/>
                </a:lnTo>
                <a:lnTo>
                  <a:pt x="127635" y="123855"/>
                </a:lnTo>
                <a:cubicBezTo>
                  <a:pt x="110044" y="123855"/>
                  <a:pt x="92601" y="127337"/>
                  <a:pt x="76349" y="134124"/>
                </a:cubicBezTo>
                <a:lnTo>
                  <a:pt x="76200" y="134183"/>
                </a:lnTo>
                <a:close/>
                <a:moveTo>
                  <a:pt x="76200" y="69056"/>
                </a:moveTo>
                <a:lnTo>
                  <a:pt x="68729" y="65931"/>
                </a:lnTo>
                <a:cubicBezTo>
                  <a:pt x="54799" y="60127"/>
                  <a:pt x="39856" y="57150"/>
                  <a:pt x="24765" y="57150"/>
                </a:cubicBez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24765" y="142875"/>
                </a:lnTo>
                <a:cubicBezTo>
                  <a:pt x="39856" y="142875"/>
                  <a:pt x="54799" y="145852"/>
                  <a:pt x="68729" y="151656"/>
                </a:cubicBezTo>
                <a:lnTo>
                  <a:pt x="72539" y="153233"/>
                </a:lnTo>
                <a:cubicBezTo>
                  <a:pt x="74890" y="154216"/>
                  <a:pt x="77510" y="154216"/>
                  <a:pt x="79861" y="153233"/>
                </a:cubicBezTo>
                <a:lnTo>
                  <a:pt x="83671" y="151656"/>
                </a:lnTo>
                <a:cubicBezTo>
                  <a:pt x="97601" y="145852"/>
                  <a:pt x="112544" y="142875"/>
                  <a:pt x="127635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7"/>
                </a:cubicBezTo>
                <a:lnTo>
                  <a:pt x="152400" y="71437"/>
                </a:lnTo>
                <a:cubicBezTo>
                  <a:pt x="152400" y="63550"/>
                  <a:pt x="146000" y="57150"/>
                  <a:pt x="138113" y="57150"/>
                </a:cubicBezTo>
                <a:lnTo>
                  <a:pt x="127635" y="57150"/>
                </a:lnTo>
                <a:cubicBezTo>
                  <a:pt x="112544" y="57150"/>
                  <a:pt x="97601" y="60127"/>
                  <a:pt x="83671" y="65931"/>
                </a:cubicBezTo>
                <a:lnTo>
                  <a:pt x="76200" y="69056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9" name="Text 57"/>
          <p:cNvSpPr/>
          <p:nvPr/>
        </p:nvSpPr>
        <p:spPr>
          <a:xfrm>
            <a:off x="8635961" y="4124325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经验沉淀与复制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69261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总结试点项目中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可复制经验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，形成标准化操作指南与最佳实践案例库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54961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74011" y="518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63" name="Text 61"/>
          <p:cNvSpPr/>
          <p:nvPr/>
        </p:nvSpPr>
        <p:spPr>
          <a:xfrm>
            <a:off x="8521661" y="5146356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目标：试点项目成功率提升15%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00050" y="5641656"/>
            <a:ext cx="11410950" cy="742950"/>
          </a:xfrm>
          <a:custGeom>
            <a:avLst/>
            <a:gdLst/>
            <a:ahLst/>
            <a:cxnLst/>
            <a:rect l="l" t="t" r="r" b="b"/>
            <a:pathLst>
              <a:path w="11410950" h="742950">
                <a:moveTo>
                  <a:pt x="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628647"/>
                </a:lnTo>
                <a:cubicBezTo>
                  <a:pt x="11410950" y="691733"/>
                  <a:pt x="11359733" y="742950"/>
                  <a:pt x="1129664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34A853">
              <a:alpha val="5098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00050" y="5641656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66" name="Shape 64"/>
          <p:cNvSpPr/>
          <p:nvPr/>
        </p:nvSpPr>
        <p:spPr>
          <a:xfrm>
            <a:off x="557213" y="591788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67" name="Text 65"/>
          <p:cNvSpPr/>
          <p:nvPr/>
        </p:nvSpPr>
        <p:spPr>
          <a:xfrm>
            <a:off x="885825" y="5755956"/>
            <a:ext cx="763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中期计划核心目标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85825" y="6022656"/>
            <a:ext cx="7639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方案优化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特价管理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试点推广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三大举措，在3-4个月内推动业务质量实质性提升，为全面推广积累成功经验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BBC0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008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" name="Text 2"/>
          <p:cNvSpPr/>
          <p:nvPr/>
        </p:nvSpPr>
        <p:spPr>
          <a:xfrm>
            <a:off x="1393508" y="381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实施路径与分阶段计划（长期：5-6个月）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全面推广，迭代闭环，构建可持续优化的MO管理生态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34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6750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全面覆盖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6275" y="2209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71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推广至所有层级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700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将优化后流程推广至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所有层级立项项目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（区域级、BU级、BG级），实现全量覆盖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1861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82272" y="77599"/>
                </a:moveTo>
                <a:cubicBezTo>
                  <a:pt x="84356" y="74265"/>
                  <a:pt x="83344" y="69860"/>
                  <a:pt x="80010" y="67747"/>
                </a:cubicBezTo>
                <a:cubicBezTo>
                  <a:pt x="76676" y="65633"/>
                  <a:pt x="72271" y="66675"/>
                  <a:pt x="70158" y="70009"/>
                </a:cubicBezTo>
                <a:lnTo>
                  <a:pt x="51881" y="99268"/>
                </a:lnTo>
                <a:lnTo>
                  <a:pt x="43845" y="88553"/>
                </a:lnTo>
                <a:cubicBezTo>
                  <a:pt x="41464" y="85398"/>
                  <a:pt x="36999" y="84743"/>
                  <a:pt x="33844" y="87124"/>
                </a:cubicBezTo>
                <a:cubicBezTo>
                  <a:pt x="30688" y="89505"/>
                  <a:pt x="30034" y="93970"/>
                  <a:pt x="32415" y="97125"/>
                </a:cubicBezTo>
                <a:lnTo>
                  <a:pt x="46702" y="116175"/>
                </a:lnTo>
                <a:cubicBezTo>
                  <a:pt x="48101" y="118050"/>
                  <a:pt x="50363" y="119122"/>
                  <a:pt x="52715" y="119033"/>
                </a:cubicBezTo>
                <a:cubicBezTo>
                  <a:pt x="55066" y="118943"/>
                  <a:pt x="57210" y="117693"/>
                  <a:pt x="58460" y="115669"/>
                </a:cubicBezTo>
                <a:lnTo>
                  <a:pt x="82272" y="77569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48013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标准化执行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确保所有项目严格执行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标准化流程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，四大核心会议执行率达到目标水平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7700" y="41624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2432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全员赋能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开展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全员赋能培训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，确保所有项目经理及相关角色熟练掌握优化后流程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52450" y="518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" y="5146356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目标：优化流程执行率≥90%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1721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34A853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9412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39377" y="16192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9" name="Text 27"/>
          <p:cNvSpPr/>
          <p:nvPr/>
        </p:nvSpPr>
        <p:spPr>
          <a:xfrm>
            <a:off x="4965621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经验沉淀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94121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27471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9050"/>
                </a:moveTo>
                <a:cubicBezTo>
                  <a:pt x="0" y="13781"/>
                  <a:pt x="4256" y="9525"/>
                  <a:pt x="9525" y="9525"/>
                </a:cubicBezTo>
                <a:lnTo>
                  <a:pt x="142875" y="9525"/>
                </a:lnTo>
                <a:cubicBezTo>
                  <a:pt x="148144" y="9525"/>
                  <a:pt x="152400" y="13781"/>
                  <a:pt x="152400" y="19050"/>
                </a:cubicBezTo>
                <a:lnTo>
                  <a:pt x="152400" y="28575"/>
                </a:lnTo>
                <a:cubicBezTo>
                  <a:pt x="152400" y="33844"/>
                  <a:pt x="148144" y="38100"/>
                  <a:pt x="142875" y="38100"/>
                </a:cubicBezTo>
                <a:lnTo>
                  <a:pt x="9525" y="38100"/>
                </a:lnTo>
                <a:cubicBezTo>
                  <a:pt x="4256" y="38100"/>
                  <a:pt x="0" y="33844"/>
                  <a:pt x="0" y="28575"/>
                </a:cubicBezTo>
                <a:lnTo>
                  <a:pt x="0" y="19050"/>
                </a:lnTo>
                <a:close/>
                <a:moveTo>
                  <a:pt x="9525" y="52388"/>
                </a:moveTo>
                <a:lnTo>
                  <a:pt x="142875" y="52388"/>
                </a:lnTo>
                <a:lnTo>
                  <a:pt x="142875" y="123825"/>
                </a:lnTo>
                <a:cubicBezTo>
                  <a:pt x="142875" y="134332"/>
                  <a:pt x="134332" y="142875"/>
                  <a:pt x="123825" y="142875"/>
                </a:cubicBezTo>
                <a:lnTo>
                  <a:pt x="28575" y="142875"/>
                </a:lnTo>
                <a:cubicBezTo>
                  <a:pt x="18068" y="142875"/>
                  <a:pt x="9525" y="134332"/>
                  <a:pt x="9525" y="123825"/>
                </a:cubicBezTo>
                <a:lnTo>
                  <a:pt x="9525" y="52388"/>
                </a:lnTo>
                <a:close/>
                <a:moveTo>
                  <a:pt x="54769" y="71438"/>
                </a:moveTo>
                <a:cubicBezTo>
                  <a:pt x="50810" y="71438"/>
                  <a:pt x="47625" y="74622"/>
                  <a:pt x="47625" y="78581"/>
                </a:cubicBezTo>
                <a:cubicBezTo>
                  <a:pt x="47625" y="82540"/>
                  <a:pt x="50810" y="85725"/>
                  <a:pt x="54769" y="85725"/>
                </a:cubicBezTo>
                <a:lnTo>
                  <a:pt x="97631" y="85725"/>
                </a:lnTo>
                <a:cubicBezTo>
                  <a:pt x="101590" y="85725"/>
                  <a:pt x="104775" y="82540"/>
                  <a:pt x="104775" y="78581"/>
                </a:cubicBezTo>
                <a:cubicBezTo>
                  <a:pt x="104775" y="74622"/>
                  <a:pt x="101590" y="71438"/>
                  <a:pt x="97631" y="71438"/>
                </a:cubicBezTo>
                <a:lnTo>
                  <a:pt x="54769" y="71438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2" name="Text 30"/>
          <p:cNvSpPr/>
          <p:nvPr/>
        </p:nvSpPr>
        <p:spPr>
          <a:xfrm>
            <a:off x="4775121" y="2171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复盘经验沉淀库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08421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搭建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赢丢单复盘经验沉淀库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，系统化收集、分类、存储各项目复盘成果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94121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27471" y="31861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6" name="Text 34"/>
          <p:cNvSpPr/>
          <p:nvPr/>
        </p:nvSpPr>
        <p:spPr>
          <a:xfrm>
            <a:off x="4775121" y="31480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策略闭环机制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08421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形成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"复盘-优化-落地"策略闭环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，将复盘经验转化为可执行优化措施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4121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46521" y="41624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0" name="Text 38"/>
          <p:cNvSpPr/>
          <p:nvPr/>
        </p:nvSpPr>
        <p:spPr>
          <a:xfrm>
            <a:off x="4775121" y="41243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知识分享平台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08421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知识分享平台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，定期推送优秀案例、失败教训，促进组织学习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94121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13171" y="518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4" name="Text 42"/>
          <p:cNvSpPr/>
          <p:nvPr/>
        </p:nvSpPr>
        <p:spPr>
          <a:xfrm>
            <a:off x="4660821" y="5146356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目标：沉淀100+条有效经验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2561" y="1333500"/>
            <a:ext cx="3705225" cy="4191000"/>
          </a:xfrm>
          <a:custGeom>
            <a:avLst/>
            <a:gdLst/>
            <a:ahLst/>
            <a:cxnLst/>
            <a:rect l="l" t="t" r="r" b="b"/>
            <a:pathLst>
              <a:path w="3705225" h="41910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4076694"/>
                </a:lnTo>
                <a:cubicBezTo>
                  <a:pt x="3705225" y="4139823"/>
                  <a:pt x="3654048" y="4191000"/>
                  <a:pt x="3590919" y="4191000"/>
                </a:cubicBezTo>
                <a:lnTo>
                  <a:pt x="114306" y="4191000"/>
                </a:lnTo>
                <a:cubicBezTo>
                  <a:pt x="51177" y="4191000"/>
                  <a:pt x="0" y="4139823"/>
                  <a:pt x="0" y="40766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BBC05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54961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88311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8" name="Text 46"/>
          <p:cNvSpPr/>
          <p:nvPr/>
        </p:nvSpPr>
        <p:spPr>
          <a:xfrm>
            <a:off x="8826461" y="15811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持续迭代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54961" y="2057400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88311" y="220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1" name="Text 49"/>
          <p:cNvSpPr/>
          <p:nvPr/>
        </p:nvSpPr>
        <p:spPr>
          <a:xfrm>
            <a:off x="8635961" y="21717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月度复盘机制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69261" y="2476500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每月开展流程执行质量与业务指标复盘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，分析关键指标变化趋势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54961" y="3033713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88311" y="31861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48"/>
                  <a:pt x="107752" y="19050"/>
                  <a:pt x="76200" y="19050"/>
                </a:cubicBezTo>
                <a:lnTo>
                  <a:pt x="76200" y="133350"/>
                </a:lnTo>
                <a:cubicBezTo>
                  <a:pt x="107752" y="133350"/>
                  <a:pt x="133350" y="10775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5" name="Text 53"/>
          <p:cNvSpPr/>
          <p:nvPr/>
        </p:nvSpPr>
        <p:spPr>
          <a:xfrm>
            <a:off x="8635961" y="3148013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动态优化调整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69261" y="3452813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市场、业务变化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动态调整优化方案，确保流程与市场、业务需求保持同步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54961" y="4010025"/>
            <a:ext cx="3400425" cy="904875"/>
          </a:xfrm>
          <a:custGeom>
            <a:avLst/>
            <a:gdLst/>
            <a:ahLst/>
            <a:cxnLst/>
            <a:rect l="l" t="t" r="r" b="b"/>
            <a:pathLst>
              <a:path w="3400425" h="904875">
                <a:moveTo>
                  <a:pt x="76200" y="0"/>
                </a:moveTo>
                <a:lnTo>
                  <a:pt x="3324225" y="0"/>
                </a:lnTo>
                <a:cubicBezTo>
                  <a:pt x="3366309" y="0"/>
                  <a:pt x="3400425" y="34116"/>
                  <a:pt x="3400425" y="76200"/>
                </a:cubicBezTo>
                <a:lnTo>
                  <a:pt x="3400425" y="828675"/>
                </a:lnTo>
                <a:cubicBezTo>
                  <a:pt x="3400425" y="870759"/>
                  <a:pt x="3366309" y="904875"/>
                  <a:pt x="3324225" y="904875"/>
                </a:cubicBezTo>
                <a:lnTo>
                  <a:pt x="76200" y="904875"/>
                </a:lnTo>
                <a:cubicBezTo>
                  <a:pt x="34116" y="904875"/>
                  <a:pt x="0" y="870759"/>
                  <a:pt x="0" y="82867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8311" y="4162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59" name="Text 57"/>
          <p:cNvSpPr/>
          <p:nvPr/>
        </p:nvSpPr>
        <p:spPr>
          <a:xfrm>
            <a:off x="8635961" y="4124325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效果评估体系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69261" y="4429125"/>
            <a:ext cx="3238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</a:t>
            </a:r>
            <a:r>
              <a:rPr lang="en-US" sz="105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效果评估体系</a:t>
            </a:r>
            <a:r>
              <a:rPr lang="en-US" sz="1050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，从流程指标、业务指标、管理指标三个维度评估优化成效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54961" y="5028247"/>
            <a:ext cx="3400425" cy="7620"/>
          </a:xfrm>
          <a:custGeom>
            <a:avLst/>
            <a:gdLst/>
            <a:ahLst/>
            <a:cxnLst/>
            <a:rect l="l" t="t" r="r" b="b"/>
            <a:pathLst>
              <a:path w="3400425" h="7620">
                <a:moveTo>
                  <a:pt x="0" y="0"/>
                </a:moveTo>
                <a:lnTo>
                  <a:pt x="3400425" y="0"/>
                </a:lnTo>
                <a:lnTo>
                  <a:pt x="34004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74011" y="518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63" name="Text 61"/>
          <p:cNvSpPr/>
          <p:nvPr/>
        </p:nvSpPr>
        <p:spPr>
          <a:xfrm>
            <a:off x="8521661" y="5146356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目标：形成可持续优化生态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00050" y="5641656"/>
            <a:ext cx="11410950" cy="742950"/>
          </a:xfrm>
          <a:custGeom>
            <a:avLst/>
            <a:gdLst/>
            <a:ahLst/>
            <a:cxnLst/>
            <a:rect l="l" t="t" r="r" b="b"/>
            <a:pathLst>
              <a:path w="11410950" h="742950">
                <a:moveTo>
                  <a:pt x="0" y="0"/>
                </a:moveTo>
                <a:lnTo>
                  <a:pt x="11296647" y="0"/>
                </a:lnTo>
                <a:cubicBezTo>
                  <a:pt x="11359733" y="0"/>
                  <a:pt x="11410950" y="51217"/>
                  <a:pt x="11410950" y="114303"/>
                </a:cubicBezTo>
                <a:lnTo>
                  <a:pt x="11410950" y="628647"/>
                </a:lnTo>
                <a:cubicBezTo>
                  <a:pt x="11410950" y="691733"/>
                  <a:pt x="11359733" y="742950"/>
                  <a:pt x="11296647" y="742950"/>
                </a:cubicBez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>
              <a:alpha val="5098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00050" y="5641656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66" name="Shape 64"/>
          <p:cNvSpPr/>
          <p:nvPr/>
        </p:nvSpPr>
        <p:spPr>
          <a:xfrm>
            <a:off x="533400" y="591788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0" y="95250"/>
                </a:moveTo>
                <a:cubicBezTo>
                  <a:pt x="0" y="62359"/>
                  <a:pt x="26640" y="35719"/>
                  <a:pt x="59531" y="35719"/>
                </a:cubicBezTo>
                <a:cubicBezTo>
                  <a:pt x="78284" y="35719"/>
                  <a:pt x="95920" y="44537"/>
                  <a:pt x="107156" y="59531"/>
                </a:cubicBezTo>
                <a:lnTo>
                  <a:pt x="119063" y="75419"/>
                </a:lnTo>
                <a:lnTo>
                  <a:pt x="130969" y="59531"/>
                </a:lnTo>
                <a:cubicBezTo>
                  <a:pt x="142205" y="44537"/>
                  <a:pt x="159841" y="35719"/>
                  <a:pt x="178594" y="35719"/>
                </a:cubicBezTo>
                <a:cubicBezTo>
                  <a:pt x="211485" y="35719"/>
                  <a:pt x="238125" y="62359"/>
                  <a:pt x="238125" y="95250"/>
                </a:cubicBezTo>
                <a:cubicBezTo>
                  <a:pt x="238125" y="128141"/>
                  <a:pt x="211485" y="154781"/>
                  <a:pt x="178594" y="154781"/>
                </a:cubicBezTo>
                <a:cubicBezTo>
                  <a:pt x="159841" y="154781"/>
                  <a:pt x="142205" y="145963"/>
                  <a:pt x="130969" y="130969"/>
                </a:cubicBezTo>
                <a:lnTo>
                  <a:pt x="119063" y="115081"/>
                </a:lnTo>
                <a:lnTo>
                  <a:pt x="107156" y="130969"/>
                </a:lnTo>
                <a:cubicBezTo>
                  <a:pt x="95920" y="145963"/>
                  <a:pt x="78284" y="154781"/>
                  <a:pt x="59531" y="154781"/>
                </a:cubicBezTo>
                <a:cubicBezTo>
                  <a:pt x="26640" y="154781"/>
                  <a:pt x="0" y="128141"/>
                  <a:pt x="0" y="95250"/>
                </a:cubicBezTo>
                <a:close/>
                <a:moveTo>
                  <a:pt x="104180" y="95250"/>
                </a:moveTo>
                <a:lnTo>
                  <a:pt x="88106" y="73819"/>
                </a:lnTo>
                <a:cubicBezTo>
                  <a:pt x="81372" y="64815"/>
                  <a:pt x="70768" y="59531"/>
                  <a:pt x="59531" y="59531"/>
                </a:cubicBezTo>
                <a:cubicBezTo>
                  <a:pt x="39812" y="59531"/>
                  <a:pt x="23812" y="75530"/>
                  <a:pt x="23812" y="95250"/>
                </a:cubicBezTo>
                <a:cubicBezTo>
                  <a:pt x="23812" y="114970"/>
                  <a:pt x="39812" y="130969"/>
                  <a:pt x="59531" y="130969"/>
                </a:cubicBezTo>
                <a:cubicBezTo>
                  <a:pt x="70768" y="130969"/>
                  <a:pt x="81372" y="125685"/>
                  <a:pt x="88106" y="116681"/>
                </a:cubicBezTo>
                <a:lnTo>
                  <a:pt x="104180" y="95250"/>
                </a:lnTo>
                <a:close/>
                <a:moveTo>
                  <a:pt x="133945" y="95250"/>
                </a:moveTo>
                <a:lnTo>
                  <a:pt x="150019" y="116681"/>
                </a:lnTo>
                <a:cubicBezTo>
                  <a:pt x="156753" y="125685"/>
                  <a:pt x="167357" y="130969"/>
                  <a:pt x="178594" y="130969"/>
                </a:cubicBezTo>
                <a:cubicBezTo>
                  <a:pt x="198313" y="130969"/>
                  <a:pt x="214313" y="114970"/>
                  <a:pt x="214313" y="95250"/>
                </a:cubicBezTo>
                <a:cubicBezTo>
                  <a:pt x="214313" y="75530"/>
                  <a:pt x="198313" y="59531"/>
                  <a:pt x="178594" y="59531"/>
                </a:cubicBezTo>
                <a:cubicBezTo>
                  <a:pt x="167357" y="59531"/>
                  <a:pt x="156753" y="64815"/>
                  <a:pt x="150019" y="73819"/>
                </a:cubicBezTo>
                <a:lnTo>
                  <a:pt x="133945" y="9525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67" name="Text 65"/>
          <p:cNvSpPr/>
          <p:nvPr/>
        </p:nvSpPr>
        <p:spPr>
          <a:xfrm>
            <a:off x="885825" y="5755956"/>
            <a:ext cx="885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长期计划核心目标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85825" y="6022656"/>
            <a:ext cx="8858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全面覆盖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经验沉淀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20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持续迭代</a:t>
            </a:r>
            <a:r>
              <a:rPr lang="en-US" sz="120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三大任务，在5-6个月内构建可持续优化的MO管理生态，实现从"一次优化"到"持续进化"的转变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7187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1243370" y="3810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RESPONSIBILITIES &amp;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责任分工与预期成效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明确责任矩阵，量化预期成果，确保项目落地见效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295400"/>
            <a:ext cx="5676900" cy="3990975"/>
          </a:xfrm>
          <a:custGeom>
            <a:avLst/>
            <a:gdLst/>
            <a:ahLst/>
            <a:cxnLst/>
            <a:rect l="l" t="t" r="r" b="b"/>
            <a:pathLst>
              <a:path w="5676900" h="3990975">
                <a:moveTo>
                  <a:pt x="114302" y="0"/>
                </a:moveTo>
                <a:lnTo>
                  <a:pt x="5562598" y="0"/>
                </a:lnTo>
                <a:cubicBezTo>
                  <a:pt x="5625725" y="0"/>
                  <a:pt x="5676900" y="51175"/>
                  <a:pt x="5676900" y="114302"/>
                </a:cubicBezTo>
                <a:lnTo>
                  <a:pt x="5676900" y="3876673"/>
                </a:lnTo>
                <a:cubicBezTo>
                  <a:pt x="5676900" y="3939800"/>
                  <a:pt x="5625725" y="3990975"/>
                  <a:pt x="5562598" y="3990975"/>
                </a:cubicBezTo>
                <a:lnTo>
                  <a:pt x="114302" y="3990975"/>
                </a:lnTo>
                <a:cubicBezTo>
                  <a:pt x="51175" y="3990975"/>
                  <a:pt x="0" y="3939800"/>
                  <a:pt x="0" y="3876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9" name="Shape 7"/>
          <p:cNvSpPr/>
          <p:nvPr/>
        </p:nvSpPr>
        <p:spPr>
          <a:xfrm>
            <a:off x="564356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4805" y="12156"/>
                </a:moveTo>
                <a:cubicBezTo>
                  <a:pt x="48455" y="14700"/>
                  <a:pt x="49325" y="19723"/>
                  <a:pt x="46780" y="23340"/>
                </a:cubicBezTo>
                <a:lnTo>
                  <a:pt x="28028" y="50129"/>
                </a:lnTo>
                <a:cubicBezTo>
                  <a:pt x="26655" y="52071"/>
                  <a:pt x="24512" y="53310"/>
                  <a:pt x="22134" y="53511"/>
                </a:cubicBezTo>
                <a:cubicBezTo>
                  <a:pt x="19757" y="53712"/>
                  <a:pt x="17413" y="52908"/>
                  <a:pt x="15739" y="51234"/>
                </a:cubicBezTo>
                <a:lnTo>
                  <a:pt x="2344" y="37840"/>
                </a:lnTo>
                <a:cubicBezTo>
                  <a:pt x="-770" y="34692"/>
                  <a:pt x="-770" y="29602"/>
                  <a:pt x="2344" y="26454"/>
                </a:cubicBezTo>
                <a:cubicBezTo>
                  <a:pt x="5458" y="23306"/>
                  <a:pt x="10582" y="23340"/>
                  <a:pt x="13729" y="26454"/>
                </a:cubicBezTo>
                <a:lnTo>
                  <a:pt x="20360" y="33084"/>
                </a:lnTo>
                <a:lnTo>
                  <a:pt x="33620" y="14131"/>
                </a:lnTo>
                <a:cubicBezTo>
                  <a:pt x="36165" y="10481"/>
                  <a:pt x="41188" y="9611"/>
                  <a:pt x="44805" y="12156"/>
                </a:cubicBezTo>
                <a:close/>
                <a:moveTo>
                  <a:pt x="44805" y="65734"/>
                </a:moveTo>
                <a:cubicBezTo>
                  <a:pt x="48455" y="68279"/>
                  <a:pt x="49325" y="73302"/>
                  <a:pt x="46780" y="76918"/>
                </a:cubicBezTo>
                <a:lnTo>
                  <a:pt x="28028" y="103707"/>
                </a:lnTo>
                <a:cubicBezTo>
                  <a:pt x="26655" y="105649"/>
                  <a:pt x="24512" y="106888"/>
                  <a:pt x="22134" y="107089"/>
                </a:cubicBezTo>
                <a:cubicBezTo>
                  <a:pt x="19757" y="107290"/>
                  <a:pt x="17413" y="106487"/>
                  <a:pt x="15739" y="104812"/>
                </a:cubicBezTo>
                <a:lnTo>
                  <a:pt x="2344" y="91418"/>
                </a:lnTo>
                <a:cubicBezTo>
                  <a:pt x="-804" y="88270"/>
                  <a:pt x="-804" y="83180"/>
                  <a:pt x="2344" y="80066"/>
                </a:cubicBezTo>
                <a:cubicBezTo>
                  <a:pt x="5492" y="76952"/>
                  <a:pt x="10582" y="76918"/>
                  <a:pt x="13696" y="80066"/>
                </a:cubicBezTo>
                <a:lnTo>
                  <a:pt x="20326" y="86696"/>
                </a:lnTo>
                <a:lnTo>
                  <a:pt x="33587" y="67743"/>
                </a:lnTo>
                <a:cubicBezTo>
                  <a:pt x="36132" y="64093"/>
                  <a:pt x="41155" y="63222"/>
                  <a:pt x="44771" y="65767"/>
                </a:cubicBezTo>
                <a:close/>
                <a:moveTo>
                  <a:pt x="75009" y="32147"/>
                </a:moveTo>
                <a:cubicBezTo>
                  <a:pt x="75009" y="26220"/>
                  <a:pt x="79798" y="21431"/>
                  <a:pt x="85725" y="21431"/>
                </a:cubicBezTo>
                <a:lnTo>
                  <a:pt x="160734" y="21431"/>
                </a:lnTo>
                <a:cubicBezTo>
                  <a:pt x="166661" y="21431"/>
                  <a:pt x="171450" y="26220"/>
                  <a:pt x="171450" y="32147"/>
                </a:cubicBezTo>
                <a:cubicBezTo>
                  <a:pt x="171450" y="38074"/>
                  <a:pt x="166661" y="42863"/>
                  <a:pt x="160734" y="42863"/>
                </a:cubicBezTo>
                <a:lnTo>
                  <a:pt x="85725" y="42863"/>
                </a:lnTo>
                <a:cubicBezTo>
                  <a:pt x="79798" y="42863"/>
                  <a:pt x="75009" y="38074"/>
                  <a:pt x="75009" y="32147"/>
                </a:cubicBezTo>
                <a:close/>
                <a:moveTo>
                  <a:pt x="75009" y="85725"/>
                </a:moveTo>
                <a:cubicBezTo>
                  <a:pt x="75009" y="79798"/>
                  <a:pt x="79798" y="75009"/>
                  <a:pt x="85725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85725" y="96441"/>
                </a:lnTo>
                <a:cubicBezTo>
                  <a:pt x="79798" y="96441"/>
                  <a:pt x="75009" y="91652"/>
                  <a:pt x="75009" y="85725"/>
                </a:cubicBezTo>
                <a:close/>
                <a:moveTo>
                  <a:pt x="53578" y="139303"/>
                </a:moveTo>
                <a:cubicBezTo>
                  <a:pt x="53578" y="133376"/>
                  <a:pt x="58367" y="128588"/>
                  <a:pt x="64294" y="128588"/>
                </a:cubicBez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64294" y="150019"/>
                </a:lnTo>
                <a:cubicBezTo>
                  <a:pt x="58367" y="150019"/>
                  <a:pt x="53578" y="145230"/>
                  <a:pt x="53578" y="139303"/>
                </a:cubicBezTo>
                <a:close/>
                <a:moveTo>
                  <a:pt x="21431" y="125909"/>
                </a:moveTo>
                <a:cubicBezTo>
                  <a:pt x="28824" y="125909"/>
                  <a:pt x="34826" y="131910"/>
                  <a:pt x="34826" y="139303"/>
                </a:cubicBezTo>
                <a:cubicBezTo>
                  <a:pt x="34826" y="146696"/>
                  <a:pt x="28824" y="152698"/>
                  <a:pt x="21431" y="152698"/>
                </a:cubicBezTo>
                <a:cubicBezTo>
                  <a:pt x="14039" y="152698"/>
                  <a:pt x="8037" y="146696"/>
                  <a:pt x="8037" y="139303"/>
                </a:cubicBezTo>
                <a:cubicBezTo>
                  <a:pt x="8037" y="131910"/>
                  <a:pt x="14039" y="125909"/>
                  <a:pt x="21431" y="1259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1428750"/>
            <a:ext cx="111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核心责任分工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1790700"/>
            <a:ext cx="38100" cy="523875"/>
          </a:xfrm>
          <a:custGeom>
            <a:avLst/>
            <a:gdLst/>
            <a:ahLst/>
            <a:cxnLst/>
            <a:rect l="l" t="t" r="r" b="b"/>
            <a:pathLst>
              <a:path w="38100" h="523875">
                <a:moveTo>
                  <a:pt x="0" y="0"/>
                </a:moveTo>
                <a:lnTo>
                  <a:pt x="38100" y="0"/>
                </a:lnTo>
                <a:lnTo>
                  <a:pt x="381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701397" y="186690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8288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牵头部门（行业系统部）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095500"/>
            <a:ext cx="5438775" cy="180975"/>
          </a:xfrm>
          <a:prstGeom prst="rect">
            <a:avLst/>
          </a:prstGeom>
          <a:noFill/>
          <a:ln/>
        </p:spPr>
        <p:txBody>
          <a:bodyPr wrap="square" lIns="3048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整体统筹、进度把控、跨部门协调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，定期召开项目推进会，及时解决问题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250" y="2355056"/>
            <a:ext cx="38100" cy="523875"/>
          </a:xfrm>
          <a:custGeom>
            <a:avLst/>
            <a:gdLst/>
            <a:ahLst/>
            <a:cxnLst/>
            <a:rect l="l" t="t" r="r" b="b"/>
            <a:pathLst>
              <a:path w="38100" h="523875">
                <a:moveTo>
                  <a:pt x="0" y="0"/>
                </a:moveTo>
                <a:lnTo>
                  <a:pt x="38100" y="0"/>
                </a:lnTo>
                <a:lnTo>
                  <a:pt x="381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" y="239315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691753" y="2431256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39315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销售端（含项目经理）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2659856"/>
            <a:ext cx="5438775" cy="180975"/>
          </a:xfrm>
          <a:prstGeom prst="rect">
            <a:avLst/>
          </a:prstGeom>
          <a:noFill/>
          <a:ln/>
        </p:spPr>
        <p:txBody>
          <a:bodyPr wrap="square" lIns="3048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严格执行优化后流程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，落实前端推进责任，确保关键节点执行到位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250" y="2919413"/>
            <a:ext cx="38100" cy="523875"/>
          </a:xfrm>
          <a:custGeom>
            <a:avLst/>
            <a:gdLst/>
            <a:ahLst/>
            <a:cxnLst/>
            <a:rect l="l" t="t" r="r" b="b"/>
            <a:pathLst>
              <a:path w="38100" h="523875">
                <a:moveTo>
                  <a:pt x="0" y="0"/>
                </a:moveTo>
                <a:lnTo>
                  <a:pt x="38100" y="0"/>
                </a:lnTo>
                <a:lnTo>
                  <a:pt x="381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29575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3" name="Text 21"/>
          <p:cNvSpPr/>
          <p:nvPr/>
        </p:nvSpPr>
        <p:spPr>
          <a:xfrm>
            <a:off x="690205" y="2995613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2957513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铁三角及技术团队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" y="3224213"/>
            <a:ext cx="5438775" cy="180975"/>
          </a:xfrm>
          <a:prstGeom prst="rect">
            <a:avLst/>
          </a:prstGeom>
          <a:noFill/>
          <a:ln/>
        </p:spPr>
        <p:txBody>
          <a:bodyPr wrap="square" lIns="3048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前置支撑、方案评审、技术赋能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，主动参与前端MO流程各环节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3483769"/>
            <a:ext cx="38100" cy="523875"/>
          </a:xfrm>
          <a:custGeom>
            <a:avLst/>
            <a:gdLst/>
            <a:ahLst/>
            <a:cxnLst/>
            <a:rect l="l" t="t" r="r" b="b"/>
            <a:pathLst>
              <a:path w="38100" h="523875">
                <a:moveTo>
                  <a:pt x="0" y="0"/>
                </a:moveTo>
                <a:lnTo>
                  <a:pt x="38100" y="0"/>
                </a:lnTo>
                <a:lnTo>
                  <a:pt x="381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600" y="35218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24" y="3559969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3521869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后端部门（售后/供应链/研发）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9600" y="3788569"/>
            <a:ext cx="5438775" cy="180975"/>
          </a:xfrm>
          <a:prstGeom prst="rect">
            <a:avLst/>
          </a:prstGeom>
          <a:noFill/>
          <a:ln/>
        </p:spPr>
        <p:txBody>
          <a:bodyPr wrap="square" lIns="3048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主动参与关键节点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，提供交付、供应、产品质量保障，提前规划支撑方案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6250" y="4048125"/>
            <a:ext cx="38100" cy="523875"/>
          </a:xfrm>
          <a:custGeom>
            <a:avLst/>
            <a:gdLst/>
            <a:ahLst/>
            <a:cxnLst/>
            <a:rect l="l" t="t" r="r" b="b"/>
            <a:pathLst>
              <a:path w="38100" h="523875">
                <a:moveTo>
                  <a:pt x="0" y="0"/>
                </a:moveTo>
                <a:lnTo>
                  <a:pt x="38100" y="0"/>
                </a:lnTo>
                <a:lnTo>
                  <a:pt x="38100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600" y="40862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689729" y="4124325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" y="4086225"/>
            <a:ext cx="50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IT部门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4352925"/>
            <a:ext cx="5438775" cy="180975"/>
          </a:xfrm>
          <a:prstGeom prst="rect">
            <a:avLst/>
          </a:prstGeom>
          <a:noFill/>
          <a:ln/>
        </p:spPr>
        <p:txBody>
          <a:bodyPr wrap="square" lIns="3048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配合搭建监控看板、价格辅助工具</a:t>
            </a:r>
            <a:r>
              <a:rPr lang="en-US" sz="10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，保障系统支撑，优化用户体验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34100" y="1295400"/>
            <a:ext cx="5676900" cy="3305175"/>
          </a:xfrm>
          <a:custGeom>
            <a:avLst/>
            <a:gdLst/>
            <a:ahLst/>
            <a:cxnLst/>
            <a:rect l="l" t="t" r="r" b="b"/>
            <a:pathLst>
              <a:path w="5676900" h="3305175">
                <a:moveTo>
                  <a:pt x="114293" y="0"/>
                </a:moveTo>
                <a:lnTo>
                  <a:pt x="5562607" y="0"/>
                </a:lnTo>
                <a:cubicBezTo>
                  <a:pt x="5625729" y="0"/>
                  <a:pt x="5676900" y="51171"/>
                  <a:pt x="5676900" y="114293"/>
                </a:cubicBezTo>
                <a:lnTo>
                  <a:pt x="5676900" y="3190882"/>
                </a:lnTo>
                <a:cubicBezTo>
                  <a:pt x="5676900" y="3254004"/>
                  <a:pt x="5625729" y="3305175"/>
                  <a:pt x="5562607" y="3305175"/>
                </a:cubicBezTo>
                <a:lnTo>
                  <a:pt x="114293" y="3305175"/>
                </a:lnTo>
                <a:cubicBezTo>
                  <a:pt x="51171" y="3305175"/>
                  <a:pt x="0" y="3254004"/>
                  <a:pt x="0" y="31908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0300" y="1371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17456" y="14763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39" name="Text 37"/>
          <p:cNvSpPr/>
          <p:nvPr/>
        </p:nvSpPr>
        <p:spPr>
          <a:xfrm>
            <a:off x="6705600" y="14287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预期成效（可量化）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0300" y="1790700"/>
            <a:ext cx="5524500" cy="990600"/>
          </a:xfrm>
          <a:custGeom>
            <a:avLst/>
            <a:gdLst/>
            <a:ahLst/>
            <a:cxnLst/>
            <a:rect l="l" t="t" r="r" b="b"/>
            <a:pathLst>
              <a:path w="5524500" h="990600">
                <a:moveTo>
                  <a:pt x="76197" y="0"/>
                </a:moveTo>
                <a:lnTo>
                  <a:pt x="5448303" y="0"/>
                </a:lnTo>
                <a:cubicBezTo>
                  <a:pt x="5490385" y="0"/>
                  <a:pt x="5524500" y="34115"/>
                  <a:pt x="5524500" y="76197"/>
                </a:cubicBezTo>
                <a:lnTo>
                  <a:pt x="5524500" y="914403"/>
                </a:lnTo>
                <a:cubicBezTo>
                  <a:pt x="5524500" y="956485"/>
                  <a:pt x="5490385" y="990600"/>
                  <a:pt x="5448303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96025" y="1905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lnTo>
                  <a:pt x="81439" y="151388"/>
                </a:lnTo>
                <a:cubicBezTo>
                  <a:pt x="83880" y="152608"/>
                  <a:pt x="86767" y="152757"/>
                  <a:pt x="89356" y="151686"/>
                </a:cubicBezTo>
                <a:cubicBezTo>
                  <a:pt x="92065" y="150555"/>
                  <a:pt x="94059" y="148263"/>
                  <a:pt x="94863" y="145554"/>
                </a:cubicBezTo>
                <a:cubicBezTo>
                  <a:pt x="102721" y="155525"/>
                  <a:pt x="114895" y="161955"/>
                  <a:pt x="128588" y="161955"/>
                </a:cubicBezTo>
                <a:cubicBezTo>
                  <a:pt x="152251" y="161955"/>
                  <a:pt x="171450" y="142756"/>
                  <a:pt x="171450" y="119092"/>
                </a:cubicBezTo>
                <a:cubicBezTo>
                  <a:pt x="171450" y="95429"/>
                  <a:pt x="152251" y="76200"/>
                  <a:pt x="128588" y="76200"/>
                </a:cubicBezTo>
                <a:cubicBezTo>
                  <a:pt x="115133" y="76200"/>
                  <a:pt x="103108" y="82421"/>
                  <a:pt x="95250" y="9212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  <a:moveTo>
                  <a:pt x="123825" y="95250"/>
                </a:moveTo>
                <a:cubicBezTo>
                  <a:pt x="123825" y="92631"/>
                  <a:pt x="125968" y="90488"/>
                  <a:pt x="128588" y="90488"/>
                </a:cubicBezTo>
                <a:cubicBezTo>
                  <a:pt x="131207" y="90488"/>
                  <a:pt x="133350" y="92631"/>
                  <a:pt x="133350" y="95250"/>
                </a:cubicBezTo>
                <a:lnTo>
                  <a:pt x="133350" y="97631"/>
                </a:lnTo>
                <a:lnTo>
                  <a:pt x="138113" y="97631"/>
                </a:lnTo>
                <a:cubicBezTo>
                  <a:pt x="140732" y="97631"/>
                  <a:pt x="142875" y="99774"/>
                  <a:pt x="142875" y="102394"/>
                </a:cubicBezTo>
                <a:cubicBezTo>
                  <a:pt x="142875" y="105013"/>
                  <a:pt x="140732" y="107156"/>
                  <a:pt x="138113" y="107156"/>
                </a:cubicBezTo>
                <a:lnTo>
                  <a:pt x="124480" y="107156"/>
                </a:lnTo>
                <a:cubicBezTo>
                  <a:pt x="122813" y="107156"/>
                  <a:pt x="121444" y="108525"/>
                  <a:pt x="121444" y="110192"/>
                </a:cubicBezTo>
                <a:cubicBezTo>
                  <a:pt x="121444" y="111651"/>
                  <a:pt x="122486" y="112901"/>
                  <a:pt x="123914" y="113169"/>
                </a:cubicBezTo>
                <a:lnTo>
                  <a:pt x="137309" y="115610"/>
                </a:lnTo>
                <a:cubicBezTo>
                  <a:pt x="143262" y="116681"/>
                  <a:pt x="147608" y="121890"/>
                  <a:pt x="147608" y="127962"/>
                </a:cubicBezTo>
                <a:cubicBezTo>
                  <a:pt x="147608" y="134898"/>
                  <a:pt x="141982" y="140524"/>
                  <a:pt x="135047" y="140524"/>
                </a:cubicBezTo>
                <a:lnTo>
                  <a:pt x="133320" y="140524"/>
                </a:lnTo>
                <a:lnTo>
                  <a:pt x="133320" y="142905"/>
                </a:lnTo>
                <a:cubicBezTo>
                  <a:pt x="133320" y="145524"/>
                  <a:pt x="131177" y="147667"/>
                  <a:pt x="128558" y="147667"/>
                </a:cubicBezTo>
                <a:cubicBezTo>
                  <a:pt x="125938" y="147667"/>
                  <a:pt x="123795" y="145524"/>
                  <a:pt x="123795" y="142905"/>
                </a:cubicBezTo>
                <a:lnTo>
                  <a:pt x="123795" y="140524"/>
                </a:lnTo>
                <a:lnTo>
                  <a:pt x="119033" y="140524"/>
                </a:lnTo>
                <a:cubicBezTo>
                  <a:pt x="116413" y="140524"/>
                  <a:pt x="114270" y="138380"/>
                  <a:pt x="114270" y="135761"/>
                </a:cubicBezTo>
                <a:cubicBezTo>
                  <a:pt x="114270" y="133142"/>
                  <a:pt x="116413" y="130999"/>
                  <a:pt x="119033" y="130999"/>
                </a:cubicBezTo>
                <a:lnTo>
                  <a:pt x="135047" y="130999"/>
                </a:lnTo>
                <a:cubicBezTo>
                  <a:pt x="136714" y="130999"/>
                  <a:pt x="138083" y="129629"/>
                  <a:pt x="138083" y="127962"/>
                </a:cubicBezTo>
                <a:cubicBezTo>
                  <a:pt x="138083" y="126504"/>
                  <a:pt x="137041" y="125254"/>
                  <a:pt x="135612" y="124986"/>
                </a:cubicBezTo>
                <a:lnTo>
                  <a:pt x="122218" y="122545"/>
                </a:lnTo>
                <a:cubicBezTo>
                  <a:pt x="116265" y="121474"/>
                  <a:pt x="111919" y="116265"/>
                  <a:pt x="111919" y="110192"/>
                </a:cubicBezTo>
                <a:cubicBezTo>
                  <a:pt x="111919" y="103465"/>
                  <a:pt x="117187" y="97988"/>
                  <a:pt x="123825" y="97661"/>
                </a:cubicBezTo>
                <a:lnTo>
                  <a:pt x="123825" y="9525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2" name="Text 40"/>
          <p:cNvSpPr/>
          <p:nvPr/>
        </p:nvSpPr>
        <p:spPr>
          <a:xfrm>
            <a:off x="6553200" y="18669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流程指标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86500" y="21717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项目启动会执行率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210330" y="2133600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≥90%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86500" y="24765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核心评审会议执行率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210330" y="2438400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≥80%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0300" y="2819400"/>
            <a:ext cx="5524500" cy="1066800"/>
          </a:xfrm>
          <a:custGeom>
            <a:avLst/>
            <a:gdLst/>
            <a:ahLst/>
            <a:cxnLst/>
            <a:rect l="l" t="t" r="r" b="b"/>
            <a:pathLst>
              <a:path w="5524500" h="1066800">
                <a:moveTo>
                  <a:pt x="76202" y="0"/>
                </a:moveTo>
                <a:lnTo>
                  <a:pt x="5448298" y="0"/>
                </a:lnTo>
                <a:cubicBezTo>
                  <a:pt x="5490383" y="0"/>
                  <a:pt x="5524500" y="34117"/>
                  <a:pt x="5524500" y="76202"/>
                </a:cubicBezTo>
                <a:lnTo>
                  <a:pt x="5524500" y="990598"/>
                </a:lnTo>
                <a:cubicBezTo>
                  <a:pt x="5524500" y="1032683"/>
                  <a:pt x="5490383" y="1066800"/>
                  <a:pt x="54482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305550" y="2933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9" name="Text 47"/>
          <p:cNvSpPr/>
          <p:nvPr/>
        </p:nvSpPr>
        <p:spPr>
          <a:xfrm>
            <a:off x="6553200" y="28956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业务指标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2219" y="31908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1" name="Text 49"/>
          <p:cNvSpPr/>
          <p:nvPr/>
        </p:nvSpPr>
        <p:spPr>
          <a:xfrm>
            <a:off x="6529388" y="31623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中标率提升 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X%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2219" y="34194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3" name="Text 51"/>
          <p:cNvSpPr/>
          <p:nvPr/>
        </p:nvSpPr>
        <p:spPr>
          <a:xfrm>
            <a:off x="6529388" y="3390900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毛利率提升 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22219" y="3648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5" name="Text 53"/>
          <p:cNvSpPr/>
          <p:nvPr/>
        </p:nvSpPr>
        <p:spPr>
          <a:xfrm>
            <a:off x="6529388" y="36195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客户满意度提升 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10300" y="3924300"/>
            <a:ext cx="5524500" cy="600075"/>
          </a:xfrm>
          <a:custGeom>
            <a:avLst/>
            <a:gdLst/>
            <a:ahLst/>
            <a:cxnLst/>
            <a:rect l="l" t="t" r="r" b="b"/>
            <a:pathLst>
              <a:path w="5524500" h="600075">
                <a:moveTo>
                  <a:pt x="76198" y="0"/>
                </a:moveTo>
                <a:lnTo>
                  <a:pt x="5448302" y="0"/>
                </a:lnTo>
                <a:cubicBezTo>
                  <a:pt x="5490385" y="0"/>
                  <a:pt x="5524500" y="34115"/>
                  <a:pt x="5524500" y="76198"/>
                </a:cubicBezTo>
                <a:lnTo>
                  <a:pt x="5524500" y="523877"/>
                </a:lnTo>
                <a:cubicBezTo>
                  <a:pt x="5524500" y="565960"/>
                  <a:pt x="5490385" y="600075"/>
                  <a:pt x="5448302" y="600075"/>
                </a:cubicBezTo>
                <a:lnTo>
                  <a:pt x="76198" y="600075"/>
                </a:lnTo>
                <a:cubicBezTo>
                  <a:pt x="34115" y="600075"/>
                  <a:pt x="0" y="565960"/>
                  <a:pt x="0" y="5238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286500" y="40386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8" name="Text 56"/>
          <p:cNvSpPr/>
          <p:nvPr/>
        </p:nvSpPr>
        <p:spPr>
          <a:xfrm>
            <a:off x="6553200" y="40005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管理指标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86500" y="4267200"/>
            <a:ext cx="5438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形成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标准化流程体系与经验沉淀库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，实现业务可持续优化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53150" y="4679156"/>
            <a:ext cx="5657850" cy="600075"/>
          </a:xfrm>
          <a:custGeom>
            <a:avLst/>
            <a:gdLst/>
            <a:ahLst/>
            <a:cxnLst/>
            <a:rect l="l" t="t" r="r" b="b"/>
            <a:pathLst>
              <a:path w="5657850" h="600075">
                <a:moveTo>
                  <a:pt x="0" y="0"/>
                </a:moveTo>
                <a:lnTo>
                  <a:pt x="5543548" y="0"/>
                </a:lnTo>
                <a:cubicBezTo>
                  <a:pt x="5606633" y="0"/>
                  <a:pt x="5657850" y="51217"/>
                  <a:pt x="5657850" y="114302"/>
                </a:cubicBezTo>
                <a:lnTo>
                  <a:pt x="5657850" y="485773"/>
                </a:lnTo>
                <a:cubicBezTo>
                  <a:pt x="5657850" y="548858"/>
                  <a:pt x="5606633" y="600075"/>
                  <a:pt x="5543548" y="600075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BBC05">
              <a:alpha val="1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53150" y="4679156"/>
            <a:ext cx="38100" cy="600075"/>
          </a:xfrm>
          <a:custGeom>
            <a:avLst/>
            <a:gdLst/>
            <a:ahLst/>
            <a:cxnLst/>
            <a:rect l="l" t="t" r="r" b="b"/>
            <a:pathLst>
              <a:path w="38100" h="600075">
                <a:moveTo>
                  <a:pt x="0" y="0"/>
                </a:moveTo>
                <a:lnTo>
                  <a:pt x="38100" y="0"/>
                </a:lnTo>
                <a:lnTo>
                  <a:pt x="38100" y="600075"/>
                </a:ln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62" name="Shape 60"/>
          <p:cNvSpPr/>
          <p:nvPr/>
        </p:nvSpPr>
        <p:spPr>
          <a:xfrm>
            <a:off x="6293644" y="477440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63" name="Text 61"/>
          <p:cNvSpPr/>
          <p:nvPr/>
        </p:nvSpPr>
        <p:spPr>
          <a:xfrm>
            <a:off x="6538913" y="4755356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价值总结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538913" y="5022056"/>
            <a:ext cx="4733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050" b="1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流程优化、质量提升、协同增强</a:t>
            </a:r>
            <a:r>
              <a:rPr lang="en-US" sz="1050" dirty="0">
                <a:solidFill>
                  <a:srgbClr val="202124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，实现从执行效率到业务质量的全方位提升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24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4A8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72465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1243965" y="3810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STEPS &amp; Q&amp;A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647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下一步行动与问答环节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0287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立即行动，凝聚共识，协同推进项目落地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333500"/>
            <a:ext cx="5657850" cy="3200400"/>
          </a:xfrm>
          <a:custGeom>
            <a:avLst/>
            <a:gdLst/>
            <a:ahLst/>
            <a:cxnLst/>
            <a:rect l="l" t="t" r="r" b="b"/>
            <a:pathLst>
              <a:path w="5657850" h="3200400">
                <a:moveTo>
                  <a:pt x="114286" y="0"/>
                </a:moveTo>
                <a:lnTo>
                  <a:pt x="5543564" y="0"/>
                </a:lnTo>
                <a:cubicBezTo>
                  <a:pt x="5606682" y="0"/>
                  <a:pt x="5657850" y="51168"/>
                  <a:pt x="5657850" y="114286"/>
                </a:cubicBezTo>
                <a:lnTo>
                  <a:pt x="5657850" y="3086114"/>
                </a:lnTo>
                <a:cubicBezTo>
                  <a:pt x="5657850" y="3149232"/>
                  <a:pt x="5606682" y="3200400"/>
                  <a:pt x="5543564" y="3200400"/>
                </a:cubicBezTo>
                <a:lnTo>
                  <a:pt x="114286" y="3200400"/>
                </a:lnTo>
                <a:cubicBezTo>
                  <a:pt x="51168" y="3200400"/>
                  <a:pt x="0" y="3149232"/>
                  <a:pt x="0" y="3086114"/>
                </a:cubicBezTo>
                <a:lnTo>
                  <a:pt x="0" y="114286"/>
                </a:lnTo>
                <a:cubicBezTo>
                  <a:pt x="0" y="51210"/>
                  <a:pt x="51210" y="0"/>
                  <a:pt x="114286" y="0"/>
                </a:cubicBezTo>
                <a:close/>
              </a:path>
            </a:pathLst>
          </a:custGeom>
          <a:solidFill>
            <a:srgbClr val="1A73E8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53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556" y="1581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436" y="-11906"/>
                </a:moveTo>
                <a:cubicBezTo>
                  <a:pt x="106936" y="-11906"/>
                  <a:pt x="116272" y="-2570"/>
                  <a:pt x="116272" y="8930"/>
                </a:cubicBezTo>
                <a:cubicBezTo>
                  <a:pt x="116272" y="20429"/>
                  <a:pt x="106936" y="29766"/>
                  <a:pt x="95436" y="29766"/>
                </a:cubicBezTo>
                <a:cubicBezTo>
                  <a:pt x="83936" y="29766"/>
                  <a:pt x="74600" y="20429"/>
                  <a:pt x="74600" y="8930"/>
                </a:cubicBezTo>
                <a:cubicBezTo>
                  <a:pt x="74600" y="-2570"/>
                  <a:pt x="83936" y="-11906"/>
                  <a:pt x="95436" y="-11906"/>
                </a:cubicBezTo>
                <a:close/>
                <a:moveTo>
                  <a:pt x="45988" y="65484"/>
                </a:moveTo>
                <a:cubicBezTo>
                  <a:pt x="44760" y="65484"/>
                  <a:pt x="43681" y="66229"/>
                  <a:pt x="43235" y="67345"/>
                </a:cubicBezTo>
                <a:lnTo>
                  <a:pt x="35049" y="87771"/>
                </a:lnTo>
                <a:cubicBezTo>
                  <a:pt x="32593" y="93873"/>
                  <a:pt x="25673" y="96850"/>
                  <a:pt x="19571" y="94394"/>
                </a:cubicBezTo>
                <a:cubicBezTo>
                  <a:pt x="13469" y="91939"/>
                  <a:pt x="10492" y="85018"/>
                  <a:pt x="12948" y="78916"/>
                </a:cubicBezTo>
                <a:lnTo>
                  <a:pt x="21096" y="58489"/>
                </a:lnTo>
                <a:cubicBezTo>
                  <a:pt x="25189" y="48332"/>
                  <a:pt x="35012" y="41672"/>
                  <a:pt x="45988" y="41672"/>
                </a:cubicBezTo>
                <a:lnTo>
                  <a:pt x="82190" y="41672"/>
                </a:lnTo>
                <a:cubicBezTo>
                  <a:pt x="92794" y="41672"/>
                  <a:pt x="102580" y="47290"/>
                  <a:pt x="107900" y="56443"/>
                </a:cubicBezTo>
                <a:lnTo>
                  <a:pt x="120104" y="77391"/>
                </a:lnTo>
                <a:lnTo>
                  <a:pt x="143024" y="77391"/>
                </a:lnTo>
                <a:cubicBezTo>
                  <a:pt x="149609" y="77391"/>
                  <a:pt x="154930" y="82711"/>
                  <a:pt x="154930" y="89297"/>
                </a:cubicBezTo>
                <a:cubicBezTo>
                  <a:pt x="154930" y="95883"/>
                  <a:pt x="149609" y="101203"/>
                  <a:pt x="143024" y="101203"/>
                </a:cubicBezTo>
                <a:lnTo>
                  <a:pt x="120104" y="101203"/>
                </a:lnTo>
                <a:cubicBezTo>
                  <a:pt x="111621" y="101203"/>
                  <a:pt x="103808" y="96701"/>
                  <a:pt x="99529" y="89371"/>
                </a:cubicBezTo>
                <a:lnTo>
                  <a:pt x="95808" y="83009"/>
                </a:lnTo>
                <a:lnTo>
                  <a:pt x="88106" y="109203"/>
                </a:lnTo>
                <a:lnTo>
                  <a:pt x="116160" y="117611"/>
                </a:lnTo>
                <a:cubicBezTo>
                  <a:pt x="126467" y="120700"/>
                  <a:pt x="131713" y="132122"/>
                  <a:pt x="127360" y="141982"/>
                </a:cubicBezTo>
                <a:lnTo>
                  <a:pt x="106300" y="189384"/>
                </a:lnTo>
                <a:cubicBezTo>
                  <a:pt x="103622" y="195411"/>
                  <a:pt x="96589" y="198090"/>
                  <a:pt x="90599" y="195411"/>
                </a:cubicBezTo>
                <a:cubicBezTo>
                  <a:pt x="84609" y="192732"/>
                  <a:pt x="81893" y="185700"/>
                  <a:pt x="84572" y="179710"/>
                </a:cubicBezTo>
                <a:lnTo>
                  <a:pt x="102877" y="138485"/>
                </a:lnTo>
                <a:lnTo>
                  <a:pt x="67196" y="127769"/>
                </a:lnTo>
                <a:cubicBezTo>
                  <a:pt x="55029" y="124123"/>
                  <a:pt x="47848" y="111509"/>
                  <a:pt x="50936" y="99194"/>
                </a:cubicBezTo>
                <a:lnTo>
                  <a:pt x="59382" y="65484"/>
                </a:lnTo>
                <a:lnTo>
                  <a:pt x="46025" y="65484"/>
                </a:lnTo>
                <a:close/>
                <a:moveTo>
                  <a:pt x="43011" y="132829"/>
                </a:moveTo>
                <a:cubicBezTo>
                  <a:pt x="47960" y="138373"/>
                  <a:pt x="54434" y="142615"/>
                  <a:pt x="62061" y="144884"/>
                </a:cubicBezTo>
                <a:lnTo>
                  <a:pt x="63810" y="145405"/>
                </a:lnTo>
                <a:lnTo>
                  <a:pt x="61243" y="152586"/>
                </a:lnTo>
                <a:cubicBezTo>
                  <a:pt x="59085" y="158651"/>
                  <a:pt x="55290" y="164046"/>
                  <a:pt x="50341" y="168139"/>
                </a:cubicBezTo>
                <a:lnTo>
                  <a:pt x="19683" y="193402"/>
                </a:lnTo>
                <a:cubicBezTo>
                  <a:pt x="14622" y="197569"/>
                  <a:pt x="7107" y="196862"/>
                  <a:pt x="2939" y="191802"/>
                </a:cubicBezTo>
                <a:cubicBezTo>
                  <a:pt x="-1228" y="186742"/>
                  <a:pt x="-521" y="179226"/>
                  <a:pt x="4539" y="175059"/>
                </a:cubicBezTo>
                <a:lnTo>
                  <a:pt x="35198" y="149796"/>
                </a:lnTo>
                <a:cubicBezTo>
                  <a:pt x="36872" y="148419"/>
                  <a:pt x="38100" y="146633"/>
                  <a:pt x="38844" y="144624"/>
                </a:cubicBezTo>
                <a:lnTo>
                  <a:pt x="43011" y="132829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152400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Immediate行动项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" y="1981200"/>
            <a:ext cx="5429250" cy="676275"/>
          </a:xfrm>
          <a:custGeom>
            <a:avLst/>
            <a:gdLst/>
            <a:ahLst/>
            <a:cxnLst/>
            <a:rect l="l" t="t" r="r" b="b"/>
            <a:pathLst>
              <a:path w="5429250" h="676275">
                <a:moveTo>
                  <a:pt x="76203" y="0"/>
                </a:moveTo>
                <a:lnTo>
                  <a:pt x="5353047" y="0"/>
                </a:lnTo>
                <a:cubicBezTo>
                  <a:pt x="5395133" y="0"/>
                  <a:pt x="5429250" y="34117"/>
                  <a:pt x="5429250" y="76203"/>
                </a:cubicBezTo>
                <a:lnTo>
                  <a:pt x="5429250" y="600072"/>
                </a:lnTo>
                <a:cubicBezTo>
                  <a:pt x="5429250" y="642158"/>
                  <a:pt x="5395133" y="676275"/>
                  <a:pt x="535304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3" name="Text 11"/>
          <p:cNvSpPr/>
          <p:nvPr/>
        </p:nvSpPr>
        <p:spPr>
          <a:xfrm>
            <a:off x="655796" y="2114550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0955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成立项目专项小组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400300"/>
            <a:ext cx="5343525" cy="180975"/>
          </a:xfrm>
          <a:prstGeom prst="rect">
            <a:avLst/>
          </a:prstGeom>
          <a:noFill/>
          <a:ln/>
        </p:spPr>
        <p:txBody>
          <a:bodyPr wrap="square" lIns="3810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即日起成立项目专项小组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，明确各成员职责与对接人，建立工作机制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5300" y="2736056"/>
            <a:ext cx="5429250" cy="676275"/>
          </a:xfrm>
          <a:custGeom>
            <a:avLst/>
            <a:gdLst/>
            <a:ahLst/>
            <a:cxnLst/>
            <a:rect l="l" t="t" r="r" b="b"/>
            <a:pathLst>
              <a:path w="5429250" h="676275">
                <a:moveTo>
                  <a:pt x="76203" y="0"/>
                </a:moveTo>
                <a:lnTo>
                  <a:pt x="5353047" y="0"/>
                </a:lnTo>
                <a:cubicBezTo>
                  <a:pt x="5395133" y="0"/>
                  <a:pt x="5429250" y="34117"/>
                  <a:pt x="5429250" y="76203"/>
                </a:cubicBezTo>
                <a:lnTo>
                  <a:pt x="5429250" y="600072"/>
                </a:lnTo>
                <a:cubicBezTo>
                  <a:pt x="5429250" y="642158"/>
                  <a:pt x="5395133" y="676275"/>
                  <a:pt x="535304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28122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04" y="2869406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2500" y="2850356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权责表与SOP编制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" y="3155156"/>
            <a:ext cx="5343525" cy="180975"/>
          </a:xfrm>
          <a:prstGeom prst="rect">
            <a:avLst/>
          </a:prstGeom>
          <a:noFill/>
          <a:ln/>
        </p:spPr>
        <p:txBody>
          <a:bodyPr wrap="square" lIns="3810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1周内完成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项目经理权责表、执行SOP初稿编制，</a:t>
            </a: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2周内完成评审发布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5300" y="3490913"/>
            <a:ext cx="5429250" cy="676275"/>
          </a:xfrm>
          <a:custGeom>
            <a:avLst/>
            <a:gdLst/>
            <a:ahLst/>
            <a:cxnLst/>
            <a:rect l="l" t="t" r="r" b="b"/>
            <a:pathLst>
              <a:path w="5429250" h="676275">
                <a:moveTo>
                  <a:pt x="76203" y="0"/>
                </a:moveTo>
                <a:lnTo>
                  <a:pt x="5353047" y="0"/>
                </a:lnTo>
                <a:cubicBezTo>
                  <a:pt x="5395133" y="0"/>
                  <a:pt x="5429250" y="34117"/>
                  <a:pt x="5429250" y="76203"/>
                </a:cubicBezTo>
                <a:lnTo>
                  <a:pt x="5429250" y="600072"/>
                </a:lnTo>
                <a:cubicBezTo>
                  <a:pt x="5429250" y="642158"/>
                  <a:pt x="5395133" y="676275"/>
                  <a:pt x="5353047" y="676275"/>
                </a:cubicBezTo>
                <a:lnTo>
                  <a:pt x="76203" y="676275"/>
                </a:lnTo>
                <a:cubicBezTo>
                  <a:pt x="34117" y="676275"/>
                  <a:pt x="0" y="642158"/>
                  <a:pt x="0" y="60007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35671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18" y="3624263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2500" y="3605213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监控看板需求梳理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1500" y="3910013"/>
            <a:ext cx="5343525" cy="180975"/>
          </a:xfrm>
          <a:prstGeom prst="rect">
            <a:avLst/>
          </a:prstGeom>
          <a:noFill/>
          <a:ln/>
        </p:spPr>
        <p:txBody>
          <a:bodyPr wrap="square" lIns="38100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同步推进</a:t>
            </a:r>
            <a:r>
              <a:rPr lang="en-US" sz="10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监控看板需求梳理，对接IT部门启动搭建，确保按时上线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53150" y="1333500"/>
            <a:ext cx="5657850" cy="3200400"/>
          </a:xfrm>
          <a:custGeom>
            <a:avLst/>
            <a:gdLst/>
            <a:ahLst/>
            <a:cxnLst/>
            <a:rect l="l" t="t" r="r" b="b"/>
            <a:pathLst>
              <a:path w="5657850" h="3200400">
                <a:moveTo>
                  <a:pt x="114286" y="0"/>
                </a:moveTo>
                <a:lnTo>
                  <a:pt x="5543564" y="0"/>
                </a:lnTo>
                <a:cubicBezTo>
                  <a:pt x="5606682" y="0"/>
                  <a:pt x="5657850" y="51168"/>
                  <a:pt x="5657850" y="114286"/>
                </a:cubicBezTo>
                <a:lnTo>
                  <a:pt x="5657850" y="3086114"/>
                </a:lnTo>
                <a:cubicBezTo>
                  <a:pt x="5657850" y="3149232"/>
                  <a:pt x="5606682" y="3200400"/>
                  <a:pt x="5543564" y="3200400"/>
                </a:cubicBezTo>
                <a:lnTo>
                  <a:pt x="114286" y="3200400"/>
                </a:lnTo>
                <a:cubicBezTo>
                  <a:pt x="51168" y="3200400"/>
                  <a:pt x="0" y="3149232"/>
                  <a:pt x="0" y="3086114"/>
                </a:cubicBezTo>
                <a:lnTo>
                  <a:pt x="0" y="114286"/>
                </a:lnTo>
                <a:cubicBezTo>
                  <a:pt x="0" y="51210"/>
                  <a:pt x="51210" y="0"/>
                  <a:pt x="1142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745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28" name="Shape 26"/>
          <p:cNvSpPr/>
          <p:nvPr/>
        </p:nvSpPr>
        <p:spPr>
          <a:xfrm>
            <a:off x="6388894" y="1581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38950" y="15240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问答与交流环节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7450" y="1981200"/>
            <a:ext cx="5429250" cy="2438400"/>
          </a:xfrm>
          <a:custGeom>
            <a:avLst/>
            <a:gdLst/>
            <a:ahLst/>
            <a:cxnLst/>
            <a:rect l="l" t="t" r="r" b="b"/>
            <a:pathLst>
              <a:path w="5429250" h="2438400">
                <a:moveTo>
                  <a:pt x="114312" y="0"/>
                </a:moveTo>
                <a:lnTo>
                  <a:pt x="5314938" y="0"/>
                </a:lnTo>
                <a:cubicBezTo>
                  <a:pt x="5378071" y="0"/>
                  <a:pt x="5429250" y="51179"/>
                  <a:pt x="5429250" y="114312"/>
                </a:cubicBezTo>
                <a:lnTo>
                  <a:pt x="5429250" y="2324088"/>
                </a:lnTo>
                <a:cubicBezTo>
                  <a:pt x="5429250" y="2387221"/>
                  <a:pt x="5378071" y="2438400"/>
                  <a:pt x="5314938" y="2438400"/>
                </a:cubicBezTo>
                <a:lnTo>
                  <a:pt x="114312" y="2438400"/>
                </a:lnTo>
                <a:cubicBezTo>
                  <a:pt x="51179" y="2438400"/>
                  <a:pt x="0" y="2387221"/>
                  <a:pt x="0" y="2324088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34A853">
                  <a:alpha val="10000"/>
                </a:srgbClr>
              </a:gs>
              <a:gs pos="100000">
                <a:srgbClr val="1A73E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8601075" y="21336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32" name="Shape 30"/>
          <p:cNvSpPr/>
          <p:nvPr/>
        </p:nvSpPr>
        <p:spPr>
          <a:xfrm>
            <a:off x="8810625" y="23431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342900"/>
                </a:moveTo>
                <a:cubicBezTo>
                  <a:pt x="266076" y="342900"/>
                  <a:pt x="342900" y="266076"/>
                  <a:pt x="342900" y="171450"/>
                </a:cubicBezTo>
                <a:cubicBezTo>
                  <a:pt x="342900" y="76824"/>
                  <a:pt x="266076" y="0"/>
                  <a:pt x="171450" y="0"/>
                </a:cubicBezTo>
                <a:cubicBezTo>
                  <a:pt x="76824" y="0"/>
                  <a:pt x="0" y="76824"/>
                  <a:pt x="0" y="171450"/>
                </a:cubicBezTo>
                <a:cubicBezTo>
                  <a:pt x="0" y="266076"/>
                  <a:pt x="76824" y="342900"/>
                  <a:pt x="171450" y="342900"/>
                </a:cubicBezTo>
                <a:close/>
                <a:moveTo>
                  <a:pt x="171450" y="117872"/>
                </a:moveTo>
                <a:cubicBezTo>
                  <a:pt x="159596" y="117872"/>
                  <a:pt x="150019" y="127449"/>
                  <a:pt x="150019" y="139303"/>
                </a:cubicBezTo>
                <a:cubicBezTo>
                  <a:pt x="150019" y="148210"/>
                  <a:pt x="142853" y="155377"/>
                  <a:pt x="133945" y="155377"/>
                </a:cubicBezTo>
                <a:cubicBezTo>
                  <a:pt x="125038" y="155377"/>
                  <a:pt x="117872" y="148210"/>
                  <a:pt x="117872" y="139303"/>
                </a:cubicBezTo>
                <a:cubicBezTo>
                  <a:pt x="117872" y="109701"/>
                  <a:pt x="141848" y="85725"/>
                  <a:pt x="171450" y="85725"/>
                </a:cubicBezTo>
                <a:cubicBezTo>
                  <a:pt x="201052" y="85725"/>
                  <a:pt x="225028" y="109701"/>
                  <a:pt x="225028" y="139303"/>
                </a:cubicBezTo>
                <a:cubicBezTo>
                  <a:pt x="225028" y="170914"/>
                  <a:pt x="200918" y="184309"/>
                  <a:pt x="187523" y="189198"/>
                </a:cubicBezTo>
                <a:lnTo>
                  <a:pt x="187523" y="191743"/>
                </a:lnTo>
                <a:cubicBezTo>
                  <a:pt x="187523" y="200650"/>
                  <a:pt x="180357" y="207816"/>
                  <a:pt x="171450" y="207816"/>
                </a:cubicBezTo>
                <a:cubicBezTo>
                  <a:pt x="162543" y="207816"/>
                  <a:pt x="155377" y="200650"/>
                  <a:pt x="155377" y="191743"/>
                </a:cubicBezTo>
                <a:lnTo>
                  <a:pt x="155377" y="186318"/>
                </a:lnTo>
                <a:cubicBezTo>
                  <a:pt x="155377" y="172589"/>
                  <a:pt x="165289" y="162744"/>
                  <a:pt x="175535" y="159395"/>
                </a:cubicBezTo>
                <a:cubicBezTo>
                  <a:pt x="179822" y="157988"/>
                  <a:pt x="184376" y="155711"/>
                  <a:pt x="187724" y="152497"/>
                </a:cubicBezTo>
                <a:cubicBezTo>
                  <a:pt x="190604" y="149684"/>
                  <a:pt x="192881" y="145799"/>
                  <a:pt x="192881" y="139370"/>
                </a:cubicBezTo>
                <a:cubicBezTo>
                  <a:pt x="192881" y="127516"/>
                  <a:pt x="183304" y="117939"/>
                  <a:pt x="171450" y="117939"/>
                </a:cubicBezTo>
                <a:close/>
                <a:moveTo>
                  <a:pt x="150019" y="246459"/>
                </a:moveTo>
                <a:cubicBezTo>
                  <a:pt x="150019" y="234631"/>
                  <a:pt x="159622" y="225028"/>
                  <a:pt x="171450" y="225028"/>
                </a:cubicBezTo>
                <a:cubicBezTo>
                  <a:pt x="183278" y="225028"/>
                  <a:pt x="192881" y="234631"/>
                  <a:pt x="192881" y="246459"/>
                </a:cubicBezTo>
                <a:cubicBezTo>
                  <a:pt x="192881" y="258288"/>
                  <a:pt x="183278" y="267891"/>
                  <a:pt x="171450" y="267891"/>
                </a:cubicBezTo>
                <a:cubicBezTo>
                  <a:pt x="159622" y="267891"/>
                  <a:pt x="150019" y="258288"/>
                  <a:pt x="150019" y="2464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7381875" y="30099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0212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开放提问 · 凝聚共识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96162" y="3428879"/>
            <a:ext cx="31718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欢迎各部门领导、同事提出疑问与建议，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02124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我们将现场解答，共同探讨推进路径，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50" b="1" dirty="0">
                <a:solidFill>
                  <a:srgbClr val="1A73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携手推动项目成功落地！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4607598"/>
            <a:ext cx="3714750" cy="647700"/>
          </a:xfrm>
          <a:custGeom>
            <a:avLst/>
            <a:gdLst/>
            <a:ahLst/>
            <a:cxnLst/>
            <a:rect l="l" t="t" r="r" b="b"/>
            <a:pathLst>
              <a:path w="3714750" h="647700">
                <a:moveTo>
                  <a:pt x="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533400"/>
                </a:lnTo>
                <a:cubicBezTo>
                  <a:pt x="3714750" y="596526"/>
                  <a:pt x="3663576" y="647700"/>
                  <a:pt x="3600450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A73E8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" y="4607598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37" name="Shape 35"/>
          <p:cNvSpPr/>
          <p:nvPr/>
        </p:nvSpPr>
        <p:spPr>
          <a:xfrm>
            <a:off x="567928" y="484572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42863" y="85725"/>
                </a:moveTo>
                <a:cubicBezTo>
                  <a:pt x="36935" y="85725"/>
                  <a:pt x="32147" y="90514"/>
                  <a:pt x="32147" y="96441"/>
                </a:cubicBezTo>
                <a:lnTo>
                  <a:pt x="32147" y="117872"/>
                </a:lnTo>
                <a:cubicBezTo>
                  <a:pt x="32147" y="123799"/>
                  <a:pt x="36935" y="128588"/>
                  <a:pt x="42863" y="128588"/>
                </a:cubicBezTo>
                <a:lnTo>
                  <a:pt x="64294" y="128588"/>
                </a:lnTo>
                <a:cubicBezTo>
                  <a:pt x="70221" y="128588"/>
                  <a:pt x="75009" y="123799"/>
                  <a:pt x="75009" y="117872"/>
                </a:cubicBezTo>
                <a:lnTo>
                  <a:pt x="75009" y="96441"/>
                </a:lnTo>
                <a:cubicBezTo>
                  <a:pt x="75009" y="90514"/>
                  <a:pt x="70221" y="85725"/>
                  <a:pt x="64294" y="85725"/>
                </a:cubicBezTo>
                <a:lnTo>
                  <a:pt x="42863" y="85725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38" name="Text 36"/>
          <p:cNvSpPr/>
          <p:nvPr/>
        </p:nvSpPr>
        <p:spPr>
          <a:xfrm>
            <a:off x="823913" y="4721898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本周内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3913" y="4950498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专项小组成立并召开首次会议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48150" y="4607598"/>
            <a:ext cx="3714750" cy="647700"/>
          </a:xfrm>
          <a:custGeom>
            <a:avLst/>
            <a:gdLst/>
            <a:ahLst/>
            <a:cxnLst/>
            <a:rect l="l" t="t" r="r" b="b"/>
            <a:pathLst>
              <a:path w="3714750" h="647700">
                <a:moveTo>
                  <a:pt x="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533400"/>
                </a:lnTo>
                <a:cubicBezTo>
                  <a:pt x="3714750" y="596526"/>
                  <a:pt x="3663576" y="647700"/>
                  <a:pt x="3600450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34A853">
              <a:alpha val="5098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248150" y="4607598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2" name="Shape 40"/>
          <p:cNvSpPr/>
          <p:nvPr/>
        </p:nvSpPr>
        <p:spPr>
          <a:xfrm>
            <a:off x="4416028" y="484572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42863" y="85725"/>
                </a:moveTo>
                <a:cubicBezTo>
                  <a:pt x="36935" y="85725"/>
                  <a:pt x="32147" y="90514"/>
                  <a:pt x="32147" y="96441"/>
                </a:cubicBezTo>
                <a:lnTo>
                  <a:pt x="32147" y="117872"/>
                </a:lnTo>
                <a:cubicBezTo>
                  <a:pt x="32147" y="123799"/>
                  <a:pt x="36935" y="128588"/>
                  <a:pt x="42863" y="128588"/>
                </a:cubicBezTo>
                <a:lnTo>
                  <a:pt x="107156" y="128588"/>
                </a:lnTo>
                <a:cubicBezTo>
                  <a:pt x="113083" y="128588"/>
                  <a:pt x="117872" y="123799"/>
                  <a:pt x="117872" y="117872"/>
                </a:cubicBezTo>
                <a:lnTo>
                  <a:pt x="117872" y="96441"/>
                </a:lnTo>
                <a:cubicBezTo>
                  <a:pt x="117872" y="90514"/>
                  <a:pt x="113083" y="85725"/>
                  <a:pt x="107156" y="85725"/>
                </a:cubicBezTo>
                <a:lnTo>
                  <a:pt x="42863" y="85725"/>
                </a:lnTo>
                <a:close/>
              </a:path>
            </a:pathLst>
          </a:custGeom>
          <a:solidFill>
            <a:srgbClr val="34A853"/>
          </a:solidFill>
          <a:ln/>
        </p:spPr>
      </p:sp>
      <p:sp>
        <p:nvSpPr>
          <p:cNvPr id="43" name="Text 41"/>
          <p:cNvSpPr/>
          <p:nvPr/>
        </p:nvSpPr>
        <p:spPr>
          <a:xfrm>
            <a:off x="4672013" y="4721898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672013" y="4950498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完成核心制度文件编制与发布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096250" y="4607598"/>
            <a:ext cx="3714750" cy="647700"/>
          </a:xfrm>
          <a:custGeom>
            <a:avLst/>
            <a:gdLst/>
            <a:ahLst/>
            <a:cxnLst/>
            <a:rect l="l" t="t" r="r" b="b"/>
            <a:pathLst>
              <a:path w="3714750" h="647700">
                <a:moveTo>
                  <a:pt x="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533400"/>
                </a:lnTo>
                <a:cubicBezTo>
                  <a:pt x="3714750" y="596526"/>
                  <a:pt x="3663576" y="647700"/>
                  <a:pt x="3600450" y="647700"/>
                </a:cubicBez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096250" y="4607598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7" name="Shape 45"/>
          <p:cNvSpPr/>
          <p:nvPr/>
        </p:nvSpPr>
        <p:spPr>
          <a:xfrm>
            <a:off x="8264128" y="4845723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48" name="Text 46"/>
          <p:cNvSpPr/>
          <p:nvPr/>
        </p:nvSpPr>
        <p:spPr>
          <a:xfrm>
            <a:off x="8520113" y="472189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0212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1个月内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20113" y="4950498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02124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监控看板上线，执行体系试运行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edheadproductions.co.uk/4cce846a6305f04234e754587f8b5d93388db090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5556" r="5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73E8"/>
              </a:gs>
              <a:gs pos="50000">
                <a:srgbClr val="1A73E8">
                  <a:alpha val="95000"/>
                </a:srgbClr>
              </a:gs>
              <a:gs pos="100000">
                <a:srgbClr val="34A853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4000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5" name="Shape 2"/>
          <p:cNvSpPr/>
          <p:nvPr/>
        </p:nvSpPr>
        <p:spPr>
          <a:xfrm>
            <a:off x="5867400" y="628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6" name="Text 3"/>
          <p:cNvSpPr/>
          <p:nvPr/>
        </p:nvSpPr>
        <p:spPr>
          <a:xfrm>
            <a:off x="2867025" y="1543050"/>
            <a:ext cx="6457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感谢各位领导、同事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BBC0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的支持与配合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124200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8" name="Text 5"/>
          <p:cNvSpPr/>
          <p:nvPr/>
        </p:nvSpPr>
        <p:spPr>
          <a:xfrm>
            <a:off x="2938463" y="3333750"/>
            <a:ext cx="631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携手共创MO流程新效能！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09900" y="3905250"/>
            <a:ext cx="1905000" cy="1409700"/>
          </a:xfrm>
          <a:custGeom>
            <a:avLst/>
            <a:gdLst/>
            <a:ahLst/>
            <a:cxnLst/>
            <a:rect l="l" t="t" r="r" b="b"/>
            <a:pathLst>
              <a:path w="1905000" h="1409700">
                <a:moveTo>
                  <a:pt x="114298" y="0"/>
                </a:moveTo>
                <a:lnTo>
                  <a:pt x="1790702" y="0"/>
                </a:lnTo>
                <a:cubicBezTo>
                  <a:pt x="1853827" y="0"/>
                  <a:pt x="1905000" y="51173"/>
                  <a:pt x="1905000" y="114298"/>
                </a:cubicBezTo>
                <a:lnTo>
                  <a:pt x="1905000" y="1295402"/>
                </a:lnTo>
                <a:cubicBezTo>
                  <a:pt x="1905000" y="1358527"/>
                  <a:pt x="1853827" y="1409700"/>
                  <a:pt x="179070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790950" y="40957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42863"/>
                </a:moveTo>
                <a:cubicBezTo>
                  <a:pt x="42863" y="31008"/>
                  <a:pt x="33285" y="21431"/>
                  <a:pt x="21431" y="21431"/>
                </a:cubicBezTo>
                <a:cubicBezTo>
                  <a:pt x="9577" y="21431"/>
                  <a:pt x="0" y="31008"/>
                  <a:pt x="0" y="42863"/>
                </a:cubicBezTo>
                <a:lnTo>
                  <a:pt x="0" y="267891"/>
                </a:lnTo>
                <a:cubicBezTo>
                  <a:pt x="0" y="297493"/>
                  <a:pt x="23976" y="321469"/>
                  <a:pt x="53578" y="321469"/>
                </a:cubicBezTo>
                <a:lnTo>
                  <a:pt x="321469" y="321469"/>
                </a:lnTo>
                <a:cubicBezTo>
                  <a:pt x="333323" y="321469"/>
                  <a:pt x="342900" y="311892"/>
                  <a:pt x="342900" y="300038"/>
                </a:cubicBezTo>
                <a:cubicBezTo>
                  <a:pt x="342900" y="288183"/>
                  <a:pt x="333323" y="278606"/>
                  <a:pt x="321469" y="278606"/>
                </a:cubicBezTo>
                <a:lnTo>
                  <a:pt x="53578" y="278606"/>
                </a:lnTo>
                <a:cubicBezTo>
                  <a:pt x="47685" y="278606"/>
                  <a:pt x="42863" y="273784"/>
                  <a:pt x="42863" y="267891"/>
                </a:cubicBezTo>
                <a:lnTo>
                  <a:pt x="42863" y="42863"/>
                </a:lnTo>
                <a:close/>
                <a:moveTo>
                  <a:pt x="315173" y="100861"/>
                </a:moveTo>
                <a:cubicBezTo>
                  <a:pt x="323545" y="92489"/>
                  <a:pt x="323545" y="78894"/>
                  <a:pt x="315173" y="70522"/>
                </a:cubicBezTo>
                <a:cubicBezTo>
                  <a:pt x="306802" y="62151"/>
                  <a:pt x="293206" y="62151"/>
                  <a:pt x="284835" y="70522"/>
                </a:cubicBezTo>
                <a:lnTo>
                  <a:pt x="214313" y="141111"/>
                </a:lnTo>
                <a:lnTo>
                  <a:pt x="175870" y="102736"/>
                </a:lnTo>
                <a:cubicBezTo>
                  <a:pt x="167499" y="94364"/>
                  <a:pt x="153903" y="94364"/>
                  <a:pt x="145532" y="102736"/>
                </a:cubicBezTo>
                <a:lnTo>
                  <a:pt x="81238" y="167030"/>
                </a:lnTo>
                <a:cubicBezTo>
                  <a:pt x="72866" y="175401"/>
                  <a:pt x="72866" y="188997"/>
                  <a:pt x="81238" y="197368"/>
                </a:cubicBezTo>
                <a:cubicBezTo>
                  <a:pt x="89609" y="205740"/>
                  <a:pt x="103205" y="205740"/>
                  <a:pt x="111576" y="197368"/>
                </a:cubicBezTo>
                <a:lnTo>
                  <a:pt x="160734" y="148210"/>
                </a:lnTo>
                <a:lnTo>
                  <a:pt x="199177" y="186653"/>
                </a:lnTo>
                <a:cubicBezTo>
                  <a:pt x="207548" y="195024"/>
                  <a:pt x="221144" y="195024"/>
                  <a:pt x="229515" y="186653"/>
                </a:cubicBezTo>
                <a:lnTo>
                  <a:pt x="315240" y="100928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1" name="Text 8"/>
          <p:cNvSpPr/>
          <p:nvPr/>
        </p:nvSpPr>
        <p:spPr>
          <a:xfrm>
            <a:off x="3152775" y="45529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流程提效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62300" y="48958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关键节点执行率≥90%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43500" y="3905250"/>
            <a:ext cx="1905000" cy="1409700"/>
          </a:xfrm>
          <a:custGeom>
            <a:avLst/>
            <a:gdLst/>
            <a:ahLst/>
            <a:cxnLst/>
            <a:rect l="l" t="t" r="r" b="b"/>
            <a:pathLst>
              <a:path w="1905000" h="1409700">
                <a:moveTo>
                  <a:pt x="114298" y="0"/>
                </a:moveTo>
                <a:lnTo>
                  <a:pt x="1790702" y="0"/>
                </a:lnTo>
                <a:cubicBezTo>
                  <a:pt x="1853827" y="0"/>
                  <a:pt x="1905000" y="51173"/>
                  <a:pt x="1905000" y="114298"/>
                </a:cubicBezTo>
                <a:lnTo>
                  <a:pt x="1905000" y="1295402"/>
                </a:lnTo>
                <a:cubicBezTo>
                  <a:pt x="1905000" y="1358527"/>
                  <a:pt x="1853827" y="1409700"/>
                  <a:pt x="179070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945981" y="40957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64686" y="-17346"/>
                </a:moveTo>
                <a:cubicBezTo>
                  <a:pt x="155711" y="-22838"/>
                  <a:pt x="144393" y="-22838"/>
                  <a:pt x="135419" y="-17346"/>
                </a:cubicBezTo>
                <a:cubicBezTo>
                  <a:pt x="119077" y="-7367"/>
                  <a:pt x="108965" y="-4688"/>
                  <a:pt x="89810" y="-5090"/>
                </a:cubicBezTo>
                <a:cubicBezTo>
                  <a:pt x="79296" y="-5358"/>
                  <a:pt x="69518" y="335"/>
                  <a:pt x="64428" y="9577"/>
                </a:cubicBezTo>
                <a:cubicBezTo>
                  <a:pt x="55252" y="26387"/>
                  <a:pt x="47818" y="33821"/>
                  <a:pt x="31008" y="42996"/>
                </a:cubicBezTo>
                <a:cubicBezTo>
                  <a:pt x="21766" y="48019"/>
                  <a:pt x="16140" y="57864"/>
                  <a:pt x="16341" y="68379"/>
                </a:cubicBezTo>
                <a:cubicBezTo>
                  <a:pt x="16810" y="87533"/>
                  <a:pt x="14064" y="97646"/>
                  <a:pt x="4085" y="113987"/>
                </a:cubicBezTo>
                <a:cubicBezTo>
                  <a:pt x="-1406" y="122962"/>
                  <a:pt x="-1406" y="134280"/>
                  <a:pt x="4085" y="143255"/>
                </a:cubicBezTo>
                <a:cubicBezTo>
                  <a:pt x="14064" y="159596"/>
                  <a:pt x="16743" y="169709"/>
                  <a:pt x="16341" y="188863"/>
                </a:cubicBezTo>
                <a:cubicBezTo>
                  <a:pt x="16073" y="199378"/>
                  <a:pt x="21766" y="209156"/>
                  <a:pt x="31008" y="214246"/>
                </a:cubicBezTo>
                <a:cubicBezTo>
                  <a:pt x="45809" y="222349"/>
                  <a:pt x="53310" y="229046"/>
                  <a:pt x="61213" y="242039"/>
                </a:cubicBezTo>
                <a:lnTo>
                  <a:pt x="28597" y="307070"/>
                </a:lnTo>
                <a:cubicBezTo>
                  <a:pt x="24646" y="315039"/>
                  <a:pt x="27861" y="324683"/>
                  <a:pt x="35763" y="328635"/>
                </a:cubicBezTo>
                <a:lnTo>
                  <a:pt x="93360" y="357433"/>
                </a:lnTo>
                <a:cubicBezTo>
                  <a:pt x="101062" y="361251"/>
                  <a:pt x="110438" y="358371"/>
                  <a:pt x="114590" y="350870"/>
                </a:cubicBezTo>
                <a:lnTo>
                  <a:pt x="149952" y="287179"/>
                </a:lnTo>
                <a:lnTo>
                  <a:pt x="185313" y="350870"/>
                </a:lnTo>
                <a:cubicBezTo>
                  <a:pt x="189466" y="358371"/>
                  <a:pt x="198842" y="361317"/>
                  <a:pt x="206544" y="357433"/>
                </a:cubicBezTo>
                <a:lnTo>
                  <a:pt x="264140" y="328635"/>
                </a:lnTo>
                <a:cubicBezTo>
                  <a:pt x="272110" y="324683"/>
                  <a:pt x="275325" y="315039"/>
                  <a:pt x="271306" y="307070"/>
                </a:cubicBezTo>
                <a:lnTo>
                  <a:pt x="238758" y="241972"/>
                </a:lnTo>
                <a:cubicBezTo>
                  <a:pt x="246593" y="228980"/>
                  <a:pt x="254161" y="222282"/>
                  <a:pt x="268962" y="214179"/>
                </a:cubicBezTo>
                <a:cubicBezTo>
                  <a:pt x="278204" y="209156"/>
                  <a:pt x="283830" y="199311"/>
                  <a:pt x="283629" y="188796"/>
                </a:cubicBezTo>
                <a:cubicBezTo>
                  <a:pt x="283160" y="169642"/>
                  <a:pt x="285906" y="159529"/>
                  <a:pt x="295885" y="143188"/>
                </a:cubicBezTo>
                <a:cubicBezTo>
                  <a:pt x="301377" y="134213"/>
                  <a:pt x="301377" y="122895"/>
                  <a:pt x="295885" y="113920"/>
                </a:cubicBezTo>
                <a:cubicBezTo>
                  <a:pt x="285906" y="97579"/>
                  <a:pt x="283227" y="87466"/>
                  <a:pt x="283629" y="68312"/>
                </a:cubicBezTo>
                <a:cubicBezTo>
                  <a:pt x="283897" y="57797"/>
                  <a:pt x="278204" y="48019"/>
                  <a:pt x="268962" y="42929"/>
                </a:cubicBezTo>
                <a:cubicBezTo>
                  <a:pt x="252152" y="33754"/>
                  <a:pt x="244718" y="26320"/>
                  <a:pt x="235543" y="9510"/>
                </a:cubicBezTo>
                <a:cubicBezTo>
                  <a:pt x="230520" y="268"/>
                  <a:pt x="220675" y="-5358"/>
                  <a:pt x="210160" y="-5157"/>
                </a:cubicBezTo>
                <a:cubicBezTo>
                  <a:pt x="191006" y="-4688"/>
                  <a:pt x="180893" y="-7434"/>
                  <a:pt x="164552" y="-17413"/>
                </a:cubicBezTo>
                <a:close/>
                <a:moveTo>
                  <a:pt x="150019" y="64294"/>
                </a:moveTo>
                <a:cubicBezTo>
                  <a:pt x="185503" y="64294"/>
                  <a:pt x="214313" y="93103"/>
                  <a:pt x="214313" y="128588"/>
                </a:cubicBezTo>
                <a:cubicBezTo>
                  <a:pt x="214313" y="164072"/>
                  <a:pt x="185503" y="192881"/>
                  <a:pt x="150019" y="192881"/>
                </a:cubicBezTo>
                <a:cubicBezTo>
                  <a:pt x="114534" y="192881"/>
                  <a:pt x="85725" y="164072"/>
                  <a:pt x="85725" y="128588"/>
                </a:cubicBezTo>
                <a:cubicBezTo>
                  <a:pt x="85725" y="93103"/>
                  <a:pt x="114534" y="64294"/>
                  <a:pt x="150019" y="64294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5" name="Text 12"/>
          <p:cNvSpPr/>
          <p:nvPr/>
        </p:nvSpPr>
        <p:spPr>
          <a:xfrm>
            <a:off x="5286375" y="45529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质量赋能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95900" y="48958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方案质量显著提升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77100" y="3905250"/>
            <a:ext cx="1905000" cy="1409700"/>
          </a:xfrm>
          <a:custGeom>
            <a:avLst/>
            <a:gdLst/>
            <a:ahLst/>
            <a:cxnLst/>
            <a:rect l="l" t="t" r="r" b="b"/>
            <a:pathLst>
              <a:path w="1905000" h="1409700">
                <a:moveTo>
                  <a:pt x="114298" y="0"/>
                </a:moveTo>
                <a:lnTo>
                  <a:pt x="1790702" y="0"/>
                </a:lnTo>
                <a:cubicBezTo>
                  <a:pt x="1853827" y="0"/>
                  <a:pt x="1905000" y="51173"/>
                  <a:pt x="1905000" y="114298"/>
                </a:cubicBezTo>
                <a:lnTo>
                  <a:pt x="1905000" y="1295402"/>
                </a:lnTo>
                <a:cubicBezTo>
                  <a:pt x="1905000" y="1358527"/>
                  <a:pt x="1853827" y="1409700"/>
                  <a:pt x="179070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8058150" y="40957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96642" y="0"/>
                </a:moveTo>
                <a:lnTo>
                  <a:pt x="246660" y="0"/>
                </a:lnTo>
                <a:cubicBezTo>
                  <a:pt x="264408" y="0"/>
                  <a:pt x="278874" y="14600"/>
                  <a:pt x="278204" y="32281"/>
                </a:cubicBezTo>
                <a:cubicBezTo>
                  <a:pt x="278070" y="35830"/>
                  <a:pt x="277937" y="39380"/>
                  <a:pt x="277736" y="42863"/>
                </a:cubicBezTo>
                <a:lnTo>
                  <a:pt x="310954" y="42863"/>
                </a:lnTo>
                <a:cubicBezTo>
                  <a:pt x="328434" y="42863"/>
                  <a:pt x="343838" y="57329"/>
                  <a:pt x="342498" y="76215"/>
                </a:cubicBezTo>
                <a:cubicBezTo>
                  <a:pt x="337475" y="145666"/>
                  <a:pt x="301980" y="183840"/>
                  <a:pt x="263470" y="203798"/>
                </a:cubicBezTo>
                <a:cubicBezTo>
                  <a:pt x="252889" y="209290"/>
                  <a:pt x="242106" y="213375"/>
                  <a:pt x="231859" y="216389"/>
                </a:cubicBezTo>
                <a:cubicBezTo>
                  <a:pt x="218331" y="235543"/>
                  <a:pt x="204267" y="245656"/>
                  <a:pt x="193082" y="251080"/>
                </a:cubicBezTo>
                <a:lnTo>
                  <a:pt x="193082" y="300038"/>
                </a:lnTo>
                <a:lnTo>
                  <a:pt x="235945" y="300038"/>
                </a:lnTo>
                <a:cubicBezTo>
                  <a:pt x="247799" y="300038"/>
                  <a:pt x="257376" y="309615"/>
                  <a:pt x="257376" y="321469"/>
                </a:cubicBezTo>
                <a:cubicBezTo>
                  <a:pt x="257376" y="333323"/>
                  <a:pt x="247799" y="342900"/>
                  <a:pt x="235945" y="342900"/>
                </a:cubicBezTo>
                <a:lnTo>
                  <a:pt x="107357" y="342900"/>
                </a:lnTo>
                <a:cubicBezTo>
                  <a:pt x="95503" y="342900"/>
                  <a:pt x="85926" y="333323"/>
                  <a:pt x="85926" y="321469"/>
                </a:cubicBezTo>
                <a:cubicBezTo>
                  <a:pt x="85926" y="309615"/>
                  <a:pt x="95503" y="300038"/>
                  <a:pt x="107357" y="300038"/>
                </a:cubicBezTo>
                <a:lnTo>
                  <a:pt x="150220" y="300038"/>
                </a:lnTo>
                <a:lnTo>
                  <a:pt x="150220" y="251080"/>
                </a:lnTo>
                <a:cubicBezTo>
                  <a:pt x="139504" y="245924"/>
                  <a:pt x="126176" y="236347"/>
                  <a:pt x="113184" y="218733"/>
                </a:cubicBezTo>
                <a:cubicBezTo>
                  <a:pt x="100861" y="215518"/>
                  <a:pt x="87466" y="210629"/>
                  <a:pt x="74407" y="203262"/>
                </a:cubicBezTo>
                <a:cubicBezTo>
                  <a:pt x="38174" y="182969"/>
                  <a:pt x="5492" y="144728"/>
                  <a:pt x="804" y="76081"/>
                </a:cubicBezTo>
                <a:cubicBezTo>
                  <a:pt x="-469" y="57262"/>
                  <a:pt x="14868" y="42796"/>
                  <a:pt x="32348" y="42796"/>
                </a:cubicBezTo>
                <a:lnTo>
                  <a:pt x="65566" y="42796"/>
                </a:lnTo>
                <a:cubicBezTo>
                  <a:pt x="65365" y="39313"/>
                  <a:pt x="65231" y="35830"/>
                  <a:pt x="65097" y="32214"/>
                </a:cubicBezTo>
                <a:cubicBezTo>
                  <a:pt x="64428" y="14466"/>
                  <a:pt x="78894" y="-67"/>
                  <a:pt x="96642" y="-67"/>
                </a:cubicBezTo>
                <a:close/>
                <a:moveTo>
                  <a:pt x="67977" y="75009"/>
                </a:moveTo>
                <a:lnTo>
                  <a:pt x="32884" y="75009"/>
                </a:lnTo>
                <a:cubicBezTo>
                  <a:pt x="37036" y="131735"/>
                  <a:pt x="63088" y="160132"/>
                  <a:pt x="89944" y="175200"/>
                </a:cubicBezTo>
                <a:cubicBezTo>
                  <a:pt x="80300" y="150220"/>
                  <a:pt x="72330" y="117604"/>
                  <a:pt x="67977" y="75009"/>
                </a:cubicBezTo>
                <a:close/>
                <a:moveTo>
                  <a:pt x="254496" y="171986"/>
                </a:moveTo>
                <a:cubicBezTo>
                  <a:pt x="281620" y="156046"/>
                  <a:pt x="306132" y="127717"/>
                  <a:pt x="310284" y="75009"/>
                </a:cubicBezTo>
                <a:lnTo>
                  <a:pt x="275258" y="75009"/>
                </a:lnTo>
                <a:cubicBezTo>
                  <a:pt x="271105" y="115796"/>
                  <a:pt x="263604" y="147474"/>
                  <a:pt x="254496" y="171986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19" name="Text 16"/>
          <p:cNvSpPr/>
          <p:nvPr/>
        </p:nvSpPr>
        <p:spPr>
          <a:xfrm>
            <a:off x="7419975" y="455295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业绩突破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29500" y="48958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中标率与毛利率双增长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64856" y="5619750"/>
            <a:ext cx="3067050" cy="838200"/>
          </a:xfrm>
          <a:custGeom>
            <a:avLst/>
            <a:gdLst/>
            <a:ahLst/>
            <a:cxnLst/>
            <a:rect l="l" t="t" r="r" b="b"/>
            <a:pathLst>
              <a:path w="3067050" h="838200">
                <a:moveTo>
                  <a:pt x="152402" y="0"/>
                </a:moveTo>
                <a:lnTo>
                  <a:pt x="2914648" y="0"/>
                </a:lnTo>
                <a:cubicBezTo>
                  <a:pt x="2998818" y="0"/>
                  <a:pt x="3067050" y="68232"/>
                  <a:pt x="3067050" y="152402"/>
                </a:cubicBezTo>
                <a:lnTo>
                  <a:pt x="3067050" y="685798"/>
                </a:lnTo>
                <a:cubicBezTo>
                  <a:pt x="3067050" y="769968"/>
                  <a:pt x="2998818" y="838200"/>
                  <a:pt x="2914648" y="838200"/>
                </a:cubicBezTo>
                <a:lnTo>
                  <a:pt x="152402" y="838200"/>
                </a:lnTo>
                <a:cubicBezTo>
                  <a:pt x="68232" y="838200"/>
                  <a:pt x="0" y="769968"/>
                  <a:pt x="0" y="6857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798219" y="5924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70442" y="110728"/>
                  <a:pt x="46434" y="86721"/>
                  <a:pt x="46434" y="57150"/>
                </a:cubicBezTo>
                <a:cubicBezTo>
                  <a:pt x="46434" y="27579"/>
                  <a:pt x="70442" y="3572"/>
                  <a:pt x="100012" y="3572"/>
                </a:cubicBezTo>
                <a:cubicBezTo>
                  <a:pt x="129583" y="3572"/>
                  <a:pt x="153591" y="27579"/>
                  <a:pt x="153591" y="57150"/>
                </a:cubicBezTo>
                <a:cubicBezTo>
                  <a:pt x="153591" y="86721"/>
                  <a:pt x="129583" y="110728"/>
                  <a:pt x="100013" y="110728"/>
                </a:cubicBezTo>
                <a:close/>
                <a:moveTo>
                  <a:pt x="86395" y="135731"/>
                </a:moveTo>
                <a:lnTo>
                  <a:pt x="113630" y="135731"/>
                </a:lnTo>
                <a:cubicBezTo>
                  <a:pt x="117961" y="135731"/>
                  <a:pt x="121444" y="139214"/>
                  <a:pt x="121444" y="143545"/>
                </a:cubicBezTo>
                <a:cubicBezTo>
                  <a:pt x="121444" y="145420"/>
                  <a:pt x="120774" y="147206"/>
                  <a:pt x="119569" y="148635"/>
                </a:cubicBezTo>
                <a:lnTo>
                  <a:pt x="107335" y="162922"/>
                </a:lnTo>
                <a:lnTo>
                  <a:pt x="121176" y="214313"/>
                </a:lnTo>
                <a:lnTo>
                  <a:pt x="121444" y="214313"/>
                </a:lnTo>
                <a:lnTo>
                  <a:pt x="136892" y="152474"/>
                </a:lnTo>
                <a:cubicBezTo>
                  <a:pt x="137874" y="148590"/>
                  <a:pt x="141848" y="146224"/>
                  <a:pt x="145599" y="147652"/>
                </a:cubicBezTo>
                <a:cubicBezTo>
                  <a:pt x="173236" y="158189"/>
                  <a:pt x="192881" y="184978"/>
                  <a:pt x="192881" y="216322"/>
                </a:cubicBezTo>
                <a:cubicBezTo>
                  <a:pt x="192881" y="223064"/>
                  <a:pt x="187389" y="228555"/>
                  <a:pt x="180648" y="228555"/>
                </a:cubicBezTo>
                <a:lnTo>
                  <a:pt x="19377" y="228600"/>
                </a:lnTo>
                <a:cubicBezTo>
                  <a:pt x="12636" y="228600"/>
                  <a:pt x="7144" y="223108"/>
                  <a:pt x="7144" y="216366"/>
                </a:cubicBezTo>
                <a:cubicBezTo>
                  <a:pt x="7144" y="185023"/>
                  <a:pt x="26789" y="158234"/>
                  <a:pt x="54426" y="147697"/>
                </a:cubicBezTo>
                <a:cubicBezTo>
                  <a:pt x="58177" y="146268"/>
                  <a:pt x="62151" y="148635"/>
                  <a:pt x="63133" y="152519"/>
                </a:cubicBezTo>
                <a:lnTo>
                  <a:pt x="78581" y="214357"/>
                </a:lnTo>
                <a:lnTo>
                  <a:pt x="78849" y="214357"/>
                </a:lnTo>
                <a:lnTo>
                  <a:pt x="92690" y="162967"/>
                </a:lnTo>
                <a:lnTo>
                  <a:pt x="80456" y="148679"/>
                </a:lnTo>
                <a:cubicBezTo>
                  <a:pt x="79251" y="147251"/>
                  <a:pt x="78581" y="145465"/>
                  <a:pt x="78581" y="143589"/>
                </a:cubicBezTo>
                <a:cubicBezTo>
                  <a:pt x="78581" y="139258"/>
                  <a:pt x="82064" y="135776"/>
                  <a:pt x="86395" y="135776"/>
                </a:cubicBez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3" name="Text 20"/>
          <p:cNvSpPr/>
          <p:nvPr/>
        </p:nvSpPr>
        <p:spPr>
          <a:xfrm>
            <a:off x="5155406" y="581025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项目负责人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55406" y="6000750"/>
            <a:ext cx="75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XXX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050756" y="581025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317456" y="5924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1527" y="11162"/>
                </a:moveTo>
                <a:cubicBezTo>
                  <a:pt x="68000" y="2724"/>
                  <a:pt x="58802" y="-1741"/>
                  <a:pt x="50051" y="625"/>
                </a:cubicBezTo>
                <a:lnTo>
                  <a:pt x="47595" y="1295"/>
                </a:lnTo>
                <a:cubicBezTo>
                  <a:pt x="18752" y="9153"/>
                  <a:pt x="-5894" y="37103"/>
                  <a:pt x="1295" y="71125"/>
                </a:cubicBezTo>
                <a:cubicBezTo>
                  <a:pt x="17859" y="149260"/>
                  <a:pt x="79340" y="210741"/>
                  <a:pt x="157475" y="227305"/>
                </a:cubicBezTo>
                <a:cubicBezTo>
                  <a:pt x="191542" y="234538"/>
                  <a:pt x="219447" y="209848"/>
                  <a:pt x="227305" y="181005"/>
                </a:cubicBezTo>
                <a:lnTo>
                  <a:pt x="227975" y="178549"/>
                </a:lnTo>
                <a:cubicBezTo>
                  <a:pt x="230386" y="169753"/>
                  <a:pt x="225876" y="160556"/>
                  <a:pt x="217483" y="157073"/>
                </a:cubicBezTo>
                <a:lnTo>
                  <a:pt x="174040" y="138991"/>
                </a:lnTo>
                <a:cubicBezTo>
                  <a:pt x="166673" y="135910"/>
                  <a:pt x="158145" y="138053"/>
                  <a:pt x="153055" y="144259"/>
                </a:cubicBezTo>
                <a:lnTo>
                  <a:pt x="135821" y="165333"/>
                </a:lnTo>
                <a:cubicBezTo>
                  <a:pt x="104433" y="149751"/>
                  <a:pt x="79162" y="123676"/>
                  <a:pt x="64651" y="91663"/>
                </a:cubicBezTo>
                <a:lnTo>
                  <a:pt x="84386" y="75590"/>
                </a:lnTo>
                <a:cubicBezTo>
                  <a:pt x="90592" y="70545"/>
                  <a:pt x="92690" y="62017"/>
                  <a:pt x="89654" y="54605"/>
                </a:cubicBezTo>
                <a:lnTo>
                  <a:pt x="71527" y="11162"/>
                </a:lnTo>
                <a:close/>
              </a:path>
            </a:pathLst>
          </a:custGeom>
          <a:solidFill>
            <a:srgbClr val="FBBC05"/>
          </a:solidFill>
          <a:ln/>
        </p:spPr>
      </p:sp>
      <p:sp>
        <p:nvSpPr>
          <p:cNvPr id="27" name="Text 24"/>
          <p:cNvSpPr/>
          <p:nvPr/>
        </p:nvSpPr>
        <p:spPr>
          <a:xfrm>
            <a:off x="6688931" y="581025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联系电话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688931" y="6000750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XXXXXXX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1020</Words>
  <Application>Microsoft Office PowerPoint</Application>
  <PresentationFormat>宽屏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Liter</vt:lpstr>
      <vt:lpstr>Calibri</vt:lpstr>
      <vt:lpstr>Arial</vt:lpstr>
      <vt:lpstr>MiSans</vt:lpstr>
      <vt:lpstr>Alimama ShuHeiTi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MO管理商机流程优化项目启动会</dc:title>
  <dc:subject>MO管理商机流程优化项目启动会</dc:subject>
  <dc:creator>Kimi</dc:creator>
  <cp:lastModifiedBy>Lenovo</cp:lastModifiedBy>
  <cp:revision>2</cp:revision>
  <dcterms:created xsi:type="dcterms:W3CDTF">2026-01-26T08:00:54Z</dcterms:created>
  <dcterms:modified xsi:type="dcterms:W3CDTF">2026-01-26T08:03:27Z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O管理商机流程优化项目启动会","ContentProducer":"001191110108MACG2KBH8F10000","ProduceID":"19bf9161-6592-8728-8000-00003aacfe4a","ReservedCode1":"","ContentPropagator":"001191110108MACG2KBH8F20000","PropagateID":"19bf9161-6592-8728-8000-00003aacfe4a","Reserv</vt:lpwstr>
  </property>
</Properties>
</file>