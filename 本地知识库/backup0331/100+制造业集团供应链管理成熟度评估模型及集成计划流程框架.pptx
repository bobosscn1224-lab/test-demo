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theme/themeOverride1.xml" ContentType="application/vnd.openxmlformats-officedocument.themeOverride+xml"/>
  <Override PartName="/ppt/charts/chart22.xml" ContentType="application/vnd.openxmlformats-officedocument.drawingml.chart+xml"/>
  <Override PartName="/ppt/theme/themeOverride2.xml" ContentType="application/vnd.openxmlformats-officedocument.themeOverride+xml"/>
  <Override PartName="/ppt/charts/chart23.xml" ContentType="application/vnd.openxmlformats-officedocument.drawingml.chart+xml"/>
  <Override PartName="/ppt/theme/themeOverride3.xml" ContentType="application/vnd.openxmlformats-officedocument.themeOverride+xml"/>
  <Override PartName="/ppt/charts/chart24.xml" ContentType="application/vnd.openxmlformats-officedocument.drawingml.chart+xml"/>
  <Override PartName="/ppt/theme/themeOverride4.xml" ContentType="application/vnd.openxmlformats-officedocument.themeOverride+xml"/>
  <Override PartName="/ppt/charts/chart25.xml" ContentType="application/vnd.openxmlformats-officedocument.drawingml.chart+xml"/>
  <Override PartName="/ppt/theme/themeOverride5.xml" ContentType="application/vnd.openxmlformats-officedocument.themeOverride+xml"/>
  <Override PartName="/ppt/charts/chart26.xml" ContentType="application/vnd.openxmlformats-officedocument.drawingml.chart+xml"/>
  <Override PartName="/ppt/theme/themeOverride6.xml" ContentType="application/vnd.openxmlformats-officedocument.themeOverride+xml"/>
  <Override PartName="/ppt/charts/chart27.xml" ContentType="application/vnd.openxmlformats-officedocument.drawingml.chart+xml"/>
  <Override PartName="/ppt/theme/themeOverride7.xml" ContentType="application/vnd.openxmlformats-officedocument.themeOverride+xml"/>
  <Override PartName="/ppt/charts/chart28.xml" ContentType="application/vnd.openxmlformats-officedocument.drawingml.chart+xml"/>
  <Override PartName="/ppt/theme/themeOverride8.xml" ContentType="application/vnd.openxmlformats-officedocument.themeOverride+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theme/themeOverride9.xml" ContentType="application/vnd.openxmlformats-officedocument.themeOverride+xml"/>
  <Override PartName="/ppt/charts/chart34.xml" ContentType="application/vnd.openxmlformats-officedocument.drawingml.chart+xml"/>
  <Override PartName="/ppt/theme/themeOverride10.xml" ContentType="application/vnd.openxmlformats-officedocument.themeOverride+xml"/>
  <Override PartName="/ppt/notesSlides/notesSlide14.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1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6.xml" ContentType="application/vnd.openxmlformats-officedocument.presentationml.notesSlide+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notesSlides/notesSlide17.xml" ContentType="application/vnd.openxmlformats-officedocument.presentationml.notesSlide+xml"/>
  <Override PartName="/ppt/charts/chart40.xml" ContentType="application/vnd.openxmlformats-officedocument.drawingml.chart+xml"/>
  <Override PartName="/ppt/theme/themeOverride11.xml" ContentType="application/vnd.openxmlformats-officedocument.themeOverride+xml"/>
  <Override PartName="/ppt/charts/chart41.xml" ContentType="application/vnd.openxmlformats-officedocument.drawingml.chart+xml"/>
  <Override PartName="/ppt/theme/themeOverride12.xml" ContentType="application/vnd.openxmlformats-officedocument.themeOverride+xml"/>
  <Override PartName="/ppt/charts/chart42.xml" ContentType="application/vnd.openxmlformats-officedocument.drawingml.chart+xml"/>
  <Override PartName="/ppt/charts/chart43.xml" ContentType="application/vnd.openxmlformats-officedocument.drawingml.chart+xml"/>
  <Override PartName="/ppt/notesSlides/notesSlide1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127"/>
  </p:notesMasterIdLst>
  <p:handoutMasterIdLst>
    <p:handoutMasterId r:id="rId128"/>
  </p:handoutMasterIdLst>
  <p:sldIdLst>
    <p:sldId id="262" r:id="rId3"/>
    <p:sldId id="640" r:id="rId4"/>
    <p:sldId id="698" r:id="rId5"/>
    <p:sldId id="715" r:id="rId6"/>
    <p:sldId id="734" r:id="rId7"/>
    <p:sldId id="720" r:id="rId8"/>
    <p:sldId id="727" r:id="rId9"/>
    <p:sldId id="735" r:id="rId10"/>
    <p:sldId id="737" r:id="rId11"/>
    <p:sldId id="721" r:id="rId12"/>
    <p:sldId id="722" r:id="rId13"/>
    <p:sldId id="723" r:id="rId14"/>
    <p:sldId id="724" r:id="rId15"/>
    <p:sldId id="738" r:id="rId16"/>
    <p:sldId id="687" r:id="rId17"/>
    <p:sldId id="492" r:id="rId18"/>
    <p:sldId id="578" r:id="rId19"/>
    <p:sldId id="579" r:id="rId20"/>
    <p:sldId id="495" r:id="rId21"/>
    <p:sldId id="493" r:id="rId22"/>
    <p:sldId id="494" r:id="rId23"/>
    <p:sldId id="496" r:id="rId24"/>
    <p:sldId id="688" r:id="rId25"/>
    <p:sldId id="689" r:id="rId26"/>
    <p:sldId id="352" r:id="rId27"/>
    <p:sldId id="328" r:id="rId28"/>
    <p:sldId id="303" r:id="rId29"/>
    <p:sldId id="642" r:id="rId30"/>
    <p:sldId id="643" r:id="rId31"/>
    <p:sldId id="644" r:id="rId32"/>
    <p:sldId id="645" r:id="rId33"/>
    <p:sldId id="646" r:id="rId34"/>
    <p:sldId id="690" r:id="rId35"/>
    <p:sldId id="489" r:id="rId36"/>
    <p:sldId id="422" r:id="rId37"/>
    <p:sldId id="591" r:id="rId38"/>
    <p:sldId id="649" r:id="rId39"/>
    <p:sldId id="650" r:id="rId40"/>
    <p:sldId id="651" r:id="rId41"/>
    <p:sldId id="728" r:id="rId42"/>
    <p:sldId id="653" r:id="rId43"/>
    <p:sldId id="654" r:id="rId44"/>
    <p:sldId id="729" r:id="rId45"/>
    <p:sldId id="655" r:id="rId46"/>
    <p:sldId id="656" r:id="rId47"/>
    <p:sldId id="657" r:id="rId48"/>
    <p:sldId id="658" r:id="rId49"/>
    <p:sldId id="659" r:id="rId50"/>
    <p:sldId id="660" r:id="rId51"/>
    <p:sldId id="661" r:id="rId52"/>
    <p:sldId id="662" r:id="rId53"/>
    <p:sldId id="730" r:id="rId54"/>
    <p:sldId id="731" r:id="rId55"/>
    <p:sldId id="665" r:id="rId56"/>
    <p:sldId id="666" r:id="rId57"/>
    <p:sldId id="667" r:id="rId58"/>
    <p:sldId id="691" r:id="rId59"/>
    <p:sldId id="628" r:id="rId60"/>
    <p:sldId id="542" r:id="rId61"/>
    <p:sldId id="428" r:id="rId62"/>
    <p:sldId id="429" r:id="rId63"/>
    <p:sldId id="485" r:id="rId64"/>
    <p:sldId id="581" r:id="rId65"/>
    <p:sldId id="617" r:id="rId66"/>
    <p:sldId id="618" r:id="rId67"/>
    <p:sldId id="619" r:id="rId68"/>
    <p:sldId id="670" r:id="rId69"/>
    <p:sldId id="671" r:id="rId70"/>
    <p:sldId id="672" r:id="rId71"/>
    <p:sldId id="673" r:id="rId72"/>
    <p:sldId id="674" r:id="rId73"/>
    <p:sldId id="675" r:id="rId74"/>
    <p:sldId id="676" r:id="rId75"/>
    <p:sldId id="677" r:id="rId76"/>
    <p:sldId id="678" r:id="rId77"/>
    <p:sldId id="679" r:id="rId78"/>
    <p:sldId id="680" r:id="rId79"/>
    <p:sldId id="681" r:id="rId80"/>
    <p:sldId id="682" r:id="rId81"/>
    <p:sldId id="683" r:id="rId82"/>
    <p:sldId id="684" r:id="rId83"/>
    <p:sldId id="685" r:id="rId84"/>
    <p:sldId id="490" r:id="rId85"/>
    <p:sldId id="436" r:id="rId86"/>
    <p:sldId id="692" r:id="rId87"/>
    <p:sldId id="620" r:id="rId88"/>
    <p:sldId id="318" r:id="rId89"/>
    <p:sldId id="534" r:id="rId90"/>
    <p:sldId id="535" r:id="rId91"/>
    <p:sldId id="580" r:id="rId92"/>
    <p:sldId id="537" r:id="rId93"/>
    <p:sldId id="538" r:id="rId94"/>
    <p:sldId id="525" r:id="rId95"/>
    <p:sldId id="526" r:id="rId96"/>
    <p:sldId id="527" r:id="rId97"/>
    <p:sldId id="528" r:id="rId98"/>
    <p:sldId id="529" r:id="rId99"/>
    <p:sldId id="530" r:id="rId100"/>
    <p:sldId id="467" r:id="rId101"/>
    <p:sldId id="474" r:id="rId102"/>
    <p:sldId id="473" r:id="rId103"/>
    <p:sldId id="475" r:id="rId104"/>
    <p:sldId id="476" r:id="rId105"/>
    <p:sldId id="732" r:id="rId106"/>
    <p:sldId id="598" r:id="rId107"/>
    <p:sldId id="599" r:id="rId108"/>
    <p:sldId id="600" r:id="rId109"/>
    <p:sldId id="601" r:id="rId110"/>
    <p:sldId id="705" r:id="rId111"/>
    <p:sldId id="707" r:id="rId112"/>
    <p:sldId id="706" r:id="rId113"/>
    <p:sldId id="708" r:id="rId114"/>
    <p:sldId id="709" r:id="rId115"/>
    <p:sldId id="710" r:id="rId116"/>
    <p:sldId id="711" r:id="rId117"/>
    <p:sldId id="693" r:id="rId118"/>
    <p:sldId id="416" r:id="rId119"/>
    <p:sldId id="593" r:id="rId120"/>
    <p:sldId id="567" r:id="rId121"/>
    <p:sldId id="568" r:id="rId122"/>
    <p:sldId id="569" r:id="rId123"/>
    <p:sldId id="570" r:id="rId124"/>
    <p:sldId id="571" r:id="rId125"/>
    <p:sldId id="263" r:id="rId126"/>
  </p:sldIdLst>
  <p:sldSz cx="9144000" cy="6858000" type="screen4x3"/>
  <p:notesSz cx="6797675" cy="9928225"/>
  <p:custDataLst>
    <p:tags r:id="rId1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pos="56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3366FF"/>
    <a:srgbClr val="7889FB"/>
    <a:srgbClr val="0066FF"/>
    <a:srgbClr val="000000"/>
    <a:srgbClr val="FFFFCC"/>
    <a:srgbClr val="FFE181"/>
    <a:srgbClr val="0000FF"/>
    <a:srgbClr val="FFD85B"/>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5078" autoAdjust="0"/>
  </p:normalViewPr>
  <p:slideViewPr>
    <p:cSldViewPr showGuides="1">
      <p:cViewPr varScale="1">
        <p:scale>
          <a:sx n="63" d="100"/>
          <a:sy n="63" d="100"/>
        </p:scale>
        <p:origin x="1404" y="52"/>
      </p:cViewPr>
      <p:guideLst>
        <p:guide orient="horz"/>
        <p:guide pos="5647"/>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handoutMaster" Target="handoutMasters/handout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0.xml.rels><?xml version="1.0" encoding="UTF-8" standalone="yes"?>
<Relationships xmlns="http://schemas.openxmlformats.org/package/2006/relationships"><Relationship Id="rId1" Type="http://schemas.openxmlformats.org/officeDocument/2006/relationships/oleObject" Target="file:///E:\2016\&#20135;&#38144;&#31995;&#32479;&#39033;&#30446;\&#24453;&#23436;&#25104;\0316\&#35746;&#21333;&#21709;&#24212;&#21608;&#26399;%20%20&#22806;.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E:\2016\&#20135;&#38144;&#31995;&#32479;&#39033;&#30446;\&#24453;&#23436;&#25104;\0316\&#35746;&#21333;&#21709;&#24212;&#21608;&#26399;%20%20&#22806;.xlsx" TargetMode="Externa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5.xml.rels><?xml version="1.0" encoding="UTF-8" standalone="yes"?>
<Relationships xmlns="http://schemas.openxmlformats.org/package/2006/relationships"><Relationship Id="rId1" Type="http://schemas.openxmlformats.org/officeDocument/2006/relationships/oleObject" Target="file:///E:\2016\2015&#21382;&#21490;&#25968;&#25454;\&#28023;&#22806;&#22823;&#21306;&#38144;&#21806;\&#37325;&#26426;2015&#24180;&#28023;&#22806;&#22823;&#21306;&#25366;&#26426;&#38144;&#21806;&#25968;&#25454;.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file:///E:\2016\&#20135;&#38144;&#31995;&#32479;&#39033;&#30446;\&#24453;&#23436;&#25104;\0316\&#35746;&#21333;&#21709;&#24212;&#21608;&#26399;%20%20&#22806;.xlsx"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file:///E:\2016\&#20135;&#38144;&#31995;&#32479;&#39033;&#30446;\&#24453;&#23436;&#25104;\0316\&#21488;&#37327;&#20132;&#20184;&#20934;&#30830;&#29575;.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21.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19977;&#25366;.xlsx" TargetMode="External"/><Relationship Id="rId1" Type="http://schemas.openxmlformats.org/officeDocument/2006/relationships/themeOverride" Target="../theme/themeOverride1.xml"/></Relationships>
</file>

<file path=ppt/charts/_rels/chart22.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37319;&#36141;&#25968;&#25454;:&#20132;&#20184;&#21450;&#36136;&#37327;&#25968;&#25454;316.xlsx" TargetMode="External"/><Relationship Id="rId1" Type="http://schemas.openxmlformats.org/officeDocument/2006/relationships/themeOverride" Target="../theme/themeOverride2.xml"/></Relationships>
</file>

<file path=ppt/charts/_rels/chart23.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xlsx" TargetMode="External"/><Relationship Id="rId1" Type="http://schemas.openxmlformats.org/officeDocument/2006/relationships/themeOverride" Target="../theme/themeOverride3.xml"/></Relationships>
</file>

<file path=ppt/charts/_rels/chart24.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xlsx" TargetMode="External"/><Relationship Id="rId1" Type="http://schemas.openxmlformats.org/officeDocument/2006/relationships/themeOverride" Target="../theme/themeOverride4.xml"/></Relationships>
</file>

<file path=ppt/charts/_rels/chart25.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xlsx" TargetMode="External"/><Relationship Id="rId1" Type="http://schemas.openxmlformats.org/officeDocument/2006/relationships/themeOverride" Target="../theme/themeOverride5.xml"/></Relationships>
</file>

<file path=ppt/charts/_rels/chart26.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xlsx" TargetMode="External"/><Relationship Id="rId1" Type="http://schemas.openxmlformats.org/officeDocument/2006/relationships/themeOverride" Target="../theme/themeOverride6.xml"/></Relationships>
</file>

<file path=ppt/charts/_rels/chart27.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19977;&#25366;.xlsx" TargetMode="External"/><Relationship Id="rId1" Type="http://schemas.openxmlformats.org/officeDocument/2006/relationships/themeOverride" Target="../theme/themeOverride7.xml"/></Relationships>
</file>

<file path=ppt/charts/_rels/chart28.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19977;&#25366;.xlsx" TargetMode="External"/><Relationship Id="rId1" Type="http://schemas.openxmlformats.org/officeDocument/2006/relationships/themeOverride" Target="../theme/themeOverride8.xml"/></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30.xml.rels><?xml version="1.0" encoding="UTF-8" standalone="yes"?>
<Relationships xmlns="http://schemas.openxmlformats.org/package/2006/relationships"><Relationship Id="rId1" Type="http://schemas.openxmlformats.org/officeDocument/2006/relationships/oleObject" Target="file:///C:\Users\guocf\Desktop\&#20135;&#38144;&#23384;&#19968;&#20307;&#21270;\&#24453;&#21150;\&#24211;&#23384;&#20998;&#19977;&#25366;\&#25104;&#21697;0131.xls" TargetMode="External"/></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33.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19977;&#25366;.xlsx" TargetMode="External"/><Relationship Id="rId1" Type="http://schemas.openxmlformats.org/officeDocument/2006/relationships/themeOverride" Target="../theme/themeOverride9.xml"/></Relationships>
</file>

<file path=ppt/charts/_rels/chart34.xml.rels><?xml version="1.0" encoding="UTF-8" standalone="yes"?>
<Relationships xmlns="http://schemas.openxmlformats.org/package/2006/relationships"><Relationship Id="rId2" Type="http://schemas.openxmlformats.org/officeDocument/2006/relationships/package" Target="../embeddings/Microsoft_Excel_Worksheet15.xlsx"/><Relationship Id="rId1" Type="http://schemas.openxmlformats.org/officeDocument/2006/relationships/themeOverride" Target="../theme/themeOverride10.xml"/></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40.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xlsx" TargetMode="External"/><Relationship Id="rId1" Type="http://schemas.openxmlformats.org/officeDocument/2006/relationships/themeOverride" Target="../theme/themeOverride11.xml"/></Relationships>
</file>

<file path=ppt/charts/_rels/chart41.xml.rels><?xml version="1.0" encoding="UTF-8" standalone="yes"?>
<Relationships xmlns="http://schemas.openxmlformats.org/package/2006/relationships"><Relationship Id="rId2" Type="http://schemas.openxmlformats.org/officeDocument/2006/relationships/oleObject" Target="Macintosh%20HD:Users:shajing:Desktop:31:&#38454;&#27573;1:&#29616;&#29366;&#35843;&#30740;:&#25968;&#25454;&#25910;&#38598;:&#25968;&#25454;&#26126;&#32454;&#65293;sj.xlsx" TargetMode="External"/><Relationship Id="rId1" Type="http://schemas.openxmlformats.org/officeDocument/2006/relationships/themeOverride" Target="../theme/themeOverride12.xml"/></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45439632545901"/>
          <c:y val="9.1277226905168707E-2"/>
          <c:w val="0.740343941266419"/>
          <c:h val="0.57911775362319295"/>
        </c:manualLayout>
      </c:layout>
      <c:barChart>
        <c:barDir val="col"/>
        <c:grouping val="clustered"/>
        <c:varyColors val="0"/>
        <c:ser>
          <c:idx val="0"/>
          <c:order val="0"/>
          <c:tx>
            <c:strRef>
              <c:f>Sheet1!$B$1</c:f>
              <c:strCache>
                <c:ptCount val="1"/>
                <c:pt idx="0">
                  <c:v>市场销量(万台)</c:v>
                </c:pt>
              </c:strCache>
            </c:strRef>
          </c:tx>
          <c:invertIfNegative val="0"/>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outEnd"/>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Sheet1!$A$2:$A$5</c:f>
              <c:strCache>
                <c:ptCount val="4"/>
                <c:pt idx="0">
                  <c:v>12年</c:v>
                </c:pt>
                <c:pt idx="1">
                  <c:v>13年</c:v>
                </c:pt>
                <c:pt idx="2">
                  <c:v>14年</c:v>
                </c:pt>
                <c:pt idx="3">
                  <c:v>15年</c:v>
                </c:pt>
              </c:strCache>
            </c:strRef>
          </c:cat>
          <c:val>
            <c:numRef>
              <c:f>Sheet1!$B$2:$B$5</c:f>
              <c:numCache>
                <c:formatCode>General</c:formatCode>
                <c:ptCount val="4"/>
                <c:pt idx="0">
                  <c:v>9.84</c:v>
                </c:pt>
                <c:pt idx="1">
                  <c:v>10.31</c:v>
                </c:pt>
                <c:pt idx="2">
                  <c:v>8.34</c:v>
                </c:pt>
                <c:pt idx="3">
                  <c:v>5.0199999999999996</c:v>
                </c:pt>
              </c:numCache>
            </c:numRef>
          </c:val>
          <c:extLst>
            <c:ext xmlns:c16="http://schemas.microsoft.com/office/drawing/2014/chart" uri="{C3380CC4-5D6E-409C-BE32-E72D297353CC}">
              <c16:uniqueId val="{00000000-565D-4E47-8BDB-1833EE0361C4}"/>
            </c:ext>
          </c:extLst>
        </c:ser>
        <c:ser>
          <c:idx val="1"/>
          <c:order val="1"/>
          <c:tx>
            <c:strRef>
              <c:f>Sheet1!$C$1</c:f>
              <c:strCache>
                <c:ptCount val="1"/>
                <c:pt idx="0">
                  <c:v>三一销量（万台）</c:v>
                </c:pt>
              </c:strCache>
            </c:strRef>
          </c:tx>
          <c:invertIfNegative val="0"/>
          <c:dLbls>
            <c:dLbl>
              <c:idx val="3"/>
              <c:layout>
                <c:manualLayout>
                  <c:x val="0"/>
                  <c:y val="1.97529481663976E-2"/>
                </c:manualLayout>
              </c:layout>
              <c:dLblPos val="ct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565D-4E47-8BDB-1833EE0361C4}"/>
                </c:ext>
              </c:extLst>
            </c:dLbl>
            <c:numFmt formatCode="#,##0.00_);[Red]\(#,##0.00\)" sourceLinked="0"/>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Sheet1!$A$2:$A$5</c:f>
              <c:strCache>
                <c:ptCount val="4"/>
                <c:pt idx="0">
                  <c:v>12年</c:v>
                </c:pt>
                <c:pt idx="1">
                  <c:v>13年</c:v>
                </c:pt>
                <c:pt idx="2">
                  <c:v>14年</c:v>
                </c:pt>
                <c:pt idx="3">
                  <c:v>15年</c:v>
                </c:pt>
              </c:strCache>
            </c:strRef>
          </c:cat>
          <c:val>
            <c:numRef>
              <c:f>Sheet1!$C$2:$C$5</c:f>
              <c:numCache>
                <c:formatCode>General</c:formatCode>
                <c:ptCount val="4"/>
                <c:pt idx="0">
                  <c:v>1.42</c:v>
                </c:pt>
                <c:pt idx="1">
                  <c:v>1.49</c:v>
                </c:pt>
                <c:pt idx="2">
                  <c:v>1.21</c:v>
                </c:pt>
                <c:pt idx="3">
                  <c:v>1</c:v>
                </c:pt>
              </c:numCache>
            </c:numRef>
          </c:val>
          <c:extLst>
            <c:ext xmlns:c16="http://schemas.microsoft.com/office/drawing/2014/chart" uri="{C3380CC4-5D6E-409C-BE32-E72D297353CC}">
              <c16:uniqueId val="{00000002-565D-4E47-8BDB-1833EE0361C4}"/>
            </c:ext>
          </c:extLst>
        </c:ser>
        <c:dLbls>
          <c:showLegendKey val="1"/>
          <c:showVal val="1"/>
          <c:showCatName val="1"/>
          <c:showSerName val="1"/>
          <c:showPercent val="1"/>
          <c:showBubbleSize val="1"/>
        </c:dLbls>
        <c:gapWidth val="150"/>
        <c:axId val="79005184"/>
        <c:axId val="79006720"/>
      </c:barChart>
      <c:lineChart>
        <c:grouping val="standard"/>
        <c:varyColors val="0"/>
        <c:ser>
          <c:idx val="2"/>
          <c:order val="2"/>
          <c:tx>
            <c:strRef>
              <c:f>Sheet1!$D$1</c:f>
              <c:strCache>
                <c:ptCount val="1"/>
                <c:pt idx="0">
                  <c:v>市场增长率</c:v>
                </c:pt>
              </c:strCache>
            </c:strRef>
          </c:tx>
          <c:dLbls>
            <c:dLbl>
              <c:idx val="1"/>
              <c:layout>
                <c:manualLayout>
                  <c:x val="-2.9629422249596402E-2"/>
                  <c:y val="0.21069811377490799"/>
                </c:manualLayout>
              </c:layout>
              <c:dLblPos val="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565D-4E47-8BDB-1833EE0361C4}"/>
                </c:ext>
              </c:extLst>
            </c:dLbl>
            <c:dLbl>
              <c:idx val="2"/>
              <c:layout>
                <c:manualLayout>
                  <c:x val="-2.9629422249596402E-2"/>
                  <c:y val="0.11193337294292"/>
                </c:manualLayout>
              </c:layout>
              <c:dLblPos val="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565D-4E47-8BDB-1833EE0361C4}"/>
                </c:ext>
              </c:extLst>
            </c:dLbl>
            <c:dLbl>
              <c:idx val="3"/>
              <c:layout>
                <c:manualLayout>
                  <c:x val="-2.1163873035425999E-2"/>
                  <c:y val="3.2921580277329401E-2"/>
                </c:manualLayout>
              </c:layout>
              <c:dLblPos val="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565D-4E47-8BDB-1833EE0361C4}"/>
                </c:ext>
              </c:extLst>
            </c:dLbl>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t"/>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Sheet1!$A$2:$A$5</c:f>
              <c:strCache>
                <c:ptCount val="4"/>
                <c:pt idx="0">
                  <c:v>12年</c:v>
                </c:pt>
                <c:pt idx="1">
                  <c:v>13年</c:v>
                </c:pt>
                <c:pt idx="2">
                  <c:v>14年</c:v>
                </c:pt>
                <c:pt idx="3">
                  <c:v>15年</c:v>
                </c:pt>
              </c:strCache>
            </c:strRef>
          </c:cat>
          <c:val>
            <c:numRef>
              <c:f>Sheet1!$D$2:$D$5</c:f>
              <c:numCache>
                <c:formatCode>0.0%</c:formatCode>
                <c:ptCount val="4"/>
                <c:pt idx="0">
                  <c:v>0</c:v>
                </c:pt>
                <c:pt idx="1">
                  <c:v>4.7764227642276898E-2</c:v>
                </c:pt>
                <c:pt idx="2">
                  <c:v>-0.19107662463627501</c:v>
                </c:pt>
                <c:pt idx="3">
                  <c:v>-0.398081534772184</c:v>
                </c:pt>
              </c:numCache>
            </c:numRef>
          </c:val>
          <c:smooth val="1"/>
          <c:extLst>
            <c:ext xmlns:c16="http://schemas.microsoft.com/office/drawing/2014/chart" uri="{C3380CC4-5D6E-409C-BE32-E72D297353CC}">
              <c16:uniqueId val="{00000006-565D-4E47-8BDB-1833EE0361C4}"/>
            </c:ext>
          </c:extLst>
        </c:ser>
        <c:ser>
          <c:idx val="3"/>
          <c:order val="3"/>
          <c:tx>
            <c:strRef>
              <c:f>Sheet1!$E$1</c:f>
              <c:strCache>
                <c:ptCount val="1"/>
                <c:pt idx="0">
                  <c:v>三一增长率</c:v>
                </c:pt>
              </c:strCache>
            </c:strRef>
          </c:tx>
          <c:dLbls>
            <c:dLbl>
              <c:idx val="1"/>
              <c:layout>
                <c:manualLayout>
                  <c:x val="-2.5396647642511198E-2"/>
                  <c:y val="-0.16460790138664699"/>
                </c:manualLayout>
              </c:layout>
              <c:dLblPos val="b"/>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565D-4E47-8BDB-1833EE0361C4}"/>
                </c:ext>
              </c:extLst>
            </c:dLbl>
            <c:dLbl>
              <c:idx val="2"/>
              <c:layout>
                <c:manualLayout>
                  <c:x val="-2.9629422249596402E-2"/>
                  <c:y val="-0.19094516560850999"/>
                </c:manualLayout>
              </c:layout>
              <c:dLblPos val="b"/>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565D-4E47-8BDB-1833EE0361C4}"/>
                </c:ext>
              </c:extLst>
            </c:dLbl>
            <c:dLbl>
              <c:idx val="3"/>
              <c:layout>
                <c:manualLayout>
                  <c:x val="0"/>
                  <c:y val="-0.14485495322024899"/>
                </c:manualLayout>
              </c:layout>
              <c:dLblPos val="b"/>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565D-4E47-8BDB-1833EE0361C4}"/>
                </c:ext>
              </c:extLst>
            </c:dLbl>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b"/>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Sheet1!$A$2:$A$5</c:f>
              <c:strCache>
                <c:ptCount val="4"/>
                <c:pt idx="0">
                  <c:v>12年</c:v>
                </c:pt>
                <c:pt idx="1">
                  <c:v>13年</c:v>
                </c:pt>
                <c:pt idx="2">
                  <c:v>14年</c:v>
                </c:pt>
                <c:pt idx="3">
                  <c:v>15年</c:v>
                </c:pt>
              </c:strCache>
            </c:strRef>
          </c:cat>
          <c:val>
            <c:numRef>
              <c:f>Sheet1!$E$2:$E$5</c:f>
              <c:numCache>
                <c:formatCode>0.0%</c:formatCode>
                <c:ptCount val="4"/>
                <c:pt idx="0">
                  <c:v>0</c:v>
                </c:pt>
                <c:pt idx="1">
                  <c:v>4.9295774647887397E-2</c:v>
                </c:pt>
                <c:pt idx="2">
                  <c:v>-0.18791946308725099</c:v>
                </c:pt>
                <c:pt idx="3">
                  <c:v>-0.173553719008264</c:v>
                </c:pt>
              </c:numCache>
            </c:numRef>
          </c:val>
          <c:smooth val="1"/>
          <c:extLst>
            <c:ext xmlns:c16="http://schemas.microsoft.com/office/drawing/2014/chart" uri="{C3380CC4-5D6E-409C-BE32-E72D297353CC}">
              <c16:uniqueId val="{0000000A-565D-4E47-8BDB-1833EE0361C4}"/>
            </c:ext>
          </c:extLst>
        </c:ser>
        <c:dLbls>
          <c:showLegendKey val="1"/>
          <c:showVal val="1"/>
          <c:showCatName val="1"/>
          <c:showSerName val="1"/>
          <c:showPercent val="1"/>
          <c:showBubbleSize val="1"/>
        </c:dLbls>
        <c:marker val="1"/>
        <c:smooth val="0"/>
        <c:axId val="79026432"/>
        <c:axId val="79024896"/>
      </c:lineChart>
      <c:catAx>
        <c:axId val="7900518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006720"/>
        <c:crosses val="autoZero"/>
        <c:auto val="1"/>
        <c:lblAlgn val="ctr"/>
        <c:lblOffset val="0"/>
        <c:noMultiLvlLbl val="0"/>
      </c:catAx>
      <c:valAx>
        <c:axId val="79006720"/>
        <c:scaling>
          <c:orientation val="minMax"/>
          <c:max val="12"/>
        </c:scaling>
        <c:delete val="0"/>
        <c:axPos val="l"/>
        <c:numFmt formatCode="General" sourceLinked="1"/>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005184"/>
        <c:crosses val="autoZero"/>
        <c:crossBetween val="between"/>
        <c:majorUnit val="2"/>
      </c:valAx>
      <c:catAx>
        <c:axId val="79026432"/>
        <c:scaling>
          <c:orientation val="minMax"/>
        </c:scaling>
        <c:delete val="1"/>
        <c:axPos val="b"/>
        <c:numFmt formatCode="General" sourceLinked="1"/>
        <c:majorTickMark val="out"/>
        <c:minorTickMark val="none"/>
        <c:tickLblPos val="nextTo"/>
        <c:crossAx val="79024896"/>
        <c:crosses val="autoZero"/>
        <c:auto val="1"/>
        <c:lblAlgn val="ctr"/>
        <c:lblOffset val="100"/>
        <c:noMultiLvlLbl val="0"/>
      </c:catAx>
      <c:valAx>
        <c:axId val="79024896"/>
        <c:scaling>
          <c:orientation val="minMax"/>
          <c:max val="0.5"/>
          <c:min val="-0.5"/>
        </c:scaling>
        <c:delete val="0"/>
        <c:axPos val="r"/>
        <c:numFmt formatCode="0%" sourceLinked="0"/>
        <c:majorTickMark val="out"/>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026432"/>
        <c:crosses val="max"/>
        <c:crossBetween val="between"/>
        <c:majorUnit val="0.25"/>
      </c:valAx>
    </c:plotArea>
    <c:legend>
      <c:legendPos val="b"/>
      <c:layout>
        <c:manualLayout>
          <c:xMode val="edge"/>
          <c:yMode val="edge"/>
          <c:x val="6.5435140339253003E-2"/>
          <c:y val="0.81562774454512799"/>
          <c:w val="0.86912971932149896"/>
          <c:h val="0.13588784058282199"/>
        </c:manualLayout>
      </c:layout>
      <c:overlay val="0"/>
      <c:txPr>
        <a:bodyPr rot="0" spcFirstLastPara="0" vertOverflow="ellipsis" vert="horz" wrap="square" anchor="ctr" anchorCtr="1"/>
        <a:lstStyle/>
        <a:p>
          <a:pPr>
            <a:defRPr lang="zh-CN" sz="6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800">
          <a:latin typeface="微软雅黑" panose="020B0503020204020204" charset="-122"/>
          <a:ea typeface="微软雅黑" panose="020B0503020204020204" charset="-122"/>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824912245709902E-2"/>
          <c:y val="4.1212830176686997E-2"/>
          <c:w val="0.92648848914580395"/>
          <c:h val="0.73131908750207197"/>
        </c:manualLayout>
      </c:layout>
      <c:lineChart>
        <c:grouping val="standard"/>
        <c:varyColors val="0"/>
        <c:ser>
          <c:idx val="0"/>
          <c:order val="0"/>
          <c:tx>
            <c:strRef>
              <c:f>Sheet1!$B$1</c:f>
              <c:strCache>
                <c:ptCount val="1"/>
                <c:pt idx="0">
                  <c:v>国际</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208</c:v>
                </c:pt>
                <c:pt idx="1">
                  <c:v>239</c:v>
                </c:pt>
                <c:pt idx="2">
                  <c:v>235</c:v>
                </c:pt>
                <c:pt idx="3">
                  <c:v>354</c:v>
                </c:pt>
                <c:pt idx="4">
                  <c:v>420</c:v>
                </c:pt>
                <c:pt idx="5">
                  <c:v>261</c:v>
                </c:pt>
                <c:pt idx="6">
                  <c:v>411</c:v>
                </c:pt>
                <c:pt idx="7">
                  <c:v>396</c:v>
                </c:pt>
                <c:pt idx="8">
                  <c:v>269</c:v>
                </c:pt>
                <c:pt idx="9">
                  <c:v>179</c:v>
                </c:pt>
                <c:pt idx="10">
                  <c:v>260</c:v>
                </c:pt>
                <c:pt idx="11">
                  <c:v>309</c:v>
                </c:pt>
              </c:numCache>
            </c:numRef>
          </c:val>
          <c:smooth val="1"/>
          <c:extLst>
            <c:ext xmlns:c16="http://schemas.microsoft.com/office/drawing/2014/chart" uri="{C3380CC4-5D6E-409C-BE32-E72D297353CC}">
              <c16:uniqueId val="{00000000-2F4A-4435-87F2-81446F6CF868}"/>
            </c:ext>
          </c:extLst>
        </c:ser>
        <c:ser>
          <c:idx val="1"/>
          <c:order val="1"/>
          <c:tx>
            <c:strRef>
              <c:f>Sheet1!$C$1</c:f>
              <c:strCache>
                <c:ptCount val="1"/>
                <c:pt idx="0">
                  <c:v>国内</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t"/>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450</c:v>
                </c:pt>
                <c:pt idx="1">
                  <c:v>401</c:v>
                </c:pt>
                <c:pt idx="2">
                  <c:v>2024</c:v>
                </c:pt>
                <c:pt idx="3">
                  <c:v>1346</c:v>
                </c:pt>
                <c:pt idx="4">
                  <c:v>661</c:v>
                </c:pt>
                <c:pt idx="5">
                  <c:v>1135</c:v>
                </c:pt>
                <c:pt idx="6">
                  <c:v>341</c:v>
                </c:pt>
                <c:pt idx="7">
                  <c:v>455</c:v>
                </c:pt>
                <c:pt idx="8">
                  <c:v>405</c:v>
                </c:pt>
                <c:pt idx="9">
                  <c:v>471</c:v>
                </c:pt>
                <c:pt idx="10">
                  <c:v>472</c:v>
                </c:pt>
                <c:pt idx="11">
                  <c:v>582</c:v>
                </c:pt>
              </c:numCache>
            </c:numRef>
          </c:val>
          <c:smooth val="1"/>
          <c:extLst>
            <c:ext xmlns:c16="http://schemas.microsoft.com/office/drawing/2014/chart" uri="{C3380CC4-5D6E-409C-BE32-E72D297353CC}">
              <c16:uniqueId val="{00000001-2F4A-4435-87F2-81446F6CF868}"/>
            </c:ext>
          </c:extLst>
        </c:ser>
        <c:dLbls>
          <c:showLegendKey val="1"/>
          <c:showVal val="1"/>
          <c:showCatName val="1"/>
          <c:showSerName val="1"/>
          <c:showPercent val="1"/>
          <c:showBubbleSize val="1"/>
        </c:dLbls>
        <c:smooth val="0"/>
        <c:axId val="79117312"/>
        <c:axId val="79131392"/>
      </c:lineChart>
      <c:catAx>
        <c:axId val="79117312"/>
        <c:scaling>
          <c:orientation val="minMax"/>
        </c:scaling>
        <c:delete val="0"/>
        <c:axPos val="b"/>
        <c:numFmt formatCode="#,##0.00_);[Red]\(#,##0.00\)" sourceLinked="0"/>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131392"/>
        <c:crosses val="autoZero"/>
        <c:auto val="1"/>
        <c:lblAlgn val="ctr"/>
        <c:lblOffset val="0"/>
        <c:noMultiLvlLbl val="0"/>
      </c:catAx>
      <c:valAx>
        <c:axId val="79131392"/>
        <c:scaling>
          <c:orientation val="minMax"/>
        </c:scaling>
        <c:delete val="0"/>
        <c:axPos val="l"/>
        <c:numFmt formatCode="#,##0_);[Red]\(#,##0\)" sourceLinked="0"/>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117312"/>
        <c:crosses val="autoZero"/>
        <c:crossBetween val="between"/>
      </c:valAx>
    </c:plotArea>
    <c:legend>
      <c:legendPos val="b"/>
      <c:layout>
        <c:manualLayout>
          <c:xMode val="edge"/>
          <c:yMode val="edge"/>
          <c:x val="0.31481591112104201"/>
          <c:y val="0.87070898308090094"/>
          <c:w val="0.355553170684479"/>
          <c:h val="0.12188366135670101"/>
        </c:manualLayout>
      </c:layout>
      <c:overlay val="0"/>
      <c:txPr>
        <a:bodyPr rot="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800">
          <a:latin typeface="微软雅黑" panose="020B0503020204020204" charset="-122"/>
          <a:ea typeface="微软雅黑" panose="020B0503020204020204" charset="-122"/>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431358024691401"/>
          <c:y val="0"/>
          <c:w val="0.70065216049382795"/>
          <c:h val="0.67732444444444895"/>
        </c:manualLayout>
      </c:layout>
      <c:barChart>
        <c:barDir val="bar"/>
        <c:grouping val="percentStacked"/>
        <c:varyColors val="0"/>
        <c:ser>
          <c:idx val="0"/>
          <c:order val="0"/>
          <c:tx>
            <c:strRef>
              <c:f>Sheet1!$B$1</c:f>
              <c:strCache>
                <c:ptCount val="1"/>
                <c:pt idx="0">
                  <c:v>第五梯队</c:v>
                </c:pt>
              </c:strCache>
            </c:strRef>
          </c:tx>
          <c:invertIfNegative val="0"/>
          <c:dLbls>
            <c:delete val="1"/>
          </c:dLbls>
          <c:cat>
            <c:strRef>
              <c:f>Sheet1!$A$2:$A$7</c:f>
              <c:strCache>
                <c:ptCount val="6"/>
                <c:pt idx="0">
                  <c:v>国内小挖</c:v>
                </c:pt>
                <c:pt idx="1">
                  <c:v>国内中挖</c:v>
                </c:pt>
                <c:pt idx="2">
                  <c:v>国内大挖</c:v>
                </c:pt>
                <c:pt idx="3">
                  <c:v>国际小挖</c:v>
                </c:pt>
                <c:pt idx="4">
                  <c:v>国际中挖</c:v>
                </c:pt>
                <c:pt idx="5">
                  <c:v>国际大挖</c:v>
                </c:pt>
              </c:strCache>
            </c:strRef>
          </c:cat>
          <c:val>
            <c:numRef>
              <c:f>Sheet1!$B$2:$B$7</c:f>
              <c:numCache>
                <c:formatCode>0.0%</c:formatCode>
                <c:ptCount val="6"/>
                <c:pt idx="0">
                  <c:v>0.69230769230769296</c:v>
                </c:pt>
                <c:pt idx="1">
                  <c:v>0.44444444444444398</c:v>
                </c:pt>
                <c:pt idx="2">
                  <c:v>0.60000000000000098</c:v>
                </c:pt>
                <c:pt idx="3">
                  <c:v>0.69230769230769296</c:v>
                </c:pt>
                <c:pt idx="4">
                  <c:v>0.70000000000000095</c:v>
                </c:pt>
                <c:pt idx="5">
                  <c:v>0.8</c:v>
                </c:pt>
              </c:numCache>
            </c:numRef>
          </c:val>
          <c:extLst>
            <c:ext xmlns:c16="http://schemas.microsoft.com/office/drawing/2014/chart" uri="{C3380CC4-5D6E-409C-BE32-E72D297353CC}">
              <c16:uniqueId val="{00000000-88BE-47A7-8D6C-D86453CDA91D}"/>
            </c:ext>
          </c:extLst>
        </c:ser>
        <c:ser>
          <c:idx val="1"/>
          <c:order val="1"/>
          <c:tx>
            <c:strRef>
              <c:f>Sheet1!$C$1</c:f>
              <c:strCache>
                <c:ptCount val="1"/>
                <c:pt idx="0">
                  <c:v>第四梯队</c:v>
                </c:pt>
              </c:strCache>
            </c:strRef>
          </c:tx>
          <c:invertIfNegative val="0"/>
          <c:dLbls>
            <c:delete val="1"/>
          </c:dLbls>
          <c:cat>
            <c:strRef>
              <c:f>Sheet1!$A$2:$A$7</c:f>
              <c:strCache>
                <c:ptCount val="6"/>
                <c:pt idx="0">
                  <c:v>国内小挖</c:v>
                </c:pt>
                <c:pt idx="1">
                  <c:v>国内中挖</c:v>
                </c:pt>
                <c:pt idx="2">
                  <c:v>国内大挖</c:v>
                </c:pt>
                <c:pt idx="3">
                  <c:v>国际小挖</c:v>
                </c:pt>
                <c:pt idx="4">
                  <c:v>国际中挖</c:v>
                </c:pt>
                <c:pt idx="5">
                  <c:v>国际大挖</c:v>
                </c:pt>
              </c:strCache>
            </c:strRef>
          </c:cat>
          <c:val>
            <c:numRef>
              <c:f>Sheet1!$C$2:$C$7</c:f>
              <c:numCache>
                <c:formatCode>0.0%</c:formatCode>
                <c:ptCount val="6"/>
                <c:pt idx="0">
                  <c:v>7.69230769230769E-2</c:v>
                </c:pt>
                <c:pt idx="1">
                  <c:v>0.44444444444444398</c:v>
                </c:pt>
                <c:pt idx="2">
                  <c:v>0</c:v>
                </c:pt>
                <c:pt idx="3">
                  <c:v>0</c:v>
                </c:pt>
                <c:pt idx="4">
                  <c:v>0.2</c:v>
                </c:pt>
                <c:pt idx="5">
                  <c:v>6.6666666666666693E-2</c:v>
                </c:pt>
              </c:numCache>
            </c:numRef>
          </c:val>
          <c:extLst>
            <c:ext xmlns:c16="http://schemas.microsoft.com/office/drawing/2014/chart" uri="{C3380CC4-5D6E-409C-BE32-E72D297353CC}">
              <c16:uniqueId val="{00000001-88BE-47A7-8D6C-D86453CDA91D}"/>
            </c:ext>
          </c:extLst>
        </c:ser>
        <c:ser>
          <c:idx val="2"/>
          <c:order val="2"/>
          <c:tx>
            <c:strRef>
              <c:f>Sheet1!$D$1</c:f>
              <c:strCache>
                <c:ptCount val="1"/>
                <c:pt idx="0">
                  <c:v>第三梯队</c:v>
                </c:pt>
              </c:strCache>
            </c:strRef>
          </c:tx>
          <c:invertIfNegative val="0"/>
          <c:dLbls>
            <c:delete val="1"/>
          </c:dLbls>
          <c:cat>
            <c:strRef>
              <c:f>Sheet1!$A$2:$A$7</c:f>
              <c:strCache>
                <c:ptCount val="6"/>
                <c:pt idx="0">
                  <c:v>国内小挖</c:v>
                </c:pt>
                <c:pt idx="1">
                  <c:v>国内中挖</c:v>
                </c:pt>
                <c:pt idx="2">
                  <c:v>国内大挖</c:v>
                </c:pt>
                <c:pt idx="3">
                  <c:v>国际小挖</c:v>
                </c:pt>
                <c:pt idx="4">
                  <c:v>国际中挖</c:v>
                </c:pt>
                <c:pt idx="5">
                  <c:v>国际大挖</c:v>
                </c:pt>
              </c:strCache>
            </c:strRef>
          </c:cat>
          <c:val>
            <c:numRef>
              <c:f>Sheet1!$D$2:$D$7</c:f>
              <c:numCache>
                <c:formatCode>0.0%</c:formatCode>
                <c:ptCount val="6"/>
                <c:pt idx="0">
                  <c:v>0</c:v>
                </c:pt>
                <c:pt idx="1">
                  <c:v>0</c:v>
                </c:pt>
                <c:pt idx="2">
                  <c:v>0.2</c:v>
                </c:pt>
                <c:pt idx="3">
                  <c:v>7.69230769230769E-2</c:v>
                </c:pt>
                <c:pt idx="4">
                  <c:v>0</c:v>
                </c:pt>
                <c:pt idx="5">
                  <c:v>6.6666666666666693E-2</c:v>
                </c:pt>
              </c:numCache>
            </c:numRef>
          </c:val>
          <c:extLst>
            <c:ext xmlns:c16="http://schemas.microsoft.com/office/drawing/2014/chart" uri="{C3380CC4-5D6E-409C-BE32-E72D297353CC}">
              <c16:uniqueId val="{00000002-88BE-47A7-8D6C-D86453CDA91D}"/>
            </c:ext>
          </c:extLst>
        </c:ser>
        <c:ser>
          <c:idx val="3"/>
          <c:order val="3"/>
          <c:tx>
            <c:strRef>
              <c:f>Sheet1!$E$1</c:f>
              <c:strCache>
                <c:ptCount val="1"/>
                <c:pt idx="0">
                  <c:v>第二梯队</c:v>
                </c:pt>
              </c:strCache>
            </c:strRef>
          </c:tx>
          <c:invertIfNegative val="0"/>
          <c:dLbls>
            <c:delete val="1"/>
          </c:dLbls>
          <c:cat>
            <c:strRef>
              <c:f>Sheet1!$A$2:$A$7</c:f>
              <c:strCache>
                <c:ptCount val="6"/>
                <c:pt idx="0">
                  <c:v>国内小挖</c:v>
                </c:pt>
                <c:pt idx="1">
                  <c:v>国内中挖</c:v>
                </c:pt>
                <c:pt idx="2">
                  <c:v>国内大挖</c:v>
                </c:pt>
                <c:pt idx="3">
                  <c:v>国际小挖</c:v>
                </c:pt>
                <c:pt idx="4">
                  <c:v>国际中挖</c:v>
                </c:pt>
                <c:pt idx="5">
                  <c:v>国际大挖</c:v>
                </c:pt>
              </c:strCache>
            </c:strRef>
          </c:cat>
          <c:val>
            <c:numRef>
              <c:f>Sheet1!$E$2:$E$7</c:f>
              <c:numCache>
                <c:formatCode>0.0%</c:formatCode>
                <c:ptCount val="6"/>
                <c:pt idx="0">
                  <c:v>7.69230769230769E-2</c:v>
                </c:pt>
                <c:pt idx="1">
                  <c:v>0</c:v>
                </c:pt>
                <c:pt idx="2">
                  <c:v>0</c:v>
                </c:pt>
                <c:pt idx="3">
                  <c:v>7.69230769230769E-2</c:v>
                </c:pt>
                <c:pt idx="4">
                  <c:v>0</c:v>
                </c:pt>
                <c:pt idx="5">
                  <c:v>0</c:v>
                </c:pt>
              </c:numCache>
            </c:numRef>
          </c:val>
          <c:extLst>
            <c:ext xmlns:c16="http://schemas.microsoft.com/office/drawing/2014/chart" uri="{C3380CC4-5D6E-409C-BE32-E72D297353CC}">
              <c16:uniqueId val="{00000003-88BE-47A7-8D6C-D86453CDA91D}"/>
            </c:ext>
          </c:extLst>
        </c:ser>
        <c:ser>
          <c:idx val="4"/>
          <c:order val="4"/>
          <c:tx>
            <c:strRef>
              <c:f>Sheet1!$F$1</c:f>
              <c:strCache>
                <c:ptCount val="1"/>
                <c:pt idx="0">
                  <c:v>第一梯队</c:v>
                </c:pt>
              </c:strCache>
            </c:strRef>
          </c:tx>
          <c:invertIfNegative val="0"/>
          <c:dLbls>
            <c:delete val="1"/>
          </c:dLbls>
          <c:cat>
            <c:strRef>
              <c:f>Sheet1!$A$2:$A$7</c:f>
              <c:strCache>
                <c:ptCount val="6"/>
                <c:pt idx="0">
                  <c:v>国内小挖</c:v>
                </c:pt>
                <c:pt idx="1">
                  <c:v>国内中挖</c:v>
                </c:pt>
                <c:pt idx="2">
                  <c:v>国内大挖</c:v>
                </c:pt>
                <c:pt idx="3">
                  <c:v>国际小挖</c:v>
                </c:pt>
                <c:pt idx="4">
                  <c:v>国际中挖</c:v>
                </c:pt>
                <c:pt idx="5">
                  <c:v>国际大挖</c:v>
                </c:pt>
              </c:strCache>
            </c:strRef>
          </c:cat>
          <c:val>
            <c:numRef>
              <c:f>Sheet1!$F$2:$F$7</c:f>
              <c:numCache>
                <c:formatCode>0.0%</c:formatCode>
                <c:ptCount val="6"/>
                <c:pt idx="0">
                  <c:v>0.15384615384615499</c:v>
                </c:pt>
                <c:pt idx="1">
                  <c:v>0.11111111111111099</c:v>
                </c:pt>
                <c:pt idx="2">
                  <c:v>0.2</c:v>
                </c:pt>
                <c:pt idx="3">
                  <c:v>0.15384615384615499</c:v>
                </c:pt>
                <c:pt idx="4">
                  <c:v>0.1</c:v>
                </c:pt>
                <c:pt idx="5">
                  <c:v>6.6666666666666693E-2</c:v>
                </c:pt>
              </c:numCache>
            </c:numRef>
          </c:val>
          <c:extLst>
            <c:ext xmlns:c16="http://schemas.microsoft.com/office/drawing/2014/chart" uri="{C3380CC4-5D6E-409C-BE32-E72D297353CC}">
              <c16:uniqueId val="{00000004-88BE-47A7-8D6C-D86453CDA91D}"/>
            </c:ext>
          </c:extLst>
        </c:ser>
        <c:dLbls>
          <c:showLegendKey val="1"/>
          <c:showVal val="1"/>
          <c:showCatName val="1"/>
          <c:showSerName val="1"/>
          <c:showPercent val="1"/>
          <c:showBubbleSize val="1"/>
        </c:dLbls>
        <c:gapWidth val="75"/>
        <c:overlap val="100"/>
        <c:axId val="79195520"/>
        <c:axId val="79201408"/>
      </c:barChart>
      <c:catAx>
        <c:axId val="79195520"/>
        <c:scaling>
          <c:orientation val="minMax"/>
        </c:scaling>
        <c:delete val="0"/>
        <c:axPos val="l"/>
        <c:numFmt formatCode="General" sourceLinked="0"/>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201408"/>
        <c:crosses val="autoZero"/>
        <c:auto val="1"/>
        <c:lblAlgn val="ctr"/>
        <c:lblOffset val="100"/>
        <c:noMultiLvlLbl val="0"/>
      </c:catAx>
      <c:valAx>
        <c:axId val="79201408"/>
        <c:scaling>
          <c:orientation val="minMax"/>
        </c:scaling>
        <c:delete val="0"/>
        <c:axPos val="b"/>
        <c:numFmt formatCode="0%" sourceLinked="1"/>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195520"/>
        <c:crosses val="autoZero"/>
        <c:crossBetween val="between"/>
      </c:valAx>
      <c:spPr>
        <a:noFill/>
        <a:ln>
          <a:noFill/>
        </a:ln>
        <a:effectLst/>
      </c:spPr>
    </c:plotArea>
    <c:plotVisOnly val="1"/>
    <c:dispBlanksAs val="gap"/>
    <c:showDLblsOverMax val="0"/>
  </c:chart>
  <c:txPr>
    <a:bodyPr/>
    <a:lstStyle/>
    <a:p>
      <a:pPr>
        <a:defRPr lang="zh-CN" sz="1000">
          <a:latin typeface="微软雅黑" panose="020B0503020204020204" charset="-122"/>
          <a:ea typeface="微软雅黑" panose="020B0503020204020204" charset="-122"/>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013438226154"/>
          <c:y val="7.1543451001309905E-2"/>
          <c:w val="0.85319839114570295"/>
          <c:h val="0.61763103864734703"/>
        </c:manualLayout>
      </c:layout>
      <c:lineChart>
        <c:grouping val="standard"/>
        <c:varyColors val="0"/>
        <c:ser>
          <c:idx val="0"/>
          <c:order val="0"/>
          <c:tx>
            <c:strRef>
              <c:f>Sheet1!$B$1</c:f>
              <c:strCache>
                <c:ptCount val="1"/>
                <c:pt idx="0">
                  <c:v>大挖</c:v>
                </c:pt>
              </c:strCache>
            </c:strRef>
          </c:tx>
          <c:marker>
            <c:symbol val="diamond"/>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84</c:v>
                </c:pt>
                <c:pt idx="1">
                  <c:v>51</c:v>
                </c:pt>
                <c:pt idx="2">
                  <c:v>117</c:v>
                </c:pt>
                <c:pt idx="3">
                  <c:v>113</c:v>
                </c:pt>
                <c:pt idx="4">
                  <c:v>72</c:v>
                </c:pt>
                <c:pt idx="5">
                  <c:v>98</c:v>
                </c:pt>
                <c:pt idx="6">
                  <c:v>73</c:v>
                </c:pt>
                <c:pt idx="7">
                  <c:v>75</c:v>
                </c:pt>
                <c:pt idx="8">
                  <c:v>63</c:v>
                </c:pt>
                <c:pt idx="9">
                  <c:v>74</c:v>
                </c:pt>
                <c:pt idx="10">
                  <c:v>101</c:v>
                </c:pt>
                <c:pt idx="11">
                  <c:v>70</c:v>
                </c:pt>
              </c:numCache>
            </c:numRef>
          </c:val>
          <c:smooth val="1"/>
          <c:extLst>
            <c:ext xmlns:c16="http://schemas.microsoft.com/office/drawing/2014/chart" uri="{C3380CC4-5D6E-409C-BE32-E72D297353CC}">
              <c16:uniqueId val="{00000000-5733-4F06-9260-C39BC000039A}"/>
            </c:ext>
          </c:extLst>
        </c:ser>
        <c:ser>
          <c:idx val="1"/>
          <c:order val="1"/>
          <c:tx>
            <c:strRef>
              <c:f>Sheet1!$C$1</c:f>
              <c:strCache>
                <c:ptCount val="1"/>
                <c:pt idx="0">
                  <c:v>中挖</c:v>
                </c:pt>
              </c:strCache>
            </c:strRef>
          </c:tx>
          <c:marker>
            <c:symbol val="squar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56</c:v>
                </c:pt>
                <c:pt idx="1">
                  <c:v>31</c:v>
                </c:pt>
                <c:pt idx="2">
                  <c:v>41</c:v>
                </c:pt>
                <c:pt idx="3">
                  <c:v>58</c:v>
                </c:pt>
                <c:pt idx="4">
                  <c:v>47</c:v>
                </c:pt>
                <c:pt idx="5">
                  <c:v>46</c:v>
                </c:pt>
                <c:pt idx="6">
                  <c:v>53</c:v>
                </c:pt>
                <c:pt idx="7">
                  <c:v>47</c:v>
                </c:pt>
                <c:pt idx="8">
                  <c:v>36</c:v>
                </c:pt>
                <c:pt idx="9">
                  <c:v>51</c:v>
                </c:pt>
                <c:pt idx="10">
                  <c:v>43</c:v>
                </c:pt>
                <c:pt idx="11">
                  <c:v>41</c:v>
                </c:pt>
              </c:numCache>
            </c:numRef>
          </c:val>
          <c:smooth val="1"/>
          <c:extLst>
            <c:ext xmlns:c16="http://schemas.microsoft.com/office/drawing/2014/chart" uri="{C3380CC4-5D6E-409C-BE32-E72D297353CC}">
              <c16:uniqueId val="{00000001-5733-4F06-9260-C39BC000039A}"/>
            </c:ext>
          </c:extLst>
        </c:ser>
        <c:ser>
          <c:idx val="2"/>
          <c:order val="2"/>
          <c:tx>
            <c:strRef>
              <c:f>Sheet1!$D$1</c:f>
              <c:strCache>
                <c:ptCount val="1"/>
                <c:pt idx="0">
                  <c:v>小挖</c:v>
                </c:pt>
              </c:strCache>
            </c:strRef>
          </c:tx>
          <c:marker>
            <c:symbol val="triangl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91</c:v>
                </c:pt>
                <c:pt idx="1">
                  <c:v>29</c:v>
                </c:pt>
                <c:pt idx="2">
                  <c:v>68</c:v>
                </c:pt>
                <c:pt idx="3">
                  <c:v>51</c:v>
                </c:pt>
                <c:pt idx="4">
                  <c:v>54</c:v>
                </c:pt>
                <c:pt idx="5">
                  <c:v>50</c:v>
                </c:pt>
                <c:pt idx="6">
                  <c:v>50</c:v>
                </c:pt>
                <c:pt idx="7">
                  <c:v>40</c:v>
                </c:pt>
                <c:pt idx="8">
                  <c:v>31</c:v>
                </c:pt>
                <c:pt idx="9">
                  <c:v>34</c:v>
                </c:pt>
                <c:pt idx="10">
                  <c:v>41</c:v>
                </c:pt>
                <c:pt idx="11">
                  <c:v>34</c:v>
                </c:pt>
              </c:numCache>
            </c:numRef>
          </c:val>
          <c:smooth val="1"/>
          <c:extLst>
            <c:ext xmlns:c16="http://schemas.microsoft.com/office/drawing/2014/chart" uri="{C3380CC4-5D6E-409C-BE32-E72D297353CC}">
              <c16:uniqueId val="{00000002-5733-4F06-9260-C39BC000039A}"/>
            </c:ext>
          </c:extLst>
        </c:ser>
        <c:dLbls>
          <c:showLegendKey val="0"/>
          <c:showVal val="0"/>
          <c:showCatName val="0"/>
          <c:showSerName val="0"/>
          <c:showPercent val="0"/>
          <c:showBubbleSize val="0"/>
        </c:dLbls>
        <c:marker val="1"/>
        <c:smooth val="0"/>
        <c:axId val="79259136"/>
        <c:axId val="79260672"/>
      </c:lineChart>
      <c:catAx>
        <c:axId val="7925913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260672"/>
        <c:crosses val="autoZero"/>
        <c:auto val="1"/>
        <c:lblAlgn val="ctr"/>
        <c:lblOffset val="100"/>
        <c:noMultiLvlLbl val="0"/>
      </c:catAx>
      <c:valAx>
        <c:axId val="79260672"/>
        <c:scaling>
          <c:orientation val="minMax"/>
        </c:scaling>
        <c:delete val="0"/>
        <c:axPos val="l"/>
        <c:majorGridlines>
          <c:spPr>
            <a:ln w="9525" cap="flat" cmpd="sng" algn="ctr">
              <a:solidFill>
                <a:schemeClr val="bg1">
                  <a:lumMod val="85000"/>
                </a:schemeClr>
              </a:solidFill>
              <a:prstDash val="dash"/>
              <a:round/>
            </a:ln>
          </c:spPr>
        </c:majorGridlines>
        <c:numFmt formatCode="#,##0_);[Red]\(#,##0\)" sourceLinked="0"/>
        <c:majorTickMark val="out"/>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9259136"/>
        <c:crosses val="autoZero"/>
        <c:crossBetween val="between"/>
      </c:valAx>
    </c:plotArea>
    <c:legend>
      <c:legendPos val="b"/>
      <c:overlay val="0"/>
      <c:txPr>
        <a:bodyPr rot="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800">
          <a:latin typeface="微软雅黑" panose="020B0503020204020204" charset="-122"/>
          <a:ea typeface="微软雅黑" panose="020B0503020204020204" charset="-122"/>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lineChart>
        <c:grouping val="standard"/>
        <c:varyColors val="0"/>
        <c:ser>
          <c:idx val="0"/>
          <c:order val="0"/>
          <c:tx>
            <c:strRef>
              <c:f>Sheet1!$B$1</c:f>
              <c:strCache>
                <c:ptCount val="1"/>
                <c:pt idx="0">
                  <c:v>IT</c:v>
                </c:pt>
              </c:strCache>
            </c:strRef>
          </c:tx>
          <c:dLbls>
            <c:dLbl>
              <c:idx val="0"/>
              <c:layout>
                <c:manualLayout>
                  <c:x val="-3.1778250865019002E-2"/>
                  <c:y val="-1.92903913454062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55E8-4457-BB91-3C162C6322AC}"/>
                </c:ext>
              </c:extLst>
            </c:dLbl>
            <c:dLbl>
              <c:idx val="1"/>
              <c:layout>
                <c:manualLayout>
                  <c:x val="-3.49560759515209E-2"/>
                  <c:y val="3.03134721142095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55E8-4457-BB91-3C162C6322AC}"/>
                </c:ext>
              </c:extLst>
            </c:dLbl>
            <c:dLbl>
              <c:idx val="3"/>
              <c:layout>
                <c:manualLayout>
                  <c:x val="-3.97228135812739E-2"/>
                  <c:y val="3.58250124986115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55E8-4457-BB91-3C162C6322AC}"/>
                </c:ext>
              </c:extLst>
            </c:dLbl>
            <c:dLbl>
              <c:idx val="4"/>
              <c:layout>
                <c:manualLayout>
                  <c:x val="-3.3367163408269902E-2"/>
                  <c:y val="3.30692423064104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55E8-4457-BB91-3C162C6322AC}"/>
                </c:ext>
              </c:extLst>
            </c:dLbl>
            <c:dLbl>
              <c:idx val="5"/>
              <c:layout>
                <c:manualLayout>
                  <c:x val="-9.5334752595058695E-3"/>
                  <c:y val="2.2046161537606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55E8-4457-BB91-3C162C6322AC}"/>
                </c:ext>
              </c:extLst>
            </c:dLbl>
            <c:dLbl>
              <c:idx val="6"/>
              <c:layout>
                <c:manualLayout>
                  <c:x val="-2.06558630622624E-2"/>
                  <c:y val="2.75577019220086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55E8-4457-BB91-3C162C6322AC}"/>
                </c:ext>
              </c:extLst>
            </c:dLbl>
            <c:dLbl>
              <c:idx val="7"/>
              <c:layout>
                <c:manualLayout>
                  <c:x val="-4.13117261245248E-2"/>
                  <c:y val="3.30692423064104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55E8-4457-BB91-3C162C6322AC}"/>
                </c:ext>
              </c:extLst>
            </c:dLbl>
            <c:dLbl>
              <c:idx val="8"/>
              <c:layout>
                <c:manualLayout>
                  <c:x val="-3.4956075951520997E-2"/>
                  <c:y val="2.75577019220086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55E8-4457-BB91-3C162C6322AC}"/>
                </c:ext>
              </c:extLst>
            </c:dLbl>
            <c:dLbl>
              <c:idx val="9"/>
              <c:layout>
                <c:manualLayout>
                  <c:x val="-2.8600425778517201E-2"/>
                  <c:y val="2.7557701922008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55E8-4457-BB91-3C162C6322AC}"/>
                </c:ext>
              </c:extLst>
            </c:dLbl>
            <c:dLbl>
              <c:idx val="10"/>
              <c:layout>
                <c:manualLayout>
                  <c:x val="-2.2244775605513599E-2"/>
                  <c:y val="3.03134721142096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55E8-4457-BB91-3C162C6322AC}"/>
                </c:ext>
              </c:extLst>
            </c:dLbl>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Sheet1!$A$2:$A$12</c:f>
              <c:strCache>
                <c:ptCount val="11"/>
                <c:pt idx="0">
                  <c:v>国内-需求计划</c:v>
                </c:pt>
                <c:pt idx="1">
                  <c:v>国际-需求计划</c:v>
                </c:pt>
                <c:pt idx="2">
                  <c:v>国内-订单管理</c:v>
                </c:pt>
                <c:pt idx="3">
                  <c:v>国际-订单管理</c:v>
                </c:pt>
                <c:pt idx="4">
                  <c:v>产销平衡机制</c:v>
                </c:pt>
                <c:pt idx="5">
                  <c:v>生产计划</c:v>
                </c:pt>
                <c:pt idx="6">
                  <c:v>生产执行</c:v>
                </c:pt>
                <c:pt idx="7">
                  <c:v>厂内物流</c:v>
                </c:pt>
                <c:pt idx="8">
                  <c:v>零部件计划</c:v>
                </c:pt>
                <c:pt idx="9">
                  <c:v>零部件采购</c:v>
                </c:pt>
                <c:pt idx="10">
                  <c:v>零部件交付</c:v>
                </c:pt>
              </c:strCache>
            </c:strRef>
          </c:cat>
          <c:val>
            <c:numRef>
              <c:f>Sheet1!$B$2:$B$12</c:f>
              <c:numCache>
                <c:formatCode>0.0</c:formatCode>
                <c:ptCount val="11"/>
                <c:pt idx="0">
                  <c:v>2.2285714285714402</c:v>
                </c:pt>
                <c:pt idx="1">
                  <c:v>1.8285714285714301</c:v>
                </c:pt>
                <c:pt idx="2">
                  <c:v>2.5714285714285698</c:v>
                </c:pt>
                <c:pt idx="3">
                  <c:v>2.1714285714285699</c:v>
                </c:pt>
                <c:pt idx="4">
                  <c:v>2.2571428571428598</c:v>
                </c:pt>
                <c:pt idx="5">
                  <c:v>2.3142857142857101</c:v>
                </c:pt>
                <c:pt idx="6">
                  <c:v>2.5142857142857098</c:v>
                </c:pt>
                <c:pt idx="7">
                  <c:v>2.71428571428571</c:v>
                </c:pt>
                <c:pt idx="8">
                  <c:v>2.1</c:v>
                </c:pt>
                <c:pt idx="9">
                  <c:v>2.1</c:v>
                </c:pt>
                <c:pt idx="10">
                  <c:v>2.1</c:v>
                </c:pt>
              </c:numCache>
            </c:numRef>
          </c:val>
          <c:smooth val="1"/>
          <c:extLst>
            <c:ext xmlns:c16="http://schemas.microsoft.com/office/drawing/2014/chart" uri="{C3380CC4-5D6E-409C-BE32-E72D297353CC}">
              <c16:uniqueId val="{0000000A-55E8-4457-BB91-3C162C6322AC}"/>
            </c:ext>
          </c:extLst>
        </c:ser>
        <c:ser>
          <c:idx val="1"/>
          <c:order val="1"/>
          <c:tx>
            <c:strRef>
              <c:f>Sheet1!$C$1</c:f>
              <c:strCache>
                <c:ptCount val="1"/>
                <c:pt idx="0">
                  <c:v>绩效</c:v>
                </c:pt>
              </c:strCache>
            </c:strRef>
          </c:tx>
          <c:dLbls>
            <c:dLbl>
              <c:idx val="0"/>
              <c:layout>
                <c:manualLayout>
                  <c:x val="-3.1778250865019002E-2"/>
                  <c:y val="3.30692423064104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55E8-4457-BB91-3C162C6322AC}"/>
                </c:ext>
              </c:extLst>
            </c:dLbl>
            <c:dLbl>
              <c:idx val="1"/>
              <c:layout>
                <c:manualLayout>
                  <c:x val="-4.44895512110269E-2"/>
                  <c:y val="1.9290391345406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55E8-4457-BB91-3C162C6322AC}"/>
                </c:ext>
              </c:extLst>
            </c:dLbl>
            <c:dLbl>
              <c:idx val="2"/>
              <c:layout>
                <c:manualLayout>
                  <c:x val="-2.86004257785171E-2"/>
                  <c:y val="3.85807826908121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D-55E8-4457-BB91-3C162C6322AC}"/>
                </c:ext>
              </c:extLst>
            </c:dLbl>
            <c:dLbl>
              <c:idx val="3"/>
              <c:layout>
                <c:manualLayout>
                  <c:x val="-3.97228135812739E-2"/>
                  <c:y val="1.92903913454062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E-55E8-4457-BB91-3C162C6322AC}"/>
                </c:ext>
              </c:extLst>
            </c:dLbl>
            <c:dLbl>
              <c:idx val="4"/>
              <c:layout>
                <c:manualLayout>
                  <c:x val="-2.3833688148764201E-2"/>
                  <c:y val="-2.7557701922008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F-55E8-4457-BB91-3C162C6322AC}"/>
                </c:ext>
              </c:extLst>
            </c:dLbl>
            <c:dLbl>
              <c:idx val="5"/>
              <c:layout>
                <c:manualLayout>
                  <c:x val="-2.70115132352663E-2"/>
                  <c:y val="2.75577019220086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0-55E8-4457-BB91-3C162C6322AC}"/>
                </c:ext>
              </c:extLst>
            </c:dLbl>
            <c:dLbl>
              <c:idx val="6"/>
              <c:layout>
                <c:manualLayout>
                  <c:x val="-3.8133901038022798E-2"/>
                  <c:y val="3.03134721142096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1-55E8-4457-BB91-3C162C6322AC}"/>
                </c:ext>
              </c:extLst>
            </c:dLbl>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Sheet1!$A$2:$A$12</c:f>
              <c:strCache>
                <c:ptCount val="11"/>
                <c:pt idx="0">
                  <c:v>国内-需求计划</c:v>
                </c:pt>
                <c:pt idx="1">
                  <c:v>国际-需求计划</c:v>
                </c:pt>
                <c:pt idx="2">
                  <c:v>国内-订单管理</c:v>
                </c:pt>
                <c:pt idx="3">
                  <c:v>国际-订单管理</c:v>
                </c:pt>
                <c:pt idx="4">
                  <c:v>产销平衡机制</c:v>
                </c:pt>
                <c:pt idx="5">
                  <c:v>生产计划</c:v>
                </c:pt>
                <c:pt idx="6">
                  <c:v>生产执行</c:v>
                </c:pt>
                <c:pt idx="7">
                  <c:v>厂内物流</c:v>
                </c:pt>
                <c:pt idx="8">
                  <c:v>零部件计划</c:v>
                </c:pt>
                <c:pt idx="9">
                  <c:v>零部件采购</c:v>
                </c:pt>
                <c:pt idx="10">
                  <c:v>零部件交付</c:v>
                </c:pt>
              </c:strCache>
            </c:strRef>
          </c:cat>
          <c:val>
            <c:numRef>
              <c:f>Sheet1!$C$2:$C$12</c:f>
              <c:numCache>
                <c:formatCode>0.0</c:formatCode>
                <c:ptCount val="11"/>
                <c:pt idx="0">
                  <c:v>2.8571428571428599</c:v>
                </c:pt>
                <c:pt idx="1">
                  <c:v>2.1714285714285699</c:v>
                </c:pt>
                <c:pt idx="2">
                  <c:v>2.9142857142857101</c:v>
                </c:pt>
                <c:pt idx="3">
                  <c:v>2.4</c:v>
                </c:pt>
                <c:pt idx="4">
                  <c:v>2.94285714285714</c:v>
                </c:pt>
                <c:pt idx="5">
                  <c:v>2.8857142857142901</c:v>
                </c:pt>
                <c:pt idx="6">
                  <c:v>2.8</c:v>
                </c:pt>
                <c:pt idx="7">
                  <c:v>2.8857142857142901</c:v>
                </c:pt>
                <c:pt idx="8">
                  <c:v>2.5714285714285698</c:v>
                </c:pt>
                <c:pt idx="9">
                  <c:v>2.45714285714286</c:v>
                </c:pt>
                <c:pt idx="10">
                  <c:v>2.3142857142857101</c:v>
                </c:pt>
              </c:numCache>
            </c:numRef>
          </c:val>
          <c:smooth val="1"/>
          <c:extLst>
            <c:ext xmlns:c16="http://schemas.microsoft.com/office/drawing/2014/chart" uri="{C3380CC4-5D6E-409C-BE32-E72D297353CC}">
              <c16:uniqueId val="{00000012-55E8-4457-BB91-3C162C6322AC}"/>
            </c:ext>
          </c:extLst>
        </c:ser>
        <c:ser>
          <c:idx val="2"/>
          <c:order val="2"/>
          <c:tx>
            <c:strRef>
              <c:f>Sheet1!$D$1</c:f>
              <c:strCache>
                <c:ptCount val="1"/>
                <c:pt idx="0">
                  <c:v>流程</c:v>
                </c:pt>
              </c:strCache>
            </c:strRef>
          </c:tx>
          <c:dLbls>
            <c:dLbl>
              <c:idx val="0"/>
              <c:layout>
                <c:manualLayout>
                  <c:x val="-3.1778250865019002E-2"/>
                  <c:y val="-4.40923230752141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3-55E8-4457-BB91-3C162C6322AC}"/>
                </c:ext>
              </c:extLst>
            </c:dLbl>
            <c:dLbl>
              <c:idx val="1"/>
              <c:layout>
                <c:manualLayout>
                  <c:x val="-2.5422600692015199E-2"/>
                  <c:y val="2.2046161537606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4-55E8-4457-BB91-3C162C6322AC}"/>
                </c:ext>
              </c:extLst>
            </c:dLbl>
            <c:dLbl>
              <c:idx val="2"/>
              <c:delete val="1"/>
              <c:extLst>
                <c:ext xmlns:c15="http://schemas.microsoft.com/office/drawing/2012/chart" uri="{CE6537A1-D6FC-4f65-9D91-7224C49458BB}"/>
                <c:ext xmlns:c16="http://schemas.microsoft.com/office/drawing/2014/chart" uri="{C3380CC4-5D6E-409C-BE32-E72D297353CC}">
                  <c16:uniqueId val="{00000015-55E8-4457-BB91-3C162C6322AC}"/>
                </c:ext>
              </c:extLst>
            </c:dLbl>
            <c:dLbl>
              <c:idx val="3"/>
              <c:layout>
                <c:manualLayout>
                  <c:x val="-2.2244775605513498E-2"/>
                  <c:y val="-8.2673105766026302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6-55E8-4457-BB91-3C162C6322AC}"/>
                </c:ext>
              </c:extLst>
            </c:dLbl>
            <c:dLbl>
              <c:idx val="4"/>
              <c:layout>
                <c:manualLayout>
                  <c:x val="-1.5889125432509602E-2"/>
                  <c:y val="3.85807826908121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7-55E8-4457-BB91-3C162C6322AC}"/>
                </c:ext>
              </c:extLst>
            </c:dLbl>
            <c:dLbl>
              <c:idx val="6"/>
              <c:layout>
                <c:manualLayout>
                  <c:x val="-3.8133901038022798E-2"/>
                  <c:y val="-4.13365528830130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8-55E8-4457-BB91-3C162C6322AC}"/>
                </c:ext>
              </c:extLst>
            </c:dLbl>
            <c:dLbl>
              <c:idx val="7"/>
              <c:layout>
                <c:manualLayout>
                  <c:x val="-3.1778250865019002E-2"/>
                  <c:y val="3.30692423064104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9-55E8-4457-BB91-3C162C6322AC}"/>
                </c:ext>
              </c:extLst>
            </c:dLbl>
            <c:dLbl>
              <c:idx val="8"/>
              <c:layout>
                <c:manualLayout>
                  <c:x val="-2.5422600692015199E-2"/>
                  <c:y val="-4.96038634596156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A-55E8-4457-BB91-3C162C6322AC}"/>
                </c:ext>
              </c:extLst>
            </c:dLbl>
            <c:dLbl>
              <c:idx val="9"/>
              <c:layout>
                <c:manualLayout>
                  <c:x val="-2.8600425778517201E-2"/>
                  <c:y val="-3.58250124986115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B-55E8-4457-BB91-3C162C6322AC}"/>
                </c:ext>
              </c:extLst>
            </c:dLbl>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Sheet1!$A$2:$A$12</c:f>
              <c:strCache>
                <c:ptCount val="11"/>
                <c:pt idx="0">
                  <c:v>国内-需求计划</c:v>
                </c:pt>
                <c:pt idx="1">
                  <c:v>国际-需求计划</c:v>
                </c:pt>
                <c:pt idx="2">
                  <c:v>国内-订单管理</c:v>
                </c:pt>
                <c:pt idx="3">
                  <c:v>国际-订单管理</c:v>
                </c:pt>
                <c:pt idx="4">
                  <c:v>产销平衡机制</c:v>
                </c:pt>
                <c:pt idx="5">
                  <c:v>生产计划</c:v>
                </c:pt>
                <c:pt idx="6">
                  <c:v>生产执行</c:v>
                </c:pt>
                <c:pt idx="7">
                  <c:v>厂内物流</c:v>
                </c:pt>
                <c:pt idx="8">
                  <c:v>零部件计划</c:v>
                </c:pt>
                <c:pt idx="9">
                  <c:v>零部件采购</c:v>
                </c:pt>
                <c:pt idx="10">
                  <c:v>零部件交付</c:v>
                </c:pt>
              </c:strCache>
            </c:strRef>
          </c:cat>
          <c:val>
            <c:numRef>
              <c:f>Sheet1!$D$2:$D$12</c:f>
              <c:numCache>
                <c:formatCode>0.0</c:formatCode>
                <c:ptCount val="11"/>
                <c:pt idx="0">
                  <c:v>3.0857142857142899</c:v>
                </c:pt>
                <c:pt idx="1">
                  <c:v>2.45714285714286</c:v>
                </c:pt>
                <c:pt idx="2">
                  <c:v>3.1142857142857099</c:v>
                </c:pt>
                <c:pt idx="3">
                  <c:v>2.54285714285714</c:v>
                </c:pt>
                <c:pt idx="4">
                  <c:v>2.8285714285714398</c:v>
                </c:pt>
                <c:pt idx="5">
                  <c:v>3.1714285714285699</c:v>
                </c:pt>
                <c:pt idx="6">
                  <c:v>3.2285714285714402</c:v>
                </c:pt>
                <c:pt idx="7">
                  <c:v>3.2285714285714402</c:v>
                </c:pt>
                <c:pt idx="8">
                  <c:v>2.9714285714285702</c:v>
                </c:pt>
                <c:pt idx="9">
                  <c:v>2.9714285714285702</c:v>
                </c:pt>
                <c:pt idx="10">
                  <c:v>2.6571428571428601</c:v>
                </c:pt>
              </c:numCache>
            </c:numRef>
          </c:val>
          <c:smooth val="1"/>
          <c:extLst>
            <c:ext xmlns:c16="http://schemas.microsoft.com/office/drawing/2014/chart" uri="{C3380CC4-5D6E-409C-BE32-E72D297353CC}">
              <c16:uniqueId val="{0000001C-55E8-4457-BB91-3C162C6322AC}"/>
            </c:ext>
          </c:extLst>
        </c:ser>
        <c:ser>
          <c:idx val="3"/>
          <c:order val="3"/>
          <c:tx>
            <c:strRef>
              <c:f>Sheet1!$E$1</c:f>
              <c:strCache>
                <c:ptCount val="1"/>
                <c:pt idx="0">
                  <c:v>组织</c:v>
                </c:pt>
              </c:strCache>
            </c:strRef>
          </c:tx>
          <c:dLbls>
            <c:dLbl>
              <c:idx val="0"/>
              <c:layout>
                <c:manualLayout>
                  <c:x val="-4.1311726124524703E-2"/>
                  <c:y val="1.37788509610042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D-55E8-4457-BB91-3C162C6322AC}"/>
                </c:ext>
              </c:extLst>
            </c:dLbl>
            <c:dLbl>
              <c:idx val="1"/>
              <c:layout>
                <c:manualLayout>
                  <c:x val="-3.49560759515209E-2"/>
                  <c:y val="-3.85807826908121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E-55E8-4457-BB91-3C162C6322AC}"/>
                </c:ext>
              </c:extLst>
            </c:dLbl>
            <c:dLbl>
              <c:idx val="2"/>
              <c:layout>
                <c:manualLayout>
                  <c:x val="-2.86004257785171E-2"/>
                  <c:y val="-3.85807826908121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F-55E8-4457-BB91-3C162C6322AC}"/>
                </c:ext>
              </c:extLst>
            </c:dLbl>
            <c:dLbl>
              <c:idx val="3"/>
              <c:layout>
                <c:manualLayout>
                  <c:x val="-2.2244775605513498E-2"/>
                  <c:y val="-5.2359633651816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0-55E8-4457-BB91-3C162C6322AC}"/>
                </c:ext>
              </c:extLst>
            </c:dLbl>
            <c:dLbl>
              <c:idx val="4"/>
              <c:layout>
                <c:manualLayout>
                  <c:x val="-3.3367163408269902E-2"/>
                  <c:y val="-3.30692423064104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1-55E8-4457-BB91-3C162C6322AC}"/>
                </c:ext>
              </c:extLst>
            </c:dLbl>
            <c:dLbl>
              <c:idx val="5"/>
              <c:layout>
                <c:manualLayout>
                  <c:x val="-2.70115132352663E-2"/>
                  <c:y val="-4.40923230752141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2-55E8-4457-BB91-3C162C6322AC}"/>
                </c:ext>
              </c:extLst>
            </c:dLbl>
            <c:dLbl>
              <c:idx val="7"/>
              <c:layout>
                <c:manualLayout>
                  <c:x val="-3.1778250865019002E-2"/>
                  <c:y val="-3.30692423064104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3-55E8-4457-BB91-3C162C6322AC}"/>
                </c:ext>
              </c:extLst>
            </c:dLbl>
            <c:dLbl>
              <c:idx val="8"/>
              <c:layout>
                <c:manualLayout>
                  <c:x val="-3.49560759515209E-2"/>
                  <c:y val="4.68480932674147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4-55E8-4457-BB91-3C162C6322AC}"/>
                </c:ext>
              </c:extLst>
            </c:dLbl>
            <c:dLbl>
              <c:idx val="9"/>
              <c:layout>
                <c:manualLayout>
                  <c:x val="-3.8133901038022902E-2"/>
                  <c:y val="2.4801931729807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5-55E8-4457-BB91-3C162C6322AC}"/>
                </c:ext>
              </c:extLst>
            </c:dLbl>
            <c:dLbl>
              <c:idx val="10"/>
              <c:delete val="1"/>
              <c:extLst>
                <c:ext xmlns:c15="http://schemas.microsoft.com/office/drawing/2012/chart" uri="{CE6537A1-D6FC-4f65-9D91-7224C49458BB}"/>
                <c:ext xmlns:c16="http://schemas.microsoft.com/office/drawing/2014/chart" uri="{C3380CC4-5D6E-409C-BE32-E72D297353CC}">
                  <c16:uniqueId val="{00000026-55E8-4457-BB91-3C162C6322AC}"/>
                </c:ext>
              </c:extLst>
            </c:dLbl>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Sheet1!$A$2:$A$12</c:f>
              <c:strCache>
                <c:ptCount val="11"/>
                <c:pt idx="0">
                  <c:v>国内-需求计划</c:v>
                </c:pt>
                <c:pt idx="1">
                  <c:v>国际-需求计划</c:v>
                </c:pt>
                <c:pt idx="2">
                  <c:v>国内-订单管理</c:v>
                </c:pt>
                <c:pt idx="3">
                  <c:v>国际-订单管理</c:v>
                </c:pt>
                <c:pt idx="4">
                  <c:v>产销平衡机制</c:v>
                </c:pt>
                <c:pt idx="5">
                  <c:v>生产计划</c:v>
                </c:pt>
                <c:pt idx="6">
                  <c:v>生产执行</c:v>
                </c:pt>
                <c:pt idx="7">
                  <c:v>厂内物流</c:v>
                </c:pt>
                <c:pt idx="8">
                  <c:v>零部件计划</c:v>
                </c:pt>
                <c:pt idx="9">
                  <c:v>零部件采购</c:v>
                </c:pt>
                <c:pt idx="10">
                  <c:v>零部件交付</c:v>
                </c:pt>
              </c:strCache>
            </c:strRef>
          </c:cat>
          <c:val>
            <c:numRef>
              <c:f>Sheet1!$E$2:$E$12</c:f>
              <c:numCache>
                <c:formatCode>0.0</c:formatCode>
                <c:ptCount val="11"/>
                <c:pt idx="0">
                  <c:v>3.02857142857144</c:v>
                </c:pt>
                <c:pt idx="1">
                  <c:v>2.54285714285714</c:v>
                </c:pt>
                <c:pt idx="2">
                  <c:v>3.1428571428571401</c:v>
                </c:pt>
                <c:pt idx="3">
                  <c:v>2.6857142857142802</c:v>
                </c:pt>
                <c:pt idx="4">
                  <c:v>3.1142857142857099</c:v>
                </c:pt>
                <c:pt idx="5">
                  <c:v>3.1714285714285699</c:v>
                </c:pt>
                <c:pt idx="6">
                  <c:v>3.1142857142857099</c:v>
                </c:pt>
                <c:pt idx="7">
                  <c:v>3.3428571428571399</c:v>
                </c:pt>
                <c:pt idx="8">
                  <c:v>2.94285714285714</c:v>
                </c:pt>
                <c:pt idx="9">
                  <c:v>2.8285714285714398</c:v>
                </c:pt>
                <c:pt idx="10">
                  <c:v>2.6857142857142802</c:v>
                </c:pt>
              </c:numCache>
            </c:numRef>
          </c:val>
          <c:smooth val="1"/>
          <c:extLst>
            <c:ext xmlns:c16="http://schemas.microsoft.com/office/drawing/2014/chart" uri="{C3380CC4-5D6E-409C-BE32-E72D297353CC}">
              <c16:uniqueId val="{00000027-55E8-4457-BB91-3C162C6322AC}"/>
            </c:ext>
          </c:extLst>
        </c:ser>
        <c:dLbls>
          <c:showLegendKey val="1"/>
          <c:showVal val="1"/>
          <c:showCatName val="1"/>
          <c:showSerName val="1"/>
          <c:showPercent val="1"/>
          <c:showBubbleSize val="1"/>
        </c:dLbls>
        <c:marker val="1"/>
        <c:smooth val="0"/>
        <c:axId val="133625728"/>
        <c:axId val="133627264"/>
      </c:lineChart>
      <c:catAx>
        <c:axId val="13362572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133627264"/>
        <c:crosses val="autoZero"/>
        <c:auto val="1"/>
        <c:lblAlgn val="ctr"/>
        <c:lblOffset val="100"/>
        <c:noMultiLvlLbl val="0"/>
      </c:catAx>
      <c:valAx>
        <c:axId val="133627264"/>
        <c:scaling>
          <c:orientation val="minMax"/>
          <c:min val="1.5"/>
        </c:scaling>
        <c:delete val="0"/>
        <c:axPos val="l"/>
        <c:majorGridlines/>
        <c:numFmt formatCode="0.0"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133625728"/>
        <c:crosses val="autoZero"/>
        <c:crossBetween val="between"/>
        <c:majorUnit val="0.2"/>
      </c:valAx>
    </c:plotArea>
    <c:legend>
      <c:legendPos val="b"/>
      <c:layout>
        <c:manualLayout>
          <c:xMode val="edge"/>
          <c:yMode val="edge"/>
          <c:x val="0.35190394344606002"/>
          <c:y val="0.86509281535768301"/>
          <c:w val="0.305084565767206"/>
          <c:h val="6.80084875626846E-2"/>
        </c:manualLayout>
      </c:layout>
      <c:overlay val="0"/>
      <c:txPr>
        <a:bodyPr rot="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legend>
    <c:plotVisOnly val="1"/>
    <c:dispBlanksAs val="gap"/>
    <c:showDLblsOverMax val="0"/>
  </c:chart>
  <c:txPr>
    <a:bodyPr/>
    <a:lstStyle/>
    <a:p>
      <a:pPr>
        <a:defRPr lang="zh-CN" sz="1100" b="0" i="0">
          <a:latin typeface="微软雅黑" panose="020B0503020204020204" charset="-122"/>
          <a:cs typeface="微软雅黑" panose="020B0503020204020204" charset="-122"/>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5.9224101362474801E-2"/>
          <c:y val="7.5120254128142105E-2"/>
          <c:w val="0.91993225500196596"/>
          <c:h val="0.73439550955243604"/>
        </c:manualLayout>
      </c:layout>
      <c:lineChart>
        <c:grouping val="standard"/>
        <c:varyColors val="0"/>
        <c:ser>
          <c:idx val="0"/>
          <c:order val="0"/>
          <c:tx>
            <c:strRef>
              <c:f>Sheet1!$B$1</c:f>
              <c:strCache>
                <c:ptCount val="1"/>
                <c:pt idx="0">
                  <c:v>IT</c:v>
                </c:pt>
              </c:strCache>
            </c:strRef>
          </c:tx>
          <c:dLbls>
            <c:dLbl>
              <c:idx val="0"/>
              <c:layout>
                <c:manualLayout>
                  <c:x val="-4.1666666666666699E-2"/>
                  <c:y val="3.74997539370078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7F8B-4783-A38B-4832D6DF611C}"/>
                </c:ext>
              </c:extLst>
            </c:dLbl>
            <c:dLbl>
              <c:idx val="1"/>
              <c:layout>
                <c:manualLayout>
                  <c:x val="-4.7916666666666899E-2"/>
                  <c:y val="2.18749999999999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7F8B-4783-A38B-4832D6DF611C}"/>
                </c:ext>
              </c:extLst>
            </c:dLbl>
            <c:dLbl>
              <c:idx val="2"/>
              <c:layout>
                <c:manualLayout>
                  <c:x val="-3.1250000000000201E-2"/>
                  <c:y val="2.187500000000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7F8B-4783-A38B-4832D6DF611C}"/>
                </c:ext>
              </c:extLst>
            </c:dLbl>
            <c:dLbl>
              <c:idx val="3"/>
              <c:layout>
                <c:manualLayout>
                  <c:x val="-3.7500000000000103E-2"/>
                  <c:y val="2.5000000000000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7F8B-4783-A38B-4832D6DF611C}"/>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Sheet1!$A$2:$A$5</c:f>
              <c:strCache>
                <c:ptCount val="4"/>
                <c:pt idx="0">
                  <c:v>国内-需求计划</c:v>
                </c:pt>
                <c:pt idx="1">
                  <c:v>国际-需求计划</c:v>
                </c:pt>
                <c:pt idx="2">
                  <c:v>国内-订单管理</c:v>
                </c:pt>
                <c:pt idx="3">
                  <c:v>国际-订单管理</c:v>
                </c:pt>
              </c:strCache>
            </c:strRef>
          </c:cat>
          <c:val>
            <c:numRef>
              <c:f>Sheet1!$B$2:$B$5</c:f>
              <c:numCache>
                <c:formatCode>0.0_ </c:formatCode>
                <c:ptCount val="4"/>
                <c:pt idx="0">
                  <c:v>2.2285714285714402</c:v>
                </c:pt>
                <c:pt idx="1">
                  <c:v>1.8285714285714301</c:v>
                </c:pt>
                <c:pt idx="2">
                  <c:v>2.5714285714285698</c:v>
                </c:pt>
                <c:pt idx="3">
                  <c:v>2.1714285714285699</c:v>
                </c:pt>
              </c:numCache>
            </c:numRef>
          </c:val>
          <c:smooth val="1"/>
          <c:extLst>
            <c:ext xmlns:c16="http://schemas.microsoft.com/office/drawing/2014/chart" uri="{C3380CC4-5D6E-409C-BE32-E72D297353CC}">
              <c16:uniqueId val="{00000004-7F8B-4783-A38B-4832D6DF611C}"/>
            </c:ext>
          </c:extLst>
        </c:ser>
        <c:ser>
          <c:idx val="1"/>
          <c:order val="1"/>
          <c:tx>
            <c:strRef>
              <c:f>Sheet1!$C$1</c:f>
              <c:strCache>
                <c:ptCount val="1"/>
                <c:pt idx="0">
                  <c:v>绩效</c:v>
                </c:pt>
              </c:strCache>
            </c:strRef>
          </c:tx>
          <c:dLbls>
            <c:dLbl>
              <c:idx val="0"/>
              <c:layout>
                <c:manualLayout>
                  <c:x val="-4.1666666666666699E-2"/>
                  <c:y val="5.000000000000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7F8B-4783-A38B-4832D6DF611C}"/>
                </c:ext>
              </c:extLst>
            </c:dLbl>
            <c:dLbl>
              <c:idx val="1"/>
              <c:layout>
                <c:manualLayout>
                  <c:x val="-4.7916666666666899E-2"/>
                  <c:y val="2.5000000000000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7F8B-4783-A38B-4832D6DF611C}"/>
                </c:ext>
              </c:extLst>
            </c:dLbl>
            <c:dLbl>
              <c:idx val="2"/>
              <c:layout>
                <c:manualLayout>
                  <c:x val="-3.1250000000000201E-2"/>
                  <c:y val="4.37499999999999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7F8B-4783-A38B-4832D6DF611C}"/>
                </c:ext>
              </c:extLst>
            </c:dLbl>
            <c:dLbl>
              <c:idx val="3"/>
              <c:layout>
                <c:manualLayout>
                  <c:x val="-1.4583333333333301E-2"/>
                  <c:y val="3.1250000000000201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7F8B-4783-A38B-4832D6DF611C}"/>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Sheet1!$A$2:$A$5</c:f>
              <c:strCache>
                <c:ptCount val="4"/>
                <c:pt idx="0">
                  <c:v>国内-需求计划</c:v>
                </c:pt>
                <c:pt idx="1">
                  <c:v>国际-需求计划</c:v>
                </c:pt>
                <c:pt idx="2">
                  <c:v>国内-订单管理</c:v>
                </c:pt>
                <c:pt idx="3">
                  <c:v>国际-订单管理</c:v>
                </c:pt>
              </c:strCache>
            </c:strRef>
          </c:cat>
          <c:val>
            <c:numRef>
              <c:f>Sheet1!$C$2:$C$5</c:f>
              <c:numCache>
                <c:formatCode>0.0_ </c:formatCode>
                <c:ptCount val="4"/>
                <c:pt idx="0">
                  <c:v>2.8571428571428599</c:v>
                </c:pt>
                <c:pt idx="1">
                  <c:v>2.1714285714285699</c:v>
                </c:pt>
                <c:pt idx="2">
                  <c:v>2.9142857142857101</c:v>
                </c:pt>
                <c:pt idx="3">
                  <c:v>2.4</c:v>
                </c:pt>
              </c:numCache>
            </c:numRef>
          </c:val>
          <c:smooth val="1"/>
          <c:extLst>
            <c:ext xmlns:c16="http://schemas.microsoft.com/office/drawing/2014/chart" uri="{C3380CC4-5D6E-409C-BE32-E72D297353CC}">
              <c16:uniqueId val="{00000009-7F8B-4783-A38B-4832D6DF611C}"/>
            </c:ext>
          </c:extLst>
        </c:ser>
        <c:ser>
          <c:idx val="2"/>
          <c:order val="2"/>
          <c:tx>
            <c:strRef>
              <c:f>Sheet1!$D$1</c:f>
              <c:strCache>
                <c:ptCount val="1"/>
                <c:pt idx="0">
                  <c:v>流程</c:v>
                </c:pt>
              </c:strCache>
            </c:strRef>
          </c:tx>
          <c:dLbls>
            <c:dLbl>
              <c:idx val="0"/>
              <c:layout>
                <c:manualLayout>
                  <c:x val="-6.4583333333333798E-2"/>
                  <c:y val="9.375000000000070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7F8B-4783-A38B-4832D6DF611C}"/>
                </c:ext>
              </c:extLst>
            </c:dLbl>
            <c:dLbl>
              <c:idx val="1"/>
              <c:layout>
                <c:manualLayout>
                  <c:x val="-1.25000000000001E-2"/>
                  <c:y val="2.86455024180457E-17"/>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7F8B-4783-A38B-4832D6DF611C}"/>
                </c:ext>
              </c:extLst>
            </c:dLbl>
            <c:dLbl>
              <c:idx val="2"/>
              <c:layout>
                <c:manualLayout>
                  <c:x val="-8.3333333333333003E-3"/>
                  <c:y val="1.56250000000001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7F8B-4783-A38B-4832D6DF611C}"/>
                </c:ext>
              </c:extLst>
            </c:dLbl>
            <c:dLbl>
              <c:idx val="3"/>
              <c:layout>
                <c:manualLayout>
                  <c:x val="-2.0833333333334998E-3"/>
                  <c:y val="-1.56250000000001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D-7F8B-4783-A38B-4832D6DF611C}"/>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Sheet1!$A$2:$A$5</c:f>
              <c:strCache>
                <c:ptCount val="4"/>
                <c:pt idx="0">
                  <c:v>国内-需求计划</c:v>
                </c:pt>
                <c:pt idx="1">
                  <c:v>国际-需求计划</c:v>
                </c:pt>
                <c:pt idx="2">
                  <c:v>国内-订单管理</c:v>
                </c:pt>
                <c:pt idx="3">
                  <c:v>国际-订单管理</c:v>
                </c:pt>
              </c:strCache>
            </c:strRef>
          </c:cat>
          <c:val>
            <c:numRef>
              <c:f>Sheet1!$D$2:$D$5</c:f>
              <c:numCache>
                <c:formatCode>0.0_ </c:formatCode>
                <c:ptCount val="4"/>
                <c:pt idx="0">
                  <c:v>3.0857142857142899</c:v>
                </c:pt>
                <c:pt idx="1">
                  <c:v>2.45714285714286</c:v>
                </c:pt>
                <c:pt idx="2">
                  <c:v>3.1142857142857099</c:v>
                </c:pt>
                <c:pt idx="3">
                  <c:v>2.54285714285714</c:v>
                </c:pt>
              </c:numCache>
            </c:numRef>
          </c:val>
          <c:smooth val="1"/>
          <c:extLst>
            <c:ext xmlns:c16="http://schemas.microsoft.com/office/drawing/2014/chart" uri="{C3380CC4-5D6E-409C-BE32-E72D297353CC}">
              <c16:uniqueId val="{0000000E-7F8B-4783-A38B-4832D6DF611C}"/>
            </c:ext>
          </c:extLst>
        </c:ser>
        <c:ser>
          <c:idx val="3"/>
          <c:order val="3"/>
          <c:tx>
            <c:strRef>
              <c:f>Sheet1!$E$1</c:f>
              <c:strCache>
                <c:ptCount val="1"/>
                <c:pt idx="0">
                  <c:v>组织</c:v>
                </c:pt>
              </c:strCache>
            </c:strRef>
          </c:tx>
          <c:dLbls>
            <c:dLbl>
              <c:idx val="0"/>
              <c:layout>
                <c:manualLayout>
                  <c:x val="-2.9166666666666698E-2"/>
                  <c:y val="-3.437500000000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F-7F8B-4783-A38B-4832D6DF611C}"/>
                </c:ext>
              </c:extLst>
            </c:dLbl>
            <c:dLbl>
              <c:idx val="1"/>
              <c:layout>
                <c:manualLayout>
                  <c:x val="-3.7500000000000103E-2"/>
                  <c:y val="-5.000000000000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0-7F8B-4783-A38B-4832D6DF611C}"/>
                </c:ext>
              </c:extLst>
            </c:dLbl>
            <c:dLbl>
              <c:idx val="2"/>
              <c:layout>
                <c:manualLayout>
                  <c:x val="-4.3749999999999997E-2"/>
                  <c:y val="-2.81250000000000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1-7F8B-4783-A38B-4832D6DF611C}"/>
                </c:ext>
              </c:extLst>
            </c:dLbl>
            <c:dLbl>
              <c:idx val="3"/>
              <c:layout>
                <c:manualLayout>
                  <c:x val="-1.4583333333333301E-2"/>
                  <c:y val="-3.75000000000001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2-7F8B-4783-A38B-4832D6DF611C}"/>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Sheet1!$A$2:$A$5</c:f>
              <c:strCache>
                <c:ptCount val="4"/>
                <c:pt idx="0">
                  <c:v>国内-需求计划</c:v>
                </c:pt>
                <c:pt idx="1">
                  <c:v>国际-需求计划</c:v>
                </c:pt>
                <c:pt idx="2">
                  <c:v>国内-订单管理</c:v>
                </c:pt>
                <c:pt idx="3">
                  <c:v>国际-订单管理</c:v>
                </c:pt>
              </c:strCache>
            </c:strRef>
          </c:cat>
          <c:val>
            <c:numRef>
              <c:f>Sheet1!$E$2:$E$5</c:f>
              <c:numCache>
                <c:formatCode>0.0_ </c:formatCode>
                <c:ptCount val="4"/>
                <c:pt idx="0">
                  <c:v>3.02857142857144</c:v>
                </c:pt>
                <c:pt idx="1">
                  <c:v>2.54285714285714</c:v>
                </c:pt>
                <c:pt idx="2">
                  <c:v>3.1428571428571401</c:v>
                </c:pt>
                <c:pt idx="3">
                  <c:v>2.6857142857142802</c:v>
                </c:pt>
              </c:numCache>
            </c:numRef>
          </c:val>
          <c:smooth val="1"/>
          <c:extLst>
            <c:ext xmlns:c16="http://schemas.microsoft.com/office/drawing/2014/chart" uri="{C3380CC4-5D6E-409C-BE32-E72D297353CC}">
              <c16:uniqueId val="{00000013-7F8B-4783-A38B-4832D6DF611C}"/>
            </c:ext>
          </c:extLst>
        </c:ser>
        <c:dLbls>
          <c:showLegendKey val="1"/>
          <c:showVal val="1"/>
          <c:showCatName val="1"/>
          <c:showSerName val="1"/>
          <c:showPercent val="1"/>
          <c:showBubbleSize val="1"/>
        </c:dLbls>
        <c:marker val="1"/>
        <c:smooth val="0"/>
        <c:axId val="66219392"/>
        <c:axId val="66249856"/>
      </c:lineChart>
      <c:catAx>
        <c:axId val="66219392"/>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66249856"/>
        <c:crosses val="autoZero"/>
        <c:auto val="1"/>
        <c:lblAlgn val="ctr"/>
        <c:lblOffset val="100"/>
        <c:noMultiLvlLbl val="0"/>
      </c:catAx>
      <c:valAx>
        <c:axId val="66249856"/>
        <c:scaling>
          <c:orientation val="minMax"/>
          <c:max val="3.5"/>
          <c:min val="1.5"/>
        </c:scaling>
        <c:delete val="0"/>
        <c:axPos val="l"/>
        <c:majorGridlines/>
        <c:numFmt formatCode="0.0_ " sourceLinked="1"/>
        <c:majorTickMark val="out"/>
        <c:minorTickMark val="none"/>
        <c:tickLblPos val="nextTo"/>
        <c:txPr>
          <a:bodyPr rot="-60000000" spcFirstLastPara="0" vertOverflow="ellipsis" vert="horz" wrap="square" anchor="ctr" anchorCtr="1"/>
          <a:lstStyle/>
          <a:p>
            <a:pPr algn="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66219392"/>
        <c:crosses val="autoZero"/>
        <c:crossBetween val="between"/>
        <c:majorUnit val="0.2"/>
      </c:valAx>
    </c:plotArea>
    <c:legend>
      <c:legendPos val="b"/>
      <c:layout>
        <c:manualLayout>
          <c:xMode val="edge"/>
          <c:yMode val="edge"/>
          <c:x val="0.21538822462842"/>
          <c:y val="0.89355133912323903"/>
          <c:w val="0.56293077014509996"/>
          <c:h val="0.10380242838515"/>
        </c:manualLayout>
      </c:layout>
      <c:overlay val="0"/>
      <c:txPr>
        <a:bodyPr rot="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6.2640876441079199E-2"/>
          <c:y val="4.5856015998222401E-2"/>
          <c:w val="0.91531296202131096"/>
          <c:h val="0.77311270969892198"/>
        </c:manualLayout>
      </c:layout>
      <c:lineChart>
        <c:grouping val="standard"/>
        <c:varyColors val="0"/>
        <c:ser>
          <c:idx val="0"/>
          <c:order val="0"/>
          <c:tx>
            <c:strRef>
              <c:f>Sheet1!$B$1</c:f>
              <c:strCache>
                <c:ptCount val="1"/>
                <c:pt idx="0">
                  <c:v>IT</c:v>
                </c:pt>
              </c:strCache>
            </c:strRef>
          </c:tx>
          <c:dLbls>
            <c:dLbl>
              <c:idx val="0"/>
              <c:layout>
                <c:manualLayout>
                  <c:x val="-3.3717658822222399E-2"/>
                  <c:y val="6.8588058116999195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A4AC-4E43-8DF8-E06E96B9759E}"/>
                </c:ext>
              </c:extLst>
            </c:dLbl>
            <c:dLbl>
              <c:idx val="1"/>
              <c:layout>
                <c:manualLayout>
                  <c:x val="-4.4092323075214102E-2"/>
                  <c:y val="6.368891110864219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A4AC-4E43-8DF8-E06E96B9759E}"/>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Sheet1!$A$2:$A$3</c:f>
              <c:strCache>
                <c:ptCount val="2"/>
                <c:pt idx="0">
                  <c:v>产销平衡机制</c:v>
                </c:pt>
                <c:pt idx="1">
                  <c:v>生产计划</c:v>
                </c:pt>
              </c:strCache>
            </c:strRef>
          </c:cat>
          <c:val>
            <c:numRef>
              <c:f>Sheet1!$B$2:$B$3</c:f>
              <c:numCache>
                <c:formatCode>0.0_ </c:formatCode>
                <c:ptCount val="2"/>
                <c:pt idx="0">
                  <c:v>2.2999999999999998</c:v>
                </c:pt>
                <c:pt idx="1">
                  <c:v>2.2999999999999998</c:v>
                </c:pt>
              </c:numCache>
            </c:numRef>
          </c:val>
          <c:smooth val="1"/>
          <c:extLst>
            <c:ext xmlns:c16="http://schemas.microsoft.com/office/drawing/2014/chart" uri="{C3380CC4-5D6E-409C-BE32-E72D297353CC}">
              <c16:uniqueId val="{00000002-A4AC-4E43-8DF8-E06E96B9759E}"/>
            </c:ext>
          </c:extLst>
        </c:ser>
        <c:ser>
          <c:idx val="1"/>
          <c:order val="1"/>
          <c:tx>
            <c:strRef>
              <c:f>Sheet1!$C$1</c:f>
              <c:strCache>
                <c:ptCount val="1"/>
                <c:pt idx="0">
                  <c:v>绩效</c:v>
                </c:pt>
              </c:strCache>
            </c:strRef>
          </c:tx>
          <c:dLbls>
            <c:dLbl>
              <c:idx val="0"/>
              <c:layout>
                <c:manualLayout>
                  <c:x val="-0.106340308593163"/>
                  <c:y val="-1.4697441025071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A4AC-4E43-8DF8-E06E96B9759E}"/>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Sheet1!$A$2:$A$3</c:f>
              <c:strCache>
                <c:ptCount val="2"/>
                <c:pt idx="0">
                  <c:v>产销平衡机制</c:v>
                </c:pt>
                <c:pt idx="1">
                  <c:v>生产计划</c:v>
                </c:pt>
              </c:strCache>
            </c:strRef>
          </c:cat>
          <c:val>
            <c:numRef>
              <c:f>Sheet1!$C$2:$C$3</c:f>
              <c:numCache>
                <c:formatCode>0.0_ </c:formatCode>
                <c:ptCount val="2"/>
                <c:pt idx="0">
                  <c:v>2.94285714285714</c:v>
                </c:pt>
                <c:pt idx="1">
                  <c:v>2.8857142857142901</c:v>
                </c:pt>
              </c:numCache>
            </c:numRef>
          </c:val>
          <c:smooth val="1"/>
          <c:extLst>
            <c:ext xmlns:c16="http://schemas.microsoft.com/office/drawing/2014/chart" uri="{C3380CC4-5D6E-409C-BE32-E72D297353CC}">
              <c16:uniqueId val="{00000004-A4AC-4E43-8DF8-E06E96B9759E}"/>
            </c:ext>
          </c:extLst>
        </c:ser>
        <c:ser>
          <c:idx val="2"/>
          <c:order val="2"/>
          <c:tx>
            <c:strRef>
              <c:f>Sheet1!$D$1</c:f>
              <c:strCache>
                <c:ptCount val="1"/>
                <c:pt idx="0">
                  <c:v>流程</c:v>
                </c:pt>
              </c:strCache>
            </c:strRef>
          </c:tx>
          <c:dLbls>
            <c:dLbl>
              <c:idx val="0"/>
              <c:layout>
                <c:manualLayout>
                  <c:x val="-4.6685989138461698E-2"/>
                  <c:y val="4.40923230752141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A4AC-4E43-8DF8-E06E96B9759E}"/>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Sheet1!$A$2:$A$3</c:f>
              <c:strCache>
                <c:ptCount val="2"/>
                <c:pt idx="0">
                  <c:v>产销平衡机制</c:v>
                </c:pt>
                <c:pt idx="1">
                  <c:v>生产计划</c:v>
                </c:pt>
              </c:strCache>
            </c:strRef>
          </c:cat>
          <c:val>
            <c:numRef>
              <c:f>Sheet1!$D$2:$D$3</c:f>
              <c:numCache>
                <c:formatCode>0.0_ </c:formatCode>
                <c:ptCount val="2"/>
                <c:pt idx="0">
                  <c:v>2.8285714285714301</c:v>
                </c:pt>
                <c:pt idx="1">
                  <c:v>3.1714285714285699</c:v>
                </c:pt>
              </c:numCache>
            </c:numRef>
          </c:val>
          <c:smooth val="1"/>
          <c:extLst>
            <c:ext xmlns:c16="http://schemas.microsoft.com/office/drawing/2014/chart" uri="{C3380CC4-5D6E-409C-BE32-E72D297353CC}">
              <c16:uniqueId val="{00000006-A4AC-4E43-8DF8-E06E96B9759E}"/>
            </c:ext>
          </c:extLst>
        </c:ser>
        <c:ser>
          <c:idx val="3"/>
          <c:order val="3"/>
          <c:tx>
            <c:strRef>
              <c:f>Sheet1!$E$1</c:f>
              <c:strCache>
                <c:ptCount val="1"/>
                <c:pt idx="0">
                  <c:v>组织</c:v>
                </c:pt>
              </c:strCache>
            </c:strRef>
          </c:tx>
          <c:dLbls>
            <c:dLbl>
              <c:idx val="0"/>
              <c:layout>
                <c:manualLayout>
                  <c:x val="-4.6685989138461698E-2"/>
                  <c:y val="-3.4294029058499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A4AC-4E43-8DF8-E06E96B9759E}"/>
                </c:ext>
              </c:extLst>
            </c:dLbl>
            <c:dLbl>
              <c:idx val="1"/>
              <c:layout>
                <c:manualLayout>
                  <c:x val="-5.96543194547011E-2"/>
                  <c:y val="-6.368891110864219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A4AC-4E43-8DF8-E06E96B9759E}"/>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Sheet1!$A$2:$A$3</c:f>
              <c:strCache>
                <c:ptCount val="2"/>
                <c:pt idx="0">
                  <c:v>产销平衡机制</c:v>
                </c:pt>
                <c:pt idx="1">
                  <c:v>生产计划</c:v>
                </c:pt>
              </c:strCache>
            </c:strRef>
          </c:cat>
          <c:val>
            <c:numRef>
              <c:f>Sheet1!$E$2:$E$3</c:f>
              <c:numCache>
                <c:formatCode>0.0_ </c:formatCode>
                <c:ptCount val="2"/>
                <c:pt idx="0">
                  <c:v>3.1142857142857099</c:v>
                </c:pt>
                <c:pt idx="1">
                  <c:v>3.1714285714285699</c:v>
                </c:pt>
              </c:numCache>
            </c:numRef>
          </c:val>
          <c:smooth val="1"/>
          <c:extLst>
            <c:ext xmlns:c16="http://schemas.microsoft.com/office/drawing/2014/chart" uri="{C3380CC4-5D6E-409C-BE32-E72D297353CC}">
              <c16:uniqueId val="{00000009-A4AC-4E43-8DF8-E06E96B9759E}"/>
            </c:ext>
          </c:extLst>
        </c:ser>
        <c:dLbls>
          <c:showLegendKey val="1"/>
          <c:showVal val="1"/>
          <c:showCatName val="1"/>
          <c:showSerName val="1"/>
          <c:showPercent val="1"/>
          <c:showBubbleSize val="1"/>
        </c:dLbls>
        <c:marker val="1"/>
        <c:smooth val="0"/>
        <c:axId val="134795264"/>
        <c:axId val="134796800"/>
      </c:lineChart>
      <c:catAx>
        <c:axId val="134795264"/>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134796800"/>
        <c:crosses val="autoZero"/>
        <c:auto val="1"/>
        <c:lblAlgn val="ctr"/>
        <c:lblOffset val="100"/>
        <c:noMultiLvlLbl val="0"/>
      </c:catAx>
      <c:valAx>
        <c:axId val="134796800"/>
        <c:scaling>
          <c:orientation val="minMax"/>
          <c:min val="1.5"/>
        </c:scaling>
        <c:delete val="0"/>
        <c:axPos val="l"/>
        <c:majorGridlines/>
        <c:numFmt formatCode="0.0_ " sourceLinked="1"/>
        <c:majorTickMark val="out"/>
        <c:minorTickMark val="none"/>
        <c:tickLblPos val="nextTo"/>
        <c:txPr>
          <a:bodyPr rot="-60000000" spcFirstLastPara="0" vertOverflow="ellipsis" vert="horz" wrap="square" anchor="ctr" anchorCtr="1"/>
          <a:lstStyle/>
          <a:p>
            <a:pPr algn="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134795264"/>
        <c:crosses val="autoZero"/>
        <c:crossBetween val="between"/>
        <c:majorUnit val="0.2"/>
      </c:valAx>
    </c:plotArea>
    <c:legend>
      <c:legendPos val="b"/>
      <c:layout>
        <c:manualLayout>
          <c:xMode val="edge"/>
          <c:yMode val="edge"/>
          <c:x val="0.20191746857186901"/>
          <c:y val="0.89619764470614305"/>
          <c:w val="0.58094658834948998"/>
          <c:h val="0.10380242838515"/>
        </c:manualLayout>
      </c:layout>
      <c:overlay val="0"/>
      <c:txPr>
        <a:bodyPr rot="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legend>
    <c:plotVisOnly val="1"/>
    <c:dispBlanksAs val="gap"/>
    <c:showDLblsOverMax val="0"/>
  </c:chart>
  <c:txPr>
    <a:bodyPr/>
    <a:lstStyle/>
    <a:p>
      <a:pPr algn="r">
        <a:defRPr lang="zh-CN" sz="1200" b="0" i="0">
          <a:latin typeface="微软雅黑" panose="020B0503020204020204" charset="-122"/>
          <a:cs typeface="微软雅黑" panose="020B0503020204020204" charset="-122"/>
        </a:defRPr>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8.9185272432856594E-2"/>
          <c:y val="6.5101086095890603E-2"/>
          <c:w val="0.87442103286459405"/>
          <c:h val="0.71163569274195904"/>
        </c:manualLayout>
      </c:layout>
      <c:lineChart>
        <c:grouping val="standard"/>
        <c:varyColors val="0"/>
        <c:ser>
          <c:idx val="0"/>
          <c:order val="0"/>
          <c:tx>
            <c:strRef>
              <c:f>Sheet1!$B$1</c:f>
              <c:strCache>
                <c:ptCount val="1"/>
                <c:pt idx="0">
                  <c:v>IT</c:v>
                </c:pt>
              </c:strCache>
            </c:strRef>
          </c:tx>
          <c:dLbls>
            <c:dLbl>
              <c:idx val="0"/>
              <c:layout>
                <c:manualLayout>
                  <c:x val="-4.4233257040501898E-2"/>
                  <c:y val="6.51010860958906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16BF-4BFE-BEDD-E5F8843FCA8E}"/>
                </c:ext>
              </c:extLst>
            </c:dLbl>
            <c:dLbl>
              <c:idx val="1"/>
              <c:layout>
                <c:manualLayout>
                  <c:x val="-6.9509403920788498E-2"/>
                  <c:y val="7.0108861949420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16BF-4BFE-BEDD-E5F8843FCA8E}"/>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Sheet1!$A$2:$A$3</c:f>
              <c:strCache>
                <c:ptCount val="2"/>
                <c:pt idx="0">
                  <c:v>生产执行</c:v>
                </c:pt>
                <c:pt idx="1">
                  <c:v>厂内物流</c:v>
                </c:pt>
              </c:strCache>
            </c:strRef>
          </c:cat>
          <c:val>
            <c:numRef>
              <c:f>Sheet1!$B$2:$B$3</c:f>
              <c:numCache>
                <c:formatCode>0.0_ </c:formatCode>
                <c:ptCount val="2"/>
                <c:pt idx="0">
                  <c:v>2.5142857142857098</c:v>
                </c:pt>
                <c:pt idx="1">
                  <c:v>2.71428571428571</c:v>
                </c:pt>
              </c:numCache>
            </c:numRef>
          </c:val>
          <c:smooth val="1"/>
          <c:extLst>
            <c:ext xmlns:c16="http://schemas.microsoft.com/office/drawing/2014/chart" uri="{C3380CC4-5D6E-409C-BE32-E72D297353CC}">
              <c16:uniqueId val="{00000002-16BF-4BFE-BEDD-E5F8843FCA8E}"/>
            </c:ext>
          </c:extLst>
        </c:ser>
        <c:ser>
          <c:idx val="1"/>
          <c:order val="1"/>
          <c:tx>
            <c:strRef>
              <c:f>Sheet1!$C$1</c:f>
              <c:strCache>
                <c:ptCount val="1"/>
                <c:pt idx="0">
                  <c:v>绩效</c:v>
                </c:pt>
              </c:strCache>
            </c:strRef>
          </c:tx>
          <c:dLbls>
            <c:dLbl>
              <c:idx val="0"/>
              <c:layout>
                <c:manualLayout>
                  <c:x val="-0.116902179321326"/>
                  <c:y val="1.001555170706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16BF-4BFE-BEDD-E5F8843FCA8E}"/>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Sheet1!$A$2:$A$3</c:f>
              <c:strCache>
                <c:ptCount val="2"/>
                <c:pt idx="0">
                  <c:v>生产执行</c:v>
                </c:pt>
                <c:pt idx="1">
                  <c:v>厂内物流</c:v>
                </c:pt>
              </c:strCache>
            </c:strRef>
          </c:cat>
          <c:val>
            <c:numRef>
              <c:f>Sheet1!$C$2:$C$3</c:f>
              <c:numCache>
                <c:formatCode>0.0_ </c:formatCode>
                <c:ptCount val="2"/>
                <c:pt idx="0">
                  <c:v>2.8</c:v>
                </c:pt>
                <c:pt idx="1">
                  <c:v>2.8857142857142901</c:v>
                </c:pt>
              </c:numCache>
            </c:numRef>
          </c:val>
          <c:smooth val="1"/>
          <c:extLst>
            <c:ext xmlns:c16="http://schemas.microsoft.com/office/drawing/2014/chart" uri="{C3380CC4-5D6E-409C-BE32-E72D297353CC}">
              <c16:uniqueId val="{00000004-16BF-4BFE-BEDD-E5F8843FCA8E}"/>
            </c:ext>
          </c:extLst>
        </c:ser>
        <c:ser>
          <c:idx val="2"/>
          <c:order val="2"/>
          <c:tx>
            <c:strRef>
              <c:f>Sheet1!$D$1</c:f>
              <c:strCache>
                <c:ptCount val="1"/>
                <c:pt idx="0">
                  <c:v>流程</c:v>
                </c:pt>
              </c:strCache>
            </c:strRef>
          </c:tx>
          <c:dLbls>
            <c:dLbl>
              <c:idx val="0"/>
              <c:layout>
                <c:manualLayout>
                  <c:x val="-8.2147477360931406E-2"/>
                  <c:y val="-2.00311034141205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16BF-4BFE-BEDD-E5F8843FCA8E}"/>
                </c:ext>
              </c:extLst>
            </c:dLbl>
            <c:dLbl>
              <c:idx val="1"/>
              <c:layout>
                <c:manualLayout>
                  <c:x val="0"/>
                  <c:y val="5.0077758535300304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16BF-4BFE-BEDD-E5F8843FCA8E}"/>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Sheet1!$A$2:$A$3</c:f>
              <c:strCache>
                <c:ptCount val="2"/>
                <c:pt idx="0">
                  <c:v>生产执行</c:v>
                </c:pt>
                <c:pt idx="1">
                  <c:v>厂内物流</c:v>
                </c:pt>
              </c:strCache>
            </c:strRef>
          </c:cat>
          <c:val>
            <c:numRef>
              <c:f>Sheet1!$D$2:$D$3</c:f>
              <c:numCache>
                <c:formatCode>0.0_ </c:formatCode>
                <c:ptCount val="2"/>
                <c:pt idx="0">
                  <c:v>3.2285714285714402</c:v>
                </c:pt>
                <c:pt idx="1">
                  <c:v>3.2285714285714402</c:v>
                </c:pt>
              </c:numCache>
            </c:numRef>
          </c:val>
          <c:smooth val="1"/>
          <c:extLst>
            <c:ext xmlns:c16="http://schemas.microsoft.com/office/drawing/2014/chart" uri="{C3380CC4-5D6E-409C-BE32-E72D297353CC}">
              <c16:uniqueId val="{00000007-16BF-4BFE-BEDD-E5F8843FCA8E}"/>
            </c:ext>
          </c:extLst>
        </c:ser>
        <c:ser>
          <c:idx val="3"/>
          <c:order val="3"/>
          <c:tx>
            <c:strRef>
              <c:f>Sheet1!$E$1</c:f>
              <c:strCache>
                <c:ptCount val="1"/>
                <c:pt idx="0">
                  <c:v>组织</c:v>
                </c:pt>
              </c:strCache>
            </c:strRef>
          </c:tx>
          <c:dLbls>
            <c:dLbl>
              <c:idx val="0"/>
              <c:layout>
                <c:manualLayout>
                  <c:x val="-0.116902179321326"/>
                  <c:y val="0"/>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16BF-4BFE-BEDD-E5F8843FCA8E}"/>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Sheet1!$A$2:$A$3</c:f>
              <c:strCache>
                <c:ptCount val="2"/>
                <c:pt idx="0">
                  <c:v>生产执行</c:v>
                </c:pt>
                <c:pt idx="1">
                  <c:v>厂内物流</c:v>
                </c:pt>
              </c:strCache>
            </c:strRef>
          </c:cat>
          <c:val>
            <c:numRef>
              <c:f>Sheet1!$E$2:$E$3</c:f>
              <c:numCache>
                <c:formatCode>0.0_ </c:formatCode>
                <c:ptCount val="2"/>
                <c:pt idx="0">
                  <c:v>3.1142857142857099</c:v>
                </c:pt>
                <c:pt idx="1">
                  <c:v>3.3428571428571399</c:v>
                </c:pt>
              </c:numCache>
            </c:numRef>
          </c:val>
          <c:smooth val="1"/>
          <c:extLst>
            <c:ext xmlns:c16="http://schemas.microsoft.com/office/drawing/2014/chart" uri="{C3380CC4-5D6E-409C-BE32-E72D297353CC}">
              <c16:uniqueId val="{00000009-16BF-4BFE-BEDD-E5F8843FCA8E}"/>
            </c:ext>
          </c:extLst>
        </c:ser>
        <c:dLbls>
          <c:showLegendKey val="1"/>
          <c:showVal val="1"/>
          <c:showCatName val="1"/>
          <c:showSerName val="1"/>
          <c:showPercent val="1"/>
          <c:showBubbleSize val="1"/>
        </c:dLbls>
        <c:marker val="1"/>
        <c:smooth val="0"/>
        <c:axId val="134855680"/>
        <c:axId val="134865664"/>
      </c:lineChart>
      <c:catAx>
        <c:axId val="13485568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134865664"/>
        <c:crosses val="autoZero"/>
        <c:auto val="1"/>
        <c:lblAlgn val="ctr"/>
        <c:lblOffset val="100"/>
        <c:noMultiLvlLbl val="0"/>
      </c:catAx>
      <c:valAx>
        <c:axId val="134865664"/>
        <c:scaling>
          <c:orientation val="minMax"/>
          <c:min val="1.5"/>
        </c:scaling>
        <c:delete val="0"/>
        <c:axPos val="l"/>
        <c:majorGridlines/>
        <c:numFmt formatCode="0.0_ "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134855680"/>
        <c:crosses val="autoZero"/>
        <c:crossBetween val="between"/>
        <c:majorUnit val="0.2"/>
      </c:valAx>
    </c:plotArea>
    <c:legend>
      <c:legendPos val="b"/>
      <c:layout>
        <c:manualLayout>
          <c:xMode val="edge"/>
          <c:yMode val="edge"/>
          <c:x val="0.20493137446809401"/>
          <c:y val="0.87642504739643301"/>
          <c:w val="0.55433548147419398"/>
          <c:h val="0.11199870980767"/>
        </c:manualLayout>
      </c:layout>
      <c:overlay val="0"/>
      <c:txPr>
        <a:bodyPr rot="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legend>
    <c:plotVisOnly val="1"/>
    <c:dispBlanksAs val="gap"/>
    <c:showDLblsOverMax val="0"/>
  </c:chart>
  <c:txPr>
    <a:bodyPr/>
    <a:lstStyle/>
    <a:p>
      <a:pPr>
        <a:defRPr lang="zh-CN" sz="1200" b="0" i="0">
          <a:latin typeface="微软雅黑" panose="020B0503020204020204" charset="-122"/>
          <a:cs typeface="微软雅黑" panose="020B0503020204020204" charset="-122"/>
        </a:defRPr>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lineChart>
        <c:grouping val="standard"/>
        <c:varyColors val="0"/>
        <c:ser>
          <c:idx val="0"/>
          <c:order val="0"/>
          <c:tx>
            <c:strRef>
              <c:f>Sheet1!$B$1</c:f>
              <c:strCache>
                <c:ptCount val="1"/>
                <c:pt idx="0">
                  <c:v>IT</c:v>
                </c:pt>
              </c:strCache>
            </c:strRef>
          </c:tx>
          <c:dLbls>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Sheet1!$A$2:$A$4</c:f>
              <c:strCache>
                <c:ptCount val="3"/>
                <c:pt idx="0">
                  <c:v>零部件计划</c:v>
                </c:pt>
                <c:pt idx="1">
                  <c:v>零部件采购</c:v>
                </c:pt>
                <c:pt idx="2">
                  <c:v>零部件交付</c:v>
                </c:pt>
              </c:strCache>
            </c:strRef>
          </c:cat>
          <c:val>
            <c:numRef>
              <c:f>Sheet1!$B$2:$B$4</c:f>
              <c:numCache>
                <c:formatCode>0.0_ </c:formatCode>
                <c:ptCount val="3"/>
                <c:pt idx="0">
                  <c:v>2.1428571428571401</c:v>
                </c:pt>
                <c:pt idx="1">
                  <c:v>2.05714285714286</c:v>
                </c:pt>
                <c:pt idx="2">
                  <c:v>2.1428571428571401</c:v>
                </c:pt>
              </c:numCache>
            </c:numRef>
          </c:val>
          <c:smooth val="1"/>
          <c:extLst>
            <c:ext xmlns:c16="http://schemas.microsoft.com/office/drawing/2014/chart" uri="{C3380CC4-5D6E-409C-BE32-E72D297353CC}">
              <c16:uniqueId val="{00000000-FB6E-4D63-ABDC-34635DA2BB2F}"/>
            </c:ext>
          </c:extLst>
        </c:ser>
        <c:ser>
          <c:idx val="1"/>
          <c:order val="1"/>
          <c:tx>
            <c:strRef>
              <c:f>Sheet1!$C$1</c:f>
              <c:strCache>
                <c:ptCount val="1"/>
                <c:pt idx="0">
                  <c:v>绩效</c:v>
                </c:pt>
              </c:strCache>
            </c:strRef>
          </c:tx>
          <c:dLbls>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Sheet1!$A$2:$A$4</c:f>
              <c:strCache>
                <c:ptCount val="3"/>
                <c:pt idx="0">
                  <c:v>零部件计划</c:v>
                </c:pt>
                <c:pt idx="1">
                  <c:v>零部件采购</c:v>
                </c:pt>
                <c:pt idx="2">
                  <c:v>零部件交付</c:v>
                </c:pt>
              </c:strCache>
            </c:strRef>
          </c:cat>
          <c:val>
            <c:numRef>
              <c:f>Sheet1!$C$2:$C$4</c:f>
              <c:numCache>
                <c:formatCode>0.0_ </c:formatCode>
                <c:ptCount val="3"/>
                <c:pt idx="0">
                  <c:v>2.5714285714285698</c:v>
                </c:pt>
                <c:pt idx="1">
                  <c:v>2.45714285714286</c:v>
                </c:pt>
                <c:pt idx="2">
                  <c:v>2.3142857142857101</c:v>
                </c:pt>
              </c:numCache>
            </c:numRef>
          </c:val>
          <c:smooth val="1"/>
          <c:extLst>
            <c:ext xmlns:c16="http://schemas.microsoft.com/office/drawing/2014/chart" uri="{C3380CC4-5D6E-409C-BE32-E72D297353CC}">
              <c16:uniqueId val="{00000001-FB6E-4D63-ABDC-34635DA2BB2F}"/>
            </c:ext>
          </c:extLst>
        </c:ser>
        <c:ser>
          <c:idx val="2"/>
          <c:order val="2"/>
          <c:tx>
            <c:strRef>
              <c:f>Sheet1!$D$1</c:f>
              <c:strCache>
                <c:ptCount val="1"/>
                <c:pt idx="0">
                  <c:v>流程</c:v>
                </c:pt>
              </c:strCache>
            </c:strRef>
          </c:tx>
          <c:dLbls>
            <c:dLbl>
              <c:idx val="0"/>
              <c:layout>
                <c:manualLayout>
                  <c:x val="-7.16500249972227E-2"/>
                  <c:y val="-6.03368631555558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FB6E-4D63-ABDC-34635DA2BB2F}"/>
                </c:ext>
              </c:extLst>
            </c:dLbl>
            <c:dLbl>
              <c:idx val="2"/>
              <c:layout>
                <c:manualLayout>
                  <c:x val="-3.0313472114209601E-2"/>
                  <c:y val="-5.5695565989743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FB6E-4D63-ABDC-34635DA2BB2F}"/>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Sheet1!$A$2:$A$4</c:f>
              <c:strCache>
                <c:ptCount val="3"/>
                <c:pt idx="0">
                  <c:v>零部件计划</c:v>
                </c:pt>
                <c:pt idx="1">
                  <c:v>零部件采购</c:v>
                </c:pt>
                <c:pt idx="2">
                  <c:v>零部件交付</c:v>
                </c:pt>
              </c:strCache>
            </c:strRef>
          </c:cat>
          <c:val>
            <c:numRef>
              <c:f>Sheet1!$D$2:$D$4</c:f>
              <c:numCache>
                <c:formatCode>0.0_ </c:formatCode>
                <c:ptCount val="3"/>
                <c:pt idx="0">
                  <c:v>2.9714285714285702</c:v>
                </c:pt>
                <c:pt idx="1">
                  <c:v>2.9714285714285702</c:v>
                </c:pt>
                <c:pt idx="2">
                  <c:v>2.6571428571428601</c:v>
                </c:pt>
              </c:numCache>
            </c:numRef>
          </c:val>
          <c:smooth val="1"/>
          <c:extLst>
            <c:ext xmlns:c16="http://schemas.microsoft.com/office/drawing/2014/chart" uri="{C3380CC4-5D6E-409C-BE32-E72D297353CC}">
              <c16:uniqueId val="{00000004-FB6E-4D63-ABDC-34635DA2BB2F}"/>
            </c:ext>
          </c:extLst>
        </c:ser>
        <c:ser>
          <c:idx val="3"/>
          <c:order val="3"/>
          <c:tx>
            <c:strRef>
              <c:f>Sheet1!$E$1</c:f>
              <c:strCache>
                <c:ptCount val="1"/>
                <c:pt idx="0">
                  <c:v>组织</c:v>
                </c:pt>
              </c:strCache>
            </c:strRef>
          </c:tx>
          <c:dLbls>
            <c:dLbl>
              <c:idx val="0"/>
              <c:layout>
                <c:manualLayout>
                  <c:x val="-7.16500249972227E-2"/>
                  <c:y val="3.24890801606839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FB6E-4D63-ABDC-34635DA2BB2F}"/>
                </c:ext>
              </c:extLst>
            </c:dLbl>
            <c:dLbl>
              <c:idx val="2"/>
              <c:layout>
                <c:manualLayout>
                  <c:x val="-1.01043739781462E-16"/>
                  <c:y val="2.78477829948719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FB6E-4D63-ABDC-34635DA2BB2F}"/>
                </c:ext>
              </c:extLst>
            </c:dLbl>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微软雅黑" panose="020B0503020204020204" charset="-122"/>
                    <a:ea typeface="+mn-ea"/>
                    <a:cs typeface="微软雅黑" panose="020B0503020204020204" charset="-122"/>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Sheet1!$A$2:$A$4</c:f>
              <c:strCache>
                <c:ptCount val="3"/>
                <c:pt idx="0">
                  <c:v>零部件计划</c:v>
                </c:pt>
                <c:pt idx="1">
                  <c:v>零部件采购</c:v>
                </c:pt>
                <c:pt idx="2">
                  <c:v>零部件交付</c:v>
                </c:pt>
              </c:strCache>
            </c:strRef>
          </c:cat>
          <c:val>
            <c:numRef>
              <c:f>Sheet1!$E$2:$E$4</c:f>
              <c:numCache>
                <c:formatCode>0.0_ </c:formatCode>
                <c:ptCount val="3"/>
                <c:pt idx="0">
                  <c:v>2.94285714285714</c:v>
                </c:pt>
                <c:pt idx="1">
                  <c:v>2.8285714285714398</c:v>
                </c:pt>
                <c:pt idx="2">
                  <c:v>2.6857142857142802</c:v>
                </c:pt>
              </c:numCache>
            </c:numRef>
          </c:val>
          <c:smooth val="1"/>
          <c:extLst>
            <c:ext xmlns:c16="http://schemas.microsoft.com/office/drawing/2014/chart" uri="{C3380CC4-5D6E-409C-BE32-E72D297353CC}">
              <c16:uniqueId val="{00000007-FB6E-4D63-ABDC-34635DA2BB2F}"/>
            </c:ext>
          </c:extLst>
        </c:ser>
        <c:dLbls>
          <c:showLegendKey val="1"/>
          <c:showVal val="1"/>
          <c:showCatName val="1"/>
          <c:showSerName val="1"/>
          <c:showPercent val="1"/>
          <c:showBubbleSize val="1"/>
        </c:dLbls>
        <c:marker val="1"/>
        <c:smooth val="0"/>
        <c:axId val="135060096"/>
        <c:axId val="135074176"/>
      </c:lineChart>
      <c:catAx>
        <c:axId val="13506009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135074176"/>
        <c:crosses val="autoZero"/>
        <c:auto val="1"/>
        <c:lblAlgn val="ctr"/>
        <c:lblOffset val="100"/>
        <c:noMultiLvlLbl val="0"/>
      </c:catAx>
      <c:valAx>
        <c:axId val="135074176"/>
        <c:scaling>
          <c:orientation val="minMax"/>
          <c:max val="3.5"/>
          <c:min val="1.5"/>
        </c:scaling>
        <c:delete val="0"/>
        <c:axPos val="l"/>
        <c:majorGridlines/>
        <c:numFmt formatCode="0.0_ "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crossAx val="135060096"/>
        <c:crosses val="autoZero"/>
        <c:crossBetween val="between"/>
        <c:majorUnit val="0.2"/>
      </c:valAx>
    </c:plotArea>
    <c:legend>
      <c:legendPos val="b"/>
      <c:layout>
        <c:manualLayout>
          <c:xMode val="edge"/>
          <c:yMode val="edge"/>
          <c:x val="0.175158893236285"/>
          <c:y val="0.89619764470614305"/>
          <c:w val="0.62594936769478304"/>
          <c:h val="0.10380242838515"/>
        </c:manualLayout>
      </c:layout>
      <c:overlay val="0"/>
      <c:txPr>
        <a:bodyPr rot="0" spcFirstLastPara="0" vertOverflow="ellipsis" vert="horz" wrap="square" anchor="ctr" anchorCtr="1"/>
        <a:lstStyle/>
        <a:p>
          <a:pPr>
            <a:defRPr lang="en-US" sz="1100" b="0" i="0" u="none" strike="noStrike" kern="1200" baseline="0">
              <a:solidFill>
                <a:schemeClr val="tx1"/>
              </a:solidFill>
              <a:latin typeface="微软雅黑" panose="020B0503020204020204" charset="-122"/>
              <a:ea typeface="+mn-ea"/>
              <a:cs typeface="微软雅黑" panose="020B0503020204020204" charset="-122"/>
            </a:defRPr>
          </a:pPr>
          <a:endParaRPr lang="zh-CN"/>
        </a:p>
      </c:txPr>
    </c:legend>
    <c:plotVisOnly val="1"/>
    <c:dispBlanksAs val="gap"/>
    <c:showDLblsOverMax val="0"/>
  </c:chart>
  <c:txPr>
    <a:bodyPr/>
    <a:lstStyle/>
    <a:p>
      <a:pPr>
        <a:defRPr lang="zh-CN" sz="1200" b="0" i="0">
          <a:latin typeface="微软雅黑" panose="020B0503020204020204" charset="-122"/>
          <a:cs typeface="微软雅黑" panose="020B0503020204020204" charset="-122"/>
        </a:defRPr>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0082583416657397E-2"/>
          <c:y val="9.4758528122199398E-2"/>
          <c:w val="0.87776696898176199"/>
          <c:h val="0.651061057815285"/>
        </c:manualLayout>
      </c:layout>
      <c:lineChart>
        <c:grouping val="standard"/>
        <c:varyColors val="0"/>
        <c:ser>
          <c:idx val="0"/>
          <c:order val="0"/>
          <c:tx>
            <c:strRef>
              <c:f>Sheet6!$A$2</c:f>
              <c:strCache>
                <c:ptCount val="1"/>
                <c:pt idx="0">
                  <c:v>小</c:v>
                </c:pt>
              </c:strCache>
            </c:strRef>
          </c:tx>
          <c:marker>
            <c:symbol val="none"/>
          </c:marker>
          <c:dLbls>
            <c:dLbl>
              <c:idx val="2"/>
              <c:layout>
                <c:manualLayout>
                  <c:x val="-3.3240997229917101E-2"/>
                  <c:y val="-3.6641212564474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086B-45B0-A74B-5192F9AD632A}"/>
                </c:ext>
              </c:extLst>
            </c:dLbl>
            <c:dLbl>
              <c:idx val="4"/>
              <c:layout>
                <c:manualLayout>
                  <c:x val="-5.8171745152354203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086B-45B0-A74B-5192F9AD632A}"/>
                </c:ext>
              </c:extLst>
            </c:dLbl>
            <c:dLbl>
              <c:idx val="5"/>
              <c:layout>
                <c:manualLayout>
                  <c:x val="-4.4321329639889197E-2"/>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086B-45B0-A74B-5192F9AD632A}"/>
                </c:ext>
              </c:extLst>
            </c:dLbl>
            <c:dLbl>
              <c:idx val="6"/>
              <c:layout>
                <c:manualLayout>
                  <c:x val="-2.2160664819944598E-2"/>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086B-45B0-A74B-5192F9AD632A}"/>
                </c:ext>
              </c:extLst>
            </c:dLbl>
            <c:dLbl>
              <c:idx val="7"/>
              <c:layout>
                <c:manualLayout>
                  <c:x val="-3.8781163434903197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086B-45B0-A74B-5192F9AD632A}"/>
                </c:ext>
              </c:extLst>
            </c:dLbl>
            <c:dLbl>
              <c:idx val="8"/>
              <c:layout>
                <c:manualLayout>
                  <c:x val="-1.9390581717451699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086B-45B0-A74B-5192F9AD632A}"/>
                </c:ext>
              </c:extLst>
            </c:dLbl>
            <c:dLbl>
              <c:idx val="9"/>
              <c:layout>
                <c:manualLayout>
                  <c:x val="-3.0470914127424299E-2"/>
                  <c:y val="1.37404547116777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086B-45B0-A74B-5192F9AD632A}"/>
                </c:ext>
              </c:extLst>
            </c:dLbl>
            <c:dLbl>
              <c:idx val="10"/>
              <c:layout>
                <c:manualLayout>
                  <c:x val="-4.1551246537396003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086B-45B0-A74B-5192F9AD632A}"/>
                </c:ext>
              </c:extLst>
            </c:dLbl>
            <c:dLbl>
              <c:idx val="11"/>
              <c:layout>
                <c:manualLayout>
                  <c:x val="-2.2160664819944501E-2"/>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086B-45B0-A74B-5192F9AD632A}"/>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accent1">
                        <a:lumMod val="50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Sheet6!$B$2:$M$2</c:f>
              <c:numCache>
                <c:formatCode>0.00</c:formatCode>
                <c:ptCount val="12"/>
                <c:pt idx="0">
                  <c:v>8.5</c:v>
                </c:pt>
                <c:pt idx="1">
                  <c:v>14</c:v>
                </c:pt>
                <c:pt idx="2">
                  <c:v>9</c:v>
                </c:pt>
                <c:pt idx="3">
                  <c:v>9.5</c:v>
                </c:pt>
                <c:pt idx="4">
                  <c:v>2.5</c:v>
                </c:pt>
                <c:pt idx="5">
                  <c:v>9</c:v>
                </c:pt>
                <c:pt idx="6">
                  <c:v>9.5</c:v>
                </c:pt>
                <c:pt idx="7">
                  <c:v>4</c:v>
                </c:pt>
                <c:pt idx="8">
                  <c:v>7.5</c:v>
                </c:pt>
                <c:pt idx="9">
                  <c:v>2.5</c:v>
                </c:pt>
                <c:pt idx="10">
                  <c:v>4</c:v>
                </c:pt>
                <c:pt idx="11">
                  <c:v>3.5</c:v>
                </c:pt>
              </c:numCache>
            </c:numRef>
          </c:val>
          <c:smooth val="1"/>
          <c:extLst>
            <c:ext xmlns:c16="http://schemas.microsoft.com/office/drawing/2014/chart" uri="{C3380CC4-5D6E-409C-BE32-E72D297353CC}">
              <c16:uniqueId val="{00000009-086B-45B0-A74B-5192F9AD632A}"/>
            </c:ext>
          </c:extLst>
        </c:ser>
        <c:ser>
          <c:idx val="1"/>
          <c:order val="1"/>
          <c:tx>
            <c:strRef>
              <c:f>Sheet6!$A$3</c:f>
              <c:strCache>
                <c:ptCount val="1"/>
                <c:pt idx="0">
                  <c:v>中</c:v>
                </c:pt>
              </c:strCache>
            </c:strRef>
          </c:tx>
          <c:marker>
            <c:symbol val="none"/>
          </c:marker>
          <c:dLbls>
            <c:dLbl>
              <c:idx val="0"/>
              <c:layout>
                <c:manualLayout>
                  <c:x val="-3.0470914127424201E-2"/>
                  <c:y val="6.4122121987829406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086B-45B0-A74B-5192F9AD632A}"/>
                </c:ext>
              </c:extLst>
            </c:dLbl>
            <c:dLbl>
              <c:idx val="1"/>
              <c:layout>
                <c:manualLayout>
                  <c:x val="-7.7562326869806797E-2"/>
                  <c:y val="-7.7862576699507094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086B-45B0-A74B-5192F9AD632A}"/>
                </c:ext>
              </c:extLst>
            </c:dLbl>
            <c:dLbl>
              <c:idx val="2"/>
              <c:layout>
                <c:manualLayout>
                  <c:x val="-2.7700831024930799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086B-45B0-A74B-5192F9AD632A}"/>
                </c:ext>
              </c:extLst>
            </c:dLbl>
            <c:dLbl>
              <c:idx val="3"/>
              <c:layout>
                <c:manualLayout>
                  <c:x val="-4.15512465373961E-2"/>
                  <c:y val="-3.20610609939147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D-086B-45B0-A74B-5192F9AD632A}"/>
                </c:ext>
              </c:extLst>
            </c:dLbl>
            <c:dLbl>
              <c:idx val="4"/>
              <c:layout>
                <c:manualLayout>
                  <c:x val="-3.6011080332410003E-2"/>
                  <c:y val="-4.5801515705592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E-086B-45B0-A74B-5192F9AD632A}"/>
                </c:ext>
              </c:extLst>
            </c:dLbl>
            <c:dLbl>
              <c:idx val="5"/>
              <c:layout>
                <c:manualLayout>
                  <c:x val="-3.3240997229917101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F-086B-45B0-A74B-5192F9AD632A}"/>
                </c:ext>
              </c:extLst>
            </c:dLbl>
            <c:dLbl>
              <c:idx val="7"/>
              <c:layout>
                <c:manualLayout>
                  <c:x val="2.77008310249309E-3"/>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0-086B-45B0-A74B-5192F9AD632A}"/>
                </c:ext>
              </c:extLst>
            </c:dLbl>
            <c:dLbl>
              <c:idx val="8"/>
              <c:layout>
                <c:manualLayout>
                  <c:x val="8.3102493074793202E-3"/>
                  <c:y val="-4.12213641350328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1-086B-45B0-A74B-5192F9AD632A}"/>
                </c:ext>
              </c:extLst>
            </c:dLbl>
            <c:dLbl>
              <c:idx val="9"/>
              <c:layout>
                <c:manualLayout>
                  <c:x val="-2.77008310249309E-2"/>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2-086B-45B0-A74B-5192F9AD632A}"/>
                </c:ext>
              </c:extLst>
            </c:dLbl>
            <c:dLbl>
              <c:idx val="10"/>
              <c:layout>
                <c:manualLayout>
                  <c:x val="1.3850415512465601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3-086B-45B0-A74B-5192F9AD632A}"/>
                </c:ext>
              </c:extLst>
            </c:dLbl>
            <c:dLbl>
              <c:idx val="11"/>
              <c:layout>
                <c:manualLayout>
                  <c:x val="1.93905817174518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4-086B-45B0-A74B-5192F9AD632A}"/>
                </c:ext>
              </c:extLst>
            </c:dLbl>
            <c:spPr>
              <a:noFill/>
              <a:ln>
                <a:noFill/>
              </a:ln>
              <a:effectLst/>
            </c:spPr>
            <c:txPr>
              <a:bodyPr rot="0" spcFirstLastPara="0" vertOverflow="ellipsis" vert="horz" wrap="square" lIns="38100" tIns="19050" rIns="38100" bIns="19050" anchor="ctr" anchorCtr="1"/>
              <a:lstStyle/>
              <a:p>
                <a:pPr>
                  <a:defRPr lang="zh-CN" sz="900" b="1" i="0" u="none" strike="noStrike" kern="1200" baseline="0">
                    <a:solidFill>
                      <a:schemeClr val="accent2">
                        <a:lumMod val="75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Sheet6!$B$3:$M$3</c:f>
              <c:numCache>
                <c:formatCode>0.00</c:formatCode>
                <c:ptCount val="12"/>
                <c:pt idx="0">
                  <c:v>8.3333333333333393</c:v>
                </c:pt>
                <c:pt idx="1">
                  <c:v>10.3333333333333</c:v>
                </c:pt>
                <c:pt idx="2">
                  <c:v>5</c:v>
                </c:pt>
                <c:pt idx="3">
                  <c:v>14.3333333333333</c:v>
                </c:pt>
                <c:pt idx="4">
                  <c:v>10.3333333333333</c:v>
                </c:pt>
                <c:pt idx="5">
                  <c:v>13.3333333333333</c:v>
                </c:pt>
                <c:pt idx="6">
                  <c:v>12</c:v>
                </c:pt>
                <c:pt idx="7">
                  <c:v>10</c:v>
                </c:pt>
                <c:pt idx="8">
                  <c:v>8</c:v>
                </c:pt>
                <c:pt idx="9">
                  <c:v>5</c:v>
                </c:pt>
                <c:pt idx="10">
                  <c:v>6.6666666666666696</c:v>
                </c:pt>
                <c:pt idx="11">
                  <c:v>6.6666666666666696</c:v>
                </c:pt>
              </c:numCache>
            </c:numRef>
          </c:val>
          <c:smooth val="1"/>
          <c:extLst>
            <c:ext xmlns:c16="http://schemas.microsoft.com/office/drawing/2014/chart" uri="{C3380CC4-5D6E-409C-BE32-E72D297353CC}">
              <c16:uniqueId val="{00000015-086B-45B0-A74B-5192F9AD632A}"/>
            </c:ext>
          </c:extLst>
        </c:ser>
        <c:ser>
          <c:idx val="2"/>
          <c:order val="2"/>
          <c:tx>
            <c:strRef>
              <c:f>Sheet6!$A$4</c:f>
              <c:strCache>
                <c:ptCount val="1"/>
                <c:pt idx="0">
                  <c:v>大</c:v>
                </c:pt>
              </c:strCache>
            </c:strRef>
          </c:tx>
          <c:marker>
            <c:symbol val="none"/>
          </c:marker>
          <c:dLbls>
            <c:dLbl>
              <c:idx val="0"/>
              <c:layout>
                <c:manualLayout>
                  <c:x val="-4.7091412742382398E-2"/>
                  <c:y val="-5.0381667276151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6-086B-45B0-A74B-5192F9AD632A}"/>
                </c:ext>
              </c:extLst>
            </c:dLbl>
            <c:dLbl>
              <c:idx val="1"/>
              <c:layout>
                <c:manualLayout>
                  <c:x val="8.3102493074793202E-3"/>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7-086B-45B0-A74B-5192F9AD632A}"/>
                </c:ext>
              </c:extLst>
            </c:dLbl>
            <c:dLbl>
              <c:idx val="3"/>
              <c:layout>
                <c:manualLayout>
                  <c:x val="-8.3102493074791693E-3"/>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8-086B-45B0-A74B-5192F9AD632A}"/>
                </c:ext>
              </c:extLst>
            </c:dLbl>
            <c:dLbl>
              <c:idx val="8"/>
              <c:layout>
                <c:manualLayout>
                  <c:x val="-2.2160664819944598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9-086B-45B0-A74B-5192F9AD632A}"/>
                </c:ext>
              </c:extLst>
            </c:dLbl>
            <c:dLbl>
              <c:idx val="9"/>
              <c:layout>
                <c:manualLayout>
                  <c:x val="1.38504155124654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A-086B-45B0-A74B-5192F9AD632A}"/>
                </c:ext>
              </c:extLst>
            </c:dLbl>
            <c:dLbl>
              <c:idx val="11"/>
              <c:layout>
                <c:manualLayout>
                  <c:x val="-2.2160664819944501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B-086B-45B0-A74B-5192F9AD632A}"/>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accent3">
                        <a:lumMod val="75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Sheet6!$B$4:$M$4</c:f>
              <c:numCache>
                <c:formatCode>0.00</c:formatCode>
                <c:ptCount val="12"/>
                <c:pt idx="0">
                  <c:v>8.5</c:v>
                </c:pt>
                <c:pt idx="1">
                  <c:v>12</c:v>
                </c:pt>
                <c:pt idx="2">
                  <c:v>5.5</c:v>
                </c:pt>
                <c:pt idx="3">
                  <c:v>12.5</c:v>
                </c:pt>
                <c:pt idx="4">
                  <c:v>3</c:v>
                </c:pt>
                <c:pt idx="5">
                  <c:v>2</c:v>
                </c:pt>
                <c:pt idx="6">
                  <c:v>13.5</c:v>
                </c:pt>
                <c:pt idx="7">
                  <c:v>10</c:v>
                </c:pt>
                <c:pt idx="8">
                  <c:v>3.5</c:v>
                </c:pt>
                <c:pt idx="9">
                  <c:v>6.5</c:v>
                </c:pt>
                <c:pt idx="10">
                  <c:v>3</c:v>
                </c:pt>
                <c:pt idx="11">
                  <c:v>7</c:v>
                </c:pt>
              </c:numCache>
            </c:numRef>
          </c:val>
          <c:smooth val="1"/>
          <c:extLst>
            <c:ext xmlns:c16="http://schemas.microsoft.com/office/drawing/2014/chart" uri="{C3380CC4-5D6E-409C-BE32-E72D297353CC}">
              <c16:uniqueId val="{0000001C-086B-45B0-A74B-5192F9AD632A}"/>
            </c:ext>
          </c:extLst>
        </c:ser>
        <c:dLbls>
          <c:showLegendKey val="1"/>
          <c:showVal val="1"/>
          <c:showCatName val="1"/>
          <c:showSerName val="1"/>
          <c:showPercent val="1"/>
          <c:showBubbleSize val="1"/>
        </c:dLbls>
        <c:smooth val="0"/>
        <c:axId val="67004288"/>
        <c:axId val="67005824"/>
      </c:lineChart>
      <c:catAx>
        <c:axId val="6700428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forceAA="0"/>
          <a:lstStyle/>
          <a:p>
            <a:pPr>
              <a:defRPr lang="zh-CN" sz="1000" b="0" i="0" u="none" strike="noStrike" kern="1200" baseline="0">
                <a:solidFill>
                  <a:schemeClr val="tx1"/>
                </a:solidFill>
                <a:latin typeface="+mn-lt"/>
                <a:ea typeface="+mn-ea"/>
                <a:cs typeface="+mn-cs"/>
              </a:defRPr>
            </a:pPr>
            <a:endParaRPr lang="zh-CN"/>
          </a:p>
        </c:txPr>
        <c:crossAx val="67005824"/>
        <c:crosses val="autoZero"/>
        <c:auto val="1"/>
        <c:lblAlgn val="ctr"/>
        <c:lblOffset val="100"/>
        <c:noMultiLvlLbl val="1"/>
      </c:catAx>
      <c:valAx>
        <c:axId val="67005824"/>
        <c:scaling>
          <c:orientation val="minMax"/>
        </c:scaling>
        <c:delete val="0"/>
        <c:axPos val="l"/>
        <c:numFmt formatCode="0.00"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67004288"/>
        <c:crosses val="autoZero"/>
        <c:crossBetween val="between"/>
        <c:majorUnit val="5"/>
      </c:valAx>
      <c:spPr>
        <a:noFill/>
      </c:spPr>
    </c:plotArea>
    <c:legend>
      <c:legendPos val="r"/>
      <c:layout>
        <c:manualLayout>
          <c:xMode val="edge"/>
          <c:yMode val="edge"/>
          <c:x val="0.227597678848692"/>
          <c:y val="0.81192076849342398"/>
          <c:w val="0.55277777777777803"/>
          <c:h val="8.4484908136483905E-2"/>
        </c:manualLayout>
      </c:layout>
      <c:overlay val="0"/>
      <c:txPr>
        <a:bodyPr rot="0" spcFirstLastPara="0" vertOverflow="ellipsis" vert="horz" wrap="square" anchor="ctr" anchorCtr="1"/>
        <a:lstStyle/>
        <a:p>
          <a:pPr>
            <a:defRPr lang="zh-CN" sz="11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spPr>
    <a:noFill/>
    <a:ln>
      <a:noFill/>
    </a:ln>
  </c:spPr>
  <c:txPr>
    <a:bodyPr/>
    <a:lstStyle/>
    <a:p>
      <a:pPr>
        <a:defRPr lang="zh-CN"/>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53975" cap="rnd" cmpd="sng" algn="ctr">
              <a:solidFill>
                <a:schemeClr val="bg1">
                  <a:lumMod val="50000"/>
                </a:schemeClr>
              </a:solidFill>
              <a:prstDash val="sysDot"/>
              <a:round/>
            </a:ln>
          </c:spPr>
          <c:marker>
            <c:symbol val="none"/>
          </c:marker>
          <c:cat>
            <c:strRef>
              <c:f>Sheet1!$B$1:$M$1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Sheet1!$B$2:$M$2</c:f>
              <c:numCache>
                <c:formatCode>0_);[Red]\(0\)</c:formatCode>
                <c:ptCount val="12"/>
                <c:pt idx="0">
                  <c:v>114</c:v>
                </c:pt>
                <c:pt idx="1">
                  <c:v>121</c:v>
                </c:pt>
                <c:pt idx="2">
                  <c:v>119</c:v>
                </c:pt>
                <c:pt idx="3">
                  <c:v>177</c:v>
                </c:pt>
                <c:pt idx="4">
                  <c:v>214</c:v>
                </c:pt>
                <c:pt idx="5">
                  <c:v>133</c:v>
                </c:pt>
                <c:pt idx="6">
                  <c:v>206</c:v>
                </c:pt>
                <c:pt idx="7">
                  <c:v>204</c:v>
                </c:pt>
                <c:pt idx="8">
                  <c:v>135</c:v>
                </c:pt>
                <c:pt idx="9">
                  <c:v>92</c:v>
                </c:pt>
                <c:pt idx="10">
                  <c:v>130</c:v>
                </c:pt>
                <c:pt idx="11">
                  <c:v>157</c:v>
                </c:pt>
              </c:numCache>
            </c:numRef>
          </c:val>
          <c:smooth val="1"/>
          <c:extLst>
            <c:ext xmlns:c16="http://schemas.microsoft.com/office/drawing/2014/chart" uri="{C3380CC4-5D6E-409C-BE32-E72D297353CC}">
              <c16:uniqueId val="{00000000-CB71-4E41-9B88-7AEE55C1C436}"/>
            </c:ext>
          </c:extLst>
        </c:ser>
        <c:dLbls>
          <c:showLegendKey val="0"/>
          <c:showVal val="0"/>
          <c:showCatName val="0"/>
          <c:showSerName val="0"/>
          <c:showPercent val="0"/>
          <c:showBubbleSize val="0"/>
        </c:dLbls>
        <c:smooth val="0"/>
        <c:axId val="67069440"/>
        <c:axId val="67070976"/>
      </c:lineChart>
      <c:catAx>
        <c:axId val="67069440"/>
        <c:scaling>
          <c:orientation val="minMax"/>
        </c:scaling>
        <c:delete val="1"/>
        <c:axPos val="b"/>
        <c:numFmt formatCode="General" sourceLinked="0"/>
        <c:majorTickMark val="out"/>
        <c:minorTickMark val="none"/>
        <c:tickLblPos val="nextTo"/>
        <c:crossAx val="67070976"/>
        <c:crosses val="autoZero"/>
        <c:auto val="1"/>
        <c:lblAlgn val="ctr"/>
        <c:lblOffset val="100"/>
        <c:noMultiLvlLbl val="0"/>
      </c:catAx>
      <c:valAx>
        <c:axId val="67070976"/>
        <c:scaling>
          <c:orientation val="minMax"/>
        </c:scaling>
        <c:delete val="1"/>
        <c:axPos val="l"/>
        <c:numFmt formatCode="0_);[Red]\(0\)" sourceLinked="1"/>
        <c:majorTickMark val="out"/>
        <c:minorTickMark val="none"/>
        <c:tickLblPos val="nextTo"/>
        <c:crossAx val="67069440"/>
        <c:crosses val="autoZero"/>
        <c:crossBetween val="between"/>
      </c:valAx>
      <c:spPr>
        <a:noFill/>
      </c:spPr>
    </c:plotArea>
    <c:plotVisOnly val="1"/>
    <c:dispBlanksAs val="gap"/>
    <c:showDLblsOverMax val="0"/>
  </c:chart>
  <c:spPr>
    <a:noFill/>
    <a:ln>
      <a:noFill/>
    </a:ln>
  </c:spPr>
  <c:txPr>
    <a:bodyPr/>
    <a:lstStyle/>
    <a:p>
      <a:pPr>
        <a:defRPr lang="zh-CN"/>
      </a:pPr>
      <a:endParaRPr lang="zh-CN"/>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864821630207107E-2"/>
          <c:y val="0.14261093496734101"/>
          <c:w val="0.81312489871718097"/>
          <c:h val="0.68608260050877901"/>
        </c:manualLayout>
      </c:layout>
      <c:lineChart>
        <c:grouping val="standard"/>
        <c:varyColors val="0"/>
        <c:ser>
          <c:idx val="0"/>
          <c:order val="0"/>
          <c:tx>
            <c:strRef>
              <c:f>Sheet6!$A$2</c:f>
              <c:strCache>
                <c:ptCount val="1"/>
                <c:pt idx="0">
                  <c:v>小</c:v>
                </c:pt>
              </c:strCache>
            </c:strRef>
          </c:tx>
          <c:marker>
            <c:symbol val="none"/>
          </c:marker>
          <c:dLbls>
            <c:dLbl>
              <c:idx val="2"/>
              <c:layout>
                <c:manualLayout>
                  <c:x val="-3.3240997229917101E-2"/>
                  <c:y val="-3.6641212564474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F4A3-4C8B-A6DA-B084FD02E56C}"/>
                </c:ext>
              </c:extLst>
            </c:dLbl>
            <c:dLbl>
              <c:idx val="4"/>
              <c:layout>
                <c:manualLayout>
                  <c:x val="-5.8171745152354203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F4A3-4C8B-A6DA-B084FD02E56C}"/>
                </c:ext>
              </c:extLst>
            </c:dLbl>
            <c:dLbl>
              <c:idx val="5"/>
              <c:layout>
                <c:manualLayout>
                  <c:x val="-4.4321329639889197E-2"/>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F4A3-4C8B-A6DA-B084FD02E56C}"/>
                </c:ext>
              </c:extLst>
            </c:dLbl>
            <c:dLbl>
              <c:idx val="6"/>
              <c:layout>
                <c:manualLayout>
                  <c:x val="-2.2160664819944598E-2"/>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F4A3-4C8B-A6DA-B084FD02E56C}"/>
                </c:ext>
              </c:extLst>
            </c:dLbl>
            <c:dLbl>
              <c:idx val="7"/>
              <c:layout>
                <c:manualLayout>
                  <c:x val="-3.87811634349031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F4A3-4C8B-A6DA-B084FD02E56C}"/>
                </c:ext>
              </c:extLst>
            </c:dLbl>
            <c:dLbl>
              <c:idx val="8"/>
              <c:layout>
                <c:manualLayout>
                  <c:x val="-1.9390581717451699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F4A3-4C8B-A6DA-B084FD02E56C}"/>
                </c:ext>
              </c:extLst>
            </c:dLbl>
            <c:dLbl>
              <c:idx val="9"/>
              <c:layout>
                <c:manualLayout>
                  <c:x val="-3.0470914127424299E-2"/>
                  <c:y val="1.37404547116777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F4A3-4C8B-A6DA-B084FD02E56C}"/>
                </c:ext>
              </c:extLst>
            </c:dLbl>
            <c:dLbl>
              <c:idx val="10"/>
              <c:layout>
                <c:manualLayout>
                  <c:x val="-4.1551246537396003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F4A3-4C8B-A6DA-B084FD02E56C}"/>
                </c:ext>
              </c:extLst>
            </c:dLbl>
            <c:dLbl>
              <c:idx val="11"/>
              <c:layout>
                <c:manualLayout>
                  <c:x val="-2.2160664819944501E-2"/>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F4A3-4C8B-A6DA-B084FD02E56C}"/>
                </c:ext>
              </c:extLst>
            </c:dLbl>
            <c:spPr>
              <a:noFill/>
              <a:ln>
                <a:noFill/>
              </a:ln>
              <a:effectLst/>
            </c:spPr>
            <c:txPr>
              <a:bodyPr rot="0" spcFirstLastPara="0" vertOverflow="ellipsis" vert="horz" wrap="square" lIns="38100" tIns="19050" rIns="38100" bIns="19050" anchor="ctr" anchorCtr="1"/>
              <a:lstStyle/>
              <a:p>
                <a:pPr>
                  <a:defRPr lang="zh-CN" sz="800" b="1" i="0" u="none" strike="noStrike" kern="1200" baseline="0">
                    <a:solidFill>
                      <a:schemeClr val="accent1">
                        <a:lumMod val="50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Sheet6!$B$2:$M$2</c:f>
              <c:numCache>
                <c:formatCode>0.00</c:formatCode>
                <c:ptCount val="12"/>
                <c:pt idx="0">
                  <c:v>20</c:v>
                </c:pt>
                <c:pt idx="1">
                  <c:v>11</c:v>
                </c:pt>
                <c:pt idx="2">
                  <c:v>23</c:v>
                </c:pt>
                <c:pt idx="3">
                  <c:v>12.5</c:v>
                </c:pt>
                <c:pt idx="4">
                  <c:v>15</c:v>
                </c:pt>
                <c:pt idx="5">
                  <c:v>12.3333333333333</c:v>
                </c:pt>
                <c:pt idx="6">
                  <c:v>15.3333333333333</c:v>
                </c:pt>
                <c:pt idx="7">
                  <c:v>16.5</c:v>
                </c:pt>
                <c:pt idx="8">
                  <c:v>10</c:v>
                </c:pt>
                <c:pt idx="9">
                  <c:v>18</c:v>
                </c:pt>
                <c:pt idx="10">
                  <c:v>10.3333333333333</c:v>
                </c:pt>
                <c:pt idx="11">
                  <c:v>7.5</c:v>
                </c:pt>
              </c:numCache>
            </c:numRef>
          </c:val>
          <c:smooth val="1"/>
          <c:extLst>
            <c:ext xmlns:c16="http://schemas.microsoft.com/office/drawing/2014/chart" uri="{C3380CC4-5D6E-409C-BE32-E72D297353CC}">
              <c16:uniqueId val="{00000009-F4A3-4C8B-A6DA-B084FD02E56C}"/>
            </c:ext>
          </c:extLst>
        </c:ser>
        <c:ser>
          <c:idx val="1"/>
          <c:order val="1"/>
          <c:tx>
            <c:strRef>
              <c:f>Sheet6!$A$3</c:f>
              <c:strCache>
                <c:ptCount val="1"/>
                <c:pt idx="0">
                  <c:v>中</c:v>
                </c:pt>
              </c:strCache>
            </c:strRef>
          </c:tx>
          <c:marker>
            <c:symbol val="none"/>
          </c:marker>
          <c:dLbls>
            <c:dLbl>
              <c:idx val="0"/>
              <c:layout>
                <c:manualLayout>
                  <c:x val="-3.0470914127424201E-2"/>
                  <c:y val="6.4122121987829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F4A3-4C8B-A6DA-B084FD02E56C}"/>
                </c:ext>
              </c:extLst>
            </c:dLbl>
            <c:dLbl>
              <c:idx val="1"/>
              <c:layout>
                <c:manualLayout>
                  <c:x val="-7.7562326869806797E-2"/>
                  <c:y val="-7.7862576699507094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F4A3-4C8B-A6DA-B084FD02E56C}"/>
                </c:ext>
              </c:extLst>
            </c:dLbl>
            <c:dLbl>
              <c:idx val="2"/>
              <c:layout>
                <c:manualLayout>
                  <c:x val="-2.7700831024930799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F4A3-4C8B-A6DA-B084FD02E56C}"/>
                </c:ext>
              </c:extLst>
            </c:dLbl>
            <c:dLbl>
              <c:idx val="3"/>
              <c:layout>
                <c:manualLayout>
                  <c:x val="-4.15512465373961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D-F4A3-4C8B-A6DA-B084FD02E56C}"/>
                </c:ext>
              </c:extLst>
            </c:dLbl>
            <c:dLbl>
              <c:idx val="4"/>
              <c:layout>
                <c:manualLayout>
                  <c:x val="-3.6011080332410003E-2"/>
                  <c:y val="-4.5801515705592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E-F4A3-4C8B-A6DA-B084FD02E56C}"/>
                </c:ext>
              </c:extLst>
            </c:dLbl>
            <c:dLbl>
              <c:idx val="5"/>
              <c:layout>
                <c:manualLayout>
                  <c:x val="-3.3240997229917101E-2"/>
                  <c:y val="-3.2061060993914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F-F4A3-4C8B-A6DA-B084FD02E56C}"/>
                </c:ext>
              </c:extLst>
            </c:dLbl>
            <c:dLbl>
              <c:idx val="7"/>
              <c:layout>
                <c:manualLayout>
                  <c:x val="2.77008310249309E-3"/>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0-F4A3-4C8B-A6DA-B084FD02E56C}"/>
                </c:ext>
              </c:extLst>
            </c:dLbl>
            <c:dLbl>
              <c:idx val="8"/>
              <c:layout>
                <c:manualLayout>
                  <c:x val="8.3102493074793098E-3"/>
                  <c:y val="-4.12213641350328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1-F4A3-4C8B-A6DA-B084FD02E56C}"/>
                </c:ext>
              </c:extLst>
            </c:dLbl>
            <c:dLbl>
              <c:idx val="9"/>
              <c:layout>
                <c:manualLayout>
                  <c:x val="-2.77008310249309E-2"/>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2-F4A3-4C8B-A6DA-B084FD02E56C}"/>
                </c:ext>
              </c:extLst>
            </c:dLbl>
            <c:dLbl>
              <c:idx val="10"/>
              <c:layout>
                <c:manualLayout>
                  <c:x val="1.3850415512465601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3-F4A3-4C8B-A6DA-B084FD02E56C}"/>
                </c:ext>
              </c:extLst>
            </c:dLbl>
            <c:dLbl>
              <c:idx val="11"/>
              <c:layout>
                <c:manualLayout>
                  <c:x val="1.93905817174518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4-F4A3-4C8B-A6DA-B084FD02E56C}"/>
                </c:ext>
              </c:extLst>
            </c:dLbl>
            <c:spPr>
              <a:noFill/>
              <a:ln>
                <a:noFill/>
              </a:ln>
              <a:effectLst/>
            </c:spPr>
            <c:txPr>
              <a:bodyPr rot="0" spcFirstLastPara="0" vertOverflow="ellipsis" vert="horz" wrap="square" lIns="38100" tIns="19050" rIns="38100" bIns="19050" anchor="ctr" anchorCtr="1"/>
              <a:lstStyle/>
              <a:p>
                <a:pPr>
                  <a:defRPr lang="zh-CN" sz="800" b="1" i="0" u="none" strike="noStrike" kern="1200" baseline="0">
                    <a:solidFill>
                      <a:schemeClr val="accent2">
                        <a:lumMod val="75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Sheet6!$B$3:$M$3</c:f>
              <c:numCache>
                <c:formatCode>0.00</c:formatCode>
                <c:ptCount val="12"/>
                <c:pt idx="0">
                  <c:v>22.333333333333201</c:v>
                </c:pt>
                <c:pt idx="1">
                  <c:v>5.6666666666666696</c:v>
                </c:pt>
                <c:pt idx="2">
                  <c:v>12.6666666666667</c:v>
                </c:pt>
                <c:pt idx="3">
                  <c:v>11.6666666666667</c:v>
                </c:pt>
                <c:pt idx="4">
                  <c:v>11.3333333333333</c:v>
                </c:pt>
                <c:pt idx="5">
                  <c:v>13</c:v>
                </c:pt>
                <c:pt idx="6">
                  <c:v>14</c:v>
                </c:pt>
                <c:pt idx="7">
                  <c:v>14.3333333333333</c:v>
                </c:pt>
                <c:pt idx="8">
                  <c:v>13.6666666666667</c:v>
                </c:pt>
                <c:pt idx="9">
                  <c:v>14.3333333333333</c:v>
                </c:pt>
                <c:pt idx="10">
                  <c:v>10.6666666666667</c:v>
                </c:pt>
                <c:pt idx="11">
                  <c:v>12.5</c:v>
                </c:pt>
              </c:numCache>
            </c:numRef>
          </c:val>
          <c:smooth val="1"/>
          <c:extLst>
            <c:ext xmlns:c16="http://schemas.microsoft.com/office/drawing/2014/chart" uri="{C3380CC4-5D6E-409C-BE32-E72D297353CC}">
              <c16:uniqueId val="{00000015-F4A3-4C8B-A6DA-B084FD02E56C}"/>
            </c:ext>
          </c:extLst>
        </c:ser>
        <c:ser>
          <c:idx val="2"/>
          <c:order val="2"/>
          <c:tx>
            <c:strRef>
              <c:f>Sheet6!$A$4</c:f>
              <c:strCache>
                <c:ptCount val="1"/>
                <c:pt idx="0">
                  <c:v>大</c:v>
                </c:pt>
              </c:strCache>
            </c:strRef>
          </c:tx>
          <c:marker>
            <c:symbol val="none"/>
          </c:marker>
          <c:dLbls>
            <c:dLbl>
              <c:idx val="0"/>
              <c:layout>
                <c:manualLayout>
                  <c:x val="-4.7091412742382301E-2"/>
                  <c:y val="-5.03816672761513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6-F4A3-4C8B-A6DA-B084FD02E56C}"/>
                </c:ext>
              </c:extLst>
            </c:dLbl>
            <c:dLbl>
              <c:idx val="1"/>
              <c:layout>
                <c:manualLayout>
                  <c:x val="8.3102493074793098E-3"/>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7-F4A3-4C8B-A6DA-B084FD02E56C}"/>
                </c:ext>
              </c:extLst>
            </c:dLbl>
            <c:dLbl>
              <c:idx val="3"/>
              <c:layout>
                <c:manualLayout>
                  <c:x val="-8.3102493074791693E-3"/>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8-F4A3-4C8B-A6DA-B084FD02E56C}"/>
                </c:ext>
              </c:extLst>
            </c:dLbl>
            <c:dLbl>
              <c:idx val="8"/>
              <c:layout>
                <c:manualLayout>
                  <c:x val="-2.2160664819944598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9-F4A3-4C8B-A6DA-B084FD02E56C}"/>
                </c:ext>
              </c:extLst>
            </c:dLbl>
            <c:dLbl>
              <c:idx val="9"/>
              <c:layout>
                <c:manualLayout>
                  <c:x val="1.38504155124654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A-F4A3-4C8B-A6DA-B084FD02E56C}"/>
                </c:ext>
              </c:extLst>
            </c:dLbl>
            <c:dLbl>
              <c:idx val="11"/>
              <c:layout>
                <c:manualLayout>
                  <c:x val="-2.2160664819944501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B-F4A3-4C8B-A6DA-B084FD02E56C}"/>
                </c:ext>
              </c:extLst>
            </c:dLbl>
            <c:spPr>
              <a:noFill/>
              <a:ln>
                <a:noFill/>
              </a:ln>
              <a:effectLst/>
            </c:spPr>
            <c:txPr>
              <a:bodyPr rot="0" spcFirstLastPara="0" vertOverflow="ellipsis" vert="horz" wrap="square" lIns="38100" tIns="19050" rIns="38100" bIns="19050" anchor="ctr" anchorCtr="1"/>
              <a:lstStyle/>
              <a:p>
                <a:pPr>
                  <a:defRPr lang="zh-CN" sz="800" b="1" i="0" u="none" strike="noStrike" kern="1200" baseline="0">
                    <a:solidFill>
                      <a:schemeClr val="accent3">
                        <a:lumMod val="75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Sheet6!$B$4:$M$4</c:f>
              <c:numCache>
                <c:formatCode>General</c:formatCode>
                <c:ptCount val="12"/>
                <c:pt idx="2" formatCode="0.00">
                  <c:v>20</c:v>
                </c:pt>
                <c:pt idx="4" formatCode="0.00">
                  <c:v>15</c:v>
                </c:pt>
                <c:pt idx="5" formatCode="0.00">
                  <c:v>20</c:v>
                </c:pt>
                <c:pt idx="6" formatCode="0.00">
                  <c:v>10</c:v>
                </c:pt>
                <c:pt idx="7" formatCode="0.00">
                  <c:v>10</c:v>
                </c:pt>
                <c:pt idx="9" formatCode="0.00">
                  <c:v>8.5</c:v>
                </c:pt>
                <c:pt idx="11" formatCode="0.00">
                  <c:v>5</c:v>
                </c:pt>
              </c:numCache>
            </c:numRef>
          </c:val>
          <c:smooth val="1"/>
          <c:extLst>
            <c:ext xmlns:c16="http://schemas.microsoft.com/office/drawing/2014/chart" uri="{C3380CC4-5D6E-409C-BE32-E72D297353CC}">
              <c16:uniqueId val="{0000001C-F4A3-4C8B-A6DA-B084FD02E56C}"/>
            </c:ext>
          </c:extLst>
        </c:ser>
        <c:dLbls>
          <c:showLegendKey val="1"/>
          <c:showVal val="1"/>
          <c:showCatName val="1"/>
          <c:showSerName val="1"/>
          <c:showPercent val="1"/>
          <c:showBubbleSize val="1"/>
        </c:dLbls>
        <c:smooth val="0"/>
        <c:axId val="67111168"/>
        <c:axId val="67407872"/>
      </c:lineChart>
      <c:catAx>
        <c:axId val="6711116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forceAA="0"/>
          <a:lstStyle/>
          <a:p>
            <a:pPr>
              <a:defRPr lang="zh-CN" sz="1000" b="0" i="0" u="none" strike="noStrike" kern="1200" baseline="0">
                <a:solidFill>
                  <a:schemeClr val="tx1"/>
                </a:solidFill>
                <a:latin typeface="+mn-lt"/>
                <a:ea typeface="+mn-ea"/>
                <a:cs typeface="+mn-cs"/>
              </a:defRPr>
            </a:pPr>
            <a:endParaRPr lang="zh-CN"/>
          </a:p>
        </c:txPr>
        <c:crossAx val="67407872"/>
        <c:crosses val="autoZero"/>
        <c:auto val="1"/>
        <c:lblAlgn val="ctr"/>
        <c:lblOffset val="100"/>
        <c:noMultiLvlLbl val="1"/>
      </c:catAx>
      <c:valAx>
        <c:axId val="67407872"/>
        <c:scaling>
          <c:orientation val="minMax"/>
        </c:scaling>
        <c:delete val="0"/>
        <c:axPos val="l"/>
        <c:numFmt formatCode="0.00"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67111168"/>
        <c:crosses val="autoZero"/>
        <c:crossBetween val="between"/>
        <c:majorUnit val="5"/>
      </c:valAx>
      <c:spPr>
        <a:noFill/>
      </c:spPr>
    </c:plotArea>
    <c:legend>
      <c:legendPos val="r"/>
      <c:layout>
        <c:manualLayout>
          <c:xMode val="edge"/>
          <c:yMode val="edge"/>
          <c:x val="0.22142167470589599"/>
          <c:y val="0.91551508521845104"/>
          <c:w val="0.55277777777777803"/>
          <c:h val="8.4484908136483905E-2"/>
        </c:manualLayout>
      </c:layout>
      <c:overlay val="0"/>
      <c:txPr>
        <a:bodyPr rot="0" spcFirstLastPara="0" vertOverflow="ellipsis" vert="horz" wrap="square" anchor="ctr" anchorCtr="1"/>
        <a:lstStyle/>
        <a:p>
          <a:pPr>
            <a:defRPr lang="zh-CN" sz="12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spPr>
    <a:noFill/>
    <a:ln>
      <a:noFill/>
    </a:ln>
  </c:spPr>
  <c:txPr>
    <a:bodyPr/>
    <a:lstStyle/>
    <a:p>
      <a:pPr>
        <a:defRPr lang="zh-CN"/>
      </a:pPr>
      <a:endParaRPr lang="zh-CN"/>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33805890563599E-2"/>
          <c:y val="4.3567849043926299E-2"/>
          <c:w val="0.91235439274956898"/>
          <c:h val="0.78750964872636597"/>
        </c:manualLayout>
      </c:layout>
      <c:lineChart>
        <c:grouping val="standard"/>
        <c:varyColors val="0"/>
        <c:ser>
          <c:idx val="0"/>
          <c:order val="0"/>
          <c:tx>
            <c:strRef>
              <c:f>Sheet1!$B$1</c:f>
              <c:strCache>
                <c:ptCount val="1"/>
                <c:pt idx="0">
                  <c:v>小挖</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0.00_ </c:formatCode>
                <c:ptCount val="12"/>
                <c:pt idx="0">
                  <c:v>2.6616541353383401</c:v>
                </c:pt>
                <c:pt idx="1">
                  <c:v>4.6881533101045303</c:v>
                </c:pt>
                <c:pt idx="2">
                  <c:v>4.0755980861244003</c:v>
                </c:pt>
                <c:pt idx="3">
                  <c:v>3.2531645569620502</c:v>
                </c:pt>
                <c:pt idx="4">
                  <c:v>3.0513595166163201</c:v>
                </c:pt>
                <c:pt idx="5">
                  <c:v>3.56937799043062</c:v>
                </c:pt>
                <c:pt idx="6">
                  <c:v>4.4780361757106002</c:v>
                </c:pt>
                <c:pt idx="7">
                  <c:v>4.5379310344827601</c:v>
                </c:pt>
                <c:pt idx="8">
                  <c:v>4.5314685314685397</c:v>
                </c:pt>
                <c:pt idx="9">
                  <c:v>4.8871252204585298</c:v>
                </c:pt>
                <c:pt idx="10">
                  <c:v>3.1245614035087699</c:v>
                </c:pt>
                <c:pt idx="11">
                  <c:v>8.0507674144037793</c:v>
                </c:pt>
              </c:numCache>
            </c:numRef>
          </c:val>
          <c:smooth val="1"/>
          <c:extLst>
            <c:ext xmlns:c16="http://schemas.microsoft.com/office/drawing/2014/chart" uri="{C3380CC4-5D6E-409C-BE32-E72D297353CC}">
              <c16:uniqueId val="{00000000-171D-4A5C-9EAA-0D8D20C97EB6}"/>
            </c:ext>
          </c:extLst>
        </c:ser>
        <c:dLbls>
          <c:showLegendKey val="1"/>
          <c:showVal val="1"/>
          <c:showCatName val="1"/>
          <c:showSerName val="1"/>
          <c:showPercent val="1"/>
          <c:showBubbleSize val="1"/>
        </c:dLbls>
        <c:marker val="1"/>
        <c:smooth val="0"/>
        <c:axId val="138130176"/>
        <c:axId val="138131712"/>
      </c:lineChart>
      <c:lineChart>
        <c:grouping val="standard"/>
        <c:varyColors val="0"/>
        <c:ser>
          <c:idx val="1"/>
          <c:order val="1"/>
          <c:tx>
            <c:strRef>
              <c:f>Sheet1!$C$1</c:f>
              <c:strCache>
                <c:ptCount val="1"/>
                <c:pt idx="0">
                  <c:v>中挖</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t"/>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0.00_ </c:formatCode>
                <c:ptCount val="12"/>
                <c:pt idx="0">
                  <c:v>3.5818815331010398</c:v>
                </c:pt>
                <c:pt idx="1">
                  <c:v>4.7587719298245599</c:v>
                </c:pt>
                <c:pt idx="2">
                  <c:v>4.9378881987577703</c:v>
                </c:pt>
                <c:pt idx="3">
                  <c:v>4.9246231155778997</c:v>
                </c:pt>
                <c:pt idx="4">
                  <c:v>5.7289156626505697</c:v>
                </c:pt>
                <c:pt idx="5">
                  <c:v>6.28571428571429</c:v>
                </c:pt>
                <c:pt idx="6">
                  <c:v>5.18987341772152</c:v>
                </c:pt>
                <c:pt idx="7">
                  <c:v>4.4549356223175698</c:v>
                </c:pt>
                <c:pt idx="8">
                  <c:v>4.9006622516556497</c:v>
                </c:pt>
                <c:pt idx="9">
                  <c:v>6.9933333333333598</c:v>
                </c:pt>
                <c:pt idx="10">
                  <c:v>5.1063829787234001</c:v>
                </c:pt>
                <c:pt idx="11">
                  <c:v>15.075697211155401</c:v>
                </c:pt>
              </c:numCache>
            </c:numRef>
          </c:val>
          <c:smooth val="1"/>
          <c:extLst>
            <c:ext xmlns:c16="http://schemas.microsoft.com/office/drawing/2014/chart" uri="{C3380CC4-5D6E-409C-BE32-E72D297353CC}">
              <c16:uniqueId val="{00000001-171D-4A5C-9EAA-0D8D20C97EB6}"/>
            </c:ext>
          </c:extLst>
        </c:ser>
        <c:ser>
          <c:idx val="2"/>
          <c:order val="2"/>
          <c:tx>
            <c:strRef>
              <c:f>Sheet1!$D$1</c:f>
              <c:strCache>
                <c:ptCount val="1"/>
                <c:pt idx="0">
                  <c:v>大挖</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t"/>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0.00_ </c:formatCode>
                <c:ptCount val="12"/>
                <c:pt idx="0">
                  <c:v>7.93333333333337</c:v>
                </c:pt>
                <c:pt idx="1">
                  <c:v>10.9189189189189</c:v>
                </c:pt>
                <c:pt idx="2">
                  <c:v>12.315068493150701</c:v>
                </c:pt>
                <c:pt idx="3">
                  <c:v>9.7313432835820404</c:v>
                </c:pt>
                <c:pt idx="4">
                  <c:v>14.346153846153801</c:v>
                </c:pt>
                <c:pt idx="5">
                  <c:v>12.882352941176499</c:v>
                </c:pt>
                <c:pt idx="6">
                  <c:v>11.75</c:v>
                </c:pt>
                <c:pt idx="7">
                  <c:v>9.3181818181818201</c:v>
                </c:pt>
                <c:pt idx="8">
                  <c:v>16.711538461538499</c:v>
                </c:pt>
                <c:pt idx="9">
                  <c:v>23.9428571428571</c:v>
                </c:pt>
                <c:pt idx="10">
                  <c:v>21.316666666666698</c:v>
                </c:pt>
                <c:pt idx="11">
                  <c:v>24.108108108108102</c:v>
                </c:pt>
              </c:numCache>
            </c:numRef>
          </c:val>
          <c:smooth val="1"/>
          <c:extLst>
            <c:ext xmlns:c16="http://schemas.microsoft.com/office/drawing/2014/chart" uri="{C3380CC4-5D6E-409C-BE32-E72D297353CC}">
              <c16:uniqueId val="{00000002-171D-4A5C-9EAA-0D8D20C97EB6}"/>
            </c:ext>
          </c:extLst>
        </c:ser>
        <c:dLbls>
          <c:showLegendKey val="1"/>
          <c:showVal val="1"/>
          <c:showCatName val="1"/>
          <c:showSerName val="1"/>
          <c:showPercent val="1"/>
          <c:showBubbleSize val="1"/>
        </c:dLbls>
        <c:marker val="1"/>
        <c:smooth val="0"/>
        <c:axId val="138139136"/>
        <c:axId val="138137600"/>
      </c:lineChart>
      <c:catAx>
        <c:axId val="138130176"/>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38131712"/>
        <c:crosses val="autoZero"/>
        <c:auto val="1"/>
        <c:lblAlgn val="ctr"/>
        <c:lblOffset val="0"/>
        <c:noMultiLvlLbl val="0"/>
      </c:catAx>
      <c:valAx>
        <c:axId val="138131712"/>
        <c:scaling>
          <c:orientation val="minMax"/>
          <c:max val="30"/>
        </c:scaling>
        <c:delete val="0"/>
        <c:axPos val="l"/>
        <c:numFmt formatCode="0_ "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38130176"/>
        <c:crosses val="autoZero"/>
        <c:crossBetween val="between"/>
      </c:valAx>
      <c:catAx>
        <c:axId val="138139136"/>
        <c:scaling>
          <c:orientation val="minMax"/>
        </c:scaling>
        <c:delete val="1"/>
        <c:axPos val="b"/>
        <c:numFmt formatCode="General" sourceLinked="1"/>
        <c:majorTickMark val="out"/>
        <c:minorTickMark val="none"/>
        <c:tickLblPos val="nextTo"/>
        <c:crossAx val="138137600"/>
        <c:crosses val="autoZero"/>
        <c:auto val="1"/>
        <c:lblAlgn val="ctr"/>
        <c:lblOffset val="100"/>
        <c:noMultiLvlLbl val="0"/>
      </c:catAx>
      <c:valAx>
        <c:axId val="138137600"/>
        <c:scaling>
          <c:orientation val="minMax"/>
          <c:max val="30"/>
        </c:scaling>
        <c:delete val="0"/>
        <c:axPos val="r"/>
        <c:numFmt formatCode="#,##0_);[Red]\(#,##0\)" sourceLinked="0"/>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38139136"/>
        <c:crosses val="max"/>
        <c:crossBetween val="between"/>
        <c:majorUnit val="5"/>
        <c:minorUnit val="5"/>
      </c:valAx>
    </c:plotArea>
    <c:legend>
      <c:legendPos val="b"/>
      <c:layout>
        <c:manualLayout>
          <c:xMode val="edge"/>
          <c:yMode val="edge"/>
          <c:x val="0.33047737698624002"/>
          <c:y val="0.86444179894179995"/>
          <c:w val="0.251426811660864"/>
          <c:h val="0.13555820105820099"/>
        </c:manualLayout>
      </c:layout>
      <c:overlay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1000">
          <a:latin typeface="微软雅黑" panose="020B0503020204020204" charset="-122"/>
          <a:ea typeface="微软雅黑" panose="020B0503020204020204" charset="-122"/>
        </a:defRPr>
      </a:pPr>
      <a:endParaRPr lang="zh-CN"/>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748514381286903E-2"/>
          <c:y val="5.6311918178151801E-2"/>
          <c:w val="0.94673728993698802"/>
          <c:h val="0.70164224808812203"/>
        </c:manualLayout>
      </c:layout>
      <c:lineChart>
        <c:grouping val="standard"/>
        <c:varyColors val="0"/>
        <c:ser>
          <c:idx val="0"/>
          <c:order val="0"/>
          <c:tx>
            <c:strRef>
              <c:f>Sheet1!$B$1</c:f>
              <c:strCache>
                <c:ptCount val="1"/>
                <c:pt idx="0">
                  <c:v>小挖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0.0_ </c:formatCode>
                <c:ptCount val="12"/>
                <c:pt idx="0">
                  <c:v>10.9975308641975</c:v>
                </c:pt>
                <c:pt idx="1">
                  <c:v>12.3237704918033</c:v>
                </c:pt>
                <c:pt idx="2">
                  <c:v>4.7186943620177999</c:v>
                </c:pt>
                <c:pt idx="3">
                  <c:v>4.52752752752746</c:v>
                </c:pt>
                <c:pt idx="4">
                  <c:v>4.9582018927444897</c:v>
                </c:pt>
                <c:pt idx="5">
                  <c:v>5.3776243093922602</c:v>
                </c:pt>
                <c:pt idx="6">
                  <c:v>5.0853820598006596</c:v>
                </c:pt>
                <c:pt idx="7">
                  <c:v>5.7391521197007496</c:v>
                </c:pt>
                <c:pt idx="8">
                  <c:v>6.2470479704797004</c:v>
                </c:pt>
                <c:pt idx="9">
                  <c:v>6.7522491349481397</c:v>
                </c:pt>
                <c:pt idx="10">
                  <c:v>6.4447791164658597</c:v>
                </c:pt>
                <c:pt idx="11">
                  <c:v>5.9868624420402199</c:v>
                </c:pt>
              </c:numCache>
            </c:numRef>
          </c:val>
          <c:smooth val="1"/>
          <c:extLst>
            <c:ext xmlns:c16="http://schemas.microsoft.com/office/drawing/2014/chart" uri="{C3380CC4-5D6E-409C-BE32-E72D297353CC}">
              <c16:uniqueId val="{00000000-1487-4DCD-A8B2-CA6C33077E49}"/>
            </c:ext>
          </c:extLst>
        </c:ser>
        <c:ser>
          <c:idx val="1"/>
          <c:order val="1"/>
          <c:tx>
            <c:strRef>
              <c:f>Sheet1!$C$1</c:f>
              <c:strCache>
                <c:ptCount val="1"/>
                <c:pt idx="0">
                  <c:v>中挖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0.0_ </c:formatCode>
                <c:ptCount val="12"/>
                <c:pt idx="0">
                  <c:v>8.6963350785340303</c:v>
                </c:pt>
                <c:pt idx="1">
                  <c:v>10.2770833333333</c:v>
                </c:pt>
                <c:pt idx="2">
                  <c:v>8.5133004926108207</c:v>
                </c:pt>
                <c:pt idx="3">
                  <c:v>10.715740740740699</c:v>
                </c:pt>
                <c:pt idx="4">
                  <c:v>7.2366666666666797</c:v>
                </c:pt>
                <c:pt idx="5">
                  <c:v>8.6142857142857192</c:v>
                </c:pt>
                <c:pt idx="6">
                  <c:v>5.4720930232558098</c:v>
                </c:pt>
                <c:pt idx="7">
                  <c:v>5.9408536585365903</c:v>
                </c:pt>
                <c:pt idx="8">
                  <c:v>8.2764150943396206</c:v>
                </c:pt>
                <c:pt idx="9">
                  <c:v>9.1915441176470694</c:v>
                </c:pt>
                <c:pt idx="10">
                  <c:v>11.1272388059701</c:v>
                </c:pt>
                <c:pt idx="11">
                  <c:v>8.8057971014493592</c:v>
                </c:pt>
              </c:numCache>
            </c:numRef>
          </c:val>
          <c:smooth val="1"/>
          <c:extLst>
            <c:ext xmlns:c16="http://schemas.microsoft.com/office/drawing/2014/chart" uri="{C3380CC4-5D6E-409C-BE32-E72D297353CC}">
              <c16:uniqueId val="{00000001-1487-4DCD-A8B2-CA6C33077E49}"/>
            </c:ext>
          </c:extLst>
        </c:ser>
        <c:ser>
          <c:idx val="2"/>
          <c:order val="2"/>
          <c:tx>
            <c:strRef>
              <c:f>Sheet1!$D$1</c:f>
              <c:strCache>
                <c:ptCount val="1"/>
                <c:pt idx="0">
                  <c:v>大挖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0.0_ </c:formatCode>
                <c:ptCount val="12"/>
                <c:pt idx="0">
                  <c:v>10.375000000000099</c:v>
                </c:pt>
                <c:pt idx="1">
                  <c:v>5.8333333333333703</c:v>
                </c:pt>
                <c:pt idx="2">
                  <c:v>4.5468085106383</c:v>
                </c:pt>
                <c:pt idx="3">
                  <c:v>6.37391304347826</c:v>
                </c:pt>
                <c:pt idx="4">
                  <c:v>4.5</c:v>
                </c:pt>
                <c:pt idx="5">
                  <c:v>5.4437499999999996</c:v>
                </c:pt>
                <c:pt idx="6">
                  <c:v>4.9411764705882399</c:v>
                </c:pt>
                <c:pt idx="7">
                  <c:v>3.3875000000000002</c:v>
                </c:pt>
                <c:pt idx="8">
                  <c:v>4.3440000000000003</c:v>
                </c:pt>
                <c:pt idx="9">
                  <c:v>4.7852941176470596</c:v>
                </c:pt>
                <c:pt idx="10">
                  <c:v>5.5109374999999901</c:v>
                </c:pt>
                <c:pt idx="11">
                  <c:v>7.8682926829268398</c:v>
                </c:pt>
              </c:numCache>
            </c:numRef>
          </c:val>
          <c:smooth val="1"/>
          <c:extLst>
            <c:ext xmlns:c16="http://schemas.microsoft.com/office/drawing/2014/chart" uri="{C3380CC4-5D6E-409C-BE32-E72D297353CC}">
              <c16:uniqueId val="{00000002-1487-4DCD-A8B2-CA6C33077E49}"/>
            </c:ext>
          </c:extLst>
        </c:ser>
        <c:ser>
          <c:idx val="3"/>
          <c:order val="3"/>
          <c:tx>
            <c:strRef>
              <c:f>Sheet1!$E$1</c:f>
              <c:strCache>
                <c:ptCount val="1"/>
                <c:pt idx="0">
                  <c:v>总体</c:v>
                </c:pt>
              </c:strCache>
            </c:strRef>
          </c:tx>
          <c:dLbls>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Sheet1!$E$2:$E$13</c:f>
              <c:numCache>
                <c:formatCode>0.0_ </c:formatCode>
                <c:ptCount val="12"/>
                <c:pt idx="0">
                  <c:v>10.5173076923077</c:v>
                </c:pt>
                <c:pt idx="1">
                  <c:v>11.7177743431221</c:v>
                </c:pt>
                <c:pt idx="2">
                  <c:v>5.32315622521807</c:v>
                </c:pt>
                <c:pt idx="3">
                  <c:v>5.1808326105810902</c:v>
                </c:pt>
                <c:pt idx="4">
                  <c:v>5.0407837445573298</c:v>
                </c:pt>
                <c:pt idx="5">
                  <c:v>5.7038095238095199</c:v>
                </c:pt>
                <c:pt idx="6">
                  <c:v>5.1246537396121896</c:v>
                </c:pt>
                <c:pt idx="7">
                  <c:v>5.7640488656195403</c:v>
                </c:pt>
                <c:pt idx="8">
                  <c:v>6.4959881129271899</c:v>
                </c:pt>
                <c:pt idx="9">
                  <c:v>7.4271493212669704</c:v>
                </c:pt>
                <c:pt idx="10">
                  <c:v>7.8846987951807597</c:v>
                </c:pt>
                <c:pt idx="11">
                  <c:v>6.7250279329608897</c:v>
                </c:pt>
              </c:numCache>
            </c:numRef>
          </c:val>
          <c:smooth val="1"/>
          <c:extLst>
            <c:ext xmlns:c16="http://schemas.microsoft.com/office/drawing/2014/chart" uri="{C3380CC4-5D6E-409C-BE32-E72D297353CC}">
              <c16:uniqueId val="{00000003-1487-4DCD-A8B2-CA6C33077E49}"/>
            </c:ext>
          </c:extLst>
        </c:ser>
        <c:dLbls>
          <c:showLegendKey val="0"/>
          <c:showVal val="0"/>
          <c:showCatName val="0"/>
          <c:showSerName val="0"/>
          <c:showPercent val="0"/>
          <c:showBubbleSize val="0"/>
        </c:dLbls>
        <c:marker val="1"/>
        <c:smooth val="0"/>
        <c:axId val="138209920"/>
        <c:axId val="138224000"/>
      </c:lineChart>
      <c:catAx>
        <c:axId val="138209920"/>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38224000"/>
        <c:crossesAt val="-2"/>
        <c:auto val="1"/>
        <c:lblAlgn val="ctr"/>
        <c:lblOffset val="0"/>
        <c:noMultiLvlLbl val="0"/>
      </c:catAx>
      <c:valAx>
        <c:axId val="138224000"/>
        <c:scaling>
          <c:orientation val="minMax"/>
        </c:scaling>
        <c:delete val="0"/>
        <c:axPos val="l"/>
        <c:numFmt formatCode="#,##0_);[Red]\(#,##0\)" sourceLinked="0"/>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38209920"/>
        <c:crosses val="autoZero"/>
        <c:crossBetween val="between"/>
        <c:minorUnit val="0.2"/>
      </c:valAx>
    </c:plotArea>
    <c:legend>
      <c:legendPos val="b"/>
      <c:layout>
        <c:manualLayout>
          <c:xMode val="edge"/>
          <c:yMode val="edge"/>
          <c:x val="0.34230563047159202"/>
          <c:y val="0.84259002136042405"/>
          <c:w val="0.331849529195483"/>
          <c:h val="8.5338411005422998E-2"/>
        </c:manualLayout>
      </c:layout>
      <c:overlay val="0"/>
      <c:txPr>
        <a:bodyPr rot="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900">
          <a:latin typeface="微软雅黑" panose="020B0503020204020204" charset="-122"/>
          <a:ea typeface="微软雅黑" panose="020B0503020204020204" charset="-122"/>
        </a:defRPr>
      </a:pPr>
      <a:endParaRPr lang="zh-CN"/>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53975" cap="rnd" cmpd="sng" algn="ctr">
              <a:solidFill>
                <a:schemeClr val="bg1">
                  <a:lumMod val="50000"/>
                </a:schemeClr>
              </a:solidFill>
              <a:prstDash val="sysDot"/>
              <a:round/>
            </a:ln>
          </c:spPr>
          <c:marker>
            <c:symbol val="none"/>
          </c:marker>
          <c:val>
            <c:numRef>
              <c:f>Sheet5!$L$92:$W$92</c:f>
              <c:numCache>
                <c:formatCode>0_ </c:formatCode>
                <c:ptCount val="12"/>
                <c:pt idx="0">
                  <c:v>138</c:v>
                </c:pt>
                <c:pt idx="1">
                  <c:v>128</c:v>
                </c:pt>
                <c:pt idx="2">
                  <c:v>185</c:v>
                </c:pt>
                <c:pt idx="3">
                  <c:v>158</c:v>
                </c:pt>
                <c:pt idx="4">
                  <c:v>208</c:v>
                </c:pt>
                <c:pt idx="5">
                  <c:v>197</c:v>
                </c:pt>
                <c:pt idx="6">
                  <c:v>121</c:v>
                </c:pt>
                <c:pt idx="7">
                  <c:v>144</c:v>
                </c:pt>
                <c:pt idx="8">
                  <c:v>132</c:v>
                </c:pt>
                <c:pt idx="9">
                  <c:v>182</c:v>
                </c:pt>
                <c:pt idx="10">
                  <c:v>126</c:v>
                </c:pt>
                <c:pt idx="11">
                  <c:v>185.5</c:v>
                </c:pt>
              </c:numCache>
            </c:numRef>
          </c:val>
          <c:smooth val="1"/>
          <c:extLst>
            <c:ext xmlns:c16="http://schemas.microsoft.com/office/drawing/2014/chart" uri="{C3380CC4-5D6E-409C-BE32-E72D297353CC}">
              <c16:uniqueId val="{00000000-964D-48FC-AAC9-B923BFC38068}"/>
            </c:ext>
          </c:extLst>
        </c:ser>
        <c:dLbls>
          <c:showLegendKey val="0"/>
          <c:showVal val="0"/>
          <c:showCatName val="0"/>
          <c:showSerName val="0"/>
          <c:showPercent val="0"/>
          <c:showBubbleSize val="0"/>
        </c:dLbls>
        <c:smooth val="0"/>
        <c:axId val="68504192"/>
        <c:axId val="68537728"/>
      </c:lineChart>
      <c:catAx>
        <c:axId val="68504192"/>
        <c:scaling>
          <c:orientation val="minMax"/>
        </c:scaling>
        <c:delete val="1"/>
        <c:axPos val="b"/>
        <c:majorTickMark val="out"/>
        <c:minorTickMark val="none"/>
        <c:tickLblPos val="nextTo"/>
        <c:crossAx val="68537728"/>
        <c:crosses val="autoZero"/>
        <c:auto val="1"/>
        <c:lblAlgn val="ctr"/>
        <c:lblOffset val="100"/>
        <c:noMultiLvlLbl val="0"/>
      </c:catAx>
      <c:valAx>
        <c:axId val="68537728"/>
        <c:scaling>
          <c:orientation val="minMax"/>
        </c:scaling>
        <c:delete val="1"/>
        <c:axPos val="l"/>
        <c:numFmt formatCode="0_ " sourceLinked="1"/>
        <c:majorTickMark val="out"/>
        <c:minorTickMark val="none"/>
        <c:tickLblPos val="nextTo"/>
        <c:crossAx val="68504192"/>
        <c:crosses val="autoZero"/>
        <c:crossBetween val="between"/>
      </c:valAx>
      <c:spPr>
        <a:noFill/>
      </c:spPr>
    </c:plotArea>
    <c:plotVisOnly val="1"/>
    <c:dispBlanksAs val="gap"/>
    <c:showDLblsOverMax val="0"/>
  </c:chart>
  <c:spPr>
    <a:noFill/>
  </c:spPr>
  <c:txPr>
    <a:bodyPr/>
    <a:lstStyle/>
    <a:p>
      <a:pPr>
        <a:defRPr lang="zh-CN"/>
      </a:pPr>
      <a:endParaRPr lang="zh-CN"/>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3217701558485E-2"/>
          <c:y val="9.0289442986294197E-2"/>
          <c:w val="0.94450743657043201"/>
          <c:h val="0.68085301837270396"/>
        </c:manualLayout>
      </c:layout>
      <c:lineChart>
        <c:grouping val="standard"/>
        <c:varyColors val="0"/>
        <c:ser>
          <c:idx val="0"/>
          <c:order val="0"/>
          <c:tx>
            <c:strRef>
              <c:f>Sheet6!$A$2</c:f>
              <c:strCache>
                <c:ptCount val="1"/>
                <c:pt idx="0">
                  <c:v>小</c:v>
                </c:pt>
              </c:strCache>
            </c:strRef>
          </c:tx>
          <c:marker>
            <c:symbol val="none"/>
          </c:marker>
          <c:dLbls>
            <c:dLbl>
              <c:idx val="2"/>
              <c:layout>
                <c:manualLayout>
                  <c:x val="-3.3240997229917101E-2"/>
                  <c:y val="-3.6641212564474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9BDC-4AE8-AC55-D61280919E48}"/>
                </c:ext>
              </c:extLst>
            </c:dLbl>
            <c:dLbl>
              <c:idx val="4"/>
              <c:layout>
                <c:manualLayout>
                  <c:x val="-5.8171745152354203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9BDC-4AE8-AC55-D61280919E48}"/>
                </c:ext>
              </c:extLst>
            </c:dLbl>
            <c:dLbl>
              <c:idx val="5"/>
              <c:layout>
                <c:manualLayout>
                  <c:x val="-4.4321329639889197E-2"/>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9BDC-4AE8-AC55-D61280919E48}"/>
                </c:ext>
              </c:extLst>
            </c:dLbl>
            <c:dLbl>
              <c:idx val="6"/>
              <c:layout>
                <c:manualLayout>
                  <c:x val="-2.2160664819944598E-2"/>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9BDC-4AE8-AC55-D61280919E48}"/>
                </c:ext>
              </c:extLst>
            </c:dLbl>
            <c:dLbl>
              <c:idx val="7"/>
              <c:layout>
                <c:manualLayout>
                  <c:x val="-3.87811634349031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9BDC-4AE8-AC55-D61280919E48}"/>
                </c:ext>
              </c:extLst>
            </c:dLbl>
            <c:dLbl>
              <c:idx val="8"/>
              <c:layout>
                <c:manualLayout>
                  <c:x val="-1.9390581717451699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9BDC-4AE8-AC55-D61280919E48}"/>
                </c:ext>
              </c:extLst>
            </c:dLbl>
            <c:dLbl>
              <c:idx val="9"/>
              <c:layout>
                <c:manualLayout>
                  <c:x val="-3.0470914127424299E-2"/>
                  <c:y val="1.37404547116777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9BDC-4AE8-AC55-D61280919E48}"/>
                </c:ext>
              </c:extLst>
            </c:dLbl>
            <c:dLbl>
              <c:idx val="10"/>
              <c:layout>
                <c:manualLayout>
                  <c:x val="-4.1551246537396003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9BDC-4AE8-AC55-D61280919E48}"/>
                </c:ext>
              </c:extLst>
            </c:dLbl>
            <c:dLbl>
              <c:idx val="11"/>
              <c:layout>
                <c:manualLayout>
                  <c:x val="-2.2160664819944501E-2"/>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9BDC-4AE8-AC55-D61280919E48}"/>
                </c:ext>
              </c:extLst>
            </c:dLbl>
            <c:spPr>
              <a:noFill/>
              <a:ln>
                <a:noFill/>
              </a:ln>
              <a:effectLst/>
            </c:spPr>
            <c:txPr>
              <a:bodyPr rot="0" spcFirstLastPara="0" vertOverflow="ellipsis" vert="horz" wrap="square" lIns="38100" tIns="19050" rIns="38100" bIns="19050" anchor="ctr" anchorCtr="1"/>
              <a:lstStyle/>
              <a:p>
                <a:pPr>
                  <a:defRPr lang="zh-CN" sz="900" b="1" i="0" u="none" strike="noStrike" kern="1200" baseline="0">
                    <a:solidFill>
                      <a:schemeClr val="accent1">
                        <a:lumMod val="50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Sheet6!$B$2:$M$2</c:f>
              <c:numCache>
                <c:formatCode>0</c:formatCode>
                <c:ptCount val="12"/>
                <c:pt idx="0">
                  <c:v>45.793650793650798</c:v>
                </c:pt>
                <c:pt idx="1">
                  <c:v>42.610714285714202</c:v>
                </c:pt>
                <c:pt idx="2">
                  <c:v>42</c:v>
                </c:pt>
                <c:pt idx="3">
                  <c:v>41.635555555555598</c:v>
                </c:pt>
                <c:pt idx="4">
                  <c:v>41</c:v>
                </c:pt>
                <c:pt idx="5">
                  <c:v>56.461011904761897</c:v>
                </c:pt>
                <c:pt idx="6">
                  <c:v>40.454589371980298</c:v>
                </c:pt>
                <c:pt idx="7">
                  <c:v>35.968253968253997</c:v>
                </c:pt>
                <c:pt idx="8">
                  <c:v>54.5</c:v>
                </c:pt>
                <c:pt idx="9">
                  <c:v>36</c:v>
                </c:pt>
                <c:pt idx="10">
                  <c:v>20.083333333333101</c:v>
                </c:pt>
                <c:pt idx="11">
                  <c:v>27.5</c:v>
                </c:pt>
              </c:numCache>
            </c:numRef>
          </c:val>
          <c:smooth val="1"/>
          <c:extLst>
            <c:ext xmlns:c16="http://schemas.microsoft.com/office/drawing/2014/chart" uri="{C3380CC4-5D6E-409C-BE32-E72D297353CC}">
              <c16:uniqueId val="{00000009-9BDC-4AE8-AC55-D61280919E48}"/>
            </c:ext>
          </c:extLst>
        </c:ser>
        <c:ser>
          <c:idx val="1"/>
          <c:order val="1"/>
          <c:tx>
            <c:strRef>
              <c:f>Sheet6!$A$3</c:f>
              <c:strCache>
                <c:ptCount val="1"/>
                <c:pt idx="0">
                  <c:v>中</c:v>
                </c:pt>
              </c:strCache>
            </c:strRef>
          </c:tx>
          <c:marker>
            <c:symbol val="none"/>
          </c:marker>
          <c:dLbls>
            <c:dLbl>
              <c:idx val="0"/>
              <c:layout>
                <c:manualLayout>
                  <c:x val="-3.0470914127424201E-2"/>
                  <c:y val="6.4122121987829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9BDC-4AE8-AC55-D61280919E48}"/>
                </c:ext>
              </c:extLst>
            </c:dLbl>
            <c:dLbl>
              <c:idx val="1"/>
              <c:layout>
                <c:manualLayout>
                  <c:x val="-7.7562326869806797E-2"/>
                  <c:y val="-7.7862576699507094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9BDC-4AE8-AC55-D61280919E48}"/>
                </c:ext>
              </c:extLst>
            </c:dLbl>
            <c:dLbl>
              <c:idx val="2"/>
              <c:layout>
                <c:manualLayout>
                  <c:x val="-2.7700831024930799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9BDC-4AE8-AC55-D61280919E48}"/>
                </c:ext>
              </c:extLst>
            </c:dLbl>
            <c:dLbl>
              <c:idx val="3"/>
              <c:layout>
                <c:manualLayout>
                  <c:x val="-4.15512465373961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D-9BDC-4AE8-AC55-D61280919E48}"/>
                </c:ext>
              </c:extLst>
            </c:dLbl>
            <c:dLbl>
              <c:idx val="4"/>
              <c:layout>
                <c:manualLayout>
                  <c:x val="-3.6011080332410003E-2"/>
                  <c:y val="-4.5801515705592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E-9BDC-4AE8-AC55-D61280919E48}"/>
                </c:ext>
              </c:extLst>
            </c:dLbl>
            <c:dLbl>
              <c:idx val="5"/>
              <c:layout>
                <c:manualLayout>
                  <c:x val="-3.3240997229917101E-2"/>
                  <c:y val="-3.2061060993914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F-9BDC-4AE8-AC55-D61280919E48}"/>
                </c:ext>
              </c:extLst>
            </c:dLbl>
            <c:dLbl>
              <c:idx val="7"/>
              <c:layout>
                <c:manualLayout>
                  <c:x val="2.77008310249309E-3"/>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0-9BDC-4AE8-AC55-D61280919E48}"/>
                </c:ext>
              </c:extLst>
            </c:dLbl>
            <c:dLbl>
              <c:idx val="8"/>
              <c:layout>
                <c:manualLayout>
                  <c:x val="8.3102493074793098E-3"/>
                  <c:y val="-4.12213641350328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1-9BDC-4AE8-AC55-D61280919E48}"/>
                </c:ext>
              </c:extLst>
            </c:dLbl>
            <c:dLbl>
              <c:idx val="9"/>
              <c:layout>
                <c:manualLayout>
                  <c:x val="-2.77008310249309E-2"/>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2-9BDC-4AE8-AC55-D61280919E48}"/>
                </c:ext>
              </c:extLst>
            </c:dLbl>
            <c:dLbl>
              <c:idx val="10"/>
              <c:layout>
                <c:manualLayout>
                  <c:x val="1.3850415512465601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3-9BDC-4AE8-AC55-D61280919E48}"/>
                </c:ext>
              </c:extLst>
            </c:dLbl>
            <c:dLbl>
              <c:idx val="11"/>
              <c:layout>
                <c:manualLayout>
                  <c:x val="1.93905817174518E-2"/>
                  <c:y val="3.20610609939145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4-9BDC-4AE8-AC55-D61280919E48}"/>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accent2">
                        <a:lumMod val="75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Sheet6!$B$3:$M$3</c:f>
              <c:numCache>
                <c:formatCode>0</c:formatCode>
                <c:ptCount val="12"/>
                <c:pt idx="0">
                  <c:v>66.755396825396801</c:v>
                </c:pt>
                <c:pt idx="1">
                  <c:v>59.979166666666302</c:v>
                </c:pt>
                <c:pt idx="2">
                  <c:v>55.887987012986699</c:v>
                </c:pt>
                <c:pt idx="3">
                  <c:v>35.302777777777798</c:v>
                </c:pt>
                <c:pt idx="4">
                  <c:v>42.808333333333302</c:v>
                </c:pt>
                <c:pt idx="5">
                  <c:v>0</c:v>
                </c:pt>
                <c:pt idx="6">
                  <c:v>26.039728682170502</c:v>
                </c:pt>
                <c:pt idx="7">
                  <c:v>59.207199546485299</c:v>
                </c:pt>
                <c:pt idx="8">
                  <c:v>51.092261904761898</c:v>
                </c:pt>
                <c:pt idx="9">
                  <c:v>31.634920634920601</c:v>
                </c:pt>
                <c:pt idx="10">
                  <c:v>41.685714285714297</c:v>
                </c:pt>
                <c:pt idx="11">
                  <c:v>29.5457516339869</c:v>
                </c:pt>
              </c:numCache>
            </c:numRef>
          </c:val>
          <c:smooth val="1"/>
          <c:extLst>
            <c:ext xmlns:c16="http://schemas.microsoft.com/office/drawing/2014/chart" uri="{C3380CC4-5D6E-409C-BE32-E72D297353CC}">
              <c16:uniqueId val="{00000015-9BDC-4AE8-AC55-D61280919E48}"/>
            </c:ext>
          </c:extLst>
        </c:ser>
        <c:ser>
          <c:idx val="2"/>
          <c:order val="2"/>
          <c:tx>
            <c:strRef>
              <c:f>Sheet6!$A$4</c:f>
              <c:strCache>
                <c:ptCount val="1"/>
                <c:pt idx="0">
                  <c:v>大</c:v>
                </c:pt>
              </c:strCache>
            </c:strRef>
          </c:tx>
          <c:marker>
            <c:symbol val="none"/>
          </c:marker>
          <c:dLbls>
            <c:dLbl>
              <c:idx val="0"/>
              <c:layout>
                <c:manualLayout>
                  <c:x val="-4.7091412742382301E-2"/>
                  <c:y val="-5.03816672761513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6-9BDC-4AE8-AC55-D61280919E48}"/>
                </c:ext>
              </c:extLst>
            </c:dLbl>
            <c:dLbl>
              <c:idx val="1"/>
              <c:layout>
                <c:manualLayout>
                  <c:x val="8.3102493074793098E-3"/>
                  <c:y val="-4.5801515705592198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7-9BDC-4AE8-AC55-D61280919E48}"/>
                </c:ext>
              </c:extLst>
            </c:dLbl>
            <c:dLbl>
              <c:idx val="3"/>
              <c:layout>
                <c:manualLayout>
                  <c:x val="-8.3102493074791693E-3"/>
                  <c:y val="-2.74809094233555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8-9BDC-4AE8-AC55-D61280919E48}"/>
                </c:ext>
              </c:extLst>
            </c:dLbl>
            <c:dLbl>
              <c:idx val="8"/>
              <c:layout>
                <c:manualLayout>
                  <c:x val="-2.2160664819944598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9-9BDC-4AE8-AC55-D61280919E48}"/>
                </c:ext>
              </c:extLst>
            </c:dLbl>
            <c:dLbl>
              <c:idx val="9"/>
              <c:layout>
                <c:manualLayout>
                  <c:x val="1.38504155124654E-2"/>
                  <c:y val="-1.8320606282236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A-9BDC-4AE8-AC55-D61280919E48}"/>
                </c:ext>
              </c:extLst>
            </c:dLbl>
            <c:dLbl>
              <c:idx val="11"/>
              <c:layout>
                <c:manualLayout>
                  <c:x val="-2.2160664819944501E-2"/>
                  <c:y val="2.2900757852796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B-9BDC-4AE8-AC55-D61280919E48}"/>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accent3">
                        <a:lumMod val="75000"/>
                      </a:schemeClr>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val>
            <c:numRef>
              <c:f>Sheet6!$B$4:$M$4</c:f>
              <c:numCache>
                <c:formatCode>0</c:formatCode>
                <c:ptCount val="12"/>
                <c:pt idx="0">
                  <c:v>0</c:v>
                </c:pt>
                <c:pt idx="1">
                  <c:v>0</c:v>
                </c:pt>
                <c:pt idx="2">
                  <c:v>52</c:v>
                </c:pt>
                <c:pt idx="3">
                  <c:v>38.875</c:v>
                </c:pt>
                <c:pt idx="4">
                  <c:v>25.25</c:v>
                </c:pt>
                <c:pt idx="5">
                  <c:v>28</c:v>
                </c:pt>
                <c:pt idx="6">
                  <c:v>55</c:v>
                </c:pt>
                <c:pt idx="7">
                  <c:v>71.1666666666667</c:v>
                </c:pt>
                <c:pt idx="8">
                  <c:v>54.2</c:v>
                </c:pt>
                <c:pt idx="9">
                  <c:v>22.8</c:v>
                </c:pt>
                <c:pt idx="10">
                  <c:v>45</c:v>
                </c:pt>
                <c:pt idx="11">
                  <c:v>23.333333333333201</c:v>
                </c:pt>
              </c:numCache>
            </c:numRef>
          </c:val>
          <c:smooth val="1"/>
          <c:extLst>
            <c:ext xmlns:c16="http://schemas.microsoft.com/office/drawing/2014/chart" uri="{C3380CC4-5D6E-409C-BE32-E72D297353CC}">
              <c16:uniqueId val="{0000001C-9BDC-4AE8-AC55-D61280919E48}"/>
            </c:ext>
          </c:extLst>
        </c:ser>
        <c:dLbls>
          <c:showLegendKey val="1"/>
          <c:showVal val="1"/>
          <c:showCatName val="1"/>
          <c:showSerName val="1"/>
          <c:showPercent val="1"/>
          <c:showBubbleSize val="1"/>
        </c:dLbls>
        <c:smooth val="0"/>
        <c:axId val="68643840"/>
        <c:axId val="68686592"/>
      </c:lineChart>
      <c:catAx>
        <c:axId val="68643840"/>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forceAA="0"/>
          <a:lstStyle/>
          <a:p>
            <a:pPr>
              <a:defRPr lang="zh-CN" sz="1000" b="1"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68686592"/>
        <c:crosses val="autoZero"/>
        <c:auto val="1"/>
        <c:lblAlgn val="ctr"/>
        <c:lblOffset val="100"/>
        <c:noMultiLvlLbl val="1"/>
      </c:catAx>
      <c:valAx>
        <c:axId val="68686592"/>
        <c:scaling>
          <c:orientation val="minMax"/>
        </c:scaling>
        <c:delete val="0"/>
        <c:axPos val="l"/>
        <c:numFmt formatCode="0"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68643840"/>
        <c:crosses val="autoZero"/>
        <c:crossBetween val="between"/>
        <c:majorUnit val="15"/>
      </c:valAx>
      <c:spPr>
        <a:noFill/>
      </c:spPr>
    </c:plotArea>
    <c:legend>
      <c:legendPos val="r"/>
      <c:layout>
        <c:manualLayout>
          <c:xMode val="edge"/>
          <c:yMode val="edge"/>
          <c:x val="0.22752763082858801"/>
          <c:y val="0.85532990667833797"/>
          <c:w val="0.55277777777777803"/>
          <c:h val="8.4484908136483905E-2"/>
        </c:manualLayout>
      </c:layout>
      <c:overlay val="0"/>
      <c:txPr>
        <a:bodyPr rot="0" spcFirstLastPara="0" vertOverflow="ellipsis" vert="horz" wrap="square" anchor="ctr" anchorCtr="1"/>
        <a:lstStyle/>
        <a:p>
          <a:pPr>
            <a:defRPr lang="zh-CN" sz="1100" b="1"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spPr>
    <a:noFill/>
    <a:ln>
      <a:noFill/>
    </a:ln>
  </c:spPr>
  <c:txPr>
    <a:bodyPr/>
    <a:lstStyle/>
    <a:p>
      <a:pPr>
        <a:defRPr lang="zh-CN"/>
      </a:pPr>
      <a:endParaRPr lang="zh-CN"/>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4979657907615498E-2"/>
          <c:y val="5.1532710929348503E-2"/>
          <c:w val="0.93818340661873401"/>
          <c:h val="0.73102718586050197"/>
        </c:manualLayout>
      </c:layout>
      <c:lineChart>
        <c:grouping val="standard"/>
        <c:varyColors val="0"/>
        <c:ser>
          <c:idx val="0"/>
          <c:order val="0"/>
          <c:tx>
            <c:strRef>
              <c:f>Sheet6!$B$30</c:f>
              <c:strCache>
                <c:ptCount val="1"/>
                <c:pt idx="0">
                  <c:v>小</c:v>
                </c:pt>
              </c:strCache>
            </c:strRef>
          </c:tx>
          <c:marker>
            <c:symbol val="none"/>
          </c:marker>
          <c:dLbls>
            <c:dLbl>
              <c:idx val="5"/>
              <c:layout>
                <c:manualLayout>
                  <c:x val="-1.45759745703186E-3"/>
                  <c:y val="5.56983953818573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84A8-4479-A03D-17552264EB88}"/>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0070C0"/>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Sheet6!$C$29:$N$29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Sheet6!$C$30:$N$30</c:f>
              <c:numCache>
                <c:formatCode>0%</c:formatCode>
                <c:ptCount val="12"/>
                <c:pt idx="0">
                  <c:v>0.57142857142857395</c:v>
                </c:pt>
                <c:pt idx="1">
                  <c:v>0.96153846153846201</c:v>
                </c:pt>
                <c:pt idx="2">
                  <c:v>0.42</c:v>
                </c:pt>
                <c:pt idx="3">
                  <c:v>0.54901960784313797</c:v>
                </c:pt>
                <c:pt idx="4">
                  <c:v>0.45</c:v>
                </c:pt>
                <c:pt idx="5">
                  <c:v>0.61538461538461597</c:v>
                </c:pt>
                <c:pt idx="6">
                  <c:v>0.64705882352941502</c:v>
                </c:pt>
                <c:pt idx="7">
                  <c:v>0.36111111111111099</c:v>
                </c:pt>
                <c:pt idx="8">
                  <c:v>0.70270270270270296</c:v>
                </c:pt>
                <c:pt idx="9">
                  <c:v>0.85000000000000098</c:v>
                </c:pt>
                <c:pt idx="10">
                  <c:v>0.94594594594594505</c:v>
                </c:pt>
                <c:pt idx="11">
                  <c:v>0.52380952380952395</c:v>
                </c:pt>
              </c:numCache>
            </c:numRef>
          </c:val>
          <c:smooth val="1"/>
          <c:extLst>
            <c:ext xmlns:c16="http://schemas.microsoft.com/office/drawing/2014/chart" uri="{C3380CC4-5D6E-409C-BE32-E72D297353CC}">
              <c16:uniqueId val="{00000001-84A8-4479-A03D-17552264EB88}"/>
            </c:ext>
          </c:extLst>
        </c:ser>
        <c:ser>
          <c:idx val="1"/>
          <c:order val="1"/>
          <c:tx>
            <c:strRef>
              <c:f>Sheet6!$B$31</c:f>
              <c:strCache>
                <c:ptCount val="1"/>
                <c:pt idx="0">
                  <c:v>中</c:v>
                </c:pt>
              </c:strCache>
            </c:strRef>
          </c:tx>
          <c:marker>
            <c:symbol val="none"/>
          </c:marker>
          <c:dLbls>
            <c:dLbl>
              <c:idx val="1"/>
              <c:layout>
                <c:manualLayout>
                  <c:x val="-5.3931105910178898E-2"/>
                  <c:y val="-4.6415329484881199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84A8-4479-A03D-17552264EB88}"/>
                </c:ext>
              </c:extLst>
            </c:dLbl>
            <c:dLbl>
              <c:idx val="3"/>
              <c:layout>
                <c:manualLayout>
                  <c:x val="-2.91519491406373E-2"/>
                  <c:y val="-8.35475930727866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84A8-4479-A03D-17552264EB88}"/>
                </c:ext>
              </c:extLst>
            </c:dLbl>
            <c:dLbl>
              <c:idx val="5"/>
              <c:layout>
                <c:manualLayout>
                  <c:x val="-1.31183771132867E-2"/>
                  <c:y val="-5.1056862433369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84A8-4479-A03D-17552264EB88}"/>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C00000"/>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Sheet6!$C$29:$N$29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Sheet6!$C$31:$N$31</c:f>
              <c:numCache>
                <c:formatCode>0%</c:formatCode>
                <c:ptCount val="12"/>
                <c:pt idx="0">
                  <c:v>0.71111111111111103</c:v>
                </c:pt>
                <c:pt idx="1">
                  <c:v>1</c:v>
                </c:pt>
                <c:pt idx="2">
                  <c:v>0.61764705882353199</c:v>
                </c:pt>
                <c:pt idx="3">
                  <c:v>0.53636363636363704</c:v>
                </c:pt>
                <c:pt idx="4">
                  <c:v>0.72519083969465803</c:v>
                </c:pt>
                <c:pt idx="5">
                  <c:v>0.58571428571428397</c:v>
                </c:pt>
                <c:pt idx="6">
                  <c:v>0.64814814814815003</c:v>
                </c:pt>
                <c:pt idx="7">
                  <c:v>0.67692307692308096</c:v>
                </c:pt>
                <c:pt idx="8">
                  <c:v>0.60714285714285798</c:v>
                </c:pt>
                <c:pt idx="9">
                  <c:v>0.662337662337662</c:v>
                </c:pt>
                <c:pt idx="10">
                  <c:v>0.88888888888888895</c:v>
                </c:pt>
                <c:pt idx="11">
                  <c:v>0.8</c:v>
                </c:pt>
              </c:numCache>
            </c:numRef>
          </c:val>
          <c:smooth val="1"/>
          <c:extLst>
            <c:ext xmlns:c16="http://schemas.microsoft.com/office/drawing/2014/chart" uri="{C3380CC4-5D6E-409C-BE32-E72D297353CC}">
              <c16:uniqueId val="{00000005-84A8-4479-A03D-17552264EB88}"/>
            </c:ext>
          </c:extLst>
        </c:ser>
        <c:ser>
          <c:idx val="2"/>
          <c:order val="2"/>
          <c:tx>
            <c:strRef>
              <c:f>Sheet6!$B$32</c:f>
              <c:strCache>
                <c:ptCount val="1"/>
                <c:pt idx="0">
                  <c:v>大</c:v>
                </c:pt>
              </c:strCache>
            </c:strRef>
          </c:tx>
          <c:marker>
            <c:symbol val="none"/>
          </c:marker>
          <c:dLbls>
            <c:dLbl>
              <c:idx val="1"/>
              <c:layout>
                <c:manualLayout>
                  <c:x val="1.45759745703186E-3"/>
                  <c:y val="-4.6415329484881199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84A8-4479-A03D-17552264EB88}"/>
                </c:ext>
              </c:extLst>
            </c:dLbl>
            <c:dLbl>
              <c:idx val="5"/>
              <c:layout>
                <c:manualLayout>
                  <c:x val="0"/>
                  <c:y val="1.85661317939526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84A8-4479-A03D-17552264EB88}"/>
                </c:ext>
              </c:extLst>
            </c:dLbl>
            <c:dLbl>
              <c:idx val="6"/>
              <c:layout>
                <c:manualLayout>
                  <c:x val="-1.60335720273505E-2"/>
                  <c:y val="-6.0339928330345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84A8-4479-A03D-17552264EB88}"/>
                </c:ext>
              </c:extLst>
            </c:dLbl>
            <c:dLbl>
              <c:idx val="7"/>
              <c:layout>
                <c:manualLayout>
                  <c:x val="-1.1660779656255E-2"/>
                  <c:y val="-4.64153294848812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84A8-4479-A03D-17552264EB88}"/>
                </c:ext>
              </c:extLst>
            </c:dLbl>
            <c:dLbl>
              <c:idx val="11"/>
              <c:layout>
                <c:manualLayout>
                  <c:x val="0"/>
                  <c:y val="1.85661317939526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84A8-4479-A03D-17552264EB88}"/>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00B050"/>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Sheet6!$C$29:$N$29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Sheet6!$C$32:$N$32</c:f>
              <c:numCache>
                <c:formatCode>0%</c:formatCode>
                <c:ptCount val="12"/>
                <c:pt idx="0">
                  <c:v>0</c:v>
                </c:pt>
                <c:pt idx="1">
                  <c:v>1</c:v>
                </c:pt>
                <c:pt idx="2">
                  <c:v>1</c:v>
                </c:pt>
                <c:pt idx="3">
                  <c:v>1</c:v>
                </c:pt>
                <c:pt idx="4">
                  <c:v>0.60000000000000098</c:v>
                </c:pt>
                <c:pt idx="5">
                  <c:v>0.11111111111111099</c:v>
                </c:pt>
                <c:pt idx="6">
                  <c:v>0.66666666666666696</c:v>
                </c:pt>
                <c:pt idx="7">
                  <c:v>0.72222222222222199</c:v>
                </c:pt>
                <c:pt idx="8">
                  <c:v>0.70000000000000095</c:v>
                </c:pt>
                <c:pt idx="9">
                  <c:v>0.2</c:v>
                </c:pt>
                <c:pt idx="10">
                  <c:v>1</c:v>
                </c:pt>
                <c:pt idx="11">
                  <c:v>0.750000000000002</c:v>
                </c:pt>
              </c:numCache>
            </c:numRef>
          </c:val>
          <c:smooth val="1"/>
          <c:extLst>
            <c:ext xmlns:c16="http://schemas.microsoft.com/office/drawing/2014/chart" uri="{C3380CC4-5D6E-409C-BE32-E72D297353CC}">
              <c16:uniqueId val="{0000000B-84A8-4479-A03D-17552264EB88}"/>
            </c:ext>
          </c:extLst>
        </c:ser>
        <c:dLbls>
          <c:showLegendKey val="1"/>
          <c:showVal val="1"/>
          <c:showCatName val="1"/>
          <c:showSerName val="1"/>
          <c:showPercent val="1"/>
          <c:showBubbleSize val="1"/>
        </c:dLbls>
        <c:smooth val="0"/>
        <c:axId val="69416064"/>
        <c:axId val="69417600"/>
      </c:lineChart>
      <c:catAx>
        <c:axId val="69416064"/>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69417600"/>
        <c:crosses val="autoZero"/>
        <c:auto val="1"/>
        <c:lblAlgn val="ctr"/>
        <c:lblOffset val="100"/>
        <c:noMultiLvlLbl val="0"/>
      </c:catAx>
      <c:valAx>
        <c:axId val="69417600"/>
        <c:scaling>
          <c:orientation val="minMax"/>
          <c:max val="1"/>
        </c:scaling>
        <c:delete val="0"/>
        <c:axPos val="l"/>
        <c:numFmt formatCode="0%" sourceLinked="1"/>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69416064"/>
        <c:crosses val="autoZero"/>
        <c:crossBetween val="between"/>
        <c:majorUnit val="0.25"/>
      </c:valAx>
      <c:spPr>
        <a:noFill/>
      </c:spPr>
    </c:plotArea>
    <c:legend>
      <c:legendPos val="r"/>
      <c:layout>
        <c:manualLayout>
          <c:xMode val="edge"/>
          <c:yMode val="edge"/>
          <c:x val="0.196746849064521"/>
          <c:y val="0.89395303280321203"/>
          <c:w val="0.53642860363111"/>
          <c:h val="8.4702128709343197E-2"/>
        </c:manualLayout>
      </c:layout>
      <c:overlay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spPr>
    <a:noFill/>
    <a:ln>
      <a:noFill/>
    </a:ln>
  </c:spPr>
  <c:txPr>
    <a:bodyPr/>
    <a:lstStyle/>
    <a:p>
      <a:pPr>
        <a:defRPr lang="zh-CN"/>
      </a:pPr>
      <a:endParaRPr lang="zh-CN"/>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53975" cap="rnd" cmpd="sng" algn="ctr">
              <a:solidFill>
                <a:schemeClr val="bg1">
                  <a:lumMod val="50000"/>
                </a:schemeClr>
              </a:solidFill>
              <a:prstDash val="sysDot"/>
              <a:round/>
            </a:ln>
          </c:spPr>
          <c:marker>
            <c:symbol val="none"/>
          </c:marker>
          <c:cat>
            <c:strRef>
              <c:f>Sheet1!$B$1:$M$1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Sheet1!$B$2:$M$2</c:f>
              <c:numCache>
                <c:formatCode>General</c:formatCode>
                <c:ptCount val="12"/>
                <c:pt idx="0">
                  <c:v>24</c:v>
                </c:pt>
                <c:pt idx="1">
                  <c:v>25</c:v>
                </c:pt>
                <c:pt idx="2">
                  <c:v>21</c:v>
                </c:pt>
                <c:pt idx="3">
                  <c:v>28</c:v>
                </c:pt>
                <c:pt idx="4">
                  <c:v>9</c:v>
                </c:pt>
                <c:pt idx="5">
                  <c:v>40</c:v>
                </c:pt>
                <c:pt idx="6">
                  <c:v>44</c:v>
                </c:pt>
                <c:pt idx="7">
                  <c:v>13</c:v>
                </c:pt>
                <c:pt idx="8">
                  <c:v>26</c:v>
                </c:pt>
                <c:pt idx="9">
                  <c:v>17</c:v>
                </c:pt>
                <c:pt idx="10">
                  <c:v>35</c:v>
                </c:pt>
                <c:pt idx="11">
                  <c:v>22</c:v>
                </c:pt>
              </c:numCache>
            </c:numRef>
          </c:val>
          <c:smooth val="1"/>
          <c:extLst>
            <c:ext xmlns:c16="http://schemas.microsoft.com/office/drawing/2014/chart" uri="{C3380CC4-5D6E-409C-BE32-E72D297353CC}">
              <c16:uniqueId val="{00000000-0AB2-4D22-A04C-1B711E868549}"/>
            </c:ext>
          </c:extLst>
        </c:ser>
        <c:dLbls>
          <c:showLegendKey val="0"/>
          <c:showVal val="0"/>
          <c:showCatName val="0"/>
          <c:showSerName val="0"/>
          <c:showPercent val="0"/>
          <c:showBubbleSize val="0"/>
        </c:dLbls>
        <c:smooth val="0"/>
        <c:axId val="69486464"/>
        <c:axId val="69522944"/>
      </c:lineChart>
      <c:catAx>
        <c:axId val="69486464"/>
        <c:scaling>
          <c:orientation val="minMax"/>
        </c:scaling>
        <c:delete val="1"/>
        <c:axPos val="b"/>
        <c:numFmt formatCode="General" sourceLinked="0"/>
        <c:majorTickMark val="out"/>
        <c:minorTickMark val="none"/>
        <c:tickLblPos val="nextTo"/>
        <c:crossAx val="69522944"/>
        <c:crosses val="autoZero"/>
        <c:auto val="1"/>
        <c:lblAlgn val="ctr"/>
        <c:lblOffset val="100"/>
        <c:noMultiLvlLbl val="0"/>
      </c:catAx>
      <c:valAx>
        <c:axId val="69522944"/>
        <c:scaling>
          <c:orientation val="minMax"/>
        </c:scaling>
        <c:delete val="1"/>
        <c:axPos val="l"/>
        <c:numFmt formatCode="General" sourceLinked="1"/>
        <c:majorTickMark val="out"/>
        <c:minorTickMark val="none"/>
        <c:tickLblPos val="nextTo"/>
        <c:crossAx val="69486464"/>
        <c:crosses val="autoZero"/>
        <c:crossBetween val="between"/>
      </c:valAx>
      <c:spPr>
        <a:noFill/>
      </c:spPr>
    </c:plotArea>
    <c:plotVisOnly val="1"/>
    <c:dispBlanksAs val="gap"/>
    <c:showDLblsOverMax val="0"/>
  </c:chart>
  <c:spPr>
    <a:noFill/>
    <a:ln>
      <a:noFill/>
    </a:ln>
  </c:spPr>
  <c:txPr>
    <a:bodyPr/>
    <a:lstStyle/>
    <a:p>
      <a:pPr>
        <a:defRPr lang="zh-CN"/>
      </a:pPr>
      <a:endParaRPr lang="zh-CN"/>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319686479350798E-2"/>
          <c:y val="5.6311918178151801E-2"/>
          <c:w val="0.91710792480477299"/>
          <c:h val="0.70164224808812203"/>
        </c:manualLayout>
      </c:layout>
      <c:lineChart>
        <c:grouping val="standard"/>
        <c:varyColors val="0"/>
        <c:ser>
          <c:idx val="0"/>
          <c:order val="0"/>
          <c:tx>
            <c:strRef>
              <c:f>Sheet1!$B$1</c:f>
              <c:strCache>
                <c:ptCount val="1"/>
                <c:pt idx="0">
                  <c:v>小挖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0.0%</c:formatCode>
                <c:ptCount val="12"/>
                <c:pt idx="0">
                  <c:v>0.76600000000000401</c:v>
                </c:pt>
                <c:pt idx="1">
                  <c:v>0.74700000000000399</c:v>
                </c:pt>
                <c:pt idx="2">
                  <c:v>0.78200000000000003</c:v>
                </c:pt>
                <c:pt idx="3">
                  <c:v>0.63600000000000401</c:v>
                </c:pt>
                <c:pt idx="4">
                  <c:v>0.71800000000000097</c:v>
                </c:pt>
                <c:pt idx="5">
                  <c:v>0.154</c:v>
                </c:pt>
                <c:pt idx="6">
                  <c:v>0.66000000000000503</c:v>
                </c:pt>
                <c:pt idx="7">
                  <c:v>0.78</c:v>
                </c:pt>
                <c:pt idx="8">
                  <c:v>0.632000000000004</c:v>
                </c:pt>
                <c:pt idx="9">
                  <c:v>0.81799999999999995</c:v>
                </c:pt>
                <c:pt idx="10">
                  <c:v>0.69099999999999995</c:v>
                </c:pt>
                <c:pt idx="11">
                  <c:v>0.52700000000000002</c:v>
                </c:pt>
              </c:numCache>
            </c:numRef>
          </c:val>
          <c:smooth val="1"/>
          <c:extLst>
            <c:ext xmlns:c16="http://schemas.microsoft.com/office/drawing/2014/chart" uri="{C3380CC4-5D6E-409C-BE32-E72D297353CC}">
              <c16:uniqueId val="{00000000-067D-4EA5-87ED-9C2E3E5F2FE3}"/>
            </c:ext>
          </c:extLst>
        </c:ser>
        <c:ser>
          <c:idx val="1"/>
          <c:order val="1"/>
          <c:tx>
            <c:strRef>
              <c:f>Sheet1!$C$1</c:f>
              <c:strCache>
                <c:ptCount val="1"/>
                <c:pt idx="0">
                  <c:v>中挖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0.0%</c:formatCode>
                <c:ptCount val="12"/>
                <c:pt idx="0">
                  <c:v>0.80500000000000005</c:v>
                </c:pt>
                <c:pt idx="1">
                  <c:v>0.36899999999999999</c:v>
                </c:pt>
                <c:pt idx="2">
                  <c:v>0.60400000000000098</c:v>
                </c:pt>
                <c:pt idx="3">
                  <c:v>0.155</c:v>
                </c:pt>
                <c:pt idx="4">
                  <c:v>0.34100000000000003</c:v>
                </c:pt>
                <c:pt idx="5">
                  <c:v>0</c:v>
                </c:pt>
                <c:pt idx="6">
                  <c:v>0.20699999999999999</c:v>
                </c:pt>
                <c:pt idx="7">
                  <c:v>0.53800000000000003</c:v>
                </c:pt>
                <c:pt idx="8">
                  <c:v>0.14099999999999999</c:v>
                </c:pt>
                <c:pt idx="9">
                  <c:v>0.372000000000002</c:v>
                </c:pt>
                <c:pt idx="10">
                  <c:v>0.311000000000002</c:v>
                </c:pt>
                <c:pt idx="11">
                  <c:v>0.40899999999999997</c:v>
                </c:pt>
              </c:numCache>
            </c:numRef>
          </c:val>
          <c:smooth val="1"/>
          <c:extLst>
            <c:ext xmlns:c16="http://schemas.microsoft.com/office/drawing/2014/chart" uri="{C3380CC4-5D6E-409C-BE32-E72D297353CC}">
              <c16:uniqueId val="{00000001-067D-4EA5-87ED-9C2E3E5F2FE3}"/>
            </c:ext>
          </c:extLst>
        </c:ser>
        <c:ser>
          <c:idx val="2"/>
          <c:order val="2"/>
          <c:tx>
            <c:strRef>
              <c:f>Sheet1!$D$1</c:f>
              <c:strCache>
                <c:ptCount val="1"/>
                <c:pt idx="0">
                  <c:v>大挖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0.0%</c:formatCode>
                <c:ptCount val="12"/>
                <c:pt idx="0">
                  <c:v>0.46700000000000003</c:v>
                </c:pt>
                <c:pt idx="1">
                  <c:v>0.55000000000000004</c:v>
                </c:pt>
                <c:pt idx="2">
                  <c:v>0.57299999999999995</c:v>
                </c:pt>
                <c:pt idx="3">
                  <c:v>0.70000000000000095</c:v>
                </c:pt>
                <c:pt idx="4">
                  <c:v>0.4</c:v>
                </c:pt>
                <c:pt idx="5">
                  <c:v>0</c:v>
                </c:pt>
                <c:pt idx="6">
                  <c:v>0</c:v>
                </c:pt>
                <c:pt idx="7">
                  <c:v>0.2</c:v>
                </c:pt>
                <c:pt idx="8">
                  <c:v>0.68</c:v>
                </c:pt>
                <c:pt idx="9">
                  <c:v>0.74300000000000399</c:v>
                </c:pt>
                <c:pt idx="10">
                  <c:v>0</c:v>
                </c:pt>
                <c:pt idx="11">
                  <c:v>0</c:v>
                </c:pt>
              </c:numCache>
            </c:numRef>
          </c:val>
          <c:smooth val="1"/>
          <c:extLst>
            <c:ext xmlns:c16="http://schemas.microsoft.com/office/drawing/2014/chart" uri="{C3380CC4-5D6E-409C-BE32-E72D297353CC}">
              <c16:uniqueId val="{00000002-067D-4EA5-87ED-9C2E3E5F2FE3}"/>
            </c:ext>
          </c:extLst>
        </c:ser>
        <c:ser>
          <c:idx val="3"/>
          <c:order val="3"/>
          <c:tx>
            <c:strRef>
              <c:f>Sheet1!$E$1</c:f>
              <c:strCache>
                <c:ptCount val="1"/>
                <c:pt idx="0">
                  <c:v>总体</c:v>
                </c:pt>
              </c:strCache>
            </c:strRef>
          </c:tx>
          <c:dLbls>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Sheet1!$E$2:$E$13</c:f>
              <c:numCache>
                <c:formatCode>0.0%</c:formatCode>
                <c:ptCount val="12"/>
                <c:pt idx="0">
                  <c:v>0.76700000000000401</c:v>
                </c:pt>
                <c:pt idx="1">
                  <c:v>0.633000000000004</c:v>
                </c:pt>
                <c:pt idx="2">
                  <c:v>0.73500000000000099</c:v>
                </c:pt>
                <c:pt idx="3">
                  <c:v>0.53600000000000003</c:v>
                </c:pt>
                <c:pt idx="4">
                  <c:v>0.67700000000000504</c:v>
                </c:pt>
                <c:pt idx="5">
                  <c:v>0</c:v>
                </c:pt>
                <c:pt idx="6">
                  <c:v>0.57299999999999995</c:v>
                </c:pt>
                <c:pt idx="7">
                  <c:v>0.72900000000000098</c:v>
                </c:pt>
                <c:pt idx="8">
                  <c:v>0.53200000000000003</c:v>
                </c:pt>
                <c:pt idx="9">
                  <c:v>0.68700000000000105</c:v>
                </c:pt>
                <c:pt idx="10">
                  <c:v>0.54800000000000004</c:v>
                </c:pt>
                <c:pt idx="11">
                  <c:v>0.46</c:v>
                </c:pt>
              </c:numCache>
            </c:numRef>
          </c:val>
          <c:smooth val="1"/>
          <c:extLst>
            <c:ext xmlns:c16="http://schemas.microsoft.com/office/drawing/2014/chart" uri="{C3380CC4-5D6E-409C-BE32-E72D297353CC}">
              <c16:uniqueId val="{00000003-067D-4EA5-87ED-9C2E3E5F2FE3}"/>
            </c:ext>
          </c:extLst>
        </c:ser>
        <c:dLbls>
          <c:showLegendKey val="0"/>
          <c:showVal val="0"/>
          <c:showCatName val="0"/>
          <c:showSerName val="0"/>
          <c:showPercent val="0"/>
          <c:showBubbleSize val="0"/>
        </c:dLbls>
        <c:marker val="1"/>
        <c:smooth val="0"/>
        <c:axId val="108960000"/>
        <c:axId val="138250880"/>
      </c:lineChart>
      <c:catAx>
        <c:axId val="108960000"/>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38250880"/>
        <c:crossesAt val="-2"/>
        <c:auto val="1"/>
        <c:lblAlgn val="ctr"/>
        <c:lblOffset val="0"/>
        <c:noMultiLvlLbl val="0"/>
      </c:catAx>
      <c:valAx>
        <c:axId val="138250880"/>
        <c:scaling>
          <c:orientation val="minMax"/>
        </c:scaling>
        <c:delete val="0"/>
        <c:axPos val="l"/>
        <c:numFmt formatCode="0%" sourceLinked="0"/>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08960000"/>
        <c:crosses val="autoZero"/>
        <c:crossBetween val="between"/>
        <c:minorUnit val="0.2"/>
      </c:valAx>
    </c:plotArea>
    <c:legend>
      <c:legendPos val="b"/>
      <c:layout>
        <c:manualLayout>
          <c:xMode val="edge"/>
          <c:yMode val="edge"/>
          <c:x val="0.34230563047159202"/>
          <c:y val="0.84259002136042405"/>
          <c:w val="0.331849529195483"/>
          <c:h val="8.5338411005422998E-2"/>
        </c:manualLayout>
      </c:layout>
      <c:overlay val="0"/>
      <c:txPr>
        <a:bodyPr rot="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900">
          <a:latin typeface="微软雅黑" panose="020B0503020204020204" charset="-122"/>
          <a:ea typeface="微软雅黑" panose="020B0503020204020204" charset="-122"/>
        </a:defRPr>
      </a:pPr>
      <a:endParaRPr lang="zh-CN"/>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313795258271195E-2"/>
          <c:y val="3.7092833475711302E-2"/>
          <c:w val="0.89523769654858998"/>
          <c:h val="0.74488518866860998"/>
        </c:manualLayout>
      </c:layout>
      <c:lineChart>
        <c:grouping val="standard"/>
        <c:varyColors val="0"/>
        <c:ser>
          <c:idx val="0"/>
          <c:order val="0"/>
          <c:tx>
            <c:strRef>
              <c:f>Sheet1!$B$1</c:f>
              <c:strCache>
                <c:ptCount val="1"/>
                <c:pt idx="0">
                  <c:v>小挖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0.0%</c:formatCode>
                <c:ptCount val="12"/>
                <c:pt idx="0">
                  <c:v>0</c:v>
                </c:pt>
                <c:pt idx="1">
                  <c:v>0.76470000000000404</c:v>
                </c:pt>
                <c:pt idx="2">
                  <c:v>0.59089999999999998</c:v>
                </c:pt>
                <c:pt idx="3">
                  <c:v>0.89190000000000003</c:v>
                </c:pt>
                <c:pt idx="4">
                  <c:v>0.65910000000000302</c:v>
                </c:pt>
                <c:pt idx="5">
                  <c:v>0.35589999999999999</c:v>
                </c:pt>
                <c:pt idx="6">
                  <c:v>7.5499999999999998E-2</c:v>
                </c:pt>
                <c:pt idx="7">
                  <c:v>0.28000000000000003</c:v>
                </c:pt>
                <c:pt idx="8">
                  <c:v>0</c:v>
                </c:pt>
                <c:pt idx="9">
                  <c:v>0</c:v>
                </c:pt>
                <c:pt idx="10">
                  <c:v>0.54549999999999998</c:v>
                </c:pt>
                <c:pt idx="11">
                  <c:v>0</c:v>
                </c:pt>
              </c:numCache>
            </c:numRef>
          </c:val>
          <c:smooth val="1"/>
          <c:extLst>
            <c:ext xmlns:c16="http://schemas.microsoft.com/office/drawing/2014/chart" uri="{C3380CC4-5D6E-409C-BE32-E72D297353CC}">
              <c16:uniqueId val="{00000000-F67C-416D-BA40-649AB9E93825}"/>
            </c:ext>
          </c:extLst>
        </c:ser>
        <c:ser>
          <c:idx val="1"/>
          <c:order val="1"/>
          <c:tx>
            <c:strRef>
              <c:f>Sheet1!$C$1</c:f>
              <c:strCache>
                <c:ptCount val="1"/>
                <c:pt idx="0">
                  <c:v>中挖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0.0%</c:formatCode>
                <c:ptCount val="12"/>
                <c:pt idx="0">
                  <c:v>0.23530000000000001</c:v>
                </c:pt>
                <c:pt idx="1">
                  <c:v>0.85190000000000299</c:v>
                </c:pt>
                <c:pt idx="2">
                  <c:v>0.21920000000000101</c:v>
                </c:pt>
                <c:pt idx="3">
                  <c:v>0.25769999999999998</c:v>
                </c:pt>
                <c:pt idx="4">
                  <c:v>0.42859999999999998</c:v>
                </c:pt>
                <c:pt idx="5">
                  <c:v>0.51090000000000002</c:v>
                </c:pt>
                <c:pt idx="6">
                  <c:v>0.67680000000000395</c:v>
                </c:pt>
                <c:pt idx="7">
                  <c:v>0.69130000000000003</c:v>
                </c:pt>
                <c:pt idx="8">
                  <c:v>0</c:v>
                </c:pt>
                <c:pt idx="9">
                  <c:v>0.80820000000000003</c:v>
                </c:pt>
                <c:pt idx="10">
                  <c:v>0</c:v>
                </c:pt>
                <c:pt idx="11">
                  <c:v>0.57270000000000099</c:v>
                </c:pt>
              </c:numCache>
            </c:numRef>
          </c:val>
          <c:smooth val="1"/>
          <c:extLst>
            <c:ext xmlns:c16="http://schemas.microsoft.com/office/drawing/2014/chart" uri="{C3380CC4-5D6E-409C-BE32-E72D297353CC}">
              <c16:uniqueId val="{00000001-F67C-416D-BA40-649AB9E93825}"/>
            </c:ext>
          </c:extLst>
        </c:ser>
        <c:ser>
          <c:idx val="2"/>
          <c:order val="2"/>
          <c:tx>
            <c:strRef>
              <c:f>Sheet1!$D$1</c:f>
              <c:strCache>
                <c:ptCount val="1"/>
                <c:pt idx="0">
                  <c:v>大挖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0.0%</c:formatCode>
                <c:ptCount val="12"/>
                <c:pt idx="0">
                  <c:v>0</c:v>
                </c:pt>
                <c:pt idx="1">
                  <c:v>0.33330000000000298</c:v>
                </c:pt>
                <c:pt idx="2">
                  <c:v>0.5</c:v>
                </c:pt>
                <c:pt idx="3">
                  <c:v>0</c:v>
                </c:pt>
                <c:pt idx="4">
                  <c:v>0</c:v>
                </c:pt>
                <c:pt idx="5">
                  <c:v>0</c:v>
                </c:pt>
                <c:pt idx="6">
                  <c:v>0</c:v>
                </c:pt>
                <c:pt idx="7">
                  <c:v>0.46150000000000002</c:v>
                </c:pt>
                <c:pt idx="8">
                  <c:v>5.5599999999999997E-2</c:v>
                </c:pt>
                <c:pt idx="9">
                  <c:v>0</c:v>
                </c:pt>
                <c:pt idx="10">
                  <c:v>0.25</c:v>
                </c:pt>
                <c:pt idx="11">
                  <c:v>0</c:v>
                </c:pt>
              </c:numCache>
            </c:numRef>
          </c:val>
          <c:smooth val="1"/>
          <c:extLst>
            <c:ext xmlns:c16="http://schemas.microsoft.com/office/drawing/2014/chart" uri="{C3380CC4-5D6E-409C-BE32-E72D297353CC}">
              <c16:uniqueId val="{00000002-F67C-416D-BA40-649AB9E93825}"/>
            </c:ext>
          </c:extLst>
        </c:ser>
        <c:ser>
          <c:idx val="3"/>
          <c:order val="3"/>
          <c:tx>
            <c:strRef>
              <c:f>Sheet1!$E$1</c:f>
              <c:strCache>
                <c:ptCount val="1"/>
                <c:pt idx="0">
                  <c:v>总体</c:v>
                </c:pt>
              </c:strCache>
            </c:strRef>
          </c:tx>
          <c:dLbls>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Sheet1!$E$2:$E$13</c:f>
              <c:numCache>
                <c:formatCode>0.0%</c:formatCode>
                <c:ptCount val="12"/>
                <c:pt idx="0">
                  <c:v>0</c:v>
                </c:pt>
                <c:pt idx="1">
                  <c:v>0.78200000000000003</c:v>
                </c:pt>
                <c:pt idx="2">
                  <c:v>0.30599999999999999</c:v>
                </c:pt>
                <c:pt idx="3">
                  <c:v>0.439000000000001</c:v>
                </c:pt>
                <c:pt idx="4">
                  <c:v>0.39600000000000202</c:v>
                </c:pt>
                <c:pt idx="5">
                  <c:v>0.45700000000000002</c:v>
                </c:pt>
                <c:pt idx="6">
                  <c:v>0.44400000000000001</c:v>
                </c:pt>
                <c:pt idx="7">
                  <c:v>0.64200000000000301</c:v>
                </c:pt>
                <c:pt idx="8">
                  <c:v>0.122</c:v>
                </c:pt>
                <c:pt idx="9">
                  <c:v>0.48899999999999999</c:v>
                </c:pt>
                <c:pt idx="10">
                  <c:v>0.127</c:v>
                </c:pt>
                <c:pt idx="11">
                  <c:v>0.35699999999999998</c:v>
                </c:pt>
              </c:numCache>
            </c:numRef>
          </c:val>
          <c:smooth val="1"/>
          <c:extLst>
            <c:ext xmlns:c16="http://schemas.microsoft.com/office/drawing/2014/chart" uri="{C3380CC4-5D6E-409C-BE32-E72D297353CC}">
              <c16:uniqueId val="{00000003-F67C-416D-BA40-649AB9E93825}"/>
            </c:ext>
          </c:extLst>
        </c:ser>
        <c:dLbls>
          <c:showLegendKey val="0"/>
          <c:showVal val="0"/>
          <c:showCatName val="0"/>
          <c:showSerName val="0"/>
          <c:showPercent val="0"/>
          <c:showBubbleSize val="0"/>
        </c:dLbls>
        <c:marker val="1"/>
        <c:smooth val="0"/>
        <c:axId val="109295872"/>
        <c:axId val="109299200"/>
      </c:lineChart>
      <c:catAx>
        <c:axId val="109295872"/>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09299200"/>
        <c:crossesAt val="-100"/>
        <c:auto val="1"/>
        <c:lblAlgn val="ctr"/>
        <c:lblOffset val="0"/>
        <c:noMultiLvlLbl val="0"/>
      </c:catAx>
      <c:valAx>
        <c:axId val="109299200"/>
        <c:scaling>
          <c:orientation val="minMax"/>
        </c:scaling>
        <c:delete val="0"/>
        <c:axPos val="l"/>
        <c:numFmt formatCode="0.0%"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09295872"/>
        <c:crosses val="autoZero"/>
        <c:crossBetween val="between"/>
        <c:minorUnit val="0.5"/>
      </c:valAx>
    </c:plotArea>
    <c:legend>
      <c:legendPos val="b"/>
      <c:layout>
        <c:manualLayout>
          <c:xMode val="edge"/>
          <c:yMode val="edge"/>
          <c:x val="0.35819951011749501"/>
          <c:y val="0.86180910606286498"/>
          <c:w val="0.331849529195483"/>
          <c:h val="8.5338411005422998E-2"/>
        </c:manualLayout>
      </c:layout>
      <c:overlay val="0"/>
      <c:txPr>
        <a:bodyPr rot="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900">
          <a:latin typeface="微软雅黑" panose="020B0503020204020204" charset="-122"/>
          <a:ea typeface="微软雅黑" panose="020B0503020204020204" charset="-122"/>
        </a:defRPr>
      </a:pPr>
      <a:endParaRPr lang="zh-CN"/>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9751953172811498E-2"/>
          <c:y val="6.5508594283174904E-2"/>
          <c:w val="0.91007967099700804"/>
          <c:h val="0.68402392018170799"/>
        </c:manualLayout>
      </c:layout>
      <c:lineChart>
        <c:grouping val="standard"/>
        <c:varyColors val="0"/>
        <c:ser>
          <c:idx val="0"/>
          <c:order val="0"/>
          <c:tx>
            <c:strRef>
              <c:f>kpi!$A$3</c:f>
              <c:strCache>
                <c:ptCount val="1"/>
                <c:pt idx="0">
                  <c:v>大挖</c:v>
                </c:pt>
              </c:strCache>
            </c:strRef>
          </c:tx>
          <c:spPr>
            <a:ln w="28575" cap="rnd" cmpd="sng" algn="ctr">
              <a:solidFill>
                <a:schemeClr val="accent1">
                  <a:shade val="95000"/>
                  <a:satMod val="105000"/>
                </a:schemeClr>
              </a:solidFill>
              <a:prstDash val="solid"/>
              <a:round/>
            </a:ln>
          </c:spPr>
          <c:dLbls>
            <c:dLbl>
              <c:idx val="10"/>
              <c:layout>
                <c:manualLayout>
                  <c:x val="-3.7366375487469801E-2"/>
                  <c:y val="-1.95965880334285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3A53-4A6D-A132-C0CAC206DDD9}"/>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kpi!$B$2:$M$2</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kpi!$B$3:$M$3</c:f>
              <c:numCache>
                <c:formatCode>0.0%</c:formatCode>
                <c:ptCount val="12"/>
                <c:pt idx="0">
                  <c:v>0.96250000000000002</c:v>
                </c:pt>
                <c:pt idx="1">
                  <c:v>0.63160000000000405</c:v>
                </c:pt>
                <c:pt idx="2">
                  <c:v>0.87840000000000096</c:v>
                </c:pt>
                <c:pt idx="3">
                  <c:v>0.68120000000000003</c:v>
                </c:pt>
                <c:pt idx="4">
                  <c:v>0.85370000000000401</c:v>
                </c:pt>
                <c:pt idx="5">
                  <c:v>0.9</c:v>
                </c:pt>
                <c:pt idx="6">
                  <c:v>0.41399999999999998</c:v>
                </c:pt>
                <c:pt idx="7">
                  <c:v>0.62960000000000405</c:v>
                </c:pt>
                <c:pt idx="8">
                  <c:v>0.32880000000000198</c:v>
                </c:pt>
                <c:pt idx="9">
                  <c:v>4.8800000000000003E-2</c:v>
                </c:pt>
                <c:pt idx="10">
                  <c:v>0.209900000000001</c:v>
                </c:pt>
                <c:pt idx="11">
                  <c:v>0.1268</c:v>
                </c:pt>
              </c:numCache>
            </c:numRef>
          </c:val>
          <c:smooth val="1"/>
          <c:extLst>
            <c:ext xmlns:c16="http://schemas.microsoft.com/office/drawing/2014/chart" uri="{C3380CC4-5D6E-409C-BE32-E72D297353CC}">
              <c16:uniqueId val="{00000001-3A53-4A6D-A132-C0CAC206DDD9}"/>
            </c:ext>
          </c:extLst>
        </c:ser>
        <c:ser>
          <c:idx val="1"/>
          <c:order val="1"/>
          <c:tx>
            <c:strRef>
              <c:f>kpi!$A$4</c:f>
              <c:strCache>
                <c:ptCount val="1"/>
                <c:pt idx="0">
                  <c:v>中挖</c:v>
                </c:pt>
              </c:strCache>
            </c:strRef>
          </c:tx>
          <c:spPr>
            <a:ln w="28575" cap="rnd" cmpd="sng" algn="ctr">
              <a:solidFill>
                <a:schemeClr val="accent2">
                  <a:shade val="95000"/>
                  <a:satMod val="105000"/>
                </a:schemeClr>
              </a:solidFill>
              <a:prstDash val="solid"/>
              <a:round/>
            </a:ln>
          </c:spPr>
          <c:dLbls>
            <c:dLbl>
              <c:idx val="0"/>
              <c:delete val="1"/>
              <c:extLst>
                <c:ext xmlns:c15="http://schemas.microsoft.com/office/drawing/2012/chart" uri="{CE6537A1-D6FC-4f65-9D91-7224C49458BB}"/>
                <c:ext xmlns:c16="http://schemas.microsoft.com/office/drawing/2014/chart" uri="{C3380CC4-5D6E-409C-BE32-E72D297353CC}">
                  <c16:uniqueId val="{00000002-3A53-4A6D-A132-C0CAC206DDD9}"/>
                </c:ext>
              </c:extLst>
            </c:dLbl>
            <c:dLbl>
              <c:idx val="1"/>
              <c:delete val="1"/>
              <c:extLst>
                <c:ext xmlns:c15="http://schemas.microsoft.com/office/drawing/2012/chart" uri="{CE6537A1-D6FC-4f65-9D91-7224C49458BB}"/>
                <c:ext xmlns:c16="http://schemas.microsoft.com/office/drawing/2014/chart" uri="{C3380CC4-5D6E-409C-BE32-E72D297353CC}">
                  <c16:uniqueId val="{00000003-3A53-4A6D-A132-C0CAC206DDD9}"/>
                </c:ext>
              </c:extLst>
            </c:dLbl>
            <c:dLbl>
              <c:idx val="2"/>
              <c:delete val="1"/>
              <c:extLst>
                <c:ext xmlns:c15="http://schemas.microsoft.com/office/drawing/2012/chart" uri="{CE6537A1-D6FC-4f65-9D91-7224C49458BB}"/>
                <c:ext xmlns:c16="http://schemas.microsoft.com/office/drawing/2014/chart" uri="{C3380CC4-5D6E-409C-BE32-E72D297353CC}">
                  <c16:uniqueId val="{00000004-3A53-4A6D-A132-C0CAC206DDD9}"/>
                </c:ext>
              </c:extLst>
            </c:dLbl>
            <c:dLbl>
              <c:idx val="3"/>
              <c:delete val="1"/>
              <c:extLst>
                <c:ext xmlns:c15="http://schemas.microsoft.com/office/drawing/2012/chart" uri="{CE6537A1-D6FC-4f65-9D91-7224C49458BB}"/>
                <c:ext xmlns:c16="http://schemas.microsoft.com/office/drawing/2014/chart" uri="{C3380CC4-5D6E-409C-BE32-E72D297353CC}">
                  <c16:uniqueId val="{00000005-3A53-4A6D-A132-C0CAC206DDD9}"/>
                </c:ext>
              </c:extLst>
            </c:dLbl>
            <c:dLbl>
              <c:idx val="4"/>
              <c:delete val="1"/>
              <c:extLst>
                <c:ext xmlns:c15="http://schemas.microsoft.com/office/drawing/2012/chart" uri="{CE6537A1-D6FC-4f65-9D91-7224C49458BB}"/>
                <c:ext xmlns:c16="http://schemas.microsoft.com/office/drawing/2014/chart" uri="{C3380CC4-5D6E-409C-BE32-E72D297353CC}">
                  <c16:uniqueId val="{00000006-3A53-4A6D-A132-C0CAC206DDD9}"/>
                </c:ext>
              </c:extLst>
            </c:dLbl>
            <c:dLbl>
              <c:idx val="5"/>
              <c:delete val="1"/>
              <c:extLst>
                <c:ext xmlns:c15="http://schemas.microsoft.com/office/drawing/2012/chart" uri="{CE6537A1-D6FC-4f65-9D91-7224C49458BB}"/>
                <c:ext xmlns:c16="http://schemas.microsoft.com/office/drawing/2014/chart" uri="{C3380CC4-5D6E-409C-BE32-E72D297353CC}">
                  <c16:uniqueId val="{00000007-3A53-4A6D-A132-C0CAC206DDD9}"/>
                </c:ext>
              </c:extLst>
            </c:dLbl>
            <c:dLbl>
              <c:idx val="6"/>
              <c:delete val="1"/>
              <c:extLst>
                <c:ext xmlns:c15="http://schemas.microsoft.com/office/drawing/2012/chart" uri="{CE6537A1-D6FC-4f65-9D91-7224C49458BB}"/>
                <c:ext xmlns:c16="http://schemas.microsoft.com/office/drawing/2014/chart" uri="{C3380CC4-5D6E-409C-BE32-E72D297353CC}">
                  <c16:uniqueId val="{00000008-3A53-4A6D-A132-C0CAC206DDD9}"/>
                </c:ext>
              </c:extLst>
            </c:dLbl>
            <c:dLbl>
              <c:idx val="7"/>
              <c:delete val="1"/>
              <c:extLst>
                <c:ext xmlns:c15="http://schemas.microsoft.com/office/drawing/2012/chart" uri="{CE6537A1-D6FC-4f65-9D91-7224C49458BB}"/>
                <c:ext xmlns:c16="http://schemas.microsoft.com/office/drawing/2014/chart" uri="{C3380CC4-5D6E-409C-BE32-E72D297353CC}">
                  <c16:uniqueId val="{00000009-3A53-4A6D-A132-C0CAC206DDD9}"/>
                </c:ext>
              </c:extLst>
            </c:dLbl>
            <c:dLbl>
              <c:idx val="8"/>
              <c:delete val="1"/>
              <c:extLst>
                <c:ext xmlns:c15="http://schemas.microsoft.com/office/drawing/2012/chart" uri="{CE6537A1-D6FC-4f65-9D91-7224C49458BB}"/>
                <c:ext xmlns:c16="http://schemas.microsoft.com/office/drawing/2014/chart" uri="{C3380CC4-5D6E-409C-BE32-E72D297353CC}">
                  <c16:uniqueId val="{0000000A-3A53-4A6D-A132-C0CAC206DDD9}"/>
                </c:ext>
              </c:extLst>
            </c:dLbl>
            <c:dLbl>
              <c:idx val="9"/>
              <c:delete val="1"/>
              <c:extLst>
                <c:ext xmlns:c15="http://schemas.microsoft.com/office/drawing/2012/chart" uri="{CE6537A1-D6FC-4f65-9D91-7224C49458BB}"/>
                <c:ext xmlns:c16="http://schemas.microsoft.com/office/drawing/2014/chart" uri="{C3380CC4-5D6E-409C-BE32-E72D297353CC}">
                  <c16:uniqueId val="{0000000B-3A53-4A6D-A132-C0CAC206DDD9}"/>
                </c:ext>
              </c:extLst>
            </c:dLbl>
            <c:dLbl>
              <c:idx val="10"/>
              <c:layout>
                <c:manualLayout>
                  <c:x val="-7.1743440935941705E-2"/>
                  <c:y val="-2.44957350417855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3A53-4A6D-A132-C0CAC206DDD9}"/>
                </c:ext>
              </c:extLst>
            </c:dLbl>
            <c:dLbl>
              <c:idx val="11"/>
              <c:delete val="1"/>
              <c:extLst>
                <c:ext xmlns:c15="http://schemas.microsoft.com/office/drawing/2012/chart" uri="{CE6537A1-D6FC-4f65-9D91-7224C49458BB}"/>
                <c:ext xmlns:c16="http://schemas.microsoft.com/office/drawing/2014/chart" uri="{C3380CC4-5D6E-409C-BE32-E72D297353CC}">
                  <c16:uniqueId val="{0000000D-3A53-4A6D-A132-C0CAC206DDD9}"/>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kpi!$B$2:$M$2</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kpi!$B$4:$M$4</c:f>
              <c:numCache>
                <c:formatCode>0.0%</c:formatCode>
                <c:ptCount val="12"/>
                <c:pt idx="0">
                  <c:v>0.89219999999999999</c:v>
                </c:pt>
                <c:pt idx="1">
                  <c:v>0.92130000000000001</c:v>
                </c:pt>
                <c:pt idx="2">
                  <c:v>0.63090000000000401</c:v>
                </c:pt>
                <c:pt idx="3">
                  <c:v>0.80080000000000096</c:v>
                </c:pt>
                <c:pt idx="4">
                  <c:v>0.74330000000000096</c:v>
                </c:pt>
                <c:pt idx="5">
                  <c:v>0.71740000000000004</c:v>
                </c:pt>
                <c:pt idx="6">
                  <c:v>0.7903</c:v>
                </c:pt>
                <c:pt idx="7">
                  <c:v>0.70930000000000004</c:v>
                </c:pt>
                <c:pt idx="8">
                  <c:v>0.88019999999999998</c:v>
                </c:pt>
                <c:pt idx="9">
                  <c:v>0.93870000000000098</c:v>
                </c:pt>
                <c:pt idx="10">
                  <c:v>0.42809999999999998</c:v>
                </c:pt>
                <c:pt idx="11">
                  <c:v>0.90210000000000001</c:v>
                </c:pt>
              </c:numCache>
            </c:numRef>
          </c:val>
          <c:smooth val="1"/>
          <c:extLst>
            <c:ext xmlns:c16="http://schemas.microsoft.com/office/drawing/2014/chart" uri="{C3380CC4-5D6E-409C-BE32-E72D297353CC}">
              <c16:uniqueId val="{0000000E-3A53-4A6D-A132-C0CAC206DDD9}"/>
            </c:ext>
          </c:extLst>
        </c:ser>
        <c:ser>
          <c:idx val="2"/>
          <c:order val="2"/>
          <c:tx>
            <c:strRef>
              <c:f>kpi!$A$5</c:f>
              <c:strCache>
                <c:ptCount val="1"/>
                <c:pt idx="0">
                  <c:v>小挖</c:v>
                </c:pt>
              </c:strCache>
            </c:strRef>
          </c:tx>
          <c:spPr>
            <a:ln w="28575" cap="rnd" cmpd="sng" algn="ctr">
              <a:solidFill>
                <a:schemeClr val="accent3">
                  <a:shade val="95000"/>
                  <a:satMod val="105000"/>
                </a:schemeClr>
              </a:solidFill>
              <a:prstDash val="solid"/>
              <a:round/>
            </a:ln>
          </c:spPr>
          <c:dLbls>
            <c:dLbl>
              <c:idx val="0"/>
              <c:delete val="1"/>
              <c:extLst>
                <c:ext xmlns:c15="http://schemas.microsoft.com/office/drawing/2012/chart" uri="{CE6537A1-D6FC-4f65-9D91-7224C49458BB}"/>
                <c:ext xmlns:c16="http://schemas.microsoft.com/office/drawing/2014/chart" uri="{C3380CC4-5D6E-409C-BE32-E72D297353CC}">
                  <c16:uniqueId val="{0000000F-3A53-4A6D-A132-C0CAC206DDD9}"/>
                </c:ext>
              </c:extLst>
            </c:dLbl>
            <c:dLbl>
              <c:idx val="1"/>
              <c:delete val="1"/>
              <c:extLst>
                <c:ext xmlns:c15="http://schemas.microsoft.com/office/drawing/2012/chart" uri="{CE6537A1-D6FC-4f65-9D91-7224C49458BB}"/>
                <c:ext xmlns:c16="http://schemas.microsoft.com/office/drawing/2014/chart" uri="{C3380CC4-5D6E-409C-BE32-E72D297353CC}">
                  <c16:uniqueId val="{00000010-3A53-4A6D-A132-C0CAC206DDD9}"/>
                </c:ext>
              </c:extLst>
            </c:dLbl>
            <c:dLbl>
              <c:idx val="2"/>
              <c:delete val="1"/>
              <c:extLst>
                <c:ext xmlns:c15="http://schemas.microsoft.com/office/drawing/2012/chart" uri="{CE6537A1-D6FC-4f65-9D91-7224C49458BB}"/>
                <c:ext xmlns:c16="http://schemas.microsoft.com/office/drawing/2014/chart" uri="{C3380CC4-5D6E-409C-BE32-E72D297353CC}">
                  <c16:uniqueId val="{00000011-3A53-4A6D-A132-C0CAC206DDD9}"/>
                </c:ext>
              </c:extLst>
            </c:dLbl>
            <c:dLbl>
              <c:idx val="3"/>
              <c:delete val="1"/>
              <c:extLst>
                <c:ext xmlns:c15="http://schemas.microsoft.com/office/drawing/2012/chart" uri="{CE6537A1-D6FC-4f65-9D91-7224C49458BB}"/>
                <c:ext xmlns:c16="http://schemas.microsoft.com/office/drawing/2014/chart" uri="{C3380CC4-5D6E-409C-BE32-E72D297353CC}">
                  <c16:uniqueId val="{00000012-3A53-4A6D-A132-C0CAC206DDD9}"/>
                </c:ext>
              </c:extLst>
            </c:dLbl>
            <c:dLbl>
              <c:idx val="4"/>
              <c:delete val="1"/>
              <c:extLst>
                <c:ext xmlns:c15="http://schemas.microsoft.com/office/drawing/2012/chart" uri="{CE6537A1-D6FC-4f65-9D91-7224C49458BB}"/>
                <c:ext xmlns:c16="http://schemas.microsoft.com/office/drawing/2014/chart" uri="{C3380CC4-5D6E-409C-BE32-E72D297353CC}">
                  <c16:uniqueId val="{00000013-3A53-4A6D-A132-C0CAC206DDD9}"/>
                </c:ext>
              </c:extLst>
            </c:dLbl>
            <c:dLbl>
              <c:idx val="5"/>
              <c:delete val="1"/>
              <c:extLst>
                <c:ext xmlns:c15="http://schemas.microsoft.com/office/drawing/2012/chart" uri="{CE6537A1-D6FC-4f65-9D91-7224C49458BB}"/>
                <c:ext xmlns:c16="http://schemas.microsoft.com/office/drawing/2014/chart" uri="{C3380CC4-5D6E-409C-BE32-E72D297353CC}">
                  <c16:uniqueId val="{00000014-3A53-4A6D-A132-C0CAC206DDD9}"/>
                </c:ext>
              </c:extLst>
            </c:dLbl>
            <c:dLbl>
              <c:idx val="6"/>
              <c:delete val="1"/>
              <c:extLst>
                <c:ext xmlns:c15="http://schemas.microsoft.com/office/drawing/2012/chart" uri="{CE6537A1-D6FC-4f65-9D91-7224C49458BB}"/>
                <c:ext xmlns:c16="http://schemas.microsoft.com/office/drawing/2014/chart" uri="{C3380CC4-5D6E-409C-BE32-E72D297353CC}">
                  <c16:uniqueId val="{00000015-3A53-4A6D-A132-C0CAC206DDD9}"/>
                </c:ext>
              </c:extLst>
            </c:dLbl>
            <c:dLbl>
              <c:idx val="7"/>
              <c:delete val="1"/>
              <c:extLst>
                <c:ext xmlns:c15="http://schemas.microsoft.com/office/drawing/2012/chart" uri="{CE6537A1-D6FC-4f65-9D91-7224C49458BB}"/>
                <c:ext xmlns:c16="http://schemas.microsoft.com/office/drawing/2014/chart" uri="{C3380CC4-5D6E-409C-BE32-E72D297353CC}">
                  <c16:uniqueId val="{00000016-3A53-4A6D-A132-C0CAC206DDD9}"/>
                </c:ext>
              </c:extLst>
            </c:dLbl>
            <c:dLbl>
              <c:idx val="8"/>
              <c:delete val="1"/>
              <c:extLst>
                <c:ext xmlns:c15="http://schemas.microsoft.com/office/drawing/2012/chart" uri="{CE6537A1-D6FC-4f65-9D91-7224C49458BB}"/>
                <c:ext xmlns:c16="http://schemas.microsoft.com/office/drawing/2014/chart" uri="{C3380CC4-5D6E-409C-BE32-E72D297353CC}">
                  <c16:uniqueId val="{00000017-3A53-4A6D-A132-C0CAC206DDD9}"/>
                </c:ext>
              </c:extLst>
            </c:dLbl>
            <c:dLbl>
              <c:idx val="9"/>
              <c:delete val="1"/>
              <c:extLst>
                <c:ext xmlns:c15="http://schemas.microsoft.com/office/drawing/2012/chart" uri="{CE6537A1-D6FC-4f65-9D91-7224C49458BB}"/>
                <c:ext xmlns:c16="http://schemas.microsoft.com/office/drawing/2014/chart" uri="{C3380CC4-5D6E-409C-BE32-E72D297353CC}">
                  <c16:uniqueId val="{00000018-3A53-4A6D-A132-C0CAC206DDD9}"/>
                </c:ext>
              </c:extLst>
            </c:dLbl>
            <c:dLbl>
              <c:idx val="10"/>
              <c:layout>
                <c:manualLayout>
                  <c:x val="-3.8861030506968201E-2"/>
                  <c:y val="-6.8588058116999306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9-3A53-4A6D-A132-C0CAC206DDD9}"/>
                </c:ext>
              </c:extLst>
            </c:dLbl>
            <c:dLbl>
              <c:idx val="11"/>
              <c:delete val="1"/>
              <c:extLst>
                <c:ext xmlns:c15="http://schemas.microsoft.com/office/drawing/2012/chart" uri="{CE6537A1-D6FC-4f65-9D91-7224C49458BB}"/>
                <c:ext xmlns:c16="http://schemas.microsoft.com/office/drawing/2014/chart" uri="{C3380CC4-5D6E-409C-BE32-E72D297353CC}">
                  <c16:uniqueId val="{0000001A-3A53-4A6D-A132-C0CAC206DDD9}"/>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kpi!$B$2:$M$2</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kpi!$B$5:$M$5</c:f>
              <c:numCache>
                <c:formatCode>0.0%</c:formatCode>
                <c:ptCount val="12"/>
                <c:pt idx="0">
                  <c:v>0.99319999999999997</c:v>
                </c:pt>
                <c:pt idx="1">
                  <c:v>0.8851</c:v>
                </c:pt>
                <c:pt idx="2">
                  <c:v>0.85730000000000095</c:v>
                </c:pt>
                <c:pt idx="3">
                  <c:v>0.87270000000000403</c:v>
                </c:pt>
                <c:pt idx="4">
                  <c:v>0.77460000000000495</c:v>
                </c:pt>
                <c:pt idx="5">
                  <c:v>0.90290000000000004</c:v>
                </c:pt>
                <c:pt idx="6">
                  <c:v>0.83290000000000097</c:v>
                </c:pt>
                <c:pt idx="7">
                  <c:v>0.83860000000000401</c:v>
                </c:pt>
                <c:pt idx="8">
                  <c:v>0.86170000000000402</c:v>
                </c:pt>
                <c:pt idx="9">
                  <c:v>0.94840000000000002</c:v>
                </c:pt>
                <c:pt idx="10">
                  <c:v>0.87670000000000403</c:v>
                </c:pt>
                <c:pt idx="11">
                  <c:v>0.86270000000000402</c:v>
                </c:pt>
              </c:numCache>
            </c:numRef>
          </c:val>
          <c:smooth val="1"/>
          <c:extLst>
            <c:ext xmlns:c16="http://schemas.microsoft.com/office/drawing/2014/chart" uri="{C3380CC4-5D6E-409C-BE32-E72D297353CC}">
              <c16:uniqueId val="{0000001B-3A53-4A6D-A132-C0CAC206DDD9}"/>
            </c:ext>
          </c:extLst>
        </c:ser>
        <c:dLbls>
          <c:showLegendKey val="0"/>
          <c:showVal val="0"/>
          <c:showCatName val="0"/>
          <c:showSerName val="0"/>
          <c:showPercent val="0"/>
          <c:showBubbleSize val="0"/>
        </c:dLbls>
        <c:marker val="1"/>
        <c:smooth val="0"/>
        <c:axId val="69800320"/>
        <c:axId val="69801856"/>
      </c:lineChart>
      <c:catAx>
        <c:axId val="69800320"/>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69801856"/>
        <c:crosses val="autoZero"/>
        <c:auto val="1"/>
        <c:lblAlgn val="ctr"/>
        <c:lblOffset val="100"/>
        <c:noMultiLvlLbl val="0"/>
      </c:catAx>
      <c:valAx>
        <c:axId val="69801856"/>
        <c:scaling>
          <c:orientation val="minMax"/>
          <c:max val="1"/>
        </c:scaling>
        <c:delete val="0"/>
        <c:axPos val="l"/>
        <c:majorGridlines/>
        <c:numFmt formatCode="0%" sourceLinked="0"/>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69800320"/>
        <c:crosses val="autoZero"/>
        <c:crossBetween val="between"/>
      </c:valAx>
    </c:plotArea>
    <c:legend>
      <c:legendPos val="b"/>
      <c:layout>
        <c:manualLayout>
          <c:xMode val="edge"/>
          <c:yMode val="edge"/>
          <c:x val="0.312389371990688"/>
          <c:y val="0.83511091360219603"/>
          <c:w val="0.36759073553230898"/>
          <c:h val="0.10120026346279"/>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spPr>
    <a:ln>
      <a:noFill/>
    </a:ln>
  </c:spPr>
  <c:txPr>
    <a:bodyPr/>
    <a:lstStyle/>
    <a:p>
      <a:pPr>
        <a:defRPr lang="zh-CN"/>
      </a:pPr>
      <a:endParaRPr lang="zh-CN"/>
    </a:p>
  </c:txPr>
  <c:externalData r:id="rId2">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37642176079412E-2"/>
          <c:y val="6.0336863155555899E-2"/>
          <c:w val="0.92696854877935697"/>
          <c:h val="0.64990914752162299"/>
        </c:manualLayout>
      </c:layout>
      <c:lineChart>
        <c:grouping val="standard"/>
        <c:varyColors val="0"/>
        <c:ser>
          <c:idx val="0"/>
          <c:order val="0"/>
          <c:tx>
            <c:strRef>
              <c:f>[数据明细－sj三挖.xlsx]kpi!$A$15</c:f>
              <c:strCache>
                <c:ptCount val="1"/>
                <c:pt idx="0">
                  <c:v>大挖</c:v>
                </c:pt>
              </c:strCache>
            </c:strRef>
          </c:tx>
          <c:dLbls>
            <c:dLbl>
              <c:idx val="0"/>
              <c:layout>
                <c:manualLayout>
                  <c:x val="-6.3888888888888898E-2"/>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F6EE-4C48-A35D-5358342183B7}"/>
                </c:ext>
              </c:extLst>
            </c:dLbl>
            <c:dLbl>
              <c:idx val="1"/>
              <c:layout>
                <c:manualLayout>
                  <c:x val="-5.8333333333334E-2"/>
                  <c:y val="-4.6296296296296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F6EE-4C48-A35D-5358342183B7}"/>
                </c:ext>
              </c:extLst>
            </c:dLbl>
            <c:dLbl>
              <c:idx val="2"/>
              <c:layout>
                <c:manualLayout>
                  <c:x val="-0.05"/>
                  <c:y val="1.38888888888889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F6EE-4C48-A35D-5358342183B7}"/>
                </c:ext>
              </c:extLst>
            </c:dLbl>
            <c:dLbl>
              <c:idx val="3"/>
              <c:layout>
                <c:manualLayout>
                  <c:x val="-5.8333333333333903E-2"/>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F6EE-4C48-A35D-5358342183B7}"/>
                </c:ext>
              </c:extLst>
            </c:dLbl>
            <c:dLbl>
              <c:idx val="4"/>
              <c:layout>
                <c:manualLayout>
                  <c:x val="-0.05"/>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F6EE-4C48-A35D-5358342183B7}"/>
                </c:ext>
              </c:extLst>
            </c:dLbl>
            <c:dLbl>
              <c:idx val="5"/>
              <c:layout>
                <c:manualLayout>
                  <c:x val="-6.1111111111111102E-2"/>
                  <c:y val="-5.55555555555554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F6EE-4C48-A35D-5358342183B7}"/>
                </c:ext>
              </c:extLst>
            </c:dLbl>
            <c:dLbl>
              <c:idx val="6"/>
              <c:layout>
                <c:manualLayout>
                  <c:x val="-4.1666666666666803E-2"/>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F6EE-4C48-A35D-5358342183B7}"/>
                </c:ext>
              </c:extLst>
            </c:dLbl>
            <c:dLbl>
              <c:idx val="7"/>
              <c:layout>
                <c:manualLayout>
                  <c:x val="-5.55555555555554E-2"/>
                  <c:y val="-5.0925925925925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F6EE-4C48-A35D-5358342183B7}"/>
                </c:ext>
              </c:extLst>
            </c:dLbl>
            <c:dLbl>
              <c:idx val="8"/>
              <c:layout>
                <c:manualLayout>
                  <c:x val="-6.3888888888888898E-2"/>
                  <c:y val="-5.55555555555554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F6EE-4C48-A35D-5358342183B7}"/>
                </c:ext>
              </c:extLst>
            </c:dLbl>
            <c:dLbl>
              <c:idx val="9"/>
              <c:layout>
                <c:manualLayout>
                  <c:x val="-6.3888888888888995E-2"/>
                  <c:y val="-5.55555555555554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F6EE-4C48-A35D-5358342183B7}"/>
                </c:ext>
              </c:extLst>
            </c:dLbl>
            <c:dLbl>
              <c:idx val="10"/>
              <c:layout>
                <c:manualLayout>
                  <c:x val="-5.5555555555555497E-2"/>
                  <c:y val="-4.16666666666666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F6EE-4C48-A35D-5358342183B7}"/>
                </c:ext>
              </c:extLst>
            </c:dLbl>
            <c:dLbl>
              <c:idx val="11"/>
              <c:layout>
                <c:manualLayout>
                  <c:x val="-3.8888888888889001E-2"/>
                  <c:y val="-4.16666666666666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F6EE-4C48-A35D-5358342183B7}"/>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[数据明细－sj三挖.xlsx]kpi!$B$14:$M$14</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[数据明细－sj三挖.xlsx]kpi!$B$15:$M$15</c:f>
              <c:numCache>
                <c:formatCode>0.0%</c:formatCode>
                <c:ptCount val="12"/>
                <c:pt idx="0">
                  <c:v>4.9599999999999998E-2</c:v>
                </c:pt>
                <c:pt idx="1">
                  <c:v>5.3156146179402002E-2</c:v>
                </c:pt>
                <c:pt idx="2">
                  <c:v>0.05</c:v>
                </c:pt>
                <c:pt idx="3">
                  <c:v>5.6726094003242099E-2</c:v>
                </c:pt>
                <c:pt idx="4">
                  <c:v>5.0925925925925902E-2</c:v>
                </c:pt>
                <c:pt idx="5">
                  <c:v>5.4313099041534398E-2</c:v>
                </c:pt>
                <c:pt idx="6">
                  <c:v>5.8823529411764698E-2</c:v>
                </c:pt>
                <c:pt idx="7">
                  <c:v>7.0866141732283505E-2</c:v>
                </c:pt>
                <c:pt idx="8">
                  <c:v>6.1359867330016603E-2</c:v>
                </c:pt>
                <c:pt idx="9">
                  <c:v>6.25E-2</c:v>
                </c:pt>
                <c:pt idx="10">
                  <c:v>6.5934065934065894E-2</c:v>
                </c:pt>
                <c:pt idx="11">
                  <c:v>8.0645161290322703E-2</c:v>
                </c:pt>
              </c:numCache>
            </c:numRef>
          </c:val>
          <c:smooth val="1"/>
          <c:extLst>
            <c:ext xmlns:c16="http://schemas.microsoft.com/office/drawing/2014/chart" uri="{C3380CC4-5D6E-409C-BE32-E72D297353CC}">
              <c16:uniqueId val="{0000000C-F6EE-4C48-A35D-5358342183B7}"/>
            </c:ext>
          </c:extLst>
        </c:ser>
        <c:ser>
          <c:idx val="1"/>
          <c:order val="1"/>
          <c:tx>
            <c:strRef>
              <c:f>[数据明细－sj三挖.xlsx]kpi!$A$16</c:f>
              <c:strCache>
                <c:ptCount val="1"/>
                <c:pt idx="0">
                  <c:v>中挖</c:v>
                </c:pt>
              </c:strCache>
            </c:strRef>
          </c:tx>
          <c:dLbls>
            <c:dLbl>
              <c:idx val="0"/>
              <c:layout>
                <c:manualLayout>
                  <c:x val="-6.3888888888888898E-2"/>
                  <c:y val="-4.16666666666666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D-F6EE-4C48-A35D-5358342183B7}"/>
                </c:ext>
              </c:extLst>
            </c:dLbl>
            <c:dLbl>
              <c:idx val="1"/>
              <c:layout>
                <c:manualLayout>
                  <c:x val="-5.8333333333334E-2"/>
                  <c:y val="-3.70370370370372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E-F6EE-4C48-A35D-5358342183B7}"/>
                </c:ext>
              </c:extLst>
            </c:dLbl>
            <c:dLbl>
              <c:idx val="2"/>
              <c:layout>
                <c:manualLayout>
                  <c:x val="-5.2777777777777798E-2"/>
                  <c:y val="-6.0185185185185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F-F6EE-4C48-A35D-5358342183B7}"/>
                </c:ext>
              </c:extLst>
            </c:dLbl>
            <c:dLbl>
              <c:idx val="3"/>
              <c:layout>
                <c:manualLayout>
                  <c:x val="-3.6111111111111198E-2"/>
                  <c:y val="2.3148148148148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0-F6EE-4C48-A35D-5358342183B7}"/>
                </c:ext>
              </c:extLst>
            </c:dLbl>
            <c:dLbl>
              <c:idx val="4"/>
              <c:layout>
                <c:manualLayout>
                  <c:x val="-8.3333333333333991E-3"/>
                  <c:y val="-1.38888888888889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1-F6EE-4C48-A35D-5358342183B7}"/>
                </c:ext>
              </c:extLst>
            </c:dLbl>
            <c:dLbl>
              <c:idx val="5"/>
              <c:layout>
                <c:manualLayout>
                  <c:x val="-1.6666666666666701E-2"/>
                  <c:y val="1.85185185185186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2-F6EE-4C48-A35D-5358342183B7}"/>
                </c:ext>
              </c:extLst>
            </c:dLbl>
            <c:dLbl>
              <c:idx val="6"/>
              <c:layout>
                <c:manualLayout>
                  <c:x val="-4.7222222222222297E-2"/>
                  <c:y val="-5.55555555555554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3-F6EE-4C48-A35D-5358342183B7}"/>
                </c:ext>
              </c:extLst>
            </c:dLbl>
            <c:dLbl>
              <c:idx val="7"/>
              <c:layout>
                <c:manualLayout>
                  <c:x val="-4.7222222222222297E-2"/>
                  <c:y val="3.70370370370372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4-F6EE-4C48-A35D-5358342183B7}"/>
                </c:ext>
              </c:extLst>
            </c:dLbl>
            <c:dLbl>
              <c:idx val="8"/>
              <c:layout>
                <c:manualLayout>
                  <c:x val="-6.1111111111111102E-2"/>
                  <c:y val="-4.6296296296296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5-F6EE-4C48-A35D-5358342183B7}"/>
                </c:ext>
              </c:extLst>
            </c:dLbl>
            <c:dLbl>
              <c:idx val="9"/>
              <c:layout>
                <c:manualLayout>
                  <c:x val="-5.5555555555555497E-2"/>
                  <c:y val="-4.6296296296296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6-F6EE-4C48-A35D-5358342183B7}"/>
                </c:ext>
              </c:extLst>
            </c:dLbl>
            <c:dLbl>
              <c:idx val="10"/>
              <c:layout>
                <c:manualLayout>
                  <c:x val="-5.0000000000000301E-2"/>
                  <c:y val="-5.0925925925925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7-F6EE-4C48-A35D-5358342183B7}"/>
                </c:ext>
              </c:extLst>
            </c:dLbl>
            <c:dLbl>
              <c:idx val="11"/>
              <c:layout>
                <c:manualLayout>
                  <c:x val="-2.5000000000000001E-2"/>
                  <c:y val="-6.0185185185185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8-F6EE-4C48-A35D-5358342183B7}"/>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[数据明细－sj三挖.xlsx]kpi!$B$14:$M$14</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[数据明细－sj三挖.xlsx]kpi!$B$16:$M$16</c:f>
              <c:numCache>
                <c:formatCode>0.0%</c:formatCode>
                <c:ptCount val="12"/>
                <c:pt idx="0">
                  <c:v>3.16692324609638E-2</c:v>
                </c:pt>
                <c:pt idx="1">
                  <c:v>2.3629272768983901E-2</c:v>
                </c:pt>
                <c:pt idx="2">
                  <c:v>2.36945019553715E-2</c:v>
                </c:pt>
                <c:pt idx="3">
                  <c:v>4.1145714935212498E-2</c:v>
                </c:pt>
                <c:pt idx="4">
                  <c:v>4.43593785183517E-2</c:v>
                </c:pt>
                <c:pt idx="5">
                  <c:v>3.6384704519119598E-2</c:v>
                </c:pt>
                <c:pt idx="6">
                  <c:v>3.9962388340385499E-2</c:v>
                </c:pt>
                <c:pt idx="7">
                  <c:v>3.7878787878787998E-2</c:v>
                </c:pt>
                <c:pt idx="8">
                  <c:v>4.0417209908735902E-2</c:v>
                </c:pt>
                <c:pt idx="9">
                  <c:v>3.5102988105599101E-2</c:v>
                </c:pt>
                <c:pt idx="10">
                  <c:v>3.4429757147248698E-2</c:v>
                </c:pt>
                <c:pt idx="11">
                  <c:v>3.2404406999351897E-2</c:v>
                </c:pt>
              </c:numCache>
            </c:numRef>
          </c:val>
          <c:smooth val="1"/>
          <c:extLst>
            <c:ext xmlns:c16="http://schemas.microsoft.com/office/drawing/2014/chart" uri="{C3380CC4-5D6E-409C-BE32-E72D297353CC}">
              <c16:uniqueId val="{00000019-F6EE-4C48-A35D-5358342183B7}"/>
            </c:ext>
          </c:extLst>
        </c:ser>
        <c:ser>
          <c:idx val="2"/>
          <c:order val="2"/>
          <c:tx>
            <c:strRef>
              <c:f>[数据明细－sj三挖.xlsx]kpi!$A$17</c:f>
              <c:strCache>
                <c:ptCount val="1"/>
                <c:pt idx="0">
                  <c:v>小挖</c:v>
                </c:pt>
              </c:strCache>
            </c:strRef>
          </c:tx>
          <c:dLbls>
            <c:dLbl>
              <c:idx val="0"/>
              <c:layout>
                <c:manualLayout>
                  <c:x val="-5.2777777777777798E-2"/>
                  <c:y val="7.4074074074074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A-F6EE-4C48-A35D-5358342183B7}"/>
                </c:ext>
              </c:extLst>
            </c:dLbl>
            <c:dLbl>
              <c:idx val="1"/>
              <c:layout>
                <c:manualLayout>
                  <c:x val="-4.7222222222222297E-2"/>
                  <c:y val="6.4814450277049004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B-F6EE-4C48-A35D-5358342183B7}"/>
                </c:ext>
              </c:extLst>
            </c:dLbl>
            <c:dLbl>
              <c:idx val="2"/>
              <c:layout>
                <c:manualLayout>
                  <c:x val="-2.77777777777783E-2"/>
                  <c:y val="3.24074074074078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C-F6EE-4C48-A35D-5358342183B7}"/>
                </c:ext>
              </c:extLst>
            </c:dLbl>
            <c:dLbl>
              <c:idx val="3"/>
              <c:layout>
                <c:manualLayout>
                  <c:x val="-4.1666666666666699E-2"/>
                  <c:y val="6.4814814814815394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D-F6EE-4C48-A35D-5358342183B7}"/>
                </c:ext>
              </c:extLst>
            </c:dLbl>
            <c:dLbl>
              <c:idx val="4"/>
              <c:layout>
                <c:manualLayout>
                  <c:x val="-5.8333333333334E-2"/>
                  <c:y val="5.0925925925925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E-F6EE-4C48-A35D-5358342183B7}"/>
                </c:ext>
              </c:extLst>
            </c:dLbl>
            <c:dLbl>
              <c:idx val="5"/>
              <c:layout>
                <c:manualLayout>
                  <c:x val="-4.1666666666666699E-2"/>
                  <c:y val="5.0925925925925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F-F6EE-4C48-A35D-5358342183B7}"/>
                </c:ext>
              </c:extLst>
            </c:dLbl>
            <c:dLbl>
              <c:idx val="6"/>
              <c:layout>
                <c:manualLayout>
                  <c:x val="-5.00000000000001E-2"/>
                  <c:y val="6.48148148148152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0-F6EE-4C48-A35D-5358342183B7}"/>
                </c:ext>
              </c:extLst>
            </c:dLbl>
            <c:dLbl>
              <c:idx val="7"/>
              <c:layout>
                <c:manualLayout>
                  <c:x val="-5.2777777777777798E-2"/>
                  <c:y val="3.24074074074078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1-F6EE-4C48-A35D-5358342183B7}"/>
                </c:ext>
              </c:extLst>
            </c:dLbl>
            <c:dLbl>
              <c:idx val="8"/>
              <c:layout>
                <c:manualLayout>
                  <c:x val="-4.1666666666666699E-2"/>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2-F6EE-4C48-A35D-5358342183B7}"/>
                </c:ext>
              </c:extLst>
            </c:dLbl>
            <c:dLbl>
              <c:idx val="9"/>
              <c:layout>
                <c:manualLayout>
                  <c:x val="-4.7222222222222297E-2"/>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3-F6EE-4C48-A35D-5358342183B7}"/>
                </c:ext>
              </c:extLst>
            </c:dLbl>
            <c:dLbl>
              <c:idx val="10"/>
              <c:layout>
                <c:manualLayout>
                  <c:x val="-4.1666666666666803E-2"/>
                  <c:y val="6.9444444444444406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4-F6EE-4C48-A35D-5358342183B7}"/>
                </c:ext>
              </c:extLst>
            </c:dLbl>
            <c:dLbl>
              <c:idx val="11"/>
              <c:layout>
                <c:manualLayout>
                  <c:x val="-8.3333333333333506E-3"/>
                  <c:y val="3.70370370370372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25-F6EE-4C48-A35D-5358342183B7}"/>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[数据明细－sj三挖.xlsx]kpi!$B$14:$M$14</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[数据明细－sj三挖.xlsx]kpi!$B$17:$M$17</c:f>
              <c:numCache>
                <c:formatCode>0.0%</c:formatCode>
                <c:ptCount val="12"/>
                <c:pt idx="0">
                  <c:v>1.7203466563187199E-2</c:v>
                </c:pt>
                <c:pt idx="1">
                  <c:v>1.4251465103889201E-2</c:v>
                </c:pt>
                <c:pt idx="2">
                  <c:v>2.1235253296322001E-2</c:v>
                </c:pt>
                <c:pt idx="3">
                  <c:v>3.3488992661774797E-2</c:v>
                </c:pt>
                <c:pt idx="4">
                  <c:v>3.09278350515464E-2</c:v>
                </c:pt>
                <c:pt idx="5">
                  <c:v>2.72117616713956E-2</c:v>
                </c:pt>
                <c:pt idx="6">
                  <c:v>2.4321194183502801E-2</c:v>
                </c:pt>
                <c:pt idx="7">
                  <c:v>2.2786121180735398E-2</c:v>
                </c:pt>
                <c:pt idx="8">
                  <c:v>2.6504765635200399E-2</c:v>
                </c:pt>
                <c:pt idx="9">
                  <c:v>1.9745560561887299E-2</c:v>
                </c:pt>
                <c:pt idx="10">
                  <c:v>2.6845637583892999E-2</c:v>
                </c:pt>
                <c:pt idx="11">
                  <c:v>2.6418654805229799E-2</c:v>
                </c:pt>
              </c:numCache>
            </c:numRef>
          </c:val>
          <c:smooth val="1"/>
          <c:extLst>
            <c:ext xmlns:c16="http://schemas.microsoft.com/office/drawing/2014/chart" uri="{C3380CC4-5D6E-409C-BE32-E72D297353CC}">
              <c16:uniqueId val="{00000026-F6EE-4C48-A35D-5358342183B7}"/>
            </c:ext>
          </c:extLst>
        </c:ser>
        <c:dLbls>
          <c:showLegendKey val="1"/>
          <c:showVal val="1"/>
          <c:showCatName val="1"/>
          <c:showSerName val="1"/>
          <c:showPercent val="1"/>
          <c:showBubbleSize val="1"/>
        </c:dLbls>
        <c:marker val="1"/>
        <c:smooth val="0"/>
        <c:axId val="69964160"/>
        <c:axId val="69965696"/>
      </c:lineChart>
      <c:catAx>
        <c:axId val="6996416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69965696"/>
        <c:crosses val="autoZero"/>
        <c:auto val="1"/>
        <c:lblAlgn val="ctr"/>
        <c:lblOffset val="100"/>
        <c:noMultiLvlLbl val="0"/>
      </c:catAx>
      <c:valAx>
        <c:axId val="69965696"/>
        <c:scaling>
          <c:orientation val="minMax"/>
        </c:scaling>
        <c:delete val="0"/>
        <c:axPos val="l"/>
        <c:majorGridlines/>
        <c:numFmt formatCode="0.0%"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69964160"/>
        <c:crosses val="autoZero"/>
        <c:crossBetween val="between"/>
      </c:valAx>
    </c:plotArea>
    <c:legend>
      <c:legendPos val="b"/>
      <c:layout>
        <c:manualLayout>
          <c:xMode val="edge"/>
          <c:yMode val="edge"/>
          <c:x val="0.38558227423843999"/>
          <c:y val="0.79075680187581499"/>
          <c:w val="0.234763831096267"/>
          <c:h val="9.3210768978885694E-2"/>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a:pPr>
      <a:endParaRPr lang="zh-CN"/>
    </a:p>
  </c:txPr>
  <c:externalData r:id="rId2">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8143186912214"/>
          <c:y val="8.3285499142071395E-2"/>
          <c:w val="0.85546314959713099"/>
          <c:h val="0.65495539075905196"/>
        </c:manualLayout>
      </c:layout>
      <c:lineChart>
        <c:grouping val="standard"/>
        <c:varyColors val="0"/>
        <c:ser>
          <c:idx val="9"/>
          <c:order val="0"/>
          <c:tx>
            <c:strRef>
              <c:f>大挖停线数据!$K$2</c:f>
              <c:strCache>
                <c:ptCount val="1"/>
                <c:pt idx="0">
                  <c:v>大挖生产线可动率</c:v>
                </c:pt>
              </c:strCache>
            </c:strRef>
          </c:tx>
          <c:spPr>
            <a:ln w="34925" cap="rnd" cmpd="sng" algn="ctr">
              <a:solidFill>
                <a:srgbClr val="F79646"/>
              </a:solidFill>
              <a:prstDash val="solid"/>
              <a:round/>
            </a:ln>
          </c:spPr>
          <c:marker>
            <c:spPr>
              <a:ln w="9525" cap="flat" cmpd="sng" algn="ctr">
                <a:solidFill>
                  <a:srgbClr val="F79646"/>
                </a:solidFill>
                <a:prstDash val="solid"/>
                <a:round/>
              </a:ln>
            </c:spPr>
          </c:marker>
          <c:dLbls>
            <c:dLbl>
              <c:idx val="0"/>
              <c:layout>
                <c:manualLayout>
                  <c:x val="-0.05"/>
                  <c:y val="5.0925925925925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C4F6-4662-BEE4-A761EDF7E5E8}"/>
                </c:ext>
              </c:extLst>
            </c:dLbl>
            <c:dLbl>
              <c:idx val="1"/>
              <c:layout>
                <c:manualLayout>
                  <c:x val="-5.5555555555555497E-2"/>
                  <c:y val="5.0925925925925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C4F6-4662-BEE4-A761EDF7E5E8}"/>
                </c:ext>
              </c:extLst>
            </c:dLbl>
            <c:dLbl>
              <c:idx val="2"/>
              <c:layout>
                <c:manualLayout>
                  <c:x val="-5.8333333333333799E-2"/>
                  <c:y val="4.16666666666666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C4F6-4662-BEE4-A761EDF7E5E8}"/>
                </c:ext>
              </c:extLst>
            </c:dLbl>
            <c:dLbl>
              <c:idx val="3"/>
              <c:layout>
                <c:manualLayout>
                  <c:x val="-5.2777777777777798E-2"/>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C4F6-4662-BEE4-A761EDF7E5E8}"/>
                </c:ext>
              </c:extLst>
            </c:dLbl>
            <c:dLbl>
              <c:idx val="4"/>
              <c:layout>
                <c:manualLayout>
                  <c:x val="-5.8333333333333799E-2"/>
                  <c:y val="4.6296296296296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C4F6-4662-BEE4-A761EDF7E5E8}"/>
                </c:ext>
              </c:extLst>
            </c:dLbl>
            <c:dLbl>
              <c:idx val="5"/>
              <c:layout>
                <c:manualLayout>
                  <c:x val="-5.00000000000001E-2"/>
                  <c:y val="3.70370370370370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C4F6-4662-BEE4-A761EDF7E5E8}"/>
                </c:ext>
              </c:extLst>
            </c:dLbl>
            <c:dLbl>
              <c:idx val="6"/>
              <c:layout>
                <c:manualLayout>
                  <c:x val="-4.4444444444444398E-2"/>
                  <c:y val="6.48148148148152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C4F6-4662-BEE4-A761EDF7E5E8}"/>
                </c:ext>
              </c:extLst>
            </c:dLbl>
            <c:spPr>
              <a:noFill/>
              <a:ln w="31750">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大挖停线数据!$A$3:$A$9</c:f>
              <c:strCache>
                <c:ptCount val="7"/>
                <c:pt idx="0">
                  <c:v>06</c:v>
                </c:pt>
                <c:pt idx="1">
                  <c:v>07</c:v>
                </c:pt>
                <c:pt idx="2">
                  <c:v>08</c:v>
                </c:pt>
                <c:pt idx="3">
                  <c:v>09</c:v>
                </c:pt>
                <c:pt idx="4">
                  <c:v>10</c:v>
                </c:pt>
                <c:pt idx="5">
                  <c:v>11</c:v>
                </c:pt>
                <c:pt idx="6">
                  <c:v>12</c:v>
                </c:pt>
              </c:strCache>
            </c:strRef>
          </c:cat>
          <c:val>
            <c:numRef>
              <c:f>大挖停线数据!$K$3:$K$9</c:f>
              <c:numCache>
                <c:formatCode>0.0%</c:formatCode>
                <c:ptCount val="7"/>
                <c:pt idx="0">
                  <c:v>0.99795263490915698</c:v>
                </c:pt>
                <c:pt idx="1">
                  <c:v>0.99516406038145</c:v>
                </c:pt>
                <c:pt idx="2">
                  <c:v>0.995697369610413</c:v>
                </c:pt>
                <c:pt idx="3">
                  <c:v>0.98784235740757598</c:v>
                </c:pt>
                <c:pt idx="4">
                  <c:v>0.98978577239446897</c:v>
                </c:pt>
                <c:pt idx="5">
                  <c:v>0.97160128355780995</c:v>
                </c:pt>
                <c:pt idx="6">
                  <c:v>0.98715538280755399</c:v>
                </c:pt>
              </c:numCache>
            </c:numRef>
          </c:val>
          <c:smooth val="1"/>
          <c:extLst>
            <c:ext xmlns:c16="http://schemas.microsoft.com/office/drawing/2014/chart" uri="{C3380CC4-5D6E-409C-BE32-E72D297353CC}">
              <c16:uniqueId val="{00000007-C4F6-4662-BEE4-A761EDF7E5E8}"/>
            </c:ext>
          </c:extLst>
        </c:ser>
        <c:dLbls>
          <c:showLegendKey val="1"/>
          <c:showVal val="1"/>
          <c:showCatName val="1"/>
          <c:showSerName val="1"/>
          <c:showPercent val="1"/>
          <c:showBubbleSize val="1"/>
        </c:dLbls>
        <c:marker val="1"/>
        <c:smooth val="0"/>
        <c:axId val="70159360"/>
        <c:axId val="70300416"/>
      </c:lineChart>
      <c:catAx>
        <c:axId val="7015936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300416"/>
        <c:crosses val="autoZero"/>
        <c:auto val="1"/>
        <c:lblAlgn val="ctr"/>
        <c:lblOffset val="100"/>
        <c:noMultiLvlLbl val="0"/>
      </c:catAx>
      <c:valAx>
        <c:axId val="70300416"/>
        <c:scaling>
          <c:orientation val="minMax"/>
          <c:max val="1"/>
          <c:min val="0"/>
        </c:scaling>
        <c:delete val="0"/>
        <c:axPos val="l"/>
        <c:majorGridlines/>
        <c:numFmt formatCode="0%"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159360"/>
        <c:crosses val="autoZero"/>
        <c:crossBetween val="between"/>
        <c:majorUnit val="0.1"/>
      </c:valAx>
    </c:plotArea>
    <c:legend>
      <c:legendPos val="b"/>
      <c:layout>
        <c:manualLayout>
          <c:xMode val="edge"/>
          <c:yMode val="edge"/>
          <c:x val="0.33090944039727799"/>
          <c:y val="0.83792194385809404"/>
          <c:w val="0.34937916951026898"/>
          <c:h val="9.8389145033267997E-2"/>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a:pPr>
      <a:endParaRPr lang="zh-CN"/>
    </a:p>
  </c:txPr>
  <c:externalData r:id="rId2">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518128986958"/>
          <c:y val="6.0185185185185099E-2"/>
          <c:w val="0.84694283430689099"/>
          <c:h val="0.67393737241178797"/>
        </c:manualLayout>
      </c:layout>
      <c:lineChart>
        <c:grouping val="standard"/>
        <c:varyColors val="0"/>
        <c:ser>
          <c:idx val="2"/>
          <c:order val="0"/>
          <c:tx>
            <c:strRef>
              <c:f>中挖停线!$B$28</c:f>
              <c:strCache>
                <c:ptCount val="1"/>
                <c:pt idx="0">
                  <c:v>中挖生产线可动率</c:v>
                </c:pt>
              </c:strCache>
            </c:strRef>
          </c:tx>
          <c:spPr>
            <a:ln w="34925" cap="rnd" cmpd="sng" algn="ctr">
              <a:solidFill>
                <a:schemeClr val="accent3">
                  <a:shade val="95000"/>
                  <a:satMod val="105000"/>
                </a:schemeClr>
              </a:solidFill>
              <a:prstDash val="solid"/>
              <a:round/>
            </a:ln>
          </c:spPr>
          <c:dLbls>
            <c:dLbl>
              <c:idx val="0"/>
              <c:layout>
                <c:manualLayout>
                  <c:x val="-1.6666666666666701E-2"/>
                  <c:y val="5.09259259259259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93E9-41FE-8918-D4FEDB94CA40}"/>
                </c:ext>
              </c:extLst>
            </c:dLbl>
            <c:dLbl>
              <c:idx val="1"/>
              <c:layout>
                <c:manualLayout>
                  <c:x val="-2.5000000000000001E-2"/>
                  <c:y val="5.55555555555554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93E9-41FE-8918-D4FEDB94CA40}"/>
                </c:ext>
              </c:extLst>
            </c:dLbl>
            <c:dLbl>
              <c:idx val="2"/>
              <c:layout>
                <c:manualLayout>
                  <c:x val="-3.0555555555555499E-2"/>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93E9-41FE-8918-D4FEDB94CA40}"/>
                </c:ext>
              </c:extLst>
            </c:dLbl>
            <c:dLbl>
              <c:idx val="3"/>
              <c:layout>
                <c:manualLayout>
                  <c:x val="-3.8888888888888903E-2"/>
                  <c:y val="6.01851851851850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93E9-41FE-8918-D4FEDB94CA40}"/>
                </c:ext>
              </c:extLst>
            </c:dLbl>
            <c:dLbl>
              <c:idx val="4"/>
              <c:layout>
                <c:manualLayout>
                  <c:x val="-3.3333333333333298E-2"/>
                  <c:y val="4.16666666666666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93E9-41FE-8918-D4FEDB94CA40}"/>
                </c:ext>
              </c:extLst>
            </c:dLbl>
            <c:dLbl>
              <c:idx val="5"/>
              <c:layout>
                <c:manualLayout>
                  <c:x val="-5.5555555555555497E-2"/>
                  <c:y val="6.48148148148152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93E9-41FE-8918-D4FEDB94CA40}"/>
                </c:ext>
              </c:extLst>
            </c:dLbl>
            <c:dLbl>
              <c:idx val="6"/>
              <c:layout>
                <c:manualLayout>
                  <c:x val="-9.4444444444444497E-2"/>
                  <c:y val="3.24074074074076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93E9-41FE-8918-D4FEDB94CA40}"/>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中挖停线!$C$25:$I$25</c:f>
              <c:strCache>
                <c:ptCount val="7"/>
                <c:pt idx="0">
                  <c:v>06</c:v>
                </c:pt>
                <c:pt idx="1">
                  <c:v>07</c:v>
                </c:pt>
                <c:pt idx="2">
                  <c:v>08</c:v>
                </c:pt>
                <c:pt idx="3">
                  <c:v>09</c:v>
                </c:pt>
                <c:pt idx="4">
                  <c:v>10</c:v>
                </c:pt>
                <c:pt idx="5">
                  <c:v>11</c:v>
                </c:pt>
                <c:pt idx="6">
                  <c:v>12</c:v>
                </c:pt>
              </c:strCache>
            </c:strRef>
          </c:cat>
          <c:val>
            <c:numRef>
              <c:f>中挖停线!$C$28:$I$28</c:f>
              <c:numCache>
                <c:formatCode>0%</c:formatCode>
                <c:ptCount val="7"/>
                <c:pt idx="0">
                  <c:v>0.62707033216887798</c:v>
                </c:pt>
                <c:pt idx="1">
                  <c:v>0.64378337147215903</c:v>
                </c:pt>
                <c:pt idx="2">
                  <c:v>0.69882258572778799</c:v>
                </c:pt>
                <c:pt idx="3">
                  <c:v>0.69655204364091095</c:v>
                </c:pt>
                <c:pt idx="4">
                  <c:v>0.71275535204366502</c:v>
                </c:pt>
                <c:pt idx="5">
                  <c:v>0.73035085759645202</c:v>
                </c:pt>
                <c:pt idx="6">
                  <c:v>0.66811372301780303</c:v>
                </c:pt>
              </c:numCache>
            </c:numRef>
          </c:val>
          <c:smooth val="1"/>
          <c:extLst>
            <c:ext xmlns:c16="http://schemas.microsoft.com/office/drawing/2014/chart" uri="{C3380CC4-5D6E-409C-BE32-E72D297353CC}">
              <c16:uniqueId val="{00000007-93E9-41FE-8918-D4FEDB94CA40}"/>
            </c:ext>
          </c:extLst>
        </c:ser>
        <c:dLbls>
          <c:showLegendKey val="0"/>
          <c:showVal val="0"/>
          <c:showCatName val="0"/>
          <c:showSerName val="0"/>
          <c:showPercent val="0"/>
          <c:showBubbleSize val="0"/>
        </c:dLbls>
        <c:marker val="1"/>
        <c:smooth val="0"/>
        <c:axId val="70402432"/>
        <c:axId val="70403968"/>
      </c:lineChart>
      <c:catAx>
        <c:axId val="70402432"/>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403968"/>
        <c:crosses val="autoZero"/>
        <c:auto val="1"/>
        <c:lblAlgn val="ctr"/>
        <c:lblOffset val="100"/>
        <c:noMultiLvlLbl val="0"/>
      </c:catAx>
      <c:valAx>
        <c:axId val="70403968"/>
        <c:scaling>
          <c:orientation val="minMax"/>
          <c:max val="1"/>
          <c:min val="0"/>
        </c:scaling>
        <c:delete val="0"/>
        <c:axPos val="l"/>
        <c:majorGridlines/>
        <c:numFmt formatCode="0%"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402432"/>
        <c:crosses val="autoZero"/>
        <c:crossBetween val="between"/>
      </c:valAx>
    </c:plotArea>
    <c:legend>
      <c:legendPos val="b"/>
      <c:layout>
        <c:manualLayout>
          <c:xMode val="edge"/>
          <c:yMode val="edge"/>
          <c:x val="0.31797716509554103"/>
          <c:y val="0.83792194385809404"/>
          <c:w val="0.36997475237910599"/>
          <c:h val="9.8389145033267997E-2"/>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a:pPr>
      <a:endParaRPr lang="zh-CN"/>
    </a:p>
  </c:txPr>
  <c:externalData r:id="rId2">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4106069193819697E-2"/>
          <c:y val="6.0336863155555899E-2"/>
          <c:w val="0.79041900240839902"/>
          <c:h val="0.62167653886410701"/>
        </c:manualLayout>
      </c:layout>
      <c:barChart>
        <c:barDir val="col"/>
        <c:grouping val="stacked"/>
        <c:varyColors val="0"/>
        <c:ser>
          <c:idx val="0"/>
          <c:order val="0"/>
          <c:tx>
            <c:strRef>
              <c:f>中挖停线!$B$30</c:f>
              <c:strCache>
                <c:ptCount val="1"/>
                <c:pt idx="0">
                  <c:v>设备故障</c:v>
                </c:pt>
              </c:strCache>
            </c:strRef>
          </c:tx>
          <c:invertIfNegative val="0"/>
          <c:cat>
            <c:strRef>
              <c:f>中挖停线!$C$29:$I$29</c:f>
              <c:strCache>
                <c:ptCount val="7"/>
                <c:pt idx="0">
                  <c:v>06</c:v>
                </c:pt>
                <c:pt idx="1">
                  <c:v>07</c:v>
                </c:pt>
                <c:pt idx="2">
                  <c:v>08</c:v>
                </c:pt>
                <c:pt idx="3">
                  <c:v>09</c:v>
                </c:pt>
                <c:pt idx="4">
                  <c:v>10</c:v>
                </c:pt>
                <c:pt idx="5">
                  <c:v>11</c:v>
                </c:pt>
                <c:pt idx="6">
                  <c:v>12</c:v>
                </c:pt>
              </c:strCache>
            </c:strRef>
          </c:cat>
          <c:val>
            <c:numRef>
              <c:f>中挖停线!$C$30:$I$30</c:f>
              <c:numCache>
                <c:formatCode>0</c:formatCode>
                <c:ptCount val="7"/>
                <c:pt idx="0">
                  <c:v>5.7</c:v>
                </c:pt>
                <c:pt idx="1">
                  <c:v>9.5000000000000001E-2</c:v>
                </c:pt>
                <c:pt idx="2">
                  <c:v>7.5</c:v>
                </c:pt>
                <c:pt idx="3">
                  <c:v>4</c:v>
                </c:pt>
                <c:pt idx="4">
                  <c:v>11</c:v>
                </c:pt>
                <c:pt idx="5">
                  <c:v>6</c:v>
                </c:pt>
                <c:pt idx="6">
                  <c:v>0</c:v>
                </c:pt>
              </c:numCache>
            </c:numRef>
          </c:val>
          <c:extLst>
            <c:ext xmlns:c16="http://schemas.microsoft.com/office/drawing/2014/chart" uri="{C3380CC4-5D6E-409C-BE32-E72D297353CC}">
              <c16:uniqueId val="{00000000-02A2-4519-9464-A643EE74202C}"/>
            </c:ext>
          </c:extLst>
        </c:ser>
        <c:ser>
          <c:idx val="2"/>
          <c:order val="1"/>
          <c:tx>
            <c:strRef>
              <c:f>中挖停线!$B$32</c:f>
              <c:strCache>
                <c:ptCount val="1"/>
                <c:pt idx="0">
                  <c:v>外购件缺件</c:v>
                </c:pt>
              </c:strCache>
            </c:strRef>
          </c:tx>
          <c:invertIfNegative val="0"/>
          <c:cat>
            <c:strRef>
              <c:f>中挖停线!$C$29:$I$29</c:f>
              <c:strCache>
                <c:ptCount val="7"/>
                <c:pt idx="0">
                  <c:v>06</c:v>
                </c:pt>
                <c:pt idx="1">
                  <c:v>07</c:v>
                </c:pt>
                <c:pt idx="2">
                  <c:v>08</c:v>
                </c:pt>
                <c:pt idx="3">
                  <c:v>09</c:v>
                </c:pt>
                <c:pt idx="4">
                  <c:v>10</c:v>
                </c:pt>
                <c:pt idx="5">
                  <c:v>11</c:v>
                </c:pt>
                <c:pt idx="6">
                  <c:v>12</c:v>
                </c:pt>
              </c:strCache>
            </c:strRef>
          </c:cat>
          <c:val>
            <c:numRef>
              <c:f>中挖停线!$C$32:$I$32</c:f>
            </c:numRef>
          </c:val>
          <c:extLst>
            <c:ext xmlns:c16="http://schemas.microsoft.com/office/drawing/2014/chart" uri="{C3380CC4-5D6E-409C-BE32-E72D297353CC}">
              <c16:uniqueId val="{00000001-02A2-4519-9464-A643EE74202C}"/>
            </c:ext>
          </c:extLst>
        </c:ser>
        <c:ser>
          <c:idx val="3"/>
          <c:order val="2"/>
          <c:tx>
            <c:strRef>
              <c:f>中挖停线!$B$33</c:f>
              <c:strCache>
                <c:ptCount val="1"/>
                <c:pt idx="0">
                  <c:v>外购件质量</c:v>
                </c:pt>
              </c:strCache>
            </c:strRef>
          </c:tx>
          <c:invertIfNegative val="0"/>
          <c:cat>
            <c:strRef>
              <c:f>中挖停线!$C$29:$I$29</c:f>
              <c:strCache>
                <c:ptCount val="7"/>
                <c:pt idx="0">
                  <c:v>06</c:v>
                </c:pt>
                <c:pt idx="1">
                  <c:v>07</c:v>
                </c:pt>
                <c:pt idx="2">
                  <c:v>08</c:v>
                </c:pt>
                <c:pt idx="3">
                  <c:v>09</c:v>
                </c:pt>
                <c:pt idx="4">
                  <c:v>10</c:v>
                </c:pt>
                <c:pt idx="5">
                  <c:v>11</c:v>
                </c:pt>
                <c:pt idx="6">
                  <c:v>12</c:v>
                </c:pt>
              </c:strCache>
            </c:strRef>
          </c:cat>
          <c:val>
            <c:numRef>
              <c:f>中挖停线!$C$33:$I$33</c:f>
            </c:numRef>
          </c:val>
          <c:extLst>
            <c:ext xmlns:c16="http://schemas.microsoft.com/office/drawing/2014/chart" uri="{C3380CC4-5D6E-409C-BE32-E72D297353CC}">
              <c16:uniqueId val="{00000002-02A2-4519-9464-A643EE74202C}"/>
            </c:ext>
          </c:extLst>
        </c:ser>
        <c:ser>
          <c:idx val="4"/>
          <c:order val="3"/>
          <c:tx>
            <c:strRef>
              <c:f>中挖停线!$B$34</c:f>
              <c:strCache>
                <c:ptCount val="1"/>
                <c:pt idx="0">
                  <c:v>外购件停线时间</c:v>
                </c:pt>
              </c:strCache>
            </c:strRef>
          </c:tx>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中挖停线!$C$29:$I$29</c:f>
              <c:strCache>
                <c:ptCount val="7"/>
                <c:pt idx="0">
                  <c:v>06</c:v>
                </c:pt>
                <c:pt idx="1">
                  <c:v>07</c:v>
                </c:pt>
                <c:pt idx="2">
                  <c:v>08</c:v>
                </c:pt>
                <c:pt idx="3">
                  <c:v>09</c:v>
                </c:pt>
                <c:pt idx="4">
                  <c:v>10</c:v>
                </c:pt>
                <c:pt idx="5">
                  <c:v>11</c:v>
                </c:pt>
                <c:pt idx="6">
                  <c:v>12</c:v>
                </c:pt>
              </c:strCache>
            </c:strRef>
          </c:cat>
          <c:val>
            <c:numRef>
              <c:f>中挖停线!$C$34:$I$34</c:f>
              <c:numCache>
                <c:formatCode>0</c:formatCode>
                <c:ptCount val="7"/>
                <c:pt idx="0">
                  <c:v>139.35000000000099</c:v>
                </c:pt>
                <c:pt idx="1">
                  <c:v>139.35000000000099</c:v>
                </c:pt>
                <c:pt idx="2">
                  <c:v>598.93333333333396</c:v>
                </c:pt>
                <c:pt idx="3">
                  <c:v>339</c:v>
                </c:pt>
                <c:pt idx="4">
                  <c:v>300.66666666666703</c:v>
                </c:pt>
                <c:pt idx="5">
                  <c:v>569</c:v>
                </c:pt>
                <c:pt idx="6">
                  <c:v>552.73333333333801</c:v>
                </c:pt>
              </c:numCache>
            </c:numRef>
          </c:val>
          <c:extLst>
            <c:ext xmlns:c16="http://schemas.microsoft.com/office/drawing/2014/chart" uri="{C3380CC4-5D6E-409C-BE32-E72D297353CC}">
              <c16:uniqueId val="{00000003-02A2-4519-9464-A643EE74202C}"/>
            </c:ext>
          </c:extLst>
        </c:ser>
        <c:dLbls>
          <c:showLegendKey val="0"/>
          <c:showVal val="0"/>
          <c:showCatName val="0"/>
          <c:showSerName val="0"/>
          <c:showPercent val="0"/>
          <c:showBubbleSize val="0"/>
        </c:dLbls>
        <c:gapWidth val="150"/>
        <c:overlap val="100"/>
        <c:axId val="70617728"/>
        <c:axId val="70635904"/>
      </c:barChart>
      <c:lineChart>
        <c:grouping val="standard"/>
        <c:varyColors val="0"/>
        <c:ser>
          <c:idx val="6"/>
          <c:order val="4"/>
          <c:tx>
            <c:strRef>
              <c:f>中挖停线!$B$36</c:f>
              <c:strCache>
                <c:ptCount val="1"/>
                <c:pt idx="0">
                  <c:v>外购件影响停线占总工时比率</c:v>
                </c:pt>
              </c:strCache>
            </c:strRef>
          </c:tx>
          <c:dLbls>
            <c:dLbl>
              <c:idx val="0"/>
              <c:layout>
                <c:manualLayout>
                  <c:x val="-5.5263157894736903E-2"/>
                  <c:y val="-4.6296296296296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02A2-4519-9464-A643EE74202C}"/>
                </c:ext>
              </c:extLst>
            </c:dLbl>
            <c:dLbl>
              <c:idx val="1"/>
              <c:layout>
                <c:manualLayout>
                  <c:x val="-5.5263157894736903E-2"/>
                  <c:y val="-3.70370370370370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02A2-4519-9464-A643EE74202C}"/>
                </c:ext>
              </c:extLst>
            </c:dLbl>
            <c:dLbl>
              <c:idx val="2"/>
              <c:layout>
                <c:manualLayout>
                  <c:x val="-0.05"/>
                  <c:y val="2.3148148148148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02A2-4519-9464-A643EE74202C}"/>
                </c:ext>
              </c:extLst>
            </c:dLbl>
            <c:dLbl>
              <c:idx val="3"/>
              <c:layout>
                <c:manualLayout>
                  <c:x val="-3.9473684210526397E-2"/>
                  <c:y val="-3.70370370370370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02A2-4519-9464-A643EE74202C}"/>
                </c:ext>
              </c:extLst>
            </c:dLbl>
            <c:dLbl>
              <c:idx val="4"/>
              <c:layout>
                <c:manualLayout>
                  <c:x val="-4.73684210526326E-2"/>
                  <c:y val="3.24074074074078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02A2-4519-9464-A643EE74202C}"/>
                </c:ext>
              </c:extLst>
            </c:dLbl>
            <c:dLbl>
              <c:idx val="5"/>
              <c:layout>
                <c:manualLayout>
                  <c:x val="-3.1578947368421303E-2"/>
                  <c:y val="-2.3148148148148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02A2-4519-9464-A643EE74202C}"/>
                </c:ext>
              </c:extLst>
            </c:dLbl>
            <c:dLbl>
              <c:idx val="6"/>
              <c:layout>
                <c:manualLayout>
                  <c:x val="-2.36842105263163E-2"/>
                  <c:y val="-4.6296296296296701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02A2-4519-9464-A643EE74202C}"/>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中挖停线!$C$29:$I$29</c:f>
              <c:strCache>
                <c:ptCount val="7"/>
                <c:pt idx="0">
                  <c:v>06</c:v>
                </c:pt>
                <c:pt idx="1">
                  <c:v>07</c:v>
                </c:pt>
                <c:pt idx="2">
                  <c:v>08</c:v>
                </c:pt>
                <c:pt idx="3">
                  <c:v>09</c:v>
                </c:pt>
                <c:pt idx="4">
                  <c:v>10</c:v>
                </c:pt>
                <c:pt idx="5">
                  <c:v>11</c:v>
                </c:pt>
                <c:pt idx="6">
                  <c:v>12</c:v>
                </c:pt>
              </c:strCache>
            </c:strRef>
          </c:cat>
          <c:val>
            <c:numRef>
              <c:f>中挖停线!$C$36:$I$36</c:f>
              <c:numCache>
                <c:formatCode>0%</c:formatCode>
                <c:ptCount val="7"/>
                <c:pt idx="0">
                  <c:v>0.132354669673311</c:v>
                </c:pt>
                <c:pt idx="1">
                  <c:v>0.15724441435341999</c:v>
                </c:pt>
                <c:pt idx="2">
                  <c:v>0.29463224261902599</c:v>
                </c:pt>
                <c:pt idx="3">
                  <c:v>0.22547014515887701</c:v>
                </c:pt>
                <c:pt idx="4">
                  <c:v>0.21383021596377699</c:v>
                </c:pt>
                <c:pt idx="5">
                  <c:v>0.22218678919263701</c:v>
                </c:pt>
                <c:pt idx="6">
                  <c:v>0.29804711020841002</c:v>
                </c:pt>
              </c:numCache>
            </c:numRef>
          </c:val>
          <c:smooth val="1"/>
          <c:extLst>
            <c:ext xmlns:c16="http://schemas.microsoft.com/office/drawing/2014/chart" uri="{C3380CC4-5D6E-409C-BE32-E72D297353CC}">
              <c16:uniqueId val="{0000000B-02A2-4519-9464-A643EE74202C}"/>
            </c:ext>
          </c:extLst>
        </c:ser>
        <c:dLbls>
          <c:showLegendKey val="1"/>
          <c:showVal val="1"/>
          <c:showCatName val="1"/>
          <c:showSerName val="1"/>
          <c:showPercent val="1"/>
          <c:showBubbleSize val="1"/>
        </c:dLbls>
        <c:marker val="1"/>
        <c:smooth val="0"/>
        <c:axId val="70638976"/>
        <c:axId val="70637440"/>
      </c:lineChart>
      <c:catAx>
        <c:axId val="7061772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635904"/>
        <c:crosses val="autoZero"/>
        <c:auto val="1"/>
        <c:lblAlgn val="ctr"/>
        <c:lblOffset val="100"/>
        <c:noMultiLvlLbl val="0"/>
      </c:catAx>
      <c:valAx>
        <c:axId val="70635904"/>
        <c:scaling>
          <c:orientation val="minMax"/>
        </c:scaling>
        <c:delete val="0"/>
        <c:axPos val="l"/>
        <c:majorGridlines/>
        <c:numFmt formatCode="0"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617728"/>
        <c:crosses val="autoZero"/>
        <c:crossBetween val="between"/>
      </c:valAx>
      <c:catAx>
        <c:axId val="70638976"/>
        <c:scaling>
          <c:orientation val="minMax"/>
        </c:scaling>
        <c:delete val="1"/>
        <c:axPos val="b"/>
        <c:numFmt formatCode="General" sourceLinked="1"/>
        <c:majorTickMark val="out"/>
        <c:minorTickMark val="none"/>
        <c:tickLblPos val="nextTo"/>
        <c:crossAx val="70637440"/>
        <c:crosses val="autoZero"/>
        <c:auto val="1"/>
        <c:lblAlgn val="ctr"/>
        <c:lblOffset val="100"/>
        <c:noMultiLvlLbl val="0"/>
      </c:catAx>
      <c:valAx>
        <c:axId val="70637440"/>
        <c:scaling>
          <c:orientation val="minMax"/>
        </c:scaling>
        <c:delete val="0"/>
        <c:axPos val="r"/>
        <c:numFmt formatCode="0%"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638976"/>
        <c:crosses val="max"/>
        <c:crossBetween val="between"/>
      </c:valAx>
    </c:plotArea>
    <c:legend>
      <c:legendPos val="b"/>
      <c:legendEntry>
        <c:idx val="0"/>
        <c:delete val="1"/>
      </c:legendEntry>
      <c:layout>
        <c:manualLayout>
          <c:xMode val="edge"/>
          <c:yMode val="edge"/>
          <c:x val="6.1957334307487497E-2"/>
          <c:y val="0.75695605893639595"/>
          <c:w val="0.9"/>
          <c:h val="0.159710857952721"/>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a:pPr>
      <a:endParaRPr lang="zh-CN"/>
    </a:p>
  </c:txPr>
  <c:externalData r:id="rId2">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925692813792801"/>
          <c:y val="6.0336863155555899E-2"/>
          <c:w val="0.77526814346428596"/>
          <c:h val="0.70096341634555703"/>
        </c:manualLayout>
      </c:layout>
      <c:barChart>
        <c:barDir val="col"/>
        <c:grouping val="stacked"/>
        <c:varyColors val="0"/>
        <c:ser>
          <c:idx val="1"/>
          <c:order val="0"/>
          <c:tx>
            <c:strRef>
              <c:f>大挖停线数据!$D$16</c:f>
              <c:strCache>
                <c:ptCount val="1"/>
                <c:pt idx="0">
                  <c:v>外购件停线人工时</c:v>
                </c:pt>
              </c:strCache>
            </c:strRef>
          </c:tx>
          <c:invertIfNegative val="0"/>
          <c:dLbls>
            <c:dLbl>
              <c:idx val="0"/>
              <c:layout>
                <c:manualLayout>
                  <c:x val="0"/>
                  <c:y val="-0.107781234183856"/>
                </c:manualLayout>
              </c:layout>
              <c:dLblPos val="ct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D181-4984-822F-08322A701247}"/>
                </c:ext>
              </c:extLst>
            </c:dLbl>
            <c:dLbl>
              <c:idx val="1"/>
              <c:layout>
                <c:manualLayout>
                  <c:x val="-2.9938885861174401E-17"/>
                  <c:y val="-0.127377822217284"/>
                </c:manualLayout>
              </c:layout>
              <c:dLblPos val="ct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D181-4984-822F-08322A701247}"/>
                </c:ext>
              </c:extLst>
            </c:dLbl>
            <c:dLbl>
              <c:idx val="2"/>
              <c:layout>
                <c:manualLayout>
                  <c:x val="-1.6330490027857102E-2"/>
                  <c:y val="-9.3083793158784803E-2"/>
                </c:manualLayout>
              </c:layout>
              <c:dLblPos val="ct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D181-4984-822F-08322A701247}"/>
                </c:ext>
              </c:extLst>
            </c:dLbl>
            <c:dLbl>
              <c:idx val="3"/>
              <c:layout>
                <c:manualLayout>
                  <c:x val="0"/>
                  <c:y val="-0.142075263242356"/>
                </c:manualLayout>
              </c:layout>
              <c:dLblPos val="ct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D181-4984-822F-08322A701247}"/>
                </c:ext>
              </c:extLst>
            </c:dLbl>
            <c:dLbl>
              <c:idx val="4"/>
              <c:layout>
                <c:manualLayout>
                  <c:x val="-6.5321960111429404E-3"/>
                  <c:y val="-0.18616758631756999"/>
                </c:manualLayout>
              </c:layout>
              <c:dLblPos val="ct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D181-4984-822F-08322A701247}"/>
                </c:ext>
              </c:extLst>
            </c:dLbl>
            <c:dLbl>
              <c:idx val="5"/>
              <c:layout>
                <c:manualLayout>
                  <c:x val="-6.5321960111429404E-3"/>
                  <c:y val="-0.29884796750978598"/>
                </c:manualLayout>
              </c:layout>
              <c:dLblPos val="ct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D181-4984-822F-08322A701247}"/>
                </c:ext>
              </c:extLst>
            </c:dLbl>
            <c:dLbl>
              <c:idx val="6"/>
              <c:layout>
                <c:manualLayout>
                  <c:x val="9.7982940167142003E-3"/>
                  <c:y val="-0.29884796750978598"/>
                </c:manualLayout>
              </c:layout>
              <c:dLblPos val="ct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D181-4984-822F-08322A701247}"/>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大挖停线数据!$B$17:$B$23</c:f>
              <c:strCache>
                <c:ptCount val="7"/>
                <c:pt idx="0">
                  <c:v>06</c:v>
                </c:pt>
                <c:pt idx="1">
                  <c:v>07</c:v>
                </c:pt>
                <c:pt idx="2">
                  <c:v>08</c:v>
                </c:pt>
                <c:pt idx="3">
                  <c:v>09</c:v>
                </c:pt>
                <c:pt idx="4">
                  <c:v>10</c:v>
                </c:pt>
                <c:pt idx="5">
                  <c:v>11</c:v>
                </c:pt>
                <c:pt idx="6">
                  <c:v>12</c:v>
                </c:pt>
              </c:strCache>
            </c:strRef>
          </c:cat>
          <c:val>
            <c:numRef>
              <c:f>大挖停线数据!$D$17:$D$23</c:f>
              <c:numCache>
                <c:formatCode>General</c:formatCode>
                <c:ptCount val="7"/>
                <c:pt idx="0">
                  <c:v>516</c:v>
                </c:pt>
                <c:pt idx="1">
                  <c:v>828</c:v>
                </c:pt>
                <c:pt idx="2">
                  <c:v>380</c:v>
                </c:pt>
                <c:pt idx="3">
                  <c:v>906</c:v>
                </c:pt>
                <c:pt idx="4">
                  <c:v>1262</c:v>
                </c:pt>
                <c:pt idx="5">
                  <c:v>2447</c:v>
                </c:pt>
                <c:pt idx="6">
                  <c:v>2190</c:v>
                </c:pt>
              </c:numCache>
            </c:numRef>
          </c:val>
          <c:extLst>
            <c:ext xmlns:c16="http://schemas.microsoft.com/office/drawing/2014/chart" uri="{C3380CC4-5D6E-409C-BE32-E72D297353CC}">
              <c16:uniqueId val="{00000007-D181-4984-822F-08322A701247}"/>
            </c:ext>
          </c:extLst>
        </c:ser>
        <c:dLbls>
          <c:showLegendKey val="1"/>
          <c:showVal val="1"/>
          <c:showCatName val="1"/>
          <c:showSerName val="1"/>
          <c:showPercent val="1"/>
          <c:showBubbleSize val="1"/>
        </c:dLbls>
        <c:gapWidth val="150"/>
        <c:overlap val="100"/>
        <c:axId val="70555520"/>
        <c:axId val="70557056"/>
      </c:barChart>
      <c:lineChart>
        <c:grouping val="standard"/>
        <c:varyColors val="0"/>
        <c:ser>
          <c:idx val="4"/>
          <c:order val="1"/>
          <c:tx>
            <c:strRef>
              <c:f>大挖停线数据!$G$16</c:f>
              <c:strCache>
                <c:ptCount val="1"/>
                <c:pt idx="0">
                  <c:v>外购件影响停线占总人工时百分比</c:v>
                </c:pt>
              </c:strCache>
            </c:strRef>
          </c:tx>
          <c:marker>
            <c:symbol val="none"/>
          </c:marker>
          <c:dLbls>
            <c:dLbl>
              <c:idx val="2"/>
              <c:layout>
                <c:manualLayout>
                  <c:x val="-2.30849947534103E-2"/>
                  <c:y val="-4.15704387990762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D181-4984-822F-08322A701247}"/>
                </c:ext>
              </c:extLst>
            </c:dLbl>
            <c:dLbl>
              <c:idx val="3"/>
              <c:layout>
                <c:manualLayout>
                  <c:x val="-4.1972717733473199E-2"/>
                  <c:y val="-6.4665127020785196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D181-4984-822F-08322A701247}"/>
                </c:ext>
              </c:extLst>
            </c:dLbl>
            <c:dLbl>
              <c:idx val="4"/>
              <c:layout>
                <c:manualLayout>
                  <c:x val="-3.7775445960126199E-2"/>
                  <c:y val="-3.69515011547343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D181-4984-822F-08322A701247}"/>
                </c:ext>
              </c:extLst>
            </c:dLbl>
            <c:dLbl>
              <c:idx val="6"/>
              <c:layout>
                <c:manualLayout>
                  <c:x val="-3.5676810073452497E-2"/>
                  <c:y val="-5.5427251732101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D181-4984-822F-08322A701247}"/>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大挖停线数据!$B$17:$B$23</c:f>
              <c:strCache>
                <c:ptCount val="7"/>
                <c:pt idx="0">
                  <c:v>06</c:v>
                </c:pt>
                <c:pt idx="1">
                  <c:v>07</c:v>
                </c:pt>
                <c:pt idx="2">
                  <c:v>08</c:v>
                </c:pt>
                <c:pt idx="3">
                  <c:v>09</c:v>
                </c:pt>
                <c:pt idx="4">
                  <c:v>10</c:v>
                </c:pt>
                <c:pt idx="5">
                  <c:v>11</c:v>
                </c:pt>
                <c:pt idx="6">
                  <c:v>12</c:v>
                </c:pt>
              </c:strCache>
            </c:strRef>
          </c:cat>
          <c:val>
            <c:numRef>
              <c:f>大挖停线数据!$G$17:$G$23</c:f>
              <c:numCache>
                <c:formatCode>0.0%</c:formatCode>
                <c:ptCount val="7"/>
                <c:pt idx="0">
                  <c:v>2.3320979842719001E-3</c:v>
                </c:pt>
                <c:pt idx="1">
                  <c:v>3.7422037422037602E-3</c:v>
                </c:pt>
                <c:pt idx="2">
                  <c:v>1.71743650004521E-3</c:v>
                </c:pt>
                <c:pt idx="3">
                  <c:v>4.0947301816867E-3</c:v>
                </c:pt>
                <c:pt idx="4">
                  <c:v>5.70369700804489E-3</c:v>
                </c:pt>
                <c:pt idx="5">
                  <c:v>1.10593871463437E-2</c:v>
                </c:pt>
                <c:pt idx="6">
                  <c:v>9.8978577239446901E-3</c:v>
                </c:pt>
              </c:numCache>
            </c:numRef>
          </c:val>
          <c:smooth val="1"/>
          <c:extLst>
            <c:ext xmlns:c16="http://schemas.microsoft.com/office/drawing/2014/chart" uri="{C3380CC4-5D6E-409C-BE32-E72D297353CC}">
              <c16:uniqueId val="{0000000C-D181-4984-822F-08322A701247}"/>
            </c:ext>
          </c:extLst>
        </c:ser>
        <c:dLbls>
          <c:showLegendKey val="1"/>
          <c:showVal val="1"/>
          <c:showCatName val="1"/>
          <c:showSerName val="1"/>
          <c:showPercent val="1"/>
          <c:showBubbleSize val="1"/>
        </c:dLbls>
        <c:marker val="1"/>
        <c:smooth val="0"/>
        <c:axId val="70572672"/>
        <c:axId val="70571136"/>
      </c:lineChart>
      <c:catAx>
        <c:axId val="7055552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557056"/>
        <c:crosses val="autoZero"/>
        <c:auto val="1"/>
        <c:lblAlgn val="ctr"/>
        <c:lblOffset val="100"/>
        <c:noMultiLvlLbl val="0"/>
      </c:catAx>
      <c:valAx>
        <c:axId val="705570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555520"/>
        <c:crosses val="autoZero"/>
        <c:crossBetween val="between"/>
      </c:valAx>
      <c:catAx>
        <c:axId val="70572672"/>
        <c:scaling>
          <c:orientation val="minMax"/>
        </c:scaling>
        <c:delete val="1"/>
        <c:axPos val="b"/>
        <c:numFmt formatCode="General" sourceLinked="1"/>
        <c:majorTickMark val="out"/>
        <c:minorTickMark val="none"/>
        <c:tickLblPos val="nextTo"/>
        <c:crossAx val="70571136"/>
        <c:crosses val="autoZero"/>
        <c:auto val="1"/>
        <c:lblAlgn val="ctr"/>
        <c:lblOffset val="100"/>
        <c:noMultiLvlLbl val="0"/>
      </c:catAx>
      <c:valAx>
        <c:axId val="70571136"/>
        <c:scaling>
          <c:orientation val="minMax"/>
          <c:max val="0.03"/>
        </c:scaling>
        <c:delete val="0"/>
        <c:axPos val="r"/>
        <c:numFmt formatCode="0.0%"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0572672"/>
        <c:crosses val="max"/>
        <c:crossBetween val="between"/>
      </c:valAx>
    </c:plotArea>
    <c:legend>
      <c:legendPos val="b"/>
      <c:layout>
        <c:manualLayout>
          <c:xMode val="edge"/>
          <c:yMode val="edge"/>
          <c:x val="9.14507441559992E-2"/>
          <c:y val="0.84622615031078596"/>
          <c:w val="0.90854925584400104"/>
          <c:h val="0.151551447987263"/>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a:pPr>
      <a:endParaRPr lang="zh-CN"/>
    </a:p>
  </c:txPr>
  <c:externalData r:id="rId2">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72522754241125E-2"/>
          <c:y val="6.1967589186786999E-2"/>
          <c:w val="0.92348049096318996"/>
          <c:h val="0.61184680681125503"/>
        </c:manualLayout>
      </c:layout>
      <c:lineChart>
        <c:grouping val="standard"/>
        <c:varyColors val="0"/>
        <c:ser>
          <c:idx val="0"/>
          <c:order val="0"/>
          <c:tx>
            <c:strRef>
              <c:f>kpi!$A$39</c:f>
              <c:strCache>
                <c:ptCount val="1"/>
                <c:pt idx="0">
                  <c:v>大挖国际</c:v>
                </c:pt>
              </c:strCache>
            </c:strRef>
          </c:tx>
          <c:cat>
            <c:strRef>
              <c:f>kpi!$B$38:$M$38</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kpi!$B$39:$M$39</c:f>
              <c:numCache>
                <c:formatCode>0.00%</c:formatCode>
                <c:ptCount val="12"/>
                <c:pt idx="0">
                  <c:v>1</c:v>
                </c:pt>
                <c:pt idx="1">
                  <c:v>1</c:v>
                </c:pt>
                <c:pt idx="2">
                  <c:v>1</c:v>
                </c:pt>
                <c:pt idx="3">
                  <c:v>1</c:v>
                </c:pt>
                <c:pt idx="4">
                  <c:v>1</c:v>
                </c:pt>
                <c:pt idx="5">
                  <c:v>1</c:v>
                </c:pt>
                <c:pt idx="6">
                  <c:v>1</c:v>
                </c:pt>
                <c:pt idx="7">
                  <c:v>1</c:v>
                </c:pt>
                <c:pt idx="8">
                  <c:v>1</c:v>
                </c:pt>
                <c:pt idx="9">
                  <c:v>1</c:v>
                </c:pt>
                <c:pt idx="10">
                  <c:v>1</c:v>
                </c:pt>
                <c:pt idx="11">
                  <c:v>1</c:v>
                </c:pt>
              </c:numCache>
            </c:numRef>
          </c:val>
          <c:smooth val="1"/>
          <c:extLst>
            <c:ext xmlns:c16="http://schemas.microsoft.com/office/drawing/2014/chart" uri="{C3380CC4-5D6E-409C-BE32-E72D297353CC}">
              <c16:uniqueId val="{00000000-B0B5-49BD-8B21-9108615EDD99}"/>
            </c:ext>
          </c:extLst>
        </c:ser>
        <c:ser>
          <c:idx val="1"/>
          <c:order val="1"/>
          <c:tx>
            <c:strRef>
              <c:f>kpi!$A$40</c:f>
              <c:strCache>
                <c:ptCount val="1"/>
                <c:pt idx="0">
                  <c:v>大挖国内</c:v>
                </c:pt>
              </c:strCache>
            </c:strRef>
          </c:tx>
          <c:spPr>
            <a:ln w="28575" cap="rnd" cmpd="sng" algn="ctr">
              <a:solidFill>
                <a:schemeClr val="accent2">
                  <a:shade val="76667"/>
                  <a:shade val="95000"/>
                  <a:satMod val="105000"/>
                </a:schemeClr>
              </a:solidFill>
              <a:prstDash val="solid"/>
              <a:round/>
            </a:ln>
          </c:spPr>
          <c:dLbls>
            <c:dLbl>
              <c:idx val="0"/>
              <c:delete val="1"/>
              <c:extLst>
                <c:ext xmlns:c15="http://schemas.microsoft.com/office/drawing/2012/chart" uri="{CE6537A1-D6FC-4f65-9D91-7224C49458BB}"/>
                <c:ext xmlns:c16="http://schemas.microsoft.com/office/drawing/2014/chart" uri="{C3380CC4-5D6E-409C-BE32-E72D297353CC}">
                  <c16:uniqueId val="{00000001-B0B5-49BD-8B21-9108615EDD99}"/>
                </c:ext>
              </c:extLst>
            </c:dLbl>
            <c:dLbl>
              <c:idx val="1"/>
              <c:delete val="1"/>
              <c:extLst>
                <c:ext xmlns:c15="http://schemas.microsoft.com/office/drawing/2012/chart" uri="{CE6537A1-D6FC-4f65-9D91-7224C49458BB}"/>
                <c:ext xmlns:c16="http://schemas.microsoft.com/office/drawing/2014/chart" uri="{C3380CC4-5D6E-409C-BE32-E72D297353CC}">
                  <c16:uniqueId val="{00000002-B0B5-49BD-8B21-9108615EDD99}"/>
                </c:ext>
              </c:extLst>
            </c:dLbl>
            <c:dLbl>
              <c:idx val="2"/>
              <c:delete val="1"/>
              <c:extLst>
                <c:ext xmlns:c15="http://schemas.microsoft.com/office/drawing/2012/chart" uri="{CE6537A1-D6FC-4f65-9D91-7224C49458BB}"/>
                <c:ext xmlns:c16="http://schemas.microsoft.com/office/drawing/2014/chart" uri="{C3380CC4-5D6E-409C-BE32-E72D297353CC}">
                  <c16:uniqueId val="{00000003-B0B5-49BD-8B21-9108615EDD99}"/>
                </c:ext>
              </c:extLst>
            </c:dLbl>
            <c:dLbl>
              <c:idx val="3"/>
              <c:delete val="1"/>
              <c:extLst>
                <c:ext xmlns:c15="http://schemas.microsoft.com/office/drawing/2012/chart" uri="{CE6537A1-D6FC-4f65-9D91-7224C49458BB}"/>
                <c:ext xmlns:c16="http://schemas.microsoft.com/office/drawing/2014/chart" uri="{C3380CC4-5D6E-409C-BE32-E72D297353CC}">
                  <c16:uniqueId val="{00000004-B0B5-49BD-8B21-9108615EDD99}"/>
                </c:ext>
              </c:extLst>
            </c:dLbl>
            <c:dLbl>
              <c:idx val="4"/>
              <c:delete val="1"/>
              <c:extLst>
                <c:ext xmlns:c15="http://schemas.microsoft.com/office/drawing/2012/chart" uri="{CE6537A1-D6FC-4f65-9D91-7224C49458BB}"/>
                <c:ext xmlns:c16="http://schemas.microsoft.com/office/drawing/2014/chart" uri="{C3380CC4-5D6E-409C-BE32-E72D297353CC}">
                  <c16:uniqueId val="{00000005-B0B5-49BD-8B21-9108615EDD99}"/>
                </c:ext>
              </c:extLst>
            </c:dLbl>
            <c:dLbl>
              <c:idx val="5"/>
              <c:delete val="1"/>
              <c:extLst>
                <c:ext xmlns:c15="http://schemas.microsoft.com/office/drawing/2012/chart" uri="{CE6537A1-D6FC-4f65-9D91-7224C49458BB}"/>
                <c:ext xmlns:c16="http://schemas.microsoft.com/office/drawing/2014/chart" uri="{C3380CC4-5D6E-409C-BE32-E72D297353CC}">
                  <c16:uniqueId val="{00000006-B0B5-49BD-8B21-9108615EDD99}"/>
                </c:ext>
              </c:extLst>
            </c:dLbl>
            <c:dLbl>
              <c:idx val="6"/>
              <c:delete val="1"/>
              <c:extLst>
                <c:ext xmlns:c15="http://schemas.microsoft.com/office/drawing/2012/chart" uri="{CE6537A1-D6FC-4f65-9D91-7224C49458BB}"/>
                <c:ext xmlns:c16="http://schemas.microsoft.com/office/drawing/2014/chart" uri="{C3380CC4-5D6E-409C-BE32-E72D297353CC}">
                  <c16:uniqueId val="{00000007-B0B5-49BD-8B21-9108615EDD99}"/>
                </c:ext>
              </c:extLst>
            </c:dLbl>
            <c:dLbl>
              <c:idx val="7"/>
              <c:delete val="1"/>
              <c:extLst>
                <c:ext xmlns:c15="http://schemas.microsoft.com/office/drawing/2012/chart" uri="{CE6537A1-D6FC-4f65-9D91-7224C49458BB}"/>
                <c:ext xmlns:c16="http://schemas.microsoft.com/office/drawing/2014/chart" uri="{C3380CC4-5D6E-409C-BE32-E72D297353CC}">
                  <c16:uniqueId val="{00000008-B0B5-49BD-8B21-9108615EDD99}"/>
                </c:ext>
              </c:extLst>
            </c:dLbl>
            <c:dLbl>
              <c:idx val="8"/>
              <c:delete val="1"/>
              <c:extLst>
                <c:ext xmlns:c15="http://schemas.microsoft.com/office/drawing/2012/chart" uri="{CE6537A1-D6FC-4f65-9D91-7224C49458BB}"/>
                <c:ext xmlns:c16="http://schemas.microsoft.com/office/drawing/2014/chart" uri="{C3380CC4-5D6E-409C-BE32-E72D297353CC}">
                  <c16:uniqueId val="{00000009-B0B5-49BD-8B21-9108615EDD99}"/>
                </c:ext>
              </c:extLst>
            </c:dLbl>
            <c:dLbl>
              <c:idx val="9"/>
              <c:delete val="1"/>
              <c:extLst>
                <c:ext xmlns:c15="http://schemas.microsoft.com/office/drawing/2012/chart" uri="{CE6537A1-D6FC-4f65-9D91-7224C49458BB}"/>
                <c:ext xmlns:c16="http://schemas.microsoft.com/office/drawing/2014/chart" uri="{C3380CC4-5D6E-409C-BE32-E72D297353CC}">
                  <c16:uniqueId val="{0000000A-B0B5-49BD-8B21-9108615EDD99}"/>
                </c:ext>
              </c:extLst>
            </c:dLbl>
            <c:dLbl>
              <c:idx val="10"/>
              <c:layout>
                <c:manualLayout>
                  <c:x val="-7.1140554877655998E-2"/>
                  <c:y val="5.7200851557034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B0B5-49BD-8B21-9108615EDD99}"/>
                </c:ext>
              </c:extLst>
            </c:dLbl>
            <c:dLbl>
              <c:idx val="11"/>
              <c:delete val="1"/>
              <c:extLst>
                <c:ext xmlns:c15="http://schemas.microsoft.com/office/drawing/2012/chart" uri="{CE6537A1-D6FC-4f65-9D91-7224C49458BB}"/>
                <c:ext xmlns:c16="http://schemas.microsoft.com/office/drawing/2014/chart" uri="{C3380CC4-5D6E-409C-BE32-E72D297353CC}">
                  <c16:uniqueId val="{0000000C-B0B5-49BD-8B21-9108615EDD99}"/>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kpi!$B$38:$M$38</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kpi!$B$40:$M$40</c:f>
              <c:numCache>
                <c:formatCode>0.00%</c:formatCode>
                <c:ptCount val="12"/>
                <c:pt idx="0">
                  <c:v>1</c:v>
                </c:pt>
                <c:pt idx="1">
                  <c:v>1</c:v>
                </c:pt>
                <c:pt idx="2">
                  <c:v>1</c:v>
                </c:pt>
                <c:pt idx="3">
                  <c:v>1</c:v>
                </c:pt>
                <c:pt idx="4">
                  <c:v>0.98</c:v>
                </c:pt>
                <c:pt idx="5">
                  <c:v>1</c:v>
                </c:pt>
                <c:pt idx="6">
                  <c:v>1</c:v>
                </c:pt>
                <c:pt idx="7">
                  <c:v>0.95000000000000195</c:v>
                </c:pt>
                <c:pt idx="8">
                  <c:v>1</c:v>
                </c:pt>
                <c:pt idx="9">
                  <c:v>0.69000000000000195</c:v>
                </c:pt>
                <c:pt idx="10">
                  <c:v>0.53</c:v>
                </c:pt>
                <c:pt idx="11">
                  <c:v>0.71000000000000196</c:v>
                </c:pt>
              </c:numCache>
            </c:numRef>
          </c:val>
          <c:smooth val="1"/>
          <c:extLst>
            <c:ext xmlns:c16="http://schemas.microsoft.com/office/drawing/2014/chart" uri="{C3380CC4-5D6E-409C-BE32-E72D297353CC}">
              <c16:uniqueId val="{0000000D-B0B5-49BD-8B21-9108615EDD99}"/>
            </c:ext>
          </c:extLst>
        </c:ser>
        <c:ser>
          <c:idx val="2"/>
          <c:order val="2"/>
          <c:tx>
            <c:strRef>
              <c:f>kpi!$A$41</c:f>
              <c:strCache>
                <c:ptCount val="1"/>
                <c:pt idx="0">
                  <c:v>中挖国际</c:v>
                </c:pt>
              </c:strCache>
            </c:strRef>
          </c:tx>
          <c:cat>
            <c:strRef>
              <c:f>kpi!$B$38:$M$38</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kpi!$B$41:$M$41</c:f>
              <c:numCache>
                <c:formatCode>0.00%</c:formatCode>
                <c:ptCount val="12"/>
                <c:pt idx="0">
                  <c:v>1</c:v>
                </c:pt>
                <c:pt idx="1">
                  <c:v>1</c:v>
                </c:pt>
                <c:pt idx="2">
                  <c:v>1</c:v>
                </c:pt>
                <c:pt idx="3">
                  <c:v>1</c:v>
                </c:pt>
                <c:pt idx="4">
                  <c:v>1</c:v>
                </c:pt>
                <c:pt idx="5">
                  <c:v>1</c:v>
                </c:pt>
                <c:pt idx="6">
                  <c:v>1</c:v>
                </c:pt>
                <c:pt idx="7">
                  <c:v>1</c:v>
                </c:pt>
                <c:pt idx="8">
                  <c:v>1</c:v>
                </c:pt>
                <c:pt idx="9">
                  <c:v>1</c:v>
                </c:pt>
                <c:pt idx="10">
                  <c:v>1</c:v>
                </c:pt>
                <c:pt idx="11">
                  <c:v>1</c:v>
                </c:pt>
              </c:numCache>
            </c:numRef>
          </c:val>
          <c:smooth val="1"/>
          <c:extLst>
            <c:ext xmlns:c16="http://schemas.microsoft.com/office/drawing/2014/chart" uri="{C3380CC4-5D6E-409C-BE32-E72D297353CC}">
              <c16:uniqueId val="{0000000E-B0B5-49BD-8B21-9108615EDD99}"/>
            </c:ext>
          </c:extLst>
        </c:ser>
        <c:ser>
          <c:idx val="3"/>
          <c:order val="3"/>
          <c:tx>
            <c:strRef>
              <c:f>kpi!$A$42</c:f>
              <c:strCache>
                <c:ptCount val="1"/>
                <c:pt idx="0">
                  <c:v>中挖国内</c:v>
                </c:pt>
              </c:strCache>
            </c:strRef>
          </c:tx>
          <c:cat>
            <c:strRef>
              <c:f>kpi!$B$38:$M$38</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kpi!$B$42:$M$42</c:f>
              <c:numCache>
                <c:formatCode>0.00%</c:formatCode>
                <c:ptCount val="12"/>
                <c:pt idx="0">
                  <c:v>1</c:v>
                </c:pt>
                <c:pt idx="1">
                  <c:v>1</c:v>
                </c:pt>
                <c:pt idx="2">
                  <c:v>1</c:v>
                </c:pt>
                <c:pt idx="3">
                  <c:v>1</c:v>
                </c:pt>
                <c:pt idx="4">
                  <c:v>1</c:v>
                </c:pt>
                <c:pt idx="5">
                  <c:v>1</c:v>
                </c:pt>
                <c:pt idx="6">
                  <c:v>1</c:v>
                </c:pt>
                <c:pt idx="7">
                  <c:v>1</c:v>
                </c:pt>
                <c:pt idx="8">
                  <c:v>1</c:v>
                </c:pt>
                <c:pt idx="9">
                  <c:v>1</c:v>
                </c:pt>
                <c:pt idx="10">
                  <c:v>1</c:v>
                </c:pt>
                <c:pt idx="11">
                  <c:v>1</c:v>
                </c:pt>
              </c:numCache>
            </c:numRef>
          </c:val>
          <c:smooth val="1"/>
          <c:extLst>
            <c:ext xmlns:c16="http://schemas.microsoft.com/office/drawing/2014/chart" uri="{C3380CC4-5D6E-409C-BE32-E72D297353CC}">
              <c16:uniqueId val="{0000000F-B0B5-49BD-8B21-9108615EDD99}"/>
            </c:ext>
          </c:extLst>
        </c:ser>
        <c:ser>
          <c:idx val="4"/>
          <c:order val="4"/>
          <c:tx>
            <c:strRef>
              <c:f>kpi!$A$43</c:f>
              <c:strCache>
                <c:ptCount val="1"/>
                <c:pt idx="0">
                  <c:v>小挖国际</c:v>
                </c:pt>
              </c:strCache>
            </c:strRef>
          </c:tx>
          <c:cat>
            <c:strRef>
              <c:f>kpi!$B$38:$M$38</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kpi!$B$43:$M$43</c:f>
              <c:numCache>
                <c:formatCode>0.00%</c:formatCode>
                <c:ptCount val="12"/>
                <c:pt idx="0">
                  <c:v>1</c:v>
                </c:pt>
                <c:pt idx="1">
                  <c:v>1</c:v>
                </c:pt>
                <c:pt idx="2">
                  <c:v>1</c:v>
                </c:pt>
                <c:pt idx="3">
                  <c:v>1</c:v>
                </c:pt>
                <c:pt idx="4">
                  <c:v>1</c:v>
                </c:pt>
                <c:pt idx="5">
                  <c:v>1</c:v>
                </c:pt>
                <c:pt idx="6">
                  <c:v>1</c:v>
                </c:pt>
                <c:pt idx="7">
                  <c:v>1</c:v>
                </c:pt>
                <c:pt idx="8">
                  <c:v>1</c:v>
                </c:pt>
                <c:pt idx="9">
                  <c:v>1</c:v>
                </c:pt>
                <c:pt idx="10">
                  <c:v>1</c:v>
                </c:pt>
                <c:pt idx="11">
                  <c:v>1</c:v>
                </c:pt>
              </c:numCache>
            </c:numRef>
          </c:val>
          <c:smooth val="1"/>
          <c:extLst>
            <c:ext xmlns:c16="http://schemas.microsoft.com/office/drawing/2014/chart" uri="{C3380CC4-5D6E-409C-BE32-E72D297353CC}">
              <c16:uniqueId val="{00000010-B0B5-49BD-8B21-9108615EDD99}"/>
            </c:ext>
          </c:extLst>
        </c:ser>
        <c:ser>
          <c:idx val="5"/>
          <c:order val="5"/>
          <c:tx>
            <c:strRef>
              <c:f>kpi!$A$44</c:f>
              <c:strCache>
                <c:ptCount val="1"/>
                <c:pt idx="0">
                  <c:v>小挖国内</c:v>
                </c:pt>
              </c:strCache>
            </c:strRef>
          </c:tx>
          <c:spPr>
            <a:ln w="28575" cap="rnd" cmpd="sng" algn="ctr">
              <a:solidFill>
                <a:schemeClr val="accent6">
                  <a:shade val="76667"/>
                  <a:shade val="95000"/>
                  <a:satMod val="105000"/>
                </a:schemeClr>
              </a:solidFill>
              <a:prstDash val="solid"/>
              <a:round/>
            </a:ln>
          </c:spPr>
          <c:dLbls>
            <c:dLbl>
              <c:idx val="0"/>
              <c:delete val="1"/>
              <c:extLst>
                <c:ext xmlns:c15="http://schemas.microsoft.com/office/drawing/2012/chart" uri="{CE6537A1-D6FC-4f65-9D91-7224C49458BB}"/>
                <c:ext xmlns:c16="http://schemas.microsoft.com/office/drawing/2014/chart" uri="{C3380CC4-5D6E-409C-BE32-E72D297353CC}">
                  <c16:uniqueId val="{00000011-B0B5-49BD-8B21-9108615EDD99}"/>
                </c:ext>
              </c:extLst>
            </c:dLbl>
            <c:dLbl>
              <c:idx val="1"/>
              <c:delete val="1"/>
              <c:extLst>
                <c:ext xmlns:c15="http://schemas.microsoft.com/office/drawing/2012/chart" uri="{CE6537A1-D6FC-4f65-9D91-7224C49458BB}"/>
                <c:ext xmlns:c16="http://schemas.microsoft.com/office/drawing/2014/chart" uri="{C3380CC4-5D6E-409C-BE32-E72D297353CC}">
                  <c16:uniqueId val="{00000012-B0B5-49BD-8B21-9108615EDD99}"/>
                </c:ext>
              </c:extLst>
            </c:dLbl>
            <c:dLbl>
              <c:idx val="2"/>
              <c:delete val="1"/>
              <c:extLst>
                <c:ext xmlns:c15="http://schemas.microsoft.com/office/drawing/2012/chart" uri="{CE6537A1-D6FC-4f65-9D91-7224C49458BB}"/>
                <c:ext xmlns:c16="http://schemas.microsoft.com/office/drawing/2014/chart" uri="{C3380CC4-5D6E-409C-BE32-E72D297353CC}">
                  <c16:uniqueId val="{00000013-B0B5-49BD-8B21-9108615EDD99}"/>
                </c:ext>
              </c:extLst>
            </c:dLbl>
            <c:dLbl>
              <c:idx val="4"/>
              <c:delete val="1"/>
              <c:extLst>
                <c:ext xmlns:c15="http://schemas.microsoft.com/office/drawing/2012/chart" uri="{CE6537A1-D6FC-4f65-9D91-7224C49458BB}"/>
                <c:ext xmlns:c16="http://schemas.microsoft.com/office/drawing/2014/chart" uri="{C3380CC4-5D6E-409C-BE32-E72D297353CC}">
                  <c16:uniqueId val="{00000014-B0B5-49BD-8B21-9108615EDD99}"/>
                </c:ext>
              </c:extLst>
            </c:dLbl>
            <c:dLbl>
              <c:idx val="5"/>
              <c:delete val="1"/>
              <c:extLst>
                <c:ext xmlns:c15="http://schemas.microsoft.com/office/drawing/2012/chart" uri="{CE6537A1-D6FC-4f65-9D91-7224C49458BB}"/>
                <c:ext xmlns:c16="http://schemas.microsoft.com/office/drawing/2014/chart" uri="{C3380CC4-5D6E-409C-BE32-E72D297353CC}">
                  <c16:uniqueId val="{00000015-B0B5-49BD-8B21-9108615EDD99}"/>
                </c:ext>
              </c:extLst>
            </c:dLbl>
            <c:dLbl>
              <c:idx val="6"/>
              <c:layout>
                <c:manualLayout>
                  <c:x val="-3.1123992758974799E-2"/>
                  <c:y val="7.1501064446292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6-B0B5-49BD-8B21-9108615EDD99}"/>
                </c:ext>
              </c:extLst>
            </c:dLbl>
            <c:dLbl>
              <c:idx val="7"/>
              <c:delete val="1"/>
              <c:extLst>
                <c:ext xmlns:c15="http://schemas.microsoft.com/office/drawing/2012/chart" uri="{CE6537A1-D6FC-4f65-9D91-7224C49458BB}"/>
                <c:ext xmlns:c16="http://schemas.microsoft.com/office/drawing/2014/chart" uri="{C3380CC4-5D6E-409C-BE32-E72D297353CC}">
                  <c16:uniqueId val="{00000017-B0B5-49BD-8B21-9108615EDD99}"/>
                </c:ext>
              </c:extLst>
            </c:dLbl>
            <c:dLbl>
              <c:idx val="8"/>
              <c:layout>
                <c:manualLayout>
                  <c:x val="-1.77851387194141E-2"/>
                  <c:y val="-4.76673762975284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8-B0B5-49BD-8B21-9108615EDD99}"/>
                </c:ext>
              </c:extLst>
            </c:dLbl>
            <c:dLbl>
              <c:idx val="9"/>
              <c:layout>
                <c:manualLayout>
                  <c:x val="-1.77851387194141E-2"/>
                  <c:y val="-4.76673762975284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9-B0B5-49BD-8B21-9108615EDD99}"/>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kpi!$B$38:$M$38</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kpi!$B$44:$M$44</c:f>
              <c:numCache>
                <c:formatCode>0.00%</c:formatCode>
                <c:ptCount val="12"/>
                <c:pt idx="0">
                  <c:v>1</c:v>
                </c:pt>
                <c:pt idx="1">
                  <c:v>1</c:v>
                </c:pt>
                <c:pt idx="2">
                  <c:v>1</c:v>
                </c:pt>
                <c:pt idx="3">
                  <c:v>1</c:v>
                </c:pt>
                <c:pt idx="4">
                  <c:v>0.98</c:v>
                </c:pt>
                <c:pt idx="5">
                  <c:v>1</c:v>
                </c:pt>
                <c:pt idx="6">
                  <c:v>1</c:v>
                </c:pt>
                <c:pt idx="7">
                  <c:v>0.95000000000000195</c:v>
                </c:pt>
                <c:pt idx="8">
                  <c:v>1</c:v>
                </c:pt>
                <c:pt idx="9">
                  <c:v>0.69000000000000195</c:v>
                </c:pt>
                <c:pt idx="10">
                  <c:v>0.53</c:v>
                </c:pt>
                <c:pt idx="11">
                  <c:v>0.71000000000000196</c:v>
                </c:pt>
              </c:numCache>
            </c:numRef>
          </c:val>
          <c:smooth val="1"/>
          <c:extLst>
            <c:ext xmlns:c16="http://schemas.microsoft.com/office/drawing/2014/chart" uri="{C3380CC4-5D6E-409C-BE32-E72D297353CC}">
              <c16:uniqueId val="{0000001A-B0B5-49BD-8B21-9108615EDD99}"/>
            </c:ext>
          </c:extLst>
        </c:ser>
        <c:dLbls>
          <c:showLegendKey val="0"/>
          <c:showVal val="0"/>
          <c:showCatName val="0"/>
          <c:showSerName val="0"/>
          <c:showPercent val="0"/>
          <c:showBubbleSize val="0"/>
        </c:dLbls>
        <c:marker val="1"/>
        <c:smooth val="0"/>
        <c:axId val="72140288"/>
        <c:axId val="72141824"/>
      </c:lineChart>
      <c:catAx>
        <c:axId val="7214028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2141824"/>
        <c:crosses val="autoZero"/>
        <c:auto val="1"/>
        <c:lblAlgn val="ctr"/>
        <c:lblOffset val="100"/>
        <c:noMultiLvlLbl val="0"/>
      </c:catAx>
      <c:valAx>
        <c:axId val="72141824"/>
        <c:scaling>
          <c:orientation val="minMax"/>
          <c:max val="1"/>
        </c:scaling>
        <c:delete val="0"/>
        <c:axPos val="l"/>
        <c:majorGridlines/>
        <c:numFmt formatCode="0%"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2140288"/>
        <c:crosses val="autoZero"/>
        <c:crossBetween val="between"/>
      </c:valAx>
    </c:plotArea>
    <c:legend>
      <c:legendPos val="b"/>
      <c:layout>
        <c:manualLayout>
          <c:xMode val="edge"/>
          <c:yMode val="edge"/>
          <c:x val="0.174828380413382"/>
          <c:y val="0.78510158030489197"/>
          <c:w val="0.68294932682550102"/>
          <c:h val="9.5729978951288597E-2"/>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spPr>
    <a:ln>
      <a:solidFill>
        <a:srgbClr val="7F7F7F"/>
      </a:solidFill>
    </a:ln>
  </c:spPr>
  <c:txPr>
    <a:bodyPr/>
    <a:lstStyle/>
    <a:p>
      <a:pPr>
        <a:defRPr lang="zh-CN"/>
      </a:pPr>
      <a:endParaRPr lang="zh-CN"/>
    </a:p>
  </c:txPr>
  <c:externalData r:id="rId2">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kpi!$A$48</c:f>
              <c:strCache>
                <c:ptCount val="1"/>
                <c:pt idx="0">
                  <c:v>小挖</c:v>
                </c:pt>
              </c:strCache>
            </c:strRef>
          </c:tx>
          <c:spPr>
            <a:ln w="28575" cap="rnd" cmpd="sng" algn="ctr">
              <a:solidFill>
                <a:schemeClr val="accent1">
                  <a:shade val="95000"/>
                  <a:satMod val="105000"/>
                </a:schemeClr>
              </a:solidFill>
              <a:prstDash val="solid"/>
              <a:round/>
            </a:ln>
          </c:spPr>
          <c:cat>
            <c:strRef>
              <c:f>kpi!$B$47:$M$47</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kpi!$B$48:$M$48</c:f>
              <c:numCache>
                <c:formatCode>0.0%</c:formatCode>
                <c:ptCount val="12"/>
                <c:pt idx="0">
                  <c:v>0.95339805825242896</c:v>
                </c:pt>
                <c:pt idx="1">
                  <c:v>0.76160000000000505</c:v>
                </c:pt>
                <c:pt idx="2">
                  <c:v>0.7903</c:v>
                </c:pt>
                <c:pt idx="3">
                  <c:v>0.85830000000000195</c:v>
                </c:pt>
                <c:pt idx="4">
                  <c:v>0.71790000000000198</c:v>
                </c:pt>
                <c:pt idx="5">
                  <c:v>0.89810000000000001</c:v>
                </c:pt>
                <c:pt idx="6">
                  <c:v>0.69140000000000001</c:v>
                </c:pt>
                <c:pt idx="7">
                  <c:v>0.77900000000000502</c:v>
                </c:pt>
                <c:pt idx="8">
                  <c:v>0.90530303030303005</c:v>
                </c:pt>
                <c:pt idx="9">
                  <c:v>0.94630000000000003</c:v>
                </c:pt>
                <c:pt idx="10">
                  <c:v>0.864900000000004</c:v>
                </c:pt>
                <c:pt idx="11">
                  <c:v>0.85600000000000198</c:v>
                </c:pt>
              </c:numCache>
            </c:numRef>
          </c:val>
          <c:smooth val="1"/>
          <c:extLst>
            <c:ext xmlns:c16="http://schemas.microsoft.com/office/drawing/2014/chart" uri="{C3380CC4-5D6E-409C-BE32-E72D297353CC}">
              <c16:uniqueId val="{00000000-2B79-4052-BAF0-CA98BABBA6B8}"/>
            </c:ext>
          </c:extLst>
        </c:ser>
        <c:ser>
          <c:idx val="1"/>
          <c:order val="1"/>
          <c:tx>
            <c:strRef>
              <c:f>kpi!$A$49</c:f>
              <c:strCache>
                <c:ptCount val="1"/>
                <c:pt idx="0">
                  <c:v>中挖</c:v>
                </c:pt>
              </c:strCache>
            </c:strRef>
          </c:tx>
          <c:spPr>
            <a:ln w="28575" cap="rnd" cmpd="sng" algn="ctr">
              <a:solidFill>
                <a:schemeClr val="accent2">
                  <a:shade val="95000"/>
                  <a:satMod val="105000"/>
                </a:schemeClr>
              </a:solidFill>
              <a:prstDash val="solid"/>
              <a:round/>
            </a:ln>
          </c:spPr>
          <c:dLbls>
            <c:dLbl>
              <c:idx val="0"/>
              <c:delete val="1"/>
              <c:extLst>
                <c:ext xmlns:c15="http://schemas.microsoft.com/office/drawing/2012/chart" uri="{CE6537A1-D6FC-4f65-9D91-7224C49458BB}"/>
                <c:ext xmlns:c16="http://schemas.microsoft.com/office/drawing/2014/chart" uri="{C3380CC4-5D6E-409C-BE32-E72D297353CC}">
                  <c16:uniqueId val="{00000001-2B79-4052-BAF0-CA98BABBA6B8}"/>
                </c:ext>
              </c:extLst>
            </c:dLbl>
            <c:dLbl>
              <c:idx val="1"/>
              <c:delete val="1"/>
              <c:extLst>
                <c:ext xmlns:c15="http://schemas.microsoft.com/office/drawing/2012/chart" uri="{CE6537A1-D6FC-4f65-9D91-7224C49458BB}"/>
                <c:ext xmlns:c16="http://schemas.microsoft.com/office/drawing/2014/chart" uri="{C3380CC4-5D6E-409C-BE32-E72D297353CC}">
                  <c16:uniqueId val="{00000002-2B79-4052-BAF0-CA98BABBA6B8}"/>
                </c:ext>
              </c:extLst>
            </c:dLbl>
            <c:dLbl>
              <c:idx val="2"/>
              <c:delete val="1"/>
              <c:extLst>
                <c:ext xmlns:c15="http://schemas.microsoft.com/office/drawing/2012/chart" uri="{CE6537A1-D6FC-4f65-9D91-7224C49458BB}"/>
                <c:ext xmlns:c16="http://schemas.microsoft.com/office/drawing/2014/chart" uri="{C3380CC4-5D6E-409C-BE32-E72D297353CC}">
                  <c16:uniqueId val="{00000003-2B79-4052-BAF0-CA98BABBA6B8}"/>
                </c:ext>
              </c:extLst>
            </c:dLbl>
            <c:dLbl>
              <c:idx val="3"/>
              <c:delete val="1"/>
              <c:extLst>
                <c:ext xmlns:c15="http://schemas.microsoft.com/office/drawing/2012/chart" uri="{CE6537A1-D6FC-4f65-9D91-7224C49458BB}"/>
                <c:ext xmlns:c16="http://schemas.microsoft.com/office/drawing/2014/chart" uri="{C3380CC4-5D6E-409C-BE32-E72D297353CC}">
                  <c16:uniqueId val="{00000004-2B79-4052-BAF0-CA98BABBA6B8}"/>
                </c:ext>
              </c:extLst>
            </c:dLbl>
            <c:dLbl>
              <c:idx val="4"/>
              <c:delete val="1"/>
              <c:extLst>
                <c:ext xmlns:c15="http://schemas.microsoft.com/office/drawing/2012/chart" uri="{CE6537A1-D6FC-4f65-9D91-7224C49458BB}"/>
                <c:ext xmlns:c16="http://schemas.microsoft.com/office/drawing/2014/chart" uri="{C3380CC4-5D6E-409C-BE32-E72D297353CC}">
                  <c16:uniqueId val="{00000005-2B79-4052-BAF0-CA98BABBA6B8}"/>
                </c:ext>
              </c:extLst>
            </c:dLbl>
            <c:dLbl>
              <c:idx val="5"/>
              <c:delete val="1"/>
              <c:extLst>
                <c:ext xmlns:c15="http://schemas.microsoft.com/office/drawing/2012/chart" uri="{CE6537A1-D6FC-4f65-9D91-7224C49458BB}"/>
                <c:ext xmlns:c16="http://schemas.microsoft.com/office/drawing/2014/chart" uri="{C3380CC4-5D6E-409C-BE32-E72D297353CC}">
                  <c16:uniqueId val="{00000006-2B79-4052-BAF0-CA98BABBA6B8}"/>
                </c:ext>
              </c:extLst>
            </c:dLbl>
            <c:dLbl>
              <c:idx val="6"/>
              <c:delete val="1"/>
              <c:extLst>
                <c:ext xmlns:c15="http://schemas.microsoft.com/office/drawing/2012/chart" uri="{CE6537A1-D6FC-4f65-9D91-7224C49458BB}"/>
                <c:ext xmlns:c16="http://schemas.microsoft.com/office/drawing/2014/chart" uri="{C3380CC4-5D6E-409C-BE32-E72D297353CC}">
                  <c16:uniqueId val="{00000007-2B79-4052-BAF0-CA98BABBA6B8}"/>
                </c:ext>
              </c:extLst>
            </c:dLbl>
            <c:dLbl>
              <c:idx val="7"/>
              <c:delete val="1"/>
              <c:extLst>
                <c:ext xmlns:c15="http://schemas.microsoft.com/office/drawing/2012/chart" uri="{CE6537A1-D6FC-4f65-9D91-7224C49458BB}"/>
                <c:ext xmlns:c16="http://schemas.microsoft.com/office/drawing/2014/chart" uri="{C3380CC4-5D6E-409C-BE32-E72D297353CC}">
                  <c16:uniqueId val="{00000008-2B79-4052-BAF0-CA98BABBA6B8}"/>
                </c:ext>
              </c:extLst>
            </c:dLbl>
            <c:dLbl>
              <c:idx val="8"/>
              <c:delete val="1"/>
              <c:extLst>
                <c:ext xmlns:c15="http://schemas.microsoft.com/office/drawing/2012/chart" uri="{CE6537A1-D6FC-4f65-9D91-7224C49458BB}"/>
                <c:ext xmlns:c16="http://schemas.microsoft.com/office/drawing/2014/chart" uri="{C3380CC4-5D6E-409C-BE32-E72D297353CC}">
                  <c16:uniqueId val="{00000009-2B79-4052-BAF0-CA98BABBA6B8}"/>
                </c:ext>
              </c:extLst>
            </c:dLbl>
            <c:dLbl>
              <c:idx val="9"/>
              <c:layout>
                <c:manualLayout>
                  <c:x val="-3.1928923606189298E-2"/>
                  <c:y val="5.3890617091928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2B79-4052-BAF0-CA98BABBA6B8}"/>
                </c:ext>
              </c:extLst>
            </c:dLbl>
            <c:dLbl>
              <c:idx val="10"/>
              <c:delete val="1"/>
              <c:extLst>
                <c:ext xmlns:c15="http://schemas.microsoft.com/office/drawing/2012/chart" uri="{CE6537A1-D6FC-4f65-9D91-7224C49458BB}"/>
                <c:ext xmlns:c16="http://schemas.microsoft.com/office/drawing/2014/chart" uri="{C3380CC4-5D6E-409C-BE32-E72D297353CC}">
                  <c16:uniqueId val="{0000000B-2B79-4052-BAF0-CA98BABBA6B8}"/>
                </c:ext>
              </c:extLst>
            </c:dLbl>
            <c:dLbl>
              <c:idx val="11"/>
              <c:delete val="1"/>
              <c:extLst>
                <c:ext xmlns:c15="http://schemas.microsoft.com/office/drawing/2012/chart" uri="{CE6537A1-D6FC-4f65-9D91-7224C49458BB}"/>
                <c:ext xmlns:c16="http://schemas.microsoft.com/office/drawing/2014/chart" uri="{C3380CC4-5D6E-409C-BE32-E72D297353CC}">
                  <c16:uniqueId val="{0000000C-2B79-4052-BAF0-CA98BABBA6B8}"/>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kpi!$B$47:$M$47</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kpi!$B$49:$M$49</c:f>
              <c:numCache>
                <c:formatCode>0.0%</c:formatCode>
                <c:ptCount val="12"/>
                <c:pt idx="0">
                  <c:v>0.84666666666666701</c:v>
                </c:pt>
                <c:pt idx="1">
                  <c:v>0.92105263157894701</c:v>
                </c:pt>
                <c:pt idx="2">
                  <c:v>0.67310000000000503</c:v>
                </c:pt>
                <c:pt idx="3">
                  <c:v>0.72080000000000399</c:v>
                </c:pt>
                <c:pt idx="4">
                  <c:v>0.65450000000000197</c:v>
                </c:pt>
                <c:pt idx="5">
                  <c:v>0.76670000000000504</c:v>
                </c:pt>
                <c:pt idx="6">
                  <c:v>0.92949999999999999</c:v>
                </c:pt>
                <c:pt idx="7">
                  <c:v>0.87720000000000198</c:v>
                </c:pt>
                <c:pt idx="8">
                  <c:v>0.92666666666666697</c:v>
                </c:pt>
                <c:pt idx="9">
                  <c:v>0.79330000000000001</c:v>
                </c:pt>
                <c:pt idx="10">
                  <c:v>0.88270000000000004</c:v>
                </c:pt>
                <c:pt idx="11">
                  <c:v>0.89080000000000004</c:v>
                </c:pt>
              </c:numCache>
            </c:numRef>
          </c:val>
          <c:smooth val="1"/>
          <c:extLst>
            <c:ext xmlns:c16="http://schemas.microsoft.com/office/drawing/2014/chart" uri="{C3380CC4-5D6E-409C-BE32-E72D297353CC}">
              <c16:uniqueId val="{0000000D-2B79-4052-BAF0-CA98BABBA6B8}"/>
            </c:ext>
          </c:extLst>
        </c:ser>
        <c:ser>
          <c:idx val="2"/>
          <c:order val="2"/>
          <c:tx>
            <c:strRef>
              <c:f>kpi!$A$50</c:f>
              <c:strCache>
                <c:ptCount val="1"/>
                <c:pt idx="0">
                  <c:v>大挖</c:v>
                </c:pt>
              </c:strCache>
            </c:strRef>
          </c:tx>
          <c:spPr>
            <a:ln w="28575" cap="rnd" cmpd="sng" algn="ctr">
              <a:solidFill>
                <a:schemeClr val="accent3">
                  <a:shade val="95000"/>
                  <a:satMod val="105000"/>
                </a:schemeClr>
              </a:solidFill>
              <a:prstDash val="solid"/>
              <a:round/>
            </a:ln>
          </c:spPr>
          <c:dLbls>
            <c:dLbl>
              <c:idx val="0"/>
              <c:layout>
                <c:manualLayout>
                  <c:x val="-4.7133172942469999E-2"/>
                  <c:y val="0"/>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E-2B79-4052-BAF0-CA98BABBA6B8}"/>
                </c:ext>
              </c:extLst>
            </c:dLbl>
            <c:dLbl>
              <c:idx val="1"/>
              <c:layout>
                <c:manualLayout>
                  <c:x val="-2.88880737389332E-2"/>
                  <c:y val="9.3083793158784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F-2B79-4052-BAF0-CA98BABBA6B8}"/>
                </c:ext>
              </c:extLst>
            </c:dLbl>
            <c:dLbl>
              <c:idx val="5"/>
              <c:layout>
                <c:manualLayout>
                  <c:x val="-3.4969773473445598E-2"/>
                  <c:y val="-9.7982940167142003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10-2B79-4052-BAF0-CA98BABBA6B8}"/>
                </c:ext>
              </c:extLst>
            </c:dLbl>
            <c:dLbl>
              <c:idx val="7"/>
              <c:delete val="1"/>
              <c:extLst>
                <c:ext xmlns:c15="http://schemas.microsoft.com/office/drawing/2012/chart" uri="{CE6537A1-D6FC-4f65-9D91-7224C49458BB}"/>
                <c:ext xmlns:c16="http://schemas.microsoft.com/office/drawing/2014/chart" uri="{C3380CC4-5D6E-409C-BE32-E72D297353CC}">
                  <c16:uniqueId val="{00000011-2B79-4052-BAF0-CA98BABBA6B8}"/>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kpi!$B$47:$M$47</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kpi!$B$50:$M$50</c:f>
              <c:numCache>
                <c:formatCode>0.0%</c:formatCode>
                <c:ptCount val="12"/>
                <c:pt idx="0">
                  <c:v>0.875000000000004</c:v>
                </c:pt>
                <c:pt idx="1">
                  <c:v>0.39622641509434497</c:v>
                </c:pt>
                <c:pt idx="2">
                  <c:v>0.81430000000000002</c:v>
                </c:pt>
                <c:pt idx="3">
                  <c:v>0.79410000000000003</c:v>
                </c:pt>
                <c:pt idx="4">
                  <c:v>0.44440000000000002</c:v>
                </c:pt>
                <c:pt idx="5">
                  <c:v>0.94120000000000004</c:v>
                </c:pt>
                <c:pt idx="6">
                  <c:v>0.68180000000000196</c:v>
                </c:pt>
                <c:pt idx="7">
                  <c:v>1</c:v>
                </c:pt>
                <c:pt idx="8">
                  <c:v>0.54285714285714304</c:v>
                </c:pt>
                <c:pt idx="9">
                  <c:v>0.35289999999999999</c:v>
                </c:pt>
                <c:pt idx="10">
                  <c:v>0.54760000000000197</c:v>
                </c:pt>
                <c:pt idx="11">
                  <c:v>0.61430000000000196</c:v>
                </c:pt>
              </c:numCache>
            </c:numRef>
          </c:val>
          <c:smooth val="1"/>
          <c:extLst>
            <c:ext xmlns:c16="http://schemas.microsoft.com/office/drawing/2014/chart" uri="{C3380CC4-5D6E-409C-BE32-E72D297353CC}">
              <c16:uniqueId val="{00000012-2B79-4052-BAF0-CA98BABBA6B8}"/>
            </c:ext>
          </c:extLst>
        </c:ser>
        <c:dLbls>
          <c:showLegendKey val="0"/>
          <c:showVal val="0"/>
          <c:showCatName val="0"/>
          <c:showSerName val="0"/>
          <c:showPercent val="0"/>
          <c:showBubbleSize val="0"/>
        </c:dLbls>
        <c:marker val="1"/>
        <c:smooth val="0"/>
        <c:axId val="72391296"/>
        <c:axId val="72421760"/>
      </c:lineChart>
      <c:catAx>
        <c:axId val="7239129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2421760"/>
        <c:crosses val="autoZero"/>
        <c:auto val="1"/>
        <c:lblAlgn val="ctr"/>
        <c:lblOffset val="100"/>
        <c:noMultiLvlLbl val="0"/>
      </c:catAx>
      <c:valAx>
        <c:axId val="72421760"/>
        <c:scaling>
          <c:orientation val="minMax"/>
          <c:max val="1"/>
        </c:scaling>
        <c:delete val="0"/>
        <c:axPos val="l"/>
        <c:majorGridlines/>
        <c:numFmt formatCode="0%"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2391296"/>
        <c:crosses val="autoZero"/>
        <c:crossBetween val="between"/>
      </c:valAx>
    </c:plotArea>
    <c:legend>
      <c:legendPos val="b"/>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a:pPr>
      <a:endParaRPr lang="zh-CN"/>
    </a:p>
  </c:txPr>
  <c:externalData r:id="rId2">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824912245709902E-2"/>
          <c:y val="4.1212830176686997E-2"/>
          <c:w val="0.92648848914580395"/>
          <c:h val="0.73131908750207197"/>
        </c:manualLayout>
      </c:layout>
      <c:lineChart>
        <c:grouping val="standard"/>
        <c:varyColors val="0"/>
        <c:ser>
          <c:idx val="0"/>
          <c:order val="0"/>
          <c:tx>
            <c:strRef>
              <c:f>Sheet1!$B$1</c:f>
              <c:strCache>
                <c:ptCount val="1"/>
                <c:pt idx="0">
                  <c:v>国际</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t"/>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0.00_ </c:formatCode>
                <c:ptCount val="12"/>
                <c:pt idx="0">
                  <c:v>2.0946627803882198</c:v>
                </c:pt>
                <c:pt idx="1">
                  <c:v>4.1840817439126603</c:v>
                </c:pt>
                <c:pt idx="2">
                  <c:v>5.5560505808340697</c:v>
                </c:pt>
                <c:pt idx="3">
                  <c:v>6.9824757005072202</c:v>
                </c:pt>
                <c:pt idx="4">
                  <c:v>9.3911555192414493</c:v>
                </c:pt>
                <c:pt idx="5">
                  <c:v>10.866663945726801</c:v>
                </c:pt>
                <c:pt idx="6">
                  <c:v>12.991079181279799</c:v>
                </c:pt>
                <c:pt idx="7">
                  <c:v>15.4585673201499</c:v>
                </c:pt>
                <c:pt idx="8">
                  <c:v>17.8834682246268</c:v>
                </c:pt>
                <c:pt idx="9">
                  <c:v>19.8498462726483</c:v>
                </c:pt>
                <c:pt idx="10">
                  <c:v>22.051519105825701</c:v>
                </c:pt>
                <c:pt idx="11">
                  <c:v>24.334661983490498</c:v>
                </c:pt>
              </c:numCache>
            </c:numRef>
          </c:val>
          <c:smooth val="1"/>
          <c:extLst>
            <c:ext xmlns:c16="http://schemas.microsoft.com/office/drawing/2014/chart" uri="{C3380CC4-5D6E-409C-BE32-E72D297353CC}">
              <c16:uniqueId val="{00000000-086C-46F2-A225-A49E634225EC}"/>
            </c:ext>
          </c:extLst>
        </c:ser>
        <c:ser>
          <c:idx val="1"/>
          <c:order val="1"/>
          <c:tx>
            <c:strRef>
              <c:f>Sheet1!$C$1</c:f>
              <c:strCache>
                <c:ptCount val="1"/>
                <c:pt idx="0">
                  <c:v>国内</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t"/>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0.00_ </c:formatCode>
                <c:ptCount val="12"/>
                <c:pt idx="0">
                  <c:v>0.34309036678968702</c:v>
                </c:pt>
                <c:pt idx="1">
                  <c:v>0.53121377386797397</c:v>
                </c:pt>
                <c:pt idx="2">
                  <c:v>1.5719292124092701</c:v>
                </c:pt>
                <c:pt idx="3">
                  <c:v>2.4135862094922098</c:v>
                </c:pt>
                <c:pt idx="4">
                  <c:v>2.9400971883619902</c:v>
                </c:pt>
                <c:pt idx="5">
                  <c:v>4.1664548923939</c:v>
                </c:pt>
                <c:pt idx="6">
                  <c:v>5.01816195871824</c:v>
                </c:pt>
                <c:pt idx="7">
                  <c:v>6.02413193161994</c:v>
                </c:pt>
                <c:pt idx="8">
                  <c:v>7.0053053276164103</c:v>
                </c:pt>
                <c:pt idx="9">
                  <c:v>8.0474413253201096</c:v>
                </c:pt>
                <c:pt idx="10">
                  <c:v>8.9871590024335397</c:v>
                </c:pt>
                <c:pt idx="11">
                  <c:v>9.6733847594321603</c:v>
                </c:pt>
              </c:numCache>
            </c:numRef>
          </c:val>
          <c:smooth val="1"/>
          <c:extLst>
            <c:ext xmlns:c16="http://schemas.microsoft.com/office/drawing/2014/chart" uri="{C3380CC4-5D6E-409C-BE32-E72D297353CC}">
              <c16:uniqueId val="{00000001-086C-46F2-A225-A49E634225EC}"/>
            </c:ext>
          </c:extLst>
        </c:ser>
        <c:dLbls>
          <c:showLegendKey val="1"/>
          <c:showVal val="1"/>
          <c:showCatName val="1"/>
          <c:showSerName val="1"/>
          <c:showPercent val="1"/>
          <c:showBubbleSize val="1"/>
        </c:dLbls>
        <c:smooth val="0"/>
        <c:axId val="146025856"/>
        <c:axId val="146048128"/>
      </c:lineChart>
      <c:catAx>
        <c:axId val="146025856"/>
        <c:scaling>
          <c:orientation val="minMax"/>
        </c:scaling>
        <c:delete val="0"/>
        <c:axPos val="b"/>
        <c:numFmt formatCode="#,##0.00_);[Red]\(#,##0.00\)"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46048128"/>
        <c:crosses val="autoZero"/>
        <c:auto val="1"/>
        <c:lblAlgn val="ctr"/>
        <c:lblOffset val="0"/>
        <c:noMultiLvlLbl val="0"/>
      </c:catAx>
      <c:valAx>
        <c:axId val="146048128"/>
        <c:scaling>
          <c:orientation val="minMax"/>
        </c:scaling>
        <c:delete val="0"/>
        <c:axPos val="l"/>
        <c:numFmt formatCode="#,##0_);[Red]\(#,##0\)"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46025856"/>
        <c:crosses val="autoZero"/>
        <c:crossBetween val="between"/>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1000">
          <a:latin typeface="微软雅黑" panose="020B0503020204020204" charset="-122"/>
          <a:ea typeface="微软雅黑" panose="020B0503020204020204" charset="-122"/>
        </a:defRPr>
      </a:pPr>
      <a:endParaRPr lang="zh-CN"/>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982661307213895E-2"/>
          <c:y val="5.8229075532225102E-2"/>
          <c:w val="0.906886939702509"/>
          <c:h val="0.74574256342957501"/>
        </c:manualLayout>
      </c:layout>
      <c:lineChart>
        <c:grouping val="standard"/>
        <c:varyColors val="0"/>
        <c:ser>
          <c:idx val="0"/>
          <c:order val="0"/>
          <c:tx>
            <c:strRef>
              <c:f>Sheet1!$A$2</c:f>
              <c:strCache>
                <c:ptCount val="1"/>
                <c:pt idx="0">
                  <c:v>大挖</c:v>
                </c:pt>
              </c:strCache>
            </c:strRef>
          </c:tx>
          <c:marker>
            <c:symbol val="none"/>
          </c:marker>
          <c:dLbls>
            <c:dLbl>
              <c:idx val="5"/>
              <c:layout>
                <c:manualLayout>
                  <c:x val="0"/>
                  <c:y val="-8.7962962962963395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33E5-4C11-AAC6-B8D89A435E7A}"/>
                </c:ext>
              </c:extLst>
            </c:dLbl>
            <c:dLbl>
              <c:idx val="6"/>
              <c:layout>
                <c:manualLayout>
                  <c:x val="-2.89129987378452E-3"/>
                  <c:y val="-4.1666666666666803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33E5-4C11-AAC6-B8D89A435E7A}"/>
                </c:ext>
              </c:extLst>
            </c:dLbl>
            <c:dLbl>
              <c:idx val="7"/>
              <c:layout>
                <c:manualLayout>
                  <c:x val="2.89129987378452E-3"/>
                  <c:y val="-2.77777777777779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33E5-4C11-AAC6-B8D89A435E7A}"/>
                </c:ext>
              </c:extLst>
            </c:dLbl>
            <c:dLbl>
              <c:idx val="10"/>
              <c:layout>
                <c:manualLayout>
                  <c:x val="2.89129987378452E-3"/>
                  <c:y val="4.6296296296296502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33E5-4C11-AAC6-B8D89A435E7A}"/>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Sheet1!$B$1:$M$1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Sheet1!$B$2:$M$2</c:f>
              <c:numCache>
                <c:formatCode>0_ </c:formatCode>
                <c:ptCount val="12"/>
                <c:pt idx="0">
                  <c:v>4905.4270770000003</c:v>
                </c:pt>
                <c:pt idx="1">
                  <c:v>5511.8867680000003</c:v>
                </c:pt>
                <c:pt idx="2">
                  <c:v>6718.1600240000298</c:v>
                </c:pt>
                <c:pt idx="3">
                  <c:v>5770.3596630000202</c:v>
                </c:pt>
                <c:pt idx="4">
                  <c:v>5973.3784610000002</c:v>
                </c:pt>
                <c:pt idx="5">
                  <c:v>2083.5006109999999</c:v>
                </c:pt>
                <c:pt idx="6">
                  <c:v>1673.4009880000001</c:v>
                </c:pt>
                <c:pt idx="7">
                  <c:v>1140.103028</c:v>
                </c:pt>
                <c:pt idx="8">
                  <c:v>1289.882955</c:v>
                </c:pt>
                <c:pt idx="9">
                  <c:v>370.73820099999898</c:v>
                </c:pt>
                <c:pt idx="10">
                  <c:v>1593.2197920000001</c:v>
                </c:pt>
                <c:pt idx="11">
                  <c:v>3268.2608</c:v>
                </c:pt>
              </c:numCache>
            </c:numRef>
          </c:val>
          <c:smooth val="1"/>
          <c:extLst>
            <c:ext xmlns:c16="http://schemas.microsoft.com/office/drawing/2014/chart" uri="{C3380CC4-5D6E-409C-BE32-E72D297353CC}">
              <c16:uniqueId val="{00000004-33E5-4C11-AAC6-B8D89A435E7A}"/>
            </c:ext>
          </c:extLst>
        </c:ser>
        <c:ser>
          <c:idx val="1"/>
          <c:order val="1"/>
          <c:tx>
            <c:strRef>
              <c:f>Sheet1!$A$3</c:f>
              <c:strCache>
                <c:ptCount val="1"/>
                <c:pt idx="0">
                  <c:v>小挖</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Sheet1!$B$1:$M$1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Sheet1!$B$3:$M$3</c:f>
              <c:numCache>
                <c:formatCode>0_ </c:formatCode>
                <c:ptCount val="12"/>
                <c:pt idx="0">
                  <c:v>24710.5113970001</c:v>
                </c:pt>
                <c:pt idx="1">
                  <c:v>28938.4198499999</c:v>
                </c:pt>
                <c:pt idx="2">
                  <c:v>15778.7184490001</c:v>
                </c:pt>
                <c:pt idx="3">
                  <c:v>9507.7412040000108</c:v>
                </c:pt>
                <c:pt idx="4">
                  <c:v>10039.443391000001</c:v>
                </c:pt>
                <c:pt idx="5">
                  <c:v>15.8645260000017</c:v>
                </c:pt>
                <c:pt idx="6">
                  <c:v>15.333153000001399</c:v>
                </c:pt>
                <c:pt idx="7">
                  <c:v>1026.2076570000099</c:v>
                </c:pt>
                <c:pt idx="8">
                  <c:v>4934.9427589999996</c:v>
                </c:pt>
                <c:pt idx="9">
                  <c:v>7994.6071330000004</c:v>
                </c:pt>
                <c:pt idx="10">
                  <c:v>10159.810229000001</c:v>
                </c:pt>
                <c:pt idx="11">
                  <c:v>16159.817515999999</c:v>
                </c:pt>
              </c:numCache>
            </c:numRef>
          </c:val>
          <c:smooth val="1"/>
          <c:extLst>
            <c:ext xmlns:c16="http://schemas.microsoft.com/office/drawing/2014/chart" uri="{C3380CC4-5D6E-409C-BE32-E72D297353CC}">
              <c16:uniqueId val="{00000005-33E5-4C11-AAC6-B8D89A435E7A}"/>
            </c:ext>
          </c:extLst>
        </c:ser>
        <c:ser>
          <c:idx val="2"/>
          <c:order val="2"/>
          <c:tx>
            <c:strRef>
              <c:f>Sheet1!$A$4</c:f>
              <c:strCache>
                <c:ptCount val="1"/>
                <c:pt idx="0">
                  <c:v>中挖</c:v>
                </c:pt>
              </c:strCache>
            </c:strRef>
          </c:tx>
          <c:marker>
            <c:symbol val="none"/>
          </c:marker>
          <c:dLbls>
            <c:dLbl>
              <c:idx val="2"/>
              <c:layout>
                <c:manualLayout>
                  <c:x val="-1.44564993689226E-3"/>
                  <c:y val="2.3148148148148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33E5-4C11-AAC6-B8D89A435E7A}"/>
                </c:ext>
              </c:extLst>
            </c:dLbl>
            <c:dLbl>
              <c:idx val="5"/>
              <c:layout>
                <c:manualLayout>
                  <c:x val="0"/>
                  <c:y val="-1.85185185185186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33E5-4C11-AAC6-B8D89A435E7A}"/>
                </c:ext>
              </c:extLst>
            </c:dLbl>
            <c:dLbl>
              <c:idx val="7"/>
              <c:layout>
                <c:manualLayout>
                  <c:x val="-4.3369498106767797E-3"/>
                  <c:y val="-5.55555555555554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33E5-4C11-AAC6-B8D89A435E7A}"/>
                </c:ext>
              </c:extLst>
            </c:dLbl>
            <c:dLbl>
              <c:idx val="10"/>
              <c:layout>
                <c:manualLayout>
                  <c:x val="-4.3369498106767797E-3"/>
                  <c:y val="-2.3148148148148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33E5-4C11-AAC6-B8D89A435E7A}"/>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Sheet1!$B$1:$M$1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Sheet1!$B$4:$M$4</c:f>
              <c:numCache>
                <c:formatCode>0_ </c:formatCode>
                <c:ptCount val="12"/>
                <c:pt idx="0">
                  <c:v>15141.509524999899</c:v>
                </c:pt>
                <c:pt idx="1">
                  <c:v>20017.209825000002</c:v>
                </c:pt>
                <c:pt idx="2">
                  <c:v>14746.56236</c:v>
                </c:pt>
                <c:pt idx="3">
                  <c:v>13893.805383000001</c:v>
                </c:pt>
                <c:pt idx="4">
                  <c:v>13576.578125</c:v>
                </c:pt>
                <c:pt idx="5">
                  <c:v>1538.5458209999999</c:v>
                </c:pt>
                <c:pt idx="6">
                  <c:v>1564.5442499999899</c:v>
                </c:pt>
                <c:pt idx="7">
                  <c:v>2412.9638419999901</c:v>
                </c:pt>
                <c:pt idx="8">
                  <c:v>2847.5026120000002</c:v>
                </c:pt>
                <c:pt idx="9">
                  <c:v>3076.8242180000002</c:v>
                </c:pt>
                <c:pt idx="10">
                  <c:v>2636.1169140000002</c:v>
                </c:pt>
                <c:pt idx="11">
                  <c:v>8534.4518999999491</c:v>
                </c:pt>
              </c:numCache>
            </c:numRef>
          </c:val>
          <c:smooth val="1"/>
          <c:extLst>
            <c:ext xmlns:c16="http://schemas.microsoft.com/office/drawing/2014/chart" uri="{C3380CC4-5D6E-409C-BE32-E72D297353CC}">
              <c16:uniqueId val="{0000000A-33E5-4C11-AAC6-B8D89A435E7A}"/>
            </c:ext>
          </c:extLst>
        </c:ser>
        <c:dLbls>
          <c:showLegendKey val="1"/>
          <c:showVal val="1"/>
          <c:showCatName val="1"/>
          <c:showSerName val="1"/>
          <c:showPercent val="1"/>
          <c:showBubbleSize val="1"/>
        </c:dLbls>
        <c:smooth val="0"/>
        <c:axId val="72936064"/>
        <c:axId val="73023872"/>
      </c:lineChart>
      <c:catAx>
        <c:axId val="7293606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3023872"/>
        <c:crosses val="autoZero"/>
        <c:auto val="1"/>
        <c:lblAlgn val="ctr"/>
        <c:lblOffset val="0"/>
        <c:noMultiLvlLbl val="0"/>
      </c:catAx>
      <c:valAx>
        <c:axId val="73023872"/>
        <c:scaling>
          <c:orientation val="minMax"/>
        </c:scaling>
        <c:delete val="0"/>
        <c:axPos val="l"/>
        <c:numFmt formatCode="0_ "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72936064"/>
        <c:crosses val="autoZero"/>
        <c:crossBetween val="between"/>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a:latin typeface="微软雅黑" panose="020B0503020204020204" charset="-122"/>
          <a:ea typeface="微软雅黑" panose="020B0503020204020204" charset="-122"/>
        </a:defRPr>
      </a:pPr>
      <a:endParaRPr lang="zh-CN"/>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200" b="1" i="0" u="none" strike="noStrike" kern="1200" baseline="0">
                <a:solidFill>
                  <a:schemeClr val="tx1"/>
                </a:solidFill>
                <a:latin typeface="微软雅黑" panose="020B0503020204020204" charset="-122"/>
                <a:ea typeface="微软雅黑" panose="020B0503020204020204" charset="-122"/>
                <a:cs typeface="+mn-cs"/>
              </a:defRPr>
            </a:pPr>
            <a:r>
              <a:rPr lang="zh-CN" altLang="en-US" dirty="0"/>
              <a:t>代理商超龄存货（台）</a:t>
            </a:r>
          </a:p>
        </c:rich>
      </c:tx>
      <c:overlay val="0"/>
    </c:title>
    <c:autoTitleDeleted val="0"/>
    <c:plotArea>
      <c:layout/>
      <c:lineChart>
        <c:grouping val="standard"/>
        <c:varyColors val="0"/>
        <c:ser>
          <c:idx val="0"/>
          <c:order val="0"/>
          <c:tx>
            <c:strRef>
              <c:f>Sheet1!$B$1</c:f>
              <c:strCache>
                <c:ptCount val="1"/>
                <c:pt idx="0">
                  <c:v>超龄存货 (台)</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l"/>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Sheet1!$A$2:$A$12</c:f>
              <c:strCache>
                <c:ptCount val="11"/>
                <c:pt idx="0">
                  <c:v>1/2月</c:v>
                </c:pt>
                <c:pt idx="1">
                  <c:v>3月</c:v>
                </c:pt>
                <c:pt idx="2">
                  <c:v>4月</c:v>
                </c:pt>
                <c:pt idx="3">
                  <c:v>5月</c:v>
                </c:pt>
                <c:pt idx="4">
                  <c:v>6月</c:v>
                </c:pt>
                <c:pt idx="5">
                  <c:v>7月</c:v>
                </c:pt>
                <c:pt idx="6">
                  <c:v>8月</c:v>
                </c:pt>
                <c:pt idx="7">
                  <c:v>9月</c:v>
                </c:pt>
                <c:pt idx="8">
                  <c:v>10月</c:v>
                </c:pt>
                <c:pt idx="9">
                  <c:v>11月</c:v>
                </c:pt>
                <c:pt idx="10">
                  <c:v>12月</c:v>
                </c:pt>
              </c:strCache>
            </c:strRef>
          </c:cat>
          <c:val>
            <c:numRef>
              <c:f>Sheet1!$B$2:$B$12</c:f>
              <c:numCache>
                <c:formatCode>General</c:formatCode>
                <c:ptCount val="11"/>
                <c:pt idx="0">
                  <c:v>396</c:v>
                </c:pt>
                <c:pt idx="1">
                  <c:v>285</c:v>
                </c:pt>
                <c:pt idx="2">
                  <c:v>228</c:v>
                </c:pt>
                <c:pt idx="3">
                  <c:v>211</c:v>
                </c:pt>
                <c:pt idx="4">
                  <c:v>265</c:v>
                </c:pt>
                <c:pt idx="5">
                  <c:v>263</c:v>
                </c:pt>
                <c:pt idx="6">
                  <c:v>281</c:v>
                </c:pt>
                <c:pt idx="7">
                  <c:v>277</c:v>
                </c:pt>
                <c:pt idx="8">
                  <c:v>236</c:v>
                </c:pt>
                <c:pt idx="9">
                  <c:v>269</c:v>
                </c:pt>
                <c:pt idx="10">
                  <c:v>243</c:v>
                </c:pt>
              </c:numCache>
            </c:numRef>
          </c:val>
          <c:smooth val="1"/>
          <c:extLst>
            <c:ext xmlns:c16="http://schemas.microsoft.com/office/drawing/2014/chart" uri="{C3380CC4-5D6E-409C-BE32-E72D297353CC}">
              <c16:uniqueId val="{00000000-4F8A-4F8B-AAEA-D4E3527F6A1E}"/>
            </c:ext>
          </c:extLst>
        </c:ser>
        <c:dLbls>
          <c:showLegendKey val="1"/>
          <c:showVal val="1"/>
          <c:showCatName val="1"/>
          <c:showSerName val="1"/>
          <c:showPercent val="1"/>
          <c:showBubbleSize val="1"/>
        </c:dLbls>
        <c:smooth val="0"/>
        <c:axId val="146268928"/>
        <c:axId val="146270464"/>
      </c:lineChart>
      <c:catAx>
        <c:axId val="14626892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46270464"/>
        <c:crosses val="autoZero"/>
        <c:auto val="1"/>
        <c:lblAlgn val="ctr"/>
        <c:lblOffset val="100"/>
        <c:noMultiLvlLbl val="0"/>
      </c:catAx>
      <c:valAx>
        <c:axId val="146270464"/>
        <c:scaling>
          <c:orientation val="minMax"/>
        </c:scaling>
        <c:delete val="0"/>
        <c:axPos val="l"/>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46268928"/>
        <c:crosses val="autoZero"/>
        <c:crossBetween val="between"/>
      </c:valAx>
    </c:plotArea>
    <c:plotVisOnly val="1"/>
    <c:dispBlanksAs val="gap"/>
    <c:showDLblsOverMax val="0"/>
  </c:chart>
  <c:txPr>
    <a:bodyPr/>
    <a:lstStyle/>
    <a:p>
      <a:pPr>
        <a:defRPr lang="zh-CN" sz="1000">
          <a:latin typeface="微软雅黑" panose="020B0503020204020204" charset="-122"/>
          <a:ea typeface="微软雅黑" panose="020B0503020204020204" charset="-122"/>
        </a:defRPr>
      </a:pPr>
      <a:endParaRPr lang="zh-CN"/>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200" b="1" i="0" u="none" strike="noStrike" kern="1200" baseline="0">
                <a:solidFill>
                  <a:schemeClr val="tx1"/>
                </a:solidFill>
                <a:latin typeface="微软雅黑" panose="020B0503020204020204" charset="-122"/>
                <a:ea typeface="微软雅黑" panose="020B0503020204020204" charset="-122"/>
                <a:cs typeface="+mn-cs"/>
              </a:defRPr>
            </a:pPr>
            <a:r>
              <a:rPr lang="zh-CN" altLang="en-US" dirty="0"/>
              <a:t>事业部超龄存货金额（万元）</a:t>
            </a:r>
          </a:p>
        </c:rich>
      </c:tx>
      <c:overlay val="0"/>
    </c:title>
    <c:autoTitleDeleted val="0"/>
    <c:plotArea>
      <c:layout/>
      <c:lineChart>
        <c:grouping val="standard"/>
        <c:varyColors val="0"/>
        <c:ser>
          <c:idx val="0"/>
          <c:order val="0"/>
          <c:tx>
            <c:strRef>
              <c:f>Sheet1!$B$1</c:f>
              <c:strCache>
                <c:ptCount val="1"/>
                <c:pt idx="0">
                  <c:v>超龄存货 万元（账面）</c:v>
                </c:pt>
              </c:strCache>
            </c:strRef>
          </c:tx>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l"/>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85</c:v>
                </c:pt>
                <c:pt idx="1">
                  <c:v>491.7</c:v>
                </c:pt>
                <c:pt idx="2">
                  <c:v>222</c:v>
                </c:pt>
                <c:pt idx="3">
                  <c:v>598</c:v>
                </c:pt>
                <c:pt idx="4">
                  <c:v>332.76</c:v>
                </c:pt>
                <c:pt idx="5">
                  <c:v>409</c:v>
                </c:pt>
                <c:pt idx="6">
                  <c:v>397.5</c:v>
                </c:pt>
                <c:pt idx="7">
                  <c:v>370</c:v>
                </c:pt>
                <c:pt idx="8">
                  <c:v>557.20000000000005</c:v>
                </c:pt>
                <c:pt idx="9">
                  <c:v>294.7</c:v>
                </c:pt>
                <c:pt idx="10">
                  <c:v>322</c:v>
                </c:pt>
                <c:pt idx="11">
                  <c:v>0</c:v>
                </c:pt>
              </c:numCache>
            </c:numRef>
          </c:val>
          <c:smooth val="1"/>
          <c:extLst>
            <c:ext xmlns:c16="http://schemas.microsoft.com/office/drawing/2014/chart" uri="{C3380CC4-5D6E-409C-BE32-E72D297353CC}">
              <c16:uniqueId val="{00000000-03C9-4727-8065-5C3D452ECFB4}"/>
            </c:ext>
          </c:extLst>
        </c:ser>
        <c:dLbls>
          <c:showLegendKey val="1"/>
          <c:showVal val="1"/>
          <c:showCatName val="1"/>
          <c:showSerName val="1"/>
          <c:showPercent val="1"/>
          <c:showBubbleSize val="1"/>
        </c:dLbls>
        <c:smooth val="0"/>
        <c:axId val="146237312"/>
        <c:axId val="146238848"/>
      </c:lineChart>
      <c:catAx>
        <c:axId val="146237312"/>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46238848"/>
        <c:crosses val="autoZero"/>
        <c:auto val="1"/>
        <c:lblAlgn val="ctr"/>
        <c:lblOffset val="100"/>
        <c:noMultiLvlLbl val="0"/>
      </c:catAx>
      <c:valAx>
        <c:axId val="146238848"/>
        <c:scaling>
          <c:orientation val="minMax"/>
        </c:scaling>
        <c:delete val="0"/>
        <c:axPos val="l"/>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46237312"/>
        <c:crosses val="autoZero"/>
        <c:crossBetween val="between"/>
      </c:valAx>
    </c:plotArea>
    <c:plotVisOnly val="1"/>
    <c:dispBlanksAs val="gap"/>
    <c:showDLblsOverMax val="0"/>
  </c:chart>
  <c:txPr>
    <a:bodyPr/>
    <a:lstStyle/>
    <a:p>
      <a:pPr>
        <a:defRPr lang="zh-CN" sz="1000">
          <a:latin typeface="微软雅黑" panose="020B0503020204020204" charset="-122"/>
          <a:ea typeface="微软雅黑" panose="020B0503020204020204" charset="-122"/>
        </a:defRPr>
      </a:pPr>
      <a:endParaRPr lang="zh-CN"/>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kpi!$A$54</c:f>
              <c:strCache>
                <c:ptCount val="1"/>
                <c:pt idx="0">
                  <c:v>小挖</c:v>
                </c:pt>
              </c:strCache>
            </c:strRef>
          </c:tx>
          <c:spPr>
            <a:ln w="28575" cap="rnd" cmpd="sng" algn="ctr">
              <a:solidFill>
                <a:schemeClr val="accent1">
                  <a:shade val="95000"/>
                  <a:satMod val="105000"/>
                </a:schemeClr>
              </a:solidFill>
              <a:prstDash val="solid"/>
              <a:round/>
            </a:ln>
          </c:spP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kpi!$B$53:$M$53</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kpi!$B$54:$M$54</c:f>
              <c:numCache>
                <c:formatCode>0.0</c:formatCode>
                <c:ptCount val="12"/>
                <c:pt idx="0">
                  <c:v>5.8341543702214897</c:v>
                </c:pt>
                <c:pt idx="1">
                  <c:v>7.8627987868452296</c:v>
                </c:pt>
                <c:pt idx="2">
                  <c:v>13.3388012412194</c:v>
                </c:pt>
                <c:pt idx="3">
                  <c:v>19.5436032834501</c:v>
                </c:pt>
                <c:pt idx="4">
                  <c:v>24.5837813736578</c:v>
                </c:pt>
                <c:pt idx="5">
                  <c:v>28.631986534579699</c:v>
                </c:pt>
                <c:pt idx="6">
                  <c:v>32.850681204798398</c:v>
                </c:pt>
                <c:pt idx="7">
                  <c:v>37.103688713460897</c:v>
                </c:pt>
                <c:pt idx="8">
                  <c:v>41.670894009439202</c:v>
                </c:pt>
                <c:pt idx="9">
                  <c:v>46.516886625439</c:v>
                </c:pt>
                <c:pt idx="10">
                  <c:v>50.736368878432998</c:v>
                </c:pt>
                <c:pt idx="11">
                  <c:v>56.667636051575997</c:v>
                </c:pt>
              </c:numCache>
            </c:numRef>
          </c:val>
          <c:smooth val="1"/>
          <c:extLst>
            <c:ext xmlns:c16="http://schemas.microsoft.com/office/drawing/2014/chart" uri="{C3380CC4-5D6E-409C-BE32-E72D297353CC}">
              <c16:uniqueId val="{00000000-1614-48BA-A6A6-F07AF2DD147F}"/>
            </c:ext>
          </c:extLst>
        </c:ser>
        <c:ser>
          <c:idx val="1"/>
          <c:order val="1"/>
          <c:tx>
            <c:strRef>
              <c:f>kpi!$A$55</c:f>
              <c:strCache>
                <c:ptCount val="1"/>
                <c:pt idx="0">
                  <c:v>中挖</c:v>
                </c:pt>
              </c:strCache>
            </c:strRef>
          </c:tx>
          <c:spPr>
            <a:ln w="28575" cap="rnd" cmpd="sng" algn="ctr">
              <a:solidFill>
                <a:schemeClr val="accent2">
                  <a:shade val="95000"/>
                  <a:satMod val="105000"/>
                </a:schemeClr>
              </a:solidFill>
              <a:prstDash val="solid"/>
              <a:round/>
            </a:ln>
          </c:spP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kpi!$B$53:$M$53</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kpi!$B$55:$M$55</c:f>
              <c:numCache>
                <c:formatCode>0.0</c:formatCode>
                <c:ptCount val="12"/>
                <c:pt idx="0">
                  <c:v>3.4295865364287601</c:v>
                </c:pt>
                <c:pt idx="1">
                  <c:v>5.7276995717011197</c:v>
                </c:pt>
                <c:pt idx="2">
                  <c:v>10.484271409603499</c:v>
                </c:pt>
                <c:pt idx="3">
                  <c:v>14.223005517714</c:v>
                </c:pt>
                <c:pt idx="4">
                  <c:v>17.5071859275001</c:v>
                </c:pt>
                <c:pt idx="5">
                  <c:v>18.9606148621111</c:v>
                </c:pt>
                <c:pt idx="6">
                  <c:v>21.797917009604099</c:v>
                </c:pt>
                <c:pt idx="7">
                  <c:v>25.279325447575101</c:v>
                </c:pt>
                <c:pt idx="8">
                  <c:v>27.645357095099101</c:v>
                </c:pt>
                <c:pt idx="9">
                  <c:v>30.102905297460101</c:v>
                </c:pt>
                <c:pt idx="10">
                  <c:v>32.434160512458398</c:v>
                </c:pt>
                <c:pt idx="11">
                  <c:v>35.501587399115898</c:v>
                </c:pt>
              </c:numCache>
            </c:numRef>
          </c:val>
          <c:smooth val="1"/>
          <c:extLst>
            <c:ext xmlns:c16="http://schemas.microsoft.com/office/drawing/2014/chart" uri="{C3380CC4-5D6E-409C-BE32-E72D297353CC}">
              <c16:uniqueId val="{00000001-1614-48BA-A6A6-F07AF2DD147F}"/>
            </c:ext>
          </c:extLst>
        </c:ser>
        <c:ser>
          <c:idx val="2"/>
          <c:order val="2"/>
          <c:tx>
            <c:strRef>
              <c:f>kpi!$A$56</c:f>
              <c:strCache>
                <c:ptCount val="1"/>
                <c:pt idx="0">
                  <c:v>大挖</c:v>
                </c:pt>
              </c:strCache>
            </c:strRef>
          </c:tx>
          <c:spPr>
            <a:ln w="28575" cap="rnd" cmpd="sng" algn="ctr">
              <a:solidFill>
                <a:schemeClr val="accent3">
                  <a:shade val="95000"/>
                  <a:satMod val="105000"/>
                </a:schemeClr>
              </a:solidFill>
              <a:prstDash val="solid"/>
              <a:round/>
            </a:ln>
          </c:spP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kpi!$B$53:$M$53</c:f>
              <c:strCache>
                <c:ptCount val="12"/>
                <c:pt idx="0">
                  <c:v>01</c:v>
                </c:pt>
                <c:pt idx="1">
                  <c:v>02</c:v>
                </c:pt>
                <c:pt idx="2">
                  <c:v>03</c:v>
                </c:pt>
                <c:pt idx="3">
                  <c:v>04</c:v>
                </c:pt>
                <c:pt idx="4">
                  <c:v>05</c:v>
                </c:pt>
                <c:pt idx="5">
                  <c:v>06</c:v>
                </c:pt>
                <c:pt idx="6">
                  <c:v>07</c:v>
                </c:pt>
                <c:pt idx="7">
                  <c:v>08</c:v>
                </c:pt>
                <c:pt idx="8">
                  <c:v>09</c:v>
                </c:pt>
                <c:pt idx="9">
                  <c:v>10</c:v>
                </c:pt>
                <c:pt idx="10">
                  <c:v>11</c:v>
                </c:pt>
                <c:pt idx="11">
                  <c:v>12</c:v>
                </c:pt>
              </c:strCache>
            </c:strRef>
          </c:cat>
          <c:val>
            <c:numRef>
              <c:f>kpi!$B$56:$M$56</c:f>
              <c:numCache>
                <c:formatCode>0.0</c:formatCode>
                <c:ptCount val="12"/>
                <c:pt idx="0">
                  <c:v>2.1938774888354602</c:v>
                </c:pt>
                <c:pt idx="1">
                  <c:v>2.8201892709772398</c:v>
                </c:pt>
                <c:pt idx="2">
                  <c:v>4.7264073950108498</c:v>
                </c:pt>
                <c:pt idx="3">
                  <c:v>6.4996178549690899</c:v>
                </c:pt>
                <c:pt idx="4">
                  <c:v>7.8157676367286602</c:v>
                </c:pt>
                <c:pt idx="5">
                  <c:v>8.7740113477933601</c:v>
                </c:pt>
                <c:pt idx="6">
                  <c:v>9.8033306052773792</c:v>
                </c:pt>
                <c:pt idx="7">
                  <c:v>10.0976841095911</c:v>
                </c:pt>
                <c:pt idx="8">
                  <c:v>11.0280450299497</c:v>
                </c:pt>
                <c:pt idx="9">
                  <c:v>11.521584692196001</c:v>
                </c:pt>
                <c:pt idx="10">
                  <c:v>12.6745222312527</c:v>
                </c:pt>
                <c:pt idx="11">
                  <c:v>14.7502553759783</c:v>
                </c:pt>
              </c:numCache>
            </c:numRef>
          </c:val>
          <c:smooth val="1"/>
          <c:extLst>
            <c:ext xmlns:c16="http://schemas.microsoft.com/office/drawing/2014/chart" uri="{C3380CC4-5D6E-409C-BE32-E72D297353CC}">
              <c16:uniqueId val="{00000002-1614-48BA-A6A6-F07AF2DD147F}"/>
            </c:ext>
          </c:extLst>
        </c:ser>
        <c:dLbls>
          <c:showLegendKey val="1"/>
          <c:showVal val="1"/>
          <c:showCatName val="1"/>
          <c:showSerName val="1"/>
          <c:showPercent val="1"/>
          <c:showBubbleSize val="1"/>
        </c:dLbls>
        <c:marker val="1"/>
        <c:smooth val="0"/>
        <c:axId val="73183232"/>
        <c:axId val="73184768"/>
      </c:lineChart>
      <c:catAx>
        <c:axId val="73183232"/>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3184768"/>
        <c:crosses val="autoZero"/>
        <c:auto val="1"/>
        <c:lblAlgn val="ctr"/>
        <c:lblOffset val="100"/>
        <c:noMultiLvlLbl val="0"/>
      </c:catAx>
      <c:valAx>
        <c:axId val="73184768"/>
        <c:scaling>
          <c:orientation val="minMax"/>
        </c:scaling>
        <c:delete val="0"/>
        <c:axPos val="l"/>
        <c:majorGridlines/>
        <c:numFmt formatCode="0"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3183232"/>
        <c:crosses val="autoZero"/>
        <c:crossBetween val="between"/>
      </c:valAx>
    </c:plotArea>
    <c:legend>
      <c:legendPos val="b"/>
      <c:layout>
        <c:manualLayout>
          <c:xMode val="edge"/>
          <c:yMode val="edge"/>
          <c:x val="0.38362641567841299"/>
          <c:y val="0.80852706180793998"/>
          <c:w val="0.238776888038081"/>
          <c:h val="9.8389145033267997E-2"/>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spPr>
    <a:ln>
      <a:noFill/>
    </a:ln>
  </c:spPr>
  <c:txPr>
    <a:bodyPr/>
    <a:lstStyle/>
    <a:p>
      <a:pPr>
        <a:defRPr lang="zh-CN"/>
      </a:pPr>
      <a:endParaRPr lang="zh-CN"/>
    </a:p>
  </c:txPr>
  <c:externalData r:id="rId2">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呆滞库存金额（单位：万元）</a:t>
            </a:r>
          </a:p>
        </c:rich>
      </c:tx>
      <c:overlay val="0"/>
      <c:spPr>
        <a:noFill/>
        <a:ln>
          <a:noFill/>
        </a:ln>
        <a:effectLst/>
      </c:spPr>
    </c:title>
    <c:autoTitleDeleted val="0"/>
    <c:plotArea>
      <c:layout/>
      <c:barChart>
        <c:barDir val="col"/>
        <c:grouping val="clustered"/>
        <c:varyColors val="0"/>
        <c:ser>
          <c:idx val="0"/>
          <c:order val="0"/>
          <c:tx>
            <c:strRef>
              <c:f>Sheet1!$A$2:$B$2</c:f>
              <c:strCache>
                <c:ptCount val="1"/>
                <c:pt idx="0">
                  <c:v>商务本部 呆滞原材料</c:v>
                </c:pt>
              </c:strCache>
            </c:strRef>
          </c:tx>
          <c:spPr>
            <a:solidFill>
              <a:schemeClr val="accent1"/>
            </a:solidFill>
            <a:ln>
              <a:noFill/>
            </a:ln>
            <a:effectLst/>
          </c:spPr>
          <c:invertIfNegative val="0"/>
          <c:cat>
            <c:strRef>
              <c:f>Sheet1!$C$1:$N$1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Sheet1!$C$2:$N$2</c:f>
              <c:numCache>
                <c:formatCode>0_);[Red]\(0\)</c:formatCode>
                <c:ptCount val="12"/>
                <c:pt idx="0">
                  <c:v>3924</c:v>
                </c:pt>
                <c:pt idx="1">
                  <c:v>3306</c:v>
                </c:pt>
                <c:pt idx="2">
                  <c:v>1965.3314888939899</c:v>
                </c:pt>
                <c:pt idx="3">
                  <c:v>2083.5514474659999</c:v>
                </c:pt>
                <c:pt idx="4">
                  <c:v>1975</c:v>
                </c:pt>
                <c:pt idx="5">
                  <c:v>1938</c:v>
                </c:pt>
                <c:pt idx="6">
                  <c:v>2130</c:v>
                </c:pt>
                <c:pt idx="7">
                  <c:v>1662</c:v>
                </c:pt>
                <c:pt idx="8">
                  <c:v>1520</c:v>
                </c:pt>
                <c:pt idx="9">
                  <c:v>1390</c:v>
                </c:pt>
                <c:pt idx="10">
                  <c:v>1172</c:v>
                </c:pt>
                <c:pt idx="11">
                  <c:v>886</c:v>
                </c:pt>
              </c:numCache>
            </c:numRef>
          </c:val>
          <c:extLst>
            <c:ext xmlns:c16="http://schemas.microsoft.com/office/drawing/2014/chart" uri="{C3380CC4-5D6E-409C-BE32-E72D297353CC}">
              <c16:uniqueId val="{00000000-F782-4726-8BF3-3878EF520A4D}"/>
            </c:ext>
          </c:extLst>
        </c:ser>
        <c:ser>
          <c:idx val="1"/>
          <c:order val="1"/>
          <c:tx>
            <c:strRef>
              <c:f>Sheet1!$A$3:$B$3</c:f>
              <c:strCache>
                <c:ptCount val="1"/>
                <c:pt idx="0">
                  <c:v>小挖 呆滞在制品</c:v>
                </c:pt>
              </c:strCache>
            </c:strRef>
          </c:tx>
          <c:spPr>
            <a:solidFill>
              <a:schemeClr val="accent2"/>
            </a:solidFill>
            <a:ln>
              <a:noFill/>
            </a:ln>
            <a:effectLst/>
          </c:spPr>
          <c:invertIfNegative val="0"/>
          <c:cat>
            <c:strRef>
              <c:f>Sheet1!$C$1:$N$1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Sheet1!$C$3:$N$3</c:f>
              <c:numCache>
                <c:formatCode>0_);[Red]\(0\)</c:formatCode>
                <c:ptCount val="12"/>
                <c:pt idx="0">
                  <c:v>11.68</c:v>
                </c:pt>
                <c:pt idx="1">
                  <c:v>18.760000000000002</c:v>
                </c:pt>
                <c:pt idx="2">
                  <c:v>434.63288999999901</c:v>
                </c:pt>
                <c:pt idx="3">
                  <c:v>456.63473599999998</c:v>
                </c:pt>
                <c:pt idx="4">
                  <c:v>459</c:v>
                </c:pt>
                <c:pt idx="5">
                  <c:v>441</c:v>
                </c:pt>
                <c:pt idx="6">
                  <c:v>402</c:v>
                </c:pt>
                <c:pt idx="7">
                  <c:v>394</c:v>
                </c:pt>
                <c:pt idx="8">
                  <c:v>394</c:v>
                </c:pt>
                <c:pt idx="9">
                  <c:v>380</c:v>
                </c:pt>
                <c:pt idx="10">
                  <c:v>378</c:v>
                </c:pt>
                <c:pt idx="11">
                  <c:v>369</c:v>
                </c:pt>
              </c:numCache>
            </c:numRef>
          </c:val>
          <c:extLst>
            <c:ext xmlns:c16="http://schemas.microsoft.com/office/drawing/2014/chart" uri="{C3380CC4-5D6E-409C-BE32-E72D297353CC}">
              <c16:uniqueId val="{00000001-F782-4726-8BF3-3878EF520A4D}"/>
            </c:ext>
          </c:extLst>
        </c:ser>
        <c:ser>
          <c:idx val="2"/>
          <c:order val="2"/>
          <c:tx>
            <c:strRef>
              <c:f>Sheet1!$A$4:$B$4</c:f>
              <c:strCache>
                <c:ptCount val="1"/>
                <c:pt idx="0">
                  <c:v>中挖 呆滞在制品</c:v>
                </c:pt>
              </c:strCache>
            </c:strRef>
          </c:tx>
          <c:spPr>
            <a:solidFill>
              <a:schemeClr val="accent3"/>
            </a:solidFill>
            <a:ln>
              <a:noFill/>
            </a:ln>
            <a:effectLst/>
          </c:spPr>
          <c:invertIfNegative val="0"/>
          <c:cat>
            <c:strRef>
              <c:f>Sheet1!$C$1:$N$1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Sheet1!$C$4:$N$4</c:f>
              <c:numCache>
                <c:formatCode>0_);[Red]\(0\)</c:formatCode>
                <c:ptCount val="12"/>
                <c:pt idx="0">
                  <c:v>3.74</c:v>
                </c:pt>
                <c:pt idx="1">
                  <c:v>5.4</c:v>
                </c:pt>
                <c:pt idx="2">
                  <c:v>325.23494799999997</c:v>
                </c:pt>
                <c:pt idx="3">
                  <c:v>311.07504</c:v>
                </c:pt>
                <c:pt idx="4">
                  <c:v>293</c:v>
                </c:pt>
                <c:pt idx="5">
                  <c:v>240</c:v>
                </c:pt>
                <c:pt idx="6">
                  <c:v>373</c:v>
                </c:pt>
                <c:pt idx="7">
                  <c:v>333</c:v>
                </c:pt>
                <c:pt idx="8">
                  <c:v>327</c:v>
                </c:pt>
                <c:pt idx="9">
                  <c:v>319</c:v>
                </c:pt>
                <c:pt idx="10">
                  <c:v>282</c:v>
                </c:pt>
                <c:pt idx="11">
                  <c:v>278</c:v>
                </c:pt>
              </c:numCache>
            </c:numRef>
          </c:val>
          <c:extLst>
            <c:ext xmlns:c16="http://schemas.microsoft.com/office/drawing/2014/chart" uri="{C3380CC4-5D6E-409C-BE32-E72D297353CC}">
              <c16:uniqueId val="{00000002-F782-4726-8BF3-3878EF520A4D}"/>
            </c:ext>
          </c:extLst>
        </c:ser>
        <c:ser>
          <c:idx val="3"/>
          <c:order val="3"/>
          <c:tx>
            <c:strRef>
              <c:f>Sheet1!$A$5:$B$5</c:f>
              <c:strCache>
                <c:ptCount val="1"/>
                <c:pt idx="0">
                  <c:v>大挖 呆滞在制品</c:v>
                </c:pt>
              </c:strCache>
            </c:strRef>
          </c:tx>
          <c:spPr>
            <a:solidFill>
              <a:schemeClr val="accent4"/>
            </a:solidFill>
            <a:ln>
              <a:noFill/>
            </a:ln>
            <a:effectLst/>
          </c:spPr>
          <c:invertIfNegative val="0"/>
          <c:cat>
            <c:strRef>
              <c:f>Sheet1!$C$1:$N$1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Sheet1!$C$5:$N$5</c:f>
              <c:numCache>
                <c:formatCode>0_);[Red]\(0\)</c:formatCode>
                <c:ptCount val="12"/>
                <c:pt idx="0">
                  <c:v>402.09</c:v>
                </c:pt>
                <c:pt idx="1">
                  <c:v>228.94</c:v>
                </c:pt>
                <c:pt idx="2">
                  <c:v>483.09006900000003</c:v>
                </c:pt>
                <c:pt idx="3">
                  <c:v>474.28497299999998</c:v>
                </c:pt>
                <c:pt idx="4">
                  <c:v>474</c:v>
                </c:pt>
                <c:pt idx="5">
                  <c:v>456</c:v>
                </c:pt>
                <c:pt idx="6">
                  <c:v>450</c:v>
                </c:pt>
                <c:pt idx="7">
                  <c:v>439</c:v>
                </c:pt>
                <c:pt idx="8">
                  <c:v>404</c:v>
                </c:pt>
                <c:pt idx="9">
                  <c:v>432</c:v>
                </c:pt>
                <c:pt idx="10">
                  <c:v>333</c:v>
                </c:pt>
                <c:pt idx="11">
                  <c:v>326</c:v>
                </c:pt>
              </c:numCache>
            </c:numRef>
          </c:val>
          <c:extLst>
            <c:ext xmlns:c16="http://schemas.microsoft.com/office/drawing/2014/chart" uri="{C3380CC4-5D6E-409C-BE32-E72D297353CC}">
              <c16:uniqueId val="{00000003-F782-4726-8BF3-3878EF520A4D}"/>
            </c:ext>
          </c:extLst>
        </c:ser>
        <c:ser>
          <c:idx val="4"/>
          <c:order val="4"/>
          <c:tx>
            <c:strRef>
              <c:f>Sheet1!$A$6:$B$6</c:f>
              <c:strCache>
                <c:ptCount val="1"/>
                <c:pt idx="0">
                  <c:v>服务部 呆滞配件</c:v>
                </c:pt>
              </c:strCache>
            </c:strRef>
          </c:tx>
          <c:spPr>
            <a:solidFill>
              <a:schemeClr val="accent5"/>
            </a:solidFill>
            <a:ln>
              <a:noFill/>
            </a:ln>
            <a:effectLst/>
          </c:spPr>
          <c:invertIfNegative val="0"/>
          <c:cat>
            <c:strRef>
              <c:f>Sheet1!$C$1:$N$1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Sheet1!$C$6:$N$6</c:f>
              <c:numCache>
                <c:formatCode>0_);[Red]\(0\)</c:formatCode>
                <c:ptCount val="12"/>
                <c:pt idx="0">
                  <c:v>1611</c:v>
                </c:pt>
                <c:pt idx="1">
                  <c:v>1703</c:v>
                </c:pt>
                <c:pt idx="2">
                  <c:v>1737.35</c:v>
                </c:pt>
                <c:pt idx="3">
                  <c:v>1747</c:v>
                </c:pt>
                <c:pt idx="4">
                  <c:v>1754.5</c:v>
                </c:pt>
                <c:pt idx="5">
                  <c:v>1770</c:v>
                </c:pt>
                <c:pt idx="6">
                  <c:v>1776</c:v>
                </c:pt>
                <c:pt idx="7">
                  <c:v>1825.5</c:v>
                </c:pt>
                <c:pt idx="8">
                  <c:v>1775.97</c:v>
                </c:pt>
                <c:pt idx="9">
                  <c:v>1848.5</c:v>
                </c:pt>
                <c:pt idx="10">
                  <c:v>1687.8</c:v>
                </c:pt>
                <c:pt idx="11">
                  <c:v>1443.7</c:v>
                </c:pt>
              </c:numCache>
            </c:numRef>
          </c:val>
          <c:extLst>
            <c:ext xmlns:c16="http://schemas.microsoft.com/office/drawing/2014/chart" uri="{C3380CC4-5D6E-409C-BE32-E72D297353CC}">
              <c16:uniqueId val="{00000004-F782-4726-8BF3-3878EF520A4D}"/>
            </c:ext>
          </c:extLst>
        </c:ser>
        <c:dLbls>
          <c:showLegendKey val="0"/>
          <c:showVal val="0"/>
          <c:showCatName val="0"/>
          <c:showSerName val="0"/>
          <c:showPercent val="0"/>
          <c:showBubbleSize val="0"/>
        </c:dLbls>
        <c:gapWidth val="219"/>
        <c:overlap val="-27"/>
        <c:axId val="146447744"/>
        <c:axId val="146637184"/>
      </c:barChart>
      <c:catAx>
        <c:axId val="146447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46637184"/>
        <c:crosses val="autoZero"/>
        <c:auto val="1"/>
        <c:lblAlgn val="ctr"/>
        <c:lblOffset val="100"/>
        <c:noMultiLvlLbl val="0"/>
      </c:catAx>
      <c:valAx>
        <c:axId val="146637184"/>
        <c:scaling>
          <c:orientation val="minMax"/>
          <c:max val="4000"/>
        </c:scaling>
        <c:delete val="0"/>
        <c:axPos val="l"/>
        <c:majorGridlines>
          <c:spPr>
            <a:ln w="9525" cap="flat" cmpd="sng" algn="ctr">
              <a:solidFill>
                <a:schemeClr val="tx1">
                  <a:lumMod val="15000"/>
                  <a:lumOff val="85000"/>
                </a:schemeClr>
              </a:solidFill>
              <a:prstDash val="solid"/>
              <a:round/>
            </a:ln>
            <a:effectLst/>
          </c:spPr>
        </c:majorGridlines>
        <c:numFmt formatCode="0_);[Red]\(0\)" sourceLinked="1"/>
        <c:majorTickMark val="none"/>
        <c:minorTickMark val="none"/>
        <c:tickLblPos val="nextTo"/>
        <c:spPr>
          <a:noFill/>
          <a:ln w="9525" cap="flat" cmpd="sng" algn="ctr">
            <a:noFill/>
            <a:prstDash val="solid"/>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464477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lang="zh-CN"/>
      </a:pPr>
      <a:endParaRPr lang="zh-CN"/>
    </a:p>
  </c:txPr>
  <c:externalData r:id="rId2">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1503831849235497"/>
          <c:y val="8.7925195234185599E-2"/>
          <c:w val="0.59098906636631698"/>
          <c:h val="0.74350237381568896"/>
        </c:manualLayout>
      </c:layout>
      <c:pieChart>
        <c:varyColors val="1"/>
        <c:ser>
          <c:idx val="0"/>
          <c:order val="0"/>
          <c:tx>
            <c:strRef>
              <c:f>Sheet1!$B$1</c:f>
              <c:strCache>
                <c:ptCount val="1"/>
                <c:pt idx="0">
                  <c:v>销售额</c:v>
                </c:pt>
              </c:strCache>
            </c:strRef>
          </c:tx>
          <c:dPt>
            <c:idx val="0"/>
            <c:bubble3D val="0"/>
            <c:spPr>
              <a:solidFill>
                <a:srgbClr val="FFC000"/>
              </a:solidFill>
            </c:spPr>
            <c:extLst>
              <c:ext xmlns:c16="http://schemas.microsoft.com/office/drawing/2014/chart" uri="{C3380CC4-5D6E-409C-BE32-E72D297353CC}">
                <c16:uniqueId val="{00000001-C140-4E20-A3FA-EB7ECA126F23}"/>
              </c:ext>
            </c:extLst>
          </c:dPt>
          <c:dPt>
            <c:idx val="1"/>
            <c:bubble3D val="0"/>
            <c:spPr>
              <a:solidFill>
                <a:srgbClr val="00B0F0"/>
              </a:solidFill>
            </c:spPr>
            <c:extLst>
              <c:ext xmlns:c16="http://schemas.microsoft.com/office/drawing/2014/chart" uri="{C3380CC4-5D6E-409C-BE32-E72D297353CC}">
                <c16:uniqueId val="{00000003-C140-4E20-A3FA-EB7ECA126F23}"/>
              </c:ext>
            </c:extLst>
          </c:dPt>
          <c:dPt>
            <c:idx val="2"/>
            <c:bubble3D val="0"/>
            <c:spPr>
              <a:solidFill>
                <a:srgbClr val="92D050"/>
              </a:solidFill>
            </c:spPr>
            <c:extLst>
              <c:ext xmlns:c16="http://schemas.microsoft.com/office/drawing/2014/chart" uri="{C3380CC4-5D6E-409C-BE32-E72D297353CC}">
                <c16:uniqueId val="{00000005-C140-4E20-A3FA-EB7ECA126F23}"/>
              </c:ext>
            </c:extLst>
          </c:dPt>
          <c:dLbls>
            <c:dLbl>
              <c:idx val="0"/>
              <c:layout>
                <c:manualLayout>
                  <c:x val="-4.7123523284670003E-2"/>
                  <c:y val="9.3189311914053205E-2"/>
                </c:manualLayout>
              </c:layout>
              <c:dLblPos val="bestFit"/>
              <c:showLegendKey val="1"/>
              <c:showVal val="1"/>
              <c:showCatName val="1"/>
              <c:showSerName val="1"/>
              <c:showPercent val="1"/>
              <c:showBubbleSize val="1"/>
              <c:separator>
</c:separator>
              <c:extLst>
                <c:ext xmlns:c15="http://schemas.microsoft.com/office/drawing/2012/chart" uri="{CE6537A1-D6FC-4f65-9D91-7224C49458BB}"/>
                <c:ext xmlns:c16="http://schemas.microsoft.com/office/drawing/2014/chart" uri="{C3380CC4-5D6E-409C-BE32-E72D297353CC}">
                  <c16:uniqueId val="{00000001-C140-4E20-A3FA-EB7ECA126F23}"/>
                </c:ext>
              </c:extLst>
            </c:dLbl>
            <c:dLbl>
              <c:idx val="2"/>
              <c:layout>
                <c:manualLayout>
                  <c:x val="0.160636334465389"/>
                  <c:y val="0.16280167146968699"/>
                </c:manualLayout>
              </c:layout>
              <c:dLblPos val="bestFit"/>
              <c:showLegendKey val="1"/>
              <c:showVal val="1"/>
              <c:showCatName val="1"/>
              <c:showSerName val="1"/>
              <c:showPercent val="1"/>
              <c:showBubbleSize val="1"/>
              <c:separator>
</c:separator>
              <c:extLst>
                <c:ext xmlns:c15="http://schemas.microsoft.com/office/drawing/2012/chart" uri="{CE6537A1-D6FC-4f65-9D91-7224C49458BB}"/>
                <c:ext xmlns:c16="http://schemas.microsoft.com/office/drawing/2014/chart" uri="{C3380CC4-5D6E-409C-BE32-E72D297353CC}">
                  <c16:uniqueId val="{00000005-C140-4E20-A3FA-EB7ECA126F23}"/>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bestFit"/>
            <c:showLegendKey val="1"/>
            <c:showVal val="1"/>
            <c:showCatName val="1"/>
            <c:showSerName val="1"/>
            <c:showPercent val="1"/>
            <c:showBubbleSize val="1"/>
            <c:separator>
</c:separator>
            <c:showLeaderLines val="1"/>
            <c:extLst>
              <c:ext xmlns:c15="http://schemas.microsoft.com/office/drawing/2012/chart" uri="{CE6537A1-D6FC-4f65-9D91-7224C49458BB}"/>
            </c:extLst>
          </c:dLbls>
          <c:cat>
            <c:strRef>
              <c:f>Sheet1!$A$2:$A$4</c:f>
              <c:strCache>
                <c:ptCount val="3"/>
                <c:pt idx="0">
                  <c:v>大挖</c:v>
                </c:pt>
                <c:pt idx="1">
                  <c:v>中挖</c:v>
                </c:pt>
                <c:pt idx="2">
                  <c:v>小挖</c:v>
                </c:pt>
              </c:strCache>
            </c:strRef>
          </c:cat>
          <c:val>
            <c:numRef>
              <c:f>Sheet1!$B$2:$B$4</c:f>
              <c:numCache>
                <c:formatCode>General</c:formatCode>
                <c:ptCount val="3"/>
                <c:pt idx="0">
                  <c:v>127</c:v>
                </c:pt>
                <c:pt idx="1">
                  <c:v>1160</c:v>
                </c:pt>
                <c:pt idx="2">
                  <c:v>515</c:v>
                </c:pt>
              </c:numCache>
            </c:numRef>
          </c:val>
          <c:extLst>
            <c:ext xmlns:c16="http://schemas.microsoft.com/office/drawing/2014/chart" uri="{C3380CC4-5D6E-409C-BE32-E72D297353CC}">
              <c16:uniqueId val="{00000006-C140-4E20-A3FA-EB7ECA126F23}"/>
            </c:ext>
          </c:extLst>
        </c:ser>
        <c:dLbls>
          <c:showLegendKey val="1"/>
          <c:showVal val="1"/>
          <c:showCatName val="1"/>
          <c:showSerName val="1"/>
          <c:showPercent val="1"/>
          <c:showBubbleSize val="1"/>
          <c:showLeaderLines val="1"/>
        </c:dLbls>
        <c:firstSliceAng val="0"/>
      </c:pieChart>
    </c:plotArea>
    <c:legend>
      <c:legendPos val="l"/>
      <c:layout>
        <c:manualLayout>
          <c:xMode val="edge"/>
          <c:yMode val="edge"/>
          <c:x val="6.6030509214808894E-2"/>
          <c:y val="0.23784798464857801"/>
          <c:w val="0.20841161097111599"/>
          <c:h val="0.43336977068336902"/>
        </c:manualLayout>
      </c:layout>
      <c:overlay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1200">
          <a:latin typeface="微软雅黑" panose="020B0503020204020204" charset="-122"/>
          <a:ea typeface="微软雅黑" panose="020B0503020204020204" charset="-122"/>
        </a:defRPr>
      </a:pPr>
      <a:endParaRPr lang="zh-CN"/>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943441722103101"/>
          <c:y val="8.7925103563749205E-2"/>
          <c:w val="0.59098906636631698"/>
          <c:h val="0.74350237381568896"/>
        </c:manualLayout>
      </c:layout>
      <c:pieChart>
        <c:varyColors val="1"/>
        <c:ser>
          <c:idx val="0"/>
          <c:order val="0"/>
          <c:tx>
            <c:strRef>
              <c:f>Sheet1!$B$1</c:f>
              <c:strCache>
                <c:ptCount val="1"/>
                <c:pt idx="0">
                  <c:v>销售额</c:v>
                </c:pt>
              </c:strCache>
            </c:strRef>
          </c:tx>
          <c:spPr>
            <a:solidFill>
              <a:srgbClr val="92D050"/>
            </a:solidFill>
          </c:spPr>
          <c:dPt>
            <c:idx val="0"/>
            <c:bubble3D val="0"/>
            <c:spPr>
              <a:solidFill>
                <a:srgbClr val="FFC000"/>
              </a:solidFill>
            </c:spPr>
            <c:extLst>
              <c:ext xmlns:c16="http://schemas.microsoft.com/office/drawing/2014/chart" uri="{C3380CC4-5D6E-409C-BE32-E72D297353CC}">
                <c16:uniqueId val="{00000001-9BD5-402D-A49B-D514259EF7C2}"/>
              </c:ext>
            </c:extLst>
          </c:dPt>
          <c:dPt>
            <c:idx val="1"/>
            <c:bubble3D val="0"/>
            <c:spPr>
              <a:solidFill>
                <a:srgbClr val="00B0F0"/>
              </a:solidFill>
            </c:spPr>
            <c:extLst>
              <c:ext xmlns:c16="http://schemas.microsoft.com/office/drawing/2014/chart" uri="{C3380CC4-5D6E-409C-BE32-E72D297353CC}">
                <c16:uniqueId val="{00000003-9BD5-402D-A49B-D514259EF7C2}"/>
              </c:ext>
            </c:extLst>
          </c:dPt>
          <c:dPt>
            <c:idx val="2"/>
            <c:bubble3D val="0"/>
            <c:extLst>
              <c:ext xmlns:c16="http://schemas.microsoft.com/office/drawing/2014/chart" uri="{C3380CC4-5D6E-409C-BE32-E72D297353CC}">
                <c16:uniqueId val="{00000005-9BD5-402D-A49B-D514259EF7C2}"/>
              </c:ext>
            </c:extLst>
          </c:dPt>
          <c:dLbls>
            <c:dLbl>
              <c:idx val="0"/>
              <c:layout>
                <c:manualLayout>
                  <c:x val="-4.7123523284670003E-2"/>
                  <c:y val="9.3189311914053205E-2"/>
                </c:manualLayout>
              </c:layout>
              <c:dLblPos val="bestFit"/>
              <c:showLegendKey val="1"/>
              <c:showVal val="1"/>
              <c:showCatName val="1"/>
              <c:showSerName val="1"/>
              <c:showPercent val="1"/>
              <c:showBubbleSize val="1"/>
              <c:separator>
</c:separator>
              <c:extLst>
                <c:ext xmlns:c15="http://schemas.microsoft.com/office/drawing/2012/chart" uri="{CE6537A1-D6FC-4f65-9D91-7224C49458BB}"/>
                <c:ext xmlns:c16="http://schemas.microsoft.com/office/drawing/2014/chart" uri="{C3380CC4-5D6E-409C-BE32-E72D297353CC}">
                  <c16:uniqueId val="{00000001-9BD5-402D-A49B-D514259EF7C2}"/>
                </c:ext>
              </c:extLst>
            </c:dLbl>
            <c:dLbl>
              <c:idx val="1"/>
              <c:layout>
                <c:manualLayout>
                  <c:x val="-0.145634442920202"/>
                  <c:y val="0.15913867111476801"/>
                </c:manualLayout>
              </c:layout>
              <c:dLblPos val="bestFit"/>
              <c:showLegendKey val="1"/>
              <c:showVal val="1"/>
              <c:showCatName val="1"/>
              <c:showSerName val="1"/>
              <c:showPercent val="1"/>
              <c:showBubbleSize val="1"/>
              <c:separator>
</c:separator>
              <c:extLst>
                <c:ext xmlns:c15="http://schemas.microsoft.com/office/drawing/2012/chart" uri="{CE6537A1-D6FC-4f65-9D91-7224C49458BB}"/>
                <c:ext xmlns:c16="http://schemas.microsoft.com/office/drawing/2014/chart" uri="{C3380CC4-5D6E-409C-BE32-E72D297353CC}">
                  <c16:uniqueId val="{00000003-9BD5-402D-A49B-D514259EF7C2}"/>
                </c:ext>
              </c:extLst>
            </c:dLbl>
            <c:dLbl>
              <c:idx val="2"/>
              <c:layout>
                <c:manualLayout>
                  <c:x val="0.165194707119173"/>
                  <c:y val="-0.23656199962250099"/>
                </c:manualLayout>
              </c:layout>
              <c:dLblPos val="bestFit"/>
              <c:showLegendKey val="1"/>
              <c:showVal val="1"/>
              <c:showCatName val="1"/>
              <c:showSerName val="1"/>
              <c:showPercent val="1"/>
              <c:showBubbleSize val="1"/>
              <c:separator>
</c:separator>
              <c:extLst>
                <c:ext xmlns:c15="http://schemas.microsoft.com/office/drawing/2012/chart" uri="{CE6537A1-D6FC-4f65-9D91-7224C49458BB}"/>
                <c:ext xmlns:c16="http://schemas.microsoft.com/office/drawing/2014/chart" uri="{C3380CC4-5D6E-409C-BE32-E72D297353CC}">
                  <c16:uniqueId val="{00000005-9BD5-402D-A49B-D514259EF7C2}"/>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bestFit"/>
            <c:showLegendKey val="1"/>
            <c:showVal val="1"/>
            <c:showCatName val="1"/>
            <c:showSerName val="1"/>
            <c:showPercent val="1"/>
            <c:showBubbleSize val="1"/>
            <c:separator>
</c:separator>
            <c:showLeaderLines val="1"/>
            <c:extLst>
              <c:ext xmlns:c15="http://schemas.microsoft.com/office/drawing/2012/chart" uri="{CE6537A1-D6FC-4f65-9D91-7224C49458BB}"/>
            </c:extLst>
          </c:dLbls>
          <c:cat>
            <c:strRef>
              <c:f>Sheet1!$A$2:$A$4</c:f>
              <c:strCache>
                <c:ptCount val="3"/>
                <c:pt idx="0">
                  <c:v>大挖</c:v>
                </c:pt>
                <c:pt idx="1">
                  <c:v>中挖</c:v>
                </c:pt>
                <c:pt idx="2">
                  <c:v>小挖</c:v>
                </c:pt>
              </c:strCache>
            </c:strRef>
          </c:cat>
          <c:val>
            <c:numRef>
              <c:f>Sheet1!$B$2:$B$4</c:f>
              <c:numCache>
                <c:formatCode>General</c:formatCode>
                <c:ptCount val="3"/>
                <c:pt idx="0">
                  <c:v>355</c:v>
                </c:pt>
                <c:pt idx="1">
                  <c:v>1230</c:v>
                </c:pt>
                <c:pt idx="2">
                  <c:v>7187</c:v>
                </c:pt>
              </c:numCache>
            </c:numRef>
          </c:val>
          <c:extLst>
            <c:ext xmlns:c16="http://schemas.microsoft.com/office/drawing/2014/chart" uri="{C3380CC4-5D6E-409C-BE32-E72D297353CC}">
              <c16:uniqueId val="{00000006-9BD5-402D-A49B-D514259EF7C2}"/>
            </c:ext>
          </c:extLst>
        </c:ser>
        <c:dLbls>
          <c:showLegendKey val="1"/>
          <c:showVal val="1"/>
          <c:showCatName val="1"/>
          <c:showSerName val="1"/>
          <c:showPercent val="1"/>
          <c:showBubbleSize val="1"/>
          <c:showLeaderLines val="1"/>
        </c:dLbls>
        <c:firstSliceAng val="0"/>
      </c:pieChart>
    </c:plotArea>
    <c:legend>
      <c:legendPos val="r"/>
      <c:layout>
        <c:manualLayout>
          <c:xMode val="edge"/>
          <c:yMode val="edge"/>
          <c:x val="0.77132483028369803"/>
          <c:y val="0.228531288415384"/>
          <c:w val="0.21041803731907499"/>
          <c:h val="0.42361908228113898"/>
        </c:manualLayout>
      </c:layout>
      <c:overlay val="0"/>
      <c:txPr>
        <a:bodyPr rot="0" spcFirstLastPara="0" vertOverflow="ellipsis" vert="horz" wrap="square"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1200">
          <a:latin typeface="微软雅黑" panose="020B0503020204020204" charset="-122"/>
          <a:ea typeface="微软雅黑" panose="020B0503020204020204" charset="-122"/>
        </a:defRPr>
      </a:pPr>
      <a:endParaRPr lang="zh-CN"/>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904597926407994E-2"/>
          <c:y val="0.10417704862958101"/>
          <c:w val="0.91109540207360296"/>
          <c:h val="0.59914821243595895"/>
        </c:manualLayout>
      </c:layout>
      <c:lineChart>
        <c:grouping val="standard"/>
        <c:varyColors val="0"/>
        <c:ser>
          <c:idx val="0"/>
          <c:order val="0"/>
          <c:tx>
            <c:strRef>
              <c:f>Sheet1!$B$1</c:f>
              <c:strCache>
                <c:ptCount val="1"/>
                <c:pt idx="0">
                  <c:v>小挖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0.0%</c:formatCode>
                <c:ptCount val="12"/>
                <c:pt idx="0">
                  <c:v>0.76600000000000601</c:v>
                </c:pt>
                <c:pt idx="1">
                  <c:v>0.74700000000000499</c:v>
                </c:pt>
                <c:pt idx="2">
                  <c:v>0.78200000000000003</c:v>
                </c:pt>
                <c:pt idx="3">
                  <c:v>0.636000000000006</c:v>
                </c:pt>
                <c:pt idx="4">
                  <c:v>0.71800000000000097</c:v>
                </c:pt>
                <c:pt idx="5">
                  <c:v>0.154</c:v>
                </c:pt>
                <c:pt idx="6">
                  <c:v>0.66000000000000603</c:v>
                </c:pt>
                <c:pt idx="7">
                  <c:v>0.78</c:v>
                </c:pt>
                <c:pt idx="8">
                  <c:v>0.632000000000006</c:v>
                </c:pt>
                <c:pt idx="9">
                  <c:v>0.81799999999999995</c:v>
                </c:pt>
                <c:pt idx="10">
                  <c:v>0.69099999999999995</c:v>
                </c:pt>
                <c:pt idx="11">
                  <c:v>0.52700000000000002</c:v>
                </c:pt>
              </c:numCache>
            </c:numRef>
          </c:val>
          <c:smooth val="1"/>
          <c:extLst>
            <c:ext xmlns:c16="http://schemas.microsoft.com/office/drawing/2014/chart" uri="{C3380CC4-5D6E-409C-BE32-E72D297353CC}">
              <c16:uniqueId val="{00000000-6A0B-4990-836B-D949E0E60774}"/>
            </c:ext>
          </c:extLst>
        </c:ser>
        <c:ser>
          <c:idx val="1"/>
          <c:order val="1"/>
          <c:tx>
            <c:strRef>
              <c:f>Sheet1!$C$1</c:f>
              <c:strCache>
                <c:ptCount val="1"/>
                <c:pt idx="0">
                  <c:v>中挖</c:v>
                </c:pt>
              </c:strCache>
            </c:strRef>
          </c:tx>
          <c:marker>
            <c:symbol val="squar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0.0%</c:formatCode>
                <c:ptCount val="12"/>
                <c:pt idx="0">
                  <c:v>0.80500000000000005</c:v>
                </c:pt>
                <c:pt idx="1">
                  <c:v>0.36899999999999999</c:v>
                </c:pt>
                <c:pt idx="2">
                  <c:v>0.60400000000000098</c:v>
                </c:pt>
                <c:pt idx="3">
                  <c:v>0.155</c:v>
                </c:pt>
                <c:pt idx="4">
                  <c:v>0.34100000000000003</c:v>
                </c:pt>
                <c:pt idx="5">
                  <c:v>0</c:v>
                </c:pt>
                <c:pt idx="6">
                  <c:v>0.20699999999999999</c:v>
                </c:pt>
                <c:pt idx="7">
                  <c:v>0.53800000000000003</c:v>
                </c:pt>
                <c:pt idx="8">
                  <c:v>0.14099999999999999</c:v>
                </c:pt>
                <c:pt idx="9">
                  <c:v>0.372000000000002</c:v>
                </c:pt>
                <c:pt idx="10">
                  <c:v>0.311000000000002</c:v>
                </c:pt>
                <c:pt idx="11">
                  <c:v>0.40899999999999997</c:v>
                </c:pt>
              </c:numCache>
            </c:numRef>
          </c:val>
          <c:smooth val="1"/>
          <c:extLst>
            <c:ext xmlns:c16="http://schemas.microsoft.com/office/drawing/2014/chart" uri="{C3380CC4-5D6E-409C-BE32-E72D297353CC}">
              <c16:uniqueId val="{00000001-6A0B-4990-836B-D949E0E60774}"/>
            </c:ext>
          </c:extLst>
        </c:ser>
        <c:ser>
          <c:idx val="2"/>
          <c:order val="2"/>
          <c:tx>
            <c:strRef>
              <c:f>Sheet1!$D$1</c:f>
              <c:strCache>
                <c:ptCount val="1"/>
                <c:pt idx="0">
                  <c:v>大挖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0.0%</c:formatCode>
                <c:ptCount val="12"/>
                <c:pt idx="0">
                  <c:v>0.46700000000000003</c:v>
                </c:pt>
                <c:pt idx="1">
                  <c:v>0.55000000000000004</c:v>
                </c:pt>
                <c:pt idx="2">
                  <c:v>0.57299999999999995</c:v>
                </c:pt>
                <c:pt idx="3">
                  <c:v>0.70000000000000095</c:v>
                </c:pt>
                <c:pt idx="4">
                  <c:v>0.4</c:v>
                </c:pt>
                <c:pt idx="5">
                  <c:v>0</c:v>
                </c:pt>
                <c:pt idx="6">
                  <c:v>0</c:v>
                </c:pt>
                <c:pt idx="7">
                  <c:v>0.2</c:v>
                </c:pt>
                <c:pt idx="8">
                  <c:v>0.68</c:v>
                </c:pt>
                <c:pt idx="9">
                  <c:v>0.74300000000000499</c:v>
                </c:pt>
                <c:pt idx="10">
                  <c:v>0</c:v>
                </c:pt>
                <c:pt idx="11">
                  <c:v>0</c:v>
                </c:pt>
              </c:numCache>
            </c:numRef>
          </c:val>
          <c:smooth val="1"/>
          <c:extLst>
            <c:ext xmlns:c16="http://schemas.microsoft.com/office/drawing/2014/chart" uri="{C3380CC4-5D6E-409C-BE32-E72D297353CC}">
              <c16:uniqueId val="{00000002-6A0B-4990-836B-D949E0E60774}"/>
            </c:ext>
          </c:extLst>
        </c:ser>
        <c:ser>
          <c:idx val="3"/>
          <c:order val="3"/>
          <c:tx>
            <c:strRef>
              <c:f>Sheet1!$E$1</c:f>
              <c:strCache>
                <c:ptCount val="1"/>
                <c:pt idx="0">
                  <c:v>总体</c:v>
                </c:pt>
              </c:strCache>
            </c:strRef>
          </c:tx>
          <c:dLbls>
            <c:dLbl>
              <c:idx val="0"/>
              <c:layout>
                <c:manualLayout>
                  <c:x val="-4.4444133374394602E-2"/>
                  <c:y val="-0.111856368563686"/>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6A0B-4990-836B-D949E0E60774}"/>
                </c:ext>
              </c:extLst>
            </c:dLbl>
            <c:dLbl>
              <c:idx val="1"/>
              <c:layout>
                <c:manualLayout>
                  <c:x val="-3.7036777811995901E-2"/>
                  <c:y val="-0.18929539295393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6A0B-4990-836B-D949E0E60774}"/>
                </c:ext>
              </c:extLst>
            </c:dLbl>
            <c:dLbl>
              <c:idx val="2"/>
              <c:layout>
                <c:manualLayout>
                  <c:x val="-4.4444133374394602E-2"/>
                  <c:y val="-0.129065040650407"/>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6A0B-4990-836B-D949E0E60774}"/>
                </c:ext>
              </c:extLst>
            </c:dLbl>
            <c:dLbl>
              <c:idx val="3"/>
              <c:layout>
                <c:manualLayout>
                  <c:x val="-4.9382370415993998E-2"/>
                  <c:y val="7.74390243902439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6A0B-4990-836B-D949E0E60774}"/>
                </c:ext>
              </c:extLst>
            </c:dLbl>
            <c:dLbl>
              <c:idx val="4"/>
              <c:layout>
                <c:manualLayout>
                  <c:x val="-4.1975014853594797E-2"/>
                  <c:y val="-0.120460704607046"/>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6A0B-4990-836B-D949E0E60774}"/>
                </c:ext>
              </c:extLst>
            </c:dLbl>
            <c:dLbl>
              <c:idx val="5"/>
              <c:layout>
                <c:manualLayout>
                  <c:x val="-3.4567659291195797E-2"/>
                  <c:y val="-0.180691056910569"/>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6A0B-4990-836B-D949E0E60774}"/>
                </c:ext>
              </c:extLst>
            </c:dLbl>
            <c:dLbl>
              <c:idx val="6"/>
              <c:layout>
                <c:manualLayout>
                  <c:x val="-5.6789725978393102E-2"/>
                  <c:y val="-0.129065040650407"/>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6A0B-4990-836B-D949E0E60774}"/>
                </c:ext>
              </c:extLst>
            </c:dLbl>
            <c:dLbl>
              <c:idx val="7"/>
              <c:layout>
                <c:manualLayout>
                  <c:x val="-3.4567659291195797E-2"/>
                  <c:y val="-8.60433604336044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6A0B-4990-836B-D949E0E60774}"/>
                </c:ext>
              </c:extLst>
            </c:dLbl>
            <c:dLbl>
              <c:idx val="8"/>
              <c:layout>
                <c:manualLayout>
                  <c:x val="-4.1975014853594901E-2"/>
                  <c:y val="7.74390243902439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6A0B-4990-836B-D949E0E60774}"/>
                </c:ext>
              </c:extLst>
            </c:dLbl>
            <c:dLbl>
              <c:idx val="9"/>
              <c:layout>
                <c:manualLayout>
                  <c:x val="-4.9382370415994E-3"/>
                  <c:y val="-0.163482384823848"/>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6A0B-4990-836B-D949E0E60774}"/>
                </c:ext>
              </c:extLst>
            </c:dLbl>
            <c:dLbl>
              <c:idx val="10"/>
              <c:layout>
                <c:manualLayout>
                  <c:x val="0"/>
                  <c:y val="-9.4647696476964804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D-6A0B-4990-836B-D949E0E60774}"/>
                </c:ext>
              </c:extLst>
            </c:dLbl>
            <c:dLbl>
              <c:idx val="11"/>
              <c:layout>
                <c:manualLayout>
                  <c:x val="-2.4691185207997E-3"/>
                  <c:y val="0.129065040650407"/>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E-6A0B-4990-836B-D949E0E60774}"/>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Sheet1!$E$2:$E$13</c:f>
              <c:numCache>
                <c:formatCode>0.0%</c:formatCode>
                <c:ptCount val="12"/>
                <c:pt idx="0">
                  <c:v>0.76700000000000601</c:v>
                </c:pt>
                <c:pt idx="1">
                  <c:v>0.633000000000006</c:v>
                </c:pt>
                <c:pt idx="2">
                  <c:v>0.73500000000000099</c:v>
                </c:pt>
                <c:pt idx="3">
                  <c:v>0.53600000000000003</c:v>
                </c:pt>
                <c:pt idx="4">
                  <c:v>0.67700000000000604</c:v>
                </c:pt>
                <c:pt idx="5">
                  <c:v>0</c:v>
                </c:pt>
                <c:pt idx="6">
                  <c:v>0.57299999999999995</c:v>
                </c:pt>
                <c:pt idx="7">
                  <c:v>0.72900000000000098</c:v>
                </c:pt>
                <c:pt idx="8">
                  <c:v>0.53200000000000003</c:v>
                </c:pt>
                <c:pt idx="9">
                  <c:v>0.68700000000000105</c:v>
                </c:pt>
                <c:pt idx="10">
                  <c:v>0.54800000000000004</c:v>
                </c:pt>
                <c:pt idx="11">
                  <c:v>0.46</c:v>
                </c:pt>
              </c:numCache>
            </c:numRef>
          </c:val>
          <c:smooth val="1"/>
          <c:extLst>
            <c:ext xmlns:c16="http://schemas.microsoft.com/office/drawing/2014/chart" uri="{C3380CC4-5D6E-409C-BE32-E72D297353CC}">
              <c16:uniqueId val="{0000000F-6A0B-4990-836B-D949E0E60774}"/>
            </c:ext>
          </c:extLst>
        </c:ser>
        <c:dLbls>
          <c:showLegendKey val="0"/>
          <c:showVal val="0"/>
          <c:showCatName val="0"/>
          <c:showSerName val="0"/>
          <c:showPercent val="0"/>
          <c:showBubbleSize val="0"/>
        </c:dLbls>
        <c:marker val="1"/>
        <c:smooth val="0"/>
        <c:axId val="152226048"/>
        <c:axId val="152305664"/>
      </c:lineChart>
      <c:catAx>
        <c:axId val="15222604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2305664"/>
        <c:crossesAt val="-2"/>
        <c:auto val="1"/>
        <c:lblAlgn val="ctr"/>
        <c:lblOffset val="0"/>
        <c:noMultiLvlLbl val="0"/>
      </c:catAx>
      <c:valAx>
        <c:axId val="152305664"/>
        <c:scaling>
          <c:orientation val="minMax"/>
        </c:scaling>
        <c:delete val="0"/>
        <c:axPos val="l"/>
        <c:numFmt formatCode="0%" sourceLinked="0"/>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2226048"/>
        <c:crosses val="autoZero"/>
        <c:crossBetween val="between"/>
        <c:minorUnit val="0.5"/>
      </c:valAx>
    </c:plotArea>
    <c:legend>
      <c:legendPos val="b"/>
      <c:layout>
        <c:manualLayout>
          <c:xMode val="edge"/>
          <c:yMode val="edge"/>
          <c:x val="0.25111285310338999"/>
          <c:y val="0.84212393963996801"/>
          <c:w val="0.49777429379322202"/>
          <c:h val="0.15282317073170701"/>
        </c:manualLayout>
      </c:layout>
      <c:overlay val="0"/>
      <c:txPr>
        <a:bodyPr rot="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900">
          <a:latin typeface="微软雅黑" panose="020B0503020204020204" charset="-122"/>
          <a:ea typeface="微软雅黑" panose="020B0503020204020204" charset="-122"/>
        </a:defRPr>
      </a:pPr>
      <a:endParaRPr lang="zh-CN"/>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1233379986005"/>
          <c:y val="0.102090108401085"/>
          <c:w val="0.87161087784775704"/>
          <c:h val="0.56770867208672704"/>
        </c:manualLayout>
      </c:layout>
      <c:lineChart>
        <c:grouping val="standard"/>
        <c:varyColors val="0"/>
        <c:ser>
          <c:idx val="0"/>
          <c:order val="0"/>
          <c:tx>
            <c:strRef>
              <c:f>Sheet1!$B$1</c:f>
              <c:strCache>
                <c:ptCount val="1"/>
                <c:pt idx="0">
                  <c:v>小挖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0.0%</c:formatCode>
                <c:ptCount val="12"/>
                <c:pt idx="0">
                  <c:v>0</c:v>
                </c:pt>
                <c:pt idx="1">
                  <c:v>0.76470000000000604</c:v>
                </c:pt>
                <c:pt idx="2">
                  <c:v>0.59089999999999998</c:v>
                </c:pt>
                <c:pt idx="3">
                  <c:v>0.89190000000000003</c:v>
                </c:pt>
                <c:pt idx="4">
                  <c:v>0.65910000000000601</c:v>
                </c:pt>
                <c:pt idx="5">
                  <c:v>0.35589999999999999</c:v>
                </c:pt>
                <c:pt idx="6">
                  <c:v>7.5499999999999998E-2</c:v>
                </c:pt>
                <c:pt idx="7">
                  <c:v>0.28000000000000003</c:v>
                </c:pt>
                <c:pt idx="8">
                  <c:v>0</c:v>
                </c:pt>
                <c:pt idx="9">
                  <c:v>0</c:v>
                </c:pt>
                <c:pt idx="10">
                  <c:v>0.54549999999999998</c:v>
                </c:pt>
                <c:pt idx="11">
                  <c:v>0</c:v>
                </c:pt>
              </c:numCache>
            </c:numRef>
          </c:val>
          <c:smooth val="1"/>
          <c:extLst>
            <c:ext xmlns:c16="http://schemas.microsoft.com/office/drawing/2014/chart" uri="{C3380CC4-5D6E-409C-BE32-E72D297353CC}">
              <c16:uniqueId val="{00000000-D211-4BE5-B098-33D2707D8A00}"/>
            </c:ext>
          </c:extLst>
        </c:ser>
        <c:ser>
          <c:idx val="1"/>
          <c:order val="1"/>
          <c:tx>
            <c:strRef>
              <c:f>Sheet1!$C$1</c:f>
              <c:strCache>
                <c:ptCount val="1"/>
                <c:pt idx="0">
                  <c:v>中挖</c:v>
                </c:pt>
              </c:strCache>
            </c:strRef>
          </c:tx>
          <c:marker>
            <c:symbol val="squar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0.0%</c:formatCode>
                <c:ptCount val="12"/>
                <c:pt idx="0">
                  <c:v>0.23530000000000001</c:v>
                </c:pt>
                <c:pt idx="1">
                  <c:v>0.85190000000000399</c:v>
                </c:pt>
                <c:pt idx="2">
                  <c:v>0.219200000000002</c:v>
                </c:pt>
                <c:pt idx="3">
                  <c:v>0.25769999999999998</c:v>
                </c:pt>
                <c:pt idx="4">
                  <c:v>0.42859999999999998</c:v>
                </c:pt>
                <c:pt idx="5">
                  <c:v>0.51090000000000002</c:v>
                </c:pt>
                <c:pt idx="6">
                  <c:v>0.67680000000000795</c:v>
                </c:pt>
                <c:pt idx="7">
                  <c:v>0.69130000000000003</c:v>
                </c:pt>
                <c:pt idx="8">
                  <c:v>0</c:v>
                </c:pt>
                <c:pt idx="9">
                  <c:v>0.80820000000000003</c:v>
                </c:pt>
                <c:pt idx="10">
                  <c:v>0</c:v>
                </c:pt>
                <c:pt idx="11">
                  <c:v>0.57270000000000099</c:v>
                </c:pt>
              </c:numCache>
            </c:numRef>
          </c:val>
          <c:smooth val="1"/>
          <c:extLst>
            <c:ext xmlns:c16="http://schemas.microsoft.com/office/drawing/2014/chart" uri="{C3380CC4-5D6E-409C-BE32-E72D297353CC}">
              <c16:uniqueId val="{00000001-D211-4BE5-B098-33D2707D8A00}"/>
            </c:ext>
          </c:extLst>
        </c:ser>
        <c:ser>
          <c:idx val="2"/>
          <c:order val="2"/>
          <c:tx>
            <c:strRef>
              <c:f>Sheet1!$D$1</c:f>
              <c:strCache>
                <c:ptCount val="1"/>
                <c:pt idx="0">
                  <c:v>大挖</c:v>
                </c:pt>
              </c:strCache>
            </c:strRef>
          </c:tx>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0.0%</c:formatCode>
                <c:ptCount val="12"/>
                <c:pt idx="0">
                  <c:v>0</c:v>
                </c:pt>
                <c:pt idx="1">
                  <c:v>0.33330000000000398</c:v>
                </c:pt>
                <c:pt idx="2">
                  <c:v>0.5</c:v>
                </c:pt>
                <c:pt idx="3">
                  <c:v>0</c:v>
                </c:pt>
                <c:pt idx="4">
                  <c:v>0</c:v>
                </c:pt>
                <c:pt idx="5">
                  <c:v>0</c:v>
                </c:pt>
                <c:pt idx="6">
                  <c:v>0</c:v>
                </c:pt>
                <c:pt idx="7">
                  <c:v>0.46150000000000002</c:v>
                </c:pt>
                <c:pt idx="8">
                  <c:v>5.5599999999999997E-2</c:v>
                </c:pt>
                <c:pt idx="9">
                  <c:v>0</c:v>
                </c:pt>
                <c:pt idx="10">
                  <c:v>0.25</c:v>
                </c:pt>
                <c:pt idx="11">
                  <c:v>0</c:v>
                </c:pt>
              </c:numCache>
            </c:numRef>
          </c:val>
          <c:smooth val="1"/>
          <c:extLst>
            <c:ext xmlns:c16="http://schemas.microsoft.com/office/drawing/2014/chart" uri="{C3380CC4-5D6E-409C-BE32-E72D297353CC}">
              <c16:uniqueId val="{00000002-D211-4BE5-B098-33D2707D8A00}"/>
            </c:ext>
          </c:extLst>
        </c:ser>
        <c:ser>
          <c:idx val="3"/>
          <c:order val="3"/>
          <c:tx>
            <c:strRef>
              <c:f>Sheet1!$E$1</c:f>
              <c:strCache>
                <c:ptCount val="1"/>
                <c:pt idx="0">
                  <c:v>总体</c:v>
                </c:pt>
              </c:strCache>
            </c:strRef>
          </c:tx>
          <c:dLbls>
            <c:dLbl>
              <c:idx val="2"/>
              <c:layout>
                <c:manualLayout>
                  <c:x val="-3.4561853666122397E-2"/>
                  <c:y val="0.103252032520325"/>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3-D211-4BE5-B098-33D2707D8A00}"/>
                </c:ext>
              </c:extLst>
            </c:dLbl>
            <c:dLbl>
              <c:idx val="3"/>
              <c:layout>
                <c:manualLayout>
                  <c:x val="-5.1842780499183602E-2"/>
                  <c:y val="-5.16260162601624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D211-4BE5-B098-33D2707D8A00}"/>
                </c:ext>
              </c:extLst>
            </c:dLbl>
            <c:dLbl>
              <c:idx val="4"/>
              <c:layout>
                <c:manualLayout>
                  <c:x val="-3.9499261332711297E-2"/>
                  <c:y val="6.0230352303522999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5-D211-4BE5-B098-33D2707D8A00}"/>
                </c:ext>
              </c:extLst>
            </c:dLbl>
            <c:dLbl>
              <c:idx val="5"/>
              <c:layout>
                <c:manualLayout>
                  <c:x val="-5.6780188165772398E-2"/>
                  <c:y val="-0.137669376693767"/>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D211-4BE5-B098-33D2707D8A00}"/>
                </c:ext>
              </c:extLst>
            </c:dLbl>
            <c:dLbl>
              <c:idx val="7"/>
              <c:layout>
                <c:manualLayout>
                  <c:x val="-2.2218334499650001E-2"/>
                  <c:y val="-8.6043360433604305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D211-4BE5-B098-33D2707D8A00}"/>
                </c:ext>
              </c:extLst>
            </c:dLbl>
            <c:dLbl>
              <c:idx val="8"/>
              <c:layout>
                <c:manualLayout>
                  <c:x val="-5.18429748853124E-2"/>
                  <c:y val="-0.137669376693767"/>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D211-4BE5-B098-33D2707D8A00}"/>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Sheet1!$E$2:$E$13</c:f>
              <c:numCache>
                <c:formatCode>0.0%</c:formatCode>
                <c:ptCount val="12"/>
                <c:pt idx="0">
                  <c:v>0</c:v>
                </c:pt>
                <c:pt idx="1">
                  <c:v>0.78200000000000003</c:v>
                </c:pt>
                <c:pt idx="2">
                  <c:v>0.30599999999999999</c:v>
                </c:pt>
                <c:pt idx="3">
                  <c:v>0.439000000000002</c:v>
                </c:pt>
                <c:pt idx="4">
                  <c:v>0.39600000000000302</c:v>
                </c:pt>
                <c:pt idx="5">
                  <c:v>0.45700000000000002</c:v>
                </c:pt>
                <c:pt idx="6">
                  <c:v>0.44400000000000001</c:v>
                </c:pt>
                <c:pt idx="7">
                  <c:v>0.64200000000000601</c:v>
                </c:pt>
                <c:pt idx="8">
                  <c:v>0.122</c:v>
                </c:pt>
                <c:pt idx="9">
                  <c:v>0.48899999999999999</c:v>
                </c:pt>
                <c:pt idx="10">
                  <c:v>0.127</c:v>
                </c:pt>
                <c:pt idx="11">
                  <c:v>0.35699999999999998</c:v>
                </c:pt>
              </c:numCache>
            </c:numRef>
          </c:val>
          <c:smooth val="1"/>
          <c:extLst>
            <c:ext xmlns:c16="http://schemas.microsoft.com/office/drawing/2014/chart" uri="{C3380CC4-5D6E-409C-BE32-E72D297353CC}">
              <c16:uniqueId val="{00000009-D211-4BE5-B098-33D2707D8A00}"/>
            </c:ext>
          </c:extLst>
        </c:ser>
        <c:dLbls>
          <c:showLegendKey val="0"/>
          <c:showVal val="0"/>
          <c:showCatName val="0"/>
          <c:showSerName val="0"/>
          <c:showPercent val="0"/>
          <c:showBubbleSize val="0"/>
        </c:dLbls>
        <c:marker val="1"/>
        <c:smooth val="0"/>
        <c:axId val="152385408"/>
        <c:axId val="152386944"/>
      </c:lineChart>
      <c:catAx>
        <c:axId val="15238540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2386944"/>
        <c:crossesAt val="-100"/>
        <c:auto val="1"/>
        <c:lblAlgn val="ctr"/>
        <c:lblOffset val="0"/>
        <c:noMultiLvlLbl val="0"/>
      </c:catAx>
      <c:valAx>
        <c:axId val="152386944"/>
        <c:scaling>
          <c:orientation val="minMax"/>
        </c:scaling>
        <c:delete val="0"/>
        <c:axPos val="l"/>
        <c:numFmt formatCode="0%" sourceLinked="0"/>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2385408"/>
        <c:crosses val="autoZero"/>
        <c:crossBetween val="between"/>
        <c:minorUnit val="0.5"/>
      </c:valAx>
    </c:plotArea>
    <c:legend>
      <c:legendPos val="b"/>
      <c:layout>
        <c:manualLayout>
          <c:xMode val="edge"/>
          <c:yMode val="edge"/>
          <c:x val="0.25115465360391898"/>
          <c:y val="0.84717682926829296"/>
          <c:w val="0.49769069279216199"/>
          <c:h val="0.15282317073170701"/>
        </c:manualLayout>
      </c:layout>
      <c:overlay val="0"/>
      <c:txPr>
        <a:bodyPr rot="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900">
          <a:latin typeface="微软雅黑" panose="020B0503020204020204" charset="-122"/>
          <a:ea typeface="微软雅黑" panose="020B0503020204020204" charset="-122"/>
        </a:defRPr>
      </a:pPr>
      <a:endParaRPr lang="zh-CN"/>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013438226154"/>
          <c:y val="7.1543451001309905E-2"/>
          <c:w val="0.85319839114570295"/>
          <c:h val="0.64115663048267502"/>
        </c:manualLayout>
      </c:layout>
      <c:lineChart>
        <c:grouping val="standard"/>
        <c:varyColors val="0"/>
        <c:ser>
          <c:idx val="0"/>
          <c:order val="0"/>
          <c:tx>
            <c:strRef>
              <c:f>Sheet1!$B$1</c:f>
              <c:strCache>
                <c:ptCount val="1"/>
                <c:pt idx="0">
                  <c:v>大挖</c:v>
                </c:pt>
              </c:strCache>
            </c:strRef>
          </c:tx>
          <c:marker>
            <c:symbol val="diamond"/>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0.0%</c:formatCode>
                <c:ptCount val="12"/>
                <c:pt idx="0">
                  <c:v>0.96250000000000002</c:v>
                </c:pt>
                <c:pt idx="1">
                  <c:v>0.63160000000000405</c:v>
                </c:pt>
                <c:pt idx="2">
                  <c:v>0.87840000000000096</c:v>
                </c:pt>
                <c:pt idx="3">
                  <c:v>0.68120000000000003</c:v>
                </c:pt>
                <c:pt idx="4">
                  <c:v>0.85370000000000301</c:v>
                </c:pt>
                <c:pt idx="5">
                  <c:v>0.9</c:v>
                </c:pt>
                <c:pt idx="6">
                  <c:v>0.41399999999999998</c:v>
                </c:pt>
                <c:pt idx="7">
                  <c:v>0.62960000000000405</c:v>
                </c:pt>
                <c:pt idx="8">
                  <c:v>0.32880000000000198</c:v>
                </c:pt>
                <c:pt idx="9">
                  <c:v>4.8800000000000003E-2</c:v>
                </c:pt>
                <c:pt idx="10">
                  <c:v>0.209900000000001</c:v>
                </c:pt>
                <c:pt idx="11">
                  <c:v>0.1268</c:v>
                </c:pt>
              </c:numCache>
            </c:numRef>
          </c:val>
          <c:smooth val="1"/>
          <c:extLst>
            <c:ext xmlns:c16="http://schemas.microsoft.com/office/drawing/2014/chart" uri="{C3380CC4-5D6E-409C-BE32-E72D297353CC}">
              <c16:uniqueId val="{00000000-8BA5-4368-8C77-327FB9216DBC}"/>
            </c:ext>
          </c:extLst>
        </c:ser>
        <c:ser>
          <c:idx val="1"/>
          <c:order val="1"/>
          <c:tx>
            <c:strRef>
              <c:f>Sheet1!$C$1</c:f>
              <c:strCache>
                <c:ptCount val="1"/>
                <c:pt idx="0">
                  <c:v>中挖</c:v>
                </c:pt>
              </c:strCache>
            </c:strRef>
          </c:tx>
          <c:marker>
            <c:symbol val="squar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0.0%</c:formatCode>
                <c:ptCount val="12"/>
                <c:pt idx="0">
                  <c:v>0.89219999999999999</c:v>
                </c:pt>
                <c:pt idx="1">
                  <c:v>0.92130000000000001</c:v>
                </c:pt>
                <c:pt idx="2">
                  <c:v>0.63090000000000301</c:v>
                </c:pt>
                <c:pt idx="3">
                  <c:v>0.80080000000000096</c:v>
                </c:pt>
                <c:pt idx="4">
                  <c:v>0.74330000000000096</c:v>
                </c:pt>
                <c:pt idx="5">
                  <c:v>0.71740000000000004</c:v>
                </c:pt>
                <c:pt idx="6">
                  <c:v>0.7903</c:v>
                </c:pt>
                <c:pt idx="7">
                  <c:v>0.70930000000000004</c:v>
                </c:pt>
                <c:pt idx="8">
                  <c:v>0.88019999999999998</c:v>
                </c:pt>
                <c:pt idx="9">
                  <c:v>0.93870000000000098</c:v>
                </c:pt>
                <c:pt idx="10">
                  <c:v>0.42809999999999998</c:v>
                </c:pt>
                <c:pt idx="11">
                  <c:v>0.90210000000000001</c:v>
                </c:pt>
              </c:numCache>
            </c:numRef>
          </c:val>
          <c:smooth val="1"/>
          <c:extLst>
            <c:ext xmlns:c16="http://schemas.microsoft.com/office/drawing/2014/chart" uri="{C3380CC4-5D6E-409C-BE32-E72D297353CC}">
              <c16:uniqueId val="{00000001-8BA5-4368-8C77-327FB9216DBC}"/>
            </c:ext>
          </c:extLst>
        </c:ser>
        <c:ser>
          <c:idx val="2"/>
          <c:order val="2"/>
          <c:tx>
            <c:strRef>
              <c:f>Sheet1!$D$1</c:f>
              <c:strCache>
                <c:ptCount val="1"/>
                <c:pt idx="0">
                  <c:v>小挖</c:v>
                </c:pt>
              </c:strCache>
            </c:strRef>
          </c:tx>
          <c:marker>
            <c:symbol val="triangl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0.0%</c:formatCode>
                <c:ptCount val="12"/>
                <c:pt idx="0">
                  <c:v>0.99319999999999997</c:v>
                </c:pt>
                <c:pt idx="1">
                  <c:v>0.8851</c:v>
                </c:pt>
                <c:pt idx="2">
                  <c:v>0.85729999999999995</c:v>
                </c:pt>
                <c:pt idx="3">
                  <c:v>0.87270000000000403</c:v>
                </c:pt>
                <c:pt idx="4">
                  <c:v>0.77460000000000495</c:v>
                </c:pt>
                <c:pt idx="5">
                  <c:v>0.90290000000000004</c:v>
                </c:pt>
                <c:pt idx="6">
                  <c:v>0.83290000000000097</c:v>
                </c:pt>
                <c:pt idx="7">
                  <c:v>0.83860000000000301</c:v>
                </c:pt>
                <c:pt idx="8">
                  <c:v>0.86170000000000302</c:v>
                </c:pt>
                <c:pt idx="9">
                  <c:v>0.94840000000000002</c:v>
                </c:pt>
                <c:pt idx="10">
                  <c:v>0.87670000000000403</c:v>
                </c:pt>
                <c:pt idx="11">
                  <c:v>0.86270000000000402</c:v>
                </c:pt>
              </c:numCache>
            </c:numRef>
          </c:val>
          <c:smooth val="1"/>
          <c:extLst>
            <c:ext xmlns:c16="http://schemas.microsoft.com/office/drawing/2014/chart" uri="{C3380CC4-5D6E-409C-BE32-E72D297353CC}">
              <c16:uniqueId val="{00000002-8BA5-4368-8C77-327FB9216DBC}"/>
            </c:ext>
          </c:extLst>
        </c:ser>
        <c:dLbls>
          <c:showLegendKey val="0"/>
          <c:showVal val="0"/>
          <c:showCatName val="0"/>
          <c:showSerName val="0"/>
          <c:showPercent val="0"/>
          <c:showBubbleSize val="0"/>
        </c:dLbls>
        <c:marker val="1"/>
        <c:smooth val="0"/>
        <c:axId val="153455232"/>
        <c:axId val="153457024"/>
      </c:lineChart>
      <c:catAx>
        <c:axId val="153455232"/>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3457024"/>
        <c:crosses val="autoZero"/>
        <c:auto val="1"/>
        <c:lblAlgn val="ctr"/>
        <c:lblOffset val="100"/>
        <c:noMultiLvlLbl val="0"/>
      </c:catAx>
      <c:valAx>
        <c:axId val="153457024"/>
        <c:scaling>
          <c:orientation val="minMax"/>
          <c:max val="1"/>
        </c:scaling>
        <c:delete val="0"/>
        <c:axPos val="l"/>
        <c:majorGridlines>
          <c:spPr>
            <a:ln w="9525" cap="flat" cmpd="sng" algn="ctr">
              <a:solidFill>
                <a:schemeClr val="bg1">
                  <a:lumMod val="85000"/>
                </a:schemeClr>
              </a:solidFill>
              <a:prstDash val="dash"/>
              <a:round/>
            </a:ln>
          </c:spPr>
        </c:majorGridlines>
        <c:numFmt formatCode="0%" sourceLinked="0"/>
        <c:majorTickMark val="out"/>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3455232"/>
        <c:crosses val="autoZero"/>
        <c:crossBetween val="between"/>
        <c:majorUnit val="0.2"/>
        <c:minorUnit val="0.2"/>
      </c:valAx>
    </c:plotArea>
    <c:legend>
      <c:legendPos val="b"/>
      <c:overlay val="0"/>
      <c:txPr>
        <a:bodyPr rot="0" spcFirstLastPara="0" vertOverflow="ellipsis" vert="horz" wrap="square" anchor="ctr" anchorCtr="1"/>
        <a:lstStyle/>
        <a:p>
          <a:pPr>
            <a:defRPr lang="zh-CN" sz="11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1100">
          <a:latin typeface="微软雅黑" panose="020B0503020204020204" charset="-122"/>
          <a:ea typeface="微软雅黑" panose="020B0503020204020204" charset="-122"/>
        </a:defRPr>
      </a:pPr>
      <a:endParaRPr lang="zh-CN"/>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0524338291914702E-2"/>
          <c:y val="6.9601461906531895E-2"/>
          <c:w val="0.81721403560523898"/>
          <c:h val="0.65360553808197897"/>
        </c:manualLayout>
      </c:layout>
      <c:barChart>
        <c:barDir val="col"/>
        <c:grouping val="stacked"/>
        <c:varyColors val="0"/>
        <c:ser>
          <c:idx val="0"/>
          <c:order val="0"/>
          <c:tx>
            <c:strRef>
              <c:f>中挖停线!$B$30</c:f>
              <c:strCache>
                <c:ptCount val="1"/>
                <c:pt idx="0">
                  <c:v>设备故障</c:v>
                </c:pt>
              </c:strCache>
            </c:strRef>
          </c:tx>
          <c:invertIfNegative val="0"/>
          <c:cat>
            <c:strRef>
              <c:f>中挖停线!$C$29:$I$29</c:f>
              <c:strCache>
                <c:ptCount val="7"/>
                <c:pt idx="0">
                  <c:v>06</c:v>
                </c:pt>
                <c:pt idx="1">
                  <c:v>07</c:v>
                </c:pt>
                <c:pt idx="2">
                  <c:v>08</c:v>
                </c:pt>
                <c:pt idx="3">
                  <c:v>09</c:v>
                </c:pt>
                <c:pt idx="4">
                  <c:v>10</c:v>
                </c:pt>
                <c:pt idx="5">
                  <c:v>11</c:v>
                </c:pt>
                <c:pt idx="6">
                  <c:v>12</c:v>
                </c:pt>
              </c:strCache>
            </c:strRef>
          </c:cat>
          <c:val>
            <c:numRef>
              <c:f>中挖停线!$C$30:$I$30</c:f>
              <c:numCache>
                <c:formatCode>0</c:formatCode>
                <c:ptCount val="7"/>
                <c:pt idx="0">
                  <c:v>5.7</c:v>
                </c:pt>
                <c:pt idx="1">
                  <c:v>9.5000000000000001E-2</c:v>
                </c:pt>
                <c:pt idx="2">
                  <c:v>7.5</c:v>
                </c:pt>
                <c:pt idx="3">
                  <c:v>4</c:v>
                </c:pt>
                <c:pt idx="4">
                  <c:v>11</c:v>
                </c:pt>
                <c:pt idx="5">
                  <c:v>6</c:v>
                </c:pt>
                <c:pt idx="6">
                  <c:v>0</c:v>
                </c:pt>
              </c:numCache>
            </c:numRef>
          </c:val>
          <c:extLst>
            <c:ext xmlns:c16="http://schemas.microsoft.com/office/drawing/2014/chart" uri="{C3380CC4-5D6E-409C-BE32-E72D297353CC}">
              <c16:uniqueId val="{00000000-069A-45C9-B667-92B2429C46C8}"/>
            </c:ext>
          </c:extLst>
        </c:ser>
        <c:ser>
          <c:idx val="1"/>
          <c:order val="1"/>
          <c:tx>
            <c:strRef>
              <c:f>中挖停线!$B$31</c:f>
              <c:strCache>
                <c:ptCount val="1"/>
                <c:pt idx="0">
                  <c:v>结构件缺件</c:v>
                </c:pt>
              </c:strCache>
            </c:strRef>
          </c:tx>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069A-45C9-B667-92B2429C46C8}"/>
                </c:ext>
              </c:extLst>
            </c:dLbl>
            <c:dLbl>
              <c:idx val="1"/>
              <c:delete val="1"/>
              <c:extLst>
                <c:ext xmlns:c15="http://schemas.microsoft.com/office/drawing/2012/chart" uri="{CE6537A1-D6FC-4f65-9D91-7224C49458BB}"/>
                <c:ext xmlns:c16="http://schemas.microsoft.com/office/drawing/2014/chart" uri="{C3380CC4-5D6E-409C-BE32-E72D297353CC}">
                  <c16:uniqueId val="{00000002-069A-45C9-B667-92B2429C46C8}"/>
                </c:ext>
              </c:extLst>
            </c:dLbl>
            <c:dLbl>
              <c:idx val="5"/>
              <c:delete val="1"/>
              <c:extLst>
                <c:ext xmlns:c15="http://schemas.microsoft.com/office/drawing/2012/chart" uri="{CE6537A1-D6FC-4f65-9D91-7224C49458BB}"/>
                <c:ext xmlns:c16="http://schemas.microsoft.com/office/drawing/2014/chart" uri="{C3380CC4-5D6E-409C-BE32-E72D297353CC}">
                  <c16:uniqueId val="{00000003-069A-45C9-B667-92B2429C46C8}"/>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中挖停线!$C$29:$I$29</c:f>
              <c:strCache>
                <c:ptCount val="7"/>
                <c:pt idx="0">
                  <c:v>06</c:v>
                </c:pt>
                <c:pt idx="1">
                  <c:v>07</c:v>
                </c:pt>
                <c:pt idx="2">
                  <c:v>08</c:v>
                </c:pt>
                <c:pt idx="3">
                  <c:v>09</c:v>
                </c:pt>
                <c:pt idx="4">
                  <c:v>10</c:v>
                </c:pt>
                <c:pt idx="5">
                  <c:v>11</c:v>
                </c:pt>
                <c:pt idx="6">
                  <c:v>12</c:v>
                </c:pt>
              </c:strCache>
            </c:strRef>
          </c:cat>
          <c:val>
            <c:numRef>
              <c:f>中挖停线!$C$31:$I$31</c:f>
              <c:numCache>
                <c:formatCode>0</c:formatCode>
                <c:ptCount val="7"/>
                <c:pt idx="0">
                  <c:v>0</c:v>
                </c:pt>
                <c:pt idx="1">
                  <c:v>0</c:v>
                </c:pt>
                <c:pt idx="2">
                  <c:v>84.1666666666667</c:v>
                </c:pt>
                <c:pt idx="3">
                  <c:v>4.6666666666666696</c:v>
                </c:pt>
                <c:pt idx="4">
                  <c:v>8.3333333333333393</c:v>
                </c:pt>
                <c:pt idx="5">
                  <c:v>0</c:v>
                </c:pt>
                <c:pt idx="6">
                  <c:v>24.5</c:v>
                </c:pt>
              </c:numCache>
            </c:numRef>
          </c:val>
          <c:extLst>
            <c:ext xmlns:c16="http://schemas.microsoft.com/office/drawing/2014/chart" uri="{C3380CC4-5D6E-409C-BE32-E72D297353CC}">
              <c16:uniqueId val="{00000004-069A-45C9-B667-92B2429C46C8}"/>
            </c:ext>
          </c:extLst>
        </c:ser>
        <c:ser>
          <c:idx val="2"/>
          <c:order val="2"/>
          <c:tx>
            <c:strRef>
              <c:f>中挖停线!$B$32</c:f>
              <c:strCache>
                <c:ptCount val="1"/>
                <c:pt idx="0">
                  <c:v>外购件缺件</c:v>
                </c:pt>
              </c:strCache>
            </c:strRef>
          </c:tx>
          <c:invertIfNegative val="0"/>
          <c:cat>
            <c:strRef>
              <c:f>中挖停线!$C$29:$I$29</c:f>
              <c:strCache>
                <c:ptCount val="7"/>
                <c:pt idx="0">
                  <c:v>06</c:v>
                </c:pt>
                <c:pt idx="1">
                  <c:v>07</c:v>
                </c:pt>
                <c:pt idx="2">
                  <c:v>08</c:v>
                </c:pt>
                <c:pt idx="3">
                  <c:v>09</c:v>
                </c:pt>
                <c:pt idx="4">
                  <c:v>10</c:v>
                </c:pt>
                <c:pt idx="5">
                  <c:v>11</c:v>
                </c:pt>
                <c:pt idx="6">
                  <c:v>12</c:v>
                </c:pt>
              </c:strCache>
            </c:strRef>
          </c:cat>
          <c:val>
            <c:numRef>
              <c:f>中挖停线!$C$32:$I$32</c:f>
            </c:numRef>
          </c:val>
          <c:extLst>
            <c:ext xmlns:c16="http://schemas.microsoft.com/office/drawing/2014/chart" uri="{C3380CC4-5D6E-409C-BE32-E72D297353CC}">
              <c16:uniqueId val="{00000005-069A-45C9-B667-92B2429C46C8}"/>
            </c:ext>
          </c:extLst>
        </c:ser>
        <c:ser>
          <c:idx val="3"/>
          <c:order val="3"/>
          <c:tx>
            <c:strRef>
              <c:f>中挖停线!$B$33</c:f>
              <c:strCache>
                <c:ptCount val="1"/>
                <c:pt idx="0">
                  <c:v>外购件质量</c:v>
                </c:pt>
              </c:strCache>
            </c:strRef>
          </c:tx>
          <c:invertIfNegative val="0"/>
          <c:cat>
            <c:strRef>
              <c:f>中挖停线!$C$29:$I$29</c:f>
              <c:strCache>
                <c:ptCount val="7"/>
                <c:pt idx="0">
                  <c:v>06</c:v>
                </c:pt>
                <c:pt idx="1">
                  <c:v>07</c:v>
                </c:pt>
                <c:pt idx="2">
                  <c:v>08</c:v>
                </c:pt>
                <c:pt idx="3">
                  <c:v>09</c:v>
                </c:pt>
                <c:pt idx="4">
                  <c:v>10</c:v>
                </c:pt>
                <c:pt idx="5">
                  <c:v>11</c:v>
                </c:pt>
                <c:pt idx="6">
                  <c:v>12</c:v>
                </c:pt>
              </c:strCache>
            </c:strRef>
          </c:cat>
          <c:val>
            <c:numRef>
              <c:f>中挖停线!$C$33:$I$33</c:f>
            </c:numRef>
          </c:val>
          <c:extLst>
            <c:ext xmlns:c16="http://schemas.microsoft.com/office/drawing/2014/chart" uri="{C3380CC4-5D6E-409C-BE32-E72D297353CC}">
              <c16:uniqueId val="{00000006-069A-45C9-B667-92B2429C46C8}"/>
            </c:ext>
          </c:extLst>
        </c:ser>
        <c:ser>
          <c:idx val="4"/>
          <c:order val="4"/>
          <c:tx>
            <c:strRef>
              <c:f>中挖停线!$B$34</c:f>
              <c:strCache>
                <c:ptCount val="1"/>
                <c:pt idx="0">
                  <c:v>外购件缺件</c:v>
                </c:pt>
              </c:strCache>
            </c:strRef>
          </c:tx>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中挖停线!$C$29:$I$29</c:f>
              <c:strCache>
                <c:ptCount val="7"/>
                <c:pt idx="0">
                  <c:v>06</c:v>
                </c:pt>
                <c:pt idx="1">
                  <c:v>07</c:v>
                </c:pt>
                <c:pt idx="2">
                  <c:v>08</c:v>
                </c:pt>
                <c:pt idx="3">
                  <c:v>09</c:v>
                </c:pt>
                <c:pt idx="4">
                  <c:v>10</c:v>
                </c:pt>
                <c:pt idx="5">
                  <c:v>11</c:v>
                </c:pt>
                <c:pt idx="6">
                  <c:v>12</c:v>
                </c:pt>
              </c:strCache>
            </c:strRef>
          </c:cat>
          <c:val>
            <c:numRef>
              <c:f>中挖停线!$C$34:$I$34</c:f>
              <c:numCache>
                <c:formatCode>0</c:formatCode>
                <c:ptCount val="7"/>
                <c:pt idx="0">
                  <c:v>139.35000000000099</c:v>
                </c:pt>
                <c:pt idx="1">
                  <c:v>139.35000000000099</c:v>
                </c:pt>
                <c:pt idx="2">
                  <c:v>598.93333333333396</c:v>
                </c:pt>
                <c:pt idx="3">
                  <c:v>339</c:v>
                </c:pt>
                <c:pt idx="4">
                  <c:v>300.66666666666703</c:v>
                </c:pt>
                <c:pt idx="5">
                  <c:v>569</c:v>
                </c:pt>
                <c:pt idx="6">
                  <c:v>552.73333333333699</c:v>
                </c:pt>
              </c:numCache>
            </c:numRef>
          </c:val>
          <c:extLst>
            <c:ext xmlns:c16="http://schemas.microsoft.com/office/drawing/2014/chart" uri="{C3380CC4-5D6E-409C-BE32-E72D297353CC}">
              <c16:uniqueId val="{00000007-069A-45C9-B667-92B2429C46C8}"/>
            </c:ext>
          </c:extLst>
        </c:ser>
        <c:dLbls>
          <c:showLegendKey val="0"/>
          <c:showVal val="0"/>
          <c:showCatName val="0"/>
          <c:showSerName val="0"/>
          <c:showPercent val="0"/>
          <c:showBubbleSize val="0"/>
        </c:dLbls>
        <c:gapWidth val="150"/>
        <c:overlap val="100"/>
        <c:axId val="73660672"/>
        <c:axId val="73281536"/>
      </c:barChart>
      <c:lineChart>
        <c:grouping val="standard"/>
        <c:varyColors val="0"/>
        <c:ser>
          <c:idx val="6"/>
          <c:order val="5"/>
          <c:tx>
            <c:strRef>
              <c:f>中挖停线!$B$36</c:f>
              <c:strCache>
                <c:ptCount val="1"/>
                <c:pt idx="0">
                  <c:v>外购件影响占比</c:v>
                </c:pt>
              </c:strCache>
            </c:strRef>
          </c:tx>
          <c:dLbls>
            <c:dLbl>
              <c:idx val="0"/>
              <c:layout>
                <c:manualLayout>
                  <c:x val="-5.5263157894736903E-2"/>
                  <c:y val="-4.6296296296296502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069A-45C9-B667-92B2429C46C8}"/>
                </c:ext>
              </c:extLst>
            </c:dLbl>
            <c:dLbl>
              <c:idx val="1"/>
              <c:layout>
                <c:manualLayout>
                  <c:x val="-5.5263157894736903E-2"/>
                  <c:y val="-3.70370370370370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069A-45C9-B667-92B2429C46C8}"/>
                </c:ext>
              </c:extLst>
            </c:dLbl>
            <c:dLbl>
              <c:idx val="2"/>
              <c:layout>
                <c:manualLayout>
                  <c:x val="-0.05"/>
                  <c:y val="2.3148148148148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069A-45C9-B667-92B2429C46C8}"/>
                </c:ext>
              </c:extLst>
            </c:dLbl>
            <c:dLbl>
              <c:idx val="3"/>
              <c:layout>
                <c:manualLayout>
                  <c:x val="-3.9473684210526397E-2"/>
                  <c:y val="-3.70370370370370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069A-45C9-B667-92B2429C46C8}"/>
                </c:ext>
              </c:extLst>
            </c:dLbl>
            <c:dLbl>
              <c:idx val="4"/>
              <c:layout>
                <c:manualLayout>
                  <c:x val="-4.7368421052632302E-2"/>
                  <c:y val="3.24074074074076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069A-45C9-B667-92B2429C46C8}"/>
                </c:ext>
              </c:extLst>
            </c:dLbl>
            <c:dLbl>
              <c:idx val="5"/>
              <c:layout>
                <c:manualLayout>
                  <c:x val="-3.1578947368421199E-2"/>
                  <c:y val="-2.3148148148148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D-069A-45C9-B667-92B2429C46C8}"/>
                </c:ext>
              </c:extLst>
            </c:dLbl>
            <c:dLbl>
              <c:idx val="6"/>
              <c:layout>
                <c:manualLayout>
                  <c:x val="-2.36842105263162E-2"/>
                  <c:y val="-4.6296296296296597E-3"/>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E-069A-45C9-B667-92B2429C46C8}"/>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中挖停线!$C$29:$I$29</c:f>
              <c:strCache>
                <c:ptCount val="7"/>
                <c:pt idx="0">
                  <c:v>06</c:v>
                </c:pt>
                <c:pt idx="1">
                  <c:v>07</c:v>
                </c:pt>
                <c:pt idx="2">
                  <c:v>08</c:v>
                </c:pt>
                <c:pt idx="3">
                  <c:v>09</c:v>
                </c:pt>
                <c:pt idx="4">
                  <c:v>10</c:v>
                </c:pt>
                <c:pt idx="5">
                  <c:v>11</c:v>
                </c:pt>
                <c:pt idx="6">
                  <c:v>12</c:v>
                </c:pt>
              </c:strCache>
            </c:strRef>
          </c:cat>
          <c:val>
            <c:numRef>
              <c:f>中挖停线!$C$36:$I$36</c:f>
              <c:numCache>
                <c:formatCode>0%</c:formatCode>
                <c:ptCount val="7"/>
                <c:pt idx="0">
                  <c:v>0.132354669673311</c:v>
                </c:pt>
                <c:pt idx="1">
                  <c:v>0.15724441435341999</c:v>
                </c:pt>
                <c:pt idx="2">
                  <c:v>0.29463224261902599</c:v>
                </c:pt>
                <c:pt idx="3">
                  <c:v>0.22547014515887701</c:v>
                </c:pt>
                <c:pt idx="4">
                  <c:v>0.21383021596377699</c:v>
                </c:pt>
                <c:pt idx="5">
                  <c:v>0.22218678919263701</c:v>
                </c:pt>
                <c:pt idx="6">
                  <c:v>0.29804711020841002</c:v>
                </c:pt>
              </c:numCache>
            </c:numRef>
          </c:val>
          <c:smooth val="1"/>
          <c:extLst>
            <c:ext xmlns:c16="http://schemas.microsoft.com/office/drawing/2014/chart" uri="{C3380CC4-5D6E-409C-BE32-E72D297353CC}">
              <c16:uniqueId val="{0000000F-069A-45C9-B667-92B2429C46C8}"/>
            </c:ext>
          </c:extLst>
        </c:ser>
        <c:dLbls>
          <c:showLegendKey val="1"/>
          <c:showVal val="1"/>
          <c:showCatName val="1"/>
          <c:showSerName val="1"/>
          <c:showPercent val="1"/>
          <c:showBubbleSize val="1"/>
        </c:dLbls>
        <c:marker val="1"/>
        <c:smooth val="0"/>
        <c:axId val="73284608"/>
        <c:axId val="73283072"/>
      </c:lineChart>
      <c:catAx>
        <c:axId val="73660672"/>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3281536"/>
        <c:crosses val="autoZero"/>
        <c:auto val="1"/>
        <c:lblAlgn val="ctr"/>
        <c:lblOffset val="100"/>
        <c:noMultiLvlLbl val="0"/>
      </c:catAx>
      <c:valAx>
        <c:axId val="73281536"/>
        <c:scaling>
          <c:orientation val="minMax"/>
        </c:scaling>
        <c:delete val="0"/>
        <c:axPos val="l"/>
        <c:majorGridlines/>
        <c:numFmt formatCode="0"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3660672"/>
        <c:crosses val="autoZero"/>
        <c:crossBetween val="between"/>
      </c:valAx>
      <c:catAx>
        <c:axId val="73284608"/>
        <c:scaling>
          <c:orientation val="minMax"/>
        </c:scaling>
        <c:delete val="1"/>
        <c:axPos val="b"/>
        <c:numFmt formatCode="General" sourceLinked="1"/>
        <c:majorTickMark val="out"/>
        <c:minorTickMark val="none"/>
        <c:tickLblPos val="nextTo"/>
        <c:crossAx val="73283072"/>
        <c:crosses val="autoZero"/>
        <c:auto val="1"/>
        <c:lblAlgn val="ctr"/>
        <c:lblOffset val="100"/>
        <c:noMultiLvlLbl val="0"/>
      </c:catAx>
      <c:valAx>
        <c:axId val="73283072"/>
        <c:scaling>
          <c:orientation val="minMax"/>
          <c:max val="1"/>
        </c:scaling>
        <c:delete val="0"/>
        <c:axPos val="r"/>
        <c:numFmt formatCode="0%"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3284608"/>
        <c:crosses val="max"/>
        <c:crossBetween val="between"/>
      </c:valAx>
    </c:plotArea>
    <c:legend>
      <c:legendPos val="b"/>
      <c:layout>
        <c:manualLayout>
          <c:xMode val="edge"/>
          <c:yMode val="edge"/>
          <c:x val="2.1404470384516799E-2"/>
          <c:y val="0.82369056694850395"/>
          <c:w val="0.94257199391638502"/>
          <c:h val="0.14433310091982099"/>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a:pPr>
      <a:endParaRPr lang="zh-CN"/>
    </a:p>
  </c:txPr>
  <c:externalData r:id="rId2">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7400208102003"/>
          <c:y val="0.17542020818048201"/>
          <c:w val="0.78600293064261495"/>
          <c:h val="0.54891453160204395"/>
        </c:manualLayout>
      </c:layout>
      <c:barChart>
        <c:barDir val="col"/>
        <c:grouping val="stacked"/>
        <c:varyColors val="0"/>
        <c:ser>
          <c:idx val="0"/>
          <c:order val="0"/>
          <c:tx>
            <c:strRef>
              <c:f>大挖停线数据!$C$16</c:f>
              <c:strCache>
                <c:ptCount val="1"/>
                <c:pt idx="0">
                  <c:v>结构件</c:v>
                </c:pt>
              </c:strCache>
            </c:strRef>
          </c:tx>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大挖停线数据!$B$17:$B$23</c:f>
              <c:strCache>
                <c:ptCount val="7"/>
                <c:pt idx="0">
                  <c:v>06</c:v>
                </c:pt>
                <c:pt idx="1">
                  <c:v>07</c:v>
                </c:pt>
                <c:pt idx="2">
                  <c:v>08</c:v>
                </c:pt>
                <c:pt idx="3">
                  <c:v>09</c:v>
                </c:pt>
                <c:pt idx="4">
                  <c:v>10</c:v>
                </c:pt>
                <c:pt idx="5">
                  <c:v>11</c:v>
                </c:pt>
                <c:pt idx="6">
                  <c:v>12</c:v>
                </c:pt>
              </c:strCache>
            </c:strRef>
          </c:cat>
          <c:val>
            <c:numRef>
              <c:f>大挖停线数据!$C$17:$C$23</c:f>
              <c:numCache>
                <c:formatCode>General</c:formatCode>
                <c:ptCount val="7"/>
                <c:pt idx="1">
                  <c:v>200</c:v>
                </c:pt>
                <c:pt idx="2">
                  <c:v>492</c:v>
                </c:pt>
                <c:pt idx="3">
                  <c:v>1640</c:v>
                </c:pt>
                <c:pt idx="4">
                  <c:v>998</c:v>
                </c:pt>
                <c:pt idx="5">
                  <c:v>2802</c:v>
                </c:pt>
                <c:pt idx="6">
                  <c:v>580</c:v>
                </c:pt>
              </c:numCache>
            </c:numRef>
          </c:val>
          <c:extLst>
            <c:ext xmlns:c16="http://schemas.microsoft.com/office/drawing/2014/chart" uri="{C3380CC4-5D6E-409C-BE32-E72D297353CC}">
              <c16:uniqueId val="{00000000-4AF9-45F0-8168-C13656F5F059}"/>
            </c:ext>
          </c:extLst>
        </c:ser>
        <c:ser>
          <c:idx val="1"/>
          <c:order val="1"/>
          <c:tx>
            <c:strRef>
              <c:f>大挖停线数据!$D$16</c:f>
              <c:strCache>
                <c:ptCount val="1"/>
                <c:pt idx="0">
                  <c:v>外购件</c:v>
                </c:pt>
              </c:strCache>
            </c:strRef>
          </c:tx>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大挖停线数据!$B$17:$B$23</c:f>
              <c:strCache>
                <c:ptCount val="7"/>
                <c:pt idx="0">
                  <c:v>06</c:v>
                </c:pt>
                <c:pt idx="1">
                  <c:v>07</c:v>
                </c:pt>
                <c:pt idx="2">
                  <c:v>08</c:v>
                </c:pt>
                <c:pt idx="3">
                  <c:v>09</c:v>
                </c:pt>
                <c:pt idx="4">
                  <c:v>10</c:v>
                </c:pt>
                <c:pt idx="5">
                  <c:v>11</c:v>
                </c:pt>
                <c:pt idx="6">
                  <c:v>12</c:v>
                </c:pt>
              </c:strCache>
            </c:strRef>
          </c:cat>
          <c:val>
            <c:numRef>
              <c:f>大挖停线数据!$D$17:$D$23</c:f>
              <c:numCache>
                <c:formatCode>General</c:formatCode>
                <c:ptCount val="7"/>
                <c:pt idx="0">
                  <c:v>516</c:v>
                </c:pt>
                <c:pt idx="1">
                  <c:v>828</c:v>
                </c:pt>
                <c:pt idx="2">
                  <c:v>380</c:v>
                </c:pt>
                <c:pt idx="3">
                  <c:v>906</c:v>
                </c:pt>
                <c:pt idx="4">
                  <c:v>1262</c:v>
                </c:pt>
                <c:pt idx="5">
                  <c:v>2447</c:v>
                </c:pt>
                <c:pt idx="6">
                  <c:v>2190</c:v>
                </c:pt>
              </c:numCache>
            </c:numRef>
          </c:val>
          <c:extLst>
            <c:ext xmlns:c16="http://schemas.microsoft.com/office/drawing/2014/chart" uri="{C3380CC4-5D6E-409C-BE32-E72D297353CC}">
              <c16:uniqueId val="{00000001-4AF9-45F0-8168-C13656F5F059}"/>
            </c:ext>
          </c:extLst>
        </c:ser>
        <c:ser>
          <c:idx val="2"/>
          <c:order val="2"/>
          <c:tx>
            <c:strRef>
              <c:f>大挖停线数据!$E$16</c:f>
              <c:strCache>
                <c:ptCount val="1"/>
                <c:pt idx="0">
                  <c:v>产业链公司</c:v>
                </c:pt>
              </c:strCache>
            </c:strRef>
          </c:tx>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2-4AF9-45F0-8168-C13656F5F059}"/>
                </c:ext>
              </c:extLst>
            </c:dLbl>
            <c:dLbl>
              <c:idx val="3"/>
              <c:delete val="1"/>
              <c:extLst>
                <c:ext xmlns:c15="http://schemas.microsoft.com/office/drawing/2012/chart" uri="{CE6537A1-D6FC-4f65-9D91-7224C49458BB}"/>
                <c:ext xmlns:c16="http://schemas.microsoft.com/office/drawing/2014/chart" uri="{C3380CC4-5D6E-409C-BE32-E72D297353CC}">
                  <c16:uniqueId val="{00000003-4AF9-45F0-8168-C13656F5F059}"/>
                </c:ext>
              </c:extLst>
            </c:dLbl>
            <c:dLbl>
              <c:idx val="6"/>
              <c:delete val="1"/>
              <c:extLst>
                <c:ext xmlns:c15="http://schemas.microsoft.com/office/drawing/2012/chart" uri="{CE6537A1-D6FC-4f65-9D91-7224C49458BB}"/>
                <c:ext xmlns:c16="http://schemas.microsoft.com/office/drawing/2014/chart" uri="{C3380CC4-5D6E-409C-BE32-E72D297353CC}">
                  <c16:uniqueId val="{00000004-4AF9-45F0-8168-C13656F5F059}"/>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ct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大挖停线数据!$B$17:$B$23</c:f>
              <c:strCache>
                <c:ptCount val="7"/>
                <c:pt idx="0">
                  <c:v>06</c:v>
                </c:pt>
                <c:pt idx="1">
                  <c:v>07</c:v>
                </c:pt>
                <c:pt idx="2">
                  <c:v>08</c:v>
                </c:pt>
                <c:pt idx="3">
                  <c:v>09</c:v>
                </c:pt>
                <c:pt idx="4">
                  <c:v>10</c:v>
                </c:pt>
                <c:pt idx="5">
                  <c:v>11</c:v>
                </c:pt>
                <c:pt idx="6">
                  <c:v>12</c:v>
                </c:pt>
              </c:strCache>
            </c:strRef>
          </c:cat>
          <c:val>
            <c:numRef>
              <c:f>大挖停线数据!$E$17:$E$23</c:f>
              <c:numCache>
                <c:formatCode>General</c:formatCode>
                <c:ptCount val="7"/>
                <c:pt idx="1">
                  <c:v>42</c:v>
                </c:pt>
                <c:pt idx="3">
                  <c:v>144</c:v>
                </c:pt>
                <c:pt idx="5">
                  <c:v>904.5</c:v>
                </c:pt>
                <c:pt idx="6">
                  <c:v>72</c:v>
                </c:pt>
              </c:numCache>
            </c:numRef>
          </c:val>
          <c:extLst>
            <c:ext xmlns:c16="http://schemas.microsoft.com/office/drawing/2014/chart" uri="{C3380CC4-5D6E-409C-BE32-E72D297353CC}">
              <c16:uniqueId val="{00000005-4AF9-45F0-8168-C13656F5F059}"/>
            </c:ext>
          </c:extLst>
        </c:ser>
        <c:dLbls>
          <c:showLegendKey val="1"/>
          <c:showVal val="1"/>
          <c:showCatName val="1"/>
          <c:showSerName val="1"/>
          <c:showPercent val="1"/>
          <c:showBubbleSize val="1"/>
        </c:dLbls>
        <c:gapWidth val="150"/>
        <c:overlap val="100"/>
        <c:axId val="73330048"/>
        <c:axId val="73680000"/>
      </c:barChart>
      <c:lineChart>
        <c:grouping val="standard"/>
        <c:varyColors val="0"/>
        <c:ser>
          <c:idx val="4"/>
          <c:order val="3"/>
          <c:tx>
            <c:strRef>
              <c:f>大挖停线数据!$G$16</c:f>
              <c:strCache>
                <c:ptCount val="1"/>
                <c:pt idx="0">
                  <c:v>外购件百分比</c:v>
                </c:pt>
              </c:strCache>
            </c:strRef>
          </c:tx>
          <c:marker>
            <c:symbol val="none"/>
          </c:marker>
          <c:dLbls>
            <c:dLbl>
              <c:idx val="0"/>
              <c:layout>
                <c:manualLayout>
                  <c:x val="-4.8268625393494198E-2"/>
                  <c:y val="-4.6189376443418098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4AF9-45F0-8168-C13656F5F059}"/>
                </c:ext>
              </c:extLst>
            </c:dLbl>
            <c:dLbl>
              <c:idx val="1"/>
              <c:layout>
                <c:manualLayout>
                  <c:x val="-3.7775445960126101E-2"/>
                  <c:y val="-6.4665127020785196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7-4AF9-45F0-8168-C13656F5F059}"/>
                </c:ext>
              </c:extLst>
            </c:dLbl>
            <c:dLbl>
              <c:idx val="2"/>
              <c:layout>
                <c:manualLayout>
                  <c:x val="-3.56768100734524E-2"/>
                  <c:y val="-6.0046189376443397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8-4AF9-45F0-8168-C13656F5F059}"/>
                </c:ext>
              </c:extLst>
            </c:dLbl>
            <c:dLbl>
              <c:idx val="3"/>
              <c:layout>
                <c:manualLayout>
                  <c:x val="-3.9874081846799601E-2"/>
                  <c:y val="-0.230946882217091"/>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9-4AF9-45F0-8168-C13656F5F059}"/>
                </c:ext>
              </c:extLst>
            </c:dLbl>
            <c:dLbl>
              <c:idx val="4"/>
              <c:layout>
                <c:manualLayout>
                  <c:x val="-4.40713536201469E-2"/>
                  <c:y val="-0.120092378752887"/>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A-4AF9-45F0-8168-C13656F5F059}"/>
                </c:ext>
              </c:extLst>
            </c:dLbl>
            <c:dLbl>
              <c:idx val="5"/>
              <c:layout>
                <c:manualLayout>
                  <c:x val="-5.2465897166841802E-2"/>
                  <c:y val="-3.69515011547345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B-4AF9-45F0-8168-C13656F5F059}"/>
                </c:ext>
              </c:extLst>
            </c:dLbl>
            <c:dLbl>
              <c:idx val="6"/>
              <c:layout>
                <c:manualLayout>
                  <c:x val="-1.6789087093389402E-2"/>
                  <c:y val="-1.3856812933025301E-2"/>
                </c:manualLayout>
              </c:layout>
              <c:dLblPos val="r"/>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C-4AF9-45F0-8168-C13656F5F059}"/>
                </c:ext>
              </c:extLst>
            </c:dLbl>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endParaRPr lang="zh-CN"/>
              </a:p>
            </c:txPr>
            <c:dLblPos val="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大挖停线数据!$B$17:$B$23</c:f>
              <c:strCache>
                <c:ptCount val="7"/>
                <c:pt idx="0">
                  <c:v>06</c:v>
                </c:pt>
                <c:pt idx="1">
                  <c:v>07</c:v>
                </c:pt>
                <c:pt idx="2">
                  <c:v>08</c:v>
                </c:pt>
                <c:pt idx="3">
                  <c:v>09</c:v>
                </c:pt>
                <c:pt idx="4">
                  <c:v>10</c:v>
                </c:pt>
                <c:pt idx="5">
                  <c:v>11</c:v>
                </c:pt>
                <c:pt idx="6">
                  <c:v>12</c:v>
                </c:pt>
              </c:strCache>
            </c:strRef>
          </c:cat>
          <c:val>
            <c:numRef>
              <c:f>大挖停线数据!$G$17:$G$23</c:f>
              <c:numCache>
                <c:formatCode>0.0%</c:formatCode>
                <c:ptCount val="7"/>
                <c:pt idx="0">
                  <c:v>2.3320979842719001E-3</c:v>
                </c:pt>
                <c:pt idx="1">
                  <c:v>3.7422037422037602E-3</c:v>
                </c:pt>
                <c:pt idx="2">
                  <c:v>1.71743650004521E-3</c:v>
                </c:pt>
                <c:pt idx="3">
                  <c:v>4.0947301816867E-3</c:v>
                </c:pt>
                <c:pt idx="4">
                  <c:v>5.7036970080448796E-3</c:v>
                </c:pt>
                <c:pt idx="5">
                  <c:v>1.10593871463437E-2</c:v>
                </c:pt>
                <c:pt idx="6">
                  <c:v>9.8978577239446901E-3</c:v>
                </c:pt>
              </c:numCache>
            </c:numRef>
          </c:val>
          <c:smooth val="1"/>
          <c:extLst>
            <c:ext xmlns:c16="http://schemas.microsoft.com/office/drawing/2014/chart" uri="{C3380CC4-5D6E-409C-BE32-E72D297353CC}">
              <c16:uniqueId val="{0000000D-4AF9-45F0-8168-C13656F5F059}"/>
            </c:ext>
          </c:extLst>
        </c:ser>
        <c:dLbls>
          <c:showLegendKey val="1"/>
          <c:showVal val="1"/>
          <c:showCatName val="1"/>
          <c:showSerName val="1"/>
          <c:showPercent val="1"/>
          <c:showBubbleSize val="1"/>
        </c:dLbls>
        <c:marker val="1"/>
        <c:smooth val="0"/>
        <c:axId val="73691520"/>
        <c:axId val="73681536"/>
      </c:lineChart>
      <c:catAx>
        <c:axId val="7333004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3680000"/>
        <c:crosses val="autoZero"/>
        <c:auto val="1"/>
        <c:lblAlgn val="ctr"/>
        <c:lblOffset val="100"/>
        <c:noMultiLvlLbl val="0"/>
      </c:catAx>
      <c:valAx>
        <c:axId val="7368000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3330048"/>
        <c:crosses val="autoZero"/>
        <c:crossBetween val="between"/>
      </c:valAx>
      <c:catAx>
        <c:axId val="73691520"/>
        <c:scaling>
          <c:orientation val="minMax"/>
        </c:scaling>
        <c:delete val="1"/>
        <c:axPos val="b"/>
        <c:numFmt formatCode="General" sourceLinked="1"/>
        <c:majorTickMark val="out"/>
        <c:minorTickMark val="none"/>
        <c:tickLblPos val="nextTo"/>
        <c:crossAx val="73681536"/>
        <c:crosses val="autoZero"/>
        <c:auto val="1"/>
        <c:lblAlgn val="ctr"/>
        <c:lblOffset val="100"/>
        <c:noMultiLvlLbl val="0"/>
      </c:catAx>
      <c:valAx>
        <c:axId val="73681536"/>
        <c:scaling>
          <c:orientation val="minMax"/>
          <c:max val="0.03"/>
        </c:scaling>
        <c:delete val="0"/>
        <c:axPos val="r"/>
        <c:numFmt formatCode="0.0%" sourceLinked="1"/>
        <c:majorTickMark val="out"/>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crossAx val="73691520"/>
        <c:crosses val="max"/>
        <c:crossBetween val="between"/>
      </c:valAx>
    </c:plotArea>
    <c:legend>
      <c:legendPos val="b"/>
      <c:layout>
        <c:manualLayout>
          <c:xMode val="edge"/>
          <c:yMode val="edge"/>
          <c:x val="0.111836431918321"/>
          <c:y val="0.82351581422520603"/>
          <c:w val="0.78321091290661005"/>
          <c:h val="9.2761724645851099E-2"/>
        </c:manualLayout>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a:pPr>
      <a:endParaRPr lang="zh-CN"/>
    </a:p>
  </c:txPr>
  <c:externalData r:id="rId2">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013438226154"/>
          <c:y val="7.1543451001309905E-2"/>
          <c:w val="0.85319839114570295"/>
          <c:h val="0.52560192054649102"/>
        </c:manualLayout>
      </c:layout>
      <c:lineChart>
        <c:grouping val="standard"/>
        <c:varyColors val="0"/>
        <c:ser>
          <c:idx val="0"/>
          <c:order val="0"/>
          <c:tx>
            <c:strRef>
              <c:f>Sheet1!$B$1</c:f>
              <c:strCache>
                <c:ptCount val="1"/>
                <c:pt idx="0">
                  <c:v>大挖</c:v>
                </c:pt>
              </c:strCache>
            </c:strRef>
          </c:tx>
          <c:marker>
            <c:symbol val="diamond"/>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84</c:v>
                </c:pt>
                <c:pt idx="1">
                  <c:v>51</c:v>
                </c:pt>
                <c:pt idx="2">
                  <c:v>117</c:v>
                </c:pt>
                <c:pt idx="3">
                  <c:v>113</c:v>
                </c:pt>
                <c:pt idx="4">
                  <c:v>72</c:v>
                </c:pt>
                <c:pt idx="5">
                  <c:v>98</c:v>
                </c:pt>
                <c:pt idx="6">
                  <c:v>73</c:v>
                </c:pt>
                <c:pt idx="7">
                  <c:v>75</c:v>
                </c:pt>
                <c:pt idx="8">
                  <c:v>63</c:v>
                </c:pt>
                <c:pt idx="9">
                  <c:v>74</c:v>
                </c:pt>
                <c:pt idx="10">
                  <c:v>101</c:v>
                </c:pt>
                <c:pt idx="11">
                  <c:v>70</c:v>
                </c:pt>
              </c:numCache>
            </c:numRef>
          </c:val>
          <c:smooth val="1"/>
          <c:extLst>
            <c:ext xmlns:c16="http://schemas.microsoft.com/office/drawing/2014/chart" uri="{C3380CC4-5D6E-409C-BE32-E72D297353CC}">
              <c16:uniqueId val="{00000000-EC8E-439E-82D4-1F6BE9481E07}"/>
            </c:ext>
          </c:extLst>
        </c:ser>
        <c:ser>
          <c:idx val="1"/>
          <c:order val="1"/>
          <c:tx>
            <c:strRef>
              <c:f>Sheet1!$C$1</c:f>
              <c:strCache>
                <c:ptCount val="1"/>
                <c:pt idx="0">
                  <c:v>中挖</c:v>
                </c:pt>
              </c:strCache>
            </c:strRef>
          </c:tx>
          <c:marker>
            <c:symbol val="squar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56</c:v>
                </c:pt>
                <c:pt idx="1">
                  <c:v>31</c:v>
                </c:pt>
                <c:pt idx="2">
                  <c:v>41</c:v>
                </c:pt>
                <c:pt idx="3">
                  <c:v>58</c:v>
                </c:pt>
                <c:pt idx="4">
                  <c:v>47</c:v>
                </c:pt>
                <c:pt idx="5">
                  <c:v>46</c:v>
                </c:pt>
                <c:pt idx="6">
                  <c:v>53</c:v>
                </c:pt>
                <c:pt idx="7">
                  <c:v>47</c:v>
                </c:pt>
                <c:pt idx="8">
                  <c:v>36</c:v>
                </c:pt>
                <c:pt idx="9">
                  <c:v>51</c:v>
                </c:pt>
                <c:pt idx="10">
                  <c:v>43</c:v>
                </c:pt>
                <c:pt idx="11">
                  <c:v>41</c:v>
                </c:pt>
              </c:numCache>
            </c:numRef>
          </c:val>
          <c:smooth val="1"/>
          <c:extLst>
            <c:ext xmlns:c16="http://schemas.microsoft.com/office/drawing/2014/chart" uri="{C3380CC4-5D6E-409C-BE32-E72D297353CC}">
              <c16:uniqueId val="{00000001-EC8E-439E-82D4-1F6BE9481E07}"/>
            </c:ext>
          </c:extLst>
        </c:ser>
        <c:ser>
          <c:idx val="2"/>
          <c:order val="2"/>
          <c:tx>
            <c:strRef>
              <c:f>Sheet1!$D$1</c:f>
              <c:strCache>
                <c:ptCount val="1"/>
                <c:pt idx="0">
                  <c:v>小挖</c:v>
                </c:pt>
              </c:strCache>
            </c:strRef>
          </c:tx>
          <c:marker>
            <c:symbol val="triangl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91</c:v>
                </c:pt>
                <c:pt idx="1">
                  <c:v>29</c:v>
                </c:pt>
                <c:pt idx="2">
                  <c:v>68</c:v>
                </c:pt>
                <c:pt idx="3">
                  <c:v>51</c:v>
                </c:pt>
                <c:pt idx="4">
                  <c:v>54</c:v>
                </c:pt>
                <c:pt idx="5">
                  <c:v>50</c:v>
                </c:pt>
                <c:pt idx="6">
                  <c:v>50</c:v>
                </c:pt>
                <c:pt idx="7">
                  <c:v>40</c:v>
                </c:pt>
                <c:pt idx="8">
                  <c:v>31</c:v>
                </c:pt>
                <c:pt idx="9">
                  <c:v>34</c:v>
                </c:pt>
                <c:pt idx="10">
                  <c:v>41</c:v>
                </c:pt>
                <c:pt idx="11">
                  <c:v>34</c:v>
                </c:pt>
              </c:numCache>
            </c:numRef>
          </c:val>
          <c:smooth val="1"/>
          <c:extLst>
            <c:ext xmlns:c16="http://schemas.microsoft.com/office/drawing/2014/chart" uri="{C3380CC4-5D6E-409C-BE32-E72D297353CC}">
              <c16:uniqueId val="{00000002-EC8E-439E-82D4-1F6BE9481E07}"/>
            </c:ext>
          </c:extLst>
        </c:ser>
        <c:dLbls>
          <c:showLegendKey val="0"/>
          <c:showVal val="0"/>
          <c:showCatName val="0"/>
          <c:showSerName val="0"/>
          <c:showPercent val="0"/>
          <c:showBubbleSize val="0"/>
        </c:dLbls>
        <c:marker val="1"/>
        <c:smooth val="0"/>
        <c:axId val="154258432"/>
        <c:axId val="154268416"/>
      </c:lineChart>
      <c:catAx>
        <c:axId val="154258432"/>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4268416"/>
        <c:crosses val="autoZero"/>
        <c:auto val="1"/>
        <c:lblAlgn val="ctr"/>
        <c:lblOffset val="100"/>
        <c:noMultiLvlLbl val="0"/>
      </c:catAx>
      <c:valAx>
        <c:axId val="154268416"/>
        <c:scaling>
          <c:orientation val="minMax"/>
        </c:scaling>
        <c:delete val="0"/>
        <c:axPos val="l"/>
        <c:majorGridlines>
          <c:spPr>
            <a:ln w="9525" cap="flat" cmpd="sng" algn="ctr">
              <a:solidFill>
                <a:schemeClr val="bg1">
                  <a:lumMod val="85000"/>
                </a:schemeClr>
              </a:solidFill>
              <a:prstDash val="dash"/>
              <a:round/>
            </a:ln>
          </c:spPr>
        </c:majorGridlines>
        <c:numFmt formatCode="#,##0_);[Red]\(#,##0\)" sourceLinked="0"/>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4258432"/>
        <c:crosses val="autoZero"/>
        <c:crossBetween val="between"/>
      </c:valAx>
    </c:plotArea>
    <c:legend>
      <c:legendPos val="b"/>
      <c:overlay val="0"/>
      <c:txPr>
        <a:bodyPr rot="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900">
          <a:latin typeface="微软雅黑" panose="020B0503020204020204" charset="-122"/>
          <a:ea typeface="微软雅黑" panose="020B0503020204020204" charset="-122"/>
        </a:defRPr>
      </a:pPr>
      <a:endParaRPr lang="zh-CN"/>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013438226154"/>
          <c:y val="7.1543451001309905E-2"/>
          <c:w val="0.85319839114570295"/>
          <c:h val="0.57004619390240496"/>
        </c:manualLayout>
      </c:layout>
      <c:lineChart>
        <c:grouping val="standard"/>
        <c:varyColors val="0"/>
        <c:ser>
          <c:idx val="0"/>
          <c:order val="0"/>
          <c:tx>
            <c:strRef>
              <c:f>Sheet1!$B$1</c:f>
              <c:strCache>
                <c:ptCount val="1"/>
                <c:pt idx="0">
                  <c:v>大挖</c:v>
                </c:pt>
              </c:strCache>
            </c:strRef>
          </c:tx>
          <c:marker>
            <c:symbol val="diamond"/>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723</c:v>
                </c:pt>
                <c:pt idx="1">
                  <c:v>944</c:v>
                </c:pt>
                <c:pt idx="2">
                  <c:v>902</c:v>
                </c:pt>
                <c:pt idx="3">
                  <c:v>1168</c:v>
                </c:pt>
                <c:pt idx="4">
                  <c:v>660</c:v>
                </c:pt>
                <c:pt idx="5">
                  <c:v>1138</c:v>
                </c:pt>
                <c:pt idx="6">
                  <c:v>732</c:v>
                </c:pt>
                <c:pt idx="7">
                  <c:v>561</c:v>
                </c:pt>
                <c:pt idx="8">
                  <c:v>830</c:v>
                </c:pt>
                <c:pt idx="9">
                  <c:v>726</c:v>
                </c:pt>
                <c:pt idx="10">
                  <c:v>1262</c:v>
                </c:pt>
                <c:pt idx="11">
                  <c:v>519</c:v>
                </c:pt>
              </c:numCache>
            </c:numRef>
          </c:val>
          <c:smooth val="1"/>
          <c:extLst>
            <c:ext xmlns:c16="http://schemas.microsoft.com/office/drawing/2014/chart" uri="{C3380CC4-5D6E-409C-BE32-E72D297353CC}">
              <c16:uniqueId val="{00000000-AB41-474F-9851-F57378614D8B}"/>
            </c:ext>
          </c:extLst>
        </c:ser>
        <c:ser>
          <c:idx val="1"/>
          <c:order val="1"/>
          <c:tx>
            <c:strRef>
              <c:f>Sheet1!$C$1</c:f>
              <c:strCache>
                <c:ptCount val="1"/>
                <c:pt idx="0">
                  <c:v>中挖</c:v>
                </c:pt>
              </c:strCache>
            </c:strRef>
          </c:tx>
          <c:marker>
            <c:symbol val="squar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633</c:v>
                </c:pt>
                <c:pt idx="1">
                  <c:v>315</c:v>
                </c:pt>
                <c:pt idx="2">
                  <c:v>283</c:v>
                </c:pt>
                <c:pt idx="3">
                  <c:v>793</c:v>
                </c:pt>
                <c:pt idx="4">
                  <c:v>549</c:v>
                </c:pt>
                <c:pt idx="5">
                  <c:v>262</c:v>
                </c:pt>
                <c:pt idx="6">
                  <c:v>256</c:v>
                </c:pt>
                <c:pt idx="7">
                  <c:v>327</c:v>
                </c:pt>
                <c:pt idx="8">
                  <c:v>339</c:v>
                </c:pt>
                <c:pt idx="9">
                  <c:v>335</c:v>
                </c:pt>
                <c:pt idx="10">
                  <c:v>298</c:v>
                </c:pt>
                <c:pt idx="11">
                  <c:v>361</c:v>
                </c:pt>
              </c:numCache>
            </c:numRef>
          </c:val>
          <c:smooth val="1"/>
          <c:extLst>
            <c:ext xmlns:c16="http://schemas.microsoft.com/office/drawing/2014/chart" uri="{C3380CC4-5D6E-409C-BE32-E72D297353CC}">
              <c16:uniqueId val="{00000001-AB41-474F-9851-F57378614D8B}"/>
            </c:ext>
          </c:extLst>
        </c:ser>
        <c:ser>
          <c:idx val="2"/>
          <c:order val="2"/>
          <c:tx>
            <c:strRef>
              <c:f>Sheet1!$D$1</c:f>
              <c:strCache>
                <c:ptCount val="1"/>
                <c:pt idx="0">
                  <c:v>小挖</c:v>
                </c:pt>
              </c:strCache>
            </c:strRef>
          </c:tx>
          <c:marker>
            <c:symbol val="triangle"/>
            <c:size val="5"/>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Sheet1!$D$2:$D$13</c:f>
              <c:numCache>
                <c:formatCode>General</c:formatCode>
                <c:ptCount val="12"/>
                <c:pt idx="0">
                  <c:v>1448</c:v>
                </c:pt>
                <c:pt idx="1">
                  <c:v>333</c:v>
                </c:pt>
                <c:pt idx="2">
                  <c:v>628</c:v>
                </c:pt>
                <c:pt idx="3">
                  <c:v>619</c:v>
                </c:pt>
                <c:pt idx="4">
                  <c:v>398</c:v>
                </c:pt>
                <c:pt idx="5">
                  <c:v>502</c:v>
                </c:pt>
                <c:pt idx="6">
                  <c:v>490</c:v>
                </c:pt>
                <c:pt idx="7">
                  <c:v>371</c:v>
                </c:pt>
                <c:pt idx="8">
                  <c:v>171</c:v>
                </c:pt>
                <c:pt idx="9">
                  <c:v>438</c:v>
                </c:pt>
                <c:pt idx="10">
                  <c:v>250</c:v>
                </c:pt>
                <c:pt idx="11">
                  <c:v>189</c:v>
                </c:pt>
              </c:numCache>
            </c:numRef>
          </c:val>
          <c:smooth val="1"/>
          <c:extLst>
            <c:ext xmlns:c16="http://schemas.microsoft.com/office/drawing/2014/chart" uri="{C3380CC4-5D6E-409C-BE32-E72D297353CC}">
              <c16:uniqueId val="{00000002-AB41-474F-9851-F57378614D8B}"/>
            </c:ext>
          </c:extLst>
        </c:ser>
        <c:dLbls>
          <c:showLegendKey val="0"/>
          <c:showVal val="0"/>
          <c:showCatName val="0"/>
          <c:showSerName val="0"/>
          <c:showPercent val="0"/>
          <c:showBubbleSize val="0"/>
        </c:dLbls>
        <c:marker val="1"/>
        <c:smooth val="0"/>
        <c:axId val="154360832"/>
        <c:axId val="154362624"/>
      </c:lineChart>
      <c:catAx>
        <c:axId val="154360832"/>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4362624"/>
        <c:crosses val="autoZero"/>
        <c:auto val="1"/>
        <c:lblAlgn val="ctr"/>
        <c:lblOffset val="100"/>
        <c:noMultiLvlLbl val="0"/>
      </c:catAx>
      <c:valAx>
        <c:axId val="154362624"/>
        <c:scaling>
          <c:orientation val="minMax"/>
        </c:scaling>
        <c:delete val="0"/>
        <c:axPos val="l"/>
        <c:majorGridlines>
          <c:spPr>
            <a:ln w="9525" cap="flat" cmpd="sng" algn="ctr">
              <a:solidFill>
                <a:schemeClr val="bg1">
                  <a:lumMod val="85000"/>
                </a:schemeClr>
              </a:solidFill>
              <a:prstDash val="dash"/>
              <a:round/>
            </a:ln>
          </c:spPr>
        </c:majorGridlines>
        <c:numFmt formatCode="#,##0_);[Red]\(#,##0\)" sourceLinked="0"/>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crossAx val="154360832"/>
        <c:crosses val="autoZero"/>
        <c:crossBetween val="between"/>
      </c:valAx>
    </c:plotArea>
    <c:legend>
      <c:legendPos val="b"/>
      <c:overlay val="0"/>
      <c:txPr>
        <a:bodyPr rot="0" spcFirstLastPara="0" vertOverflow="ellipsis" vert="horz" wrap="square" anchor="ctr" anchorCtr="1"/>
        <a:lstStyle/>
        <a:p>
          <a:pPr>
            <a:defRPr lang="zh-CN" sz="900" b="0" i="0" u="none" strike="noStrike" kern="1200" baseline="0">
              <a:solidFill>
                <a:schemeClr val="tx1"/>
              </a:solidFill>
              <a:latin typeface="微软雅黑" panose="020B0503020204020204" charset="-122"/>
              <a:ea typeface="微软雅黑" panose="020B0503020204020204" charset="-122"/>
              <a:cs typeface="+mn-cs"/>
            </a:defRPr>
          </a:pPr>
          <a:endParaRPr lang="zh-CN"/>
        </a:p>
      </c:txPr>
    </c:legend>
    <c:plotVisOnly val="1"/>
    <c:dispBlanksAs val="gap"/>
    <c:showDLblsOverMax val="0"/>
  </c:chart>
  <c:txPr>
    <a:bodyPr/>
    <a:lstStyle/>
    <a:p>
      <a:pPr>
        <a:defRPr lang="zh-CN" sz="900">
          <a:latin typeface="微软雅黑" panose="020B0503020204020204" charset="-122"/>
          <a:ea typeface="微软雅黑" panose="020B0503020204020204" charset="-122"/>
        </a:defRPr>
      </a:pPr>
      <a:endParaRPr lang="zh-CN"/>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748" cy="540857"/>
          </a:xfrm>
          <a:prstGeom prst="rect">
            <a:avLst/>
          </a:prstGeom>
        </p:spPr>
        <p:txBody>
          <a:bodyPr vert="horz" lIns="91440" tIns="45720" rIns="91440" bIns="45720" rtlCol="0"/>
          <a:lstStyle>
            <a:lvl1pPr algn="l">
              <a:defRPr sz="1180"/>
            </a:lvl1pPr>
          </a:lstStyle>
          <a:p>
            <a:endParaRPr lang="zh-CN" altLang="en-US"/>
          </a:p>
        </p:txBody>
      </p:sp>
      <p:sp>
        <p:nvSpPr>
          <p:cNvPr id="3" name="日期占位符 2"/>
          <p:cNvSpPr>
            <a:spLocks noGrp="1"/>
          </p:cNvSpPr>
          <p:nvPr>
            <p:ph type="dt" sz="quarter" idx="1"/>
          </p:nvPr>
        </p:nvSpPr>
        <p:spPr>
          <a:xfrm>
            <a:off x="3816573" y="0"/>
            <a:ext cx="2919748" cy="540857"/>
          </a:xfrm>
          <a:prstGeom prst="rect">
            <a:avLst/>
          </a:prstGeom>
        </p:spPr>
        <p:txBody>
          <a:bodyPr vert="horz" lIns="91440" tIns="45720" rIns="91440" bIns="45720" rtlCol="0"/>
          <a:lstStyle>
            <a:lvl1pPr algn="r">
              <a:defRPr sz="1180"/>
            </a:lvl1pPr>
          </a:lstStyle>
          <a:p>
            <a:fld id="{0F9B84EA-7D68-4D60-9CB1-D50884785D1C}" type="datetimeFigureOut">
              <a:rPr lang="zh-CN" altLang="en-US" smtClean="0"/>
              <a:t>2024/10/22</a:t>
            </a:fld>
            <a:endParaRPr lang="zh-CN" altLang="en-US"/>
          </a:p>
        </p:txBody>
      </p:sp>
      <p:sp>
        <p:nvSpPr>
          <p:cNvPr id="4" name="页脚占位符 3"/>
          <p:cNvSpPr>
            <a:spLocks noGrp="1"/>
          </p:cNvSpPr>
          <p:nvPr>
            <p:ph type="ftr" sz="quarter" idx="2"/>
          </p:nvPr>
        </p:nvSpPr>
        <p:spPr>
          <a:xfrm>
            <a:off x="0" y="10238852"/>
            <a:ext cx="2919748" cy="540856"/>
          </a:xfrm>
          <a:prstGeom prst="rect">
            <a:avLst/>
          </a:prstGeom>
        </p:spPr>
        <p:txBody>
          <a:bodyPr vert="horz" lIns="91440" tIns="45720" rIns="91440" bIns="45720" rtlCol="0" anchor="b"/>
          <a:lstStyle>
            <a:lvl1pPr algn="l">
              <a:defRPr sz="1180"/>
            </a:lvl1pPr>
          </a:lstStyle>
          <a:p>
            <a:endParaRPr lang="zh-CN" altLang="en-US"/>
          </a:p>
        </p:txBody>
      </p:sp>
      <p:sp>
        <p:nvSpPr>
          <p:cNvPr id="5" name="灯片编号占位符 4"/>
          <p:cNvSpPr>
            <a:spLocks noGrp="1"/>
          </p:cNvSpPr>
          <p:nvPr>
            <p:ph type="sldNum" sz="quarter" idx="3"/>
          </p:nvPr>
        </p:nvSpPr>
        <p:spPr>
          <a:xfrm>
            <a:off x="3816573" y="10238852"/>
            <a:ext cx="2919748" cy="540856"/>
          </a:xfrm>
          <a:prstGeom prst="rect">
            <a:avLst/>
          </a:prstGeom>
        </p:spPr>
        <p:txBody>
          <a:bodyPr vert="horz" lIns="91440" tIns="45720" rIns="91440" bIns="45720" rtlCol="0" anchor="b"/>
          <a:lstStyle>
            <a:lvl1pPr algn="r">
              <a:defRPr sz="118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2AEFB4EB-833B-4504-A558-8326AB5A5370}" type="datetimeFigureOut">
              <a:rPr lang="zh-CN" altLang="en-US" smtClean="0"/>
              <a:t>2024/10/22</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5BD0E575-3360-45A5-9E06-27E523D9847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ln>
        </p:spPr>
      </p:sp>
      <p:sp>
        <p:nvSpPr>
          <p:cNvPr id="6147" name="备注占位符 2"/>
          <p:cNvSpPr>
            <a:spLocks noGrp="1"/>
          </p:cNvSpPr>
          <p:nvPr>
            <p:ph type="body" idx="1"/>
          </p:nvPr>
        </p:nvSpPr>
        <p:spPr bwMode="auto">
          <a:noFill/>
        </p:spPr>
        <p:txBody>
          <a:bodyPr wrap="square" numCol="1" anchor="t" anchorCtr="0" compatLnSpc="1"/>
          <a:lstStyle/>
          <a:p>
            <a:pPr eaLnBrk="1" hangingPunct="1">
              <a:spcBef>
                <a:spcPct val="0"/>
              </a:spcBef>
              <a:buFontTx/>
              <a:buChar char="-"/>
            </a:pPr>
            <a:endParaRPr lang="en-US" altLang="zh-CN"/>
          </a:p>
        </p:txBody>
      </p:sp>
      <p:sp>
        <p:nvSpPr>
          <p:cNvPr id="6148"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2EEDE262-0F55-4A91-B2CB-13E2AB02A55F}" type="slidenum">
              <a:rPr lang="zh-CN" altLang="en-US" smtClean="0"/>
              <a:t>8</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15</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16</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B148DFA-FA1D-49C6-9FE4-90BF046AFAC7}" type="slidenum">
              <a:rPr lang="zh-CN" altLang="en-US" smtClean="0"/>
              <a:t>17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22</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23</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24</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26</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27</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D0E575-3360-45A5-9E06-27E523D98479}" type="slidenum">
              <a:rPr lang="zh-CN" altLang="en-US" smtClean="0"/>
              <a:t>28</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33</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BD0E575-3360-45A5-9E06-27E523D98479}" type="slidenum">
              <a:rPr lang="zh-CN" altLang="en-US" smtClean="0"/>
              <a:t>34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总体核心指标：销售预测准确率、订单交期、生产计划准确率、库存周转率</a:t>
            </a:r>
          </a:p>
        </p:txBody>
      </p:sp>
      <p:sp>
        <p:nvSpPr>
          <p:cNvPr id="4" name="灯片编号占位符 3"/>
          <p:cNvSpPr>
            <a:spLocks noGrp="1"/>
          </p:cNvSpPr>
          <p:nvPr>
            <p:ph type="sldNum" sz="quarter" idx="10"/>
          </p:nvPr>
        </p:nvSpPr>
        <p:spPr/>
        <p:txBody>
          <a:bodyPr/>
          <a:lstStyle/>
          <a:p>
            <a:fld id="{5BD0E575-3360-45A5-9E06-27E523D98479}" type="slidenum">
              <a:rPr lang="zh-CN" altLang="en-US" smtClean="0"/>
              <a:t>35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57</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FontTx/>
              <a:buChar char="-"/>
            </a:pPr>
            <a:endParaRPr lang="en-US" altLang="zh-CN" dirty="0"/>
          </a:p>
        </p:txBody>
      </p:sp>
      <p:sp>
        <p:nvSpPr>
          <p:cNvPr id="4" name="灯片编号占位符 3"/>
          <p:cNvSpPr>
            <a:spLocks noGrp="1"/>
          </p:cNvSpPr>
          <p:nvPr>
            <p:ph type="sldNum" sz="quarter" idx="10"/>
          </p:nvPr>
        </p:nvSpPr>
        <p:spPr/>
        <p:txBody>
          <a:bodyPr/>
          <a:lstStyle/>
          <a:p>
            <a:fld id="{5BD0E575-3360-45A5-9E06-27E523D98479}" type="slidenum">
              <a:rPr lang="zh-CN" altLang="en-US" smtClean="0"/>
              <a:t>62</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FontTx/>
              <a:buChar char="-"/>
            </a:pPr>
            <a:endParaRPr lang="en-US" altLang="zh-CN" dirty="0"/>
          </a:p>
        </p:txBody>
      </p:sp>
      <p:sp>
        <p:nvSpPr>
          <p:cNvPr id="4" name="灯片编号占位符 3"/>
          <p:cNvSpPr>
            <a:spLocks noGrp="1"/>
          </p:cNvSpPr>
          <p:nvPr>
            <p:ph type="sldNum" sz="quarter" idx="10"/>
          </p:nvPr>
        </p:nvSpPr>
        <p:spPr/>
        <p:txBody>
          <a:bodyPr/>
          <a:lstStyle/>
          <a:p>
            <a:fld id="{5BD0E575-3360-45A5-9E06-27E523D98479}" type="slidenum">
              <a:rPr lang="zh-CN" altLang="en-US" smtClean="0"/>
              <a:t>63</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例外采购计划过长；对下线结算的供应商对账流程比较繁杂；新产品涉及到的下线结算问题</a:t>
            </a:r>
            <a:endParaRPr lang="en-US" dirty="0"/>
          </a:p>
        </p:txBody>
      </p:sp>
      <p:sp>
        <p:nvSpPr>
          <p:cNvPr id="4" name="Slide Number Placeholder 3"/>
          <p:cNvSpPr>
            <a:spLocks noGrp="1"/>
          </p:cNvSpPr>
          <p:nvPr>
            <p:ph type="sldNum" sz="quarter" idx="10"/>
          </p:nvPr>
        </p:nvSpPr>
        <p:spPr/>
        <p:txBody>
          <a:bodyPr/>
          <a:lstStyle/>
          <a:p>
            <a:fld id="{5BD0E575-3360-45A5-9E06-27E523D98479}" type="slidenum">
              <a:rPr lang="zh-CN" altLang="en-US" smtClean="0"/>
              <a:t>75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85</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3F96173-F6F8-4AC5-BD73-17895AD1836D}" type="slidenum">
              <a:rPr lang="zh-CN" altLang="en-US" smtClean="0"/>
              <a:t>116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68610" name="Rectangle 2"/>
          <p:cNvSpPr>
            <a:spLocks noGrp="1" noChangeArrowheads="1"/>
          </p:cNvSpPr>
          <p:nvPr>
            <p:ph type="ctrTitle"/>
          </p:nvPr>
        </p:nvSpPr>
        <p:spPr>
          <a:xfrm>
            <a:off x="162000" y="1327149"/>
            <a:ext cx="8820000" cy="1187451"/>
          </a:xfrm>
        </p:spPr>
        <p:txBody>
          <a:bodyPr anchor="b"/>
          <a:lstStyle>
            <a:lvl1pPr algn="ctr">
              <a:defRPr sz="3200">
                <a:solidFill>
                  <a:schemeClr val="tx1"/>
                </a:solidFill>
              </a:defRPr>
            </a:lvl1pPr>
          </a:lstStyle>
          <a:p>
            <a:r>
              <a:rPr lang="en-US" altLang="zh-CN" dirty="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IBM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solidFill>
                  <a:srgbClr val="0066FF"/>
                </a:solidFill>
              </a:defRPr>
            </a:lvl1pPr>
          </a:lstStyle>
          <a:p>
            <a:r>
              <a:rPr lang="zh-CN" altLang="en-US" dirty="0"/>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82563" y="1412776"/>
            <a:ext cx="8686800" cy="4941987"/>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2"/>
          <p:cNvSpPr>
            <a:spLocks noGrp="1" noChangeArrowheads="1"/>
          </p:cNvSpPr>
          <p:nvPr>
            <p:ph type="title"/>
          </p:nvPr>
        </p:nvSpPr>
        <p:spPr bwMode="auto">
          <a:xfrm>
            <a:off x="182563" y="596801"/>
            <a:ext cx="8686800" cy="815975"/>
          </a:xfrm>
          <a:prstGeom prst="rect">
            <a:avLst/>
          </a:prstGeom>
          <a:noFill/>
          <a:ln w="9525">
            <a:noFill/>
            <a:miter lim="800000"/>
          </a:ln>
        </p:spPr>
        <p:txBody>
          <a:bodyPr vert="horz" wrap="square" lIns="91440" tIns="45720" rIns="91440" bIns="45720" numCol="1" anchor="t" anchorCtr="0" compatLnSpc="1"/>
          <a:lstStyle>
            <a:lvl1pPr>
              <a:defRPr lang="en-US" altLang="zh-CN" dirty="0" smtClean="0"/>
            </a:lvl1pPr>
          </a:lstStyle>
          <a:p>
            <a:pPr lvl="0"/>
            <a:r>
              <a:rPr lang="zh-CN" altLang="en-US" dirty="0"/>
              <a:t>单击此处编辑母版标题样式</a:t>
            </a:r>
            <a:endParaRPr lang="en-US" altLang="zh-CN" dirty="0"/>
          </a:p>
        </p:txBody>
      </p:sp>
      <p:sp>
        <p:nvSpPr>
          <p:cNvPr id="4" name="灯片编号占位符 3"/>
          <p:cNvSpPr>
            <a:spLocks noGrp="1"/>
          </p:cNvSpPr>
          <p:nvPr>
            <p:ph type="sldNum" sz="quarter" idx="10"/>
          </p:nvPr>
        </p:nvSpPr>
        <p:spPr>
          <a:xfrm>
            <a:off x="182563" y="6537325"/>
            <a:ext cx="366712" cy="184150"/>
          </a:xfrm>
          <a:prstGeom prst="rect">
            <a:avLst/>
          </a:prstGeom>
        </p:spPr>
        <p:txBody>
          <a:bodyPr/>
          <a:lstStyle>
            <a:lvl1pPr fontAlgn="auto">
              <a:spcBef>
                <a:spcPts val="0"/>
              </a:spcBef>
              <a:spcAft>
                <a:spcPts val="0"/>
              </a:spcAft>
              <a:defRPr>
                <a:latin typeface="微软雅黑" panose="020B0503020204020204" charset="-122"/>
                <a:ea typeface="微软雅黑" panose="020B0503020204020204" charset="-122"/>
              </a:defRPr>
            </a:lvl1pPr>
          </a:lstStyle>
          <a:p>
            <a:pPr>
              <a:defRPr/>
            </a:pPr>
            <a:fld id="{0E060A9D-C617-4264-AA54-60FDE493C726}" type="slidenum">
              <a:rPr lang="en-US" altLang="zh-CN"/>
              <a:t>‹#›</a:t>
            </a:fld>
            <a:endParaRPr lang="en-US" altLang="zh-CN"/>
          </a:p>
        </p:txBody>
      </p:sp>
      <p:sp>
        <p:nvSpPr>
          <p:cNvPr id="5" name="Rectangle 7"/>
          <p:cNvSpPr>
            <a:spLocks noGrp="1" noChangeArrowheads="1"/>
          </p:cNvSpPr>
          <p:nvPr>
            <p:ph type="ftr" sz="quarter" idx="3"/>
          </p:nvPr>
        </p:nvSpPr>
        <p:spPr bwMode="auto">
          <a:xfrm>
            <a:off x="1554163" y="6537325"/>
            <a:ext cx="5943600" cy="184150"/>
          </a:xfrm>
          <a:prstGeom prst="rect">
            <a:avLst/>
          </a:prstGeom>
          <a:noFill/>
          <a:ln w="9525">
            <a:noFill/>
            <a:miter lim="800000"/>
          </a:ln>
          <a:effectLst/>
        </p:spPr>
        <p:txBody>
          <a:bodyPr vert="horz" wrap="square" lIns="92075" tIns="46038" rIns="92075" bIns="46038" numCol="1" anchor="t" anchorCtr="0" compatLnSpc="1"/>
          <a:lstStyle>
            <a:lvl1pPr>
              <a:defRPr sz="800">
                <a:latin typeface="微软雅黑" panose="020B0503020204020204" charset="-122"/>
                <a:ea typeface="微软雅黑" panose="020B0503020204020204" charset="-122"/>
                <a:cs typeface="Arial" panose="020B0604020202020204" pitchFamily="34" charset="0"/>
              </a:defRPr>
            </a:lvl1pPr>
          </a:lstStyle>
          <a:p>
            <a:pPr>
              <a:defRPr/>
            </a:pPr>
            <a:endParaRPr lang="en-US" altLang="zh-CN" dirty="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68610" name="Rectangle 2"/>
          <p:cNvSpPr>
            <a:spLocks noGrp="1" noChangeArrowheads="1"/>
          </p:cNvSpPr>
          <p:nvPr>
            <p:ph type="ctrTitle"/>
          </p:nvPr>
        </p:nvSpPr>
        <p:spPr>
          <a:xfrm>
            <a:off x="162000" y="1327149"/>
            <a:ext cx="8820000" cy="1187451"/>
          </a:xfrm>
        </p:spPr>
        <p:txBody>
          <a:bodyPr anchor="b"/>
          <a:lstStyle>
            <a:lvl1pPr algn="ctr">
              <a:defRPr sz="3200">
                <a:solidFill>
                  <a:schemeClr val="tx1"/>
                </a:solidFill>
              </a:defRPr>
            </a:lvl1pPr>
          </a:lstStyle>
          <a:p>
            <a:r>
              <a:rPr lang="en-US" altLang="zh-CN" dirty="0"/>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IBM仅标题">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82563" y="1412776"/>
            <a:ext cx="8686800" cy="4941987"/>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2"/>
          <p:cNvSpPr>
            <a:spLocks noGrp="1" noChangeArrowheads="1"/>
          </p:cNvSpPr>
          <p:nvPr>
            <p:ph type="title"/>
          </p:nvPr>
        </p:nvSpPr>
        <p:spPr bwMode="auto">
          <a:xfrm>
            <a:off x="182563" y="596801"/>
            <a:ext cx="8686800" cy="815975"/>
          </a:xfrm>
          <a:prstGeom prst="rect">
            <a:avLst/>
          </a:prstGeom>
          <a:noFill/>
          <a:ln w="9525">
            <a:noFill/>
            <a:miter lim="800000"/>
          </a:ln>
        </p:spPr>
        <p:txBody>
          <a:bodyPr vert="horz" wrap="square" lIns="91440" tIns="45720" rIns="91440" bIns="45720" numCol="1" anchor="t" anchorCtr="0" compatLnSpc="1"/>
          <a:lstStyle>
            <a:lvl1pPr>
              <a:defRPr lang="en-US" altLang="zh-CN" dirty="0" smtClean="0"/>
            </a:lvl1pPr>
          </a:lstStyle>
          <a:p>
            <a:pPr lvl="0"/>
            <a:r>
              <a:rPr lang="zh-CN" altLang="en-US" dirty="0"/>
              <a:t>单击此处编辑母版标题样式</a:t>
            </a:r>
            <a:endParaRPr lang="en-US" altLang="zh-CN" dirty="0"/>
          </a:p>
        </p:txBody>
      </p:sp>
      <p:sp>
        <p:nvSpPr>
          <p:cNvPr id="4" name="灯片编号占位符 3"/>
          <p:cNvSpPr>
            <a:spLocks noGrp="1"/>
          </p:cNvSpPr>
          <p:nvPr>
            <p:ph type="sldNum" sz="quarter" idx="10"/>
          </p:nvPr>
        </p:nvSpPr>
        <p:spPr>
          <a:xfrm>
            <a:off x="182563" y="6537325"/>
            <a:ext cx="366712" cy="184150"/>
          </a:xfrm>
          <a:prstGeom prst="rect">
            <a:avLst/>
          </a:prstGeom>
        </p:spPr>
        <p:txBody>
          <a:bodyPr/>
          <a:lstStyle>
            <a:lvl1pPr fontAlgn="auto">
              <a:spcBef>
                <a:spcPts val="0"/>
              </a:spcBef>
              <a:spcAft>
                <a:spcPts val="0"/>
              </a:spcAft>
              <a:defRPr>
                <a:latin typeface="微软雅黑" panose="020B0503020204020204" charset="-122"/>
                <a:ea typeface="微软雅黑" panose="020B0503020204020204" charset="-122"/>
              </a:defRPr>
            </a:lvl1pPr>
          </a:lstStyle>
          <a:p>
            <a:pPr>
              <a:defRPr/>
            </a:pPr>
            <a:fld id="{0E060A9D-C617-4264-AA54-60FDE493C726}" type="slidenum">
              <a:rPr lang="en-US" altLang="zh-CN"/>
              <a:t>‹#›</a:t>
            </a:fld>
            <a:endParaRPr lang="en-US" altLang="zh-CN"/>
          </a:p>
        </p:txBody>
      </p:sp>
      <p:sp>
        <p:nvSpPr>
          <p:cNvPr id="5" name="Rectangle 7"/>
          <p:cNvSpPr>
            <a:spLocks noGrp="1" noChangeArrowheads="1"/>
          </p:cNvSpPr>
          <p:nvPr>
            <p:ph type="ftr" sz="quarter" idx="3"/>
          </p:nvPr>
        </p:nvSpPr>
        <p:spPr bwMode="auto">
          <a:xfrm>
            <a:off x="1554163" y="6537325"/>
            <a:ext cx="5943600" cy="184150"/>
          </a:xfrm>
          <a:prstGeom prst="rect">
            <a:avLst/>
          </a:prstGeom>
          <a:noFill/>
          <a:ln w="9525">
            <a:noFill/>
            <a:miter lim="800000"/>
          </a:ln>
          <a:effectLst/>
        </p:spPr>
        <p:txBody>
          <a:bodyPr vert="horz" wrap="square" lIns="92075" tIns="46038" rIns="92075" bIns="46038" numCol="1" anchor="t" anchorCtr="0" compatLnSpc="1"/>
          <a:lstStyle>
            <a:lvl1pPr>
              <a:defRPr sz="800">
                <a:latin typeface="微软雅黑" panose="020B0503020204020204" charset="-122"/>
                <a:ea typeface="微软雅黑" panose="020B0503020204020204" charset="-122"/>
                <a:cs typeface="Arial" panose="020B0604020202020204" pitchFamily="34" charset="0"/>
              </a:defRPr>
            </a:lvl1pPr>
          </a:lstStyle>
          <a:p>
            <a:pPr>
              <a:defRPr/>
            </a:pPr>
            <a:endParaRPr lang="en-US" altLang="zh-CN" dirty="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162000" y="1439863"/>
            <a:ext cx="8820000" cy="4864100"/>
          </a:xfrm>
          <a:prstGeom prst="rect">
            <a:avLst/>
          </a:prstGeom>
          <a:noFill/>
          <a:ln w="9525">
            <a:noFill/>
            <a:miter lim="800000"/>
          </a:ln>
        </p:spPr>
        <p:txBody>
          <a:bodyPr vert="horz" wrap="square" lIns="91440" tIns="45720" rIns="91440" bIns="45720" numCol="1" anchor="t" anchorCtr="0" compatLnSpc="1"/>
          <a:lstStyle/>
          <a:p>
            <a:pPr lvl="0"/>
            <a:r>
              <a:rPr lang="en-US" altLang="zh-CN" dirty="0"/>
              <a:t>Click to edit Master text styles</a:t>
            </a:r>
          </a:p>
          <a:p>
            <a:pPr lvl="1"/>
            <a:r>
              <a:rPr lang="en-US" altLang="zh-CN" dirty="0"/>
              <a:t>Second level</a:t>
            </a:r>
          </a:p>
          <a:p>
            <a:pPr lvl="2"/>
            <a:r>
              <a:rPr lang="en-US" altLang="zh-CN" dirty="0"/>
              <a:t>Third level</a:t>
            </a:r>
          </a:p>
        </p:txBody>
      </p:sp>
      <p:sp>
        <p:nvSpPr>
          <p:cNvPr id="1028" name="Rectangle 6"/>
          <p:cNvSpPr>
            <a:spLocks noChangeArrowheads="1"/>
          </p:cNvSpPr>
          <p:nvPr/>
        </p:nvSpPr>
        <p:spPr bwMode="black">
          <a:xfrm>
            <a:off x="7589838" y="6552971"/>
            <a:ext cx="1371600" cy="184150"/>
          </a:xfrm>
          <a:prstGeom prst="rect">
            <a:avLst/>
          </a:prstGeom>
          <a:noFill/>
          <a:ln w="9525">
            <a:noFill/>
            <a:miter lim="800000"/>
          </a:ln>
        </p:spPr>
        <p:txBody>
          <a:bodyPr lIns="92075" tIns="46038" rIns="92075" bIns="46038"/>
          <a:lstStyle/>
          <a:p>
            <a:pPr algn="r"/>
            <a:r>
              <a:rPr lang="en-US" altLang="zh-CN" sz="800" b="0" dirty="0">
                <a:solidFill>
                  <a:schemeClr val="tx1"/>
                </a:solidFill>
                <a:latin typeface="微软雅黑" panose="020B0503020204020204" charset="-122"/>
                <a:ea typeface="微软雅黑" panose="020B0503020204020204" charset="-122"/>
              </a:rPr>
              <a:t>© x</a:t>
            </a:r>
            <a:endParaRPr lang="en-US" altLang="zh-CN" sz="1800" b="0" dirty="0">
              <a:solidFill>
                <a:schemeClr val="tx1"/>
              </a:solidFill>
              <a:latin typeface="微软雅黑" panose="020B0503020204020204" charset="-122"/>
              <a:ea typeface="微软雅黑" panose="020B0503020204020204" charset="-122"/>
            </a:endParaRPr>
          </a:p>
        </p:txBody>
      </p:sp>
      <p:sp>
        <p:nvSpPr>
          <p:cNvPr id="1033" name="Rectangle 13"/>
          <p:cNvSpPr>
            <a:spLocks noGrp="1" noChangeArrowheads="1"/>
          </p:cNvSpPr>
          <p:nvPr>
            <p:ph type="title"/>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p>
            <a:pPr lvl="0"/>
            <a:r>
              <a:rPr lang="en-US" altLang="zh-CN" dirty="0"/>
              <a:t>Click to edit Master title style</a:t>
            </a:r>
          </a:p>
        </p:txBody>
      </p:sp>
      <p:sp>
        <p:nvSpPr>
          <p:cNvPr id="9" name="Rectangle 9"/>
          <p:cNvSpPr>
            <a:spLocks noChangeArrowheads="1"/>
          </p:cNvSpPr>
          <p:nvPr userDrawn="1"/>
        </p:nvSpPr>
        <p:spPr bwMode="auto">
          <a:xfrm>
            <a:off x="177968" y="6521677"/>
            <a:ext cx="642937" cy="215444"/>
          </a:xfrm>
          <a:prstGeom prst="rect">
            <a:avLst/>
          </a:prstGeom>
          <a:noFill/>
          <a:ln w="9525">
            <a:noFill/>
            <a:miter lim="800000"/>
          </a:ln>
        </p:spPr>
        <p:txBody>
          <a:bodyPr anchor="ctr">
            <a:spAutoFit/>
          </a:bodyPr>
          <a:lstStyle/>
          <a:p>
            <a:pPr algn="l" eaLnBrk="0" hangingPunct="0">
              <a:spcBef>
                <a:spcPct val="50000"/>
              </a:spcBef>
              <a:buClr>
                <a:schemeClr val="accent2"/>
              </a:buClr>
              <a:buSzPct val="60000"/>
              <a:buFont typeface="Wingdings" panose="05000000000000000000" pitchFamily="2" charset="2"/>
              <a:buNone/>
            </a:pPr>
            <a:fld id="{D7625ADF-08DA-43B5-B507-544508C6BF28}" type="slidenum">
              <a:rPr lang="de-DE" altLang="zh-CN" sz="800" b="0">
                <a:solidFill>
                  <a:schemeClr val="tx1"/>
                </a:solidFill>
                <a:latin typeface="微软雅黑" panose="020B0503020204020204" charset="-122"/>
                <a:ea typeface="微软雅黑" panose="020B0503020204020204" charset="-122"/>
              </a:rPr>
              <a:t>‹#›</a:t>
            </a:fld>
            <a:endParaRPr lang="zh-CN" altLang="en-GB" sz="800" b="0" dirty="0">
              <a:solidFill>
                <a:schemeClr val="tx1"/>
              </a:solidFill>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p:titleStyle>
    <p:bodyStyle>
      <a:lvl1pPr marL="177800" indent="-177800" algn="l" rtl="0" eaLnBrk="0" fontAlgn="base" hangingPunct="0">
        <a:spcBef>
          <a:spcPct val="50000"/>
        </a:spcBef>
        <a:spcAft>
          <a:spcPct val="0"/>
        </a:spcAft>
        <a:buClr>
          <a:schemeClr val="tx1"/>
        </a:buClr>
        <a:buFont typeface="Wingdings" panose="05000000000000000000" pitchFamily="2" charset="2"/>
        <a:buChar char="§"/>
        <a:defRPr sz="1600">
          <a:solidFill>
            <a:schemeClr val="tx1"/>
          </a:solidFill>
          <a:latin typeface="华文细黑" panose="02010600040101010101" pitchFamily="2" charset="-122"/>
          <a:ea typeface="华文细黑" panose="02010600040101010101" pitchFamily="2" charset="-122"/>
          <a:cs typeface="+mn-cs"/>
        </a:defRPr>
      </a:lvl1pPr>
      <a:lvl2pPr marL="355600" indent="-177800" algn="l" rtl="0" eaLnBrk="0" fontAlgn="base" hangingPunct="0">
        <a:spcBef>
          <a:spcPct val="0"/>
        </a:spcBef>
        <a:spcAft>
          <a:spcPct val="0"/>
        </a:spcAft>
        <a:buClr>
          <a:schemeClr val="tx1"/>
        </a:buClr>
        <a:buFont typeface="Arial" panose="020B0604020202020204" pitchFamily="34" charset="0"/>
        <a:buChar char="–"/>
        <a:defRPr sz="1600">
          <a:solidFill>
            <a:schemeClr val="tx1"/>
          </a:solidFill>
          <a:latin typeface="华文细黑" panose="02010600040101010101" pitchFamily="2" charset="-122"/>
          <a:ea typeface="华文细黑" panose="02010600040101010101" pitchFamily="2" charset="-122"/>
        </a:defRPr>
      </a:lvl2pPr>
      <a:lvl3pPr marL="535305" indent="-179705" algn="l" rtl="0" eaLnBrk="0" fontAlgn="base" hangingPunct="0">
        <a:spcBef>
          <a:spcPct val="0"/>
        </a:spcBef>
        <a:spcAft>
          <a:spcPct val="0"/>
        </a:spcAft>
        <a:buClr>
          <a:schemeClr val="tx1"/>
        </a:buClr>
        <a:buChar char="•"/>
        <a:defRPr sz="1600">
          <a:solidFill>
            <a:schemeClr val="tx1"/>
          </a:solidFill>
          <a:latin typeface="华文细黑" panose="02010600040101010101" pitchFamily="2" charset="-122"/>
          <a:ea typeface="华文细黑" panose="02010600040101010101" pitchFamily="2" charset="-122"/>
        </a:defRPr>
      </a:lvl3pPr>
      <a:lvl4pPr marL="1203325" indent="-173355" algn="l" rtl="0"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mn-ea"/>
        </a:defRPr>
      </a:lvl4pPr>
      <a:lvl5pPr marL="1539875" indent="-163830" algn="l" rtl="0"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mn-ea"/>
        </a:defRPr>
      </a:lvl5pPr>
      <a:lvl6pPr marL="1997075" indent="-163830" algn="l" rtl="0" fontAlgn="base">
        <a:spcBef>
          <a:spcPct val="20000"/>
        </a:spcBef>
        <a:spcAft>
          <a:spcPct val="0"/>
        </a:spcAft>
        <a:buClr>
          <a:schemeClr val="bg1"/>
        </a:buClr>
        <a:buChar char="»"/>
        <a:defRPr sz="1600">
          <a:solidFill>
            <a:schemeClr val="bg1"/>
          </a:solidFill>
          <a:latin typeface="Arial" panose="020B0604020202020204" pitchFamily="34" charset="0"/>
          <a:ea typeface="+mn-ea"/>
        </a:defRPr>
      </a:lvl6pPr>
      <a:lvl7pPr marL="2454275" indent="-163830" algn="l" rtl="0" fontAlgn="base">
        <a:spcBef>
          <a:spcPct val="20000"/>
        </a:spcBef>
        <a:spcAft>
          <a:spcPct val="0"/>
        </a:spcAft>
        <a:buClr>
          <a:schemeClr val="bg1"/>
        </a:buClr>
        <a:buChar char="»"/>
        <a:defRPr sz="1600">
          <a:solidFill>
            <a:schemeClr val="bg1"/>
          </a:solidFill>
          <a:latin typeface="Arial" panose="020B0604020202020204" pitchFamily="34" charset="0"/>
          <a:ea typeface="+mn-ea"/>
        </a:defRPr>
      </a:lvl7pPr>
      <a:lvl8pPr marL="2911475" indent="-163830" algn="l" rtl="0" fontAlgn="base">
        <a:spcBef>
          <a:spcPct val="20000"/>
        </a:spcBef>
        <a:spcAft>
          <a:spcPct val="0"/>
        </a:spcAft>
        <a:buClr>
          <a:schemeClr val="bg1"/>
        </a:buClr>
        <a:buChar char="»"/>
        <a:defRPr sz="1600">
          <a:solidFill>
            <a:schemeClr val="bg1"/>
          </a:solidFill>
          <a:latin typeface="Arial" panose="020B0604020202020204" pitchFamily="34" charset="0"/>
          <a:ea typeface="+mn-ea"/>
        </a:defRPr>
      </a:lvl8pPr>
      <a:lvl9pPr marL="3368675" indent="-163830" algn="l" rtl="0" fontAlgn="base">
        <a:spcBef>
          <a:spcPct val="20000"/>
        </a:spcBef>
        <a:spcAft>
          <a:spcPct val="0"/>
        </a:spcAft>
        <a:buClr>
          <a:schemeClr val="bg1"/>
        </a:buClr>
        <a:buChar char="»"/>
        <a:defRPr sz="1600">
          <a:solidFill>
            <a:schemeClr val="bg1"/>
          </a:solidFill>
          <a:latin typeface="Arial" panose="020B060402020202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162000" y="1439863"/>
            <a:ext cx="8820000" cy="4864100"/>
          </a:xfrm>
          <a:prstGeom prst="rect">
            <a:avLst/>
          </a:prstGeom>
          <a:noFill/>
          <a:ln w="9525">
            <a:noFill/>
            <a:miter lim="800000"/>
          </a:ln>
        </p:spPr>
        <p:txBody>
          <a:bodyPr vert="horz" wrap="square" lIns="91440" tIns="45720" rIns="91440" bIns="45720" numCol="1" anchor="t" anchorCtr="0" compatLnSpc="1"/>
          <a:lstStyle/>
          <a:p>
            <a:pPr lvl="0"/>
            <a:r>
              <a:rPr lang="en-US" altLang="zh-CN" dirty="0"/>
              <a:t>Click to edit Master text styles</a:t>
            </a:r>
          </a:p>
          <a:p>
            <a:pPr lvl="1"/>
            <a:r>
              <a:rPr lang="en-US" altLang="zh-CN" dirty="0"/>
              <a:t>Second level</a:t>
            </a:r>
          </a:p>
          <a:p>
            <a:pPr lvl="2"/>
            <a:r>
              <a:rPr lang="en-US" altLang="zh-CN" dirty="0"/>
              <a:t>Third level</a:t>
            </a:r>
          </a:p>
        </p:txBody>
      </p:sp>
      <p:sp>
        <p:nvSpPr>
          <p:cNvPr id="1027" name="Line 4"/>
          <p:cNvSpPr>
            <a:spLocks noChangeShapeType="1"/>
          </p:cNvSpPr>
          <p:nvPr/>
        </p:nvSpPr>
        <p:spPr bwMode="auto">
          <a:xfrm flipV="1">
            <a:off x="162000" y="549275"/>
            <a:ext cx="8820000" cy="0"/>
          </a:xfrm>
          <a:prstGeom prst="line">
            <a:avLst/>
          </a:prstGeom>
          <a:noFill/>
          <a:ln w="12700" cmpd="sng">
            <a:solidFill>
              <a:schemeClr val="tx2">
                <a:lumMod val="75000"/>
              </a:schemeClr>
            </a:solidFill>
            <a:round/>
          </a:ln>
        </p:spPr>
        <p:txBody>
          <a:bodyPr/>
          <a:lstStyle/>
          <a:p>
            <a:endParaRPr lang="zh-CN" altLang="en-US" dirty="0">
              <a:latin typeface="华文细黑" panose="02010600040101010101" pitchFamily="2" charset="-122"/>
            </a:endParaRPr>
          </a:p>
        </p:txBody>
      </p:sp>
      <p:sp>
        <p:nvSpPr>
          <p:cNvPr id="1028" name="Rectangle 6"/>
          <p:cNvSpPr>
            <a:spLocks noChangeArrowheads="1"/>
          </p:cNvSpPr>
          <p:nvPr/>
        </p:nvSpPr>
        <p:spPr bwMode="black">
          <a:xfrm>
            <a:off x="7589838" y="6552971"/>
            <a:ext cx="1371600" cy="184150"/>
          </a:xfrm>
          <a:prstGeom prst="rect">
            <a:avLst/>
          </a:prstGeom>
          <a:noFill/>
          <a:ln w="9525">
            <a:noFill/>
            <a:miter lim="800000"/>
          </a:ln>
        </p:spPr>
        <p:txBody>
          <a:bodyPr lIns="92075" tIns="46038" rIns="92075" bIns="46038"/>
          <a:lstStyle/>
          <a:p>
            <a:pPr algn="r"/>
            <a:r>
              <a:rPr lang="en-US" altLang="zh-CN" sz="800" b="0" dirty="0">
                <a:solidFill>
                  <a:schemeClr val="tx1"/>
                </a:solidFill>
                <a:latin typeface="微软雅黑" panose="020B0503020204020204" charset="-122"/>
                <a:ea typeface="微软雅黑" panose="020B0503020204020204" charset="-122"/>
              </a:rPr>
              <a:t>© x</a:t>
            </a:r>
            <a:endParaRPr lang="en-US" altLang="zh-CN" sz="1800" b="0" dirty="0">
              <a:solidFill>
                <a:schemeClr val="tx1"/>
              </a:solidFill>
              <a:latin typeface="微软雅黑" panose="020B0503020204020204" charset="-122"/>
              <a:ea typeface="微软雅黑" panose="020B0503020204020204" charset="-122"/>
            </a:endParaRPr>
          </a:p>
        </p:txBody>
      </p:sp>
      <p:sp>
        <p:nvSpPr>
          <p:cNvPr id="1033" name="Rectangle 13"/>
          <p:cNvSpPr>
            <a:spLocks noGrp="1" noChangeArrowheads="1"/>
          </p:cNvSpPr>
          <p:nvPr>
            <p:ph type="title"/>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p>
            <a:pPr lvl="0"/>
            <a:r>
              <a:rPr lang="en-US" altLang="zh-CN" dirty="0"/>
              <a:t>Click to edit Master title style</a:t>
            </a:r>
          </a:p>
        </p:txBody>
      </p:sp>
      <p:sp>
        <p:nvSpPr>
          <p:cNvPr id="9" name="Rectangle 9"/>
          <p:cNvSpPr>
            <a:spLocks noChangeArrowheads="1"/>
          </p:cNvSpPr>
          <p:nvPr userDrawn="1"/>
        </p:nvSpPr>
        <p:spPr bwMode="auto">
          <a:xfrm>
            <a:off x="177968" y="6521677"/>
            <a:ext cx="642937" cy="215444"/>
          </a:xfrm>
          <a:prstGeom prst="rect">
            <a:avLst/>
          </a:prstGeom>
          <a:noFill/>
          <a:ln w="9525">
            <a:noFill/>
            <a:miter lim="800000"/>
          </a:ln>
        </p:spPr>
        <p:txBody>
          <a:bodyPr anchor="ctr">
            <a:spAutoFit/>
          </a:bodyPr>
          <a:lstStyle/>
          <a:p>
            <a:pPr algn="l" eaLnBrk="0" hangingPunct="0">
              <a:spcBef>
                <a:spcPct val="50000"/>
              </a:spcBef>
              <a:buClr>
                <a:schemeClr val="accent2"/>
              </a:buClr>
              <a:buSzPct val="60000"/>
              <a:buFont typeface="Wingdings" panose="05000000000000000000" pitchFamily="2" charset="2"/>
              <a:buNone/>
            </a:pPr>
            <a:fld id="{D7625ADF-08DA-43B5-B507-544508C6BF28}" type="slidenum">
              <a:rPr lang="de-DE" altLang="zh-CN" sz="800" b="0">
                <a:solidFill>
                  <a:schemeClr val="tx1"/>
                </a:solidFill>
                <a:latin typeface="微软雅黑" panose="020B0503020204020204" charset="-122"/>
                <a:ea typeface="微软雅黑" panose="020B0503020204020204" charset="-122"/>
              </a:rPr>
              <a:t>‹#›</a:t>
            </a:fld>
            <a:endParaRPr lang="zh-CN" altLang="en-GB" sz="800" b="0" dirty="0">
              <a:solidFill>
                <a:schemeClr val="tx1"/>
              </a:solidFill>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hdr="0" ftr="0" dt="0"/>
  <p:txStyles>
    <p:title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p:titleStyle>
    <p:bodyStyle>
      <a:lvl1pPr marL="177800" indent="-177800" algn="l" rtl="0" eaLnBrk="0" fontAlgn="base" hangingPunct="0">
        <a:spcBef>
          <a:spcPct val="50000"/>
        </a:spcBef>
        <a:spcAft>
          <a:spcPct val="0"/>
        </a:spcAft>
        <a:buClr>
          <a:schemeClr val="tx1"/>
        </a:buClr>
        <a:buFont typeface="Wingdings" panose="05000000000000000000" pitchFamily="2" charset="2"/>
        <a:buChar char="§"/>
        <a:defRPr sz="1600">
          <a:solidFill>
            <a:schemeClr val="tx1"/>
          </a:solidFill>
          <a:latin typeface="华文细黑" panose="02010600040101010101" pitchFamily="2" charset="-122"/>
          <a:ea typeface="华文细黑" panose="02010600040101010101" pitchFamily="2" charset="-122"/>
          <a:cs typeface="+mn-cs"/>
        </a:defRPr>
      </a:lvl1pPr>
      <a:lvl2pPr marL="355600" indent="-177800" algn="l" rtl="0" eaLnBrk="0" fontAlgn="base" hangingPunct="0">
        <a:spcBef>
          <a:spcPct val="0"/>
        </a:spcBef>
        <a:spcAft>
          <a:spcPct val="0"/>
        </a:spcAft>
        <a:buClr>
          <a:schemeClr val="tx1"/>
        </a:buClr>
        <a:buFont typeface="Arial" panose="020B0604020202020204" pitchFamily="34" charset="0"/>
        <a:buChar char="–"/>
        <a:defRPr sz="1600">
          <a:solidFill>
            <a:schemeClr val="tx1"/>
          </a:solidFill>
          <a:latin typeface="华文细黑" panose="02010600040101010101" pitchFamily="2" charset="-122"/>
          <a:ea typeface="华文细黑" panose="02010600040101010101" pitchFamily="2" charset="-122"/>
        </a:defRPr>
      </a:lvl2pPr>
      <a:lvl3pPr marL="535305" indent="-179705" algn="l" rtl="0" eaLnBrk="0" fontAlgn="base" hangingPunct="0">
        <a:spcBef>
          <a:spcPct val="0"/>
        </a:spcBef>
        <a:spcAft>
          <a:spcPct val="0"/>
        </a:spcAft>
        <a:buClr>
          <a:schemeClr val="tx1"/>
        </a:buClr>
        <a:buChar char="•"/>
        <a:defRPr sz="1600">
          <a:solidFill>
            <a:schemeClr val="tx1"/>
          </a:solidFill>
          <a:latin typeface="华文细黑" panose="02010600040101010101" pitchFamily="2" charset="-122"/>
          <a:ea typeface="华文细黑" panose="02010600040101010101" pitchFamily="2" charset="-122"/>
        </a:defRPr>
      </a:lvl3pPr>
      <a:lvl4pPr marL="1203325" indent="-173355" algn="l" rtl="0"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mn-ea"/>
        </a:defRPr>
      </a:lvl4pPr>
      <a:lvl5pPr marL="1539875" indent="-163830" algn="l" rtl="0" eaLnBrk="0" fontAlgn="base" hangingPunct="0">
        <a:spcBef>
          <a:spcPct val="20000"/>
        </a:spcBef>
        <a:spcAft>
          <a:spcPct val="0"/>
        </a:spcAft>
        <a:buClr>
          <a:schemeClr val="bg1"/>
        </a:buClr>
        <a:buChar char="»"/>
        <a:defRPr sz="1600">
          <a:solidFill>
            <a:schemeClr val="bg1"/>
          </a:solidFill>
          <a:latin typeface="Arial" panose="020B0604020202020204" pitchFamily="34" charset="0"/>
          <a:ea typeface="+mn-ea"/>
        </a:defRPr>
      </a:lvl5pPr>
      <a:lvl6pPr marL="1997075" indent="-163830" algn="l" rtl="0" fontAlgn="base">
        <a:spcBef>
          <a:spcPct val="20000"/>
        </a:spcBef>
        <a:spcAft>
          <a:spcPct val="0"/>
        </a:spcAft>
        <a:buClr>
          <a:schemeClr val="bg1"/>
        </a:buClr>
        <a:buChar char="»"/>
        <a:defRPr sz="1600">
          <a:solidFill>
            <a:schemeClr val="bg1"/>
          </a:solidFill>
          <a:latin typeface="Arial" panose="020B0604020202020204" pitchFamily="34" charset="0"/>
          <a:ea typeface="+mn-ea"/>
        </a:defRPr>
      </a:lvl6pPr>
      <a:lvl7pPr marL="2454275" indent="-163830" algn="l" rtl="0" fontAlgn="base">
        <a:spcBef>
          <a:spcPct val="20000"/>
        </a:spcBef>
        <a:spcAft>
          <a:spcPct val="0"/>
        </a:spcAft>
        <a:buClr>
          <a:schemeClr val="bg1"/>
        </a:buClr>
        <a:buChar char="»"/>
        <a:defRPr sz="1600">
          <a:solidFill>
            <a:schemeClr val="bg1"/>
          </a:solidFill>
          <a:latin typeface="Arial" panose="020B0604020202020204" pitchFamily="34" charset="0"/>
          <a:ea typeface="+mn-ea"/>
        </a:defRPr>
      </a:lvl7pPr>
      <a:lvl8pPr marL="2911475" indent="-163830" algn="l" rtl="0" fontAlgn="base">
        <a:spcBef>
          <a:spcPct val="20000"/>
        </a:spcBef>
        <a:spcAft>
          <a:spcPct val="0"/>
        </a:spcAft>
        <a:buClr>
          <a:schemeClr val="bg1"/>
        </a:buClr>
        <a:buChar char="»"/>
        <a:defRPr sz="1600">
          <a:solidFill>
            <a:schemeClr val="bg1"/>
          </a:solidFill>
          <a:latin typeface="Arial" panose="020B0604020202020204" pitchFamily="34" charset="0"/>
          <a:ea typeface="+mn-ea"/>
        </a:defRPr>
      </a:lvl8pPr>
      <a:lvl9pPr marL="3368675" indent="-163830" algn="l" rtl="0" fontAlgn="base">
        <a:spcBef>
          <a:spcPct val="20000"/>
        </a:spcBef>
        <a:spcAft>
          <a:spcPct val="0"/>
        </a:spcAft>
        <a:buClr>
          <a:schemeClr val="bg1"/>
        </a:buClr>
        <a:buChar char="»"/>
        <a:defRPr sz="1600">
          <a:solidFill>
            <a:schemeClr val="bg1"/>
          </a:solidFill>
          <a:latin typeface="Arial" panose="020B060402020202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chart" Target="../charts/chart30.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chart" Target="../charts/chart3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chart" Target="../charts/chart3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chart" Target="../charts/chart35.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notesSlide" Target="../notesSlides/notesSlide16.xml"/><Relationship Id="rId5" Type="http://schemas.openxmlformats.org/officeDocument/2006/relationships/slideLayout" Target="../slideLayouts/slideLayout5.xml"/><Relationship Id="rId4" Type="http://schemas.openxmlformats.org/officeDocument/2006/relationships/tags" Target="../tags/tag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chart" Target="../charts/chart39.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chart" Target="../charts/chart40.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chart" Target="../charts/chart42.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5.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png"/><Relationship Id="rId10" Type="http://schemas.openxmlformats.org/officeDocument/2006/relationships/image" Target="../media/image22.jpeg"/><Relationship Id="rId4" Type="http://schemas.openxmlformats.org/officeDocument/2006/relationships/image" Target="../media/image16.emf"/><Relationship Id="rId9" Type="http://schemas.openxmlformats.org/officeDocument/2006/relationships/image" Target="../media/image21.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3" Type="http://schemas.openxmlformats.org/officeDocument/2006/relationships/tags" Target="../tags/tag10.xml"/><Relationship Id="rId21" Type="http://schemas.openxmlformats.org/officeDocument/2006/relationships/slideLayout" Target="../slideLayouts/slideLayout2.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tags" Target="../tags/tag27.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tags" Target="../tags/tag22.xml"/><Relationship Id="rId10" Type="http://schemas.openxmlformats.org/officeDocument/2006/relationships/tags" Target="../tags/tag17.xml"/><Relationship Id="rId19" Type="http://schemas.openxmlformats.org/officeDocument/2006/relationships/tags" Target="../tags/tag26.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s>
</file>

<file path=ppt/slides/_rels/slide9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25.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9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2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2.xml"/><Relationship Id="rId1" Type="http://schemas.openxmlformats.org/officeDocument/2006/relationships/tags" Target="../tags/tag36.xml"/><Relationship Id="rId5" Type="http://schemas.openxmlformats.org/officeDocument/2006/relationships/image" Target="../media/image31.jpeg"/><Relationship Id="rId4" Type="http://schemas.openxmlformats.org/officeDocument/2006/relationships/image" Target="../media/image30.jpeg"/></Relationships>
</file>

<file path=ppt/slides/_rels/slide106.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2.jpeg"/><Relationship Id="rId7" Type="http://schemas.openxmlformats.org/officeDocument/2006/relationships/image" Target="../media/image35.jpeg"/><Relationship Id="rId12" Type="http://schemas.openxmlformats.org/officeDocument/2006/relationships/image" Target="../media/image40.jpeg"/><Relationship Id="rId2" Type="http://schemas.openxmlformats.org/officeDocument/2006/relationships/slideLayout" Target="../slideLayouts/slideLayout2.xml"/><Relationship Id="rId1" Type="http://schemas.openxmlformats.org/officeDocument/2006/relationships/tags" Target="../tags/tag37.xml"/><Relationship Id="rId6" Type="http://schemas.openxmlformats.org/officeDocument/2006/relationships/image" Target="../media/image34.png"/><Relationship Id="rId11" Type="http://schemas.openxmlformats.org/officeDocument/2006/relationships/image" Target="../media/image39.jpeg"/><Relationship Id="rId5" Type="http://schemas.openxmlformats.org/officeDocument/2006/relationships/image" Target="../media/image16.emf"/><Relationship Id="rId10" Type="http://schemas.openxmlformats.org/officeDocument/2006/relationships/image" Target="../media/image38.jpeg"/><Relationship Id="rId4" Type="http://schemas.openxmlformats.org/officeDocument/2006/relationships/image" Target="../media/image33.jpeg"/><Relationship Id="rId9" Type="http://schemas.openxmlformats.org/officeDocument/2006/relationships/image" Target="../media/image37.jpeg"/></Relationships>
</file>

<file path=ppt/slides/_rels/slide10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0" y="2564904"/>
            <a:ext cx="8820000" cy="1986034"/>
          </a:xfrm>
        </p:spPr>
        <p:txBody>
          <a:bodyPr anchor="ctr"/>
          <a:lstStyle/>
          <a:p>
            <a:pPr>
              <a:lnSpc>
                <a:spcPct val="120000"/>
              </a:lnSpc>
            </a:pPr>
            <a:r>
              <a:rPr dirty="0">
                <a:solidFill>
                  <a:schemeClr val="accent5">
                    <a:lumMod val="50000"/>
                  </a:schemeClr>
                </a:solidFill>
              </a:rPr>
              <a:t>制造业集团供应链管理成熟度评估模型及集成计划流程框架</a:t>
            </a:r>
            <a:br>
              <a:rPr lang="en-US" altLang="zh-CN" dirty="0">
                <a:solidFill>
                  <a:schemeClr val="accent5">
                    <a:lumMod val="50000"/>
                  </a:schemeClr>
                </a:solidFill>
              </a:rPr>
            </a:br>
            <a:br>
              <a:rPr lang="en-US" altLang="zh-CN" sz="2400" dirty="0">
                <a:solidFill>
                  <a:schemeClr val="accent5">
                    <a:lumMod val="50000"/>
                  </a:schemeClr>
                </a:solidFill>
              </a:rPr>
            </a:br>
            <a:endParaRPr lang="zh-CN" altLang="en-US" sz="2000" dirty="0">
              <a:solidFill>
                <a:schemeClr val="accent5">
                  <a:lumMod val="50000"/>
                </a:schemeClr>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lang="zh-CN" altLang="en-US" dirty="0"/>
              <a:t>前期关键发现汇总及总体解决思路</a:t>
            </a:r>
          </a:p>
        </p:txBody>
      </p:sp>
      <p:sp>
        <p:nvSpPr>
          <p:cNvPr id="13" name="TextBox 12"/>
          <p:cNvSpPr txBox="1"/>
          <p:nvPr/>
        </p:nvSpPr>
        <p:spPr bwMode="auto">
          <a:xfrm>
            <a:off x="1249142" y="1317385"/>
            <a:ext cx="3852000" cy="954107"/>
          </a:xfrm>
          <a:prstGeom prst="rect">
            <a:avLst/>
          </a:prstGeom>
          <a:noFill/>
          <a:ln>
            <a:noFill/>
          </a:ln>
        </p:spPr>
        <p:txBody>
          <a:bodyPr wrap="square" rtlCol="0">
            <a:spAutoFit/>
          </a:bodyPr>
          <a:lstStyle/>
          <a:p>
            <a:pPr marL="174625" indent="-174625" algn="r">
              <a:spcBef>
                <a:spcPts val="12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多种订单组织方式并存，规则不够明确</a:t>
            </a:r>
          </a:p>
          <a:p>
            <a:pPr marL="174625" indent="-174625" algn="r">
              <a:spcBef>
                <a:spcPts val="12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计划调整规则未明确定义</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4625" indent="-174625" algn="r">
              <a:spcBef>
                <a:spcPts val="1200"/>
              </a:spcBef>
            </a:pP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3+2</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滚动计划周期偏短</a:t>
            </a:r>
          </a:p>
        </p:txBody>
      </p:sp>
      <p:sp>
        <p:nvSpPr>
          <p:cNvPr id="14" name="TextBox 13"/>
          <p:cNvSpPr txBox="1"/>
          <p:nvPr/>
        </p:nvSpPr>
        <p:spPr bwMode="auto">
          <a:xfrm>
            <a:off x="1249142" y="2378308"/>
            <a:ext cx="3852000" cy="615553"/>
          </a:xfrm>
          <a:prstGeom prst="rect">
            <a:avLst/>
          </a:prstGeom>
          <a:noFill/>
          <a:ln>
            <a:noFill/>
          </a:ln>
        </p:spPr>
        <p:txBody>
          <a:bodyPr wrap="square" rtlCol="0">
            <a:spAutoFit/>
          </a:bodyPr>
          <a:lstStyle/>
          <a:p>
            <a:pPr marL="174625" indent="-174625" algn="r">
              <a:spcBef>
                <a:spcPts val="12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集成计划以职能为中心，计划职能涉及多个部门</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4625" indent="-174625" algn="r">
              <a:spcBef>
                <a:spcPts val="12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采购执行涉及多个部门，对供应商窗口较多</a:t>
            </a:r>
          </a:p>
        </p:txBody>
      </p:sp>
      <p:sp>
        <p:nvSpPr>
          <p:cNvPr id="15" name="TextBox 14"/>
          <p:cNvSpPr txBox="1"/>
          <p:nvPr/>
        </p:nvSpPr>
        <p:spPr bwMode="auto">
          <a:xfrm>
            <a:off x="1175657" y="3046411"/>
            <a:ext cx="3925485" cy="2831544"/>
          </a:xfrm>
          <a:prstGeom prst="rect">
            <a:avLst/>
          </a:prstGeom>
          <a:noFill/>
          <a:ln>
            <a:noFill/>
          </a:ln>
        </p:spPr>
        <p:txBody>
          <a:bodyPr wrap="square" rtlCol="0">
            <a:spAutoFit/>
          </a:bodyPr>
          <a:lstStyle/>
          <a:p>
            <a:pPr marL="174625" indent="-174625" algn="r">
              <a:spcBef>
                <a:spcPts val="1200"/>
              </a:spcBef>
            </a:pPr>
            <a:r>
              <a:rPr lang="zh-CN" altLang="en-US" sz="1200" dirty="0">
                <a:latin typeface="微软雅黑" panose="020B0503020204020204" charset="-122"/>
                <a:ea typeface="微软雅黑" panose="020B0503020204020204" charset="-122"/>
              </a:rPr>
              <a:t>需求计划准确率偏低，对生产和采购指导性不强</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缺乏端到端的订单管理，订单处理规则不明确</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产销平衡机制有待完善</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日锁定计划难以真正锁定，影响生产稳定性</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零部件计划对供应商备货及生产指导性不足</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因计划变更等造成的零部件缺件较多，供应及预警机制需完善</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工程变更频繁且信息下达不及时，影响生产的顺畅运行</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en-US" altLang="zh-CN" sz="1200" dirty="0">
                <a:latin typeface="微软雅黑" panose="020B0503020204020204" charset="-122"/>
                <a:ea typeface="微软雅黑" panose="020B0503020204020204" charset="-122"/>
              </a:rPr>
              <a:t>MES</a:t>
            </a:r>
            <a:r>
              <a:rPr lang="zh-CN" altLang="en-US" sz="1200" dirty="0">
                <a:latin typeface="微软雅黑" panose="020B0503020204020204" charset="-122"/>
                <a:ea typeface="微软雅黑" panose="020B0503020204020204" charset="-122"/>
              </a:rPr>
              <a:t>自动化集成化程度较低，影响生产制造精益化水平</a:t>
            </a:r>
            <a:endPar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bwMode="auto">
          <a:xfrm>
            <a:off x="1249142" y="5871274"/>
            <a:ext cx="3852000" cy="276999"/>
          </a:xfrm>
          <a:prstGeom prst="rect">
            <a:avLst/>
          </a:prstGeom>
          <a:noFill/>
          <a:ln>
            <a:noFill/>
          </a:ln>
        </p:spPr>
        <p:txBody>
          <a:bodyPr wrap="square" rtlCol="0">
            <a:spAutoFit/>
          </a:bodyPr>
          <a:lstStyle/>
          <a:p>
            <a:pPr marL="174625" indent="-174625" algn="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集成计划指标体系还不完善，过程性管理指标较少</a:t>
            </a:r>
          </a:p>
        </p:txBody>
      </p:sp>
      <p:sp>
        <p:nvSpPr>
          <p:cNvPr id="17" name="TextBox 16"/>
          <p:cNvSpPr txBox="1"/>
          <p:nvPr/>
        </p:nvSpPr>
        <p:spPr bwMode="auto">
          <a:xfrm>
            <a:off x="1249142" y="6183177"/>
            <a:ext cx="3852000" cy="461665"/>
          </a:xfrm>
          <a:prstGeom prst="rect">
            <a:avLst/>
          </a:prstGeom>
          <a:noFill/>
          <a:ln>
            <a:noFill/>
          </a:ln>
        </p:spPr>
        <p:txBody>
          <a:bodyPr wrap="square" rtlCol="0">
            <a:spAutoFit/>
          </a:bodyPr>
          <a:lstStyle/>
          <a:p>
            <a:pPr algn="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集成计划相关的一部分业务还未搭建流程，未来需要基于计划模式及方案对流程进行新增与优化</a:t>
            </a:r>
          </a:p>
        </p:txBody>
      </p:sp>
      <p:sp>
        <p:nvSpPr>
          <p:cNvPr id="18" name="圆角矩形 17"/>
          <p:cNvSpPr/>
          <p:nvPr/>
        </p:nvSpPr>
        <p:spPr bwMode="auto">
          <a:xfrm>
            <a:off x="485520" y="1389954"/>
            <a:ext cx="722810" cy="745007"/>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模式</a:t>
            </a:r>
          </a:p>
        </p:txBody>
      </p:sp>
      <p:sp>
        <p:nvSpPr>
          <p:cNvPr id="19" name="圆角矩形 18"/>
          <p:cNvSpPr/>
          <p:nvPr/>
        </p:nvSpPr>
        <p:spPr bwMode="auto">
          <a:xfrm>
            <a:off x="485520" y="2403469"/>
            <a:ext cx="722810" cy="4680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组织</a:t>
            </a:r>
          </a:p>
        </p:txBody>
      </p:sp>
      <p:sp>
        <p:nvSpPr>
          <p:cNvPr id="20" name="圆角矩形 19"/>
          <p:cNvSpPr/>
          <p:nvPr/>
        </p:nvSpPr>
        <p:spPr bwMode="auto">
          <a:xfrm>
            <a:off x="485520" y="3403601"/>
            <a:ext cx="722810" cy="1571636"/>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业务</a:t>
            </a:r>
          </a:p>
        </p:txBody>
      </p:sp>
      <p:sp>
        <p:nvSpPr>
          <p:cNvPr id="21" name="圆角矩形 20"/>
          <p:cNvSpPr/>
          <p:nvPr/>
        </p:nvSpPr>
        <p:spPr bwMode="auto">
          <a:xfrm>
            <a:off x="485520" y="5895851"/>
            <a:ext cx="722810" cy="230537"/>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绩效</a:t>
            </a:r>
          </a:p>
        </p:txBody>
      </p:sp>
      <p:sp>
        <p:nvSpPr>
          <p:cNvPr id="22" name="圆角矩形 21"/>
          <p:cNvSpPr/>
          <p:nvPr/>
        </p:nvSpPr>
        <p:spPr bwMode="auto">
          <a:xfrm>
            <a:off x="485520" y="6251909"/>
            <a:ext cx="722810" cy="353451"/>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流程</a:t>
            </a:r>
          </a:p>
        </p:txBody>
      </p:sp>
      <p:cxnSp>
        <p:nvCxnSpPr>
          <p:cNvPr id="25" name="直接连接符 24"/>
          <p:cNvCxnSpPr/>
          <p:nvPr/>
        </p:nvCxnSpPr>
        <p:spPr bwMode="auto">
          <a:xfrm>
            <a:off x="485520" y="2289621"/>
            <a:ext cx="5112000" cy="1588"/>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6" name="直接连接符 25"/>
          <p:cNvCxnSpPr/>
          <p:nvPr/>
        </p:nvCxnSpPr>
        <p:spPr bwMode="auto">
          <a:xfrm>
            <a:off x="485520" y="2974973"/>
            <a:ext cx="5112000" cy="1588"/>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7" name="直接连接符 26"/>
          <p:cNvCxnSpPr/>
          <p:nvPr/>
        </p:nvCxnSpPr>
        <p:spPr bwMode="auto">
          <a:xfrm>
            <a:off x="485520" y="5833169"/>
            <a:ext cx="5112000" cy="1588"/>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8" name="椭圆 11"/>
          <p:cNvSpPr>
            <a:spLocks noChangeArrowheads="1"/>
          </p:cNvSpPr>
          <p:nvPr/>
        </p:nvSpPr>
        <p:spPr bwMode="auto">
          <a:xfrm>
            <a:off x="5142146" y="1655284"/>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2</a:t>
            </a:r>
            <a:endParaRPr lang="zh-CN" altLang="en-US" sz="1200" b="1">
              <a:solidFill>
                <a:schemeClr val="bg1"/>
              </a:solidFill>
              <a:latin typeface="微软雅黑" panose="020B0503020204020204" charset="-122"/>
              <a:ea typeface="微软雅黑" panose="020B0503020204020204" charset="-122"/>
            </a:endParaRPr>
          </a:p>
        </p:txBody>
      </p:sp>
      <p:sp>
        <p:nvSpPr>
          <p:cNvPr id="29" name="椭圆 12"/>
          <p:cNvSpPr>
            <a:spLocks noChangeArrowheads="1"/>
          </p:cNvSpPr>
          <p:nvPr/>
        </p:nvSpPr>
        <p:spPr bwMode="auto">
          <a:xfrm>
            <a:off x="5142146" y="1996356"/>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3</a:t>
            </a:r>
            <a:endParaRPr lang="zh-CN" altLang="en-US" sz="1200" b="1">
              <a:solidFill>
                <a:schemeClr val="bg1"/>
              </a:solidFill>
              <a:latin typeface="微软雅黑" panose="020B0503020204020204" charset="-122"/>
              <a:ea typeface="微软雅黑" panose="020B0503020204020204" charset="-122"/>
            </a:endParaRPr>
          </a:p>
        </p:txBody>
      </p:sp>
      <p:sp>
        <p:nvSpPr>
          <p:cNvPr id="30" name="椭圆 13"/>
          <p:cNvSpPr>
            <a:spLocks noChangeArrowheads="1"/>
          </p:cNvSpPr>
          <p:nvPr/>
        </p:nvSpPr>
        <p:spPr bwMode="auto">
          <a:xfrm>
            <a:off x="5142146" y="2678500"/>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5</a:t>
            </a:r>
            <a:endParaRPr lang="zh-CN" altLang="en-US" sz="1200" b="1">
              <a:solidFill>
                <a:schemeClr val="bg1"/>
              </a:solidFill>
              <a:latin typeface="微软雅黑" panose="020B0503020204020204" charset="-122"/>
              <a:ea typeface="微软雅黑" panose="020B0503020204020204" charset="-122"/>
            </a:endParaRPr>
          </a:p>
        </p:txBody>
      </p:sp>
      <p:sp>
        <p:nvSpPr>
          <p:cNvPr id="31" name="椭圆 14"/>
          <p:cNvSpPr>
            <a:spLocks noChangeArrowheads="1"/>
          </p:cNvSpPr>
          <p:nvPr/>
        </p:nvSpPr>
        <p:spPr bwMode="auto">
          <a:xfrm>
            <a:off x="5142146" y="2337428"/>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4</a:t>
            </a:r>
            <a:endParaRPr lang="zh-CN" altLang="en-US" sz="1200" b="1">
              <a:solidFill>
                <a:schemeClr val="bg1"/>
              </a:solidFill>
              <a:latin typeface="微软雅黑" panose="020B0503020204020204" charset="-122"/>
              <a:ea typeface="微软雅黑" panose="020B0503020204020204" charset="-122"/>
            </a:endParaRPr>
          </a:p>
        </p:txBody>
      </p:sp>
      <p:sp>
        <p:nvSpPr>
          <p:cNvPr id="32" name="椭圆 15"/>
          <p:cNvSpPr>
            <a:spLocks noChangeArrowheads="1"/>
          </p:cNvSpPr>
          <p:nvPr/>
        </p:nvSpPr>
        <p:spPr bwMode="auto">
          <a:xfrm>
            <a:off x="5142146" y="3019572"/>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6</a:t>
            </a:r>
            <a:endParaRPr lang="zh-CN" altLang="en-US" sz="1200" b="1">
              <a:solidFill>
                <a:schemeClr val="bg1"/>
              </a:solidFill>
              <a:latin typeface="微软雅黑" panose="020B0503020204020204" charset="-122"/>
              <a:ea typeface="微软雅黑" panose="020B0503020204020204" charset="-122"/>
            </a:endParaRPr>
          </a:p>
        </p:txBody>
      </p:sp>
      <p:sp>
        <p:nvSpPr>
          <p:cNvPr id="33" name="椭圆 16"/>
          <p:cNvSpPr>
            <a:spLocks noChangeArrowheads="1"/>
          </p:cNvSpPr>
          <p:nvPr/>
        </p:nvSpPr>
        <p:spPr bwMode="auto">
          <a:xfrm>
            <a:off x="5142146" y="3360644"/>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7</a:t>
            </a:r>
            <a:endParaRPr lang="zh-CN" altLang="en-US" sz="1200" b="1">
              <a:solidFill>
                <a:schemeClr val="bg1"/>
              </a:solidFill>
              <a:latin typeface="微软雅黑" panose="020B0503020204020204" charset="-122"/>
              <a:ea typeface="微软雅黑" panose="020B0503020204020204" charset="-122"/>
            </a:endParaRPr>
          </a:p>
        </p:txBody>
      </p:sp>
      <p:sp>
        <p:nvSpPr>
          <p:cNvPr id="34" name="椭圆 17"/>
          <p:cNvSpPr>
            <a:spLocks noChangeArrowheads="1"/>
          </p:cNvSpPr>
          <p:nvPr/>
        </p:nvSpPr>
        <p:spPr bwMode="auto">
          <a:xfrm>
            <a:off x="5142146" y="4042788"/>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9</a:t>
            </a:r>
            <a:endParaRPr lang="zh-CN" altLang="en-US" sz="1200" b="1">
              <a:solidFill>
                <a:schemeClr val="bg1"/>
              </a:solidFill>
              <a:latin typeface="微软雅黑" panose="020B0503020204020204" charset="-122"/>
              <a:ea typeface="微软雅黑" panose="020B0503020204020204" charset="-122"/>
            </a:endParaRPr>
          </a:p>
        </p:txBody>
      </p:sp>
      <p:sp>
        <p:nvSpPr>
          <p:cNvPr id="35" name="椭圆 18"/>
          <p:cNvSpPr>
            <a:spLocks noChangeArrowheads="1"/>
          </p:cNvSpPr>
          <p:nvPr/>
        </p:nvSpPr>
        <p:spPr bwMode="auto">
          <a:xfrm>
            <a:off x="5142146" y="4724932"/>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11</a:t>
            </a:r>
            <a:endParaRPr lang="zh-CN" altLang="en-US" sz="1200" b="1">
              <a:solidFill>
                <a:schemeClr val="bg1"/>
              </a:solidFill>
              <a:latin typeface="微软雅黑" panose="020B0503020204020204" charset="-122"/>
              <a:ea typeface="微软雅黑" panose="020B0503020204020204" charset="-122"/>
            </a:endParaRPr>
          </a:p>
        </p:txBody>
      </p:sp>
      <p:sp>
        <p:nvSpPr>
          <p:cNvPr id="36" name="椭圆 19"/>
          <p:cNvSpPr>
            <a:spLocks noChangeArrowheads="1"/>
          </p:cNvSpPr>
          <p:nvPr/>
        </p:nvSpPr>
        <p:spPr bwMode="auto">
          <a:xfrm>
            <a:off x="5142146" y="5529730"/>
            <a:ext cx="431800" cy="288925"/>
          </a:xfrm>
          <a:prstGeom prst="ellipse">
            <a:avLst/>
          </a:prstGeom>
          <a:solidFill>
            <a:schemeClr val="accent1"/>
          </a:solidFill>
          <a:ln w="9525" algn="ctr">
            <a:noFill/>
            <a:round/>
          </a:ln>
        </p:spPr>
        <p:txBody>
          <a:bodyPr wrap="none" lIns="0" rIns="0" anchor="ctr"/>
          <a:lstStyle/>
          <a:p>
            <a:pPr algn="ctr"/>
            <a:r>
              <a:rPr lang="en-US" altLang="zh-CN" sz="1200" b="1" dirty="0">
                <a:solidFill>
                  <a:schemeClr val="bg1"/>
                </a:solidFill>
                <a:latin typeface="微软雅黑" panose="020B0503020204020204" charset="-122"/>
                <a:ea typeface="微软雅黑" panose="020B0503020204020204" charset="-122"/>
              </a:rPr>
              <a:t>13</a:t>
            </a:r>
            <a:endParaRPr lang="zh-CN" altLang="en-US" sz="1200" b="1" dirty="0">
              <a:solidFill>
                <a:schemeClr val="bg1"/>
              </a:solidFill>
              <a:latin typeface="微软雅黑" panose="020B0503020204020204" charset="-122"/>
              <a:ea typeface="微软雅黑" panose="020B0503020204020204" charset="-122"/>
            </a:endParaRPr>
          </a:p>
        </p:txBody>
      </p:sp>
      <p:sp>
        <p:nvSpPr>
          <p:cNvPr id="37" name="椭圆 20"/>
          <p:cNvSpPr>
            <a:spLocks noChangeArrowheads="1"/>
          </p:cNvSpPr>
          <p:nvPr/>
        </p:nvSpPr>
        <p:spPr bwMode="auto">
          <a:xfrm>
            <a:off x="5142146" y="1315799"/>
            <a:ext cx="431800" cy="287338"/>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1</a:t>
            </a:r>
            <a:endParaRPr lang="zh-CN" altLang="en-US" sz="1200" b="1">
              <a:solidFill>
                <a:schemeClr val="bg1"/>
              </a:solidFill>
              <a:latin typeface="微软雅黑" panose="020B0503020204020204" charset="-122"/>
              <a:ea typeface="微软雅黑" panose="020B0503020204020204" charset="-122"/>
            </a:endParaRPr>
          </a:p>
        </p:txBody>
      </p:sp>
      <p:sp>
        <p:nvSpPr>
          <p:cNvPr id="38" name="椭圆 15"/>
          <p:cNvSpPr>
            <a:spLocks noChangeArrowheads="1"/>
          </p:cNvSpPr>
          <p:nvPr/>
        </p:nvSpPr>
        <p:spPr bwMode="auto">
          <a:xfrm>
            <a:off x="5154846" y="3701716"/>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8</a:t>
            </a:r>
            <a:endParaRPr lang="zh-CN" altLang="en-US" sz="1200" b="1">
              <a:solidFill>
                <a:schemeClr val="bg1"/>
              </a:solidFill>
              <a:latin typeface="微软雅黑" panose="020B0503020204020204" charset="-122"/>
              <a:ea typeface="微软雅黑" panose="020B0503020204020204" charset="-122"/>
            </a:endParaRPr>
          </a:p>
        </p:txBody>
      </p:sp>
      <p:sp>
        <p:nvSpPr>
          <p:cNvPr id="39" name="椭圆 16"/>
          <p:cNvSpPr>
            <a:spLocks noChangeArrowheads="1"/>
          </p:cNvSpPr>
          <p:nvPr/>
        </p:nvSpPr>
        <p:spPr bwMode="auto">
          <a:xfrm>
            <a:off x="5154846" y="4383860"/>
            <a:ext cx="431800" cy="288925"/>
          </a:xfrm>
          <a:prstGeom prst="ellipse">
            <a:avLst/>
          </a:prstGeom>
          <a:solidFill>
            <a:schemeClr val="accent1"/>
          </a:solidFill>
          <a:ln w="9525" algn="ctr">
            <a:noFill/>
            <a:round/>
          </a:ln>
        </p:spPr>
        <p:txBody>
          <a:bodyPr lIns="0" rIns="0" anchor="ctr"/>
          <a:lstStyle/>
          <a:p>
            <a:pPr algn="ctr"/>
            <a:r>
              <a:rPr lang="en-US" altLang="zh-CN" sz="1200" b="1" dirty="0">
                <a:solidFill>
                  <a:schemeClr val="bg1"/>
                </a:solidFill>
                <a:latin typeface="微软雅黑" panose="020B0503020204020204" charset="-122"/>
                <a:ea typeface="微软雅黑" panose="020B0503020204020204" charset="-122"/>
              </a:rPr>
              <a:t>10</a:t>
            </a:r>
            <a:endParaRPr lang="zh-CN" altLang="en-US" sz="1200" b="1" dirty="0">
              <a:solidFill>
                <a:schemeClr val="bg1"/>
              </a:solidFill>
              <a:latin typeface="微软雅黑" panose="020B0503020204020204" charset="-122"/>
              <a:ea typeface="微软雅黑" panose="020B0503020204020204" charset="-122"/>
            </a:endParaRPr>
          </a:p>
        </p:txBody>
      </p:sp>
      <p:sp>
        <p:nvSpPr>
          <p:cNvPr id="40" name="椭圆 17"/>
          <p:cNvSpPr>
            <a:spLocks noChangeArrowheads="1"/>
          </p:cNvSpPr>
          <p:nvPr/>
        </p:nvSpPr>
        <p:spPr bwMode="auto">
          <a:xfrm>
            <a:off x="5154846" y="5218856"/>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12</a:t>
            </a:r>
            <a:endParaRPr lang="zh-CN" altLang="en-US" sz="1200" b="1">
              <a:solidFill>
                <a:schemeClr val="bg1"/>
              </a:solidFill>
              <a:latin typeface="微软雅黑" panose="020B0503020204020204" charset="-122"/>
              <a:ea typeface="微软雅黑" panose="020B0503020204020204" charset="-122"/>
            </a:endParaRPr>
          </a:p>
        </p:txBody>
      </p:sp>
      <p:sp>
        <p:nvSpPr>
          <p:cNvPr id="41" name="椭圆 18"/>
          <p:cNvSpPr>
            <a:spLocks noChangeArrowheads="1"/>
          </p:cNvSpPr>
          <p:nvPr/>
        </p:nvSpPr>
        <p:spPr bwMode="auto">
          <a:xfrm>
            <a:off x="5154846" y="5902745"/>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14</a:t>
            </a:r>
            <a:endParaRPr lang="zh-CN" altLang="en-US" sz="1200" b="1">
              <a:solidFill>
                <a:schemeClr val="bg1"/>
              </a:solidFill>
              <a:latin typeface="微软雅黑" panose="020B0503020204020204" charset="-122"/>
              <a:ea typeface="微软雅黑" panose="020B0503020204020204" charset="-122"/>
            </a:endParaRPr>
          </a:p>
        </p:txBody>
      </p:sp>
      <p:sp>
        <p:nvSpPr>
          <p:cNvPr id="42" name="椭圆 19"/>
          <p:cNvSpPr>
            <a:spLocks noChangeArrowheads="1"/>
          </p:cNvSpPr>
          <p:nvPr/>
        </p:nvSpPr>
        <p:spPr bwMode="auto">
          <a:xfrm>
            <a:off x="5154846" y="6237081"/>
            <a:ext cx="431800" cy="288925"/>
          </a:xfrm>
          <a:prstGeom prst="ellipse">
            <a:avLst/>
          </a:prstGeom>
          <a:solidFill>
            <a:schemeClr val="accent1"/>
          </a:solidFill>
          <a:ln w="9525" algn="ctr">
            <a:noFill/>
            <a:round/>
          </a:ln>
        </p:spPr>
        <p:txBody>
          <a:bodyPr wrap="none" lIns="0" rIns="0" anchor="ctr"/>
          <a:lstStyle/>
          <a:p>
            <a:pPr algn="ctr"/>
            <a:r>
              <a:rPr lang="en-US" altLang="zh-CN" sz="1200" b="1" dirty="0">
                <a:solidFill>
                  <a:schemeClr val="bg1"/>
                </a:solidFill>
                <a:latin typeface="微软雅黑" panose="020B0503020204020204" charset="-122"/>
                <a:ea typeface="微软雅黑" panose="020B0503020204020204" charset="-122"/>
              </a:rPr>
              <a:t>15</a:t>
            </a:r>
            <a:endParaRPr lang="zh-CN" altLang="en-US" sz="1200" b="1" dirty="0">
              <a:solidFill>
                <a:schemeClr val="bg1"/>
              </a:solidFill>
              <a:latin typeface="微软雅黑" panose="020B0503020204020204" charset="-122"/>
              <a:ea typeface="微软雅黑" panose="020B0503020204020204" charset="-122"/>
            </a:endParaRPr>
          </a:p>
        </p:txBody>
      </p:sp>
      <p:cxnSp>
        <p:nvCxnSpPr>
          <p:cNvPr id="43" name="直接连接符 42"/>
          <p:cNvCxnSpPr/>
          <p:nvPr/>
        </p:nvCxnSpPr>
        <p:spPr bwMode="auto">
          <a:xfrm>
            <a:off x="485520" y="6190359"/>
            <a:ext cx="5112000" cy="1588"/>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44" name="圆角矩形 82"/>
          <p:cNvSpPr>
            <a:spLocks noChangeArrowheads="1"/>
          </p:cNvSpPr>
          <p:nvPr/>
        </p:nvSpPr>
        <p:spPr bwMode="auto">
          <a:xfrm>
            <a:off x="6043171" y="3135992"/>
            <a:ext cx="1928825" cy="360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buAutoNum type="alphaUcPeriod"/>
            </a:pPr>
            <a:r>
              <a:rPr lang="zh-CN" altLang="en-US" sz="1400" b="1" dirty="0">
                <a:solidFill>
                  <a:srgbClr val="000000"/>
                </a:solidFill>
                <a:latin typeface="微软雅黑" panose="020B0503020204020204" charset="-122"/>
                <a:ea typeface="微软雅黑" panose="020B0503020204020204" charset="-122"/>
              </a:rPr>
              <a:t>需求管理解决方案</a:t>
            </a:r>
          </a:p>
        </p:txBody>
      </p:sp>
      <p:sp>
        <p:nvSpPr>
          <p:cNvPr id="45" name="圆角矩形 82"/>
          <p:cNvSpPr>
            <a:spLocks noChangeArrowheads="1"/>
          </p:cNvSpPr>
          <p:nvPr/>
        </p:nvSpPr>
        <p:spPr bwMode="auto">
          <a:xfrm>
            <a:off x="6043171" y="3584920"/>
            <a:ext cx="1928825" cy="360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pPr>
            <a:r>
              <a:rPr lang="en-US" altLang="zh-CN" sz="1400" b="1" dirty="0">
                <a:solidFill>
                  <a:srgbClr val="000000"/>
                </a:solidFill>
                <a:latin typeface="微软雅黑" panose="020B0503020204020204" charset="-122"/>
                <a:ea typeface="微软雅黑" panose="020B0503020204020204" charset="-122"/>
              </a:rPr>
              <a:t>B.	</a:t>
            </a:r>
            <a:r>
              <a:rPr lang="zh-CN" altLang="en-US" sz="1400" b="1" dirty="0">
                <a:solidFill>
                  <a:srgbClr val="000000"/>
                </a:solidFill>
                <a:latin typeface="微软雅黑" panose="020B0503020204020204" charset="-122"/>
                <a:ea typeface="微软雅黑" panose="020B0503020204020204" charset="-122"/>
              </a:rPr>
              <a:t>订单管理解决方案</a:t>
            </a:r>
          </a:p>
        </p:txBody>
      </p:sp>
      <p:sp>
        <p:nvSpPr>
          <p:cNvPr id="46" name="圆角矩形 82"/>
          <p:cNvSpPr>
            <a:spLocks noChangeArrowheads="1"/>
          </p:cNvSpPr>
          <p:nvPr/>
        </p:nvSpPr>
        <p:spPr bwMode="auto">
          <a:xfrm>
            <a:off x="6043171" y="4033848"/>
            <a:ext cx="1928825" cy="432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pPr>
            <a:r>
              <a:rPr lang="en-US" altLang="zh-CN" sz="1400" b="1" dirty="0">
                <a:solidFill>
                  <a:srgbClr val="000000"/>
                </a:solidFill>
                <a:latin typeface="微软雅黑" panose="020B0503020204020204" charset="-122"/>
                <a:ea typeface="微软雅黑" panose="020B0503020204020204" charset="-122"/>
              </a:rPr>
              <a:t>C.	</a:t>
            </a:r>
            <a:r>
              <a:rPr lang="zh-CN" altLang="en-US" sz="1400" b="1" dirty="0">
                <a:solidFill>
                  <a:srgbClr val="000000"/>
                </a:solidFill>
                <a:latin typeface="微软雅黑" panose="020B0503020204020204" charset="-122"/>
                <a:ea typeface="微软雅黑" panose="020B0503020204020204" charset="-122"/>
              </a:rPr>
              <a:t>产销平衡与生产计划解决方案</a:t>
            </a:r>
          </a:p>
        </p:txBody>
      </p:sp>
      <p:sp>
        <p:nvSpPr>
          <p:cNvPr id="47" name="圆角矩形 82"/>
          <p:cNvSpPr>
            <a:spLocks noChangeArrowheads="1"/>
          </p:cNvSpPr>
          <p:nvPr/>
        </p:nvSpPr>
        <p:spPr bwMode="auto">
          <a:xfrm>
            <a:off x="6043171" y="4554776"/>
            <a:ext cx="1928825" cy="432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pPr>
            <a:r>
              <a:rPr lang="en-US" altLang="zh-CN" sz="1400" b="1" dirty="0">
                <a:solidFill>
                  <a:srgbClr val="000000"/>
                </a:solidFill>
                <a:latin typeface="微软雅黑" panose="020B0503020204020204" charset="-122"/>
                <a:ea typeface="微软雅黑" panose="020B0503020204020204" charset="-122"/>
              </a:rPr>
              <a:t>D.	</a:t>
            </a:r>
            <a:r>
              <a:rPr lang="zh-CN" altLang="en-US" sz="1400" b="1" dirty="0">
                <a:solidFill>
                  <a:srgbClr val="000000"/>
                </a:solidFill>
                <a:latin typeface="微软雅黑" panose="020B0503020204020204" charset="-122"/>
                <a:ea typeface="微软雅黑" panose="020B0503020204020204" charset="-122"/>
              </a:rPr>
              <a:t>生产执行与物流解决方案</a:t>
            </a:r>
          </a:p>
        </p:txBody>
      </p:sp>
      <p:sp>
        <p:nvSpPr>
          <p:cNvPr id="48" name="圆角矩形 82"/>
          <p:cNvSpPr>
            <a:spLocks noChangeArrowheads="1"/>
          </p:cNvSpPr>
          <p:nvPr/>
        </p:nvSpPr>
        <p:spPr bwMode="auto">
          <a:xfrm>
            <a:off x="6043171" y="5075703"/>
            <a:ext cx="1928825" cy="432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pPr>
            <a:r>
              <a:rPr lang="en-US" altLang="zh-CN" sz="1400" b="1" dirty="0">
                <a:solidFill>
                  <a:srgbClr val="000000"/>
                </a:solidFill>
                <a:latin typeface="微软雅黑" panose="020B0503020204020204" charset="-122"/>
                <a:ea typeface="微软雅黑" panose="020B0503020204020204" charset="-122"/>
              </a:rPr>
              <a:t>E.	</a:t>
            </a:r>
            <a:r>
              <a:rPr lang="zh-CN" altLang="en-US" sz="1400" b="1" dirty="0">
                <a:solidFill>
                  <a:srgbClr val="000000"/>
                </a:solidFill>
                <a:latin typeface="微软雅黑" panose="020B0503020204020204" charset="-122"/>
                <a:ea typeface="微软雅黑" panose="020B0503020204020204" charset="-122"/>
              </a:rPr>
              <a:t>零部件计划与交付解决方案</a:t>
            </a:r>
          </a:p>
        </p:txBody>
      </p:sp>
      <p:sp>
        <p:nvSpPr>
          <p:cNvPr id="49" name="圆角矩形 82"/>
          <p:cNvSpPr>
            <a:spLocks noChangeArrowheads="1"/>
          </p:cNvSpPr>
          <p:nvPr/>
        </p:nvSpPr>
        <p:spPr bwMode="auto">
          <a:xfrm>
            <a:off x="6043171" y="2474907"/>
            <a:ext cx="1928825" cy="410485"/>
          </a:xfrm>
          <a:prstGeom prst="roundRect">
            <a:avLst>
              <a:gd name="adj" fmla="val 16667"/>
            </a:avLst>
          </a:prstGeom>
          <a:gradFill flip="none" rotWithShape="1">
            <a:gsLst>
              <a:gs pos="2000">
                <a:srgbClr val="CCCCFF"/>
              </a:gs>
              <a:gs pos="100000">
                <a:srgbClr val="FFFFCC"/>
              </a:gs>
              <a:gs pos="0">
                <a:schemeClr val="accent1">
                  <a:tint val="66000"/>
                  <a:satMod val="160000"/>
                </a:schemeClr>
              </a:gs>
              <a:gs pos="0">
                <a:schemeClr val="accent1">
                  <a:tint val="66000"/>
                  <a:satMod val="160000"/>
                </a:schemeClr>
              </a:gs>
              <a:gs pos="0">
                <a:schemeClr val="accent1">
                  <a:tint val="66000"/>
                  <a:satMod val="160000"/>
                </a:schemeClr>
              </a:gs>
              <a:gs pos="0">
                <a:schemeClr val="accent1">
                  <a:tint val="66000"/>
                  <a:satMod val="160000"/>
                </a:schemeClr>
              </a:gs>
              <a:gs pos="0">
                <a:schemeClr val="accent1">
                  <a:tint val="66000"/>
                  <a:satMod val="160000"/>
                </a:schemeClr>
              </a:gs>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6350">
            <a:solidFill>
              <a:schemeClr val="tx1"/>
            </a:solidFill>
            <a:miter lim="800000"/>
          </a:ln>
        </p:spPr>
        <p:txBody>
          <a:bodyPr anchor="ctr"/>
          <a:lstStyle/>
          <a:p>
            <a:pPr marL="262255" indent="-262255" algn="ctr">
              <a:buClr>
                <a:schemeClr val="tx1"/>
              </a:buClr>
            </a:pPr>
            <a:r>
              <a:rPr lang="zh-CN" altLang="en-US" sz="1400" b="1" dirty="0">
                <a:latin typeface="微软雅黑" panose="020B0503020204020204" charset="-122"/>
                <a:ea typeface="微软雅黑" panose="020B0503020204020204" charset="-122"/>
              </a:rPr>
              <a:t>组织研讨及共识</a:t>
            </a:r>
          </a:p>
        </p:txBody>
      </p:sp>
      <p:sp>
        <p:nvSpPr>
          <p:cNvPr id="50" name="圆角矩形 82"/>
          <p:cNvSpPr>
            <a:spLocks noChangeArrowheads="1"/>
          </p:cNvSpPr>
          <p:nvPr/>
        </p:nvSpPr>
        <p:spPr bwMode="auto">
          <a:xfrm>
            <a:off x="6043171" y="1593611"/>
            <a:ext cx="1928825" cy="410485"/>
          </a:xfrm>
          <a:prstGeom prst="roundRect">
            <a:avLst>
              <a:gd name="adj" fmla="val 16667"/>
            </a:avLst>
          </a:prstGeom>
          <a:solidFill>
            <a:srgbClr val="CCCCFF"/>
          </a:solidFill>
          <a:ln w="6350">
            <a:solidFill>
              <a:schemeClr val="tx1"/>
            </a:solidFill>
            <a:miter lim="800000"/>
          </a:ln>
        </p:spPr>
        <p:txBody>
          <a:bodyPr anchor="ctr"/>
          <a:lstStyle/>
          <a:p>
            <a:pPr marL="262255" indent="-262255" algn="ctr">
              <a:buClr>
                <a:schemeClr val="tx1"/>
              </a:buClr>
            </a:pPr>
            <a:r>
              <a:rPr lang="zh-CN" altLang="en-US" sz="1400" b="1" dirty="0">
                <a:solidFill>
                  <a:srgbClr val="000000"/>
                </a:solidFill>
                <a:latin typeface="微软雅黑" panose="020B0503020204020204" charset="-122"/>
                <a:ea typeface="微软雅黑" panose="020B0503020204020204" charset="-122"/>
              </a:rPr>
              <a:t>计划模式研讨及共识</a:t>
            </a:r>
          </a:p>
        </p:txBody>
      </p:sp>
      <p:sp>
        <p:nvSpPr>
          <p:cNvPr id="51" name="圆角矩形 82"/>
          <p:cNvSpPr>
            <a:spLocks noChangeArrowheads="1"/>
          </p:cNvSpPr>
          <p:nvPr/>
        </p:nvSpPr>
        <p:spPr bwMode="auto">
          <a:xfrm>
            <a:off x="6043171" y="5722275"/>
            <a:ext cx="1928825" cy="346060"/>
          </a:xfrm>
          <a:prstGeom prst="roundRect">
            <a:avLst>
              <a:gd name="adj" fmla="val 16667"/>
            </a:avLst>
          </a:prstGeom>
          <a:solidFill>
            <a:srgbClr val="FFFFCC"/>
          </a:solidFill>
          <a:ln w="6350">
            <a:solidFill>
              <a:schemeClr val="tx1"/>
            </a:solidFill>
            <a:miter lim="800000"/>
          </a:ln>
        </p:spPr>
        <p:txBody>
          <a:bodyPr anchor="ctr"/>
          <a:lstStyle/>
          <a:p>
            <a:pPr marL="262255" indent="-262255" algn="ctr">
              <a:buClr>
                <a:schemeClr val="tx1"/>
              </a:buClr>
            </a:pPr>
            <a:r>
              <a:rPr lang="zh-CN" altLang="en-US" sz="1400" b="1" dirty="0">
                <a:latin typeface="微软雅黑" panose="020B0503020204020204" charset="-122"/>
                <a:ea typeface="微软雅黑" panose="020B0503020204020204" charset="-122"/>
              </a:rPr>
              <a:t>绩效体系设计</a:t>
            </a:r>
          </a:p>
        </p:txBody>
      </p:sp>
      <p:sp>
        <p:nvSpPr>
          <p:cNvPr id="52" name="圆角矩形 82"/>
          <p:cNvSpPr>
            <a:spLocks noChangeArrowheads="1"/>
          </p:cNvSpPr>
          <p:nvPr/>
        </p:nvSpPr>
        <p:spPr bwMode="auto">
          <a:xfrm>
            <a:off x="6043171" y="6176301"/>
            <a:ext cx="1928825" cy="410485"/>
          </a:xfrm>
          <a:prstGeom prst="roundRect">
            <a:avLst>
              <a:gd name="adj" fmla="val 16667"/>
            </a:avLst>
          </a:prstGeom>
          <a:solidFill>
            <a:srgbClr val="FFFFCC"/>
          </a:solidFill>
          <a:ln w="6350">
            <a:solidFill>
              <a:schemeClr val="tx1"/>
            </a:solidFill>
            <a:miter lim="800000"/>
          </a:ln>
        </p:spPr>
        <p:txBody>
          <a:bodyPr anchor="ctr"/>
          <a:lstStyle/>
          <a:p>
            <a:pPr marL="262255" indent="-262255" algn="ctr">
              <a:buClr>
                <a:schemeClr val="tx1"/>
              </a:buClr>
            </a:pPr>
            <a:r>
              <a:rPr lang="zh-CN" altLang="en-US" sz="1400" b="1" dirty="0">
                <a:latin typeface="微软雅黑" panose="020B0503020204020204" charset="-122"/>
                <a:ea typeface="微软雅黑" panose="020B0503020204020204" charset="-122"/>
              </a:rPr>
              <a:t>流程设计</a:t>
            </a:r>
            <a:r>
              <a:rPr lang="en-US" altLang="zh-CN" sz="1400" b="1" dirty="0">
                <a:latin typeface="微软雅黑" panose="020B0503020204020204" charset="-122"/>
                <a:ea typeface="微软雅黑" panose="020B0503020204020204" charset="-122"/>
              </a:rPr>
              <a:t>/IT</a:t>
            </a:r>
            <a:r>
              <a:rPr lang="zh-CN" altLang="en-US" sz="1400" b="1" dirty="0">
                <a:latin typeface="微软雅黑" panose="020B0503020204020204" charset="-122"/>
                <a:ea typeface="微软雅黑" panose="020B0503020204020204" charset="-122"/>
              </a:rPr>
              <a:t>需求梳理</a:t>
            </a:r>
          </a:p>
        </p:txBody>
      </p:sp>
      <p:cxnSp>
        <p:nvCxnSpPr>
          <p:cNvPr id="53" name="直接连接符 91"/>
          <p:cNvCxnSpPr>
            <a:cxnSpLocks noChangeShapeType="1"/>
            <a:stCxn id="50" idx="1"/>
            <a:endCxn id="37" idx="6"/>
          </p:cNvCxnSpPr>
          <p:nvPr/>
        </p:nvCxnSpPr>
        <p:spPr bwMode="auto">
          <a:xfrm rot="10800000">
            <a:off x="5573947" y="1459468"/>
            <a:ext cx="469225" cy="339386"/>
          </a:xfrm>
          <a:prstGeom prst="line">
            <a:avLst/>
          </a:prstGeom>
          <a:noFill/>
          <a:ln w="9525" algn="ctr">
            <a:solidFill>
              <a:schemeClr val="tx1"/>
            </a:solidFill>
            <a:round/>
          </a:ln>
        </p:spPr>
      </p:cxnSp>
      <p:cxnSp>
        <p:nvCxnSpPr>
          <p:cNvPr id="56" name="直接连接符 91"/>
          <p:cNvCxnSpPr>
            <a:cxnSpLocks noChangeShapeType="1"/>
            <a:stCxn id="50" idx="1"/>
            <a:endCxn id="28" idx="6"/>
          </p:cNvCxnSpPr>
          <p:nvPr/>
        </p:nvCxnSpPr>
        <p:spPr bwMode="auto">
          <a:xfrm rot="10800000" flipV="1">
            <a:off x="5573947" y="1798853"/>
            <a:ext cx="469225" cy="893"/>
          </a:xfrm>
          <a:prstGeom prst="line">
            <a:avLst/>
          </a:prstGeom>
          <a:noFill/>
          <a:ln w="9525" algn="ctr">
            <a:solidFill>
              <a:schemeClr val="tx1"/>
            </a:solidFill>
            <a:round/>
          </a:ln>
        </p:spPr>
      </p:cxnSp>
      <p:cxnSp>
        <p:nvCxnSpPr>
          <p:cNvPr id="59" name="直接连接符 91"/>
          <p:cNvCxnSpPr>
            <a:cxnSpLocks noChangeShapeType="1"/>
            <a:stCxn id="50" idx="1"/>
            <a:endCxn id="29" idx="6"/>
          </p:cNvCxnSpPr>
          <p:nvPr/>
        </p:nvCxnSpPr>
        <p:spPr bwMode="auto">
          <a:xfrm rot="10800000" flipV="1">
            <a:off x="5573947" y="1798853"/>
            <a:ext cx="469225" cy="341965"/>
          </a:xfrm>
          <a:prstGeom prst="line">
            <a:avLst/>
          </a:prstGeom>
          <a:noFill/>
          <a:ln w="9525" algn="ctr">
            <a:solidFill>
              <a:schemeClr val="tx1"/>
            </a:solidFill>
            <a:round/>
          </a:ln>
        </p:spPr>
      </p:cxnSp>
      <p:cxnSp>
        <p:nvCxnSpPr>
          <p:cNvPr id="62" name="直接连接符 91"/>
          <p:cNvCxnSpPr>
            <a:cxnSpLocks noChangeShapeType="1"/>
            <a:stCxn id="49" idx="1"/>
            <a:endCxn id="31" idx="6"/>
          </p:cNvCxnSpPr>
          <p:nvPr/>
        </p:nvCxnSpPr>
        <p:spPr bwMode="auto">
          <a:xfrm rot="10800000">
            <a:off x="5573947" y="2481892"/>
            <a:ext cx="469225" cy="198259"/>
          </a:xfrm>
          <a:prstGeom prst="line">
            <a:avLst/>
          </a:prstGeom>
          <a:noFill/>
          <a:ln w="9525" algn="ctr">
            <a:solidFill>
              <a:schemeClr val="tx1"/>
            </a:solidFill>
            <a:round/>
          </a:ln>
        </p:spPr>
      </p:cxnSp>
      <p:cxnSp>
        <p:nvCxnSpPr>
          <p:cNvPr id="65" name="直接连接符 91"/>
          <p:cNvCxnSpPr>
            <a:cxnSpLocks noChangeShapeType="1"/>
            <a:stCxn id="49" idx="1"/>
            <a:endCxn id="30" idx="6"/>
          </p:cNvCxnSpPr>
          <p:nvPr/>
        </p:nvCxnSpPr>
        <p:spPr bwMode="auto">
          <a:xfrm rot="10800000" flipV="1">
            <a:off x="5573947" y="2680149"/>
            <a:ext cx="469225" cy="142813"/>
          </a:xfrm>
          <a:prstGeom prst="line">
            <a:avLst/>
          </a:prstGeom>
          <a:noFill/>
          <a:ln w="9525" algn="ctr">
            <a:solidFill>
              <a:schemeClr val="tx1"/>
            </a:solidFill>
            <a:round/>
          </a:ln>
        </p:spPr>
      </p:cxnSp>
      <p:cxnSp>
        <p:nvCxnSpPr>
          <p:cNvPr id="68" name="直接连接符 91"/>
          <p:cNvCxnSpPr>
            <a:cxnSpLocks noChangeShapeType="1"/>
            <a:stCxn id="44" idx="1"/>
            <a:endCxn id="32" idx="6"/>
          </p:cNvCxnSpPr>
          <p:nvPr/>
        </p:nvCxnSpPr>
        <p:spPr bwMode="auto">
          <a:xfrm rot="10800000">
            <a:off x="5573947" y="3164036"/>
            <a:ext cx="469225" cy="151957"/>
          </a:xfrm>
          <a:prstGeom prst="line">
            <a:avLst/>
          </a:prstGeom>
          <a:noFill/>
          <a:ln w="9525" algn="ctr">
            <a:solidFill>
              <a:schemeClr val="tx1"/>
            </a:solidFill>
            <a:round/>
          </a:ln>
        </p:spPr>
      </p:cxnSp>
      <p:cxnSp>
        <p:nvCxnSpPr>
          <p:cNvPr id="71" name="直接连接符 91"/>
          <p:cNvCxnSpPr>
            <a:cxnSpLocks noChangeShapeType="1"/>
            <a:stCxn id="45" idx="1"/>
            <a:endCxn id="33" idx="6"/>
          </p:cNvCxnSpPr>
          <p:nvPr/>
        </p:nvCxnSpPr>
        <p:spPr bwMode="auto">
          <a:xfrm rot="10800000">
            <a:off x="5573947" y="3505108"/>
            <a:ext cx="469225" cy="259813"/>
          </a:xfrm>
          <a:prstGeom prst="line">
            <a:avLst/>
          </a:prstGeom>
          <a:noFill/>
          <a:ln w="9525" algn="ctr">
            <a:solidFill>
              <a:schemeClr val="tx1"/>
            </a:solidFill>
            <a:round/>
          </a:ln>
        </p:spPr>
      </p:cxnSp>
      <p:cxnSp>
        <p:nvCxnSpPr>
          <p:cNvPr id="74" name="直接连接符 91"/>
          <p:cNvCxnSpPr>
            <a:cxnSpLocks noChangeShapeType="1"/>
            <a:stCxn id="46" idx="1"/>
            <a:endCxn id="38" idx="6"/>
          </p:cNvCxnSpPr>
          <p:nvPr/>
        </p:nvCxnSpPr>
        <p:spPr bwMode="auto">
          <a:xfrm rot="10800000">
            <a:off x="5586647" y="3846180"/>
            <a:ext cx="456525" cy="403669"/>
          </a:xfrm>
          <a:prstGeom prst="line">
            <a:avLst/>
          </a:prstGeom>
          <a:noFill/>
          <a:ln w="9525" algn="ctr">
            <a:solidFill>
              <a:schemeClr val="tx1"/>
            </a:solidFill>
            <a:round/>
          </a:ln>
        </p:spPr>
      </p:cxnSp>
      <p:cxnSp>
        <p:nvCxnSpPr>
          <p:cNvPr id="80" name="直接连接符 91"/>
          <p:cNvCxnSpPr>
            <a:cxnSpLocks noChangeShapeType="1"/>
            <a:stCxn id="46" idx="1"/>
            <a:endCxn id="34" idx="6"/>
          </p:cNvCxnSpPr>
          <p:nvPr/>
        </p:nvCxnSpPr>
        <p:spPr bwMode="auto">
          <a:xfrm rot="10800000">
            <a:off x="5573947" y="4187252"/>
            <a:ext cx="469225" cy="62597"/>
          </a:xfrm>
          <a:prstGeom prst="line">
            <a:avLst/>
          </a:prstGeom>
          <a:noFill/>
          <a:ln w="9525" algn="ctr">
            <a:solidFill>
              <a:schemeClr val="tx1"/>
            </a:solidFill>
            <a:round/>
          </a:ln>
        </p:spPr>
      </p:cxnSp>
      <p:cxnSp>
        <p:nvCxnSpPr>
          <p:cNvPr id="83" name="直接连接符 91"/>
          <p:cNvCxnSpPr>
            <a:cxnSpLocks noChangeShapeType="1"/>
            <a:stCxn id="48" idx="1"/>
            <a:endCxn id="39" idx="6"/>
          </p:cNvCxnSpPr>
          <p:nvPr/>
        </p:nvCxnSpPr>
        <p:spPr bwMode="auto">
          <a:xfrm rot="10800000">
            <a:off x="5586647" y="4528323"/>
            <a:ext cx="456525" cy="763380"/>
          </a:xfrm>
          <a:prstGeom prst="line">
            <a:avLst/>
          </a:prstGeom>
          <a:noFill/>
          <a:ln w="9525" algn="ctr">
            <a:solidFill>
              <a:schemeClr val="tx1"/>
            </a:solidFill>
            <a:round/>
          </a:ln>
        </p:spPr>
      </p:cxnSp>
      <p:cxnSp>
        <p:nvCxnSpPr>
          <p:cNvPr id="86" name="直接连接符 91"/>
          <p:cNvCxnSpPr>
            <a:cxnSpLocks noChangeShapeType="1"/>
            <a:stCxn id="48" idx="1"/>
            <a:endCxn id="35" idx="6"/>
          </p:cNvCxnSpPr>
          <p:nvPr/>
        </p:nvCxnSpPr>
        <p:spPr bwMode="auto">
          <a:xfrm rot="10800000">
            <a:off x="5573947" y="4869395"/>
            <a:ext cx="469225" cy="422308"/>
          </a:xfrm>
          <a:prstGeom prst="line">
            <a:avLst/>
          </a:prstGeom>
          <a:noFill/>
          <a:ln w="9525" algn="ctr">
            <a:solidFill>
              <a:schemeClr val="tx1"/>
            </a:solidFill>
            <a:round/>
          </a:ln>
        </p:spPr>
      </p:cxnSp>
      <p:cxnSp>
        <p:nvCxnSpPr>
          <p:cNvPr id="89" name="直接连接符 91"/>
          <p:cNvCxnSpPr>
            <a:cxnSpLocks noChangeShapeType="1"/>
            <a:stCxn id="52" idx="1"/>
            <a:endCxn id="40" idx="6"/>
          </p:cNvCxnSpPr>
          <p:nvPr/>
        </p:nvCxnSpPr>
        <p:spPr bwMode="auto">
          <a:xfrm rot="10800000">
            <a:off x="5586647" y="5363320"/>
            <a:ext cx="456525" cy="1018225"/>
          </a:xfrm>
          <a:prstGeom prst="line">
            <a:avLst/>
          </a:prstGeom>
          <a:noFill/>
          <a:ln w="9525" algn="ctr">
            <a:solidFill>
              <a:schemeClr val="tx1"/>
            </a:solidFill>
            <a:round/>
          </a:ln>
        </p:spPr>
      </p:cxnSp>
      <p:cxnSp>
        <p:nvCxnSpPr>
          <p:cNvPr id="92" name="直接连接符 91"/>
          <p:cNvCxnSpPr>
            <a:cxnSpLocks noChangeShapeType="1"/>
            <a:stCxn id="47" idx="1"/>
            <a:endCxn id="36" idx="6"/>
          </p:cNvCxnSpPr>
          <p:nvPr/>
        </p:nvCxnSpPr>
        <p:spPr bwMode="auto">
          <a:xfrm rot="10800000" flipV="1">
            <a:off x="5573947" y="4770775"/>
            <a:ext cx="469225" cy="903417"/>
          </a:xfrm>
          <a:prstGeom prst="line">
            <a:avLst/>
          </a:prstGeom>
          <a:noFill/>
          <a:ln w="9525" algn="ctr">
            <a:solidFill>
              <a:schemeClr val="tx1"/>
            </a:solidFill>
            <a:round/>
          </a:ln>
        </p:spPr>
      </p:cxnSp>
      <p:cxnSp>
        <p:nvCxnSpPr>
          <p:cNvPr id="96" name="直接连接符 91"/>
          <p:cNvCxnSpPr>
            <a:cxnSpLocks noChangeShapeType="1"/>
            <a:stCxn id="51" idx="1"/>
            <a:endCxn id="41" idx="6"/>
          </p:cNvCxnSpPr>
          <p:nvPr/>
        </p:nvCxnSpPr>
        <p:spPr bwMode="auto">
          <a:xfrm rot="10800000" flipV="1">
            <a:off x="5586647" y="5895304"/>
            <a:ext cx="456525" cy="151903"/>
          </a:xfrm>
          <a:prstGeom prst="line">
            <a:avLst/>
          </a:prstGeom>
          <a:noFill/>
          <a:ln w="9525" algn="ctr">
            <a:solidFill>
              <a:schemeClr val="tx1"/>
            </a:solidFill>
            <a:round/>
          </a:ln>
        </p:spPr>
      </p:cxnSp>
      <p:cxnSp>
        <p:nvCxnSpPr>
          <p:cNvPr id="99" name="直接连接符 91"/>
          <p:cNvCxnSpPr>
            <a:cxnSpLocks noChangeShapeType="1"/>
            <a:stCxn id="52" idx="1"/>
            <a:endCxn id="42" idx="6"/>
          </p:cNvCxnSpPr>
          <p:nvPr/>
        </p:nvCxnSpPr>
        <p:spPr bwMode="auto">
          <a:xfrm rot="10800000">
            <a:off x="5586647" y="6381544"/>
            <a:ext cx="456525" cy="1588"/>
          </a:xfrm>
          <a:prstGeom prst="line">
            <a:avLst/>
          </a:prstGeom>
          <a:noFill/>
          <a:ln w="9525" algn="ctr">
            <a:solidFill>
              <a:schemeClr val="tx1"/>
            </a:solidFill>
            <a:round/>
          </a:ln>
        </p:spPr>
      </p:cxnSp>
      <p:cxnSp>
        <p:nvCxnSpPr>
          <p:cNvPr id="103" name="直接连接符 102"/>
          <p:cNvCxnSpPr/>
          <p:nvPr/>
        </p:nvCxnSpPr>
        <p:spPr bwMode="auto">
          <a:xfrm>
            <a:off x="6057586" y="1189023"/>
            <a:ext cx="1872000" cy="1588"/>
          </a:xfrm>
          <a:prstGeom prst="line">
            <a:avLst/>
          </a:prstGeom>
          <a:solidFill>
            <a:schemeClr val="accent1"/>
          </a:solidFill>
          <a:ln w="9525" cap="flat" cmpd="sng" algn="ctr">
            <a:solidFill>
              <a:schemeClr val="tx1"/>
            </a:solidFill>
            <a:prstDash val="solid"/>
            <a:round/>
            <a:headEnd type="none" w="med" len="med"/>
            <a:tailEnd type="none"/>
          </a:ln>
          <a:effectLst/>
        </p:spPr>
      </p:cxnSp>
      <p:sp>
        <p:nvSpPr>
          <p:cNvPr id="104" name="TextBox 103"/>
          <p:cNvSpPr txBox="1"/>
          <p:nvPr/>
        </p:nvSpPr>
        <p:spPr bwMode="auto">
          <a:xfrm>
            <a:off x="6504882" y="875868"/>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解决思路</a:t>
            </a:r>
          </a:p>
        </p:txBody>
      </p:sp>
      <p:cxnSp>
        <p:nvCxnSpPr>
          <p:cNvPr id="105" name="直接连接符 104"/>
          <p:cNvCxnSpPr/>
          <p:nvPr/>
        </p:nvCxnSpPr>
        <p:spPr bwMode="auto">
          <a:xfrm>
            <a:off x="1228928" y="1185394"/>
            <a:ext cx="4320000" cy="1588"/>
          </a:xfrm>
          <a:prstGeom prst="line">
            <a:avLst/>
          </a:prstGeom>
          <a:solidFill>
            <a:schemeClr val="accent1"/>
          </a:solidFill>
          <a:ln w="9525" cap="flat" cmpd="sng" algn="ctr">
            <a:solidFill>
              <a:schemeClr val="tx1"/>
            </a:solidFill>
            <a:prstDash val="solid"/>
            <a:round/>
            <a:headEnd type="none" w="med" len="med"/>
            <a:tailEnd type="none"/>
          </a:ln>
          <a:effectLst/>
        </p:spPr>
      </p:cxnSp>
      <p:sp>
        <p:nvSpPr>
          <p:cNvPr id="106" name="TextBox 105"/>
          <p:cNvSpPr txBox="1"/>
          <p:nvPr/>
        </p:nvSpPr>
        <p:spPr bwMode="auto">
          <a:xfrm>
            <a:off x="2886227" y="886260"/>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关键发现</a:t>
            </a:r>
          </a:p>
        </p:txBody>
      </p:sp>
      <p:sp>
        <p:nvSpPr>
          <p:cNvPr id="61" name="TextBox 60"/>
          <p:cNvSpPr txBox="1"/>
          <p:nvPr/>
        </p:nvSpPr>
        <p:spPr bwMode="auto">
          <a:xfrm>
            <a:off x="7985378" y="1637179"/>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清晰模式</a:t>
            </a:r>
          </a:p>
        </p:txBody>
      </p:sp>
      <p:cxnSp>
        <p:nvCxnSpPr>
          <p:cNvPr id="63" name="直接连接符 62"/>
          <p:cNvCxnSpPr/>
          <p:nvPr/>
        </p:nvCxnSpPr>
        <p:spPr bwMode="auto">
          <a:xfrm>
            <a:off x="8143900" y="1183769"/>
            <a:ext cx="720000" cy="1588"/>
          </a:xfrm>
          <a:prstGeom prst="line">
            <a:avLst/>
          </a:prstGeom>
          <a:solidFill>
            <a:schemeClr val="accent1"/>
          </a:solidFill>
          <a:ln w="9525" cap="flat" cmpd="sng" algn="ctr">
            <a:solidFill>
              <a:schemeClr val="tx1"/>
            </a:solidFill>
            <a:prstDash val="solid"/>
            <a:round/>
            <a:headEnd type="none" w="med" len="med"/>
            <a:tailEnd type="none"/>
          </a:ln>
          <a:effectLst/>
        </p:spPr>
      </p:cxnSp>
      <p:sp>
        <p:nvSpPr>
          <p:cNvPr id="64" name="TextBox 63"/>
          <p:cNvSpPr txBox="1"/>
          <p:nvPr/>
        </p:nvSpPr>
        <p:spPr bwMode="auto">
          <a:xfrm>
            <a:off x="8206383" y="870614"/>
            <a:ext cx="595035"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目标</a:t>
            </a:r>
          </a:p>
        </p:txBody>
      </p:sp>
      <p:sp>
        <p:nvSpPr>
          <p:cNvPr id="66" name="TextBox 65"/>
          <p:cNvSpPr txBox="1"/>
          <p:nvPr/>
        </p:nvSpPr>
        <p:spPr bwMode="auto">
          <a:xfrm>
            <a:off x="7985378" y="2518942"/>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理顺组织</a:t>
            </a:r>
          </a:p>
        </p:txBody>
      </p:sp>
      <p:sp>
        <p:nvSpPr>
          <p:cNvPr id="67" name="TextBox 66"/>
          <p:cNvSpPr txBox="1"/>
          <p:nvPr/>
        </p:nvSpPr>
        <p:spPr bwMode="auto">
          <a:xfrm>
            <a:off x="7985378" y="4091710"/>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优化业务</a:t>
            </a:r>
          </a:p>
        </p:txBody>
      </p:sp>
      <p:sp>
        <p:nvSpPr>
          <p:cNvPr id="69" name="TextBox 68"/>
          <p:cNvSpPr txBox="1"/>
          <p:nvPr/>
        </p:nvSpPr>
        <p:spPr bwMode="auto">
          <a:xfrm>
            <a:off x="7985378" y="5749298"/>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强化管控</a:t>
            </a:r>
          </a:p>
        </p:txBody>
      </p:sp>
      <p:sp>
        <p:nvSpPr>
          <p:cNvPr id="70" name="TextBox 69"/>
          <p:cNvSpPr txBox="1"/>
          <p:nvPr/>
        </p:nvSpPr>
        <p:spPr bwMode="auto">
          <a:xfrm>
            <a:off x="7985378" y="6233718"/>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规范流程</a:t>
            </a:r>
          </a:p>
        </p:txBody>
      </p:sp>
      <p:sp>
        <p:nvSpPr>
          <p:cNvPr id="77" name="Rectangle 2"/>
          <p:cNvSpPr>
            <a:spLocks noChangeArrowheads="1"/>
          </p:cNvSpPr>
          <p:nvPr/>
        </p:nvSpPr>
        <p:spPr bwMode="auto">
          <a:xfrm>
            <a:off x="357158" y="1285860"/>
            <a:ext cx="5286412" cy="5357850"/>
          </a:xfrm>
          <a:prstGeom prst="rect">
            <a:avLst/>
          </a:prstGeom>
          <a:solidFill>
            <a:schemeClr val="accent1">
              <a:lumMod val="20000"/>
              <a:lumOff val="80000"/>
              <a:alpha val="61000"/>
            </a:schemeClr>
          </a:solidFill>
          <a:ln w="9525">
            <a:solidFill>
              <a:schemeClr val="accent1">
                <a:lumMod val="75000"/>
              </a:schemeClr>
            </a:solidFill>
            <a:miter lim="800000"/>
          </a:ln>
        </p:spPr>
        <p:txBody>
          <a:bodyPr wrap="none" tIns="108000" rIns="108000" anchor="b"/>
          <a:lstStyle/>
          <a:p>
            <a:pPr algn="ctr" eaLnBrk="0" hangingPunct="0">
              <a:lnSpc>
                <a:spcPct val="90000"/>
              </a:lnSpc>
              <a:buClr>
                <a:srgbClr val="000000"/>
              </a:buClr>
              <a:buFont typeface="Arial" panose="020B0604020202020204" pitchFamily="34" charset="0"/>
              <a:buNone/>
            </a:pPr>
            <a:endParaRPr lang="zh-CN" altLang="en-US" b="1" dirty="0">
              <a:solidFill>
                <a:srgbClr val="C00000"/>
              </a:solidFill>
              <a:latin typeface="微软雅黑" panose="020B0503020204020204" charset="-122"/>
              <a:ea typeface="微软雅黑" panose="020B0503020204020204" charset="-122"/>
            </a:endParaRPr>
          </a:p>
        </p:txBody>
      </p:sp>
      <p:sp>
        <p:nvSpPr>
          <p:cNvPr id="78" name="圆角矩形 77"/>
          <p:cNvSpPr/>
          <p:nvPr/>
        </p:nvSpPr>
        <p:spPr bwMode="auto">
          <a:xfrm>
            <a:off x="813682" y="1932430"/>
            <a:ext cx="4286280" cy="648000"/>
          </a:xfrm>
          <a:prstGeom prst="roundRect">
            <a:avLst/>
          </a:prstGeom>
          <a:solidFill>
            <a:schemeClr val="accent1">
              <a:lumMod val="60000"/>
              <a:lumOff val="40000"/>
            </a:schemeClr>
          </a:solidFill>
          <a:ln w="9525" cap="flat" cmpd="sng" algn="ctr">
            <a:solidFill>
              <a:schemeClr val="tx1"/>
            </a:solidFill>
            <a:prstDash val="solid"/>
            <a:round/>
            <a:headEnd type="none" w="med" len="med"/>
            <a:tailEnd type="none"/>
          </a:ln>
          <a:effectLst/>
        </p:spPr>
        <p:txBody>
          <a:bodyPr lIns="720000" rtlCol="0" anchor="ctr"/>
          <a:lstStyle/>
          <a:p>
            <a:r>
              <a:rPr lang="zh-CN" altLang="en-US" b="1" dirty="0">
                <a:solidFill>
                  <a:schemeClr val="bg1"/>
                </a:solidFill>
                <a:latin typeface="微软雅黑" panose="020B0503020204020204" charset="-122"/>
                <a:ea typeface="微软雅黑" panose="020B0503020204020204" charset="-122"/>
              </a:rPr>
              <a:t>强调满足市场需求，</a:t>
            </a:r>
            <a:endParaRPr lang="en-US" altLang="zh-CN" b="1" dirty="0">
              <a:solidFill>
                <a:schemeClr val="bg1"/>
              </a:solidFill>
              <a:latin typeface="微软雅黑" panose="020B0503020204020204" charset="-122"/>
              <a:ea typeface="微软雅黑" panose="020B0503020204020204" charset="-122"/>
            </a:endParaRPr>
          </a:p>
          <a:p>
            <a:r>
              <a:rPr lang="zh-CN" altLang="en-US" b="1" dirty="0">
                <a:solidFill>
                  <a:schemeClr val="bg1"/>
                </a:solidFill>
                <a:latin typeface="微软雅黑" panose="020B0503020204020204" charset="-122"/>
                <a:ea typeface="微软雅黑" panose="020B0503020204020204" charset="-122"/>
              </a:rPr>
              <a:t>但缺少规则，生产计划常被打乱</a:t>
            </a:r>
          </a:p>
        </p:txBody>
      </p:sp>
      <p:sp>
        <p:nvSpPr>
          <p:cNvPr id="79" name="圆角矩形 78"/>
          <p:cNvSpPr/>
          <p:nvPr/>
        </p:nvSpPr>
        <p:spPr bwMode="auto">
          <a:xfrm>
            <a:off x="813682" y="3027813"/>
            <a:ext cx="4286280" cy="648000"/>
          </a:xfrm>
          <a:prstGeom prst="roundRect">
            <a:avLst/>
          </a:prstGeom>
          <a:solidFill>
            <a:schemeClr val="accent1">
              <a:lumMod val="60000"/>
              <a:lumOff val="40000"/>
            </a:schemeClr>
          </a:solidFill>
          <a:ln w="9525" cap="flat" cmpd="sng" algn="ctr">
            <a:solidFill>
              <a:schemeClr val="tx1"/>
            </a:solidFill>
            <a:prstDash val="solid"/>
            <a:round/>
            <a:headEnd type="none" w="med" len="med"/>
            <a:tailEnd type="none"/>
          </a:ln>
          <a:effectLst/>
        </p:spPr>
        <p:txBody>
          <a:bodyPr lIns="720000" rtlCol="0" anchor="ctr"/>
          <a:lstStyle/>
          <a:p>
            <a:r>
              <a:rPr lang="zh-CN" altLang="en-US" b="1" dirty="0">
                <a:solidFill>
                  <a:schemeClr val="bg1"/>
                </a:solidFill>
                <a:latin typeface="微软雅黑" panose="020B0503020204020204" charset="-122"/>
                <a:ea typeface="微软雅黑" panose="020B0503020204020204" charset="-122"/>
              </a:rPr>
              <a:t>强调库存管控、精益化生产</a:t>
            </a:r>
            <a:endParaRPr lang="en-US" altLang="zh-CN" b="1" dirty="0">
              <a:solidFill>
                <a:schemeClr val="bg1"/>
              </a:solidFill>
              <a:latin typeface="微软雅黑" panose="020B0503020204020204" charset="-122"/>
              <a:ea typeface="微软雅黑" panose="020B0503020204020204" charset="-122"/>
            </a:endParaRPr>
          </a:p>
          <a:p>
            <a:r>
              <a:rPr lang="zh-CN" altLang="en-US" b="1" dirty="0">
                <a:solidFill>
                  <a:schemeClr val="bg1"/>
                </a:solidFill>
                <a:latin typeface="微软雅黑" panose="020B0503020204020204" charset="-122"/>
                <a:ea typeface="微软雅黑" panose="020B0503020204020204" charset="-122"/>
              </a:rPr>
              <a:t>但缺乏有效的计划体系支撑</a:t>
            </a:r>
          </a:p>
        </p:txBody>
      </p:sp>
      <p:sp>
        <p:nvSpPr>
          <p:cNvPr id="81" name="圆角矩形 80"/>
          <p:cNvSpPr/>
          <p:nvPr/>
        </p:nvSpPr>
        <p:spPr bwMode="auto">
          <a:xfrm>
            <a:off x="813682" y="4123196"/>
            <a:ext cx="4286280" cy="648000"/>
          </a:xfrm>
          <a:prstGeom prst="roundRect">
            <a:avLst/>
          </a:prstGeom>
          <a:solidFill>
            <a:schemeClr val="accent1">
              <a:lumMod val="60000"/>
              <a:lumOff val="40000"/>
            </a:schemeClr>
          </a:solidFill>
          <a:ln w="9525" cap="flat" cmpd="sng" algn="ctr">
            <a:solidFill>
              <a:schemeClr val="tx1"/>
            </a:solidFill>
            <a:prstDash val="solid"/>
            <a:round/>
            <a:headEnd type="none" w="med" len="med"/>
            <a:tailEnd type="none"/>
          </a:ln>
          <a:effectLst/>
        </p:spPr>
        <p:txBody>
          <a:bodyPr lIns="720000" rtlCol="0" anchor="ctr"/>
          <a:lstStyle/>
          <a:p>
            <a:r>
              <a:rPr lang="zh-CN" altLang="en-US" b="1" dirty="0">
                <a:solidFill>
                  <a:schemeClr val="bg1"/>
                </a:solidFill>
                <a:latin typeface="微软雅黑" panose="020B0503020204020204" charset="-122"/>
                <a:ea typeface="微软雅黑" panose="020B0503020204020204" charset="-122"/>
              </a:rPr>
              <a:t>业务数据（含工程变更）基础薄弱，业务流与信</a:t>
            </a:r>
            <a:r>
              <a:rPr lang="zh-CN" altLang="en-US" b="1">
                <a:solidFill>
                  <a:schemeClr val="bg1"/>
                </a:solidFill>
                <a:latin typeface="微软雅黑" panose="020B0503020204020204" charset="-122"/>
                <a:ea typeface="微软雅黑" panose="020B0503020204020204" charset="-122"/>
              </a:rPr>
              <a:t>息流匹配度低</a:t>
            </a:r>
            <a:endParaRPr lang="en-US" altLang="zh-CN" b="1" dirty="0">
              <a:solidFill>
                <a:schemeClr val="bg1"/>
              </a:solidFill>
              <a:latin typeface="微软雅黑" panose="020B0503020204020204" charset="-122"/>
              <a:ea typeface="微软雅黑" panose="020B0503020204020204" charset="-122"/>
            </a:endParaRPr>
          </a:p>
        </p:txBody>
      </p:sp>
      <p:sp>
        <p:nvSpPr>
          <p:cNvPr id="82" name="圆角矩形 81"/>
          <p:cNvSpPr/>
          <p:nvPr/>
        </p:nvSpPr>
        <p:spPr bwMode="auto">
          <a:xfrm>
            <a:off x="813682" y="5218578"/>
            <a:ext cx="4286280" cy="648000"/>
          </a:xfrm>
          <a:prstGeom prst="roundRect">
            <a:avLst/>
          </a:prstGeom>
          <a:solidFill>
            <a:schemeClr val="accent1">
              <a:lumMod val="60000"/>
              <a:lumOff val="40000"/>
            </a:schemeClr>
          </a:solidFill>
          <a:ln w="9525" cap="flat" cmpd="sng" algn="ctr">
            <a:solidFill>
              <a:schemeClr val="tx1"/>
            </a:solidFill>
            <a:prstDash val="solid"/>
            <a:round/>
            <a:headEnd type="none" w="med" len="med"/>
            <a:tailEnd type="none"/>
          </a:ln>
          <a:effectLst/>
        </p:spPr>
        <p:txBody>
          <a:bodyPr lIns="720000" rtlCol="0" anchor="ctr"/>
          <a:lstStyle/>
          <a:p>
            <a:r>
              <a:rPr lang="zh-CN" altLang="en-US" b="1" dirty="0">
                <a:solidFill>
                  <a:schemeClr val="bg1"/>
                </a:solidFill>
                <a:latin typeface="微软雅黑" panose="020B0503020204020204" charset="-122"/>
                <a:ea typeface="微软雅黑" panose="020B0503020204020204" charset="-122"/>
              </a:rPr>
              <a:t>管理与决策更多凭经验</a:t>
            </a:r>
            <a:endParaRPr lang="en-US" altLang="zh-CN" b="1" dirty="0">
              <a:solidFill>
                <a:schemeClr val="bg1"/>
              </a:solidFill>
              <a:latin typeface="微软雅黑" panose="020B0503020204020204" charset="-122"/>
              <a:ea typeface="微软雅黑" panose="020B0503020204020204" charset="-122"/>
            </a:endParaRPr>
          </a:p>
          <a:p>
            <a:r>
              <a:rPr lang="zh-CN" altLang="en-US" b="1" dirty="0">
                <a:solidFill>
                  <a:schemeClr val="bg1"/>
                </a:solidFill>
                <a:latin typeface="微软雅黑" panose="020B0503020204020204" charset="-122"/>
                <a:ea typeface="微软雅黑" panose="020B0503020204020204" charset="-122"/>
              </a:rPr>
              <a:t>缺乏工具与手段的支持</a:t>
            </a:r>
          </a:p>
        </p:txBody>
      </p:sp>
      <p:sp>
        <p:nvSpPr>
          <p:cNvPr id="84" name="Rectangle 2"/>
          <p:cNvSpPr>
            <a:spLocks noChangeArrowheads="1"/>
          </p:cNvSpPr>
          <p:nvPr/>
        </p:nvSpPr>
        <p:spPr bwMode="auto">
          <a:xfrm>
            <a:off x="6000760" y="1285860"/>
            <a:ext cx="2963853" cy="5357850"/>
          </a:xfrm>
          <a:prstGeom prst="rect">
            <a:avLst/>
          </a:prstGeom>
          <a:solidFill>
            <a:schemeClr val="accent1">
              <a:lumMod val="20000"/>
              <a:lumOff val="80000"/>
              <a:alpha val="61000"/>
            </a:schemeClr>
          </a:solidFill>
          <a:ln w="9525">
            <a:solidFill>
              <a:schemeClr val="accent1">
                <a:lumMod val="75000"/>
              </a:schemeClr>
            </a:solidFill>
            <a:miter lim="800000"/>
          </a:ln>
        </p:spPr>
        <p:txBody>
          <a:bodyPr wrap="none" tIns="108000" rIns="108000" anchor="b"/>
          <a:lstStyle/>
          <a:p>
            <a:pPr algn="ctr" eaLnBrk="0" hangingPunct="0">
              <a:lnSpc>
                <a:spcPct val="90000"/>
              </a:lnSpc>
              <a:buClr>
                <a:srgbClr val="000000"/>
              </a:buClr>
              <a:buFont typeface="Arial" panose="020B0604020202020204" pitchFamily="34" charset="0"/>
              <a:buNone/>
            </a:pPr>
            <a:endParaRPr lang="zh-CN" altLang="en-US" b="1" dirty="0">
              <a:solidFill>
                <a:srgbClr val="C00000"/>
              </a:solidFill>
              <a:latin typeface="微软雅黑" panose="020B0503020204020204" charset="-122"/>
              <a:ea typeface="微软雅黑" panose="020B0503020204020204" charset="-122"/>
            </a:endParaRPr>
          </a:p>
        </p:txBody>
      </p:sp>
      <p:sp>
        <p:nvSpPr>
          <p:cNvPr id="85" name="圆角矩形 84"/>
          <p:cNvSpPr/>
          <p:nvPr/>
        </p:nvSpPr>
        <p:spPr bwMode="auto">
          <a:xfrm>
            <a:off x="6715140" y="2572200"/>
            <a:ext cx="1785950" cy="856800"/>
          </a:xfrm>
          <a:prstGeom prst="roundRect">
            <a:avLst/>
          </a:prstGeom>
          <a:solidFill>
            <a:schemeClr val="accent1">
              <a:lumMod val="60000"/>
              <a:lumOff val="4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2000" b="1" dirty="0">
                <a:solidFill>
                  <a:schemeClr val="bg1"/>
                </a:solidFill>
                <a:latin typeface="微软雅黑" panose="020B0503020204020204" charset="-122"/>
                <a:ea typeface="微软雅黑" panose="020B0503020204020204" charset="-122"/>
              </a:rPr>
              <a:t>建体系</a:t>
            </a:r>
            <a:endParaRPr lang="en-US" altLang="zh-CN" sz="2000" b="1" dirty="0">
              <a:solidFill>
                <a:schemeClr val="bg1"/>
              </a:solidFill>
              <a:latin typeface="微软雅黑" panose="020B0503020204020204" charset="-122"/>
              <a:ea typeface="微软雅黑" panose="020B0503020204020204" charset="-122"/>
            </a:endParaRPr>
          </a:p>
          <a:p>
            <a:pPr algn="ctr"/>
            <a:r>
              <a:rPr lang="zh-CN" altLang="en-US" sz="2000" b="1" dirty="0">
                <a:solidFill>
                  <a:schemeClr val="bg1"/>
                </a:solidFill>
                <a:latin typeface="微软雅黑" panose="020B0503020204020204" charset="-122"/>
                <a:ea typeface="微软雅黑" panose="020B0503020204020204" charset="-122"/>
              </a:rPr>
              <a:t>（</a:t>
            </a:r>
            <a:r>
              <a:rPr lang="en-US" altLang="zh-CN" sz="2000" b="1" dirty="0">
                <a:solidFill>
                  <a:schemeClr val="bg1"/>
                </a:solidFill>
                <a:latin typeface="微软雅黑" panose="020B0503020204020204" charset="-122"/>
                <a:ea typeface="微软雅黑" panose="020B0503020204020204" charset="-122"/>
              </a:rPr>
              <a:t>1+5</a:t>
            </a:r>
            <a:r>
              <a:rPr lang="zh-CN" altLang="en-US" sz="2000" b="1" dirty="0">
                <a:solidFill>
                  <a:schemeClr val="bg1"/>
                </a:solidFill>
                <a:latin typeface="微软雅黑" panose="020B0503020204020204" charset="-122"/>
                <a:ea typeface="微软雅黑" panose="020B0503020204020204" charset="-122"/>
              </a:rPr>
              <a:t>）</a:t>
            </a:r>
          </a:p>
        </p:txBody>
      </p:sp>
      <p:sp>
        <p:nvSpPr>
          <p:cNvPr id="87" name="圆角矩形 86"/>
          <p:cNvSpPr/>
          <p:nvPr/>
        </p:nvSpPr>
        <p:spPr bwMode="auto">
          <a:xfrm>
            <a:off x="6715140" y="4500570"/>
            <a:ext cx="1785950" cy="856800"/>
          </a:xfrm>
          <a:prstGeom prst="roundRect">
            <a:avLst/>
          </a:prstGeom>
          <a:solidFill>
            <a:schemeClr val="accent1">
              <a:lumMod val="60000"/>
              <a:lumOff val="4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2000" b="1" dirty="0">
                <a:solidFill>
                  <a:schemeClr val="bg1"/>
                </a:solidFill>
                <a:latin typeface="微软雅黑" panose="020B0503020204020204" charset="-122"/>
                <a:ea typeface="微软雅黑" panose="020B0503020204020204" charset="-122"/>
              </a:rPr>
              <a:t>搭平台</a:t>
            </a:r>
            <a:endParaRPr lang="en-US" altLang="zh-CN" sz="2000" b="1" dirty="0">
              <a:solidFill>
                <a:schemeClr val="bg1"/>
              </a:solidFill>
              <a:latin typeface="微软雅黑" panose="020B0503020204020204" charset="-122"/>
              <a:ea typeface="微软雅黑" panose="020B0503020204020204" charset="-122"/>
            </a:endParaRPr>
          </a:p>
          <a:p>
            <a:pPr algn="ctr"/>
            <a:r>
              <a:rPr lang="zh-CN" altLang="en-US" sz="2000" b="1" dirty="0">
                <a:solidFill>
                  <a:schemeClr val="bg1"/>
                </a:solidFill>
                <a:latin typeface="微软雅黑" panose="020B0503020204020204" charset="-122"/>
                <a:ea typeface="微软雅黑" panose="020B0503020204020204" charset="-122"/>
              </a:rPr>
              <a:t>（流程</a:t>
            </a:r>
            <a:r>
              <a:rPr lang="en-US" altLang="zh-CN" sz="2000" b="1" dirty="0">
                <a:solidFill>
                  <a:schemeClr val="bg1"/>
                </a:solidFill>
                <a:latin typeface="微软雅黑" panose="020B0503020204020204" charset="-122"/>
                <a:ea typeface="微软雅黑" panose="020B0503020204020204" charset="-122"/>
              </a:rPr>
              <a:t>+IT</a:t>
            </a:r>
            <a:r>
              <a:rPr lang="zh-CN" altLang="en-US" sz="2000" b="1" dirty="0">
                <a:solidFill>
                  <a:schemeClr val="bg1"/>
                </a:solidFill>
                <a:latin typeface="微软雅黑" panose="020B0503020204020204" charset="-122"/>
                <a:ea typeface="微软雅黑" panose="020B0503020204020204" charset="-122"/>
              </a:rPr>
              <a:t>）</a:t>
            </a:r>
          </a:p>
        </p:txBody>
      </p:sp>
      <p:sp>
        <p:nvSpPr>
          <p:cNvPr id="95" name="等腰三角形 94"/>
          <p:cNvSpPr/>
          <p:nvPr/>
        </p:nvSpPr>
        <p:spPr bwMode="auto">
          <a:xfrm rot="5400000">
            <a:off x="3964777" y="3464719"/>
            <a:ext cx="3929090" cy="857255"/>
          </a:xfrm>
          <a:prstGeom prst="triangle">
            <a:avLst/>
          </a:prstGeom>
          <a:solidFill>
            <a:schemeClr val="accent1">
              <a:lumMod val="60000"/>
              <a:lumOff val="40000"/>
            </a:schemeClr>
          </a:solidFill>
          <a:ln w="9525" cap="flat" cmpd="sng" algn="ctr">
            <a:noFill/>
            <a:prstDash val="solid"/>
            <a:round/>
            <a:headEnd type="none" w="med" len="med"/>
            <a:tailEnd type="none"/>
          </a:ln>
          <a:effectLst>
            <a:outerShdw blurRad="50800" dist="38100" dir="2700000" algn="tl" rotWithShape="0">
              <a:prstClr val="black">
                <a:alpha val="40000"/>
              </a:prstClr>
            </a:outerShdw>
          </a:effectLst>
        </p:spPr>
        <p:txBody>
          <a:bodyPr rtlCol="0" anchor="ctr"/>
          <a:lstStyle/>
          <a:p>
            <a:pPr algn="ctr"/>
            <a:endParaRPr lang="zh-CN" altLang="en-US"/>
          </a:p>
        </p:txBody>
      </p:sp>
      <p:sp>
        <p:nvSpPr>
          <p:cNvPr id="97" name="TextBox 96"/>
          <p:cNvSpPr txBox="1"/>
          <p:nvPr/>
        </p:nvSpPr>
        <p:spPr bwMode="auto">
          <a:xfrm>
            <a:off x="859720" y="1919730"/>
            <a:ext cx="500458" cy="707886"/>
          </a:xfrm>
          <a:prstGeom prst="rect">
            <a:avLst/>
          </a:prstGeom>
          <a:noFill/>
          <a:ln>
            <a:noFill/>
          </a:ln>
        </p:spPr>
        <p:txBody>
          <a:bodyPr wrap="none" rtlCol="0">
            <a:spAutoFit/>
          </a:bodyPr>
          <a:lstStyle/>
          <a:p>
            <a:r>
              <a:rPr kumimoji="1" lang="en-US" altLang="zh-CN" sz="4000" b="1" i="1" dirty="0">
                <a:solidFill>
                  <a:schemeClr val="bg1"/>
                </a:solidFill>
                <a:latin typeface="微软雅黑" panose="020B0503020204020204" charset="-122"/>
                <a:ea typeface="微软雅黑" panose="020B0503020204020204" charset="-122"/>
                <a:cs typeface="微软雅黑" panose="020B0503020204020204" charset="-122"/>
              </a:rPr>
              <a:t>1</a:t>
            </a:r>
            <a:endParaRPr kumimoji="1" lang="zh-CN" altLang="en-US" sz="4000" b="1" i="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8" name="TextBox 97"/>
          <p:cNvSpPr txBox="1"/>
          <p:nvPr/>
        </p:nvSpPr>
        <p:spPr bwMode="auto">
          <a:xfrm>
            <a:off x="859720" y="3015256"/>
            <a:ext cx="500458" cy="707886"/>
          </a:xfrm>
          <a:prstGeom prst="rect">
            <a:avLst/>
          </a:prstGeom>
          <a:noFill/>
          <a:ln>
            <a:noFill/>
          </a:ln>
        </p:spPr>
        <p:txBody>
          <a:bodyPr wrap="none" rtlCol="0">
            <a:spAutoFit/>
          </a:bodyPr>
          <a:lstStyle/>
          <a:p>
            <a:r>
              <a:rPr kumimoji="1" lang="en-US" altLang="zh-CN" sz="4000" b="1" i="1" dirty="0">
                <a:solidFill>
                  <a:schemeClr val="bg1"/>
                </a:solidFill>
                <a:latin typeface="微软雅黑" panose="020B0503020204020204" charset="-122"/>
                <a:ea typeface="微软雅黑" panose="020B0503020204020204" charset="-122"/>
                <a:cs typeface="微软雅黑" panose="020B0503020204020204" charset="-122"/>
              </a:rPr>
              <a:t>2</a:t>
            </a:r>
            <a:endParaRPr kumimoji="1" lang="zh-CN" altLang="en-US" sz="4000" b="1" i="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0" name="TextBox 99"/>
          <p:cNvSpPr txBox="1"/>
          <p:nvPr/>
        </p:nvSpPr>
        <p:spPr bwMode="auto">
          <a:xfrm>
            <a:off x="859720" y="4100970"/>
            <a:ext cx="500458" cy="707886"/>
          </a:xfrm>
          <a:prstGeom prst="rect">
            <a:avLst/>
          </a:prstGeom>
          <a:noFill/>
          <a:ln>
            <a:noFill/>
          </a:ln>
        </p:spPr>
        <p:txBody>
          <a:bodyPr wrap="none" rtlCol="0">
            <a:spAutoFit/>
          </a:bodyPr>
          <a:lstStyle/>
          <a:p>
            <a:r>
              <a:rPr kumimoji="1" lang="en-US" altLang="zh-CN" sz="4000" b="1" i="1" dirty="0">
                <a:solidFill>
                  <a:schemeClr val="bg1"/>
                </a:solidFill>
                <a:latin typeface="微软雅黑" panose="020B0503020204020204" charset="-122"/>
                <a:ea typeface="微软雅黑" panose="020B0503020204020204" charset="-122"/>
                <a:cs typeface="微软雅黑" panose="020B0503020204020204" charset="-122"/>
              </a:rPr>
              <a:t>3</a:t>
            </a:r>
            <a:endParaRPr kumimoji="1" lang="zh-CN" altLang="en-US" sz="4000" b="1" i="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1" name="TextBox 100"/>
          <p:cNvSpPr txBox="1"/>
          <p:nvPr/>
        </p:nvSpPr>
        <p:spPr bwMode="auto">
          <a:xfrm>
            <a:off x="859720" y="5212372"/>
            <a:ext cx="500458" cy="707886"/>
          </a:xfrm>
          <a:prstGeom prst="rect">
            <a:avLst/>
          </a:prstGeom>
          <a:noFill/>
          <a:ln>
            <a:noFill/>
          </a:ln>
        </p:spPr>
        <p:txBody>
          <a:bodyPr wrap="none" rtlCol="0">
            <a:spAutoFit/>
          </a:bodyPr>
          <a:lstStyle/>
          <a:p>
            <a:r>
              <a:rPr kumimoji="1" lang="en-US" altLang="zh-CN" sz="4000" b="1" i="1" dirty="0">
                <a:solidFill>
                  <a:schemeClr val="bg1"/>
                </a:solidFill>
                <a:latin typeface="微软雅黑" panose="020B0503020204020204" charset="-122"/>
                <a:ea typeface="微软雅黑" panose="020B0503020204020204" charset="-122"/>
                <a:cs typeface="微软雅黑" panose="020B0503020204020204" charset="-122"/>
              </a:rPr>
              <a:t>4</a:t>
            </a:r>
            <a:endParaRPr kumimoji="1" lang="zh-CN" altLang="en-US" sz="4000" b="1" i="1"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圆角矩形 175"/>
          <p:cNvSpPr/>
          <p:nvPr/>
        </p:nvSpPr>
        <p:spPr>
          <a:xfrm>
            <a:off x="2000232" y="1714488"/>
            <a:ext cx="4524393" cy="2152662"/>
          </a:xfrm>
          <a:prstGeom prst="roundRect">
            <a:avLst>
              <a:gd name="adj" fmla="val 4171"/>
            </a:avLst>
          </a:prstGeom>
          <a:solidFill>
            <a:srgbClr val="ECECEC"/>
          </a:solidFill>
          <a:ln>
            <a:noFill/>
          </a:ln>
        </p:spPr>
        <p:txBody>
          <a:bodyPr wrap="square" lIns="108000" rIns="36000">
            <a:noAutofit/>
          </a:bodyPr>
          <a:lstStyle/>
          <a:p>
            <a:pPr marL="228600" indent="-228600">
              <a:lnSpc>
                <a:spcPct val="130000"/>
              </a:lnSpc>
              <a:spcBef>
                <a:spcPct val="50000"/>
              </a:spcBef>
              <a:buClr>
                <a:schemeClr val="tx1">
                  <a:lumMod val="50000"/>
                  <a:lumOff val="50000"/>
                </a:schemeClr>
              </a:buClr>
              <a:buFont typeface="Wingdings" panose="05000000000000000000" pitchFamily="2" charset="2"/>
              <a:buChar char="l"/>
            </a:pPr>
            <a:endParaRPr lang="zh-CN" altLang="en-US" sz="1100" b="0" dirty="0">
              <a:solidFill>
                <a:srgbClr val="666666"/>
              </a:solidFill>
              <a:latin typeface="冬青黑体简体中文 W3" panose="020B0300000000000000" pitchFamily="34" charset="-122"/>
              <a:ea typeface="冬青黑体简体中文 W3" panose="020B0300000000000000" pitchFamily="34" charset="-122"/>
            </a:endParaRPr>
          </a:p>
        </p:txBody>
      </p:sp>
      <p:sp>
        <p:nvSpPr>
          <p:cNvPr id="2" name="标题 1"/>
          <p:cNvSpPr>
            <a:spLocks noGrp="1"/>
          </p:cNvSpPr>
          <p:nvPr>
            <p:ph type="title"/>
          </p:nvPr>
        </p:nvSpPr>
        <p:spPr/>
        <p:txBody>
          <a:bodyPr/>
          <a:lstStyle/>
          <a:p>
            <a:r>
              <a:rPr lang="zh-CN" altLang="en-US" dirty="0"/>
              <a:t>计划模式（订单组织方式）：理清未来的混合方式构成，明确应用场景</a:t>
            </a:r>
          </a:p>
        </p:txBody>
      </p:sp>
      <p:sp>
        <p:nvSpPr>
          <p:cNvPr id="88" name="矩形 87"/>
          <p:cNvSpPr/>
          <p:nvPr/>
        </p:nvSpPr>
        <p:spPr bwMode="auto">
          <a:xfrm>
            <a:off x="311120" y="1211247"/>
            <a:ext cx="1512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规则不够明确</a:t>
            </a:r>
          </a:p>
        </p:txBody>
      </p:sp>
      <p:sp>
        <p:nvSpPr>
          <p:cNvPr id="123" name="右箭头 122"/>
          <p:cNvSpPr/>
          <p:nvPr/>
        </p:nvSpPr>
        <p:spPr bwMode="auto">
          <a:xfrm>
            <a:off x="1915592" y="1157498"/>
            <a:ext cx="4668814" cy="457189"/>
          </a:xfrm>
          <a:prstGeom prst="rightArrow">
            <a:avLst>
              <a:gd name="adj1" fmla="val 77779"/>
              <a:gd name="adj2" fmla="val 50000"/>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chemeClr val="bg1">
                    <a:lumMod val="50000"/>
                  </a:schemeClr>
                </a:solidFill>
                <a:latin typeface="微软雅黑" panose="020B0503020204020204" charset="-122"/>
                <a:ea typeface="微软雅黑" panose="020B0503020204020204" charset="-122"/>
              </a:rPr>
              <a:t>顶层设计</a:t>
            </a:r>
          </a:p>
        </p:txBody>
      </p:sp>
      <p:sp>
        <p:nvSpPr>
          <p:cNvPr id="124" name="矩形 123"/>
          <p:cNvSpPr/>
          <p:nvPr/>
        </p:nvSpPr>
        <p:spPr bwMode="auto">
          <a:xfrm>
            <a:off x="6698280" y="1211247"/>
            <a:ext cx="2160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理清应用场景</a:t>
            </a:r>
          </a:p>
        </p:txBody>
      </p:sp>
      <p:sp>
        <p:nvSpPr>
          <p:cNvPr id="125" name="矩形 124"/>
          <p:cNvSpPr/>
          <p:nvPr/>
        </p:nvSpPr>
        <p:spPr bwMode="auto">
          <a:xfrm>
            <a:off x="311120" y="1643050"/>
            <a:ext cx="1512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多种订单组织方式并存：</a:t>
            </a:r>
            <a:r>
              <a:rPr lang="en-US" altLang="zh-CN" sz="1200" b="1" dirty="0">
                <a:latin typeface="微软雅黑" panose="020B0503020204020204" charset="-122"/>
                <a:ea typeface="微软雅黑" panose="020B0503020204020204" charset="-122"/>
              </a:rPr>
              <a:t>MTS /MTO /RTO/ETO</a:t>
            </a: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国内</a:t>
            </a:r>
            <a:r>
              <a:rPr lang="en-US" altLang="zh-CN" sz="1200" dirty="0">
                <a:latin typeface="微软雅黑" panose="020B0503020204020204" charset="-122"/>
                <a:ea typeface="微软雅黑" panose="020B0503020204020204" charset="-122"/>
              </a:rPr>
              <a:t>MTS</a:t>
            </a:r>
            <a:r>
              <a:rPr lang="zh-CN" altLang="en-US" sz="1200" dirty="0">
                <a:latin typeface="微软雅黑" panose="020B0503020204020204" charset="-122"/>
                <a:ea typeface="微软雅黑" panose="020B0503020204020204" charset="-122"/>
              </a:rPr>
              <a:t>居多，国际</a:t>
            </a:r>
            <a:r>
              <a:rPr lang="en-US" altLang="zh-CN" sz="1200" dirty="0">
                <a:latin typeface="微软雅黑" panose="020B0503020204020204" charset="-122"/>
                <a:ea typeface="微软雅黑" panose="020B0503020204020204" charset="-122"/>
              </a:rPr>
              <a:t>MTO</a:t>
            </a:r>
            <a:r>
              <a:rPr lang="zh-CN" altLang="en-US" sz="1200" dirty="0">
                <a:latin typeface="微软雅黑" panose="020B0503020204020204" charset="-122"/>
                <a:ea typeface="微软雅黑" panose="020B0503020204020204" charset="-122"/>
              </a:rPr>
              <a:t>居多</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小挖</a:t>
            </a:r>
            <a:r>
              <a:rPr lang="en-US" altLang="zh-CN" sz="1200" dirty="0">
                <a:latin typeface="微软雅黑" panose="020B0503020204020204" charset="-122"/>
                <a:ea typeface="微软雅黑" panose="020B0503020204020204" charset="-122"/>
              </a:rPr>
              <a:t>MTS</a:t>
            </a:r>
            <a:r>
              <a:rPr lang="zh-CN" altLang="en-US" sz="1200" dirty="0">
                <a:latin typeface="微软雅黑" panose="020B0503020204020204" charset="-122"/>
                <a:ea typeface="微软雅黑" panose="020B0503020204020204" charset="-122"/>
              </a:rPr>
              <a:t>居多，中大挖</a:t>
            </a:r>
            <a:r>
              <a:rPr lang="en-US" altLang="zh-CN" sz="1200" dirty="0">
                <a:latin typeface="微软雅黑" panose="020B0503020204020204" charset="-122"/>
                <a:ea typeface="微软雅黑" panose="020B0503020204020204" charset="-122"/>
              </a:rPr>
              <a:t>MTO</a:t>
            </a:r>
            <a:r>
              <a:rPr lang="zh-CN" altLang="en-US" sz="1200" dirty="0">
                <a:latin typeface="微软雅黑" panose="020B0503020204020204" charset="-122"/>
                <a:ea typeface="微软雅黑" panose="020B0503020204020204" charset="-122"/>
              </a:rPr>
              <a:t>居多</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同时为满足快速交付，部分订单采用改装方式</a:t>
            </a:r>
            <a:r>
              <a:rPr lang="en-US" altLang="zh-CN" sz="1200" dirty="0">
                <a:latin typeface="微软雅黑" panose="020B0503020204020204" charset="-122"/>
                <a:ea typeface="微软雅黑" panose="020B0503020204020204" charset="-122"/>
              </a:rPr>
              <a:t>RTO</a:t>
            </a:r>
            <a:r>
              <a:rPr lang="zh-CN" altLang="en-US" sz="1200" dirty="0">
                <a:latin typeface="微软雅黑" panose="020B0503020204020204" charset="-122"/>
                <a:ea typeface="微软雅黑" panose="020B0503020204020204" charset="-122"/>
              </a:rPr>
              <a:t>满足</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存在少量</a:t>
            </a:r>
            <a:r>
              <a:rPr lang="en-US" altLang="zh-CN" sz="1200" dirty="0">
                <a:latin typeface="微软雅黑" panose="020B0503020204020204" charset="-122"/>
                <a:ea typeface="微软雅黑" panose="020B0503020204020204" charset="-122"/>
              </a:rPr>
              <a:t>ETO</a:t>
            </a:r>
            <a:r>
              <a:rPr lang="zh-CN" altLang="en-US" sz="1200" dirty="0">
                <a:latin typeface="微软雅黑" panose="020B0503020204020204" charset="-122"/>
                <a:ea typeface="微软雅黑" panose="020B0503020204020204" charset="-122"/>
              </a:rPr>
              <a:t>订单</a:t>
            </a:r>
          </a:p>
        </p:txBody>
      </p:sp>
      <p:sp>
        <p:nvSpPr>
          <p:cNvPr id="126" name="矩形 125"/>
          <p:cNvSpPr/>
          <p:nvPr/>
        </p:nvSpPr>
        <p:spPr bwMode="auto">
          <a:xfrm>
            <a:off x="1915536" y="1643050"/>
            <a:ext cx="4669428" cy="4143404"/>
          </a:xfrm>
          <a:prstGeom prst="rect">
            <a:avLst/>
          </a:prstGeom>
          <a:no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127" name="矩形 126"/>
          <p:cNvSpPr/>
          <p:nvPr/>
        </p:nvSpPr>
        <p:spPr bwMode="auto">
          <a:xfrm>
            <a:off x="6698280" y="1643050"/>
            <a:ext cx="2160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混合方式</a:t>
            </a:r>
            <a:r>
              <a:rPr lang="zh-CN" altLang="en-US" sz="1200" dirty="0">
                <a:latin typeface="微软雅黑" panose="020B0503020204020204" charset="-122"/>
                <a:ea typeface="微软雅黑" panose="020B0503020204020204" charset="-122"/>
              </a:rPr>
              <a:t>：分析市场</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客户</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产品特点，明确未来的订单组织方式由哪几种方式混合构成</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产品分类</a:t>
            </a:r>
            <a:r>
              <a:rPr lang="zh-CN" altLang="en-US" sz="1200" dirty="0">
                <a:latin typeface="微软雅黑" panose="020B0503020204020204" charset="-122"/>
                <a:ea typeface="微软雅黑" panose="020B0503020204020204" charset="-122"/>
              </a:rPr>
              <a:t>：制定出产品分类标准（如：常规产品、非常规产品、特殊配置产品及新品），按照国内</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国际、大</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中</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小挖不同维度，定义出现有产品机型的归类</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应用场景</a:t>
            </a:r>
            <a:r>
              <a:rPr lang="zh-CN" altLang="en-US" sz="1200" dirty="0">
                <a:latin typeface="微软雅黑" panose="020B0503020204020204" charset="-122"/>
                <a:ea typeface="微软雅黑" panose="020B0503020204020204" charset="-122"/>
              </a:rPr>
              <a:t>：针对不同产品类型，定义差异化的订单组织方式，如：常规产品采用</a:t>
            </a:r>
            <a:r>
              <a:rPr lang="en-US" altLang="zh-CN" sz="1200" dirty="0">
                <a:latin typeface="微软雅黑" panose="020B0503020204020204" charset="-122"/>
                <a:ea typeface="微软雅黑" panose="020B0503020204020204" charset="-122"/>
              </a:rPr>
              <a:t>MTS</a:t>
            </a:r>
            <a:r>
              <a:rPr lang="zh-CN" altLang="en-US" sz="1200" dirty="0">
                <a:latin typeface="微软雅黑" panose="020B0503020204020204" charset="-122"/>
                <a:ea typeface="微软雅黑" panose="020B0503020204020204" charset="-122"/>
              </a:rPr>
              <a:t>、非常规产品采用</a:t>
            </a:r>
            <a:r>
              <a:rPr lang="en-US" altLang="zh-CN" sz="1200" dirty="0">
                <a:latin typeface="微软雅黑" panose="020B0503020204020204" charset="-122"/>
                <a:ea typeface="微软雅黑" panose="020B0503020204020204" charset="-122"/>
              </a:rPr>
              <a:t>MTO</a:t>
            </a:r>
            <a:r>
              <a:rPr lang="zh-CN" altLang="en-US" sz="1200" dirty="0">
                <a:latin typeface="微软雅黑" panose="020B0503020204020204" charset="-122"/>
                <a:ea typeface="微软雅黑" panose="020B0503020204020204" charset="-122"/>
              </a:rPr>
              <a:t>、特殊配置产品采用</a:t>
            </a:r>
            <a:r>
              <a:rPr lang="en-US" altLang="zh-CN" sz="1200" dirty="0">
                <a:latin typeface="微软雅黑" panose="020B0503020204020204" charset="-122"/>
                <a:ea typeface="微软雅黑" panose="020B0503020204020204" charset="-122"/>
              </a:rPr>
              <a:t>ETO</a:t>
            </a:r>
            <a:r>
              <a:rPr lang="zh-CN" altLang="en-US" sz="1200" dirty="0">
                <a:latin typeface="微软雅黑" panose="020B0503020204020204" charset="-122"/>
                <a:ea typeface="微软雅黑" panose="020B0503020204020204" charset="-122"/>
              </a:rPr>
              <a:t>、新产品按专项计划生产</a:t>
            </a:r>
          </a:p>
        </p:txBody>
      </p:sp>
      <p:grpSp>
        <p:nvGrpSpPr>
          <p:cNvPr id="174" name="组合 173"/>
          <p:cNvGrpSpPr/>
          <p:nvPr/>
        </p:nvGrpSpPr>
        <p:grpSpPr>
          <a:xfrm>
            <a:off x="2055237" y="1751001"/>
            <a:ext cx="4429156" cy="2019437"/>
            <a:chOff x="2543911" y="1932636"/>
            <a:chExt cx="4512245" cy="1884300"/>
          </a:xfrm>
        </p:grpSpPr>
        <p:sp>
          <p:nvSpPr>
            <p:cNvPr id="159" name="五边形 158"/>
            <p:cNvSpPr/>
            <p:nvPr/>
          </p:nvSpPr>
          <p:spPr bwMode="auto">
            <a:xfrm>
              <a:off x="2544867" y="2407547"/>
              <a:ext cx="4511289" cy="251932"/>
            </a:xfrm>
            <a:prstGeom prst="homePlate">
              <a:avLst/>
            </a:prstGeom>
            <a:solidFill>
              <a:srgbClr val="92D050">
                <a:alpha val="21961"/>
              </a:srgbClr>
            </a:solidFill>
            <a:ln w="9525" cap="flat" cmpd="sng" algn="ctr">
              <a:noFill/>
              <a:prstDash val="solid"/>
              <a:round/>
              <a:headEnd type="none" w="med" len="med"/>
              <a:tailEnd type="none" w="med" len="med"/>
            </a:ln>
            <a:effectLst>
              <a:innerShdw blurRad="38100" dist="12700" dir="13500000">
                <a:prstClr val="black">
                  <a:alpha val="50000"/>
                </a:prstClr>
              </a:innerShdw>
            </a:effectLst>
          </p:spPr>
          <p:txBody>
            <a:bodyPr rot="0" spcFirstLastPara="0" vertOverflow="overflow" horzOverflow="overflow" vert="horz" wrap="square" lIns="92075" tIns="46038" rIns="92075" bIns="46038" numCol="1" spcCol="0" rtlCol="0" fromWordArt="0" anchor="ctr" anchorCtr="0" forceAA="0" compatLnSpc="1">
              <a:noAutofit/>
            </a:bodyPr>
            <a:lstStyle/>
            <a:p>
              <a:pPr algn="ctr" eaLnBrk="0" hangingPunct="0"/>
              <a:r>
                <a:rPr lang="en-US" altLang="zh-CN" sz="1400" b="1" dirty="0">
                  <a:latin typeface="微软雅黑" panose="020B0503020204020204" charset="-122"/>
                  <a:ea typeface="微软雅黑" panose="020B0503020204020204" charset="-122"/>
                  <a:cs typeface="Arial" panose="020B0604020202020204" pitchFamily="34" charset="0"/>
                </a:rPr>
                <a:t>ETO</a:t>
              </a:r>
              <a:endParaRPr lang="zh-CN" altLang="en-US" sz="1400" b="1" dirty="0">
                <a:latin typeface="微软雅黑" panose="020B0503020204020204" charset="-122"/>
                <a:ea typeface="微软雅黑" panose="020B0503020204020204" charset="-122"/>
                <a:cs typeface="Arial" panose="020B0604020202020204" pitchFamily="34" charset="0"/>
              </a:endParaRPr>
            </a:p>
          </p:txBody>
        </p:sp>
        <p:sp>
          <p:nvSpPr>
            <p:cNvPr id="160" name="五边形 159"/>
            <p:cNvSpPr/>
            <p:nvPr/>
          </p:nvSpPr>
          <p:spPr bwMode="auto">
            <a:xfrm>
              <a:off x="3943437" y="2696911"/>
              <a:ext cx="3112719" cy="251932"/>
            </a:xfrm>
            <a:prstGeom prst="homePlate">
              <a:avLst/>
            </a:prstGeom>
            <a:solidFill>
              <a:srgbClr val="92D050">
                <a:alpha val="21961"/>
              </a:srgbClr>
            </a:solidFill>
            <a:ln w="9525" cap="flat" cmpd="sng" algn="ctr">
              <a:noFill/>
              <a:prstDash val="solid"/>
              <a:round/>
              <a:headEnd type="none" w="med" len="med"/>
              <a:tailEnd type="none" w="med" len="med"/>
            </a:ln>
            <a:effectLst>
              <a:innerShdw blurRad="38100" dist="12700" dir="13500000">
                <a:prstClr val="black">
                  <a:alpha val="50000"/>
                </a:prstClr>
              </a:innerShdw>
            </a:effectLst>
          </p:spPr>
          <p:txBody>
            <a:bodyPr rot="0" spcFirstLastPara="0" vertOverflow="overflow" horzOverflow="overflow" vert="horz" wrap="square" lIns="92075" tIns="46038" rIns="92075" bIns="46038" numCol="1" spcCol="0" rtlCol="0" fromWordArt="0" anchor="ctr" anchorCtr="0" forceAA="0" compatLnSpc="1">
              <a:noAutofit/>
            </a:bodyPr>
            <a:lstStyle/>
            <a:p>
              <a:pPr algn="ctr" eaLnBrk="0" hangingPunct="0"/>
              <a:r>
                <a:rPr lang="en-US" altLang="zh-CN" sz="1400" b="1" dirty="0">
                  <a:latin typeface="微软雅黑" panose="020B0503020204020204" charset="-122"/>
                  <a:ea typeface="微软雅黑" panose="020B0503020204020204" charset="-122"/>
                  <a:cs typeface="Arial" panose="020B0604020202020204" pitchFamily="34" charset="0"/>
                </a:rPr>
                <a:t>MTO</a:t>
              </a:r>
              <a:endParaRPr lang="zh-CN" altLang="en-US" sz="1400" b="1" dirty="0">
                <a:latin typeface="微软雅黑" panose="020B0503020204020204" charset="-122"/>
                <a:ea typeface="微软雅黑" panose="020B0503020204020204" charset="-122"/>
                <a:cs typeface="Arial" panose="020B0604020202020204" pitchFamily="34" charset="0"/>
              </a:endParaRPr>
            </a:p>
          </p:txBody>
        </p:sp>
        <p:sp>
          <p:nvSpPr>
            <p:cNvPr id="161" name="五边形 160"/>
            <p:cNvSpPr/>
            <p:nvPr/>
          </p:nvSpPr>
          <p:spPr bwMode="auto">
            <a:xfrm>
              <a:off x="5035109" y="2986276"/>
              <a:ext cx="2021047" cy="251932"/>
            </a:xfrm>
            <a:prstGeom prst="homePlate">
              <a:avLst/>
            </a:prstGeom>
            <a:solidFill>
              <a:srgbClr val="92D050">
                <a:alpha val="21961"/>
              </a:srgbClr>
            </a:solidFill>
            <a:ln w="9525" cap="flat" cmpd="sng" algn="ctr">
              <a:noFill/>
              <a:prstDash val="solid"/>
              <a:round/>
              <a:headEnd type="none" w="med" len="med"/>
              <a:tailEnd type="none" w="med" len="med"/>
            </a:ln>
            <a:effectLst>
              <a:innerShdw blurRad="38100" dist="12700" dir="13500000">
                <a:prstClr val="black">
                  <a:alpha val="50000"/>
                </a:prstClr>
              </a:innerShdw>
            </a:effectLst>
          </p:spPr>
          <p:txBody>
            <a:bodyPr rot="0" spcFirstLastPara="0" vertOverflow="overflow" horzOverflow="overflow" vert="horz" wrap="square" lIns="92075" tIns="46038" rIns="92075" bIns="46038" numCol="1" spcCol="0" rtlCol="0" fromWordArt="0" anchor="ctr" anchorCtr="0" forceAA="0" compatLnSpc="1">
              <a:noAutofit/>
            </a:bodyPr>
            <a:lstStyle/>
            <a:p>
              <a:pPr algn="ctr" eaLnBrk="0" hangingPunct="0"/>
              <a:r>
                <a:rPr lang="en-US" altLang="zh-CN" sz="1400" b="1" dirty="0">
                  <a:latin typeface="微软雅黑" panose="020B0503020204020204" charset="-122"/>
                  <a:ea typeface="微软雅黑" panose="020B0503020204020204" charset="-122"/>
                  <a:cs typeface="Arial" panose="020B0604020202020204" pitchFamily="34" charset="0"/>
                </a:rPr>
                <a:t>ATO</a:t>
              </a:r>
              <a:endParaRPr lang="zh-CN" altLang="en-US" sz="1400" b="1" dirty="0">
                <a:latin typeface="微软雅黑" panose="020B0503020204020204" charset="-122"/>
                <a:ea typeface="微软雅黑" panose="020B0503020204020204" charset="-122"/>
                <a:cs typeface="Arial" panose="020B0604020202020204" pitchFamily="34" charset="0"/>
              </a:endParaRPr>
            </a:p>
          </p:txBody>
        </p:sp>
        <p:sp>
          <p:nvSpPr>
            <p:cNvPr id="162" name="五边形 161"/>
            <p:cNvSpPr/>
            <p:nvPr/>
          </p:nvSpPr>
          <p:spPr bwMode="auto">
            <a:xfrm>
              <a:off x="6272338" y="3565004"/>
              <a:ext cx="783818" cy="251932"/>
            </a:xfrm>
            <a:prstGeom prst="homePlate">
              <a:avLst/>
            </a:prstGeom>
            <a:solidFill>
              <a:srgbClr val="92D050">
                <a:alpha val="21961"/>
              </a:srgbClr>
            </a:solidFill>
            <a:ln w="9525" cap="flat" cmpd="sng" algn="ctr">
              <a:noFill/>
              <a:prstDash val="solid"/>
              <a:round/>
              <a:headEnd type="none" w="med" len="med"/>
              <a:tailEnd type="none" w="med" len="med"/>
            </a:ln>
            <a:effectLst>
              <a:innerShdw blurRad="38100" dist="12700" dir="13500000">
                <a:prstClr val="black">
                  <a:alpha val="50000"/>
                </a:prstClr>
              </a:innerShdw>
            </a:effectLst>
          </p:spPr>
          <p:txBody>
            <a:bodyPr rot="0" spcFirstLastPara="0" vertOverflow="overflow" horzOverflow="overflow" vert="horz" wrap="square" lIns="92075" tIns="46038" rIns="92075" bIns="46038" numCol="1" spcCol="0" rtlCol="0" fromWordArt="0" anchor="ctr" anchorCtr="0" forceAA="0" compatLnSpc="1">
              <a:noAutofit/>
            </a:bodyPr>
            <a:lstStyle/>
            <a:p>
              <a:pPr algn="ctr" eaLnBrk="0" hangingPunct="0"/>
              <a:r>
                <a:rPr lang="en-US" altLang="zh-CN" sz="1400" b="1" dirty="0">
                  <a:latin typeface="微软雅黑" panose="020B0503020204020204" charset="-122"/>
                  <a:ea typeface="微软雅黑" panose="020B0503020204020204" charset="-122"/>
                  <a:cs typeface="Arial" panose="020B0604020202020204" pitchFamily="34" charset="0"/>
                </a:rPr>
                <a:t>MTS</a:t>
              </a:r>
              <a:endParaRPr lang="zh-CN" altLang="en-US" sz="1400" b="1" dirty="0">
                <a:latin typeface="微软雅黑" panose="020B0503020204020204" charset="-122"/>
                <a:ea typeface="微软雅黑" panose="020B0503020204020204" charset="-122"/>
                <a:cs typeface="Arial" panose="020B0604020202020204" pitchFamily="34" charset="0"/>
              </a:endParaRPr>
            </a:p>
          </p:txBody>
        </p:sp>
        <p:sp>
          <p:nvSpPr>
            <p:cNvPr id="163" name="五边形 162"/>
            <p:cNvSpPr/>
            <p:nvPr/>
          </p:nvSpPr>
          <p:spPr bwMode="auto">
            <a:xfrm>
              <a:off x="5617334" y="3275640"/>
              <a:ext cx="1438822" cy="251932"/>
            </a:xfrm>
            <a:prstGeom prst="homePlate">
              <a:avLst/>
            </a:prstGeom>
            <a:solidFill>
              <a:srgbClr val="92D050">
                <a:alpha val="21961"/>
              </a:srgbClr>
            </a:solidFill>
            <a:ln w="9525" cap="flat" cmpd="sng" algn="ctr">
              <a:noFill/>
              <a:prstDash val="solid"/>
              <a:round/>
              <a:headEnd type="none" w="med" len="med"/>
              <a:tailEnd type="none" w="med" len="med"/>
            </a:ln>
            <a:effectLst>
              <a:innerShdw blurRad="38100" dist="12700" dir="13500000">
                <a:prstClr val="black">
                  <a:alpha val="50000"/>
                </a:prstClr>
              </a:innerShdw>
            </a:effectLst>
          </p:spPr>
          <p:txBody>
            <a:bodyPr rot="0" spcFirstLastPara="0" vertOverflow="overflow" horzOverflow="overflow" vert="horz" wrap="square" lIns="92075" tIns="46038" rIns="92075" bIns="46038" numCol="1" spcCol="0" rtlCol="0" fromWordArt="0" anchor="ctr" anchorCtr="0" forceAA="0" compatLnSpc="1">
              <a:noAutofit/>
            </a:bodyPr>
            <a:lstStyle/>
            <a:p>
              <a:pPr algn="ctr" eaLnBrk="0" hangingPunct="0"/>
              <a:r>
                <a:rPr lang="en-US" altLang="zh-CN" sz="1400" b="1" dirty="0">
                  <a:latin typeface="微软雅黑" panose="020B0503020204020204" charset="-122"/>
                  <a:ea typeface="微软雅黑" panose="020B0503020204020204" charset="-122"/>
                  <a:cs typeface="Arial" panose="020B0604020202020204" pitchFamily="34" charset="0"/>
                </a:rPr>
                <a:t>RTO</a:t>
              </a:r>
              <a:endParaRPr lang="zh-CN" altLang="en-US" sz="1400" b="1" dirty="0">
                <a:latin typeface="微软雅黑" panose="020B0503020204020204" charset="-122"/>
                <a:ea typeface="微软雅黑" panose="020B0503020204020204" charset="-122"/>
                <a:cs typeface="Arial" panose="020B0604020202020204" pitchFamily="34" charset="0"/>
              </a:endParaRPr>
            </a:p>
          </p:txBody>
        </p:sp>
        <p:grpSp>
          <p:nvGrpSpPr>
            <p:cNvPr id="164" name="组合 163"/>
            <p:cNvGrpSpPr/>
            <p:nvPr/>
          </p:nvGrpSpPr>
          <p:grpSpPr>
            <a:xfrm>
              <a:off x="2543911" y="1932636"/>
              <a:ext cx="4512245" cy="414963"/>
              <a:chOff x="4328102" y="1655316"/>
              <a:chExt cx="4512245" cy="414963"/>
            </a:xfrm>
          </p:grpSpPr>
          <p:sp>
            <p:nvSpPr>
              <p:cNvPr id="165" name="燕尾形 164"/>
              <p:cNvSpPr/>
              <p:nvPr/>
            </p:nvSpPr>
            <p:spPr bwMode="auto">
              <a:xfrm>
                <a:off x="5068115" y="1655316"/>
                <a:ext cx="680581" cy="414807"/>
              </a:xfrm>
              <a:prstGeom prst="chevron">
                <a:avLst>
                  <a:gd name="adj" fmla="val 24352"/>
                </a:avLst>
              </a:prstGeom>
              <a:solidFill>
                <a:sysClr val="window" lastClr="FFFFFF">
                  <a:lumMod val="65000"/>
                </a:sysClr>
              </a:solidFill>
              <a:ln w="25400" cap="flat" cmpd="sng" algn="ctr">
                <a:solidFill>
                  <a:srgbClr val="ECECEC"/>
                </a:solidFill>
                <a:prstDash val="solid"/>
                <a:headEnd type="none" w="med" len="med"/>
                <a:tailEnd type="none" w="med" len="med"/>
              </a:ln>
              <a:effectLst/>
            </p:spPr>
            <p:txBody>
              <a:bodyPr rot="0" spcFirstLastPara="0" vertOverflow="overflow" horzOverflow="overflow" vert="horz" wrap="square" lIns="0" tIns="36000" rIns="0" bIns="36000" numCol="1" spcCol="0" rtlCol="0" fromWordArt="0" anchor="ctr" anchorCtr="0" forceAA="0" compatLnSpc="1">
                <a:noAutofit/>
              </a:body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主数据</a:t>
                </a:r>
                <a:endParaRPr kumimoji="0" lang="en-US" altLang="zh-CN"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endParaRPr>
              </a:p>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维护</a:t>
                </a:r>
              </a:p>
            </p:txBody>
          </p:sp>
          <p:sp>
            <p:nvSpPr>
              <p:cNvPr id="166" name="平行四边形 165"/>
              <p:cNvSpPr/>
              <p:nvPr/>
            </p:nvSpPr>
            <p:spPr bwMode="auto">
              <a:xfrm>
                <a:off x="5887479" y="1849904"/>
                <a:ext cx="1021764" cy="219702"/>
              </a:xfrm>
              <a:prstGeom prst="parallelogram">
                <a:avLst>
                  <a:gd name="adj" fmla="val 49006"/>
                </a:avLst>
              </a:prstGeom>
              <a:solidFill>
                <a:sysClr val="window" lastClr="FFFFFF">
                  <a:lumMod val="65000"/>
                </a:sysClr>
              </a:solidFill>
              <a:ln w="25400" cap="flat" cmpd="sng" algn="ctr">
                <a:solidFill>
                  <a:srgbClr val="ECECEC"/>
                </a:solid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Autofit/>
              </a:body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自制件生产</a:t>
                </a:r>
              </a:p>
            </p:txBody>
          </p:sp>
          <p:sp>
            <p:nvSpPr>
              <p:cNvPr id="167" name="燕尾形 166"/>
              <p:cNvSpPr/>
              <p:nvPr/>
            </p:nvSpPr>
            <p:spPr bwMode="auto">
              <a:xfrm>
                <a:off x="4328102" y="1655316"/>
                <a:ext cx="819364" cy="414963"/>
              </a:xfrm>
              <a:prstGeom prst="chevron">
                <a:avLst>
                  <a:gd name="adj" fmla="val 24352"/>
                </a:avLst>
              </a:prstGeom>
              <a:solidFill>
                <a:sysClr val="window" lastClr="FFFFFF">
                  <a:lumMod val="65000"/>
                </a:sysClr>
              </a:solidFill>
              <a:ln w="25400" cap="flat" cmpd="sng" algn="ctr">
                <a:solidFill>
                  <a:srgbClr val="ECECEC"/>
                </a:solid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Autofit/>
              </a:body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客户订单技术评审</a:t>
                </a:r>
              </a:p>
            </p:txBody>
          </p:sp>
          <p:sp>
            <p:nvSpPr>
              <p:cNvPr id="168" name="燕尾形 167"/>
              <p:cNvSpPr/>
              <p:nvPr/>
            </p:nvSpPr>
            <p:spPr bwMode="auto">
              <a:xfrm>
                <a:off x="6821502" y="1655317"/>
                <a:ext cx="697080" cy="413772"/>
              </a:xfrm>
              <a:prstGeom prst="chevron">
                <a:avLst>
                  <a:gd name="adj" fmla="val 24352"/>
                </a:avLst>
              </a:prstGeom>
              <a:solidFill>
                <a:sysClr val="window" lastClr="FFFFFF">
                  <a:lumMod val="65000"/>
                </a:sysClr>
              </a:solidFill>
              <a:ln w="25400" cap="flat" cmpd="sng" algn="ctr">
                <a:solidFill>
                  <a:srgbClr val="ECECEC"/>
                </a:solid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Autofit/>
              </a:body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整机</a:t>
                </a:r>
                <a:endParaRPr kumimoji="0" lang="en-US" altLang="zh-CN"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endParaRPr>
              </a:p>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装配</a:t>
                </a:r>
              </a:p>
            </p:txBody>
          </p:sp>
          <p:sp>
            <p:nvSpPr>
              <p:cNvPr id="169" name="燕尾形 168"/>
              <p:cNvSpPr/>
              <p:nvPr/>
            </p:nvSpPr>
            <p:spPr bwMode="auto">
              <a:xfrm>
                <a:off x="7427708" y="1655317"/>
                <a:ext cx="680581" cy="413772"/>
              </a:xfrm>
              <a:prstGeom prst="chevron">
                <a:avLst>
                  <a:gd name="adj" fmla="val 24352"/>
                </a:avLst>
              </a:prstGeom>
              <a:solidFill>
                <a:sysClr val="window" lastClr="FFFFFF">
                  <a:lumMod val="65000"/>
                </a:sysClr>
              </a:solidFill>
              <a:ln w="25400" cap="flat" cmpd="sng" algn="ctr">
                <a:solidFill>
                  <a:srgbClr val="ECECEC"/>
                </a:solid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Autofit/>
              </a:body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库存</a:t>
                </a:r>
                <a:endParaRPr kumimoji="0" lang="en-US" altLang="zh-CN"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endParaRPr>
              </a:p>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改装</a:t>
                </a:r>
              </a:p>
            </p:txBody>
          </p:sp>
          <p:sp>
            <p:nvSpPr>
              <p:cNvPr id="170" name="燕尾形 169"/>
              <p:cNvSpPr/>
              <p:nvPr/>
            </p:nvSpPr>
            <p:spPr bwMode="auto">
              <a:xfrm>
                <a:off x="8020983" y="1655317"/>
                <a:ext cx="819364" cy="413772"/>
              </a:xfrm>
              <a:prstGeom prst="chevron">
                <a:avLst>
                  <a:gd name="adj" fmla="val 24352"/>
                </a:avLst>
              </a:prstGeom>
              <a:solidFill>
                <a:sysClr val="window" lastClr="FFFFFF">
                  <a:lumMod val="65000"/>
                </a:sysClr>
              </a:solidFill>
              <a:ln w="25400" cap="flat" cmpd="sng" algn="ctr">
                <a:solidFill>
                  <a:srgbClr val="ECECEC"/>
                </a:solid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Autofit/>
              </a:body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整机入库与发运</a:t>
                </a:r>
              </a:p>
            </p:txBody>
          </p:sp>
          <p:sp>
            <p:nvSpPr>
              <p:cNvPr id="171" name="平行四边形 170"/>
              <p:cNvSpPr/>
              <p:nvPr/>
            </p:nvSpPr>
            <p:spPr bwMode="auto">
              <a:xfrm flipH="1">
                <a:off x="5660833" y="1655316"/>
                <a:ext cx="1248410" cy="194587"/>
              </a:xfrm>
              <a:prstGeom prst="parallelogram">
                <a:avLst>
                  <a:gd name="adj" fmla="val 49006"/>
                </a:avLst>
              </a:prstGeom>
              <a:solidFill>
                <a:sysClr val="window" lastClr="FFFFFF">
                  <a:lumMod val="65000"/>
                </a:sysClr>
              </a:solidFill>
              <a:ln w="25400" cap="flat" cmpd="sng" algn="ctr">
                <a:solidFill>
                  <a:srgbClr val="ECECEC"/>
                </a:solid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Autofit/>
              </a:body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Arial" panose="020B0604020202020204" pitchFamily="34" charset="0"/>
                  </a:rPr>
                  <a:t>外购件采购</a:t>
                </a:r>
              </a:p>
            </p:txBody>
          </p:sp>
        </p:grpSp>
      </p:grpSp>
      <p:sp>
        <p:nvSpPr>
          <p:cNvPr id="175" name="矩形 174"/>
          <p:cNvSpPr/>
          <p:nvPr/>
        </p:nvSpPr>
        <p:spPr bwMode="auto">
          <a:xfrm>
            <a:off x="311120" y="5888834"/>
            <a:ext cx="8547160" cy="612000"/>
          </a:xfrm>
          <a:prstGeom prst="rect">
            <a:avLst/>
          </a:prstGeom>
          <a:noFill/>
          <a:ln w="19050" cap="flat" cmpd="sng" algn="ctr">
            <a:solidFill>
              <a:schemeClr val="accent1">
                <a:lumMod val="60000"/>
                <a:lumOff val="40000"/>
              </a:schemeClr>
            </a:solidFill>
            <a:prstDash val="solid"/>
            <a:round/>
            <a:headEnd type="none" w="med" len="med"/>
            <a:tailEnd type="none"/>
          </a:ln>
          <a:effectLst/>
        </p:spPr>
        <p:txBody>
          <a:bodyPr lIns="900000" tIns="46800" rtlCol="0" anchor="ctr"/>
          <a:lstStyle/>
          <a:p>
            <a:pPr marL="180975" indent="-180975">
              <a:lnSpc>
                <a:spcPct val="110000"/>
              </a:lnSpc>
              <a:spcBef>
                <a:spcPts val="600"/>
              </a:spcBef>
            </a:pPr>
            <a:r>
              <a:rPr lang="zh-CN" altLang="en-US" sz="1400" dirty="0">
                <a:latin typeface="微软雅黑" panose="020B0503020204020204" charset="-122"/>
                <a:ea typeface="微软雅黑" panose="020B0503020204020204" charset="-122"/>
              </a:rPr>
              <a:t>应对市场变化，快速响应客户，缩短</a:t>
            </a:r>
            <a:r>
              <a:rPr lang="zh-CN" altLang="en-US" b="1" dirty="0">
                <a:latin typeface="微软雅黑" panose="020B0503020204020204" charset="-122"/>
                <a:ea typeface="微软雅黑" panose="020B0503020204020204" charset="-122"/>
              </a:rPr>
              <a:t>订单交付周期</a:t>
            </a:r>
            <a:r>
              <a:rPr lang="zh-CN" altLang="en-US" sz="1400" dirty="0">
                <a:latin typeface="微软雅黑" panose="020B0503020204020204" charset="-122"/>
                <a:ea typeface="微软雅黑" panose="020B0503020204020204" charset="-122"/>
              </a:rPr>
              <a:t>，提升供应链竞争力</a:t>
            </a:r>
            <a:endParaRPr lang="en-US" altLang="zh-CN" dirty="0">
              <a:latin typeface="微软雅黑" panose="020B0503020204020204" charset="-122"/>
              <a:ea typeface="微软雅黑" panose="020B0503020204020204" charset="-122"/>
            </a:endParaRPr>
          </a:p>
        </p:txBody>
      </p:sp>
      <p:sp>
        <p:nvSpPr>
          <p:cNvPr id="177" name="矩形 176"/>
          <p:cNvSpPr/>
          <p:nvPr/>
        </p:nvSpPr>
        <p:spPr bwMode="auto">
          <a:xfrm>
            <a:off x="311120" y="5888834"/>
            <a:ext cx="725523" cy="612000"/>
          </a:xfrm>
          <a:prstGeom prst="rect">
            <a:avLst/>
          </a:prstGeom>
          <a:solidFill>
            <a:srgbClr val="CCCCFF"/>
          </a:solidFill>
          <a:ln w="19050" cap="flat" cmpd="sng" algn="ctr">
            <a:solidFill>
              <a:schemeClr val="accent1">
                <a:lumMod val="60000"/>
                <a:lumOff val="40000"/>
              </a:schemeClr>
            </a:solidFill>
            <a:prstDash val="solid"/>
            <a:round/>
            <a:headEnd type="none" w="med" len="med"/>
            <a:tailEnd type="none"/>
          </a:ln>
          <a:effectLst/>
        </p:spPr>
        <p:txBody>
          <a:bodyPr rtlCol="0" anchor="ctr"/>
          <a:lstStyle/>
          <a:p>
            <a:pPr algn="ctr">
              <a:lnSpc>
                <a:spcPct val="110000"/>
              </a:lnSpc>
              <a:spcBef>
                <a:spcPts val="600"/>
              </a:spcBef>
            </a:pPr>
            <a:r>
              <a:rPr lang="zh-CN" altLang="en-US" sz="1400" b="1" dirty="0">
                <a:latin typeface="微软雅黑" panose="020B0503020204020204" charset="-122"/>
                <a:ea typeface="微软雅黑" panose="020B0503020204020204" charset="-122"/>
              </a:rPr>
              <a:t>主要</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收益</a:t>
            </a:r>
            <a:endParaRPr lang="en-US" altLang="zh-CN" sz="1400" b="1" dirty="0">
              <a:latin typeface="微软雅黑" panose="020B0503020204020204" charset="-122"/>
              <a:ea typeface="微软雅黑" panose="020B0503020204020204" charset="-122"/>
            </a:endParaRPr>
          </a:p>
        </p:txBody>
      </p:sp>
      <p:grpSp>
        <p:nvGrpSpPr>
          <p:cNvPr id="178" name="组合 135"/>
          <p:cNvGrpSpPr/>
          <p:nvPr/>
        </p:nvGrpSpPr>
        <p:grpSpPr>
          <a:xfrm>
            <a:off x="2643174" y="4077866"/>
            <a:ext cx="612000" cy="477120"/>
            <a:chOff x="357158" y="4572008"/>
            <a:chExt cx="709611" cy="602098"/>
          </a:xfrm>
        </p:grpSpPr>
        <p:sp>
          <p:nvSpPr>
            <p:cNvPr id="179" name="Freeform 7"/>
            <p:cNvSpPr/>
            <p:nvPr/>
          </p:nvSpPr>
          <p:spPr bwMode="gray">
            <a:xfrm>
              <a:off x="728568" y="4572008"/>
              <a:ext cx="338201" cy="602098"/>
            </a:xfrm>
            <a:custGeom>
              <a:avLst/>
              <a:gdLst>
                <a:gd name="T0" fmla="*/ 0 w 371"/>
                <a:gd name="T1" fmla="*/ 2147483647 h 668"/>
                <a:gd name="T2" fmla="*/ 0 w 371"/>
                <a:gd name="T3" fmla="*/ 2147483647 h 668"/>
                <a:gd name="T4" fmla="*/ 2147483647 w 371"/>
                <a:gd name="T5" fmla="*/ 2147483647 h 668"/>
                <a:gd name="T6" fmla="*/ 2147483647 w 371"/>
                <a:gd name="T7" fmla="*/ 0 h 668"/>
                <a:gd name="T8" fmla="*/ 0 w 371"/>
                <a:gd name="T9" fmla="*/ 2147483647 h 668"/>
                <a:gd name="T10" fmla="*/ 0 60000 65536"/>
                <a:gd name="T11" fmla="*/ 0 60000 65536"/>
                <a:gd name="T12" fmla="*/ 0 60000 65536"/>
                <a:gd name="T13" fmla="*/ 0 60000 65536"/>
                <a:gd name="T14" fmla="*/ 0 60000 65536"/>
                <a:gd name="T15" fmla="*/ 0 w 371"/>
                <a:gd name="T16" fmla="*/ 0 h 668"/>
                <a:gd name="T17" fmla="*/ 371 w 371"/>
                <a:gd name="T18" fmla="*/ 668 h 668"/>
              </a:gdLst>
              <a:ahLst/>
              <a:cxnLst>
                <a:cxn ang="T10">
                  <a:pos x="T0" y="T1"/>
                </a:cxn>
                <a:cxn ang="T11">
                  <a:pos x="T2" y="T3"/>
                </a:cxn>
                <a:cxn ang="T12">
                  <a:pos x="T4" y="T5"/>
                </a:cxn>
                <a:cxn ang="T13">
                  <a:pos x="T6" y="T7"/>
                </a:cxn>
                <a:cxn ang="T14">
                  <a:pos x="T8" y="T9"/>
                </a:cxn>
              </a:cxnLst>
              <a:rect l="T15" t="T16" r="T17" b="T18"/>
              <a:pathLst>
                <a:path w="371" h="668">
                  <a:moveTo>
                    <a:pt x="0" y="134"/>
                  </a:moveTo>
                  <a:lnTo>
                    <a:pt x="0" y="533"/>
                  </a:lnTo>
                  <a:lnTo>
                    <a:pt x="371" y="668"/>
                  </a:lnTo>
                  <a:lnTo>
                    <a:pt x="371" y="0"/>
                  </a:lnTo>
                  <a:lnTo>
                    <a:pt x="0" y="134"/>
                  </a:lnTo>
                  <a:close/>
                </a:path>
              </a:pathLst>
            </a:custGeom>
            <a:gradFill rotWithShape="1">
              <a:gsLst>
                <a:gs pos="0">
                  <a:srgbClr val="C7CDFD"/>
                </a:gs>
                <a:gs pos="100000">
                  <a:srgbClr val="E8EBFE"/>
                </a:gs>
              </a:gsLst>
              <a:lin ang="0" scaled="1"/>
            </a:gradFill>
            <a:ln w="9525">
              <a:noFill/>
              <a:round/>
            </a:ln>
          </p:spPr>
          <p:txBody>
            <a:bodyPr/>
            <a:lstStyle/>
            <a:p>
              <a:endParaRPr lang="zh-CN" altLang="en-US" sz="1200" dirty="0"/>
            </a:p>
          </p:txBody>
        </p:sp>
        <p:sp>
          <p:nvSpPr>
            <p:cNvPr id="180" name="AutoShape 9"/>
            <p:cNvSpPr>
              <a:spLocks noChangeArrowheads="1"/>
            </p:cNvSpPr>
            <p:nvPr/>
          </p:nvSpPr>
          <p:spPr bwMode="gray">
            <a:xfrm>
              <a:off x="357158" y="4635610"/>
              <a:ext cx="479332" cy="474894"/>
            </a:xfrm>
            <a:prstGeom prst="flowChartConnector">
              <a:avLst/>
            </a:prstGeom>
            <a:gradFill rotWithShape="1">
              <a:gsLst>
                <a:gs pos="0">
                  <a:schemeClr val="accent1"/>
                </a:gs>
                <a:gs pos="100000">
                  <a:srgbClr val="464AEC"/>
                </a:gs>
              </a:gsLst>
              <a:lin ang="5400000" scaled="1"/>
            </a:gradFill>
            <a:ln w="88900" cmpd="thinThick" algn="ctr">
              <a:solidFill>
                <a:srgbClr val="C0C0C0"/>
              </a:solidFill>
              <a:round/>
            </a:ln>
          </p:spPr>
          <p:txBody>
            <a:bodyPr wrap="none" anchor="ctr"/>
            <a:lstStyle/>
            <a:p>
              <a:pPr algn="ctr" eaLnBrk="0" hangingPunct="0">
                <a:lnSpc>
                  <a:spcPct val="90000"/>
                </a:lnSpc>
              </a:pPr>
              <a:r>
                <a:rPr lang="zh-CN" altLang="en-US" sz="1200" b="1" dirty="0">
                  <a:solidFill>
                    <a:srgbClr val="FFFFFF"/>
                  </a:solidFill>
                  <a:latin typeface="微软雅黑" panose="020B0503020204020204" charset="-122"/>
                  <a:ea typeface="微软雅黑" panose="020B0503020204020204" charset="-122"/>
                </a:rPr>
                <a:t>市场</a:t>
              </a:r>
            </a:p>
          </p:txBody>
        </p:sp>
      </p:grpSp>
      <p:grpSp>
        <p:nvGrpSpPr>
          <p:cNvPr id="181" name="组合 136"/>
          <p:cNvGrpSpPr/>
          <p:nvPr/>
        </p:nvGrpSpPr>
        <p:grpSpPr>
          <a:xfrm>
            <a:off x="2643174" y="4618890"/>
            <a:ext cx="612000" cy="477120"/>
            <a:chOff x="357158" y="5200074"/>
            <a:chExt cx="709611" cy="602098"/>
          </a:xfrm>
        </p:grpSpPr>
        <p:sp>
          <p:nvSpPr>
            <p:cNvPr id="182" name="Freeform 7"/>
            <p:cNvSpPr/>
            <p:nvPr/>
          </p:nvSpPr>
          <p:spPr bwMode="gray">
            <a:xfrm>
              <a:off x="728568" y="5200074"/>
              <a:ext cx="338201" cy="602098"/>
            </a:xfrm>
            <a:custGeom>
              <a:avLst/>
              <a:gdLst>
                <a:gd name="T0" fmla="*/ 0 w 371"/>
                <a:gd name="T1" fmla="*/ 2147483647 h 668"/>
                <a:gd name="T2" fmla="*/ 0 w 371"/>
                <a:gd name="T3" fmla="*/ 2147483647 h 668"/>
                <a:gd name="T4" fmla="*/ 2147483647 w 371"/>
                <a:gd name="T5" fmla="*/ 2147483647 h 668"/>
                <a:gd name="T6" fmla="*/ 2147483647 w 371"/>
                <a:gd name="T7" fmla="*/ 0 h 668"/>
                <a:gd name="T8" fmla="*/ 0 w 371"/>
                <a:gd name="T9" fmla="*/ 2147483647 h 668"/>
                <a:gd name="T10" fmla="*/ 0 60000 65536"/>
                <a:gd name="T11" fmla="*/ 0 60000 65536"/>
                <a:gd name="T12" fmla="*/ 0 60000 65536"/>
                <a:gd name="T13" fmla="*/ 0 60000 65536"/>
                <a:gd name="T14" fmla="*/ 0 60000 65536"/>
                <a:gd name="T15" fmla="*/ 0 w 371"/>
                <a:gd name="T16" fmla="*/ 0 h 668"/>
                <a:gd name="T17" fmla="*/ 371 w 371"/>
                <a:gd name="T18" fmla="*/ 668 h 668"/>
              </a:gdLst>
              <a:ahLst/>
              <a:cxnLst>
                <a:cxn ang="T10">
                  <a:pos x="T0" y="T1"/>
                </a:cxn>
                <a:cxn ang="T11">
                  <a:pos x="T2" y="T3"/>
                </a:cxn>
                <a:cxn ang="T12">
                  <a:pos x="T4" y="T5"/>
                </a:cxn>
                <a:cxn ang="T13">
                  <a:pos x="T6" y="T7"/>
                </a:cxn>
                <a:cxn ang="T14">
                  <a:pos x="T8" y="T9"/>
                </a:cxn>
              </a:cxnLst>
              <a:rect l="T15" t="T16" r="T17" b="T18"/>
              <a:pathLst>
                <a:path w="371" h="668">
                  <a:moveTo>
                    <a:pt x="0" y="134"/>
                  </a:moveTo>
                  <a:lnTo>
                    <a:pt x="0" y="533"/>
                  </a:lnTo>
                  <a:lnTo>
                    <a:pt x="371" y="668"/>
                  </a:lnTo>
                  <a:lnTo>
                    <a:pt x="371" y="0"/>
                  </a:lnTo>
                  <a:lnTo>
                    <a:pt x="0" y="134"/>
                  </a:lnTo>
                  <a:close/>
                </a:path>
              </a:pathLst>
            </a:custGeom>
            <a:gradFill rotWithShape="1">
              <a:gsLst>
                <a:gs pos="0">
                  <a:srgbClr val="C7CDFD"/>
                </a:gs>
                <a:gs pos="100000">
                  <a:srgbClr val="E8EBFE"/>
                </a:gs>
              </a:gsLst>
              <a:lin ang="0" scaled="1"/>
            </a:gradFill>
            <a:ln w="9525">
              <a:noFill/>
              <a:round/>
            </a:ln>
          </p:spPr>
          <p:txBody>
            <a:bodyPr/>
            <a:lstStyle/>
            <a:p>
              <a:endParaRPr lang="zh-CN" altLang="en-US" sz="1200" dirty="0"/>
            </a:p>
          </p:txBody>
        </p:sp>
        <p:sp>
          <p:nvSpPr>
            <p:cNvPr id="183" name="AutoShape 9"/>
            <p:cNvSpPr>
              <a:spLocks noChangeArrowheads="1"/>
            </p:cNvSpPr>
            <p:nvPr/>
          </p:nvSpPr>
          <p:spPr bwMode="gray">
            <a:xfrm>
              <a:off x="357158" y="5267724"/>
              <a:ext cx="479332" cy="474894"/>
            </a:xfrm>
            <a:prstGeom prst="flowChartConnector">
              <a:avLst/>
            </a:prstGeom>
            <a:gradFill rotWithShape="1">
              <a:gsLst>
                <a:gs pos="0">
                  <a:schemeClr val="accent1"/>
                </a:gs>
                <a:gs pos="100000">
                  <a:srgbClr val="464AEC"/>
                </a:gs>
              </a:gsLst>
              <a:lin ang="5400000" scaled="1"/>
            </a:gradFill>
            <a:ln w="88900" cmpd="thinThick" algn="ctr">
              <a:solidFill>
                <a:srgbClr val="C0C0C0"/>
              </a:solidFill>
              <a:round/>
            </a:ln>
          </p:spPr>
          <p:txBody>
            <a:bodyPr wrap="none" anchor="ctr"/>
            <a:lstStyle/>
            <a:p>
              <a:pPr algn="ctr" eaLnBrk="0" hangingPunct="0">
                <a:lnSpc>
                  <a:spcPct val="90000"/>
                </a:lnSpc>
              </a:pPr>
              <a:r>
                <a:rPr lang="zh-CN" altLang="en-US" sz="1200" b="1" dirty="0">
                  <a:solidFill>
                    <a:srgbClr val="FFFFFF"/>
                  </a:solidFill>
                  <a:latin typeface="微软雅黑" panose="020B0503020204020204" charset="-122"/>
                  <a:ea typeface="微软雅黑" panose="020B0503020204020204" charset="-122"/>
                </a:rPr>
                <a:t>客户</a:t>
              </a:r>
            </a:p>
          </p:txBody>
        </p:sp>
      </p:grpSp>
      <p:grpSp>
        <p:nvGrpSpPr>
          <p:cNvPr id="184" name="组合 137"/>
          <p:cNvGrpSpPr/>
          <p:nvPr/>
        </p:nvGrpSpPr>
        <p:grpSpPr>
          <a:xfrm>
            <a:off x="2643174" y="5159914"/>
            <a:ext cx="612000" cy="477120"/>
            <a:chOff x="357158" y="5857892"/>
            <a:chExt cx="709611" cy="602098"/>
          </a:xfrm>
        </p:grpSpPr>
        <p:sp>
          <p:nvSpPr>
            <p:cNvPr id="185" name="Freeform 7"/>
            <p:cNvSpPr/>
            <p:nvPr/>
          </p:nvSpPr>
          <p:spPr bwMode="gray">
            <a:xfrm>
              <a:off x="728568" y="5857892"/>
              <a:ext cx="338201" cy="602098"/>
            </a:xfrm>
            <a:custGeom>
              <a:avLst/>
              <a:gdLst>
                <a:gd name="T0" fmla="*/ 0 w 371"/>
                <a:gd name="T1" fmla="*/ 2147483647 h 668"/>
                <a:gd name="T2" fmla="*/ 0 w 371"/>
                <a:gd name="T3" fmla="*/ 2147483647 h 668"/>
                <a:gd name="T4" fmla="*/ 2147483647 w 371"/>
                <a:gd name="T5" fmla="*/ 2147483647 h 668"/>
                <a:gd name="T6" fmla="*/ 2147483647 w 371"/>
                <a:gd name="T7" fmla="*/ 0 h 668"/>
                <a:gd name="T8" fmla="*/ 0 w 371"/>
                <a:gd name="T9" fmla="*/ 2147483647 h 668"/>
                <a:gd name="T10" fmla="*/ 0 60000 65536"/>
                <a:gd name="T11" fmla="*/ 0 60000 65536"/>
                <a:gd name="T12" fmla="*/ 0 60000 65536"/>
                <a:gd name="T13" fmla="*/ 0 60000 65536"/>
                <a:gd name="T14" fmla="*/ 0 60000 65536"/>
                <a:gd name="T15" fmla="*/ 0 w 371"/>
                <a:gd name="T16" fmla="*/ 0 h 668"/>
                <a:gd name="T17" fmla="*/ 371 w 371"/>
                <a:gd name="T18" fmla="*/ 668 h 668"/>
              </a:gdLst>
              <a:ahLst/>
              <a:cxnLst>
                <a:cxn ang="T10">
                  <a:pos x="T0" y="T1"/>
                </a:cxn>
                <a:cxn ang="T11">
                  <a:pos x="T2" y="T3"/>
                </a:cxn>
                <a:cxn ang="T12">
                  <a:pos x="T4" y="T5"/>
                </a:cxn>
                <a:cxn ang="T13">
                  <a:pos x="T6" y="T7"/>
                </a:cxn>
                <a:cxn ang="T14">
                  <a:pos x="T8" y="T9"/>
                </a:cxn>
              </a:cxnLst>
              <a:rect l="T15" t="T16" r="T17" b="T18"/>
              <a:pathLst>
                <a:path w="371" h="668">
                  <a:moveTo>
                    <a:pt x="0" y="134"/>
                  </a:moveTo>
                  <a:lnTo>
                    <a:pt x="0" y="533"/>
                  </a:lnTo>
                  <a:lnTo>
                    <a:pt x="371" y="668"/>
                  </a:lnTo>
                  <a:lnTo>
                    <a:pt x="371" y="0"/>
                  </a:lnTo>
                  <a:lnTo>
                    <a:pt x="0" y="134"/>
                  </a:lnTo>
                  <a:close/>
                </a:path>
              </a:pathLst>
            </a:custGeom>
            <a:gradFill rotWithShape="1">
              <a:gsLst>
                <a:gs pos="0">
                  <a:srgbClr val="C7CDFD"/>
                </a:gs>
                <a:gs pos="100000">
                  <a:srgbClr val="E8EBFE"/>
                </a:gs>
              </a:gsLst>
              <a:lin ang="0" scaled="1"/>
            </a:gradFill>
            <a:ln w="9525">
              <a:noFill/>
              <a:round/>
            </a:ln>
          </p:spPr>
          <p:txBody>
            <a:bodyPr/>
            <a:lstStyle/>
            <a:p>
              <a:endParaRPr lang="zh-CN" altLang="en-US" sz="1200" dirty="0"/>
            </a:p>
          </p:txBody>
        </p:sp>
        <p:sp>
          <p:nvSpPr>
            <p:cNvPr id="186" name="AutoShape 9"/>
            <p:cNvSpPr>
              <a:spLocks noChangeArrowheads="1"/>
            </p:cNvSpPr>
            <p:nvPr/>
          </p:nvSpPr>
          <p:spPr bwMode="gray">
            <a:xfrm>
              <a:off x="357158" y="5921494"/>
              <a:ext cx="479332" cy="474894"/>
            </a:xfrm>
            <a:prstGeom prst="flowChartConnector">
              <a:avLst/>
            </a:prstGeom>
            <a:gradFill rotWithShape="1">
              <a:gsLst>
                <a:gs pos="0">
                  <a:schemeClr val="accent1"/>
                </a:gs>
                <a:gs pos="100000">
                  <a:srgbClr val="464AEC"/>
                </a:gs>
              </a:gsLst>
              <a:lin ang="5400000" scaled="1"/>
            </a:gradFill>
            <a:ln w="88900" cmpd="thinThick" algn="ctr">
              <a:solidFill>
                <a:srgbClr val="C0C0C0"/>
              </a:solidFill>
              <a:round/>
            </a:ln>
          </p:spPr>
          <p:txBody>
            <a:bodyPr wrap="none" anchor="ctr"/>
            <a:lstStyle/>
            <a:p>
              <a:pPr algn="ctr" eaLnBrk="0" hangingPunct="0">
                <a:lnSpc>
                  <a:spcPct val="90000"/>
                </a:lnSpc>
              </a:pPr>
              <a:r>
                <a:rPr lang="zh-CN" altLang="en-US" sz="1200" b="1" dirty="0">
                  <a:solidFill>
                    <a:srgbClr val="FFFFFF"/>
                  </a:solidFill>
                  <a:latin typeface="微软雅黑" panose="020B0503020204020204" charset="-122"/>
                  <a:ea typeface="微软雅黑" panose="020B0503020204020204" charset="-122"/>
                </a:rPr>
                <a:t>产品</a:t>
              </a:r>
            </a:p>
          </p:txBody>
        </p:sp>
      </p:grpSp>
      <p:sp>
        <p:nvSpPr>
          <p:cNvPr id="188" name="TextBox 187"/>
          <p:cNvSpPr txBox="1"/>
          <p:nvPr/>
        </p:nvSpPr>
        <p:spPr bwMode="auto">
          <a:xfrm>
            <a:off x="3286116" y="4043490"/>
            <a:ext cx="3071834" cy="524452"/>
          </a:xfrm>
          <a:prstGeom prst="rect">
            <a:avLst/>
          </a:prstGeom>
          <a:noFill/>
          <a:ln>
            <a:noFill/>
          </a:ln>
        </p:spPr>
        <p:txBody>
          <a:bodyPr wrap="square" rtlCol="0">
            <a:spAutoFit/>
          </a:bodyPr>
          <a:lstStyle/>
          <a:p>
            <a:pPr marL="177800" indent="-177800">
              <a:buFont typeface="Wingdings" panose="05000000000000000000" pitchFamily="2" charset="2"/>
              <a:buChar char="Ø"/>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市场发展趋势（含竞品）</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buFont typeface="Wingdings" panose="05000000000000000000" pitchFamily="2" charset="2"/>
              <a:buChar char="Ø"/>
            </a:pP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重机在市场满足和生产稳定之间的策略</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buFont typeface="Wingdings" panose="05000000000000000000" pitchFamily="2" charset="2"/>
              <a:buChar char="Ø"/>
            </a:pP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重机在国内</a:t>
            </a:r>
            <a:r>
              <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国际、大中小挖的细分市场的定位</a:t>
            </a:r>
          </a:p>
        </p:txBody>
      </p:sp>
      <p:sp>
        <p:nvSpPr>
          <p:cNvPr id="189" name="TextBox 188"/>
          <p:cNvSpPr txBox="1"/>
          <p:nvPr/>
        </p:nvSpPr>
        <p:spPr bwMode="auto">
          <a:xfrm>
            <a:off x="3286116" y="4584514"/>
            <a:ext cx="3071834" cy="524452"/>
          </a:xfrm>
          <a:prstGeom prst="rect">
            <a:avLst/>
          </a:prstGeom>
          <a:noFill/>
          <a:ln>
            <a:noFill/>
          </a:ln>
        </p:spPr>
        <p:txBody>
          <a:bodyPr wrap="square" rtlCol="0">
            <a:spAutoFit/>
          </a:bodyPr>
          <a:lstStyle/>
          <a:p>
            <a:pPr marL="177800" indent="-177800">
              <a:buFont typeface="Wingdings" panose="05000000000000000000" pitchFamily="2" charset="2"/>
              <a:buChar char="Ø"/>
            </a:pP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客户类型分析：性质、行业</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buFont typeface="Wingdings" panose="05000000000000000000" pitchFamily="2" charset="2"/>
              <a:buChar char="Ø"/>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客户购买习惯：决策周期、交期偏好</a:t>
            </a:r>
            <a:endParaRPr kumimoji="1" lang="en-US" altLang="zh-CN" sz="10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buFont typeface="Wingdings" panose="05000000000000000000" pitchFamily="2" charset="2"/>
              <a:buChar char="Ø"/>
            </a:pP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客户需求分析：标准化</a:t>
            </a:r>
            <a:r>
              <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rPr>
              <a:t>VS</a:t>
            </a: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定制化</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0" name="TextBox 189"/>
          <p:cNvSpPr txBox="1"/>
          <p:nvPr/>
        </p:nvSpPr>
        <p:spPr bwMode="auto">
          <a:xfrm>
            <a:off x="3286116" y="5190635"/>
            <a:ext cx="3071834" cy="400110"/>
          </a:xfrm>
          <a:prstGeom prst="rect">
            <a:avLst/>
          </a:prstGeom>
          <a:noFill/>
          <a:ln>
            <a:noFill/>
          </a:ln>
        </p:spPr>
        <p:txBody>
          <a:bodyPr wrap="square" rtlCol="0">
            <a:spAutoFit/>
          </a:bodyPr>
          <a:lstStyle/>
          <a:p>
            <a:pPr marL="177800" indent="-177800">
              <a:buFont typeface="Wingdings" panose="05000000000000000000" pitchFamily="2" charset="2"/>
              <a:buChar char="Ø"/>
            </a:pP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不同市场的产品销量分析</a:t>
            </a:r>
            <a:endParaRPr kumimoji="1" lang="en-US" altLang="zh-CN" sz="10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buFont typeface="Wingdings" panose="05000000000000000000" pitchFamily="2" charset="2"/>
              <a:buChar char="Ø"/>
            </a:pP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产品类型分析</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p:txBody>
      </p:sp>
      <p:cxnSp>
        <p:nvCxnSpPr>
          <p:cNvPr id="192" name="直接连接符 191"/>
          <p:cNvCxnSpPr/>
          <p:nvPr/>
        </p:nvCxnSpPr>
        <p:spPr bwMode="auto">
          <a:xfrm rot="5400000">
            <a:off x="1705660" y="4845942"/>
            <a:ext cx="1548000" cy="1588"/>
          </a:xfrm>
          <a:prstGeom prst="line">
            <a:avLst/>
          </a:prstGeom>
          <a:solidFill>
            <a:schemeClr val="accent1"/>
          </a:solidFill>
          <a:ln w="9525" cap="flat" cmpd="sng" algn="ctr">
            <a:solidFill>
              <a:schemeClr val="bg1">
                <a:lumMod val="65000"/>
              </a:schemeClr>
            </a:solidFill>
            <a:prstDash val="dash"/>
            <a:round/>
            <a:headEnd type="none" w="med" len="med"/>
            <a:tailEnd type="none"/>
          </a:ln>
          <a:effectLst/>
        </p:spPr>
      </p:cxnSp>
      <p:sp>
        <p:nvSpPr>
          <p:cNvPr id="193" name="TextBox 192"/>
          <p:cNvSpPr txBox="1"/>
          <p:nvPr/>
        </p:nvSpPr>
        <p:spPr bwMode="auto">
          <a:xfrm>
            <a:off x="2136096" y="4363559"/>
            <a:ext cx="338554" cy="1015663"/>
          </a:xfrm>
          <a:prstGeom prst="rect">
            <a:avLst/>
          </a:prstGeom>
          <a:noFill/>
          <a:ln>
            <a:noFill/>
          </a:ln>
        </p:spPr>
        <p:txBody>
          <a:bodyPr wrap="non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主</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要</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考</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虑</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计划模式（集成计划体系）：完善长中短期计划体系，建立柔性规则</a:t>
            </a:r>
          </a:p>
        </p:txBody>
      </p:sp>
      <p:sp>
        <p:nvSpPr>
          <p:cNvPr id="88" name="矩形 87"/>
          <p:cNvSpPr/>
          <p:nvPr/>
        </p:nvSpPr>
        <p:spPr bwMode="auto">
          <a:xfrm>
            <a:off x="311120" y="1211247"/>
            <a:ext cx="1512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计划体系待完善</a:t>
            </a:r>
          </a:p>
        </p:txBody>
      </p:sp>
      <p:sp>
        <p:nvSpPr>
          <p:cNvPr id="123" name="右箭头 122"/>
          <p:cNvSpPr/>
          <p:nvPr/>
        </p:nvSpPr>
        <p:spPr bwMode="auto">
          <a:xfrm>
            <a:off x="1915592" y="1157498"/>
            <a:ext cx="4668814" cy="457189"/>
          </a:xfrm>
          <a:prstGeom prst="rightArrow">
            <a:avLst>
              <a:gd name="adj1" fmla="val 77779"/>
              <a:gd name="adj2" fmla="val 50000"/>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chemeClr val="bg1">
                    <a:lumMod val="50000"/>
                  </a:schemeClr>
                </a:solidFill>
                <a:latin typeface="微软雅黑" panose="020B0503020204020204" charset="-122"/>
                <a:ea typeface="微软雅黑" panose="020B0503020204020204" charset="-122"/>
              </a:rPr>
              <a:t>顶层设计</a:t>
            </a:r>
          </a:p>
        </p:txBody>
      </p:sp>
      <p:sp>
        <p:nvSpPr>
          <p:cNvPr id="124" name="矩形 123"/>
          <p:cNvSpPr/>
          <p:nvPr/>
        </p:nvSpPr>
        <p:spPr bwMode="auto">
          <a:xfrm>
            <a:off x="6698280" y="1211247"/>
            <a:ext cx="2160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建立完善的计划体系</a:t>
            </a:r>
          </a:p>
        </p:txBody>
      </p:sp>
      <p:sp>
        <p:nvSpPr>
          <p:cNvPr id="125" name="矩形 124"/>
          <p:cNvSpPr/>
          <p:nvPr/>
        </p:nvSpPr>
        <p:spPr bwMode="auto">
          <a:xfrm>
            <a:off x="311120" y="1643050"/>
            <a:ext cx="1512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目前的计划体系包含：</a:t>
            </a:r>
            <a:r>
              <a:rPr lang="en-US" altLang="zh-CN" sz="1200" dirty="0">
                <a:latin typeface="微软雅黑" panose="020B0503020204020204" charset="-122"/>
                <a:ea typeface="微软雅黑" panose="020B0503020204020204" charset="-122"/>
              </a:rPr>
              <a:t>3-6</a:t>
            </a:r>
            <a:r>
              <a:rPr lang="zh-CN" altLang="en-US" sz="1200" dirty="0">
                <a:latin typeface="微软雅黑" panose="020B0503020204020204" charset="-122"/>
                <a:ea typeface="微软雅黑" panose="020B0503020204020204" charset="-122"/>
              </a:rPr>
              <a:t>个月长期计划</a:t>
            </a:r>
            <a:r>
              <a:rPr lang="en-US" altLang="zh-CN" sz="1200" dirty="0">
                <a:latin typeface="微软雅黑" panose="020B0503020204020204" charset="-122"/>
                <a:ea typeface="微软雅黑" panose="020B0503020204020204" charset="-122"/>
              </a:rPr>
              <a:t>(A</a:t>
            </a:r>
            <a:r>
              <a:rPr lang="zh-CN" altLang="en-US" sz="1200" dirty="0">
                <a:latin typeface="微软雅黑" panose="020B0503020204020204" charset="-122"/>
                <a:ea typeface="微软雅黑" panose="020B0503020204020204" charset="-122"/>
              </a:rPr>
              <a:t>表</a:t>
            </a:r>
            <a:r>
              <a:rPr lang="en-US" altLang="zh-CN" sz="1200" dirty="0">
                <a:latin typeface="微软雅黑" panose="020B0503020204020204" charset="-122"/>
                <a:ea typeface="微软雅黑" panose="020B0503020204020204" charset="-122"/>
              </a:rPr>
              <a:t>/B</a:t>
            </a:r>
            <a:r>
              <a:rPr lang="zh-CN" altLang="en-US" sz="1200" dirty="0">
                <a:latin typeface="微软雅黑" panose="020B0503020204020204" charset="-122"/>
                <a:ea typeface="微软雅黑" panose="020B0503020204020204" charset="-122"/>
              </a:rPr>
              <a:t>表</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个月中期计划</a:t>
            </a:r>
            <a:r>
              <a:rPr lang="en-US" altLang="zh-CN" sz="1200" dirty="0">
                <a:latin typeface="微软雅黑" panose="020B0503020204020204" charset="-122"/>
                <a:ea typeface="微软雅黑" panose="020B0503020204020204" charset="-122"/>
              </a:rPr>
              <a:t>(C</a:t>
            </a:r>
            <a:r>
              <a:rPr lang="zh-CN" altLang="en-US" sz="1200" dirty="0">
                <a:latin typeface="微软雅黑" panose="020B0503020204020204" charset="-122"/>
                <a:ea typeface="微软雅黑" panose="020B0503020204020204" charset="-122"/>
              </a:rPr>
              <a:t>表</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以及短期计划</a:t>
            </a:r>
            <a:r>
              <a:rPr lang="en-US" altLang="zh-CN" sz="1200" dirty="0">
                <a:latin typeface="微软雅黑" panose="020B0503020204020204" charset="-122"/>
                <a:ea typeface="微软雅黑" panose="020B0503020204020204" charset="-122"/>
              </a:rPr>
              <a:t>(3+2</a:t>
            </a:r>
            <a:r>
              <a:rPr lang="zh-CN" altLang="en-US" sz="1200" dirty="0">
                <a:latin typeface="微软雅黑" panose="020B0503020204020204" charset="-122"/>
                <a:ea typeface="微软雅黑" panose="020B0503020204020204" charset="-122"/>
              </a:rPr>
              <a:t>滚动计划</a:t>
            </a:r>
            <a:r>
              <a:rPr lang="en-US" altLang="zh-CN" sz="1200" dirty="0">
                <a:latin typeface="微软雅黑" panose="020B0503020204020204" charset="-122"/>
                <a:ea typeface="微软雅黑" panose="020B0503020204020204" charset="-122"/>
              </a:rPr>
              <a:t>)</a:t>
            </a:r>
          </a:p>
          <a:p>
            <a:pPr marL="88900" indent="-88900">
              <a:lnSpc>
                <a:spcPct val="110000"/>
              </a:lnSpc>
              <a:spcBef>
                <a:spcPts val="300"/>
              </a:spcBef>
              <a:buFont typeface="微软雅黑" panose="020B0503020204020204" charset="-122"/>
              <a:buChar char="▪"/>
            </a:pPr>
            <a:r>
              <a:rPr lang="en-US" altLang="zh-CN" sz="1200" dirty="0">
                <a:latin typeface="微软雅黑" panose="020B0503020204020204" charset="-122"/>
                <a:ea typeface="微软雅黑" panose="020B0503020204020204" charset="-122"/>
              </a:rPr>
              <a:t>6</a:t>
            </a:r>
            <a:r>
              <a:rPr lang="zh-CN" altLang="en-US" sz="1200" dirty="0">
                <a:latin typeface="微软雅黑" panose="020B0503020204020204" charset="-122"/>
                <a:ea typeface="微软雅黑" panose="020B0503020204020204" charset="-122"/>
              </a:rPr>
              <a:t>个月的长期计划能够满足长周期零部件</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含进口件</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的采购需求</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个月的中期计划指导工厂排产与供应商备货时间跨度较长，计划调整较频繁，需要</a:t>
            </a:r>
            <a:r>
              <a:rPr lang="zh-CN" altLang="en-US" sz="1200" b="1" dirty="0">
                <a:latin typeface="微软雅黑" panose="020B0503020204020204" charset="-122"/>
                <a:ea typeface="微软雅黑" panose="020B0503020204020204" charset="-122"/>
              </a:rPr>
              <a:t>明确规则</a:t>
            </a:r>
            <a:endParaRPr lang="en-US" altLang="zh-CN" sz="1200" b="1"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en-US" altLang="zh-CN" sz="1200" dirty="0">
                <a:latin typeface="微软雅黑" panose="020B0503020204020204" charset="-122"/>
                <a:ea typeface="微软雅黑" panose="020B0503020204020204" charset="-122"/>
              </a:rPr>
              <a:t>3+2</a:t>
            </a:r>
            <a:r>
              <a:rPr lang="zh-CN" altLang="en-US" sz="1200" dirty="0">
                <a:latin typeface="微软雅黑" panose="020B0503020204020204" charset="-122"/>
                <a:ea typeface="微软雅黑" panose="020B0503020204020204" charset="-122"/>
              </a:rPr>
              <a:t>滚动计划给予供应商的准备期较短，需考虑</a:t>
            </a:r>
            <a:r>
              <a:rPr lang="zh-CN" altLang="en-US" sz="1200" b="1" dirty="0">
                <a:latin typeface="微软雅黑" panose="020B0503020204020204" charset="-122"/>
                <a:ea typeface="微软雅黑" panose="020B0503020204020204" charset="-122"/>
              </a:rPr>
              <a:t>延长滚动计划周期</a:t>
            </a:r>
          </a:p>
        </p:txBody>
      </p:sp>
      <p:sp>
        <p:nvSpPr>
          <p:cNvPr id="126" name="矩形 125"/>
          <p:cNvSpPr/>
          <p:nvPr/>
        </p:nvSpPr>
        <p:spPr bwMode="auto">
          <a:xfrm>
            <a:off x="1915536" y="1643050"/>
            <a:ext cx="4669428" cy="4143404"/>
          </a:xfrm>
          <a:prstGeom prst="rect">
            <a:avLst/>
          </a:prstGeom>
          <a:no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127" name="矩形 126"/>
          <p:cNvSpPr/>
          <p:nvPr/>
        </p:nvSpPr>
        <p:spPr bwMode="auto">
          <a:xfrm>
            <a:off x="6698280" y="1643050"/>
            <a:ext cx="2160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长期计划</a:t>
            </a:r>
            <a:r>
              <a:rPr lang="zh-CN" altLang="en-US" sz="1200" dirty="0">
                <a:latin typeface="微软雅黑" panose="020B0503020204020204" charset="-122"/>
                <a:ea typeface="微软雅黑" panose="020B0503020204020204" charset="-122"/>
              </a:rPr>
              <a:t>：基于产能规划提前期及长周期零部件采购周期，定义长期计划周期（</a:t>
            </a:r>
            <a:r>
              <a:rPr lang="en-US" altLang="zh-CN" sz="1200" dirty="0">
                <a:latin typeface="微软雅黑" panose="020B0503020204020204" charset="-122"/>
                <a:ea typeface="微软雅黑" panose="020B0503020204020204" charset="-122"/>
              </a:rPr>
              <a:t>6</a:t>
            </a:r>
            <a:r>
              <a:rPr lang="zh-CN" altLang="en-US" sz="1200" dirty="0">
                <a:latin typeface="微软雅黑" panose="020B0503020204020204" charset="-122"/>
                <a:ea typeface="微软雅黑" panose="020B0503020204020204" charset="-122"/>
              </a:rPr>
              <a:t>个月，月度滚动管理）</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中期计划</a:t>
            </a:r>
            <a:r>
              <a:rPr lang="zh-CN" altLang="en-US" sz="1200" dirty="0">
                <a:latin typeface="微软雅黑" panose="020B0503020204020204" charset="-122"/>
                <a:ea typeface="微软雅黑" panose="020B0503020204020204" charset="-122"/>
              </a:rPr>
              <a:t>：根据</a:t>
            </a: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个月以内零部件采购周期比例，定义中期计划周期（</a:t>
            </a:r>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个月或</a:t>
            </a: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个月，周度或旬度滚动管理）</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短期计划</a:t>
            </a:r>
            <a:r>
              <a:rPr lang="zh-CN" altLang="en-US" sz="1200" dirty="0">
                <a:latin typeface="微软雅黑" panose="020B0503020204020204" charset="-122"/>
                <a:ea typeface="微软雅黑" panose="020B0503020204020204" charset="-122"/>
              </a:rPr>
              <a:t>：根据市场对锁定周期的接受度以及零部件采购周期，定义锁定期（</a:t>
            </a:r>
            <a:r>
              <a:rPr lang="en-US" altLang="zh-CN" sz="1200" dirty="0">
                <a:latin typeface="微软雅黑" panose="020B0503020204020204" charset="-122"/>
                <a:ea typeface="微软雅黑" panose="020B0503020204020204" charset="-122"/>
              </a:rPr>
              <a:t>X+Y</a:t>
            </a:r>
            <a:r>
              <a:rPr lang="zh-CN" altLang="en-US" sz="1200" dirty="0">
                <a:latin typeface="微软雅黑" panose="020B0503020204020204" charset="-122"/>
                <a:ea typeface="微软雅黑" panose="020B0503020204020204" charset="-122"/>
              </a:rPr>
              <a:t>，提前</a:t>
            </a:r>
            <a:r>
              <a:rPr lang="en-US" altLang="zh-CN" sz="1200" dirty="0">
                <a:latin typeface="微软雅黑" panose="020B0503020204020204" charset="-122"/>
                <a:ea typeface="微软雅黑" panose="020B0503020204020204" charset="-122"/>
              </a:rPr>
              <a:t>X</a:t>
            </a:r>
            <a:r>
              <a:rPr lang="zh-CN" altLang="en-US" sz="1200" dirty="0">
                <a:latin typeface="微软雅黑" panose="020B0503020204020204" charset="-122"/>
                <a:ea typeface="微软雅黑" panose="020B0503020204020204" charset="-122"/>
              </a:rPr>
              <a:t>天锁定</a:t>
            </a:r>
            <a:r>
              <a:rPr lang="en-US" altLang="zh-CN" sz="1200" dirty="0">
                <a:latin typeface="微软雅黑" panose="020B0503020204020204" charset="-122"/>
                <a:ea typeface="微软雅黑" panose="020B0503020204020204" charset="-122"/>
              </a:rPr>
              <a:t>Y</a:t>
            </a:r>
            <a:r>
              <a:rPr lang="zh-CN" altLang="en-US" sz="1200" dirty="0">
                <a:latin typeface="微软雅黑" panose="020B0503020204020204" charset="-122"/>
                <a:ea typeface="微软雅黑" panose="020B0503020204020204" charset="-122"/>
              </a:rPr>
              <a:t>天）</a:t>
            </a:r>
            <a:endParaRPr lang="en-US" altLang="zh-CN" sz="1200" dirty="0">
              <a:latin typeface="微软雅黑" panose="020B0503020204020204" charset="-122"/>
              <a:ea typeface="微软雅黑" panose="020B0503020204020204" charset="-122"/>
            </a:endParaRPr>
          </a:p>
          <a:p>
            <a:pPr marL="176530" indent="-88900">
              <a:lnSpc>
                <a:spcPct val="110000"/>
              </a:lnSpc>
              <a:spcBef>
                <a:spcPts val="300"/>
              </a:spcBef>
              <a:buFont typeface="微软雅黑" panose="020B0503020204020204" charset="-122"/>
              <a:buChar char="-"/>
            </a:pPr>
            <a:r>
              <a:rPr lang="en-US" altLang="zh-CN" sz="1200" dirty="0">
                <a:latin typeface="微软雅黑" panose="020B0503020204020204" charset="-122"/>
                <a:ea typeface="微软雅黑" panose="020B0503020204020204" charset="-122"/>
              </a:rPr>
              <a:t>X</a:t>
            </a:r>
            <a:r>
              <a:rPr lang="zh-CN" altLang="en-US" sz="1200" dirty="0">
                <a:latin typeface="微软雅黑" panose="020B0503020204020204" charset="-122"/>
                <a:ea typeface="微软雅黑" panose="020B0503020204020204" charset="-122"/>
              </a:rPr>
              <a:t>长，供应商准备期充足</a:t>
            </a:r>
            <a:br>
              <a:rPr lang="en-US" altLang="zh-CN" sz="1200" dirty="0">
                <a:latin typeface="微软雅黑" panose="020B0503020204020204" charset="-122"/>
                <a:ea typeface="微软雅黑" panose="020B0503020204020204" charset="-122"/>
              </a:rPr>
            </a:br>
            <a:r>
              <a:rPr lang="en-US" altLang="zh-CN" sz="1200" dirty="0">
                <a:latin typeface="微软雅黑" panose="020B0503020204020204" charset="-122"/>
                <a:ea typeface="微软雅黑" panose="020B0503020204020204" charset="-122"/>
              </a:rPr>
              <a:t>X</a:t>
            </a:r>
            <a:r>
              <a:rPr lang="zh-CN" altLang="en-US" sz="1200" dirty="0">
                <a:latin typeface="微软雅黑" panose="020B0503020204020204" charset="-122"/>
                <a:ea typeface="微软雅黑" panose="020B0503020204020204" charset="-122"/>
              </a:rPr>
              <a:t>短，市场应变能力越强</a:t>
            </a:r>
            <a:endParaRPr lang="en-US" altLang="zh-CN" sz="1200" dirty="0">
              <a:latin typeface="微软雅黑" panose="020B0503020204020204" charset="-122"/>
              <a:ea typeface="微软雅黑" panose="020B0503020204020204" charset="-122"/>
            </a:endParaRPr>
          </a:p>
          <a:p>
            <a:pPr marL="176530" indent="-88900">
              <a:lnSpc>
                <a:spcPct val="110000"/>
              </a:lnSpc>
              <a:spcBef>
                <a:spcPts val="300"/>
              </a:spcBef>
              <a:buFont typeface="微软雅黑" panose="020B0503020204020204" charset="-122"/>
              <a:buChar char="-"/>
            </a:pPr>
            <a:r>
              <a:rPr lang="en-US" altLang="zh-CN" sz="1200" dirty="0">
                <a:latin typeface="微软雅黑" panose="020B0503020204020204" charset="-122"/>
                <a:ea typeface="微软雅黑" panose="020B0503020204020204" charset="-122"/>
              </a:rPr>
              <a:t>Y</a:t>
            </a:r>
            <a:r>
              <a:rPr lang="zh-CN" altLang="en-US" sz="1200" dirty="0">
                <a:latin typeface="微软雅黑" panose="020B0503020204020204" charset="-122"/>
                <a:ea typeface="微软雅黑" panose="020B0503020204020204" charset="-122"/>
              </a:rPr>
              <a:t>长，生产稳定</a:t>
            </a:r>
            <a:br>
              <a:rPr lang="en-US" altLang="zh-CN" sz="1200" dirty="0">
                <a:latin typeface="微软雅黑" panose="020B0503020204020204" charset="-122"/>
                <a:ea typeface="微软雅黑" panose="020B0503020204020204" charset="-122"/>
              </a:rPr>
            </a:br>
            <a:r>
              <a:rPr lang="en-US" altLang="zh-CN" sz="1200" dirty="0">
                <a:latin typeface="微软雅黑" panose="020B0503020204020204" charset="-122"/>
                <a:ea typeface="微软雅黑" panose="020B0503020204020204" charset="-122"/>
              </a:rPr>
              <a:t>Y</a:t>
            </a:r>
            <a:r>
              <a:rPr lang="zh-CN" altLang="en-US" sz="1200" dirty="0">
                <a:latin typeface="微软雅黑" panose="020B0503020204020204" charset="-122"/>
                <a:ea typeface="微软雅黑" panose="020B0503020204020204" charset="-122"/>
              </a:rPr>
              <a:t>短，市场应变能力越强</a:t>
            </a: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柔性规则</a:t>
            </a:r>
            <a:r>
              <a:rPr lang="zh-CN" altLang="en-US" sz="1200" dirty="0">
                <a:latin typeface="微软雅黑" panose="020B0503020204020204" charset="-122"/>
                <a:ea typeface="微软雅黑" panose="020B0503020204020204" charset="-122"/>
              </a:rPr>
              <a:t>：建立“锁定区</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柔性区</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预测区”的调整规则</a:t>
            </a:r>
          </a:p>
        </p:txBody>
      </p:sp>
      <p:sp>
        <p:nvSpPr>
          <p:cNvPr id="175" name="矩形 174"/>
          <p:cNvSpPr/>
          <p:nvPr/>
        </p:nvSpPr>
        <p:spPr bwMode="auto">
          <a:xfrm>
            <a:off x="311120" y="5888834"/>
            <a:ext cx="8547160" cy="612000"/>
          </a:xfrm>
          <a:prstGeom prst="rect">
            <a:avLst/>
          </a:prstGeom>
          <a:noFill/>
          <a:ln w="19050" cap="flat" cmpd="sng" algn="ctr">
            <a:solidFill>
              <a:schemeClr val="accent1">
                <a:lumMod val="60000"/>
                <a:lumOff val="40000"/>
              </a:schemeClr>
            </a:solidFill>
            <a:prstDash val="solid"/>
            <a:round/>
            <a:headEnd type="none" w="med" len="med"/>
            <a:tailEnd type="none"/>
          </a:ln>
          <a:effectLst/>
        </p:spPr>
        <p:txBody>
          <a:bodyPr lIns="900000" tIns="46800" rtlCol="0" anchor="ctr"/>
          <a:lstStyle/>
          <a:p>
            <a:pPr>
              <a:lnSpc>
                <a:spcPct val="110000"/>
              </a:lnSpc>
              <a:spcBef>
                <a:spcPts val="600"/>
              </a:spcBef>
            </a:pPr>
            <a:r>
              <a:rPr lang="zh-CN" altLang="en-US" sz="1400" dirty="0">
                <a:latin typeface="微软雅黑" panose="020B0503020204020204" charset="-122"/>
                <a:ea typeface="微软雅黑" panose="020B0503020204020204" charset="-122"/>
              </a:rPr>
              <a:t>应对市场变化，确保工厂生产准备与供应商零部件准备，减少</a:t>
            </a:r>
            <a:r>
              <a:rPr lang="zh-CN" altLang="en-US" b="1" dirty="0">
                <a:latin typeface="微软雅黑" panose="020B0503020204020204" charset="-122"/>
                <a:ea typeface="微软雅黑" panose="020B0503020204020204" charset="-122"/>
              </a:rPr>
              <a:t>缺件</a:t>
            </a:r>
            <a:r>
              <a:rPr lang="zh-CN" altLang="en-US" sz="1400" dirty="0">
                <a:latin typeface="微软雅黑" panose="020B0503020204020204" charset="-122"/>
                <a:ea typeface="微软雅黑" panose="020B0503020204020204" charset="-122"/>
              </a:rPr>
              <a:t>，提升</a:t>
            </a:r>
            <a:r>
              <a:rPr lang="zh-CN" altLang="en-US" b="1" dirty="0">
                <a:latin typeface="微软雅黑" panose="020B0503020204020204" charset="-122"/>
                <a:ea typeface="微软雅黑" panose="020B0503020204020204" charset="-122"/>
              </a:rPr>
              <a:t>生产稳定性</a:t>
            </a:r>
            <a:endParaRPr lang="en-US" altLang="zh-CN" dirty="0">
              <a:latin typeface="微软雅黑" panose="020B0503020204020204" charset="-122"/>
              <a:ea typeface="微软雅黑" panose="020B0503020204020204" charset="-122"/>
            </a:endParaRPr>
          </a:p>
        </p:txBody>
      </p:sp>
      <p:sp>
        <p:nvSpPr>
          <p:cNvPr id="177" name="矩形 176"/>
          <p:cNvSpPr/>
          <p:nvPr/>
        </p:nvSpPr>
        <p:spPr bwMode="auto">
          <a:xfrm>
            <a:off x="311120" y="5888834"/>
            <a:ext cx="725523" cy="612000"/>
          </a:xfrm>
          <a:prstGeom prst="rect">
            <a:avLst/>
          </a:prstGeom>
          <a:solidFill>
            <a:srgbClr val="CCCCFF"/>
          </a:solidFill>
          <a:ln w="19050" cap="flat" cmpd="sng" algn="ctr">
            <a:solidFill>
              <a:schemeClr val="accent1">
                <a:lumMod val="60000"/>
                <a:lumOff val="40000"/>
              </a:schemeClr>
            </a:solidFill>
            <a:prstDash val="solid"/>
            <a:round/>
            <a:headEnd type="none" w="med" len="med"/>
            <a:tailEnd type="none"/>
          </a:ln>
          <a:effectLst/>
        </p:spPr>
        <p:txBody>
          <a:bodyPr rtlCol="0" anchor="ctr"/>
          <a:lstStyle/>
          <a:p>
            <a:pPr algn="ctr">
              <a:lnSpc>
                <a:spcPct val="110000"/>
              </a:lnSpc>
              <a:spcBef>
                <a:spcPts val="600"/>
              </a:spcBef>
            </a:pPr>
            <a:r>
              <a:rPr lang="zh-CN" altLang="en-US" sz="1400" b="1" dirty="0">
                <a:latin typeface="微软雅黑" panose="020B0503020204020204" charset="-122"/>
                <a:ea typeface="微软雅黑" panose="020B0503020204020204" charset="-122"/>
              </a:rPr>
              <a:t>主要</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收益</a:t>
            </a:r>
            <a:endParaRPr lang="en-US" altLang="zh-CN" sz="1400" b="1" dirty="0">
              <a:latin typeface="微软雅黑" panose="020B0503020204020204" charset="-122"/>
              <a:ea typeface="微软雅黑" panose="020B0503020204020204" charset="-122"/>
            </a:endParaRPr>
          </a:p>
        </p:txBody>
      </p:sp>
      <p:pic>
        <p:nvPicPr>
          <p:cNvPr id="1026" name="Picture 2"/>
          <p:cNvPicPr>
            <a:picLocks noChangeAspect="1" noChangeArrowheads="1"/>
          </p:cNvPicPr>
          <p:nvPr/>
        </p:nvPicPr>
        <p:blipFill>
          <a:blip r:embed="rId2"/>
          <a:srcRect/>
          <a:stretch>
            <a:fillRect/>
          </a:stretch>
        </p:blipFill>
        <p:spPr bwMode="auto">
          <a:xfrm>
            <a:off x="1962132" y="1697026"/>
            <a:ext cx="4572032" cy="2686288"/>
          </a:xfrm>
          <a:prstGeom prst="rect">
            <a:avLst/>
          </a:prstGeom>
          <a:noFill/>
          <a:ln w="9525">
            <a:noFill/>
            <a:miter lim="800000"/>
            <a:headEnd/>
            <a:tailEnd/>
          </a:ln>
          <a:effectLst/>
        </p:spPr>
      </p:pic>
      <p:sp>
        <p:nvSpPr>
          <p:cNvPr id="51" name="TextBox 50"/>
          <p:cNvSpPr txBox="1"/>
          <p:nvPr/>
        </p:nvSpPr>
        <p:spPr bwMode="auto">
          <a:xfrm>
            <a:off x="3615410" y="4643446"/>
            <a:ext cx="2786082" cy="246221"/>
          </a:xfrm>
          <a:prstGeom prst="rect">
            <a:avLst/>
          </a:prstGeom>
          <a:noFill/>
          <a:ln>
            <a:noFill/>
          </a:ln>
        </p:spPr>
        <p:txBody>
          <a:bodyPr wrap="square" rtlCol="0">
            <a:spAutoFit/>
          </a:bodyPr>
          <a:lstStyle/>
          <a:p>
            <a:pPr marL="177800" indent="-177800">
              <a:buFont typeface="Wingdings" panose="05000000000000000000" pitchFamily="2" charset="2"/>
              <a:buChar char="Ø"/>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市场变化情况下，营销可接受的锁定周期</a:t>
            </a:r>
            <a:endParaRPr kumimoji="1" lang="en-US" altLang="zh-CN" sz="10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2" name="TextBox 51"/>
          <p:cNvSpPr txBox="1"/>
          <p:nvPr/>
        </p:nvSpPr>
        <p:spPr bwMode="auto">
          <a:xfrm>
            <a:off x="3615410" y="5080236"/>
            <a:ext cx="2571768" cy="553998"/>
          </a:xfrm>
          <a:prstGeom prst="rect">
            <a:avLst/>
          </a:prstGeom>
          <a:noFill/>
          <a:ln>
            <a:noFill/>
          </a:ln>
        </p:spPr>
        <p:txBody>
          <a:bodyPr wrap="square" rtlCol="0">
            <a:spAutoFit/>
          </a:bodyPr>
          <a:lstStyle/>
          <a:p>
            <a:pPr marL="177800" indent="-177800">
              <a:buFont typeface="Wingdings" panose="05000000000000000000" pitchFamily="2" charset="2"/>
              <a:buChar char="Ø"/>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重机产能规划所需的提前期</a:t>
            </a:r>
            <a:endParaRPr kumimoji="1" lang="en-US" altLang="zh-CN" sz="10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buFont typeface="Wingdings" panose="05000000000000000000" pitchFamily="2" charset="2"/>
              <a:buChar char="Ø"/>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供应商产能规划所需的提前期</a:t>
            </a:r>
          </a:p>
          <a:p>
            <a:pPr marL="177800" indent="-177800">
              <a:buFont typeface="Wingdings" panose="05000000000000000000" pitchFamily="2" charset="2"/>
              <a:buChar char="Ø"/>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零部件采购周期</a:t>
            </a:r>
            <a:endParaRPr kumimoji="1" lang="en-US" altLang="zh-CN" sz="1000" dirty="0">
              <a:solidFill>
                <a:srgbClr val="000000"/>
              </a:solidFill>
              <a:latin typeface="微软雅黑" panose="020B0503020204020204" charset="-122"/>
              <a:ea typeface="微软雅黑" panose="020B0503020204020204" charset="-122"/>
              <a:cs typeface="微软雅黑" panose="020B0503020204020204" charset="-122"/>
            </a:endParaRPr>
          </a:p>
        </p:txBody>
      </p:sp>
      <p:cxnSp>
        <p:nvCxnSpPr>
          <p:cNvPr id="54" name="直接连接符 53"/>
          <p:cNvCxnSpPr/>
          <p:nvPr/>
        </p:nvCxnSpPr>
        <p:spPr bwMode="auto">
          <a:xfrm rot="5400000">
            <a:off x="1885660" y="5066446"/>
            <a:ext cx="1188000" cy="1588"/>
          </a:xfrm>
          <a:prstGeom prst="line">
            <a:avLst/>
          </a:prstGeom>
          <a:solidFill>
            <a:schemeClr val="accent1"/>
          </a:solidFill>
          <a:ln w="9525" cap="flat" cmpd="sng" algn="ctr">
            <a:solidFill>
              <a:schemeClr val="bg1">
                <a:lumMod val="65000"/>
              </a:schemeClr>
            </a:solidFill>
            <a:prstDash val="dash"/>
            <a:round/>
            <a:headEnd type="none" w="med" len="med"/>
            <a:tailEnd type="none"/>
          </a:ln>
          <a:effectLst/>
        </p:spPr>
      </p:cxnSp>
      <p:sp>
        <p:nvSpPr>
          <p:cNvPr id="55" name="TextBox 54"/>
          <p:cNvSpPr txBox="1"/>
          <p:nvPr/>
        </p:nvSpPr>
        <p:spPr bwMode="auto">
          <a:xfrm>
            <a:off x="2136096" y="4556477"/>
            <a:ext cx="338554" cy="1015663"/>
          </a:xfrm>
          <a:prstGeom prst="rect">
            <a:avLst/>
          </a:prstGeom>
          <a:noFill/>
          <a:ln>
            <a:noFill/>
          </a:ln>
        </p:spPr>
        <p:txBody>
          <a:bodyPr wrap="non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主</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要</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考</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虑</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点</a:t>
            </a:r>
          </a:p>
        </p:txBody>
      </p:sp>
      <p:sp>
        <p:nvSpPr>
          <p:cNvPr id="56" name="圆角矩形 55"/>
          <p:cNvSpPr/>
          <p:nvPr/>
        </p:nvSpPr>
        <p:spPr bwMode="auto">
          <a:xfrm>
            <a:off x="2599631" y="4586522"/>
            <a:ext cx="999911" cy="357190"/>
          </a:xfrm>
          <a:prstGeom prst="roundRect">
            <a:avLst/>
          </a:prstGeom>
          <a:gradFill rotWithShape="1">
            <a:gsLst>
              <a:gs pos="0">
                <a:schemeClr val="accent1"/>
              </a:gs>
              <a:gs pos="100000">
                <a:srgbClr val="464AEC"/>
              </a:gs>
            </a:gsLst>
            <a:lin ang="5400000" scaled="1"/>
          </a:gradFill>
          <a:ln w="88900" cmpd="thinThick" algn="ctr">
            <a:solidFill>
              <a:srgbClr val="C0C0C0"/>
            </a:solidFill>
            <a:round/>
          </a:ln>
        </p:spPr>
        <p:txBody>
          <a:bodyPr wrap="none" anchor="ctr"/>
          <a:lstStyle/>
          <a:p>
            <a:pPr algn="ctr" eaLnBrk="0" hangingPunct="0">
              <a:lnSpc>
                <a:spcPct val="90000"/>
              </a:lnSpc>
            </a:pPr>
            <a:r>
              <a:rPr lang="zh-CN" altLang="en-US" sz="1200" b="1" dirty="0">
                <a:solidFill>
                  <a:srgbClr val="FFFFFF"/>
                </a:solidFill>
                <a:latin typeface="微软雅黑" panose="020B0503020204020204" charset="-122"/>
                <a:ea typeface="微软雅黑" panose="020B0503020204020204" charset="-122"/>
              </a:rPr>
              <a:t>市场接受度</a:t>
            </a:r>
          </a:p>
        </p:txBody>
      </p:sp>
      <p:sp>
        <p:nvSpPr>
          <p:cNvPr id="58" name="圆角矩形 57"/>
          <p:cNvSpPr/>
          <p:nvPr/>
        </p:nvSpPr>
        <p:spPr bwMode="auto">
          <a:xfrm>
            <a:off x="2599631" y="5107202"/>
            <a:ext cx="999911" cy="500066"/>
          </a:xfrm>
          <a:prstGeom prst="roundRect">
            <a:avLst/>
          </a:prstGeom>
          <a:gradFill rotWithShape="1">
            <a:gsLst>
              <a:gs pos="0">
                <a:schemeClr val="accent1"/>
              </a:gs>
              <a:gs pos="100000">
                <a:srgbClr val="464AEC"/>
              </a:gs>
            </a:gsLst>
            <a:lin ang="5400000" scaled="1"/>
          </a:gradFill>
          <a:ln w="88900" cmpd="thinThick" algn="ctr">
            <a:solidFill>
              <a:srgbClr val="C0C0C0"/>
            </a:solidFill>
            <a:round/>
          </a:ln>
        </p:spPr>
        <p:txBody>
          <a:bodyPr wrap="none" anchor="ctr"/>
          <a:lstStyle/>
          <a:p>
            <a:pPr algn="ctr" eaLnBrk="0" hangingPunct="0">
              <a:lnSpc>
                <a:spcPct val="90000"/>
              </a:lnSpc>
            </a:pPr>
            <a:r>
              <a:rPr lang="zh-CN" altLang="en-US" sz="1200" b="1" dirty="0">
                <a:solidFill>
                  <a:srgbClr val="FFFFFF"/>
                </a:solidFill>
                <a:latin typeface="微软雅黑" panose="020B0503020204020204" charset="-122"/>
                <a:ea typeface="微软雅黑" panose="020B0503020204020204" charset="-122"/>
              </a:rPr>
              <a:t>可供应能力</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IT</a:t>
            </a:r>
            <a:r>
              <a:rPr lang="zh-CN" altLang="en-US" dirty="0"/>
              <a:t>平台搭建：实现整体的产销存一体化业务，包含如快速交期评估、订单可视、主生产计划排产、缺料预警及供应商协同等主要功能点</a:t>
            </a:r>
            <a:endParaRPr lang="en-US" dirty="0"/>
          </a:p>
        </p:txBody>
      </p:sp>
      <p:sp>
        <p:nvSpPr>
          <p:cNvPr id="27" name="Text Box 12"/>
          <p:cNvSpPr txBox="1">
            <a:spLocks noChangeArrowheads="1"/>
          </p:cNvSpPr>
          <p:nvPr/>
        </p:nvSpPr>
        <p:spPr bwMode="auto">
          <a:xfrm>
            <a:off x="653822" y="4221087"/>
            <a:ext cx="3834000" cy="504000"/>
          </a:xfrm>
          <a:prstGeom prst="rect">
            <a:avLst/>
          </a:prstGeom>
          <a:solidFill>
            <a:srgbClr val="E8EBFE"/>
          </a:solidFill>
          <a:ln>
            <a:noFill/>
          </a:ln>
          <a:effectLst/>
        </p:spPr>
        <p:txBody>
          <a:bodyPr wrap="square" lIns="72000" tIns="18000" rIns="72000" bIns="18000" anchor="t">
            <a:noAutofit/>
          </a:bodyPr>
          <a:lstStyle/>
          <a:p>
            <a:pPr marL="0" marR="0" lvl="0" indent="0" defTabSz="914400" eaLnBrk="1" fontAlgn="auto" latinLnBrk="0" hangingPunct="1">
              <a:lnSpc>
                <a:spcPts val="1700"/>
              </a:lnSpc>
              <a:spcBef>
                <a:spcPct val="0"/>
              </a:spcBef>
              <a:spcAft>
                <a:spcPts val="0"/>
              </a:spcAft>
              <a:buClrTx/>
              <a:buSzTx/>
              <a:buFontTx/>
              <a:buNone/>
              <a:defRPr/>
            </a:pPr>
            <a:r>
              <a:rPr lang="zh-CN" altLang="en-US" sz="1300" b="1" kern="0" dirty="0">
                <a:solidFill>
                  <a:srgbClr val="000000"/>
                </a:solidFill>
                <a:latin typeface="微软雅黑" panose="020B0503020204020204" charset="-122"/>
                <a:ea typeface="微软雅黑" panose="020B0503020204020204" charset="-122"/>
              </a:rPr>
              <a:t>物料可用性检查及缺料预警报表</a:t>
            </a:r>
            <a:r>
              <a:rPr kumimoji="0" lang="zh-CN" altLang="en-US" sz="13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r>
              <a:rPr kumimoji="0" lang="zh-CN" altLang="en-US" sz="130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交期评审时检查物料的可用性并展示近期的预警报表</a:t>
            </a:r>
            <a:endParaRPr kumimoji="0" lang="zh-CN" altLang="en-US" sz="1300" i="0" u="none" strike="noStrike" kern="0" cap="none" spc="0" normalizeH="0" baseline="0" noProof="0" dirty="0">
              <a:ln>
                <a:noFill/>
              </a:ln>
              <a:solidFill>
                <a:srgbClr val="000000"/>
              </a:solidFill>
              <a:effectLst/>
              <a:uLnTx/>
              <a:uFillTx/>
            </a:endParaRPr>
          </a:p>
        </p:txBody>
      </p:sp>
      <p:sp>
        <p:nvSpPr>
          <p:cNvPr id="28" name="Line 3"/>
          <p:cNvSpPr>
            <a:spLocks noChangeShapeType="1"/>
          </p:cNvSpPr>
          <p:nvPr/>
        </p:nvSpPr>
        <p:spPr bwMode="auto">
          <a:xfrm>
            <a:off x="566388" y="4052201"/>
            <a:ext cx="8110068" cy="0"/>
          </a:xfrm>
          <a:prstGeom prst="line">
            <a:avLst/>
          </a:prstGeom>
          <a:noFill/>
          <a:ln w="28575">
            <a:solidFill>
              <a:srgbClr val="7889FB"/>
            </a:solidFill>
            <a:rou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9" name="Line 4"/>
          <p:cNvSpPr>
            <a:spLocks noChangeShapeType="1"/>
          </p:cNvSpPr>
          <p:nvPr/>
        </p:nvSpPr>
        <p:spPr bwMode="auto">
          <a:xfrm>
            <a:off x="4644009" y="1484784"/>
            <a:ext cx="13944" cy="4981929"/>
          </a:xfrm>
          <a:prstGeom prst="line">
            <a:avLst/>
          </a:prstGeom>
          <a:noFill/>
          <a:ln w="28575">
            <a:solidFill>
              <a:srgbClr val="7889FB"/>
            </a:solidFill>
            <a:rou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0" name="Text Box 7"/>
          <p:cNvSpPr txBox="1">
            <a:spLocks noChangeArrowheads="1"/>
          </p:cNvSpPr>
          <p:nvPr/>
        </p:nvSpPr>
        <p:spPr bwMode="auto">
          <a:xfrm>
            <a:off x="355537" y="1412776"/>
            <a:ext cx="360000" cy="504000"/>
          </a:xfrm>
          <a:prstGeom prst="rect">
            <a:avLst/>
          </a:prstGeom>
          <a:solidFill>
            <a:srgbClr val="D6DBFE"/>
          </a:solidFill>
          <a:ln w="9525" algn="ctr">
            <a:noFill/>
            <a:round/>
          </a:ln>
        </p:spPr>
        <p:txBody>
          <a:bodyPr lIns="90000" tIns="46800" rIns="90000" bIns="46800" anchor="ctr"/>
          <a:lstStyle>
            <a:defPPr>
              <a:defRPr lang="zh-CN"/>
            </a:defPPr>
            <a:lvl1pPr marR="0" lvl="0" indent="0" algn="ctr" eaLnBrk="0" fontAlgn="auto" hangingPunct="0">
              <a:lnSpc>
                <a:spcPct val="90000"/>
              </a:lnSpc>
              <a:spcBef>
                <a:spcPct val="20000"/>
              </a:spcBef>
              <a:spcAft>
                <a:spcPts val="0"/>
              </a:spcAft>
              <a:buClr>
                <a:srgbClr val="000000"/>
              </a:buClr>
              <a:buSzTx/>
              <a:buFont typeface="Arial" panose="020B0604020202020204" pitchFamily="34" charset="0"/>
              <a:buNone/>
              <a:defRPr kumimoji="0" sz="1400" b="1"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r>
              <a:rPr lang="en-US" altLang="zh-CN" dirty="0"/>
              <a:t>1</a:t>
            </a:r>
          </a:p>
        </p:txBody>
      </p:sp>
      <p:sp>
        <p:nvSpPr>
          <p:cNvPr id="31" name="Text Box 8"/>
          <p:cNvSpPr txBox="1">
            <a:spLocks noChangeArrowheads="1"/>
          </p:cNvSpPr>
          <p:nvPr/>
        </p:nvSpPr>
        <p:spPr bwMode="auto">
          <a:xfrm>
            <a:off x="738000" y="1412776"/>
            <a:ext cx="3834000" cy="504000"/>
          </a:xfrm>
          <a:prstGeom prst="rect">
            <a:avLst/>
          </a:prstGeom>
          <a:solidFill>
            <a:srgbClr val="E8EBFE"/>
          </a:solidFill>
          <a:ln>
            <a:noFill/>
          </a:ln>
          <a:effectLst/>
        </p:spPr>
        <p:txBody>
          <a:bodyPr wrap="square" lIns="72000" tIns="18000" rIns="72000" bIns="18000" anchor="ctr">
            <a:noAutofit/>
          </a:bodyPr>
          <a:lstStyle/>
          <a:p>
            <a:pPr marL="0" marR="0" lvl="0" indent="0" defTabSz="914400" eaLnBrk="1" fontAlgn="auto" latinLnBrk="0" hangingPunct="1">
              <a:lnSpc>
                <a:spcPts val="1800"/>
              </a:lnSpc>
              <a:spcBef>
                <a:spcPct val="0"/>
              </a:spcBef>
              <a:spcAft>
                <a:spcPts val="0"/>
              </a:spcAft>
              <a:buClrTx/>
              <a:buSzTx/>
              <a:buFontTx/>
              <a:buNone/>
              <a:defRPr/>
            </a:pPr>
            <a:r>
              <a:rPr lang="zh-CN" altLang="en-US" sz="1300" b="1" kern="0" dirty="0">
                <a:solidFill>
                  <a:srgbClr val="000000"/>
                </a:solidFill>
                <a:latin typeface="微软雅黑" panose="020B0503020204020204" charset="-122"/>
                <a:ea typeface="微软雅黑" panose="020B0503020204020204" charset="-122"/>
              </a:rPr>
              <a:t>订单交期承诺（订单优先级及可视）</a:t>
            </a:r>
            <a:r>
              <a:rPr kumimoji="0" lang="zh-CN" altLang="en-US" sz="13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：通过计划及物料运算实现对客户的交期评估并指导后端生产</a:t>
            </a:r>
            <a:endParaRPr kumimoji="0" lang="zh-CN" altLang="en-US" sz="13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32" name="Text Box 9"/>
          <p:cNvSpPr txBox="1">
            <a:spLocks noChangeArrowheads="1"/>
          </p:cNvSpPr>
          <p:nvPr/>
        </p:nvSpPr>
        <p:spPr bwMode="auto">
          <a:xfrm>
            <a:off x="4903620" y="1412776"/>
            <a:ext cx="360000" cy="504000"/>
          </a:xfrm>
          <a:prstGeom prst="rect">
            <a:avLst/>
          </a:prstGeom>
          <a:solidFill>
            <a:srgbClr val="D6DBFE"/>
          </a:solidFill>
          <a:ln w="9525" algn="ctr">
            <a:noFill/>
            <a:round/>
          </a:ln>
        </p:spPr>
        <p:txBody>
          <a:bodyPr lIns="90000" tIns="46800" rIns="90000" bIns="46800" anchor="ctr"/>
          <a:lstStyle>
            <a:defPPr>
              <a:defRPr lang="zh-CN"/>
            </a:defPPr>
            <a:lvl1pPr marR="0" lvl="0" indent="0" algn="ctr" eaLnBrk="0" fontAlgn="auto" hangingPunct="0">
              <a:lnSpc>
                <a:spcPct val="90000"/>
              </a:lnSpc>
              <a:spcBef>
                <a:spcPct val="20000"/>
              </a:spcBef>
              <a:spcAft>
                <a:spcPts val="0"/>
              </a:spcAft>
              <a:buClr>
                <a:srgbClr val="000000"/>
              </a:buClr>
              <a:buSzTx/>
              <a:buFont typeface="Arial" panose="020B0604020202020204" pitchFamily="34" charset="0"/>
              <a:buNone/>
              <a:defRPr kumimoji="0" sz="1400" b="1"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r>
              <a:rPr lang="en-US" altLang="zh-CN" dirty="0"/>
              <a:t>2</a:t>
            </a:r>
          </a:p>
        </p:txBody>
      </p:sp>
      <p:sp>
        <p:nvSpPr>
          <p:cNvPr id="33" name="Text Box 10"/>
          <p:cNvSpPr txBox="1">
            <a:spLocks noChangeArrowheads="1"/>
          </p:cNvSpPr>
          <p:nvPr/>
        </p:nvSpPr>
        <p:spPr bwMode="auto">
          <a:xfrm>
            <a:off x="5292080" y="1412776"/>
            <a:ext cx="3600000" cy="504000"/>
          </a:xfrm>
          <a:prstGeom prst="rect">
            <a:avLst/>
          </a:prstGeom>
          <a:solidFill>
            <a:srgbClr val="E8EBFE"/>
          </a:solidFill>
          <a:ln>
            <a:noFill/>
          </a:ln>
          <a:effectLst/>
        </p:spPr>
        <p:txBody>
          <a:bodyPr wrap="square" lIns="72000" tIns="18000" rIns="72000" bIns="18000" anchor="ctr">
            <a:noAutofit/>
          </a:bodyPr>
          <a:lstStyle>
            <a:defPPr>
              <a:defRPr lang="zh-CN"/>
            </a:defPPr>
            <a:lvl1pPr>
              <a:lnSpc>
                <a:spcPts val="1800"/>
              </a:lnSpc>
              <a:spcBef>
                <a:spcPct val="0"/>
              </a:spcBef>
              <a:defRPr sz="1300">
                <a:solidFill>
                  <a:schemeClr val="tx2"/>
                </a:solidFill>
                <a:latin typeface="微软雅黑" panose="020B0503020204020204" charset="-122"/>
                <a:ea typeface="微软雅黑" panose="020B0503020204020204" charset="-122"/>
              </a:defRPr>
            </a:lvl1pPr>
          </a:lstStyle>
          <a:p>
            <a:r>
              <a:rPr lang="zh-CN" altLang="en-US" b="1" kern="0" dirty="0">
                <a:solidFill>
                  <a:srgbClr val="000000"/>
                </a:solidFill>
              </a:rPr>
              <a:t>主生产计划及排程</a:t>
            </a:r>
            <a:r>
              <a:rPr kumimoji="0" lang="zh-CN" altLang="en-US" sz="13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输出较可靠的主生产计划，指导</a:t>
            </a:r>
            <a:r>
              <a:rPr lang="en-US" altLang="zh-CN" sz="1200" dirty="0">
                <a:solidFill>
                  <a:schemeClr val="tx1"/>
                </a:solidFill>
                <a:latin typeface="微软雅黑" panose="020B0503020204020204" charset="-122"/>
                <a:ea typeface="微软雅黑" panose="020B0503020204020204" charset="-122"/>
                <a:cs typeface="微软雅黑" panose="020B0503020204020204" charset="-122"/>
              </a:rPr>
              <a:t>MES/</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车间详细排产</a:t>
            </a:r>
            <a:endParaRPr lang="en-US" altLang="zh-CN"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4" name="Text Box 11"/>
          <p:cNvSpPr txBox="1">
            <a:spLocks noChangeArrowheads="1"/>
          </p:cNvSpPr>
          <p:nvPr/>
        </p:nvSpPr>
        <p:spPr bwMode="auto">
          <a:xfrm>
            <a:off x="352281" y="4221087"/>
            <a:ext cx="360000" cy="504000"/>
          </a:xfrm>
          <a:prstGeom prst="rect">
            <a:avLst/>
          </a:prstGeom>
          <a:solidFill>
            <a:srgbClr val="D6DBFE"/>
          </a:solidFill>
          <a:ln w="9525" algn="ctr">
            <a:noFill/>
            <a:round/>
          </a:ln>
        </p:spPr>
        <p:txBody>
          <a:bodyPr lIns="90000" tIns="46800" rIns="90000" bIns="46800" anchor="ctr"/>
          <a:lstStyle>
            <a:defPPr>
              <a:defRPr lang="zh-CN"/>
            </a:defPPr>
            <a:lvl1pPr marR="0" lvl="0" indent="0" algn="ctr" eaLnBrk="0" fontAlgn="auto" hangingPunct="0">
              <a:lnSpc>
                <a:spcPct val="90000"/>
              </a:lnSpc>
              <a:spcBef>
                <a:spcPct val="20000"/>
              </a:spcBef>
              <a:spcAft>
                <a:spcPts val="0"/>
              </a:spcAft>
              <a:buClr>
                <a:srgbClr val="000000"/>
              </a:buClr>
              <a:buSzTx/>
              <a:buFont typeface="Arial" panose="020B0604020202020204" pitchFamily="34" charset="0"/>
              <a:buNone/>
              <a:defRPr kumimoji="0" sz="1400" b="1"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r>
              <a:rPr lang="en-US" altLang="zh-CN" dirty="0"/>
              <a:t>3</a:t>
            </a:r>
          </a:p>
        </p:txBody>
      </p:sp>
      <p:sp>
        <p:nvSpPr>
          <p:cNvPr id="35" name="Text Box 13"/>
          <p:cNvSpPr txBox="1">
            <a:spLocks noChangeArrowheads="1"/>
          </p:cNvSpPr>
          <p:nvPr/>
        </p:nvSpPr>
        <p:spPr bwMode="auto">
          <a:xfrm>
            <a:off x="4924807" y="4221087"/>
            <a:ext cx="360000" cy="504000"/>
          </a:xfrm>
          <a:prstGeom prst="rect">
            <a:avLst/>
          </a:prstGeom>
          <a:solidFill>
            <a:srgbClr val="D6DBFE"/>
          </a:solidFill>
          <a:ln w="9525" algn="ctr">
            <a:noFill/>
            <a:round/>
          </a:ln>
        </p:spPr>
        <p:txBody>
          <a:bodyPr lIns="90000" tIns="46800" rIns="90000" bIns="46800" anchor="ctr"/>
          <a:lstStyle>
            <a:defPPr>
              <a:defRPr lang="zh-CN"/>
            </a:defPPr>
            <a:lvl1pPr marR="0" lvl="0" indent="0" algn="ctr" eaLnBrk="0" fontAlgn="auto" hangingPunct="0">
              <a:lnSpc>
                <a:spcPct val="90000"/>
              </a:lnSpc>
              <a:spcBef>
                <a:spcPct val="20000"/>
              </a:spcBef>
              <a:spcAft>
                <a:spcPts val="0"/>
              </a:spcAft>
              <a:buClr>
                <a:srgbClr val="000000"/>
              </a:buClr>
              <a:buSzTx/>
              <a:buFont typeface="Arial" panose="020B0604020202020204" pitchFamily="34" charset="0"/>
              <a:buNone/>
              <a:defRPr kumimoji="0" sz="1400" b="1"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r>
              <a:rPr lang="en-US" altLang="zh-CN" dirty="0"/>
              <a:t>4</a:t>
            </a:r>
          </a:p>
        </p:txBody>
      </p:sp>
      <p:sp>
        <p:nvSpPr>
          <p:cNvPr id="36" name="Text Box 14"/>
          <p:cNvSpPr txBox="1">
            <a:spLocks noChangeArrowheads="1"/>
          </p:cNvSpPr>
          <p:nvPr/>
        </p:nvSpPr>
        <p:spPr bwMode="auto">
          <a:xfrm>
            <a:off x="5292080" y="4221087"/>
            <a:ext cx="3600000" cy="504000"/>
          </a:xfrm>
          <a:prstGeom prst="rect">
            <a:avLst/>
          </a:prstGeom>
          <a:solidFill>
            <a:srgbClr val="E8EBFE"/>
          </a:solidFill>
          <a:ln>
            <a:noFill/>
          </a:ln>
          <a:effectLst/>
        </p:spPr>
        <p:txBody>
          <a:bodyPr wrap="square" lIns="72000" tIns="18000" rIns="72000" bIns="18000" anchor="t">
            <a:noAutofit/>
          </a:bodyPr>
          <a:lstStyle>
            <a:defPPr>
              <a:defRPr lang="zh-CN"/>
            </a:defPPr>
            <a:lvl1pPr>
              <a:lnSpc>
                <a:spcPts val="1700"/>
              </a:lnSpc>
              <a:spcBef>
                <a:spcPct val="0"/>
              </a:spcBef>
              <a:defRPr sz="1300">
                <a:solidFill>
                  <a:schemeClr val="tx2"/>
                </a:solidFill>
                <a:latin typeface="微软雅黑" panose="020B0503020204020204" charset="-122"/>
                <a:ea typeface="微软雅黑" panose="020B0503020204020204" charset="-122"/>
              </a:defRPr>
            </a:lvl1pPr>
          </a:lstStyle>
          <a:p>
            <a:pPr marL="0" marR="0" lvl="0" indent="0" defTabSz="914400" eaLnBrk="1" fontAlgn="auto" latinLnBrk="0" hangingPunct="1">
              <a:lnSpc>
                <a:spcPts val="1700"/>
              </a:lnSpc>
              <a:spcBef>
                <a:spcPct val="0"/>
              </a:spcBef>
              <a:spcAft>
                <a:spcPts val="0"/>
              </a:spcAft>
              <a:buClrTx/>
              <a:buSzTx/>
              <a:buFontTx/>
              <a:buNone/>
              <a:defRPr/>
            </a:pPr>
            <a:r>
              <a:rPr lang="zh-CN" altLang="en-US" b="1" kern="0" dirty="0">
                <a:solidFill>
                  <a:srgbClr val="000000"/>
                </a:solidFill>
              </a:rPr>
              <a:t>供应商协同</a:t>
            </a:r>
            <a:r>
              <a:rPr kumimoji="0" lang="zh-CN" altLang="en-US" sz="13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r>
              <a:rPr kumimoji="0" lang="en-US" altLang="zh-CN" sz="130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SAP</a:t>
            </a:r>
            <a:r>
              <a:rPr lang="zh-CN" altLang="en-US" kern="0" noProof="0" dirty="0">
                <a:solidFill>
                  <a:srgbClr val="000000"/>
                </a:solidFill>
              </a:rPr>
              <a:t>实现从合同到付款的全流程</a:t>
            </a:r>
            <a:r>
              <a:rPr kumimoji="0" lang="zh-CN" altLang="en-US" sz="130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，借助</a:t>
            </a:r>
            <a:r>
              <a:rPr kumimoji="0" lang="en-US" altLang="zh-CN" sz="130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GSP</a:t>
            </a:r>
            <a:r>
              <a:rPr kumimoji="0" lang="zh-CN" altLang="en-US" sz="130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对外进行供应商交互和协同</a:t>
            </a:r>
          </a:p>
        </p:txBody>
      </p:sp>
      <p:pic>
        <p:nvPicPr>
          <p:cNvPr id="46" name="Picture 45"/>
          <p:cNvPicPr>
            <a:picLocks noChangeAspect="1"/>
          </p:cNvPicPr>
          <p:nvPr/>
        </p:nvPicPr>
        <p:blipFill>
          <a:blip r:embed="rId2"/>
          <a:stretch>
            <a:fillRect/>
          </a:stretch>
        </p:blipFill>
        <p:spPr>
          <a:xfrm>
            <a:off x="395536" y="4691492"/>
            <a:ext cx="4216400" cy="1905860"/>
          </a:xfrm>
          <a:prstGeom prst="rect">
            <a:avLst/>
          </a:prstGeom>
        </p:spPr>
      </p:pic>
      <p:pic>
        <p:nvPicPr>
          <p:cNvPr id="47" name="Picture 46"/>
          <p:cNvPicPr>
            <a:picLocks noChangeAspect="1"/>
          </p:cNvPicPr>
          <p:nvPr/>
        </p:nvPicPr>
        <p:blipFill>
          <a:blip r:embed="rId3"/>
          <a:stretch>
            <a:fillRect/>
          </a:stretch>
        </p:blipFill>
        <p:spPr>
          <a:xfrm>
            <a:off x="4788024" y="1988840"/>
            <a:ext cx="4032448" cy="1872208"/>
          </a:xfrm>
          <a:prstGeom prst="rect">
            <a:avLst/>
          </a:prstGeom>
        </p:spPr>
      </p:pic>
      <p:pic>
        <p:nvPicPr>
          <p:cNvPr id="49" name="Picture 48"/>
          <p:cNvPicPr>
            <a:picLocks noChangeAspect="1"/>
          </p:cNvPicPr>
          <p:nvPr/>
        </p:nvPicPr>
        <p:blipFill>
          <a:blip r:embed="rId4"/>
          <a:stretch>
            <a:fillRect/>
          </a:stretch>
        </p:blipFill>
        <p:spPr>
          <a:xfrm>
            <a:off x="323528" y="2060848"/>
            <a:ext cx="4176464" cy="1800200"/>
          </a:xfrm>
          <a:prstGeom prst="rect">
            <a:avLst/>
          </a:prstGeom>
        </p:spPr>
      </p:pic>
      <p:pic>
        <p:nvPicPr>
          <p:cNvPr id="50" name="Picture 24" descr="SRM-SAP接口设计"/>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2040" y="4797152"/>
            <a:ext cx="3960440" cy="1737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专题讨论会初步计划</a:t>
            </a:r>
            <a:endParaRPr lang="en-US" dirty="0"/>
          </a:p>
        </p:txBody>
      </p:sp>
      <p:graphicFrame>
        <p:nvGraphicFramePr>
          <p:cNvPr id="8" name="Table 7"/>
          <p:cNvGraphicFramePr>
            <a:graphicFrameLocks noGrp="1"/>
          </p:cNvGraphicFramePr>
          <p:nvPr/>
        </p:nvGraphicFramePr>
        <p:xfrm>
          <a:off x="293547" y="1026576"/>
          <a:ext cx="8555718" cy="5443935"/>
        </p:xfrm>
        <a:graphic>
          <a:graphicData uri="http://schemas.openxmlformats.org/drawingml/2006/table">
            <a:tbl>
              <a:tblPr/>
              <a:tblGrid>
                <a:gridCol w="847775">
                  <a:extLst>
                    <a:ext uri="{9D8B030D-6E8A-4147-A177-3AD203B41FA5}">
                      <a16:colId xmlns:a16="http://schemas.microsoft.com/office/drawing/2014/main" val="20000"/>
                    </a:ext>
                  </a:extLst>
                </a:gridCol>
                <a:gridCol w="1400434">
                  <a:extLst>
                    <a:ext uri="{9D8B030D-6E8A-4147-A177-3AD203B41FA5}">
                      <a16:colId xmlns:a16="http://schemas.microsoft.com/office/drawing/2014/main" val="20001"/>
                    </a:ext>
                  </a:extLst>
                </a:gridCol>
                <a:gridCol w="500066">
                  <a:extLst>
                    <a:ext uri="{9D8B030D-6E8A-4147-A177-3AD203B41FA5}">
                      <a16:colId xmlns:a16="http://schemas.microsoft.com/office/drawing/2014/main" val="20002"/>
                    </a:ext>
                  </a:extLst>
                </a:gridCol>
                <a:gridCol w="1571636">
                  <a:extLst>
                    <a:ext uri="{9D8B030D-6E8A-4147-A177-3AD203B41FA5}">
                      <a16:colId xmlns:a16="http://schemas.microsoft.com/office/drawing/2014/main" val="20003"/>
                    </a:ext>
                  </a:extLst>
                </a:gridCol>
                <a:gridCol w="4235807">
                  <a:extLst>
                    <a:ext uri="{9D8B030D-6E8A-4147-A177-3AD203B41FA5}">
                      <a16:colId xmlns:a16="http://schemas.microsoft.com/office/drawing/2014/main" val="20004"/>
                    </a:ext>
                  </a:extLst>
                </a:gridCol>
              </a:tblGrid>
              <a:tr h="280695">
                <a:tc>
                  <a:txBody>
                    <a:bodyPr/>
                    <a:lstStyle/>
                    <a:p>
                      <a:pPr algn="ctr" fontAlgn="ctr"/>
                      <a:r>
                        <a:rPr lang="zh-TW" altLang="en-US" sz="1400" b="1" i="0" u="none" strike="noStrike" dirty="0">
                          <a:solidFill>
                            <a:schemeClr val="bg1"/>
                          </a:solidFill>
                          <a:effectLst/>
                          <a:latin typeface="微软雅黑" panose="020B0503020204020204" charset="-122"/>
                          <a:ea typeface="微软雅黑" panose="020B0503020204020204" charset="-122"/>
                        </a:rPr>
                        <a:t>业务组</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fontAlgn="ctr"/>
                      <a:r>
                        <a:rPr lang="zh-TW" altLang="en-US" sz="1400" b="1" i="0" u="none" strike="noStrike" dirty="0">
                          <a:solidFill>
                            <a:schemeClr val="bg1"/>
                          </a:solidFill>
                          <a:effectLst/>
                          <a:latin typeface="微软雅黑" panose="020B0503020204020204" charset="-122"/>
                          <a:ea typeface="微软雅黑" panose="020B0503020204020204" charset="-122"/>
                        </a:rPr>
                        <a:t>解决方案</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fontAlgn="ctr"/>
                      <a:r>
                        <a:rPr lang="en-US" altLang="zh-CN" sz="1400" b="1" i="0" u="none" strike="noStrike" dirty="0">
                          <a:solidFill>
                            <a:schemeClr val="bg1"/>
                          </a:solidFill>
                          <a:effectLst/>
                          <a:latin typeface="微软雅黑" panose="020B0503020204020204" charset="-122"/>
                          <a:ea typeface="微软雅黑" panose="020B0503020204020204" charset="-122"/>
                        </a:rPr>
                        <a:t>#</a:t>
                      </a:r>
                      <a:endParaRPr lang="zh-TW" altLang="en-US" sz="1400" b="1" i="0" u="none" strike="noStrike" dirty="0">
                        <a:solidFill>
                          <a:schemeClr val="bg1"/>
                        </a:solidFill>
                        <a:effectLst/>
                        <a:latin typeface="微软雅黑" panose="020B0503020204020204" charset="-122"/>
                        <a:ea typeface="微软雅黑" panose="020B0503020204020204" charset="-122"/>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fontAlgn="ctr"/>
                      <a:r>
                        <a:rPr lang="zh-CN" altLang="en-US" sz="1400" b="1" i="0" u="none" strike="noStrike" dirty="0">
                          <a:solidFill>
                            <a:schemeClr val="bg1"/>
                          </a:solidFill>
                          <a:effectLst/>
                          <a:latin typeface="微软雅黑" panose="020B0503020204020204" charset="-122"/>
                          <a:ea typeface="微软雅黑" panose="020B0503020204020204" charset="-122"/>
                        </a:rPr>
                        <a:t>专题讨论会</a:t>
                      </a:r>
                      <a:endParaRPr lang="zh-TW" altLang="en-US" sz="1400" b="1" i="0" u="none" strike="noStrike" dirty="0">
                        <a:solidFill>
                          <a:schemeClr val="bg1"/>
                        </a:solidFill>
                        <a:effectLst/>
                        <a:latin typeface="微软雅黑" panose="020B0503020204020204" charset="-122"/>
                        <a:ea typeface="微软雅黑" panose="020B0503020204020204" charset="-122"/>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fontAlgn="ctr"/>
                      <a:r>
                        <a:rPr lang="zh-TW" altLang="en-US" sz="1400" b="1" i="0" u="none" strike="noStrike" dirty="0">
                          <a:solidFill>
                            <a:schemeClr val="bg1"/>
                          </a:solidFill>
                          <a:effectLst/>
                          <a:latin typeface="微软雅黑" panose="020B0503020204020204" charset="-122"/>
                          <a:ea typeface="微软雅黑" panose="020B0503020204020204" charset="-122"/>
                        </a:rPr>
                        <a:t>主要内容</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467788">
                <a:tc rowSpan="3">
                  <a:txBody>
                    <a:bodyPr/>
                    <a:lstStyle/>
                    <a:p>
                      <a:pPr algn="ctr" fontAlgn="ct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营销</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组</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FF"/>
                    </a:solidFill>
                  </a:tcPr>
                </a:tc>
                <a:tc rowSpan="2">
                  <a:txBody>
                    <a:bodyPr/>
                    <a:lstStyle/>
                    <a:p>
                      <a:pPr algn="l" fontAlgn="ctr"/>
                      <a:r>
                        <a:rPr lang="en-US" altLang="zh-CN" sz="1100" b="1" i="0" u="none" strike="noStrike" dirty="0">
                          <a:solidFill>
                            <a:srgbClr val="000000"/>
                          </a:solidFill>
                          <a:effectLst/>
                          <a:latin typeface="微软雅黑" panose="020B0503020204020204" charset="-122"/>
                          <a:ea typeface="微软雅黑" panose="020B0503020204020204" charset="-122"/>
                          <a:cs typeface="Microsoft  yahei"/>
                        </a:rPr>
                        <a:t>A.</a:t>
                      </a: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需求管理</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解决方案</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1</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需求计划管理机制研讨</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00000"/>
                        </a:lnSpc>
                      </a:pPr>
                      <a:r>
                        <a:rPr lang="en-US" altLang="zh-TW" sz="1000" b="0" i="0" u="none" strike="noStrike" dirty="0">
                          <a:solidFill>
                            <a:srgbClr val="000000"/>
                          </a:solidFill>
                          <a:effectLst/>
                          <a:latin typeface="微软雅黑" panose="020B0503020204020204" charset="-122"/>
                          <a:ea typeface="微软雅黑" panose="020B0503020204020204" charset="-122"/>
                          <a:cs typeface="Microsoft  yahei"/>
                        </a:rPr>
                        <a:t>1</a:t>
                      </a:r>
                      <a:r>
                        <a:rPr lang="zh-TW" altLang="en-US" sz="1000" b="0" i="0" u="none" strike="noStrike" dirty="0">
                          <a:solidFill>
                            <a:srgbClr val="000000"/>
                          </a:solidFill>
                          <a:effectLst/>
                          <a:latin typeface="微软雅黑" panose="020B0503020204020204" charset="-122"/>
                          <a:ea typeface="微软雅黑" panose="020B0503020204020204" charset="-122"/>
                          <a:cs typeface="Microsoft  yahei"/>
                        </a:rPr>
                        <a:t>、承接计划模式结论的计划提报节奏</a:t>
                      </a:r>
                      <a:r>
                        <a:rPr lang="zh-CN" altLang="en-US" sz="1000" b="0" i="0" u="none" strike="noStrike" dirty="0">
                          <a:solidFill>
                            <a:srgbClr val="000000"/>
                          </a:solidFill>
                          <a:effectLst/>
                          <a:latin typeface="微软雅黑" panose="020B0503020204020204" charset="-122"/>
                          <a:ea typeface="微软雅黑" panose="020B0503020204020204" charset="-122"/>
                          <a:cs typeface="Microsoft  yahei"/>
                        </a:rPr>
                        <a:t>及</a:t>
                      </a:r>
                      <a:r>
                        <a:rPr lang="zh-TW" altLang="en-US" sz="1000" b="0" i="0" u="none" strike="noStrike" dirty="0">
                          <a:solidFill>
                            <a:srgbClr val="000000"/>
                          </a:solidFill>
                          <a:effectLst/>
                          <a:latin typeface="微软雅黑" panose="020B0503020204020204" charset="-122"/>
                          <a:ea typeface="微软雅黑" panose="020B0503020204020204" charset="-122"/>
                          <a:cs typeface="Microsoft  yahei"/>
                        </a:rPr>
                        <a:t>各周期计划的影响因素</a:t>
                      </a:r>
                      <a:endParaRPr lang="en-US" altLang="zh-TW" sz="1000" b="0" i="0" u="none" strike="noStrike" dirty="0">
                        <a:solidFill>
                          <a:srgbClr val="000000"/>
                        </a:solidFill>
                        <a:effectLst/>
                        <a:latin typeface="微软雅黑" panose="020B0503020204020204" charset="-122"/>
                        <a:ea typeface="微软雅黑" panose="020B0503020204020204" charset="-122"/>
                        <a:cs typeface="Microsoft  yahei"/>
                      </a:endParaRPr>
                    </a:p>
                    <a:p>
                      <a:pPr algn="l" fontAlgn="ctr">
                        <a:lnSpc>
                          <a:spcPct val="100000"/>
                        </a:lnSpc>
                      </a:pPr>
                      <a:r>
                        <a:rPr lang="en-US" altLang="zh-TW" sz="1000" b="0" i="0" u="none" strike="noStrike" dirty="0">
                          <a:solidFill>
                            <a:srgbClr val="000000"/>
                          </a:solidFill>
                          <a:effectLst/>
                          <a:latin typeface="微软雅黑" panose="020B0503020204020204" charset="-122"/>
                          <a:ea typeface="微软雅黑" panose="020B0503020204020204" charset="-122"/>
                          <a:cs typeface="Microsoft  yahei"/>
                        </a:rPr>
                        <a:t>2</a:t>
                      </a:r>
                      <a:r>
                        <a:rPr lang="zh-CN" altLang="en-US" sz="1000" b="0" i="0" u="none" strike="noStrike"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dirty="0">
                          <a:solidFill>
                            <a:srgbClr val="000000"/>
                          </a:solidFill>
                          <a:effectLst/>
                          <a:latin typeface="微软雅黑" panose="020B0503020204020204" charset="-122"/>
                          <a:ea typeface="微软雅黑" panose="020B0503020204020204" charset="-122"/>
                          <a:cs typeface="Microsoft  yahei"/>
                        </a:rPr>
                        <a:t>联合预测机制</a:t>
                      </a:r>
                      <a:br>
                        <a:rPr lang="zh-TW" altLang="en-US" sz="1000" b="0" i="0" u="none" strike="noStrike" dirty="0">
                          <a:solidFill>
                            <a:srgbClr val="000000"/>
                          </a:solidFill>
                          <a:effectLst/>
                          <a:latin typeface="微软雅黑" panose="020B0503020204020204" charset="-122"/>
                          <a:ea typeface="微软雅黑" panose="020B0503020204020204" charset="-122"/>
                          <a:cs typeface="Microsoft  yahei"/>
                        </a:rPr>
                      </a:br>
                      <a:r>
                        <a:rPr lang="en-US" altLang="zh-TW" sz="1000" b="0" i="0" u="none" strike="noStrike" dirty="0">
                          <a:solidFill>
                            <a:srgbClr val="000000"/>
                          </a:solidFill>
                          <a:effectLst/>
                          <a:latin typeface="微软雅黑" panose="020B0503020204020204" charset="-122"/>
                          <a:ea typeface="微软雅黑" panose="020B0503020204020204" charset="-122"/>
                          <a:cs typeface="Microsoft  yahei"/>
                        </a:rPr>
                        <a:t>3</a:t>
                      </a:r>
                      <a:r>
                        <a:rPr lang="zh-TW" altLang="en-US" sz="1000" b="0" i="0" u="none" strike="noStrike" dirty="0">
                          <a:solidFill>
                            <a:srgbClr val="000000"/>
                          </a:solidFill>
                          <a:effectLst/>
                          <a:latin typeface="微软雅黑" panose="020B0503020204020204" charset="-122"/>
                          <a:ea typeface="微软雅黑" panose="020B0503020204020204" charset="-122"/>
                          <a:cs typeface="Microsoft  yahei"/>
                        </a:rPr>
                        <a:t>、库存策略</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3240">
                <a:tc vMerge="1">
                  <a:txBody>
                    <a:bodyPr/>
                    <a:lstStyle/>
                    <a:p>
                      <a:endParaRPr lang="zh-CN"/>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FF"/>
                    </a:solidFill>
                  </a:tcPr>
                </a:tc>
                <a:tc vMerge="1">
                  <a:txBody>
                    <a:bodyPr/>
                    <a:lstStyle/>
                    <a:p>
                      <a:endParaRPr lang="zh-CN"/>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2</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销售预测方法研讨</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、各周期计划影响因素的关系</a:t>
                      </a:r>
                      <a:b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b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2</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、定量和定性结合的预测方法</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12335">
                <a:tc vMerge="1">
                  <a:txBody>
                    <a:bodyPr/>
                    <a:lstStyle/>
                    <a:p>
                      <a:endParaRPr lang="zh-CN"/>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FF"/>
                    </a:solidFill>
                  </a:tcPr>
                </a:tc>
                <a:tc>
                  <a:txBody>
                    <a:bodyPr/>
                    <a:lstStyle/>
                    <a:p>
                      <a:pPr algn="l" fontAlgn="ctr"/>
                      <a:r>
                        <a:rPr lang="en-US" altLang="zh-TW" sz="1100" b="1" i="0" u="none" strike="noStrike" dirty="0">
                          <a:solidFill>
                            <a:srgbClr val="000000"/>
                          </a:solidFill>
                          <a:effectLst/>
                          <a:latin typeface="微软雅黑" panose="020B0503020204020204" charset="-122"/>
                          <a:ea typeface="微软雅黑" panose="020B0503020204020204" charset="-122"/>
                          <a:cs typeface="Microsoft  yahei"/>
                        </a:rPr>
                        <a:t>B.</a:t>
                      </a: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订单管理</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解决方案</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3</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订单全生命周期管理研讨</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、承接计划模式结论的订单提报节奏</a:t>
                      </a:r>
                      <a:b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b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2</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、订单分类和优先级</a:t>
                      </a:r>
                      <a:b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b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3</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、订单交期</a:t>
                      </a:r>
                      <a:b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b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4</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、订单可视化</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7788">
                <a:tc rowSpan="4">
                  <a:txBody>
                    <a:bodyPr/>
                    <a:lstStyle/>
                    <a:p>
                      <a:pPr algn="ctr" fontAlgn="ct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集成计划</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组</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FF"/>
                    </a:solidFill>
                  </a:tcPr>
                </a:tc>
                <a:tc rowSpan="4">
                  <a:txBody>
                    <a:bodyPr/>
                    <a:lstStyle/>
                    <a:p>
                      <a:pPr algn="l" fontAlgn="ctr"/>
                      <a:r>
                        <a:rPr lang="en-US" altLang="zh-TW" sz="1100" b="1" i="0" u="none" strike="noStrike" dirty="0">
                          <a:solidFill>
                            <a:srgbClr val="000000"/>
                          </a:solidFill>
                          <a:effectLst/>
                          <a:latin typeface="微软雅黑" panose="020B0503020204020204" charset="-122"/>
                          <a:ea typeface="微软雅黑" panose="020B0503020204020204" charset="-122"/>
                          <a:cs typeface="Microsoft  yahei"/>
                        </a:rPr>
                        <a:t>C.</a:t>
                      </a: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产销平衡与生产计划</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解决方案</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4</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计划模式</a:t>
                      </a:r>
                      <a:r>
                        <a:rPr lang="en-US" altLang="zh-CN" sz="1100" b="0" i="0" u="none" strike="noStrike" dirty="0">
                          <a:solidFill>
                            <a:srgbClr val="000000"/>
                          </a:solidFill>
                          <a:effectLst/>
                          <a:latin typeface="微软雅黑" panose="020B0503020204020204" charset="-122"/>
                          <a:ea typeface="微软雅黑" panose="020B0503020204020204" charset="-122"/>
                          <a:cs typeface="Microsoft  yahei"/>
                        </a:rPr>
                        <a:t>—</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订单组织方式</a:t>
                      </a: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、市场（波动特点、发展趋势等）对</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订单组织方式</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的影响</a:t>
                      </a:r>
                      <a:b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b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2</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客户特征及产品特征</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对</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订单组织方式</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的影响</a:t>
                      </a:r>
                      <a:b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b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3</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订单组织方式</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比较和选择</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52150">
                <a:tc vMerge="1">
                  <a:txBody>
                    <a:bodyPr/>
                    <a:lstStyle/>
                    <a:p>
                      <a:endParaRPr lang="zh-CN"/>
                    </a:p>
                  </a:txBody>
                  <a:tcPr/>
                </a:tc>
                <a:tc vMerge="1">
                  <a:txBody>
                    <a:bodyPr/>
                    <a:lstStyle/>
                    <a:p>
                      <a:endParaRPr lang="zh-CN"/>
                    </a:p>
                  </a:txBody>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5</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计划模式</a:t>
                      </a:r>
                      <a:r>
                        <a:rPr lang="en-US" altLang="zh-CN" sz="1100" b="0" i="0" u="none" strike="noStrike" dirty="0">
                          <a:solidFill>
                            <a:srgbClr val="000000"/>
                          </a:solidFill>
                          <a:effectLst/>
                          <a:latin typeface="微软雅黑" panose="020B0503020204020204" charset="-122"/>
                          <a:ea typeface="微软雅黑" panose="020B0503020204020204" charset="-122"/>
                          <a:cs typeface="Microsoft  yahei"/>
                        </a:rPr>
                        <a:t>—</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集成计划体系研讨</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、长中短期计划的定义</a:t>
                      </a:r>
                      <a:endParaRPr lang="en-US" altLang="zh-CN" sz="1000" b="0" i="0" u="none" strike="noStrike" kern="1200" dirty="0">
                        <a:solidFill>
                          <a:srgbClr val="000000"/>
                        </a:solidFill>
                        <a:effectLst/>
                        <a:latin typeface="微软雅黑" panose="020B0503020204020204" charset="-122"/>
                        <a:ea typeface="微软雅黑" panose="020B0503020204020204" charset="-122"/>
                        <a:cs typeface="Microsoft  yahei"/>
                      </a:endParaRPr>
                    </a:p>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2</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、柔性规则</a:t>
                      </a:r>
                      <a:endPar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52150">
                <a:tc vMerge="1">
                  <a:txBody>
                    <a:bodyPr/>
                    <a:lstStyle/>
                    <a:p>
                      <a:endParaRPr lang="zh-CN"/>
                    </a:p>
                  </a:txBody>
                  <a:tcPr/>
                </a:tc>
                <a:tc vMerge="1">
                  <a:txBody>
                    <a:bodyPr/>
                    <a:lstStyle/>
                    <a:p>
                      <a:endParaRPr lang="zh-CN"/>
                    </a:p>
                  </a:txBody>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6</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产销平衡会议机制及集成</a:t>
                      </a: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计划组织架构</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产销平衡会议机制</a:t>
                      </a:r>
                      <a:endParaRPr lang="en-US" altLang="zh-CN" sz="1000" b="0" i="0" u="none" strike="noStrike" kern="1200" dirty="0">
                        <a:solidFill>
                          <a:srgbClr val="000000"/>
                        </a:solidFill>
                        <a:effectLst/>
                        <a:latin typeface="微软雅黑" panose="020B0503020204020204" charset="-122"/>
                        <a:ea typeface="微软雅黑" panose="020B0503020204020204" charset="-122"/>
                        <a:cs typeface="Microsoft  yahei"/>
                      </a:endParaRPr>
                    </a:p>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2</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集中式和分散式计划组织比较分析</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调整方向和面临挑战</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0">
                <a:tc vMerge="1">
                  <a:txBody>
                    <a:bodyPr/>
                    <a:lstStyle/>
                    <a:p>
                      <a:endParaRPr lang="zh-CN"/>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FF"/>
                    </a:solidFill>
                  </a:tcPr>
                </a:tc>
                <a:tc vMerge="1">
                  <a:txBody>
                    <a:bodyPr/>
                    <a:lstStyle/>
                    <a:p>
                      <a:endParaRPr lang="zh-CN"/>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7</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生产计划研讨</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、生产计划到工作中心日程计划的管理</a:t>
                      </a:r>
                      <a:endPar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2313">
                <a:tc rowSpan="7">
                  <a:txBody>
                    <a:bodyPr/>
                    <a:lstStyle/>
                    <a:p>
                      <a:pPr algn="ctr" fontAlgn="ct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制造物流</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组</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FF"/>
                    </a:solidFill>
                  </a:tcPr>
                </a:tc>
                <a:tc rowSpan="7">
                  <a:txBody>
                    <a:bodyPr/>
                    <a:lstStyle/>
                    <a:p>
                      <a:pPr algn="l" fontAlgn="ctr"/>
                      <a:r>
                        <a:rPr lang="en-US" altLang="zh-TW" sz="1100" b="1" i="0" u="none" strike="noStrike" dirty="0">
                          <a:solidFill>
                            <a:srgbClr val="000000"/>
                          </a:solidFill>
                          <a:effectLst/>
                          <a:latin typeface="微软雅黑" panose="020B0503020204020204" charset="-122"/>
                          <a:ea typeface="微软雅黑" panose="020B0503020204020204" charset="-122"/>
                          <a:cs typeface="Microsoft  yahei"/>
                        </a:rPr>
                        <a:t>D.</a:t>
                      </a: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生产执行与物流</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解决方案</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微软雅黑" panose="020B0503020204020204" charset="-122"/>
                          <a:ea typeface="微软雅黑" panose="020B0503020204020204" charset="-122"/>
                          <a:cs typeface="Microsoft  yahei"/>
                        </a:rPr>
                        <a:t>8</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自动化生产</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优化报工点与程序自动报工，自动采购订单</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2313">
                <a:tc vMerge="1">
                  <a:txBody>
                    <a:bodyPr/>
                    <a:lstStyle/>
                    <a:p>
                      <a:endParaRPr lang="zh-CN"/>
                    </a:p>
                  </a:txBody>
                  <a:tcPr/>
                </a:tc>
                <a:tc vMerge="1">
                  <a:txBody>
                    <a:bodyPr/>
                    <a:lstStyle/>
                    <a:p>
                      <a:endParaRPr lang="zh-CN"/>
                    </a:p>
                  </a:txBody>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9</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err="1">
                          <a:solidFill>
                            <a:srgbClr val="000000"/>
                          </a:solidFill>
                          <a:effectLst/>
                          <a:latin typeface="微软雅黑" panose="020B0503020204020204" charset="-122"/>
                          <a:ea typeface="微软雅黑" panose="020B0503020204020204" charset="-122"/>
                          <a:cs typeface="Microsoft  yahei"/>
                        </a:rPr>
                        <a:t>JIT生产</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endParaRPr 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2</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拉动式生产与物料配送以降低库存的探讨</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2313">
                <a:tc vMerge="1">
                  <a:txBody>
                    <a:bodyPr/>
                    <a:lstStyle/>
                    <a:p>
                      <a:endParaRPr lang="zh-CN"/>
                    </a:p>
                  </a:txBody>
                  <a:tcPr/>
                </a:tc>
                <a:tc vMerge="1">
                  <a:txBody>
                    <a:bodyPr/>
                    <a:lstStyle/>
                    <a:p>
                      <a:endParaRPr lang="zh-CN"/>
                    </a:p>
                  </a:txBody>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10</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可视化</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3</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生产现场，供应商，办公人员等对信息的便利查询</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2313">
                <a:tc vMerge="1">
                  <a:txBody>
                    <a:bodyPr/>
                    <a:lstStyle/>
                    <a:p>
                      <a:endParaRPr lang="zh-CN"/>
                    </a:p>
                  </a:txBody>
                  <a:tcPr/>
                </a:tc>
                <a:tc vMerge="1">
                  <a:txBody>
                    <a:bodyPr/>
                    <a:lstStyle/>
                    <a:p>
                      <a:endParaRPr lang="zh-CN"/>
                    </a:p>
                  </a:txBody>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11</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效率管理</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4</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工时管理，生产进度管理</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2313">
                <a:tc vMerge="1">
                  <a:txBody>
                    <a:bodyPr/>
                    <a:lstStyle/>
                    <a:p>
                      <a:endParaRPr lang="zh-CN"/>
                    </a:p>
                  </a:txBody>
                  <a:tcPr/>
                </a:tc>
                <a:tc vMerge="1">
                  <a:txBody>
                    <a:bodyPr/>
                    <a:lstStyle/>
                    <a:p>
                      <a:endParaRPr lang="zh-CN"/>
                    </a:p>
                  </a:txBody>
                  <a:tcPr/>
                </a:tc>
                <a:tc>
                  <a:txBody>
                    <a:bodyPr/>
                    <a:lstStyle/>
                    <a:p>
                      <a:pPr algn="ctr" fontAlgn="ctr"/>
                      <a:r>
                        <a:rPr lang="en-US" altLang="en-US" sz="1100" b="0" i="0" u="none" strike="noStrike" dirty="0">
                          <a:solidFill>
                            <a:srgbClr val="000000"/>
                          </a:solidFill>
                          <a:effectLst/>
                          <a:latin typeface="微软雅黑" panose="020B0503020204020204" charset="-122"/>
                          <a:ea typeface="微软雅黑" panose="020B0503020204020204" charset="-122"/>
                          <a:cs typeface="Microsoft  yahei"/>
                        </a:rPr>
                        <a:t>12</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成本与费用管控</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5</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标准时间，机器时间管理，辅料定额等</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23240">
                <a:tc vMerge="1">
                  <a:txBody>
                    <a:bodyPr/>
                    <a:lstStyle/>
                    <a:p>
                      <a:endParaRPr lang="zh-CN"/>
                    </a:p>
                  </a:txBody>
                  <a:tcPr/>
                </a:tc>
                <a:tc vMerge="1">
                  <a:txBody>
                    <a:bodyPr/>
                    <a:lstStyle/>
                    <a:p>
                      <a:endParaRPr lang="zh-CN"/>
                    </a:p>
                  </a:txBody>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13</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en-US" sz="1100" b="0" i="0" u="none" strike="noStrike" dirty="0">
                          <a:solidFill>
                            <a:srgbClr val="000000"/>
                          </a:solidFill>
                          <a:effectLst/>
                          <a:latin typeface="微软雅黑" panose="020B0503020204020204" charset="-122"/>
                          <a:ea typeface="微软雅黑" panose="020B0503020204020204" charset="-122"/>
                          <a:cs typeface="Microsoft  yahei"/>
                        </a:rPr>
                        <a:t>追溯管理</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endParaRPr lang="en-US"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6</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如何便利的对关键物料的录入（条码等方式），以及多供应商供货情况下的追溯探讨</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2313">
                <a:tc vMerge="1">
                  <a:txBody>
                    <a:bodyPr/>
                    <a:lstStyle/>
                    <a:p>
                      <a:endParaRPr lang="zh-CN"/>
                    </a:p>
                  </a:txBody>
                  <a:tcPr/>
                </a:tc>
                <a:tc vMerge="1">
                  <a:txBody>
                    <a:bodyPr/>
                    <a:lstStyle/>
                    <a:p>
                      <a:endParaRPr lang="zh-CN"/>
                    </a:p>
                  </a:txBody>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14</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下线结算管理</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研讨</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7</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提高下线结算的效率，哪些物料适用下线结算</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323240">
                <a:tc rowSpan="2">
                  <a:txBody>
                    <a:bodyPr/>
                    <a:lstStyle/>
                    <a:p>
                      <a:pPr algn="ctr" fontAlgn="ct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商务</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组</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FF"/>
                    </a:solidFill>
                  </a:tcPr>
                </a:tc>
                <a:tc rowSpan="2">
                  <a:txBody>
                    <a:bodyPr/>
                    <a:lstStyle/>
                    <a:p>
                      <a:pPr algn="l" fontAlgn="ctr"/>
                      <a:r>
                        <a:rPr lang="en-US" altLang="zh-TW" sz="1100" b="1" i="0" u="none" strike="noStrike" dirty="0">
                          <a:solidFill>
                            <a:srgbClr val="000000"/>
                          </a:solidFill>
                          <a:effectLst/>
                          <a:latin typeface="微软雅黑" panose="020B0503020204020204" charset="-122"/>
                          <a:ea typeface="微软雅黑" panose="020B0503020204020204" charset="-122"/>
                          <a:cs typeface="Microsoft  yahei"/>
                        </a:rPr>
                        <a:t>E.</a:t>
                      </a:r>
                      <a:r>
                        <a:rPr lang="zh-TW" altLang="en-US" sz="1100" b="1" i="0" u="none" strike="noStrike" dirty="0">
                          <a:solidFill>
                            <a:srgbClr val="000000"/>
                          </a:solidFill>
                          <a:effectLst/>
                          <a:latin typeface="微软雅黑" panose="020B0503020204020204" charset="-122"/>
                          <a:ea typeface="微软雅黑" panose="020B0503020204020204" charset="-122"/>
                          <a:cs typeface="Microsoft  yahei"/>
                        </a:rPr>
                        <a:t>零部件计划与</a:t>
                      </a:r>
                      <a:r>
                        <a:rPr lang="zh-CN" altLang="en-US" sz="1100" b="1" i="0" u="none" strike="noStrike" dirty="0">
                          <a:solidFill>
                            <a:srgbClr val="000000"/>
                          </a:solidFill>
                          <a:effectLst/>
                          <a:latin typeface="微软雅黑" panose="020B0503020204020204" charset="-122"/>
                          <a:ea typeface="微软雅黑" panose="020B0503020204020204" charset="-122"/>
                          <a:cs typeface="Microsoft  yahei"/>
                        </a:rPr>
                        <a:t>交付解决方案</a:t>
                      </a:r>
                      <a:endParaRPr lang="zh-TW" altLang="en-US" sz="1100" b="1"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15</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零部件</a:t>
                      </a: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计划研</a:t>
                      </a:r>
                      <a:r>
                        <a:rPr lang="zh-TW" altLang="en-US" sz="1100" b="0" i="0" u="none" strike="noStrike" dirty="0">
                          <a:solidFill>
                            <a:srgbClr val="000000"/>
                          </a:solidFill>
                          <a:effectLst/>
                          <a:latin typeface="微软雅黑" panose="020B0503020204020204" charset="-122"/>
                          <a:ea typeface="微软雅黑" panose="020B0503020204020204" charset="-122"/>
                          <a:cs typeface="Microsoft  yahei"/>
                        </a:rPr>
                        <a:t>讨</a:t>
                      </a: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en-US"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、承接计划模式的零部件计划方式</a:t>
                      </a:r>
                      <a:b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br>
                      <a:r>
                        <a:rPr lang="zh-CN" altLang="zh-TW" sz="1000" b="0" i="0" u="none" strike="noStrike" kern="1200" dirty="0">
                          <a:solidFill>
                            <a:srgbClr val="000000"/>
                          </a:solidFill>
                          <a:effectLst/>
                          <a:latin typeface="微软雅黑" panose="020B0503020204020204" charset="-122"/>
                          <a:ea typeface="微软雅黑" panose="020B0503020204020204" charset="-122"/>
                          <a:cs typeface="Microsoft  yahei"/>
                        </a:rPr>
                        <a:t>2</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、与供应商的</a:t>
                      </a:r>
                      <a:r>
                        <a:rPr lang="zh-CN" altLang="en-US" sz="1000" b="0" i="0" u="none" strike="noStrike" kern="1200" dirty="0">
                          <a:solidFill>
                            <a:srgbClr val="000000"/>
                          </a:solidFill>
                          <a:effectLst/>
                          <a:latin typeface="微软雅黑" panose="020B0503020204020204" charset="-122"/>
                          <a:ea typeface="微软雅黑" panose="020B0503020204020204" charset="-122"/>
                          <a:cs typeface="Microsoft  yahei"/>
                        </a:rPr>
                        <a:t>计划对接</a:t>
                      </a:r>
                      <a:endPar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323240">
                <a:tc vMerge="1">
                  <a:txBody>
                    <a:bodyPr/>
                    <a:lstStyle/>
                    <a:p>
                      <a:endParaRPr lang="zh-CN"/>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TW" sz="1100" b="0" i="0" u="none" strike="noStrike" dirty="0">
                          <a:solidFill>
                            <a:srgbClr val="000000"/>
                          </a:solidFill>
                          <a:effectLst/>
                          <a:latin typeface="微软雅黑" panose="020B0503020204020204" charset="-122"/>
                          <a:ea typeface="微软雅黑" panose="020B0503020204020204" charset="-122"/>
                          <a:cs typeface="Microsoft  yahei"/>
                        </a:rPr>
                        <a:t>16</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dirty="0">
                          <a:solidFill>
                            <a:srgbClr val="000000"/>
                          </a:solidFill>
                          <a:effectLst/>
                          <a:latin typeface="微软雅黑" panose="020B0503020204020204" charset="-122"/>
                          <a:ea typeface="微软雅黑" panose="020B0503020204020204" charset="-122"/>
                          <a:cs typeface="Microsoft  yahei"/>
                        </a:rPr>
                        <a:t>零部件供应与配送</a:t>
                      </a:r>
                      <a:endParaRPr lang="zh-TW" altLang="en-US" sz="1100" b="0" i="0" u="none" strike="noStrike" dirty="0">
                        <a:solidFill>
                          <a:srgbClr val="000000"/>
                        </a:solidFill>
                        <a:effectLst/>
                        <a:latin typeface="微软雅黑" panose="020B0503020204020204" charset="-122"/>
                        <a:ea typeface="微软雅黑" panose="020B0503020204020204" charset="-122"/>
                        <a:cs typeface="Microsoft  yahei"/>
                      </a:endParaRPr>
                    </a:p>
                  </a:txBody>
                  <a:tcPr marL="54000" marR="54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lnSpc>
                          <a:spcPct val="100000"/>
                        </a:lnSpc>
                      </a:pPr>
                      <a:r>
                        <a:rPr lang="zh-CN" altLang="zh-TW" sz="1000" b="0" i="0" u="none" strike="noStrike" kern="1200" dirty="0">
                          <a:solidFill>
                            <a:srgbClr val="000000"/>
                          </a:solidFill>
                          <a:effectLst/>
                          <a:latin typeface="微软雅黑" panose="020B0503020204020204" charset="-122"/>
                          <a:ea typeface="微软雅黑" panose="020B0503020204020204" charset="-122"/>
                          <a:cs typeface="Microsoft  yahei"/>
                        </a:rPr>
                        <a:t>1</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、零部件分类</a:t>
                      </a:r>
                      <a:b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br>
                      <a:r>
                        <a:rPr lang="zh-CN" altLang="zh-TW" sz="1000" b="0" i="0" u="none" strike="noStrike" kern="1200" dirty="0">
                          <a:solidFill>
                            <a:srgbClr val="000000"/>
                          </a:solidFill>
                          <a:effectLst/>
                          <a:latin typeface="微软雅黑" panose="020B0503020204020204" charset="-122"/>
                          <a:ea typeface="微软雅黑" panose="020B0503020204020204" charset="-122"/>
                          <a:cs typeface="Microsoft  yahei"/>
                        </a:rPr>
                        <a:t>2</a:t>
                      </a:r>
                      <a:r>
                        <a:rPr lang="zh-TW" altLang="en-US" sz="1000" b="0" i="0" u="none" strike="noStrike" kern="1200" dirty="0">
                          <a:solidFill>
                            <a:srgbClr val="000000"/>
                          </a:solidFill>
                          <a:effectLst/>
                          <a:latin typeface="微软雅黑" panose="020B0503020204020204" charset="-122"/>
                          <a:ea typeface="微软雅黑" panose="020B0503020204020204" charset="-122"/>
                          <a:cs typeface="Microsoft  yahei"/>
                        </a:rPr>
                        <a:t>、零部件供应策略</a:t>
                      </a:r>
                    </a:p>
                  </a:txBody>
                  <a:tcPr marL="54000" marR="54000" marT="18000" marB="18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讨论点：如何应对市场的变化和波动</a:t>
            </a:r>
            <a:endParaRPr lang="en-US" dirty="0"/>
          </a:p>
        </p:txBody>
      </p:sp>
      <p:sp>
        <p:nvSpPr>
          <p:cNvPr id="14" name="AutoShape 5"/>
          <p:cNvSpPr>
            <a:spLocks noChangeArrowheads="1"/>
          </p:cNvSpPr>
          <p:nvPr/>
        </p:nvSpPr>
        <p:spPr bwMode="gray">
          <a:xfrm>
            <a:off x="755576" y="4581128"/>
            <a:ext cx="1293221" cy="508727"/>
          </a:xfrm>
          <a:prstGeom prst="homePlate">
            <a:avLst>
              <a:gd name="adj" fmla="val 15592"/>
            </a:avLst>
          </a:prstGeom>
          <a:solidFill>
            <a:schemeClr val="tx2">
              <a:lumMod val="40000"/>
              <a:lumOff val="60000"/>
            </a:schemeClr>
          </a:solidFill>
          <a:ln w="12700" algn="ctr">
            <a:solidFill>
              <a:srgbClr val="000000"/>
            </a:solidFill>
            <a:miter lim="800000"/>
          </a:ln>
        </p:spPr>
        <p:txBody>
          <a:bodyPr wrap="none" tIns="91440" bIns="91440" anchor="ctr">
            <a:noAutofit/>
          </a:bodyPr>
          <a:lstStyle/>
          <a:p>
            <a:pPr marL="0" marR="0" lvl="0" indent="0" algn="ctr" defTabSz="914400" eaLnBrk="1" fontAlgn="auto" latinLnBrk="0" hangingPunct="1">
              <a:lnSpc>
                <a:spcPct val="115000"/>
              </a:lnSpc>
              <a:spcBef>
                <a:spcPct val="30000"/>
              </a:spcBef>
              <a:spcAft>
                <a:spcPts val="0"/>
              </a:spcAft>
              <a:buClr>
                <a:srgbClr val="4D4D4D"/>
              </a:buClr>
              <a:buSzTx/>
              <a:buFont typeface="Wingdings" panose="05000000000000000000" pitchFamily="2" charset="2"/>
              <a:buNone/>
              <a:defRPr/>
            </a:pPr>
            <a:r>
              <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代理商</a:t>
            </a:r>
          </a:p>
        </p:txBody>
      </p:sp>
      <p:sp>
        <p:nvSpPr>
          <p:cNvPr id="15" name="AutoShape 6"/>
          <p:cNvSpPr>
            <a:spLocks noChangeArrowheads="1"/>
          </p:cNvSpPr>
          <p:nvPr/>
        </p:nvSpPr>
        <p:spPr bwMode="gray">
          <a:xfrm>
            <a:off x="2037903" y="4581128"/>
            <a:ext cx="1293221" cy="508727"/>
          </a:xfrm>
          <a:prstGeom prst="chevron">
            <a:avLst>
              <a:gd name="adj" fmla="val 17538"/>
            </a:avLst>
          </a:prstGeom>
          <a:solidFill>
            <a:schemeClr val="tx2">
              <a:lumMod val="40000"/>
              <a:lumOff val="60000"/>
            </a:schemeClr>
          </a:solidFill>
          <a:ln w="12700" algn="ctr">
            <a:solidFill>
              <a:srgbClr val="000000"/>
            </a:solidFill>
            <a:miter lim="800000"/>
          </a:ln>
        </p:spPr>
        <p:txBody>
          <a:bodyPr wrap="none" tIns="91440" bIns="91440" anchor="ctr">
            <a:noAutofit/>
          </a:bodyPr>
          <a:lstStyle/>
          <a:p>
            <a:pPr marL="0" marR="0" lvl="0" indent="0" algn="ctr" defTabSz="914400" eaLnBrk="1" fontAlgn="auto" latinLnBrk="0" hangingPunct="1">
              <a:lnSpc>
                <a:spcPct val="115000"/>
              </a:lnSpc>
              <a:spcBef>
                <a:spcPct val="30000"/>
              </a:spcBef>
              <a:spcAft>
                <a:spcPts val="0"/>
              </a:spcAft>
              <a:buClr>
                <a:srgbClr val="4D4D4D"/>
              </a:buClr>
              <a:buSzTx/>
              <a:buFont typeface="Wingdings" panose="05000000000000000000" pitchFamily="2" charset="2"/>
              <a:buNone/>
              <a:defRPr/>
            </a:pPr>
            <a:r>
              <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营销</a:t>
            </a:r>
          </a:p>
        </p:txBody>
      </p:sp>
      <p:sp>
        <p:nvSpPr>
          <p:cNvPr id="16" name="AutoShape 7"/>
          <p:cNvSpPr>
            <a:spLocks noChangeArrowheads="1"/>
          </p:cNvSpPr>
          <p:nvPr/>
        </p:nvSpPr>
        <p:spPr bwMode="gray">
          <a:xfrm>
            <a:off x="3320230" y="4581128"/>
            <a:ext cx="1293221" cy="508727"/>
          </a:xfrm>
          <a:prstGeom prst="chevron">
            <a:avLst>
              <a:gd name="adj" fmla="val 17538"/>
            </a:avLst>
          </a:prstGeom>
          <a:solidFill>
            <a:schemeClr val="tx2">
              <a:lumMod val="40000"/>
              <a:lumOff val="60000"/>
            </a:schemeClr>
          </a:solidFill>
          <a:ln w="12700" algn="ctr">
            <a:solidFill>
              <a:srgbClr val="000000"/>
            </a:solidFill>
            <a:miter lim="800000"/>
          </a:ln>
        </p:spPr>
        <p:txBody>
          <a:bodyPr wrap="none" tIns="36000" bIns="0" anchor="ctr">
            <a:noAutofit/>
          </a:bodyPr>
          <a:lstStyle/>
          <a:p>
            <a:pPr marL="0" marR="0" lvl="0" indent="0" algn="ctr" defTabSz="914400" eaLnBrk="1" fontAlgn="auto" latinLnBrk="0" hangingPunct="1">
              <a:spcAft>
                <a:spcPts val="0"/>
              </a:spcAft>
              <a:buClr>
                <a:srgbClr val="4D4D4D"/>
              </a:buClr>
              <a:buSzTx/>
              <a:buFont typeface="Wingdings" panose="05000000000000000000" pitchFamily="2" charset="2"/>
              <a:buNone/>
              <a:defRPr/>
            </a:pPr>
            <a:r>
              <a:rPr kumimoji="0" lang="en-US" altLang="zh-CN"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S&amp;OP</a:t>
            </a:r>
            <a:br>
              <a:rPr kumimoji="0" lang="en-US" altLang="zh-CN"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br>
            <a:r>
              <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（产销平衡）</a:t>
            </a:r>
          </a:p>
        </p:txBody>
      </p:sp>
      <p:sp>
        <p:nvSpPr>
          <p:cNvPr id="17" name="AutoShape 8"/>
          <p:cNvSpPr>
            <a:spLocks noChangeArrowheads="1"/>
          </p:cNvSpPr>
          <p:nvPr/>
        </p:nvSpPr>
        <p:spPr bwMode="gray">
          <a:xfrm>
            <a:off x="4602557" y="4581128"/>
            <a:ext cx="1293221" cy="508727"/>
          </a:xfrm>
          <a:prstGeom prst="chevron">
            <a:avLst>
              <a:gd name="adj" fmla="val 17538"/>
            </a:avLst>
          </a:prstGeom>
          <a:solidFill>
            <a:schemeClr val="tx2">
              <a:lumMod val="40000"/>
              <a:lumOff val="60000"/>
            </a:schemeClr>
          </a:solidFill>
          <a:ln w="12700" algn="ctr">
            <a:solidFill>
              <a:srgbClr val="000000"/>
            </a:solidFill>
            <a:miter lim="800000"/>
          </a:ln>
        </p:spPr>
        <p:txBody>
          <a:bodyPr wrap="none" tIns="91440" bIns="91440" anchor="ctr">
            <a:noAutofit/>
          </a:bodyPr>
          <a:lstStyle/>
          <a:p>
            <a:pPr marL="0" marR="0" lvl="0" indent="0" algn="ctr" defTabSz="914400" eaLnBrk="1" fontAlgn="auto" latinLnBrk="0" hangingPunct="1">
              <a:lnSpc>
                <a:spcPct val="115000"/>
              </a:lnSpc>
              <a:spcBef>
                <a:spcPct val="30000"/>
              </a:spcBef>
              <a:spcAft>
                <a:spcPts val="0"/>
              </a:spcAft>
              <a:buClr>
                <a:srgbClr val="4D4D4D"/>
              </a:buClr>
              <a:buSzTx/>
              <a:buFont typeface="Wingdings" panose="05000000000000000000" pitchFamily="2" charset="2"/>
              <a:buNone/>
              <a:defRPr/>
            </a:pPr>
            <a:r>
              <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生产</a:t>
            </a:r>
          </a:p>
        </p:txBody>
      </p:sp>
      <p:sp>
        <p:nvSpPr>
          <p:cNvPr id="18" name="AutoShape 9"/>
          <p:cNvSpPr>
            <a:spLocks noChangeArrowheads="1"/>
          </p:cNvSpPr>
          <p:nvPr/>
        </p:nvSpPr>
        <p:spPr bwMode="gray">
          <a:xfrm>
            <a:off x="5884885" y="4581128"/>
            <a:ext cx="1293221" cy="508727"/>
          </a:xfrm>
          <a:prstGeom prst="chevron">
            <a:avLst>
              <a:gd name="adj" fmla="val 17538"/>
            </a:avLst>
          </a:prstGeom>
          <a:solidFill>
            <a:schemeClr val="tx2">
              <a:lumMod val="40000"/>
              <a:lumOff val="60000"/>
            </a:schemeClr>
          </a:solidFill>
          <a:ln w="12700" algn="ctr">
            <a:solidFill>
              <a:srgbClr val="000000"/>
            </a:solidFill>
            <a:miter lim="800000"/>
          </a:ln>
        </p:spPr>
        <p:txBody>
          <a:bodyPr wrap="none" tIns="91440" bIns="91440" anchor="ctr">
            <a:noAutofit/>
          </a:bodyPr>
          <a:lstStyle/>
          <a:p>
            <a:pPr marL="0" marR="0" lvl="0" indent="0" algn="ctr" defTabSz="914400" eaLnBrk="1" fontAlgn="auto" latinLnBrk="0" hangingPunct="1">
              <a:lnSpc>
                <a:spcPct val="115000"/>
              </a:lnSpc>
              <a:spcBef>
                <a:spcPct val="30000"/>
              </a:spcBef>
              <a:spcAft>
                <a:spcPts val="0"/>
              </a:spcAft>
              <a:buClr>
                <a:srgbClr val="4D4D4D"/>
              </a:buClr>
              <a:buSzTx/>
              <a:buFont typeface="Wingdings" panose="05000000000000000000" pitchFamily="2" charset="2"/>
              <a:buNone/>
              <a:defRPr/>
            </a:pPr>
            <a:r>
              <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采购</a:t>
            </a:r>
          </a:p>
        </p:txBody>
      </p:sp>
      <p:sp>
        <p:nvSpPr>
          <p:cNvPr id="31" name="AutoShape 9"/>
          <p:cNvSpPr>
            <a:spLocks noChangeArrowheads="1"/>
          </p:cNvSpPr>
          <p:nvPr/>
        </p:nvSpPr>
        <p:spPr bwMode="gray">
          <a:xfrm>
            <a:off x="7167211" y="4581128"/>
            <a:ext cx="1293221" cy="508727"/>
          </a:xfrm>
          <a:prstGeom prst="chevron">
            <a:avLst>
              <a:gd name="adj" fmla="val 17538"/>
            </a:avLst>
          </a:prstGeom>
          <a:solidFill>
            <a:schemeClr val="tx2">
              <a:lumMod val="40000"/>
              <a:lumOff val="60000"/>
            </a:schemeClr>
          </a:solidFill>
          <a:ln w="12700" algn="ctr">
            <a:solidFill>
              <a:srgbClr val="000000"/>
            </a:solidFill>
            <a:miter lim="800000"/>
          </a:ln>
        </p:spPr>
        <p:txBody>
          <a:bodyPr wrap="none" tIns="91440" bIns="91440" anchor="ctr">
            <a:noAutofit/>
          </a:bodyPr>
          <a:lstStyle/>
          <a:p>
            <a:pPr marL="0" marR="0" lvl="0" indent="0" algn="ctr" defTabSz="914400" eaLnBrk="1" fontAlgn="auto" latinLnBrk="0" hangingPunct="1">
              <a:lnSpc>
                <a:spcPct val="115000"/>
              </a:lnSpc>
              <a:spcBef>
                <a:spcPct val="30000"/>
              </a:spcBef>
              <a:spcAft>
                <a:spcPts val="0"/>
              </a:spcAft>
              <a:buClr>
                <a:srgbClr val="4D4D4D"/>
              </a:buClr>
              <a:buSzTx/>
              <a:buFont typeface="Wingdings" panose="05000000000000000000" pitchFamily="2" charset="2"/>
              <a:buNone/>
              <a:defRPr/>
            </a:pPr>
            <a:r>
              <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供应商</a:t>
            </a:r>
          </a:p>
        </p:txBody>
      </p:sp>
      <p:sp>
        <p:nvSpPr>
          <p:cNvPr id="34" name="Text Box 49"/>
          <p:cNvSpPr txBox="1">
            <a:spLocks noChangeArrowheads="1"/>
          </p:cNvSpPr>
          <p:nvPr/>
        </p:nvSpPr>
        <p:spPr bwMode="gray">
          <a:xfrm>
            <a:off x="755576" y="5265311"/>
            <a:ext cx="1207146" cy="1043999"/>
          </a:xfrm>
          <a:prstGeom prst="rect">
            <a:avLst/>
          </a:prstGeom>
          <a:noFill/>
          <a:ln w="12700" algn="ctr">
            <a:solidFill>
              <a:schemeClr val="bg1">
                <a:lumMod val="85000"/>
              </a:schemeClr>
            </a:solidFill>
            <a:miter lim="800000"/>
          </a:ln>
        </p:spPr>
        <p:txBody>
          <a:bodyPr wrap="square" tIns="91440" bIns="91440">
            <a:noAutofit/>
          </a:bodyP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销售漏斗管理，商机实时录入</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引导客户需求</a:t>
            </a:r>
          </a:p>
        </p:txBody>
      </p:sp>
      <p:sp>
        <p:nvSpPr>
          <p:cNvPr id="35" name="Text Box 49"/>
          <p:cNvSpPr txBox="1">
            <a:spLocks noChangeArrowheads="1"/>
          </p:cNvSpPr>
          <p:nvPr/>
        </p:nvSpPr>
        <p:spPr bwMode="gray">
          <a:xfrm>
            <a:off x="2031703" y="5265312"/>
            <a:ext cx="1207146" cy="1043999"/>
          </a:xfrm>
          <a:prstGeom prst="rect">
            <a:avLst/>
          </a:prstGeom>
          <a:noFill/>
          <a:ln w="12700" algn="ctr">
            <a:solidFill>
              <a:srgbClr val="D9D9D9"/>
            </a:solidFill>
            <a:miter lim="800000"/>
          </a:ln>
        </p:spPr>
        <p:txBody>
          <a:bodyPr wrap="square" tIns="91440" bIns="91440">
            <a:noAutofit/>
          </a:bodyP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整体销售管理 </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库存管理（合理数量和分布）</a:t>
            </a:r>
            <a:endParaRPr lang="en-US" altLang="zh-CN" sz="1200" dirty="0">
              <a:latin typeface="微软雅黑" panose="020B0503020204020204" charset="-122"/>
              <a:ea typeface="微软雅黑" panose="020B0503020204020204" charset="-122"/>
            </a:endParaRPr>
          </a:p>
        </p:txBody>
      </p:sp>
      <p:sp>
        <p:nvSpPr>
          <p:cNvPr id="36" name="Text Box 49"/>
          <p:cNvSpPr txBox="1">
            <a:spLocks noChangeArrowheads="1"/>
          </p:cNvSpPr>
          <p:nvPr/>
        </p:nvSpPr>
        <p:spPr bwMode="gray">
          <a:xfrm>
            <a:off x="3307830" y="5265311"/>
            <a:ext cx="1207146" cy="1043999"/>
          </a:xfrm>
          <a:prstGeom prst="rect">
            <a:avLst/>
          </a:prstGeom>
          <a:noFill/>
          <a:ln w="12700" algn="ctr">
            <a:solidFill>
              <a:srgbClr val="D9D9D9"/>
            </a:solidFill>
            <a:miter lim="800000"/>
          </a:ln>
        </p:spPr>
        <p:txBody>
          <a:bodyPr wrap="square" tIns="91440" bIns="91440">
            <a:noAutofit/>
          </a:bodyP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订单实时响应及可视</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风险预案</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b="0" dirty="0">
                <a:solidFill>
                  <a:schemeClr val="tx1"/>
                </a:solidFill>
                <a:latin typeface="微软雅黑" panose="020B0503020204020204" charset="-122"/>
                <a:ea typeface="微软雅黑" panose="020B0503020204020204" charset="-122"/>
              </a:rPr>
              <a:t>应急处理及资源协调</a:t>
            </a:r>
          </a:p>
        </p:txBody>
      </p:sp>
      <p:sp>
        <p:nvSpPr>
          <p:cNvPr id="37" name="Text Box 49"/>
          <p:cNvSpPr txBox="1">
            <a:spLocks noChangeArrowheads="1"/>
          </p:cNvSpPr>
          <p:nvPr/>
        </p:nvSpPr>
        <p:spPr bwMode="gray">
          <a:xfrm>
            <a:off x="4583957" y="5265311"/>
            <a:ext cx="1207146" cy="1043999"/>
          </a:xfrm>
          <a:prstGeom prst="rect">
            <a:avLst/>
          </a:prstGeom>
          <a:noFill/>
          <a:ln w="12700" algn="ctr">
            <a:solidFill>
              <a:srgbClr val="D9D9D9"/>
            </a:solidFill>
            <a:miter lim="800000"/>
          </a:ln>
        </p:spPr>
        <p:txBody>
          <a:bodyPr wrap="square" tIns="91440" bIns="91440">
            <a:noAutofit/>
          </a:bodyP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产能预案</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b="0" dirty="0">
                <a:solidFill>
                  <a:schemeClr val="tx1"/>
                </a:solidFill>
                <a:latin typeface="微软雅黑" panose="020B0503020204020204" charset="-122"/>
                <a:ea typeface="微软雅黑" panose="020B0503020204020204" charset="-122"/>
              </a:rPr>
              <a:t>生产柔性</a:t>
            </a:r>
          </a:p>
        </p:txBody>
      </p:sp>
      <p:sp>
        <p:nvSpPr>
          <p:cNvPr id="38" name="Text Box 49"/>
          <p:cNvSpPr txBox="1">
            <a:spLocks noChangeArrowheads="1"/>
          </p:cNvSpPr>
          <p:nvPr/>
        </p:nvSpPr>
        <p:spPr bwMode="gray">
          <a:xfrm>
            <a:off x="5860083" y="5265311"/>
            <a:ext cx="1207146" cy="1043999"/>
          </a:xfrm>
          <a:prstGeom prst="rect">
            <a:avLst/>
          </a:prstGeom>
          <a:noFill/>
          <a:ln w="12700" algn="ctr">
            <a:solidFill>
              <a:srgbClr val="D9D9D9"/>
            </a:solidFill>
            <a:miter lim="800000"/>
          </a:ln>
        </p:spPr>
        <p:txBody>
          <a:bodyPr wrap="square" tIns="91440" bIns="91440">
            <a:noAutofit/>
          </a:bodyP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零部件库存</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关键</a:t>
            </a:r>
            <a:r>
              <a:rPr lang="zh-CN" altLang="en-US" sz="1200" b="0" dirty="0">
                <a:solidFill>
                  <a:schemeClr val="tx1"/>
                </a:solidFill>
                <a:latin typeface="微软雅黑" panose="020B0503020204020204" charset="-122"/>
                <a:ea typeface="微软雅黑" panose="020B0503020204020204" charset="-122"/>
              </a:rPr>
              <a:t>供应商关系管理</a:t>
            </a:r>
          </a:p>
        </p:txBody>
      </p:sp>
      <p:sp>
        <p:nvSpPr>
          <p:cNvPr id="39" name="Text Box 49"/>
          <p:cNvSpPr txBox="1">
            <a:spLocks noChangeArrowheads="1"/>
          </p:cNvSpPr>
          <p:nvPr/>
        </p:nvSpPr>
        <p:spPr bwMode="gray">
          <a:xfrm>
            <a:off x="7136213" y="5265311"/>
            <a:ext cx="1207146" cy="1043999"/>
          </a:xfrm>
          <a:prstGeom prst="rect">
            <a:avLst/>
          </a:prstGeom>
          <a:noFill/>
          <a:ln w="12700" algn="ctr">
            <a:solidFill>
              <a:srgbClr val="D9D9D9"/>
            </a:solidFill>
            <a:miter lim="800000"/>
          </a:ln>
        </p:spPr>
        <p:txBody>
          <a:bodyPr wrap="square" tIns="91440" bIns="91440">
            <a:noAutofit/>
          </a:bodyP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库存及产能准备</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瓶颈零部件供应能力准备</a:t>
            </a:r>
            <a:endParaRPr lang="en-US" altLang="zh-CN" sz="1200" dirty="0">
              <a:latin typeface="微软雅黑" panose="020B0503020204020204" charset="-122"/>
              <a:ea typeface="微软雅黑" panose="020B0503020204020204" charset="-122"/>
            </a:endParaRPr>
          </a:p>
        </p:txBody>
      </p:sp>
      <p:grpSp>
        <p:nvGrpSpPr>
          <p:cNvPr id="4" name="Group 76"/>
          <p:cNvGrpSpPr/>
          <p:nvPr/>
        </p:nvGrpSpPr>
        <p:grpSpPr>
          <a:xfrm>
            <a:off x="1138340" y="1232778"/>
            <a:ext cx="2808312" cy="828070"/>
            <a:chOff x="1138340" y="1340793"/>
            <a:chExt cx="2808312" cy="828070"/>
          </a:xfrm>
        </p:grpSpPr>
        <p:sp>
          <p:nvSpPr>
            <p:cNvPr id="46" name="圆角矩形 82"/>
            <p:cNvSpPr>
              <a:spLocks noChangeArrowheads="1"/>
            </p:cNvSpPr>
            <p:nvPr/>
          </p:nvSpPr>
          <p:spPr bwMode="auto">
            <a:xfrm>
              <a:off x="1786412" y="1340793"/>
              <a:ext cx="2160240" cy="828070"/>
            </a:xfrm>
            <a:prstGeom prst="roundRect">
              <a:avLst>
                <a:gd name="adj" fmla="val 16667"/>
              </a:avLst>
            </a:prstGeom>
            <a:noFill/>
            <a:ln w="6350">
              <a:solidFill>
                <a:schemeClr val="tx1"/>
              </a:solidFill>
              <a:miter lim="800000"/>
            </a:ln>
          </p:spPr>
          <p:txBody>
            <a:bodyPr lIns="432000" anchor="ct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市场转好，销量突升</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市场变淡，销量突降</a:t>
              </a:r>
            </a:p>
          </p:txBody>
        </p:sp>
        <p:sp>
          <p:nvSpPr>
            <p:cNvPr id="50" name="AutoShape 5"/>
            <p:cNvSpPr>
              <a:spLocks noChangeArrowheads="1"/>
            </p:cNvSpPr>
            <p:nvPr/>
          </p:nvSpPr>
          <p:spPr bwMode="gray">
            <a:xfrm>
              <a:off x="1138340" y="1502809"/>
              <a:ext cx="1079994" cy="504039"/>
            </a:xfrm>
            <a:prstGeom prst="homePlate">
              <a:avLst>
                <a:gd name="adj" fmla="val 15592"/>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latin typeface="微软雅黑" panose="020B0503020204020204" charset="-122"/>
                  <a:ea typeface="微软雅黑" panose="020B0503020204020204" charset="-122"/>
                </a:rPr>
                <a:t>市场突变</a:t>
              </a:r>
            </a:p>
          </p:txBody>
        </p:sp>
      </p:grpSp>
      <p:grpSp>
        <p:nvGrpSpPr>
          <p:cNvPr id="5" name="Group 80"/>
          <p:cNvGrpSpPr/>
          <p:nvPr/>
        </p:nvGrpSpPr>
        <p:grpSpPr>
          <a:xfrm>
            <a:off x="1138340" y="2186886"/>
            <a:ext cx="2808312" cy="828070"/>
            <a:chOff x="1138340" y="2276898"/>
            <a:chExt cx="2808312" cy="828070"/>
          </a:xfrm>
        </p:grpSpPr>
        <p:sp>
          <p:nvSpPr>
            <p:cNvPr id="51" name="圆角矩形 82"/>
            <p:cNvSpPr>
              <a:spLocks noChangeArrowheads="1"/>
            </p:cNvSpPr>
            <p:nvPr/>
          </p:nvSpPr>
          <p:spPr bwMode="auto">
            <a:xfrm>
              <a:off x="1786412" y="2276898"/>
              <a:ext cx="2160240" cy="828070"/>
            </a:xfrm>
            <a:prstGeom prst="roundRect">
              <a:avLst>
                <a:gd name="adj" fmla="val 16667"/>
              </a:avLst>
            </a:prstGeom>
            <a:noFill/>
            <a:ln w="6350">
              <a:solidFill>
                <a:schemeClr val="tx1"/>
              </a:solidFill>
              <a:miter lim="800000"/>
            </a:ln>
          </p:spPr>
          <p:txBody>
            <a:bodyPr lIns="432000" anchor="ct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订单配置变化</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计划外订单</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客户订单撤销</a:t>
              </a:r>
            </a:p>
          </p:txBody>
        </p:sp>
        <p:sp>
          <p:nvSpPr>
            <p:cNvPr id="52" name="AutoShape 5"/>
            <p:cNvSpPr>
              <a:spLocks noChangeArrowheads="1"/>
            </p:cNvSpPr>
            <p:nvPr/>
          </p:nvSpPr>
          <p:spPr bwMode="gray">
            <a:xfrm>
              <a:off x="1138340" y="2438914"/>
              <a:ext cx="1079994" cy="504039"/>
            </a:xfrm>
            <a:prstGeom prst="homePlate">
              <a:avLst>
                <a:gd name="adj" fmla="val 15592"/>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rgbClr val="000000"/>
                  </a:solidFill>
                  <a:latin typeface="微软雅黑" panose="020B0503020204020204" charset="-122"/>
                  <a:ea typeface="微软雅黑" panose="020B0503020204020204" charset="-122"/>
                </a:rPr>
                <a:t>订单变更</a:t>
              </a:r>
            </a:p>
          </p:txBody>
        </p:sp>
      </p:grpSp>
      <p:grpSp>
        <p:nvGrpSpPr>
          <p:cNvPr id="6" name="Group 78"/>
          <p:cNvGrpSpPr/>
          <p:nvPr/>
        </p:nvGrpSpPr>
        <p:grpSpPr>
          <a:xfrm>
            <a:off x="1138340" y="3140994"/>
            <a:ext cx="2808312" cy="828070"/>
            <a:chOff x="1138340" y="3140994"/>
            <a:chExt cx="2808312" cy="828070"/>
          </a:xfrm>
        </p:grpSpPr>
        <p:sp>
          <p:nvSpPr>
            <p:cNvPr id="53" name="圆角矩形 82"/>
            <p:cNvSpPr>
              <a:spLocks noChangeArrowheads="1"/>
            </p:cNvSpPr>
            <p:nvPr/>
          </p:nvSpPr>
          <p:spPr bwMode="auto">
            <a:xfrm>
              <a:off x="1786412" y="3140994"/>
              <a:ext cx="2160240" cy="828070"/>
            </a:xfrm>
            <a:prstGeom prst="roundRect">
              <a:avLst>
                <a:gd name="adj" fmla="val 16667"/>
              </a:avLst>
            </a:prstGeom>
            <a:noFill/>
            <a:ln w="6350">
              <a:solidFill>
                <a:schemeClr val="tx1"/>
              </a:solidFill>
              <a:miter lim="800000"/>
            </a:ln>
          </p:spPr>
          <p:txBody>
            <a:bodyPr lIns="432000" anchor="ct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国家标准驱动</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产品规划驱动</a:t>
              </a:r>
            </a:p>
          </p:txBody>
        </p:sp>
        <p:sp>
          <p:nvSpPr>
            <p:cNvPr id="54" name="AutoShape 5"/>
            <p:cNvSpPr>
              <a:spLocks noChangeArrowheads="1"/>
            </p:cNvSpPr>
            <p:nvPr/>
          </p:nvSpPr>
          <p:spPr bwMode="gray">
            <a:xfrm>
              <a:off x="1138340" y="3303010"/>
              <a:ext cx="1079994" cy="504039"/>
            </a:xfrm>
            <a:prstGeom prst="homePlate">
              <a:avLst>
                <a:gd name="adj" fmla="val 15592"/>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rgbClr val="000000"/>
                  </a:solidFill>
                  <a:latin typeface="微软雅黑" panose="020B0503020204020204" charset="-122"/>
                  <a:ea typeface="微软雅黑" panose="020B0503020204020204" charset="-122"/>
                </a:rPr>
                <a:t>产品升级</a:t>
              </a:r>
              <a:endParaRPr lang="en-US" altLang="zh-CN" sz="1400" b="1" dirty="0">
                <a:solidFill>
                  <a:srgbClr val="000000"/>
                </a:solidFill>
                <a:latin typeface="微软雅黑" panose="020B0503020204020204" charset="-122"/>
                <a:ea typeface="微软雅黑" panose="020B0503020204020204" charset="-122"/>
              </a:endParaRPr>
            </a:p>
            <a:p>
              <a:pPr algn="ctr" eaLnBrk="0" hangingPunct="0">
                <a:lnSpc>
                  <a:spcPct val="90000"/>
                </a:lnSpc>
                <a:spcBef>
                  <a:spcPct val="20000"/>
                </a:spcBef>
                <a:buClr>
                  <a:schemeClr val="tx1"/>
                </a:buClr>
              </a:pPr>
              <a:r>
                <a:rPr lang="zh-CN" altLang="en-US" sz="1400" b="1" dirty="0">
                  <a:solidFill>
                    <a:srgbClr val="000000"/>
                  </a:solidFill>
                  <a:latin typeface="微软雅黑" panose="020B0503020204020204" charset="-122"/>
                  <a:ea typeface="微软雅黑" panose="020B0503020204020204" charset="-122"/>
                </a:rPr>
                <a:t>换代</a:t>
              </a:r>
            </a:p>
          </p:txBody>
        </p:sp>
      </p:grpSp>
      <p:grpSp>
        <p:nvGrpSpPr>
          <p:cNvPr id="7" name="Group 75"/>
          <p:cNvGrpSpPr/>
          <p:nvPr/>
        </p:nvGrpSpPr>
        <p:grpSpPr>
          <a:xfrm>
            <a:off x="5825172" y="1232778"/>
            <a:ext cx="2808312" cy="828070"/>
            <a:chOff x="5825172" y="1196752"/>
            <a:chExt cx="2808312" cy="828070"/>
          </a:xfrm>
        </p:grpSpPr>
        <p:sp>
          <p:nvSpPr>
            <p:cNvPr id="55" name="圆角矩形 82"/>
            <p:cNvSpPr>
              <a:spLocks noChangeArrowheads="1"/>
            </p:cNvSpPr>
            <p:nvPr/>
          </p:nvSpPr>
          <p:spPr bwMode="auto">
            <a:xfrm>
              <a:off x="6473244" y="1196752"/>
              <a:ext cx="2160240" cy="828070"/>
            </a:xfrm>
            <a:prstGeom prst="roundRect">
              <a:avLst>
                <a:gd name="adj" fmla="val 16667"/>
              </a:avLst>
            </a:prstGeom>
            <a:noFill/>
            <a:ln w="6350">
              <a:solidFill>
                <a:schemeClr val="tx1"/>
              </a:solidFill>
              <a:miter lim="800000"/>
            </a:ln>
          </p:spPr>
          <p:txBody>
            <a:bodyPr lIns="432000" anchor="ct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通用化、标准化、模块化</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研发早期与供应链的协同</a:t>
              </a:r>
            </a:p>
          </p:txBody>
        </p:sp>
        <p:sp>
          <p:nvSpPr>
            <p:cNvPr id="56" name="AutoShape 5"/>
            <p:cNvSpPr>
              <a:spLocks noChangeArrowheads="1"/>
            </p:cNvSpPr>
            <p:nvPr/>
          </p:nvSpPr>
          <p:spPr bwMode="gray">
            <a:xfrm>
              <a:off x="5825172" y="1358768"/>
              <a:ext cx="1079994" cy="504039"/>
            </a:xfrm>
            <a:prstGeom prst="homePlate">
              <a:avLst>
                <a:gd name="adj" fmla="val 15592"/>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rgbClr val="000000"/>
                  </a:solidFill>
                  <a:latin typeface="微软雅黑" panose="020B0503020204020204" charset="-122"/>
                  <a:ea typeface="微软雅黑" panose="020B0503020204020204" charset="-122"/>
                </a:rPr>
                <a:t>研发</a:t>
              </a:r>
            </a:p>
          </p:txBody>
        </p:sp>
      </p:grpSp>
      <p:grpSp>
        <p:nvGrpSpPr>
          <p:cNvPr id="8" name="Group 77"/>
          <p:cNvGrpSpPr/>
          <p:nvPr/>
        </p:nvGrpSpPr>
        <p:grpSpPr>
          <a:xfrm>
            <a:off x="5825172" y="2150869"/>
            <a:ext cx="2808312" cy="828070"/>
            <a:chOff x="5825172" y="2132857"/>
            <a:chExt cx="2808312" cy="828070"/>
          </a:xfrm>
        </p:grpSpPr>
        <p:sp>
          <p:nvSpPr>
            <p:cNvPr id="57" name="圆角矩形 82"/>
            <p:cNvSpPr>
              <a:spLocks noChangeArrowheads="1"/>
            </p:cNvSpPr>
            <p:nvPr/>
          </p:nvSpPr>
          <p:spPr bwMode="auto">
            <a:xfrm>
              <a:off x="6473244" y="2132857"/>
              <a:ext cx="2160240" cy="828070"/>
            </a:xfrm>
            <a:prstGeom prst="roundRect">
              <a:avLst>
                <a:gd name="adj" fmla="val 16667"/>
              </a:avLst>
            </a:prstGeom>
            <a:noFill/>
            <a:ln w="6350">
              <a:solidFill>
                <a:schemeClr val="tx1"/>
              </a:solidFill>
              <a:miter lim="800000"/>
            </a:ln>
          </p:spPr>
          <p:txBody>
            <a:bodyPr lIns="432000" anchor="ct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市场洞察</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促销策略</a:t>
              </a:r>
              <a:endParaRPr lang="en-US" altLang="zh-CN" sz="1200" dirty="0">
                <a:latin typeface="微软雅黑" panose="020B0503020204020204" charset="-122"/>
                <a:ea typeface="微软雅黑" panose="020B0503020204020204" charset="-122"/>
              </a:endParaRPr>
            </a:p>
          </p:txBody>
        </p:sp>
        <p:sp>
          <p:nvSpPr>
            <p:cNvPr id="58" name="AutoShape 5"/>
            <p:cNvSpPr>
              <a:spLocks noChangeArrowheads="1"/>
            </p:cNvSpPr>
            <p:nvPr/>
          </p:nvSpPr>
          <p:spPr bwMode="gray">
            <a:xfrm>
              <a:off x="5825172" y="2294873"/>
              <a:ext cx="1079994" cy="504039"/>
            </a:xfrm>
            <a:prstGeom prst="homePlate">
              <a:avLst>
                <a:gd name="adj" fmla="val 15592"/>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rgbClr val="000000"/>
                  </a:solidFill>
                  <a:latin typeface="微软雅黑" panose="020B0503020204020204" charset="-122"/>
                  <a:ea typeface="微软雅黑" panose="020B0503020204020204" charset="-122"/>
                </a:rPr>
                <a:t>营销</a:t>
              </a:r>
            </a:p>
          </p:txBody>
        </p:sp>
      </p:grpSp>
      <p:grpSp>
        <p:nvGrpSpPr>
          <p:cNvPr id="9" name="Group 79"/>
          <p:cNvGrpSpPr/>
          <p:nvPr/>
        </p:nvGrpSpPr>
        <p:grpSpPr>
          <a:xfrm>
            <a:off x="5825172" y="3068960"/>
            <a:ext cx="2808312" cy="828070"/>
            <a:chOff x="5825172" y="3068986"/>
            <a:chExt cx="2808312" cy="828070"/>
          </a:xfrm>
        </p:grpSpPr>
        <p:sp>
          <p:nvSpPr>
            <p:cNvPr id="59" name="圆角矩形 82"/>
            <p:cNvSpPr>
              <a:spLocks noChangeArrowheads="1"/>
            </p:cNvSpPr>
            <p:nvPr/>
          </p:nvSpPr>
          <p:spPr bwMode="auto">
            <a:xfrm>
              <a:off x="6473244" y="3068986"/>
              <a:ext cx="2160240" cy="828070"/>
            </a:xfrm>
            <a:prstGeom prst="roundRect">
              <a:avLst>
                <a:gd name="adj" fmla="val 16667"/>
              </a:avLst>
            </a:prstGeom>
            <a:noFill/>
            <a:ln w="6350">
              <a:solidFill>
                <a:schemeClr val="tx1"/>
              </a:solidFill>
              <a:miter lim="800000"/>
            </a:ln>
          </p:spPr>
          <p:txBody>
            <a:bodyPr lIns="432000" anchor="ctr"/>
            <a:lstStyle/>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供应链风险预案</a:t>
              </a:r>
              <a:endParaRPr lang="en-US" altLang="zh-CN" sz="1200" dirty="0">
                <a:latin typeface="微软雅黑" panose="020B0503020204020204" charset="-122"/>
                <a:ea typeface="微软雅黑" panose="020B0503020204020204" charset="-122"/>
              </a:endParaRPr>
            </a:p>
            <a:p>
              <a:pPr marL="114300" indent="-114300">
                <a:spcBef>
                  <a:spcPct val="0"/>
                </a:spcBef>
                <a:buClr>
                  <a:srgbClr val="4D4D4D"/>
                </a:buClr>
                <a:buSzPct val="60000"/>
                <a:buFont typeface="Wingdings" panose="05000000000000000000" pitchFamily="2" charset="2"/>
                <a:buChar char="l"/>
              </a:pPr>
              <a:r>
                <a:rPr lang="zh-CN" altLang="en-US" sz="1200" dirty="0">
                  <a:latin typeface="微软雅黑" panose="020B0503020204020204" charset="-122"/>
                  <a:ea typeface="微软雅黑" panose="020B0503020204020204" charset="-122"/>
                </a:rPr>
                <a:t>供应链应急机制</a:t>
              </a:r>
            </a:p>
          </p:txBody>
        </p:sp>
        <p:sp>
          <p:nvSpPr>
            <p:cNvPr id="60" name="AutoShape 5"/>
            <p:cNvSpPr>
              <a:spLocks noChangeArrowheads="1"/>
            </p:cNvSpPr>
            <p:nvPr/>
          </p:nvSpPr>
          <p:spPr bwMode="gray">
            <a:xfrm>
              <a:off x="5825172" y="3231002"/>
              <a:ext cx="1079994" cy="504039"/>
            </a:xfrm>
            <a:prstGeom prst="homePlate">
              <a:avLst>
                <a:gd name="adj" fmla="val 15592"/>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rgbClr val="000000"/>
                  </a:solidFill>
                  <a:latin typeface="微软雅黑" panose="020B0503020204020204" charset="-122"/>
                  <a:ea typeface="微软雅黑" panose="020B0503020204020204" charset="-122"/>
                </a:rPr>
                <a:t>供应链</a:t>
              </a:r>
            </a:p>
          </p:txBody>
        </p:sp>
      </p:grpSp>
      <p:sp>
        <p:nvSpPr>
          <p:cNvPr id="13" name="Isosceles Triangle 12"/>
          <p:cNvSpPr/>
          <p:nvPr/>
        </p:nvSpPr>
        <p:spPr bwMode="auto">
          <a:xfrm rot="5400000">
            <a:off x="3347864" y="2492896"/>
            <a:ext cx="2376264" cy="504056"/>
          </a:xfrm>
          <a:prstGeom prst="triangle">
            <a:avLst>
              <a:gd name="adj" fmla="val 49397"/>
            </a:avLst>
          </a:prstGeom>
          <a:solidFill>
            <a:schemeClr val="tx2">
              <a:lumMod val="20000"/>
              <a:lumOff val="80000"/>
            </a:schemeClr>
          </a:solidFill>
          <a:ln w="12700" algn="ctr">
            <a:noFill/>
            <a:miter lim="800000"/>
          </a:ln>
        </p:spPr>
        <p:txBody>
          <a:bodyPr wrap="none" tIns="91440" bIns="91440" anchor="ctr">
            <a:noAutofit/>
          </a:bodyPr>
          <a:lstStyle/>
          <a:p>
            <a:pPr algn="ctr">
              <a:lnSpc>
                <a:spcPct val="115000"/>
              </a:lnSpc>
              <a:spcBef>
                <a:spcPct val="30000"/>
              </a:spcBef>
              <a:buClr>
                <a:srgbClr val="4D4D4D"/>
              </a:buClr>
              <a:buFont typeface="Wingdings" panose="05000000000000000000" pitchFamily="2" charset="2"/>
              <a:buNone/>
            </a:pPr>
            <a:endParaRPr lang="en-US" sz="1200" kern="0">
              <a:solidFill>
                <a:srgbClr val="000000"/>
              </a:solidFill>
              <a:latin typeface="微软雅黑" panose="020B0503020204020204" charset="-122"/>
              <a:ea typeface="微软雅黑" panose="020B0503020204020204" charset="-122"/>
            </a:endParaRPr>
          </a:p>
        </p:txBody>
      </p:sp>
      <p:sp>
        <p:nvSpPr>
          <p:cNvPr id="69" name="AutoShape 20"/>
          <p:cNvSpPr/>
          <p:nvPr/>
        </p:nvSpPr>
        <p:spPr bwMode="auto">
          <a:xfrm>
            <a:off x="749264" y="1484785"/>
            <a:ext cx="173052" cy="2232248"/>
          </a:xfrm>
          <a:prstGeom prst="leftBrace">
            <a:avLst>
              <a:gd name="adj1" fmla="val 70409"/>
              <a:gd name="adj2" fmla="val 50000"/>
            </a:avLst>
          </a:prstGeom>
          <a:noFill/>
          <a:ln w="9525">
            <a:solidFill>
              <a:schemeClr val="tx1"/>
            </a:solidFill>
            <a:bevel/>
          </a:ln>
        </p:spPr>
        <p:txBody>
          <a:bodyPr wrap="none" anchor="ctr"/>
          <a:lstStyle/>
          <a:p>
            <a:endParaRPr lang="zh-CN" altLang="en-US" sz="1800">
              <a:solidFill>
                <a:srgbClr val="000000"/>
              </a:solidFill>
              <a:latin typeface="微软雅黑" panose="020B0503020204020204" charset="-122"/>
              <a:ea typeface="微软雅黑" panose="020B0503020204020204" charset="-122"/>
              <a:sym typeface="Arial" panose="020B0604020202020204" pitchFamily="34" charset="0"/>
            </a:endParaRPr>
          </a:p>
        </p:txBody>
      </p:sp>
      <p:sp>
        <p:nvSpPr>
          <p:cNvPr id="70" name="Text Box 21"/>
          <p:cNvSpPr>
            <a:spLocks noChangeArrowheads="1"/>
          </p:cNvSpPr>
          <p:nvPr/>
        </p:nvSpPr>
        <p:spPr bwMode="auto">
          <a:xfrm>
            <a:off x="179512" y="2165955"/>
            <a:ext cx="613904" cy="830997"/>
          </a:xfrm>
          <a:prstGeom prst="rect">
            <a:avLst/>
          </a:prstGeom>
          <a:noFill/>
          <a:ln>
            <a:noFill/>
          </a:ln>
        </p:spPr>
        <p:txBody>
          <a:bodyPr wrap="square">
            <a:spAutoFit/>
          </a:bodyPr>
          <a:lstStyle/>
          <a:p>
            <a:pPr algn="ctr">
              <a:spcBef>
                <a:spcPct val="50000"/>
              </a:spcBef>
            </a:pPr>
            <a:r>
              <a:rPr lang="zh-CN" altLang="en-US" sz="1600" b="1" dirty="0">
                <a:latin typeface="微软雅黑" panose="020B0503020204020204" charset="-122"/>
                <a:ea typeface="微软雅黑" panose="020B0503020204020204" charset="-122"/>
                <a:cs typeface="+mj-cs"/>
                <a:sym typeface="Arial" panose="020B0604020202020204" pitchFamily="34" charset="0"/>
              </a:rPr>
              <a:t>市场变化来源</a:t>
            </a:r>
            <a:endParaRPr lang="en-US" altLang="zh-CN" sz="1600" b="1" dirty="0">
              <a:latin typeface="微软雅黑" panose="020B0503020204020204" charset="-122"/>
              <a:ea typeface="微软雅黑" panose="020B0503020204020204" charset="-122"/>
              <a:cs typeface="+mj-cs"/>
              <a:sym typeface="Arial" panose="020B0604020202020204" pitchFamily="34" charset="0"/>
            </a:endParaRPr>
          </a:p>
        </p:txBody>
      </p:sp>
      <p:sp>
        <p:nvSpPr>
          <p:cNvPr id="71" name="AutoShape 20"/>
          <p:cNvSpPr/>
          <p:nvPr/>
        </p:nvSpPr>
        <p:spPr bwMode="auto">
          <a:xfrm>
            <a:off x="5436096" y="1484784"/>
            <a:ext cx="173052" cy="2232248"/>
          </a:xfrm>
          <a:prstGeom prst="leftBrace">
            <a:avLst>
              <a:gd name="adj1" fmla="val 70409"/>
              <a:gd name="adj2" fmla="val 50000"/>
            </a:avLst>
          </a:prstGeom>
          <a:noFill/>
          <a:ln w="9525">
            <a:solidFill>
              <a:schemeClr val="tx1"/>
            </a:solidFill>
            <a:bevel/>
          </a:ln>
        </p:spPr>
        <p:txBody>
          <a:bodyPr wrap="none" anchor="ctr"/>
          <a:lstStyle/>
          <a:p>
            <a:endParaRPr lang="zh-CN" altLang="en-US" sz="1800">
              <a:solidFill>
                <a:srgbClr val="000000"/>
              </a:solidFill>
              <a:latin typeface="微软雅黑" panose="020B0503020204020204" charset="-122"/>
              <a:ea typeface="微软雅黑" panose="020B0503020204020204" charset="-122"/>
              <a:sym typeface="Arial" panose="020B0604020202020204" pitchFamily="34" charset="0"/>
            </a:endParaRPr>
          </a:p>
        </p:txBody>
      </p:sp>
      <p:sp>
        <p:nvSpPr>
          <p:cNvPr id="72" name="Text Box 21"/>
          <p:cNvSpPr>
            <a:spLocks noChangeArrowheads="1"/>
          </p:cNvSpPr>
          <p:nvPr/>
        </p:nvSpPr>
        <p:spPr bwMode="auto">
          <a:xfrm>
            <a:off x="4860032" y="2165955"/>
            <a:ext cx="613904" cy="829945"/>
          </a:xfrm>
          <a:prstGeom prst="rect">
            <a:avLst/>
          </a:prstGeom>
          <a:noFill/>
          <a:ln>
            <a:noFill/>
          </a:ln>
        </p:spPr>
        <p:txBody>
          <a:bodyPr wrap="square">
            <a:spAutoFit/>
          </a:bodyPr>
          <a:lstStyle/>
          <a:p>
            <a:pPr algn="ctr">
              <a:spcBef>
                <a:spcPct val="50000"/>
              </a:spcBef>
            </a:pPr>
            <a:r>
              <a:rPr lang="zh-CN" altLang="en-US" sz="1600" b="1" dirty="0">
                <a:latin typeface="微软雅黑" panose="020B0503020204020204" charset="-122"/>
                <a:ea typeface="微软雅黑" panose="020B0503020204020204" charset="-122"/>
                <a:cs typeface="+mj-cs"/>
                <a:sym typeface="Arial" panose="020B0604020202020204" pitchFamily="34" charset="0"/>
              </a:rPr>
              <a:t>x应变对策</a:t>
            </a:r>
            <a:endParaRPr lang="en-US" altLang="zh-CN" sz="1600" b="1" dirty="0">
              <a:latin typeface="微软雅黑" panose="020B0503020204020204" charset="-122"/>
              <a:ea typeface="微软雅黑" panose="020B0503020204020204" charset="-122"/>
              <a:cs typeface="+mj-cs"/>
              <a:sym typeface="Arial" panose="020B0604020202020204" pitchFamily="34" charset="0"/>
            </a:endParaRPr>
          </a:p>
        </p:txBody>
      </p:sp>
      <p:sp>
        <p:nvSpPr>
          <p:cNvPr id="75" name="任意多边形 102"/>
          <p:cNvSpPr/>
          <p:nvPr/>
        </p:nvSpPr>
        <p:spPr bwMode="auto">
          <a:xfrm>
            <a:off x="689597" y="3966046"/>
            <a:ext cx="7616681" cy="559035"/>
          </a:xfrm>
          <a:custGeom>
            <a:avLst/>
            <a:gdLst>
              <a:gd name="connsiteX0" fmla="*/ 961697 w 8529145"/>
              <a:gd name="connsiteY0" fmla="*/ 78828 h 488731"/>
              <a:gd name="connsiteX1" fmla="*/ 0 w 8529145"/>
              <a:gd name="connsiteY1" fmla="*/ 488731 h 488731"/>
              <a:gd name="connsiteX2" fmla="*/ 8529145 w 8529145"/>
              <a:gd name="connsiteY2" fmla="*/ 488731 h 488731"/>
              <a:gd name="connsiteX3" fmla="*/ 3626069 w 8529145"/>
              <a:gd name="connsiteY3" fmla="*/ 31531 h 488731"/>
              <a:gd name="connsiteX4" fmla="*/ 3689131 w 8529145"/>
              <a:gd name="connsiteY4" fmla="*/ 0 h 488731"/>
              <a:gd name="connsiteX0-1" fmla="*/ 961697 w 8529145"/>
              <a:gd name="connsiteY0-2" fmla="*/ 50443 h 460346"/>
              <a:gd name="connsiteX1-3" fmla="*/ 0 w 8529145"/>
              <a:gd name="connsiteY1-4" fmla="*/ 460346 h 460346"/>
              <a:gd name="connsiteX2-5" fmla="*/ 8529145 w 8529145"/>
              <a:gd name="connsiteY2-6" fmla="*/ 460346 h 460346"/>
              <a:gd name="connsiteX3-7" fmla="*/ 3626069 w 8529145"/>
              <a:gd name="connsiteY3-8" fmla="*/ 3146 h 460346"/>
              <a:gd name="connsiteX4-9" fmla="*/ 4740060 w 8529145"/>
              <a:gd name="connsiteY4-10" fmla="*/ 2214 h 460346"/>
              <a:gd name="connsiteX0-11" fmla="*/ 961697 w 20159407"/>
              <a:gd name="connsiteY0-12" fmla="*/ 50443 h 659239"/>
              <a:gd name="connsiteX1-13" fmla="*/ 0 w 20159407"/>
              <a:gd name="connsiteY1-14" fmla="*/ 460346 h 659239"/>
              <a:gd name="connsiteX2-15" fmla="*/ 20159407 w 20159407"/>
              <a:gd name="connsiteY2-16" fmla="*/ 659239 h 659239"/>
              <a:gd name="connsiteX3-17" fmla="*/ 3626069 w 20159407"/>
              <a:gd name="connsiteY3-18" fmla="*/ 3146 h 659239"/>
              <a:gd name="connsiteX4-19" fmla="*/ 4740060 w 20159407"/>
              <a:gd name="connsiteY4-20" fmla="*/ 2214 h 659239"/>
              <a:gd name="connsiteX0-21" fmla="*/ 155986 w 19353696"/>
              <a:gd name="connsiteY0-22" fmla="*/ 50443 h 659239"/>
              <a:gd name="connsiteX1-23" fmla="*/ 0 w 19353696"/>
              <a:gd name="connsiteY1-24" fmla="*/ 460346 h 659239"/>
              <a:gd name="connsiteX2-25" fmla="*/ 19353696 w 19353696"/>
              <a:gd name="connsiteY2-26" fmla="*/ 659239 h 659239"/>
              <a:gd name="connsiteX3-27" fmla="*/ 2820358 w 19353696"/>
              <a:gd name="connsiteY3-28" fmla="*/ 3146 h 659239"/>
              <a:gd name="connsiteX4-29" fmla="*/ 3934349 w 19353696"/>
              <a:gd name="connsiteY4-30" fmla="*/ 2214 h 659239"/>
              <a:gd name="connsiteX0-31" fmla="*/ 155986 w 19353696"/>
              <a:gd name="connsiteY0-32" fmla="*/ 48229 h 657025"/>
              <a:gd name="connsiteX1-33" fmla="*/ 0 w 19353696"/>
              <a:gd name="connsiteY1-34" fmla="*/ 458132 h 657025"/>
              <a:gd name="connsiteX2-35" fmla="*/ 19353696 w 19353696"/>
              <a:gd name="connsiteY2-36" fmla="*/ 657025 h 657025"/>
              <a:gd name="connsiteX3-37" fmla="*/ 3906318 w 19353696"/>
              <a:gd name="connsiteY3-38" fmla="*/ 46831 h 657025"/>
              <a:gd name="connsiteX4-39" fmla="*/ 3934349 w 19353696"/>
              <a:gd name="connsiteY4-40" fmla="*/ 0 h 657025"/>
              <a:gd name="connsiteX0-41" fmla="*/ 155986 w 17181779"/>
              <a:gd name="connsiteY0-42" fmla="*/ 48229 h 458132"/>
              <a:gd name="connsiteX1-43" fmla="*/ 0 w 17181779"/>
              <a:gd name="connsiteY1-44" fmla="*/ 458132 h 458132"/>
              <a:gd name="connsiteX2-45" fmla="*/ 17181779 w 17181779"/>
              <a:gd name="connsiteY2-46" fmla="*/ 442832 h 458132"/>
              <a:gd name="connsiteX3-47" fmla="*/ 3906318 w 17181779"/>
              <a:gd name="connsiteY3-48" fmla="*/ 46831 h 458132"/>
              <a:gd name="connsiteX4-49" fmla="*/ 3934349 w 17181779"/>
              <a:gd name="connsiteY4-50" fmla="*/ 0 h 458132"/>
              <a:gd name="connsiteX0-51" fmla="*/ 85924 w 17111717"/>
              <a:gd name="connsiteY0-52" fmla="*/ 48229 h 488731"/>
              <a:gd name="connsiteX1-53" fmla="*/ 0 w 17111717"/>
              <a:gd name="connsiteY1-54" fmla="*/ 488731 h 488731"/>
              <a:gd name="connsiteX2-55" fmla="*/ 17111717 w 17111717"/>
              <a:gd name="connsiteY2-56" fmla="*/ 442832 h 488731"/>
              <a:gd name="connsiteX3-57" fmla="*/ 3836256 w 17111717"/>
              <a:gd name="connsiteY3-58" fmla="*/ 46831 h 488731"/>
              <a:gd name="connsiteX4-59" fmla="*/ 3864287 w 17111717"/>
              <a:gd name="connsiteY4-60" fmla="*/ 0 h 488731"/>
              <a:gd name="connsiteX0-61" fmla="*/ 85924 w 17111717"/>
              <a:gd name="connsiteY0-62" fmla="*/ 32930 h 473432"/>
              <a:gd name="connsiteX1-63" fmla="*/ 0 w 17111717"/>
              <a:gd name="connsiteY1-64" fmla="*/ 473432 h 473432"/>
              <a:gd name="connsiteX2-65" fmla="*/ 17111717 w 17111717"/>
              <a:gd name="connsiteY2-66" fmla="*/ 427533 h 473432"/>
              <a:gd name="connsiteX3-67" fmla="*/ 3836256 w 17111717"/>
              <a:gd name="connsiteY3-68" fmla="*/ 31532 h 473432"/>
              <a:gd name="connsiteX4-69" fmla="*/ 3864287 w 17111717"/>
              <a:gd name="connsiteY4-70" fmla="*/ 0 h 473432"/>
              <a:gd name="connsiteX0-71" fmla="*/ 85924 w 17111717"/>
              <a:gd name="connsiteY0-72" fmla="*/ 32930 h 473432"/>
              <a:gd name="connsiteX1-73" fmla="*/ 0 w 17111717"/>
              <a:gd name="connsiteY1-74" fmla="*/ 473432 h 473432"/>
              <a:gd name="connsiteX2-75" fmla="*/ 4900186 w 17111717"/>
              <a:gd name="connsiteY2-76" fmla="*/ 333849 h 473432"/>
              <a:gd name="connsiteX3-77" fmla="*/ 17111717 w 17111717"/>
              <a:gd name="connsiteY3-78" fmla="*/ 427533 h 473432"/>
              <a:gd name="connsiteX4-79" fmla="*/ 3836256 w 17111717"/>
              <a:gd name="connsiteY4-80" fmla="*/ 31532 h 473432"/>
              <a:gd name="connsiteX5" fmla="*/ 3864287 w 17111717"/>
              <a:gd name="connsiteY5" fmla="*/ 0 h 473432"/>
              <a:gd name="connsiteX0-81" fmla="*/ 155986 w 17181779"/>
              <a:gd name="connsiteY0-82" fmla="*/ 32930 h 427533"/>
              <a:gd name="connsiteX1-83" fmla="*/ 0 w 17181779"/>
              <a:gd name="connsiteY1-84" fmla="*/ 366335 h 427533"/>
              <a:gd name="connsiteX2-85" fmla="*/ 4970248 w 17181779"/>
              <a:gd name="connsiteY2-86" fmla="*/ 333849 h 427533"/>
              <a:gd name="connsiteX3-87" fmla="*/ 17181779 w 17181779"/>
              <a:gd name="connsiteY3-88" fmla="*/ 427533 h 427533"/>
              <a:gd name="connsiteX4-89" fmla="*/ 3906318 w 17181779"/>
              <a:gd name="connsiteY4-90" fmla="*/ 31532 h 427533"/>
              <a:gd name="connsiteX5-91" fmla="*/ 3934349 w 17181779"/>
              <a:gd name="connsiteY5-92" fmla="*/ 0 h 427533"/>
              <a:gd name="connsiteX0-93" fmla="*/ 155986 w 17181779"/>
              <a:gd name="connsiteY0-94" fmla="*/ 32930 h 427533"/>
              <a:gd name="connsiteX1-95" fmla="*/ 0 w 17181779"/>
              <a:gd name="connsiteY1-96" fmla="*/ 366335 h 427533"/>
              <a:gd name="connsiteX2-97" fmla="*/ 4970248 w 17181779"/>
              <a:gd name="connsiteY2-98" fmla="*/ 333849 h 427533"/>
              <a:gd name="connsiteX3-99" fmla="*/ 17181779 w 17181779"/>
              <a:gd name="connsiteY3-100" fmla="*/ 427533 h 427533"/>
              <a:gd name="connsiteX4-101" fmla="*/ 3906318 w 17181779"/>
              <a:gd name="connsiteY4-102" fmla="*/ 31532 h 427533"/>
              <a:gd name="connsiteX5-103" fmla="*/ 4074471 w 17181779"/>
              <a:gd name="connsiteY5-104" fmla="*/ 0 h 427533"/>
              <a:gd name="connsiteX0-105" fmla="*/ 155986 w 17181779"/>
              <a:gd name="connsiteY0-106" fmla="*/ 32930 h 427533"/>
              <a:gd name="connsiteX1-107" fmla="*/ 0 w 17181779"/>
              <a:gd name="connsiteY1-108" fmla="*/ 366335 h 427533"/>
              <a:gd name="connsiteX2-109" fmla="*/ 4970248 w 17181779"/>
              <a:gd name="connsiteY2-110" fmla="*/ 333849 h 427533"/>
              <a:gd name="connsiteX3-111" fmla="*/ 17181779 w 17181779"/>
              <a:gd name="connsiteY3-112" fmla="*/ 427533 h 427533"/>
              <a:gd name="connsiteX4-113" fmla="*/ 4011411 w 17181779"/>
              <a:gd name="connsiteY4-114" fmla="*/ 16232 h 427533"/>
              <a:gd name="connsiteX5-115" fmla="*/ 4074471 w 17181779"/>
              <a:gd name="connsiteY5-116" fmla="*/ 0 h 427533"/>
              <a:gd name="connsiteX0-117" fmla="*/ 226049 w 17181779"/>
              <a:gd name="connsiteY0-118" fmla="*/ 0 h 471100"/>
              <a:gd name="connsiteX1-119" fmla="*/ 0 w 17181779"/>
              <a:gd name="connsiteY1-120" fmla="*/ 409902 h 471100"/>
              <a:gd name="connsiteX2-121" fmla="*/ 4970248 w 17181779"/>
              <a:gd name="connsiteY2-122" fmla="*/ 377416 h 471100"/>
              <a:gd name="connsiteX3-123" fmla="*/ 17181779 w 17181779"/>
              <a:gd name="connsiteY3-124" fmla="*/ 471100 h 471100"/>
              <a:gd name="connsiteX4-125" fmla="*/ 4011411 w 17181779"/>
              <a:gd name="connsiteY4-126" fmla="*/ 59799 h 471100"/>
              <a:gd name="connsiteX5-127" fmla="*/ 4074471 w 17181779"/>
              <a:gd name="connsiteY5-128" fmla="*/ 43567 h 471100"/>
              <a:gd name="connsiteX0-129" fmla="*/ 226049 w 17181779"/>
              <a:gd name="connsiteY0-130" fmla="*/ 17631 h 488731"/>
              <a:gd name="connsiteX1-131" fmla="*/ 0 w 17181779"/>
              <a:gd name="connsiteY1-132" fmla="*/ 427533 h 488731"/>
              <a:gd name="connsiteX2-133" fmla="*/ 4970248 w 17181779"/>
              <a:gd name="connsiteY2-134" fmla="*/ 395047 h 488731"/>
              <a:gd name="connsiteX3-135" fmla="*/ 17181779 w 17181779"/>
              <a:gd name="connsiteY3-136" fmla="*/ 488731 h 488731"/>
              <a:gd name="connsiteX4-137" fmla="*/ 4011411 w 17181779"/>
              <a:gd name="connsiteY4-138" fmla="*/ 77430 h 488731"/>
              <a:gd name="connsiteX5-139" fmla="*/ 4074471 w 17181779"/>
              <a:gd name="connsiteY5-140" fmla="*/ 0 h 488731"/>
              <a:gd name="connsiteX0-141" fmla="*/ 191019 w 17181779"/>
              <a:gd name="connsiteY0-142" fmla="*/ 17631 h 488731"/>
              <a:gd name="connsiteX1-143" fmla="*/ 0 w 17181779"/>
              <a:gd name="connsiteY1-144" fmla="*/ 427533 h 488731"/>
              <a:gd name="connsiteX2-145" fmla="*/ 4970248 w 17181779"/>
              <a:gd name="connsiteY2-146" fmla="*/ 395047 h 488731"/>
              <a:gd name="connsiteX3-147" fmla="*/ 17181779 w 17181779"/>
              <a:gd name="connsiteY3-148" fmla="*/ 488731 h 488731"/>
              <a:gd name="connsiteX4-149" fmla="*/ 4011411 w 17181779"/>
              <a:gd name="connsiteY4-150" fmla="*/ 77430 h 488731"/>
              <a:gd name="connsiteX5-151" fmla="*/ 4074471 w 17181779"/>
              <a:gd name="connsiteY5-152" fmla="*/ 0 h 488731"/>
              <a:gd name="connsiteX0-153" fmla="*/ 191019 w 17181779"/>
              <a:gd name="connsiteY0-154" fmla="*/ 17631 h 488731"/>
              <a:gd name="connsiteX1-155" fmla="*/ 0 w 17181779"/>
              <a:gd name="connsiteY1-156" fmla="*/ 427533 h 488731"/>
              <a:gd name="connsiteX2-157" fmla="*/ 4970248 w 17181779"/>
              <a:gd name="connsiteY2-158" fmla="*/ 395047 h 488731"/>
              <a:gd name="connsiteX3-159" fmla="*/ 17181779 w 17181779"/>
              <a:gd name="connsiteY3-160" fmla="*/ 488731 h 488731"/>
              <a:gd name="connsiteX4-161" fmla="*/ 4011411 w 17181779"/>
              <a:gd name="connsiteY4-162" fmla="*/ 46831 h 488731"/>
              <a:gd name="connsiteX5-163" fmla="*/ 4074471 w 17181779"/>
              <a:gd name="connsiteY5-164" fmla="*/ 0 h 488731"/>
              <a:gd name="connsiteX0-165" fmla="*/ 191019 w 17181779"/>
              <a:gd name="connsiteY0-166" fmla="*/ 17631 h 488731"/>
              <a:gd name="connsiteX1-167" fmla="*/ 0 w 17181779"/>
              <a:gd name="connsiteY1-168" fmla="*/ 427533 h 488731"/>
              <a:gd name="connsiteX2-169" fmla="*/ 4970248 w 17181779"/>
              <a:gd name="connsiteY2-170" fmla="*/ 395047 h 488731"/>
              <a:gd name="connsiteX3-171" fmla="*/ 17181779 w 17181779"/>
              <a:gd name="connsiteY3-172" fmla="*/ 488731 h 488731"/>
              <a:gd name="connsiteX4-173" fmla="*/ 4046443 w 17181779"/>
              <a:gd name="connsiteY4-174" fmla="*/ 31532 h 488731"/>
              <a:gd name="connsiteX5-175" fmla="*/ 4074471 w 17181779"/>
              <a:gd name="connsiteY5-176" fmla="*/ 0 h 488731"/>
              <a:gd name="connsiteX0-177" fmla="*/ 191019 w 17181779"/>
              <a:gd name="connsiteY0-178" fmla="*/ 0 h 471100"/>
              <a:gd name="connsiteX1-179" fmla="*/ 0 w 17181779"/>
              <a:gd name="connsiteY1-180" fmla="*/ 409902 h 471100"/>
              <a:gd name="connsiteX2-181" fmla="*/ 4970248 w 17181779"/>
              <a:gd name="connsiteY2-182" fmla="*/ 377416 h 471100"/>
              <a:gd name="connsiteX3-183" fmla="*/ 17181779 w 17181779"/>
              <a:gd name="connsiteY3-184" fmla="*/ 471100 h 471100"/>
              <a:gd name="connsiteX4-185" fmla="*/ 4046443 w 17181779"/>
              <a:gd name="connsiteY4-186" fmla="*/ 13901 h 471100"/>
              <a:gd name="connsiteX5-187" fmla="*/ 3947484 w 17181779"/>
              <a:gd name="connsiteY5-188" fmla="*/ 12968 h 471100"/>
              <a:gd name="connsiteX0-189" fmla="*/ 191019 w 17181779"/>
              <a:gd name="connsiteY0-190" fmla="*/ 32930 h 504030"/>
              <a:gd name="connsiteX1-191" fmla="*/ 0 w 17181779"/>
              <a:gd name="connsiteY1-192" fmla="*/ 442832 h 504030"/>
              <a:gd name="connsiteX2-193" fmla="*/ 4970248 w 17181779"/>
              <a:gd name="connsiteY2-194" fmla="*/ 410346 h 504030"/>
              <a:gd name="connsiteX3-195" fmla="*/ 17181779 w 17181779"/>
              <a:gd name="connsiteY3-196" fmla="*/ 504030 h 504030"/>
              <a:gd name="connsiteX4-197" fmla="*/ 4046443 w 17181779"/>
              <a:gd name="connsiteY4-198" fmla="*/ 46831 h 504030"/>
              <a:gd name="connsiteX5-199" fmla="*/ 3947484 w 17181779"/>
              <a:gd name="connsiteY5-200" fmla="*/ 0 h 504030"/>
              <a:gd name="connsiteX0-201" fmla="*/ 286259 w 17181779"/>
              <a:gd name="connsiteY0-202" fmla="*/ 0 h 547597"/>
              <a:gd name="connsiteX1-203" fmla="*/ 0 w 17181779"/>
              <a:gd name="connsiteY1-204" fmla="*/ 486399 h 547597"/>
              <a:gd name="connsiteX2-205" fmla="*/ 4970248 w 17181779"/>
              <a:gd name="connsiteY2-206" fmla="*/ 453913 h 547597"/>
              <a:gd name="connsiteX3-207" fmla="*/ 17181779 w 17181779"/>
              <a:gd name="connsiteY3-208" fmla="*/ 547597 h 547597"/>
              <a:gd name="connsiteX4-209" fmla="*/ 4046443 w 17181779"/>
              <a:gd name="connsiteY4-210" fmla="*/ 90398 h 547597"/>
              <a:gd name="connsiteX5-211" fmla="*/ 3947484 w 17181779"/>
              <a:gd name="connsiteY5-212" fmla="*/ 43567 h 547597"/>
              <a:gd name="connsiteX0-213" fmla="*/ 222766 w 17181779"/>
              <a:gd name="connsiteY0-214" fmla="*/ 17631 h 504030"/>
              <a:gd name="connsiteX1-215" fmla="*/ 0 w 17181779"/>
              <a:gd name="connsiteY1-216" fmla="*/ 442832 h 504030"/>
              <a:gd name="connsiteX2-217" fmla="*/ 4970248 w 17181779"/>
              <a:gd name="connsiteY2-218" fmla="*/ 410346 h 504030"/>
              <a:gd name="connsiteX3-219" fmla="*/ 17181779 w 17181779"/>
              <a:gd name="connsiteY3-220" fmla="*/ 504030 h 504030"/>
              <a:gd name="connsiteX4-221" fmla="*/ 4046443 w 17181779"/>
              <a:gd name="connsiteY4-222" fmla="*/ 46831 h 504030"/>
              <a:gd name="connsiteX5-223" fmla="*/ 3947484 w 17181779"/>
              <a:gd name="connsiteY5-224" fmla="*/ 0 h 504030"/>
              <a:gd name="connsiteX0-225" fmla="*/ 222766 w 17181779"/>
              <a:gd name="connsiteY0-226" fmla="*/ 17631 h 504030"/>
              <a:gd name="connsiteX1-227" fmla="*/ 0 w 17181779"/>
              <a:gd name="connsiteY1-228" fmla="*/ 442832 h 504030"/>
              <a:gd name="connsiteX2-229" fmla="*/ 4970248 w 17181779"/>
              <a:gd name="connsiteY2-230" fmla="*/ 410346 h 504030"/>
              <a:gd name="connsiteX3-231" fmla="*/ 17181779 w 17181779"/>
              <a:gd name="connsiteY3-232" fmla="*/ 504030 h 504030"/>
              <a:gd name="connsiteX4-233" fmla="*/ 3824216 w 17181779"/>
              <a:gd name="connsiteY4-234" fmla="*/ 16232 h 504030"/>
              <a:gd name="connsiteX5-235" fmla="*/ 3947484 w 17181779"/>
              <a:gd name="connsiteY5-236" fmla="*/ 0 h 504030"/>
              <a:gd name="connsiteX0-237" fmla="*/ 222766 w 17181779"/>
              <a:gd name="connsiteY0-238" fmla="*/ 32930 h 519329"/>
              <a:gd name="connsiteX1-239" fmla="*/ 0 w 17181779"/>
              <a:gd name="connsiteY1-240" fmla="*/ 458131 h 519329"/>
              <a:gd name="connsiteX2-241" fmla="*/ 4970248 w 17181779"/>
              <a:gd name="connsiteY2-242" fmla="*/ 425645 h 519329"/>
              <a:gd name="connsiteX3-243" fmla="*/ 17181779 w 17181779"/>
              <a:gd name="connsiteY3-244" fmla="*/ 519329 h 519329"/>
              <a:gd name="connsiteX4-245" fmla="*/ 3824216 w 17181779"/>
              <a:gd name="connsiteY4-246" fmla="*/ 31531 h 519329"/>
              <a:gd name="connsiteX5-247" fmla="*/ 3852246 w 17181779"/>
              <a:gd name="connsiteY5-248" fmla="*/ 0 h 519329"/>
              <a:gd name="connsiteX0-249" fmla="*/ 222766 w 17181779"/>
              <a:gd name="connsiteY0-250" fmla="*/ 49271 h 535670"/>
              <a:gd name="connsiteX1-251" fmla="*/ 0 w 17181779"/>
              <a:gd name="connsiteY1-252" fmla="*/ 474472 h 535670"/>
              <a:gd name="connsiteX2-253" fmla="*/ 4970248 w 17181779"/>
              <a:gd name="connsiteY2-254" fmla="*/ 441986 h 535670"/>
              <a:gd name="connsiteX3-255" fmla="*/ 17181779 w 17181779"/>
              <a:gd name="connsiteY3-256" fmla="*/ 535670 h 535670"/>
              <a:gd name="connsiteX4-257" fmla="*/ 3855962 w 17181779"/>
              <a:gd name="connsiteY4-258" fmla="*/ 1973 h 535670"/>
              <a:gd name="connsiteX5-259" fmla="*/ 3852246 w 17181779"/>
              <a:gd name="connsiteY5-260" fmla="*/ 16341 h 535670"/>
              <a:gd name="connsiteX0-261" fmla="*/ 222766 w 17181779"/>
              <a:gd name="connsiteY0-262" fmla="*/ 48437 h 534836"/>
              <a:gd name="connsiteX1-263" fmla="*/ 0 w 17181779"/>
              <a:gd name="connsiteY1-264" fmla="*/ 473638 h 534836"/>
              <a:gd name="connsiteX2-265" fmla="*/ 4970248 w 17181779"/>
              <a:gd name="connsiteY2-266" fmla="*/ 441152 h 534836"/>
              <a:gd name="connsiteX3-267" fmla="*/ 17181779 w 17181779"/>
              <a:gd name="connsiteY3-268" fmla="*/ 534836 h 534836"/>
              <a:gd name="connsiteX4-269" fmla="*/ 3855962 w 17181779"/>
              <a:gd name="connsiteY4-270" fmla="*/ 1139 h 534836"/>
              <a:gd name="connsiteX5-271" fmla="*/ 4042726 w 17181779"/>
              <a:gd name="connsiteY5-272" fmla="*/ 46106 h 534836"/>
              <a:gd name="connsiteX0-273" fmla="*/ 222766 w 17181779"/>
              <a:gd name="connsiteY0-274" fmla="*/ 2331 h 488730"/>
              <a:gd name="connsiteX1-275" fmla="*/ 0 w 17181779"/>
              <a:gd name="connsiteY1-276" fmla="*/ 427532 h 488730"/>
              <a:gd name="connsiteX2-277" fmla="*/ 4970248 w 17181779"/>
              <a:gd name="connsiteY2-278" fmla="*/ 395046 h 488730"/>
              <a:gd name="connsiteX3-279" fmla="*/ 17181779 w 17181779"/>
              <a:gd name="connsiteY3-280" fmla="*/ 488730 h 488730"/>
              <a:gd name="connsiteX4-281" fmla="*/ 4046440 w 17181779"/>
              <a:gd name="connsiteY4-282" fmla="*/ 16231 h 488730"/>
              <a:gd name="connsiteX5-283" fmla="*/ 4042726 w 17181779"/>
              <a:gd name="connsiteY5-284" fmla="*/ 0 h 488730"/>
              <a:gd name="connsiteX0-285" fmla="*/ 222766 w 17181779"/>
              <a:gd name="connsiteY0-286" fmla="*/ 461316 h 947715"/>
              <a:gd name="connsiteX1-287" fmla="*/ 0 w 17181779"/>
              <a:gd name="connsiteY1-288" fmla="*/ 886517 h 947715"/>
              <a:gd name="connsiteX2-289" fmla="*/ 4970248 w 17181779"/>
              <a:gd name="connsiteY2-290" fmla="*/ 854031 h 947715"/>
              <a:gd name="connsiteX3-291" fmla="*/ 17181779 w 17181779"/>
              <a:gd name="connsiteY3-292" fmla="*/ 947715 h 947715"/>
              <a:gd name="connsiteX4-293" fmla="*/ 4046440 w 17181779"/>
              <a:gd name="connsiteY4-294" fmla="*/ 475216 h 947715"/>
              <a:gd name="connsiteX5-295" fmla="*/ 9810466 w 17181779"/>
              <a:gd name="connsiteY5-296" fmla="*/ 0 h 947715"/>
              <a:gd name="connsiteX0-297" fmla="*/ 7800595 w 17181779"/>
              <a:gd name="connsiteY0-298" fmla="*/ 0 h 975983"/>
              <a:gd name="connsiteX1-299" fmla="*/ 0 w 17181779"/>
              <a:gd name="connsiteY1-300" fmla="*/ 914785 h 975983"/>
              <a:gd name="connsiteX2-301" fmla="*/ 4970248 w 17181779"/>
              <a:gd name="connsiteY2-302" fmla="*/ 882299 h 975983"/>
              <a:gd name="connsiteX3-303" fmla="*/ 17181779 w 17181779"/>
              <a:gd name="connsiteY3-304" fmla="*/ 975983 h 975983"/>
              <a:gd name="connsiteX4-305" fmla="*/ 4046440 w 17181779"/>
              <a:gd name="connsiteY4-306" fmla="*/ 503484 h 975983"/>
              <a:gd name="connsiteX5-307" fmla="*/ 9810466 w 17181779"/>
              <a:gd name="connsiteY5-308" fmla="*/ 28268 h 975983"/>
              <a:gd name="connsiteX0-309" fmla="*/ 7800595 w 17181779"/>
              <a:gd name="connsiteY0-310" fmla="*/ 0 h 975983"/>
              <a:gd name="connsiteX1-311" fmla="*/ 0 w 17181779"/>
              <a:gd name="connsiteY1-312" fmla="*/ 914785 h 975983"/>
              <a:gd name="connsiteX2-313" fmla="*/ 4970248 w 17181779"/>
              <a:gd name="connsiteY2-314" fmla="*/ 882299 h 975983"/>
              <a:gd name="connsiteX3-315" fmla="*/ 17181779 w 17181779"/>
              <a:gd name="connsiteY3-316" fmla="*/ 975983 h 975983"/>
              <a:gd name="connsiteX4-317" fmla="*/ 12421936 w 17181779"/>
              <a:gd name="connsiteY4-318" fmla="*/ 381088 h 975983"/>
              <a:gd name="connsiteX5-319" fmla="*/ 9810466 w 17181779"/>
              <a:gd name="connsiteY5-320" fmla="*/ 28268 h 975983"/>
              <a:gd name="connsiteX0-321" fmla="*/ 7800595 w 12886653"/>
              <a:gd name="connsiteY0-322" fmla="*/ 0 h 975983"/>
              <a:gd name="connsiteX1-323" fmla="*/ 0 w 12886653"/>
              <a:gd name="connsiteY1-324" fmla="*/ 914785 h 975983"/>
              <a:gd name="connsiteX2-325" fmla="*/ 4970248 w 12886653"/>
              <a:gd name="connsiteY2-326" fmla="*/ 882299 h 975983"/>
              <a:gd name="connsiteX3-327" fmla="*/ 12886653 w 12886653"/>
              <a:gd name="connsiteY3-328" fmla="*/ 975983 h 975983"/>
              <a:gd name="connsiteX4-329" fmla="*/ 12421936 w 12886653"/>
              <a:gd name="connsiteY4-330" fmla="*/ 381088 h 975983"/>
              <a:gd name="connsiteX5-331" fmla="*/ 9810466 w 12886653"/>
              <a:gd name="connsiteY5-332" fmla="*/ 28268 h 975983"/>
              <a:gd name="connsiteX0-333" fmla="*/ 7800595 w 12886653"/>
              <a:gd name="connsiteY0-334" fmla="*/ 0 h 975983"/>
              <a:gd name="connsiteX1-335" fmla="*/ 0 w 12886653"/>
              <a:gd name="connsiteY1-336" fmla="*/ 914785 h 975983"/>
              <a:gd name="connsiteX2-337" fmla="*/ 4970248 w 12886653"/>
              <a:gd name="connsiteY2-338" fmla="*/ 882299 h 975983"/>
              <a:gd name="connsiteX3-339" fmla="*/ 12886653 w 12886653"/>
              <a:gd name="connsiteY3-340" fmla="*/ 975983 h 975983"/>
              <a:gd name="connsiteX4-341" fmla="*/ 11900384 w 12886653"/>
              <a:gd name="connsiteY4-342" fmla="*/ 656479 h 975983"/>
              <a:gd name="connsiteX5-343" fmla="*/ 9810466 w 12886653"/>
              <a:gd name="connsiteY5-344" fmla="*/ 28268 h 975983"/>
              <a:gd name="connsiteX0-345" fmla="*/ 7647198 w 12886653"/>
              <a:gd name="connsiteY0-346" fmla="*/ 63529 h 947715"/>
              <a:gd name="connsiteX1-347" fmla="*/ 0 w 12886653"/>
              <a:gd name="connsiteY1-348" fmla="*/ 886517 h 947715"/>
              <a:gd name="connsiteX2-349" fmla="*/ 4970248 w 12886653"/>
              <a:gd name="connsiteY2-350" fmla="*/ 854031 h 947715"/>
              <a:gd name="connsiteX3-351" fmla="*/ 12886653 w 12886653"/>
              <a:gd name="connsiteY3-352" fmla="*/ 947715 h 947715"/>
              <a:gd name="connsiteX4-353" fmla="*/ 11900384 w 12886653"/>
              <a:gd name="connsiteY4-354" fmla="*/ 628211 h 947715"/>
              <a:gd name="connsiteX5-355" fmla="*/ 9810466 w 12886653"/>
              <a:gd name="connsiteY5-356" fmla="*/ 0 h 947715"/>
              <a:gd name="connsiteX0-357" fmla="*/ 7647198 w 12886653"/>
              <a:gd name="connsiteY0-358" fmla="*/ 2331 h 886517"/>
              <a:gd name="connsiteX1-359" fmla="*/ 0 w 12886653"/>
              <a:gd name="connsiteY1-360" fmla="*/ 825319 h 886517"/>
              <a:gd name="connsiteX2-361" fmla="*/ 4970248 w 12886653"/>
              <a:gd name="connsiteY2-362" fmla="*/ 792833 h 886517"/>
              <a:gd name="connsiteX3-363" fmla="*/ 12886653 w 12886653"/>
              <a:gd name="connsiteY3-364" fmla="*/ 886517 h 886517"/>
              <a:gd name="connsiteX4-365" fmla="*/ 11900384 w 12886653"/>
              <a:gd name="connsiteY4-366" fmla="*/ 567013 h 886517"/>
              <a:gd name="connsiteX5-367" fmla="*/ 9810466 w 12886653"/>
              <a:gd name="connsiteY5-368" fmla="*/ 0 h 886517"/>
              <a:gd name="connsiteX0-369" fmla="*/ 9665040 w 12886653"/>
              <a:gd name="connsiteY0-370" fmla="*/ 60354 h 886517"/>
              <a:gd name="connsiteX1-371" fmla="*/ 0 w 12886653"/>
              <a:gd name="connsiteY1-372" fmla="*/ 825319 h 886517"/>
              <a:gd name="connsiteX2-373" fmla="*/ 4970248 w 12886653"/>
              <a:gd name="connsiteY2-374" fmla="*/ 792833 h 886517"/>
              <a:gd name="connsiteX3-375" fmla="*/ 12886653 w 12886653"/>
              <a:gd name="connsiteY3-376" fmla="*/ 886517 h 886517"/>
              <a:gd name="connsiteX4-377" fmla="*/ 11900384 w 12886653"/>
              <a:gd name="connsiteY4-378" fmla="*/ 567013 h 886517"/>
              <a:gd name="connsiteX5-379" fmla="*/ 9810466 w 12886653"/>
              <a:gd name="connsiteY5-380" fmla="*/ 0 h 886517"/>
              <a:gd name="connsiteX0-381" fmla="*/ 9665040 w 12886653"/>
              <a:gd name="connsiteY0-382" fmla="*/ 2331 h 828494"/>
              <a:gd name="connsiteX1-383" fmla="*/ 0 w 12886653"/>
              <a:gd name="connsiteY1-384" fmla="*/ 767296 h 828494"/>
              <a:gd name="connsiteX2-385" fmla="*/ 4970248 w 12886653"/>
              <a:gd name="connsiteY2-386" fmla="*/ 734810 h 828494"/>
              <a:gd name="connsiteX3-387" fmla="*/ 12886653 w 12886653"/>
              <a:gd name="connsiteY3-388" fmla="*/ 828494 h 828494"/>
              <a:gd name="connsiteX4-389" fmla="*/ 11900384 w 12886653"/>
              <a:gd name="connsiteY4-390" fmla="*/ 508990 h 828494"/>
              <a:gd name="connsiteX5-391" fmla="*/ 12728153 w 12886653"/>
              <a:gd name="connsiteY5-392" fmla="*/ 0 h 828494"/>
              <a:gd name="connsiteX0-393" fmla="*/ 9665040 w 12886653"/>
              <a:gd name="connsiteY0-394" fmla="*/ 2331 h 828494"/>
              <a:gd name="connsiteX1-395" fmla="*/ 0 w 12886653"/>
              <a:gd name="connsiteY1-396" fmla="*/ 767296 h 828494"/>
              <a:gd name="connsiteX2-397" fmla="*/ 4970248 w 12886653"/>
              <a:gd name="connsiteY2-398" fmla="*/ 734810 h 828494"/>
              <a:gd name="connsiteX3-399" fmla="*/ 12886653 w 12886653"/>
              <a:gd name="connsiteY3-400" fmla="*/ 828494 h 828494"/>
              <a:gd name="connsiteX4-401" fmla="*/ 12500284 w 12886653"/>
              <a:gd name="connsiteY4-402" fmla="*/ 625036 h 828494"/>
              <a:gd name="connsiteX5-403" fmla="*/ 12728153 w 12886653"/>
              <a:gd name="connsiteY5-404" fmla="*/ 0 h 828494"/>
              <a:gd name="connsiteX0-405" fmla="*/ 9665040 w 12728153"/>
              <a:gd name="connsiteY0-406" fmla="*/ 2331 h 915528"/>
              <a:gd name="connsiteX1-407" fmla="*/ 0 w 12728153"/>
              <a:gd name="connsiteY1-408" fmla="*/ 767296 h 915528"/>
              <a:gd name="connsiteX2-409" fmla="*/ 4970248 w 12728153"/>
              <a:gd name="connsiteY2-410" fmla="*/ 734810 h 915528"/>
              <a:gd name="connsiteX3-411" fmla="*/ 12613973 w 12728153"/>
              <a:gd name="connsiteY3-412" fmla="*/ 915528 h 915528"/>
              <a:gd name="connsiteX4-413" fmla="*/ 12500284 w 12728153"/>
              <a:gd name="connsiteY4-414" fmla="*/ 625036 h 915528"/>
              <a:gd name="connsiteX5-415" fmla="*/ 12728153 w 12728153"/>
              <a:gd name="connsiteY5-416" fmla="*/ 0 h 915528"/>
              <a:gd name="connsiteX0-417" fmla="*/ 9665040 w 12613974"/>
              <a:gd name="connsiteY0-418" fmla="*/ 60354 h 973551"/>
              <a:gd name="connsiteX1-419" fmla="*/ 0 w 12613974"/>
              <a:gd name="connsiteY1-420" fmla="*/ 825319 h 973551"/>
              <a:gd name="connsiteX2-421" fmla="*/ 4970248 w 12613974"/>
              <a:gd name="connsiteY2-422" fmla="*/ 792833 h 973551"/>
              <a:gd name="connsiteX3-423" fmla="*/ 12613973 w 12613974"/>
              <a:gd name="connsiteY3-424" fmla="*/ 973551 h 973551"/>
              <a:gd name="connsiteX4-425" fmla="*/ 12500284 w 12613974"/>
              <a:gd name="connsiteY4-426" fmla="*/ 683059 h 973551"/>
              <a:gd name="connsiteX5-427" fmla="*/ 12591813 w 12613974"/>
              <a:gd name="connsiteY5-428" fmla="*/ 0 h 973551"/>
              <a:gd name="connsiteX0-429" fmla="*/ 9665040 w 12613972"/>
              <a:gd name="connsiteY0-430" fmla="*/ 60354 h 973551"/>
              <a:gd name="connsiteX1-431" fmla="*/ 0 w 12613972"/>
              <a:gd name="connsiteY1-432" fmla="*/ 825319 h 973551"/>
              <a:gd name="connsiteX2-433" fmla="*/ 4970248 w 12613972"/>
              <a:gd name="connsiteY2-434" fmla="*/ 792833 h 973551"/>
              <a:gd name="connsiteX3-435" fmla="*/ 12613973 w 12613972"/>
              <a:gd name="connsiteY3-436" fmla="*/ 973551 h 973551"/>
              <a:gd name="connsiteX4-437" fmla="*/ 12582089 w 12613972"/>
              <a:gd name="connsiteY4-438" fmla="*/ 683059 h 973551"/>
              <a:gd name="connsiteX5-439" fmla="*/ 12591813 w 12613972"/>
              <a:gd name="connsiteY5-440" fmla="*/ 0 h 973551"/>
              <a:gd name="connsiteX0-441" fmla="*/ 9665040 w 12613974"/>
              <a:gd name="connsiteY0-442" fmla="*/ 60354 h 973551"/>
              <a:gd name="connsiteX1-443" fmla="*/ 0 w 12613974"/>
              <a:gd name="connsiteY1-444" fmla="*/ 825319 h 973551"/>
              <a:gd name="connsiteX2-445" fmla="*/ 4970248 w 12613974"/>
              <a:gd name="connsiteY2-446" fmla="*/ 908879 h 973551"/>
              <a:gd name="connsiteX3-447" fmla="*/ 12613973 w 12613974"/>
              <a:gd name="connsiteY3-448" fmla="*/ 973551 h 973551"/>
              <a:gd name="connsiteX4-449" fmla="*/ 12582089 w 12613974"/>
              <a:gd name="connsiteY4-450" fmla="*/ 683059 h 973551"/>
              <a:gd name="connsiteX5-451" fmla="*/ 12591813 w 12613974"/>
              <a:gd name="connsiteY5-452" fmla="*/ 0 h 973551"/>
              <a:gd name="connsiteX0-453" fmla="*/ 9665040 w 12613972"/>
              <a:gd name="connsiteY0-454" fmla="*/ 60354 h 973551"/>
              <a:gd name="connsiteX1-455" fmla="*/ 0 w 12613972"/>
              <a:gd name="connsiteY1-456" fmla="*/ 825319 h 973551"/>
              <a:gd name="connsiteX2-457" fmla="*/ 4970248 w 12613972"/>
              <a:gd name="connsiteY2-458" fmla="*/ 908879 h 973551"/>
              <a:gd name="connsiteX3-459" fmla="*/ 12613973 w 12613972"/>
              <a:gd name="connsiteY3-460" fmla="*/ 973551 h 973551"/>
              <a:gd name="connsiteX4-461" fmla="*/ 12582089 w 12613972"/>
              <a:gd name="connsiteY4-462" fmla="*/ 683059 h 973551"/>
              <a:gd name="connsiteX5-463" fmla="*/ 12591813 w 12613972"/>
              <a:gd name="connsiteY5-464" fmla="*/ 0 h 973551"/>
              <a:gd name="connsiteX0-465" fmla="*/ 9774112 w 12723046"/>
              <a:gd name="connsiteY0-466" fmla="*/ 60354 h 979890"/>
              <a:gd name="connsiteX1-467" fmla="*/ 0 w 12723046"/>
              <a:gd name="connsiteY1-468" fmla="*/ 941366 h 979890"/>
              <a:gd name="connsiteX2-469" fmla="*/ 5079320 w 12723046"/>
              <a:gd name="connsiteY2-470" fmla="*/ 908879 h 979890"/>
              <a:gd name="connsiteX3-471" fmla="*/ 12723045 w 12723046"/>
              <a:gd name="connsiteY3-472" fmla="*/ 973551 h 979890"/>
              <a:gd name="connsiteX4-473" fmla="*/ 12691161 w 12723046"/>
              <a:gd name="connsiteY4-474" fmla="*/ 683059 h 979890"/>
              <a:gd name="connsiteX5-475" fmla="*/ 12700885 w 12723046"/>
              <a:gd name="connsiteY5-476" fmla="*/ 0 h 979890"/>
              <a:gd name="connsiteX0-477" fmla="*/ 9774112 w 12700885"/>
              <a:gd name="connsiteY0-478" fmla="*/ 60354 h 979888"/>
              <a:gd name="connsiteX1-479" fmla="*/ 0 w 12700885"/>
              <a:gd name="connsiteY1-480" fmla="*/ 941366 h 979888"/>
              <a:gd name="connsiteX2-481" fmla="*/ 5079320 w 12700885"/>
              <a:gd name="connsiteY2-482" fmla="*/ 908879 h 979888"/>
              <a:gd name="connsiteX3-483" fmla="*/ 12586704 w 12700885"/>
              <a:gd name="connsiteY3-484" fmla="*/ 944541 h 979888"/>
              <a:gd name="connsiteX4-485" fmla="*/ 12691161 w 12700885"/>
              <a:gd name="connsiteY4-486" fmla="*/ 683059 h 979888"/>
              <a:gd name="connsiteX5-487" fmla="*/ 12700885 w 12700885"/>
              <a:gd name="connsiteY5-488" fmla="*/ 0 h 979888"/>
              <a:gd name="connsiteX0-489" fmla="*/ 9774112 w 12700885"/>
              <a:gd name="connsiteY0-490" fmla="*/ 60354 h 979890"/>
              <a:gd name="connsiteX1-491" fmla="*/ 0 w 12700885"/>
              <a:gd name="connsiteY1-492" fmla="*/ 941366 h 979890"/>
              <a:gd name="connsiteX2-493" fmla="*/ 5079320 w 12700885"/>
              <a:gd name="connsiteY2-494" fmla="*/ 908880 h 979890"/>
              <a:gd name="connsiteX3-495" fmla="*/ 12586704 w 12700885"/>
              <a:gd name="connsiteY3-496" fmla="*/ 944541 h 979890"/>
              <a:gd name="connsiteX4-497" fmla="*/ 12691161 w 12700885"/>
              <a:gd name="connsiteY4-498" fmla="*/ 683059 h 979890"/>
              <a:gd name="connsiteX5-499" fmla="*/ 12700885 w 12700885"/>
              <a:gd name="connsiteY5-500" fmla="*/ 0 h 979890"/>
              <a:gd name="connsiteX0-501" fmla="*/ 9774112 w 12700885"/>
              <a:gd name="connsiteY0-502" fmla="*/ 60354 h 979890"/>
              <a:gd name="connsiteX1-503" fmla="*/ 0 w 12700885"/>
              <a:gd name="connsiteY1-504" fmla="*/ 941366 h 979890"/>
              <a:gd name="connsiteX2-505" fmla="*/ 5079320 w 12700885"/>
              <a:gd name="connsiteY2-506" fmla="*/ 908880 h 979890"/>
              <a:gd name="connsiteX3-507" fmla="*/ 12586704 w 12700885"/>
              <a:gd name="connsiteY3-508" fmla="*/ 944541 h 979890"/>
              <a:gd name="connsiteX4-509" fmla="*/ 12582090 w 12700885"/>
              <a:gd name="connsiteY4-510" fmla="*/ 683059 h 979890"/>
              <a:gd name="connsiteX5-511" fmla="*/ 12700885 w 12700885"/>
              <a:gd name="connsiteY5-512" fmla="*/ 0 h 979890"/>
              <a:gd name="connsiteX0-513" fmla="*/ 9774112 w 12586704"/>
              <a:gd name="connsiteY0-514" fmla="*/ 89367 h 1008903"/>
              <a:gd name="connsiteX1-515" fmla="*/ 0 w 12586704"/>
              <a:gd name="connsiteY1-516" fmla="*/ 970379 h 1008903"/>
              <a:gd name="connsiteX2-517" fmla="*/ 5079320 w 12586704"/>
              <a:gd name="connsiteY2-518" fmla="*/ 937893 h 1008903"/>
              <a:gd name="connsiteX3-519" fmla="*/ 12586704 w 12586704"/>
              <a:gd name="connsiteY3-520" fmla="*/ 973554 h 1008903"/>
              <a:gd name="connsiteX4-521" fmla="*/ 12582090 w 12586704"/>
              <a:gd name="connsiteY4-522" fmla="*/ 712072 h 1008903"/>
              <a:gd name="connsiteX5-523" fmla="*/ 12537277 w 12586704"/>
              <a:gd name="connsiteY5-524" fmla="*/ 0 h 1008903"/>
              <a:gd name="connsiteX0-525" fmla="*/ 9774112 w 12586704"/>
              <a:gd name="connsiteY0-526" fmla="*/ 31343 h 950879"/>
              <a:gd name="connsiteX1-527" fmla="*/ 0 w 12586704"/>
              <a:gd name="connsiteY1-528" fmla="*/ 912355 h 950879"/>
              <a:gd name="connsiteX2-529" fmla="*/ 5079320 w 12586704"/>
              <a:gd name="connsiteY2-530" fmla="*/ 879869 h 950879"/>
              <a:gd name="connsiteX3-531" fmla="*/ 12586704 w 12586704"/>
              <a:gd name="connsiteY3-532" fmla="*/ 915530 h 950879"/>
              <a:gd name="connsiteX4-533" fmla="*/ 12582090 w 12586704"/>
              <a:gd name="connsiteY4-534" fmla="*/ 654048 h 950879"/>
              <a:gd name="connsiteX5-535" fmla="*/ 12537279 w 12586704"/>
              <a:gd name="connsiteY5-536" fmla="*/ 0 h 950879"/>
              <a:gd name="connsiteX0-537" fmla="*/ 9774112 w 12586704"/>
              <a:gd name="connsiteY0-538" fmla="*/ 60354 h 979890"/>
              <a:gd name="connsiteX1-539" fmla="*/ 0 w 12586704"/>
              <a:gd name="connsiteY1-540" fmla="*/ 941366 h 979890"/>
              <a:gd name="connsiteX2-541" fmla="*/ 5079320 w 12586704"/>
              <a:gd name="connsiteY2-542" fmla="*/ 908880 h 979890"/>
              <a:gd name="connsiteX3-543" fmla="*/ 12586704 w 12586704"/>
              <a:gd name="connsiteY3-544" fmla="*/ 944541 h 979890"/>
              <a:gd name="connsiteX4-545" fmla="*/ 12582090 w 12586704"/>
              <a:gd name="connsiteY4-546" fmla="*/ 683059 h 979890"/>
              <a:gd name="connsiteX5-547" fmla="*/ 12564548 w 12586704"/>
              <a:gd name="connsiteY5-548" fmla="*/ 0 h 979890"/>
              <a:gd name="connsiteX0-549" fmla="*/ 9774112 w 12619085"/>
              <a:gd name="connsiteY0-550" fmla="*/ 0 h 919536"/>
              <a:gd name="connsiteX1-551" fmla="*/ 0 w 12619085"/>
              <a:gd name="connsiteY1-552" fmla="*/ 881012 h 919536"/>
              <a:gd name="connsiteX2-553" fmla="*/ 5079320 w 12619085"/>
              <a:gd name="connsiteY2-554" fmla="*/ 848526 h 919536"/>
              <a:gd name="connsiteX3-555" fmla="*/ 12586704 w 12619085"/>
              <a:gd name="connsiteY3-556" fmla="*/ 884187 h 919536"/>
              <a:gd name="connsiteX4-557" fmla="*/ 12582090 w 12619085"/>
              <a:gd name="connsiteY4-558" fmla="*/ 622705 h 919536"/>
              <a:gd name="connsiteX5-559" fmla="*/ 12619085 w 12619085"/>
              <a:gd name="connsiteY5-560" fmla="*/ 55693 h 919536"/>
              <a:gd name="connsiteX0-561" fmla="*/ 9774112 w 12591816"/>
              <a:gd name="connsiteY0-562" fmla="*/ 2330 h 921866"/>
              <a:gd name="connsiteX1-563" fmla="*/ 0 w 12591816"/>
              <a:gd name="connsiteY1-564" fmla="*/ 883342 h 921866"/>
              <a:gd name="connsiteX2-565" fmla="*/ 5079320 w 12591816"/>
              <a:gd name="connsiteY2-566" fmla="*/ 850856 h 921866"/>
              <a:gd name="connsiteX3-567" fmla="*/ 12586704 w 12591816"/>
              <a:gd name="connsiteY3-568" fmla="*/ 886517 h 921866"/>
              <a:gd name="connsiteX4-569" fmla="*/ 12582090 w 12591816"/>
              <a:gd name="connsiteY4-570" fmla="*/ 625035 h 921866"/>
              <a:gd name="connsiteX5-571" fmla="*/ 12591816 w 12591816"/>
              <a:gd name="connsiteY5-572" fmla="*/ 0 h 921866"/>
              <a:gd name="connsiteX0-573" fmla="*/ 9774112 w 12591816"/>
              <a:gd name="connsiteY0-574" fmla="*/ 2330 h 921866"/>
              <a:gd name="connsiteX1-575" fmla="*/ 0 w 12591816"/>
              <a:gd name="connsiteY1-576" fmla="*/ 883342 h 921866"/>
              <a:gd name="connsiteX2-577" fmla="*/ 5079320 w 12591816"/>
              <a:gd name="connsiteY2-578" fmla="*/ 850856 h 921866"/>
              <a:gd name="connsiteX3-579" fmla="*/ 12586704 w 12591816"/>
              <a:gd name="connsiteY3-580" fmla="*/ 886517 h 921866"/>
              <a:gd name="connsiteX4-581" fmla="*/ 12582090 w 12591816"/>
              <a:gd name="connsiteY4-582" fmla="*/ 363931 h 921866"/>
              <a:gd name="connsiteX5-583" fmla="*/ 12591816 w 12591816"/>
              <a:gd name="connsiteY5-584" fmla="*/ 0 h 921866"/>
              <a:gd name="connsiteX0-585" fmla="*/ 9774112 w 12591816"/>
              <a:gd name="connsiteY0-586" fmla="*/ 2330 h 983212"/>
              <a:gd name="connsiteX1-587" fmla="*/ 0 w 12591816"/>
              <a:gd name="connsiteY1-588" fmla="*/ 883342 h 983212"/>
              <a:gd name="connsiteX2-589" fmla="*/ 5079320 w 12591816"/>
              <a:gd name="connsiteY2-590" fmla="*/ 937892 h 983212"/>
              <a:gd name="connsiteX3-591" fmla="*/ 12586704 w 12591816"/>
              <a:gd name="connsiteY3-592" fmla="*/ 886517 h 983212"/>
              <a:gd name="connsiteX4-593" fmla="*/ 12582090 w 12591816"/>
              <a:gd name="connsiteY4-594" fmla="*/ 363931 h 983212"/>
              <a:gd name="connsiteX5-595" fmla="*/ 12591816 w 12591816"/>
              <a:gd name="connsiteY5-596" fmla="*/ 0 h 9832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91" y="connsiteY5-92"/>
              </a:cxn>
            </a:cxnLst>
            <a:rect l="l" t="t" r="r" b="b"/>
            <a:pathLst>
              <a:path w="12591816" h="983212">
                <a:moveTo>
                  <a:pt x="9774112" y="2330"/>
                </a:moveTo>
                <a:lnTo>
                  <a:pt x="0" y="883342"/>
                </a:lnTo>
                <a:cubicBezTo>
                  <a:pt x="1656749" y="911195"/>
                  <a:pt x="3422571" y="1055097"/>
                  <a:pt x="5079320" y="937892"/>
                </a:cubicBezTo>
                <a:lnTo>
                  <a:pt x="12586704" y="886517"/>
                </a:lnTo>
                <a:lnTo>
                  <a:pt x="12582090" y="363931"/>
                </a:lnTo>
                <a:cubicBezTo>
                  <a:pt x="12603111" y="353421"/>
                  <a:pt x="12570795" y="10510"/>
                  <a:pt x="12591816" y="0"/>
                </a:cubicBezTo>
              </a:path>
            </a:pathLst>
          </a:custGeom>
          <a:solidFill>
            <a:schemeClr val="accent1">
              <a:lumMod val="20000"/>
              <a:lumOff val="80000"/>
            </a:schemeClr>
          </a:solidFill>
          <a:ln w="19050" cap="flat" cmpd="sng" algn="ctr">
            <a:noFill/>
            <a:prstDash val="solid"/>
            <a:round/>
            <a:headEnd type="none" w="med" len="med"/>
            <a:tailEnd type="none" w="med" len="med"/>
          </a:ln>
          <a:effectLst/>
        </p:spPr>
        <p:txBody>
          <a:bodyPr rtlCol="0" anchor="ctr"/>
          <a:lstStyle/>
          <a:p>
            <a:pPr algn="ctr"/>
            <a:endParaRPr lang="zh-CN" altLang="en-US">
              <a:latin typeface="微软雅黑" panose="020B0503020204020204" charset="-122"/>
              <a:ea typeface="微软雅黑" panose="020B0503020204020204" charset="-122"/>
            </a:endParaRPr>
          </a:p>
        </p:txBody>
      </p:sp>
      <p:sp>
        <p:nvSpPr>
          <p:cNvPr id="40" name="TextBox 39"/>
          <p:cNvSpPr txBox="1"/>
          <p:nvPr/>
        </p:nvSpPr>
        <p:spPr bwMode="auto">
          <a:xfrm>
            <a:off x="2571736" y="5316368"/>
            <a:ext cx="3857652" cy="936000"/>
          </a:xfrm>
          <a:prstGeom prst="rect">
            <a:avLst/>
          </a:prstGeom>
          <a:noFill/>
          <a:ln>
            <a:noFill/>
          </a:ln>
        </p:spPr>
        <p:txBody>
          <a:bodyPr wrap="square" rtlCol="0">
            <a:spAutoFit/>
          </a:bodyPr>
          <a:lstStyle/>
          <a:p>
            <a:r>
              <a:rPr kumimoji="1" lang="en-US" altLang="zh-CN" b="1" dirty="0">
                <a:solidFill>
                  <a:schemeClr val="tx2">
                    <a:lumMod val="40000"/>
                    <a:lumOff val="60000"/>
                  </a:schemeClr>
                </a:solidFill>
                <a:latin typeface="微软雅黑" panose="020B0503020204020204" charset="-122"/>
                <a:ea typeface="微软雅黑" panose="020B0503020204020204" charset="-122"/>
                <a:cs typeface="微软雅黑" panose="020B0503020204020204" charset="-122"/>
              </a:rPr>
              <a:t>1</a:t>
            </a:r>
            <a:r>
              <a:rPr kumimoji="1" lang="zh-CN" altLang="en-US" b="1" dirty="0">
                <a:solidFill>
                  <a:schemeClr val="tx2">
                    <a:lumMod val="40000"/>
                    <a:lumOff val="60000"/>
                  </a:schemeClr>
                </a:solidFill>
                <a:latin typeface="微软雅黑" panose="020B0503020204020204" charset="-122"/>
                <a:ea typeface="微软雅黑" panose="020B0503020204020204" charset="-122"/>
                <a:cs typeface="微软雅黑" panose="020B0503020204020204" charset="-122"/>
              </a:rPr>
              <a:t>、市场变化来源类型补充</a:t>
            </a:r>
            <a:endParaRPr kumimoji="1" lang="en-US" altLang="zh-CN" b="1" dirty="0">
              <a:solidFill>
                <a:schemeClr val="tx2">
                  <a:lumMod val="40000"/>
                  <a:lumOff val="60000"/>
                </a:schemeClr>
              </a:solidFill>
              <a:latin typeface="微软雅黑" panose="020B0503020204020204" charset="-122"/>
              <a:ea typeface="微软雅黑" panose="020B0503020204020204" charset="-122"/>
              <a:cs typeface="微软雅黑" panose="020B0503020204020204" charset="-122"/>
            </a:endParaRPr>
          </a:p>
          <a:p>
            <a:r>
              <a:rPr kumimoji="1" lang="en-US" altLang="zh-CN" b="1" dirty="0">
                <a:solidFill>
                  <a:schemeClr val="tx2">
                    <a:lumMod val="40000"/>
                    <a:lumOff val="60000"/>
                  </a:schemeClr>
                </a:solidFill>
                <a:latin typeface="微软雅黑" panose="020B0503020204020204" charset="-122"/>
                <a:ea typeface="微软雅黑" panose="020B0503020204020204" charset="-122"/>
                <a:cs typeface="微软雅黑" panose="020B0503020204020204" charset="-122"/>
              </a:rPr>
              <a:t>2</a:t>
            </a:r>
            <a:r>
              <a:rPr kumimoji="1" lang="zh-CN" altLang="en-US" b="1" dirty="0">
                <a:solidFill>
                  <a:schemeClr val="tx2">
                    <a:lumMod val="40000"/>
                    <a:lumOff val="60000"/>
                  </a:schemeClr>
                </a:solidFill>
                <a:latin typeface="微软雅黑" panose="020B0503020204020204" charset="-122"/>
                <a:ea typeface="微软雅黑" panose="020B0503020204020204" charset="-122"/>
                <a:cs typeface="微软雅黑" panose="020B0503020204020204" charset="-122"/>
              </a:rPr>
              <a:t>、整体上可以采取哪些应对措施？</a:t>
            </a:r>
            <a:endParaRPr kumimoji="1" lang="en-US" altLang="zh-CN" b="1" dirty="0">
              <a:solidFill>
                <a:schemeClr val="tx2">
                  <a:lumMod val="40000"/>
                  <a:lumOff val="60000"/>
                </a:schemeClr>
              </a:solidFill>
              <a:latin typeface="微软雅黑" panose="020B0503020204020204" charset="-122"/>
              <a:ea typeface="微软雅黑" panose="020B0503020204020204" charset="-122"/>
              <a:cs typeface="微软雅黑" panose="020B0503020204020204" charset="-122"/>
            </a:endParaRPr>
          </a:p>
          <a:p>
            <a:r>
              <a:rPr kumimoji="1" lang="en-US" altLang="zh-CN" b="1" dirty="0">
                <a:solidFill>
                  <a:schemeClr val="tx2">
                    <a:lumMod val="40000"/>
                    <a:lumOff val="60000"/>
                  </a:schemeClr>
                </a:solidFill>
                <a:latin typeface="微软雅黑" panose="020B0503020204020204" charset="-122"/>
                <a:ea typeface="微软雅黑" panose="020B0503020204020204" charset="-122"/>
                <a:cs typeface="微软雅黑" panose="020B0503020204020204" charset="-122"/>
              </a:rPr>
              <a:t>3</a:t>
            </a:r>
            <a:r>
              <a:rPr kumimoji="1" lang="zh-CN" altLang="en-US" b="1" dirty="0">
                <a:solidFill>
                  <a:schemeClr val="tx2">
                    <a:lumMod val="40000"/>
                    <a:lumOff val="60000"/>
                  </a:schemeClr>
                </a:solidFill>
                <a:latin typeface="微软雅黑" panose="020B0503020204020204" charset="-122"/>
                <a:ea typeface="微软雅黑" panose="020B0503020204020204" charset="-122"/>
                <a:cs typeface="微软雅黑" panose="020B0503020204020204" charset="-122"/>
              </a:rPr>
              <a:t>、各环节可以采取哪些应对措施？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40"/>
                                        </p:tgtEl>
                                        <p:attrNameLst>
                                          <p:attrName>ppt_x</p:attrName>
                                        </p:attrNameLst>
                                      </p:cBhvr>
                                      <p:tavLst>
                                        <p:tav tm="0">
                                          <p:val>
                                            <p:strVal val="ppt_x"/>
                                          </p:val>
                                        </p:tav>
                                        <p:tav tm="100000">
                                          <p:val>
                                            <p:strVal val="ppt_x"/>
                                          </p:val>
                                        </p:tav>
                                      </p:tavLst>
                                    </p:anim>
                                    <p:anim calcmode="lin" valueType="num">
                                      <p:cBhvr additive="base">
                                        <p:cTn id="7" dur="500"/>
                                        <p:tgtEl>
                                          <p:spTgt spid="40"/>
                                        </p:tgtEl>
                                        <p:attrNameLst>
                                          <p:attrName>ppt_y</p:attrName>
                                        </p:attrNameLst>
                                      </p:cBhvr>
                                      <p:tavLst>
                                        <p:tav tm="0">
                                          <p:val>
                                            <p:strVal val="ppt_y"/>
                                          </p:val>
                                        </p:tav>
                                        <p:tav tm="100000">
                                          <p:val>
                                            <p:strVal val="1+ppt_h/2"/>
                                          </p:val>
                                        </p:tav>
                                      </p:tavLst>
                                    </p:anim>
                                    <p:set>
                                      <p:cBhvr>
                                        <p:cTn id="8" dur="1" fill="hold">
                                          <p:stCondLst>
                                            <p:cond delay="499"/>
                                          </p:stCondLst>
                                        </p:cTn>
                                        <p:tgtEl>
                                          <p:spTgt spid="40"/>
                                        </p:tgtEl>
                                        <p:attrNameLst>
                                          <p:attrName>style.visibility</p:attrName>
                                        </p:attrNameLst>
                                      </p:cBhvr>
                                      <p:to>
                                        <p:strVal val="hidden"/>
                                      </p:to>
                                    </p:set>
                                  </p:childTnLst>
                                </p:cTn>
                              </p:par>
                              <p:par>
                                <p:cTn id="9" presetID="3" presetClass="entr" presetSubtype="1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blinds(horizontal)">
                                      <p:cBhvr>
                                        <p:cTn id="11" dur="500"/>
                                        <p:tgtEl>
                                          <p:spTgt spid="34"/>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blinds(horizontal)">
                                      <p:cBhvr>
                                        <p:cTn id="14" dur="500"/>
                                        <p:tgtEl>
                                          <p:spTgt spid="35"/>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blinds(horizontal)">
                                      <p:cBhvr>
                                        <p:cTn id="17" dur="500"/>
                                        <p:tgtEl>
                                          <p:spTgt spid="36"/>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blinds(horizontal)">
                                      <p:cBhvr>
                                        <p:cTn id="20" dur="500"/>
                                        <p:tgtEl>
                                          <p:spTgt spid="3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blinds(horizontal)">
                                      <p:cBhvr>
                                        <p:cTn id="23" dur="500"/>
                                        <p:tgtEl>
                                          <p:spTgt spid="38"/>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blinds(horizontal)">
                                      <p:cBhvr>
                                        <p:cTn id="2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dirty="0"/>
              <a:t>讨论点：如何应对市场的变化和波动 </a:t>
            </a:r>
            <a:r>
              <a:rPr dirty="0"/>
              <a:t>— </a:t>
            </a:r>
            <a:r>
              <a:rPr lang="zh-CN" altLang="en-US" dirty="0"/>
              <a:t>柔性规则（现状问题）</a:t>
            </a:r>
          </a:p>
        </p:txBody>
      </p:sp>
      <p:graphicFrame>
        <p:nvGraphicFramePr>
          <p:cNvPr id="4" name="表格 3"/>
          <p:cNvGraphicFramePr>
            <a:graphicFrameLocks noGrp="1"/>
          </p:cNvGraphicFramePr>
          <p:nvPr/>
        </p:nvGraphicFramePr>
        <p:xfrm>
          <a:off x="714375" y="1544638"/>
          <a:ext cx="7929621" cy="370840"/>
        </p:xfrm>
        <a:graphic>
          <a:graphicData uri="http://schemas.openxmlformats.org/drawingml/2006/table">
            <a:tbl>
              <a:tblPr firstRow="1" bandRow="1">
                <a:tableStyleId>{5C22544A-7EE6-4342-B048-85BDC9FD1C3A}</a:tableStyleId>
              </a:tblPr>
              <a:tblGrid>
                <a:gridCol w="1132803">
                  <a:extLst>
                    <a:ext uri="{9D8B030D-6E8A-4147-A177-3AD203B41FA5}">
                      <a16:colId xmlns:a16="http://schemas.microsoft.com/office/drawing/2014/main" val="20000"/>
                    </a:ext>
                  </a:extLst>
                </a:gridCol>
                <a:gridCol w="1132803">
                  <a:extLst>
                    <a:ext uri="{9D8B030D-6E8A-4147-A177-3AD203B41FA5}">
                      <a16:colId xmlns:a16="http://schemas.microsoft.com/office/drawing/2014/main" val="20001"/>
                    </a:ext>
                  </a:extLst>
                </a:gridCol>
                <a:gridCol w="1132803">
                  <a:extLst>
                    <a:ext uri="{9D8B030D-6E8A-4147-A177-3AD203B41FA5}">
                      <a16:colId xmlns:a16="http://schemas.microsoft.com/office/drawing/2014/main" val="20002"/>
                    </a:ext>
                  </a:extLst>
                </a:gridCol>
                <a:gridCol w="1132803">
                  <a:extLst>
                    <a:ext uri="{9D8B030D-6E8A-4147-A177-3AD203B41FA5}">
                      <a16:colId xmlns:a16="http://schemas.microsoft.com/office/drawing/2014/main" val="20003"/>
                    </a:ext>
                  </a:extLst>
                </a:gridCol>
                <a:gridCol w="1132803">
                  <a:extLst>
                    <a:ext uri="{9D8B030D-6E8A-4147-A177-3AD203B41FA5}">
                      <a16:colId xmlns:a16="http://schemas.microsoft.com/office/drawing/2014/main" val="20004"/>
                    </a:ext>
                  </a:extLst>
                </a:gridCol>
                <a:gridCol w="1132803">
                  <a:extLst>
                    <a:ext uri="{9D8B030D-6E8A-4147-A177-3AD203B41FA5}">
                      <a16:colId xmlns:a16="http://schemas.microsoft.com/office/drawing/2014/main" val="20005"/>
                    </a:ext>
                  </a:extLst>
                </a:gridCol>
                <a:gridCol w="1132803">
                  <a:extLst>
                    <a:ext uri="{9D8B030D-6E8A-4147-A177-3AD203B41FA5}">
                      <a16:colId xmlns:a16="http://schemas.microsoft.com/office/drawing/2014/main" val="20006"/>
                    </a:ext>
                  </a:extLst>
                </a:gridCol>
              </a:tblGrid>
              <a:tr h="370840">
                <a:tc>
                  <a:txBody>
                    <a:bodyPr/>
                    <a:lstStyle/>
                    <a:p>
                      <a:pPr algn="ctr"/>
                      <a:r>
                        <a:rPr lang="en-US" altLang="zh-CN" sz="1200" dirty="0">
                          <a:solidFill>
                            <a:schemeClr val="tx1"/>
                          </a:solidFill>
                          <a:latin typeface="微软雅黑" panose="020B0503020204020204" charset="-122"/>
                          <a:ea typeface="微软雅黑" panose="020B0503020204020204" charset="-122"/>
                        </a:rPr>
                        <a:t>N</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N+1</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N+2</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N+3</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N+4</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N+5</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N+6</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4117" name="等腰三角形 4"/>
          <p:cNvSpPr>
            <a:spLocks noChangeArrowheads="1"/>
          </p:cNvSpPr>
          <p:nvPr/>
        </p:nvSpPr>
        <p:spPr bwMode="auto">
          <a:xfrm>
            <a:off x="1385888" y="1901825"/>
            <a:ext cx="130175" cy="214313"/>
          </a:xfrm>
          <a:prstGeom prst="triangle">
            <a:avLst>
              <a:gd name="adj" fmla="val 50000"/>
            </a:avLst>
          </a:prstGeom>
          <a:solidFill>
            <a:srgbClr val="FF0000"/>
          </a:solidFill>
          <a:ln w="9525" cap="flat" cmpd="sng" algn="ctr">
            <a:noFill/>
            <a:prstDash val="solid"/>
            <a:round/>
            <a:headEnd type="none" w="med" len="med"/>
            <a:tailEnd type="none"/>
          </a:ln>
          <a:effectLst/>
        </p:spPr>
        <p:txBody>
          <a:bodyPr rtlCol="0" anchor="ctr"/>
          <a:lstStyle/>
          <a:p>
            <a:pPr algn="ctr"/>
            <a:endParaRPr lang="zh-CN" altLang="en-US"/>
          </a:p>
        </p:txBody>
      </p:sp>
      <p:sp>
        <p:nvSpPr>
          <p:cNvPr id="4118" name="TextBox 5"/>
          <p:cNvSpPr txBox="1">
            <a:spLocks noChangeArrowheads="1"/>
          </p:cNvSpPr>
          <p:nvPr/>
        </p:nvSpPr>
        <p:spPr bwMode="auto">
          <a:xfrm>
            <a:off x="730250" y="2084388"/>
            <a:ext cx="874713" cy="431800"/>
          </a:xfrm>
          <a:prstGeom prst="rect">
            <a:avLst/>
          </a:prstGeom>
          <a:noFill/>
          <a:ln w="9525">
            <a:noFill/>
            <a:miter lim="800000"/>
          </a:ln>
        </p:spPr>
        <p:txBody>
          <a:bodyPr wrap="none">
            <a:spAutoFit/>
          </a:bodyPr>
          <a:lstStyle/>
          <a:p>
            <a:pPr algn="r"/>
            <a:r>
              <a:rPr kumimoji="1" lang="en-US" altLang="zh-CN" sz="1100" dirty="0">
                <a:solidFill>
                  <a:srgbClr val="000000"/>
                </a:solidFill>
                <a:latin typeface="微软雅黑" panose="020B0503020204020204" charset="-122"/>
                <a:ea typeface="微软雅黑" panose="020B0503020204020204" charset="-122"/>
              </a:rPr>
              <a:t>25</a:t>
            </a:r>
            <a:r>
              <a:rPr kumimoji="1" lang="zh-CN" altLang="en-US" sz="1100" dirty="0">
                <a:solidFill>
                  <a:srgbClr val="000000"/>
                </a:solidFill>
                <a:latin typeface="微软雅黑" panose="020B0503020204020204" charset="-122"/>
                <a:ea typeface="微软雅黑" panose="020B0503020204020204" charset="-122"/>
              </a:rPr>
              <a:t>号左右</a:t>
            </a:r>
            <a:br>
              <a:rPr kumimoji="1" lang="en-US" altLang="zh-CN" sz="1100" dirty="0">
                <a:solidFill>
                  <a:srgbClr val="000000"/>
                </a:solidFill>
                <a:latin typeface="微软雅黑" panose="020B0503020204020204" charset="-122"/>
                <a:ea typeface="微软雅黑" panose="020B0503020204020204" charset="-122"/>
              </a:rPr>
            </a:br>
            <a:r>
              <a:rPr kumimoji="1" lang="en-US" altLang="zh-CN" sz="1100" dirty="0">
                <a:solidFill>
                  <a:srgbClr val="000000"/>
                </a:solidFill>
                <a:latin typeface="微软雅黑" panose="020B0503020204020204" charset="-122"/>
                <a:ea typeface="微软雅黑" panose="020B0503020204020204" charset="-122"/>
              </a:rPr>
              <a:t>S&amp;OP</a:t>
            </a:r>
            <a:r>
              <a:rPr kumimoji="1" lang="zh-CN" altLang="en-US" sz="1100" dirty="0">
                <a:solidFill>
                  <a:srgbClr val="000000"/>
                </a:solidFill>
                <a:latin typeface="微软雅黑" panose="020B0503020204020204" charset="-122"/>
                <a:ea typeface="微软雅黑" panose="020B0503020204020204" charset="-122"/>
              </a:rPr>
              <a:t>会议</a:t>
            </a:r>
          </a:p>
        </p:txBody>
      </p:sp>
      <p:sp>
        <p:nvSpPr>
          <p:cNvPr id="4119" name="TextBox 6"/>
          <p:cNvSpPr txBox="1">
            <a:spLocks noChangeArrowheads="1"/>
          </p:cNvSpPr>
          <p:nvPr/>
        </p:nvSpPr>
        <p:spPr bwMode="auto">
          <a:xfrm>
            <a:off x="214313" y="1135063"/>
            <a:ext cx="1211262" cy="338137"/>
          </a:xfrm>
          <a:prstGeom prst="rect">
            <a:avLst/>
          </a:prstGeom>
          <a:noFill/>
          <a:ln w="9525">
            <a:noFill/>
            <a:miter lim="800000"/>
          </a:ln>
        </p:spPr>
        <p:txBody>
          <a:bodyPr wrap="none">
            <a:spAutoFit/>
          </a:bodyPr>
          <a:lstStyle/>
          <a:p>
            <a:r>
              <a:rPr kumimoji="1" lang="zh-CN" altLang="en-US" sz="1600" b="1">
                <a:solidFill>
                  <a:srgbClr val="000000"/>
                </a:solidFill>
                <a:latin typeface="微软雅黑" panose="020B0503020204020204" charset="-122"/>
                <a:ea typeface="微软雅黑" panose="020B0503020204020204" charset="-122"/>
              </a:rPr>
              <a:t>现状描述：</a:t>
            </a:r>
          </a:p>
        </p:txBody>
      </p:sp>
      <p:cxnSp>
        <p:nvCxnSpPr>
          <p:cNvPr id="4120" name="直接箭头连接符 8"/>
          <p:cNvCxnSpPr>
            <a:cxnSpLocks noChangeShapeType="1"/>
          </p:cNvCxnSpPr>
          <p:nvPr/>
        </p:nvCxnSpPr>
        <p:spPr bwMode="auto">
          <a:xfrm rot="5400000">
            <a:off x="1353344" y="2261394"/>
            <a:ext cx="720725" cy="1587"/>
          </a:xfrm>
          <a:prstGeom prst="straightConnector1">
            <a:avLst/>
          </a:prstGeom>
          <a:noFill/>
          <a:ln w="9525" algn="ctr">
            <a:solidFill>
              <a:schemeClr val="tx1"/>
            </a:solidFill>
            <a:round/>
            <a:tailEnd type="arrow" w="med" len="med"/>
          </a:ln>
        </p:spPr>
      </p:cxnSp>
      <p:sp>
        <p:nvSpPr>
          <p:cNvPr id="4121" name="TextBox 9"/>
          <p:cNvSpPr txBox="1">
            <a:spLocks noChangeArrowheads="1"/>
          </p:cNvSpPr>
          <p:nvPr/>
        </p:nvSpPr>
        <p:spPr bwMode="auto">
          <a:xfrm>
            <a:off x="833438" y="2663825"/>
            <a:ext cx="1031875" cy="430213"/>
          </a:xfrm>
          <a:prstGeom prst="rect">
            <a:avLst/>
          </a:prstGeom>
          <a:noFill/>
          <a:ln w="9525">
            <a:noFill/>
            <a:miter lim="800000"/>
          </a:ln>
        </p:spPr>
        <p:txBody>
          <a:bodyPr wrap="none">
            <a:spAutoFit/>
          </a:bodyPr>
          <a:lstStyle/>
          <a:p>
            <a:pPr algn="r"/>
            <a:r>
              <a:rPr kumimoji="1" lang="en-US" altLang="zh-CN" sz="1100">
                <a:solidFill>
                  <a:srgbClr val="000000"/>
                </a:solidFill>
                <a:latin typeface="微软雅黑" panose="020B0503020204020204" charset="-122"/>
                <a:ea typeface="微软雅黑" panose="020B0503020204020204" charset="-122"/>
              </a:rPr>
              <a:t>28</a:t>
            </a:r>
            <a:r>
              <a:rPr kumimoji="1" lang="zh-CN" altLang="en-US" sz="1100">
                <a:solidFill>
                  <a:srgbClr val="000000"/>
                </a:solidFill>
                <a:latin typeface="微软雅黑" panose="020B0503020204020204" charset="-122"/>
                <a:ea typeface="微软雅黑" panose="020B0503020204020204" charset="-122"/>
              </a:rPr>
              <a:t>号</a:t>
            </a:r>
            <a:endParaRPr kumimoji="1" lang="en-US" altLang="zh-CN" sz="1100">
              <a:solidFill>
                <a:srgbClr val="000000"/>
              </a:solidFill>
              <a:latin typeface="微软雅黑" panose="020B0503020204020204" charset="-122"/>
              <a:ea typeface="微软雅黑" panose="020B0503020204020204" charset="-122"/>
            </a:endParaRPr>
          </a:p>
          <a:p>
            <a:pPr algn="r"/>
            <a:r>
              <a:rPr kumimoji="1" lang="zh-CN" altLang="en-US" sz="1100">
                <a:solidFill>
                  <a:srgbClr val="000000"/>
                </a:solidFill>
                <a:latin typeface="微软雅黑" panose="020B0503020204020204" charset="-122"/>
                <a:ea typeface="微软雅黑" panose="020B0503020204020204" charset="-122"/>
              </a:rPr>
              <a:t>计划外新订单</a:t>
            </a:r>
            <a:endParaRPr kumimoji="1" lang="en-US" altLang="zh-CN" sz="1100">
              <a:solidFill>
                <a:srgbClr val="000000"/>
              </a:solidFill>
              <a:latin typeface="微软雅黑" panose="020B0503020204020204" charset="-122"/>
              <a:ea typeface="微软雅黑" panose="020B0503020204020204" charset="-122"/>
            </a:endParaRPr>
          </a:p>
        </p:txBody>
      </p:sp>
      <p:sp>
        <p:nvSpPr>
          <p:cNvPr id="4122" name="右大括号 10"/>
          <p:cNvSpPr/>
          <p:nvPr/>
        </p:nvSpPr>
        <p:spPr bwMode="auto">
          <a:xfrm rot="5400000">
            <a:off x="2250282" y="1964531"/>
            <a:ext cx="357188" cy="1000125"/>
          </a:xfrm>
          <a:prstGeom prst="rightBrace">
            <a:avLst>
              <a:gd name="adj1" fmla="val 36776"/>
              <a:gd name="adj2" fmla="val 50000"/>
            </a:avLst>
          </a:prstGeom>
          <a:noFill/>
          <a:ln w="9525" algn="ctr">
            <a:solidFill>
              <a:schemeClr val="tx1"/>
            </a:solidFill>
            <a:round/>
          </a:ln>
        </p:spPr>
        <p:txBody>
          <a:bodyPr anchor="ctr"/>
          <a:lstStyle/>
          <a:p>
            <a:pPr algn="ctr"/>
            <a:endParaRPr lang="zh-CN" altLang="en-US">
              <a:latin typeface="华文楷体" panose="02010600040101010101" pitchFamily="2" charset="-122"/>
              <a:ea typeface="华文楷体" panose="02010600040101010101" pitchFamily="2" charset="-122"/>
            </a:endParaRPr>
          </a:p>
        </p:txBody>
      </p:sp>
      <p:sp>
        <p:nvSpPr>
          <p:cNvPr id="4123" name="右大括号 11"/>
          <p:cNvSpPr/>
          <p:nvPr/>
        </p:nvSpPr>
        <p:spPr bwMode="auto">
          <a:xfrm rot="5400000">
            <a:off x="3385344" y="1964531"/>
            <a:ext cx="357188" cy="1000125"/>
          </a:xfrm>
          <a:prstGeom prst="rightBrace">
            <a:avLst>
              <a:gd name="adj1" fmla="val 36776"/>
              <a:gd name="adj2" fmla="val 50000"/>
            </a:avLst>
          </a:prstGeom>
          <a:noFill/>
          <a:ln w="9525" algn="ctr">
            <a:solidFill>
              <a:schemeClr val="tx1"/>
            </a:solidFill>
            <a:round/>
          </a:ln>
        </p:spPr>
        <p:txBody>
          <a:bodyPr anchor="ctr"/>
          <a:lstStyle/>
          <a:p>
            <a:pPr algn="ctr"/>
            <a:endParaRPr lang="zh-CN" altLang="en-US">
              <a:latin typeface="华文楷体" panose="02010600040101010101" pitchFamily="2" charset="-122"/>
              <a:ea typeface="华文楷体" panose="02010600040101010101" pitchFamily="2" charset="-122"/>
            </a:endParaRPr>
          </a:p>
        </p:txBody>
      </p:sp>
      <p:sp>
        <p:nvSpPr>
          <p:cNvPr id="4124" name="TextBox 12"/>
          <p:cNvSpPr txBox="1">
            <a:spLocks noChangeArrowheads="1"/>
          </p:cNvSpPr>
          <p:nvPr/>
        </p:nvSpPr>
        <p:spPr bwMode="auto">
          <a:xfrm>
            <a:off x="1978025" y="2668588"/>
            <a:ext cx="909638" cy="430212"/>
          </a:xfrm>
          <a:prstGeom prst="rect">
            <a:avLst/>
          </a:prstGeom>
          <a:noFill/>
          <a:ln w="9525">
            <a:noFill/>
            <a:miter lim="800000"/>
          </a:ln>
        </p:spPr>
        <p:txBody>
          <a:bodyPr wrap="none">
            <a:spAutoFit/>
          </a:bodyPr>
          <a:lstStyle/>
          <a:p>
            <a:pPr algn="ctr"/>
            <a:r>
              <a:rPr kumimoji="1" lang="zh-CN" altLang="en-US" sz="1100">
                <a:solidFill>
                  <a:srgbClr val="000000"/>
                </a:solidFill>
                <a:latin typeface="微软雅黑" panose="020B0503020204020204" charset="-122"/>
                <a:ea typeface="微软雅黑" panose="020B0503020204020204" charset="-122"/>
              </a:rPr>
              <a:t>放到</a:t>
            </a:r>
            <a:r>
              <a:rPr kumimoji="1" lang="en-US" altLang="zh-CN" sz="1100">
                <a:solidFill>
                  <a:srgbClr val="000000"/>
                </a:solidFill>
                <a:latin typeface="微软雅黑" panose="020B0503020204020204" charset="-122"/>
                <a:ea typeface="微软雅黑" panose="020B0503020204020204" charset="-122"/>
              </a:rPr>
              <a:t>N+1</a:t>
            </a:r>
            <a:r>
              <a:rPr kumimoji="1" lang="zh-CN" altLang="en-US" sz="1100">
                <a:solidFill>
                  <a:srgbClr val="000000"/>
                </a:solidFill>
                <a:latin typeface="微软雅黑" panose="020B0503020204020204" charset="-122"/>
                <a:ea typeface="微软雅黑" panose="020B0503020204020204" charset="-122"/>
              </a:rPr>
              <a:t>月</a:t>
            </a:r>
            <a:endParaRPr kumimoji="1" lang="en-US" altLang="zh-CN" sz="1100">
              <a:solidFill>
                <a:srgbClr val="000000"/>
              </a:solidFill>
              <a:latin typeface="微软雅黑" panose="020B0503020204020204" charset="-122"/>
              <a:ea typeface="微软雅黑" panose="020B0503020204020204" charset="-122"/>
            </a:endParaRPr>
          </a:p>
          <a:p>
            <a:pPr algn="ctr"/>
            <a:r>
              <a:rPr kumimoji="1" lang="zh-CN" altLang="en-US" sz="1100">
                <a:solidFill>
                  <a:srgbClr val="000000"/>
                </a:solidFill>
                <a:latin typeface="微软雅黑" panose="020B0503020204020204" charset="-122"/>
                <a:ea typeface="微软雅黑" panose="020B0503020204020204" charset="-122"/>
              </a:rPr>
              <a:t>调整计划</a:t>
            </a:r>
            <a:endParaRPr kumimoji="1" lang="en-US" altLang="zh-CN" sz="1100">
              <a:solidFill>
                <a:srgbClr val="000000"/>
              </a:solidFill>
              <a:latin typeface="微软雅黑" panose="020B0503020204020204" charset="-122"/>
              <a:ea typeface="微软雅黑" panose="020B0503020204020204" charset="-122"/>
            </a:endParaRPr>
          </a:p>
        </p:txBody>
      </p:sp>
      <p:sp>
        <p:nvSpPr>
          <p:cNvPr id="4125" name="TextBox 13"/>
          <p:cNvSpPr txBox="1">
            <a:spLocks noChangeArrowheads="1"/>
          </p:cNvSpPr>
          <p:nvPr/>
        </p:nvSpPr>
        <p:spPr bwMode="auto">
          <a:xfrm>
            <a:off x="3122613" y="2663825"/>
            <a:ext cx="911225" cy="430213"/>
          </a:xfrm>
          <a:prstGeom prst="rect">
            <a:avLst/>
          </a:prstGeom>
          <a:noFill/>
          <a:ln w="9525">
            <a:noFill/>
            <a:miter lim="800000"/>
          </a:ln>
        </p:spPr>
        <p:txBody>
          <a:bodyPr wrap="none">
            <a:spAutoFit/>
          </a:bodyPr>
          <a:lstStyle/>
          <a:p>
            <a:pPr algn="ctr"/>
            <a:r>
              <a:rPr kumimoji="1" lang="zh-CN" altLang="en-US" sz="1100" dirty="0">
                <a:solidFill>
                  <a:srgbClr val="000000"/>
                </a:solidFill>
                <a:latin typeface="微软雅黑" panose="020B0503020204020204" charset="-122"/>
                <a:ea typeface="微软雅黑" panose="020B0503020204020204" charset="-122"/>
              </a:rPr>
              <a:t>放到</a:t>
            </a:r>
            <a:r>
              <a:rPr kumimoji="1" lang="en-US" altLang="zh-CN" sz="1100" dirty="0">
                <a:solidFill>
                  <a:srgbClr val="000000"/>
                </a:solidFill>
                <a:latin typeface="微软雅黑" panose="020B0503020204020204" charset="-122"/>
                <a:ea typeface="微软雅黑" panose="020B0503020204020204" charset="-122"/>
              </a:rPr>
              <a:t>N+2</a:t>
            </a:r>
            <a:r>
              <a:rPr kumimoji="1" lang="zh-CN" altLang="en-US" sz="1100" dirty="0">
                <a:solidFill>
                  <a:srgbClr val="000000"/>
                </a:solidFill>
                <a:latin typeface="微软雅黑" panose="020B0503020204020204" charset="-122"/>
                <a:ea typeface="微软雅黑" panose="020B0503020204020204" charset="-122"/>
              </a:rPr>
              <a:t>月</a:t>
            </a:r>
            <a:endParaRPr kumimoji="1" lang="en-US" altLang="zh-CN" sz="1100" dirty="0">
              <a:solidFill>
                <a:srgbClr val="000000"/>
              </a:solidFill>
              <a:latin typeface="微软雅黑" panose="020B0503020204020204" charset="-122"/>
              <a:ea typeface="微软雅黑" panose="020B0503020204020204" charset="-122"/>
            </a:endParaRPr>
          </a:p>
          <a:p>
            <a:pPr algn="ctr"/>
            <a:r>
              <a:rPr kumimoji="1" lang="zh-CN" altLang="en-US" sz="1100" dirty="0">
                <a:solidFill>
                  <a:srgbClr val="000000"/>
                </a:solidFill>
                <a:latin typeface="微软雅黑" panose="020B0503020204020204" charset="-122"/>
                <a:ea typeface="微软雅黑" panose="020B0503020204020204" charset="-122"/>
              </a:rPr>
              <a:t>交期不足</a:t>
            </a:r>
            <a:endParaRPr kumimoji="1" lang="en-US" altLang="zh-CN" sz="1100" dirty="0">
              <a:solidFill>
                <a:srgbClr val="000000"/>
              </a:solidFill>
              <a:latin typeface="微软雅黑" panose="020B0503020204020204" charset="-122"/>
              <a:ea typeface="微软雅黑" panose="020B0503020204020204" charset="-122"/>
            </a:endParaRPr>
          </a:p>
        </p:txBody>
      </p:sp>
      <p:sp>
        <p:nvSpPr>
          <p:cNvPr id="4126" name="TextBox 15"/>
          <p:cNvSpPr txBox="1">
            <a:spLocks noChangeArrowheads="1"/>
          </p:cNvSpPr>
          <p:nvPr/>
        </p:nvSpPr>
        <p:spPr bwMode="auto">
          <a:xfrm>
            <a:off x="1108081" y="5053296"/>
            <a:ext cx="7178695" cy="661720"/>
          </a:xfrm>
          <a:prstGeom prst="rect">
            <a:avLst/>
          </a:prstGeom>
          <a:noFill/>
          <a:ln w="9525">
            <a:noFill/>
            <a:miter lim="800000"/>
          </a:ln>
        </p:spPr>
        <p:txBody>
          <a:bodyPr wrap="square">
            <a:spAutoFit/>
          </a:bodyPr>
          <a:lstStyle/>
          <a:p>
            <a:pPr marL="177800" indent="-177800">
              <a:spcBef>
                <a:spcPts val="600"/>
              </a:spcBef>
              <a:buFont typeface="微软雅黑" panose="020B0503020204020204" charset="-122"/>
              <a:buChar char="▪"/>
            </a:pPr>
            <a:r>
              <a:rPr kumimoji="1" lang="zh-CN" altLang="en-US" sz="1600" b="1" dirty="0">
                <a:solidFill>
                  <a:srgbClr val="000000"/>
                </a:solidFill>
                <a:latin typeface="微软雅黑" panose="020B0503020204020204" charset="-122"/>
                <a:ea typeface="微软雅黑" panose="020B0503020204020204" charset="-122"/>
              </a:rPr>
              <a:t>混淆了计划与订单的关系，缺少订单的例行处理机制</a:t>
            </a:r>
            <a:endParaRPr kumimoji="1" lang="en-US" altLang="zh-CN" sz="1600" b="1" dirty="0">
              <a:solidFill>
                <a:srgbClr val="000000"/>
              </a:solidFill>
              <a:latin typeface="微软雅黑" panose="020B0503020204020204" charset="-122"/>
              <a:ea typeface="微软雅黑" panose="020B0503020204020204" charset="-122"/>
            </a:endParaRPr>
          </a:p>
          <a:p>
            <a:pPr marL="177800" indent="-177800">
              <a:spcBef>
                <a:spcPts val="600"/>
              </a:spcBef>
              <a:buFont typeface="微软雅黑" panose="020B0503020204020204" charset="-122"/>
              <a:buChar char="▪"/>
            </a:pPr>
            <a:r>
              <a:rPr kumimoji="1" lang="zh-CN" altLang="en-US" sz="1600" b="1" dirty="0">
                <a:solidFill>
                  <a:srgbClr val="000000"/>
                </a:solidFill>
                <a:latin typeface="微软雅黑" panose="020B0503020204020204" charset="-122"/>
                <a:ea typeface="微软雅黑" panose="020B0503020204020204" charset="-122"/>
              </a:rPr>
              <a:t>使用</a:t>
            </a:r>
            <a:r>
              <a:rPr kumimoji="1" lang="en-US" altLang="zh-CN" sz="1600" b="1" dirty="0">
                <a:solidFill>
                  <a:srgbClr val="000000"/>
                </a:solidFill>
                <a:latin typeface="微软雅黑" panose="020B0503020204020204" charset="-122"/>
                <a:ea typeface="微软雅黑" panose="020B0503020204020204" charset="-122"/>
              </a:rPr>
              <a:t>C</a:t>
            </a:r>
            <a:r>
              <a:rPr kumimoji="1" lang="zh-CN" altLang="en-US" sz="1600" b="1" dirty="0">
                <a:solidFill>
                  <a:srgbClr val="000000"/>
                </a:solidFill>
                <a:latin typeface="微软雅黑" panose="020B0503020204020204" charset="-122"/>
                <a:ea typeface="微软雅黑" panose="020B0503020204020204" charset="-122"/>
              </a:rPr>
              <a:t>表计划排产并指导供应商备货，周期偏长，缺少周度</a:t>
            </a:r>
            <a:r>
              <a:rPr kumimoji="1" lang="en-US" altLang="zh-CN" sz="1600" b="1" dirty="0">
                <a:solidFill>
                  <a:srgbClr val="000000"/>
                </a:solidFill>
                <a:latin typeface="微软雅黑" panose="020B0503020204020204" charset="-122"/>
                <a:ea typeface="微软雅黑" panose="020B0503020204020204" charset="-122"/>
              </a:rPr>
              <a:t>/</a:t>
            </a:r>
            <a:r>
              <a:rPr kumimoji="1" lang="zh-CN" altLang="en-US" sz="1600" b="1" dirty="0">
                <a:solidFill>
                  <a:srgbClr val="000000"/>
                </a:solidFill>
                <a:latin typeface="微软雅黑" panose="020B0503020204020204" charset="-122"/>
                <a:ea typeface="微软雅黑" panose="020B0503020204020204" charset="-122"/>
              </a:rPr>
              <a:t>旬度滚动计划</a:t>
            </a:r>
          </a:p>
        </p:txBody>
      </p:sp>
      <p:graphicFrame>
        <p:nvGraphicFramePr>
          <p:cNvPr id="56" name="表格 55"/>
          <p:cNvGraphicFramePr>
            <a:graphicFrameLocks noGrp="1"/>
          </p:cNvGraphicFramePr>
          <p:nvPr/>
        </p:nvGraphicFramePr>
        <p:xfrm>
          <a:off x="714348" y="3343912"/>
          <a:ext cx="5664015" cy="370840"/>
        </p:xfrm>
        <a:graphic>
          <a:graphicData uri="http://schemas.openxmlformats.org/drawingml/2006/table">
            <a:tbl>
              <a:tblPr firstRow="1" bandRow="1">
                <a:tableStyleId>{5C22544A-7EE6-4342-B048-85BDC9FD1C3A}</a:tableStyleId>
              </a:tblPr>
              <a:tblGrid>
                <a:gridCol w="1132803">
                  <a:extLst>
                    <a:ext uri="{9D8B030D-6E8A-4147-A177-3AD203B41FA5}">
                      <a16:colId xmlns:a16="http://schemas.microsoft.com/office/drawing/2014/main" val="20000"/>
                    </a:ext>
                  </a:extLst>
                </a:gridCol>
                <a:gridCol w="1132803">
                  <a:extLst>
                    <a:ext uri="{9D8B030D-6E8A-4147-A177-3AD203B41FA5}">
                      <a16:colId xmlns:a16="http://schemas.microsoft.com/office/drawing/2014/main" val="20001"/>
                    </a:ext>
                  </a:extLst>
                </a:gridCol>
                <a:gridCol w="1132803">
                  <a:extLst>
                    <a:ext uri="{9D8B030D-6E8A-4147-A177-3AD203B41FA5}">
                      <a16:colId xmlns:a16="http://schemas.microsoft.com/office/drawing/2014/main" val="20002"/>
                    </a:ext>
                  </a:extLst>
                </a:gridCol>
                <a:gridCol w="1132803">
                  <a:extLst>
                    <a:ext uri="{9D8B030D-6E8A-4147-A177-3AD203B41FA5}">
                      <a16:colId xmlns:a16="http://schemas.microsoft.com/office/drawing/2014/main" val="20003"/>
                    </a:ext>
                  </a:extLst>
                </a:gridCol>
                <a:gridCol w="1132803">
                  <a:extLst>
                    <a:ext uri="{9D8B030D-6E8A-4147-A177-3AD203B41FA5}">
                      <a16:colId xmlns:a16="http://schemas.microsoft.com/office/drawing/2014/main" val="20004"/>
                    </a:ext>
                  </a:extLst>
                </a:gridCol>
              </a:tblGrid>
              <a:tr h="370840">
                <a:tc>
                  <a:txBody>
                    <a:bodyPr/>
                    <a:lstStyle/>
                    <a:p>
                      <a:pPr algn="ctr"/>
                      <a:r>
                        <a:rPr lang="en-US" altLang="zh-CN" sz="1200" dirty="0">
                          <a:solidFill>
                            <a:schemeClr val="tx1"/>
                          </a:solidFill>
                          <a:latin typeface="微软雅黑" panose="020B0503020204020204" charset="-122"/>
                          <a:ea typeface="微软雅黑" panose="020B0503020204020204" charset="-122"/>
                        </a:rPr>
                        <a:t>D-1</a:t>
                      </a:r>
                      <a:endParaRPr lang="zh-CN" altLang="en-US" sz="1200" dirty="0">
                        <a:solidFill>
                          <a:schemeClr val="tx1"/>
                        </a:solidFill>
                        <a:latin typeface="微软雅黑" panose="020B0503020204020204" charset="-122"/>
                        <a:ea typeface="微软雅黑" panose="020B0503020204020204" charset="-122"/>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D-2</a:t>
                      </a:r>
                      <a:endParaRPr lang="zh-CN" altLang="en-US" sz="1200" dirty="0">
                        <a:solidFill>
                          <a:schemeClr val="tx1"/>
                        </a:solidFill>
                        <a:latin typeface="微软雅黑" panose="020B0503020204020204" charset="-122"/>
                        <a:ea typeface="微软雅黑" panose="020B0503020204020204" charset="-122"/>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D-3</a:t>
                      </a:r>
                      <a:endParaRPr lang="zh-CN" altLang="en-US" sz="1200" dirty="0">
                        <a:solidFill>
                          <a:schemeClr val="tx1"/>
                        </a:solidFill>
                        <a:latin typeface="微软雅黑" panose="020B0503020204020204" charset="-122"/>
                        <a:ea typeface="微软雅黑" panose="020B0503020204020204" charset="-122"/>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D-4</a:t>
                      </a:r>
                      <a:endParaRPr lang="zh-CN" altLang="en-US" sz="1200" dirty="0">
                        <a:solidFill>
                          <a:schemeClr val="tx1"/>
                        </a:solidFill>
                        <a:latin typeface="微软雅黑" panose="020B0503020204020204" charset="-122"/>
                        <a:ea typeface="微软雅黑" panose="020B0503020204020204" charset="-122"/>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D-5</a:t>
                      </a:r>
                      <a:endParaRPr lang="zh-CN" altLang="en-US" sz="1200" dirty="0">
                        <a:solidFill>
                          <a:schemeClr val="tx1"/>
                        </a:solidFill>
                        <a:latin typeface="微软雅黑" panose="020B0503020204020204" charset="-122"/>
                        <a:ea typeface="微软雅黑" panose="020B0503020204020204" charset="-122"/>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7" name="右大括号 11"/>
          <p:cNvSpPr/>
          <p:nvPr/>
        </p:nvSpPr>
        <p:spPr bwMode="auto">
          <a:xfrm rot="5400000">
            <a:off x="5072066" y="2857496"/>
            <a:ext cx="357188" cy="2214578"/>
          </a:xfrm>
          <a:prstGeom prst="rightBrace">
            <a:avLst>
              <a:gd name="adj1" fmla="val 36776"/>
              <a:gd name="adj2" fmla="val 50000"/>
            </a:avLst>
          </a:prstGeom>
          <a:noFill/>
          <a:ln w="9525" algn="ctr">
            <a:solidFill>
              <a:schemeClr val="tx1"/>
            </a:solidFill>
            <a:round/>
          </a:ln>
        </p:spPr>
        <p:txBody>
          <a:bodyPr anchor="ctr"/>
          <a:lstStyle/>
          <a:p>
            <a:pPr algn="ctr"/>
            <a:endParaRPr lang="zh-CN" altLang="en-US">
              <a:latin typeface="华文楷体" panose="02010600040101010101" pitchFamily="2" charset="-122"/>
              <a:ea typeface="华文楷体" panose="02010600040101010101" pitchFamily="2" charset="-122"/>
            </a:endParaRPr>
          </a:p>
        </p:txBody>
      </p:sp>
      <p:sp>
        <p:nvSpPr>
          <p:cNvPr id="58" name="右大括号 11"/>
          <p:cNvSpPr/>
          <p:nvPr/>
        </p:nvSpPr>
        <p:spPr bwMode="auto">
          <a:xfrm rot="5400000">
            <a:off x="2250266" y="2321710"/>
            <a:ext cx="357188" cy="3286148"/>
          </a:xfrm>
          <a:prstGeom prst="rightBrace">
            <a:avLst>
              <a:gd name="adj1" fmla="val 36776"/>
              <a:gd name="adj2" fmla="val 50000"/>
            </a:avLst>
          </a:prstGeom>
          <a:noFill/>
          <a:ln w="9525" algn="ctr">
            <a:solidFill>
              <a:schemeClr val="tx1"/>
            </a:solidFill>
            <a:round/>
          </a:ln>
        </p:spPr>
        <p:txBody>
          <a:bodyPr anchor="ctr"/>
          <a:lstStyle/>
          <a:p>
            <a:pPr algn="ctr"/>
            <a:endParaRPr lang="zh-CN" altLang="en-US">
              <a:latin typeface="华文楷体" panose="02010600040101010101" pitchFamily="2" charset="-122"/>
              <a:ea typeface="华文楷体" panose="02010600040101010101" pitchFamily="2" charset="-122"/>
            </a:endParaRPr>
          </a:p>
        </p:txBody>
      </p:sp>
      <p:sp>
        <p:nvSpPr>
          <p:cNvPr id="59" name="TextBox 13"/>
          <p:cNvSpPr txBox="1">
            <a:spLocks noChangeArrowheads="1"/>
          </p:cNvSpPr>
          <p:nvPr/>
        </p:nvSpPr>
        <p:spPr bwMode="auto">
          <a:xfrm>
            <a:off x="4942572" y="4143380"/>
            <a:ext cx="607860" cy="261610"/>
          </a:xfrm>
          <a:prstGeom prst="rect">
            <a:avLst/>
          </a:prstGeom>
          <a:noFill/>
          <a:ln w="9525">
            <a:noFill/>
            <a:miter lim="800000"/>
          </a:ln>
        </p:spPr>
        <p:txBody>
          <a:bodyPr wrap="none">
            <a:spAutoFit/>
          </a:bodyPr>
          <a:lstStyle/>
          <a:p>
            <a:pPr algn="ctr"/>
            <a:r>
              <a:rPr kumimoji="1" lang="zh-CN" altLang="en-US" sz="1100" dirty="0">
                <a:solidFill>
                  <a:srgbClr val="000000"/>
                </a:solidFill>
                <a:latin typeface="微软雅黑" panose="020B0503020204020204" charset="-122"/>
                <a:ea typeface="微软雅黑" panose="020B0503020204020204" charset="-122"/>
              </a:rPr>
              <a:t>计划区</a:t>
            </a:r>
            <a:endParaRPr kumimoji="1" lang="en-US" altLang="zh-CN" sz="1100" dirty="0">
              <a:solidFill>
                <a:srgbClr val="000000"/>
              </a:solidFill>
              <a:latin typeface="微软雅黑" panose="020B0503020204020204" charset="-122"/>
              <a:ea typeface="微软雅黑" panose="020B0503020204020204" charset="-122"/>
            </a:endParaRPr>
          </a:p>
        </p:txBody>
      </p:sp>
      <p:sp>
        <p:nvSpPr>
          <p:cNvPr id="60" name="TextBox 13"/>
          <p:cNvSpPr txBox="1">
            <a:spLocks noChangeArrowheads="1"/>
          </p:cNvSpPr>
          <p:nvPr/>
        </p:nvSpPr>
        <p:spPr bwMode="auto">
          <a:xfrm>
            <a:off x="2128594" y="4143380"/>
            <a:ext cx="607860" cy="261610"/>
          </a:xfrm>
          <a:prstGeom prst="rect">
            <a:avLst/>
          </a:prstGeom>
          <a:noFill/>
          <a:ln w="9525">
            <a:noFill/>
            <a:miter lim="800000"/>
          </a:ln>
        </p:spPr>
        <p:txBody>
          <a:bodyPr wrap="none">
            <a:spAutoFit/>
          </a:bodyPr>
          <a:lstStyle/>
          <a:p>
            <a:pPr algn="ctr"/>
            <a:r>
              <a:rPr kumimoji="1" lang="zh-CN" altLang="en-US" sz="1100" dirty="0">
                <a:solidFill>
                  <a:srgbClr val="000000"/>
                </a:solidFill>
                <a:latin typeface="微软雅黑" panose="020B0503020204020204" charset="-122"/>
                <a:ea typeface="微软雅黑" panose="020B0503020204020204" charset="-122"/>
              </a:rPr>
              <a:t>锁定区</a:t>
            </a:r>
            <a:endParaRPr kumimoji="1" lang="en-US" altLang="zh-CN" sz="1100" dirty="0">
              <a:solidFill>
                <a:srgbClr val="000000"/>
              </a:solidFill>
              <a:latin typeface="微软雅黑" panose="020B0503020204020204" charset="-122"/>
              <a:ea typeface="微软雅黑" panose="020B0503020204020204" charset="-122"/>
            </a:endParaRPr>
          </a:p>
        </p:txBody>
      </p:sp>
      <p:sp>
        <p:nvSpPr>
          <p:cNvPr id="61" name="Isosceles Triangle 206"/>
          <p:cNvSpPr/>
          <p:nvPr/>
        </p:nvSpPr>
        <p:spPr bwMode="auto">
          <a:xfrm>
            <a:off x="860644" y="4070232"/>
            <a:ext cx="216024" cy="216024"/>
          </a:xfrm>
          <a:prstGeom prst="triangle">
            <a:avLst/>
          </a:prstGeom>
          <a:solidFill>
            <a:srgbClr val="FF0000"/>
          </a:solidFill>
          <a:ln w="9525" cap="flat" cmpd="sng" algn="ctr">
            <a:noFill/>
            <a:prstDash val="solid"/>
            <a:round/>
            <a:headEnd type="none" w="med" len="med"/>
            <a:tailEnd type="none"/>
          </a:ln>
          <a:effectLst/>
        </p:spPr>
        <p:txBody>
          <a:bodyPr rtlCol="0" anchor="ctr"/>
          <a:lstStyle/>
          <a:p>
            <a:pPr algn="ctr"/>
            <a:endParaRPr lang="en-US"/>
          </a:p>
        </p:txBody>
      </p:sp>
      <p:sp>
        <p:nvSpPr>
          <p:cNvPr id="62" name="TextBox 61"/>
          <p:cNvSpPr txBox="1"/>
          <p:nvPr/>
        </p:nvSpPr>
        <p:spPr bwMode="auto">
          <a:xfrm>
            <a:off x="500034" y="4286256"/>
            <a:ext cx="928694" cy="276999"/>
          </a:xfrm>
          <a:prstGeom prst="rect">
            <a:avLst/>
          </a:prstGeom>
          <a:noFill/>
          <a:ln>
            <a:noFill/>
          </a:ln>
        </p:spPr>
        <p:txBody>
          <a:bodyPr wrap="square" rtlCol="0">
            <a:spAutoFit/>
          </a:bodyPr>
          <a:lstStyle/>
          <a:p>
            <a:pPr algn="ct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生产排产</a:t>
            </a:r>
            <a:endParaRPr kumimoji="1" 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讨论点：如何应对市场的变化和波动 </a:t>
            </a:r>
            <a:r>
              <a:rPr dirty="0"/>
              <a:t>— </a:t>
            </a:r>
            <a:r>
              <a:rPr lang="zh-CN" altLang="en-US" dirty="0"/>
              <a:t>柔性规则（未来示例）</a:t>
            </a:r>
            <a:endParaRPr lang="en-US" dirty="0"/>
          </a:p>
        </p:txBody>
      </p:sp>
      <p:sp>
        <p:nvSpPr>
          <p:cNvPr id="113" name="Rectangle 112"/>
          <p:cNvSpPr/>
          <p:nvPr/>
        </p:nvSpPr>
        <p:spPr bwMode="auto">
          <a:xfrm>
            <a:off x="2051720" y="1640654"/>
            <a:ext cx="3096344" cy="288032"/>
          </a:xfrm>
          <a:prstGeom prst="rect">
            <a:avLst/>
          </a:prstGeom>
          <a:noFill/>
          <a:ln w="9525" cap="flat" cmpd="sng" algn="ctr">
            <a:solidFill>
              <a:schemeClr val="accent3"/>
            </a:solidFill>
            <a:prstDash val="solid"/>
            <a:round/>
            <a:headEnd type="none" w="med" len="med"/>
            <a:tailEnd type="none"/>
          </a:ln>
          <a:effectLst/>
        </p:spPr>
        <p:txBody>
          <a:bodyPr rtlCol="0" anchor="ctr"/>
          <a:lstStyle/>
          <a:p>
            <a:pPr algn="ctr"/>
            <a:endParaRPr lang="en-US">
              <a:solidFill>
                <a:prstClr val="black"/>
              </a:solidFill>
              <a:latin typeface="华文楷体" panose="02010600040101010101" pitchFamily="2" charset="-122"/>
              <a:ea typeface="华文楷体" panose="02010600040101010101" pitchFamily="2" charset="-122"/>
            </a:endParaRPr>
          </a:p>
        </p:txBody>
      </p:sp>
      <p:grpSp>
        <p:nvGrpSpPr>
          <p:cNvPr id="3" name="Group 140"/>
          <p:cNvGrpSpPr/>
          <p:nvPr/>
        </p:nvGrpSpPr>
        <p:grpSpPr>
          <a:xfrm>
            <a:off x="611560" y="1424630"/>
            <a:ext cx="7344816" cy="517595"/>
            <a:chOff x="1547664" y="1700808"/>
            <a:chExt cx="8797417" cy="517595"/>
          </a:xfrm>
        </p:grpSpPr>
        <p:sp>
          <p:nvSpPr>
            <p:cNvPr id="68" name="Rectangle 67"/>
            <p:cNvSpPr/>
            <p:nvPr/>
          </p:nvSpPr>
          <p:spPr bwMode="auto">
            <a:xfrm>
              <a:off x="3476499" y="1928207"/>
              <a:ext cx="63790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dirty="0" err="1">
                  <a:solidFill>
                    <a:srgbClr val="4D4D4D"/>
                  </a:solidFill>
                  <a:latin typeface="Arial" panose="020B0604020202020204"/>
                  <a:ea typeface="华文楷体" panose="02010600040101010101" pitchFamily="2" charset="-122"/>
                  <a:cs typeface="Helvetica" pitchFamily="34" charset="0"/>
                </a:rPr>
                <a:t>Th</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69" name="Rectangle 68"/>
            <p:cNvSpPr/>
            <p:nvPr/>
          </p:nvSpPr>
          <p:spPr bwMode="auto">
            <a:xfrm>
              <a:off x="4064047" y="1928207"/>
              <a:ext cx="637909" cy="288508"/>
            </a:xfrm>
            <a:prstGeom prst="rect">
              <a:avLst/>
            </a:prstGeom>
            <a:solidFill>
              <a:srgbClr val="FFC000"/>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sp>
          <p:nvSpPr>
            <p:cNvPr id="70" name="Rectangle 69"/>
            <p:cNvSpPr/>
            <p:nvPr/>
          </p:nvSpPr>
          <p:spPr bwMode="auto">
            <a:xfrm>
              <a:off x="4701956" y="1928207"/>
              <a:ext cx="637909" cy="288508"/>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FFFFFF"/>
                  </a:solidFill>
                  <a:latin typeface="Arial" panose="020B0604020202020204"/>
                  <a:ea typeface="华文楷体" panose="02010600040101010101" pitchFamily="2" charset="-122"/>
                  <a:cs typeface="Helvetica" pitchFamily="34" charset="0"/>
                </a:rPr>
                <a:t>Sa</a:t>
              </a:r>
            </a:p>
          </p:txBody>
        </p:sp>
        <p:sp>
          <p:nvSpPr>
            <p:cNvPr id="71" name="Rectangle 70"/>
            <p:cNvSpPr/>
            <p:nvPr/>
          </p:nvSpPr>
          <p:spPr bwMode="auto">
            <a:xfrm>
              <a:off x="5314684" y="1928207"/>
              <a:ext cx="637909" cy="288508"/>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FFFFFF"/>
                  </a:solidFill>
                  <a:latin typeface="Arial" panose="020B0604020202020204"/>
                  <a:ea typeface="华文楷体" panose="02010600040101010101" pitchFamily="2" charset="-122"/>
                  <a:cs typeface="Helvetica" pitchFamily="34" charset="0"/>
                </a:rPr>
                <a:t>Su</a:t>
              </a:r>
            </a:p>
          </p:txBody>
        </p:sp>
        <p:sp>
          <p:nvSpPr>
            <p:cNvPr id="72" name="Rectangle 71"/>
            <p:cNvSpPr/>
            <p:nvPr/>
          </p:nvSpPr>
          <p:spPr bwMode="auto">
            <a:xfrm>
              <a:off x="1547664" y="1928207"/>
              <a:ext cx="63790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M</a:t>
              </a:r>
            </a:p>
          </p:txBody>
        </p:sp>
        <p:sp>
          <p:nvSpPr>
            <p:cNvPr id="73" name="Rectangle 72"/>
            <p:cNvSpPr/>
            <p:nvPr/>
          </p:nvSpPr>
          <p:spPr bwMode="auto">
            <a:xfrm>
              <a:off x="2185573" y="1928207"/>
              <a:ext cx="63790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a:solidFill>
                    <a:srgbClr val="4D4D4D"/>
                  </a:solidFill>
                  <a:latin typeface="Arial" panose="020B0604020202020204"/>
                  <a:ea typeface="华文楷体" panose="02010600040101010101" pitchFamily="2" charset="-122"/>
                  <a:cs typeface="Helvetica" pitchFamily="34" charset="0"/>
                </a:rPr>
                <a:t>Tu</a:t>
              </a:r>
            </a:p>
          </p:txBody>
        </p:sp>
        <p:sp>
          <p:nvSpPr>
            <p:cNvPr id="74" name="Rectangle 73"/>
            <p:cNvSpPr/>
            <p:nvPr/>
          </p:nvSpPr>
          <p:spPr bwMode="auto">
            <a:xfrm>
              <a:off x="2823482" y="1928207"/>
              <a:ext cx="63790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a:t>
              </a:r>
            </a:p>
          </p:txBody>
        </p:sp>
        <p:sp>
          <p:nvSpPr>
            <p:cNvPr id="77" name="Rectangle 76"/>
            <p:cNvSpPr/>
            <p:nvPr/>
          </p:nvSpPr>
          <p:spPr>
            <a:xfrm>
              <a:off x="1547664" y="1700808"/>
              <a:ext cx="4404926" cy="227400"/>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a:t>
              </a:r>
              <a:r>
                <a:rPr lang="en-US" altLang="zh-CN" sz="1200" i="1" kern="0" dirty="0">
                  <a:solidFill>
                    <a:srgbClr val="4D4D4D"/>
                  </a:solidFill>
                  <a:latin typeface="Arial" panose="020B0604020202020204"/>
                  <a:ea typeface="华文楷体" panose="02010600040101010101" pitchFamily="2" charset="-122"/>
                  <a:cs typeface="Helvetica" pitchFamily="34" charset="0"/>
                </a:rPr>
                <a:t>1</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78" name="Rectangle 77"/>
            <p:cNvSpPr/>
            <p:nvPr/>
          </p:nvSpPr>
          <p:spPr bwMode="auto">
            <a:xfrm>
              <a:off x="4064047" y="1929258"/>
              <a:ext cx="637909" cy="288508"/>
            </a:xfrm>
            <a:prstGeom prst="rect">
              <a:avLst/>
            </a:prstGeom>
            <a:solidFill>
              <a:srgbClr val="FFC000"/>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sp>
          <p:nvSpPr>
            <p:cNvPr id="79" name="Rectangle 78"/>
            <p:cNvSpPr/>
            <p:nvPr/>
          </p:nvSpPr>
          <p:spPr bwMode="auto">
            <a:xfrm>
              <a:off x="4064047" y="1929894"/>
              <a:ext cx="637909" cy="288509"/>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dirty="0">
                  <a:solidFill>
                    <a:srgbClr val="4D4D4D"/>
                  </a:solidFill>
                  <a:latin typeface="Arial" panose="020B0604020202020204"/>
                  <a:ea typeface="华文楷体" panose="02010600040101010101" pitchFamily="2" charset="-122"/>
                  <a:cs typeface="Helvetica" pitchFamily="34" charset="0"/>
                </a:rPr>
                <a:t>F</a:t>
              </a:r>
            </a:p>
          </p:txBody>
        </p:sp>
        <p:sp>
          <p:nvSpPr>
            <p:cNvPr id="120" name="Rectangle 119"/>
            <p:cNvSpPr/>
            <p:nvPr/>
          </p:nvSpPr>
          <p:spPr bwMode="auto">
            <a:xfrm>
              <a:off x="7868987" y="1928207"/>
              <a:ext cx="63790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dirty="0" err="1">
                  <a:solidFill>
                    <a:srgbClr val="4D4D4D"/>
                  </a:solidFill>
                  <a:latin typeface="Arial" panose="020B0604020202020204"/>
                  <a:ea typeface="华文楷体" panose="02010600040101010101" pitchFamily="2" charset="-122"/>
                  <a:cs typeface="Helvetica" pitchFamily="34" charset="0"/>
                </a:rPr>
                <a:t>Th</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21" name="Rectangle 120"/>
            <p:cNvSpPr/>
            <p:nvPr/>
          </p:nvSpPr>
          <p:spPr bwMode="auto">
            <a:xfrm>
              <a:off x="8456535" y="1928207"/>
              <a:ext cx="637909" cy="288508"/>
            </a:xfrm>
            <a:prstGeom prst="rect">
              <a:avLst/>
            </a:prstGeom>
            <a:solidFill>
              <a:srgbClr val="FFC000"/>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sp>
          <p:nvSpPr>
            <p:cNvPr id="122" name="Rectangle 121"/>
            <p:cNvSpPr/>
            <p:nvPr/>
          </p:nvSpPr>
          <p:spPr bwMode="auto">
            <a:xfrm>
              <a:off x="9094444" y="1928207"/>
              <a:ext cx="637909" cy="288508"/>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FFFFFF"/>
                  </a:solidFill>
                  <a:latin typeface="Arial" panose="020B0604020202020204"/>
                  <a:ea typeface="华文楷体" panose="02010600040101010101" pitchFamily="2" charset="-122"/>
                  <a:cs typeface="Helvetica" pitchFamily="34" charset="0"/>
                </a:rPr>
                <a:t>Sa</a:t>
              </a:r>
            </a:p>
          </p:txBody>
        </p:sp>
        <p:sp>
          <p:nvSpPr>
            <p:cNvPr id="123" name="Rectangle 122"/>
            <p:cNvSpPr/>
            <p:nvPr/>
          </p:nvSpPr>
          <p:spPr bwMode="auto">
            <a:xfrm>
              <a:off x="9707172" y="1928207"/>
              <a:ext cx="637909" cy="288508"/>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FFFFFF"/>
                  </a:solidFill>
                  <a:latin typeface="Arial" panose="020B0604020202020204"/>
                  <a:ea typeface="华文楷体" panose="02010600040101010101" pitchFamily="2" charset="-122"/>
                  <a:cs typeface="Helvetica" pitchFamily="34" charset="0"/>
                </a:rPr>
                <a:t>Su</a:t>
              </a:r>
            </a:p>
          </p:txBody>
        </p:sp>
        <p:sp>
          <p:nvSpPr>
            <p:cNvPr id="124" name="Rectangle 123"/>
            <p:cNvSpPr/>
            <p:nvPr/>
          </p:nvSpPr>
          <p:spPr bwMode="auto">
            <a:xfrm>
              <a:off x="5940152" y="1928207"/>
              <a:ext cx="63790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M</a:t>
              </a:r>
            </a:p>
          </p:txBody>
        </p:sp>
        <p:sp>
          <p:nvSpPr>
            <p:cNvPr id="125" name="Rectangle 124"/>
            <p:cNvSpPr/>
            <p:nvPr/>
          </p:nvSpPr>
          <p:spPr bwMode="auto">
            <a:xfrm>
              <a:off x="6578061" y="1928207"/>
              <a:ext cx="63790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err="1">
                  <a:solidFill>
                    <a:srgbClr val="4D4D4D"/>
                  </a:solidFill>
                  <a:latin typeface="Arial" panose="020B0604020202020204"/>
                  <a:ea typeface="华文楷体" panose="02010600040101010101" pitchFamily="2" charset="-122"/>
                  <a:cs typeface="Helvetica" pitchFamily="34" charset="0"/>
                </a:rPr>
                <a:t>Tu</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26" name="Rectangle 125"/>
            <p:cNvSpPr/>
            <p:nvPr/>
          </p:nvSpPr>
          <p:spPr bwMode="auto">
            <a:xfrm>
              <a:off x="7215970" y="1928207"/>
              <a:ext cx="63790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a:t>
              </a:r>
            </a:p>
          </p:txBody>
        </p:sp>
        <p:sp>
          <p:nvSpPr>
            <p:cNvPr id="127" name="Rectangle 126"/>
            <p:cNvSpPr/>
            <p:nvPr/>
          </p:nvSpPr>
          <p:spPr>
            <a:xfrm>
              <a:off x="5940152" y="1700808"/>
              <a:ext cx="4404926" cy="227400"/>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a:t>
              </a:r>
              <a:r>
                <a:rPr lang="en-US" altLang="zh-CN" sz="1200" i="1" kern="0" dirty="0">
                  <a:solidFill>
                    <a:srgbClr val="4D4D4D"/>
                  </a:solidFill>
                  <a:latin typeface="Arial" panose="020B0604020202020204"/>
                  <a:ea typeface="华文楷体" panose="02010600040101010101" pitchFamily="2" charset="-122"/>
                  <a:cs typeface="Helvetica" pitchFamily="34" charset="0"/>
                </a:rPr>
                <a:t>2</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28" name="Rectangle 127"/>
            <p:cNvSpPr/>
            <p:nvPr/>
          </p:nvSpPr>
          <p:spPr bwMode="auto">
            <a:xfrm>
              <a:off x="8456535" y="1929258"/>
              <a:ext cx="637909" cy="288508"/>
            </a:xfrm>
            <a:prstGeom prst="rect">
              <a:avLst/>
            </a:prstGeom>
            <a:solidFill>
              <a:srgbClr val="FFC000"/>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sp>
          <p:nvSpPr>
            <p:cNvPr id="129" name="Rectangle 128"/>
            <p:cNvSpPr/>
            <p:nvPr/>
          </p:nvSpPr>
          <p:spPr bwMode="auto">
            <a:xfrm>
              <a:off x="8456535" y="1929894"/>
              <a:ext cx="637909" cy="288509"/>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dirty="0">
                  <a:solidFill>
                    <a:srgbClr val="4D4D4D"/>
                  </a:solidFill>
                  <a:latin typeface="Arial" panose="020B0604020202020204"/>
                  <a:ea typeface="华文楷体" panose="02010600040101010101" pitchFamily="2" charset="-122"/>
                  <a:cs typeface="Helvetica" pitchFamily="34" charset="0"/>
                </a:rPr>
                <a:t>F</a:t>
              </a:r>
            </a:p>
          </p:txBody>
        </p:sp>
      </p:grpSp>
      <p:grpSp>
        <p:nvGrpSpPr>
          <p:cNvPr id="4" name="Group 141"/>
          <p:cNvGrpSpPr/>
          <p:nvPr/>
        </p:nvGrpSpPr>
        <p:grpSpPr>
          <a:xfrm>
            <a:off x="611560" y="3501008"/>
            <a:ext cx="7877396" cy="517596"/>
            <a:chOff x="1547664" y="3573016"/>
            <a:chExt cx="9435326" cy="517596"/>
          </a:xfrm>
        </p:grpSpPr>
        <p:grpSp>
          <p:nvGrpSpPr>
            <p:cNvPr id="5" name="Group 93"/>
            <p:cNvGrpSpPr/>
            <p:nvPr/>
          </p:nvGrpSpPr>
          <p:grpSpPr>
            <a:xfrm>
              <a:off x="1547664" y="3573016"/>
              <a:ext cx="4404929" cy="517596"/>
              <a:chOff x="684153" y="1710670"/>
              <a:chExt cx="1666240" cy="432902"/>
            </a:xfrm>
          </p:grpSpPr>
          <p:sp>
            <p:nvSpPr>
              <p:cNvPr id="95" name="Rectangle 94"/>
              <p:cNvSpPr/>
              <p:nvPr/>
            </p:nvSpPr>
            <p:spPr bwMode="auto">
              <a:xfrm>
                <a:off x="1413768" y="1900861"/>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dirty="0" err="1">
                    <a:solidFill>
                      <a:srgbClr val="4D4D4D"/>
                    </a:solidFill>
                    <a:latin typeface="Arial" panose="020B0604020202020204"/>
                    <a:ea typeface="华文楷体" panose="02010600040101010101" pitchFamily="2" charset="-122"/>
                    <a:cs typeface="Helvetica" pitchFamily="34" charset="0"/>
                  </a:rPr>
                  <a:t>Th</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96" name="Rectangle 95"/>
              <p:cNvSpPr/>
              <p:nvPr/>
            </p:nvSpPr>
            <p:spPr bwMode="auto">
              <a:xfrm>
                <a:off x="1636018" y="1900861"/>
                <a:ext cx="241300" cy="241300"/>
              </a:xfrm>
              <a:prstGeom prst="rect">
                <a:avLst/>
              </a:prstGeom>
              <a:solidFill>
                <a:srgbClr val="FFC000"/>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sp>
            <p:nvSpPr>
              <p:cNvPr id="97" name="Rectangle 96"/>
              <p:cNvSpPr/>
              <p:nvPr/>
            </p:nvSpPr>
            <p:spPr bwMode="auto">
              <a:xfrm>
                <a:off x="1877318" y="1900861"/>
                <a:ext cx="241300" cy="241300"/>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FFFFFF"/>
                    </a:solidFill>
                    <a:latin typeface="Arial" panose="020B0604020202020204"/>
                    <a:ea typeface="华文楷体" panose="02010600040101010101" pitchFamily="2" charset="-122"/>
                    <a:cs typeface="Helvetica" pitchFamily="34" charset="0"/>
                  </a:rPr>
                  <a:t>Sa</a:t>
                </a:r>
              </a:p>
            </p:txBody>
          </p:sp>
          <p:sp>
            <p:nvSpPr>
              <p:cNvPr id="98" name="Rectangle 97"/>
              <p:cNvSpPr/>
              <p:nvPr/>
            </p:nvSpPr>
            <p:spPr bwMode="auto">
              <a:xfrm>
                <a:off x="2109093" y="1900861"/>
                <a:ext cx="241300" cy="241300"/>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a:solidFill>
                      <a:srgbClr val="FFFFFF"/>
                    </a:solidFill>
                    <a:latin typeface="Arial" panose="020B0604020202020204"/>
                    <a:ea typeface="华文楷体" panose="02010600040101010101" pitchFamily="2" charset="-122"/>
                    <a:cs typeface="Helvetica" pitchFamily="34" charset="0"/>
                  </a:rPr>
                  <a:t>Su</a:t>
                </a:r>
              </a:p>
            </p:txBody>
          </p:sp>
          <p:sp>
            <p:nvSpPr>
              <p:cNvPr id="99" name="Rectangle 98"/>
              <p:cNvSpPr/>
              <p:nvPr/>
            </p:nvSpPr>
            <p:spPr bwMode="auto">
              <a:xfrm>
                <a:off x="684153" y="1900861"/>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M</a:t>
                </a:r>
              </a:p>
            </p:txBody>
          </p:sp>
          <p:sp>
            <p:nvSpPr>
              <p:cNvPr id="100" name="Rectangle 99"/>
              <p:cNvSpPr/>
              <p:nvPr/>
            </p:nvSpPr>
            <p:spPr bwMode="auto">
              <a:xfrm>
                <a:off x="925453" y="1900861"/>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a:solidFill>
                      <a:srgbClr val="4D4D4D"/>
                    </a:solidFill>
                    <a:latin typeface="Arial" panose="020B0604020202020204"/>
                    <a:ea typeface="华文楷体" panose="02010600040101010101" pitchFamily="2" charset="-122"/>
                    <a:cs typeface="Helvetica" pitchFamily="34" charset="0"/>
                  </a:rPr>
                  <a:t>Tu</a:t>
                </a:r>
              </a:p>
            </p:txBody>
          </p:sp>
          <p:sp>
            <p:nvSpPr>
              <p:cNvPr id="101" name="Rectangle 100"/>
              <p:cNvSpPr/>
              <p:nvPr/>
            </p:nvSpPr>
            <p:spPr bwMode="auto">
              <a:xfrm>
                <a:off x="1166753" y="1900861"/>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a:t>
                </a:r>
              </a:p>
            </p:txBody>
          </p:sp>
          <p:sp>
            <p:nvSpPr>
              <p:cNvPr id="102" name="Rectangle 101"/>
              <p:cNvSpPr/>
              <p:nvPr/>
            </p:nvSpPr>
            <p:spPr>
              <a:xfrm>
                <a:off x="684153" y="1710670"/>
                <a:ext cx="1666239" cy="190191"/>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a:t>
                </a:r>
                <a:r>
                  <a:rPr lang="en-US" altLang="zh-CN" sz="1200" i="1" kern="0" dirty="0">
                    <a:solidFill>
                      <a:srgbClr val="4D4D4D"/>
                    </a:solidFill>
                    <a:latin typeface="Arial" panose="020B0604020202020204"/>
                    <a:ea typeface="华文楷体" panose="02010600040101010101" pitchFamily="2" charset="-122"/>
                    <a:cs typeface="Helvetica" pitchFamily="34" charset="0"/>
                  </a:rPr>
                  <a:t>1</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03" name="Rectangle 102"/>
              <p:cNvSpPr/>
              <p:nvPr/>
            </p:nvSpPr>
            <p:spPr bwMode="auto">
              <a:xfrm>
                <a:off x="1636018" y="1901741"/>
                <a:ext cx="241300" cy="241300"/>
              </a:xfrm>
              <a:prstGeom prst="rect">
                <a:avLst/>
              </a:prstGeom>
              <a:solidFill>
                <a:srgbClr val="FFC000"/>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sp>
            <p:nvSpPr>
              <p:cNvPr id="104" name="Rectangle 103"/>
              <p:cNvSpPr/>
              <p:nvPr/>
            </p:nvSpPr>
            <p:spPr bwMode="auto">
              <a:xfrm>
                <a:off x="1636018" y="1902272"/>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grpSp>
        <p:grpSp>
          <p:nvGrpSpPr>
            <p:cNvPr id="6" name="Group 129"/>
            <p:cNvGrpSpPr/>
            <p:nvPr/>
          </p:nvGrpSpPr>
          <p:grpSpPr>
            <a:xfrm>
              <a:off x="5940152" y="3573016"/>
              <a:ext cx="5042838" cy="517595"/>
              <a:chOff x="684153" y="1710673"/>
              <a:chExt cx="1907540" cy="432902"/>
            </a:xfrm>
          </p:grpSpPr>
          <p:sp>
            <p:nvSpPr>
              <p:cNvPr id="131" name="Rectangle 130"/>
              <p:cNvSpPr/>
              <p:nvPr/>
            </p:nvSpPr>
            <p:spPr bwMode="auto">
              <a:xfrm>
                <a:off x="1413768" y="1900863"/>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dirty="0" err="1">
                    <a:solidFill>
                      <a:srgbClr val="4D4D4D"/>
                    </a:solidFill>
                    <a:latin typeface="Arial" panose="020B0604020202020204"/>
                    <a:ea typeface="华文楷体" panose="02010600040101010101" pitchFamily="2" charset="-122"/>
                    <a:cs typeface="Helvetica" pitchFamily="34" charset="0"/>
                  </a:rPr>
                  <a:t>Th</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32" name="Rectangle 131"/>
              <p:cNvSpPr/>
              <p:nvPr/>
            </p:nvSpPr>
            <p:spPr bwMode="auto">
              <a:xfrm>
                <a:off x="1636018" y="1900863"/>
                <a:ext cx="241300" cy="241300"/>
              </a:xfrm>
              <a:prstGeom prst="rect">
                <a:avLst/>
              </a:prstGeom>
              <a:solidFill>
                <a:srgbClr val="FFC000"/>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sp>
            <p:nvSpPr>
              <p:cNvPr id="133" name="Rectangle 132"/>
              <p:cNvSpPr/>
              <p:nvPr/>
            </p:nvSpPr>
            <p:spPr bwMode="auto">
              <a:xfrm>
                <a:off x="1877318" y="1900863"/>
                <a:ext cx="241300" cy="241300"/>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FFFFFF"/>
                    </a:solidFill>
                    <a:latin typeface="Arial" panose="020B0604020202020204"/>
                    <a:ea typeface="华文楷体" panose="02010600040101010101" pitchFamily="2" charset="-122"/>
                    <a:cs typeface="Helvetica" pitchFamily="34" charset="0"/>
                  </a:rPr>
                  <a:t>Sa</a:t>
                </a:r>
              </a:p>
            </p:txBody>
          </p:sp>
          <p:sp>
            <p:nvSpPr>
              <p:cNvPr id="134" name="Rectangle 133"/>
              <p:cNvSpPr/>
              <p:nvPr/>
            </p:nvSpPr>
            <p:spPr bwMode="auto">
              <a:xfrm>
                <a:off x="2109093" y="1900863"/>
                <a:ext cx="241300" cy="241300"/>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FFFFFF"/>
                    </a:solidFill>
                    <a:latin typeface="Arial" panose="020B0604020202020204"/>
                    <a:ea typeface="华文楷体" panose="02010600040101010101" pitchFamily="2" charset="-122"/>
                    <a:cs typeface="Helvetica" pitchFamily="34" charset="0"/>
                  </a:rPr>
                  <a:t>Su</a:t>
                </a:r>
              </a:p>
            </p:txBody>
          </p:sp>
          <p:sp>
            <p:nvSpPr>
              <p:cNvPr id="135" name="Rectangle 134"/>
              <p:cNvSpPr/>
              <p:nvPr/>
            </p:nvSpPr>
            <p:spPr bwMode="auto">
              <a:xfrm>
                <a:off x="684153" y="1900863"/>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M</a:t>
                </a:r>
              </a:p>
            </p:txBody>
          </p:sp>
          <p:sp>
            <p:nvSpPr>
              <p:cNvPr id="136" name="Rectangle 135"/>
              <p:cNvSpPr/>
              <p:nvPr/>
            </p:nvSpPr>
            <p:spPr bwMode="auto">
              <a:xfrm>
                <a:off x="925453" y="1900863"/>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a:solidFill>
                      <a:srgbClr val="4D4D4D"/>
                    </a:solidFill>
                    <a:latin typeface="Arial" panose="020B0604020202020204"/>
                    <a:ea typeface="华文楷体" panose="02010600040101010101" pitchFamily="2" charset="-122"/>
                    <a:cs typeface="Helvetica" pitchFamily="34" charset="0"/>
                  </a:rPr>
                  <a:t>Tu</a:t>
                </a:r>
              </a:p>
            </p:txBody>
          </p:sp>
          <p:sp>
            <p:nvSpPr>
              <p:cNvPr id="137" name="Rectangle 136"/>
              <p:cNvSpPr/>
              <p:nvPr/>
            </p:nvSpPr>
            <p:spPr bwMode="auto">
              <a:xfrm>
                <a:off x="1166753" y="1900863"/>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a:t>
                </a:r>
              </a:p>
            </p:txBody>
          </p:sp>
          <p:sp>
            <p:nvSpPr>
              <p:cNvPr id="138" name="Rectangle 137"/>
              <p:cNvSpPr/>
              <p:nvPr/>
            </p:nvSpPr>
            <p:spPr>
              <a:xfrm>
                <a:off x="684153" y="1710673"/>
                <a:ext cx="1666239" cy="190191"/>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a:t>
                </a:r>
                <a:r>
                  <a:rPr lang="en-US" altLang="zh-CN" sz="1200" i="1" kern="0" dirty="0">
                    <a:solidFill>
                      <a:srgbClr val="4D4D4D"/>
                    </a:solidFill>
                    <a:latin typeface="Arial" panose="020B0604020202020204"/>
                    <a:ea typeface="华文楷体" panose="02010600040101010101" pitchFamily="2" charset="-122"/>
                    <a:cs typeface="Helvetica" pitchFamily="34" charset="0"/>
                  </a:rPr>
                  <a:t>2</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39" name="Rectangle 138"/>
              <p:cNvSpPr/>
              <p:nvPr/>
            </p:nvSpPr>
            <p:spPr bwMode="auto">
              <a:xfrm>
                <a:off x="1636018" y="1901742"/>
                <a:ext cx="241300" cy="241300"/>
              </a:xfrm>
              <a:prstGeom prst="rect">
                <a:avLst/>
              </a:prstGeom>
              <a:solidFill>
                <a:srgbClr val="FFC000"/>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a:solidFill>
                      <a:srgbClr val="4D4D4D"/>
                    </a:solidFill>
                    <a:latin typeface="Arial" panose="020B0604020202020204"/>
                    <a:ea typeface="华文楷体" panose="02010600040101010101" pitchFamily="2" charset="-122"/>
                    <a:cs typeface="Helvetica" pitchFamily="34" charset="0"/>
                  </a:rPr>
                  <a:t>F</a:t>
                </a:r>
              </a:p>
            </p:txBody>
          </p:sp>
          <p:sp>
            <p:nvSpPr>
              <p:cNvPr id="140" name="Rectangle 139"/>
              <p:cNvSpPr/>
              <p:nvPr/>
            </p:nvSpPr>
            <p:spPr bwMode="auto">
              <a:xfrm>
                <a:off x="1636018" y="1902274"/>
                <a:ext cx="241300" cy="241301"/>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r>
                  <a:rPr lang="en-US" sz="1200" i="1" kern="0" dirty="0">
                    <a:solidFill>
                      <a:srgbClr val="4D4D4D"/>
                    </a:solidFill>
                    <a:latin typeface="Arial" panose="020B0604020202020204"/>
                    <a:ea typeface="华文楷体" panose="02010600040101010101" pitchFamily="2" charset="-122"/>
                    <a:cs typeface="Helvetica" pitchFamily="34" charset="0"/>
                  </a:rPr>
                  <a:t>F</a:t>
                </a:r>
              </a:p>
            </p:txBody>
          </p:sp>
          <p:sp>
            <p:nvSpPr>
              <p:cNvPr id="188" name="Rectangle 187"/>
              <p:cNvSpPr/>
              <p:nvPr/>
            </p:nvSpPr>
            <p:spPr bwMode="auto">
              <a:xfrm>
                <a:off x="2350393" y="1900863"/>
                <a:ext cx="241300"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W3</a:t>
                </a:r>
              </a:p>
            </p:txBody>
          </p:sp>
          <p:sp>
            <p:nvSpPr>
              <p:cNvPr id="189" name="Rectangle 188"/>
              <p:cNvSpPr/>
              <p:nvPr/>
            </p:nvSpPr>
            <p:spPr>
              <a:xfrm>
                <a:off x="2350393" y="1710673"/>
                <a:ext cx="228376" cy="180676"/>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W3</a:t>
                </a:r>
              </a:p>
            </p:txBody>
          </p:sp>
        </p:grpSp>
      </p:grpSp>
      <p:grpSp>
        <p:nvGrpSpPr>
          <p:cNvPr id="7" name="Group 148"/>
          <p:cNvGrpSpPr/>
          <p:nvPr/>
        </p:nvGrpSpPr>
        <p:grpSpPr>
          <a:xfrm>
            <a:off x="611560" y="1926999"/>
            <a:ext cx="3672408" cy="795465"/>
            <a:chOff x="1418609" y="2203177"/>
            <a:chExt cx="3628924" cy="795465"/>
          </a:xfrm>
        </p:grpSpPr>
        <p:sp>
          <p:nvSpPr>
            <p:cNvPr id="144" name="Rectangle 143"/>
            <p:cNvSpPr/>
            <p:nvPr/>
          </p:nvSpPr>
          <p:spPr bwMode="auto">
            <a:xfrm>
              <a:off x="3028961" y="2204864"/>
              <a:ext cx="532580" cy="792088"/>
            </a:xfrm>
            <a:prstGeom prst="rect">
              <a:avLst/>
            </a:prstGeom>
            <a:solidFill>
              <a:schemeClr val="bg1"/>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45" name="Rectangle 144"/>
            <p:cNvSpPr/>
            <p:nvPr/>
          </p:nvSpPr>
          <p:spPr bwMode="auto">
            <a:xfrm>
              <a:off x="1418609" y="2204864"/>
              <a:ext cx="532580" cy="792088"/>
            </a:xfrm>
            <a:prstGeom prst="rect">
              <a:avLst/>
            </a:prstGeom>
            <a:solidFill>
              <a:schemeClr val="accent6">
                <a:lumMod val="20000"/>
                <a:lumOff val="80000"/>
              </a:schemeClr>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46" name="Rectangle 145"/>
            <p:cNvSpPr/>
            <p:nvPr/>
          </p:nvSpPr>
          <p:spPr bwMode="auto">
            <a:xfrm>
              <a:off x="1951189" y="2204864"/>
              <a:ext cx="532580" cy="792088"/>
            </a:xfrm>
            <a:prstGeom prst="rect">
              <a:avLst/>
            </a:prstGeom>
            <a:solidFill>
              <a:srgbClr val="FDEADA"/>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47" name="Rectangle 146"/>
            <p:cNvSpPr/>
            <p:nvPr/>
          </p:nvSpPr>
          <p:spPr bwMode="auto">
            <a:xfrm>
              <a:off x="2483768" y="2204864"/>
              <a:ext cx="532580" cy="792088"/>
            </a:xfrm>
            <a:prstGeom prst="rect">
              <a:avLst/>
            </a:prstGeom>
            <a:solidFill>
              <a:schemeClr val="accent3">
                <a:lumMod val="60000"/>
                <a:lumOff val="40000"/>
              </a:schemeClr>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48" name="Rectangle 147"/>
            <p:cNvSpPr/>
            <p:nvPr/>
          </p:nvSpPr>
          <p:spPr bwMode="auto">
            <a:xfrm>
              <a:off x="3519495" y="2206551"/>
              <a:ext cx="532580" cy="792091"/>
            </a:xfrm>
            <a:prstGeom prst="rect">
              <a:avLst/>
            </a:prstGeom>
            <a:solidFill>
              <a:schemeClr val="bg1"/>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50" name="Rectangle 149"/>
            <p:cNvSpPr/>
            <p:nvPr/>
          </p:nvSpPr>
          <p:spPr bwMode="auto">
            <a:xfrm>
              <a:off x="4024419" y="2203177"/>
              <a:ext cx="532580" cy="792088"/>
            </a:xfrm>
            <a:prstGeom prst="rect">
              <a:avLst/>
            </a:prstGeom>
            <a:solidFill>
              <a:schemeClr val="bg1"/>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51" name="Rectangle 150"/>
            <p:cNvSpPr/>
            <p:nvPr/>
          </p:nvSpPr>
          <p:spPr bwMode="auto">
            <a:xfrm>
              <a:off x="4514953" y="2204864"/>
              <a:ext cx="532580" cy="792091"/>
            </a:xfrm>
            <a:prstGeom prst="rect">
              <a:avLst/>
            </a:prstGeom>
            <a:solidFill>
              <a:schemeClr val="bg1"/>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grpSp>
      <p:sp>
        <p:nvSpPr>
          <p:cNvPr id="143" name="Rectangle 142"/>
          <p:cNvSpPr/>
          <p:nvPr/>
        </p:nvSpPr>
        <p:spPr bwMode="auto">
          <a:xfrm>
            <a:off x="2267744" y="1916832"/>
            <a:ext cx="1512168" cy="792088"/>
          </a:xfrm>
          <a:prstGeom prst="rect">
            <a:avLst/>
          </a:prstGeom>
          <a:noFill/>
          <a:ln w="9525" cap="flat" cmpd="sng" algn="ctr">
            <a:solidFill>
              <a:srgbClr val="9BBB59"/>
            </a:solidFill>
            <a:prstDash val="solid"/>
            <a:round/>
            <a:headEnd type="none" w="med" len="med"/>
            <a:tailEnd type="none"/>
          </a:ln>
          <a:effectLst/>
        </p:spPr>
        <p:txBody>
          <a:bodyPr rtlCol="0" anchor="ctr"/>
          <a:lstStyle/>
          <a:p>
            <a:pPr algn="ctr"/>
            <a:endParaRPr lang="en-US">
              <a:solidFill>
                <a:prstClr val="black"/>
              </a:solidFill>
              <a:latin typeface="华文楷体" panose="02010600040101010101" pitchFamily="2" charset="-122"/>
              <a:ea typeface="华文楷体" panose="02010600040101010101" pitchFamily="2" charset="-122"/>
            </a:endParaRPr>
          </a:p>
        </p:txBody>
      </p:sp>
      <p:sp>
        <p:nvSpPr>
          <p:cNvPr id="153" name="TextBox 152"/>
          <p:cNvSpPr txBox="1"/>
          <p:nvPr/>
        </p:nvSpPr>
        <p:spPr bwMode="auto">
          <a:xfrm>
            <a:off x="611560" y="2144710"/>
            <a:ext cx="1080120" cy="276999"/>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订单接收区</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4" name="TextBox 153"/>
          <p:cNvSpPr txBox="1"/>
          <p:nvPr/>
        </p:nvSpPr>
        <p:spPr bwMode="auto">
          <a:xfrm>
            <a:off x="1691680" y="2132856"/>
            <a:ext cx="504056" cy="461665"/>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订单评审</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grpSp>
        <p:nvGrpSpPr>
          <p:cNvPr id="8" name="Group 156"/>
          <p:cNvGrpSpPr/>
          <p:nvPr/>
        </p:nvGrpSpPr>
        <p:grpSpPr>
          <a:xfrm>
            <a:off x="4283968" y="1928686"/>
            <a:ext cx="3672408" cy="795465"/>
            <a:chOff x="1375125" y="2203177"/>
            <a:chExt cx="3672408" cy="795465"/>
          </a:xfrm>
        </p:grpSpPr>
        <p:sp>
          <p:nvSpPr>
            <p:cNvPr id="158" name="Rectangle 157"/>
            <p:cNvSpPr/>
            <p:nvPr/>
          </p:nvSpPr>
          <p:spPr bwMode="auto">
            <a:xfrm>
              <a:off x="3028961" y="2204864"/>
              <a:ext cx="532580" cy="792088"/>
            </a:xfrm>
            <a:prstGeom prst="rect">
              <a:avLst/>
            </a:prstGeom>
            <a:solidFill>
              <a:schemeClr val="tx2">
                <a:lumMod val="20000"/>
                <a:lumOff val="80000"/>
              </a:schemeClr>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59" name="Rectangle 158"/>
            <p:cNvSpPr/>
            <p:nvPr/>
          </p:nvSpPr>
          <p:spPr bwMode="auto">
            <a:xfrm>
              <a:off x="1375125" y="2204864"/>
              <a:ext cx="576064" cy="792088"/>
            </a:xfrm>
            <a:prstGeom prst="rect">
              <a:avLst/>
            </a:prstGeom>
            <a:solidFill>
              <a:schemeClr val="bg1">
                <a:lumMod val="65000"/>
              </a:schemeClr>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60" name="Rectangle 159"/>
            <p:cNvSpPr/>
            <p:nvPr/>
          </p:nvSpPr>
          <p:spPr bwMode="auto">
            <a:xfrm>
              <a:off x="1951189" y="2204864"/>
              <a:ext cx="532580" cy="792088"/>
            </a:xfrm>
            <a:prstGeom prst="rect">
              <a:avLst/>
            </a:prstGeom>
            <a:solidFill>
              <a:schemeClr val="bg1">
                <a:lumMod val="65000"/>
              </a:schemeClr>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61" name="Rectangle 160"/>
            <p:cNvSpPr/>
            <p:nvPr/>
          </p:nvSpPr>
          <p:spPr bwMode="auto">
            <a:xfrm>
              <a:off x="2483768" y="2204864"/>
              <a:ext cx="532580" cy="792088"/>
            </a:xfrm>
            <a:prstGeom prst="rect">
              <a:avLst/>
            </a:prstGeom>
            <a:solidFill>
              <a:srgbClr val="A6A6A6"/>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62" name="Rectangle 161"/>
            <p:cNvSpPr/>
            <p:nvPr/>
          </p:nvSpPr>
          <p:spPr bwMode="auto">
            <a:xfrm>
              <a:off x="3519495" y="2206551"/>
              <a:ext cx="532580" cy="792091"/>
            </a:xfrm>
            <a:prstGeom prst="rect">
              <a:avLst/>
            </a:prstGeom>
            <a:solidFill>
              <a:schemeClr val="tx2">
                <a:lumMod val="20000"/>
                <a:lumOff val="80000"/>
              </a:schemeClr>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63" name="Rectangle 162"/>
            <p:cNvSpPr/>
            <p:nvPr/>
          </p:nvSpPr>
          <p:spPr bwMode="auto">
            <a:xfrm>
              <a:off x="4024419" y="2203177"/>
              <a:ext cx="532580" cy="792088"/>
            </a:xfrm>
            <a:prstGeom prst="rect">
              <a:avLst/>
            </a:prstGeom>
            <a:solidFill>
              <a:schemeClr val="tx2">
                <a:lumMod val="20000"/>
                <a:lumOff val="80000"/>
              </a:schemeClr>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64" name="Rectangle 163"/>
            <p:cNvSpPr/>
            <p:nvPr/>
          </p:nvSpPr>
          <p:spPr bwMode="auto">
            <a:xfrm>
              <a:off x="4514953" y="2204864"/>
              <a:ext cx="532580" cy="792091"/>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grpSp>
      <p:sp>
        <p:nvSpPr>
          <p:cNvPr id="165" name="TextBox 164"/>
          <p:cNvSpPr txBox="1"/>
          <p:nvPr/>
        </p:nvSpPr>
        <p:spPr bwMode="auto">
          <a:xfrm>
            <a:off x="4283968" y="2144710"/>
            <a:ext cx="1872208" cy="288032"/>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锁定区</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grpSp>
        <p:nvGrpSpPr>
          <p:cNvPr id="9" name="Group 165"/>
          <p:cNvGrpSpPr/>
          <p:nvPr/>
        </p:nvGrpSpPr>
        <p:grpSpPr>
          <a:xfrm>
            <a:off x="611560" y="4005064"/>
            <a:ext cx="3672408" cy="795465"/>
            <a:chOff x="1418609" y="2203177"/>
            <a:chExt cx="3628924" cy="795465"/>
          </a:xfrm>
        </p:grpSpPr>
        <p:sp>
          <p:nvSpPr>
            <p:cNvPr id="167" name="Rectangle 166"/>
            <p:cNvSpPr/>
            <p:nvPr/>
          </p:nvSpPr>
          <p:spPr bwMode="auto">
            <a:xfrm>
              <a:off x="2984027" y="2204864"/>
              <a:ext cx="533669" cy="792088"/>
            </a:xfrm>
            <a:prstGeom prst="rect">
              <a:avLst/>
            </a:prstGeom>
            <a:solidFill>
              <a:schemeClr val="accent5">
                <a:lumMod val="20000"/>
                <a:lumOff val="80000"/>
              </a:schemeClr>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68" name="Rectangle 167"/>
            <p:cNvSpPr/>
            <p:nvPr/>
          </p:nvSpPr>
          <p:spPr bwMode="auto">
            <a:xfrm>
              <a:off x="1418609" y="2204864"/>
              <a:ext cx="532580" cy="792088"/>
            </a:xfrm>
            <a:prstGeom prst="rect">
              <a:avLst/>
            </a:prstGeom>
            <a:no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69" name="Rectangle 168"/>
            <p:cNvSpPr/>
            <p:nvPr/>
          </p:nvSpPr>
          <p:spPr bwMode="auto">
            <a:xfrm>
              <a:off x="1951189" y="2204864"/>
              <a:ext cx="532580" cy="792088"/>
            </a:xfrm>
            <a:prstGeom prst="rect">
              <a:avLst/>
            </a:prstGeom>
            <a:no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70" name="Rectangle 169"/>
            <p:cNvSpPr/>
            <p:nvPr/>
          </p:nvSpPr>
          <p:spPr bwMode="auto">
            <a:xfrm>
              <a:off x="2483768" y="2204864"/>
              <a:ext cx="500260" cy="792088"/>
            </a:xfrm>
            <a:prstGeom prst="rect">
              <a:avLst/>
            </a:prstGeom>
            <a:solidFill>
              <a:schemeClr val="accent6">
                <a:lumMod val="20000"/>
                <a:lumOff val="80000"/>
              </a:schemeClr>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71" name="Rectangle 170"/>
            <p:cNvSpPr/>
            <p:nvPr/>
          </p:nvSpPr>
          <p:spPr bwMode="auto">
            <a:xfrm>
              <a:off x="3519495" y="2206551"/>
              <a:ext cx="497007" cy="792091"/>
            </a:xfrm>
            <a:prstGeom prst="rect">
              <a:avLst/>
            </a:prstGeom>
            <a:no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72" name="Rectangle 171"/>
            <p:cNvSpPr/>
            <p:nvPr/>
          </p:nvSpPr>
          <p:spPr bwMode="auto">
            <a:xfrm>
              <a:off x="4024419" y="2203177"/>
              <a:ext cx="532580" cy="792088"/>
            </a:xfrm>
            <a:prstGeom prst="rect">
              <a:avLst/>
            </a:prstGeom>
            <a:noFill/>
            <a:ln w="12700" cap="flat" cmpd="sng" algn="ctr">
              <a:solidFill>
                <a:schemeClr val="bg1">
                  <a:lumMod val="85000"/>
                </a:scheme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73" name="Rectangle 172"/>
            <p:cNvSpPr/>
            <p:nvPr/>
          </p:nvSpPr>
          <p:spPr bwMode="auto">
            <a:xfrm>
              <a:off x="4514953" y="2204864"/>
              <a:ext cx="532580" cy="792091"/>
            </a:xfrm>
            <a:prstGeom prst="rect">
              <a:avLst/>
            </a:prstGeom>
            <a:solidFill>
              <a:srgbClr val="FFFFFF"/>
            </a:solidFill>
            <a:ln w="12700" cap="flat" cmpd="sng" algn="ctr">
              <a:solidFill>
                <a:schemeClr val="bg1">
                  <a:lumMod val="85000"/>
                </a:scheme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grpSp>
      <p:grpSp>
        <p:nvGrpSpPr>
          <p:cNvPr id="10" name="Group 173"/>
          <p:cNvGrpSpPr/>
          <p:nvPr/>
        </p:nvGrpSpPr>
        <p:grpSpPr>
          <a:xfrm>
            <a:off x="4283968" y="4006751"/>
            <a:ext cx="3672408" cy="795465"/>
            <a:chOff x="1375125" y="2203177"/>
            <a:chExt cx="3672408" cy="795465"/>
          </a:xfrm>
        </p:grpSpPr>
        <p:sp>
          <p:nvSpPr>
            <p:cNvPr id="175" name="Rectangle 174"/>
            <p:cNvSpPr/>
            <p:nvPr/>
          </p:nvSpPr>
          <p:spPr bwMode="auto">
            <a:xfrm>
              <a:off x="3028961" y="2204864"/>
              <a:ext cx="532580" cy="792088"/>
            </a:xfrm>
            <a:prstGeom prst="rect">
              <a:avLst/>
            </a:prstGeom>
            <a:solidFill>
              <a:srgbClr val="C6D9F1"/>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76" name="Rectangle 175"/>
            <p:cNvSpPr/>
            <p:nvPr/>
          </p:nvSpPr>
          <p:spPr bwMode="auto">
            <a:xfrm>
              <a:off x="1375125" y="2204864"/>
              <a:ext cx="576064" cy="792088"/>
            </a:xfrm>
            <a:prstGeom prst="rect">
              <a:avLst/>
            </a:prstGeom>
            <a:solidFill>
              <a:schemeClr val="bg1">
                <a:lumMod val="65000"/>
              </a:schemeClr>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77" name="Rectangle 176"/>
            <p:cNvSpPr/>
            <p:nvPr/>
          </p:nvSpPr>
          <p:spPr bwMode="auto">
            <a:xfrm>
              <a:off x="1951189" y="2204864"/>
              <a:ext cx="532580" cy="792088"/>
            </a:xfrm>
            <a:prstGeom prst="rect">
              <a:avLst/>
            </a:prstGeom>
            <a:solidFill>
              <a:schemeClr val="bg1">
                <a:lumMod val="65000"/>
              </a:schemeClr>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78" name="Rectangle 177"/>
            <p:cNvSpPr/>
            <p:nvPr/>
          </p:nvSpPr>
          <p:spPr bwMode="auto">
            <a:xfrm>
              <a:off x="2483768" y="2204864"/>
              <a:ext cx="532580" cy="792088"/>
            </a:xfrm>
            <a:prstGeom prst="rect">
              <a:avLst/>
            </a:prstGeom>
            <a:solidFill>
              <a:srgbClr val="A6A6A6"/>
            </a:solidFill>
            <a:ln w="12700" cap="flat" cmpd="sng" algn="ctr">
              <a:solidFill>
                <a:srgbClr val="939394">
                  <a:lumMod val="60000"/>
                  <a:lumOff val="40000"/>
                </a:srgbClr>
              </a:solidFill>
              <a:prstDash val="solid"/>
            </a:ln>
            <a:effectLst/>
          </p:spPr>
          <p:txBody>
            <a:bodyPr lIns="0" tIns="36000" rIns="0" bIns="36000" anchor="ctr"/>
            <a:lstStyle/>
            <a:p>
              <a:pPr algn="ctr">
                <a:defRPr/>
              </a:pP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79" name="Rectangle 178"/>
            <p:cNvSpPr/>
            <p:nvPr/>
          </p:nvSpPr>
          <p:spPr bwMode="auto">
            <a:xfrm>
              <a:off x="3519495" y="2206551"/>
              <a:ext cx="532580" cy="792091"/>
            </a:xfrm>
            <a:prstGeom prst="rect">
              <a:avLst/>
            </a:prstGeom>
            <a:solidFill>
              <a:srgbClr val="C6D9F1"/>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80" name="Rectangle 179"/>
            <p:cNvSpPr/>
            <p:nvPr/>
          </p:nvSpPr>
          <p:spPr bwMode="auto">
            <a:xfrm>
              <a:off x="4024419" y="2203177"/>
              <a:ext cx="532580" cy="792088"/>
            </a:xfrm>
            <a:prstGeom prst="rect">
              <a:avLst/>
            </a:prstGeom>
            <a:solidFill>
              <a:srgbClr val="C6D9F1"/>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81" name="Rectangle 180"/>
            <p:cNvSpPr/>
            <p:nvPr/>
          </p:nvSpPr>
          <p:spPr bwMode="auto">
            <a:xfrm>
              <a:off x="4514953" y="2204864"/>
              <a:ext cx="532580" cy="792091"/>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grpSp>
      <p:sp>
        <p:nvSpPr>
          <p:cNvPr id="182" name="TextBox 181"/>
          <p:cNvSpPr txBox="1"/>
          <p:nvPr/>
        </p:nvSpPr>
        <p:spPr bwMode="auto">
          <a:xfrm>
            <a:off x="4499992" y="4293096"/>
            <a:ext cx="1296144" cy="288032"/>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锁定区</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3" name="TextBox 182"/>
          <p:cNvSpPr txBox="1"/>
          <p:nvPr/>
        </p:nvSpPr>
        <p:spPr bwMode="auto">
          <a:xfrm>
            <a:off x="1475656" y="4149080"/>
            <a:ext cx="864096" cy="461665"/>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订单</a:t>
            </a:r>
          </a:p>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接收</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4" name="AutoShape 78"/>
          <p:cNvSpPr>
            <a:spLocks noChangeArrowheads="1"/>
          </p:cNvSpPr>
          <p:nvPr/>
        </p:nvSpPr>
        <p:spPr bwMode="auto">
          <a:xfrm>
            <a:off x="107504" y="2780928"/>
            <a:ext cx="936104" cy="576064"/>
          </a:xfrm>
          <a:prstGeom prst="wedgeRoundRectCallout">
            <a:avLst>
              <a:gd name="adj1" fmla="val 82815"/>
              <a:gd name="adj2" fmla="val -64058"/>
              <a:gd name="adj3" fmla="val 16667"/>
            </a:avLst>
          </a:prstGeom>
          <a:solidFill>
            <a:srgbClr val="FFFFCC"/>
          </a:solidFill>
          <a:ln w="19050" algn="ctr">
            <a:solidFill>
              <a:srgbClr val="242490"/>
            </a:solidFill>
            <a:miter lim="800000"/>
          </a:ln>
        </p:spPr>
        <p:txBody>
          <a:bodyPr lIns="36000" tIns="36000" rIns="36000" bIns="36000" anchor="ct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定期接收，聚焦处理效率</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5" name="AutoShape 78"/>
          <p:cNvSpPr>
            <a:spLocks noChangeArrowheads="1"/>
          </p:cNvSpPr>
          <p:nvPr/>
        </p:nvSpPr>
        <p:spPr bwMode="auto">
          <a:xfrm>
            <a:off x="395536" y="4941168"/>
            <a:ext cx="1368152" cy="720080"/>
          </a:xfrm>
          <a:prstGeom prst="wedgeRoundRectCallout">
            <a:avLst>
              <a:gd name="adj1" fmla="val 60770"/>
              <a:gd name="adj2" fmla="val -65002"/>
              <a:gd name="adj3" fmla="val 16667"/>
            </a:avLst>
          </a:prstGeom>
          <a:solidFill>
            <a:srgbClr val="FFFFCC"/>
          </a:solidFill>
          <a:ln w="19050" algn="ctr">
            <a:solidFill>
              <a:srgbClr val="242490"/>
            </a:solidFill>
            <a:miter lim="800000"/>
          </a:ln>
        </p:spPr>
        <p:txBody>
          <a:bodyPr lIns="36000" tIns="36000" rIns="36000" bIns="36000" anchor="ctr"/>
          <a:lstStyle/>
          <a:p>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MTO</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订单随时接收，关注快速响应</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以周三为例</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6" name="TextBox 185"/>
          <p:cNvSpPr txBox="1"/>
          <p:nvPr/>
        </p:nvSpPr>
        <p:spPr bwMode="auto">
          <a:xfrm>
            <a:off x="6156176" y="2132856"/>
            <a:ext cx="1080120" cy="276999"/>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柔性区</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7" name="TextBox 186"/>
          <p:cNvSpPr txBox="1"/>
          <p:nvPr/>
        </p:nvSpPr>
        <p:spPr bwMode="auto">
          <a:xfrm>
            <a:off x="6372200" y="4221088"/>
            <a:ext cx="936104" cy="276999"/>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柔性区</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0" name="Rectangle 189"/>
          <p:cNvSpPr/>
          <p:nvPr/>
        </p:nvSpPr>
        <p:spPr bwMode="auto">
          <a:xfrm>
            <a:off x="7956376" y="4005064"/>
            <a:ext cx="532580" cy="792091"/>
          </a:xfrm>
          <a:prstGeom prst="rect">
            <a:avLst/>
          </a:prstGeom>
          <a:solidFill>
            <a:srgbClr val="DDD9C3"/>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91" name="Rectangle 190"/>
          <p:cNvSpPr/>
          <p:nvPr/>
        </p:nvSpPr>
        <p:spPr bwMode="auto">
          <a:xfrm>
            <a:off x="8460432" y="3716556"/>
            <a:ext cx="532579" cy="288508"/>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W4</a:t>
            </a:r>
          </a:p>
        </p:txBody>
      </p:sp>
      <p:sp>
        <p:nvSpPr>
          <p:cNvPr id="192" name="Rectangle 191"/>
          <p:cNvSpPr/>
          <p:nvPr/>
        </p:nvSpPr>
        <p:spPr>
          <a:xfrm>
            <a:off x="8460432" y="3489157"/>
            <a:ext cx="504055" cy="216023"/>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W4</a:t>
            </a:r>
          </a:p>
        </p:txBody>
      </p:sp>
      <p:sp>
        <p:nvSpPr>
          <p:cNvPr id="193" name="Rectangle 192"/>
          <p:cNvSpPr/>
          <p:nvPr/>
        </p:nvSpPr>
        <p:spPr bwMode="auto">
          <a:xfrm>
            <a:off x="8460432" y="4005064"/>
            <a:ext cx="532580" cy="792091"/>
          </a:xfrm>
          <a:prstGeom prst="rect">
            <a:avLst/>
          </a:prstGeom>
          <a:solidFill>
            <a:srgbClr val="DDD9C3"/>
          </a:solidFill>
          <a:ln w="12700" cap="flat" cmpd="sng" algn="ctr">
            <a:solidFill>
              <a:srgbClr val="939394">
                <a:lumMod val="60000"/>
                <a:lumOff val="40000"/>
              </a:srgbClr>
            </a:solid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94" name="Rectangle 193"/>
          <p:cNvSpPr/>
          <p:nvPr/>
        </p:nvSpPr>
        <p:spPr bwMode="auto">
          <a:xfrm>
            <a:off x="7956376" y="1928683"/>
            <a:ext cx="532580" cy="792091"/>
          </a:xfrm>
          <a:prstGeom prst="rect">
            <a:avLst/>
          </a:prstGeom>
          <a:solidFill>
            <a:schemeClr val="bg2">
              <a:lumMod val="90000"/>
            </a:schemeClr>
          </a:solidFill>
          <a:ln w="12700" cap="flat" cmpd="sng" algn="ctr">
            <a:no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95" name="Rectangle 194"/>
          <p:cNvSpPr/>
          <p:nvPr/>
        </p:nvSpPr>
        <p:spPr bwMode="auto">
          <a:xfrm>
            <a:off x="8460432" y="1640175"/>
            <a:ext cx="532579" cy="288508"/>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altLang="zh-CN" sz="1200" i="1" kern="0" dirty="0">
                <a:solidFill>
                  <a:srgbClr val="4D4D4D"/>
                </a:solidFill>
                <a:latin typeface="Arial" panose="020B0604020202020204"/>
                <a:ea typeface="华文楷体" panose="02010600040101010101" pitchFamily="2" charset="-122"/>
                <a:cs typeface="Helvetica" pitchFamily="34" charset="0"/>
              </a:rPr>
              <a:t>W4</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96" name="Rectangle 195"/>
          <p:cNvSpPr/>
          <p:nvPr/>
        </p:nvSpPr>
        <p:spPr>
          <a:xfrm>
            <a:off x="8460432" y="1412776"/>
            <a:ext cx="504056" cy="227878"/>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W4</a:t>
            </a:r>
          </a:p>
        </p:txBody>
      </p:sp>
      <p:sp>
        <p:nvSpPr>
          <p:cNvPr id="197" name="Rectangle 196"/>
          <p:cNvSpPr/>
          <p:nvPr/>
        </p:nvSpPr>
        <p:spPr bwMode="auto">
          <a:xfrm>
            <a:off x="8460432" y="1928683"/>
            <a:ext cx="532580" cy="792091"/>
          </a:xfrm>
          <a:prstGeom prst="rect">
            <a:avLst/>
          </a:prstGeom>
          <a:solidFill>
            <a:schemeClr val="bg2">
              <a:lumMod val="90000"/>
            </a:schemeClr>
          </a:solidFill>
          <a:ln w="12700" cap="flat" cmpd="sng" algn="ctr">
            <a:noFill/>
            <a:prstDash val="solid"/>
          </a:ln>
          <a:effectLst/>
        </p:spPr>
        <p:txBody>
          <a:bodyPr lIns="0" tIns="36000" rIns="0" bIns="36000" anchor="ctr"/>
          <a:lstStyle/>
          <a:p>
            <a:pPr algn="ct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98" name="Rectangle 197"/>
          <p:cNvSpPr/>
          <p:nvPr/>
        </p:nvSpPr>
        <p:spPr bwMode="auto">
          <a:xfrm>
            <a:off x="7956377" y="1652029"/>
            <a:ext cx="504056" cy="276657"/>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altLang="zh-CN" sz="1200" i="1" kern="0" dirty="0">
                <a:solidFill>
                  <a:srgbClr val="4D4D4D"/>
                </a:solidFill>
                <a:latin typeface="Arial" panose="020B0604020202020204"/>
                <a:ea typeface="华文楷体" panose="02010600040101010101" pitchFamily="2" charset="-122"/>
                <a:cs typeface="Helvetica" pitchFamily="34" charset="0"/>
              </a:rPr>
              <a:t>W3</a:t>
            </a:r>
            <a:endParaRPr lang="en-US" sz="1200" i="1" kern="0" dirty="0">
              <a:solidFill>
                <a:srgbClr val="4D4D4D"/>
              </a:solidFill>
              <a:latin typeface="Arial" panose="020B0604020202020204"/>
              <a:ea typeface="华文楷体" panose="02010600040101010101" pitchFamily="2" charset="-122"/>
              <a:cs typeface="Helvetica" pitchFamily="34" charset="0"/>
            </a:endParaRPr>
          </a:p>
        </p:txBody>
      </p:sp>
      <p:sp>
        <p:nvSpPr>
          <p:cNvPr id="199" name="Rectangle 198"/>
          <p:cNvSpPr/>
          <p:nvPr/>
        </p:nvSpPr>
        <p:spPr>
          <a:xfrm>
            <a:off x="7956376" y="1424630"/>
            <a:ext cx="504055" cy="216023"/>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defRPr/>
            </a:pPr>
            <a:r>
              <a:rPr lang="en-US" sz="1200" i="1" kern="0" dirty="0">
                <a:solidFill>
                  <a:srgbClr val="4D4D4D"/>
                </a:solidFill>
                <a:latin typeface="Arial" panose="020B0604020202020204"/>
                <a:ea typeface="华文楷体" panose="02010600040101010101" pitchFamily="2" charset="-122"/>
                <a:cs typeface="Helvetica" pitchFamily="34" charset="0"/>
              </a:rPr>
              <a:t>W3</a:t>
            </a:r>
          </a:p>
        </p:txBody>
      </p:sp>
      <p:sp>
        <p:nvSpPr>
          <p:cNvPr id="200" name="TextBox 199"/>
          <p:cNvSpPr txBox="1"/>
          <p:nvPr/>
        </p:nvSpPr>
        <p:spPr bwMode="auto">
          <a:xfrm>
            <a:off x="8028384" y="2144710"/>
            <a:ext cx="755576" cy="288032"/>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预测区</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1" name="TextBox 200"/>
          <p:cNvSpPr txBox="1"/>
          <p:nvPr/>
        </p:nvSpPr>
        <p:spPr bwMode="auto">
          <a:xfrm>
            <a:off x="8100392" y="4221088"/>
            <a:ext cx="755576" cy="288032"/>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预测区</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2" name="TextBox 201"/>
          <p:cNvSpPr txBox="1"/>
          <p:nvPr/>
        </p:nvSpPr>
        <p:spPr bwMode="auto">
          <a:xfrm>
            <a:off x="251520" y="1856678"/>
            <a:ext cx="288032" cy="369332"/>
          </a:xfrm>
          <a:prstGeom prst="rect">
            <a:avLst/>
          </a:prstGeom>
          <a:noFill/>
          <a:ln>
            <a:noFill/>
          </a:ln>
        </p:spPr>
        <p:txBody>
          <a:bodyPr wrap="square" rtlCol="0">
            <a:spAutoFit/>
          </a:bodyPr>
          <a:lstStyle/>
          <a:p>
            <a:r>
              <a:rPr kumimoji="1" lang="en-US" altLang="zh-CN" dirty="0">
                <a:solidFill>
                  <a:srgbClr val="000000"/>
                </a:solidFill>
                <a:latin typeface="微软雅黑" panose="020B0503020204020204" charset="-122"/>
                <a:ea typeface="微软雅黑" panose="020B0503020204020204" charset="-122"/>
                <a:cs typeface="微软雅黑" panose="020B0503020204020204" charset="-122"/>
              </a:rPr>
              <a:t> </a:t>
            </a:r>
          </a:p>
        </p:txBody>
      </p:sp>
      <p:sp>
        <p:nvSpPr>
          <p:cNvPr id="203" name="AutoShape 78"/>
          <p:cNvSpPr>
            <a:spLocks noChangeArrowheads="1"/>
          </p:cNvSpPr>
          <p:nvPr/>
        </p:nvSpPr>
        <p:spPr bwMode="auto">
          <a:xfrm>
            <a:off x="6300192" y="2924944"/>
            <a:ext cx="1080120" cy="432048"/>
          </a:xfrm>
          <a:prstGeom prst="wedgeRoundRectCallout">
            <a:avLst>
              <a:gd name="adj1" fmla="val -418"/>
              <a:gd name="adj2" fmla="val -114974"/>
              <a:gd name="adj3" fmla="val 16667"/>
            </a:avLst>
          </a:prstGeom>
          <a:solidFill>
            <a:srgbClr val="FFFFCC"/>
          </a:solidFill>
          <a:ln w="19050" algn="ctr">
            <a:solidFill>
              <a:srgbClr val="242490"/>
            </a:solidFill>
            <a:miter lim="800000"/>
          </a:ln>
        </p:spPr>
        <p:txBody>
          <a:bodyPr lIns="36000" tIns="36000" rIns="36000" bIns="36000" anchor="ct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允许生产计划变更</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7" name="Isosceles Triangle 206"/>
          <p:cNvSpPr/>
          <p:nvPr/>
        </p:nvSpPr>
        <p:spPr bwMode="auto">
          <a:xfrm>
            <a:off x="1547664" y="2708920"/>
            <a:ext cx="216024" cy="216024"/>
          </a:xfrm>
          <a:prstGeom prst="triangle">
            <a:avLst/>
          </a:prstGeom>
          <a:solidFill>
            <a:srgbClr val="FF0000"/>
          </a:solidFill>
          <a:ln w="9525" cap="flat" cmpd="sng" algn="ctr">
            <a:noFill/>
            <a:prstDash val="solid"/>
            <a:round/>
            <a:headEnd type="none" w="med" len="med"/>
            <a:tailEnd type="none"/>
          </a:ln>
          <a:effectLst/>
        </p:spPr>
        <p:txBody>
          <a:bodyPr rtlCol="0" anchor="ctr"/>
          <a:lstStyle/>
          <a:p>
            <a:pPr algn="ctr"/>
            <a:endParaRPr lang="en-US">
              <a:solidFill>
                <a:prstClr val="black"/>
              </a:solidFill>
              <a:latin typeface="华文楷体" panose="02010600040101010101" pitchFamily="2" charset="-122"/>
              <a:ea typeface="华文楷体" panose="02010600040101010101" pitchFamily="2" charset="-122"/>
            </a:endParaRPr>
          </a:p>
        </p:txBody>
      </p:sp>
      <p:sp>
        <p:nvSpPr>
          <p:cNvPr id="208" name="TextBox 207"/>
          <p:cNvSpPr txBox="1"/>
          <p:nvPr/>
        </p:nvSpPr>
        <p:spPr bwMode="auto">
          <a:xfrm>
            <a:off x="1115616" y="2924944"/>
            <a:ext cx="1368152" cy="276999"/>
          </a:xfrm>
          <a:prstGeom prst="rect">
            <a:avLst/>
          </a:prstGeom>
          <a:noFill/>
          <a:ln>
            <a:noFill/>
          </a:ln>
        </p:spPr>
        <p:txBody>
          <a:bodyPr wrap="squar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最晚订单接收</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14" name="AutoShape 78"/>
          <p:cNvSpPr>
            <a:spLocks noChangeArrowheads="1"/>
          </p:cNvSpPr>
          <p:nvPr/>
        </p:nvSpPr>
        <p:spPr bwMode="auto">
          <a:xfrm>
            <a:off x="4355976" y="2924944"/>
            <a:ext cx="1512168" cy="432048"/>
          </a:xfrm>
          <a:prstGeom prst="wedgeRoundRectCallout">
            <a:avLst>
              <a:gd name="adj1" fmla="val -418"/>
              <a:gd name="adj2" fmla="val -114974"/>
              <a:gd name="adj3" fmla="val 16667"/>
            </a:avLst>
          </a:prstGeom>
          <a:solidFill>
            <a:srgbClr val="FFFFCC"/>
          </a:solidFill>
          <a:ln w="19050" algn="ctr">
            <a:solidFill>
              <a:srgbClr val="242490"/>
            </a:solidFill>
            <a:miter lim="800000"/>
          </a:ln>
        </p:spPr>
        <p:txBody>
          <a:bodyPr lIns="36000" tIns="36000" rIns="36000" bIns="36000" anchor="ct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锁定期不允许变更，需变更需走例外申请</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16" name="Isosceles Triangle 215"/>
          <p:cNvSpPr/>
          <p:nvPr/>
        </p:nvSpPr>
        <p:spPr bwMode="auto">
          <a:xfrm>
            <a:off x="1907704" y="4797152"/>
            <a:ext cx="216024" cy="216024"/>
          </a:xfrm>
          <a:prstGeom prst="triangle">
            <a:avLst/>
          </a:prstGeom>
          <a:solidFill>
            <a:srgbClr val="FF0000"/>
          </a:solidFill>
          <a:ln w="9525" cap="flat" cmpd="sng" algn="ctr">
            <a:noFill/>
            <a:prstDash val="solid"/>
            <a:round/>
            <a:headEnd type="none" w="med" len="med"/>
            <a:tailEnd type="none"/>
          </a:ln>
          <a:effectLst/>
        </p:spPr>
        <p:txBody>
          <a:bodyPr rtlCol="0" anchor="ctr"/>
          <a:lstStyle/>
          <a:p>
            <a:pPr algn="ctr"/>
            <a:endParaRPr lang="en-US">
              <a:solidFill>
                <a:prstClr val="black"/>
              </a:solidFill>
              <a:latin typeface="华文楷体" panose="02010600040101010101" pitchFamily="2" charset="-122"/>
              <a:ea typeface="华文楷体" panose="02010600040101010101" pitchFamily="2" charset="-122"/>
            </a:endParaRPr>
          </a:p>
        </p:txBody>
      </p:sp>
      <p:sp>
        <p:nvSpPr>
          <p:cNvPr id="218" name="AutoShape 78"/>
          <p:cNvSpPr>
            <a:spLocks noChangeArrowheads="1"/>
          </p:cNvSpPr>
          <p:nvPr/>
        </p:nvSpPr>
        <p:spPr bwMode="auto">
          <a:xfrm>
            <a:off x="8043019" y="2924944"/>
            <a:ext cx="1080120" cy="432048"/>
          </a:xfrm>
          <a:prstGeom prst="wedgeRoundRectCallout">
            <a:avLst>
              <a:gd name="adj1" fmla="val -418"/>
              <a:gd name="adj2" fmla="val -114974"/>
              <a:gd name="adj3" fmla="val 16667"/>
            </a:avLst>
          </a:prstGeom>
          <a:solidFill>
            <a:srgbClr val="FFFFCC"/>
          </a:solidFill>
          <a:ln w="19050" algn="ctr">
            <a:solidFill>
              <a:srgbClr val="242490"/>
            </a:solidFill>
            <a:miter lim="800000"/>
          </a:ln>
        </p:spPr>
        <p:txBody>
          <a:bodyPr lIns="36000" tIns="36000" rIns="36000" bIns="36000" anchor="ct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原材料及产能准备</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19" name="AutoShape 78"/>
          <p:cNvSpPr>
            <a:spLocks noChangeArrowheads="1"/>
          </p:cNvSpPr>
          <p:nvPr/>
        </p:nvSpPr>
        <p:spPr bwMode="auto">
          <a:xfrm>
            <a:off x="7956376" y="5013190"/>
            <a:ext cx="1080120" cy="432048"/>
          </a:xfrm>
          <a:prstGeom prst="wedgeRoundRectCallout">
            <a:avLst>
              <a:gd name="adj1" fmla="val -418"/>
              <a:gd name="adj2" fmla="val -114974"/>
              <a:gd name="adj3" fmla="val 16667"/>
            </a:avLst>
          </a:prstGeom>
          <a:solidFill>
            <a:srgbClr val="FFFFCC"/>
          </a:solidFill>
          <a:ln w="19050" algn="ctr">
            <a:solidFill>
              <a:srgbClr val="242490"/>
            </a:solidFill>
            <a:miter lim="800000"/>
          </a:ln>
        </p:spPr>
        <p:txBody>
          <a:bodyPr lIns="36000" tIns="36000" rIns="36000" bIns="36000" anchor="ct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原材料及产能准备</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25" name="TextBox 224"/>
          <p:cNvSpPr txBox="1"/>
          <p:nvPr/>
        </p:nvSpPr>
        <p:spPr bwMode="auto">
          <a:xfrm>
            <a:off x="2267744" y="2132856"/>
            <a:ext cx="1440160" cy="461665"/>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已在上一个循环中被锁定</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30" name="TextBox 229"/>
          <p:cNvSpPr txBox="1"/>
          <p:nvPr/>
        </p:nvSpPr>
        <p:spPr bwMode="auto">
          <a:xfrm>
            <a:off x="2051720" y="4149080"/>
            <a:ext cx="864096" cy="461665"/>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订单</a:t>
            </a:r>
          </a:p>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落实</a:t>
            </a:r>
          </a:p>
        </p:txBody>
      </p:sp>
      <p:cxnSp>
        <p:nvCxnSpPr>
          <p:cNvPr id="236" name="Curved Connector 235"/>
          <p:cNvCxnSpPr>
            <a:stCxn id="167" idx="2"/>
            <a:endCxn id="175" idx="2"/>
          </p:cNvCxnSpPr>
          <p:nvPr/>
        </p:nvCxnSpPr>
        <p:spPr bwMode="auto">
          <a:xfrm rot="16200000" flipH="1">
            <a:off x="4334088" y="2930519"/>
            <a:ext cx="1687" cy="3738326"/>
          </a:xfrm>
          <a:prstGeom prst="curvedConnector3">
            <a:avLst>
              <a:gd name="adj1" fmla="val 13650682"/>
            </a:avLst>
          </a:prstGeom>
          <a:solidFill>
            <a:schemeClr val="accent1"/>
          </a:solidFill>
          <a:ln w="19050" cap="flat" cmpd="sng" algn="ctr">
            <a:solidFill>
              <a:schemeClr val="tx1"/>
            </a:solidFill>
            <a:prstDash val="solid"/>
            <a:round/>
            <a:headEnd type="none" w="med" len="med"/>
            <a:tailEnd type="triangle" w="lg" len="lg"/>
          </a:ln>
          <a:effectLst/>
        </p:spPr>
      </p:cxnSp>
      <p:sp>
        <p:nvSpPr>
          <p:cNvPr id="239" name="Isosceles Triangle 238"/>
          <p:cNvSpPr/>
          <p:nvPr/>
        </p:nvSpPr>
        <p:spPr bwMode="auto">
          <a:xfrm>
            <a:off x="6084168" y="4941168"/>
            <a:ext cx="216024" cy="216024"/>
          </a:xfrm>
          <a:prstGeom prst="triangle">
            <a:avLst/>
          </a:prstGeom>
          <a:solidFill>
            <a:srgbClr val="FF0000"/>
          </a:solidFill>
          <a:ln w="9525" cap="flat" cmpd="sng" algn="ctr">
            <a:noFill/>
            <a:prstDash val="solid"/>
            <a:round/>
            <a:headEnd type="none" w="med" len="med"/>
            <a:tailEnd type="none"/>
          </a:ln>
          <a:effectLst/>
        </p:spPr>
        <p:txBody>
          <a:bodyPr rtlCol="0" anchor="ctr"/>
          <a:lstStyle/>
          <a:p>
            <a:pPr algn="ctr"/>
            <a:endParaRPr lang="en-US">
              <a:solidFill>
                <a:prstClr val="black"/>
              </a:solidFill>
              <a:latin typeface="华文楷体" panose="02010600040101010101" pitchFamily="2" charset="-122"/>
              <a:ea typeface="华文楷体" panose="02010600040101010101" pitchFamily="2" charset="-122"/>
            </a:endParaRPr>
          </a:p>
        </p:txBody>
      </p:sp>
      <p:sp>
        <p:nvSpPr>
          <p:cNvPr id="240" name="TextBox 239"/>
          <p:cNvSpPr txBox="1"/>
          <p:nvPr/>
        </p:nvSpPr>
        <p:spPr bwMode="auto">
          <a:xfrm>
            <a:off x="5652120" y="5127575"/>
            <a:ext cx="1368152" cy="461665"/>
          </a:xfrm>
          <a:prstGeom prst="rect">
            <a:avLst/>
          </a:prstGeom>
          <a:noFill/>
          <a:ln>
            <a:noFill/>
          </a:ln>
        </p:spPr>
        <p:txBody>
          <a:bodyPr wrap="squar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最早排定时间（不插单情况下）</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43" name="TextBox 242"/>
          <p:cNvSpPr txBox="1"/>
          <p:nvPr/>
        </p:nvSpPr>
        <p:spPr bwMode="auto">
          <a:xfrm>
            <a:off x="107504" y="3717032"/>
            <a:ext cx="360040" cy="923330"/>
          </a:xfrm>
          <a:prstGeom prst="rect">
            <a:avLst/>
          </a:prstGeom>
          <a:noFill/>
          <a:ln>
            <a:noFill/>
          </a:ln>
        </p:spPr>
        <p:txBody>
          <a:bodyPr wrap="square" rtlCol="0">
            <a:spAutoFit/>
          </a:bodyPr>
          <a:lstStyle/>
          <a:p>
            <a:r>
              <a:rPr kumimoji="1" lang="en-US" dirty="0">
                <a:solidFill>
                  <a:srgbClr val="000000"/>
                </a:solidFill>
                <a:latin typeface="微软雅黑" panose="020B0503020204020204" charset="-122"/>
                <a:ea typeface="微软雅黑" panose="020B0503020204020204" charset="-122"/>
                <a:cs typeface="微软雅黑" panose="020B0503020204020204" charset="-122"/>
              </a:rPr>
              <a:t>MTO</a:t>
            </a:r>
          </a:p>
        </p:txBody>
      </p:sp>
      <p:sp>
        <p:nvSpPr>
          <p:cNvPr id="244" name="TextBox 243"/>
          <p:cNvSpPr txBox="1"/>
          <p:nvPr/>
        </p:nvSpPr>
        <p:spPr bwMode="auto">
          <a:xfrm>
            <a:off x="179512" y="1556792"/>
            <a:ext cx="360040" cy="923330"/>
          </a:xfrm>
          <a:prstGeom prst="rect">
            <a:avLst/>
          </a:prstGeom>
          <a:noFill/>
          <a:ln>
            <a:noFill/>
          </a:ln>
        </p:spPr>
        <p:txBody>
          <a:bodyPr wrap="square" rtlCol="0">
            <a:spAutoFit/>
          </a:bodyPr>
          <a:lstStyle/>
          <a:p>
            <a:r>
              <a:rPr kumimoji="1" lang="en-US" dirty="0">
                <a:solidFill>
                  <a:srgbClr val="000000"/>
                </a:solidFill>
                <a:latin typeface="微软雅黑" panose="020B0503020204020204" charset="-122"/>
                <a:ea typeface="微软雅黑" panose="020B0503020204020204" charset="-122"/>
                <a:cs typeface="微软雅黑" panose="020B0503020204020204" charset="-122"/>
              </a:rPr>
              <a:t>MTS</a:t>
            </a:r>
          </a:p>
        </p:txBody>
      </p:sp>
      <p:sp>
        <p:nvSpPr>
          <p:cNvPr id="245" name="TextBox 244"/>
          <p:cNvSpPr txBox="1"/>
          <p:nvPr/>
        </p:nvSpPr>
        <p:spPr bwMode="auto">
          <a:xfrm>
            <a:off x="2627784" y="4149080"/>
            <a:ext cx="1152128" cy="461665"/>
          </a:xfrm>
          <a:prstGeom prst="rect">
            <a:avLst/>
          </a:prstGeom>
          <a:noFill/>
          <a:ln>
            <a:noFill/>
          </a:ln>
        </p:spPr>
        <p:txBody>
          <a:bodyPr wrap="square" rtlCol="0">
            <a:spAutoFit/>
          </a:bodyPr>
          <a:lstStyle/>
          <a:p>
            <a:pPr algn="ct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已在上一个循环中被锁定</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46" name="TextBox 245"/>
          <p:cNvSpPr txBox="1"/>
          <p:nvPr/>
        </p:nvSpPr>
        <p:spPr bwMode="auto">
          <a:xfrm>
            <a:off x="467544" y="5949280"/>
            <a:ext cx="7920880" cy="338554"/>
          </a:xfrm>
          <a:prstGeom prst="rect">
            <a:avLst/>
          </a:prstGeom>
          <a:noFill/>
          <a:ln>
            <a:noFill/>
          </a:ln>
        </p:spPr>
        <p:txBody>
          <a:bodyPr wrap="square" rtlCol="0">
            <a:spAutoFit/>
          </a:bodyPr>
          <a:lstStyle/>
          <a:p>
            <a:r>
              <a:rPr kumimoji="1" lang="zh-CN" altLang="en-US" sz="1600" b="1" dirty="0">
                <a:solidFill>
                  <a:srgbClr val="1F497D">
                    <a:lumMod val="60000"/>
                    <a:lumOff val="40000"/>
                  </a:srgbClr>
                </a:solidFill>
                <a:latin typeface="微软雅黑" panose="020B0503020204020204" charset="-122"/>
                <a:ea typeface="微软雅黑" panose="020B0503020204020204" charset="-122"/>
                <a:cs typeface="微软雅黑" panose="020B0503020204020204" charset="-122"/>
              </a:rPr>
              <a:t>假设前提：</a:t>
            </a:r>
            <a:r>
              <a:rPr kumimoji="1" lang="zh-CN" altLang="en-US" sz="1600" dirty="0">
                <a:solidFill>
                  <a:srgbClr val="1F497D">
                    <a:lumMod val="60000"/>
                    <a:lumOff val="40000"/>
                  </a:srgbClr>
                </a:solidFill>
                <a:latin typeface="微软雅黑" panose="020B0503020204020204" charset="-122"/>
                <a:ea typeface="微软雅黑" panose="020B0503020204020204" charset="-122"/>
                <a:cs typeface="微软雅黑" panose="020B0503020204020204" charset="-122"/>
              </a:rPr>
              <a:t>提前</a:t>
            </a:r>
            <a:r>
              <a:rPr kumimoji="1" lang="en-US" altLang="zh-CN" sz="1600" dirty="0">
                <a:solidFill>
                  <a:srgbClr val="1F497D">
                    <a:lumMod val="60000"/>
                    <a:lumOff val="40000"/>
                  </a:srgbClr>
                </a:solidFill>
                <a:latin typeface="微软雅黑" panose="020B0503020204020204" charset="-122"/>
                <a:ea typeface="微软雅黑" panose="020B0503020204020204" charset="-122"/>
                <a:cs typeface="微软雅黑" panose="020B0503020204020204" charset="-122"/>
              </a:rPr>
              <a:t>3</a:t>
            </a:r>
            <a:r>
              <a:rPr kumimoji="1" lang="zh-CN" altLang="en-US" sz="1600" dirty="0">
                <a:solidFill>
                  <a:srgbClr val="1F497D">
                    <a:lumMod val="60000"/>
                    <a:lumOff val="40000"/>
                  </a:srgbClr>
                </a:solidFill>
                <a:latin typeface="微软雅黑" panose="020B0503020204020204" charset="-122"/>
                <a:ea typeface="微软雅黑" panose="020B0503020204020204" charset="-122"/>
                <a:cs typeface="微软雅黑" panose="020B0503020204020204" charset="-122"/>
              </a:rPr>
              <a:t>天锁定</a:t>
            </a:r>
            <a:r>
              <a:rPr kumimoji="1" lang="en-US" altLang="zh-CN" sz="1600" dirty="0">
                <a:solidFill>
                  <a:srgbClr val="1F497D">
                    <a:lumMod val="60000"/>
                    <a:lumOff val="40000"/>
                  </a:srgbClr>
                </a:solidFill>
                <a:latin typeface="微软雅黑" panose="020B0503020204020204" charset="-122"/>
                <a:ea typeface="微软雅黑" panose="020B0503020204020204" charset="-122"/>
                <a:cs typeface="微软雅黑" panose="020B0503020204020204" charset="-122"/>
              </a:rPr>
              <a:t>3</a:t>
            </a:r>
            <a:r>
              <a:rPr kumimoji="1" lang="zh-CN" altLang="en-US" sz="1600" dirty="0">
                <a:solidFill>
                  <a:srgbClr val="1F497D">
                    <a:lumMod val="60000"/>
                    <a:lumOff val="40000"/>
                  </a:srgbClr>
                </a:solidFill>
                <a:latin typeface="微软雅黑" panose="020B0503020204020204" charset="-122"/>
                <a:ea typeface="微软雅黑" panose="020B0503020204020204" charset="-122"/>
                <a:cs typeface="微软雅黑" panose="020B0503020204020204" charset="-122"/>
              </a:rPr>
              <a:t>天（每周三锁定下周一、二、三；周六锁定下周四、五、六）</a:t>
            </a:r>
            <a:endParaRPr kumimoji="1" lang="en-US" sz="1600" dirty="0">
              <a:solidFill>
                <a:srgbClr val="1F497D">
                  <a:lumMod val="60000"/>
                  <a:lumOff val="40000"/>
                </a:srgbClr>
              </a:solidFill>
              <a:latin typeface="微软雅黑" panose="020B0503020204020204" charset="-122"/>
              <a:ea typeface="微软雅黑" panose="020B0503020204020204" charset="-122"/>
              <a:cs typeface="微软雅黑" panose="020B0503020204020204" charset="-122"/>
            </a:endParaRPr>
          </a:p>
        </p:txBody>
      </p:sp>
      <p:sp>
        <p:nvSpPr>
          <p:cNvPr id="215" name="AutoShape 78"/>
          <p:cNvSpPr>
            <a:spLocks noChangeArrowheads="1"/>
          </p:cNvSpPr>
          <p:nvPr/>
        </p:nvSpPr>
        <p:spPr bwMode="auto">
          <a:xfrm>
            <a:off x="4067944" y="5013176"/>
            <a:ext cx="1512168" cy="432062"/>
          </a:xfrm>
          <a:prstGeom prst="wedgeRoundRectCallout">
            <a:avLst>
              <a:gd name="adj1" fmla="val -10706"/>
              <a:gd name="adj2" fmla="val -114974"/>
              <a:gd name="adj3" fmla="val 16667"/>
            </a:avLst>
          </a:prstGeom>
          <a:solidFill>
            <a:srgbClr val="FFFFCC"/>
          </a:solidFill>
          <a:ln w="19050" algn="ctr">
            <a:solidFill>
              <a:srgbClr val="242490"/>
            </a:solidFill>
            <a:miter lim="800000"/>
          </a:ln>
        </p:spPr>
        <p:txBody>
          <a:bodyPr lIns="36000" tIns="36000" rIns="36000" bIns="36000" anchor="ct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锁定期不允许变更，需变更需走例外申请</a:t>
            </a:r>
            <a:endParaRPr kumimoji="1" 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0" name="Rectangle 129"/>
          <p:cNvSpPr/>
          <p:nvPr/>
        </p:nvSpPr>
        <p:spPr bwMode="auto">
          <a:xfrm>
            <a:off x="2195736" y="4005064"/>
            <a:ext cx="1548168" cy="792088"/>
          </a:xfrm>
          <a:prstGeom prst="rect">
            <a:avLst/>
          </a:prstGeom>
          <a:noFill/>
          <a:ln w="9525" cap="flat" cmpd="sng" algn="ctr">
            <a:solidFill>
              <a:srgbClr val="9BBB59"/>
            </a:solidFill>
            <a:prstDash val="solid"/>
            <a:round/>
            <a:headEnd type="none" w="med" len="med"/>
            <a:tailEnd type="none"/>
          </a:ln>
          <a:effectLst/>
        </p:spPr>
        <p:txBody>
          <a:bodyPr rtlCol="0" anchor="ctr"/>
          <a:lstStyle/>
          <a:p>
            <a:pPr algn="ctr"/>
            <a:endParaRPr lang="en-US">
              <a:solidFill>
                <a:prstClr val="black"/>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A. </a:t>
            </a:r>
            <a:r>
              <a:rPr lang="zh-CN" altLang="en-US" dirty="0"/>
              <a:t>需求管理解决方案：建立基于联合预测的需求计划机制，在一定范围内提高计划准确率</a:t>
            </a:r>
          </a:p>
        </p:txBody>
      </p:sp>
      <p:sp>
        <p:nvSpPr>
          <p:cNvPr id="88" name="矩形 87"/>
          <p:cNvSpPr/>
          <p:nvPr/>
        </p:nvSpPr>
        <p:spPr bwMode="auto">
          <a:xfrm>
            <a:off x="311120" y="1211247"/>
            <a:ext cx="1512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计划准确率偏低</a:t>
            </a:r>
          </a:p>
        </p:txBody>
      </p:sp>
      <p:sp>
        <p:nvSpPr>
          <p:cNvPr id="123" name="右箭头 122"/>
          <p:cNvSpPr/>
          <p:nvPr/>
        </p:nvSpPr>
        <p:spPr bwMode="auto">
          <a:xfrm>
            <a:off x="1915592" y="1157498"/>
            <a:ext cx="4668814" cy="457189"/>
          </a:xfrm>
          <a:prstGeom prst="rightArrow">
            <a:avLst>
              <a:gd name="adj1" fmla="val 77779"/>
              <a:gd name="adj2" fmla="val 50000"/>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chemeClr val="bg1">
                    <a:lumMod val="50000"/>
                  </a:schemeClr>
                </a:solidFill>
                <a:latin typeface="微软雅黑" panose="020B0503020204020204" charset="-122"/>
                <a:ea typeface="微软雅黑" panose="020B0503020204020204" charset="-122"/>
              </a:rPr>
              <a:t>需求管理分析框架</a:t>
            </a:r>
          </a:p>
        </p:txBody>
      </p:sp>
      <p:sp>
        <p:nvSpPr>
          <p:cNvPr id="124" name="矩形 123"/>
          <p:cNvSpPr/>
          <p:nvPr/>
        </p:nvSpPr>
        <p:spPr bwMode="auto">
          <a:xfrm>
            <a:off x="6698280" y="1211247"/>
            <a:ext cx="2160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需求合理可靠</a:t>
            </a:r>
          </a:p>
        </p:txBody>
      </p:sp>
      <p:sp>
        <p:nvSpPr>
          <p:cNvPr id="125" name="矩形 124"/>
          <p:cNvSpPr/>
          <p:nvPr/>
        </p:nvSpPr>
        <p:spPr bwMode="auto">
          <a:xfrm>
            <a:off x="311120" y="1643050"/>
            <a:ext cx="1512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年需求计划准确率（月度）国内平均值为</a:t>
            </a:r>
            <a:r>
              <a:rPr lang="en-US" altLang="zh-CN" sz="1200" b="1" kern="0" dirty="0">
                <a:solidFill>
                  <a:srgbClr val="3366FF"/>
                </a:solidFill>
                <a:latin typeface="微软雅黑" panose="020B0503020204020204" charset="-122"/>
                <a:ea typeface="微软雅黑" panose="020B0503020204020204" charset="-122"/>
                <a:cs typeface="Arial" panose="020B0604020202020204" pitchFamily="34" charset="0"/>
              </a:rPr>
              <a:t>57%</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，国际平均值为</a:t>
            </a:r>
            <a:r>
              <a:rPr lang="en-US" altLang="zh-CN" sz="1200" b="1" kern="0" dirty="0">
                <a:solidFill>
                  <a:srgbClr val="3366FF"/>
                </a:solidFill>
                <a:latin typeface="微软雅黑" panose="020B0503020204020204" charset="-122"/>
                <a:ea typeface="微软雅黑" panose="020B0503020204020204" charset="-122"/>
                <a:cs typeface="Arial" panose="020B0604020202020204" pitchFamily="34" charset="0"/>
              </a:rPr>
              <a:t>38%</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，总体需求计划准确率偏低</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需求计划</a:t>
            </a: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更多关注前三月</a:t>
            </a:r>
            <a:r>
              <a:rPr lang="zh-CN" altLang="en-US" sz="1200" dirty="0">
                <a:latin typeface="微软雅黑" panose="020B0503020204020204" charset="-122"/>
                <a:ea typeface="微软雅黑" panose="020B0503020204020204" charset="-122"/>
              </a:rPr>
              <a:t>，后三月计划较少关注，对长周期采购件的指导作用较低</a:t>
            </a: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计划外</a:t>
            </a: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紧急订单较多</a:t>
            </a:r>
            <a:r>
              <a:rPr lang="zh-CN" altLang="en-US" sz="1200" dirty="0">
                <a:latin typeface="微软雅黑" panose="020B0503020204020204" charset="-122"/>
                <a:ea typeface="微软雅黑" panose="020B0503020204020204" charset="-122"/>
              </a:rPr>
              <a:t>，对零部件供应及生产稳定性影响较大</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前端对需求计划的提报</a:t>
            </a: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不重视</a:t>
            </a:r>
            <a:r>
              <a:rPr lang="zh-CN" altLang="en-US" sz="1200" dirty="0">
                <a:latin typeface="微软雅黑" panose="020B0503020204020204" charset="-122"/>
                <a:ea typeface="微软雅黑" panose="020B0503020204020204" charset="-122"/>
              </a:rPr>
              <a:t>，尤其是海外大区</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主要靠</a:t>
            </a: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定性分析</a:t>
            </a:r>
          </a:p>
        </p:txBody>
      </p:sp>
      <p:sp>
        <p:nvSpPr>
          <p:cNvPr id="126" name="矩形 125"/>
          <p:cNvSpPr/>
          <p:nvPr/>
        </p:nvSpPr>
        <p:spPr bwMode="auto">
          <a:xfrm>
            <a:off x="1915536" y="1643050"/>
            <a:ext cx="4669428" cy="4143404"/>
          </a:xfrm>
          <a:prstGeom prst="rect">
            <a:avLst/>
          </a:prstGeom>
          <a:no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127" name="矩形 126"/>
          <p:cNvSpPr/>
          <p:nvPr/>
        </p:nvSpPr>
        <p:spPr bwMode="auto">
          <a:xfrm>
            <a:off x="6698280" y="1643050"/>
            <a:ext cx="2160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定性和定量结合</a:t>
            </a:r>
            <a:r>
              <a:rPr lang="zh-CN" altLang="en-US" sz="1200" dirty="0">
                <a:latin typeface="微软雅黑" panose="020B0503020204020204" charset="-122"/>
                <a:ea typeface="微软雅黑" panose="020B0503020204020204" charset="-122"/>
              </a:rPr>
              <a:t>：将历史销量、商机、促销目标等数据作为预测的定量输入，同时根据市场和竞争对手分析进行定性调整</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联合预测</a:t>
            </a:r>
            <a:r>
              <a:rPr lang="zh-CN" altLang="en-US" sz="1200" dirty="0">
                <a:latin typeface="微软雅黑" panose="020B0503020204020204" charset="-122"/>
                <a:ea typeface="微软雅黑" panose="020B0503020204020204" charset="-122"/>
              </a:rPr>
              <a:t>：明确代理商（海外大区）和事业部营销管理部门的联合预测机制，包括提报时间、提报内容、参考信息等</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合理库存</a:t>
            </a:r>
            <a:r>
              <a:rPr lang="zh-CN" altLang="en-US" sz="1200" dirty="0">
                <a:latin typeface="微软雅黑" panose="020B0503020204020204" charset="-122"/>
                <a:ea typeface="微软雅黑" panose="020B0503020204020204" charset="-122"/>
              </a:rPr>
              <a:t>：根据历史数据分析工厂和代理商库存当量标准，明确需求和库存的关系，合理调整库存数量和分布</a:t>
            </a:r>
            <a:endParaRPr lang="en-US" altLang="zh-CN" sz="1200" dirty="0">
              <a:latin typeface="微软雅黑" panose="020B0503020204020204" charset="-122"/>
              <a:ea typeface="微软雅黑" panose="020B0503020204020204" charset="-122"/>
            </a:endParaRPr>
          </a:p>
        </p:txBody>
      </p:sp>
      <p:sp>
        <p:nvSpPr>
          <p:cNvPr id="175" name="矩形 174"/>
          <p:cNvSpPr/>
          <p:nvPr/>
        </p:nvSpPr>
        <p:spPr bwMode="auto">
          <a:xfrm>
            <a:off x="311120" y="5888834"/>
            <a:ext cx="8547160" cy="612000"/>
          </a:xfrm>
          <a:prstGeom prst="rect">
            <a:avLst/>
          </a:prstGeom>
          <a:noFill/>
          <a:ln w="19050" cap="flat" cmpd="sng" algn="ctr">
            <a:solidFill>
              <a:schemeClr val="accent1">
                <a:lumMod val="60000"/>
                <a:lumOff val="40000"/>
              </a:schemeClr>
            </a:solidFill>
            <a:prstDash val="solid"/>
            <a:round/>
            <a:headEnd type="none" w="med" len="med"/>
            <a:tailEnd type="none"/>
          </a:ln>
          <a:effectLst/>
        </p:spPr>
        <p:txBody>
          <a:bodyPr lIns="900000" tIns="46800" rtlCol="0" anchor="ctr"/>
          <a:lstStyle/>
          <a:p>
            <a:pPr marL="180975" indent="-180975">
              <a:lnSpc>
                <a:spcPct val="110000"/>
              </a:lnSpc>
              <a:spcBef>
                <a:spcPts val="600"/>
              </a:spcBef>
            </a:pPr>
            <a:r>
              <a:rPr lang="zh-CN" altLang="en-US" sz="1400" dirty="0">
                <a:latin typeface="微软雅黑" panose="020B0503020204020204" charset="-122"/>
                <a:ea typeface="微软雅黑" panose="020B0503020204020204" charset="-122"/>
              </a:rPr>
              <a:t>在一定程度上提高营销端</a:t>
            </a:r>
            <a:r>
              <a:rPr lang="zh-CN" altLang="en-US" b="1" dirty="0">
                <a:latin typeface="微软雅黑" panose="020B0503020204020204" charset="-122"/>
                <a:ea typeface="微软雅黑" panose="020B0503020204020204" charset="-122"/>
              </a:rPr>
              <a:t>需求计划准确率</a:t>
            </a:r>
            <a:r>
              <a:rPr lang="zh-CN" altLang="en-US" sz="1400" dirty="0">
                <a:latin typeface="微软雅黑" panose="020B0503020204020204" charset="-122"/>
                <a:ea typeface="微软雅黑" panose="020B0503020204020204" charset="-122"/>
              </a:rPr>
              <a:t>，为生产和采购提供可靠有效的输入</a:t>
            </a:r>
            <a:endParaRPr lang="en-US" altLang="zh-CN" dirty="0">
              <a:latin typeface="微软雅黑" panose="020B0503020204020204" charset="-122"/>
              <a:ea typeface="微软雅黑" panose="020B0503020204020204" charset="-122"/>
            </a:endParaRPr>
          </a:p>
        </p:txBody>
      </p:sp>
      <p:sp>
        <p:nvSpPr>
          <p:cNvPr id="177" name="矩形 176"/>
          <p:cNvSpPr/>
          <p:nvPr/>
        </p:nvSpPr>
        <p:spPr bwMode="auto">
          <a:xfrm>
            <a:off x="311120" y="5888834"/>
            <a:ext cx="725523" cy="612000"/>
          </a:xfrm>
          <a:prstGeom prst="rect">
            <a:avLst/>
          </a:prstGeom>
          <a:solidFill>
            <a:srgbClr val="CCCCFF"/>
          </a:solidFill>
          <a:ln w="19050" cap="flat" cmpd="sng" algn="ctr">
            <a:solidFill>
              <a:schemeClr val="accent1">
                <a:lumMod val="60000"/>
                <a:lumOff val="40000"/>
              </a:schemeClr>
            </a:solidFill>
            <a:prstDash val="solid"/>
            <a:round/>
            <a:headEnd type="none" w="med" len="med"/>
            <a:tailEnd type="none"/>
          </a:ln>
          <a:effectLst/>
        </p:spPr>
        <p:txBody>
          <a:bodyPr rtlCol="0" anchor="ctr"/>
          <a:lstStyle/>
          <a:p>
            <a:pPr algn="ctr">
              <a:lnSpc>
                <a:spcPct val="110000"/>
              </a:lnSpc>
              <a:spcBef>
                <a:spcPts val="600"/>
              </a:spcBef>
            </a:pPr>
            <a:r>
              <a:rPr lang="zh-CN" altLang="en-US" sz="1400" b="1" dirty="0">
                <a:latin typeface="微软雅黑" panose="020B0503020204020204" charset="-122"/>
                <a:ea typeface="微软雅黑" panose="020B0503020204020204" charset="-122"/>
              </a:rPr>
              <a:t>主要</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收益</a:t>
            </a:r>
            <a:endParaRPr lang="en-US" altLang="zh-CN" sz="1400" b="1" dirty="0">
              <a:latin typeface="微软雅黑" panose="020B0503020204020204" charset="-122"/>
              <a:ea typeface="微软雅黑" panose="020B0503020204020204" charset="-122"/>
            </a:endParaRPr>
          </a:p>
        </p:txBody>
      </p:sp>
      <p:sp>
        <p:nvSpPr>
          <p:cNvPr id="45" name="AutoShape 26"/>
          <p:cNvSpPr>
            <a:spLocks noChangeArrowheads="1"/>
          </p:cNvSpPr>
          <p:nvPr/>
        </p:nvSpPr>
        <p:spPr bwMode="auto">
          <a:xfrm>
            <a:off x="2099081" y="1833215"/>
            <a:ext cx="612326" cy="259984"/>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历史销量</a:t>
            </a:r>
          </a:p>
        </p:txBody>
      </p:sp>
      <p:sp>
        <p:nvSpPr>
          <p:cNvPr id="46" name="AutoShape 29"/>
          <p:cNvSpPr>
            <a:spLocks noChangeArrowheads="1"/>
          </p:cNvSpPr>
          <p:nvPr/>
        </p:nvSpPr>
        <p:spPr bwMode="auto">
          <a:xfrm>
            <a:off x="2099081" y="3890082"/>
            <a:ext cx="612326" cy="259984"/>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购机政策</a:t>
            </a:r>
            <a:endParaRPr lang="en-US" altLang="zh-CN" sz="800" dirty="0">
              <a:solidFill>
                <a:srgbClr val="000000"/>
              </a:solidFill>
              <a:latin typeface="微软雅黑" panose="020B0503020204020204" charset="-122"/>
              <a:ea typeface="微软雅黑" panose="020B0503020204020204" charset="-122"/>
            </a:endParaRPr>
          </a:p>
        </p:txBody>
      </p:sp>
      <p:sp>
        <p:nvSpPr>
          <p:cNvPr id="47" name="AutoShape 26"/>
          <p:cNvSpPr>
            <a:spLocks noChangeArrowheads="1"/>
          </p:cNvSpPr>
          <p:nvPr/>
        </p:nvSpPr>
        <p:spPr bwMode="auto">
          <a:xfrm>
            <a:off x="2099081" y="3067336"/>
            <a:ext cx="612326" cy="259984"/>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市场信息</a:t>
            </a:r>
          </a:p>
        </p:txBody>
      </p:sp>
      <p:sp>
        <p:nvSpPr>
          <p:cNvPr id="48" name="AutoShape 26"/>
          <p:cNvSpPr>
            <a:spLocks noChangeArrowheads="1"/>
          </p:cNvSpPr>
          <p:nvPr/>
        </p:nvSpPr>
        <p:spPr bwMode="auto">
          <a:xfrm>
            <a:off x="2099081" y="2244589"/>
            <a:ext cx="612326" cy="259984"/>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商机信息</a:t>
            </a:r>
          </a:p>
        </p:txBody>
      </p:sp>
      <p:sp>
        <p:nvSpPr>
          <p:cNvPr id="49" name="AutoShape 26"/>
          <p:cNvSpPr>
            <a:spLocks noChangeArrowheads="1"/>
          </p:cNvSpPr>
          <p:nvPr/>
        </p:nvSpPr>
        <p:spPr bwMode="auto">
          <a:xfrm>
            <a:off x="3014194" y="3620975"/>
            <a:ext cx="714380" cy="375533"/>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订单信息</a:t>
            </a:r>
          </a:p>
        </p:txBody>
      </p:sp>
      <p:sp>
        <p:nvSpPr>
          <p:cNvPr id="50" name="Text Box 21"/>
          <p:cNvSpPr txBox="1">
            <a:spLocks noChangeArrowheads="1"/>
          </p:cNvSpPr>
          <p:nvPr/>
        </p:nvSpPr>
        <p:spPr bwMode="auto">
          <a:xfrm>
            <a:off x="3923576" y="2875772"/>
            <a:ext cx="1699273" cy="1146466"/>
          </a:xfrm>
          <a:prstGeom prst="rect">
            <a:avLst/>
          </a:prstGeom>
          <a:solidFill>
            <a:schemeClr val="accent1">
              <a:lumMod val="20000"/>
              <a:lumOff val="80000"/>
            </a:schemeClr>
          </a:solidFill>
          <a:ln w="12700" algn="ctr">
            <a:solidFill>
              <a:schemeClr val="accent1"/>
            </a:solidFill>
            <a:prstDash val="solid"/>
            <a:miter lim="800000"/>
          </a:ln>
        </p:spPr>
        <p:txBody>
          <a:bodyPr lIns="90000" tIns="82800" rIns="90000" bIns="46800" anchor="t"/>
          <a:lstStyle/>
          <a:p>
            <a:pPr algn="ctr"/>
            <a:r>
              <a:rPr lang="zh-CN" altLang="en-US" sz="1000" b="1" dirty="0">
                <a:solidFill>
                  <a:srgbClr val="000000"/>
                </a:solidFill>
                <a:latin typeface="微软雅黑" panose="020B0503020204020204" charset="-122"/>
                <a:ea typeface="微软雅黑" panose="020B0503020204020204" charset="-122"/>
              </a:rPr>
              <a:t>需求计划</a:t>
            </a:r>
            <a:endParaRPr lang="en-US" altLang="zh-CN" sz="1000" b="1" dirty="0">
              <a:solidFill>
                <a:srgbClr val="000000"/>
              </a:solidFill>
              <a:latin typeface="微软雅黑" panose="020B0503020204020204" charset="-122"/>
              <a:ea typeface="微软雅黑" panose="020B0503020204020204" charset="-122"/>
            </a:endParaRPr>
          </a:p>
        </p:txBody>
      </p:sp>
      <p:cxnSp>
        <p:nvCxnSpPr>
          <p:cNvPr id="51" name="直接箭头连接符 50"/>
          <p:cNvCxnSpPr>
            <a:stCxn id="70" idx="1"/>
          </p:cNvCxnSpPr>
          <p:nvPr/>
        </p:nvCxnSpPr>
        <p:spPr bwMode="auto">
          <a:xfrm rot="5400000" flipH="1" flipV="1">
            <a:off x="4597128" y="4194395"/>
            <a:ext cx="343940" cy="900"/>
          </a:xfrm>
          <a:prstGeom prst="straightConnector1">
            <a:avLst/>
          </a:prstGeom>
          <a:noFill/>
          <a:ln w="9525" cap="flat" cmpd="sng" algn="ctr">
            <a:solidFill>
              <a:schemeClr val="accent1"/>
            </a:solidFill>
            <a:prstDash val="dash"/>
            <a:round/>
            <a:headEnd type="none" w="med" len="med"/>
            <a:tailEnd type="arrow"/>
          </a:ln>
          <a:effectLst/>
        </p:spPr>
      </p:cxnSp>
      <p:cxnSp>
        <p:nvCxnSpPr>
          <p:cNvPr id="52" name="直接箭头连接符 51"/>
          <p:cNvCxnSpPr>
            <a:stCxn id="71" idx="4"/>
          </p:cNvCxnSpPr>
          <p:nvPr/>
        </p:nvCxnSpPr>
        <p:spPr bwMode="auto">
          <a:xfrm rot="5400000">
            <a:off x="4075937" y="2662462"/>
            <a:ext cx="426993" cy="900"/>
          </a:xfrm>
          <a:prstGeom prst="straightConnector1">
            <a:avLst/>
          </a:prstGeom>
          <a:noFill/>
          <a:ln w="9525" cap="flat" cmpd="sng" algn="ctr">
            <a:solidFill>
              <a:schemeClr val="accent1"/>
            </a:solidFill>
            <a:prstDash val="dash"/>
            <a:round/>
            <a:headEnd type="none" w="med" len="med"/>
            <a:tailEnd type="arrow"/>
          </a:ln>
          <a:effectLst/>
        </p:spPr>
      </p:cxnSp>
      <p:sp>
        <p:nvSpPr>
          <p:cNvPr id="53" name="Text Box 21"/>
          <p:cNvSpPr txBox="1">
            <a:spLocks noChangeArrowheads="1"/>
          </p:cNvSpPr>
          <p:nvPr/>
        </p:nvSpPr>
        <p:spPr bwMode="auto">
          <a:xfrm>
            <a:off x="5798740" y="3105065"/>
            <a:ext cx="634170" cy="687879"/>
          </a:xfrm>
          <a:prstGeom prst="rect">
            <a:avLst/>
          </a:prstGeom>
          <a:noFill/>
          <a:ln w="12700" algn="ctr">
            <a:solidFill>
              <a:schemeClr val="accent1"/>
            </a:solidFill>
            <a:prstDash val="solid"/>
            <a:miter lim="800000"/>
          </a:ln>
        </p:spPr>
        <p:txBody>
          <a:bodyPr lIns="90000" tIns="46800" rIns="90000" bIns="46800" anchor="ctr"/>
          <a:lstStyle/>
          <a:p>
            <a:pPr algn="ctr"/>
            <a:r>
              <a:rPr lang="zh-CN" altLang="en-US" sz="800" b="1" dirty="0">
                <a:solidFill>
                  <a:srgbClr val="000000"/>
                </a:solidFill>
                <a:latin typeface="微软雅黑" panose="020B0503020204020204" charset="-122"/>
                <a:ea typeface="微软雅黑" panose="020B0503020204020204" charset="-122"/>
              </a:rPr>
              <a:t>资源配置</a:t>
            </a:r>
            <a:endParaRPr lang="en-US" altLang="zh-CN" sz="800" b="1" dirty="0">
              <a:solidFill>
                <a:srgbClr val="000000"/>
              </a:solidFill>
              <a:latin typeface="微软雅黑" panose="020B0503020204020204" charset="-122"/>
              <a:ea typeface="微软雅黑" panose="020B0503020204020204" charset="-122"/>
            </a:endParaRPr>
          </a:p>
          <a:p>
            <a:pPr algn="ctr"/>
            <a:r>
              <a:rPr lang="zh-CN" altLang="en-US" sz="800" b="1" dirty="0">
                <a:solidFill>
                  <a:srgbClr val="000000"/>
                </a:solidFill>
                <a:latin typeface="微软雅黑" panose="020B0503020204020204" charset="-122"/>
                <a:ea typeface="微软雅黑" panose="020B0503020204020204" charset="-122"/>
              </a:rPr>
              <a:t>计划与产销平衡机制</a:t>
            </a:r>
            <a:endParaRPr lang="en-US" altLang="zh-CN" sz="800" b="1" dirty="0">
              <a:solidFill>
                <a:srgbClr val="000000"/>
              </a:solidFill>
              <a:latin typeface="微软雅黑" panose="020B0503020204020204" charset="-122"/>
              <a:ea typeface="微软雅黑" panose="020B0503020204020204" charset="-122"/>
            </a:endParaRPr>
          </a:p>
        </p:txBody>
      </p:sp>
      <p:cxnSp>
        <p:nvCxnSpPr>
          <p:cNvPr id="54" name="直接箭头连接符 53"/>
          <p:cNvCxnSpPr>
            <a:stCxn id="50" idx="3"/>
            <a:endCxn id="53" idx="1"/>
          </p:cNvCxnSpPr>
          <p:nvPr/>
        </p:nvCxnSpPr>
        <p:spPr bwMode="auto">
          <a:xfrm>
            <a:off x="5622849" y="3449005"/>
            <a:ext cx="175891" cy="1274"/>
          </a:xfrm>
          <a:prstGeom prst="straightConnector1">
            <a:avLst/>
          </a:prstGeom>
          <a:noFill/>
          <a:ln w="9525" cap="flat" cmpd="sng" algn="ctr">
            <a:solidFill>
              <a:schemeClr val="accent1"/>
            </a:solidFill>
            <a:prstDash val="solid"/>
            <a:round/>
            <a:headEnd type="none" w="med" len="med"/>
            <a:tailEnd type="arrow"/>
          </a:ln>
          <a:effectLst/>
        </p:spPr>
      </p:cxnSp>
      <p:sp>
        <p:nvSpPr>
          <p:cNvPr id="55" name="AutoShape 26"/>
          <p:cNvSpPr>
            <a:spLocks noChangeArrowheads="1"/>
          </p:cNvSpPr>
          <p:nvPr/>
        </p:nvSpPr>
        <p:spPr bwMode="auto">
          <a:xfrm>
            <a:off x="2099081" y="3478709"/>
            <a:ext cx="612326" cy="259984"/>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竞争者信息</a:t>
            </a:r>
          </a:p>
        </p:txBody>
      </p:sp>
      <p:sp>
        <p:nvSpPr>
          <p:cNvPr id="56" name="AutoShape 26"/>
          <p:cNvSpPr>
            <a:spLocks noChangeArrowheads="1"/>
          </p:cNvSpPr>
          <p:nvPr/>
        </p:nvSpPr>
        <p:spPr bwMode="auto">
          <a:xfrm>
            <a:off x="2099081" y="2655962"/>
            <a:ext cx="612326" cy="259984"/>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促销政策</a:t>
            </a:r>
          </a:p>
        </p:txBody>
      </p:sp>
      <p:sp>
        <p:nvSpPr>
          <p:cNvPr id="57" name="AutoShape 26"/>
          <p:cNvSpPr>
            <a:spLocks noChangeArrowheads="1"/>
          </p:cNvSpPr>
          <p:nvPr/>
        </p:nvSpPr>
        <p:spPr bwMode="auto">
          <a:xfrm>
            <a:off x="2099081" y="4301456"/>
            <a:ext cx="612326" cy="259984"/>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en-US" altLang="zh-CN" sz="800" dirty="0">
                <a:solidFill>
                  <a:srgbClr val="000000"/>
                </a:solidFill>
                <a:latin typeface="微软雅黑" panose="020B0503020204020204" charset="-122"/>
                <a:ea typeface="微软雅黑" panose="020B0503020204020204" charset="-122"/>
              </a:rPr>
              <a:t>……</a:t>
            </a:r>
            <a:endParaRPr lang="zh-CN" altLang="en-US" sz="800" dirty="0">
              <a:solidFill>
                <a:srgbClr val="000000"/>
              </a:solidFill>
              <a:latin typeface="微软雅黑" panose="020B0503020204020204" charset="-122"/>
              <a:ea typeface="微软雅黑" panose="020B0503020204020204" charset="-122"/>
            </a:endParaRPr>
          </a:p>
        </p:txBody>
      </p:sp>
      <p:cxnSp>
        <p:nvCxnSpPr>
          <p:cNvPr id="58" name="直接连接符 57"/>
          <p:cNvCxnSpPr/>
          <p:nvPr/>
        </p:nvCxnSpPr>
        <p:spPr bwMode="auto">
          <a:xfrm>
            <a:off x="2666124" y="1957325"/>
            <a:ext cx="244930" cy="1274"/>
          </a:xfrm>
          <a:prstGeom prst="line">
            <a:avLst/>
          </a:prstGeom>
          <a:noFill/>
          <a:ln w="9525" cap="flat" cmpd="sng" algn="ctr">
            <a:solidFill>
              <a:schemeClr val="accent1"/>
            </a:solidFill>
            <a:prstDash val="dash"/>
            <a:round/>
            <a:headEnd type="none" w="med" len="med"/>
            <a:tailEnd type="none" w="med" len="med"/>
          </a:ln>
          <a:effectLst/>
        </p:spPr>
      </p:cxnSp>
      <p:cxnSp>
        <p:nvCxnSpPr>
          <p:cNvPr id="59" name="直接连接符 58"/>
          <p:cNvCxnSpPr/>
          <p:nvPr/>
        </p:nvCxnSpPr>
        <p:spPr bwMode="auto">
          <a:xfrm>
            <a:off x="2666124" y="2383155"/>
            <a:ext cx="244930" cy="1274"/>
          </a:xfrm>
          <a:prstGeom prst="line">
            <a:avLst/>
          </a:prstGeom>
          <a:noFill/>
          <a:ln w="9525" cap="flat" cmpd="sng" algn="ctr">
            <a:solidFill>
              <a:schemeClr val="accent1"/>
            </a:solidFill>
            <a:prstDash val="dash"/>
            <a:round/>
            <a:headEnd type="none" w="med" len="med"/>
            <a:tailEnd type="none" w="med" len="med"/>
          </a:ln>
          <a:effectLst/>
        </p:spPr>
      </p:cxnSp>
      <p:cxnSp>
        <p:nvCxnSpPr>
          <p:cNvPr id="60" name="直接连接符 59"/>
          <p:cNvCxnSpPr/>
          <p:nvPr/>
        </p:nvCxnSpPr>
        <p:spPr bwMode="auto">
          <a:xfrm>
            <a:off x="2666124" y="2782236"/>
            <a:ext cx="244930" cy="1274"/>
          </a:xfrm>
          <a:prstGeom prst="line">
            <a:avLst/>
          </a:prstGeom>
          <a:noFill/>
          <a:ln w="9525" cap="flat" cmpd="sng" algn="ctr">
            <a:solidFill>
              <a:schemeClr val="accent1"/>
            </a:solidFill>
            <a:prstDash val="dash"/>
            <a:round/>
            <a:headEnd type="none" w="med" len="med"/>
            <a:tailEnd type="none" w="med" len="med"/>
          </a:ln>
          <a:effectLst/>
        </p:spPr>
      </p:cxnSp>
      <p:cxnSp>
        <p:nvCxnSpPr>
          <p:cNvPr id="61" name="直接连接符 60"/>
          <p:cNvCxnSpPr/>
          <p:nvPr/>
        </p:nvCxnSpPr>
        <p:spPr bwMode="auto">
          <a:xfrm>
            <a:off x="2666124" y="3608054"/>
            <a:ext cx="244930" cy="1274"/>
          </a:xfrm>
          <a:prstGeom prst="line">
            <a:avLst/>
          </a:prstGeom>
          <a:noFill/>
          <a:ln w="9525" cap="flat" cmpd="sng" algn="ctr">
            <a:solidFill>
              <a:schemeClr val="accent1"/>
            </a:solidFill>
            <a:prstDash val="dash"/>
            <a:round/>
            <a:headEnd type="none" w="med" len="med"/>
            <a:tailEnd type="none" w="med" len="med"/>
          </a:ln>
          <a:effectLst/>
        </p:spPr>
      </p:cxnSp>
      <p:cxnSp>
        <p:nvCxnSpPr>
          <p:cNvPr id="62" name="直接连接符 61"/>
          <p:cNvCxnSpPr/>
          <p:nvPr/>
        </p:nvCxnSpPr>
        <p:spPr bwMode="auto">
          <a:xfrm>
            <a:off x="2666124" y="3999853"/>
            <a:ext cx="244930" cy="1274"/>
          </a:xfrm>
          <a:prstGeom prst="line">
            <a:avLst/>
          </a:prstGeom>
          <a:noFill/>
          <a:ln w="9525" cap="flat" cmpd="sng" algn="ctr">
            <a:solidFill>
              <a:schemeClr val="accent1"/>
            </a:solidFill>
            <a:prstDash val="dash"/>
            <a:round/>
            <a:headEnd type="none" w="med" len="med"/>
            <a:tailEnd type="none" w="med" len="med"/>
          </a:ln>
          <a:effectLst/>
        </p:spPr>
      </p:cxnSp>
      <p:cxnSp>
        <p:nvCxnSpPr>
          <p:cNvPr id="63" name="直接连接符 62"/>
          <p:cNvCxnSpPr/>
          <p:nvPr/>
        </p:nvCxnSpPr>
        <p:spPr bwMode="auto">
          <a:xfrm>
            <a:off x="2666124" y="4439395"/>
            <a:ext cx="244930" cy="1274"/>
          </a:xfrm>
          <a:prstGeom prst="line">
            <a:avLst/>
          </a:prstGeom>
          <a:noFill/>
          <a:ln w="9525" cap="flat" cmpd="sng" algn="ctr">
            <a:solidFill>
              <a:schemeClr val="accent1"/>
            </a:solidFill>
            <a:prstDash val="dash"/>
            <a:round/>
            <a:headEnd type="none" w="med" len="med"/>
            <a:tailEnd type="none" w="med" len="med"/>
          </a:ln>
          <a:effectLst/>
        </p:spPr>
      </p:cxnSp>
      <p:cxnSp>
        <p:nvCxnSpPr>
          <p:cNvPr id="64" name="直接连接符 63"/>
          <p:cNvCxnSpPr/>
          <p:nvPr/>
        </p:nvCxnSpPr>
        <p:spPr bwMode="auto">
          <a:xfrm rot="16200000" flipH="1">
            <a:off x="1668908" y="3193000"/>
            <a:ext cx="2484292" cy="1"/>
          </a:xfrm>
          <a:prstGeom prst="line">
            <a:avLst/>
          </a:prstGeom>
          <a:noFill/>
          <a:ln w="9525" cap="flat" cmpd="sng" algn="ctr">
            <a:solidFill>
              <a:schemeClr val="accent1"/>
            </a:solidFill>
            <a:prstDash val="dash"/>
            <a:round/>
            <a:headEnd type="none" w="med" len="med"/>
            <a:tailEnd type="none" w="med" len="med"/>
          </a:ln>
          <a:effectLst/>
        </p:spPr>
      </p:cxnSp>
      <p:cxnSp>
        <p:nvCxnSpPr>
          <p:cNvPr id="65" name="直接箭头连接符 64"/>
          <p:cNvCxnSpPr/>
          <p:nvPr/>
        </p:nvCxnSpPr>
        <p:spPr bwMode="auto">
          <a:xfrm>
            <a:off x="2674353" y="3196419"/>
            <a:ext cx="408217" cy="1274"/>
          </a:xfrm>
          <a:prstGeom prst="straightConnector1">
            <a:avLst/>
          </a:prstGeom>
          <a:noFill/>
          <a:ln w="9525" cap="flat" cmpd="sng" algn="ctr">
            <a:solidFill>
              <a:schemeClr val="accent1"/>
            </a:solidFill>
            <a:prstDash val="dash"/>
            <a:round/>
            <a:headEnd type="none" w="med" len="med"/>
            <a:tailEnd type="arrow"/>
          </a:ln>
          <a:effectLst/>
        </p:spPr>
      </p:cxnSp>
      <p:sp>
        <p:nvSpPr>
          <p:cNvPr id="66" name="上下箭头 65"/>
          <p:cNvSpPr/>
          <p:nvPr/>
        </p:nvSpPr>
        <p:spPr bwMode="auto">
          <a:xfrm rot="5400000">
            <a:off x="4608725" y="2785684"/>
            <a:ext cx="286616" cy="1498614"/>
          </a:xfrm>
          <a:prstGeom prst="upDownArrow">
            <a:avLst>
              <a:gd name="adj1" fmla="val 50000"/>
              <a:gd name="adj2" fmla="val 33746"/>
            </a:avLst>
          </a:prstGeom>
          <a:noFill/>
          <a:ln w="6350">
            <a:solidFill>
              <a:schemeClr val="tx1"/>
            </a:solid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sz="800" dirty="0">
              <a:solidFill>
                <a:srgbClr val="000000"/>
              </a:solidFill>
            </a:endParaRPr>
          </a:p>
        </p:txBody>
      </p:sp>
      <p:sp>
        <p:nvSpPr>
          <p:cNvPr id="67" name="矩形 66"/>
          <p:cNvSpPr/>
          <p:nvPr/>
        </p:nvSpPr>
        <p:spPr bwMode="auto">
          <a:xfrm>
            <a:off x="4124235" y="3284623"/>
            <a:ext cx="367395" cy="519968"/>
          </a:xfrm>
          <a:prstGeom prst="rect">
            <a:avLst/>
          </a:prstGeom>
          <a:solidFill>
            <a:schemeClr val="bg1">
              <a:lumMod val="95000"/>
            </a:schemeClr>
          </a:solidFill>
          <a:ln w="6350">
            <a:solidFill>
              <a:schemeClr val="bg1">
                <a:lumMod val="65000"/>
              </a:schemeClr>
            </a:solidFill>
            <a:prstDash val="dash"/>
            <a:miter lim="800000"/>
          </a:ln>
        </p:spPr>
        <p:txBody>
          <a:bodyPr lIns="0" rIns="0" rtlCol="0" anchor="ctr">
            <a:noAutofit/>
          </a:bodyPr>
          <a:lstStyle/>
          <a:p>
            <a:pPr marL="117475" indent="-117475" algn="ctr">
              <a:buClr>
                <a:schemeClr val="tx1"/>
              </a:buClr>
            </a:pPr>
            <a:r>
              <a:rPr lang="zh-CN" altLang="en-US" sz="800" dirty="0">
                <a:solidFill>
                  <a:srgbClr val="000000"/>
                </a:solidFill>
                <a:latin typeface="微软雅黑" panose="020B0503020204020204" charset="-122"/>
                <a:ea typeface="微软雅黑" panose="020B0503020204020204" charset="-122"/>
              </a:rPr>
              <a:t>代理商</a:t>
            </a:r>
          </a:p>
        </p:txBody>
      </p:sp>
      <p:sp>
        <p:nvSpPr>
          <p:cNvPr id="68" name="矩形 67"/>
          <p:cNvSpPr/>
          <p:nvPr/>
        </p:nvSpPr>
        <p:spPr bwMode="auto">
          <a:xfrm>
            <a:off x="4569769" y="3284623"/>
            <a:ext cx="367395" cy="519968"/>
          </a:xfrm>
          <a:prstGeom prst="rect">
            <a:avLst/>
          </a:prstGeom>
          <a:solidFill>
            <a:schemeClr val="bg1">
              <a:lumMod val="95000"/>
            </a:schemeClr>
          </a:solidFill>
          <a:ln w="6350">
            <a:solidFill>
              <a:schemeClr val="bg1">
                <a:lumMod val="65000"/>
              </a:schemeClr>
            </a:solidFill>
            <a:prstDash val="dash"/>
            <a:miter lim="800000"/>
          </a:ln>
        </p:spPr>
        <p:txBody>
          <a:bodyPr lIns="36000" rIns="36000" rtlCol="0" anchor="ctr">
            <a:noAutofit/>
          </a:bodyPr>
          <a:lstStyle/>
          <a:p>
            <a:pPr algn="ctr">
              <a:buClr>
                <a:schemeClr val="tx1"/>
              </a:buClr>
            </a:pPr>
            <a:r>
              <a:rPr lang="zh-CN" altLang="en-US" sz="800">
                <a:solidFill>
                  <a:srgbClr val="000000"/>
                </a:solidFill>
                <a:latin typeface="微软雅黑" panose="020B0503020204020204" charset="-122"/>
                <a:ea typeface="微软雅黑" panose="020B0503020204020204" charset="-122"/>
              </a:rPr>
              <a:t>区域</a:t>
            </a:r>
            <a:endParaRPr lang="en-US" altLang="zh-CN" sz="800" dirty="0">
              <a:solidFill>
                <a:srgbClr val="000000"/>
              </a:solidFill>
              <a:latin typeface="微软雅黑" panose="020B0503020204020204" charset="-122"/>
              <a:ea typeface="微软雅黑" panose="020B0503020204020204" charset="-122"/>
            </a:endParaRPr>
          </a:p>
        </p:txBody>
      </p:sp>
      <p:sp>
        <p:nvSpPr>
          <p:cNvPr id="69" name="矩形 68"/>
          <p:cNvSpPr/>
          <p:nvPr/>
        </p:nvSpPr>
        <p:spPr bwMode="auto">
          <a:xfrm>
            <a:off x="5015303" y="3284623"/>
            <a:ext cx="367395" cy="519968"/>
          </a:xfrm>
          <a:prstGeom prst="rect">
            <a:avLst/>
          </a:prstGeom>
          <a:solidFill>
            <a:schemeClr val="bg1">
              <a:lumMod val="95000"/>
            </a:schemeClr>
          </a:solidFill>
          <a:ln w="6350">
            <a:solidFill>
              <a:schemeClr val="bg1">
                <a:lumMod val="65000"/>
              </a:schemeClr>
            </a:solidFill>
            <a:prstDash val="dash"/>
            <a:miter lim="800000"/>
          </a:ln>
        </p:spPr>
        <p:txBody>
          <a:bodyPr lIns="36000" rIns="36000" rtlCol="0" anchor="ctr">
            <a:noAutofit/>
          </a:bodyPr>
          <a:lstStyle/>
          <a:p>
            <a:pPr algn="ctr">
              <a:buClr>
                <a:schemeClr val="tx1"/>
              </a:buClr>
            </a:pPr>
            <a:r>
              <a:rPr lang="zh-CN" altLang="en-US" sz="800" dirty="0">
                <a:solidFill>
                  <a:srgbClr val="000000"/>
                </a:solidFill>
                <a:latin typeface="微软雅黑" panose="020B0503020204020204" charset="-122"/>
                <a:ea typeface="微软雅黑" panose="020B0503020204020204" charset="-122"/>
              </a:rPr>
              <a:t>营销</a:t>
            </a:r>
            <a:endParaRPr lang="en-US" altLang="zh-CN" sz="800" dirty="0">
              <a:solidFill>
                <a:srgbClr val="000000"/>
              </a:solidFill>
              <a:latin typeface="微软雅黑" panose="020B0503020204020204" charset="-122"/>
              <a:ea typeface="微软雅黑" panose="020B0503020204020204" charset="-122"/>
            </a:endParaRPr>
          </a:p>
          <a:p>
            <a:pPr algn="ctr">
              <a:buClr>
                <a:schemeClr val="tx1"/>
              </a:buClr>
            </a:pPr>
            <a:r>
              <a:rPr lang="zh-CN" altLang="en-US" sz="800" dirty="0">
                <a:solidFill>
                  <a:srgbClr val="000000"/>
                </a:solidFill>
                <a:latin typeface="微软雅黑" panose="020B0503020204020204" charset="-122"/>
                <a:ea typeface="微软雅黑" panose="020B0503020204020204" charset="-122"/>
              </a:rPr>
              <a:t>后台</a:t>
            </a:r>
          </a:p>
        </p:txBody>
      </p:sp>
      <p:sp>
        <p:nvSpPr>
          <p:cNvPr id="70" name="AutoShape 26"/>
          <p:cNvSpPr>
            <a:spLocks noChangeArrowheads="1"/>
          </p:cNvSpPr>
          <p:nvPr/>
        </p:nvSpPr>
        <p:spPr bwMode="auto">
          <a:xfrm>
            <a:off x="4360881" y="4366177"/>
            <a:ext cx="816434" cy="375533"/>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整机库存</a:t>
            </a:r>
          </a:p>
        </p:txBody>
      </p:sp>
      <p:sp>
        <p:nvSpPr>
          <p:cNvPr id="71" name="AutoShape 26"/>
          <p:cNvSpPr>
            <a:spLocks noChangeArrowheads="1"/>
          </p:cNvSpPr>
          <p:nvPr/>
        </p:nvSpPr>
        <p:spPr bwMode="auto">
          <a:xfrm>
            <a:off x="3881217" y="2073246"/>
            <a:ext cx="816434" cy="375533"/>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销售计划</a:t>
            </a:r>
          </a:p>
        </p:txBody>
      </p:sp>
      <p:sp>
        <p:nvSpPr>
          <p:cNvPr id="72" name="AutoShape 26"/>
          <p:cNvSpPr>
            <a:spLocks noChangeArrowheads="1"/>
          </p:cNvSpPr>
          <p:nvPr/>
        </p:nvSpPr>
        <p:spPr bwMode="auto">
          <a:xfrm>
            <a:off x="3014194" y="3012803"/>
            <a:ext cx="714380" cy="375533"/>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销售预测</a:t>
            </a:r>
          </a:p>
        </p:txBody>
      </p:sp>
      <p:cxnSp>
        <p:nvCxnSpPr>
          <p:cNvPr id="73" name="直接箭头连接符 72"/>
          <p:cNvCxnSpPr/>
          <p:nvPr/>
        </p:nvCxnSpPr>
        <p:spPr bwMode="auto">
          <a:xfrm>
            <a:off x="3662885" y="3196419"/>
            <a:ext cx="265341" cy="1274"/>
          </a:xfrm>
          <a:prstGeom prst="straightConnector1">
            <a:avLst/>
          </a:prstGeom>
          <a:noFill/>
          <a:ln w="9525" cap="flat" cmpd="sng" algn="ctr">
            <a:solidFill>
              <a:schemeClr val="accent1"/>
            </a:solidFill>
            <a:prstDash val="dash"/>
            <a:round/>
            <a:headEnd type="none" w="med" len="med"/>
            <a:tailEnd type="arrow"/>
          </a:ln>
          <a:effectLst/>
        </p:spPr>
      </p:cxnSp>
      <p:cxnSp>
        <p:nvCxnSpPr>
          <p:cNvPr id="74" name="直接箭头连接符 73"/>
          <p:cNvCxnSpPr/>
          <p:nvPr/>
        </p:nvCxnSpPr>
        <p:spPr bwMode="auto">
          <a:xfrm>
            <a:off x="3656379" y="3792945"/>
            <a:ext cx="265341" cy="1274"/>
          </a:xfrm>
          <a:prstGeom prst="straightConnector1">
            <a:avLst/>
          </a:prstGeom>
          <a:noFill/>
          <a:ln w="9525" cap="flat" cmpd="sng" algn="ctr">
            <a:solidFill>
              <a:schemeClr val="accent1"/>
            </a:solidFill>
            <a:prstDash val="dash"/>
            <a:round/>
            <a:headEnd type="none" w="med" len="med"/>
            <a:tailEnd type="arrow"/>
          </a:ln>
          <a:effectLst/>
        </p:spPr>
      </p:cxnSp>
      <p:cxnSp>
        <p:nvCxnSpPr>
          <p:cNvPr id="75" name="直接箭头连接符 74"/>
          <p:cNvCxnSpPr>
            <a:stCxn id="76" idx="4"/>
          </p:cNvCxnSpPr>
          <p:nvPr/>
        </p:nvCxnSpPr>
        <p:spPr bwMode="auto">
          <a:xfrm rot="5400000">
            <a:off x="5001135" y="2662462"/>
            <a:ext cx="426993" cy="900"/>
          </a:xfrm>
          <a:prstGeom prst="straightConnector1">
            <a:avLst/>
          </a:prstGeom>
          <a:noFill/>
          <a:ln w="9525" cap="flat" cmpd="sng" algn="ctr">
            <a:solidFill>
              <a:schemeClr val="accent1"/>
            </a:solidFill>
            <a:prstDash val="dash"/>
            <a:round/>
            <a:headEnd type="none" w="med" len="med"/>
            <a:tailEnd type="arrow"/>
          </a:ln>
          <a:effectLst/>
        </p:spPr>
      </p:cxnSp>
      <p:sp>
        <p:nvSpPr>
          <p:cNvPr id="76" name="AutoShape 26"/>
          <p:cNvSpPr>
            <a:spLocks noChangeArrowheads="1"/>
          </p:cNvSpPr>
          <p:nvPr/>
        </p:nvSpPr>
        <p:spPr bwMode="auto">
          <a:xfrm>
            <a:off x="4806415" y="2073246"/>
            <a:ext cx="816434" cy="375533"/>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800" dirty="0">
                <a:solidFill>
                  <a:srgbClr val="000000"/>
                </a:solidFill>
                <a:latin typeface="微软雅黑" panose="020B0503020204020204" charset="-122"/>
                <a:ea typeface="微软雅黑" panose="020B0503020204020204" charset="-122"/>
              </a:rPr>
              <a:t>产能利用要求</a:t>
            </a:r>
          </a:p>
        </p:txBody>
      </p:sp>
      <p:sp>
        <p:nvSpPr>
          <p:cNvPr id="43" name="TextBox 42"/>
          <p:cNvSpPr txBox="1"/>
          <p:nvPr/>
        </p:nvSpPr>
        <p:spPr bwMode="auto">
          <a:xfrm>
            <a:off x="1937069" y="5000636"/>
            <a:ext cx="4608000" cy="748923"/>
          </a:xfrm>
          <a:prstGeom prst="rect">
            <a:avLst/>
          </a:prstGeom>
          <a:noFill/>
          <a:ln>
            <a:noFill/>
          </a:ln>
        </p:spPr>
        <p:txBody>
          <a:bodyPr wrap="square" rtlCol="0">
            <a:spAutoFit/>
          </a:bodyPr>
          <a:lstStyle/>
          <a:p>
            <a:pPr marL="119380" indent="-119380">
              <a:spcBef>
                <a:spcPts val="430"/>
              </a:spcBef>
              <a:defRPr/>
            </a:pP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销售预测有工具：</a:t>
            </a:r>
            <a:r>
              <a:rPr lang="zh-CN" altLang="en-US" sz="1000" kern="0" dirty="0">
                <a:latin typeface="微软雅黑" panose="020B0503020204020204" charset="-122"/>
                <a:ea typeface="微软雅黑" panose="020B0503020204020204" charset="-122"/>
                <a:cs typeface="Arial" panose="020B0604020202020204" pitchFamily="34" charset="0"/>
              </a:rPr>
              <a:t>需求预测方法和支撑工具</a:t>
            </a:r>
            <a:endParaRPr lang="en-US" altLang="zh-CN" sz="1000" kern="0" dirty="0">
              <a:latin typeface="微软雅黑" panose="020B0503020204020204" charset="-122"/>
              <a:ea typeface="微软雅黑" panose="020B0503020204020204" charset="-122"/>
              <a:cs typeface="Arial" panose="020B0604020202020204" pitchFamily="34" charset="0"/>
            </a:endParaRPr>
          </a:p>
          <a:p>
            <a:pPr marL="119380" indent="-119380">
              <a:spcBef>
                <a:spcPts val="430"/>
              </a:spcBef>
              <a:defRPr/>
            </a:pP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需求提报有依据：</a:t>
            </a:r>
            <a:r>
              <a:rPr lang="zh-CN" altLang="en-US" sz="1000" kern="0" dirty="0">
                <a:latin typeface="微软雅黑" panose="020B0503020204020204" charset="-122"/>
                <a:ea typeface="微软雅黑" panose="020B0503020204020204" charset="-122"/>
                <a:cs typeface="Arial" panose="020B0604020202020204" pitchFamily="34" charset="0"/>
              </a:rPr>
              <a:t>需求提报节奏和颗粒度；联合预测机制；先导措施建议</a:t>
            </a:r>
            <a:endParaRPr lang="en-US" altLang="zh-CN" sz="1000" kern="0" dirty="0">
              <a:latin typeface="微软雅黑" panose="020B0503020204020204" charset="-122"/>
              <a:ea typeface="微软雅黑" panose="020B0503020204020204" charset="-122"/>
              <a:cs typeface="Arial" panose="020B0604020202020204" pitchFamily="34" charset="0"/>
            </a:endParaRPr>
          </a:p>
          <a:p>
            <a:pPr marL="119380" indent="-119380">
              <a:spcBef>
                <a:spcPts val="430"/>
              </a:spcBef>
              <a:defRPr/>
            </a:pP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库存管理有策略：</a:t>
            </a:r>
            <a:r>
              <a:rPr lang="zh-CN" altLang="en-US" sz="1000" kern="0" dirty="0">
                <a:latin typeface="微软雅黑" panose="020B0503020204020204" charset="-122"/>
                <a:ea typeface="微软雅黑" panose="020B0503020204020204" charset="-122"/>
                <a:cs typeface="Arial" panose="020B0604020202020204" pitchFamily="34" charset="0"/>
              </a:rPr>
              <a:t>库存管理策略及当量标准</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B. </a:t>
            </a:r>
            <a:r>
              <a:rPr lang="zh-CN" altLang="en-US" dirty="0"/>
              <a:t>订单管理解决方案：明确订单全生命周期处理和共享机制，实现订单端到端管理</a:t>
            </a:r>
          </a:p>
        </p:txBody>
      </p:sp>
      <p:sp>
        <p:nvSpPr>
          <p:cNvPr id="88" name="矩形 87"/>
          <p:cNvSpPr/>
          <p:nvPr/>
        </p:nvSpPr>
        <p:spPr bwMode="auto">
          <a:xfrm>
            <a:off x="311120" y="1211247"/>
            <a:ext cx="1512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订单规则不明确</a:t>
            </a:r>
          </a:p>
        </p:txBody>
      </p:sp>
      <p:sp>
        <p:nvSpPr>
          <p:cNvPr id="123" name="右箭头 122"/>
          <p:cNvSpPr/>
          <p:nvPr/>
        </p:nvSpPr>
        <p:spPr bwMode="auto">
          <a:xfrm>
            <a:off x="1915592" y="1157498"/>
            <a:ext cx="4668814" cy="457189"/>
          </a:xfrm>
          <a:prstGeom prst="rightArrow">
            <a:avLst>
              <a:gd name="adj1" fmla="val 77779"/>
              <a:gd name="adj2" fmla="val 50000"/>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chemeClr val="bg1">
                    <a:lumMod val="50000"/>
                  </a:schemeClr>
                </a:solidFill>
                <a:latin typeface="微软雅黑" panose="020B0503020204020204" charset="-122"/>
                <a:ea typeface="微软雅黑" panose="020B0503020204020204" charset="-122"/>
              </a:rPr>
              <a:t>订单全生命周期管理框架</a:t>
            </a:r>
          </a:p>
        </p:txBody>
      </p:sp>
      <p:sp>
        <p:nvSpPr>
          <p:cNvPr id="124" name="矩形 123"/>
          <p:cNvSpPr/>
          <p:nvPr/>
        </p:nvSpPr>
        <p:spPr bwMode="auto">
          <a:xfrm>
            <a:off x="6698280" y="1211247"/>
            <a:ext cx="2160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端到端的订单管理</a:t>
            </a:r>
          </a:p>
        </p:txBody>
      </p:sp>
      <p:sp>
        <p:nvSpPr>
          <p:cNvPr id="125" name="矩形 124"/>
          <p:cNvSpPr/>
          <p:nvPr/>
        </p:nvSpPr>
        <p:spPr bwMode="auto">
          <a:xfrm>
            <a:off x="311120" y="1643050"/>
            <a:ext cx="1512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国内：靠库存满足为主，对于无库存满足的样机申请，尚</a:t>
            </a: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未与生产订单关联</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（量较少）</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88900" indent="-88900">
              <a:lnSpc>
                <a:spcPct val="110000"/>
              </a:lnSpc>
              <a:spcBef>
                <a:spcPts val="3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国际：按订单生产为主，但是销售合同</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销售订单</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生产订单</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发货单割裂，</a:t>
            </a: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未实现信息的贯通</a:t>
            </a:r>
          </a:p>
          <a:p>
            <a:pPr marL="88900" indent="-88900">
              <a:lnSpc>
                <a:spcPct val="110000"/>
              </a:lnSpc>
              <a:spcBef>
                <a:spcPts val="3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订单的处理和沟通依靠零散的系统和工具（表格、电话等），</a:t>
            </a: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无法通过系统便利地查看订单的全生命周期状态</a:t>
            </a:r>
            <a:endParaRPr lang="en-US" altLang="zh-CN" sz="1200" b="1" kern="0" dirty="0">
              <a:solidFill>
                <a:srgbClr val="3366FF"/>
              </a:solidFill>
              <a:latin typeface="微软雅黑" panose="020B0503020204020204" charset="-122"/>
              <a:ea typeface="微软雅黑" panose="020B0503020204020204" charset="-122"/>
              <a:cs typeface="Arial" panose="020B0604020202020204" pitchFamily="34" charset="0"/>
            </a:endParaRPr>
          </a:p>
          <a:p>
            <a:pPr marL="88900" indent="-88900">
              <a:lnSpc>
                <a:spcPct val="110000"/>
              </a:lnSpc>
              <a:spcBef>
                <a:spcPts val="300"/>
              </a:spcBef>
              <a:buFont typeface="微软雅黑" panose="020B0503020204020204" charset="-122"/>
              <a:buChar char="▪"/>
            </a:pP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订单处理缺乏规则</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，经常存在人为干预的情况</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6" name="矩形 125"/>
          <p:cNvSpPr/>
          <p:nvPr/>
        </p:nvSpPr>
        <p:spPr bwMode="auto">
          <a:xfrm>
            <a:off x="1915536" y="1643050"/>
            <a:ext cx="4669428" cy="4143404"/>
          </a:xfrm>
          <a:prstGeom prst="rect">
            <a:avLst/>
          </a:prstGeom>
          <a:no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127" name="矩形 126"/>
          <p:cNvSpPr/>
          <p:nvPr/>
        </p:nvSpPr>
        <p:spPr bwMode="auto">
          <a:xfrm>
            <a:off x="6698280" y="1643050"/>
            <a:ext cx="2160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优先级</a:t>
            </a:r>
            <a:r>
              <a:rPr lang="zh-CN" altLang="en-US" sz="1200" dirty="0">
                <a:latin typeface="微软雅黑" panose="020B0503020204020204" charset="-122"/>
                <a:ea typeface="微软雅黑" panose="020B0503020204020204" charset="-122"/>
              </a:rPr>
              <a:t>：订单响应和执行有明确的规则，例如国际订单优于国内订单、客户订单优于样机订单、大客户订单优于普通订单等</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交期准</a:t>
            </a:r>
            <a:r>
              <a:rPr lang="zh-CN" altLang="en-US" sz="1200" dirty="0">
                <a:latin typeface="微软雅黑" panose="020B0503020204020204" charset="-122"/>
                <a:ea typeface="微软雅黑" panose="020B0503020204020204" charset="-122"/>
              </a:rPr>
              <a:t>：通过系统支持在订单处理过程先后获得参考交期、预计交期、承诺交期，同时在订单执行和交付过程交期的变化能及时共享</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可视化</a:t>
            </a:r>
            <a:r>
              <a:rPr lang="zh-CN" altLang="en-US" sz="1200" dirty="0">
                <a:latin typeface="微软雅黑" panose="020B0503020204020204" charset="-122"/>
                <a:ea typeface="微软雅黑" panose="020B0503020204020204" charset="-122"/>
              </a:rPr>
              <a:t>：前端营销和后端生产等相关部门可以通过系统查看到订单状态（根据权限）</a:t>
            </a:r>
            <a:endParaRPr lang="en-US" altLang="zh-CN" sz="1200" dirty="0">
              <a:latin typeface="微软雅黑" panose="020B0503020204020204" charset="-122"/>
              <a:ea typeface="微软雅黑" panose="020B0503020204020204" charset="-122"/>
            </a:endParaRPr>
          </a:p>
        </p:txBody>
      </p:sp>
      <p:sp>
        <p:nvSpPr>
          <p:cNvPr id="175" name="矩形 174"/>
          <p:cNvSpPr/>
          <p:nvPr/>
        </p:nvSpPr>
        <p:spPr bwMode="auto">
          <a:xfrm>
            <a:off x="311120" y="5888834"/>
            <a:ext cx="8547160" cy="612000"/>
          </a:xfrm>
          <a:prstGeom prst="rect">
            <a:avLst/>
          </a:prstGeom>
          <a:noFill/>
          <a:ln w="19050" cap="flat" cmpd="sng" algn="ctr">
            <a:solidFill>
              <a:schemeClr val="accent1">
                <a:lumMod val="60000"/>
                <a:lumOff val="40000"/>
              </a:schemeClr>
            </a:solidFill>
            <a:prstDash val="solid"/>
            <a:round/>
            <a:headEnd type="none" w="med" len="med"/>
            <a:tailEnd type="none"/>
          </a:ln>
          <a:effectLst/>
        </p:spPr>
        <p:txBody>
          <a:bodyPr lIns="900000" tIns="46800" rtlCol="0" anchor="ctr"/>
          <a:lstStyle/>
          <a:p>
            <a:pPr marL="180975" indent="-180975">
              <a:lnSpc>
                <a:spcPct val="110000"/>
              </a:lnSpc>
              <a:spcBef>
                <a:spcPts val="600"/>
              </a:spcBef>
            </a:pPr>
            <a:r>
              <a:rPr lang="zh-CN" altLang="en-US" sz="1400" dirty="0">
                <a:latin typeface="微软雅黑" panose="020B0503020204020204" charset="-122"/>
                <a:ea typeface="微软雅黑" panose="020B0503020204020204" charset="-122"/>
              </a:rPr>
              <a:t>在前端提高</a:t>
            </a:r>
            <a:r>
              <a:rPr lang="zh-CN" altLang="en-US" b="1" dirty="0">
                <a:latin typeface="微软雅黑" panose="020B0503020204020204" charset="-122"/>
                <a:ea typeface="微软雅黑" panose="020B0503020204020204" charset="-122"/>
              </a:rPr>
              <a:t>交期承诺能力</a:t>
            </a:r>
            <a:r>
              <a:rPr lang="zh-CN" altLang="en-US" sz="1400" dirty="0">
                <a:latin typeface="微软雅黑" panose="020B0503020204020204" charset="-122"/>
                <a:ea typeface="微软雅黑" panose="020B0503020204020204" charset="-122"/>
              </a:rPr>
              <a:t>，在后端提高生产稳定性</a:t>
            </a:r>
            <a:endParaRPr lang="en-US" altLang="zh-CN" dirty="0">
              <a:latin typeface="微软雅黑" panose="020B0503020204020204" charset="-122"/>
              <a:ea typeface="微软雅黑" panose="020B0503020204020204" charset="-122"/>
            </a:endParaRPr>
          </a:p>
        </p:txBody>
      </p:sp>
      <p:sp>
        <p:nvSpPr>
          <p:cNvPr id="177" name="矩形 176"/>
          <p:cNvSpPr/>
          <p:nvPr/>
        </p:nvSpPr>
        <p:spPr bwMode="auto">
          <a:xfrm>
            <a:off x="311120" y="5888834"/>
            <a:ext cx="725523" cy="612000"/>
          </a:xfrm>
          <a:prstGeom prst="rect">
            <a:avLst/>
          </a:prstGeom>
          <a:solidFill>
            <a:srgbClr val="CCCCFF"/>
          </a:solidFill>
          <a:ln w="19050" cap="flat" cmpd="sng" algn="ctr">
            <a:solidFill>
              <a:schemeClr val="accent1">
                <a:lumMod val="60000"/>
                <a:lumOff val="40000"/>
              </a:schemeClr>
            </a:solidFill>
            <a:prstDash val="solid"/>
            <a:round/>
            <a:headEnd type="none" w="med" len="med"/>
            <a:tailEnd type="none"/>
          </a:ln>
          <a:effectLst/>
        </p:spPr>
        <p:txBody>
          <a:bodyPr rtlCol="0" anchor="ctr"/>
          <a:lstStyle/>
          <a:p>
            <a:pPr algn="ctr">
              <a:lnSpc>
                <a:spcPct val="110000"/>
              </a:lnSpc>
              <a:spcBef>
                <a:spcPts val="600"/>
              </a:spcBef>
            </a:pPr>
            <a:r>
              <a:rPr lang="zh-CN" altLang="en-US" sz="1400" b="1" dirty="0">
                <a:latin typeface="微软雅黑" panose="020B0503020204020204" charset="-122"/>
                <a:ea typeface="微软雅黑" panose="020B0503020204020204" charset="-122"/>
              </a:rPr>
              <a:t>主要</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收益</a:t>
            </a:r>
            <a:endParaRPr lang="en-US" altLang="zh-CN" sz="1400" b="1" dirty="0">
              <a:latin typeface="微软雅黑" panose="020B0503020204020204" charset="-122"/>
              <a:ea typeface="微软雅黑" panose="020B0503020204020204" charset="-122"/>
            </a:endParaRPr>
          </a:p>
        </p:txBody>
      </p:sp>
      <p:sp>
        <p:nvSpPr>
          <p:cNvPr id="43" name="TextBox 42"/>
          <p:cNvSpPr txBox="1"/>
          <p:nvPr/>
        </p:nvSpPr>
        <p:spPr bwMode="auto">
          <a:xfrm>
            <a:off x="1937069" y="5000636"/>
            <a:ext cx="4608000" cy="748923"/>
          </a:xfrm>
          <a:prstGeom prst="rect">
            <a:avLst/>
          </a:prstGeom>
          <a:noFill/>
          <a:ln>
            <a:noFill/>
          </a:ln>
        </p:spPr>
        <p:txBody>
          <a:bodyPr wrap="square" rtlCol="0">
            <a:spAutoFit/>
          </a:bodyPr>
          <a:lstStyle/>
          <a:p>
            <a:pPr marL="119380" lvl="1" indent="-119380">
              <a:spcBef>
                <a:spcPts val="430"/>
              </a:spcBef>
              <a:defRPr/>
            </a:pP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严肃的订单执行：</a:t>
            </a:r>
            <a:r>
              <a:rPr lang="zh-CN" altLang="en-US" sz="1000" kern="0" dirty="0">
                <a:latin typeface="微软雅黑" panose="020B0503020204020204" charset="-122"/>
                <a:ea typeface="微软雅黑" panose="020B0503020204020204" charset="-122"/>
                <a:cs typeface="Arial" panose="020B0604020202020204" pitchFamily="34" charset="0"/>
              </a:rPr>
              <a:t>订单提报周期；订单修改策略；订单分类和优先级</a:t>
            </a:r>
            <a:endParaRPr lang="en-US" altLang="zh-CN" sz="1000" kern="0" dirty="0">
              <a:latin typeface="微软雅黑" panose="020B0503020204020204" charset="-122"/>
              <a:ea typeface="微软雅黑" panose="020B0503020204020204" charset="-122"/>
              <a:cs typeface="Arial" panose="020B0604020202020204" pitchFamily="34" charset="0"/>
            </a:endParaRPr>
          </a:p>
          <a:p>
            <a:pPr marL="119380" lvl="1" indent="-119380">
              <a:spcBef>
                <a:spcPts val="430"/>
              </a:spcBef>
              <a:defRPr/>
            </a:pP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准确的订单承诺：</a:t>
            </a:r>
            <a:r>
              <a:rPr lang="zh-CN" altLang="en-US" sz="1000" kern="0" dirty="0">
                <a:latin typeface="微软雅黑" panose="020B0503020204020204" charset="-122"/>
                <a:ea typeface="微软雅黑" panose="020B0503020204020204" charset="-122"/>
                <a:cs typeface="Arial" panose="020B0604020202020204" pitchFamily="34" charset="0"/>
              </a:rPr>
              <a:t>交期规则的确定；交期沟通和明确；交期更新共享</a:t>
            </a:r>
            <a:endParaRPr lang="en-US" altLang="zh-CN" sz="1000" kern="0" dirty="0">
              <a:latin typeface="微软雅黑" panose="020B0503020204020204" charset="-122"/>
              <a:ea typeface="微软雅黑" panose="020B0503020204020204" charset="-122"/>
              <a:cs typeface="Arial" panose="020B0604020202020204" pitchFamily="34" charset="0"/>
            </a:endParaRPr>
          </a:p>
          <a:p>
            <a:pPr marL="119380" indent="-119380">
              <a:spcBef>
                <a:spcPts val="430"/>
              </a:spcBef>
              <a:defRPr/>
            </a:pPr>
            <a:r>
              <a:rPr lang="zh-CN" altLang="en-US" sz="1200" b="1" kern="0" dirty="0">
                <a:solidFill>
                  <a:srgbClr val="3366FF"/>
                </a:solidFill>
                <a:latin typeface="微软雅黑" panose="020B0503020204020204" charset="-122"/>
                <a:ea typeface="微软雅黑" panose="020B0503020204020204" charset="-122"/>
                <a:cs typeface="Arial" panose="020B0604020202020204" pitchFamily="34" charset="0"/>
              </a:rPr>
              <a:t>透明的订单状态：</a:t>
            </a:r>
            <a:r>
              <a:rPr lang="zh-CN" altLang="en-US" sz="1000" kern="0" dirty="0">
                <a:latin typeface="微软雅黑" panose="020B0503020204020204" charset="-122"/>
                <a:ea typeface="微软雅黑" panose="020B0503020204020204" charset="-122"/>
                <a:cs typeface="Arial" panose="020B0604020202020204" pitchFamily="34" charset="0"/>
              </a:rPr>
              <a:t>订单节点和共享机制</a:t>
            </a:r>
          </a:p>
        </p:txBody>
      </p:sp>
      <p:sp>
        <p:nvSpPr>
          <p:cNvPr id="77" name="Rectangle 17"/>
          <p:cNvSpPr>
            <a:spLocks noChangeArrowheads="1"/>
          </p:cNvSpPr>
          <p:nvPr/>
        </p:nvSpPr>
        <p:spPr bwMode="auto">
          <a:xfrm>
            <a:off x="2013372" y="2249520"/>
            <a:ext cx="749494" cy="2232000"/>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182880" bIns="91440"/>
          <a:lstStyle/>
          <a:p>
            <a:pPr marL="119380" indent="-119380" algn="ctr">
              <a:spcBef>
                <a:spcPct val="20000"/>
              </a:spcBef>
              <a:defRPr/>
            </a:pPr>
            <a:r>
              <a:rPr lang="zh-CN" altLang="en-US" sz="1000"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订单提报</a:t>
            </a:r>
            <a:endParaRPr kumimoji="0" lang="en-US" altLang="zh-CN" sz="10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endParaRPr>
          </a:p>
          <a:p>
            <a:pPr marL="119380" marR="0" lvl="0" indent="-119380" algn="l" defTabSz="914400" eaLnBrk="1" fontAlgn="auto" latinLnBrk="0" hangingPunct="1">
              <a:lnSpc>
                <a:spcPct val="100000"/>
              </a:lnSpc>
              <a:spcBef>
                <a:spcPct val="20000"/>
              </a:spcBef>
              <a:spcAft>
                <a:spcPts val="0"/>
              </a:spcAft>
              <a:buClrTx/>
              <a:buSzTx/>
              <a:buFontTx/>
              <a:buChar char="•"/>
              <a:defRPr/>
            </a:pPr>
            <a:r>
              <a:rPr kumimoji="0" lang="zh-CN" altLang="en-US" sz="10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rPr>
              <a:t>代理商按一定的规则提报订单</a:t>
            </a:r>
            <a:endParaRPr kumimoji="0" lang="en-US" altLang="zh-CN" sz="10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endParaRPr>
          </a:p>
          <a:p>
            <a:pPr marL="119380" marR="0" lvl="0" indent="-119380" algn="l" defTabSz="914400" eaLnBrk="1" fontAlgn="auto" latinLnBrk="0" hangingPunct="1">
              <a:lnSpc>
                <a:spcPct val="100000"/>
              </a:lnSpc>
              <a:spcBef>
                <a:spcPct val="20000"/>
              </a:spcBef>
              <a:spcAft>
                <a:spcPts val="0"/>
              </a:spcAft>
              <a:buClrTx/>
              <a:buSzTx/>
              <a:buFontTx/>
              <a:buChar char="•"/>
              <a:defRPr/>
            </a:pPr>
            <a:r>
              <a:rPr kumimoji="0" lang="zh-CN" altLang="en-US" sz="10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rPr>
              <a:t>营销公司实时管理订单的提报，催促提报</a:t>
            </a:r>
          </a:p>
        </p:txBody>
      </p:sp>
      <p:sp>
        <p:nvSpPr>
          <p:cNvPr id="78" name="Rectangle 18"/>
          <p:cNvSpPr>
            <a:spLocks noChangeArrowheads="1"/>
          </p:cNvSpPr>
          <p:nvPr/>
        </p:nvSpPr>
        <p:spPr bwMode="auto">
          <a:xfrm>
            <a:off x="2944409" y="2249520"/>
            <a:ext cx="749494" cy="2232000"/>
          </a:xfrm>
          <a:prstGeom prst="rect">
            <a:avLst/>
          </a:prstGeom>
          <a:solidFill>
            <a:schemeClr val="accent1">
              <a:lumMod val="40000"/>
              <a:lumOff val="60000"/>
            </a:schemeClr>
          </a:solidFill>
          <a:ln w="6350" algn="ctr">
            <a:solidFill>
              <a:schemeClr val="tx1"/>
            </a:solidFill>
            <a:miter lim="800000"/>
          </a:ln>
          <a:effectLst>
            <a:outerShdw blurRad="50800" dist="38100" dir="2700000" algn="tl" rotWithShape="0">
              <a:prstClr val="black">
                <a:alpha val="40000"/>
              </a:prstClr>
            </a:outerShdw>
          </a:effectLst>
        </p:spPr>
        <p:txBody>
          <a:bodyPr tIns="182880" bIns="91440"/>
          <a:lstStyle/>
          <a:p>
            <a:pPr marR="0" lvl="0" algn="ctr" defTabSz="914400" eaLnBrk="1" fontAlgn="auto" latinLnBrk="0" hangingPunct="1">
              <a:lnSpc>
                <a:spcPct val="100000"/>
              </a:lnSpc>
              <a:spcBef>
                <a:spcPct val="20000"/>
              </a:spcBef>
              <a:spcAft>
                <a:spcPts val="0"/>
              </a:spcAft>
              <a:buClrTx/>
              <a:buSzTx/>
              <a:defRPr/>
            </a:pPr>
            <a:r>
              <a:rPr lang="zh-CN" altLang="en-US" sz="1000" b="1" kern="0" dirty="0">
                <a:solidFill>
                  <a:sysClr val="windowText" lastClr="000000"/>
                </a:solidFill>
                <a:latin typeface="微软雅黑" panose="020B0503020204020204" charset="-122"/>
                <a:ea typeface="微软雅黑" panose="020B0503020204020204" charset="-122"/>
                <a:cs typeface="Arial" panose="020B0604020202020204" pitchFamily="34" charset="0"/>
              </a:rPr>
              <a:t> 订单评审</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indent="-119380">
              <a:spcBef>
                <a:spcPct val="20000"/>
              </a:spcBef>
              <a:buFontTx/>
              <a:buChar char="•"/>
              <a:defRPr/>
            </a:pPr>
            <a:r>
              <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根据规则评审订单（订单分类和优先级）</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indent="-119380">
              <a:spcBef>
                <a:spcPct val="20000"/>
              </a:spcBef>
              <a:buFontTx/>
              <a:buChar char="•"/>
              <a:defRPr/>
            </a:pPr>
            <a:r>
              <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根据库存、产能和配件供应等答复交期</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79" name="Rectangle 19"/>
          <p:cNvSpPr>
            <a:spLocks noChangeArrowheads="1"/>
          </p:cNvSpPr>
          <p:nvPr/>
        </p:nvSpPr>
        <p:spPr bwMode="auto">
          <a:xfrm>
            <a:off x="3875446" y="2249520"/>
            <a:ext cx="749494" cy="2232000"/>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182880" bIns="91440"/>
          <a:lstStyle/>
          <a:p>
            <a:pPr algn="ctr">
              <a:spcBef>
                <a:spcPct val="20000"/>
              </a:spcBef>
              <a:defRPr/>
            </a:pPr>
            <a:r>
              <a:rPr lang="zh-CN" altLang="en-US" sz="1000"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订单锁定</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根据周度</a:t>
            </a:r>
            <a:r>
              <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S&amp;OP</a:t>
            </a:r>
            <a:r>
              <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会议评审及锁定订单生产</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订单的变更规则</a:t>
            </a:r>
          </a:p>
          <a:p>
            <a:pPr marL="119380" marR="0" lvl="0" indent="-119380" algn="l" defTabSz="914400" eaLnBrk="1" fontAlgn="auto" latinLnBrk="0" hangingPunct="1">
              <a:lnSpc>
                <a:spcPct val="100000"/>
              </a:lnSpc>
              <a:spcBef>
                <a:spcPts val="0"/>
              </a:spcBef>
              <a:spcAft>
                <a:spcPts val="0"/>
              </a:spcAft>
              <a:buClrTx/>
              <a:buSzTx/>
              <a:buFontTx/>
              <a:buChar char="•"/>
              <a:defRPr/>
            </a:pPr>
            <a:endParaRPr kumimoji="0" lang="zh-CN" altLang="en-US" sz="10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endParaRPr>
          </a:p>
        </p:txBody>
      </p:sp>
      <p:sp>
        <p:nvSpPr>
          <p:cNvPr id="80" name="Rectangle 22"/>
          <p:cNvSpPr>
            <a:spLocks noChangeArrowheads="1"/>
          </p:cNvSpPr>
          <p:nvPr/>
        </p:nvSpPr>
        <p:spPr bwMode="auto">
          <a:xfrm>
            <a:off x="4806484" y="2249520"/>
            <a:ext cx="749494" cy="2232000"/>
          </a:xfrm>
          <a:prstGeom prst="rect">
            <a:avLst/>
          </a:prstGeom>
          <a:solidFill>
            <a:schemeClr val="bg1">
              <a:lumMod val="95000"/>
            </a:schemeClr>
          </a:solidFill>
          <a:ln w="6350">
            <a:solidFill>
              <a:schemeClr val="tx1"/>
            </a:solidFill>
            <a:miter lim="800000"/>
          </a:ln>
          <a:effectLst>
            <a:outerShdw blurRad="50800" dist="38100" dir="2700000" algn="tl" rotWithShape="0">
              <a:prstClr val="black">
                <a:alpha val="40000"/>
              </a:prstClr>
            </a:outerShdw>
          </a:effectLst>
        </p:spPr>
        <p:txBody>
          <a:bodyPr tIns="182880" bIns="91440"/>
          <a:lstStyle/>
          <a:p>
            <a:pPr marR="0" lvl="0" algn="ctr" fontAlgn="auto">
              <a:lnSpc>
                <a:spcPct val="100000"/>
              </a:lnSpc>
              <a:spcBef>
                <a:spcPct val="20000"/>
              </a:spcBef>
              <a:spcAft>
                <a:spcPts val="0"/>
              </a:spcAft>
              <a:buClrTx/>
              <a:buSzTx/>
              <a:defRPr/>
            </a:pPr>
            <a:r>
              <a:rPr lang="zh-CN" altLang="en-US" sz="1000"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订单执行</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生产部门按照确定生产计划执行生产</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采购部门按照采购计划执行采购</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endPar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81" name="Rectangle 17"/>
          <p:cNvSpPr>
            <a:spLocks noChangeArrowheads="1"/>
          </p:cNvSpPr>
          <p:nvPr/>
        </p:nvSpPr>
        <p:spPr bwMode="auto">
          <a:xfrm>
            <a:off x="2013372" y="4572008"/>
            <a:ext cx="4477748" cy="360549"/>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72000" bIns="72000" anchor="ctr"/>
          <a:lstStyle/>
          <a:p>
            <a:pPr marL="119380" lvl="0" indent="-119380" algn="ctr">
              <a:spcBef>
                <a:spcPts val="430"/>
              </a:spcBef>
              <a:defRPr/>
            </a:pPr>
            <a:r>
              <a:rPr lang="zh-CN" altLang="en-US" sz="1000"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订单监控及可视</a:t>
            </a:r>
          </a:p>
        </p:txBody>
      </p:sp>
      <p:sp>
        <p:nvSpPr>
          <p:cNvPr id="82" name="Right Arrow 31"/>
          <p:cNvSpPr/>
          <p:nvPr/>
        </p:nvSpPr>
        <p:spPr bwMode="auto">
          <a:xfrm>
            <a:off x="2776766" y="3236753"/>
            <a:ext cx="153742" cy="257534"/>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sz="1000" dirty="0">
              <a:solidFill>
                <a:srgbClr val="000000"/>
              </a:solidFill>
            </a:endParaRPr>
          </a:p>
        </p:txBody>
      </p:sp>
      <p:sp>
        <p:nvSpPr>
          <p:cNvPr id="83" name="Right Arrow 32"/>
          <p:cNvSpPr/>
          <p:nvPr/>
        </p:nvSpPr>
        <p:spPr bwMode="auto">
          <a:xfrm>
            <a:off x="3707804" y="3236753"/>
            <a:ext cx="153742" cy="257534"/>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sz="1000" dirty="0">
              <a:solidFill>
                <a:srgbClr val="000000"/>
              </a:solidFill>
            </a:endParaRPr>
          </a:p>
        </p:txBody>
      </p:sp>
      <p:sp>
        <p:nvSpPr>
          <p:cNvPr id="84" name="Right Arrow 33"/>
          <p:cNvSpPr/>
          <p:nvPr/>
        </p:nvSpPr>
        <p:spPr bwMode="auto">
          <a:xfrm>
            <a:off x="4638841" y="3236753"/>
            <a:ext cx="153742" cy="257534"/>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sz="1000" dirty="0">
              <a:solidFill>
                <a:srgbClr val="000000"/>
              </a:solidFill>
            </a:endParaRPr>
          </a:p>
        </p:txBody>
      </p:sp>
      <p:sp>
        <p:nvSpPr>
          <p:cNvPr id="85" name="Rectangle 22"/>
          <p:cNvSpPr>
            <a:spLocks noChangeArrowheads="1"/>
          </p:cNvSpPr>
          <p:nvPr/>
        </p:nvSpPr>
        <p:spPr bwMode="auto">
          <a:xfrm>
            <a:off x="5737520" y="2249520"/>
            <a:ext cx="749494" cy="2232000"/>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182880" bIns="91440"/>
          <a:lstStyle/>
          <a:p>
            <a:pPr marR="0" lvl="0" algn="ctr" fontAlgn="auto">
              <a:lnSpc>
                <a:spcPct val="100000"/>
              </a:lnSpc>
              <a:spcBef>
                <a:spcPct val="20000"/>
              </a:spcBef>
              <a:spcAft>
                <a:spcPts val="0"/>
              </a:spcAft>
              <a:buClrTx/>
              <a:buSzTx/>
              <a:defRPr/>
            </a:pPr>
            <a:r>
              <a:rPr lang="zh-CN" altLang="en-US" sz="1000"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订单交付</a:t>
            </a:r>
            <a:endParaRPr lang="en-US" altLang="zh-CN" sz="10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000" kern="0" dirty="0">
                <a:solidFill>
                  <a:sysClr val="windowText" lastClr="000000"/>
                </a:solidFill>
                <a:latin typeface="微软雅黑" panose="020B0503020204020204" charset="-122"/>
                <a:ea typeface="微软雅黑" panose="020B0503020204020204" charset="-122"/>
                <a:cs typeface="Arial" panose="020B0604020202020204" pitchFamily="34" charset="0"/>
              </a:rPr>
              <a:t>生产下线入库后将主机交付给代理商 </a:t>
            </a:r>
          </a:p>
        </p:txBody>
      </p:sp>
      <p:sp>
        <p:nvSpPr>
          <p:cNvPr id="87" name="Right Arrow 33"/>
          <p:cNvSpPr/>
          <p:nvPr/>
        </p:nvSpPr>
        <p:spPr bwMode="auto">
          <a:xfrm>
            <a:off x="5569878" y="3236753"/>
            <a:ext cx="153742" cy="257534"/>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sz="1000" dirty="0">
              <a:solidFill>
                <a:srgbClr val="000000"/>
              </a:solidFill>
            </a:endParaRPr>
          </a:p>
        </p:txBody>
      </p:sp>
      <p:sp>
        <p:nvSpPr>
          <p:cNvPr id="89" name="Rectangle 17"/>
          <p:cNvSpPr>
            <a:spLocks noChangeArrowheads="1"/>
          </p:cNvSpPr>
          <p:nvPr/>
        </p:nvSpPr>
        <p:spPr bwMode="auto">
          <a:xfrm>
            <a:off x="2022484" y="1803681"/>
            <a:ext cx="4477748" cy="360549"/>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72000" bIns="72000" anchor="ctr"/>
          <a:lstStyle/>
          <a:p>
            <a:pPr marL="119380" indent="-119380" algn="ctr">
              <a:spcBef>
                <a:spcPts val="430"/>
              </a:spcBef>
              <a:defRPr/>
            </a:pPr>
            <a:r>
              <a:rPr lang="zh-CN" altLang="en-US" sz="1000"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订单管理策略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C. </a:t>
            </a:r>
            <a:r>
              <a:rPr lang="zh-CN" altLang="en-US" dirty="0"/>
              <a:t>产销平衡与生产计划解决方案：建立市场驱动、供需平衡的产销平衡机制</a:t>
            </a:r>
          </a:p>
        </p:txBody>
      </p:sp>
      <p:sp>
        <p:nvSpPr>
          <p:cNvPr id="88" name="矩形 87"/>
          <p:cNvSpPr/>
          <p:nvPr/>
        </p:nvSpPr>
        <p:spPr bwMode="auto">
          <a:xfrm>
            <a:off x="311120" y="1211247"/>
            <a:ext cx="1512000" cy="357190"/>
          </a:xfrm>
          <a:prstGeom prst="rect">
            <a:avLst/>
          </a:prstGeom>
          <a:solidFill>
            <a:srgbClr val="7889FB"/>
          </a:solidFill>
          <a:ln w="9525" cap="flat" cmpd="sng" algn="ctr">
            <a:noFill/>
            <a:prstDash val="solid"/>
            <a:round/>
            <a:headEnd type="none" w="med" len="med"/>
            <a:tailEnd type="none"/>
          </a:ln>
          <a:effectLst/>
        </p:spPr>
        <p:txBody>
          <a:bodyPr lIns="36000" rIns="36000" rtlCol="0" anchor="ctr"/>
          <a:lstStyle/>
          <a:p>
            <a:pPr algn="ctr"/>
            <a:r>
              <a:rPr lang="en-US" altLang="zh-CN" sz="1400" b="1" dirty="0">
                <a:solidFill>
                  <a:schemeClr val="bg1"/>
                </a:solidFill>
                <a:latin typeface="微软雅黑" panose="020B0503020204020204" charset="-122"/>
                <a:ea typeface="微软雅黑" panose="020B0503020204020204" charset="-122"/>
              </a:rPr>
              <a:t>S&amp;OP</a:t>
            </a:r>
            <a:r>
              <a:rPr lang="zh-CN" altLang="en-US" sz="1400" b="1" dirty="0">
                <a:solidFill>
                  <a:schemeClr val="bg1"/>
                </a:solidFill>
                <a:latin typeface="微软雅黑" panose="020B0503020204020204" charset="-122"/>
                <a:ea typeface="微软雅黑" panose="020B0503020204020204" charset="-122"/>
              </a:rPr>
              <a:t>机制待完善</a:t>
            </a:r>
          </a:p>
        </p:txBody>
      </p:sp>
      <p:sp>
        <p:nvSpPr>
          <p:cNvPr id="123" name="右箭头 122"/>
          <p:cNvSpPr/>
          <p:nvPr/>
        </p:nvSpPr>
        <p:spPr bwMode="auto">
          <a:xfrm>
            <a:off x="1915592" y="1157498"/>
            <a:ext cx="4668814" cy="457189"/>
          </a:xfrm>
          <a:prstGeom prst="rightArrow">
            <a:avLst>
              <a:gd name="adj1" fmla="val 77779"/>
              <a:gd name="adj2" fmla="val 50000"/>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chemeClr val="bg1">
                    <a:lumMod val="50000"/>
                  </a:schemeClr>
                </a:solidFill>
                <a:latin typeface="微软雅黑" panose="020B0503020204020204" charset="-122"/>
                <a:ea typeface="微软雅黑" panose="020B0503020204020204" charset="-122"/>
              </a:rPr>
              <a:t>顶层设计</a:t>
            </a:r>
          </a:p>
        </p:txBody>
      </p:sp>
      <p:sp>
        <p:nvSpPr>
          <p:cNvPr id="124" name="矩形 123"/>
          <p:cNvSpPr/>
          <p:nvPr/>
        </p:nvSpPr>
        <p:spPr bwMode="auto">
          <a:xfrm>
            <a:off x="6698280" y="1211247"/>
            <a:ext cx="2160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市场驱动、供需平衡</a:t>
            </a:r>
          </a:p>
        </p:txBody>
      </p:sp>
      <p:sp>
        <p:nvSpPr>
          <p:cNvPr id="125" name="矩形 124"/>
          <p:cNvSpPr/>
          <p:nvPr/>
        </p:nvSpPr>
        <p:spPr bwMode="auto">
          <a:xfrm>
            <a:off x="311120" y="1643050"/>
            <a:ext cx="1512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目前月度产销平衡会议</a:t>
            </a:r>
            <a:r>
              <a:rPr lang="zh-CN" altLang="en-US" sz="1200" b="1" dirty="0">
                <a:solidFill>
                  <a:srgbClr val="3366FF"/>
                </a:solidFill>
                <a:latin typeface="微软雅黑" panose="020B0503020204020204" charset="-122"/>
                <a:ea typeface="微软雅黑" panose="020B0503020204020204" charset="-122"/>
              </a:rPr>
              <a:t>召开时间较晚</a:t>
            </a:r>
            <a:r>
              <a:rPr lang="zh-CN" altLang="en-US" sz="1200" dirty="0">
                <a:latin typeface="微软雅黑" panose="020B0503020204020204" charset="-122"/>
                <a:ea typeface="微软雅黑" panose="020B0503020204020204" charset="-122"/>
              </a:rPr>
              <a:t>（每月</a:t>
            </a:r>
            <a:r>
              <a:rPr lang="en-US" altLang="zh-CN" sz="1200" dirty="0">
                <a:latin typeface="微软雅黑" panose="020B0503020204020204" charset="-122"/>
                <a:ea typeface="微软雅黑" panose="020B0503020204020204" charset="-122"/>
              </a:rPr>
              <a:t>25</a:t>
            </a:r>
            <a:r>
              <a:rPr lang="zh-CN" altLang="en-US" sz="1200" dirty="0">
                <a:latin typeface="微软雅黑" panose="020B0503020204020204" charset="-122"/>
                <a:ea typeface="微软雅黑" panose="020B0503020204020204" charset="-122"/>
              </a:rPr>
              <a:t>号左右），对结构件计划及下料计划的指导性不足，自制件准备更多凭借经验执行</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产销平衡会议重点关注第一月的产供销平衡，并且侧重于销售任务完成及财务数据，</a:t>
            </a:r>
            <a:r>
              <a:rPr kumimoji="1" lang="zh-CN" altLang="en-US" sz="1200" b="1" dirty="0">
                <a:solidFill>
                  <a:srgbClr val="3366FF"/>
                </a:solidFill>
                <a:latin typeface="微软雅黑" panose="020B0503020204020204" charset="-122"/>
                <a:ea typeface="微软雅黑" panose="020B0503020204020204" charset="-122"/>
                <a:cs typeface="微软雅黑" panose="020B0503020204020204" charset="-122"/>
              </a:rPr>
              <a:t>较少关注中长期计划，进口件与关重件的备货及风险评审以及运营指标</a:t>
            </a:r>
            <a:endParaRPr kumimoji="1" lang="en-US" altLang="zh-CN" sz="1200" b="1" dirty="0">
              <a:solidFill>
                <a:srgbClr val="3366FF"/>
              </a:solidFill>
              <a:latin typeface="微软雅黑" panose="020B0503020204020204" charset="-122"/>
              <a:ea typeface="微软雅黑" panose="020B0503020204020204" charset="-122"/>
              <a:cs typeface="微软雅黑" panose="020B0503020204020204" charset="-122"/>
            </a:endParaRPr>
          </a:p>
          <a:p>
            <a:pPr marL="88900" indent="-88900">
              <a:lnSpc>
                <a:spcPct val="110000"/>
              </a:lnSpc>
              <a:spcBef>
                <a:spcPts val="300"/>
              </a:spcBef>
              <a:buFont typeface="微软雅黑" panose="020B0503020204020204" charset="-122"/>
              <a:buChar char="▪"/>
            </a:pPr>
            <a:endParaRPr lang="zh-CN" altLang="en-US" sz="1200" dirty="0">
              <a:latin typeface="微软雅黑" panose="020B0503020204020204" charset="-122"/>
              <a:ea typeface="微软雅黑" panose="020B0503020204020204" charset="-122"/>
            </a:endParaRPr>
          </a:p>
        </p:txBody>
      </p:sp>
      <p:sp>
        <p:nvSpPr>
          <p:cNvPr id="126" name="矩形 125"/>
          <p:cNvSpPr/>
          <p:nvPr/>
        </p:nvSpPr>
        <p:spPr bwMode="auto">
          <a:xfrm>
            <a:off x="1915536" y="1643050"/>
            <a:ext cx="4669428" cy="4143404"/>
          </a:xfrm>
          <a:prstGeom prst="rect">
            <a:avLst/>
          </a:prstGeom>
          <a:no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127" name="矩形 126"/>
          <p:cNvSpPr/>
          <p:nvPr/>
        </p:nvSpPr>
        <p:spPr bwMode="auto">
          <a:xfrm>
            <a:off x="6698280" y="1643050"/>
            <a:ext cx="2160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en-US" altLang="zh-CN" sz="1200" b="1" dirty="0">
                <a:latin typeface="微软雅黑" panose="020B0503020204020204" charset="-122"/>
                <a:ea typeface="微软雅黑" panose="020B0503020204020204" charset="-122"/>
              </a:rPr>
              <a:t>S&amp;OP</a:t>
            </a:r>
            <a:r>
              <a:rPr lang="zh-CN" altLang="en-US" sz="1200" b="1" dirty="0">
                <a:latin typeface="微软雅黑" panose="020B0503020204020204" charset="-122"/>
                <a:ea typeface="微软雅黑" panose="020B0503020204020204" charset="-122"/>
              </a:rPr>
              <a:t>会议机制</a:t>
            </a:r>
            <a:r>
              <a:rPr lang="zh-CN" altLang="en-US" sz="1200" dirty="0">
                <a:latin typeface="微软雅黑" panose="020B0503020204020204" charset="-122"/>
                <a:ea typeface="微软雅黑" panose="020B0503020204020204" charset="-122"/>
              </a:rPr>
              <a:t>：建立月度</a:t>
            </a:r>
            <a:r>
              <a:rPr lang="en-US" altLang="zh-CN" sz="1200" dirty="0">
                <a:latin typeface="微软雅黑" panose="020B0503020204020204" charset="-122"/>
                <a:ea typeface="微软雅黑" panose="020B0503020204020204" charset="-122"/>
              </a:rPr>
              <a:t>S&amp;OP</a:t>
            </a:r>
            <a:r>
              <a:rPr lang="zh-CN" altLang="en-US" sz="1200" dirty="0">
                <a:latin typeface="微软雅黑" panose="020B0503020204020204" charset="-122"/>
                <a:ea typeface="微软雅黑" panose="020B0503020204020204" charset="-122"/>
              </a:rPr>
              <a:t>会议（月度计划管理）及周度</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旬度</a:t>
            </a:r>
            <a:r>
              <a:rPr lang="en-US" altLang="zh-CN" sz="1200" dirty="0">
                <a:latin typeface="微软雅黑" panose="020B0503020204020204" charset="-122"/>
                <a:ea typeface="微软雅黑" panose="020B0503020204020204" charset="-122"/>
              </a:rPr>
              <a:t>S&amp;OP</a:t>
            </a:r>
            <a:r>
              <a:rPr lang="zh-CN" altLang="en-US" sz="1200" dirty="0">
                <a:latin typeface="微软雅黑" panose="020B0503020204020204" charset="-122"/>
                <a:ea typeface="微软雅黑" panose="020B0503020204020204" charset="-122"/>
              </a:rPr>
              <a:t>会议（周度</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旬度订单与计划管理），明确召开时间，调整议题（将中长期计划、关重件及指标引入议题）</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生产计划</a:t>
            </a:r>
            <a:r>
              <a:rPr lang="zh-CN" altLang="en-US" sz="1200" dirty="0">
                <a:latin typeface="微软雅黑" panose="020B0503020204020204" charset="-122"/>
                <a:ea typeface="微软雅黑" panose="020B0503020204020204" charset="-122"/>
              </a:rPr>
              <a:t>：结合计划体系，制定月度生产计划、周度</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旬度生产计划、日度排产计划、结构件计划、下料计划等管理方式</a:t>
            </a:r>
          </a:p>
        </p:txBody>
      </p:sp>
      <p:sp>
        <p:nvSpPr>
          <p:cNvPr id="175" name="矩形 174"/>
          <p:cNvSpPr/>
          <p:nvPr/>
        </p:nvSpPr>
        <p:spPr bwMode="auto">
          <a:xfrm>
            <a:off x="311120" y="5888834"/>
            <a:ext cx="8547160" cy="612000"/>
          </a:xfrm>
          <a:prstGeom prst="rect">
            <a:avLst/>
          </a:prstGeom>
          <a:noFill/>
          <a:ln w="19050" cap="flat" cmpd="sng" algn="ctr">
            <a:solidFill>
              <a:schemeClr val="accent1">
                <a:lumMod val="60000"/>
                <a:lumOff val="40000"/>
              </a:schemeClr>
            </a:solidFill>
            <a:prstDash val="solid"/>
            <a:round/>
            <a:headEnd type="none" w="med" len="med"/>
            <a:tailEnd type="none"/>
          </a:ln>
          <a:effectLst/>
        </p:spPr>
        <p:txBody>
          <a:bodyPr lIns="900000" tIns="46800" rtlCol="0" anchor="ctr"/>
          <a:lstStyle/>
          <a:p>
            <a:pPr marL="180975" indent="-180975">
              <a:lnSpc>
                <a:spcPct val="110000"/>
              </a:lnSpc>
              <a:spcBef>
                <a:spcPts val="600"/>
              </a:spcBef>
            </a:pPr>
            <a:r>
              <a:rPr lang="zh-CN" altLang="en-US" sz="1400" dirty="0">
                <a:latin typeface="微软雅黑" panose="020B0503020204020204" charset="-122"/>
                <a:ea typeface="微软雅黑" panose="020B0503020204020204" charset="-122"/>
              </a:rPr>
              <a:t>合理配置资源，提升订单准时交付率以及计划对后端指导性，实现</a:t>
            </a:r>
            <a:r>
              <a:rPr lang="zh-CN" altLang="en-US" b="1" dirty="0">
                <a:latin typeface="微软雅黑" panose="020B0503020204020204" charset="-122"/>
                <a:ea typeface="微软雅黑" panose="020B0503020204020204" charset="-122"/>
              </a:rPr>
              <a:t>供需平衡</a:t>
            </a:r>
            <a:endParaRPr lang="en-US" altLang="zh-CN" sz="1400" b="1" dirty="0">
              <a:latin typeface="微软雅黑" panose="020B0503020204020204" charset="-122"/>
              <a:ea typeface="微软雅黑" panose="020B0503020204020204" charset="-122"/>
            </a:endParaRPr>
          </a:p>
        </p:txBody>
      </p:sp>
      <p:sp>
        <p:nvSpPr>
          <p:cNvPr id="177" name="矩形 176"/>
          <p:cNvSpPr/>
          <p:nvPr/>
        </p:nvSpPr>
        <p:spPr bwMode="auto">
          <a:xfrm>
            <a:off x="311120" y="5888834"/>
            <a:ext cx="725523" cy="612000"/>
          </a:xfrm>
          <a:prstGeom prst="rect">
            <a:avLst/>
          </a:prstGeom>
          <a:solidFill>
            <a:srgbClr val="CCCCFF"/>
          </a:solidFill>
          <a:ln w="19050" cap="flat" cmpd="sng" algn="ctr">
            <a:solidFill>
              <a:schemeClr val="accent1">
                <a:lumMod val="60000"/>
                <a:lumOff val="40000"/>
              </a:schemeClr>
            </a:solidFill>
            <a:prstDash val="solid"/>
            <a:round/>
            <a:headEnd type="none" w="med" len="med"/>
            <a:tailEnd type="none"/>
          </a:ln>
          <a:effectLst/>
        </p:spPr>
        <p:txBody>
          <a:bodyPr rtlCol="0" anchor="ctr"/>
          <a:lstStyle/>
          <a:p>
            <a:pPr algn="ctr">
              <a:lnSpc>
                <a:spcPct val="110000"/>
              </a:lnSpc>
              <a:spcBef>
                <a:spcPts val="600"/>
              </a:spcBef>
            </a:pPr>
            <a:r>
              <a:rPr lang="zh-CN" altLang="en-US" sz="1400" b="1" dirty="0">
                <a:latin typeface="微软雅黑" panose="020B0503020204020204" charset="-122"/>
                <a:ea typeface="微软雅黑" panose="020B0503020204020204" charset="-122"/>
              </a:rPr>
              <a:t>主要</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收益</a:t>
            </a:r>
            <a:endParaRPr lang="en-US" altLang="zh-CN" sz="1400" b="1" dirty="0">
              <a:latin typeface="微软雅黑" panose="020B0503020204020204" charset="-122"/>
              <a:ea typeface="微软雅黑" panose="020B0503020204020204" charset="-122"/>
            </a:endParaRPr>
          </a:p>
        </p:txBody>
      </p:sp>
      <p:cxnSp>
        <p:nvCxnSpPr>
          <p:cNvPr id="46" name="AutoShape 44"/>
          <p:cNvCxnSpPr>
            <a:cxnSpLocks noChangeShapeType="1"/>
          </p:cNvCxnSpPr>
          <p:nvPr/>
        </p:nvCxnSpPr>
        <p:spPr bwMode="auto">
          <a:xfrm flipV="1">
            <a:off x="2819388" y="3655276"/>
            <a:ext cx="684000" cy="1"/>
          </a:xfrm>
          <a:prstGeom prst="straightConnector1">
            <a:avLst/>
          </a:prstGeom>
          <a:noFill/>
          <a:ln w="15875">
            <a:solidFill>
              <a:schemeClr val="tx1"/>
            </a:solidFill>
            <a:miter lim="800000"/>
            <a:headEnd type="triangle"/>
            <a:tailEnd type="none" w="med" len="med"/>
          </a:ln>
        </p:spPr>
      </p:cxnSp>
      <p:sp>
        <p:nvSpPr>
          <p:cNvPr id="19" name="Text Box 23"/>
          <p:cNvSpPr txBox="1">
            <a:spLocks noChangeArrowheads="1"/>
          </p:cNvSpPr>
          <p:nvPr/>
        </p:nvSpPr>
        <p:spPr bwMode="auto">
          <a:xfrm>
            <a:off x="2273941" y="2199633"/>
            <a:ext cx="540684" cy="625445"/>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100" b="1" dirty="0">
                <a:latin typeface="微软雅黑" panose="020B0503020204020204" charset="-122"/>
                <a:ea typeface="微软雅黑" panose="020B0503020204020204" charset="-122"/>
              </a:rPr>
              <a:t>需求</a:t>
            </a:r>
            <a:br>
              <a:rPr lang="en-US" altLang="zh-CN" sz="1100" b="1" dirty="0">
                <a:latin typeface="微软雅黑" panose="020B0503020204020204" charset="-122"/>
                <a:ea typeface="微软雅黑" panose="020B0503020204020204" charset="-122"/>
              </a:rPr>
            </a:br>
            <a:r>
              <a:rPr lang="zh-CN" altLang="en-US" sz="1100" b="1" dirty="0">
                <a:latin typeface="微软雅黑" panose="020B0503020204020204" charset="-122"/>
                <a:ea typeface="微软雅黑" panose="020B0503020204020204" charset="-122"/>
              </a:rPr>
              <a:t>计划</a:t>
            </a:r>
            <a:endParaRPr lang="en-US" altLang="zh-CN" sz="1100" b="1" dirty="0">
              <a:latin typeface="微软雅黑" panose="020B0503020204020204" charset="-122"/>
              <a:ea typeface="微软雅黑" panose="020B0503020204020204" charset="-122"/>
            </a:endParaRPr>
          </a:p>
        </p:txBody>
      </p:sp>
      <p:sp>
        <p:nvSpPr>
          <p:cNvPr id="20" name="Text Box 25"/>
          <p:cNvSpPr txBox="1">
            <a:spLocks noChangeArrowheads="1"/>
          </p:cNvSpPr>
          <p:nvPr/>
        </p:nvSpPr>
        <p:spPr bwMode="auto">
          <a:xfrm>
            <a:off x="3411533" y="2199633"/>
            <a:ext cx="878476" cy="625445"/>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100" b="1" dirty="0">
                <a:latin typeface="微软雅黑" panose="020B0503020204020204" charset="-122"/>
                <a:ea typeface="微软雅黑" panose="020B0503020204020204" charset="-122"/>
              </a:rPr>
              <a:t>产销平衡</a:t>
            </a:r>
            <a:br>
              <a:rPr lang="en-US" altLang="zh-CN" sz="1100" b="1" dirty="0">
                <a:latin typeface="微软雅黑" panose="020B0503020204020204" charset="-122"/>
                <a:ea typeface="微软雅黑" panose="020B0503020204020204" charset="-122"/>
              </a:rPr>
            </a:br>
            <a:r>
              <a:rPr lang="zh-CN" altLang="en-US" sz="1100" b="1" dirty="0">
                <a:latin typeface="微软雅黑" panose="020B0503020204020204" charset="-122"/>
                <a:ea typeface="微软雅黑" panose="020B0503020204020204" charset="-122"/>
              </a:rPr>
              <a:t>机制</a:t>
            </a:r>
            <a:br>
              <a:rPr lang="en-US" altLang="zh-CN" sz="1100" b="1" dirty="0">
                <a:latin typeface="微软雅黑" panose="020B0503020204020204" charset="-122"/>
                <a:ea typeface="微软雅黑" panose="020B0503020204020204" charset="-122"/>
              </a:rPr>
            </a:br>
            <a:r>
              <a:rPr lang="en-US" altLang="zh-CN" sz="1100" b="1" dirty="0">
                <a:latin typeface="微软雅黑" panose="020B0503020204020204" charset="-122"/>
                <a:ea typeface="微软雅黑" panose="020B0503020204020204" charset="-122"/>
              </a:rPr>
              <a:t>(S&amp;OP)</a:t>
            </a:r>
          </a:p>
        </p:txBody>
      </p:sp>
      <p:sp>
        <p:nvSpPr>
          <p:cNvPr id="21" name="Text Box 30"/>
          <p:cNvSpPr txBox="1">
            <a:spLocks noChangeArrowheads="1"/>
          </p:cNvSpPr>
          <p:nvPr/>
        </p:nvSpPr>
        <p:spPr bwMode="auto">
          <a:xfrm>
            <a:off x="3481949" y="3285716"/>
            <a:ext cx="737644" cy="625445"/>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100" b="1" dirty="0">
                <a:latin typeface="微软雅黑" panose="020B0503020204020204" charset="-122"/>
                <a:ea typeface="微软雅黑" panose="020B0503020204020204" charset="-122"/>
              </a:rPr>
              <a:t>生产</a:t>
            </a:r>
            <a:br>
              <a:rPr lang="en-US" altLang="zh-CN" sz="1100" b="1" dirty="0">
                <a:latin typeface="微软雅黑" panose="020B0503020204020204" charset="-122"/>
                <a:ea typeface="微软雅黑" panose="020B0503020204020204" charset="-122"/>
              </a:rPr>
            </a:br>
            <a:r>
              <a:rPr lang="zh-CN" altLang="en-US" sz="1100" b="1" dirty="0">
                <a:latin typeface="微软雅黑" panose="020B0503020204020204" charset="-122"/>
                <a:ea typeface="微软雅黑" panose="020B0503020204020204" charset="-122"/>
              </a:rPr>
              <a:t>计划</a:t>
            </a:r>
            <a:endParaRPr lang="en-US" altLang="zh-CN" sz="1100" b="1" dirty="0">
              <a:latin typeface="微软雅黑" panose="020B0503020204020204" charset="-122"/>
              <a:ea typeface="微软雅黑" panose="020B0503020204020204" charset="-122"/>
            </a:endParaRPr>
          </a:p>
        </p:txBody>
      </p:sp>
      <p:sp>
        <p:nvSpPr>
          <p:cNvPr id="22" name="Text Box 31"/>
          <p:cNvSpPr txBox="1">
            <a:spLocks noChangeArrowheads="1"/>
          </p:cNvSpPr>
          <p:nvPr/>
        </p:nvSpPr>
        <p:spPr bwMode="auto">
          <a:xfrm>
            <a:off x="4677925" y="3285716"/>
            <a:ext cx="713225" cy="625445"/>
          </a:xfrm>
          <a:prstGeom prst="rect">
            <a:avLst/>
          </a:prstGeom>
          <a:solidFill>
            <a:schemeClr val="accent1">
              <a:lumMod val="40000"/>
              <a:lumOff val="60000"/>
            </a:schemeClr>
          </a:solidFill>
          <a:ln w="12700" algn="ctr">
            <a:solidFill>
              <a:schemeClr val="tx1"/>
            </a:solidFill>
            <a:miter lim="800000"/>
          </a:ln>
        </p:spPr>
        <p:txBody>
          <a:bodyPr lIns="36000" tIns="46800" rIns="36000" bIns="46800" anchor="ctr"/>
          <a:lstStyle/>
          <a:p>
            <a:pPr algn="ctr">
              <a:spcBef>
                <a:spcPct val="50000"/>
              </a:spcBef>
            </a:pPr>
            <a:r>
              <a:rPr lang="zh-CN" altLang="en-US" sz="1100" b="1" dirty="0">
                <a:latin typeface="微软雅黑" panose="020B0503020204020204" charset="-122"/>
                <a:ea typeface="微软雅黑" panose="020B0503020204020204" charset="-122"/>
              </a:rPr>
              <a:t>零部件</a:t>
            </a:r>
            <a:br>
              <a:rPr lang="en-US" altLang="zh-CN" sz="1100" b="1" dirty="0">
                <a:latin typeface="微软雅黑" panose="020B0503020204020204" charset="-122"/>
                <a:ea typeface="微软雅黑" panose="020B0503020204020204" charset="-122"/>
              </a:rPr>
            </a:br>
            <a:r>
              <a:rPr lang="zh-CN" altLang="en-US" sz="1100" b="1" dirty="0">
                <a:latin typeface="微软雅黑" panose="020B0503020204020204" charset="-122"/>
                <a:ea typeface="微软雅黑" panose="020B0503020204020204" charset="-122"/>
              </a:rPr>
              <a:t>需求计划</a:t>
            </a:r>
            <a:endParaRPr lang="en-US" altLang="zh-CN" sz="1100" b="1" dirty="0">
              <a:latin typeface="微软雅黑" panose="020B0503020204020204" charset="-122"/>
              <a:ea typeface="微软雅黑" panose="020B0503020204020204" charset="-122"/>
            </a:endParaRPr>
          </a:p>
        </p:txBody>
      </p:sp>
      <p:sp>
        <p:nvSpPr>
          <p:cNvPr id="23" name="Text Box 32"/>
          <p:cNvSpPr txBox="1">
            <a:spLocks noChangeArrowheads="1"/>
          </p:cNvSpPr>
          <p:nvPr/>
        </p:nvSpPr>
        <p:spPr bwMode="auto">
          <a:xfrm>
            <a:off x="3482271" y="4258809"/>
            <a:ext cx="737000" cy="625445"/>
          </a:xfrm>
          <a:prstGeom prst="rect">
            <a:avLst/>
          </a:prstGeom>
          <a:solidFill>
            <a:schemeClr val="accent1">
              <a:lumMod val="40000"/>
              <a:lumOff val="60000"/>
            </a:schemeClr>
          </a:solidFill>
          <a:ln w="12700" algn="ctr">
            <a:solidFill>
              <a:schemeClr val="tx1"/>
            </a:solidFill>
            <a:miter lim="800000"/>
          </a:ln>
        </p:spPr>
        <p:txBody>
          <a:bodyPr lIns="36000" tIns="46800" rIns="36000" bIns="46800" anchor="ctr"/>
          <a:lstStyle/>
          <a:p>
            <a:pPr algn="ctr">
              <a:spcBef>
                <a:spcPct val="50000"/>
              </a:spcBef>
            </a:pPr>
            <a:r>
              <a:rPr lang="zh-CN" altLang="en-US" sz="1100" b="1" dirty="0">
                <a:latin typeface="微软雅黑" panose="020B0503020204020204" charset="-122"/>
                <a:ea typeface="微软雅黑" panose="020B0503020204020204" charset="-122"/>
              </a:rPr>
              <a:t>工作中心</a:t>
            </a:r>
            <a:br>
              <a:rPr lang="en-US" altLang="zh-CN" sz="1100" b="1" dirty="0">
                <a:latin typeface="微软雅黑" panose="020B0503020204020204" charset="-122"/>
                <a:ea typeface="微软雅黑" panose="020B0503020204020204" charset="-122"/>
              </a:rPr>
            </a:br>
            <a:r>
              <a:rPr lang="zh-CN" altLang="en-US" sz="1100" b="1" dirty="0">
                <a:latin typeface="微软雅黑" panose="020B0503020204020204" charset="-122"/>
                <a:ea typeface="微软雅黑" panose="020B0503020204020204" charset="-122"/>
              </a:rPr>
              <a:t>日程计划</a:t>
            </a:r>
            <a:endParaRPr lang="en-US" altLang="zh-CN" sz="1100" b="1" dirty="0">
              <a:latin typeface="微软雅黑" panose="020B0503020204020204" charset="-122"/>
              <a:ea typeface="微软雅黑" panose="020B0503020204020204" charset="-122"/>
            </a:endParaRPr>
          </a:p>
        </p:txBody>
      </p:sp>
      <p:sp>
        <p:nvSpPr>
          <p:cNvPr id="24" name="Text Box 35"/>
          <p:cNvSpPr txBox="1">
            <a:spLocks noChangeArrowheads="1"/>
          </p:cNvSpPr>
          <p:nvPr/>
        </p:nvSpPr>
        <p:spPr bwMode="auto">
          <a:xfrm>
            <a:off x="4677925" y="4258809"/>
            <a:ext cx="713225" cy="625445"/>
          </a:xfrm>
          <a:prstGeom prst="rect">
            <a:avLst/>
          </a:prstGeom>
          <a:solidFill>
            <a:schemeClr val="accent1">
              <a:lumMod val="40000"/>
              <a:lumOff val="60000"/>
            </a:schemeClr>
          </a:solidFill>
          <a:ln w="12700" algn="ctr">
            <a:solidFill>
              <a:schemeClr val="tx1"/>
            </a:solidFill>
            <a:miter lim="800000"/>
          </a:ln>
        </p:spPr>
        <p:txBody>
          <a:bodyPr lIns="36000" tIns="46800" rIns="36000" bIns="46800" anchor="ctr"/>
          <a:lstStyle/>
          <a:p>
            <a:pPr algn="ctr">
              <a:spcBef>
                <a:spcPct val="50000"/>
              </a:spcBef>
            </a:pPr>
            <a:r>
              <a:rPr lang="zh-CN" altLang="en-US" sz="1100" b="1" dirty="0">
                <a:latin typeface="微软雅黑" panose="020B0503020204020204" charset="-122"/>
                <a:ea typeface="微软雅黑" panose="020B0503020204020204" charset="-122"/>
              </a:rPr>
              <a:t>零部件</a:t>
            </a:r>
            <a:br>
              <a:rPr lang="en-US" altLang="zh-CN" sz="1100" b="1" dirty="0">
                <a:latin typeface="微软雅黑" panose="020B0503020204020204" charset="-122"/>
                <a:ea typeface="微软雅黑" panose="020B0503020204020204" charset="-122"/>
              </a:rPr>
            </a:br>
            <a:r>
              <a:rPr lang="zh-CN" altLang="en-US" sz="1100" b="1" dirty="0">
                <a:latin typeface="微软雅黑" panose="020B0503020204020204" charset="-122"/>
                <a:ea typeface="微软雅黑" panose="020B0503020204020204" charset="-122"/>
              </a:rPr>
              <a:t>配送指令</a:t>
            </a:r>
            <a:endParaRPr lang="en-US" altLang="zh-CN" sz="1100" b="1" dirty="0">
              <a:latin typeface="微软雅黑" panose="020B0503020204020204" charset="-122"/>
              <a:ea typeface="微软雅黑" panose="020B0503020204020204" charset="-122"/>
            </a:endParaRPr>
          </a:p>
        </p:txBody>
      </p:sp>
      <p:cxnSp>
        <p:nvCxnSpPr>
          <p:cNvPr id="25" name="AutoShape 44"/>
          <p:cNvCxnSpPr>
            <a:cxnSpLocks noChangeShapeType="1"/>
            <a:stCxn id="19" idx="3"/>
            <a:endCxn id="20" idx="1"/>
          </p:cNvCxnSpPr>
          <p:nvPr/>
        </p:nvCxnSpPr>
        <p:spPr bwMode="auto">
          <a:xfrm>
            <a:off x="2814625" y="2512356"/>
            <a:ext cx="596908" cy="1588"/>
          </a:xfrm>
          <a:prstGeom prst="straightConnector1">
            <a:avLst/>
          </a:prstGeom>
          <a:noFill/>
          <a:ln w="15875">
            <a:solidFill>
              <a:schemeClr val="tx1"/>
            </a:solidFill>
            <a:miter lim="800000"/>
            <a:tailEnd type="triangle" w="med" len="med"/>
          </a:ln>
        </p:spPr>
      </p:cxnSp>
      <p:cxnSp>
        <p:nvCxnSpPr>
          <p:cNvPr id="26" name="AutoShape 47"/>
          <p:cNvCxnSpPr>
            <a:cxnSpLocks noChangeShapeType="1"/>
            <a:stCxn id="20" idx="2"/>
            <a:endCxn id="21" idx="0"/>
          </p:cNvCxnSpPr>
          <p:nvPr/>
        </p:nvCxnSpPr>
        <p:spPr bwMode="auto">
          <a:xfrm rot="5400000">
            <a:off x="3620451" y="3055671"/>
            <a:ext cx="460638" cy="985"/>
          </a:xfrm>
          <a:prstGeom prst="straightConnector1">
            <a:avLst/>
          </a:prstGeom>
          <a:noFill/>
          <a:ln w="15875">
            <a:solidFill>
              <a:schemeClr val="tx1"/>
            </a:solidFill>
            <a:round/>
            <a:tailEnd type="triangle" w="med" len="med"/>
          </a:ln>
        </p:spPr>
      </p:cxnSp>
      <p:cxnSp>
        <p:nvCxnSpPr>
          <p:cNvPr id="27" name="AutoShape 50"/>
          <p:cNvCxnSpPr>
            <a:cxnSpLocks noChangeShapeType="1"/>
            <a:stCxn id="21" idx="2"/>
            <a:endCxn id="23" idx="0"/>
          </p:cNvCxnSpPr>
          <p:nvPr/>
        </p:nvCxnSpPr>
        <p:spPr bwMode="auto">
          <a:xfrm rot="5400000">
            <a:off x="3676947" y="4085258"/>
            <a:ext cx="347648" cy="985"/>
          </a:xfrm>
          <a:prstGeom prst="straightConnector1">
            <a:avLst/>
          </a:prstGeom>
          <a:noFill/>
          <a:ln w="15875">
            <a:solidFill>
              <a:schemeClr val="tx1"/>
            </a:solidFill>
            <a:round/>
            <a:tailEnd type="triangle" w="med" len="med"/>
          </a:ln>
        </p:spPr>
      </p:cxnSp>
      <p:cxnSp>
        <p:nvCxnSpPr>
          <p:cNvPr id="28" name="AutoShape 51"/>
          <p:cNvCxnSpPr>
            <a:cxnSpLocks noChangeShapeType="1"/>
            <a:stCxn id="21" idx="3"/>
            <a:endCxn id="22" idx="1"/>
          </p:cNvCxnSpPr>
          <p:nvPr/>
        </p:nvCxnSpPr>
        <p:spPr bwMode="auto">
          <a:xfrm>
            <a:off x="4219593" y="3598439"/>
            <a:ext cx="458332" cy="1588"/>
          </a:xfrm>
          <a:prstGeom prst="straightConnector1">
            <a:avLst/>
          </a:prstGeom>
          <a:noFill/>
          <a:ln w="15875">
            <a:solidFill>
              <a:schemeClr val="tx1"/>
            </a:solidFill>
            <a:round/>
            <a:tailEnd type="triangle" w="med" len="med"/>
          </a:ln>
        </p:spPr>
      </p:cxnSp>
      <p:cxnSp>
        <p:nvCxnSpPr>
          <p:cNvPr id="29" name="AutoShape 52"/>
          <p:cNvCxnSpPr>
            <a:cxnSpLocks noChangeShapeType="1"/>
            <a:stCxn id="22" idx="3"/>
            <a:endCxn id="33" idx="2"/>
          </p:cNvCxnSpPr>
          <p:nvPr/>
        </p:nvCxnSpPr>
        <p:spPr bwMode="auto">
          <a:xfrm flipV="1">
            <a:off x="5391150" y="3274853"/>
            <a:ext cx="196728" cy="323586"/>
          </a:xfrm>
          <a:prstGeom prst="bentConnector3">
            <a:avLst>
              <a:gd name="adj1" fmla="val 50000"/>
            </a:avLst>
          </a:prstGeom>
          <a:noFill/>
          <a:ln w="9525" cap="flat" cmpd="sng" algn="ctr">
            <a:solidFill>
              <a:schemeClr val="accent1"/>
            </a:solidFill>
            <a:prstDash val="dash"/>
            <a:round/>
            <a:headEnd type="none" w="med" len="med"/>
            <a:tailEnd type="arrow"/>
          </a:ln>
          <a:effectLst/>
        </p:spPr>
      </p:cxnSp>
      <p:cxnSp>
        <p:nvCxnSpPr>
          <p:cNvPr id="30" name="AutoShape 54"/>
          <p:cNvCxnSpPr>
            <a:cxnSpLocks noChangeShapeType="1"/>
            <a:stCxn id="22" idx="3"/>
            <a:endCxn id="34" idx="2"/>
          </p:cNvCxnSpPr>
          <p:nvPr/>
        </p:nvCxnSpPr>
        <p:spPr bwMode="auto">
          <a:xfrm>
            <a:off x="5391150" y="3598439"/>
            <a:ext cx="196728" cy="296977"/>
          </a:xfrm>
          <a:prstGeom prst="bentConnector3">
            <a:avLst>
              <a:gd name="adj1" fmla="val 50000"/>
            </a:avLst>
          </a:prstGeom>
          <a:noFill/>
          <a:ln w="9525" cap="flat" cmpd="sng" algn="ctr">
            <a:solidFill>
              <a:schemeClr val="accent1"/>
            </a:solidFill>
            <a:prstDash val="dash"/>
            <a:round/>
            <a:headEnd type="none" w="med" len="med"/>
            <a:tailEnd type="arrow"/>
          </a:ln>
          <a:effectLst/>
        </p:spPr>
      </p:cxnSp>
      <p:cxnSp>
        <p:nvCxnSpPr>
          <p:cNvPr id="31" name="AutoShape 55"/>
          <p:cNvCxnSpPr>
            <a:cxnSpLocks noChangeShapeType="1"/>
            <a:stCxn id="23" idx="3"/>
            <a:endCxn id="24" idx="1"/>
          </p:cNvCxnSpPr>
          <p:nvPr/>
        </p:nvCxnSpPr>
        <p:spPr bwMode="auto">
          <a:xfrm>
            <a:off x="4219271" y="4571532"/>
            <a:ext cx="458654" cy="1588"/>
          </a:xfrm>
          <a:prstGeom prst="straightConnector1">
            <a:avLst/>
          </a:prstGeom>
          <a:noFill/>
          <a:ln w="15875">
            <a:solidFill>
              <a:schemeClr val="tx1"/>
            </a:solidFill>
            <a:round/>
            <a:tailEnd type="triangle" w="med" len="med"/>
          </a:ln>
        </p:spPr>
      </p:cxnSp>
      <p:cxnSp>
        <p:nvCxnSpPr>
          <p:cNvPr id="32" name="AutoShape 56"/>
          <p:cNvCxnSpPr>
            <a:cxnSpLocks noChangeShapeType="1"/>
            <a:stCxn id="23" idx="2"/>
            <a:endCxn id="37" idx="1"/>
          </p:cNvCxnSpPr>
          <p:nvPr/>
        </p:nvCxnSpPr>
        <p:spPr bwMode="auto">
          <a:xfrm rot="16200000" flipH="1">
            <a:off x="3715309" y="5019714"/>
            <a:ext cx="270924" cy="1"/>
          </a:xfrm>
          <a:prstGeom prst="straightConnector1">
            <a:avLst/>
          </a:prstGeom>
          <a:noFill/>
          <a:ln w="9525" cap="flat" cmpd="sng" algn="ctr">
            <a:solidFill>
              <a:schemeClr val="accent1"/>
            </a:solidFill>
            <a:prstDash val="dash"/>
            <a:round/>
            <a:headEnd type="none" w="med" len="med"/>
            <a:tailEnd type="arrow"/>
          </a:ln>
          <a:effectLst/>
        </p:spPr>
      </p:cxnSp>
      <p:sp>
        <p:nvSpPr>
          <p:cNvPr id="33" name="AutoShape 63"/>
          <p:cNvSpPr>
            <a:spLocks noChangeArrowheads="1"/>
          </p:cNvSpPr>
          <p:nvPr/>
        </p:nvSpPr>
        <p:spPr bwMode="auto">
          <a:xfrm>
            <a:off x="5486400" y="3083745"/>
            <a:ext cx="1014782" cy="382216"/>
          </a:xfrm>
          <a:prstGeom prst="flowChartInputOutput">
            <a:avLst/>
          </a:prstGeom>
          <a:noFill/>
          <a:ln w="12700" algn="ctr">
            <a:solidFill>
              <a:schemeClr val="accent1">
                <a:lumMod val="60000"/>
                <a:lumOff val="40000"/>
              </a:schemeClr>
            </a:solidFill>
            <a:prstDash val="dash"/>
            <a:miter lim="800000"/>
          </a:ln>
        </p:spPr>
        <p:txBody>
          <a:bodyPr wrap="none" lIns="90000" tIns="46800" rIns="90000" bIns="46800" anchor="ctr"/>
          <a:lstStyle/>
          <a:p>
            <a:pPr algn="ctr">
              <a:spcBef>
                <a:spcPct val="50000"/>
              </a:spcBef>
            </a:pPr>
            <a:r>
              <a:rPr lang="zh-CN" altLang="en-US" sz="1000" dirty="0">
                <a:solidFill>
                  <a:schemeClr val="tx1">
                    <a:lumMod val="50000"/>
                    <a:lumOff val="50000"/>
                  </a:schemeClr>
                </a:solidFill>
                <a:latin typeface="微软雅黑" panose="020B0503020204020204" charset="-122"/>
                <a:ea typeface="微软雅黑" panose="020B0503020204020204" charset="-122"/>
              </a:rPr>
              <a:t>长周期零部件</a:t>
            </a:r>
            <a:br>
              <a:rPr lang="en-US" altLang="zh-CN" sz="1000" dirty="0">
                <a:solidFill>
                  <a:schemeClr val="tx1">
                    <a:lumMod val="50000"/>
                    <a:lumOff val="50000"/>
                  </a:schemeClr>
                </a:solidFill>
                <a:latin typeface="微软雅黑" panose="020B0503020204020204" charset="-122"/>
                <a:ea typeface="微软雅黑" panose="020B0503020204020204" charset="-122"/>
              </a:rPr>
            </a:br>
            <a:r>
              <a:rPr lang="zh-CN" altLang="en-US" sz="1000" dirty="0">
                <a:solidFill>
                  <a:schemeClr val="tx1">
                    <a:lumMod val="50000"/>
                    <a:lumOff val="50000"/>
                  </a:schemeClr>
                </a:solidFill>
                <a:latin typeface="微软雅黑" panose="020B0503020204020204" charset="-122"/>
                <a:ea typeface="微软雅黑" panose="020B0503020204020204" charset="-122"/>
              </a:rPr>
              <a:t>需求计划</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p:txBody>
      </p:sp>
      <p:sp>
        <p:nvSpPr>
          <p:cNvPr id="34" name="AutoShape 64"/>
          <p:cNvSpPr>
            <a:spLocks noChangeArrowheads="1"/>
          </p:cNvSpPr>
          <p:nvPr/>
        </p:nvSpPr>
        <p:spPr bwMode="auto">
          <a:xfrm>
            <a:off x="5486400" y="3704308"/>
            <a:ext cx="1014782" cy="382216"/>
          </a:xfrm>
          <a:prstGeom prst="flowChartInputOutput">
            <a:avLst/>
          </a:prstGeom>
          <a:noFill/>
          <a:ln w="12700" algn="ctr">
            <a:solidFill>
              <a:schemeClr val="accent1">
                <a:lumMod val="60000"/>
                <a:lumOff val="40000"/>
              </a:schemeClr>
            </a:solidFill>
            <a:prstDash val="dash"/>
            <a:miter lim="800000"/>
          </a:ln>
        </p:spPr>
        <p:txBody>
          <a:bodyPr wrap="none" lIns="90000" tIns="46800" rIns="90000" bIns="46800" anchor="ctr"/>
          <a:lstStyle/>
          <a:p>
            <a:pPr algn="ctr">
              <a:spcBef>
                <a:spcPct val="50000"/>
              </a:spcBef>
            </a:pPr>
            <a:r>
              <a:rPr lang="zh-CN" altLang="en-US" sz="1000" dirty="0">
                <a:solidFill>
                  <a:schemeClr val="tx1">
                    <a:lumMod val="50000"/>
                    <a:lumOff val="50000"/>
                  </a:schemeClr>
                </a:solidFill>
                <a:latin typeface="微软雅黑" panose="020B0503020204020204" charset="-122"/>
                <a:ea typeface="微软雅黑" panose="020B0503020204020204" charset="-122"/>
              </a:rPr>
              <a:t>月度零部件</a:t>
            </a:r>
            <a:br>
              <a:rPr lang="en-US" altLang="zh-CN" sz="1000" dirty="0">
                <a:solidFill>
                  <a:schemeClr val="tx1">
                    <a:lumMod val="50000"/>
                    <a:lumOff val="50000"/>
                  </a:schemeClr>
                </a:solidFill>
                <a:latin typeface="微软雅黑" panose="020B0503020204020204" charset="-122"/>
                <a:ea typeface="微软雅黑" panose="020B0503020204020204" charset="-122"/>
              </a:rPr>
            </a:br>
            <a:r>
              <a:rPr lang="zh-CN" altLang="en-US" sz="1000" dirty="0">
                <a:solidFill>
                  <a:schemeClr val="tx1">
                    <a:lumMod val="50000"/>
                    <a:lumOff val="50000"/>
                  </a:schemeClr>
                </a:solidFill>
                <a:latin typeface="微软雅黑" panose="020B0503020204020204" charset="-122"/>
                <a:ea typeface="微软雅黑" panose="020B0503020204020204" charset="-122"/>
              </a:rPr>
              <a:t>需求计划</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p:txBody>
      </p:sp>
      <p:sp>
        <p:nvSpPr>
          <p:cNvPr id="35" name="AutoShape 65"/>
          <p:cNvSpPr>
            <a:spLocks noChangeArrowheads="1"/>
          </p:cNvSpPr>
          <p:nvPr/>
        </p:nvSpPr>
        <p:spPr bwMode="auto">
          <a:xfrm>
            <a:off x="4587628" y="5155177"/>
            <a:ext cx="841613" cy="416963"/>
          </a:xfrm>
          <a:prstGeom prst="flowChartInputOutput">
            <a:avLst/>
          </a:prstGeom>
          <a:noFill/>
          <a:ln w="12700" algn="ctr">
            <a:solidFill>
              <a:schemeClr val="accent1">
                <a:lumMod val="60000"/>
                <a:lumOff val="40000"/>
              </a:schemeClr>
            </a:solidFill>
            <a:prstDash val="dash"/>
            <a:miter lim="800000"/>
          </a:ln>
        </p:spPr>
        <p:txBody>
          <a:bodyPr wrap="none" lIns="90000" tIns="46800" rIns="90000" bIns="46800" anchor="ctr"/>
          <a:lstStyle/>
          <a:p>
            <a:pPr algn="ctr">
              <a:spcBef>
                <a:spcPct val="50000"/>
              </a:spcBef>
            </a:pPr>
            <a:r>
              <a:rPr lang="zh-CN" altLang="en-US" sz="1000" dirty="0">
                <a:solidFill>
                  <a:schemeClr val="tx1">
                    <a:lumMod val="50000"/>
                    <a:lumOff val="50000"/>
                  </a:schemeClr>
                </a:solidFill>
                <a:latin typeface="微软雅黑" panose="020B0503020204020204" charset="-122"/>
                <a:ea typeface="微软雅黑" panose="020B0503020204020204" charset="-122"/>
              </a:rPr>
              <a:t>零部件配送</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36" name="AutoShape 66"/>
          <p:cNvCxnSpPr>
            <a:cxnSpLocks noChangeShapeType="1"/>
            <a:stCxn id="24" idx="2"/>
            <a:endCxn id="35" idx="1"/>
          </p:cNvCxnSpPr>
          <p:nvPr/>
        </p:nvCxnSpPr>
        <p:spPr bwMode="auto">
          <a:xfrm rot="5400000">
            <a:off x="4886026" y="5006664"/>
            <a:ext cx="270923" cy="26103"/>
          </a:xfrm>
          <a:prstGeom prst="straightConnector1">
            <a:avLst/>
          </a:prstGeom>
          <a:noFill/>
          <a:ln w="9525" cap="flat" cmpd="sng" algn="ctr">
            <a:solidFill>
              <a:schemeClr val="accent1"/>
            </a:solidFill>
            <a:prstDash val="dash"/>
            <a:round/>
            <a:headEnd type="none" w="med" len="med"/>
            <a:tailEnd type="arrow"/>
          </a:ln>
          <a:effectLst/>
        </p:spPr>
      </p:cxnSp>
      <p:sp>
        <p:nvSpPr>
          <p:cNvPr id="37" name="AutoShape 60"/>
          <p:cNvSpPr>
            <a:spLocks noChangeArrowheads="1"/>
          </p:cNvSpPr>
          <p:nvPr/>
        </p:nvSpPr>
        <p:spPr bwMode="auto">
          <a:xfrm>
            <a:off x="3471115" y="5155177"/>
            <a:ext cx="759310" cy="416963"/>
          </a:xfrm>
          <a:prstGeom prst="flowChartInputOutput">
            <a:avLst/>
          </a:prstGeom>
          <a:noFill/>
          <a:ln w="12700" algn="ctr">
            <a:solidFill>
              <a:schemeClr val="accent1">
                <a:lumMod val="60000"/>
                <a:lumOff val="40000"/>
              </a:schemeClr>
            </a:solidFill>
            <a:prstDash val="dash"/>
            <a:miter lim="800000"/>
          </a:ln>
        </p:spPr>
        <p:txBody>
          <a:bodyPr wrap="none" lIns="90000" tIns="46800" rIns="90000" bIns="46800" anchor="ctr"/>
          <a:lstStyle/>
          <a:p>
            <a:pPr algn="ctr"/>
            <a:r>
              <a:rPr lang="zh-CN" altLang="en-US" sz="1000" dirty="0">
                <a:solidFill>
                  <a:schemeClr val="tx1">
                    <a:lumMod val="50000"/>
                    <a:lumOff val="50000"/>
                  </a:schemeClr>
                </a:solidFill>
                <a:latin typeface="微软雅黑" panose="020B0503020204020204" charset="-122"/>
                <a:ea typeface="微软雅黑" panose="020B0503020204020204" charset="-122"/>
              </a:rPr>
              <a:t>生产制造</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p:txBody>
      </p:sp>
      <p:sp>
        <p:nvSpPr>
          <p:cNvPr id="38" name="Text Box 23"/>
          <p:cNvSpPr txBox="1">
            <a:spLocks noChangeArrowheads="1"/>
          </p:cNvSpPr>
          <p:nvPr/>
        </p:nvSpPr>
        <p:spPr bwMode="auto">
          <a:xfrm>
            <a:off x="2273941" y="3285717"/>
            <a:ext cx="540684" cy="625445"/>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100" b="1" dirty="0">
                <a:latin typeface="微软雅黑" panose="020B0503020204020204" charset="-122"/>
                <a:ea typeface="微软雅黑" panose="020B0503020204020204" charset="-122"/>
              </a:rPr>
              <a:t>销售</a:t>
            </a:r>
            <a:br>
              <a:rPr lang="en-US" altLang="zh-CN" sz="1100" b="1" dirty="0">
                <a:latin typeface="微软雅黑" panose="020B0503020204020204" charset="-122"/>
                <a:ea typeface="微软雅黑" panose="020B0503020204020204" charset="-122"/>
              </a:rPr>
            </a:br>
            <a:r>
              <a:rPr lang="zh-CN" altLang="en-US" sz="1100" b="1" dirty="0">
                <a:latin typeface="微软雅黑" panose="020B0503020204020204" charset="-122"/>
                <a:ea typeface="微软雅黑" panose="020B0503020204020204" charset="-122"/>
              </a:rPr>
              <a:t>订单</a:t>
            </a:r>
            <a:endParaRPr lang="en-US" altLang="zh-CN" sz="1100" b="1" dirty="0">
              <a:latin typeface="微软雅黑" panose="020B0503020204020204" charset="-122"/>
              <a:ea typeface="微软雅黑" panose="020B0503020204020204" charset="-122"/>
            </a:endParaRPr>
          </a:p>
        </p:txBody>
      </p:sp>
      <p:cxnSp>
        <p:nvCxnSpPr>
          <p:cNvPr id="39" name="AutoShape 44"/>
          <p:cNvCxnSpPr>
            <a:cxnSpLocks noChangeShapeType="1"/>
          </p:cNvCxnSpPr>
          <p:nvPr/>
        </p:nvCxnSpPr>
        <p:spPr bwMode="auto">
          <a:xfrm flipV="1">
            <a:off x="2819388" y="3537149"/>
            <a:ext cx="684000" cy="1"/>
          </a:xfrm>
          <a:prstGeom prst="straightConnector1">
            <a:avLst/>
          </a:prstGeom>
          <a:noFill/>
          <a:ln w="15875">
            <a:solidFill>
              <a:schemeClr val="tx1"/>
            </a:solidFill>
            <a:miter lim="800000"/>
            <a:tailEnd type="triangle" w="med" len="med"/>
          </a:ln>
        </p:spPr>
      </p:cxnSp>
      <p:cxnSp>
        <p:nvCxnSpPr>
          <p:cNvPr id="40" name="AutoShape 50"/>
          <p:cNvCxnSpPr>
            <a:cxnSpLocks noChangeShapeType="1"/>
            <a:stCxn id="22" idx="2"/>
            <a:endCxn id="24" idx="0"/>
          </p:cNvCxnSpPr>
          <p:nvPr/>
        </p:nvCxnSpPr>
        <p:spPr bwMode="auto">
          <a:xfrm rot="5400000">
            <a:off x="4860714" y="4084985"/>
            <a:ext cx="347648" cy="1588"/>
          </a:xfrm>
          <a:prstGeom prst="straightConnector1">
            <a:avLst/>
          </a:prstGeom>
          <a:noFill/>
          <a:ln w="15875">
            <a:solidFill>
              <a:schemeClr val="tx1"/>
            </a:solidFill>
            <a:round/>
            <a:tailEnd type="triangle" w="med" len="med"/>
          </a:ln>
        </p:spPr>
      </p:cxnSp>
      <p:sp>
        <p:nvSpPr>
          <p:cNvPr id="41" name="Text Box 48"/>
          <p:cNvSpPr txBox="1">
            <a:spLocks noChangeArrowheads="1"/>
          </p:cNvSpPr>
          <p:nvPr/>
        </p:nvSpPr>
        <p:spPr bwMode="auto">
          <a:xfrm>
            <a:off x="2857488" y="2204147"/>
            <a:ext cx="420257" cy="338554"/>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800" dirty="0">
                <a:solidFill>
                  <a:schemeClr val="tx1">
                    <a:lumMod val="65000"/>
                    <a:lumOff val="35000"/>
                  </a:schemeClr>
                </a:solidFill>
                <a:latin typeface="微软雅黑" panose="020B0503020204020204" charset="-122"/>
                <a:ea typeface="微软雅黑" panose="020B0503020204020204" charset="-122"/>
              </a:rPr>
              <a:t>需求</a:t>
            </a:r>
            <a:endParaRPr lang="en-US" altLang="zh-CN" sz="800" dirty="0">
              <a:solidFill>
                <a:schemeClr val="tx1">
                  <a:lumMod val="65000"/>
                  <a:lumOff val="35000"/>
                </a:schemeClr>
              </a:solidFill>
              <a:latin typeface="微软雅黑" panose="020B0503020204020204" charset="-122"/>
              <a:ea typeface="微软雅黑" panose="020B0503020204020204" charset="-122"/>
            </a:endParaRPr>
          </a:p>
          <a:p>
            <a:pPr algn="ctr">
              <a:defRPr/>
            </a:pPr>
            <a:r>
              <a:rPr lang="zh-CN" altLang="en-US" sz="800" dirty="0">
                <a:solidFill>
                  <a:schemeClr val="tx1">
                    <a:lumMod val="65000"/>
                    <a:lumOff val="35000"/>
                  </a:schemeClr>
                </a:solidFill>
                <a:latin typeface="微软雅黑" panose="020B0503020204020204" charset="-122"/>
                <a:ea typeface="微软雅黑" panose="020B0503020204020204" charset="-122"/>
              </a:rPr>
              <a:t>计划</a:t>
            </a:r>
            <a:endParaRPr lang="en-US" sz="800" dirty="0">
              <a:solidFill>
                <a:schemeClr val="tx1">
                  <a:lumMod val="65000"/>
                  <a:lumOff val="35000"/>
                </a:schemeClr>
              </a:solidFill>
              <a:latin typeface="微软雅黑" panose="020B0503020204020204" charset="-122"/>
              <a:ea typeface="微软雅黑" panose="020B0503020204020204" charset="-122"/>
            </a:endParaRPr>
          </a:p>
        </p:txBody>
      </p:sp>
      <p:sp>
        <p:nvSpPr>
          <p:cNvPr id="42" name="Text Box 38"/>
          <p:cNvSpPr txBox="1">
            <a:spLocks noChangeArrowheads="1"/>
          </p:cNvSpPr>
          <p:nvPr/>
        </p:nvSpPr>
        <p:spPr bwMode="auto">
          <a:xfrm>
            <a:off x="3751184" y="2912380"/>
            <a:ext cx="679072" cy="215444"/>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800" dirty="0">
                <a:solidFill>
                  <a:schemeClr val="tx1">
                    <a:lumMod val="65000"/>
                    <a:lumOff val="35000"/>
                  </a:schemeClr>
                </a:solidFill>
                <a:latin typeface="微软雅黑" panose="020B0503020204020204" charset="-122"/>
                <a:ea typeface="微软雅黑" panose="020B0503020204020204" charset="-122"/>
              </a:rPr>
              <a:t>平衡计划</a:t>
            </a:r>
            <a:endParaRPr lang="en-US" sz="800" dirty="0">
              <a:solidFill>
                <a:schemeClr val="tx1">
                  <a:lumMod val="65000"/>
                  <a:lumOff val="35000"/>
                </a:schemeClr>
              </a:solidFill>
              <a:latin typeface="微软雅黑" panose="020B0503020204020204" charset="-122"/>
              <a:ea typeface="微软雅黑" panose="020B0503020204020204" charset="-122"/>
            </a:endParaRPr>
          </a:p>
        </p:txBody>
      </p:sp>
      <p:sp>
        <p:nvSpPr>
          <p:cNvPr id="43" name="Text Box 29"/>
          <p:cNvSpPr txBox="1">
            <a:spLocks noChangeArrowheads="1"/>
          </p:cNvSpPr>
          <p:nvPr/>
        </p:nvSpPr>
        <p:spPr bwMode="auto">
          <a:xfrm>
            <a:off x="2887707" y="3226742"/>
            <a:ext cx="522309" cy="338554"/>
          </a:xfrm>
          <a:prstGeom prst="rect">
            <a:avLst/>
          </a:prstGeom>
          <a:noFill/>
          <a:ln w="9525">
            <a:noFill/>
            <a:miter lim="800000"/>
          </a:ln>
        </p:spPr>
        <p:txBody>
          <a:bodyPr wrap="square" lIns="0" rIns="0">
            <a:spAutoFit/>
          </a:bodyPr>
          <a:lstStyle/>
          <a:p>
            <a:r>
              <a:rPr lang="zh-CN" altLang="en-US" sz="800" dirty="0">
                <a:solidFill>
                  <a:schemeClr val="tx1">
                    <a:lumMod val="65000"/>
                    <a:lumOff val="35000"/>
                  </a:schemeClr>
                </a:solidFill>
                <a:latin typeface="微软雅黑" panose="020B0503020204020204" charset="-122"/>
                <a:ea typeface="微软雅黑" panose="020B0503020204020204" charset="-122"/>
              </a:rPr>
              <a:t>订单优先级</a:t>
            </a:r>
            <a:endParaRPr lang="en-US" altLang="zh-CN" sz="800" dirty="0">
              <a:solidFill>
                <a:schemeClr val="tx1">
                  <a:lumMod val="65000"/>
                  <a:lumOff val="35000"/>
                </a:schemeClr>
              </a:solidFill>
              <a:latin typeface="微软雅黑" panose="020B0503020204020204" charset="-122"/>
              <a:ea typeface="微软雅黑" panose="020B0503020204020204" charset="-122"/>
            </a:endParaRPr>
          </a:p>
          <a:p>
            <a:r>
              <a:rPr lang="zh-CN" altLang="en-US" sz="800" dirty="0">
                <a:solidFill>
                  <a:schemeClr val="tx1">
                    <a:lumMod val="65000"/>
                    <a:lumOff val="35000"/>
                  </a:schemeClr>
                </a:solidFill>
                <a:latin typeface="微软雅黑" panose="020B0503020204020204" charset="-122"/>
                <a:ea typeface="微软雅黑" panose="020B0503020204020204" charset="-122"/>
              </a:rPr>
              <a:t>和上线日期</a:t>
            </a:r>
            <a:endParaRPr lang="en-US" sz="800" dirty="0">
              <a:solidFill>
                <a:schemeClr val="tx1">
                  <a:lumMod val="65000"/>
                  <a:lumOff val="35000"/>
                </a:schemeClr>
              </a:solidFill>
              <a:latin typeface="微软雅黑" panose="020B0503020204020204" charset="-122"/>
              <a:ea typeface="微软雅黑" panose="020B0503020204020204" charset="-122"/>
            </a:endParaRPr>
          </a:p>
        </p:txBody>
      </p:sp>
      <p:sp>
        <p:nvSpPr>
          <p:cNvPr id="44" name="Text Box 41"/>
          <p:cNvSpPr txBox="1">
            <a:spLocks noChangeArrowheads="1"/>
          </p:cNvSpPr>
          <p:nvPr/>
        </p:nvSpPr>
        <p:spPr bwMode="auto">
          <a:xfrm>
            <a:off x="4145636" y="3263572"/>
            <a:ext cx="595035" cy="338554"/>
          </a:xfrm>
          <a:prstGeom prst="rect">
            <a:avLst/>
          </a:prstGeom>
          <a:noFill/>
          <a:ln w="9525">
            <a:noFill/>
            <a:miter lim="800000"/>
          </a:ln>
          <a:effectLst>
            <a:prstShdw prst="shdw17" dist="17961" dir="2700000">
              <a:srgbClr val="7889FB">
                <a:gamma/>
                <a:shade val="60000"/>
                <a:invGamma/>
              </a:srgbClr>
            </a:prstShdw>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交付与</a:t>
            </a:r>
            <a:br>
              <a:rPr kumimoji="0" lang="en-US" altLang="zh-CN" sz="8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8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供应计划</a:t>
            </a:r>
            <a:endParaRPr kumimoji="0" lang="en-US" sz="8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45" name="Text Box 46"/>
          <p:cNvSpPr txBox="1">
            <a:spLocks noChangeArrowheads="1"/>
          </p:cNvSpPr>
          <p:nvPr/>
        </p:nvSpPr>
        <p:spPr bwMode="auto">
          <a:xfrm>
            <a:off x="2902567" y="3684388"/>
            <a:ext cx="516375" cy="190821"/>
          </a:xfrm>
          <a:prstGeom prst="rect">
            <a:avLst/>
          </a:prstGeom>
          <a:noFill/>
          <a:ln w="9525">
            <a:noFill/>
            <a:miter lim="800000"/>
          </a:ln>
        </p:spPr>
        <p:txBody>
          <a:bodyPr lIns="36000" rIns="36000">
            <a:spAutoFit/>
          </a:bodyPr>
          <a:lstStyle/>
          <a:p>
            <a:pPr>
              <a:lnSpc>
                <a:spcPct val="80000"/>
              </a:lnSpc>
            </a:pPr>
            <a:r>
              <a:rPr lang="zh-CN" altLang="en-US" sz="800" dirty="0">
                <a:solidFill>
                  <a:schemeClr val="tx1">
                    <a:lumMod val="65000"/>
                    <a:lumOff val="35000"/>
                  </a:schemeClr>
                </a:solidFill>
                <a:latin typeface="微软雅黑" panose="020B0503020204020204" charset="-122"/>
                <a:ea typeface="微软雅黑" panose="020B0503020204020204" charset="-122"/>
              </a:rPr>
              <a:t>订单状态</a:t>
            </a:r>
            <a:endParaRPr lang="en-US" sz="800" dirty="0">
              <a:solidFill>
                <a:schemeClr val="tx1">
                  <a:lumMod val="65000"/>
                  <a:lumOff val="35000"/>
                </a:schemeClr>
              </a:solidFill>
              <a:latin typeface="微软雅黑" panose="020B0503020204020204" charset="-122"/>
              <a:ea typeface="微软雅黑" panose="020B0503020204020204" charset="-122"/>
            </a:endParaRPr>
          </a:p>
        </p:txBody>
      </p:sp>
      <p:cxnSp>
        <p:nvCxnSpPr>
          <p:cNvPr id="47" name="AutoShape 56"/>
          <p:cNvCxnSpPr>
            <a:cxnSpLocks noChangeShapeType="1"/>
            <a:stCxn id="35" idx="2"/>
            <a:endCxn id="37" idx="5"/>
          </p:cNvCxnSpPr>
          <p:nvPr/>
        </p:nvCxnSpPr>
        <p:spPr bwMode="auto">
          <a:xfrm rot="10800000">
            <a:off x="4154495" y="5363658"/>
            <a:ext cx="517295" cy="1533"/>
          </a:xfrm>
          <a:prstGeom prst="straightConnector1">
            <a:avLst/>
          </a:prstGeom>
          <a:noFill/>
          <a:ln w="9525" cap="flat" cmpd="sng" algn="ctr">
            <a:solidFill>
              <a:schemeClr val="accent1"/>
            </a:solidFill>
            <a:prstDash val="dash"/>
            <a:round/>
            <a:headEnd type="none" w="med" len="med"/>
            <a:tailEnd type="arrow"/>
          </a:ln>
          <a:effectLst/>
        </p:spPr>
      </p:cxnSp>
      <p:sp>
        <p:nvSpPr>
          <p:cNvPr id="48" name="圆角矩形 47"/>
          <p:cNvSpPr/>
          <p:nvPr/>
        </p:nvSpPr>
        <p:spPr bwMode="auto">
          <a:xfrm>
            <a:off x="3325018" y="3096003"/>
            <a:ext cx="1063633" cy="1930639"/>
          </a:xfrm>
          <a:prstGeom prst="roundRect">
            <a:avLst/>
          </a:prstGeom>
          <a:noFill/>
          <a:ln w="19050" cap="flat" cmpd="sng" algn="ctr">
            <a:solidFill>
              <a:srgbClr val="FF0000"/>
            </a:solidFill>
            <a:prstDash val="dash"/>
            <a:round/>
            <a:headEnd type="none" w="med" len="med"/>
            <a:tailEnd type="none"/>
          </a:ln>
          <a:effectLst/>
        </p:spPr>
        <p:txBody>
          <a:bodyPr rtlCol="0" anchor="ctr"/>
          <a:lstStyle/>
          <a:p>
            <a:pPr algn="ctr"/>
            <a:endParaRPr lang="zh-CN" altLang="en-US" sz="1600"/>
          </a:p>
        </p:txBody>
      </p:sp>
      <p:sp>
        <p:nvSpPr>
          <p:cNvPr id="49" name="圆角矩形 48"/>
          <p:cNvSpPr/>
          <p:nvPr/>
        </p:nvSpPr>
        <p:spPr bwMode="auto">
          <a:xfrm>
            <a:off x="3325018" y="2113482"/>
            <a:ext cx="1063633" cy="844618"/>
          </a:xfrm>
          <a:prstGeom prst="roundRect">
            <a:avLst/>
          </a:prstGeom>
          <a:noFill/>
          <a:ln w="19050" cap="flat" cmpd="sng" algn="ctr">
            <a:solidFill>
              <a:srgbClr val="FF0000"/>
            </a:solidFill>
            <a:prstDash val="dash"/>
            <a:round/>
            <a:headEnd type="none" w="med" len="med"/>
            <a:tailEnd type="none"/>
          </a:ln>
          <a:effectLst/>
        </p:spPr>
        <p:txBody>
          <a:bodyPr rtlCol="0" anchor="ctr"/>
          <a:lstStyle/>
          <a:p>
            <a:pPr algn="ctr"/>
            <a:endParaRPr lang="zh-CN" altLang="en-US" sz="1600"/>
          </a:p>
        </p:txBody>
      </p:sp>
      <p:sp>
        <p:nvSpPr>
          <p:cNvPr id="84" name="线形标注 2(带强调线) 83"/>
          <p:cNvSpPr/>
          <p:nvPr/>
        </p:nvSpPr>
        <p:spPr bwMode="auto">
          <a:xfrm>
            <a:off x="4857752" y="1857364"/>
            <a:ext cx="1500198" cy="1000132"/>
          </a:xfrm>
          <a:prstGeom prst="accentCallout2">
            <a:avLst>
              <a:gd name="adj1" fmla="val 18750"/>
              <a:gd name="adj2" fmla="val -4947"/>
              <a:gd name="adj3" fmla="val 18750"/>
              <a:gd name="adj4" fmla="val -16667"/>
              <a:gd name="adj5" fmla="val 75675"/>
              <a:gd name="adj6" fmla="val -35662"/>
            </a:avLst>
          </a:prstGeom>
          <a:noFill/>
          <a:ln w="9525" cap="flat" cmpd="sng" algn="ctr">
            <a:solidFill>
              <a:schemeClr val="tx1"/>
            </a:solidFill>
            <a:prstDash val="solid"/>
            <a:round/>
            <a:headEnd type="none" w="med" len="med"/>
            <a:tailEnd type="none"/>
          </a:ln>
          <a:effectLst/>
        </p:spPr>
        <p:txBody>
          <a:bodyPr lIns="36000" rIns="36000" rtlCol="0" anchor="ctr"/>
          <a:lstStyle/>
          <a:p>
            <a:pPr marL="173355" lvl="0" indent="-173355" eaLnBrk="0" hangingPunct="0">
              <a:lnSpc>
                <a:spcPts val="1300"/>
              </a:lnSpc>
              <a:spcBef>
                <a:spcPts val="300"/>
              </a:spcBef>
              <a:buClr>
                <a:srgbClr val="7889FB"/>
              </a:buClr>
              <a:defRPr/>
            </a:pPr>
            <a:r>
              <a:rPr lang="en-US" altLang="zh-CN" sz="1050" b="1" dirty="0">
                <a:solidFill>
                  <a:srgbClr val="000000"/>
                </a:solidFill>
                <a:latin typeface="微软雅黑" panose="020B0503020204020204" charset="-122"/>
                <a:ea typeface="微软雅黑" panose="020B0503020204020204" charset="-122"/>
              </a:rPr>
              <a:t> </a:t>
            </a:r>
            <a:r>
              <a:rPr lang="zh-CN" altLang="en-US" sz="1050" b="1" dirty="0">
                <a:solidFill>
                  <a:srgbClr val="000000"/>
                </a:solidFill>
                <a:latin typeface="微软雅黑" panose="020B0503020204020204" charset="-122"/>
                <a:ea typeface="微软雅黑" panose="020B0503020204020204" charset="-122"/>
              </a:rPr>
              <a:t>产销平衡会议机制</a:t>
            </a:r>
            <a:endParaRPr lang="en-US" altLang="zh-CN" sz="1050" b="1" kern="0" dirty="0">
              <a:solidFill>
                <a:sysClr val="windowText" lastClr="000000"/>
              </a:solidFill>
              <a:latin typeface="微软雅黑" panose="020B0503020204020204" charset="-122"/>
              <a:ea typeface="微软雅黑" panose="020B0503020204020204" charset="-122"/>
            </a:endParaRPr>
          </a:p>
          <a:p>
            <a:pPr marL="85725" lvl="1" indent="-79375" eaLnBrk="0" hangingPunct="0">
              <a:spcBef>
                <a:spcPct val="20000"/>
              </a:spcBef>
              <a:buClr>
                <a:schemeClr val="accent1"/>
              </a:buClr>
              <a:buSzPct val="100000"/>
              <a:buFont typeface="微软雅黑" panose="020B0503020204020204" charset="-122"/>
              <a:buChar char="−"/>
              <a:defRPr/>
            </a:pPr>
            <a:r>
              <a:rPr lang="zh-CN" altLang="en-US" sz="800" dirty="0">
                <a:latin typeface="微软雅黑" panose="020B0503020204020204" charset="-122"/>
                <a:ea typeface="微软雅黑" panose="020B0503020204020204" charset="-122"/>
              </a:rPr>
              <a:t>会议召开频率及时间</a:t>
            </a:r>
            <a:endParaRPr lang="en-US" altLang="zh-CN" sz="800" dirty="0">
              <a:latin typeface="微软雅黑" panose="020B0503020204020204" charset="-122"/>
              <a:ea typeface="微软雅黑" panose="020B0503020204020204" charset="-122"/>
            </a:endParaRPr>
          </a:p>
          <a:p>
            <a:pPr marL="85725" lvl="1" indent="-79375" eaLnBrk="0" hangingPunct="0">
              <a:spcBef>
                <a:spcPct val="20000"/>
              </a:spcBef>
              <a:buClr>
                <a:schemeClr val="accent1"/>
              </a:buClr>
              <a:buSzPct val="100000"/>
              <a:buFont typeface="微软雅黑" panose="020B0503020204020204" charset="-122"/>
              <a:buChar char="−"/>
              <a:defRPr/>
            </a:pPr>
            <a:r>
              <a:rPr lang="zh-CN" altLang="en-US" sz="800" dirty="0">
                <a:latin typeface="微软雅黑" panose="020B0503020204020204" charset="-122"/>
                <a:ea typeface="微软雅黑" panose="020B0503020204020204" charset="-122"/>
              </a:rPr>
              <a:t>会议参与部门、职责</a:t>
            </a:r>
            <a:endParaRPr lang="en-US" altLang="zh-CN" sz="800" dirty="0">
              <a:latin typeface="微软雅黑" panose="020B0503020204020204" charset="-122"/>
              <a:ea typeface="微软雅黑" panose="020B0503020204020204" charset="-122"/>
            </a:endParaRPr>
          </a:p>
          <a:p>
            <a:pPr marL="85725" lvl="1" indent="-79375" eaLnBrk="0" hangingPunct="0">
              <a:spcBef>
                <a:spcPct val="20000"/>
              </a:spcBef>
              <a:buClr>
                <a:schemeClr val="accent1"/>
              </a:buClr>
              <a:buSzPct val="100000"/>
              <a:buFont typeface="微软雅黑" panose="020B0503020204020204" charset="-122"/>
              <a:buChar char="−"/>
              <a:defRPr/>
            </a:pPr>
            <a:r>
              <a:rPr lang="zh-CN" altLang="en-US" sz="800" dirty="0">
                <a:latin typeface="微软雅黑" panose="020B0503020204020204" charset="-122"/>
                <a:ea typeface="微软雅黑" panose="020B0503020204020204" charset="-122"/>
              </a:rPr>
              <a:t>会议议程及会议管理制度</a:t>
            </a:r>
            <a:endParaRPr lang="en-US" altLang="zh-CN" sz="800" dirty="0">
              <a:latin typeface="微软雅黑" panose="020B0503020204020204" charset="-122"/>
              <a:ea typeface="微软雅黑" panose="020B0503020204020204" charset="-122"/>
            </a:endParaRPr>
          </a:p>
          <a:p>
            <a:pPr marL="85725" lvl="1" indent="-79375" eaLnBrk="0" hangingPunct="0">
              <a:spcBef>
                <a:spcPct val="20000"/>
              </a:spcBef>
              <a:buClr>
                <a:schemeClr val="accent1"/>
              </a:buClr>
              <a:buSzPct val="100000"/>
              <a:buFont typeface="微软雅黑" panose="020B0503020204020204" charset="-122"/>
              <a:buChar char="−"/>
              <a:defRPr/>
            </a:pPr>
            <a:r>
              <a:rPr lang="zh-CN" altLang="en-US" sz="800" dirty="0">
                <a:latin typeface="微软雅黑" panose="020B0503020204020204" charset="-122"/>
                <a:ea typeface="微软雅黑" panose="020B0503020204020204" charset="-122"/>
              </a:rPr>
              <a:t>会议的输入要求</a:t>
            </a:r>
            <a:endParaRPr lang="en-US" altLang="zh-CN" sz="800" dirty="0">
              <a:latin typeface="微软雅黑" panose="020B0503020204020204" charset="-122"/>
              <a:ea typeface="微软雅黑" panose="020B0503020204020204" charset="-122"/>
            </a:endParaRPr>
          </a:p>
          <a:p>
            <a:pPr marL="85725" lvl="1" indent="-79375" eaLnBrk="0" hangingPunct="0">
              <a:spcBef>
                <a:spcPct val="20000"/>
              </a:spcBef>
              <a:buClr>
                <a:schemeClr val="accent1"/>
              </a:buClr>
              <a:buSzPct val="100000"/>
              <a:buFont typeface="微软雅黑" panose="020B0503020204020204" charset="-122"/>
              <a:buChar char="−"/>
              <a:defRPr/>
            </a:pPr>
            <a:r>
              <a:rPr lang="zh-CN" altLang="en-US" sz="800" dirty="0">
                <a:latin typeface="微软雅黑" panose="020B0503020204020204" charset="-122"/>
                <a:ea typeface="微软雅黑" panose="020B0503020204020204" charset="-122"/>
              </a:rPr>
              <a:t>产销平衡的输出行动计划跟进</a:t>
            </a:r>
            <a:endParaRPr lang="en-US" altLang="zh-CN" sz="800" dirty="0">
              <a:latin typeface="微软雅黑" panose="020B0503020204020204" charset="-122"/>
              <a:ea typeface="微软雅黑" panose="020B0503020204020204" charset="-122"/>
            </a:endParaRPr>
          </a:p>
        </p:txBody>
      </p:sp>
      <p:sp>
        <p:nvSpPr>
          <p:cNvPr id="85" name="线形标注 2(带强调线) 84"/>
          <p:cNvSpPr/>
          <p:nvPr/>
        </p:nvSpPr>
        <p:spPr bwMode="auto">
          <a:xfrm>
            <a:off x="2000232" y="4714884"/>
            <a:ext cx="1143008" cy="714380"/>
          </a:xfrm>
          <a:prstGeom prst="accentCallout2">
            <a:avLst>
              <a:gd name="adj1" fmla="val 13417"/>
              <a:gd name="adj2" fmla="val 103810"/>
              <a:gd name="adj3" fmla="val 13417"/>
              <a:gd name="adj4" fmla="val 113790"/>
              <a:gd name="adj5" fmla="val -25658"/>
              <a:gd name="adj6" fmla="val 119893"/>
            </a:avLst>
          </a:prstGeom>
          <a:noFill/>
          <a:ln w="9525" cap="flat" cmpd="sng" algn="ctr">
            <a:solidFill>
              <a:schemeClr val="tx1"/>
            </a:solidFill>
            <a:prstDash val="solid"/>
            <a:round/>
            <a:headEnd type="none" w="med" len="med"/>
            <a:tailEnd type="none"/>
          </a:ln>
          <a:effectLst/>
        </p:spPr>
        <p:txBody>
          <a:bodyPr lIns="36000" rIns="0" rtlCol="0" anchor="ctr"/>
          <a:lstStyle/>
          <a:p>
            <a:pPr marL="173355" lvl="0" indent="-173355" eaLnBrk="0" hangingPunct="0">
              <a:lnSpc>
                <a:spcPts val="1300"/>
              </a:lnSpc>
              <a:spcBef>
                <a:spcPts val="300"/>
              </a:spcBef>
              <a:buClr>
                <a:srgbClr val="7889FB"/>
              </a:buClr>
              <a:defRPr/>
            </a:pPr>
            <a:r>
              <a:rPr lang="zh-CN" altLang="en-US" sz="1050" b="1" dirty="0">
                <a:solidFill>
                  <a:srgbClr val="000000"/>
                </a:solidFill>
                <a:latin typeface="微软雅黑" panose="020B0503020204020204" charset="-122"/>
                <a:ea typeface="微软雅黑" panose="020B0503020204020204" charset="-122"/>
              </a:rPr>
              <a:t>生产计划管理</a:t>
            </a:r>
            <a:endParaRPr lang="en-US" altLang="zh-CN" sz="1050" b="1" kern="0" dirty="0">
              <a:solidFill>
                <a:sysClr val="windowText" lastClr="000000"/>
              </a:solidFill>
              <a:latin typeface="微软雅黑" panose="020B0503020204020204" charset="-122"/>
              <a:ea typeface="微软雅黑" panose="020B0503020204020204" charset="-122"/>
            </a:endParaRPr>
          </a:p>
          <a:p>
            <a:pPr marL="85725" lvl="1" indent="-85725" eaLnBrk="0" hangingPunct="0">
              <a:spcBef>
                <a:spcPct val="20000"/>
              </a:spcBef>
              <a:buClr>
                <a:schemeClr val="accent1"/>
              </a:buClr>
              <a:buSzPct val="100000"/>
              <a:buFont typeface="微软雅黑" panose="020B0503020204020204" charset="-122"/>
              <a:buChar char="−"/>
              <a:defRPr/>
            </a:pPr>
            <a:r>
              <a:rPr lang="zh-CN" altLang="en-US" sz="800" dirty="0">
                <a:latin typeface="微软雅黑" panose="020B0503020204020204" charset="-122"/>
                <a:ea typeface="微软雅黑" panose="020B0503020204020204" charset="-122"/>
              </a:rPr>
              <a:t>结合计划体系，完善生产计划到工作中心日程计划的管理方式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D. </a:t>
            </a:r>
            <a:r>
              <a:rPr lang="zh-CN" altLang="en-US" dirty="0"/>
              <a:t>生产执行与物流解决方案：简单透明，提高执行效率</a:t>
            </a:r>
          </a:p>
        </p:txBody>
      </p:sp>
      <p:sp>
        <p:nvSpPr>
          <p:cNvPr id="88" name="矩形 87"/>
          <p:cNvSpPr/>
          <p:nvPr/>
        </p:nvSpPr>
        <p:spPr bwMode="auto">
          <a:xfrm>
            <a:off x="311120" y="1211247"/>
            <a:ext cx="1512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自动化集成化低</a:t>
            </a:r>
          </a:p>
        </p:txBody>
      </p:sp>
      <p:sp>
        <p:nvSpPr>
          <p:cNvPr id="123" name="右箭头 122"/>
          <p:cNvSpPr/>
          <p:nvPr/>
        </p:nvSpPr>
        <p:spPr bwMode="auto">
          <a:xfrm>
            <a:off x="1915592" y="1157498"/>
            <a:ext cx="4668814" cy="457189"/>
          </a:xfrm>
          <a:prstGeom prst="rightArrow">
            <a:avLst>
              <a:gd name="adj1" fmla="val 77779"/>
              <a:gd name="adj2" fmla="val 50000"/>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schemeClr val="tx1"/>
              </a:buClr>
            </a:pPr>
            <a:r>
              <a:rPr lang="zh-CN" altLang="en-US" sz="1400" b="1" dirty="0">
                <a:solidFill>
                  <a:schemeClr val="bg1">
                    <a:lumMod val="50000"/>
                  </a:schemeClr>
                </a:solidFill>
                <a:latin typeface="微软雅黑" panose="020B0503020204020204" charset="-122"/>
                <a:ea typeface="微软雅黑" panose="020B0503020204020204" charset="-122"/>
              </a:rPr>
              <a:t>顶层设计</a:t>
            </a:r>
          </a:p>
        </p:txBody>
      </p:sp>
      <p:sp>
        <p:nvSpPr>
          <p:cNvPr id="124" name="矩形 123"/>
          <p:cNvSpPr/>
          <p:nvPr/>
        </p:nvSpPr>
        <p:spPr bwMode="auto">
          <a:xfrm>
            <a:off x="6698280" y="1211247"/>
            <a:ext cx="2160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schemeClr val="bg1"/>
                </a:solidFill>
                <a:latin typeface="微软雅黑" panose="020B0503020204020204" charset="-122"/>
                <a:ea typeface="微软雅黑" panose="020B0503020204020204" charset="-122"/>
              </a:rPr>
              <a:t>提高操作执行效率</a:t>
            </a:r>
          </a:p>
        </p:txBody>
      </p:sp>
      <p:sp>
        <p:nvSpPr>
          <p:cNvPr id="125" name="矩形 124"/>
          <p:cNvSpPr/>
          <p:nvPr/>
        </p:nvSpPr>
        <p:spPr bwMode="auto">
          <a:xfrm>
            <a:off x="311120" y="1643050"/>
            <a:ext cx="1512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多品种，小批量，多工序生产，需要准时协同</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工程变更多，切换不精准，不及时</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车间报工</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领料</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移库</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结算等操作复杂，效率低</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en-US" altLang="zh-CN" sz="1200" dirty="0">
                <a:latin typeface="微软雅黑" panose="020B0503020204020204" charset="-122"/>
                <a:ea typeface="微软雅黑" panose="020B0503020204020204" charset="-122"/>
              </a:rPr>
              <a:t>MES</a:t>
            </a:r>
            <a:r>
              <a:rPr lang="zh-CN" altLang="en-US" sz="1200" dirty="0">
                <a:latin typeface="微软雅黑" panose="020B0503020204020204" charset="-122"/>
                <a:ea typeface="微软雅黑" panose="020B0503020204020204" charset="-122"/>
              </a:rPr>
              <a:t>多系统，自动与集成化程度低，不支持手机等便捷终端方式</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endParaRPr lang="zh-CN" altLang="en-US" sz="1200" dirty="0">
              <a:latin typeface="微软雅黑" panose="020B0503020204020204" charset="-122"/>
              <a:ea typeface="微软雅黑" panose="020B0503020204020204" charset="-122"/>
            </a:endParaRPr>
          </a:p>
        </p:txBody>
      </p:sp>
      <p:sp>
        <p:nvSpPr>
          <p:cNvPr id="127" name="矩形 126"/>
          <p:cNvSpPr/>
          <p:nvPr/>
        </p:nvSpPr>
        <p:spPr bwMode="auto">
          <a:xfrm>
            <a:off x="6698280" y="1643050"/>
            <a:ext cx="2160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准时生产与配送</a:t>
            </a:r>
            <a:r>
              <a:rPr lang="zh-CN" altLang="en-US" sz="1200" dirty="0">
                <a:latin typeface="微软雅黑" panose="020B0503020204020204" charset="-122"/>
                <a:ea typeface="微软雅黑" panose="020B0503020204020204" charset="-122"/>
              </a:rPr>
              <a:t>，备料</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结构件拉动生产分析，计划</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循环</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手工看板场景分析</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变更执行</a:t>
            </a:r>
            <a:r>
              <a:rPr lang="zh-CN" altLang="en-US" sz="1200" dirty="0">
                <a:latin typeface="微软雅黑" panose="020B0503020204020204" charset="-122"/>
                <a:ea typeface="微软雅黑" panose="020B0503020204020204" charset="-122"/>
              </a:rPr>
              <a:t>，日期</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主机号变更方式分析，变更信息传递与发布方式</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车间报工，</a:t>
            </a:r>
            <a:r>
              <a:rPr lang="zh-CN" altLang="en-US" sz="1200" dirty="0">
                <a:latin typeface="微软雅黑" panose="020B0503020204020204" charset="-122"/>
                <a:ea typeface="微软雅黑" panose="020B0503020204020204" charset="-122"/>
              </a:rPr>
              <a:t>报工点设置分析，批量</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手机等简化报工方案确认</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业务便捷操作，</a:t>
            </a:r>
            <a:r>
              <a:rPr lang="zh-CN" altLang="en-US" sz="1200" dirty="0">
                <a:latin typeface="微软雅黑" panose="020B0503020204020204" charset="-122"/>
                <a:ea typeface="微软雅黑" panose="020B0503020204020204" charset="-122"/>
              </a:rPr>
              <a:t>仓储领投料，下线结算事务性操作简化，岗位简化分析</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latin typeface="微软雅黑" panose="020B0503020204020204" charset="-122"/>
                <a:ea typeface="微软雅黑" panose="020B0503020204020204" charset="-122"/>
              </a:rPr>
              <a:t>成本效率</a:t>
            </a:r>
            <a:r>
              <a:rPr lang="zh-CN" altLang="en-US" sz="1200" dirty="0">
                <a:latin typeface="微软雅黑" panose="020B0503020204020204" charset="-122"/>
                <a:ea typeface="微软雅黑" panose="020B0503020204020204" charset="-122"/>
              </a:rPr>
              <a:t>，人员设备的标准时间设置方式，效率分析方法</a:t>
            </a: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endParaRPr lang="en-US" altLang="zh-CN" sz="1200" dirty="0">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endParaRPr lang="en-US" altLang="zh-CN" sz="1200" b="1" dirty="0">
              <a:latin typeface="微软雅黑" panose="020B0503020204020204" charset="-122"/>
              <a:ea typeface="微软雅黑" panose="020B0503020204020204" charset="-122"/>
            </a:endParaRPr>
          </a:p>
        </p:txBody>
      </p:sp>
      <p:sp>
        <p:nvSpPr>
          <p:cNvPr id="175" name="矩形 174"/>
          <p:cNvSpPr/>
          <p:nvPr/>
        </p:nvSpPr>
        <p:spPr bwMode="auto">
          <a:xfrm>
            <a:off x="311120" y="5888834"/>
            <a:ext cx="8547160" cy="612000"/>
          </a:xfrm>
          <a:prstGeom prst="rect">
            <a:avLst/>
          </a:prstGeom>
          <a:noFill/>
          <a:ln w="19050" cap="flat" cmpd="sng" algn="ctr">
            <a:solidFill>
              <a:schemeClr val="accent1">
                <a:lumMod val="60000"/>
                <a:lumOff val="40000"/>
              </a:schemeClr>
            </a:solidFill>
            <a:prstDash val="solid"/>
            <a:round/>
            <a:headEnd type="none" w="med" len="med"/>
            <a:tailEnd type="none"/>
          </a:ln>
          <a:effectLst/>
        </p:spPr>
        <p:txBody>
          <a:bodyPr lIns="900000" tIns="46800" rtlCol="0" anchor="ctr"/>
          <a:lstStyle/>
          <a:p>
            <a:pPr marL="180975" indent="-180975">
              <a:lnSpc>
                <a:spcPct val="110000"/>
              </a:lnSpc>
              <a:spcBef>
                <a:spcPts val="600"/>
              </a:spcBef>
            </a:pPr>
            <a:r>
              <a:rPr lang="zh-CN" altLang="en-US" sz="1400" dirty="0">
                <a:latin typeface="微软雅黑" panose="020B0503020204020204" charset="-122"/>
                <a:ea typeface="微软雅黑" panose="020B0503020204020204" charset="-122"/>
              </a:rPr>
              <a:t>通过简易的自动化处理，准时的生产物流配送，</a:t>
            </a:r>
            <a:r>
              <a:rPr lang="zh-CN" altLang="en-US" sz="1600" b="1" dirty="0">
                <a:latin typeface="微软雅黑" panose="020B0503020204020204" charset="-122"/>
                <a:ea typeface="微软雅黑" panose="020B0503020204020204" charset="-122"/>
              </a:rPr>
              <a:t>提高制造物流执行效率</a:t>
            </a:r>
            <a:endParaRPr lang="en-US" altLang="zh-CN" b="1" dirty="0">
              <a:latin typeface="微软雅黑" panose="020B0503020204020204" charset="-122"/>
              <a:ea typeface="微软雅黑" panose="020B0503020204020204" charset="-122"/>
            </a:endParaRPr>
          </a:p>
        </p:txBody>
      </p:sp>
      <p:sp>
        <p:nvSpPr>
          <p:cNvPr id="177" name="矩形 176"/>
          <p:cNvSpPr/>
          <p:nvPr/>
        </p:nvSpPr>
        <p:spPr bwMode="auto">
          <a:xfrm>
            <a:off x="311120" y="5888834"/>
            <a:ext cx="725523" cy="612000"/>
          </a:xfrm>
          <a:prstGeom prst="rect">
            <a:avLst/>
          </a:prstGeom>
          <a:solidFill>
            <a:srgbClr val="CCCCFF"/>
          </a:solidFill>
          <a:ln w="19050" cap="flat" cmpd="sng" algn="ctr">
            <a:solidFill>
              <a:schemeClr val="accent1">
                <a:lumMod val="60000"/>
                <a:lumOff val="40000"/>
              </a:schemeClr>
            </a:solidFill>
            <a:prstDash val="solid"/>
            <a:round/>
            <a:headEnd type="none" w="med" len="med"/>
            <a:tailEnd type="none"/>
          </a:ln>
          <a:effectLst/>
        </p:spPr>
        <p:txBody>
          <a:bodyPr rtlCol="0" anchor="ctr"/>
          <a:lstStyle/>
          <a:p>
            <a:pPr algn="ctr">
              <a:lnSpc>
                <a:spcPct val="110000"/>
              </a:lnSpc>
              <a:spcBef>
                <a:spcPts val="600"/>
              </a:spcBef>
            </a:pPr>
            <a:r>
              <a:rPr lang="zh-CN" altLang="en-US" sz="1400" b="1" dirty="0">
                <a:latin typeface="微软雅黑" panose="020B0503020204020204" charset="-122"/>
                <a:ea typeface="微软雅黑" panose="020B0503020204020204" charset="-122"/>
              </a:rPr>
              <a:t>主要</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收益</a:t>
            </a:r>
            <a:endParaRPr lang="en-US" altLang="zh-CN" sz="1400" b="1" dirty="0">
              <a:latin typeface="微软雅黑" panose="020B0503020204020204" charset="-122"/>
              <a:ea typeface="微软雅黑" panose="020B0503020204020204" charset="-122"/>
            </a:endParaRPr>
          </a:p>
        </p:txBody>
      </p:sp>
      <p:sp>
        <p:nvSpPr>
          <p:cNvPr id="40" name="Rectangle 7"/>
          <p:cNvSpPr>
            <a:spLocks noChangeArrowheads="1"/>
          </p:cNvSpPr>
          <p:nvPr/>
        </p:nvSpPr>
        <p:spPr bwMode="auto">
          <a:xfrm>
            <a:off x="2071670" y="3405995"/>
            <a:ext cx="3643338" cy="1045070"/>
          </a:xfrm>
          <a:prstGeom prst="rect">
            <a:avLst/>
          </a:prstGeom>
          <a:solidFill>
            <a:schemeClr val="tx2">
              <a:lumMod val="40000"/>
              <a:lumOff val="60000"/>
              <a:alpha val="89000"/>
            </a:schemeClr>
          </a:solidFill>
          <a:ln w="9525" algn="ctr">
            <a:noFill/>
            <a:miter lim="800000"/>
          </a:ln>
        </p:spPr>
        <p:txBody>
          <a:bodyPr vert="eaVert" wrap="none" lIns="18000" rIns="18000" anchor="b"/>
          <a:lstStyle/>
          <a:p>
            <a:pPr algn="ctr">
              <a:defRPr/>
            </a:pPr>
            <a:r>
              <a:rPr lang="zh-CN" altLang="en-US" sz="1400" b="1" dirty="0">
                <a:solidFill>
                  <a:schemeClr val="bg1"/>
                </a:solidFill>
                <a:latin typeface="微软雅黑" panose="020B0503020204020204" charset="-122"/>
                <a:ea typeface="微软雅黑" panose="020B0503020204020204" charset="-122"/>
              </a:rPr>
              <a:t>生产制造</a:t>
            </a:r>
            <a:endParaRPr lang="zh-CN" altLang="zh-CN" sz="1400" b="1" dirty="0">
              <a:solidFill>
                <a:schemeClr val="bg1"/>
              </a:solidFill>
              <a:latin typeface="微软雅黑" panose="020B0503020204020204" charset="-122"/>
              <a:ea typeface="微软雅黑" panose="020B0503020204020204" charset="-122"/>
            </a:endParaRPr>
          </a:p>
        </p:txBody>
      </p:sp>
      <p:sp>
        <p:nvSpPr>
          <p:cNvPr id="41" name="Rectangle 7"/>
          <p:cNvSpPr>
            <a:spLocks noChangeArrowheads="1"/>
          </p:cNvSpPr>
          <p:nvPr/>
        </p:nvSpPr>
        <p:spPr bwMode="auto">
          <a:xfrm>
            <a:off x="2071670" y="2524522"/>
            <a:ext cx="3643338" cy="793220"/>
          </a:xfrm>
          <a:prstGeom prst="rect">
            <a:avLst/>
          </a:prstGeom>
          <a:solidFill>
            <a:schemeClr val="tx2">
              <a:lumMod val="40000"/>
              <a:lumOff val="60000"/>
              <a:alpha val="89000"/>
            </a:schemeClr>
          </a:solidFill>
          <a:ln w="9525" algn="ctr">
            <a:noFill/>
            <a:miter lim="800000"/>
          </a:ln>
        </p:spPr>
        <p:txBody>
          <a:bodyPr vert="eaVert" wrap="none" lIns="18000" rIns="18000" anchor="b"/>
          <a:lstStyle/>
          <a:p>
            <a:pPr algn="ctr">
              <a:defRPr/>
            </a:pPr>
            <a:r>
              <a:rPr lang="zh-CN" altLang="en-US" sz="1400" b="1" dirty="0">
                <a:solidFill>
                  <a:schemeClr val="bg1"/>
                </a:solidFill>
                <a:latin typeface="微软雅黑" panose="020B0503020204020204" charset="-122"/>
                <a:ea typeface="微软雅黑" panose="020B0503020204020204" charset="-122"/>
              </a:rPr>
              <a:t>现场物流</a:t>
            </a:r>
            <a:endParaRPr lang="zh-CN" altLang="zh-CN" sz="1400" b="1" dirty="0">
              <a:solidFill>
                <a:schemeClr val="bg1"/>
              </a:solidFill>
              <a:latin typeface="微软雅黑" panose="020B0503020204020204" charset="-122"/>
              <a:ea typeface="微软雅黑" panose="020B0503020204020204" charset="-122"/>
            </a:endParaRPr>
          </a:p>
        </p:txBody>
      </p:sp>
      <p:sp>
        <p:nvSpPr>
          <p:cNvPr id="42" name="Rectangle 7"/>
          <p:cNvSpPr>
            <a:spLocks noChangeArrowheads="1"/>
          </p:cNvSpPr>
          <p:nvPr/>
        </p:nvSpPr>
        <p:spPr bwMode="auto">
          <a:xfrm>
            <a:off x="2071670" y="1643050"/>
            <a:ext cx="3643338" cy="793220"/>
          </a:xfrm>
          <a:prstGeom prst="rect">
            <a:avLst/>
          </a:prstGeom>
          <a:solidFill>
            <a:schemeClr val="tx2">
              <a:lumMod val="40000"/>
              <a:lumOff val="60000"/>
              <a:alpha val="89000"/>
            </a:schemeClr>
          </a:solidFill>
          <a:ln w="9525" algn="ctr">
            <a:noFill/>
            <a:miter lim="800000"/>
          </a:ln>
        </p:spPr>
        <p:txBody>
          <a:bodyPr vert="eaVert" wrap="none" lIns="18000" rIns="18000" anchor="b"/>
          <a:lstStyle/>
          <a:p>
            <a:pPr algn="ctr">
              <a:defRPr/>
            </a:pPr>
            <a:r>
              <a:rPr lang="zh-CN" altLang="en-US" sz="1400" b="1" dirty="0">
                <a:solidFill>
                  <a:schemeClr val="bg1"/>
                </a:solidFill>
                <a:latin typeface="微软雅黑" panose="020B0503020204020204" charset="-122"/>
                <a:ea typeface="微软雅黑" panose="020B0503020204020204" charset="-122"/>
              </a:rPr>
              <a:t>仓储管理</a:t>
            </a:r>
            <a:endParaRPr lang="zh-CN" altLang="zh-CN" sz="1400" b="1" dirty="0">
              <a:solidFill>
                <a:schemeClr val="bg1"/>
              </a:solidFill>
              <a:latin typeface="微软雅黑" panose="020B0503020204020204" charset="-122"/>
              <a:ea typeface="微软雅黑" panose="020B0503020204020204" charset="-122"/>
            </a:endParaRPr>
          </a:p>
        </p:txBody>
      </p:sp>
      <p:sp>
        <p:nvSpPr>
          <p:cNvPr id="43" name="Rectangle 7"/>
          <p:cNvSpPr>
            <a:spLocks noChangeArrowheads="1"/>
          </p:cNvSpPr>
          <p:nvPr/>
        </p:nvSpPr>
        <p:spPr bwMode="auto">
          <a:xfrm>
            <a:off x="2071670" y="4539316"/>
            <a:ext cx="3643338" cy="805908"/>
          </a:xfrm>
          <a:prstGeom prst="rect">
            <a:avLst/>
          </a:prstGeom>
          <a:solidFill>
            <a:schemeClr val="tx2">
              <a:lumMod val="40000"/>
              <a:lumOff val="60000"/>
              <a:alpha val="89000"/>
            </a:schemeClr>
          </a:solidFill>
          <a:ln w="9525" algn="ctr">
            <a:noFill/>
            <a:miter lim="800000"/>
          </a:ln>
        </p:spPr>
        <p:txBody>
          <a:bodyPr vert="eaVert" wrap="none" lIns="18000" rIns="18000" anchor="b"/>
          <a:lstStyle/>
          <a:p>
            <a:pPr algn="ctr">
              <a:defRPr/>
            </a:pPr>
            <a:r>
              <a:rPr lang="zh-CN" altLang="en-US" sz="1400" b="1" dirty="0">
                <a:solidFill>
                  <a:schemeClr val="bg1"/>
                </a:solidFill>
                <a:latin typeface="微软雅黑" panose="020B0503020204020204" charset="-122"/>
                <a:ea typeface="微软雅黑" panose="020B0503020204020204" charset="-122"/>
              </a:rPr>
              <a:t>产品入库</a:t>
            </a:r>
            <a:endParaRPr lang="zh-CN" altLang="zh-CN" sz="1400" b="1" dirty="0">
              <a:solidFill>
                <a:schemeClr val="bg1"/>
              </a:solidFill>
              <a:latin typeface="微软雅黑" panose="020B0503020204020204" charset="-122"/>
              <a:ea typeface="微软雅黑" panose="020B0503020204020204" charset="-122"/>
            </a:endParaRPr>
          </a:p>
        </p:txBody>
      </p:sp>
      <p:sp>
        <p:nvSpPr>
          <p:cNvPr id="44" name="AutoShape 8"/>
          <p:cNvSpPr>
            <a:spLocks noChangeArrowheads="1"/>
          </p:cNvSpPr>
          <p:nvPr/>
        </p:nvSpPr>
        <p:spPr bwMode="auto">
          <a:xfrm>
            <a:off x="2560630" y="3785167"/>
            <a:ext cx="368296" cy="314812"/>
          </a:xfrm>
          <a:prstGeom prst="homePlate">
            <a:avLst>
              <a:gd name="adj" fmla="val 7498"/>
            </a:avLst>
          </a:prstGeom>
          <a:solidFill>
            <a:schemeClr val="bg1"/>
          </a:solidFill>
          <a:ln w="12700">
            <a:solidFill>
              <a:schemeClr val="bg1"/>
            </a:solidFill>
            <a:miter lim="800000"/>
          </a:ln>
        </p:spPr>
        <p:txBody>
          <a:bodyPr rtlCol="0" anchor="ctr">
            <a:noAutofit/>
          </a:bodyPr>
          <a:lstStyle/>
          <a:p>
            <a:pPr algn="ctr">
              <a:buClr>
                <a:schemeClr val="tx1"/>
              </a:buClr>
              <a:defRPr/>
            </a:pPr>
            <a:r>
              <a:rPr lang="zh-CN" altLang="en-US" sz="1200" dirty="0">
                <a:latin typeface="微软雅黑" panose="020B0503020204020204" charset="-122"/>
                <a:ea typeface="微软雅黑" panose="020B0503020204020204" charset="-122"/>
              </a:rPr>
              <a:t>备料</a:t>
            </a:r>
          </a:p>
        </p:txBody>
      </p:sp>
      <p:sp>
        <p:nvSpPr>
          <p:cNvPr id="45" name="AutoShape 10"/>
          <p:cNvSpPr>
            <a:spLocks noChangeArrowheads="1"/>
          </p:cNvSpPr>
          <p:nvPr/>
        </p:nvSpPr>
        <p:spPr bwMode="auto">
          <a:xfrm>
            <a:off x="3571868" y="3785167"/>
            <a:ext cx="368296" cy="314812"/>
          </a:xfrm>
          <a:prstGeom prst="chevron">
            <a:avLst>
              <a:gd name="adj" fmla="val 6728"/>
            </a:avLst>
          </a:prstGeom>
          <a:solidFill>
            <a:schemeClr val="bg1"/>
          </a:solidFill>
          <a:ln w="12700">
            <a:solidFill>
              <a:schemeClr val="bg1"/>
            </a:solidFill>
            <a:miter lim="800000"/>
          </a:ln>
        </p:spPr>
        <p:txBody>
          <a:bodyPr rtlCol="0" anchor="ctr">
            <a:noAutofit/>
          </a:bodyPr>
          <a:lstStyle/>
          <a:p>
            <a:pPr algn="ctr">
              <a:buClr>
                <a:schemeClr val="tx1"/>
              </a:buClr>
              <a:defRPr/>
            </a:pPr>
            <a:r>
              <a:rPr lang="zh-CN" altLang="en-US" sz="1200" dirty="0">
                <a:latin typeface="微软雅黑" panose="020B0503020204020204" charset="-122"/>
                <a:ea typeface="微软雅黑" panose="020B0503020204020204" charset="-122"/>
              </a:rPr>
              <a:t>组装</a:t>
            </a:r>
          </a:p>
        </p:txBody>
      </p:sp>
      <p:sp>
        <p:nvSpPr>
          <p:cNvPr id="46" name="AutoShape 11"/>
          <p:cNvSpPr>
            <a:spLocks noChangeArrowheads="1"/>
          </p:cNvSpPr>
          <p:nvPr/>
        </p:nvSpPr>
        <p:spPr bwMode="auto">
          <a:xfrm>
            <a:off x="4071934" y="3785167"/>
            <a:ext cx="368296" cy="314812"/>
          </a:xfrm>
          <a:prstGeom prst="chevron">
            <a:avLst>
              <a:gd name="adj" fmla="val 6728"/>
            </a:avLst>
          </a:prstGeom>
          <a:solidFill>
            <a:schemeClr val="bg1"/>
          </a:solidFill>
          <a:ln w="12700">
            <a:solidFill>
              <a:schemeClr val="bg1"/>
            </a:solidFill>
            <a:miter lim="800000"/>
          </a:ln>
        </p:spPr>
        <p:txBody>
          <a:bodyPr rtlCol="0" anchor="ctr">
            <a:noAutofit/>
          </a:bodyPr>
          <a:lstStyle/>
          <a:p>
            <a:pPr algn="ctr">
              <a:buClr>
                <a:schemeClr val="tx1"/>
              </a:buClr>
              <a:defRPr/>
            </a:pPr>
            <a:r>
              <a:rPr lang="zh-CN" altLang="en-US" sz="1200" dirty="0">
                <a:latin typeface="微软雅黑" panose="020B0503020204020204" charset="-122"/>
                <a:ea typeface="微软雅黑" panose="020B0503020204020204" charset="-122"/>
              </a:rPr>
              <a:t>调试</a:t>
            </a:r>
          </a:p>
        </p:txBody>
      </p:sp>
      <p:sp>
        <p:nvSpPr>
          <p:cNvPr id="47" name="AutoShape 28"/>
          <p:cNvSpPr>
            <a:spLocks noChangeArrowheads="1"/>
          </p:cNvSpPr>
          <p:nvPr/>
        </p:nvSpPr>
        <p:spPr bwMode="auto">
          <a:xfrm>
            <a:off x="3065466" y="3783769"/>
            <a:ext cx="368296" cy="314812"/>
          </a:xfrm>
          <a:prstGeom prst="chevron">
            <a:avLst>
              <a:gd name="adj" fmla="val 6728"/>
            </a:avLst>
          </a:prstGeom>
          <a:solidFill>
            <a:schemeClr val="bg1"/>
          </a:solidFill>
          <a:ln w="12700">
            <a:solidFill>
              <a:schemeClr val="bg1"/>
            </a:solidFill>
            <a:miter lim="800000"/>
          </a:ln>
        </p:spPr>
        <p:txBody>
          <a:bodyPr rtlCol="0" anchor="ctr">
            <a:noAutofit/>
          </a:bodyPr>
          <a:lstStyle/>
          <a:p>
            <a:pPr algn="ctr">
              <a:buClr>
                <a:schemeClr val="tx1"/>
              </a:buClr>
              <a:defRPr/>
            </a:pPr>
            <a:r>
              <a:rPr lang="zh-CN" altLang="en-US" sz="1200" dirty="0">
                <a:latin typeface="微软雅黑" panose="020B0503020204020204" charset="-122"/>
                <a:ea typeface="微软雅黑" panose="020B0503020204020204" charset="-122"/>
              </a:rPr>
              <a:t>结构</a:t>
            </a:r>
          </a:p>
        </p:txBody>
      </p:sp>
      <p:sp>
        <p:nvSpPr>
          <p:cNvPr id="48" name="矩形 47"/>
          <p:cNvSpPr/>
          <p:nvPr/>
        </p:nvSpPr>
        <p:spPr bwMode="auto">
          <a:xfrm>
            <a:off x="2571736" y="2587485"/>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pPr>
            <a:r>
              <a:rPr lang="zh-CN" altLang="en-US" sz="1200" dirty="0">
                <a:latin typeface="微软雅黑" panose="020B0503020204020204" charset="-122"/>
                <a:ea typeface="微软雅黑" panose="020B0503020204020204" charset="-122"/>
              </a:rPr>
              <a:t>看板拉动</a:t>
            </a:r>
          </a:p>
        </p:txBody>
      </p:sp>
      <p:sp>
        <p:nvSpPr>
          <p:cNvPr id="49" name="矩形 48"/>
          <p:cNvSpPr/>
          <p:nvPr/>
        </p:nvSpPr>
        <p:spPr bwMode="auto">
          <a:xfrm>
            <a:off x="4572000" y="2587485"/>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配送上线</a:t>
            </a:r>
          </a:p>
        </p:txBody>
      </p:sp>
      <p:sp>
        <p:nvSpPr>
          <p:cNvPr id="50" name="矩形 49"/>
          <p:cNvSpPr/>
          <p:nvPr/>
        </p:nvSpPr>
        <p:spPr bwMode="auto">
          <a:xfrm>
            <a:off x="4572000" y="1706012"/>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仓库管理</a:t>
            </a:r>
          </a:p>
        </p:txBody>
      </p:sp>
      <p:sp>
        <p:nvSpPr>
          <p:cNvPr id="51" name="矩形 50"/>
          <p:cNvSpPr/>
          <p:nvPr/>
        </p:nvSpPr>
        <p:spPr bwMode="auto">
          <a:xfrm>
            <a:off x="2571736" y="2902296"/>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仓库领料</a:t>
            </a:r>
          </a:p>
        </p:txBody>
      </p:sp>
      <p:sp>
        <p:nvSpPr>
          <p:cNvPr id="52" name="矩形 51"/>
          <p:cNvSpPr/>
          <p:nvPr/>
        </p:nvSpPr>
        <p:spPr bwMode="auto">
          <a:xfrm>
            <a:off x="3571868" y="2587485"/>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pPr>
            <a:r>
              <a:rPr lang="zh-CN" altLang="en-US" sz="1200" dirty="0">
                <a:latin typeface="微软雅黑" panose="020B0503020204020204" charset="-122"/>
                <a:ea typeface="微软雅黑" panose="020B0503020204020204" charset="-122"/>
              </a:rPr>
              <a:t>供方直送</a:t>
            </a:r>
          </a:p>
        </p:txBody>
      </p:sp>
      <p:sp>
        <p:nvSpPr>
          <p:cNvPr id="53" name="矩形 52"/>
          <p:cNvSpPr/>
          <p:nvPr/>
        </p:nvSpPr>
        <p:spPr bwMode="auto">
          <a:xfrm>
            <a:off x="2571736" y="1706012"/>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收货入库</a:t>
            </a:r>
          </a:p>
        </p:txBody>
      </p:sp>
      <p:sp>
        <p:nvSpPr>
          <p:cNvPr id="54" name="矩形 53"/>
          <p:cNvSpPr/>
          <p:nvPr/>
        </p:nvSpPr>
        <p:spPr bwMode="auto">
          <a:xfrm>
            <a:off x="3571868" y="2020824"/>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pPr>
            <a:r>
              <a:rPr lang="zh-CN" altLang="en-US" sz="1200" dirty="0">
                <a:latin typeface="微软雅黑" panose="020B0503020204020204" charset="-122"/>
                <a:ea typeface="微软雅黑" panose="020B0503020204020204" charset="-122"/>
              </a:rPr>
              <a:t>看板拉动</a:t>
            </a:r>
          </a:p>
        </p:txBody>
      </p:sp>
      <p:sp>
        <p:nvSpPr>
          <p:cNvPr id="55" name="矩形 54"/>
          <p:cNvSpPr/>
          <p:nvPr/>
        </p:nvSpPr>
        <p:spPr bwMode="auto">
          <a:xfrm>
            <a:off x="2571736" y="2020824"/>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送货计划</a:t>
            </a:r>
          </a:p>
        </p:txBody>
      </p:sp>
      <p:sp>
        <p:nvSpPr>
          <p:cNvPr id="56" name="矩形 55"/>
          <p:cNvSpPr/>
          <p:nvPr/>
        </p:nvSpPr>
        <p:spPr bwMode="auto">
          <a:xfrm>
            <a:off x="3571868" y="1706012"/>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pPr>
            <a:r>
              <a:rPr lang="zh-CN" altLang="en-US" sz="1200" dirty="0">
                <a:latin typeface="微软雅黑" panose="020B0503020204020204" charset="-122"/>
                <a:ea typeface="微软雅黑" panose="020B0503020204020204" charset="-122"/>
              </a:rPr>
              <a:t>供方管理</a:t>
            </a:r>
          </a:p>
        </p:txBody>
      </p:sp>
      <p:sp>
        <p:nvSpPr>
          <p:cNvPr id="57" name="矩形 56"/>
          <p:cNvSpPr/>
          <p:nvPr/>
        </p:nvSpPr>
        <p:spPr bwMode="auto">
          <a:xfrm>
            <a:off x="2571736" y="3468957"/>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准时生产</a:t>
            </a:r>
          </a:p>
        </p:txBody>
      </p:sp>
      <p:sp>
        <p:nvSpPr>
          <p:cNvPr id="58" name="矩形 57"/>
          <p:cNvSpPr/>
          <p:nvPr/>
        </p:nvSpPr>
        <p:spPr bwMode="auto">
          <a:xfrm>
            <a:off x="2571736" y="4665241"/>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整机入库</a:t>
            </a:r>
          </a:p>
        </p:txBody>
      </p:sp>
      <p:sp>
        <p:nvSpPr>
          <p:cNvPr id="59" name="矩形 58"/>
          <p:cNvSpPr/>
          <p:nvPr/>
        </p:nvSpPr>
        <p:spPr bwMode="auto">
          <a:xfrm>
            <a:off x="2571736" y="4980052"/>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备件入库</a:t>
            </a:r>
          </a:p>
        </p:txBody>
      </p:sp>
      <p:sp>
        <p:nvSpPr>
          <p:cNvPr id="60" name="矩形 59"/>
          <p:cNvSpPr/>
          <p:nvPr/>
        </p:nvSpPr>
        <p:spPr bwMode="auto">
          <a:xfrm>
            <a:off x="3571868" y="4665241"/>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en-US" altLang="zh-CN" sz="1200" dirty="0">
                <a:latin typeface="微软雅黑" panose="020B0503020204020204" charset="-122"/>
                <a:ea typeface="微软雅黑" panose="020B0503020204020204" charset="-122"/>
              </a:rPr>
              <a:t>KD</a:t>
            </a:r>
            <a:r>
              <a:rPr lang="zh-CN" altLang="en-US" sz="1200" dirty="0">
                <a:latin typeface="微软雅黑" panose="020B0503020204020204" charset="-122"/>
                <a:ea typeface="微软雅黑" panose="020B0503020204020204" charset="-122"/>
              </a:rPr>
              <a:t>入库</a:t>
            </a:r>
            <a:endParaRPr lang="en-US" altLang="zh-CN" sz="1200" dirty="0">
              <a:latin typeface="微软雅黑" panose="020B0503020204020204" charset="-122"/>
              <a:ea typeface="微软雅黑" panose="020B0503020204020204" charset="-122"/>
            </a:endParaRPr>
          </a:p>
        </p:txBody>
      </p:sp>
      <p:sp>
        <p:nvSpPr>
          <p:cNvPr id="61" name="矩形 60"/>
          <p:cNvSpPr/>
          <p:nvPr/>
        </p:nvSpPr>
        <p:spPr bwMode="auto">
          <a:xfrm>
            <a:off x="2571736" y="4161542"/>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车间报工</a:t>
            </a:r>
          </a:p>
        </p:txBody>
      </p:sp>
      <p:sp>
        <p:nvSpPr>
          <p:cNvPr id="62" name="矩形 61"/>
          <p:cNvSpPr/>
          <p:nvPr/>
        </p:nvSpPr>
        <p:spPr bwMode="auto">
          <a:xfrm>
            <a:off x="3571868" y="2902296"/>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pPr>
            <a:r>
              <a:rPr lang="zh-CN" altLang="en-US" sz="1200" dirty="0">
                <a:latin typeface="微软雅黑" panose="020B0503020204020204" charset="-122"/>
                <a:ea typeface="微软雅黑" panose="020B0503020204020204" charset="-122"/>
              </a:rPr>
              <a:t>反冲投料</a:t>
            </a:r>
          </a:p>
        </p:txBody>
      </p:sp>
      <p:sp>
        <p:nvSpPr>
          <p:cNvPr id="63" name="矩形 62"/>
          <p:cNvSpPr/>
          <p:nvPr/>
        </p:nvSpPr>
        <p:spPr bwMode="auto">
          <a:xfrm>
            <a:off x="3571868" y="4161542"/>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pPr>
            <a:r>
              <a:rPr lang="zh-CN" altLang="en-US" sz="1200" dirty="0">
                <a:latin typeface="微软雅黑" panose="020B0503020204020204" charset="-122"/>
                <a:ea typeface="微软雅黑" panose="020B0503020204020204" charset="-122"/>
              </a:rPr>
              <a:t>材料结算</a:t>
            </a:r>
          </a:p>
        </p:txBody>
      </p:sp>
      <p:sp>
        <p:nvSpPr>
          <p:cNvPr id="64" name="矩形 63"/>
          <p:cNvSpPr/>
          <p:nvPr/>
        </p:nvSpPr>
        <p:spPr bwMode="auto">
          <a:xfrm>
            <a:off x="3571868" y="3468957"/>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pPr>
            <a:r>
              <a:rPr lang="zh-CN" altLang="en-US" sz="1200" dirty="0">
                <a:latin typeface="微软雅黑" panose="020B0503020204020204" charset="-122"/>
                <a:ea typeface="微软雅黑" panose="020B0503020204020204" charset="-122"/>
              </a:rPr>
              <a:t>变更执行</a:t>
            </a:r>
          </a:p>
        </p:txBody>
      </p:sp>
      <p:sp>
        <p:nvSpPr>
          <p:cNvPr id="65" name="Right Arrow 31"/>
          <p:cNvSpPr/>
          <p:nvPr/>
        </p:nvSpPr>
        <p:spPr bwMode="auto">
          <a:xfrm rot="5400000">
            <a:off x="3387624" y="2331802"/>
            <a:ext cx="253831" cy="257534"/>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66" name="矩形 65"/>
          <p:cNvSpPr/>
          <p:nvPr/>
        </p:nvSpPr>
        <p:spPr bwMode="auto">
          <a:xfrm>
            <a:off x="5857884" y="1643050"/>
            <a:ext cx="357190" cy="3714776"/>
          </a:xfrm>
          <a:prstGeom prst="rect">
            <a:avLst/>
          </a:prstGeom>
          <a:solidFill>
            <a:schemeClr val="tx2">
              <a:lumMod val="40000"/>
              <a:lumOff val="60000"/>
              <a:alpha val="89000"/>
            </a:schemeClr>
          </a:solidFill>
          <a:ln w="9525" algn="ctr">
            <a:noFill/>
            <a:miter lim="800000"/>
          </a:ln>
        </p:spPr>
        <p:txBody>
          <a:bodyPr vert="eaVert" wrap="none" lIns="18000" rIns="18000" anchor="ctr"/>
          <a:lstStyle/>
          <a:p>
            <a:pPr algn="ctr">
              <a:buClr>
                <a:schemeClr val="tx1"/>
              </a:buClr>
              <a:buNone/>
              <a:defRPr/>
            </a:pPr>
            <a:r>
              <a:rPr lang="zh-CN" altLang="en-US" sz="1400" b="1" dirty="0">
                <a:solidFill>
                  <a:schemeClr val="bg1"/>
                </a:solidFill>
                <a:latin typeface="微软雅黑" panose="020B0503020204020204" charset="-122"/>
                <a:ea typeface="微软雅黑" panose="020B0503020204020204" charset="-122"/>
              </a:rPr>
              <a:t>透明查询：生产异常、人员效率、生产成本</a:t>
            </a:r>
          </a:p>
        </p:txBody>
      </p:sp>
      <p:sp>
        <p:nvSpPr>
          <p:cNvPr id="67" name="Right Arrow 31"/>
          <p:cNvSpPr/>
          <p:nvPr/>
        </p:nvSpPr>
        <p:spPr bwMode="auto">
          <a:xfrm rot="5400000">
            <a:off x="3387624" y="3215256"/>
            <a:ext cx="253831" cy="257534"/>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68" name="Right Arrow 31"/>
          <p:cNvSpPr/>
          <p:nvPr/>
        </p:nvSpPr>
        <p:spPr bwMode="auto">
          <a:xfrm rot="5400000">
            <a:off x="3387624" y="4346596"/>
            <a:ext cx="253831" cy="257534"/>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71" name="流程图: 联系 70"/>
          <p:cNvSpPr/>
          <p:nvPr/>
        </p:nvSpPr>
        <p:spPr bwMode="auto">
          <a:xfrm>
            <a:off x="4286248" y="2209711"/>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72" name="流程图: 联系 71"/>
          <p:cNvSpPr/>
          <p:nvPr/>
        </p:nvSpPr>
        <p:spPr bwMode="auto">
          <a:xfrm>
            <a:off x="3286116" y="2776371"/>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73" name="流程图: 联系 72"/>
          <p:cNvSpPr/>
          <p:nvPr/>
        </p:nvSpPr>
        <p:spPr bwMode="auto">
          <a:xfrm>
            <a:off x="3286116" y="4350429"/>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74" name="流程图: 联系 73"/>
          <p:cNvSpPr/>
          <p:nvPr/>
        </p:nvSpPr>
        <p:spPr bwMode="auto">
          <a:xfrm>
            <a:off x="4286248" y="3657844"/>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76" name="流程图: 联系 75"/>
          <p:cNvSpPr/>
          <p:nvPr/>
        </p:nvSpPr>
        <p:spPr bwMode="auto">
          <a:xfrm>
            <a:off x="4286248" y="4350429"/>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77" name="矩形 76"/>
          <p:cNvSpPr/>
          <p:nvPr/>
        </p:nvSpPr>
        <p:spPr bwMode="auto">
          <a:xfrm>
            <a:off x="4572000" y="4161542"/>
            <a:ext cx="857256" cy="251849"/>
          </a:xfrm>
          <a:prstGeom prst="rect">
            <a:avLst/>
          </a:prstGeom>
          <a:solidFill>
            <a:schemeClr val="bg1"/>
          </a:solidFill>
          <a:ln w="12700">
            <a:solidFill>
              <a:schemeClr val="bg1"/>
            </a:solidFill>
            <a:miter lim="800000"/>
          </a:ln>
        </p:spPr>
        <p:txBody>
          <a:bodyPr rtlCol="0" anchor="ctr">
            <a:noAutofit/>
          </a:bodyPr>
          <a:lstStyle/>
          <a:p>
            <a:pPr algn="ctr">
              <a:buClr>
                <a:schemeClr val="tx1"/>
              </a:buClr>
              <a:buNone/>
            </a:pPr>
            <a:r>
              <a:rPr lang="zh-CN" altLang="en-US" sz="1200" dirty="0">
                <a:latin typeface="微软雅黑" panose="020B0503020204020204" charset="-122"/>
                <a:ea typeface="微软雅黑" panose="020B0503020204020204" charset="-122"/>
              </a:rPr>
              <a:t>人员设备成本效率</a:t>
            </a:r>
          </a:p>
        </p:txBody>
      </p:sp>
      <p:sp>
        <p:nvSpPr>
          <p:cNvPr id="78" name="流程图: 联系 77"/>
          <p:cNvSpPr/>
          <p:nvPr/>
        </p:nvSpPr>
        <p:spPr bwMode="auto">
          <a:xfrm>
            <a:off x="5357818" y="4350429"/>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79" name="流程图: 联系 78"/>
          <p:cNvSpPr/>
          <p:nvPr/>
        </p:nvSpPr>
        <p:spPr bwMode="auto">
          <a:xfrm>
            <a:off x="3357554" y="3657844"/>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82" name="流程图: 联系 81"/>
          <p:cNvSpPr/>
          <p:nvPr/>
        </p:nvSpPr>
        <p:spPr bwMode="auto">
          <a:xfrm>
            <a:off x="2071670" y="5500702"/>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83" name="TextBox 82"/>
          <p:cNvSpPr txBox="1"/>
          <p:nvPr/>
        </p:nvSpPr>
        <p:spPr bwMode="auto">
          <a:xfrm>
            <a:off x="2000232" y="5429264"/>
            <a:ext cx="4357718" cy="461665"/>
          </a:xfrm>
          <a:prstGeom prst="rect">
            <a:avLst/>
          </a:prstGeom>
          <a:noFill/>
          <a:ln>
            <a:noFill/>
          </a:ln>
        </p:spPr>
        <p:txBody>
          <a:bodyPr wrap="squar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  </a:t>
            </a:r>
            <a:r>
              <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rPr>
              <a:t> </a:t>
            </a: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标志，为顶层设计重点探讨的</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专题，问题清单中报表</a:t>
            </a: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实现及其它等</a:t>
            </a:r>
            <a:r>
              <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rPr>
              <a:t>IT</a:t>
            </a: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关注点将会在流程梳理与系统实现阶段重点关注</a:t>
            </a:r>
          </a:p>
        </p:txBody>
      </p:sp>
      <p:sp>
        <p:nvSpPr>
          <p:cNvPr id="85" name="流程图: 联系 84"/>
          <p:cNvSpPr/>
          <p:nvPr/>
        </p:nvSpPr>
        <p:spPr bwMode="auto">
          <a:xfrm>
            <a:off x="3286116" y="3071810"/>
            <a:ext cx="71438" cy="62962"/>
          </a:xfrm>
          <a:prstGeom prst="flowChartConnector">
            <a:avLst/>
          </a:prstGeom>
          <a:solidFill>
            <a:srgbClr val="FF0000"/>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a:t>
            </a:r>
            <a:r>
              <a:rPr lang="zh-CN" altLang="en-US" dirty="0"/>
              <a:t>零部件计划与交付解决方案：提供可靠的零部件交付，及时预防风险，快速响应需求</a:t>
            </a:r>
          </a:p>
        </p:txBody>
      </p:sp>
      <p:sp>
        <p:nvSpPr>
          <p:cNvPr id="88" name="矩形 87"/>
          <p:cNvSpPr/>
          <p:nvPr/>
        </p:nvSpPr>
        <p:spPr bwMode="auto">
          <a:xfrm>
            <a:off x="311120" y="1221610"/>
            <a:ext cx="1512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prstClr val="white"/>
                </a:solidFill>
                <a:latin typeface="微软雅黑" panose="020B0503020204020204" charset="-122"/>
                <a:ea typeface="微软雅黑" panose="020B0503020204020204" charset="-122"/>
              </a:rPr>
              <a:t>计划指导不足</a:t>
            </a:r>
          </a:p>
        </p:txBody>
      </p:sp>
      <p:sp>
        <p:nvSpPr>
          <p:cNvPr id="123" name="右箭头 122"/>
          <p:cNvSpPr/>
          <p:nvPr/>
        </p:nvSpPr>
        <p:spPr bwMode="auto">
          <a:xfrm>
            <a:off x="1915592" y="1171611"/>
            <a:ext cx="4668814" cy="457189"/>
          </a:xfrm>
          <a:prstGeom prst="rightArrow">
            <a:avLst>
              <a:gd name="adj1" fmla="val 77779"/>
              <a:gd name="adj2" fmla="val 50000"/>
            </a:avLst>
          </a:prstGeom>
          <a:solidFill>
            <a:schemeClr val="accent1">
              <a:lumMod val="20000"/>
              <a:lumOff val="80000"/>
            </a:schemeClr>
          </a:solidFill>
          <a:ln w="9525" algn="ctr">
            <a:noFill/>
            <a:miter lim="800000"/>
          </a:ln>
        </p:spPr>
        <p:txBody>
          <a:bodyPr wrap="none" lIns="90000" tIns="72000" rIns="90000" bIns="36000" rtlCol="0" anchor="ctr"/>
          <a:lstStyle/>
          <a:p>
            <a:pPr algn="ctr" eaLnBrk="0" hangingPunct="0">
              <a:lnSpc>
                <a:spcPct val="90000"/>
              </a:lnSpc>
              <a:spcBef>
                <a:spcPct val="20000"/>
              </a:spcBef>
              <a:buClr>
                <a:prstClr val="black"/>
              </a:buClr>
            </a:pPr>
            <a:r>
              <a:rPr lang="zh-CN" altLang="en-US" sz="1400" b="1" dirty="0">
                <a:solidFill>
                  <a:prstClr val="white">
                    <a:lumMod val="50000"/>
                  </a:prstClr>
                </a:solidFill>
                <a:latin typeface="微软雅黑" panose="020B0503020204020204" charset="-122"/>
                <a:ea typeface="微软雅黑" panose="020B0503020204020204" charset="-122"/>
              </a:rPr>
              <a:t>顶层设计</a:t>
            </a:r>
          </a:p>
        </p:txBody>
      </p:sp>
      <p:sp>
        <p:nvSpPr>
          <p:cNvPr id="124" name="矩形 123"/>
          <p:cNvSpPr/>
          <p:nvPr/>
        </p:nvSpPr>
        <p:spPr bwMode="auto">
          <a:xfrm>
            <a:off x="6698280" y="1221610"/>
            <a:ext cx="2160000" cy="357190"/>
          </a:xfrm>
          <a:prstGeom prst="rect">
            <a:avLst/>
          </a:prstGeom>
          <a:solidFill>
            <a:srgbClr val="7889FB"/>
          </a:solidFill>
          <a:ln w="9525" cap="flat" cmpd="sng" algn="ctr">
            <a:noFill/>
            <a:prstDash val="solid"/>
            <a:round/>
            <a:headEnd type="none" w="med" len="med"/>
            <a:tailEnd type="none"/>
          </a:ln>
          <a:effectLst/>
        </p:spPr>
        <p:txBody>
          <a:bodyPr rtlCol="0" anchor="ctr"/>
          <a:lstStyle/>
          <a:p>
            <a:pPr algn="ctr"/>
            <a:r>
              <a:rPr lang="zh-CN" altLang="en-US" sz="1400" b="1" dirty="0">
                <a:solidFill>
                  <a:prstClr val="white"/>
                </a:solidFill>
                <a:latin typeface="微软雅黑" panose="020B0503020204020204" charset="-122"/>
                <a:ea typeface="微软雅黑" panose="020B0503020204020204" charset="-122"/>
              </a:rPr>
              <a:t>交付可靠、风险可控</a:t>
            </a:r>
          </a:p>
        </p:txBody>
      </p:sp>
      <p:sp>
        <p:nvSpPr>
          <p:cNvPr id="125" name="矩形 124"/>
          <p:cNvSpPr/>
          <p:nvPr/>
        </p:nvSpPr>
        <p:spPr bwMode="auto">
          <a:xfrm>
            <a:off x="311120" y="1643050"/>
            <a:ext cx="1512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600"/>
              </a:spcBef>
              <a:buFont typeface="微软雅黑" panose="020B0503020204020204" charset="-122"/>
              <a:buChar char="▪"/>
            </a:pPr>
            <a:r>
              <a:rPr lang="zh-CN" altLang="en-US" sz="1200" dirty="0">
                <a:solidFill>
                  <a:prstClr val="black"/>
                </a:solidFill>
                <a:latin typeface="微软雅黑" panose="020B0503020204020204" charset="-122"/>
                <a:ea typeface="微软雅黑" panose="020B0503020204020204" charset="-122"/>
              </a:rPr>
              <a:t>零部件计划对供应商指导性不足</a:t>
            </a:r>
            <a:endParaRPr lang="en-US" altLang="zh-CN" sz="1200" dirty="0">
              <a:solidFill>
                <a:prstClr val="black"/>
              </a:solidFill>
              <a:latin typeface="微软雅黑" panose="020B0503020204020204" charset="-122"/>
              <a:ea typeface="微软雅黑" panose="020B0503020204020204" charset="-122"/>
            </a:endParaRPr>
          </a:p>
          <a:p>
            <a:pPr marL="88900" indent="-88900">
              <a:lnSpc>
                <a:spcPct val="110000"/>
              </a:lnSpc>
              <a:spcBef>
                <a:spcPts val="600"/>
              </a:spcBef>
              <a:buFont typeface="微软雅黑" panose="020B0503020204020204" charset="-122"/>
              <a:buChar char="▪"/>
            </a:pPr>
            <a:r>
              <a:rPr lang="zh-CN" altLang="en-US" sz="1200" dirty="0">
                <a:solidFill>
                  <a:prstClr val="black"/>
                </a:solidFill>
                <a:latin typeface="微软雅黑" panose="020B0503020204020204" charset="-122"/>
                <a:ea typeface="微软雅黑" panose="020B0503020204020204" charset="-122"/>
              </a:rPr>
              <a:t>进口件</a:t>
            </a:r>
            <a:r>
              <a:rPr lang="en-US" altLang="zh-CN" sz="1200" dirty="0">
                <a:solidFill>
                  <a:prstClr val="black"/>
                </a:solidFill>
                <a:latin typeface="微软雅黑" panose="020B0503020204020204" charset="-122"/>
                <a:ea typeface="微软雅黑" panose="020B0503020204020204" charset="-122"/>
              </a:rPr>
              <a:t>N</a:t>
            </a:r>
            <a:r>
              <a:rPr lang="zh-CN" altLang="en-US" sz="1200" dirty="0">
                <a:solidFill>
                  <a:prstClr val="black"/>
                </a:solidFill>
                <a:latin typeface="微软雅黑" panose="020B0503020204020204" charset="-122"/>
                <a:ea typeface="微软雅黑" panose="020B0503020204020204" charset="-122"/>
              </a:rPr>
              <a:t>月计划准确率为</a:t>
            </a:r>
            <a:r>
              <a:rPr lang="en-US" altLang="zh-CN" sz="1200" dirty="0">
                <a:solidFill>
                  <a:prstClr val="black"/>
                </a:solidFill>
                <a:latin typeface="微软雅黑" panose="020B0503020204020204" charset="-122"/>
                <a:ea typeface="微软雅黑" panose="020B0503020204020204" charset="-122"/>
              </a:rPr>
              <a:t>56%</a:t>
            </a:r>
            <a:r>
              <a:rPr lang="zh-CN" altLang="en-US" sz="1200" dirty="0">
                <a:solidFill>
                  <a:prstClr val="black"/>
                </a:solidFill>
                <a:latin typeface="微软雅黑" panose="020B0503020204020204" charset="-122"/>
                <a:ea typeface="微软雅黑" panose="020B0503020204020204" charset="-122"/>
              </a:rPr>
              <a:t>；</a:t>
            </a:r>
            <a:r>
              <a:rPr lang="en-US" altLang="zh-CN" sz="1200" b="1" dirty="0">
                <a:solidFill>
                  <a:srgbClr val="4F81BD"/>
                </a:solidFill>
                <a:latin typeface="微软雅黑" panose="020B0503020204020204" charset="-122"/>
                <a:ea typeface="微软雅黑" panose="020B0503020204020204" charset="-122"/>
              </a:rPr>
              <a:t>N+2</a:t>
            </a:r>
            <a:r>
              <a:rPr lang="zh-CN" altLang="en-US" sz="1200" b="1" dirty="0">
                <a:solidFill>
                  <a:srgbClr val="4F81BD"/>
                </a:solidFill>
                <a:latin typeface="微软雅黑" panose="020B0503020204020204" charset="-122"/>
                <a:ea typeface="微软雅黑" panose="020B0503020204020204" charset="-122"/>
              </a:rPr>
              <a:t>月计划准确率不足</a:t>
            </a:r>
            <a:r>
              <a:rPr lang="en-US" altLang="zh-CN" sz="1200" b="1" dirty="0">
                <a:solidFill>
                  <a:srgbClr val="4F81BD"/>
                </a:solidFill>
                <a:latin typeface="微软雅黑" panose="020B0503020204020204" charset="-122"/>
                <a:ea typeface="微软雅黑" panose="020B0503020204020204" charset="-122"/>
              </a:rPr>
              <a:t>40%</a:t>
            </a:r>
            <a:r>
              <a:rPr lang="zh-CN" altLang="en-US" sz="1200" dirty="0">
                <a:solidFill>
                  <a:prstClr val="black"/>
                </a:solidFill>
                <a:latin typeface="微软雅黑" panose="020B0503020204020204" charset="-122"/>
                <a:ea typeface="微软雅黑" panose="020B0503020204020204" charset="-122"/>
              </a:rPr>
              <a:t>，对进口件指导有限</a:t>
            </a:r>
            <a:endParaRPr lang="en-US" altLang="zh-CN" sz="1200" dirty="0">
              <a:solidFill>
                <a:prstClr val="black"/>
              </a:solidFill>
              <a:latin typeface="微软雅黑" panose="020B0503020204020204" charset="-122"/>
              <a:ea typeface="微软雅黑" panose="020B0503020204020204" charset="-122"/>
            </a:endParaRPr>
          </a:p>
          <a:p>
            <a:pPr marL="88900" indent="-88900">
              <a:lnSpc>
                <a:spcPct val="110000"/>
              </a:lnSpc>
              <a:spcBef>
                <a:spcPts val="600"/>
              </a:spcBef>
              <a:buFont typeface="微软雅黑" panose="020B0503020204020204" charset="-122"/>
              <a:buChar char="▪"/>
            </a:pPr>
            <a:r>
              <a:rPr lang="zh-CN" altLang="en-US" sz="1200" dirty="0">
                <a:solidFill>
                  <a:prstClr val="black"/>
                </a:solidFill>
                <a:latin typeface="微软雅黑" panose="020B0503020204020204" charset="-122"/>
                <a:ea typeface="微软雅黑" panose="020B0503020204020204" charset="-122"/>
              </a:rPr>
              <a:t>工程变更、国际计划造成</a:t>
            </a:r>
            <a:r>
              <a:rPr lang="zh-CN" altLang="en-US" sz="1200" b="1" dirty="0">
                <a:solidFill>
                  <a:srgbClr val="4F81BD"/>
                </a:solidFill>
                <a:latin typeface="微软雅黑" panose="020B0503020204020204" charset="-122"/>
                <a:ea typeface="微软雅黑" panose="020B0503020204020204" charset="-122"/>
              </a:rPr>
              <a:t>计划变更多</a:t>
            </a:r>
            <a:endParaRPr lang="en-US" altLang="zh-CN" sz="1200" b="1" dirty="0">
              <a:solidFill>
                <a:srgbClr val="4F81BD"/>
              </a:solidFill>
              <a:latin typeface="微软雅黑" panose="020B0503020204020204" charset="-122"/>
              <a:ea typeface="微软雅黑" panose="020B0503020204020204" charset="-122"/>
            </a:endParaRPr>
          </a:p>
          <a:p>
            <a:pPr marL="88900" indent="-88900">
              <a:lnSpc>
                <a:spcPct val="110000"/>
              </a:lnSpc>
              <a:spcBef>
                <a:spcPts val="600"/>
              </a:spcBef>
              <a:buFont typeface="微软雅黑" panose="020B0503020204020204" charset="-122"/>
              <a:buChar char="▪"/>
            </a:pPr>
            <a:r>
              <a:rPr lang="zh-CN" altLang="en-US" sz="1200" dirty="0">
                <a:solidFill>
                  <a:prstClr val="black"/>
                </a:solidFill>
                <a:latin typeface="微软雅黑" panose="020B0503020204020204" charset="-122"/>
                <a:ea typeface="微软雅黑" panose="020B0503020204020204" charset="-122"/>
              </a:rPr>
              <a:t>因计划及供应商综合原因，</a:t>
            </a:r>
            <a:r>
              <a:rPr lang="zh-CN" altLang="en-US" sz="1200" b="1" dirty="0">
                <a:solidFill>
                  <a:srgbClr val="4F81BD"/>
                </a:solidFill>
                <a:latin typeface="微软雅黑" panose="020B0503020204020204" charset="-122"/>
                <a:ea typeface="微软雅黑" panose="020B0503020204020204" charset="-122"/>
              </a:rPr>
              <a:t>零部件缺件时有发生</a:t>
            </a:r>
            <a:endParaRPr lang="en-US" altLang="zh-CN" sz="1200" b="1" dirty="0">
              <a:solidFill>
                <a:srgbClr val="4F81BD"/>
              </a:solidFill>
              <a:latin typeface="微软雅黑" panose="020B0503020204020204" charset="-122"/>
              <a:ea typeface="微软雅黑" panose="020B0503020204020204" charset="-122"/>
            </a:endParaRPr>
          </a:p>
          <a:p>
            <a:pPr marL="88900" indent="-88900">
              <a:lnSpc>
                <a:spcPct val="110000"/>
              </a:lnSpc>
              <a:spcBef>
                <a:spcPts val="600"/>
              </a:spcBef>
              <a:buFont typeface="微软雅黑" panose="020B0503020204020204" charset="-122"/>
              <a:buChar char="▪"/>
            </a:pPr>
            <a:r>
              <a:rPr lang="zh-CN" altLang="en-US" sz="1200" b="1" dirty="0">
                <a:solidFill>
                  <a:srgbClr val="4F81BD"/>
                </a:solidFill>
                <a:latin typeface="微软雅黑" panose="020B0503020204020204" charset="-122"/>
                <a:ea typeface="微软雅黑" panose="020B0503020204020204" charset="-122"/>
              </a:rPr>
              <a:t>供应商绩效管理</a:t>
            </a:r>
            <a:r>
              <a:rPr lang="zh-CN" altLang="en-US" sz="1200" dirty="0">
                <a:solidFill>
                  <a:prstClr val="black"/>
                </a:solidFill>
                <a:latin typeface="微软雅黑" panose="020B0503020204020204" charset="-122"/>
                <a:ea typeface="微软雅黑" panose="020B0503020204020204" charset="-122"/>
              </a:rPr>
              <a:t>未有效牵引供应商交付表现改善</a:t>
            </a:r>
            <a:endParaRPr lang="en-US" altLang="zh-CN" sz="1200" dirty="0">
              <a:solidFill>
                <a:prstClr val="black"/>
              </a:solidFill>
              <a:latin typeface="微软雅黑" panose="020B0503020204020204" charset="-122"/>
              <a:ea typeface="微软雅黑" panose="020B0503020204020204" charset="-122"/>
            </a:endParaRPr>
          </a:p>
        </p:txBody>
      </p:sp>
      <p:sp>
        <p:nvSpPr>
          <p:cNvPr id="126" name="矩形 125"/>
          <p:cNvSpPr/>
          <p:nvPr/>
        </p:nvSpPr>
        <p:spPr bwMode="auto">
          <a:xfrm>
            <a:off x="1915536" y="1643050"/>
            <a:ext cx="4669428" cy="4143404"/>
          </a:xfrm>
          <a:prstGeom prst="rect">
            <a:avLst/>
          </a:prstGeom>
          <a:no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solidFill>
                <a:prstClr val="black"/>
              </a:solidFill>
              <a:latin typeface="华文楷体" panose="02010600040101010101" pitchFamily="2" charset="-122"/>
              <a:ea typeface="华文楷体" panose="02010600040101010101" pitchFamily="2" charset="-122"/>
            </a:endParaRPr>
          </a:p>
        </p:txBody>
      </p:sp>
      <p:sp>
        <p:nvSpPr>
          <p:cNvPr id="127" name="矩形 126"/>
          <p:cNvSpPr/>
          <p:nvPr/>
        </p:nvSpPr>
        <p:spPr bwMode="auto">
          <a:xfrm>
            <a:off x="6698280" y="1643050"/>
            <a:ext cx="2160000" cy="4143404"/>
          </a:xfrm>
          <a:prstGeom prst="rect">
            <a:avLst/>
          </a:prstGeom>
          <a:noFill/>
          <a:ln w="9525" cap="flat" cmpd="sng" algn="ctr">
            <a:solidFill>
              <a:schemeClr val="bg1">
                <a:lumMod val="75000"/>
              </a:schemeClr>
            </a:solidFill>
            <a:prstDash val="solid"/>
            <a:round/>
            <a:headEnd type="none" w="med" len="med"/>
            <a:tailEnd type="none"/>
          </a:ln>
          <a:effectLst/>
        </p:spPr>
        <p:txBody>
          <a:bodyPr lIns="36000" tIns="54000" rIns="36000" bIns="54000" rtlCol="0" anchor="t"/>
          <a:lstStyle/>
          <a:p>
            <a:pPr marL="88900" indent="-88900">
              <a:lnSpc>
                <a:spcPct val="110000"/>
              </a:lnSpc>
              <a:spcBef>
                <a:spcPts val="300"/>
              </a:spcBef>
              <a:buFont typeface="微软雅黑" panose="020B0503020204020204" charset="-122"/>
              <a:buChar char="▪"/>
            </a:pPr>
            <a:r>
              <a:rPr lang="zh-CN" altLang="en-US" sz="1200" b="1" dirty="0">
                <a:solidFill>
                  <a:prstClr val="black"/>
                </a:solidFill>
                <a:latin typeface="微软雅黑" panose="020B0503020204020204" charset="-122"/>
                <a:ea typeface="微软雅黑" panose="020B0503020204020204" charset="-122"/>
              </a:rPr>
              <a:t>零部件计划</a:t>
            </a:r>
            <a:r>
              <a:rPr lang="zh-CN" altLang="en-US" sz="1200" dirty="0">
                <a:solidFill>
                  <a:prstClr val="black"/>
                </a:solidFill>
                <a:latin typeface="微软雅黑" panose="020B0503020204020204" charset="-122"/>
                <a:ea typeface="微软雅黑" panose="020B0503020204020204" charset="-122"/>
              </a:rPr>
              <a:t>：形成</a:t>
            </a:r>
            <a:r>
              <a:rPr lang="en-US" altLang="zh-CN" sz="1200" dirty="0">
                <a:solidFill>
                  <a:prstClr val="black"/>
                </a:solidFill>
                <a:latin typeface="微软雅黑" panose="020B0503020204020204" charset="-122"/>
                <a:ea typeface="微软雅黑" panose="020B0503020204020204" charset="-122"/>
              </a:rPr>
              <a:t>6</a:t>
            </a:r>
            <a:r>
              <a:rPr lang="zh-CN" altLang="en-US" sz="1200" dirty="0">
                <a:solidFill>
                  <a:prstClr val="black"/>
                </a:solidFill>
                <a:latin typeface="微软雅黑" panose="020B0503020204020204" charset="-122"/>
                <a:ea typeface="微软雅黑" panose="020B0503020204020204" charset="-122"/>
              </a:rPr>
              <a:t>个月的</a:t>
            </a:r>
            <a:r>
              <a:rPr lang="zh-CN" altLang="en-US" sz="1200" b="1" dirty="0">
                <a:solidFill>
                  <a:srgbClr val="4F81BD"/>
                </a:solidFill>
                <a:latin typeface="微软雅黑" panose="020B0503020204020204" charset="-122"/>
                <a:ea typeface="微软雅黑" panose="020B0503020204020204" charset="-122"/>
              </a:rPr>
              <a:t>长期计划</a:t>
            </a:r>
            <a:r>
              <a:rPr lang="zh-CN" altLang="en-US" sz="1200" dirty="0">
                <a:solidFill>
                  <a:prstClr val="black"/>
                </a:solidFill>
                <a:latin typeface="微软雅黑" panose="020B0503020204020204" charset="-122"/>
                <a:ea typeface="微软雅黑" panose="020B0503020204020204" charset="-122"/>
              </a:rPr>
              <a:t>指导长周期件；</a:t>
            </a:r>
            <a:r>
              <a:rPr lang="zh-CN" altLang="en-US" sz="1200" b="1" dirty="0">
                <a:solidFill>
                  <a:srgbClr val="4F81BD"/>
                </a:solidFill>
                <a:latin typeface="微软雅黑" panose="020B0503020204020204" charset="-122"/>
                <a:ea typeface="微软雅黑" panose="020B0503020204020204" charset="-122"/>
              </a:rPr>
              <a:t>中期计划</a:t>
            </a:r>
            <a:r>
              <a:rPr lang="zh-CN" altLang="en-US" sz="1200" dirty="0">
                <a:solidFill>
                  <a:prstClr val="black"/>
                </a:solidFill>
                <a:latin typeface="微软雅黑" panose="020B0503020204020204" charset="-122"/>
                <a:ea typeface="微软雅黑" panose="020B0503020204020204" charset="-122"/>
              </a:rPr>
              <a:t>（旬度和周度计划指导供应商生产）；</a:t>
            </a:r>
            <a:r>
              <a:rPr lang="zh-CN" altLang="en-US" sz="1200" b="1" dirty="0">
                <a:solidFill>
                  <a:srgbClr val="4F81BD"/>
                </a:solidFill>
                <a:latin typeface="微软雅黑" panose="020B0503020204020204" charset="-122"/>
                <a:ea typeface="微软雅黑" panose="020B0503020204020204" charset="-122"/>
              </a:rPr>
              <a:t>短期计划</a:t>
            </a:r>
            <a:r>
              <a:rPr lang="zh-CN" altLang="en-US" sz="1200" dirty="0">
                <a:solidFill>
                  <a:prstClr val="black"/>
                </a:solidFill>
                <a:latin typeface="微软雅黑" panose="020B0503020204020204" charset="-122"/>
                <a:ea typeface="微软雅黑" panose="020B0503020204020204" charset="-122"/>
              </a:rPr>
              <a:t>指导送货</a:t>
            </a:r>
            <a:endParaRPr lang="en-US" altLang="zh-CN" sz="1200" dirty="0">
              <a:solidFill>
                <a:prstClr val="black"/>
              </a:solidFill>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solidFill>
                  <a:prstClr val="black"/>
                </a:solidFill>
                <a:latin typeface="微软雅黑" panose="020B0503020204020204" charset="-122"/>
                <a:ea typeface="微软雅黑" panose="020B0503020204020204" charset="-122"/>
              </a:rPr>
              <a:t>零部件分类及对应供应策略</a:t>
            </a:r>
            <a:r>
              <a:rPr lang="zh-CN" altLang="en-US" sz="1200" dirty="0">
                <a:solidFill>
                  <a:prstClr val="black"/>
                </a:solidFill>
                <a:latin typeface="微软雅黑" panose="020B0503020204020204" charset="-122"/>
                <a:ea typeface="微软雅黑" panose="020B0503020204020204" charset="-122"/>
              </a:rPr>
              <a:t>：按</a:t>
            </a:r>
            <a:r>
              <a:rPr lang="zh-CN" altLang="en-US" sz="1200" b="1" dirty="0">
                <a:solidFill>
                  <a:srgbClr val="4F81BD"/>
                </a:solidFill>
                <a:latin typeface="微软雅黑" panose="020B0503020204020204" charset="-122"/>
                <a:ea typeface="微软雅黑" panose="020B0503020204020204" charset="-122"/>
              </a:rPr>
              <a:t>金额</a:t>
            </a:r>
            <a:r>
              <a:rPr lang="zh-CN" altLang="en-US" sz="1200" dirty="0">
                <a:solidFill>
                  <a:prstClr val="black"/>
                </a:solidFill>
                <a:latin typeface="微软雅黑" panose="020B0503020204020204" charset="-122"/>
                <a:ea typeface="微软雅黑" panose="020B0503020204020204" charset="-122"/>
              </a:rPr>
              <a:t>、</a:t>
            </a:r>
            <a:r>
              <a:rPr lang="zh-CN" altLang="en-US" sz="1200" b="1" dirty="0">
                <a:solidFill>
                  <a:srgbClr val="4F81BD"/>
                </a:solidFill>
                <a:latin typeface="微软雅黑" panose="020B0503020204020204" charset="-122"/>
                <a:ea typeface="微软雅黑" panose="020B0503020204020204" charset="-122"/>
              </a:rPr>
              <a:t>采购周期</a:t>
            </a:r>
            <a:r>
              <a:rPr lang="zh-CN" altLang="en-US" sz="1200" dirty="0">
                <a:solidFill>
                  <a:prstClr val="black"/>
                </a:solidFill>
                <a:latin typeface="微软雅黑" panose="020B0503020204020204" charset="-122"/>
                <a:ea typeface="微软雅黑" panose="020B0503020204020204" charset="-122"/>
              </a:rPr>
              <a:t>、</a:t>
            </a:r>
            <a:r>
              <a:rPr lang="zh-CN" altLang="en-US" sz="1200" b="1" dirty="0">
                <a:solidFill>
                  <a:srgbClr val="4F81BD"/>
                </a:solidFill>
                <a:latin typeface="微软雅黑" panose="020B0503020204020204" charset="-122"/>
                <a:ea typeface="微软雅黑" panose="020B0503020204020204" charset="-122"/>
              </a:rPr>
              <a:t>通用性</a:t>
            </a:r>
            <a:r>
              <a:rPr lang="zh-CN" altLang="en-US" sz="1200" dirty="0">
                <a:solidFill>
                  <a:prstClr val="black"/>
                </a:solidFill>
                <a:latin typeface="微软雅黑" panose="020B0503020204020204" charset="-122"/>
                <a:ea typeface="微软雅黑" panose="020B0503020204020204" charset="-122"/>
              </a:rPr>
              <a:t>维度进行分类及供应商</a:t>
            </a:r>
            <a:r>
              <a:rPr lang="zh-CN" altLang="zh-CN" sz="1200" dirty="0">
                <a:solidFill>
                  <a:prstClr val="black"/>
                </a:solidFill>
                <a:latin typeface="微软雅黑" panose="020B0503020204020204" charset="-122"/>
                <a:ea typeface="微软雅黑" panose="020B0503020204020204" charset="-122"/>
              </a:rPr>
              <a:t>/</a:t>
            </a:r>
            <a:r>
              <a:rPr lang="zh-CN" altLang="en-US" sz="1200" dirty="0">
                <a:solidFill>
                  <a:prstClr val="black"/>
                </a:solidFill>
                <a:latin typeface="微软雅黑" panose="020B0503020204020204" charset="-122"/>
                <a:ea typeface="微软雅黑" panose="020B0503020204020204" charset="-122"/>
              </a:rPr>
              <a:t>x的库存准备</a:t>
            </a:r>
            <a:endParaRPr lang="en-US" altLang="zh-CN" sz="1200" dirty="0">
              <a:solidFill>
                <a:prstClr val="black"/>
              </a:solidFill>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solidFill>
                  <a:prstClr val="black"/>
                </a:solidFill>
                <a:latin typeface="微软雅黑" panose="020B0503020204020204" charset="-122"/>
                <a:ea typeface="微软雅黑" panose="020B0503020204020204" charset="-122"/>
              </a:rPr>
              <a:t>零部件配送：</a:t>
            </a:r>
            <a:r>
              <a:rPr lang="zh-CN" altLang="en-US" sz="1200" dirty="0">
                <a:solidFill>
                  <a:prstClr val="black"/>
                </a:solidFill>
                <a:latin typeface="微软雅黑" panose="020B0503020204020204" charset="-122"/>
                <a:ea typeface="微软雅黑" panose="020B0503020204020204" charset="-122"/>
              </a:rPr>
              <a:t>长周期件</a:t>
            </a:r>
            <a:r>
              <a:rPr lang="en-US" altLang="zh-CN" sz="1200" dirty="0">
                <a:solidFill>
                  <a:prstClr val="black"/>
                </a:solidFill>
                <a:latin typeface="微软雅黑" panose="020B0503020204020204" charset="-122"/>
                <a:ea typeface="微软雅黑" panose="020B0503020204020204" charset="-122"/>
              </a:rPr>
              <a:t>/</a:t>
            </a:r>
            <a:r>
              <a:rPr lang="zh-CN" altLang="en-US" sz="1200" dirty="0">
                <a:solidFill>
                  <a:prstClr val="black"/>
                </a:solidFill>
                <a:latin typeface="微软雅黑" panose="020B0503020204020204" charset="-122"/>
                <a:ea typeface="微软雅黑" panose="020B0503020204020204" charset="-122"/>
              </a:rPr>
              <a:t>钢材、油料</a:t>
            </a:r>
            <a:r>
              <a:rPr lang="zh-CN" altLang="en-US" sz="1200" b="1" dirty="0">
                <a:solidFill>
                  <a:srgbClr val="4F81BD"/>
                </a:solidFill>
                <a:latin typeface="微软雅黑" panose="020B0503020204020204" charset="-122"/>
                <a:ea typeface="微软雅黑" panose="020B0503020204020204" charset="-122"/>
              </a:rPr>
              <a:t>按订单配送</a:t>
            </a:r>
            <a:r>
              <a:rPr lang="zh-CN" altLang="en-US" sz="1200" dirty="0">
                <a:solidFill>
                  <a:prstClr val="black"/>
                </a:solidFill>
                <a:latin typeface="微软雅黑" panose="020B0503020204020204" charset="-122"/>
                <a:ea typeface="微软雅黑" panose="020B0503020204020204" charset="-122"/>
              </a:rPr>
              <a:t>；部分体积大、运输距离近的件通过</a:t>
            </a:r>
            <a:r>
              <a:rPr lang="zh-CN" altLang="en-US" sz="1200" b="1" dirty="0">
                <a:solidFill>
                  <a:srgbClr val="4F81BD"/>
                </a:solidFill>
                <a:latin typeface="微软雅黑" panose="020B0503020204020204" charset="-122"/>
                <a:ea typeface="微软雅黑" panose="020B0503020204020204" charset="-122"/>
              </a:rPr>
              <a:t>日供货指令配送</a:t>
            </a:r>
            <a:r>
              <a:rPr lang="zh-CN" altLang="en-US" sz="1200" dirty="0">
                <a:solidFill>
                  <a:prstClr val="black"/>
                </a:solidFill>
                <a:latin typeface="微软雅黑" panose="020B0503020204020204" charset="-122"/>
                <a:ea typeface="微软雅黑" panose="020B0503020204020204" charset="-122"/>
              </a:rPr>
              <a:t>，实现精益生产</a:t>
            </a:r>
            <a:endParaRPr lang="en-US" altLang="zh-CN" sz="1200" dirty="0">
              <a:solidFill>
                <a:prstClr val="black"/>
              </a:solidFill>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solidFill>
                  <a:prstClr val="black"/>
                </a:solidFill>
                <a:latin typeface="微软雅黑" panose="020B0503020204020204" charset="-122"/>
                <a:ea typeface="微软雅黑" panose="020B0503020204020204" charset="-122"/>
              </a:rPr>
              <a:t>零部件预警机制：</a:t>
            </a:r>
            <a:r>
              <a:rPr lang="zh-CN" altLang="en-US" sz="1200" dirty="0">
                <a:solidFill>
                  <a:prstClr val="black"/>
                </a:solidFill>
                <a:latin typeface="微软雅黑" panose="020B0503020204020204" charset="-122"/>
                <a:ea typeface="微软雅黑" panose="020B0503020204020204" charset="-122"/>
              </a:rPr>
              <a:t>通过</a:t>
            </a:r>
            <a:r>
              <a:rPr lang="zh-CN" altLang="en-US" sz="1200" b="1" dirty="0">
                <a:solidFill>
                  <a:srgbClr val="4F81BD"/>
                </a:solidFill>
                <a:latin typeface="微软雅黑" panose="020B0503020204020204" charset="-122"/>
                <a:ea typeface="微软雅黑" panose="020B0503020204020204" charset="-122"/>
              </a:rPr>
              <a:t>准确的预警报表</a:t>
            </a:r>
            <a:r>
              <a:rPr lang="zh-CN" altLang="en-US" sz="1200" dirty="0">
                <a:solidFill>
                  <a:prstClr val="black"/>
                </a:solidFill>
                <a:latin typeface="微软雅黑" panose="020B0503020204020204" charset="-122"/>
                <a:ea typeface="微软雅黑" panose="020B0503020204020204" charset="-122"/>
              </a:rPr>
              <a:t>预防零部件供应风险</a:t>
            </a:r>
            <a:endParaRPr lang="en-US" altLang="zh-CN" sz="1200" dirty="0">
              <a:solidFill>
                <a:prstClr val="black"/>
              </a:solidFill>
              <a:latin typeface="微软雅黑" panose="020B0503020204020204" charset="-122"/>
              <a:ea typeface="微软雅黑" panose="020B0503020204020204" charset="-122"/>
            </a:endParaRPr>
          </a:p>
          <a:p>
            <a:pPr marL="88900" indent="-88900">
              <a:lnSpc>
                <a:spcPct val="110000"/>
              </a:lnSpc>
              <a:spcBef>
                <a:spcPts val="300"/>
              </a:spcBef>
              <a:buFont typeface="微软雅黑" panose="020B0503020204020204" charset="-122"/>
              <a:buChar char="▪"/>
            </a:pPr>
            <a:r>
              <a:rPr lang="zh-CN" altLang="en-US" sz="1200" b="1" dirty="0">
                <a:solidFill>
                  <a:prstClr val="black"/>
                </a:solidFill>
                <a:latin typeface="微软雅黑" panose="020B0503020204020204" charset="-122"/>
                <a:ea typeface="微软雅黑" panose="020B0503020204020204" charset="-122"/>
              </a:rPr>
              <a:t>供应商协同管理</a:t>
            </a:r>
            <a:r>
              <a:rPr lang="zh-CN" altLang="en-US" sz="1200" dirty="0">
                <a:solidFill>
                  <a:prstClr val="black"/>
                </a:solidFill>
                <a:latin typeface="微软雅黑" panose="020B0503020204020204" charset="-122"/>
                <a:ea typeface="微软雅黑" panose="020B0503020204020204" charset="-122"/>
              </a:rPr>
              <a:t>：</a:t>
            </a:r>
            <a:r>
              <a:rPr lang="zh-CN" altLang="en-US" sz="1200" b="1" dirty="0">
                <a:solidFill>
                  <a:srgbClr val="4F81BD"/>
                </a:solidFill>
                <a:latin typeface="微软雅黑" panose="020B0503020204020204" charset="-122"/>
                <a:ea typeface="微软雅黑" panose="020B0503020204020204" charset="-122"/>
              </a:rPr>
              <a:t>供应商绩效管理、沟通及改善</a:t>
            </a:r>
          </a:p>
        </p:txBody>
      </p:sp>
      <p:sp>
        <p:nvSpPr>
          <p:cNvPr id="175" name="矩形 174"/>
          <p:cNvSpPr/>
          <p:nvPr/>
        </p:nvSpPr>
        <p:spPr bwMode="auto">
          <a:xfrm>
            <a:off x="311120" y="5888834"/>
            <a:ext cx="8547160" cy="612000"/>
          </a:xfrm>
          <a:prstGeom prst="rect">
            <a:avLst/>
          </a:prstGeom>
          <a:noFill/>
          <a:ln w="19050" cap="flat" cmpd="sng" algn="ctr">
            <a:solidFill>
              <a:schemeClr val="accent1">
                <a:lumMod val="60000"/>
                <a:lumOff val="40000"/>
              </a:schemeClr>
            </a:solidFill>
            <a:prstDash val="solid"/>
            <a:round/>
            <a:headEnd type="none" w="med" len="med"/>
            <a:tailEnd type="none"/>
          </a:ln>
          <a:effectLst/>
        </p:spPr>
        <p:txBody>
          <a:bodyPr lIns="900000" tIns="46800" rtlCol="0" anchor="ctr"/>
          <a:lstStyle/>
          <a:p>
            <a:pPr marL="176530" indent="-285750">
              <a:lnSpc>
                <a:spcPct val="110000"/>
              </a:lnSpc>
              <a:buFont typeface="Arial" panose="020B0604020202020204"/>
              <a:buChar char="•"/>
            </a:pPr>
            <a:r>
              <a:rPr lang="en-US" altLang="zh-CN" sz="1600" b="1" dirty="0">
                <a:solidFill>
                  <a:prstClr val="black"/>
                </a:solidFill>
                <a:latin typeface="微软雅黑" panose="020B0503020204020204" charset="-122"/>
                <a:ea typeface="微软雅黑" panose="020B0503020204020204" charset="-122"/>
              </a:rPr>
              <a:t>70%</a:t>
            </a:r>
            <a:r>
              <a:rPr lang="zh-CN" altLang="en-US" sz="1600" b="1" dirty="0">
                <a:solidFill>
                  <a:prstClr val="black"/>
                </a:solidFill>
                <a:latin typeface="微软雅黑" panose="020B0503020204020204" charset="-122"/>
                <a:ea typeface="微软雅黑" panose="020B0503020204020204" charset="-122"/>
              </a:rPr>
              <a:t>－</a:t>
            </a:r>
            <a:r>
              <a:rPr lang="en-US" altLang="zh-CN" sz="1600" b="1" dirty="0">
                <a:solidFill>
                  <a:prstClr val="black"/>
                </a:solidFill>
                <a:latin typeface="微软雅黑" panose="020B0503020204020204" charset="-122"/>
                <a:ea typeface="微软雅黑" panose="020B0503020204020204" charset="-122"/>
              </a:rPr>
              <a:t>80%</a:t>
            </a:r>
            <a:r>
              <a:rPr lang="zh-CN" altLang="en-US" sz="1400" dirty="0">
                <a:solidFill>
                  <a:prstClr val="black"/>
                </a:solidFill>
                <a:latin typeface="微软雅黑" panose="020B0503020204020204" charset="-122"/>
                <a:ea typeface="微软雅黑" panose="020B0503020204020204" charset="-122"/>
              </a:rPr>
              <a:t>计划内的零部件可以保障；</a:t>
            </a:r>
            <a:r>
              <a:rPr lang="en-US" altLang="zh-CN" sz="1600" b="1" dirty="0">
                <a:solidFill>
                  <a:prstClr val="black"/>
                </a:solidFill>
                <a:latin typeface="微软雅黑" panose="020B0503020204020204" charset="-122"/>
                <a:ea typeface="微软雅黑" panose="020B0503020204020204" charset="-122"/>
              </a:rPr>
              <a:t>20-30%</a:t>
            </a:r>
            <a:r>
              <a:rPr lang="zh-CN" altLang="en-US" sz="1400" dirty="0">
                <a:solidFill>
                  <a:prstClr val="black"/>
                </a:solidFill>
                <a:latin typeface="微软雅黑" panose="020B0503020204020204" charset="-122"/>
                <a:ea typeface="微软雅黑" panose="020B0503020204020204" charset="-122"/>
              </a:rPr>
              <a:t>的异常和波动风险可控，快速响应</a:t>
            </a:r>
            <a:endParaRPr lang="en-US" altLang="zh-CN" sz="1400" dirty="0">
              <a:solidFill>
                <a:prstClr val="black"/>
              </a:solidFill>
              <a:latin typeface="微软雅黑" panose="020B0503020204020204" charset="-122"/>
              <a:ea typeface="微软雅黑" panose="020B0503020204020204" charset="-122"/>
            </a:endParaRPr>
          </a:p>
          <a:p>
            <a:pPr marL="176530" indent="-285750">
              <a:lnSpc>
                <a:spcPct val="110000"/>
              </a:lnSpc>
              <a:buFont typeface="Arial" panose="020B0604020202020204"/>
              <a:buChar char="•"/>
            </a:pPr>
            <a:r>
              <a:rPr lang="zh-CN" altLang="en-US" sz="1400" dirty="0">
                <a:solidFill>
                  <a:prstClr val="black"/>
                </a:solidFill>
                <a:latin typeface="微软雅黑" panose="020B0503020204020204" charset="-122"/>
                <a:ea typeface="微软雅黑" panose="020B0503020204020204" charset="-122"/>
              </a:rPr>
              <a:t>通过可靠的计划及策略提升x</a:t>
            </a:r>
            <a:r>
              <a:rPr lang="en-US" altLang="zh-CN" sz="1400" dirty="0">
                <a:solidFill>
                  <a:prstClr val="black"/>
                </a:solidFill>
                <a:latin typeface="微软雅黑" panose="020B0503020204020204" charset="-122"/>
                <a:ea typeface="微软雅黑" panose="020B0503020204020204" charset="-122"/>
              </a:rPr>
              <a:t>/</a:t>
            </a:r>
            <a:r>
              <a:rPr lang="zh-CN" altLang="en-US" sz="1400" dirty="0">
                <a:solidFill>
                  <a:prstClr val="black"/>
                </a:solidFill>
                <a:latin typeface="微软雅黑" panose="020B0503020204020204" charset="-122"/>
                <a:ea typeface="微软雅黑" panose="020B0503020204020204" charset="-122"/>
              </a:rPr>
              <a:t>供应商的零部件库存周转率，降低链条上的整体成本</a:t>
            </a:r>
            <a:endParaRPr lang="en-US" altLang="zh-CN" sz="1400" dirty="0">
              <a:solidFill>
                <a:prstClr val="black"/>
              </a:solidFill>
              <a:latin typeface="微软雅黑" panose="020B0503020204020204" charset="-122"/>
              <a:ea typeface="微软雅黑" panose="020B0503020204020204" charset="-122"/>
            </a:endParaRPr>
          </a:p>
        </p:txBody>
      </p:sp>
      <p:sp>
        <p:nvSpPr>
          <p:cNvPr id="177" name="矩形 176"/>
          <p:cNvSpPr/>
          <p:nvPr/>
        </p:nvSpPr>
        <p:spPr bwMode="auto">
          <a:xfrm>
            <a:off x="311120" y="5888834"/>
            <a:ext cx="725523" cy="612000"/>
          </a:xfrm>
          <a:prstGeom prst="rect">
            <a:avLst/>
          </a:prstGeom>
          <a:solidFill>
            <a:srgbClr val="CCCCFF"/>
          </a:solidFill>
          <a:ln w="19050" cap="flat" cmpd="sng" algn="ctr">
            <a:solidFill>
              <a:schemeClr val="accent1">
                <a:lumMod val="60000"/>
                <a:lumOff val="40000"/>
              </a:schemeClr>
            </a:solidFill>
            <a:prstDash val="solid"/>
            <a:round/>
            <a:headEnd type="none" w="med" len="med"/>
            <a:tailEnd type="none"/>
          </a:ln>
          <a:effectLst/>
        </p:spPr>
        <p:txBody>
          <a:bodyPr rtlCol="0" anchor="ctr"/>
          <a:lstStyle/>
          <a:p>
            <a:pPr algn="ctr">
              <a:lnSpc>
                <a:spcPct val="110000"/>
              </a:lnSpc>
              <a:spcBef>
                <a:spcPts val="600"/>
              </a:spcBef>
            </a:pPr>
            <a:r>
              <a:rPr lang="zh-CN" altLang="en-US" sz="1400" b="1" dirty="0">
                <a:solidFill>
                  <a:prstClr val="black"/>
                </a:solidFill>
                <a:latin typeface="微软雅黑" panose="020B0503020204020204" charset="-122"/>
                <a:ea typeface="微软雅黑" panose="020B0503020204020204" charset="-122"/>
              </a:rPr>
              <a:t>主要</a:t>
            </a:r>
            <a:br>
              <a:rPr lang="en-US" altLang="zh-CN" sz="1400" b="1" dirty="0">
                <a:solidFill>
                  <a:prstClr val="black"/>
                </a:solidFill>
                <a:latin typeface="微软雅黑" panose="020B0503020204020204" charset="-122"/>
                <a:ea typeface="微软雅黑" panose="020B0503020204020204" charset="-122"/>
              </a:rPr>
            </a:br>
            <a:r>
              <a:rPr lang="zh-CN" altLang="en-US" sz="1400" b="1" dirty="0">
                <a:solidFill>
                  <a:prstClr val="black"/>
                </a:solidFill>
                <a:latin typeface="微软雅黑" panose="020B0503020204020204" charset="-122"/>
                <a:ea typeface="微软雅黑" panose="020B0503020204020204" charset="-122"/>
              </a:rPr>
              <a:t>收益</a:t>
            </a:r>
            <a:endParaRPr lang="en-US" altLang="zh-CN" sz="1400" b="1" dirty="0">
              <a:solidFill>
                <a:prstClr val="black"/>
              </a:solidFill>
              <a:latin typeface="微软雅黑" panose="020B0503020204020204" charset="-122"/>
              <a:ea typeface="微软雅黑" panose="020B0503020204020204" charset="-122"/>
            </a:endParaRPr>
          </a:p>
        </p:txBody>
      </p:sp>
      <p:grpSp>
        <p:nvGrpSpPr>
          <p:cNvPr id="3" name="Group 10"/>
          <p:cNvGrpSpPr/>
          <p:nvPr/>
        </p:nvGrpSpPr>
        <p:grpSpPr>
          <a:xfrm>
            <a:off x="1932850" y="1656938"/>
            <a:ext cx="4535481" cy="2276117"/>
            <a:chOff x="1932850" y="1656939"/>
            <a:chExt cx="4535481" cy="1988086"/>
          </a:xfrm>
        </p:grpSpPr>
        <p:sp>
          <p:nvSpPr>
            <p:cNvPr id="41" name="Line 26"/>
            <p:cNvSpPr>
              <a:spLocks noChangeShapeType="1"/>
            </p:cNvSpPr>
            <p:nvPr/>
          </p:nvSpPr>
          <p:spPr bwMode="auto">
            <a:xfrm flipH="1">
              <a:off x="4489468" y="2194963"/>
              <a:ext cx="808666" cy="0"/>
            </a:xfrm>
            <a:prstGeom prst="line">
              <a:avLst/>
            </a:prstGeom>
            <a:noFill/>
            <a:ln w="12700">
              <a:solidFill>
                <a:srgbClr val="000000"/>
              </a:solidFill>
              <a:round/>
              <a:tailEnd type="triangle" w="med" len="med"/>
            </a:ln>
          </p:spPr>
          <p:txBody>
            <a:bodyPr wrap="none" anchor="ctr"/>
            <a:lstStyle/>
            <a:p>
              <a:pPr>
                <a:defRPr/>
              </a:pPr>
              <a:endParaRPr lang="zh-CN" altLang="en-US" sz="800" kern="0">
                <a:solidFill>
                  <a:sysClr val="windowText" lastClr="000000"/>
                </a:solidFill>
                <a:latin typeface="微软雅黑" panose="020B0503020204020204" charset="-122"/>
                <a:ea typeface="微软雅黑" panose="020B0503020204020204" charset="-122"/>
              </a:endParaRPr>
            </a:p>
          </p:txBody>
        </p:sp>
        <p:sp>
          <p:nvSpPr>
            <p:cNvPr id="42" name="Line 30"/>
            <p:cNvSpPr>
              <a:spLocks noChangeShapeType="1"/>
            </p:cNvSpPr>
            <p:nvPr/>
          </p:nvSpPr>
          <p:spPr bwMode="auto">
            <a:xfrm flipH="1">
              <a:off x="4506315" y="2913142"/>
              <a:ext cx="814984" cy="0"/>
            </a:xfrm>
            <a:prstGeom prst="line">
              <a:avLst/>
            </a:prstGeom>
            <a:noFill/>
            <a:ln w="12700">
              <a:solidFill>
                <a:srgbClr val="000000"/>
              </a:solidFill>
              <a:round/>
              <a:tailEnd type="triangle" w="med" len="med"/>
            </a:ln>
          </p:spPr>
          <p:txBody>
            <a:bodyPr wrap="none" anchor="ctr"/>
            <a:lstStyle/>
            <a:p>
              <a:pPr>
                <a:defRPr/>
              </a:pPr>
              <a:endParaRPr lang="zh-CN" altLang="en-US" sz="800" kern="0">
                <a:solidFill>
                  <a:sysClr val="windowText" lastClr="000000"/>
                </a:solidFill>
                <a:latin typeface="微软雅黑" panose="020B0503020204020204" charset="-122"/>
                <a:ea typeface="微软雅黑" panose="020B0503020204020204" charset="-122"/>
              </a:endParaRPr>
            </a:p>
          </p:txBody>
        </p:sp>
        <p:sp>
          <p:nvSpPr>
            <p:cNvPr id="43" name="Line 34"/>
            <p:cNvSpPr>
              <a:spLocks noChangeShapeType="1"/>
            </p:cNvSpPr>
            <p:nvPr/>
          </p:nvSpPr>
          <p:spPr bwMode="auto">
            <a:xfrm flipH="1">
              <a:off x="4484203" y="3443835"/>
              <a:ext cx="814984" cy="0"/>
            </a:xfrm>
            <a:prstGeom prst="line">
              <a:avLst/>
            </a:prstGeom>
            <a:noFill/>
            <a:ln w="12700">
              <a:solidFill>
                <a:srgbClr val="000000"/>
              </a:solidFill>
              <a:round/>
              <a:tailEnd type="triangle" w="med" len="med"/>
            </a:ln>
          </p:spPr>
          <p:txBody>
            <a:bodyPr wrap="none" anchor="ctr"/>
            <a:lstStyle/>
            <a:p>
              <a:pPr>
                <a:defRPr/>
              </a:pPr>
              <a:endParaRPr lang="zh-CN" altLang="en-US" sz="800" kern="0">
                <a:solidFill>
                  <a:sysClr val="windowText" lastClr="000000"/>
                </a:solidFill>
                <a:latin typeface="微软雅黑" panose="020B0503020204020204" charset="-122"/>
                <a:ea typeface="微软雅黑" panose="020B0503020204020204" charset="-122"/>
              </a:endParaRPr>
            </a:p>
          </p:txBody>
        </p:sp>
        <p:sp>
          <p:nvSpPr>
            <p:cNvPr id="44" name="Line 25"/>
            <p:cNvSpPr>
              <a:spLocks noChangeShapeType="1"/>
            </p:cNvSpPr>
            <p:nvPr/>
          </p:nvSpPr>
          <p:spPr bwMode="auto">
            <a:xfrm flipH="1">
              <a:off x="4489468" y="2101661"/>
              <a:ext cx="814984" cy="0"/>
            </a:xfrm>
            <a:prstGeom prst="line">
              <a:avLst/>
            </a:prstGeom>
            <a:noFill/>
            <a:ln w="12700">
              <a:solidFill>
                <a:srgbClr val="000000"/>
              </a:solidFill>
              <a:round/>
              <a:headEnd type="triangle" w="med" len="med"/>
            </a:ln>
          </p:spPr>
          <p:txBody>
            <a:bodyPr wrap="none" anchor="ctr"/>
            <a:lstStyle/>
            <a:p>
              <a:pPr>
                <a:defRPr/>
              </a:pPr>
              <a:endParaRPr lang="zh-CN" altLang="en-US" sz="800" kern="0">
                <a:solidFill>
                  <a:sysClr val="windowText" lastClr="000000"/>
                </a:solidFill>
                <a:latin typeface="微软雅黑" panose="020B0503020204020204" charset="-122"/>
                <a:ea typeface="微软雅黑" panose="020B0503020204020204" charset="-122"/>
              </a:endParaRPr>
            </a:p>
          </p:txBody>
        </p:sp>
        <p:sp>
          <p:nvSpPr>
            <p:cNvPr id="45" name="Line 29"/>
            <p:cNvSpPr>
              <a:spLocks noChangeShapeType="1"/>
            </p:cNvSpPr>
            <p:nvPr/>
          </p:nvSpPr>
          <p:spPr bwMode="auto">
            <a:xfrm flipH="1">
              <a:off x="4506315" y="2813702"/>
              <a:ext cx="821301" cy="0"/>
            </a:xfrm>
            <a:prstGeom prst="line">
              <a:avLst/>
            </a:prstGeom>
            <a:noFill/>
            <a:ln w="12700">
              <a:solidFill>
                <a:srgbClr val="000000"/>
              </a:solidFill>
              <a:round/>
              <a:headEnd type="triangle" w="med" len="med"/>
            </a:ln>
          </p:spPr>
          <p:txBody>
            <a:bodyPr wrap="none" anchor="ctr"/>
            <a:lstStyle/>
            <a:p>
              <a:pPr>
                <a:defRPr/>
              </a:pPr>
              <a:endParaRPr lang="zh-CN" altLang="en-US" sz="800" kern="0">
                <a:solidFill>
                  <a:sysClr val="windowText" lastClr="000000"/>
                </a:solidFill>
                <a:latin typeface="微软雅黑" panose="020B0503020204020204" charset="-122"/>
                <a:ea typeface="微软雅黑" panose="020B0503020204020204" charset="-122"/>
              </a:endParaRPr>
            </a:p>
          </p:txBody>
        </p:sp>
        <p:sp>
          <p:nvSpPr>
            <p:cNvPr id="46" name="Line 33"/>
            <p:cNvSpPr>
              <a:spLocks noChangeShapeType="1"/>
            </p:cNvSpPr>
            <p:nvPr/>
          </p:nvSpPr>
          <p:spPr bwMode="auto">
            <a:xfrm flipH="1">
              <a:off x="4484203" y="3333346"/>
              <a:ext cx="833937" cy="0"/>
            </a:xfrm>
            <a:prstGeom prst="line">
              <a:avLst/>
            </a:prstGeom>
            <a:noFill/>
            <a:ln w="12700">
              <a:solidFill>
                <a:srgbClr val="000000"/>
              </a:solidFill>
              <a:round/>
              <a:headEnd type="triangle" w="med" len="med"/>
            </a:ln>
          </p:spPr>
          <p:txBody>
            <a:bodyPr wrap="none" anchor="ctr"/>
            <a:lstStyle/>
            <a:p>
              <a:pPr>
                <a:defRPr/>
              </a:pPr>
              <a:endParaRPr lang="zh-CN" altLang="en-US" sz="800" kern="0">
                <a:solidFill>
                  <a:sysClr val="windowText" lastClr="000000"/>
                </a:solidFill>
                <a:latin typeface="微软雅黑" panose="020B0503020204020204" charset="-122"/>
                <a:ea typeface="微软雅黑" panose="020B0503020204020204" charset="-122"/>
              </a:endParaRPr>
            </a:p>
          </p:txBody>
        </p:sp>
        <p:sp>
          <p:nvSpPr>
            <p:cNvPr id="47" name="Rectangle 21"/>
            <p:cNvSpPr>
              <a:spLocks noChangeArrowheads="1"/>
            </p:cNvSpPr>
            <p:nvPr/>
          </p:nvSpPr>
          <p:spPr bwMode="auto">
            <a:xfrm>
              <a:off x="5369948" y="1881067"/>
              <a:ext cx="1098383" cy="1763957"/>
            </a:xfrm>
            <a:prstGeom prst="rect">
              <a:avLst/>
            </a:prstGeom>
            <a:solidFill>
              <a:srgbClr val="D6DBFE"/>
            </a:solidFill>
            <a:ln w="9525" algn="ctr">
              <a:noFill/>
              <a:round/>
            </a:ln>
          </p:spPr>
          <p:txBody>
            <a:bodyPr lIns="90000" tIns="46800" rIns="90000" bIns="46800" anchor="ctr"/>
            <a:lstStyle/>
            <a:p>
              <a:pPr algn="ctr">
                <a:buFont typeface="Arial" panose="020B0604020202020204" pitchFamily="34" charset="0"/>
                <a:buNone/>
              </a:pPr>
              <a:endParaRPr lang="zh-CN" altLang="en-US" sz="1200" kern="0">
                <a:solidFill>
                  <a:sysClr val="windowText" lastClr="000000"/>
                </a:solidFill>
                <a:latin typeface="微软雅黑" panose="020B0503020204020204" charset="-122"/>
                <a:ea typeface="微软雅黑" panose="020B0503020204020204" charset="-122"/>
              </a:endParaRPr>
            </a:p>
          </p:txBody>
        </p:sp>
        <p:sp>
          <p:nvSpPr>
            <p:cNvPr id="48" name="Text Box 21"/>
            <p:cNvSpPr txBox="1">
              <a:spLocks noChangeArrowheads="1"/>
            </p:cNvSpPr>
            <p:nvPr/>
          </p:nvSpPr>
          <p:spPr bwMode="auto">
            <a:xfrm>
              <a:off x="5560993" y="1656939"/>
              <a:ext cx="858385" cy="203862"/>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algn="ctr" eaLnBrk="0" hangingPunct="0">
                <a:lnSpc>
                  <a:spcPct val="90000"/>
                </a:lnSpc>
                <a:spcBef>
                  <a:spcPct val="20000"/>
                </a:spcBef>
                <a:buClr>
                  <a:srgbClr val="000000"/>
                </a:buClr>
                <a:buFont typeface="Arial" panose="020B0604020202020204" pitchFamily="34" charset="0"/>
                <a:buNone/>
                <a:defRPr/>
              </a:pPr>
              <a:r>
                <a:rPr lang="zh-CN" altLang="en-US" sz="1000" kern="0" dirty="0">
                  <a:solidFill>
                    <a:sysClr val="windowText" lastClr="000000"/>
                  </a:solidFill>
                  <a:latin typeface="微软雅黑" panose="020B0503020204020204" charset="-122"/>
                  <a:ea typeface="微软雅黑" panose="020B0503020204020204" charset="-122"/>
                </a:rPr>
                <a:t>供应商交付</a:t>
              </a:r>
            </a:p>
          </p:txBody>
        </p:sp>
        <p:sp>
          <p:nvSpPr>
            <p:cNvPr id="49" name="Rectangle 23"/>
            <p:cNvSpPr>
              <a:spLocks noChangeArrowheads="1"/>
            </p:cNvSpPr>
            <p:nvPr/>
          </p:nvSpPr>
          <p:spPr bwMode="auto">
            <a:xfrm>
              <a:off x="5482812" y="2007765"/>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供应商生产规划</a:t>
              </a:r>
            </a:p>
          </p:txBody>
        </p:sp>
        <p:sp>
          <p:nvSpPr>
            <p:cNvPr id="50" name="Rectangle 24"/>
            <p:cNvSpPr>
              <a:spLocks noChangeArrowheads="1"/>
            </p:cNvSpPr>
            <p:nvPr/>
          </p:nvSpPr>
          <p:spPr bwMode="auto">
            <a:xfrm>
              <a:off x="5482812" y="2610370"/>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供应商生产安排</a:t>
              </a:r>
            </a:p>
          </p:txBody>
        </p:sp>
        <p:sp>
          <p:nvSpPr>
            <p:cNvPr id="51" name="Rectangle 25"/>
            <p:cNvSpPr>
              <a:spLocks noChangeArrowheads="1"/>
            </p:cNvSpPr>
            <p:nvPr/>
          </p:nvSpPr>
          <p:spPr bwMode="auto">
            <a:xfrm>
              <a:off x="5482812" y="3212976"/>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供应商交货</a:t>
              </a:r>
            </a:p>
          </p:txBody>
        </p:sp>
        <p:sp>
          <p:nvSpPr>
            <p:cNvPr id="52" name="Text Box 27"/>
            <p:cNvSpPr txBox="1">
              <a:spLocks noChangeArrowheads="1"/>
            </p:cNvSpPr>
            <p:nvPr/>
          </p:nvSpPr>
          <p:spPr bwMode="auto">
            <a:xfrm>
              <a:off x="4612580" y="1825381"/>
              <a:ext cx="751507" cy="315984"/>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采购需求计划</a:t>
              </a:r>
              <a:r>
                <a:rPr lang="en-US" altLang="zh-CN" sz="800" kern="0" dirty="0">
                  <a:solidFill>
                    <a:sysClr val="windowText" lastClr="000000"/>
                  </a:solidFill>
                  <a:latin typeface="微软雅黑" panose="020B0503020204020204" charset="-122"/>
                  <a:ea typeface="微软雅黑" panose="020B0503020204020204" charset="-122"/>
                </a:rPr>
                <a:t>/</a:t>
              </a:r>
              <a:r>
                <a:rPr lang="zh-CN" altLang="en-US" sz="800" kern="0" dirty="0">
                  <a:solidFill>
                    <a:sysClr val="windowText" lastClr="000000"/>
                  </a:solidFill>
                  <a:latin typeface="微软雅黑" panose="020B0503020204020204" charset="-122"/>
                  <a:ea typeface="微软雅黑" panose="020B0503020204020204" charset="-122"/>
                </a:rPr>
                <a:t>采购订单</a:t>
              </a:r>
            </a:p>
          </p:txBody>
        </p:sp>
        <p:sp>
          <p:nvSpPr>
            <p:cNvPr id="53" name="Text Box 28"/>
            <p:cNvSpPr txBox="1">
              <a:spLocks noChangeArrowheads="1"/>
            </p:cNvSpPr>
            <p:nvPr/>
          </p:nvSpPr>
          <p:spPr bwMode="auto">
            <a:xfrm>
              <a:off x="4633047" y="2204864"/>
              <a:ext cx="947065" cy="205184"/>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供应商反馈</a:t>
              </a:r>
            </a:p>
          </p:txBody>
        </p:sp>
        <p:sp>
          <p:nvSpPr>
            <p:cNvPr id="54" name="Text Box 31"/>
            <p:cNvSpPr txBox="1">
              <a:spLocks noChangeArrowheads="1"/>
            </p:cNvSpPr>
            <p:nvPr/>
          </p:nvSpPr>
          <p:spPr bwMode="auto">
            <a:xfrm>
              <a:off x="4572000" y="2492896"/>
              <a:ext cx="967531" cy="315984"/>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eaLnBrk="0" hangingPunct="0">
                <a:lnSpc>
                  <a:spcPct val="90000"/>
                </a:lnSpc>
                <a:buClr>
                  <a:srgbClr val="000000"/>
                </a:buClr>
                <a:defRPr/>
              </a:pPr>
              <a:r>
                <a:rPr lang="zh-CN" altLang="en-US" sz="800" kern="0" dirty="0">
                  <a:solidFill>
                    <a:sysClr val="windowText" lastClr="000000"/>
                  </a:solidFill>
                  <a:latin typeface="微软雅黑" panose="020B0503020204020204" charset="-122"/>
                  <a:ea typeface="微软雅黑" panose="020B0503020204020204" charset="-122"/>
                </a:rPr>
                <a:t>采购需求计划</a:t>
              </a:r>
            </a:p>
            <a:p>
              <a:pPr eaLnBrk="0" hangingPunct="0">
                <a:lnSpc>
                  <a:spcPct val="90000"/>
                </a:lnSpc>
                <a:buClr>
                  <a:srgbClr val="000000"/>
                </a:buClr>
                <a:buFont typeface="Arial" panose="020B0604020202020204" pitchFamily="34" charset="0"/>
                <a:buNone/>
                <a:defRPr/>
              </a:pPr>
              <a:r>
                <a:rPr lang="en-US" altLang="zh-CN" sz="800" kern="0" dirty="0">
                  <a:solidFill>
                    <a:sysClr val="windowText" lastClr="000000"/>
                  </a:solidFill>
                  <a:latin typeface="微软雅黑" panose="020B0503020204020204" charset="-122"/>
                  <a:ea typeface="微软雅黑" panose="020B0503020204020204" charset="-122"/>
                </a:rPr>
                <a:t>/</a:t>
              </a:r>
              <a:r>
                <a:rPr lang="zh-CN" altLang="en-US" sz="800" kern="0" dirty="0">
                  <a:solidFill>
                    <a:sysClr val="windowText" lastClr="000000"/>
                  </a:solidFill>
                  <a:latin typeface="微软雅黑" panose="020B0503020204020204" charset="-122"/>
                  <a:ea typeface="微软雅黑" panose="020B0503020204020204" charset="-122"/>
                </a:rPr>
                <a:t>采购订单</a:t>
              </a:r>
            </a:p>
          </p:txBody>
        </p:sp>
        <p:sp>
          <p:nvSpPr>
            <p:cNvPr id="55" name="Text Box 32"/>
            <p:cNvSpPr txBox="1">
              <a:spLocks noChangeArrowheads="1"/>
            </p:cNvSpPr>
            <p:nvPr/>
          </p:nvSpPr>
          <p:spPr bwMode="auto">
            <a:xfrm>
              <a:off x="4572000" y="2924944"/>
              <a:ext cx="803049" cy="206955"/>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供应商反馈</a:t>
              </a:r>
            </a:p>
          </p:txBody>
        </p:sp>
        <p:sp>
          <p:nvSpPr>
            <p:cNvPr id="56" name="Text Box 35"/>
            <p:cNvSpPr txBox="1">
              <a:spLocks noChangeArrowheads="1"/>
            </p:cNvSpPr>
            <p:nvPr/>
          </p:nvSpPr>
          <p:spPr bwMode="auto">
            <a:xfrm>
              <a:off x="4660342" y="3140968"/>
              <a:ext cx="682312" cy="158674"/>
            </a:xfrm>
            <a:prstGeom prst="rect">
              <a:avLst/>
            </a:prstGeom>
            <a:noFill/>
            <a:ln w="12700" algn="ctr">
              <a:noFill/>
              <a:miter lim="800000"/>
            </a:ln>
            <a:effectLst>
              <a:prstShdw prst="shdw17" dist="17961" dir="2700000">
                <a:srgbClr val="D6DBFE">
                  <a:gamma/>
                  <a:shade val="60000"/>
                  <a:invGamma/>
                </a:srgbClr>
              </a:prstShdw>
            </a:effectLst>
          </p:spPr>
          <p:txBody>
            <a:bodyPr>
              <a:spAutoFit/>
            </a:bodyPr>
            <a:lstStyle/>
            <a:p>
              <a:pP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要货通知</a:t>
              </a:r>
            </a:p>
          </p:txBody>
        </p:sp>
        <p:sp>
          <p:nvSpPr>
            <p:cNvPr id="57" name="Text Box 36"/>
            <p:cNvSpPr txBox="1">
              <a:spLocks noChangeArrowheads="1"/>
            </p:cNvSpPr>
            <p:nvPr/>
          </p:nvSpPr>
          <p:spPr bwMode="auto">
            <a:xfrm>
              <a:off x="4499992" y="3424452"/>
              <a:ext cx="867657" cy="205184"/>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供应商反馈</a:t>
              </a:r>
            </a:p>
          </p:txBody>
        </p:sp>
        <p:sp>
          <p:nvSpPr>
            <p:cNvPr id="58" name="Rectangle 38"/>
            <p:cNvSpPr>
              <a:spLocks noChangeArrowheads="1"/>
            </p:cNvSpPr>
            <p:nvPr/>
          </p:nvSpPr>
          <p:spPr bwMode="auto">
            <a:xfrm>
              <a:off x="3363979" y="1881054"/>
              <a:ext cx="1098383" cy="1763970"/>
            </a:xfrm>
            <a:prstGeom prst="rect">
              <a:avLst/>
            </a:prstGeom>
            <a:solidFill>
              <a:srgbClr val="D6DBFE"/>
            </a:solidFill>
            <a:ln w="9525" algn="ctr">
              <a:noFill/>
              <a:round/>
            </a:ln>
          </p:spPr>
          <p:txBody>
            <a:bodyPr lIns="90000" tIns="46800" rIns="90000" bIns="46800" anchor="ctr"/>
            <a:lstStyle/>
            <a:p>
              <a:pPr algn="ctr">
                <a:buFont typeface="Arial" panose="020B0604020202020204" pitchFamily="34" charset="0"/>
                <a:buNone/>
              </a:pPr>
              <a:endParaRPr lang="zh-CN" altLang="en-US" sz="1200" kern="0" dirty="0">
                <a:solidFill>
                  <a:sysClr val="windowText" lastClr="000000"/>
                </a:solidFill>
                <a:latin typeface="微软雅黑" panose="020B0503020204020204" charset="-122"/>
                <a:ea typeface="微软雅黑" panose="020B0503020204020204" charset="-122"/>
              </a:endParaRPr>
            </a:p>
          </p:txBody>
        </p:sp>
        <p:sp>
          <p:nvSpPr>
            <p:cNvPr id="59" name="Text Box 38"/>
            <p:cNvSpPr txBox="1">
              <a:spLocks noChangeArrowheads="1"/>
            </p:cNvSpPr>
            <p:nvPr/>
          </p:nvSpPr>
          <p:spPr bwMode="auto">
            <a:xfrm>
              <a:off x="1932850" y="1656939"/>
              <a:ext cx="910958" cy="203862"/>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algn="ctr" eaLnBrk="0" hangingPunct="0">
                <a:lnSpc>
                  <a:spcPct val="90000"/>
                </a:lnSpc>
                <a:spcBef>
                  <a:spcPct val="20000"/>
                </a:spcBef>
                <a:buClr>
                  <a:srgbClr val="000000"/>
                </a:buClr>
                <a:buFont typeface="Arial" panose="020B0604020202020204" pitchFamily="34" charset="0"/>
                <a:buNone/>
                <a:defRPr/>
              </a:pPr>
              <a:r>
                <a:rPr lang="zh-CN" altLang="en-US" sz="1000" kern="0" dirty="0">
                  <a:solidFill>
                    <a:sysClr val="windowText" lastClr="000000"/>
                  </a:solidFill>
                  <a:latin typeface="微软雅黑" panose="020B0503020204020204" charset="-122"/>
                  <a:ea typeface="微软雅黑" panose="020B0503020204020204" charset="-122"/>
                </a:rPr>
                <a:t>零部件计划</a:t>
              </a:r>
              <a:endParaRPr lang="en-US" altLang="zh-CN" sz="1000" kern="0" dirty="0">
                <a:solidFill>
                  <a:sysClr val="windowText" lastClr="000000"/>
                </a:solidFill>
                <a:latin typeface="微软雅黑" panose="020B0503020204020204" charset="-122"/>
                <a:ea typeface="微软雅黑" panose="020B0503020204020204" charset="-122"/>
              </a:endParaRPr>
            </a:p>
          </p:txBody>
        </p:sp>
        <p:sp>
          <p:nvSpPr>
            <p:cNvPr id="61" name="Text Box 21"/>
            <p:cNvSpPr txBox="1">
              <a:spLocks noChangeArrowheads="1"/>
            </p:cNvSpPr>
            <p:nvPr/>
          </p:nvSpPr>
          <p:spPr bwMode="auto">
            <a:xfrm>
              <a:off x="3507123" y="1656939"/>
              <a:ext cx="859701" cy="203862"/>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algn="ctr" eaLnBrk="0" hangingPunct="0">
                <a:lnSpc>
                  <a:spcPct val="90000"/>
                </a:lnSpc>
                <a:spcBef>
                  <a:spcPct val="20000"/>
                </a:spcBef>
                <a:buClr>
                  <a:srgbClr val="000000"/>
                </a:buClr>
                <a:buFont typeface="Arial" panose="020B0604020202020204" pitchFamily="34" charset="0"/>
                <a:buNone/>
                <a:defRPr/>
              </a:pPr>
              <a:r>
                <a:rPr lang="zh-CN" altLang="en-US" sz="1000" kern="0" dirty="0">
                  <a:solidFill>
                    <a:sysClr val="windowText" lastClr="000000"/>
                  </a:solidFill>
                  <a:latin typeface="微软雅黑" panose="020B0503020204020204" charset="-122"/>
                  <a:ea typeface="微软雅黑" panose="020B0503020204020204" charset="-122"/>
                </a:rPr>
                <a:t>零部件采购</a:t>
              </a:r>
            </a:p>
          </p:txBody>
        </p:sp>
        <p:sp>
          <p:nvSpPr>
            <p:cNvPr id="62" name="Rectangle 23"/>
            <p:cNvSpPr>
              <a:spLocks noChangeArrowheads="1"/>
            </p:cNvSpPr>
            <p:nvPr/>
          </p:nvSpPr>
          <p:spPr bwMode="auto">
            <a:xfrm>
              <a:off x="3507123" y="2007765"/>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中长期零部件</a:t>
              </a:r>
              <a:endParaRPr lang="en-US" altLang="zh-CN" sz="800" kern="0" dirty="0">
                <a:solidFill>
                  <a:sysClr val="windowText" lastClr="000000"/>
                </a:solidFill>
                <a:latin typeface="微软雅黑" panose="020B0503020204020204" charset="-122"/>
                <a:ea typeface="微软雅黑" panose="020B0503020204020204" charset="-122"/>
              </a:endParaRPr>
            </a:p>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采购订单</a:t>
              </a:r>
            </a:p>
          </p:txBody>
        </p:sp>
        <p:sp>
          <p:nvSpPr>
            <p:cNvPr id="63" name="Rectangle 24"/>
            <p:cNvSpPr>
              <a:spLocks noChangeArrowheads="1"/>
            </p:cNvSpPr>
            <p:nvPr/>
          </p:nvSpPr>
          <p:spPr bwMode="auto">
            <a:xfrm>
              <a:off x="3507123" y="2610370"/>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用量稳定通用件</a:t>
              </a:r>
              <a:endParaRPr lang="en-US" altLang="zh-CN" sz="800" kern="0" dirty="0">
                <a:solidFill>
                  <a:sysClr val="windowText" lastClr="000000"/>
                </a:solidFill>
                <a:latin typeface="微软雅黑" panose="020B0503020204020204" charset="-122"/>
                <a:ea typeface="微软雅黑" panose="020B0503020204020204" charset="-122"/>
              </a:endParaRPr>
            </a:p>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采购要货</a:t>
              </a:r>
            </a:p>
          </p:txBody>
        </p:sp>
        <p:sp>
          <p:nvSpPr>
            <p:cNvPr id="64" name="Rectangle 25"/>
            <p:cNvSpPr>
              <a:spLocks noChangeArrowheads="1"/>
            </p:cNvSpPr>
            <p:nvPr/>
          </p:nvSpPr>
          <p:spPr bwMode="auto">
            <a:xfrm>
              <a:off x="3507123" y="3212976"/>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en-US" altLang="zh-CN" sz="800" kern="0" dirty="0">
                  <a:solidFill>
                    <a:sysClr val="windowText" lastClr="000000"/>
                  </a:solidFill>
                  <a:latin typeface="微软雅黑" panose="020B0503020204020204" charset="-122"/>
                  <a:ea typeface="微软雅黑" panose="020B0503020204020204" charset="-122"/>
                </a:rPr>
                <a:t>JIT/JIS/</a:t>
              </a:r>
              <a:r>
                <a:rPr lang="zh-CN" altLang="en-US" sz="800" kern="0" dirty="0">
                  <a:solidFill>
                    <a:sysClr val="windowText" lastClr="000000"/>
                  </a:solidFill>
                  <a:latin typeface="微软雅黑" panose="020B0503020204020204" charset="-122"/>
                  <a:ea typeface="微软雅黑" panose="020B0503020204020204" charset="-122"/>
                </a:rPr>
                <a:t>日供货</a:t>
              </a:r>
              <a:endParaRPr lang="en-US" altLang="zh-CN" sz="800" kern="0" dirty="0">
                <a:solidFill>
                  <a:sysClr val="windowText" lastClr="000000"/>
                </a:solidFill>
                <a:latin typeface="微软雅黑" panose="020B0503020204020204" charset="-122"/>
                <a:ea typeface="微软雅黑" panose="020B0503020204020204" charset="-122"/>
              </a:endParaRPr>
            </a:p>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零部件要货</a:t>
              </a:r>
            </a:p>
          </p:txBody>
        </p:sp>
        <p:sp>
          <p:nvSpPr>
            <p:cNvPr id="65" name="Rectangle 4"/>
            <p:cNvSpPr>
              <a:spLocks noChangeArrowheads="1"/>
            </p:cNvSpPr>
            <p:nvPr/>
          </p:nvSpPr>
          <p:spPr bwMode="auto">
            <a:xfrm>
              <a:off x="1955465" y="1881055"/>
              <a:ext cx="1098507" cy="1763970"/>
            </a:xfrm>
            <a:prstGeom prst="rect">
              <a:avLst/>
            </a:prstGeom>
            <a:solidFill>
              <a:srgbClr val="D6DBFE"/>
            </a:solidFill>
            <a:ln w="9525" algn="ctr">
              <a:noFill/>
              <a:round/>
            </a:ln>
          </p:spPr>
          <p:txBody>
            <a:bodyPr lIns="90000" tIns="46800" rIns="90000" bIns="46800" anchor="ctr"/>
            <a:lstStyle/>
            <a:p>
              <a:pPr algn="ctr">
                <a:buFont typeface="Arial" panose="020B0604020202020204" pitchFamily="34" charset="0"/>
                <a:buNone/>
              </a:pPr>
              <a:endParaRPr lang="zh-CN" altLang="en-US" sz="1200" kern="0">
                <a:solidFill>
                  <a:sysClr val="windowText" lastClr="000000"/>
                </a:solidFill>
                <a:latin typeface="微软雅黑" panose="020B0503020204020204" charset="-122"/>
                <a:ea typeface="微软雅黑" panose="020B0503020204020204" charset="-122"/>
              </a:endParaRPr>
            </a:p>
          </p:txBody>
        </p:sp>
        <p:sp>
          <p:nvSpPr>
            <p:cNvPr id="66" name="AutoShape 5"/>
            <p:cNvSpPr>
              <a:spLocks noChangeArrowheads="1"/>
            </p:cNvSpPr>
            <p:nvPr/>
          </p:nvSpPr>
          <p:spPr bwMode="auto">
            <a:xfrm rot="10800000">
              <a:off x="2187685" y="1916832"/>
              <a:ext cx="656121" cy="1728192"/>
            </a:xfrm>
            <a:prstGeom prst="triangle">
              <a:avLst>
                <a:gd name="adj" fmla="val 50000"/>
              </a:avLst>
            </a:prstGeom>
            <a:solidFill>
              <a:srgbClr val="FF9900"/>
            </a:solidFill>
            <a:ln w="12700" algn="ctr">
              <a:noFill/>
              <a:miter lim="800000"/>
            </a:ln>
          </p:spPr>
          <p:txBody>
            <a:bodyPr wrap="none" anchor="ctr"/>
            <a:lstStyle/>
            <a:p>
              <a:pPr algn="ctr" eaLnBrk="0" hangingPunct="0">
                <a:lnSpc>
                  <a:spcPct val="90000"/>
                </a:lnSpc>
                <a:spcBef>
                  <a:spcPct val="20000"/>
                </a:spcBef>
                <a:buClr>
                  <a:prstClr val="black"/>
                </a:buClr>
                <a:buFont typeface="Arial" panose="020B0604020202020204" pitchFamily="34" charset="0"/>
                <a:buNone/>
              </a:pPr>
              <a:endParaRPr lang="zh-CN" altLang="en-US">
                <a:solidFill>
                  <a:prstClr val="black"/>
                </a:solidFill>
                <a:latin typeface="微软雅黑" panose="020B0503020204020204" charset="-122"/>
                <a:ea typeface="微软雅黑" panose="020B0503020204020204" charset="-122"/>
              </a:endParaRPr>
            </a:p>
          </p:txBody>
        </p:sp>
        <p:sp>
          <p:nvSpPr>
            <p:cNvPr id="67" name="Rectangle 6"/>
            <p:cNvSpPr>
              <a:spLocks noChangeArrowheads="1"/>
            </p:cNvSpPr>
            <p:nvPr/>
          </p:nvSpPr>
          <p:spPr bwMode="auto">
            <a:xfrm>
              <a:off x="2111878" y="2007765"/>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中长期零部件计划</a:t>
              </a:r>
            </a:p>
          </p:txBody>
        </p:sp>
        <p:sp>
          <p:nvSpPr>
            <p:cNvPr id="68" name="Rectangle 7"/>
            <p:cNvSpPr>
              <a:spLocks noChangeArrowheads="1"/>
            </p:cNvSpPr>
            <p:nvPr/>
          </p:nvSpPr>
          <p:spPr bwMode="auto">
            <a:xfrm>
              <a:off x="2111878" y="2610370"/>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中短期零部件计划</a:t>
              </a:r>
              <a:endParaRPr lang="en-US" altLang="zh-CN" sz="800" kern="0" dirty="0">
                <a:solidFill>
                  <a:sysClr val="windowText" lastClr="000000"/>
                </a:solidFill>
                <a:latin typeface="微软雅黑" panose="020B0503020204020204" charset="-122"/>
                <a:ea typeface="微软雅黑" panose="020B0503020204020204" charset="-122"/>
              </a:endParaRPr>
            </a:p>
          </p:txBody>
        </p:sp>
        <p:sp>
          <p:nvSpPr>
            <p:cNvPr id="69" name="Rectangle 8"/>
            <p:cNvSpPr>
              <a:spLocks noChangeArrowheads="1"/>
            </p:cNvSpPr>
            <p:nvPr/>
          </p:nvSpPr>
          <p:spPr bwMode="auto">
            <a:xfrm>
              <a:off x="2111878" y="3212976"/>
              <a:ext cx="842360" cy="304459"/>
            </a:xfrm>
            <a:prstGeom prst="rect">
              <a:avLst/>
            </a:prstGeom>
            <a:solidFill>
              <a:srgbClr val="FFFFFF"/>
            </a:solidFill>
            <a:ln w="12700" algn="ctr">
              <a:solidFill>
                <a:srgbClr val="000000"/>
              </a:solidFill>
              <a:miter lim="800000"/>
            </a:ln>
          </p:spPr>
          <p:txBody>
            <a:bodyPr wrap="none" anchor="ctr"/>
            <a:lstStyle/>
            <a:p>
              <a:pPr algn="ctr" eaLnBrk="0" hangingPunct="0">
                <a:lnSpc>
                  <a:spcPct val="90000"/>
                </a:lnSpc>
                <a:spcBef>
                  <a:spcPct val="20000"/>
                </a:spcBef>
                <a:buClr>
                  <a:srgbClr val="000000"/>
                </a:buClr>
                <a:buFont typeface="Arial" panose="020B0604020202020204" pitchFamily="34" charset="0"/>
                <a:buNone/>
                <a:defRPr/>
              </a:pPr>
              <a:r>
                <a:rPr lang="zh-CN" altLang="en-US" sz="800" kern="0" dirty="0">
                  <a:solidFill>
                    <a:sysClr val="windowText" lastClr="000000"/>
                  </a:solidFill>
                  <a:latin typeface="微软雅黑" panose="020B0503020204020204" charset="-122"/>
                  <a:ea typeface="微软雅黑" panose="020B0503020204020204" charset="-122"/>
                </a:rPr>
                <a:t>要货通知</a:t>
              </a:r>
            </a:p>
          </p:txBody>
        </p:sp>
        <p:sp>
          <p:nvSpPr>
            <p:cNvPr id="70" name="Line 25"/>
            <p:cNvSpPr>
              <a:spLocks noChangeShapeType="1"/>
            </p:cNvSpPr>
            <p:nvPr/>
          </p:nvSpPr>
          <p:spPr bwMode="auto">
            <a:xfrm flipH="1">
              <a:off x="3053972" y="2772038"/>
              <a:ext cx="310450" cy="0"/>
            </a:xfrm>
            <a:prstGeom prst="line">
              <a:avLst/>
            </a:prstGeom>
            <a:noFill/>
            <a:ln w="12700">
              <a:solidFill>
                <a:schemeClr val="tx1"/>
              </a:solidFill>
              <a:round/>
              <a:headEnd type="triangle" w="med" len="med"/>
            </a:ln>
          </p:spPr>
          <p:txBody>
            <a:bodyPr wrap="none" anchor="ctr"/>
            <a:lstStyle/>
            <a:p>
              <a:endParaRPr lang="zh-CN" altLang="en-US" sz="800">
                <a:solidFill>
                  <a:prstClr val="black"/>
                </a:solidFill>
                <a:latin typeface="微软雅黑" panose="020B0503020204020204" charset="-122"/>
                <a:ea typeface="微软雅黑" panose="020B0503020204020204" charset="-122"/>
              </a:endParaRPr>
            </a:p>
          </p:txBody>
        </p:sp>
        <p:sp>
          <p:nvSpPr>
            <p:cNvPr id="71" name="Line 25"/>
            <p:cNvSpPr>
              <a:spLocks noChangeShapeType="1"/>
            </p:cNvSpPr>
            <p:nvPr/>
          </p:nvSpPr>
          <p:spPr bwMode="auto">
            <a:xfrm flipH="1">
              <a:off x="3053972" y="3495953"/>
              <a:ext cx="310450" cy="0"/>
            </a:xfrm>
            <a:prstGeom prst="line">
              <a:avLst/>
            </a:prstGeom>
            <a:noFill/>
            <a:ln w="12700">
              <a:solidFill>
                <a:schemeClr val="tx1"/>
              </a:solidFill>
              <a:round/>
              <a:headEnd type="triangle" w="med" len="med"/>
            </a:ln>
          </p:spPr>
          <p:txBody>
            <a:bodyPr wrap="none" anchor="ctr"/>
            <a:lstStyle/>
            <a:p>
              <a:endParaRPr lang="zh-CN" altLang="en-US" sz="800">
                <a:solidFill>
                  <a:prstClr val="black"/>
                </a:solidFill>
                <a:latin typeface="微软雅黑" panose="020B0503020204020204" charset="-122"/>
                <a:ea typeface="微软雅黑" panose="020B0503020204020204" charset="-122"/>
              </a:endParaRPr>
            </a:p>
          </p:txBody>
        </p:sp>
        <p:sp>
          <p:nvSpPr>
            <p:cNvPr id="72" name="Line 25"/>
            <p:cNvSpPr>
              <a:spLocks noChangeShapeType="1"/>
            </p:cNvSpPr>
            <p:nvPr/>
          </p:nvSpPr>
          <p:spPr bwMode="auto">
            <a:xfrm flipH="1">
              <a:off x="3053972" y="2103810"/>
              <a:ext cx="310450" cy="0"/>
            </a:xfrm>
            <a:prstGeom prst="line">
              <a:avLst/>
            </a:prstGeom>
            <a:noFill/>
            <a:ln w="12700">
              <a:solidFill>
                <a:schemeClr val="tx1"/>
              </a:solidFill>
              <a:round/>
              <a:headEnd type="triangle" w="med" len="med"/>
            </a:ln>
          </p:spPr>
          <p:txBody>
            <a:bodyPr wrap="none" anchor="ctr"/>
            <a:lstStyle/>
            <a:p>
              <a:endParaRPr lang="zh-CN" altLang="en-US" sz="800">
                <a:solidFill>
                  <a:prstClr val="black"/>
                </a:solidFill>
                <a:latin typeface="微软雅黑" panose="020B0503020204020204" charset="-122"/>
                <a:ea typeface="微软雅黑" panose="020B0503020204020204" charset="-122"/>
              </a:endParaRPr>
            </a:p>
          </p:txBody>
        </p:sp>
      </p:grpSp>
      <p:sp>
        <p:nvSpPr>
          <p:cNvPr id="75" name="Rectangle 23"/>
          <p:cNvSpPr>
            <a:spLocks noChangeArrowheads="1"/>
          </p:cNvSpPr>
          <p:nvPr/>
        </p:nvSpPr>
        <p:spPr bwMode="auto">
          <a:xfrm>
            <a:off x="1979712" y="4005064"/>
            <a:ext cx="4500496" cy="432047"/>
          </a:xfrm>
          <a:prstGeom prst="rect">
            <a:avLst/>
          </a:prstGeom>
          <a:solidFill>
            <a:srgbClr val="D6DBFE"/>
          </a:solidFill>
          <a:ln w="9525" algn="ctr">
            <a:noFill/>
            <a:round/>
          </a:ln>
        </p:spPr>
        <p:txBody>
          <a:bodyPr lIns="90000" tIns="46800" rIns="90000" bIns="46800" anchor="ctr"/>
          <a:lstStyle/>
          <a:p>
            <a:pPr algn="ctr">
              <a:buFont typeface="Arial" panose="020B0604020202020204" pitchFamily="34" charset="0"/>
              <a:buNone/>
            </a:pPr>
            <a:r>
              <a:rPr lang="zh-CN" altLang="en-US" sz="1200" kern="0" dirty="0">
                <a:solidFill>
                  <a:sysClr val="windowText" lastClr="000000"/>
                </a:solidFill>
                <a:latin typeface="微软雅黑" panose="020B0503020204020204" charset="-122"/>
                <a:ea typeface="微软雅黑" panose="020B0503020204020204" charset="-122"/>
              </a:rPr>
              <a:t>供应预警机制</a:t>
            </a:r>
            <a:r>
              <a:rPr lang="en-US" altLang="zh-CN" sz="1200" kern="0" dirty="0">
                <a:solidFill>
                  <a:sysClr val="windowText" lastClr="000000"/>
                </a:solidFill>
                <a:latin typeface="微软雅黑" panose="020B0503020204020204" charset="-122"/>
                <a:ea typeface="微软雅黑" panose="020B0503020204020204" charset="-122"/>
              </a:rPr>
              <a:t>                   </a:t>
            </a:r>
            <a:r>
              <a:rPr lang="zh-CN" altLang="en-US" sz="1200" kern="0" dirty="0">
                <a:solidFill>
                  <a:sysClr val="windowText" lastClr="000000"/>
                </a:solidFill>
                <a:latin typeface="微软雅黑" panose="020B0503020204020204" charset="-122"/>
                <a:ea typeface="微软雅黑" panose="020B0503020204020204" charset="-122"/>
              </a:rPr>
              <a:t>供应商协同管理</a:t>
            </a:r>
          </a:p>
        </p:txBody>
      </p:sp>
      <p:sp>
        <p:nvSpPr>
          <p:cNvPr id="7" name="Rectangle 6"/>
          <p:cNvSpPr/>
          <p:nvPr/>
        </p:nvSpPr>
        <p:spPr>
          <a:xfrm>
            <a:off x="1979712" y="4653136"/>
            <a:ext cx="4464496" cy="804323"/>
          </a:xfrm>
          <a:prstGeom prst="rect">
            <a:avLst/>
          </a:prstGeom>
        </p:spPr>
        <p:txBody>
          <a:bodyPr wrap="square">
            <a:spAutoFit/>
          </a:bodyPr>
          <a:lstStyle/>
          <a:p>
            <a:pPr>
              <a:lnSpc>
                <a:spcPct val="110000"/>
              </a:lnSpc>
              <a:spcBef>
                <a:spcPts val="300"/>
              </a:spcBef>
            </a:pPr>
            <a:r>
              <a:rPr lang="zh-CN" altLang="en-US" sz="1400" b="1" dirty="0">
                <a:solidFill>
                  <a:srgbClr val="4F81BD"/>
                </a:solidFill>
                <a:latin typeface="微软雅黑" panose="020B0503020204020204" charset="-122"/>
                <a:ea typeface="微软雅黑" panose="020B0503020204020204" charset="-122"/>
              </a:rPr>
              <a:t>交付可靠：</a:t>
            </a:r>
            <a:r>
              <a:rPr lang="zh-CN" altLang="en-US" sz="1200" dirty="0">
                <a:solidFill>
                  <a:prstClr val="black"/>
                </a:solidFill>
                <a:latin typeface="微软雅黑" panose="020B0503020204020204" charset="-122"/>
                <a:ea typeface="微软雅黑" panose="020B0503020204020204" charset="-122"/>
              </a:rPr>
              <a:t>协同和承接计划模式，确立零部件计划方式</a:t>
            </a:r>
            <a:r>
              <a:rPr lang="zh-CN" altLang="zh-CN" sz="1200" dirty="0">
                <a:solidFill>
                  <a:prstClr val="black"/>
                </a:solidFill>
                <a:latin typeface="微软雅黑" panose="020B0503020204020204" charset="-122"/>
                <a:ea typeface="微软雅黑" panose="020B0503020204020204" charset="-122"/>
              </a:rPr>
              <a:t>；</a:t>
            </a:r>
            <a:r>
              <a:rPr lang="zh-CN" altLang="en-US" sz="1200" dirty="0">
                <a:solidFill>
                  <a:prstClr val="black"/>
                </a:solidFill>
                <a:latin typeface="微软雅黑" panose="020B0503020204020204" charset="-122"/>
                <a:ea typeface="微软雅黑" panose="020B0503020204020204" charset="-122"/>
              </a:rPr>
              <a:t>确定零部件分类及对应交付及配送策略</a:t>
            </a:r>
            <a:endParaRPr lang="en-US" altLang="zh-CN" sz="1200" dirty="0">
              <a:solidFill>
                <a:prstClr val="black"/>
              </a:solidFill>
              <a:latin typeface="微软雅黑" panose="020B0503020204020204" charset="-122"/>
              <a:ea typeface="微软雅黑" panose="020B0503020204020204" charset="-122"/>
            </a:endParaRPr>
          </a:p>
          <a:p>
            <a:pPr>
              <a:lnSpc>
                <a:spcPct val="110000"/>
              </a:lnSpc>
              <a:spcBef>
                <a:spcPts val="300"/>
              </a:spcBef>
            </a:pPr>
            <a:r>
              <a:rPr lang="zh-CN" altLang="en-US" sz="1400" b="1" dirty="0">
                <a:solidFill>
                  <a:srgbClr val="4F81BD"/>
                </a:solidFill>
                <a:latin typeface="微软雅黑" panose="020B0503020204020204" charset="-122"/>
                <a:ea typeface="微软雅黑" panose="020B0503020204020204" charset="-122"/>
              </a:rPr>
              <a:t>风险可控：</a:t>
            </a:r>
            <a:r>
              <a:rPr lang="zh-CN" altLang="en-US" sz="1200" dirty="0">
                <a:solidFill>
                  <a:prstClr val="black"/>
                </a:solidFill>
                <a:latin typeface="微软雅黑" panose="020B0503020204020204" charset="-122"/>
                <a:ea typeface="微软雅黑" panose="020B0503020204020204" charset="-122"/>
              </a:rPr>
              <a:t>建立零部件预警机制、供应商绩效沟通及改善流程</a:t>
            </a:r>
          </a:p>
        </p:txBody>
      </p:sp>
      <p:sp>
        <p:nvSpPr>
          <p:cNvPr id="10" name="TextBox 9"/>
          <p:cNvSpPr txBox="1"/>
          <p:nvPr/>
        </p:nvSpPr>
        <p:spPr bwMode="auto">
          <a:xfrm>
            <a:off x="9960668" y="5354824"/>
            <a:ext cx="184666" cy="369332"/>
          </a:xfrm>
          <a:prstGeom prst="rect">
            <a:avLst/>
          </a:prstGeom>
          <a:noFill/>
          <a:ln>
            <a:noFill/>
          </a:ln>
        </p:spPr>
        <p:txBody>
          <a:bodyPr wrap="none" rtlCol="0">
            <a:spAutoFit/>
          </a:bodyPr>
          <a:lstStyle/>
          <a:p>
            <a:endParaRPr kumimoji="1" lang="en-US"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附录</a:t>
            </a:r>
          </a:p>
        </p:txBody>
      </p:sp>
      <p:sp>
        <p:nvSpPr>
          <p:cNvPr id="10" name="Rectangle 4"/>
          <p:cNvSpPr>
            <a:spLocks noChangeArrowheads="1"/>
          </p:cNvSpPr>
          <p:nvPr/>
        </p:nvSpPr>
        <p:spPr bwMode="auto">
          <a:xfrm>
            <a:off x="1371763" y="1544105"/>
            <a:ext cx="7170202" cy="503237"/>
          </a:xfrm>
          <a:prstGeom prst="rect">
            <a:avLst/>
          </a:prstGeom>
          <a:solidFill>
            <a:srgbClr val="D6DBFE"/>
          </a:solidFill>
          <a:ln w="9525" algn="ctr">
            <a:solidFill>
              <a:srgbClr val="7889FB"/>
            </a:solidFill>
            <a:miter lim="800000"/>
          </a:ln>
        </p:spPr>
        <p:txBody>
          <a:bodyPr wrap="none" lIns="90000" tIns="46800" rIns="90000" bIns="46800" anchor="ctr"/>
          <a:lstStyle/>
          <a:p>
            <a:r>
              <a:rPr lang="zh-CN" altLang="en-US" sz="1600" b="1" kern="0" dirty="0">
                <a:solidFill>
                  <a:sysClr val="windowText" lastClr="000000"/>
                </a:solidFill>
                <a:latin typeface="微软雅黑" panose="020B0503020204020204" charset="-122"/>
                <a:ea typeface="微软雅黑" panose="020B0503020204020204" charset="-122"/>
              </a:rPr>
              <a:t>项目进度与工作范围</a:t>
            </a:r>
          </a:p>
        </p:txBody>
      </p:sp>
      <p:sp>
        <p:nvSpPr>
          <p:cNvPr id="12" name="Rectangle 11"/>
          <p:cNvSpPr>
            <a:spLocks noChangeArrowheads="1"/>
          </p:cNvSpPr>
          <p:nvPr/>
        </p:nvSpPr>
        <p:spPr bwMode="auto">
          <a:xfrm>
            <a:off x="585986" y="1544105"/>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1</a:t>
            </a:r>
          </a:p>
        </p:txBody>
      </p:sp>
      <p:sp>
        <p:nvSpPr>
          <p:cNvPr id="13" name="Rectangle 11"/>
          <p:cNvSpPr>
            <a:spLocks noChangeArrowheads="1"/>
          </p:cNvSpPr>
          <p:nvPr/>
        </p:nvSpPr>
        <p:spPr bwMode="auto">
          <a:xfrm>
            <a:off x="585986" y="2209660"/>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2</a:t>
            </a:r>
          </a:p>
        </p:txBody>
      </p:sp>
      <p:sp>
        <p:nvSpPr>
          <p:cNvPr id="16" name="Rectangle 5"/>
          <p:cNvSpPr>
            <a:spLocks noChangeArrowheads="1"/>
          </p:cNvSpPr>
          <p:nvPr/>
        </p:nvSpPr>
        <p:spPr bwMode="auto">
          <a:xfrm>
            <a:off x="1371763" y="2209872"/>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业务成熟度分析</a:t>
            </a:r>
          </a:p>
        </p:txBody>
      </p:sp>
      <p:sp>
        <p:nvSpPr>
          <p:cNvPr id="14" name="Rectangle 11"/>
          <p:cNvSpPr>
            <a:spLocks noChangeArrowheads="1"/>
          </p:cNvSpPr>
          <p:nvPr/>
        </p:nvSpPr>
        <p:spPr bwMode="auto">
          <a:xfrm>
            <a:off x="585986" y="2875216"/>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3</a:t>
            </a:r>
          </a:p>
        </p:txBody>
      </p:sp>
      <p:sp>
        <p:nvSpPr>
          <p:cNvPr id="15" name="Rectangle 5"/>
          <p:cNvSpPr>
            <a:spLocks noChangeArrowheads="1"/>
          </p:cNvSpPr>
          <p:nvPr/>
        </p:nvSpPr>
        <p:spPr bwMode="auto">
          <a:xfrm>
            <a:off x="1371763" y="2875639"/>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总体绩效指标分析</a:t>
            </a:r>
          </a:p>
        </p:txBody>
      </p:sp>
      <p:sp>
        <p:nvSpPr>
          <p:cNvPr id="17" name="Rectangle 4"/>
          <p:cNvSpPr>
            <a:spLocks noChangeArrowheads="1"/>
          </p:cNvSpPr>
          <p:nvPr/>
        </p:nvSpPr>
        <p:spPr bwMode="auto">
          <a:xfrm>
            <a:off x="1371763" y="3541406"/>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现状分析</a:t>
            </a:r>
          </a:p>
        </p:txBody>
      </p:sp>
      <p:sp>
        <p:nvSpPr>
          <p:cNvPr id="18" name="Rectangle 11"/>
          <p:cNvSpPr>
            <a:spLocks noChangeArrowheads="1"/>
          </p:cNvSpPr>
          <p:nvPr/>
        </p:nvSpPr>
        <p:spPr bwMode="auto">
          <a:xfrm>
            <a:off x="585986" y="3540772"/>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4</a:t>
            </a:r>
          </a:p>
        </p:txBody>
      </p:sp>
      <p:sp>
        <p:nvSpPr>
          <p:cNvPr id="20" name="Rectangle 11"/>
          <p:cNvSpPr>
            <a:spLocks noChangeArrowheads="1"/>
          </p:cNvSpPr>
          <p:nvPr/>
        </p:nvSpPr>
        <p:spPr bwMode="auto">
          <a:xfrm>
            <a:off x="585986" y="4206327"/>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5</a:t>
            </a:r>
          </a:p>
        </p:txBody>
      </p:sp>
      <p:sp>
        <p:nvSpPr>
          <p:cNvPr id="21" name="Rectangle 5"/>
          <p:cNvSpPr>
            <a:spLocks noChangeArrowheads="1"/>
          </p:cNvSpPr>
          <p:nvPr/>
        </p:nvSpPr>
        <p:spPr bwMode="auto">
          <a:xfrm>
            <a:off x="1371763" y="4207173"/>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解决思路</a:t>
            </a:r>
          </a:p>
        </p:txBody>
      </p:sp>
      <p:sp>
        <p:nvSpPr>
          <p:cNvPr id="26" name="Rectangle 11"/>
          <p:cNvSpPr>
            <a:spLocks noChangeArrowheads="1"/>
          </p:cNvSpPr>
          <p:nvPr/>
        </p:nvSpPr>
        <p:spPr bwMode="auto">
          <a:xfrm>
            <a:off x="585986" y="4871885"/>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6</a:t>
            </a:r>
          </a:p>
        </p:txBody>
      </p:sp>
      <p:sp>
        <p:nvSpPr>
          <p:cNvPr id="29" name="Rectangle 5"/>
          <p:cNvSpPr>
            <a:spLocks noChangeArrowheads="1"/>
          </p:cNvSpPr>
          <p:nvPr/>
        </p:nvSpPr>
        <p:spPr bwMode="auto">
          <a:xfrm>
            <a:off x="1371763" y="4872938"/>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集成计划体系流程框架</a:t>
            </a:r>
            <a:r>
              <a:rPr lang="en-US" altLang="zh-CN" sz="1600" kern="0" dirty="0">
                <a:solidFill>
                  <a:sysClr val="windowText" lastClr="000000"/>
                </a:solidFill>
                <a:latin typeface="微软雅黑" panose="020B0503020204020204" charset="-122"/>
                <a:ea typeface="微软雅黑" panose="020B0503020204020204" charset="-122"/>
              </a:rPr>
              <a:t>1.0</a:t>
            </a:r>
            <a:endParaRPr lang="zh-CN" altLang="en-US" sz="1600" kern="0" dirty="0">
              <a:solidFill>
                <a:sysClr val="windowText" lastClr="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kern="0" dirty="0"/>
              <a:t>SCM1.0</a:t>
            </a:r>
            <a:r>
              <a:rPr lang="zh-CN" altLang="en-US" kern="0" dirty="0"/>
              <a:t>项目总体进度中集成计划组的工作内容</a:t>
            </a:r>
          </a:p>
        </p:txBody>
      </p:sp>
      <p:grpSp>
        <p:nvGrpSpPr>
          <p:cNvPr id="2" name="组合 3"/>
          <p:cNvGrpSpPr/>
          <p:nvPr/>
        </p:nvGrpSpPr>
        <p:grpSpPr>
          <a:xfrm>
            <a:off x="500743" y="910124"/>
            <a:ext cx="8568269" cy="940376"/>
            <a:chOff x="641988" y="997211"/>
            <a:chExt cx="8427024" cy="1149760"/>
          </a:xfrm>
        </p:grpSpPr>
        <p:sp>
          <p:nvSpPr>
            <p:cNvPr id="87" name="五边形 86"/>
            <p:cNvSpPr/>
            <p:nvPr/>
          </p:nvSpPr>
          <p:spPr bwMode="auto">
            <a:xfrm>
              <a:off x="653141" y="1618782"/>
              <a:ext cx="1044504" cy="528189"/>
            </a:xfrm>
            <a:prstGeom prst="homePlate">
              <a:avLst/>
            </a:prstGeom>
            <a:solidFill>
              <a:schemeClr val="tx2">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项目准备与前期工作</a:t>
              </a:r>
            </a:p>
          </p:txBody>
        </p:sp>
        <p:sp>
          <p:nvSpPr>
            <p:cNvPr id="88" name="五边形 87"/>
            <p:cNvSpPr/>
            <p:nvPr/>
          </p:nvSpPr>
          <p:spPr bwMode="auto">
            <a:xfrm>
              <a:off x="1709059" y="1618782"/>
              <a:ext cx="1517374" cy="528189"/>
            </a:xfrm>
            <a:prstGeom prst="homePlate">
              <a:avLst/>
            </a:prstGeom>
            <a:solidFill>
              <a:schemeClr val="tx2">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顶层设计</a:t>
              </a:r>
            </a:p>
          </p:txBody>
        </p:sp>
        <p:sp>
          <p:nvSpPr>
            <p:cNvPr id="89" name="五边形 88"/>
            <p:cNvSpPr/>
            <p:nvPr/>
          </p:nvSpPr>
          <p:spPr bwMode="auto">
            <a:xfrm>
              <a:off x="4765565" y="1618782"/>
              <a:ext cx="2304586" cy="528189"/>
            </a:xfrm>
            <a:prstGeom prst="homePlate">
              <a:avLst/>
            </a:prstGeom>
            <a:solidFill>
              <a:schemeClr val="tx2">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系统重构与集成</a:t>
              </a:r>
            </a:p>
          </p:txBody>
        </p:sp>
        <p:sp>
          <p:nvSpPr>
            <p:cNvPr id="90" name="五边形 89"/>
            <p:cNvSpPr/>
            <p:nvPr/>
          </p:nvSpPr>
          <p:spPr bwMode="auto">
            <a:xfrm>
              <a:off x="3236783" y="1618782"/>
              <a:ext cx="1510196" cy="528189"/>
            </a:xfrm>
            <a:prstGeom prst="homePlate">
              <a:avLst/>
            </a:prstGeom>
            <a:solidFill>
              <a:schemeClr val="tx2">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业务流程及系统</a:t>
              </a:r>
              <a:endParaRPr kumimoji="1" lang="en-US" altLang="zh-CN" sz="1200" b="1" dirty="0">
                <a:solidFill>
                  <a:schemeClr val="bg1"/>
                </a:solidFill>
                <a:latin typeface="微软雅黑" panose="020B0503020204020204" charset="-122"/>
                <a:ea typeface="微软雅黑" panose="020B0503020204020204" charset="-122"/>
              </a:endParaRPr>
            </a:p>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蓝图设计</a:t>
              </a:r>
            </a:p>
          </p:txBody>
        </p:sp>
        <p:sp>
          <p:nvSpPr>
            <p:cNvPr id="91" name="五边形 90"/>
            <p:cNvSpPr/>
            <p:nvPr/>
          </p:nvSpPr>
          <p:spPr bwMode="auto">
            <a:xfrm>
              <a:off x="7070165" y="1618782"/>
              <a:ext cx="1137393" cy="528189"/>
            </a:xfrm>
            <a:prstGeom prst="homePlate">
              <a:avLst/>
            </a:prstGeom>
            <a:solidFill>
              <a:schemeClr val="tx2">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上线准备</a:t>
              </a:r>
            </a:p>
          </p:txBody>
        </p:sp>
        <p:sp>
          <p:nvSpPr>
            <p:cNvPr id="92" name="五边形 91"/>
            <p:cNvSpPr/>
            <p:nvPr/>
          </p:nvSpPr>
          <p:spPr bwMode="auto">
            <a:xfrm>
              <a:off x="8215028" y="1618782"/>
              <a:ext cx="851193" cy="528189"/>
            </a:xfrm>
            <a:prstGeom prst="homePlate">
              <a:avLst/>
            </a:prstGeom>
            <a:solidFill>
              <a:schemeClr val="tx2">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支持与</a:t>
              </a:r>
              <a:endParaRPr kumimoji="1" lang="en-US" altLang="zh-CN" sz="1200" b="1" dirty="0">
                <a:solidFill>
                  <a:schemeClr val="bg1"/>
                </a:solidFill>
                <a:latin typeface="微软雅黑" panose="020B0503020204020204" charset="-122"/>
                <a:ea typeface="微软雅黑" panose="020B0503020204020204" charset="-122"/>
              </a:endParaRPr>
            </a:p>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优化</a:t>
              </a:r>
            </a:p>
          </p:txBody>
        </p:sp>
        <p:cxnSp>
          <p:nvCxnSpPr>
            <p:cNvPr id="93" name="直接连接符 92"/>
            <p:cNvCxnSpPr/>
            <p:nvPr/>
          </p:nvCxnSpPr>
          <p:spPr bwMode="auto">
            <a:xfrm rot="5400000">
              <a:off x="7926992" y="1369672"/>
              <a:ext cx="576000" cy="1588"/>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94" name="直接连接符 93"/>
            <p:cNvCxnSpPr/>
            <p:nvPr/>
          </p:nvCxnSpPr>
          <p:spPr bwMode="auto">
            <a:xfrm rot="5400000">
              <a:off x="8687938" y="1459672"/>
              <a:ext cx="756000" cy="1588"/>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95" name="直接箭头连接符 94"/>
            <p:cNvCxnSpPr/>
            <p:nvPr/>
          </p:nvCxnSpPr>
          <p:spPr bwMode="auto">
            <a:xfrm>
              <a:off x="8226143" y="1408163"/>
              <a:ext cx="828000" cy="1588"/>
            </a:xfrm>
            <a:prstGeom prst="straightConnector1">
              <a:avLst/>
            </a:prstGeom>
            <a:solidFill>
              <a:schemeClr val="accent1"/>
            </a:solidFill>
            <a:ln w="19050" cap="flat" cmpd="sng" algn="ctr">
              <a:solidFill>
                <a:schemeClr val="bg1">
                  <a:lumMod val="65000"/>
                </a:schemeClr>
              </a:solidFill>
              <a:prstDash val="solid"/>
              <a:round/>
              <a:headEnd type="arrow" w="med" len="med"/>
              <a:tailEnd type="arrow"/>
            </a:ln>
            <a:effectLst/>
          </p:spPr>
        </p:cxnSp>
        <p:cxnSp>
          <p:nvCxnSpPr>
            <p:cNvPr id="96" name="直接箭头连接符 95"/>
            <p:cNvCxnSpPr/>
            <p:nvPr/>
          </p:nvCxnSpPr>
          <p:spPr bwMode="auto">
            <a:xfrm>
              <a:off x="641988" y="1135739"/>
              <a:ext cx="7560000" cy="1588"/>
            </a:xfrm>
            <a:prstGeom prst="straightConnector1">
              <a:avLst/>
            </a:prstGeom>
            <a:solidFill>
              <a:schemeClr val="accent1"/>
            </a:solidFill>
            <a:ln w="19050" cap="flat" cmpd="sng" algn="ctr">
              <a:solidFill>
                <a:schemeClr val="bg1">
                  <a:lumMod val="65000"/>
                </a:schemeClr>
              </a:solidFill>
              <a:prstDash val="solid"/>
              <a:round/>
              <a:headEnd type="arrow" w="med" len="med"/>
              <a:tailEnd type="arrow"/>
            </a:ln>
            <a:effectLst/>
          </p:spPr>
        </p:cxnSp>
        <p:cxnSp>
          <p:nvCxnSpPr>
            <p:cNvPr id="97" name="直接箭头连接符 96"/>
            <p:cNvCxnSpPr/>
            <p:nvPr/>
          </p:nvCxnSpPr>
          <p:spPr bwMode="auto">
            <a:xfrm>
              <a:off x="8241012" y="1116336"/>
              <a:ext cx="828000" cy="1588"/>
            </a:xfrm>
            <a:prstGeom prst="straightConnector1">
              <a:avLst/>
            </a:prstGeom>
            <a:solidFill>
              <a:schemeClr val="accent1"/>
            </a:solidFill>
            <a:ln w="19050" cap="flat" cmpd="sng" algn="ctr">
              <a:solidFill>
                <a:schemeClr val="bg1">
                  <a:lumMod val="65000"/>
                </a:schemeClr>
              </a:solidFill>
              <a:prstDash val="solid"/>
              <a:round/>
              <a:headEnd type="arrow" w="med" len="med"/>
              <a:tailEnd type="arrow"/>
            </a:ln>
            <a:effectLst/>
          </p:spPr>
        </p:cxnSp>
        <p:sp>
          <p:nvSpPr>
            <p:cNvPr id="98" name="TextBox 33"/>
            <p:cNvSpPr txBox="1"/>
            <p:nvPr/>
          </p:nvSpPr>
          <p:spPr bwMode="auto">
            <a:xfrm>
              <a:off x="8411998" y="1293541"/>
              <a:ext cx="482824" cy="230832"/>
            </a:xfrm>
            <a:prstGeom prst="rect">
              <a:avLst/>
            </a:prstGeom>
            <a:solidFill>
              <a:schemeClr val="bg1"/>
            </a:solidFill>
            <a:ln>
              <a:noFill/>
            </a:ln>
          </p:spPr>
          <p:txBody>
            <a:bodyPr wrap="none" rtlCol="0">
              <a:spAutoFit/>
            </a:bodyPr>
            <a:lstStyle/>
            <a:p>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2</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个月</a:t>
              </a:r>
            </a:p>
          </p:txBody>
        </p:sp>
        <p:cxnSp>
          <p:nvCxnSpPr>
            <p:cNvPr id="99" name="直接连接符 98"/>
            <p:cNvCxnSpPr/>
            <p:nvPr/>
          </p:nvCxnSpPr>
          <p:spPr bwMode="auto">
            <a:xfrm rot="5400000">
              <a:off x="365494" y="1369572"/>
              <a:ext cx="576000" cy="1788"/>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100" name="直接箭头连接符 99"/>
            <p:cNvCxnSpPr/>
            <p:nvPr/>
          </p:nvCxnSpPr>
          <p:spPr bwMode="auto">
            <a:xfrm>
              <a:off x="653494" y="1408163"/>
              <a:ext cx="1008000" cy="1588"/>
            </a:xfrm>
            <a:prstGeom prst="straightConnector1">
              <a:avLst/>
            </a:prstGeom>
            <a:solidFill>
              <a:schemeClr val="accent1"/>
            </a:solidFill>
            <a:ln w="19050" cap="flat" cmpd="sng" algn="ctr">
              <a:solidFill>
                <a:schemeClr val="bg1">
                  <a:lumMod val="65000"/>
                </a:schemeClr>
              </a:solidFill>
              <a:prstDash val="solid"/>
              <a:round/>
              <a:headEnd type="arrow" w="med" len="med"/>
              <a:tailEnd type="arrow"/>
            </a:ln>
            <a:effectLst/>
          </p:spPr>
        </p:cxnSp>
        <p:cxnSp>
          <p:nvCxnSpPr>
            <p:cNvPr id="101" name="直接箭头连接符 100"/>
            <p:cNvCxnSpPr/>
            <p:nvPr/>
          </p:nvCxnSpPr>
          <p:spPr bwMode="auto">
            <a:xfrm>
              <a:off x="1682921" y="1408163"/>
              <a:ext cx="1548000" cy="1588"/>
            </a:xfrm>
            <a:prstGeom prst="straightConnector1">
              <a:avLst/>
            </a:prstGeom>
            <a:solidFill>
              <a:schemeClr val="accent1"/>
            </a:solidFill>
            <a:ln w="19050" cap="flat" cmpd="sng" algn="ctr">
              <a:solidFill>
                <a:schemeClr val="bg1">
                  <a:lumMod val="65000"/>
                </a:schemeClr>
              </a:solidFill>
              <a:prstDash val="solid"/>
              <a:round/>
              <a:headEnd type="arrow" w="med" len="med"/>
              <a:tailEnd type="arrow"/>
            </a:ln>
            <a:effectLst/>
          </p:spPr>
        </p:cxnSp>
        <p:cxnSp>
          <p:nvCxnSpPr>
            <p:cNvPr id="102" name="直接箭头连接符 101"/>
            <p:cNvCxnSpPr/>
            <p:nvPr/>
          </p:nvCxnSpPr>
          <p:spPr bwMode="auto">
            <a:xfrm>
              <a:off x="3223648" y="1408163"/>
              <a:ext cx="1539871" cy="1588"/>
            </a:xfrm>
            <a:prstGeom prst="straightConnector1">
              <a:avLst/>
            </a:prstGeom>
            <a:solidFill>
              <a:schemeClr val="accent1"/>
            </a:solidFill>
            <a:ln w="19050" cap="flat" cmpd="sng" algn="ctr">
              <a:solidFill>
                <a:schemeClr val="bg1">
                  <a:lumMod val="65000"/>
                </a:schemeClr>
              </a:solidFill>
              <a:prstDash val="solid"/>
              <a:round/>
              <a:headEnd type="arrow" w="med" len="med"/>
              <a:tailEnd type="arrow"/>
            </a:ln>
            <a:effectLst/>
          </p:spPr>
        </p:cxnSp>
        <p:cxnSp>
          <p:nvCxnSpPr>
            <p:cNvPr id="103" name="直接箭头连接符 102"/>
            <p:cNvCxnSpPr/>
            <p:nvPr/>
          </p:nvCxnSpPr>
          <p:spPr bwMode="auto">
            <a:xfrm>
              <a:off x="4730733" y="1408163"/>
              <a:ext cx="2340000" cy="1588"/>
            </a:xfrm>
            <a:prstGeom prst="straightConnector1">
              <a:avLst/>
            </a:prstGeom>
            <a:solidFill>
              <a:schemeClr val="accent1"/>
            </a:solidFill>
            <a:ln w="19050" cap="flat" cmpd="sng" algn="ctr">
              <a:solidFill>
                <a:schemeClr val="bg1">
                  <a:lumMod val="65000"/>
                </a:schemeClr>
              </a:solidFill>
              <a:prstDash val="solid"/>
              <a:round/>
              <a:headEnd type="arrow" w="med" len="med"/>
              <a:tailEnd type="arrow"/>
            </a:ln>
            <a:effectLst/>
          </p:spPr>
        </p:cxnSp>
        <p:cxnSp>
          <p:nvCxnSpPr>
            <p:cNvPr id="104" name="直接箭头连接符 103"/>
            <p:cNvCxnSpPr/>
            <p:nvPr/>
          </p:nvCxnSpPr>
          <p:spPr bwMode="auto">
            <a:xfrm>
              <a:off x="7044347" y="1408163"/>
              <a:ext cx="1152000" cy="1588"/>
            </a:xfrm>
            <a:prstGeom prst="straightConnector1">
              <a:avLst/>
            </a:prstGeom>
            <a:solidFill>
              <a:schemeClr val="accent1"/>
            </a:solidFill>
            <a:ln w="19050" cap="flat" cmpd="sng" algn="ctr">
              <a:solidFill>
                <a:schemeClr val="bg1">
                  <a:lumMod val="65000"/>
                </a:schemeClr>
              </a:solidFill>
              <a:prstDash val="solid"/>
              <a:round/>
              <a:headEnd type="arrow" w="med" len="med"/>
              <a:tailEnd type="arrow"/>
            </a:ln>
            <a:effectLst/>
          </p:spPr>
        </p:cxnSp>
        <p:sp>
          <p:nvSpPr>
            <p:cNvPr id="105" name="TextBox 28"/>
            <p:cNvSpPr txBox="1"/>
            <p:nvPr/>
          </p:nvSpPr>
          <p:spPr bwMode="auto">
            <a:xfrm>
              <a:off x="878660" y="1293541"/>
              <a:ext cx="539745" cy="282229"/>
            </a:xfrm>
            <a:prstGeom prst="rect">
              <a:avLst/>
            </a:prstGeom>
            <a:solidFill>
              <a:schemeClr val="bg1"/>
            </a:solidFill>
            <a:ln>
              <a:noFill/>
            </a:ln>
          </p:spPr>
          <p:txBody>
            <a:bodyPr wrap="square" rtlCol="0">
              <a:spAutoFit/>
            </a:bodyPr>
            <a:lstStyle/>
            <a:p>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2</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个月</a:t>
              </a:r>
            </a:p>
          </p:txBody>
        </p:sp>
        <p:sp>
          <p:nvSpPr>
            <p:cNvPr id="106" name="TextBox 29"/>
            <p:cNvSpPr txBox="1"/>
            <p:nvPr/>
          </p:nvSpPr>
          <p:spPr bwMode="auto">
            <a:xfrm>
              <a:off x="2107584" y="1293541"/>
              <a:ext cx="474865" cy="230832"/>
            </a:xfrm>
            <a:prstGeom prst="rect">
              <a:avLst/>
            </a:prstGeom>
            <a:solidFill>
              <a:schemeClr val="bg1"/>
            </a:solidFill>
            <a:ln>
              <a:noFill/>
            </a:ln>
          </p:spPr>
          <p:txBody>
            <a:bodyPr wrap="none" rtlCol="0">
              <a:spAutoFit/>
            </a:bodyPr>
            <a:lstStyle/>
            <a:p>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个月</a:t>
              </a:r>
            </a:p>
          </p:txBody>
        </p:sp>
        <p:sp>
          <p:nvSpPr>
            <p:cNvPr id="107" name="TextBox 30"/>
            <p:cNvSpPr txBox="1"/>
            <p:nvPr/>
          </p:nvSpPr>
          <p:spPr bwMode="auto">
            <a:xfrm>
              <a:off x="3591780" y="1293541"/>
              <a:ext cx="597617" cy="230832"/>
            </a:xfrm>
            <a:prstGeom prst="rect">
              <a:avLst/>
            </a:prstGeom>
            <a:solidFill>
              <a:schemeClr val="bg1"/>
            </a:solidFill>
            <a:ln>
              <a:noFill/>
            </a:ln>
          </p:spPr>
          <p:txBody>
            <a:bodyPr wrap="none" rtlCol="0">
              <a:spAutoFit/>
            </a:bodyPr>
            <a:lstStyle/>
            <a:p>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３个月</a:t>
              </a:r>
            </a:p>
          </p:txBody>
        </p:sp>
        <p:sp>
          <p:nvSpPr>
            <p:cNvPr id="108" name="TextBox 31"/>
            <p:cNvSpPr txBox="1"/>
            <p:nvPr/>
          </p:nvSpPr>
          <p:spPr bwMode="auto">
            <a:xfrm>
              <a:off x="5613465" y="1293541"/>
              <a:ext cx="474865" cy="230832"/>
            </a:xfrm>
            <a:prstGeom prst="rect">
              <a:avLst/>
            </a:prstGeom>
            <a:solidFill>
              <a:schemeClr val="bg1"/>
            </a:solidFill>
            <a:ln>
              <a:noFill/>
            </a:ln>
          </p:spPr>
          <p:txBody>
            <a:bodyPr wrap="none" rtlCol="0">
              <a:spAutoFit/>
            </a:bodyPr>
            <a:lstStyle/>
            <a:p>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6</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个月</a:t>
              </a:r>
            </a:p>
          </p:txBody>
        </p:sp>
        <p:sp>
          <p:nvSpPr>
            <p:cNvPr id="109" name="TextBox 32"/>
            <p:cNvSpPr txBox="1"/>
            <p:nvPr/>
          </p:nvSpPr>
          <p:spPr bwMode="auto">
            <a:xfrm>
              <a:off x="7314539" y="1293541"/>
              <a:ext cx="597617" cy="230832"/>
            </a:xfrm>
            <a:prstGeom prst="rect">
              <a:avLst/>
            </a:prstGeom>
            <a:solidFill>
              <a:schemeClr val="bg1"/>
            </a:solidFill>
            <a:ln>
              <a:noFill/>
            </a:ln>
          </p:spPr>
          <p:txBody>
            <a:bodyPr wrap="none" rtlCol="0">
              <a:spAutoFit/>
            </a:bodyPr>
            <a:lstStyle/>
            <a:p>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２个月</a:t>
              </a:r>
            </a:p>
          </p:txBody>
        </p:sp>
        <p:sp>
          <p:nvSpPr>
            <p:cNvPr id="110" name="TextBox 35"/>
            <p:cNvSpPr txBox="1"/>
            <p:nvPr/>
          </p:nvSpPr>
          <p:spPr bwMode="auto">
            <a:xfrm>
              <a:off x="3746051" y="997211"/>
              <a:ext cx="757317" cy="261610"/>
            </a:xfrm>
            <a:prstGeom prst="rect">
              <a:avLst/>
            </a:prstGeom>
            <a:solidFill>
              <a:schemeClr val="bg1"/>
            </a:solidFill>
            <a:ln>
              <a:noFill/>
            </a:ln>
          </p:spPr>
          <p:txBody>
            <a:bodyPr wrap="square" rtlCol="0">
              <a:spAutoFit/>
            </a:bodyPr>
            <a:lstStyle/>
            <a:p>
              <a:r>
                <a:rPr kumimoji="1" lang="en-US" altLang="zh-CN" sz="1100" b="0" dirty="0">
                  <a:solidFill>
                    <a:srgbClr val="000000"/>
                  </a:solidFill>
                  <a:latin typeface="微软雅黑" panose="020B0503020204020204" charset="-122"/>
                  <a:ea typeface="微软雅黑" panose="020B0503020204020204" charset="-122"/>
                  <a:cs typeface="微软雅黑" panose="020B0503020204020204" charset="-122"/>
                </a:rPr>
                <a:t>16</a:t>
              </a:r>
              <a:r>
                <a:rPr kumimoji="1" lang="zh-CN" altLang="en-US" sz="1100" b="0" dirty="0">
                  <a:solidFill>
                    <a:srgbClr val="000000"/>
                  </a:solidFill>
                  <a:latin typeface="微软雅黑" panose="020B0503020204020204" charset="-122"/>
                  <a:ea typeface="微软雅黑" panose="020B0503020204020204" charset="-122"/>
                  <a:cs typeface="微软雅黑" panose="020B0503020204020204" charset="-122"/>
                </a:rPr>
                <a:t>个月</a:t>
              </a:r>
            </a:p>
          </p:txBody>
        </p:sp>
        <p:sp>
          <p:nvSpPr>
            <p:cNvPr id="111" name="TextBox 37"/>
            <p:cNvSpPr txBox="1"/>
            <p:nvPr/>
          </p:nvSpPr>
          <p:spPr bwMode="auto">
            <a:xfrm>
              <a:off x="8364742" y="997211"/>
              <a:ext cx="576000" cy="261610"/>
            </a:xfrm>
            <a:prstGeom prst="rect">
              <a:avLst/>
            </a:prstGeom>
            <a:solidFill>
              <a:schemeClr val="bg1"/>
            </a:solidFill>
            <a:ln>
              <a:noFill/>
            </a:ln>
          </p:spPr>
          <p:txBody>
            <a:bodyPr wrap="square" rtlCol="0">
              <a:spAutoFit/>
            </a:bodyPr>
            <a:lstStyle/>
            <a:p>
              <a:r>
                <a:rPr kumimoji="1" lang="en-US" altLang="zh-CN" sz="1100" b="0" dirty="0">
                  <a:solidFill>
                    <a:srgbClr val="000000"/>
                  </a:solidFill>
                  <a:latin typeface="微软雅黑" panose="020B0503020204020204" charset="-122"/>
                  <a:ea typeface="微软雅黑" panose="020B0503020204020204" charset="-122"/>
                  <a:cs typeface="微软雅黑" panose="020B0503020204020204" charset="-122"/>
                </a:rPr>
                <a:t>2</a:t>
              </a:r>
              <a:r>
                <a:rPr kumimoji="1" lang="zh-CN" altLang="en-US" sz="1100" b="0" dirty="0">
                  <a:solidFill>
                    <a:srgbClr val="000000"/>
                  </a:solidFill>
                  <a:latin typeface="微软雅黑" panose="020B0503020204020204" charset="-122"/>
                  <a:ea typeface="微软雅黑" panose="020B0503020204020204" charset="-122"/>
                  <a:cs typeface="微软雅黑" panose="020B0503020204020204" charset="-122"/>
                </a:rPr>
                <a:t>个月</a:t>
              </a:r>
            </a:p>
          </p:txBody>
        </p:sp>
      </p:grpSp>
      <p:sp>
        <p:nvSpPr>
          <p:cNvPr id="5" name="矩形 4"/>
          <p:cNvSpPr/>
          <p:nvPr/>
        </p:nvSpPr>
        <p:spPr bwMode="auto">
          <a:xfrm>
            <a:off x="130099" y="6299109"/>
            <a:ext cx="8923795" cy="288000"/>
          </a:xfrm>
          <a:prstGeom prst="rect">
            <a:avLst/>
          </a:prstGeom>
          <a:solidFill>
            <a:schemeClr val="bg1"/>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400" dirty="0">
                <a:solidFill>
                  <a:schemeClr val="tx1"/>
                </a:solidFill>
                <a:latin typeface="微软雅黑" panose="020B0503020204020204" charset="-122"/>
                <a:ea typeface="微软雅黑" panose="020B0503020204020204" charset="-122"/>
              </a:rPr>
              <a:t>项目管理与变革管理</a:t>
            </a:r>
          </a:p>
        </p:txBody>
      </p:sp>
      <p:grpSp>
        <p:nvGrpSpPr>
          <p:cNvPr id="3" name="组合 5"/>
          <p:cNvGrpSpPr/>
          <p:nvPr/>
        </p:nvGrpSpPr>
        <p:grpSpPr>
          <a:xfrm>
            <a:off x="125186" y="1866899"/>
            <a:ext cx="8928957" cy="1477795"/>
            <a:chOff x="125186" y="2104931"/>
            <a:chExt cx="8928957" cy="1438485"/>
          </a:xfrm>
        </p:grpSpPr>
        <p:sp>
          <p:nvSpPr>
            <p:cNvPr id="85" name="矩形 84"/>
            <p:cNvSpPr/>
            <p:nvPr/>
          </p:nvSpPr>
          <p:spPr bwMode="auto">
            <a:xfrm>
              <a:off x="130095" y="2151458"/>
              <a:ext cx="8924048" cy="1345430"/>
            </a:xfrm>
            <a:prstGeom prst="rect">
              <a:avLst/>
            </a:prstGeom>
            <a:solidFill>
              <a:schemeClr val="accent1">
                <a:lumMod val="20000"/>
                <a:lumOff val="80000"/>
              </a:schemeClr>
            </a:solidFill>
            <a:ln w="19050" cmpd="sng">
              <a:solidFill>
                <a:schemeClr val="bg1">
                  <a:lumMod val="8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86" name="文本框 85"/>
            <p:cNvSpPr txBox="1"/>
            <p:nvPr/>
          </p:nvSpPr>
          <p:spPr bwMode="auto">
            <a:xfrm>
              <a:off x="125186" y="2104931"/>
              <a:ext cx="381000" cy="1438485"/>
            </a:xfrm>
            <a:prstGeom prst="rect">
              <a:avLst/>
            </a:prstGeom>
            <a:noFill/>
            <a:ln>
              <a:noFill/>
            </a:ln>
          </p:spPr>
          <p:txBody>
            <a:bodyPr wrap="square" rtlCol="0">
              <a:spAutoFit/>
            </a:bodyPr>
            <a:lstStyle/>
            <a:p>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集成计划体系</a:t>
              </a:r>
            </a:p>
          </p:txBody>
        </p:sp>
      </p:grpSp>
      <p:sp>
        <p:nvSpPr>
          <p:cNvPr id="7" name="矩形 6"/>
          <p:cNvSpPr/>
          <p:nvPr/>
        </p:nvSpPr>
        <p:spPr bwMode="auto">
          <a:xfrm>
            <a:off x="129846" y="3357492"/>
            <a:ext cx="8924048" cy="1381058"/>
          </a:xfrm>
          <a:prstGeom prst="rect">
            <a:avLst/>
          </a:prstGeom>
          <a:solidFill>
            <a:schemeClr val="accent1">
              <a:lumMod val="20000"/>
              <a:lumOff val="80000"/>
            </a:schemeClr>
          </a:solidFill>
          <a:ln w="19050" cmpd="sng">
            <a:solidFill>
              <a:schemeClr val="bg1">
                <a:lumMod val="8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8" name="文本框 7"/>
          <p:cNvSpPr txBox="1"/>
          <p:nvPr/>
        </p:nvSpPr>
        <p:spPr bwMode="auto">
          <a:xfrm>
            <a:off x="125186" y="3312109"/>
            <a:ext cx="381000" cy="1403115"/>
          </a:xfrm>
          <a:prstGeom prst="rect">
            <a:avLst/>
          </a:prstGeom>
          <a:noFill/>
          <a:ln>
            <a:noFill/>
          </a:ln>
        </p:spPr>
        <p:txBody>
          <a:bodyPr wrap="square" rtlCol="0">
            <a:spAutoFit/>
          </a:bodyPr>
          <a:lstStyle/>
          <a:p>
            <a:r>
              <a:rPr kumimoji="1" lang="en-US" altLang="zh-CN" sz="1400" dirty="0">
                <a:solidFill>
                  <a:srgbClr val="000000"/>
                </a:solidFill>
                <a:latin typeface="微软雅黑" panose="020B0503020204020204" charset="-122"/>
                <a:ea typeface="微软雅黑" panose="020B0503020204020204" charset="-122"/>
                <a:cs typeface="微软雅黑" panose="020B0503020204020204" charset="-122"/>
              </a:rPr>
              <a:t>BOM</a:t>
            </a: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与数据</a:t>
            </a:r>
          </a:p>
        </p:txBody>
      </p:sp>
      <p:grpSp>
        <p:nvGrpSpPr>
          <p:cNvPr id="4" name="组合 8"/>
          <p:cNvGrpSpPr/>
          <p:nvPr/>
        </p:nvGrpSpPr>
        <p:grpSpPr>
          <a:xfrm>
            <a:off x="125186" y="4787563"/>
            <a:ext cx="8928708" cy="1466699"/>
            <a:chOff x="125186" y="4899920"/>
            <a:chExt cx="8928708" cy="1399450"/>
          </a:xfrm>
        </p:grpSpPr>
        <p:sp>
          <p:nvSpPr>
            <p:cNvPr id="83" name="矩形 82"/>
            <p:cNvSpPr/>
            <p:nvPr/>
          </p:nvSpPr>
          <p:spPr bwMode="auto">
            <a:xfrm>
              <a:off x="129846" y="4899920"/>
              <a:ext cx="8924048" cy="1399450"/>
            </a:xfrm>
            <a:prstGeom prst="rect">
              <a:avLst/>
            </a:prstGeom>
            <a:solidFill>
              <a:schemeClr val="accent1">
                <a:lumMod val="20000"/>
                <a:lumOff val="80000"/>
              </a:schemeClr>
            </a:solidFill>
            <a:ln w="19050" cmpd="sng">
              <a:solidFill>
                <a:schemeClr val="bg1">
                  <a:lumMod val="8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100" b="0" dirty="0">
                <a:solidFill>
                  <a:schemeClr val="tx1"/>
                </a:solidFill>
                <a:latin typeface="微软雅黑" panose="020B0503020204020204" charset="-122"/>
                <a:ea typeface="微软雅黑" panose="020B0503020204020204" charset="-122"/>
              </a:endParaRPr>
            </a:p>
          </p:txBody>
        </p:sp>
        <p:sp>
          <p:nvSpPr>
            <p:cNvPr id="84" name="文本框 83"/>
            <p:cNvSpPr txBox="1"/>
            <p:nvPr/>
          </p:nvSpPr>
          <p:spPr bwMode="auto">
            <a:xfrm>
              <a:off x="125186" y="5131177"/>
              <a:ext cx="381000" cy="990956"/>
            </a:xfrm>
            <a:prstGeom prst="rect">
              <a:avLst/>
            </a:prstGeom>
            <a:noFill/>
            <a:ln>
              <a:noFill/>
            </a:ln>
          </p:spPr>
          <p:txBody>
            <a:bodyPr wrap="square" rtlCol="0">
              <a:spAutoFit/>
            </a:bodyPr>
            <a:lstStyle/>
            <a:p>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系统集成</a:t>
              </a:r>
            </a:p>
          </p:txBody>
        </p:sp>
      </p:grpSp>
      <p:sp>
        <p:nvSpPr>
          <p:cNvPr id="10" name="矩形 9"/>
          <p:cNvSpPr/>
          <p:nvPr/>
        </p:nvSpPr>
        <p:spPr bwMode="auto">
          <a:xfrm>
            <a:off x="511533" y="2004039"/>
            <a:ext cx="300661" cy="413339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050" dirty="0">
                <a:solidFill>
                  <a:schemeClr val="tx1"/>
                </a:solidFill>
                <a:latin typeface="微软雅黑" panose="020B0503020204020204" charset="-122"/>
                <a:ea typeface="微软雅黑" panose="020B0503020204020204" charset="-122"/>
              </a:rPr>
              <a:t>1.0</a:t>
            </a:r>
          </a:p>
          <a:p>
            <a:pPr algn="ctr">
              <a:lnSpc>
                <a:spcPct val="110000"/>
              </a:lnSpc>
            </a:pPr>
            <a:endParaRPr kumimoji="1" lang="en-US" altLang="zh-CN" sz="105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050" dirty="0">
                <a:solidFill>
                  <a:schemeClr val="tx1"/>
                </a:solidFill>
                <a:latin typeface="微软雅黑" panose="020B0503020204020204" charset="-122"/>
                <a:ea typeface="微软雅黑" panose="020B0503020204020204" charset="-122"/>
              </a:rPr>
              <a:t>项目筹备</a:t>
            </a:r>
          </a:p>
        </p:txBody>
      </p:sp>
      <p:sp>
        <p:nvSpPr>
          <p:cNvPr id="12" name="矩形 11"/>
          <p:cNvSpPr/>
          <p:nvPr/>
        </p:nvSpPr>
        <p:spPr bwMode="auto">
          <a:xfrm>
            <a:off x="950464" y="2031909"/>
            <a:ext cx="360000" cy="1213408"/>
          </a:xfrm>
          <a:prstGeom prst="rect">
            <a:avLst/>
          </a:prstGeom>
          <a:solidFill>
            <a:schemeClr val="accent3">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1.1</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业务框架准备</a:t>
            </a:r>
          </a:p>
        </p:txBody>
      </p:sp>
      <p:sp>
        <p:nvSpPr>
          <p:cNvPr id="13" name="矩形 12"/>
          <p:cNvSpPr/>
          <p:nvPr/>
        </p:nvSpPr>
        <p:spPr bwMode="auto">
          <a:xfrm>
            <a:off x="950464" y="3459026"/>
            <a:ext cx="360000" cy="1176421"/>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1.2</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数据框架准备</a:t>
            </a:r>
            <a:endParaRPr kumimoji="1" lang="en-US" altLang="zh-CN" sz="1100" dirty="0">
              <a:solidFill>
                <a:schemeClr val="tx1"/>
              </a:solidFill>
              <a:latin typeface="微软雅黑" panose="020B0503020204020204" charset="-122"/>
              <a:ea typeface="微软雅黑" panose="020B0503020204020204" charset="-122"/>
            </a:endParaRPr>
          </a:p>
        </p:txBody>
      </p:sp>
      <p:sp>
        <p:nvSpPr>
          <p:cNvPr id="14" name="矩形 13"/>
          <p:cNvSpPr/>
          <p:nvPr/>
        </p:nvSpPr>
        <p:spPr bwMode="auto">
          <a:xfrm>
            <a:off x="950464" y="4961008"/>
            <a:ext cx="360000" cy="1176421"/>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1.3</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组织系统架构准备</a:t>
            </a:r>
            <a:endParaRPr kumimoji="1" lang="en-US" altLang="zh-CN" sz="1100" dirty="0">
              <a:solidFill>
                <a:schemeClr val="tx1"/>
              </a:solidFill>
              <a:latin typeface="微软雅黑" panose="020B0503020204020204" charset="-122"/>
              <a:ea typeface="微软雅黑" panose="020B0503020204020204" charset="-122"/>
            </a:endParaRPr>
          </a:p>
        </p:txBody>
      </p:sp>
      <p:sp>
        <p:nvSpPr>
          <p:cNvPr id="15" name="矩形 14"/>
          <p:cNvSpPr/>
          <p:nvPr/>
        </p:nvSpPr>
        <p:spPr bwMode="auto">
          <a:xfrm>
            <a:off x="1926577" y="2031909"/>
            <a:ext cx="788035" cy="360000"/>
          </a:xfrm>
          <a:prstGeom prst="rect">
            <a:avLst/>
          </a:prstGeom>
          <a:solidFill>
            <a:schemeClr val="accent3">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2.1.1 </a:t>
            </a:r>
            <a:r>
              <a:rPr kumimoji="1" lang="zh-CN" altLang="en-US" sz="1100" dirty="0">
                <a:latin typeface="微软雅黑" panose="020B0503020204020204" charset="-122"/>
                <a:ea typeface="微软雅黑" panose="020B0503020204020204" charset="-122"/>
              </a:rPr>
              <a:t>计划</a:t>
            </a:r>
            <a:r>
              <a:rPr kumimoji="1" lang="zh-CN" altLang="en-US" sz="1100" dirty="0">
                <a:solidFill>
                  <a:schemeClr val="tx1"/>
                </a:solidFill>
                <a:latin typeface="微软雅黑" panose="020B0503020204020204" charset="-122"/>
                <a:ea typeface="微软雅黑" panose="020B0503020204020204" charset="-122"/>
              </a:rPr>
              <a:t>模式共识</a:t>
            </a:r>
          </a:p>
        </p:txBody>
      </p:sp>
      <p:sp>
        <p:nvSpPr>
          <p:cNvPr id="16" name="矩形 15"/>
          <p:cNvSpPr/>
          <p:nvPr/>
        </p:nvSpPr>
        <p:spPr bwMode="auto">
          <a:xfrm>
            <a:off x="2079170" y="2451942"/>
            <a:ext cx="1046503" cy="360000"/>
          </a:xfrm>
          <a:prstGeom prst="rect">
            <a:avLst/>
          </a:prstGeom>
          <a:solidFill>
            <a:schemeClr val="accent3">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2.1.2 </a:t>
            </a:r>
            <a:r>
              <a:rPr kumimoji="1" lang="zh-CN" altLang="en-US" sz="1100" dirty="0">
                <a:solidFill>
                  <a:schemeClr val="tx1"/>
                </a:solidFill>
                <a:latin typeface="微软雅黑" panose="020B0503020204020204" charset="-122"/>
                <a:ea typeface="微软雅黑" panose="020B0503020204020204" charset="-122"/>
              </a:rPr>
              <a:t>业务方案设计</a:t>
            </a:r>
          </a:p>
        </p:txBody>
      </p:sp>
      <p:sp>
        <p:nvSpPr>
          <p:cNvPr id="17" name="矩形 16"/>
          <p:cNvSpPr/>
          <p:nvPr/>
        </p:nvSpPr>
        <p:spPr bwMode="auto">
          <a:xfrm>
            <a:off x="1430661" y="2031908"/>
            <a:ext cx="390041" cy="1214211"/>
          </a:xfrm>
          <a:prstGeom prst="rect">
            <a:avLst/>
          </a:prstGeom>
          <a:solidFill>
            <a:schemeClr val="accent3">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2.1</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业务</a:t>
            </a: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现状调研</a:t>
            </a:r>
          </a:p>
        </p:txBody>
      </p:sp>
      <p:sp>
        <p:nvSpPr>
          <p:cNvPr id="18" name="矩形 17"/>
          <p:cNvSpPr/>
          <p:nvPr/>
        </p:nvSpPr>
        <p:spPr bwMode="auto">
          <a:xfrm>
            <a:off x="1430661" y="3458247"/>
            <a:ext cx="390041" cy="11772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2.2</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数据现状调研</a:t>
            </a:r>
          </a:p>
        </p:txBody>
      </p:sp>
      <p:sp>
        <p:nvSpPr>
          <p:cNvPr id="19" name="矩形 18"/>
          <p:cNvSpPr/>
          <p:nvPr/>
        </p:nvSpPr>
        <p:spPr bwMode="auto">
          <a:xfrm>
            <a:off x="1430661" y="5577066"/>
            <a:ext cx="390041" cy="576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2.3</a:t>
            </a: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系统现状</a:t>
            </a:r>
          </a:p>
        </p:txBody>
      </p:sp>
      <p:sp>
        <p:nvSpPr>
          <p:cNvPr id="20" name="矩形 19"/>
          <p:cNvSpPr/>
          <p:nvPr/>
        </p:nvSpPr>
        <p:spPr bwMode="auto">
          <a:xfrm>
            <a:off x="2079170" y="5682137"/>
            <a:ext cx="1046503"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2.3.3 </a:t>
            </a:r>
            <a:r>
              <a:rPr kumimoji="1" lang="zh-CN" altLang="en-US" sz="1100" dirty="0">
                <a:solidFill>
                  <a:schemeClr val="tx1"/>
                </a:solidFill>
                <a:latin typeface="微软雅黑" panose="020B0503020204020204" charset="-122"/>
                <a:ea typeface="微软雅黑" panose="020B0503020204020204" charset="-122"/>
              </a:rPr>
              <a:t>系统应用架构设计</a:t>
            </a:r>
          </a:p>
        </p:txBody>
      </p:sp>
      <p:sp>
        <p:nvSpPr>
          <p:cNvPr id="21" name="矩形 20"/>
          <p:cNvSpPr/>
          <p:nvPr/>
        </p:nvSpPr>
        <p:spPr bwMode="auto">
          <a:xfrm>
            <a:off x="3277314" y="2031909"/>
            <a:ext cx="1404000" cy="360000"/>
          </a:xfrm>
          <a:prstGeom prst="rect">
            <a:avLst/>
          </a:prstGeom>
          <a:solidFill>
            <a:schemeClr val="accent3">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３</a:t>
            </a:r>
            <a:r>
              <a:rPr kumimoji="1" lang="en-US" altLang="zh-CN" sz="1100" dirty="0">
                <a:solidFill>
                  <a:schemeClr val="tx1"/>
                </a:solidFill>
                <a:latin typeface="微软雅黑" panose="020B0503020204020204" charset="-122"/>
                <a:ea typeface="微软雅黑" panose="020B0503020204020204" charset="-122"/>
              </a:rPr>
              <a:t>.1.1 </a:t>
            </a:r>
            <a:r>
              <a:rPr kumimoji="1" lang="zh-CN" altLang="en-US" sz="1100" dirty="0">
                <a:latin typeface="微软雅黑" panose="020B0503020204020204" charset="-122"/>
                <a:ea typeface="微软雅黑" panose="020B0503020204020204" charset="-122"/>
              </a:rPr>
              <a:t>详细流程设计</a:t>
            </a:r>
            <a:endParaRPr kumimoji="1" lang="zh-CN" altLang="en-US" sz="1100" dirty="0">
              <a:solidFill>
                <a:schemeClr val="tx1"/>
              </a:solidFill>
              <a:latin typeface="微软雅黑" panose="020B0503020204020204" charset="-122"/>
              <a:ea typeface="微软雅黑" panose="020B0503020204020204" charset="-122"/>
            </a:endParaRPr>
          </a:p>
        </p:txBody>
      </p:sp>
      <p:sp>
        <p:nvSpPr>
          <p:cNvPr id="22" name="矩形 21"/>
          <p:cNvSpPr/>
          <p:nvPr/>
        </p:nvSpPr>
        <p:spPr bwMode="auto">
          <a:xfrm>
            <a:off x="3277314" y="2456038"/>
            <a:ext cx="1404000" cy="360000"/>
          </a:xfrm>
          <a:prstGeom prst="rect">
            <a:avLst/>
          </a:prstGeom>
          <a:solidFill>
            <a:schemeClr val="accent3">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３</a:t>
            </a:r>
            <a:r>
              <a:rPr kumimoji="1" lang="en-US" altLang="zh-CN" sz="1100" dirty="0">
                <a:solidFill>
                  <a:schemeClr val="tx1"/>
                </a:solidFill>
                <a:latin typeface="微软雅黑" panose="020B0503020204020204" charset="-122"/>
                <a:ea typeface="微软雅黑" panose="020B0503020204020204" charset="-122"/>
              </a:rPr>
              <a:t>.1.2 </a:t>
            </a:r>
            <a:r>
              <a:rPr kumimoji="1" lang="zh-CN" altLang="en-US" sz="1100" dirty="0">
                <a:latin typeface="微软雅黑" panose="020B0503020204020204" charset="-122"/>
                <a:ea typeface="微软雅黑" panose="020B0503020204020204" charset="-122"/>
              </a:rPr>
              <a:t>组织</a:t>
            </a:r>
            <a:r>
              <a:rPr kumimoji="1" lang="en-US" altLang="zh-CN" sz="1100" dirty="0">
                <a:latin typeface="微软雅黑" panose="020B0503020204020204" charset="-122"/>
                <a:ea typeface="微软雅黑" panose="020B0503020204020204" charset="-122"/>
              </a:rPr>
              <a:t>/</a:t>
            </a:r>
            <a:r>
              <a:rPr kumimoji="1" lang="zh-CN" altLang="en-US" sz="1100" dirty="0">
                <a:latin typeface="微软雅黑" panose="020B0503020204020204" charset="-122"/>
                <a:ea typeface="微软雅黑" panose="020B0503020204020204" charset="-122"/>
              </a:rPr>
              <a:t>绩效</a:t>
            </a:r>
            <a:br>
              <a:rPr kumimoji="1" lang="en-US" altLang="zh-CN" sz="1100" dirty="0">
                <a:latin typeface="微软雅黑" panose="020B0503020204020204" charset="-122"/>
                <a:ea typeface="微软雅黑" panose="020B0503020204020204" charset="-122"/>
              </a:rPr>
            </a:br>
            <a:r>
              <a:rPr kumimoji="1" lang="zh-CN" altLang="en-US" sz="1100" dirty="0">
                <a:latin typeface="微软雅黑" panose="020B0503020204020204" charset="-122"/>
                <a:ea typeface="微软雅黑" panose="020B0503020204020204" charset="-122"/>
              </a:rPr>
              <a:t>配套建议</a:t>
            </a:r>
          </a:p>
        </p:txBody>
      </p:sp>
      <p:sp>
        <p:nvSpPr>
          <p:cNvPr id="23" name="矩形 22"/>
          <p:cNvSpPr/>
          <p:nvPr/>
        </p:nvSpPr>
        <p:spPr bwMode="auto">
          <a:xfrm>
            <a:off x="3429698" y="5447580"/>
            <a:ext cx="911269"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3.3.3</a:t>
            </a:r>
            <a:r>
              <a:rPr kumimoji="1" lang="zh-CN" altLang="en-US" sz="1100" dirty="0">
                <a:solidFill>
                  <a:schemeClr val="tx1"/>
                </a:solidFill>
                <a:latin typeface="微软雅黑" panose="020B0503020204020204" charset="-122"/>
                <a:ea typeface="微软雅黑" panose="020B0503020204020204" charset="-122"/>
              </a:rPr>
              <a:t>系统集成方案设计</a:t>
            </a:r>
          </a:p>
        </p:txBody>
      </p:sp>
      <p:sp>
        <p:nvSpPr>
          <p:cNvPr id="24" name="矩形 23"/>
          <p:cNvSpPr/>
          <p:nvPr/>
        </p:nvSpPr>
        <p:spPr bwMode="auto">
          <a:xfrm>
            <a:off x="3277314" y="2876682"/>
            <a:ext cx="1404000" cy="360000"/>
          </a:xfrm>
          <a:prstGeom prst="rect">
            <a:avLst/>
          </a:prstGeom>
          <a:solidFill>
            <a:schemeClr val="accent3">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３</a:t>
            </a:r>
            <a:r>
              <a:rPr kumimoji="1" lang="en-US" altLang="zh-CN" sz="1100" dirty="0">
                <a:solidFill>
                  <a:schemeClr val="tx1"/>
                </a:solidFill>
                <a:latin typeface="微软雅黑" panose="020B0503020204020204" charset="-122"/>
                <a:ea typeface="微软雅黑" panose="020B0503020204020204" charset="-122"/>
              </a:rPr>
              <a:t>.1.3 </a:t>
            </a:r>
            <a:r>
              <a:rPr kumimoji="1" lang="zh-CN" altLang="en-US" sz="1100" dirty="0">
                <a:solidFill>
                  <a:schemeClr val="tx1"/>
                </a:solidFill>
                <a:latin typeface="微软雅黑" panose="020B0503020204020204" charset="-122"/>
                <a:ea typeface="微软雅黑" panose="020B0503020204020204" charset="-122"/>
              </a:rPr>
              <a:t>系统蓝图设计</a:t>
            </a:r>
          </a:p>
        </p:txBody>
      </p:sp>
      <p:sp>
        <p:nvSpPr>
          <p:cNvPr id="25" name="矩形 24"/>
          <p:cNvSpPr/>
          <p:nvPr/>
        </p:nvSpPr>
        <p:spPr bwMode="auto">
          <a:xfrm>
            <a:off x="3429697" y="5859667"/>
            <a:ext cx="911269"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3.3.4</a:t>
            </a:r>
            <a:r>
              <a:rPr kumimoji="1" lang="zh-CN" altLang="en-US" sz="1100" dirty="0">
                <a:solidFill>
                  <a:schemeClr val="tx1"/>
                </a:solidFill>
                <a:latin typeface="微软雅黑" panose="020B0503020204020204" charset="-122"/>
                <a:ea typeface="微软雅黑" panose="020B0503020204020204" charset="-122"/>
              </a:rPr>
              <a:t>外围系统详细设计</a:t>
            </a:r>
          </a:p>
        </p:txBody>
      </p:sp>
      <p:sp>
        <p:nvSpPr>
          <p:cNvPr id="26" name="矩形 25"/>
          <p:cNvSpPr/>
          <p:nvPr/>
        </p:nvSpPr>
        <p:spPr bwMode="auto">
          <a:xfrm>
            <a:off x="4625462" y="5443989"/>
            <a:ext cx="1279948"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4.1.1 ERP</a:t>
            </a:r>
            <a:r>
              <a:rPr kumimoji="1" lang="zh-CN" altLang="en-US" sz="1100" dirty="0">
                <a:solidFill>
                  <a:schemeClr val="tx1"/>
                </a:solidFill>
                <a:latin typeface="微软雅黑" panose="020B0503020204020204" charset="-122"/>
                <a:ea typeface="微软雅黑" panose="020B0503020204020204" charset="-122"/>
              </a:rPr>
              <a:t>系统配置与单元测试</a:t>
            </a:r>
          </a:p>
        </p:txBody>
      </p:sp>
      <p:sp>
        <p:nvSpPr>
          <p:cNvPr id="27" name="矩形 26"/>
          <p:cNvSpPr/>
          <p:nvPr/>
        </p:nvSpPr>
        <p:spPr bwMode="auto">
          <a:xfrm>
            <a:off x="4626695" y="5855886"/>
            <a:ext cx="1279948"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4.1.2 </a:t>
            </a:r>
            <a:r>
              <a:rPr kumimoji="1" lang="zh-CN" altLang="en-US" sz="1100" dirty="0">
                <a:solidFill>
                  <a:schemeClr val="tx1"/>
                </a:solidFill>
                <a:latin typeface="微软雅黑" panose="020B0503020204020204" charset="-122"/>
                <a:ea typeface="微软雅黑" panose="020B0503020204020204" charset="-122"/>
              </a:rPr>
              <a:t>外围</a:t>
            </a:r>
            <a:r>
              <a:rPr kumimoji="1" lang="zh-CN" altLang="en-US" sz="1000" dirty="0">
                <a:solidFill>
                  <a:schemeClr val="tx1"/>
                </a:solidFill>
                <a:latin typeface="微软雅黑" panose="020B0503020204020204" charset="-122"/>
                <a:ea typeface="微软雅黑" panose="020B0503020204020204" charset="-122"/>
              </a:rPr>
              <a:t>系统开发</a:t>
            </a:r>
            <a:r>
              <a:rPr kumimoji="1" lang="zh-CN" altLang="en-US" sz="1100" dirty="0">
                <a:solidFill>
                  <a:schemeClr val="tx1"/>
                </a:solidFill>
                <a:latin typeface="微软雅黑" panose="020B0503020204020204" charset="-122"/>
                <a:ea typeface="微软雅黑" panose="020B0503020204020204" charset="-122"/>
              </a:rPr>
              <a:t>与单元测试</a:t>
            </a:r>
          </a:p>
        </p:txBody>
      </p:sp>
      <p:sp>
        <p:nvSpPr>
          <p:cNvPr id="28" name="矩形 27"/>
          <p:cNvSpPr/>
          <p:nvPr/>
        </p:nvSpPr>
        <p:spPr bwMode="auto">
          <a:xfrm>
            <a:off x="8199869" y="4844870"/>
            <a:ext cx="692033" cy="1368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6.1</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上线支持与系统优化</a:t>
            </a:r>
          </a:p>
        </p:txBody>
      </p:sp>
      <p:sp>
        <p:nvSpPr>
          <p:cNvPr id="29" name="矩形 28"/>
          <p:cNvSpPr/>
          <p:nvPr/>
        </p:nvSpPr>
        <p:spPr bwMode="auto">
          <a:xfrm>
            <a:off x="8181721" y="3458246"/>
            <a:ext cx="710182" cy="1217073"/>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6.2 </a:t>
            </a:r>
            <a:r>
              <a:rPr kumimoji="1" lang="zh-CN" altLang="en-US" sz="1100" dirty="0">
                <a:solidFill>
                  <a:schemeClr val="tx1"/>
                </a:solidFill>
                <a:latin typeface="微软雅黑" panose="020B0503020204020204" charset="-122"/>
                <a:ea typeface="微软雅黑" panose="020B0503020204020204" charset="-122"/>
              </a:rPr>
              <a:t>数据治理</a:t>
            </a:r>
          </a:p>
        </p:txBody>
      </p:sp>
      <p:sp>
        <p:nvSpPr>
          <p:cNvPr id="41" name="矩形 40"/>
          <p:cNvSpPr/>
          <p:nvPr/>
        </p:nvSpPr>
        <p:spPr bwMode="auto">
          <a:xfrm>
            <a:off x="3766457" y="4315973"/>
            <a:ext cx="4126310"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３</a:t>
            </a:r>
            <a:r>
              <a:rPr kumimoji="1" lang="en-US" altLang="zh-CN" sz="1100" dirty="0">
                <a:solidFill>
                  <a:schemeClr val="tx1"/>
                </a:solidFill>
                <a:latin typeface="微软雅黑" panose="020B0503020204020204" charset="-122"/>
                <a:ea typeface="微软雅黑" panose="020B0503020204020204" charset="-122"/>
              </a:rPr>
              <a:t>.</a:t>
            </a:r>
            <a:r>
              <a:rPr kumimoji="1" lang="zh-CN" altLang="en-US" sz="1100" dirty="0">
                <a:solidFill>
                  <a:schemeClr val="tx1"/>
                </a:solidFill>
                <a:latin typeface="微软雅黑" panose="020B0503020204020204" charset="-122"/>
                <a:ea typeface="微软雅黑" panose="020B0503020204020204" charset="-122"/>
              </a:rPr>
              <a:t>２</a:t>
            </a:r>
            <a:r>
              <a:rPr kumimoji="1" lang="en-US" altLang="zh-CN" sz="1100" dirty="0">
                <a:solidFill>
                  <a:schemeClr val="tx1"/>
                </a:solidFill>
                <a:latin typeface="微软雅黑" panose="020B0503020204020204" charset="-122"/>
                <a:ea typeface="微软雅黑" panose="020B0503020204020204" charset="-122"/>
              </a:rPr>
              <a:t>.2 BOM</a:t>
            </a:r>
            <a:r>
              <a:rPr kumimoji="1" lang="zh-CN" altLang="en-US" sz="1100" dirty="0">
                <a:solidFill>
                  <a:schemeClr val="tx1"/>
                </a:solidFill>
                <a:latin typeface="微软雅黑" panose="020B0503020204020204" charset="-122"/>
                <a:ea typeface="微软雅黑" panose="020B0503020204020204" charset="-122"/>
              </a:rPr>
              <a:t>收集与清理</a:t>
            </a:r>
          </a:p>
        </p:txBody>
      </p:sp>
      <p:sp>
        <p:nvSpPr>
          <p:cNvPr id="42" name="矩形 41"/>
          <p:cNvSpPr/>
          <p:nvPr/>
        </p:nvSpPr>
        <p:spPr bwMode="auto">
          <a:xfrm>
            <a:off x="6071438" y="4846936"/>
            <a:ext cx="381096" cy="1368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4.2</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集成测试</a:t>
            </a: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endParaRPr kumimoji="1" lang="zh-CN" altLang="en-US" sz="1100" dirty="0">
              <a:solidFill>
                <a:schemeClr val="tx1"/>
              </a:solidFill>
              <a:latin typeface="微软雅黑" panose="020B0503020204020204" charset="-122"/>
              <a:ea typeface="微软雅黑" panose="020B0503020204020204" charset="-122"/>
            </a:endParaRPr>
          </a:p>
        </p:txBody>
      </p:sp>
      <p:sp>
        <p:nvSpPr>
          <p:cNvPr id="43" name="矩形 42"/>
          <p:cNvSpPr/>
          <p:nvPr/>
        </p:nvSpPr>
        <p:spPr bwMode="auto">
          <a:xfrm>
            <a:off x="6634802" y="4846936"/>
            <a:ext cx="381096" cy="1368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4.3</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用户接受测试</a:t>
            </a: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endParaRPr kumimoji="1" lang="zh-CN" altLang="en-US" sz="1100" dirty="0">
              <a:solidFill>
                <a:schemeClr val="tx1"/>
              </a:solidFill>
              <a:latin typeface="微软雅黑" panose="020B0503020204020204" charset="-122"/>
              <a:ea typeface="微软雅黑" panose="020B0503020204020204" charset="-122"/>
            </a:endParaRPr>
          </a:p>
        </p:txBody>
      </p:sp>
      <p:sp>
        <p:nvSpPr>
          <p:cNvPr id="44" name="矩形 43"/>
          <p:cNvSpPr/>
          <p:nvPr/>
        </p:nvSpPr>
        <p:spPr bwMode="auto">
          <a:xfrm>
            <a:off x="7186975" y="4849981"/>
            <a:ext cx="569724" cy="1368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5.1</a:t>
            </a:r>
          </a:p>
          <a:p>
            <a:pPr algn="ctr">
              <a:lnSpc>
                <a:spcPct val="110000"/>
              </a:lnSpc>
            </a:pP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用户培训与权限准备</a:t>
            </a:r>
            <a:endParaRPr kumimoji="1" lang="en-US" altLang="zh-CN" sz="1100" dirty="0">
              <a:solidFill>
                <a:schemeClr val="tx1"/>
              </a:solidFill>
              <a:latin typeface="微软雅黑" panose="020B0503020204020204" charset="-122"/>
              <a:ea typeface="微软雅黑" panose="020B0503020204020204" charset="-122"/>
            </a:endParaRPr>
          </a:p>
          <a:p>
            <a:pPr algn="ctr">
              <a:lnSpc>
                <a:spcPct val="110000"/>
              </a:lnSpc>
            </a:pPr>
            <a:endParaRPr kumimoji="1" lang="zh-CN" altLang="en-US" sz="1100" dirty="0">
              <a:solidFill>
                <a:schemeClr val="tx1"/>
              </a:solidFill>
              <a:latin typeface="微软雅黑" panose="020B0503020204020204" charset="-122"/>
              <a:ea typeface="微软雅黑" panose="020B0503020204020204" charset="-122"/>
            </a:endParaRPr>
          </a:p>
        </p:txBody>
      </p:sp>
      <p:sp>
        <p:nvSpPr>
          <p:cNvPr id="49" name="矩形 48"/>
          <p:cNvSpPr/>
          <p:nvPr/>
        </p:nvSpPr>
        <p:spPr bwMode="auto">
          <a:xfrm>
            <a:off x="2079170" y="5074021"/>
            <a:ext cx="1046503"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2.3.2 </a:t>
            </a:r>
            <a:r>
              <a:rPr kumimoji="1" lang="zh-CN" altLang="en-US" sz="1100" dirty="0">
                <a:solidFill>
                  <a:schemeClr val="tx1"/>
                </a:solidFill>
                <a:latin typeface="微软雅黑" panose="020B0503020204020204" charset="-122"/>
                <a:ea typeface="微软雅黑" panose="020B0503020204020204" charset="-122"/>
              </a:rPr>
              <a:t>组织架构设计</a:t>
            </a:r>
          </a:p>
        </p:txBody>
      </p:sp>
      <p:sp>
        <p:nvSpPr>
          <p:cNvPr id="50" name="矩形 49"/>
          <p:cNvSpPr/>
          <p:nvPr/>
        </p:nvSpPr>
        <p:spPr bwMode="auto">
          <a:xfrm>
            <a:off x="3440583" y="4836050"/>
            <a:ext cx="2470664" cy="262712"/>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3.3.1 </a:t>
            </a:r>
            <a:r>
              <a:rPr kumimoji="1" lang="zh-CN" altLang="en-US" sz="1100" dirty="0">
                <a:solidFill>
                  <a:schemeClr val="tx1"/>
                </a:solidFill>
                <a:latin typeface="微软雅黑" panose="020B0503020204020204" charset="-122"/>
                <a:ea typeface="微软雅黑" panose="020B0503020204020204" charset="-122"/>
              </a:rPr>
              <a:t>集成计划平台的开发与测试</a:t>
            </a:r>
          </a:p>
        </p:txBody>
      </p:sp>
      <p:sp>
        <p:nvSpPr>
          <p:cNvPr id="51" name="矩形 50"/>
          <p:cNvSpPr/>
          <p:nvPr/>
        </p:nvSpPr>
        <p:spPr bwMode="auto">
          <a:xfrm>
            <a:off x="3186660" y="3413109"/>
            <a:ext cx="3029083"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                       ３</a:t>
            </a:r>
            <a:r>
              <a:rPr kumimoji="1" lang="en-US" altLang="zh-CN" sz="1100" dirty="0">
                <a:solidFill>
                  <a:schemeClr val="tx1"/>
                </a:solidFill>
                <a:latin typeface="微软雅黑" panose="020B0503020204020204" charset="-122"/>
                <a:ea typeface="微软雅黑" panose="020B0503020204020204" charset="-122"/>
              </a:rPr>
              <a:t>.</a:t>
            </a:r>
            <a:r>
              <a:rPr kumimoji="1" lang="zh-CN" altLang="en-US" sz="1100" dirty="0">
                <a:solidFill>
                  <a:schemeClr val="tx1"/>
                </a:solidFill>
                <a:latin typeface="微软雅黑" panose="020B0503020204020204" charset="-122"/>
                <a:ea typeface="微软雅黑" panose="020B0503020204020204" charset="-122"/>
              </a:rPr>
              <a:t>２</a:t>
            </a:r>
            <a:r>
              <a:rPr kumimoji="1" lang="en-US" altLang="zh-CN" sz="1100" dirty="0">
                <a:solidFill>
                  <a:schemeClr val="tx1"/>
                </a:solidFill>
                <a:latin typeface="微软雅黑" panose="020B0503020204020204" charset="-122"/>
                <a:ea typeface="微软雅黑" panose="020B0503020204020204" charset="-122"/>
              </a:rPr>
              <a:t>.1 </a:t>
            </a:r>
            <a:r>
              <a:rPr kumimoji="1" lang="zh-CN" altLang="en-US" sz="1100" dirty="0">
                <a:solidFill>
                  <a:schemeClr val="tx1"/>
                </a:solidFill>
                <a:latin typeface="微软雅黑" panose="020B0503020204020204" charset="-122"/>
                <a:ea typeface="微软雅黑" panose="020B0503020204020204" charset="-122"/>
              </a:rPr>
              <a:t>物料数据收集与清理</a:t>
            </a:r>
          </a:p>
        </p:txBody>
      </p:sp>
      <p:sp>
        <p:nvSpPr>
          <p:cNvPr id="52" name="矩形 51"/>
          <p:cNvSpPr/>
          <p:nvPr/>
        </p:nvSpPr>
        <p:spPr bwMode="auto">
          <a:xfrm>
            <a:off x="1430661" y="4962939"/>
            <a:ext cx="390041" cy="576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2.3</a:t>
            </a:r>
          </a:p>
          <a:p>
            <a:pPr algn="ctr">
              <a:lnSpc>
                <a:spcPct val="110000"/>
              </a:lnSpc>
            </a:pPr>
            <a:r>
              <a:rPr kumimoji="1" lang="zh-CN" altLang="en-US" sz="1100" dirty="0">
                <a:solidFill>
                  <a:schemeClr val="tx1"/>
                </a:solidFill>
                <a:latin typeface="微软雅黑" panose="020B0503020204020204" charset="-122"/>
                <a:ea typeface="微软雅黑" panose="020B0503020204020204" charset="-122"/>
              </a:rPr>
              <a:t>组织现状</a:t>
            </a:r>
          </a:p>
        </p:txBody>
      </p:sp>
      <p:sp>
        <p:nvSpPr>
          <p:cNvPr id="69" name="矩形 68"/>
          <p:cNvSpPr/>
          <p:nvPr/>
        </p:nvSpPr>
        <p:spPr bwMode="auto">
          <a:xfrm>
            <a:off x="3439205" y="5140800"/>
            <a:ext cx="2470664" cy="262712"/>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3.3.2BOM</a:t>
            </a:r>
            <a:r>
              <a:rPr kumimoji="1" lang="zh-CN" altLang="en-US" sz="1100" dirty="0">
                <a:solidFill>
                  <a:schemeClr val="tx1"/>
                </a:solidFill>
                <a:latin typeface="微软雅黑" panose="020B0503020204020204" charset="-122"/>
                <a:ea typeface="微软雅黑" panose="020B0503020204020204" charset="-122"/>
              </a:rPr>
              <a:t>集成及变更管理的</a:t>
            </a:r>
            <a:r>
              <a:rPr kumimoji="1" lang="zh-CN" altLang="en-US" sz="900" dirty="0">
                <a:solidFill>
                  <a:schemeClr val="tx1"/>
                </a:solidFill>
                <a:latin typeface="微软雅黑" panose="020B0503020204020204" charset="-122"/>
                <a:ea typeface="微软雅黑" panose="020B0503020204020204" charset="-122"/>
              </a:rPr>
              <a:t>开发与测试</a:t>
            </a:r>
          </a:p>
        </p:txBody>
      </p:sp>
      <p:sp>
        <p:nvSpPr>
          <p:cNvPr id="78" name="矩形 77"/>
          <p:cNvSpPr/>
          <p:nvPr/>
        </p:nvSpPr>
        <p:spPr bwMode="auto">
          <a:xfrm>
            <a:off x="2079170" y="2876682"/>
            <a:ext cx="1046503" cy="360000"/>
          </a:xfrm>
          <a:prstGeom prst="rect">
            <a:avLst/>
          </a:prstGeom>
          <a:solidFill>
            <a:schemeClr val="accent3">
              <a:lumMod val="60000"/>
              <a:lumOff val="40000"/>
            </a:schemeClr>
          </a:solid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2.1.3 </a:t>
            </a:r>
            <a:r>
              <a:rPr kumimoji="1" lang="zh-CN" altLang="en-US" sz="1100" dirty="0">
                <a:solidFill>
                  <a:schemeClr val="tx1"/>
                </a:solidFill>
                <a:latin typeface="微软雅黑" panose="020B0503020204020204" charset="-122"/>
                <a:ea typeface="微软雅黑" panose="020B0503020204020204" charset="-122"/>
              </a:rPr>
              <a:t>高阶流程设计</a:t>
            </a:r>
          </a:p>
        </p:txBody>
      </p:sp>
      <p:sp>
        <p:nvSpPr>
          <p:cNvPr id="79" name="矩形 78"/>
          <p:cNvSpPr/>
          <p:nvPr/>
        </p:nvSpPr>
        <p:spPr bwMode="auto">
          <a:xfrm>
            <a:off x="2079170" y="3415398"/>
            <a:ext cx="798813"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solidFill>
                  <a:schemeClr val="tx1"/>
                </a:solidFill>
                <a:latin typeface="微软雅黑" panose="020B0503020204020204" charset="-122"/>
                <a:ea typeface="微软雅黑" panose="020B0503020204020204" charset="-122"/>
              </a:rPr>
              <a:t>2.1.1 </a:t>
            </a:r>
            <a:r>
              <a:rPr kumimoji="1" lang="zh-CN" altLang="en-US" sz="1100" dirty="0">
                <a:solidFill>
                  <a:schemeClr val="tx1"/>
                </a:solidFill>
                <a:latin typeface="微软雅黑" panose="020B0503020204020204" charset="-122"/>
                <a:ea typeface="微软雅黑" panose="020B0503020204020204" charset="-122"/>
              </a:rPr>
              <a:t>编码方案设计</a:t>
            </a:r>
          </a:p>
        </p:txBody>
      </p:sp>
      <p:sp>
        <p:nvSpPr>
          <p:cNvPr id="80" name="矩形 79"/>
          <p:cNvSpPr/>
          <p:nvPr/>
        </p:nvSpPr>
        <p:spPr bwMode="auto">
          <a:xfrm>
            <a:off x="2268572" y="3865360"/>
            <a:ext cx="857101"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000" dirty="0">
                <a:solidFill>
                  <a:schemeClr val="tx1"/>
                </a:solidFill>
                <a:latin typeface="微软雅黑" panose="020B0503020204020204" charset="-122"/>
                <a:ea typeface="微软雅黑" panose="020B0503020204020204" charset="-122"/>
              </a:rPr>
              <a:t>2.1.2 BOM</a:t>
            </a:r>
            <a:r>
              <a:rPr kumimoji="1" lang="zh-CN" altLang="en-US" sz="1000" dirty="0">
                <a:solidFill>
                  <a:schemeClr val="tx1"/>
                </a:solidFill>
                <a:latin typeface="微软雅黑" panose="020B0503020204020204" charset="-122"/>
                <a:ea typeface="微软雅黑" panose="020B0503020204020204" charset="-122"/>
              </a:rPr>
              <a:t>集成方案设计</a:t>
            </a:r>
          </a:p>
        </p:txBody>
      </p:sp>
      <p:sp>
        <p:nvSpPr>
          <p:cNvPr id="81" name="矩形 80"/>
          <p:cNvSpPr/>
          <p:nvPr/>
        </p:nvSpPr>
        <p:spPr bwMode="auto">
          <a:xfrm>
            <a:off x="2268572" y="4315320"/>
            <a:ext cx="918088" cy="360000"/>
          </a:xfrm>
          <a:prstGeom prst="rect">
            <a:avLst/>
          </a:prstGeom>
          <a:noFill/>
          <a:ln w="19050" cmpd="sng">
            <a:solidFill>
              <a:schemeClr val="bg1">
                <a:lumMod val="6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000" dirty="0">
                <a:solidFill>
                  <a:schemeClr val="tx1"/>
                </a:solidFill>
                <a:latin typeface="微软雅黑" panose="020B0503020204020204" charset="-122"/>
                <a:ea typeface="微软雅黑" panose="020B0503020204020204" charset="-122"/>
              </a:rPr>
              <a:t>2.1.3 </a:t>
            </a:r>
            <a:r>
              <a:rPr kumimoji="1" lang="zh-CN" altLang="en-US" sz="1000" dirty="0">
                <a:solidFill>
                  <a:schemeClr val="tx1"/>
                </a:solidFill>
                <a:latin typeface="微软雅黑" panose="020B0503020204020204" charset="-122"/>
                <a:ea typeface="微软雅黑" panose="020B0503020204020204" charset="-122"/>
              </a:rPr>
              <a:t>清理策略治理</a:t>
            </a:r>
            <a:r>
              <a:rPr kumimoji="1" lang="zh-CN" altLang="en-US" sz="800" dirty="0">
                <a:solidFill>
                  <a:schemeClr val="tx1"/>
                </a:solidFill>
                <a:latin typeface="微软雅黑" panose="020B0503020204020204" charset="-122"/>
                <a:ea typeface="微软雅黑" panose="020B0503020204020204" charset="-122"/>
              </a:rPr>
              <a:t>方案设计</a:t>
            </a:r>
            <a:endParaRPr kumimoji="1" lang="zh-CN" altLang="en-US" sz="1000" dirty="0">
              <a:solidFill>
                <a:schemeClr val="tx1"/>
              </a:solidFill>
              <a:latin typeface="微软雅黑" panose="020B0503020204020204" charset="-122"/>
              <a:ea typeface="微软雅黑" panose="020B0503020204020204" charset="-122"/>
            </a:endParaRPr>
          </a:p>
        </p:txBody>
      </p:sp>
      <p:sp>
        <p:nvSpPr>
          <p:cNvPr id="74" name="矩形 73"/>
          <p:cNvSpPr/>
          <p:nvPr/>
        </p:nvSpPr>
        <p:spPr bwMode="auto">
          <a:xfrm>
            <a:off x="868102" y="1979602"/>
            <a:ext cx="3924000" cy="1309698"/>
          </a:xfrm>
          <a:prstGeom prst="rect">
            <a:avLst/>
          </a:prstGeom>
          <a:noFill/>
          <a:ln w="28575" cmpd="sng">
            <a:solidFill>
              <a:srgbClr val="C000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71" name="TextBox 70"/>
          <p:cNvSpPr txBox="1"/>
          <p:nvPr/>
        </p:nvSpPr>
        <p:spPr bwMode="auto">
          <a:xfrm>
            <a:off x="4788236" y="2382830"/>
            <a:ext cx="1082348" cy="523220"/>
          </a:xfrm>
          <a:prstGeom prst="rect">
            <a:avLst/>
          </a:prstGeom>
          <a:noFill/>
          <a:ln>
            <a:noFill/>
          </a:ln>
        </p:spPr>
        <p:txBody>
          <a:bodyPr wrap="none" rtlCol="0">
            <a:spAutoFit/>
          </a:bodyPr>
          <a:lstStyle/>
          <a:p>
            <a:pPr algn="ctr"/>
            <a:r>
              <a:rPr kumimoji="1" lang="zh-CN" altLang="en-US" sz="1400" b="1" dirty="0">
                <a:solidFill>
                  <a:srgbClr val="C00000"/>
                </a:solidFill>
                <a:latin typeface="微软雅黑" panose="020B0503020204020204" charset="-122"/>
                <a:ea typeface="微软雅黑" panose="020B0503020204020204" charset="-122"/>
                <a:cs typeface="微软雅黑" panose="020B0503020204020204" charset="-122"/>
              </a:rPr>
              <a:t>集成计划组</a:t>
            </a:r>
            <a:endParaRPr kumimoji="1" lang="en-US" altLang="zh-CN" sz="1400" b="1" dirty="0">
              <a:solidFill>
                <a:srgbClr val="C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400" b="1" dirty="0">
                <a:solidFill>
                  <a:srgbClr val="C00000"/>
                </a:solidFill>
                <a:latin typeface="微软雅黑" panose="020B0503020204020204" charset="-122"/>
                <a:ea typeface="微软雅黑" panose="020B0503020204020204" charset="-122"/>
                <a:cs typeface="微软雅黑" panose="020B0503020204020204" charset="-122"/>
              </a:rPr>
              <a:t>工作内容</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7"/>
          <p:cNvSpPr/>
          <p:nvPr/>
        </p:nvSpPr>
        <p:spPr bwMode="gray">
          <a:xfrm>
            <a:off x="1115984" y="1646992"/>
            <a:ext cx="711212" cy="1278000"/>
          </a:xfrm>
          <a:custGeom>
            <a:avLst/>
            <a:gdLst>
              <a:gd name="T0" fmla="*/ 0 w 371"/>
              <a:gd name="T1" fmla="*/ 2147483647 h 668"/>
              <a:gd name="T2" fmla="*/ 0 w 371"/>
              <a:gd name="T3" fmla="*/ 2147483647 h 668"/>
              <a:gd name="T4" fmla="*/ 2147483647 w 371"/>
              <a:gd name="T5" fmla="*/ 2147483647 h 668"/>
              <a:gd name="T6" fmla="*/ 2147483647 w 371"/>
              <a:gd name="T7" fmla="*/ 0 h 668"/>
              <a:gd name="T8" fmla="*/ 0 w 371"/>
              <a:gd name="T9" fmla="*/ 2147483647 h 668"/>
              <a:gd name="T10" fmla="*/ 0 60000 65536"/>
              <a:gd name="T11" fmla="*/ 0 60000 65536"/>
              <a:gd name="T12" fmla="*/ 0 60000 65536"/>
              <a:gd name="T13" fmla="*/ 0 60000 65536"/>
              <a:gd name="T14" fmla="*/ 0 60000 65536"/>
              <a:gd name="T15" fmla="*/ 0 w 371"/>
              <a:gd name="T16" fmla="*/ 0 h 668"/>
              <a:gd name="T17" fmla="*/ 371 w 371"/>
              <a:gd name="T18" fmla="*/ 668 h 668"/>
            </a:gdLst>
            <a:ahLst/>
            <a:cxnLst>
              <a:cxn ang="T10">
                <a:pos x="T0" y="T1"/>
              </a:cxn>
              <a:cxn ang="T11">
                <a:pos x="T2" y="T3"/>
              </a:cxn>
              <a:cxn ang="T12">
                <a:pos x="T4" y="T5"/>
              </a:cxn>
              <a:cxn ang="T13">
                <a:pos x="T6" y="T7"/>
              </a:cxn>
              <a:cxn ang="T14">
                <a:pos x="T8" y="T9"/>
              </a:cxn>
            </a:cxnLst>
            <a:rect l="T15" t="T16" r="T17" b="T18"/>
            <a:pathLst>
              <a:path w="371" h="668">
                <a:moveTo>
                  <a:pt x="0" y="134"/>
                </a:moveTo>
                <a:lnTo>
                  <a:pt x="0" y="533"/>
                </a:lnTo>
                <a:lnTo>
                  <a:pt x="371" y="668"/>
                </a:lnTo>
                <a:lnTo>
                  <a:pt x="371" y="0"/>
                </a:lnTo>
                <a:lnTo>
                  <a:pt x="0" y="134"/>
                </a:lnTo>
                <a:close/>
              </a:path>
            </a:pathLst>
          </a:custGeom>
          <a:gradFill rotWithShape="1">
            <a:gsLst>
              <a:gs pos="0">
                <a:srgbClr val="C7CDFD"/>
              </a:gs>
              <a:gs pos="100000">
                <a:srgbClr val="E8EBFE"/>
              </a:gs>
            </a:gsLst>
            <a:lin ang="0" scaled="1"/>
          </a:gradFill>
          <a:ln w="9525">
            <a:noFill/>
            <a:round/>
          </a:ln>
        </p:spPr>
        <p:txBody>
          <a:bodyPr/>
          <a:lstStyle/>
          <a:p>
            <a:endParaRPr lang="zh-CN" altLang="en-US" dirty="0"/>
          </a:p>
        </p:txBody>
      </p:sp>
      <p:sp>
        <p:nvSpPr>
          <p:cNvPr id="4" name="AutoShape 9"/>
          <p:cNvSpPr>
            <a:spLocks noChangeArrowheads="1"/>
          </p:cNvSpPr>
          <p:nvPr/>
        </p:nvSpPr>
        <p:spPr bwMode="gray">
          <a:xfrm>
            <a:off x="334935" y="1781992"/>
            <a:ext cx="1008000" cy="1008000"/>
          </a:xfrm>
          <a:prstGeom prst="flowChartConnector">
            <a:avLst/>
          </a:prstGeom>
          <a:gradFill rotWithShape="1">
            <a:gsLst>
              <a:gs pos="0">
                <a:schemeClr val="accent1"/>
              </a:gs>
              <a:gs pos="100000">
                <a:srgbClr val="464AEC"/>
              </a:gs>
            </a:gsLst>
            <a:lin ang="5400000" scaled="1"/>
          </a:gradFill>
          <a:ln w="88900" cmpd="thinThick" algn="ctr">
            <a:solidFill>
              <a:srgbClr val="C0C0C0"/>
            </a:solidFill>
            <a:round/>
          </a:ln>
        </p:spPr>
        <p:txBody>
          <a:bodyPr wrap="none" anchor="ctr"/>
          <a:lstStyle/>
          <a:p>
            <a:pPr algn="ctr" eaLnBrk="0" hangingPunct="0">
              <a:lnSpc>
                <a:spcPct val="90000"/>
              </a:lnSpc>
            </a:pPr>
            <a:r>
              <a:rPr lang="zh-CN" altLang="en-US" sz="1600" b="1" dirty="0">
                <a:solidFill>
                  <a:srgbClr val="FFFFFF"/>
                </a:solidFill>
                <a:latin typeface="微软雅黑" panose="020B0503020204020204" charset="-122"/>
                <a:ea typeface="微软雅黑" panose="020B0503020204020204" charset="-122"/>
              </a:rPr>
              <a:t>市场</a:t>
            </a:r>
          </a:p>
        </p:txBody>
      </p:sp>
      <p:graphicFrame>
        <p:nvGraphicFramePr>
          <p:cNvPr id="5" name="图表 4"/>
          <p:cNvGraphicFramePr/>
          <p:nvPr/>
        </p:nvGraphicFramePr>
        <p:xfrm>
          <a:off x="2000232" y="1558686"/>
          <a:ext cx="3240000" cy="1656000"/>
        </p:xfrm>
        <a:graphic>
          <a:graphicData uri="http://schemas.openxmlformats.org/drawingml/2006/chart">
            <c:chart xmlns:c="http://schemas.openxmlformats.org/drawingml/2006/chart" xmlns:r="http://schemas.openxmlformats.org/officeDocument/2006/relationships" r:id="rId3"/>
          </a:graphicData>
        </a:graphic>
      </p:graphicFrame>
      <p:sp>
        <p:nvSpPr>
          <p:cNvPr id="7" name="矩形 6"/>
          <p:cNvSpPr/>
          <p:nvPr/>
        </p:nvSpPr>
        <p:spPr bwMode="auto">
          <a:xfrm>
            <a:off x="2359670" y="1357298"/>
            <a:ext cx="2448000" cy="214314"/>
          </a:xfrm>
          <a:prstGeom prst="rect">
            <a:avLst/>
          </a:prstGeom>
          <a:solidFill>
            <a:schemeClr val="accent1"/>
          </a:solidFill>
          <a:ln w="6350">
            <a:noFill/>
            <a:miter lim="800000"/>
          </a:ln>
        </p:spPr>
        <p:txBody>
          <a:bodyPr lIns="36000" rIns="36000" rtlCol="0" anchor="ctr">
            <a:noAutofit/>
          </a:bodyPr>
          <a:lstStyle/>
          <a:p>
            <a:pPr marL="117475" indent="-117475" algn="ctr">
              <a:buClr>
                <a:schemeClr val="tx1"/>
              </a:buClr>
            </a:pPr>
            <a:r>
              <a:rPr lang="zh-CN" altLang="en-US" sz="1200" b="1" dirty="0">
                <a:solidFill>
                  <a:schemeClr val="bg1"/>
                </a:solidFill>
                <a:latin typeface="微软雅黑" panose="020B0503020204020204" charset="-122"/>
                <a:ea typeface="微软雅黑" panose="020B0503020204020204" charset="-122"/>
              </a:rPr>
              <a:t>整体市场下滑，x抢夺市场份额 </a:t>
            </a:r>
          </a:p>
        </p:txBody>
      </p:sp>
      <p:graphicFrame>
        <p:nvGraphicFramePr>
          <p:cNvPr id="6" name="图表 5"/>
          <p:cNvGraphicFramePr/>
          <p:nvPr/>
        </p:nvGraphicFramePr>
        <p:xfrm>
          <a:off x="5500694" y="1558686"/>
          <a:ext cx="3240000" cy="1656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矩形 9"/>
          <p:cNvSpPr/>
          <p:nvPr/>
        </p:nvSpPr>
        <p:spPr bwMode="auto">
          <a:xfrm>
            <a:off x="5765090" y="1357298"/>
            <a:ext cx="2916000" cy="214314"/>
          </a:xfrm>
          <a:prstGeom prst="rect">
            <a:avLst/>
          </a:prstGeom>
          <a:solidFill>
            <a:schemeClr val="accent1"/>
          </a:solidFill>
          <a:ln w="6350">
            <a:noFill/>
            <a:miter lim="800000"/>
          </a:ln>
        </p:spPr>
        <p:txBody>
          <a:bodyPr lIns="36000" rIns="36000" rtlCol="0" anchor="ctr">
            <a:noAutofit/>
          </a:bodyPr>
          <a:lstStyle/>
          <a:p>
            <a:pPr marL="117475" indent="-117475" algn="ctr">
              <a:buClr>
                <a:schemeClr val="tx1"/>
              </a:buClr>
            </a:pPr>
            <a:r>
              <a:rPr lang="zh-CN" altLang="en-US" sz="1200" b="1" dirty="0">
                <a:solidFill>
                  <a:schemeClr val="bg1"/>
                </a:solidFill>
                <a:latin typeface="微软雅黑" panose="020B0503020204020204" charset="-122"/>
                <a:ea typeface="微软雅黑" panose="020B0503020204020204" charset="-122"/>
              </a:rPr>
              <a:t>季节性明显，淡旺季需求差距大（x）</a:t>
            </a:r>
          </a:p>
        </p:txBody>
      </p:sp>
      <p:sp>
        <p:nvSpPr>
          <p:cNvPr id="11" name="椭圆 10"/>
          <p:cNvSpPr/>
          <p:nvPr/>
        </p:nvSpPr>
        <p:spPr bwMode="auto">
          <a:xfrm>
            <a:off x="6357950" y="1928802"/>
            <a:ext cx="288000" cy="288000"/>
          </a:xfrm>
          <a:prstGeom prst="ellipse">
            <a:avLst/>
          </a:prstGeom>
          <a:noFill/>
          <a:ln w="28575" cap="flat" cmpd="sng" algn="ctr">
            <a:solidFill>
              <a:srgbClr val="00B050"/>
            </a:solidFill>
            <a:prstDash val="solid"/>
            <a:round/>
            <a:headEnd type="none" w="med" len="med"/>
            <a:tailEnd type="none"/>
          </a:ln>
          <a:effectLst/>
        </p:spPr>
        <p:txBody>
          <a:bodyPr rtlCol="0" anchor="ctr"/>
          <a:lstStyle/>
          <a:p>
            <a:pPr algn="ctr"/>
            <a:endParaRPr lang="zh-CN" altLang="en-US"/>
          </a:p>
        </p:txBody>
      </p:sp>
      <p:sp>
        <p:nvSpPr>
          <p:cNvPr id="12" name="椭圆 11"/>
          <p:cNvSpPr/>
          <p:nvPr/>
        </p:nvSpPr>
        <p:spPr bwMode="auto">
          <a:xfrm>
            <a:off x="6858016" y="2500306"/>
            <a:ext cx="288000" cy="288000"/>
          </a:xfrm>
          <a:prstGeom prst="ellipse">
            <a:avLst/>
          </a:prstGeom>
          <a:noFill/>
          <a:ln w="28575" cap="flat" cmpd="sng" algn="ctr">
            <a:solidFill>
              <a:srgbClr val="00B050"/>
            </a:solidFill>
            <a:prstDash val="solid"/>
            <a:round/>
            <a:headEnd type="none" w="med" len="med"/>
            <a:tailEnd type="none"/>
          </a:ln>
          <a:effectLst/>
        </p:spPr>
        <p:txBody>
          <a:bodyPr rtlCol="0" anchor="ctr"/>
          <a:lstStyle/>
          <a:p>
            <a:pPr algn="ctr"/>
            <a:endParaRPr lang="zh-CN" altLang="en-US"/>
          </a:p>
        </p:txBody>
      </p:sp>
      <p:sp>
        <p:nvSpPr>
          <p:cNvPr id="13" name="Freeform 7"/>
          <p:cNvSpPr/>
          <p:nvPr/>
        </p:nvSpPr>
        <p:spPr bwMode="gray">
          <a:xfrm>
            <a:off x="1115984" y="3283375"/>
            <a:ext cx="711212" cy="1278000"/>
          </a:xfrm>
          <a:custGeom>
            <a:avLst/>
            <a:gdLst>
              <a:gd name="T0" fmla="*/ 0 w 371"/>
              <a:gd name="T1" fmla="*/ 2147483647 h 668"/>
              <a:gd name="T2" fmla="*/ 0 w 371"/>
              <a:gd name="T3" fmla="*/ 2147483647 h 668"/>
              <a:gd name="T4" fmla="*/ 2147483647 w 371"/>
              <a:gd name="T5" fmla="*/ 2147483647 h 668"/>
              <a:gd name="T6" fmla="*/ 2147483647 w 371"/>
              <a:gd name="T7" fmla="*/ 0 h 668"/>
              <a:gd name="T8" fmla="*/ 0 w 371"/>
              <a:gd name="T9" fmla="*/ 2147483647 h 668"/>
              <a:gd name="T10" fmla="*/ 0 60000 65536"/>
              <a:gd name="T11" fmla="*/ 0 60000 65536"/>
              <a:gd name="T12" fmla="*/ 0 60000 65536"/>
              <a:gd name="T13" fmla="*/ 0 60000 65536"/>
              <a:gd name="T14" fmla="*/ 0 60000 65536"/>
              <a:gd name="T15" fmla="*/ 0 w 371"/>
              <a:gd name="T16" fmla="*/ 0 h 668"/>
              <a:gd name="T17" fmla="*/ 371 w 371"/>
              <a:gd name="T18" fmla="*/ 668 h 668"/>
            </a:gdLst>
            <a:ahLst/>
            <a:cxnLst>
              <a:cxn ang="T10">
                <a:pos x="T0" y="T1"/>
              </a:cxn>
              <a:cxn ang="T11">
                <a:pos x="T2" y="T3"/>
              </a:cxn>
              <a:cxn ang="T12">
                <a:pos x="T4" y="T5"/>
              </a:cxn>
              <a:cxn ang="T13">
                <a:pos x="T6" y="T7"/>
              </a:cxn>
              <a:cxn ang="T14">
                <a:pos x="T8" y="T9"/>
              </a:cxn>
            </a:cxnLst>
            <a:rect l="T15" t="T16" r="T17" b="T18"/>
            <a:pathLst>
              <a:path w="371" h="668">
                <a:moveTo>
                  <a:pt x="0" y="134"/>
                </a:moveTo>
                <a:lnTo>
                  <a:pt x="0" y="533"/>
                </a:lnTo>
                <a:lnTo>
                  <a:pt x="371" y="668"/>
                </a:lnTo>
                <a:lnTo>
                  <a:pt x="371" y="0"/>
                </a:lnTo>
                <a:lnTo>
                  <a:pt x="0" y="134"/>
                </a:lnTo>
                <a:close/>
              </a:path>
            </a:pathLst>
          </a:custGeom>
          <a:gradFill rotWithShape="1">
            <a:gsLst>
              <a:gs pos="0">
                <a:srgbClr val="C7CDFD"/>
              </a:gs>
              <a:gs pos="100000">
                <a:srgbClr val="E8EBFE"/>
              </a:gs>
            </a:gsLst>
            <a:lin ang="0" scaled="1"/>
          </a:gradFill>
          <a:ln w="9525">
            <a:noFill/>
            <a:round/>
          </a:ln>
        </p:spPr>
        <p:txBody>
          <a:bodyPr/>
          <a:lstStyle/>
          <a:p>
            <a:endParaRPr lang="zh-CN" altLang="en-US" dirty="0"/>
          </a:p>
        </p:txBody>
      </p:sp>
      <p:sp>
        <p:nvSpPr>
          <p:cNvPr id="14" name="AutoShape 9"/>
          <p:cNvSpPr>
            <a:spLocks noChangeArrowheads="1"/>
          </p:cNvSpPr>
          <p:nvPr/>
        </p:nvSpPr>
        <p:spPr bwMode="gray">
          <a:xfrm>
            <a:off x="334935" y="3426967"/>
            <a:ext cx="1008000" cy="1008000"/>
          </a:xfrm>
          <a:prstGeom prst="flowChartConnector">
            <a:avLst/>
          </a:prstGeom>
          <a:gradFill rotWithShape="1">
            <a:gsLst>
              <a:gs pos="0">
                <a:schemeClr val="accent1"/>
              </a:gs>
              <a:gs pos="100000">
                <a:srgbClr val="464AEC"/>
              </a:gs>
            </a:gsLst>
            <a:lin ang="5400000" scaled="1"/>
          </a:gradFill>
          <a:ln w="88900" cmpd="thinThick" algn="ctr">
            <a:solidFill>
              <a:srgbClr val="C0C0C0"/>
            </a:solidFill>
            <a:round/>
          </a:ln>
        </p:spPr>
        <p:txBody>
          <a:bodyPr wrap="none" anchor="ctr"/>
          <a:lstStyle/>
          <a:p>
            <a:pPr algn="ctr" eaLnBrk="0" hangingPunct="0">
              <a:lnSpc>
                <a:spcPct val="90000"/>
              </a:lnSpc>
            </a:pPr>
            <a:r>
              <a:rPr lang="zh-CN" altLang="en-US" sz="1600" b="1" dirty="0">
                <a:solidFill>
                  <a:srgbClr val="FFFFFF"/>
                </a:solidFill>
                <a:latin typeface="微软雅黑" panose="020B0503020204020204" charset="-122"/>
                <a:ea typeface="微软雅黑" panose="020B0503020204020204" charset="-122"/>
              </a:rPr>
              <a:t>客户</a:t>
            </a:r>
          </a:p>
        </p:txBody>
      </p:sp>
      <p:sp>
        <p:nvSpPr>
          <p:cNvPr id="19" name="标题 1"/>
          <p:cNvSpPr>
            <a:spLocks noGrp="1"/>
          </p:cNvSpPr>
          <p:nvPr>
            <p:ph type="title"/>
          </p:nvPr>
        </p:nvSpPr>
        <p:spPr>
          <a:xfrm>
            <a:off x="162000" y="593725"/>
            <a:ext cx="8820000" cy="695325"/>
          </a:xfrm>
        </p:spPr>
        <p:txBody>
          <a:bodyPr/>
          <a:lstStyle/>
          <a:p>
            <a:r>
              <a:rPr lang="zh-CN" altLang="en-US" dirty="0"/>
              <a:t>x重机所处市场环境、客户特征和产品特点分析</a:t>
            </a:r>
          </a:p>
        </p:txBody>
      </p:sp>
      <p:sp>
        <p:nvSpPr>
          <p:cNvPr id="15" name="Freeform 7"/>
          <p:cNvSpPr/>
          <p:nvPr/>
        </p:nvSpPr>
        <p:spPr bwMode="gray">
          <a:xfrm>
            <a:off x="1115984" y="5069553"/>
            <a:ext cx="711212" cy="1278000"/>
          </a:xfrm>
          <a:custGeom>
            <a:avLst/>
            <a:gdLst>
              <a:gd name="T0" fmla="*/ 0 w 371"/>
              <a:gd name="T1" fmla="*/ 2147483647 h 668"/>
              <a:gd name="T2" fmla="*/ 0 w 371"/>
              <a:gd name="T3" fmla="*/ 2147483647 h 668"/>
              <a:gd name="T4" fmla="*/ 2147483647 w 371"/>
              <a:gd name="T5" fmla="*/ 2147483647 h 668"/>
              <a:gd name="T6" fmla="*/ 2147483647 w 371"/>
              <a:gd name="T7" fmla="*/ 0 h 668"/>
              <a:gd name="T8" fmla="*/ 0 w 371"/>
              <a:gd name="T9" fmla="*/ 2147483647 h 668"/>
              <a:gd name="T10" fmla="*/ 0 60000 65536"/>
              <a:gd name="T11" fmla="*/ 0 60000 65536"/>
              <a:gd name="T12" fmla="*/ 0 60000 65536"/>
              <a:gd name="T13" fmla="*/ 0 60000 65536"/>
              <a:gd name="T14" fmla="*/ 0 60000 65536"/>
              <a:gd name="T15" fmla="*/ 0 w 371"/>
              <a:gd name="T16" fmla="*/ 0 h 668"/>
              <a:gd name="T17" fmla="*/ 371 w 371"/>
              <a:gd name="T18" fmla="*/ 668 h 668"/>
            </a:gdLst>
            <a:ahLst/>
            <a:cxnLst>
              <a:cxn ang="T10">
                <a:pos x="T0" y="T1"/>
              </a:cxn>
              <a:cxn ang="T11">
                <a:pos x="T2" y="T3"/>
              </a:cxn>
              <a:cxn ang="T12">
                <a:pos x="T4" y="T5"/>
              </a:cxn>
              <a:cxn ang="T13">
                <a:pos x="T6" y="T7"/>
              </a:cxn>
              <a:cxn ang="T14">
                <a:pos x="T8" y="T9"/>
              </a:cxn>
            </a:cxnLst>
            <a:rect l="T15" t="T16" r="T17" b="T18"/>
            <a:pathLst>
              <a:path w="371" h="668">
                <a:moveTo>
                  <a:pt x="0" y="134"/>
                </a:moveTo>
                <a:lnTo>
                  <a:pt x="0" y="533"/>
                </a:lnTo>
                <a:lnTo>
                  <a:pt x="371" y="668"/>
                </a:lnTo>
                <a:lnTo>
                  <a:pt x="371" y="0"/>
                </a:lnTo>
                <a:lnTo>
                  <a:pt x="0" y="134"/>
                </a:lnTo>
                <a:close/>
              </a:path>
            </a:pathLst>
          </a:custGeom>
          <a:gradFill rotWithShape="1">
            <a:gsLst>
              <a:gs pos="0">
                <a:srgbClr val="C7CDFD"/>
              </a:gs>
              <a:gs pos="100000">
                <a:srgbClr val="E8EBFE"/>
              </a:gs>
            </a:gsLst>
            <a:lin ang="0" scaled="1"/>
          </a:gradFill>
          <a:ln w="9525">
            <a:noFill/>
            <a:round/>
          </a:ln>
        </p:spPr>
        <p:txBody>
          <a:bodyPr/>
          <a:lstStyle/>
          <a:p>
            <a:endParaRPr lang="zh-CN" altLang="en-US" dirty="0"/>
          </a:p>
        </p:txBody>
      </p:sp>
      <p:sp>
        <p:nvSpPr>
          <p:cNvPr id="16" name="AutoShape 9"/>
          <p:cNvSpPr>
            <a:spLocks noChangeArrowheads="1"/>
          </p:cNvSpPr>
          <p:nvPr/>
        </p:nvSpPr>
        <p:spPr bwMode="gray">
          <a:xfrm>
            <a:off x="334935" y="5204553"/>
            <a:ext cx="1008000" cy="1008000"/>
          </a:xfrm>
          <a:prstGeom prst="flowChartConnector">
            <a:avLst/>
          </a:prstGeom>
          <a:gradFill rotWithShape="1">
            <a:gsLst>
              <a:gs pos="0">
                <a:schemeClr val="accent1"/>
              </a:gs>
              <a:gs pos="100000">
                <a:srgbClr val="464AEC"/>
              </a:gs>
            </a:gsLst>
            <a:lin ang="5400000" scaled="1"/>
          </a:gradFill>
          <a:ln w="88900" cmpd="thinThick" algn="ctr">
            <a:solidFill>
              <a:srgbClr val="C0C0C0"/>
            </a:solidFill>
            <a:round/>
          </a:ln>
        </p:spPr>
        <p:txBody>
          <a:bodyPr wrap="none" anchor="ctr"/>
          <a:lstStyle/>
          <a:p>
            <a:pPr algn="ctr" eaLnBrk="0" hangingPunct="0">
              <a:lnSpc>
                <a:spcPct val="90000"/>
              </a:lnSpc>
            </a:pPr>
            <a:r>
              <a:rPr lang="zh-CN" altLang="en-US" sz="1600" b="1" dirty="0">
                <a:solidFill>
                  <a:srgbClr val="FFFFFF"/>
                </a:solidFill>
                <a:latin typeface="微软雅黑" panose="020B0503020204020204" charset="-122"/>
                <a:ea typeface="微软雅黑" panose="020B0503020204020204" charset="-122"/>
              </a:rPr>
              <a:t>产品</a:t>
            </a:r>
          </a:p>
        </p:txBody>
      </p:sp>
      <p:sp>
        <p:nvSpPr>
          <p:cNvPr id="17" name="矩形 16"/>
          <p:cNvSpPr/>
          <p:nvPr/>
        </p:nvSpPr>
        <p:spPr bwMode="auto">
          <a:xfrm>
            <a:off x="2269670" y="4773396"/>
            <a:ext cx="2628000" cy="214314"/>
          </a:xfrm>
          <a:prstGeom prst="rect">
            <a:avLst/>
          </a:prstGeom>
          <a:solidFill>
            <a:schemeClr val="accent1"/>
          </a:solidFill>
          <a:ln w="6350">
            <a:noFill/>
            <a:miter lim="800000"/>
          </a:ln>
        </p:spPr>
        <p:txBody>
          <a:bodyPr lIns="36000" rIns="36000" rtlCol="0" anchor="ctr">
            <a:noAutofit/>
          </a:bodyPr>
          <a:lstStyle/>
          <a:p>
            <a:pPr marL="117475" indent="-117475" algn="ctr">
              <a:buClr>
                <a:schemeClr val="tx1"/>
              </a:buClr>
            </a:pPr>
            <a:r>
              <a:rPr lang="zh-CN" altLang="en-US" sz="1200" b="1" dirty="0">
                <a:solidFill>
                  <a:schemeClr val="bg1"/>
                </a:solidFill>
                <a:latin typeface="微软雅黑" panose="020B0503020204020204" charset="-122"/>
                <a:ea typeface="微软雅黑" panose="020B0503020204020204" charset="-122"/>
              </a:rPr>
              <a:t>产品型号多，畅销机型集中（x） </a:t>
            </a:r>
          </a:p>
        </p:txBody>
      </p:sp>
      <p:graphicFrame>
        <p:nvGraphicFramePr>
          <p:cNvPr id="22" name="图表 21"/>
          <p:cNvGraphicFramePr/>
          <p:nvPr/>
        </p:nvGraphicFramePr>
        <p:xfrm>
          <a:off x="1857356" y="4987710"/>
          <a:ext cx="3240000" cy="1656000"/>
        </p:xfrm>
        <a:graphic>
          <a:graphicData uri="http://schemas.openxmlformats.org/drawingml/2006/chart">
            <c:chart xmlns:c="http://schemas.openxmlformats.org/drawingml/2006/chart" xmlns:r="http://schemas.openxmlformats.org/officeDocument/2006/relationships" r:id="rId5"/>
          </a:graphicData>
        </a:graphic>
      </p:graphicFrame>
      <p:sp>
        <p:nvSpPr>
          <p:cNvPr id="23" name="TextBox 22"/>
          <p:cNvSpPr txBox="1"/>
          <p:nvPr/>
        </p:nvSpPr>
        <p:spPr bwMode="auto">
          <a:xfrm>
            <a:off x="4643438" y="5017716"/>
            <a:ext cx="900000" cy="400110"/>
          </a:xfrm>
          <a:prstGeom prst="rect">
            <a:avLst/>
          </a:prstGeom>
          <a:noFill/>
          <a:ln>
            <a:noFill/>
          </a:ln>
        </p:spPr>
        <p:txBody>
          <a:bodyPr wrap="square" rtlCol="0">
            <a:spAutoFit/>
          </a:bodyPr>
          <a:lstStyle/>
          <a:p>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15</a:t>
            </a: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3/71%</a:t>
            </a:r>
            <a:endPar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4" name="TextBox 23"/>
          <p:cNvSpPr txBox="1"/>
          <p:nvPr/>
        </p:nvSpPr>
        <p:spPr bwMode="auto">
          <a:xfrm>
            <a:off x="4643438" y="5185751"/>
            <a:ext cx="900000" cy="246221"/>
          </a:xfrm>
          <a:prstGeom prst="rect">
            <a:avLst/>
          </a:prstGeom>
          <a:noFill/>
          <a:ln>
            <a:noFill/>
          </a:ln>
        </p:spPr>
        <p:txBody>
          <a:bodyPr wrap="square" rtlCol="0">
            <a:spAutoFit/>
          </a:bodyPr>
          <a:lstStyle/>
          <a:p>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10</a:t>
            </a: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3/77%</a:t>
            </a:r>
            <a:endPar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5" name="TextBox 24"/>
          <p:cNvSpPr txBox="1"/>
          <p:nvPr/>
        </p:nvSpPr>
        <p:spPr bwMode="auto">
          <a:xfrm>
            <a:off x="4643438" y="5353786"/>
            <a:ext cx="900000" cy="246221"/>
          </a:xfrm>
          <a:prstGeom prst="rect">
            <a:avLst/>
          </a:prstGeom>
          <a:noFill/>
          <a:ln>
            <a:noFill/>
          </a:ln>
        </p:spPr>
        <p:txBody>
          <a:bodyPr wrap="square" rtlCol="0">
            <a:spAutoFit/>
          </a:bodyPr>
          <a:lstStyle/>
          <a:p>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13</a:t>
            </a: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4/87%</a:t>
            </a:r>
            <a:endPar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6" name="TextBox 25"/>
          <p:cNvSpPr txBox="1"/>
          <p:nvPr/>
        </p:nvSpPr>
        <p:spPr bwMode="auto">
          <a:xfrm>
            <a:off x="4643438" y="5521821"/>
            <a:ext cx="900000" cy="246221"/>
          </a:xfrm>
          <a:prstGeom prst="rect">
            <a:avLst/>
          </a:prstGeom>
          <a:noFill/>
          <a:ln>
            <a:noFill/>
          </a:ln>
        </p:spPr>
        <p:txBody>
          <a:bodyPr wrap="square" rtlCol="0">
            <a:spAutoFit/>
          </a:bodyPr>
          <a:lstStyle/>
          <a:p>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  5</a:t>
            </a: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2/97%</a:t>
            </a:r>
            <a:endPar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7" name="TextBox 26"/>
          <p:cNvSpPr txBox="1"/>
          <p:nvPr/>
        </p:nvSpPr>
        <p:spPr bwMode="auto">
          <a:xfrm>
            <a:off x="4643438" y="5689856"/>
            <a:ext cx="900000" cy="246221"/>
          </a:xfrm>
          <a:prstGeom prst="rect">
            <a:avLst/>
          </a:prstGeom>
          <a:noFill/>
          <a:ln>
            <a:noFill/>
          </a:ln>
        </p:spPr>
        <p:txBody>
          <a:bodyPr wrap="square" rtlCol="0">
            <a:spAutoFit/>
          </a:bodyPr>
          <a:lstStyle/>
          <a:p>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  9</a:t>
            </a: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4/74%</a:t>
            </a:r>
            <a:endPar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8" name="TextBox 27"/>
          <p:cNvSpPr txBox="1"/>
          <p:nvPr/>
        </p:nvSpPr>
        <p:spPr bwMode="auto">
          <a:xfrm>
            <a:off x="4643438" y="5857892"/>
            <a:ext cx="900000" cy="246221"/>
          </a:xfrm>
          <a:prstGeom prst="rect">
            <a:avLst/>
          </a:prstGeom>
          <a:noFill/>
          <a:ln>
            <a:noFill/>
          </a:ln>
        </p:spPr>
        <p:txBody>
          <a:bodyPr wrap="square" rtlCol="0">
            <a:spAutoFit/>
          </a:bodyPr>
          <a:lstStyle/>
          <a:p>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13</a:t>
            </a: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rPr>
              <a:t>3/74%</a:t>
            </a:r>
            <a:endPar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矩形 17"/>
          <p:cNvSpPr/>
          <p:nvPr/>
        </p:nvSpPr>
        <p:spPr bwMode="auto">
          <a:xfrm>
            <a:off x="5765090" y="4773396"/>
            <a:ext cx="2916000" cy="214314"/>
          </a:xfrm>
          <a:prstGeom prst="rect">
            <a:avLst/>
          </a:prstGeom>
          <a:solidFill>
            <a:schemeClr val="accent1"/>
          </a:solidFill>
          <a:ln w="6350">
            <a:noFill/>
            <a:miter lim="800000"/>
          </a:ln>
        </p:spPr>
        <p:txBody>
          <a:bodyPr lIns="36000" rIns="36000" rtlCol="0" anchor="ctr">
            <a:noAutofit/>
          </a:bodyPr>
          <a:lstStyle/>
          <a:p>
            <a:pPr marL="117475" indent="-117475" algn="ctr">
              <a:buClr>
                <a:schemeClr val="tx1"/>
              </a:buClr>
            </a:pPr>
            <a:r>
              <a:rPr lang="zh-CN" altLang="en-US" sz="1200" b="1" dirty="0">
                <a:solidFill>
                  <a:schemeClr val="bg1"/>
                </a:solidFill>
                <a:latin typeface="微软雅黑" panose="020B0503020204020204" charset="-122"/>
                <a:ea typeface="微软雅黑" panose="020B0503020204020204" charset="-122"/>
              </a:rPr>
              <a:t>产品变更频繁（x）</a:t>
            </a:r>
          </a:p>
        </p:txBody>
      </p:sp>
      <p:graphicFrame>
        <p:nvGraphicFramePr>
          <p:cNvPr id="30" name="图表 29"/>
          <p:cNvGraphicFramePr/>
          <p:nvPr/>
        </p:nvGraphicFramePr>
        <p:xfrm>
          <a:off x="5500694" y="4987710"/>
          <a:ext cx="3240000" cy="1656000"/>
        </p:xfrm>
        <a:graphic>
          <a:graphicData uri="http://schemas.openxmlformats.org/drawingml/2006/chart">
            <c:chart xmlns:c="http://schemas.openxmlformats.org/drawingml/2006/chart" xmlns:r="http://schemas.openxmlformats.org/officeDocument/2006/relationships" r:id="rId6"/>
          </a:graphicData>
        </a:graphic>
      </p:graphicFrame>
      <p:sp>
        <p:nvSpPr>
          <p:cNvPr id="36" name="矩形 35"/>
          <p:cNvSpPr/>
          <p:nvPr/>
        </p:nvSpPr>
        <p:spPr bwMode="auto">
          <a:xfrm>
            <a:off x="1928794" y="1285860"/>
            <a:ext cx="6858048" cy="1928826"/>
          </a:xfrm>
          <a:prstGeom prst="rect">
            <a:avLst/>
          </a:prstGeom>
          <a:noFill/>
          <a:ln w="9525" cap="flat" cmpd="sng" algn="ctr">
            <a:solidFill>
              <a:schemeClr val="tx2">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37" name="矩形 36"/>
          <p:cNvSpPr/>
          <p:nvPr/>
        </p:nvSpPr>
        <p:spPr bwMode="auto">
          <a:xfrm>
            <a:off x="1928794" y="4643446"/>
            <a:ext cx="6858048" cy="1928826"/>
          </a:xfrm>
          <a:prstGeom prst="rect">
            <a:avLst/>
          </a:prstGeom>
          <a:noFill/>
          <a:ln w="9525" cap="flat" cmpd="sng" algn="ctr">
            <a:solidFill>
              <a:schemeClr val="tx2">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38" name="矩形 37"/>
          <p:cNvSpPr/>
          <p:nvPr/>
        </p:nvSpPr>
        <p:spPr bwMode="auto">
          <a:xfrm>
            <a:off x="1928794" y="3286124"/>
            <a:ext cx="6858048" cy="1285884"/>
          </a:xfrm>
          <a:prstGeom prst="rect">
            <a:avLst/>
          </a:prstGeom>
          <a:noFill/>
          <a:ln w="9525" cap="flat" cmpd="sng" algn="ctr">
            <a:solidFill>
              <a:schemeClr val="tx2">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39" name="矩形 38"/>
          <p:cNvSpPr/>
          <p:nvPr/>
        </p:nvSpPr>
        <p:spPr bwMode="auto">
          <a:xfrm>
            <a:off x="2359670" y="3357562"/>
            <a:ext cx="2448000" cy="214314"/>
          </a:xfrm>
          <a:prstGeom prst="rect">
            <a:avLst/>
          </a:prstGeom>
          <a:solidFill>
            <a:schemeClr val="accent1"/>
          </a:solidFill>
          <a:ln w="6350">
            <a:noFill/>
            <a:miter lim="800000"/>
          </a:ln>
        </p:spPr>
        <p:txBody>
          <a:bodyPr lIns="36000" rIns="36000" rtlCol="0" anchor="ctr">
            <a:noAutofit/>
          </a:bodyPr>
          <a:lstStyle/>
          <a:p>
            <a:pPr marL="117475" indent="-117475" algn="ctr">
              <a:buClr>
                <a:schemeClr val="tx1"/>
              </a:buClr>
            </a:pPr>
            <a:r>
              <a:rPr lang="zh-CN" altLang="en-US" sz="1200" b="1" dirty="0">
                <a:solidFill>
                  <a:schemeClr val="bg1"/>
                </a:solidFill>
                <a:latin typeface="微软雅黑" panose="020B0503020204020204" charset="-122"/>
                <a:ea typeface="微软雅黑" panose="020B0503020204020204" charset="-122"/>
              </a:rPr>
              <a:t>客户层次复杂，购买模式差异大</a:t>
            </a:r>
          </a:p>
        </p:txBody>
      </p:sp>
      <p:sp>
        <p:nvSpPr>
          <p:cNvPr id="40" name="TextBox 39"/>
          <p:cNvSpPr txBox="1"/>
          <p:nvPr/>
        </p:nvSpPr>
        <p:spPr bwMode="auto">
          <a:xfrm>
            <a:off x="2857488" y="3619164"/>
            <a:ext cx="1415772" cy="215444"/>
          </a:xfrm>
          <a:prstGeom prst="rect">
            <a:avLst/>
          </a:prstGeom>
          <a:noFill/>
          <a:ln>
            <a:noFill/>
          </a:ln>
        </p:spPr>
        <p:txBody>
          <a:bodyPr wrap="none" rtlCol="0">
            <a:spAutoFit/>
          </a:bodyPr>
          <a:lstStyle/>
          <a:p>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集体决策、计划性、周期长</a:t>
            </a:r>
          </a:p>
        </p:txBody>
      </p:sp>
      <p:sp>
        <p:nvSpPr>
          <p:cNvPr id="41" name="矩形 40"/>
          <p:cNvSpPr/>
          <p:nvPr/>
        </p:nvSpPr>
        <p:spPr bwMode="auto">
          <a:xfrm>
            <a:off x="2214546" y="3635117"/>
            <a:ext cx="720000" cy="214314"/>
          </a:xfrm>
          <a:prstGeom prst="rect">
            <a:avLst/>
          </a:prstGeom>
          <a:solidFill>
            <a:schemeClr val="tx2">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800" dirty="0">
                <a:latin typeface="微软雅黑" panose="020B0503020204020204" charset="-122"/>
                <a:ea typeface="微软雅黑" panose="020B0503020204020204" charset="-122"/>
              </a:rPr>
              <a:t>公权单位</a:t>
            </a:r>
          </a:p>
        </p:txBody>
      </p:sp>
      <p:sp>
        <p:nvSpPr>
          <p:cNvPr id="42" name="矩形 41"/>
          <p:cNvSpPr/>
          <p:nvPr/>
        </p:nvSpPr>
        <p:spPr bwMode="auto">
          <a:xfrm>
            <a:off x="2214546" y="3949775"/>
            <a:ext cx="720000" cy="214314"/>
          </a:xfrm>
          <a:prstGeom prst="rect">
            <a:avLst/>
          </a:prstGeom>
          <a:solidFill>
            <a:schemeClr val="tx2">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800" dirty="0">
                <a:latin typeface="微软雅黑" panose="020B0503020204020204" charset="-122"/>
                <a:ea typeface="微软雅黑" panose="020B0503020204020204" charset="-122"/>
              </a:rPr>
              <a:t>私营企业</a:t>
            </a:r>
          </a:p>
        </p:txBody>
      </p:sp>
      <p:sp>
        <p:nvSpPr>
          <p:cNvPr id="43" name="矩形 42"/>
          <p:cNvSpPr/>
          <p:nvPr/>
        </p:nvSpPr>
        <p:spPr bwMode="auto">
          <a:xfrm>
            <a:off x="2214546" y="4244280"/>
            <a:ext cx="720000" cy="214314"/>
          </a:xfrm>
          <a:prstGeom prst="rect">
            <a:avLst/>
          </a:prstGeom>
          <a:solidFill>
            <a:schemeClr val="tx2">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800" dirty="0">
                <a:latin typeface="微软雅黑" panose="020B0503020204020204" charset="-122"/>
                <a:ea typeface="微软雅黑" panose="020B0503020204020204" charset="-122"/>
              </a:rPr>
              <a:t>个人客户</a:t>
            </a:r>
          </a:p>
        </p:txBody>
      </p:sp>
      <p:sp>
        <p:nvSpPr>
          <p:cNvPr id="45" name="TextBox 44"/>
          <p:cNvSpPr txBox="1"/>
          <p:nvPr/>
        </p:nvSpPr>
        <p:spPr bwMode="auto">
          <a:xfrm>
            <a:off x="2857488" y="4228327"/>
            <a:ext cx="1415772" cy="215444"/>
          </a:xfrm>
          <a:prstGeom prst="rect">
            <a:avLst/>
          </a:prstGeom>
          <a:noFill/>
          <a:ln>
            <a:noFill/>
          </a:ln>
        </p:spPr>
        <p:txBody>
          <a:bodyPr wrap="none" rtlCol="0">
            <a:spAutoFit/>
          </a:bodyPr>
          <a:lstStyle/>
          <a:p>
            <a:r>
              <a:rPr kumimoji="1" lang="zh-CN" altLang="en-US" sz="800" dirty="0">
                <a:solidFill>
                  <a:srgbClr val="000000"/>
                </a:solidFill>
                <a:latin typeface="微软雅黑" panose="020B0503020204020204" charset="-122"/>
                <a:ea typeface="微软雅黑" panose="020B0503020204020204" charset="-122"/>
                <a:cs typeface="微软雅黑" panose="020B0503020204020204" charset="-122"/>
              </a:rPr>
              <a:t>个人决策</a:t>
            </a:r>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、需求急、周期短</a:t>
            </a:r>
          </a:p>
        </p:txBody>
      </p:sp>
      <p:sp>
        <p:nvSpPr>
          <p:cNvPr id="46" name="TextBox 45"/>
          <p:cNvSpPr txBox="1"/>
          <p:nvPr/>
        </p:nvSpPr>
        <p:spPr bwMode="auto">
          <a:xfrm>
            <a:off x="2857488" y="3933822"/>
            <a:ext cx="1826141" cy="215444"/>
          </a:xfrm>
          <a:prstGeom prst="rect">
            <a:avLst/>
          </a:prstGeom>
          <a:noFill/>
          <a:ln>
            <a:noFill/>
          </a:ln>
        </p:spPr>
        <p:txBody>
          <a:bodyPr wrap="none" rtlCol="0">
            <a:spAutoFit/>
          </a:bodyPr>
          <a:lstStyle/>
          <a:p>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集体决策、计划性不明显、周期适中</a:t>
            </a:r>
          </a:p>
        </p:txBody>
      </p:sp>
      <p:sp>
        <p:nvSpPr>
          <p:cNvPr id="47" name="矩形 46"/>
          <p:cNvSpPr/>
          <p:nvPr/>
        </p:nvSpPr>
        <p:spPr bwMode="auto">
          <a:xfrm>
            <a:off x="5117090" y="3357562"/>
            <a:ext cx="3564000" cy="214314"/>
          </a:xfrm>
          <a:prstGeom prst="rect">
            <a:avLst/>
          </a:prstGeom>
          <a:solidFill>
            <a:schemeClr val="accent1"/>
          </a:solidFill>
          <a:ln w="6350">
            <a:noFill/>
            <a:miter lim="800000"/>
          </a:ln>
        </p:spPr>
        <p:txBody>
          <a:bodyPr lIns="36000" rIns="36000" rtlCol="0" anchor="ctr">
            <a:noAutofit/>
          </a:bodyPr>
          <a:lstStyle/>
          <a:p>
            <a:pPr marL="117475" indent="-117475" algn="ctr">
              <a:buClr>
                <a:schemeClr val="tx1"/>
              </a:buClr>
            </a:pPr>
            <a:r>
              <a:rPr lang="zh-CN" altLang="en-US" sz="1200" b="1" dirty="0">
                <a:solidFill>
                  <a:schemeClr val="bg1"/>
                </a:solidFill>
                <a:latin typeface="微软雅黑" panose="020B0503020204020204" charset="-122"/>
                <a:ea typeface="微软雅黑" panose="020B0503020204020204" charset="-122"/>
              </a:rPr>
              <a:t>客户行业属性明显，标准化和定制化需求并存</a:t>
            </a:r>
          </a:p>
        </p:txBody>
      </p:sp>
      <p:sp>
        <p:nvSpPr>
          <p:cNvPr id="48" name="TextBox 47"/>
          <p:cNvSpPr txBox="1"/>
          <p:nvPr/>
        </p:nvSpPr>
        <p:spPr bwMode="auto">
          <a:xfrm>
            <a:off x="5835952" y="3619164"/>
            <a:ext cx="1005403" cy="215444"/>
          </a:xfrm>
          <a:prstGeom prst="rect">
            <a:avLst/>
          </a:prstGeom>
          <a:noFill/>
          <a:ln>
            <a:noFill/>
          </a:ln>
        </p:spPr>
        <p:txBody>
          <a:bodyPr wrap="none" rtlCol="0">
            <a:spAutoFit/>
          </a:bodyPr>
          <a:lstStyle/>
          <a:p>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矿山、大型水利等</a:t>
            </a:r>
          </a:p>
        </p:txBody>
      </p:sp>
      <p:sp>
        <p:nvSpPr>
          <p:cNvPr id="49" name="矩形 48"/>
          <p:cNvSpPr/>
          <p:nvPr/>
        </p:nvSpPr>
        <p:spPr bwMode="auto">
          <a:xfrm>
            <a:off x="5193010" y="3635117"/>
            <a:ext cx="720000" cy="214314"/>
          </a:xfrm>
          <a:prstGeom prst="rect">
            <a:avLst/>
          </a:prstGeom>
          <a:solidFill>
            <a:schemeClr val="tx2">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800" dirty="0">
                <a:latin typeface="微软雅黑" panose="020B0503020204020204" charset="-122"/>
                <a:ea typeface="微软雅黑" panose="020B0503020204020204" charset="-122"/>
              </a:rPr>
              <a:t>大</a:t>
            </a:r>
          </a:p>
        </p:txBody>
      </p:sp>
      <p:sp>
        <p:nvSpPr>
          <p:cNvPr id="50" name="矩形 49"/>
          <p:cNvSpPr/>
          <p:nvPr/>
        </p:nvSpPr>
        <p:spPr bwMode="auto">
          <a:xfrm>
            <a:off x="5193010" y="3949775"/>
            <a:ext cx="720000" cy="214314"/>
          </a:xfrm>
          <a:prstGeom prst="rect">
            <a:avLst/>
          </a:prstGeom>
          <a:solidFill>
            <a:schemeClr val="tx2">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800" dirty="0">
                <a:latin typeface="微软雅黑" panose="020B0503020204020204" charset="-122"/>
                <a:ea typeface="微软雅黑" panose="020B0503020204020204" charset="-122"/>
              </a:rPr>
              <a:t>中</a:t>
            </a:r>
          </a:p>
        </p:txBody>
      </p:sp>
      <p:sp>
        <p:nvSpPr>
          <p:cNvPr id="51" name="矩形 50"/>
          <p:cNvSpPr/>
          <p:nvPr/>
        </p:nvSpPr>
        <p:spPr bwMode="auto">
          <a:xfrm>
            <a:off x="5193010" y="4244280"/>
            <a:ext cx="720000" cy="214314"/>
          </a:xfrm>
          <a:prstGeom prst="rect">
            <a:avLst/>
          </a:prstGeom>
          <a:solidFill>
            <a:schemeClr val="tx2">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800" dirty="0">
                <a:latin typeface="微软雅黑" panose="020B0503020204020204" charset="-122"/>
                <a:ea typeface="微软雅黑" panose="020B0503020204020204" charset="-122"/>
              </a:rPr>
              <a:t>小</a:t>
            </a:r>
          </a:p>
        </p:txBody>
      </p:sp>
      <p:sp>
        <p:nvSpPr>
          <p:cNvPr id="52" name="TextBox 51"/>
          <p:cNvSpPr txBox="1"/>
          <p:nvPr/>
        </p:nvSpPr>
        <p:spPr bwMode="auto">
          <a:xfrm>
            <a:off x="5835952" y="4228327"/>
            <a:ext cx="1518364" cy="215444"/>
          </a:xfrm>
          <a:prstGeom prst="rect">
            <a:avLst/>
          </a:prstGeom>
          <a:noFill/>
          <a:ln>
            <a:noFill/>
          </a:ln>
        </p:spPr>
        <p:txBody>
          <a:bodyPr wrap="none" rtlCol="0">
            <a:spAutoFit/>
          </a:bodyPr>
          <a:lstStyle/>
          <a:p>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园林、市政、小地产、农田</a:t>
            </a:r>
            <a:r>
              <a:rPr kumimoji="1" lang="zh-CN" altLang="en-US" sz="800" dirty="0">
                <a:solidFill>
                  <a:srgbClr val="000000"/>
                </a:solidFill>
                <a:latin typeface="微软雅黑" panose="020B0503020204020204" charset="-122"/>
                <a:ea typeface="微软雅黑" panose="020B0503020204020204" charset="-122"/>
                <a:cs typeface="微软雅黑" panose="020B0503020204020204" charset="-122"/>
              </a:rPr>
              <a:t>等</a:t>
            </a:r>
            <a:endPar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3" name="TextBox 52"/>
          <p:cNvSpPr txBox="1"/>
          <p:nvPr/>
        </p:nvSpPr>
        <p:spPr bwMode="auto">
          <a:xfrm>
            <a:off x="5835952" y="3933822"/>
            <a:ext cx="1210588" cy="215444"/>
          </a:xfrm>
          <a:prstGeom prst="rect">
            <a:avLst/>
          </a:prstGeom>
          <a:noFill/>
          <a:ln>
            <a:noFill/>
          </a:ln>
        </p:spPr>
        <p:txBody>
          <a:bodyPr wrap="none" rtlCol="0">
            <a:spAutoFit/>
          </a:bodyPr>
          <a:lstStyle/>
          <a:p>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房地产、路桥、水利等</a:t>
            </a:r>
          </a:p>
        </p:txBody>
      </p:sp>
      <p:sp>
        <p:nvSpPr>
          <p:cNvPr id="54" name="TextBox 53"/>
          <p:cNvSpPr txBox="1"/>
          <p:nvPr/>
        </p:nvSpPr>
        <p:spPr bwMode="auto">
          <a:xfrm>
            <a:off x="7572396" y="3571876"/>
            <a:ext cx="1143008" cy="954107"/>
          </a:xfrm>
          <a:prstGeom prst="rect">
            <a:avLst/>
          </a:prstGeom>
          <a:noFill/>
          <a:ln>
            <a:noFill/>
          </a:ln>
        </p:spPr>
        <p:txBody>
          <a:bodyPr wrap="square" rtlCol="0">
            <a:spAutoFit/>
          </a:bodyPr>
          <a:lstStyle/>
          <a:p>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对斗杆、动臂、铲斗、破碎管路、履带宽度、驾驶舱的个性化要求不断增加，尤其是海外市场，未来娱乐、特殊工矿（隧道）的需求会越来越多</a:t>
            </a:r>
          </a:p>
        </p:txBody>
      </p:sp>
      <p:sp>
        <p:nvSpPr>
          <p:cNvPr id="56" name="TextBox 55"/>
          <p:cNvSpPr txBox="1"/>
          <p:nvPr/>
        </p:nvSpPr>
        <p:spPr bwMode="auto">
          <a:xfrm>
            <a:off x="2000232" y="6357958"/>
            <a:ext cx="3357586" cy="215444"/>
          </a:xfrm>
          <a:prstGeom prst="rect">
            <a:avLst/>
          </a:prstGeom>
          <a:noFill/>
          <a:ln>
            <a:noFill/>
          </a:ln>
        </p:spPr>
        <p:txBody>
          <a:bodyPr wrap="square" rtlCol="0">
            <a:spAutoFit/>
          </a:bodyPr>
          <a:lstStyle/>
          <a:p>
            <a:r>
              <a:rPr kumimoji="1" lang="en-US" altLang="zh-CN" sz="800" b="0" dirty="0">
                <a:solidFill>
                  <a:srgbClr val="000000"/>
                </a:solidFill>
                <a:latin typeface="微软雅黑" panose="020B0503020204020204" charset="-122"/>
                <a:ea typeface="微软雅黑" panose="020B0503020204020204" charset="-122"/>
                <a:cs typeface="微软雅黑" panose="020B0503020204020204" charset="-122"/>
              </a:rPr>
              <a:t>※ 15</a:t>
            </a:r>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800" b="0" dirty="0">
                <a:solidFill>
                  <a:srgbClr val="000000"/>
                </a:solidFill>
                <a:latin typeface="微软雅黑" panose="020B0503020204020204" charset="-122"/>
                <a:ea typeface="微软雅黑" panose="020B0503020204020204" charset="-122"/>
                <a:cs typeface="微软雅黑" panose="020B0503020204020204" charset="-122"/>
              </a:rPr>
              <a:t>3/71%</a:t>
            </a:r>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 ：表示</a:t>
            </a:r>
            <a:r>
              <a:rPr kumimoji="1" lang="en-US" altLang="zh-CN" sz="800" b="0" dirty="0">
                <a:solidFill>
                  <a:srgbClr val="000000"/>
                </a:solidFill>
                <a:latin typeface="微软雅黑" panose="020B0503020204020204" charset="-122"/>
                <a:ea typeface="微软雅黑" panose="020B0503020204020204" charset="-122"/>
                <a:cs typeface="微软雅黑" panose="020B0503020204020204" charset="-122"/>
              </a:rPr>
              <a:t>15</a:t>
            </a:r>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个机型中</a:t>
            </a:r>
            <a:r>
              <a:rPr kumimoji="1" lang="en-US" altLang="zh-CN" sz="800" b="0"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rPr>
              <a:t>个机型的销量占</a:t>
            </a:r>
            <a:r>
              <a:rPr kumimoji="1" lang="en-US" altLang="zh-CN" sz="800" b="0" dirty="0">
                <a:solidFill>
                  <a:srgbClr val="000000"/>
                </a:solidFill>
                <a:latin typeface="微软雅黑" panose="020B0503020204020204" charset="-122"/>
                <a:ea typeface="微软雅黑" panose="020B0503020204020204" charset="-122"/>
                <a:cs typeface="微软雅黑" panose="020B0503020204020204" charset="-122"/>
              </a:rPr>
              <a:t>71%</a:t>
            </a:r>
            <a:endParaRPr kumimoji="1" lang="zh-CN" altLang="en-US" sz="8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4" name="TextBox 43"/>
          <p:cNvSpPr txBox="1"/>
          <p:nvPr/>
        </p:nvSpPr>
        <p:spPr bwMode="auto">
          <a:xfrm>
            <a:off x="6043624" y="5053024"/>
            <a:ext cx="2500329" cy="230832"/>
          </a:xfrm>
          <a:prstGeom prst="rect">
            <a:avLst/>
          </a:prstGeom>
          <a:noFill/>
          <a:ln>
            <a:noFill/>
          </a:ln>
        </p:spPr>
        <p:txBody>
          <a:bodyPr wrap="square" lIns="0" rIns="0" rtlCol="0">
            <a:spAutoFit/>
          </a:bodyPr>
          <a:lstStyle/>
          <a:p>
            <a:r>
              <a:rPr kumimoji="1" lang="zh-CN" altLang="en-US" sz="900" dirty="0">
                <a:latin typeface="微软雅黑" panose="020B0503020204020204" charset="-122"/>
                <a:ea typeface="微软雅黑" panose="020B0503020204020204" charset="-122"/>
                <a:cs typeface="微软雅黑" panose="020B0503020204020204" charset="-122"/>
              </a:rPr>
              <a:t>月均变更次数</a:t>
            </a:r>
            <a:r>
              <a:rPr kumimoji="1" lang="en-US" altLang="zh-CN" sz="900" dirty="0">
                <a:latin typeface="微软雅黑" panose="020B0503020204020204" charset="-122"/>
                <a:ea typeface="微软雅黑" panose="020B0503020204020204" charset="-122"/>
                <a:cs typeface="微软雅黑" panose="020B0503020204020204" charset="-122"/>
              </a:rPr>
              <a:t>: </a:t>
            </a:r>
            <a:r>
              <a:rPr kumimoji="1" lang="zh-CN" altLang="en-US" sz="900" dirty="0">
                <a:latin typeface="微软雅黑" panose="020B0503020204020204" charset="-122"/>
                <a:ea typeface="微软雅黑" panose="020B0503020204020204" charset="-122"/>
                <a:cs typeface="微软雅黑" panose="020B0503020204020204" charset="-122"/>
              </a:rPr>
              <a:t>大挖</a:t>
            </a:r>
            <a:r>
              <a:rPr kumimoji="1" lang="en-US" altLang="zh-CN" sz="900" dirty="0">
                <a:latin typeface="微软雅黑" panose="020B0503020204020204" charset="-122"/>
                <a:ea typeface="微软雅黑" panose="020B0503020204020204" charset="-122"/>
                <a:cs typeface="微软雅黑" panose="020B0503020204020204" charset="-122"/>
              </a:rPr>
              <a:t>83, </a:t>
            </a:r>
            <a:r>
              <a:rPr kumimoji="1" lang="zh-CN" altLang="en-US" sz="900" dirty="0">
                <a:latin typeface="微软雅黑" panose="020B0503020204020204" charset="-122"/>
                <a:ea typeface="微软雅黑" panose="020B0503020204020204" charset="-122"/>
                <a:cs typeface="微软雅黑" panose="020B0503020204020204" charset="-122"/>
              </a:rPr>
              <a:t>中挖</a:t>
            </a:r>
            <a:r>
              <a:rPr kumimoji="1" lang="en-US" altLang="zh-CN" sz="900" dirty="0">
                <a:latin typeface="微软雅黑" panose="020B0503020204020204" charset="-122"/>
                <a:ea typeface="微软雅黑" panose="020B0503020204020204" charset="-122"/>
                <a:cs typeface="微软雅黑" panose="020B0503020204020204" charset="-122"/>
              </a:rPr>
              <a:t>:46, </a:t>
            </a:r>
            <a:r>
              <a:rPr kumimoji="1" lang="zh-CN" altLang="en-US" sz="900" b="0" dirty="0">
                <a:latin typeface="微软雅黑" panose="020B0503020204020204" charset="-122"/>
                <a:ea typeface="微软雅黑" panose="020B0503020204020204" charset="-122"/>
                <a:cs typeface="微软雅黑" panose="020B0503020204020204" charset="-122"/>
              </a:rPr>
              <a:t>小挖</a:t>
            </a:r>
            <a:r>
              <a:rPr kumimoji="1" lang="en-US" altLang="zh-CN" sz="900" dirty="0">
                <a:latin typeface="微软雅黑" panose="020B0503020204020204" charset="-122"/>
                <a:ea typeface="微软雅黑" panose="020B0503020204020204" charset="-122"/>
                <a:cs typeface="微软雅黑" panose="020B0503020204020204" charset="-122"/>
              </a:rPr>
              <a:t>48, </a:t>
            </a:r>
            <a:r>
              <a:rPr kumimoji="1" lang="zh-CN" altLang="en-US" sz="900" dirty="0">
                <a:latin typeface="微软雅黑" panose="020B0503020204020204" charset="-122"/>
                <a:ea typeface="微软雅黑" panose="020B0503020204020204" charset="-122"/>
                <a:cs typeface="微软雅黑" panose="020B0503020204020204" charset="-122"/>
              </a:rPr>
              <a:t>总体</a:t>
            </a:r>
            <a:r>
              <a:rPr kumimoji="1" lang="en-US" altLang="zh-CN" sz="900" dirty="0">
                <a:latin typeface="微软雅黑" panose="020B0503020204020204" charset="-122"/>
                <a:ea typeface="微软雅黑" panose="020B0503020204020204" charset="-122"/>
                <a:cs typeface="微软雅黑" panose="020B0503020204020204" charset="-122"/>
              </a:rPr>
              <a:t>:59</a:t>
            </a:r>
            <a:r>
              <a:rPr kumimoji="1" lang="zh-CN" altLang="en-US" sz="900" dirty="0">
                <a:latin typeface="微软雅黑" panose="020B0503020204020204" charset="-122"/>
                <a:ea typeface="微软雅黑" panose="020B0503020204020204" charset="-122"/>
                <a:cs typeface="微软雅黑" panose="020B0503020204020204" charset="-122"/>
              </a:rPr>
              <a:t> </a:t>
            </a:r>
            <a:endParaRPr kumimoji="1" lang="zh-CN" altLang="en-US" sz="900" b="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x重机所处环境的“三变”特点和企业未来发展“三化”特点，二者的平衡需要实现“规则</a:t>
            </a:r>
            <a:r>
              <a:rPr dirty="0"/>
              <a:t>+</a:t>
            </a:r>
            <a:r>
              <a:rPr lang="zh-CN" altLang="en-US" dirty="0"/>
              <a:t>承诺、柔性</a:t>
            </a:r>
            <a:r>
              <a:rPr dirty="0"/>
              <a:t>+</a:t>
            </a:r>
            <a:r>
              <a:rPr lang="zh-CN" altLang="en-US" dirty="0"/>
              <a:t>例外”的产销存一体化方案</a:t>
            </a:r>
          </a:p>
        </p:txBody>
      </p:sp>
      <p:sp>
        <p:nvSpPr>
          <p:cNvPr id="3" name="AutoShape 9"/>
          <p:cNvSpPr>
            <a:spLocks noChangeArrowheads="1"/>
          </p:cNvSpPr>
          <p:nvPr/>
        </p:nvSpPr>
        <p:spPr bwMode="gray">
          <a:xfrm>
            <a:off x="996166" y="1643050"/>
            <a:ext cx="1008000" cy="1008000"/>
          </a:xfrm>
          <a:prstGeom prst="flowChartConnector">
            <a:avLst/>
          </a:prstGeom>
          <a:solidFill>
            <a:schemeClr val="tx2">
              <a:lumMod val="20000"/>
              <a:lumOff val="8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latin typeface="微软雅黑" panose="020B0503020204020204" charset="-122"/>
                <a:ea typeface="微软雅黑" panose="020B0503020204020204" charset="-122"/>
              </a:rPr>
              <a:t>市场变</a:t>
            </a:r>
          </a:p>
        </p:txBody>
      </p:sp>
      <p:sp>
        <p:nvSpPr>
          <p:cNvPr id="4" name="AutoShape 9"/>
          <p:cNvSpPr>
            <a:spLocks noChangeArrowheads="1"/>
          </p:cNvSpPr>
          <p:nvPr/>
        </p:nvSpPr>
        <p:spPr bwMode="gray">
          <a:xfrm>
            <a:off x="996166" y="2857496"/>
            <a:ext cx="1008000" cy="1008000"/>
          </a:xfrm>
          <a:prstGeom prst="flowChartConnector">
            <a:avLst/>
          </a:prstGeom>
          <a:solidFill>
            <a:schemeClr val="tx2">
              <a:lumMod val="20000"/>
              <a:lumOff val="8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latin typeface="微软雅黑" panose="020B0503020204020204" charset="-122"/>
                <a:ea typeface="微软雅黑" panose="020B0503020204020204" charset="-122"/>
              </a:rPr>
              <a:t>客户变</a:t>
            </a:r>
          </a:p>
        </p:txBody>
      </p:sp>
      <p:sp>
        <p:nvSpPr>
          <p:cNvPr id="5" name="AutoShape 9"/>
          <p:cNvSpPr>
            <a:spLocks noChangeArrowheads="1"/>
          </p:cNvSpPr>
          <p:nvPr/>
        </p:nvSpPr>
        <p:spPr bwMode="gray">
          <a:xfrm>
            <a:off x="996166" y="4071942"/>
            <a:ext cx="1008000" cy="1008000"/>
          </a:xfrm>
          <a:prstGeom prst="flowChartConnector">
            <a:avLst/>
          </a:prstGeom>
          <a:solidFill>
            <a:schemeClr val="tx2">
              <a:lumMod val="20000"/>
              <a:lumOff val="8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latin typeface="微软雅黑" panose="020B0503020204020204" charset="-122"/>
                <a:ea typeface="微软雅黑" panose="020B0503020204020204" charset="-122"/>
              </a:rPr>
              <a:t>产品变</a:t>
            </a:r>
          </a:p>
        </p:txBody>
      </p:sp>
      <p:sp>
        <p:nvSpPr>
          <p:cNvPr id="6" name="AutoShape 9"/>
          <p:cNvSpPr>
            <a:spLocks noChangeArrowheads="1"/>
          </p:cNvSpPr>
          <p:nvPr/>
        </p:nvSpPr>
        <p:spPr bwMode="gray">
          <a:xfrm>
            <a:off x="6782644" y="1643050"/>
            <a:ext cx="1008000" cy="1008000"/>
          </a:xfrm>
          <a:prstGeom prst="flowChartConnector">
            <a:avLst/>
          </a:prstGeom>
          <a:solidFill>
            <a:schemeClr val="tx2">
              <a:lumMod val="20000"/>
              <a:lumOff val="8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latin typeface="微软雅黑" panose="020B0503020204020204" charset="-122"/>
                <a:ea typeface="微软雅黑" panose="020B0503020204020204" charset="-122"/>
              </a:rPr>
              <a:t>国际化</a:t>
            </a:r>
          </a:p>
        </p:txBody>
      </p:sp>
      <p:sp>
        <p:nvSpPr>
          <p:cNvPr id="7" name="AutoShape 9"/>
          <p:cNvSpPr>
            <a:spLocks noChangeArrowheads="1"/>
          </p:cNvSpPr>
          <p:nvPr/>
        </p:nvSpPr>
        <p:spPr bwMode="gray">
          <a:xfrm>
            <a:off x="6782644" y="2857496"/>
            <a:ext cx="1008000" cy="1008000"/>
          </a:xfrm>
          <a:prstGeom prst="flowChartConnector">
            <a:avLst/>
          </a:prstGeom>
          <a:solidFill>
            <a:schemeClr val="tx2">
              <a:lumMod val="20000"/>
              <a:lumOff val="8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latin typeface="微软雅黑" panose="020B0503020204020204" charset="-122"/>
                <a:ea typeface="微软雅黑" panose="020B0503020204020204" charset="-122"/>
              </a:rPr>
              <a:t>稳健化</a:t>
            </a:r>
          </a:p>
        </p:txBody>
      </p:sp>
      <p:sp>
        <p:nvSpPr>
          <p:cNvPr id="8" name="AutoShape 9"/>
          <p:cNvSpPr>
            <a:spLocks noChangeArrowheads="1"/>
          </p:cNvSpPr>
          <p:nvPr/>
        </p:nvSpPr>
        <p:spPr bwMode="gray">
          <a:xfrm>
            <a:off x="6782644" y="4071942"/>
            <a:ext cx="1008000" cy="1008000"/>
          </a:xfrm>
          <a:prstGeom prst="flowChartConnector">
            <a:avLst/>
          </a:prstGeom>
          <a:solidFill>
            <a:schemeClr val="tx2">
              <a:lumMod val="20000"/>
              <a:lumOff val="8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latin typeface="微软雅黑" panose="020B0503020204020204" charset="-122"/>
                <a:ea typeface="微软雅黑" panose="020B0503020204020204" charset="-122"/>
              </a:rPr>
              <a:t>精细化</a:t>
            </a:r>
          </a:p>
        </p:txBody>
      </p:sp>
      <p:sp>
        <p:nvSpPr>
          <p:cNvPr id="9" name="AutoShape 9"/>
          <p:cNvSpPr>
            <a:spLocks noChangeArrowheads="1"/>
          </p:cNvSpPr>
          <p:nvPr/>
        </p:nvSpPr>
        <p:spPr bwMode="gray">
          <a:xfrm>
            <a:off x="3917256" y="2857496"/>
            <a:ext cx="1008000" cy="1008000"/>
          </a:xfrm>
          <a:prstGeom prst="flowChartConnector">
            <a:avLst/>
          </a:prstGeom>
          <a:solidFill>
            <a:schemeClr val="tx2">
              <a:lumMod val="60000"/>
              <a:lumOff val="4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solidFill>
                  <a:srgbClr val="FFFFFF"/>
                </a:solidFill>
                <a:latin typeface="微软雅黑" panose="020B0503020204020204" charset="-122"/>
                <a:ea typeface="微软雅黑" panose="020B0503020204020204" charset="-122"/>
              </a:rPr>
              <a:t>平衡</a:t>
            </a:r>
          </a:p>
        </p:txBody>
      </p:sp>
      <p:cxnSp>
        <p:nvCxnSpPr>
          <p:cNvPr id="11" name="直接箭头连接符 10"/>
          <p:cNvCxnSpPr>
            <a:stCxn id="3" idx="6"/>
            <a:endCxn id="9" idx="1"/>
          </p:cNvCxnSpPr>
          <p:nvPr/>
        </p:nvCxnSpPr>
        <p:spPr bwMode="auto">
          <a:xfrm>
            <a:off x="2004166" y="2147050"/>
            <a:ext cx="2060708" cy="858064"/>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12" name="直接箭头连接符 11"/>
          <p:cNvCxnSpPr>
            <a:stCxn id="4" idx="6"/>
            <a:endCxn id="9" idx="2"/>
          </p:cNvCxnSpPr>
          <p:nvPr/>
        </p:nvCxnSpPr>
        <p:spPr bwMode="auto">
          <a:xfrm>
            <a:off x="2004166" y="3361496"/>
            <a:ext cx="1913090" cy="1588"/>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15" name="直接箭头连接符 14"/>
          <p:cNvCxnSpPr>
            <a:stCxn id="5" idx="6"/>
            <a:endCxn id="9" idx="3"/>
          </p:cNvCxnSpPr>
          <p:nvPr/>
        </p:nvCxnSpPr>
        <p:spPr bwMode="auto">
          <a:xfrm flipV="1">
            <a:off x="2004166" y="3717878"/>
            <a:ext cx="2060708" cy="858064"/>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18" name="直接箭头连接符 17"/>
          <p:cNvCxnSpPr>
            <a:stCxn id="6" idx="2"/>
            <a:endCxn id="9" idx="7"/>
          </p:cNvCxnSpPr>
          <p:nvPr/>
        </p:nvCxnSpPr>
        <p:spPr bwMode="auto">
          <a:xfrm rot="10800000" flipV="1">
            <a:off x="4777638" y="2147050"/>
            <a:ext cx="2005006" cy="858064"/>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21" name="直接箭头连接符 20"/>
          <p:cNvCxnSpPr>
            <a:stCxn id="7" idx="2"/>
            <a:endCxn id="9" idx="6"/>
          </p:cNvCxnSpPr>
          <p:nvPr/>
        </p:nvCxnSpPr>
        <p:spPr bwMode="auto">
          <a:xfrm rot="10800000">
            <a:off x="4925256" y="3361496"/>
            <a:ext cx="1857388" cy="1588"/>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cxnSp>
        <p:nvCxnSpPr>
          <p:cNvPr id="24" name="直接箭头连接符 23"/>
          <p:cNvCxnSpPr>
            <a:stCxn id="8" idx="2"/>
            <a:endCxn id="9" idx="5"/>
          </p:cNvCxnSpPr>
          <p:nvPr/>
        </p:nvCxnSpPr>
        <p:spPr bwMode="auto">
          <a:xfrm rot="10800000">
            <a:off x="4777638" y="3717878"/>
            <a:ext cx="2005006" cy="858064"/>
          </a:xfrm>
          <a:prstGeom prst="straightConnector1">
            <a:avLst/>
          </a:prstGeom>
          <a:solidFill>
            <a:schemeClr val="accent1"/>
          </a:solidFill>
          <a:ln w="19050" cap="flat" cmpd="sng" algn="ctr">
            <a:solidFill>
              <a:schemeClr val="tx2">
                <a:lumMod val="60000"/>
                <a:lumOff val="40000"/>
              </a:schemeClr>
            </a:solidFill>
            <a:prstDash val="solid"/>
            <a:round/>
            <a:headEnd type="none" w="med" len="med"/>
            <a:tailEnd type="arrow"/>
          </a:ln>
          <a:effectLst/>
        </p:spPr>
      </p:cxnSp>
      <p:sp>
        <p:nvSpPr>
          <p:cNvPr id="27" name="矩形 26"/>
          <p:cNvSpPr/>
          <p:nvPr/>
        </p:nvSpPr>
        <p:spPr bwMode="auto">
          <a:xfrm>
            <a:off x="3744724" y="5143512"/>
            <a:ext cx="1357322" cy="571504"/>
          </a:xfrm>
          <a:prstGeom prst="rect">
            <a:avLst/>
          </a:prstGeom>
          <a:solidFill>
            <a:schemeClr val="tx2">
              <a:lumMod val="60000"/>
              <a:lumOff val="4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solidFill>
                  <a:srgbClr val="FFFFFF"/>
                </a:solidFill>
                <a:latin typeface="微软雅黑" panose="020B0503020204020204" charset="-122"/>
                <a:ea typeface="微软雅黑" panose="020B0503020204020204" charset="-122"/>
              </a:rPr>
              <a:t>柔性</a:t>
            </a:r>
            <a:r>
              <a:rPr lang="en-US" altLang="zh-CN" sz="1600" b="1" dirty="0">
                <a:solidFill>
                  <a:srgbClr val="FFFFFF"/>
                </a:solidFill>
                <a:latin typeface="微软雅黑" panose="020B0503020204020204" charset="-122"/>
                <a:ea typeface="微软雅黑" panose="020B0503020204020204" charset="-122"/>
              </a:rPr>
              <a:t>+</a:t>
            </a:r>
            <a:r>
              <a:rPr lang="zh-CN" altLang="en-US" sz="1600" b="1" dirty="0">
                <a:solidFill>
                  <a:srgbClr val="FFFFFF"/>
                </a:solidFill>
                <a:latin typeface="微软雅黑" panose="020B0503020204020204" charset="-122"/>
                <a:ea typeface="微软雅黑" panose="020B0503020204020204" charset="-122"/>
              </a:rPr>
              <a:t>例外</a:t>
            </a:r>
          </a:p>
        </p:txBody>
      </p:sp>
      <p:sp>
        <p:nvSpPr>
          <p:cNvPr id="28" name="矩形 27"/>
          <p:cNvSpPr/>
          <p:nvPr/>
        </p:nvSpPr>
        <p:spPr bwMode="auto">
          <a:xfrm>
            <a:off x="3744724" y="4357694"/>
            <a:ext cx="1357322" cy="571504"/>
          </a:xfrm>
          <a:prstGeom prst="rect">
            <a:avLst/>
          </a:prstGeom>
          <a:solidFill>
            <a:schemeClr val="tx2">
              <a:lumMod val="60000"/>
              <a:lumOff val="40000"/>
            </a:schemeClr>
          </a:solidFill>
          <a:ln w="88900" cmpd="thinThick" algn="ctr">
            <a:solidFill>
              <a:srgbClr val="C0C0C0"/>
            </a:solidFill>
            <a:round/>
          </a:ln>
        </p:spPr>
        <p:txBody>
          <a:bodyPr wrap="none" anchor="ctr"/>
          <a:lstStyle/>
          <a:p>
            <a:pPr algn="ctr" eaLnBrk="0" hangingPunct="0">
              <a:lnSpc>
                <a:spcPct val="90000"/>
              </a:lnSpc>
            </a:pPr>
            <a:r>
              <a:rPr lang="zh-CN" altLang="en-US" sz="1600" b="1" dirty="0">
                <a:solidFill>
                  <a:srgbClr val="FFFFFF"/>
                </a:solidFill>
                <a:latin typeface="微软雅黑" panose="020B0503020204020204" charset="-122"/>
                <a:ea typeface="微软雅黑" panose="020B0503020204020204" charset="-122"/>
              </a:rPr>
              <a:t>规则</a:t>
            </a:r>
            <a:r>
              <a:rPr lang="en-US" altLang="zh-CN" sz="1600" b="1" dirty="0">
                <a:solidFill>
                  <a:srgbClr val="FFFFFF"/>
                </a:solidFill>
                <a:latin typeface="微软雅黑" panose="020B0503020204020204" charset="-122"/>
                <a:ea typeface="微软雅黑" panose="020B0503020204020204" charset="-122"/>
              </a:rPr>
              <a:t>+</a:t>
            </a:r>
            <a:r>
              <a:rPr lang="zh-CN" altLang="en-US" sz="1600" b="1" dirty="0">
                <a:solidFill>
                  <a:srgbClr val="FFFFFF"/>
                </a:solidFill>
                <a:latin typeface="微软雅黑" panose="020B0503020204020204" charset="-122"/>
                <a:ea typeface="微软雅黑" panose="020B0503020204020204" charset="-122"/>
              </a:rPr>
              <a:t>承诺</a:t>
            </a:r>
          </a:p>
        </p:txBody>
      </p:sp>
      <p:sp>
        <p:nvSpPr>
          <p:cNvPr id="35" name="TextBox 34"/>
          <p:cNvSpPr txBox="1"/>
          <p:nvPr/>
        </p:nvSpPr>
        <p:spPr bwMode="auto">
          <a:xfrm>
            <a:off x="2571736" y="5929330"/>
            <a:ext cx="3857652" cy="369332"/>
          </a:xfrm>
          <a:prstGeom prst="rect">
            <a:avLst/>
          </a:prstGeom>
          <a:noFill/>
          <a:ln>
            <a:noFill/>
          </a:ln>
        </p:spPr>
        <p:txBody>
          <a:bodyPr wrap="square" rtlCol="0">
            <a:spAutoFit/>
          </a:bodyPr>
          <a:lstStyle/>
          <a:p>
            <a:pPr algn="ctr"/>
            <a:r>
              <a:rPr kumimoji="1" lang="zh-CN" altLang="en-US"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打造敏捷供应链，实现卓越订单交付</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lang="zh-CN" altLang="en-US" dirty="0"/>
              <a:t>集成计划组工作框架：将依据“集成计划总体框架”按照三个阶段有序开展</a:t>
            </a:r>
          </a:p>
        </p:txBody>
      </p:sp>
      <p:grpSp>
        <p:nvGrpSpPr>
          <p:cNvPr id="2" name="组合 190"/>
          <p:cNvGrpSpPr/>
          <p:nvPr/>
        </p:nvGrpSpPr>
        <p:grpSpPr>
          <a:xfrm>
            <a:off x="228796" y="1785258"/>
            <a:ext cx="5700526" cy="4560526"/>
            <a:chOff x="157358" y="1556792"/>
            <a:chExt cx="5700526" cy="4788991"/>
          </a:xfrm>
        </p:grpSpPr>
        <p:sp>
          <p:nvSpPr>
            <p:cNvPr id="152" name="AutoShape 18"/>
            <p:cNvSpPr/>
            <p:nvPr/>
          </p:nvSpPr>
          <p:spPr bwMode="auto">
            <a:xfrm>
              <a:off x="727110" y="2953792"/>
              <a:ext cx="146050" cy="2260600"/>
            </a:xfrm>
            <a:prstGeom prst="leftBrace">
              <a:avLst>
                <a:gd name="adj1" fmla="val 128986"/>
                <a:gd name="adj2" fmla="val 50000"/>
              </a:avLst>
            </a:prstGeom>
            <a:noFill/>
            <a:ln w="9525">
              <a:solidFill>
                <a:schemeClr val="tx1"/>
              </a:solidFill>
              <a:bevel/>
            </a:ln>
          </p:spPr>
          <p:txBody>
            <a:bodyPr wrap="none" anchor="ctr"/>
            <a:lstStyle/>
            <a:p>
              <a:endParaRPr lang="zh-CN" altLang="en-US" sz="1800">
                <a:solidFill>
                  <a:srgbClr val="000000"/>
                </a:solidFill>
                <a:sym typeface="Arial" panose="020B0604020202020204" pitchFamily="34" charset="0"/>
              </a:endParaRPr>
            </a:p>
          </p:txBody>
        </p:sp>
        <p:sp>
          <p:nvSpPr>
            <p:cNvPr id="153" name="Text Box 19"/>
            <p:cNvSpPr>
              <a:spLocks noChangeArrowheads="1"/>
            </p:cNvSpPr>
            <p:nvPr/>
          </p:nvSpPr>
          <p:spPr bwMode="auto">
            <a:xfrm>
              <a:off x="157358" y="3777360"/>
              <a:ext cx="615600" cy="614341"/>
            </a:xfrm>
            <a:prstGeom prst="rect">
              <a:avLst/>
            </a:prstGeom>
            <a:noFill/>
            <a:ln>
              <a:noFill/>
            </a:ln>
          </p:spPr>
          <p:txBody>
            <a:bodyPr wrap="square">
              <a:spAutoFit/>
            </a:bodyPr>
            <a:lstStyle/>
            <a:p>
              <a:pPr algn="ctr"/>
              <a:r>
                <a:rPr lang="zh-CN" altLang="en-US" sz="1600" b="1" dirty="0">
                  <a:solidFill>
                    <a:srgbClr val="000000"/>
                  </a:solidFill>
                  <a:latin typeface="微软雅黑" panose="020B0503020204020204" charset="-122"/>
                  <a:ea typeface="微软雅黑" panose="020B0503020204020204" charset="-122"/>
                  <a:cs typeface="+mj-cs"/>
                  <a:sym typeface="Arial" panose="020B0604020202020204" pitchFamily="34" charset="0"/>
                </a:rPr>
                <a:t>业务</a:t>
              </a:r>
              <a:endParaRPr lang="en-US" altLang="zh-CN" sz="1600" b="1" dirty="0">
                <a:solidFill>
                  <a:srgbClr val="000000"/>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000000"/>
                  </a:solidFill>
                  <a:latin typeface="微软雅黑" panose="020B0503020204020204" charset="-122"/>
                  <a:ea typeface="微软雅黑" panose="020B0503020204020204" charset="-122"/>
                  <a:cs typeface="+mj-cs"/>
                  <a:sym typeface="Arial" panose="020B0604020202020204" pitchFamily="34" charset="0"/>
                </a:rPr>
                <a:t>体系</a:t>
              </a:r>
              <a:endParaRPr lang="zh-CN" altLang="en-US" sz="1600" b="1" dirty="0">
                <a:solidFill>
                  <a:srgbClr val="000000"/>
                </a:solidFill>
                <a:latin typeface="微软雅黑" panose="020B0503020204020204" charset="-122"/>
                <a:ea typeface="微软雅黑" panose="020B0503020204020204" charset="-122"/>
                <a:cs typeface="+mj-cs"/>
              </a:endParaRPr>
            </a:p>
          </p:txBody>
        </p:sp>
        <p:sp>
          <p:nvSpPr>
            <p:cNvPr id="154" name="AutoShape 20"/>
            <p:cNvSpPr/>
            <p:nvPr/>
          </p:nvSpPr>
          <p:spPr bwMode="auto">
            <a:xfrm>
              <a:off x="727110" y="1628800"/>
              <a:ext cx="144462" cy="1115963"/>
            </a:xfrm>
            <a:prstGeom prst="leftBrace">
              <a:avLst>
                <a:gd name="adj1" fmla="val 70409"/>
                <a:gd name="adj2" fmla="val 50000"/>
              </a:avLst>
            </a:prstGeom>
            <a:noFill/>
            <a:ln w="9525">
              <a:solidFill>
                <a:schemeClr val="tx1"/>
              </a:solidFill>
              <a:bevel/>
            </a:ln>
          </p:spPr>
          <p:txBody>
            <a:bodyPr wrap="none" anchor="ctr"/>
            <a:lstStyle/>
            <a:p>
              <a:endParaRPr lang="zh-CN" altLang="en-US" sz="1800">
                <a:solidFill>
                  <a:srgbClr val="000000"/>
                </a:solidFill>
                <a:sym typeface="Arial" panose="020B0604020202020204" pitchFamily="34" charset="0"/>
              </a:endParaRPr>
            </a:p>
          </p:txBody>
        </p:sp>
        <p:sp>
          <p:nvSpPr>
            <p:cNvPr id="159" name="Text Box 21"/>
            <p:cNvSpPr>
              <a:spLocks noChangeArrowheads="1"/>
            </p:cNvSpPr>
            <p:nvPr/>
          </p:nvSpPr>
          <p:spPr bwMode="auto">
            <a:xfrm>
              <a:off x="157358" y="1844824"/>
              <a:ext cx="613904" cy="872627"/>
            </a:xfrm>
            <a:prstGeom prst="rect">
              <a:avLst/>
            </a:prstGeom>
            <a:noFill/>
            <a:ln>
              <a:noFill/>
            </a:ln>
          </p:spPr>
          <p:txBody>
            <a:bodyPr wrap="square">
              <a:spAutoFit/>
            </a:bodyPr>
            <a:lstStyle/>
            <a:p>
              <a:pPr algn="ctr">
                <a:spcBef>
                  <a:spcPct val="50000"/>
                </a:spcBef>
              </a:pPr>
              <a:r>
                <a:rPr lang="zh-CN" altLang="en-US" sz="1600" b="1" dirty="0">
                  <a:latin typeface="微软雅黑" panose="020B0503020204020204" charset="-122"/>
                  <a:ea typeface="微软雅黑" panose="020B0503020204020204" charset="-122"/>
                  <a:cs typeface="+mj-cs"/>
                  <a:sym typeface="Arial" panose="020B0604020202020204" pitchFamily="34" charset="0"/>
                </a:rPr>
                <a:t>模式</a:t>
              </a:r>
              <a:br>
                <a:rPr lang="en-US" altLang="zh-CN" sz="1600" b="1" dirty="0">
                  <a:latin typeface="微软雅黑" panose="020B0503020204020204" charset="-122"/>
                  <a:ea typeface="微软雅黑" panose="020B0503020204020204" charset="-122"/>
                  <a:cs typeface="+mj-cs"/>
                  <a:sym typeface="Arial" panose="020B0604020202020204" pitchFamily="34" charset="0"/>
                </a:rPr>
              </a:br>
              <a:r>
                <a:rPr lang="zh-CN" altLang="en-US" sz="1600" b="1" dirty="0">
                  <a:latin typeface="微软雅黑" panose="020B0503020204020204" charset="-122"/>
                  <a:ea typeface="微软雅黑" panose="020B0503020204020204" charset="-122"/>
                  <a:cs typeface="+mj-cs"/>
                  <a:sym typeface="Arial" panose="020B0604020202020204" pitchFamily="34" charset="0"/>
                </a:rPr>
                <a:t>与</a:t>
              </a:r>
              <a:br>
                <a:rPr lang="en-US" altLang="zh-CN" sz="1600" b="1" dirty="0">
                  <a:latin typeface="微软雅黑" panose="020B0503020204020204" charset="-122"/>
                  <a:ea typeface="微软雅黑" panose="020B0503020204020204" charset="-122"/>
                  <a:cs typeface="+mj-cs"/>
                  <a:sym typeface="Arial" panose="020B0604020202020204" pitchFamily="34" charset="0"/>
                </a:rPr>
              </a:br>
              <a:r>
                <a:rPr lang="zh-CN" altLang="en-US" sz="1600" b="1" dirty="0">
                  <a:latin typeface="微软雅黑" panose="020B0503020204020204" charset="-122"/>
                  <a:ea typeface="微软雅黑" panose="020B0503020204020204" charset="-122"/>
                  <a:cs typeface="+mj-cs"/>
                  <a:sym typeface="Arial" panose="020B0604020202020204" pitchFamily="34" charset="0"/>
                </a:rPr>
                <a:t>组织</a:t>
              </a:r>
              <a:endParaRPr lang="en-US" sz="1600" b="1" dirty="0">
                <a:latin typeface="微软雅黑" panose="020B0503020204020204" charset="-122"/>
                <a:ea typeface="微软雅黑" panose="020B0503020204020204" charset="-122"/>
                <a:cs typeface="+mj-cs"/>
                <a:sym typeface="Arial" panose="020B0604020202020204" pitchFamily="34" charset="0"/>
              </a:endParaRPr>
            </a:p>
          </p:txBody>
        </p:sp>
        <p:sp>
          <p:nvSpPr>
            <p:cNvPr id="160" name="Text Box 23"/>
            <p:cNvSpPr>
              <a:spLocks noChangeArrowheads="1"/>
            </p:cNvSpPr>
            <p:nvPr/>
          </p:nvSpPr>
          <p:spPr bwMode="auto">
            <a:xfrm>
              <a:off x="157358" y="5534688"/>
              <a:ext cx="615600" cy="614070"/>
            </a:xfrm>
            <a:prstGeom prst="rect">
              <a:avLst/>
            </a:prstGeom>
            <a:noFill/>
            <a:ln>
              <a:noFill/>
            </a:ln>
          </p:spPr>
          <p:txBody>
            <a:bodyPr wrap="square">
              <a:spAutoFit/>
            </a:bodyPr>
            <a:lstStyle/>
            <a:p>
              <a:pPr algn="ctr">
                <a:spcBef>
                  <a:spcPct val="50000"/>
                </a:spcBef>
              </a:pPr>
              <a:r>
                <a:rPr lang="zh-CN" altLang="en-US" sz="1600" b="1" dirty="0">
                  <a:solidFill>
                    <a:srgbClr val="000000"/>
                  </a:solidFill>
                  <a:latin typeface="微软雅黑" panose="020B0503020204020204" charset="-122"/>
                  <a:ea typeface="微软雅黑" panose="020B0503020204020204" charset="-122"/>
                  <a:cs typeface="+mj-cs"/>
                  <a:sym typeface="Arial" panose="020B0604020202020204" pitchFamily="34" charset="0"/>
                </a:rPr>
                <a:t>管理平台</a:t>
              </a:r>
              <a:endParaRPr lang="zh-CN" altLang="en-US" sz="1600" b="1" dirty="0">
                <a:solidFill>
                  <a:srgbClr val="000000"/>
                </a:solidFill>
                <a:latin typeface="微软雅黑" panose="020B0503020204020204" charset="-122"/>
                <a:ea typeface="微软雅黑" panose="020B0503020204020204" charset="-122"/>
                <a:cs typeface="+mj-cs"/>
              </a:endParaRPr>
            </a:p>
          </p:txBody>
        </p:sp>
        <p:sp>
          <p:nvSpPr>
            <p:cNvPr id="163" name="AutoShape 20"/>
            <p:cNvSpPr/>
            <p:nvPr/>
          </p:nvSpPr>
          <p:spPr bwMode="auto">
            <a:xfrm>
              <a:off x="727110" y="5301357"/>
              <a:ext cx="144462" cy="1007963"/>
            </a:xfrm>
            <a:prstGeom prst="leftBrace">
              <a:avLst>
                <a:gd name="adj1" fmla="val 70409"/>
                <a:gd name="adj2" fmla="val 50000"/>
              </a:avLst>
            </a:prstGeom>
            <a:noFill/>
            <a:ln w="9525">
              <a:solidFill>
                <a:schemeClr val="tx1"/>
              </a:solidFill>
              <a:bevel/>
            </a:ln>
          </p:spPr>
          <p:txBody>
            <a:bodyPr wrap="none" anchor="ctr"/>
            <a:lstStyle/>
            <a:p>
              <a:endParaRPr lang="zh-CN" altLang="en-US" sz="1800">
                <a:solidFill>
                  <a:srgbClr val="000000"/>
                </a:solidFill>
                <a:sym typeface="Arial" panose="020B0604020202020204" pitchFamily="34" charset="0"/>
              </a:endParaRPr>
            </a:p>
          </p:txBody>
        </p:sp>
        <p:grpSp>
          <p:nvGrpSpPr>
            <p:cNvPr id="4" name="组合 164"/>
            <p:cNvGrpSpPr/>
            <p:nvPr/>
          </p:nvGrpSpPr>
          <p:grpSpPr>
            <a:xfrm>
              <a:off x="971600" y="1556792"/>
              <a:ext cx="4886284" cy="4788991"/>
              <a:chOff x="971600" y="1556792"/>
              <a:chExt cx="7856380" cy="4788991"/>
            </a:xfrm>
          </p:grpSpPr>
          <p:sp>
            <p:nvSpPr>
              <p:cNvPr id="127" name="AutoShape 4"/>
              <p:cNvSpPr>
                <a:spLocks noChangeArrowheads="1"/>
              </p:cNvSpPr>
              <p:nvPr/>
            </p:nvSpPr>
            <p:spPr bwMode="auto">
              <a:xfrm>
                <a:off x="971600" y="1556792"/>
                <a:ext cx="7848849" cy="609600"/>
              </a:xfrm>
              <a:prstGeom prst="triangle">
                <a:avLst>
                  <a:gd name="adj" fmla="val 50000"/>
                </a:avLst>
              </a:prstGeom>
              <a:solidFill>
                <a:schemeClr val="accent1"/>
              </a:solidFill>
              <a:ln w="9525">
                <a:solidFill>
                  <a:schemeClr val="tx1"/>
                </a:solidFill>
                <a:miter lim="800000"/>
              </a:ln>
            </p:spPr>
            <p:txBody>
              <a:bodyPr wrap="none" anchor="b"/>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1.0</a:t>
                </a: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策略与模式</a:t>
                </a:r>
              </a:p>
            </p:txBody>
          </p:sp>
          <p:sp>
            <p:nvSpPr>
              <p:cNvPr id="134" name="Rectangle 6"/>
              <p:cNvSpPr>
                <a:spLocks noChangeArrowheads="1"/>
              </p:cNvSpPr>
              <p:nvPr/>
            </p:nvSpPr>
            <p:spPr bwMode="auto">
              <a:xfrm>
                <a:off x="971600" y="2328838"/>
                <a:ext cx="7848871" cy="457200"/>
              </a:xfrm>
              <a:prstGeom prst="rect">
                <a:avLst/>
              </a:prstGeom>
              <a:solidFill>
                <a:schemeClr val="accent1"/>
              </a:solidFill>
              <a:ln w="9525">
                <a:solidFill>
                  <a:schemeClr val="tx1"/>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2.0</a:t>
                </a: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组织架构与管控</a:t>
                </a:r>
                <a:endParaRPr lang="zh-CN" altLang="en-US" sz="1600" b="1" dirty="0">
                  <a:solidFill>
                    <a:srgbClr val="FFFFFF"/>
                  </a:solidFill>
                  <a:latin typeface="微软雅黑" panose="020B0503020204020204" charset="-122"/>
                  <a:ea typeface="微软雅黑" panose="020B0503020204020204" charset="-122"/>
                  <a:cs typeface="+mj-cs"/>
                </a:endParaRPr>
              </a:p>
            </p:txBody>
          </p:sp>
          <p:sp>
            <p:nvSpPr>
              <p:cNvPr id="135" name="Rectangle 7"/>
              <p:cNvSpPr>
                <a:spLocks noChangeArrowheads="1"/>
              </p:cNvSpPr>
              <p:nvPr/>
            </p:nvSpPr>
            <p:spPr bwMode="auto">
              <a:xfrm>
                <a:off x="971600" y="2882355"/>
                <a:ext cx="7856380" cy="2346845"/>
              </a:xfrm>
              <a:prstGeom prst="rect">
                <a:avLst/>
              </a:prstGeom>
              <a:noFill/>
              <a:ln w="9525">
                <a:solidFill>
                  <a:schemeClr val="tx1"/>
                </a:solidFill>
                <a:miter lim="800000"/>
              </a:ln>
            </p:spPr>
            <p:txBody>
              <a:bodyPr wrap="none" anchor="b"/>
              <a:lstStyle/>
              <a:p>
                <a:pPr algn="ctr"/>
                <a:endParaRPr lang="zh-CN" altLang="en-US" sz="1600" b="1" dirty="0">
                  <a:solidFill>
                    <a:srgbClr val="000000"/>
                  </a:solidFill>
                </a:endParaRPr>
              </a:p>
            </p:txBody>
          </p:sp>
          <p:sp>
            <p:nvSpPr>
              <p:cNvPr id="144" name="Rectangle 8"/>
              <p:cNvSpPr>
                <a:spLocks noChangeArrowheads="1"/>
              </p:cNvSpPr>
              <p:nvPr/>
            </p:nvSpPr>
            <p:spPr bwMode="auto">
              <a:xfrm>
                <a:off x="1147373" y="3214686"/>
                <a:ext cx="1360236" cy="1800000"/>
              </a:xfrm>
              <a:prstGeom prst="rect">
                <a:avLst/>
              </a:prstGeom>
              <a:solidFill>
                <a:schemeClr val="accent1"/>
              </a:solidFill>
              <a:ln w="9525">
                <a:no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3.1</a:t>
                </a: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需求</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管理</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endPar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p:txBody>
          </p:sp>
          <p:sp>
            <p:nvSpPr>
              <p:cNvPr id="148" name="Rectangle 9"/>
              <p:cNvSpPr>
                <a:spLocks noChangeArrowheads="1"/>
              </p:cNvSpPr>
              <p:nvPr/>
            </p:nvSpPr>
            <p:spPr bwMode="auto">
              <a:xfrm>
                <a:off x="5794618" y="3214686"/>
                <a:ext cx="1360236" cy="1800000"/>
              </a:xfrm>
              <a:prstGeom prst="rect">
                <a:avLst/>
              </a:prstGeom>
              <a:solidFill>
                <a:schemeClr val="accent1"/>
              </a:solidFill>
              <a:ln w="9525">
                <a:solidFill>
                  <a:srgbClr val="FFFFFF"/>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3.4</a:t>
                </a: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生产</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计划</a:t>
                </a:r>
                <a:b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b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与执行</a:t>
                </a:r>
                <a:endParaRPr lang="zh-CN" altLang="en-US" sz="1600" b="1" dirty="0">
                  <a:solidFill>
                    <a:srgbClr val="FFFFFF"/>
                  </a:solidFill>
                  <a:latin typeface="微软雅黑" panose="020B0503020204020204" charset="-122"/>
                  <a:ea typeface="微软雅黑" panose="020B0503020204020204" charset="-122"/>
                  <a:cs typeface="+mj-cs"/>
                </a:endParaRPr>
              </a:p>
            </p:txBody>
          </p:sp>
          <p:sp>
            <p:nvSpPr>
              <p:cNvPr id="149" name="Rectangle 10"/>
              <p:cNvSpPr>
                <a:spLocks noChangeArrowheads="1"/>
              </p:cNvSpPr>
              <p:nvPr/>
            </p:nvSpPr>
            <p:spPr bwMode="auto">
              <a:xfrm>
                <a:off x="7343702" y="3214686"/>
                <a:ext cx="1360236" cy="1800000"/>
              </a:xfrm>
              <a:prstGeom prst="rect">
                <a:avLst/>
              </a:prstGeom>
              <a:solidFill>
                <a:schemeClr val="accent1"/>
              </a:solidFill>
              <a:ln w="9525">
                <a:solidFill>
                  <a:srgbClr val="FFFFFF"/>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3.5</a:t>
                </a: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零部件</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计划</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与交付</a:t>
                </a:r>
              </a:p>
            </p:txBody>
          </p:sp>
          <p:sp>
            <p:nvSpPr>
              <p:cNvPr id="150" name="Rectangle 14"/>
              <p:cNvSpPr>
                <a:spLocks noChangeArrowheads="1"/>
              </p:cNvSpPr>
              <p:nvPr/>
            </p:nvSpPr>
            <p:spPr bwMode="auto">
              <a:xfrm>
                <a:off x="971600" y="5888583"/>
                <a:ext cx="7848872" cy="457200"/>
              </a:xfrm>
              <a:prstGeom prst="rect">
                <a:avLst/>
              </a:prstGeom>
              <a:solidFill>
                <a:schemeClr val="accent1"/>
              </a:solidFill>
              <a:ln w="9525">
                <a:solidFill>
                  <a:srgbClr val="000000"/>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5.0</a:t>
                </a: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流程与信息系统</a:t>
                </a:r>
                <a:endParaRPr lang="zh-CN" altLang="en-US" sz="1600" b="1" dirty="0">
                  <a:solidFill>
                    <a:srgbClr val="FFFFFF"/>
                  </a:solidFill>
                  <a:latin typeface="微软雅黑" panose="020B0503020204020204" charset="-122"/>
                  <a:ea typeface="微软雅黑" panose="020B0503020204020204" charset="-122"/>
                  <a:cs typeface="+mj-cs"/>
                </a:endParaRPr>
              </a:p>
            </p:txBody>
          </p:sp>
          <p:sp>
            <p:nvSpPr>
              <p:cNvPr id="151" name="Rectangle 17"/>
              <p:cNvSpPr>
                <a:spLocks noChangeArrowheads="1"/>
              </p:cNvSpPr>
              <p:nvPr/>
            </p:nvSpPr>
            <p:spPr bwMode="auto">
              <a:xfrm>
                <a:off x="971600" y="5301208"/>
                <a:ext cx="7848872" cy="457200"/>
              </a:xfrm>
              <a:prstGeom prst="rect">
                <a:avLst/>
              </a:prstGeom>
              <a:solidFill>
                <a:schemeClr val="accent1"/>
              </a:solidFill>
              <a:ln w="9525">
                <a:solidFill>
                  <a:schemeClr val="tx1"/>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4.0</a:t>
                </a: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绩效管理</a:t>
                </a:r>
                <a:endParaRPr lang="zh-CN" altLang="en-US" sz="1600" b="1" dirty="0">
                  <a:solidFill>
                    <a:srgbClr val="FFFFFF"/>
                  </a:solidFill>
                  <a:latin typeface="微软雅黑" panose="020B0503020204020204" charset="-122"/>
                  <a:ea typeface="微软雅黑" panose="020B0503020204020204" charset="-122"/>
                  <a:cs typeface="+mj-cs"/>
                </a:endParaRPr>
              </a:p>
            </p:txBody>
          </p:sp>
          <p:sp>
            <p:nvSpPr>
              <p:cNvPr id="162" name="Rectangle 8"/>
              <p:cNvSpPr>
                <a:spLocks noChangeArrowheads="1"/>
              </p:cNvSpPr>
              <p:nvPr/>
            </p:nvSpPr>
            <p:spPr bwMode="auto">
              <a:xfrm>
                <a:off x="2696454" y="3214686"/>
                <a:ext cx="1360236" cy="1800000"/>
              </a:xfrm>
              <a:prstGeom prst="rect">
                <a:avLst/>
              </a:prstGeom>
              <a:solidFill>
                <a:schemeClr val="accent1"/>
              </a:solidFill>
              <a:ln w="9525">
                <a:solidFill>
                  <a:srgbClr val="FFFFFF"/>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3.2</a:t>
                </a: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订单</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管理</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endPar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p:txBody>
          </p:sp>
          <p:sp>
            <p:nvSpPr>
              <p:cNvPr id="164" name="Rectangle 9"/>
              <p:cNvSpPr>
                <a:spLocks noChangeArrowheads="1"/>
              </p:cNvSpPr>
              <p:nvPr/>
            </p:nvSpPr>
            <p:spPr bwMode="auto">
              <a:xfrm>
                <a:off x="4245536" y="3214686"/>
                <a:ext cx="1360236" cy="1800000"/>
              </a:xfrm>
              <a:prstGeom prst="rect">
                <a:avLst/>
              </a:prstGeom>
              <a:solidFill>
                <a:schemeClr val="accent1"/>
              </a:solidFill>
              <a:ln w="9525">
                <a:solidFill>
                  <a:srgbClr val="FFFFFF"/>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3.3</a:t>
                </a:r>
              </a:p>
              <a:p>
                <a:pPr algn="ctr"/>
                <a:r>
                  <a:rPr lang="zh-CN" altLang="en-US" sz="1600" b="1" dirty="0">
                    <a:solidFill>
                      <a:srgbClr val="FFFFFF"/>
                    </a:solidFill>
                    <a:latin typeface="微软雅黑" panose="020B0503020204020204" charset="-122"/>
                    <a:ea typeface="微软雅黑" panose="020B0503020204020204" charset="-122"/>
                    <a:cs typeface="+mj-cs"/>
                  </a:rPr>
                  <a:t>产销</a:t>
                </a:r>
                <a:endParaRPr lang="en-US" altLang="zh-CN" sz="1600" b="1" dirty="0">
                  <a:solidFill>
                    <a:srgbClr val="FFFFFF"/>
                  </a:solidFill>
                  <a:latin typeface="微软雅黑" panose="020B0503020204020204" charset="-122"/>
                  <a:ea typeface="微软雅黑" panose="020B0503020204020204" charset="-122"/>
                  <a:cs typeface="+mj-cs"/>
                </a:endParaRPr>
              </a:p>
              <a:p>
                <a:pPr algn="ctr"/>
                <a:r>
                  <a:rPr lang="zh-CN" altLang="en-US" sz="1600" b="1" dirty="0">
                    <a:solidFill>
                      <a:srgbClr val="FFFFFF"/>
                    </a:solidFill>
                    <a:latin typeface="微软雅黑" panose="020B0503020204020204" charset="-122"/>
                    <a:ea typeface="微软雅黑" panose="020B0503020204020204" charset="-122"/>
                    <a:cs typeface="+mj-cs"/>
                  </a:rPr>
                  <a:t>平衡</a:t>
                </a:r>
                <a:endParaRPr lang="en-US" altLang="zh-CN" sz="1600" b="1" dirty="0">
                  <a:solidFill>
                    <a:srgbClr val="FFFFFF"/>
                  </a:solidFill>
                  <a:latin typeface="微软雅黑" panose="020B0503020204020204" charset="-122"/>
                  <a:ea typeface="微软雅黑" panose="020B0503020204020204" charset="-122"/>
                  <a:cs typeface="+mj-cs"/>
                </a:endParaRPr>
              </a:p>
              <a:p>
                <a:pPr algn="ctr"/>
                <a:endParaRPr lang="zh-CN" altLang="en-US" sz="1600" b="1" dirty="0">
                  <a:solidFill>
                    <a:srgbClr val="FFFFFF"/>
                  </a:solidFill>
                  <a:latin typeface="微软雅黑" panose="020B0503020204020204" charset="-122"/>
                  <a:ea typeface="微软雅黑" panose="020B0503020204020204" charset="-122"/>
                  <a:cs typeface="+mj-cs"/>
                </a:endParaRPr>
              </a:p>
            </p:txBody>
          </p:sp>
        </p:grpSp>
      </p:grpSp>
      <p:sp>
        <p:nvSpPr>
          <p:cNvPr id="173" name="下箭头 172"/>
          <p:cNvSpPr/>
          <p:nvPr/>
        </p:nvSpPr>
        <p:spPr bwMode="auto">
          <a:xfrm>
            <a:off x="6066971" y="1228936"/>
            <a:ext cx="534321" cy="5392979"/>
          </a:xfrm>
          <a:prstGeom prst="downArrow">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85" name="TextBox 184"/>
          <p:cNvSpPr txBox="1"/>
          <p:nvPr/>
        </p:nvSpPr>
        <p:spPr bwMode="auto">
          <a:xfrm>
            <a:off x="6457284" y="1228937"/>
            <a:ext cx="2284626" cy="307777"/>
          </a:xfrm>
          <a:prstGeom prst="rect">
            <a:avLst/>
          </a:prstGeom>
          <a:solidFill>
            <a:schemeClr val="accent1">
              <a:lumMod val="20000"/>
              <a:lumOff val="80000"/>
            </a:schemeClr>
          </a:solidFill>
          <a:ln>
            <a:noFill/>
          </a:ln>
        </p:spPr>
        <p:txBody>
          <a:bodyPr wrap="square" rtlCol="0">
            <a:spAutoFit/>
          </a:bodyPr>
          <a:lstStyle/>
          <a:p>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现状评估阶段（</a:t>
            </a: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1</a:t>
            </a: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个月）</a:t>
            </a:r>
          </a:p>
        </p:txBody>
      </p:sp>
      <p:sp>
        <p:nvSpPr>
          <p:cNvPr id="186" name="TextBox 185"/>
          <p:cNvSpPr txBox="1"/>
          <p:nvPr/>
        </p:nvSpPr>
        <p:spPr bwMode="auto">
          <a:xfrm>
            <a:off x="6457284" y="3162394"/>
            <a:ext cx="2286000" cy="307777"/>
          </a:xfrm>
          <a:prstGeom prst="rect">
            <a:avLst/>
          </a:prstGeom>
          <a:solidFill>
            <a:schemeClr val="accent1">
              <a:lumMod val="20000"/>
              <a:lumOff val="80000"/>
            </a:schemeClr>
          </a:solidFill>
          <a:ln>
            <a:noFill/>
          </a:ln>
        </p:spPr>
        <p:txBody>
          <a:bodyPr wrap="square" rtlCol="0">
            <a:spAutoFit/>
          </a:bodyPr>
          <a:lstStyle/>
          <a:p>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顶层设计阶段（</a:t>
            </a: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2</a:t>
            </a: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个月）</a:t>
            </a:r>
          </a:p>
        </p:txBody>
      </p:sp>
      <p:sp>
        <p:nvSpPr>
          <p:cNvPr id="187" name="TextBox 186"/>
          <p:cNvSpPr txBox="1"/>
          <p:nvPr/>
        </p:nvSpPr>
        <p:spPr bwMode="auto">
          <a:xfrm>
            <a:off x="6457284" y="4314152"/>
            <a:ext cx="2286000" cy="523220"/>
          </a:xfrm>
          <a:prstGeom prst="rect">
            <a:avLst/>
          </a:prstGeom>
          <a:solidFill>
            <a:schemeClr val="accent1">
              <a:lumMod val="20000"/>
              <a:lumOff val="80000"/>
            </a:schemeClr>
          </a:solidFill>
          <a:ln>
            <a:noFill/>
          </a:ln>
        </p:spPr>
        <p:txBody>
          <a:bodyPr wrap="square" rtlCol="0">
            <a:spAutoFit/>
          </a:bodyPr>
          <a:lstStyle/>
          <a:p>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业务流程及系统蓝图</a:t>
            </a:r>
            <a:endPar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设计阶段（</a:t>
            </a: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个月）</a:t>
            </a:r>
          </a:p>
        </p:txBody>
      </p:sp>
      <p:sp>
        <p:nvSpPr>
          <p:cNvPr id="188" name="TextBox 187"/>
          <p:cNvSpPr txBox="1"/>
          <p:nvPr/>
        </p:nvSpPr>
        <p:spPr bwMode="auto">
          <a:xfrm>
            <a:off x="6484047" y="1594860"/>
            <a:ext cx="2384182" cy="1487587"/>
          </a:xfrm>
          <a:prstGeom prst="rect">
            <a:avLst/>
          </a:prstGeom>
          <a:noFill/>
          <a:ln>
            <a:noFill/>
          </a:ln>
        </p:spPr>
        <p:txBody>
          <a:bodyPr wrap="square" rtlCol="0">
            <a:spAutoFit/>
          </a:bodyPr>
          <a:lstStyle/>
          <a:p>
            <a:pPr marL="87630" indent="-87630">
              <a:spcBef>
                <a:spcPts val="4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从</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绩效指标分析</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4.0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）出发，对企业总体进行评价</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87630" indent="-87630">
              <a:spcBef>
                <a:spcPts val="4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然后进行现状评估：</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计划模式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1.0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组织</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业务</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3.1-3.5</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绩效</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4.0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流程</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5.0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87630" indent="-87630">
              <a:spcBef>
                <a:spcPts val="4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提出</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解决思路</a:t>
            </a:r>
          </a:p>
        </p:txBody>
      </p:sp>
      <p:sp>
        <p:nvSpPr>
          <p:cNvPr id="189" name="TextBox 188"/>
          <p:cNvSpPr txBox="1"/>
          <p:nvPr/>
        </p:nvSpPr>
        <p:spPr bwMode="auto">
          <a:xfrm>
            <a:off x="6484047" y="3520572"/>
            <a:ext cx="2340639" cy="723275"/>
          </a:xfrm>
          <a:prstGeom prst="rect">
            <a:avLst/>
          </a:prstGeom>
          <a:noFill/>
          <a:ln>
            <a:noFill/>
          </a:ln>
        </p:spPr>
        <p:txBody>
          <a:bodyPr wrap="square" rtlCol="0">
            <a:spAutoFit/>
          </a:bodyPr>
          <a:lstStyle/>
          <a:p>
            <a:pPr marL="87630" indent="-87630">
              <a:spcBef>
                <a:spcPts val="6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研讨</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计划模式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1.0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），并达成共识</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87630" indent="-87630">
              <a:spcBef>
                <a:spcPts val="6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设计</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业务解决方案</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3.1-3.5</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p>
        </p:txBody>
      </p:sp>
      <p:sp>
        <p:nvSpPr>
          <p:cNvPr id="190" name="TextBox 189"/>
          <p:cNvSpPr txBox="1"/>
          <p:nvPr/>
        </p:nvSpPr>
        <p:spPr bwMode="auto">
          <a:xfrm>
            <a:off x="6484047" y="4856628"/>
            <a:ext cx="2480566" cy="1061829"/>
          </a:xfrm>
          <a:prstGeom prst="rect">
            <a:avLst/>
          </a:prstGeom>
          <a:noFill/>
          <a:ln>
            <a:noFill/>
          </a:ln>
        </p:spPr>
        <p:txBody>
          <a:bodyPr wrap="square" rtlCol="0">
            <a:spAutoFit/>
          </a:bodyPr>
          <a:lstStyle/>
          <a:p>
            <a:pPr marL="87630" indent="-87630">
              <a:spcBef>
                <a:spcPts val="600"/>
              </a:spcBef>
              <a:buFont typeface="微软雅黑" panose="020B0503020204020204" charset="-122"/>
              <a:buChar char="▪"/>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设计详细</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流程</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5.0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87630" indent="-87630">
              <a:spcBef>
                <a:spcPts val="600"/>
              </a:spcBef>
              <a:buFont typeface="微软雅黑" panose="020B0503020204020204" charset="-122"/>
              <a:buChar char="▪"/>
            </a:pP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组织</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匹配建议（</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87630" indent="-87630">
              <a:spcBef>
                <a:spcPts val="600"/>
              </a:spcBef>
              <a:buFont typeface="微软雅黑" panose="020B0503020204020204" charset="-122"/>
              <a:buChar char="▪"/>
            </a:pP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绩效</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匹配建议（</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4.0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87630" indent="-87630">
              <a:spcBef>
                <a:spcPts val="600"/>
              </a:spcBef>
              <a:buFont typeface="微软雅黑" panose="020B0503020204020204" charset="-122"/>
              <a:buChar char="▪"/>
            </a:pPr>
            <a:r>
              <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rPr>
              <a:t>IT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功能需求及系统蓝图（</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5.0</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p>
        </p:txBody>
      </p:sp>
      <p:sp>
        <p:nvSpPr>
          <p:cNvPr id="192" name="矩形 191"/>
          <p:cNvSpPr/>
          <p:nvPr/>
        </p:nvSpPr>
        <p:spPr>
          <a:xfrm>
            <a:off x="2483751" y="1371812"/>
            <a:ext cx="2031325" cy="369332"/>
          </a:xfrm>
          <a:prstGeom prst="rect">
            <a:avLst/>
          </a:prstGeom>
        </p:spPr>
        <p:txBody>
          <a:bodyPr wrap="none">
            <a:spAutoFit/>
          </a:bodyPr>
          <a:lstStyle/>
          <a:p>
            <a:r>
              <a:rPr lang="zh-CN" altLang="en-US" b="1" dirty="0">
                <a:latin typeface="微软雅黑" panose="020B0503020204020204" charset="-122"/>
                <a:ea typeface="微软雅黑" panose="020B0503020204020204" charset="-122"/>
              </a:rPr>
              <a:t>集成计划总体框架</a:t>
            </a:r>
          </a:p>
        </p:txBody>
      </p:sp>
      <p:sp>
        <p:nvSpPr>
          <p:cNvPr id="30" name="TextBox 29"/>
          <p:cNvSpPr txBox="1"/>
          <p:nvPr/>
        </p:nvSpPr>
        <p:spPr bwMode="auto">
          <a:xfrm>
            <a:off x="6458416" y="5993258"/>
            <a:ext cx="2286000" cy="307777"/>
          </a:xfrm>
          <a:prstGeom prst="rect">
            <a:avLst/>
          </a:prstGeom>
          <a:solidFill>
            <a:schemeClr val="bg1">
              <a:lumMod val="85000"/>
            </a:schemeClr>
          </a:solidFill>
          <a:ln>
            <a:noFill/>
          </a:ln>
        </p:spPr>
        <p:txBody>
          <a:bodyPr wrap="square" rtlCol="0">
            <a:spAutoFit/>
          </a:bodyPr>
          <a:lstStyle/>
          <a:p>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系统重构与集成阶段</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矩形 132"/>
          <p:cNvSpPr/>
          <p:nvPr/>
        </p:nvSpPr>
        <p:spPr bwMode="auto">
          <a:xfrm>
            <a:off x="587118" y="1899774"/>
            <a:ext cx="2547965" cy="4312340"/>
          </a:xfrm>
          <a:prstGeom prst="rect">
            <a:avLst/>
          </a:prstGeom>
          <a:solidFill>
            <a:srgbClr val="F7F8FF"/>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35" name="矩形 134"/>
          <p:cNvSpPr/>
          <p:nvPr/>
        </p:nvSpPr>
        <p:spPr bwMode="auto">
          <a:xfrm>
            <a:off x="5992794" y="1899774"/>
            <a:ext cx="2852104" cy="4312340"/>
          </a:xfrm>
          <a:prstGeom prst="rect">
            <a:avLst/>
          </a:prstGeom>
          <a:solidFill>
            <a:srgbClr val="F7F8FF"/>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34" name="矩形 133"/>
          <p:cNvSpPr/>
          <p:nvPr/>
        </p:nvSpPr>
        <p:spPr bwMode="auto">
          <a:xfrm>
            <a:off x="3193330" y="1899774"/>
            <a:ext cx="2728497" cy="4312340"/>
          </a:xfrm>
          <a:prstGeom prst="rect">
            <a:avLst/>
          </a:prstGeom>
          <a:solidFill>
            <a:srgbClr val="F7F8FF"/>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2" name="标题 1"/>
          <p:cNvSpPr>
            <a:spLocks noGrp="1"/>
          </p:cNvSpPr>
          <p:nvPr>
            <p:ph type="title"/>
          </p:nvPr>
        </p:nvSpPr>
        <p:spPr/>
        <p:txBody>
          <a:bodyPr/>
          <a:lstStyle/>
          <a:p>
            <a:r>
              <a:rPr lang="zh-CN" altLang="en-US" dirty="0"/>
              <a:t>集成计划组推进方法：按照</a:t>
            </a:r>
            <a:r>
              <a:rPr dirty="0"/>
              <a:t>3</a:t>
            </a:r>
            <a:r>
              <a:rPr lang="zh-CN" altLang="en-US" dirty="0"/>
              <a:t>个阶段、</a:t>
            </a:r>
            <a:r>
              <a:rPr dirty="0"/>
              <a:t>15</a:t>
            </a:r>
            <a:r>
              <a:rPr lang="zh-CN" altLang="en-US" dirty="0"/>
              <a:t>个步骤逐步开展</a:t>
            </a:r>
          </a:p>
        </p:txBody>
      </p:sp>
      <p:sp>
        <p:nvSpPr>
          <p:cNvPr id="67" name="Rectangle 22"/>
          <p:cNvSpPr>
            <a:spLocks noChangeArrowheads="1"/>
          </p:cNvSpPr>
          <p:nvPr/>
        </p:nvSpPr>
        <p:spPr bwMode="gray">
          <a:xfrm>
            <a:off x="4716459" y="293781"/>
            <a:ext cx="612000" cy="209550"/>
          </a:xfrm>
          <a:prstGeom prst="rect">
            <a:avLst/>
          </a:prstGeom>
          <a:noFill/>
          <a:ln w="12700">
            <a:solidFill>
              <a:schemeClr val="tx2"/>
            </a:solidFill>
            <a:miter lim="800000"/>
          </a:ln>
        </p:spPr>
        <p:txBody>
          <a:bodyPr wrap="none" anchor="ctr"/>
          <a:lstStyle/>
          <a:p>
            <a:pPr algn="ctr" eaLnBrk="1" hangingPunct="1">
              <a:spcBef>
                <a:spcPct val="0"/>
              </a:spcBef>
              <a:buClrTx/>
              <a:buFont typeface="Wingdings" panose="05000000000000000000" pitchFamily="2" charset="2"/>
              <a:buNone/>
            </a:pPr>
            <a:r>
              <a:rPr lang="zh-CN" altLang="en-US" sz="1000" dirty="0">
                <a:latin typeface="微软雅黑" panose="020B0503020204020204" charset="-122"/>
                <a:ea typeface="微软雅黑" panose="020B0503020204020204" charset="-122"/>
              </a:rPr>
              <a:t>计划工作</a:t>
            </a:r>
          </a:p>
        </p:txBody>
      </p:sp>
      <p:sp>
        <p:nvSpPr>
          <p:cNvPr id="71" name="Text Box 23"/>
          <p:cNvSpPr txBox="1">
            <a:spLocks noChangeArrowheads="1"/>
          </p:cNvSpPr>
          <p:nvPr/>
        </p:nvSpPr>
        <p:spPr bwMode="auto">
          <a:xfrm>
            <a:off x="4214810" y="283463"/>
            <a:ext cx="565150" cy="244475"/>
          </a:xfrm>
          <a:prstGeom prst="rect">
            <a:avLst/>
          </a:prstGeom>
          <a:noFill/>
          <a:ln w="9525" algn="ctr">
            <a:noFill/>
            <a:miter lim="800000"/>
          </a:ln>
        </p:spPr>
        <p:txBody>
          <a:bodyPr wrap="none">
            <a:spAutoFit/>
          </a:bodyPr>
          <a:lstStyle/>
          <a:p>
            <a:pPr algn="ctr" eaLnBrk="1" hangingPunct="1">
              <a:buClrTx/>
              <a:buFontTx/>
              <a:buNone/>
            </a:pPr>
            <a:r>
              <a:rPr lang="zh-CN" altLang="en-US" sz="1000" dirty="0">
                <a:latin typeface="微软雅黑" panose="020B0503020204020204" charset="-122"/>
                <a:ea typeface="微软雅黑" panose="020B0503020204020204" charset="-122"/>
              </a:rPr>
              <a:t>图例：</a:t>
            </a:r>
          </a:p>
        </p:txBody>
      </p:sp>
      <p:sp>
        <p:nvSpPr>
          <p:cNvPr id="72" name="Rectangle 24"/>
          <p:cNvSpPr>
            <a:spLocks noChangeArrowheads="1"/>
          </p:cNvSpPr>
          <p:nvPr/>
        </p:nvSpPr>
        <p:spPr bwMode="gray">
          <a:xfrm>
            <a:off x="6049710" y="293781"/>
            <a:ext cx="542925" cy="209550"/>
          </a:xfrm>
          <a:prstGeom prst="rect">
            <a:avLst/>
          </a:prstGeom>
          <a:solidFill>
            <a:srgbClr val="FFC000"/>
          </a:solidFill>
          <a:ln w="12700">
            <a:solidFill>
              <a:schemeClr val="tx2"/>
            </a:solidFill>
            <a:miter lim="800000"/>
          </a:ln>
        </p:spPr>
        <p:txBody>
          <a:bodyPr wrap="none" anchor="ctr"/>
          <a:lstStyle/>
          <a:p>
            <a:pPr algn="ctr" eaLnBrk="1" hangingPunct="1">
              <a:spcBef>
                <a:spcPct val="0"/>
              </a:spcBef>
              <a:buClrTx/>
              <a:buFont typeface="Wingdings" panose="05000000000000000000" pitchFamily="2" charset="2"/>
              <a:buNone/>
            </a:pPr>
            <a:r>
              <a:rPr lang="zh-CN" altLang="en-US" sz="1000" dirty="0">
                <a:latin typeface="微软雅黑" panose="020B0503020204020204" charset="-122"/>
                <a:ea typeface="微软雅黑" panose="020B0503020204020204" charset="-122"/>
              </a:rPr>
              <a:t>进行中</a:t>
            </a:r>
          </a:p>
        </p:txBody>
      </p:sp>
      <p:sp>
        <p:nvSpPr>
          <p:cNvPr id="74" name="Text Box 26"/>
          <p:cNvSpPr txBox="1">
            <a:spLocks noChangeArrowheads="1"/>
          </p:cNvSpPr>
          <p:nvPr/>
        </p:nvSpPr>
        <p:spPr bwMode="auto">
          <a:xfrm>
            <a:off x="6762138" y="266521"/>
            <a:ext cx="1516762" cy="246221"/>
          </a:xfrm>
          <a:prstGeom prst="rect">
            <a:avLst/>
          </a:prstGeom>
          <a:noFill/>
          <a:ln w="9525" algn="ctr">
            <a:noFill/>
            <a:miter lim="800000"/>
          </a:ln>
        </p:spPr>
        <p:txBody>
          <a:bodyPr wrap="none">
            <a:spAutoFit/>
          </a:bodyPr>
          <a:lstStyle/>
          <a:p>
            <a:pPr algn="ctr"/>
            <a:r>
              <a:rPr lang="zh-CN" altLang="en-US" sz="1000" dirty="0">
                <a:latin typeface="微软雅黑" panose="020B0503020204020204" charset="-122"/>
                <a:ea typeface="微软雅黑" panose="020B0503020204020204" charset="-122"/>
              </a:rPr>
              <a:t>关键里程碑</a:t>
            </a:r>
            <a:r>
              <a:rPr lang="en-US" altLang="zh-CN" sz="1000" dirty="0">
                <a:latin typeface="微软雅黑" panose="020B0503020204020204" charset="-122"/>
                <a:ea typeface="微软雅黑" panose="020B0503020204020204" charset="-122"/>
              </a:rPr>
              <a:t>(Milestone)</a:t>
            </a:r>
            <a:endParaRPr lang="zh-CN" altLang="en-US" sz="1000" dirty="0">
              <a:latin typeface="微软雅黑" panose="020B0503020204020204" charset="-122"/>
              <a:ea typeface="微软雅黑" panose="020B0503020204020204" charset="-122"/>
            </a:endParaRPr>
          </a:p>
        </p:txBody>
      </p:sp>
      <p:sp>
        <p:nvSpPr>
          <p:cNvPr id="76" name="菱形 75"/>
          <p:cNvSpPr/>
          <p:nvPr/>
        </p:nvSpPr>
        <p:spPr bwMode="auto">
          <a:xfrm>
            <a:off x="6693101" y="298544"/>
            <a:ext cx="144000" cy="214313"/>
          </a:xfrm>
          <a:prstGeom prst="diamond">
            <a:avLst/>
          </a:prstGeom>
          <a:solidFill>
            <a:schemeClr val="accent2"/>
          </a:solidFill>
          <a:ln w="28575" algn="ctr">
            <a:noFill/>
            <a:round/>
          </a:ln>
        </p:spPr>
        <p:txBody>
          <a:bodyPr anchor="ctr"/>
          <a:lstStyle/>
          <a:p>
            <a:pPr algn="ctr" eaLnBrk="0" fontAlgn="auto" hangingPunct="0">
              <a:lnSpc>
                <a:spcPct val="125000"/>
              </a:lnSpc>
              <a:spcBef>
                <a:spcPts val="0"/>
              </a:spcBef>
              <a:spcAft>
                <a:spcPts val="0"/>
              </a:spcAft>
              <a:defRPr/>
            </a:pPr>
            <a:endParaRPr lang="zh-CN" altLang="en-US" sz="1050" kern="0" dirty="0">
              <a:solidFill>
                <a:prstClr val="black"/>
              </a:solidFill>
              <a:latin typeface="Modern H Medium" pitchFamily="50" charset="-127"/>
              <a:ea typeface="Modern H Medium" pitchFamily="50" charset="-127"/>
              <a:sym typeface="Trebuchet MS" panose="020B0603020202020204" pitchFamily="34" charset="0"/>
            </a:endParaRPr>
          </a:p>
        </p:txBody>
      </p:sp>
      <p:sp>
        <p:nvSpPr>
          <p:cNvPr id="77" name="Rectangle 24"/>
          <p:cNvSpPr>
            <a:spLocks noChangeArrowheads="1"/>
          </p:cNvSpPr>
          <p:nvPr/>
        </p:nvSpPr>
        <p:spPr bwMode="gray">
          <a:xfrm>
            <a:off x="5417622" y="293781"/>
            <a:ext cx="542925" cy="209550"/>
          </a:xfrm>
          <a:prstGeom prst="rect">
            <a:avLst/>
          </a:prstGeom>
          <a:solidFill>
            <a:schemeClr val="bg1">
              <a:lumMod val="85000"/>
            </a:schemeClr>
          </a:solidFill>
          <a:ln w="12700">
            <a:solidFill>
              <a:schemeClr val="tx2"/>
            </a:solidFill>
            <a:miter lim="800000"/>
          </a:ln>
        </p:spPr>
        <p:txBody>
          <a:bodyPr wrap="none" anchor="ctr"/>
          <a:lstStyle/>
          <a:p>
            <a:pPr algn="ctr" eaLnBrk="1" hangingPunct="1">
              <a:spcBef>
                <a:spcPct val="0"/>
              </a:spcBef>
              <a:buClrTx/>
              <a:buFont typeface="Wingdings" panose="05000000000000000000" pitchFamily="2" charset="2"/>
              <a:buNone/>
            </a:pPr>
            <a:r>
              <a:rPr lang="zh-CN" altLang="en-US" sz="1000" dirty="0">
                <a:latin typeface="微软雅黑" panose="020B0503020204020204" charset="-122"/>
                <a:ea typeface="微软雅黑" panose="020B0503020204020204" charset="-122"/>
              </a:rPr>
              <a:t>已完成</a:t>
            </a:r>
          </a:p>
        </p:txBody>
      </p:sp>
      <p:cxnSp>
        <p:nvCxnSpPr>
          <p:cNvPr id="118" name="直接连接符 117"/>
          <p:cNvCxnSpPr/>
          <p:nvPr/>
        </p:nvCxnSpPr>
        <p:spPr>
          <a:xfrm>
            <a:off x="595084" y="1201719"/>
            <a:ext cx="0" cy="216000"/>
          </a:xfrm>
          <a:prstGeom prst="line">
            <a:avLst/>
          </a:prstGeom>
          <a:noFill/>
          <a:ln w="31750" cap="flat" cmpd="sng" algn="ctr">
            <a:solidFill>
              <a:srgbClr val="4F81BD">
                <a:shade val="95000"/>
                <a:satMod val="105000"/>
              </a:srgbClr>
            </a:solidFill>
            <a:prstDash val="solid"/>
          </a:ln>
          <a:effectLst/>
        </p:spPr>
      </p:cxnSp>
      <p:cxnSp>
        <p:nvCxnSpPr>
          <p:cNvPr id="119" name="直接连接符 118"/>
          <p:cNvCxnSpPr/>
          <p:nvPr/>
        </p:nvCxnSpPr>
        <p:spPr>
          <a:xfrm>
            <a:off x="3180234" y="1201719"/>
            <a:ext cx="0" cy="216000"/>
          </a:xfrm>
          <a:prstGeom prst="line">
            <a:avLst/>
          </a:prstGeom>
          <a:noFill/>
          <a:ln w="31750" cap="flat" cmpd="sng" algn="ctr">
            <a:solidFill>
              <a:srgbClr val="4F81BD">
                <a:shade val="95000"/>
                <a:satMod val="105000"/>
              </a:srgbClr>
            </a:solidFill>
            <a:prstDash val="solid"/>
          </a:ln>
          <a:effectLst/>
        </p:spPr>
      </p:cxnSp>
      <p:cxnSp>
        <p:nvCxnSpPr>
          <p:cNvPr id="120" name="直接箭头连接符 119"/>
          <p:cNvCxnSpPr/>
          <p:nvPr/>
        </p:nvCxnSpPr>
        <p:spPr>
          <a:xfrm>
            <a:off x="578582" y="1273157"/>
            <a:ext cx="2610000" cy="0"/>
          </a:xfrm>
          <a:prstGeom prst="straightConnector1">
            <a:avLst/>
          </a:prstGeom>
          <a:noFill/>
          <a:ln w="31750" cap="flat" cmpd="sng" algn="ctr">
            <a:solidFill>
              <a:srgbClr val="4F81BD">
                <a:shade val="95000"/>
                <a:satMod val="105000"/>
              </a:srgbClr>
            </a:solidFill>
            <a:prstDash val="solid"/>
            <a:headEnd type="arrow"/>
            <a:tailEnd type="arrow"/>
          </a:ln>
          <a:effectLst/>
        </p:spPr>
      </p:cxnSp>
      <p:cxnSp>
        <p:nvCxnSpPr>
          <p:cNvPr id="122" name="直接箭头连接符 121"/>
          <p:cNvCxnSpPr/>
          <p:nvPr/>
        </p:nvCxnSpPr>
        <p:spPr>
          <a:xfrm>
            <a:off x="3158886" y="1273157"/>
            <a:ext cx="2844000" cy="0"/>
          </a:xfrm>
          <a:prstGeom prst="straightConnector1">
            <a:avLst/>
          </a:prstGeom>
          <a:noFill/>
          <a:ln w="31750" cap="flat" cmpd="sng" algn="ctr">
            <a:solidFill>
              <a:srgbClr val="4F81BD">
                <a:shade val="95000"/>
                <a:satMod val="105000"/>
              </a:srgbClr>
            </a:solidFill>
            <a:prstDash val="solid"/>
            <a:headEnd type="arrow"/>
            <a:tailEnd type="arrow"/>
          </a:ln>
          <a:effectLst/>
        </p:spPr>
      </p:cxnSp>
      <p:cxnSp>
        <p:nvCxnSpPr>
          <p:cNvPr id="123" name="直接连接符 122"/>
          <p:cNvCxnSpPr/>
          <p:nvPr/>
        </p:nvCxnSpPr>
        <p:spPr>
          <a:xfrm>
            <a:off x="8944794" y="1201719"/>
            <a:ext cx="0" cy="216000"/>
          </a:xfrm>
          <a:prstGeom prst="line">
            <a:avLst/>
          </a:prstGeom>
          <a:noFill/>
          <a:ln w="31750" cap="flat" cmpd="sng" algn="ctr">
            <a:solidFill>
              <a:srgbClr val="4F81BD">
                <a:shade val="95000"/>
                <a:satMod val="105000"/>
              </a:srgbClr>
            </a:solidFill>
            <a:prstDash val="solid"/>
          </a:ln>
          <a:effectLst/>
        </p:spPr>
      </p:cxnSp>
      <p:cxnSp>
        <p:nvCxnSpPr>
          <p:cNvPr id="124" name="直接箭头连接符 123"/>
          <p:cNvCxnSpPr/>
          <p:nvPr/>
        </p:nvCxnSpPr>
        <p:spPr>
          <a:xfrm>
            <a:off x="5987377" y="1273157"/>
            <a:ext cx="2952000" cy="0"/>
          </a:xfrm>
          <a:prstGeom prst="straightConnector1">
            <a:avLst/>
          </a:prstGeom>
          <a:noFill/>
          <a:ln w="31750" cap="flat" cmpd="sng" algn="ctr">
            <a:solidFill>
              <a:srgbClr val="4F81BD">
                <a:shade val="95000"/>
                <a:satMod val="105000"/>
              </a:srgbClr>
            </a:solidFill>
            <a:prstDash val="solid"/>
            <a:headEnd type="arrow"/>
            <a:tailEnd type="arrow"/>
          </a:ln>
          <a:effectLst/>
        </p:spPr>
      </p:cxnSp>
      <p:sp>
        <p:nvSpPr>
          <p:cNvPr id="125" name="TextBox 49"/>
          <p:cNvSpPr txBox="1">
            <a:spLocks noChangeArrowheads="1"/>
          </p:cNvSpPr>
          <p:nvPr/>
        </p:nvSpPr>
        <p:spPr bwMode="auto">
          <a:xfrm>
            <a:off x="1554806" y="974707"/>
            <a:ext cx="657552" cy="307777"/>
          </a:xfrm>
          <a:prstGeom prst="rect">
            <a:avLst/>
          </a:prstGeom>
          <a:noFill/>
          <a:ln w="9525">
            <a:noFill/>
            <a:miter lim="800000"/>
          </a:ln>
        </p:spPr>
        <p:txBody>
          <a:bodyPr wrap="none">
            <a:spAutoFit/>
          </a:bodyPr>
          <a:lstStyle/>
          <a:p>
            <a:r>
              <a:rPr lang="en-US" altLang="zh-CN" sz="1400" dirty="0">
                <a:latin typeface="Verdana" panose="020B0604030504040204" pitchFamily="34" charset="0"/>
                <a:ea typeface="微软雅黑" panose="020B0503020204020204" charset="-122"/>
              </a:rPr>
              <a:t>1</a:t>
            </a:r>
            <a:r>
              <a:rPr lang="zh-CN" altLang="en-US" sz="1400" dirty="0">
                <a:latin typeface="Verdana" panose="020B0604030504040204" pitchFamily="34" charset="0"/>
                <a:ea typeface="微软雅黑" panose="020B0503020204020204" charset="-122"/>
              </a:rPr>
              <a:t>个月</a:t>
            </a:r>
          </a:p>
        </p:txBody>
      </p:sp>
      <p:sp>
        <p:nvSpPr>
          <p:cNvPr id="126" name="TextBox 50"/>
          <p:cNvSpPr txBox="1">
            <a:spLocks noChangeArrowheads="1"/>
          </p:cNvSpPr>
          <p:nvPr/>
        </p:nvSpPr>
        <p:spPr bwMode="auto">
          <a:xfrm>
            <a:off x="4252110" y="969945"/>
            <a:ext cx="657552" cy="307777"/>
          </a:xfrm>
          <a:prstGeom prst="rect">
            <a:avLst/>
          </a:prstGeom>
          <a:noFill/>
          <a:ln w="9525">
            <a:noFill/>
            <a:miter lim="800000"/>
          </a:ln>
        </p:spPr>
        <p:txBody>
          <a:bodyPr wrap="none">
            <a:spAutoFit/>
          </a:bodyPr>
          <a:lstStyle/>
          <a:p>
            <a:r>
              <a:rPr lang="en-US" altLang="zh-CN" sz="1400" dirty="0">
                <a:latin typeface="Verdana" panose="020B0604030504040204" pitchFamily="34" charset="0"/>
                <a:ea typeface="微软雅黑" panose="020B0503020204020204" charset="-122"/>
              </a:rPr>
              <a:t>2</a:t>
            </a:r>
            <a:r>
              <a:rPr lang="zh-CN" altLang="en-US" sz="1400" dirty="0">
                <a:latin typeface="Verdana" panose="020B0604030504040204" pitchFamily="34" charset="0"/>
                <a:ea typeface="微软雅黑" panose="020B0503020204020204" charset="-122"/>
              </a:rPr>
              <a:t>个月</a:t>
            </a:r>
          </a:p>
        </p:txBody>
      </p:sp>
      <p:sp>
        <p:nvSpPr>
          <p:cNvPr id="127" name="TextBox 54"/>
          <p:cNvSpPr txBox="1">
            <a:spLocks noChangeArrowheads="1"/>
          </p:cNvSpPr>
          <p:nvPr/>
        </p:nvSpPr>
        <p:spPr bwMode="auto">
          <a:xfrm>
            <a:off x="7134601" y="974707"/>
            <a:ext cx="657552" cy="307777"/>
          </a:xfrm>
          <a:prstGeom prst="rect">
            <a:avLst/>
          </a:prstGeom>
          <a:noFill/>
          <a:ln w="9525">
            <a:noFill/>
            <a:miter lim="800000"/>
          </a:ln>
        </p:spPr>
        <p:txBody>
          <a:bodyPr wrap="none">
            <a:spAutoFit/>
          </a:bodyPr>
          <a:lstStyle/>
          <a:p>
            <a:r>
              <a:rPr lang="en-US" altLang="zh-CN" sz="1400" dirty="0">
                <a:latin typeface="Verdana" panose="020B0604030504040204" pitchFamily="34" charset="0"/>
                <a:ea typeface="微软雅黑" panose="020B0503020204020204" charset="-122"/>
              </a:rPr>
              <a:t>3</a:t>
            </a:r>
            <a:r>
              <a:rPr lang="zh-CN" altLang="en-US" sz="1400" dirty="0">
                <a:latin typeface="Verdana" panose="020B0604030504040204" pitchFamily="34" charset="0"/>
                <a:ea typeface="微软雅黑" panose="020B0503020204020204" charset="-122"/>
              </a:rPr>
              <a:t>个月</a:t>
            </a:r>
          </a:p>
        </p:txBody>
      </p:sp>
      <p:sp>
        <p:nvSpPr>
          <p:cNvPr id="128" name="AutoShape 20"/>
          <p:cNvSpPr>
            <a:spLocks noChangeArrowheads="1"/>
          </p:cNvSpPr>
          <p:nvPr/>
        </p:nvSpPr>
        <p:spPr bwMode="auto">
          <a:xfrm>
            <a:off x="5978280" y="1428736"/>
            <a:ext cx="2952000" cy="468000"/>
          </a:xfrm>
          <a:prstGeom prst="chevron">
            <a:avLst>
              <a:gd name="adj" fmla="val 22934"/>
            </a:avLst>
          </a:prstGeom>
          <a:solidFill>
            <a:schemeClr val="tx2">
              <a:lumMod val="60000"/>
              <a:lumOff val="40000"/>
            </a:schemeClr>
          </a:solidFill>
          <a:ln w="9525" algn="ctr">
            <a:noFill/>
            <a:miter lim="800000"/>
          </a:ln>
          <a:effectLst>
            <a:outerShdw dist="35921" dir="2700000" algn="ctr" rotWithShape="0">
              <a:srgbClr val="EEECE1"/>
            </a:outerShdw>
          </a:effectLst>
        </p:spPr>
        <p:txBody>
          <a:bodyPr wrap="none" anchor="ctr"/>
          <a:lstStyle/>
          <a:p>
            <a:pPr algn="ctr">
              <a:defRPr/>
            </a:pPr>
            <a:r>
              <a:rPr lang="zh-CN" altLang="en-US" sz="1600" b="1" kern="0" dirty="0">
                <a:solidFill>
                  <a:prstClr val="white"/>
                </a:solidFill>
                <a:latin typeface="微软雅黑" panose="020B0503020204020204" charset="-122"/>
                <a:ea typeface="微软雅黑" panose="020B0503020204020204" charset="-122"/>
              </a:rPr>
              <a:t>业务流程及系统蓝图设计</a:t>
            </a:r>
          </a:p>
        </p:txBody>
      </p:sp>
      <p:sp>
        <p:nvSpPr>
          <p:cNvPr id="130" name="AutoShape 20"/>
          <p:cNvSpPr>
            <a:spLocks noChangeArrowheads="1"/>
          </p:cNvSpPr>
          <p:nvPr/>
        </p:nvSpPr>
        <p:spPr bwMode="auto">
          <a:xfrm>
            <a:off x="3193329" y="1428736"/>
            <a:ext cx="2830097" cy="468000"/>
          </a:xfrm>
          <a:prstGeom prst="chevron">
            <a:avLst>
              <a:gd name="adj" fmla="val 22934"/>
            </a:avLst>
          </a:prstGeom>
          <a:solidFill>
            <a:schemeClr val="tx2">
              <a:lumMod val="60000"/>
              <a:lumOff val="40000"/>
            </a:schemeClr>
          </a:solidFill>
          <a:ln w="9525" algn="ctr">
            <a:noFill/>
            <a:miter lim="800000"/>
          </a:ln>
          <a:effectLst>
            <a:outerShdw dist="35921" dir="2700000" algn="ctr" rotWithShape="0">
              <a:srgbClr val="EEECE1"/>
            </a:outerShdw>
          </a:effectLst>
        </p:spPr>
        <p:txBody>
          <a:bodyPr wrap="none" anchor="ctr"/>
          <a:lstStyle/>
          <a:p>
            <a:pPr algn="ctr">
              <a:defRPr/>
            </a:pPr>
            <a:r>
              <a:rPr lang="zh-CN" altLang="en-US" sz="1600" b="1" kern="0" dirty="0">
                <a:solidFill>
                  <a:prstClr val="white"/>
                </a:solidFill>
                <a:latin typeface="微软雅黑" panose="020B0503020204020204" charset="-122"/>
                <a:ea typeface="微软雅黑" panose="020B0503020204020204" charset="-122"/>
              </a:rPr>
              <a:t>顶层设计</a:t>
            </a:r>
          </a:p>
        </p:txBody>
      </p:sp>
      <p:sp>
        <p:nvSpPr>
          <p:cNvPr id="131" name="AutoShape 19"/>
          <p:cNvSpPr>
            <a:spLocks noChangeArrowheads="1"/>
          </p:cNvSpPr>
          <p:nvPr/>
        </p:nvSpPr>
        <p:spPr bwMode="auto">
          <a:xfrm>
            <a:off x="595084" y="1428736"/>
            <a:ext cx="2643206" cy="468000"/>
          </a:xfrm>
          <a:prstGeom prst="homePlate">
            <a:avLst>
              <a:gd name="adj" fmla="val 21006"/>
            </a:avLst>
          </a:prstGeom>
          <a:solidFill>
            <a:schemeClr val="tx2">
              <a:lumMod val="60000"/>
              <a:lumOff val="40000"/>
            </a:schemeClr>
          </a:solidFill>
          <a:ln w="9525" algn="ctr">
            <a:noFill/>
            <a:miter lim="800000"/>
          </a:ln>
          <a:effectLst>
            <a:outerShdw dist="35921" dir="2700000" algn="ctr" rotWithShape="0">
              <a:srgbClr val="EEECE1"/>
            </a:outerShdw>
          </a:effectLst>
        </p:spPr>
        <p:txBody>
          <a:bodyPr wrap="none" anchor="ctr"/>
          <a:lstStyle/>
          <a:p>
            <a:pPr algn="ctr">
              <a:defRPr/>
            </a:pPr>
            <a:r>
              <a:rPr lang="zh-CN" altLang="en-US" sz="1600" b="1" kern="0" dirty="0">
                <a:solidFill>
                  <a:prstClr val="white"/>
                </a:solidFill>
                <a:latin typeface="微软雅黑" panose="020B0503020204020204" charset="-122"/>
                <a:ea typeface="微软雅黑" panose="020B0503020204020204" charset="-122"/>
              </a:rPr>
              <a:t>现状评估</a:t>
            </a:r>
          </a:p>
        </p:txBody>
      </p:sp>
      <p:cxnSp>
        <p:nvCxnSpPr>
          <p:cNvPr id="132" name="直接连接符 131"/>
          <p:cNvCxnSpPr/>
          <p:nvPr/>
        </p:nvCxnSpPr>
        <p:spPr>
          <a:xfrm>
            <a:off x="6000760" y="1214422"/>
            <a:ext cx="0" cy="216000"/>
          </a:xfrm>
          <a:prstGeom prst="line">
            <a:avLst/>
          </a:prstGeom>
          <a:noFill/>
          <a:ln w="31750" cap="flat" cmpd="sng" algn="ctr">
            <a:solidFill>
              <a:srgbClr val="4F81BD">
                <a:shade val="95000"/>
                <a:satMod val="105000"/>
              </a:srgbClr>
            </a:solidFill>
            <a:prstDash val="solid"/>
          </a:ln>
          <a:effectLst/>
        </p:spPr>
      </p:cxnSp>
      <p:sp>
        <p:nvSpPr>
          <p:cNvPr id="229" name="菱形 228"/>
          <p:cNvSpPr/>
          <p:nvPr/>
        </p:nvSpPr>
        <p:spPr bwMode="auto">
          <a:xfrm>
            <a:off x="3068862" y="3172276"/>
            <a:ext cx="180000" cy="288000"/>
          </a:xfrm>
          <a:prstGeom prst="diamond">
            <a:avLst/>
          </a:prstGeom>
          <a:solidFill>
            <a:schemeClr val="accent2"/>
          </a:solidFill>
          <a:ln w="28575" algn="ctr">
            <a:noFill/>
            <a:round/>
          </a:ln>
        </p:spPr>
        <p:txBody>
          <a:bodyPr anchor="ctr"/>
          <a:lstStyle/>
          <a:p>
            <a:pPr algn="ctr" eaLnBrk="0" fontAlgn="auto" hangingPunct="0">
              <a:lnSpc>
                <a:spcPct val="125000"/>
              </a:lnSpc>
              <a:spcBef>
                <a:spcPts val="0"/>
              </a:spcBef>
              <a:spcAft>
                <a:spcPts val="0"/>
              </a:spcAft>
              <a:defRPr/>
            </a:pPr>
            <a:endParaRPr lang="zh-CN" altLang="en-US" sz="1050" kern="0" dirty="0">
              <a:solidFill>
                <a:prstClr val="black"/>
              </a:solidFill>
              <a:latin typeface="Modern H Medium" pitchFamily="50" charset="-127"/>
              <a:ea typeface="Modern H Medium" pitchFamily="50" charset="-127"/>
              <a:sym typeface="Trebuchet MS" panose="020B0603020202020204" pitchFamily="34" charset="0"/>
            </a:endParaRPr>
          </a:p>
        </p:txBody>
      </p:sp>
      <p:sp>
        <p:nvSpPr>
          <p:cNvPr id="136" name="矩形 135"/>
          <p:cNvSpPr/>
          <p:nvPr/>
        </p:nvSpPr>
        <p:spPr bwMode="auto">
          <a:xfrm>
            <a:off x="647161" y="2786058"/>
            <a:ext cx="1442122" cy="428628"/>
          </a:xfrm>
          <a:prstGeom prst="rect">
            <a:avLst/>
          </a:prstGeom>
          <a:solidFill>
            <a:schemeClr val="bg1">
              <a:lumMod val="85000"/>
            </a:schemeClr>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latin typeface="微软雅黑" panose="020B0503020204020204" charset="-122"/>
                <a:ea typeface="微软雅黑" panose="020B0503020204020204" charset="-122"/>
              </a:rPr>
              <a:t>T2 </a:t>
            </a:r>
            <a:r>
              <a:rPr kumimoji="1" lang="zh-CN" altLang="en-US" sz="1100" dirty="0">
                <a:latin typeface="微软雅黑" panose="020B0503020204020204" charset="-122"/>
                <a:ea typeface="微软雅黑" panose="020B0503020204020204" charset="-122"/>
              </a:rPr>
              <a:t>梳理</a:t>
            </a:r>
            <a:r>
              <a:rPr kumimoji="1" lang="en-US" altLang="zh-CN" sz="1100" dirty="0">
                <a:latin typeface="微软雅黑" panose="020B0503020204020204" charset="-122"/>
                <a:ea typeface="微软雅黑" panose="020B0503020204020204" charset="-122"/>
              </a:rPr>
              <a:t>KPI</a:t>
            </a:r>
            <a:r>
              <a:rPr kumimoji="1" lang="zh-CN" altLang="en-US" sz="1100" dirty="0">
                <a:latin typeface="微软雅黑" panose="020B0503020204020204" charset="-122"/>
                <a:ea typeface="微软雅黑" panose="020B0503020204020204" charset="-122"/>
              </a:rPr>
              <a:t>体系</a:t>
            </a:r>
            <a:endParaRPr kumimoji="1" lang="zh-CN" altLang="en-US" sz="1100" b="0" dirty="0">
              <a:solidFill>
                <a:schemeClr val="tx1"/>
              </a:solidFill>
              <a:latin typeface="微软雅黑" panose="020B0503020204020204" charset="-122"/>
              <a:ea typeface="微软雅黑" panose="020B0503020204020204" charset="-122"/>
            </a:endParaRPr>
          </a:p>
        </p:txBody>
      </p:sp>
      <p:sp>
        <p:nvSpPr>
          <p:cNvPr id="137" name="矩形 136"/>
          <p:cNvSpPr/>
          <p:nvPr/>
        </p:nvSpPr>
        <p:spPr bwMode="auto">
          <a:xfrm>
            <a:off x="647161" y="2143116"/>
            <a:ext cx="1442122" cy="428628"/>
          </a:xfrm>
          <a:prstGeom prst="rect">
            <a:avLst/>
          </a:prstGeom>
          <a:solidFill>
            <a:schemeClr val="bg1">
              <a:lumMod val="85000"/>
            </a:schemeClr>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latin typeface="微软雅黑" panose="020B0503020204020204" charset="-122"/>
                <a:ea typeface="微软雅黑" panose="020B0503020204020204" charset="-122"/>
              </a:rPr>
              <a:t>T1 </a:t>
            </a:r>
            <a:r>
              <a:rPr kumimoji="1" lang="zh-CN" altLang="en-US" sz="1100" dirty="0">
                <a:latin typeface="微软雅黑" panose="020B0503020204020204" charset="-122"/>
                <a:ea typeface="微软雅黑" panose="020B0503020204020204" charset="-122"/>
              </a:rPr>
              <a:t>开展业务访谈</a:t>
            </a:r>
          </a:p>
        </p:txBody>
      </p:sp>
      <p:sp>
        <p:nvSpPr>
          <p:cNvPr id="138" name="矩形 137"/>
          <p:cNvSpPr/>
          <p:nvPr/>
        </p:nvSpPr>
        <p:spPr bwMode="auto">
          <a:xfrm>
            <a:off x="647050" y="5242846"/>
            <a:ext cx="1443085" cy="428628"/>
          </a:xfrm>
          <a:prstGeom prst="rect">
            <a:avLst/>
          </a:prstGeom>
          <a:solidFill>
            <a:schemeClr val="bg1">
              <a:lumMod val="85000"/>
            </a:schemeClr>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latin typeface="微软雅黑" panose="020B0503020204020204" charset="-122"/>
                <a:ea typeface="微软雅黑" panose="020B0503020204020204" charset="-122"/>
              </a:rPr>
              <a:t>T4 </a:t>
            </a:r>
            <a:r>
              <a:rPr kumimoji="1" lang="zh-CN" altLang="en-US" sz="1100" dirty="0">
                <a:latin typeface="微软雅黑" panose="020B0503020204020204" charset="-122"/>
                <a:ea typeface="微软雅黑" panose="020B0503020204020204" charset="-122"/>
              </a:rPr>
              <a:t>梳理流程框架</a:t>
            </a:r>
            <a:r>
              <a:rPr kumimoji="1" lang="en-US" altLang="zh-CN" sz="1100" dirty="0">
                <a:latin typeface="微软雅黑" panose="020B0503020204020204" charset="-122"/>
                <a:ea typeface="微软雅黑" panose="020B0503020204020204" charset="-122"/>
              </a:rPr>
              <a:t>1.0</a:t>
            </a:r>
            <a:endParaRPr kumimoji="1" lang="zh-CN" altLang="en-US" sz="1100" b="0" dirty="0">
              <a:solidFill>
                <a:schemeClr val="tx1"/>
              </a:solidFill>
              <a:latin typeface="微软雅黑" panose="020B0503020204020204" charset="-122"/>
              <a:ea typeface="微软雅黑" panose="020B0503020204020204" charset="-122"/>
            </a:endParaRPr>
          </a:p>
        </p:txBody>
      </p:sp>
      <p:sp>
        <p:nvSpPr>
          <p:cNvPr id="139" name="矩形 138"/>
          <p:cNvSpPr/>
          <p:nvPr/>
        </p:nvSpPr>
        <p:spPr bwMode="auto">
          <a:xfrm>
            <a:off x="647161" y="3500438"/>
            <a:ext cx="1442122" cy="428628"/>
          </a:xfrm>
          <a:prstGeom prst="rect">
            <a:avLst/>
          </a:prstGeom>
          <a:solidFill>
            <a:schemeClr val="bg1">
              <a:lumMod val="85000"/>
            </a:schemeClr>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b="0" dirty="0">
                <a:solidFill>
                  <a:schemeClr val="tx1"/>
                </a:solidFill>
                <a:latin typeface="微软雅黑" panose="020B0503020204020204" charset="-122"/>
                <a:ea typeface="微软雅黑" panose="020B0503020204020204" charset="-122"/>
              </a:rPr>
              <a:t>T3 </a:t>
            </a:r>
            <a:r>
              <a:rPr kumimoji="1" lang="zh-CN" altLang="en-US" sz="1100" b="0" dirty="0">
                <a:solidFill>
                  <a:schemeClr val="tx1"/>
                </a:solidFill>
                <a:latin typeface="微软雅黑" panose="020B0503020204020204" charset="-122"/>
                <a:ea typeface="微软雅黑" panose="020B0503020204020204" charset="-122"/>
              </a:rPr>
              <a:t>收集资料与数据</a:t>
            </a:r>
          </a:p>
        </p:txBody>
      </p:sp>
      <p:sp>
        <p:nvSpPr>
          <p:cNvPr id="140" name="矩形 139"/>
          <p:cNvSpPr/>
          <p:nvPr/>
        </p:nvSpPr>
        <p:spPr bwMode="auto">
          <a:xfrm>
            <a:off x="1500166" y="4071942"/>
            <a:ext cx="577342" cy="644400"/>
          </a:xfrm>
          <a:prstGeom prst="rect">
            <a:avLst/>
          </a:prstGeom>
          <a:solidFill>
            <a:schemeClr val="bg1">
              <a:lumMod val="85000"/>
            </a:schemeClr>
          </a:solidFill>
          <a:ln w="9525" cmpd="sng">
            <a:solidFill>
              <a:schemeClr val="tx1"/>
            </a:solidFill>
            <a:miter lim="800000"/>
          </a:ln>
        </p:spPr>
        <p:txBody>
          <a:bodyPr rot="0" spcFirstLastPara="0" vertOverflow="overflow" horzOverflow="overflow" vert="horz" wrap="square" lIns="0" tIns="36000" rIns="0" bIns="36000" numCol="1" spcCol="0" rtlCol="0" fromWordArt="0" anchor="ctr" anchorCtr="0" forceAA="0" compatLnSpc="1">
            <a:noAutofit/>
          </a:bodyPr>
          <a:lstStyle/>
          <a:p>
            <a:pPr algn="ctr">
              <a:lnSpc>
                <a:spcPct val="110000"/>
              </a:lnSpc>
            </a:pPr>
            <a:r>
              <a:rPr kumimoji="1" lang="en-US" altLang="zh-CN" sz="1100" b="0" dirty="0">
                <a:solidFill>
                  <a:schemeClr val="tx1"/>
                </a:solidFill>
                <a:latin typeface="微软雅黑" panose="020B0503020204020204" charset="-122"/>
                <a:ea typeface="微软雅黑" panose="020B0503020204020204" charset="-122"/>
              </a:rPr>
              <a:t>T5 </a:t>
            </a:r>
            <a:r>
              <a:rPr kumimoji="1" lang="zh-CN" altLang="en-US" sz="1100" b="0" dirty="0">
                <a:solidFill>
                  <a:schemeClr val="tx1"/>
                </a:solidFill>
                <a:latin typeface="微软雅黑" panose="020B0503020204020204" charset="-122"/>
                <a:ea typeface="微软雅黑" panose="020B0503020204020204" charset="-122"/>
              </a:rPr>
              <a:t>整理成熟度</a:t>
            </a:r>
            <a:endParaRPr kumimoji="1" lang="en-US" altLang="zh-CN" sz="1100" b="0" dirty="0">
              <a:solidFill>
                <a:schemeClr val="tx1"/>
              </a:solidFill>
              <a:latin typeface="微软雅黑" panose="020B0503020204020204" charset="-122"/>
              <a:ea typeface="微软雅黑" panose="020B0503020204020204" charset="-122"/>
            </a:endParaRPr>
          </a:p>
          <a:p>
            <a:pPr algn="ctr">
              <a:lnSpc>
                <a:spcPct val="110000"/>
              </a:lnSpc>
            </a:pPr>
            <a:r>
              <a:rPr kumimoji="1" lang="zh-CN" altLang="en-US" sz="1100" b="0" dirty="0">
                <a:solidFill>
                  <a:schemeClr val="tx1"/>
                </a:solidFill>
                <a:latin typeface="微软雅黑" panose="020B0503020204020204" charset="-122"/>
                <a:ea typeface="微软雅黑" panose="020B0503020204020204" charset="-122"/>
              </a:rPr>
              <a:t>模型</a:t>
            </a:r>
          </a:p>
        </p:txBody>
      </p:sp>
      <p:sp>
        <p:nvSpPr>
          <p:cNvPr id="143" name="矩形 142"/>
          <p:cNvSpPr/>
          <p:nvPr/>
        </p:nvSpPr>
        <p:spPr bwMode="auto">
          <a:xfrm>
            <a:off x="2304873" y="2689220"/>
            <a:ext cx="589959" cy="642942"/>
          </a:xfrm>
          <a:prstGeom prst="rect">
            <a:avLst/>
          </a:prstGeom>
          <a:solidFill>
            <a:srgbClr val="FFC000"/>
          </a:solidFill>
          <a:ln w="9525" cmpd="sng">
            <a:solidFill>
              <a:schemeClr val="tx1"/>
            </a:solidFill>
            <a:miter lim="800000"/>
          </a:ln>
        </p:spPr>
        <p:txBody>
          <a:bodyPr rot="0" spcFirstLastPara="0" vertOverflow="overflow" horzOverflow="overflow" vert="horz" wrap="square" lIns="0" tIns="36000" rIns="0" bIns="36000" numCol="1" spcCol="0" rtlCol="0" fromWordArt="0" anchor="ctr" anchorCtr="0" forceAA="0" compatLnSpc="1">
            <a:noAutofit/>
          </a:bodyPr>
          <a:lstStyle/>
          <a:p>
            <a:pPr algn="ctr">
              <a:lnSpc>
                <a:spcPct val="110000"/>
              </a:lnSpc>
            </a:pPr>
            <a:r>
              <a:rPr kumimoji="1" lang="en-US" altLang="zh-CN" sz="1100" dirty="0">
                <a:latin typeface="微软雅黑" panose="020B0503020204020204" charset="-122"/>
                <a:ea typeface="微软雅黑" panose="020B0503020204020204" charset="-122"/>
              </a:rPr>
              <a:t>T7 </a:t>
            </a:r>
            <a:r>
              <a:rPr kumimoji="1" lang="zh-CN" altLang="en-US" sz="1100" dirty="0">
                <a:latin typeface="微软雅黑" panose="020B0503020204020204" charset="-122"/>
                <a:ea typeface="微软雅黑" panose="020B0503020204020204" charset="-122"/>
              </a:rPr>
              <a:t>现状分析及改进方向</a:t>
            </a:r>
          </a:p>
        </p:txBody>
      </p:sp>
      <p:sp>
        <p:nvSpPr>
          <p:cNvPr id="144" name="矩形 143"/>
          <p:cNvSpPr/>
          <p:nvPr/>
        </p:nvSpPr>
        <p:spPr bwMode="auto">
          <a:xfrm>
            <a:off x="2304873" y="4071942"/>
            <a:ext cx="590400" cy="644400"/>
          </a:xfrm>
          <a:prstGeom prst="rect">
            <a:avLst/>
          </a:prstGeom>
          <a:solidFill>
            <a:schemeClr val="bg1">
              <a:lumMod val="85000"/>
            </a:schemeClr>
          </a:solidFill>
          <a:ln w="9525" cmpd="sng">
            <a:solidFill>
              <a:schemeClr val="tx1"/>
            </a:solidFill>
            <a:miter lim="800000"/>
          </a:ln>
        </p:spPr>
        <p:txBody>
          <a:bodyPr rot="0" spcFirstLastPara="0" vertOverflow="overflow" horzOverflow="overflow" vert="horz" wrap="square" lIns="0" tIns="36000" rIns="0" bIns="36000" numCol="1" spcCol="0" rtlCol="0" fromWordArt="0" anchor="ctr" anchorCtr="0" forceAA="0" compatLnSpc="1">
            <a:noAutofit/>
          </a:bodyPr>
          <a:lstStyle/>
          <a:p>
            <a:pPr algn="ctr">
              <a:lnSpc>
                <a:spcPct val="110000"/>
              </a:lnSpc>
            </a:pPr>
            <a:r>
              <a:rPr kumimoji="1" lang="en-US" altLang="zh-CN" sz="1100" dirty="0">
                <a:latin typeface="微软雅黑" panose="020B0503020204020204" charset="-122"/>
                <a:ea typeface="微软雅黑" panose="020B0503020204020204" charset="-122"/>
              </a:rPr>
              <a:t>T6 </a:t>
            </a:r>
            <a:r>
              <a:rPr kumimoji="1" lang="zh-CN" altLang="en-US" sz="1100" dirty="0">
                <a:latin typeface="微软雅黑" panose="020B0503020204020204" charset="-122"/>
                <a:ea typeface="微软雅黑" panose="020B0503020204020204" charset="-122"/>
              </a:rPr>
              <a:t>成熟度评价</a:t>
            </a:r>
          </a:p>
        </p:txBody>
      </p:sp>
      <p:cxnSp>
        <p:nvCxnSpPr>
          <p:cNvPr id="145" name="肘形连接符 144"/>
          <p:cNvCxnSpPr>
            <a:stCxn id="136" idx="2"/>
            <a:endCxn id="139" idx="0"/>
          </p:cNvCxnSpPr>
          <p:nvPr/>
        </p:nvCxnSpPr>
        <p:spPr bwMode="auto">
          <a:xfrm rot="5400000">
            <a:off x="1225346" y="3357627"/>
            <a:ext cx="285752" cy="1457"/>
          </a:xfrm>
          <a:prstGeom prst="straightConnector1">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151" name="肘形连接符 150"/>
          <p:cNvCxnSpPr>
            <a:stCxn id="139" idx="3"/>
            <a:endCxn id="143" idx="1"/>
          </p:cNvCxnSpPr>
          <p:nvPr/>
        </p:nvCxnSpPr>
        <p:spPr bwMode="auto">
          <a:xfrm flipV="1">
            <a:off x="2089283" y="3010691"/>
            <a:ext cx="215590" cy="704061"/>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154" name="肘形连接符 153"/>
          <p:cNvCxnSpPr>
            <a:stCxn id="137" idx="3"/>
            <a:endCxn id="143" idx="1"/>
          </p:cNvCxnSpPr>
          <p:nvPr/>
        </p:nvCxnSpPr>
        <p:spPr bwMode="auto">
          <a:xfrm>
            <a:off x="2089283" y="2357430"/>
            <a:ext cx="215590" cy="653261"/>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160" name="肘形连接符 156"/>
          <p:cNvCxnSpPr>
            <a:stCxn id="144" idx="0"/>
            <a:endCxn id="143" idx="2"/>
          </p:cNvCxnSpPr>
          <p:nvPr/>
        </p:nvCxnSpPr>
        <p:spPr bwMode="auto">
          <a:xfrm rot="16200000" flipV="1">
            <a:off x="2230073" y="3701942"/>
            <a:ext cx="739780" cy="220"/>
          </a:xfrm>
          <a:prstGeom prst="straightConnector1">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195" name="肘形连接符 194"/>
          <p:cNvCxnSpPr>
            <a:stCxn id="140" idx="3"/>
            <a:endCxn id="144" idx="1"/>
          </p:cNvCxnSpPr>
          <p:nvPr/>
        </p:nvCxnSpPr>
        <p:spPr bwMode="auto">
          <a:xfrm>
            <a:off x="2077508" y="4394142"/>
            <a:ext cx="227365" cy="1588"/>
          </a:xfrm>
          <a:prstGeom prst="straightConnector1">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230" name="肘形连接符 229"/>
          <p:cNvCxnSpPr>
            <a:stCxn id="143" idx="3"/>
            <a:endCxn id="229" idx="1"/>
          </p:cNvCxnSpPr>
          <p:nvPr/>
        </p:nvCxnSpPr>
        <p:spPr bwMode="auto">
          <a:xfrm>
            <a:off x="2894832" y="3010691"/>
            <a:ext cx="174030" cy="305585"/>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sp>
        <p:nvSpPr>
          <p:cNvPr id="237" name="TextBox 236"/>
          <p:cNvSpPr txBox="1"/>
          <p:nvPr/>
        </p:nvSpPr>
        <p:spPr bwMode="auto">
          <a:xfrm>
            <a:off x="2831406" y="3458029"/>
            <a:ext cx="642942" cy="553998"/>
          </a:xfrm>
          <a:prstGeom prst="rect">
            <a:avLst/>
          </a:prstGeom>
          <a:noFill/>
          <a:ln>
            <a:noFill/>
          </a:ln>
        </p:spPr>
        <p:txBody>
          <a:bodyPr wrap="square" rtlCol="0">
            <a:spAutoFit/>
          </a:bodyPr>
          <a:lstStyle/>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M1</a:t>
            </a:r>
          </a:p>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3</a:t>
            </a:r>
            <a:r>
              <a:rPr kumimoji="1" lang="zh-CN" altLang="en-US" sz="1000" b="1" i="1" dirty="0">
                <a:solidFill>
                  <a:srgbClr val="C00000"/>
                </a:solidFill>
                <a:latin typeface="微软雅黑" panose="020B0503020204020204" charset="-122"/>
                <a:ea typeface="微软雅黑" panose="020B0503020204020204" charset="-122"/>
                <a:cs typeface="微软雅黑" panose="020B0503020204020204" charset="-122"/>
              </a:rPr>
              <a:t>月底</a:t>
            </a: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a:t>
            </a:r>
          </a:p>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4</a:t>
            </a:r>
            <a:r>
              <a:rPr kumimoji="1" lang="zh-CN" altLang="en-US" sz="1000" b="1" i="1" dirty="0">
                <a:solidFill>
                  <a:srgbClr val="C00000"/>
                </a:solidFill>
                <a:latin typeface="微软雅黑" panose="020B0503020204020204" charset="-122"/>
                <a:ea typeface="微软雅黑" panose="020B0503020204020204" charset="-122"/>
                <a:cs typeface="微软雅黑" panose="020B0503020204020204" charset="-122"/>
              </a:rPr>
              <a:t>月初</a:t>
            </a:r>
          </a:p>
        </p:txBody>
      </p:sp>
      <p:sp>
        <p:nvSpPr>
          <p:cNvPr id="238" name="矩形 237"/>
          <p:cNvSpPr/>
          <p:nvPr/>
        </p:nvSpPr>
        <p:spPr bwMode="auto">
          <a:xfrm>
            <a:off x="3444638" y="2143116"/>
            <a:ext cx="857256" cy="714380"/>
          </a:xfrm>
          <a:prstGeom prst="rect">
            <a:avLst/>
          </a:prstGeom>
          <a:solidFill>
            <a:schemeClr val="bg1"/>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spcBef>
                <a:spcPts val="400"/>
              </a:spcBef>
            </a:pPr>
            <a:r>
              <a:rPr kumimoji="1" lang="en-US" altLang="zh-CN" sz="1100" dirty="0">
                <a:latin typeface="微软雅黑" panose="020B0503020204020204" charset="-122"/>
                <a:ea typeface="微软雅黑" panose="020B0503020204020204" charset="-122"/>
              </a:rPr>
              <a:t>T8 </a:t>
            </a:r>
            <a:r>
              <a:rPr kumimoji="1" lang="zh-CN" altLang="en-US" sz="1100" dirty="0">
                <a:latin typeface="微软雅黑" panose="020B0503020204020204" charset="-122"/>
                <a:ea typeface="微软雅黑" panose="020B0503020204020204" charset="-122"/>
              </a:rPr>
              <a:t>计划模式共识</a:t>
            </a:r>
            <a:endParaRPr kumimoji="1" lang="zh-CN" altLang="en-US" sz="1000" i="1" dirty="0">
              <a:solidFill>
                <a:srgbClr val="0070C0"/>
              </a:solidFill>
              <a:latin typeface="微软雅黑" panose="020B0503020204020204" charset="-122"/>
              <a:ea typeface="微软雅黑" panose="020B0503020204020204" charset="-122"/>
            </a:endParaRPr>
          </a:p>
        </p:txBody>
      </p:sp>
      <p:cxnSp>
        <p:nvCxnSpPr>
          <p:cNvPr id="239" name="肘形连接符 238"/>
          <p:cNvCxnSpPr>
            <a:stCxn id="229" idx="3"/>
            <a:endCxn id="238" idx="1"/>
          </p:cNvCxnSpPr>
          <p:nvPr/>
        </p:nvCxnSpPr>
        <p:spPr bwMode="auto">
          <a:xfrm flipV="1">
            <a:off x="3248862" y="2500306"/>
            <a:ext cx="195776" cy="815970"/>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sp>
        <p:nvSpPr>
          <p:cNvPr id="246" name="矩形 245"/>
          <p:cNvSpPr/>
          <p:nvPr/>
        </p:nvSpPr>
        <p:spPr bwMode="auto">
          <a:xfrm>
            <a:off x="3786195" y="5242846"/>
            <a:ext cx="1862709" cy="428628"/>
          </a:xfrm>
          <a:prstGeom prst="rect">
            <a:avLst/>
          </a:prstGeom>
          <a:solidFill>
            <a:schemeClr val="bg1"/>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dirty="0">
                <a:latin typeface="微软雅黑" panose="020B0503020204020204" charset="-122"/>
                <a:ea typeface="微软雅黑" panose="020B0503020204020204" charset="-122"/>
              </a:rPr>
              <a:t>T10 </a:t>
            </a:r>
            <a:r>
              <a:rPr kumimoji="1" lang="zh-CN" altLang="en-US" sz="1100" dirty="0">
                <a:latin typeface="微软雅黑" panose="020B0503020204020204" charset="-122"/>
                <a:ea typeface="微软雅黑" panose="020B0503020204020204" charset="-122"/>
              </a:rPr>
              <a:t>调整流程框架</a:t>
            </a:r>
            <a:r>
              <a:rPr kumimoji="1" lang="en-US" altLang="zh-CN" sz="1100" dirty="0">
                <a:latin typeface="微软雅黑" panose="020B0503020204020204" charset="-122"/>
                <a:ea typeface="微软雅黑" panose="020B0503020204020204" charset="-122"/>
              </a:rPr>
              <a:t>2.0</a:t>
            </a:r>
            <a:endParaRPr kumimoji="1" lang="zh-CN" altLang="en-US" sz="1100" dirty="0">
              <a:latin typeface="微软雅黑" panose="020B0503020204020204" charset="-122"/>
              <a:ea typeface="微软雅黑" panose="020B0503020204020204" charset="-122"/>
            </a:endParaRPr>
          </a:p>
        </p:txBody>
      </p:sp>
      <p:sp>
        <p:nvSpPr>
          <p:cNvPr id="247" name="矩形 246"/>
          <p:cNvSpPr/>
          <p:nvPr/>
        </p:nvSpPr>
        <p:spPr bwMode="auto">
          <a:xfrm>
            <a:off x="4000496" y="3143248"/>
            <a:ext cx="1434476" cy="1714512"/>
          </a:xfrm>
          <a:prstGeom prst="rect">
            <a:avLst/>
          </a:prstGeom>
          <a:solidFill>
            <a:schemeClr val="bg1"/>
          </a:solidFill>
          <a:ln w="9525" cmpd="sng">
            <a:solidFill>
              <a:schemeClr val="tx1"/>
            </a:solidFill>
            <a:miter lim="800000"/>
          </a:ln>
        </p:spPr>
        <p:txBody>
          <a:bodyPr rot="0" spcFirstLastPara="0" vertOverflow="overflow" horzOverflow="overflow" vert="horz" wrap="square" lIns="90000" tIns="36000" rIns="90000" bIns="36000" numCol="1" spcCol="0" rtlCol="0" fromWordArt="0" anchor="ctr" anchorCtr="0" forceAA="0" compatLnSpc="1">
            <a:noAutofit/>
          </a:bodyPr>
          <a:lstStyle/>
          <a:p>
            <a:pPr algn="ctr">
              <a:lnSpc>
                <a:spcPct val="110000"/>
              </a:lnSpc>
              <a:spcBef>
                <a:spcPts val="400"/>
              </a:spcBef>
            </a:pPr>
            <a:r>
              <a:rPr kumimoji="1" lang="en-US" altLang="zh-CN" sz="1100" dirty="0">
                <a:latin typeface="微软雅黑" panose="020B0503020204020204" charset="-122"/>
                <a:ea typeface="微软雅黑" panose="020B0503020204020204" charset="-122"/>
              </a:rPr>
              <a:t>T9 </a:t>
            </a:r>
            <a:r>
              <a:rPr kumimoji="1" lang="zh-CN" altLang="en-US" sz="1100" dirty="0">
                <a:latin typeface="微软雅黑" panose="020B0503020204020204" charset="-122"/>
                <a:ea typeface="微软雅黑" panose="020B0503020204020204" charset="-122"/>
              </a:rPr>
              <a:t>业务方案设计</a:t>
            </a:r>
          </a:p>
          <a:p>
            <a:pPr>
              <a:lnSpc>
                <a:spcPct val="110000"/>
              </a:lnSpc>
              <a:spcBef>
                <a:spcPts val="400"/>
              </a:spcBef>
              <a:buFont typeface="Arial" panose="020B0604020202020204" pitchFamily="34" charset="0"/>
              <a:buChar char="•"/>
            </a:pPr>
            <a:endParaRPr kumimoji="1" lang="en-US" altLang="zh-CN" sz="1000" i="1" dirty="0">
              <a:solidFill>
                <a:srgbClr val="0070C0"/>
              </a:solidFill>
              <a:latin typeface="微软雅黑" panose="020B0503020204020204" charset="-122"/>
              <a:ea typeface="微软雅黑" panose="020B0503020204020204" charset="-122"/>
            </a:endParaRPr>
          </a:p>
          <a:p>
            <a:pPr>
              <a:lnSpc>
                <a:spcPct val="110000"/>
              </a:lnSpc>
              <a:spcBef>
                <a:spcPts val="400"/>
              </a:spcBef>
              <a:buFont typeface="Arial" panose="020B0604020202020204" pitchFamily="34" charset="0"/>
              <a:buChar char="•"/>
            </a:pPr>
            <a:r>
              <a:rPr kumimoji="1" lang="zh-CN" altLang="en-US" sz="1000" i="1" dirty="0">
                <a:latin typeface="微软雅黑" panose="020B0503020204020204" charset="-122"/>
                <a:ea typeface="微软雅黑" panose="020B0503020204020204" charset="-122"/>
              </a:rPr>
              <a:t>需求管理</a:t>
            </a:r>
            <a:endParaRPr kumimoji="1" lang="en-US" altLang="zh-CN" sz="1000" i="1" dirty="0">
              <a:latin typeface="微软雅黑" panose="020B0503020204020204" charset="-122"/>
              <a:ea typeface="微软雅黑" panose="020B0503020204020204" charset="-122"/>
            </a:endParaRPr>
          </a:p>
          <a:p>
            <a:pPr>
              <a:lnSpc>
                <a:spcPct val="110000"/>
              </a:lnSpc>
              <a:spcBef>
                <a:spcPts val="400"/>
              </a:spcBef>
              <a:buFont typeface="Arial" panose="020B0604020202020204" pitchFamily="34" charset="0"/>
              <a:buChar char="•"/>
            </a:pPr>
            <a:r>
              <a:rPr kumimoji="1" lang="zh-CN" altLang="en-US" sz="1000" i="1" dirty="0">
                <a:latin typeface="微软雅黑" panose="020B0503020204020204" charset="-122"/>
                <a:ea typeface="微软雅黑" panose="020B0503020204020204" charset="-122"/>
              </a:rPr>
              <a:t>订单管理</a:t>
            </a:r>
            <a:endParaRPr kumimoji="1" lang="en-US" altLang="zh-CN" sz="1000" i="1" dirty="0">
              <a:latin typeface="微软雅黑" panose="020B0503020204020204" charset="-122"/>
              <a:ea typeface="微软雅黑" panose="020B0503020204020204" charset="-122"/>
            </a:endParaRPr>
          </a:p>
          <a:p>
            <a:pPr>
              <a:lnSpc>
                <a:spcPct val="110000"/>
              </a:lnSpc>
              <a:spcBef>
                <a:spcPts val="400"/>
              </a:spcBef>
              <a:buFont typeface="Arial" panose="020B0604020202020204" pitchFamily="34" charset="0"/>
              <a:buChar char="•"/>
            </a:pPr>
            <a:r>
              <a:rPr kumimoji="1" lang="zh-CN" altLang="en-US" sz="1000" i="1" dirty="0">
                <a:latin typeface="微软雅黑" panose="020B0503020204020204" charset="-122"/>
                <a:ea typeface="微软雅黑" panose="020B0503020204020204" charset="-122"/>
              </a:rPr>
              <a:t>产销平衡</a:t>
            </a:r>
            <a:endParaRPr kumimoji="1" lang="en-US" altLang="zh-CN" sz="1000" i="1" dirty="0">
              <a:latin typeface="微软雅黑" panose="020B0503020204020204" charset="-122"/>
              <a:ea typeface="微软雅黑" panose="020B0503020204020204" charset="-122"/>
            </a:endParaRPr>
          </a:p>
          <a:p>
            <a:pPr>
              <a:lnSpc>
                <a:spcPct val="110000"/>
              </a:lnSpc>
              <a:spcBef>
                <a:spcPts val="400"/>
              </a:spcBef>
              <a:buFont typeface="Arial" panose="020B0604020202020204" pitchFamily="34" charset="0"/>
              <a:buChar char="•"/>
            </a:pPr>
            <a:r>
              <a:rPr kumimoji="1" lang="zh-CN" altLang="en-US" sz="1000" i="1" dirty="0">
                <a:latin typeface="微软雅黑" panose="020B0503020204020204" charset="-122"/>
                <a:ea typeface="微软雅黑" panose="020B0503020204020204" charset="-122"/>
              </a:rPr>
              <a:t>生产计划与执行</a:t>
            </a:r>
            <a:endParaRPr kumimoji="1" lang="en-US" altLang="zh-CN" sz="1000" i="1" dirty="0">
              <a:latin typeface="微软雅黑" panose="020B0503020204020204" charset="-122"/>
              <a:ea typeface="微软雅黑" panose="020B0503020204020204" charset="-122"/>
            </a:endParaRPr>
          </a:p>
          <a:p>
            <a:pPr>
              <a:lnSpc>
                <a:spcPct val="110000"/>
              </a:lnSpc>
              <a:spcBef>
                <a:spcPts val="400"/>
              </a:spcBef>
              <a:buFont typeface="Arial" panose="020B0604020202020204" pitchFamily="34" charset="0"/>
              <a:buChar char="•"/>
            </a:pPr>
            <a:r>
              <a:rPr kumimoji="1" lang="zh-CN" altLang="en-US" sz="1000" i="1" dirty="0">
                <a:latin typeface="微软雅黑" panose="020B0503020204020204" charset="-122"/>
                <a:ea typeface="微软雅黑" panose="020B0503020204020204" charset="-122"/>
              </a:rPr>
              <a:t>零部件计划与交付</a:t>
            </a:r>
            <a:endParaRPr kumimoji="1" lang="zh-CN" altLang="en-US" sz="1100" dirty="0">
              <a:latin typeface="微软雅黑" panose="020B0503020204020204" charset="-122"/>
              <a:ea typeface="微软雅黑" panose="020B0503020204020204" charset="-122"/>
            </a:endParaRPr>
          </a:p>
        </p:txBody>
      </p:sp>
      <p:cxnSp>
        <p:nvCxnSpPr>
          <p:cNvPr id="248" name="肘形连接符 247"/>
          <p:cNvCxnSpPr>
            <a:stCxn id="238" idx="3"/>
            <a:endCxn id="247" idx="0"/>
          </p:cNvCxnSpPr>
          <p:nvPr/>
        </p:nvCxnSpPr>
        <p:spPr bwMode="auto">
          <a:xfrm>
            <a:off x="4301894" y="2500306"/>
            <a:ext cx="415840" cy="642942"/>
          </a:xfrm>
          <a:prstGeom prst="bentConnector2">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251" name="肘形连接符 247"/>
          <p:cNvCxnSpPr>
            <a:stCxn id="247" idx="2"/>
            <a:endCxn id="246" idx="0"/>
          </p:cNvCxnSpPr>
          <p:nvPr/>
        </p:nvCxnSpPr>
        <p:spPr bwMode="auto">
          <a:xfrm rot="5400000">
            <a:off x="4525099" y="5050211"/>
            <a:ext cx="385086" cy="184"/>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256" name="肘形连接符 156"/>
          <p:cNvCxnSpPr>
            <a:stCxn id="138" idx="3"/>
            <a:endCxn id="246" idx="1"/>
          </p:cNvCxnSpPr>
          <p:nvPr/>
        </p:nvCxnSpPr>
        <p:spPr bwMode="auto">
          <a:xfrm>
            <a:off x="2090135" y="5457160"/>
            <a:ext cx="1696060" cy="1588"/>
          </a:xfrm>
          <a:prstGeom prst="straightConnector1">
            <a:avLst/>
          </a:prstGeom>
          <a:solidFill>
            <a:schemeClr val="accent1"/>
          </a:solidFill>
          <a:ln w="19050" cap="flat" cmpd="sng" algn="ctr">
            <a:solidFill>
              <a:schemeClr val="tx2">
                <a:lumMod val="75000"/>
              </a:schemeClr>
            </a:solidFill>
            <a:prstDash val="solid"/>
            <a:round/>
            <a:headEnd type="none" w="med" len="med"/>
            <a:tailEnd type="arrow"/>
          </a:ln>
          <a:effectLst/>
        </p:spPr>
      </p:cxnSp>
      <p:sp>
        <p:nvSpPr>
          <p:cNvPr id="259" name="菱形 258"/>
          <p:cNvSpPr/>
          <p:nvPr/>
        </p:nvSpPr>
        <p:spPr bwMode="auto">
          <a:xfrm>
            <a:off x="5859016" y="4572008"/>
            <a:ext cx="180000" cy="288000"/>
          </a:xfrm>
          <a:prstGeom prst="diamond">
            <a:avLst/>
          </a:prstGeom>
          <a:solidFill>
            <a:schemeClr val="accent2"/>
          </a:solidFill>
          <a:ln w="28575" algn="ctr">
            <a:noFill/>
            <a:round/>
          </a:ln>
        </p:spPr>
        <p:txBody>
          <a:bodyPr anchor="ctr"/>
          <a:lstStyle/>
          <a:p>
            <a:pPr algn="ctr" eaLnBrk="0" fontAlgn="auto" hangingPunct="0">
              <a:lnSpc>
                <a:spcPct val="125000"/>
              </a:lnSpc>
              <a:spcBef>
                <a:spcPts val="0"/>
              </a:spcBef>
              <a:spcAft>
                <a:spcPts val="0"/>
              </a:spcAft>
              <a:defRPr/>
            </a:pPr>
            <a:endParaRPr lang="zh-CN" altLang="en-US" sz="1050" kern="0" dirty="0">
              <a:solidFill>
                <a:prstClr val="black"/>
              </a:solidFill>
              <a:latin typeface="Modern H Medium" pitchFamily="50" charset="-127"/>
              <a:ea typeface="Modern H Medium" pitchFamily="50" charset="-127"/>
              <a:sym typeface="Trebuchet MS" panose="020B0603020202020204" pitchFamily="34" charset="0"/>
            </a:endParaRPr>
          </a:p>
        </p:txBody>
      </p:sp>
      <p:cxnSp>
        <p:nvCxnSpPr>
          <p:cNvPr id="260" name="肘形连接符 259"/>
          <p:cNvCxnSpPr>
            <a:stCxn id="246" idx="3"/>
            <a:endCxn id="259" idx="1"/>
          </p:cNvCxnSpPr>
          <p:nvPr/>
        </p:nvCxnSpPr>
        <p:spPr bwMode="auto">
          <a:xfrm flipV="1">
            <a:off x="5648904" y="4716008"/>
            <a:ext cx="210112" cy="741152"/>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264" name="肘形连接符 194"/>
          <p:cNvCxnSpPr>
            <a:stCxn id="259" idx="3"/>
            <a:endCxn id="263" idx="1"/>
          </p:cNvCxnSpPr>
          <p:nvPr/>
        </p:nvCxnSpPr>
        <p:spPr bwMode="auto">
          <a:xfrm>
            <a:off x="6039016" y="4716008"/>
            <a:ext cx="133648" cy="5567"/>
          </a:xfrm>
          <a:prstGeom prst="straightConnector1">
            <a:avLst/>
          </a:prstGeom>
          <a:solidFill>
            <a:schemeClr val="accent1"/>
          </a:solidFill>
          <a:ln w="19050" cap="flat" cmpd="sng" algn="ctr">
            <a:solidFill>
              <a:schemeClr val="tx2">
                <a:lumMod val="75000"/>
              </a:schemeClr>
            </a:solidFill>
            <a:prstDash val="solid"/>
            <a:round/>
            <a:headEnd type="none" w="med" len="med"/>
            <a:tailEnd type="arrow"/>
          </a:ln>
          <a:effectLst/>
        </p:spPr>
      </p:cxnSp>
      <p:sp>
        <p:nvSpPr>
          <p:cNvPr id="267" name="TextBox 266"/>
          <p:cNvSpPr txBox="1"/>
          <p:nvPr/>
        </p:nvSpPr>
        <p:spPr bwMode="auto">
          <a:xfrm>
            <a:off x="5615674" y="4013204"/>
            <a:ext cx="642942" cy="553998"/>
          </a:xfrm>
          <a:prstGeom prst="rect">
            <a:avLst/>
          </a:prstGeom>
          <a:noFill/>
          <a:ln>
            <a:noFill/>
          </a:ln>
        </p:spPr>
        <p:txBody>
          <a:bodyPr wrap="square" rtlCol="0">
            <a:spAutoFit/>
          </a:bodyPr>
          <a:lstStyle/>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M2</a:t>
            </a:r>
          </a:p>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5</a:t>
            </a:r>
            <a:r>
              <a:rPr kumimoji="1" lang="zh-CN" altLang="en-US" sz="1000" b="1" i="1" dirty="0">
                <a:solidFill>
                  <a:srgbClr val="C00000"/>
                </a:solidFill>
                <a:latin typeface="微软雅黑" panose="020B0503020204020204" charset="-122"/>
                <a:ea typeface="微软雅黑" panose="020B0503020204020204" charset="-122"/>
                <a:cs typeface="微软雅黑" panose="020B0503020204020204" charset="-122"/>
              </a:rPr>
              <a:t>月底</a:t>
            </a: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a:t>
            </a:r>
          </a:p>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6</a:t>
            </a:r>
            <a:r>
              <a:rPr kumimoji="1" lang="zh-CN" altLang="en-US" sz="1000" b="1" i="1" dirty="0">
                <a:solidFill>
                  <a:srgbClr val="C00000"/>
                </a:solidFill>
                <a:latin typeface="微软雅黑" panose="020B0503020204020204" charset="-122"/>
                <a:ea typeface="微软雅黑" panose="020B0503020204020204" charset="-122"/>
                <a:cs typeface="微软雅黑" panose="020B0503020204020204" charset="-122"/>
              </a:rPr>
              <a:t>月初</a:t>
            </a:r>
          </a:p>
        </p:txBody>
      </p:sp>
      <p:sp>
        <p:nvSpPr>
          <p:cNvPr id="271" name="矩形 270"/>
          <p:cNvSpPr/>
          <p:nvPr/>
        </p:nvSpPr>
        <p:spPr bwMode="auto">
          <a:xfrm>
            <a:off x="6815606" y="5017363"/>
            <a:ext cx="1214446" cy="288000"/>
          </a:xfrm>
          <a:prstGeom prst="rect">
            <a:avLst/>
          </a:prstGeom>
          <a:solidFill>
            <a:schemeClr val="bg1"/>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b="0" dirty="0">
                <a:solidFill>
                  <a:schemeClr val="tx1"/>
                </a:solidFill>
                <a:latin typeface="微软雅黑" panose="020B0503020204020204" charset="-122"/>
                <a:ea typeface="微软雅黑" panose="020B0503020204020204" charset="-122"/>
              </a:rPr>
              <a:t>T12 </a:t>
            </a:r>
            <a:r>
              <a:rPr kumimoji="1" lang="zh-CN" altLang="en-US" sz="1100" b="0" dirty="0">
                <a:solidFill>
                  <a:schemeClr val="tx1"/>
                </a:solidFill>
                <a:latin typeface="微软雅黑" panose="020B0503020204020204" charset="-122"/>
                <a:ea typeface="微软雅黑" panose="020B0503020204020204" charset="-122"/>
              </a:rPr>
              <a:t>梳理</a:t>
            </a:r>
            <a:r>
              <a:rPr kumimoji="1" lang="en-US" altLang="zh-CN" sz="1100" b="0" dirty="0">
                <a:solidFill>
                  <a:schemeClr val="tx1"/>
                </a:solidFill>
                <a:latin typeface="微软雅黑" panose="020B0503020204020204" charset="-122"/>
                <a:ea typeface="微软雅黑" panose="020B0503020204020204" charset="-122"/>
              </a:rPr>
              <a:t>IT</a:t>
            </a:r>
            <a:r>
              <a:rPr kumimoji="1" lang="zh-CN" altLang="en-US" sz="1100" b="0" dirty="0">
                <a:solidFill>
                  <a:schemeClr val="tx1"/>
                </a:solidFill>
                <a:latin typeface="微软雅黑" panose="020B0503020204020204" charset="-122"/>
                <a:ea typeface="微软雅黑" panose="020B0503020204020204" charset="-122"/>
              </a:rPr>
              <a:t>需求</a:t>
            </a:r>
            <a:endParaRPr kumimoji="1" lang="en-US" altLang="zh-CN" sz="1100" b="0" dirty="0">
              <a:solidFill>
                <a:schemeClr val="tx1"/>
              </a:solidFill>
              <a:latin typeface="微软雅黑" panose="020B0503020204020204" charset="-122"/>
              <a:ea typeface="微软雅黑" panose="020B0503020204020204" charset="-122"/>
            </a:endParaRPr>
          </a:p>
        </p:txBody>
      </p:sp>
      <p:sp>
        <p:nvSpPr>
          <p:cNvPr id="272" name="矩形 271"/>
          <p:cNvSpPr/>
          <p:nvPr/>
        </p:nvSpPr>
        <p:spPr bwMode="auto">
          <a:xfrm>
            <a:off x="6815606" y="5769692"/>
            <a:ext cx="1214446" cy="288000"/>
          </a:xfrm>
          <a:prstGeom prst="rect">
            <a:avLst/>
          </a:prstGeom>
          <a:solidFill>
            <a:schemeClr val="bg1"/>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b="0" dirty="0">
                <a:solidFill>
                  <a:schemeClr val="tx1"/>
                </a:solidFill>
                <a:latin typeface="微软雅黑" panose="020B0503020204020204" charset="-122"/>
                <a:ea typeface="微软雅黑" panose="020B0503020204020204" charset="-122"/>
              </a:rPr>
              <a:t>T14 </a:t>
            </a:r>
            <a:r>
              <a:rPr kumimoji="1" lang="zh-CN" altLang="en-US" sz="1100" dirty="0">
                <a:latin typeface="微软雅黑" panose="020B0503020204020204" charset="-122"/>
                <a:ea typeface="微软雅黑" panose="020B0503020204020204" charset="-122"/>
              </a:rPr>
              <a:t>绩效配套建议</a:t>
            </a:r>
            <a:endParaRPr kumimoji="1" lang="en-US" altLang="zh-CN" sz="1100" dirty="0">
              <a:latin typeface="微软雅黑" panose="020B0503020204020204" charset="-122"/>
              <a:ea typeface="微软雅黑" panose="020B0503020204020204" charset="-122"/>
            </a:endParaRPr>
          </a:p>
        </p:txBody>
      </p:sp>
      <p:cxnSp>
        <p:nvCxnSpPr>
          <p:cNvPr id="273" name="肘形连接符 272"/>
          <p:cNvCxnSpPr>
            <a:stCxn id="276" idx="2"/>
            <a:endCxn id="271" idx="1"/>
          </p:cNvCxnSpPr>
          <p:nvPr/>
        </p:nvCxnSpPr>
        <p:spPr bwMode="auto">
          <a:xfrm rot="16200000" flipH="1">
            <a:off x="6586216" y="4944274"/>
            <a:ext cx="244466" cy="214314"/>
          </a:xfrm>
          <a:prstGeom prst="bentConnector2">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278" name="肘形连接符 272"/>
          <p:cNvCxnSpPr>
            <a:stCxn id="276" idx="2"/>
            <a:endCxn id="272" idx="1"/>
          </p:cNvCxnSpPr>
          <p:nvPr/>
        </p:nvCxnSpPr>
        <p:spPr bwMode="auto">
          <a:xfrm rot="16200000" flipH="1">
            <a:off x="6216202" y="5314288"/>
            <a:ext cx="984494" cy="214314"/>
          </a:xfrm>
          <a:prstGeom prst="bentConnector2">
            <a:avLst/>
          </a:prstGeom>
          <a:solidFill>
            <a:schemeClr val="accent1"/>
          </a:solidFill>
          <a:ln w="19050" cap="flat" cmpd="sng" algn="ctr">
            <a:solidFill>
              <a:schemeClr val="tx2">
                <a:lumMod val="75000"/>
              </a:schemeClr>
            </a:solidFill>
            <a:prstDash val="solid"/>
            <a:round/>
            <a:headEnd type="none" w="med" len="med"/>
            <a:tailEnd type="arrow"/>
          </a:ln>
          <a:effectLst/>
        </p:spPr>
      </p:cxnSp>
      <p:sp>
        <p:nvSpPr>
          <p:cNvPr id="281" name="菱形 280"/>
          <p:cNvSpPr/>
          <p:nvPr/>
        </p:nvSpPr>
        <p:spPr bwMode="auto">
          <a:xfrm>
            <a:off x="8750850" y="5641330"/>
            <a:ext cx="180000" cy="288000"/>
          </a:xfrm>
          <a:prstGeom prst="diamond">
            <a:avLst/>
          </a:prstGeom>
          <a:solidFill>
            <a:schemeClr val="accent2"/>
          </a:solidFill>
          <a:ln w="28575" algn="ctr">
            <a:noFill/>
            <a:round/>
          </a:ln>
        </p:spPr>
        <p:txBody>
          <a:bodyPr anchor="ctr"/>
          <a:lstStyle/>
          <a:p>
            <a:pPr algn="ctr" eaLnBrk="0" fontAlgn="auto" hangingPunct="0">
              <a:lnSpc>
                <a:spcPct val="125000"/>
              </a:lnSpc>
              <a:spcBef>
                <a:spcPts val="0"/>
              </a:spcBef>
              <a:spcAft>
                <a:spcPts val="0"/>
              </a:spcAft>
              <a:defRPr/>
            </a:pPr>
            <a:endParaRPr lang="zh-CN" altLang="en-US" sz="1050" kern="0" dirty="0">
              <a:solidFill>
                <a:prstClr val="black"/>
              </a:solidFill>
              <a:latin typeface="Modern H Medium" pitchFamily="50" charset="-127"/>
              <a:ea typeface="Modern H Medium" pitchFamily="50" charset="-127"/>
              <a:sym typeface="Trebuchet MS" panose="020B0603020202020204" pitchFamily="34" charset="0"/>
            </a:endParaRPr>
          </a:p>
        </p:txBody>
      </p:sp>
      <p:sp>
        <p:nvSpPr>
          <p:cNvPr id="288" name="矩形 287"/>
          <p:cNvSpPr/>
          <p:nvPr/>
        </p:nvSpPr>
        <p:spPr bwMode="auto">
          <a:xfrm>
            <a:off x="8230984" y="4500569"/>
            <a:ext cx="357190" cy="1566401"/>
          </a:xfrm>
          <a:prstGeom prst="rect">
            <a:avLst/>
          </a:prstGeom>
          <a:solidFill>
            <a:schemeClr val="bg1"/>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b="0" dirty="0">
                <a:solidFill>
                  <a:schemeClr val="tx1"/>
                </a:solidFill>
                <a:latin typeface="微软雅黑" panose="020B0503020204020204" charset="-122"/>
                <a:ea typeface="微软雅黑" panose="020B0503020204020204" charset="-122"/>
              </a:rPr>
              <a:t>T15 </a:t>
            </a:r>
            <a:r>
              <a:rPr kumimoji="1" lang="zh-CN" altLang="en-US" sz="1100" b="0" dirty="0">
                <a:solidFill>
                  <a:schemeClr val="tx1"/>
                </a:solidFill>
                <a:latin typeface="微软雅黑" panose="020B0503020204020204" charset="-122"/>
                <a:ea typeface="微软雅黑" panose="020B0503020204020204" charset="-122"/>
              </a:rPr>
              <a:t>设计系统功能蓝图</a:t>
            </a:r>
            <a:endParaRPr kumimoji="1" lang="en-US" altLang="zh-CN" sz="1100" b="0" dirty="0">
              <a:solidFill>
                <a:schemeClr val="tx1"/>
              </a:solidFill>
              <a:latin typeface="微软雅黑" panose="020B0503020204020204" charset="-122"/>
              <a:ea typeface="微软雅黑" panose="020B0503020204020204" charset="-122"/>
            </a:endParaRPr>
          </a:p>
        </p:txBody>
      </p:sp>
      <p:cxnSp>
        <p:nvCxnSpPr>
          <p:cNvPr id="289" name="肘形连接符 272"/>
          <p:cNvCxnSpPr>
            <a:stCxn id="271" idx="3"/>
            <a:endCxn id="288" idx="1"/>
          </p:cNvCxnSpPr>
          <p:nvPr/>
        </p:nvCxnSpPr>
        <p:spPr bwMode="auto">
          <a:xfrm>
            <a:off x="8030052" y="5161363"/>
            <a:ext cx="200932" cy="122407"/>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292" name="肘形连接符 272"/>
          <p:cNvCxnSpPr>
            <a:stCxn id="263" idx="3"/>
            <a:endCxn id="288" idx="1"/>
          </p:cNvCxnSpPr>
          <p:nvPr/>
        </p:nvCxnSpPr>
        <p:spPr bwMode="auto">
          <a:xfrm>
            <a:off x="8030052" y="4721575"/>
            <a:ext cx="200932" cy="562195"/>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cxnSp>
        <p:nvCxnSpPr>
          <p:cNvPr id="297" name="肘形连接符 296"/>
          <p:cNvCxnSpPr>
            <a:stCxn id="288" idx="3"/>
            <a:endCxn id="281" idx="1"/>
          </p:cNvCxnSpPr>
          <p:nvPr/>
        </p:nvCxnSpPr>
        <p:spPr bwMode="auto">
          <a:xfrm>
            <a:off x="8588174" y="5283770"/>
            <a:ext cx="162676" cy="501560"/>
          </a:xfrm>
          <a:prstGeom prst="bentConnector3">
            <a:avLst>
              <a:gd name="adj1" fmla="val 50000"/>
            </a:avLst>
          </a:prstGeom>
          <a:solidFill>
            <a:schemeClr val="accent1"/>
          </a:solidFill>
          <a:ln w="19050" cap="flat" cmpd="sng" algn="ctr">
            <a:solidFill>
              <a:schemeClr val="tx2">
                <a:lumMod val="75000"/>
              </a:schemeClr>
            </a:solidFill>
            <a:prstDash val="solid"/>
            <a:round/>
            <a:headEnd type="none" w="med" len="med"/>
            <a:tailEnd type="arrow"/>
          </a:ln>
          <a:effectLst/>
        </p:spPr>
      </p:cxnSp>
      <p:sp>
        <p:nvSpPr>
          <p:cNvPr id="300" name="TextBox 299"/>
          <p:cNvSpPr txBox="1"/>
          <p:nvPr/>
        </p:nvSpPr>
        <p:spPr bwMode="auto">
          <a:xfrm>
            <a:off x="8516736" y="5872406"/>
            <a:ext cx="642942" cy="553998"/>
          </a:xfrm>
          <a:prstGeom prst="rect">
            <a:avLst/>
          </a:prstGeom>
          <a:noFill/>
          <a:ln>
            <a:noFill/>
          </a:ln>
        </p:spPr>
        <p:txBody>
          <a:bodyPr wrap="square" rtlCol="0">
            <a:spAutoFit/>
          </a:bodyPr>
          <a:lstStyle/>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M3</a:t>
            </a:r>
          </a:p>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8</a:t>
            </a:r>
            <a:r>
              <a:rPr kumimoji="1" lang="zh-CN" altLang="en-US" sz="1000" b="1" i="1" dirty="0">
                <a:solidFill>
                  <a:srgbClr val="C00000"/>
                </a:solidFill>
                <a:latin typeface="微软雅黑" panose="020B0503020204020204" charset="-122"/>
                <a:ea typeface="微软雅黑" panose="020B0503020204020204" charset="-122"/>
                <a:cs typeface="微软雅黑" panose="020B0503020204020204" charset="-122"/>
              </a:rPr>
              <a:t>月底</a:t>
            </a: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a:t>
            </a:r>
          </a:p>
          <a:p>
            <a:pPr algn="ctr"/>
            <a:r>
              <a:rPr kumimoji="1" lang="en-US" altLang="zh-CN" sz="1000" b="1" i="1" dirty="0">
                <a:solidFill>
                  <a:srgbClr val="C00000"/>
                </a:solidFill>
                <a:latin typeface="微软雅黑" panose="020B0503020204020204" charset="-122"/>
                <a:ea typeface="微软雅黑" panose="020B0503020204020204" charset="-122"/>
                <a:cs typeface="微软雅黑" panose="020B0503020204020204" charset="-122"/>
              </a:rPr>
              <a:t>9</a:t>
            </a:r>
            <a:r>
              <a:rPr kumimoji="1" lang="zh-CN" altLang="en-US" sz="1000" b="1" i="1" dirty="0">
                <a:solidFill>
                  <a:srgbClr val="C00000"/>
                </a:solidFill>
                <a:latin typeface="微软雅黑" panose="020B0503020204020204" charset="-122"/>
                <a:ea typeface="微软雅黑" panose="020B0503020204020204" charset="-122"/>
                <a:cs typeface="微软雅黑" panose="020B0503020204020204" charset="-122"/>
              </a:rPr>
              <a:t>月初</a:t>
            </a:r>
          </a:p>
        </p:txBody>
      </p:sp>
      <p:sp>
        <p:nvSpPr>
          <p:cNvPr id="301" name="矩形 300"/>
          <p:cNvSpPr/>
          <p:nvPr/>
        </p:nvSpPr>
        <p:spPr bwMode="auto">
          <a:xfrm>
            <a:off x="6815606" y="5393528"/>
            <a:ext cx="1214446" cy="288000"/>
          </a:xfrm>
          <a:prstGeom prst="rect">
            <a:avLst/>
          </a:prstGeom>
          <a:solidFill>
            <a:schemeClr val="bg1"/>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b="0" dirty="0">
                <a:solidFill>
                  <a:schemeClr val="tx1"/>
                </a:solidFill>
                <a:latin typeface="微软雅黑" panose="020B0503020204020204" charset="-122"/>
                <a:ea typeface="微软雅黑" panose="020B0503020204020204" charset="-122"/>
              </a:rPr>
              <a:t>T13 </a:t>
            </a:r>
            <a:r>
              <a:rPr kumimoji="1" lang="zh-CN" altLang="en-US" sz="1100" b="0" dirty="0">
                <a:solidFill>
                  <a:schemeClr val="tx1"/>
                </a:solidFill>
                <a:latin typeface="微软雅黑" panose="020B0503020204020204" charset="-122"/>
                <a:ea typeface="微软雅黑" panose="020B0503020204020204" charset="-122"/>
              </a:rPr>
              <a:t>组织</a:t>
            </a:r>
            <a:r>
              <a:rPr kumimoji="1" lang="zh-CN" altLang="en-US" sz="1100" dirty="0">
                <a:latin typeface="微软雅黑" panose="020B0503020204020204" charset="-122"/>
                <a:ea typeface="微软雅黑" panose="020B0503020204020204" charset="-122"/>
              </a:rPr>
              <a:t>配套</a:t>
            </a:r>
            <a:r>
              <a:rPr kumimoji="1" lang="zh-CN" altLang="en-US" sz="1100" b="0" dirty="0">
                <a:solidFill>
                  <a:schemeClr val="tx1"/>
                </a:solidFill>
                <a:latin typeface="微软雅黑" panose="020B0503020204020204" charset="-122"/>
                <a:ea typeface="微软雅黑" panose="020B0503020204020204" charset="-122"/>
              </a:rPr>
              <a:t>建议</a:t>
            </a:r>
            <a:endParaRPr kumimoji="1" lang="en-US" altLang="zh-CN" sz="1100" b="0" dirty="0">
              <a:solidFill>
                <a:schemeClr val="tx1"/>
              </a:solidFill>
              <a:latin typeface="微软雅黑" panose="020B0503020204020204" charset="-122"/>
              <a:ea typeface="微软雅黑" panose="020B0503020204020204" charset="-122"/>
            </a:endParaRPr>
          </a:p>
        </p:txBody>
      </p:sp>
      <p:cxnSp>
        <p:nvCxnSpPr>
          <p:cNvPr id="302" name="肘形连接符 272"/>
          <p:cNvCxnSpPr>
            <a:stCxn id="276" idx="2"/>
            <a:endCxn id="301" idx="1"/>
          </p:cNvCxnSpPr>
          <p:nvPr/>
        </p:nvCxnSpPr>
        <p:spPr bwMode="auto">
          <a:xfrm rot="16200000" flipH="1">
            <a:off x="6409311" y="5121179"/>
            <a:ext cx="598276" cy="214314"/>
          </a:xfrm>
          <a:prstGeom prst="bentConnector2">
            <a:avLst/>
          </a:prstGeom>
          <a:solidFill>
            <a:schemeClr val="accent1"/>
          </a:solidFill>
          <a:ln w="19050" cap="flat" cmpd="sng" algn="ctr">
            <a:solidFill>
              <a:schemeClr val="tx2">
                <a:lumMod val="75000"/>
              </a:schemeClr>
            </a:solidFill>
            <a:prstDash val="solid"/>
            <a:round/>
            <a:headEnd type="none" w="med" len="med"/>
            <a:tailEnd type="arrow"/>
          </a:ln>
          <a:effectLst/>
        </p:spPr>
      </p:cxnSp>
      <p:sp>
        <p:nvSpPr>
          <p:cNvPr id="276" name="矩形 275"/>
          <p:cNvSpPr/>
          <p:nvPr/>
        </p:nvSpPr>
        <p:spPr bwMode="auto">
          <a:xfrm>
            <a:off x="6529854" y="4857760"/>
            <a:ext cx="142876" cy="71438"/>
          </a:xfrm>
          <a:prstGeom prst="rect">
            <a:avLst/>
          </a:prstGeom>
          <a:solidFill>
            <a:schemeClr val="tx2">
              <a:lumMod val="20000"/>
              <a:lumOff val="80000"/>
            </a:schemeClr>
          </a:solidFill>
          <a:ln w="19050" cmpd="sng">
            <a:solidFill>
              <a:schemeClr val="tx2">
                <a:lumMod val="75000"/>
              </a:schemeClr>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263" name="矩形 262"/>
          <p:cNvSpPr/>
          <p:nvPr/>
        </p:nvSpPr>
        <p:spPr bwMode="auto">
          <a:xfrm>
            <a:off x="6172664" y="4513952"/>
            <a:ext cx="1857388" cy="415246"/>
          </a:xfrm>
          <a:prstGeom prst="rect">
            <a:avLst/>
          </a:prstGeom>
          <a:solidFill>
            <a:schemeClr val="bg1"/>
          </a:solidFill>
          <a:ln w="9525" cmpd="sng">
            <a:solidFill>
              <a:schemeClr val="tx1"/>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en-US" altLang="zh-CN" sz="1100" b="0" dirty="0">
                <a:solidFill>
                  <a:schemeClr val="tx1"/>
                </a:solidFill>
                <a:latin typeface="微软雅黑" panose="020B0503020204020204" charset="-122"/>
                <a:ea typeface="微软雅黑" panose="020B0503020204020204" charset="-122"/>
              </a:rPr>
              <a:t>T11 </a:t>
            </a:r>
            <a:r>
              <a:rPr kumimoji="1" lang="zh-CN" altLang="en-US" sz="1100" b="0" dirty="0">
                <a:solidFill>
                  <a:schemeClr val="tx1"/>
                </a:solidFill>
                <a:latin typeface="微软雅黑" panose="020B0503020204020204" charset="-122"/>
                <a:ea typeface="微软雅黑" panose="020B0503020204020204" charset="-122"/>
              </a:rPr>
              <a:t>设计详细流程</a:t>
            </a:r>
            <a:br>
              <a:rPr kumimoji="1" lang="en-US" altLang="zh-CN" sz="1100" b="0" dirty="0">
                <a:solidFill>
                  <a:schemeClr val="tx1"/>
                </a:solidFill>
                <a:latin typeface="微软雅黑" panose="020B0503020204020204" charset="-122"/>
                <a:ea typeface="微软雅黑" panose="020B0503020204020204" charset="-122"/>
              </a:rPr>
            </a:br>
            <a:r>
              <a:rPr kumimoji="1" lang="en-US" altLang="zh-CN" sz="1100" b="0" dirty="0">
                <a:solidFill>
                  <a:schemeClr val="tx1"/>
                </a:solidFill>
                <a:latin typeface="微软雅黑" panose="020B0503020204020204" charset="-122"/>
                <a:ea typeface="微软雅黑" panose="020B0503020204020204" charset="-122"/>
              </a:rPr>
              <a:t>(ARIS</a:t>
            </a:r>
            <a:r>
              <a:rPr kumimoji="1" lang="zh-CN" altLang="en-US" sz="1100" dirty="0">
                <a:latin typeface="微软雅黑" panose="020B0503020204020204" charset="-122"/>
                <a:ea typeface="微软雅黑" panose="020B0503020204020204" charset="-122"/>
              </a:rPr>
              <a:t>平台</a:t>
            </a:r>
            <a:r>
              <a:rPr kumimoji="1" lang="en-US" altLang="zh-CN" sz="1100" dirty="0">
                <a:latin typeface="微软雅黑" panose="020B0503020204020204" charset="-122"/>
                <a:ea typeface="微软雅黑" panose="020B0503020204020204" charset="-122"/>
              </a:rPr>
              <a:t>)</a:t>
            </a:r>
            <a:endParaRPr kumimoji="1" lang="en-US" altLang="zh-CN" sz="1100" b="0" dirty="0">
              <a:solidFill>
                <a:schemeClr val="tx1"/>
              </a:solidFill>
              <a:latin typeface="微软雅黑" panose="020B0503020204020204" charset="-122"/>
              <a:ea typeface="微软雅黑" panose="020B0503020204020204" charset="-122"/>
            </a:endParaRPr>
          </a:p>
        </p:txBody>
      </p:sp>
      <p:sp>
        <p:nvSpPr>
          <p:cNvPr id="307" name="AutoShape 19"/>
          <p:cNvSpPr>
            <a:spLocks noChangeArrowheads="1"/>
          </p:cNvSpPr>
          <p:nvPr/>
        </p:nvSpPr>
        <p:spPr bwMode="auto">
          <a:xfrm>
            <a:off x="188684" y="1879600"/>
            <a:ext cx="313614" cy="4332514"/>
          </a:xfrm>
          <a:prstGeom prst="homePlate">
            <a:avLst>
              <a:gd name="adj" fmla="val 21006"/>
            </a:avLst>
          </a:prstGeom>
          <a:solidFill>
            <a:schemeClr val="bg1">
              <a:lumMod val="95000"/>
            </a:schemeClr>
          </a:solidFill>
          <a:ln w="9525" algn="ctr">
            <a:solidFill>
              <a:schemeClr val="bg1">
                <a:lumMod val="85000"/>
              </a:schemeClr>
            </a:solidFill>
            <a:miter lim="800000"/>
          </a:ln>
          <a:effectLst>
            <a:outerShdw blurRad="50800" dist="38100" dir="2700000" algn="tl" rotWithShape="0">
              <a:prstClr val="black">
                <a:alpha val="40000"/>
              </a:prstClr>
            </a:outerShdw>
          </a:effectLst>
        </p:spPr>
        <p:txBody>
          <a:bodyPr lIns="9144" tIns="9144" rIns="9144" bIns="9144" anchor="ctr"/>
          <a:lstStyle/>
          <a:p>
            <a:pPr algn="ctr">
              <a:defRPr/>
            </a:pPr>
            <a:r>
              <a:rPr lang="zh-CN" altLang="en-US" sz="1400" b="1" kern="0" dirty="0">
                <a:solidFill>
                  <a:schemeClr val="bg1">
                    <a:lumMod val="65000"/>
                  </a:schemeClr>
                </a:solidFill>
                <a:latin typeface="微软雅黑" panose="020B0503020204020204" charset="-122"/>
                <a:ea typeface="微软雅黑" panose="020B0503020204020204" charset="-122"/>
              </a:rPr>
              <a:t>项目准备与前期工作</a:t>
            </a:r>
            <a:endParaRPr lang="en-US" altLang="zh-CN" sz="1400" b="1" kern="0" dirty="0">
              <a:solidFill>
                <a:schemeClr val="bg1">
                  <a:lumMod val="65000"/>
                </a:schemeClr>
              </a:solidFill>
              <a:latin typeface="微软雅黑" panose="020B0503020204020204" charset="-122"/>
              <a:ea typeface="微软雅黑" panose="020B0503020204020204" charset="-122"/>
            </a:endParaRPr>
          </a:p>
          <a:p>
            <a:pPr algn="ctr">
              <a:defRPr/>
            </a:pPr>
            <a:r>
              <a:rPr lang="zh-CN" altLang="zh-CN" sz="1400" b="1" kern="0" dirty="0">
                <a:solidFill>
                  <a:schemeClr val="bg1">
                    <a:lumMod val="65000"/>
                  </a:schemeClr>
                </a:solidFill>
                <a:latin typeface="微软雅黑" panose="020B0503020204020204" charset="-122"/>
                <a:ea typeface="微软雅黑" panose="020B0503020204020204" charset="-122"/>
              </a:rPr>
              <a:t>︵</a:t>
            </a:r>
            <a:endParaRPr lang="en-US" altLang="zh-CN" sz="1400" b="1" kern="0" dirty="0">
              <a:solidFill>
                <a:schemeClr val="bg1">
                  <a:lumMod val="65000"/>
                </a:schemeClr>
              </a:solidFill>
              <a:latin typeface="微软雅黑" panose="020B0503020204020204" charset="-122"/>
              <a:ea typeface="微软雅黑" panose="020B0503020204020204" charset="-122"/>
            </a:endParaRPr>
          </a:p>
          <a:p>
            <a:pPr algn="ctr">
              <a:defRPr/>
            </a:pPr>
            <a:r>
              <a:rPr lang="en-US" altLang="zh-CN" sz="1400" b="1" kern="0" dirty="0">
                <a:solidFill>
                  <a:schemeClr val="bg1">
                    <a:lumMod val="65000"/>
                  </a:schemeClr>
                </a:solidFill>
                <a:latin typeface="微软雅黑" panose="020B0503020204020204" charset="-122"/>
                <a:ea typeface="微软雅黑" panose="020B0503020204020204" charset="-122"/>
              </a:rPr>
              <a:t>2</a:t>
            </a:r>
          </a:p>
          <a:p>
            <a:pPr algn="ctr">
              <a:defRPr/>
            </a:pPr>
            <a:r>
              <a:rPr lang="zh-CN" altLang="en-US" sz="1400" b="1" kern="0" dirty="0">
                <a:solidFill>
                  <a:schemeClr val="bg1">
                    <a:lumMod val="65000"/>
                  </a:schemeClr>
                </a:solidFill>
                <a:latin typeface="微软雅黑" panose="020B0503020204020204" charset="-122"/>
                <a:ea typeface="微软雅黑" panose="020B0503020204020204" charset="-122"/>
              </a:rPr>
              <a:t>个</a:t>
            </a:r>
            <a:endParaRPr lang="en-US" altLang="zh-CN" sz="1400" b="1" kern="0" dirty="0">
              <a:solidFill>
                <a:schemeClr val="bg1">
                  <a:lumMod val="65000"/>
                </a:schemeClr>
              </a:solidFill>
              <a:latin typeface="微软雅黑" panose="020B0503020204020204" charset="-122"/>
              <a:ea typeface="微软雅黑" panose="020B0503020204020204" charset="-122"/>
            </a:endParaRPr>
          </a:p>
          <a:p>
            <a:pPr algn="ctr">
              <a:defRPr/>
            </a:pPr>
            <a:r>
              <a:rPr lang="zh-CN" altLang="en-US" sz="1400" b="1" kern="0" dirty="0">
                <a:solidFill>
                  <a:schemeClr val="bg1">
                    <a:lumMod val="65000"/>
                  </a:schemeClr>
                </a:solidFill>
                <a:latin typeface="微软雅黑" panose="020B0503020204020204" charset="-122"/>
                <a:ea typeface="微软雅黑" panose="020B0503020204020204" charset="-122"/>
              </a:rPr>
              <a:t>月</a:t>
            </a:r>
            <a:r>
              <a:rPr lang="en-US" altLang="zh-CN" sz="1400" b="1" kern="0" dirty="0">
                <a:solidFill>
                  <a:schemeClr val="bg1">
                    <a:lumMod val="65000"/>
                  </a:schemeClr>
                </a:solidFill>
                <a:latin typeface="微软雅黑" panose="020B0503020204020204" charset="-122"/>
                <a:ea typeface="微软雅黑" panose="020B0503020204020204" charset="-122"/>
              </a:rPr>
              <a:t>︶</a:t>
            </a:r>
            <a:endParaRPr lang="zh-CN" altLang="en-US" sz="1400" b="1" kern="0"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标题 1"/>
          <p:cNvSpPr>
            <a:spLocks noGrp="1"/>
          </p:cNvSpPr>
          <p:nvPr>
            <p:ph type="title"/>
          </p:nvPr>
        </p:nvSpPr>
        <p:spPr>
          <a:xfrm>
            <a:off x="162000" y="593725"/>
            <a:ext cx="8820000" cy="695325"/>
          </a:xfrm>
        </p:spPr>
        <p:txBody>
          <a:bodyPr/>
          <a:lstStyle/>
          <a:p>
            <a:r>
              <a:rPr lang="zh-CN" altLang="en-US" dirty="0"/>
              <a:t>集成计划组工作计划：预计</a:t>
            </a:r>
            <a:r>
              <a:rPr dirty="0"/>
              <a:t>27</a:t>
            </a:r>
            <a:r>
              <a:rPr lang="zh-CN" altLang="en-US" dirty="0"/>
              <a:t>周，至</a:t>
            </a:r>
            <a:r>
              <a:rPr dirty="0"/>
              <a:t>8</a:t>
            </a:r>
            <a:r>
              <a:rPr lang="zh-CN" altLang="en-US" dirty="0"/>
              <a:t>月底完成设计工作，进入系统实施阶段</a:t>
            </a:r>
          </a:p>
        </p:txBody>
      </p:sp>
      <p:graphicFrame>
        <p:nvGraphicFramePr>
          <p:cNvPr id="3" name="表格 2"/>
          <p:cNvGraphicFramePr>
            <a:graphicFrameLocks noGrp="1"/>
          </p:cNvGraphicFramePr>
          <p:nvPr/>
        </p:nvGraphicFramePr>
        <p:xfrm>
          <a:off x="214282" y="1029136"/>
          <a:ext cx="8715430" cy="5531321"/>
        </p:xfrm>
        <a:graphic>
          <a:graphicData uri="http://schemas.openxmlformats.org/drawingml/2006/table">
            <a:tbl>
              <a:tblPr firstRow="1" bandRow="1">
                <a:tableStyleId>{5C22544A-7EE6-4342-B048-85BDC9FD1C3A}</a:tableStyleId>
              </a:tblPr>
              <a:tblGrid>
                <a:gridCol w="1591102">
                  <a:extLst>
                    <a:ext uri="{9D8B030D-6E8A-4147-A177-3AD203B41FA5}">
                      <a16:colId xmlns:a16="http://schemas.microsoft.com/office/drawing/2014/main" val="20000"/>
                    </a:ext>
                  </a:extLst>
                </a:gridCol>
                <a:gridCol w="263864">
                  <a:extLst>
                    <a:ext uri="{9D8B030D-6E8A-4147-A177-3AD203B41FA5}">
                      <a16:colId xmlns:a16="http://schemas.microsoft.com/office/drawing/2014/main" val="20001"/>
                    </a:ext>
                  </a:extLst>
                </a:gridCol>
                <a:gridCol w="263864">
                  <a:extLst>
                    <a:ext uri="{9D8B030D-6E8A-4147-A177-3AD203B41FA5}">
                      <a16:colId xmlns:a16="http://schemas.microsoft.com/office/drawing/2014/main" val="20002"/>
                    </a:ext>
                  </a:extLst>
                </a:gridCol>
                <a:gridCol w="263864">
                  <a:extLst>
                    <a:ext uri="{9D8B030D-6E8A-4147-A177-3AD203B41FA5}">
                      <a16:colId xmlns:a16="http://schemas.microsoft.com/office/drawing/2014/main" val="20003"/>
                    </a:ext>
                  </a:extLst>
                </a:gridCol>
                <a:gridCol w="263864">
                  <a:extLst>
                    <a:ext uri="{9D8B030D-6E8A-4147-A177-3AD203B41FA5}">
                      <a16:colId xmlns:a16="http://schemas.microsoft.com/office/drawing/2014/main" val="20004"/>
                    </a:ext>
                  </a:extLst>
                </a:gridCol>
                <a:gridCol w="263864">
                  <a:extLst>
                    <a:ext uri="{9D8B030D-6E8A-4147-A177-3AD203B41FA5}">
                      <a16:colId xmlns:a16="http://schemas.microsoft.com/office/drawing/2014/main" val="20005"/>
                    </a:ext>
                  </a:extLst>
                </a:gridCol>
                <a:gridCol w="263864">
                  <a:extLst>
                    <a:ext uri="{9D8B030D-6E8A-4147-A177-3AD203B41FA5}">
                      <a16:colId xmlns:a16="http://schemas.microsoft.com/office/drawing/2014/main" val="20006"/>
                    </a:ext>
                  </a:extLst>
                </a:gridCol>
                <a:gridCol w="263864">
                  <a:extLst>
                    <a:ext uri="{9D8B030D-6E8A-4147-A177-3AD203B41FA5}">
                      <a16:colId xmlns:a16="http://schemas.microsoft.com/office/drawing/2014/main" val="20007"/>
                    </a:ext>
                  </a:extLst>
                </a:gridCol>
                <a:gridCol w="263864">
                  <a:extLst>
                    <a:ext uri="{9D8B030D-6E8A-4147-A177-3AD203B41FA5}">
                      <a16:colId xmlns:a16="http://schemas.microsoft.com/office/drawing/2014/main" val="20008"/>
                    </a:ext>
                  </a:extLst>
                </a:gridCol>
                <a:gridCol w="263864">
                  <a:extLst>
                    <a:ext uri="{9D8B030D-6E8A-4147-A177-3AD203B41FA5}">
                      <a16:colId xmlns:a16="http://schemas.microsoft.com/office/drawing/2014/main" val="20009"/>
                    </a:ext>
                  </a:extLst>
                </a:gridCol>
                <a:gridCol w="263864">
                  <a:extLst>
                    <a:ext uri="{9D8B030D-6E8A-4147-A177-3AD203B41FA5}">
                      <a16:colId xmlns:a16="http://schemas.microsoft.com/office/drawing/2014/main" val="20010"/>
                    </a:ext>
                  </a:extLst>
                </a:gridCol>
                <a:gridCol w="263864">
                  <a:extLst>
                    <a:ext uri="{9D8B030D-6E8A-4147-A177-3AD203B41FA5}">
                      <a16:colId xmlns:a16="http://schemas.microsoft.com/office/drawing/2014/main" val="20011"/>
                    </a:ext>
                  </a:extLst>
                </a:gridCol>
                <a:gridCol w="263864">
                  <a:extLst>
                    <a:ext uri="{9D8B030D-6E8A-4147-A177-3AD203B41FA5}">
                      <a16:colId xmlns:a16="http://schemas.microsoft.com/office/drawing/2014/main" val="20012"/>
                    </a:ext>
                  </a:extLst>
                </a:gridCol>
                <a:gridCol w="263864">
                  <a:extLst>
                    <a:ext uri="{9D8B030D-6E8A-4147-A177-3AD203B41FA5}">
                      <a16:colId xmlns:a16="http://schemas.microsoft.com/office/drawing/2014/main" val="20013"/>
                    </a:ext>
                  </a:extLst>
                </a:gridCol>
                <a:gridCol w="263864">
                  <a:extLst>
                    <a:ext uri="{9D8B030D-6E8A-4147-A177-3AD203B41FA5}">
                      <a16:colId xmlns:a16="http://schemas.microsoft.com/office/drawing/2014/main" val="20014"/>
                    </a:ext>
                  </a:extLst>
                </a:gridCol>
                <a:gridCol w="263864">
                  <a:extLst>
                    <a:ext uri="{9D8B030D-6E8A-4147-A177-3AD203B41FA5}">
                      <a16:colId xmlns:a16="http://schemas.microsoft.com/office/drawing/2014/main" val="20015"/>
                    </a:ext>
                  </a:extLst>
                </a:gridCol>
                <a:gridCol w="263864">
                  <a:extLst>
                    <a:ext uri="{9D8B030D-6E8A-4147-A177-3AD203B41FA5}">
                      <a16:colId xmlns:a16="http://schemas.microsoft.com/office/drawing/2014/main" val="20016"/>
                    </a:ext>
                  </a:extLst>
                </a:gridCol>
                <a:gridCol w="263864">
                  <a:extLst>
                    <a:ext uri="{9D8B030D-6E8A-4147-A177-3AD203B41FA5}">
                      <a16:colId xmlns:a16="http://schemas.microsoft.com/office/drawing/2014/main" val="20017"/>
                    </a:ext>
                  </a:extLst>
                </a:gridCol>
                <a:gridCol w="263864">
                  <a:extLst>
                    <a:ext uri="{9D8B030D-6E8A-4147-A177-3AD203B41FA5}">
                      <a16:colId xmlns:a16="http://schemas.microsoft.com/office/drawing/2014/main" val="20018"/>
                    </a:ext>
                  </a:extLst>
                </a:gridCol>
                <a:gridCol w="263864">
                  <a:extLst>
                    <a:ext uri="{9D8B030D-6E8A-4147-A177-3AD203B41FA5}">
                      <a16:colId xmlns:a16="http://schemas.microsoft.com/office/drawing/2014/main" val="20019"/>
                    </a:ext>
                  </a:extLst>
                </a:gridCol>
                <a:gridCol w="263864">
                  <a:extLst>
                    <a:ext uri="{9D8B030D-6E8A-4147-A177-3AD203B41FA5}">
                      <a16:colId xmlns:a16="http://schemas.microsoft.com/office/drawing/2014/main" val="20020"/>
                    </a:ext>
                  </a:extLst>
                </a:gridCol>
                <a:gridCol w="263864">
                  <a:extLst>
                    <a:ext uri="{9D8B030D-6E8A-4147-A177-3AD203B41FA5}">
                      <a16:colId xmlns:a16="http://schemas.microsoft.com/office/drawing/2014/main" val="20021"/>
                    </a:ext>
                  </a:extLst>
                </a:gridCol>
                <a:gridCol w="263864">
                  <a:extLst>
                    <a:ext uri="{9D8B030D-6E8A-4147-A177-3AD203B41FA5}">
                      <a16:colId xmlns:a16="http://schemas.microsoft.com/office/drawing/2014/main" val="20022"/>
                    </a:ext>
                  </a:extLst>
                </a:gridCol>
                <a:gridCol w="263864">
                  <a:extLst>
                    <a:ext uri="{9D8B030D-6E8A-4147-A177-3AD203B41FA5}">
                      <a16:colId xmlns:a16="http://schemas.microsoft.com/office/drawing/2014/main" val="20023"/>
                    </a:ext>
                  </a:extLst>
                </a:gridCol>
                <a:gridCol w="263864">
                  <a:extLst>
                    <a:ext uri="{9D8B030D-6E8A-4147-A177-3AD203B41FA5}">
                      <a16:colId xmlns:a16="http://schemas.microsoft.com/office/drawing/2014/main" val="20024"/>
                    </a:ext>
                  </a:extLst>
                </a:gridCol>
                <a:gridCol w="263864">
                  <a:extLst>
                    <a:ext uri="{9D8B030D-6E8A-4147-A177-3AD203B41FA5}">
                      <a16:colId xmlns:a16="http://schemas.microsoft.com/office/drawing/2014/main" val="20025"/>
                    </a:ext>
                  </a:extLst>
                </a:gridCol>
                <a:gridCol w="263864">
                  <a:extLst>
                    <a:ext uri="{9D8B030D-6E8A-4147-A177-3AD203B41FA5}">
                      <a16:colId xmlns:a16="http://schemas.microsoft.com/office/drawing/2014/main" val="20026"/>
                    </a:ext>
                  </a:extLst>
                </a:gridCol>
                <a:gridCol w="263864">
                  <a:extLst>
                    <a:ext uri="{9D8B030D-6E8A-4147-A177-3AD203B41FA5}">
                      <a16:colId xmlns:a16="http://schemas.microsoft.com/office/drawing/2014/main" val="20027"/>
                    </a:ext>
                  </a:extLst>
                </a:gridCol>
              </a:tblGrid>
              <a:tr h="557451">
                <a:tc rowSpan="2">
                  <a:txBody>
                    <a:bodyPr/>
                    <a:lstStyle/>
                    <a:p>
                      <a:pPr algn="ctr"/>
                      <a:r>
                        <a:rPr lang="zh-CN" altLang="en-US" sz="1200" dirty="0">
                          <a:latin typeface="微软雅黑" panose="020B0503020204020204" charset="-122"/>
                          <a:ea typeface="微软雅黑" panose="020B0503020204020204" charset="-122"/>
                        </a:rPr>
                        <a:t>项目内容</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02/29</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03/07</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03/14</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03/21</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03/28</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04/04</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04/11</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04/18</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04/25</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05/02</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05/09</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05/16</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05/23</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05/30</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06/06</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06/13</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06/20</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06/27</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07/04</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07/11</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07/18</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07/25</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08/01</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08/08</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08/15</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08/22</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00" dirty="0">
                          <a:latin typeface="微软雅黑" panose="020B0503020204020204" charset="-122"/>
                          <a:ea typeface="微软雅黑" panose="020B0503020204020204" charset="-122"/>
                        </a:rPr>
                        <a:t>08/29</a:t>
                      </a:r>
                      <a:endParaRPr lang="zh-CN" altLang="en-US" sz="1000" dirty="0">
                        <a:latin typeface="微软雅黑" panose="020B0503020204020204" charset="-122"/>
                        <a:ea typeface="微软雅黑" panose="020B0503020204020204" charset="-122"/>
                      </a:endParaRPr>
                    </a:p>
                  </a:txBody>
                  <a:tcPr marL="36000" marR="36000" marT="36000" marB="36000"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237584">
                <a:tc vMerge="1">
                  <a:txBody>
                    <a:bodyPr/>
                    <a:lstStyle/>
                    <a:p>
                      <a:endParaRPr lang="zh-CN"/>
                    </a:p>
                  </a:txBody>
                  <a:tcPr anchor="ctr">
                    <a:solidFill>
                      <a:schemeClr val="accent1"/>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3</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4</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5</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6</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7</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8</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9</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10</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11</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12</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13</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14</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15</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16</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17</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18</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19</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20</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21</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22</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23</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24</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25</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26</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a:txBody>
                    <a:bodyPr/>
                    <a:lstStyle/>
                    <a:p>
                      <a:pPr algn="ctr"/>
                      <a:r>
                        <a:rPr lang="en-US" altLang="zh-CN" sz="1050" b="1" dirty="0">
                          <a:solidFill>
                            <a:schemeClr val="bg1"/>
                          </a:solidFill>
                          <a:latin typeface="微软雅黑" panose="020B0503020204020204" charset="-122"/>
                          <a:ea typeface="微软雅黑" panose="020B0503020204020204" charset="-122"/>
                        </a:rPr>
                        <a:t>27</a:t>
                      </a:r>
                      <a:endParaRPr lang="zh-CN" altLang="en-US" sz="1050" b="1" dirty="0">
                        <a:solidFill>
                          <a:schemeClr val="bg1"/>
                        </a:solidFill>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1"/>
                  </a:ext>
                </a:extLst>
              </a:tr>
              <a:tr h="263127">
                <a:tc>
                  <a:txBody>
                    <a:bodyPr/>
                    <a:lstStyle/>
                    <a:p>
                      <a:r>
                        <a:rPr lang="en-US" altLang="zh-CN" sz="1050" dirty="0">
                          <a:latin typeface="微软雅黑" panose="020B0503020204020204" charset="-122"/>
                          <a:ea typeface="微软雅黑" panose="020B0503020204020204" charset="-122"/>
                        </a:rPr>
                        <a:t>T1:</a:t>
                      </a:r>
                      <a:r>
                        <a:rPr lang="zh-CN" altLang="en-US" sz="1050" dirty="0">
                          <a:latin typeface="微软雅黑" panose="020B0503020204020204" charset="-122"/>
                          <a:ea typeface="微软雅黑" panose="020B0503020204020204" charset="-122"/>
                        </a:rPr>
                        <a:t>开展业务访谈</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263127">
                <a:tc>
                  <a:txBody>
                    <a:bodyPr/>
                    <a:lstStyle/>
                    <a:p>
                      <a:r>
                        <a:rPr lang="en-US" altLang="zh-CN" sz="1050" dirty="0">
                          <a:latin typeface="微软雅黑" panose="020B0503020204020204" charset="-122"/>
                          <a:ea typeface="微软雅黑" panose="020B0503020204020204" charset="-122"/>
                        </a:rPr>
                        <a:t>T2:</a:t>
                      </a:r>
                      <a:r>
                        <a:rPr lang="zh-CN" altLang="en-US" sz="1050" dirty="0">
                          <a:latin typeface="微软雅黑" panose="020B0503020204020204" charset="-122"/>
                          <a:ea typeface="微软雅黑" panose="020B0503020204020204" charset="-122"/>
                        </a:rPr>
                        <a:t>梳理</a:t>
                      </a:r>
                      <a:r>
                        <a:rPr lang="en-US" altLang="zh-CN" sz="1050" dirty="0">
                          <a:latin typeface="微软雅黑" panose="020B0503020204020204" charset="-122"/>
                          <a:ea typeface="微软雅黑" panose="020B0503020204020204" charset="-122"/>
                        </a:rPr>
                        <a:t>KPI</a:t>
                      </a:r>
                      <a:r>
                        <a:rPr lang="zh-CN" altLang="en-US" sz="1050" dirty="0">
                          <a:latin typeface="微软雅黑" panose="020B0503020204020204" charset="-122"/>
                          <a:ea typeface="微软雅黑" panose="020B0503020204020204" charset="-122"/>
                        </a:rPr>
                        <a:t>体系</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263127">
                <a:tc>
                  <a:txBody>
                    <a:bodyPr/>
                    <a:lstStyle/>
                    <a:p>
                      <a:r>
                        <a:rPr lang="en-US" altLang="zh-CN" sz="1050" dirty="0">
                          <a:latin typeface="微软雅黑" panose="020B0503020204020204" charset="-122"/>
                          <a:ea typeface="微软雅黑" panose="020B0503020204020204" charset="-122"/>
                        </a:rPr>
                        <a:t>T3:</a:t>
                      </a:r>
                      <a:r>
                        <a:rPr lang="zh-CN" altLang="en-US" sz="1050" dirty="0">
                          <a:latin typeface="微软雅黑" panose="020B0503020204020204" charset="-122"/>
                          <a:ea typeface="微软雅黑" panose="020B0503020204020204" charset="-122"/>
                        </a:rPr>
                        <a:t>收集资料与数据</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63127">
                <a:tc>
                  <a:txBody>
                    <a:bodyPr/>
                    <a:lstStyle/>
                    <a:p>
                      <a:r>
                        <a:rPr lang="en-US" altLang="zh-CN" sz="1050" dirty="0">
                          <a:latin typeface="微软雅黑" panose="020B0503020204020204" charset="-122"/>
                          <a:ea typeface="微软雅黑" panose="020B0503020204020204" charset="-122"/>
                        </a:rPr>
                        <a:t>T4:</a:t>
                      </a:r>
                      <a:r>
                        <a:rPr lang="zh-CN" altLang="en-US" sz="1050" dirty="0">
                          <a:latin typeface="微软雅黑" panose="020B0503020204020204" charset="-122"/>
                          <a:ea typeface="微软雅黑" panose="020B0503020204020204" charset="-122"/>
                        </a:rPr>
                        <a:t>梳理流程框架</a:t>
                      </a:r>
                      <a:r>
                        <a:rPr lang="en-US" altLang="zh-CN" sz="1050" dirty="0">
                          <a:latin typeface="微软雅黑" panose="020B0503020204020204" charset="-122"/>
                          <a:ea typeface="微软雅黑" panose="020B0503020204020204" charset="-122"/>
                        </a:rPr>
                        <a:t>1.0</a:t>
                      </a:r>
                      <a:endParaRPr lang="zh-CN" altLang="en-US" sz="1050" dirty="0">
                        <a:latin typeface="微软雅黑" panose="020B0503020204020204" charset="-122"/>
                        <a:ea typeface="微软雅黑" panose="020B0503020204020204" charset="-122"/>
                      </a:endParaRP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263127">
                <a:tc>
                  <a:txBody>
                    <a:bodyPr/>
                    <a:lstStyle/>
                    <a:p>
                      <a:r>
                        <a:rPr lang="en-US" altLang="zh-CN" sz="1050" dirty="0">
                          <a:latin typeface="微软雅黑" panose="020B0503020204020204" charset="-122"/>
                          <a:ea typeface="微软雅黑" panose="020B0503020204020204" charset="-122"/>
                        </a:rPr>
                        <a:t>T5:</a:t>
                      </a:r>
                      <a:r>
                        <a:rPr lang="zh-CN" altLang="en-US" sz="1050" dirty="0">
                          <a:latin typeface="微软雅黑" panose="020B0503020204020204" charset="-122"/>
                          <a:ea typeface="微软雅黑" panose="020B0503020204020204" charset="-122"/>
                        </a:rPr>
                        <a:t>整理成熟度模型</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263127">
                <a:tc>
                  <a:txBody>
                    <a:bodyPr/>
                    <a:lstStyle/>
                    <a:p>
                      <a:r>
                        <a:rPr lang="en-US" altLang="zh-CN" sz="1050" dirty="0">
                          <a:latin typeface="微软雅黑" panose="020B0503020204020204" charset="-122"/>
                          <a:ea typeface="微软雅黑" panose="020B0503020204020204" charset="-122"/>
                        </a:rPr>
                        <a:t>T6:</a:t>
                      </a:r>
                      <a:r>
                        <a:rPr lang="zh-CN" altLang="en-US" sz="1050" dirty="0">
                          <a:latin typeface="微软雅黑" panose="020B0503020204020204" charset="-122"/>
                          <a:ea typeface="微软雅黑" panose="020B0503020204020204" charset="-122"/>
                        </a:rPr>
                        <a:t>成熟度评价</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263127">
                <a:tc>
                  <a:txBody>
                    <a:bodyPr/>
                    <a:lstStyle/>
                    <a:p>
                      <a:r>
                        <a:rPr lang="en-US" altLang="zh-CN" sz="1050" dirty="0">
                          <a:latin typeface="微软雅黑" panose="020B0503020204020204" charset="-122"/>
                          <a:ea typeface="微软雅黑" panose="020B0503020204020204" charset="-122"/>
                        </a:rPr>
                        <a:t>T7:</a:t>
                      </a:r>
                      <a:r>
                        <a:rPr lang="zh-CN" altLang="en-US" sz="1050" dirty="0">
                          <a:latin typeface="微软雅黑" panose="020B0503020204020204" charset="-122"/>
                          <a:ea typeface="微软雅黑" panose="020B0503020204020204" charset="-122"/>
                        </a:rPr>
                        <a:t>现状分析及改进方向</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8"/>
                  </a:ext>
                </a:extLst>
              </a:tr>
              <a:tr h="263127">
                <a:tc>
                  <a:txBody>
                    <a:bodyPr/>
                    <a:lstStyle/>
                    <a:p>
                      <a:r>
                        <a:rPr lang="en-US" altLang="zh-CN" sz="1050" b="1" dirty="0">
                          <a:latin typeface="微软雅黑" panose="020B0503020204020204" charset="-122"/>
                          <a:ea typeface="微软雅黑" panose="020B0503020204020204" charset="-122"/>
                        </a:rPr>
                        <a:t>M1 </a:t>
                      </a:r>
                      <a:r>
                        <a:rPr lang="zh-CN" altLang="en-US" sz="1050" b="1" dirty="0">
                          <a:latin typeface="微软雅黑" panose="020B0503020204020204" charset="-122"/>
                          <a:ea typeface="微软雅黑" panose="020B0503020204020204" charset="-122"/>
                        </a:rPr>
                        <a:t>现状评估报告</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63127">
                <a:tc>
                  <a:txBody>
                    <a:bodyPr/>
                    <a:lstStyle/>
                    <a:p>
                      <a:r>
                        <a:rPr lang="en-US" altLang="zh-CN" sz="1050" dirty="0">
                          <a:latin typeface="微软雅黑" panose="020B0503020204020204" charset="-122"/>
                          <a:ea typeface="微软雅黑" panose="020B0503020204020204" charset="-122"/>
                        </a:rPr>
                        <a:t>T8:</a:t>
                      </a:r>
                      <a:r>
                        <a:rPr lang="zh-CN" altLang="en-US" sz="1050" dirty="0">
                          <a:latin typeface="微软雅黑" panose="020B0503020204020204" charset="-122"/>
                          <a:ea typeface="微软雅黑" panose="020B0503020204020204" charset="-122"/>
                        </a:rPr>
                        <a:t>计划模式共识</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0"/>
                  </a:ext>
                </a:extLst>
              </a:tr>
              <a:tr h="263127">
                <a:tc>
                  <a:txBody>
                    <a:bodyPr/>
                    <a:lstStyle/>
                    <a:p>
                      <a:r>
                        <a:rPr lang="en-US" altLang="zh-CN" sz="1050" dirty="0">
                          <a:latin typeface="微软雅黑" panose="020B0503020204020204" charset="-122"/>
                          <a:ea typeface="微软雅黑" panose="020B0503020204020204" charset="-122"/>
                        </a:rPr>
                        <a:t>T9:</a:t>
                      </a:r>
                      <a:r>
                        <a:rPr lang="zh-CN" altLang="en-US" sz="1050" dirty="0">
                          <a:latin typeface="微软雅黑" panose="020B0503020204020204" charset="-122"/>
                          <a:ea typeface="微软雅黑" panose="020B0503020204020204" charset="-122"/>
                        </a:rPr>
                        <a:t>业务方案设计</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1"/>
                  </a:ext>
                </a:extLst>
              </a:tr>
              <a:tr h="263127">
                <a:tc>
                  <a:txBody>
                    <a:bodyPr/>
                    <a:lstStyle/>
                    <a:p>
                      <a:r>
                        <a:rPr lang="en-US" altLang="zh-CN" sz="1050" dirty="0">
                          <a:latin typeface="微软雅黑" panose="020B0503020204020204" charset="-122"/>
                          <a:ea typeface="微软雅黑" panose="020B0503020204020204" charset="-122"/>
                        </a:rPr>
                        <a:t>T10:</a:t>
                      </a:r>
                      <a:r>
                        <a:rPr lang="zh-CN" altLang="en-US" sz="1050" dirty="0">
                          <a:latin typeface="微软雅黑" panose="020B0503020204020204" charset="-122"/>
                          <a:ea typeface="微软雅黑" panose="020B0503020204020204" charset="-122"/>
                        </a:rPr>
                        <a:t>调整流程框架</a:t>
                      </a:r>
                      <a:r>
                        <a:rPr lang="en-US" altLang="zh-CN" sz="1050" dirty="0">
                          <a:latin typeface="微软雅黑" panose="020B0503020204020204" charset="-122"/>
                          <a:ea typeface="微软雅黑" panose="020B0503020204020204" charset="-122"/>
                        </a:rPr>
                        <a:t>2.0</a:t>
                      </a:r>
                      <a:endParaRPr lang="zh-CN" altLang="en-US" sz="1050" dirty="0">
                        <a:latin typeface="微软雅黑" panose="020B0503020204020204" charset="-122"/>
                        <a:ea typeface="微软雅黑" panose="020B0503020204020204" charset="-122"/>
                      </a:endParaRP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2"/>
                  </a:ext>
                </a:extLst>
              </a:tr>
              <a:tr h="263127">
                <a:tc>
                  <a:txBody>
                    <a:bodyPr/>
                    <a:lstStyle/>
                    <a:p>
                      <a:r>
                        <a:rPr lang="en-US" altLang="zh-CN" sz="1050" b="1" dirty="0">
                          <a:latin typeface="微软雅黑" panose="020B0503020204020204" charset="-122"/>
                          <a:ea typeface="微软雅黑" panose="020B0503020204020204" charset="-122"/>
                        </a:rPr>
                        <a:t>M2 </a:t>
                      </a:r>
                      <a:r>
                        <a:rPr lang="zh-CN" altLang="en-US" sz="1050" b="1" dirty="0">
                          <a:latin typeface="微软雅黑" panose="020B0503020204020204" charset="-122"/>
                          <a:ea typeface="微软雅黑" panose="020B0503020204020204" charset="-122"/>
                        </a:rPr>
                        <a:t>顶层设计报告</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3"/>
                  </a:ext>
                </a:extLst>
              </a:tr>
              <a:tr h="263127">
                <a:tc>
                  <a:txBody>
                    <a:bodyPr/>
                    <a:lstStyle/>
                    <a:p>
                      <a:r>
                        <a:rPr lang="en-US" altLang="zh-CN" sz="1050" dirty="0">
                          <a:latin typeface="微软雅黑" panose="020B0503020204020204" charset="-122"/>
                          <a:ea typeface="微软雅黑" panose="020B0503020204020204" charset="-122"/>
                        </a:rPr>
                        <a:t>T11:</a:t>
                      </a:r>
                      <a:r>
                        <a:rPr lang="zh-CN" altLang="en-US" sz="1050" dirty="0">
                          <a:latin typeface="微软雅黑" panose="020B0503020204020204" charset="-122"/>
                          <a:ea typeface="微软雅黑" panose="020B0503020204020204" charset="-122"/>
                        </a:rPr>
                        <a:t>设计详细流程</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4"/>
                  </a:ext>
                </a:extLst>
              </a:tr>
              <a:tr h="263127">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050" dirty="0">
                          <a:latin typeface="微软雅黑" panose="020B0503020204020204" charset="-122"/>
                          <a:ea typeface="微软雅黑" panose="020B0503020204020204" charset="-122"/>
                        </a:rPr>
                        <a:t>T12:</a:t>
                      </a:r>
                      <a:r>
                        <a:rPr lang="zh-CN" altLang="en-US" sz="1050" dirty="0">
                          <a:latin typeface="微软雅黑" panose="020B0503020204020204" charset="-122"/>
                          <a:ea typeface="微软雅黑" panose="020B0503020204020204" charset="-122"/>
                        </a:rPr>
                        <a:t>梳理</a:t>
                      </a:r>
                      <a:r>
                        <a:rPr lang="en-US" altLang="zh-CN" sz="1050" dirty="0">
                          <a:latin typeface="微软雅黑" panose="020B0503020204020204" charset="-122"/>
                          <a:ea typeface="微软雅黑" panose="020B0503020204020204" charset="-122"/>
                        </a:rPr>
                        <a:t>IT</a:t>
                      </a:r>
                      <a:r>
                        <a:rPr lang="zh-CN" altLang="en-US" sz="1050" dirty="0">
                          <a:latin typeface="微软雅黑" panose="020B0503020204020204" charset="-122"/>
                          <a:ea typeface="微软雅黑" panose="020B0503020204020204" charset="-122"/>
                        </a:rPr>
                        <a:t>需求</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5"/>
                  </a:ext>
                </a:extLst>
              </a:tr>
              <a:tr h="263127">
                <a:tc>
                  <a:txBody>
                    <a:bodyPr/>
                    <a:lstStyle/>
                    <a:p>
                      <a:r>
                        <a:rPr lang="en-US" altLang="zh-CN" sz="1050" dirty="0">
                          <a:latin typeface="微软雅黑" panose="020B0503020204020204" charset="-122"/>
                          <a:ea typeface="微软雅黑" panose="020B0503020204020204" charset="-122"/>
                        </a:rPr>
                        <a:t>T13:</a:t>
                      </a:r>
                      <a:r>
                        <a:rPr lang="zh-CN" altLang="en-US" sz="1050" dirty="0">
                          <a:latin typeface="微软雅黑" panose="020B0503020204020204" charset="-122"/>
                          <a:ea typeface="微软雅黑" panose="020B0503020204020204" charset="-122"/>
                        </a:rPr>
                        <a:t>组织配套建议</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6"/>
                  </a:ext>
                </a:extLst>
              </a:tr>
              <a:tr h="263127">
                <a:tc>
                  <a:txBody>
                    <a:bodyPr/>
                    <a:lstStyle/>
                    <a:p>
                      <a:r>
                        <a:rPr lang="en-US" altLang="zh-CN" sz="1050" dirty="0">
                          <a:latin typeface="微软雅黑" panose="020B0503020204020204" charset="-122"/>
                          <a:ea typeface="微软雅黑" panose="020B0503020204020204" charset="-122"/>
                        </a:rPr>
                        <a:t>T14:</a:t>
                      </a:r>
                      <a:r>
                        <a:rPr lang="zh-CN" altLang="en-US" sz="1050" dirty="0">
                          <a:latin typeface="微软雅黑" panose="020B0503020204020204" charset="-122"/>
                          <a:ea typeface="微软雅黑" panose="020B0503020204020204" charset="-122"/>
                        </a:rPr>
                        <a:t>绩效配套建议</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7"/>
                  </a:ext>
                </a:extLst>
              </a:tr>
              <a:tr h="263127">
                <a:tc>
                  <a:txBody>
                    <a:bodyPr/>
                    <a:lstStyle/>
                    <a:p>
                      <a:r>
                        <a:rPr lang="en-US" altLang="zh-CN" sz="1050" dirty="0">
                          <a:latin typeface="微软雅黑" panose="020B0503020204020204" charset="-122"/>
                          <a:ea typeface="微软雅黑" panose="020B0503020204020204" charset="-122"/>
                        </a:rPr>
                        <a:t>T15:</a:t>
                      </a:r>
                      <a:r>
                        <a:rPr lang="zh-CN" altLang="en-US" sz="1050" dirty="0">
                          <a:latin typeface="微软雅黑" panose="020B0503020204020204" charset="-122"/>
                          <a:ea typeface="微软雅黑" panose="020B0503020204020204" charset="-122"/>
                        </a:rPr>
                        <a:t>设计系统功能蓝图</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8"/>
                  </a:ext>
                </a:extLst>
              </a:tr>
              <a:tr h="263127">
                <a:tc>
                  <a:txBody>
                    <a:bodyPr/>
                    <a:lstStyle/>
                    <a:p>
                      <a:r>
                        <a:rPr lang="en-US" altLang="zh-CN" sz="1050" b="1" dirty="0">
                          <a:latin typeface="微软雅黑" panose="020B0503020204020204" charset="-122"/>
                          <a:ea typeface="微软雅黑" panose="020B0503020204020204" charset="-122"/>
                        </a:rPr>
                        <a:t>M3 </a:t>
                      </a:r>
                      <a:r>
                        <a:rPr lang="zh-CN" altLang="en-US" sz="1050" b="1" dirty="0">
                          <a:latin typeface="微软雅黑" panose="020B0503020204020204" charset="-122"/>
                          <a:ea typeface="微软雅黑" panose="020B0503020204020204" charset="-122"/>
                        </a:rPr>
                        <a:t>详细设计报告</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CN" altLang="en-US" sz="1200" dirty="0">
                        <a:latin typeface="微软雅黑" panose="020B0503020204020204" charset="-122"/>
                        <a:ea typeface="微软雅黑" panose="020B0503020204020204"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9"/>
                  </a:ext>
                </a:extLst>
              </a:tr>
            </a:tbl>
          </a:graphicData>
        </a:graphic>
      </p:graphicFrame>
      <p:sp>
        <p:nvSpPr>
          <p:cNvPr id="4" name="矩形 3"/>
          <p:cNvSpPr/>
          <p:nvPr/>
        </p:nvSpPr>
        <p:spPr bwMode="auto">
          <a:xfrm>
            <a:off x="1836704" y="1868617"/>
            <a:ext cx="990000"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5" name="矩形 4"/>
          <p:cNvSpPr/>
          <p:nvPr/>
        </p:nvSpPr>
        <p:spPr bwMode="auto">
          <a:xfrm>
            <a:off x="1836704" y="2132980"/>
            <a:ext cx="990000"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6" name="矩形 5"/>
          <p:cNvSpPr/>
          <p:nvPr/>
        </p:nvSpPr>
        <p:spPr bwMode="auto">
          <a:xfrm>
            <a:off x="1836704" y="2397118"/>
            <a:ext cx="990000"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7" name="矩形 6"/>
          <p:cNvSpPr/>
          <p:nvPr/>
        </p:nvSpPr>
        <p:spPr bwMode="auto">
          <a:xfrm>
            <a:off x="1836704" y="2658446"/>
            <a:ext cx="990000"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8" name="矩形 7"/>
          <p:cNvSpPr/>
          <p:nvPr/>
        </p:nvSpPr>
        <p:spPr bwMode="auto">
          <a:xfrm>
            <a:off x="2366948" y="2922584"/>
            <a:ext cx="195278"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9" name="矩形 8"/>
          <p:cNvSpPr/>
          <p:nvPr/>
        </p:nvSpPr>
        <p:spPr bwMode="auto">
          <a:xfrm>
            <a:off x="2366948" y="3174998"/>
            <a:ext cx="471502"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10" name="矩形 9"/>
          <p:cNvSpPr/>
          <p:nvPr/>
        </p:nvSpPr>
        <p:spPr bwMode="auto">
          <a:xfrm>
            <a:off x="2366948" y="3450614"/>
            <a:ext cx="728678"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12" name="菱形 11"/>
          <p:cNvSpPr/>
          <p:nvPr/>
        </p:nvSpPr>
        <p:spPr bwMode="auto">
          <a:xfrm>
            <a:off x="2916226" y="3709378"/>
            <a:ext cx="144000" cy="180000"/>
          </a:xfrm>
          <a:prstGeom prst="diamond">
            <a:avLst/>
          </a:prstGeom>
          <a:solidFill>
            <a:schemeClr val="accent2"/>
          </a:solidFill>
          <a:ln w="28575" algn="ctr">
            <a:noFill/>
            <a:round/>
          </a:ln>
        </p:spPr>
        <p:txBody>
          <a:bodyPr anchor="ctr"/>
          <a:lstStyle/>
          <a:p>
            <a:pPr algn="ctr" eaLnBrk="0" fontAlgn="auto" hangingPunct="0">
              <a:lnSpc>
                <a:spcPct val="125000"/>
              </a:lnSpc>
              <a:spcBef>
                <a:spcPts val="0"/>
              </a:spcBef>
              <a:spcAft>
                <a:spcPts val="0"/>
              </a:spcAft>
              <a:defRPr/>
            </a:pPr>
            <a:endParaRPr lang="zh-CN" altLang="en-US" sz="1050" kern="0" dirty="0">
              <a:solidFill>
                <a:prstClr val="black"/>
              </a:solidFill>
              <a:latin typeface="Modern H Medium" pitchFamily="50" charset="-127"/>
              <a:ea typeface="Modern H Medium" pitchFamily="50" charset="-127"/>
              <a:sym typeface="Trebuchet MS" panose="020B0603020202020204" pitchFamily="34" charset="0"/>
            </a:endParaRPr>
          </a:p>
        </p:txBody>
      </p:sp>
      <p:sp>
        <p:nvSpPr>
          <p:cNvPr id="13" name="矩形 12"/>
          <p:cNvSpPr/>
          <p:nvPr/>
        </p:nvSpPr>
        <p:spPr bwMode="auto">
          <a:xfrm>
            <a:off x="3165445" y="3976691"/>
            <a:ext cx="720755"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14" name="矩形 13"/>
          <p:cNvSpPr/>
          <p:nvPr/>
        </p:nvSpPr>
        <p:spPr bwMode="auto">
          <a:xfrm>
            <a:off x="3681411" y="4236432"/>
            <a:ext cx="1525590"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15" name="菱形 14"/>
          <p:cNvSpPr/>
          <p:nvPr/>
        </p:nvSpPr>
        <p:spPr bwMode="auto">
          <a:xfrm>
            <a:off x="5300669" y="4771332"/>
            <a:ext cx="144000" cy="180000"/>
          </a:xfrm>
          <a:prstGeom prst="diamond">
            <a:avLst/>
          </a:prstGeom>
          <a:solidFill>
            <a:schemeClr val="accent2"/>
          </a:solidFill>
          <a:ln w="28575" algn="ctr">
            <a:noFill/>
            <a:round/>
          </a:ln>
        </p:spPr>
        <p:txBody>
          <a:bodyPr anchor="ctr"/>
          <a:lstStyle/>
          <a:p>
            <a:pPr algn="ctr" eaLnBrk="0" fontAlgn="auto" hangingPunct="0">
              <a:lnSpc>
                <a:spcPct val="125000"/>
              </a:lnSpc>
              <a:spcBef>
                <a:spcPts val="0"/>
              </a:spcBef>
              <a:spcAft>
                <a:spcPts val="0"/>
              </a:spcAft>
              <a:defRPr/>
            </a:pPr>
            <a:endParaRPr lang="zh-CN" altLang="en-US" sz="1050" kern="0" dirty="0">
              <a:solidFill>
                <a:prstClr val="black"/>
              </a:solidFill>
              <a:latin typeface="Modern H Medium" pitchFamily="50" charset="-127"/>
              <a:ea typeface="Modern H Medium" pitchFamily="50" charset="-127"/>
              <a:sym typeface="Trebuchet MS" panose="020B0603020202020204" pitchFamily="34" charset="0"/>
            </a:endParaRPr>
          </a:p>
        </p:txBody>
      </p:sp>
      <p:sp>
        <p:nvSpPr>
          <p:cNvPr id="16" name="矩形 15"/>
          <p:cNvSpPr/>
          <p:nvPr/>
        </p:nvSpPr>
        <p:spPr bwMode="auto">
          <a:xfrm>
            <a:off x="4738691" y="4504904"/>
            <a:ext cx="733422"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17" name="矩形 16"/>
          <p:cNvSpPr/>
          <p:nvPr/>
        </p:nvSpPr>
        <p:spPr bwMode="auto">
          <a:xfrm>
            <a:off x="5543793" y="5034950"/>
            <a:ext cx="2573321"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18" name="矩形 17"/>
          <p:cNvSpPr/>
          <p:nvPr/>
        </p:nvSpPr>
        <p:spPr bwMode="auto">
          <a:xfrm>
            <a:off x="5543793" y="5291674"/>
            <a:ext cx="2573321"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19" name="矩形 18"/>
          <p:cNvSpPr/>
          <p:nvPr/>
        </p:nvSpPr>
        <p:spPr bwMode="auto">
          <a:xfrm>
            <a:off x="7910544" y="5557626"/>
            <a:ext cx="733422"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20" name="矩形 19"/>
          <p:cNvSpPr/>
          <p:nvPr/>
        </p:nvSpPr>
        <p:spPr bwMode="auto">
          <a:xfrm>
            <a:off x="7910544" y="5806254"/>
            <a:ext cx="733422"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21" name="矩形 20"/>
          <p:cNvSpPr/>
          <p:nvPr/>
        </p:nvSpPr>
        <p:spPr bwMode="auto">
          <a:xfrm>
            <a:off x="8167268" y="6077492"/>
            <a:ext cx="733422" cy="180000"/>
          </a:xfrm>
          <a:prstGeom prst="rect">
            <a:avLst/>
          </a:prstGeom>
          <a:solidFill>
            <a:srgbClr val="FFC000"/>
          </a:solidFill>
          <a:ln w="28575" algn="ctr">
            <a:noFill/>
            <a:round/>
          </a:ln>
        </p:spPr>
        <p:txBody>
          <a:bodyPr rtlCol="0" anchor="ctr"/>
          <a:lstStyle/>
          <a:p>
            <a:pPr algn="ctr" eaLnBrk="0" fontAlgn="auto" hangingPunct="0">
              <a:lnSpc>
                <a:spcPct val="125000"/>
              </a:lnSpc>
              <a:spcBef>
                <a:spcPts val="0"/>
              </a:spcBef>
              <a:spcAft>
                <a:spcPts val="0"/>
              </a:spcAft>
            </a:pPr>
            <a:endParaRPr lang="zh-CN" altLang="en-US" sz="1050" kern="0" dirty="0">
              <a:latin typeface="Modern H Medium" pitchFamily="50" charset="-127"/>
              <a:ea typeface="Modern H Medium" pitchFamily="50" charset="-127"/>
              <a:sym typeface="Trebuchet MS" panose="020B0603020202020204" pitchFamily="34" charset="0"/>
            </a:endParaRPr>
          </a:p>
        </p:txBody>
      </p:sp>
      <p:sp>
        <p:nvSpPr>
          <p:cNvPr id="22" name="菱形 21"/>
          <p:cNvSpPr/>
          <p:nvPr/>
        </p:nvSpPr>
        <p:spPr bwMode="auto">
          <a:xfrm>
            <a:off x="8727662" y="6335348"/>
            <a:ext cx="144000" cy="180000"/>
          </a:xfrm>
          <a:prstGeom prst="diamond">
            <a:avLst/>
          </a:prstGeom>
          <a:solidFill>
            <a:schemeClr val="accent2"/>
          </a:solidFill>
          <a:ln w="28575" algn="ctr">
            <a:noFill/>
            <a:round/>
          </a:ln>
        </p:spPr>
        <p:txBody>
          <a:bodyPr anchor="ctr"/>
          <a:lstStyle/>
          <a:p>
            <a:pPr algn="ctr" eaLnBrk="0" fontAlgn="auto" hangingPunct="0">
              <a:lnSpc>
                <a:spcPct val="125000"/>
              </a:lnSpc>
              <a:spcBef>
                <a:spcPts val="0"/>
              </a:spcBef>
              <a:spcAft>
                <a:spcPts val="0"/>
              </a:spcAft>
              <a:defRPr/>
            </a:pPr>
            <a:endParaRPr lang="zh-CN" altLang="en-US" sz="1050" kern="0" dirty="0">
              <a:solidFill>
                <a:prstClr val="black"/>
              </a:solidFill>
              <a:latin typeface="Modern H Medium" pitchFamily="50" charset="-127"/>
              <a:ea typeface="Modern H Medium" pitchFamily="50" charset="-127"/>
              <a:sym typeface="Trebuchet MS" panose="020B0603020202020204" pitchFamily="34" charset="0"/>
            </a:endParaRPr>
          </a:p>
        </p:txBody>
      </p:sp>
      <p:grpSp>
        <p:nvGrpSpPr>
          <p:cNvPr id="2" name="Group 13"/>
          <p:cNvGrpSpPr/>
          <p:nvPr/>
        </p:nvGrpSpPr>
        <p:grpSpPr bwMode="auto">
          <a:xfrm>
            <a:off x="2443374" y="1829468"/>
            <a:ext cx="1223963" cy="5030621"/>
            <a:chOff x="2629" y="1933"/>
            <a:chExt cx="771" cy="2319"/>
          </a:xfrm>
        </p:grpSpPr>
        <p:sp>
          <p:nvSpPr>
            <p:cNvPr id="24" name="Text Box 3501"/>
            <p:cNvSpPr txBox="1">
              <a:spLocks noChangeArrowheads="1"/>
            </p:cNvSpPr>
            <p:nvPr/>
          </p:nvSpPr>
          <p:spPr bwMode="auto">
            <a:xfrm>
              <a:off x="2629" y="4124"/>
              <a:ext cx="771" cy="128"/>
            </a:xfrm>
            <a:prstGeom prst="rect">
              <a:avLst/>
            </a:prstGeom>
            <a:noFill/>
            <a:ln w="9525">
              <a:noFill/>
              <a:miter lim="800000"/>
            </a:ln>
          </p:spPr>
          <p:txBody>
            <a:bodyPr>
              <a:spAutoFit/>
            </a:bodyPr>
            <a:lstStyle/>
            <a:p>
              <a:pPr algn="ctr">
                <a:spcBef>
                  <a:spcPct val="50000"/>
                </a:spcBef>
              </a:pPr>
              <a:r>
                <a:rPr lang="zh-CN" altLang="en-US" sz="1200" b="1" dirty="0">
                  <a:latin typeface="微软雅黑" panose="020B0503020204020204" charset="-122"/>
                  <a:ea typeface="微软雅黑" panose="020B0503020204020204" charset="-122"/>
                </a:rPr>
                <a:t>当前所处阶段</a:t>
              </a:r>
            </a:p>
          </p:txBody>
        </p:sp>
        <p:sp>
          <p:nvSpPr>
            <p:cNvPr id="25" name="AutoShape 3500"/>
            <p:cNvSpPr>
              <a:spLocks noChangeArrowheads="1"/>
            </p:cNvSpPr>
            <p:nvPr/>
          </p:nvSpPr>
          <p:spPr bwMode="auto">
            <a:xfrm>
              <a:off x="2925" y="4047"/>
              <a:ext cx="180" cy="90"/>
            </a:xfrm>
            <a:prstGeom prst="triangle">
              <a:avLst>
                <a:gd name="adj" fmla="val 50000"/>
              </a:avLst>
            </a:prstGeom>
            <a:solidFill>
              <a:srgbClr val="FF0000"/>
            </a:solidFill>
            <a:ln w="9525">
              <a:noFill/>
              <a:miter lim="800000"/>
            </a:ln>
          </p:spPr>
          <p:txBody>
            <a:bodyPr wrap="none" anchor="ctr"/>
            <a:lstStyle/>
            <a:p>
              <a:endParaRPr lang="zh-CN" altLang="zh-CN" sz="1400"/>
            </a:p>
          </p:txBody>
        </p:sp>
        <p:sp>
          <p:nvSpPr>
            <p:cNvPr id="26" name="Line 16"/>
            <p:cNvSpPr>
              <a:spLocks noChangeShapeType="1"/>
            </p:cNvSpPr>
            <p:nvPr/>
          </p:nvSpPr>
          <p:spPr bwMode="auto">
            <a:xfrm>
              <a:off x="3016" y="1933"/>
              <a:ext cx="0" cy="2157"/>
            </a:xfrm>
            <a:prstGeom prst="line">
              <a:avLst/>
            </a:prstGeom>
            <a:noFill/>
            <a:ln w="19050">
              <a:solidFill>
                <a:srgbClr val="FF0000"/>
              </a:solidFill>
              <a:round/>
            </a:ln>
          </p:spPr>
          <p:txBody>
            <a:bodyPr/>
            <a:lstStyle/>
            <a:p>
              <a:endParaRPr lang="zh-CN" alt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2"/>
          <p:cNvSpPr>
            <a:spLocks noChangeArrowheads="1"/>
          </p:cNvSpPr>
          <p:nvPr/>
        </p:nvSpPr>
        <p:spPr bwMode="auto">
          <a:xfrm>
            <a:off x="365760" y="4127817"/>
            <a:ext cx="2160588" cy="2447925"/>
          </a:xfrm>
          <a:prstGeom prst="rightArrow">
            <a:avLst>
              <a:gd name="adj1" fmla="val 75685"/>
              <a:gd name="adj2" fmla="val 64218"/>
            </a:avLst>
          </a:prstGeom>
          <a:gradFill rotWithShape="1">
            <a:gsLst>
              <a:gs pos="0">
                <a:srgbClr val="FFFFFF"/>
              </a:gs>
              <a:gs pos="100000">
                <a:srgbClr val="FFFF00"/>
              </a:gs>
            </a:gsLst>
            <a:lin ang="0" scaled="1"/>
          </a:gradFill>
          <a:ln w="9525" algn="ctr">
            <a:noFill/>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外</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部</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研</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究</a:t>
            </a:r>
          </a:p>
        </p:txBody>
      </p:sp>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集成计划组现状调研阶段的主要工作思路</a:t>
            </a:r>
          </a:p>
        </p:txBody>
      </p:sp>
      <p:sp>
        <p:nvSpPr>
          <p:cNvPr id="3" name="AutoShape 3"/>
          <p:cNvSpPr>
            <a:spLocks noChangeArrowheads="1"/>
          </p:cNvSpPr>
          <p:nvPr/>
        </p:nvSpPr>
        <p:spPr bwMode="auto">
          <a:xfrm>
            <a:off x="365760" y="1463992"/>
            <a:ext cx="2160588" cy="2590800"/>
          </a:xfrm>
          <a:prstGeom prst="rightArrow">
            <a:avLst>
              <a:gd name="adj1" fmla="val 75685"/>
              <a:gd name="adj2" fmla="val 64218"/>
            </a:avLst>
          </a:prstGeom>
          <a:gradFill rotWithShape="1">
            <a:gsLst>
              <a:gs pos="0">
                <a:srgbClr val="FFFFFF"/>
              </a:gs>
              <a:gs pos="100000">
                <a:srgbClr val="FFFF00"/>
              </a:gs>
            </a:gsLst>
            <a:lin ang="0" scaled="1"/>
          </a:gradFill>
          <a:ln w="9525" algn="ctr">
            <a:noFill/>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内</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部</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研</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究</a:t>
            </a:r>
          </a:p>
        </p:txBody>
      </p:sp>
      <p:sp>
        <p:nvSpPr>
          <p:cNvPr id="4" name="Rectangle 5"/>
          <p:cNvSpPr>
            <a:spLocks noChangeArrowheads="1"/>
          </p:cNvSpPr>
          <p:nvPr/>
        </p:nvSpPr>
        <p:spPr bwMode="auto">
          <a:xfrm>
            <a:off x="1215186" y="1428736"/>
            <a:ext cx="1620000" cy="504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marL="0" marR="0" lvl="0" indent="0" algn="ctr" defTabSz="914400" eaLnBrk="1" fontAlgn="auto" latinLnBrk="0" hangingPunct="1">
              <a:spcBef>
                <a:spcPts val="0"/>
              </a:spcBef>
              <a:spcAft>
                <a:spcPts val="0"/>
              </a:spcAft>
              <a:buClrTx/>
              <a:buSzTx/>
              <a:buFontTx/>
              <a:buNone/>
              <a:defRPr/>
            </a:pPr>
            <a:r>
              <a:rPr lang="en-US" altLang="zh-CN" sz="1400" b="1" kern="0" dirty="0">
                <a:solidFill>
                  <a:sysClr val="windowText" lastClr="000000"/>
                </a:solidFill>
                <a:latin typeface="微软雅黑" panose="020B0503020204020204" charset="-122"/>
                <a:ea typeface="微软雅黑" panose="020B0503020204020204" charset="-122"/>
              </a:rPr>
              <a:t>SCM</a:t>
            </a:r>
            <a:r>
              <a:rPr lang="zh-CN" altLang="en-US" sz="1400" b="1" kern="0" dirty="0">
                <a:solidFill>
                  <a:sysClr val="windowText" lastClr="000000"/>
                </a:solidFill>
                <a:latin typeface="微软雅黑" panose="020B0503020204020204" charset="-122"/>
                <a:ea typeface="微软雅黑" panose="020B0503020204020204" charset="-122"/>
              </a:rPr>
              <a:t>转型目标</a:t>
            </a:r>
            <a:endPar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5" name="Rectangle 6"/>
          <p:cNvSpPr>
            <a:spLocks noChangeArrowheads="1"/>
          </p:cNvSpPr>
          <p:nvPr/>
        </p:nvSpPr>
        <p:spPr bwMode="auto">
          <a:xfrm>
            <a:off x="1215186" y="2119303"/>
            <a:ext cx="1620000" cy="504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marL="0" marR="0" lvl="0" indent="0" algn="ctr" defTabSz="914400" eaLnBrk="1" fontAlgn="auto" latinLnBrk="0" hangingPunct="1">
              <a:spcBef>
                <a:spcPts val="0"/>
              </a:spcBef>
              <a:spcAft>
                <a:spcPts val="0"/>
              </a:spcAft>
              <a:buClrTx/>
              <a:buSzTx/>
              <a:buFontTx/>
              <a:buNone/>
              <a:defRPr/>
            </a:pPr>
            <a:r>
              <a:rPr lang="zh-CN" altLang="en-US" sz="1400" b="1" kern="0" dirty="0">
                <a:solidFill>
                  <a:sysClr val="windowText" lastClr="000000"/>
                </a:solidFill>
                <a:latin typeface="微软雅黑" panose="020B0503020204020204" charset="-122"/>
                <a:ea typeface="微软雅黑" panose="020B0503020204020204" charset="-122"/>
              </a:rPr>
              <a:t>中高层</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访谈调研</a:t>
            </a:r>
          </a:p>
        </p:txBody>
      </p:sp>
      <p:sp>
        <p:nvSpPr>
          <p:cNvPr id="6" name="Rectangle 7"/>
          <p:cNvSpPr>
            <a:spLocks noChangeArrowheads="1"/>
          </p:cNvSpPr>
          <p:nvPr/>
        </p:nvSpPr>
        <p:spPr bwMode="auto">
          <a:xfrm>
            <a:off x="1215186" y="2809870"/>
            <a:ext cx="1620000" cy="504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marL="0" marR="0" lvl="0" indent="0" algn="ctr" defTabSz="914400" eaLnBrk="1" fontAlgn="auto" latinLnBrk="0" hangingPunct="1">
              <a:spcBef>
                <a:spcPts val="0"/>
              </a:spcBef>
              <a:spcAft>
                <a:spcPts val="0"/>
              </a:spcAft>
              <a:buClrTx/>
              <a:buSzTx/>
              <a:buFontTx/>
              <a:buNone/>
              <a:defRPr/>
            </a:pPr>
            <a:r>
              <a:rPr lang="zh-CN" altLang="en-US" sz="1400" b="1" kern="0" dirty="0">
                <a:solidFill>
                  <a:sysClr val="windowText" lastClr="000000"/>
                </a:solidFill>
                <a:latin typeface="微软雅黑" panose="020B0503020204020204" charset="-122"/>
                <a:ea typeface="微软雅黑" panose="020B0503020204020204" charset="-122"/>
              </a:rPr>
              <a:t>业务成熟度评估</a:t>
            </a:r>
            <a:endPar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7" name="Rectangle 8"/>
          <p:cNvSpPr>
            <a:spLocks noChangeArrowheads="1"/>
          </p:cNvSpPr>
          <p:nvPr/>
        </p:nvSpPr>
        <p:spPr bwMode="auto">
          <a:xfrm>
            <a:off x="3643306" y="2364022"/>
            <a:ext cx="357190" cy="2302197"/>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marL="0" marR="0" lvl="0" indent="0" algn="ctr" defTabSz="914400" eaLnBrk="1" fontAlgn="auto" latinLnBrk="0" hangingPunct="1">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现</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algn="ctr" defTabSz="914400" eaLnBrk="1" fontAlgn="auto" latinLnBrk="0" hangingPunct="1">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状</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algn="ctr" defTabSz="914400" eaLnBrk="1" fontAlgn="auto" latinLnBrk="0" hangingPunct="1">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评估</a:t>
            </a:r>
          </a:p>
        </p:txBody>
      </p:sp>
      <p:cxnSp>
        <p:nvCxnSpPr>
          <p:cNvPr id="8" name="AutoShape 11"/>
          <p:cNvCxnSpPr>
            <a:cxnSpLocks noChangeShapeType="1"/>
            <a:stCxn id="9" idx="3"/>
            <a:endCxn id="19" idx="1"/>
          </p:cNvCxnSpPr>
          <p:nvPr/>
        </p:nvCxnSpPr>
        <p:spPr bwMode="auto">
          <a:xfrm flipV="1">
            <a:off x="2835186" y="3490241"/>
            <a:ext cx="593806" cy="1115519"/>
          </a:xfrm>
          <a:prstGeom prst="bentConnector3">
            <a:avLst>
              <a:gd name="adj1" fmla="val 50000"/>
            </a:avLst>
          </a:prstGeom>
          <a:noFill/>
          <a:ln w="9525">
            <a:solidFill>
              <a:srgbClr val="000000"/>
            </a:solidFill>
            <a:miter lim="800000"/>
            <a:tailEnd type="triangle" w="med" len="med"/>
          </a:ln>
          <a:effectLst/>
        </p:spPr>
      </p:cxnSp>
      <p:sp>
        <p:nvSpPr>
          <p:cNvPr id="9" name="Rectangle 13"/>
          <p:cNvSpPr>
            <a:spLocks noChangeArrowheads="1"/>
          </p:cNvSpPr>
          <p:nvPr/>
        </p:nvSpPr>
        <p:spPr bwMode="auto">
          <a:xfrm>
            <a:off x="1215186" y="4353760"/>
            <a:ext cx="1620000" cy="504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代理商访谈调研</a:t>
            </a:r>
          </a:p>
        </p:txBody>
      </p:sp>
      <p:sp>
        <p:nvSpPr>
          <p:cNvPr id="10" name="Rectangle 14"/>
          <p:cNvSpPr>
            <a:spLocks noChangeArrowheads="1"/>
          </p:cNvSpPr>
          <p:nvPr/>
        </p:nvSpPr>
        <p:spPr bwMode="auto">
          <a:xfrm>
            <a:off x="1215186" y="5715016"/>
            <a:ext cx="1620000" cy="504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algn="ctr" fontAlgn="auto">
              <a:lnSpc>
                <a:spcPct val="120000"/>
              </a:lnSpc>
              <a:spcBef>
                <a:spcPts val="0"/>
              </a:spcBef>
              <a:spcAft>
                <a:spcPts val="0"/>
              </a:spcAft>
              <a:defRPr/>
            </a:pPr>
            <a:r>
              <a:rPr lang="zh-CN" altLang="en-US" sz="1400" b="1" kern="0" dirty="0">
                <a:solidFill>
                  <a:sysClr val="windowText" lastClr="000000"/>
                </a:solidFill>
                <a:latin typeface="微软雅黑" panose="020B0503020204020204" charset="-122"/>
                <a:ea typeface="微软雅黑" panose="020B0503020204020204" charset="-122"/>
              </a:rPr>
              <a:t>先进实践研究</a:t>
            </a:r>
          </a:p>
        </p:txBody>
      </p:sp>
      <p:cxnSp>
        <p:nvCxnSpPr>
          <p:cNvPr id="13" name="AutoShape 9"/>
          <p:cNvCxnSpPr>
            <a:cxnSpLocks noChangeShapeType="1"/>
            <a:stCxn id="4" idx="3"/>
            <a:endCxn id="19" idx="1"/>
          </p:cNvCxnSpPr>
          <p:nvPr/>
        </p:nvCxnSpPr>
        <p:spPr bwMode="auto">
          <a:xfrm>
            <a:off x="2835186" y="1680736"/>
            <a:ext cx="593806" cy="1809505"/>
          </a:xfrm>
          <a:prstGeom prst="bentConnector3">
            <a:avLst>
              <a:gd name="adj1" fmla="val 50000"/>
            </a:avLst>
          </a:prstGeom>
          <a:noFill/>
          <a:ln w="9525">
            <a:solidFill>
              <a:srgbClr val="000000"/>
            </a:solidFill>
            <a:miter lim="800000"/>
            <a:tailEnd type="triangle" w="med" len="med"/>
          </a:ln>
          <a:effectLst/>
        </p:spPr>
      </p:cxnSp>
      <p:cxnSp>
        <p:nvCxnSpPr>
          <p:cNvPr id="15" name="AutoShape 11"/>
          <p:cNvCxnSpPr>
            <a:cxnSpLocks noChangeShapeType="1"/>
            <a:stCxn id="6" idx="3"/>
            <a:endCxn id="19" idx="1"/>
          </p:cNvCxnSpPr>
          <p:nvPr/>
        </p:nvCxnSpPr>
        <p:spPr bwMode="auto">
          <a:xfrm>
            <a:off x="2835186" y="3061870"/>
            <a:ext cx="593806" cy="428371"/>
          </a:xfrm>
          <a:prstGeom prst="bentConnector3">
            <a:avLst>
              <a:gd name="adj1" fmla="val 50000"/>
            </a:avLst>
          </a:prstGeom>
          <a:noFill/>
          <a:ln w="9525">
            <a:solidFill>
              <a:srgbClr val="000000"/>
            </a:solidFill>
            <a:miter lim="800000"/>
            <a:tailEnd type="triangle" w="med" len="med"/>
          </a:ln>
          <a:effectLst/>
        </p:spPr>
      </p:cxnSp>
      <p:sp>
        <p:nvSpPr>
          <p:cNvPr id="16" name="Rectangle 13"/>
          <p:cNvSpPr>
            <a:spLocks noChangeArrowheads="1"/>
          </p:cNvSpPr>
          <p:nvPr/>
        </p:nvSpPr>
        <p:spPr bwMode="auto">
          <a:xfrm>
            <a:off x="1215186" y="5034388"/>
            <a:ext cx="1620000" cy="504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供应商访谈调研</a:t>
            </a:r>
          </a:p>
        </p:txBody>
      </p:sp>
      <p:cxnSp>
        <p:nvCxnSpPr>
          <p:cNvPr id="17" name="AutoShape 9"/>
          <p:cNvCxnSpPr>
            <a:cxnSpLocks noChangeShapeType="1"/>
            <a:stCxn id="5" idx="3"/>
            <a:endCxn id="19" idx="1"/>
          </p:cNvCxnSpPr>
          <p:nvPr/>
        </p:nvCxnSpPr>
        <p:spPr bwMode="auto">
          <a:xfrm>
            <a:off x="2835186" y="2371303"/>
            <a:ext cx="593806" cy="1118938"/>
          </a:xfrm>
          <a:prstGeom prst="bentConnector3">
            <a:avLst>
              <a:gd name="adj1" fmla="val 50000"/>
            </a:avLst>
          </a:prstGeom>
          <a:noFill/>
          <a:ln w="9525">
            <a:solidFill>
              <a:srgbClr val="000000"/>
            </a:solidFill>
            <a:miter lim="800000"/>
            <a:tailEnd type="triangle" w="med" len="med"/>
          </a:ln>
          <a:effectLst/>
        </p:spPr>
      </p:cxnSp>
      <p:cxnSp>
        <p:nvCxnSpPr>
          <p:cNvPr id="18" name="AutoShape 11"/>
          <p:cNvCxnSpPr>
            <a:cxnSpLocks noChangeShapeType="1"/>
            <a:stCxn id="16" idx="3"/>
            <a:endCxn id="19" idx="1"/>
          </p:cNvCxnSpPr>
          <p:nvPr/>
        </p:nvCxnSpPr>
        <p:spPr bwMode="auto">
          <a:xfrm flipV="1">
            <a:off x="2835186" y="3490241"/>
            <a:ext cx="593806" cy="1796147"/>
          </a:xfrm>
          <a:prstGeom prst="bentConnector3">
            <a:avLst>
              <a:gd name="adj1" fmla="val 50000"/>
            </a:avLst>
          </a:prstGeom>
          <a:noFill/>
          <a:ln w="9525">
            <a:solidFill>
              <a:srgbClr val="000000"/>
            </a:solidFill>
            <a:miter lim="800000"/>
            <a:tailEnd type="triangle" w="med" len="med"/>
          </a:ln>
          <a:effectLst/>
        </p:spPr>
      </p:cxnSp>
      <p:sp>
        <p:nvSpPr>
          <p:cNvPr id="19" name="圆角矩形 18"/>
          <p:cNvSpPr/>
          <p:nvPr/>
        </p:nvSpPr>
        <p:spPr bwMode="auto">
          <a:xfrm>
            <a:off x="3428992" y="1673456"/>
            <a:ext cx="3857652" cy="3633570"/>
          </a:xfrm>
          <a:prstGeom prst="roundRect">
            <a:avLst>
              <a:gd name="adj" fmla="val 7482"/>
            </a:avLst>
          </a:prstGeom>
          <a:noFill/>
          <a:ln w="6350">
            <a:solidFill>
              <a:schemeClr val="tx1"/>
            </a:solid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20" name="Rectangle 8"/>
          <p:cNvSpPr>
            <a:spLocks noChangeArrowheads="1"/>
          </p:cNvSpPr>
          <p:nvPr/>
        </p:nvSpPr>
        <p:spPr bwMode="auto">
          <a:xfrm>
            <a:off x="3643306" y="1887770"/>
            <a:ext cx="1500198" cy="396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algn="ctr">
              <a:defRPr/>
            </a:pPr>
            <a:r>
              <a:rPr lang="zh-CN" altLang="en-US" sz="1400" b="1" kern="0" dirty="0">
                <a:solidFill>
                  <a:sysClr val="windowText" lastClr="000000"/>
                </a:solidFill>
                <a:latin typeface="微软雅黑" panose="020B0503020204020204" charset="-122"/>
                <a:ea typeface="微软雅黑" panose="020B0503020204020204" charset="-122"/>
              </a:rPr>
              <a:t>总体绩效评价</a:t>
            </a:r>
          </a:p>
        </p:txBody>
      </p:sp>
      <p:sp>
        <p:nvSpPr>
          <p:cNvPr id="21" name="Rectangle 8"/>
          <p:cNvSpPr>
            <a:spLocks noChangeArrowheads="1"/>
          </p:cNvSpPr>
          <p:nvPr/>
        </p:nvSpPr>
        <p:spPr bwMode="auto">
          <a:xfrm>
            <a:off x="7704138" y="3587734"/>
            <a:ext cx="868390" cy="1627216"/>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marR="0" lvl="0" indent="0" algn="ctr" fontAlgn="auto">
              <a:lnSpc>
                <a:spcPct val="120000"/>
              </a:lnSpc>
              <a:spcBef>
                <a:spcPts val="0"/>
              </a:spcBef>
              <a:spcAft>
                <a:spcPts val="0"/>
              </a:spcAft>
              <a:buClrTx/>
              <a:buSzTx/>
              <a:buFontTx/>
              <a:buNone/>
              <a:defRPr/>
            </a:pPr>
            <a:r>
              <a:rPr lang="zh-CN" altLang="en-US" sz="1400" b="1" kern="0" dirty="0">
                <a:solidFill>
                  <a:sysClr val="windowText" lastClr="000000"/>
                </a:solidFill>
                <a:latin typeface="微软雅黑" panose="020B0503020204020204" charset="-122"/>
                <a:ea typeface="微软雅黑" panose="020B0503020204020204" charset="-122"/>
              </a:rPr>
              <a:t>解决思路</a:t>
            </a:r>
            <a:endParaRPr lang="en-US" altLang="zh-CN" sz="1400" b="1" kern="0" dirty="0">
              <a:solidFill>
                <a:sysClr val="windowText" lastClr="000000"/>
              </a:solidFill>
              <a:latin typeface="微软雅黑" panose="020B0503020204020204" charset="-122"/>
              <a:ea typeface="微软雅黑" panose="020B0503020204020204" charset="-122"/>
            </a:endParaRPr>
          </a:p>
          <a:p>
            <a:pPr marR="0" lvl="0" indent="0" algn="ctr" fontAlgn="auto">
              <a:lnSpc>
                <a:spcPct val="120000"/>
              </a:lnSpc>
              <a:spcBef>
                <a:spcPts val="0"/>
              </a:spcBef>
              <a:spcAft>
                <a:spcPts val="0"/>
              </a:spcAft>
              <a:buClrTx/>
              <a:buSzTx/>
              <a:buFontTx/>
              <a:buNone/>
              <a:defRPr/>
            </a:pPr>
            <a:r>
              <a:rPr lang="zh-CN" altLang="en-US" sz="1400" b="1" kern="0" dirty="0">
                <a:solidFill>
                  <a:sysClr val="windowText" lastClr="000000"/>
                </a:solidFill>
                <a:latin typeface="微软雅黑" panose="020B0503020204020204" charset="-122"/>
                <a:ea typeface="微软雅黑" panose="020B0503020204020204" charset="-122"/>
              </a:rPr>
              <a:t>及下一步工作计划</a:t>
            </a:r>
          </a:p>
        </p:txBody>
      </p:sp>
      <p:cxnSp>
        <p:nvCxnSpPr>
          <p:cNvPr id="22" name="AutoShape 11"/>
          <p:cNvCxnSpPr>
            <a:cxnSpLocks noChangeShapeType="1"/>
            <a:stCxn id="19" idx="3"/>
            <a:endCxn id="21" idx="1"/>
          </p:cNvCxnSpPr>
          <p:nvPr/>
        </p:nvCxnSpPr>
        <p:spPr bwMode="auto">
          <a:xfrm>
            <a:off x="7286644" y="3490241"/>
            <a:ext cx="417494" cy="911101"/>
          </a:xfrm>
          <a:prstGeom prst="bentConnector3">
            <a:avLst>
              <a:gd name="adj1" fmla="val 50000"/>
            </a:avLst>
          </a:prstGeom>
          <a:noFill/>
          <a:ln w="9525">
            <a:solidFill>
              <a:srgbClr val="000000"/>
            </a:solidFill>
            <a:miter lim="800000"/>
            <a:tailEnd type="triangle" w="med" len="med"/>
          </a:ln>
          <a:effectLst/>
        </p:spPr>
      </p:cxnSp>
      <p:cxnSp>
        <p:nvCxnSpPr>
          <p:cNvPr id="23" name="AutoShape 11"/>
          <p:cNvCxnSpPr>
            <a:cxnSpLocks noChangeShapeType="1"/>
            <a:stCxn id="10" idx="3"/>
            <a:endCxn id="21" idx="1"/>
          </p:cNvCxnSpPr>
          <p:nvPr/>
        </p:nvCxnSpPr>
        <p:spPr bwMode="auto">
          <a:xfrm flipV="1">
            <a:off x="2835186" y="4401342"/>
            <a:ext cx="4868952" cy="1565674"/>
          </a:xfrm>
          <a:prstGeom prst="bentConnector3">
            <a:avLst>
              <a:gd name="adj1" fmla="val 95863"/>
            </a:avLst>
          </a:prstGeom>
          <a:noFill/>
          <a:ln w="9525">
            <a:solidFill>
              <a:srgbClr val="000000"/>
            </a:solidFill>
            <a:miter lim="800000"/>
            <a:tailEnd type="triangle" w="med" len="med"/>
          </a:ln>
          <a:effectLst/>
        </p:spPr>
      </p:cxnSp>
      <p:sp>
        <p:nvSpPr>
          <p:cNvPr id="25" name="矩形 24"/>
          <p:cNvSpPr/>
          <p:nvPr/>
        </p:nvSpPr>
        <p:spPr>
          <a:xfrm>
            <a:off x="5156204" y="2008611"/>
            <a:ext cx="1987564" cy="369332"/>
          </a:xfrm>
          <a:prstGeom prst="rect">
            <a:avLst/>
          </a:prstGeom>
        </p:spPr>
        <p:txBody>
          <a:bodyPr wrap="square">
            <a:spAutoFit/>
          </a:bodyPr>
          <a:lstStyle/>
          <a:p>
            <a:r>
              <a:rPr lang="en-US" altLang="zh-CN" b="1" dirty="0">
                <a:latin typeface="微软雅黑" panose="020B0503020204020204" charset="-122"/>
                <a:ea typeface="微软雅黑" panose="020B0503020204020204" charset="-122"/>
              </a:rPr>
              <a:t>20</a:t>
            </a:r>
            <a:r>
              <a:rPr lang="zh-CN" altLang="en-US" sz="1100" dirty="0">
                <a:latin typeface="微软雅黑" panose="020B0503020204020204" charset="-122"/>
                <a:ea typeface="微软雅黑" panose="020B0503020204020204" charset="-122"/>
              </a:rPr>
              <a:t>个</a:t>
            </a:r>
            <a:r>
              <a:rPr lang="en-US" altLang="zh-CN" sz="1100" dirty="0">
                <a:latin typeface="微软雅黑" panose="020B0503020204020204" charset="-122"/>
                <a:ea typeface="微软雅黑" panose="020B0503020204020204" charset="-122"/>
              </a:rPr>
              <a:t>KPI</a:t>
            </a:r>
            <a:r>
              <a:rPr lang="zh-CN" altLang="en-US" sz="1100" dirty="0">
                <a:latin typeface="微软雅黑" panose="020B0503020204020204" charset="-122"/>
                <a:ea typeface="微软雅黑" panose="020B0503020204020204" charset="-122"/>
              </a:rPr>
              <a:t>指标现状分析</a:t>
            </a:r>
          </a:p>
        </p:txBody>
      </p:sp>
      <p:sp>
        <p:nvSpPr>
          <p:cNvPr id="26" name="矩形 25"/>
          <p:cNvSpPr/>
          <p:nvPr/>
        </p:nvSpPr>
        <p:spPr>
          <a:xfrm>
            <a:off x="5145754" y="3357579"/>
            <a:ext cx="2212328" cy="369332"/>
          </a:xfrm>
          <a:prstGeom prst="rect">
            <a:avLst/>
          </a:prstGeom>
        </p:spPr>
        <p:txBody>
          <a:bodyPr wrap="square">
            <a:spAutoFit/>
          </a:bodyPr>
          <a:lstStyle/>
          <a:p>
            <a:r>
              <a:rPr lang="en-US" altLang="zh-CN" b="1" dirty="0">
                <a:latin typeface="微软雅黑" panose="020B0503020204020204" charset="-122"/>
                <a:ea typeface="微软雅黑" panose="020B0503020204020204" charset="-122"/>
              </a:rPr>
              <a:t>39</a:t>
            </a:r>
            <a:r>
              <a:rPr lang="zh-CN" altLang="en-US" sz="1100" dirty="0">
                <a:latin typeface="微软雅黑" panose="020B0503020204020204" charset="-122"/>
                <a:ea typeface="微软雅黑" panose="020B0503020204020204" charset="-122"/>
              </a:rPr>
              <a:t>个问题，</a:t>
            </a:r>
            <a:r>
              <a:rPr lang="en-US" altLang="zh-CN" b="1" dirty="0">
                <a:latin typeface="微软雅黑" panose="020B0503020204020204" charset="-122"/>
                <a:ea typeface="微软雅黑" panose="020B0503020204020204" charset="-122"/>
              </a:rPr>
              <a:t>8</a:t>
            </a:r>
            <a:r>
              <a:rPr lang="zh-CN" altLang="en-US" sz="1100" dirty="0">
                <a:latin typeface="微软雅黑" panose="020B0503020204020204" charset="-122"/>
                <a:ea typeface="微软雅黑" panose="020B0503020204020204" charset="-122"/>
              </a:rPr>
              <a:t>个关键问题</a:t>
            </a:r>
          </a:p>
        </p:txBody>
      </p:sp>
      <p:sp>
        <p:nvSpPr>
          <p:cNvPr id="31" name="Rectangle 6"/>
          <p:cNvSpPr>
            <a:spLocks noChangeArrowheads="1"/>
          </p:cNvSpPr>
          <p:nvPr/>
        </p:nvSpPr>
        <p:spPr bwMode="auto">
          <a:xfrm>
            <a:off x="1215186" y="3500438"/>
            <a:ext cx="1620000" cy="504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marL="0" marR="0" lvl="0" indent="0" algn="ctr" defTabSz="914400" eaLnBrk="1" fontAlgn="auto" latinLnBrk="0" hangingPunct="1">
              <a:spcBef>
                <a:spcPts val="0"/>
              </a:spcBef>
              <a:spcAft>
                <a:spcPts val="0"/>
              </a:spcAft>
              <a:buClrTx/>
              <a:buSzTx/>
              <a:buFontTx/>
              <a:buNone/>
              <a:defRPr/>
            </a:pPr>
            <a:r>
              <a:rPr lang="zh-CN" altLang="en-US" sz="1400" b="1" kern="0" dirty="0">
                <a:solidFill>
                  <a:sysClr val="windowText" lastClr="000000"/>
                </a:solidFill>
                <a:latin typeface="微软雅黑" panose="020B0503020204020204" charset="-122"/>
                <a:ea typeface="微软雅黑" panose="020B0503020204020204" charset="-122"/>
              </a:rPr>
              <a:t>资料研读</a:t>
            </a:r>
            <a:r>
              <a:rPr lang="en-US" altLang="zh-CN" sz="1400" b="1" kern="0" dirty="0">
                <a:solidFill>
                  <a:sysClr val="windowText" lastClr="000000"/>
                </a:solidFill>
                <a:latin typeface="微软雅黑" panose="020B0503020204020204" charset="-122"/>
                <a:ea typeface="微软雅黑" panose="020B0503020204020204" charset="-122"/>
              </a:rPr>
              <a:t>/</a:t>
            </a:r>
            <a:r>
              <a:rPr lang="zh-CN" altLang="en-US" sz="1400" b="1" kern="0" dirty="0">
                <a:solidFill>
                  <a:sysClr val="windowText" lastClr="000000"/>
                </a:solidFill>
                <a:latin typeface="微软雅黑" panose="020B0503020204020204" charset="-122"/>
                <a:ea typeface="微软雅黑" panose="020B0503020204020204" charset="-122"/>
              </a:rPr>
              <a:t>数据分析</a:t>
            </a:r>
            <a:endPar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32" name="AutoShape 11"/>
          <p:cNvCxnSpPr>
            <a:cxnSpLocks noChangeShapeType="1"/>
            <a:stCxn id="31" idx="3"/>
            <a:endCxn id="19" idx="1"/>
          </p:cNvCxnSpPr>
          <p:nvPr/>
        </p:nvCxnSpPr>
        <p:spPr bwMode="auto">
          <a:xfrm flipV="1">
            <a:off x="2835186" y="3490241"/>
            <a:ext cx="593806" cy="262197"/>
          </a:xfrm>
          <a:prstGeom prst="bentConnector3">
            <a:avLst>
              <a:gd name="adj1" fmla="val 50000"/>
            </a:avLst>
          </a:prstGeom>
          <a:noFill/>
          <a:ln w="9525">
            <a:solidFill>
              <a:srgbClr val="000000"/>
            </a:solidFill>
            <a:miter lim="800000"/>
            <a:tailEnd type="triangle" w="med" len="med"/>
          </a:ln>
          <a:effectLst/>
        </p:spPr>
      </p:cxnSp>
      <p:sp>
        <p:nvSpPr>
          <p:cNvPr id="35" name="Rectangle 8"/>
          <p:cNvSpPr>
            <a:spLocks noChangeArrowheads="1"/>
          </p:cNvSpPr>
          <p:nvPr/>
        </p:nvSpPr>
        <p:spPr bwMode="auto">
          <a:xfrm>
            <a:off x="4071934" y="3316529"/>
            <a:ext cx="1071570" cy="396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algn="ctr">
              <a:defRPr/>
            </a:pPr>
            <a:r>
              <a:rPr lang="zh-CN" altLang="en-US" sz="1400" b="1" kern="0" dirty="0">
                <a:solidFill>
                  <a:sysClr val="windowText" lastClr="000000"/>
                </a:solidFill>
                <a:latin typeface="微软雅黑" panose="020B0503020204020204" charset="-122"/>
                <a:ea typeface="微软雅黑" panose="020B0503020204020204" charset="-122"/>
              </a:rPr>
              <a:t>业务</a:t>
            </a:r>
          </a:p>
        </p:txBody>
      </p:sp>
      <p:sp>
        <p:nvSpPr>
          <p:cNvPr id="36" name="Rectangle 8"/>
          <p:cNvSpPr>
            <a:spLocks noChangeArrowheads="1"/>
          </p:cNvSpPr>
          <p:nvPr/>
        </p:nvSpPr>
        <p:spPr bwMode="auto">
          <a:xfrm>
            <a:off x="4071934" y="3792782"/>
            <a:ext cx="1071570" cy="396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algn="ctr">
              <a:defRPr/>
            </a:pPr>
            <a:r>
              <a:rPr lang="zh-CN" altLang="en-US" sz="1400" b="1" kern="0" dirty="0">
                <a:solidFill>
                  <a:sysClr val="windowText" lastClr="000000"/>
                </a:solidFill>
                <a:latin typeface="微软雅黑" panose="020B0503020204020204" charset="-122"/>
                <a:ea typeface="微软雅黑" panose="020B0503020204020204" charset="-122"/>
              </a:rPr>
              <a:t>绩效</a:t>
            </a:r>
          </a:p>
        </p:txBody>
      </p:sp>
      <p:sp>
        <p:nvSpPr>
          <p:cNvPr id="37" name="Rectangle 8"/>
          <p:cNvSpPr>
            <a:spLocks noChangeArrowheads="1"/>
          </p:cNvSpPr>
          <p:nvPr/>
        </p:nvSpPr>
        <p:spPr bwMode="auto">
          <a:xfrm>
            <a:off x="4071934" y="4269035"/>
            <a:ext cx="1071570" cy="396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algn="ctr">
              <a:defRPr/>
            </a:pPr>
            <a:r>
              <a:rPr lang="zh-CN" altLang="en-US" sz="1400" b="1" kern="0" dirty="0">
                <a:solidFill>
                  <a:sysClr val="windowText" lastClr="000000"/>
                </a:solidFill>
                <a:latin typeface="微软雅黑" panose="020B0503020204020204" charset="-122"/>
                <a:ea typeface="微软雅黑" panose="020B0503020204020204" charset="-122"/>
              </a:rPr>
              <a:t>流程</a:t>
            </a:r>
          </a:p>
        </p:txBody>
      </p:sp>
      <p:sp>
        <p:nvSpPr>
          <p:cNvPr id="40" name="矩形 39"/>
          <p:cNvSpPr/>
          <p:nvPr/>
        </p:nvSpPr>
        <p:spPr>
          <a:xfrm>
            <a:off x="5143504" y="3846864"/>
            <a:ext cx="1785950" cy="369332"/>
          </a:xfrm>
          <a:prstGeom prst="rect">
            <a:avLst/>
          </a:prstGeom>
        </p:spPr>
        <p:txBody>
          <a:bodyPr wrap="square">
            <a:spAutoFit/>
          </a:bodyPr>
          <a:lstStyle/>
          <a:p>
            <a:r>
              <a:rPr lang="en-US" altLang="zh-CN" b="1" dirty="0">
                <a:latin typeface="微软雅黑" panose="020B0503020204020204" charset="-122"/>
                <a:ea typeface="微软雅黑" panose="020B0503020204020204" charset="-122"/>
              </a:rPr>
              <a:t>1</a:t>
            </a:r>
            <a:r>
              <a:rPr lang="zh-CN" altLang="en-US" sz="1100" dirty="0">
                <a:latin typeface="微软雅黑" panose="020B0503020204020204" charset="-122"/>
                <a:ea typeface="微软雅黑" panose="020B0503020204020204" charset="-122"/>
              </a:rPr>
              <a:t>个绩效关键问题</a:t>
            </a:r>
          </a:p>
        </p:txBody>
      </p:sp>
      <p:sp>
        <p:nvSpPr>
          <p:cNvPr id="41" name="矩形 40"/>
          <p:cNvSpPr/>
          <p:nvPr/>
        </p:nvSpPr>
        <p:spPr>
          <a:xfrm>
            <a:off x="5143504" y="4333548"/>
            <a:ext cx="1785950" cy="369332"/>
          </a:xfrm>
          <a:prstGeom prst="rect">
            <a:avLst/>
          </a:prstGeom>
        </p:spPr>
        <p:txBody>
          <a:bodyPr wrap="square">
            <a:spAutoFit/>
          </a:bodyPr>
          <a:lstStyle/>
          <a:p>
            <a:r>
              <a:rPr lang="en-US" altLang="zh-CN" b="1" dirty="0">
                <a:latin typeface="微软雅黑" panose="020B0503020204020204" charset="-122"/>
                <a:ea typeface="微软雅黑" panose="020B0503020204020204" charset="-122"/>
              </a:rPr>
              <a:t>1</a:t>
            </a:r>
            <a:r>
              <a:rPr lang="zh-CN" altLang="en-US" sz="1100" dirty="0">
                <a:latin typeface="微软雅黑" panose="020B0503020204020204" charset="-122"/>
                <a:ea typeface="微软雅黑" panose="020B0503020204020204" charset="-122"/>
              </a:rPr>
              <a:t>个流程现状情况</a:t>
            </a:r>
          </a:p>
        </p:txBody>
      </p:sp>
      <p:sp>
        <p:nvSpPr>
          <p:cNvPr id="51" name="Rectangle 8"/>
          <p:cNvSpPr>
            <a:spLocks noChangeArrowheads="1"/>
          </p:cNvSpPr>
          <p:nvPr/>
        </p:nvSpPr>
        <p:spPr bwMode="auto">
          <a:xfrm>
            <a:off x="3643306" y="4745290"/>
            <a:ext cx="1501200" cy="396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algn="ctr">
              <a:defRPr/>
            </a:pPr>
            <a:r>
              <a:rPr lang="en-US" altLang="zh-CN" sz="1400" b="1" kern="0" dirty="0">
                <a:solidFill>
                  <a:sysClr val="windowText" lastClr="000000"/>
                </a:solidFill>
                <a:latin typeface="微软雅黑" panose="020B0503020204020204" charset="-122"/>
                <a:ea typeface="微软雅黑" panose="020B0503020204020204" charset="-122"/>
              </a:rPr>
              <a:t>IT</a:t>
            </a:r>
            <a:r>
              <a:rPr lang="zh-CN" altLang="en-US" sz="1400" b="1" kern="0" dirty="0">
                <a:solidFill>
                  <a:sysClr val="windowText" lastClr="000000"/>
                </a:solidFill>
                <a:latin typeface="微软雅黑" panose="020B0503020204020204" charset="-122"/>
                <a:ea typeface="微软雅黑" panose="020B0503020204020204" charset="-122"/>
              </a:rPr>
              <a:t>功能需求</a:t>
            </a:r>
          </a:p>
        </p:txBody>
      </p:sp>
      <p:sp>
        <p:nvSpPr>
          <p:cNvPr id="52" name="矩形 51"/>
          <p:cNvSpPr/>
          <p:nvPr/>
        </p:nvSpPr>
        <p:spPr>
          <a:xfrm>
            <a:off x="5143504" y="4817968"/>
            <a:ext cx="1785950" cy="369332"/>
          </a:xfrm>
          <a:prstGeom prst="rect">
            <a:avLst/>
          </a:prstGeom>
        </p:spPr>
        <p:txBody>
          <a:bodyPr wrap="square">
            <a:spAutoFit/>
          </a:bodyPr>
          <a:lstStyle/>
          <a:p>
            <a:r>
              <a:rPr lang="en-US" altLang="zh-CN" b="1" dirty="0">
                <a:latin typeface="微软雅黑" panose="020B0503020204020204" charset="-122"/>
                <a:ea typeface="微软雅黑" panose="020B0503020204020204" charset="-122"/>
              </a:rPr>
              <a:t>84</a:t>
            </a:r>
            <a:r>
              <a:rPr lang="zh-CN" altLang="en-US" sz="1100" dirty="0">
                <a:latin typeface="微软雅黑" panose="020B0503020204020204" charset="-122"/>
                <a:ea typeface="微软雅黑" panose="020B0503020204020204" charset="-122"/>
              </a:rPr>
              <a:t>个支撑需求</a:t>
            </a:r>
          </a:p>
        </p:txBody>
      </p:sp>
      <p:sp>
        <p:nvSpPr>
          <p:cNvPr id="57" name="Rectangle 8"/>
          <p:cNvSpPr>
            <a:spLocks noChangeArrowheads="1"/>
          </p:cNvSpPr>
          <p:nvPr/>
        </p:nvSpPr>
        <p:spPr bwMode="auto">
          <a:xfrm>
            <a:off x="4071934" y="2364023"/>
            <a:ext cx="1071570" cy="396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algn="ctr">
              <a:defRPr/>
            </a:pPr>
            <a:r>
              <a:rPr lang="zh-CN" altLang="en-US" sz="1400" b="1" kern="0" dirty="0">
                <a:solidFill>
                  <a:sysClr val="windowText" lastClr="000000"/>
                </a:solidFill>
                <a:latin typeface="微软雅黑" panose="020B0503020204020204" charset="-122"/>
                <a:ea typeface="微软雅黑" panose="020B0503020204020204" charset="-122"/>
              </a:rPr>
              <a:t>模式</a:t>
            </a:r>
          </a:p>
        </p:txBody>
      </p:sp>
      <p:sp>
        <p:nvSpPr>
          <p:cNvPr id="58" name="矩形 57"/>
          <p:cNvSpPr/>
          <p:nvPr/>
        </p:nvSpPr>
        <p:spPr>
          <a:xfrm>
            <a:off x="5156204" y="2488302"/>
            <a:ext cx="1987564" cy="369332"/>
          </a:xfrm>
          <a:prstGeom prst="rect">
            <a:avLst/>
          </a:prstGeom>
        </p:spPr>
        <p:txBody>
          <a:bodyPr wrap="square">
            <a:spAutoFit/>
          </a:bodyPr>
          <a:lstStyle/>
          <a:p>
            <a:r>
              <a:rPr lang="en-US" altLang="zh-CN" b="1" dirty="0">
                <a:latin typeface="微软雅黑" panose="020B0503020204020204" charset="-122"/>
                <a:ea typeface="微软雅黑" panose="020B0503020204020204" charset="-122"/>
              </a:rPr>
              <a:t>3</a:t>
            </a:r>
            <a:r>
              <a:rPr lang="zh-CN" altLang="en-US" sz="1100" dirty="0">
                <a:latin typeface="微软雅黑" panose="020B0503020204020204" charset="-122"/>
                <a:ea typeface="微软雅黑" panose="020B0503020204020204" charset="-122"/>
              </a:rPr>
              <a:t>个计划模式关键问题</a:t>
            </a:r>
          </a:p>
        </p:txBody>
      </p:sp>
      <p:sp>
        <p:nvSpPr>
          <p:cNvPr id="59" name="Rectangle 8"/>
          <p:cNvSpPr>
            <a:spLocks noChangeArrowheads="1"/>
          </p:cNvSpPr>
          <p:nvPr/>
        </p:nvSpPr>
        <p:spPr bwMode="auto">
          <a:xfrm>
            <a:off x="4071934" y="2840276"/>
            <a:ext cx="1071570" cy="396000"/>
          </a:xfrm>
          <a:prstGeom prst="rect">
            <a:avLst/>
          </a:prstGeom>
          <a:solidFill>
            <a:schemeClr val="accent1">
              <a:lumMod val="20000"/>
              <a:lumOff val="80000"/>
            </a:schemeClr>
          </a:solidFill>
          <a:ln w="9525" algn="ctr">
            <a:solidFill>
              <a:srgbClr val="000000"/>
            </a:solidFill>
            <a:miter lim="800000"/>
          </a:ln>
          <a:effectLst/>
        </p:spPr>
        <p:txBody>
          <a:bodyPr lIns="9144" tIns="9144" rIns="9144" bIns="9144" anchor="ctr"/>
          <a:lstStyle/>
          <a:p>
            <a:pPr algn="ctr">
              <a:defRPr/>
            </a:pPr>
            <a:r>
              <a:rPr lang="zh-CN" altLang="en-US" sz="1400" b="1" kern="0" dirty="0">
                <a:solidFill>
                  <a:sysClr val="windowText" lastClr="000000"/>
                </a:solidFill>
                <a:latin typeface="微软雅黑" panose="020B0503020204020204" charset="-122"/>
                <a:ea typeface="微软雅黑" panose="020B0503020204020204" charset="-122"/>
              </a:rPr>
              <a:t>组织</a:t>
            </a:r>
          </a:p>
        </p:txBody>
      </p:sp>
      <p:sp>
        <p:nvSpPr>
          <p:cNvPr id="60" name="矩形 59"/>
          <p:cNvSpPr/>
          <p:nvPr/>
        </p:nvSpPr>
        <p:spPr>
          <a:xfrm>
            <a:off x="5158018" y="2918170"/>
            <a:ext cx="1987564" cy="369332"/>
          </a:xfrm>
          <a:prstGeom prst="rect">
            <a:avLst/>
          </a:prstGeom>
        </p:spPr>
        <p:txBody>
          <a:bodyPr wrap="square">
            <a:spAutoFit/>
          </a:bodyPr>
          <a:lstStyle/>
          <a:p>
            <a:r>
              <a:rPr lang="en-US" altLang="zh-CN" b="1" dirty="0">
                <a:latin typeface="微软雅黑" panose="020B0503020204020204" charset="-122"/>
                <a:ea typeface="微软雅黑" panose="020B0503020204020204" charset="-122"/>
              </a:rPr>
              <a:t>2</a:t>
            </a:r>
            <a:r>
              <a:rPr lang="zh-CN" altLang="en-US" sz="1100" dirty="0">
                <a:latin typeface="微软雅黑" panose="020B0503020204020204" charset="-122"/>
                <a:ea typeface="微软雅黑" panose="020B0503020204020204" charset="-122"/>
              </a:rPr>
              <a:t>个组织现状情况</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集成计划组现状调研阶段主要开展的工作</a:t>
            </a:r>
          </a:p>
        </p:txBody>
      </p:sp>
      <p:sp>
        <p:nvSpPr>
          <p:cNvPr id="24" name="Rectangle 4"/>
          <p:cNvSpPr>
            <a:spLocks noChangeArrowheads="1"/>
          </p:cNvSpPr>
          <p:nvPr/>
        </p:nvSpPr>
        <p:spPr bwMode="auto">
          <a:xfrm>
            <a:off x="453023" y="1348605"/>
            <a:ext cx="8211600" cy="1580329"/>
          </a:xfrm>
          <a:prstGeom prst="rect">
            <a:avLst/>
          </a:prstGeom>
          <a:noFill/>
          <a:ln w="9525" algn="ctr">
            <a:solidFill>
              <a:srgbClr val="FFFFFF">
                <a:lumMod val="50000"/>
              </a:srgbClr>
            </a:solidFill>
            <a:miter lim="800000"/>
          </a:ln>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6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5" name="Rounded Rectangle 24"/>
          <p:cNvSpPr/>
          <p:nvPr/>
        </p:nvSpPr>
        <p:spPr bwMode="auto">
          <a:xfrm>
            <a:off x="713511" y="1168848"/>
            <a:ext cx="3503984" cy="437016"/>
          </a:xfrm>
          <a:prstGeom prst="roundRect">
            <a:avLst/>
          </a:prstGeom>
          <a:solidFill>
            <a:srgbClr val="7889FB">
              <a:lumMod val="40000"/>
              <a:lumOff val="60000"/>
            </a:srgbClr>
          </a:solidFill>
          <a:ln w="9525" algn="ctr">
            <a:noFill/>
            <a:round/>
          </a:ln>
          <a:effectLst>
            <a:outerShdw blurRad="50800" dist="38100" dir="2700000" algn="tl" rotWithShape="0">
              <a:prstClr val="black">
                <a:alpha val="40000"/>
              </a:prstClr>
            </a:outerShdw>
          </a:effectLst>
        </p:spPr>
        <p:txBody>
          <a:bodyPr lIns="90000" tIns="46800" rIns="90000" bIns="46800" anchor="ctr"/>
          <a:lstStyle/>
          <a:p>
            <a:pPr lvl="0">
              <a:buClr>
                <a:srgbClr val="000000"/>
              </a:buClr>
              <a:defRPr/>
            </a:pPr>
            <a:r>
              <a:rPr lang="zh-CN" altLang="en-US" sz="1600" b="1" kern="0" dirty="0">
                <a:solidFill>
                  <a:sysClr val="windowText" lastClr="000000"/>
                </a:solidFill>
                <a:latin typeface="微软雅黑" panose="020B0503020204020204" charset="-122"/>
                <a:ea typeface="微软雅黑" panose="020B0503020204020204" charset="-122"/>
              </a:rPr>
              <a:t>访谈与成熟度评估</a:t>
            </a:r>
          </a:p>
        </p:txBody>
      </p:sp>
      <p:grpSp>
        <p:nvGrpSpPr>
          <p:cNvPr id="2" name="组合 26"/>
          <p:cNvGrpSpPr/>
          <p:nvPr/>
        </p:nvGrpSpPr>
        <p:grpSpPr>
          <a:xfrm>
            <a:off x="453023" y="3064563"/>
            <a:ext cx="4047539" cy="1580009"/>
            <a:chOff x="4606942" y="1168848"/>
            <a:chExt cx="4047539" cy="1580009"/>
          </a:xfrm>
        </p:grpSpPr>
        <p:sp>
          <p:nvSpPr>
            <p:cNvPr id="28" name="Rectangle 4"/>
            <p:cNvSpPr>
              <a:spLocks noChangeArrowheads="1"/>
            </p:cNvSpPr>
            <p:nvPr/>
          </p:nvSpPr>
          <p:spPr bwMode="auto">
            <a:xfrm>
              <a:off x="4606942" y="1367559"/>
              <a:ext cx="4032000" cy="1381298"/>
            </a:xfrm>
            <a:prstGeom prst="rect">
              <a:avLst/>
            </a:prstGeom>
            <a:noFill/>
            <a:ln w="9525" algn="ctr">
              <a:solidFill>
                <a:srgbClr val="FFFFFF">
                  <a:lumMod val="50000"/>
                </a:srgbClr>
              </a:solidFill>
              <a:miter lim="800000"/>
            </a:ln>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6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9" name="Rounded Rectangle 28"/>
            <p:cNvSpPr/>
            <p:nvPr/>
          </p:nvSpPr>
          <p:spPr bwMode="auto">
            <a:xfrm>
              <a:off x="4867430" y="1168848"/>
              <a:ext cx="3503983" cy="437015"/>
            </a:xfrm>
            <a:prstGeom prst="roundRect">
              <a:avLst/>
            </a:prstGeom>
            <a:solidFill>
              <a:srgbClr val="7889FB">
                <a:lumMod val="40000"/>
                <a:lumOff val="60000"/>
              </a:srgbClr>
            </a:solidFill>
            <a:ln w="9525" algn="ctr">
              <a:noFill/>
              <a:round/>
            </a:ln>
            <a:effectLst>
              <a:outerShdw blurRad="50800" dist="38100" dir="2700000" algn="tl" rotWithShape="0">
                <a:prstClr val="black">
                  <a:alpha val="40000"/>
                </a:prstClr>
              </a:outerShdw>
            </a:effectLst>
          </p:spPr>
          <p:txBody>
            <a:bodyPr lIns="90000" tIns="46800" rIns="90000" bIns="46800" anchor="ctr"/>
            <a:lstStyle/>
            <a:p>
              <a:pPr marL="0" marR="0" lvl="0" indent="0" defTabSz="914400" eaLnBrk="1" fontAlgn="auto" latinLnBrk="0" hangingPunct="1">
                <a:lnSpc>
                  <a:spcPct val="100000"/>
                </a:lnSpc>
                <a:spcBef>
                  <a:spcPts val="0"/>
                </a:spcBef>
                <a:spcAft>
                  <a:spcPts val="0"/>
                </a:spcAft>
                <a:buClr>
                  <a:srgbClr val="000000"/>
                </a:buClr>
                <a:buSzTx/>
                <a:buFontTx/>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资料研读与数据分析</a:t>
              </a:r>
            </a:p>
          </p:txBody>
        </p:sp>
        <p:sp>
          <p:nvSpPr>
            <p:cNvPr id="30" name="TextBox 29"/>
            <p:cNvSpPr txBox="1"/>
            <p:nvPr/>
          </p:nvSpPr>
          <p:spPr>
            <a:xfrm>
              <a:off x="4829855" y="1672904"/>
              <a:ext cx="3824626" cy="991235"/>
            </a:xfrm>
            <a:prstGeom prst="rect">
              <a:avLst/>
            </a:prstGeom>
            <a:noFill/>
          </p:spPr>
          <p:txBody>
            <a:bodyPr wrap="square" rtlCol="0">
              <a:spAutoFit/>
            </a:bodyPr>
            <a:lstStyle/>
            <a:p>
              <a:pPr marL="174625" marR="0" lvl="0" indent="-174625" defTabSz="914400" eaLnBrk="1" fontAlgn="auto" latinLnBrk="0" hangingPunct="1">
                <a:lnSpc>
                  <a:spcPct val="100000"/>
                </a:lnSpc>
                <a:spcBef>
                  <a:spcPts val="300"/>
                </a:spcBef>
                <a:spcAft>
                  <a:spcPts val="0"/>
                </a:spcAft>
                <a:buClrTx/>
                <a:buSzTx/>
                <a:buFont typeface="Wingdings" panose="05000000000000000000" pitchFamily="2" charset="2"/>
                <a:buChar char="p"/>
                <a:defRPr/>
              </a:pPr>
              <a:r>
                <a:rPr lang="zh-CN" altLang="en-US" sz="1400" kern="0" dirty="0">
                  <a:solidFill>
                    <a:sysClr val="windowText" lastClr="000000"/>
                  </a:solidFill>
                  <a:latin typeface="微软雅黑" panose="020B0503020204020204" charset="-122"/>
                  <a:ea typeface="微软雅黑" panose="020B0503020204020204" charset="-122"/>
                </a:rPr>
                <a:t>营销、集成计划、制造物流、商务等小组通过</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收集并研究资料，对x重机现状进行全面了解与评估</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4625" marR="0" lvl="0" indent="-174625" defTabSz="914400" eaLnBrk="1" fontAlgn="auto" latinLnBrk="0" hangingPunct="1">
                <a:lnSpc>
                  <a:spcPct val="100000"/>
                </a:lnSpc>
                <a:spcBef>
                  <a:spcPts val="300"/>
                </a:spcBef>
                <a:spcAft>
                  <a:spcPts val="0"/>
                </a:spcAft>
                <a:buClrTx/>
                <a:buSzTx/>
                <a:buFont typeface="Wingdings" panose="05000000000000000000" pitchFamily="2" charset="2"/>
                <a:buChar char="p"/>
                <a:defRPr/>
              </a:pPr>
              <a:r>
                <a:rPr lang="zh-CN" altLang="en-US" sz="1400" kern="0" dirty="0">
                  <a:solidFill>
                    <a:sysClr val="windowText" lastClr="000000"/>
                  </a:solidFill>
                  <a:latin typeface="微软雅黑" panose="020B0503020204020204" charset="-122"/>
                  <a:ea typeface="微软雅黑" panose="020B0503020204020204" charset="-122"/>
                </a:rPr>
                <a:t>同时，按照指标体系进行数据收集与分析</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grpSp>
      <p:grpSp>
        <p:nvGrpSpPr>
          <p:cNvPr id="3" name="组合 30"/>
          <p:cNvGrpSpPr/>
          <p:nvPr/>
        </p:nvGrpSpPr>
        <p:grpSpPr>
          <a:xfrm>
            <a:off x="453023" y="4786322"/>
            <a:ext cx="8210871" cy="1714205"/>
            <a:chOff x="453023" y="3144687"/>
            <a:chExt cx="8210871" cy="1714205"/>
          </a:xfrm>
        </p:grpSpPr>
        <p:sp>
          <p:nvSpPr>
            <p:cNvPr id="32" name="Rectangle 4"/>
            <p:cNvSpPr>
              <a:spLocks noChangeArrowheads="1"/>
            </p:cNvSpPr>
            <p:nvPr/>
          </p:nvSpPr>
          <p:spPr bwMode="auto">
            <a:xfrm>
              <a:off x="453023" y="3324444"/>
              <a:ext cx="8210871" cy="1534448"/>
            </a:xfrm>
            <a:prstGeom prst="rect">
              <a:avLst/>
            </a:prstGeom>
            <a:noFill/>
            <a:ln w="9525" algn="ctr">
              <a:solidFill>
                <a:srgbClr val="FFFFFF">
                  <a:lumMod val="50000"/>
                </a:srgbClr>
              </a:solidFill>
              <a:miter lim="800000"/>
            </a:ln>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6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33" name="Rounded Rectangle 32"/>
            <p:cNvSpPr/>
            <p:nvPr/>
          </p:nvSpPr>
          <p:spPr bwMode="auto">
            <a:xfrm>
              <a:off x="713511" y="3144687"/>
              <a:ext cx="3503983" cy="437016"/>
            </a:xfrm>
            <a:prstGeom prst="roundRect">
              <a:avLst/>
            </a:prstGeom>
            <a:solidFill>
              <a:srgbClr val="7889FB">
                <a:lumMod val="40000"/>
                <a:lumOff val="60000"/>
              </a:srgbClr>
            </a:solidFill>
            <a:ln w="9525" algn="ctr">
              <a:noFill/>
              <a:round/>
            </a:ln>
            <a:effectLst>
              <a:outerShdw blurRad="50800" dist="38100" dir="2700000" algn="tl" rotWithShape="0">
                <a:prstClr val="black">
                  <a:alpha val="40000"/>
                </a:prstClr>
              </a:outerShdw>
            </a:effectLst>
          </p:spPr>
          <p:txBody>
            <a:bodyPr lIns="90000" tIns="46800" rIns="90000" bIns="46800" anchor="ctr"/>
            <a:lstStyle/>
            <a:p>
              <a:pPr marL="0" marR="0" lvl="0" indent="0" defTabSz="914400" eaLnBrk="1" fontAlgn="auto" latinLnBrk="0" hangingPunct="1">
                <a:lnSpc>
                  <a:spcPct val="100000"/>
                </a:lnSpc>
                <a:spcBef>
                  <a:spcPts val="0"/>
                </a:spcBef>
                <a:spcAft>
                  <a:spcPts val="0"/>
                </a:spcAft>
                <a:buClr>
                  <a:srgbClr val="000000"/>
                </a:buClr>
                <a:buSzTx/>
                <a:buFontTx/>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小组例会与专题讨论</a:t>
              </a:r>
            </a:p>
          </p:txBody>
        </p:sp>
        <p:sp>
          <p:nvSpPr>
            <p:cNvPr id="34" name="TextBox 33"/>
            <p:cNvSpPr txBox="1"/>
            <p:nvPr/>
          </p:nvSpPr>
          <p:spPr>
            <a:xfrm>
              <a:off x="629528" y="3688761"/>
              <a:ext cx="3871034" cy="1169551"/>
            </a:xfrm>
            <a:prstGeom prst="rect">
              <a:avLst/>
            </a:prstGeom>
            <a:noFill/>
          </p:spPr>
          <p:txBody>
            <a:bodyPr wrap="square" rtlCol="0">
              <a:spAutoFit/>
            </a:bodyPr>
            <a:lstStyle/>
            <a:p>
              <a:pPr marL="174625" marR="0" lvl="0" indent="-174625" defTabSz="914400" eaLnBrk="1" fontAlgn="auto" latinLnBrk="0" hangingPunct="1">
                <a:lnSpc>
                  <a:spcPct val="100000"/>
                </a:lnSpc>
                <a:spcBef>
                  <a:spcPts val="0"/>
                </a:spcBef>
                <a:spcAft>
                  <a:spcPts val="0"/>
                </a:spcAft>
                <a:buClrTx/>
                <a:buSzTx/>
                <a:buFont typeface="Wingdings" panose="05000000000000000000" pitchFamily="2" charset="2"/>
                <a:buChar char="p"/>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各小组周</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日例会：已召开近</a:t>
              </a:r>
              <a:r>
                <a:rPr kumimoji="0" lang="en-US" altLang="zh-CN" sz="1400" b="1" i="0" u="none" strike="noStrike" kern="0" cap="none" spc="0" normalizeH="0" baseline="0" noProof="0" dirty="0">
                  <a:ln>
                    <a:noFill/>
                  </a:ln>
                  <a:solidFill>
                    <a:srgbClr val="7889FB">
                      <a:lumMod val="75000"/>
                    </a:srgbClr>
                  </a:solidFill>
                  <a:effectLst/>
                  <a:uLnTx/>
                  <a:uFillTx/>
                  <a:latin typeface="微软雅黑" panose="020B0503020204020204" charset="-122"/>
                  <a:ea typeface="微软雅黑" panose="020B0503020204020204" charset="-122"/>
                </a:rPr>
                <a:t>30</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次</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4625" marR="0" lvl="0" indent="-174625" defTabSz="914400" eaLnBrk="1" fontAlgn="auto" latinLnBrk="0" hangingPunct="1">
                <a:lnSpc>
                  <a:spcPct val="100000"/>
                </a:lnSpc>
                <a:spcBef>
                  <a:spcPts val="0"/>
                </a:spcBef>
                <a:spcAft>
                  <a:spcPts val="0"/>
                </a:spcAft>
                <a:buClrTx/>
                <a:buSzTx/>
                <a:buFont typeface="Wingdings" panose="05000000000000000000" pitchFamily="2" charset="2"/>
                <a:buChar char="p"/>
                <a:defRPr/>
              </a:pPr>
              <a:r>
                <a:rPr lang="zh-CN" altLang="en-US" sz="1400" kern="0" dirty="0">
                  <a:solidFill>
                    <a:sysClr val="windowText" lastClr="000000"/>
                  </a:solidFill>
                  <a:latin typeface="微软雅黑" panose="020B0503020204020204" charset="-122"/>
                  <a:ea typeface="微软雅黑" panose="020B0503020204020204" charset="-122"/>
                </a:rPr>
                <a:t>各小组专题讨论</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：针对现状问题，各小组分别组织专题讨论，共计</a:t>
              </a:r>
              <a:r>
                <a:rPr kumimoji="0" lang="en-US" altLang="zh-CN" sz="1400" b="1" i="0" u="none" strike="noStrike" kern="0" cap="none" spc="0" normalizeH="0" baseline="0" noProof="0" dirty="0">
                  <a:ln>
                    <a:noFill/>
                  </a:ln>
                  <a:solidFill>
                    <a:srgbClr val="7889FB">
                      <a:lumMod val="75000"/>
                    </a:srgbClr>
                  </a:solidFill>
                  <a:effectLst/>
                  <a:uLnTx/>
                  <a:uFillTx/>
                  <a:latin typeface="微软雅黑" panose="020B0503020204020204" charset="-122"/>
                  <a:ea typeface="微软雅黑" panose="020B0503020204020204" charset="-122"/>
                </a:rPr>
                <a:t>4</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次</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4625" marR="0" lvl="0" indent="-174625" defTabSz="914400" eaLnBrk="1" fontAlgn="auto" latinLnBrk="0" hangingPunct="1">
                <a:lnSpc>
                  <a:spcPct val="100000"/>
                </a:lnSpc>
                <a:spcBef>
                  <a:spcPts val="0"/>
                </a:spcBef>
                <a:spcAft>
                  <a:spcPts val="0"/>
                </a:spcAft>
                <a:buClrTx/>
                <a:buSzTx/>
                <a:buFont typeface="Wingdings" panose="05000000000000000000" pitchFamily="2" charset="2"/>
                <a:buChar char="p"/>
                <a:defRPr/>
              </a:pPr>
              <a:r>
                <a:rPr lang="zh-CN" altLang="en-US" sz="1400" kern="0" dirty="0">
                  <a:solidFill>
                    <a:sysClr val="windowText" lastClr="000000"/>
                  </a:solidFill>
                  <a:latin typeface="微软雅黑" panose="020B0503020204020204" charset="-122"/>
                  <a:ea typeface="微软雅黑" panose="020B0503020204020204" charset="-122"/>
                </a:rPr>
                <a:t>业务创新讨论</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：每周二、四根据时间组织业务创新讨论，已召开</a:t>
              </a:r>
              <a:r>
                <a:rPr kumimoji="0" lang="en-US" altLang="zh-CN" sz="1400" b="1" i="0" u="none" strike="noStrike" kern="0" cap="none" spc="0" normalizeH="0" baseline="0" noProof="0" dirty="0">
                  <a:ln>
                    <a:noFill/>
                  </a:ln>
                  <a:solidFill>
                    <a:srgbClr val="0000FF"/>
                  </a:solidFill>
                  <a:effectLst/>
                  <a:uLnTx/>
                  <a:uFillTx/>
                  <a:latin typeface="微软雅黑" panose="020B0503020204020204" charset="-122"/>
                  <a:ea typeface="微软雅黑" panose="020B0503020204020204" charset="-122"/>
                </a:rPr>
                <a:t>1</a:t>
              </a:r>
              <a:r>
                <a:rPr lang="zh-CN" altLang="en-US" sz="1400" kern="0" dirty="0">
                  <a:solidFill>
                    <a:sysClr val="windowText" lastClr="000000"/>
                  </a:solidFill>
                  <a:latin typeface="微软雅黑" panose="020B0503020204020204" charset="-122"/>
                  <a:ea typeface="微软雅黑" panose="020B0503020204020204" charset="-122"/>
                </a:rPr>
                <a:t>次</a:t>
              </a:r>
              <a:endPar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grpSp>
      <p:grpSp>
        <p:nvGrpSpPr>
          <p:cNvPr id="4" name="组合 37"/>
          <p:cNvGrpSpPr/>
          <p:nvPr/>
        </p:nvGrpSpPr>
        <p:grpSpPr>
          <a:xfrm>
            <a:off x="4634838" y="3071810"/>
            <a:ext cx="4032000" cy="1580009"/>
            <a:chOff x="4606942" y="1168848"/>
            <a:chExt cx="4032000" cy="1580009"/>
          </a:xfrm>
        </p:grpSpPr>
        <p:sp>
          <p:nvSpPr>
            <p:cNvPr id="39" name="Rectangle 4"/>
            <p:cNvSpPr>
              <a:spLocks noChangeArrowheads="1"/>
            </p:cNvSpPr>
            <p:nvPr/>
          </p:nvSpPr>
          <p:spPr bwMode="auto">
            <a:xfrm>
              <a:off x="4606942" y="1367559"/>
              <a:ext cx="4032000" cy="1381298"/>
            </a:xfrm>
            <a:prstGeom prst="rect">
              <a:avLst/>
            </a:prstGeom>
            <a:noFill/>
            <a:ln w="9525" algn="ctr">
              <a:solidFill>
                <a:srgbClr val="FFFFFF">
                  <a:lumMod val="50000"/>
                </a:srgbClr>
              </a:solidFill>
              <a:miter lim="800000"/>
            </a:ln>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6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40" name="Rounded Rectangle 28"/>
            <p:cNvSpPr/>
            <p:nvPr/>
          </p:nvSpPr>
          <p:spPr bwMode="auto">
            <a:xfrm>
              <a:off x="4867430" y="1168848"/>
              <a:ext cx="3503983" cy="437015"/>
            </a:xfrm>
            <a:prstGeom prst="roundRect">
              <a:avLst/>
            </a:prstGeom>
            <a:solidFill>
              <a:srgbClr val="7889FB">
                <a:lumMod val="40000"/>
                <a:lumOff val="60000"/>
              </a:srgbClr>
            </a:solidFill>
            <a:ln w="9525" algn="ctr">
              <a:noFill/>
              <a:round/>
            </a:ln>
            <a:effectLst>
              <a:outerShdw blurRad="50800" dist="38100" dir="2700000" algn="tl" rotWithShape="0">
                <a:prstClr val="black">
                  <a:alpha val="40000"/>
                </a:prstClr>
              </a:outerShdw>
            </a:effectLst>
          </p:spPr>
          <p:txBody>
            <a:bodyPr lIns="90000" tIns="46800" rIns="90000" bIns="46800" anchor="ctr"/>
            <a:lstStyle/>
            <a:p>
              <a:pPr marL="0" marR="0" lvl="0" indent="0" defTabSz="914400" eaLnBrk="1" fontAlgn="auto" latinLnBrk="0" hangingPunct="1">
                <a:lnSpc>
                  <a:spcPct val="100000"/>
                </a:lnSpc>
                <a:spcBef>
                  <a:spcPts val="0"/>
                </a:spcBef>
                <a:spcAft>
                  <a:spcPts val="0"/>
                </a:spcAft>
                <a:buClr>
                  <a:srgbClr val="000000"/>
                </a:buClr>
                <a:buSzTx/>
                <a:buFontTx/>
                <a:buNone/>
                <a:defRPr/>
              </a:pPr>
              <a:r>
                <a:rPr lang="zh-CN" altLang="en-US" sz="1600" b="1" kern="0" dirty="0">
                  <a:solidFill>
                    <a:sysClr val="windowText" lastClr="000000"/>
                  </a:solidFill>
                  <a:latin typeface="微软雅黑" panose="020B0503020204020204" charset="-122"/>
                  <a:ea typeface="微软雅黑" panose="020B0503020204020204" charset="-122"/>
                </a:rPr>
                <a:t>宣贯与培训</a:t>
              </a:r>
              <a:endPar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41" name="TextBox 40"/>
            <p:cNvSpPr txBox="1"/>
            <p:nvPr/>
          </p:nvSpPr>
          <p:spPr>
            <a:xfrm>
              <a:off x="4829856" y="1672904"/>
              <a:ext cx="2143140" cy="953135"/>
            </a:xfrm>
            <a:prstGeom prst="rect">
              <a:avLst/>
            </a:prstGeom>
            <a:noFill/>
          </p:spPr>
          <p:txBody>
            <a:bodyPr wrap="square" rtlCol="0">
              <a:spAutoFit/>
            </a:bodyPr>
            <a:lstStyle/>
            <a:p>
              <a:pPr marL="174625" marR="0" lvl="0" indent="-174625" defTabSz="914400" eaLnBrk="1" fontAlgn="auto" latinLnBrk="0" hangingPunct="1">
                <a:lnSpc>
                  <a:spcPct val="100000"/>
                </a:lnSpc>
                <a:spcBef>
                  <a:spcPts val="200"/>
                </a:spcBef>
                <a:spcAft>
                  <a:spcPts val="0"/>
                </a:spcAft>
                <a:buClrTx/>
                <a:buSzTx/>
                <a:buFont typeface="Wingdings" panose="05000000000000000000" pitchFamily="2" charset="2"/>
                <a:buChar char="p"/>
                <a:defRPr/>
              </a:pPr>
              <a:r>
                <a:rPr lang="en-US" altLang="zh-CN" sz="1400" kern="0" dirty="0">
                  <a:solidFill>
                    <a:sysClr val="windowText" lastClr="000000"/>
                  </a:solidFill>
                  <a:latin typeface="微软雅黑" panose="020B0503020204020204" charset="-122"/>
                  <a:ea typeface="微软雅黑" panose="020B0503020204020204" charset="-122"/>
                </a:rPr>
                <a:t>3</a:t>
              </a:r>
              <a:r>
                <a:rPr lang="zh-CN" altLang="en-US" sz="1400" kern="0" dirty="0">
                  <a:solidFill>
                    <a:sysClr val="windowText" lastClr="000000"/>
                  </a:solidFill>
                  <a:latin typeface="微软雅黑" panose="020B0503020204020204" charset="-122"/>
                  <a:ea typeface="微软雅黑" panose="020B0503020204020204" charset="-122"/>
                </a:rPr>
                <a:t>月</a:t>
              </a:r>
              <a:r>
                <a:rPr lang="en-US" altLang="zh-CN" sz="1400" kern="0" dirty="0">
                  <a:solidFill>
                    <a:sysClr val="windowText" lastClr="000000"/>
                  </a:solidFill>
                  <a:latin typeface="微软雅黑" panose="020B0503020204020204" charset="-122"/>
                  <a:ea typeface="微软雅黑" panose="020B0503020204020204" charset="-122"/>
                </a:rPr>
                <a:t>21</a:t>
              </a:r>
              <a:r>
                <a:rPr lang="zh-CN" altLang="en-US" sz="1400" kern="0" dirty="0">
                  <a:solidFill>
                    <a:sysClr val="windowText" lastClr="000000"/>
                  </a:solidFill>
                  <a:latin typeface="微软雅黑" panose="020B0503020204020204" charset="-122"/>
                  <a:ea typeface="微软雅黑" panose="020B0503020204020204" charset="-122"/>
                </a:rPr>
                <a:t>日，由</a:t>
              </a:r>
              <a:r>
                <a:rPr lang="en-US" altLang="zh-CN" sz="1400" kern="0" dirty="0">
                  <a:solidFill>
                    <a:sysClr val="windowText" lastClr="000000"/>
                  </a:solidFill>
                  <a:latin typeface="微软雅黑" panose="020B0503020204020204" charset="-122"/>
                  <a:ea typeface="微软雅黑" panose="020B0503020204020204" charset="-122"/>
                </a:rPr>
                <a:t>x</a:t>
              </a:r>
              <a:r>
                <a:rPr lang="zh-CN" altLang="en-US" sz="1400" kern="0" dirty="0">
                  <a:solidFill>
                    <a:sysClr val="windowText" lastClr="000000"/>
                  </a:solidFill>
                  <a:latin typeface="微软雅黑" panose="020B0503020204020204" charset="-122"/>
                  <a:ea typeface="微软雅黑" panose="020B0503020204020204" charset="-122"/>
                </a:rPr>
                <a:t>专家江科对项目组成员及相关部门完成“</a:t>
              </a:r>
              <a:r>
                <a:rPr lang="zh-CN" altLang="en-US" sz="1400" b="1" kern="0" dirty="0">
                  <a:solidFill>
                    <a:srgbClr val="0000FF"/>
                  </a:solidFill>
                  <a:latin typeface="微软雅黑" panose="020B0503020204020204" charset="-122"/>
                  <a:ea typeface="微软雅黑" panose="020B0503020204020204" charset="-122"/>
                </a:rPr>
                <a:t>工业</a:t>
              </a:r>
              <a:r>
                <a:rPr lang="en-US" altLang="zh-CN" sz="1400" b="1" kern="0" dirty="0">
                  <a:solidFill>
                    <a:srgbClr val="0000FF"/>
                  </a:solidFill>
                  <a:latin typeface="微软雅黑" panose="020B0503020204020204" charset="-122"/>
                  <a:ea typeface="微软雅黑" panose="020B0503020204020204" charset="-122"/>
                </a:rPr>
                <a:t>4.0</a:t>
              </a:r>
              <a:r>
                <a:rPr lang="zh-CN" altLang="en-US" sz="1400" b="1" kern="0" dirty="0">
                  <a:solidFill>
                    <a:srgbClr val="0000FF"/>
                  </a:solidFill>
                  <a:latin typeface="微软雅黑" panose="020B0503020204020204" charset="-122"/>
                  <a:ea typeface="微软雅黑" panose="020B0503020204020204" charset="-122"/>
                </a:rPr>
                <a:t> 快速交付模型”</a:t>
              </a:r>
              <a:r>
                <a:rPr lang="zh-CN" altLang="en-US" sz="1400" kern="0" dirty="0">
                  <a:solidFill>
                    <a:sysClr val="windowText" lastClr="000000"/>
                  </a:solidFill>
                  <a:latin typeface="微软雅黑" panose="020B0503020204020204" charset="-122"/>
                  <a:ea typeface="微软雅黑" panose="020B0503020204020204" charset="-122"/>
                </a:rPr>
                <a:t>培训</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grpSp>
      <p:sp>
        <p:nvSpPr>
          <p:cNvPr id="44" name="TextBox 43"/>
          <p:cNvSpPr txBox="1"/>
          <p:nvPr/>
        </p:nvSpPr>
        <p:spPr>
          <a:xfrm>
            <a:off x="671938" y="1657564"/>
            <a:ext cx="3828624" cy="1284967"/>
          </a:xfrm>
          <a:prstGeom prst="rect">
            <a:avLst/>
          </a:prstGeom>
          <a:noFill/>
        </p:spPr>
        <p:txBody>
          <a:bodyPr wrap="square" rtlCol="0">
            <a:spAutoFit/>
          </a:bodyPr>
          <a:lstStyle/>
          <a:p>
            <a:pPr marL="174625" marR="0" lvl="0" indent="-174625" defTabSz="914400" eaLnBrk="1" fontAlgn="auto" latinLnBrk="0" hangingPunct="1">
              <a:lnSpc>
                <a:spcPct val="100000"/>
              </a:lnSpc>
              <a:spcBef>
                <a:spcPts val="300"/>
              </a:spcBef>
              <a:spcAft>
                <a:spcPts val="0"/>
              </a:spcAft>
              <a:buClrTx/>
              <a:buSzTx/>
              <a:buFont typeface="Wingdings" panose="05000000000000000000" pitchFamily="2" charset="2"/>
              <a:buChar char="p"/>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完成覆盖中高层、代理商与供应商等</a:t>
            </a:r>
            <a:r>
              <a:rPr kumimoji="0" lang="en-US" altLang="zh-CN" sz="1400" b="1" i="0" u="none" strike="noStrike" kern="0" cap="none" spc="0" normalizeH="0" baseline="0" noProof="0" dirty="0">
                <a:ln>
                  <a:noFill/>
                </a:ln>
                <a:solidFill>
                  <a:srgbClr val="7889FB">
                    <a:lumMod val="75000"/>
                  </a:srgbClr>
                </a:solidFill>
                <a:effectLst/>
                <a:uLnTx/>
                <a:uFillTx/>
                <a:latin typeface="微软雅黑" panose="020B0503020204020204" charset="-122"/>
                <a:ea typeface="微软雅黑" panose="020B0503020204020204" charset="-122"/>
              </a:rPr>
              <a:t>30</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场访谈，并整理访谈纪要</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4625" marR="0" lvl="0" indent="-174625" defTabSz="914400" eaLnBrk="1" fontAlgn="auto" latinLnBrk="0" hangingPunct="1">
              <a:lnSpc>
                <a:spcPct val="100000"/>
              </a:lnSpc>
              <a:spcBef>
                <a:spcPts val="300"/>
              </a:spcBef>
              <a:spcAft>
                <a:spcPts val="0"/>
              </a:spcAft>
              <a:buClrTx/>
              <a:buSzTx/>
              <a:buFontTx/>
              <a:buNone/>
              <a:tabLst>
                <a:tab pos="1074420" algn="l"/>
                <a:tab pos="1887220" algn="l"/>
                <a:tab pos="3134995" algn="l"/>
              </a:tabLst>
              <a:defRPr/>
            </a:pP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① </a:t>
            </a:r>
            <a:r>
              <a:rPr lang="zh-CN" altLang="en-US" sz="1400" kern="0" dirty="0">
                <a:solidFill>
                  <a:sysClr val="windowText" lastClr="000000"/>
                </a:solidFill>
                <a:latin typeface="微软雅黑" panose="020B0503020204020204" charset="-122"/>
                <a:ea typeface="微软雅黑" panose="020B0503020204020204" charset="-122"/>
              </a:rPr>
              <a:t>中层</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20</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场</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② </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高层：</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8</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场</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4625" marR="0" lvl="0" indent="-174625" defTabSz="914400" eaLnBrk="1" fontAlgn="auto" latinLnBrk="0" hangingPunct="1">
              <a:lnSpc>
                <a:spcPct val="100000"/>
              </a:lnSpc>
              <a:spcBef>
                <a:spcPts val="300"/>
              </a:spcBef>
              <a:spcAft>
                <a:spcPts val="0"/>
              </a:spcAft>
              <a:buClrTx/>
              <a:buSzTx/>
              <a:buFontTx/>
              <a:buNone/>
              <a:tabLst>
                <a:tab pos="1074420" algn="l"/>
                <a:tab pos="1887220" algn="l"/>
                <a:tab pos="3134995" algn="l"/>
              </a:tabLst>
              <a:defRPr/>
            </a:pP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③ </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代理商：</a:t>
            </a:r>
            <a:r>
              <a:rPr lang="en-US" altLang="zh-CN" sz="1400" kern="0" dirty="0">
                <a:solidFill>
                  <a:sysClr val="windowText" lastClr="000000"/>
                </a:solidFill>
                <a:latin typeface="微软雅黑" panose="020B0503020204020204" charset="-122"/>
                <a:ea typeface="微软雅黑" panose="020B0503020204020204" charset="-122"/>
              </a:rPr>
              <a:t>1</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场</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(2</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家</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④ </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a:t>
            </a:r>
            <a:r>
              <a:rPr lang="en-US" altLang="zh-CN" sz="1400" kern="0" dirty="0">
                <a:solidFill>
                  <a:sysClr val="windowText" lastClr="000000"/>
                </a:solidFill>
                <a:latin typeface="微软雅黑" panose="020B0503020204020204" charset="-122"/>
                <a:ea typeface="微软雅黑" panose="020B0503020204020204" charset="-122"/>
              </a:rPr>
              <a:t>1</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场</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(3</a:t>
            </a: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家</a:t>
            </a:r>
            <a:r>
              <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t>
            </a:r>
          </a:p>
          <a:p>
            <a:pPr marL="174625" lvl="0" indent="-174625">
              <a:spcBef>
                <a:spcPts val="300"/>
              </a:spcBef>
              <a:buFont typeface="Wingdings" panose="05000000000000000000" pitchFamily="2" charset="2"/>
              <a:buChar char="p"/>
              <a:defRPr/>
            </a:pPr>
            <a:r>
              <a:rPr lang="zh-CN" altLang="en-US" sz="1400" kern="0" dirty="0">
                <a:solidFill>
                  <a:sysClr val="windowText" lastClr="000000"/>
                </a:solidFill>
                <a:latin typeface="微软雅黑" panose="020B0503020204020204" charset="-122"/>
                <a:ea typeface="微软雅黑" panose="020B0503020204020204" charset="-122"/>
              </a:rPr>
              <a:t>共收集</a:t>
            </a:r>
            <a:r>
              <a:rPr lang="en-US" altLang="zh-CN" sz="1400" b="1" kern="0" dirty="0">
                <a:solidFill>
                  <a:srgbClr val="0000FF"/>
                </a:solidFill>
                <a:latin typeface="微软雅黑" panose="020B0503020204020204" charset="-122"/>
                <a:ea typeface="微软雅黑" panose="020B0503020204020204" charset="-122"/>
              </a:rPr>
              <a:t>35</a:t>
            </a:r>
            <a:r>
              <a:rPr lang="zh-CN" altLang="en-US" sz="1400" kern="0" dirty="0">
                <a:solidFill>
                  <a:sysClr val="windowText" lastClr="000000"/>
                </a:solidFill>
                <a:latin typeface="微软雅黑" panose="020B0503020204020204" charset="-122"/>
                <a:ea typeface="微软雅黑" panose="020B0503020204020204" charset="-122"/>
              </a:rPr>
              <a:t>个样本，完成</a:t>
            </a:r>
            <a:r>
              <a:rPr lang="en-US" altLang="zh-CN" sz="1400" kern="0" dirty="0">
                <a:solidFill>
                  <a:sysClr val="windowText" lastClr="000000"/>
                </a:solidFill>
                <a:latin typeface="微软雅黑" panose="020B0503020204020204" charset="-122"/>
                <a:ea typeface="微软雅黑" panose="020B0503020204020204" charset="-122"/>
              </a:rPr>
              <a:t>11</a:t>
            </a:r>
            <a:r>
              <a:rPr lang="zh-CN" altLang="en-US" sz="1400" kern="0" dirty="0">
                <a:solidFill>
                  <a:sysClr val="windowText" lastClr="000000"/>
                </a:solidFill>
                <a:latin typeface="微软雅黑" panose="020B0503020204020204" charset="-122"/>
                <a:ea typeface="微软雅黑" panose="020B0503020204020204" charset="-122"/>
              </a:rPr>
              <a:t>个领域成熟度评估</a:t>
            </a:r>
            <a:endParaRPr lang="en-US" altLang="zh-CN" sz="1400" kern="0" dirty="0">
              <a:solidFill>
                <a:sysClr val="windowText" lastClr="000000"/>
              </a:solidFill>
              <a:latin typeface="微软雅黑" panose="020B0503020204020204" charset="-122"/>
              <a:ea typeface="微软雅黑" panose="020B0503020204020204" charset="-122"/>
            </a:endParaRPr>
          </a:p>
        </p:txBody>
      </p:sp>
      <p:pic>
        <p:nvPicPr>
          <p:cNvPr id="1026" name="Picture 2"/>
          <p:cNvPicPr>
            <a:picLocks noChangeAspect="1" noChangeArrowheads="1"/>
          </p:cNvPicPr>
          <p:nvPr/>
        </p:nvPicPr>
        <p:blipFill>
          <a:blip r:embed="rId3"/>
          <a:srcRect/>
          <a:stretch>
            <a:fillRect/>
          </a:stretch>
        </p:blipFill>
        <p:spPr bwMode="auto">
          <a:xfrm>
            <a:off x="6643702" y="5181620"/>
            <a:ext cx="1819275" cy="1104900"/>
          </a:xfrm>
          <a:prstGeom prst="rect">
            <a:avLst/>
          </a:prstGeom>
          <a:effectLst>
            <a:outerShdw blurRad="50800" dist="38100" dir="2700000" algn="tl" rotWithShape="0">
              <a:prstClr val="black">
                <a:alpha val="40000"/>
              </a:prstClr>
            </a:outerShdw>
          </a:effectLst>
        </p:spPr>
      </p:pic>
      <p:pic>
        <p:nvPicPr>
          <p:cNvPr id="1027" name="Picture 3"/>
          <p:cNvPicPr>
            <a:picLocks noChangeAspect="1" noChangeArrowheads="1"/>
          </p:cNvPicPr>
          <p:nvPr/>
        </p:nvPicPr>
        <p:blipFill>
          <a:blip r:embed="rId4"/>
          <a:srcRect/>
          <a:stretch>
            <a:fillRect/>
          </a:stretch>
        </p:blipFill>
        <p:spPr bwMode="auto">
          <a:xfrm>
            <a:off x="6653227" y="1600640"/>
            <a:ext cx="1809750" cy="1095375"/>
          </a:xfrm>
          <a:prstGeom prst="rect">
            <a:avLst/>
          </a:prstGeom>
          <a:effectLst>
            <a:outerShdw blurRad="50800" dist="38100" dir="2700000" algn="tl" rotWithShape="0">
              <a:prstClr val="black">
                <a:alpha val="40000"/>
              </a:prstClr>
            </a:outerShdw>
          </a:effectLst>
        </p:spPr>
      </p:pic>
      <p:pic>
        <p:nvPicPr>
          <p:cNvPr id="1028" name="Picture 4"/>
          <p:cNvPicPr>
            <a:picLocks noChangeAspect="1" noChangeArrowheads="1"/>
          </p:cNvPicPr>
          <p:nvPr/>
        </p:nvPicPr>
        <p:blipFill>
          <a:blip r:embed="rId5"/>
          <a:srcRect/>
          <a:stretch>
            <a:fillRect/>
          </a:stretch>
        </p:blipFill>
        <p:spPr bwMode="auto">
          <a:xfrm>
            <a:off x="4572000" y="5191145"/>
            <a:ext cx="1819275" cy="1095375"/>
          </a:xfrm>
          <a:prstGeom prst="rect">
            <a:avLst/>
          </a:prstGeom>
          <a:effectLst>
            <a:outerShdw blurRad="50800" dist="38100" dir="2700000" algn="tl" rotWithShape="0">
              <a:prstClr val="black">
                <a:alpha val="40000"/>
              </a:prstClr>
            </a:outerShdw>
          </a:effectLst>
        </p:spPr>
      </p:pic>
      <p:pic>
        <p:nvPicPr>
          <p:cNvPr id="4098" name="Picture 2"/>
          <p:cNvPicPr>
            <a:picLocks noChangeAspect="1" noChangeArrowheads="1"/>
          </p:cNvPicPr>
          <p:nvPr/>
        </p:nvPicPr>
        <p:blipFill>
          <a:blip r:embed="rId6"/>
          <a:srcRect/>
          <a:stretch>
            <a:fillRect/>
          </a:stretch>
        </p:blipFill>
        <p:spPr bwMode="auto">
          <a:xfrm>
            <a:off x="7000892" y="3599772"/>
            <a:ext cx="1485900" cy="942975"/>
          </a:xfrm>
          <a:prstGeom prst="rect">
            <a:avLst/>
          </a:prstGeom>
          <a:effectLst>
            <a:outerShdw blurRad="50800" dist="38100" dir="2700000" algn="tl" rotWithShape="0">
              <a:prstClr val="black">
                <a:alpha val="40000"/>
              </a:prstClr>
            </a:outerShdw>
          </a:effectLst>
        </p:spPr>
      </p:pic>
      <p:pic>
        <p:nvPicPr>
          <p:cNvPr id="22" name="图片 21" descr="IMG_0599.JPG"/>
          <p:cNvPicPr preferRelativeResize="0"/>
          <p:nvPr/>
        </p:nvPicPr>
        <p:blipFill>
          <a:blip r:embed="rId7" cstate="print"/>
          <a:srcRect t="11594"/>
          <a:stretch>
            <a:fillRect/>
          </a:stretch>
        </p:blipFill>
        <p:spPr>
          <a:xfrm>
            <a:off x="4614874" y="1616015"/>
            <a:ext cx="1800000" cy="1080000"/>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附录</a:t>
            </a:r>
          </a:p>
        </p:txBody>
      </p:sp>
      <p:sp>
        <p:nvSpPr>
          <p:cNvPr id="10" name="Rectangle 4"/>
          <p:cNvSpPr>
            <a:spLocks noChangeArrowheads="1"/>
          </p:cNvSpPr>
          <p:nvPr/>
        </p:nvSpPr>
        <p:spPr bwMode="auto">
          <a:xfrm>
            <a:off x="1371763" y="1544105"/>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项目进度与工作范围</a:t>
            </a:r>
          </a:p>
        </p:txBody>
      </p:sp>
      <p:sp>
        <p:nvSpPr>
          <p:cNvPr id="12" name="Rectangle 11"/>
          <p:cNvSpPr>
            <a:spLocks noChangeArrowheads="1"/>
          </p:cNvSpPr>
          <p:nvPr/>
        </p:nvSpPr>
        <p:spPr bwMode="auto">
          <a:xfrm>
            <a:off x="585986" y="1544105"/>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1</a:t>
            </a:r>
          </a:p>
        </p:txBody>
      </p:sp>
      <p:sp>
        <p:nvSpPr>
          <p:cNvPr id="13" name="Rectangle 11"/>
          <p:cNvSpPr>
            <a:spLocks noChangeArrowheads="1"/>
          </p:cNvSpPr>
          <p:nvPr/>
        </p:nvSpPr>
        <p:spPr bwMode="auto">
          <a:xfrm>
            <a:off x="585986" y="2209660"/>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2</a:t>
            </a:r>
          </a:p>
        </p:txBody>
      </p:sp>
      <p:sp>
        <p:nvSpPr>
          <p:cNvPr id="16" name="Rectangle 5"/>
          <p:cNvSpPr>
            <a:spLocks noChangeArrowheads="1"/>
          </p:cNvSpPr>
          <p:nvPr/>
        </p:nvSpPr>
        <p:spPr bwMode="auto">
          <a:xfrm>
            <a:off x="1371763" y="2209872"/>
            <a:ext cx="7170202" cy="503237"/>
          </a:xfrm>
          <a:prstGeom prst="rect">
            <a:avLst/>
          </a:prstGeom>
          <a:solidFill>
            <a:srgbClr val="D6DBFE"/>
          </a:solidFill>
          <a:ln w="9525" algn="ctr">
            <a:solidFill>
              <a:srgbClr val="7889FB"/>
            </a:solidFill>
            <a:miter lim="800000"/>
          </a:ln>
        </p:spPr>
        <p:txBody>
          <a:bodyPr wrap="none" lIns="90000" tIns="46800" rIns="90000" bIns="46800" anchor="ctr"/>
          <a:lstStyle/>
          <a:p>
            <a:pPr lvl="0">
              <a:defRPr/>
            </a:pPr>
            <a:r>
              <a:rPr lang="zh-CN" altLang="en-US" sz="1600" b="1" kern="0" dirty="0">
                <a:solidFill>
                  <a:sysClr val="windowText" lastClr="000000"/>
                </a:solidFill>
                <a:latin typeface="微软雅黑" panose="020B0503020204020204" charset="-122"/>
                <a:ea typeface="微软雅黑" panose="020B0503020204020204" charset="-122"/>
              </a:rPr>
              <a:t>业务成熟度分析</a:t>
            </a:r>
          </a:p>
        </p:txBody>
      </p:sp>
      <p:sp>
        <p:nvSpPr>
          <p:cNvPr id="14" name="Rectangle 11"/>
          <p:cNvSpPr>
            <a:spLocks noChangeArrowheads="1"/>
          </p:cNvSpPr>
          <p:nvPr/>
        </p:nvSpPr>
        <p:spPr bwMode="auto">
          <a:xfrm>
            <a:off x="585986" y="2875216"/>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3</a:t>
            </a:r>
          </a:p>
        </p:txBody>
      </p:sp>
      <p:sp>
        <p:nvSpPr>
          <p:cNvPr id="15" name="Rectangle 5"/>
          <p:cNvSpPr>
            <a:spLocks noChangeArrowheads="1"/>
          </p:cNvSpPr>
          <p:nvPr/>
        </p:nvSpPr>
        <p:spPr bwMode="auto">
          <a:xfrm>
            <a:off x="1371763" y="2875639"/>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总体绩效指标分析</a:t>
            </a:r>
          </a:p>
        </p:txBody>
      </p:sp>
      <p:sp>
        <p:nvSpPr>
          <p:cNvPr id="17" name="Rectangle 4"/>
          <p:cNvSpPr>
            <a:spLocks noChangeArrowheads="1"/>
          </p:cNvSpPr>
          <p:nvPr/>
        </p:nvSpPr>
        <p:spPr bwMode="auto">
          <a:xfrm>
            <a:off x="1371763" y="3541406"/>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现状分析</a:t>
            </a:r>
          </a:p>
        </p:txBody>
      </p:sp>
      <p:sp>
        <p:nvSpPr>
          <p:cNvPr id="18" name="Rectangle 11"/>
          <p:cNvSpPr>
            <a:spLocks noChangeArrowheads="1"/>
          </p:cNvSpPr>
          <p:nvPr/>
        </p:nvSpPr>
        <p:spPr bwMode="auto">
          <a:xfrm>
            <a:off x="585986" y="3540772"/>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4</a:t>
            </a:r>
          </a:p>
        </p:txBody>
      </p:sp>
      <p:sp>
        <p:nvSpPr>
          <p:cNvPr id="20" name="Rectangle 11"/>
          <p:cNvSpPr>
            <a:spLocks noChangeArrowheads="1"/>
          </p:cNvSpPr>
          <p:nvPr/>
        </p:nvSpPr>
        <p:spPr bwMode="auto">
          <a:xfrm>
            <a:off x="585986" y="4206327"/>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5</a:t>
            </a:r>
          </a:p>
        </p:txBody>
      </p:sp>
      <p:sp>
        <p:nvSpPr>
          <p:cNvPr id="21" name="Rectangle 5"/>
          <p:cNvSpPr>
            <a:spLocks noChangeArrowheads="1"/>
          </p:cNvSpPr>
          <p:nvPr/>
        </p:nvSpPr>
        <p:spPr bwMode="auto">
          <a:xfrm>
            <a:off x="1371763" y="4207173"/>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解决思路</a:t>
            </a:r>
          </a:p>
        </p:txBody>
      </p:sp>
      <p:sp>
        <p:nvSpPr>
          <p:cNvPr id="26" name="Rectangle 11"/>
          <p:cNvSpPr>
            <a:spLocks noChangeArrowheads="1"/>
          </p:cNvSpPr>
          <p:nvPr/>
        </p:nvSpPr>
        <p:spPr bwMode="auto">
          <a:xfrm>
            <a:off x="585986" y="4871885"/>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6</a:t>
            </a:r>
          </a:p>
        </p:txBody>
      </p:sp>
      <p:sp>
        <p:nvSpPr>
          <p:cNvPr id="29" name="Rectangle 5"/>
          <p:cNvSpPr>
            <a:spLocks noChangeArrowheads="1"/>
          </p:cNvSpPr>
          <p:nvPr/>
        </p:nvSpPr>
        <p:spPr bwMode="auto">
          <a:xfrm>
            <a:off x="1371763" y="4872938"/>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集成计划体系流程框架</a:t>
            </a:r>
            <a:r>
              <a:rPr lang="en-US" altLang="zh-CN" sz="1600" kern="0" dirty="0">
                <a:solidFill>
                  <a:sysClr val="windowText" lastClr="000000"/>
                </a:solidFill>
                <a:latin typeface="微软雅黑" panose="020B0503020204020204" charset="-122"/>
                <a:ea typeface="微软雅黑" panose="020B0503020204020204" charset="-122"/>
              </a:rPr>
              <a:t>1.0</a:t>
            </a:r>
            <a:endParaRPr lang="zh-CN" altLang="en-US" sz="1600" kern="0" dirty="0">
              <a:solidFill>
                <a:sysClr val="windowText" lastClr="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lang="zh-CN" altLang="en-US" dirty="0"/>
              <a:t>在分析具体绩效指标之前，项目组首先借助“供应链成熟度评估模型”，从</a:t>
            </a:r>
            <a:r>
              <a:rPr dirty="0"/>
              <a:t>4</a:t>
            </a:r>
            <a:r>
              <a:rPr lang="zh-CN" altLang="en-US" dirty="0"/>
              <a:t>个维度、</a:t>
            </a:r>
            <a:r>
              <a:rPr dirty="0"/>
              <a:t>5</a:t>
            </a:r>
            <a:r>
              <a:rPr lang="zh-CN" altLang="en-US" dirty="0"/>
              <a:t>个等级、</a:t>
            </a:r>
            <a:r>
              <a:rPr dirty="0"/>
              <a:t>11</a:t>
            </a:r>
            <a:r>
              <a:rPr lang="zh-CN" altLang="en-US" dirty="0"/>
              <a:t>个领域，对现有业务进行了初步摸底</a:t>
            </a:r>
          </a:p>
        </p:txBody>
      </p:sp>
      <p:pic>
        <p:nvPicPr>
          <p:cNvPr id="1026" name="Picture 2"/>
          <p:cNvPicPr>
            <a:picLocks noChangeAspect="1" noChangeArrowheads="1"/>
          </p:cNvPicPr>
          <p:nvPr/>
        </p:nvPicPr>
        <p:blipFill>
          <a:blip r:embed="rId2"/>
          <a:srcRect/>
          <a:stretch>
            <a:fillRect/>
          </a:stretch>
        </p:blipFill>
        <p:spPr bwMode="auto">
          <a:xfrm>
            <a:off x="926454" y="2221133"/>
            <a:ext cx="6000791" cy="4208263"/>
          </a:xfrm>
          <a:prstGeom prst="rect">
            <a:avLst/>
          </a:prstGeom>
          <a:noFill/>
          <a:ln w="9525">
            <a:noFill/>
            <a:miter lim="800000"/>
            <a:headEnd/>
            <a:tailEnd/>
          </a:ln>
          <a:effectLst/>
        </p:spPr>
      </p:pic>
      <p:sp>
        <p:nvSpPr>
          <p:cNvPr id="5" name="Left Brace 93"/>
          <p:cNvSpPr/>
          <p:nvPr/>
        </p:nvSpPr>
        <p:spPr>
          <a:xfrm rot="5400000">
            <a:off x="3813700" y="-976853"/>
            <a:ext cx="252000" cy="5883618"/>
          </a:xfrm>
          <a:prstGeom prst="leftBrace">
            <a:avLst>
              <a:gd name="adj1" fmla="val 111635"/>
              <a:gd name="adj2" fmla="val 50001"/>
            </a:avLst>
          </a:prstGeom>
          <a:solidFill>
            <a:schemeClr val="bg1"/>
          </a:solidFill>
          <a:ln w="1905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l"/>
            <a:endParaRPr lang="zh-CN" altLang="en-US" sz="1100"/>
          </a:p>
        </p:txBody>
      </p:sp>
      <p:sp>
        <p:nvSpPr>
          <p:cNvPr id="6" name="TextBox 5"/>
          <p:cNvSpPr txBox="1"/>
          <p:nvPr/>
        </p:nvSpPr>
        <p:spPr>
          <a:xfrm>
            <a:off x="2998155" y="1537256"/>
            <a:ext cx="1857388" cy="338554"/>
          </a:xfrm>
          <a:prstGeom prst="rect">
            <a:avLst/>
          </a:prstGeom>
          <a:noFill/>
        </p:spPr>
        <p:txBody>
          <a:bodyPr wrap="square" rtlCol="0">
            <a:spAutoFit/>
          </a:bodyPr>
          <a:lstStyle/>
          <a:p>
            <a:pPr algn="ctr"/>
            <a:r>
              <a:rPr lang="en-US" altLang="zh-CN" sz="1600" b="1" dirty="0">
                <a:latin typeface="微软雅黑" panose="020B0503020204020204" charset="-122"/>
                <a:ea typeface="微软雅黑" panose="020B0503020204020204" charset="-122"/>
              </a:rPr>
              <a:t>5</a:t>
            </a:r>
            <a:r>
              <a:rPr lang="zh-CN" altLang="en-US" sz="1600" b="1" dirty="0">
                <a:latin typeface="微软雅黑" panose="020B0503020204020204" charset="-122"/>
                <a:ea typeface="微软雅黑" panose="020B0503020204020204" charset="-122"/>
              </a:rPr>
              <a:t>个评估等级</a:t>
            </a:r>
          </a:p>
        </p:txBody>
      </p:sp>
      <p:sp>
        <p:nvSpPr>
          <p:cNvPr id="7" name="Left Brace 93"/>
          <p:cNvSpPr/>
          <p:nvPr/>
        </p:nvSpPr>
        <p:spPr>
          <a:xfrm rot="10800000" flipH="1">
            <a:off x="569264" y="2714619"/>
            <a:ext cx="252000" cy="3649916"/>
          </a:xfrm>
          <a:prstGeom prst="leftBrace">
            <a:avLst>
              <a:gd name="adj1" fmla="val 111635"/>
              <a:gd name="adj2" fmla="val 50001"/>
            </a:avLst>
          </a:prstGeom>
          <a:solidFill>
            <a:schemeClr val="bg1"/>
          </a:solidFill>
          <a:ln w="1905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zh-CN" altLang="en-US"/>
          </a:p>
        </p:txBody>
      </p:sp>
      <p:sp>
        <p:nvSpPr>
          <p:cNvPr id="8" name="TextBox 7"/>
          <p:cNvSpPr txBox="1"/>
          <p:nvPr/>
        </p:nvSpPr>
        <p:spPr>
          <a:xfrm>
            <a:off x="273986" y="3829955"/>
            <a:ext cx="357190" cy="1384995"/>
          </a:xfrm>
          <a:prstGeom prst="rect">
            <a:avLst/>
          </a:prstGeom>
          <a:noFill/>
        </p:spPr>
        <p:txBody>
          <a:bodyPr wrap="square" rtlCol="0" anchor="ctr">
            <a:spAutoFit/>
          </a:bodyPr>
          <a:lstStyle/>
          <a:p>
            <a:pPr algn="ctr"/>
            <a:r>
              <a:rPr lang="en-US" altLang="zh-CN" sz="1400" b="1" dirty="0">
                <a:latin typeface="微软雅黑" panose="020B0503020204020204" charset="-122"/>
                <a:ea typeface="微软雅黑" panose="020B0503020204020204" charset="-122"/>
              </a:rPr>
              <a:t>4</a:t>
            </a:r>
          </a:p>
          <a:p>
            <a:pPr algn="ctr"/>
            <a:r>
              <a:rPr lang="zh-CN" altLang="en-US" sz="1400" b="1" dirty="0">
                <a:latin typeface="微软雅黑" panose="020B0503020204020204" charset="-122"/>
                <a:ea typeface="微软雅黑" panose="020B0503020204020204" charset="-122"/>
              </a:rPr>
              <a:t>个评估维度</a:t>
            </a:r>
            <a:endParaRPr lang="en-US" altLang="zh-CN" sz="1400" b="1" dirty="0">
              <a:latin typeface="微软雅黑" panose="020B0503020204020204" charset="-122"/>
              <a:ea typeface="微软雅黑" panose="020B0503020204020204" charset="-122"/>
            </a:endParaRPr>
          </a:p>
        </p:txBody>
      </p:sp>
      <p:sp>
        <p:nvSpPr>
          <p:cNvPr id="9" name="TextBox 8"/>
          <p:cNvSpPr txBox="1"/>
          <p:nvPr/>
        </p:nvSpPr>
        <p:spPr bwMode="auto">
          <a:xfrm>
            <a:off x="7010400" y="2221133"/>
            <a:ext cx="1827243" cy="417989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540000" rtlCol="0" anchor="ctr">
            <a:noAutofit/>
          </a:bodyPr>
          <a:lstStyle/>
          <a:p>
            <a:pPr>
              <a:spcBef>
                <a:spcPts val="1400"/>
              </a:spcBef>
            </a:pP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⑴ 国内需求计划</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⑵ 国际需求计划</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⑶ 国内订单管理</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⑷ 国际订单管理</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⑸ 产销平衡机制</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⑹ 生产计划</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⑺ 生产执行</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⑻ </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厂内</a:t>
            </a: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物流</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⑼ 零部件计划</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⑽ 零部件采购</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pPr>
              <a:spcBef>
                <a:spcPts val="14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⑾ 零部件交付</a:t>
            </a:r>
            <a:endPar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Left Brace 93"/>
          <p:cNvSpPr/>
          <p:nvPr/>
        </p:nvSpPr>
        <p:spPr>
          <a:xfrm rot="5400000">
            <a:off x="7821858" y="1125971"/>
            <a:ext cx="252000" cy="1677970"/>
          </a:xfrm>
          <a:prstGeom prst="leftBrace">
            <a:avLst>
              <a:gd name="adj1" fmla="val 111635"/>
              <a:gd name="adj2" fmla="val 50001"/>
            </a:avLst>
          </a:prstGeom>
          <a:solidFill>
            <a:schemeClr val="bg1"/>
          </a:solidFill>
          <a:ln w="1905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l"/>
            <a:endParaRPr lang="zh-CN" altLang="en-US" sz="1100"/>
          </a:p>
        </p:txBody>
      </p:sp>
      <p:sp>
        <p:nvSpPr>
          <p:cNvPr id="11" name="TextBox 10"/>
          <p:cNvSpPr txBox="1"/>
          <p:nvPr/>
        </p:nvSpPr>
        <p:spPr>
          <a:xfrm>
            <a:off x="7196216" y="1537256"/>
            <a:ext cx="1498550" cy="338554"/>
          </a:xfrm>
          <a:prstGeom prst="rect">
            <a:avLst/>
          </a:prstGeom>
          <a:noFill/>
        </p:spPr>
        <p:txBody>
          <a:bodyPr wrap="square" rtlCol="0">
            <a:spAutoFit/>
          </a:bodyPr>
          <a:lstStyle/>
          <a:p>
            <a:pPr algn="ctr"/>
            <a:r>
              <a:rPr lang="en-US" altLang="zh-CN" sz="1600" b="1" dirty="0">
                <a:latin typeface="微软雅黑" panose="020B0503020204020204" charset="-122"/>
                <a:ea typeface="微软雅黑" panose="020B0503020204020204" charset="-122"/>
              </a:rPr>
              <a:t>11</a:t>
            </a:r>
            <a:r>
              <a:rPr lang="zh-CN" altLang="en-US" sz="1600" b="1" dirty="0">
                <a:latin typeface="微软雅黑" panose="020B0503020204020204" charset="-122"/>
                <a:ea typeface="微软雅黑" panose="020B0503020204020204" charset="-122"/>
              </a:rPr>
              <a:t>个评估领域</a:t>
            </a:r>
          </a:p>
        </p:txBody>
      </p:sp>
      <p:sp>
        <p:nvSpPr>
          <p:cNvPr id="12" name="矩形 11"/>
          <p:cNvSpPr/>
          <p:nvPr/>
        </p:nvSpPr>
        <p:spPr bwMode="auto">
          <a:xfrm>
            <a:off x="7480300" y="2344730"/>
            <a:ext cx="1270000" cy="677870"/>
          </a:xfrm>
          <a:prstGeom prst="rect">
            <a:avLst/>
          </a:prstGeom>
          <a:noFill/>
          <a:ln w="9525" cap="flat" cmpd="sng" algn="ctr">
            <a:solidFill>
              <a:schemeClr val="tx1"/>
            </a:solidFill>
            <a:prstDash val="dash"/>
            <a:round/>
            <a:headEnd type="none" w="med" len="med"/>
            <a:tailEnd type="none"/>
          </a:ln>
          <a:effectLst/>
        </p:spPr>
        <p:txBody>
          <a:bodyPr rtlCol="0" anchor="ctr"/>
          <a:lstStyle/>
          <a:p>
            <a:pPr algn="ctr"/>
            <a:endParaRPr lang="zh-CN" altLang="en-US"/>
          </a:p>
        </p:txBody>
      </p:sp>
      <p:sp>
        <p:nvSpPr>
          <p:cNvPr id="13" name="矩形 12"/>
          <p:cNvSpPr/>
          <p:nvPr/>
        </p:nvSpPr>
        <p:spPr bwMode="auto">
          <a:xfrm>
            <a:off x="7480300" y="3105148"/>
            <a:ext cx="1270000" cy="617542"/>
          </a:xfrm>
          <a:prstGeom prst="rect">
            <a:avLst/>
          </a:prstGeom>
          <a:noFill/>
          <a:ln w="9525" cap="flat" cmpd="sng" algn="ctr">
            <a:solidFill>
              <a:schemeClr val="tx1"/>
            </a:solidFill>
            <a:prstDash val="dash"/>
            <a:round/>
            <a:headEnd type="none" w="med" len="med"/>
            <a:tailEnd type="none"/>
          </a:ln>
          <a:effectLst/>
        </p:spPr>
        <p:txBody>
          <a:bodyPr rtlCol="0" anchor="ctr"/>
          <a:lstStyle/>
          <a:p>
            <a:pPr algn="ctr"/>
            <a:endParaRPr lang="zh-CN" altLang="en-US"/>
          </a:p>
        </p:txBody>
      </p:sp>
      <p:sp>
        <p:nvSpPr>
          <p:cNvPr id="14" name="矩形 13"/>
          <p:cNvSpPr/>
          <p:nvPr/>
        </p:nvSpPr>
        <p:spPr bwMode="auto">
          <a:xfrm>
            <a:off x="7480300" y="3786190"/>
            <a:ext cx="1270000" cy="315910"/>
          </a:xfrm>
          <a:prstGeom prst="rect">
            <a:avLst/>
          </a:prstGeom>
          <a:noFill/>
          <a:ln w="9525" cap="flat" cmpd="sng" algn="ctr">
            <a:solidFill>
              <a:schemeClr val="tx1"/>
            </a:solidFill>
            <a:prstDash val="dash"/>
            <a:round/>
            <a:headEnd type="none" w="med" len="med"/>
            <a:tailEnd type="none"/>
          </a:ln>
          <a:effectLst/>
        </p:spPr>
        <p:txBody>
          <a:bodyPr rtlCol="0" anchor="ctr"/>
          <a:lstStyle/>
          <a:p>
            <a:pPr algn="ctr"/>
            <a:endParaRPr lang="zh-CN" altLang="en-US"/>
          </a:p>
        </p:txBody>
      </p:sp>
      <p:sp>
        <p:nvSpPr>
          <p:cNvPr id="15" name="矩形 14"/>
          <p:cNvSpPr/>
          <p:nvPr/>
        </p:nvSpPr>
        <p:spPr bwMode="auto">
          <a:xfrm>
            <a:off x="7480300" y="4184660"/>
            <a:ext cx="1270000" cy="971540"/>
          </a:xfrm>
          <a:prstGeom prst="rect">
            <a:avLst/>
          </a:prstGeom>
          <a:noFill/>
          <a:ln w="9525" cap="flat" cmpd="sng" algn="ctr">
            <a:solidFill>
              <a:schemeClr val="tx1"/>
            </a:solidFill>
            <a:prstDash val="dash"/>
            <a:round/>
            <a:headEnd type="none" w="med" len="med"/>
            <a:tailEnd type="none"/>
          </a:ln>
          <a:effectLst/>
        </p:spPr>
        <p:txBody>
          <a:bodyPr rtlCol="0" anchor="ctr"/>
          <a:lstStyle/>
          <a:p>
            <a:pPr algn="ctr"/>
            <a:endParaRPr lang="zh-CN" altLang="en-US"/>
          </a:p>
        </p:txBody>
      </p:sp>
      <p:sp>
        <p:nvSpPr>
          <p:cNvPr id="16" name="矩形 15"/>
          <p:cNvSpPr/>
          <p:nvPr/>
        </p:nvSpPr>
        <p:spPr bwMode="auto">
          <a:xfrm>
            <a:off x="7480300" y="5243542"/>
            <a:ext cx="1270000" cy="1017558"/>
          </a:xfrm>
          <a:prstGeom prst="rect">
            <a:avLst/>
          </a:prstGeom>
          <a:noFill/>
          <a:ln w="9525" cap="flat" cmpd="sng" algn="ctr">
            <a:solidFill>
              <a:schemeClr val="tx1"/>
            </a:solidFill>
            <a:prstDash val="dash"/>
            <a:round/>
            <a:headEnd type="none" w="med" len="med"/>
            <a:tailEnd type="none"/>
          </a:ln>
          <a:effectLst/>
        </p:spPr>
        <p:txBody>
          <a:bodyPr rtlCol="0" anchor="ctr"/>
          <a:lstStyle/>
          <a:p>
            <a:pPr algn="ctr"/>
            <a:endParaRPr lang="zh-CN" altLang="en-US"/>
          </a:p>
        </p:txBody>
      </p:sp>
      <p:sp>
        <p:nvSpPr>
          <p:cNvPr id="17" name="TextBox 16"/>
          <p:cNvSpPr txBox="1"/>
          <p:nvPr/>
        </p:nvSpPr>
        <p:spPr bwMode="auto">
          <a:xfrm>
            <a:off x="7017246" y="2487606"/>
            <a:ext cx="492443" cy="461665"/>
          </a:xfrm>
          <a:prstGeom prst="rect">
            <a:avLst/>
          </a:prstGeom>
          <a:noFill/>
          <a:ln>
            <a:noFill/>
          </a:ln>
        </p:spPr>
        <p:txBody>
          <a:bodyPr wrap="non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需求</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18" name="TextBox 17"/>
          <p:cNvSpPr txBox="1"/>
          <p:nvPr/>
        </p:nvSpPr>
        <p:spPr bwMode="auto">
          <a:xfrm>
            <a:off x="7017246" y="3181348"/>
            <a:ext cx="492443" cy="461665"/>
          </a:xfrm>
          <a:prstGeom prst="rect">
            <a:avLst/>
          </a:prstGeom>
          <a:noFill/>
          <a:ln>
            <a:noFill/>
          </a:ln>
        </p:spPr>
        <p:txBody>
          <a:bodyPr wrap="non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订单</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19" name="TextBox 18"/>
          <p:cNvSpPr txBox="1"/>
          <p:nvPr/>
        </p:nvSpPr>
        <p:spPr bwMode="auto">
          <a:xfrm>
            <a:off x="7017246" y="3707115"/>
            <a:ext cx="492443" cy="461665"/>
          </a:xfrm>
          <a:prstGeom prst="rect">
            <a:avLst/>
          </a:prstGeom>
          <a:noFill/>
          <a:ln>
            <a:noFill/>
          </a:ln>
        </p:spPr>
        <p:txBody>
          <a:bodyPr wrap="non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产销</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平衡</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 name="TextBox 19"/>
          <p:cNvSpPr txBox="1"/>
          <p:nvPr/>
        </p:nvSpPr>
        <p:spPr bwMode="auto">
          <a:xfrm>
            <a:off x="7017246" y="4298956"/>
            <a:ext cx="492443" cy="830997"/>
          </a:xfrm>
          <a:prstGeom prst="rect">
            <a:avLst/>
          </a:prstGeom>
          <a:noFill/>
          <a:ln>
            <a:noFill/>
          </a:ln>
        </p:spPr>
        <p:txBody>
          <a:bodyPr wrap="non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生产</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计划</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与</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执行</a:t>
            </a:r>
          </a:p>
        </p:txBody>
      </p:sp>
      <p:sp>
        <p:nvSpPr>
          <p:cNvPr id="21" name="TextBox 20"/>
          <p:cNvSpPr txBox="1"/>
          <p:nvPr/>
        </p:nvSpPr>
        <p:spPr bwMode="auto">
          <a:xfrm>
            <a:off x="7017246" y="5345126"/>
            <a:ext cx="492443" cy="830997"/>
          </a:xfrm>
          <a:prstGeom prst="rect">
            <a:avLst/>
          </a:prstGeom>
          <a:noFill/>
          <a:ln>
            <a:noFill/>
          </a:ln>
        </p:spPr>
        <p:txBody>
          <a:bodyPr wrap="non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零部</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件计</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划与</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交付</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bwMode="auto">
          <a:xfrm>
            <a:off x="1785918" y="2428869"/>
            <a:ext cx="1143008" cy="3229224"/>
          </a:xfrm>
          <a:prstGeom prst="rect">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ts val="600"/>
              </a:spcBef>
              <a:spcAft>
                <a:spcPts val="600"/>
              </a:spcAft>
            </a:pPr>
            <a:r>
              <a:rPr lang="zh-CN" altLang="en-US" sz="1200" b="1" i="1" dirty="0">
                <a:solidFill>
                  <a:srgbClr val="000000"/>
                </a:solidFill>
                <a:latin typeface="微软雅黑" panose="020B0503020204020204" charset="-122"/>
                <a:ea typeface="微软雅黑" panose="020B0503020204020204" charset="-122"/>
              </a:rPr>
              <a:t>需求管理</a:t>
            </a:r>
            <a:endParaRPr lang="en-US" altLang="zh-CN" sz="1200" b="1" i="1" dirty="0">
              <a:solidFill>
                <a:srgbClr val="000000"/>
              </a:solidFill>
              <a:latin typeface="微软雅黑" panose="020B0503020204020204" charset="-122"/>
              <a:ea typeface="微软雅黑" panose="020B0503020204020204" charset="-122"/>
            </a:endParaRPr>
          </a:p>
        </p:txBody>
      </p:sp>
      <p:sp>
        <p:nvSpPr>
          <p:cNvPr id="54" name="矩形 53"/>
          <p:cNvSpPr/>
          <p:nvPr/>
        </p:nvSpPr>
        <p:spPr bwMode="auto">
          <a:xfrm>
            <a:off x="4284317" y="2428868"/>
            <a:ext cx="563453" cy="3229224"/>
          </a:xfrm>
          <a:prstGeom prst="rect">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ts val="600"/>
              </a:spcBef>
              <a:spcAft>
                <a:spcPts val="600"/>
              </a:spcAft>
            </a:pPr>
            <a:r>
              <a:rPr lang="zh-CN" altLang="en-US" sz="1200" b="1" i="1" dirty="0">
                <a:solidFill>
                  <a:srgbClr val="000000"/>
                </a:solidFill>
                <a:latin typeface="微软雅黑" panose="020B0503020204020204" charset="-122"/>
                <a:ea typeface="微软雅黑" panose="020B0503020204020204" charset="-122"/>
              </a:rPr>
              <a:t>产销</a:t>
            </a:r>
            <a:br>
              <a:rPr lang="en-US" altLang="zh-CN" sz="1200" b="1" i="1" dirty="0">
                <a:solidFill>
                  <a:srgbClr val="000000"/>
                </a:solidFill>
                <a:latin typeface="微软雅黑" panose="020B0503020204020204" charset="-122"/>
                <a:ea typeface="微软雅黑" panose="020B0503020204020204" charset="-122"/>
              </a:rPr>
            </a:br>
            <a:r>
              <a:rPr lang="zh-CN" altLang="en-US" sz="1200" b="1" i="1" dirty="0">
                <a:solidFill>
                  <a:srgbClr val="000000"/>
                </a:solidFill>
                <a:latin typeface="微软雅黑" panose="020B0503020204020204" charset="-122"/>
                <a:ea typeface="微软雅黑" panose="020B0503020204020204" charset="-122"/>
              </a:rPr>
              <a:t>平衡</a:t>
            </a:r>
            <a:endParaRPr lang="en-US" altLang="zh-CN" sz="1200" b="1" i="1" dirty="0">
              <a:solidFill>
                <a:srgbClr val="000000"/>
              </a:solidFill>
              <a:latin typeface="微软雅黑" panose="020B0503020204020204" charset="-122"/>
              <a:ea typeface="微软雅黑" panose="020B0503020204020204" charset="-122"/>
            </a:endParaRPr>
          </a:p>
        </p:txBody>
      </p:sp>
      <p:sp>
        <p:nvSpPr>
          <p:cNvPr id="55" name="矩形 54"/>
          <p:cNvSpPr/>
          <p:nvPr/>
        </p:nvSpPr>
        <p:spPr bwMode="auto">
          <a:xfrm>
            <a:off x="4920343" y="2428868"/>
            <a:ext cx="1799772" cy="3229224"/>
          </a:xfrm>
          <a:prstGeom prst="rect">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ts val="600"/>
              </a:spcBef>
              <a:spcAft>
                <a:spcPts val="600"/>
              </a:spcAft>
            </a:pPr>
            <a:r>
              <a:rPr lang="zh-CN" altLang="en-US" sz="1200" b="1" i="1" dirty="0">
                <a:solidFill>
                  <a:srgbClr val="000000"/>
                </a:solidFill>
                <a:latin typeface="微软雅黑" panose="020B0503020204020204" charset="-122"/>
                <a:ea typeface="微软雅黑" panose="020B0503020204020204" charset="-122"/>
              </a:rPr>
              <a:t>生产计划与执行</a:t>
            </a:r>
            <a:endParaRPr lang="en-US" altLang="zh-CN" sz="1200" b="1" i="1" dirty="0">
              <a:solidFill>
                <a:srgbClr val="000000"/>
              </a:solidFill>
              <a:latin typeface="微软雅黑" panose="020B0503020204020204" charset="-122"/>
              <a:ea typeface="微软雅黑" panose="020B0503020204020204" charset="-122"/>
            </a:endParaRPr>
          </a:p>
        </p:txBody>
      </p:sp>
      <p:sp>
        <p:nvSpPr>
          <p:cNvPr id="56" name="矩形 55"/>
          <p:cNvSpPr/>
          <p:nvPr/>
        </p:nvSpPr>
        <p:spPr bwMode="auto">
          <a:xfrm>
            <a:off x="6813455" y="2428868"/>
            <a:ext cx="1764488" cy="3229224"/>
          </a:xfrm>
          <a:prstGeom prst="rect">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ts val="600"/>
              </a:spcBef>
              <a:spcAft>
                <a:spcPts val="600"/>
              </a:spcAft>
            </a:pPr>
            <a:r>
              <a:rPr lang="zh-CN" altLang="en-US" sz="1200" b="1" i="1" dirty="0">
                <a:solidFill>
                  <a:srgbClr val="000000"/>
                </a:solidFill>
                <a:latin typeface="微软雅黑" panose="020B0503020204020204" charset="-122"/>
                <a:ea typeface="微软雅黑" panose="020B0503020204020204" charset="-122"/>
              </a:rPr>
              <a:t>零部件计划与交付</a:t>
            </a:r>
            <a:endParaRPr lang="en-US" altLang="zh-CN" sz="1200" b="1" i="1" dirty="0">
              <a:solidFill>
                <a:srgbClr val="000000"/>
              </a:solidFill>
              <a:latin typeface="微软雅黑" panose="020B0503020204020204" charset="-122"/>
              <a:ea typeface="微软雅黑" panose="020B0503020204020204" charset="-122"/>
            </a:endParaRPr>
          </a:p>
        </p:txBody>
      </p:sp>
      <p:sp>
        <p:nvSpPr>
          <p:cNvPr id="52" name="Rectangle 177"/>
          <p:cNvSpPr>
            <a:spLocks noChangeArrowheads="1"/>
          </p:cNvSpPr>
          <p:nvPr/>
        </p:nvSpPr>
        <p:spPr bwMode="auto">
          <a:xfrm rot="10800000" flipH="1">
            <a:off x="8150052" y="4075665"/>
            <a:ext cx="360000" cy="1584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2.5</a:t>
            </a:r>
            <a:endParaRPr lang="en-GB" altLang="zh-CN" sz="1400" b="1" dirty="0">
              <a:solidFill>
                <a:srgbClr val="000000"/>
              </a:solidFill>
              <a:latin typeface="微软雅黑" panose="020B0503020204020204" charset="-122"/>
              <a:ea typeface="微软雅黑" panose="020B0503020204020204" charset="-122"/>
            </a:endParaRPr>
          </a:p>
        </p:txBody>
      </p:sp>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从业务领域来看，国际需求与订单环节、零部件采购与交付环节较为薄弱</a:t>
            </a:r>
          </a:p>
        </p:txBody>
      </p:sp>
      <p:cxnSp>
        <p:nvCxnSpPr>
          <p:cNvPr id="4" name="直接连接符 5"/>
          <p:cNvCxnSpPr>
            <a:cxnSpLocks noChangeShapeType="1"/>
          </p:cNvCxnSpPr>
          <p:nvPr/>
        </p:nvCxnSpPr>
        <p:spPr bwMode="auto">
          <a:xfrm>
            <a:off x="1661134" y="3939858"/>
            <a:ext cx="6984000" cy="0"/>
          </a:xfrm>
          <a:prstGeom prst="line">
            <a:avLst/>
          </a:prstGeom>
          <a:noFill/>
          <a:ln w="19050" algn="ctr">
            <a:solidFill>
              <a:srgbClr val="0000FF"/>
            </a:solidFill>
            <a:prstDash val="dash"/>
            <a:round/>
          </a:ln>
        </p:spPr>
      </p:cxnSp>
      <p:sp>
        <p:nvSpPr>
          <p:cNvPr id="5" name="Line 65"/>
          <p:cNvSpPr>
            <a:spLocks noChangeShapeType="1"/>
          </p:cNvSpPr>
          <p:nvPr/>
        </p:nvSpPr>
        <p:spPr bwMode="auto">
          <a:xfrm flipV="1">
            <a:off x="1657959" y="2052906"/>
            <a:ext cx="3175" cy="3611563"/>
          </a:xfrm>
          <a:prstGeom prst="line">
            <a:avLst/>
          </a:prstGeom>
          <a:noFill/>
          <a:ln w="19050">
            <a:solidFill>
              <a:schemeClr val="tx1"/>
            </a:solidFill>
            <a:round/>
            <a:tailEnd type="triangle" w="med" len="med"/>
          </a:ln>
        </p:spPr>
        <p:txBody>
          <a:bodyPr anchor="ctr">
            <a:spAutoFit/>
          </a:bodyPr>
          <a:lstStyle/>
          <a:p>
            <a:endParaRPr lang="zh-CN" altLang="en-US"/>
          </a:p>
        </p:txBody>
      </p:sp>
      <p:sp>
        <p:nvSpPr>
          <p:cNvPr id="6" name="Line 73"/>
          <p:cNvSpPr>
            <a:spLocks noChangeShapeType="1"/>
          </p:cNvSpPr>
          <p:nvPr/>
        </p:nvSpPr>
        <p:spPr bwMode="auto">
          <a:xfrm>
            <a:off x="1535722" y="4402180"/>
            <a:ext cx="107950" cy="0"/>
          </a:xfrm>
          <a:prstGeom prst="line">
            <a:avLst/>
          </a:prstGeom>
          <a:noFill/>
          <a:ln w="4826">
            <a:solidFill>
              <a:schemeClr val="tx1"/>
            </a:solidFill>
            <a:round/>
          </a:ln>
        </p:spPr>
        <p:txBody>
          <a:bodyPr/>
          <a:lstStyle/>
          <a:p>
            <a:endParaRPr lang="zh-CN" altLang="en-US"/>
          </a:p>
        </p:txBody>
      </p:sp>
      <p:sp>
        <p:nvSpPr>
          <p:cNvPr id="7" name="Line 74"/>
          <p:cNvSpPr>
            <a:spLocks noChangeShapeType="1"/>
          </p:cNvSpPr>
          <p:nvPr/>
        </p:nvSpPr>
        <p:spPr bwMode="auto">
          <a:xfrm>
            <a:off x="1535722" y="3706855"/>
            <a:ext cx="107950" cy="0"/>
          </a:xfrm>
          <a:prstGeom prst="line">
            <a:avLst/>
          </a:prstGeom>
          <a:noFill/>
          <a:ln w="4826">
            <a:solidFill>
              <a:schemeClr val="tx1"/>
            </a:solidFill>
            <a:round/>
          </a:ln>
        </p:spPr>
        <p:txBody>
          <a:bodyPr/>
          <a:lstStyle/>
          <a:p>
            <a:endParaRPr lang="zh-CN" altLang="en-US"/>
          </a:p>
        </p:txBody>
      </p:sp>
      <p:sp>
        <p:nvSpPr>
          <p:cNvPr id="8" name="Line 75"/>
          <p:cNvSpPr>
            <a:spLocks noChangeShapeType="1"/>
          </p:cNvSpPr>
          <p:nvPr/>
        </p:nvSpPr>
        <p:spPr bwMode="auto">
          <a:xfrm>
            <a:off x="1535722" y="3011530"/>
            <a:ext cx="107950" cy="0"/>
          </a:xfrm>
          <a:prstGeom prst="line">
            <a:avLst/>
          </a:prstGeom>
          <a:noFill/>
          <a:ln w="4826">
            <a:solidFill>
              <a:schemeClr val="tx1"/>
            </a:solidFill>
            <a:round/>
          </a:ln>
        </p:spPr>
        <p:txBody>
          <a:bodyPr/>
          <a:lstStyle/>
          <a:p>
            <a:endParaRPr lang="zh-CN" altLang="en-US"/>
          </a:p>
        </p:txBody>
      </p:sp>
      <p:sp>
        <p:nvSpPr>
          <p:cNvPr id="9" name="Line 76"/>
          <p:cNvSpPr>
            <a:spLocks noChangeShapeType="1"/>
          </p:cNvSpPr>
          <p:nvPr/>
        </p:nvSpPr>
        <p:spPr bwMode="auto">
          <a:xfrm>
            <a:off x="1535722" y="2317741"/>
            <a:ext cx="107950" cy="0"/>
          </a:xfrm>
          <a:prstGeom prst="line">
            <a:avLst/>
          </a:prstGeom>
          <a:noFill/>
          <a:ln w="4826">
            <a:solidFill>
              <a:schemeClr val="tx1"/>
            </a:solidFill>
            <a:round/>
          </a:ln>
        </p:spPr>
        <p:txBody>
          <a:bodyPr/>
          <a:lstStyle/>
          <a:p>
            <a:endParaRPr lang="zh-CN" altLang="en-US"/>
          </a:p>
        </p:txBody>
      </p:sp>
      <p:sp>
        <p:nvSpPr>
          <p:cNvPr id="10" name="Text Box 165"/>
          <p:cNvSpPr txBox="1">
            <a:spLocks noChangeArrowheads="1"/>
          </p:cNvSpPr>
          <p:nvPr/>
        </p:nvSpPr>
        <p:spPr bwMode="auto">
          <a:xfrm>
            <a:off x="272072" y="2206667"/>
            <a:ext cx="1362075" cy="242888"/>
          </a:xfrm>
          <a:prstGeom prst="rect">
            <a:avLst/>
          </a:prstGeom>
          <a:noFill/>
          <a:ln w="9525">
            <a:noFill/>
            <a:miter lim="800000"/>
          </a:ln>
        </p:spPr>
        <p:txBody>
          <a:bodyPr wrap="none" lIns="86493" tIns="43247" rIns="86493" bIns="43247">
            <a:spAutoFit/>
          </a:bodyPr>
          <a:lstStyle/>
          <a:p>
            <a:pPr algn="ctr" defTabSz="865505" eaLnBrk="0" hangingPunct="0">
              <a:lnSpc>
                <a:spcPct val="70000"/>
              </a:lnSpc>
              <a:spcBef>
                <a:spcPct val="50000"/>
              </a:spcBef>
            </a:pPr>
            <a:r>
              <a:rPr lang="zh-CN" altLang="en-US" sz="1400" b="1" dirty="0">
                <a:solidFill>
                  <a:srgbClr val="000000"/>
                </a:solidFill>
                <a:latin typeface="微软雅黑" panose="020B0503020204020204" charset="-122"/>
                <a:ea typeface="微软雅黑" panose="020B0503020204020204" charset="-122"/>
              </a:rPr>
              <a:t>领先的（</a:t>
            </a:r>
            <a:r>
              <a:rPr lang="en-US" altLang="zh-CN" sz="1400" b="1" dirty="0">
                <a:solidFill>
                  <a:srgbClr val="000000"/>
                </a:solidFill>
                <a:latin typeface="微软雅黑" panose="020B0503020204020204" charset="-122"/>
                <a:ea typeface="微软雅黑" panose="020B0503020204020204" charset="-122"/>
              </a:rPr>
              <a:t>5</a:t>
            </a:r>
            <a:r>
              <a:rPr lang="zh-CN" altLang="en-US" sz="1400" b="1" dirty="0">
                <a:solidFill>
                  <a:srgbClr val="000000"/>
                </a:solidFill>
                <a:latin typeface="微软雅黑" panose="020B0503020204020204" charset="-122"/>
                <a:ea typeface="微软雅黑" panose="020B0503020204020204" charset="-122"/>
              </a:rPr>
              <a:t>分）</a:t>
            </a:r>
            <a:endParaRPr lang="en-US" altLang="zh-CN" sz="1400" b="1" dirty="0">
              <a:solidFill>
                <a:srgbClr val="000000"/>
              </a:solidFill>
              <a:latin typeface="微软雅黑" panose="020B0503020204020204" charset="-122"/>
              <a:ea typeface="微软雅黑" panose="020B0503020204020204" charset="-122"/>
            </a:endParaRPr>
          </a:p>
        </p:txBody>
      </p:sp>
      <p:sp>
        <p:nvSpPr>
          <p:cNvPr id="12" name="Text Box 166"/>
          <p:cNvSpPr txBox="1">
            <a:spLocks noChangeArrowheads="1"/>
          </p:cNvSpPr>
          <p:nvPr/>
        </p:nvSpPr>
        <p:spPr bwMode="auto">
          <a:xfrm>
            <a:off x="272072" y="2903580"/>
            <a:ext cx="1362075" cy="239712"/>
          </a:xfrm>
          <a:prstGeom prst="rect">
            <a:avLst/>
          </a:prstGeom>
          <a:noFill/>
          <a:ln w="9525">
            <a:noFill/>
            <a:miter lim="800000"/>
          </a:ln>
        </p:spPr>
        <p:txBody>
          <a:bodyPr wrap="none" lIns="86493" tIns="43247" rIns="86493" bIns="43247">
            <a:spAutoFit/>
          </a:bodyPr>
          <a:lstStyle/>
          <a:p>
            <a:pPr algn="r" defTabSz="865505" eaLnBrk="0" hangingPunct="0">
              <a:lnSpc>
                <a:spcPct val="70000"/>
              </a:lnSpc>
              <a:spcBef>
                <a:spcPct val="50000"/>
              </a:spcBef>
            </a:pPr>
            <a:r>
              <a:rPr lang="zh-CN" altLang="en-US" sz="1400" b="1" dirty="0">
                <a:solidFill>
                  <a:srgbClr val="000000"/>
                </a:solidFill>
                <a:latin typeface="微软雅黑" panose="020B0503020204020204" charset="-122"/>
                <a:ea typeface="微软雅黑" panose="020B0503020204020204" charset="-122"/>
              </a:rPr>
              <a:t>协同的（</a:t>
            </a:r>
            <a:r>
              <a:rPr lang="en-US" altLang="zh-CN" sz="1400" b="1" dirty="0">
                <a:solidFill>
                  <a:srgbClr val="000000"/>
                </a:solidFill>
                <a:latin typeface="微软雅黑" panose="020B0503020204020204" charset="-122"/>
                <a:ea typeface="微软雅黑" panose="020B0503020204020204" charset="-122"/>
              </a:rPr>
              <a:t>4</a:t>
            </a:r>
            <a:r>
              <a:rPr lang="zh-CN" altLang="en-US" sz="1400" b="1" dirty="0">
                <a:solidFill>
                  <a:srgbClr val="000000"/>
                </a:solidFill>
                <a:latin typeface="微软雅黑" panose="020B0503020204020204" charset="-122"/>
                <a:ea typeface="微软雅黑" panose="020B0503020204020204" charset="-122"/>
              </a:rPr>
              <a:t>分）</a:t>
            </a:r>
            <a:endParaRPr lang="en-US" altLang="zh-CN" sz="1400" b="1" dirty="0">
              <a:solidFill>
                <a:srgbClr val="000000"/>
              </a:solidFill>
              <a:latin typeface="微软雅黑" panose="020B0503020204020204" charset="-122"/>
              <a:ea typeface="微软雅黑" panose="020B0503020204020204" charset="-122"/>
            </a:endParaRPr>
          </a:p>
        </p:txBody>
      </p:sp>
      <p:sp>
        <p:nvSpPr>
          <p:cNvPr id="13" name="Text Box 167"/>
          <p:cNvSpPr txBox="1">
            <a:spLocks noChangeArrowheads="1"/>
          </p:cNvSpPr>
          <p:nvPr/>
        </p:nvSpPr>
        <p:spPr bwMode="auto">
          <a:xfrm>
            <a:off x="272072" y="4298992"/>
            <a:ext cx="1362075" cy="242888"/>
          </a:xfrm>
          <a:prstGeom prst="rect">
            <a:avLst/>
          </a:prstGeom>
          <a:noFill/>
          <a:ln w="9525">
            <a:noFill/>
            <a:miter lim="800000"/>
          </a:ln>
        </p:spPr>
        <p:txBody>
          <a:bodyPr wrap="none" lIns="86493" tIns="43247" rIns="86493" bIns="43247">
            <a:spAutoFit/>
          </a:bodyPr>
          <a:lstStyle/>
          <a:p>
            <a:pPr algn="r" defTabSz="865505" eaLnBrk="0" hangingPunct="0">
              <a:lnSpc>
                <a:spcPct val="70000"/>
              </a:lnSpc>
              <a:spcBef>
                <a:spcPct val="50000"/>
              </a:spcBef>
            </a:pPr>
            <a:r>
              <a:rPr lang="zh-CN" altLang="en-US" sz="1400" b="1">
                <a:solidFill>
                  <a:srgbClr val="000000"/>
                </a:solidFill>
                <a:latin typeface="微软雅黑" panose="020B0503020204020204" charset="-122"/>
                <a:ea typeface="微软雅黑" panose="020B0503020204020204" charset="-122"/>
              </a:rPr>
              <a:t>基本的（</a:t>
            </a:r>
            <a:r>
              <a:rPr lang="en-US" altLang="zh-CN" sz="1400" b="1">
                <a:solidFill>
                  <a:srgbClr val="000000"/>
                </a:solidFill>
                <a:latin typeface="微软雅黑" panose="020B0503020204020204" charset="-122"/>
                <a:ea typeface="微软雅黑" panose="020B0503020204020204" charset="-122"/>
              </a:rPr>
              <a:t>2</a:t>
            </a:r>
            <a:r>
              <a:rPr lang="zh-CN" altLang="en-US" sz="1400" b="1">
                <a:solidFill>
                  <a:srgbClr val="000000"/>
                </a:solidFill>
                <a:latin typeface="微软雅黑" panose="020B0503020204020204" charset="-122"/>
                <a:ea typeface="微软雅黑" panose="020B0503020204020204" charset="-122"/>
              </a:rPr>
              <a:t>分）</a:t>
            </a:r>
            <a:endParaRPr lang="en-US" altLang="zh-CN" sz="1400" b="1">
              <a:solidFill>
                <a:srgbClr val="000000"/>
              </a:solidFill>
              <a:latin typeface="微软雅黑" panose="020B0503020204020204" charset="-122"/>
              <a:ea typeface="微软雅黑" panose="020B0503020204020204" charset="-122"/>
            </a:endParaRPr>
          </a:p>
        </p:txBody>
      </p:sp>
      <p:sp>
        <p:nvSpPr>
          <p:cNvPr id="14" name="Text Box 168"/>
          <p:cNvSpPr txBox="1">
            <a:spLocks noChangeArrowheads="1"/>
          </p:cNvSpPr>
          <p:nvPr/>
        </p:nvSpPr>
        <p:spPr bwMode="auto">
          <a:xfrm>
            <a:off x="272072" y="3602080"/>
            <a:ext cx="1362075" cy="238125"/>
          </a:xfrm>
          <a:prstGeom prst="rect">
            <a:avLst/>
          </a:prstGeom>
          <a:noFill/>
          <a:ln w="9525">
            <a:noFill/>
            <a:miter lim="800000"/>
          </a:ln>
        </p:spPr>
        <p:txBody>
          <a:bodyPr wrap="none" lIns="86493" tIns="43247" rIns="86493" bIns="43247">
            <a:spAutoFit/>
          </a:bodyPr>
          <a:lstStyle/>
          <a:p>
            <a:pPr algn="r" defTabSz="865505" eaLnBrk="0" hangingPunct="0">
              <a:lnSpc>
                <a:spcPct val="70000"/>
              </a:lnSpc>
              <a:spcBef>
                <a:spcPct val="50000"/>
              </a:spcBef>
            </a:pPr>
            <a:r>
              <a:rPr lang="zh-CN" altLang="en-US" sz="1400" b="1">
                <a:solidFill>
                  <a:srgbClr val="000000"/>
                </a:solidFill>
                <a:latin typeface="微软雅黑" panose="020B0503020204020204" charset="-122"/>
                <a:ea typeface="微软雅黑" panose="020B0503020204020204" charset="-122"/>
              </a:rPr>
              <a:t>可执行（</a:t>
            </a:r>
            <a:r>
              <a:rPr lang="en-US" altLang="zh-CN" sz="1400" b="1">
                <a:solidFill>
                  <a:srgbClr val="000000"/>
                </a:solidFill>
                <a:latin typeface="微软雅黑" panose="020B0503020204020204" charset="-122"/>
                <a:ea typeface="微软雅黑" panose="020B0503020204020204" charset="-122"/>
              </a:rPr>
              <a:t>3</a:t>
            </a:r>
            <a:r>
              <a:rPr lang="zh-CN" altLang="en-US" sz="1400" b="1">
                <a:solidFill>
                  <a:srgbClr val="000000"/>
                </a:solidFill>
                <a:latin typeface="微软雅黑" panose="020B0503020204020204" charset="-122"/>
                <a:ea typeface="微软雅黑" panose="020B0503020204020204" charset="-122"/>
              </a:rPr>
              <a:t>分）</a:t>
            </a:r>
            <a:endParaRPr lang="en-US" altLang="zh-CN" sz="1400" b="1">
              <a:solidFill>
                <a:srgbClr val="000000"/>
              </a:solidFill>
              <a:latin typeface="微软雅黑" panose="020B0503020204020204" charset="-122"/>
              <a:ea typeface="微软雅黑" panose="020B0503020204020204" charset="-122"/>
            </a:endParaRPr>
          </a:p>
        </p:txBody>
      </p:sp>
      <p:sp>
        <p:nvSpPr>
          <p:cNvPr id="15" name="Rectangle 177"/>
          <p:cNvSpPr>
            <a:spLocks noChangeArrowheads="1"/>
          </p:cNvSpPr>
          <p:nvPr/>
        </p:nvSpPr>
        <p:spPr bwMode="auto">
          <a:xfrm rot="10800000" flipH="1">
            <a:off x="1857357" y="3859666"/>
            <a:ext cx="360000" cy="180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2.8</a:t>
            </a:r>
            <a:endParaRPr lang="en-GB" altLang="zh-CN" sz="1400" b="1" dirty="0">
              <a:solidFill>
                <a:srgbClr val="000000"/>
              </a:solidFill>
              <a:latin typeface="微软雅黑" panose="020B0503020204020204" charset="-122"/>
              <a:ea typeface="微软雅黑" panose="020B0503020204020204" charset="-122"/>
            </a:endParaRPr>
          </a:p>
        </p:txBody>
      </p:sp>
      <p:sp>
        <p:nvSpPr>
          <p:cNvPr id="16" name="Text Box 167"/>
          <p:cNvSpPr txBox="1">
            <a:spLocks noChangeArrowheads="1"/>
          </p:cNvSpPr>
          <p:nvPr/>
        </p:nvSpPr>
        <p:spPr bwMode="auto">
          <a:xfrm>
            <a:off x="272072" y="4995905"/>
            <a:ext cx="1362075" cy="242887"/>
          </a:xfrm>
          <a:prstGeom prst="rect">
            <a:avLst/>
          </a:prstGeom>
          <a:noFill/>
          <a:ln w="9525">
            <a:noFill/>
            <a:miter lim="800000"/>
          </a:ln>
        </p:spPr>
        <p:txBody>
          <a:bodyPr wrap="none" lIns="86493" tIns="43247" rIns="86493" bIns="43247">
            <a:spAutoFit/>
          </a:bodyPr>
          <a:lstStyle/>
          <a:p>
            <a:pPr algn="r" defTabSz="865505" eaLnBrk="0" hangingPunct="0">
              <a:lnSpc>
                <a:spcPct val="70000"/>
              </a:lnSpc>
              <a:spcBef>
                <a:spcPct val="50000"/>
              </a:spcBef>
            </a:pPr>
            <a:r>
              <a:rPr lang="zh-CN" altLang="en-US" sz="1400" b="1">
                <a:solidFill>
                  <a:srgbClr val="000000"/>
                </a:solidFill>
                <a:latin typeface="微软雅黑" panose="020B0503020204020204" charset="-122"/>
                <a:ea typeface="微软雅黑" panose="020B0503020204020204" charset="-122"/>
              </a:rPr>
              <a:t>不成熟（</a:t>
            </a:r>
            <a:r>
              <a:rPr lang="en-US" altLang="zh-CN" sz="1400" b="1">
                <a:solidFill>
                  <a:srgbClr val="000000"/>
                </a:solidFill>
                <a:latin typeface="微软雅黑" panose="020B0503020204020204" charset="-122"/>
                <a:ea typeface="微软雅黑" panose="020B0503020204020204" charset="-122"/>
              </a:rPr>
              <a:t>1</a:t>
            </a:r>
            <a:r>
              <a:rPr lang="zh-CN" altLang="en-US" sz="1400" b="1">
                <a:solidFill>
                  <a:srgbClr val="000000"/>
                </a:solidFill>
                <a:latin typeface="微软雅黑" panose="020B0503020204020204" charset="-122"/>
                <a:ea typeface="微软雅黑" panose="020B0503020204020204" charset="-122"/>
              </a:rPr>
              <a:t>分）</a:t>
            </a:r>
            <a:endParaRPr lang="en-US" altLang="zh-CN" sz="1400" b="1">
              <a:solidFill>
                <a:srgbClr val="000000"/>
              </a:solidFill>
              <a:latin typeface="微软雅黑" panose="020B0503020204020204" charset="-122"/>
              <a:ea typeface="微软雅黑" panose="020B0503020204020204" charset="-122"/>
            </a:endParaRPr>
          </a:p>
        </p:txBody>
      </p:sp>
      <p:sp>
        <p:nvSpPr>
          <p:cNvPr id="17" name="Line 73"/>
          <p:cNvSpPr>
            <a:spLocks noChangeShapeType="1"/>
          </p:cNvSpPr>
          <p:nvPr/>
        </p:nvSpPr>
        <p:spPr bwMode="auto">
          <a:xfrm>
            <a:off x="1535722" y="5097505"/>
            <a:ext cx="107950" cy="0"/>
          </a:xfrm>
          <a:prstGeom prst="line">
            <a:avLst/>
          </a:prstGeom>
          <a:noFill/>
          <a:ln w="4826">
            <a:solidFill>
              <a:schemeClr val="tx1"/>
            </a:solidFill>
            <a:round/>
          </a:ln>
        </p:spPr>
        <p:txBody>
          <a:bodyPr/>
          <a:lstStyle/>
          <a:p>
            <a:endParaRPr lang="zh-CN" altLang="en-US"/>
          </a:p>
        </p:txBody>
      </p:sp>
      <p:sp>
        <p:nvSpPr>
          <p:cNvPr id="18" name="Rectangle 177"/>
          <p:cNvSpPr>
            <a:spLocks noChangeArrowheads="1"/>
          </p:cNvSpPr>
          <p:nvPr/>
        </p:nvSpPr>
        <p:spPr bwMode="auto">
          <a:xfrm rot="10800000" flipH="1">
            <a:off x="2486626" y="4183665"/>
            <a:ext cx="360000" cy="1476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2.3</a:t>
            </a:r>
            <a:endParaRPr lang="en-GB" altLang="zh-CN" sz="1400" b="1" dirty="0">
              <a:solidFill>
                <a:srgbClr val="000000"/>
              </a:solidFill>
              <a:latin typeface="微软雅黑" panose="020B0503020204020204" charset="-122"/>
              <a:ea typeface="微软雅黑" panose="020B0503020204020204" charset="-122"/>
            </a:endParaRPr>
          </a:p>
        </p:txBody>
      </p:sp>
      <p:sp>
        <p:nvSpPr>
          <p:cNvPr id="19" name="Rectangle 177"/>
          <p:cNvSpPr>
            <a:spLocks noChangeArrowheads="1"/>
          </p:cNvSpPr>
          <p:nvPr/>
        </p:nvSpPr>
        <p:spPr bwMode="auto">
          <a:xfrm rot="10800000" flipH="1">
            <a:off x="3115895" y="3751665"/>
            <a:ext cx="360000" cy="1908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GB" altLang="zh-CN" sz="1400" b="1" dirty="0">
                <a:solidFill>
                  <a:srgbClr val="000000"/>
                </a:solidFill>
                <a:latin typeface="微软雅黑" panose="020B0503020204020204" charset="-122"/>
                <a:ea typeface="微软雅黑" panose="020B0503020204020204" charset="-122"/>
              </a:rPr>
              <a:t>2.9</a:t>
            </a:r>
          </a:p>
        </p:txBody>
      </p:sp>
      <p:sp>
        <p:nvSpPr>
          <p:cNvPr id="20" name="Rectangle 177"/>
          <p:cNvSpPr>
            <a:spLocks noChangeArrowheads="1"/>
          </p:cNvSpPr>
          <p:nvPr/>
        </p:nvSpPr>
        <p:spPr bwMode="auto">
          <a:xfrm rot="10800000" flipH="1">
            <a:off x="3745164" y="4075664"/>
            <a:ext cx="360000" cy="1584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2.5</a:t>
            </a:r>
            <a:endParaRPr lang="en-GB" altLang="zh-CN" sz="1400" b="1" dirty="0">
              <a:solidFill>
                <a:srgbClr val="000000"/>
              </a:solidFill>
              <a:latin typeface="微软雅黑" panose="020B0503020204020204" charset="-122"/>
              <a:ea typeface="微软雅黑" panose="020B0503020204020204" charset="-122"/>
            </a:endParaRPr>
          </a:p>
        </p:txBody>
      </p:sp>
      <p:sp>
        <p:nvSpPr>
          <p:cNvPr id="21" name="Rectangle 177"/>
          <p:cNvSpPr>
            <a:spLocks noChangeArrowheads="1"/>
          </p:cNvSpPr>
          <p:nvPr/>
        </p:nvSpPr>
        <p:spPr bwMode="auto">
          <a:xfrm rot="10800000" flipH="1">
            <a:off x="4374433" y="3859664"/>
            <a:ext cx="360000" cy="180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2.8</a:t>
            </a:r>
            <a:endParaRPr lang="en-GB" altLang="zh-CN" sz="1400" b="1" dirty="0">
              <a:solidFill>
                <a:srgbClr val="000000"/>
              </a:solidFill>
              <a:latin typeface="微软雅黑" panose="020B0503020204020204" charset="-122"/>
              <a:ea typeface="微软雅黑" panose="020B0503020204020204" charset="-122"/>
            </a:endParaRPr>
          </a:p>
        </p:txBody>
      </p:sp>
      <p:sp>
        <p:nvSpPr>
          <p:cNvPr id="22" name="Rectangle 177"/>
          <p:cNvSpPr>
            <a:spLocks noChangeArrowheads="1"/>
          </p:cNvSpPr>
          <p:nvPr/>
        </p:nvSpPr>
        <p:spPr bwMode="auto">
          <a:xfrm rot="10800000" flipH="1">
            <a:off x="5632971" y="3787664"/>
            <a:ext cx="360000" cy="1872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2.9</a:t>
            </a:r>
            <a:endParaRPr lang="en-GB" altLang="zh-CN" sz="1400" b="1" dirty="0">
              <a:solidFill>
                <a:srgbClr val="000000"/>
              </a:solidFill>
              <a:latin typeface="微软雅黑" panose="020B0503020204020204" charset="-122"/>
              <a:ea typeface="微软雅黑" panose="020B0503020204020204" charset="-122"/>
            </a:endParaRPr>
          </a:p>
        </p:txBody>
      </p:sp>
      <p:sp>
        <p:nvSpPr>
          <p:cNvPr id="23" name="Rectangle 177"/>
          <p:cNvSpPr>
            <a:spLocks noChangeArrowheads="1"/>
          </p:cNvSpPr>
          <p:nvPr/>
        </p:nvSpPr>
        <p:spPr bwMode="auto">
          <a:xfrm rot="10800000" flipH="1">
            <a:off x="6891509" y="3931665"/>
            <a:ext cx="360000" cy="1728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2.7</a:t>
            </a:r>
            <a:endParaRPr lang="en-GB" altLang="zh-CN" sz="1400" b="1" dirty="0">
              <a:solidFill>
                <a:srgbClr val="000000"/>
              </a:solidFill>
              <a:latin typeface="微软雅黑" panose="020B0503020204020204" charset="-122"/>
              <a:ea typeface="微软雅黑" panose="020B0503020204020204" charset="-122"/>
            </a:endParaRPr>
          </a:p>
        </p:txBody>
      </p:sp>
      <p:sp>
        <p:nvSpPr>
          <p:cNvPr id="24" name="TextBox 23"/>
          <p:cNvSpPr txBox="1"/>
          <p:nvPr/>
        </p:nvSpPr>
        <p:spPr>
          <a:xfrm>
            <a:off x="7579556" y="3681095"/>
            <a:ext cx="995785"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平均值</a:t>
            </a:r>
            <a:r>
              <a:rPr lang="en-US" altLang="zh-CN" sz="1200" b="1" dirty="0">
                <a:solidFill>
                  <a:srgbClr val="0000FF"/>
                </a:solidFill>
                <a:latin typeface="微软雅黑" panose="020B0503020204020204" charset="-122"/>
                <a:ea typeface="微软雅黑" panose="020B0503020204020204" charset="-122"/>
              </a:rPr>
              <a:t>=2.7</a:t>
            </a:r>
            <a:endParaRPr lang="zh-CN" altLang="en-US" sz="1200" b="1" dirty="0">
              <a:solidFill>
                <a:srgbClr val="0000FF"/>
              </a:solidFill>
              <a:latin typeface="微软雅黑" panose="020B0503020204020204" charset="-122"/>
              <a:ea typeface="微软雅黑" panose="020B0503020204020204" charset="-122"/>
            </a:endParaRPr>
          </a:p>
        </p:txBody>
      </p:sp>
      <p:sp>
        <p:nvSpPr>
          <p:cNvPr id="25" name="TextBox 41"/>
          <p:cNvSpPr txBox="1">
            <a:spLocks noChangeArrowheads="1"/>
          </p:cNvSpPr>
          <p:nvPr/>
        </p:nvSpPr>
        <p:spPr bwMode="auto">
          <a:xfrm>
            <a:off x="1785918" y="5694405"/>
            <a:ext cx="543739" cy="738664"/>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国内</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需求</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计划</a:t>
            </a:r>
          </a:p>
        </p:txBody>
      </p:sp>
      <p:sp>
        <p:nvSpPr>
          <p:cNvPr id="26" name="TextBox 42"/>
          <p:cNvSpPr txBox="1">
            <a:spLocks noChangeArrowheads="1"/>
          </p:cNvSpPr>
          <p:nvPr/>
        </p:nvSpPr>
        <p:spPr bwMode="auto">
          <a:xfrm>
            <a:off x="2414346" y="5694405"/>
            <a:ext cx="543739" cy="738664"/>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国际</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需求</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计划</a:t>
            </a:r>
          </a:p>
        </p:txBody>
      </p:sp>
      <p:cxnSp>
        <p:nvCxnSpPr>
          <p:cNvPr id="32" name="直接连接符 52"/>
          <p:cNvCxnSpPr>
            <a:cxnSpLocks noChangeShapeType="1"/>
          </p:cNvCxnSpPr>
          <p:nvPr/>
        </p:nvCxnSpPr>
        <p:spPr bwMode="auto">
          <a:xfrm>
            <a:off x="1656372" y="3011530"/>
            <a:ext cx="6984000" cy="0"/>
          </a:xfrm>
          <a:prstGeom prst="line">
            <a:avLst/>
          </a:prstGeom>
          <a:noFill/>
          <a:ln w="19050" algn="ctr">
            <a:solidFill>
              <a:srgbClr val="0000FF"/>
            </a:solidFill>
            <a:prstDash val="dash"/>
            <a:round/>
          </a:ln>
        </p:spPr>
      </p:cxnSp>
      <p:sp>
        <p:nvSpPr>
          <p:cNvPr id="33" name="TextBox 32"/>
          <p:cNvSpPr txBox="1"/>
          <p:nvPr/>
        </p:nvSpPr>
        <p:spPr>
          <a:xfrm>
            <a:off x="7425667" y="2760478"/>
            <a:ext cx="1149674"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先进实践</a:t>
            </a:r>
            <a:r>
              <a:rPr lang="en-US" altLang="zh-CN" sz="1200" b="1" dirty="0">
                <a:solidFill>
                  <a:srgbClr val="0000FF"/>
                </a:solidFill>
                <a:latin typeface="微软雅黑" panose="020B0503020204020204" charset="-122"/>
                <a:ea typeface="微软雅黑" panose="020B0503020204020204" charset="-122"/>
              </a:rPr>
              <a:t>≥4.0</a:t>
            </a:r>
            <a:endParaRPr lang="zh-CN" altLang="en-US" sz="1200" b="1" dirty="0">
              <a:solidFill>
                <a:srgbClr val="0000FF"/>
              </a:solidFill>
              <a:latin typeface="微软雅黑" panose="020B0503020204020204" charset="-122"/>
              <a:ea typeface="微软雅黑" panose="020B0503020204020204" charset="-122"/>
            </a:endParaRPr>
          </a:p>
        </p:txBody>
      </p:sp>
      <p:sp>
        <p:nvSpPr>
          <p:cNvPr id="35" name="Text Box 214"/>
          <p:cNvSpPr txBox="1">
            <a:spLocks noChangeArrowheads="1"/>
          </p:cNvSpPr>
          <p:nvPr/>
        </p:nvSpPr>
        <p:spPr bwMode="auto">
          <a:xfrm>
            <a:off x="1942122" y="1725655"/>
            <a:ext cx="5580062" cy="337185"/>
          </a:xfrm>
          <a:prstGeom prst="rect">
            <a:avLst/>
          </a:prstGeom>
          <a:noFill/>
          <a:ln w="9525">
            <a:noFill/>
            <a:miter lim="800000"/>
          </a:ln>
        </p:spPr>
        <p:txBody>
          <a:bodyPr>
            <a:spAutoFit/>
          </a:bodyPr>
          <a:lstStyle/>
          <a:p>
            <a:pPr marL="342900" indent="-342900" algn="ctr">
              <a:spcBef>
                <a:spcPct val="50000"/>
              </a:spcBef>
              <a:buClr>
                <a:srgbClr val="FF0000"/>
              </a:buClr>
              <a:buFont typeface="Wingdings" panose="05000000000000000000" pitchFamily="2" charset="2"/>
              <a:buNone/>
            </a:pPr>
            <a:r>
              <a:rPr lang="zh-CN" altLang="en-US" sz="1600" b="1" dirty="0">
                <a:solidFill>
                  <a:srgbClr val="000000"/>
                </a:solidFill>
                <a:latin typeface="微软雅黑" panose="020B0503020204020204" charset="-122"/>
                <a:ea typeface="微软雅黑" panose="020B0503020204020204" charset="-122"/>
              </a:rPr>
              <a:t>x重机集成计划各业务领域成熟度水平</a:t>
            </a:r>
            <a:endParaRPr lang="en-US" altLang="zh-CN" sz="1600" b="1" dirty="0">
              <a:solidFill>
                <a:srgbClr val="000000"/>
              </a:solidFill>
              <a:latin typeface="微软雅黑" panose="020B0503020204020204" charset="-122"/>
              <a:ea typeface="微软雅黑" panose="020B0503020204020204" charset="-122"/>
            </a:endParaRPr>
          </a:p>
        </p:txBody>
      </p:sp>
      <p:sp>
        <p:nvSpPr>
          <p:cNvPr id="38" name="Rectangle 177"/>
          <p:cNvSpPr>
            <a:spLocks noChangeArrowheads="1"/>
          </p:cNvSpPr>
          <p:nvPr/>
        </p:nvSpPr>
        <p:spPr bwMode="auto">
          <a:xfrm rot="10800000" flipH="1">
            <a:off x="5003702" y="3787664"/>
            <a:ext cx="360000" cy="1872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2.9</a:t>
            </a:r>
            <a:endParaRPr lang="en-GB" altLang="zh-CN" sz="1400" b="1" dirty="0">
              <a:solidFill>
                <a:srgbClr val="000000"/>
              </a:solidFill>
              <a:latin typeface="微软雅黑" panose="020B0503020204020204" charset="-122"/>
              <a:ea typeface="微软雅黑" panose="020B0503020204020204" charset="-122"/>
            </a:endParaRPr>
          </a:p>
        </p:txBody>
      </p:sp>
      <p:sp>
        <p:nvSpPr>
          <p:cNvPr id="39" name="Rectangle 177"/>
          <p:cNvSpPr>
            <a:spLocks noChangeArrowheads="1"/>
          </p:cNvSpPr>
          <p:nvPr/>
        </p:nvSpPr>
        <p:spPr bwMode="auto">
          <a:xfrm rot="10800000" flipH="1">
            <a:off x="6262240" y="3679664"/>
            <a:ext cx="360000" cy="198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3.0</a:t>
            </a:r>
            <a:endParaRPr lang="en-GB" altLang="zh-CN" sz="1400" b="1" dirty="0">
              <a:solidFill>
                <a:srgbClr val="000000"/>
              </a:solidFill>
              <a:latin typeface="微软雅黑" panose="020B0503020204020204" charset="-122"/>
              <a:ea typeface="微软雅黑" panose="020B0503020204020204" charset="-122"/>
            </a:endParaRPr>
          </a:p>
        </p:txBody>
      </p:sp>
      <p:sp>
        <p:nvSpPr>
          <p:cNvPr id="40" name="Rectangle 177"/>
          <p:cNvSpPr>
            <a:spLocks noChangeArrowheads="1"/>
          </p:cNvSpPr>
          <p:nvPr/>
        </p:nvSpPr>
        <p:spPr bwMode="auto">
          <a:xfrm rot="10800000" flipH="1">
            <a:off x="7520778" y="4003665"/>
            <a:ext cx="360000" cy="1656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2.6</a:t>
            </a:r>
            <a:endParaRPr lang="en-GB" altLang="zh-CN" sz="1400" b="1" dirty="0">
              <a:solidFill>
                <a:srgbClr val="000000"/>
              </a:solidFill>
              <a:latin typeface="微软雅黑" panose="020B0503020204020204" charset="-122"/>
              <a:ea typeface="微软雅黑" panose="020B0503020204020204" charset="-122"/>
            </a:endParaRPr>
          </a:p>
        </p:txBody>
      </p:sp>
      <p:sp>
        <p:nvSpPr>
          <p:cNvPr id="34" name="Line 77"/>
          <p:cNvSpPr>
            <a:spLocks noChangeShapeType="1"/>
          </p:cNvSpPr>
          <p:nvPr/>
        </p:nvSpPr>
        <p:spPr bwMode="auto">
          <a:xfrm>
            <a:off x="1551597" y="5664469"/>
            <a:ext cx="7177087" cy="0"/>
          </a:xfrm>
          <a:prstGeom prst="line">
            <a:avLst/>
          </a:prstGeom>
          <a:noFill/>
          <a:ln w="19050">
            <a:solidFill>
              <a:schemeClr val="tx1"/>
            </a:solidFill>
            <a:round/>
          </a:ln>
        </p:spPr>
        <p:txBody>
          <a:bodyPr>
            <a:spAutoFit/>
          </a:bodyPr>
          <a:lstStyle/>
          <a:p>
            <a:endParaRPr lang="zh-CN" altLang="en-US"/>
          </a:p>
        </p:txBody>
      </p:sp>
      <p:sp>
        <p:nvSpPr>
          <p:cNvPr id="43" name="TextBox 41"/>
          <p:cNvSpPr txBox="1">
            <a:spLocks noChangeArrowheads="1"/>
          </p:cNvSpPr>
          <p:nvPr/>
        </p:nvSpPr>
        <p:spPr bwMode="auto">
          <a:xfrm>
            <a:off x="3057288" y="5700502"/>
            <a:ext cx="543739" cy="738664"/>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国内</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订单</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管理</a:t>
            </a:r>
          </a:p>
        </p:txBody>
      </p:sp>
      <p:sp>
        <p:nvSpPr>
          <p:cNvPr id="44" name="TextBox 42"/>
          <p:cNvSpPr txBox="1">
            <a:spLocks noChangeArrowheads="1"/>
          </p:cNvSpPr>
          <p:nvPr/>
        </p:nvSpPr>
        <p:spPr bwMode="auto">
          <a:xfrm>
            <a:off x="3700230" y="5700502"/>
            <a:ext cx="543739" cy="738664"/>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国际</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订单</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管理</a:t>
            </a:r>
          </a:p>
        </p:txBody>
      </p:sp>
      <p:sp>
        <p:nvSpPr>
          <p:cNvPr id="45" name="TextBox 41"/>
          <p:cNvSpPr txBox="1">
            <a:spLocks noChangeArrowheads="1"/>
          </p:cNvSpPr>
          <p:nvPr/>
        </p:nvSpPr>
        <p:spPr bwMode="auto">
          <a:xfrm>
            <a:off x="4299630" y="5700502"/>
            <a:ext cx="543739" cy="738664"/>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产销</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平衡</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机制</a:t>
            </a:r>
          </a:p>
        </p:txBody>
      </p:sp>
      <p:sp>
        <p:nvSpPr>
          <p:cNvPr id="46" name="TextBox 42"/>
          <p:cNvSpPr txBox="1">
            <a:spLocks noChangeArrowheads="1"/>
          </p:cNvSpPr>
          <p:nvPr/>
        </p:nvSpPr>
        <p:spPr bwMode="auto">
          <a:xfrm>
            <a:off x="4942572" y="5700502"/>
            <a:ext cx="543739" cy="523220"/>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生产</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计划</a:t>
            </a:r>
          </a:p>
        </p:txBody>
      </p:sp>
      <p:sp>
        <p:nvSpPr>
          <p:cNvPr id="47" name="TextBox 41"/>
          <p:cNvSpPr txBox="1">
            <a:spLocks noChangeArrowheads="1"/>
          </p:cNvSpPr>
          <p:nvPr/>
        </p:nvSpPr>
        <p:spPr bwMode="auto">
          <a:xfrm>
            <a:off x="5586646" y="5706599"/>
            <a:ext cx="543739" cy="523220"/>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生产</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执行</a:t>
            </a:r>
          </a:p>
        </p:txBody>
      </p:sp>
      <p:sp>
        <p:nvSpPr>
          <p:cNvPr id="48" name="TextBox 42"/>
          <p:cNvSpPr txBox="1">
            <a:spLocks noChangeArrowheads="1"/>
          </p:cNvSpPr>
          <p:nvPr/>
        </p:nvSpPr>
        <p:spPr bwMode="auto">
          <a:xfrm>
            <a:off x="6143636" y="5706599"/>
            <a:ext cx="543739" cy="523220"/>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厂内</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物流</a:t>
            </a:r>
          </a:p>
        </p:txBody>
      </p:sp>
      <p:sp>
        <p:nvSpPr>
          <p:cNvPr id="49" name="TextBox 42"/>
          <p:cNvSpPr txBox="1">
            <a:spLocks noChangeArrowheads="1"/>
          </p:cNvSpPr>
          <p:nvPr/>
        </p:nvSpPr>
        <p:spPr bwMode="auto">
          <a:xfrm>
            <a:off x="6772064" y="5700502"/>
            <a:ext cx="723275" cy="523220"/>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零部件</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计划</a:t>
            </a:r>
          </a:p>
        </p:txBody>
      </p:sp>
      <p:sp>
        <p:nvSpPr>
          <p:cNvPr id="50" name="TextBox 41"/>
          <p:cNvSpPr txBox="1">
            <a:spLocks noChangeArrowheads="1"/>
          </p:cNvSpPr>
          <p:nvPr/>
        </p:nvSpPr>
        <p:spPr bwMode="auto">
          <a:xfrm>
            <a:off x="7387110" y="5706599"/>
            <a:ext cx="723275" cy="523220"/>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零部件</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采购</a:t>
            </a:r>
          </a:p>
        </p:txBody>
      </p:sp>
      <p:sp>
        <p:nvSpPr>
          <p:cNvPr id="51" name="TextBox 41"/>
          <p:cNvSpPr txBox="1">
            <a:spLocks noChangeArrowheads="1"/>
          </p:cNvSpPr>
          <p:nvPr/>
        </p:nvSpPr>
        <p:spPr bwMode="auto">
          <a:xfrm>
            <a:off x="8030052" y="5700502"/>
            <a:ext cx="723275" cy="523220"/>
          </a:xfrm>
          <a:prstGeom prst="rect">
            <a:avLst/>
          </a:prstGeom>
          <a:noFill/>
          <a:ln w="9525">
            <a:noFill/>
            <a:miter lim="800000"/>
          </a:ln>
        </p:spPr>
        <p:txBody>
          <a:bodyPr wrap="none">
            <a:spAutoFit/>
          </a:bodyPr>
          <a:lstStyle/>
          <a:p>
            <a:pPr algn="ctr"/>
            <a:r>
              <a:rPr lang="zh-CN" altLang="en-US" sz="1400" b="1" dirty="0">
                <a:latin typeface="微软雅黑" panose="020B0503020204020204" charset="-122"/>
                <a:ea typeface="微软雅黑" panose="020B0503020204020204" charset="-122"/>
              </a:rPr>
              <a:t>零部件</a:t>
            </a:r>
            <a:endParaRPr lang="en-US" altLang="zh-CN" sz="1400" b="1" dirty="0">
              <a:latin typeface="微软雅黑" panose="020B0503020204020204" charset="-122"/>
              <a:ea typeface="微软雅黑" panose="020B0503020204020204" charset="-122"/>
            </a:endParaRPr>
          </a:p>
          <a:p>
            <a:pPr algn="ctr"/>
            <a:r>
              <a:rPr lang="zh-CN" altLang="en-US" sz="1400" b="1" dirty="0">
                <a:latin typeface="微软雅黑" panose="020B0503020204020204" charset="-122"/>
                <a:ea typeface="微软雅黑" panose="020B0503020204020204" charset="-122"/>
              </a:rPr>
              <a:t>交付</a:t>
            </a:r>
          </a:p>
        </p:txBody>
      </p:sp>
      <p:sp>
        <p:nvSpPr>
          <p:cNvPr id="58" name="圆角矩形 57"/>
          <p:cNvSpPr/>
          <p:nvPr/>
        </p:nvSpPr>
        <p:spPr bwMode="auto">
          <a:xfrm>
            <a:off x="357158" y="1071546"/>
            <a:ext cx="8358246" cy="571504"/>
          </a:xfrm>
          <a:prstGeom prst="roundRect">
            <a:avLst>
              <a:gd name="adj" fmla="val 0"/>
            </a:avLst>
          </a:prstGeom>
          <a:solidFill>
            <a:srgbClr val="FFFFFF">
              <a:lumMod val="95000"/>
            </a:srgbClr>
          </a:solidFill>
          <a:ln>
            <a:noFill/>
          </a:ln>
        </p:spPr>
        <p:txBody>
          <a:bodyPr lIns="91413" tIns="45706" rIns="91413" bIns="45706" anchor="ct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 通过调研，初步了解到目前x重机的集成计划业务成熟度为</a:t>
            </a:r>
            <a:r>
              <a:rPr kumimoji="0" lang="en-US" altLang="zh-CN"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2.7</a:t>
            </a: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分，处于基本可执行层级，但和先进实践相比还存在差距</a:t>
            </a:r>
          </a:p>
        </p:txBody>
      </p:sp>
      <p:sp>
        <p:nvSpPr>
          <p:cNvPr id="59" name="TextBox 54"/>
          <p:cNvSpPr txBox="1">
            <a:spLocks noChangeArrowheads="1"/>
          </p:cNvSpPr>
          <p:nvPr/>
        </p:nvSpPr>
        <p:spPr bwMode="auto">
          <a:xfrm>
            <a:off x="350838" y="6357938"/>
            <a:ext cx="458660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来源：x重机集成计划体系业务成熟度内部问卷调研（</a:t>
            </a:r>
            <a:r>
              <a:rPr lang="en-US" altLang="zh-CN" sz="1000" i="1" dirty="0">
                <a:latin typeface="微软雅黑" panose="020B0503020204020204" charset="-122"/>
                <a:ea typeface="微软雅黑" panose="020B0503020204020204" charset="-122"/>
              </a:rPr>
              <a:t>35</a:t>
            </a:r>
            <a:r>
              <a:rPr lang="zh-CN" altLang="en-US" sz="1000" i="1" dirty="0">
                <a:latin typeface="微软雅黑" panose="020B0503020204020204" charset="-122"/>
                <a:ea typeface="微软雅黑" panose="020B0503020204020204" charset="-122"/>
              </a:rPr>
              <a:t>份样本），项目组分析</a:t>
            </a:r>
          </a:p>
        </p:txBody>
      </p:sp>
      <p:sp>
        <p:nvSpPr>
          <p:cNvPr id="57" name="矩形 56"/>
          <p:cNvSpPr/>
          <p:nvPr/>
        </p:nvSpPr>
        <p:spPr bwMode="auto">
          <a:xfrm>
            <a:off x="3043906" y="2428868"/>
            <a:ext cx="1150723" cy="3229224"/>
          </a:xfrm>
          <a:prstGeom prst="rect">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ts val="600"/>
              </a:spcBef>
              <a:spcAft>
                <a:spcPts val="600"/>
              </a:spcAft>
            </a:pPr>
            <a:r>
              <a:rPr lang="zh-CN" altLang="en-US" sz="1200" b="1" i="1" dirty="0">
                <a:solidFill>
                  <a:srgbClr val="000000"/>
                </a:solidFill>
                <a:latin typeface="微软雅黑" panose="020B0503020204020204" charset="-122"/>
                <a:ea typeface="微软雅黑" panose="020B0503020204020204" charset="-122"/>
              </a:rPr>
              <a:t>订单管理</a:t>
            </a:r>
            <a:endParaRPr lang="en-US" altLang="zh-CN" sz="1200" b="1" i="1" dirty="0">
              <a:solidFill>
                <a:srgbClr val="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6" name="直接连接符 5"/>
          <p:cNvCxnSpPr>
            <a:cxnSpLocks noChangeShapeType="1"/>
          </p:cNvCxnSpPr>
          <p:nvPr/>
        </p:nvCxnSpPr>
        <p:spPr bwMode="auto">
          <a:xfrm>
            <a:off x="1661134" y="3939858"/>
            <a:ext cx="6984000" cy="0"/>
          </a:xfrm>
          <a:prstGeom prst="line">
            <a:avLst/>
          </a:prstGeom>
          <a:noFill/>
          <a:ln w="19050" algn="ctr">
            <a:solidFill>
              <a:srgbClr val="0000FF"/>
            </a:solidFill>
            <a:prstDash val="dash"/>
            <a:round/>
          </a:ln>
        </p:spPr>
      </p:cxnSp>
      <p:cxnSp>
        <p:nvCxnSpPr>
          <p:cNvPr id="80" name="直接连接符 52"/>
          <p:cNvCxnSpPr>
            <a:cxnSpLocks noChangeShapeType="1"/>
          </p:cNvCxnSpPr>
          <p:nvPr/>
        </p:nvCxnSpPr>
        <p:spPr bwMode="auto">
          <a:xfrm>
            <a:off x="1656372" y="3011530"/>
            <a:ext cx="6984000" cy="0"/>
          </a:xfrm>
          <a:prstGeom prst="line">
            <a:avLst/>
          </a:prstGeom>
          <a:noFill/>
          <a:ln w="19050" algn="ctr">
            <a:solidFill>
              <a:srgbClr val="0000FF"/>
            </a:solidFill>
            <a:prstDash val="dash"/>
            <a:round/>
          </a:ln>
        </p:spPr>
      </p:cxnSp>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从管理维度来看，</a:t>
            </a:r>
            <a:r>
              <a:rPr lang="zh-CN" altLang="en-US" kern="0"/>
              <a:t>绩效指标体系、</a:t>
            </a:r>
            <a:r>
              <a:rPr kern="0" dirty="0"/>
              <a:t>IT</a:t>
            </a:r>
            <a:r>
              <a:rPr lang="zh-CN" altLang="en-US" kern="0" dirty="0"/>
              <a:t>系统支撑环节较为薄弱</a:t>
            </a:r>
          </a:p>
        </p:txBody>
      </p:sp>
      <p:sp>
        <p:nvSpPr>
          <p:cNvPr id="5" name="Line 65"/>
          <p:cNvSpPr>
            <a:spLocks noChangeShapeType="1"/>
          </p:cNvSpPr>
          <p:nvPr/>
        </p:nvSpPr>
        <p:spPr bwMode="auto">
          <a:xfrm flipV="1">
            <a:off x="1657959" y="2052906"/>
            <a:ext cx="3175" cy="3611563"/>
          </a:xfrm>
          <a:prstGeom prst="line">
            <a:avLst/>
          </a:prstGeom>
          <a:noFill/>
          <a:ln w="19050">
            <a:solidFill>
              <a:schemeClr val="tx1"/>
            </a:solidFill>
            <a:round/>
            <a:tailEnd type="triangle" w="med" len="med"/>
          </a:ln>
        </p:spPr>
        <p:txBody>
          <a:bodyPr anchor="ctr">
            <a:spAutoFit/>
          </a:bodyPr>
          <a:lstStyle/>
          <a:p>
            <a:endParaRPr lang="zh-CN" altLang="en-US"/>
          </a:p>
        </p:txBody>
      </p:sp>
      <p:sp>
        <p:nvSpPr>
          <p:cNvPr id="6" name="Line 73"/>
          <p:cNvSpPr>
            <a:spLocks noChangeShapeType="1"/>
          </p:cNvSpPr>
          <p:nvPr/>
        </p:nvSpPr>
        <p:spPr bwMode="auto">
          <a:xfrm>
            <a:off x="1535722" y="4402180"/>
            <a:ext cx="107950" cy="0"/>
          </a:xfrm>
          <a:prstGeom prst="line">
            <a:avLst/>
          </a:prstGeom>
          <a:noFill/>
          <a:ln w="4826">
            <a:solidFill>
              <a:schemeClr val="tx1"/>
            </a:solidFill>
            <a:round/>
          </a:ln>
        </p:spPr>
        <p:txBody>
          <a:bodyPr/>
          <a:lstStyle/>
          <a:p>
            <a:endParaRPr lang="zh-CN" altLang="en-US"/>
          </a:p>
        </p:txBody>
      </p:sp>
      <p:sp>
        <p:nvSpPr>
          <p:cNvPr id="7" name="Line 74"/>
          <p:cNvSpPr>
            <a:spLocks noChangeShapeType="1"/>
          </p:cNvSpPr>
          <p:nvPr/>
        </p:nvSpPr>
        <p:spPr bwMode="auto">
          <a:xfrm>
            <a:off x="1535722" y="3706855"/>
            <a:ext cx="107950" cy="0"/>
          </a:xfrm>
          <a:prstGeom prst="line">
            <a:avLst/>
          </a:prstGeom>
          <a:noFill/>
          <a:ln w="4826">
            <a:solidFill>
              <a:schemeClr val="tx1"/>
            </a:solidFill>
            <a:round/>
          </a:ln>
        </p:spPr>
        <p:txBody>
          <a:bodyPr/>
          <a:lstStyle/>
          <a:p>
            <a:endParaRPr lang="zh-CN" altLang="en-US"/>
          </a:p>
        </p:txBody>
      </p:sp>
      <p:sp>
        <p:nvSpPr>
          <p:cNvPr id="8" name="Line 75"/>
          <p:cNvSpPr>
            <a:spLocks noChangeShapeType="1"/>
          </p:cNvSpPr>
          <p:nvPr/>
        </p:nvSpPr>
        <p:spPr bwMode="auto">
          <a:xfrm>
            <a:off x="1535722" y="3011530"/>
            <a:ext cx="107950" cy="0"/>
          </a:xfrm>
          <a:prstGeom prst="line">
            <a:avLst/>
          </a:prstGeom>
          <a:noFill/>
          <a:ln w="4826">
            <a:solidFill>
              <a:schemeClr val="tx1"/>
            </a:solidFill>
            <a:round/>
          </a:ln>
        </p:spPr>
        <p:txBody>
          <a:bodyPr/>
          <a:lstStyle/>
          <a:p>
            <a:endParaRPr lang="zh-CN" altLang="en-US"/>
          </a:p>
        </p:txBody>
      </p:sp>
      <p:sp>
        <p:nvSpPr>
          <p:cNvPr id="9" name="Line 76"/>
          <p:cNvSpPr>
            <a:spLocks noChangeShapeType="1"/>
          </p:cNvSpPr>
          <p:nvPr/>
        </p:nvSpPr>
        <p:spPr bwMode="auto">
          <a:xfrm>
            <a:off x="1535722" y="2316205"/>
            <a:ext cx="107950" cy="0"/>
          </a:xfrm>
          <a:prstGeom prst="line">
            <a:avLst/>
          </a:prstGeom>
          <a:noFill/>
          <a:ln w="4826">
            <a:solidFill>
              <a:schemeClr val="tx1"/>
            </a:solidFill>
            <a:round/>
          </a:ln>
        </p:spPr>
        <p:txBody>
          <a:bodyPr/>
          <a:lstStyle/>
          <a:p>
            <a:endParaRPr lang="zh-CN" altLang="en-US"/>
          </a:p>
        </p:txBody>
      </p:sp>
      <p:sp>
        <p:nvSpPr>
          <p:cNvPr id="10" name="Text Box 165"/>
          <p:cNvSpPr txBox="1">
            <a:spLocks noChangeArrowheads="1"/>
          </p:cNvSpPr>
          <p:nvPr/>
        </p:nvSpPr>
        <p:spPr bwMode="auto">
          <a:xfrm>
            <a:off x="272072" y="2206667"/>
            <a:ext cx="1362075" cy="242888"/>
          </a:xfrm>
          <a:prstGeom prst="rect">
            <a:avLst/>
          </a:prstGeom>
          <a:noFill/>
          <a:ln w="9525">
            <a:noFill/>
            <a:miter lim="800000"/>
          </a:ln>
        </p:spPr>
        <p:txBody>
          <a:bodyPr wrap="none" lIns="86493" tIns="43247" rIns="86493" bIns="43247">
            <a:spAutoFit/>
          </a:bodyPr>
          <a:lstStyle/>
          <a:p>
            <a:pPr algn="ctr" defTabSz="865505" eaLnBrk="0" hangingPunct="0">
              <a:lnSpc>
                <a:spcPct val="70000"/>
              </a:lnSpc>
              <a:spcBef>
                <a:spcPct val="50000"/>
              </a:spcBef>
            </a:pPr>
            <a:r>
              <a:rPr lang="zh-CN" altLang="en-US" sz="1400" b="1" dirty="0">
                <a:solidFill>
                  <a:srgbClr val="000000"/>
                </a:solidFill>
                <a:latin typeface="微软雅黑" panose="020B0503020204020204" charset="-122"/>
                <a:ea typeface="微软雅黑" panose="020B0503020204020204" charset="-122"/>
              </a:rPr>
              <a:t>领先的（</a:t>
            </a:r>
            <a:r>
              <a:rPr lang="en-US" altLang="zh-CN" sz="1400" b="1" dirty="0">
                <a:solidFill>
                  <a:srgbClr val="000000"/>
                </a:solidFill>
                <a:latin typeface="微软雅黑" panose="020B0503020204020204" charset="-122"/>
                <a:ea typeface="微软雅黑" panose="020B0503020204020204" charset="-122"/>
              </a:rPr>
              <a:t>5</a:t>
            </a:r>
            <a:r>
              <a:rPr lang="zh-CN" altLang="en-US" sz="1400" b="1" dirty="0">
                <a:solidFill>
                  <a:srgbClr val="000000"/>
                </a:solidFill>
                <a:latin typeface="微软雅黑" panose="020B0503020204020204" charset="-122"/>
                <a:ea typeface="微软雅黑" panose="020B0503020204020204" charset="-122"/>
              </a:rPr>
              <a:t>分）</a:t>
            </a:r>
            <a:endParaRPr lang="en-US" altLang="zh-CN" sz="1400" b="1" dirty="0">
              <a:solidFill>
                <a:srgbClr val="000000"/>
              </a:solidFill>
              <a:latin typeface="微软雅黑" panose="020B0503020204020204" charset="-122"/>
              <a:ea typeface="微软雅黑" panose="020B0503020204020204" charset="-122"/>
            </a:endParaRPr>
          </a:p>
        </p:txBody>
      </p:sp>
      <p:sp>
        <p:nvSpPr>
          <p:cNvPr id="12" name="Text Box 166"/>
          <p:cNvSpPr txBox="1">
            <a:spLocks noChangeArrowheads="1"/>
          </p:cNvSpPr>
          <p:nvPr/>
        </p:nvSpPr>
        <p:spPr bwMode="auto">
          <a:xfrm>
            <a:off x="272072" y="2903580"/>
            <a:ext cx="1362075" cy="239712"/>
          </a:xfrm>
          <a:prstGeom prst="rect">
            <a:avLst/>
          </a:prstGeom>
          <a:noFill/>
          <a:ln w="9525">
            <a:noFill/>
            <a:miter lim="800000"/>
          </a:ln>
        </p:spPr>
        <p:txBody>
          <a:bodyPr wrap="none" lIns="86493" tIns="43247" rIns="86493" bIns="43247">
            <a:spAutoFit/>
          </a:bodyPr>
          <a:lstStyle/>
          <a:p>
            <a:pPr algn="r" defTabSz="865505" eaLnBrk="0" hangingPunct="0">
              <a:lnSpc>
                <a:spcPct val="70000"/>
              </a:lnSpc>
              <a:spcBef>
                <a:spcPct val="50000"/>
              </a:spcBef>
            </a:pPr>
            <a:r>
              <a:rPr lang="zh-CN" altLang="en-US" sz="1400" b="1" dirty="0">
                <a:solidFill>
                  <a:srgbClr val="000000"/>
                </a:solidFill>
                <a:latin typeface="微软雅黑" panose="020B0503020204020204" charset="-122"/>
                <a:ea typeface="微软雅黑" panose="020B0503020204020204" charset="-122"/>
              </a:rPr>
              <a:t>协同的（</a:t>
            </a:r>
            <a:r>
              <a:rPr lang="en-US" altLang="zh-CN" sz="1400" b="1" dirty="0">
                <a:solidFill>
                  <a:srgbClr val="000000"/>
                </a:solidFill>
                <a:latin typeface="微软雅黑" panose="020B0503020204020204" charset="-122"/>
                <a:ea typeface="微软雅黑" panose="020B0503020204020204" charset="-122"/>
              </a:rPr>
              <a:t>4</a:t>
            </a:r>
            <a:r>
              <a:rPr lang="zh-CN" altLang="en-US" sz="1400" b="1" dirty="0">
                <a:solidFill>
                  <a:srgbClr val="000000"/>
                </a:solidFill>
                <a:latin typeface="微软雅黑" panose="020B0503020204020204" charset="-122"/>
                <a:ea typeface="微软雅黑" panose="020B0503020204020204" charset="-122"/>
              </a:rPr>
              <a:t>分）</a:t>
            </a:r>
            <a:endParaRPr lang="en-US" altLang="zh-CN" sz="1400" b="1" dirty="0">
              <a:solidFill>
                <a:srgbClr val="000000"/>
              </a:solidFill>
              <a:latin typeface="微软雅黑" panose="020B0503020204020204" charset="-122"/>
              <a:ea typeface="微软雅黑" panose="020B0503020204020204" charset="-122"/>
            </a:endParaRPr>
          </a:p>
        </p:txBody>
      </p:sp>
      <p:sp>
        <p:nvSpPr>
          <p:cNvPr id="13" name="Text Box 167"/>
          <p:cNvSpPr txBox="1">
            <a:spLocks noChangeArrowheads="1"/>
          </p:cNvSpPr>
          <p:nvPr/>
        </p:nvSpPr>
        <p:spPr bwMode="auto">
          <a:xfrm>
            <a:off x="272072" y="4298992"/>
            <a:ext cx="1362075" cy="242888"/>
          </a:xfrm>
          <a:prstGeom prst="rect">
            <a:avLst/>
          </a:prstGeom>
          <a:noFill/>
          <a:ln w="9525">
            <a:noFill/>
            <a:miter lim="800000"/>
          </a:ln>
        </p:spPr>
        <p:txBody>
          <a:bodyPr wrap="none" lIns="86493" tIns="43247" rIns="86493" bIns="43247">
            <a:spAutoFit/>
          </a:bodyPr>
          <a:lstStyle/>
          <a:p>
            <a:pPr algn="r" defTabSz="865505" eaLnBrk="0" hangingPunct="0">
              <a:lnSpc>
                <a:spcPct val="70000"/>
              </a:lnSpc>
              <a:spcBef>
                <a:spcPct val="50000"/>
              </a:spcBef>
            </a:pPr>
            <a:r>
              <a:rPr lang="zh-CN" altLang="en-US" sz="1400" b="1">
                <a:solidFill>
                  <a:srgbClr val="000000"/>
                </a:solidFill>
                <a:latin typeface="微软雅黑" panose="020B0503020204020204" charset="-122"/>
                <a:ea typeface="微软雅黑" panose="020B0503020204020204" charset="-122"/>
              </a:rPr>
              <a:t>基本的（</a:t>
            </a:r>
            <a:r>
              <a:rPr lang="en-US" altLang="zh-CN" sz="1400" b="1">
                <a:solidFill>
                  <a:srgbClr val="000000"/>
                </a:solidFill>
                <a:latin typeface="微软雅黑" panose="020B0503020204020204" charset="-122"/>
                <a:ea typeface="微软雅黑" panose="020B0503020204020204" charset="-122"/>
              </a:rPr>
              <a:t>2</a:t>
            </a:r>
            <a:r>
              <a:rPr lang="zh-CN" altLang="en-US" sz="1400" b="1">
                <a:solidFill>
                  <a:srgbClr val="000000"/>
                </a:solidFill>
                <a:latin typeface="微软雅黑" panose="020B0503020204020204" charset="-122"/>
                <a:ea typeface="微软雅黑" panose="020B0503020204020204" charset="-122"/>
              </a:rPr>
              <a:t>分）</a:t>
            </a:r>
            <a:endParaRPr lang="en-US" altLang="zh-CN" sz="1400" b="1">
              <a:solidFill>
                <a:srgbClr val="000000"/>
              </a:solidFill>
              <a:latin typeface="微软雅黑" panose="020B0503020204020204" charset="-122"/>
              <a:ea typeface="微软雅黑" panose="020B0503020204020204" charset="-122"/>
            </a:endParaRPr>
          </a:p>
        </p:txBody>
      </p:sp>
      <p:sp>
        <p:nvSpPr>
          <p:cNvPr id="14" name="Text Box 168"/>
          <p:cNvSpPr txBox="1">
            <a:spLocks noChangeArrowheads="1"/>
          </p:cNvSpPr>
          <p:nvPr/>
        </p:nvSpPr>
        <p:spPr bwMode="auto">
          <a:xfrm>
            <a:off x="272072" y="3602080"/>
            <a:ext cx="1362075" cy="238125"/>
          </a:xfrm>
          <a:prstGeom prst="rect">
            <a:avLst/>
          </a:prstGeom>
          <a:noFill/>
          <a:ln w="9525">
            <a:noFill/>
            <a:miter lim="800000"/>
          </a:ln>
        </p:spPr>
        <p:txBody>
          <a:bodyPr wrap="none" lIns="86493" tIns="43247" rIns="86493" bIns="43247">
            <a:spAutoFit/>
          </a:bodyPr>
          <a:lstStyle/>
          <a:p>
            <a:pPr algn="r" defTabSz="865505" eaLnBrk="0" hangingPunct="0">
              <a:lnSpc>
                <a:spcPct val="70000"/>
              </a:lnSpc>
              <a:spcBef>
                <a:spcPct val="50000"/>
              </a:spcBef>
            </a:pPr>
            <a:r>
              <a:rPr lang="zh-CN" altLang="en-US" sz="1400" b="1">
                <a:solidFill>
                  <a:srgbClr val="000000"/>
                </a:solidFill>
                <a:latin typeface="微软雅黑" panose="020B0503020204020204" charset="-122"/>
                <a:ea typeface="微软雅黑" panose="020B0503020204020204" charset="-122"/>
              </a:rPr>
              <a:t>可执行（</a:t>
            </a:r>
            <a:r>
              <a:rPr lang="en-US" altLang="zh-CN" sz="1400" b="1">
                <a:solidFill>
                  <a:srgbClr val="000000"/>
                </a:solidFill>
                <a:latin typeface="微软雅黑" panose="020B0503020204020204" charset="-122"/>
                <a:ea typeface="微软雅黑" panose="020B0503020204020204" charset="-122"/>
              </a:rPr>
              <a:t>3</a:t>
            </a:r>
            <a:r>
              <a:rPr lang="zh-CN" altLang="en-US" sz="1400" b="1">
                <a:solidFill>
                  <a:srgbClr val="000000"/>
                </a:solidFill>
                <a:latin typeface="微软雅黑" panose="020B0503020204020204" charset="-122"/>
                <a:ea typeface="微软雅黑" panose="020B0503020204020204" charset="-122"/>
              </a:rPr>
              <a:t>分）</a:t>
            </a:r>
            <a:endParaRPr lang="en-US" altLang="zh-CN" sz="1400" b="1">
              <a:solidFill>
                <a:srgbClr val="000000"/>
              </a:solidFill>
              <a:latin typeface="微软雅黑" panose="020B0503020204020204" charset="-122"/>
              <a:ea typeface="微软雅黑" panose="020B0503020204020204" charset="-122"/>
            </a:endParaRPr>
          </a:p>
        </p:txBody>
      </p:sp>
      <p:sp>
        <p:nvSpPr>
          <p:cNvPr id="15" name="Rectangle 177"/>
          <p:cNvSpPr>
            <a:spLocks noChangeArrowheads="1"/>
          </p:cNvSpPr>
          <p:nvPr/>
        </p:nvSpPr>
        <p:spPr bwMode="auto">
          <a:xfrm rot="10800000" flipH="1">
            <a:off x="1753405" y="3864469"/>
            <a:ext cx="288000" cy="180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2.8</a:t>
            </a:r>
            <a:endParaRPr lang="en-GB" altLang="zh-CN" sz="1400" b="1" dirty="0">
              <a:solidFill>
                <a:srgbClr val="000000"/>
              </a:solidFill>
              <a:latin typeface="微软雅黑" panose="020B0503020204020204" charset="-122"/>
              <a:ea typeface="微软雅黑" panose="020B0503020204020204" charset="-122"/>
            </a:endParaRPr>
          </a:p>
        </p:txBody>
      </p:sp>
      <p:sp>
        <p:nvSpPr>
          <p:cNvPr id="16" name="Text Box 167"/>
          <p:cNvSpPr txBox="1">
            <a:spLocks noChangeArrowheads="1"/>
          </p:cNvSpPr>
          <p:nvPr/>
        </p:nvSpPr>
        <p:spPr bwMode="auto">
          <a:xfrm>
            <a:off x="272072" y="4995905"/>
            <a:ext cx="1362075" cy="242887"/>
          </a:xfrm>
          <a:prstGeom prst="rect">
            <a:avLst/>
          </a:prstGeom>
          <a:noFill/>
          <a:ln w="9525">
            <a:noFill/>
            <a:miter lim="800000"/>
          </a:ln>
        </p:spPr>
        <p:txBody>
          <a:bodyPr wrap="none" lIns="86493" tIns="43247" rIns="86493" bIns="43247">
            <a:spAutoFit/>
          </a:bodyPr>
          <a:lstStyle/>
          <a:p>
            <a:pPr algn="r" defTabSz="865505" eaLnBrk="0" hangingPunct="0">
              <a:lnSpc>
                <a:spcPct val="70000"/>
              </a:lnSpc>
              <a:spcBef>
                <a:spcPct val="50000"/>
              </a:spcBef>
            </a:pPr>
            <a:r>
              <a:rPr lang="zh-CN" altLang="en-US" sz="1400" b="1">
                <a:solidFill>
                  <a:srgbClr val="000000"/>
                </a:solidFill>
                <a:latin typeface="微软雅黑" panose="020B0503020204020204" charset="-122"/>
                <a:ea typeface="微软雅黑" panose="020B0503020204020204" charset="-122"/>
              </a:rPr>
              <a:t>不成熟（</a:t>
            </a:r>
            <a:r>
              <a:rPr lang="en-US" altLang="zh-CN" sz="1400" b="1">
                <a:solidFill>
                  <a:srgbClr val="000000"/>
                </a:solidFill>
                <a:latin typeface="微软雅黑" panose="020B0503020204020204" charset="-122"/>
                <a:ea typeface="微软雅黑" panose="020B0503020204020204" charset="-122"/>
              </a:rPr>
              <a:t>1</a:t>
            </a:r>
            <a:r>
              <a:rPr lang="zh-CN" altLang="en-US" sz="1400" b="1">
                <a:solidFill>
                  <a:srgbClr val="000000"/>
                </a:solidFill>
                <a:latin typeface="微软雅黑" panose="020B0503020204020204" charset="-122"/>
                <a:ea typeface="微软雅黑" panose="020B0503020204020204" charset="-122"/>
              </a:rPr>
              <a:t>分）</a:t>
            </a:r>
            <a:endParaRPr lang="en-US" altLang="zh-CN" sz="1400" b="1">
              <a:solidFill>
                <a:srgbClr val="000000"/>
              </a:solidFill>
              <a:latin typeface="微软雅黑" panose="020B0503020204020204" charset="-122"/>
              <a:ea typeface="微软雅黑" panose="020B0503020204020204" charset="-122"/>
            </a:endParaRPr>
          </a:p>
        </p:txBody>
      </p:sp>
      <p:sp>
        <p:nvSpPr>
          <p:cNvPr id="17" name="Line 73"/>
          <p:cNvSpPr>
            <a:spLocks noChangeShapeType="1"/>
          </p:cNvSpPr>
          <p:nvPr/>
        </p:nvSpPr>
        <p:spPr bwMode="auto">
          <a:xfrm>
            <a:off x="1535722" y="5097505"/>
            <a:ext cx="107950" cy="0"/>
          </a:xfrm>
          <a:prstGeom prst="line">
            <a:avLst/>
          </a:prstGeom>
          <a:noFill/>
          <a:ln w="4826">
            <a:solidFill>
              <a:schemeClr val="tx1"/>
            </a:solidFill>
            <a:round/>
          </a:ln>
        </p:spPr>
        <p:txBody>
          <a:bodyPr/>
          <a:lstStyle/>
          <a:p>
            <a:endParaRPr lang="zh-CN" altLang="en-US"/>
          </a:p>
        </p:txBody>
      </p:sp>
      <p:sp>
        <p:nvSpPr>
          <p:cNvPr id="18" name="Rectangle 177"/>
          <p:cNvSpPr>
            <a:spLocks noChangeArrowheads="1"/>
          </p:cNvSpPr>
          <p:nvPr/>
        </p:nvSpPr>
        <p:spPr bwMode="auto">
          <a:xfrm rot="10800000" flipH="1">
            <a:off x="2041405" y="3792469"/>
            <a:ext cx="288000" cy="1872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2.9</a:t>
            </a:r>
            <a:endParaRPr lang="en-GB" altLang="zh-CN" sz="1400" b="1" dirty="0">
              <a:solidFill>
                <a:srgbClr val="000000"/>
              </a:solidFill>
              <a:latin typeface="微软雅黑" panose="020B0503020204020204" charset="-122"/>
              <a:ea typeface="微软雅黑" panose="020B0503020204020204" charset="-122"/>
            </a:endParaRPr>
          </a:p>
        </p:txBody>
      </p:sp>
      <p:sp>
        <p:nvSpPr>
          <p:cNvPr id="19" name="Rectangle 177"/>
          <p:cNvSpPr>
            <a:spLocks noChangeArrowheads="1"/>
          </p:cNvSpPr>
          <p:nvPr/>
        </p:nvSpPr>
        <p:spPr bwMode="auto">
          <a:xfrm rot="10800000" flipH="1">
            <a:off x="2329405" y="3648469"/>
            <a:ext cx="288000" cy="2016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3.1</a:t>
            </a:r>
            <a:endParaRPr lang="en-GB" altLang="zh-CN" sz="1400" b="1" dirty="0">
              <a:solidFill>
                <a:srgbClr val="000000"/>
              </a:solidFill>
              <a:latin typeface="微软雅黑" panose="020B0503020204020204" charset="-122"/>
              <a:ea typeface="微软雅黑" panose="020B0503020204020204" charset="-122"/>
            </a:endParaRPr>
          </a:p>
        </p:txBody>
      </p:sp>
      <p:sp>
        <p:nvSpPr>
          <p:cNvPr id="20" name="Rectangle 177"/>
          <p:cNvSpPr>
            <a:spLocks noChangeArrowheads="1"/>
          </p:cNvSpPr>
          <p:nvPr/>
        </p:nvSpPr>
        <p:spPr bwMode="auto">
          <a:xfrm rot="10800000" flipH="1">
            <a:off x="2617405" y="3576469"/>
            <a:ext cx="288000" cy="2088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3.2</a:t>
            </a:r>
            <a:endParaRPr lang="en-GB" altLang="zh-CN" sz="1400" b="1" dirty="0">
              <a:solidFill>
                <a:srgbClr val="000000"/>
              </a:solidFill>
              <a:latin typeface="微软雅黑" panose="020B0503020204020204" charset="-122"/>
              <a:ea typeface="微软雅黑" panose="020B0503020204020204" charset="-122"/>
            </a:endParaRPr>
          </a:p>
        </p:txBody>
      </p:sp>
      <p:sp>
        <p:nvSpPr>
          <p:cNvPr id="25" name="TextBox 41"/>
          <p:cNvSpPr txBox="1">
            <a:spLocks noChangeArrowheads="1"/>
          </p:cNvSpPr>
          <p:nvPr/>
        </p:nvSpPr>
        <p:spPr bwMode="auto">
          <a:xfrm>
            <a:off x="1909744" y="5694405"/>
            <a:ext cx="1143008" cy="307777"/>
          </a:xfrm>
          <a:prstGeom prst="rect">
            <a:avLst/>
          </a:prstGeom>
          <a:noFill/>
          <a:ln w="9525">
            <a:noFill/>
            <a:miter lim="800000"/>
          </a:ln>
        </p:spPr>
        <p:txBody>
          <a:bodyPr wrap="square">
            <a:spAutoFit/>
          </a:bodyPr>
          <a:lstStyle/>
          <a:p>
            <a:pPr algn="ctr"/>
            <a:r>
              <a:rPr lang="zh-CN" altLang="en-US" sz="1400" b="1" dirty="0">
                <a:latin typeface="微软雅黑" panose="020B0503020204020204" charset="-122"/>
                <a:ea typeface="微软雅黑" panose="020B0503020204020204" charset="-122"/>
              </a:rPr>
              <a:t>组织</a:t>
            </a:r>
          </a:p>
        </p:txBody>
      </p:sp>
      <p:sp>
        <p:nvSpPr>
          <p:cNvPr id="35" name="Text Box 214"/>
          <p:cNvSpPr txBox="1">
            <a:spLocks noChangeArrowheads="1"/>
          </p:cNvSpPr>
          <p:nvPr/>
        </p:nvSpPr>
        <p:spPr bwMode="auto">
          <a:xfrm>
            <a:off x="1942122" y="1725655"/>
            <a:ext cx="5580062" cy="337185"/>
          </a:xfrm>
          <a:prstGeom prst="rect">
            <a:avLst/>
          </a:prstGeom>
          <a:noFill/>
          <a:ln w="9525">
            <a:noFill/>
            <a:miter lim="800000"/>
          </a:ln>
        </p:spPr>
        <p:txBody>
          <a:bodyPr>
            <a:spAutoFit/>
          </a:bodyPr>
          <a:lstStyle/>
          <a:p>
            <a:pPr marL="342900" indent="-342900" algn="ctr">
              <a:spcBef>
                <a:spcPct val="50000"/>
              </a:spcBef>
              <a:buClr>
                <a:srgbClr val="FF0000"/>
              </a:buClr>
              <a:buFont typeface="Wingdings" panose="05000000000000000000" pitchFamily="2" charset="2"/>
              <a:buNone/>
            </a:pPr>
            <a:r>
              <a:rPr lang="zh-CN" altLang="en-US" sz="1600" b="1" dirty="0">
                <a:solidFill>
                  <a:srgbClr val="000000"/>
                </a:solidFill>
                <a:latin typeface="微软雅黑" panose="020B0503020204020204" charset="-122"/>
                <a:ea typeface="微软雅黑" panose="020B0503020204020204" charset="-122"/>
              </a:rPr>
              <a:t>x重机集成计划各业务领域成熟度水平</a:t>
            </a:r>
            <a:endParaRPr lang="en-US" altLang="zh-CN" sz="1600" b="1" dirty="0">
              <a:solidFill>
                <a:srgbClr val="000000"/>
              </a:solidFill>
              <a:latin typeface="微软雅黑" panose="020B0503020204020204" charset="-122"/>
              <a:ea typeface="微软雅黑" panose="020B0503020204020204" charset="-122"/>
            </a:endParaRPr>
          </a:p>
        </p:txBody>
      </p:sp>
      <p:sp>
        <p:nvSpPr>
          <p:cNvPr id="45" name="TextBox 41"/>
          <p:cNvSpPr txBox="1">
            <a:spLocks noChangeArrowheads="1"/>
          </p:cNvSpPr>
          <p:nvPr/>
        </p:nvSpPr>
        <p:spPr bwMode="auto">
          <a:xfrm>
            <a:off x="3737604" y="5700502"/>
            <a:ext cx="1001132" cy="307777"/>
          </a:xfrm>
          <a:prstGeom prst="rect">
            <a:avLst/>
          </a:prstGeom>
          <a:noFill/>
          <a:ln w="9525">
            <a:noFill/>
            <a:miter lim="800000"/>
          </a:ln>
        </p:spPr>
        <p:txBody>
          <a:bodyPr wrap="square">
            <a:spAutoFit/>
          </a:bodyPr>
          <a:lstStyle/>
          <a:p>
            <a:pPr algn="ctr"/>
            <a:r>
              <a:rPr lang="zh-CN" altLang="en-US" sz="1400" b="1" dirty="0">
                <a:latin typeface="微软雅黑" panose="020B0503020204020204" charset="-122"/>
                <a:ea typeface="微软雅黑" panose="020B0503020204020204" charset="-122"/>
              </a:rPr>
              <a:t>流程</a:t>
            </a:r>
          </a:p>
        </p:txBody>
      </p:sp>
      <p:sp>
        <p:nvSpPr>
          <p:cNvPr id="48" name="TextBox 42"/>
          <p:cNvSpPr txBox="1">
            <a:spLocks noChangeArrowheads="1"/>
          </p:cNvSpPr>
          <p:nvPr/>
        </p:nvSpPr>
        <p:spPr bwMode="auto">
          <a:xfrm>
            <a:off x="5500694" y="5706599"/>
            <a:ext cx="943076" cy="307777"/>
          </a:xfrm>
          <a:prstGeom prst="rect">
            <a:avLst/>
          </a:prstGeom>
          <a:noFill/>
          <a:ln w="9525">
            <a:noFill/>
            <a:miter lim="800000"/>
          </a:ln>
        </p:spPr>
        <p:txBody>
          <a:bodyPr wrap="square">
            <a:spAutoFit/>
          </a:bodyPr>
          <a:lstStyle/>
          <a:p>
            <a:pPr algn="ctr"/>
            <a:r>
              <a:rPr lang="zh-CN" altLang="en-US" sz="1400" b="1" dirty="0">
                <a:latin typeface="微软雅黑" panose="020B0503020204020204" charset="-122"/>
                <a:ea typeface="微软雅黑" panose="020B0503020204020204" charset="-122"/>
              </a:rPr>
              <a:t>绩效</a:t>
            </a:r>
          </a:p>
        </p:txBody>
      </p:sp>
      <p:sp>
        <p:nvSpPr>
          <p:cNvPr id="51" name="TextBox 41"/>
          <p:cNvSpPr txBox="1">
            <a:spLocks noChangeArrowheads="1"/>
          </p:cNvSpPr>
          <p:nvPr/>
        </p:nvSpPr>
        <p:spPr bwMode="auto">
          <a:xfrm>
            <a:off x="7309504" y="5700502"/>
            <a:ext cx="870038" cy="307777"/>
          </a:xfrm>
          <a:prstGeom prst="rect">
            <a:avLst/>
          </a:prstGeom>
          <a:noFill/>
          <a:ln w="9525">
            <a:noFill/>
            <a:miter lim="800000"/>
          </a:ln>
        </p:spPr>
        <p:txBody>
          <a:bodyPr wrap="square">
            <a:spAutoFit/>
          </a:bodyPr>
          <a:lstStyle/>
          <a:p>
            <a:pPr algn="ctr"/>
            <a:r>
              <a:rPr lang="en-US" altLang="zh-CN" sz="1400" b="1" dirty="0">
                <a:latin typeface="微软雅黑" panose="020B0503020204020204" charset="-122"/>
                <a:ea typeface="微软雅黑" panose="020B0503020204020204" charset="-122"/>
              </a:rPr>
              <a:t>IT</a:t>
            </a:r>
            <a:endParaRPr lang="zh-CN" altLang="en-US" sz="1400" b="1" dirty="0">
              <a:latin typeface="微软雅黑" panose="020B0503020204020204" charset="-122"/>
              <a:ea typeface="微软雅黑" panose="020B0503020204020204" charset="-122"/>
            </a:endParaRPr>
          </a:p>
        </p:txBody>
      </p:sp>
      <p:sp>
        <p:nvSpPr>
          <p:cNvPr id="62" name="TextBox 61"/>
          <p:cNvSpPr txBox="1"/>
          <p:nvPr/>
        </p:nvSpPr>
        <p:spPr bwMode="auto">
          <a:xfrm>
            <a:off x="1672796" y="5268290"/>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需求</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65" name="TextBox 64"/>
          <p:cNvSpPr txBox="1"/>
          <p:nvPr/>
        </p:nvSpPr>
        <p:spPr bwMode="auto">
          <a:xfrm>
            <a:off x="2804808" y="5338193"/>
            <a:ext cx="466794" cy="261610"/>
          </a:xfrm>
          <a:prstGeom prst="rect">
            <a:avLst/>
          </a:prstGeom>
          <a:noFill/>
          <a:ln>
            <a:noFill/>
          </a:ln>
        </p:spPr>
        <p:txBody>
          <a:bodyPr wrap="none" rtlCol="0">
            <a:spAutoFit/>
          </a:bodyPr>
          <a:lstStyle/>
          <a:p>
            <a:r>
              <a:rPr kumimoji="1" lang="zh-CN" altLang="en-US" sz="1100" b="1" dirty="0">
                <a:solidFill>
                  <a:srgbClr val="000000"/>
                </a:solidFill>
                <a:latin typeface="微软雅黑" panose="020B0503020204020204" charset="-122"/>
                <a:ea typeface="微软雅黑" panose="020B0503020204020204" charset="-122"/>
                <a:cs typeface="微软雅黑" panose="020B0503020204020204" charset="-122"/>
              </a:rPr>
              <a:t>商务</a:t>
            </a:r>
          </a:p>
        </p:txBody>
      </p:sp>
      <p:sp>
        <p:nvSpPr>
          <p:cNvPr id="85" name="TextBox 54"/>
          <p:cNvSpPr txBox="1">
            <a:spLocks noChangeArrowheads="1"/>
          </p:cNvSpPr>
          <p:nvPr/>
        </p:nvSpPr>
        <p:spPr bwMode="auto">
          <a:xfrm>
            <a:off x="350838" y="6357938"/>
            <a:ext cx="458660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来源：x重机集成计划体系业务成熟度内部问卷调研（</a:t>
            </a:r>
            <a:r>
              <a:rPr lang="en-US" altLang="zh-CN" sz="1000" i="1" dirty="0">
                <a:latin typeface="微软雅黑" panose="020B0503020204020204" charset="-122"/>
                <a:ea typeface="微软雅黑" panose="020B0503020204020204" charset="-122"/>
              </a:rPr>
              <a:t>35</a:t>
            </a:r>
            <a:r>
              <a:rPr lang="zh-CN" altLang="en-US" sz="1000" i="1" dirty="0">
                <a:latin typeface="微软雅黑" panose="020B0503020204020204" charset="-122"/>
                <a:ea typeface="微软雅黑" panose="020B0503020204020204" charset="-122"/>
              </a:rPr>
              <a:t>份样本），项目组分析</a:t>
            </a:r>
          </a:p>
        </p:txBody>
      </p:sp>
      <p:sp>
        <p:nvSpPr>
          <p:cNvPr id="78" name="TextBox 77"/>
          <p:cNvSpPr txBox="1"/>
          <p:nvPr/>
        </p:nvSpPr>
        <p:spPr>
          <a:xfrm>
            <a:off x="7425667" y="2760478"/>
            <a:ext cx="1149674"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先进实践</a:t>
            </a:r>
            <a:r>
              <a:rPr lang="en-US" altLang="zh-CN" sz="1200" b="1" dirty="0">
                <a:solidFill>
                  <a:srgbClr val="0000FF"/>
                </a:solidFill>
                <a:latin typeface="微软雅黑" panose="020B0503020204020204" charset="-122"/>
                <a:ea typeface="微软雅黑" panose="020B0503020204020204" charset="-122"/>
              </a:rPr>
              <a:t>≥4.0</a:t>
            </a:r>
            <a:endParaRPr lang="zh-CN" altLang="en-US" sz="1200" b="1" dirty="0">
              <a:solidFill>
                <a:srgbClr val="0000FF"/>
              </a:solidFill>
              <a:latin typeface="微软雅黑" panose="020B0503020204020204" charset="-122"/>
              <a:ea typeface="微软雅黑" panose="020B0503020204020204" charset="-122"/>
            </a:endParaRPr>
          </a:p>
        </p:txBody>
      </p:sp>
      <p:sp>
        <p:nvSpPr>
          <p:cNvPr id="79" name="圆角矩形 78"/>
          <p:cNvSpPr/>
          <p:nvPr/>
        </p:nvSpPr>
        <p:spPr bwMode="auto">
          <a:xfrm>
            <a:off x="357158" y="1071546"/>
            <a:ext cx="8358246" cy="571504"/>
          </a:xfrm>
          <a:prstGeom prst="roundRect">
            <a:avLst>
              <a:gd name="adj" fmla="val 0"/>
            </a:avLst>
          </a:prstGeom>
          <a:solidFill>
            <a:srgbClr val="FFFFFF">
              <a:lumMod val="95000"/>
            </a:srgbClr>
          </a:solidFill>
          <a:ln>
            <a:noFill/>
          </a:ln>
        </p:spPr>
        <p:txBody>
          <a:bodyPr lIns="91413" tIns="45706" rIns="91413" bIns="45706" anchor="ct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 通过调研，初步了解到目前x重机的集成计划业务成熟度为</a:t>
            </a:r>
            <a:r>
              <a:rPr kumimoji="0" lang="en-US" altLang="zh-CN"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2.7</a:t>
            </a: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分，处于基本可执行层级，但和先进实践相比还存在差距</a:t>
            </a:r>
          </a:p>
        </p:txBody>
      </p:sp>
      <p:sp>
        <p:nvSpPr>
          <p:cNvPr id="81" name="Rectangle 177"/>
          <p:cNvSpPr>
            <a:spLocks noChangeArrowheads="1"/>
          </p:cNvSpPr>
          <p:nvPr/>
        </p:nvSpPr>
        <p:spPr bwMode="auto">
          <a:xfrm rot="10800000" flipH="1">
            <a:off x="2905404" y="3864469"/>
            <a:ext cx="288000" cy="180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2.8</a:t>
            </a:r>
            <a:endParaRPr lang="en-GB" altLang="zh-CN" sz="1400" b="1" dirty="0">
              <a:solidFill>
                <a:srgbClr val="000000"/>
              </a:solidFill>
              <a:latin typeface="微软雅黑" panose="020B0503020204020204" charset="-122"/>
              <a:ea typeface="微软雅黑" panose="020B0503020204020204" charset="-122"/>
            </a:endParaRPr>
          </a:p>
        </p:txBody>
      </p:sp>
      <p:sp>
        <p:nvSpPr>
          <p:cNvPr id="83" name="TextBox 82"/>
          <p:cNvSpPr txBox="1"/>
          <p:nvPr/>
        </p:nvSpPr>
        <p:spPr bwMode="auto">
          <a:xfrm>
            <a:off x="1966894" y="5268290"/>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订单</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84" name="TextBox 83"/>
          <p:cNvSpPr txBox="1"/>
          <p:nvPr/>
        </p:nvSpPr>
        <p:spPr bwMode="auto">
          <a:xfrm>
            <a:off x="2258226" y="5268290"/>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产销</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平衡</a:t>
            </a:r>
          </a:p>
        </p:txBody>
      </p:sp>
      <p:sp>
        <p:nvSpPr>
          <p:cNvPr id="88" name="TextBox 87"/>
          <p:cNvSpPr txBox="1"/>
          <p:nvPr/>
        </p:nvSpPr>
        <p:spPr bwMode="auto">
          <a:xfrm>
            <a:off x="2543978" y="4960514"/>
            <a:ext cx="441146" cy="707886"/>
          </a:xfrm>
          <a:prstGeom prst="rect">
            <a:avLst/>
          </a:prstGeom>
          <a:noFill/>
          <a:ln>
            <a:noFill/>
          </a:ln>
        </p:spPr>
        <p:txBody>
          <a:bodyPr wrap="none" rtlCol="0">
            <a:spAutoFit/>
          </a:bodyPr>
          <a:lstStyle/>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生产</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计划</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与</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执行</a:t>
            </a:r>
          </a:p>
        </p:txBody>
      </p:sp>
      <p:sp>
        <p:nvSpPr>
          <p:cNvPr id="89" name="TextBox 88"/>
          <p:cNvSpPr txBox="1"/>
          <p:nvPr/>
        </p:nvSpPr>
        <p:spPr bwMode="auto">
          <a:xfrm>
            <a:off x="2837350" y="4960514"/>
            <a:ext cx="441146" cy="707886"/>
          </a:xfrm>
          <a:prstGeom prst="rect">
            <a:avLst/>
          </a:prstGeom>
          <a:noFill/>
          <a:ln>
            <a:noFill/>
          </a:ln>
        </p:spPr>
        <p:txBody>
          <a:bodyPr wrap="none" rtlCol="0">
            <a:spAutoFit/>
          </a:bodyPr>
          <a:lstStyle/>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零部</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件计</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划与</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交付</a:t>
            </a:r>
          </a:p>
        </p:txBody>
      </p:sp>
      <p:sp>
        <p:nvSpPr>
          <p:cNvPr id="100" name="Rectangle 177"/>
          <p:cNvSpPr>
            <a:spLocks noChangeArrowheads="1"/>
          </p:cNvSpPr>
          <p:nvPr/>
        </p:nvSpPr>
        <p:spPr bwMode="auto">
          <a:xfrm rot="10800000" flipH="1">
            <a:off x="3509601" y="3859876"/>
            <a:ext cx="288000" cy="180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2.8</a:t>
            </a:r>
            <a:endParaRPr lang="en-GB" altLang="zh-CN" sz="1400" b="1" dirty="0">
              <a:solidFill>
                <a:srgbClr val="000000"/>
              </a:solidFill>
              <a:latin typeface="微软雅黑" panose="020B0503020204020204" charset="-122"/>
              <a:ea typeface="微软雅黑" panose="020B0503020204020204" charset="-122"/>
            </a:endParaRPr>
          </a:p>
        </p:txBody>
      </p:sp>
      <p:sp>
        <p:nvSpPr>
          <p:cNvPr id="101" name="Rectangle 177"/>
          <p:cNvSpPr>
            <a:spLocks noChangeArrowheads="1"/>
          </p:cNvSpPr>
          <p:nvPr/>
        </p:nvSpPr>
        <p:spPr bwMode="auto">
          <a:xfrm rot="10800000" flipH="1">
            <a:off x="3797601" y="3859876"/>
            <a:ext cx="288000" cy="180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2.8</a:t>
            </a:r>
            <a:endParaRPr lang="en-GB" altLang="zh-CN" sz="1400" b="1" dirty="0">
              <a:solidFill>
                <a:srgbClr val="000000"/>
              </a:solidFill>
              <a:latin typeface="微软雅黑" panose="020B0503020204020204" charset="-122"/>
              <a:ea typeface="微软雅黑" panose="020B0503020204020204" charset="-122"/>
            </a:endParaRPr>
          </a:p>
        </p:txBody>
      </p:sp>
      <p:sp>
        <p:nvSpPr>
          <p:cNvPr id="102" name="Rectangle 177"/>
          <p:cNvSpPr>
            <a:spLocks noChangeArrowheads="1"/>
          </p:cNvSpPr>
          <p:nvPr/>
        </p:nvSpPr>
        <p:spPr bwMode="auto">
          <a:xfrm rot="10800000" flipH="1">
            <a:off x="4085601" y="3859876"/>
            <a:ext cx="288000" cy="180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2.8</a:t>
            </a:r>
            <a:endParaRPr lang="en-GB" altLang="zh-CN" sz="1400" b="1" dirty="0">
              <a:solidFill>
                <a:srgbClr val="000000"/>
              </a:solidFill>
              <a:latin typeface="微软雅黑" panose="020B0503020204020204" charset="-122"/>
              <a:ea typeface="微软雅黑" panose="020B0503020204020204" charset="-122"/>
            </a:endParaRPr>
          </a:p>
        </p:txBody>
      </p:sp>
      <p:sp>
        <p:nvSpPr>
          <p:cNvPr id="103" name="Rectangle 177"/>
          <p:cNvSpPr>
            <a:spLocks noChangeArrowheads="1"/>
          </p:cNvSpPr>
          <p:nvPr/>
        </p:nvSpPr>
        <p:spPr bwMode="auto">
          <a:xfrm rot="10800000" flipH="1">
            <a:off x="4373601" y="3571876"/>
            <a:ext cx="288000" cy="2088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3.2</a:t>
            </a:r>
            <a:endParaRPr lang="en-GB" altLang="zh-CN" sz="1400" b="1" dirty="0">
              <a:solidFill>
                <a:srgbClr val="000000"/>
              </a:solidFill>
              <a:latin typeface="微软雅黑" panose="020B0503020204020204" charset="-122"/>
              <a:ea typeface="微软雅黑" panose="020B0503020204020204" charset="-122"/>
            </a:endParaRPr>
          </a:p>
        </p:txBody>
      </p:sp>
      <p:sp>
        <p:nvSpPr>
          <p:cNvPr id="104" name="TextBox 103"/>
          <p:cNvSpPr txBox="1"/>
          <p:nvPr/>
        </p:nvSpPr>
        <p:spPr bwMode="auto">
          <a:xfrm>
            <a:off x="3428992"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需求</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105" name="TextBox 104"/>
          <p:cNvSpPr txBox="1"/>
          <p:nvPr/>
        </p:nvSpPr>
        <p:spPr bwMode="auto">
          <a:xfrm>
            <a:off x="4561004" y="5333600"/>
            <a:ext cx="466794" cy="261610"/>
          </a:xfrm>
          <a:prstGeom prst="rect">
            <a:avLst/>
          </a:prstGeom>
          <a:noFill/>
          <a:ln>
            <a:noFill/>
          </a:ln>
        </p:spPr>
        <p:txBody>
          <a:bodyPr wrap="none" rtlCol="0">
            <a:spAutoFit/>
          </a:bodyPr>
          <a:lstStyle/>
          <a:p>
            <a:r>
              <a:rPr kumimoji="1" lang="zh-CN" altLang="en-US" sz="1100" b="1" dirty="0">
                <a:solidFill>
                  <a:srgbClr val="000000"/>
                </a:solidFill>
                <a:latin typeface="微软雅黑" panose="020B0503020204020204" charset="-122"/>
                <a:ea typeface="微软雅黑" panose="020B0503020204020204" charset="-122"/>
                <a:cs typeface="微软雅黑" panose="020B0503020204020204" charset="-122"/>
              </a:rPr>
              <a:t>商务</a:t>
            </a:r>
          </a:p>
        </p:txBody>
      </p:sp>
      <p:sp>
        <p:nvSpPr>
          <p:cNvPr id="106" name="Rectangle 177"/>
          <p:cNvSpPr>
            <a:spLocks noChangeArrowheads="1"/>
          </p:cNvSpPr>
          <p:nvPr/>
        </p:nvSpPr>
        <p:spPr bwMode="auto">
          <a:xfrm rot="10800000" flipH="1">
            <a:off x="4661600" y="3787876"/>
            <a:ext cx="288000" cy="1872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2.9</a:t>
            </a:r>
            <a:endParaRPr lang="en-GB" altLang="zh-CN" sz="1400" b="1" dirty="0">
              <a:solidFill>
                <a:srgbClr val="000000"/>
              </a:solidFill>
              <a:latin typeface="微软雅黑" panose="020B0503020204020204" charset="-122"/>
              <a:ea typeface="微软雅黑" panose="020B0503020204020204" charset="-122"/>
            </a:endParaRPr>
          </a:p>
        </p:txBody>
      </p:sp>
      <p:sp>
        <p:nvSpPr>
          <p:cNvPr id="107" name="TextBox 106"/>
          <p:cNvSpPr txBox="1"/>
          <p:nvPr/>
        </p:nvSpPr>
        <p:spPr bwMode="auto">
          <a:xfrm>
            <a:off x="3723090"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订单</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108" name="TextBox 107"/>
          <p:cNvSpPr txBox="1"/>
          <p:nvPr/>
        </p:nvSpPr>
        <p:spPr bwMode="auto">
          <a:xfrm>
            <a:off x="4014422"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产销</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平衡</a:t>
            </a:r>
          </a:p>
        </p:txBody>
      </p:sp>
      <p:sp>
        <p:nvSpPr>
          <p:cNvPr id="109" name="TextBox 108"/>
          <p:cNvSpPr txBox="1"/>
          <p:nvPr/>
        </p:nvSpPr>
        <p:spPr bwMode="auto">
          <a:xfrm>
            <a:off x="4300174" y="4955921"/>
            <a:ext cx="441146" cy="707886"/>
          </a:xfrm>
          <a:prstGeom prst="rect">
            <a:avLst/>
          </a:prstGeom>
          <a:noFill/>
          <a:ln>
            <a:noFill/>
          </a:ln>
        </p:spPr>
        <p:txBody>
          <a:bodyPr wrap="none" rtlCol="0">
            <a:spAutoFit/>
          </a:bodyPr>
          <a:lstStyle/>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生产</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计划</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与</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执行</a:t>
            </a:r>
          </a:p>
        </p:txBody>
      </p:sp>
      <p:sp>
        <p:nvSpPr>
          <p:cNvPr id="110" name="TextBox 109"/>
          <p:cNvSpPr txBox="1"/>
          <p:nvPr/>
        </p:nvSpPr>
        <p:spPr bwMode="auto">
          <a:xfrm>
            <a:off x="4593546" y="4955921"/>
            <a:ext cx="441146" cy="707886"/>
          </a:xfrm>
          <a:prstGeom prst="rect">
            <a:avLst/>
          </a:prstGeom>
          <a:noFill/>
          <a:ln>
            <a:noFill/>
          </a:ln>
        </p:spPr>
        <p:txBody>
          <a:bodyPr wrap="none" rtlCol="0">
            <a:spAutoFit/>
          </a:bodyPr>
          <a:lstStyle/>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零部</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件计</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划与</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交付</a:t>
            </a:r>
          </a:p>
        </p:txBody>
      </p:sp>
      <p:sp>
        <p:nvSpPr>
          <p:cNvPr id="111" name="Rectangle 177"/>
          <p:cNvSpPr>
            <a:spLocks noChangeArrowheads="1"/>
          </p:cNvSpPr>
          <p:nvPr/>
        </p:nvSpPr>
        <p:spPr bwMode="auto">
          <a:xfrm rot="10800000" flipH="1">
            <a:off x="5261487" y="4039876"/>
            <a:ext cx="288000" cy="162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2.5</a:t>
            </a:r>
            <a:endParaRPr lang="en-GB" altLang="zh-CN" sz="1400" b="1" dirty="0">
              <a:solidFill>
                <a:srgbClr val="000000"/>
              </a:solidFill>
              <a:latin typeface="微软雅黑" panose="020B0503020204020204" charset="-122"/>
              <a:ea typeface="微软雅黑" panose="020B0503020204020204" charset="-122"/>
            </a:endParaRPr>
          </a:p>
        </p:txBody>
      </p:sp>
      <p:sp>
        <p:nvSpPr>
          <p:cNvPr id="112" name="Rectangle 177"/>
          <p:cNvSpPr>
            <a:spLocks noChangeArrowheads="1"/>
          </p:cNvSpPr>
          <p:nvPr/>
        </p:nvSpPr>
        <p:spPr bwMode="auto">
          <a:xfrm rot="10800000" flipH="1">
            <a:off x="5549487" y="3931876"/>
            <a:ext cx="288000" cy="1728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2.7</a:t>
            </a:r>
            <a:endParaRPr lang="en-GB" altLang="zh-CN" sz="1400" b="1" dirty="0">
              <a:solidFill>
                <a:srgbClr val="000000"/>
              </a:solidFill>
              <a:latin typeface="微软雅黑" panose="020B0503020204020204" charset="-122"/>
              <a:ea typeface="微软雅黑" panose="020B0503020204020204" charset="-122"/>
            </a:endParaRPr>
          </a:p>
        </p:txBody>
      </p:sp>
      <p:sp>
        <p:nvSpPr>
          <p:cNvPr id="113" name="Rectangle 177"/>
          <p:cNvSpPr>
            <a:spLocks noChangeArrowheads="1"/>
          </p:cNvSpPr>
          <p:nvPr/>
        </p:nvSpPr>
        <p:spPr bwMode="auto">
          <a:xfrm rot="10800000" flipH="1">
            <a:off x="5837487" y="3787876"/>
            <a:ext cx="288000" cy="1872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2.9</a:t>
            </a:r>
            <a:endParaRPr lang="en-GB" altLang="zh-CN" sz="1400" b="1" dirty="0">
              <a:solidFill>
                <a:srgbClr val="000000"/>
              </a:solidFill>
              <a:latin typeface="微软雅黑" panose="020B0503020204020204" charset="-122"/>
              <a:ea typeface="微软雅黑" panose="020B0503020204020204" charset="-122"/>
            </a:endParaRPr>
          </a:p>
        </p:txBody>
      </p:sp>
      <p:sp>
        <p:nvSpPr>
          <p:cNvPr id="114" name="Rectangle 177"/>
          <p:cNvSpPr>
            <a:spLocks noChangeArrowheads="1"/>
          </p:cNvSpPr>
          <p:nvPr/>
        </p:nvSpPr>
        <p:spPr bwMode="auto">
          <a:xfrm rot="10800000" flipH="1">
            <a:off x="6125487" y="3787876"/>
            <a:ext cx="288000" cy="1872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2.9</a:t>
            </a:r>
            <a:endParaRPr lang="en-GB" altLang="zh-CN" sz="1400" b="1" dirty="0">
              <a:solidFill>
                <a:srgbClr val="000000"/>
              </a:solidFill>
              <a:latin typeface="微软雅黑" panose="020B0503020204020204" charset="-122"/>
              <a:ea typeface="微软雅黑" panose="020B0503020204020204" charset="-122"/>
            </a:endParaRPr>
          </a:p>
        </p:txBody>
      </p:sp>
      <p:sp>
        <p:nvSpPr>
          <p:cNvPr id="115" name="TextBox 114"/>
          <p:cNvSpPr txBox="1"/>
          <p:nvPr/>
        </p:nvSpPr>
        <p:spPr bwMode="auto">
          <a:xfrm>
            <a:off x="5180878"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需求</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116" name="TextBox 115"/>
          <p:cNvSpPr txBox="1"/>
          <p:nvPr/>
        </p:nvSpPr>
        <p:spPr bwMode="auto">
          <a:xfrm>
            <a:off x="6312890" y="5333600"/>
            <a:ext cx="466794" cy="261610"/>
          </a:xfrm>
          <a:prstGeom prst="rect">
            <a:avLst/>
          </a:prstGeom>
          <a:noFill/>
          <a:ln>
            <a:noFill/>
          </a:ln>
        </p:spPr>
        <p:txBody>
          <a:bodyPr wrap="none" rtlCol="0">
            <a:spAutoFit/>
          </a:bodyPr>
          <a:lstStyle/>
          <a:p>
            <a:r>
              <a:rPr kumimoji="1" lang="zh-CN" altLang="en-US" sz="1100" b="1" dirty="0">
                <a:solidFill>
                  <a:srgbClr val="000000"/>
                </a:solidFill>
                <a:latin typeface="微软雅黑" panose="020B0503020204020204" charset="-122"/>
                <a:ea typeface="微软雅黑" panose="020B0503020204020204" charset="-122"/>
                <a:cs typeface="微软雅黑" panose="020B0503020204020204" charset="-122"/>
              </a:rPr>
              <a:t>商务</a:t>
            </a:r>
          </a:p>
        </p:txBody>
      </p:sp>
      <p:sp>
        <p:nvSpPr>
          <p:cNvPr id="117" name="Rectangle 177"/>
          <p:cNvSpPr>
            <a:spLocks noChangeArrowheads="1"/>
          </p:cNvSpPr>
          <p:nvPr/>
        </p:nvSpPr>
        <p:spPr bwMode="auto">
          <a:xfrm rot="10800000" flipH="1">
            <a:off x="6413486" y="4075876"/>
            <a:ext cx="288000" cy="1584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2.4</a:t>
            </a:r>
            <a:endParaRPr lang="en-GB" altLang="zh-CN" sz="1400" b="1" dirty="0">
              <a:solidFill>
                <a:srgbClr val="000000"/>
              </a:solidFill>
              <a:latin typeface="微软雅黑" panose="020B0503020204020204" charset="-122"/>
              <a:ea typeface="微软雅黑" panose="020B0503020204020204" charset="-122"/>
            </a:endParaRPr>
          </a:p>
        </p:txBody>
      </p:sp>
      <p:sp>
        <p:nvSpPr>
          <p:cNvPr id="118" name="TextBox 117"/>
          <p:cNvSpPr txBox="1"/>
          <p:nvPr/>
        </p:nvSpPr>
        <p:spPr bwMode="auto">
          <a:xfrm>
            <a:off x="5474976"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订单</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119" name="TextBox 118"/>
          <p:cNvSpPr txBox="1"/>
          <p:nvPr/>
        </p:nvSpPr>
        <p:spPr bwMode="auto">
          <a:xfrm>
            <a:off x="5766308"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产销</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平衡</a:t>
            </a:r>
          </a:p>
        </p:txBody>
      </p:sp>
      <p:sp>
        <p:nvSpPr>
          <p:cNvPr id="120" name="TextBox 119"/>
          <p:cNvSpPr txBox="1"/>
          <p:nvPr/>
        </p:nvSpPr>
        <p:spPr bwMode="auto">
          <a:xfrm>
            <a:off x="6052060" y="4955921"/>
            <a:ext cx="441146" cy="707886"/>
          </a:xfrm>
          <a:prstGeom prst="rect">
            <a:avLst/>
          </a:prstGeom>
          <a:noFill/>
          <a:ln>
            <a:noFill/>
          </a:ln>
        </p:spPr>
        <p:txBody>
          <a:bodyPr wrap="none" rtlCol="0">
            <a:spAutoFit/>
          </a:bodyPr>
          <a:lstStyle/>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生产</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计划</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与</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执行</a:t>
            </a:r>
          </a:p>
        </p:txBody>
      </p:sp>
      <p:sp>
        <p:nvSpPr>
          <p:cNvPr id="121" name="TextBox 120"/>
          <p:cNvSpPr txBox="1"/>
          <p:nvPr/>
        </p:nvSpPr>
        <p:spPr bwMode="auto">
          <a:xfrm>
            <a:off x="6345432" y="4955921"/>
            <a:ext cx="441146" cy="707886"/>
          </a:xfrm>
          <a:prstGeom prst="rect">
            <a:avLst/>
          </a:prstGeom>
          <a:noFill/>
          <a:ln>
            <a:noFill/>
          </a:ln>
        </p:spPr>
        <p:txBody>
          <a:bodyPr wrap="none" rtlCol="0">
            <a:spAutoFit/>
          </a:bodyPr>
          <a:lstStyle/>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零部</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件计</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划与</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交付</a:t>
            </a:r>
          </a:p>
        </p:txBody>
      </p:sp>
      <p:sp>
        <p:nvSpPr>
          <p:cNvPr id="122" name="Rectangle 177"/>
          <p:cNvSpPr>
            <a:spLocks noChangeArrowheads="1"/>
          </p:cNvSpPr>
          <p:nvPr/>
        </p:nvSpPr>
        <p:spPr bwMode="auto">
          <a:xfrm rot="10800000" flipH="1">
            <a:off x="7010063" y="4327876"/>
            <a:ext cx="288000" cy="1332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2.0</a:t>
            </a:r>
            <a:endParaRPr lang="en-GB" altLang="zh-CN" sz="1400" b="1" dirty="0">
              <a:solidFill>
                <a:srgbClr val="000000"/>
              </a:solidFill>
              <a:latin typeface="微软雅黑" panose="020B0503020204020204" charset="-122"/>
              <a:ea typeface="微软雅黑" panose="020B0503020204020204" charset="-122"/>
            </a:endParaRPr>
          </a:p>
        </p:txBody>
      </p:sp>
      <p:sp>
        <p:nvSpPr>
          <p:cNvPr id="123" name="Rectangle 177"/>
          <p:cNvSpPr>
            <a:spLocks noChangeArrowheads="1"/>
          </p:cNvSpPr>
          <p:nvPr/>
        </p:nvSpPr>
        <p:spPr bwMode="auto">
          <a:xfrm rot="10800000" flipH="1">
            <a:off x="7298063" y="4111876"/>
            <a:ext cx="288000" cy="1548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2.4</a:t>
            </a:r>
            <a:endParaRPr lang="en-GB" altLang="zh-CN" sz="1400" b="1" dirty="0">
              <a:solidFill>
                <a:srgbClr val="000000"/>
              </a:solidFill>
              <a:latin typeface="微软雅黑" panose="020B0503020204020204" charset="-122"/>
              <a:ea typeface="微软雅黑" panose="020B0503020204020204" charset="-122"/>
            </a:endParaRPr>
          </a:p>
        </p:txBody>
      </p:sp>
      <p:sp>
        <p:nvSpPr>
          <p:cNvPr id="124" name="Rectangle 177"/>
          <p:cNvSpPr>
            <a:spLocks noChangeArrowheads="1"/>
          </p:cNvSpPr>
          <p:nvPr/>
        </p:nvSpPr>
        <p:spPr bwMode="auto">
          <a:xfrm rot="10800000" flipH="1">
            <a:off x="7586063" y="4183876"/>
            <a:ext cx="288000" cy="1476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2.3</a:t>
            </a:r>
            <a:endParaRPr lang="en-GB" altLang="zh-CN" sz="1400" b="1" dirty="0">
              <a:solidFill>
                <a:srgbClr val="000000"/>
              </a:solidFill>
              <a:latin typeface="微软雅黑" panose="020B0503020204020204" charset="-122"/>
              <a:ea typeface="微软雅黑" panose="020B0503020204020204" charset="-122"/>
            </a:endParaRPr>
          </a:p>
        </p:txBody>
      </p:sp>
      <p:sp>
        <p:nvSpPr>
          <p:cNvPr id="125" name="Rectangle 177"/>
          <p:cNvSpPr>
            <a:spLocks noChangeArrowheads="1"/>
          </p:cNvSpPr>
          <p:nvPr/>
        </p:nvSpPr>
        <p:spPr bwMode="auto">
          <a:xfrm rot="10800000" flipH="1">
            <a:off x="7874063" y="4039876"/>
            <a:ext cx="288000" cy="1620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2.5</a:t>
            </a:r>
            <a:endParaRPr lang="en-GB" altLang="zh-CN" sz="1400" b="1" dirty="0">
              <a:solidFill>
                <a:srgbClr val="000000"/>
              </a:solidFill>
              <a:latin typeface="微软雅黑" panose="020B0503020204020204" charset="-122"/>
              <a:ea typeface="微软雅黑" panose="020B0503020204020204" charset="-122"/>
            </a:endParaRPr>
          </a:p>
        </p:txBody>
      </p:sp>
      <p:sp>
        <p:nvSpPr>
          <p:cNvPr id="126" name="TextBox 125"/>
          <p:cNvSpPr txBox="1"/>
          <p:nvPr/>
        </p:nvSpPr>
        <p:spPr bwMode="auto">
          <a:xfrm>
            <a:off x="6929454"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需求</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127" name="TextBox 126"/>
          <p:cNvSpPr txBox="1"/>
          <p:nvPr/>
        </p:nvSpPr>
        <p:spPr bwMode="auto">
          <a:xfrm>
            <a:off x="8061466" y="5333600"/>
            <a:ext cx="466794" cy="261610"/>
          </a:xfrm>
          <a:prstGeom prst="rect">
            <a:avLst/>
          </a:prstGeom>
          <a:noFill/>
          <a:ln>
            <a:noFill/>
          </a:ln>
        </p:spPr>
        <p:txBody>
          <a:bodyPr wrap="none" rtlCol="0">
            <a:spAutoFit/>
          </a:bodyPr>
          <a:lstStyle/>
          <a:p>
            <a:r>
              <a:rPr kumimoji="1" lang="zh-CN" altLang="en-US" sz="1100" b="1" dirty="0">
                <a:solidFill>
                  <a:srgbClr val="000000"/>
                </a:solidFill>
                <a:latin typeface="微软雅黑" panose="020B0503020204020204" charset="-122"/>
                <a:ea typeface="微软雅黑" panose="020B0503020204020204" charset="-122"/>
                <a:cs typeface="微软雅黑" panose="020B0503020204020204" charset="-122"/>
              </a:rPr>
              <a:t>商务</a:t>
            </a:r>
          </a:p>
        </p:txBody>
      </p:sp>
      <p:sp>
        <p:nvSpPr>
          <p:cNvPr id="128" name="Rectangle 177"/>
          <p:cNvSpPr>
            <a:spLocks noChangeArrowheads="1"/>
          </p:cNvSpPr>
          <p:nvPr/>
        </p:nvSpPr>
        <p:spPr bwMode="auto">
          <a:xfrm rot="10800000" flipH="1">
            <a:off x="8162062" y="4291876"/>
            <a:ext cx="288000" cy="1368000"/>
          </a:xfrm>
          <a:prstGeom prst="rect">
            <a:avLst/>
          </a:prstGeom>
          <a:solidFill>
            <a:schemeClr val="accent1">
              <a:lumMod val="20000"/>
              <a:lumOff val="80000"/>
            </a:schemeClr>
          </a:solidFill>
          <a:ln w="6350">
            <a:solidFill>
              <a:schemeClr val="tx1"/>
            </a:solidFill>
            <a:miter lim="800000"/>
          </a:ln>
        </p:spPr>
        <p:txBody>
          <a:bodyPr rot="10800000" wrap="none" anchorCtr="1"/>
          <a:lstStyle/>
          <a:p>
            <a:pPr algn="ctr" eaLnBrk="0" hangingPunct="0">
              <a:spcBef>
                <a:spcPct val="50000"/>
              </a:spcBef>
            </a:pPr>
            <a:r>
              <a:rPr lang="en-US" altLang="zh-CN" sz="1400" b="1" dirty="0">
                <a:solidFill>
                  <a:srgbClr val="000000"/>
                </a:solidFill>
                <a:latin typeface="微软雅黑" panose="020B0503020204020204" charset="-122"/>
                <a:ea typeface="微软雅黑" panose="020B0503020204020204" charset="-122"/>
              </a:rPr>
              <a:t>2.1</a:t>
            </a:r>
            <a:endParaRPr lang="en-GB" altLang="zh-CN" sz="1400" b="1" dirty="0">
              <a:solidFill>
                <a:srgbClr val="000000"/>
              </a:solidFill>
              <a:latin typeface="微软雅黑" panose="020B0503020204020204" charset="-122"/>
              <a:ea typeface="微软雅黑" panose="020B0503020204020204" charset="-122"/>
            </a:endParaRPr>
          </a:p>
        </p:txBody>
      </p:sp>
      <p:sp>
        <p:nvSpPr>
          <p:cNvPr id="129" name="TextBox 128"/>
          <p:cNvSpPr txBox="1"/>
          <p:nvPr/>
        </p:nvSpPr>
        <p:spPr bwMode="auto">
          <a:xfrm>
            <a:off x="7223552"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订单</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管理</a:t>
            </a:r>
          </a:p>
        </p:txBody>
      </p:sp>
      <p:sp>
        <p:nvSpPr>
          <p:cNvPr id="130" name="TextBox 129"/>
          <p:cNvSpPr txBox="1"/>
          <p:nvPr/>
        </p:nvSpPr>
        <p:spPr bwMode="auto">
          <a:xfrm>
            <a:off x="7514884" y="5263697"/>
            <a:ext cx="441146" cy="400110"/>
          </a:xfrm>
          <a:prstGeom prst="rect">
            <a:avLst/>
          </a:prstGeom>
          <a:noFill/>
          <a:ln>
            <a:noFill/>
          </a:ln>
        </p:spPr>
        <p:txBody>
          <a:bodyPr wrap="none" rtlCol="0">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产销</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平衡</a:t>
            </a:r>
          </a:p>
        </p:txBody>
      </p:sp>
      <p:sp>
        <p:nvSpPr>
          <p:cNvPr id="131" name="TextBox 130"/>
          <p:cNvSpPr txBox="1"/>
          <p:nvPr/>
        </p:nvSpPr>
        <p:spPr bwMode="auto">
          <a:xfrm>
            <a:off x="7800636" y="4955921"/>
            <a:ext cx="441146" cy="707886"/>
          </a:xfrm>
          <a:prstGeom prst="rect">
            <a:avLst/>
          </a:prstGeom>
          <a:noFill/>
          <a:ln>
            <a:noFill/>
          </a:ln>
        </p:spPr>
        <p:txBody>
          <a:bodyPr wrap="none" rtlCol="0">
            <a:spAutoFit/>
          </a:bodyPr>
          <a:lstStyle/>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生产</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计划</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与</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执行</a:t>
            </a:r>
          </a:p>
        </p:txBody>
      </p:sp>
      <p:sp>
        <p:nvSpPr>
          <p:cNvPr id="132" name="TextBox 131"/>
          <p:cNvSpPr txBox="1"/>
          <p:nvPr/>
        </p:nvSpPr>
        <p:spPr bwMode="auto">
          <a:xfrm>
            <a:off x="8094008" y="4955921"/>
            <a:ext cx="441146" cy="707886"/>
          </a:xfrm>
          <a:prstGeom prst="rect">
            <a:avLst/>
          </a:prstGeom>
          <a:noFill/>
          <a:ln>
            <a:noFill/>
          </a:ln>
        </p:spPr>
        <p:txBody>
          <a:bodyPr wrap="none" rtlCol="0">
            <a:spAutoFit/>
          </a:bodyPr>
          <a:lstStyle/>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零部</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件计</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划与</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交付</a:t>
            </a:r>
          </a:p>
        </p:txBody>
      </p:sp>
      <p:sp>
        <p:nvSpPr>
          <p:cNvPr id="34" name="Line 77"/>
          <p:cNvSpPr>
            <a:spLocks noChangeShapeType="1"/>
          </p:cNvSpPr>
          <p:nvPr/>
        </p:nvSpPr>
        <p:spPr bwMode="auto">
          <a:xfrm>
            <a:off x="1551597" y="5664469"/>
            <a:ext cx="7177087" cy="0"/>
          </a:xfrm>
          <a:prstGeom prst="line">
            <a:avLst/>
          </a:prstGeom>
          <a:noFill/>
          <a:ln w="19050">
            <a:solidFill>
              <a:schemeClr val="tx1"/>
            </a:solidFill>
            <a:round/>
          </a:ln>
        </p:spPr>
        <p:txBody>
          <a:bodyPr>
            <a:spAutoFit/>
          </a:bodyPr>
          <a:lstStyle/>
          <a:p>
            <a:endParaRPr lang="zh-CN" altLang="en-US"/>
          </a:p>
        </p:txBody>
      </p:sp>
      <p:sp>
        <p:nvSpPr>
          <p:cNvPr id="70" name="TextBox 69"/>
          <p:cNvSpPr txBox="1"/>
          <p:nvPr/>
        </p:nvSpPr>
        <p:spPr>
          <a:xfrm>
            <a:off x="7579556" y="3681095"/>
            <a:ext cx="995785"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平均值</a:t>
            </a:r>
            <a:r>
              <a:rPr lang="en-US" altLang="zh-CN" sz="1200" b="1" dirty="0">
                <a:solidFill>
                  <a:srgbClr val="0000FF"/>
                </a:solidFill>
                <a:latin typeface="微软雅黑" panose="020B0503020204020204" charset="-122"/>
                <a:ea typeface="微软雅黑" panose="020B0503020204020204" charset="-122"/>
              </a:rPr>
              <a:t>=2.7</a:t>
            </a:r>
            <a:endParaRPr lang="zh-CN" altLang="en-US" sz="1200" b="1" dirty="0">
              <a:solidFill>
                <a:srgbClr val="0000FF"/>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从管理维度看各具体业务领域成熟度</a:t>
            </a:r>
            <a:endParaRPr lang="en-US" dirty="0"/>
          </a:p>
        </p:txBody>
      </p:sp>
      <p:graphicFrame>
        <p:nvGraphicFramePr>
          <p:cNvPr id="3" name="Chart 2"/>
          <p:cNvGraphicFramePr/>
          <p:nvPr/>
        </p:nvGraphicFramePr>
        <p:xfrm>
          <a:off x="251520" y="2492896"/>
          <a:ext cx="8568952" cy="4176464"/>
        </p:xfrm>
        <a:graphic>
          <a:graphicData uri="http://schemas.openxmlformats.org/drawingml/2006/chart">
            <c:chart xmlns:c="http://schemas.openxmlformats.org/drawingml/2006/chart" xmlns:r="http://schemas.openxmlformats.org/officeDocument/2006/relationships" r:id="rId3"/>
          </a:graphicData>
        </a:graphic>
      </p:graphicFrame>
      <p:sp>
        <p:nvSpPr>
          <p:cNvPr id="6" name="圆角矩形 78"/>
          <p:cNvSpPr/>
          <p:nvPr/>
        </p:nvSpPr>
        <p:spPr bwMode="auto">
          <a:xfrm>
            <a:off x="357158" y="1071546"/>
            <a:ext cx="8358246" cy="1421350"/>
          </a:xfrm>
          <a:prstGeom prst="roundRect">
            <a:avLst>
              <a:gd name="adj" fmla="val 0"/>
            </a:avLst>
          </a:prstGeom>
          <a:solidFill>
            <a:srgbClr val="FFFFFF">
              <a:lumMod val="95000"/>
            </a:srgbClr>
          </a:solidFill>
          <a:ln>
            <a:noFill/>
          </a:ln>
        </p:spPr>
        <p:txBody>
          <a:bodyPr lIns="91413" tIns="46800" rIns="108000" bIns="46800" anchor="ctr"/>
          <a:lstStyle/>
          <a:p>
            <a:pPr marL="0" marR="0" lvl="0" indent="0" defTabSz="914400" eaLnBrk="1" fontAlgn="auto" latinLnBrk="0" hangingPunct="1">
              <a:lnSpc>
                <a:spcPct val="100000"/>
              </a:lnSpc>
              <a:buClrTx/>
              <a:buSzTx/>
              <a:buFont typeface="Wingdings" panose="05000000000000000000" pitchFamily="2" charset="2"/>
              <a:buChar char="u"/>
              <a:defRPr/>
            </a:pP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 </a:t>
            </a:r>
            <a:r>
              <a:rPr lang="zh-CN" altLang="en-US" sz="1400" b="1" kern="0" dirty="0">
                <a:solidFill>
                  <a:srgbClr val="C2C6E6">
                    <a:lumMod val="50000"/>
                  </a:srgbClr>
                </a:solidFill>
                <a:latin typeface="微软雅黑" panose="020B0503020204020204" charset="-122"/>
                <a:ea typeface="微软雅黑" panose="020B0503020204020204" charset="-122"/>
              </a:rPr>
              <a:t>整体来看，管理领域中，</a:t>
            </a: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组织与流程较好，绩效与</a:t>
            </a:r>
            <a:r>
              <a:rPr kumimoji="0" lang="en-US" altLang="zh-CN"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IT</a:t>
            </a:r>
            <a:r>
              <a:rPr lang="zh-CN" altLang="en-US" sz="1400" b="1" kern="0" dirty="0">
                <a:solidFill>
                  <a:srgbClr val="C2C6E6">
                    <a:lumMod val="50000"/>
                  </a:srgbClr>
                </a:solidFill>
                <a:latin typeface="微软雅黑" panose="020B0503020204020204" charset="-122"/>
                <a:ea typeface="微软雅黑" panose="020B0503020204020204" charset="-122"/>
              </a:rPr>
              <a:t>较为薄弱；</a:t>
            </a:r>
            <a:endParaRPr lang="en-US" altLang="zh-CN" sz="1400" b="1" kern="0" dirty="0">
              <a:solidFill>
                <a:srgbClr val="C2C6E6">
                  <a:lumMod val="50000"/>
                </a:srgbClr>
              </a:solidFill>
              <a:latin typeface="微软雅黑" panose="020B0503020204020204" charset="-122"/>
              <a:ea typeface="微软雅黑" panose="020B0503020204020204" charset="-122"/>
            </a:endParaRPr>
          </a:p>
          <a:p>
            <a:pPr marL="0" marR="0" lvl="0" indent="0" defTabSz="914400" eaLnBrk="1" fontAlgn="auto" latinLnBrk="0" hangingPunct="1">
              <a:lnSpc>
                <a:spcPct val="100000"/>
              </a:lnSpc>
              <a:spcAft>
                <a:spcPts val="300"/>
              </a:spcAft>
              <a:buClrTx/>
              <a:buSzTx/>
              <a:buFont typeface="Wingdings" panose="05000000000000000000" pitchFamily="2" charset="2"/>
              <a:buChar char="u"/>
              <a:defRPr/>
            </a:pPr>
            <a:r>
              <a:rPr lang="en-US" altLang="zh-CN" sz="1400" b="1" kern="0" dirty="0">
                <a:solidFill>
                  <a:srgbClr val="C2C6E6">
                    <a:lumMod val="50000"/>
                  </a:srgbClr>
                </a:solidFill>
                <a:latin typeface="微软雅黑" panose="020B0503020204020204" charset="-122"/>
                <a:ea typeface="微软雅黑" panose="020B0503020204020204" charset="-122"/>
              </a:rPr>
              <a:t> </a:t>
            </a:r>
            <a:r>
              <a:rPr lang="zh-CN" altLang="en-US" sz="1400" b="1" kern="0" dirty="0">
                <a:solidFill>
                  <a:srgbClr val="C2C6E6">
                    <a:lumMod val="50000"/>
                  </a:srgbClr>
                </a:solidFill>
                <a:latin typeface="微软雅黑" panose="020B0503020204020204" charset="-122"/>
                <a:ea typeface="微软雅黑" panose="020B0503020204020204" charset="-122"/>
              </a:rPr>
              <a:t>业务领域中，集成计划与制造物流环节较好，需求管理、订单管理及零部件管理较为薄弱</a:t>
            </a:r>
            <a:endParaRPr kumimoji="0" lang="en-US" altLang="zh-CN"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endParaRPr>
          </a:p>
          <a:p>
            <a:pPr marL="171450" marR="0" lvl="0" indent="8255" defTabSz="914400" eaLnBrk="1" fontAlgn="auto" latinLnBrk="0" hangingPunct="1">
              <a:lnSpc>
                <a:spcPct val="100000"/>
              </a:lnSpc>
              <a:spcBef>
                <a:spcPts val="0"/>
              </a:spcBef>
              <a:spcAft>
                <a:spcPts val="0"/>
              </a:spcAft>
              <a:buClrTx/>
              <a:buSzTx/>
              <a:buFont typeface="Wingdings" panose="05000000000000000000" pitchFamily="2" charset="2"/>
              <a:buChar char="§"/>
              <a:defRPr/>
            </a:pPr>
            <a:r>
              <a:rPr lang="zh-CN" altLang="en-US" sz="1200" kern="0" dirty="0">
                <a:solidFill>
                  <a:srgbClr val="C2C6E6">
                    <a:lumMod val="50000"/>
                  </a:srgbClr>
                </a:solidFill>
                <a:latin typeface="微软雅黑" panose="020B0503020204020204" charset="-122"/>
                <a:ea typeface="微软雅黑" panose="020B0503020204020204" charset="-122"/>
              </a:rPr>
              <a:t>从</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维度看，国际需求计划及零部件领域较为薄弱</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marR="0" lvl="0" indent="8255" defTabSz="91440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zh-CN" altLang="en-US" sz="1200"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从绩效维度看，国际需求计划与零部件交付较为薄弱</a:t>
            </a:r>
            <a:endParaRPr kumimoji="0" lang="en-US" altLang="zh-CN" sz="1200"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endParaRPr>
          </a:p>
          <a:p>
            <a:pPr marL="171450" marR="0" lvl="0" indent="8255" defTabSz="914400" eaLnBrk="1" fontAlgn="auto" latinLnBrk="0" hangingPunct="1">
              <a:lnSpc>
                <a:spcPct val="100000"/>
              </a:lnSpc>
              <a:spcBef>
                <a:spcPts val="0"/>
              </a:spcBef>
              <a:spcAft>
                <a:spcPts val="0"/>
              </a:spcAft>
              <a:buClrTx/>
              <a:buSzTx/>
              <a:buFont typeface="Wingdings" panose="05000000000000000000" pitchFamily="2" charset="2"/>
              <a:buChar char="§"/>
              <a:defRPr/>
            </a:pPr>
            <a:r>
              <a:rPr lang="zh-CN" altLang="en-US" sz="1200" kern="0" dirty="0">
                <a:solidFill>
                  <a:srgbClr val="C2C6E6">
                    <a:lumMod val="50000"/>
                  </a:srgbClr>
                </a:solidFill>
                <a:latin typeface="微软雅黑" panose="020B0503020204020204" charset="-122"/>
                <a:ea typeface="微软雅黑" panose="020B0503020204020204" charset="-122"/>
              </a:rPr>
              <a:t>从流程维度看，国际需求及订单管理较为薄弱</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marR="0" lvl="0" indent="8255" defTabSz="91440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zh-CN" altLang="en-US" sz="1200"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从组织维度看，国际需求及订单管理较为薄弱</a:t>
            </a:r>
          </a:p>
        </p:txBody>
      </p:sp>
      <p:sp>
        <p:nvSpPr>
          <p:cNvPr id="7" name="Oval 6"/>
          <p:cNvSpPr/>
          <p:nvPr/>
        </p:nvSpPr>
        <p:spPr bwMode="auto">
          <a:xfrm>
            <a:off x="1475656" y="4653136"/>
            <a:ext cx="576064" cy="432048"/>
          </a:xfrm>
          <a:prstGeom prst="ellipse">
            <a:avLst/>
          </a:prstGeom>
          <a:noFill/>
          <a:ln w="9525" cap="flat" cmpd="sng" algn="ctr">
            <a:solidFill>
              <a:schemeClr val="accent6">
                <a:lumMod val="75000"/>
              </a:schemeClr>
            </a:solidFill>
            <a:prstDash val="solid"/>
            <a:round/>
            <a:headEnd type="none" w="med" len="med"/>
            <a:tailEnd type="none"/>
          </a:ln>
          <a:effectLst/>
        </p:spPr>
        <p:txBody>
          <a:bodyPr rtlCol="0" anchor="ctr"/>
          <a:lstStyle/>
          <a:p>
            <a:pPr algn="ctr"/>
            <a:endParaRPr lang="en-US"/>
          </a:p>
        </p:txBody>
      </p:sp>
      <p:sp>
        <p:nvSpPr>
          <p:cNvPr id="8" name="Oval 7"/>
          <p:cNvSpPr/>
          <p:nvPr/>
        </p:nvSpPr>
        <p:spPr bwMode="auto">
          <a:xfrm>
            <a:off x="6588224" y="4293096"/>
            <a:ext cx="2016224" cy="432048"/>
          </a:xfrm>
          <a:prstGeom prst="ellipse">
            <a:avLst/>
          </a:prstGeom>
          <a:noFill/>
          <a:ln w="9525" cap="flat" cmpd="sng" algn="ctr">
            <a:solidFill>
              <a:schemeClr val="accent6">
                <a:lumMod val="75000"/>
              </a:schemeClr>
            </a:solidFill>
            <a:prstDash val="solid"/>
            <a:round/>
            <a:headEnd type="none" w="med" len="med"/>
            <a:tailEnd type="none"/>
          </a:ln>
          <a:effectLst/>
        </p:spPr>
        <p:txBody>
          <a:bodyPr rtlCol="0" anchor="ctr"/>
          <a:lstStyle/>
          <a:p>
            <a:pPr algn="ctr"/>
            <a:endParaRPr lang="en-US"/>
          </a:p>
        </p:txBody>
      </p:sp>
      <p:sp>
        <p:nvSpPr>
          <p:cNvPr id="9" name="Oval 8"/>
          <p:cNvSpPr/>
          <p:nvPr/>
        </p:nvSpPr>
        <p:spPr bwMode="auto">
          <a:xfrm>
            <a:off x="7956376" y="4005064"/>
            <a:ext cx="576064" cy="432048"/>
          </a:xfrm>
          <a:prstGeom prst="ellipse">
            <a:avLst/>
          </a:prstGeom>
          <a:noFill/>
          <a:ln w="9525" cap="flat" cmpd="sng" algn="ctr">
            <a:solidFill>
              <a:schemeClr val="accent6">
                <a:lumMod val="75000"/>
              </a:schemeClr>
            </a:solidFill>
            <a:prstDash val="solid"/>
            <a:round/>
            <a:headEnd type="none" w="med" len="med"/>
            <a:tailEnd type="none"/>
          </a:ln>
          <a:effectLst/>
        </p:spPr>
        <p:txBody>
          <a:bodyPr rtlCol="0" anchor="ctr"/>
          <a:lstStyle/>
          <a:p>
            <a:pPr algn="ctr"/>
            <a:endParaRPr lang="en-US"/>
          </a:p>
        </p:txBody>
      </p:sp>
      <p:sp>
        <p:nvSpPr>
          <p:cNvPr id="11" name="Oval 10"/>
          <p:cNvSpPr/>
          <p:nvPr/>
        </p:nvSpPr>
        <p:spPr bwMode="auto">
          <a:xfrm>
            <a:off x="1475656" y="3933056"/>
            <a:ext cx="576064" cy="432048"/>
          </a:xfrm>
          <a:prstGeom prst="ellipse">
            <a:avLst/>
          </a:prstGeom>
          <a:noFill/>
          <a:ln w="9525" cap="flat" cmpd="sng" algn="ctr">
            <a:solidFill>
              <a:schemeClr val="accent6">
                <a:lumMod val="75000"/>
              </a:schemeClr>
            </a:solidFill>
            <a:prstDash val="solid"/>
            <a:round/>
            <a:headEnd type="none" w="med" len="med"/>
            <a:tailEnd type="none"/>
          </a:ln>
          <a:effectLst/>
        </p:spPr>
        <p:txBody>
          <a:bodyPr rtlCol="0" anchor="ctr"/>
          <a:lstStyle/>
          <a:p>
            <a:pPr algn="ctr"/>
            <a:endParaRPr lang="en-US"/>
          </a:p>
        </p:txBody>
      </p:sp>
      <p:sp>
        <p:nvSpPr>
          <p:cNvPr id="12" name="Oval 11"/>
          <p:cNvSpPr/>
          <p:nvPr/>
        </p:nvSpPr>
        <p:spPr bwMode="auto">
          <a:xfrm>
            <a:off x="2987824" y="3573016"/>
            <a:ext cx="576064" cy="648072"/>
          </a:xfrm>
          <a:prstGeom prst="ellipse">
            <a:avLst/>
          </a:prstGeom>
          <a:noFill/>
          <a:ln w="9525" cap="flat" cmpd="sng" algn="ctr">
            <a:solidFill>
              <a:schemeClr val="accent6">
                <a:lumMod val="75000"/>
              </a:schemeClr>
            </a:solidFill>
            <a:prstDash val="solid"/>
            <a:round/>
            <a:headEnd type="none" w="med" len="med"/>
            <a:tailEnd type="none"/>
          </a:ln>
          <a:effectLst/>
        </p:spPr>
        <p:txBody>
          <a:bodyPr rtlCol="0" anchor="ctr"/>
          <a:lstStyle/>
          <a:p>
            <a:pPr algn="ctr"/>
            <a:endParaRPr lang="en-US"/>
          </a:p>
        </p:txBody>
      </p:sp>
      <p:sp>
        <p:nvSpPr>
          <p:cNvPr id="13" name="Oval 12"/>
          <p:cNvSpPr/>
          <p:nvPr/>
        </p:nvSpPr>
        <p:spPr bwMode="auto">
          <a:xfrm>
            <a:off x="1547664" y="3356992"/>
            <a:ext cx="576064" cy="648072"/>
          </a:xfrm>
          <a:prstGeom prst="ellipse">
            <a:avLst/>
          </a:prstGeom>
          <a:noFill/>
          <a:ln w="9525" cap="flat" cmpd="sng" algn="ctr">
            <a:solidFill>
              <a:schemeClr val="accent6">
                <a:lumMod val="75000"/>
              </a:schemeClr>
            </a:solidFill>
            <a:prstDash val="solid"/>
            <a:round/>
            <a:headEnd type="none" w="med" len="med"/>
            <a:tailEnd type="none"/>
          </a:ln>
          <a:effectLst/>
        </p:spPr>
        <p:txBody>
          <a:bodyPr rtlCol="0" anchor="ctr"/>
          <a:lstStyle/>
          <a:p>
            <a:pPr algn="ctr"/>
            <a:endParaRPr lang="en-US"/>
          </a:p>
        </p:txBody>
      </p:sp>
      <p:sp>
        <p:nvSpPr>
          <p:cNvPr id="14" name="TextBox 54"/>
          <p:cNvSpPr txBox="1">
            <a:spLocks noChangeArrowheads="1"/>
          </p:cNvSpPr>
          <p:nvPr/>
        </p:nvSpPr>
        <p:spPr bwMode="auto">
          <a:xfrm>
            <a:off x="350838" y="6453336"/>
            <a:ext cx="458660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来源：x重机集成计划体系业务成熟度内部问卷调研（</a:t>
            </a:r>
            <a:r>
              <a:rPr lang="en-US" altLang="zh-CN" sz="1000" i="1" dirty="0">
                <a:latin typeface="微软雅黑" panose="020B0503020204020204" charset="-122"/>
                <a:ea typeface="微软雅黑" panose="020B0503020204020204" charset="-122"/>
              </a:rPr>
              <a:t>35</a:t>
            </a:r>
            <a:r>
              <a:rPr lang="zh-CN" altLang="en-US" sz="1000" i="1" dirty="0">
                <a:latin typeface="微软雅黑" panose="020B0503020204020204" charset="-122"/>
                <a:ea typeface="微软雅黑" panose="020B0503020204020204" charset="-122"/>
              </a:rPr>
              <a:t>份样本），项目组分析</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营销领域成熟度分析</a:t>
            </a:r>
            <a:endParaRPr lang="en-US" dirty="0"/>
          </a:p>
        </p:txBody>
      </p:sp>
      <p:graphicFrame>
        <p:nvGraphicFramePr>
          <p:cNvPr id="6" name="Chart 5"/>
          <p:cNvGraphicFramePr/>
          <p:nvPr/>
        </p:nvGraphicFramePr>
        <p:xfrm>
          <a:off x="395536" y="2564904"/>
          <a:ext cx="7920880" cy="3888432"/>
        </p:xfrm>
        <a:graphic>
          <a:graphicData uri="http://schemas.openxmlformats.org/drawingml/2006/chart">
            <c:chart xmlns:c="http://schemas.openxmlformats.org/drawingml/2006/chart" xmlns:r="http://schemas.openxmlformats.org/officeDocument/2006/relationships" r:id="rId2"/>
          </a:graphicData>
        </a:graphic>
      </p:graphicFrame>
      <p:sp>
        <p:nvSpPr>
          <p:cNvPr id="16" name="圆角矩形 78"/>
          <p:cNvSpPr/>
          <p:nvPr/>
        </p:nvSpPr>
        <p:spPr bwMode="auto">
          <a:xfrm>
            <a:off x="357158" y="1071546"/>
            <a:ext cx="8358246" cy="1349342"/>
          </a:xfrm>
          <a:prstGeom prst="roundRect">
            <a:avLst>
              <a:gd name="adj" fmla="val 0"/>
            </a:avLst>
          </a:prstGeom>
          <a:solidFill>
            <a:srgbClr val="FFFFFF">
              <a:lumMod val="95000"/>
            </a:srgbClr>
          </a:solidFill>
          <a:ln>
            <a:noFill/>
          </a:ln>
        </p:spPr>
        <p:txBody>
          <a:bodyPr lIns="91413" tIns="45706" rIns="91413" bIns="45706" anchor="t"/>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 </a:t>
            </a:r>
            <a:r>
              <a:rPr lang="zh-CN" altLang="en-US" sz="1400" b="1" kern="0" noProof="0" dirty="0">
                <a:solidFill>
                  <a:srgbClr val="C2C6E6">
                    <a:lumMod val="50000"/>
                  </a:srgbClr>
                </a:solidFill>
                <a:latin typeface="微软雅黑" panose="020B0503020204020204" charset="-122"/>
                <a:ea typeface="微软雅黑" panose="020B0503020204020204" charset="-122"/>
              </a:rPr>
              <a:t>从管理维度看，组织及流程环节较好，绩效环节次之，</a:t>
            </a:r>
            <a:r>
              <a:rPr lang="en-US" altLang="zh-CN" sz="1400" b="1" kern="0" noProof="0" dirty="0">
                <a:solidFill>
                  <a:srgbClr val="C2C6E6">
                    <a:lumMod val="50000"/>
                  </a:srgbClr>
                </a:solidFill>
                <a:latin typeface="微软雅黑" panose="020B0503020204020204" charset="-122"/>
                <a:ea typeface="微软雅黑" panose="020B0503020204020204" charset="-122"/>
              </a:rPr>
              <a:t>IT</a:t>
            </a:r>
            <a:r>
              <a:rPr lang="zh-CN" altLang="en-US" sz="1400" b="1" kern="0" dirty="0">
                <a:solidFill>
                  <a:srgbClr val="C2C6E6">
                    <a:lumMod val="50000"/>
                  </a:srgbClr>
                </a:solidFill>
                <a:latin typeface="微软雅黑" panose="020B0503020204020204" charset="-122"/>
                <a:ea typeface="微软雅黑" panose="020B0503020204020204" charset="-122"/>
              </a:rPr>
              <a:t>环节</a:t>
            </a:r>
            <a:r>
              <a:rPr lang="zh-CN" altLang="en-US" sz="1400" b="1" kern="0" noProof="0" dirty="0">
                <a:solidFill>
                  <a:srgbClr val="C2C6E6">
                    <a:lumMod val="50000"/>
                  </a:srgbClr>
                </a:solidFill>
                <a:latin typeface="微软雅黑" panose="020B0503020204020204" charset="-122"/>
                <a:ea typeface="微软雅黑" panose="020B0503020204020204" charset="-122"/>
              </a:rPr>
              <a:t>较为薄弱</a:t>
            </a:r>
            <a:endParaRPr lang="en-US" altLang="zh-CN" sz="1400" b="1" kern="0" noProof="0" dirty="0">
              <a:solidFill>
                <a:srgbClr val="C2C6E6">
                  <a:lumMod val="50000"/>
                </a:srgbClr>
              </a:solidFill>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300"/>
              </a:spcAft>
              <a:buClrTx/>
              <a:buSzTx/>
              <a:buFont typeface="Wingdings" panose="05000000000000000000" pitchFamily="2" charset="2"/>
              <a:buChar char="u"/>
              <a:defRPr/>
            </a:pPr>
            <a:r>
              <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 </a:t>
            </a:r>
            <a:r>
              <a:rPr kumimoji="0" lang="zh-CN" altLang="en-US"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从业务领域看，国内需求计划及订单管理较好，国际需求计划较为薄弱</a:t>
            </a: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171450" lvl="0" indent="8255">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国内需求计划领域，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评估在营销领域整体平均水平以下</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lvl="0" indent="8255">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国际需求计划领域，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、组织、流程、绩效均在平均水平以下</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indent="8255">
              <a:buFont typeface="Wingdings" panose="05000000000000000000" pitchFamily="2" charset="2"/>
              <a:buChar char="§"/>
              <a:defRPr/>
            </a:pPr>
            <a:r>
              <a:rPr lang="en-US" altLang="zh-CN" sz="1200" b="1"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国内订单管理领域，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评估在营销领域平均水平以下</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lvl="0" indent="8255">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国际订单管理领域，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、流程、绩效均在平均水平以下</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indent="-171450">
              <a:buFont typeface="Wingdings" panose="05000000000000000000" pitchFamily="2" charset="2"/>
              <a:buChar char="§"/>
              <a:defRPr/>
            </a:pP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lvl="0" indent="-171450">
              <a:buFont typeface="Wingdings" panose="05000000000000000000" pitchFamily="2" charset="2"/>
              <a:buChar char="§"/>
              <a:defRPr/>
            </a:pP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endPar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endParaRPr>
          </a:p>
        </p:txBody>
      </p:sp>
      <p:cxnSp>
        <p:nvCxnSpPr>
          <p:cNvPr id="17" name="直接连接符 52"/>
          <p:cNvCxnSpPr>
            <a:cxnSpLocks noChangeShapeType="1"/>
          </p:cNvCxnSpPr>
          <p:nvPr/>
        </p:nvCxnSpPr>
        <p:spPr bwMode="auto">
          <a:xfrm>
            <a:off x="827584" y="4232121"/>
            <a:ext cx="7920880" cy="0"/>
          </a:xfrm>
          <a:prstGeom prst="line">
            <a:avLst/>
          </a:prstGeom>
          <a:noFill/>
          <a:ln w="19050" algn="ctr">
            <a:solidFill>
              <a:srgbClr val="0000FF"/>
            </a:solidFill>
            <a:prstDash val="dash"/>
            <a:round/>
          </a:ln>
        </p:spPr>
      </p:cxnSp>
      <p:sp>
        <p:nvSpPr>
          <p:cNvPr id="22" name="TextBox 21"/>
          <p:cNvSpPr txBox="1"/>
          <p:nvPr/>
        </p:nvSpPr>
        <p:spPr>
          <a:xfrm>
            <a:off x="7380312" y="4232121"/>
            <a:ext cx="1649535"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营销领域平均值＝</a:t>
            </a:r>
            <a:r>
              <a:rPr lang="en-US" altLang="zh-CN" sz="1200" b="1" dirty="0">
                <a:solidFill>
                  <a:srgbClr val="0000FF"/>
                </a:solidFill>
                <a:latin typeface="微软雅黑" panose="020B0503020204020204" charset="-122"/>
                <a:ea typeface="微软雅黑" panose="020B0503020204020204" charset="-122"/>
              </a:rPr>
              <a:t>2.6</a:t>
            </a:r>
            <a:endParaRPr lang="zh-CN" altLang="en-US" sz="1200" b="1" dirty="0">
              <a:solidFill>
                <a:srgbClr val="0000FF"/>
              </a:solidFill>
              <a:latin typeface="微软雅黑" panose="020B0503020204020204" charset="-122"/>
              <a:ea typeface="微软雅黑" panose="020B0503020204020204" charset="-122"/>
            </a:endParaRPr>
          </a:p>
        </p:txBody>
      </p:sp>
      <p:cxnSp>
        <p:nvCxnSpPr>
          <p:cNvPr id="23" name="直接连接符 5"/>
          <p:cNvCxnSpPr>
            <a:cxnSpLocks noChangeShapeType="1"/>
          </p:cNvCxnSpPr>
          <p:nvPr/>
        </p:nvCxnSpPr>
        <p:spPr bwMode="auto">
          <a:xfrm flipV="1">
            <a:off x="827584" y="4088105"/>
            <a:ext cx="7992888" cy="0"/>
          </a:xfrm>
          <a:prstGeom prst="line">
            <a:avLst/>
          </a:prstGeom>
          <a:noFill/>
          <a:ln w="19050" algn="ctr">
            <a:solidFill>
              <a:srgbClr val="0000FF"/>
            </a:solidFill>
            <a:prstDash val="dash"/>
            <a:round/>
          </a:ln>
        </p:spPr>
      </p:cxnSp>
      <p:sp>
        <p:nvSpPr>
          <p:cNvPr id="24" name="TextBox 23"/>
          <p:cNvSpPr txBox="1"/>
          <p:nvPr/>
        </p:nvSpPr>
        <p:spPr>
          <a:xfrm>
            <a:off x="7380312" y="3811106"/>
            <a:ext cx="1305015"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整体平均值</a:t>
            </a:r>
            <a:r>
              <a:rPr lang="en-US" altLang="zh-CN" sz="1200" b="1" dirty="0">
                <a:solidFill>
                  <a:srgbClr val="0000FF"/>
                </a:solidFill>
                <a:latin typeface="微软雅黑" panose="020B0503020204020204" charset="-122"/>
                <a:ea typeface="微软雅黑" panose="020B0503020204020204" charset="-122"/>
              </a:rPr>
              <a:t>=2.7</a:t>
            </a:r>
            <a:endParaRPr lang="zh-CN" altLang="en-US" sz="1200" b="1" dirty="0">
              <a:solidFill>
                <a:srgbClr val="0000FF"/>
              </a:solidFill>
              <a:latin typeface="微软雅黑" panose="020B0503020204020204" charset="-122"/>
              <a:ea typeface="微软雅黑" panose="020B0503020204020204" charset="-122"/>
            </a:endParaRPr>
          </a:p>
        </p:txBody>
      </p:sp>
      <p:sp>
        <p:nvSpPr>
          <p:cNvPr id="27" name="Text Box 214"/>
          <p:cNvSpPr txBox="1">
            <a:spLocks noChangeArrowheads="1"/>
          </p:cNvSpPr>
          <p:nvPr/>
        </p:nvSpPr>
        <p:spPr bwMode="auto">
          <a:xfrm>
            <a:off x="1691680" y="2514799"/>
            <a:ext cx="5580062" cy="337185"/>
          </a:xfrm>
          <a:prstGeom prst="rect">
            <a:avLst/>
          </a:prstGeom>
          <a:noFill/>
          <a:ln w="9525">
            <a:noFill/>
            <a:miter lim="800000"/>
          </a:ln>
        </p:spPr>
        <p:txBody>
          <a:bodyPr>
            <a:spAutoFit/>
          </a:bodyPr>
          <a:lstStyle/>
          <a:p>
            <a:pPr marL="342900" indent="-342900" algn="ctr">
              <a:spcBef>
                <a:spcPct val="50000"/>
              </a:spcBef>
              <a:buClr>
                <a:srgbClr val="FF0000"/>
              </a:buClr>
              <a:buFont typeface="Wingdings" panose="05000000000000000000" pitchFamily="2" charset="2"/>
              <a:buNone/>
            </a:pPr>
            <a:r>
              <a:rPr lang="zh-CN" altLang="en-US" sz="1600" b="1" dirty="0">
                <a:solidFill>
                  <a:srgbClr val="000000"/>
                </a:solidFill>
                <a:latin typeface="微软雅黑" panose="020B0503020204020204" charset="-122"/>
                <a:ea typeface="微软雅黑" panose="020B0503020204020204" charset="-122"/>
              </a:rPr>
              <a:t>x重机营销领域成熟度水平</a:t>
            </a:r>
            <a:endParaRPr lang="en-US" altLang="zh-CN" sz="1600" b="1" dirty="0">
              <a:solidFill>
                <a:srgbClr val="000000"/>
              </a:solidFill>
              <a:latin typeface="微软雅黑" panose="020B0503020204020204" charset="-122"/>
              <a:ea typeface="微软雅黑" panose="020B0503020204020204" charset="-122"/>
            </a:endParaRPr>
          </a:p>
        </p:txBody>
      </p:sp>
      <p:sp>
        <p:nvSpPr>
          <p:cNvPr id="28" name="TextBox 54"/>
          <p:cNvSpPr txBox="1">
            <a:spLocks noChangeArrowheads="1"/>
          </p:cNvSpPr>
          <p:nvPr/>
        </p:nvSpPr>
        <p:spPr bwMode="auto">
          <a:xfrm>
            <a:off x="350838" y="6357938"/>
            <a:ext cx="458660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来源：x重机集成计划体系业务成熟度内部问卷调研（</a:t>
            </a:r>
            <a:r>
              <a:rPr lang="en-US" altLang="zh-CN" sz="1000" i="1" dirty="0">
                <a:latin typeface="微软雅黑" panose="020B0503020204020204" charset="-122"/>
                <a:ea typeface="微软雅黑" panose="020B0503020204020204" charset="-122"/>
              </a:rPr>
              <a:t>35</a:t>
            </a:r>
            <a:r>
              <a:rPr lang="zh-CN" altLang="en-US" sz="1000" i="1" dirty="0">
                <a:latin typeface="微软雅黑" panose="020B0503020204020204" charset="-122"/>
                <a:ea typeface="微软雅黑" panose="020B0503020204020204" charset="-122"/>
              </a:rPr>
              <a:t>份样本），项目组分析</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集成计划领域成熟度分析</a:t>
            </a:r>
            <a:endParaRPr lang="en-US" dirty="0"/>
          </a:p>
        </p:txBody>
      </p:sp>
      <p:graphicFrame>
        <p:nvGraphicFramePr>
          <p:cNvPr id="5" name="Chart 4"/>
          <p:cNvGraphicFramePr/>
          <p:nvPr/>
        </p:nvGraphicFramePr>
        <p:xfrm>
          <a:off x="333081" y="2615009"/>
          <a:ext cx="7704856" cy="36004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214"/>
          <p:cNvSpPr txBox="1">
            <a:spLocks noChangeArrowheads="1"/>
          </p:cNvSpPr>
          <p:nvPr/>
        </p:nvSpPr>
        <p:spPr bwMode="auto">
          <a:xfrm>
            <a:off x="1763688" y="2276872"/>
            <a:ext cx="5580062" cy="337185"/>
          </a:xfrm>
          <a:prstGeom prst="rect">
            <a:avLst/>
          </a:prstGeom>
          <a:noFill/>
          <a:ln w="9525">
            <a:noFill/>
            <a:miter lim="800000"/>
          </a:ln>
        </p:spPr>
        <p:txBody>
          <a:bodyPr>
            <a:spAutoFit/>
          </a:bodyPr>
          <a:lstStyle/>
          <a:p>
            <a:pPr marL="342900" indent="-342900" algn="ctr">
              <a:spcBef>
                <a:spcPct val="50000"/>
              </a:spcBef>
              <a:buClr>
                <a:srgbClr val="FF0000"/>
              </a:buClr>
              <a:buFont typeface="Wingdings" panose="05000000000000000000" pitchFamily="2" charset="2"/>
              <a:buNone/>
            </a:pPr>
            <a:r>
              <a:rPr lang="zh-CN" altLang="en-US" sz="1600" b="1" dirty="0">
                <a:solidFill>
                  <a:srgbClr val="000000"/>
                </a:solidFill>
                <a:latin typeface="微软雅黑" panose="020B0503020204020204" charset="-122"/>
                <a:ea typeface="微软雅黑" panose="020B0503020204020204" charset="-122"/>
              </a:rPr>
              <a:t>x重机集成计划领域成熟度水平</a:t>
            </a:r>
            <a:endParaRPr lang="en-US" altLang="zh-CN" sz="1600" b="1" dirty="0">
              <a:solidFill>
                <a:srgbClr val="000000"/>
              </a:solidFill>
              <a:latin typeface="微软雅黑" panose="020B0503020204020204" charset="-122"/>
              <a:ea typeface="微软雅黑" panose="020B0503020204020204" charset="-122"/>
            </a:endParaRPr>
          </a:p>
        </p:txBody>
      </p:sp>
      <p:cxnSp>
        <p:nvCxnSpPr>
          <p:cNvPr id="8" name="直接连接符 52"/>
          <p:cNvCxnSpPr>
            <a:cxnSpLocks noChangeShapeType="1"/>
          </p:cNvCxnSpPr>
          <p:nvPr/>
        </p:nvCxnSpPr>
        <p:spPr bwMode="auto">
          <a:xfrm>
            <a:off x="971600" y="3717032"/>
            <a:ext cx="7776864" cy="0"/>
          </a:xfrm>
          <a:prstGeom prst="line">
            <a:avLst/>
          </a:prstGeom>
          <a:noFill/>
          <a:ln w="19050" algn="ctr">
            <a:solidFill>
              <a:srgbClr val="0000FF"/>
            </a:solidFill>
            <a:prstDash val="dash"/>
            <a:round/>
          </a:ln>
        </p:spPr>
      </p:cxnSp>
      <p:sp>
        <p:nvSpPr>
          <p:cNvPr id="9" name="TextBox 8"/>
          <p:cNvSpPr txBox="1"/>
          <p:nvPr/>
        </p:nvSpPr>
        <p:spPr>
          <a:xfrm>
            <a:off x="7157418" y="3429000"/>
            <a:ext cx="1957312"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集成计划领域平均值＝</a:t>
            </a:r>
            <a:r>
              <a:rPr lang="en-US" altLang="zh-CN" sz="1200" b="1" dirty="0">
                <a:solidFill>
                  <a:srgbClr val="0000FF"/>
                </a:solidFill>
                <a:latin typeface="微软雅黑" panose="020B0503020204020204" charset="-122"/>
                <a:ea typeface="微软雅黑" panose="020B0503020204020204" charset="-122"/>
              </a:rPr>
              <a:t>2.8</a:t>
            </a:r>
            <a:endParaRPr lang="zh-CN" altLang="en-US" sz="1200" b="1" dirty="0">
              <a:solidFill>
                <a:srgbClr val="0000FF"/>
              </a:solidFill>
              <a:latin typeface="微软雅黑" panose="020B0503020204020204" charset="-122"/>
              <a:ea typeface="微软雅黑" panose="020B0503020204020204" charset="-122"/>
            </a:endParaRPr>
          </a:p>
        </p:txBody>
      </p:sp>
      <p:cxnSp>
        <p:nvCxnSpPr>
          <p:cNvPr id="10" name="直接连接符 5"/>
          <p:cNvCxnSpPr>
            <a:cxnSpLocks noChangeShapeType="1"/>
          </p:cNvCxnSpPr>
          <p:nvPr/>
        </p:nvCxnSpPr>
        <p:spPr bwMode="auto">
          <a:xfrm>
            <a:off x="971600" y="3861048"/>
            <a:ext cx="7776864" cy="0"/>
          </a:xfrm>
          <a:prstGeom prst="line">
            <a:avLst/>
          </a:prstGeom>
          <a:noFill/>
          <a:ln w="19050" algn="ctr">
            <a:solidFill>
              <a:srgbClr val="0000FF"/>
            </a:solidFill>
            <a:prstDash val="dash"/>
            <a:round/>
          </a:ln>
        </p:spPr>
      </p:cxnSp>
      <p:sp>
        <p:nvSpPr>
          <p:cNvPr id="11" name="TextBox 10"/>
          <p:cNvSpPr txBox="1"/>
          <p:nvPr/>
        </p:nvSpPr>
        <p:spPr>
          <a:xfrm>
            <a:off x="7157418" y="3861048"/>
            <a:ext cx="1305015"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整体平均值</a:t>
            </a:r>
            <a:r>
              <a:rPr lang="en-US" altLang="zh-CN" sz="1200" b="1" dirty="0">
                <a:solidFill>
                  <a:srgbClr val="0000FF"/>
                </a:solidFill>
                <a:latin typeface="微软雅黑" panose="020B0503020204020204" charset="-122"/>
                <a:ea typeface="微软雅黑" panose="020B0503020204020204" charset="-122"/>
              </a:rPr>
              <a:t>=2.7</a:t>
            </a:r>
            <a:endParaRPr lang="zh-CN" altLang="en-US" sz="1200" b="1" dirty="0">
              <a:solidFill>
                <a:srgbClr val="0000FF"/>
              </a:solidFill>
              <a:latin typeface="微软雅黑" panose="020B0503020204020204" charset="-122"/>
              <a:ea typeface="微软雅黑" panose="020B0503020204020204" charset="-122"/>
            </a:endParaRPr>
          </a:p>
        </p:txBody>
      </p:sp>
      <p:sp>
        <p:nvSpPr>
          <p:cNvPr id="14" name="圆角矩形 78"/>
          <p:cNvSpPr/>
          <p:nvPr/>
        </p:nvSpPr>
        <p:spPr bwMode="auto">
          <a:xfrm>
            <a:off x="357158" y="1071546"/>
            <a:ext cx="8358246" cy="1061310"/>
          </a:xfrm>
          <a:prstGeom prst="roundRect">
            <a:avLst>
              <a:gd name="adj" fmla="val 0"/>
            </a:avLst>
          </a:prstGeom>
          <a:solidFill>
            <a:srgbClr val="FFFFFF">
              <a:lumMod val="95000"/>
            </a:srgbClr>
          </a:solidFill>
          <a:ln>
            <a:noFill/>
          </a:ln>
        </p:spPr>
        <p:txBody>
          <a:bodyPr lIns="91413" tIns="45706" rIns="91413" bIns="45706" anchor="t"/>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 </a:t>
            </a:r>
            <a:r>
              <a:rPr lang="zh-CN" altLang="en-US" sz="1400" b="1" kern="0" noProof="0" dirty="0">
                <a:solidFill>
                  <a:srgbClr val="C2C6E6">
                    <a:lumMod val="50000"/>
                  </a:srgbClr>
                </a:solidFill>
                <a:latin typeface="微软雅黑" panose="020B0503020204020204" charset="-122"/>
                <a:ea typeface="微软雅黑" panose="020B0503020204020204" charset="-122"/>
              </a:rPr>
              <a:t>从管理维度看，组织及流程环节较好，绩效环节次之，</a:t>
            </a:r>
            <a:r>
              <a:rPr lang="en-US" altLang="zh-CN" sz="1400" b="1" kern="0" noProof="0" dirty="0">
                <a:solidFill>
                  <a:srgbClr val="C2C6E6">
                    <a:lumMod val="50000"/>
                  </a:srgbClr>
                </a:solidFill>
                <a:latin typeface="微软雅黑" panose="020B0503020204020204" charset="-122"/>
                <a:ea typeface="微软雅黑" panose="020B0503020204020204" charset="-122"/>
              </a:rPr>
              <a:t>IT</a:t>
            </a:r>
            <a:r>
              <a:rPr lang="zh-CN" altLang="en-US" sz="1400" b="1" kern="0" dirty="0">
                <a:solidFill>
                  <a:srgbClr val="C2C6E6">
                    <a:lumMod val="50000"/>
                  </a:srgbClr>
                </a:solidFill>
                <a:latin typeface="微软雅黑" panose="020B0503020204020204" charset="-122"/>
                <a:ea typeface="微软雅黑" panose="020B0503020204020204" charset="-122"/>
              </a:rPr>
              <a:t>环节</a:t>
            </a:r>
            <a:r>
              <a:rPr lang="zh-CN" altLang="en-US" sz="1400" b="1" kern="0" noProof="0" dirty="0">
                <a:solidFill>
                  <a:srgbClr val="C2C6E6">
                    <a:lumMod val="50000"/>
                  </a:srgbClr>
                </a:solidFill>
                <a:latin typeface="微软雅黑" panose="020B0503020204020204" charset="-122"/>
                <a:ea typeface="微软雅黑" panose="020B0503020204020204" charset="-122"/>
              </a:rPr>
              <a:t>较为薄弱</a:t>
            </a:r>
            <a:endParaRPr lang="en-US" altLang="zh-CN" sz="1400" b="1" kern="0" noProof="0" dirty="0">
              <a:solidFill>
                <a:srgbClr val="C2C6E6">
                  <a:lumMod val="50000"/>
                </a:srgbClr>
              </a:solidFill>
              <a:latin typeface="微软雅黑" panose="020B0503020204020204" charset="-122"/>
              <a:ea typeface="微软雅黑" panose="020B0503020204020204" charset="-122"/>
            </a:endParaRPr>
          </a:p>
          <a:p>
            <a:pPr marL="0" marR="0" lvl="0" indent="0" defTabSz="914400" eaLnBrk="1" fontAlgn="auto" latinLnBrk="0" hangingPunct="1">
              <a:lnSpc>
                <a:spcPct val="100000"/>
              </a:lnSpc>
              <a:spcAft>
                <a:spcPts val="300"/>
              </a:spcAft>
              <a:buClrTx/>
              <a:buSzTx/>
              <a:buFont typeface="Wingdings" panose="05000000000000000000" pitchFamily="2" charset="2"/>
              <a:buChar char="u"/>
              <a:defRPr/>
            </a:pPr>
            <a:r>
              <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 </a:t>
            </a:r>
            <a:r>
              <a:rPr kumimoji="0" lang="zh-CN" altLang="en-US"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从业务领域看，国内需求计划及订单管理较好，国际需求计划较为薄弱</a:t>
            </a: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171450" lvl="0" indent="-171450">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产销平衡领域，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评估在集成计划整体平均水平以下</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lvl="0" indent="-171450">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生产计划领域，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评估在平均水平以下，其他环节较好</a:t>
            </a: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p:txBody>
      </p:sp>
      <p:sp>
        <p:nvSpPr>
          <p:cNvPr id="15" name="TextBox 54"/>
          <p:cNvSpPr txBox="1">
            <a:spLocks noChangeArrowheads="1"/>
          </p:cNvSpPr>
          <p:nvPr/>
        </p:nvSpPr>
        <p:spPr bwMode="auto">
          <a:xfrm>
            <a:off x="350838" y="6357938"/>
            <a:ext cx="458660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来源：x重机集成计划体系业务成熟度内部问卷调研（</a:t>
            </a:r>
            <a:r>
              <a:rPr lang="en-US" altLang="zh-CN" sz="1000" i="1" dirty="0">
                <a:latin typeface="微软雅黑" panose="020B0503020204020204" charset="-122"/>
                <a:ea typeface="微软雅黑" panose="020B0503020204020204" charset="-122"/>
              </a:rPr>
              <a:t>35</a:t>
            </a:r>
            <a:r>
              <a:rPr lang="zh-CN" altLang="en-US" sz="1000" i="1" dirty="0">
                <a:latin typeface="微软雅黑" panose="020B0503020204020204" charset="-122"/>
                <a:ea typeface="微软雅黑" panose="020B0503020204020204" charset="-122"/>
              </a:rPr>
              <a:t>份样本），项目组分析</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制造物流领域成熟度分析</a:t>
            </a:r>
            <a:endParaRPr lang="en-US" dirty="0"/>
          </a:p>
        </p:txBody>
      </p:sp>
      <p:graphicFrame>
        <p:nvGraphicFramePr>
          <p:cNvPr id="13" name="Chart 12"/>
          <p:cNvGraphicFramePr/>
          <p:nvPr/>
        </p:nvGraphicFramePr>
        <p:xfrm>
          <a:off x="156055" y="2497217"/>
          <a:ext cx="8136904" cy="3960440"/>
        </p:xfrm>
        <a:graphic>
          <a:graphicData uri="http://schemas.openxmlformats.org/drawingml/2006/chart">
            <c:chart xmlns:c="http://schemas.openxmlformats.org/drawingml/2006/chart" xmlns:r="http://schemas.openxmlformats.org/officeDocument/2006/relationships" r:id="rId2"/>
          </a:graphicData>
        </a:graphic>
      </p:graphicFrame>
      <p:cxnSp>
        <p:nvCxnSpPr>
          <p:cNvPr id="16" name="直接连接符 52"/>
          <p:cNvCxnSpPr>
            <a:cxnSpLocks noChangeShapeType="1"/>
          </p:cNvCxnSpPr>
          <p:nvPr/>
        </p:nvCxnSpPr>
        <p:spPr bwMode="auto">
          <a:xfrm>
            <a:off x="971600" y="3501008"/>
            <a:ext cx="7632848" cy="0"/>
          </a:xfrm>
          <a:prstGeom prst="line">
            <a:avLst/>
          </a:prstGeom>
          <a:noFill/>
          <a:ln w="19050" algn="ctr">
            <a:solidFill>
              <a:srgbClr val="0000FF"/>
            </a:solidFill>
            <a:prstDash val="dash"/>
            <a:round/>
          </a:ln>
        </p:spPr>
      </p:cxnSp>
      <p:sp>
        <p:nvSpPr>
          <p:cNvPr id="17" name="TextBox 16"/>
          <p:cNvSpPr txBox="1"/>
          <p:nvPr/>
        </p:nvSpPr>
        <p:spPr>
          <a:xfrm>
            <a:off x="7186688" y="3140968"/>
            <a:ext cx="1957312"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制造物流领域平均值＝</a:t>
            </a:r>
            <a:r>
              <a:rPr lang="zh-CN" altLang="zh-CN" sz="1200" b="1" dirty="0">
                <a:solidFill>
                  <a:srgbClr val="0000FF"/>
                </a:solidFill>
                <a:latin typeface="微软雅黑" panose="020B0503020204020204" charset="-122"/>
                <a:ea typeface="微软雅黑" panose="020B0503020204020204" charset="-122"/>
              </a:rPr>
              <a:t>3</a:t>
            </a:r>
            <a:r>
              <a:rPr lang="en-US" altLang="zh-CN" sz="1200" b="1" dirty="0">
                <a:solidFill>
                  <a:srgbClr val="0000FF"/>
                </a:solidFill>
                <a:latin typeface="微软雅黑" panose="020B0503020204020204" charset="-122"/>
                <a:ea typeface="微软雅黑" panose="020B0503020204020204" charset="-122"/>
              </a:rPr>
              <a:t>.0</a:t>
            </a:r>
            <a:endParaRPr lang="zh-CN" altLang="en-US" sz="1200" b="1" dirty="0">
              <a:solidFill>
                <a:srgbClr val="0000FF"/>
              </a:solidFill>
              <a:latin typeface="微软雅黑" panose="020B0503020204020204" charset="-122"/>
              <a:ea typeface="微软雅黑" panose="020B0503020204020204" charset="-122"/>
            </a:endParaRPr>
          </a:p>
        </p:txBody>
      </p:sp>
      <p:cxnSp>
        <p:nvCxnSpPr>
          <p:cNvPr id="22" name="直接连接符 5"/>
          <p:cNvCxnSpPr>
            <a:cxnSpLocks noChangeShapeType="1"/>
          </p:cNvCxnSpPr>
          <p:nvPr/>
        </p:nvCxnSpPr>
        <p:spPr bwMode="auto">
          <a:xfrm>
            <a:off x="971600" y="3861048"/>
            <a:ext cx="7560840" cy="0"/>
          </a:xfrm>
          <a:prstGeom prst="line">
            <a:avLst/>
          </a:prstGeom>
          <a:noFill/>
          <a:ln w="19050" algn="ctr">
            <a:solidFill>
              <a:srgbClr val="0000FF"/>
            </a:solidFill>
            <a:prstDash val="dash"/>
            <a:round/>
          </a:ln>
        </p:spPr>
      </p:cxnSp>
      <p:sp>
        <p:nvSpPr>
          <p:cNvPr id="23" name="TextBox 22"/>
          <p:cNvSpPr txBox="1"/>
          <p:nvPr/>
        </p:nvSpPr>
        <p:spPr>
          <a:xfrm>
            <a:off x="7157418" y="3861048"/>
            <a:ext cx="1305015"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整体平均值</a:t>
            </a:r>
            <a:r>
              <a:rPr lang="en-US" altLang="zh-CN" sz="1200" b="1" dirty="0">
                <a:solidFill>
                  <a:srgbClr val="0000FF"/>
                </a:solidFill>
                <a:latin typeface="微软雅黑" panose="020B0503020204020204" charset="-122"/>
                <a:ea typeface="微软雅黑" panose="020B0503020204020204" charset="-122"/>
              </a:rPr>
              <a:t>=2.7</a:t>
            </a:r>
            <a:endParaRPr lang="zh-CN" altLang="en-US" sz="1200" b="1" dirty="0">
              <a:solidFill>
                <a:srgbClr val="0000FF"/>
              </a:solidFill>
              <a:latin typeface="微软雅黑" panose="020B0503020204020204" charset="-122"/>
              <a:ea typeface="微软雅黑" panose="020B0503020204020204" charset="-122"/>
            </a:endParaRPr>
          </a:p>
        </p:txBody>
      </p:sp>
      <p:sp>
        <p:nvSpPr>
          <p:cNvPr id="27" name="圆角矩形 78"/>
          <p:cNvSpPr/>
          <p:nvPr/>
        </p:nvSpPr>
        <p:spPr bwMode="auto">
          <a:xfrm>
            <a:off x="357158" y="1071546"/>
            <a:ext cx="8358246" cy="1061310"/>
          </a:xfrm>
          <a:prstGeom prst="roundRect">
            <a:avLst>
              <a:gd name="adj" fmla="val 0"/>
            </a:avLst>
          </a:prstGeom>
          <a:solidFill>
            <a:srgbClr val="FFFFFF">
              <a:lumMod val="95000"/>
            </a:srgbClr>
          </a:solidFill>
          <a:ln>
            <a:noFill/>
          </a:ln>
        </p:spPr>
        <p:txBody>
          <a:bodyPr lIns="91413" tIns="45706" rIns="91413" bIns="45706" anchor="t"/>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 </a:t>
            </a:r>
            <a:r>
              <a:rPr lang="zh-CN" altLang="en-US" sz="1400" b="1" kern="0" noProof="0" dirty="0">
                <a:solidFill>
                  <a:srgbClr val="C2C6E6">
                    <a:lumMod val="50000"/>
                  </a:srgbClr>
                </a:solidFill>
                <a:latin typeface="微软雅黑" panose="020B0503020204020204" charset="-122"/>
                <a:ea typeface="微软雅黑" panose="020B0503020204020204" charset="-122"/>
              </a:rPr>
              <a:t>从管理维度看，组织及流程环节较好，绩效环节次之，</a:t>
            </a:r>
            <a:r>
              <a:rPr lang="en-US" altLang="zh-CN" sz="1400" b="1" kern="0" noProof="0" dirty="0">
                <a:solidFill>
                  <a:srgbClr val="C2C6E6">
                    <a:lumMod val="50000"/>
                  </a:srgbClr>
                </a:solidFill>
                <a:latin typeface="微软雅黑" panose="020B0503020204020204" charset="-122"/>
                <a:ea typeface="微软雅黑" panose="020B0503020204020204" charset="-122"/>
              </a:rPr>
              <a:t>IT</a:t>
            </a:r>
            <a:r>
              <a:rPr lang="zh-CN" altLang="en-US" sz="1400" b="1" kern="0" dirty="0">
                <a:solidFill>
                  <a:srgbClr val="C2C6E6">
                    <a:lumMod val="50000"/>
                  </a:srgbClr>
                </a:solidFill>
                <a:latin typeface="微软雅黑" panose="020B0503020204020204" charset="-122"/>
                <a:ea typeface="微软雅黑" panose="020B0503020204020204" charset="-122"/>
              </a:rPr>
              <a:t>环节</a:t>
            </a:r>
            <a:r>
              <a:rPr lang="zh-CN" altLang="en-US" sz="1400" b="1" kern="0" noProof="0" dirty="0">
                <a:solidFill>
                  <a:srgbClr val="C2C6E6">
                    <a:lumMod val="50000"/>
                  </a:srgbClr>
                </a:solidFill>
                <a:latin typeface="微软雅黑" panose="020B0503020204020204" charset="-122"/>
                <a:ea typeface="微软雅黑" panose="020B0503020204020204" charset="-122"/>
              </a:rPr>
              <a:t>较为薄弱</a:t>
            </a:r>
            <a:endParaRPr lang="en-US" altLang="zh-CN" sz="1400" b="1" kern="0" noProof="0" dirty="0">
              <a:solidFill>
                <a:srgbClr val="C2C6E6">
                  <a:lumMod val="50000"/>
                </a:srgbClr>
              </a:solidFill>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300"/>
              </a:spcAft>
              <a:buClrTx/>
              <a:buSzTx/>
              <a:buFont typeface="Wingdings" panose="05000000000000000000" pitchFamily="2" charset="2"/>
              <a:buChar char="u"/>
              <a:defRPr/>
            </a:pPr>
            <a:r>
              <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 </a:t>
            </a:r>
            <a:r>
              <a:rPr kumimoji="0" lang="zh-CN" altLang="en-US"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从业务领域看，厂内物流管理较好，生产执行较为薄弱</a:t>
            </a: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171450" lvl="0" indent="-171450">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生产执行领域，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及绩效在制造物流整体平均水平以下</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lvl="0" indent="-171450">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厂内物流领域，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及绩效在制造物流整体平均水平以下</a:t>
            </a: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endPar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endParaRPr>
          </a:p>
        </p:txBody>
      </p:sp>
      <p:sp>
        <p:nvSpPr>
          <p:cNvPr id="28" name="Text Box 214"/>
          <p:cNvSpPr txBox="1">
            <a:spLocks noChangeArrowheads="1"/>
          </p:cNvSpPr>
          <p:nvPr/>
        </p:nvSpPr>
        <p:spPr bwMode="auto">
          <a:xfrm>
            <a:off x="1763688" y="2276872"/>
            <a:ext cx="5580062" cy="337185"/>
          </a:xfrm>
          <a:prstGeom prst="rect">
            <a:avLst/>
          </a:prstGeom>
          <a:noFill/>
          <a:ln w="9525">
            <a:noFill/>
            <a:miter lim="800000"/>
          </a:ln>
        </p:spPr>
        <p:txBody>
          <a:bodyPr>
            <a:spAutoFit/>
          </a:bodyPr>
          <a:lstStyle/>
          <a:p>
            <a:pPr marL="342900" indent="-342900" algn="ctr">
              <a:spcBef>
                <a:spcPct val="50000"/>
              </a:spcBef>
              <a:buClr>
                <a:srgbClr val="FF0000"/>
              </a:buClr>
              <a:buFont typeface="Wingdings" panose="05000000000000000000" pitchFamily="2" charset="2"/>
              <a:buNone/>
            </a:pPr>
            <a:r>
              <a:rPr lang="zh-CN" altLang="en-US" sz="1600" b="1" dirty="0">
                <a:solidFill>
                  <a:srgbClr val="000000"/>
                </a:solidFill>
                <a:latin typeface="微软雅黑" panose="020B0503020204020204" charset="-122"/>
                <a:ea typeface="微软雅黑" panose="020B0503020204020204" charset="-122"/>
              </a:rPr>
              <a:t>x重机制造物流领域成熟度水平</a:t>
            </a:r>
            <a:endParaRPr lang="en-US" altLang="zh-CN" sz="1600" b="1" dirty="0">
              <a:solidFill>
                <a:srgbClr val="000000"/>
              </a:solidFill>
              <a:latin typeface="微软雅黑" panose="020B0503020204020204" charset="-122"/>
              <a:ea typeface="微软雅黑" panose="020B0503020204020204" charset="-122"/>
            </a:endParaRPr>
          </a:p>
        </p:txBody>
      </p:sp>
      <p:sp>
        <p:nvSpPr>
          <p:cNvPr id="29" name="TextBox 54"/>
          <p:cNvSpPr txBox="1">
            <a:spLocks noChangeArrowheads="1"/>
          </p:cNvSpPr>
          <p:nvPr/>
        </p:nvSpPr>
        <p:spPr bwMode="auto">
          <a:xfrm>
            <a:off x="350838" y="6357938"/>
            <a:ext cx="458660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来源：x重机集成计划体系业务成熟度内部问卷调研（</a:t>
            </a:r>
            <a:r>
              <a:rPr lang="en-US" altLang="zh-CN" sz="1000" i="1" dirty="0">
                <a:latin typeface="微软雅黑" panose="020B0503020204020204" charset="-122"/>
                <a:ea typeface="微软雅黑" panose="020B0503020204020204" charset="-122"/>
              </a:rPr>
              <a:t>35</a:t>
            </a:r>
            <a:r>
              <a:rPr lang="zh-CN" altLang="en-US" sz="1000" i="1" dirty="0">
                <a:latin typeface="微软雅黑" panose="020B0503020204020204" charset="-122"/>
                <a:ea typeface="微软雅黑" panose="020B0503020204020204" charset="-122"/>
              </a:rPr>
              <a:t>份样本），项目组分析</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商务领域成熟度分析</a:t>
            </a:r>
            <a:endParaRPr lang="en-US" dirty="0"/>
          </a:p>
        </p:txBody>
      </p:sp>
      <p:grpSp>
        <p:nvGrpSpPr>
          <p:cNvPr id="3" name="Group 2"/>
          <p:cNvGrpSpPr/>
          <p:nvPr/>
        </p:nvGrpSpPr>
        <p:grpSpPr>
          <a:xfrm>
            <a:off x="323528" y="2564904"/>
            <a:ext cx="8706319" cy="3744416"/>
            <a:chOff x="323528" y="2564904"/>
            <a:chExt cx="8706319" cy="3744416"/>
          </a:xfrm>
        </p:grpSpPr>
        <p:graphicFrame>
          <p:nvGraphicFramePr>
            <p:cNvPr id="4" name="Chart 3"/>
            <p:cNvGraphicFramePr/>
            <p:nvPr/>
          </p:nvGraphicFramePr>
          <p:xfrm>
            <a:off x="323528" y="2564904"/>
            <a:ext cx="7776864" cy="3744416"/>
          </p:xfrm>
          <a:graphic>
            <a:graphicData uri="http://schemas.openxmlformats.org/drawingml/2006/chart">
              <c:chart xmlns:c="http://schemas.openxmlformats.org/drawingml/2006/chart" xmlns:r="http://schemas.openxmlformats.org/officeDocument/2006/relationships" r:id="rId2"/>
            </a:graphicData>
          </a:graphic>
        </p:graphicFrame>
        <p:cxnSp>
          <p:nvCxnSpPr>
            <p:cNvPr id="7" name="直接连接符 52"/>
            <p:cNvCxnSpPr>
              <a:cxnSpLocks noChangeShapeType="1"/>
            </p:cNvCxnSpPr>
            <p:nvPr/>
          </p:nvCxnSpPr>
          <p:spPr bwMode="auto">
            <a:xfrm>
              <a:off x="827584" y="4016097"/>
              <a:ext cx="7920880" cy="0"/>
            </a:xfrm>
            <a:prstGeom prst="line">
              <a:avLst/>
            </a:prstGeom>
            <a:noFill/>
            <a:ln w="19050" algn="ctr">
              <a:solidFill>
                <a:srgbClr val="0000FF"/>
              </a:solidFill>
              <a:prstDash val="dash"/>
              <a:round/>
            </a:ln>
          </p:spPr>
        </p:cxnSp>
        <p:sp>
          <p:nvSpPr>
            <p:cNvPr id="8" name="TextBox 7"/>
            <p:cNvSpPr txBox="1"/>
            <p:nvPr/>
          </p:nvSpPr>
          <p:spPr>
            <a:xfrm>
              <a:off x="7380312" y="4088105"/>
              <a:ext cx="1649535"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商务领域平均值＝</a:t>
              </a:r>
              <a:r>
                <a:rPr lang="en-US" altLang="zh-CN" sz="1200" b="1" dirty="0">
                  <a:solidFill>
                    <a:srgbClr val="0000FF"/>
                  </a:solidFill>
                  <a:latin typeface="微软雅黑" panose="020B0503020204020204" charset="-122"/>
                  <a:ea typeface="微软雅黑" panose="020B0503020204020204" charset="-122"/>
                </a:rPr>
                <a:t>2.6</a:t>
              </a:r>
              <a:endParaRPr lang="zh-CN" altLang="en-US" sz="1200" b="1" dirty="0">
                <a:solidFill>
                  <a:srgbClr val="0000FF"/>
                </a:solidFill>
                <a:latin typeface="微软雅黑" panose="020B0503020204020204" charset="-122"/>
                <a:ea typeface="微软雅黑" panose="020B0503020204020204" charset="-122"/>
              </a:endParaRPr>
            </a:p>
          </p:txBody>
        </p:sp>
        <p:cxnSp>
          <p:nvCxnSpPr>
            <p:cNvPr id="10" name="直接连接符 5"/>
            <p:cNvCxnSpPr>
              <a:cxnSpLocks noChangeShapeType="1"/>
            </p:cNvCxnSpPr>
            <p:nvPr/>
          </p:nvCxnSpPr>
          <p:spPr bwMode="auto">
            <a:xfrm flipV="1">
              <a:off x="827584" y="3872081"/>
              <a:ext cx="7992888" cy="0"/>
            </a:xfrm>
            <a:prstGeom prst="line">
              <a:avLst/>
            </a:prstGeom>
            <a:noFill/>
            <a:ln w="19050" algn="ctr">
              <a:solidFill>
                <a:srgbClr val="0000FF"/>
              </a:solidFill>
              <a:prstDash val="dash"/>
              <a:round/>
            </a:ln>
          </p:spPr>
        </p:cxnSp>
        <p:sp>
          <p:nvSpPr>
            <p:cNvPr id="11" name="TextBox 10"/>
            <p:cNvSpPr txBox="1"/>
            <p:nvPr/>
          </p:nvSpPr>
          <p:spPr>
            <a:xfrm>
              <a:off x="7380312" y="3512041"/>
              <a:ext cx="1305015" cy="276999"/>
            </a:xfrm>
            <a:prstGeom prst="rect">
              <a:avLst/>
            </a:prstGeom>
            <a:noFill/>
          </p:spPr>
          <p:txBody>
            <a:bodyPr wrap="none">
              <a:spAutoFit/>
            </a:bodyPr>
            <a:lstStyle/>
            <a:p>
              <a:pPr>
                <a:defRPr/>
              </a:pPr>
              <a:r>
                <a:rPr lang="zh-CN" altLang="en-US" sz="1200" b="1" dirty="0">
                  <a:solidFill>
                    <a:srgbClr val="0000FF"/>
                  </a:solidFill>
                  <a:latin typeface="微软雅黑" panose="020B0503020204020204" charset="-122"/>
                  <a:ea typeface="微软雅黑" panose="020B0503020204020204" charset="-122"/>
                </a:rPr>
                <a:t>整体平均值</a:t>
              </a:r>
              <a:r>
                <a:rPr lang="en-US" altLang="zh-CN" sz="1200" b="1" dirty="0">
                  <a:solidFill>
                    <a:srgbClr val="0000FF"/>
                  </a:solidFill>
                  <a:latin typeface="微软雅黑" panose="020B0503020204020204" charset="-122"/>
                  <a:ea typeface="微软雅黑" panose="020B0503020204020204" charset="-122"/>
                </a:rPr>
                <a:t>=2.7</a:t>
              </a:r>
              <a:endParaRPr lang="zh-CN" altLang="en-US" sz="1200" b="1" dirty="0">
                <a:solidFill>
                  <a:srgbClr val="0000FF"/>
                </a:solidFill>
                <a:latin typeface="微软雅黑" panose="020B0503020204020204" charset="-122"/>
                <a:ea typeface="微软雅黑" panose="020B0503020204020204" charset="-122"/>
              </a:endParaRPr>
            </a:p>
          </p:txBody>
        </p:sp>
      </p:grpSp>
      <p:sp>
        <p:nvSpPr>
          <p:cNvPr id="12" name="圆角矩形 78"/>
          <p:cNvSpPr/>
          <p:nvPr/>
        </p:nvSpPr>
        <p:spPr bwMode="auto">
          <a:xfrm>
            <a:off x="357158" y="1071546"/>
            <a:ext cx="8358246" cy="1133318"/>
          </a:xfrm>
          <a:prstGeom prst="roundRect">
            <a:avLst>
              <a:gd name="adj" fmla="val 0"/>
            </a:avLst>
          </a:prstGeom>
          <a:solidFill>
            <a:srgbClr val="FFFFFF">
              <a:lumMod val="95000"/>
            </a:srgbClr>
          </a:solidFill>
          <a:ln>
            <a:noFill/>
          </a:ln>
        </p:spPr>
        <p:txBody>
          <a:bodyPr lIns="91413" tIns="45706" rIns="91413" bIns="45706" anchor="t"/>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r>
              <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rPr>
              <a:t> </a:t>
            </a:r>
            <a:r>
              <a:rPr lang="zh-CN" altLang="en-US" sz="1400" b="1" kern="0" noProof="0" dirty="0">
                <a:solidFill>
                  <a:srgbClr val="C2C6E6">
                    <a:lumMod val="50000"/>
                  </a:srgbClr>
                </a:solidFill>
                <a:latin typeface="微软雅黑" panose="020B0503020204020204" charset="-122"/>
                <a:ea typeface="微软雅黑" panose="020B0503020204020204" charset="-122"/>
              </a:rPr>
              <a:t>从管理维度看，组织及流程环节较好，绩效环节次之，</a:t>
            </a:r>
            <a:r>
              <a:rPr lang="en-US" altLang="zh-CN" sz="1400" b="1" kern="0" noProof="0" dirty="0">
                <a:solidFill>
                  <a:srgbClr val="C2C6E6">
                    <a:lumMod val="50000"/>
                  </a:srgbClr>
                </a:solidFill>
                <a:latin typeface="微软雅黑" panose="020B0503020204020204" charset="-122"/>
                <a:ea typeface="微软雅黑" panose="020B0503020204020204" charset="-122"/>
              </a:rPr>
              <a:t>IT</a:t>
            </a:r>
            <a:r>
              <a:rPr lang="zh-CN" altLang="en-US" sz="1400" b="1" kern="0" dirty="0">
                <a:solidFill>
                  <a:srgbClr val="C2C6E6">
                    <a:lumMod val="50000"/>
                  </a:srgbClr>
                </a:solidFill>
                <a:latin typeface="微软雅黑" panose="020B0503020204020204" charset="-122"/>
                <a:ea typeface="微软雅黑" panose="020B0503020204020204" charset="-122"/>
              </a:rPr>
              <a:t>环节</a:t>
            </a:r>
            <a:r>
              <a:rPr lang="zh-CN" altLang="en-US" sz="1400" b="1" kern="0" noProof="0" dirty="0">
                <a:solidFill>
                  <a:srgbClr val="C2C6E6">
                    <a:lumMod val="50000"/>
                  </a:srgbClr>
                </a:solidFill>
                <a:latin typeface="微软雅黑" panose="020B0503020204020204" charset="-122"/>
                <a:ea typeface="微软雅黑" panose="020B0503020204020204" charset="-122"/>
              </a:rPr>
              <a:t>较为薄弱</a:t>
            </a:r>
            <a:endParaRPr lang="en-US" altLang="zh-CN" sz="1400" b="1" kern="0" noProof="0" dirty="0">
              <a:solidFill>
                <a:srgbClr val="C2C6E6">
                  <a:lumMod val="50000"/>
                </a:srgbClr>
              </a:solidFill>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300"/>
              </a:spcAft>
              <a:buClrTx/>
              <a:buSzTx/>
              <a:buFont typeface="Wingdings" panose="05000000000000000000" pitchFamily="2" charset="2"/>
              <a:buChar char="u"/>
              <a:defRPr/>
            </a:pPr>
            <a:r>
              <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 </a:t>
            </a:r>
            <a:r>
              <a:rPr kumimoji="0" lang="zh-CN" altLang="en-US"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从业务领域看，零部件计划及采购管理较好，零部件交付较为薄弱</a:t>
            </a: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171450" lvl="0" indent="-171450">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零部件计划领域，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评估在商务领域平均水平以下</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lvl="0" indent="-171450">
              <a:buFont typeface="Wingdings" panose="05000000000000000000" pitchFamily="2" charset="2"/>
              <a:buChar char="§"/>
              <a:defRPr/>
            </a:pPr>
            <a:r>
              <a:rPr lang="en-US" altLang="zh-CN" sz="1200" kern="0" dirty="0">
                <a:solidFill>
                  <a:srgbClr val="C2C6E6">
                    <a:lumMod val="50000"/>
                  </a:srgbClr>
                </a:solidFill>
                <a:latin typeface="微软雅黑" panose="020B0503020204020204" charset="-122"/>
                <a:ea typeface="微软雅黑" panose="020B0503020204020204" charset="-122"/>
              </a:rPr>
              <a:t> </a:t>
            </a:r>
            <a:r>
              <a:rPr lang="zh-CN" altLang="en-US" sz="1200" kern="0" dirty="0">
                <a:solidFill>
                  <a:srgbClr val="C2C6E6">
                    <a:lumMod val="50000"/>
                  </a:srgbClr>
                </a:solidFill>
                <a:latin typeface="微软雅黑" panose="020B0503020204020204" charset="-122"/>
                <a:ea typeface="微软雅黑" panose="020B0503020204020204" charset="-122"/>
              </a:rPr>
              <a:t>零部件采购领域，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、绩效在平均水平以下</a:t>
            </a:r>
            <a:endParaRPr lang="en-US" altLang="zh-CN" sz="1200" kern="0" dirty="0">
              <a:solidFill>
                <a:srgbClr val="C2C6E6">
                  <a:lumMod val="50000"/>
                </a:srgbClr>
              </a:solidFill>
              <a:latin typeface="微软雅黑" panose="020B0503020204020204" charset="-122"/>
              <a:ea typeface="微软雅黑" panose="020B0503020204020204" charset="-122"/>
            </a:endParaRPr>
          </a:p>
          <a:p>
            <a:pPr marL="171450" indent="-171450">
              <a:buFont typeface="Wingdings" panose="05000000000000000000" pitchFamily="2" charset="2"/>
              <a:buChar char="§"/>
              <a:defRPr/>
            </a:pPr>
            <a:r>
              <a:rPr kumimoji="0" lang="en-US" altLang="zh-CN" sz="1200"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 </a:t>
            </a:r>
            <a:r>
              <a:rPr kumimoji="0" lang="zh-CN" altLang="en-US" sz="1200"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rPr>
              <a:t>零部件交付领域，</a:t>
            </a:r>
            <a:r>
              <a:rPr lang="en-US" altLang="zh-CN" sz="1200" kern="0" dirty="0">
                <a:solidFill>
                  <a:srgbClr val="C2C6E6">
                    <a:lumMod val="50000"/>
                  </a:srgbClr>
                </a:solidFill>
                <a:latin typeface="微软雅黑" panose="020B0503020204020204" charset="-122"/>
                <a:ea typeface="微软雅黑" panose="020B0503020204020204" charset="-122"/>
              </a:rPr>
              <a:t>IT</a:t>
            </a:r>
            <a:r>
              <a:rPr lang="zh-CN" altLang="en-US" sz="1200" kern="0" dirty="0">
                <a:solidFill>
                  <a:srgbClr val="C2C6E6">
                    <a:lumMod val="50000"/>
                  </a:srgbClr>
                </a:solidFill>
                <a:latin typeface="微软雅黑" panose="020B0503020204020204" charset="-122"/>
                <a:ea typeface="微软雅黑" panose="020B0503020204020204" charset="-122"/>
              </a:rPr>
              <a:t>、绩效在平均水平以下</a:t>
            </a:r>
            <a:endParaRPr kumimoji="0" lang="en-US" altLang="zh-CN" sz="1200"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endParaRPr kumimoji="0" lang="en-US" altLang="zh-CN" sz="1400" b="1" i="0" u="none" strike="noStrike" kern="0" cap="none" spc="0" normalizeH="0" baseline="0" dirty="0">
              <a:ln>
                <a:noFill/>
              </a:ln>
              <a:solidFill>
                <a:srgbClr val="C2C6E6">
                  <a:lumMod val="50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Char char="u"/>
              <a:defRPr/>
            </a:pPr>
            <a:endParaRPr kumimoji="0" lang="zh-CN" altLang="en-US" sz="1400" b="1" i="0" u="none" strike="noStrike" kern="0" cap="none" spc="0" normalizeH="0" baseline="0" noProof="0" dirty="0">
              <a:ln>
                <a:noFill/>
              </a:ln>
              <a:solidFill>
                <a:srgbClr val="C2C6E6">
                  <a:lumMod val="50000"/>
                </a:srgbClr>
              </a:solidFill>
              <a:effectLst/>
              <a:uLnTx/>
              <a:uFillTx/>
              <a:latin typeface="微软雅黑" panose="020B0503020204020204" charset="-122"/>
              <a:ea typeface="微软雅黑" panose="020B0503020204020204" charset="-122"/>
            </a:endParaRPr>
          </a:p>
        </p:txBody>
      </p:sp>
      <p:sp>
        <p:nvSpPr>
          <p:cNvPr id="13" name="Text Box 214"/>
          <p:cNvSpPr txBox="1">
            <a:spLocks noChangeArrowheads="1"/>
          </p:cNvSpPr>
          <p:nvPr/>
        </p:nvSpPr>
        <p:spPr bwMode="auto">
          <a:xfrm>
            <a:off x="1763688" y="2276872"/>
            <a:ext cx="5580062" cy="337185"/>
          </a:xfrm>
          <a:prstGeom prst="rect">
            <a:avLst/>
          </a:prstGeom>
          <a:noFill/>
          <a:ln w="9525">
            <a:noFill/>
            <a:miter lim="800000"/>
          </a:ln>
        </p:spPr>
        <p:txBody>
          <a:bodyPr>
            <a:spAutoFit/>
          </a:bodyPr>
          <a:lstStyle/>
          <a:p>
            <a:pPr marL="342900" indent="-342900" algn="ctr">
              <a:spcBef>
                <a:spcPct val="50000"/>
              </a:spcBef>
              <a:buClr>
                <a:srgbClr val="FF0000"/>
              </a:buClr>
              <a:buFont typeface="Wingdings" panose="05000000000000000000" pitchFamily="2" charset="2"/>
              <a:buNone/>
            </a:pPr>
            <a:r>
              <a:rPr lang="zh-CN" altLang="en-US" sz="1600" b="1" dirty="0">
                <a:solidFill>
                  <a:srgbClr val="000000"/>
                </a:solidFill>
                <a:latin typeface="微软雅黑" panose="020B0503020204020204" charset="-122"/>
                <a:ea typeface="微软雅黑" panose="020B0503020204020204" charset="-122"/>
              </a:rPr>
              <a:t>x重机商务领域成熟度水平</a:t>
            </a:r>
            <a:endParaRPr lang="en-US" altLang="zh-CN" sz="1600" b="1" dirty="0">
              <a:solidFill>
                <a:srgbClr val="000000"/>
              </a:solidFill>
              <a:latin typeface="微软雅黑" panose="020B0503020204020204" charset="-122"/>
              <a:ea typeface="微软雅黑" panose="020B0503020204020204" charset="-122"/>
            </a:endParaRPr>
          </a:p>
        </p:txBody>
      </p:sp>
      <p:sp>
        <p:nvSpPr>
          <p:cNvPr id="14" name="TextBox 54"/>
          <p:cNvSpPr txBox="1">
            <a:spLocks noChangeArrowheads="1"/>
          </p:cNvSpPr>
          <p:nvPr/>
        </p:nvSpPr>
        <p:spPr bwMode="auto">
          <a:xfrm>
            <a:off x="350838" y="6357938"/>
            <a:ext cx="458660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来源：x重机集成计划体系业务成熟度内部问卷调研（</a:t>
            </a:r>
            <a:r>
              <a:rPr lang="en-US" altLang="zh-CN" sz="1000" i="1" dirty="0">
                <a:latin typeface="微软雅黑" panose="020B0503020204020204" charset="-122"/>
                <a:ea typeface="微软雅黑" panose="020B0503020204020204" charset="-122"/>
              </a:rPr>
              <a:t>35</a:t>
            </a:r>
            <a:r>
              <a:rPr lang="zh-CN" altLang="en-US" sz="1000" i="1" dirty="0">
                <a:latin typeface="微软雅黑" panose="020B0503020204020204" charset="-122"/>
                <a:ea typeface="微软雅黑" panose="020B0503020204020204" charset="-122"/>
              </a:rPr>
              <a:t>份样本），项目组分析</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附录</a:t>
            </a:r>
          </a:p>
        </p:txBody>
      </p:sp>
      <p:sp>
        <p:nvSpPr>
          <p:cNvPr id="10" name="Rectangle 4"/>
          <p:cNvSpPr>
            <a:spLocks noChangeArrowheads="1"/>
          </p:cNvSpPr>
          <p:nvPr/>
        </p:nvSpPr>
        <p:spPr bwMode="auto">
          <a:xfrm>
            <a:off x="1371763" y="1544105"/>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项目进度与工作范围</a:t>
            </a:r>
          </a:p>
        </p:txBody>
      </p:sp>
      <p:sp>
        <p:nvSpPr>
          <p:cNvPr id="12" name="Rectangle 11"/>
          <p:cNvSpPr>
            <a:spLocks noChangeArrowheads="1"/>
          </p:cNvSpPr>
          <p:nvPr/>
        </p:nvSpPr>
        <p:spPr bwMode="auto">
          <a:xfrm>
            <a:off x="585986" y="1544105"/>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1</a:t>
            </a:r>
          </a:p>
        </p:txBody>
      </p:sp>
      <p:sp>
        <p:nvSpPr>
          <p:cNvPr id="13" name="Rectangle 11"/>
          <p:cNvSpPr>
            <a:spLocks noChangeArrowheads="1"/>
          </p:cNvSpPr>
          <p:nvPr/>
        </p:nvSpPr>
        <p:spPr bwMode="auto">
          <a:xfrm>
            <a:off x="585986" y="2209660"/>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2</a:t>
            </a:r>
          </a:p>
        </p:txBody>
      </p:sp>
      <p:sp>
        <p:nvSpPr>
          <p:cNvPr id="16" name="Rectangle 5"/>
          <p:cNvSpPr>
            <a:spLocks noChangeArrowheads="1"/>
          </p:cNvSpPr>
          <p:nvPr/>
        </p:nvSpPr>
        <p:spPr bwMode="auto">
          <a:xfrm>
            <a:off x="1371763" y="2209872"/>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业务成熟度分析</a:t>
            </a:r>
          </a:p>
        </p:txBody>
      </p:sp>
      <p:sp>
        <p:nvSpPr>
          <p:cNvPr id="14" name="Rectangle 11"/>
          <p:cNvSpPr>
            <a:spLocks noChangeArrowheads="1"/>
          </p:cNvSpPr>
          <p:nvPr/>
        </p:nvSpPr>
        <p:spPr bwMode="auto">
          <a:xfrm>
            <a:off x="585986" y="2875216"/>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3</a:t>
            </a:r>
          </a:p>
        </p:txBody>
      </p:sp>
      <p:sp>
        <p:nvSpPr>
          <p:cNvPr id="15" name="Rectangle 5"/>
          <p:cNvSpPr>
            <a:spLocks noChangeArrowheads="1"/>
          </p:cNvSpPr>
          <p:nvPr/>
        </p:nvSpPr>
        <p:spPr bwMode="auto">
          <a:xfrm>
            <a:off x="1371763" y="2875639"/>
            <a:ext cx="7170202" cy="503237"/>
          </a:xfrm>
          <a:prstGeom prst="rect">
            <a:avLst/>
          </a:prstGeom>
          <a:solidFill>
            <a:srgbClr val="D6DBFE"/>
          </a:solidFill>
          <a:ln w="9525" algn="ctr">
            <a:solidFill>
              <a:srgbClr val="7889FB"/>
            </a:solidFill>
            <a:miter lim="800000"/>
          </a:ln>
        </p:spPr>
        <p:txBody>
          <a:bodyPr wrap="none" lIns="90000" tIns="46800" rIns="90000" bIns="46800" anchor="ctr"/>
          <a:lstStyle/>
          <a:p>
            <a:pPr>
              <a:defRPr/>
            </a:pPr>
            <a:r>
              <a:rPr lang="zh-CN" altLang="en-US" sz="1600" b="1" kern="0" dirty="0">
                <a:solidFill>
                  <a:sysClr val="windowText" lastClr="000000"/>
                </a:solidFill>
                <a:latin typeface="微软雅黑" panose="020B0503020204020204" charset="-122"/>
                <a:ea typeface="微软雅黑" panose="020B0503020204020204" charset="-122"/>
              </a:rPr>
              <a:t>总体绩效指标分析</a:t>
            </a:r>
          </a:p>
        </p:txBody>
      </p:sp>
      <p:sp>
        <p:nvSpPr>
          <p:cNvPr id="17" name="Rectangle 4"/>
          <p:cNvSpPr>
            <a:spLocks noChangeArrowheads="1"/>
          </p:cNvSpPr>
          <p:nvPr/>
        </p:nvSpPr>
        <p:spPr bwMode="auto">
          <a:xfrm>
            <a:off x="1371763" y="3541406"/>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现状分析</a:t>
            </a:r>
          </a:p>
        </p:txBody>
      </p:sp>
      <p:sp>
        <p:nvSpPr>
          <p:cNvPr id="18" name="Rectangle 11"/>
          <p:cNvSpPr>
            <a:spLocks noChangeArrowheads="1"/>
          </p:cNvSpPr>
          <p:nvPr/>
        </p:nvSpPr>
        <p:spPr bwMode="auto">
          <a:xfrm>
            <a:off x="585986" y="3540772"/>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4</a:t>
            </a:r>
          </a:p>
        </p:txBody>
      </p:sp>
      <p:sp>
        <p:nvSpPr>
          <p:cNvPr id="20" name="Rectangle 11"/>
          <p:cNvSpPr>
            <a:spLocks noChangeArrowheads="1"/>
          </p:cNvSpPr>
          <p:nvPr/>
        </p:nvSpPr>
        <p:spPr bwMode="auto">
          <a:xfrm>
            <a:off x="585986" y="4206327"/>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5</a:t>
            </a:r>
          </a:p>
        </p:txBody>
      </p:sp>
      <p:sp>
        <p:nvSpPr>
          <p:cNvPr id="21" name="Rectangle 5"/>
          <p:cNvSpPr>
            <a:spLocks noChangeArrowheads="1"/>
          </p:cNvSpPr>
          <p:nvPr/>
        </p:nvSpPr>
        <p:spPr bwMode="auto">
          <a:xfrm>
            <a:off x="1371763" y="4207173"/>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解决思路</a:t>
            </a:r>
          </a:p>
        </p:txBody>
      </p:sp>
      <p:sp>
        <p:nvSpPr>
          <p:cNvPr id="26" name="Rectangle 11"/>
          <p:cNvSpPr>
            <a:spLocks noChangeArrowheads="1"/>
          </p:cNvSpPr>
          <p:nvPr/>
        </p:nvSpPr>
        <p:spPr bwMode="auto">
          <a:xfrm>
            <a:off x="585986" y="4871885"/>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6</a:t>
            </a:r>
          </a:p>
        </p:txBody>
      </p:sp>
      <p:sp>
        <p:nvSpPr>
          <p:cNvPr id="29" name="Rectangle 5"/>
          <p:cNvSpPr>
            <a:spLocks noChangeArrowheads="1"/>
          </p:cNvSpPr>
          <p:nvPr/>
        </p:nvSpPr>
        <p:spPr bwMode="auto">
          <a:xfrm>
            <a:off x="1371763" y="4872938"/>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集成计划体系流程框架</a:t>
            </a:r>
            <a:r>
              <a:rPr lang="en-US" altLang="zh-CN" sz="1600" kern="0" dirty="0">
                <a:solidFill>
                  <a:sysClr val="windowText" lastClr="000000"/>
                </a:solidFill>
                <a:latin typeface="微软雅黑" panose="020B0503020204020204" charset="-122"/>
                <a:ea typeface="微软雅黑" panose="020B0503020204020204" charset="-122"/>
              </a:rPr>
              <a:t>1.0</a:t>
            </a:r>
            <a:endParaRPr lang="zh-CN" altLang="en-US" sz="1600" kern="0" dirty="0">
              <a:solidFill>
                <a:sysClr val="windowText" lastClr="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右箭头 8"/>
          <p:cNvSpPr/>
          <p:nvPr/>
        </p:nvSpPr>
        <p:spPr bwMode="auto">
          <a:xfrm>
            <a:off x="282551" y="1285859"/>
            <a:ext cx="1080000" cy="385198"/>
          </a:xfrm>
          <a:prstGeom prst="rightArrow">
            <a:avLst>
              <a:gd name="adj1" fmla="val 100000"/>
              <a:gd name="adj2" fmla="val 37080"/>
            </a:avLst>
          </a:prstGeom>
          <a:solidFill>
            <a:schemeClr val="accent1"/>
          </a:solidFill>
          <a:ln w="6350">
            <a:solidFill>
              <a:schemeClr val="accent1"/>
            </a:solidFill>
            <a:miter lim="800000"/>
          </a:ln>
        </p:spPr>
        <p:txBody>
          <a:bodyPr wrap="square" lIns="0" tIns="46800" rIns="0" bIns="36000" rtlCol="0" anchor="t">
            <a:noAutofit/>
          </a:bodyPr>
          <a:lstStyle/>
          <a:p>
            <a:pPr algn="ctr">
              <a:lnSpc>
                <a:spcPct val="80000"/>
              </a:lnSpc>
              <a:buClr>
                <a:schemeClr val="tx1"/>
              </a:buClr>
            </a:pPr>
            <a:r>
              <a:rPr lang="en-US" altLang="zh-CN" sz="1400" b="1" dirty="0">
                <a:solidFill>
                  <a:schemeClr val="bg1"/>
                </a:solidFill>
                <a:latin typeface="微软雅黑" panose="020B0503020204020204" charset="-122"/>
                <a:ea typeface="微软雅黑" panose="020B0503020204020204" charset="-122"/>
              </a:rPr>
              <a:t>SCM</a:t>
            </a:r>
            <a:br>
              <a:rPr lang="en-US" altLang="zh-CN" sz="1400" b="1" dirty="0">
                <a:solidFill>
                  <a:schemeClr val="bg1"/>
                </a:solidFill>
                <a:latin typeface="微软雅黑" panose="020B0503020204020204" charset="-122"/>
                <a:ea typeface="微软雅黑" panose="020B0503020204020204" charset="-122"/>
              </a:rPr>
            </a:br>
            <a:r>
              <a:rPr lang="zh-CN" altLang="en-US" sz="1400" b="1" dirty="0">
                <a:solidFill>
                  <a:schemeClr val="bg1"/>
                </a:solidFill>
                <a:latin typeface="微软雅黑" panose="020B0503020204020204" charset="-122"/>
                <a:ea typeface="微软雅黑" panose="020B0503020204020204" charset="-122"/>
              </a:rPr>
              <a:t>转型目标</a:t>
            </a:r>
            <a:endParaRPr lang="en-US" altLang="zh-CN" sz="1400" b="1" dirty="0">
              <a:solidFill>
                <a:schemeClr val="bg1"/>
              </a:solidFill>
              <a:latin typeface="微软雅黑" panose="020B0503020204020204" charset="-122"/>
              <a:ea typeface="微软雅黑" panose="020B0503020204020204" charset="-122"/>
            </a:endParaRPr>
          </a:p>
        </p:txBody>
      </p:sp>
      <p:sp>
        <p:nvSpPr>
          <p:cNvPr id="10" name="右箭头 9"/>
          <p:cNvSpPr/>
          <p:nvPr/>
        </p:nvSpPr>
        <p:spPr bwMode="auto">
          <a:xfrm>
            <a:off x="282551" y="1831655"/>
            <a:ext cx="1080000" cy="525270"/>
          </a:xfrm>
          <a:prstGeom prst="rightArrow">
            <a:avLst>
              <a:gd name="adj1" fmla="val 100000"/>
              <a:gd name="adj2" fmla="val 23154"/>
            </a:avLst>
          </a:prstGeom>
          <a:solidFill>
            <a:schemeClr val="accent1"/>
          </a:solidFill>
          <a:ln w="6350">
            <a:solidFill>
              <a:schemeClr val="accent1"/>
            </a:solidFill>
            <a:miter lim="800000"/>
          </a:ln>
        </p:spPr>
        <p:txBody>
          <a:bodyPr wrap="square" lIns="0" tIns="36000" rIns="0" rtlCol="0" anchor="ctr">
            <a:noAutofit/>
          </a:bodyPr>
          <a:lstStyle/>
          <a:p>
            <a:pPr algn="ctr">
              <a:buClr>
                <a:schemeClr val="tx1"/>
              </a:buClr>
            </a:pPr>
            <a:r>
              <a:rPr lang="zh-CN" altLang="en-US" sz="1400" b="1" dirty="0">
                <a:solidFill>
                  <a:schemeClr val="bg1"/>
                </a:solidFill>
                <a:latin typeface="微软雅黑" panose="020B0503020204020204" charset="-122"/>
                <a:ea typeface="微软雅黑" panose="020B0503020204020204" charset="-122"/>
              </a:rPr>
              <a:t>业务驱动力</a:t>
            </a:r>
            <a:endParaRPr lang="en-US" altLang="zh-CN" sz="1400" b="1" dirty="0">
              <a:solidFill>
                <a:schemeClr val="bg1"/>
              </a:solidFill>
              <a:latin typeface="微软雅黑" panose="020B0503020204020204" charset="-122"/>
              <a:ea typeface="微软雅黑" panose="020B0503020204020204" charset="-122"/>
            </a:endParaRPr>
          </a:p>
        </p:txBody>
      </p:sp>
      <p:sp>
        <p:nvSpPr>
          <p:cNvPr id="11" name="右箭头 10"/>
          <p:cNvSpPr/>
          <p:nvPr/>
        </p:nvSpPr>
        <p:spPr>
          <a:xfrm>
            <a:off x="282552" y="2558682"/>
            <a:ext cx="1080000" cy="3957036"/>
          </a:xfrm>
          <a:prstGeom prst="rightArrow">
            <a:avLst>
              <a:gd name="adj1" fmla="val 100000"/>
              <a:gd name="adj2" fmla="val 14274"/>
            </a:avLst>
          </a:prstGeom>
          <a:solidFill>
            <a:schemeClr val="accent1"/>
          </a:solidFill>
          <a:ln w="6350">
            <a:solidFill>
              <a:schemeClr val="accent1"/>
            </a:solidFill>
            <a:miter lim="800000"/>
          </a:ln>
        </p:spPr>
        <p:txBody>
          <a:bodyPr wrap="square" lIns="0" tIns="36000" rIns="0" rtlCol="0" anchor="ctr">
            <a:noAutofit/>
          </a:bodyPr>
          <a:lstStyle/>
          <a:p>
            <a:pPr algn="ctr">
              <a:buClr>
                <a:schemeClr val="tx1"/>
              </a:buClr>
            </a:pPr>
            <a:r>
              <a:rPr lang="zh-CN" altLang="en-US" sz="1400" b="1" dirty="0">
                <a:solidFill>
                  <a:schemeClr val="bg1"/>
                </a:solidFill>
                <a:latin typeface="微软雅黑" panose="020B0503020204020204" charset="-122"/>
                <a:ea typeface="微软雅黑" panose="020B0503020204020204" charset="-122"/>
              </a:rPr>
              <a:t>关键点</a:t>
            </a:r>
            <a:endParaRPr lang="en-US" altLang="zh-CN" sz="1400" b="1" dirty="0">
              <a:solidFill>
                <a:schemeClr val="bg1"/>
              </a:solidFill>
              <a:latin typeface="微软雅黑" panose="020B0503020204020204" charset="-122"/>
              <a:ea typeface="微软雅黑" panose="020B0503020204020204" charset="-122"/>
            </a:endParaRPr>
          </a:p>
        </p:txBody>
      </p:sp>
      <p:grpSp>
        <p:nvGrpSpPr>
          <p:cNvPr id="2" name="组合 102"/>
          <p:cNvGrpSpPr/>
          <p:nvPr/>
        </p:nvGrpSpPr>
        <p:grpSpPr>
          <a:xfrm>
            <a:off x="1460090" y="1285859"/>
            <a:ext cx="7292024" cy="5171623"/>
            <a:chOff x="1460090" y="1285859"/>
            <a:chExt cx="7292024" cy="5171623"/>
          </a:xfrm>
        </p:grpSpPr>
        <p:cxnSp>
          <p:nvCxnSpPr>
            <p:cNvPr id="15" name="形状 153"/>
            <p:cNvCxnSpPr>
              <a:stCxn id="51" idx="2"/>
              <a:endCxn id="6" idx="0"/>
            </p:cNvCxnSpPr>
            <p:nvPr/>
          </p:nvCxnSpPr>
          <p:spPr>
            <a:xfrm rot="5400000">
              <a:off x="3782960" y="508848"/>
              <a:ext cx="157773" cy="248219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形状 153"/>
            <p:cNvCxnSpPr>
              <a:stCxn id="51" idx="2"/>
              <a:endCxn id="7" idx="0"/>
            </p:cNvCxnSpPr>
            <p:nvPr/>
          </p:nvCxnSpPr>
          <p:spPr>
            <a:xfrm rot="16200000" flipH="1">
              <a:off x="6268311" y="505687"/>
              <a:ext cx="157773" cy="248851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1460090" y="1285859"/>
              <a:ext cx="7285702" cy="385198"/>
            </a:xfrm>
            <a:prstGeom prst="rect">
              <a:avLst/>
            </a:prstGeom>
            <a:noFill/>
            <a:ln>
              <a:solidFill>
                <a:schemeClr val="bg1">
                  <a:lumMod val="85000"/>
                </a:schemeClr>
              </a:solidFill>
            </a:ln>
          </p:spPr>
          <p:txBody>
            <a:bodyPr wrap="square" lIns="72000" tIns="0" rIns="72000" anchor="ctr">
              <a:noAutofit/>
            </a:bodyPr>
            <a:lstStyle/>
            <a:p>
              <a:pPr algn="ctr">
                <a:lnSpc>
                  <a:spcPct val="150000"/>
                </a:lnSpc>
                <a:buClr>
                  <a:srgbClr val="C00000"/>
                </a:buClr>
              </a:pPr>
              <a:r>
                <a:rPr lang="zh-CN" altLang="en-US" sz="2000" b="1" dirty="0">
                  <a:solidFill>
                    <a:srgbClr val="C00000"/>
                  </a:solidFill>
                  <a:latin typeface="微软雅黑" panose="020B0503020204020204" charset="-122"/>
                  <a:ea typeface="微软雅黑" panose="020B0503020204020204" charset="-122"/>
                </a:rPr>
                <a:t>打造敏捷供应链，实现卓越订单交付</a:t>
              </a:r>
              <a:endParaRPr lang="en-US" altLang="zh-CN" sz="2000" b="1" dirty="0">
                <a:solidFill>
                  <a:srgbClr val="C00000"/>
                </a:solidFill>
                <a:latin typeface="微软雅黑" panose="020B0503020204020204" charset="-122"/>
                <a:ea typeface="微软雅黑" panose="020B0503020204020204" charset="-122"/>
              </a:endParaRPr>
            </a:p>
          </p:txBody>
        </p:sp>
        <p:cxnSp>
          <p:nvCxnSpPr>
            <p:cNvPr id="66" name="形状 153"/>
            <p:cNvCxnSpPr>
              <a:stCxn id="51" idx="2"/>
              <a:endCxn id="58" idx="0"/>
            </p:cNvCxnSpPr>
            <p:nvPr/>
          </p:nvCxnSpPr>
          <p:spPr>
            <a:xfrm rot="16200000" flipH="1">
              <a:off x="5025635" y="1748362"/>
              <a:ext cx="157773" cy="31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33" name="矩形 132"/>
            <p:cNvSpPr/>
            <p:nvPr/>
          </p:nvSpPr>
          <p:spPr>
            <a:xfrm>
              <a:off x="4245894" y="2581323"/>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生产稳定且入库准时</a:t>
              </a:r>
            </a:p>
          </p:txBody>
        </p:sp>
        <p:cxnSp>
          <p:nvCxnSpPr>
            <p:cNvPr id="72" name="形状 153"/>
            <p:cNvCxnSpPr>
              <a:stCxn id="73" idx="2"/>
              <a:endCxn id="71" idx="1"/>
            </p:cNvCxnSpPr>
            <p:nvPr/>
          </p:nvCxnSpPr>
          <p:spPr>
            <a:xfrm rot="16200000" flipH="1">
              <a:off x="60483" y="3838167"/>
              <a:ext cx="3212348" cy="1983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矩形 72"/>
            <p:cNvSpPr/>
            <p:nvPr/>
          </p:nvSpPr>
          <p:spPr bwMode="auto">
            <a:xfrm>
              <a:off x="1481294" y="2190714"/>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76" name="形状 153"/>
            <p:cNvCxnSpPr>
              <a:stCxn id="73" idx="2"/>
              <a:endCxn id="69" idx="1"/>
            </p:cNvCxnSpPr>
            <p:nvPr/>
          </p:nvCxnSpPr>
          <p:spPr>
            <a:xfrm rot="16200000" flipH="1">
              <a:off x="1436516" y="2462133"/>
              <a:ext cx="460277" cy="1983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形状 153"/>
            <p:cNvCxnSpPr>
              <a:stCxn id="73" idx="2"/>
              <a:endCxn id="70" idx="1"/>
            </p:cNvCxnSpPr>
            <p:nvPr/>
          </p:nvCxnSpPr>
          <p:spPr>
            <a:xfrm rot="16200000" flipH="1">
              <a:off x="741607" y="3157041"/>
              <a:ext cx="1839319" cy="18754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460090" y="1828830"/>
              <a:ext cx="2321322" cy="525270"/>
            </a:xfrm>
            <a:prstGeom prst="rect">
              <a:avLst/>
            </a:prstGeom>
            <a:solidFill>
              <a:schemeClr val="accent1">
                <a:lumMod val="20000"/>
                <a:lumOff val="80000"/>
              </a:schemeClr>
            </a:solidFill>
            <a:ln>
              <a:solidFill>
                <a:schemeClr val="accent1"/>
              </a:solidFill>
            </a:ln>
          </p:spPr>
          <p:txBody>
            <a:bodyPr wrap="square" tIns="36000" bIns="36000" anchor="t">
              <a:noAutofit/>
            </a:bodyPr>
            <a:lstStyle/>
            <a:p>
              <a:pPr algn="ctr">
                <a:lnSpc>
                  <a:spcPct val="150000"/>
                </a:lnSpc>
                <a:spcBef>
                  <a:spcPts val="0"/>
                </a:spcBef>
                <a:spcAft>
                  <a:spcPts val="0"/>
                </a:spcAft>
                <a:buClr>
                  <a:srgbClr val="C00000"/>
                </a:buClr>
              </a:pPr>
              <a:r>
                <a:rPr lang="zh-CN" altLang="en-US" sz="1600" b="1" dirty="0">
                  <a:solidFill>
                    <a:schemeClr val="tx1"/>
                  </a:solidFill>
                  <a:latin typeface="微软雅黑" panose="020B0503020204020204" charset="-122"/>
                  <a:ea typeface="微软雅黑" panose="020B0503020204020204" charset="-122"/>
                </a:rPr>
                <a:t>更短的交期</a:t>
              </a:r>
            </a:p>
          </p:txBody>
        </p:sp>
        <p:sp>
          <p:nvSpPr>
            <p:cNvPr id="82" name="矩形 81"/>
            <p:cNvSpPr/>
            <p:nvPr/>
          </p:nvSpPr>
          <p:spPr>
            <a:xfrm>
              <a:off x="2023642" y="3083906"/>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订单评审周期短</a:t>
              </a:r>
            </a:p>
          </p:txBody>
        </p:sp>
        <p:sp>
          <p:nvSpPr>
            <p:cNvPr id="83" name="矩形 82"/>
            <p:cNvSpPr/>
            <p:nvPr/>
          </p:nvSpPr>
          <p:spPr>
            <a:xfrm>
              <a:off x="2023642" y="3431755"/>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交期反馈周期短</a:t>
              </a:r>
            </a:p>
          </p:txBody>
        </p:sp>
        <p:sp>
          <p:nvSpPr>
            <p:cNvPr id="84" name="矩形 83"/>
            <p:cNvSpPr/>
            <p:nvPr/>
          </p:nvSpPr>
          <p:spPr bwMode="auto">
            <a:xfrm>
              <a:off x="1775590" y="2845453"/>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85" name="矩形 84"/>
            <p:cNvSpPr/>
            <p:nvPr/>
          </p:nvSpPr>
          <p:spPr bwMode="auto">
            <a:xfrm>
              <a:off x="1775590" y="4216701"/>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86" name="矩形 85"/>
            <p:cNvSpPr/>
            <p:nvPr/>
          </p:nvSpPr>
          <p:spPr bwMode="auto">
            <a:xfrm>
              <a:off x="1775590" y="5584859"/>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87" name="形状 153"/>
            <p:cNvCxnSpPr>
              <a:stCxn id="84" idx="2"/>
              <a:endCxn id="82" idx="1"/>
            </p:cNvCxnSpPr>
            <p:nvPr/>
          </p:nvCxnSpPr>
          <p:spPr>
            <a:xfrm rot="16200000" flipH="1">
              <a:off x="1823674" y="3024010"/>
              <a:ext cx="238084" cy="1618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形状 153"/>
            <p:cNvCxnSpPr>
              <a:stCxn id="85" idx="2"/>
              <a:endCxn id="92" idx="1"/>
            </p:cNvCxnSpPr>
            <p:nvPr/>
          </p:nvCxnSpPr>
          <p:spPr>
            <a:xfrm rot="16200000" flipH="1">
              <a:off x="1823675" y="4395258"/>
              <a:ext cx="238084"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矩形 91"/>
            <p:cNvSpPr/>
            <p:nvPr/>
          </p:nvSpPr>
          <p:spPr>
            <a:xfrm>
              <a:off x="2023642" y="4455153"/>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零部件到位周期短</a:t>
              </a:r>
            </a:p>
          </p:txBody>
        </p:sp>
        <p:sp>
          <p:nvSpPr>
            <p:cNvPr id="93" name="矩形 92"/>
            <p:cNvSpPr/>
            <p:nvPr/>
          </p:nvSpPr>
          <p:spPr>
            <a:xfrm>
              <a:off x="2023642" y="4803002"/>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生产制造周期短</a:t>
              </a:r>
            </a:p>
          </p:txBody>
        </p:sp>
        <p:cxnSp>
          <p:nvCxnSpPr>
            <p:cNvPr id="95" name="形状 153"/>
            <p:cNvCxnSpPr>
              <a:stCxn id="85" idx="2"/>
              <a:endCxn id="93" idx="1"/>
            </p:cNvCxnSpPr>
            <p:nvPr/>
          </p:nvCxnSpPr>
          <p:spPr>
            <a:xfrm rot="16200000" flipH="1">
              <a:off x="1649750" y="4569183"/>
              <a:ext cx="585933"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形状 153"/>
            <p:cNvCxnSpPr>
              <a:stCxn id="84" idx="2"/>
              <a:endCxn id="83" idx="1"/>
            </p:cNvCxnSpPr>
            <p:nvPr/>
          </p:nvCxnSpPr>
          <p:spPr>
            <a:xfrm rot="16200000" flipH="1">
              <a:off x="1649750" y="3197936"/>
              <a:ext cx="585933"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矩形 100"/>
            <p:cNvSpPr/>
            <p:nvPr/>
          </p:nvSpPr>
          <p:spPr>
            <a:xfrm>
              <a:off x="2023642" y="5834526"/>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整机出库周期短</a:t>
              </a:r>
            </a:p>
          </p:txBody>
        </p:sp>
        <p:sp>
          <p:nvSpPr>
            <p:cNvPr id="102" name="矩形 101"/>
            <p:cNvSpPr/>
            <p:nvPr/>
          </p:nvSpPr>
          <p:spPr>
            <a:xfrm>
              <a:off x="2023642" y="6177338"/>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物流发运周期短</a:t>
              </a:r>
            </a:p>
          </p:txBody>
        </p:sp>
        <p:cxnSp>
          <p:nvCxnSpPr>
            <p:cNvPr id="104" name="形状 153"/>
            <p:cNvCxnSpPr>
              <a:stCxn id="86" idx="2"/>
              <a:endCxn id="101" idx="1"/>
            </p:cNvCxnSpPr>
            <p:nvPr/>
          </p:nvCxnSpPr>
          <p:spPr>
            <a:xfrm rot="16200000" flipH="1">
              <a:off x="1818068" y="5769024"/>
              <a:ext cx="249298"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形状 153"/>
            <p:cNvCxnSpPr>
              <a:stCxn id="86" idx="2"/>
              <a:endCxn id="102" idx="1"/>
            </p:cNvCxnSpPr>
            <p:nvPr/>
          </p:nvCxnSpPr>
          <p:spPr>
            <a:xfrm rot="16200000" flipH="1">
              <a:off x="1646662" y="5940430"/>
              <a:ext cx="592110"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1765817" y="5333394"/>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整机交付周期短</a:t>
              </a:r>
            </a:p>
          </p:txBody>
        </p:sp>
        <p:sp>
          <p:nvSpPr>
            <p:cNvPr id="69" name="矩形 68"/>
            <p:cNvSpPr/>
            <p:nvPr/>
          </p:nvSpPr>
          <p:spPr>
            <a:xfrm>
              <a:off x="1765814" y="2581323"/>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订单响应周期短</a:t>
              </a:r>
            </a:p>
          </p:txBody>
        </p:sp>
        <p:sp>
          <p:nvSpPr>
            <p:cNvPr id="70" name="矩形 69"/>
            <p:cNvSpPr/>
            <p:nvPr/>
          </p:nvSpPr>
          <p:spPr>
            <a:xfrm>
              <a:off x="1755040" y="3960366"/>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订单组织周期短</a:t>
              </a:r>
            </a:p>
          </p:txBody>
        </p:sp>
        <p:cxnSp>
          <p:nvCxnSpPr>
            <p:cNvPr id="112" name="形状 153"/>
            <p:cNvCxnSpPr>
              <a:stCxn id="113" idx="2"/>
              <a:endCxn id="131" idx="1"/>
            </p:cNvCxnSpPr>
            <p:nvPr/>
          </p:nvCxnSpPr>
          <p:spPr>
            <a:xfrm rot="16200000" flipH="1">
              <a:off x="2434107" y="3955396"/>
              <a:ext cx="3446805" cy="19832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矩形 112"/>
            <p:cNvSpPr/>
            <p:nvPr/>
          </p:nvSpPr>
          <p:spPr bwMode="auto">
            <a:xfrm>
              <a:off x="3972147" y="2190714"/>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115" name="形状 153"/>
            <p:cNvCxnSpPr>
              <a:stCxn id="113" idx="2"/>
              <a:endCxn id="133" idx="1"/>
            </p:cNvCxnSpPr>
            <p:nvPr/>
          </p:nvCxnSpPr>
          <p:spPr>
            <a:xfrm rot="16200000" flipH="1">
              <a:off x="3921983" y="2467520"/>
              <a:ext cx="460277" cy="1875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矩形 117"/>
            <p:cNvSpPr/>
            <p:nvPr/>
          </p:nvSpPr>
          <p:spPr bwMode="auto">
            <a:xfrm>
              <a:off x="4266443" y="2833100"/>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119" name="矩形 118"/>
            <p:cNvSpPr/>
            <p:nvPr/>
          </p:nvSpPr>
          <p:spPr bwMode="auto">
            <a:xfrm>
              <a:off x="4266443" y="2818303"/>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120" name="矩形 119"/>
            <p:cNvSpPr/>
            <p:nvPr/>
          </p:nvSpPr>
          <p:spPr bwMode="auto">
            <a:xfrm>
              <a:off x="4266443" y="5839689"/>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122" name="形状 153"/>
            <p:cNvCxnSpPr>
              <a:stCxn id="119" idx="2"/>
              <a:endCxn id="123" idx="1"/>
            </p:cNvCxnSpPr>
            <p:nvPr/>
          </p:nvCxnSpPr>
          <p:spPr>
            <a:xfrm rot="16200000" flipH="1">
              <a:off x="4304365" y="3007023"/>
              <a:ext cx="265234"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矩形 122"/>
            <p:cNvSpPr/>
            <p:nvPr/>
          </p:nvSpPr>
          <p:spPr>
            <a:xfrm>
              <a:off x="4521320" y="3083906"/>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需求计划准确率高</a:t>
              </a:r>
            </a:p>
          </p:txBody>
        </p:sp>
        <p:sp>
          <p:nvSpPr>
            <p:cNvPr id="124" name="矩形 123"/>
            <p:cNvSpPr/>
            <p:nvPr/>
          </p:nvSpPr>
          <p:spPr>
            <a:xfrm>
              <a:off x="4521320" y="4702205"/>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生产计划按时完成</a:t>
              </a:r>
            </a:p>
          </p:txBody>
        </p:sp>
        <p:cxnSp>
          <p:nvCxnSpPr>
            <p:cNvPr id="125" name="形状 153"/>
            <p:cNvCxnSpPr>
              <a:stCxn id="119" idx="2"/>
              <a:endCxn id="124" idx="1"/>
            </p:cNvCxnSpPr>
            <p:nvPr/>
          </p:nvCxnSpPr>
          <p:spPr>
            <a:xfrm rot="16200000" flipH="1">
              <a:off x="3495215" y="3816172"/>
              <a:ext cx="1883533"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7" name="矩形 126"/>
            <p:cNvSpPr/>
            <p:nvPr/>
          </p:nvSpPr>
          <p:spPr>
            <a:xfrm>
              <a:off x="4521320" y="6098037"/>
              <a:ext cx="1595909" cy="350180"/>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pPr>
              <a:r>
                <a:rPr lang="zh-CN" altLang="en-US" sz="1050" b="1" dirty="0">
                  <a:solidFill>
                    <a:schemeClr val="tx1"/>
                  </a:solidFill>
                  <a:latin typeface="微软雅黑" panose="020B0503020204020204" charset="-122"/>
                  <a:ea typeface="微软雅黑" panose="020B0503020204020204" charset="-122"/>
                </a:rPr>
                <a:t>整机准时送到</a:t>
              </a:r>
              <a:endParaRPr lang="en-US" altLang="zh-CN" sz="1050" b="1" dirty="0">
                <a:solidFill>
                  <a:schemeClr val="tx1"/>
                </a:solidFill>
                <a:latin typeface="微软雅黑" panose="020B0503020204020204" charset="-122"/>
                <a:ea typeface="微软雅黑" panose="020B0503020204020204" charset="-122"/>
              </a:endParaRPr>
            </a:p>
            <a:p>
              <a:pPr algn="ctr">
                <a:lnSpc>
                  <a:spcPct val="90000"/>
                </a:lnSpc>
              </a:pPr>
              <a:r>
                <a:rPr lang="zh-CN" altLang="en-US" sz="1050" b="1" dirty="0">
                  <a:solidFill>
                    <a:schemeClr val="tx1"/>
                  </a:solidFill>
                  <a:latin typeface="微软雅黑" panose="020B0503020204020204" charset="-122"/>
                  <a:ea typeface="微软雅黑" panose="020B0503020204020204" charset="-122"/>
                </a:rPr>
                <a:t>并确保质量</a:t>
              </a:r>
            </a:p>
          </p:txBody>
        </p:sp>
        <p:cxnSp>
          <p:nvCxnSpPr>
            <p:cNvPr id="129" name="形状 153"/>
            <p:cNvCxnSpPr>
              <a:stCxn id="120" idx="2"/>
              <a:endCxn id="127" idx="1"/>
            </p:cNvCxnSpPr>
            <p:nvPr/>
          </p:nvCxnSpPr>
          <p:spPr>
            <a:xfrm rot="16200000" flipH="1">
              <a:off x="4290484" y="6042290"/>
              <a:ext cx="292997"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1" name="矩形 130"/>
            <p:cNvSpPr/>
            <p:nvPr/>
          </p:nvSpPr>
          <p:spPr>
            <a:xfrm>
              <a:off x="4256670" y="5567852"/>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物流发运准时</a:t>
              </a:r>
            </a:p>
          </p:txBody>
        </p:sp>
        <p:sp>
          <p:nvSpPr>
            <p:cNvPr id="58" name="矩形 57"/>
            <p:cNvSpPr/>
            <p:nvPr/>
          </p:nvSpPr>
          <p:spPr>
            <a:xfrm>
              <a:off x="3945441" y="1828830"/>
              <a:ext cx="2321322" cy="525270"/>
            </a:xfrm>
            <a:prstGeom prst="rect">
              <a:avLst/>
            </a:prstGeom>
            <a:solidFill>
              <a:schemeClr val="accent1">
                <a:lumMod val="20000"/>
                <a:lumOff val="80000"/>
              </a:schemeClr>
            </a:solidFill>
            <a:ln>
              <a:solidFill>
                <a:schemeClr val="accent1"/>
              </a:solidFill>
            </a:ln>
          </p:spPr>
          <p:txBody>
            <a:bodyPr wrap="square" tIns="36000" bIns="36000" anchor="t">
              <a:noAutofit/>
            </a:bodyPr>
            <a:lstStyle/>
            <a:p>
              <a:pPr algn="ctr">
                <a:lnSpc>
                  <a:spcPct val="150000"/>
                </a:lnSpc>
                <a:spcBef>
                  <a:spcPts val="0"/>
                </a:spcBef>
                <a:spcAft>
                  <a:spcPts val="0"/>
                </a:spcAft>
                <a:buClr>
                  <a:srgbClr val="C00000"/>
                </a:buClr>
              </a:pPr>
              <a:r>
                <a:rPr lang="zh-CN" altLang="en-US" sz="1600" b="1" dirty="0">
                  <a:solidFill>
                    <a:schemeClr val="tx1"/>
                  </a:solidFill>
                  <a:latin typeface="微软雅黑" panose="020B0503020204020204" charset="-122"/>
                  <a:ea typeface="微软雅黑" panose="020B0503020204020204" charset="-122"/>
                </a:rPr>
                <a:t>更准时的交付</a:t>
              </a:r>
            </a:p>
          </p:txBody>
        </p:sp>
        <p:sp>
          <p:nvSpPr>
            <p:cNvPr id="140" name="矩形 139"/>
            <p:cNvSpPr/>
            <p:nvPr/>
          </p:nvSpPr>
          <p:spPr>
            <a:xfrm>
              <a:off x="4521320" y="3470972"/>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锁定计划不变更</a:t>
              </a:r>
            </a:p>
          </p:txBody>
        </p:sp>
        <p:sp>
          <p:nvSpPr>
            <p:cNvPr id="141" name="矩形 140"/>
            <p:cNvSpPr/>
            <p:nvPr/>
          </p:nvSpPr>
          <p:spPr>
            <a:xfrm>
              <a:off x="4521320" y="5074322"/>
              <a:ext cx="1595909" cy="350180"/>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pPr>
              <a:r>
                <a:rPr lang="zh-CN" altLang="en-US" sz="1050" b="1" dirty="0">
                  <a:solidFill>
                    <a:schemeClr val="tx1"/>
                  </a:solidFill>
                  <a:latin typeface="微软雅黑" panose="020B0503020204020204" charset="-122"/>
                  <a:ea typeface="微软雅黑" panose="020B0503020204020204" charset="-122"/>
                </a:rPr>
                <a:t>整机准时入库</a:t>
              </a:r>
              <a:endParaRPr lang="en-US" altLang="zh-CN" sz="1050" b="1" dirty="0">
                <a:solidFill>
                  <a:schemeClr val="tx1"/>
                </a:solidFill>
                <a:latin typeface="微软雅黑" panose="020B0503020204020204" charset="-122"/>
                <a:ea typeface="微软雅黑" panose="020B0503020204020204" charset="-122"/>
              </a:endParaRPr>
            </a:p>
            <a:p>
              <a:pPr algn="ctr">
                <a:lnSpc>
                  <a:spcPct val="90000"/>
                </a:lnSpc>
              </a:pPr>
              <a:r>
                <a:rPr lang="zh-CN" altLang="en-US" sz="1050" b="1" dirty="0">
                  <a:solidFill>
                    <a:schemeClr val="tx1"/>
                  </a:solidFill>
                  <a:latin typeface="微软雅黑" panose="020B0503020204020204" charset="-122"/>
                  <a:ea typeface="微软雅黑" panose="020B0503020204020204" charset="-122"/>
                </a:rPr>
                <a:t>并确保质量</a:t>
              </a:r>
            </a:p>
          </p:txBody>
        </p:sp>
        <p:sp>
          <p:nvSpPr>
            <p:cNvPr id="142" name="矩形 141"/>
            <p:cNvSpPr/>
            <p:nvPr/>
          </p:nvSpPr>
          <p:spPr>
            <a:xfrm>
              <a:off x="4521320" y="4315139"/>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生产过程不停线</a:t>
              </a:r>
            </a:p>
          </p:txBody>
        </p:sp>
        <p:sp>
          <p:nvSpPr>
            <p:cNvPr id="143" name="矩形 142"/>
            <p:cNvSpPr/>
            <p:nvPr/>
          </p:nvSpPr>
          <p:spPr>
            <a:xfrm>
              <a:off x="4521320" y="3858037"/>
              <a:ext cx="1595909" cy="350180"/>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pPr>
              <a:r>
                <a:rPr lang="zh-CN" altLang="en-US" sz="1050" b="1" dirty="0">
                  <a:solidFill>
                    <a:schemeClr val="tx1"/>
                  </a:solidFill>
                  <a:latin typeface="微软雅黑" panose="020B0503020204020204" charset="-122"/>
                  <a:ea typeface="微软雅黑" panose="020B0503020204020204" charset="-122"/>
                </a:rPr>
                <a:t>零部件准时供货</a:t>
              </a:r>
              <a:endParaRPr lang="en-US" altLang="zh-CN" sz="1050" b="1" dirty="0">
                <a:solidFill>
                  <a:schemeClr val="tx1"/>
                </a:solidFill>
                <a:latin typeface="微软雅黑" panose="020B0503020204020204" charset="-122"/>
                <a:ea typeface="微软雅黑" panose="020B0503020204020204" charset="-122"/>
              </a:endParaRPr>
            </a:p>
            <a:p>
              <a:pPr algn="ctr">
                <a:lnSpc>
                  <a:spcPct val="90000"/>
                </a:lnSpc>
              </a:pPr>
              <a:r>
                <a:rPr lang="zh-CN" altLang="en-US" sz="1050" b="1" dirty="0">
                  <a:solidFill>
                    <a:schemeClr val="tx1"/>
                  </a:solidFill>
                  <a:latin typeface="微软雅黑" panose="020B0503020204020204" charset="-122"/>
                  <a:ea typeface="微软雅黑" panose="020B0503020204020204" charset="-122"/>
                </a:rPr>
                <a:t>并确保质量</a:t>
              </a:r>
            </a:p>
          </p:txBody>
        </p:sp>
        <p:cxnSp>
          <p:nvCxnSpPr>
            <p:cNvPr id="144" name="形状 153"/>
            <p:cNvCxnSpPr>
              <a:stCxn id="119" idx="2"/>
              <a:endCxn id="140" idx="1"/>
            </p:cNvCxnSpPr>
            <p:nvPr/>
          </p:nvCxnSpPr>
          <p:spPr>
            <a:xfrm rot="16200000" flipH="1">
              <a:off x="4110832" y="3200556"/>
              <a:ext cx="652300"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形状 153"/>
            <p:cNvCxnSpPr>
              <a:stCxn id="119" idx="2"/>
              <a:endCxn id="143" idx="1"/>
            </p:cNvCxnSpPr>
            <p:nvPr/>
          </p:nvCxnSpPr>
          <p:spPr>
            <a:xfrm rot="16200000" flipH="1">
              <a:off x="3899790" y="3411597"/>
              <a:ext cx="1074384"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形状 153"/>
            <p:cNvCxnSpPr>
              <a:stCxn id="119" idx="2"/>
              <a:endCxn id="142" idx="1"/>
            </p:cNvCxnSpPr>
            <p:nvPr/>
          </p:nvCxnSpPr>
          <p:spPr>
            <a:xfrm rot="16200000" flipH="1">
              <a:off x="3688748" y="3622639"/>
              <a:ext cx="1496468"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形状 153"/>
            <p:cNvCxnSpPr>
              <a:stCxn id="119" idx="2"/>
              <a:endCxn id="141" idx="1"/>
            </p:cNvCxnSpPr>
            <p:nvPr/>
          </p:nvCxnSpPr>
          <p:spPr>
            <a:xfrm rot="16200000" flipH="1">
              <a:off x="3291648" y="4019740"/>
              <a:ext cx="2290668"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形状 153"/>
            <p:cNvCxnSpPr>
              <a:stCxn id="158" idx="2"/>
              <a:endCxn id="176" idx="1"/>
            </p:cNvCxnSpPr>
            <p:nvPr/>
          </p:nvCxnSpPr>
          <p:spPr>
            <a:xfrm rot="16200000" flipH="1">
              <a:off x="4858355" y="4004940"/>
              <a:ext cx="3545894" cy="1983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8" name="矩形 157"/>
            <p:cNvSpPr/>
            <p:nvPr/>
          </p:nvSpPr>
          <p:spPr bwMode="auto">
            <a:xfrm>
              <a:off x="6445940" y="2190714"/>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159" name="形状 153"/>
            <p:cNvCxnSpPr>
              <a:stCxn id="158" idx="2"/>
              <a:endCxn id="177" idx="1"/>
            </p:cNvCxnSpPr>
            <p:nvPr/>
          </p:nvCxnSpPr>
          <p:spPr>
            <a:xfrm rot="16200000" flipH="1">
              <a:off x="6401162" y="2462133"/>
              <a:ext cx="460277" cy="1983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形状 153"/>
            <p:cNvCxnSpPr>
              <a:stCxn id="158" idx="2"/>
              <a:endCxn id="178" idx="1"/>
            </p:cNvCxnSpPr>
            <p:nvPr/>
          </p:nvCxnSpPr>
          <p:spPr>
            <a:xfrm rot="16200000" flipH="1">
              <a:off x="5354177" y="3509118"/>
              <a:ext cx="2543473" cy="18754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6988288" y="3083906"/>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整机库存成本低</a:t>
              </a:r>
            </a:p>
          </p:txBody>
        </p:sp>
        <p:sp>
          <p:nvSpPr>
            <p:cNvPr id="162" name="矩形 161"/>
            <p:cNvSpPr/>
            <p:nvPr/>
          </p:nvSpPr>
          <p:spPr>
            <a:xfrm>
              <a:off x="6988288" y="3793478"/>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零部件库存成本低</a:t>
              </a:r>
            </a:p>
          </p:txBody>
        </p:sp>
        <p:sp>
          <p:nvSpPr>
            <p:cNvPr id="163" name="矩形 162"/>
            <p:cNvSpPr/>
            <p:nvPr/>
          </p:nvSpPr>
          <p:spPr bwMode="auto">
            <a:xfrm>
              <a:off x="6740236" y="2845453"/>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164" name="矩形 163"/>
            <p:cNvSpPr/>
            <p:nvPr/>
          </p:nvSpPr>
          <p:spPr bwMode="auto">
            <a:xfrm>
              <a:off x="6740236" y="4920855"/>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165" name="矩形 164"/>
            <p:cNvSpPr/>
            <p:nvPr/>
          </p:nvSpPr>
          <p:spPr bwMode="auto">
            <a:xfrm>
              <a:off x="6740236" y="5918406"/>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166" name="形状 153"/>
            <p:cNvCxnSpPr>
              <a:stCxn id="163" idx="2"/>
              <a:endCxn id="161" idx="1"/>
            </p:cNvCxnSpPr>
            <p:nvPr/>
          </p:nvCxnSpPr>
          <p:spPr>
            <a:xfrm rot="16200000" flipH="1">
              <a:off x="6788321" y="3024011"/>
              <a:ext cx="238084"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7" name="形状 153"/>
            <p:cNvCxnSpPr>
              <a:stCxn id="164" idx="2"/>
              <a:endCxn id="168" idx="1"/>
            </p:cNvCxnSpPr>
            <p:nvPr/>
          </p:nvCxnSpPr>
          <p:spPr>
            <a:xfrm rot="16200000" flipH="1">
              <a:off x="6788320" y="5099411"/>
              <a:ext cx="238084" cy="1618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矩形 167"/>
            <p:cNvSpPr/>
            <p:nvPr/>
          </p:nvSpPr>
          <p:spPr>
            <a:xfrm>
              <a:off x="6988288" y="5159307"/>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产能充分利用</a:t>
              </a:r>
            </a:p>
          </p:txBody>
        </p:sp>
        <p:cxnSp>
          <p:nvCxnSpPr>
            <p:cNvPr id="171" name="形状 153"/>
            <p:cNvCxnSpPr>
              <a:stCxn id="163" idx="2"/>
              <a:endCxn id="162" idx="1"/>
            </p:cNvCxnSpPr>
            <p:nvPr/>
          </p:nvCxnSpPr>
          <p:spPr>
            <a:xfrm rot="16200000" flipH="1">
              <a:off x="6435270" y="3377063"/>
              <a:ext cx="944187"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6988288" y="6168073"/>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管理人员成本低</a:t>
              </a:r>
            </a:p>
          </p:txBody>
        </p:sp>
        <p:cxnSp>
          <p:nvCxnSpPr>
            <p:cNvPr id="174" name="形状 153"/>
            <p:cNvCxnSpPr>
              <a:stCxn id="165" idx="2"/>
              <a:endCxn id="172" idx="1"/>
            </p:cNvCxnSpPr>
            <p:nvPr/>
          </p:nvCxnSpPr>
          <p:spPr>
            <a:xfrm rot="16200000" flipH="1">
              <a:off x="6782713" y="6102569"/>
              <a:ext cx="249298" cy="1618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6" name="矩形 175"/>
            <p:cNvSpPr/>
            <p:nvPr/>
          </p:nvSpPr>
          <p:spPr>
            <a:xfrm>
              <a:off x="6730463" y="5666941"/>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供应链管理成本低</a:t>
              </a:r>
            </a:p>
          </p:txBody>
        </p:sp>
        <p:sp>
          <p:nvSpPr>
            <p:cNvPr id="178" name="矩形 177"/>
            <p:cNvSpPr/>
            <p:nvPr/>
          </p:nvSpPr>
          <p:spPr>
            <a:xfrm>
              <a:off x="6719687" y="4664520"/>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生产投入成本低</a:t>
              </a:r>
            </a:p>
          </p:txBody>
        </p:sp>
        <p:sp>
          <p:nvSpPr>
            <p:cNvPr id="7" name="矩形 6"/>
            <p:cNvSpPr/>
            <p:nvPr/>
          </p:nvSpPr>
          <p:spPr>
            <a:xfrm>
              <a:off x="6430792" y="1828830"/>
              <a:ext cx="2321322" cy="525270"/>
            </a:xfrm>
            <a:prstGeom prst="rect">
              <a:avLst/>
            </a:prstGeom>
            <a:solidFill>
              <a:schemeClr val="accent1">
                <a:lumMod val="20000"/>
                <a:lumOff val="80000"/>
              </a:schemeClr>
            </a:solidFill>
            <a:ln>
              <a:solidFill>
                <a:schemeClr val="accent1"/>
              </a:solidFill>
            </a:ln>
          </p:spPr>
          <p:txBody>
            <a:bodyPr wrap="square" tIns="36000" bIns="36000" anchor="t">
              <a:noAutofit/>
            </a:bodyPr>
            <a:lstStyle/>
            <a:p>
              <a:pPr algn="ctr">
                <a:lnSpc>
                  <a:spcPct val="150000"/>
                </a:lnSpc>
                <a:spcBef>
                  <a:spcPts val="0"/>
                </a:spcBef>
                <a:spcAft>
                  <a:spcPts val="0"/>
                </a:spcAft>
                <a:buClr>
                  <a:srgbClr val="C00000"/>
                </a:buClr>
              </a:pPr>
              <a:r>
                <a:rPr lang="zh-CN" altLang="en-US" sz="1600" b="1" dirty="0">
                  <a:solidFill>
                    <a:schemeClr val="tx1"/>
                  </a:solidFill>
                  <a:latin typeface="微软雅黑" panose="020B0503020204020204" charset="-122"/>
                  <a:ea typeface="微软雅黑" panose="020B0503020204020204" charset="-122"/>
                </a:rPr>
                <a:t>更低的成本</a:t>
              </a:r>
            </a:p>
          </p:txBody>
        </p:sp>
        <p:sp>
          <p:nvSpPr>
            <p:cNvPr id="179" name="矩形 178"/>
            <p:cNvSpPr/>
            <p:nvPr/>
          </p:nvSpPr>
          <p:spPr>
            <a:xfrm>
              <a:off x="6988288" y="4148263"/>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在制品库存成本低</a:t>
              </a:r>
            </a:p>
          </p:txBody>
        </p:sp>
        <p:sp>
          <p:nvSpPr>
            <p:cNvPr id="180" name="矩形 179"/>
            <p:cNvSpPr/>
            <p:nvPr/>
          </p:nvSpPr>
          <p:spPr>
            <a:xfrm>
              <a:off x="6988288" y="3438692"/>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超期车数量少</a:t>
              </a:r>
            </a:p>
          </p:txBody>
        </p:sp>
        <p:cxnSp>
          <p:nvCxnSpPr>
            <p:cNvPr id="181" name="形状 153"/>
            <p:cNvCxnSpPr>
              <a:stCxn id="163" idx="2"/>
              <a:endCxn id="179" idx="1"/>
            </p:cNvCxnSpPr>
            <p:nvPr/>
          </p:nvCxnSpPr>
          <p:spPr>
            <a:xfrm rot="16200000" flipH="1">
              <a:off x="6256143" y="3556189"/>
              <a:ext cx="1302441"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5" name="形状 153"/>
            <p:cNvCxnSpPr>
              <a:stCxn id="163" idx="2"/>
              <a:endCxn id="180" idx="1"/>
            </p:cNvCxnSpPr>
            <p:nvPr/>
          </p:nvCxnSpPr>
          <p:spPr>
            <a:xfrm rot="16200000" flipH="1">
              <a:off x="6610929" y="3201403"/>
              <a:ext cx="592870"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7" name="矩形 176"/>
            <p:cNvSpPr/>
            <p:nvPr/>
          </p:nvSpPr>
          <p:spPr>
            <a:xfrm>
              <a:off x="6730460" y="2581323"/>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库存成本低</a:t>
              </a:r>
            </a:p>
          </p:txBody>
        </p:sp>
      </p:grpSp>
      <p:sp>
        <p:nvSpPr>
          <p:cNvPr id="96"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dirty="0"/>
              <a:t>集成计划体系的搭建将会为实现</a:t>
            </a:r>
            <a:r>
              <a:rPr dirty="0"/>
              <a:t>SCM</a:t>
            </a:r>
            <a:r>
              <a:rPr lang="zh-CN" altLang="en-US" dirty="0"/>
              <a:t>转型目标打下坚实的基础</a:t>
            </a:r>
            <a:endParaRPr lang="zh-CN" altLang="en-US" kern="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右箭头 8"/>
          <p:cNvSpPr/>
          <p:nvPr/>
        </p:nvSpPr>
        <p:spPr bwMode="auto">
          <a:xfrm>
            <a:off x="282551" y="1285859"/>
            <a:ext cx="1080000" cy="385198"/>
          </a:xfrm>
          <a:prstGeom prst="rightArrow">
            <a:avLst>
              <a:gd name="adj1" fmla="val 100000"/>
              <a:gd name="adj2" fmla="val 37080"/>
            </a:avLst>
          </a:prstGeom>
          <a:solidFill>
            <a:schemeClr val="accent1"/>
          </a:solidFill>
          <a:ln w="6350">
            <a:solidFill>
              <a:schemeClr val="accent1"/>
            </a:solidFill>
            <a:miter lim="800000"/>
          </a:ln>
        </p:spPr>
        <p:txBody>
          <a:bodyPr wrap="square" lIns="0" tIns="46800" rIns="0" bIns="36000" rtlCol="0" anchor="t">
            <a:noAutofit/>
          </a:bodyPr>
          <a:lstStyle/>
          <a:p>
            <a:pPr algn="ctr">
              <a:lnSpc>
                <a:spcPct val="80000"/>
              </a:lnSpc>
              <a:buClr>
                <a:schemeClr val="tx1"/>
              </a:buClr>
            </a:pPr>
            <a:r>
              <a:rPr lang="en-US" altLang="zh-CN" sz="1400" b="1" dirty="0">
                <a:solidFill>
                  <a:schemeClr val="bg1"/>
                </a:solidFill>
                <a:latin typeface="微软雅黑" panose="020B0503020204020204" charset="-122"/>
                <a:ea typeface="微软雅黑" panose="020B0503020204020204" charset="-122"/>
              </a:rPr>
              <a:t>SCM</a:t>
            </a:r>
            <a:br>
              <a:rPr lang="en-US" altLang="zh-CN" sz="1400" b="1" dirty="0">
                <a:solidFill>
                  <a:schemeClr val="bg1"/>
                </a:solidFill>
                <a:latin typeface="微软雅黑" panose="020B0503020204020204" charset="-122"/>
                <a:ea typeface="微软雅黑" panose="020B0503020204020204" charset="-122"/>
              </a:rPr>
            </a:br>
            <a:r>
              <a:rPr lang="zh-CN" altLang="en-US" sz="1400" b="1" dirty="0">
                <a:solidFill>
                  <a:schemeClr val="bg1"/>
                </a:solidFill>
                <a:latin typeface="微软雅黑" panose="020B0503020204020204" charset="-122"/>
                <a:ea typeface="微软雅黑" panose="020B0503020204020204" charset="-122"/>
              </a:rPr>
              <a:t>转型目标</a:t>
            </a:r>
            <a:endParaRPr lang="en-US" altLang="zh-CN" sz="1400" b="1" dirty="0">
              <a:solidFill>
                <a:schemeClr val="bg1"/>
              </a:solidFill>
              <a:latin typeface="微软雅黑" panose="020B0503020204020204" charset="-122"/>
              <a:ea typeface="微软雅黑" panose="020B0503020204020204" charset="-122"/>
            </a:endParaRPr>
          </a:p>
        </p:txBody>
      </p:sp>
      <p:sp>
        <p:nvSpPr>
          <p:cNvPr id="10" name="右箭头 9"/>
          <p:cNvSpPr/>
          <p:nvPr/>
        </p:nvSpPr>
        <p:spPr bwMode="auto">
          <a:xfrm>
            <a:off x="282551" y="1831655"/>
            <a:ext cx="1080000" cy="525270"/>
          </a:xfrm>
          <a:prstGeom prst="rightArrow">
            <a:avLst>
              <a:gd name="adj1" fmla="val 100000"/>
              <a:gd name="adj2" fmla="val 23154"/>
            </a:avLst>
          </a:prstGeom>
          <a:solidFill>
            <a:schemeClr val="accent1"/>
          </a:solidFill>
          <a:ln w="6350">
            <a:solidFill>
              <a:schemeClr val="accent1"/>
            </a:solidFill>
            <a:miter lim="800000"/>
          </a:ln>
        </p:spPr>
        <p:txBody>
          <a:bodyPr wrap="square" lIns="0" tIns="36000" rIns="0" rtlCol="0" anchor="ctr">
            <a:noAutofit/>
          </a:bodyPr>
          <a:lstStyle/>
          <a:p>
            <a:pPr algn="ctr">
              <a:buClr>
                <a:schemeClr val="tx1"/>
              </a:buClr>
            </a:pPr>
            <a:r>
              <a:rPr lang="zh-CN" altLang="en-US" sz="1400" b="1" dirty="0">
                <a:solidFill>
                  <a:schemeClr val="bg1"/>
                </a:solidFill>
                <a:latin typeface="微软雅黑" panose="020B0503020204020204" charset="-122"/>
                <a:ea typeface="微软雅黑" panose="020B0503020204020204" charset="-122"/>
              </a:rPr>
              <a:t>业务驱动力</a:t>
            </a:r>
            <a:endParaRPr lang="en-US" altLang="zh-CN" sz="1400" b="1" dirty="0">
              <a:solidFill>
                <a:schemeClr val="bg1"/>
              </a:solidFill>
              <a:latin typeface="微软雅黑" panose="020B0503020204020204" charset="-122"/>
              <a:ea typeface="微软雅黑" panose="020B0503020204020204" charset="-122"/>
            </a:endParaRPr>
          </a:p>
        </p:txBody>
      </p:sp>
      <p:sp>
        <p:nvSpPr>
          <p:cNvPr id="11" name="右箭头 10"/>
          <p:cNvSpPr/>
          <p:nvPr/>
        </p:nvSpPr>
        <p:spPr>
          <a:xfrm>
            <a:off x="282552" y="2558682"/>
            <a:ext cx="1080000" cy="3957036"/>
          </a:xfrm>
          <a:prstGeom prst="rightArrow">
            <a:avLst>
              <a:gd name="adj1" fmla="val 100000"/>
              <a:gd name="adj2" fmla="val 14274"/>
            </a:avLst>
          </a:prstGeom>
          <a:solidFill>
            <a:schemeClr val="accent1"/>
          </a:solidFill>
          <a:ln w="6350">
            <a:solidFill>
              <a:schemeClr val="accent1"/>
            </a:solidFill>
            <a:miter lim="800000"/>
          </a:ln>
        </p:spPr>
        <p:txBody>
          <a:bodyPr wrap="square" lIns="0" tIns="36000" rIns="0" rtlCol="0" anchor="ctr">
            <a:noAutofit/>
          </a:bodyPr>
          <a:lstStyle/>
          <a:p>
            <a:pPr algn="ctr">
              <a:buClr>
                <a:schemeClr val="tx1"/>
              </a:buClr>
            </a:pPr>
            <a:r>
              <a:rPr lang="zh-CN" altLang="en-US" sz="1400" b="1" dirty="0">
                <a:solidFill>
                  <a:schemeClr val="bg1"/>
                </a:solidFill>
                <a:latin typeface="微软雅黑" panose="020B0503020204020204" charset="-122"/>
                <a:ea typeface="微软雅黑" panose="020B0503020204020204" charset="-122"/>
              </a:rPr>
              <a:t>关键点</a:t>
            </a:r>
            <a:endParaRPr lang="en-US" altLang="zh-CN" sz="1400" b="1" dirty="0">
              <a:solidFill>
                <a:schemeClr val="bg1"/>
              </a:solidFill>
              <a:latin typeface="微软雅黑" panose="020B0503020204020204" charset="-122"/>
              <a:ea typeface="微软雅黑" panose="020B0503020204020204" charset="-122"/>
            </a:endParaRPr>
          </a:p>
        </p:txBody>
      </p:sp>
      <p:grpSp>
        <p:nvGrpSpPr>
          <p:cNvPr id="2" name="组合 102"/>
          <p:cNvGrpSpPr/>
          <p:nvPr/>
        </p:nvGrpSpPr>
        <p:grpSpPr>
          <a:xfrm>
            <a:off x="1460090" y="1285859"/>
            <a:ext cx="7292024" cy="5171623"/>
            <a:chOff x="1460090" y="1285859"/>
            <a:chExt cx="7292024" cy="5171623"/>
          </a:xfrm>
        </p:grpSpPr>
        <p:cxnSp>
          <p:nvCxnSpPr>
            <p:cNvPr id="15" name="形状 153"/>
            <p:cNvCxnSpPr>
              <a:stCxn id="51" idx="2"/>
              <a:endCxn id="6" idx="0"/>
            </p:cNvCxnSpPr>
            <p:nvPr/>
          </p:nvCxnSpPr>
          <p:spPr>
            <a:xfrm rot="5400000">
              <a:off x="3782960" y="508848"/>
              <a:ext cx="157773" cy="248219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形状 153"/>
            <p:cNvCxnSpPr>
              <a:stCxn id="51" idx="2"/>
              <a:endCxn id="7" idx="0"/>
            </p:cNvCxnSpPr>
            <p:nvPr/>
          </p:nvCxnSpPr>
          <p:spPr>
            <a:xfrm rot="16200000" flipH="1">
              <a:off x="6268311" y="505687"/>
              <a:ext cx="157773" cy="248851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1460090" y="1285859"/>
              <a:ext cx="7285702" cy="385198"/>
            </a:xfrm>
            <a:prstGeom prst="rect">
              <a:avLst/>
            </a:prstGeom>
            <a:noFill/>
            <a:ln>
              <a:solidFill>
                <a:schemeClr val="bg1">
                  <a:lumMod val="85000"/>
                </a:schemeClr>
              </a:solidFill>
            </a:ln>
          </p:spPr>
          <p:txBody>
            <a:bodyPr wrap="square" lIns="72000" tIns="0" rIns="72000" anchor="ctr">
              <a:noAutofit/>
            </a:bodyPr>
            <a:lstStyle/>
            <a:p>
              <a:pPr algn="ctr">
                <a:lnSpc>
                  <a:spcPct val="150000"/>
                </a:lnSpc>
                <a:buClr>
                  <a:srgbClr val="C00000"/>
                </a:buClr>
              </a:pPr>
              <a:r>
                <a:rPr lang="zh-CN" altLang="en-US" sz="2000" b="1" dirty="0">
                  <a:solidFill>
                    <a:srgbClr val="C00000"/>
                  </a:solidFill>
                  <a:latin typeface="微软雅黑" panose="020B0503020204020204" charset="-122"/>
                  <a:ea typeface="微软雅黑" panose="020B0503020204020204" charset="-122"/>
                </a:rPr>
                <a:t>打造敏捷供应链，实现卓越订单交付</a:t>
              </a:r>
              <a:endParaRPr lang="en-US" altLang="zh-CN" sz="2000" b="1" dirty="0">
                <a:solidFill>
                  <a:srgbClr val="C00000"/>
                </a:solidFill>
                <a:latin typeface="微软雅黑" panose="020B0503020204020204" charset="-122"/>
                <a:ea typeface="微软雅黑" panose="020B0503020204020204" charset="-122"/>
              </a:endParaRPr>
            </a:p>
          </p:txBody>
        </p:sp>
        <p:cxnSp>
          <p:nvCxnSpPr>
            <p:cNvPr id="66" name="形状 153"/>
            <p:cNvCxnSpPr>
              <a:stCxn id="51" idx="2"/>
              <a:endCxn id="58" idx="0"/>
            </p:cNvCxnSpPr>
            <p:nvPr/>
          </p:nvCxnSpPr>
          <p:spPr>
            <a:xfrm rot="16200000" flipH="1">
              <a:off x="5025635" y="1748362"/>
              <a:ext cx="157773" cy="31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33" name="矩形 132"/>
            <p:cNvSpPr/>
            <p:nvPr/>
          </p:nvSpPr>
          <p:spPr>
            <a:xfrm>
              <a:off x="4245894" y="2581323"/>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生产稳定且入库准时</a:t>
              </a:r>
            </a:p>
          </p:txBody>
        </p:sp>
        <p:cxnSp>
          <p:nvCxnSpPr>
            <p:cNvPr id="72" name="形状 153"/>
            <p:cNvCxnSpPr>
              <a:stCxn id="73" idx="2"/>
              <a:endCxn id="71" idx="1"/>
            </p:cNvCxnSpPr>
            <p:nvPr/>
          </p:nvCxnSpPr>
          <p:spPr>
            <a:xfrm rot="16200000" flipH="1">
              <a:off x="60483" y="3838167"/>
              <a:ext cx="3212348" cy="1983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矩形 72"/>
            <p:cNvSpPr/>
            <p:nvPr/>
          </p:nvSpPr>
          <p:spPr bwMode="auto">
            <a:xfrm>
              <a:off x="1481294" y="2190714"/>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76" name="形状 153"/>
            <p:cNvCxnSpPr>
              <a:stCxn id="73" idx="2"/>
              <a:endCxn id="69" idx="1"/>
            </p:cNvCxnSpPr>
            <p:nvPr/>
          </p:nvCxnSpPr>
          <p:spPr>
            <a:xfrm rot="16200000" flipH="1">
              <a:off x="1436516" y="2462133"/>
              <a:ext cx="460277" cy="1983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形状 153"/>
            <p:cNvCxnSpPr>
              <a:stCxn id="73" idx="2"/>
              <a:endCxn id="70" idx="1"/>
            </p:cNvCxnSpPr>
            <p:nvPr/>
          </p:nvCxnSpPr>
          <p:spPr>
            <a:xfrm rot="16200000" flipH="1">
              <a:off x="741607" y="3157041"/>
              <a:ext cx="1839319" cy="18754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460090" y="1828830"/>
              <a:ext cx="2321322" cy="525270"/>
            </a:xfrm>
            <a:prstGeom prst="rect">
              <a:avLst/>
            </a:prstGeom>
            <a:solidFill>
              <a:schemeClr val="accent1">
                <a:lumMod val="20000"/>
                <a:lumOff val="80000"/>
              </a:schemeClr>
            </a:solidFill>
            <a:ln>
              <a:solidFill>
                <a:schemeClr val="accent1"/>
              </a:solidFill>
            </a:ln>
          </p:spPr>
          <p:txBody>
            <a:bodyPr wrap="square" tIns="36000" bIns="36000" anchor="t">
              <a:noAutofit/>
            </a:bodyPr>
            <a:lstStyle/>
            <a:p>
              <a:pPr algn="ctr">
                <a:lnSpc>
                  <a:spcPct val="150000"/>
                </a:lnSpc>
                <a:spcBef>
                  <a:spcPts val="0"/>
                </a:spcBef>
                <a:spcAft>
                  <a:spcPts val="0"/>
                </a:spcAft>
                <a:buClr>
                  <a:srgbClr val="C00000"/>
                </a:buClr>
              </a:pPr>
              <a:r>
                <a:rPr lang="zh-CN" altLang="en-US" sz="1600" b="1" dirty="0">
                  <a:solidFill>
                    <a:schemeClr val="tx1"/>
                  </a:solidFill>
                  <a:latin typeface="微软雅黑" panose="020B0503020204020204" charset="-122"/>
                  <a:ea typeface="微软雅黑" panose="020B0503020204020204" charset="-122"/>
                </a:rPr>
                <a:t>更短的交期</a:t>
              </a:r>
            </a:p>
          </p:txBody>
        </p:sp>
        <p:sp>
          <p:nvSpPr>
            <p:cNvPr id="82" name="矩形 81"/>
            <p:cNvSpPr/>
            <p:nvPr/>
          </p:nvSpPr>
          <p:spPr>
            <a:xfrm>
              <a:off x="2023642" y="3083906"/>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订单评审周期短</a:t>
              </a:r>
            </a:p>
          </p:txBody>
        </p:sp>
        <p:sp>
          <p:nvSpPr>
            <p:cNvPr id="83" name="矩形 82"/>
            <p:cNvSpPr/>
            <p:nvPr/>
          </p:nvSpPr>
          <p:spPr>
            <a:xfrm>
              <a:off x="2023642" y="3431755"/>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交期反馈周期短</a:t>
              </a:r>
            </a:p>
          </p:txBody>
        </p:sp>
        <p:sp>
          <p:nvSpPr>
            <p:cNvPr id="84" name="矩形 83"/>
            <p:cNvSpPr/>
            <p:nvPr/>
          </p:nvSpPr>
          <p:spPr bwMode="auto">
            <a:xfrm>
              <a:off x="1775590" y="2845453"/>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85" name="矩形 84"/>
            <p:cNvSpPr/>
            <p:nvPr/>
          </p:nvSpPr>
          <p:spPr bwMode="auto">
            <a:xfrm>
              <a:off x="1775590" y="4216701"/>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86" name="矩形 85"/>
            <p:cNvSpPr/>
            <p:nvPr/>
          </p:nvSpPr>
          <p:spPr bwMode="auto">
            <a:xfrm>
              <a:off x="1775590" y="5584859"/>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87" name="形状 153"/>
            <p:cNvCxnSpPr>
              <a:stCxn id="84" idx="2"/>
              <a:endCxn id="82" idx="1"/>
            </p:cNvCxnSpPr>
            <p:nvPr/>
          </p:nvCxnSpPr>
          <p:spPr>
            <a:xfrm rot="16200000" flipH="1">
              <a:off x="1823674" y="3024010"/>
              <a:ext cx="238084" cy="1618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形状 153"/>
            <p:cNvCxnSpPr>
              <a:stCxn id="85" idx="2"/>
              <a:endCxn id="92" idx="1"/>
            </p:cNvCxnSpPr>
            <p:nvPr/>
          </p:nvCxnSpPr>
          <p:spPr>
            <a:xfrm rot="16200000" flipH="1">
              <a:off x="1823675" y="4395258"/>
              <a:ext cx="238084"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矩形 91"/>
            <p:cNvSpPr/>
            <p:nvPr/>
          </p:nvSpPr>
          <p:spPr>
            <a:xfrm>
              <a:off x="2023642" y="4455153"/>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零部件到位周期短</a:t>
              </a:r>
            </a:p>
          </p:txBody>
        </p:sp>
        <p:sp>
          <p:nvSpPr>
            <p:cNvPr id="93" name="矩形 92"/>
            <p:cNvSpPr/>
            <p:nvPr/>
          </p:nvSpPr>
          <p:spPr>
            <a:xfrm>
              <a:off x="2023642" y="4803002"/>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生产制造周期短</a:t>
              </a:r>
            </a:p>
          </p:txBody>
        </p:sp>
        <p:cxnSp>
          <p:nvCxnSpPr>
            <p:cNvPr id="95" name="形状 153"/>
            <p:cNvCxnSpPr>
              <a:stCxn id="85" idx="2"/>
              <a:endCxn id="93" idx="1"/>
            </p:cNvCxnSpPr>
            <p:nvPr/>
          </p:nvCxnSpPr>
          <p:spPr>
            <a:xfrm rot="16200000" flipH="1">
              <a:off x="1649750" y="4569183"/>
              <a:ext cx="585933"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形状 153"/>
            <p:cNvCxnSpPr>
              <a:stCxn id="84" idx="2"/>
              <a:endCxn id="83" idx="1"/>
            </p:cNvCxnSpPr>
            <p:nvPr/>
          </p:nvCxnSpPr>
          <p:spPr>
            <a:xfrm rot="16200000" flipH="1">
              <a:off x="1649750" y="3197936"/>
              <a:ext cx="585933"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矩形 100"/>
            <p:cNvSpPr/>
            <p:nvPr/>
          </p:nvSpPr>
          <p:spPr>
            <a:xfrm>
              <a:off x="2023642" y="5834526"/>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整机出库周期短</a:t>
              </a:r>
            </a:p>
          </p:txBody>
        </p:sp>
        <p:sp>
          <p:nvSpPr>
            <p:cNvPr id="102" name="矩形 101"/>
            <p:cNvSpPr/>
            <p:nvPr/>
          </p:nvSpPr>
          <p:spPr>
            <a:xfrm>
              <a:off x="2023642" y="6177338"/>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物流发运周期短</a:t>
              </a:r>
            </a:p>
          </p:txBody>
        </p:sp>
        <p:cxnSp>
          <p:nvCxnSpPr>
            <p:cNvPr id="104" name="形状 153"/>
            <p:cNvCxnSpPr>
              <a:stCxn id="86" idx="2"/>
              <a:endCxn id="101" idx="1"/>
            </p:cNvCxnSpPr>
            <p:nvPr/>
          </p:nvCxnSpPr>
          <p:spPr>
            <a:xfrm rot="16200000" flipH="1">
              <a:off x="1818068" y="5769024"/>
              <a:ext cx="249298"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形状 153"/>
            <p:cNvCxnSpPr>
              <a:stCxn id="86" idx="2"/>
              <a:endCxn id="102" idx="1"/>
            </p:cNvCxnSpPr>
            <p:nvPr/>
          </p:nvCxnSpPr>
          <p:spPr>
            <a:xfrm rot="16200000" flipH="1">
              <a:off x="1646662" y="5940430"/>
              <a:ext cx="592110"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1765817" y="5333394"/>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整机交付周期短</a:t>
              </a:r>
            </a:p>
          </p:txBody>
        </p:sp>
        <p:sp>
          <p:nvSpPr>
            <p:cNvPr id="69" name="矩形 68"/>
            <p:cNvSpPr/>
            <p:nvPr/>
          </p:nvSpPr>
          <p:spPr>
            <a:xfrm>
              <a:off x="1765814" y="2581323"/>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订单响应周期短</a:t>
              </a:r>
            </a:p>
          </p:txBody>
        </p:sp>
        <p:sp>
          <p:nvSpPr>
            <p:cNvPr id="70" name="矩形 69"/>
            <p:cNvSpPr/>
            <p:nvPr/>
          </p:nvSpPr>
          <p:spPr>
            <a:xfrm>
              <a:off x="1755040" y="3960366"/>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订单组织周期短</a:t>
              </a:r>
            </a:p>
          </p:txBody>
        </p:sp>
        <p:cxnSp>
          <p:nvCxnSpPr>
            <p:cNvPr id="112" name="形状 153"/>
            <p:cNvCxnSpPr>
              <a:stCxn id="113" idx="2"/>
              <a:endCxn id="131" idx="1"/>
            </p:cNvCxnSpPr>
            <p:nvPr/>
          </p:nvCxnSpPr>
          <p:spPr>
            <a:xfrm rot="16200000" flipH="1">
              <a:off x="2434107" y="3955396"/>
              <a:ext cx="3446805" cy="19832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矩形 112"/>
            <p:cNvSpPr/>
            <p:nvPr/>
          </p:nvSpPr>
          <p:spPr bwMode="auto">
            <a:xfrm>
              <a:off x="3972147" y="2190714"/>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115" name="形状 153"/>
            <p:cNvCxnSpPr>
              <a:stCxn id="113" idx="2"/>
              <a:endCxn id="133" idx="1"/>
            </p:cNvCxnSpPr>
            <p:nvPr/>
          </p:nvCxnSpPr>
          <p:spPr>
            <a:xfrm rot="16200000" flipH="1">
              <a:off x="3921983" y="2467520"/>
              <a:ext cx="460277" cy="1875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矩形 117"/>
            <p:cNvSpPr/>
            <p:nvPr/>
          </p:nvSpPr>
          <p:spPr bwMode="auto">
            <a:xfrm>
              <a:off x="4266443" y="2833100"/>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119" name="矩形 118"/>
            <p:cNvSpPr/>
            <p:nvPr/>
          </p:nvSpPr>
          <p:spPr bwMode="auto">
            <a:xfrm>
              <a:off x="4266443" y="2818303"/>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120" name="矩形 119"/>
            <p:cNvSpPr/>
            <p:nvPr/>
          </p:nvSpPr>
          <p:spPr bwMode="auto">
            <a:xfrm>
              <a:off x="4266443" y="5839689"/>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122" name="形状 153"/>
            <p:cNvCxnSpPr>
              <a:stCxn id="119" idx="2"/>
              <a:endCxn id="123" idx="1"/>
            </p:cNvCxnSpPr>
            <p:nvPr/>
          </p:nvCxnSpPr>
          <p:spPr>
            <a:xfrm rot="16200000" flipH="1">
              <a:off x="4304365" y="3007023"/>
              <a:ext cx="265234"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矩形 122"/>
            <p:cNvSpPr/>
            <p:nvPr/>
          </p:nvSpPr>
          <p:spPr>
            <a:xfrm>
              <a:off x="4521320" y="3083906"/>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需求计划准确率高</a:t>
              </a:r>
            </a:p>
          </p:txBody>
        </p:sp>
        <p:sp>
          <p:nvSpPr>
            <p:cNvPr id="124" name="矩形 123"/>
            <p:cNvSpPr/>
            <p:nvPr/>
          </p:nvSpPr>
          <p:spPr>
            <a:xfrm>
              <a:off x="4521320" y="4702205"/>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生产计划按时完成</a:t>
              </a:r>
            </a:p>
          </p:txBody>
        </p:sp>
        <p:cxnSp>
          <p:nvCxnSpPr>
            <p:cNvPr id="125" name="形状 153"/>
            <p:cNvCxnSpPr>
              <a:stCxn id="119" idx="2"/>
              <a:endCxn id="124" idx="1"/>
            </p:cNvCxnSpPr>
            <p:nvPr/>
          </p:nvCxnSpPr>
          <p:spPr>
            <a:xfrm rot="16200000" flipH="1">
              <a:off x="3495215" y="3816172"/>
              <a:ext cx="1883533"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7" name="矩形 126"/>
            <p:cNvSpPr/>
            <p:nvPr/>
          </p:nvSpPr>
          <p:spPr>
            <a:xfrm>
              <a:off x="4521320" y="6098037"/>
              <a:ext cx="1595909" cy="350180"/>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pPr>
              <a:r>
                <a:rPr lang="zh-CN" altLang="en-US" sz="1050" b="1" dirty="0">
                  <a:solidFill>
                    <a:schemeClr val="tx1"/>
                  </a:solidFill>
                  <a:latin typeface="微软雅黑" panose="020B0503020204020204" charset="-122"/>
                  <a:ea typeface="微软雅黑" panose="020B0503020204020204" charset="-122"/>
                </a:rPr>
                <a:t>整机准时送到</a:t>
              </a:r>
              <a:endParaRPr lang="en-US" altLang="zh-CN" sz="1050" b="1" dirty="0">
                <a:solidFill>
                  <a:schemeClr val="tx1"/>
                </a:solidFill>
                <a:latin typeface="微软雅黑" panose="020B0503020204020204" charset="-122"/>
                <a:ea typeface="微软雅黑" panose="020B0503020204020204" charset="-122"/>
              </a:endParaRPr>
            </a:p>
            <a:p>
              <a:pPr algn="ctr">
                <a:lnSpc>
                  <a:spcPct val="90000"/>
                </a:lnSpc>
              </a:pPr>
              <a:r>
                <a:rPr lang="zh-CN" altLang="en-US" sz="1050" b="1" dirty="0">
                  <a:solidFill>
                    <a:schemeClr val="tx1"/>
                  </a:solidFill>
                  <a:latin typeface="微软雅黑" panose="020B0503020204020204" charset="-122"/>
                  <a:ea typeface="微软雅黑" panose="020B0503020204020204" charset="-122"/>
                </a:rPr>
                <a:t>并确保质量</a:t>
              </a:r>
            </a:p>
          </p:txBody>
        </p:sp>
        <p:cxnSp>
          <p:nvCxnSpPr>
            <p:cNvPr id="129" name="形状 153"/>
            <p:cNvCxnSpPr>
              <a:stCxn id="120" idx="2"/>
              <a:endCxn id="127" idx="1"/>
            </p:cNvCxnSpPr>
            <p:nvPr/>
          </p:nvCxnSpPr>
          <p:spPr>
            <a:xfrm rot="16200000" flipH="1">
              <a:off x="4290484" y="6042290"/>
              <a:ext cx="292997"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1" name="矩形 130"/>
            <p:cNvSpPr/>
            <p:nvPr/>
          </p:nvSpPr>
          <p:spPr>
            <a:xfrm>
              <a:off x="4256670" y="5567852"/>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物流发运准时</a:t>
              </a:r>
            </a:p>
          </p:txBody>
        </p:sp>
        <p:sp>
          <p:nvSpPr>
            <p:cNvPr id="58" name="矩形 57"/>
            <p:cNvSpPr/>
            <p:nvPr/>
          </p:nvSpPr>
          <p:spPr>
            <a:xfrm>
              <a:off x="3945441" y="1828830"/>
              <a:ext cx="2321322" cy="525270"/>
            </a:xfrm>
            <a:prstGeom prst="rect">
              <a:avLst/>
            </a:prstGeom>
            <a:solidFill>
              <a:schemeClr val="accent1">
                <a:lumMod val="20000"/>
                <a:lumOff val="80000"/>
              </a:schemeClr>
            </a:solidFill>
            <a:ln>
              <a:solidFill>
                <a:schemeClr val="accent1"/>
              </a:solidFill>
            </a:ln>
          </p:spPr>
          <p:txBody>
            <a:bodyPr wrap="square" tIns="36000" bIns="36000" anchor="t">
              <a:noAutofit/>
            </a:bodyPr>
            <a:lstStyle/>
            <a:p>
              <a:pPr algn="ctr">
                <a:lnSpc>
                  <a:spcPct val="150000"/>
                </a:lnSpc>
                <a:spcBef>
                  <a:spcPts val="0"/>
                </a:spcBef>
                <a:spcAft>
                  <a:spcPts val="0"/>
                </a:spcAft>
                <a:buClr>
                  <a:srgbClr val="C00000"/>
                </a:buClr>
              </a:pPr>
              <a:r>
                <a:rPr lang="zh-CN" altLang="en-US" sz="1600" b="1" dirty="0">
                  <a:solidFill>
                    <a:schemeClr val="tx1"/>
                  </a:solidFill>
                  <a:latin typeface="微软雅黑" panose="020B0503020204020204" charset="-122"/>
                  <a:ea typeface="微软雅黑" panose="020B0503020204020204" charset="-122"/>
                </a:rPr>
                <a:t>更准时的交付</a:t>
              </a:r>
            </a:p>
          </p:txBody>
        </p:sp>
        <p:sp>
          <p:nvSpPr>
            <p:cNvPr id="140" name="矩形 139"/>
            <p:cNvSpPr/>
            <p:nvPr/>
          </p:nvSpPr>
          <p:spPr>
            <a:xfrm>
              <a:off x="4521320" y="3470972"/>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锁定计划不变更</a:t>
              </a:r>
            </a:p>
          </p:txBody>
        </p:sp>
        <p:sp>
          <p:nvSpPr>
            <p:cNvPr id="141" name="矩形 140"/>
            <p:cNvSpPr/>
            <p:nvPr/>
          </p:nvSpPr>
          <p:spPr>
            <a:xfrm>
              <a:off x="4521320" y="5074322"/>
              <a:ext cx="1595909" cy="350180"/>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pPr>
              <a:r>
                <a:rPr lang="zh-CN" altLang="en-US" sz="1050" b="1" dirty="0">
                  <a:solidFill>
                    <a:schemeClr val="tx1"/>
                  </a:solidFill>
                  <a:latin typeface="微软雅黑" panose="020B0503020204020204" charset="-122"/>
                  <a:ea typeface="微软雅黑" panose="020B0503020204020204" charset="-122"/>
                </a:rPr>
                <a:t>整机准时入库</a:t>
              </a:r>
              <a:endParaRPr lang="en-US" altLang="zh-CN" sz="1050" b="1" dirty="0">
                <a:solidFill>
                  <a:schemeClr val="tx1"/>
                </a:solidFill>
                <a:latin typeface="微软雅黑" panose="020B0503020204020204" charset="-122"/>
                <a:ea typeface="微软雅黑" panose="020B0503020204020204" charset="-122"/>
              </a:endParaRPr>
            </a:p>
            <a:p>
              <a:pPr algn="ctr">
                <a:lnSpc>
                  <a:spcPct val="90000"/>
                </a:lnSpc>
              </a:pPr>
              <a:r>
                <a:rPr lang="zh-CN" altLang="en-US" sz="1050" b="1" dirty="0">
                  <a:solidFill>
                    <a:schemeClr val="tx1"/>
                  </a:solidFill>
                  <a:latin typeface="微软雅黑" panose="020B0503020204020204" charset="-122"/>
                  <a:ea typeface="微软雅黑" panose="020B0503020204020204" charset="-122"/>
                </a:rPr>
                <a:t>并确保质量</a:t>
              </a:r>
            </a:p>
          </p:txBody>
        </p:sp>
        <p:sp>
          <p:nvSpPr>
            <p:cNvPr id="142" name="矩形 141"/>
            <p:cNvSpPr/>
            <p:nvPr/>
          </p:nvSpPr>
          <p:spPr>
            <a:xfrm>
              <a:off x="4521320" y="4315139"/>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生产过程不停线</a:t>
              </a:r>
            </a:p>
          </p:txBody>
        </p:sp>
        <p:sp>
          <p:nvSpPr>
            <p:cNvPr id="143" name="矩形 142"/>
            <p:cNvSpPr/>
            <p:nvPr/>
          </p:nvSpPr>
          <p:spPr>
            <a:xfrm>
              <a:off x="4521320" y="3858037"/>
              <a:ext cx="1595909" cy="350180"/>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pPr>
              <a:r>
                <a:rPr lang="zh-CN" altLang="en-US" sz="1050" b="1" dirty="0">
                  <a:solidFill>
                    <a:schemeClr val="tx1"/>
                  </a:solidFill>
                  <a:latin typeface="微软雅黑" panose="020B0503020204020204" charset="-122"/>
                  <a:ea typeface="微软雅黑" panose="020B0503020204020204" charset="-122"/>
                </a:rPr>
                <a:t>零部件准时供货</a:t>
              </a:r>
              <a:endParaRPr lang="en-US" altLang="zh-CN" sz="1050" b="1" dirty="0">
                <a:solidFill>
                  <a:schemeClr val="tx1"/>
                </a:solidFill>
                <a:latin typeface="微软雅黑" panose="020B0503020204020204" charset="-122"/>
                <a:ea typeface="微软雅黑" panose="020B0503020204020204" charset="-122"/>
              </a:endParaRPr>
            </a:p>
            <a:p>
              <a:pPr algn="ctr">
                <a:lnSpc>
                  <a:spcPct val="90000"/>
                </a:lnSpc>
              </a:pPr>
              <a:r>
                <a:rPr lang="zh-CN" altLang="en-US" sz="1050" b="1" dirty="0">
                  <a:solidFill>
                    <a:schemeClr val="tx1"/>
                  </a:solidFill>
                  <a:latin typeface="微软雅黑" panose="020B0503020204020204" charset="-122"/>
                  <a:ea typeface="微软雅黑" panose="020B0503020204020204" charset="-122"/>
                </a:rPr>
                <a:t>并确保质量</a:t>
              </a:r>
            </a:p>
          </p:txBody>
        </p:sp>
        <p:cxnSp>
          <p:nvCxnSpPr>
            <p:cNvPr id="144" name="形状 153"/>
            <p:cNvCxnSpPr>
              <a:stCxn id="119" idx="2"/>
              <a:endCxn id="140" idx="1"/>
            </p:cNvCxnSpPr>
            <p:nvPr/>
          </p:nvCxnSpPr>
          <p:spPr>
            <a:xfrm rot="16200000" flipH="1">
              <a:off x="4110832" y="3200556"/>
              <a:ext cx="652300"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形状 153"/>
            <p:cNvCxnSpPr>
              <a:stCxn id="119" idx="2"/>
              <a:endCxn id="143" idx="1"/>
            </p:cNvCxnSpPr>
            <p:nvPr/>
          </p:nvCxnSpPr>
          <p:spPr>
            <a:xfrm rot="16200000" flipH="1">
              <a:off x="3899790" y="3411597"/>
              <a:ext cx="1074384"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形状 153"/>
            <p:cNvCxnSpPr>
              <a:stCxn id="119" idx="2"/>
              <a:endCxn id="142" idx="1"/>
            </p:cNvCxnSpPr>
            <p:nvPr/>
          </p:nvCxnSpPr>
          <p:spPr>
            <a:xfrm rot="16200000" flipH="1">
              <a:off x="3688748" y="3622639"/>
              <a:ext cx="1496468"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形状 153"/>
            <p:cNvCxnSpPr>
              <a:stCxn id="119" idx="2"/>
              <a:endCxn id="141" idx="1"/>
            </p:cNvCxnSpPr>
            <p:nvPr/>
          </p:nvCxnSpPr>
          <p:spPr>
            <a:xfrm rot="16200000" flipH="1">
              <a:off x="3291648" y="4019740"/>
              <a:ext cx="2290668" cy="1686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形状 153"/>
            <p:cNvCxnSpPr>
              <a:stCxn id="158" idx="2"/>
              <a:endCxn id="176" idx="1"/>
            </p:cNvCxnSpPr>
            <p:nvPr/>
          </p:nvCxnSpPr>
          <p:spPr>
            <a:xfrm rot="16200000" flipH="1">
              <a:off x="4858355" y="4004940"/>
              <a:ext cx="3545894" cy="1983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8" name="矩形 157"/>
            <p:cNvSpPr/>
            <p:nvPr/>
          </p:nvSpPr>
          <p:spPr bwMode="auto">
            <a:xfrm>
              <a:off x="6445940" y="2190714"/>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159" name="形状 153"/>
            <p:cNvCxnSpPr>
              <a:stCxn id="158" idx="2"/>
              <a:endCxn id="177" idx="1"/>
            </p:cNvCxnSpPr>
            <p:nvPr/>
          </p:nvCxnSpPr>
          <p:spPr>
            <a:xfrm rot="16200000" flipH="1">
              <a:off x="6401162" y="2462133"/>
              <a:ext cx="460277" cy="1983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形状 153"/>
            <p:cNvCxnSpPr>
              <a:stCxn id="158" idx="2"/>
              <a:endCxn id="178" idx="1"/>
            </p:cNvCxnSpPr>
            <p:nvPr/>
          </p:nvCxnSpPr>
          <p:spPr>
            <a:xfrm rot="16200000" flipH="1">
              <a:off x="5354177" y="3509118"/>
              <a:ext cx="2543473" cy="18754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6988288" y="3083906"/>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整机库存成本低</a:t>
              </a:r>
            </a:p>
          </p:txBody>
        </p:sp>
        <p:sp>
          <p:nvSpPr>
            <p:cNvPr id="162" name="矩形 161"/>
            <p:cNvSpPr/>
            <p:nvPr/>
          </p:nvSpPr>
          <p:spPr>
            <a:xfrm>
              <a:off x="6988288" y="3793478"/>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零部件库存成本低</a:t>
              </a:r>
            </a:p>
          </p:txBody>
        </p:sp>
        <p:sp>
          <p:nvSpPr>
            <p:cNvPr id="163" name="矩形 162"/>
            <p:cNvSpPr/>
            <p:nvPr/>
          </p:nvSpPr>
          <p:spPr bwMode="auto">
            <a:xfrm>
              <a:off x="6740236" y="2845453"/>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164" name="矩形 163"/>
            <p:cNvSpPr/>
            <p:nvPr/>
          </p:nvSpPr>
          <p:spPr bwMode="auto">
            <a:xfrm>
              <a:off x="6740236" y="4920855"/>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sp>
          <p:nvSpPr>
            <p:cNvPr id="165" name="矩形 164"/>
            <p:cNvSpPr/>
            <p:nvPr/>
          </p:nvSpPr>
          <p:spPr bwMode="auto">
            <a:xfrm>
              <a:off x="6740236" y="5918406"/>
              <a:ext cx="172402" cy="140441"/>
            </a:xfrm>
            <a:prstGeom prst="rect">
              <a:avLst/>
            </a:prstGeom>
            <a:noFill/>
            <a:ln w="19050" cmpd="sng">
              <a:no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sz="1000" b="0" dirty="0">
                <a:solidFill>
                  <a:schemeClr val="tx1"/>
                </a:solidFill>
                <a:latin typeface="微软雅黑" panose="020B0503020204020204" charset="-122"/>
                <a:ea typeface="微软雅黑" panose="020B0503020204020204" charset="-122"/>
              </a:endParaRPr>
            </a:p>
          </p:txBody>
        </p:sp>
        <p:cxnSp>
          <p:nvCxnSpPr>
            <p:cNvPr id="166" name="形状 153"/>
            <p:cNvCxnSpPr>
              <a:stCxn id="163" idx="2"/>
              <a:endCxn id="161" idx="1"/>
            </p:cNvCxnSpPr>
            <p:nvPr/>
          </p:nvCxnSpPr>
          <p:spPr>
            <a:xfrm rot="16200000" flipH="1">
              <a:off x="6788321" y="3024011"/>
              <a:ext cx="238084"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7" name="形状 153"/>
            <p:cNvCxnSpPr>
              <a:stCxn id="164" idx="2"/>
              <a:endCxn id="168" idx="1"/>
            </p:cNvCxnSpPr>
            <p:nvPr/>
          </p:nvCxnSpPr>
          <p:spPr>
            <a:xfrm rot="16200000" flipH="1">
              <a:off x="6788320" y="5099411"/>
              <a:ext cx="238084" cy="1618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矩形 167"/>
            <p:cNvSpPr/>
            <p:nvPr/>
          </p:nvSpPr>
          <p:spPr>
            <a:xfrm>
              <a:off x="6988288" y="5159307"/>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产能充分利用</a:t>
              </a:r>
            </a:p>
          </p:txBody>
        </p:sp>
        <p:cxnSp>
          <p:nvCxnSpPr>
            <p:cNvPr id="171" name="形状 153"/>
            <p:cNvCxnSpPr>
              <a:stCxn id="163" idx="2"/>
              <a:endCxn id="162" idx="1"/>
            </p:cNvCxnSpPr>
            <p:nvPr/>
          </p:nvCxnSpPr>
          <p:spPr>
            <a:xfrm rot="16200000" flipH="1">
              <a:off x="6435270" y="3377063"/>
              <a:ext cx="944187"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6988288" y="6168073"/>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管理人员成本低</a:t>
              </a:r>
            </a:p>
          </p:txBody>
        </p:sp>
        <p:cxnSp>
          <p:nvCxnSpPr>
            <p:cNvPr id="174" name="形状 153"/>
            <p:cNvCxnSpPr>
              <a:stCxn id="165" idx="2"/>
              <a:endCxn id="172" idx="1"/>
            </p:cNvCxnSpPr>
            <p:nvPr/>
          </p:nvCxnSpPr>
          <p:spPr>
            <a:xfrm rot="16200000" flipH="1">
              <a:off x="6782713" y="6102569"/>
              <a:ext cx="249298" cy="1618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6" name="矩形 175"/>
            <p:cNvSpPr/>
            <p:nvPr/>
          </p:nvSpPr>
          <p:spPr>
            <a:xfrm>
              <a:off x="6730463" y="5666941"/>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供应链管理成本低</a:t>
              </a:r>
            </a:p>
          </p:txBody>
        </p:sp>
        <p:sp>
          <p:nvSpPr>
            <p:cNvPr id="178" name="矩形 177"/>
            <p:cNvSpPr/>
            <p:nvPr/>
          </p:nvSpPr>
          <p:spPr>
            <a:xfrm>
              <a:off x="6719687" y="4664520"/>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生产投入成本低</a:t>
              </a:r>
            </a:p>
          </p:txBody>
        </p:sp>
        <p:sp>
          <p:nvSpPr>
            <p:cNvPr id="7" name="矩形 6"/>
            <p:cNvSpPr/>
            <p:nvPr/>
          </p:nvSpPr>
          <p:spPr>
            <a:xfrm>
              <a:off x="6430792" y="1828830"/>
              <a:ext cx="2321322" cy="525270"/>
            </a:xfrm>
            <a:prstGeom prst="rect">
              <a:avLst/>
            </a:prstGeom>
            <a:solidFill>
              <a:schemeClr val="accent1">
                <a:lumMod val="20000"/>
                <a:lumOff val="80000"/>
              </a:schemeClr>
            </a:solidFill>
            <a:ln>
              <a:solidFill>
                <a:schemeClr val="accent1"/>
              </a:solidFill>
            </a:ln>
          </p:spPr>
          <p:txBody>
            <a:bodyPr wrap="square" tIns="36000" bIns="36000" anchor="t">
              <a:noAutofit/>
            </a:bodyPr>
            <a:lstStyle/>
            <a:p>
              <a:pPr algn="ctr">
                <a:lnSpc>
                  <a:spcPct val="150000"/>
                </a:lnSpc>
                <a:spcBef>
                  <a:spcPts val="0"/>
                </a:spcBef>
                <a:spcAft>
                  <a:spcPts val="0"/>
                </a:spcAft>
                <a:buClr>
                  <a:srgbClr val="C00000"/>
                </a:buClr>
              </a:pPr>
              <a:r>
                <a:rPr lang="zh-CN" altLang="en-US" sz="1600" b="1" dirty="0">
                  <a:solidFill>
                    <a:schemeClr val="tx1"/>
                  </a:solidFill>
                  <a:latin typeface="微软雅黑" panose="020B0503020204020204" charset="-122"/>
                  <a:ea typeface="微软雅黑" panose="020B0503020204020204" charset="-122"/>
                </a:rPr>
                <a:t>更低的成本</a:t>
              </a:r>
            </a:p>
          </p:txBody>
        </p:sp>
        <p:sp>
          <p:nvSpPr>
            <p:cNvPr id="179" name="矩形 178"/>
            <p:cNvSpPr/>
            <p:nvPr/>
          </p:nvSpPr>
          <p:spPr>
            <a:xfrm>
              <a:off x="6988288" y="4148263"/>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在制品库存成本低</a:t>
              </a:r>
            </a:p>
          </p:txBody>
        </p:sp>
        <p:sp>
          <p:nvSpPr>
            <p:cNvPr id="180" name="矩形 179"/>
            <p:cNvSpPr/>
            <p:nvPr/>
          </p:nvSpPr>
          <p:spPr>
            <a:xfrm>
              <a:off x="6988288" y="3438692"/>
              <a:ext cx="1595909" cy="280144"/>
            </a:xfrm>
            <a:prstGeom prst="rect">
              <a:avLst/>
            </a:prstGeom>
            <a:solidFill>
              <a:schemeClr val="bg1"/>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50" b="1" dirty="0">
                  <a:solidFill>
                    <a:schemeClr val="tx1"/>
                  </a:solidFill>
                  <a:latin typeface="微软雅黑" panose="020B0503020204020204" charset="-122"/>
                  <a:ea typeface="微软雅黑" panose="020B0503020204020204" charset="-122"/>
                </a:rPr>
                <a:t>超期车数量少</a:t>
              </a:r>
            </a:p>
          </p:txBody>
        </p:sp>
        <p:cxnSp>
          <p:nvCxnSpPr>
            <p:cNvPr id="181" name="形状 153"/>
            <p:cNvCxnSpPr>
              <a:stCxn id="163" idx="2"/>
              <a:endCxn id="179" idx="1"/>
            </p:cNvCxnSpPr>
            <p:nvPr/>
          </p:nvCxnSpPr>
          <p:spPr>
            <a:xfrm rot="16200000" flipH="1">
              <a:off x="6256143" y="3556189"/>
              <a:ext cx="1302441"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5" name="形状 153"/>
            <p:cNvCxnSpPr>
              <a:stCxn id="163" idx="2"/>
              <a:endCxn id="180" idx="1"/>
            </p:cNvCxnSpPr>
            <p:nvPr/>
          </p:nvCxnSpPr>
          <p:spPr>
            <a:xfrm rot="16200000" flipH="1">
              <a:off x="6610929" y="3201403"/>
              <a:ext cx="592870" cy="1618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7" name="矩形 176"/>
            <p:cNvSpPr/>
            <p:nvPr/>
          </p:nvSpPr>
          <p:spPr>
            <a:xfrm>
              <a:off x="6730460" y="2581323"/>
              <a:ext cx="1892057" cy="420216"/>
            </a:xfrm>
            <a:prstGeom prst="rect">
              <a:avLst/>
            </a:prstGeom>
            <a:solidFill>
              <a:schemeClr val="accent5">
                <a:lumMod val="40000"/>
                <a:lumOff val="60000"/>
              </a:schemeClr>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zh-CN" altLang="en-US" sz="1400" b="1" dirty="0">
                  <a:solidFill>
                    <a:schemeClr val="tx1"/>
                  </a:solidFill>
                  <a:latin typeface="微软雅黑" panose="020B0503020204020204" charset="-122"/>
                  <a:ea typeface="微软雅黑" panose="020B0503020204020204" charset="-122"/>
                </a:rPr>
                <a:t>库存成本低</a:t>
              </a:r>
            </a:p>
          </p:txBody>
        </p:sp>
      </p:grpSp>
      <p:sp>
        <p:nvSpPr>
          <p:cNvPr id="96"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从指标现状来看，面向客户的交期表现较好，主要问题点在于代理商呆滞库存较多，生产稳定性不足、锁定计划调整多，缺件停线较多</a:t>
            </a:r>
          </a:p>
        </p:txBody>
      </p:sp>
      <p:sp>
        <p:nvSpPr>
          <p:cNvPr id="80" name="矩形 79"/>
          <p:cNvSpPr/>
          <p:nvPr/>
        </p:nvSpPr>
        <p:spPr bwMode="auto">
          <a:xfrm>
            <a:off x="1733082" y="2529334"/>
            <a:ext cx="1981662" cy="1265317"/>
          </a:xfrm>
          <a:prstGeom prst="rect">
            <a:avLst/>
          </a:prstGeom>
          <a:solidFill>
            <a:schemeClr val="bg1">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lnSpc>
                <a:spcPts val="1640"/>
              </a:lnSpc>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订单响应周期</a:t>
            </a:r>
            <a:endParaRPr lang="en-US" altLang="zh-CN" sz="1200" b="1" dirty="0">
              <a:solidFill>
                <a:schemeClr val="tx1"/>
              </a:solidFill>
              <a:latin typeface="微软雅黑" panose="020B0503020204020204" charset="-122"/>
              <a:ea typeface="微软雅黑" panose="020B0503020204020204" charset="-122"/>
            </a:endParaRPr>
          </a:p>
        </p:txBody>
      </p:sp>
      <p:sp>
        <p:nvSpPr>
          <p:cNvPr id="81" name="矩形 80"/>
          <p:cNvSpPr/>
          <p:nvPr/>
        </p:nvSpPr>
        <p:spPr bwMode="auto">
          <a:xfrm>
            <a:off x="1472270" y="1813822"/>
            <a:ext cx="2330473" cy="566521"/>
          </a:xfrm>
          <a:prstGeom prst="rect">
            <a:avLst/>
          </a:prstGeom>
          <a:solidFill>
            <a:schemeClr val="accent6">
              <a:lumMod val="20000"/>
              <a:lumOff val="80000"/>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algn="ctr" eaLnBrk="0" hangingPunct="0">
              <a:lnSpc>
                <a:spcPts val="1640"/>
              </a:lnSpc>
              <a:buFont typeface="Arial" panose="020B0604020202020204" pitchFamily="34" charset="0"/>
              <a:buChar char="•"/>
            </a:pPr>
            <a:r>
              <a:rPr lang="zh-CN" altLang="en-US" sz="1600" b="1" dirty="0">
                <a:solidFill>
                  <a:schemeClr val="tx1"/>
                </a:solidFill>
                <a:latin typeface="微软雅黑" panose="020B0503020204020204" charset="-122"/>
                <a:ea typeface="微软雅黑" panose="020B0503020204020204" charset="-122"/>
              </a:rPr>
              <a:t>订单交付周期</a:t>
            </a:r>
            <a:endParaRPr lang="en-US" altLang="zh-CN" sz="1600" b="1" dirty="0">
              <a:solidFill>
                <a:schemeClr val="tx1"/>
              </a:solidFill>
              <a:latin typeface="微软雅黑" panose="020B0503020204020204" charset="-122"/>
              <a:ea typeface="微软雅黑" panose="020B0503020204020204" charset="-122"/>
            </a:endParaRPr>
          </a:p>
        </p:txBody>
      </p:sp>
      <p:sp>
        <p:nvSpPr>
          <p:cNvPr id="88" name="矩形 87"/>
          <p:cNvSpPr/>
          <p:nvPr/>
        </p:nvSpPr>
        <p:spPr bwMode="auto">
          <a:xfrm>
            <a:off x="3929058" y="1821082"/>
            <a:ext cx="2357454" cy="566521"/>
          </a:xfrm>
          <a:prstGeom prst="rect">
            <a:avLst/>
          </a:prstGeom>
          <a:solidFill>
            <a:schemeClr val="accent6">
              <a:lumMod val="20000"/>
              <a:lumOff val="80000"/>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algn="ctr" eaLnBrk="0" hangingPunct="0">
              <a:lnSpc>
                <a:spcPts val="1640"/>
              </a:lnSpc>
              <a:buFont typeface="Arial" panose="020B0604020202020204" pitchFamily="34" charset="0"/>
              <a:buChar char="•"/>
            </a:pPr>
            <a:r>
              <a:rPr lang="zh-CN" altLang="en-US" sz="1600" b="1" dirty="0">
                <a:solidFill>
                  <a:schemeClr val="tx1"/>
                </a:solidFill>
                <a:latin typeface="微软雅黑" panose="020B0503020204020204" charset="-122"/>
                <a:ea typeface="微软雅黑" panose="020B0503020204020204" charset="-122"/>
              </a:rPr>
              <a:t>订单准时交付率</a:t>
            </a:r>
            <a:endParaRPr lang="en-US" altLang="zh-CN" sz="1600" b="1" dirty="0">
              <a:solidFill>
                <a:schemeClr val="tx1"/>
              </a:solidFill>
              <a:latin typeface="微软雅黑" panose="020B0503020204020204" charset="-122"/>
              <a:ea typeface="微软雅黑" panose="020B0503020204020204" charset="-122"/>
            </a:endParaRPr>
          </a:p>
        </p:txBody>
      </p:sp>
      <p:sp>
        <p:nvSpPr>
          <p:cNvPr id="89" name="矩形 88"/>
          <p:cNvSpPr/>
          <p:nvPr/>
        </p:nvSpPr>
        <p:spPr bwMode="auto">
          <a:xfrm>
            <a:off x="1725828" y="3954380"/>
            <a:ext cx="1981662" cy="1161236"/>
          </a:xfrm>
          <a:prstGeom prst="rect">
            <a:avLst/>
          </a:prstGeom>
          <a:solidFill>
            <a:schemeClr val="bg1">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lnSpc>
                <a:spcPts val="1640"/>
              </a:lnSpc>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订单组织周期</a:t>
            </a:r>
            <a:endParaRPr lang="en-US" altLang="zh-CN" sz="1200" b="1" dirty="0">
              <a:solidFill>
                <a:schemeClr val="tx1"/>
              </a:solidFill>
              <a:latin typeface="微软雅黑" panose="020B0503020204020204" charset="-122"/>
              <a:ea typeface="微软雅黑" panose="020B0503020204020204" charset="-122"/>
            </a:endParaRPr>
          </a:p>
        </p:txBody>
      </p:sp>
      <p:sp>
        <p:nvSpPr>
          <p:cNvPr id="91" name="矩形 90"/>
          <p:cNvSpPr/>
          <p:nvPr/>
        </p:nvSpPr>
        <p:spPr bwMode="auto">
          <a:xfrm>
            <a:off x="1733088" y="5275824"/>
            <a:ext cx="1981662" cy="1226575"/>
          </a:xfrm>
          <a:prstGeom prst="rect">
            <a:avLst/>
          </a:prstGeom>
          <a:solidFill>
            <a:schemeClr val="bg1">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lnSpc>
                <a:spcPts val="1640"/>
              </a:lnSpc>
              <a:buFont typeface="Arial" panose="020B0604020202020204" pitchFamily="34" charset="0"/>
              <a:buChar char="•"/>
            </a:pPr>
            <a:r>
              <a:rPr lang="zh-CN" altLang="en-US" sz="1200" b="1" dirty="0">
                <a:latin typeface="微软雅黑" panose="020B0503020204020204" charset="-122"/>
                <a:ea typeface="微软雅黑" panose="020B0503020204020204" charset="-122"/>
              </a:rPr>
              <a:t>订单发运</a:t>
            </a:r>
            <a:r>
              <a:rPr lang="zh-CN" altLang="en-US" sz="1200" b="1" dirty="0">
                <a:solidFill>
                  <a:schemeClr val="tx1"/>
                </a:solidFill>
                <a:latin typeface="微软雅黑" panose="020B0503020204020204" charset="-122"/>
                <a:ea typeface="微软雅黑" panose="020B0503020204020204" charset="-122"/>
              </a:rPr>
              <a:t>周期</a:t>
            </a:r>
            <a:endParaRPr lang="en-US" altLang="zh-CN" sz="1200" b="1" dirty="0">
              <a:solidFill>
                <a:schemeClr val="tx1"/>
              </a:solidFill>
              <a:latin typeface="微软雅黑" panose="020B0503020204020204" charset="-122"/>
              <a:ea typeface="微软雅黑" panose="020B0503020204020204" charset="-122"/>
            </a:endParaRPr>
          </a:p>
        </p:txBody>
      </p:sp>
      <p:sp>
        <p:nvSpPr>
          <p:cNvPr id="94" name="矩形 93"/>
          <p:cNvSpPr/>
          <p:nvPr/>
        </p:nvSpPr>
        <p:spPr bwMode="auto">
          <a:xfrm>
            <a:off x="4127284" y="2500305"/>
            <a:ext cx="2273076" cy="2957065"/>
          </a:xfrm>
          <a:prstGeom prst="rect">
            <a:avLst/>
          </a:prstGeom>
          <a:solidFill>
            <a:schemeClr val="bg1">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spcBef>
                <a:spcPts val="11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需求计划准确率</a:t>
            </a:r>
            <a:endParaRPr lang="en-US" altLang="zh-CN" sz="1200" b="1" dirty="0">
              <a:solidFill>
                <a:schemeClr val="tx1"/>
              </a:solidFill>
              <a:latin typeface="微软雅黑" panose="020B0503020204020204" charset="-122"/>
              <a:ea typeface="微软雅黑" panose="020B0503020204020204" charset="-122"/>
            </a:endParaRPr>
          </a:p>
          <a:p>
            <a:pPr marL="117475" lvl="0" indent="-117475" eaLnBrk="0" hangingPunct="0">
              <a:spcBef>
                <a:spcPts val="1100"/>
              </a:spcBef>
              <a:buFont typeface="Arial" panose="020B0604020202020204" pitchFamily="34" charset="0"/>
              <a:buChar char="•"/>
            </a:pPr>
            <a:r>
              <a:rPr lang="en-US" altLang="zh-CN" sz="1200" b="1" dirty="0">
                <a:solidFill>
                  <a:schemeClr val="tx1"/>
                </a:solidFill>
                <a:latin typeface="微软雅黑" panose="020B0503020204020204" charset="-122"/>
                <a:ea typeface="微软雅黑" panose="020B0503020204020204" charset="-122"/>
              </a:rPr>
              <a:t>3</a:t>
            </a:r>
            <a:r>
              <a:rPr lang="zh-CN" altLang="en-US" sz="1200" b="1" dirty="0">
                <a:solidFill>
                  <a:schemeClr val="tx1"/>
                </a:solidFill>
                <a:latin typeface="微软雅黑" panose="020B0503020204020204" charset="-122"/>
                <a:ea typeface="微软雅黑" panose="020B0503020204020204" charset="-122"/>
              </a:rPr>
              <a:t>日上线计划准确率</a:t>
            </a:r>
            <a:endParaRPr lang="en-US" altLang="zh-CN" sz="1200" b="1" dirty="0">
              <a:solidFill>
                <a:schemeClr val="tx1"/>
              </a:solidFill>
              <a:latin typeface="微软雅黑" panose="020B0503020204020204" charset="-122"/>
              <a:ea typeface="微软雅黑" panose="020B0503020204020204" charset="-122"/>
            </a:endParaRPr>
          </a:p>
          <a:p>
            <a:pPr marL="117475" lvl="0" indent="-117475" eaLnBrk="0" hangingPunct="0">
              <a:spcBef>
                <a:spcPts val="11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零部件准时供货率</a:t>
            </a:r>
            <a:endParaRPr lang="en-US" altLang="zh-CN" sz="1200" b="1" dirty="0">
              <a:solidFill>
                <a:schemeClr val="tx1"/>
              </a:solidFill>
              <a:latin typeface="微软雅黑" panose="020B0503020204020204" charset="-122"/>
              <a:ea typeface="微软雅黑" panose="020B0503020204020204" charset="-122"/>
            </a:endParaRPr>
          </a:p>
          <a:p>
            <a:pPr marL="117475" lvl="0" indent="-117475" eaLnBrk="0" hangingPunct="0">
              <a:spcBef>
                <a:spcPts val="11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保内故障率</a:t>
            </a:r>
            <a:endParaRPr lang="en-US" altLang="zh-CN" sz="1200" b="1" dirty="0">
              <a:solidFill>
                <a:schemeClr val="tx1"/>
              </a:solidFill>
              <a:latin typeface="微软雅黑" panose="020B0503020204020204" charset="-122"/>
              <a:ea typeface="微软雅黑" panose="020B0503020204020204" charset="-122"/>
            </a:endParaRPr>
          </a:p>
          <a:p>
            <a:pPr marL="117475" lvl="0" indent="-117475" eaLnBrk="0" hangingPunct="0">
              <a:spcBef>
                <a:spcPts val="11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生产线可动率</a:t>
            </a:r>
            <a:endParaRPr lang="en-US" altLang="zh-CN" sz="1200" b="1" dirty="0">
              <a:solidFill>
                <a:schemeClr val="tx1"/>
              </a:solidFill>
              <a:latin typeface="微软雅黑" panose="020B0503020204020204" charset="-122"/>
              <a:ea typeface="微软雅黑" panose="020B0503020204020204" charset="-122"/>
            </a:endParaRPr>
          </a:p>
          <a:p>
            <a:pPr marL="117475" indent="-117475" eaLnBrk="0" hangingPunct="0">
              <a:spcBef>
                <a:spcPts val="1100"/>
              </a:spcBef>
              <a:buFont typeface="Arial" panose="020B0604020202020204" pitchFamily="34" charset="0"/>
              <a:buChar char="•"/>
            </a:pPr>
            <a:r>
              <a:rPr lang="zh-CN" altLang="en-US" sz="1200" b="1" dirty="0">
                <a:latin typeface="微软雅黑" panose="020B0503020204020204" charset="-122"/>
                <a:ea typeface="微软雅黑" panose="020B0503020204020204" charset="-122"/>
              </a:rPr>
              <a:t>停线时间</a:t>
            </a:r>
            <a:r>
              <a:rPr lang="en-US" altLang="zh-CN" sz="1200" b="1" dirty="0">
                <a:latin typeface="微软雅黑" panose="020B0503020204020204" charset="-122"/>
                <a:ea typeface="微软雅黑" panose="020B0503020204020204" charset="-122"/>
              </a:rPr>
              <a:t>(</a:t>
            </a:r>
            <a:r>
              <a:rPr lang="zh-CN" altLang="en-US" sz="1200" b="1" dirty="0">
                <a:latin typeface="微软雅黑" panose="020B0503020204020204" charset="-122"/>
                <a:ea typeface="微软雅黑" panose="020B0503020204020204" charset="-122"/>
              </a:rPr>
              <a:t>缺件</a:t>
            </a:r>
            <a:r>
              <a:rPr lang="en-US" altLang="zh-CN" sz="1200" b="1" dirty="0">
                <a:latin typeface="微软雅黑" panose="020B0503020204020204" charset="-122"/>
                <a:ea typeface="微软雅黑" panose="020B0503020204020204" charset="-122"/>
              </a:rPr>
              <a:t>/</a:t>
            </a:r>
            <a:r>
              <a:rPr lang="zh-CN" altLang="en-US" sz="1200" b="1" dirty="0">
                <a:latin typeface="微软雅黑" panose="020B0503020204020204" charset="-122"/>
                <a:ea typeface="微软雅黑" panose="020B0503020204020204" charset="-122"/>
              </a:rPr>
              <a:t>质量</a:t>
            </a:r>
            <a:r>
              <a:rPr lang="en-US" altLang="zh-CN" sz="1200" b="1" dirty="0">
                <a:latin typeface="微软雅黑" panose="020B0503020204020204" charset="-122"/>
                <a:ea typeface="微软雅黑" panose="020B0503020204020204" charset="-122"/>
              </a:rPr>
              <a:t>)</a:t>
            </a:r>
            <a:endParaRPr lang="en-US" altLang="zh-CN" sz="1200" b="1" dirty="0">
              <a:solidFill>
                <a:schemeClr val="tx1"/>
              </a:solidFill>
              <a:latin typeface="微软雅黑" panose="020B0503020204020204" charset="-122"/>
              <a:ea typeface="微软雅黑" panose="020B0503020204020204" charset="-122"/>
            </a:endParaRPr>
          </a:p>
          <a:p>
            <a:pPr marL="117475" lvl="0" indent="-117475" eaLnBrk="0" hangingPunct="0">
              <a:spcBef>
                <a:spcPts val="11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生产计划完成率</a:t>
            </a:r>
            <a:endParaRPr lang="en-US" altLang="zh-CN" sz="1200" b="1" dirty="0">
              <a:solidFill>
                <a:schemeClr val="tx1"/>
              </a:solidFill>
              <a:latin typeface="微软雅黑" panose="020B0503020204020204" charset="-122"/>
              <a:ea typeface="微软雅黑" panose="020B0503020204020204" charset="-122"/>
            </a:endParaRPr>
          </a:p>
          <a:p>
            <a:pPr marL="117475" indent="-117475" eaLnBrk="0" hangingPunct="0">
              <a:spcBef>
                <a:spcPts val="1100"/>
              </a:spcBef>
              <a:buFont typeface="Arial" panose="020B0604020202020204" pitchFamily="34" charset="0"/>
              <a:buChar char="•"/>
            </a:pPr>
            <a:r>
              <a:rPr lang="zh-CN" altLang="en-US" sz="1200" b="1" dirty="0">
                <a:latin typeface="微软雅黑" panose="020B0503020204020204" charset="-122"/>
                <a:ea typeface="微软雅黑" panose="020B0503020204020204" charset="-122"/>
              </a:rPr>
              <a:t>主机交付及时率</a:t>
            </a:r>
            <a:endParaRPr lang="en-US" altLang="zh-CN" sz="1200" b="1" dirty="0">
              <a:latin typeface="微软雅黑" panose="020B0503020204020204" charset="-122"/>
              <a:ea typeface="微软雅黑" panose="020B0503020204020204" charset="-122"/>
            </a:endParaRPr>
          </a:p>
          <a:p>
            <a:pPr marL="117475" indent="-117475" eaLnBrk="0" hangingPunct="0">
              <a:spcBef>
                <a:spcPts val="1100"/>
              </a:spcBef>
              <a:buFont typeface="Arial" panose="020B0604020202020204" pitchFamily="34" charset="0"/>
              <a:buChar char="•"/>
            </a:pPr>
            <a:r>
              <a:rPr lang="zh-CN" altLang="en-US" sz="1200" b="1" dirty="0">
                <a:latin typeface="微软雅黑" panose="020B0503020204020204" charset="-122"/>
                <a:ea typeface="微软雅黑" panose="020B0503020204020204" charset="-122"/>
              </a:rPr>
              <a:t>百台产品缺陷项次</a:t>
            </a:r>
          </a:p>
        </p:txBody>
      </p:sp>
      <p:sp>
        <p:nvSpPr>
          <p:cNvPr id="97" name="矩形 96"/>
          <p:cNvSpPr/>
          <p:nvPr/>
        </p:nvSpPr>
        <p:spPr bwMode="auto">
          <a:xfrm>
            <a:off x="4127283" y="5544457"/>
            <a:ext cx="2273068" cy="928915"/>
          </a:xfrm>
          <a:prstGeom prst="rect">
            <a:avLst/>
          </a:prstGeom>
          <a:solidFill>
            <a:schemeClr val="bg1">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spcBef>
                <a:spcPts val="6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整机准时到达率</a:t>
            </a:r>
            <a:endParaRPr lang="en-US" altLang="zh-CN" sz="1200" b="1" dirty="0">
              <a:solidFill>
                <a:schemeClr val="tx1"/>
              </a:solidFill>
              <a:latin typeface="微软雅黑" panose="020B0503020204020204" charset="-122"/>
              <a:ea typeface="微软雅黑" panose="020B0503020204020204" charset="-122"/>
            </a:endParaRPr>
          </a:p>
          <a:p>
            <a:pPr marL="117475" lvl="0" indent="-117475" eaLnBrk="0" hangingPunct="0">
              <a:spcBef>
                <a:spcPts val="6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到货质量完好率</a:t>
            </a:r>
            <a:endParaRPr lang="en-US" altLang="zh-CN" sz="1200" b="1" dirty="0">
              <a:solidFill>
                <a:schemeClr val="tx1"/>
              </a:solidFill>
              <a:latin typeface="微软雅黑" panose="020B0503020204020204" charset="-122"/>
              <a:ea typeface="微软雅黑" panose="020B0503020204020204" charset="-122"/>
            </a:endParaRPr>
          </a:p>
        </p:txBody>
      </p:sp>
      <p:sp>
        <p:nvSpPr>
          <p:cNvPr id="99" name="矩形 98"/>
          <p:cNvSpPr/>
          <p:nvPr/>
        </p:nvSpPr>
        <p:spPr bwMode="auto">
          <a:xfrm>
            <a:off x="6578600" y="2521325"/>
            <a:ext cx="2136804" cy="493561"/>
          </a:xfrm>
          <a:prstGeom prst="rect">
            <a:avLst/>
          </a:prstGeom>
          <a:solidFill>
            <a:schemeClr val="accent6">
              <a:lumMod val="20000"/>
              <a:lumOff val="80000"/>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lnSpc>
                <a:spcPts val="1640"/>
              </a:lnSpc>
              <a:buFont typeface="Arial" panose="020B0604020202020204" pitchFamily="34" charset="0"/>
              <a:buChar char="•"/>
            </a:pPr>
            <a:r>
              <a:rPr lang="zh-CN" altLang="en-US" sz="1600" b="1" dirty="0">
                <a:solidFill>
                  <a:schemeClr val="tx1"/>
                </a:solidFill>
                <a:latin typeface="微软雅黑" panose="020B0503020204020204" charset="-122"/>
                <a:ea typeface="微软雅黑" panose="020B0503020204020204" charset="-122"/>
              </a:rPr>
              <a:t>总体存货周转率</a:t>
            </a:r>
            <a:endParaRPr lang="en-US" altLang="zh-CN" sz="1600" b="1" dirty="0">
              <a:solidFill>
                <a:schemeClr val="tx1"/>
              </a:solidFill>
              <a:latin typeface="微软雅黑" panose="020B0503020204020204" charset="-122"/>
              <a:ea typeface="微软雅黑" panose="020B0503020204020204" charset="-122"/>
            </a:endParaRPr>
          </a:p>
        </p:txBody>
      </p:sp>
      <p:sp>
        <p:nvSpPr>
          <p:cNvPr id="100" name="矩形 99"/>
          <p:cNvSpPr/>
          <p:nvPr/>
        </p:nvSpPr>
        <p:spPr bwMode="auto">
          <a:xfrm>
            <a:off x="6578600" y="4608170"/>
            <a:ext cx="2136804" cy="878230"/>
          </a:xfrm>
          <a:prstGeom prst="rect">
            <a:avLst/>
          </a:prstGeom>
          <a:solidFill>
            <a:schemeClr val="accent6">
              <a:lumMod val="20000"/>
              <a:lumOff val="80000"/>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lnSpc>
                <a:spcPts val="1640"/>
              </a:lnSpc>
              <a:buFont typeface="Arial" panose="020B0604020202020204" pitchFamily="34" charset="0"/>
              <a:buChar char="•"/>
            </a:pPr>
            <a:r>
              <a:rPr lang="zh-CN" altLang="en-US" sz="1600" b="1" dirty="0">
                <a:solidFill>
                  <a:schemeClr val="tx1"/>
                </a:solidFill>
                <a:latin typeface="微软雅黑" panose="020B0503020204020204" charset="-122"/>
                <a:ea typeface="微软雅黑" panose="020B0503020204020204" charset="-122"/>
              </a:rPr>
              <a:t>工厂产能利用率</a:t>
            </a:r>
            <a:endParaRPr lang="en-US" altLang="zh-CN" sz="1600" b="1" dirty="0">
              <a:solidFill>
                <a:schemeClr val="tx1"/>
              </a:solidFill>
              <a:latin typeface="微软雅黑" panose="020B0503020204020204" charset="-122"/>
              <a:ea typeface="微软雅黑" panose="020B0503020204020204" charset="-122"/>
            </a:endParaRPr>
          </a:p>
        </p:txBody>
      </p:sp>
      <p:sp>
        <p:nvSpPr>
          <p:cNvPr id="103" name="矩形 102"/>
          <p:cNvSpPr/>
          <p:nvPr/>
        </p:nvSpPr>
        <p:spPr bwMode="auto">
          <a:xfrm>
            <a:off x="6578600" y="5616896"/>
            <a:ext cx="2136804" cy="878230"/>
          </a:xfrm>
          <a:prstGeom prst="rect">
            <a:avLst/>
          </a:prstGeom>
          <a:solidFill>
            <a:schemeClr val="accent6">
              <a:lumMod val="20000"/>
              <a:lumOff val="80000"/>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lnSpc>
                <a:spcPts val="1640"/>
              </a:lnSpc>
              <a:buFont typeface="Arial" panose="020B0604020202020204" pitchFamily="34" charset="0"/>
              <a:buChar char="•"/>
            </a:pPr>
            <a:r>
              <a:rPr lang="zh-CN" altLang="en-US" sz="1600" b="1" dirty="0">
                <a:solidFill>
                  <a:schemeClr val="tx1"/>
                </a:solidFill>
                <a:latin typeface="微软雅黑" panose="020B0503020204020204" charset="-122"/>
                <a:ea typeface="微软雅黑" panose="020B0503020204020204" charset="-122"/>
              </a:rPr>
              <a:t>每百万收入供应链管理人员成本</a:t>
            </a:r>
          </a:p>
        </p:txBody>
      </p:sp>
      <p:sp>
        <p:nvSpPr>
          <p:cNvPr id="105" name="矩形 104"/>
          <p:cNvSpPr/>
          <p:nvPr/>
        </p:nvSpPr>
        <p:spPr bwMode="auto">
          <a:xfrm>
            <a:off x="6578600" y="3062515"/>
            <a:ext cx="2136804" cy="1409027"/>
          </a:xfrm>
          <a:prstGeom prst="rect">
            <a:avLst/>
          </a:prstGeom>
          <a:solidFill>
            <a:schemeClr val="bg1">
              <a:alpha val="90000"/>
            </a:schemeClr>
          </a:solidFill>
          <a:ln w="28575">
            <a:solidFill>
              <a:srgbClr val="FFC715"/>
            </a:solidFill>
            <a:prstDash val="dash"/>
            <a:miter lim="800000"/>
          </a:ln>
          <a:effectLst>
            <a:outerShdw blurRad="50800" dist="38100" dir="2700000" algn="tl" rotWithShape="0">
              <a:prstClr val="black">
                <a:alpha val="40000"/>
              </a:prstClr>
            </a:outerShdw>
          </a:effectLst>
        </p:spPr>
        <p:txBody>
          <a:bodyPr wrap="square" lIns="36000" tIns="72000" rIns="36000" bIns="72000" anchor="ctr" anchorCtr="0"/>
          <a:lstStyle/>
          <a:p>
            <a:pPr marL="117475" lvl="0" indent="-117475" eaLnBrk="0" hangingPunct="0">
              <a:spcBef>
                <a:spcPts val="1200"/>
              </a:spcBef>
              <a:buFont typeface="Arial" panose="020B0604020202020204" pitchFamily="34" charset="0"/>
              <a:buChar char="•"/>
            </a:pPr>
            <a:r>
              <a:rPr lang="zh-CN" altLang="en-US" sz="1200" b="1" dirty="0">
                <a:latin typeface="微软雅黑" panose="020B0503020204020204" charset="-122"/>
                <a:ea typeface="微软雅黑" panose="020B0503020204020204" charset="-122"/>
              </a:rPr>
              <a:t>主机</a:t>
            </a:r>
            <a:r>
              <a:rPr lang="zh-CN" altLang="en-US" sz="1200" b="1" dirty="0">
                <a:solidFill>
                  <a:schemeClr val="tx1"/>
                </a:solidFill>
                <a:latin typeface="微软雅黑" panose="020B0503020204020204" charset="-122"/>
                <a:ea typeface="微软雅黑" panose="020B0503020204020204" charset="-122"/>
              </a:rPr>
              <a:t>存货周转</a:t>
            </a:r>
            <a:r>
              <a:rPr lang="zh-CN" altLang="en-US" sz="1200" b="1" dirty="0">
                <a:latin typeface="微软雅黑" panose="020B0503020204020204" charset="-122"/>
                <a:ea typeface="微软雅黑" panose="020B0503020204020204" charset="-122"/>
              </a:rPr>
              <a:t>率</a:t>
            </a:r>
            <a:endParaRPr lang="en-US" altLang="zh-CN" sz="1200" b="1" dirty="0">
              <a:solidFill>
                <a:schemeClr val="tx1"/>
              </a:solidFill>
              <a:latin typeface="微软雅黑" panose="020B0503020204020204" charset="-122"/>
              <a:ea typeface="微软雅黑" panose="020B0503020204020204" charset="-122"/>
            </a:endParaRPr>
          </a:p>
          <a:p>
            <a:pPr marL="117475" lvl="0" indent="-117475" eaLnBrk="0" hangingPunct="0">
              <a:spcBef>
                <a:spcPts val="12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超期车库存比率</a:t>
            </a:r>
          </a:p>
          <a:p>
            <a:pPr marL="117475" lvl="0" indent="-117475" eaLnBrk="0" hangingPunct="0">
              <a:spcBef>
                <a:spcPts val="12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零部件</a:t>
            </a:r>
            <a:r>
              <a:rPr lang="en-US" altLang="zh-CN" sz="1200" b="1" dirty="0">
                <a:solidFill>
                  <a:schemeClr val="tx1"/>
                </a:solidFill>
                <a:latin typeface="微软雅黑" panose="020B0503020204020204" charset="-122"/>
                <a:ea typeface="微软雅黑" panose="020B0503020204020204" charset="-122"/>
              </a:rPr>
              <a:t>+</a:t>
            </a:r>
            <a:r>
              <a:rPr lang="zh-CN" altLang="en-US" sz="1200" b="1" dirty="0">
                <a:solidFill>
                  <a:schemeClr val="tx1"/>
                </a:solidFill>
                <a:latin typeface="微软雅黑" panose="020B0503020204020204" charset="-122"/>
                <a:ea typeface="微软雅黑" panose="020B0503020204020204" charset="-122"/>
              </a:rPr>
              <a:t>在制品存货周转率</a:t>
            </a:r>
          </a:p>
          <a:p>
            <a:pPr marL="117475" lvl="0" indent="-117475" eaLnBrk="0" hangingPunct="0">
              <a:spcBef>
                <a:spcPts val="1200"/>
              </a:spcBef>
              <a:buFont typeface="Arial" panose="020B0604020202020204" pitchFamily="34" charset="0"/>
              <a:buChar char="•"/>
            </a:pPr>
            <a:r>
              <a:rPr lang="zh-CN" altLang="en-US" sz="1200" b="1" dirty="0">
                <a:solidFill>
                  <a:schemeClr val="tx1"/>
                </a:solidFill>
                <a:latin typeface="微软雅黑" panose="020B0503020204020204" charset="-122"/>
                <a:ea typeface="微软雅黑" panose="020B0503020204020204" charset="-122"/>
              </a:rPr>
              <a:t>呆滞库存金额</a:t>
            </a:r>
          </a:p>
        </p:txBody>
      </p:sp>
      <p:sp>
        <p:nvSpPr>
          <p:cNvPr id="106" name="TextBox 105"/>
          <p:cNvSpPr txBox="1"/>
          <p:nvPr/>
        </p:nvSpPr>
        <p:spPr bwMode="auto">
          <a:xfrm>
            <a:off x="5458894" y="2509128"/>
            <a:ext cx="771365" cy="430887"/>
          </a:xfrm>
          <a:prstGeom prst="rect">
            <a:avLst/>
          </a:prstGeom>
          <a:noFill/>
          <a:ln>
            <a:noFill/>
          </a:ln>
        </p:spPr>
        <p:txBody>
          <a:bodyPr wrap="none" rtlCol="0">
            <a:spAutoFit/>
          </a:bodyPr>
          <a:lstStyle/>
          <a:p>
            <a:r>
              <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rPr>
              <a:t>国内</a:t>
            </a:r>
            <a:r>
              <a:rPr kumimoji="1" lang="en-US" altLang="zh-CN" sz="1100" b="1" dirty="0">
                <a:solidFill>
                  <a:srgbClr val="FF0000"/>
                </a:solidFill>
                <a:latin typeface="微软雅黑" panose="020B0503020204020204" charset="-122"/>
                <a:ea typeface="微软雅黑" panose="020B0503020204020204" charset="-122"/>
                <a:cs typeface="微软雅黑" panose="020B0503020204020204" charset="-122"/>
              </a:rPr>
              <a:t>57%</a:t>
            </a:r>
          </a:p>
          <a:p>
            <a:r>
              <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rPr>
              <a:t>国际</a:t>
            </a:r>
            <a:r>
              <a:rPr kumimoji="1" lang="en-US" altLang="zh-CN" sz="1100" b="1" dirty="0">
                <a:solidFill>
                  <a:srgbClr val="FF0000"/>
                </a:solidFill>
                <a:latin typeface="微软雅黑" panose="020B0503020204020204" charset="-122"/>
                <a:ea typeface="微软雅黑" panose="020B0503020204020204" charset="-122"/>
                <a:cs typeface="微软雅黑" panose="020B0503020204020204" charset="-122"/>
              </a:rPr>
              <a:t>38%</a:t>
            </a:r>
            <a:endPar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08" name="TextBox 107"/>
          <p:cNvSpPr txBox="1"/>
          <p:nvPr/>
        </p:nvSpPr>
        <p:spPr bwMode="auto">
          <a:xfrm>
            <a:off x="5741023" y="2887976"/>
            <a:ext cx="489236" cy="261610"/>
          </a:xfrm>
          <a:prstGeom prst="rect">
            <a:avLst/>
          </a:prstGeom>
          <a:noFill/>
          <a:ln>
            <a:noFill/>
          </a:ln>
        </p:spPr>
        <p:txBody>
          <a:bodyPr wrap="none" rtlCol="0">
            <a:spAutoFit/>
          </a:bodyPr>
          <a:lstStyle/>
          <a:p>
            <a:r>
              <a:rPr kumimoji="1" lang="en-US" altLang="zh-CN" sz="1100" b="1" dirty="0">
                <a:solidFill>
                  <a:srgbClr val="FF0000"/>
                </a:solidFill>
                <a:latin typeface="微软雅黑" panose="020B0503020204020204" charset="-122"/>
                <a:ea typeface="微软雅黑" panose="020B0503020204020204" charset="-122"/>
                <a:cs typeface="微软雅黑" panose="020B0503020204020204" charset="-122"/>
              </a:rPr>
              <a:t>74%</a:t>
            </a:r>
            <a:endPar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09" name="乘号 108"/>
          <p:cNvSpPr/>
          <p:nvPr/>
        </p:nvSpPr>
        <p:spPr bwMode="auto">
          <a:xfrm>
            <a:off x="6135472" y="2888657"/>
            <a:ext cx="228600" cy="274320"/>
          </a:xfrm>
          <a:prstGeom prst="mathMultiply">
            <a:avLst/>
          </a:prstGeom>
          <a:solidFill>
            <a:srgbClr val="FF000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10" name="乘号 109"/>
          <p:cNvSpPr/>
          <p:nvPr/>
        </p:nvSpPr>
        <p:spPr bwMode="auto">
          <a:xfrm>
            <a:off x="6135472" y="2580160"/>
            <a:ext cx="228600" cy="274320"/>
          </a:xfrm>
          <a:prstGeom prst="mathMultiply">
            <a:avLst/>
          </a:prstGeom>
          <a:solidFill>
            <a:srgbClr val="FF000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11" name="TextBox 110"/>
          <p:cNvSpPr txBox="1"/>
          <p:nvPr/>
        </p:nvSpPr>
        <p:spPr bwMode="auto">
          <a:xfrm>
            <a:off x="2771475" y="4278491"/>
            <a:ext cx="721672" cy="507831"/>
          </a:xfrm>
          <a:prstGeom prst="rect">
            <a:avLst/>
          </a:prstGeom>
          <a:noFill/>
          <a:ln>
            <a:noFill/>
          </a:ln>
        </p:spPr>
        <p:txBody>
          <a:bodyPr wrap="none" rtlCol="0">
            <a:spAutoFit/>
          </a:bodyPr>
          <a:lstStyle/>
          <a:p>
            <a:pPr>
              <a:spcBef>
                <a:spcPts val="600"/>
              </a:spcBef>
            </a:pPr>
            <a:r>
              <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rPr>
              <a:t>国内 </a:t>
            </a:r>
            <a:endParaRPr kumimoji="1" lang="en-US" altLang="zh-CN" sz="1100" b="1" dirty="0">
              <a:solidFill>
                <a:srgbClr val="00B0F0"/>
              </a:solidFill>
              <a:latin typeface="微软雅黑" panose="020B0503020204020204" charset="-122"/>
              <a:ea typeface="微软雅黑" panose="020B0503020204020204" charset="-122"/>
              <a:cs typeface="微软雅黑" panose="020B0503020204020204" charset="-122"/>
            </a:endParaRPr>
          </a:p>
          <a:p>
            <a:pPr>
              <a:spcBef>
                <a:spcPts val="600"/>
              </a:spcBef>
            </a:pPr>
            <a:r>
              <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rPr>
              <a:t>国际 </a:t>
            </a:r>
            <a:r>
              <a:rPr kumimoji="1" lang="en-US" altLang="zh-CN" sz="1100" b="1" dirty="0">
                <a:solidFill>
                  <a:srgbClr val="00B0F0"/>
                </a:solidFill>
                <a:latin typeface="微软雅黑" panose="020B0503020204020204" charset="-122"/>
                <a:ea typeface="微软雅黑" panose="020B0503020204020204" charset="-122"/>
                <a:cs typeface="微软雅黑" panose="020B0503020204020204" charset="-122"/>
              </a:rPr>
              <a:t>8.0</a:t>
            </a:r>
            <a:endPar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endParaRPr>
          </a:p>
        </p:txBody>
      </p:sp>
      <p:sp>
        <p:nvSpPr>
          <p:cNvPr id="117" name="椭圆 116"/>
          <p:cNvSpPr/>
          <p:nvPr/>
        </p:nvSpPr>
        <p:spPr bwMode="auto">
          <a:xfrm>
            <a:off x="3500430" y="4572008"/>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21" name="TextBox 120"/>
          <p:cNvSpPr txBox="1"/>
          <p:nvPr/>
        </p:nvSpPr>
        <p:spPr bwMode="auto">
          <a:xfrm>
            <a:off x="5700947" y="3549980"/>
            <a:ext cx="529312" cy="261610"/>
          </a:xfrm>
          <a:prstGeom prst="rect">
            <a:avLst/>
          </a:prstGeom>
          <a:noFill/>
          <a:ln>
            <a:noFill/>
          </a:ln>
        </p:spPr>
        <p:txBody>
          <a:bodyPr wrap="none" rtlCol="0">
            <a:spAutoFit/>
          </a:bodyPr>
          <a:lstStyle/>
          <a:p>
            <a:r>
              <a:rPr kumimoji="1" lang="en-US" altLang="zh-CN" sz="1100" b="1" dirty="0">
                <a:solidFill>
                  <a:srgbClr val="0099FF"/>
                </a:solidFill>
                <a:latin typeface="微软雅黑" panose="020B0503020204020204" charset="-122"/>
                <a:ea typeface="微软雅黑" panose="020B0503020204020204" charset="-122"/>
                <a:cs typeface="微软雅黑" panose="020B0503020204020204" charset="-122"/>
              </a:rPr>
              <a:t>4.0%</a:t>
            </a:r>
            <a:endParaRPr kumimoji="1" lang="zh-CN" altLang="en-US" sz="1100" b="1" dirty="0">
              <a:solidFill>
                <a:srgbClr val="0099FF"/>
              </a:solidFill>
              <a:latin typeface="微软雅黑" panose="020B0503020204020204" charset="-122"/>
              <a:ea typeface="微软雅黑" panose="020B0503020204020204" charset="-122"/>
              <a:cs typeface="微软雅黑" panose="020B0503020204020204" charset="-122"/>
            </a:endParaRPr>
          </a:p>
        </p:txBody>
      </p:sp>
      <p:sp>
        <p:nvSpPr>
          <p:cNvPr id="126" name="椭圆 125"/>
          <p:cNvSpPr/>
          <p:nvPr/>
        </p:nvSpPr>
        <p:spPr bwMode="auto">
          <a:xfrm>
            <a:off x="6177772" y="3596152"/>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28" name="TextBox 127"/>
          <p:cNvSpPr txBox="1"/>
          <p:nvPr/>
        </p:nvSpPr>
        <p:spPr bwMode="auto">
          <a:xfrm>
            <a:off x="5741023" y="3862715"/>
            <a:ext cx="489236" cy="261610"/>
          </a:xfrm>
          <a:prstGeom prst="rect">
            <a:avLst/>
          </a:prstGeom>
          <a:noFill/>
          <a:ln>
            <a:noFill/>
          </a:ln>
        </p:spPr>
        <p:txBody>
          <a:bodyPr wrap="none" rtlCol="0">
            <a:spAutoFit/>
          </a:bodyPr>
          <a:lstStyle/>
          <a:p>
            <a:r>
              <a:rPr kumimoji="1" lang="en-US" altLang="zh-CN" sz="1100" b="1" dirty="0">
                <a:solidFill>
                  <a:srgbClr val="FF0000"/>
                </a:solidFill>
                <a:latin typeface="微软雅黑" panose="020B0503020204020204" charset="-122"/>
                <a:ea typeface="微软雅黑" panose="020B0503020204020204" charset="-122"/>
                <a:cs typeface="微软雅黑" panose="020B0503020204020204" charset="-122"/>
              </a:rPr>
              <a:t>68%</a:t>
            </a:r>
            <a:endPar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32" name="TextBox 131"/>
          <p:cNvSpPr txBox="1"/>
          <p:nvPr/>
        </p:nvSpPr>
        <p:spPr bwMode="auto">
          <a:xfrm>
            <a:off x="5652322" y="4178522"/>
            <a:ext cx="559769" cy="261610"/>
          </a:xfrm>
          <a:prstGeom prst="rect">
            <a:avLst/>
          </a:prstGeom>
          <a:noFill/>
          <a:ln>
            <a:noFill/>
          </a:ln>
        </p:spPr>
        <p:txBody>
          <a:bodyPr wrap="none" rtlCol="0">
            <a:spAutoFit/>
          </a:bodyPr>
          <a:lstStyle/>
          <a:p>
            <a:r>
              <a:rPr kumimoji="1" lang="en-US" altLang="zh-CN" sz="1100" b="1" dirty="0">
                <a:solidFill>
                  <a:srgbClr val="FF0000"/>
                </a:solidFill>
                <a:latin typeface="微软雅黑" panose="020B0503020204020204" charset="-122"/>
                <a:ea typeface="微软雅黑" panose="020B0503020204020204" charset="-122"/>
                <a:cs typeface="微软雅黑" panose="020B0503020204020204" charset="-122"/>
              </a:rPr>
              <a:t>369H</a:t>
            </a:r>
            <a:endPar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36" name="TextBox 135"/>
          <p:cNvSpPr txBox="1"/>
          <p:nvPr/>
        </p:nvSpPr>
        <p:spPr bwMode="auto">
          <a:xfrm>
            <a:off x="5965626" y="3135310"/>
            <a:ext cx="434734" cy="369332"/>
          </a:xfrm>
          <a:prstGeom prst="rect">
            <a:avLst/>
          </a:prstGeom>
          <a:noFill/>
          <a:ln>
            <a:noFill/>
          </a:ln>
        </p:spPr>
        <p:txBody>
          <a:bodyPr wrap="none" rtlCol="0">
            <a:spAutoFit/>
          </a:bodyPr>
          <a:lstStyle/>
          <a:p>
            <a:r>
              <a:rPr kumimoji="1"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rPr>
              <a:t>—</a:t>
            </a:r>
            <a:endParaRPr kumimoji="1" lang="zh-CN" altLang="en-US" b="1"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38" name="TextBox 137"/>
          <p:cNvSpPr txBox="1"/>
          <p:nvPr/>
        </p:nvSpPr>
        <p:spPr bwMode="auto">
          <a:xfrm>
            <a:off x="3322420" y="4217190"/>
            <a:ext cx="434734" cy="369332"/>
          </a:xfrm>
          <a:prstGeom prst="rect">
            <a:avLst/>
          </a:prstGeom>
          <a:noFill/>
          <a:ln>
            <a:noFill/>
          </a:ln>
        </p:spPr>
        <p:txBody>
          <a:bodyPr wrap="none" rtlCol="0">
            <a:spAutoFit/>
          </a:bodyPr>
          <a:lstStyle/>
          <a:p>
            <a:r>
              <a:rPr kumimoji="1"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rPr>
              <a:t>—</a:t>
            </a:r>
            <a:endParaRPr kumimoji="1" lang="zh-CN" altLang="en-US" b="1"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39" name="TextBox 138"/>
          <p:cNvSpPr txBox="1"/>
          <p:nvPr/>
        </p:nvSpPr>
        <p:spPr bwMode="auto">
          <a:xfrm>
            <a:off x="2771536" y="2918797"/>
            <a:ext cx="721672" cy="507831"/>
          </a:xfrm>
          <a:prstGeom prst="rect">
            <a:avLst/>
          </a:prstGeom>
          <a:noFill/>
          <a:ln>
            <a:noFill/>
          </a:ln>
        </p:spPr>
        <p:txBody>
          <a:bodyPr wrap="none" rtlCol="0">
            <a:spAutoFit/>
          </a:bodyPr>
          <a:lstStyle/>
          <a:p>
            <a:pPr>
              <a:spcBef>
                <a:spcPts val="600"/>
              </a:spcBef>
            </a:pPr>
            <a:r>
              <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rPr>
              <a:t>国内 </a:t>
            </a:r>
            <a:r>
              <a:rPr kumimoji="1" lang="en-US" altLang="zh-CN" sz="1100" b="1" dirty="0">
                <a:solidFill>
                  <a:srgbClr val="00B0F0"/>
                </a:solidFill>
                <a:latin typeface="微软雅黑" panose="020B0503020204020204" charset="-122"/>
                <a:ea typeface="微软雅黑" panose="020B0503020204020204" charset="-122"/>
                <a:cs typeface="微软雅黑" panose="020B0503020204020204" charset="-122"/>
              </a:rPr>
              <a:t>0.5</a:t>
            </a:r>
          </a:p>
          <a:p>
            <a:pPr>
              <a:spcBef>
                <a:spcPts val="600"/>
              </a:spcBef>
            </a:pPr>
            <a:r>
              <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rPr>
              <a:t>国际 </a:t>
            </a:r>
            <a:r>
              <a:rPr kumimoji="1" lang="en-US" altLang="zh-CN" sz="1100" b="1" dirty="0">
                <a:solidFill>
                  <a:srgbClr val="FF0000"/>
                </a:solidFill>
                <a:latin typeface="微软雅黑" panose="020B0503020204020204" charset="-122"/>
                <a:ea typeface="微软雅黑" panose="020B0503020204020204" charset="-122"/>
                <a:cs typeface="微软雅黑" panose="020B0503020204020204" charset="-122"/>
              </a:rPr>
              <a:t>21</a:t>
            </a:r>
            <a:endPar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5" name="椭圆 144"/>
          <p:cNvSpPr/>
          <p:nvPr/>
        </p:nvSpPr>
        <p:spPr bwMode="auto">
          <a:xfrm>
            <a:off x="3500491" y="2972476"/>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47" name="TextBox 146"/>
          <p:cNvSpPr txBox="1"/>
          <p:nvPr/>
        </p:nvSpPr>
        <p:spPr bwMode="auto">
          <a:xfrm>
            <a:off x="2771536" y="5650327"/>
            <a:ext cx="721672" cy="507831"/>
          </a:xfrm>
          <a:prstGeom prst="rect">
            <a:avLst/>
          </a:prstGeom>
          <a:noFill/>
          <a:ln>
            <a:noFill/>
          </a:ln>
        </p:spPr>
        <p:txBody>
          <a:bodyPr wrap="none" rtlCol="0">
            <a:spAutoFit/>
          </a:bodyPr>
          <a:lstStyle/>
          <a:p>
            <a:pPr>
              <a:spcBef>
                <a:spcPts val="600"/>
              </a:spcBef>
            </a:pPr>
            <a:r>
              <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rPr>
              <a:t>国内 </a:t>
            </a:r>
            <a:r>
              <a:rPr kumimoji="1" lang="en-US" altLang="zh-CN" sz="1100" b="1" dirty="0">
                <a:solidFill>
                  <a:srgbClr val="00B0F0"/>
                </a:solidFill>
                <a:latin typeface="微软雅黑" panose="020B0503020204020204" charset="-122"/>
                <a:ea typeface="微软雅黑" panose="020B0503020204020204" charset="-122"/>
                <a:cs typeface="微软雅黑" panose="020B0503020204020204" charset="-122"/>
              </a:rPr>
              <a:t>7.1</a:t>
            </a:r>
          </a:p>
          <a:p>
            <a:pPr>
              <a:spcBef>
                <a:spcPts val="600"/>
              </a:spcBef>
            </a:pPr>
            <a:r>
              <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rPr>
              <a:t>国际 </a:t>
            </a:r>
            <a:r>
              <a:rPr kumimoji="1" lang="en-US" altLang="zh-CN" sz="1100" b="1" dirty="0">
                <a:solidFill>
                  <a:srgbClr val="00B0F0"/>
                </a:solidFill>
                <a:latin typeface="微软雅黑" panose="020B0503020204020204" charset="-122"/>
                <a:ea typeface="微软雅黑" panose="020B0503020204020204" charset="-122"/>
                <a:cs typeface="微软雅黑" panose="020B0503020204020204" charset="-122"/>
              </a:rPr>
              <a:t>40</a:t>
            </a:r>
            <a:endPar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endParaRPr>
          </a:p>
        </p:txBody>
      </p:sp>
      <p:sp>
        <p:nvSpPr>
          <p:cNvPr id="149" name="椭圆 148"/>
          <p:cNvSpPr/>
          <p:nvPr/>
        </p:nvSpPr>
        <p:spPr bwMode="auto">
          <a:xfrm>
            <a:off x="3500491" y="5700502"/>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53" name="乘号 152"/>
          <p:cNvSpPr/>
          <p:nvPr/>
        </p:nvSpPr>
        <p:spPr bwMode="auto">
          <a:xfrm>
            <a:off x="6135472" y="3856360"/>
            <a:ext cx="228600" cy="274320"/>
          </a:xfrm>
          <a:prstGeom prst="mathMultiply">
            <a:avLst/>
          </a:prstGeom>
          <a:solidFill>
            <a:srgbClr val="FF000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56" name="乘号 155"/>
          <p:cNvSpPr/>
          <p:nvPr/>
        </p:nvSpPr>
        <p:spPr bwMode="auto">
          <a:xfrm>
            <a:off x="6135472" y="4164472"/>
            <a:ext cx="228600" cy="274320"/>
          </a:xfrm>
          <a:prstGeom prst="mathMultiply">
            <a:avLst/>
          </a:prstGeom>
          <a:solidFill>
            <a:srgbClr val="FF000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69" name="TextBox 168"/>
          <p:cNvSpPr txBox="1"/>
          <p:nvPr/>
        </p:nvSpPr>
        <p:spPr bwMode="auto">
          <a:xfrm>
            <a:off x="5372332" y="4429132"/>
            <a:ext cx="857927" cy="430887"/>
          </a:xfrm>
          <a:prstGeom prst="rect">
            <a:avLst/>
          </a:prstGeom>
          <a:noFill/>
          <a:ln>
            <a:noFill/>
          </a:ln>
        </p:spPr>
        <p:txBody>
          <a:bodyPr wrap="none" rtlCol="0">
            <a:spAutoFit/>
          </a:bodyPr>
          <a:lstStyle/>
          <a:p>
            <a:r>
              <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rPr>
              <a:t>国内  </a:t>
            </a:r>
            <a:r>
              <a:rPr kumimoji="1" lang="en-US" altLang="zh-CN" sz="1100" b="1" dirty="0">
                <a:solidFill>
                  <a:srgbClr val="00B0F0"/>
                </a:solidFill>
                <a:latin typeface="微软雅黑" panose="020B0503020204020204" charset="-122"/>
                <a:ea typeface="微软雅黑" panose="020B0503020204020204" charset="-122"/>
                <a:cs typeface="微软雅黑" panose="020B0503020204020204" charset="-122"/>
              </a:rPr>
              <a:t>96%</a:t>
            </a:r>
          </a:p>
          <a:p>
            <a:r>
              <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rPr>
              <a:t>国际</a:t>
            </a:r>
            <a:r>
              <a:rPr kumimoji="1" lang="en-US" altLang="zh-CN" sz="1100" b="1" dirty="0">
                <a:solidFill>
                  <a:srgbClr val="00B0F0"/>
                </a:solidFill>
                <a:latin typeface="微软雅黑" panose="020B0503020204020204" charset="-122"/>
                <a:ea typeface="微软雅黑" panose="020B0503020204020204" charset="-122"/>
                <a:cs typeface="微软雅黑" panose="020B0503020204020204" charset="-122"/>
              </a:rPr>
              <a:t>100%</a:t>
            </a:r>
            <a:endParaRPr kumimoji="1" lang="zh-CN" altLang="en-US" sz="1100" b="1" dirty="0">
              <a:solidFill>
                <a:srgbClr val="00B0F0"/>
              </a:solidFill>
              <a:latin typeface="微软雅黑" panose="020B0503020204020204" charset="-122"/>
              <a:ea typeface="微软雅黑" panose="020B0503020204020204" charset="-122"/>
              <a:cs typeface="微软雅黑" panose="020B0503020204020204" charset="-122"/>
            </a:endParaRPr>
          </a:p>
        </p:txBody>
      </p:sp>
      <p:sp>
        <p:nvSpPr>
          <p:cNvPr id="170" name="椭圆 169"/>
          <p:cNvSpPr/>
          <p:nvPr/>
        </p:nvSpPr>
        <p:spPr bwMode="auto">
          <a:xfrm>
            <a:off x="6177772" y="4475170"/>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73" name="椭圆 172"/>
          <p:cNvSpPr/>
          <p:nvPr/>
        </p:nvSpPr>
        <p:spPr bwMode="auto">
          <a:xfrm>
            <a:off x="6177772" y="4656146"/>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75" name="TextBox 174"/>
          <p:cNvSpPr txBox="1"/>
          <p:nvPr/>
        </p:nvSpPr>
        <p:spPr bwMode="auto">
          <a:xfrm>
            <a:off x="5741023" y="4838273"/>
            <a:ext cx="489236" cy="261610"/>
          </a:xfrm>
          <a:prstGeom prst="rect">
            <a:avLst/>
          </a:prstGeom>
          <a:noFill/>
          <a:ln>
            <a:noFill/>
          </a:ln>
        </p:spPr>
        <p:txBody>
          <a:bodyPr wrap="none" rtlCol="0">
            <a:spAutoFit/>
          </a:bodyPr>
          <a:lstStyle/>
          <a:p>
            <a:r>
              <a:rPr kumimoji="1" lang="en-US" altLang="zh-CN" sz="1100" b="1" dirty="0">
                <a:solidFill>
                  <a:srgbClr val="FF0000"/>
                </a:solidFill>
                <a:latin typeface="微软雅黑" panose="020B0503020204020204" charset="-122"/>
                <a:ea typeface="微软雅黑" panose="020B0503020204020204" charset="-122"/>
                <a:cs typeface="微软雅黑" panose="020B0503020204020204" charset="-122"/>
              </a:rPr>
              <a:t>78%</a:t>
            </a:r>
            <a:endParaRPr kumimoji="1" lang="zh-CN" altLang="en-US" sz="11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82" name="乘号 181"/>
          <p:cNvSpPr/>
          <p:nvPr/>
        </p:nvSpPr>
        <p:spPr bwMode="auto">
          <a:xfrm>
            <a:off x="6135472" y="4831918"/>
            <a:ext cx="228600" cy="274320"/>
          </a:xfrm>
          <a:prstGeom prst="mathMultiply">
            <a:avLst/>
          </a:prstGeom>
          <a:solidFill>
            <a:srgbClr val="FF000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83" name="TextBox 182"/>
          <p:cNvSpPr txBox="1"/>
          <p:nvPr/>
        </p:nvSpPr>
        <p:spPr bwMode="auto">
          <a:xfrm>
            <a:off x="5967422" y="5059932"/>
            <a:ext cx="434734" cy="369332"/>
          </a:xfrm>
          <a:prstGeom prst="rect">
            <a:avLst/>
          </a:prstGeom>
          <a:noFill/>
          <a:ln>
            <a:noFill/>
          </a:ln>
        </p:spPr>
        <p:txBody>
          <a:bodyPr wrap="none" rtlCol="0">
            <a:spAutoFit/>
          </a:bodyPr>
          <a:lstStyle/>
          <a:p>
            <a:r>
              <a:rPr kumimoji="1"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rPr>
              <a:t>—</a:t>
            </a:r>
            <a:endParaRPr kumimoji="1" lang="zh-CN" altLang="en-US" b="1"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84" name="TextBox 183"/>
          <p:cNvSpPr txBox="1"/>
          <p:nvPr/>
        </p:nvSpPr>
        <p:spPr bwMode="auto">
          <a:xfrm>
            <a:off x="5970280" y="5687634"/>
            <a:ext cx="434734" cy="369332"/>
          </a:xfrm>
          <a:prstGeom prst="rect">
            <a:avLst/>
          </a:prstGeom>
          <a:noFill/>
          <a:ln>
            <a:noFill/>
          </a:ln>
        </p:spPr>
        <p:txBody>
          <a:bodyPr wrap="none" rtlCol="0">
            <a:spAutoFit/>
          </a:bodyPr>
          <a:lstStyle/>
          <a:p>
            <a:r>
              <a:rPr kumimoji="1"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rPr>
              <a:t>—</a:t>
            </a:r>
            <a:endParaRPr kumimoji="1" lang="zh-CN" altLang="en-US" b="1"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86" name="TextBox 185"/>
          <p:cNvSpPr txBox="1"/>
          <p:nvPr/>
        </p:nvSpPr>
        <p:spPr bwMode="auto">
          <a:xfrm>
            <a:off x="5975042" y="5952190"/>
            <a:ext cx="434734" cy="369332"/>
          </a:xfrm>
          <a:prstGeom prst="rect">
            <a:avLst/>
          </a:prstGeom>
          <a:noFill/>
          <a:ln>
            <a:noFill/>
          </a:ln>
        </p:spPr>
        <p:txBody>
          <a:bodyPr wrap="none" rtlCol="0">
            <a:spAutoFit/>
          </a:bodyPr>
          <a:lstStyle/>
          <a:p>
            <a:r>
              <a:rPr kumimoji="1"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rPr>
              <a:t>—</a:t>
            </a:r>
            <a:endParaRPr kumimoji="1" lang="zh-CN" altLang="en-US" b="1"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87" name="TextBox 186"/>
          <p:cNvSpPr txBox="1"/>
          <p:nvPr/>
        </p:nvSpPr>
        <p:spPr bwMode="auto">
          <a:xfrm>
            <a:off x="7740672" y="3381318"/>
            <a:ext cx="933269" cy="400110"/>
          </a:xfrm>
          <a:prstGeom prst="rect">
            <a:avLst/>
          </a:prstGeom>
          <a:noFill/>
          <a:ln>
            <a:noFill/>
          </a:ln>
        </p:spPr>
        <p:txBody>
          <a:bodyPr wrap="none" rtlCol="0">
            <a:spAutoFit/>
          </a:bodyPr>
          <a:lstStyle/>
          <a:p>
            <a:r>
              <a:rPr kumimoji="1" lang="zh-CN" altLang="en-US" sz="1000" b="1" dirty="0">
                <a:solidFill>
                  <a:srgbClr val="00B0F0"/>
                </a:solidFill>
                <a:latin typeface="微软雅黑" panose="020B0503020204020204" charset="-122"/>
                <a:ea typeface="微软雅黑" panose="020B0503020204020204" charset="-122"/>
                <a:cs typeface="微软雅黑" panose="020B0503020204020204" charset="-122"/>
              </a:rPr>
              <a:t>事业部</a:t>
            </a:r>
            <a:r>
              <a:rPr kumimoji="1" lang="en-US" altLang="zh-CN" sz="1000" b="1" dirty="0">
                <a:solidFill>
                  <a:srgbClr val="00B0F0"/>
                </a:solidFill>
                <a:latin typeface="微软雅黑" panose="020B0503020204020204" charset="-122"/>
                <a:ea typeface="微软雅黑" panose="020B0503020204020204" charset="-122"/>
                <a:cs typeface="微软雅黑" panose="020B0503020204020204" charset="-122"/>
              </a:rPr>
              <a:t>340</a:t>
            </a:r>
            <a:r>
              <a:rPr kumimoji="1" lang="zh-CN" altLang="en-US" sz="1000" b="1" dirty="0">
                <a:solidFill>
                  <a:srgbClr val="00B0F0"/>
                </a:solidFill>
                <a:latin typeface="微软雅黑" panose="020B0503020204020204" charset="-122"/>
                <a:ea typeface="微软雅黑" panose="020B0503020204020204" charset="-122"/>
                <a:cs typeface="微软雅黑" panose="020B0503020204020204" charset="-122"/>
              </a:rPr>
              <a:t>万</a:t>
            </a:r>
            <a:endParaRPr kumimoji="1" lang="en-US" altLang="zh-CN" sz="1000" b="1" dirty="0">
              <a:solidFill>
                <a:srgbClr val="00B0F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FF0000"/>
                </a:solidFill>
                <a:latin typeface="微软雅黑" panose="020B0503020204020204" charset="-122"/>
                <a:ea typeface="微软雅黑" panose="020B0503020204020204" charset="-122"/>
                <a:cs typeface="微软雅黑" panose="020B0503020204020204" charset="-122"/>
              </a:rPr>
              <a:t>代理商</a:t>
            </a:r>
            <a:r>
              <a:rPr kumimoji="1" lang="en-US" altLang="zh-CN" sz="1000" b="1" dirty="0">
                <a:solidFill>
                  <a:srgbClr val="FF0000"/>
                </a:solidFill>
                <a:latin typeface="微软雅黑" panose="020B0503020204020204" charset="-122"/>
                <a:ea typeface="微软雅黑" panose="020B0503020204020204" charset="-122"/>
                <a:cs typeface="微软雅黑" panose="020B0503020204020204" charset="-122"/>
              </a:rPr>
              <a:t>1.5</a:t>
            </a:r>
            <a:r>
              <a:rPr kumimoji="1" lang="zh-CN" altLang="en-US" sz="1000" b="1" dirty="0">
                <a:solidFill>
                  <a:srgbClr val="FF0000"/>
                </a:solidFill>
                <a:latin typeface="微软雅黑" panose="020B0503020204020204" charset="-122"/>
                <a:ea typeface="微软雅黑" panose="020B0503020204020204" charset="-122"/>
                <a:cs typeface="微软雅黑" panose="020B0503020204020204" charset="-122"/>
              </a:rPr>
              <a:t>亿</a:t>
            </a:r>
          </a:p>
        </p:txBody>
      </p:sp>
      <p:sp>
        <p:nvSpPr>
          <p:cNvPr id="188" name="乘号 187"/>
          <p:cNvSpPr/>
          <p:nvPr/>
        </p:nvSpPr>
        <p:spPr bwMode="auto">
          <a:xfrm>
            <a:off x="8524200" y="3525838"/>
            <a:ext cx="228600" cy="274320"/>
          </a:xfrm>
          <a:prstGeom prst="mathMultiply">
            <a:avLst/>
          </a:prstGeom>
          <a:solidFill>
            <a:srgbClr val="FF000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89" name="TextBox 188"/>
          <p:cNvSpPr txBox="1"/>
          <p:nvPr/>
        </p:nvSpPr>
        <p:spPr bwMode="auto">
          <a:xfrm>
            <a:off x="8253858" y="3148010"/>
            <a:ext cx="378630" cy="246221"/>
          </a:xfrm>
          <a:prstGeom prst="rect">
            <a:avLst/>
          </a:prstGeom>
          <a:noFill/>
          <a:ln>
            <a:noFill/>
          </a:ln>
        </p:spPr>
        <p:txBody>
          <a:bodyPr wrap="none" rtlCol="0">
            <a:spAutoFit/>
          </a:bodyPr>
          <a:lstStyle/>
          <a:p>
            <a:r>
              <a:rPr kumimoji="1" lang="en-US" altLang="zh-CN" sz="1000" b="1" dirty="0">
                <a:solidFill>
                  <a:srgbClr val="0099FF"/>
                </a:solidFill>
                <a:latin typeface="微软雅黑" panose="020B0503020204020204" charset="-122"/>
                <a:ea typeface="微软雅黑" panose="020B0503020204020204" charset="-122"/>
                <a:cs typeface="微软雅黑" panose="020B0503020204020204" charset="-122"/>
              </a:rPr>
              <a:t>9.7</a:t>
            </a:r>
            <a:endParaRPr kumimoji="1" lang="zh-CN" altLang="en-US" sz="1000" b="1" dirty="0">
              <a:solidFill>
                <a:srgbClr val="0099FF"/>
              </a:solidFill>
              <a:latin typeface="微软雅黑" panose="020B0503020204020204" charset="-122"/>
              <a:ea typeface="微软雅黑" panose="020B0503020204020204" charset="-122"/>
              <a:cs typeface="微软雅黑" panose="020B0503020204020204" charset="-122"/>
            </a:endParaRPr>
          </a:p>
        </p:txBody>
      </p:sp>
      <p:sp>
        <p:nvSpPr>
          <p:cNvPr id="190" name="椭圆 189"/>
          <p:cNvSpPr/>
          <p:nvPr/>
        </p:nvSpPr>
        <p:spPr bwMode="auto">
          <a:xfrm>
            <a:off x="8566500" y="3199120"/>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91" name="椭圆 190"/>
          <p:cNvSpPr/>
          <p:nvPr/>
        </p:nvSpPr>
        <p:spPr bwMode="auto">
          <a:xfrm>
            <a:off x="8566500" y="3440576"/>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92" name="TextBox 191"/>
          <p:cNvSpPr txBox="1"/>
          <p:nvPr/>
        </p:nvSpPr>
        <p:spPr bwMode="auto">
          <a:xfrm>
            <a:off x="8158890" y="3968597"/>
            <a:ext cx="457176" cy="246221"/>
          </a:xfrm>
          <a:prstGeom prst="rect">
            <a:avLst/>
          </a:prstGeom>
          <a:noFill/>
          <a:ln>
            <a:noFill/>
          </a:ln>
        </p:spPr>
        <p:txBody>
          <a:bodyPr wrap="none" rtlCol="0">
            <a:spAutoFit/>
          </a:bodyPr>
          <a:lstStyle/>
          <a:p>
            <a:r>
              <a:rPr kumimoji="1" lang="en-US" altLang="zh-CN" sz="1000" b="1" dirty="0">
                <a:solidFill>
                  <a:srgbClr val="0099FF"/>
                </a:solidFill>
                <a:latin typeface="微软雅黑" panose="020B0503020204020204" charset="-122"/>
                <a:ea typeface="微软雅黑" panose="020B0503020204020204" charset="-122"/>
                <a:cs typeface="微软雅黑" panose="020B0503020204020204" charset="-122"/>
              </a:rPr>
              <a:t>35.7</a:t>
            </a:r>
            <a:endParaRPr kumimoji="1" lang="zh-CN" altLang="en-US" sz="1000" b="1" dirty="0">
              <a:solidFill>
                <a:srgbClr val="0099FF"/>
              </a:solidFill>
              <a:latin typeface="微软雅黑" panose="020B0503020204020204" charset="-122"/>
              <a:ea typeface="微软雅黑" panose="020B0503020204020204" charset="-122"/>
              <a:cs typeface="微软雅黑" panose="020B0503020204020204" charset="-122"/>
            </a:endParaRPr>
          </a:p>
        </p:txBody>
      </p:sp>
      <p:sp>
        <p:nvSpPr>
          <p:cNvPr id="193" name="椭圆 192"/>
          <p:cNvSpPr/>
          <p:nvPr/>
        </p:nvSpPr>
        <p:spPr bwMode="auto">
          <a:xfrm>
            <a:off x="8566500" y="4019707"/>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94" name="TextBox 193"/>
          <p:cNvSpPr txBox="1"/>
          <p:nvPr/>
        </p:nvSpPr>
        <p:spPr bwMode="auto">
          <a:xfrm>
            <a:off x="7686529" y="4102368"/>
            <a:ext cx="970137" cy="400110"/>
          </a:xfrm>
          <a:prstGeom prst="rect">
            <a:avLst/>
          </a:prstGeom>
          <a:noFill/>
          <a:ln>
            <a:noFill/>
          </a:ln>
        </p:spPr>
        <p:txBody>
          <a:bodyPr wrap="none" rtlCol="0">
            <a:spAutoFit/>
          </a:bodyPr>
          <a:lstStyle/>
          <a:p>
            <a:r>
              <a:rPr kumimoji="1" lang="zh-CN" altLang="en-US" sz="1000" b="1" dirty="0">
                <a:solidFill>
                  <a:srgbClr val="00B0F0"/>
                </a:solidFill>
                <a:latin typeface="微软雅黑" panose="020B0503020204020204" charset="-122"/>
                <a:ea typeface="微软雅黑" panose="020B0503020204020204" charset="-122"/>
                <a:cs typeface="微软雅黑" panose="020B0503020204020204" charset="-122"/>
              </a:rPr>
              <a:t>零部件</a:t>
            </a:r>
            <a:r>
              <a:rPr kumimoji="1" lang="en-US" altLang="zh-CN" sz="1000" b="1" dirty="0">
                <a:solidFill>
                  <a:srgbClr val="00B0F0"/>
                </a:solidFill>
                <a:latin typeface="微软雅黑" panose="020B0503020204020204" charset="-122"/>
                <a:ea typeface="微软雅黑" panose="020B0503020204020204" charset="-122"/>
                <a:cs typeface="微软雅黑" panose="020B0503020204020204" charset="-122"/>
              </a:rPr>
              <a:t>105</a:t>
            </a:r>
            <a:r>
              <a:rPr kumimoji="1" lang="zh-CN" altLang="en-US" sz="1000" b="1" dirty="0">
                <a:solidFill>
                  <a:srgbClr val="00B0F0"/>
                </a:solidFill>
                <a:latin typeface="微软雅黑" panose="020B0503020204020204" charset="-122"/>
                <a:ea typeface="微软雅黑" panose="020B0503020204020204" charset="-122"/>
                <a:cs typeface="微软雅黑" panose="020B0503020204020204" charset="-122"/>
              </a:rPr>
              <a:t>万</a:t>
            </a:r>
            <a:endParaRPr kumimoji="1" lang="en-US" altLang="zh-CN" sz="1000" b="1" dirty="0">
              <a:solidFill>
                <a:srgbClr val="00B0F0"/>
              </a:solidFill>
              <a:latin typeface="微软雅黑" panose="020B0503020204020204" charset="-122"/>
              <a:ea typeface="微软雅黑" panose="020B0503020204020204" charset="-122"/>
              <a:cs typeface="微软雅黑" panose="020B0503020204020204" charset="-122"/>
            </a:endParaRPr>
          </a:p>
          <a:p>
            <a:r>
              <a:rPr kumimoji="1" lang="zh-CN" altLang="en-US" sz="1000" b="1" dirty="0">
                <a:solidFill>
                  <a:srgbClr val="00B0F0"/>
                </a:solidFill>
                <a:latin typeface="微软雅黑" panose="020B0503020204020204" charset="-122"/>
                <a:ea typeface="微软雅黑" panose="020B0503020204020204" charset="-122"/>
                <a:cs typeface="微软雅黑" panose="020B0503020204020204" charset="-122"/>
              </a:rPr>
              <a:t>配件 </a:t>
            </a:r>
            <a:r>
              <a:rPr kumimoji="1" lang="en-US" altLang="zh-CN" sz="1000" b="1" dirty="0">
                <a:solidFill>
                  <a:srgbClr val="00B0F0"/>
                </a:solidFill>
                <a:latin typeface="微软雅黑" panose="020B0503020204020204" charset="-122"/>
                <a:ea typeface="微软雅黑" panose="020B0503020204020204" charset="-122"/>
                <a:cs typeface="微软雅黑" panose="020B0503020204020204" charset="-122"/>
              </a:rPr>
              <a:t>1,723</a:t>
            </a:r>
            <a:r>
              <a:rPr kumimoji="1" lang="zh-CN" altLang="en-US" sz="1000" b="1" dirty="0">
                <a:solidFill>
                  <a:srgbClr val="00B0F0"/>
                </a:solidFill>
                <a:latin typeface="微软雅黑" panose="020B0503020204020204" charset="-122"/>
                <a:ea typeface="微软雅黑" panose="020B0503020204020204" charset="-122"/>
                <a:cs typeface="微软雅黑" panose="020B0503020204020204" charset="-122"/>
              </a:rPr>
              <a:t>万</a:t>
            </a:r>
          </a:p>
        </p:txBody>
      </p:sp>
      <p:sp>
        <p:nvSpPr>
          <p:cNvPr id="196" name="椭圆 195"/>
          <p:cNvSpPr/>
          <p:nvPr/>
        </p:nvSpPr>
        <p:spPr bwMode="auto">
          <a:xfrm>
            <a:off x="8566500" y="4161626"/>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98" name="TextBox 197"/>
          <p:cNvSpPr txBox="1"/>
          <p:nvPr/>
        </p:nvSpPr>
        <p:spPr bwMode="auto">
          <a:xfrm>
            <a:off x="8352108" y="4807518"/>
            <a:ext cx="434734" cy="369332"/>
          </a:xfrm>
          <a:prstGeom prst="rect">
            <a:avLst/>
          </a:prstGeom>
          <a:noFill/>
          <a:ln>
            <a:noFill/>
          </a:ln>
        </p:spPr>
        <p:txBody>
          <a:bodyPr wrap="none" rtlCol="0">
            <a:spAutoFit/>
          </a:bodyPr>
          <a:lstStyle/>
          <a:p>
            <a:r>
              <a:rPr kumimoji="1"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rPr>
              <a:t>—</a:t>
            </a:r>
            <a:endParaRPr kumimoji="1" lang="zh-CN" altLang="en-US" b="1"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99" name="TextBox 198"/>
          <p:cNvSpPr txBox="1"/>
          <p:nvPr/>
        </p:nvSpPr>
        <p:spPr bwMode="auto">
          <a:xfrm>
            <a:off x="8358214" y="5929888"/>
            <a:ext cx="434734" cy="369332"/>
          </a:xfrm>
          <a:prstGeom prst="rect">
            <a:avLst/>
          </a:prstGeom>
          <a:noFill/>
          <a:ln>
            <a:noFill/>
          </a:ln>
        </p:spPr>
        <p:txBody>
          <a:bodyPr wrap="none" rtlCol="0">
            <a:spAutoFit/>
          </a:bodyPr>
          <a:lstStyle/>
          <a:p>
            <a:r>
              <a:rPr kumimoji="1"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rPr>
              <a:t>—</a:t>
            </a:r>
            <a:endParaRPr kumimoji="1" lang="zh-CN" altLang="en-US" b="1"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200" name="TextBox 54"/>
          <p:cNvSpPr txBox="1">
            <a:spLocks noChangeArrowheads="1"/>
          </p:cNvSpPr>
          <p:nvPr/>
        </p:nvSpPr>
        <p:spPr bwMode="auto">
          <a:xfrm>
            <a:off x="746564" y="6540365"/>
            <a:ext cx="189801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数据来源：x提供，项目组分析</a:t>
            </a:r>
          </a:p>
        </p:txBody>
      </p:sp>
      <p:sp>
        <p:nvSpPr>
          <p:cNvPr id="134" name="椭圆 133"/>
          <p:cNvSpPr/>
          <p:nvPr/>
        </p:nvSpPr>
        <p:spPr bwMode="auto">
          <a:xfrm>
            <a:off x="8566500" y="4311600"/>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35" name="乘号 134"/>
          <p:cNvSpPr/>
          <p:nvPr/>
        </p:nvSpPr>
        <p:spPr bwMode="auto">
          <a:xfrm>
            <a:off x="3458020" y="3154680"/>
            <a:ext cx="228600" cy="274320"/>
          </a:xfrm>
          <a:prstGeom prst="mathMultiply">
            <a:avLst/>
          </a:prstGeom>
          <a:solidFill>
            <a:srgbClr val="FF000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37" name="椭圆 136"/>
          <p:cNvSpPr/>
          <p:nvPr/>
        </p:nvSpPr>
        <p:spPr bwMode="auto">
          <a:xfrm>
            <a:off x="3500430" y="5957234"/>
            <a:ext cx="144000" cy="144000"/>
          </a:xfrm>
          <a:prstGeom prst="ellipse">
            <a:avLst/>
          </a:prstGeom>
          <a:solidFill>
            <a:srgbClr val="92D050"/>
          </a:solidFill>
          <a:ln w="6350">
            <a:noFill/>
            <a:miter lim="800000"/>
          </a:ln>
        </p:spPr>
        <p:txBody>
          <a:bodyPr rtlCol="0" anchor="ctr">
            <a:sp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绩效评价</a:t>
            </a:r>
          </a:p>
        </p:txBody>
      </p:sp>
      <p:graphicFrame>
        <p:nvGraphicFramePr>
          <p:cNvPr id="5" name="表格 7"/>
          <p:cNvGraphicFramePr>
            <a:graphicFrameLocks noGrp="1"/>
          </p:cNvGraphicFramePr>
          <p:nvPr/>
        </p:nvGraphicFramePr>
        <p:xfrm>
          <a:off x="158040" y="1104885"/>
          <a:ext cx="8799100" cy="5368484"/>
        </p:xfrm>
        <a:graphic>
          <a:graphicData uri="http://schemas.openxmlformats.org/drawingml/2006/table">
            <a:tbl>
              <a:tblPr>
                <a:tableStyleId>{5C22544A-7EE6-4342-B048-85BDC9FD1C3A}</a:tableStyleId>
              </a:tblPr>
              <a:tblGrid>
                <a:gridCol w="385250">
                  <a:extLst>
                    <a:ext uri="{9D8B030D-6E8A-4147-A177-3AD203B41FA5}">
                      <a16:colId xmlns:a16="http://schemas.microsoft.com/office/drawing/2014/main" val="20000"/>
                    </a:ext>
                  </a:extLst>
                </a:gridCol>
                <a:gridCol w="258250">
                  <a:extLst>
                    <a:ext uri="{9D8B030D-6E8A-4147-A177-3AD203B41FA5}">
                      <a16:colId xmlns:a16="http://schemas.microsoft.com/office/drawing/2014/main" val="20001"/>
                    </a:ext>
                  </a:extLst>
                </a:gridCol>
                <a:gridCol w="2415663">
                  <a:extLst>
                    <a:ext uri="{9D8B030D-6E8A-4147-A177-3AD203B41FA5}">
                      <a16:colId xmlns:a16="http://schemas.microsoft.com/office/drawing/2014/main" val="20002"/>
                    </a:ext>
                  </a:extLst>
                </a:gridCol>
                <a:gridCol w="1121850">
                  <a:extLst>
                    <a:ext uri="{9D8B030D-6E8A-4147-A177-3AD203B41FA5}">
                      <a16:colId xmlns:a16="http://schemas.microsoft.com/office/drawing/2014/main" val="20003"/>
                    </a:ext>
                  </a:extLst>
                </a:gridCol>
                <a:gridCol w="985788">
                  <a:extLst>
                    <a:ext uri="{9D8B030D-6E8A-4147-A177-3AD203B41FA5}">
                      <a16:colId xmlns:a16="http://schemas.microsoft.com/office/drawing/2014/main" val="20004"/>
                    </a:ext>
                  </a:extLst>
                </a:gridCol>
                <a:gridCol w="984812">
                  <a:extLst>
                    <a:ext uri="{9D8B030D-6E8A-4147-A177-3AD203B41FA5}">
                      <a16:colId xmlns:a16="http://schemas.microsoft.com/office/drawing/2014/main" val="20005"/>
                    </a:ext>
                  </a:extLst>
                </a:gridCol>
                <a:gridCol w="895912">
                  <a:extLst>
                    <a:ext uri="{9D8B030D-6E8A-4147-A177-3AD203B41FA5}">
                      <a16:colId xmlns:a16="http://schemas.microsoft.com/office/drawing/2014/main" val="20006"/>
                    </a:ext>
                  </a:extLst>
                </a:gridCol>
                <a:gridCol w="1059938">
                  <a:extLst>
                    <a:ext uri="{9D8B030D-6E8A-4147-A177-3AD203B41FA5}">
                      <a16:colId xmlns:a16="http://schemas.microsoft.com/office/drawing/2014/main" val="20007"/>
                    </a:ext>
                  </a:extLst>
                </a:gridCol>
                <a:gridCol w="691637">
                  <a:extLst>
                    <a:ext uri="{9D8B030D-6E8A-4147-A177-3AD203B41FA5}">
                      <a16:colId xmlns:a16="http://schemas.microsoft.com/office/drawing/2014/main" val="20008"/>
                    </a:ext>
                  </a:extLst>
                </a:gridCol>
              </a:tblGrid>
              <a:tr h="297090">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endPar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endParaRPr>
                    </a:p>
                  </a:txBody>
                  <a:tcPr marL="18000" marR="18000" marT="54000" marB="54000" anchor="ctr" anchorCtr="1" horzOverflow="overflow">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r>
                        <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a:t>
                      </a:r>
                    </a:p>
                  </a:txBody>
                  <a:tcPr marL="18000" marR="18000" marT="54000" marB="54000"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关键绩效指标（</a:t>
                      </a:r>
                      <a:r>
                        <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KPI</a:t>
                      </a:r>
                      <a:r>
                        <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endParaRPr>
                    </a:p>
                  </a:txBody>
                  <a:tcPr marL="18000" marR="18000" marT="54000" marB="54000"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单位</a:t>
                      </a:r>
                      <a:endPar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endParaRPr>
                    </a:p>
                  </a:txBody>
                  <a:tcPr marL="18000" marR="18000" marT="54000" marB="54000"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大挖</a:t>
                      </a:r>
                      <a:endPar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endParaRPr>
                    </a:p>
                  </a:txBody>
                  <a:tcPr marL="18000" marR="18000" marT="54000" marB="54000"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中挖</a:t>
                      </a:r>
                      <a:endPar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endParaRPr>
                    </a:p>
                  </a:txBody>
                  <a:tcPr marL="18000" marR="18000" marT="54000" marB="54000"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小挖</a:t>
                      </a:r>
                      <a:endPar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endParaRPr>
                    </a:p>
                  </a:txBody>
                  <a:tcPr marL="18000" marR="18000" marT="54000" marB="54000"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责任部门</a:t>
                      </a:r>
                      <a:endPar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endParaRPr>
                    </a:p>
                  </a:txBody>
                  <a:tcPr marL="18000" marR="18000" marT="54000" marB="54000"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tc>
                  <a:txBody>
                    <a:bodyPr/>
                    <a:lstStyle/>
                    <a:p>
                      <a:pPr marL="0" marR="0" lvl="0" indent="0" algn="ctr" defTabSz="914400" rtl="0" eaLnBrk="0" fontAlgn="base" latinLnBrk="0" hangingPunct="0">
                        <a:lnSpc>
                          <a:spcPct val="80000"/>
                        </a:lnSpc>
                        <a:spcBef>
                          <a:spcPct val="4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rPr>
                        <a:t>总体评价</a:t>
                      </a:r>
                      <a:endParaRPr kumimoji="0" lang="en-US" altLang="zh-CN" sz="1200" b="1" i="0" u="none" strike="noStrike" cap="none" normalizeH="0" baseline="0" dirty="0">
                        <a:ln>
                          <a:noFill/>
                        </a:ln>
                        <a:solidFill>
                          <a:schemeClr val="bg1"/>
                        </a:solidFill>
                        <a:effectLst/>
                        <a:latin typeface="微软雅黑" panose="020B0503020204020204" charset="-122"/>
                        <a:ea typeface="微软雅黑" panose="020B0503020204020204" charset="-122"/>
                        <a:cs typeface="Arial" panose="020B0604020202020204" pitchFamily="34" charset="0"/>
                      </a:endParaRPr>
                    </a:p>
                  </a:txBody>
                  <a:tcPr marL="18000" marR="18000" marT="54000" marB="54000" anchor="ctr" anchorCtr="1"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71247">
                <a:tc rowSpan="3">
                  <a:txBody>
                    <a:bodyPr/>
                    <a:lstStyle/>
                    <a:p>
                      <a:pPr algn="ctr" fontAlgn="ctr"/>
                      <a:r>
                        <a:rPr lang="zh-CN" altLang="en-US" sz="1200" b="0" i="0" u="none" strike="noStrike" dirty="0">
                          <a:solidFill>
                            <a:schemeClr val="tx1"/>
                          </a:solidFill>
                          <a:effectLst/>
                          <a:latin typeface="微软雅黑" panose="020B0503020204020204" charset="-122"/>
                          <a:ea typeface="微软雅黑" panose="020B0503020204020204" charset="-122"/>
                        </a:rPr>
                        <a:t>订单</a:t>
                      </a:r>
                      <a:endParaRPr lang="en-US" altLang="zh-CN" sz="1200" b="0" i="0" u="none" strike="noStrike" dirty="0">
                        <a:solidFill>
                          <a:schemeClr val="tx1"/>
                        </a:solidFill>
                        <a:effectLst/>
                        <a:latin typeface="微软雅黑" panose="020B0503020204020204" charset="-122"/>
                        <a:ea typeface="微软雅黑" panose="020B0503020204020204" charset="-122"/>
                      </a:endParaRPr>
                    </a:p>
                    <a:p>
                      <a:pPr algn="ctr" fontAlgn="ctr"/>
                      <a:r>
                        <a:rPr lang="zh-CN" altLang="en-US" sz="1200" b="0" i="0" u="none" strike="noStrike" dirty="0">
                          <a:solidFill>
                            <a:schemeClr val="tx1"/>
                          </a:solidFill>
                          <a:effectLst/>
                          <a:latin typeface="微软雅黑" panose="020B0503020204020204" charset="-122"/>
                          <a:ea typeface="微软雅黑" panose="020B0503020204020204" charset="-122"/>
                        </a:rPr>
                        <a:t>交期</a:t>
                      </a:r>
                    </a:p>
                  </a:txBody>
                  <a:tcPr marL="18000" marR="18000" marT="0"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订单响应周期*</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自然日</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下同</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0.5 / </a:t>
                      </a:r>
                      <a:r>
                        <a:rPr kumimoji="0" lang="en-US" altLang="zh-CN" sz="1200" b="0" i="0" u="none" strike="noStrike" kern="1200" cap="none" normalizeH="0" baseline="0" dirty="0">
                          <a:ln>
                            <a:noFill/>
                          </a:ln>
                          <a:solidFill>
                            <a:srgbClr val="FF0000"/>
                          </a:solidFill>
                          <a:effectLst/>
                          <a:latin typeface="微软雅黑" panose="020B0503020204020204" charset="-122"/>
                          <a:ea typeface="微软雅黑" panose="020B0503020204020204" charset="-122"/>
                          <a:cs typeface="Arial" panose="020B0604020202020204" pitchFamily="34" charset="0"/>
                        </a:rPr>
                        <a:t>21</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0.5 / </a:t>
                      </a:r>
                      <a:r>
                        <a:rPr kumimoji="0" lang="en-US" altLang="zh-CN" sz="1200" b="0" i="0" u="none" strike="noStrike" kern="1200" cap="none" normalizeH="0" baseline="0" dirty="0">
                          <a:ln>
                            <a:noFill/>
                          </a:ln>
                          <a:solidFill>
                            <a:srgbClr val="FF0000"/>
                          </a:solidFill>
                          <a:effectLst/>
                          <a:latin typeface="微软雅黑" panose="020B0503020204020204" charset="-122"/>
                          <a:ea typeface="微软雅黑" panose="020B0503020204020204" charset="-122"/>
                          <a:cs typeface="Arial" panose="020B0604020202020204" pitchFamily="34" charset="0"/>
                        </a:rPr>
                        <a:t>22</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0.5 / </a:t>
                      </a:r>
                      <a:r>
                        <a:rPr kumimoji="0" lang="en-US" altLang="zh-CN" sz="1200" b="0" i="0" u="none" strike="noStrike" kern="1200" cap="none" normalizeH="0" baseline="0" dirty="0">
                          <a:ln>
                            <a:noFill/>
                          </a:ln>
                          <a:solidFill>
                            <a:srgbClr val="FF0000"/>
                          </a:solidFill>
                          <a:effectLst/>
                          <a:latin typeface="微软雅黑" panose="020B0503020204020204" charset="-122"/>
                          <a:ea typeface="微软雅黑" panose="020B0503020204020204" charset="-122"/>
                          <a:cs typeface="Arial" panose="020B0604020202020204" pitchFamily="34" charset="0"/>
                        </a:rPr>
                        <a:t>20</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国际营销</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rowSpan="23">
                  <a:txBody>
                    <a:bodyPr/>
                    <a:lstStyle/>
                    <a:p>
                      <a:pPr marL="88900" indent="-88900" algn="l" fontAlgn="ctr">
                        <a:spcBef>
                          <a:spcPts val="600"/>
                        </a:spcBef>
                        <a:buFont typeface="Arial" panose="020B0604020202020204" pitchFamily="34" charset="0"/>
                        <a:buChar char="•"/>
                      </a:pPr>
                      <a:r>
                        <a:rPr lang="zh-CN" altLang="en-US" sz="1200" b="0" i="0" u="none" strike="noStrike" dirty="0">
                          <a:solidFill>
                            <a:schemeClr val="tx1"/>
                          </a:solidFill>
                          <a:effectLst/>
                          <a:latin typeface="微软雅黑" panose="020B0503020204020204" charset="-122"/>
                          <a:ea typeface="微软雅黑" panose="020B0503020204020204" charset="-122"/>
                        </a:rPr>
                        <a:t>面向客户的交期表现较好，主要问题点在于</a:t>
                      </a:r>
                      <a:r>
                        <a:rPr lang="zh-CN" altLang="en-US" sz="1200" b="1" i="0" u="none" strike="noStrike" dirty="0">
                          <a:solidFill>
                            <a:schemeClr val="accent1"/>
                          </a:solidFill>
                          <a:effectLst/>
                          <a:latin typeface="微软雅黑" panose="020B0503020204020204" charset="-122"/>
                          <a:ea typeface="微软雅黑" panose="020B0503020204020204" charset="-122"/>
                        </a:rPr>
                        <a:t>代理商呆滞库存较多</a:t>
                      </a:r>
                      <a:r>
                        <a:rPr lang="zh-CN" altLang="en-US" sz="1200" b="0" i="0" u="none" strike="noStrike" dirty="0">
                          <a:solidFill>
                            <a:schemeClr val="tx1"/>
                          </a:solidFill>
                          <a:effectLst/>
                          <a:latin typeface="微软雅黑" panose="020B0503020204020204" charset="-122"/>
                          <a:ea typeface="微软雅黑" panose="020B0503020204020204" charset="-122"/>
                        </a:rPr>
                        <a:t>、</a:t>
                      </a:r>
                      <a:r>
                        <a:rPr lang="zh-CN" altLang="en-US" sz="1200" b="1" i="0" u="none" strike="noStrike" dirty="0">
                          <a:solidFill>
                            <a:schemeClr val="accent1"/>
                          </a:solidFill>
                          <a:effectLst/>
                          <a:latin typeface="微软雅黑" panose="020B0503020204020204" charset="-122"/>
                          <a:ea typeface="微软雅黑" panose="020B0503020204020204" charset="-122"/>
                        </a:rPr>
                        <a:t>生产稳定性不足</a:t>
                      </a:r>
                      <a:r>
                        <a:rPr lang="zh-CN" altLang="en-US" sz="1200" b="0" i="0" u="none" strike="noStrike" dirty="0">
                          <a:solidFill>
                            <a:schemeClr val="tx1"/>
                          </a:solidFill>
                          <a:effectLst/>
                          <a:latin typeface="微软雅黑" panose="020B0503020204020204" charset="-122"/>
                          <a:ea typeface="微软雅黑" panose="020B0503020204020204" charset="-122"/>
                        </a:rPr>
                        <a:t>、</a:t>
                      </a:r>
                      <a:r>
                        <a:rPr lang="zh-CN" altLang="en-US" sz="1200" b="1" i="0" u="none" strike="noStrike" dirty="0">
                          <a:solidFill>
                            <a:schemeClr val="accent1"/>
                          </a:solidFill>
                          <a:effectLst/>
                          <a:latin typeface="微软雅黑" panose="020B0503020204020204" charset="-122"/>
                          <a:ea typeface="微软雅黑" panose="020B0503020204020204" charset="-122"/>
                        </a:rPr>
                        <a:t>锁定计划调整多</a:t>
                      </a:r>
                      <a:r>
                        <a:rPr lang="zh-CN" altLang="en-US" sz="1200" b="0" i="0" u="none" strike="noStrike" dirty="0">
                          <a:solidFill>
                            <a:schemeClr val="tx1"/>
                          </a:solidFill>
                          <a:effectLst/>
                          <a:latin typeface="微软雅黑" panose="020B0503020204020204" charset="-122"/>
                          <a:ea typeface="微软雅黑" panose="020B0503020204020204" charset="-122"/>
                        </a:rPr>
                        <a:t>、</a:t>
                      </a:r>
                      <a:r>
                        <a:rPr lang="zh-CN" altLang="en-US" sz="1200" b="1" i="0" u="none" strike="noStrike" dirty="0">
                          <a:solidFill>
                            <a:schemeClr val="accent1"/>
                          </a:solidFill>
                          <a:effectLst/>
                          <a:latin typeface="微软雅黑" panose="020B0503020204020204" charset="-122"/>
                          <a:ea typeface="微软雅黑" panose="020B0503020204020204" charset="-122"/>
                        </a:rPr>
                        <a:t>缺件停线较多</a:t>
                      </a:r>
                      <a:endParaRPr lang="en-US" altLang="zh-CN" sz="1200" b="1" i="0" u="none" strike="noStrike" dirty="0">
                        <a:solidFill>
                          <a:schemeClr val="accent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03435">
                <a:tc vMerge="1">
                  <a:txBody>
                    <a:bodyPr/>
                    <a:lstStyle/>
                    <a:p>
                      <a:endParaRPr lang="zh-CN"/>
                    </a:p>
                  </a:txBody>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2</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订单组织周期</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天</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 15.7</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 5.0</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 3.3</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三挖公司</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vMerge="1">
                  <a:txBody>
                    <a:bodyPr/>
                    <a:lstStyle/>
                    <a:p>
                      <a:endParaRPr lang="zh-CN"/>
                    </a:p>
                  </a:txBody>
                  <a:tcPr/>
                </a:tc>
                <a:extLst>
                  <a:ext uri="{0D108BD9-81ED-4DB2-BD59-A6C34878D82A}">
                    <a16:rowId xmlns:a16="http://schemas.microsoft.com/office/drawing/2014/main" val="10002"/>
                  </a:ext>
                </a:extLst>
              </a:tr>
              <a:tr h="203435">
                <a:tc vMerge="1">
                  <a:txBody>
                    <a:bodyPr/>
                    <a:lstStyle/>
                    <a:p>
                      <a:endParaRPr lang="zh-CN"/>
                    </a:p>
                  </a:txBody>
                  <a:tcPr/>
                </a:tc>
                <a:tc>
                  <a:txBody>
                    <a:bodyPr/>
                    <a:lstStyle/>
                    <a:p>
                      <a:pPr algn="ctr" fontAlgn="ctr"/>
                      <a:r>
                        <a:rPr lang="en-US" altLang="zh-CN" sz="1200" u="none" strike="noStrike" kern="1200" dirty="0">
                          <a:solidFill>
                            <a:schemeClr val="tx1"/>
                          </a:solidFill>
                          <a:effectLst/>
                          <a:latin typeface="微软雅黑" panose="020B0503020204020204" charset="-122"/>
                          <a:ea typeface="微软雅黑" panose="020B0503020204020204" charset="-122"/>
                          <a:cs typeface="+mn-cs"/>
                        </a:rPr>
                        <a:t>3</a:t>
                      </a:r>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订单发运周期</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天</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5.7 / 40</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9.0 / 45</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6.5 / 42</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zh-CN" altLang="en-US" sz="1200" dirty="0">
                          <a:solidFill>
                            <a:schemeClr val="tx1"/>
                          </a:solidFill>
                          <a:latin typeface="微软雅黑" panose="020B0503020204020204" charset="-122"/>
                          <a:ea typeface="微软雅黑" panose="020B0503020204020204" charset="-122"/>
                        </a:rPr>
                        <a:t>营销</a:t>
                      </a:r>
                      <a:r>
                        <a:rPr lang="en-US" altLang="zh-CN" sz="1200" dirty="0">
                          <a:solidFill>
                            <a:schemeClr val="tx1"/>
                          </a:solidFill>
                          <a:latin typeface="微软雅黑" panose="020B0503020204020204" charset="-122"/>
                          <a:ea typeface="微软雅黑" panose="020B0503020204020204" charset="-122"/>
                        </a:rPr>
                        <a:t>/</a:t>
                      </a:r>
                      <a:r>
                        <a:rPr lang="zh-CN" altLang="en-US" sz="1200" dirty="0">
                          <a:solidFill>
                            <a:schemeClr val="tx1"/>
                          </a:solidFill>
                          <a:latin typeface="微软雅黑" panose="020B0503020204020204" charset="-122"/>
                          <a:ea typeface="微软雅黑" panose="020B0503020204020204" charset="-122"/>
                        </a:rPr>
                        <a:t>物流公司</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lang="zh-CN"/>
                    </a:p>
                  </a:txBody>
                  <a:tcPr/>
                </a:tc>
                <a:extLst>
                  <a:ext uri="{0D108BD9-81ED-4DB2-BD59-A6C34878D82A}">
                    <a16:rowId xmlns:a16="http://schemas.microsoft.com/office/drawing/2014/main" val="10003"/>
                  </a:ext>
                </a:extLst>
              </a:tr>
              <a:tr h="604300">
                <a:tc rowSpan="11">
                  <a:txBody>
                    <a:bodyPr/>
                    <a:lstStyle/>
                    <a:p>
                      <a:pPr algn="ctr" fontAlgn="ctr"/>
                      <a:r>
                        <a:rPr lang="zh-CN" altLang="en-US" sz="1200" b="0" i="0" u="none" strike="noStrike" dirty="0">
                          <a:solidFill>
                            <a:schemeClr val="tx1"/>
                          </a:solidFill>
                          <a:effectLst/>
                          <a:latin typeface="微软雅黑" panose="020B0503020204020204" charset="-122"/>
                          <a:ea typeface="微软雅黑" panose="020B0503020204020204" charset="-122"/>
                        </a:rPr>
                        <a:t>订单</a:t>
                      </a:r>
                      <a:endParaRPr lang="en-US" altLang="zh-CN" sz="1200" b="0" i="0" u="none" strike="noStrike" dirty="0">
                        <a:solidFill>
                          <a:schemeClr val="tx1"/>
                        </a:solidFill>
                        <a:effectLst/>
                        <a:latin typeface="微软雅黑" panose="020B0503020204020204" charset="-122"/>
                        <a:ea typeface="微软雅黑" panose="020B0503020204020204" charset="-122"/>
                      </a:endParaRPr>
                    </a:p>
                    <a:p>
                      <a:pPr algn="ctr" fontAlgn="ctr"/>
                      <a:r>
                        <a:rPr lang="zh-CN" altLang="en-US" sz="1200" b="0" i="0" u="none" strike="noStrike" dirty="0">
                          <a:solidFill>
                            <a:schemeClr val="tx1"/>
                          </a:solidFill>
                          <a:effectLst/>
                          <a:latin typeface="微软雅黑" panose="020B0503020204020204" charset="-122"/>
                          <a:ea typeface="微软雅黑" panose="020B0503020204020204" charset="-122"/>
                        </a:rPr>
                        <a:t>准时</a:t>
                      </a:r>
                      <a:endParaRPr lang="en-US" altLang="zh-CN" sz="1200" b="0" i="0" u="none" strike="noStrike" dirty="0">
                        <a:solidFill>
                          <a:schemeClr val="tx1"/>
                        </a:solidFill>
                        <a:effectLst/>
                        <a:latin typeface="微软雅黑" panose="020B0503020204020204" charset="-122"/>
                        <a:ea typeface="微软雅黑" panose="020B0503020204020204" charset="-122"/>
                      </a:endParaRPr>
                    </a:p>
                    <a:p>
                      <a:pPr algn="ctr" fontAlgn="ctr"/>
                      <a:r>
                        <a:rPr lang="zh-CN" altLang="en-US" sz="1200" b="0" i="0" u="none" strike="noStrike" dirty="0">
                          <a:solidFill>
                            <a:schemeClr val="tx1"/>
                          </a:solidFill>
                          <a:effectLst/>
                          <a:latin typeface="微软雅黑" panose="020B0503020204020204" charset="-122"/>
                          <a:ea typeface="微软雅黑" panose="020B0503020204020204" charset="-122"/>
                        </a:rPr>
                        <a:t>交付</a:t>
                      </a:r>
                    </a:p>
                  </a:txBody>
                  <a:tcPr marL="18000" marR="18000" marT="0"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4</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88900" marR="0" lvl="0" indent="-8890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Char cha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需求计划准确率</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444500" marR="0" lvl="1" indent="-176530" algn="l" defTabSz="914400" rtl="0" eaLnBrk="0" fontAlgn="base" latinLnBrk="0" hangingPunct="0">
                        <a:lnSpc>
                          <a:spcPct val="100000"/>
                        </a:lnSpc>
                        <a:spcBef>
                          <a:spcPts val="200"/>
                        </a:spcBef>
                        <a:spcAft>
                          <a:spcPct val="0"/>
                        </a:spcAft>
                        <a:buClr>
                          <a:schemeClr val="tx1"/>
                        </a:buClr>
                        <a:buSzTx/>
                        <a:buFont typeface="微软雅黑" panose="020B0503020204020204" charset="-122"/>
                        <a:buChar cha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国内（第</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444500" marR="0" lvl="1" indent="-176530" algn="l" defTabSz="914400" rtl="0" eaLnBrk="0" fontAlgn="base" latinLnBrk="0" hangingPunct="0">
                        <a:lnSpc>
                          <a:spcPct val="100000"/>
                        </a:lnSpc>
                        <a:spcBef>
                          <a:spcPts val="200"/>
                        </a:spcBef>
                        <a:spcAft>
                          <a:spcPct val="0"/>
                        </a:spcAft>
                        <a:buClr>
                          <a:schemeClr val="tx1"/>
                        </a:buClr>
                        <a:buSzTx/>
                        <a:buFont typeface="微软雅黑" panose="020B0503020204020204" charset="-122"/>
                        <a:buChar cha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国际（第</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1" indent="0" algn="ctr" defTabSz="914400" rtl="0" eaLnBrk="0" fontAlgn="base" latinLnBrk="0" hangingPunct="0">
                        <a:lnSpc>
                          <a:spcPct val="100000"/>
                        </a:lnSpc>
                        <a:spcBef>
                          <a:spcPts val="200"/>
                        </a:spcBef>
                        <a:spcAft>
                          <a:spcPct val="0"/>
                        </a:spcAft>
                        <a:buClr>
                          <a:schemeClr val="tx1"/>
                        </a:buClr>
                        <a:buSzTx/>
                        <a:buFont typeface="微软雅黑" panose="020B0503020204020204" charset="-122"/>
                        <a:buNone/>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1" indent="0" algn="ctr" defTabSz="914400" rtl="0" eaLnBrk="0" fontAlgn="base" latinLnBrk="0" hangingPunct="0">
                        <a:lnSpc>
                          <a:spcPct val="100000"/>
                        </a:lnSpc>
                        <a:spcBef>
                          <a:spcPts val="200"/>
                        </a:spcBef>
                        <a:spcAft>
                          <a:spcPct val="0"/>
                        </a:spcAft>
                        <a:buClr>
                          <a:schemeClr val="tx1"/>
                        </a:buClr>
                        <a:buSzTx/>
                        <a:buFont typeface="微软雅黑" panose="020B0503020204020204" charset="-122"/>
                        <a:buNone/>
                      </a:pP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p>
                    <a:p>
                      <a:pPr marL="0" marR="0" lvl="1" indent="0" algn="ctr" defTabSz="914400" rtl="0" eaLnBrk="0" fontAlgn="base" latinLnBrk="0" hangingPunct="0">
                        <a:lnSpc>
                          <a:spcPct val="100000"/>
                        </a:lnSpc>
                        <a:spcBef>
                          <a:spcPts val="200"/>
                        </a:spcBef>
                        <a:spcAft>
                          <a:spcPct val="0"/>
                        </a:spcAft>
                        <a:buClr>
                          <a:schemeClr val="tx1"/>
                        </a:buClr>
                        <a:buSzTx/>
                        <a:buFont typeface="微软雅黑" panose="020B0503020204020204" charset="-122"/>
                        <a:buNone/>
                      </a:pP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endParaRPr lang="en-US" altLang="zh-CN" sz="1200" b="0" i="0" u="none" strike="noStrike" dirty="0">
                        <a:solidFill>
                          <a:srgbClr val="FF0000"/>
                        </a:solidFill>
                        <a:effectLst/>
                        <a:latin typeface="微软雅黑" panose="020B0503020204020204" charset="-122"/>
                        <a:ea typeface="微软雅黑" panose="020B0503020204020204" charset="-122"/>
                      </a:endParaRPr>
                    </a:p>
                    <a:p>
                      <a:pPr algn="ctr" fontAlgn="ctr"/>
                      <a:r>
                        <a:rPr lang="en-US" altLang="zh-CN" sz="1200" b="0" i="0" u="none" strike="noStrike" dirty="0">
                          <a:solidFill>
                            <a:srgbClr val="FF0000"/>
                          </a:solidFill>
                          <a:effectLst/>
                          <a:latin typeface="微软雅黑" panose="020B0503020204020204" charset="-122"/>
                          <a:ea typeface="微软雅黑" panose="020B0503020204020204" charset="-122"/>
                        </a:rPr>
                        <a:t>36%</a:t>
                      </a:r>
                    </a:p>
                    <a:p>
                      <a:pPr algn="ctr" fontAlgn="ctr"/>
                      <a:r>
                        <a:rPr lang="en-US" altLang="zh-CN" sz="1200" b="0" i="0" u="none" strike="noStrike" dirty="0">
                          <a:solidFill>
                            <a:srgbClr val="FF0000"/>
                          </a:solidFill>
                          <a:effectLst/>
                          <a:latin typeface="微软雅黑" panose="020B0503020204020204" charset="-122"/>
                          <a:ea typeface="微软雅黑" panose="020B0503020204020204" charset="-122"/>
                        </a:rPr>
                        <a:t>13%</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endParaRPr lang="en-US" altLang="zh-CN" sz="1200" dirty="0">
                        <a:solidFill>
                          <a:srgbClr val="FF0000"/>
                        </a:solidFill>
                        <a:latin typeface="微软雅黑" panose="020B0503020204020204" charset="-122"/>
                        <a:ea typeface="微软雅黑" panose="020B0503020204020204" charset="-122"/>
                      </a:endParaRPr>
                    </a:p>
                    <a:p>
                      <a:pPr algn="ctr"/>
                      <a:r>
                        <a:rPr lang="en-US" altLang="zh-CN" sz="1200" dirty="0">
                          <a:solidFill>
                            <a:srgbClr val="FF0000"/>
                          </a:solidFill>
                          <a:latin typeface="微软雅黑" panose="020B0503020204020204" charset="-122"/>
                          <a:ea typeface="微软雅黑" panose="020B0503020204020204" charset="-122"/>
                        </a:rPr>
                        <a:t>35%</a:t>
                      </a:r>
                    </a:p>
                    <a:p>
                      <a:pPr algn="ctr"/>
                      <a:r>
                        <a:rPr lang="en-US" altLang="zh-CN" sz="1200" dirty="0">
                          <a:solidFill>
                            <a:srgbClr val="FF0000"/>
                          </a:solidFill>
                          <a:latin typeface="微软雅黑" panose="020B0503020204020204" charset="-122"/>
                          <a:ea typeface="微软雅黑" panose="020B0503020204020204" charset="-122"/>
                        </a:rPr>
                        <a:t>44%</a:t>
                      </a:r>
                      <a:endParaRPr lang="zh-CN" altLang="en-US" sz="1200" dirty="0">
                        <a:solidFill>
                          <a:srgbClr val="FF0000"/>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endParaRPr lang="en-US" altLang="zh-CN" sz="1200" dirty="0">
                        <a:solidFill>
                          <a:srgbClr val="FF0000"/>
                        </a:solidFill>
                        <a:latin typeface="微软雅黑" panose="020B0503020204020204" charset="-122"/>
                        <a:ea typeface="微软雅黑" panose="020B0503020204020204" charset="-122"/>
                      </a:endParaRPr>
                    </a:p>
                    <a:p>
                      <a:pPr algn="ctr"/>
                      <a:r>
                        <a:rPr lang="en-US" altLang="zh-CN" sz="1200" dirty="0">
                          <a:solidFill>
                            <a:schemeClr val="tx1"/>
                          </a:solidFill>
                          <a:latin typeface="微软雅黑" panose="020B0503020204020204" charset="-122"/>
                          <a:ea typeface="微软雅黑" panose="020B0503020204020204" charset="-122"/>
                        </a:rPr>
                        <a:t>66%</a:t>
                      </a:r>
                    </a:p>
                    <a:p>
                      <a:pPr algn="ctr"/>
                      <a:r>
                        <a:rPr lang="en-US" altLang="zh-CN" sz="1200" dirty="0">
                          <a:solidFill>
                            <a:srgbClr val="FF0000"/>
                          </a:solidFill>
                          <a:latin typeface="微软雅黑" panose="020B0503020204020204" charset="-122"/>
                          <a:ea typeface="微软雅黑" panose="020B0503020204020204" charset="-122"/>
                        </a:rPr>
                        <a:t>35%</a:t>
                      </a:r>
                      <a:endParaRPr lang="zh-CN" altLang="en-US" sz="1200" dirty="0">
                        <a:solidFill>
                          <a:srgbClr val="FF0000"/>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endParaRPr lang="en-US" altLang="zh-CN" sz="1200" dirty="0">
                        <a:solidFill>
                          <a:schemeClr val="tx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国内营销</a:t>
                      </a:r>
                      <a:endParaRPr lang="en-US" altLang="zh-CN" sz="1200" dirty="0">
                        <a:solidFill>
                          <a:schemeClr val="tx1"/>
                        </a:solidFill>
                        <a:latin typeface="微软雅黑" panose="020B0503020204020204" charset="-122"/>
                        <a:ea typeface="微软雅黑" panose="020B0503020204020204" charset="-122"/>
                      </a:endParaRPr>
                    </a:p>
                    <a:p>
                      <a:r>
                        <a:rPr lang="zh-CN" altLang="en-US" sz="1200" dirty="0">
                          <a:solidFill>
                            <a:schemeClr val="tx1"/>
                          </a:solidFill>
                          <a:latin typeface="微软雅黑" panose="020B0503020204020204" charset="-122"/>
                          <a:ea typeface="微软雅黑" panose="020B0503020204020204" charset="-122"/>
                        </a:rPr>
                        <a:t>国际营销</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vMerge="1">
                  <a:txBody>
                    <a:bodyPr/>
                    <a:lstStyle/>
                    <a:p>
                      <a:endParaRPr lang="zh-CN"/>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203435">
                <a:tc vMerge="1">
                  <a:txBody>
                    <a:bodyPr/>
                    <a:lstStyle/>
                    <a:p>
                      <a:endParaRPr lang="zh-CN"/>
                    </a:p>
                  </a:txBody>
                  <a:tcPr marL="0" marR="0" marT="0" marB="0" anchor="ct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5</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3</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日上线计划准确率</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indent="0" algn="ctr" defTabSz="457200" rtl="0" eaLnBrk="1" latinLnBrk="0" hangingPunct="1">
                        <a:spcBef>
                          <a:spcPts val="0"/>
                        </a:spcBef>
                        <a:spcAft>
                          <a:spcPts val="0"/>
                        </a:spcAft>
                        <a:buClrTx/>
                        <a:buSzTx/>
                        <a:buFontTx/>
                        <a:buNone/>
                        <a:defRPr/>
                      </a:pPr>
                      <a:r>
                        <a:rPr lang="en-US" altLang="zh-CN" sz="1200" b="0" i="0" u="none" strike="noStrike" dirty="0">
                          <a:solidFill>
                            <a:srgbClr val="FF0000"/>
                          </a:solidFill>
                          <a:effectLst/>
                          <a:latin typeface="微软雅黑" panose="020B0503020204020204" charset="-122"/>
                          <a:ea typeface="微软雅黑" panose="020B0503020204020204" charset="-122"/>
                        </a:rPr>
                        <a:t>56%</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rgbClr val="FF0000"/>
                          </a:solidFill>
                          <a:latin typeface="微软雅黑" panose="020B0503020204020204" charset="-122"/>
                          <a:ea typeface="微软雅黑" panose="020B0503020204020204" charset="-122"/>
                        </a:rPr>
                        <a:t>78%</a:t>
                      </a:r>
                      <a:endParaRPr lang="zh-CN" altLang="en-US" sz="1200" dirty="0">
                        <a:solidFill>
                          <a:srgbClr val="FF0000"/>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rgbClr val="FF0000"/>
                          </a:solidFill>
                          <a:latin typeface="微软雅黑" panose="020B0503020204020204" charset="-122"/>
                          <a:ea typeface="微软雅黑" panose="020B0503020204020204" charset="-122"/>
                        </a:rPr>
                        <a:t>88%</a:t>
                      </a:r>
                      <a:endParaRPr lang="zh-CN" altLang="en-US" sz="1200" dirty="0">
                        <a:solidFill>
                          <a:srgbClr val="FF0000"/>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r>
                        <a:rPr lang="zh-CN" altLang="en-US" sz="1200" dirty="0">
                          <a:solidFill>
                            <a:schemeClr val="tx1"/>
                          </a:solidFill>
                          <a:latin typeface="微软雅黑" panose="020B0503020204020204" charset="-122"/>
                          <a:ea typeface="微软雅黑" panose="020B0503020204020204" charset="-122"/>
                        </a:rPr>
                        <a:t>三挖公司</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203435">
                <a:tc vMerge="1">
                  <a:txBody>
                    <a:bodyPr/>
                    <a:lstStyle/>
                    <a:p>
                      <a:endParaRPr lang="zh-CN"/>
                    </a:p>
                  </a:txBody>
                  <a:tcPr/>
                </a:tc>
                <a:tc>
                  <a:txBody>
                    <a:bodyPr/>
                    <a:lstStyle/>
                    <a:p>
                      <a:pPr marL="0" marR="0" indent="0" algn="ctr" defTabSz="457200" rtl="0" eaLnBrk="1" fontAlgn="ctr" latinLnBrk="0" hangingPunct="1">
                        <a:lnSpc>
                          <a:spcPct val="100000"/>
                        </a:lnSpc>
                        <a:spcBef>
                          <a:spcPts val="0"/>
                        </a:spcBef>
                        <a:spcAft>
                          <a:spcPts val="0"/>
                        </a:spcAft>
                        <a:buClrTx/>
                        <a:buSzTx/>
                        <a:buFontTx/>
                        <a:buNone/>
                        <a:defRPr/>
                      </a:pPr>
                      <a:r>
                        <a:rPr lang="en-US" altLang="zh-CN" sz="1200" b="0" i="0" u="none" strike="noStrike" dirty="0">
                          <a:solidFill>
                            <a:schemeClr val="tx1"/>
                          </a:solidFill>
                          <a:effectLst/>
                          <a:latin typeface="微软雅黑" panose="020B0503020204020204" charset="-122"/>
                          <a:ea typeface="微软雅黑" panose="020B0503020204020204" charset="-122"/>
                        </a:rPr>
                        <a:t>6</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零部件准时供货率</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06"/>
                  </a:ext>
                </a:extLst>
              </a:tr>
              <a:tr h="203435">
                <a:tc vMerge="1">
                  <a:txBody>
                    <a:bodyPr/>
                    <a:lstStyle/>
                    <a:p>
                      <a:endParaRPr lang="zh-CN"/>
                    </a:p>
                  </a:txBody>
                  <a:tcPr/>
                </a:tc>
                <a:tc>
                  <a:txBody>
                    <a:bodyPr/>
                    <a:lstStyle/>
                    <a:p>
                      <a:pPr marL="0" marR="0" indent="0" algn="ctr" defTabSz="457200" rtl="0" eaLnBrk="1" fontAlgn="ctr" latinLnBrk="0" hangingPunct="1">
                        <a:lnSpc>
                          <a:spcPct val="100000"/>
                        </a:lnSpc>
                        <a:spcBef>
                          <a:spcPts val="0"/>
                        </a:spcBef>
                        <a:spcAft>
                          <a:spcPts val="0"/>
                        </a:spcAft>
                        <a:buClrTx/>
                        <a:buSzTx/>
                        <a:buFontTx/>
                        <a:buNone/>
                        <a:defRPr/>
                      </a:pPr>
                      <a:r>
                        <a:rPr lang="en-US" altLang="zh-CN" sz="1200" b="0" i="0" u="none" strike="noStrike" dirty="0">
                          <a:solidFill>
                            <a:schemeClr val="tx1"/>
                          </a:solidFill>
                          <a:effectLst/>
                          <a:latin typeface="微软雅黑" panose="020B0503020204020204" charset="-122"/>
                          <a:ea typeface="微软雅黑" panose="020B0503020204020204" charset="-122"/>
                        </a:rPr>
                        <a:t>7</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保内故障率</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indent="0" algn="ctr" defTabSz="457200" rtl="0" eaLnBrk="1" latinLnBrk="0" hangingPunct="1">
                        <a:spcBef>
                          <a:spcPts val="0"/>
                        </a:spcBef>
                        <a:spcAft>
                          <a:spcPts val="0"/>
                        </a:spcAft>
                        <a:buClrTx/>
                        <a:buSzTx/>
                        <a:buFontTx/>
                        <a:buNone/>
                        <a:defRPr/>
                      </a:pPr>
                      <a:r>
                        <a:rPr lang="en-US" altLang="zh-CN" sz="1200" b="0" i="0" u="none" strike="noStrike" dirty="0">
                          <a:solidFill>
                            <a:schemeClr val="tx1"/>
                          </a:solidFill>
                          <a:effectLst/>
                          <a:latin typeface="微软雅黑" panose="020B0503020204020204" charset="-122"/>
                          <a:ea typeface="微软雅黑" panose="020B0503020204020204" charset="-122"/>
                        </a:rPr>
                        <a:t>6.0%</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3.5%</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2.4%</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r>
                        <a:rPr lang="zh-CN" altLang="en-US" sz="1200" dirty="0">
                          <a:solidFill>
                            <a:schemeClr val="tx1"/>
                          </a:solidFill>
                          <a:latin typeface="微软雅黑" panose="020B0503020204020204" charset="-122"/>
                          <a:ea typeface="微软雅黑" panose="020B0503020204020204" charset="-122"/>
                        </a:rPr>
                        <a:t>三挖公司</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07"/>
                  </a:ext>
                </a:extLst>
              </a:tr>
              <a:tr h="203435">
                <a:tc vMerge="1">
                  <a:txBody>
                    <a:bodyPr/>
                    <a:lstStyle/>
                    <a:p>
                      <a:endParaRPr lang="zh-CN"/>
                    </a:p>
                  </a:txBody>
                  <a:tcPr/>
                </a:tc>
                <a:tc>
                  <a:txBody>
                    <a:bodyPr/>
                    <a:lstStyle/>
                    <a:p>
                      <a:pPr marL="0" marR="0" indent="0" algn="ctr" defTabSz="457200" rtl="0" eaLnBrk="1" fontAlgn="ctr" latinLnBrk="0" hangingPunct="1">
                        <a:lnSpc>
                          <a:spcPct val="100000"/>
                        </a:lnSpc>
                        <a:spcBef>
                          <a:spcPts val="0"/>
                        </a:spcBef>
                        <a:spcAft>
                          <a:spcPts val="0"/>
                        </a:spcAft>
                        <a:buClrTx/>
                        <a:buSzTx/>
                        <a:buFontTx/>
                        <a:buNone/>
                        <a:defRPr/>
                      </a:pPr>
                      <a:r>
                        <a:rPr lang="en-US" altLang="zh-CN" sz="1200" b="0" i="0" u="none" strike="noStrike" dirty="0">
                          <a:solidFill>
                            <a:schemeClr val="tx1"/>
                          </a:solidFill>
                          <a:effectLst/>
                          <a:latin typeface="微软雅黑" panose="020B0503020204020204" charset="-122"/>
                          <a:ea typeface="微软雅黑" panose="020B0503020204020204" charset="-122"/>
                        </a:rPr>
                        <a:t>8</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生产线可动率</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2H</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indent="0" algn="ctr" defTabSz="457200" rtl="0" eaLnBrk="1" latinLnBrk="0" hangingPunct="1">
                        <a:spcBef>
                          <a:spcPts val="0"/>
                        </a:spcBef>
                        <a:spcAft>
                          <a:spcPts val="0"/>
                        </a:spcAft>
                        <a:buClrTx/>
                        <a:buSzTx/>
                        <a:buFontTx/>
                        <a:buNone/>
                        <a:defRPr/>
                      </a:pPr>
                      <a:r>
                        <a:rPr lang="en-US" altLang="zh-CN" sz="1200" b="0" i="0" u="none" strike="noStrike" dirty="0">
                          <a:solidFill>
                            <a:schemeClr val="tx1"/>
                          </a:solidFill>
                          <a:effectLst/>
                          <a:latin typeface="微软雅黑" panose="020B0503020204020204" charset="-122"/>
                          <a:ea typeface="微软雅黑" panose="020B0503020204020204" charset="-122"/>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rgbClr val="FF0000"/>
                          </a:solidFill>
                          <a:latin typeface="微软雅黑" panose="020B0503020204020204" charset="-122"/>
                          <a:ea typeface="微软雅黑" panose="020B0503020204020204" charset="-122"/>
                        </a:rPr>
                        <a:t>68%</a:t>
                      </a:r>
                      <a:endParaRPr lang="zh-CN" altLang="en-US" sz="1200" dirty="0">
                        <a:solidFill>
                          <a:srgbClr val="FF0000"/>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三挖公司</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08"/>
                  </a:ext>
                </a:extLst>
              </a:tr>
              <a:tr h="203435">
                <a:tc vMerge="1">
                  <a:txBody>
                    <a:bodyPr/>
                    <a:lstStyle/>
                    <a:p>
                      <a:endParaRPr lang="zh-CN"/>
                    </a:p>
                  </a:txBody>
                  <a:tcPr/>
                </a:tc>
                <a:tc>
                  <a:txBody>
                    <a:bodyPr/>
                    <a:lstStyle/>
                    <a:p>
                      <a:pPr marL="0" marR="0" indent="0" algn="ctr" defTabSz="457200" rtl="0" eaLnBrk="1" fontAlgn="ctr" latinLnBrk="0" hangingPunct="1">
                        <a:lnSpc>
                          <a:spcPct val="100000"/>
                        </a:lnSpc>
                        <a:spcBef>
                          <a:spcPts val="0"/>
                        </a:spcBef>
                        <a:spcAft>
                          <a:spcPts val="0"/>
                        </a:spcAft>
                        <a:buClrTx/>
                        <a:buSzTx/>
                        <a:buFontTx/>
                        <a:buNone/>
                        <a:defRPr/>
                      </a:pPr>
                      <a:r>
                        <a:rPr lang="en-US" altLang="zh-CN" sz="1200" b="0" i="0" u="none" strike="noStrike" dirty="0">
                          <a:solidFill>
                            <a:schemeClr val="tx1"/>
                          </a:solidFill>
                          <a:effectLst/>
                          <a:latin typeface="微软雅黑" panose="020B0503020204020204" charset="-122"/>
                          <a:ea typeface="微软雅黑" panose="020B0503020204020204" charset="-122"/>
                        </a:rPr>
                        <a:t>9</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停线时间（缺件／质量）</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H(15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2H</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indent="0" algn="ctr" defTabSz="457200" rtl="0" eaLnBrk="1" latinLnBrk="0" hangingPunct="1">
                        <a:spcBef>
                          <a:spcPts val="0"/>
                        </a:spcBef>
                        <a:spcAft>
                          <a:spcPts val="0"/>
                        </a:spcAft>
                        <a:buClrTx/>
                        <a:buSzTx/>
                        <a:buFontTx/>
                        <a:buNone/>
                        <a:defRPr/>
                      </a:pPr>
                      <a:r>
                        <a:rPr lang="zh-CN" altLang="en-US" sz="1200" b="0" i="0" u="none" strike="noStrike" dirty="0">
                          <a:solidFill>
                            <a:schemeClr val="tx1"/>
                          </a:solidFill>
                          <a:effectLst/>
                          <a:latin typeface="微软雅黑" panose="020B0503020204020204" charset="-122"/>
                          <a:ea typeface="微软雅黑" panose="020B0503020204020204" charset="-122"/>
                        </a:rPr>
                        <a:t>—</a:t>
                      </a:r>
                      <a:endParaRPr lang="en-US" altLang="zh-CN"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zh-CN" altLang="zh-CN" sz="1200" dirty="0">
                          <a:solidFill>
                            <a:srgbClr val="FF0000"/>
                          </a:solidFill>
                          <a:latin typeface="微软雅黑" panose="020B0503020204020204" charset="-122"/>
                          <a:ea typeface="微软雅黑" panose="020B0503020204020204" charset="-122"/>
                        </a:rPr>
                        <a:t>36</a:t>
                      </a:r>
                      <a:r>
                        <a:rPr lang="en-US" altLang="zh-CN" sz="1200" dirty="0">
                          <a:solidFill>
                            <a:srgbClr val="FF0000"/>
                          </a:solidFill>
                          <a:latin typeface="微软雅黑" panose="020B0503020204020204" charset="-122"/>
                          <a:ea typeface="微软雅黑" panose="020B0503020204020204" charset="-122"/>
                        </a:rPr>
                        <a:t>9</a:t>
                      </a:r>
                      <a:r>
                        <a:rPr lang="zh-CN" altLang="en-US" sz="1200" dirty="0">
                          <a:solidFill>
                            <a:srgbClr val="FF0000"/>
                          </a:solidFill>
                          <a:latin typeface="微软雅黑" panose="020B0503020204020204" charset="-122"/>
                          <a:ea typeface="微软雅黑" panose="020B0503020204020204" charset="-122"/>
                        </a:rPr>
                        <a:t>小时</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三挖公司</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09"/>
                  </a:ext>
                </a:extLst>
              </a:tr>
              <a:tr h="203435">
                <a:tc vMerge="1">
                  <a:txBody>
                    <a:bodyPr/>
                    <a:lstStyle/>
                    <a:p>
                      <a:endParaRPr lang="zh-CN"/>
                    </a:p>
                  </a:txBody>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10</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生产计划完成率（月度）</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91%/100%</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100%/100%</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98%/100%</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三挖公司</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0"/>
                  </a:ext>
                </a:extLst>
              </a:tr>
              <a:tr h="184363">
                <a:tc vMerge="1">
                  <a:txBody>
                    <a:bodyPr/>
                    <a:lstStyle/>
                    <a:p>
                      <a:endParaRPr lang="zh-CN"/>
                    </a:p>
                  </a:txBody>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11</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主机交付及时率</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indent="0" algn="ctr" defTabSz="4572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FF0000"/>
                          </a:solidFill>
                          <a:effectLst/>
                          <a:latin typeface="微软雅黑" panose="020B0503020204020204" charset="-122"/>
                          <a:ea typeface="微软雅黑" panose="020B0503020204020204" charset="-122"/>
                        </a:rPr>
                        <a:t>67%</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FF0000"/>
                          </a:solidFill>
                          <a:effectLst/>
                          <a:latin typeface="微软雅黑" panose="020B0503020204020204" charset="-122"/>
                          <a:ea typeface="微软雅黑" panose="020B0503020204020204" charset="-122"/>
                        </a:rPr>
                        <a:t>82%</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FF0000"/>
                          </a:solidFill>
                          <a:effectLst/>
                          <a:latin typeface="微软雅黑" panose="020B0503020204020204" charset="-122"/>
                          <a:ea typeface="微软雅黑" panose="020B0503020204020204" charset="-122"/>
                        </a:rPr>
                        <a:t>84%</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三挖公司</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vMerge="1">
                  <a:txBody>
                    <a:bodyPr/>
                    <a:lstStyle/>
                    <a:p>
                      <a:endParaRPr lang="zh-CN"/>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1"/>
                  </a:ext>
                </a:extLst>
              </a:tr>
              <a:tr h="184363">
                <a:tc vMerge="1">
                  <a:txBody>
                    <a:bodyPr/>
                    <a:lstStyle/>
                    <a:p>
                      <a:endParaRPr lang="zh-CN"/>
                    </a:p>
                  </a:txBody>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12</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百台产品缺陷项次</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项次</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ctr"/>
                      <a:endParaRPr lang="en-US" altLang="zh-CN"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12"/>
                  </a:ext>
                </a:extLst>
              </a:tr>
              <a:tr h="184363">
                <a:tc vMerge="1">
                  <a:txBody>
                    <a:bodyPr/>
                    <a:lstStyle/>
                    <a:p>
                      <a:endParaRPr lang="zh-CN"/>
                    </a:p>
                  </a:txBody>
                  <a:tcPr marL="0" marR="0" marT="0" marB="0" anchor="ct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13</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整机准时到达率</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l" fontAlgn="ctr"/>
                      <a:r>
                        <a:rPr lang="zh-CN" altLang="en-US" sz="1200" b="0" i="0" u="none" strike="noStrike" dirty="0">
                          <a:solidFill>
                            <a:schemeClr val="tx1"/>
                          </a:solidFill>
                          <a:effectLst/>
                          <a:latin typeface="微软雅黑" panose="020B0503020204020204" charset="-122"/>
                          <a:ea typeface="微软雅黑" panose="020B0503020204020204" charset="-122"/>
                        </a:rPr>
                        <a:t>物流公司</a:t>
                      </a:r>
                      <a:endParaRPr lang="en-US" altLang="zh-CN"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3"/>
                  </a:ext>
                </a:extLst>
              </a:tr>
              <a:tr h="184363">
                <a:tc vMerge="1">
                  <a:txBody>
                    <a:bodyPr/>
                    <a:lstStyle/>
                    <a:p>
                      <a:endParaRPr lang="zh-CN"/>
                    </a:p>
                  </a:txBody>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14</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到货质量完好率</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rgbClr val="FFFFFF"/>
                    </a:solidFill>
                  </a:tcPr>
                </a:tc>
                <a:tc>
                  <a:txBody>
                    <a:bodyPr/>
                    <a:lstStyle/>
                    <a:p>
                      <a:pPr marL="0" marR="0" indent="0" algn="l" defTabSz="457200" rtl="0" eaLnBrk="1" fontAlgn="ctr" latinLnBrk="0" hangingPunct="1">
                        <a:spcBef>
                          <a:spcPts val="0"/>
                        </a:spcBef>
                        <a:spcAft>
                          <a:spcPts val="0"/>
                        </a:spcAft>
                        <a:buClrTx/>
                        <a:buSzTx/>
                        <a:buFontTx/>
                        <a:buNone/>
                        <a:defRPr/>
                      </a:pPr>
                      <a:r>
                        <a:rPr lang="zh-CN" altLang="en-US" sz="1200" b="0" i="0" u="none" strike="noStrike" dirty="0">
                          <a:solidFill>
                            <a:schemeClr val="tx1"/>
                          </a:solidFill>
                          <a:effectLst/>
                          <a:latin typeface="微软雅黑" panose="020B0503020204020204" charset="-122"/>
                          <a:ea typeface="微软雅黑" panose="020B0503020204020204" charset="-122"/>
                        </a:rPr>
                        <a:t>物流公司</a:t>
                      </a:r>
                      <a:endParaRPr lang="en-US" altLang="zh-CN"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tx1"/>
                      </a:solidFill>
                      <a:prstDash val="solid"/>
                      <a:round/>
                      <a:headEnd type="none" w="med" len="med"/>
                      <a:tailEnd type="none" w="med" len="med"/>
                    </a:lnB>
                    <a:solidFill>
                      <a:srgbClr val="FFFFFF"/>
                    </a:solidFill>
                  </a:tcPr>
                </a:tc>
                <a:tc vMerge="1">
                  <a:txBody>
                    <a:bodyPr/>
                    <a:lstStyle/>
                    <a:p>
                      <a:endParaRPr lang="zh-CN"/>
                    </a:p>
                  </a:txBody>
                  <a:tcPr/>
                </a:tc>
                <a:extLst>
                  <a:ext uri="{0D108BD9-81ED-4DB2-BD59-A6C34878D82A}">
                    <a16:rowId xmlns:a16="http://schemas.microsoft.com/office/drawing/2014/main" val="10014"/>
                  </a:ext>
                </a:extLst>
              </a:tr>
              <a:tr h="203435">
                <a:tc rowSpan="9">
                  <a:txBody>
                    <a:bodyPr/>
                    <a:lstStyle/>
                    <a:p>
                      <a:pPr algn="ctr" fontAlgn="ctr"/>
                      <a:r>
                        <a:rPr lang="zh-CN" altLang="en-US" sz="1200" b="0" i="0" u="none" strike="noStrike" dirty="0">
                          <a:solidFill>
                            <a:schemeClr val="tx1"/>
                          </a:solidFill>
                          <a:effectLst/>
                          <a:latin typeface="微软雅黑" panose="020B0503020204020204" charset="-122"/>
                          <a:ea typeface="微软雅黑" panose="020B0503020204020204" charset="-122"/>
                        </a:rPr>
                        <a:t>运营</a:t>
                      </a:r>
                      <a:endParaRPr lang="en-US" altLang="zh-CN" sz="1200" b="0" i="0" u="none" strike="noStrike" dirty="0">
                        <a:solidFill>
                          <a:schemeClr val="tx1"/>
                        </a:solidFill>
                        <a:effectLst/>
                        <a:latin typeface="微软雅黑" panose="020B0503020204020204" charset="-122"/>
                        <a:ea typeface="微软雅黑" panose="020B0503020204020204" charset="-122"/>
                      </a:endParaRPr>
                    </a:p>
                    <a:p>
                      <a:pPr algn="ctr" fontAlgn="ctr"/>
                      <a:r>
                        <a:rPr lang="zh-CN" altLang="en-US" sz="1200" b="0" i="0" u="none" strike="noStrike" dirty="0">
                          <a:solidFill>
                            <a:schemeClr val="tx1"/>
                          </a:solidFill>
                          <a:effectLst/>
                          <a:latin typeface="微软雅黑" panose="020B0503020204020204" charset="-122"/>
                          <a:ea typeface="微软雅黑" panose="020B0503020204020204" charset="-122"/>
                        </a:rPr>
                        <a:t>成本</a:t>
                      </a:r>
                    </a:p>
                  </a:txBody>
                  <a:tcPr marL="18000" marR="18000" marT="0" marB="0"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rowSpan="2">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15</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主机存货周转率</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次</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gridSpan="3">
                  <a:txBody>
                    <a:bodyPr/>
                    <a:lstStyle/>
                    <a:p>
                      <a:pPr marL="0" marR="0" indent="0" algn="ctr" defTabSz="457200" rtl="0" eaLnBrk="1" fontAlgn="ctr" latinLnBrk="0" hangingPunct="1">
                        <a:spcBef>
                          <a:spcPts val="0"/>
                        </a:spcBef>
                        <a:spcAft>
                          <a:spcPts val="0"/>
                        </a:spcAft>
                        <a:buClrTx/>
                        <a:buSzTx/>
                        <a:buFontTx/>
                        <a:buNone/>
                        <a:defRPr/>
                      </a:pPr>
                      <a:r>
                        <a:rPr lang="en-US" altLang="zh-CN" sz="1200" b="0" i="0" u="none" strike="noStrike" dirty="0">
                          <a:solidFill>
                            <a:schemeClr val="tx1"/>
                          </a:solidFill>
                          <a:effectLst/>
                          <a:latin typeface="微软雅黑" panose="020B0503020204020204" charset="-122"/>
                          <a:ea typeface="微软雅黑" panose="020B0503020204020204" charset="-122"/>
                        </a:rPr>
                        <a:t>9.7</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h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国际营销</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203435">
                <a:tc vMerge="1">
                  <a:txBody>
                    <a:bodyPr/>
                    <a:lstStyle/>
                    <a:p>
                      <a:endParaRPr lang="zh-CN"/>
                    </a:p>
                  </a:txBody>
                  <a:tcPr marL="0" marR="0" marT="0" marB="0" anchor="ctr"/>
                </a:tc>
                <a:tc v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主机库存占用资金</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万元</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fontAlgn="ctr"/>
                      <a:r>
                        <a:rPr lang="en-US" altLang="zh-CN" sz="1200" b="0" u="none" strike="noStrike" kern="1200" dirty="0">
                          <a:solidFill>
                            <a:schemeClr val="tx1"/>
                          </a:solidFill>
                          <a:effectLst/>
                          <a:latin typeface="微软雅黑" panose="020B0503020204020204" charset="-122"/>
                          <a:ea typeface="微软雅黑" panose="020B0503020204020204" charset="-122"/>
                          <a:cs typeface="+mn-cs"/>
                        </a:rPr>
                        <a:t>3,358</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8,332</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10,773</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国际营销</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6"/>
                  </a:ext>
                </a:extLst>
              </a:tr>
              <a:tr h="203435">
                <a:tc vMerge="1">
                  <a:txBody>
                    <a:bodyPr/>
                    <a:lstStyle/>
                    <a:p>
                      <a:endParaRPr lang="zh-CN"/>
                    </a:p>
                  </a:txBody>
                  <a:tcPr marL="0" marR="0" marT="0" marB="0" anchor="ctr"/>
                </a:tc>
                <a:tc rowSpan="2">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16</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事业部超龄存货金额**</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万元</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gridSpan="3">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340</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h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国际营销</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7"/>
                  </a:ext>
                </a:extLst>
              </a:tr>
              <a:tr h="203435">
                <a:tc vMerge="1">
                  <a:txBody>
                    <a:bodyPr/>
                    <a:lstStyle/>
                    <a:p>
                      <a:endParaRPr lang="zh-CN"/>
                    </a:p>
                  </a:txBody>
                  <a:tcPr marL="36000" marR="36000" marT="0" marB="0" anchor="ctr">
                    <a:lnL w="19050" cap="flat" cmpd="sng" algn="ctr">
                      <a:solidFill>
                        <a:schemeClr val="tx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代理商超龄库存台量***</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台</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gridSpan="3">
                  <a:txBody>
                    <a:bodyPr/>
                    <a:lstStyle/>
                    <a:p>
                      <a:pPr algn="ctr" fontAlgn="ctr"/>
                      <a:r>
                        <a:rPr lang="en-US" altLang="zh-CN" sz="1200" b="0" i="0" u="none" strike="noStrike" dirty="0">
                          <a:solidFill>
                            <a:srgbClr val="FF0000"/>
                          </a:solidFill>
                          <a:effectLst/>
                          <a:latin typeface="微软雅黑" panose="020B0503020204020204" charset="-122"/>
                          <a:ea typeface="微软雅黑" panose="020B0503020204020204" charset="-122"/>
                        </a:rPr>
                        <a:t>268</a:t>
                      </a:r>
                      <a:r>
                        <a:rPr lang="zh-CN" altLang="en-US" sz="1200" b="0" i="0" u="none" strike="noStrike" dirty="0">
                          <a:solidFill>
                            <a:srgbClr val="FF0000"/>
                          </a:solidFill>
                          <a:effectLst/>
                          <a:latin typeface="微软雅黑" panose="020B0503020204020204" charset="-122"/>
                          <a:ea typeface="微软雅黑" panose="020B0503020204020204" charset="-122"/>
                        </a:rPr>
                        <a:t>台</a:t>
                      </a:r>
                      <a:r>
                        <a:rPr lang="zh-CN" altLang="en-US" sz="1200" b="0" i="0" u="none" strike="noStrike" baseline="0" dirty="0">
                          <a:solidFill>
                            <a:srgbClr val="FF0000"/>
                          </a:solidFill>
                          <a:effectLst/>
                          <a:latin typeface="微软雅黑" panose="020B0503020204020204" charset="-122"/>
                          <a:ea typeface="微软雅黑" panose="020B0503020204020204" charset="-122"/>
                        </a:rPr>
                        <a:t> </a:t>
                      </a:r>
                      <a:r>
                        <a:rPr lang="en-US" altLang="zh-CN" sz="1200" b="0" i="0" u="none" strike="noStrike" baseline="0" dirty="0">
                          <a:solidFill>
                            <a:srgbClr val="FF0000"/>
                          </a:solidFill>
                          <a:effectLst/>
                          <a:latin typeface="微软雅黑" panose="020B0503020204020204" charset="-122"/>
                          <a:ea typeface="微软雅黑" panose="020B0503020204020204" charset="-122"/>
                        </a:rPr>
                        <a:t>(</a:t>
                      </a:r>
                      <a:r>
                        <a:rPr lang="zh-CN" altLang="en-US" sz="1200" b="0" i="0" u="none" strike="noStrike" dirty="0">
                          <a:solidFill>
                            <a:srgbClr val="FF0000"/>
                          </a:solidFill>
                          <a:effectLst/>
                          <a:latin typeface="微软雅黑" panose="020B0503020204020204" charset="-122"/>
                          <a:ea typeface="微软雅黑" panose="020B0503020204020204" charset="-122"/>
                        </a:rPr>
                        <a:t>按均价</a:t>
                      </a:r>
                      <a:r>
                        <a:rPr lang="en-US" altLang="zh-CN" sz="1200" b="0" i="0" u="none" strike="noStrike" dirty="0">
                          <a:solidFill>
                            <a:srgbClr val="FF0000"/>
                          </a:solidFill>
                          <a:effectLst/>
                          <a:latin typeface="微软雅黑" panose="020B0503020204020204" charset="-122"/>
                          <a:ea typeface="微软雅黑" panose="020B0503020204020204" charset="-122"/>
                        </a:rPr>
                        <a:t>50</a:t>
                      </a:r>
                      <a:r>
                        <a:rPr lang="zh-CN" altLang="en-US" sz="1200" b="0" i="0" u="none" strike="noStrike" dirty="0">
                          <a:solidFill>
                            <a:srgbClr val="FF0000"/>
                          </a:solidFill>
                          <a:effectLst/>
                          <a:latin typeface="微软雅黑" panose="020B0503020204020204" charset="-122"/>
                          <a:ea typeface="微软雅黑" panose="020B0503020204020204" charset="-122"/>
                        </a:rPr>
                        <a:t>万估，占用资金约</a:t>
                      </a:r>
                      <a:r>
                        <a:rPr lang="en-US" altLang="zh-CN" sz="1200" b="0" i="0" u="none" strike="noStrike" dirty="0">
                          <a:solidFill>
                            <a:srgbClr val="FF0000"/>
                          </a:solidFill>
                          <a:effectLst/>
                          <a:latin typeface="微软雅黑" panose="020B0503020204020204" charset="-122"/>
                          <a:ea typeface="微软雅黑" panose="020B0503020204020204" charset="-122"/>
                        </a:rPr>
                        <a:t>1.5</a:t>
                      </a:r>
                      <a:r>
                        <a:rPr lang="zh-CN" altLang="en-US" sz="1200" b="0" i="0" u="none" strike="noStrike" dirty="0">
                          <a:solidFill>
                            <a:srgbClr val="FF0000"/>
                          </a:solidFill>
                          <a:effectLst/>
                          <a:latin typeface="微软雅黑" panose="020B0503020204020204" charset="-122"/>
                          <a:ea typeface="微软雅黑" panose="020B0503020204020204" charset="-122"/>
                        </a:rPr>
                        <a:t>亿</a:t>
                      </a:r>
                      <a:r>
                        <a:rPr lang="en-US" altLang="zh-CN" sz="1200" b="0" i="0" u="none" strike="noStrike" dirty="0">
                          <a:solidFill>
                            <a:srgbClr val="FF0000"/>
                          </a:solidFill>
                          <a:effectLst/>
                          <a:latin typeface="微软雅黑" panose="020B0503020204020204" charset="-122"/>
                          <a:ea typeface="微软雅黑" panose="020B0503020204020204" charset="-122"/>
                        </a:rPr>
                        <a:t>)</a:t>
                      </a:r>
                      <a:endParaRPr lang="zh-CN" altLang="en-US" sz="1200" b="0" i="0" u="none" strike="noStrike" dirty="0">
                        <a:solidFill>
                          <a:srgbClr val="FF0000"/>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h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国内营销</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8"/>
                  </a:ext>
                </a:extLst>
              </a:tr>
              <a:tr h="203435">
                <a:tc vMerge="1">
                  <a:txBody>
                    <a:bodyPr/>
                    <a:lstStyle/>
                    <a:p>
                      <a:endParaRPr lang="zh-CN"/>
                    </a:p>
                  </a:txBody>
                  <a:tcPr marL="36000" marR="36000" marT="0" marB="0" anchor="ctr">
                    <a:lnL w="19050" cap="flat" cmpd="sng" algn="ctr">
                      <a:solidFill>
                        <a:schemeClr val="tx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17</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事业部零部件</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在制品存货周转率</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次</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14.8</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35.5</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56.7</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三挖公司</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9"/>
                  </a:ext>
                </a:extLst>
              </a:tr>
              <a:tr h="203435">
                <a:tc vMerge="1">
                  <a:txBody>
                    <a:bodyPr/>
                    <a:lstStyle/>
                    <a:p>
                      <a:endParaRPr lang="zh-CN"/>
                    </a:p>
                  </a:txBody>
                  <a:tcPr marL="36000" marR="36000" marT="0" marB="0" anchor="ctr">
                    <a:lnL w="19050" cap="flat" cmpd="sng" algn="ctr">
                      <a:solidFill>
                        <a:schemeClr val="tx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18</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事业部零部件呆滞库存金额</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万元</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296</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86</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92</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三挖公司</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20"/>
                  </a:ext>
                </a:extLst>
              </a:tr>
              <a:tr h="203435">
                <a:tc vMerge="1">
                  <a:txBody>
                    <a:bodyPr/>
                    <a:lstStyle/>
                    <a:p>
                      <a:endParaRPr lang="zh-CN"/>
                    </a:p>
                  </a:txBody>
                  <a:tcPr/>
                </a:tc>
                <a:tc vMerge="1">
                  <a:txBody>
                    <a:bodyPr/>
                    <a:lstStyle/>
                    <a:p>
                      <a:endParaRPr lang="zh-CN"/>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事业部配件呆滞库存金额</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万元</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年月均</a:t>
                      </a: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gridSpan="3">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1,723</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hMerge="1">
                  <a:txBody>
                    <a:bodyPr/>
                    <a:lstStyle/>
                    <a:p>
                      <a:endParaRPr lang="zh-CN"/>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hMerge="1">
                  <a:txBody>
                    <a:bodyPr/>
                    <a:lstStyle/>
                    <a:p>
                      <a:endParaRPr lang="zh-CN"/>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三挖公司</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21"/>
                  </a:ext>
                </a:extLst>
              </a:tr>
              <a:tr h="203435">
                <a:tc vMerge="1">
                  <a:txBody>
                    <a:bodyPr/>
                    <a:lstStyle/>
                    <a:p>
                      <a:endParaRPr lang="zh-CN"/>
                    </a:p>
                  </a:txBody>
                  <a:tcPr marL="36000" marR="36000" marT="0" marB="0" anchor="ctr">
                    <a:lnL w="19050" cap="flat" cmpd="sng" algn="ctr">
                      <a:solidFill>
                        <a:schemeClr val="tx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19</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工厂产能利用率</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a:txBody>
                    <a:bodyPr/>
                    <a:lstStyle/>
                    <a:p>
                      <a:pPr marL="0" marR="0" lvl="0" indent="0" algn="l" defTabSz="914400" rtl="0" eaLnBrk="0" fontAlgn="base" latinLnBrk="0" hangingPunct="0">
                        <a:lnSpc>
                          <a:spcPct val="100000"/>
                        </a:lnSpc>
                        <a:spcBef>
                          <a:spcPts val="200"/>
                        </a:spcBef>
                        <a:spcAft>
                          <a:spcPct val="0"/>
                        </a:spcAft>
                        <a:buClr>
                          <a:schemeClr val="tx1"/>
                        </a:buClr>
                        <a:buSzTx/>
                        <a:buFont typeface="Wingdings" panose="05000000000000000000" pitchFamily="2" charset="2"/>
                        <a:buNone/>
                        <a:defRPr/>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noFill/>
                  </a:tcPr>
                </a:tc>
                <a:tc v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22"/>
                  </a:ext>
                </a:extLst>
              </a:tr>
              <a:tr h="203435">
                <a:tc vMerge="1">
                  <a:txBody>
                    <a:bodyPr/>
                    <a:lstStyle/>
                    <a:p>
                      <a:endParaRPr lang="zh-CN"/>
                    </a:p>
                  </a:txBody>
                  <a:tcPr marL="36000" marR="36000" marT="0" marB="0" anchor="ctr">
                    <a:lnL w="19050" cap="flat" cmpd="sng" algn="ctr">
                      <a:solidFill>
                        <a:schemeClr val="tx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20</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88900" marR="0" lvl="0" indent="-88900" algn="l" defTabSz="914400" rtl="0" eaLnBrk="0" fontAlgn="base" latinLnBrk="0" hangingPunct="0">
                        <a:lnSpc>
                          <a:spcPct val="100000"/>
                        </a:lnSpc>
                        <a:spcBef>
                          <a:spcPts val="200"/>
                        </a:spcBef>
                        <a:spcAft>
                          <a:spcPct val="0"/>
                        </a:spcAft>
                        <a:buClr>
                          <a:prstClr val="black"/>
                        </a:buClr>
                        <a:buSzTx/>
                        <a:buFont typeface="Wingdings" panose="05000000000000000000" pitchFamily="2" charset="2"/>
                        <a:buChar char="§"/>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每百万收入供应链管理人员成本</a:t>
                      </a: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0" fontAlgn="base" latinLnBrk="0" hangingPunct="0">
                        <a:lnSpc>
                          <a:spcPct val="100000"/>
                        </a:lnSpc>
                        <a:spcBef>
                          <a:spcPts val="200"/>
                        </a:spcBef>
                        <a:spcAft>
                          <a:spcPct val="0"/>
                        </a:spcAft>
                        <a:buClr>
                          <a:prstClr val="black"/>
                        </a:buClr>
                        <a:buSzTx/>
                        <a:buFont typeface="Wingdings" panose="05000000000000000000" pitchFamily="2" charset="2"/>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rPr>
                        <a:t>万元</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Arial" panose="020B0604020202020204" pitchFamily="34" charset="0"/>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CN" sz="1200" b="0" i="0" u="none" strike="noStrike" dirty="0">
                          <a:solidFill>
                            <a:schemeClr val="tx1"/>
                          </a:solidFill>
                          <a:effectLst/>
                          <a:latin typeface="微软雅黑" panose="020B0503020204020204" charset="-122"/>
                          <a:ea typeface="微软雅黑" panose="020B0503020204020204" charset="-122"/>
                        </a:rPr>
                        <a:t>—</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r>
                        <a:rPr lang="en-US" altLang="zh-CN" sz="1200" dirty="0">
                          <a:solidFill>
                            <a:schemeClr val="tx1"/>
                          </a:solidFill>
                          <a:latin typeface="微软雅黑" panose="020B0503020204020204" charset="-122"/>
                          <a:ea typeface="微软雅黑" panose="020B0503020204020204" charset="-122"/>
                        </a:rPr>
                        <a:t>—</a:t>
                      </a:r>
                      <a:endParaRPr lang="zh-CN" altLang="en-US" sz="1200" dirty="0">
                        <a:solidFill>
                          <a:schemeClr val="tx1"/>
                        </a:solidFill>
                        <a:latin typeface="微软雅黑" panose="020B0503020204020204" charset="-122"/>
                        <a:ea typeface="微软雅黑" panose="020B0503020204020204" charset="-122"/>
                      </a:endParaRPr>
                    </a:p>
                  </a:txBody>
                  <a:tcPr marL="18000" marR="1800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1">
                          <a:lumMod val="75000"/>
                        </a:schemeClr>
                      </a:solidFill>
                      <a:prstDash val="sysDash"/>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CN"/>
                    </a:p>
                  </a:txBody>
                  <a:tcPr marL="36000" marR="36000" marT="0" marB="0" anchor="ctr">
                    <a:lnL w="12700" cap="flat" cmpd="sng" algn="ctr">
                      <a:solidFill>
                        <a:schemeClr val="bg1">
                          <a:lumMod val="75000"/>
                        </a:schemeClr>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3"/>
                  </a:ext>
                </a:extLst>
              </a:tr>
            </a:tbl>
          </a:graphicData>
        </a:graphic>
      </p:graphicFrame>
      <p:sp>
        <p:nvSpPr>
          <p:cNvPr id="4" name="TextBox 3"/>
          <p:cNvSpPr txBox="1"/>
          <p:nvPr/>
        </p:nvSpPr>
        <p:spPr bwMode="auto">
          <a:xfrm>
            <a:off x="4143372" y="6471806"/>
            <a:ext cx="3991097" cy="369332"/>
          </a:xfrm>
          <a:prstGeom prst="rect">
            <a:avLst/>
          </a:prstGeom>
          <a:noFill/>
          <a:ln>
            <a:noFill/>
          </a:ln>
        </p:spPr>
        <p:txBody>
          <a:bodyPr wrap="square" rtlCol="0">
            <a:spAutoFit/>
          </a:bodyPr>
          <a:lstStyle/>
          <a:p>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备注：</a:t>
            </a:r>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 </a:t>
            </a:r>
            <a:r>
              <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rPr>
              <a:t>0.5</a:t>
            </a:r>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rPr>
              <a:t>21</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表示国内指标</a:t>
            </a:r>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国际指标 </a:t>
            </a: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       **事业部超龄按</a:t>
            </a:r>
            <a:r>
              <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个月统计          </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rPr>
              <a:t>           </a:t>
            </a: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 </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代理商超龄按不同地区统计为</a:t>
            </a:r>
            <a:r>
              <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rPr>
              <a:t>2</a:t>
            </a:r>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-4</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个月</a:t>
            </a:r>
          </a:p>
        </p:txBody>
      </p:sp>
      <p:sp>
        <p:nvSpPr>
          <p:cNvPr id="6" name="TextBox 54"/>
          <p:cNvSpPr txBox="1">
            <a:spLocks noChangeArrowheads="1"/>
          </p:cNvSpPr>
          <p:nvPr/>
        </p:nvSpPr>
        <p:spPr bwMode="auto">
          <a:xfrm>
            <a:off x="746564" y="6540365"/>
            <a:ext cx="1898015" cy="245110"/>
          </a:xfrm>
          <a:prstGeom prst="rect">
            <a:avLst/>
          </a:prstGeom>
          <a:noFill/>
          <a:ln w="9525">
            <a:noFill/>
            <a:miter lim="800000"/>
          </a:ln>
        </p:spPr>
        <p:txBody>
          <a:bodyPr wrap="none">
            <a:spAutoFit/>
          </a:bodyPr>
          <a:lstStyle/>
          <a:p>
            <a:r>
              <a:rPr lang="zh-CN" altLang="en-US" sz="1000" i="1" dirty="0">
                <a:latin typeface="微软雅黑" panose="020B0503020204020204" charset="-122"/>
                <a:ea typeface="微软雅黑" panose="020B0503020204020204" charset="-122"/>
              </a:rPr>
              <a:t>数据来源：x提供，项目组分析</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62000" y="593725"/>
            <a:ext cx="8820000" cy="695325"/>
          </a:xfrm>
        </p:spPr>
        <p:txBody>
          <a:bodyPr/>
          <a:lstStyle/>
          <a:p>
            <a:r>
              <a:rPr lang="zh-CN" altLang="en-US" dirty="0"/>
              <a:t>x重机订单周期划分</a:t>
            </a:r>
          </a:p>
        </p:txBody>
      </p:sp>
      <p:sp>
        <p:nvSpPr>
          <p:cNvPr id="3" name="矩形 2"/>
          <p:cNvSpPr/>
          <p:nvPr/>
        </p:nvSpPr>
        <p:spPr bwMode="auto">
          <a:xfrm>
            <a:off x="2203438" y="2518942"/>
            <a:ext cx="1116000" cy="648000"/>
          </a:xfrm>
          <a:prstGeom prst="rect">
            <a:avLst/>
          </a:prstGeom>
          <a:solidFill>
            <a:schemeClr val="tx2">
              <a:lumMod val="60000"/>
              <a:lumOff val="40000"/>
            </a:schemeClr>
          </a:solidFill>
          <a:ln w="9525" cmpd="sng">
            <a:noFill/>
            <a:miter lim="800000"/>
          </a:ln>
          <a:effectLst>
            <a:outerShdw blurRad="50800" dist="38100" dir="2700000" algn="tl"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审批通过</a:t>
            </a:r>
            <a:endParaRPr kumimoji="1" lang="en-US" altLang="zh-CN" sz="1200" b="1" dirty="0">
              <a:solidFill>
                <a:schemeClr val="bg1"/>
              </a:solidFill>
              <a:latin typeface="微软雅黑" panose="020B0503020204020204" charset="-122"/>
              <a:ea typeface="微软雅黑" panose="020B0503020204020204" charset="-122"/>
            </a:endParaRPr>
          </a:p>
        </p:txBody>
      </p:sp>
      <p:sp>
        <p:nvSpPr>
          <p:cNvPr id="4" name="矩形 3"/>
          <p:cNvSpPr/>
          <p:nvPr/>
        </p:nvSpPr>
        <p:spPr bwMode="auto">
          <a:xfrm>
            <a:off x="3978280" y="2518942"/>
            <a:ext cx="1116000" cy="648000"/>
          </a:xfrm>
          <a:prstGeom prst="rect">
            <a:avLst/>
          </a:prstGeom>
          <a:solidFill>
            <a:schemeClr val="tx2">
              <a:lumMod val="60000"/>
              <a:lumOff val="40000"/>
            </a:schemeClr>
          </a:solidFill>
          <a:ln w="9525" cmpd="sng">
            <a:noFill/>
            <a:miter lim="800000"/>
          </a:ln>
          <a:effectLst>
            <a:outerShdw blurRad="50800" dist="38100" dir="2700000" algn="tl"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需求下达</a:t>
            </a:r>
            <a:endParaRPr kumimoji="1" lang="en-US" altLang="zh-CN" sz="1200" b="1" dirty="0">
              <a:solidFill>
                <a:schemeClr val="bg1"/>
              </a:solidFill>
              <a:latin typeface="微软雅黑" panose="020B0503020204020204" charset="-122"/>
              <a:ea typeface="微软雅黑" panose="020B0503020204020204" charset="-122"/>
            </a:endParaRPr>
          </a:p>
        </p:txBody>
      </p:sp>
      <p:sp>
        <p:nvSpPr>
          <p:cNvPr id="5" name="矩形 4"/>
          <p:cNvSpPr/>
          <p:nvPr/>
        </p:nvSpPr>
        <p:spPr bwMode="auto">
          <a:xfrm>
            <a:off x="5753122" y="2518942"/>
            <a:ext cx="1116000" cy="648000"/>
          </a:xfrm>
          <a:prstGeom prst="rect">
            <a:avLst/>
          </a:prstGeom>
          <a:solidFill>
            <a:schemeClr val="tx2">
              <a:lumMod val="60000"/>
              <a:lumOff val="40000"/>
            </a:schemeClr>
          </a:solidFill>
          <a:ln w="9525" cmpd="sng">
            <a:noFill/>
            <a:miter lim="800000"/>
          </a:ln>
          <a:effectLst>
            <a:outerShdw blurRad="50800" dist="38100" dir="2700000" algn="tl"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生产上线</a:t>
            </a:r>
            <a:endParaRPr kumimoji="1" lang="en-US" altLang="zh-CN" sz="1200" b="1" dirty="0">
              <a:solidFill>
                <a:schemeClr val="bg1"/>
              </a:solidFill>
              <a:latin typeface="微软雅黑" panose="020B0503020204020204" charset="-122"/>
              <a:ea typeface="微软雅黑" panose="020B0503020204020204" charset="-122"/>
            </a:endParaRPr>
          </a:p>
        </p:txBody>
      </p:sp>
      <p:sp>
        <p:nvSpPr>
          <p:cNvPr id="6" name="矩形 5"/>
          <p:cNvSpPr/>
          <p:nvPr/>
        </p:nvSpPr>
        <p:spPr bwMode="auto">
          <a:xfrm>
            <a:off x="7527966" y="2518942"/>
            <a:ext cx="1116000" cy="648000"/>
          </a:xfrm>
          <a:prstGeom prst="rect">
            <a:avLst/>
          </a:prstGeom>
          <a:solidFill>
            <a:schemeClr val="tx2">
              <a:lumMod val="60000"/>
              <a:lumOff val="40000"/>
            </a:schemeClr>
          </a:solidFill>
          <a:ln w="9525" cmpd="sng">
            <a:noFill/>
            <a:miter lim="800000"/>
          </a:ln>
          <a:effectLst>
            <a:outerShdw blurRad="50800" dist="38100" dir="2700000" algn="tl"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下线入库</a:t>
            </a:r>
            <a:endParaRPr kumimoji="1" lang="en-US" altLang="zh-CN" sz="1200" b="1" dirty="0">
              <a:solidFill>
                <a:schemeClr val="bg1"/>
              </a:solidFill>
              <a:latin typeface="微软雅黑" panose="020B0503020204020204" charset="-122"/>
              <a:ea typeface="微软雅黑" panose="020B0503020204020204" charset="-122"/>
            </a:endParaRPr>
          </a:p>
        </p:txBody>
      </p:sp>
      <p:cxnSp>
        <p:nvCxnSpPr>
          <p:cNvPr id="7" name="肘形连接符 106"/>
          <p:cNvCxnSpPr>
            <a:stCxn id="3" idx="3"/>
            <a:endCxn id="4" idx="1"/>
          </p:cNvCxnSpPr>
          <p:nvPr/>
        </p:nvCxnSpPr>
        <p:spPr bwMode="auto">
          <a:xfrm>
            <a:off x="3319439" y="2842942"/>
            <a:ext cx="658843"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arrow"/>
          </a:ln>
          <a:effectLst/>
        </p:spPr>
      </p:cxnSp>
      <p:cxnSp>
        <p:nvCxnSpPr>
          <p:cNvPr id="8" name="肘形连接符 106"/>
          <p:cNvCxnSpPr>
            <a:stCxn id="4" idx="3"/>
            <a:endCxn id="5" idx="1"/>
          </p:cNvCxnSpPr>
          <p:nvPr/>
        </p:nvCxnSpPr>
        <p:spPr bwMode="auto">
          <a:xfrm>
            <a:off x="5094282" y="2842942"/>
            <a:ext cx="658843"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arrow"/>
          </a:ln>
          <a:effectLst/>
        </p:spPr>
      </p:cxnSp>
      <p:sp>
        <p:nvSpPr>
          <p:cNvPr id="9" name="矩形 8"/>
          <p:cNvSpPr/>
          <p:nvPr/>
        </p:nvSpPr>
        <p:spPr bwMode="auto">
          <a:xfrm>
            <a:off x="428596" y="2518942"/>
            <a:ext cx="1116000" cy="648000"/>
          </a:xfrm>
          <a:prstGeom prst="rect">
            <a:avLst/>
          </a:prstGeom>
          <a:solidFill>
            <a:schemeClr val="tx2">
              <a:lumMod val="60000"/>
              <a:lumOff val="40000"/>
            </a:schemeClr>
          </a:solidFill>
          <a:ln w="9525" cmpd="sng">
            <a:noFill/>
            <a:miter lim="800000"/>
          </a:ln>
          <a:effectLst>
            <a:outerShdw blurRad="50800" dist="38100" dir="2700000" algn="tl"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合同接收</a:t>
            </a:r>
            <a:endParaRPr kumimoji="1" lang="en-US" altLang="zh-CN" sz="1200" b="1" dirty="0">
              <a:solidFill>
                <a:schemeClr val="bg1"/>
              </a:solidFill>
              <a:latin typeface="微软雅黑" panose="020B0503020204020204" charset="-122"/>
              <a:ea typeface="微软雅黑" panose="020B0503020204020204" charset="-122"/>
            </a:endParaRPr>
          </a:p>
        </p:txBody>
      </p:sp>
      <p:sp>
        <p:nvSpPr>
          <p:cNvPr id="10" name="矩形 9"/>
          <p:cNvSpPr/>
          <p:nvPr/>
        </p:nvSpPr>
        <p:spPr bwMode="auto">
          <a:xfrm>
            <a:off x="7527966" y="4500570"/>
            <a:ext cx="1116000" cy="648000"/>
          </a:xfrm>
          <a:prstGeom prst="rect">
            <a:avLst/>
          </a:prstGeom>
          <a:solidFill>
            <a:schemeClr val="tx2">
              <a:lumMod val="60000"/>
              <a:lumOff val="40000"/>
            </a:schemeClr>
          </a:solidFill>
          <a:ln w="9525" cmpd="sng">
            <a:noFill/>
            <a:miter lim="800000"/>
          </a:ln>
          <a:effectLst>
            <a:outerShdw blurRad="50800" dist="38100" dir="2700000" algn="tl"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备货</a:t>
            </a:r>
            <a:endParaRPr kumimoji="1" lang="en-US" altLang="zh-CN" sz="1200" b="1" dirty="0">
              <a:solidFill>
                <a:schemeClr val="bg1"/>
              </a:solidFill>
              <a:latin typeface="微软雅黑" panose="020B0503020204020204" charset="-122"/>
              <a:ea typeface="微软雅黑" panose="020B0503020204020204" charset="-122"/>
            </a:endParaRPr>
          </a:p>
        </p:txBody>
      </p:sp>
      <p:sp>
        <p:nvSpPr>
          <p:cNvPr id="11" name="矩形 10"/>
          <p:cNvSpPr/>
          <p:nvPr/>
        </p:nvSpPr>
        <p:spPr bwMode="auto">
          <a:xfrm>
            <a:off x="3978282" y="4500570"/>
            <a:ext cx="1116000" cy="648000"/>
          </a:xfrm>
          <a:prstGeom prst="rect">
            <a:avLst/>
          </a:prstGeom>
          <a:solidFill>
            <a:schemeClr val="tx2">
              <a:lumMod val="60000"/>
              <a:lumOff val="40000"/>
            </a:schemeClr>
          </a:solidFill>
          <a:ln w="9525" cmpd="sng">
            <a:noFill/>
            <a:miter lim="800000"/>
          </a:ln>
          <a:effectLst>
            <a:outerShdw blurRad="50800" dist="38100" dir="2700000" algn="tl"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发货</a:t>
            </a:r>
            <a:endParaRPr kumimoji="1" lang="en-US" altLang="zh-CN" sz="1200" b="1" dirty="0">
              <a:solidFill>
                <a:schemeClr val="bg1"/>
              </a:solidFill>
              <a:latin typeface="微软雅黑" panose="020B0503020204020204" charset="-122"/>
              <a:ea typeface="微软雅黑" panose="020B0503020204020204" charset="-122"/>
            </a:endParaRPr>
          </a:p>
        </p:txBody>
      </p:sp>
      <p:sp>
        <p:nvSpPr>
          <p:cNvPr id="12" name="矩形 11"/>
          <p:cNvSpPr/>
          <p:nvPr/>
        </p:nvSpPr>
        <p:spPr bwMode="auto">
          <a:xfrm>
            <a:off x="428596" y="4500570"/>
            <a:ext cx="1116000" cy="648000"/>
          </a:xfrm>
          <a:prstGeom prst="rect">
            <a:avLst/>
          </a:prstGeom>
          <a:solidFill>
            <a:schemeClr val="tx2">
              <a:lumMod val="60000"/>
              <a:lumOff val="40000"/>
            </a:schemeClr>
          </a:solidFill>
          <a:ln w="9525" cmpd="sng">
            <a:noFill/>
            <a:miter lim="800000"/>
          </a:ln>
          <a:effectLst>
            <a:outerShdw blurRad="50800" dist="38100" dir="2700000" algn="tl" rotWithShape="0">
              <a:prstClr val="black">
                <a:alpha val="40000"/>
              </a:prstClr>
            </a:outerShdw>
          </a:effectLst>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r>
              <a:rPr kumimoji="1" lang="zh-CN" altLang="en-US" sz="1200" b="1" dirty="0">
                <a:solidFill>
                  <a:schemeClr val="bg1"/>
                </a:solidFill>
                <a:latin typeface="微软雅黑" panose="020B0503020204020204" charset="-122"/>
                <a:ea typeface="微软雅黑" panose="020B0503020204020204" charset="-122"/>
              </a:rPr>
              <a:t>到达</a:t>
            </a:r>
            <a:endParaRPr kumimoji="1" lang="en-US" altLang="zh-CN" sz="1200" b="1" dirty="0">
              <a:solidFill>
                <a:schemeClr val="bg1"/>
              </a:solidFill>
              <a:latin typeface="微软雅黑" panose="020B0503020204020204" charset="-122"/>
              <a:ea typeface="微软雅黑" panose="020B0503020204020204" charset="-122"/>
            </a:endParaRPr>
          </a:p>
        </p:txBody>
      </p:sp>
      <p:cxnSp>
        <p:nvCxnSpPr>
          <p:cNvPr id="13" name="肘形连接符 106"/>
          <p:cNvCxnSpPr>
            <a:stCxn id="9" idx="3"/>
            <a:endCxn id="3" idx="1"/>
          </p:cNvCxnSpPr>
          <p:nvPr/>
        </p:nvCxnSpPr>
        <p:spPr bwMode="auto">
          <a:xfrm>
            <a:off x="1544596" y="2842942"/>
            <a:ext cx="658842"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arrow"/>
          </a:ln>
          <a:effectLst/>
        </p:spPr>
      </p:cxnSp>
      <p:cxnSp>
        <p:nvCxnSpPr>
          <p:cNvPr id="17" name="肘形连接符 106"/>
          <p:cNvCxnSpPr>
            <a:stCxn id="5" idx="3"/>
            <a:endCxn id="6" idx="1"/>
          </p:cNvCxnSpPr>
          <p:nvPr/>
        </p:nvCxnSpPr>
        <p:spPr bwMode="auto">
          <a:xfrm>
            <a:off x="6869122" y="2842942"/>
            <a:ext cx="658844"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arrow"/>
          </a:ln>
          <a:effectLst/>
        </p:spPr>
      </p:cxnSp>
      <p:cxnSp>
        <p:nvCxnSpPr>
          <p:cNvPr id="20" name="肘形连接符 106"/>
          <p:cNvCxnSpPr>
            <a:stCxn id="6" idx="2"/>
            <a:endCxn id="10" idx="0"/>
          </p:cNvCxnSpPr>
          <p:nvPr/>
        </p:nvCxnSpPr>
        <p:spPr bwMode="auto">
          <a:xfrm rot="5400000">
            <a:off x="7419152" y="3833756"/>
            <a:ext cx="1333628"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arrow"/>
          </a:ln>
          <a:effectLst/>
        </p:spPr>
      </p:cxnSp>
      <p:cxnSp>
        <p:nvCxnSpPr>
          <p:cNvPr id="23" name="肘形连接符 106"/>
          <p:cNvCxnSpPr>
            <a:stCxn id="10" idx="1"/>
            <a:endCxn id="11" idx="3"/>
          </p:cNvCxnSpPr>
          <p:nvPr/>
        </p:nvCxnSpPr>
        <p:spPr bwMode="auto">
          <a:xfrm rot="10800000">
            <a:off x="5094282" y="4824570"/>
            <a:ext cx="2433684"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arrow"/>
          </a:ln>
          <a:effectLst/>
        </p:spPr>
      </p:cxnSp>
      <p:cxnSp>
        <p:nvCxnSpPr>
          <p:cNvPr id="26" name="肘形连接符 106"/>
          <p:cNvCxnSpPr>
            <a:stCxn id="11" idx="1"/>
            <a:endCxn id="12" idx="3"/>
          </p:cNvCxnSpPr>
          <p:nvPr/>
        </p:nvCxnSpPr>
        <p:spPr bwMode="auto">
          <a:xfrm rot="10800000">
            <a:off x="1544596" y="4824570"/>
            <a:ext cx="2433686"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arrow"/>
          </a:ln>
          <a:effectLst/>
        </p:spPr>
      </p:cxnSp>
      <p:sp>
        <p:nvSpPr>
          <p:cNvPr id="29" name="TextBox 28"/>
          <p:cNvSpPr txBox="1"/>
          <p:nvPr/>
        </p:nvSpPr>
        <p:spPr bwMode="auto">
          <a:xfrm>
            <a:off x="665125" y="2090314"/>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en-US" altLang="zh-CN"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M1</a:t>
            </a:r>
            <a:endParaRPr kumimoji="1" lang="zh-CN" altLang="en-US"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0" name="TextBox 29"/>
          <p:cNvSpPr txBox="1"/>
          <p:nvPr/>
        </p:nvSpPr>
        <p:spPr bwMode="auto">
          <a:xfrm>
            <a:off x="2439967" y="2090314"/>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en-US" altLang="zh-CN"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M2</a:t>
            </a:r>
            <a:endParaRPr kumimoji="1" lang="zh-CN" altLang="en-US"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1" name="TextBox 30"/>
          <p:cNvSpPr txBox="1"/>
          <p:nvPr/>
        </p:nvSpPr>
        <p:spPr bwMode="auto">
          <a:xfrm>
            <a:off x="4214809" y="2090314"/>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en-US" altLang="zh-CN"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M3</a:t>
            </a:r>
            <a:endParaRPr kumimoji="1" lang="zh-CN" altLang="en-US"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2" name="TextBox 31"/>
          <p:cNvSpPr txBox="1"/>
          <p:nvPr/>
        </p:nvSpPr>
        <p:spPr bwMode="auto">
          <a:xfrm>
            <a:off x="5989652" y="2090314"/>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en-US" altLang="zh-CN"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M4</a:t>
            </a:r>
            <a:endParaRPr kumimoji="1" lang="zh-CN" altLang="en-US"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3" name="TextBox 32"/>
          <p:cNvSpPr txBox="1"/>
          <p:nvPr/>
        </p:nvSpPr>
        <p:spPr bwMode="auto">
          <a:xfrm>
            <a:off x="7764495" y="2090314"/>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en-US" altLang="zh-CN"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M5</a:t>
            </a:r>
            <a:endParaRPr kumimoji="1" lang="zh-CN" altLang="en-US"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4" name="TextBox 33"/>
          <p:cNvSpPr txBox="1"/>
          <p:nvPr/>
        </p:nvSpPr>
        <p:spPr bwMode="auto">
          <a:xfrm>
            <a:off x="7786710" y="5327165"/>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en-US" altLang="zh-CN"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M6</a:t>
            </a:r>
            <a:endParaRPr kumimoji="1" lang="zh-CN" altLang="en-US"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5" name="TextBox 34"/>
          <p:cNvSpPr txBox="1"/>
          <p:nvPr/>
        </p:nvSpPr>
        <p:spPr bwMode="auto">
          <a:xfrm>
            <a:off x="4286248" y="5255727"/>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en-US" altLang="zh-CN"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M7</a:t>
            </a:r>
            <a:endParaRPr kumimoji="1" lang="zh-CN" altLang="en-US"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6" name="TextBox 35"/>
          <p:cNvSpPr txBox="1"/>
          <p:nvPr/>
        </p:nvSpPr>
        <p:spPr bwMode="auto">
          <a:xfrm>
            <a:off x="642910" y="5255727"/>
            <a:ext cx="6429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en-US" altLang="zh-CN"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M8</a:t>
            </a:r>
            <a:endParaRPr kumimoji="1" lang="zh-CN" altLang="en-US" sz="16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cxnSp>
        <p:nvCxnSpPr>
          <p:cNvPr id="37" name="肘形连接符 106"/>
          <p:cNvCxnSpPr/>
          <p:nvPr/>
        </p:nvCxnSpPr>
        <p:spPr bwMode="auto">
          <a:xfrm>
            <a:off x="928662" y="1982362"/>
            <a:ext cx="1764000"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39" name="直接连接符 38"/>
          <p:cNvCxnSpPr/>
          <p:nvPr/>
        </p:nvCxnSpPr>
        <p:spPr bwMode="auto">
          <a:xfrm rot="16200000" flipH="1">
            <a:off x="821505" y="1983156"/>
            <a:ext cx="214315" cy="0"/>
          </a:xfrm>
          <a:prstGeom prst="line">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40" name="直接连接符 39"/>
          <p:cNvCxnSpPr/>
          <p:nvPr/>
        </p:nvCxnSpPr>
        <p:spPr bwMode="auto">
          <a:xfrm rot="16200000" flipH="1">
            <a:off x="2607455" y="1983156"/>
            <a:ext cx="214314" cy="0"/>
          </a:xfrm>
          <a:prstGeom prst="line">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41" name="肘形连接符 106"/>
          <p:cNvCxnSpPr/>
          <p:nvPr/>
        </p:nvCxnSpPr>
        <p:spPr bwMode="auto">
          <a:xfrm>
            <a:off x="2714612" y="1982362"/>
            <a:ext cx="1764000"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42" name="直接连接符 41"/>
          <p:cNvCxnSpPr/>
          <p:nvPr/>
        </p:nvCxnSpPr>
        <p:spPr bwMode="auto">
          <a:xfrm rot="16200000" flipH="1">
            <a:off x="4393405" y="1983157"/>
            <a:ext cx="214314" cy="0"/>
          </a:xfrm>
          <a:prstGeom prst="line">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43" name="肘形连接符 106"/>
          <p:cNvCxnSpPr/>
          <p:nvPr/>
        </p:nvCxnSpPr>
        <p:spPr bwMode="auto">
          <a:xfrm>
            <a:off x="4500562" y="1982362"/>
            <a:ext cx="1764000"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44" name="直接连接符 43"/>
          <p:cNvCxnSpPr/>
          <p:nvPr/>
        </p:nvCxnSpPr>
        <p:spPr bwMode="auto">
          <a:xfrm rot="16200000" flipH="1">
            <a:off x="6179355" y="1983157"/>
            <a:ext cx="214314" cy="0"/>
          </a:xfrm>
          <a:prstGeom prst="line">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45" name="肘形连接符 106"/>
          <p:cNvCxnSpPr/>
          <p:nvPr/>
        </p:nvCxnSpPr>
        <p:spPr bwMode="auto">
          <a:xfrm>
            <a:off x="6308462" y="1982362"/>
            <a:ext cx="1764000"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46" name="直接连接符 45"/>
          <p:cNvCxnSpPr/>
          <p:nvPr/>
        </p:nvCxnSpPr>
        <p:spPr bwMode="auto">
          <a:xfrm rot="16200000" flipH="1">
            <a:off x="7965305" y="1983157"/>
            <a:ext cx="214314" cy="0"/>
          </a:xfrm>
          <a:prstGeom prst="line">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sp>
        <p:nvSpPr>
          <p:cNvPr id="47" name="TextBox 46"/>
          <p:cNvSpPr txBox="1"/>
          <p:nvPr/>
        </p:nvSpPr>
        <p:spPr bwMode="auto">
          <a:xfrm>
            <a:off x="1000100" y="1643050"/>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订单响应周期（外部）</a:t>
            </a:r>
          </a:p>
        </p:txBody>
      </p:sp>
      <p:sp>
        <p:nvSpPr>
          <p:cNvPr id="48" name="TextBox 47"/>
          <p:cNvSpPr txBox="1"/>
          <p:nvPr/>
        </p:nvSpPr>
        <p:spPr bwMode="auto">
          <a:xfrm>
            <a:off x="4572000" y="1643050"/>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订单响应周期（内部）</a:t>
            </a:r>
          </a:p>
        </p:txBody>
      </p:sp>
      <p:sp>
        <p:nvSpPr>
          <p:cNvPr id="49" name="TextBox 48"/>
          <p:cNvSpPr txBox="1"/>
          <p:nvPr/>
        </p:nvSpPr>
        <p:spPr bwMode="auto">
          <a:xfrm>
            <a:off x="6357950" y="1643050"/>
            <a:ext cx="16430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订单组织周期</a:t>
            </a:r>
          </a:p>
        </p:txBody>
      </p:sp>
      <p:cxnSp>
        <p:nvCxnSpPr>
          <p:cNvPr id="50" name="肘形连接符 106"/>
          <p:cNvCxnSpPr/>
          <p:nvPr/>
        </p:nvCxnSpPr>
        <p:spPr bwMode="auto">
          <a:xfrm>
            <a:off x="928662" y="5700645"/>
            <a:ext cx="7128000" cy="1588"/>
          </a:xfrm>
          <a:prstGeom prst="bentConnector3">
            <a:avLst>
              <a:gd name="adj1" fmla="val 50000"/>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51" name="直接连接符 50"/>
          <p:cNvCxnSpPr/>
          <p:nvPr/>
        </p:nvCxnSpPr>
        <p:spPr bwMode="auto">
          <a:xfrm rot="16200000" flipH="1">
            <a:off x="821505" y="5701439"/>
            <a:ext cx="214315" cy="0"/>
          </a:xfrm>
          <a:prstGeom prst="line">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cxnSp>
        <p:nvCxnSpPr>
          <p:cNvPr id="52" name="直接连接符 51"/>
          <p:cNvCxnSpPr/>
          <p:nvPr/>
        </p:nvCxnSpPr>
        <p:spPr bwMode="auto">
          <a:xfrm rot="16200000" flipH="1">
            <a:off x="7965305" y="5701440"/>
            <a:ext cx="214314" cy="0"/>
          </a:xfrm>
          <a:prstGeom prst="line">
            <a:avLst/>
          </a:prstGeom>
          <a:solidFill>
            <a:schemeClr val="accent1"/>
          </a:solidFill>
          <a:ln w="28575" cap="flat" cmpd="sng" algn="ctr">
            <a:solidFill>
              <a:schemeClr val="tx2">
                <a:lumMod val="60000"/>
                <a:lumOff val="40000"/>
              </a:schemeClr>
            </a:solidFill>
            <a:prstDash val="solid"/>
            <a:round/>
            <a:headEnd type="none" w="med" len="med"/>
            <a:tailEnd type="none"/>
          </a:ln>
          <a:effectLst/>
        </p:spPr>
      </p:cxnSp>
      <p:sp>
        <p:nvSpPr>
          <p:cNvPr id="53" name="TextBox 52"/>
          <p:cNvSpPr txBox="1"/>
          <p:nvPr/>
        </p:nvSpPr>
        <p:spPr bwMode="auto">
          <a:xfrm>
            <a:off x="3571868" y="5737157"/>
            <a:ext cx="16430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订单交付周期</a:t>
            </a:r>
          </a:p>
        </p:txBody>
      </p:sp>
      <p:sp>
        <p:nvSpPr>
          <p:cNvPr id="54" name="五角星 53"/>
          <p:cNvSpPr/>
          <p:nvPr/>
        </p:nvSpPr>
        <p:spPr bwMode="auto">
          <a:xfrm>
            <a:off x="6780958" y="6232943"/>
            <a:ext cx="216000" cy="216000"/>
          </a:xfrm>
          <a:prstGeom prst="star5">
            <a:avLst/>
          </a:prstGeom>
          <a:solidFill>
            <a:srgbClr val="FFC000"/>
          </a:solidFill>
          <a:ln w="9525" cap="flat" cmpd="sng" algn="ctr">
            <a:noFill/>
            <a:prstDash val="solid"/>
            <a:round/>
            <a:headEnd type="none" w="med" len="med"/>
            <a:tailEnd type="none"/>
          </a:ln>
          <a:effectLst/>
        </p:spPr>
        <p:txBody>
          <a:bodyPr rtlCol="0" anchor="ctr"/>
          <a:lstStyle/>
          <a:p>
            <a:pPr algn="ctr"/>
            <a:endParaRPr lang="zh-CN" altLang="en-US"/>
          </a:p>
        </p:txBody>
      </p:sp>
      <p:sp>
        <p:nvSpPr>
          <p:cNvPr id="55" name="五角星 54"/>
          <p:cNvSpPr/>
          <p:nvPr/>
        </p:nvSpPr>
        <p:spPr bwMode="auto">
          <a:xfrm>
            <a:off x="7495338" y="6232943"/>
            <a:ext cx="216000" cy="216000"/>
          </a:xfrm>
          <a:prstGeom prst="star5">
            <a:avLst/>
          </a:prstGeom>
          <a:solidFill>
            <a:srgbClr val="00B050"/>
          </a:solidFill>
          <a:ln w="9525" cap="flat" cmpd="sng" algn="ctr">
            <a:noFill/>
            <a:prstDash val="solid"/>
            <a:round/>
            <a:headEnd type="none" w="med" len="med"/>
            <a:tailEnd type="none"/>
          </a:ln>
          <a:effectLst/>
        </p:spPr>
        <p:txBody>
          <a:bodyPr rtlCol="0" anchor="ctr"/>
          <a:lstStyle/>
          <a:p>
            <a:pPr algn="ctr"/>
            <a:endParaRPr lang="zh-CN" altLang="en-US"/>
          </a:p>
        </p:txBody>
      </p:sp>
      <p:sp>
        <p:nvSpPr>
          <p:cNvPr id="56" name="TextBox 55"/>
          <p:cNvSpPr txBox="1"/>
          <p:nvPr/>
        </p:nvSpPr>
        <p:spPr bwMode="auto">
          <a:xfrm>
            <a:off x="7066710" y="6217833"/>
            <a:ext cx="720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国内</a:t>
            </a:r>
          </a:p>
        </p:txBody>
      </p:sp>
      <p:sp>
        <p:nvSpPr>
          <p:cNvPr id="57" name="TextBox 56"/>
          <p:cNvSpPr txBox="1"/>
          <p:nvPr/>
        </p:nvSpPr>
        <p:spPr bwMode="auto">
          <a:xfrm>
            <a:off x="7781090" y="6217833"/>
            <a:ext cx="720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国际</a:t>
            </a:r>
          </a:p>
        </p:txBody>
      </p:sp>
      <p:sp>
        <p:nvSpPr>
          <p:cNvPr id="58" name="五角星 57"/>
          <p:cNvSpPr/>
          <p:nvPr/>
        </p:nvSpPr>
        <p:spPr bwMode="auto">
          <a:xfrm>
            <a:off x="5000628" y="5715016"/>
            <a:ext cx="288000" cy="288000"/>
          </a:xfrm>
          <a:prstGeom prst="star5">
            <a:avLst/>
          </a:prstGeom>
          <a:solidFill>
            <a:srgbClr val="FFC000"/>
          </a:solidFill>
          <a:ln w="9525" cap="flat" cmpd="sng" algn="ctr">
            <a:noFill/>
            <a:prstDash val="solid"/>
            <a:round/>
            <a:headEnd type="none" w="med" len="med"/>
            <a:tailEnd type="none"/>
          </a:ln>
          <a:effectLst/>
        </p:spPr>
        <p:txBody>
          <a:bodyPr rtlCol="0" anchor="ctr"/>
          <a:lstStyle/>
          <a:p>
            <a:pPr algn="ctr"/>
            <a:endParaRPr lang="zh-CN" altLang="en-US"/>
          </a:p>
        </p:txBody>
      </p:sp>
      <p:sp>
        <p:nvSpPr>
          <p:cNvPr id="59" name="五角星 58"/>
          <p:cNvSpPr/>
          <p:nvPr/>
        </p:nvSpPr>
        <p:spPr bwMode="auto">
          <a:xfrm>
            <a:off x="5357818" y="5715016"/>
            <a:ext cx="288000" cy="288000"/>
          </a:xfrm>
          <a:prstGeom prst="star5">
            <a:avLst/>
          </a:prstGeom>
          <a:solidFill>
            <a:srgbClr val="00B050"/>
          </a:solidFill>
          <a:ln w="9525" cap="flat" cmpd="sng" algn="ctr">
            <a:noFill/>
            <a:prstDash val="solid"/>
            <a:round/>
            <a:headEnd type="none" w="med" len="med"/>
            <a:tailEnd type="none"/>
          </a:ln>
          <a:effectLst/>
        </p:spPr>
        <p:txBody>
          <a:bodyPr rtlCol="0" anchor="ctr"/>
          <a:lstStyle/>
          <a:p>
            <a:pPr algn="ctr"/>
            <a:endParaRPr lang="zh-CN" altLang="en-US"/>
          </a:p>
        </p:txBody>
      </p:sp>
      <p:sp>
        <p:nvSpPr>
          <p:cNvPr id="60" name="五角星 59"/>
          <p:cNvSpPr/>
          <p:nvPr/>
        </p:nvSpPr>
        <p:spPr bwMode="auto">
          <a:xfrm>
            <a:off x="1783670" y="1357298"/>
            <a:ext cx="288000" cy="288000"/>
          </a:xfrm>
          <a:prstGeom prst="star5">
            <a:avLst/>
          </a:prstGeom>
          <a:solidFill>
            <a:srgbClr val="00B050"/>
          </a:solidFill>
          <a:ln w="9525" cap="flat" cmpd="sng" algn="ctr">
            <a:noFill/>
            <a:prstDash val="solid"/>
            <a:round/>
            <a:headEnd type="none" w="med" len="med"/>
            <a:tailEnd type="none"/>
          </a:ln>
          <a:effectLst/>
        </p:spPr>
        <p:txBody>
          <a:bodyPr rtlCol="0" anchor="ctr"/>
          <a:lstStyle/>
          <a:p>
            <a:pPr algn="ctr"/>
            <a:endParaRPr lang="zh-CN" altLang="en-US"/>
          </a:p>
        </p:txBody>
      </p:sp>
      <p:sp>
        <p:nvSpPr>
          <p:cNvPr id="62" name="五角星 61"/>
          <p:cNvSpPr/>
          <p:nvPr/>
        </p:nvSpPr>
        <p:spPr bwMode="auto">
          <a:xfrm>
            <a:off x="5143504" y="1357298"/>
            <a:ext cx="288000" cy="288000"/>
          </a:xfrm>
          <a:prstGeom prst="star5">
            <a:avLst/>
          </a:prstGeom>
          <a:solidFill>
            <a:srgbClr val="00B050"/>
          </a:solidFill>
          <a:ln w="9525" cap="flat" cmpd="sng" algn="ctr">
            <a:noFill/>
            <a:prstDash val="solid"/>
            <a:round/>
            <a:headEnd type="none" w="med" len="med"/>
            <a:tailEnd type="none"/>
          </a:ln>
          <a:effectLst/>
        </p:spPr>
        <p:txBody>
          <a:bodyPr rtlCol="0" anchor="ctr"/>
          <a:lstStyle/>
          <a:p>
            <a:pPr algn="ctr"/>
            <a:endParaRPr lang="zh-CN" altLang="en-US"/>
          </a:p>
        </p:txBody>
      </p:sp>
      <p:sp>
        <p:nvSpPr>
          <p:cNvPr id="63" name="五角星 62"/>
          <p:cNvSpPr/>
          <p:nvPr/>
        </p:nvSpPr>
        <p:spPr bwMode="auto">
          <a:xfrm>
            <a:off x="7000892" y="1357298"/>
            <a:ext cx="288000" cy="288000"/>
          </a:xfrm>
          <a:prstGeom prst="star5">
            <a:avLst/>
          </a:prstGeom>
          <a:solidFill>
            <a:srgbClr val="00B050"/>
          </a:solidFill>
          <a:ln w="9525" cap="flat" cmpd="sng" algn="ctr">
            <a:noFill/>
            <a:prstDash val="solid"/>
            <a:round/>
            <a:headEnd type="none" w="med" len="med"/>
            <a:tailEnd type="none"/>
          </a:ln>
          <a:effectLst/>
        </p:spPr>
        <p:txBody>
          <a:bodyPr rtlCol="0" anchor="ctr"/>
          <a:lstStyle/>
          <a:p>
            <a:pPr algn="ctr"/>
            <a:endParaRPr lang="zh-CN" altLang="en-US"/>
          </a:p>
        </p:txBody>
      </p:sp>
      <p:sp>
        <p:nvSpPr>
          <p:cNvPr id="64" name="TextBox 63"/>
          <p:cNvSpPr txBox="1"/>
          <p:nvPr/>
        </p:nvSpPr>
        <p:spPr bwMode="auto">
          <a:xfrm>
            <a:off x="2786050" y="2000240"/>
            <a:ext cx="16430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zh-CN" altLang="en-US" sz="1200" b="1" dirty="0">
                <a:solidFill>
                  <a:schemeClr val="bg2">
                    <a:lumMod val="50000"/>
                  </a:schemeClr>
                </a:solidFill>
                <a:latin typeface="微软雅黑" panose="020B0503020204020204" charset="-122"/>
                <a:ea typeface="微软雅黑" panose="020B0503020204020204" charset="-122"/>
                <a:cs typeface="微软雅黑" panose="020B0503020204020204" charset="-122"/>
              </a:rPr>
              <a:t>时间有交叉</a:t>
            </a:r>
          </a:p>
        </p:txBody>
      </p:sp>
      <p:sp>
        <p:nvSpPr>
          <p:cNvPr id="65" name="TextBox 64"/>
          <p:cNvSpPr txBox="1"/>
          <p:nvPr/>
        </p:nvSpPr>
        <p:spPr bwMode="auto">
          <a:xfrm>
            <a:off x="6858016" y="3383821"/>
            <a:ext cx="11430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r>
              <a:rPr kumimoji="1" lang="zh-CN" altLang="en-US" sz="1200" b="1" dirty="0">
                <a:solidFill>
                  <a:schemeClr val="bg2">
                    <a:lumMod val="50000"/>
                  </a:schemeClr>
                </a:solidFill>
                <a:latin typeface="微软雅黑" panose="020B0503020204020204" charset="-122"/>
                <a:ea typeface="微软雅黑" panose="020B0503020204020204" charset="-122"/>
                <a:cs typeface="微软雅黑" panose="020B0503020204020204" charset="-122"/>
              </a:rPr>
              <a:t>国际：下单实际上就是备货过程，入库后进入发货环节</a:t>
            </a:r>
          </a:p>
        </p:txBody>
      </p:sp>
      <p:sp>
        <p:nvSpPr>
          <p:cNvPr id="66" name="五角星 65"/>
          <p:cNvSpPr/>
          <p:nvPr/>
        </p:nvSpPr>
        <p:spPr bwMode="auto">
          <a:xfrm>
            <a:off x="1497918" y="1357298"/>
            <a:ext cx="288000" cy="288000"/>
          </a:xfrm>
          <a:prstGeom prst="star5">
            <a:avLst/>
          </a:prstGeom>
          <a:solidFill>
            <a:srgbClr val="FFC000"/>
          </a:solidFill>
          <a:ln w="9525" cap="flat" cmpd="sng" algn="ctr">
            <a:noFill/>
            <a:prstDash val="solid"/>
            <a:round/>
            <a:headEnd type="none" w="med" len="med"/>
            <a:tailEnd type="none"/>
          </a:ln>
          <a:effectLst/>
        </p:spPr>
        <p:txBody>
          <a:bodyPr rtlCol="0" anchor="ctr"/>
          <a:lstStyle/>
          <a:p>
            <a:pPr algn="ct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7" name="图表 16"/>
          <p:cNvGraphicFramePr/>
          <p:nvPr/>
        </p:nvGraphicFramePr>
        <p:xfrm>
          <a:off x="35496" y="2276872"/>
          <a:ext cx="8856984" cy="309634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图表 15"/>
          <p:cNvGraphicFramePr/>
          <p:nvPr/>
        </p:nvGraphicFramePr>
        <p:xfrm>
          <a:off x="662669" y="2276872"/>
          <a:ext cx="8135552"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 name="标题 1"/>
          <p:cNvSpPr>
            <a:spLocks noGrp="1"/>
          </p:cNvSpPr>
          <p:nvPr>
            <p:ph type="title" idx="4294967295"/>
          </p:nvPr>
        </p:nvSpPr>
        <p:spPr>
          <a:xfrm>
            <a:off x="162000" y="593725"/>
            <a:ext cx="8820000" cy="695325"/>
          </a:xfrm>
        </p:spPr>
        <p:txBody>
          <a:bodyPr/>
          <a:lstStyle/>
          <a:p>
            <a:r>
              <a:rPr lang="zh-CN" altLang="en-US" dirty="0"/>
              <a:t>订单响应周期</a:t>
            </a:r>
            <a:r>
              <a:rPr dirty="0"/>
              <a:t>-</a:t>
            </a:r>
            <a:r>
              <a:rPr lang="zh-CN" altLang="en-US" dirty="0"/>
              <a:t>外部（国际）</a:t>
            </a:r>
          </a:p>
        </p:txBody>
      </p:sp>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订单响应周期</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外部：从收到海外大区销售合同（</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）到评审通过（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）的时间</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计算公式：订单响应周期</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外部</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=M2-M1</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357321"/>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357321">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与出口量有关，二季度出口量高，订单集中时审批周期长。</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月发货高但审批周期缩短，与旺季订单提前提报有关。全年平均响应周期与工厂出口量走势基本一致。</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与节假日有关，</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月为春节，有效工作日短，导致评审周期滞后。</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endPar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1" name="TextBox 10"/>
          <p:cNvSpPr txBox="1"/>
          <p:nvPr/>
        </p:nvSpPr>
        <p:spPr bwMode="auto">
          <a:xfrm>
            <a:off x="785786" y="4232121"/>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chemeClr val="accent3">
                    <a:lumMod val="75000"/>
                  </a:schemeClr>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chemeClr val="accent3">
                    <a:lumMod val="75000"/>
                  </a:schemeClr>
                </a:solidFill>
                <a:latin typeface="微软雅黑" panose="020B0503020204020204" charset="-122"/>
                <a:ea typeface="微软雅黑" panose="020B0503020204020204" charset="-122"/>
                <a:cs typeface="微软雅黑" panose="020B0503020204020204" charset="-122"/>
              </a:rPr>
              <a:t>7</a:t>
            </a:r>
            <a:r>
              <a:rPr kumimoji="1" lang="zh-CN" altLang="en-US" sz="1200" b="1" dirty="0">
                <a:solidFill>
                  <a:schemeClr val="accent3">
                    <a:lumMod val="75000"/>
                  </a:schemeClr>
                </a:solidFill>
                <a:latin typeface="微软雅黑" panose="020B0503020204020204" charset="-122"/>
                <a:ea typeface="微软雅黑" panose="020B0503020204020204" charset="-122"/>
                <a:cs typeface="微软雅黑" panose="020B0503020204020204" charset="-122"/>
              </a:rPr>
              <a:t>天</a:t>
            </a:r>
          </a:p>
        </p:txBody>
      </p:sp>
      <p:sp>
        <p:nvSpPr>
          <p:cNvPr id="13" name="TextBox 12"/>
          <p:cNvSpPr txBox="1"/>
          <p:nvPr/>
        </p:nvSpPr>
        <p:spPr bwMode="auto">
          <a:xfrm>
            <a:off x="785786" y="4016097"/>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7</a:t>
            </a:r>
            <a:r>
              <a:rPr kumimoji="1" lang="zh-CN" altLang="en-US" sz="1200" b="1" dirty="0">
                <a:solidFill>
                  <a:schemeClr val="accent1">
                    <a:lumMod val="50000"/>
                  </a:schemeClr>
                </a:solidFill>
                <a:latin typeface="微软雅黑" panose="020B0503020204020204" charset="-122"/>
                <a:ea typeface="微软雅黑" panose="020B0503020204020204" charset="-122"/>
                <a:cs typeface="微软雅黑" panose="020B0503020204020204" charset="-122"/>
              </a:rPr>
              <a:t>天</a:t>
            </a:r>
          </a:p>
        </p:txBody>
      </p:sp>
      <p:sp>
        <p:nvSpPr>
          <p:cNvPr id="15" name="TextBox 14"/>
          <p:cNvSpPr txBox="1"/>
          <p:nvPr/>
        </p:nvSpPr>
        <p:spPr bwMode="auto">
          <a:xfrm>
            <a:off x="769256" y="3007985"/>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C0000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C00000"/>
                </a:solidFill>
                <a:latin typeface="微软雅黑" panose="020B0503020204020204" charset="-122"/>
                <a:ea typeface="微软雅黑" panose="020B0503020204020204" charset="-122"/>
                <a:cs typeface="微软雅黑" panose="020B0503020204020204" charset="-122"/>
              </a:rPr>
              <a:t>9</a:t>
            </a:r>
            <a:r>
              <a:rPr kumimoji="1" lang="zh-CN" altLang="en-US" sz="1200" b="1" dirty="0">
                <a:solidFill>
                  <a:srgbClr val="C00000"/>
                </a:solidFill>
                <a:latin typeface="微软雅黑" panose="020B0503020204020204" charset="-122"/>
                <a:ea typeface="微软雅黑" panose="020B0503020204020204" charset="-122"/>
                <a:cs typeface="微软雅黑" panose="020B0503020204020204" charset="-122"/>
              </a:rPr>
              <a:t>天</a:t>
            </a:r>
          </a:p>
        </p:txBody>
      </p:sp>
      <p:cxnSp>
        <p:nvCxnSpPr>
          <p:cNvPr id="18" name="直接连接符 17"/>
          <p:cNvCxnSpPr/>
          <p:nvPr/>
        </p:nvCxnSpPr>
        <p:spPr>
          <a:xfrm flipV="1">
            <a:off x="856442" y="3835197"/>
            <a:ext cx="7748006" cy="1"/>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1043608" y="3856285"/>
            <a:ext cx="7632848" cy="4763"/>
          </a:xfrm>
          <a:prstGeom prst="line">
            <a:avLst/>
          </a:prstGeom>
          <a:ln w="19050">
            <a:solidFill>
              <a:schemeClr val="accent3">
                <a:lumMod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86409" y="3713857"/>
            <a:ext cx="7718039" cy="3175"/>
          </a:xfrm>
          <a:prstGeom prst="line">
            <a:avLst/>
          </a:prstGeom>
          <a:ln w="19050">
            <a:solidFill>
              <a:schemeClr val="accent2">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bwMode="auto">
          <a:xfrm>
            <a:off x="5652120" y="2636911"/>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chemeClr val="bg1">
                    <a:lumMod val="50000"/>
                  </a:schemeClr>
                </a:solidFill>
                <a:latin typeface="微软雅黑" panose="020B0503020204020204" charset="-122"/>
                <a:ea typeface="微软雅黑" panose="020B0503020204020204" charset="-122"/>
                <a:cs typeface="微软雅黑" panose="020B0503020204020204" charset="-122"/>
              </a:rPr>
              <a:t>工厂出口台量走势</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1" name="图表 20"/>
          <p:cNvGraphicFramePr/>
          <p:nvPr/>
        </p:nvGraphicFramePr>
        <p:xfrm>
          <a:off x="-5567" y="1957782"/>
          <a:ext cx="9595655" cy="2808312"/>
        </p:xfrm>
        <a:graphic>
          <a:graphicData uri="http://schemas.openxmlformats.org/drawingml/2006/chart">
            <c:chart xmlns:c="http://schemas.openxmlformats.org/drawingml/2006/chart" xmlns:r="http://schemas.openxmlformats.org/officeDocument/2006/relationships" r:id="rId2"/>
          </a:graphicData>
        </a:graphic>
      </p:graphicFrame>
      <p:sp>
        <p:nvSpPr>
          <p:cNvPr id="3" name="标题 1"/>
          <p:cNvSpPr>
            <a:spLocks noGrp="1"/>
          </p:cNvSpPr>
          <p:nvPr>
            <p:ph type="title" idx="4294967295"/>
          </p:nvPr>
        </p:nvSpPr>
        <p:spPr>
          <a:xfrm>
            <a:off x="162000" y="593725"/>
            <a:ext cx="8820000" cy="695325"/>
          </a:xfrm>
        </p:spPr>
        <p:txBody>
          <a:bodyPr/>
          <a:lstStyle/>
          <a:p>
            <a:r>
              <a:rPr lang="zh-CN" altLang="en-US" dirty="0"/>
              <a:t>订单响应周期</a:t>
            </a:r>
            <a:r>
              <a:rPr dirty="0"/>
              <a:t>-</a:t>
            </a:r>
            <a:r>
              <a:rPr lang="zh-CN" altLang="en-US" dirty="0"/>
              <a:t>内部（国际）</a:t>
            </a:r>
          </a:p>
        </p:txBody>
      </p:sp>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订单响应周期</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内部：从评审通过下达（</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M3</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）到工厂到上线（</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M4</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）的时间</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计算公式：订单响应周期</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内部</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=M4-M3</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172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内部响应周期受市场淡旺季影响，</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月为国内市场旺季，订单集中，上线平均周期最长。</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受节假日影响，</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月响应周期短，原因为工厂考虑春节，</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月已基本提前完成上线。</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大挖因订单较少，多为库存机整改，故只有</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7</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个月有整机排产计划，其他月为已下线机整改，未统计。</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endPar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1" name="TextBox 10"/>
          <p:cNvSpPr txBox="1"/>
          <p:nvPr/>
        </p:nvSpPr>
        <p:spPr bwMode="auto">
          <a:xfrm>
            <a:off x="800879" y="3866381"/>
            <a:ext cx="171451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05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平均</a:t>
            </a:r>
            <a:r>
              <a:rPr kumimoji="1" lang="en-US" altLang="zh-CN" sz="105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13</a:t>
            </a:r>
            <a:r>
              <a:rPr kumimoji="1" lang="zh-CN" altLang="en-US" sz="105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天</a:t>
            </a:r>
          </a:p>
        </p:txBody>
      </p:sp>
      <p:sp>
        <p:nvSpPr>
          <p:cNvPr id="13" name="TextBox 12"/>
          <p:cNvSpPr txBox="1"/>
          <p:nvPr/>
        </p:nvSpPr>
        <p:spPr bwMode="auto">
          <a:xfrm>
            <a:off x="785786" y="3645024"/>
            <a:ext cx="171451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050" b="1" dirty="0">
                <a:solidFill>
                  <a:schemeClr val="accent3">
                    <a:lumMod val="75000"/>
                  </a:schemeClr>
                </a:solidFill>
                <a:latin typeface="微软雅黑" panose="020B0503020204020204" charset="-122"/>
                <a:ea typeface="微软雅黑" panose="020B0503020204020204" charset="-122"/>
                <a:cs typeface="微软雅黑" panose="020B0503020204020204" charset="-122"/>
              </a:rPr>
              <a:t>平均</a:t>
            </a:r>
            <a:r>
              <a:rPr kumimoji="1" lang="en-US" altLang="zh-CN" sz="1050" b="1" dirty="0">
                <a:solidFill>
                  <a:schemeClr val="accent3">
                    <a:lumMod val="75000"/>
                  </a:schemeClr>
                </a:solidFill>
                <a:latin typeface="微软雅黑" panose="020B0503020204020204" charset="-122"/>
                <a:ea typeface="微软雅黑" panose="020B0503020204020204" charset="-122"/>
                <a:cs typeface="微软雅黑" panose="020B0503020204020204" charset="-122"/>
              </a:rPr>
              <a:t>13</a:t>
            </a:r>
            <a:r>
              <a:rPr kumimoji="1" lang="zh-CN" altLang="en-US" sz="1050" b="1" dirty="0">
                <a:solidFill>
                  <a:schemeClr val="accent3">
                    <a:lumMod val="75000"/>
                  </a:schemeClr>
                </a:solidFill>
                <a:latin typeface="微软雅黑" panose="020B0503020204020204" charset="-122"/>
                <a:ea typeface="微软雅黑" panose="020B0503020204020204" charset="-122"/>
                <a:cs typeface="微软雅黑" panose="020B0503020204020204" charset="-122"/>
              </a:rPr>
              <a:t>天</a:t>
            </a:r>
            <a:r>
              <a:rPr kumimoji="1" lang="en-US" altLang="zh-CN" sz="1050" b="1" dirty="0">
                <a:solidFill>
                  <a:schemeClr val="accent3">
                    <a:lumMod val="75000"/>
                  </a:schemeClr>
                </a:solidFill>
                <a:latin typeface="微软雅黑" panose="020B0503020204020204" charset="-122"/>
                <a:ea typeface="微软雅黑" panose="020B0503020204020204" charset="-122"/>
                <a:cs typeface="微软雅黑" panose="020B0503020204020204" charset="-122"/>
              </a:rPr>
              <a:t> </a:t>
            </a:r>
            <a:endParaRPr kumimoji="1" lang="zh-CN" altLang="en-US" sz="1050" b="1" dirty="0">
              <a:solidFill>
                <a:schemeClr val="accent3">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bwMode="auto">
          <a:xfrm>
            <a:off x="785786" y="2348880"/>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14</a:t>
            </a:r>
            <a:r>
              <a:rPr kumimoji="1" lang="zh-CN" altLang="en-US" sz="12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天</a:t>
            </a:r>
            <a:r>
              <a:rPr kumimoji="1" lang="en-US" altLang="zh-CN" sz="12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 </a:t>
            </a:r>
            <a:endParaRPr kumimoji="1" lang="zh-CN" altLang="en-US" sz="1200" b="1" dirty="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cxnSp>
        <p:nvCxnSpPr>
          <p:cNvPr id="22" name="直接连接符 21"/>
          <p:cNvCxnSpPr/>
          <p:nvPr/>
        </p:nvCxnSpPr>
        <p:spPr>
          <a:xfrm flipV="1">
            <a:off x="703743" y="3240123"/>
            <a:ext cx="7828697" cy="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49084" y="3356992"/>
            <a:ext cx="7927372" cy="0"/>
          </a:xfrm>
          <a:prstGeom prst="line">
            <a:avLst/>
          </a:prstGeom>
          <a:ln w="19050">
            <a:solidFill>
              <a:schemeClr val="accent3">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00879" y="3361938"/>
            <a:ext cx="7731561" cy="1588"/>
          </a:xfrm>
          <a:prstGeom prst="line">
            <a:avLst/>
          </a:prstGeom>
          <a:ln w="1905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订单组织周期（总体）</a:t>
            </a:r>
          </a:p>
        </p:txBody>
      </p:sp>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订单组织周期：从上线（</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M4</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）到整机生产入库（</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M5</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）的时间</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计算公式：订单组织周期</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=M5-M4</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172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大中小挖所设目标是基于</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2011</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2012</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年当年的销售生产情况（接近</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万台）设定，当时生产饱和度明显大于现在。另考虑节假日的影响（当时休息的较少），现如今的实绩与当前产能（主要是人员）较为匹配。其中大挖有提升空间（</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10-12</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天较为合理）</a:t>
                      </a: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 name="图表 8"/>
          <p:cNvGraphicFramePr/>
          <p:nvPr/>
        </p:nvGraphicFramePr>
        <p:xfrm>
          <a:off x="357158" y="2428868"/>
          <a:ext cx="8501122" cy="2500330"/>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直接连接符 9"/>
          <p:cNvCxnSpPr/>
          <p:nvPr/>
        </p:nvCxnSpPr>
        <p:spPr bwMode="auto">
          <a:xfrm>
            <a:off x="785786" y="4223571"/>
            <a:ext cx="7632000" cy="1200"/>
          </a:xfrm>
          <a:prstGeom prst="line">
            <a:avLst/>
          </a:prstGeom>
          <a:solidFill>
            <a:schemeClr val="accent1"/>
          </a:solidFill>
          <a:ln w="28575" cap="flat" cmpd="sng" algn="ctr">
            <a:solidFill>
              <a:srgbClr val="00B050"/>
            </a:solidFill>
            <a:prstDash val="dashDot"/>
            <a:round/>
            <a:headEnd type="none" w="med" len="med"/>
            <a:tailEnd type="none"/>
          </a:ln>
          <a:effectLst/>
        </p:spPr>
      </p:cxnSp>
      <p:sp>
        <p:nvSpPr>
          <p:cNvPr id="11" name="TextBox 10"/>
          <p:cNvSpPr txBox="1"/>
          <p:nvPr/>
        </p:nvSpPr>
        <p:spPr bwMode="auto">
          <a:xfrm>
            <a:off x="702464" y="4223571"/>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4.24</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天（</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3.5</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a:t>
            </a:r>
          </a:p>
        </p:txBody>
      </p:sp>
      <p:cxnSp>
        <p:nvCxnSpPr>
          <p:cNvPr id="12" name="直接连接符 11"/>
          <p:cNvCxnSpPr/>
          <p:nvPr/>
        </p:nvCxnSpPr>
        <p:spPr bwMode="auto">
          <a:xfrm>
            <a:off x="785786" y="4046434"/>
            <a:ext cx="7632000" cy="1200"/>
          </a:xfrm>
          <a:prstGeom prst="line">
            <a:avLst/>
          </a:prstGeom>
          <a:solidFill>
            <a:schemeClr val="accent1"/>
          </a:solidFill>
          <a:ln w="28575" cap="flat" cmpd="sng" algn="ctr">
            <a:solidFill>
              <a:srgbClr val="00B050"/>
            </a:solidFill>
            <a:prstDash val="dashDot"/>
            <a:round/>
            <a:headEnd type="none" w="med" len="med"/>
            <a:tailEnd type="none"/>
          </a:ln>
          <a:effectLst/>
        </p:spPr>
      </p:cxnSp>
      <p:sp>
        <p:nvSpPr>
          <p:cNvPr id="13" name="TextBox 12"/>
          <p:cNvSpPr txBox="1"/>
          <p:nvPr/>
        </p:nvSpPr>
        <p:spPr bwMode="auto">
          <a:xfrm>
            <a:off x="702464" y="3830434"/>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5.99</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天（</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3.5</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a:t>
            </a:r>
          </a:p>
        </p:txBody>
      </p:sp>
      <p:cxnSp>
        <p:nvCxnSpPr>
          <p:cNvPr id="14" name="直接连接符 13"/>
          <p:cNvCxnSpPr/>
          <p:nvPr/>
        </p:nvCxnSpPr>
        <p:spPr bwMode="auto">
          <a:xfrm>
            <a:off x="797652" y="3565881"/>
            <a:ext cx="7632000" cy="1200"/>
          </a:xfrm>
          <a:prstGeom prst="line">
            <a:avLst/>
          </a:prstGeom>
          <a:solidFill>
            <a:schemeClr val="accent1"/>
          </a:solidFill>
          <a:ln w="28575" cap="flat" cmpd="sng" algn="ctr">
            <a:solidFill>
              <a:srgbClr val="00B050"/>
            </a:solidFill>
            <a:prstDash val="dashDot"/>
            <a:round/>
            <a:headEnd type="none" w="med" len="med"/>
            <a:tailEnd type="none"/>
          </a:ln>
          <a:effectLst/>
        </p:spPr>
      </p:cxnSp>
      <p:sp>
        <p:nvSpPr>
          <p:cNvPr id="15" name="TextBox 14"/>
          <p:cNvSpPr txBox="1"/>
          <p:nvPr/>
        </p:nvSpPr>
        <p:spPr bwMode="auto">
          <a:xfrm>
            <a:off x="702464" y="3294877"/>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14.61</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天（</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9</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a:t>
            </a:r>
          </a:p>
        </p:txBody>
      </p:sp>
      <p:sp>
        <p:nvSpPr>
          <p:cNvPr id="17" name="TextBox 16"/>
          <p:cNvSpPr txBox="1"/>
          <p:nvPr/>
        </p:nvSpPr>
        <p:spPr bwMode="auto">
          <a:xfrm>
            <a:off x="285720" y="4815220"/>
            <a:ext cx="2988000" cy="245110"/>
          </a:xfrm>
          <a:prstGeom prst="rect">
            <a:avLst/>
          </a:prstGeom>
          <a:noFill/>
          <a:ln>
            <a:noFill/>
          </a:ln>
        </p:spPr>
        <p:txBody>
          <a:bodyPr wrap="square" lIns="0" rIns="0" rtlCol="0">
            <a:spAutoFit/>
          </a:bodyPr>
          <a:lstStyle/>
          <a:p>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数据来源：x重机提供，项目组分析</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图表 15"/>
          <p:cNvGraphicFramePr/>
          <p:nvPr/>
        </p:nvGraphicFramePr>
        <p:xfrm>
          <a:off x="357158" y="2357430"/>
          <a:ext cx="7715304" cy="26432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标题 1"/>
          <p:cNvSpPr>
            <a:spLocks noGrp="1"/>
          </p:cNvSpPr>
          <p:nvPr>
            <p:ph type="title" idx="4294967295"/>
          </p:nvPr>
        </p:nvSpPr>
        <p:spPr>
          <a:xfrm>
            <a:off x="162000" y="593725"/>
            <a:ext cx="8820000" cy="695325"/>
          </a:xfrm>
        </p:spPr>
        <p:txBody>
          <a:bodyPr/>
          <a:lstStyle/>
          <a:p>
            <a:r>
              <a:rPr lang="zh-CN" altLang="en-US" dirty="0"/>
              <a:t>订单交付周期（国内）</a:t>
            </a:r>
          </a:p>
        </p:txBody>
      </p:sp>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订单交付周期：从管理部备货（</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M6</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）到抵达代理商处（</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M8</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）的时间</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计算公式：订单发货周期</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=M8-M6</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172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、总体订单交付周期平均为</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6.9</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天，从数据来看，中挖的交付周期比较长</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、中挖平均</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9</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天：今年国内市场中挖产品下滑最严重（</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2014</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年增长率为</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-44.5%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2015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年增长率为</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-35.8%</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），客户需求的下滑，代理商申请样机后，不着急拖机</a:t>
                      </a: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4" name="TextBox 23"/>
          <p:cNvSpPr txBox="1"/>
          <p:nvPr/>
        </p:nvSpPr>
        <p:spPr bwMode="auto">
          <a:xfrm>
            <a:off x="285720" y="4815220"/>
            <a:ext cx="4429156" cy="245110"/>
          </a:xfrm>
          <a:prstGeom prst="rect">
            <a:avLst/>
          </a:prstGeom>
          <a:noFill/>
          <a:ln>
            <a:noFill/>
          </a:ln>
        </p:spPr>
        <p:txBody>
          <a:bodyPr wrap="square" lIns="0" rIns="0" rtlCol="0">
            <a:spAutoFit/>
          </a:bodyPr>
          <a:lstStyle/>
          <a:p>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数据来源：x重机提供，项目组分析，运输时间以地域距离估值</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TextBox 16"/>
          <p:cNvSpPr txBox="1"/>
          <p:nvPr/>
        </p:nvSpPr>
        <p:spPr bwMode="auto">
          <a:xfrm>
            <a:off x="8215338" y="3071810"/>
            <a:ext cx="642942" cy="830997"/>
          </a:xfrm>
          <a:prstGeom prst="rect">
            <a:avLst/>
          </a:prstGeom>
          <a:noFill/>
          <a:ln>
            <a:noFill/>
          </a:ln>
        </p:spPr>
        <p:txBody>
          <a:bodyPr wrap="square" lIns="0" rIns="0"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a:t>
            </a:r>
            <a:r>
              <a:rPr kumimoji="1" lang="en-US" altLang="zh-CN" sz="1200" dirty="0">
                <a:latin typeface="微软雅黑" panose="020B0503020204020204" charset="-122"/>
                <a:ea typeface="微软雅黑" panose="020B0503020204020204" charset="-122"/>
                <a:cs typeface="微软雅黑" panose="020B0503020204020204" charset="-122"/>
              </a:rPr>
              <a:t>5.7</a:t>
            </a:r>
            <a:endParaRPr kumimoji="1" lang="en-US" altLang="zh-CN" sz="1200" b="0" dirty="0">
              <a:latin typeface="微软雅黑" panose="020B0503020204020204" charset="-122"/>
              <a:ea typeface="微软雅黑" panose="020B0503020204020204" charset="-122"/>
              <a:cs typeface="微软雅黑" panose="020B0503020204020204" charset="-122"/>
            </a:endParaRPr>
          </a:p>
          <a:p>
            <a:r>
              <a:rPr kumimoji="1" lang="zh-CN" altLang="en-US" sz="1200" dirty="0">
                <a:latin typeface="微软雅黑" panose="020B0503020204020204" charset="-122"/>
                <a:ea typeface="微软雅黑" panose="020B0503020204020204" charset="-122"/>
                <a:cs typeface="微软雅黑" panose="020B0503020204020204" charset="-122"/>
              </a:rPr>
              <a:t>中：</a:t>
            </a:r>
            <a:r>
              <a:rPr kumimoji="1" lang="en-US" altLang="zh-CN" sz="1200" dirty="0">
                <a:latin typeface="微软雅黑" panose="020B0503020204020204" charset="-122"/>
                <a:ea typeface="微软雅黑" panose="020B0503020204020204" charset="-122"/>
                <a:cs typeface="微软雅黑" panose="020B0503020204020204" charset="-122"/>
              </a:rPr>
              <a:t>9</a:t>
            </a:r>
            <a:r>
              <a:rPr kumimoji="1" lang="zh-CN" altLang="en-US" sz="1200" dirty="0">
                <a:latin typeface="微软雅黑" panose="020B0503020204020204" charset="-122"/>
                <a:ea typeface="微软雅黑" panose="020B0503020204020204" charset="-122"/>
                <a:cs typeface="微软雅黑" panose="020B0503020204020204" charset="-122"/>
              </a:rPr>
              <a:t> </a:t>
            </a:r>
            <a:endParaRPr kumimoji="1" lang="en-US" altLang="zh-CN" sz="1200" dirty="0">
              <a:latin typeface="微软雅黑" panose="020B0503020204020204" charset="-122"/>
              <a:ea typeface="微软雅黑" panose="020B0503020204020204" charset="-122"/>
              <a:cs typeface="微软雅黑" panose="020B0503020204020204" charset="-122"/>
            </a:endParaRPr>
          </a:p>
          <a:p>
            <a:r>
              <a:rPr kumimoji="1" lang="zh-CN" altLang="en-US" sz="1200" b="0" dirty="0">
                <a:latin typeface="微软雅黑" panose="020B0503020204020204" charset="-122"/>
                <a:ea typeface="微软雅黑" panose="020B0503020204020204" charset="-122"/>
                <a:cs typeface="微软雅黑" panose="020B0503020204020204" charset="-122"/>
              </a:rPr>
              <a:t>小</a:t>
            </a:r>
            <a:r>
              <a:rPr kumimoji="1" lang="zh-CN" altLang="en-US" sz="1200" dirty="0">
                <a:latin typeface="微软雅黑" panose="020B0503020204020204" charset="-122"/>
                <a:ea typeface="微软雅黑" panose="020B0503020204020204" charset="-122"/>
                <a:cs typeface="微软雅黑" panose="020B0503020204020204" charset="-122"/>
              </a:rPr>
              <a:t>：</a:t>
            </a:r>
            <a:r>
              <a:rPr kumimoji="1" lang="en-US" altLang="zh-CN" sz="1200" dirty="0">
                <a:latin typeface="微软雅黑" panose="020B0503020204020204" charset="-122"/>
                <a:ea typeface="微软雅黑" panose="020B0503020204020204" charset="-122"/>
                <a:cs typeface="微软雅黑" panose="020B0503020204020204" charset="-122"/>
              </a:rPr>
              <a:t>6.5</a:t>
            </a:r>
            <a:r>
              <a:rPr kumimoji="1" lang="zh-CN" altLang="en-US" sz="1200" dirty="0">
                <a:latin typeface="微软雅黑" panose="020B0503020204020204" charset="-122"/>
                <a:ea typeface="微软雅黑" panose="020B0503020204020204" charset="-122"/>
                <a:cs typeface="微软雅黑" panose="020B0503020204020204" charset="-122"/>
              </a:rPr>
              <a:t> </a:t>
            </a:r>
            <a:endParaRPr kumimoji="1" lang="en-US" altLang="zh-CN" sz="1200" b="0" dirty="0">
              <a:latin typeface="微软雅黑" panose="020B0503020204020204" charset="-122"/>
              <a:ea typeface="微软雅黑" panose="020B0503020204020204" charset="-122"/>
              <a:cs typeface="微软雅黑" panose="020B0503020204020204" charset="-122"/>
            </a:endParaRPr>
          </a:p>
          <a:p>
            <a:r>
              <a:rPr kumimoji="1" lang="zh-CN" altLang="en-US" sz="1200" b="0" dirty="0">
                <a:latin typeface="微软雅黑" panose="020B0503020204020204" charset="-122"/>
                <a:ea typeface="微软雅黑" panose="020B0503020204020204" charset="-122"/>
                <a:cs typeface="微软雅黑" panose="020B0503020204020204" charset="-122"/>
              </a:rPr>
              <a:t>总：</a:t>
            </a:r>
            <a:r>
              <a:rPr kumimoji="1" lang="en-US" altLang="zh-CN" sz="1200" b="0" dirty="0">
                <a:latin typeface="微软雅黑" panose="020B0503020204020204" charset="-122"/>
                <a:ea typeface="微软雅黑" panose="020B0503020204020204" charset="-122"/>
                <a:cs typeface="微软雅黑" panose="020B0503020204020204" charset="-122"/>
              </a:rPr>
              <a:t>6.9</a:t>
            </a:r>
            <a:endParaRPr kumimoji="1" lang="zh-CN" altLang="en-US" sz="1200" b="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图表 28"/>
          <p:cNvGraphicFramePr/>
          <p:nvPr/>
        </p:nvGraphicFramePr>
        <p:xfrm>
          <a:off x="467544" y="2118375"/>
          <a:ext cx="864096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2" name="直接连接符 11"/>
          <p:cNvCxnSpPr/>
          <p:nvPr/>
        </p:nvCxnSpPr>
        <p:spPr bwMode="auto">
          <a:xfrm>
            <a:off x="683568" y="3427800"/>
            <a:ext cx="8208912" cy="0"/>
          </a:xfrm>
          <a:prstGeom prst="line">
            <a:avLst/>
          </a:prstGeom>
          <a:solidFill>
            <a:schemeClr val="accent1"/>
          </a:solidFill>
          <a:ln w="28575" cap="flat" cmpd="sng" algn="ctr">
            <a:solidFill>
              <a:srgbClr val="C00000"/>
            </a:solidFill>
            <a:prstDash val="dashDot"/>
            <a:round/>
            <a:headEnd type="none" w="med" len="med"/>
            <a:tailEnd type="none"/>
          </a:ln>
          <a:effectLst/>
        </p:spPr>
      </p:cxnSp>
      <p:cxnSp>
        <p:nvCxnSpPr>
          <p:cNvPr id="10" name="直接连接符 9"/>
          <p:cNvCxnSpPr/>
          <p:nvPr/>
        </p:nvCxnSpPr>
        <p:spPr bwMode="auto">
          <a:xfrm>
            <a:off x="683568" y="3571816"/>
            <a:ext cx="8208912" cy="0"/>
          </a:xfrm>
          <a:prstGeom prst="line">
            <a:avLst/>
          </a:prstGeom>
          <a:solidFill>
            <a:schemeClr val="accent1"/>
          </a:solidFill>
          <a:ln w="28575" cap="flat" cmpd="sng" algn="ctr">
            <a:solidFill>
              <a:srgbClr val="92D050"/>
            </a:solidFill>
            <a:prstDash val="dashDot"/>
            <a:round/>
            <a:headEnd type="none" w="med" len="med"/>
            <a:tailEnd type="none"/>
          </a:ln>
          <a:effectLst/>
        </p:spPr>
      </p:cxnSp>
      <p:cxnSp>
        <p:nvCxnSpPr>
          <p:cNvPr id="14" name="直接连接符 13"/>
          <p:cNvCxnSpPr/>
          <p:nvPr/>
        </p:nvCxnSpPr>
        <p:spPr bwMode="auto">
          <a:xfrm>
            <a:off x="702464" y="3645024"/>
            <a:ext cx="8190016" cy="1200"/>
          </a:xfrm>
          <a:prstGeom prst="line">
            <a:avLst/>
          </a:prstGeom>
          <a:solidFill>
            <a:schemeClr val="accent1"/>
          </a:solidFill>
          <a:ln w="28575" cap="flat" cmpd="sng" algn="ctr">
            <a:solidFill>
              <a:srgbClr val="0070C0"/>
            </a:solidFill>
            <a:prstDash val="dashDot"/>
            <a:round/>
            <a:headEnd type="none" w="med" len="med"/>
            <a:tailEnd type="none"/>
          </a:ln>
          <a:effectLst/>
        </p:spPr>
      </p:cxnSp>
      <p:graphicFrame>
        <p:nvGraphicFramePr>
          <p:cNvPr id="17" name="图表 16"/>
          <p:cNvGraphicFramePr/>
          <p:nvPr/>
        </p:nvGraphicFramePr>
        <p:xfrm>
          <a:off x="185825" y="2459049"/>
          <a:ext cx="875019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 name="标题 1"/>
          <p:cNvSpPr>
            <a:spLocks noGrp="1"/>
          </p:cNvSpPr>
          <p:nvPr>
            <p:ph type="title" idx="4294967295"/>
          </p:nvPr>
        </p:nvSpPr>
        <p:spPr>
          <a:xfrm>
            <a:off x="162000" y="593725"/>
            <a:ext cx="8820000" cy="695325"/>
          </a:xfrm>
        </p:spPr>
        <p:txBody>
          <a:bodyPr/>
          <a:lstStyle/>
          <a:p>
            <a:r>
              <a:rPr lang="zh-CN" altLang="en-US" dirty="0"/>
              <a:t>订单交付周期（国际）</a:t>
            </a:r>
          </a:p>
        </p:txBody>
      </p:sp>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订单发货周期：从整机生产入库（</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M5</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）到到港（</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M6</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）的时间</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计算公式：订单交付周期</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=M6-M5</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2"/>
          <a:ext cx="8748713" cy="1357321"/>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357321">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参考工厂生产淡旺季，</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4</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月旺季交付周期短，</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8</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9</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月及年初淡季交付周期较长。</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与付款、工程等客户因素有关，海外销售在第二季度及第四季度为销售旺季，需求旺盛、付款及时也影响交付周期的压缩。</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部分月份无发货，如</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月无大挖，故交付周期无显示。</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1" name="TextBox 10"/>
          <p:cNvSpPr txBox="1"/>
          <p:nvPr/>
        </p:nvSpPr>
        <p:spPr bwMode="auto">
          <a:xfrm>
            <a:off x="1968442" y="3837576"/>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92D05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92D050"/>
                </a:solidFill>
                <a:latin typeface="微软雅黑" panose="020B0503020204020204" charset="-122"/>
                <a:ea typeface="微软雅黑" panose="020B0503020204020204" charset="-122"/>
                <a:cs typeface="微软雅黑" panose="020B0503020204020204" charset="-122"/>
              </a:rPr>
              <a:t>42</a:t>
            </a:r>
            <a:r>
              <a:rPr kumimoji="1" lang="zh-CN" altLang="en-US" sz="1200" b="1" dirty="0">
                <a:solidFill>
                  <a:srgbClr val="92D050"/>
                </a:solidFill>
                <a:latin typeface="微软雅黑" panose="020B0503020204020204" charset="-122"/>
                <a:ea typeface="微软雅黑" panose="020B0503020204020204" charset="-122"/>
                <a:cs typeface="微软雅黑" panose="020B0503020204020204" charset="-122"/>
              </a:rPr>
              <a:t>天</a:t>
            </a:r>
            <a:r>
              <a:rPr kumimoji="1" lang="en-US" altLang="zh-CN" sz="1200" b="1" dirty="0">
                <a:solidFill>
                  <a:srgbClr val="92D050"/>
                </a:solidFill>
                <a:latin typeface="微软雅黑" panose="020B0503020204020204" charset="-122"/>
                <a:ea typeface="微软雅黑" panose="020B0503020204020204" charset="-122"/>
                <a:cs typeface="微软雅黑" panose="020B0503020204020204" charset="-122"/>
              </a:rPr>
              <a:t> </a:t>
            </a:r>
            <a:endParaRPr kumimoji="1" lang="zh-CN" altLang="en-US" sz="1200" b="1" dirty="0">
              <a:solidFill>
                <a:srgbClr val="92D050"/>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bwMode="auto">
          <a:xfrm>
            <a:off x="611560" y="3068960"/>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C0000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C00000"/>
                </a:solidFill>
                <a:latin typeface="微软雅黑" panose="020B0503020204020204" charset="-122"/>
                <a:ea typeface="微软雅黑" panose="020B0503020204020204" charset="-122"/>
                <a:cs typeface="微软雅黑" panose="020B0503020204020204" charset="-122"/>
              </a:rPr>
              <a:t>45</a:t>
            </a:r>
            <a:r>
              <a:rPr kumimoji="1" lang="zh-CN" altLang="en-US" sz="1200" b="1" dirty="0">
                <a:solidFill>
                  <a:srgbClr val="C00000"/>
                </a:solidFill>
                <a:latin typeface="微软雅黑" panose="020B0503020204020204" charset="-122"/>
                <a:ea typeface="微软雅黑" panose="020B0503020204020204" charset="-122"/>
                <a:cs typeface="微软雅黑" panose="020B0503020204020204" charset="-122"/>
              </a:rPr>
              <a:t>天</a:t>
            </a:r>
            <a:r>
              <a:rPr kumimoji="1" lang="en-US" altLang="zh-CN" sz="1200" b="1" dirty="0">
                <a:solidFill>
                  <a:srgbClr val="C00000"/>
                </a:solidFill>
                <a:latin typeface="微软雅黑" panose="020B0503020204020204" charset="-122"/>
                <a:ea typeface="微软雅黑" panose="020B0503020204020204" charset="-122"/>
                <a:cs typeface="微软雅黑" panose="020B0503020204020204" charset="-122"/>
              </a:rPr>
              <a:t> </a:t>
            </a:r>
            <a:endParaRPr kumimoji="1" lang="zh-CN" altLang="en-US" sz="1200" b="1"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bwMode="auto">
          <a:xfrm>
            <a:off x="611560" y="3728065"/>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0070C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0070C0"/>
                </a:solidFill>
                <a:latin typeface="微软雅黑" panose="020B0503020204020204" charset="-122"/>
                <a:ea typeface="微软雅黑" panose="020B0503020204020204" charset="-122"/>
                <a:cs typeface="微软雅黑" panose="020B0503020204020204" charset="-122"/>
              </a:rPr>
              <a:t>40</a:t>
            </a:r>
            <a:r>
              <a:rPr kumimoji="1" lang="zh-CN" altLang="en-US" sz="1200" b="1" dirty="0">
                <a:solidFill>
                  <a:srgbClr val="0070C0"/>
                </a:solidFill>
                <a:latin typeface="微软雅黑" panose="020B0503020204020204" charset="-122"/>
                <a:ea typeface="微软雅黑" panose="020B0503020204020204" charset="-122"/>
                <a:cs typeface="微软雅黑" panose="020B0503020204020204" charset="-122"/>
              </a:rPr>
              <a:t>天</a:t>
            </a:r>
            <a:r>
              <a:rPr kumimoji="1" lang="en-US" altLang="zh-CN" sz="1200" b="1" dirty="0">
                <a:solidFill>
                  <a:srgbClr val="0070C0"/>
                </a:solidFill>
                <a:latin typeface="微软雅黑" panose="020B0503020204020204" charset="-122"/>
                <a:ea typeface="微软雅黑" panose="020B0503020204020204" charset="-122"/>
                <a:cs typeface="微软雅黑" panose="020B0503020204020204" charset="-122"/>
              </a:rPr>
              <a:t> </a:t>
            </a:r>
            <a:endParaRPr kumimoji="1" lang="zh-CN" altLang="en-US" sz="1200" b="1" dirty="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5" name="TextBox 24"/>
          <p:cNvSpPr txBox="1"/>
          <p:nvPr/>
        </p:nvSpPr>
        <p:spPr bwMode="auto">
          <a:xfrm>
            <a:off x="3940216" y="2487815"/>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chemeClr val="bg1">
                    <a:lumMod val="50000"/>
                  </a:schemeClr>
                </a:solidFill>
                <a:latin typeface="微软雅黑" panose="020B0503020204020204" charset="-122"/>
                <a:ea typeface="微软雅黑" panose="020B0503020204020204" charset="-122"/>
                <a:cs typeface="微软雅黑" panose="020B0503020204020204" charset="-122"/>
              </a:rPr>
              <a:t>海外大区销量走势</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7" name="图表 16"/>
          <p:cNvGraphicFramePr/>
          <p:nvPr/>
        </p:nvGraphicFramePr>
        <p:xfrm>
          <a:off x="245302" y="2276872"/>
          <a:ext cx="8712968" cy="2736165"/>
        </p:xfrm>
        <a:graphic>
          <a:graphicData uri="http://schemas.openxmlformats.org/drawingml/2006/chart">
            <c:chart xmlns:c="http://schemas.openxmlformats.org/drawingml/2006/chart" xmlns:r="http://schemas.openxmlformats.org/officeDocument/2006/relationships" r:id="rId2"/>
          </a:graphicData>
        </a:graphic>
      </p:graphicFrame>
      <p:sp>
        <p:nvSpPr>
          <p:cNvPr id="3" name="标题 1"/>
          <p:cNvSpPr>
            <a:spLocks noGrp="1"/>
          </p:cNvSpPr>
          <p:nvPr>
            <p:ph type="title" idx="4294967295"/>
          </p:nvPr>
        </p:nvSpPr>
        <p:spPr>
          <a:xfrm>
            <a:off x="162000" y="593725"/>
            <a:ext cx="8820000" cy="695325"/>
          </a:xfrm>
        </p:spPr>
        <p:txBody>
          <a:bodyPr/>
          <a:lstStyle/>
          <a:p>
            <a:r>
              <a:rPr lang="zh-CN" altLang="en-US" dirty="0"/>
              <a:t>订单准时交付率（国际）</a:t>
            </a:r>
          </a:p>
        </p:txBody>
      </p:sp>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订单发货周期：准时将订单交付给海外大区的比例</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计算公式：订单准时交付率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准时交付数量</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当月下单总量</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172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准时交付率与出口淡旺季关联，二季度及四季度旺季产能优势保障，交付及时。</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月交付率高，因受</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月春节影响，订单多提前排产计划，提高了准时交付率。</a:t>
                      </a:r>
                      <a:endParaRPr kumimoji="0" lang="zh-CN" altLang="en-US" sz="1200" b="1" i="0" u="none" strike="noStrike" cap="none" normalizeH="0" baseline="0" dirty="0">
                        <a:ln>
                          <a:noFill/>
                        </a:ln>
                        <a:solidFill>
                          <a:schemeClr val="accent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10" name="直接连接符 9"/>
          <p:cNvCxnSpPr/>
          <p:nvPr/>
        </p:nvCxnSpPr>
        <p:spPr bwMode="auto">
          <a:xfrm>
            <a:off x="539552" y="3140968"/>
            <a:ext cx="7632000" cy="1200"/>
          </a:xfrm>
          <a:prstGeom prst="line">
            <a:avLst/>
          </a:prstGeom>
          <a:solidFill>
            <a:schemeClr val="accent1"/>
          </a:solidFill>
          <a:ln w="28575" cap="flat" cmpd="sng" algn="ctr">
            <a:solidFill>
              <a:srgbClr val="00B050"/>
            </a:solidFill>
            <a:prstDash val="dashDot"/>
            <a:round/>
            <a:headEnd type="none" w="med" len="med"/>
            <a:tailEnd type="none"/>
          </a:ln>
          <a:effectLst/>
        </p:spPr>
      </p:cxnSp>
      <p:sp>
        <p:nvSpPr>
          <p:cNvPr id="11" name="TextBox 10"/>
          <p:cNvSpPr txBox="1"/>
          <p:nvPr/>
        </p:nvSpPr>
        <p:spPr bwMode="auto">
          <a:xfrm>
            <a:off x="1468816" y="3356992"/>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00B05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00B050"/>
                </a:solidFill>
                <a:latin typeface="微软雅黑" panose="020B0503020204020204" charset="-122"/>
                <a:ea typeface="微软雅黑" panose="020B0503020204020204" charset="-122"/>
                <a:cs typeface="微软雅黑" panose="020B0503020204020204" charset="-122"/>
              </a:rPr>
              <a:t>70%</a:t>
            </a:r>
            <a:endParaRPr kumimoji="1" lang="zh-CN" altLang="en-US" sz="1200" b="1" dirty="0">
              <a:solidFill>
                <a:srgbClr val="00B050"/>
              </a:solidFill>
              <a:latin typeface="微软雅黑" panose="020B0503020204020204" charset="-122"/>
              <a:ea typeface="微软雅黑" panose="020B0503020204020204" charset="-122"/>
              <a:cs typeface="微软雅黑" panose="020B0503020204020204" charset="-122"/>
            </a:endParaRPr>
          </a:p>
        </p:txBody>
      </p:sp>
      <p:cxnSp>
        <p:nvCxnSpPr>
          <p:cNvPr id="12" name="直接连接符 11"/>
          <p:cNvCxnSpPr/>
          <p:nvPr/>
        </p:nvCxnSpPr>
        <p:spPr bwMode="auto">
          <a:xfrm>
            <a:off x="785786" y="2996952"/>
            <a:ext cx="7632000" cy="1200"/>
          </a:xfrm>
          <a:prstGeom prst="line">
            <a:avLst/>
          </a:prstGeom>
          <a:solidFill>
            <a:schemeClr val="accent1"/>
          </a:solidFill>
          <a:ln w="28575" cap="flat" cmpd="sng" algn="ctr">
            <a:solidFill>
              <a:srgbClr val="C00000"/>
            </a:solidFill>
            <a:prstDash val="dashDot"/>
            <a:round/>
            <a:headEnd type="none" w="med" len="med"/>
            <a:tailEnd type="none"/>
          </a:ln>
          <a:effectLst/>
        </p:spPr>
      </p:cxnSp>
      <p:sp>
        <p:nvSpPr>
          <p:cNvPr id="13" name="TextBox 12"/>
          <p:cNvSpPr txBox="1"/>
          <p:nvPr/>
        </p:nvSpPr>
        <p:spPr bwMode="auto">
          <a:xfrm>
            <a:off x="723503" y="3495491"/>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70%</a:t>
            </a:r>
            <a:endPar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endParaRPr>
          </a:p>
        </p:txBody>
      </p:sp>
      <p:cxnSp>
        <p:nvCxnSpPr>
          <p:cNvPr id="14" name="直接连接符 13"/>
          <p:cNvCxnSpPr/>
          <p:nvPr/>
        </p:nvCxnSpPr>
        <p:spPr bwMode="auto">
          <a:xfrm>
            <a:off x="726214" y="3140968"/>
            <a:ext cx="7632000" cy="1200"/>
          </a:xfrm>
          <a:prstGeom prst="line">
            <a:avLst/>
          </a:prstGeom>
          <a:solidFill>
            <a:schemeClr val="accent1"/>
          </a:solidFill>
          <a:ln w="28575" cap="flat" cmpd="sng" algn="ctr">
            <a:solidFill>
              <a:srgbClr val="0070C0"/>
            </a:solidFill>
            <a:prstDash val="dashDot"/>
            <a:round/>
            <a:headEnd type="none" w="med" len="med"/>
            <a:tailEnd type="none"/>
          </a:ln>
          <a:effectLst/>
        </p:spPr>
      </p:cxnSp>
      <p:sp>
        <p:nvSpPr>
          <p:cNvPr id="15" name="TextBox 14"/>
          <p:cNvSpPr txBox="1"/>
          <p:nvPr/>
        </p:nvSpPr>
        <p:spPr bwMode="auto">
          <a:xfrm>
            <a:off x="611560" y="2636912"/>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0070C0"/>
                </a:solidFill>
                <a:latin typeface="微软雅黑" panose="020B0503020204020204" charset="-122"/>
                <a:ea typeface="微软雅黑" panose="020B0503020204020204" charset="-122"/>
                <a:cs typeface="微软雅黑" panose="020B0503020204020204" charset="-122"/>
              </a:rPr>
              <a:t>平均</a:t>
            </a:r>
            <a:r>
              <a:rPr kumimoji="1" lang="en-US" altLang="zh-CN" sz="1200" b="1" dirty="0">
                <a:solidFill>
                  <a:srgbClr val="0070C0"/>
                </a:solidFill>
                <a:latin typeface="微软雅黑" panose="020B0503020204020204" charset="-122"/>
                <a:ea typeface="微软雅黑" panose="020B0503020204020204" charset="-122"/>
                <a:cs typeface="微软雅黑" panose="020B0503020204020204" charset="-122"/>
              </a:rPr>
              <a:t>63%</a:t>
            </a:r>
            <a:endParaRPr kumimoji="1" lang="zh-CN" altLang="en-US" sz="1200" b="1" dirty="0">
              <a:solidFill>
                <a:srgbClr val="0070C0"/>
              </a:solidFill>
              <a:latin typeface="微软雅黑" panose="020B0503020204020204" charset="-122"/>
              <a:ea typeface="微软雅黑" panose="020B0503020204020204" charset="-122"/>
              <a:cs typeface="微软雅黑" panose="020B0503020204020204" charset="-122"/>
            </a:endParaRPr>
          </a:p>
        </p:txBody>
      </p:sp>
      <p:graphicFrame>
        <p:nvGraphicFramePr>
          <p:cNvPr id="18" name="图表 17"/>
          <p:cNvGraphicFramePr/>
          <p:nvPr/>
        </p:nvGraphicFramePr>
        <p:xfrm>
          <a:off x="662668" y="2276872"/>
          <a:ext cx="8301819"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p:cNvSpPr txBox="1"/>
          <p:nvPr/>
        </p:nvSpPr>
        <p:spPr bwMode="auto">
          <a:xfrm>
            <a:off x="7812360" y="3796830"/>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chemeClr val="bg1">
                    <a:lumMod val="50000"/>
                  </a:schemeClr>
                </a:solidFill>
                <a:latin typeface="微软雅黑" panose="020B0503020204020204" charset="-122"/>
                <a:ea typeface="微软雅黑" panose="020B0503020204020204" charset="-122"/>
                <a:cs typeface="微软雅黑" panose="020B0503020204020204" charset="-122"/>
              </a:rPr>
              <a:t>工厂出口台量走势</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需求计划准确率（国内</a:t>
            </a:r>
            <a:r>
              <a:rPr dirty="0"/>
              <a:t>-</a:t>
            </a:r>
            <a:r>
              <a:rPr lang="zh-CN" altLang="en-US" dirty="0"/>
              <a:t>月度）</a:t>
            </a:r>
          </a:p>
        </p:txBody>
      </p:sp>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实际销售和</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表需求计划量的一致性（</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表以产销协同会议确定的版本）</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需求计划准确率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实际销售量</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表需求计划量</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表需求计划量</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755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、按照标准计算方式</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2015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年需求计划准确率（月度）国内平均值为</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57%</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，国内小挖高于总体平均值，和销售量大有较大关系</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、准确率波动的原因：</a:t>
                      </a:r>
                      <a:r>
                        <a:rPr kumimoji="0" lang="zh-CN"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市场变化较大，</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15</a:t>
                      </a:r>
                      <a:r>
                        <a:rPr kumimoji="0" lang="zh-CN"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年行业实际较</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15</a:t>
                      </a:r>
                      <a:r>
                        <a:rPr kumimoji="0" lang="zh-CN"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年大纲差异较大，大纲在指导中期计划时，产生了偏离</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国内挖机是以样机库存的方式进行备货销售的，中期计划各机型均取（</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5/10</a:t>
                      </a:r>
                      <a:r>
                        <a:rPr kumimoji="0" lang="zh-CN"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）整数，实际销售会存在偏差</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为达到盈亏平衡，国内主机过账销售有时会在月底进行调整，以平衡重机销售额</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0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奇异点数据说明：</a:t>
                      </a:r>
                      <a:r>
                        <a:rPr kumimoji="0" lang="en-US" altLang="zh-CN" sz="10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6</a:t>
                      </a:r>
                      <a:r>
                        <a:rPr kumimoji="0" lang="zh-CN" altLang="en-US" sz="10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月受集团政策影响</a:t>
                      </a:r>
                      <a:endPar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 name="图表 7"/>
          <p:cNvGraphicFramePr/>
          <p:nvPr/>
        </p:nvGraphicFramePr>
        <p:xfrm>
          <a:off x="357158" y="2357430"/>
          <a:ext cx="7715304" cy="2643206"/>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bwMode="auto">
          <a:xfrm>
            <a:off x="8215338" y="3169507"/>
            <a:ext cx="642942" cy="830997"/>
          </a:xfrm>
          <a:prstGeom prst="rect">
            <a:avLst/>
          </a:prstGeom>
          <a:noFill/>
          <a:ln>
            <a:noFill/>
          </a:ln>
        </p:spPr>
        <p:txBody>
          <a:bodyPr wrap="square" lIns="0" rIns="0"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36%</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35%</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66%</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 </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总：</a:t>
            </a:r>
            <a:r>
              <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rPr>
              <a:t>57</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 </a:t>
            </a:r>
            <a:endPar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bwMode="auto">
          <a:xfrm>
            <a:off x="285720" y="4754415"/>
            <a:ext cx="5214974" cy="245110"/>
          </a:xfrm>
          <a:prstGeom prst="rect">
            <a:avLst/>
          </a:prstGeom>
          <a:noFill/>
          <a:ln>
            <a:noFill/>
          </a:ln>
        </p:spPr>
        <p:txBody>
          <a:bodyPr wrap="square" lIns="0" rIns="0" rtlCol="0">
            <a:spAutoFit/>
          </a:bodyPr>
          <a:lstStyle/>
          <a:p>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数据来源：x重机提供，项目组分析，准确率为负时取</a:t>
            </a:r>
            <a:r>
              <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rPr>
              <a:t>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需求计划准确率（国际</a:t>
            </a:r>
            <a:r>
              <a:rPr dirty="0"/>
              <a:t>-</a:t>
            </a:r>
            <a:r>
              <a:rPr lang="zh-CN" altLang="en-US" dirty="0"/>
              <a:t>月度）</a:t>
            </a:r>
          </a:p>
        </p:txBody>
      </p:sp>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实际销售和</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表需求计划量的一致性（</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表以产销协同会议确定的版本）</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需求计划准确率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实际销售量</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表需求计划量</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表需求计划量</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172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、按照标准计算方式</a:t>
                      </a:r>
                      <a:r>
                        <a:rPr kumimoji="0" lang="en-US" altLang="zh-CN"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2015</a:t>
                      </a:r>
                      <a:r>
                        <a:rPr kumimoji="0" lang="zh-CN" altLang="en-US"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年需求计划准确率（月度）国际平均值为</a:t>
                      </a:r>
                      <a:r>
                        <a:rPr kumimoji="0" lang="en-US" altLang="zh-CN"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38%</a:t>
                      </a:r>
                      <a:r>
                        <a:rPr kumimoji="0" lang="zh-CN" altLang="en-US"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，中挖高于总体平均值，和销售量大有较大关系</a:t>
                      </a:r>
                      <a:endParaRPr kumimoji="0" lang="en-US" altLang="zh-CN"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、需求计划准确率波动主要为临时插单及延迟下线。一般情况次月排产与销售与实际较接近</a:t>
                      </a:r>
                      <a:endParaRPr kumimoji="0" lang="en-US" altLang="zh-CN" sz="11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、奇异点数据说明：大挖</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32</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台印度</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SY480</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临时订单，</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6</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月新增临时订单</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台印尼</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SY850</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及</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台泰国</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SY480</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7</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台美国</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SY365</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缺发动机未上线；小挖</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月排产</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12</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台泰国机为</a:t>
                      </a:r>
                      <a: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11</a:t>
                      </a: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月发货</a:t>
                      </a:r>
                      <a:endParaRPr kumimoji="0" lang="en-US" altLang="zh-CN" sz="1100" b="1" i="0" u="none" strike="noStrike" cap="none" normalizeH="0" baseline="0" dirty="0">
                        <a:ln>
                          <a:noFill/>
                        </a:ln>
                        <a:solidFill>
                          <a:schemeClr val="accent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 name="图表 7"/>
          <p:cNvGraphicFramePr/>
          <p:nvPr/>
        </p:nvGraphicFramePr>
        <p:xfrm>
          <a:off x="357158" y="2357430"/>
          <a:ext cx="7715304" cy="2643206"/>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bwMode="auto">
          <a:xfrm>
            <a:off x="8215338" y="3214686"/>
            <a:ext cx="642942" cy="830997"/>
          </a:xfrm>
          <a:prstGeom prst="rect">
            <a:avLst/>
          </a:prstGeom>
          <a:noFill/>
          <a:ln>
            <a:noFill/>
          </a:ln>
        </p:spPr>
        <p:txBody>
          <a:bodyPr wrap="square" lIns="0" rIns="0"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13%</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44%</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35%</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总：</a:t>
            </a:r>
            <a:r>
              <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rPr>
              <a:t>38</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zh-CN" altLang="en-US" sz="1200" b="0"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bwMode="auto">
          <a:xfrm>
            <a:off x="285720" y="4754415"/>
            <a:ext cx="5214974" cy="245110"/>
          </a:xfrm>
          <a:prstGeom prst="rect">
            <a:avLst/>
          </a:prstGeom>
          <a:noFill/>
          <a:ln>
            <a:noFill/>
          </a:ln>
        </p:spPr>
        <p:txBody>
          <a:bodyPr wrap="square" lIns="0" rIns="0" rtlCol="0">
            <a:spAutoFit/>
          </a:bodyPr>
          <a:lstStyle/>
          <a:p>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数据来源：x重机提供，项目组分析，准确率为负时取</a:t>
            </a:r>
            <a:r>
              <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rPr>
              <a:t>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idx="4294967295"/>
          </p:nvPr>
        </p:nvSpPr>
        <p:spPr>
          <a:xfrm>
            <a:off x="162000" y="593725"/>
            <a:ext cx="8820000" cy="695325"/>
          </a:xfrm>
        </p:spPr>
        <p:txBody>
          <a:bodyPr/>
          <a:lstStyle/>
          <a:p>
            <a:pPr lvl="0"/>
            <a:r>
              <a:rPr lang="en-US" altLang="zh-CN" dirty="0"/>
              <a:t>3</a:t>
            </a:r>
            <a:r>
              <a:rPr lang="zh-CN" altLang="en-US" dirty="0"/>
              <a:t>日上线计划准确率</a:t>
            </a:r>
            <a:endParaRPr lang="en-US" dirty="0"/>
          </a:p>
        </p:txBody>
      </p:sp>
      <p:graphicFrame>
        <p:nvGraphicFramePr>
          <p:cNvPr id="10" name="Group 4"/>
          <p:cNvGraphicFramePr>
            <a:graphicFrameLocks noGrp="1"/>
          </p:cNvGraphicFramePr>
          <p:nvPr/>
        </p:nvGraphicFramePr>
        <p:xfrm>
          <a:off x="215900" y="2128602"/>
          <a:ext cx="8712200" cy="3024198"/>
        </p:xfrm>
        <a:graphic>
          <a:graphicData uri="http://schemas.openxmlformats.org/drawingml/2006/table">
            <a:tbl>
              <a:tblPr/>
              <a:tblGrid>
                <a:gridCol w="8712200">
                  <a:extLst>
                    <a:ext uri="{9D8B030D-6E8A-4147-A177-3AD203B41FA5}">
                      <a16:colId xmlns:a16="http://schemas.microsoft.com/office/drawing/2014/main" val="20000"/>
                    </a:ext>
                  </a:extLst>
                </a:gridCol>
              </a:tblGrid>
              <a:tr h="30478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1" name="Group 4"/>
          <p:cNvGraphicFramePr>
            <a:graphicFrameLocks noGrp="1"/>
          </p:cNvGraphicFramePr>
          <p:nvPr/>
        </p:nvGraphicFramePr>
        <p:xfrm>
          <a:off x="215900" y="1142984"/>
          <a:ext cx="8712200" cy="639763"/>
        </p:xfrm>
        <a:graphic>
          <a:graphicData uri="http://schemas.openxmlformats.org/drawingml/2006/table">
            <a:tbl>
              <a:tblPr/>
              <a:tblGrid>
                <a:gridCol w="612014">
                  <a:extLst>
                    <a:ext uri="{9D8B030D-6E8A-4147-A177-3AD203B41FA5}">
                      <a16:colId xmlns:a16="http://schemas.microsoft.com/office/drawing/2014/main" val="20000"/>
                    </a:ext>
                  </a:extLst>
                </a:gridCol>
                <a:gridCol w="8100186">
                  <a:extLst>
                    <a:ext uri="{9D8B030D-6E8A-4147-A177-3AD203B41FA5}">
                      <a16:colId xmlns:a16="http://schemas.microsoft.com/office/drawing/2014/main" val="20001"/>
                    </a:ext>
                  </a:extLst>
                </a:gridCol>
              </a:tblGrid>
              <a:tr h="639763">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3日上线计划准确率：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天锁定计划实际上线数</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计划上线数</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计算公式为：</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日上线计划准确率＝按“</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”滚动计划准时上线的订单数</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当期“</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”滚动计划上线的订单数</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 name="Group 103"/>
          <p:cNvGraphicFramePr>
            <a:graphicFrameLocks noGrp="1"/>
          </p:cNvGraphicFramePr>
          <p:nvPr/>
        </p:nvGraphicFramePr>
        <p:xfrm>
          <a:off x="215900" y="5337175"/>
          <a:ext cx="8710613" cy="1044575"/>
        </p:xfrm>
        <a:graphic>
          <a:graphicData uri="http://schemas.openxmlformats.org/drawingml/2006/table">
            <a:tbl>
              <a:tblPr/>
              <a:tblGrid>
                <a:gridCol w="610838">
                  <a:extLst>
                    <a:ext uri="{9D8B030D-6E8A-4147-A177-3AD203B41FA5}">
                      <a16:colId xmlns:a16="http://schemas.microsoft.com/office/drawing/2014/main" val="20000"/>
                    </a:ext>
                  </a:extLst>
                </a:gridCol>
                <a:gridCol w="8099775">
                  <a:extLst>
                    <a:ext uri="{9D8B030D-6E8A-4147-A177-3AD203B41FA5}">
                      <a16:colId xmlns:a16="http://schemas.microsoft.com/office/drawing/2014/main" val="20001"/>
                    </a:ext>
                  </a:extLst>
                </a:gridCol>
              </a:tblGrid>
              <a:tr h="104457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大、中、小挖因计划变更及缺件问题均不能锁定三日上线计划，生产无法稳定</a:t>
                      </a:r>
                      <a:endParaRPr lang="en-US" altLang="zh-CN" sz="1200" b="0" dirty="0">
                        <a:solidFill>
                          <a:schemeClr val="tx1"/>
                        </a:solidFill>
                        <a:latin typeface="微软雅黑" panose="020B0503020204020204" charset="-122"/>
                        <a:ea typeface="微软雅黑" panose="020B0503020204020204" charset="-122"/>
                      </a:endParaRPr>
                    </a:p>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大挖生产稳定性最差，中挖次之；大挖在</a:t>
                      </a:r>
                      <a:r>
                        <a:rPr lang="en-US" altLang="zh-CN" sz="1200" b="0" dirty="0">
                          <a:solidFill>
                            <a:schemeClr val="tx1"/>
                          </a:solidFill>
                          <a:latin typeface="微软雅黑" panose="020B0503020204020204" charset="-122"/>
                          <a:ea typeface="微软雅黑" panose="020B0503020204020204" charset="-122"/>
                        </a:rPr>
                        <a:t>2015</a:t>
                      </a:r>
                      <a:r>
                        <a:rPr lang="zh-CN" altLang="en-US" sz="1200" b="0" dirty="0">
                          <a:solidFill>
                            <a:schemeClr val="tx1"/>
                          </a:solidFill>
                          <a:latin typeface="微软雅黑" panose="020B0503020204020204" charset="-122"/>
                          <a:ea typeface="微软雅黑" panose="020B0503020204020204" charset="-122"/>
                        </a:rPr>
                        <a:t>年下半年因新品较多造成无法及时上线情况较为严重</a:t>
                      </a:r>
                      <a:endParaRPr lang="en-US" altLang="zh-CN" sz="1200" b="0" dirty="0">
                        <a:solidFill>
                          <a:schemeClr val="tx1"/>
                        </a:solidFill>
                        <a:latin typeface="微软雅黑" panose="020B0503020204020204" charset="-122"/>
                        <a:ea typeface="微软雅黑" panose="020B0503020204020204" charset="-122"/>
                      </a:endParaRPr>
                    </a:p>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小挖整体比较稳定，因国际间插单会造成计划波动</a:t>
                      </a:r>
                      <a:endParaRPr lang="en-US" altLang="zh-CN" sz="1200" b="0" dirty="0">
                        <a:solidFill>
                          <a:schemeClr val="tx1"/>
                        </a:solidFill>
                        <a:latin typeface="微软雅黑" panose="020B0503020204020204" charset="-122"/>
                        <a:ea typeface="微软雅黑" panose="020B0503020204020204" charset="-122"/>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Chart 12"/>
          <p:cNvGraphicFramePr/>
          <p:nvPr/>
        </p:nvGraphicFramePr>
        <p:xfrm>
          <a:off x="251520" y="2492896"/>
          <a:ext cx="8568952" cy="2592288"/>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p:cNvSpPr txBox="1"/>
          <p:nvPr/>
        </p:nvSpPr>
        <p:spPr bwMode="auto">
          <a:xfrm>
            <a:off x="365138" y="4869160"/>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zh-CN" altLang="zh-CN" sz="900" i="1" dirty="0">
                <a:solidFill>
                  <a:srgbClr val="000000"/>
                </a:solidFill>
                <a:latin typeface="微软雅黑" panose="020B0503020204020204" charset="-122"/>
                <a:ea typeface="微软雅黑" panose="020B0503020204020204" charset="-122"/>
                <a:cs typeface="微软雅黑" panose="020B0503020204020204" charset="-122"/>
              </a:rPr>
              <a:t>1</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zh-CN" altLang="en-US" sz="900" i="1" dirty="0">
                <a:solidFill>
                  <a:srgbClr val="000000"/>
                </a:solidFill>
                <a:latin typeface="微软雅黑" panose="020B0503020204020204" charset="-122"/>
                <a:ea typeface="微软雅黑" panose="020B0503020204020204" charset="-122"/>
                <a:cs typeface="微软雅黑" panose="020B0503020204020204" charset="-122"/>
              </a:rPr>
              <a:t>3日上线计划准确率</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4"/>
          <p:cNvGraphicFramePr>
            <a:graphicFrameLocks noGrp="1"/>
          </p:cNvGraphicFramePr>
          <p:nvPr/>
        </p:nvGraphicFramePr>
        <p:xfrm>
          <a:off x="215900" y="2128602"/>
          <a:ext cx="8712200" cy="3024198"/>
        </p:xfrm>
        <a:graphic>
          <a:graphicData uri="http://schemas.openxmlformats.org/drawingml/2006/table">
            <a:tbl>
              <a:tblPr/>
              <a:tblGrid>
                <a:gridCol w="8712200">
                  <a:extLst>
                    <a:ext uri="{9D8B030D-6E8A-4147-A177-3AD203B41FA5}">
                      <a16:colId xmlns:a16="http://schemas.microsoft.com/office/drawing/2014/main" val="20000"/>
                    </a:ext>
                  </a:extLst>
                </a:gridCol>
              </a:tblGrid>
              <a:tr h="30478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 name="Group 4"/>
          <p:cNvGraphicFramePr>
            <a:graphicFrameLocks noGrp="1"/>
          </p:cNvGraphicFramePr>
          <p:nvPr/>
        </p:nvGraphicFramePr>
        <p:xfrm>
          <a:off x="215900" y="1142984"/>
          <a:ext cx="8712200" cy="731165"/>
        </p:xfrm>
        <a:graphic>
          <a:graphicData uri="http://schemas.openxmlformats.org/drawingml/2006/table">
            <a:tbl>
              <a:tblPr/>
              <a:tblGrid>
                <a:gridCol w="612014">
                  <a:extLst>
                    <a:ext uri="{9D8B030D-6E8A-4147-A177-3AD203B41FA5}">
                      <a16:colId xmlns:a16="http://schemas.microsoft.com/office/drawing/2014/main" val="20000"/>
                    </a:ext>
                  </a:extLst>
                </a:gridCol>
                <a:gridCol w="8100186">
                  <a:extLst>
                    <a:ext uri="{9D8B030D-6E8A-4147-A177-3AD203B41FA5}">
                      <a16:colId xmlns:a16="http://schemas.microsoft.com/office/drawing/2014/main" val="20001"/>
                    </a:ext>
                  </a:extLst>
                </a:gridCol>
              </a:tblGrid>
              <a:tr h="639763">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交检合格率：小挖开机后</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年或</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2000</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小时内（先到为准）以及中、大挖开机后</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1.5</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年或</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3000</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小时（先到为准）所有的售后质量问题造成的保内故障比率</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计算公式为：保内故障率＝（全年三挖售后保内故障次数加和</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全年</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1-12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月份每月保内台数平均值</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×100%</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 name="Group 103"/>
          <p:cNvGraphicFramePr>
            <a:graphicFrameLocks noGrp="1"/>
          </p:cNvGraphicFramePr>
          <p:nvPr/>
        </p:nvGraphicFramePr>
        <p:xfrm>
          <a:off x="215900" y="5337175"/>
          <a:ext cx="8710613" cy="1044575"/>
        </p:xfrm>
        <a:graphic>
          <a:graphicData uri="http://schemas.openxmlformats.org/drawingml/2006/table">
            <a:tbl>
              <a:tblPr/>
              <a:tblGrid>
                <a:gridCol w="610838">
                  <a:extLst>
                    <a:ext uri="{9D8B030D-6E8A-4147-A177-3AD203B41FA5}">
                      <a16:colId xmlns:a16="http://schemas.microsoft.com/office/drawing/2014/main" val="20000"/>
                    </a:ext>
                  </a:extLst>
                </a:gridCol>
                <a:gridCol w="8099775">
                  <a:extLst>
                    <a:ext uri="{9D8B030D-6E8A-4147-A177-3AD203B41FA5}">
                      <a16:colId xmlns:a16="http://schemas.microsoft.com/office/drawing/2014/main" val="20001"/>
                    </a:ext>
                  </a:extLst>
                </a:gridCol>
              </a:tblGrid>
              <a:tr h="104457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indent="0">
                        <a:lnSpc>
                          <a:spcPct val="150000"/>
                        </a:lnSpc>
                        <a:buFont typeface="+mj-lt"/>
                        <a:buNone/>
                      </a:pPr>
                      <a:r>
                        <a:rPr lang="en-US" altLang="zh-CN" sz="1200" b="0" dirty="0">
                          <a:solidFill>
                            <a:schemeClr val="tx1"/>
                          </a:solidFill>
                          <a:latin typeface="微软雅黑" panose="020B0503020204020204" charset="-122"/>
                          <a:ea typeface="微软雅黑" panose="020B0503020204020204" charset="-122"/>
                        </a:rPr>
                        <a:t>1</a:t>
                      </a:r>
                      <a:r>
                        <a:rPr lang="zh-CN" altLang="en-US" sz="1200" b="0" dirty="0">
                          <a:solidFill>
                            <a:schemeClr val="tx1"/>
                          </a:solidFill>
                          <a:latin typeface="微软雅黑" panose="020B0503020204020204" charset="-122"/>
                          <a:ea typeface="微软雅黑" panose="020B0503020204020204" charset="-122"/>
                        </a:rPr>
                        <a:t>、保内故障率小挖最小，中挖次之，大挖较差</a:t>
                      </a:r>
                      <a:endParaRPr lang="en-US" altLang="zh-CN" sz="1200" b="0" dirty="0">
                        <a:solidFill>
                          <a:schemeClr val="tx1"/>
                        </a:solidFill>
                        <a:latin typeface="微软雅黑" panose="020B0503020204020204" charset="-122"/>
                        <a:ea typeface="微软雅黑" panose="020B0503020204020204" charset="-122"/>
                      </a:endParaRPr>
                    </a:p>
                    <a:p>
                      <a:pPr marL="0" indent="0">
                        <a:lnSpc>
                          <a:spcPct val="150000"/>
                        </a:lnSpc>
                        <a:buFont typeface="+mj-lt"/>
                        <a:buNone/>
                      </a:pPr>
                      <a:r>
                        <a:rPr lang="zh-CN" altLang="zh-CN" sz="1200" b="0" dirty="0">
                          <a:solidFill>
                            <a:schemeClr val="tx1"/>
                          </a:solidFill>
                          <a:latin typeface="微软雅黑" panose="020B0503020204020204" charset="-122"/>
                          <a:ea typeface="微软雅黑" panose="020B0503020204020204" charset="-122"/>
                        </a:rPr>
                        <a:t>2</a:t>
                      </a:r>
                      <a:r>
                        <a:rPr lang="zh-CN" altLang="en-US" sz="1200" b="0" dirty="0">
                          <a:solidFill>
                            <a:schemeClr val="tx1"/>
                          </a:solidFill>
                          <a:latin typeface="微软雅黑" panose="020B0503020204020204" charset="-122"/>
                          <a:ea typeface="微软雅黑" panose="020B0503020204020204" charset="-122"/>
                        </a:rPr>
                        <a:t>、大挖因零部件种类较多，数量较少，变更较多，零部件保内故障率较低</a:t>
                      </a: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 name="Chart 7"/>
          <p:cNvGraphicFramePr/>
          <p:nvPr/>
        </p:nvGraphicFramePr>
        <p:xfrm>
          <a:off x="323528" y="2492896"/>
          <a:ext cx="8568952" cy="2736304"/>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bwMode="auto">
          <a:xfrm>
            <a:off x="251520" y="4926360"/>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zh-CN" altLang="zh-CN" sz="900" i="1" dirty="0">
                <a:solidFill>
                  <a:srgbClr val="000000"/>
                </a:solidFill>
                <a:latin typeface="微软雅黑" panose="020B0503020204020204" charset="-122"/>
                <a:ea typeface="微软雅黑" panose="020B0503020204020204" charset="-122"/>
                <a:cs typeface="微软雅黑" panose="020B0503020204020204" charset="-122"/>
              </a:rPr>
              <a:t>1</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zh-CN" altLang="en-US" sz="900" i="1" dirty="0">
                <a:solidFill>
                  <a:srgbClr val="000000"/>
                </a:solidFill>
                <a:latin typeface="微软雅黑" panose="020B0503020204020204" charset="-122"/>
                <a:ea typeface="微软雅黑" panose="020B0503020204020204" charset="-122"/>
                <a:cs typeface="微软雅黑" panose="020B0503020204020204" charset="-122"/>
              </a:rPr>
              <a:t>保内故障率</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Title 1"/>
          <p:cNvSpPr txBox="1"/>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p>
            <a:pPr lvl="0" eaLnBrk="0" fontAlgn="base" hangingPunct="0">
              <a:lnSpc>
                <a:spcPct val="90000"/>
              </a:lnSpc>
              <a:spcBef>
                <a:spcPct val="0"/>
              </a:spcBef>
              <a:spcAft>
                <a:spcPct val="0"/>
              </a:spcAft>
            </a:pPr>
            <a:r>
              <a:rPr lang="zh-CN" altLang="en-US" sz="2000" b="1" kern="0" dirty="0">
                <a:solidFill>
                  <a:srgbClr val="0066FF"/>
                </a:solidFill>
                <a:latin typeface="微软雅黑" panose="020B0503020204020204" charset="-122"/>
                <a:ea typeface="微软雅黑" panose="020B0503020204020204" charset="-122"/>
                <a:cs typeface="+mj-cs"/>
              </a:rPr>
              <a:t>保内故障率</a:t>
            </a:r>
            <a:endParaRPr kumimoji="0" lang="en-US" altLang="zh-CN" sz="2000" b="1" i="0" u="none" strike="noStrike" kern="0" cap="none" spc="0" normalizeH="0" baseline="0" noProof="0" dirty="0">
              <a:ln>
                <a:noFill/>
              </a:ln>
              <a:solidFill>
                <a:srgbClr val="0066FF"/>
              </a:solidFill>
              <a:effectLst/>
              <a:uLnTx/>
              <a:uFillTx/>
              <a:latin typeface="微软雅黑" panose="020B0503020204020204" charset="-122"/>
              <a:ea typeface="微软雅黑" panose="020B0503020204020204" charset="-122"/>
              <a:cs typeface="+mj-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4"/>
          <p:cNvGraphicFramePr>
            <a:graphicFrameLocks noGrp="1"/>
          </p:cNvGraphicFramePr>
          <p:nvPr/>
        </p:nvGraphicFramePr>
        <p:xfrm>
          <a:off x="215900" y="2128602"/>
          <a:ext cx="8712200" cy="3024198"/>
        </p:xfrm>
        <a:graphic>
          <a:graphicData uri="http://schemas.openxmlformats.org/drawingml/2006/table">
            <a:tbl>
              <a:tblPr/>
              <a:tblGrid>
                <a:gridCol w="8712200">
                  <a:extLst>
                    <a:ext uri="{9D8B030D-6E8A-4147-A177-3AD203B41FA5}">
                      <a16:colId xmlns:a16="http://schemas.microsoft.com/office/drawing/2014/main" val="20000"/>
                    </a:ext>
                  </a:extLst>
                </a:gridCol>
              </a:tblGrid>
              <a:tr h="30478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 name="Group 4"/>
          <p:cNvGraphicFramePr>
            <a:graphicFrameLocks noGrp="1"/>
          </p:cNvGraphicFramePr>
          <p:nvPr/>
        </p:nvGraphicFramePr>
        <p:xfrm>
          <a:off x="215900" y="1142984"/>
          <a:ext cx="8712200" cy="731165"/>
        </p:xfrm>
        <a:graphic>
          <a:graphicData uri="http://schemas.openxmlformats.org/drawingml/2006/table">
            <a:tbl>
              <a:tblPr/>
              <a:tblGrid>
                <a:gridCol w="612014">
                  <a:extLst>
                    <a:ext uri="{9D8B030D-6E8A-4147-A177-3AD203B41FA5}">
                      <a16:colId xmlns:a16="http://schemas.microsoft.com/office/drawing/2014/main" val="20000"/>
                    </a:ext>
                  </a:extLst>
                </a:gridCol>
                <a:gridCol w="8100186">
                  <a:extLst>
                    <a:ext uri="{9D8B030D-6E8A-4147-A177-3AD203B41FA5}">
                      <a16:colId xmlns:a16="http://schemas.microsoft.com/office/drawing/2014/main" val="20001"/>
                    </a:ext>
                  </a:extLst>
                </a:gridCol>
              </a:tblGrid>
              <a:tr h="639763">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生产线可动率：</a:t>
                      </a:r>
                      <a:r>
                        <a:rPr lang="zh-CN" altLang="en-US" sz="1200" dirty="0">
                          <a:latin typeface="微软雅黑" panose="020B0503020204020204" charset="-122"/>
                          <a:ea typeface="微软雅黑" panose="020B0503020204020204" charset="-122"/>
                        </a:rPr>
                        <a:t>反应生产线的实际运转效率</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计算公式为：保内故障率＝</a:t>
                      </a:r>
                      <a:r>
                        <a:rPr lang="zh-CN" altLang="en-US" sz="1200" dirty="0">
                          <a:latin typeface="微软雅黑" panose="020B0503020204020204" charset="-122"/>
                          <a:ea typeface="微软雅黑" panose="020B0503020204020204" charset="-122"/>
                        </a:rPr>
                        <a:t>生产线的实际工作时间</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总工作时间</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*100%</a:t>
                      </a: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None/>
                        <a:defRPr/>
                      </a:pPr>
                      <a:r>
                        <a:rPr lang="zh-CN" altLang="en-US" sz="1200" dirty="0">
                          <a:latin typeface="微软雅黑" panose="020B0503020204020204" charset="-122"/>
                          <a:ea typeface="微软雅黑" panose="020B0503020204020204" charset="-122"/>
                        </a:rPr>
                        <a:t>＊受限于数据统计问题，中挖以组装部回转平台生产线为样本；大挖以组装车间为样本</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 name="Group 103"/>
          <p:cNvGraphicFramePr>
            <a:graphicFrameLocks noGrp="1"/>
          </p:cNvGraphicFramePr>
          <p:nvPr/>
        </p:nvGraphicFramePr>
        <p:xfrm>
          <a:off x="215900" y="5337175"/>
          <a:ext cx="8710613" cy="1156439"/>
        </p:xfrm>
        <a:graphic>
          <a:graphicData uri="http://schemas.openxmlformats.org/drawingml/2006/table">
            <a:tbl>
              <a:tblPr/>
              <a:tblGrid>
                <a:gridCol w="610838">
                  <a:extLst>
                    <a:ext uri="{9D8B030D-6E8A-4147-A177-3AD203B41FA5}">
                      <a16:colId xmlns:a16="http://schemas.microsoft.com/office/drawing/2014/main" val="20000"/>
                    </a:ext>
                  </a:extLst>
                </a:gridCol>
                <a:gridCol w="8099775">
                  <a:extLst>
                    <a:ext uri="{9D8B030D-6E8A-4147-A177-3AD203B41FA5}">
                      <a16:colId xmlns:a16="http://schemas.microsoft.com/office/drawing/2014/main" val="20001"/>
                    </a:ext>
                  </a:extLst>
                </a:gridCol>
              </a:tblGrid>
              <a:tr h="104457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大、中、小挖对生产线实际运转效率的指标无统一的维度评价考核，数据准确性也不高</a:t>
                      </a:r>
                      <a:endParaRPr lang="en-US" altLang="zh-CN" sz="1200" b="0" dirty="0">
                        <a:solidFill>
                          <a:schemeClr val="tx1"/>
                        </a:solidFill>
                        <a:latin typeface="微软雅黑" panose="020B0503020204020204" charset="-122"/>
                        <a:ea typeface="微软雅黑" panose="020B0503020204020204" charset="-122"/>
                      </a:endParaRPr>
                    </a:p>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大挖以组装车间损失总工时为样本，由于大挖整体是边来件边生产，可动率较高，实际生产效率受缺件及变更影响较大</a:t>
                      </a:r>
                      <a:endParaRPr lang="en-US" altLang="zh-CN" sz="1200" b="0" dirty="0">
                        <a:solidFill>
                          <a:schemeClr val="tx1"/>
                        </a:solidFill>
                        <a:latin typeface="微软雅黑" panose="020B0503020204020204" charset="-122"/>
                        <a:ea typeface="微软雅黑" panose="020B0503020204020204" charset="-122"/>
                      </a:endParaRPr>
                    </a:p>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受限于数据提取问题，中挖以组装部回转平台生产线停线时间为样本，存在平均</a:t>
                      </a:r>
                      <a:r>
                        <a:rPr lang="en-US" altLang="zh-CN" sz="1200" b="0" dirty="0">
                          <a:solidFill>
                            <a:schemeClr val="tx1"/>
                          </a:solidFill>
                          <a:latin typeface="微软雅黑" panose="020B0503020204020204" charset="-122"/>
                          <a:ea typeface="微软雅黑" panose="020B0503020204020204" charset="-122"/>
                        </a:rPr>
                        <a:t>30%</a:t>
                      </a:r>
                      <a:r>
                        <a:rPr lang="zh-CN" altLang="en-US" sz="1200" b="0" dirty="0">
                          <a:solidFill>
                            <a:schemeClr val="tx1"/>
                          </a:solidFill>
                          <a:latin typeface="微软雅黑" panose="020B0503020204020204" charset="-122"/>
                          <a:ea typeface="微软雅黑" panose="020B0503020204020204" charset="-122"/>
                        </a:rPr>
                        <a:t>左右的效率损失</a:t>
                      </a:r>
                      <a:endParaRPr lang="en-US" altLang="zh-CN" sz="1200" b="0" dirty="0">
                        <a:solidFill>
                          <a:schemeClr val="tx1"/>
                        </a:solidFill>
                        <a:latin typeface="微软雅黑" panose="020B0503020204020204" charset="-122"/>
                        <a:ea typeface="微软雅黑" panose="020B0503020204020204" charset="-122"/>
                      </a:endParaRPr>
                    </a:p>
                  </a:txBody>
                  <a:tcPr marL="91437" marR="91437" marT="45740" marB="45740"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 name="TextBox 9"/>
          <p:cNvSpPr txBox="1"/>
          <p:nvPr/>
        </p:nvSpPr>
        <p:spPr bwMode="auto">
          <a:xfrm>
            <a:off x="251520" y="4926360"/>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zh-CN" altLang="zh-CN" sz="900" i="1" dirty="0">
                <a:solidFill>
                  <a:srgbClr val="000000"/>
                </a:solidFill>
                <a:latin typeface="微软雅黑" panose="020B0503020204020204" charset="-122"/>
                <a:ea typeface="微软雅黑" panose="020B0503020204020204" charset="-122"/>
                <a:cs typeface="微软雅黑" panose="020B0503020204020204" charset="-122"/>
              </a:rPr>
              <a:t>6</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zh-CN" altLang="en-US" sz="900" i="1" dirty="0">
                <a:solidFill>
                  <a:srgbClr val="000000"/>
                </a:solidFill>
                <a:latin typeface="微软雅黑" panose="020B0503020204020204" charset="-122"/>
                <a:ea typeface="微软雅黑" panose="020B0503020204020204" charset="-122"/>
                <a:cs typeface="微软雅黑" panose="020B0503020204020204" charset="-122"/>
              </a:rPr>
              <a:t>大挖损失工时、大挖停线时间数据</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graphicFrame>
        <p:nvGraphicFramePr>
          <p:cNvPr id="13" name="Chart 12"/>
          <p:cNvGraphicFramePr/>
          <p:nvPr/>
        </p:nvGraphicFramePr>
        <p:xfrm>
          <a:off x="323528" y="2348880"/>
          <a:ext cx="4536504" cy="25922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p:cNvGraphicFramePr/>
          <p:nvPr/>
        </p:nvGraphicFramePr>
        <p:xfrm>
          <a:off x="4644008" y="2420888"/>
          <a:ext cx="4283968" cy="2592288"/>
        </p:xfrm>
        <a:graphic>
          <a:graphicData uri="http://schemas.openxmlformats.org/drawingml/2006/chart">
            <c:chart xmlns:c="http://schemas.openxmlformats.org/drawingml/2006/chart" xmlns:r="http://schemas.openxmlformats.org/officeDocument/2006/relationships" r:id="rId3"/>
          </a:graphicData>
        </a:graphic>
      </p:graphicFrame>
      <p:sp>
        <p:nvSpPr>
          <p:cNvPr id="9" name="标题 8"/>
          <p:cNvSpPr>
            <a:spLocks noGrp="1"/>
          </p:cNvSpPr>
          <p:nvPr>
            <p:ph type="title" idx="4294967295"/>
          </p:nvPr>
        </p:nvSpPr>
        <p:spPr>
          <a:xfrm>
            <a:off x="162000" y="593725"/>
            <a:ext cx="8820000" cy="695325"/>
          </a:xfrm>
        </p:spPr>
        <p:txBody>
          <a:bodyPr/>
          <a:lstStyle/>
          <a:p>
            <a:r>
              <a:rPr lang="zh-CN" altLang="en-US" dirty="0"/>
              <a:t>生产线可动率</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4"/>
          <p:cNvGraphicFramePr>
            <a:graphicFrameLocks noGrp="1"/>
          </p:cNvGraphicFramePr>
          <p:nvPr/>
        </p:nvGraphicFramePr>
        <p:xfrm>
          <a:off x="215900" y="2416634"/>
          <a:ext cx="8712200" cy="3024198"/>
        </p:xfrm>
        <a:graphic>
          <a:graphicData uri="http://schemas.openxmlformats.org/drawingml/2006/table">
            <a:tbl>
              <a:tblPr/>
              <a:tblGrid>
                <a:gridCol w="8712200">
                  <a:extLst>
                    <a:ext uri="{9D8B030D-6E8A-4147-A177-3AD203B41FA5}">
                      <a16:colId xmlns:a16="http://schemas.microsoft.com/office/drawing/2014/main" val="20000"/>
                    </a:ext>
                  </a:extLst>
                </a:gridCol>
              </a:tblGrid>
              <a:tr h="30478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 name="Group 4"/>
          <p:cNvGraphicFramePr>
            <a:graphicFrameLocks noGrp="1"/>
          </p:cNvGraphicFramePr>
          <p:nvPr/>
        </p:nvGraphicFramePr>
        <p:xfrm>
          <a:off x="215900" y="1142984"/>
          <a:ext cx="8712200" cy="1170077"/>
        </p:xfrm>
        <a:graphic>
          <a:graphicData uri="http://schemas.openxmlformats.org/drawingml/2006/table">
            <a:tbl>
              <a:tblPr/>
              <a:tblGrid>
                <a:gridCol w="612014">
                  <a:extLst>
                    <a:ext uri="{9D8B030D-6E8A-4147-A177-3AD203B41FA5}">
                      <a16:colId xmlns:a16="http://schemas.microsoft.com/office/drawing/2014/main" val="20000"/>
                    </a:ext>
                  </a:extLst>
                </a:gridCol>
                <a:gridCol w="8100186">
                  <a:extLst>
                    <a:ext uri="{9D8B030D-6E8A-4147-A177-3AD203B41FA5}">
                      <a16:colId xmlns:a16="http://schemas.microsoft.com/office/drawing/2014/main" val="20001"/>
                    </a:ext>
                  </a:extLst>
                </a:gridCol>
              </a:tblGrid>
              <a:tr h="639763">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停线时间（缺件／质量）：</a:t>
                      </a:r>
                      <a:r>
                        <a:rPr lang="zh-CN" altLang="en-US" sz="1200" dirty="0">
                          <a:latin typeface="微软雅黑" panose="020B0503020204020204" charset="-122"/>
                          <a:ea typeface="微软雅黑" panose="020B0503020204020204" charset="-122"/>
                        </a:rPr>
                        <a:t>反应外购件缺件</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质量问题导致停线的时间</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计算公式为：停线时间（缺件</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质量）＝因外购件质量及缺件原因导致的停线时间之和</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None/>
                        <a:defRPr/>
                      </a:pPr>
                      <a:r>
                        <a:rPr lang="zh-CN" altLang="en-US" sz="1200" dirty="0">
                          <a:latin typeface="微软雅黑" panose="020B0503020204020204" charset="-122"/>
                          <a:ea typeface="微软雅黑" panose="020B0503020204020204" charset="-122"/>
                        </a:rPr>
                        <a:t>＊受限于数据统计问题，中挖以组装部回转平台生产线为样本，中挖以停线时间（小时）统计；</a:t>
                      </a:r>
                      <a:endParaRPr lang="en-US" altLang="zh-CN" sz="1200" dirty="0">
                        <a:latin typeface="微软雅黑" panose="020B0503020204020204" charset="-122"/>
                        <a:ea typeface="微软雅黑" panose="020B0503020204020204" charset="-122"/>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None/>
                        <a:defRPr/>
                      </a:pP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大挖以组装车间为样本，计算外购件造成的损失总工时，因某一工序导致的其他工序停线时间未计算在内</a:t>
                      </a:r>
                      <a:endParaRPr lang="en-US" altLang="zh-CN" sz="1200" dirty="0">
                        <a:latin typeface="微软雅黑" panose="020B0503020204020204" charset="-122"/>
                        <a:ea typeface="微软雅黑" panose="020B0503020204020204" charset="-122"/>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None/>
                        <a:defRPr/>
                      </a:pPr>
                      <a:r>
                        <a:rPr lang="zh-CN" altLang="zh-CN" sz="1200" dirty="0">
                          <a:latin typeface="微软雅黑" panose="020B0503020204020204" charset="-122"/>
                          <a:ea typeface="微软雅黑" panose="020B0503020204020204" charset="-122"/>
                        </a:rPr>
                        <a:t>＊</a:t>
                      </a:r>
                      <a:r>
                        <a:rPr lang="zh-CN" altLang="en-US" sz="1200" baseline="0" dirty="0">
                          <a:latin typeface="微软雅黑" panose="020B0503020204020204" charset="-122"/>
                          <a:ea typeface="微软雅黑" panose="020B0503020204020204" charset="-122"/>
                        </a:rPr>
                        <a:t>上线后未到料视为缺件；</a:t>
                      </a:r>
                      <a:endParaRPr lang="zh-CN" altLang="en-US" sz="1200" dirty="0">
                        <a:latin typeface="微软雅黑" panose="020B0503020204020204" charset="-122"/>
                        <a:ea typeface="微软雅黑" panose="020B0503020204020204" charset="-122"/>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 name="Group 103"/>
          <p:cNvGraphicFramePr>
            <a:graphicFrameLocks noGrp="1"/>
          </p:cNvGraphicFramePr>
          <p:nvPr/>
        </p:nvGraphicFramePr>
        <p:xfrm>
          <a:off x="215900" y="5517232"/>
          <a:ext cx="8710613" cy="1156439"/>
        </p:xfrm>
        <a:graphic>
          <a:graphicData uri="http://schemas.openxmlformats.org/drawingml/2006/table">
            <a:tbl>
              <a:tblPr/>
              <a:tblGrid>
                <a:gridCol w="610838">
                  <a:extLst>
                    <a:ext uri="{9D8B030D-6E8A-4147-A177-3AD203B41FA5}">
                      <a16:colId xmlns:a16="http://schemas.microsoft.com/office/drawing/2014/main" val="20000"/>
                    </a:ext>
                  </a:extLst>
                </a:gridCol>
                <a:gridCol w="8099775">
                  <a:extLst>
                    <a:ext uri="{9D8B030D-6E8A-4147-A177-3AD203B41FA5}">
                      <a16:colId xmlns:a16="http://schemas.microsoft.com/office/drawing/2014/main" val="20001"/>
                    </a:ext>
                  </a:extLst>
                </a:gridCol>
              </a:tblGrid>
              <a:tr h="1080121">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中挖回转平台生产线</a:t>
                      </a:r>
                      <a:r>
                        <a:rPr lang="en-US" altLang="zh-CN" sz="1200" b="0" dirty="0">
                          <a:solidFill>
                            <a:schemeClr val="tx1"/>
                          </a:solidFill>
                          <a:latin typeface="微软雅黑" panose="020B0503020204020204" charset="-122"/>
                          <a:ea typeface="微软雅黑" panose="020B0503020204020204" charset="-122"/>
                        </a:rPr>
                        <a:t>2015</a:t>
                      </a:r>
                      <a:r>
                        <a:rPr lang="zh-CN" altLang="en-US" sz="1200" b="0" dirty="0">
                          <a:solidFill>
                            <a:schemeClr val="tx1"/>
                          </a:solidFill>
                          <a:latin typeface="微软雅黑" panose="020B0503020204020204" charset="-122"/>
                          <a:ea typeface="微软雅黑" panose="020B0503020204020204" charset="-122"/>
                        </a:rPr>
                        <a:t>年</a:t>
                      </a:r>
                      <a:r>
                        <a:rPr lang="en-US" altLang="zh-CN" sz="1200" b="0" dirty="0">
                          <a:solidFill>
                            <a:schemeClr val="tx1"/>
                          </a:solidFill>
                          <a:latin typeface="微软雅黑" panose="020B0503020204020204" charset="-122"/>
                          <a:ea typeface="微软雅黑" panose="020B0503020204020204" charset="-122"/>
                        </a:rPr>
                        <a:t>2H</a:t>
                      </a:r>
                      <a:r>
                        <a:rPr lang="zh-CN" altLang="en-US" sz="1200" b="0" dirty="0">
                          <a:solidFill>
                            <a:schemeClr val="tx1"/>
                          </a:solidFill>
                          <a:latin typeface="微软雅黑" panose="020B0503020204020204" charset="-122"/>
                          <a:ea typeface="微软雅黑" panose="020B0503020204020204" charset="-122"/>
                        </a:rPr>
                        <a:t>总停线时间为</a:t>
                      </a:r>
                      <a:r>
                        <a:rPr lang="en-US" altLang="zh-CN" sz="1200" b="0" dirty="0">
                          <a:solidFill>
                            <a:schemeClr val="tx1"/>
                          </a:solidFill>
                          <a:latin typeface="微软雅黑" panose="020B0503020204020204" charset="-122"/>
                          <a:ea typeface="微软雅黑" panose="020B0503020204020204" charset="-122"/>
                        </a:rPr>
                        <a:t>377</a:t>
                      </a:r>
                      <a:r>
                        <a:rPr lang="zh-CN" altLang="en-US" sz="1200" b="0" dirty="0">
                          <a:solidFill>
                            <a:schemeClr val="tx1"/>
                          </a:solidFill>
                          <a:latin typeface="微软雅黑" panose="020B0503020204020204" charset="-122"/>
                          <a:ea typeface="微软雅黑" panose="020B0503020204020204" charset="-122"/>
                        </a:rPr>
                        <a:t>小时，其中外购件缺件及质量问题约占</a:t>
                      </a:r>
                      <a:r>
                        <a:rPr lang="en-US" altLang="zh-CN" sz="1200" b="0" dirty="0">
                          <a:solidFill>
                            <a:schemeClr val="tx1"/>
                          </a:solidFill>
                          <a:latin typeface="微软雅黑" panose="020B0503020204020204" charset="-122"/>
                          <a:ea typeface="微软雅黑" panose="020B0503020204020204" charset="-122"/>
                        </a:rPr>
                        <a:t>369</a:t>
                      </a:r>
                      <a:r>
                        <a:rPr lang="zh-CN" altLang="en-US" sz="1200" b="0" dirty="0">
                          <a:solidFill>
                            <a:schemeClr val="tx1"/>
                          </a:solidFill>
                          <a:latin typeface="微软雅黑" panose="020B0503020204020204" charset="-122"/>
                          <a:ea typeface="微软雅黑" panose="020B0503020204020204" charset="-122"/>
                        </a:rPr>
                        <a:t>个小时，是影响生产线效率损失的最主要的原因；其次是结构件问题（因某一工序导致的其他工序停线也计算在内）</a:t>
                      </a:r>
                      <a:endParaRPr lang="en-US" altLang="zh-CN" sz="1200" b="0" dirty="0">
                        <a:solidFill>
                          <a:schemeClr val="tx1"/>
                        </a:solidFill>
                        <a:latin typeface="微软雅黑" panose="020B0503020204020204" charset="-122"/>
                        <a:ea typeface="微软雅黑" panose="020B0503020204020204" charset="-122"/>
                      </a:endParaRPr>
                    </a:p>
                    <a:p>
                      <a:pPr marL="228600" marR="0" lvl="0" indent="-228600" algn="l" defTabSz="914400" rtl="0" eaLnBrk="1" fontAlgn="auto" latinLnBrk="0" hangingPunct="1">
                        <a:lnSpc>
                          <a:spcPct val="150000"/>
                        </a:lnSpc>
                        <a:spcBef>
                          <a:spcPts val="0"/>
                        </a:spcBef>
                        <a:spcAft>
                          <a:spcPts val="0"/>
                        </a:spcAft>
                        <a:buClrTx/>
                        <a:buSzTx/>
                        <a:buFont typeface="+mj-lt"/>
                        <a:buAutoNum type="arabicPeriod"/>
                        <a:defRPr/>
                      </a:pPr>
                      <a:r>
                        <a:rPr lang="zh-CN" altLang="en-US" sz="1200" b="0" dirty="0">
                          <a:solidFill>
                            <a:schemeClr val="tx1"/>
                          </a:solidFill>
                          <a:latin typeface="微软雅黑" panose="020B0503020204020204" charset="-122"/>
                          <a:ea typeface="微软雅黑" panose="020B0503020204020204" charset="-122"/>
                        </a:rPr>
                        <a:t>大挖组装车间</a:t>
                      </a:r>
                      <a:r>
                        <a:rPr lang="en-US" altLang="zh-CN" sz="1200" b="0" dirty="0">
                          <a:solidFill>
                            <a:schemeClr val="tx1"/>
                          </a:solidFill>
                          <a:latin typeface="微软雅黑" panose="020B0503020204020204" charset="-122"/>
                          <a:ea typeface="微软雅黑" panose="020B0503020204020204" charset="-122"/>
                        </a:rPr>
                        <a:t>2015</a:t>
                      </a:r>
                      <a:r>
                        <a:rPr lang="zh-CN" altLang="en-US" sz="1200" b="0" dirty="0">
                          <a:solidFill>
                            <a:schemeClr val="tx1"/>
                          </a:solidFill>
                          <a:latin typeface="微软雅黑" panose="020B0503020204020204" charset="-122"/>
                          <a:ea typeface="微软雅黑" panose="020B0503020204020204" charset="-122"/>
                        </a:rPr>
                        <a:t>年</a:t>
                      </a:r>
                      <a:r>
                        <a:rPr lang="en-US" altLang="zh-CN" sz="1200" b="0" dirty="0">
                          <a:solidFill>
                            <a:schemeClr val="tx1"/>
                          </a:solidFill>
                          <a:latin typeface="微软雅黑" panose="020B0503020204020204" charset="-122"/>
                          <a:ea typeface="微软雅黑" panose="020B0503020204020204" charset="-122"/>
                        </a:rPr>
                        <a:t>2H</a:t>
                      </a:r>
                      <a:r>
                        <a:rPr lang="zh-CN" altLang="en-US" sz="1200" b="0" dirty="0">
                          <a:solidFill>
                            <a:schemeClr val="tx1"/>
                          </a:solidFill>
                          <a:latin typeface="微软雅黑" panose="020B0503020204020204" charset="-122"/>
                          <a:ea typeface="微软雅黑" panose="020B0503020204020204" charset="-122"/>
                        </a:rPr>
                        <a:t>损失总工时为</a:t>
                      </a:r>
                      <a:r>
                        <a:rPr lang="en-US" altLang="zh-CN" sz="1200" b="0" dirty="0">
                          <a:solidFill>
                            <a:schemeClr val="tx1"/>
                          </a:solidFill>
                          <a:latin typeface="微软雅黑" panose="020B0503020204020204" charset="-122"/>
                          <a:ea typeface="微软雅黑" panose="020B0503020204020204" charset="-122"/>
                        </a:rPr>
                        <a:t>221260</a:t>
                      </a:r>
                      <a:r>
                        <a:rPr lang="zh-CN" altLang="en-US" sz="1200" b="0" dirty="0">
                          <a:solidFill>
                            <a:schemeClr val="tx1"/>
                          </a:solidFill>
                          <a:latin typeface="微软雅黑" panose="020B0503020204020204" charset="-122"/>
                          <a:ea typeface="微软雅黑" panose="020B0503020204020204" charset="-122"/>
                        </a:rPr>
                        <a:t>小时＊人，其中外购件缺件及质量问题约占</a:t>
                      </a:r>
                      <a:r>
                        <a:rPr lang="zh-CN" altLang="zh-CN" sz="1200" b="0" dirty="0">
                          <a:solidFill>
                            <a:schemeClr val="tx1"/>
                          </a:solidFill>
                          <a:latin typeface="微软雅黑" panose="020B0503020204020204" charset="-122"/>
                          <a:ea typeface="微软雅黑" panose="020B0503020204020204" charset="-122"/>
                        </a:rPr>
                        <a:t>2</a:t>
                      </a:r>
                      <a:r>
                        <a:rPr lang="en-US" altLang="zh-CN" sz="1200" b="0" dirty="0">
                          <a:solidFill>
                            <a:schemeClr val="tx1"/>
                          </a:solidFill>
                          <a:latin typeface="微软雅黑" panose="020B0503020204020204" charset="-122"/>
                          <a:ea typeface="微软雅黑" panose="020B0503020204020204" charset="-122"/>
                        </a:rPr>
                        <a:t>364</a:t>
                      </a:r>
                      <a:r>
                        <a:rPr lang="zh-CN" altLang="en-US" sz="1200" b="0" dirty="0">
                          <a:solidFill>
                            <a:schemeClr val="tx1"/>
                          </a:solidFill>
                          <a:latin typeface="微软雅黑" panose="020B0503020204020204" charset="-122"/>
                          <a:ea typeface="微软雅黑" panose="020B0503020204020204" charset="-122"/>
                        </a:rPr>
                        <a:t>个小时＊人；是影响生产线效率损失的最主要的原因；其次是结构件问题（</a:t>
                      </a:r>
                      <a:r>
                        <a:rPr lang="zh-CN" altLang="en-US" sz="1200" dirty="0">
                          <a:latin typeface="微软雅黑" panose="020B0503020204020204" charset="-122"/>
                          <a:ea typeface="微软雅黑" panose="020B0503020204020204" charset="-122"/>
                        </a:rPr>
                        <a:t>因某一工序导致的其他工序停线时间未计算在内</a:t>
                      </a:r>
                      <a:r>
                        <a:rPr lang="zh-CN" altLang="zh-CN" sz="1200" dirty="0">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endParaRPr>
                    </a:p>
                  </a:txBody>
                  <a:tcPr marL="91437" marR="91437" marT="45740" marB="45740"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9" name="TextBox 18"/>
          <p:cNvSpPr txBox="1"/>
          <p:nvPr/>
        </p:nvSpPr>
        <p:spPr bwMode="auto">
          <a:xfrm>
            <a:off x="179512" y="4613066"/>
            <a:ext cx="864096" cy="400110"/>
          </a:xfrm>
          <a:prstGeom prst="rect">
            <a:avLst/>
          </a:prstGeom>
          <a:noFill/>
          <a:ln>
            <a:noFill/>
          </a:ln>
        </p:spPr>
        <p:txBody>
          <a:bodyPr wrap="square" rtlCol="0">
            <a:spAutoFit/>
          </a:bodyPr>
          <a:lstStyle/>
          <a:p>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挖</a:t>
            </a: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停线时间</a:t>
            </a: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（小时）</a:t>
            </a:r>
            <a:endParaRPr kumimoji="1" lang="en-US" sz="1000" b="0" dirty="0">
              <a:solidFill>
                <a:srgbClr val="000000"/>
              </a:solidFill>
              <a:latin typeface="微软雅黑" panose="020B0503020204020204" charset="-122"/>
              <a:ea typeface="微软雅黑" panose="020B0503020204020204" charset="-122"/>
              <a:cs typeface="微软雅黑" panose="020B0503020204020204" charset="-122"/>
            </a:endParaRPr>
          </a:p>
        </p:txBody>
      </p:sp>
      <p:graphicFrame>
        <p:nvGraphicFramePr>
          <p:cNvPr id="14" name="Chart 13"/>
          <p:cNvGraphicFramePr/>
          <p:nvPr/>
        </p:nvGraphicFramePr>
        <p:xfrm>
          <a:off x="467544" y="2708920"/>
          <a:ext cx="4248472" cy="27363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Chart 15"/>
          <p:cNvGraphicFramePr/>
          <p:nvPr/>
        </p:nvGraphicFramePr>
        <p:xfrm>
          <a:off x="4932040" y="2708920"/>
          <a:ext cx="3888432" cy="2592288"/>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bwMode="auto">
          <a:xfrm>
            <a:off x="4499992" y="4531186"/>
            <a:ext cx="864096" cy="553998"/>
          </a:xfrm>
          <a:prstGeom prst="rect">
            <a:avLst/>
          </a:prstGeom>
          <a:noFill/>
          <a:ln>
            <a:noFill/>
          </a:ln>
        </p:spPr>
        <p:txBody>
          <a:bodyPr wrap="square" rtlCol="0">
            <a:spAutoFit/>
          </a:bodyPr>
          <a:lstStyle/>
          <a:p>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大挖损失</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总工时</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（小时＊人）</a:t>
            </a:r>
            <a:endParaRPr kumimoji="1" lang="en-US" sz="10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bwMode="auto">
          <a:xfrm>
            <a:off x="251520" y="5214392"/>
            <a:ext cx="597666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zh-CN" altLang="zh-CN" sz="900" i="1" dirty="0">
                <a:solidFill>
                  <a:srgbClr val="000000"/>
                </a:solidFill>
                <a:latin typeface="微软雅黑" panose="020B0503020204020204" charset="-122"/>
                <a:ea typeface="微软雅黑" panose="020B0503020204020204" charset="-122"/>
                <a:cs typeface="微软雅黑" panose="020B0503020204020204" charset="-122"/>
              </a:rPr>
              <a:t>6</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zh-CN" altLang="en-US" sz="900" i="1" dirty="0">
                <a:solidFill>
                  <a:srgbClr val="000000"/>
                </a:solidFill>
                <a:latin typeface="微软雅黑" panose="020B0503020204020204" charset="-122"/>
                <a:ea typeface="微软雅黑" panose="020B0503020204020204" charset="-122"/>
                <a:cs typeface="微软雅黑" panose="020B0503020204020204" charset="-122"/>
              </a:rPr>
              <a:t>大挖组装部损失工时、中挖回转平台生产线停线时间数据</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标题 10"/>
          <p:cNvSpPr>
            <a:spLocks noGrp="1"/>
          </p:cNvSpPr>
          <p:nvPr>
            <p:ph type="title" idx="4294967295"/>
          </p:nvPr>
        </p:nvSpPr>
        <p:spPr>
          <a:xfrm>
            <a:off x="162000" y="593725"/>
            <a:ext cx="8820000" cy="695325"/>
          </a:xfrm>
        </p:spPr>
        <p:txBody>
          <a:bodyPr/>
          <a:lstStyle/>
          <a:p>
            <a:r>
              <a:rPr lang="zh-CN" altLang="en-US" dirty="0"/>
              <a:t>停线时间（缺件</a:t>
            </a:r>
            <a:r>
              <a:rPr dirty="0"/>
              <a:t>/</a:t>
            </a:r>
            <a:r>
              <a:rPr lang="zh-CN" altLang="en-US" dirty="0"/>
              <a:t>质量）</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2000" y="593725"/>
            <a:ext cx="8820000" cy="695325"/>
          </a:xfrm>
        </p:spPr>
        <p:txBody>
          <a:bodyPr/>
          <a:lstStyle/>
          <a:p>
            <a:r>
              <a:rPr lang="zh-CN" altLang="en-US" dirty="0"/>
              <a:t>生产计划完成率</a:t>
            </a:r>
            <a:endParaRPr lang="en-US" altLang="zh-CN" dirty="0"/>
          </a:p>
        </p:txBody>
      </p:sp>
      <p:graphicFrame>
        <p:nvGraphicFramePr>
          <p:cNvPr id="8" name="Group 4"/>
          <p:cNvGraphicFramePr>
            <a:graphicFrameLocks noGrp="1"/>
          </p:cNvGraphicFramePr>
          <p:nvPr/>
        </p:nvGraphicFramePr>
        <p:xfrm>
          <a:off x="215900" y="2128602"/>
          <a:ext cx="8712200" cy="3024198"/>
        </p:xfrm>
        <a:graphic>
          <a:graphicData uri="http://schemas.openxmlformats.org/drawingml/2006/table">
            <a:tbl>
              <a:tblPr/>
              <a:tblGrid>
                <a:gridCol w="8712200">
                  <a:extLst>
                    <a:ext uri="{9D8B030D-6E8A-4147-A177-3AD203B41FA5}">
                      <a16:colId xmlns:a16="http://schemas.microsoft.com/office/drawing/2014/main" val="20000"/>
                    </a:ext>
                  </a:extLst>
                </a:gridCol>
              </a:tblGrid>
              <a:tr h="30478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 name="Group 4"/>
          <p:cNvGraphicFramePr>
            <a:graphicFrameLocks noGrp="1"/>
          </p:cNvGraphicFramePr>
          <p:nvPr/>
        </p:nvGraphicFramePr>
        <p:xfrm>
          <a:off x="215900" y="1142984"/>
          <a:ext cx="8712200" cy="639763"/>
        </p:xfrm>
        <a:graphic>
          <a:graphicData uri="http://schemas.openxmlformats.org/drawingml/2006/table">
            <a:tbl>
              <a:tblPr/>
              <a:tblGrid>
                <a:gridCol w="612014">
                  <a:extLst>
                    <a:ext uri="{9D8B030D-6E8A-4147-A177-3AD203B41FA5}">
                      <a16:colId xmlns:a16="http://schemas.microsoft.com/office/drawing/2014/main" val="20000"/>
                    </a:ext>
                  </a:extLst>
                </a:gridCol>
                <a:gridCol w="8100186">
                  <a:extLst>
                    <a:ext uri="{9D8B030D-6E8A-4147-A177-3AD203B41FA5}">
                      <a16:colId xmlns:a16="http://schemas.microsoft.com/office/drawing/2014/main" val="20001"/>
                    </a:ext>
                  </a:extLst>
                </a:gridCol>
              </a:tblGrid>
              <a:tr h="639763">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生产计划完成率：按要求交付的情况</a:t>
                      </a: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ü"/>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计算公式为：生产计划完成率＝当月实际保供数量</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当月计划数量</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Group 103"/>
          <p:cNvGraphicFramePr>
            <a:graphicFrameLocks noGrp="1"/>
          </p:cNvGraphicFramePr>
          <p:nvPr/>
        </p:nvGraphicFramePr>
        <p:xfrm>
          <a:off x="215900" y="5337175"/>
          <a:ext cx="8710613" cy="1044575"/>
        </p:xfrm>
        <a:graphic>
          <a:graphicData uri="http://schemas.openxmlformats.org/drawingml/2006/table">
            <a:tbl>
              <a:tblPr/>
              <a:tblGrid>
                <a:gridCol w="610838">
                  <a:extLst>
                    <a:ext uri="{9D8B030D-6E8A-4147-A177-3AD203B41FA5}">
                      <a16:colId xmlns:a16="http://schemas.microsoft.com/office/drawing/2014/main" val="20000"/>
                    </a:ext>
                  </a:extLst>
                </a:gridCol>
                <a:gridCol w="8099775">
                  <a:extLst>
                    <a:ext uri="{9D8B030D-6E8A-4147-A177-3AD203B41FA5}">
                      <a16:colId xmlns:a16="http://schemas.microsoft.com/office/drawing/2014/main" val="20001"/>
                    </a:ext>
                  </a:extLst>
                </a:gridCol>
              </a:tblGrid>
              <a:tr h="104457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总体来看，三挖公司按总经办</a:t>
                      </a:r>
                      <a:r>
                        <a:rPr lang="en-US" altLang="zh-CN" sz="1200" b="0" dirty="0">
                          <a:solidFill>
                            <a:schemeClr val="tx1"/>
                          </a:solidFill>
                          <a:latin typeface="微软雅黑" panose="020B0503020204020204" charset="-122"/>
                          <a:ea typeface="微软雅黑" panose="020B0503020204020204" charset="-122"/>
                        </a:rPr>
                        <a:t>C</a:t>
                      </a:r>
                      <a:r>
                        <a:rPr lang="zh-CN" altLang="en-US" sz="1200" b="0" dirty="0">
                          <a:solidFill>
                            <a:schemeClr val="tx1"/>
                          </a:solidFill>
                          <a:latin typeface="微软雅黑" panose="020B0503020204020204" charset="-122"/>
                          <a:ea typeface="微软雅黑" panose="020B0503020204020204" charset="-122"/>
                        </a:rPr>
                        <a:t>表计划完成的生产数量情况较好</a:t>
                      </a:r>
                      <a:endParaRPr lang="en-US" altLang="zh-CN" sz="1200" b="0" dirty="0">
                        <a:solidFill>
                          <a:schemeClr val="tx1"/>
                        </a:solidFill>
                        <a:latin typeface="微软雅黑" panose="020B0503020204020204" charset="-122"/>
                        <a:ea typeface="微软雅黑" panose="020B0503020204020204" charset="-122"/>
                      </a:endParaRPr>
                    </a:p>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因为</a:t>
                      </a:r>
                      <a:r>
                        <a:rPr lang="en-US" altLang="zh-CN" sz="1200" b="0" dirty="0">
                          <a:solidFill>
                            <a:schemeClr val="tx1"/>
                          </a:solidFill>
                          <a:latin typeface="微软雅黑" panose="020B0503020204020204" charset="-122"/>
                          <a:ea typeface="微软雅黑" panose="020B0503020204020204" charset="-122"/>
                        </a:rPr>
                        <a:t>2015</a:t>
                      </a:r>
                      <a:r>
                        <a:rPr lang="zh-CN" altLang="en-US" sz="1200" b="0" dirty="0">
                          <a:solidFill>
                            <a:schemeClr val="tx1"/>
                          </a:solidFill>
                          <a:latin typeface="微软雅黑" panose="020B0503020204020204" charset="-122"/>
                          <a:ea typeface="微软雅黑" panose="020B0503020204020204" charset="-122"/>
                        </a:rPr>
                        <a:t>年下半年新品较多，下半年大挖公司完成情况不理想</a:t>
                      </a: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7" name="Chart 16"/>
          <p:cNvGraphicFramePr/>
          <p:nvPr/>
        </p:nvGraphicFramePr>
        <p:xfrm>
          <a:off x="251520" y="2492896"/>
          <a:ext cx="8568952" cy="2664296"/>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bwMode="auto">
          <a:xfrm>
            <a:off x="293130" y="4926360"/>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zh-CN" altLang="en-US" sz="900" i="1" dirty="0">
                <a:solidFill>
                  <a:srgbClr val="000000"/>
                </a:solidFill>
                <a:latin typeface="微软雅黑" panose="020B0503020204020204" charset="-122"/>
                <a:ea typeface="微软雅黑" panose="020B0503020204020204" charset="-122"/>
                <a:cs typeface="微软雅黑" panose="020B0503020204020204" charset="-122"/>
              </a:rPr>
              <a:t>生产计划完成率</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2000" y="593725"/>
            <a:ext cx="8820000" cy="695325"/>
          </a:xfrm>
        </p:spPr>
        <p:txBody>
          <a:bodyPr/>
          <a:lstStyle/>
          <a:p>
            <a:r>
              <a:rPr lang="en-US" altLang="zh-CN" dirty="0"/>
              <a:t>主机交付及时率</a:t>
            </a:r>
          </a:p>
        </p:txBody>
      </p:sp>
      <p:graphicFrame>
        <p:nvGraphicFramePr>
          <p:cNvPr id="8" name="Group 4"/>
          <p:cNvGraphicFramePr>
            <a:graphicFrameLocks noGrp="1"/>
          </p:cNvGraphicFramePr>
          <p:nvPr/>
        </p:nvGraphicFramePr>
        <p:xfrm>
          <a:off x="215900" y="2128602"/>
          <a:ext cx="8712200" cy="3024198"/>
        </p:xfrm>
        <a:graphic>
          <a:graphicData uri="http://schemas.openxmlformats.org/drawingml/2006/table">
            <a:tbl>
              <a:tblPr/>
              <a:tblGrid>
                <a:gridCol w="8712200">
                  <a:extLst>
                    <a:ext uri="{9D8B030D-6E8A-4147-A177-3AD203B41FA5}">
                      <a16:colId xmlns:a16="http://schemas.microsoft.com/office/drawing/2014/main" val="20000"/>
                    </a:ext>
                  </a:extLst>
                </a:gridCol>
              </a:tblGrid>
              <a:tr h="30478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 name="Group 4"/>
          <p:cNvGraphicFramePr>
            <a:graphicFrameLocks noGrp="1"/>
          </p:cNvGraphicFramePr>
          <p:nvPr/>
        </p:nvGraphicFramePr>
        <p:xfrm>
          <a:off x="215900" y="1142984"/>
          <a:ext cx="8712200" cy="731165"/>
        </p:xfrm>
        <a:graphic>
          <a:graphicData uri="http://schemas.openxmlformats.org/drawingml/2006/table">
            <a:tbl>
              <a:tblPr/>
              <a:tblGrid>
                <a:gridCol w="612014">
                  <a:extLst>
                    <a:ext uri="{9D8B030D-6E8A-4147-A177-3AD203B41FA5}">
                      <a16:colId xmlns:a16="http://schemas.microsoft.com/office/drawing/2014/main" val="20000"/>
                    </a:ext>
                  </a:extLst>
                </a:gridCol>
                <a:gridCol w="8100186">
                  <a:extLst>
                    <a:ext uri="{9D8B030D-6E8A-4147-A177-3AD203B41FA5}">
                      <a16:colId xmlns:a16="http://schemas.microsoft.com/office/drawing/2014/main" val="20001"/>
                    </a:ext>
                  </a:extLst>
                </a:gridCol>
              </a:tblGrid>
              <a:tr h="639763">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主机交付及时率：所有主机按</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表计划交付的及时情况</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计算公式为：主机交付及时率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各型号产品日延迟入库数</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各型号产品</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全月计划入库数</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×100%</a:t>
                      </a: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None/>
                      </a:pP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日延迟入库数</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当日生产考核数据</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当日生产实绩（当日生产实绩大于当日生产考核数据时，日延迟入库数</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=0</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Group 103"/>
          <p:cNvGraphicFramePr>
            <a:graphicFrameLocks noGrp="1"/>
          </p:cNvGraphicFramePr>
          <p:nvPr/>
        </p:nvGraphicFramePr>
        <p:xfrm>
          <a:off x="215900" y="5337175"/>
          <a:ext cx="8710613" cy="1044575"/>
        </p:xfrm>
        <a:graphic>
          <a:graphicData uri="http://schemas.openxmlformats.org/drawingml/2006/table">
            <a:tbl>
              <a:tblPr/>
              <a:tblGrid>
                <a:gridCol w="610838">
                  <a:extLst>
                    <a:ext uri="{9D8B030D-6E8A-4147-A177-3AD203B41FA5}">
                      <a16:colId xmlns:a16="http://schemas.microsoft.com/office/drawing/2014/main" val="20000"/>
                    </a:ext>
                  </a:extLst>
                </a:gridCol>
                <a:gridCol w="8099775">
                  <a:extLst>
                    <a:ext uri="{9D8B030D-6E8A-4147-A177-3AD203B41FA5}">
                      <a16:colId xmlns:a16="http://schemas.microsoft.com/office/drawing/2014/main" val="20001"/>
                    </a:ext>
                  </a:extLst>
                </a:gridCol>
              </a:tblGrid>
              <a:tr h="104457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大挖及中挖整机准时交付率相对稳定较高，但因计划变更及零部件缺件问题仍无法准时交付</a:t>
                      </a:r>
                      <a:endParaRPr lang="en-US" altLang="zh-CN" sz="1200" b="0" dirty="0">
                        <a:solidFill>
                          <a:schemeClr val="tx1"/>
                        </a:solidFill>
                        <a:latin typeface="微软雅黑" panose="020B0503020204020204" charset="-122"/>
                        <a:ea typeface="微软雅黑" panose="020B0503020204020204" charset="-122"/>
                      </a:endParaRPr>
                    </a:p>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大挖因配置变更及缺件问题，整机准时入库率较低</a:t>
                      </a:r>
                      <a:endParaRPr lang="en-US" altLang="zh-CN" sz="1200" b="0" dirty="0">
                        <a:solidFill>
                          <a:schemeClr val="tx1"/>
                        </a:solidFill>
                        <a:latin typeface="微软雅黑" panose="020B0503020204020204" charset="-122"/>
                        <a:ea typeface="微软雅黑" panose="020B0503020204020204" charset="-122"/>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Chart 12"/>
          <p:cNvGraphicFramePr/>
          <p:nvPr/>
        </p:nvGraphicFramePr>
        <p:xfrm>
          <a:off x="395536" y="2492896"/>
          <a:ext cx="8352928" cy="2592288"/>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bwMode="auto">
          <a:xfrm>
            <a:off x="251520" y="4926360"/>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zh-CN" altLang="en-US" sz="900" i="1" dirty="0">
                <a:solidFill>
                  <a:srgbClr val="000000"/>
                </a:solidFill>
                <a:latin typeface="微软雅黑" panose="020B0503020204020204" charset="-122"/>
                <a:ea typeface="微软雅黑" panose="020B0503020204020204" charset="-122"/>
                <a:cs typeface="微软雅黑" panose="020B0503020204020204" charset="-122"/>
              </a:rPr>
              <a:t>主机交付及时率</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主机存货周转率（次，总体）</a:t>
            </a:r>
          </a:p>
        </p:txBody>
      </p:sp>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7" name="Group 585"/>
          <p:cNvGraphicFramePr>
            <a:graphicFrameLocks noGrp="1"/>
          </p:cNvGraphicFramePr>
          <p:nvPr/>
        </p:nvGraphicFramePr>
        <p:xfrm>
          <a:off x="215899" y="1125538"/>
          <a:ext cx="8748713" cy="73116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库存周转率是指一定时间库存周转的速度，通常是某时间段的出库总金额（或总数量）与该时间段库存平均金额（或数量）的比</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主机库存周转率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主机销售成本</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1+N</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期末</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1~N-1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期末存货））</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172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、国际库存周转率高于国内</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 name="图表 6"/>
          <p:cNvGraphicFramePr/>
          <p:nvPr/>
        </p:nvGraphicFramePr>
        <p:xfrm>
          <a:off x="215898" y="2357430"/>
          <a:ext cx="8713819" cy="2643206"/>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直接连接符 7"/>
          <p:cNvCxnSpPr/>
          <p:nvPr/>
        </p:nvCxnSpPr>
        <p:spPr bwMode="auto">
          <a:xfrm>
            <a:off x="714348" y="3324463"/>
            <a:ext cx="7920000" cy="1200"/>
          </a:xfrm>
          <a:prstGeom prst="line">
            <a:avLst/>
          </a:prstGeom>
          <a:solidFill>
            <a:schemeClr val="accent1"/>
          </a:solidFill>
          <a:ln w="28575" cap="flat" cmpd="sng" algn="ctr">
            <a:solidFill>
              <a:srgbClr val="00B050"/>
            </a:solidFill>
            <a:prstDash val="dashDot"/>
            <a:round/>
            <a:headEnd type="none" w="med" len="med"/>
            <a:tailEnd type="none"/>
          </a:ln>
          <a:effectLst/>
        </p:spPr>
      </p:cxnSp>
      <p:sp>
        <p:nvSpPr>
          <p:cNvPr id="9" name="TextBox 8"/>
          <p:cNvSpPr txBox="1"/>
          <p:nvPr/>
        </p:nvSpPr>
        <p:spPr bwMode="auto">
          <a:xfrm>
            <a:off x="678629" y="3042904"/>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国际目标：</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16.72</a:t>
            </a:r>
            <a:endPar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endParaRPr>
          </a:p>
        </p:txBody>
      </p:sp>
      <p:cxnSp>
        <p:nvCxnSpPr>
          <p:cNvPr id="10" name="直接连接符 9"/>
          <p:cNvCxnSpPr/>
          <p:nvPr/>
        </p:nvCxnSpPr>
        <p:spPr bwMode="auto">
          <a:xfrm>
            <a:off x="714348" y="4000504"/>
            <a:ext cx="7920000" cy="1200"/>
          </a:xfrm>
          <a:prstGeom prst="line">
            <a:avLst/>
          </a:prstGeom>
          <a:solidFill>
            <a:schemeClr val="accent1"/>
          </a:solidFill>
          <a:ln w="28575" cap="flat" cmpd="sng" algn="ctr">
            <a:solidFill>
              <a:srgbClr val="00B050"/>
            </a:solidFill>
            <a:prstDash val="dashDot"/>
            <a:round/>
            <a:headEnd type="none" w="med" len="med"/>
            <a:tailEnd type="none"/>
          </a:ln>
          <a:effectLst/>
        </p:spPr>
      </p:cxnSp>
      <p:sp>
        <p:nvSpPr>
          <p:cNvPr id="11" name="TextBox 10"/>
          <p:cNvSpPr txBox="1"/>
          <p:nvPr/>
        </p:nvSpPr>
        <p:spPr bwMode="auto">
          <a:xfrm>
            <a:off x="678629" y="3714752"/>
            <a:ext cx="17145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国内目标：</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6.52</a:t>
            </a:r>
            <a:endPar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主机库存占用资金</a:t>
            </a:r>
          </a:p>
        </p:txBody>
      </p:sp>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主机库存占用资金指主机完工检验合格入库起到销售过账占用的流动资金</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计算公式：月末库存销售成本总和</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755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、库存占用资金最高达到</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亿，最低为</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3000</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万</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、挖机的旺季一般是在春节后的两个月，因此为了满足销售，一般在年前即</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月份储备库存，因此库存相对较高</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、去年</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6</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月份因集团政策需要，导致账面库存下降较多。正常旺季（</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月）是淡季库存（</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6-9</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月）的两倍左右</a:t>
                      </a:r>
                    </a:p>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4</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、剔除</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6-8</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月份集团政策影响，根据市场销售情况（小挖</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&gt;</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中挖</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&gt;</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大挖），正常情况小挖的库存占比较高，大挖最低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、去年因中挖渠道库存较高，导致账面库存迟迟无法消化。年末总体三挖库存占比趋于合理</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 name="图表 6"/>
          <p:cNvGraphicFramePr/>
          <p:nvPr/>
        </p:nvGraphicFramePr>
        <p:xfrm>
          <a:off x="179512" y="2276872"/>
          <a:ext cx="8784976"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超期库存（代理商台量、事业部占用资金）</a:t>
            </a:r>
          </a:p>
        </p:txBody>
      </p:sp>
      <p:graphicFrame>
        <p:nvGraphicFramePr>
          <p:cNvPr id="26" name="Group 4"/>
          <p:cNvGraphicFramePr>
            <a:graphicFrameLocks noGrp="1"/>
          </p:cNvGraphicFramePr>
          <p:nvPr/>
        </p:nvGraphicFramePr>
        <p:xfrm>
          <a:off x="215899" y="2000240"/>
          <a:ext cx="8748713" cy="3024198"/>
        </p:xfrm>
        <a:graphic>
          <a:graphicData uri="http://schemas.openxmlformats.org/drawingml/2006/table">
            <a:tbl>
              <a:tblPr/>
              <a:tblGrid>
                <a:gridCol w="8748713">
                  <a:extLst>
                    <a:ext uri="{9D8B030D-6E8A-4147-A177-3AD203B41FA5}">
                      <a16:colId xmlns:a16="http://schemas.microsoft.com/office/drawing/2014/main" val="20000"/>
                    </a:ext>
                  </a:extLst>
                </a:gridCol>
              </a:tblGrid>
              <a:tr h="30478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7" name="Group 585"/>
          <p:cNvGraphicFramePr>
            <a:graphicFrameLocks noGrp="1"/>
          </p:cNvGraphicFramePr>
          <p:nvPr/>
        </p:nvGraphicFramePr>
        <p:xfrm>
          <a:off x="215899" y="1125538"/>
          <a:ext cx="8748713" cy="720725"/>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代理商超期库存数量：一段时间内代理商库存样机超过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个月</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/4</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个月的数量，以月末数据为准</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chemeClr val="tx1"/>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事业部超期库存占用资金：一段时间内事业部库存超过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个月的销售成本总和，以月末数据为准</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172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、代理商每月的超期样机平均</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270</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台，按照销售均价</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50</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万，占用资金</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1.35</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亿</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、事业部超龄存货金额平均</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340</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万，事业部超龄库存一般因渠道库存再销售做的退机导致超龄，正常账面超龄应为</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0</a:t>
                      </a:r>
                    </a:p>
                    <a:p>
                      <a:pPr marL="177800" marR="0" lvl="0" indent="-177800" algn="l" defTabSz="914400" rtl="0" eaLnBrk="1" fontAlgn="base" latinLnBrk="0" hangingPunct="1">
                        <a:lnSpc>
                          <a:spcPct val="150000"/>
                        </a:lnSpc>
                        <a:spcBef>
                          <a:spcPct val="0"/>
                        </a:spcBef>
                        <a:spcAft>
                          <a:spcPct val="0"/>
                        </a:spcAft>
                        <a:buClrTx/>
                        <a:buSzTx/>
                        <a:buFont typeface="Arial" panose="020B0604020202020204" pitchFamily="34" charset="0"/>
                        <a:buNone/>
                      </a:pP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、由于国内代理商样机不做过账，资金成本是事业部承担</a:t>
                      </a:r>
                      <a:endParaRPr kumimoji="0" lang="zh-CN" altLang="en-US" sz="18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 name="图表 8"/>
          <p:cNvGraphicFramePr/>
          <p:nvPr/>
        </p:nvGraphicFramePr>
        <p:xfrm>
          <a:off x="142844" y="2428868"/>
          <a:ext cx="4500594" cy="25717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图表 9"/>
          <p:cNvGraphicFramePr/>
          <p:nvPr/>
        </p:nvGraphicFramePr>
        <p:xfrm>
          <a:off x="4510086" y="2428868"/>
          <a:ext cx="4500594" cy="257176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2000" y="593725"/>
            <a:ext cx="8820000" cy="695325"/>
          </a:xfrm>
        </p:spPr>
        <p:txBody>
          <a:bodyPr/>
          <a:lstStyle/>
          <a:p>
            <a:r>
              <a:rPr lang="zh-CN" altLang="en-US" dirty="0"/>
              <a:t>零部件</a:t>
            </a:r>
            <a:r>
              <a:rPr dirty="0"/>
              <a:t>+</a:t>
            </a:r>
            <a:r>
              <a:rPr lang="zh-CN" altLang="en-US" dirty="0"/>
              <a:t>在制品存货周转率</a:t>
            </a:r>
            <a:endParaRPr lang="en-US" altLang="zh-CN" dirty="0"/>
          </a:p>
        </p:txBody>
      </p:sp>
      <p:graphicFrame>
        <p:nvGraphicFramePr>
          <p:cNvPr id="8" name="Group 4"/>
          <p:cNvGraphicFramePr>
            <a:graphicFrameLocks noGrp="1"/>
          </p:cNvGraphicFramePr>
          <p:nvPr/>
        </p:nvGraphicFramePr>
        <p:xfrm>
          <a:off x="215900" y="2128602"/>
          <a:ext cx="8712200" cy="3024198"/>
        </p:xfrm>
        <a:graphic>
          <a:graphicData uri="http://schemas.openxmlformats.org/drawingml/2006/table">
            <a:tbl>
              <a:tblPr/>
              <a:tblGrid>
                <a:gridCol w="8712200">
                  <a:extLst>
                    <a:ext uri="{9D8B030D-6E8A-4147-A177-3AD203B41FA5}">
                      <a16:colId xmlns:a16="http://schemas.microsoft.com/office/drawing/2014/main" val="20000"/>
                    </a:ext>
                  </a:extLst>
                </a:gridCol>
              </a:tblGrid>
              <a:tr h="30478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719402">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 name="Group 4"/>
          <p:cNvGraphicFramePr>
            <a:graphicFrameLocks noGrp="1"/>
          </p:cNvGraphicFramePr>
          <p:nvPr/>
        </p:nvGraphicFramePr>
        <p:xfrm>
          <a:off x="215900" y="1142984"/>
          <a:ext cx="8712200" cy="639763"/>
        </p:xfrm>
        <a:graphic>
          <a:graphicData uri="http://schemas.openxmlformats.org/drawingml/2006/table">
            <a:tbl>
              <a:tblPr/>
              <a:tblGrid>
                <a:gridCol w="612014">
                  <a:extLst>
                    <a:ext uri="{9D8B030D-6E8A-4147-A177-3AD203B41FA5}">
                      <a16:colId xmlns:a16="http://schemas.microsoft.com/office/drawing/2014/main" val="20000"/>
                    </a:ext>
                  </a:extLst>
                </a:gridCol>
                <a:gridCol w="8100186">
                  <a:extLst>
                    <a:ext uri="{9D8B030D-6E8A-4147-A177-3AD203B41FA5}">
                      <a16:colId xmlns:a16="http://schemas.microsoft.com/office/drawing/2014/main" val="20001"/>
                    </a:ext>
                  </a:extLst>
                </a:gridCol>
              </a:tblGrid>
              <a:tr h="639763">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零部件</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在制品存货周转率：企业一定时期内零部件与在制品业务成本与平均存货余额的比率</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base" latinLnBrk="0" hangingPunct="1">
                        <a:lnSpc>
                          <a:spcPct val="120000"/>
                        </a:lnSpc>
                        <a:spcBef>
                          <a:spcPct val="0"/>
                        </a:spcBef>
                        <a:spcAft>
                          <a:spcPct val="0"/>
                        </a:spcAft>
                        <a:buClr>
                          <a:srgbClr val="FF0000"/>
                        </a:buClr>
                        <a:buSzTx/>
                        <a:buFont typeface="Wingdings" panose="05000000000000000000" pitchFamily="2" charset="2"/>
                        <a:buChar char="Ø"/>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计算公式为：零部件</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在制品存货周转率</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月成本之和</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1+N</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月末存货）</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/2+(1+~N-1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月末存货））</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Group 103"/>
          <p:cNvGraphicFramePr>
            <a:graphicFrameLocks noGrp="1"/>
          </p:cNvGraphicFramePr>
          <p:nvPr/>
        </p:nvGraphicFramePr>
        <p:xfrm>
          <a:off x="215900" y="5337175"/>
          <a:ext cx="8710613" cy="1044575"/>
        </p:xfrm>
        <a:graphic>
          <a:graphicData uri="http://schemas.openxmlformats.org/drawingml/2006/table">
            <a:tbl>
              <a:tblPr/>
              <a:tblGrid>
                <a:gridCol w="610838">
                  <a:extLst>
                    <a:ext uri="{9D8B030D-6E8A-4147-A177-3AD203B41FA5}">
                      <a16:colId xmlns:a16="http://schemas.microsoft.com/office/drawing/2014/main" val="20000"/>
                    </a:ext>
                  </a:extLst>
                </a:gridCol>
                <a:gridCol w="8099775">
                  <a:extLst>
                    <a:ext uri="{9D8B030D-6E8A-4147-A177-3AD203B41FA5}">
                      <a16:colId xmlns:a16="http://schemas.microsoft.com/office/drawing/2014/main" val="20001"/>
                    </a:ext>
                  </a:extLst>
                </a:gridCol>
              </a:tblGrid>
              <a:tr h="104457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总体来说，小挖零部件、在制品存货周转率最高，中挖次之，大挖最差；</a:t>
                      </a:r>
                      <a:endParaRPr lang="en-US" altLang="zh-CN" sz="1200" b="0" dirty="0">
                        <a:solidFill>
                          <a:schemeClr val="tx1"/>
                        </a:solidFill>
                        <a:latin typeface="微软雅黑" panose="020B0503020204020204" charset="-122"/>
                        <a:ea typeface="微软雅黑" panose="020B0503020204020204" charset="-122"/>
                      </a:endParaRPr>
                    </a:p>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中挖及小挖库存周转率能满足总经办的存货考核要求</a:t>
                      </a:r>
                      <a:endParaRPr lang="en-US" altLang="zh-CN" sz="1200" b="0" dirty="0">
                        <a:solidFill>
                          <a:schemeClr val="tx1"/>
                        </a:solidFill>
                        <a:latin typeface="微软雅黑" panose="020B0503020204020204" charset="-122"/>
                        <a:ea typeface="微软雅黑" panose="020B0503020204020204" charset="-122"/>
                      </a:endParaRPr>
                    </a:p>
                    <a:p>
                      <a:pPr marL="228600" indent="-228600">
                        <a:lnSpc>
                          <a:spcPct val="150000"/>
                        </a:lnSpc>
                        <a:buFont typeface="+mj-lt"/>
                        <a:buAutoNum type="arabicPeriod"/>
                      </a:pPr>
                      <a:r>
                        <a:rPr lang="zh-CN" altLang="en-US" sz="1200" b="0" dirty="0">
                          <a:solidFill>
                            <a:schemeClr val="tx1"/>
                          </a:solidFill>
                          <a:latin typeface="微软雅黑" panose="020B0503020204020204" charset="-122"/>
                          <a:ea typeface="微软雅黑" panose="020B0503020204020204" charset="-122"/>
                        </a:rPr>
                        <a:t>大挖因配置变更较多造成零部件呆滞及缺件问题同时存在，存货周转率较低</a:t>
                      </a:r>
                    </a:p>
                  </a:txBody>
                  <a:tcPr marL="91437" marR="91437" marT="45740" marB="45740"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7" name="Chart 16"/>
          <p:cNvGraphicFramePr/>
          <p:nvPr/>
        </p:nvGraphicFramePr>
        <p:xfrm>
          <a:off x="251520" y="2492896"/>
          <a:ext cx="8424936" cy="2592288"/>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bwMode="auto">
          <a:xfrm>
            <a:off x="293130" y="4926360"/>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zh-CN" altLang="en-US" sz="900" i="1" dirty="0">
                <a:solidFill>
                  <a:srgbClr val="000000"/>
                </a:solidFill>
                <a:latin typeface="微软雅黑" panose="020B0503020204020204" charset="-122"/>
                <a:ea typeface="微软雅黑" panose="020B0503020204020204" charset="-122"/>
                <a:cs typeface="微软雅黑" panose="020B0503020204020204" charset="-122"/>
              </a:rPr>
              <a:t>零部件、在制品存货周转率</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零部件</a:t>
            </a:r>
            <a:r>
              <a:rPr dirty="0"/>
              <a:t>/</a:t>
            </a:r>
            <a:r>
              <a:rPr lang="zh-CN" altLang="en-US" dirty="0"/>
              <a:t>配件呆滞库存金额</a:t>
            </a:r>
          </a:p>
        </p:txBody>
      </p:sp>
      <p:graphicFrame>
        <p:nvGraphicFramePr>
          <p:cNvPr id="26" name="Group 4"/>
          <p:cNvGraphicFramePr>
            <a:graphicFrameLocks noGrp="1"/>
          </p:cNvGraphicFramePr>
          <p:nvPr/>
        </p:nvGraphicFramePr>
        <p:xfrm>
          <a:off x="236986" y="1844824"/>
          <a:ext cx="8766101" cy="3240360"/>
        </p:xfrm>
        <a:graphic>
          <a:graphicData uri="http://schemas.openxmlformats.org/drawingml/2006/table">
            <a:tbl>
              <a:tblPr/>
              <a:tblGrid>
                <a:gridCol w="8766101">
                  <a:extLst>
                    <a:ext uri="{9D8B030D-6E8A-4147-A177-3AD203B41FA5}">
                      <a16:colId xmlns:a16="http://schemas.microsoft.com/office/drawing/2014/main" val="20000"/>
                    </a:ext>
                  </a:extLst>
                </a:gridCol>
              </a:tblGrid>
              <a:tr h="392479">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计算结果（</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rPr>
                        <a:t>2015</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rPr>
                        <a:t>年数据）</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2847881">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18" marB="4571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7" name="Group 585"/>
          <p:cNvGraphicFramePr>
            <a:graphicFrameLocks noGrp="1"/>
          </p:cNvGraphicFramePr>
          <p:nvPr/>
        </p:nvGraphicFramePr>
        <p:xfrm>
          <a:off x="225774" y="980728"/>
          <a:ext cx="8748713" cy="822922"/>
        </p:xfrm>
        <a:graphic>
          <a:graphicData uri="http://schemas.openxmlformats.org/drawingml/2006/table">
            <a:tbl>
              <a:tblPr/>
              <a:tblGrid>
                <a:gridCol w="615343">
                  <a:extLst>
                    <a:ext uri="{9D8B030D-6E8A-4147-A177-3AD203B41FA5}">
                      <a16:colId xmlns:a16="http://schemas.microsoft.com/office/drawing/2014/main" val="20000"/>
                    </a:ext>
                  </a:extLst>
                </a:gridCol>
                <a:gridCol w="8133370">
                  <a:extLst>
                    <a:ext uri="{9D8B030D-6E8A-4147-A177-3AD203B41FA5}">
                      <a16:colId xmlns:a16="http://schemas.microsoft.com/office/drawing/2014/main" val="20001"/>
                    </a:ext>
                  </a:extLst>
                </a:gridCol>
              </a:tblGrid>
              <a:tr h="720725">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定义</a:t>
                      </a:r>
                    </a:p>
                  </a:txBody>
                  <a:tcPr marL="91442" marR="91442" marT="45701" marB="45701"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r>
                        <a:rPr lang="zh-CN" altLang="zh-CN" sz="1200" b="0" kern="1200" dirty="0">
                          <a:solidFill>
                            <a:schemeClr val="tx1"/>
                          </a:solidFill>
                          <a:effectLst/>
                          <a:latin typeface="微软雅黑" panose="020B0503020204020204" charset="-122"/>
                          <a:ea typeface="微软雅黑" panose="020B0503020204020204" charset="-122"/>
                          <a:cs typeface="Arial" panose="020B0604020202020204"/>
                        </a:rPr>
                        <a:t>呆滞存货：指积压呆滞或者周转率低下的存货，主要包括以下几类：</a:t>
                      </a:r>
                    </a:p>
                    <a:p>
                      <a:pPr lvl="0"/>
                      <a:r>
                        <a:rPr lang="zh-CN" altLang="zh-CN" sz="1200" b="0" kern="1200" dirty="0">
                          <a:solidFill>
                            <a:schemeClr val="tx1"/>
                          </a:solidFill>
                          <a:effectLst/>
                          <a:latin typeface="微软雅黑" panose="020B0503020204020204" charset="-122"/>
                          <a:ea typeface="微软雅黑" panose="020B0503020204020204" charset="-122"/>
                          <a:cs typeface="Arial" panose="020B0604020202020204"/>
                        </a:rPr>
                        <a:t>呆滞在制品（含研发在制品）：生产入库后库龄达到</a:t>
                      </a:r>
                      <a:r>
                        <a:rPr lang="en-US" altLang="zh-CN" sz="1200" b="0" kern="1200" dirty="0">
                          <a:solidFill>
                            <a:schemeClr val="tx1"/>
                          </a:solidFill>
                          <a:effectLst/>
                          <a:latin typeface="微软雅黑" panose="020B0503020204020204" charset="-122"/>
                          <a:ea typeface="微软雅黑" panose="020B0503020204020204" charset="-122"/>
                          <a:cs typeface="Arial" panose="020B0604020202020204"/>
                        </a:rPr>
                        <a:t>6</a:t>
                      </a:r>
                      <a:r>
                        <a:rPr lang="zh-CN" altLang="zh-CN" sz="1200" b="0" kern="1200" dirty="0">
                          <a:solidFill>
                            <a:schemeClr val="tx1"/>
                          </a:solidFill>
                          <a:effectLst/>
                          <a:latin typeface="微软雅黑" panose="020B0503020204020204" charset="-122"/>
                          <a:ea typeface="微软雅黑" panose="020B0503020204020204" charset="-122"/>
                          <a:cs typeface="Arial" panose="020B0604020202020204"/>
                        </a:rPr>
                        <a:t>个月以上的在制品，线边库物料均为在制品。</a:t>
                      </a:r>
                    </a:p>
                    <a:p>
                      <a:pPr lvl="0"/>
                      <a:r>
                        <a:rPr lang="zh-CN" altLang="zh-CN" sz="1200" b="0" kern="1200" dirty="0">
                          <a:solidFill>
                            <a:schemeClr val="tx1"/>
                          </a:solidFill>
                          <a:effectLst/>
                          <a:latin typeface="微软雅黑" panose="020B0503020204020204" charset="-122"/>
                          <a:ea typeface="微软雅黑" panose="020B0503020204020204" charset="-122"/>
                          <a:cs typeface="Arial" panose="020B0604020202020204"/>
                        </a:rPr>
                        <a:t>呆滞原材料（含研发原材料）：采购订单入库后库龄达到</a:t>
                      </a:r>
                      <a:r>
                        <a:rPr lang="en-US" altLang="zh-CN" sz="1200" b="0" kern="1200" dirty="0">
                          <a:solidFill>
                            <a:schemeClr val="tx1"/>
                          </a:solidFill>
                          <a:effectLst/>
                          <a:latin typeface="微软雅黑" panose="020B0503020204020204" charset="-122"/>
                          <a:ea typeface="微软雅黑" panose="020B0503020204020204" charset="-122"/>
                          <a:cs typeface="Arial" panose="020B0604020202020204"/>
                        </a:rPr>
                        <a:t>12</a:t>
                      </a:r>
                      <a:r>
                        <a:rPr lang="zh-CN" altLang="zh-CN" sz="1200" b="0" kern="1200" dirty="0">
                          <a:solidFill>
                            <a:schemeClr val="tx1"/>
                          </a:solidFill>
                          <a:effectLst/>
                          <a:latin typeface="微软雅黑" panose="020B0503020204020204" charset="-122"/>
                          <a:ea typeface="微软雅黑" panose="020B0503020204020204" charset="-122"/>
                          <a:cs typeface="Arial" panose="020B0604020202020204"/>
                        </a:rPr>
                        <a:t>个月以上的原材料，线边库物料均为在制品。</a:t>
                      </a:r>
                    </a:p>
                    <a:p>
                      <a:r>
                        <a:rPr lang="zh-CN" altLang="zh-CN" sz="1200" b="0" kern="1200" dirty="0">
                          <a:solidFill>
                            <a:schemeClr val="tx1"/>
                          </a:solidFill>
                          <a:effectLst/>
                          <a:latin typeface="微软雅黑" panose="020B0503020204020204" charset="-122"/>
                          <a:ea typeface="微软雅黑" panose="020B0503020204020204" charset="-122"/>
                          <a:cs typeface="Arial" panose="020B0604020202020204"/>
                        </a:rPr>
                        <a:t>呆滞配件：采购</a:t>
                      </a:r>
                      <a:r>
                        <a:rPr lang="en-US" altLang="zh-CN" sz="1200" b="0" kern="1200" dirty="0">
                          <a:solidFill>
                            <a:schemeClr val="tx1"/>
                          </a:solidFill>
                          <a:effectLst/>
                          <a:latin typeface="微软雅黑" panose="020B0503020204020204" charset="-122"/>
                          <a:ea typeface="微软雅黑" panose="020B0503020204020204" charset="-122"/>
                          <a:cs typeface="Arial" panose="020B0604020202020204"/>
                        </a:rPr>
                        <a:t>/</a:t>
                      </a:r>
                      <a:r>
                        <a:rPr lang="zh-CN" altLang="zh-CN" sz="1200" b="0" kern="1200" dirty="0">
                          <a:solidFill>
                            <a:schemeClr val="tx1"/>
                          </a:solidFill>
                          <a:effectLst/>
                          <a:latin typeface="微软雅黑" panose="020B0503020204020204" charset="-122"/>
                          <a:ea typeface="微软雅黑" panose="020B0503020204020204" charset="-122"/>
                          <a:cs typeface="Arial" panose="020B0604020202020204"/>
                        </a:rPr>
                        <a:t>生产订单入库后库龄达到</a:t>
                      </a:r>
                      <a:r>
                        <a:rPr lang="en-US" altLang="zh-CN" sz="1200" b="0" kern="1200" dirty="0">
                          <a:solidFill>
                            <a:schemeClr val="tx1"/>
                          </a:solidFill>
                          <a:effectLst/>
                          <a:latin typeface="微软雅黑" panose="020B0503020204020204" charset="-122"/>
                          <a:ea typeface="微软雅黑" panose="020B0503020204020204" charset="-122"/>
                          <a:cs typeface="Arial" panose="020B0604020202020204"/>
                        </a:rPr>
                        <a:t>12</a:t>
                      </a:r>
                      <a:r>
                        <a:rPr lang="zh-CN" altLang="zh-CN" sz="1200" b="0" kern="1200" dirty="0">
                          <a:solidFill>
                            <a:schemeClr val="tx1"/>
                          </a:solidFill>
                          <a:effectLst/>
                          <a:latin typeface="微软雅黑" panose="020B0503020204020204" charset="-122"/>
                          <a:ea typeface="微软雅黑" panose="020B0503020204020204" charset="-122"/>
                          <a:cs typeface="Arial" panose="020B0604020202020204"/>
                        </a:rPr>
                        <a:t>个月以上的配件。</a:t>
                      </a:r>
                    </a:p>
                  </a:txBody>
                  <a:tcPr marL="91442" marR="91442" marT="45701" marB="45701"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103"/>
          <p:cNvGraphicFramePr>
            <a:graphicFrameLocks noGrp="1"/>
          </p:cNvGraphicFramePr>
          <p:nvPr/>
        </p:nvGraphicFramePr>
        <p:xfrm>
          <a:off x="215900" y="5143513"/>
          <a:ext cx="8748713" cy="1201726"/>
        </p:xfrm>
        <a:graphic>
          <a:graphicData uri="http://schemas.openxmlformats.org/drawingml/2006/table">
            <a:tbl>
              <a:tblPr/>
              <a:tblGrid>
                <a:gridCol w="613861">
                  <a:extLst>
                    <a:ext uri="{9D8B030D-6E8A-4147-A177-3AD203B41FA5}">
                      <a16:colId xmlns:a16="http://schemas.microsoft.com/office/drawing/2014/main" val="20000"/>
                    </a:ext>
                  </a:extLst>
                </a:gridCol>
                <a:gridCol w="8134852">
                  <a:extLst>
                    <a:ext uri="{9D8B030D-6E8A-4147-A177-3AD203B41FA5}">
                      <a16:colId xmlns:a16="http://schemas.microsoft.com/office/drawing/2014/main" val="20001"/>
                    </a:ext>
                  </a:extLst>
                </a:gridCol>
              </a:tblGrid>
              <a:tr h="1201726">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分析</a:t>
                      </a:r>
                    </a:p>
                  </a:txBody>
                  <a:tcPr marL="91437" marR="91437" marT="45740" marB="45740" vert="eaVert"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lang="zh-CN" altLang="en-US" sz="1200" kern="1200" dirty="0">
                          <a:solidFill>
                            <a:schemeClr val="tx1"/>
                          </a:solidFill>
                          <a:effectLst/>
                          <a:latin typeface="微软雅黑" panose="020B0503020204020204" charset="-122"/>
                          <a:ea typeface="微软雅黑" panose="020B0503020204020204" charset="-122"/>
                          <a:cs typeface="Arial" panose="020B0604020202020204"/>
                        </a:rPr>
                        <a:t>服务配件全年呆滞库存较高，平均在</a:t>
                      </a:r>
                      <a:r>
                        <a:rPr lang="en-US" altLang="zh-CN" sz="1200" kern="1200" dirty="0">
                          <a:solidFill>
                            <a:schemeClr val="tx1"/>
                          </a:solidFill>
                          <a:effectLst/>
                          <a:latin typeface="微软雅黑" panose="020B0503020204020204" charset="-122"/>
                          <a:ea typeface="微软雅黑" panose="020B0503020204020204" charset="-122"/>
                          <a:cs typeface="Arial" panose="020B0604020202020204"/>
                        </a:rPr>
                        <a:t>1700</a:t>
                      </a:r>
                      <a:r>
                        <a:rPr lang="zh-CN" altLang="en-US" sz="1200" kern="1200" dirty="0">
                          <a:solidFill>
                            <a:schemeClr val="tx1"/>
                          </a:solidFill>
                          <a:effectLst/>
                          <a:latin typeface="微软雅黑" panose="020B0503020204020204" charset="-122"/>
                          <a:ea typeface="微软雅黑" panose="020B0503020204020204" charset="-122"/>
                          <a:cs typeface="Arial" panose="020B0604020202020204"/>
                        </a:rPr>
                        <a:t>多万以上，主要原因是计划预测不准，</a:t>
                      </a:r>
                      <a:r>
                        <a:rPr lang="zh-CN" altLang="en-US" sz="1200" dirty="0">
                          <a:latin typeface="微软雅黑" panose="020B0503020204020204" charset="-122"/>
                          <a:ea typeface="微软雅黑" panose="020B0503020204020204" charset="-122"/>
                        </a:rPr>
                        <a:t>机型更新换代比较多，老机型的配件都有储备 </a:t>
                      </a:r>
                      <a:endParaRPr lang="en-US" altLang="zh-CN" sz="1200" kern="1200" dirty="0">
                        <a:solidFill>
                          <a:schemeClr val="tx1"/>
                        </a:solidFill>
                        <a:effectLst/>
                        <a:latin typeface="微软雅黑" panose="020B0503020204020204" charset="-122"/>
                        <a:ea typeface="微软雅黑" panose="020B0503020204020204" charset="-122"/>
                        <a:cs typeface="Arial" panose="020B0604020202020204"/>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lang="zh-CN" altLang="en-US" sz="1200" kern="1200" dirty="0">
                          <a:solidFill>
                            <a:schemeClr val="tx1"/>
                          </a:solidFill>
                          <a:effectLst/>
                          <a:latin typeface="微软雅黑" panose="020B0503020204020204" charset="-122"/>
                          <a:ea typeface="微软雅黑" panose="020B0503020204020204" charset="-122"/>
                          <a:cs typeface="Arial" panose="020B0604020202020204"/>
                        </a:rPr>
                        <a:t>大、中、小挖呆滞存货，主要原因：设计变更、机型停产、质量问题、生产计划调减等</a:t>
                      </a:r>
                      <a:endParaRPr lang="en-US" altLang="zh-CN" sz="1200" kern="1200" dirty="0">
                        <a:solidFill>
                          <a:schemeClr val="tx1"/>
                        </a:solidFill>
                        <a:effectLst/>
                        <a:latin typeface="微软雅黑" panose="020B0503020204020204" charset="-122"/>
                        <a:ea typeface="微软雅黑" panose="020B0503020204020204" charset="-122"/>
                        <a:cs typeface="Arial" panose="020B0604020202020204"/>
                      </a:endParaRPr>
                    </a:p>
                    <a:p>
                      <a:pPr marL="228600" marR="0" lvl="0" indent="-228600" algn="l" defTabSz="914400" rtl="0" eaLnBrk="1" fontAlgn="base" latinLnBrk="0" hangingPunct="1">
                        <a:lnSpc>
                          <a:spcPct val="150000"/>
                        </a:lnSpc>
                        <a:spcBef>
                          <a:spcPct val="0"/>
                        </a:spcBef>
                        <a:spcAft>
                          <a:spcPct val="0"/>
                        </a:spcAft>
                        <a:buClrTx/>
                        <a:buSzTx/>
                        <a:buFont typeface="Arial" panose="020B0604020202020204" pitchFamily="34" charset="0"/>
                        <a:buAutoNum type="arabicPeriod"/>
                      </a:pPr>
                      <a:r>
                        <a:rPr lang="zh-CN" altLang="en-US" sz="1200" kern="1200" dirty="0">
                          <a:solidFill>
                            <a:schemeClr val="tx1"/>
                          </a:solidFill>
                          <a:effectLst/>
                          <a:latin typeface="微软雅黑" panose="020B0503020204020204" charset="-122"/>
                          <a:ea typeface="微软雅黑" panose="020B0503020204020204" charset="-122"/>
                          <a:cs typeface="Arial" panose="020B0604020202020204"/>
                        </a:rPr>
                        <a:t>商务本部呆滞库存平均在</a:t>
                      </a:r>
                      <a:r>
                        <a:rPr lang="en-US" altLang="zh-CN" sz="1200" kern="1200" dirty="0">
                          <a:solidFill>
                            <a:schemeClr val="tx1"/>
                          </a:solidFill>
                          <a:effectLst/>
                          <a:latin typeface="微软雅黑" panose="020B0503020204020204" charset="-122"/>
                          <a:ea typeface="微软雅黑" panose="020B0503020204020204" charset="-122"/>
                          <a:cs typeface="Arial" panose="020B0604020202020204"/>
                        </a:rPr>
                        <a:t>1900</a:t>
                      </a:r>
                      <a:r>
                        <a:rPr lang="zh-CN" altLang="en-US" sz="1200" kern="1200" dirty="0">
                          <a:solidFill>
                            <a:schemeClr val="tx1"/>
                          </a:solidFill>
                          <a:effectLst/>
                          <a:latin typeface="微软雅黑" panose="020B0503020204020204" charset="-122"/>
                          <a:ea typeface="微软雅黑" panose="020B0503020204020204" charset="-122"/>
                          <a:cs typeface="Arial" panose="020B0604020202020204"/>
                        </a:rPr>
                        <a:t>多万，主要是进口件库存储备过多，且机型变更引起的呆滞</a:t>
                      </a:r>
                    </a:p>
                  </a:txBody>
                  <a:tcPr marL="91437" marR="91437" marT="45740" marB="4574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图表 12"/>
          <p:cNvGraphicFramePr/>
          <p:nvPr/>
        </p:nvGraphicFramePr>
        <p:xfrm>
          <a:off x="4684186" y="2276872"/>
          <a:ext cx="4254797" cy="26523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表格 8"/>
          <p:cNvGraphicFramePr>
            <a:graphicFrameLocks noGrp="1"/>
          </p:cNvGraphicFramePr>
          <p:nvPr/>
        </p:nvGraphicFramePr>
        <p:xfrm>
          <a:off x="285721" y="2285992"/>
          <a:ext cx="4357712" cy="2643204"/>
        </p:xfrm>
        <a:graphic>
          <a:graphicData uri="http://schemas.openxmlformats.org/drawingml/2006/table">
            <a:tbl>
              <a:tblPr/>
              <a:tblGrid>
                <a:gridCol w="467776">
                  <a:extLst>
                    <a:ext uri="{9D8B030D-6E8A-4147-A177-3AD203B41FA5}">
                      <a16:colId xmlns:a16="http://schemas.microsoft.com/office/drawing/2014/main" val="20000"/>
                    </a:ext>
                  </a:extLst>
                </a:gridCol>
                <a:gridCol w="541636">
                  <a:extLst>
                    <a:ext uri="{9D8B030D-6E8A-4147-A177-3AD203B41FA5}">
                      <a16:colId xmlns:a16="http://schemas.microsoft.com/office/drawing/2014/main" val="20001"/>
                    </a:ext>
                  </a:extLst>
                </a:gridCol>
                <a:gridCol w="279025">
                  <a:extLst>
                    <a:ext uri="{9D8B030D-6E8A-4147-A177-3AD203B41FA5}">
                      <a16:colId xmlns:a16="http://schemas.microsoft.com/office/drawing/2014/main" val="20002"/>
                    </a:ext>
                  </a:extLst>
                </a:gridCol>
                <a:gridCol w="279025">
                  <a:extLst>
                    <a:ext uri="{9D8B030D-6E8A-4147-A177-3AD203B41FA5}">
                      <a16:colId xmlns:a16="http://schemas.microsoft.com/office/drawing/2014/main" val="20003"/>
                    </a:ext>
                  </a:extLst>
                </a:gridCol>
                <a:gridCol w="279025">
                  <a:extLst>
                    <a:ext uri="{9D8B030D-6E8A-4147-A177-3AD203B41FA5}">
                      <a16:colId xmlns:a16="http://schemas.microsoft.com/office/drawing/2014/main" val="20004"/>
                    </a:ext>
                  </a:extLst>
                </a:gridCol>
                <a:gridCol w="279025">
                  <a:extLst>
                    <a:ext uri="{9D8B030D-6E8A-4147-A177-3AD203B41FA5}">
                      <a16:colId xmlns:a16="http://schemas.microsoft.com/office/drawing/2014/main" val="20005"/>
                    </a:ext>
                  </a:extLst>
                </a:gridCol>
                <a:gridCol w="279025">
                  <a:extLst>
                    <a:ext uri="{9D8B030D-6E8A-4147-A177-3AD203B41FA5}">
                      <a16:colId xmlns:a16="http://schemas.microsoft.com/office/drawing/2014/main" val="20006"/>
                    </a:ext>
                  </a:extLst>
                </a:gridCol>
                <a:gridCol w="279025">
                  <a:extLst>
                    <a:ext uri="{9D8B030D-6E8A-4147-A177-3AD203B41FA5}">
                      <a16:colId xmlns:a16="http://schemas.microsoft.com/office/drawing/2014/main" val="20007"/>
                    </a:ext>
                  </a:extLst>
                </a:gridCol>
                <a:gridCol w="279025">
                  <a:extLst>
                    <a:ext uri="{9D8B030D-6E8A-4147-A177-3AD203B41FA5}">
                      <a16:colId xmlns:a16="http://schemas.microsoft.com/office/drawing/2014/main" val="20008"/>
                    </a:ext>
                  </a:extLst>
                </a:gridCol>
                <a:gridCol w="279025">
                  <a:extLst>
                    <a:ext uri="{9D8B030D-6E8A-4147-A177-3AD203B41FA5}">
                      <a16:colId xmlns:a16="http://schemas.microsoft.com/office/drawing/2014/main" val="20009"/>
                    </a:ext>
                  </a:extLst>
                </a:gridCol>
                <a:gridCol w="279025">
                  <a:extLst>
                    <a:ext uri="{9D8B030D-6E8A-4147-A177-3AD203B41FA5}">
                      <a16:colId xmlns:a16="http://schemas.microsoft.com/office/drawing/2014/main" val="20010"/>
                    </a:ext>
                  </a:extLst>
                </a:gridCol>
                <a:gridCol w="279025">
                  <a:extLst>
                    <a:ext uri="{9D8B030D-6E8A-4147-A177-3AD203B41FA5}">
                      <a16:colId xmlns:a16="http://schemas.microsoft.com/office/drawing/2014/main" val="20011"/>
                    </a:ext>
                  </a:extLst>
                </a:gridCol>
                <a:gridCol w="279025">
                  <a:extLst>
                    <a:ext uri="{9D8B030D-6E8A-4147-A177-3AD203B41FA5}">
                      <a16:colId xmlns:a16="http://schemas.microsoft.com/office/drawing/2014/main" val="20012"/>
                    </a:ext>
                  </a:extLst>
                </a:gridCol>
                <a:gridCol w="279025">
                  <a:extLst>
                    <a:ext uri="{9D8B030D-6E8A-4147-A177-3AD203B41FA5}">
                      <a16:colId xmlns:a16="http://schemas.microsoft.com/office/drawing/2014/main" val="20013"/>
                    </a:ext>
                  </a:extLst>
                </a:gridCol>
              </a:tblGrid>
              <a:tr h="440534">
                <a:tc>
                  <a:txBody>
                    <a:bodyPr/>
                    <a:lstStyle/>
                    <a:p>
                      <a:pPr algn="ctr" fontAlgn="ctr"/>
                      <a:r>
                        <a:rPr lang="zh-CN" altLang="en-US" sz="1100" b="0" i="0" u="none" strike="noStrike" dirty="0">
                          <a:solidFill>
                            <a:srgbClr val="000000"/>
                          </a:solidFill>
                          <a:latin typeface="微软雅黑" panose="020B0503020204020204" charset="-122"/>
                          <a:ea typeface="微软雅黑" panose="020B0503020204020204" charset="-122"/>
                        </a:rPr>
                        <a:t>部门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存货类别</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1</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2</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3</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4</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5</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6</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7</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8</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9</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10</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11</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zh-CN" sz="1000" b="0" i="0" u="none" strike="noStrike">
                          <a:solidFill>
                            <a:srgbClr val="000000"/>
                          </a:solidFill>
                          <a:latin typeface="微软雅黑" panose="020B0503020204020204" charset="-122"/>
                          <a:ea typeface="微软雅黑" panose="020B0503020204020204" charset="-122"/>
                        </a:rPr>
                        <a:t>12</a:t>
                      </a:r>
                      <a:r>
                        <a:rPr lang="zh-CN" altLang="en-US" sz="1000" b="0" i="0" u="none" strike="noStrike">
                          <a:solidFill>
                            <a:srgbClr val="000000"/>
                          </a:solidFill>
                          <a:latin typeface="微软雅黑" panose="020B0503020204020204" charset="-122"/>
                          <a:ea typeface="微软雅黑" panose="020B0503020204020204" charset="-122"/>
                        </a:rPr>
                        <a:t>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40534">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商务本部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呆滞原材料</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3924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3306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1965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2084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1975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1938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2130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1662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1520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1390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1172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886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0534">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小挖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呆滞在制品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12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19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435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457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459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441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402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394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394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378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369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0534">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中挖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呆滞在制品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325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311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293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240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373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333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327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319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282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278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0534">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大挖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呆滞在制品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402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229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483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474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474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456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450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439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404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432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333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326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0534">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服务部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solidFill>
                            <a:srgbClr val="000000"/>
                          </a:solidFill>
                          <a:latin typeface="微软雅黑" panose="020B0503020204020204" charset="-122"/>
                          <a:ea typeface="微软雅黑" panose="020B0503020204020204" charset="-122"/>
                        </a:rPr>
                        <a:t>呆滞配件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1611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1703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1737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1747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1755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1770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latin typeface="微软雅黑" panose="020B0503020204020204" charset="-122"/>
                          <a:ea typeface="微软雅黑" panose="020B0503020204020204" charset="-122"/>
                        </a:rPr>
                        <a:t>1776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1826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1776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1849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1688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latin typeface="微软雅黑" panose="020B0503020204020204" charset="-122"/>
                          <a:ea typeface="微软雅黑" panose="020B0503020204020204" charset="-122"/>
                        </a:rPr>
                        <a:t>1444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附录</a:t>
            </a:r>
          </a:p>
        </p:txBody>
      </p:sp>
      <p:sp>
        <p:nvSpPr>
          <p:cNvPr id="10" name="Rectangle 4"/>
          <p:cNvSpPr>
            <a:spLocks noChangeArrowheads="1"/>
          </p:cNvSpPr>
          <p:nvPr/>
        </p:nvSpPr>
        <p:spPr bwMode="auto">
          <a:xfrm>
            <a:off x="1371763" y="1544105"/>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项目进度与工作范围</a:t>
            </a:r>
          </a:p>
        </p:txBody>
      </p:sp>
      <p:sp>
        <p:nvSpPr>
          <p:cNvPr id="12" name="Rectangle 11"/>
          <p:cNvSpPr>
            <a:spLocks noChangeArrowheads="1"/>
          </p:cNvSpPr>
          <p:nvPr/>
        </p:nvSpPr>
        <p:spPr bwMode="auto">
          <a:xfrm>
            <a:off x="585986" y="1544105"/>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1</a:t>
            </a:r>
          </a:p>
        </p:txBody>
      </p:sp>
      <p:sp>
        <p:nvSpPr>
          <p:cNvPr id="13" name="Rectangle 11"/>
          <p:cNvSpPr>
            <a:spLocks noChangeArrowheads="1"/>
          </p:cNvSpPr>
          <p:nvPr/>
        </p:nvSpPr>
        <p:spPr bwMode="auto">
          <a:xfrm>
            <a:off x="585986" y="2209660"/>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2</a:t>
            </a:r>
          </a:p>
        </p:txBody>
      </p:sp>
      <p:sp>
        <p:nvSpPr>
          <p:cNvPr id="16" name="Rectangle 5"/>
          <p:cNvSpPr>
            <a:spLocks noChangeArrowheads="1"/>
          </p:cNvSpPr>
          <p:nvPr/>
        </p:nvSpPr>
        <p:spPr bwMode="auto">
          <a:xfrm>
            <a:off x="1371763" y="2209872"/>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业务成熟度分析</a:t>
            </a:r>
          </a:p>
        </p:txBody>
      </p:sp>
      <p:sp>
        <p:nvSpPr>
          <p:cNvPr id="14" name="Rectangle 11"/>
          <p:cNvSpPr>
            <a:spLocks noChangeArrowheads="1"/>
          </p:cNvSpPr>
          <p:nvPr/>
        </p:nvSpPr>
        <p:spPr bwMode="auto">
          <a:xfrm>
            <a:off x="585986" y="2875216"/>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3</a:t>
            </a:r>
          </a:p>
        </p:txBody>
      </p:sp>
      <p:sp>
        <p:nvSpPr>
          <p:cNvPr id="15" name="Rectangle 5"/>
          <p:cNvSpPr>
            <a:spLocks noChangeArrowheads="1"/>
          </p:cNvSpPr>
          <p:nvPr/>
        </p:nvSpPr>
        <p:spPr bwMode="auto">
          <a:xfrm>
            <a:off x="1371763" y="2875639"/>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总体绩效指标分析</a:t>
            </a:r>
          </a:p>
        </p:txBody>
      </p:sp>
      <p:sp>
        <p:nvSpPr>
          <p:cNvPr id="17" name="Rectangle 4"/>
          <p:cNvSpPr>
            <a:spLocks noChangeArrowheads="1"/>
          </p:cNvSpPr>
          <p:nvPr/>
        </p:nvSpPr>
        <p:spPr bwMode="auto">
          <a:xfrm>
            <a:off x="1371763" y="3541406"/>
            <a:ext cx="7170202" cy="503237"/>
          </a:xfrm>
          <a:prstGeom prst="rect">
            <a:avLst/>
          </a:prstGeom>
          <a:solidFill>
            <a:srgbClr val="D6DBFE"/>
          </a:solidFill>
          <a:ln w="9525" algn="ctr">
            <a:solidFill>
              <a:srgbClr val="7889FB"/>
            </a:solidFill>
            <a:miter lim="800000"/>
          </a:ln>
        </p:spPr>
        <p:txBody>
          <a:bodyPr wrap="none" lIns="90000" tIns="46800" rIns="90000" bIns="46800" anchor="ctr"/>
          <a:lstStyle/>
          <a:p>
            <a:pPr lvl="0">
              <a:defRPr/>
            </a:pPr>
            <a:r>
              <a:rPr lang="zh-CN" altLang="en-US" sz="1600" b="1" kern="0" dirty="0">
                <a:solidFill>
                  <a:sysClr val="windowText" lastClr="000000"/>
                </a:solidFill>
                <a:latin typeface="微软雅黑" panose="020B0503020204020204" charset="-122"/>
                <a:ea typeface="微软雅黑" panose="020B0503020204020204" charset="-122"/>
              </a:rPr>
              <a:t>现状分析</a:t>
            </a:r>
          </a:p>
        </p:txBody>
      </p:sp>
      <p:sp>
        <p:nvSpPr>
          <p:cNvPr id="18" name="Rectangle 11"/>
          <p:cNvSpPr>
            <a:spLocks noChangeArrowheads="1"/>
          </p:cNvSpPr>
          <p:nvPr/>
        </p:nvSpPr>
        <p:spPr bwMode="auto">
          <a:xfrm>
            <a:off x="585986" y="3540772"/>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4</a:t>
            </a:r>
          </a:p>
        </p:txBody>
      </p:sp>
      <p:sp>
        <p:nvSpPr>
          <p:cNvPr id="20" name="Rectangle 11"/>
          <p:cNvSpPr>
            <a:spLocks noChangeArrowheads="1"/>
          </p:cNvSpPr>
          <p:nvPr/>
        </p:nvSpPr>
        <p:spPr bwMode="auto">
          <a:xfrm>
            <a:off x="585986" y="4206327"/>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5</a:t>
            </a:r>
          </a:p>
        </p:txBody>
      </p:sp>
      <p:sp>
        <p:nvSpPr>
          <p:cNvPr id="21" name="Rectangle 5"/>
          <p:cNvSpPr>
            <a:spLocks noChangeArrowheads="1"/>
          </p:cNvSpPr>
          <p:nvPr/>
        </p:nvSpPr>
        <p:spPr bwMode="auto">
          <a:xfrm>
            <a:off x="1371763" y="4207173"/>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解决思路</a:t>
            </a:r>
          </a:p>
        </p:txBody>
      </p:sp>
      <p:sp>
        <p:nvSpPr>
          <p:cNvPr id="26" name="Rectangle 11"/>
          <p:cNvSpPr>
            <a:spLocks noChangeArrowheads="1"/>
          </p:cNvSpPr>
          <p:nvPr/>
        </p:nvSpPr>
        <p:spPr bwMode="auto">
          <a:xfrm>
            <a:off x="585986" y="4871885"/>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6</a:t>
            </a:r>
          </a:p>
        </p:txBody>
      </p:sp>
      <p:sp>
        <p:nvSpPr>
          <p:cNvPr id="29" name="Rectangle 5"/>
          <p:cNvSpPr>
            <a:spLocks noChangeArrowheads="1"/>
          </p:cNvSpPr>
          <p:nvPr/>
        </p:nvSpPr>
        <p:spPr bwMode="auto">
          <a:xfrm>
            <a:off x="1371763" y="4872938"/>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集成计划体系流程框架</a:t>
            </a:r>
            <a:r>
              <a:rPr lang="en-US" altLang="zh-CN" sz="1600" kern="0" dirty="0">
                <a:solidFill>
                  <a:sysClr val="windowText" lastClr="000000"/>
                </a:solidFill>
                <a:latin typeface="微软雅黑" panose="020B0503020204020204" charset="-122"/>
                <a:ea typeface="微软雅黑" panose="020B0503020204020204" charset="-122"/>
              </a:rPr>
              <a:t>1.0</a:t>
            </a:r>
            <a:endParaRPr lang="zh-CN" altLang="en-US" sz="1600" kern="0" dirty="0">
              <a:solidFill>
                <a:sysClr val="windowText" lastClr="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基于现状访谈、专题讨论、资料研读、数据分析等手段，在总体框架下分析x重机业务现状，共总结出</a:t>
            </a:r>
            <a:r>
              <a:rPr dirty="0"/>
              <a:t>15</a:t>
            </a:r>
            <a:r>
              <a:rPr lang="zh-CN" altLang="en-US" dirty="0"/>
              <a:t>个关键发现</a:t>
            </a:r>
          </a:p>
        </p:txBody>
      </p:sp>
      <p:grpSp>
        <p:nvGrpSpPr>
          <p:cNvPr id="2" name="组合 133"/>
          <p:cNvGrpSpPr/>
          <p:nvPr/>
        </p:nvGrpSpPr>
        <p:grpSpPr>
          <a:xfrm>
            <a:off x="228796" y="1785258"/>
            <a:ext cx="5271898" cy="4560526"/>
            <a:chOff x="157358" y="1556792"/>
            <a:chExt cx="5700526" cy="4788991"/>
          </a:xfrm>
        </p:grpSpPr>
        <p:sp>
          <p:nvSpPr>
            <p:cNvPr id="135" name="AutoShape 18"/>
            <p:cNvSpPr/>
            <p:nvPr/>
          </p:nvSpPr>
          <p:spPr bwMode="auto">
            <a:xfrm>
              <a:off x="727110" y="2953792"/>
              <a:ext cx="146050" cy="2260600"/>
            </a:xfrm>
            <a:prstGeom prst="leftBrace">
              <a:avLst>
                <a:gd name="adj1" fmla="val 128986"/>
                <a:gd name="adj2" fmla="val 50000"/>
              </a:avLst>
            </a:prstGeom>
            <a:noFill/>
            <a:ln w="9525">
              <a:solidFill>
                <a:schemeClr val="tx1"/>
              </a:solidFill>
              <a:bevel/>
            </a:ln>
          </p:spPr>
          <p:txBody>
            <a:bodyPr wrap="none" anchor="ctr"/>
            <a:lstStyle/>
            <a:p>
              <a:endParaRPr lang="zh-CN" altLang="en-US" sz="1800">
                <a:solidFill>
                  <a:srgbClr val="000000"/>
                </a:solidFill>
                <a:sym typeface="Arial" panose="020B0604020202020204" pitchFamily="34" charset="0"/>
              </a:endParaRPr>
            </a:p>
          </p:txBody>
        </p:sp>
        <p:sp>
          <p:nvSpPr>
            <p:cNvPr id="150" name="Text Box 19"/>
            <p:cNvSpPr>
              <a:spLocks noChangeArrowheads="1"/>
            </p:cNvSpPr>
            <p:nvPr/>
          </p:nvSpPr>
          <p:spPr bwMode="auto">
            <a:xfrm>
              <a:off x="157358" y="3777360"/>
              <a:ext cx="615600" cy="614341"/>
            </a:xfrm>
            <a:prstGeom prst="rect">
              <a:avLst/>
            </a:prstGeom>
            <a:noFill/>
            <a:ln>
              <a:noFill/>
            </a:ln>
          </p:spPr>
          <p:txBody>
            <a:bodyPr wrap="square">
              <a:spAutoFit/>
            </a:bodyPr>
            <a:lstStyle/>
            <a:p>
              <a:pPr algn="ctr"/>
              <a:r>
                <a:rPr lang="zh-CN" altLang="en-US" sz="1600" b="1" dirty="0">
                  <a:solidFill>
                    <a:srgbClr val="000000"/>
                  </a:solidFill>
                  <a:latin typeface="微软雅黑" panose="020B0503020204020204" charset="-122"/>
                  <a:ea typeface="微软雅黑" panose="020B0503020204020204" charset="-122"/>
                  <a:cs typeface="+mj-cs"/>
                  <a:sym typeface="Arial" panose="020B0604020202020204" pitchFamily="34" charset="0"/>
                </a:rPr>
                <a:t>业务</a:t>
              </a:r>
              <a:endParaRPr lang="en-US" altLang="zh-CN" sz="1600" b="1" dirty="0">
                <a:solidFill>
                  <a:srgbClr val="000000"/>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000000"/>
                  </a:solidFill>
                  <a:latin typeface="微软雅黑" panose="020B0503020204020204" charset="-122"/>
                  <a:ea typeface="微软雅黑" panose="020B0503020204020204" charset="-122"/>
                  <a:cs typeface="+mj-cs"/>
                  <a:sym typeface="Arial" panose="020B0604020202020204" pitchFamily="34" charset="0"/>
                </a:rPr>
                <a:t>体系</a:t>
              </a:r>
              <a:endParaRPr lang="zh-CN" altLang="en-US" sz="1600" b="1" dirty="0">
                <a:solidFill>
                  <a:srgbClr val="000000"/>
                </a:solidFill>
                <a:latin typeface="微软雅黑" panose="020B0503020204020204" charset="-122"/>
                <a:ea typeface="微软雅黑" panose="020B0503020204020204" charset="-122"/>
                <a:cs typeface="+mj-cs"/>
              </a:endParaRPr>
            </a:p>
          </p:txBody>
        </p:sp>
        <p:sp>
          <p:nvSpPr>
            <p:cNvPr id="151" name="AutoShape 20"/>
            <p:cNvSpPr/>
            <p:nvPr/>
          </p:nvSpPr>
          <p:spPr bwMode="auto">
            <a:xfrm>
              <a:off x="727110" y="1628800"/>
              <a:ext cx="144462" cy="1115963"/>
            </a:xfrm>
            <a:prstGeom prst="leftBrace">
              <a:avLst>
                <a:gd name="adj1" fmla="val 70409"/>
                <a:gd name="adj2" fmla="val 50000"/>
              </a:avLst>
            </a:prstGeom>
            <a:noFill/>
            <a:ln w="9525">
              <a:solidFill>
                <a:schemeClr val="tx1"/>
              </a:solidFill>
              <a:bevel/>
            </a:ln>
          </p:spPr>
          <p:txBody>
            <a:bodyPr wrap="none" anchor="ctr"/>
            <a:lstStyle/>
            <a:p>
              <a:endParaRPr lang="zh-CN" altLang="en-US" sz="1800">
                <a:solidFill>
                  <a:srgbClr val="000000"/>
                </a:solidFill>
                <a:sym typeface="Arial" panose="020B0604020202020204" pitchFamily="34" charset="0"/>
              </a:endParaRPr>
            </a:p>
          </p:txBody>
        </p:sp>
        <p:sp>
          <p:nvSpPr>
            <p:cNvPr id="152" name="Text Box 21"/>
            <p:cNvSpPr>
              <a:spLocks noChangeArrowheads="1"/>
            </p:cNvSpPr>
            <p:nvPr/>
          </p:nvSpPr>
          <p:spPr bwMode="auto">
            <a:xfrm>
              <a:off x="157358" y="1844824"/>
              <a:ext cx="613904" cy="872627"/>
            </a:xfrm>
            <a:prstGeom prst="rect">
              <a:avLst/>
            </a:prstGeom>
            <a:noFill/>
            <a:ln>
              <a:noFill/>
            </a:ln>
          </p:spPr>
          <p:txBody>
            <a:bodyPr wrap="square">
              <a:spAutoFit/>
            </a:bodyPr>
            <a:lstStyle/>
            <a:p>
              <a:pPr algn="ctr">
                <a:spcBef>
                  <a:spcPct val="50000"/>
                </a:spcBef>
              </a:pPr>
              <a:r>
                <a:rPr lang="zh-CN" altLang="en-US" sz="1600" b="1" dirty="0">
                  <a:latin typeface="微软雅黑" panose="020B0503020204020204" charset="-122"/>
                  <a:ea typeface="微软雅黑" panose="020B0503020204020204" charset="-122"/>
                  <a:cs typeface="+mj-cs"/>
                  <a:sym typeface="Arial" panose="020B0604020202020204" pitchFamily="34" charset="0"/>
                </a:rPr>
                <a:t>模式</a:t>
              </a:r>
              <a:br>
                <a:rPr lang="en-US" altLang="zh-CN" sz="1600" b="1" dirty="0">
                  <a:latin typeface="微软雅黑" panose="020B0503020204020204" charset="-122"/>
                  <a:ea typeface="微软雅黑" panose="020B0503020204020204" charset="-122"/>
                  <a:cs typeface="+mj-cs"/>
                  <a:sym typeface="Arial" panose="020B0604020202020204" pitchFamily="34" charset="0"/>
                </a:rPr>
              </a:br>
              <a:r>
                <a:rPr lang="zh-CN" altLang="en-US" sz="1600" b="1" dirty="0">
                  <a:latin typeface="微软雅黑" panose="020B0503020204020204" charset="-122"/>
                  <a:ea typeface="微软雅黑" panose="020B0503020204020204" charset="-122"/>
                  <a:cs typeface="+mj-cs"/>
                  <a:sym typeface="Arial" panose="020B0604020202020204" pitchFamily="34" charset="0"/>
                </a:rPr>
                <a:t>与</a:t>
              </a:r>
              <a:br>
                <a:rPr lang="en-US" altLang="zh-CN" sz="1600" b="1" dirty="0">
                  <a:latin typeface="微软雅黑" panose="020B0503020204020204" charset="-122"/>
                  <a:ea typeface="微软雅黑" panose="020B0503020204020204" charset="-122"/>
                  <a:cs typeface="+mj-cs"/>
                  <a:sym typeface="Arial" panose="020B0604020202020204" pitchFamily="34" charset="0"/>
                </a:rPr>
              </a:br>
              <a:r>
                <a:rPr lang="zh-CN" altLang="en-US" sz="1600" b="1" dirty="0">
                  <a:latin typeface="微软雅黑" panose="020B0503020204020204" charset="-122"/>
                  <a:ea typeface="微软雅黑" panose="020B0503020204020204" charset="-122"/>
                  <a:cs typeface="+mj-cs"/>
                  <a:sym typeface="Arial" panose="020B0604020202020204" pitchFamily="34" charset="0"/>
                </a:rPr>
                <a:t>组织</a:t>
              </a:r>
              <a:endParaRPr lang="en-US" sz="1600" b="1" dirty="0">
                <a:latin typeface="微软雅黑" panose="020B0503020204020204" charset="-122"/>
                <a:ea typeface="微软雅黑" panose="020B0503020204020204" charset="-122"/>
                <a:cs typeface="+mj-cs"/>
                <a:sym typeface="Arial" panose="020B0604020202020204" pitchFamily="34" charset="0"/>
              </a:endParaRPr>
            </a:p>
          </p:txBody>
        </p:sp>
        <p:sp>
          <p:nvSpPr>
            <p:cNvPr id="153" name="Text Box 23"/>
            <p:cNvSpPr>
              <a:spLocks noChangeArrowheads="1"/>
            </p:cNvSpPr>
            <p:nvPr/>
          </p:nvSpPr>
          <p:spPr bwMode="auto">
            <a:xfrm>
              <a:off x="157358" y="5534688"/>
              <a:ext cx="615600" cy="614070"/>
            </a:xfrm>
            <a:prstGeom prst="rect">
              <a:avLst/>
            </a:prstGeom>
            <a:noFill/>
            <a:ln>
              <a:noFill/>
            </a:ln>
          </p:spPr>
          <p:txBody>
            <a:bodyPr wrap="square">
              <a:spAutoFit/>
            </a:bodyPr>
            <a:lstStyle/>
            <a:p>
              <a:pPr algn="ctr">
                <a:spcBef>
                  <a:spcPct val="50000"/>
                </a:spcBef>
              </a:pPr>
              <a:r>
                <a:rPr lang="zh-CN" altLang="en-US" sz="1600" b="1" dirty="0">
                  <a:solidFill>
                    <a:srgbClr val="000000"/>
                  </a:solidFill>
                  <a:latin typeface="微软雅黑" panose="020B0503020204020204" charset="-122"/>
                  <a:ea typeface="微软雅黑" panose="020B0503020204020204" charset="-122"/>
                  <a:cs typeface="+mj-cs"/>
                  <a:sym typeface="Arial" panose="020B0604020202020204" pitchFamily="34" charset="0"/>
                </a:rPr>
                <a:t>管理平台</a:t>
              </a:r>
              <a:endParaRPr lang="zh-CN" altLang="en-US" sz="1600" b="1" dirty="0">
                <a:solidFill>
                  <a:srgbClr val="000000"/>
                </a:solidFill>
                <a:latin typeface="微软雅黑" panose="020B0503020204020204" charset="-122"/>
                <a:ea typeface="微软雅黑" panose="020B0503020204020204" charset="-122"/>
                <a:cs typeface="+mj-cs"/>
              </a:endParaRPr>
            </a:p>
          </p:txBody>
        </p:sp>
        <p:sp>
          <p:nvSpPr>
            <p:cNvPr id="154" name="AutoShape 20"/>
            <p:cNvSpPr/>
            <p:nvPr/>
          </p:nvSpPr>
          <p:spPr bwMode="auto">
            <a:xfrm>
              <a:off x="727110" y="5301357"/>
              <a:ext cx="144462" cy="1007963"/>
            </a:xfrm>
            <a:prstGeom prst="leftBrace">
              <a:avLst>
                <a:gd name="adj1" fmla="val 70409"/>
                <a:gd name="adj2" fmla="val 50000"/>
              </a:avLst>
            </a:prstGeom>
            <a:noFill/>
            <a:ln w="9525">
              <a:solidFill>
                <a:schemeClr val="tx1"/>
              </a:solidFill>
              <a:bevel/>
            </a:ln>
          </p:spPr>
          <p:txBody>
            <a:bodyPr wrap="none" anchor="ctr"/>
            <a:lstStyle/>
            <a:p>
              <a:endParaRPr lang="zh-CN" altLang="en-US" sz="1800">
                <a:solidFill>
                  <a:srgbClr val="000000"/>
                </a:solidFill>
                <a:sym typeface="Arial" panose="020B0604020202020204" pitchFamily="34" charset="0"/>
              </a:endParaRPr>
            </a:p>
          </p:txBody>
        </p:sp>
        <p:grpSp>
          <p:nvGrpSpPr>
            <p:cNvPr id="4" name="组合 164"/>
            <p:cNvGrpSpPr/>
            <p:nvPr/>
          </p:nvGrpSpPr>
          <p:grpSpPr>
            <a:xfrm>
              <a:off x="971600" y="1556792"/>
              <a:ext cx="4886284" cy="4788991"/>
              <a:chOff x="971600" y="1556792"/>
              <a:chExt cx="7856380" cy="4788991"/>
            </a:xfrm>
          </p:grpSpPr>
          <p:sp>
            <p:nvSpPr>
              <p:cNvPr id="156" name="AutoShape 4"/>
              <p:cNvSpPr>
                <a:spLocks noChangeArrowheads="1"/>
              </p:cNvSpPr>
              <p:nvPr/>
            </p:nvSpPr>
            <p:spPr bwMode="auto">
              <a:xfrm>
                <a:off x="971600" y="1556792"/>
                <a:ext cx="7848849" cy="609600"/>
              </a:xfrm>
              <a:prstGeom prst="triangle">
                <a:avLst>
                  <a:gd name="adj" fmla="val 50000"/>
                </a:avLst>
              </a:prstGeom>
              <a:solidFill>
                <a:schemeClr val="accent1"/>
              </a:solidFill>
              <a:ln w="9525">
                <a:solidFill>
                  <a:schemeClr val="tx1"/>
                </a:solidFill>
                <a:miter lim="800000"/>
              </a:ln>
            </p:spPr>
            <p:txBody>
              <a:bodyPr wrap="none" anchor="b"/>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1.0</a:t>
                </a: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策略与模式</a:t>
                </a:r>
              </a:p>
            </p:txBody>
          </p:sp>
          <p:sp>
            <p:nvSpPr>
              <p:cNvPr id="157" name="Rectangle 6"/>
              <p:cNvSpPr>
                <a:spLocks noChangeArrowheads="1"/>
              </p:cNvSpPr>
              <p:nvPr/>
            </p:nvSpPr>
            <p:spPr bwMode="auto">
              <a:xfrm>
                <a:off x="971600" y="2328838"/>
                <a:ext cx="7848871" cy="457200"/>
              </a:xfrm>
              <a:prstGeom prst="rect">
                <a:avLst/>
              </a:prstGeom>
              <a:solidFill>
                <a:schemeClr val="accent1"/>
              </a:solidFill>
              <a:ln w="9525">
                <a:solidFill>
                  <a:schemeClr val="tx1"/>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2.0</a:t>
                </a: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组织架构与管控</a:t>
                </a:r>
                <a:endParaRPr lang="zh-CN" altLang="en-US" sz="1600" b="1" dirty="0">
                  <a:solidFill>
                    <a:srgbClr val="FFFFFF"/>
                  </a:solidFill>
                  <a:latin typeface="微软雅黑" panose="020B0503020204020204" charset="-122"/>
                  <a:ea typeface="微软雅黑" panose="020B0503020204020204" charset="-122"/>
                  <a:cs typeface="+mj-cs"/>
                </a:endParaRPr>
              </a:p>
            </p:txBody>
          </p:sp>
          <p:sp>
            <p:nvSpPr>
              <p:cNvPr id="158" name="Rectangle 7"/>
              <p:cNvSpPr>
                <a:spLocks noChangeArrowheads="1"/>
              </p:cNvSpPr>
              <p:nvPr/>
            </p:nvSpPr>
            <p:spPr bwMode="auto">
              <a:xfrm>
                <a:off x="971600" y="2882355"/>
                <a:ext cx="7856380" cy="2346845"/>
              </a:xfrm>
              <a:prstGeom prst="rect">
                <a:avLst/>
              </a:prstGeom>
              <a:noFill/>
              <a:ln w="9525">
                <a:solidFill>
                  <a:schemeClr val="tx1"/>
                </a:solidFill>
                <a:miter lim="800000"/>
              </a:ln>
            </p:spPr>
            <p:txBody>
              <a:bodyPr wrap="none" anchor="b"/>
              <a:lstStyle/>
              <a:p>
                <a:pPr algn="ctr"/>
                <a:endParaRPr lang="zh-CN" altLang="en-US" sz="1600" b="1" dirty="0">
                  <a:solidFill>
                    <a:srgbClr val="000000"/>
                  </a:solidFill>
                </a:endParaRPr>
              </a:p>
            </p:txBody>
          </p:sp>
          <p:sp>
            <p:nvSpPr>
              <p:cNvPr id="160" name="Rectangle 8"/>
              <p:cNvSpPr>
                <a:spLocks noChangeArrowheads="1"/>
              </p:cNvSpPr>
              <p:nvPr/>
            </p:nvSpPr>
            <p:spPr bwMode="auto">
              <a:xfrm>
                <a:off x="1147373" y="3214686"/>
                <a:ext cx="1360236" cy="1800000"/>
              </a:xfrm>
              <a:prstGeom prst="rect">
                <a:avLst/>
              </a:prstGeom>
              <a:solidFill>
                <a:schemeClr val="accent1"/>
              </a:solidFill>
              <a:ln w="9525">
                <a:no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3.1</a:t>
                </a: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需求</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管理</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endPar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p:txBody>
          </p:sp>
          <p:sp>
            <p:nvSpPr>
              <p:cNvPr id="161" name="Rectangle 9"/>
              <p:cNvSpPr>
                <a:spLocks noChangeArrowheads="1"/>
              </p:cNvSpPr>
              <p:nvPr/>
            </p:nvSpPr>
            <p:spPr bwMode="auto">
              <a:xfrm>
                <a:off x="5794618" y="3214686"/>
                <a:ext cx="1360236" cy="1800000"/>
              </a:xfrm>
              <a:prstGeom prst="rect">
                <a:avLst/>
              </a:prstGeom>
              <a:solidFill>
                <a:schemeClr val="accent1"/>
              </a:solidFill>
              <a:ln w="9525">
                <a:solidFill>
                  <a:srgbClr val="FFFFFF"/>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3.4</a:t>
                </a: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生产</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计划</a:t>
                </a:r>
                <a:b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b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与执行</a:t>
                </a:r>
                <a:endParaRPr lang="zh-CN" altLang="en-US" sz="1600" b="1" dirty="0">
                  <a:solidFill>
                    <a:srgbClr val="FFFFFF"/>
                  </a:solidFill>
                  <a:latin typeface="微软雅黑" panose="020B0503020204020204" charset="-122"/>
                  <a:ea typeface="微软雅黑" panose="020B0503020204020204" charset="-122"/>
                  <a:cs typeface="+mj-cs"/>
                </a:endParaRPr>
              </a:p>
            </p:txBody>
          </p:sp>
          <p:sp>
            <p:nvSpPr>
              <p:cNvPr id="162" name="Rectangle 10"/>
              <p:cNvSpPr>
                <a:spLocks noChangeArrowheads="1"/>
              </p:cNvSpPr>
              <p:nvPr/>
            </p:nvSpPr>
            <p:spPr bwMode="auto">
              <a:xfrm>
                <a:off x="7343702" y="3214686"/>
                <a:ext cx="1360236" cy="1800000"/>
              </a:xfrm>
              <a:prstGeom prst="rect">
                <a:avLst/>
              </a:prstGeom>
              <a:solidFill>
                <a:schemeClr val="accent1"/>
              </a:solidFill>
              <a:ln w="9525">
                <a:solidFill>
                  <a:srgbClr val="FFFFFF"/>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3.5</a:t>
                </a: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零部件</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计划</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与配送</a:t>
                </a:r>
              </a:p>
            </p:txBody>
          </p:sp>
          <p:sp>
            <p:nvSpPr>
              <p:cNvPr id="163" name="Rectangle 14"/>
              <p:cNvSpPr>
                <a:spLocks noChangeArrowheads="1"/>
              </p:cNvSpPr>
              <p:nvPr/>
            </p:nvSpPr>
            <p:spPr bwMode="auto">
              <a:xfrm>
                <a:off x="971600" y="5888583"/>
                <a:ext cx="7848872" cy="457200"/>
              </a:xfrm>
              <a:prstGeom prst="rect">
                <a:avLst/>
              </a:prstGeom>
              <a:solidFill>
                <a:schemeClr val="accent1"/>
              </a:solidFill>
              <a:ln w="9525">
                <a:solidFill>
                  <a:srgbClr val="000000"/>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5.0</a:t>
                </a: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流程与信息系统</a:t>
                </a:r>
                <a:endParaRPr lang="zh-CN" altLang="en-US" sz="1600" b="1" dirty="0">
                  <a:solidFill>
                    <a:srgbClr val="FFFFFF"/>
                  </a:solidFill>
                  <a:latin typeface="微软雅黑" panose="020B0503020204020204" charset="-122"/>
                  <a:ea typeface="微软雅黑" panose="020B0503020204020204" charset="-122"/>
                  <a:cs typeface="+mj-cs"/>
                </a:endParaRPr>
              </a:p>
            </p:txBody>
          </p:sp>
          <p:sp>
            <p:nvSpPr>
              <p:cNvPr id="166" name="Rectangle 17"/>
              <p:cNvSpPr>
                <a:spLocks noChangeArrowheads="1"/>
              </p:cNvSpPr>
              <p:nvPr/>
            </p:nvSpPr>
            <p:spPr bwMode="auto">
              <a:xfrm>
                <a:off x="971600" y="5301208"/>
                <a:ext cx="7848872" cy="457200"/>
              </a:xfrm>
              <a:prstGeom prst="rect">
                <a:avLst/>
              </a:prstGeom>
              <a:solidFill>
                <a:schemeClr val="accent1"/>
              </a:solidFill>
              <a:ln w="9525">
                <a:solidFill>
                  <a:schemeClr val="tx1"/>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4.0</a:t>
                </a: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绩效管理</a:t>
                </a:r>
                <a:endParaRPr lang="zh-CN" altLang="en-US" sz="1600" b="1" dirty="0">
                  <a:solidFill>
                    <a:srgbClr val="FFFFFF"/>
                  </a:solidFill>
                  <a:latin typeface="微软雅黑" panose="020B0503020204020204" charset="-122"/>
                  <a:ea typeface="微软雅黑" panose="020B0503020204020204" charset="-122"/>
                  <a:cs typeface="+mj-cs"/>
                </a:endParaRPr>
              </a:p>
            </p:txBody>
          </p:sp>
          <p:sp>
            <p:nvSpPr>
              <p:cNvPr id="167" name="Rectangle 8"/>
              <p:cNvSpPr>
                <a:spLocks noChangeArrowheads="1"/>
              </p:cNvSpPr>
              <p:nvPr/>
            </p:nvSpPr>
            <p:spPr bwMode="auto">
              <a:xfrm>
                <a:off x="2696454" y="3214686"/>
                <a:ext cx="1360236" cy="1800000"/>
              </a:xfrm>
              <a:prstGeom prst="rect">
                <a:avLst/>
              </a:prstGeom>
              <a:solidFill>
                <a:schemeClr val="accent1"/>
              </a:solidFill>
              <a:ln w="9525">
                <a:solidFill>
                  <a:srgbClr val="FFFFFF"/>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3.2</a:t>
                </a: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订单</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r>
                  <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管理</a:t>
                </a:r>
                <a:endPar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a:p>
                <a:pPr algn="ctr"/>
                <a:endParaRPr lang="zh-CN" altLang="en-US" sz="1600" b="1" dirty="0">
                  <a:solidFill>
                    <a:srgbClr val="FFFFFF"/>
                  </a:solidFill>
                  <a:latin typeface="微软雅黑" panose="020B0503020204020204" charset="-122"/>
                  <a:ea typeface="微软雅黑" panose="020B0503020204020204" charset="-122"/>
                  <a:cs typeface="+mj-cs"/>
                  <a:sym typeface="Arial" panose="020B0604020202020204" pitchFamily="34" charset="0"/>
                </a:endParaRPr>
              </a:p>
            </p:txBody>
          </p:sp>
          <p:sp>
            <p:nvSpPr>
              <p:cNvPr id="168" name="Rectangle 9"/>
              <p:cNvSpPr>
                <a:spLocks noChangeArrowheads="1"/>
              </p:cNvSpPr>
              <p:nvPr/>
            </p:nvSpPr>
            <p:spPr bwMode="auto">
              <a:xfrm>
                <a:off x="4245536" y="3214686"/>
                <a:ext cx="1360236" cy="1800000"/>
              </a:xfrm>
              <a:prstGeom prst="rect">
                <a:avLst/>
              </a:prstGeom>
              <a:solidFill>
                <a:schemeClr val="accent1"/>
              </a:solidFill>
              <a:ln w="9525">
                <a:solidFill>
                  <a:srgbClr val="FFFFFF"/>
                </a:solidFill>
                <a:miter lim="800000"/>
              </a:ln>
            </p:spPr>
            <p:txBody>
              <a:bodyPr wrap="none" anchor="ctr"/>
              <a:lstStyle/>
              <a:p>
                <a:pPr algn="ctr"/>
                <a:r>
                  <a:rPr lang="en-US" altLang="zh-CN" sz="1600" b="1" dirty="0">
                    <a:solidFill>
                      <a:srgbClr val="FFFFFF"/>
                    </a:solidFill>
                    <a:latin typeface="微软雅黑" panose="020B0503020204020204" charset="-122"/>
                    <a:ea typeface="微软雅黑" panose="020B0503020204020204" charset="-122"/>
                    <a:cs typeface="+mj-cs"/>
                    <a:sym typeface="Arial" panose="020B0604020202020204" pitchFamily="34" charset="0"/>
                  </a:rPr>
                  <a:t>3.3</a:t>
                </a:r>
              </a:p>
              <a:p>
                <a:pPr algn="ctr"/>
                <a:r>
                  <a:rPr lang="zh-CN" altLang="en-US" sz="1600" b="1" dirty="0">
                    <a:solidFill>
                      <a:srgbClr val="FFFFFF"/>
                    </a:solidFill>
                    <a:latin typeface="微软雅黑" panose="020B0503020204020204" charset="-122"/>
                    <a:ea typeface="微软雅黑" panose="020B0503020204020204" charset="-122"/>
                    <a:cs typeface="+mj-cs"/>
                  </a:rPr>
                  <a:t>产销</a:t>
                </a:r>
                <a:endParaRPr lang="en-US" altLang="zh-CN" sz="1600" b="1" dirty="0">
                  <a:solidFill>
                    <a:srgbClr val="FFFFFF"/>
                  </a:solidFill>
                  <a:latin typeface="微软雅黑" panose="020B0503020204020204" charset="-122"/>
                  <a:ea typeface="微软雅黑" panose="020B0503020204020204" charset="-122"/>
                  <a:cs typeface="+mj-cs"/>
                </a:endParaRPr>
              </a:p>
              <a:p>
                <a:pPr algn="ctr"/>
                <a:r>
                  <a:rPr lang="zh-CN" altLang="en-US" sz="1600" b="1" dirty="0">
                    <a:solidFill>
                      <a:srgbClr val="FFFFFF"/>
                    </a:solidFill>
                    <a:latin typeface="微软雅黑" panose="020B0503020204020204" charset="-122"/>
                    <a:ea typeface="微软雅黑" panose="020B0503020204020204" charset="-122"/>
                    <a:cs typeface="+mj-cs"/>
                  </a:rPr>
                  <a:t>平衡</a:t>
                </a:r>
                <a:endParaRPr lang="en-US" altLang="zh-CN" sz="1600" b="1" dirty="0">
                  <a:solidFill>
                    <a:srgbClr val="FFFFFF"/>
                  </a:solidFill>
                  <a:latin typeface="微软雅黑" panose="020B0503020204020204" charset="-122"/>
                  <a:ea typeface="微软雅黑" panose="020B0503020204020204" charset="-122"/>
                  <a:cs typeface="+mj-cs"/>
                </a:endParaRPr>
              </a:p>
              <a:p>
                <a:pPr algn="ctr"/>
                <a:endParaRPr lang="zh-CN" altLang="en-US" sz="1600" b="1" dirty="0">
                  <a:solidFill>
                    <a:srgbClr val="FFFFFF"/>
                  </a:solidFill>
                  <a:latin typeface="微软雅黑" panose="020B0503020204020204" charset="-122"/>
                  <a:ea typeface="微软雅黑" panose="020B0503020204020204" charset="-122"/>
                  <a:cs typeface="+mj-cs"/>
                </a:endParaRPr>
              </a:p>
            </p:txBody>
          </p:sp>
        </p:grpSp>
      </p:grpSp>
      <p:sp>
        <p:nvSpPr>
          <p:cNvPr id="169" name="右箭头 168"/>
          <p:cNvSpPr/>
          <p:nvPr/>
        </p:nvSpPr>
        <p:spPr bwMode="auto">
          <a:xfrm>
            <a:off x="5630188" y="1785926"/>
            <a:ext cx="1152000" cy="428628"/>
          </a:xfrm>
          <a:prstGeom prst="rightArrow">
            <a:avLst>
              <a:gd name="adj1" fmla="val 63989"/>
              <a:gd name="adj2" fmla="val 50000"/>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lIns="36000" tIns="54000" rIns="36000" bIns="36000" rtlCol="0" anchor="ctr"/>
          <a:lstStyle/>
          <a:p>
            <a:pPr algn="ctr"/>
            <a:r>
              <a:rPr lang="en-US" altLang="zh-CN" sz="1200" b="1" dirty="0">
                <a:latin typeface="微软雅黑" panose="020B0503020204020204" charset="-122"/>
                <a:ea typeface="微软雅黑" panose="020B0503020204020204" charset="-122"/>
              </a:rPr>
              <a:t>3</a:t>
            </a:r>
            <a:r>
              <a:rPr lang="zh-CN" altLang="en-US" sz="1200" b="1" dirty="0">
                <a:latin typeface="微软雅黑" panose="020B0503020204020204" charset="-122"/>
                <a:ea typeface="微软雅黑" panose="020B0503020204020204" charset="-122"/>
              </a:rPr>
              <a:t>个关键问题</a:t>
            </a:r>
          </a:p>
        </p:txBody>
      </p:sp>
      <p:sp>
        <p:nvSpPr>
          <p:cNvPr id="26" name="右箭头 25"/>
          <p:cNvSpPr/>
          <p:nvPr/>
        </p:nvSpPr>
        <p:spPr bwMode="auto">
          <a:xfrm>
            <a:off x="5630188" y="2489896"/>
            <a:ext cx="1152000" cy="428628"/>
          </a:xfrm>
          <a:prstGeom prst="rightArrow">
            <a:avLst>
              <a:gd name="adj1" fmla="val 63989"/>
              <a:gd name="adj2" fmla="val 50000"/>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lIns="36000" tIns="54000" rIns="36000" bIns="36000" rtlCol="0" anchor="ctr"/>
          <a:lstStyle/>
          <a:p>
            <a:pPr algn="ctr"/>
            <a:r>
              <a:rPr lang="en-US" altLang="zh-CN" sz="1200" b="1" dirty="0">
                <a:latin typeface="微软雅黑" panose="020B0503020204020204" charset="-122"/>
                <a:ea typeface="微软雅黑" panose="020B0503020204020204" charset="-122"/>
              </a:rPr>
              <a:t>2</a:t>
            </a:r>
            <a:r>
              <a:rPr lang="zh-CN" altLang="en-US" sz="1200" b="1" dirty="0">
                <a:latin typeface="微软雅黑" panose="020B0503020204020204" charset="-122"/>
                <a:ea typeface="微软雅黑" panose="020B0503020204020204" charset="-122"/>
              </a:rPr>
              <a:t>个现状情况</a:t>
            </a:r>
          </a:p>
        </p:txBody>
      </p:sp>
      <p:sp>
        <p:nvSpPr>
          <p:cNvPr id="29" name="右箭头 28"/>
          <p:cNvSpPr/>
          <p:nvPr/>
        </p:nvSpPr>
        <p:spPr bwMode="auto">
          <a:xfrm>
            <a:off x="5630188" y="4000504"/>
            <a:ext cx="1152000" cy="428628"/>
          </a:xfrm>
          <a:prstGeom prst="rightArrow">
            <a:avLst>
              <a:gd name="adj1" fmla="val 63989"/>
              <a:gd name="adj2" fmla="val 50000"/>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lIns="36000" tIns="54000" rIns="36000" bIns="36000" rtlCol="0" anchor="ctr"/>
          <a:lstStyle/>
          <a:p>
            <a:pPr algn="ctr"/>
            <a:r>
              <a:rPr lang="en-US" altLang="zh-CN" sz="1200" b="1" dirty="0">
                <a:latin typeface="微软雅黑" panose="020B0503020204020204" charset="-122"/>
                <a:ea typeface="微软雅黑" panose="020B0503020204020204" charset="-122"/>
              </a:rPr>
              <a:t>8</a:t>
            </a:r>
            <a:r>
              <a:rPr lang="zh-CN" altLang="en-US" sz="1200" b="1" dirty="0">
                <a:latin typeface="微软雅黑" panose="020B0503020204020204" charset="-122"/>
                <a:ea typeface="微软雅黑" panose="020B0503020204020204" charset="-122"/>
              </a:rPr>
              <a:t>个关键问题</a:t>
            </a:r>
          </a:p>
        </p:txBody>
      </p:sp>
      <p:sp>
        <p:nvSpPr>
          <p:cNvPr id="30" name="右箭头 29"/>
          <p:cNvSpPr/>
          <p:nvPr/>
        </p:nvSpPr>
        <p:spPr bwMode="auto">
          <a:xfrm>
            <a:off x="5630188" y="5350706"/>
            <a:ext cx="1152000" cy="428628"/>
          </a:xfrm>
          <a:prstGeom prst="rightArrow">
            <a:avLst>
              <a:gd name="adj1" fmla="val 63989"/>
              <a:gd name="adj2" fmla="val 50000"/>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lIns="36000" tIns="54000" rIns="36000" bIns="36000" rtlCol="0" anchor="ctr"/>
          <a:lstStyle/>
          <a:p>
            <a:pPr algn="ctr"/>
            <a:r>
              <a:rPr lang="en-US" altLang="zh-CN" sz="1200" b="1" dirty="0">
                <a:latin typeface="微软雅黑" panose="020B0503020204020204" charset="-122"/>
                <a:ea typeface="微软雅黑" panose="020B0503020204020204" charset="-122"/>
              </a:rPr>
              <a:t>1</a:t>
            </a:r>
            <a:r>
              <a:rPr lang="zh-CN" altLang="en-US" sz="1200" b="1" dirty="0">
                <a:latin typeface="微软雅黑" panose="020B0503020204020204" charset="-122"/>
                <a:ea typeface="微软雅黑" panose="020B0503020204020204" charset="-122"/>
              </a:rPr>
              <a:t>个关键问题</a:t>
            </a:r>
          </a:p>
        </p:txBody>
      </p:sp>
      <p:sp>
        <p:nvSpPr>
          <p:cNvPr id="31" name="右箭头 30"/>
          <p:cNvSpPr/>
          <p:nvPr/>
        </p:nvSpPr>
        <p:spPr bwMode="auto">
          <a:xfrm>
            <a:off x="5630188" y="5902862"/>
            <a:ext cx="1152000" cy="428628"/>
          </a:xfrm>
          <a:prstGeom prst="rightArrow">
            <a:avLst>
              <a:gd name="adj1" fmla="val 63989"/>
              <a:gd name="adj2" fmla="val 50000"/>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lIns="36000" tIns="54000" rIns="36000" bIns="36000" rtlCol="0" anchor="ctr"/>
          <a:lstStyle/>
          <a:p>
            <a:pPr algn="ctr"/>
            <a:r>
              <a:rPr lang="en-US" altLang="zh-CN" sz="1200" b="1" dirty="0">
                <a:latin typeface="微软雅黑" panose="020B0503020204020204" charset="-122"/>
                <a:ea typeface="微软雅黑" panose="020B0503020204020204" charset="-122"/>
              </a:rPr>
              <a:t>1</a:t>
            </a:r>
            <a:r>
              <a:rPr lang="zh-CN" altLang="en-US" sz="1200" b="1" dirty="0">
                <a:latin typeface="微软雅黑" panose="020B0503020204020204" charset="-122"/>
                <a:ea typeface="微软雅黑" panose="020B0503020204020204" charset="-122"/>
              </a:rPr>
              <a:t>个现状情况</a:t>
            </a:r>
          </a:p>
        </p:txBody>
      </p:sp>
      <p:sp>
        <p:nvSpPr>
          <p:cNvPr id="32" name="左大括号 31"/>
          <p:cNvSpPr/>
          <p:nvPr/>
        </p:nvSpPr>
        <p:spPr bwMode="auto">
          <a:xfrm>
            <a:off x="6816059" y="1651000"/>
            <a:ext cx="214314" cy="698500"/>
          </a:xfrm>
          <a:prstGeom prst="leftBrace">
            <a:avLst>
              <a:gd name="adj1" fmla="val 3499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33" name="左大括号 32"/>
          <p:cNvSpPr/>
          <p:nvPr/>
        </p:nvSpPr>
        <p:spPr bwMode="auto">
          <a:xfrm>
            <a:off x="6816059" y="2428868"/>
            <a:ext cx="214314" cy="571504"/>
          </a:xfrm>
          <a:prstGeom prst="leftBrace">
            <a:avLst>
              <a:gd name="adj1" fmla="val 3499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34" name="左大括号 33"/>
          <p:cNvSpPr/>
          <p:nvPr/>
        </p:nvSpPr>
        <p:spPr bwMode="auto">
          <a:xfrm>
            <a:off x="6817646" y="3082290"/>
            <a:ext cx="214314" cy="2228850"/>
          </a:xfrm>
          <a:prstGeom prst="leftBrace">
            <a:avLst>
              <a:gd name="adj1" fmla="val 3499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35" name="左大括号 34"/>
          <p:cNvSpPr/>
          <p:nvPr/>
        </p:nvSpPr>
        <p:spPr bwMode="auto">
          <a:xfrm>
            <a:off x="6819234" y="5358264"/>
            <a:ext cx="214314" cy="432000"/>
          </a:xfrm>
          <a:prstGeom prst="leftBrace">
            <a:avLst>
              <a:gd name="adj1" fmla="val 3499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36" name="左大括号 35"/>
          <p:cNvSpPr/>
          <p:nvPr/>
        </p:nvSpPr>
        <p:spPr bwMode="auto">
          <a:xfrm>
            <a:off x="6825584" y="5851542"/>
            <a:ext cx="214314" cy="540000"/>
          </a:xfrm>
          <a:prstGeom prst="leftBrace">
            <a:avLst>
              <a:gd name="adj1" fmla="val 3499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37" name="TextBox 36"/>
          <p:cNvSpPr txBox="1"/>
          <p:nvPr/>
        </p:nvSpPr>
        <p:spPr bwMode="auto">
          <a:xfrm>
            <a:off x="6288859" y="976954"/>
            <a:ext cx="1781257" cy="523220"/>
          </a:xfrm>
          <a:prstGeom prst="rect">
            <a:avLst/>
          </a:prstGeom>
          <a:noFill/>
          <a:ln>
            <a:noFill/>
          </a:ln>
        </p:spPr>
        <p:txBody>
          <a:bodyPr wrap="none" rtlCol="0">
            <a:spAutoFit/>
          </a:bodyPr>
          <a:lstStyle/>
          <a:p>
            <a:r>
              <a:rPr kumimoji="1" lang="en-US" altLang="zh-CN" sz="2800" b="1" i="1" dirty="0">
                <a:solidFill>
                  <a:srgbClr val="000000"/>
                </a:solidFill>
                <a:latin typeface="微软雅黑" panose="020B0503020204020204" charset="-122"/>
                <a:ea typeface="微软雅黑" panose="020B0503020204020204" charset="-122"/>
                <a:cs typeface="微软雅黑" panose="020B0503020204020204" charset="-122"/>
              </a:rPr>
              <a:t>15</a:t>
            </a:r>
            <a:r>
              <a:rPr kumimoji="1" lang="zh-CN" altLang="en-US" b="1" i="1" dirty="0">
                <a:solidFill>
                  <a:srgbClr val="000000"/>
                </a:solidFill>
                <a:latin typeface="微软雅黑" panose="020B0503020204020204" charset="-122"/>
                <a:ea typeface="微软雅黑" panose="020B0503020204020204" charset="-122"/>
                <a:cs typeface="微软雅黑" panose="020B0503020204020204" charset="-122"/>
              </a:rPr>
              <a:t>个关键发现</a:t>
            </a:r>
            <a:endParaRPr kumimoji="1" lang="zh-CN" altLang="en-US" sz="3600" b="1" i="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38" name="矩形 37"/>
          <p:cNvSpPr/>
          <p:nvPr/>
        </p:nvSpPr>
        <p:spPr>
          <a:xfrm>
            <a:off x="2242442" y="1371812"/>
            <a:ext cx="2031325" cy="369332"/>
          </a:xfrm>
          <a:prstGeom prst="rect">
            <a:avLst/>
          </a:prstGeom>
        </p:spPr>
        <p:txBody>
          <a:bodyPr wrap="none">
            <a:spAutoFit/>
          </a:bodyPr>
          <a:lstStyle/>
          <a:p>
            <a:r>
              <a:rPr lang="zh-CN" altLang="en-US" b="1" dirty="0">
                <a:latin typeface="微软雅黑" panose="020B0503020204020204" charset="-122"/>
                <a:ea typeface="微软雅黑" panose="020B0503020204020204" charset="-122"/>
              </a:rPr>
              <a:t>集成计划总体框架</a:t>
            </a:r>
          </a:p>
        </p:txBody>
      </p:sp>
      <p:sp>
        <p:nvSpPr>
          <p:cNvPr id="39" name="TextBox 38"/>
          <p:cNvSpPr txBox="1"/>
          <p:nvPr/>
        </p:nvSpPr>
        <p:spPr bwMode="auto">
          <a:xfrm>
            <a:off x="6945100" y="1614022"/>
            <a:ext cx="2048541" cy="769441"/>
          </a:xfrm>
          <a:prstGeom prst="rect">
            <a:avLst/>
          </a:prstGeom>
          <a:noFill/>
          <a:ln>
            <a:noFill/>
          </a:ln>
        </p:spPr>
        <p:txBody>
          <a:bodyPr wrap="square" rtlCol="0">
            <a:spAutoFit/>
          </a:bodyPr>
          <a:lstStyle/>
          <a:p>
            <a:pPr marL="174625" indent="-174625">
              <a:buFont typeface="+mj-ea"/>
              <a:buAutoNum type="circleNumDbPlain"/>
            </a:pPr>
            <a:r>
              <a:rPr kumimoji="1" lang="zh-CN" altLang="en-US" sz="1100" dirty="0">
                <a:solidFill>
                  <a:srgbClr val="000000"/>
                </a:solidFill>
                <a:latin typeface="微软雅黑" panose="020B0503020204020204" charset="-122"/>
                <a:ea typeface="微软雅黑" panose="020B0503020204020204" charset="-122"/>
                <a:cs typeface="微软雅黑" panose="020B0503020204020204" charset="-122"/>
              </a:rPr>
              <a:t>多种订单组织方式并存，规则不够明确</a:t>
            </a:r>
          </a:p>
          <a:p>
            <a:pPr marL="174625" indent="-174625">
              <a:buFont typeface="+mj-ea"/>
              <a:buAutoNum type="circleNumDbPlain"/>
            </a:pPr>
            <a:r>
              <a:rPr kumimoji="1" lang="zh-CN" altLang="en-US" sz="1100" dirty="0">
                <a:solidFill>
                  <a:srgbClr val="000000"/>
                </a:solidFill>
                <a:latin typeface="微软雅黑" panose="020B0503020204020204" charset="-122"/>
                <a:ea typeface="微软雅黑" panose="020B0503020204020204" charset="-122"/>
                <a:cs typeface="微软雅黑" panose="020B0503020204020204" charset="-122"/>
              </a:rPr>
              <a:t>计划调整规则未明确定义</a:t>
            </a:r>
            <a:endParaRPr kumimoji="1" lang="en-US" altLang="zh-CN" sz="1100" dirty="0">
              <a:solidFill>
                <a:srgbClr val="000000"/>
              </a:solidFill>
              <a:latin typeface="微软雅黑" panose="020B0503020204020204" charset="-122"/>
              <a:ea typeface="微软雅黑" panose="020B0503020204020204" charset="-122"/>
              <a:cs typeface="微软雅黑" panose="020B0503020204020204" charset="-122"/>
            </a:endParaRPr>
          </a:p>
          <a:p>
            <a:pPr marL="174625" indent="-174625">
              <a:buFont typeface="+mj-ea"/>
              <a:buAutoNum type="circleNumDbPlain"/>
            </a:pPr>
            <a:r>
              <a:rPr kumimoji="1" lang="en-US" altLang="zh-CN" sz="1100" dirty="0">
                <a:solidFill>
                  <a:srgbClr val="000000"/>
                </a:solidFill>
                <a:latin typeface="微软雅黑" panose="020B0503020204020204" charset="-122"/>
                <a:ea typeface="微软雅黑" panose="020B0503020204020204" charset="-122"/>
                <a:cs typeface="微软雅黑" panose="020B0503020204020204" charset="-122"/>
              </a:rPr>
              <a:t>3+2</a:t>
            </a:r>
            <a:r>
              <a:rPr kumimoji="1" lang="zh-CN" altLang="en-US" sz="1100" dirty="0">
                <a:solidFill>
                  <a:srgbClr val="000000"/>
                </a:solidFill>
                <a:latin typeface="微软雅黑" panose="020B0503020204020204" charset="-122"/>
                <a:ea typeface="微软雅黑" panose="020B0503020204020204" charset="-122"/>
                <a:cs typeface="微软雅黑" panose="020B0503020204020204" charset="-122"/>
              </a:rPr>
              <a:t>滚动计划周期偏短</a:t>
            </a:r>
          </a:p>
        </p:txBody>
      </p:sp>
      <p:sp>
        <p:nvSpPr>
          <p:cNvPr id="40" name="TextBox 39"/>
          <p:cNvSpPr txBox="1"/>
          <p:nvPr/>
        </p:nvSpPr>
        <p:spPr bwMode="auto">
          <a:xfrm>
            <a:off x="6943968" y="2366420"/>
            <a:ext cx="2048541" cy="707886"/>
          </a:xfrm>
          <a:prstGeom prst="rect">
            <a:avLst/>
          </a:prstGeom>
          <a:noFill/>
          <a:ln>
            <a:noFill/>
          </a:ln>
        </p:spPr>
        <p:txBody>
          <a:bodyPr wrap="square" rtlCol="0">
            <a:spAutoFit/>
          </a:bodyPr>
          <a:lstStyle/>
          <a:p>
            <a:pPr marL="174625" indent="-174625">
              <a:buFont typeface="+mj-ea"/>
              <a:buAutoNum type="circleNumDbPlain"/>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集成计划以职能为中心，计划职能涉及多个部门</a:t>
            </a:r>
            <a:endParaRPr kumimoji="1" lang="en-US" altLang="zh-CN" sz="1000" dirty="0">
              <a:solidFill>
                <a:srgbClr val="000000"/>
              </a:solidFill>
              <a:latin typeface="微软雅黑" panose="020B0503020204020204" charset="-122"/>
              <a:ea typeface="微软雅黑" panose="020B0503020204020204" charset="-122"/>
              <a:cs typeface="微软雅黑" panose="020B0503020204020204" charset="-122"/>
            </a:endParaRPr>
          </a:p>
          <a:p>
            <a:pPr marL="174625" indent="-174625">
              <a:buFont typeface="+mj-ea"/>
              <a:buAutoNum type="circleNumDbPlain"/>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采购执行涉及多个部门，对供应商窗口较多</a:t>
            </a:r>
          </a:p>
        </p:txBody>
      </p:sp>
      <p:sp>
        <p:nvSpPr>
          <p:cNvPr id="41" name="TextBox 40"/>
          <p:cNvSpPr txBox="1"/>
          <p:nvPr/>
        </p:nvSpPr>
        <p:spPr bwMode="auto">
          <a:xfrm>
            <a:off x="6943968" y="3020285"/>
            <a:ext cx="2048541" cy="2431435"/>
          </a:xfrm>
          <a:prstGeom prst="rect">
            <a:avLst/>
          </a:prstGeom>
          <a:noFill/>
          <a:ln>
            <a:noFill/>
          </a:ln>
        </p:spPr>
        <p:txBody>
          <a:bodyPr wrap="square" rtlCol="0">
            <a:spAutoFit/>
          </a:bodyPr>
          <a:lstStyle/>
          <a:p>
            <a:pPr marL="174625" indent="-174625">
              <a:buFont typeface="+mj-ea"/>
              <a:buAutoNum type="circleNumDbPlain"/>
            </a:pPr>
            <a:r>
              <a:rPr lang="zh-CN" altLang="en-US" sz="1000" dirty="0">
                <a:latin typeface="微软雅黑" panose="020B0503020204020204" charset="-122"/>
                <a:ea typeface="微软雅黑" panose="020B0503020204020204" charset="-122"/>
              </a:rPr>
              <a:t>需求计划准确率偏低，对生产和采购指导性不强</a:t>
            </a:r>
            <a:endParaRPr lang="en-US" altLang="zh-CN" sz="1000" dirty="0">
              <a:latin typeface="微软雅黑" panose="020B0503020204020204" charset="-122"/>
              <a:ea typeface="微软雅黑" panose="020B0503020204020204" charset="-122"/>
            </a:endParaRPr>
          </a:p>
          <a:p>
            <a:pPr marL="174625" indent="-174625">
              <a:buFont typeface="+mj-ea"/>
              <a:buAutoNum type="circleNumDbPlain"/>
            </a:pPr>
            <a:r>
              <a:rPr lang="zh-CN" altLang="en-US" sz="1000" dirty="0">
                <a:latin typeface="微软雅黑" panose="020B0503020204020204" charset="-122"/>
                <a:ea typeface="微软雅黑" panose="020B0503020204020204" charset="-122"/>
              </a:rPr>
              <a:t>缺乏端到端的订单管理，订单处理规则不明确</a:t>
            </a:r>
            <a:endParaRPr lang="en-US" altLang="zh-CN" sz="1000" dirty="0">
              <a:latin typeface="微软雅黑" panose="020B0503020204020204" charset="-122"/>
              <a:ea typeface="微软雅黑" panose="020B0503020204020204" charset="-122"/>
            </a:endParaRPr>
          </a:p>
          <a:p>
            <a:pPr marL="174625" indent="-174625">
              <a:buFont typeface="+mj-ea"/>
              <a:buAutoNum type="circleNumDbPlain"/>
            </a:pPr>
            <a:r>
              <a:rPr lang="zh-CN" altLang="en-US" sz="1000" dirty="0">
                <a:latin typeface="微软雅黑" panose="020B0503020204020204" charset="-122"/>
                <a:ea typeface="微软雅黑" panose="020B0503020204020204" charset="-122"/>
              </a:rPr>
              <a:t>产销平衡机制有待完善</a:t>
            </a:r>
            <a:endParaRPr lang="en-US" altLang="zh-CN" sz="1000" dirty="0">
              <a:latin typeface="微软雅黑" panose="020B0503020204020204" charset="-122"/>
              <a:ea typeface="微软雅黑" panose="020B0503020204020204" charset="-122"/>
            </a:endParaRPr>
          </a:p>
          <a:p>
            <a:pPr marL="174625" indent="-174625">
              <a:buFont typeface="+mj-ea"/>
              <a:buAutoNum type="circleNumDbPlain"/>
            </a:pPr>
            <a:r>
              <a:rPr lang="en-US" altLang="zh-CN" sz="1000" dirty="0">
                <a:latin typeface="微软雅黑" panose="020B0503020204020204" charset="-122"/>
                <a:ea typeface="微软雅黑" panose="020B0503020204020204" charset="-122"/>
              </a:rPr>
              <a:t>3</a:t>
            </a:r>
            <a:r>
              <a:rPr lang="zh-CN" altLang="en-US" sz="1000" dirty="0">
                <a:latin typeface="微软雅黑" panose="020B0503020204020204" charset="-122"/>
                <a:ea typeface="微软雅黑" panose="020B0503020204020204" charset="-122"/>
              </a:rPr>
              <a:t>日锁定计划难以真正锁定，影响生产稳定性</a:t>
            </a:r>
            <a:endParaRPr lang="en-US" altLang="zh-CN" sz="1000" dirty="0">
              <a:latin typeface="微软雅黑" panose="020B0503020204020204" charset="-122"/>
              <a:ea typeface="微软雅黑" panose="020B0503020204020204" charset="-122"/>
            </a:endParaRPr>
          </a:p>
          <a:p>
            <a:pPr marL="174625" indent="-174625">
              <a:buFont typeface="+mj-ea"/>
              <a:buAutoNum type="circleNumDbPlain"/>
            </a:pPr>
            <a:r>
              <a:rPr lang="zh-CN" altLang="en-US" sz="1000" dirty="0">
                <a:latin typeface="微软雅黑" panose="020B0503020204020204" charset="-122"/>
                <a:ea typeface="微软雅黑" panose="020B0503020204020204" charset="-122"/>
              </a:rPr>
              <a:t>零部件计划对供应商备货及生产指导性不足</a:t>
            </a:r>
            <a:endParaRPr lang="en-US" altLang="zh-CN" sz="1000" dirty="0">
              <a:latin typeface="微软雅黑" panose="020B0503020204020204" charset="-122"/>
              <a:ea typeface="微软雅黑" panose="020B0503020204020204" charset="-122"/>
            </a:endParaRPr>
          </a:p>
          <a:p>
            <a:pPr marL="174625" indent="-174625">
              <a:buFont typeface="+mj-ea"/>
              <a:buAutoNum type="circleNumDbPlain"/>
            </a:pPr>
            <a:r>
              <a:rPr lang="zh-CN" altLang="en-US" sz="900" dirty="0">
                <a:latin typeface="微软雅黑" panose="020B0503020204020204" charset="-122"/>
                <a:ea typeface="微软雅黑" panose="020B0503020204020204" charset="-122"/>
              </a:rPr>
              <a:t>因计划变更等造成的零部件缺件较多，供应及预警机制需完善</a:t>
            </a:r>
            <a:endParaRPr lang="en-US" altLang="zh-CN" sz="900" dirty="0">
              <a:latin typeface="微软雅黑" panose="020B0503020204020204" charset="-122"/>
              <a:ea typeface="微软雅黑" panose="020B0503020204020204" charset="-122"/>
            </a:endParaRPr>
          </a:p>
          <a:p>
            <a:pPr marL="174625" indent="-174625">
              <a:buFont typeface="+mj-ea"/>
              <a:buAutoNum type="circleNumDbPlain"/>
            </a:pPr>
            <a:r>
              <a:rPr lang="zh-CN" altLang="en-US" sz="1000" dirty="0">
                <a:latin typeface="微软雅黑" panose="020B0503020204020204" charset="-122"/>
                <a:ea typeface="微软雅黑" panose="020B0503020204020204" charset="-122"/>
              </a:rPr>
              <a:t>工程变更频繁，且信息下达不及时，影响生产的顺畅运行</a:t>
            </a:r>
            <a:endParaRPr lang="en-US" altLang="zh-CN" sz="1000" dirty="0">
              <a:latin typeface="微软雅黑" panose="020B0503020204020204" charset="-122"/>
              <a:ea typeface="微软雅黑" panose="020B0503020204020204" charset="-122"/>
            </a:endParaRPr>
          </a:p>
          <a:p>
            <a:pPr marL="174625" indent="-174625">
              <a:buFont typeface="+mj-ea"/>
              <a:buAutoNum type="circleNumDbPlain"/>
            </a:pPr>
            <a:r>
              <a:rPr lang="en-US" altLang="zh-CN" sz="1000" dirty="0">
                <a:latin typeface="微软雅黑" panose="020B0503020204020204" charset="-122"/>
                <a:ea typeface="微软雅黑" panose="020B0503020204020204" charset="-122"/>
              </a:rPr>
              <a:t>MES</a:t>
            </a:r>
            <a:r>
              <a:rPr lang="zh-CN" altLang="en-US" sz="1000" dirty="0">
                <a:latin typeface="微软雅黑" panose="020B0503020204020204" charset="-122"/>
                <a:ea typeface="微软雅黑" panose="020B0503020204020204" charset="-122"/>
              </a:rPr>
              <a:t>自动化集成化程度较低，影响生产制造精益化水平</a:t>
            </a:r>
          </a:p>
        </p:txBody>
      </p:sp>
      <p:sp>
        <p:nvSpPr>
          <p:cNvPr id="42" name="TextBox 41"/>
          <p:cNvSpPr txBox="1"/>
          <p:nvPr/>
        </p:nvSpPr>
        <p:spPr bwMode="auto">
          <a:xfrm>
            <a:off x="6942154" y="5364320"/>
            <a:ext cx="2048541" cy="400110"/>
          </a:xfrm>
          <a:prstGeom prst="rect">
            <a:avLst/>
          </a:prstGeom>
          <a:noFill/>
          <a:ln>
            <a:noFill/>
          </a:ln>
        </p:spPr>
        <p:txBody>
          <a:bodyPr wrap="square" rtlCol="0">
            <a:spAutoFit/>
          </a:bodyPr>
          <a:lstStyle/>
          <a:p>
            <a:pPr marL="174625" indent="-174625">
              <a:buFont typeface="+mj-ea"/>
              <a:buAutoNum type="circleNumDbPlain"/>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集成计划指标体系还不完善，过程性管理指标较少</a:t>
            </a:r>
          </a:p>
        </p:txBody>
      </p:sp>
      <p:sp>
        <p:nvSpPr>
          <p:cNvPr id="43" name="TextBox 42"/>
          <p:cNvSpPr txBox="1"/>
          <p:nvPr/>
        </p:nvSpPr>
        <p:spPr bwMode="auto">
          <a:xfrm>
            <a:off x="6942154" y="5786454"/>
            <a:ext cx="2048541" cy="707886"/>
          </a:xfrm>
          <a:prstGeom prst="rect">
            <a:avLst/>
          </a:prstGeom>
          <a:noFill/>
          <a:ln>
            <a:noFill/>
          </a:ln>
        </p:spPr>
        <p:txBody>
          <a:bodyPr wrap="square" rtlCol="0">
            <a:spAutoFit/>
          </a:bodyPr>
          <a:lstStyle/>
          <a:p>
            <a:pPr marL="174625" indent="-174625">
              <a:buFont typeface="+mj-ea"/>
              <a:buAutoNum type="circleNumDbPlain"/>
            </a:pP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集成计划相关的一部分业务还未搭建流程，未来需要基于计划模式及方案对流程进行新增与优化</a:t>
            </a:r>
          </a:p>
        </p:txBody>
      </p:sp>
      <p:cxnSp>
        <p:nvCxnSpPr>
          <p:cNvPr id="45" name="直接连接符 44"/>
          <p:cNvCxnSpPr/>
          <p:nvPr/>
        </p:nvCxnSpPr>
        <p:spPr bwMode="auto">
          <a:xfrm>
            <a:off x="5572132" y="1500174"/>
            <a:ext cx="3214710" cy="1588"/>
          </a:xfrm>
          <a:prstGeom prst="line">
            <a:avLst/>
          </a:prstGeom>
          <a:solidFill>
            <a:schemeClr val="accent1"/>
          </a:solidFill>
          <a:ln w="9525" cap="flat" cmpd="sng" algn="ctr">
            <a:solidFill>
              <a:schemeClr val="tx1"/>
            </a:solidFill>
            <a:prstDash val="solid"/>
            <a:round/>
            <a:headEnd type="none" w="med" len="med"/>
            <a:tailEnd type="none"/>
          </a:ln>
          <a:effectLst/>
        </p:spPr>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标题 1"/>
          <p:cNvSpPr>
            <a:spLocks noGrp="1"/>
          </p:cNvSpPr>
          <p:nvPr>
            <p:ph type="title" idx="4294967295"/>
          </p:nvPr>
        </p:nvSpPr>
        <p:spPr>
          <a:xfrm>
            <a:off x="162000" y="593725"/>
            <a:ext cx="8820000" cy="695325"/>
          </a:xfrm>
        </p:spPr>
        <p:txBody>
          <a:bodyPr/>
          <a:lstStyle/>
          <a:p>
            <a:r>
              <a:rPr lang="zh-CN" altLang="en-US" dirty="0"/>
              <a:t>从订单组织方式来看，目前为</a:t>
            </a:r>
            <a:r>
              <a:rPr dirty="0"/>
              <a:t>MTS+MTO</a:t>
            </a:r>
            <a:r>
              <a:rPr lang="zh-CN" altLang="en-US" dirty="0"/>
              <a:t>混合模式，主要的问题是：多种订单组织方式并存，规则不够明确</a:t>
            </a:r>
          </a:p>
        </p:txBody>
      </p:sp>
      <p:sp>
        <p:nvSpPr>
          <p:cNvPr id="12" name="五边形 37"/>
          <p:cNvSpPr/>
          <p:nvPr/>
        </p:nvSpPr>
        <p:spPr bwMode="auto">
          <a:xfrm>
            <a:off x="3786182" y="128338"/>
            <a:ext cx="900000" cy="288000"/>
          </a:xfrm>
          <a:prstGeom prst="homePlate">
            <a:avLst>
              <a:gd name="adj" fmla="val 34198"/>
            </a:avLst>
          </a:prstGeom>
          <a:solidFill>
            <a:srgbClr val="7889FB"/>
          </a:solidFill>
          <a:ln w="12700" algn="ctr">
            <a:solidFill>
              <a:srgbClr val="000000"/>
            </a:solidFill>
            <a:miter lim="800000"/>
          </a:ln>
        </p:spPr>
        <p:txBody>
          <a:bodyPr wrap="none" tIns="72000" anchor="ctr"/>
          <a:lstStyle/>
          <a:p>
            <a:pPr marL="0" marR="0" lvl="0" indent="0" algn="ctr" defTabSz="914400" eaLnBrk="1" fontAlgn="auto" latinLnBrk="0" hangingPunct="1">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模式现状</a:t>
            </a:r>
          </a:p>
        </p:txBody>
      </p:sp>
      <p:sp>
        <p:nvSpPr>
          <p:cNvPr id="13"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14" name="燕尾形 41"/>
          <p:cNvSpPr/>
          <p:nvPr/>
        </p:nvSpPr>
        <p:spPr bwMode="auto">
          <a:xfrm>
            <a:off x="5493436"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业务现状</a:t>
            </a:r>
          </a:p>
        </p:txBody>
      </p:sp>
      <p:sp>
        <p:nvSpPr>
          <p:cNvPr id="15"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16"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graphicFrame>
        <p:nvGraphicFramePr>
          <p:cNvPr id="18" name="Group 71"/>
          <p:cNvGraphicFramePr>
            <a:graphicFrameLocks noGrp="1"/>
          </p:cNvGraphicFramePr>
          <p:nvPr/>
        </p:nvGraphicFramePr>
        <p:xfrm>
          <a:off x="357188" y="1806575"/>
          <a:ext cx="8429684" cy="3069128"/>
        </p:xfrm>
        <a:graphic>
          <a:graphicData uri="http://schemas.openxmlformats.org/drawingml/2006/table">
            <a:tbl>
              <a:tblPr/>
              <a:tblGrid>
                <a:gridCol w="928664">
                  <a:extLst>
                    <a:ext uri="{9D8B030D-6E8A-4147-A177-3AD203B41FA5}">
                      <a16:colId xmlns:a16="http://schemas.microsoft.com/office/drawing/2014/main" val="20000"/>
                    </a:ext>
                  </a:extLst>
                </a:gridCol>
                <a:gridCol w="2214578">
                  <a:extLst>
                    <a:ext uri="{9D8B030D-6E8A-4147-A177-3AD203B41FA5}">
                      <a16:colId xmlns:a16="http://schemas.microsoft.com/office/drawing/2014/main" val="20001"/>
                    </a:ext>
                  </a:extLst>
                </a:gridCol>
                <a:gridCol w="3000396">
                  <a:extLst>
                    <a:ext uri="{9D8B030D-6E8A-4147-A177-3AD203B41FA5}">
                      <a16:colId xmlns:a16="http://schemas.microsoft.com/office/drawing/2014/main" val="20002"/>
                    </a:ext>
                  </a:extLst>
                </a:gridCol>
                <a:gridCol w="2286046">
                  <a:extLst>
                    <a:ext uri="{9D8B030D-6E8A-4147-A177-3AD203B41FA5}">
                      <a16:colId xmlns:a16="http://schemas.microsoft.com/office/drawing/2014/main" val="20003"/>
                    </a:ext>
                  </a:extLst>
                </a:gridCol>
              </a:tblGrid>
              <a:tr h="401862">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策略</a:t>
                      </a: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按预测生产策略（</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MTS</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混合策略（</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MTS+MTO</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按订单生产策略（</a:t>
                      </a:r>
                      <a:r>
                        <a:rPr kumimoji="0" lang="en-US" altLang="zh-CN"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MTO</a:t>
                      </a:r>
                      <a:r>
                        <a:rPr kumimoji="0" lang="zh-CN" altLang="en-US" sz="14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BFE"/>
                    </a:solidFill>
                  </a:tcPr>
                </a:tc>
                <a:extLst>
                  <a:ext uri="{0D108BD9-81ED-4DB2-BD59-A6C34878D82A}">
                    <a16:rowId xmlns:a16="http://schemas.microsoft.com/office/drawing/2014/main" val="10000"/>
                  </a:ext>
                </a:extLst>
              </a:tr>
              <a:tr h="42226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4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产品</a:t>
                      </a: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标准车型</a:t>
                      </a: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标准车型</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客户特殊配置车型</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客户特殊配置车型</a:t>
                      </a: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1042605">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4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a:t>
                      </a:r>
                      <a:endParaRPr kumimoji="0" lang="en-US" altLang="zh-CN" sz="14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推动模式</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主要由预测驱动</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少部分由订单驱动</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推拉混合模式</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客户订单比补货订单具有更高的优先级</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通过更好的预测和计划，常规车型的交付周期可被有效缩短</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拉动模式</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95250" marR="0" lvl="0" indent="-95250" algn="l" defTabSz="914400" rtl="0" eaLnBrk="0" fontAlgn="base" latinLnBrk="0" hangingPunct="0">
                        <a:lnSpc>
                          <a:spcPct val="100000"/>
                        </a:lnSpc>
                        <a:spcBef>
                          <a:spcPct val="20000"/>
                        </a:spcBef>
                        <a:spcAft>
                          <a:spcPct val="0"/>
                        </a:spcAft>
                        <a:buClr>
                          <a:schemeClr val="tx1"/>
                        </a:buClr>
                        <a:buSzTx/>
                        <a:buFont typeface="Arial" panose="020B0604020202020204" pitchFamily="34" charset="0"/>
                        <a:buChar cha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由订单驱动</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2"/>
                  </a:ext>
                </a:extLst>
              </a:tr>
              <a:tr h="682304">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4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交付周期</a:t>
                      </a:r>
                      <a:endParaRPr kumimoji="0" lang="en-US" altLang="zh-CN" sz="14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交付周期短</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直接购买库存中的现货产品 </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改装</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 </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在途周期</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交付周期中等</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订单到入库</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改装</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 </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在途周期</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交付周期长</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订单到入库</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改装</a:t>
                      </a:r>
                      <a:r>
                        <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 + </a:t>
                      </a: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在途周期</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3"/>
                  </a:ext>
                </a:extLst>
              </a:tr>
              <a:tr h="502153">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4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库存</a:t>
                      </a:r>
                      <a:endParaRPr kumimoji="0" lang="en-US" altLang="zh-CN" sz="14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BFE"/>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库存满足</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标准车型：库存满足</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客户特殊配置车型：不备库存 </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不备库存</a:t>
                      </a:r>
                      <a:endParaRPr kumimoji="0" lang="en-US" altLang="zh-CN" sz="12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T="72000" marB="72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4"/>
                  </a:ext>
                </a:extLst>
              </a:tr>
            </a:tbl>
          </a:graphicData>
        </a:graphic>
      </p:graphicFrame>
      <p:sp>
        <p:nvSpPr>
          <p:cNvPr id="19" name="左右箭头 10"/>
          <p:cNvSpPr>
            <a:spLocks noChangeArrowheads="1"/>
          </p:cNvSpPr>
          <p:nvPr/>
        </p:nvSpPr>
        <p:spPr bwMode="auto">
          <a:xfrm>
            <a:off x="1357290" y="1214422"/>
            <a:ext cx="7429523" cy="509603"/>
          </a:xfrm>
          <a:prstGeom prst="leftRightArrow">
            <a:avLst>
              <a:gd name="adj1" fmla="val 50000"/>
              <a:gd name="adj2" fmla="val 50081"/>
            </a:avLst>
          </a:prstGeom>
          <a:solidFill>
            <a:srgbClr val="D6DBFE"/>
          </a:solidFill>
          <a:ln w="9525" algn="ctr">
            <a:solidFill>
              <a:schemeClr val="tx1"/>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0" name="TextBox 7"/>
          <p:cNvSpPr txBox="1">
            <a:spLocks noChangeArrowheads="1"/>
          </p:cNvSpPr>
          <p:nvPr/>
        </p:nvSpPr>
        <p:spPr bwMode="auto">
          <a:xfrm>
            <a:off x="7358082" y="1326456"/>
            <a:ext cx="1286233" cy="307777"/>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产品多样性</a:t>
            </a:r>
          </a:p>
        </p:txBody>
      </p:sp>
      <p:sp>
        <p:nvSpPr>
          <p:cNvPr id="21" name="TextBox 8"/>
          <p:cNvSpPr txBox="1">
            <a:spLocks noChangeArrowheads="1"/>
          </p:cNvSpPr>
          <p:nvPr/>
        </p:nvSpPr>
        <p:spPr bwMode="auto">
          <a:xfrm>
            <a:off x="1471197" y="1326456"/>
            <a:ext cx="1457729" cy="307777"/>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产品快速交付</a:t>
            </a:r>
          </a:p>
        </p:txBody>
      </p:sp>
      <p:graphicFrame>
        <p:nvGraphicFramePr>
          <p:cNvPr id="17" name="图表 16"/>
          <p:cNvGraphicFramePr/>
          <p:nvPr/>
        </p:nvGraphicFramePr>
        <p:xfrm>
          <a:off x="6076196" y="5000636"/>
          <a:ext cx="2308024" cy="1675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图表 21"/>
          <p:cNvGraphicFramePr/>
          <p:nvPr/>
        </p:nvGraphicFramePr>
        <p:xfrm>
          <a:off x="1525566" y="4962060"/>
          <a:ext cx="2286016" cy="1714512"/>
        </p:xfrm>
        <a:graphic>
          <a:graphicData uri="http://schemas.openxmlformats.org/drawingml/2006/chart">
            <c:chart xmlns:c="http://schemas.openxmlformats.org/drawingml/2006/chart" xmlns:r="http://schemas.openxmlformats.org/officeDocument/2006/relationships" r:id="rId3"/>
          </a:graphicData>
        </a:graphic>
      </p:graphicFrame>
      <p:grpSp>
        <p:nvGrpSpPr>
          <p:cNvPr id="34" name="组合 33"/>
          <p:cNvGrpSpPr/>
          <p:nvPr/>
        </p:nvGrpSpPr>
        <p:grpSpPr>
          <a:xfrm>
            <a:off x="5088961" y="5072074"/>
            <a:ext cx="700791" cy="881051"/>
            <a:chOff x="5143504" y="5072074"/>
            <a:chExt cx="700791" cy="881051"/>
          </a:xfrm>
        </p:grpSpPr>
        <p:sp>
          <p:nvSpPr>
            <p:cNvPr id="25" name="上箭头 24"/>
            <p:cNvSpPr/>
            <p:nvPr/>
          </p:nvSpPr>
          <p:spPr bwMode="auto">
            <a:xfrm>
              <a:off x="5143504" y="5072074"/>
              <a:ext cx="357190" cy="785818"/>
            </a:xfrm>
            <a:prstGeom prst="upArrow">
              <a:avLst/>
            </a:prstGeom>
            <a:solidFill>
              <a:srgbClr val="CCCCFF"/>
            </a:solidFill>
            <a:ln w="9525" cap="flat" cmpd="sng" algn="ctr">
              <a:noFill/>
              <a:prstDash val="solid"/>
              <a:round/>
              <a:headEnd type="none" w="med" len="med"/>
              <a:tailEnd type="none"/>
            </a:ln>
            <a:effectLst/>
          </p:spPr>
          <p:txBody>
            <a:bodyPr rtlCol="0" anchor="ctr"/>
            <a:lstStyle/>
            <a:p>
              <a:pPr algn="ctr"/>
              <a:endParaRPr lang="zh-CN" altLang="en-US"/>
            </a:p>
          </p:txBody>
        </p:sp>
        <p:sp>
          <p:nvSpPr>
            <p:cNvPr id="28" name="矩形 27"/>
            <p:cNvSpPr/>
            <p:nvPr/>
          </p:nvSpPr>
          <p:spPr bwMode="auto">
            <a:xfrm>
              <a:off x="5232295" y="5786454"/>
              <a:ext cx="612000" cy="166671"/>
            </a:xfrm>
            <a:prstGeom prst="rect">
              <a:avLst/>
            </a:prstGeom>
            <a:solidFill>
              <a:srgbClr val="CCCCFF"/>
            </a:solidFill>
            <a:ln w="9525" cap="flat" cmpd="sng" algn="ctr">
              <a:noFill/>
              <a:prstDash val="solid"/>
              <a:round/>
              <a:headEnd type="none" w="med" len="med"/>
              <a:tailEnd type="none"/>
            </a:ln>
            <a:effectLst/>
          </p:spPr>
          <p:txBody>
            <a:bodyPr rtlCol="0" anchor="ctr"/>
            <a:lstStyle/>
            <a:p>
              <a:pPr algn="ctr"/>
              <a:endParaRPr lang="zh-CN" altLang="en-US"/>
            </a:p>
          </p:txBody>
        </p:sp>
      </p:grpSp>
      <p:sp>
        <p:nvSpPr>
          <p:cNvPr id="29" name="TextBox 28"/>
          <p:cNvSpPr txBox="1"/>
          <p:nvPr/>
        </p:nvSpPr>
        <p:spPr bwMode="auto">
          <a:xfrm>
            <a:off x="1429406" y="5198394"/>
            <a:ext cx="389850" cy="1077218"/>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国</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内</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市</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场</a:t>
            </a:r>
          </a:p>
        </p:txBody>
      </p:sp>
      <p:sp>
        <p:nvSpPr>
          <p:cNvPr id="30" name="圆角矩形 29"/>
          <p:cNvSpPr/>
          <p:nvPr/>
        </p:nvSpPr>
        <p:spPr bwMode="auto">
          <a:xfrm>
            <a:off x="1285852" y="5000636"/>
            <a:ext cx="2617357" cy="1472735"/>
          </a:xfrm>
          <a:prstGeom prst="roundRect">
            <a:avLst>
              <a:gd name="adj" fmla="val 10754"/>
            </a:avLst>
          </a:prstGeom>
          <a:noFill/>
          <a:ln w="9525" cap="flat" cmpd="sng" algn="ctr">
            <a:solidFill>
              <a:schemeClr val="bg1">
                <a:lumMod val="75000"/>
              </a:schemeClr>
            </a:solidFill>
            <a:prstDash val="dash"/>
            <a:round/>
            <a:headEnd type="none" w="med" len="med"/>
            <a:tailEnd type="none"/>
          </a:ln>
          <a:effectLst/>
        </p:spPr>
        <p:txBody>
          <a:bodyPr rtlCol="0" anchor="ctr"/>
          <a:lstStyle/>
          <a:p>
            <a:pPr algn="ctr"/>
            <a:endParaRPr lang="zh-CN" altLang="en-US"/>
          </a:p>
        </p:txBody>
      </p:sp>
      <p:sp>
        <p:nvSpPr>
          <p:cNvPr id="31" name="TextBox 30"/>
          <p:cNvSpPr txBox="1"/>
          <p:nvPr/>
        </p:nvSpPr>
        <p:spPr bwMode="auto">
          <a:xfrm>
            <a:off x="8287382" y="5198394"/>
            <a:ext cx="389850" cy="1077218"/>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国</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际</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市</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场</a:t>
            </a:r>
          </a:p>
        </p:txBody>
      </p:sp>
      <p:sp>
        <p:nvSpPr>
          <p:cNvPr id="32" name="圆角矩形 31"/>
          <p:cNvSpPr/>
          <p:nvPr/>
        </p:nvSpPr>
        <p:spPr bwMode="auto">
          <a:xfrm>
            <a:off x="6169642" y="5000636"/>
            <a:ext cx="2617200" cy="1472735"/>
          </a:xfrm>
          <a:prstGeom prst="roundRect">
            <a:avLst>
              <a:gd name="adj" fmla="val 10754"/>
            </a:avLst>
          </a:prstGeom>
          <a:noFill/>
          <a:ln w="9525" cap="flat" cmpd="sng" algn="ctr">
            <a:solidFill>
              <a:schemeClr val="bg1">
                <a:lumMod val="75000"/>
              </a:schemeClr>
            </a:solidFill>
            <a:prstDash val="dash"/>
            <a:round/>
            <a:headEnd type="none" w="med" len="med"/>
            <a:tailEnd type="none"/>
          </a:ln>
          <a:effectLst/>
        </p:spPr>
        <p:txBody>
          <a:bodyPr rtlCol="0" anchor="ctr"/>
          <a:lstStyle/>
          <a:p>
            <a:pPr algn="ctr"/>
            <a:endParaRPr lang="zh-CN" altLang="en-US"/>
          </a:p>
        </p:txBody>
      </p:sp>
      <p:grpSp>
        <p:nvGrpSpPr>
          <p:cNvPr id="33" name="组合 32"/>
          <p:cNvGrpSpPr/>
          <p:nvPr/>
        </p:nvGrpSpPr>
        <p:grpSpPr>
          <a:xfrm>
            <a:off x="4243838" y="5072074"/>
            <a:ext cx="702247" cy="881050"/>
            <a:chOff x="4221953" y="5072074"/>
            <a:chExt cx="702247" cy="881050"/>
          </a:xfrm>
        </p:grpSpPr>
        <p:sp>
          <p:nvSpPr>
            <p:cNvPr id="26" name="上箭头 25"/>
            <p:cNvSpPr/>
            <p:nvPr/>
          </p:nvSpPr>
          <p:spPr bwMode="auto">
            <a:xfrm>
              <a:off x="4567010" y="5072074"/>
              <a:ext cx="357190" cy="785818"/>
            </a:xfrm>
            <a:prstGeom prst="upArrow">
              <a:avLst/>
            </a:prstGeom>
            <a:solidFill>
              <a:srgbClr val="CCCCFF"/>
            </a:solidFill>
            <a:ln w="9525" cap="flat" cmpd="sng" algn="ctr">
              <a:noFill/>
              <a:prstDash val="solid"/>
              <a:round/>
              <a:headEnd type="none" w="med" len="med"/>
              <a:tailEnd type="none"/>
            </a:ln>
            <a:effectLst/>
          </p:spPr>
          <p:txBody>
            <a:bodyPr rtlCol="0" anchor="ctr"/>
            <a:lstStyle/>
            <a:p>
              <a:pPr algn="ctr"/>
              <a:endParaRPr lang="zh-CN" altLang="en-US"/>
            </a:p>
          </p:txBody>
        </p:sp>
        <p:sp>
          <p:nvSpPr>
            <p:cNvPr id="27" name="矩形 26"/>
            <p:cNvSpPr/>
            <p:nvPr/>
          </p:nvSpPr>
          <p:spPr bwMode="auto">
            <a:xfrm>
              <a:off x="4221953" y="5786453"/>
              <a:ext cx="612000" cy="166671"/>
            </a:xfrm>
            <a:prstGeom prst="rect">
              <a:avLst/>
            </a:prstGeom>
            <a:solidFill>
              <a:srgbClr val="CCCCFF"/>
            </a:solidFill>
            <a:ln w="9525" cap="flat" cmpd="sng" algn="ctr">
              <a:noFill/>
              <a:prstDash val="solid"/>
              <a:round/>
              <a:headEnd type="none" w="med" len="med"/>
              <a:tailEnd type="none"/>
            </a:ln>
            <a:effectLst/>
          </p:spPr>
          <p:txBody>
            <a:bodyPr rtlCol="0" anchor="ctr"/>
            <a:lstStyle/>
            <a:p>
              <a:pPr algn="ctr"/>
              <a:endParaRPr lang="zh-CN" altLang="en-US"/>
            </a:p>
          </p:txBody>
        </p:sp>
      </p:grpSp>
      <p:sp>
        <p:nvSpPr>
          <p:cNvPr id="35" name="TextBox 34"/>
          <p:cNvSpPr txBox="1"/>
          <p:nvPr/>
        </p:nvSpPr>
        <p:spPr bwMode="auto">
          <a:xfrm>
            <a:off x="3876670" y="5971740"/>
            <a:ext cx="2344072" cy="461665"/>
          </a:xfrm>
          <a:prstGeom prst="rect">
            <a:avLst/>
          </a:prstGeom>
          <a:noFill/>
          <a:ln>
            <a:noFill/>
          </a:ln>
        </p:spPr>
        <p:txBody>
          <a:bodyPr wrap="square" rtlCol="0">
            <a:spAutoFit/>
          </a:bodyPr>
          <a:lstStyle/>
          <a:p>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客户需求：标准化与定制化并存</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产品特点：畅销机型集中</a:t>
            </a:r>
          </a:p>
        </p:txBody>
      </p:sp>
      <p:sp>
        <p:nvSpPr>
          <p:cNvPr id="36" name="TextBox 35"/>
          <p:cNvSpPr txBox="1"/>
          <p:nvPr/>
        </p:nvSpPr>
        <p:spPr bwMode="auto">
          <a:xfrm>
            <a:off x="571472" y="6468927"/>
            <a:ext cx="3870325" cy="245110"/>
          </a:xfrm>
          <a:prstGeom prst="rect">
            <a:avLst/>
          </a:prstGeom>
          <a:noFill/>
          <a:ln>
            <a:noFill/>
          </a:ln>
        </p:spPr>
        <p:txBody>
          <a:bodyPr wrap="none" rtlCol="0">
            <a:spAutoFit/>
          </a:bodyPr>
          <a:lstStyle/>
          <a:p>
            <a:r>
              <a:rPr kumimoji="1" lang="zh-CN" altLang="en-US" sz="1000" b="0" i="1" dirty="0">
                <a:solidFill>
                  <a:srgbClr val="000000"/>
                </a:solidFill>
                <a:latin typeface="微软雅黑" panose="020B0503020204020204" charset="-122"/>
                <a:ea typeface="微软雅黑" panose="020B0503020204020204" charset="-122"/>
                <a:cs typeface="微软雅黑" panose="020B0503020204020204" charset="-122"/>
              </a:rPr>
              <a:t>数据来源：x重机提供，</a:t>
            </a:r>
            <a:r>
              <a:rPr kumimoji="1" lang="zh-CN" altLang="en-US" sz="1000" i="1" dirty="0">
                <a:solidFill>
                  <a:srgbClr val="000000"/>
                </a:solidFill>
                <a:latin typeface="微软雅黑" panose="020B0503020204020204" charset="-122"/>
                <a:ea typeface="微软雅黑" panose="020B0503020204020204" charset="-122"/>
                <a:cs typeface="微软雅黑" panose="020B0503020204020204" charset="-122"/>
              </a:rPr>
              <a:t>项目组</a:t>
            </a:r>
            <a:r>
              <a:rPr kumimoji="1" lang="zh-CN" altLang="en-US" sz="1000" b="0" i="1" dirty="0">
                <a:solidFill>
                  <a:srgbClr val="000000"/>
                </a:solidFill>
                <a:latin typeface="微软雅黑" panose="020B0503020204020204" charset="-122"/>
                <a:ea typeface="微软雅黑" panose="020B0503020204020204" charset="-122"/>
                <a:cs typeface="微软雅黑" panose="020B0503020204020204" charset="-122"/>
              </a:rPr>
              <a:t>分析，</a:t>
            </a:r>
            <a:r>
              <a:rPr kumimoji="1" lang="en-US" altLang="zh-CN" sz="10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10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1000" b="0" i="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1000" b="0" i="1" dirty="0">
                <a:solidFill>
                  <a:srgbClr val="000000"/>
                </a:solidFill>
                <a:latin typeface="微软雅黑" panose="020B0503020204020204" charset="-122"/>
                <a:ea typeface="微软雅黑" panose="020B0503020204020204" charset="-122"/>
                <a:cs typeface="微软雅黑" panose="020B0503020204020204" charset="-122"/>
              </a:rPr>
              <a:t>月三挖销量占比</a:t>
            </a:r>
          </a:p>
        </p:txBody>
      </p:sp>
      <p:sp>
        <p:nvSpPr>
          <p:cNvPr id="37" name="AutoShape 78"/>
          <p:cNvSpPr>
            <a:spLocks noChangeArrowheads="1"/>
          </p:cNvSpPr>
          <p:nvPr/>
        </p:nvSpPr>
        <p:spPr bwMode="auto">
          <a:xfrm>
            <a:off x="5715008" y="4643446"/>
            <a:ext cx="2571768" cy="571504"/>
          </a:xfrm>
          <a:prstGeom prst="wedgeRoundRectCallout">
            <a:avLst>
              <a:gd name="adj1" fmla="val -73383"/>
              <a:gd name="adj2" fmla="val 63282"/>
              <a:gd name="adj3" fmla="val 16667"/>
            </a:avLst>
          </a:prstGeom>
          <a:solidFill>
            <a:srgbClr val="FFFFCC"/>
          </a:solidFill>
          <a:ln w="19050" algn="ctr">
            <a:solidFill>
              <a:srgbClr val="242490"/>
            </a:solidFill>
            <a:miter lim="800000"/>
          </a:ln>
        </p:spPr>
        <p:txBody>
          <a:bodyPr lIns="72000" tIns="36000" rIns="36000" bIns="36000" anchor="ctr"/>
          <a:lstStyle/>
          <a:p>
            <a:pPr marL="0" lvl="1">
              <a:spcBef>
                <a:spcPts val="300"/>
              </a:spcBef>
            </a:pPr>
            <a:r>
              <a:rPr lang="zh-CN" altLang="en-US" sz="1400" b="1" dirty="0">
                <a:latin typeface="微软雅黑" panose="020B0503020204020204" charset="-122"/>
                <a:ea typeface="微软雅黑" panose="020B0503020204020204" charset="-122"/>
              </a:rPr>
              <a:t>多种订单组织方式并存，规则不够明确</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集成计划模式现状</a:t>
            </a:r>
          </a:p>
        </p:txBody>
      </p:sp>
      <p:cxnSp>
        <p:nvCxnSpPr>
          <p:cNvPr id="41" name="直接连接符 40"/>
          <p:cNvCxnSpPr/>
          <p:nvPr/>
        </p:nvCxnSpPr>
        <p:spPr bwMode="auto">
          <a:xfrm rot="5400000">
            <a:off x="-428974" y="4026218"/>
            <a:ext cx="4860000" cy="1588"/>
          </a:xfrm>
          <a:prstGeom prst="line">
            <a:avLst/>
          </a:prstGeom>
          <a:noFill/>
          <a:ln w="9525" cap="flat" cmpd="sng" algn="ctr">
            <a:solidFill>
              <a:srgbClr val="FF0000"/>
            </a:solidFill>
            <a:prstDash val="dash"/>
            <a:round/>
            <a:headEnd type="none" w="med" len="med"/>
            <a:tailEnd type="none" w="med" len="med"/>
          </a:ln>
          <a:effectLst/>
        </p:spPr>
      </p:cxnSp>
      <p:cxnSp>
        <p:nvCxnSpPr>
          <p:cNvPr id="45" name="直接连接符 44"/>
          <p:cNvCxnSpPr/>
          <p:nvPr/>
        </p:nvCxnSpPr>
        <p:spPr bwMode="auto">
          <a:xfrm rot="5400000">
            <a:off x="31403" y="4026219"/>
            <a:ext cx="4860000" cy="1588"/>
          </a:xfrm>
          <a:prstGeom prst="line">
            <a:avLst/>
          </a:prstGeom>
          <a:noFill/>
          <a:ln w="9525" cap="flat" cmpd="sng" algn="ctr">
            <a:solidFill>
              <a:srgbClr val="FF0000"/>
            </a:solidFill>
            <a:prstDash val="dash"/>
            <a:round/>
            <a:headEnd type="none" w="med" len="med"/>
            <a:tailEnd type="none" w="med" len="med"/>
          </a:ln>
          <a:effectLst/>
        </p:spPr>
      </p:cxnSp>
      <p:cxnSp>
        <p:nvCxnSpPr>
          <p:cNvPr id="58" name="直接连接符 57"/>
          <p:cNvCxnSpPr/>
          <p:nvPr/>
        </p:nvCxnSpPr>
        <p:spPr bwMode="auto">
          <a:xfrm rot="5400000">
            <a:off x="733083" y="4026219"/>
            <a:ext cx="4860000" cy="1588"/>
          </a:xfrm>
          <a:prstGeom prst="line">
            <a:avLst/>
          </a:prstGeom>
          <a:noFill/>
          <a:ln w="9525" cap="flat" cmpd="sng" algn="ctr">
            <a:solidFill>
              <a:srgbClr val="FF0000"/>
            </a:solidFill>
            <a:prstDash val="dash"/>
            <a:round/>
            <a:headEnd type="none" w="med" len="med"/>
            <a:tailEnd type="none" w="med" len="med"/>
          </a:ln>
          <a:effectLst/>
        </p:spPr>
      </p:cxnSp>
      <p:cxnSp>
        <p:nvCxnSpPr>
          <p:cNvPr id="59" name="直接连接符 58"/>
          <p:cNvCxnSpPr/>
          <p:nvPr/>
        </p:nvCxnSpPr>
        <p:spPr bwMode="auto">
          <a:xfrm rot="5400000">
            <a:off x="2563484" y="4026218"/>
            <a:ext cx="4860000" cy="1588"/>
          </a:xfrm>
          <a:prstGeom prst="line">
            <a:avLst/>
          </a:prstGeom>
          <a:noFill/>
          <a:ln w="9525" cap="flat" cmpd="sng" algn="ctr">
            <a:solidFill>
              <a:srgbClr val="FF0000"/>
            </a:solidFill>
            <a:prstDash val="dash"/>
            <a:round/>
            <a:headEnd type="none" w="med" len="med"/>
            <a:tailEnd type="none" w="med" len="med"/>
          </a:ln>
          <a:effectLst/>
        </p:spPr>
      </p:cxnSp>
      <p:sp>
        <p:nvSpPr>
          <p:cNvPr id="60" name="AutoShape 19"/>
          <p:cNvSpPr>
            <a:spLocks noChangeArrowheads="1"/>
          </p:cNvSpPr>
          <p:nvPr/>
        </p:nvSpPr>
        <p:spPr bwMode="auto">
          <a:xfrm>
            <a:off x="1298440" y="1746554"/>
            <a:ext cx="6397760" cy="468000"/>
          </a:xfrm>
          <a:prstGeom prst="homePlate">
            <a:avLst>
              <a:gd name="adj" fmla="val 17692"/>
            </a:avLst>
          </a:prstGeom>
          <a:solidFill>
            <a:schemeClr val="accent1">
              <a:lumMod val="40000"/>
              <a:lumOff val="60000"/>
            </a:schemeClr>
          </a:solidFill>
          <a:ln w="6350" algn="ctr">
            <a:noFill/>
            <a:miter lim="800000"/>
          </a:ln>
        </p:spPr>
        <p:txBody>
          <a:bodyPr wrap="none" lIns="0" tIns="0" rIns="0" bIns="0" anchor="ctr"/>
          <a:lstStyle/>
          <a:p>
            <a:pPr algn="ctr" defTabSz="981075"/>
            <a:r>
              <a:rPr lang="zh-CN" altLang="en-US" sz="1400" b="1" dirty="0">
                <a:latin typeface="微软雅黑" panose="020B0503020204020204" charset="-122"/>
                <a:ea typeface="微软雅黑" panose="020B0503020204020204" charset="-122"/>
              </a:rPr>
              <a:t>需求计划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（到月</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机型）</a:t>
            </a:r>
          </a:p>
        </p:txBody>
      </p:sp>
      <p:cxnSp>
        <p:nvCxnSpPr>
          <p:cNvPr id="61" name="直接连接符 60"/>
          <p:cNvCxnSpPr/>
          <p:nvPr/>
        </p:nvCxnSpPr>
        <p:spPr bwMode="auto">
          <a:xfrm rot="5400000">
            <a:off x="5269964" y="4026218"/>
            <a:ext cx="4860000" cy="1588"/>
          </a:xfrm>
          <a:prstGeom prst="line">
            <a:avLst/>
          </a:prstGeom>
          <a:noFill/>
          <a:ln w="9525" cap="flat" cmpd="sng" algn="ctr">
            <a:solidFill>
              <a:srgbClr val="FF0000"/>
            </a:solidFill>
            <a:prstDash val="dash"/>
            <a:round/>
            <a:headEnd type="none" w="med" len="med"/>
            <a:tailEnd type="none" w="med" len="med"/>
          </a:ln>
          <a:effectLst/>
        </p:spPr>
      </p:cxnSp>
      <p:sp>
        <p:nvSpPr>
          <p:cNvPr id="62" name="Text Box 8"/>
          <p:cNvSpPr txBox="1">
            <a:spLocks noChangeArrowheads="1"/>
          </p:cNvSpPr>
          <p:nvPr/>
        </p:nvSpPr>
        <p:spPr bwMode="gray">
          <a:xfrm>
            <a:off x="7814583" y="1746554"/>
            <a:ext cx="1000155" cy="468000"/>
          </a:xfrm>
          <a:prstGeom prst="rect">
            <a:avLst/>
          </a:prstGeom>
          <a:noFill/>
          <a:ln w="12700">
            <a:solidFill>
              <a:schemeClr val="tx1"/>
            </a:solidFill>
            <a:miter lim="800000"/>
          </a:ln>
        </p:spPr>
        <p:txBody>
          <a:bodyPr lIns="0" tIns="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营销管理部</a:t>
            </a:r>
            <a:br>
              <a:rPr lang="en-US" altLang="zh-CN" sz="1200" dirty="0">
                <a:latin typeface="微软雅黑" panose="020B0503020204020204" charset="-122"/>
                <a:ea typeface="微软雅黑" panose="020B0503020204020204" charset="-122"/>
                <a:cs typeface="Times New Roman" panose="02020603050405020304" pitchFamily="18" charset="0"/>
              </a:rPr>
            </a:br>
            <a:r>
              <a:rPr lang="en-US" altLang="zh-CN" sz="1200" dirty="0">
                <a:latin typeface="微软雅黑" panose="020B0503020204020204" charset="-122"/>
                <a:ea typeface="微软雅黑" panose="020B0503020204020204" charset="-122"/>
                <a:cs typeface="Times New Roman" panose="02020603050405020304" pitchFamily="18" charset="0"/>
              </a:rPr>
              <a:t>(</a:t>
            </a:r>
            <a:r>
              <a:rPr lang="zh-CN" altLang="en-US" sz="1200" dirty="0">
                <a:latin typeface="微软雅黑" panose="020B0503020204020204" charset="-122"/>
                <a:ea typeface="微软雅黑" panose="020B0503020204020204" charset="-122"/>
                <a:cs typeface="Times New Roman" panose="02020603050405020304" pitchFamily="18" charset="0"/>
              </a:rPr>
              <a:t>国内</a:t>
            </a:r>
            <a:r>
              <a:rPr lang="en-US" altLang="zh-CN" sz="1200" dirty="0">
                <a:latin typeface="微软雅黑" panose="020B0503020204020204" charset="-122"/>
                <a:ea typeface="微软雅黑" panose="020B0503020204020204" charset="-122"/>
                <a:cs typeface="Times New Roman" panose="02020603050405020304" pitchFamily="18" charset="0"/>
              </a:rPr>
              <a:t>/</a:t>
            </a:r>
            <a:r>
              <a:rPr lang="zh-CN" altLang="en-US" sz="1200" dirty="0">
                <a:latin typeface="微软雅黑" panose="020B0503020204020204" charset="-122"/>
                <a:ea typeface="微软雅黑" panose="020B0503020204020204" charset="-122"/>
                <a:cs typeface="Times New Roman" panose="02020603050405020304" pitchFamily="18" charset="0"/>
              </a:rPr>
              <a:t>国际</a:t>
            </a:r>
            <a:r>
              <a:rPr lang="en-US" altLang="zh-CN" sz="1200" dirty="0">
                <a:latin typeface="微软雅黑" panose="020B0503020204020204" charset="-122"/>
                <a:ea typeface="微软雅黑" panose="020B0503020204020204" charset="-122"/>
                <a:cs typeface="Times New Roman" panose="02020603050405020304" pitchFamily="18" charset="0"/>
              </a:rPr>
              <a:t>)</a:t>
            </a:r>
          </a:p>
        </p:txBody>
      </p:sp>
      <p:sp>
        <p:nvSpPr>
          <p:cNvPr id="63" name="AutoShape 23"/>
          <p:cNvSpPr/>
          <p:nvPr/>
        </p:nvSpPr>
        <p:spPr bwMode="auto">
          <a:xfrm>
            <a:off x="926395" y="4117624"/>
            <a:ext cx="244477" cy="960606"/>
          </a:xfrm>
          <a:prstGeom prst="leftBrace">
            <a:avLst>
              <a:gd name="adj1" fmla="val 40191"/>
              <a:gd name="adj2" fmla="val 50000"/>
            </a:avLst>
          </a:prstGeom>
          <a:noFill/>
          <a:ln w="9525">
            <a:solidFill>
              <a:schemeClr val="tx1"/>
            </a:solidFill>
            <a:round/>
          </a:ln>
        </p:spPr>
        <p:txBody>
          <a:bodyPr wrap="none" anchor="ctr"/>
          <a:lstStyle/>
          <a:p>
            <a:endParaRPr lang="zh-CN" altLang="en-US"/>
          </a:p>
        </p:txBody>
      </p:sp>
      <p:sp>
        <p:nvSpPr>
          <p:cNvPr id="64" name="AutoShape 24"/>
          <p:cNvSpPr/>
          <p:nvPr/>
        </p:nvSpPr>
        <p:spPr bwMode="auto">
          <a:xfrm>
            <a:off x="926395" y="5373548"/>
            <a:ext cx="244477" cy="979648"/>
          </a:xfrm>
          <a:prstGeom prst="leftBrace">
            <a:avLst>
              <a:gd name="adj1" fmla="val 29716"/>
              <a:gd name="adj2" fmla="val 50000"/>
            </a:avLst>
          </a:prstGeom>
          <a:noFill/>
          <a:ln w="9525">
            <a:solidFill>
              <a:schemeClr val="tx1"/>
            </a:solidFill>
            <a:round/>
          </a:ln>
        </p:spPr>
        <p:txBody>
          <a:bodyPr wrap="none" anchor="ctr"/>
          <a:lstStyle/>
          <a:p>
            <a:endParaRPr lang="zh-CN" altLang="en-US"/>
          </a:p>
        </p:txBody>
      </p:sp>
      <p:sp>
        <p:nvSpPr>
          <p:cNvPr id="65" name="Text Box 25"/>
          <p:cNvSpPr txBox="1">
            <a:spLocks noChangeArrowheads="1"/>
          </p:cNvSpPr>
          <p:nvPr/>
        </p:nvSpPr>
        <p:spPr bwMode="auto">
          <a:xfrm>
            <a:off x="104744" y="2482208"/>
            <a:ext cx="936000"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长期计划</a:t>
            </a:r>
            <a:endParaRPr lang="en-US" altLang="zh-CN" sz="1400" b="1" dirty="0">
              <a:latin typeface="微软雅黑" panose="020B0503020204020204" charset="-122"/>
              <a:ea typeface="微软雅黑" panose="020B0503020204020204" charset="-122"/>
            </a:endParaRPr>
          </a:p>
        </p:txBody>
      </p:sp>
      <p:sp>
        <p:nvSpPr>
          <p:cNvPr id="66" name="Text Box 26"/>
          <p:cNvSpPr txBox="1">
            <a:spLocks noChangeArrowheads="1"/>
          </p:cNvSpPr>
          <p:nvPr/>
        </p:nvSpPr>
        <p:spPr bwMode="auto">
          <a:xfrm>
            <a:off x="104744" y="4206949"/>
            <a:ext cx="936000"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中期计划</a:t>
            </a:r>
          </a:p>
        </p:txBody>
      </p:sp>
      <p:sp>
        <p:nvSpPr>
          <p:cNvPr id="67" name="Text Box 27"/>
          <p:cNvSpPr txBox="1">
            <a:spLocks noChangeArrowheads="1"/>
          </p:cNvSpPr>
          <p:nvPr/>
        </p:nvSpPr>
        <p:spPr bwMode="auto">
          <a:xfrm>
            <a:off x="104744" y="5457840"/>
            <a:ext cx="936000"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短期计划</a:t>
            </a:r>
          </a:p>
        </p:txBody>
      </p:sp>
      <p:sp>
        <p:nvSpPr>
          <p:cNvPr id="68" name="AutoShape 19"/>
          <p:cNvSpPr>
            <a:spLocks noChangeArrowheads="1"/>
          </p:cNvSpPr>
          <p:nvPr/>
        </p:nvSpPr>
        <p:spPr bwMode="auto">
          <a:xfrm>
            <a:off x="1298440" y="3357562"/>
            <a:ext cx="3692660" cy="468000"/>
          </a:xfrm>
          <a:prstGeom prst="homePlate">
            <a:avLst>
              <a:gd name="adj" fmla="val 19322"/>
            </a:avLst>
          </a:prstGeom>
          <a:solidFill>
            <a:schemeClr val="accent1">
              <a:lumMod val="40000"/>
              <a:lumOff val="60000"/>
            </a:schemeClr>
          </a:solidFill>
          <a:ln w="6350" algn="ctr">
            <a:noFill/>
            <a:miter lim="800000"/>
          </a:ln>
        </p:spPr>
        <p:txBody>
          <a:bodyPr wrap="square" lIns="0" tIns="0" rIns="0" bIns="0" anchor="ctr"/>
          <a:lstStyle/>
          <a:p>
            <a:pPr algn="ctr" defTabSz="981075"/>
            <a:r>
              <a:rPr lang="en-US" altLang="zh-CN" sz="1400" b="1" dirty="0">
                <a:latin typeface="微软雅黑" panose="020B0503020204020204" charset="-122"/>
                <a:ea typeface="微软雅黑" panose="020B0503020204020204" charset="-122"/>
              </a:rPr>
              <a:t>B</a:t>
            </a:r>
            <a:r>
              <a:rPr lang="zh-CN" altLang="en-US" sz="1400" b="1" dirty="0">
                <a:latin typeface="微软雅黑" panose="020B0503020204020204" charset="-122"/>
                <a:ea typeface="微软雅黑" panose="020B0503020204020204" charset="-122"/>
              </a:rPr>
              <a:t>表 </a:t>
            </a:r>
            <a:r>
              <a:rPr lang="en-US" altLang="zh-CN" sz="1400" b="1" dirty="0">
                <a:latin typeface="微软雅黑" panose="020B0503020204020204" charset="-122"/>
                <a:ea typeface="微软雅黑" panose="020B0503020204020204" charset="-122"/>
              </a:rPr>
              <a:t>— </a:t>
            </a:r>
            <a:r>
              <a:rPr lang="zh-CN" altLang="en-US" sz="1400" b="1" dirty="0">
                <a:latin typeface="微软雅黑" panose="020B0503020204020204" charset="-122"/>
                <a:ea typeface="微软雅黑" panose="020B0503020204020204" charset="-122"/>
              </a:rPr>
              <a:t>主生产计划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（到天</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机型）</a:t>
            </a:r>
          </a:p>
        </p:txBody>
      </p:sp>
      <p:sp>
        <p:nvSpPr>
          <p:cNvPr id="69" name="AutoShape 19"/>
          <p:cNvSpPr>
            <a:spLocks noChangeArrowheads="1"/>
          </p:cNvSpPr>
          <p:nvPr/>
        </p:nvSpPr>
        <p:spPr bwMode="auto">
          <a:xfrm>
            <a:off x="1298440" y="2820560"/>
            <a:ext cx="6397760" cy="468000"/>
          </a:xfrm>
          <a:prstGeom prst="homePlate">
            <a:avLst>
              <a:gd name="adj" fmla="val 25032"/>
            </a:avLst>
          </a:prstGeom>
          <a:solidFill>
            <a:schemeClr val="bg1">
              <a:lumMod val="75000"/>
            </a:schemeClr>
          </a:solidFill>
          <a:ln w="6350" algn="ctr">
            <a:noFill/>
            <a:miter lim="800000"/>
          </a:ln>
        </p:spPr>
        <p:txBody>
          <a:bodyPr wrap="none" lIns="0" tIns="0" rIns="0" bIns="0" anchor="ctr"/>
          <a:lstStyle/>
          <a:p>
            <a:pPr algn="ctr" defTabSz="981075">
              <a:spcBef>
                <a:spcPct val="50000"/>
              </a:spcBef>
            </a:pPr>
            <a:r>
              <a:rPr lang="zh-CN" altLang="en-US" sz="1400" b="1" dirty="0">
                <a:latin typeface="微软雅黑" panose="020B0503020204020204" charset="-122"/>
                <a:ea typeface="微软雅黑" panose="020B0503020204020204" charset="-122"/>
              </a:rPr>
              <a:t>零部件需求计划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（国内件</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不分解；进口件</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手工分解）</a:t>
            </a:r>
          </a:p>
        </p:txBody>
      </p:sp>
      <p:sp>
        <p:nvSpPr>
          <p:cNvPr id="70" name="AutoShape 19"/>
          <p:cNvSpPr>
            <a:spLocks noChangeArrowheads="1"/>
          </p:cNvSpPr>
          <p:nvPr/>
        </p:nvSpPr>
        <p:spPr bwMode="auto">
          <a:xfrm>
            <a:off x="1298440" y="5353608"/>
            <a:ext cx="1152000" cy="468000"/>
          </a:xfrm>
          <a:prstGeom prst="homePlate">
            <a:avLst>
              <a:gd name="adj" fmla="val 18643"/>
            </a:avLst>
          </a:prstGeom>
          <a:solidFill>
            <a:schemeClr val="accent1">
              <a:lumMod val="40000"/>
              <a:lumOff val="60000"/>
            </a:schemeClr>
          </a:solidFill>
          <a:ln w="6350" algn="ctr">
            <a:noFill/>
            <a:miter lim="800000"/>
          </a:ln>
        </p:spPr>
        <p:txBody>
          <a:bodyPr wrap="none" lIns="0" tIns="0" rIns="0" bIns="0" anchor="t"/>
          <a:lstStyle/>
          <a:p>
            <a:pPr algn="ctr" defTabSz="981075">
              <a:lnSpc>
                <a:spcPct val="120000"/>
              </a:lnSpc>
              <a:spcBef>
                <a:spcPct val="50000"/>
              </a:spcBef>
            </a:pPr>
            <a:r>
              <a:rPr lang="en-US" altLang="zh-CN" sz="1400" b="1" dirty="0">
                <a:latin typeface="微软雅黑" panose="020B0503020204020204" charset="-122"/>
                <a:ea typeface="微软雅黑" panose="020B0503020204020204" charset="-122"/>
              </a:rPr>
              <a:t>3+2</a:t>
            </a:r>
            <a:r>
              <a:rPr lang="zh-CN" altLang="en-US" sz="1400" b="1" dirty="0">
                <a:latin typeface="微软雅黑" panose="020B0503020204020204" charset="-122"/>
                <a:ea typeface="微软雅黑" panose="020B0503020204020204" charset="-122"/>
              </a:rPr>
              <a:t>滚动计划</a:t>
            </a:r>
          </a:p>
        </p:txBody>
      </p:sp>
      <p:sp>
        <p:nvSpPr>
          <p:cNvPr id="71" name="AutoShape 15"/>
          <p:cNvSpPr>
            <a:spLocks noChangeArrowheads="1"/>
          </p:cNvSpPr>
          <p:nvPr/>
        </p:nvSpPr>
        <p:spPr bwMode="auto">
          <a:xfrm>
            <a:off x="6315101" y="5761709"/>
            <a:ext cx="276225" cy="231775"/>
          </a:xfrm>
          <a:prstGeom prst="homePlate">
            <a:avLst>
              <a:gd name="adj" fmla="val 16279"/>
            </a:avLst>
          </a:prstGeom>
          <a:solidFill>
            <a:schemeClr val="accent1">
              <a:lumMod val="40000"/>
              <a:lumOff val="60000"/>
            </a:schemeClr>
          </a:solidFill>
          <a:ln w="6350" algn="ctr">
            <a:noFill/>
            <a:miter lim="800000"/>
          </a:ln>
        </p:spPr>
        <p:txBody>
          <a:bodyPr wrap="none" lIns="0" tIns="0" rIns="0" bIns="0" anchor="ctr"/>
          <a:lstStyle/>
          <a:p>
            <a:pPr defTabSz="981075">
              <a:lnSpc>
                <a:spcPct val="120000"/>
              </a:lnSpc>
              <a:spcBef>
                <a:spcPct val="50000"/>
              </a:spcBef>
            </a:pPr>
            <a:endParaRPr lang="zh-CN" altLang="en-US" sz="1050" b="1"/>
          </a:p>
        </p:txBody>
      </p:sp>
      <p:sp>
        <p:nvSpPr>
          <p:cNvPr id="72" name="Text Box 16"/>
          <p:cNvSpPr txBox="1">
            <a:spLocks noChangeArrowheads="1"/>
          </p:cNvSpPr>
          <p:nvPr/>
        </p:nvSpPr>
        <p:spPr bwMode="auto">
          <a:xfrm>
            <a:off x="6655732" y="5771234"/>
            <a:ext cx="792000" cy="221599"/>
          </a:xfrm>
          <a:prstGeom prst="rect">
            <a:avLst/>
          </a:prstGeom>
          <a:noFill/>
          <a:ln w="6350" algn="ctr">
            <a:noFill/>
            <a:miter lim="800000"/>
          </a:ln>
        </p:spPr>
        <p:txBody>
          <a:bodyPr wrap="square" lIns="0" tIns="0" rIns="0" bIns="0">
            <a:spAutoFit/>
          </a:bodyPr>
          <a:lstStyle/>
          <a:p>
            <a:pPr defTabSz="981075">
              <a:lnSpc>
                <a:spcPct val="120000"/>
              </a:lnSpc>
              <a:spcBef>
                <a:spcPct val="50000"/>
              </a:spcBef>
            </a:pPr>
            <a:r>
              <a:rPr lang="zh-CN" altLang="en-US" sz="1200" b="1" dirty="0">
                <a:latin typeface="微软雅黑" panose="020B0503020204020204" charset="-122"/>
                <a:ea typeface="微软雅黑" panose="020B0503020204020204" charset="-122"/>
              </a:rPr>
              <a:t>整机层级</a:t>
            </a:r>
          </a:p>
        </p:txBody>
      </p:sp>
      <p:sp>
        <p:nvSpPr>
          <p:cNvPr id="73" name="AutoShape 17"/>
          <p:cNvSpPr>
            <a:spLocks noChangeArrowheads="1"/>
          </p:cNvSpPr>
          <p:nvPr/>
        </p:nvSpPr>
        <p:spPr bwMode="auto">
          <a:xfrm>
            <a:off x="6315101" y="6118897"/>
            <a:ext cx="277812" cy="227012"/>
          </a:xfrm>
          <a:prstGeom prst="homePlate">
            <a:avLst>
              <a:gd name="adj" fmla="val 19995"/>
            </a:avLst>
          </a:prstGeom>
          <a:solidFill>
            <a:srgbClr val="C0C0C0"/>
          </a:solidFill>
          <a:ln w="6350" algn="ctr">
            <a:noFill/>
            <a:miter lim="800000"/>
          </a:ln>
        </p:spPr>
        <p:txBody>
          <a:bodyPr wrap="none" lIns="0" tIns="0" rIns="0" bIns="0" anchor="ctr"/>
          <a:lstStyle/>
          <a:p>
            <a:pPr defTabSz="981075">
              <a:lnSpc>
                <a:spcPct val="120000"/>
              </a:lnSpc>
              <a:spcBef>
                <a:spcPct val="50000"/>
              </a:spcBef>
            </a:pPr>
            <a:endParaRPr lang="zh-CN" altLang="en-US" sz="1050" b="1"/>
          </a:p>
        </p:txBody>
      </p:sp>
      <p:sp>
        <p:nvSpPr>
          <p:cNvPr id="74" name="Text Box 18"/>
          <p:cNvSpPr txBox="1">
            <a:spLocks noChangeArrowheads="1"/>
          </p:cNvSpPr>
          <p:nvPr/>
        </p:nvSpPr>
        <p:spPr bwMode="auto">
          <a:xfrm>
            <a:off x="6655732" y="6136359"/>
            <a:ext cx="792000" cy="221599"/>
          </a:xfrm>
          <a:prstGeom prst="rect">
            <a:avLst/>
          </a:prstGeom>
          <a:noFill/>
          <a:ln w="6350" algn="ctr">
            <a:noFill/>
            <a:miter lim="800000"/>
          </a:ln>
        </p:spPr>
        <p:txBody>
          <a:bodyPr wrap="square" lIns="0" tIns="0" rIns="0" bIns="0">
            <a:spAutoFit/>
          </a:bodyPr>
          <a:lstStyle/>
          <a:p>
            <a:pPr defTabSz="981075">
              <a:lnSpc>
                <a:spcPct val="120000"/>
              </a:lnSpc>
              <a:spcBef>
                <a:spcPct val="50000"/>
              </a:spcBef>
            </a:pPr>
            <a:r>
              <a:rPr lang="zh-CN" altLang="en-US" sz="1200" b="1" dirty="0">
                <a:latin typeface="微软雅黑" panose="020B0503020204020204" charset="-122"/>
                <a:ea typeface="微软雅黑" panose="020B0503020204020204" charset="-122"/>
              </a:rPr>
              <a:t>物料层级</a:t>
            </a:r>
          </a:p>
        </p:txBody>
      </p:sp>
      <p:sp>
        <p:nvSpPr>
          <p:cNvPr id="75" name="Text Box 8"/>
          <p:cNvSpPr txBox="1">
            <a:spLocks noChangeArrowheads="1"/>
          </p:cNvSpPr>
          <p:nvPr/>
        </p:nvSpPr>
        <p:spPr bwMode="gray">
          <a:xfrm>
            <a:off x="7814583" y="4176138"/>
            <a:ext cx="1000155" cy="468000"/>
          </a:xfrm>
          <a:prstGeom prst="rect">
            <a:avLst/>
          </a:prstGeom>
          <a:noFill/>
          <a:ln w="12700">
            <a:solidFill>
              <a:schemeClr val="tx1"/>
            </a:solidFill>
            <a:miter lim="800000"/>
          </a:ln>
        </p:spPr>
        <p:txBody>
          <a:bodyPr lIns="0" tIns="3600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br>
              <a:rPr lang="en-US" altLang="zh-CN" sz="1200" dirty="0">
                <a:latin typeface="微软雅黑" panose="020B0503020204020204" charset="-122"/>
                <a:ea typeface="微软雅黑" panose="020B0503020204020204" charset="-122"/>
                <a:cs typeface="Times New Roman" panose="02020603050405020304" pitchFamily="18" charset="0"/>
              </a:rPr>
            </a:b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76" name="Text Box 8"/>
          <p:cNvSpPr txBox="1">
            <a:spLocks noChangeArrowheads="1"/>
          </p:cNvSpPr>
          <p:nvPr/>
        </p:nvSpPr>
        <p:spPr bwMode="gray">
          <a:xfrm>
            <a:off x="7814583" y="3357562"/>
            <a:ext cx="1000155" cy="468000"/>
          </a:xfrm>
          <a:prstGeom prst="rect">
            <a:avLst/>
          </a:prstGeom>
          <a:noFill/>
          <a:ln w="12700">
            <a:solidFill>
              <a:schemeClr val="tx1"/>
            </a:solidFill>
            <a:miter lim="800000"/>
          </a:ln>
        </p:spPr>
        <p:txBody>
          <a:bodyPr lIns="0" tIns="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77" name="Text Box 8"/>
          <p:cNvSpPr txBox="1">
            <a:spLocks noChangeArrowheads="1"/>
          </p:cNvSpPr>
          <p:nvPr/>
        </p:nvSpPr>
        <p:spPr bwMode="gray">
          <a:xfrm>
            <a:off x="7814583" y="2820560"/>
            <a:ext cx="1000155" cy="468000"/>
          </a:xfrm>
          <a:prstGeom prst="rect">
            <a:avLst/>
          </a:prstGeom>
          <a:noFill/>
          <a:ln w="12700">
            <a:solidFill>
              <a:schemeClr val="tx1"/>
            </a:solidFill>
            <a:miter lim="800000"/>
          </a:ln>
        </p:spPr>
        <p:txBody>
          <a:bodyPr lIns="0" tIns="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78" name="Text Box 8"/>
          <p:cNvSpPr txBox="1">
            <a:spLocks noChangeArrowheads="1"/>
          </p:cNvSpPr>
          <p:nvPr/>
        </p:nvSpPr>
        <p:spPr bwMode="gray">
          <a:xfrm>
            <a:off x="7814583" y="4730304"/>
            <a:ext cx="1000155" cy="468000"/>
          </a:xfrm>
          <a:prstGeom prst="rect">
            <a:avLst/>
          </a:prstGeom>
          <a:noFill/>
          <a:ln w="12700">
            <a:solidFill>
              <a:schemeClr val="tx1"/>
            </a:solidFill>
            <a:miter lim="800000"/>
          </a:ln>
        </p:spPr>
        <p:txBody>
          <a:bodyPr lIns="0" tIns="3600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79" name="Text Box 8"/>
          <p:cNvSpPr txBox="1">
            <a:spLocks noChangeArrowheads="1"/>
          </p:cNvSpPr>
          <p:nvPr/>
        </p:nvSpPr>
        <p:spPr bwMode="gray">
          <a:xfrm>
            <a:off x="7814583" y="5286932"/>
            <a:ext cx="1000155" cy="468000"/>
          </a:xfrm>
          <a:prstGeom prst="rect">
            <a:avLst/>
          </a:prstGeom>
          <a:noFill/>
          <a:ln w="12700">
            <a:solidFill>
              <a:schemeClr val="tx1"/>
            </a:solidFill>
            <a:miter lim="800000"/>
          </a:ln>
        </p:spPr>
        <p:txBody>
          <a:bodyPr lIns="0" tIns="3600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80" name="AutoShape 19"/>
          <p:cNvSpPr>
            <a:spLocks noChangeArrowheads="1"/>
          </p:cNvSpPr>
          <p:nvPr/>
        </p:nvSpPr>
        <p:spPr bwMode="auto">
          <a:xfrm>
            <a:off x="1299233" y="4062608"/>
            <a:ext cx="1850367" cy="468000"/>
          </a:xfrm>
          <a:prstGeom prst="homePlate">
            <a:avLst>
              <a:gd name="adj" fmla="val 20406"/>
            </a:avLst>
          </a:prstGeom>
          <a:solidFill>
            <a:schemeClr val="accent1">
              <a:lumMod val="40000"/>
              <a:lumOff val="60000"/>
            </a:schemeClr>
          </a:solidFill>
          <a:ln w="6350" algn="ctr">
            <a:noFill/>
            <a:miter lim="800000"/>
          </a:ln>
        </p:spPr>
        <p:txBody>
          <a:bodyPr wrap="square" lIns="0" tIns="0" rIns="0" bIns="0" anchor="ctr"/>
          <a:lstStyle/>
          <a:p>
            <a:pPr algn="ctr" defTabSz="981075"/>
            <a:r>
              <a:rPr lang="en-US" altLang="zh-CN" sz="1400" b="1" dirty="0">
                <a:latin typeface="微软雅黑" panose="020B0503020204020204" charset="-122"/>
                <a:ea typeface="微软雅黑" panose="020B0503020204020204" charset="-122"/>
              </a:rPr>
              <a:t>C</a:t>
            </a:r>
            <a:r>
              <a:rPr lang="zh-CN" altLang="en-US" sz="1400" b="1" dirty="0">
                <a:latin typeface="微软雅黑" panose="020B0503020204020204" charset="-122"/>
                <a:ea typeface="微软雅黑" panose="020B0503020204020204" charset="-122"/>
              </a:rPr>
              <a:t>表 </a:t>
            </a:r>
            <a:r>
              <a:rPr lang="en-US" altLang="zh-CN" sz="1400" b="1" dirty="0">
                <a:latin typeface="微软雅黑" panose="020B0503020204020204" charset="-122"/>
                <a:ea typeface="微软雅黑" panose="020B0503020204020204" charset="-122"/>
              </a:rPr>
              <a:t>— </a:t>
            </a:r>
            <a:r>
              <a:rPr lang="zh-CN" altLang="en-US" sz="1400" b="1" dirty="0">
                <a:latin typeface="微软雅黑" panose="020B0503020204020204" charset="-122"/>
                <a:ea typeface="微软雅黑" panose="020B0503020204020204" charset="-122"/>
              </a:rPr>
              <a:t>排产计划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（到天</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配置）</a:t>
            </a:r>
          </a:p>
        </p:txBody>
      </p:sp>
      <p:sp>
        <p:nvSpPr>
          <p:cNvPr id="81" name="矩形 80"/>
          <p:cNvSpPr/>
          <p:nvPr/>
        </p:nvSpPr>
        <p:spPr bwMode="auto">
          <a:xfrm>
            <a:off x="1293472" y="5614036"/>
            <a:ext cx="706760" cy="193056"/>
          </a:xfrm>
          <a:prstGeom prst="rect">
            <a:avLst/>
          </a:prstGeom>
          <a:solidFill>
            <a:srgbClr val="FF0000"/>
          </a:solidFill>
          <a:ln w="6350">
            <a:solidFill>
              <a:schemeClr val="tx1"/>
            </a:solidFill>
            <a:miter lim="800000"/>
          </a:ln>
        </p:spPr>
        <p:txBody>
          <a:bodyPr rtlCol="0" anchor="ctr">
            <a:noAutofit/>
          </a:bodyPr>
          <a:lstStyle/>
          <a:p>
            <a:pPr marL="117475" indent="-117475" algn="ctr">
              <a:buClr>
                <a:schemeClr val="tx1"/>
              </a:buClr>
            </a:pPr>
            <a:r>
              <a:rPr lang="en-US" altLang="zh-CN" sz="1100" b="1" dirty="0">
                <a:solidFill>
                  <a:schemeClr val="bg1"/>
                </a:solidFill>
                <a:latin typeface="微软雅黑" panose="020B0503020204020204" charset="-122"/>
                <a:ea typeface="微软雅黑" panose="020B0503020204020204" charset="-122"/>
              </a:rPr>
              <a:t>3</a:t>
            </a:r>
            <a:r>
              <a:rPr lang="zh-CN" altLang="en-US" sz="1100" b="1" dirty="0">
                <a:solidFill>
                  <a:schemeClr val="bg1"/>
                </a:solidFill>
                <a:latin typeface="微软雅黑" panose="020B0503020204020204" charset="-122"/>
                <a:ea typeface="微软雅黑" panose="020B0503020204020204" charset="-122"/>
              </a:rPr>
              <a:t>日锁定</a:t>
            </a:r>
          </a:p>
        </p:txBody>
      </p:sp>
      <p:sp>
        <p:nvSpPr>
          <p:cNvPr id="82" name="AutoShape 14"/>
          <p:cNvSpPr>
            <a:spLocks noChangeArrowheads="1"/>
          </p:cNvSpPr>
          <p:nvPr/>
        </p:nvSpPr>
        <p:spPr bwMode="auto">
          <a:xfrm>
            <a:off x="1298440" y="5915358"/>
            <a:ext cx="1152000" cy="468000"/>
          </a:xfrm>
          <a:prstGeom prst="homePlate">
            <a:avLst>
              <a:gd name="adj" fmla="val 15821"/>
            </a:avLst>
          </a:prstGeom>
          <a:solidFill>
            <a:srgbClr val="C0C0C0"/>
          </a:solidFill>
          <a:ln w="6350" algn="ctr">
            <a:noFill/>
            <a:miter lim="800000"/>
          </a:ln>
        </p:spPr>
        <p:txBody>
          <a:bodyPr wrap="none" lIns="0" tIns="0" rIns="0" bIns="0" anchor="ctr"/>
          <a:lstStyle/>
          <a:p>
            <a:pPr algn="ctr" defTabSz="981075">
              <a:spcBef>
                <a:spcPct val="50000"/>
              </a:spcBef>
            </a:pPr>
            <a:r>
              <a:rPr lang="zh-CN" altLang="en-US" sz="1400" b="1" dirty="0">
                <a:latin typeface="微软雅黑" panose="020B0503020204020204" charset="-122"/>
                <a:ea typeface="微软雅黑" panose="020B0503020204020204" charset="-122"/>
              </a:rPr>
              <a:t>零部件交付</a:t>
            </a:r>
          </a:p>
        </p:txBody>
      </p:sp>
      <p:sp>
        <p:nvSpPr>
          <p:cNvPr id="83" name="Text Box 8"/>
          <p:cNvSpPr txBox="1">
            <a:spLocks noChangeArrowheads="1"/>
          </p:cNvSpPr>
          <p:nvPr/>
        </p:nvSpPr>
        <p:spPr bwMode="gray">
          <a:xfrm>
            <a:off x="7814583" y="5848682"/>
            <a:ext cx="1000155" cy="468000"/>
          </a:xfrm>
          <a:prstGeom prst="rect">
            <a:avLst/>
          </a:prstGeom>
          <a:noFill/>
          <a:ln w="12700">
            <a:solidFill>
              <a:schemeClr val="tx1"/>
            </a:solidFill>
            <a:miter lim="800000"/>
          </a:ln>
        </p:spPr>
        <p:txBody>
          <a:bodyPr lIns="0" tIns="3600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84" name="AutoShape 24"/>
          <p:cNvSpPr/>
          <p:nvPr/>
        </p:nvSpPr>
        <p:spPr bwMode="auto">
          <a:xfrm>
            <a:off x="926395" y="1785926"/>
            <a:ext cx="252000" cy="2000264"/>
          </a:xfrm>
          <a:prstGeom prst="leftBrace">
            <a:avLst>
              <a:gd name="adj1" fmla="val 29716"/>
              <a:gd name="adj2" fmla="val 50000"/>
            </a:avLst>
          </a:prstGeom>
          <a:noFill/>
          <a:ln w="9525">
            <a:solidFill>
              <a:schemeClr val="tx1"/>
            </a:solidFill>
            <a:round/>
          </a:ln>
        </p:spPr>
        <p:txBody>
          <a:bodyPr wrap="none" anchor="ctr"/>
          <a:lstStyle/>
          <a:p>
            <a:endParaRPr lang="zh-CN" altLang="en-US"/>
          </a:p>
        </p:txBody>
      </p:sp>
      <p:sp>
        <p:nvSpPr>
          <p:cNvPr id="85" name="AutoShape 14"/>
          <p:cNvSpPr>
            <a:spLocks noChangeArrowheads="1"/>
          </p:cNvSpPr>
          <p:nvPr/>
        </p:nvSpPr>
        <p:spPr bwMode="auto">
          <a:xfrm>
            <a:off x="1295933" y="4642174"/>
            <a:ext cx="1847308" cy="468000"/>
          </a:xfrm>
          <a:prstGeom prst="homePlate">
            <a:avLst>
              <a:gd name="adj" fmla="val 21248"/>
            </a:avLst>
          </a:prstGeom>
          <a:solidFill>
            <a:srgbClr val="C0C0C0"/>
          </a:solidFill>
          <a:ln w="6350" algn="ctr">
            <a:noFill/>
            <a:miter lim="800000"/>
          </a:ln>
        </p:spPr>
        <p:txBody>
          <a:bodyPr wrap="none" lIns="0" tIns="0" rIns="0" bIns="0" anchor="ctr"/>
          <a:lstStyle/>
          <a:p>
            <a:pPr algn="ctr" defTabSz="981075">
              <a:spcBef>
                <a:spcPct val="50000"/>
              </a:spcBef>
            </a:pPr>
            <a:r>
              <a:rPr lang="zh-CN" altLang="en-US" sz="1400" b="1" dirty="0">
                <a:latin typeface="微软雅黑" panose="020B0503020204020204" charset="-122"/>
                <a:ea typeface="微软雅黑" panose="020B0503020204020204" charset="-122"/>
              </a:rPr>
              <a:t>零部件需求计划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a:t>
            </a:r>
            <a:r>
              <a:rPr lang="en-US" altLang="zh-CN" sz="1400" b="1" dirty="0">
                <a:latin typeface="微软雅黑" panose="020B0503020204020204" charset="-122"/>
                <a:ea typeface="微软雅黑" panose="020B0503020204020204" charset="-122"/>
              </a:rPr>
              <a:t>MRP</a:t>
            </a:r>
            <a:r>
              <a:rPr lang="zh-CN" altLang="en-US" sz="1400" b="1" dirty="0">
                <a:latin typeface="微软雅黑" panose="020B0503020204020204" charset="-122"/>
                <a:ea typeface="微软雅黑" panose="020B0503020204020204" charset="-122"/>
              </a:rPr>
              <a:t>分解）</a:t>
            </a:r>
          </a:p>
        </p:txBody>
      </p:sp>
      <p:pic>
        <p:nvPicPr>
          <p:cNvPr id="86" name="Picture 4"/>
          <p:cNvPicPr>
            <a:picLocks noChangeAspect="1" noChangeArrowheads="1"/>
          </p:cNvPicPr>
          <p:nvPr/>
        </p:nvPicPr>
        <p:blipFill>
          <a:blip r:embed="rId2"/>
          <a:srcRect/>
          <a:stretch>
            <a:fillRect/>
          </a:stretch>
        </p:blipFill>
        <p:spPr bwMode="auto">
          <a:xfrm>
            <a:off x="369858" y="1214425"/>
            <a:ext cx="7339042" cy="428625"/>
          </a:xfrm>
          <a:prstGeom prst="rect">
            <a:avLst/>
          </a:prstGeom>
          <a:noFill/>
          <a:ln w="9525">
            <a:noFill/>
            <a:miter lim="800000"/>
            <a:headEnd/>
            <a:tailEnd/>
          </a:ln>
          <a:effectLst/>
        </p:spPr>
      </p:pic>
      <p:sp>
        <p:nvSpPr>
          <p:cNvPr id="87" name="上箭头标注 86"/>
          <p:cNvSpPr/>
          <p:nvPr/>
        </p:nvSpPr>
        <p:spPr bwMode="auto">
          <a:xfrm>
            <a:off x="144011" y="2739980"/>
            <a:ext cx="842961" cy="636023"/>
          </a:xfrm>
          <a:prstGeom prst="upArrowCallout">
            <a:avLst/>
          </a:prstGeom>
          <a:solidFill>
            <a:schemeClr val="bg1">
              <a:lumMod val="95000"/>
            </a:schemeClr>
          </a:solidFill>
          <a:ln w="9525" cap="flat" cmpd="sng" algn="ctr">
            <a:solidFill>
              <a:schemeClr val="bg1">
                <a:lumMod val="65000"/>
              </a:schemeClr>
            </a:solidFill>
            <a:prstDash val="solid"/>
            <a:round/>
            <a:headEnd type="none" w="med" len="med"/>
            <a:tailEnd type="none"/>
          </a:ln>
          <a:effectLst/>
        </p:spPr>
        <p:txBody>
          <a:bodyPr lIns="0" tIns="0" rIns="0" bIns="0" rtlCol="0" anchor="ctr"/>
          <a:lstStyle/>
          <a:p>
            <a:pPr algn="ctr">
              <a:defRPr/>
            </a:pPr>
            <a:r>
              <a:rPr lang="zh-CN" altLang="en-US" sz="1100" b="1" dirty="0">
                <a:solidFill>
                  <a:schemeClr val="bg1">
                    <a:lumMod val="50000"/>
                  </a:schemeClr>
                </a:solidFill>
                <a:latin typeface="微软雅黑" panose="020B0503020204020204" charset="-122"/>
                <a:ea typeface="微软雅黑" panose="020B0503020204020204" charset="-122"/>
              </a:rPr>
              <a:t>工厂产能及</a:t>
            </a:r>
            <a:br>
              <a:rPr lang="en-US" altLang="zh-CN" sz="1100" b="1" dirty="0">
                <a:solidFill>
                  <a:schemeClr val="bg1">
                    <a:lumMod val="50000"/>
                  </a:schemeClr>
                </a:solidFill>
                <a:latin typeface="微软雅黑" panose="020B0503020204020204" charset="-122"/>
                <a:ea typeface="微软雅黑" panose="020B0503020204020204" charset="-122"/>
              </a:rPr>
            </a:br>
            <a:r>
              <a:rPr lang="zh-CN" altLang="en-US" sz="1100" b="1" dirty="0">
                <a:solidFill>
                  <a:schemeClr val="bg1">
                    <a:lumMod val="50000"/>
                  </a:schemeClr>
                </a:solidFill>
                <a:latin typeface="微软雅黑" panose="020B0503020204020204" charset="-122"/>
                <a:ea typeface="微软雅黑" panose="020B0503020204020204" charset="-122"/>
              </a:rPr>
              <a:t>供应商备料</a:t>
            </a:r>
            <a:endParaRPr lang="en-US" altLang="zh-CN" sz="1100" b="1" dirty="0">
              <a:solidFill>
                <a:schemeClr val="bg1">
                  <a:lumMod val="50000"/>
                </a:schemeClr>
              </a:solidFill>
              <a:latin typeface="微软雅黑" panose="020B0503020204020204" charset="-122"/>
              <a:ea typeface="微软雅黑" panose="020B0503020204020204" charset="-122"/>
            </a:endParaRPr>
          </a:p>
        </p:txBody>
      </p:sp>
      <p:sp>
        <p:nvSpPr>
          <p:cNvPr id="88" name="上箭头标注 87"/>
          <p:cNvSpPr/>
          <p:nvPr/>
        </p:nvSpPr>
        <p:spPr bwMode="auto">
          <a:xfrm>
            <a:off x="142844" y="4458478"/>
            <a:ext cx="842961" cy="636023"/>
          </a:xfrm>
          <a:prstGeom prst="upArrowCallout">
            <a:avLst/>
          </a:prstGeom>
          <a:solidFill>
            <a:schemeClr val="bg1">
              <a:lumMod val="95000"/>
            </a:schemeClr>
          </a:solidFill>
          <a:ln w="9525" cap="flat" cmpd="sng" algn="ctr">
            <a:solidFill>
              <a:schemeClr val="bg1">
                <a:lumMod val="65000"/>
              </a:schemeClr>
            </a:solidFill>
            <a:prstDash val="solid"/>
            <a:round/>
            <a:headEnd type="none" w="med" len="med"/>
            <a:tailEnd type="none"/>
          </a:ln>
          <a:effectLst/>
        </p:spPr>
        <p:txBody>
          <a:bodyPr lIns="0" tIns="0" rIns="0" bIns="0" rtlCol="0" anchor="ctr"/>
          <a:lstStyle/>
          <a:p>
            <a:pPr lvl="0" algn="ctr">
              <a:defRPr/>
            </a:pPr>
            <a:r>
              <a:rPr lang="zh-CN" altLang="en-US" sz="1100" b="1" dirty="0">
                <a:solidFill>
                  <a:schemeClr val="bg1">
                    <a:lumMod val="50000"/>
                  </a:schemeClr>
                </a:solidFill>
                <a:latin typeface="微软雅黑" panose="020B0503020204020204" charset="-122"/>
                <a:ea typeface="微软雅黑" panose="020B0503020204020204" charset="-122"/>
              </a:rPr>
              <a:t>工厂排产及</a:t>
            </a:r>
            <a:endParaRPr lang="en-US" altLang="zh-CN" sz="1100" b="1" dirty="0">
              <a:solidFill>
                <a:schemeClr val="bg1">
                  <a:lumMod val="50000"/>
                </a:schemeClr>
              </a:solidFill>
              <a:latin typeface="微软雅黑" panose="020B0503020204020204" charset="-122"/>
              <a:ea typeface="微软雅黑" panose="020B0503020204020204" charset="-122"/>
            </a:endParaRPr>
          </a:p>
          <a:p>
            <a:pPr lvl="0" algn="ctr">
              <a:defRPr/>
            </a:pPr>
            <a:r>
              <a:rPr lang="zh-CN" altLang="en-US" sz="1100" b="1" dirty="0">
                <a:solidFill>
                  <a:schemeClr val="bg1">
                    <a:lumMod val="50000"/>
                  </a:schemeClr>
                </a:solidFill>
                <a:latin typeface="微软雅黑" panose="020B0503020204020204" charset="-122"/>
                <a:ea typeface="微软雅黑" panose="020B0503020204020204" charset="-122"/>
              </a:rPr>
              <a:t>供应商备货</a:t>
            </a:r>
            <a:endParaRPr lang="en-US" altLang="zh-CN" sz="1100" b="1" dirty="0">
              <a:solidFill>
                <a:schemeClr val="bg1">
                  <a:lumMod val="50000"/>
                </a:schemeClr>
              </a:solidFill>
              <a:latin typeface="微软雅黑" panose="020B0503020204020204" charset="-122"/>
              <a:ea typeface="微软雅黑" panose="020B0503020204020204" charset="-122"/>
            </a:endParaRPr>
          </a:p>
        </p:txBody>
      </p:sp>
      <p:sp>
        <p:nvSpPr>
          <p:cNvPr id="89" name="上箭头标注 88"/>
          <p:cNvSpPr/>
          <p:nvPr/>
        </p:nvSpPr>
        <p:spPr bwMode="auto">
          <a:xfrm>
            <a:off x="142844" y="5706929"/>
            <a:ext cx="842961" cy="636023"/>
          </a:xfrm>
          <a:prstGeom prst="upArrowCallout">
            <a:avLst/>
          </a:prstGeom>
          <a:solidFill>
            <a:schemeClr val="bg1">
              <a:lumMod val="95000"/>
            </a:schemeClr>
          </a:solidFill>
          <a:ln w="9525" cap="flat" cmpd="sng" algn="ctr">
            <a:solidFill>
              <a:schemeClr val="bg1">
                <a:lumMod val="65000"/>
              </a:schemeClr>
            </a:solidFill>
            <a:prstDash val="solid"/>
            <a:round/>
            <a:headEnd type="none" w="med" len="med"/>
            <a:tailEnd type="none"/>
          </a:ln>
          <a:effectLst/>
        </p:spPr>
        <p:txBody>
          <a:bodyPr lIns="0" tIns="0" rIns="0" bIns="0" rtlCol="0" anchor="ctr"/>
          <a:lstStyle/>
          <a:p>
            <a:pPr lvl="0" algn="ctr">
              <a:defRPr/>
            </a:pPr>
            <a:r>
              <a:rPr lang="zh-CN" altLang="en-US" sz="1100" b="1" dirty="0">
                <a:solidFill>
                  <a:schemeClr val="bg1">
                    <a:lumMod val="50000"/>
                  </a:schemeClr>
                </a:solidFill>
                <a:latin typeface="微软雅黑" panose="020B0503020204020204" charset="-122"/>
                <a:ea typeface="微软雅黑" panose="020B0503020204020204" charset="-122"/>
              </a:rPr>
              <a:t>工厂生产及</a:t>
            </a:r>
            <a:endParaRPr lang="en-US" altLang="zh-CN" sz="1100" b="1" dirty="0">
              <a:solidFill>
                <a:schemeClr val="bg1">
                  <a:lumMod val="50000"/>
                </a:schemeClr>
              </a:solidFill>
              <a:latin typeface="微软雅黑" panose="020B0503020204020204" charset="-122"/>
              <a:ea typeface="微软雅黑" panose="020B0503020204020204" charset="-122"/>
            </a:endParaRPr>
          </a:p>
          <a:p>
            <a:pPr lvl="0" algn="ctr">
              <a:defRPr/>
            </a:pPr>
            <a:r>
              <a:rPr lang="zh-CN" altLang="en-US" sz="1100" b="1" dirty="0">
                <a:solidFill>
                  <a:schemeClr val="bg1">
                    <a:lumMod val="50000"/>
                  </a:schemeClr>
                </a:solidFill>
                <a:latin typeface="微软雅黑" panose="020B0503020204020204" charset="-122"/>
                <a:ea typeface="微软雅黑" panose="020B0503020204020204" charset="-122"/>
              </a:rPr>
              <a:t>供应商送货</a:t>
            </a:r>
            <a:endParaRPr lang="en-US" altLang="zh-CN" sz="1100" b="1" dirty="0">
              <a:solidFill>
                <a:schemeClr val="bg1">
                  <a:lumMod val="50000"/>
                </a:schemeClr>
              </a:solidFill>
              <a:latin typeface="微软雅黑" panose="020B0503020204020204" charset="-122"/>
              <a:ea typeface="微软雅黑" panose="020B0503020204020204" charset="-122"/>
            </a:endParaRPr>
          </a:p>
        </p:txBody>
      </p:sp>
      <p:sp>
        <p:nvSpPr>
          <p:cNvPr id="90" name="AutoShape 19"/>
          <p:cNvSpPr>
            <a:spLocks noChangeArrowheads="1"/>
          </p:cNvSpPr>
          <p:nvPr/>
        </p:nvSpPr>
        <p:spPr bwMode="auto">
          <a:xfrm>
            <a:off x="1298552" y="2283557"/>
            <a:ext cx="6397760" cy="468000"/>
          </a:xfrm>
          <a:prstGeom prst="homePlate">
            <a:avLst>
              <a:gd name="adj" fmla="val 17692"/>
            </a:avLst>
          </a:prstGeom>
          <a:solidFill>
            <a:schemeClr val="accent1">
              <a:lumMod val="40000"/>
              <a:lumOff val="60000"/>
            </a:schemeClr>
          </a:solidFill>
          <a:ln w="6350" algn="ctr">
            <a:noFill/>
            <a:miter lim="800000"/>
          </a:ln>
        </p:spPr>
        <p:txBody>
          <a:bodyPr wrap="none" lIns="0" tIns="0" rIns="0" bIns="0" anchor="ctr"/>
          <a:lstStyle/>
          <a:p>
            <a:pPr algn="ctr" defTabSz="981075"/>
            <a:r>
              <a:rPr lang="en-US" altLang="zh-CN" sz="1400" b="1" dirty="0">
                <a:latin typeface="微软雅黑" panose="020B0503020204020204" charset="-122"/>
                <a:ea typeface="微软雅黑" panose="020B0503020204020204" charset="-122"/>
              </a:rPr>
              <a:t>A</a:t>
            </a:r>
            <a:r>
              <a:rPr lang="zh-CN" altLang="en-US" sz="1400" b="1" dirty="0">
                <a:latin typeface="微软雅黑" panose="020B0503020204020204" charset="-122"/>
                <a:ea typeface="微软雅黑" panose="020B0503020204020204" charset="-122"/>
              </a:rPr>
              <a:t>表 </a:t>
            </a:r>
            <a:r>
              <a:rPr lang="en-US" altLang="zh-CN" sz="1400" b="1" dirty="0">
                <a:latin typeface="微软雅黑" panose="020B0503020204020204" charset="-122"/>
                <a:ea typeface="微软雅黑" panose="020B0503020204020204" charset="-122"/>
              </a:rPr>
              <a:t>— </a:t>
            </a:r>
            <a:r>
              <a:rPr lang="zh-CN" altLang="en-US" sz="1400" b="1" dirty="0">
                <a:latin typeface="微软雅黑" panose="020B0503020204020204" charset="-122"/>
                <a:ea typeface="微软雅黑" panose="020B0503020204020204" charset="-122"/>
              </a:rPr>
              <a:t>中期计划</a:t>
            </a:r>
            <a:r>
              <a:rPr lang="en-US" altLang="zh-CN" sz="1400" b="1" dirty="0">
                <a:latin typeface="微软雅黑" panose="020B0503020204020204" charset="-122"/>
                <a:ea typeface="微软雅黑" panose="020B0503020204020204" charset="-122"/>
              </a:rPr>
              <a:t>/ S&amp;OP</a:t>
            </a:r>
            <a:r>
              <a:rPr lang="zh-CN" altLang="en-US" sz="1400" b="1" dirty="0">
                <a:latin typeface="微软雅黑" panose="020B0503020204020204" charset="-122"/>
                <a:ea typeface="微软雅黑" panose="020B0503020204020204" charset="-122"/>
              </a:rPr>
              <a:t>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（到月</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机型）</a:t>
            </a:r>
          </a:p>
        </p:txBody>
      </p:sp>
      <p:sp>
        <p:nvSpPr>
          <p:cNvPr id="91" name="Text Box 8"/>
          <p:cNvSpPr txBox="1">
            <a:spLocks noChangeArrowheads="1"/>
          </p:cNvSpPr>
          <p:nvPr/>
        </p:nvSpPr>
        <p:spPr bwMode="gray">
          <a:xfrm>
            <a:off x="7812110" y="2283557"/>
            <a:ext cx="1000155" cy="468000"/>
          </a:xfrm>
          <a:prstGeom prst="rect">
            <a:avLst/>
          </a:prstGeom>
          <a:noFill/>
          <a:ln w="12700">
            <a:solidFill>
              <a:schemeClr val="tx1"/>
            </a:solidFill>
            <a:miter lim="800000"/>
          </a:ln>
        </p:spPr>
        <p:txBody>
          <a:bodyPr lIns="0" tIns="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总经办</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运营管理部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cxnSp>
        <p:nvCxnSpPr>
          <p:cNvPr id="92" name="直接连接符 91"/>
          <p:cNvCxnSpPr/>
          <p:nvPr/>
        </p:nvCxnSpPr>
        <p:spPr bwMode="auto">
          <a:xfrm rot="5400000">
            <a:off x="-1130766" y="4026218"/>
            <a:ext cx="4860000" cy="1588"/>
          </a:xfrm>
          <a:prstGeom prst="line">
            <a:avLst/>
          </a:prstGeom>
          <a:noFill/>
          <a:ln w="9525" cap="flat" cmpd="sng" algn="ctr">
            <a:solidFill>
              <a:schemeClr val="tx1"/>
            </a:solidFill>
            <a:prstDash val="solid"/>
            <a:round/>
            <a:headEnd type="triangle" w="med" len="med"/>
            <a:tailEnd type="none" w="med" len="med"/>
          </a:ln>
          <a:effectLst/>
        </p:spPr>
      </p:cxnSp>
      <p:sp>
        <p:nvSpPr>
          <p:cNvPr id="40" name="五边形 37"/>
          <p:cNvSpPr/>
          <p:nvPr/>
        </p:nvSpPr>
        <p:spPr bwMode="auto">
          <a:xfrm>
            <a:off x="3786182" y="128338"/>
            <a:ext cx="900000" cy="288000"/>
          </a:xfrm>
          <a:prstGeom prst="homePlate">
            <a:avLst>
              <a:gd name="adj" fmla="val 34198"/>
            </a:avLst>
          </a:prstGeom>
          <a:solidFill>
            <a:srgbClr val="7889FB"/>
          </a:solidFill>
          <a:ln w="12700" algn="ctr">
            <a:solidFill>
              <a:srgbClr val="000000"/>
            </a:solidFill>
            <a:miter lim="800000"/>
          </a:ln>
        </p:spPr>
        <p:txBody>
          <a:bodyPr wrap="none" tIns="72000" anchor="ctr"/>
          <a:lstStyle/>
          <a:p>
            <a:pPr marL="0" marR="0" lvl="0" indent="0" algn="ctr" defTabSz="914400" eaLnBrk="1" fontAlgn="auto" latinLnBrk="0" hangingPunct="1">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模式现状</a:t>
            </a:r>
          </a:p>
        </p:txBody>
      </p:sp>
      <p:sp>
        <p:nvSpPr>
          <p:cNvPr id="42"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43" name="燕尾形 41"/>
          <p:cNvSpPr/>
          <p:nvPr/>
        </p:nvSpPr>
        <p:spPr bwMode="auto">
          <a:xfrm>
            <a:off x="5493436"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业务现状</a:t>
            </a:r>
          </a:p>
        </p:txBody>
      </p:sp>
      <p:sp>
        <p:nvSpPr>
          <p:cNvPr id="44"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46"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直接连接符 38"/>
          <p:cNvCxnSpPr/>
          <p:nvPr/>
        </p:nvCxnSpPr>
        <p:spPr bwMode="auto">
          <a:xfrm rot="5400000">
            <a:off x="-428974" y="4026218"/>
            <a:ext cx="4860000" cy="1588"/>
          </a:xfrm>
          <a:prstGeom prst="line">
            <a:avLst/>
          </a:prstGeom>
          <a:noFill/>
          <a:ln w="9525" cap="flat" cmpd="sng" algn="ctr">
            <a:solidFill>
              <a:srgbClr val="FF0000"/>
            </a:solidFill>
            <a:prstDash val="dash"/>
            <a:round/>
            <a:headEnd type="none" w="med" len="med"/>
            <a:tailEnd type="none" w="med" len="med"/>
          </a:ln>
          <a:effectLst/>
        </p:spPr>
      </p:cxnSp>
      <p:cxnSp>
        <p:nvCxnSpPr>
          <p:cNvPr id="81" name="直接连接符 80"/>
          <p:cNvCxnSpPr/>
          <p:nvPr/>
        </p:nvCxnSpPr>
        <p:spPr bwMode="auto">
          <a:xfrm rot="5400000">
            <a:off x="31403" y="4026219"/>
            <a:ext cx="4860000" cy="1588"/>
          </a:xfrm>
          <a:prstGeom prst="line">
            <a:avLst/>
          </a:prstGeom>
          <a:noFill/>
          <a:ln w="9525" cap="flat" cmpd="sng" algn="ctr">
            <a:solidFill>
              <a:srgbClr val="FF0000"/>
            </a:solidFill>
            <a:prstDash val="dash"/>
            <a:round/>
            <a:headEnd type="none" w="med" len="med"/>
            <a:tailEnd type="none" w="med" len="med"/>
          </a:ln>
          <a:effectLst/>
        </p:spPr>
      </p:cxnSp>
      <p:sp>
        <p:nvSpPr>
          <p:cNvPr id="108" name="标题 1"/>
          <p:cNvSpPr>
            <a:spLocks noGrp="1"/>
          </p:cNvSpPr>
          <p:nvPr>
            <p:ph type="title" idx="4294967295"/>
          </p:nvPr>
        </p:nvSpPr>
        <p:spPr>
          <a:xfrm>
            <a:off x="162000" y="593725"/>
            <a:ext cx="8820000" cy="695325"/>
          </a:xfrm>
        </p:spPr>
        <p:txBody>
          <a:bodyPr/>
          <a:lstStyle/>
          <a:p>
            <a:r>
              <a:rPr lang="zh-CN" altLang="en-US" dirty="0"/>
              <a:t>目前的计划模式主要存在两个问题：计划调整规则未明确定义；</a:t>
            </a:r>
            <a:r>
              <a:rPr dirty="0"/>
              <a:t>3+2</a:t>
            </a:r>
            <a:r>
              <a:rPr lang="zh-CN" altLang="en-US" dirty="0"/>
              <a:t>滚动计划周期偏短</a:t>
            </a:r>
          </a:p>
        </p:txBody>
      </p:sp>
      <p:cxnSp>
        <p:nvCxnSpPr>
          <p:cNvPr id="42" name="直接连接符 41"/>
          <p:cNvCxnSpPr/>
          <p:nvPr/>
        </p:nvCxnSpPr>
        <p:spPr bwMode="auto">
          <a:xfrm rot="5400000">
            <a:off x="733083" y="4026219"/>
            <a:ext cx="4860000" cy="1588"/>
          </a:xfrm>
          <a:prstGeom prst="line">
            <a:avLst/>
          </a:prstGeom>
          <a:noFill/>
          <a:ln w="9525" cap="flat" cmpd="sng" algn="ctr">
            <a:solidFill>
              <a:srgbClr val="FF0000"/>
            </a:solidFill>
            <a:prstDash val="dash"/>
            <a:round/>
            <a:headEnd type="none" w="med" len="med"/>
            <a:tailEnd type="none" w="med" len="med"/>
          </a:ln>
          <a:effectLst/>
        </p:spPr>
      </p:cxnSp>
      <p:cxnSp>
        <p:nvCxnSpPr>
          <p:cNvPr id="43" name="直接连接符 42"/>
          <p:cNvCxnSpPr/>
          <p:nvPr/>
        </p:nvCxnSpPr>
        <p:spPr bwMode="auto">
          <a:xfrm rot="5400000">
            <a:off x="2563484" y="4026218"/>
            <a:ext cx="4860000" cy="1588"/>
          </a:xfrm>
          <a:prstGeom prst="line">
            <a:avLst/>
          </a:prstGeom>
          <a:noFill/>
          <a:ln w="9525" cap="flat" cmpd="sng" algn="ctr">
            <a:solidFill>
              <a:srgbClr val="FF0000"/>
            </a:solidFill>
            <a:prstDash val="dash"/>
            <a:round/>
            <a:headEnd type="none" w="med" len="med"/>
            <a:tailEnd type="none" w="med" len="med"/>
          </a:ln>
          <a:effectLst/>
        </p:spPr>
      </p:cxnSp>
      <p:sp>
        <p:nvSpPr>
          <p:cNvPr id="44" name="AutoShape 19"/>
          <p:cNvSpPr>
            <a:spLocks noChangeArrowheads="1"/>
          </p:cNvSpPr>
          <p:nvPr/>
        </p:nvSpPr>
        <p:spPr bwMode="auto">
          <a:xfrm>
            <a:off x="1298440" y="1746554"/>
            <a:ext cx="6397760" cy="468000"/>
          </a:xfrm>
          <a:prstGeom prst="homePlate">
            <a:avLst>
              <a:gd name="adj" fmla="val 17692"/>
            </a:avLst>
          </a:prstGeom>
          <a:solidFill>
            <a:schemeClr val="accent1">
              <a:lumMod val="40000"/>
              <a:lumOff val="60000"/>
            </a:schemeClr>
          </a:solidFill>
          <a:ln w="6350" algn="ctr">
            <a:noFill/>
            <a:miter lim="800000"/>
          </a:ln>
        </p:spPr>
        <p:txBody>
          <a:bodyPr wrap="none" lIns="0" tIns="0" rIns="0" bIns="0" anchor="ctr"/>
          <a:lstStyle/>
          <a:p>
            <a:pPr algn="ctr" defTabSz="981075"/>
            <a:r>
              <a:rPr lang="zh-CN" altLang="en-US" sz="1400" b="1" dirty="0">
                <a:latin typeface="微软雅黑" panose="020B0503020204020204" charset="-122"/>
                <a:ea typeface="微软雅黑" panose="020B0503020204020204" charset="-122"/>
              </a:rPr>
              <a:t>需求计划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（到月</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机型）</a:t>
            </a:r>
          </a:p>
        </p:txBody>
      </p:sp>
      <p:cxnSp>
        <p:nvCxnSpPr>
          <p:cNvPr id="45" name="直接连接符 44"/>
          <p:cNvCxnSpPr/>
          <p:nvPr/>
        </p:nvCxnSpPr>
        <p:spPr bwMode="auto">
          <a:xfrm rot="5400000">
            <a:off x="5269964" y="4026218"/>
            <a:ext cx="4860000" cy="1588"/>
          </a:xfrm>
          <a:prstGeom prst="line">
            <a:avLst/>
          </a:prstGeom>
          <a:noFill/>
          <a:ln w="9525" cap="flat" cmpd="sng" algn="ctr">
            <a:solidFill>
              <a:srgbClr val="FF0000"/>
            </a:solidFill>
            <a:prstDash val="dash"/>
            <a:round/>
            <a:headEnd type="none" w="med" len="med"/>
            <a:tailEnd type="none" w="med" len="med"/>
          </a:ln>
          <a:effectLst/>
        </p:spPr>
      </p:cxnSp>
      <p:sp>
        <p:nvSpPr>
          <p:cNvPr id="46" name="Text Box 8"/>
          <p:cNvSpPr txBox="1">
            <a:spLocks noChangeArrowheads="1"/>
          </p:cNvSpPr>
          <p:nvPr/>
        </p:nvSpPr>
        <p:spPr bwMode="gray">
          <a:xfrm>
            <a:off x="7814583" y="1746554"/>
            <a:ext cx="1000155" cy="468000"/>
          </a:xfrm>
          <a:prstGeom prst="rect">
            <a:avLst/>
          </a:prstGeom>
          <a:noFill/>
          <a:ln w="12700">
            <a:solidFill>
              <a:schemeClr val="tx1"/>
            </a:solidFill>
            <a:miter lim="800000"/>
          </a:ln>
        </p:spPr>
        <p:txBody>
          <a:bodyPr lIns="0" tIns="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营销管理部</a:t>
            </a:r>
            <a:br>
              <a:rPr lang="en-US" altLang="zh-CN" sz="1200" dirty="0">
                <a:latin typeface="微软雅黑" panose="020B0503020204020204" charset="-122"/>
                <a:ea typeface="微软雅黑" panose="020B0503020204020204" charset="-122"/>
                <a:cs typeface="Times New Roman" panose="02020603050405020304" pitchFamily="18" charset="0"/>
              </a:rPr>
            </a:br>
            <a:r>
              <a:rPr lang="en-US" altLang="zh-CN" sz="1200" dirty="0">
                <a:latin typeface="微软雅黑" panose="020B0503020204020204" charset="-122"/>
                <a:ea typeface="微软雅黑" panose="020B0503020204020204" charset="-122"/>
                <a:cs typeface="Times New Roman" panose="02020603050405020304" pitchFamily="18" charset="0"/>
              </a:rPr>
              <a:t>(</a:t>
            </a:r>
            <a:r>
              <a:rPr lang="zh-CN" altLang="en-US" sz="1200" dirty="0">
                <a:latin typeface="微软雅黑" panose="020B0503020204020204" charset="-122"/>
                <a:ea typeface="微软雅黑" panose="020B0503020204020204" charset="-122"/>
                <a:cs typeface="Times New Roman" panose="02020603050405020304" pitchFamily="18" charset="0"/>
              </a:rPr>
              <a:t>国内</a:t>
            </a:r>
            <a:r>
              <a:rPr lang="en-US" altLang="zh-CN" sz="1200" dirty="0">
                <a:latin typeface="微软雅黑" panose="020B0503020204020204" charset="-122"/>
                <a:ea typeface="微软雅黑" panose="020B0503020204020204" charset="-122"/>
                <a:cs typeface="Times New Roman" panose="02020603050405020304" pitchFamily="18" charset="0"/>
              </a:rPr>
              <a:t>/</a:t>
            </a:r>
            <a:r>
              <a:rPr lang="zh-CN" altLang="en-US" sz="1200" dirty="0">
                <a:latin typeface="微软雅黑" panose="020B0503020204020204" charset="-122"/>
                <a:ea typeface="微软雅黑" panose="020B0503020204020204" charset="-122"/>
                <a:cs typeface="Times New Roman" panose="02020603050405020304" pitchFamily="18" charset="0"/>
              </a:rPr>
              <a:t>国际</a:t>
            </a:r>
            <a:r>
              <a:rPr lang="en-US" altLang="zh-CN" sz="1200" dirty="0">
                <a:latin typeface="微软雅黑" panose="020B0503020204020204" charset="-122"/>
                <a:ea typeface="微软雅黑" panose="020B0503020204020204" charset="-122"/>
                <a:cs typeface="Times New Roman" panose="02020603050405020304" pitchFamily="18" charset="0"/>
              </a:rPr>
              <a:t>)</a:t>
            </a:r>
          </a:p>
        </p:txBody>
      </p:sp>
      <p:sp>
        <p:nvSpPr>
          <p:cNvPr id="47" name="AutoShape 23"/>
          <p:cNvSpPr/>
          <p:nvPr/>
        </p:nvSpPr>
        <p:spPr bwMode="auto">
          <a:xfrm>
            <a:off x="926395" y="4117624"/>
            <a:ext cx="244477" cy="960606"/>
          </a:xfrm>
          <a:prstGeom prst="leftBrace">
            <a:avLst>
              <a:gd name="adj1" fmla="val 40191"/>
              <a:gd name="adj2" fmla="val 50000"/>
            </a:avLst>
          </a:prstGeom>
          <a:noFill/>
          <a:ln w="9525">
            <a:solidFill>
              <a:schemeClr val="tx1"/>
            </a:solidFill>
            <a:round/>
          </a:ln>
        </p:spPr>
        <p:txBody>
          <a:bodyPr wrap="none" anchor="ctr"/>
          <a:lstStyle/>
          <a:p>
            <a:endParaRPr lang="zh-CN" altLang="en-US"/>
          </a:p>
        </p:txBody>
      </p:sp>
      <p:sp>
        <p:nvSpPr>
          <p:cNvPr id="48" name="AutoShape 24"/>
          <p:cNvSpPr/>
          <p:nvPr/>
        </p:nvSpPr>
        <p:spPr bwMode="auto">
          <a:xfrm>
            <a:off x="926395" y="5373548"/>
            <a:ext cx="244477" cy="979648"/>
          </a:xfrm>
          <a:prstGeom prst="leftBrace">
            <a:avLst>
              <a:gd name="adj1" fmla="val 29716"/>
              <a:gd name="adj2" fmla="val 50000"/>
            </a:avLst>
          </a:prstGeom>
          <a:noFill/>
          <a:ln w="9525">
            <a:solidFill>
              <a:schemeClr val="tx1"/>
            </a:solidFill>
            <a:round/>
          </a:ln>
        </p:spPr>
        <p:txBody>
          <a:bodyPr wrap="none" anchor="ctr"/>
          <a:lstStyle/>
          <a:p>
            <a:endParaRPr lang="zh-CN" altLang="en-US"/>
          </a:p>
        </p:txBody>
      </p:sp>
      <p:sp>
        <p:nvSpPr>
          <p:cNvPr id="49" name="Text Box 25"/>
          <p:cNvSpPr txBox="1">
            <a:spLocks noChangeArrowheads="1"/>
          </p:cNvSpPr>
          <p:nvPr/>
        </p:nvSpPr>
        <p:spPr bwMode="auto">
          <a:xfrm>
            <a:off x="104744" y="2482208"/>
            <a:ext cx="936000"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长期计划</a:t>
            </a:r>
            <a:endParaRPr lang="en-US" altLang="zh-CN" sz="1400" b="1" dirty="0">
              <a:latin typeface="微软雅黑" panose="020B0503020204020204" charset="-122"/>
              <a:ea typeface="微软雅黑" panose="020B0503020204020204" charset="-122"/>
            </a:endParaRPr>
          </a:p>
        </p:txBody>
      </p:sp>
      <p:sp>
        <p:nvSpPr>
          <p:cNvPr id="50" name="Text Box 26"/>
          <p:cNvSpPr txBox="1">
            <a:spLocks noChangeArrowheads="1"/>
          </p:cNvSpPr>
          <p:nvPr/>
        </p:nvSpPr>
        <p:spPr bwMode="auto">
          <a:xfrm>
            <a:off x="104744" y="4206949"/>
            <a:ext cx="936000"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中期计划</a:t>
            </a:r>
          </a:p>
        </p:txBody>
      </p:sp>
      <p:sp>
        <p:nvSpPr>
          <p:cNvPr id="51" name="Text Box 27"/>
          <p:cNvSpPr txBox="1">
            <a:spLocks noChangeArrowheads="1"/>
          </p:cNvSpPr>
          <p:nvPr/>
        </p:nvSpPr>
        <p:spPr bwMode="auto">
          <a:xfrm>
            <a:off x="104744" y="5457840"/>
            <a:ext cx="936000"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短期计划</a:t>
            </a:r>
          </a:p>
        </p:txBody>
      </p:sp>
      <p:sp>
        <p:nvSpPr>
          <p:cNvPr id="53" name="AutoShape 19"/>
          <p:cNvSpPr>
            <a:spLocks noChangeArrowheads="1"/>
          </p:cNvSpPr>
          <p:nvPr/>
        </p:nvSpPr>
        <p:spPr bwMode="auto">
          <a:xfrm>
            <a:off x="1298440" y="3357562"/>
            <a:ext cx="3692660" cy="468000"/>
          </a:xfrm>
          <a:prstGeom prst="homePlate">
            <a:avLst>
              <a:gd name="adj" fmla="val 19322"/>
            </a:avLst>
          </a:prstGeom>
          <a:solidFill>
            <a:schemeClr val="accent1">
              <a:lumMod val="40000"/>
              <a:lumOff val="60000"/>
            </a:schemeClr>
          </a:solidFill>
          <a:ln w="6350" algn="ctr">
            <a:noFill/>
            <a:miter lim="800000"/>
          </a:ln>
        </p:spPr>
        <p:txBody>
          <a:bodyPr wrap="square" lIns="0" tIns="0" rIns="0" bIns="0" anchor="ctr"/>
          <a:lstStyle/>
          <a:p>
            <a:pPr algn="ctr" defTabSz="981075"/>
            <a:r>
              <a:rPr lang="en-US" altLang="zh-CN" sz="1400" b="1" dirty="0">
                <a:latin typeface="微软雅黑" panose="020B0503020204020204" charset="-122"/>
                <a:ea typeface="微软雅黑" panose="020B0503020204020204" charset="-122"/>
              </a:rPr>
              <a:t>B</a:t>
            </a:r>
            <a:r>
              <a:rPr lang="zh-CN" altLang="en-US" sz="1400" b="1" dirty="0">
                <a:latin typeface="微软雅黑" panose="020B0503020204020204" charset="-122"/>
                <a:ea typeface="微软雅黑" panose="020B0503020204020204" charset="-122"/>
              </a:rPr>
              <a:t>表 </a:t>
            </a:r>
            <a:r>
              <a:rPr lang="en-US" altLang="zh-CN" sz="1400" b="1" dirty="0">
                <a:latin typeface="微软雅黑" panose="020B0503020204020204" charset="-122"/>
                <a:ea typeface="微软雅黑" panose="020B0503020204020204" charset="-122"/>
              </a:rPr>
              <a:t>— </a:t>
            </a:r>
            <a:r>
              <a:rPr lang="zh-CN" altLang="en-US" sz="1400" b="1" dirty="0">
                <a:latin typeface="微软雅黑" panose="020B0503020204020204" charset="-122"/>
                <a:ea typeface="微软雅黑" panose="020B0503020204020204" charset="-122"/>
              </a:rPr>
              <a:t>主生产计划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（到天</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机型）</a:t>
            </a:r>
          </a:p>
        </p:txBody>
      </p:sp>
      <p:sp>
        <p:nvSpPr>
          <p:cNvPr id="54" name="AutoShape 19"/>
          <p:cNvSpPr>
            <a:spLocks noChangeArrowheads="1"/>
          </p:cNvSpPr>
          <p:nvPr/>
        </p:nvSpPr>
        <p:spPr bwMode="auto">
          <a:xfrm>
            <a:off x="1298440" y="2820560"/>
            <a:ext cx="6397760" cy="468000"/>
          </a:xfrm>
          <a:prstGeom prst="homePlate">
            <a:avLst>
              <a:gd name="adj" fmla="val 25032"/>
            </a:avLst>
          </a:prstGeom>
          <a:solidFill>
            <a:schemeClr val="bg1">
              <a:lumMod val="75000"/>
            </a:schemeClr>
          </a:solidFill>
          <a:ln w="6350" algn="ctr">
            <a:noFill/>
            <a:miter lim="800000"/>
          </a:ln>
        </p:spPr>
        <p:txBody>
          <a:bodyPr wrap="none" lIns="0" tIns="0" rIns="0" bIns="0" anchor="ctr"/>
          <a:lstStyle/>
          <a:p>
            <a:pPr algn="ctr" defTabSz="981075">
              <a:spcBef>
                <a:spcPct val="50000"/>
              </a:spcBef>
            </a:pPr>
            <a:r>
              <a:rPr lang="zh-CN" altLang="en-US" sz="1400" b="1" dirty="0">
                <a:latin typeface="微软雅黑" panose="020B0503020204020204" charset="-122"/>
                <a:ea typeface="微软雅黑" panose="020B0503020204020204" charset="-122"/>
              </a:rPr>
              <a:t>零部件需求计划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（国内件</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不分解；进口件</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手工分解）</a:t>
            </a:r>
          </a:p>
        </p:txBody>
      </p:sp>
      <p:sp>
        <p:nvSpPr>
          <p:cNvPr id="55" name="AutoShape 19"/>
          <p:cNvSpPr>
            <a:spLocks noChangeArrowheads="1"/>
          </p:cNvSpPr>
          <p:nvPr/>
        </p:nvSpPr>
        <p:spPr bwMode="auto">
          <a:xfrm>
            <a:off x="1298440" y="5353608"/>
            <a:ext cx="1152000" cy="468000"/>
          </a:xfrm>
          <a:prstGeom prst="homePlate">
            <a:avLst>
              <a:gd name="adj" fmla="val 18643"/>
            </a:avLst>
          </a:prstGeom>
          <a:solidFill>
            <a:schemeClr val="accent1">
              <a:lumMod val="40000"/>
              <a:lumOff val="60000"/>
            </a:schemeClr>
          </a:solidFill>
          <a:ln w="6350" algn="ctr">
            <a:noFill/>
            <a:miter lim="800000"/>
          </a:ln>
        </p:spPr>
        <p:txBody>
          <a:bodyPr wrap="none" lIns="0" tIns="0" rIns="0" bIns="0" anchor="t"/>
          <a:lstStyle/>
          <a:p>
            <a:pPr algn="ctr" defTabSz="981075">
              <a:lnSpc>
                <a:spcPct val="120000"/>
              </a:lnSpc>
              <a:spcBef>
                <a:spcPct val="50000"/>
              </a:spcBef>
            </a:pPr>
            <a:r>
              <a:rPr lang="en-US" altLang="zh-CN" sz="1400" b="1" dirty="0">
                <a:latin typeface="微软雅黑" panose="020B0503020204020204" charset="-122"/>
                <a:ea typeface="微软雅黑" panose="020B0503020204020204" charset="-122"/>
              </a:rPr>
              <a:t>3+2</a:t>
            </a:r>
            <a:r>
              <a:rPr lang="zh-CN" altLang="en-US" sz="1400" b="1" dirty="0">
                <a:latin typeface="微软雅黑" panose="020B0503020204020204" charset="-122"/>
                <a:ea typeface="微软雅黑" panose="020B0503020204020204" charset="-122"/>
              </a:rPr>
              <a:t>滚动计划</a:t>
            </a:r>
          </a:p>
        </p:txBody>
      </p:sp>
      <p:sp>
        <p:nvSpPr>
          <p:cNvPr id="57" name="AutoShape 15"/>
          <p:cNvSpPr>
            <a:spLocks noChangeArrowheads="1"/>
          </p:cNvSpPr>
          <p:nvPr/>
        </p:nvSpPr>
        <p:spPr bwMode="auto">
          <a:xfrm>
            <a:off x="6315101" y="5761709"/>
            <a:ext cx="276225" cy="231775"/>
          </a:xfrm>
          <a:prstGeom prst="homePlate">
            <a:avLst>
              <a:gd name="adj" fmla="val 16279"/>
            </a:avLst>
          </a:prstGeom>
          <a:solidFill>
            <a:schemeClr val="accent1">
              <a:lumMod val="40000"/>
              <a:lumOff val="60000"/>
            </a:schemeClr>
          </a:solidFill>
          <a:ln w="6350" algn="ctr">
            <a:noFill/>
            <a:miter lim="800000"/>
          </a:ln>
        </p:spPr>
        <p:txBody>
          <a:bodyPr wrap="none" lIns="0" tIns="0" rIns="0" bIns="0" anchor="ctr"/>
          <a:lstStyle/>
          <a:p>
            <a:pPr defTabSz="981075">
              <a:lnSpc>
                <a:spcPct val="120000"/>
              </a:lnSpc>
              <a:spcBef>
                <a:spcPct val="50000"/>
              </a:spcBef>
            </a:pPr>
            <a:endParaRPr lang="zh-CN" altLang="en-US" sz="1050" b="1"/>
          </a:p>
        </p:txBody>
      </p:sp>
      <p:sp>
        <p:nvSpPr>
          <p:cNvPr id="58" name="Text Box 16"/>
          <p:cNvSpPr txBox="1">
            <a:spLocks noChangeArrowheads="1"/>
          </p:cNvSpPr>
          <p:nvPr/>
        </p:nvSpPr>
        <p:spPr bwMode="auto">
          <a:xfrm>
            <a:off x="6655732" y="5771234"/>
            <a:ext cx="792000" cy="221599"/>
          </a:xfrm>
          <a:prstGeom prst="rect">
            <a:avLst/>
          </a:prstGeom>
          <a:noFill/>
          <a:ln w="6350" algn="ctr">
            <a:noFill/>
            <a:miter lim="800000"/>
          </a:ln>
        </p:spPr>
        <p:txBody>
          <a:bodyPr wrap="square" lIns="0" tIns="0" rIns="0" bIns="0">
            <a:spAutoFit/>
          </a:bodyPr>
          <a:lstStyle/>
          <a:p>
            <a:pPr defTabSz="981075">
              <a:lnSpc>
                <a:spcPct val="120000"/>
              </a:lnSpc>
              <a:spcBef>
                <a:spcPct val="50000"/>
              </a:spcBef>
            </a:pPr>
            <a:r>
              <a:rPr lang="zh-CN" altLang="en-US" sz="1200" b="1" dirty="0">
                <a:latin typeface="微软雅黑" panose="020B0503020204020204" charset="-122"/>
                <a:ea typeface="微软雅黑" panose="020B0503020204020204" charset="-122"/>
              </a:rPr>
              <a:t>整机层级</a:t>
            </a:r>
          </a:p>
        </p:txBody>
      </p:sp>
      <p:sp>
        <p:nvSpPr>
          <p:cNvPr id="59" name="AutoShape 17"/>
          <p:cNvSpPr>
            <a:spLocks noChangeArrowheads="1"/>
          </p:cNvSpPr>
          <p:nvPr/>
        </p:nvSpPr>
        <p:spPr bwMode="auto">
          <a:xfrm>
            <a:off x="6315101" y="6118897"/>
            <a:ext cx="277812" cy="227012"/>
          </a:xfrm>
          <a:prstGeom prst="homePlate">
            <a:avLst>
              <a:gd name="adj" fmla="val 19995"/>
            </a:avLst>
          </a:prstGeom>
          <a:solidFill>
            <a:srgbClr val="C0C0C0"/>
          </a:solidFill>
          <a:ln w="6350" algn="ctr">
            <a:noFill/>
            <a:miter lim="800000"/>
          </a:ln>
        </p:spPr>
        <p:txBody>
          <a:bodyPr wrap="none" lIns="0" tIns="0" rIns="0" bIns="0" anchor="ctr"/>
          <a:lstStyle/>
          <a:p>
            <a:pPr defTabSz="981075">
              <a:lnSpc>
                <a:spcPct val="120000"/>
              </a:lnSpc>
              <a:spcBef>
                <a:spcPct val="50000"/>
              </a:spcBef>
            </a:pPr>
            <a:endParaRPr lang="zh-CN" altLang="en-US" sz="1050" b="1"/>
          </a:p>
        </p:txBody>
      </p:sp>
      <p:sp>
        <p:nvSpPr>
          <p:cNvPr id="60" name="Text Box 18"/>
          <p:cNvSpPr txBox="1">
            <a:spLocks noChangeArrowheads="1"/>
          </p:cNvSpPr>
          <p:nvPr/>
        </p:nvSpPr>
        <p:spPr bwMode="auto">
          <a:xfrm>
            <a:off x="6655732" y="6136359"/>
            <a:ext cx="792000" cy="221599"/>
          </a:xfrm>
          <a:prstGeom prst="rect">
            <a:avLst/>
          </a:prstGeom>
          <a:noFill/>
          <a:ln w="6350" algn="ctr">
            <a:noFill/>
            <a:miter lim="800000"/>
          </a:ln>
        </p:spPr>
        <p:txBody>
          <a:bodyPr wrap="square" lIns="0" tIns="0" rIns="0" bIns="0">
            <a:spAutoFit/>
          </a:bodyPr>
          <a:lstStyle/>
          <a:p>
            <a:pPr defTabSz="981075">
              <a:lnSpc>
                <a:spcPct val="120000"/>
              </a:lnSpc>
              <a:spcBef>
                <a:spcPct val="50000"/>
              </a:spcBef>
            </a:pPr>
            <a:r>
              <a:rPr lang="zh-CN" altLang="en-US" sz="1200" b="1" dirty="0">
                <a:latin typeface="微软雅黑" panose="020B0503020204020204" charset="-122"/>
                <a:ea typeface="微软雅黑" panose="020B0503020204020204" charset="-122"/>
              </a:rPr>
              <a:t>物料层级</a:t>
            </a:r>
          </a:p>
        </p:txBody>
      </p:sp>
      <p:sp>
        <p:nvSpPr>
          <p:cNvPr id="61" name="Text Box 8"/>
          <p:cNvSpPr txBox="1">
            <a:spLocks noChangeArrowheads="1"/>
          </p:cNvSpPr>
          <p:nvPr/>
        </p:nvSpPr>
        <p:spPr bwMode="gray">
          <a:xfrm>
            <a:off x="7814583" y="4176138"/>
            <a:ext cx="1000155" cy="468000"/>
          </a:xfrm>
          <a:prstGeom prst="rect">
            <a:avLst/>
          </a:prstGeom>
          <a:noFill/>
          <a:ln w="12700">
            <a:solidFill>
              <a:schemeClr val="tx1"/>
            </a:solidFill>
            <a:miter lim="800000"/>
          </a:ln>
        </p:spPr>
        <p:txBody>
          <a:bodyPr lIns="0" tIns="3600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br>
              <a:rPr lang="en-US" altLang="zh-CN" sz="1200" dirty="0">
                <a:latin typeface="微软雅黑" panose="020B0503020204020204" charset="-122"/>
                <a:ea typeface="微软雅黑" panose="020B0503020204020204" charset="-122"/>
                <a:cs typeface="Times New Roman" panose="02020603050405020304" pitchFamily="18" charset="0"/>
              </a:rPr>
            </a:b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62" name="Text Box 8"/>
          <p:cNvSpPr txBox="1">
            <a:spLocks noChangeArrowheads="1"/>
          </p:cNvSpPr>
          <p:nvPr/>
        </p:nvSpPr>
        <p:spPr bwMode="gray">
          <a:xfrm>
            <a:off x="7814583" y="3357562"/>
            <a:ext cx="1000155" cy="468000"/>
          </a:xfrm>
          <a:prstGeom prst="rect">
            <a:avLst/>
          </a:prstGeom>
          <a:noFill/>
          <a:ln w="12700">
            <a:solidFill>
              <a:schemeClr val="tx1"/>
            </a:solidFill>
            <a:miter lim="800000"/>
          </a:ln>
        </p:spPr>
        <p:txBody>
          <a:bodyPr lIns="0" tIns="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63" name="Text Box 8"/>
          <p:cNvSpPr txBox="1">
            <a:spLocks noChangeArrowheads="1"/>
          </p:cNvSpPr>
          <p:nvPr/>
        </p:nvSpPr>
        <p:spPr bwMode="gray">
          <a:xfrm>
            <a:off x="7814583" y="2820560"/>
            <a:ext cx="1000155" cy="468000"/>
          </a:xfrm>
          <a:prstGeom prst="rect">
            <a:avLst/>
          </a:prstGeom>
          <a:noFill/>
          <a:ln w="12700">
            <a:solidFill>
              <a:schemeClr val="tx1"/>
            </a:solidFill>
            <a:miter lim="800000"/>
          </a:ln>
        </p:spPr>
        <p:txBody>
          <a:bodyPr lIns="0" tIns="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65" name="Text Box 8"/>
          <p:cNvSpPr txBox="1">
            <a:spLocks noChangeArrowheads="1"/>
          </p:cNvSpPr>
          <p:nvPr/>
        </p:nvSpPr>
        <p:spPr bwMode="gray">
          <a:xfrm>
            <a:off x="7814583" y="4730304"/>
            <a:ext cx="1000155" cy="468000"/>
          </a:xfrm>
          <a:prstGeom prst="rect">
            <a:avLst/>
          </a:prstGeom>
          <a:noFill/>
          <a:ln w="12700">
            <a:solidFill>
              <a:schemeClr val="tx1"/>
            </a:solidFill>
            <a:miter lim="800000"/>
          </a:ln>
        </p:spPr>
        <p:txBody>
          <a:bodyPr lIns="0" tIns="3600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66" name="Text Box 8"/>
          <p:cNvSpPr txBox="1">
            <a:spLocks noChangeArrowheads="1"/>
          </p:cNvSpPr>
          <p:nvPr/>
        </p:nvSpPr>
        <p:spPr bwMode="gray">
          <a:xfrm>
            <a:off x="7814583" y="5286932"/>
            <a:ext cx="1000155" cy="468000"/>
          </a:xfrm>
          <a:prstGeom prst="rect">
            <a:avLst/>
          </a:prstGeom>
          <a:noFill/>
          <a:ln w="12700">
            <a:solidFill>
              <a:schemeClr val="tx1"/>
            </a:solidFill>
            <a:miter lim="800000"/>
          </a:ln>
        </p:spPr>
        <p:txBody>
          <a:bodyPr lIns="0" tIns="3600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67" name="AutoShape 19"/>
          <p:cNvSpPr>
            <a:spLocks noChangeArrowheads="1"/>
          </p:cNvSpPr>
          <p:nvPr/>
        </p:nvSpPr>
        <p:spPr bwMode="auto">
          <a:xfrm>
            <a:off x="1299233" y="4062608"/>
            <a:ext cx="1850367" cy="468000"/>
          </a:xfrm>
          <a:prstGeom prst="homePlate">
            <a:avLst>
              <a:gd name="adj" fmla="val 20406"/>
            </a:avLst>
          </a:prstGeom>
          <a:solidFill>
            <a:schemeClr val="accent1">
              <a:lumMod val="40000"/>
              <a:lumOff val="60000"/>
            </a:schemeClr>
          </a:solidFill>
          <a:ln w="6350" algn="ctr">
            <a:noFill/>
            <a:miter lim="800000"/>
          </a:ln>
        </p:spPr>
        <p:txBody>
          <a:bodyPr wrap="square" lIns="0" tIns="0" rIns="0" bIns="0" anchor="ctr"/>
          <a:lstStyle/>
          <a:p>
            <a:pPr algn="ctr" defTabSz="981075"/>
            <a:r>
              <a:rPr lang="en-US" altLang="zh-CN" sz="1400" b="1" dirty="0">
                <a:latin typeface="微软雅黑" panose="020B0503020204020204" charset="-122"/>
                <a:ea typeface="微软雅黑" panose="020B0503020204020204" charset="-122"/>
              </a:rPr>
              <a:t>C</a:t>
            </a:r>
            <a:r>
              <a:rPr lang="zh-CN" altLang="en-US" sz="1400" b="1" dirty="0">
                <a:latin typeface="微软雅黑" panose="020B0503020204020204" charset="-122"/>
                <a:ea typeface="微软雅黑" panose="020B0503020204020204" charset="-122"/>
              </a:rPr>
              <a:t>表 </a:t>
            </a:r>
            <a:r>
              <a:rPr lang="en-US" altLang="zh-CN" sz="1400" b="1" dirty="0">
                <a:latin typeface="微软雅黑" panose="020B0503020204020204" charset="-122"/>
                <a:ea typeface="微软雅黑" panose="020B0503020204020204" charset="-122"/>
              </a:rPr>
              <a:t>— </a:t>
            </a:r>
            <a:r>
              <a:rPr lang="zh-CN" altLang="en-US" sz="1400" b="1" dirty="0">
                <a:latin typeface="微软雅黑" panose="020B0503020204020204" charset="-122"/>
                <a:ea typeface="微软雅黑" panose="020B0503020204020204" charset="-122"/>
              </a:rPr>
              <a:t>排产计划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（到天</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配置）</a:t>
            </a:r>
          </a:p>
        </p:txBody>
      </p:sp>
      <p:sp>
        <p:nvSpPr>
          <p:cNvPr id="68" name="矩形 67"/>
          <p:cNvSpPr/>
          <p:nvPr/>
        </p:nvSpPr>
        <p:spPr bwMode="auto">
          <a:xfrm>
            <a:off x="1293472" y="5614036"/>
            <a:ext cx="706760" cy="193056"/>
          </a:xfrm>
          <a:prstGeom prst="rect">
            <a:avLst/>
          </a:prstGeom>
          <a:solidFill>
            <a:srgbClr val="FF0000"/>
          </a:solidFill>
          <a:ln w="6350">
            <a:solidFill>
              <a:schemeClr val="tx1"/>
            </a:solidFill>
            <a:miter lim="800000"/>
          </a:ln>
        </p:spPr>
        <p:txBody>
          <a:bodyPr rtlCol="0" anchor="ctr">
            <a:noAutofit/>
          </a:bodyPr>
          <a:lstStyle/>
          <a:p>
            <a:pPr marL="117475" indent="-117475" algn="ctr">
              <a:buClr>
                <a:schemeClr val="tx1"/>
              </a:buClr>
            </a:pPr>
            <a:r>
              <a:rPr lang="en-US" altLang="zh-CN" sz="1100" b="1" dirty="0">
                <a:solidFill>
                  <a:schemeClr val="bg1"/>
                </a:solidFill>
                <a:latin typeface="微软雅黑" panose="020B0503020204020204" charset="-122"/>
                <a:ea typeface="微软雅黑" panose="020B0503020204020204" charset="-122"/>
              </a:rPr>
              <a:t>3</a:t>
            </a:r>
            <a:r>
              <a:rPr lang="zh-CN" altLang="en-US" sz="1100" b="1" dirty="0">
                <a:solidFill>
                  <a:schemeClr val="bg1"/>
                </a:solidFill>
                <a:latin typeface="微软雅黑" panose="020B0503020204020204" charset="-122"/>
                <a:ea typeface="微软雅黑" panose="020B0503020204020204" charset="-122"/>
              </a:rPr>
              <a:t>日锁定</a:t>
            </a:r>
          </a:p>
        </p:txBody>
      </p:sp>
      <p:sp>
        <p:nvSpPr>
          <p:cNvPr id="69" name="AutoShape 14"/>
          <p:cNvSpPr>
            <a:spLocks noChangeArrowheads="1"/>
          </p:cNvSpPr>
          <p:nvPr/>
        </p:nvSpPr>
        <p:spPr bwMode="auto">
          <a:xfrm>
            <a:off x="1298440" y="5915358"/>
            <a:ext cx="1152000" cy="468000"/>
          </a:xfrm>
          <a:prstGeom prst="homePlate">
            <a:avLst>
              <a:gd name="adj" fmla="val 15821"/>
            </a:avLst>
          </a:prstGeom>
          <a:solidFill>
            <a:srgbClr val="C0C0C0"/>
          </a:solidFill>
          <a:ln w="6350" algn="ctr">
            <a:noFill/>
            <a:miter lim="800000"/>
          </a:ln>
        </p:spPr>
        <p:txBody>
          <a:bodyPr wrap="none" lIns="0" tIns="0" rIns="0" bIns="0" anchor="ctr"/>
          <a:lstStyle/>
          <a:p>
            <a:pPr algn="ctr" defTabSz="981075">
              <a:spcBef>
                <a:spcPct val="50000"/>
              </a:spcBef>
            </a:pPr>
            <a:r>
              <a:rPr lang="zh-CN" altLang="en-US" sz="1400" b="1" dirty="0">
                <a:latin typeface="微软雅黑" panose="020B0503020204020204" charset="-122"/>
                <a:ea typeface="微软雅黑" panose="020B0503020204020204" charset="-122"/>
              </a:rPr>
              <a:t>零部件交付</a:t>
            </a:r>
          </a:p>
        </p:txBody>
      </p:sp>
      <p:sp>
        <p:nvSpPr>
          <p:cNvPr id="71" name="Text Box 8"/>
          <p:cNvSpPr txBox="1">
            <a:spLocks noChangeArrowheads="1"/>
          </p:cNvSpPr>
          <p:nvPr/>
        </p:nvSpPr>
        <p:spPr bwMode="gray">
          <a:xfrm>
            <a:off x="7814583" y="5848682"/>
            <a:ext cx="1000155" cy="468000"/>
          </a:xfrm>
          <a:prstGeom prst="rect">
            <a:avLst/>
          </a:prstGeom>
          <a:noFill/>
          <a:ln w="12700">
            <a:solidFill>
              <a:schemeClr val="tx1"/>
            </a:solidFill>
            <a:miter lim="800000"/>
          </a:ln>
        </p:spPr>
        <p:txBody>
          <a:bodyPr lIns="0" tIns="3600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综合管理部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72" name="AutoShape 24"/>
          <p:cNvSpPr/>
          <p:nvPr/>
        </p:nvSpPr>
        <p:spPr bwMode="auto">
          <a:xfrm>
            <a:off x="926395" y="1785926"/>
            <a:ext cx="252000" cy="2000264"/>
          </a:xfrm>
          <a:prstGeom prst="leftBrace">
            <a:avLst>
              <a:gd name="adj1" fmla="val 29716"/>
              <a:gd name="adj2" fmla="val 50000"/>
            </a:avLst>
          </a:prstGeom>
          <a:noFill/>
          <a:ln w="9525">
            <a:solidFill>
              <a:schemeClr val="tx1"/>
            </a:solidFill>
            <a:round/>
          </a:ln>
        </p:spPr>
        <p:txBody>
          <a:bodyPr wrap="none" anchor="ctr"/>
          <a:lstStyle/>
          <a:p>
            <a:endParaRPr lang="zh-CN" altLang="en-US"/>
          </a:p>
        </p:txBody>
      </p:sp>
      <p:sp>
        <p:nvSpPr>
          <p:cNvPr id="38" name="AutoShape 14"/>
          <p:cNvSpPr>
            <a:spLocks noChangeArrowheads="1"/>
          </p:cNvSpPr>
          <p:nvPr/>
        </p:nvSpPr>
        <p:spPr bwMode="auto">
          <a:xfrm>
            <a:off x="1295933" y="4642174"/>
            <a:ext cx="1847308" cy="468000"/>
          </a:xfrm>
          <a:prstGeom prst="homePlate">
            <a:avLst>
              <a:gd name="adj" fmla="val 21248"/>
            </a:avLst>
          </a:prstGeom>
          <a:solidFill>
            <a:srgbClr val="C0C0C0"/>
          </a:solidFill>
          <a:ln w="6350" algn="ctr">
            <a:noFill/>
            <a:miter lim="800000"/>
          </a:ln>
        </p:spPr>
        <p:txBody>
          <a:bodyPr wrap="none" lIns="0" tIns="0" rIns="0" bIns="0" anchor="ctr"/>
          <a:lstStyle/>
          <a:p>
            <a:pPr algn="ctr" defTabSz="981075">
              <a:spcBef>
                <a:spcPct val="50000"/>
              </a:spcBef>
            </a:pPr>
            <a:r>
              <a:rPr lang="zh-CN" altLang="en-US" sz="1400" b="1" dirty="0">
                <a:latin typeface="微软雅黑" panose="020B0503020204020204" charset="-122"/>
                <a:ea typeface="微软雅黑" panose="020B0503020204020204" charset="-122"/>
              </a:rPr>
              <a:t>零部件需求计划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a:t>
            </a:r>
            <a:r>
              <a:rPr lang="en-US" altLang="zh-CN" sz="1400" b="1" dirty="0">
                <a:latin typeface="微软雅黑" panose="020B0503020204020204" charset="-122"/>
                <a:ea typeface="微软雅黑" panose="020B0503020204020204" charset="-122"/>
              </a:rPr>
              <a:t>MRP</a:t>
            </a:r>
            <a:r>
              <a:rPr lang="zh-CN" altLang="en-US" sz="1400" b="1" dirty="0">
                <a:latin typeface="微软雅黑" panose="020B0503020204020204" charset="-122"/>
                <a:ea typeface="微软雅黑" panose="020B0503020204020204" charset="-122"/>
              </a:rPr>
              <a:t>分解）</a:t>
            </a:r>
          </a:p>
        </p:txBody>
      </p:sp>
      <p:pic>
        <p:nvPicPr>
          <p:cNvPr id="2" name="Picture 4"/>
          <p:cNvPicPr>
            <a:picLocks noChangeAspect="1" noChangeArrowheads="1"/>
          </p:cNvPicPr>
          <p:nvPr/>
        </p:nvPicPr>
        <p:blipFill>
          <a:blip r:embed="rId2"/>
          <a:srcRect/>
          <a:stretch>
            <a:fillRect/>
          </a:stretch>
        </p:blipFill>
        <p:spPr bwMode="auto">
          <a:xfrm>
            <a:off x="369858" y="1214425"/>
            <a:ext cx="7339042" cy="428625"/>
          </a:xfrm>
          <a:prstGeom prst="rect">
            <a:avLst/>
          </a:prstGeom>
          <a:noFill/>
          <a:ln w="9525">
            <a:noFill/>
            <a:miter lim="800000"/>
            <a:headEnd/>
            <a:tailEnd/>
          </a:ln>
          <a:effectLst/>
        </p:spPr>
      </p:pic>
      <p:sp>
        <p:nvSpPr>
          <p:cNvPr id="56" name="上箭头标注 55"/>
          <p:cNvSpPr/>
          <p:nvPr/>
        </p:nvSpPr>
        <p:spPr bwMode="auto">
          <a:xfrm>
            <a:off x="144011" y="2739980"/>
            <a:ext cx="842961" cy="636023"/>
          </a:xfrm>
          <a:prstGeom prst="upArrowCallout">
            <a:avLst/>
          </a:prstGeom>
          <a:solidFill>
            <a:schemeClr val="bg1">
              <a:lumMod val="95000"/>
            </a:schemeClr>
          </a:solidFill>
          <a:ln w="9525" cap="flat" cmpd="sng" algn="ctr">
            <a:solidFill>
              <a:schemeClr val="bg1">
                <a:lumMod val="65000"/>
              </a:schemeClr>
            </a:solidFill>
            <a:prstDash val="solid"/>
            <a:round/>
            <a:headEnd type="none" w="med" len="med"/>
            <a:tailEnd type="none"/>
          </a:ln>
          <a:effectLst/>
        </p:spPr>
        <p:txBody>
          <a:bodyPr lIns="0" tIns="0" rIns="0" bIns="0" rtlCol="0" anchor="ctr"/>
          <a:lstStyle/>
          <a:p>
            <a:pPr algn="ctr">
              <a:defRPr/>
            </a:pPr>
            <a:r>
              <a:rPr lang="zh-CN" altLang="en-US" sz="1100" b="1" dirty="0">
                <a:solidFill>
                  <a:schemeClr val="bg1">
                    <a:lumMod val="50000"/>
                  </a:schemeClr>
                </a:solidFill>
                <a:latin typeface="微软雅黑" panose="020B0503020204020204" charset="-122"/>
                <a:ea typeface="微软雅黑" panose="020B0503020204020204" charset="-122"/>
              </a:rPr>
              <a:t>工厂产能及</a:t>
            </a:r>
            <a:br>
              <a:rPr lang="en-US" altLang="zh-CN" sz="1100" b="1" dirty="0">
                <a:solidFill>
                  <a:schemeClr val="bg1">
                    <a:lumMod val="50000"/>
                  </a:schemeClr>
                </a:solidFill>
                <a:latin typeface="微软雅黑" panose="020B0503020204020204" charset="-122"/>
                <a:ea typeface="微软雅黑" panose="020B0503020204020204" charset="-122"/>
              </a:rPr>
            </a:br>
            <a:r>
              <a:rPr lang="zh-CN" altLang="en-US" sz="1100" b="1" dirty="0">
                <a:solidFill>
                  <a:schemeClr val="bg1">
                    <a:lumMod val="50000"/>
                  </a:schemeClr>
                </a:solidFill>
                <a:latin typeface="微软雅黑" panose="020B0503020204020204" charset="-122"/>
                <a:ea typeface="微软雅黑" panose="020B0503020204020204" charset="-122"/>
              </a:rPr>
              <a:t>供应商备料</a:t>
            </a:r>
            <a:endParaRPr lang="en-US" altLang="zh-CN" sz="1100" b="1" dirty="0">
              <a:solidFill>
                <a:schemeClr val="bg1">
                  <a:lumMod val="50000"/>
                </a:schemeClr>
              </a:solidFill>
              <a:latin typeface="微软雅黑" panose="020B0503020204020204" charset="-122"/>
              <a:ea typeface="微软雅黑" panose="020B0503020204020204" charset="-122"/>
            </a:endParaRPr>
          </a:p>
        </p:txBody>
      </p:sp>
      <p:sp>
        <p:nvSpPr>
          <p:cNvPr id="64" name="上箭头标注 63"/>
          <p:cNvSpPr/>
          <p:nvPr/>
        </p:nvSpPr>
        <p:spPr bwMode="auto">
          <a:xfrm>
            <a:off x="142844" y="4458478"/>
            <a:ext cx="842961" cy="636023"/>
          </a:xfrm>
          <a:prstGeom prst="upArrowCallout">
            <a:avLst/>
          </a:prstGeom>
          <a:solidFill>
            <a:schemeClr val="bg1">
              <a:lumMod val="95000"/>
            </a:schemeClr>
          </a:solidFill>
          <a:ln w="9525" cap="flat" cmpd="sng" algn="ctr">
            <a:solidFill>
              <a:schemeClr val="bg1">
                <a:lumMod val="65000"/>
              </a:schemeClr>
            </a:solidFill>
            <a:prstDash val="solid"/>
            <a:round/>
            <a:headEnd type="none" w="med" len="med"/>
            <a:tailEnd type="none"/>
          </a:ln>
          <a:effectLst/>
        </p:spPr>
        <p:txBody>
          <a:bodyPr lIns="0" tIns="0" rIns="0" bIns="0" rtlCol="0" anchor="ctr"/>
          <a:lstStyle/>
          <a:p>
            <a:pPr lvl="0" algn="ctr">
              <a:defRPr/>
            </a:pPr>
            <a:r>
              <a:rPr lang="zh-CN" altLang="en-US" sz="1100" b="1" dirty="0">
                <a:solidFill>
                  <a:schemeClr val="bg1">
                    <a:lumMod val="50000"/>
                  </a:schemeClr>
                </a:solidFill>
                <a:latin typeface="微软雅黑" panose="020B0503020204020204" charset="-122"/>
                <a:ea typeface="微软雅黑" panose="020B0503020204020204" charset="-122"/>
              </a:rPr>
              <a:t>工厂排产及</a:t>
            </a:r>
            <a:endParaRPr lang="en-US" altLang="zh-CN" sz="1100" b="1" dirty="0">
              <a:solidFill>
                <a:schemeClr val="bg1">
                  <a:lumMod val="50000"/>
                </a:schemeClr>
              </a:solidFill>
              <a:latin typeface="微软雅黑" panose="020B0503020204020204" charset="-122"/>
              <a:ea typeface="微软雅黑" panose="020B0503020204020204" charset="-122"/>
            </a:endParaRPr>
          </a:p>
          <a:p>
            <a:pPr lvl="0" algn="ctr">
              <a:defRPr/>
            </a:pPr>
            <a:r>
              <a:rPr lang="zh-CN" altLang="en-US" sz="1100" b="1" dirty="0">
                <a:solidFill>
                  <a:schemeClr val="bg1">
                    <a:lumMod val="50000"/>
                  </a:schemeClr>
                </a:solidFill>
                <a:latin typeface="微软雅黑" panose="020B0503020204020204" charset="-122"/>
                <a:ea typeface="微软雅黑" panose="020B0503020204020204" charset="-122"/>
              </a:rPr>
              <a:t>供应商备货</a:t>
            </a:r>
            <a:endParaRPr lang="en-US" altLang="zh-CN" sz="1100" b="1" dirty="0">
              <a:solidFill>
                <a:schemeClr val="bg1">
                  <a:lumMod val="50000"/>
                </a:schemeClr>
              </a:solidFill>
              <a:latin typeface="微软雅黑" panose="020B0503020204020204" charset="-122"/>
              <a:ea typeface="微软雅黑" panose="020B0503020204020204" charset="-122"/>
            </a:endParaRPr>
          </a:p>
        </p:txBody>
      </p:sp>
      <p:sp>
        <p:nvSpPr>
          <p:cNvPr id="73" name="上箭头标注 72"/>
          <p:cNvSpPr/>
          <p:nvPr/>
        </p:nvSpPr>
        <p:spPr bwMode="auto">
          <a:xfrm>
            <a:off x="142844" y="5706929"/>
            <a:ext cx="842961" cy="636023"/>
          </a:xfrm>
          <a:prstGeom prst="upArrowCallout">
            <a:avLst/>
          </a:prstGeom>
          <a:solidFill>
            <a:schemeClr val="bg1">
              <a:lumMod val="95000"/>
            </a:schemeClr>
          </a:solidFill>
          <a:ln w="9525" cap="flat" cmpd="sng" algn="ctr">
            <a:solidFill>
              <a:schemeClr val="bg1">
                <a:lumMod val="65000"/>
              </a:schemeClr>
            </a:solidFill>
            <a:prstDash val="solid"/>
            <a:round/>
            <a:headEnd type="none" w="med" len="med"/>
            <a:tailEnd type="none"/>
          </a:ln>
          <a:effectLst/>
        </p:spPr>
        <p:txBody>
          <a:bodyPr lIns="0" tIns="0" rIns="0" bIns="0" rtlCol="0" anchor="ctr"/>
          <a:lstStyle/>
          <a:p>
            <a:pPr lvl="0" algn="ctr">
              <a:defRPr/>
            </a:pPr>
            <a:r>
              <a:rPr lang="zh-CN" altLang="en-US" sz="1100" b="1" dirty="0">
                <a:solidFill>
                  <a:schemeClr val="bg1">
                    <a:lumMod val="50000"/>
                  </a:schemeClr>
                </a:solidFill>
                <a:latin typeface="微软雅黑" panose="020B0503020204020204" charset="-122"/>
                <a:ea typeface="微软雅黑" panose="020B0503020204020204" charset="-122"/>
              </a:rPr>
              <a:t>工厂生产及</a:t>
            </a:r>
            <a:endParaRPr lang="en-US" altLang="zh-CN" sz="1100" b="1" dirty="0">
              <a:solidFill>
                <a:schemeClr val="bg1">
                  <a:lumMod val="50000"/>
                </a:schemeClr>
              </a:solidFill>
              <a:latin typeface="微软雅黑" panose="020B0503020204020204" charset="-122"/>
              <a:ea typeface="微软雅黑" panose="020B0503020204020204" charset="-122"/>
            </a:endParaRPr>
          </a:p>
          <a:p>
            <a:pPr lvl="0" algn="ctr">
              <a:defRPr/>
            </a:pPr>
            <a:r>
              <a:rPr lang="zh-CN" altLang="en-US" sz="1100" b="1" dirty="0">
                <a:solidFill>
                  <a:schemeClr val="bg1">
                    <a:lumMod val="50000"/>
                  </a:schemeClr>
                </a:solidFill>
                <a:latin typeface="微软雅黑" panose="020B0503020204020204" charset="-122"/>
                <a:ea typeface="微软雅黑" panose="020B0503020204020204" charset="-122"/>
              </a:rPr>
              <a:t>供应商送货</a:t>
            </a:r>
            <a:endParaRPr lang="en-US" altLang="zh-CN" sz="1100" b="1" dirty="0">
              <a:solidFill>
                <a:schemeClr val="bg1">
                  <a:lumMod val="50000"/>
                </a:schemeClr>
              </a:solidFill>
              <a:latin typeface="微软雅黑" panose="020B0503020204020204" charset="-122"/>
              <a:ea typeface="微软雅黑" panose="020B0503020204020204" charset="-122"/>
            </a:endParaRPr>
          </a:p>
        </p:txBody>
      </p:sp>
      <p:sp>
        <p:nvSpPr>
          <p:cNvPr id="74" name="AutoShape 19"/>
          <p:cNvSpPr>
            <a:spLocks noChangeArrowheads="1"/>
          </p:cNvSpPr>
          <p:nvPr/>
        </p:nvSpPr>
        <p:spPr bwMode="auto">
          <a:xfrm>
            <a:off x="1298552" y="2283557"/>
            <a:ext cx="6397760" cy="468000"/>
          </a:xfrm>
          <a:prstGeom prst="homePlate">
            <a:avLst>
              <a:gd name="adj" fmla="val 17692"/>
            </a:avLst>
          </a:prstGeom>
          <a:solidFill>
            <a:schemeClr val="accent1">
              <a:lumMod val="40000"/>
              <a:lumOff val="60000"/>
            </a:schemeClr>
          </a:solidFill>
          <a:ln w="6350" algn="ctr">
            <a:noFill/>
            <a:miter lim="800000"/>
          </a:ln>
        </p:spPr>
        <p:txBody>
          <a:bodyPr wrap="none" lIns="0" tIns="0" rIns="0" bIns="0" anchor="ctr"/>
          <a:lstStyle/>
          <a:p>
            <a:pPr algn="ctr" defTabSz="981075"/>
            <a:r>
              <a:rPr lang="en-US" altLang="zh-CN" sz="1400" b="1" dirty="0">
                <a:latin typeface="微软雅黑" panose="020B0503020204020204" charset="-122"/>
                <a:ea typeface="微软雅黑" panose="020B0503020204020204" charset="-122"/>
              </a:rPr>
              <a:t>A</a:t>
            </a:r>
            <a:r>
              <a:rPr lang="zh-CN" altLang="en-US" sz="1400" b="1" dirty="0">
                <a:latin typeface="微软雅黑" panose="020B0503020204020204" charset="-122"/>
                <a:ea typeface="微软雅黑" panose="020B0503020204020204" charset="-122"/>
              </a:rPr>
              <a:t>表 </a:t>
            </a:r>
            <a:r>
              <a:rPr lang="en-US" altLang="zh-CN" sz="1400" b="1" dirty="0">
                <a:latin typeface="微软雅黑" panose="020B0503020204020204" charset="-122"/>
                <a:ea typeface="微软雅黑" panose="020B0503020204020204" charset="-122"/>
              </a:rPr>
              <a:t>— </a:t>
            </a:r>
            <a:r>
              <a:rPr lang="zh-CN" altLang="en-US" sz="1400" b="1" dirty="0">
                <a:latin typeface="微软雅黑" panose="020B0503020204020204" charset="-122"/>
                <a:ea typeface="微软雅黑" panose="020B0503020204020204" charset="-122"/>
              </a:rPr>
              <a:t>中期计划</a:t>
            </a:r>
            <a:r>
              <a:rPr lang="en-US" altLang="zh-CN" sz="1400" b="1" dirty="0">
                <a:latin typeface="微软雅黑" panose="020B0503020204020204" charset="-122"/>
                <a:ea typeface="微软雅黑" panose="020B0503020204020204" charset="-122"/>
              </a:rPr>
              <a:t>/ S&amp;OP</a:t>
            </a:r>
            <a:r>
              <a:rPr lang="zh-CN" altLang="en-US" sz="1400" b="1" dirty="0">
                <a:latin typeface="微软雅黑" panose="020B0503020204020204" charset="-122"/>
                <a:ea typeface="微软雅黑" panose="020B0503020204020204" charset="-122"/>
              </a:rPr>
              <a:t>计划</a:t>
            </a:r>
            <a:br>
              <a:rPr lang="en-US" altLang="zh-CN" sz="1400" b="1" dirty="0">
                <a:latin typeface="微软雅黑" panose="020B0503020204020204" charset="-122"/>
                <a:ea typeface="微软雅黑" panose="020B0503020204020204" charset="-122"/>
              </a:rPr>
            </a:br>
            <a:r>
              <a:rPr lang="zh-CN" altLang="en-US" sz="1400" b="1" dirty="0">
                <a:latin typeface="微软雅黑" panose="020B0503020204020204" charset="-122"/>
                <a:ea typeface="微软雅黑" panose="020B0503020204020204" charset="-122"/>
              </a:rPr>
              <a:t>（到月</a:t>
            </a:r>
            <a:r>
              <a:rPr lang="en-US" altLang="zh-CN" sz="1400" b="1" dirty="0">
                <a:latin typeface="微软雅黑" panose="020B0503020204020204" charset="-122"/>
                <a:ea typeface="微软雅黑" panose="020B0503020204020204" charset="-122"/>
              </a:rPr>
              <a:t>/</a:t>
            </a:r>
            <a:r>
              <a:rPr lang="zh-CN" altLang="en-US" sz="1400" b="1" dirty="0">
                <a:latin typeface="微软雅黑" panose="020B0503020204020204" charset="-122"/>
                <a:ea typeface="微软雅黑" panose="020B0503020204020204" charset="-122"/>
              </a:rPr>
              <a:t>机型）</a:t>
            </a:r>
          </a:p>
        </p:txBody>
      </p:sp>
      <p:sp>
        <p:nvSpPr>
          <p:cNvPr id="75" name="Text Box 8"/>
          <p:cNvSpPr txBox="1">
            <a:spLocks noChangeArrowheads="1"/>
          </p:cNvSpPr>
          <p:nvPr/>
        </p:nvSpPr>
        <p:spPr bwMode="gray">
          <a:xfrm>
            <a:off x="7812110" y="2283557"/>
            <a:ext cx="1000155" cy="468000"/>
          </a:xfrm>
          <a:prstGeom prst="rect">
            <a:avLst/>
          </a:prstGeom>
          <a:noFill/>
          <a:ln w="12700">
            <a:solidFill>
              <a:schemeClr val="tx1"/>
            </a:solidFill>
            <a:miter lim="800000"/>
          </a:ln>
        </p:spPr>
        <p:txBody>
          <a:bodyPr lIns="0" tIns="0" rIns="0" bIns="0" anchor="ctr"/>
          <a:lstStyle/>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总经办</a:t>
            </a:r>
            <a:endParaRPr lang="en-US" altLang="zh-CN" sz="1200" dirty="0">
              <a:latin typeface="微软雅黑" panose="020B0503020204020204" charset="-122"/>
              <a:ea typeface="微软雅黑" panose="020B0503020204020204" charset="-122"/>
              <a:cs typeface="Times New Roman" panose="02020603050405020304" pitchFamily="18" charset="0"/>
            </a:endParaRPr>
          </a:p>
          <a:p>
            <a:pPr algn="ctr" eaLnBrk="0" hangingPunct="0">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运营管理部</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cxnSp>
        <p:nvCxnSpPr>
          <p:cNvPr id="70" name="直接连接符 69"/>
          <p:cNvCxnSpPr/>
          <p:nvPr/>
        </p:nvCxnSpPr>
        <p:spPr bwMode="auto">
          <a:xfrm rot="5400000">
            <a:off x="-1130766" y="4026218"/>
            <a:ext cx="4860000" cy="1588"/>
          </a:xfrm>
          <a:prstGeom prst="line">
            <a:avLst/>
          </a:prstGeom>
          <a:noFill/>
          <a:ln w="9525" cap="flat" cmpd="sng" algn="ctr">
            <a:solidFill>
              <a:schemeClr val="tx1"/>
            </a:solidFill>
            <a:prstDash val="solid"/>
            <a:round/>
            <a:headEnd type="triangle" w="med" len="med"/>
            <a:tailEnd type="none" w="med" len="med"/>
          </a:ln>
          <a:effectLst/>
        </p:spPr>
      </p:cxnSp>
      <p:sp>
        <p:nvSpPr>
          <p:cNvPr id="40" name="矩形 39"/>
          <p:cNvSpPr/>
          <p:nvPr/>
        </p:nvSpPr>
        <p:spPr bwMode="auto">
          <a:xfrm>
            <a:off x="1270862" y="1748732"/>
            <a:ext cx="6421657" cy="4737112"/>
          </a:xfrm>
          <a:prstGeom prst="rect">
            <a:avLst/>
          </a:prstGeom>
          <a:solidFill>
            <a:schemeClr val="bg1">
              <a:lumMod val="95000"/>
              <a:alpha val="70000"/>
            </a:schemeClr>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78" name="矩形 77"/>
          <p:cNvSpPr/>
          <p:nvPr/>
        </p:nvSpPr>
        <p:spPr bwMode="auto">
          <a:xfrm>
            <a:off x="1239814" y="2214554"/>
            <a:ext cx="6404020" cy="2954346"/>
          </a:xfrm>
          <a:prstGeom prst="rect">
            <a:avLst/>
          </a:prstGeom>
          <a:noFill/>
          <a:ln w="19050" cap="flat" cmpd="sng" algn="ctr">
            <a:solidFill>
              <a:schemeClr val="accent1"/>
            </a:solidFill>
            <a:prstDash val="solid"/>
            <a:round/>
            <a:headEnd type="none" w="med" len="med"/>
            <a:tailEnd type="none"/>
          </a:ln>
          <a:effectLst/>
        </p:spPr>
        <p:txBody>
          <a:bodyPr rtlCol="0" anchor="ctr"/>
          <a:lstStyle/>
          <a:p>
            <a:pPr algn="ctr"/>
            <a:endParaRPr lang="zh-CN" altLang="en-US"/>
          </a:p>
        </p:txBody>
      </p:sp>
      <p:sp>
        <p:nvSpPr>
          <p:cNvPr id="79" name="矩形 78"/>
          <p:cNvSpPr/>
          <p:nvPr/>
        </p:nvSpPr>
        <p:spPr bwMode="auto">
          <a:xfrm>
            <a:off x="1239814" y="5268938"/>
            <a:ext cx="1274786" cy="1193796"/>
          </a:xfrm>
          <a:prstGeom prst="rect">
            <a:avLst/>
          </a:prstGeom>
          <a:noFill/>
          <a:ln w="19050" cap="flat" cmpd="sng" algn="ctr">
            <a:solidFill>
              <a:schemeClr val="accent1"/>
            </a:solidFill>
            <a:prstDash val="solid"/>
            <a:round/>
            <a:headEnd type="none" w="med" len="med"/>
            <a:tailEnd type="none"/>
          </a:ln>
          <a:effectLst/>
        </p:spPr>
        <p:txBody>
          <a:bodyPr rtlCol="0" anchor="ctr"/>
          <a:lstStyle/>
          <a:p>
            <a:pPr algn="ctr"/>
            <a:endParaRPr lang="zh-CN" altLang="en-US"/>
          </a:p>
        </p:txBody>
      </p:sp>
      <p:sp>
        <p:nvSpPr>
          <p:cNvPr id="76" name="AutoShape 78"/>
          <p:cNvSpPr>
            <a:spLocks noChangeArrowheads="1"/>
          </p:cNvSpPr>
          <p:nvPr/>
        </p:nvSpPr>
        <p:spPr bwMode="auto">
          <a:xfrm>
            <a:off x="2643174" y="5487320"/>
            <a:ext cx="2286016" cy="927994"/>
          </a:xfrm>
          <a:prstGeom prst="wedgeRoundRectCallout">
            <a:avLst>
              <a:gd name="adj1" fmla="val -63266"/>
              <a:gd name="adj2" fmla="val -22340"/>
              <a:gd name="adj3" fmla="val 16667"/>
            </a:avLst>
          </a:prstGeom>
          <a:solidFill>
            <a:srgbClr val="FFFFCC"/>
          </a:solidFill>
          <a:ln w="19050" algn="ctr">
            <a:solidFill>
              <a:srgbClr val="242490"/>
            </a:solidFill>
            <a:miter lim="800000"/>
          </a:ln>
        </p:spPr>
        <p:txBody>
          <a:bodyPr lIns="72000" tIns="36000" rIns="36000" bIns="36000" anchor="t"/>
          <a:lstStyle/>
          <a:p>
            <a:pPr marL="0" lvl="1"/>
            <a:r>
              <a:rPr lang="en-US" altLang="zh-CN" sz="1400" b="1" dirty="0">
                <a:latin typeface="微软雅黑" panose="020B0503020204020204" charset="-122"/>
                <a:ea typeface="微软雅黑" panose="020B0503020204020204" charset="-122"/>
              </a:rPr>
              <a:t>3+2</a:t>
            </a:r>
            <a:r>
              <a:rPr lang="zh-CN" altLang="en-US" sz="1400" b="1" dirty="0">
                <a:latin typeface="微软雅黑" panose="020B0503020204020204" charset="-122"/>
                <a:ea typeface="微软雅黑" panose="020B0503020204020204" charset="-122"/>
              </a:rPr>
              <a:t>滚动计划周期偏短</a:t>
            </a:r>
            <a:endParaRPr lang="en-US" altLang="zh-CN" sz="1400" b="1" dirty="0">
              <a:latin typeface="微软雅黑" panose="020B0503020204020204" charset="-122"/>
              <a:ea typeface="微软雅黑" panose="020B0503020204020204" charset="-122"/>
            </a:endParaRPr>
          </a:p>
          <a:p>
            <a:pPr marL="174625" lvl="1" indent="-174625">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目前滚动计划为</a:t>
            </a:r>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天时间，从月度计划到</a:t>
            </a:r>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天计划跨度较大，供应商准备期不足</a:t>
            </a:r>
            <a:endParaRPr lang="en-US" altLang="zh-CN" sz="1200" dirty="0">
              <a:latin typeface="微软雅黑" panose="020B0503020204020204" charset="-122"/>
              <a:ea typeface="微软雅黑" panose="020B0503020204020204" charset="-122"/>
            </a:endParaRPr>
          </a:p>
          <a:p>
            <a:pPr marL="0" lvl="1"/>
            <a:endParaRPr lang="en-US" altLang="zh-CN" sz="1200" dirty="0">
              <a:latin typeface="微软雅黑" panose="020B0503020204020204" charset="-122"/>
              <a:ea typeface="微软雅黑" panose="020B0503020204020204" charset="-122"/>
            </a:endParaRPr>
          </a:p>
        </p:txBody>
      </p:sp>
      <p:sp>
        <p:nvSpPr>
          <p:cNvPr id="52" name="AutoShape 78"/>
          <p:cNvSpPr>
            <a:spLocks noChangeArrowheads="1"/>
          </p:cNvSpPr>
          <p:nvPr/>
        </p:nvSpPr>
        <p:spPr bwMode="auto">
          <a:xfrm>
            <a:off x="5214942" y="5286388"/>
            <a:ext cx="2286016" cy="928694"/>
          </a:xfrm>
          <a:prstGeom prst="wedgeRoundRectCallout">
            <a:avLst>
              <a:gd name="adj1" fmla="val -33516"/>
              <a:gd name="adj2" fmla="val -77751"/>
              <a:gd name="adj3" fmla="val 16667"/>
            </a:avLst>
          </a:prstGeom>
          <a:solidFill>
            <a:srgbClr val="FFFFCC"/>
          </a:solidFill>
          <a:ln w="19050" algn="ctr">
            <a:solidFill>
              <a:srgbClr val="242490"/>
            </a:solidFill>
            <a:miter lim="800000"/>
          </a:ln>
        </p:spPr>
        <p:txBody>
          <a:bodyPr lIns="72000" tIns="36000" rIns="36000" bIns="36000" anchor="ctr"/>
          <a:lstStyle/>
          <a:p>
            <a:pPr marL="0" lvl="1">
              <a:spcBef>
                <a:spcPts val="300"/>
              </a:spcBef>
            </a:pPr>
            <a:r>
              <a:rPr lang="zh-CN" altLang="en-US" sz="1400" b="1" dirty="0">
                <a:latin typeface="微软雅黑" panose="020B0503020204020204" charset="-122"/>
                <a:ea typeface="微软雅黑" panose="020B0503020204020204" charset="-122"/>
              </a:rPr>
              <a:t>计划调整规则未明确定义</a:t>
            </a:r>
            <a:endParaRPr lang="en-US" altLang="zh-CN" sz="1400" b="1" dirty="0">
              <a:latin typeface="微软雅黑" panose="020B0503020204020204" charset="-122"/>
              <a:ea typeface="微软雅黑" panose="020B0503020204020204" charset="-122"/>
            </a:endParaRPr>
          </a:p>
          <a:p>
            <a:pPr marL="174625" lvl="1" indent="-174625">
              <a:spcBef>
                <a:spcPts val="300"/>
              </a:spcBef>
              <a:buFont typeface="微软雅黑" panose="020B0503020204020204" charset="-122"/>
              <a:buChar char="−"/>
            </a:pPr>
            <a:r>
              <a:rPr lang="zh-CN" altLang="en-US" sz="1200" dirty="0">
                <a:latin typeface="微软雅黑" panose="020B0503020204020204" charset="-122"/>
                <a:ea typeface="微软雅黑" panose="020B0503020204020204" charset="-122"/>
              </a:rPr>
              <a:t>目前计划可以随时调整，未制定具体规则，后端较难及时应对</a:t>
            </a:r>
            <a:endParaRPr lang="en-US" altLang="zh-CN" sz="1200" dirty="0">
              <a:latin typeface="微软雅黑" panose="020B0503020204020204" charset="-122"/>
              <a:ea typeface="微软雅黑" panose="020B0503020204020204" charset="-122"/>
            </a:endParaRPr>
          </a:p>
        </p:txBody>
      </p:sp>
      <p:sp>
        <p:nvSpPr>
          <p:cNvPr id="80" name="五边形 37"/>
          <p:cNvSpPr/>
          <p:nvPr/>
        </p:nvSpPr>
        <p:spPr bwMode="auto">
          <a:xfrm>
            <a:off x="3786182" y="128338"/>
            <a:ext cx="900000" cy="288000"/>
          </a:xfrm>
          <a:prstGeom prst="homePlate">
            <a:avLst>
              <a:gd name="adj" fmla="val 34198"/>
            </a:avLst>
          </a:prstGeom>
          <a:solidFill>
            <a:srgbClr val="7889FB"/>
          </a:solidFill>
          <a:ln w="12700" algn="ctr">
            <a:solidFill>
              <a:srgbClr val="000000"/>
            </a:solidFill>
            <a:miter lim="800000"/>
          </a:ln>
        </p:spPr>
        <p:txBody>
          <a:bodyPr wrap="none" tIns="72000" anchor="ctr"/>
          <a:lstStyle/>
          <a:p>
            <a:pPr marL="0" marR="0" lvl="0" indent="0" algn="ctr" defTabSz="914400" eaLnBrk="1" fontAlgn="auto" latinLnBrk="0" hangingPunct="1">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模式现状</a:t>
            </a:r>
          </a:p>
        </p:txBody>
      </p:sp>
      <p:sp>
        <p:nvSpPr>
          <p:cNvPr id="82"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83" name="燕尾形 41"/>
          <p:cNvSpPr/>
          <p:nvPr/>
        </p:nvSpPr>
        <p:spPr bwMode="auto">
          <a:xfrm>
            <a:off x="5493436"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业务现状</a:t>
            </a:r>
          </a:p>
        </p:txBody>
      </p:sp>
      <p:sp>
        <p:nvSpPr>
          <p:cNvPr id="84"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85"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目前集成计划管理主要以职能为中心，计划重心主要在三挖公司</a:t>
            </a:r>
          </a:p>
        </p:txBody>
      </p:sp>
      <p:sp>
        <p:nvSpPr>
          <p:cNvPr id="7"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8" name="燕尾形 40"/>
          <p:cNvSpPr/>
          <p:nvPr/>
        </p:nvSpPr>
        <p:spPr bwMode="auto">
          <a:xfrm>
            <a:off x="4639809"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组织现状</a:t>
            </a:r>
          </a:p>
        </p:txBody>
      </p:sp>
      <p:sp>
        <p:nvSpPr>
          <p:cNvPr id="9" name="燕尾形 41"/>
          <p:cNvSpPr/>
          <p:nvPr/>
        </p:nvSpPr>
        <p:spPr bwMode="auto">
          <a:xfrm>
            <a:off x="5493436"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业务现状</a:t>
            </a:r>
          </a:p>
        </p:txBody>
      </p:sp>
      <p:sp>
        <p:nvSpPr>
          <p:cNvPr id="10"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11"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
        <p:nvSpPr>
          <p:cNvPr id="44" name="矩形 43"/>
          <p:cNvSpPr/>
          <p:nvPr/>
        </p:nvSpPr>
        <p:spPr bwMode="auto">
          <a:xfrm>
            <a:off x="4168016" y="1597496"/>
            <a:ext cx="1526582" cy="324000"/>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ctr">
            <a:noAutofit/>
          </a:bodyPr>
          <a:lstStyle/>
          <a:p>
            <a:pPr marL="117475" indent="-117475" algn="ctr">
              <a:buClr>
                <a:schemeClr val="tx1"/>
              </a:buClr>
            </a:pPr>
            <a:r>
              <a:rPr lang="zh-CN" altLang="en-US" sz="1200" dirty="0">
                <a:solidFill>
                  <a:srgbClr val="000000"/>
                </a:solidFill>
                <a:latin typeface="微软雅黑" panose="020B0503020204020204" charset="-122"/>
                <a:ea typeface="微软雅黑" panose="020B0503020204020204" charset="-122"/>
              </a:rPr>
              <a:t>x重机有限公司</a:t>
            </a:r>
          </a:p>
        </p:txBody>
      </p:sp>
      <p:sp>
        <p:nvSpPr>
          <p:cNvPr id="45" name="矩形 44"/>
          <p:cNvSpPr/>
          <p:nvPr/>
        </p:nvSpPr>
        <p:spPr bwMode="auto">
          <a:xfrm>
            <a:off x="1049622" y="2240438"/>
            <a:ext cx="327618" cy="123142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总经理办公室</a:t>
            </a:r>
          </a:p>
        </p:txBody>
      </p:sp>
      <p:sp>
        <p:nvSpPr>
          <p:cNvPr id="48" name="矩形 47"/>
          <p:cNvSpPr/>
          <p:nvPr/>
        </p:nvSpPr>
        <p:spPr bwMode="auto">
          <a:xfrm>
            <a:off x="1844834" y="2240438"/>
            <a:ext cx="327618" cy="123142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商务本部</a:t>
            </a:r>
          </a:p>
        </p:txBody>
      </p:sp>
      <p:sp>
        <p:nvSpPr>
          <p:cNvPr id="50" name="矩形 49"/>
          <p:cNvSpPr/>
          <p:nvPr/>
        </p:nvSpPr>
        <p:spPr bwMode="auto">
          <a:xfrm>
            <a:off x="2878330" y="2240438"/>
            <a:ext cx="327618" cy="123142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营销公司</a:t>
            </a:r>
          </a:p>
        </p:txBody>
      </p:sp>
      <p:sp>
        <p:nvSpPr>
          <p:cNvPr id="51" name="矩形 50"/>
          <p:cNvSpPr/>
          <p:nvPr/>
        </p:nvSpPr>
        <p:spPr bwMode="auto">
          <a:xfrm>
            <a:off x="4022744" y="2240438"/>
            <a:ext cx="327618" cy="123142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国际营销公司</a:t>
            </a:r>
          </a:p>
        </p:txBody>
      </p:sp>
      <p:sp>
        <p:nvSpPr>
          <p:cNvPr id="55" name="矩形 54"/>
          <p:cNvSpPr/>
          <p:nvPr/>
        </p:nvSpPr>
        <p:spPr bwMode="auto">
          <a:xfrm>
            <a:off x="5099840" y="2240438"/>
            <a:ext cx="327618" cy="123142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大挖公司</a:t>
            </a:r>
          </a:p>
        </p:txBody>
      </p:sp>
      <p:sp>
        <p:nvSpPr>
          <p:cNvPr id="57" name="矩形 56"/>
          <p:cNvSpPr/>
          <p:nvPr/>
        </p:nvSpPr>
        <p:spPr bwMode="auto">
          <a:xfrm>
            <a:off x="6489810" y="2240438"/>
            <a:ext cx="327618" cy="123142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中挖公司</a:t>
            </a:r>
          </a:p>
        </p:txBody>
      </p:sp>
      <p:sp>
        <p:nvSpPr>
          <p:cNvPr id="60" name="矩形 59"/>
          <p:cNvSpPr/>
          <p:nvPr/>
        </p:nvSpPr>
        <p:spPr bwMode="auto">
          <a:xfrm>
            <a:off x="8535652" y="2240438"/>
            <a:ext cx="327618" cy="123142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en-US" altLang="zh-CN" sz="1200" dirty="0">
                <a:solidFill>
                  <a:srgbClr val="000000"/>
                </a:solidFill>
                <a:latin typeface="微软雅黑" panose="020B0503020204020204" charset="-122"/>
                <a:ea typeface="微软雅黑" panose="020B0503020204020204" charset="-122"/>
              </a:rPr>
              <a:t>…</a:t>
            </a:r>
            <a:endParaRPr lang="zh-CN" altLang="en-US" sz="1200" dirty="0">
              <a:solidFill>
                <a:srgbClr val="000000"/>
              </a:solidFill>
              <a:latin typeface="微软雅黑" panose="020B0503020204020204" charset="-122"/>
              <a:ea typeface="微软雅黑" panose="020B0503020204020204" charset="-122"/>
            </a:endParaRPr>
          </a:p>
        </p:txBody>
      </p:sp>
      <p:sp>
        <p:nvSpPr>
          <p:cNvPr id="61" name="矩形 60"/>
          <p:cNvSpPr/>
          <p:nvPr/>
        </p:nvSpPr>
        <p:spPr bwMode="auto">
          <a:xfrm>
            <a:off x="7911407" y="2240438"/>
            <a:ext cx="327618" cy="123142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小挖公司</a:t>
            </a:r>
          </a:p>
        </p:txBody>
      </p:sp>
      <p:cxnSp>
        <p:nvCxnSpPr>
          <p:cNvPr id="62" name="肘形连接符 61"/>
          <p:cNvCxnSpPr>
            <a:stCxn id="44" idx="2"/>
            <a:endCxn id="45" idx="0"/>
          </p:cNvCxnSpPr>
          <p:nvPr/>
        </p:nvCxnSpPr>
        <p:spPr bwMode="auto">
          <a:xfrm rot="5400000">
            <a:off x="2912898" y="222029"/>
            <a:ext cx="318942" cy="3717876"/>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65" name="肘形连接符 64"/>
          <p:cNvCxnSpPr>
            <a:stCxn id="44" idx="2"/>
            <a:endCxn id="48" idx="0"/>
          </p:cNvCxnSpPr>
          <p:nvPr/>
        </p:nvCxnSpPr>
        <p:spPr bwMode="auto">
          <a:xfrm rot="5400000">
            <a:off x="3310504" y="619635"/>
            <a:ext cx="318942" cy="2922664"/>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67" name="肘形连接符 135"/>
          <p:cNvCxnSpPr>
            <a:stCxn id="44" idx="2"/>
            <a:endCxn id="50" idx="0"/>
          </p:cNvCxnSpPr>
          <p:nvPr/>
        </p:nvCxnSpPr>
        <p:spPr bwMode="auto">
          <a:xfrm rot="5400000">
            <a:off x="3827252" y="1136383"/>
            <a:ext cx="318942" cy="1889168"/>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68" name="肘形连接符 67"/>
          <p:cNvCxnSpPr>
            <a:stCxn id="44" idx="2"/>
            <a:endCxn id="51" idx="0"/>
          </p:cNvCxnSpPr>
          <p:nvPr/>
        </p:nvCxnSpPr>
        <p:spPr bwMode="auto">
          <a:xfrm rot="5400000">
            <a:off x="4399459" y="1708590"/>
            <a:ext cx="318942" cy="744754"/>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72" name="肘形连接符 71"/>
          <p:cNvCxnSpPr>
            <a:stCxn id="44" idx="2"/>
            <a:endCxn id="55" idx="0"/>
          </p:cNvCxnSpPr>
          <p:nvPr/>
        </p:nvCxnSpPr>
        <p:spPr bwMode="auto">
          <a:xfrm rot="16200000" flipH="1">
            <a:off x="4938007" y="1914796"/>
            <a:ext cx="318942" cy="332342"/>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74" name="肘形连接符 73"/>
          <p:cNvCxnSpPr>
            <a:stCxn id="44" idx="2"/>
            <a:endCxn id="57" idx="0"/>
          </p:cNvCxnSpPr>
          <p:nvPr/>
        </p:nvCxnSpPr>
        <p:spPr bwMode="auto">
          <a:xfrm rot="16200000" flipH="1">
            <a:off x="5632992" y="1219811"/>
            <a:ext cx="318942" cy="1722312"/>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77" name="肘形连接符 76"/>
          <p:cNvCxnSpPr>
            <a:stCxn id="44" idx="2"/>
            <a:endCxn id="60" idx="0"/>
          </p:cNvCxnSpPr>
          <p:nvPr/>
        </p:nvCxnSpPr>
        <p:spPr bwMode="auto">
          <a:xfrm rot="16200000" flipH="1">
            <a:off x="6655913" y="196890"/>
            <a:ext cx="318942" cy="3768154"/>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78" name="肘形连接符 77"/>
          <p:cNvCxnSpPr>
            <a:stCxn id="44" idx="2"/>
            <a:endCxn id="61" idx="0"/>
          </p:cNvCxnSpPr>
          <p:nvPr/>
        </p:nvCxnSpPr>
        <p:spPr bwMode="auto">
          <a:xfrm rot="16200000" flipH="1">
            <a:off x="6343790" y="509012"/>
            <a:ext cx="318942" cy="3143909"/>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111" name="矩形 110"/>
          <p:cNvSpPr/>
          <p:nvPr/>
        </p:nvSpPr>
        <p:spPr bwMode="auto">
          <a:xfrm>
            <a:off x="5624497"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en-US" altLang="zh-CN" sz="1100" dirty="0">
                <a:solidFill>
                  <a:srgbClr val="000000"/>
                </a:solidFill>
                <a:latin typeface="微软雅黑" panose="020B0503020204020204" charset="-122"/>
                <a:ea typeface="微软雅黑" panose="020B0503020204020204" charset="-122"/>
              </a:rPr>
              <a:t>…</a:t>
            </a:r>
            <a:endParaRPr lang="zh-CN" altLang="en-US" sz="1100" dirty="0">
              <a:solidFill>
                <a:srgbClr val="000000"/>
              </a:solidFill>
              <a:latin typeface="微软雅黑" panose="020B0503020204020204" charset="-122"/>
              <a:ea typeface="微软雅黑" panose="020B0503020204020204" charset="-122"/>
            </a:endParaRPr>
          </a:p>
        </p:txBody>
      </p:sp>
      <p:sp>
        <p:nvSpPr>
          <p:cNvPr id="113" name="矩形 112"/>
          <p:cNvSpPr/>
          <p:nvPr/>
        </p:nvSpPr>
        <p:spPr bwMode="auto">
          <a:xfrm>
            <a:off x="4990918"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组装部</a:t>
            </a:r>
          </a:p>
        </p:txBody>
      </p:sp>
      <p:sp>
        <p:nvSpPr>
          <p:cNvPr id="114" name="矩形 113"/>
          <p:cNvSpPr/>
          <p:nvPr/>
        </p:nvSpPr>
        <p:spPr bwMode="auto">
          <a:xfrm>
            <a:off x="5307708"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结构件部</a:t>
            </a:r>
          </a:p>
        </p:txBody>
      </p:sp>
      <p:sp>
        <p:nvSpPr>
          <p:cNvPr id="116" name="矩形 115"/>
          <p:cNvSpPr/>
          <p:nvPr/>
        </p:nvSpPr>
        <p:spPr bwMode="auto">
          <a:xfrm>
            <a:off x="4674129"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综合管理部</a:t>
            </a:r>
          </a:p>
        </p:txBody>
      </p:sp>
      <p:cxnSp>
        <p:nvCxnSpPr>
          <p:cNvPr id="117" name="肘形连接符 116"/>
          <p:cNvCxnSpPr>
            <a:stCxn id="55" idx="2"/>
            <a:endCxn id="111" idx="0"/>
          </p:cNvCxnSpPr>
          <p:nvPr/>
        </p:nvCxnSpPr>
        <p:spPr bwMode="auto">
          <a:xfrm rot="16200000" flipH="1">
            <a:off x="5404774" y="3330741"/>
            <a:ext cx="197332" cy="479582"/>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120" name="肘形连接符 119"/>
          <p:cNvCxnSpPr>
            <a:stCxn id="55" idx="2"/>
            <a:endCxn id="116" idx="0"/>
          </p:cNvCxnSpPr>
          <p:nvPr/>
        </p:nvCxnSpPr>
        <p:spPr bwMode="auto">
          <a:xfrm rot="5400000">
            <a:off x="4929590" y="3335139"/>
            <a:ext cx="197332" cy="470786"/>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123" name="肘形连接符 122"/>
          <p:cNvCxnSpPr>
            <a:stCxn id="55" idx="2"/>
            <a:endCxn id="113" idx="0"/>
          </p:cNvCxnSpPr>
          <p:nvPr/>
        </p:nvCxnSpPr>
        <p:spPr bwMode="auto">
          <a:xfrm rot="5400000">
            <a:off x="5087985" y="3493534"/>
            <a:ext cx="197332" cy="153997"/>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126" name="肘形连接符 125"/>
          <p:cNvCxnSpPr>
            <a:stCxn id="55" idx="2"/>
            <a:endCxn id="114" idx="0"/>
          </p:cNvCxnSpPr>
          <p:nvPr/>
        </p:nvCxnSpPr>
        <p:spPr bwMode="auto">
          <a:xfrm rot="16200000" flipH="1">
            <a:off x="5246379" y="3489135"/>
            <a:ext cx="197332" cy="162793"/>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133" name="矩形 132"/>
          <p:cNvSpPr/>
          <p:nvPr/>
        </p:nvSpPr>
        <p:spPr bwMode="auto">
          <a:xfrm>
            <a:off x="3489965"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en-US" altLang="zh-CN" sz="1100" dirty="0">
                <a:solidFill>
                  <a:srgbClr val="000000"/>
                </a:solidFill>
                <a:latin typeface="微软雅黑" panose="020B0503020204020204" charset="-122"/>
                <a:ea typeface="微软雅黑" panose="020B0503020204020204" charset="-122"/>
              </a:rPr>
              <a:t>…</a:t>
            </a:r>
            <a:endParaRPr lang="zh-CN" altLang="en-US" sz="1100" dirty="0">
              <a:solidFill>
                <a:srgbClr val="000000"/>
              </a:solidFill>
              <a:latin typeface="微软雅黑" panose="020B0503020204020204" charset="-122"/>
              <a:ea typeface="微软雅黑" panose="020B0503020204020204" charset="-122"/>
            </a:endParaRPr>
          </a:p>
        </p:txBody>
      </p:sp>
      <p:sp>
        <p:nvSpPr>
          <p:cNvPr id="134" name="矩形 133"/>
          <p:cNvSpPr/>
          <p:nvPr/>
        </p:nvSpPr>
        <p:spPr bwMode="auto">
          <a:xfrm>
            <a:off x="2843991"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市场发展部</a:t>
            </a:r>
          </a:p>
        </p:txBody>
      </p:sp>
      <p:sp>
        <p:nvSpPr>
          <p:cNvPr id="135" name="矩形 134"/>
          <p:cNvSpPr/>
          <p:nvPr/>
        </p:nvSpPr>
        <p:spPr bwMode="auto">
          <a:xfrm>
            <a:off x="3166978"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服务部</a:t>
            </a:r>
          </a:p>
        </p:txBody>
      </p:sp>
      <p:sp>
        <p:nvSpPr>
          <p:cNvPr id="136" name="矩形 135"/>
          <p:cNvSpPr/>
          <p:nvPr/>
        </p:nvSpPr>
        <p:spPr bwMode="auto">
          <a:xfrm>
            <a:off x="2521004"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营销管理部</a:t>
            </a:r>
          </a:p>
        </p:txBody>
      </p:sp>
      <p:sp>
        <p:nvSpPr>
          <p:cNvPr id="137" name="矩形 136"/>
          <p:cNvSpPr/>
          <p:nvPr/>
        </p:nvSpPr>
        <p:spPr bwMode="auto">
          <a:xfrm>
            <a:off x="4238163"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en-US" altLang="zh-CN" sz="1100" dirty="0">
                <a:solidFill>
                  <a:srgbClr val="000000"/>
                </a:solidFill>
                <a:latin typeface="微软雅黑" panose="020B0503020204020204" charset="-122"/>
                <a:ea typeface="微软雅黑" panose="020B0503020204020204" charset="-122"/>
              </a:rPr>
              <a:t>…</a:t>
            </a:r>
            <a:endParaRPr lang="zh-CN" altLang="en-US" sz="1100" dirty="0">
              <a:solidFill>
                <a:srgbClr val="000000"/>
              </a:solidFill>
              <a:latin typeface="微软雅黑" panose="020B0503020204020204" charset="-122"/>
              <a:ea typeface="微软雅黑" panose="020B0503020204020204" charset="-122"/>
            </a:endParaRPr>
          </a:p>
        </p:txBody>
      </p:sp>
      <p:sp>
        <p:nvSpPr>
          <p:cNvPr id="139" name="矩形 138"/>
          <p:cNvSpPr/>
          <p:nvPr/>
        </p:nvSpPr>
        <p:spPr bwMode="auto">
          <a:xfrm>
            <a:off x="3915462"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营销管理部</a:t>
            </a:r>
          </a:p>
        </p:txBody>
      </p:sp>
      <p:cxnSp>
        <p:nvCxnSpPr>
          <p:cNvPr id="140" name="肘形连接符 139"/>
          <p:cNvCxnSpPr>
            <a:stCxn id="51" idx="2"/>
            <a:endCxn id="139" idx="0"/>
          </p:cNvCxnSpPr>
          <p:nvPr/>
        </p:nvCxnSpPr>
        <p:spPr bwMode="auto">
          <a:xfrm rot="5400000">
            <a:off x="4011709" y="3494354"/>
            <a:ext cx="197332" cy="152357"/>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143" name="肘形连接符 142"/>
          <p:cNvCxnSpPr>
            <a:stCxn id="51" idx="2"/>
            <a:endCxn id="137" idx="0"/>
          </p:cNvCxnSpPr>
          <p:nvPr/>
        </p:nvCxnSpPr>
        <p:spPr bwMode="auto">
          <a:xfrm rot="16200000" flipH="1">
            <a:off x="4173059" y="3485360"/>
            <a:ext cx="197332" cy="170344"/>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149" name="肘形连接符 148"/>
          <p:cNvCxnSpPr>
            <a:stCxn id="50" idx="2"/>
            <a:endCxn id="136" idx="0"/>
          </p:cNvCxnSpPr>
          <p:nvPr/>
        </p:nvCxnSpPr>
        <p:spPr bwMode="auto">
          <a:xfrm rot="5400000">
            <a:off x="2742273" y="3369332"/>
            <a:ext cx="197332" cy="402401"/>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152" name="肘形连接符 151"/>
          <p:cNvCxnSpPr>
            <a:stCxn id="50" idx="2"/>
            <a:endCxn id="134" idx="0"/>
          </p:cNvCxnSpPr>
          <p:nvPr/>
        </p:nvCxnSpPr>
        <p:spPr bwMode="auto">
          <a:xfrm rot="5400000">
            <a:off x="2903766" y="3530825"/>
            <a:ext cx="197332" cy="79414"/>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155" name="肘形连接符 154"/>
          <p:cNvCxnSpPr>
            <a:stCxn id="50" idx="2"/>
            <a:endCxn id="135" idx="0"/>
          </p:cNvCxnSpPr>
          <p:nvPr/>
        </p:nvCxnSpPr>
        <p:spPr bwMode="auto">
          <a:xfrm rot="16200000" flipH="1">
            <a:off x="3065259" y="3448745"/>
            <a:ext cx="197332" cy="243573"/>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175" name="矩形 174"/>
          <p:cNvSpPr/>
          <p:nvPr/>
        </p:nvSpPr>
        <p:spPr bwMode="auto">
          <a:xfrm>
            <a:off x="928662"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运营管理部</a:t>
            </a:r>
          </a:p>
        </p:txBody>
      </p:sp>
      <p:cxnSp>
        <p:nvCxnSpPr>
          <p:cNvPr id="176" name="肘形连接符 175"/>
          <p:cNvCxnSpPr>
            <a:stCxn id="45" idx="2"/>
            <a:endCxn id="175" idx="0"/>
          </p:cNvCxnSpPr>
          <p:nvPr/>
        </p:nvCxnSpPr>
        <p:spPr bwMode="auto">
          <a:xfrm rot="5400000">
            <a:off x="1031748" y="3487515"/>
            <a:ext cx="197332" cy="166035"/>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179" name="矩形 178"/>
          <p:cNvSpPr/>
          <p:nvPr/>
        </p:nvSpPr>
        <p:spPr bwMode="auto">
          <a:xfrm>
            <a:off x="1251577"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en-US" altLang="zh-CN" sz="1100" dirty="0">
                <a:solidFill>
                  <a:srgbClr val="000000"/>
                </a:solidFill>
                <a:latin typeface="微软雅黑" panose="020B0503020204020204" charset="-122"/>
                <a:ea typeface="微软雅黑" panose="020B0503020204020204" charset="-122"/>
              </a:rPr>
              <a:t>…</a:t>
            </a:r>
            <a:endParaRPr lang="zh-CN" altLang="en-US" sz="1100" dirty="0">
              <a:solidFill>
                <a:srgbClr val="000000"/>
              </a:solidFill>
              <a:latin typeface="微软雅黑" panose="020B0503020204020204" charset="-122"/>
              <a:ea typeface="微软雅黑" panose="020B0503020204020204" charset="-122"/>
            </a:endParaRPr>
          </a:p>
        </p:txBody>
      </p:sp>
      <p:cxnSp>
        <p:nvCxnSpPr>
          <p:cNvPr id="180" name="肘形连接符 179"/>
          <p:cNvCxnSpPr>
            <a:stCxn id="45" idx="2"/>
            <a:endCxn id="179" idx="0"/>
          </p:cNvCxnSpPr>
          <p:nvPr/>
        </p:nvCxnSpPr>
        <p:spPr bwMode="auto">
          <a:xfrm rot="16200000" flipH="1">
            <a:off x="1193205" y="3492092"/>
            <a:ext cx="197332" cy="156880"/>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183" name="矩形 182"/>
          <p:cNvSpPr/>
          <p:nvPr/>
        </p:nvSpPr>
        <p:spPr bwMode="auto">
          <a:xfrm>
            <a:off x="1710197"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国际业务部</a:t>
            </a:r>
          </a:p>
        </p:txBody>
      </p:sp>
      <p:cxnSp>
        <p:nvCxnSpPr>
          <p:cNvPr id="184" name="肘形连接符 183"/>
          <p:cNvCxnSpPr>
            <a:stCxn id="48" idx="2"/>
            <a:endCxn id="183" idx="0"/>
          </p:cNvCxnSpPr>
          <p:nvPr/>
        </p:nvCxnSpPr>
        <p:spPr bwMode="auto">
          <a:xfrm rot="5400000">
            <a:off x="1820121" y="3480676"/>
            <a:ext cx="197332" cy="179712"/>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187" name="矩形 186"/>
          <p:cNvSpPr/>
          <p:nvPr/>
        </p:nvSpPr>
        <p:spPr bwMode="auto">
          <a:xfrm>
            <a:off x="2033112"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en-US" altLang="zh-CN" sz="1100" dirty="0">
                <a:solidFill>
                  <a:srgbClr val="000000"/>
                </a:solidFill>
                <a:latin typeface="微软雅黑" panose="020B0503020204020204" charset="-122"/>
                <a:ea typeface="微软雅黑" panose="020B0503020204020204" charset="-122"/>
              </a:rPr>
              <a:t>…</a:t>
            </a:r>
            <a:endParaRPr lang="zh-CN" altLang="en-US" sz="1100" dirty="0">
              <a:solidFill>
                <a:srgbClr val="000000"/>
              </a:solidFill>
              <a:latin typeface="微软雅黑" panose="020B0503020204020204" charset="-122"/>
              <a:ea typeface="微软雅黑" panose="020B0503020204020204" charset="-122"/>
            </a:endParaRPr>
          </a:p>
        </p:txBody>
      </p:sp>
      <p:cxnSp>
        <p:nvCxnSpPr>
          <p:cNvPr id="188" name="肘形连接符 187"/>
          <p:cNvCxnSpPr>
            <a:stCxn id="48" idx="2"/>
            <a:endCxn id="187" idx="0"/>
          </p:cNvCxnSpPr>
          <p:nvPr/>
        </p:nvCxnSpPr>
        <p:spPr bwMode="auto">
          <a:xfrm rot="16200000" flipH="1">
            <a:off x="1981578" y="3498930"/>
            <a:ext cx="197332" cy="143203"/>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192" name="矩形 191"/>
          <p:cNvSpPr/>
          <p:nvPr/>
        </p:nvSpPr>
        <p:spPr bwMode="auto">
          <a:xfrm>
            <a:off x="7023442"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en-US" altLang="zh-CN" sz="1100" dirty="0">
                <a:solidFill>
                  <a:srgbClr val="000000"/>
                </a:solidFill>
                <a:latin typeface="微软雅黑" panose="020B0503020204020204" charset="-122"/>
                <a:ea typeface="微软雅黑" panose="020B0503020204020204" charset="-122"/>
              </a:rPr>
              <a:t>…</a:t>
            </a:r>
            <a:endParaRPr lang="zh-CN" altLang="en-US" sz="1100" dirty="0">
              <a:solidFill>
                <a:srgbClr val="000000"/>
              </a:solidFill>
              <a:latin typeface="微软雅黑" panose="020B0503020204020204" charset="-122"/>
              <a:ea typeface="微软雅黑" panose="020B0503020204020204" charset="-122"/>
            </a:endParaRPr>
          </a:p>
        </p:txBody>
      </p:sp>
      <p:sp>
        <p:nvSpPr>
          <p:cNvPr id="193" name="矩形 192"/>
          <p:cNvSpPr/>
          <p:nvPr/>
        </p:nvSpPr>
        <p:spPr bwMode="auto">
          <a:xfrm>
            <a:off x="6380745"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组装部</a:t>
            </a:r>
          </a:p>
        </p:txBody>
      </p:sp>
      <p:sp>
        <p:nvSpPr>
          <p:cNvPr id="194" name="矩形 193"/>
          <p:cNvSpPr/>
          <p:nvPr/>
        </p:nvSpPr>
        <p:spPr bwMode="auto">
          <a:xfrm>
            <a:off x="6702093"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结构件部</a:t>
            </a:r>
          </a:p>
        </p:txBody>
      </p:sp>
      <p:sp>
        <p:nvSpPr>
          <p:cNvPr id="195" name="矩形 194"/>
          <p:cNvSpPr/>
          <p:nvPr/>
        </p:nvSpPr>
        <p:spPr bwMode="auto">
          <a:xfrm>
            <a:off x="6059397"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综合管理部</a:t>
            </a:r>
          </a:p>
        </p:txBody>
      </p:sp>
      <p:sp>
        <p:nvSpPr>
          <p:cNvPr id="196" name="矩形 195"/>
          <p:cNvSpPr/>
          <p:nvPr/>
        </p:nvSpPr>
        <p:spPr bwMode="auto">
          <a:xfrm>
            <a:off x="8477095"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en-US" altLang="zh-CN" sz="1100" dirty="0">
                <a:solidFill>
                  <a:srgbClr val="000000"/>
                </a:solidFill>
                <a:latin typeface="微软雅黑" panose="020B0503020204020204" charset="-122"/>
                <a:ea typeface="微软雅黑" panose="020B0503020204020204" charset="-122"/>
              </a:rPr>
              <a:t>…</a:t>
            </a:r>
            <a:endParaRPr lang="zh-CN" altLang="en-US" sz="1100" dirty="0">
              <a:solidFill>
                <a:srgbClr val="000000"/>
              </a:solidFill>
              <a:latin typeface="微软雅黑" panose="020B0503020204020204" charset="-122"/>
              <a:ea typeface="微软雅黑" panose="020B0503020204020204" charset="-122"/>
            </a:endParaRPr>
          </a:p>
        </p:txBody>
      </p:sp>
      <p:sp>
        <p:nvSpPr>
          <p:cNvPr id="197" name="矩形 196"/>
          <p:cNvSpPr/>
          <p:nvPr/>
        </p:nvSpPr>
        <p:spPr bwMode="auto">
          <a:xfrm>
            <a:off x="7819273"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组装部</a:t>
            </a:r>
          </a:p>
        </p:txBody>
      </p:sp>
      <p:sp>
        <p:nvSpPr>
          <p:cNvPr id="198" name="矩形 197"/>
          <p:cNvSpPr/>
          <p:nvPr/>
        </p:nvSpPr>
        <p:spPr bwMode="auto">
          <a:xfrm>
            <a:off x="8148183"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结构件部</a:t>
            </a:r>
          </a:p>
        </p:txBody>
      </p:sp>
      <p:sp>
        <p:nvSpPr>
          <p:cNvPr id="199" name="矩形 198"/>
          <p:cNvSpPr/>
          <p:nvPr/>
        </p:nvSpPr>
        <p:spPr bwMode="auto">
          <a:xfrm>
            <a:off x="7490362" y="3669198"/>
            <a:ext cx="237468" cy="974248"/>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100" dirty="0">
                <a:solidFill>
                  <a:srgbClr val="000000"/>
                </a:solidFill>
                <a:latin typeface="微软雅黑" panose="020B0503020204020204" charset="-122"/>
                <a:ea typeface="微软雅黑" panose="020B0503020204020204" charset="-122"/>
              </a:rPr>
              <a:t>综合管理部</a:t>
            </a:r>
          </a:p>
        </p:txBody>
      </p:sp>
      <p:cxnSp>
        <p:nvCxnSpPr>
          <p:cNvPr id="200" name="肘形连接符 199"/>
          <p:cNvCxnSpPr>
            <a:stCxn id="57" idx="2"/>
            <a:endCxn id="195" idx="0"/>
          </p:cNvCxnSpPr>
          <p:nvPr/>
        </p:nvCxnSpPr>
        <p:spPr bwMode="auto">
          <a:xfrm rot="5400000">
            <a:off x="6317209" y="3332788"/>
            <a:ext cx="197332" cy="475488"/>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03" name="肘形连接符 202"/>
          <p:cNvCxnSpPr>
            <a:stCxn id="57" idx="2"/>
            <a:endCxn id="193" idx="0"/>
          </p:cNvCxnSpPr>
          <p:nvPr/>
        </p:nvCxnSpPr>
        <p:spPr bwMode="auto">
          <a:xfrm rot="5400000">
            <a:off x="6477883" y="3493462"/>
            <a:ext cx="197332" cy="154140"/>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06" name="肘形连接符 205"/>
          <p:cNvCxnSpPr>
            <a:stCxn id="57" idx="2"/>
            <a:endCxn id="194" idx="0"/>
          </p:cNvCxnSpPr>
          <p:nvPr/>
        </p:nvCxnSpPr>
        <p:spPr bwMode="auto">
          <a:xfrm rot="16200000" flipH="1">
            <a:off x="6638557" y="3486928"/>
            <a:ext cx="197332" cy="167208"/>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09" name="肘形连接符 208"/>
          <p:cNvCxnSpPr>
            <a:stCxn id="57" idx="2"/>
            <a:endCxn id="192" idx="0"/>
          </p:cNvCxnSpPr>
          <p:nvPr/>
        </p:nvCxnSpPr>
        <p:spPr bwMode="auto">
          <a:xfrm rot="16200000" flipH="1">
            <a:off x="6799231" y="3326253"/>
            <a:ext cx="197332" cy="488557"/>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12" name="肘形连接符 211"/>
          <p:cNvCxnSpPr>
            <a:stCxn id="61" idx="2"/>
            <a:endCxn id="199" idx="0"/>
          </p:cNvCxnSpPr>
          <p:nvPr/>
        </p:nvCxnSpPr>
        <p:spPr bwMode="auto">
          <a:xfrm rot="5400000">
            <a:off x="7743490" y="3337472"/>
            <a:ext cx="197332" cy="466120"/>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15" name="肘形连接符 214"/>
          <p:cNvCxnSpPr>
            <a:stCxn id="61" idx="2"/>
            <a:endCxn id="197" idx="0"/>
          </p:cNvCxnSpPr>
          <p:nvPr/>
        </p:nvCxnSpPr>
        <p:spPr bwMode="auto">
          <a:xfrm rot="5400000">
            <a:off x="7907946" y="3501928"/>
            <a:ext cx="197332" cy="137209"/>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18" name="肘形连接符 217"/>
          <p:cNvCxnSpPr>
            <a:stCxn id="61" idx="2"/>
            <a:endCxn id="198" idx="0"/>
          </p:cNvCxnSpPr>
          <p:nvPr/>
        </p:nvCxnSpPr>
        <p:spPr bwMode="auto">
          <a:xfrm rot="16200000" flipH="1">
            <a:off x="8072400" y="3474681"/>
            <a:ext cx="197332" cy="191701"/>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21" name="肘形连接符 220"/>
          <p:cNvCxnSpPr>
            <a:stCxn id="61" idx="2"/>
            <a:endCxn id="196" idx="0"/>
          </p:cNvCxnSpPr>
          <p:nvPr/>
        </p:nvCxnSpPr>
        <p:spPr bwMode="auto">
          <a:xfrm rot="16200000" flipH="1">
            <a:off x="8236856" y="3310225"/>
            <a:ext cx="197332" cy="520613"/>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24" name="肘形连接符 223"/>
          <p:cNvCxnSpPr>
            <a:stCxn id="50" idx="2"/>
            <a:endCxn id="133" idx="0"/>
          </p:cNvCxnSpPr>
          <p:nvPr/>
        </p:nvCxnSpPr>
        <p:spPr bwMode="auto">
          <a:xfrm rot="16200000" flipH="1">
            <a:off x="3226753" y="3287252"/>
            <a:ext cx="197332" cy="566560"/>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227" name="圆角矩形标注 226"/>
          <p:cNvSpPr/>
          <p:nvPr/>
        </p:nvSpPr>
        <p:spPr bwMode="auto">
          <a:xfrm>
            <a:off x="857224" y="4848235"/>
            <a:ext cx="432000" cy="720000"/>
          </a:xfrm>
          <a:prstGeom prst="wedgeRoundRectCallout">
            <a:avLst>
              <a:gd name="adj1" fmla="val -1752"/>
              <a:gd name="adj2" fmla="val -89015"/>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产销平衡</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en-US" altLang="zh-CN" sz="1000" dirty="0">
                <a:latin typeface="微软雅黑" panose="020B0503020204020204" charset="-122"/>
                <a:ea typeface="微软雅黑" panose="020B0503020204020204" charset="-122"/>
              </a:rPr>
              <a:t>KPI</a:t>
            </a:r>
            <a:r>
              <a:rPr lang="zh-CN" altLang="en-US" sz="1000" dirty="0">
                <a:latin typeface="微软雅黑" panose="020B0503020204020204" charset="-122"/>
                <a:ea typeface="微软雅黑" panose="020B0503020204020204" charset="-122"/>
              </a:rPr>
              <a:t>考核</a:t>
            </a:r>
            <a:endParaRPr lang="en-US" altLang="zh-CN" sz="1000" dirty="0">
              <a:latin typeface="微软雅黑" panose="020B0503020204020204" charset="-122"/>
              <a:ea typeface="微软雅黑" panose="020B0503020204020204" charset="-122"/>
            </a:endParaRPr>
          </a:p>
        </p:txBody>
      </p:sp>
      <p:sp>
        <p:nvSpPr>
          <p:cNvPr id="228" name="圆角矩形标注 227"/>
          <p:cNvSpPr/>
          <p:nvPr/>
        </p:nvSpPr>
        <p:spPr bwMode="auto">
          <a:xfrm>
            <a:off x="1500166" y="4848235"/>
            <a:ext cx="432000" cy="828000"/>
          </a:xfrm>
          <a:prstGeom prst="wedgeRoundRectCallout">
            <a:avLst>
              <a:gd name="adj1" fmla="val 31005"/>
              <a:gd name="adj2" fmla="val -86056"/>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进口件采购计划与执行</a:t>
            </a:r>
            <a:endParaRPr lang="en-US" altLang="zh-CN" sz="1000" dirty="0">
              <a:latin typeface="微软雅黑" panose="020B0503020204020204" charset="-122"/>
              <a:ea typeface="微软雅黑" panose="020B0503020204020204" charset="-122"/>
            </a:endParaRPr>
          </a:p>
        </p:txBody>
      </p:sp>
      <p:sp>
        <p:nvSpPr>
          <p:cNvPr id="229" name="圆角矩形标注 228"/>
          <p:cNvSpPr/>
          <p:nvPr/>
        </p:nvSpPr>
        <p:spPr bwMode="auto">
          <a:xfrm>
            <a:off x="2071670" y="4848234"/>
            <a:ext cx="432000" cy="1262279"/>
          </a:xfrm>
          <a:prstGeom prst="wedgeRoundRectCallout">
            <a:avLst>
              <a:gd name="adj1" fmla="val 66283"/>
              <a:gd name="adj2" fmla="val -71799"/>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国内需求</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国内订单</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发运指示函</a:t>
            </a:r>
            <a:endParaRPr lang="en-US" altLang="zh-CN" sz="1000" dirty="0">
              <a:latin typeface="微软雅黑" panose="020B0503020204020204" charset="-122"/>
              <a:ea typeface="微软雅黑" panose="020B0503020204020204" charset="-122"/>
            </a:endParaRPr>
          </a:p>
        </p:txBody>
      </p:sp>
      <p:sp>
        <p:nvSpPr>
          <p:cNvPr id="230" name="圆角矩形标注 229"/>
          <p:cNvSpPr/>
          <p:nvPr/>
        </p:nvSpPr>
        <p:spPr bwMode="auto">
          <a:xfrm>
            <a:off x="3071802" y="4848235"/>
            <a:ext cx="432000" cy="1152000"/>
          </a:xfrm>
          <a:prstGeom prst="wedgeRoundRectCallout">
            <a:avLst>
              <a:gd name="adj1" fmla="val -14459"/>
              <a:gd name="adj2" fmla="val -74174"/>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配件需求</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配件订单</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部分配件采购</a:t>
            </a:r>
            <a:endParaRPr lang="en-US" altLang="zh-CN" sz="1000" dirty="0">
              <a:latin typeface="微软雅黑" panose="020B0503020204020204" charset="-122"/>
              <a:ea typeface="微软雅黑" panose="020B0503020204020204" charset="-122"/>
            </a:endParaRPr>
          </a:p>
        </p:txBody>
      </p:sp>
      <p:sp>
        <p:nvSpPr>
          <p:cNvPr id="231" name="圆角矩形标注 230"/>
          <p:cNvSpPr/>
          <p:nvPr/>
        </p:nvSpPr>
        <p:spPr bwMode="auto">
          <a:xfrm>
            <a:off x="3643306" y="4848234"/>
            <a:ext cx="432000" cy="1152533"/>
          </a:xfrm>
          <a:prstGeom prst="wedgeRoundRectCallout">
            <a:avLst>
              <a:gd name="adj1" fmla="val 25772"/>
              <a:gd name="adj2" fmla="val -76604"/>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国际需求</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国际订单</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发运计划</a:t>
            </a:r>
            <a:endParaRPr lang="en-US" altLang="zh-CN" sz="1000" dirty="0">
              <a:latin typeface="微软雅黑" panose="020B0503020204020204" charset="-122"/>
              <a:ea typeface="微软雅黑" panose="020B0503020204020204" charset="-122"/>
            </a:endParaRPr>
          </a:p>
        </p:txBody>
      </p:sp>
      <p:sp>
        <p:nvSpPr>
          <p:cNvPr id="232" name="圆角矩形标注 231"/>
          <p:cNvSpPr/>
          <p:nvPr/>
        </p:nvSpPr>
        <p:spPr bwMode="auto">
          <a:xfrm>
            <a:off x="4143372" y="5686441"/>
            <a:ext cx="823915" cy="857256"/>
          </a:xfrm>
          <a:prstGeom prst="wedgeRoundRectCallout">
            <a:avLst>
              <a:gd name="adj1" fmla="val 35728"/>
              <a:gd name="adj2" fmla="val -180636"/>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主生产计划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自制件计划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下料计划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采购计划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采购交付</a:t>
            </a:r>
            <a:endParaRPr lang="en-US" altLang="zh-CN" sz="1000" dirty="0">
              <a:latin typeface="微软雅黑" panose="020B0503020204020204" charset="-122"/>
              <a:ea typeface="微软雅黑" panose="020B0503020204020204" charset="-122"/>
            </a:endParaRPr>
          </a:p>
        </p:txBody>
      </p:sp>
      <p:sp>
        <p:nvSpPr>
          <p:cNvPr id="233" name="圆角矩形标注 232"/>
          <p:cNvSpPr/>
          <p:nvPr/>
        </p:nvSpPr>
        <p:spPr bwMode="auto">
          <a:xfrm>
            <a:off x="4929190" y="4848235"/>
            <a:ext cx="432000" cy="642942"/>
          </a:xfrm>
          <a:prstGeom prst="wedgeRoundRectCallout">
            <a:avLst>
              <a:gd name="adj1" fmla="val -19691"/>
              <a:gd name="adj2" fmla="val -96428"/>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组装生产</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厂内物流</a:t>
            </a:r>
            <a:endParaRPr lang="en-US" altLang="zh-CN" sz="1000" dirty="0">
              <a:latin typeface="微软雅黑" panose="020B0503020204020204" charset="-122"/>
              <a:ea typeface="微软雅黑" panose="020B0503020204020204" charset="-122"/>
            </a:endParaRPr>
          </a:p>
        </p:txBody>
      </p:sp>
      <p:sp>
        <p:nvSpPr>
          <p:cNvPr id="234" name="圆角矩形标注 233"/>
          <p:cNvSpPr/>
          <p:nvPr/>
        </p:nvSpPr>
        <p:spPr bwMode="auto">
          <a:xfrm>
            <a:off x="5429256" y="4848235"/>
            <a:ext cx="432000" cy="792000"/>
          </a:xfrm>
          <a:prstGeom prst="wedgeRoundRectCallout">
            <a:avLst>
              <a:gd name="adj1" fmla="val -49301"/>
              <a:gd name="adj2" fmla="val -89716"/>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结构件生产</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厂内物流</a:t>
            </a:r>
            <a:endParaRPr lang="en-US" altLang="zh-CN" sz="1000" dirty="0">
              <a:latin typeface="微软雅黑" panose="020B0503020204020204" charset="-122"/>
              <a:ea typeface="微软雅黑" panose="020B0503020204020204" charset="-122"/>
            </a:endParaRPr>
          </a:p>
        </p:txBody>
      </p:sp>
      <p:sp>
        <p:nvSpPr>
          <p:cNvPr id="241" name="圆角矩形标注 240"/>
          <p:cNvSpPr/>
          <p:nvPr/>
        </p:nvSpPr>
        <p:spPr bwMode="auto">
          <a:xfrm>
            <a:off x="2568364" y="4848235"/>
            <a:ext cx="432000" cy="1260000"/>
          </a:xfrm>
          <a:prstGeom prst="wedgeRoundRectCallout">
            <a:avLst>
              <a:gd name="adj1" fmla="val 31804"/>
              <a:gd name="adj2" fmla="val -72387"/>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国内大客户需求</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国内大客户订单</a:t>
            </a:r>
            <a:endParaRPr lang="en-US" altLang="zh-CN" sz="1000" dirty="0">
              <a:latin typeface="微软雅黑" panose="020B0503020204020204" charset="-122"/>
              <a:ea typeface="微软雅黑" panose="020B0503020204020204" charset="-122"/>
            </a:endParaRPr>
          </a:p>
        </p:txBody>
      </p:sp>
      <p:sp>
        <p:nvSpPr>
          <p:cNvPr id="242" name="矩形 241"/>
          <p:cNvSpPr/>
          <p:nvPr/>
        </p:nvSpPr>
        <p:spPr bwMode="auto">
          <a:xfrm>
            <a:off x="502747" y="4846520"/>
            <a:ext cx="252000" cy="868496"/>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t">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大区</a:t>
            </a:r>
          </a:p>
        </p:txBody>
      </p:sp>
      <p:sp>
        <p:nvSpPr>
          <p:cNvPr id="243" name="矩形 242"/>
          <p:cNvSpPr/>
          <p:nvPr/>
        </p:nvSpPr>
        <p:spPr bwMode="auto">
          <a:xfrm>
            <a:off x="1785918" y="1000108"/>
            <a:ext cx="1620000" cy="324000"/>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ctr">
            <a:noAutofit/>
          </a:bodyPr>
          <a:lstStyle/>
          <a:p>
            <a:pPr marL="117475" indent="-117475" algn="ctr">
              <a:buClr>
                <a:schemeClr val="tx1"/>
              </a:buClr>
            </a:pPr>
            <a:r>
              <a:rPr lang="zh-CN" altLang="en-US" sz="1200" dirty="0">
                <a:solidFill>
                  <a:srgbClr val="000000"/>
                </a:solidFill>
                <a:latin typeface="微软雅黑" panose="020B0503020204020204" charset="-122"/>
                <a:ea typeface="微软雅黑" panose="020B0503020204020204" charset="-122"/>
              </a:rPr>
              <a:t>x</a:t>
            </a:r>
          </a:p>
        </p:txBody>
      </p:sp>
      <p:cxnSp>
        <p:nvCxnSpPr>
          <p:cNvPr id="244" name="肘形连接符 135"/>
          <p:cNvCxnSpPr>
            <a:stCxn id="243" idx="2"/>
            <a:endCxn id="44" idx="0"/>
          </p:cNvCxnSpPr>
          <p:nvPr/>
        </p:nvCxnSpPr>
        <p:spPr bwMode="auto">
          <a:xfrm rot="16200000" flipH="1">
            <a:off x="3626918" y="293107"/>
            <a:ext cx="273388" cy="2335389"/>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247" name="肘形连接符 135"/>
          <p:cNvCxnSpPr>
            <a:stCxn id="243" idx="2"/>
            <a:endCxn id="251" idx="0"/>
          </p:cNvCxnSpPr>
          <p:nvPr/>
        </p:nvCxnSpPr>
        <p:spPr bwMode="auto">
          <a:xfrm rot="5400000">
            <a:off x="1475881" y="476975"/>
            <a:ext cx="272904" cy="1967170"/>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sp>
        <p:nvSpPr>
          <p:cNvPr id="251" name="矩形 250"/>
          <p:cNvSpPr/>
          <p:nvPr/>
        </p:nvSpPr>
        <p:spPr bwMode="auto">
          <a:xfrm>
            <a:off x="219270" y="1597012"/>
            <a:ext cx="818955" cy="324000"/>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ctr">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国际总部</a:t>
            </a:r>
          </a:p>
        </p:txBody>
      </p:sp>
      <p:cxnSp>
        <p:nvCxnSpPr>
          <p:cNvPr id="253" name="肘形连接符 135"/>
          <p:cNvCxnSpPr>
            <a:stCxn id="251" idx="2"/>
            <a:endCxn id="242" idx="0"/>
          </p:cNvCxnSpPr>
          <p:nvPr/>
        </p:nvCxnSpPr>
        <p:spPr bwMode="auto">
          <a:xfrm rot="5400000">
            <a:off x="-834006" y="3383766"/>
            <a:ext cx="2925508" cy="1"/>
          </a:xfrm>
          <a:prstGeom prst="straightConnector1">
            <a:avLst/>
          </a:prstGeom>
          <a:noFill/>
          <a:ln w="9525" cap="flat" cmpd="sng" algn="ctr">
            <a:solidFill>
              <a:schemeClr val="tx1"/>
            </a:solidFill>
            <a:prstDash val="solid"/>
            <a:round/>
            <a:headEnd type="none" w="med" len="med"/>
            <a:tailEnd type="none" w="med" len="med"/>
          </a:ln>
          <a:effectLst/>
        </p:spPr>
      </p:cxnSp>
      <p:cxnSp>
        <p:nvCxnSpPr>
          <p:cNvPr id="262" name="肘形连接符 135"/>
          <p:cNvCxnSpPr>
            <a:stCxn id="139" idx="2"/>
            <a:endCxn id="242" idx="0"/>
          </p:cNvCxnSpPr>
          <p:nvPr/>
        </p:nvCxnSpPr>
        <p:spPr bwMode="auto">
          <a:xfrm rot="5400000">
            <a:off x="2229935" y="3042259"/>
            <a:ext cx="203074" cy="3405449"/>
          </a:xfrm>
          <a:prstGeom prst="bentConnector3">
            <a:avLst>
              <a:gd name="adj1" fmla="val 50000"/>
            </a:avLst>
          </a:prstGeom>
          <a:noFill/>
          <a:ln w="9525" cap="flat" cmpd="sng" algn="ctr">
            <a:solidFill>
              <a:schemeClr val="tx1"/>
            </a:solidFill>
            <a:prstDash val="dash"/>
            <a:round/>
            <a:headEnd type="none" w="med" len="med"/>
            <a:tailEnd type="none" w="med" len="med"/>
          </a:ln>
          <a:effectLst/>
        </p:spPr>
      </p:cxnSp>
      <p:sp>
        <p:nvSpPr>
          <p:cNvPr id="265" name="圆角矩形标注 264"/>
          <p:cNvSpPr/>
          <p:nvPr/>
        </p:nvSpPr>
        <p:spPr bwMode="auto">
          <a:xfrm>
            <a:off x="357158" y="5857892"/>
            <a:ext cx="781746" cy="500066"/>
          </a:xfrm>
          <a:prstGeom prst="wedgeRoundRectCallout">
            <a:avLst>
              <a:gd name="adj1" fmla="val -12280"/>
              <a:gd name="adj2" fmla="val -108099"/>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国际区域代理商需求与订单</a:t>
            </a:r>
            <a:endParaRPr lang="en-US" altLang="zh-CN" sz="1000" dirty="0">
              <a:latin typeface="微软雅黑" panose="020B0503020204020204" charset="-122"/>
              <a:ea typeface="微软雅黑" panose="020B0503020204020204" charset="-122"/>
            </a:endParaRPr>
          </a:p>
        </p:txBody>
      </p:sp>
      <p:sp>
        <p:nvSpPr>
          <p:cNvPr id="332" name="圆角矩形标注 331"/>
          <p:cNvSpPr/>
          <p:nvPr/>
        </p:nvSpPr>
        <p:spPr bwMode="auto">
          <a:xfrm>
            <a:off x="5568760" y="5686441"/>
            <a:ext cx="823915" cy="857256"/>
          </a:xfrm>
          <a:prstGeom prst="wedgeRoundRectCallout">
            <a:avLst>
              <a:gd name="adj1" fmla="val 29948"/>
              <a:gd name="adj2" fmla="val -180636"/>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主生产计划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自制件计划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下料计划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采购计划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采购交付</a:t>
            </a:r>
            <a:endParaRPr lang="en-US" altLang="zh-CN" sz="1000" dirty="0">
              <a:latin typeface="微软雅黑" panose="020B0503020204020204" charset="-122"/>
              <a:ea typeface="微软雅黑" panose="020B0503020204020204" charset="-122"/>
            </a:endParaRPr>
          </a:p>
        </p:txBody>
      </p:sp>
      <p:sp>
        <p:nvSpPr>
          <p:cNvPr id="333" name="圆角矩形标注 332"/>
          <p:cNvSpPr/>
          <p:nvPr/>
        </p:nvSpPr>
        <p:spPr bwMode="auto">
          <a:xfrm>
            <a:off x="6354578" y="4848235"/>
            <a:ext cx="432000" cy="642942"/>
          </a:xfrm>
          <a:prstGeom prst="wedgeRoundRectCallout">
            <a:avLst>
              <a:gd name="adj1" fmla="val -19691"/>
              <a:gd name="adj2" fmla="val -96428"/>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组装生产</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厂内物流</a:t>
            </a:r>
            <a:endParaRPr lang="en-US" altLang="zh-CN" sz="1000" dirty="0">
              <a:latin typeface="微软雅黑" panose="020B0503020204020204" charset="-122"/>
              <a:ea typeface="微软雅黑" panose="020B0503020204020204" charset="-122"/>
            </a:endParaRPr>
          </a:p>
        </p:txBody>
      </p:sp>
      <p:sp>
        <p:nvSpPr>
          <p:cNvPr id="334" name="圆角矩形标注 333"/>
          <p:cNvSpPr/>
          <p:nvPr/>
        </p:nvSpPr>
        <p:spPr bwMode="auto">
          <a:xfrm>
            <a:off x="6854644" y="4848235"/>
            <a:ext cx="432000" cy="792000"/>
          </a:xfrm>
          <a:prstGeom prst="wedgeRoundRectCallout">
            <a:avLst>
              <a:gd name="adj1" fmla="val -49301"/>
              <a:gd name="adj2" fmla="val -89716"/>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结构件生产</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厂内物流</a:t>
            </a:r>
            <a:endParaRPr lang="en-US" altLang="zh-CN" sz="1000" dirty="0">
              <a:latin typeface="微软雅黑" panose="020B0503020204020204" charset="-122"/>
              <a:ea typeface="微软雅黑" panose="020B0503020204020204" charset="-122"/>
            </a:endParaRPr>
          </a:p>
        </p:txBody>
      </p:sp>
      <p:sp>
        <p:nvSpPr>
          <p:cNvPr id="335" name="圆角矩形标注 334"/>
          <p:cNvSpPr/>
          <p:nvPr/>
        </p:nvSpPr>
        <p:spPr bwMode="auto">
          <a:xfrm>
            <a:off x="7000892" y="5686441"/>
            <a:ext cx="823915" cy="857256"/>
          </a:xfrm>
          <a:prstGeom prst="wedgeRoundRectCallout">
            <a:avLst>
              <a:gd name="adj1" fmla="val 29948"/>
              <a:gd name="adj2" fmla="val -180636"/>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主生产计划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自制件计划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下料计划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采购计划</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采购交付</a:t>
            </a:r>
            <a:endParaRPr lang="en-US" altLang="zh-CN" sz="1000" dirty="0">
              <a:latin typeface="微软雅黑" panose="020B0503020204020204" charset="-122"/>
              <a:ea typeface="微软雅黑" panose="020B0503020204020204" charset="-122"/>
            </a:endParaRPr>
          </a:p>
        </p:txBody>
      </p:sp>
      <p:sp>
        <p:nvSpPr>
          <p:cNvPr id="336" name="圆角矩形标注 335"/>
          <p:cNvSpPr/>
          <p:nvPr/>
        </p:nvSpPr>
        <p:spPr bwMode="auto">
          <a:xfrm>
            <a:off x="7786710" y="4848235"/>
            <a:ext cx="432000" cy="642942"/>
          </a:xfrm>
          <a:prstGeom prst="wedgeRoundRectCallout">
            <a:avLst>
              <a:gd name="adj1" fmla="val -19691"/>
              <a:gd name="adj2" fmla="val -96428"/>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组装生产</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厂内物流</a:t>
            </a:r>
            <a:endParaRPr lang="en-US" altLang="zh-CN" sz="1000" dirty="0">
              <a:latin typeface="微软雅黑" panose="020B0503020204020204" charset="-122"/>
              <a:ea typeface="微软雅黑" panose="020B0503020204020204" charset="-122"/>
            </a:endParaRPr>
          </a:p>
        </p:txBody>
      </p:sp>
      <p:sp>
        <p:nvSpPr>
          <p:cNvPr id="337" name="圆角矩形标注 336"/>
          <p:cNvSpPr/>
          <p:nvPr/>
        </p:nvSpPr>
        <p:spPr bwMode="auto">
          <a:xfrm>
            <a:off x="8286776" y="4848235"/>
            <a:ext cx="432000" cy="792000"/>
          </a:xfrm>
          <a:prstGeom prst="wedgeRoundRectCallout">
            <a:avLst>
              <a:gd name="adj1" fmla="val -49301"/>
              <a:gd name="adj2" fmla="val -89716"/>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0" tIns="36000" rIns="0" bIns="36000" numCol="1" rtlCol="0" anchor="ctr" anchorCtr="0" compatLnSpc="1"/>
          <a:lstStyle/>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结构件生产</a:t>
            </a:r>
            <a:endParaRPr lang="en-US" altLang="zh-CN" sz="1000" dirty="0">
              <a:latin typeface="微软雅黑" panose="020B0503020204020204" charset="-122"/>
              <a:ea typeface="微软雅黑" panose="020B0503020204020204" charset="-122"/>
            </a:endParaRPr>
          </a:p>
          <a:p>
            <a:pPr marL="88900" indent="-88900">
              <a:buFont typeface="微软雅黑" panose="020B0503020204020204" charset="-122"/>
              <a:buChar char="−"/>
            </a:pPr>
            <a:r>
              <a:rPr lang="zh-CN" altLang="en-US" sz="1000" dirty="0">
                <a:latin typeface="微软雅黑" panose="020B0503020204020204" charset="-122"/>
                <a:ea typeface="微软雅黑" panose="020B0503020204020204" charset="-122"/>
              </a:rPr>
              <a:t>厂内物流</a:t>
            </a:r>
            <a:endParaRPr lang="en-US" altLang="zh-CN" sz="1000" dirty="0">
              <a:latin typeface="微软雅黑" panose="020B0503020204020204" charset="-122"/>
              <a:ea typeface="微软雅黑" panose="020B0503020204020204" charset="-122"/>
            </a:endParaRPr>
          </a:p>
        </p:txBody>
      </p:sp>
      <p:sp>
        <p:nvSpPr>
          <p:cNvPr id="338" name="矩形 337"/>
          <p:cNvSpPr/>
          <p:nvPr/>
        </p:nvSpPr>
        <p:spPr bwMode="auto">
          <a:xfrm>
            <a:off x="6108741" y="1000108"/>
            <a:ext cx="2749539" cy="928694"/>
          </a:xfrm>
          <a:prstGeom prst="rect">
            <a:avLst/>
          </a:prstGeom>
          <a:solidFill>
            <a:schemeClr val="accent1">
              <a:lumMod val="20000"/>
              <a:lumOff val="80000"/>
            </a:schemeClr>
          </a:solidFill>
          <a:ln w="9525" cap="flat" cmpd="sng" algn="ctr">
            <a:noFill/>
            <a:prstDash val="solid"/>
            <a:round/>
            <a:headEnd type="none" w="med" len="med"/>
            <a:tailEnd type="none"/>
          </a:ln>
          <a:effectLst>
            <a:outerShdw blurRad="50800" dist="38100" dir="2700000" algn="tl" rotWithShape="0">
              <a:prstClr val="black">
                <a:alpha val="40000"/>
              </a:prstClr>
            </a:outerShdw>
          </a:effectLst>
        </p:spPr>
        <p:txBody>
          <a:bodyPr rtlCol="0" anchor="ctr"/>
          <a:lstStyle/>
          <a:p>
            <a:pPr marL="174625" indent="-174625">
              <a:spcBef>
                <a:spcPts val="400"/>
              </a:spcBef>
              <a:buFont typeface="微软雅黑" panose="020B0503020204020204" charset="-122"/>
              <a:buChar char="▪"/>
            </a:pPr>
            <a:r>
              <a:rPr lang="zh-CN" altLang="en-US" sz="1200" b="1" dirty="0">
                <a:latin typeface="微软雅黑" panose="020B0503020204020204" charset="-122"/>
                <a:ea typeface="微软雅黑" panose="020B0503020204020204" charset="-122"/>
              </a:rPr>
              <a:t>计划职能</a:t>
            </a:r>
            <a:r>
              <a:rPr lang="zh-CN" altLang="en-US" sz="1200" dirty="0">
                <a:latin typeface="微软雅黑" panose="020B0503020204020204" charset="-122"/>
                <a:ea typeface="微软雅黑" panose="020B0503020204020204" charset="-122"/>
              </a:rPr>
              <a:t>（需求计划、生产计划、采购计划）涉及多个部门</a:t>
            </a:r>
            <a:endParaRPr lang="en-US" altLang="zh-CN" sz="1200" dirty="0">
              <a:latin typeface="微软雅黑" panose="020B0503020204020204" charset="-122"/>
              <a:ea typeface="微软雅黑" panose="020B0503020204020204" charset="-122"/>
            </a:endParaRPr>
          </a:p>
          <a:p>
            <a:pPr marL="174625" indent="-174625">
              <a:spcBef>
                <a:spcPts val="400"/>
              </a:spcBef>
              <a:buFont typeface="微软雅黑" panose="020B0503020204020204" charset="-122"/>
              <a:buChar char="▪"/>
            </a:pPr>
            <a:r>
              <a:rPr lang="zh-CN" altLang="en-US" sz="1200" b="1" dirty="0">
                <a:latin typeface="微软雅黑" panose="020B0503020204020204" charset="-122"/>
                <a:ea typeface="微软雅黑" panose="020B0503020204020204" charset="-122"/>
              </a:rPr>
              <a:t>采购执行</a:t>
            </a:r>
            <a:r>
              <a:rPr lang="zh-CN" altLang="en-US" sz="1200" dirty="0">
                <a:latin typeface="微软雅黑" panose="020B0503020204020204" charset="-122"/>
                <a:ea typeface="微软雅黑" panose="020B0503020204020204" charset="-122"/>
              </a:rPr>
              <a:t>涉及多个部门，对供应商窗口较多</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矩形 15"/>
          <p:cNvSpPr/>
          <p:nvPr/>
        </p:nvSpPr>
        <p:spPr bwMode="auto">
          <a:xfrm>
            <a:off x="357158" y="4482068"/>
            <a:ext cx="4143404" cy="2005534"/>
          </a:xfrm>
          <a:prstGeom prst="rect">
            <a:avLst/>
          </a:prstGeom>
          <a:solidFill>
            <a:srgbClr val="7889FB">
              <a:lumMod val="20000"/>
              <a:lumOff val="80000"/>
            </a:srgbClr>
          </a:solidFill>
          <a:ln w="9525" cap="flat" cmpd="sng" algn="ctr">
            <a:solidFill>
              <a:srgbClr val="D6DBFE">
                <a:lumMod val="90000"/>
              </a:srgbClr>
            </a:solidFill>
            <a:prstDash val="solid"/>
            <a:round/>
            <a:headEnd type="none" w="med" len="med"/>
            <a:tailEnd type="none" w="med" len="med"/>
          </a:ln>
          <a:effectLst/>
        </p:spPr>
        <p:txBody>
          <a:bodyPr lIns="90000" tIns="108000" rIns="90000" bIns="46800"/>
          <a:lstStyle/>
          <a:p>
            <a:pPr marL="182880" marR="0" lvl="0" indent="-182880" defTabSz="914400" eaLnBrk="0" fontAlgn="auto" latinLnBrk="0" hangingPunct="0">
              <a:lnSpc>
                <a:spcPct val="90000"/>
              </a:lnSpc>
              <a:spcBef>
                <a:spcPct val="20000"/>
              </a:spcBef>
              <a:spcAft>
                <a:spcPts val="0"/>
              </a:spcAft>
              <a:buClr>
                <a:srgbClr val="000000"/>
              </a:buClr>
              <a:buSzTx/>
              <a:buFont typeface="Wingdings" panose="05000000000000000000" pitchFamily="2" charset="2"/>
              <a:buNone/>
              <a:defRPr/>
            </a:pP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3" name="标题 1"/>
          <p:cNvSpPr>
            <a:spLocks noGrp="1"/>
          </p:cNvSpPr>
          <p:nvPr>
            <p:ph type="title" idx="4294967295"/>
          </p:nvPr>
        </p:nvSpPr>
        <p:spPr>
          <a:xfrm>
            <a:off x="162000" y="593725"/>
            <a:ext cx="8820000" cy="695325"/>
          </a:xfrm>
        </p:spPr>
        <p:txBody>
          <a:bodyPr/>
          <a:lstStyle/>
          <a:p>
            <a:r>
              <a:rPr lang="zh-CN" altLang="en-US" dirty="0"/>
              <a:t>两种集成计划管理组织方式对比</a:t>
            </a:r>
          </a:p>
        </p:txBody>
      </p:sp>
      <p:sp>
        <p:nvSpPr>
          <p:cNvPr id="7"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8" name="燕尾形 40"/>
          <p:cNvSpPr/>
          <p:nvPr/>
        </p:nvSpPr>
        <p:spPr bwMode="auto">
          <a:xfrm>
            <a:off x="4639809"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组织现状</a:t>
            </a:r>
          </a:p>
        </p:txBody>
      </p:sp>
      <p:sp>
        <p:nvSpPr>
          <p:cNvPr id="9" name="燕尾形 41"/>
          <p:cNvSpPr/>
          <p:nvPr/>
        </p:nvSpPr>
        <p:spPr bwMode="auto">
          <a:xfrm>
            <a:off x="5493436"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业务现状</a:t>
            </a:r>
          </a:p>
        </p:txBody>
      </p:sp>
      <p:sp>
        <p:nvSpPr>
          <p:cNvPr id="10"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11"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grpSp>
        <p:nvGrpSpPr>
          <p:cNvPr id="189" name="Group 94"/>
          <p:cNvGrpSpPr/>
          <p:nvPr/>
        </p:nvGrpSpPr>
        <p:grpSpPr>
          <a:xfrm>
            <a:off x="5090385" y="1409828"/>
            <a:ext cx="3240360" cy="2921549"/>
            <a:chOff x="5354627" y="1436259"/>
            <a:chExt cx="3666864" cy="3412325"/>
          </a:xfrm>
        </p:grpSpPr>
        <p:grpSp>
          <p:nvGrpSpPr>
            <p:cNvPr id="190" name="Group 11"/>
            <p:cNvGrpSpPr/>
            <p:nvPr/>
          </p:nvGrpSpPr>
          <p:grpSpPr bwMode="auto">
            <a:xfrm>
              <a:off x="5355028" y="1484787"/>
              <a:ext cx="3456382" cy="3363797"/>
              <a:chOff x="4125" y="1970"/>
              <a:chExt cx="1600" cy="1510"/>
            </a:xfrm>
          </p:grpSpPr>
          <p:sp>
            <p:nvSpPr>
              <p:cNvPr id="205" name="Freeform 12"/>
              <p:cNvSpPr/>
              <p:nvPr/>
            </p:nvSpPr>
            <p:spPr bwMode="auto">
              <a:xfrm>
                <a:off x="4356" y="2352"/>
                <a:ext cx="896" cy="747"/>
              </a:xfrm>
              <a:custGeom>
                <a:avLst/>
                <a:gdLst>
                  <a:gd name="T0" fmla="*/ 2133 w 2189"/>
                  <a:gd name="T1" fmla="*/ 1597 h 1823"/>
                  <a:gd name="T2" fmla="*/ 1998 w 2189"/>
                  <a:gd name="T3" fmla="*/ 1676 h 1823"/>
                  <a:gd name="T4" fmla="*/ 1877 w 2189"/>
                  <a:gd name="T5" fmla="*/ 1730 h 1823"/>
                  <a:gd name="T6" fmla="*/ 1804 w 2189"/>
                  <a:gd name="T7" fmla="*/ 1755 h 1823"/>
                  <a:gd name="T8" fmla="*/ 1727 w 2189"/>
                  <a:gd name="T9" fmla="*/ 1778 h 1823"/>
                  <a:gd name="T10" fmla="*/ 1622 w 2189"/>
                  <a:gd name="T11" fmla="*/ 1802 h 1823"/>
                  <a:gd name="T12" fmla="*/ 1542 w 2189"/>
                  <a:gd name="T13" fmla="*/ 1814 h 1823"/>
                  <a:gd name="T14" fmla="*/ 1432 w 2189"/>
                  <a:gd name="T15" fmla="*/ 1822 h 1823"/>
                  <a:gd name="T16" fmla="*/ 1306 w 2189"/>
                  <a:gd name="T17" fmla="*/ 1822 h 1823"/>
                  <a:gd name="T18" fmla="*/ 1201 w 2189"/>
                  <a:gd name="T19" fmla="*/ 1813 h 1823"/>
                  <a:gd name="T20" fmla="*/ 1099 w 2189"/>
                  <a:gd name="T21" fmla="*/ 1796 h 1823"/>
                  <a:gd name="T22" fmla="*/ 999 w 2189"/>
                  <a:gd name="T23" fmla="*/ 1770 h 1823"/>
                  <a:gd name="T24" fmla="*/ 903 w 2189"/>
                  <a:gd name="T25" fmla="*/ 1740 h 1823"/>
                  <a:gd name="T26" fmla="*/ 810 w 2189"/>
                  <a:gd name="T27" fmla="*/ 1701 h 1823"/>
                  <a:gd name="T28" fmla="*/ 720 w 2189"/>
                  <a:gd name="T29" fmla="*/ 1658 h 1823"/>
                  <a:gd name="T30" fmla="*/ 634 w 2189"/>
                  <a:gd name="T31" fmla="*/ 1607 h 1823"/>
                  <a:gd name="T32" fmla="*/ 553 w 2189"/>
                  <a:gd name="T33" fmla="*/ 1549 h 1823"/>
                  <a:gd name="T34" fmla="*/ 476 w 2189"/>
                  <a:gd name="T35" fmla="*/ 1488 h 1823"/>
                  <a:gd name="T36" fmla="*/ 403 w 2189"/>
                  <a:gd name="T37" fmla="*/ 1420 h 1823"/>
                  <a:gd name="T38" fmla="*/ 337 w 2189"/>
                  <a:gd name="T39" fmla="*/ 1348 h 1823"/>
                  <a:gd name="T40" fmla="*/ 273 w 2189"/>
                  <a:gd name="T41" fmla="*/ 1270 h 1823"/>
                  <a:gd name="T42" fmla="*/ 218 w 2189"/>
                  <a:gd name="T43" fmla="*/ 1188 h 1823"/>
                  <a:gd name="T44" fmla="*/ 167 w 2189"/>
                  <a:gd name="T45" fmla="*/ 1103 h 1823"/>
                  <a:gd name="T46" fmla="*/ 122 w 2189"/>
                  <a:gd name="T47" fmla="*/ 1014 h 1823"/>
                  <a:gd name="T48" fmla="*/ 84 w 2189"/>
                  <a:gd name="T49" fmla="*/ 921 h 1823"/>
                  <a:gd name="T50" fmla="*/ 52 w 2189"/>
                  <a:gd name="T51" fmla="*/ 823 h 1823"/>
                  <a:gd name="T52" fmla="*/ 28 w 2189"/>
                  <a:gd name="T53" fmla="*/ 724 h 1823"/>
                  <a:gd name="T54" fmla="*/ 12 w 2189"/>
                  <a:gd name="T55" fmla="*/ 621 h 1823"/>
                  <a:gd name="T56" fmla="*/ 3 w 2189"/>
                  <a:gd name="T57" fmla="*/ 518 h 1823"/>
                  <a:gd name="T58" fmla="*/ 1 w 2189"/>
                  <a:gd name="T59" fmla="*/ 399 h 1823"/>
                  <a:gd name="T60" fmla="*/ 7 w 2189"/>
                  <a:gd name="T61" fmla="*/ 303 h 1823"/>
                  <a:gd name="T62" fmla="*/ 34 w 2189"/>
                  <a:gd name="T63" fmla="*/ 241 h 1823"/>
                  <a:gd name="T64" fmla="*/ 146 w 2189"/>
                  <a:gd name="T65" fmla="*/ 173 h 1823"/>
                  <a:gd name="T66" fmla="*/ 287 w 2189"/>
                  <a:gd name="T67" fmla="*/ 104 h 1823"/>
                  <a:gd name="T68" fmla="*/ 361 w 2189"/>
                  <a:gd name="T69" fmla="*/ 76 h 1823"/>
                  <a:gd name="T70" fmla="*/ 436 w 2189"/>
                  <a:gd name="T71" fmla="*/ 53 h 1823"/>
                  <a:gd name="T72" fmla="*/ 541 w 2189"/>
                  <a:gd name="T73" fmla="*/ 27 h 1823"/>
                  <a:gd name="T74" fmla="*/ 621 w 2189"/>
                  <a:gd name="T75" fmla="*/ 14 h 1823"/>
                  <a:gd name="T76" fmla="*/ 702 w 2189"/>
                  <a:gd name="T77" fmla="*/ 5 h 1823"/>
                  <a:gd name="T78" fmla="*/ 848 w 2189"/>
                  <a:gd name="T79" fmla="*/ 0 h 1823"/>
                  <a:gd name="T80" fmla="*/ 953 w 2189"/>
                  <a:gd name="T81" fmla="*/ 8 h 1823"/>
                  <a:gd name="T82" fmla="*/ 1057 w 2189"/>
                  <a:gd name="T83" fmla="*/ 21 h 1823"/>
                  <a:gd name="T84" fmla="*/ 1156 w 2189"/>
                  <a:gd name="T85" fmla="*/ 44 h 1823"/>
                  <a:gd name="T86" fmla="*/ 1254 w 2189"/>
                  <a:gd name="T87" fmla="*/ 73 h 1823"/>
                  <a:gd name="T88" fmla="*/ 1348 w 2189"/>
                  <a:gd name="T89" fmla="*/ 109 h 1823"/>
                  <a:gd name="T90" fmla="*/ 1438 w 2189"/>
                  <a:gd name="T91" fmla="*/ 151 h 1823"/>
                  <a:gd name="T92" fmla="*/ 1526 w 2189"/>
                  <a:gd name="T93" fmla="*/ 200 h 1823"/>
                  <a:gd name="T94" fmla="*/ 1610 w 2189"/>
                  <a:gd name="T95" fmla="*/ 255 h 1823"/>
                  <a:gd name="T96" fmla="*/ 1688 w 2189"/>
                  <a:gd name="T97" fmla="*/ 315 h 1823"/>
                  <a:gd name="T98" fmla="*/ 1762 w 2189"/>
                  <a:gd name="T99" fmla="*/ 381 h 1823"/>
                  <a:gd name="T100" fmla="*/ 1831 w 2189"/>
                  <a:gd name="T101" fmla="*/ 452 h 1823"/>
                  <a:gd name="T102" fmla="*/ 1895 w 2189"/>
                  <a:gd name="T103" fmla="*/ 527 h 1823"/>
                  <a:gd name="T104" fmla="*/ 1954 w 2189"/>
                  <a:gd name="T105" fmla="*/ 608 h 1823"/>
                  <a:gd name="T106" fmla="*/ 2007 w 2189"/>
                  <a:gd name="T107" fmla="*/ 692 h 1823"/>
                  <a:gd name="T108" fmla="*/ 2053 w 2189"/>
                  <a:gd name="T109" fmla="*/ 781 h 1823"/>
                  <a:gd name="T110" fmla="*/ 2094 w 2189"/>
                  <a:gd name="T111" fmla="*/ 873 h 1823"/>
                  <a:gd name="T112" fmla="*/ 2127 w 2189"/>
                  <a:gd name="T113" fmla="*/ 967 h 1823"/>
                  <a:gd name="T114" fmla="*/ 2154 w 2189"/>
                  <a:gd name="T115" fmla="*/ 1067 h 1823"/>
                  <a:gd name="T116" fmla="*/ 2172 w 2189"/>
                  <a:gd name="T117" fmla="*/ 1167 h 1823"/>
                  <a:gd name="T118" fmla="*/ 2184 w 2189"/>
                  <a:gd name="T119" fmla="*/ 1271 h 1823"/>
                  <a:gd name="T120" fmla="*/ 2189 w 2189"/>
                  <a:gd name="T121" fmla="*/ 1376 h 1823"/>
                  <a:gd name="T122" fmla="*/ 2186 w 2189"/>
                  <a:gd name="T123" fmla="*/ 1473 h 1823"/>
                  <a:gd name="T124" fmla="*/ 2175 w 2189"/>
                  <a:gd name="T125" fmla="*/ 1567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89" h="1823">
                    <a:moveTo>
                      <a:pt x="2175" y="1567"/>
                    </a:moveTo>
                    <a:lnTo>
                      <a:pt x="2154" y="1582"/>
                    </a:lnTo>
                    <a:lnTo>
                      <a:pt x="2133" y="1597"/>
                    </a:lnTo>
                    <a:lnTo>
                      <a:pt x="2089" y="1625"/>
                    </a:lnTo>
                    <a:lnTo>
                      <a:pt x="2044" y="1652"/>
                    </a:lnTo>
                    <a:lnTo>
                      <a:pt x="1998" y="1676"/>
                    </a:lnTo>
                    <a:lnTo>
                      <a:pt x="1951" y="1698"/>
                    </a:lnTo>
                    <a:lnTo>
                      <a:pt x="1903" y="1719"/>
                    </a:lnTo>
                    <a:lnTo>
                      <a:pt x="1877" y="1730"/>
                    </a:lnTo>
                    <a:lnTo>
                      <a:pt x="1853" y="1739"/>
                    </a:lnTo>
                    <a:lnTo>
                      <a:pt x="1828" y="1748"/>
                    </a:lnTo>
                    <a:lnTo>
                      <a:pt x="1804" y="1755"/>
                    </a:lnTo>
                    <a:lnTo>
                      <a:pt x="1778" y="1764"/>
                    </a:lnTo>
                    <a:lnTo>
                      <a:pt x="1753" y="1772"/>
                    </a:lnTo>
                    <a:lnTo>
                      <a:pt x="1727" y="1778"/>
                    </a:lnTo>
                    <a:lnTo>
                      <a:pt x="1701" y="1785"/>
                    </a:lnTo>
                    <a:lnTo>
                      <a:pt x="1649" y="1796"/>
                    </a:lnTo>
                    <a:lnTo>
                      <a:pt x="1622" y="1802"/>
                    </a:lnTo>
                    <a:lnTo>
                      <a:pt x="1595" y="1807"/>
                    </a:lnTo>
                    <a:lnTo>
                      <a:pt x="1569" y="1810"/>
                    </a:lnTo>
                    <a:lnTo>
                      <a:pt x="1542" y="1814"/>
                    </a:lnTo>
                    <a:lnTo>
                      <a:pt x="1515" y="1817"/>
                    </a:lnTo>
                    <a:lnTo>
                      <a:pt x="1487" y="1819"/>
                    </a:lnTo>
                    <a:lnTo>
                      <a:pt x="1432" y="1822"/>
                    </a:lnTo>
                    <a:lnTo>
                      <a:pt x="1377" y="1823"/>
                    </a:lnTo>
                    <a:lnTo>
                      <a:pt x="1341" y="1823"/>
                    </a:lnTo>
                    <a:lnTo>
                      <a:pt x="1306" y="1822"/>
                    </a:lnTo>
                    <a:lnTo>
                      <a:pt x="1270" y="1820"/>
                    </a:lnTo>
                    <a:lnTo>
                      <a:pt x="1236" y="1816"/>
                    </a:lnTo>
                    <a:lnTo>
                      <a:pt x="1201" y="1813"/>
                    </a:lnTo>
                    <a:lnTo>
                      <a:pt x="1166" y="1808"/>
                    </a:lnTo>
                    <a:lnTo>
                      <a:pt x="1133" y="1802"/>
                    </a:lnTo>
                    <a:lnTo>
                      <a:pt x="1099" y="1796"/>
                    </a:lnTo>
                    <a:lnTo>
                      <a:pt x="1066" y="1788"/>
                    </a:lnTo>
                    <a:lnTo>
                      <a:pt x="1033" y="1779"/>
                    </a:lnTo>
                    <a:lnTo>
                      <a:pt x="999" y="1770"/>
                    </a:lnTo>
                    <a:lnTo>
                      <a:pt x="968" y="1761"/>
                    </a:lnTo>
                    <a:lnTo>
                      <a:pt x="935" y="1751"/>
                    </a:lnTo>
                    <a:lnTo>
                      <a:pt x="903" y="1740"/>
                    </a:lnTo>
                    <a:lnTo>
                      <a:pt x="872" y="1728"/>
                    </a:lnTo>
                    <a:lnTo>
                      <a:pt x="840" y="1715"/>
                    </a:lnTo>
                    <a:lnTo>
                      <a:pt x="810" y="1701"/>
                    </a:lnTo>
                    <a:lnTo>
                      <a:pt x="780" y="1688"/>
                    </a:lnTo>
                    <a:lnTo>
                      <a:pt x="750" y="1673"/>
                    </a:lnTo>
                    <a:lnTo>
                      <a:pt x="720" y="1658"/>
                    </a:lnTo>
                    <a:lnTo>
                      <a:pt x="691" y="1641"/>
                    </a:lnTo>
                    <a:lnTo>
                      <a:pt x="663" y="1625"/>
                    </a:lnTo>
                    <a:lnTo>
                      <a:pt x="634" y="1607"/>
                    </a:lnTo>
                    <a:lnTo>
                      <a:pt x="607" y="1588"/>
                    </a:lnTo>
                    <a:lnTo>
                      <a:pt x="580" y="1569"/>
                    </a:lnTo>
                    <a:lnTo>
                      <a:pt x="553" y="1549"/>
                    </a:lnTo>
                    <a:lnTo>
                      <a:pt x="527" y="1530"/>
                    </a:lnTo>
                    <a:lnTo>
                      <a:pt x="500" y="1509"/>
                    </a:lnTo>
                    <a:lnTo>
                      <a:pt x="476" y="1488"/>
                    </a:lnTo>
                    <a:lnTo>
                      <a:pt x="451" y="1465"/>
                    </a:lnTo>
                    <a:lnTo>
                      <a:pt x="427" y="1443"/>
                    </a:lnTo>
                    <a:lnTo>
                      <a:pt x="403" y="1420"/>
                    </a:lnTo>
                    <a:lnTo>
                      <a:pt x="380" y="1396"/>
                    </a:lnTo>
                    <a:lnTo>
                      <a:pt x="358" y="1372"/>
                    </a:lnTo>
                    <a:lnTo>
                      <a:pt x="337" y="1348"/>
                    </a:lnTo>
                    <a:lnTo>
                      <a:pt x="314" y="1322"/>
                    </a:lnTo>
                    <a:lnTo>
                      <a:pt x="294" y="1297"/>
                    </a:lnTo>
                    <a:lnTo>
                      <a:pt x="273" y="1270"/>
                    </a:lnTo>
                    <a:lnTo>
                      <a:pt x="254" y="1244"/>
                    </a:lnTo>
                    <a:lnTo>
                      <a:pt x="236" y="1217"/>
                    </a:lnTo>
                    <a:lnTo>
                      <a:pt x="218" y="1188"/>
                    </a:lnTo>
                    <a:lnTo>
                      <a:pt x="200" y="1160"/>
                    </a:lnTo>
                    <a:lnTo>
                      <a:pt x="183" y="1131"/>
                    </a:lnTo>
                    <a:lnTo>
                      <a:pt x="167" y="1103"/>
                    </a:lnTo>
                    <a:lnTo>
                      <a:pt x="150" y="1074"/>
                    </a:lnTo>
                    <a:lnTo>
                      <a:pt x="137" y="1044"/>
                    </a:lnTo>
                    <a:lnTo>
                      <a:pt x="122" y="1014"/>
                    </a:lnTo>
                    <a:lnTo>
                      <a:pt x="108" y="982"/>
                    </a:lnTo>
                    <a:lnTo>
                      <a:pt x="96" y="951"/>
                    </a:lnTo>
                    <a:lnTo>
                      <a:pt x="84" y="921"/>
                    </a:lnTo>
                    <a:lnTo>
                      <a:pt x="72" y="888"/>
                    </a:lnTo>
                    <a:lnTo>
                      <a:pt x="61" y="856"/>
                    </a:lnTo>
                    <a:lnTo>
                      <a:pt x="52" y="823"/>
                    </a:lnTo>
                    <a:lnTo>
                      <a:pt x="43" y="791"/>
                    </a:lnTo>
                    <a:lnTo>
                      <a:pt x="36" y="758"/>
                    </a:lnTo>
                    <a:lnTo>
                      <a:pt x="28" y="724"/>
                    </a:lnTo>
                    <a:lnTo>
                      <a:pt x="22" y="691"/>
                    </a:lnTo>
                    <a:lnTo>
                      <a:pt x="16" y="656"/>
                    </a:lnTo>
                    <a:lnTo>
                      <a:pt x="12" y="621"/>
                    </a:lnTo>
                    <a:lnTo>
                      <a:pt x="7" y="587"/>
                    </a:lnTo>
                    <a:lnTo>
                      <a:pt x="4" y="552"/>
                    </a:lnTo>
                    <a:lnTo>
                      <a:pt x="3" y="518"/>
                    </a:lnTo>
                    <a:lnTo>
                      <a:pt x="1" y="482"/>
                    </a:lnTo>
                    <a:lnTo>
                      <a:pt x="0" y="447"/>
                    </a:lnTo>
                    <a:lnTo>
                      <a:pt x="1" y="399"/>
                    </a:lnTo>
                    <a:lnTo>
                      <a:pt x="3" y="375"/>
                    </a:lnTo>
                    <a:lnTo>
                      <a:pt x="4" y="351"/>
                    </a:lnTo>
                    <a:lnTo>
                      <a:pt x="7" y="303"/>
                    </a:lnTo>
                    <a:lnTo>
                      <a:pt x="10" y="280"/>
                    </a:lnTo>
                    <a:lnTo>
                      <a:pt x="13" y="256"/>
                    </a:lnTo>
                    <a:lnTo>
                      <a:pt x="34" y="241"/>
                    </a:lnTo>
                    <a:lnTo>
                      <a:pt x="57" y="226"/>
                    </a:lnTo>
                    <a:lnTo>
                      <a:pt x="101" y="199"/>
                    </a:lnTo>
                    <a:lnTo>
                      <a:pt x="146" y="173"/>
                    </a:lnTo>
                    <a:lnTo>
                      <a:pt x="191" y="148"/>
                    </a:lnTo>
                    <a:lnTo>
                      <a:pt x="239" y="125"/>
                    </a:lnTo>
                    <a:lnTo>
                      <a:pt x="287" y="104"/>
                    </a:lnTo>
                    <a:lnTo>
                      <a:pt x="311" y="95"/>
                    </a:lnTo>
                    <a:lnTo>
                      <a:pt x="335" y="85"/>
                    </a:lnTo>
                    <a:lnTo>
                      <a:pt x="361" y="76"/>
                    </a:lnTo>
                    <a:lnTo>
                      <a:pt x="386" y="68"/>
                    </a:lnTo>
                    <a:lnTo>
                      <a:pt x="412" y="61"/>
                    </a:lnTo>
                    <a:lnTo>
                      <a:pt x="436" y="53"/>
                    </a:lnTo>
                    <a:lnTo>
                      <a:pt x="463" y="45"/>
                    </a:lnTo>
                    <a:lnTo>
                      <a:pt x="488" y="39"/>
                    </a:lnTo>
                    <a:lnTo>
                      <a:pt x="541" y="27"/>
                    </a:lnTo>
                    <a:lnTo>
                      <a:pt x="567" y="23"/>
                    </a:lnTo>
                    <a:lnTo>
                      <a:pt x="594" y="18"/>
                    </a:lnTo>
                    <a:lnTo>
                      <a:pt x="621" y="14"/>
                    </a:lnTo>
                    <a:lnTo>
                      <a:pt x="648" y="11"/>
                    </a:lnTo>
                    <a:lnTo>
                      <a:pt x="675" y="8"/>
                    </a:lnTo>
                    <a:lnTo>
                      <a:pt x="702" y="5"/>
                    </a:lnTo>
                    <a:lnTo>
                      <a:pt x="757" y="2"/>
                    </a:lnTo>
                    <a:lnTo>
                      <a:pt x="813" y="0"/>
                    </a:lnTo>
                    <a:lnTo>
                      <a:pt x="848" y="0"/>
                    </a:lnTo>
                    <a:lnTo>
                      <a:pt x="884" y="2"/>
                    </a:lnTo>
                    <a:lnTo>
                      <a:pt x="918" y="5"/>
                    </a:lnTo>
                    <a:lnTo>
                      <a:pt x="953" y="8"/>
                    </a:lnTo>
                    <a:lnTo>
                      <a:pt x="987" y="11"/>
                    </a:lnTo>
                    <a:lnTo>
                      <a:pt x="1022" y="17"/>
                    </a:lnTo>
                    <a:lnTo>
                      <a:pt x="1057" y="21"/>
                    </a:lnTo>
                    <a:lnTo>
                      <a:pt x="1090" y="29"/>
                    </a:lnTo>
                    <a:lnTo>
                      <a:pt x="1123" y="35"/>
                    </a:lnTo>
                    <a:lnTo>
                      <a:pt x="1156" y="44"/>
                    </a:lnTo>
                    <a:lnTo>
                      <a:pt x="1189" y="53"/>
                    </a:lnTo>
                    <a:lnTo>
                      <a:pt x="1222" y="62"/>
                    </a:lnTo>
                    <a:lnTo>
                      <a:pt x="1254" y="73"/>
                    </a:lnTo>
                    <a:lnTo>
                      <a:pt x="1285" y="85"/>
                    </a:lnTo>
                    <a:lnTo>
                      <a:pt x="1317" y="95"/>
                    </a:lnTo>
                    <a:lnTo>
                      <a:pt x="1348" y="109"/>
                    </a:lnTo>
                    <a:lnTo>
                      <a:pt x="1378" y="122"/>
                    </a:lnTo>
                    <a:lnTo>
                      <a:pt x="1408" y="136"/>
                    </a:lnTo>
                    <a:lnTo>
                      <a:pt x="1438" y="151"/>
                    </a:lnTo>
                    <a:lnTo>
                      <a:pt x="1468" y="166"/>
                    </a:lnTo>
                    <a:lnTo>
                      <a:pt x="1497" y="182"/>
                    </a:lnTo>
                    <a:lnTo>
                      <a:pt x="1526" y="200"/>
                    </a:lnTo>
                    <a:lnTo>
                      <a:pt x="1554" y="217"/>
                    </a:lnTo>
                    <a:lnTo>
                      <a:pt x="1581" y="235"/>
                    </a:lnTo>
                    <a:lnTo>
                      <a:pt x="1610" y="255"/>
                    </a:lnTo>
                    <a:lnTo>
                      <a:pt x="1635" y="274"/>
                    </a:lnTo>
                    <a:lnTo>
                      <a:pt x="1662" y="294"/>
                    </a:lnTo>
                    <a:lnTo>
                      <a:pt x="1688" y="315"/>
                    </a:lnTo>
                    <a:lnTo>
                      <a:pt x="1714" y="336"/>
                    </a:lnTo>
                    <a:lnTo>
                      <a:pt x="1738" y="358"/>
                    </a:lnTo>
                    <a:lnTo>
                      <a:pt x="1762" y="381"/>
                    </a:lnTo>
                    <a:lnTo>
                      <a:pt x="1786" y="403"/>
                    </a:lnTo>
                    <a:lnTo>
                      <a:pt x="1808" y="427"/>
                    </a:lnTo>
                    <a:lnTo>
                      <a:pt x="1831" y="452"/>
                    </a:lnTo>
                    <a:lnTo>
                      <a:pt x="1853" y="476"/>
                    </a:lnTo>
                    <a:lnTo>
                      <a:pt x="1874" y="501"/>
                    </a:lnTo>
                    <a:lnTo>
                      <a:pt x="1895" y="527"/>
                    </a:lnTo>
                    <a:lnTo>
                      <a:pt x="1915" y="554"/>
                    </a:lnTo>
                    <a:lnTo>
                      <a:pt x="1934" y="579"/>
                    </a:lnTo>
                    <a:lnTo>
                      <a:pt x="1954" y="608"/>
                    </a:lnTo>
                    <a:lnTo>
                      <a:pt x="1972" y="635"/>
                    </a:lnTo>
                    <a:lnTo>
                      <a:pt x="1989" y="664"/>
                    </a:lnTo>
                    <a:lnTo>
                      <a:pt x="2007" y="692"/>
                    </a:lnTo>
                    <a:lnTo>
                      <a:pt x="2023" y="721"/>
                    </a:lnTo>
                    <a:lnTo>
                      <a:pt x="2038" y="751"/>
                    </a:lnTo>
                    <a:lnTo>
                      <a:pt x="2053" y="781"/>
                    </a:lnTo>
                    <a:lnTo>
                      <a:pt x="2067" y="811"/>
                    </a:lnTo>
                    <a:lnTo>
                      <a:pt x="2080" y="841"/>
                    </a:lnTo>
                    <a:lnTo>
                      <a:pt x="2094" y="873"/>
                    </a:lnTo>
                    <a:lnTo>
                      <a:pt x="2104" y="904"/>
                    </a:lnTo>
                    <a:lnTo>
                      <a:pt x="2116" y="936"/>
                    </a:lnTo>
                    <a:lnTo>
                      <a:pt x="2127" y="967"/>
                    </a:lnTo>
                    <a:lnTo>
                      <a:pt x="2136" y="1000"/>
                    </a:lnTo>
                    <a:lnTo>
                      <a:pt x="2145" y="1034"/>
                    </a:lnTo>
                    <a:lnTo>
                      <a:pt x="2154" y="1067"/>
                    </a:lnTo>
                    <a:lnTo>
                      <a:pt x="2160" y="1100"/>
                    </a:lnTo>
                    <a:lnTo>
                      <a:pt x="2167" y="1133"/>
                    </a:lnTo>
                    <a:lnTo>
                      <a:pt x="2172" y="1167"/>
                    </a:lnTo>
                    <a:lnTo>
                      <a:pt x="2178" y="1202"/>
                    </a:lnTo>
                    <a:lnTo>
                      <a:pt x="2181" y="1237"/>
                    </a:lnTo>
                    <a:lnTo>
                      <a:pt x="2184" y="1271"/>
                    </a:lnTo>
                    <a:lnTo>
                      <a:pt x="2187" y="1306"/>
                    </a:lnTo>
                    <a:lnTo>
                      <a:pt x="2189" y="1342"/>
                    </a:lnTo>
                    <a:lnTo>
                      <a:pt x="2189" y="1376"/>
                    </a:lnTo>
                    <a:lnTo>
                      <a:pt x="2187" y="1426"/>
                    </a:lnTo>
                    <a:lnTo>
                      <a:pt x="2187" y="1449"/>
                    </a:lnTo>
                    <a:lnTo>
                      <a:pt x="2186" y="1473"/>
                    </a:lnTo>
                    <a:lnTo>
                      <a:pt x="2181" y="1521"/>
                    </a:lnTo>
                    <a:lnTo>
                      <a:pt x="2178" y="1545"/>
                    </a:lnTo>
                    <a:lnTo>
                      <a:pt x="2175" y="1567"/>
                    </a:lnTo>
                    <a:close/>
                  </a:path>
                </a:pathLst>
              </a:custGeom>
              <a:solidFill>
                <a:srgbClr val="D6DBFE"/>
              </a:solidFill>
              <a:ln w="6350">
                <a:solidFill>
                  <a:srgbClr val="7889FB"/>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07" name="Freeform 13"/>
              <p:cNvSpPr/>
              <p:nvPr/>
            </p:nvSpPr>
            <p:spPr bwMode="auto">
              <a:xfrm>
                <a:off x="4356" y="2352"/>
                <a:ext cx="896" cy="747"/>
              </a:xfrm>
              <a:custGeom>
                <a:avLst/>
                <a:gdLst>
                  <a:gd name="T0" fmla="*/ 2088 w 2189"/>
                  <a:gd name="T1" fmla="*/ 1625 h 1823"/>
                  <a:gd name="T2" fmla="*/ 1901 w 2189"/>
                  <a:gd name="T3" fmla="*/ 1719 h 1823"/>
                  <a:gd name="T4" fmla="*/ 1753 w 2189"/>
                  <a:gd name="T5" fmla="*/ 1770 h 1823"/>
                  <a:gd name="T6" fmla="*/ 1649 w 2189"/>
                  <a:gd name="T7" fmla="*/ 1796 h 1823"/>
                  <a:gd name="T8" fmla="*/ 1487 w 2189"/>
                  <a:gd name="T9" fmla="*/ 1819 h 1823"/>
                  <a:gd name="T10" fmla="*/ 1306 w 2189"/>
                  <a:gd name="T11" fmla="*/ 1822 h 1823"/>
                  <a:gd name="T12" fmla="*/ 1166 w 2189"/>
                  <a:gd name="T13" fmla="*/ 1808 h 1823"/>
                  <a:gd name="T14" fmla="*/ 1033 w 2189"/>
                  <a:gd name="T15" fmla="*/ 1779 h 1823"/>
                  <a:gd name="T16" fmla="*/ 903 w 2189"/>
                  <a:gd name="T17" fmla="*/ 1740 h 1823"/>
                  <a:gd name="T18" fmla="*/ 780 w 2189"/>
                  <a:gd name="T19" fmla="*/ 1688 h 1823"/>
                  <a:gd name="T20" fmla="*/ 663 w 2189"/>
                  <a:gd name="T21" fmla="*/ 1625 h 1823"/>
                  <a:gd name="T22" fmla="*/ 553 w 2189"/>
                  <a:gd name="T23" fmla="*/ 1549 h 1823"/>
                  <a:gd name="T24" fmla="*/ 451 w 2189"/>
                  <a:gd name="T25" fmla="*/ 1465 h 1823"/>
                  <a:gd name="T26" fmla="*/ 358 w 2189"/>
                  <a:gd name="T27" fmla="*/ 1372 h 1823"/>
                  <a:gd name="T28" fmla="*/ 273 w 2189"/>
                  <a:gd name="T29" fmla="*/ 1270 h 1823"/>
                  <a:gd name="T30" fmla="*/ 200 w 2189"/>
                  <a:gd name="T31" fmla="*/ 1160 h 1823"/>
                  <a:gd name="T32" fmla="*/ 135 w 2189"/>
                  <a:gd name="T33" fmla="*/ 1044 h 1823"/>
                  <a:gd name="T34" fmla="*/ 84 w 2189"/>
                  <a:gd name="T35" fmla="*/ 919 h 1823"/>
                  <a:gd name="T36" fmla="*/ 43 w 2189"/>
                  <a:gd name="T37" fmla="*/ 790 h 1823"/>
                  <a:gd name="T38" fmla="*/ 16 w 2189"/>
                  <a:gd name="T39" fmla="*/ 656 h 1823"/>
                  <a:gd name="T40" fmla="*/ 1 w 2189"/>
                  <a:gd name="T41" fmla="*/ 518 h 1823"/>
                  <a:gd name="T42" fmla="*/ 3 w 2189"/>
                  <a:gd name="T43" fmla="*/ 351 h 1823"/>
                  <a:gd name="T44" fmla="*/ 13 w 2189"/>
                  <a:gd name="T45" fmla="*/ 256 h 1823"/>
                  <a:gd name="T46" fmla="*/ 191 w 2189"/>
                  <a:gd name="T47" fmla="*/ 148 h 1823"/>
                  <a:gd name="T48" fmla="*/ 386 w 2189"/>
                  <a:gd name="T49" fmla="*/ 68 h 1823"/>
                  <a:gd name="T50" fmla="*/ 488 w 2189"/>
                  <a:gd name="T51" fmla="*/ 38 h 1823"/>
                  <a:gd name="T52" fmla="*/ 594 w 2189"/>
                  <a:gd name="T53" fmla="*/ 17 h 1823"/>
                  <a:gd name="T54" fmla="*/ 812 w 2189"/>
                  <a:gd name="T55" fmla="*/ 0 h 1823"/>
                  <a:gd name="T56" fmla="*/ 953 w 2189"/>
                  <a:gd name="T57" fmla="*/ 8 h 1823"/>
                  <a:gd name="T58" fmla="*/ 1090 w 2189"/>
                  <a:gd name="T59" fmla="*/ 27 h 1823"/>
                  <a:gd name="T60" fmla="*/ 1222 w 2189"/>
                  <a:gd name="T61" fmla="*/ 62 h 1823"/>
                  <a:gd name="T62" fmla="*/ 1348 w 2189"/>
                  <a:gd name="T63" fmla="*/ 109 h 1823"/>
                  <a:gd name="T64" fmla="*/ 1468 w 2189"/>
                  <a:gd name="T65" fmla="*/ 166 h 1823"/>
                  <a:gd name="T66" fmla="*/ 1581 w 2189"/>
                  <a:gd name="T67" fmla="*/ 235 h 1823"/>
                  <a:gd name="T68" fmla="*/ 1688 w 2189"/>
                  <a:gd name="T69" fmla="*/ 315 h 1823"/>
                  <a:gd name="T70" fmla="*/ 1786 w 2189"/>
                  <a:gd name="T71" fmla="*/ 403 h 1823"/>
                  <a:gd name="T72" fmla="*/ 1874 w 2189"/>
                  <a:gd name="T73" fmla="*/ 501 h 1823"/>
                  <a:gd name="T74" fmla="*/ 1954 w 2189"/>
                  <a:gd name="T75" fmla="*/ 606 h 1823"/>
                  <a:gd name="T76" fmla="*/ 2022 w 2189"/>
                  <a:gd name="T77" fmla="*/ 721 h 1823"/>
                  <a:gd name="T78" fmla="*/ 2080 w 2189"/>
                  <a:gd name="T79" fmla="*/ 841 h 1823"/>
                  <a:gd name="T80" fmla="*/ 2127 w 2189"/>
                  <a:gd name="T81" fmla="*/ 967 h 1823"/>
                  <a:gd name="T82" fmla="*/ 2160 w 2189"/>
                  <a:gd name="T83" fmla="*/ 1100 h 1823"/>
                  <a:gd name="T84" fmla="*/ 2181 w 2189"/>
                  <a:gd name="T85" fmla="*/ 1237 h 1823"/>
                  <a:gd name="T86" fmla="*/ 2189 w 2189"/>
                  <a:gd name="T87" fmla="*/ 1376 h 1823"/>
                  <a:gd name="T88" fmla="*/ 2181 w 2189"/>
                  <a:gd name="T89" fmla="*/ 1521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89" h="1823">
                    <a:moveTo>
                      <a:pt x="2175" y="1567"/>
                    </a:moveTo>
                    <a:lnTo>
                      <a:pt x="2088" y="1625"/>
                    </a:lnTo>
                    <a:lnTo>
                      <a:pt x="1998" y="1676"/>
                    </a:lnTo>
                    <a:lnTo>
                      <a:pt x="1901" y="1719"/>
                    </a:lnTo>
                    <a:lnTo>
                      <a:pt x="1804" y="1755"/>
                    </a:lnTo>
                    <a:lnTo>
                      <a:pt x="1753" y="1770"/>
                    </a:lnTo>
                    <a:lnTo>
                      <a:pt x="1700" y="1784"/>
                    </a:lnTo>
                    <a:lnTo>
                      <a:pt x="1649" y="1796"/>
                    </a:lnTo>
                    <a:lnTo>
                      <a:pt x="1595" y="1807"/>
                    </a:lnTo>
                    <a:lnTo>
                      <a:pt x="1487" y="1819"/>
                    </a:lnTo>
                    <a:lnTo>
                      <a:pt x="1377" y="1823"/>
                    </a:lnTo>
                    <a:lnTo>
                      <a:pt x="1306" y="1822"/>
                    </a:lnTo>
                    <a:lnTo>
                      <a:pt x="1236" y="1816"/>
                    </a:lnTo>
                    <a:lnTo>
                      <a:pt x="1166" y="1808"/>
                    </a:lnTo>
                    <a:lnTo>
                      <a:pt x="1099" y="1795"/>
                    </a:lnTo>
                    <a:lnTo>
                      <a:pt x="1033" y="1779"/>
                    </a:lnTo>
                    <a:lnTo>
                      <a:pt x="966" y="1761"/>
                    </a:lnTo>
                    <a:lnTo>
                      <a:pt x="903" y="1740"/>
                    </a:lnTo>
                    <a:lnTo>
                      <a:pt x="840" y="1715"/>
                    </a:lnTo>
                    <a:lnTo>
                      <a:pt x="780" y="1688"/>
                    </a:lnTo>
                    <a:lnTo>
                      <a:pt x="720" y="1658"/>
                    </a:lnTo>
                    <a:lnTo>
                      <a:pt x="663" y="1625"/>
                    </a:lnTo>
                    <a:lnTo>
                      <a:pt x="607" y="1588"/>
                    </a:lnTo>
                    <a:lnTo>
                      <a:pt x="553" y="1549"/>
                    </a:lnTo>
                    <a:lnTo>
                      <a:pt x="500" y="1509"/>
                    </a:lnTo>
                    <a:lnTo>
                      <a:pt x="451" y="1465"/>
                    </a:lnTo>
                    <a:lnTo>
                      <a:pt x="403" y="1420"/>
                    </a:lnTo>
                    <a:lnTo>
                      <a:pt x="358" y="1372"/>
                    </a:lnTo>
                    <a:lnTo>
                      <a:pt x="314" y="1322"/>
                    </a:lnTo>
                    <a:lnTo>
                      <a:pt x="273" y="1270"/>
                    </a:lnTo>
                    <a:lnTo>
                      <a:pt x="236" y="1216"/>
                    </a:lnTo>
                    <a:lnTo>
                      <a:pt x="200" y="1160"/>
                    </a:lnTo>
                    <a:lnTo>
                      <a:pt x="167" y="1103"/>
                    </a:lnTo>
                    <a:lnTo>
                      <a:pt x="135" y="1044"/>
                    </a:lnTo>
                    <a:lnTo>
                      <a:pt x="108" y="982"/>
                    </a:lnTo>
                    <a:lnTo>
                      <a:pt x="84" y="919"/>
                    </a:lnTo>
                    <a:lnTo>
                      <a:pt x="61" y="856"/>
                    </a:lnTo>
                    <a:lnTo>
                      <a:pt x="43" y="790"/>
                    </a:lnTo>
                    <a:lnTo>
                      <a:pt x="28" y="724"/>
                    </a:lnTo>
                    <a:lnTo>
                      <a:pt x="16" y="656"/>
                    </a:lnTo>
                    <a:lnTo>
                      <a:pt x="7" y="587"/>
                    </a:lnTo>
                    <a:lnTo>
                      <a:pt x="1" y="518"/>
                    </a:lnTo>
                    <a:lnTo>
                      <a:pt x="0" y="447"/>
                    </a:lnTo>
                    <a:lnTo>
                      <a:pt x="3" y="351"/>
                    </a:lnTo>
                    <a:lnTo>
                      <a:pt x="7" y="303"/>
                    </a:lnTo>
                    <a:lnTo>
                      <a:pt x="13" y="256"/>
                    </a:lnTo>
                    <a:lnTo>
                      <a:pt x="101" y="199"/>
                    </a:lnTo>
                    <a:lnTo>
                      <a:pt x="191" y="148"/>
                    </a:lnTo>
                    <a:lnTo>
                      <a:pt x="287" y="104"/>
                    </a:lnTo>
                    <a:lnTo>
                      <a:pt x="386" y="68"/>
                    </a:lnTo>
                    <a:lnTo>
                      <a:pt x="436" y="52"/>
                    </a:lnTo>
                    <a:lnTo>
                      <a:pt x="488" y="38"/>
                    </a:lnTo>
                    <a:lnTo>
                      <a:pt x="541" y="27"/>
                    </a:lnTo>
                    <a:lnTo>
                      <a:pt x="594" y="17"/>
                    </a:lnTo>
                    <a:lnTo>
                      <a:pt x="702" y="5"/>
                    </a:lnTo>
                    <a:lnTo>
                      <a:pt x="812" y="0"/>
                    </a:lnTo>
                    <a:lnTo>
                      <a:pt x="884" y="2"/>
                    </a:lnTo>
                    <a:lnTo>
                      <a:pt x="953" y="8"/>
                    </a:lnTo>
                    <a:lnTo>
                      <a:pt x="1022" y="15"/>
                    </a:lnTo>
                    <a:lnTo>
                      <a:pt x="1090" y="27"/>
                    </a:lnTo>
                    <a:lnTo>
                      <a:pt x="1156" y="44"/>
                    </a:lnTo>
                    <a:lnTo>
                      <a:pt x="1222" y="62"/>
                    </a:lnTo>
                    <a:lnTo>
                      <a:pt x="1285" y="83"/>
                    </a:lnTo>
                    <a:lnTo>
                      <a:pt x="1348" y="109"/>
                    </a:lnTo>
                    <a:lnTo>
                      <a:pt x="1408" y="136"/>
                    </a:lnTo>
                    <a:lnTo>
                      <a:pt x="1468" y="166"/>
                    </a:lnTo>
                    <a:lnTo>
                      <a:pt x="1526" y="199"/>
                    </a:lnTo>
                    <a:lnTo>
                      <a:pt x="1581" y="235"/>
                    </a:lnTo>
                    <a:lnTo>
                      <a:pt x="1635" y="274"/>
                    </a:lnTo>
                    <a:lnTo>
                      <a:pt x="1688" y="315"/>
                    </a:lnTo>
                    <a:lnTo>
                      <a:pt x="1738" y="358"/>
                    </a:lnTo>
                    <a:lnTo>
                      <a:pt x="1786" y="403"/>
                    </a:lnTo>
                    <a:lnTo>
                      <a:pt x="1831" y="452"/>
                    </a:lnTo>
                    <a:lnTo>
                      <a:pt x="1874" y="501"/>
                    </a:lnTo>
                    <a:lnTo>
                      <a:pt x="1915" y="554"/>
                    </a:lnTo>
                    <a:lnTo>
                      <a:pt x="1954" y="606"/>
                    </a:lnTo>
                    <a:lnTo>
                      <a:pt x="1989" y="664"/>
                    </a:lnTo>
                    <a:lnTo>
                      <a:pt x="2022" y="721"/>
                    </a:lnTo>
                    <a:lnTo>
                      <a:pt x="2053" y="779"/>
                    </a:lnTo>
                    <a:lnTo>
                      <a:pt x="2080" y="841"/>
                    </a:lnTo>
                    <a:lnTo>
                      <a:pt x="2104" y="904"/>
                    </a:lnTo>
                    <a:lnTo>
                      <a:pt x="2127" y="967"/>
                    </a:lnTo>
                    <a:lnTo>
                      <a:pt x="2145" y="1032"/>
                    </a:lnTo>
                    <a:lnTo>
                      <a:pt x="2160" y="1100"/>
                    </a:lnTo>
                    <a:lnTo>
                      <a:pt x="2172" y="1167"/>
                    </a:lnTo>
                    <a:lnTo>
                      <a:pt x="2181" y="1237"/>
                    </a:lnTo>
                    <a:lnTo>
                      <a:pt x="2187" y="1306"/>
                    </a:lnTo>
                    <a:lnTo>
                      <a:pt x="2189" y="1376"/>
                    </a:lnTo>
                    <a:lnTo>
                      <a:pt x="2186" y="1473"/>
                    </a:lnTo>
                    <a:lnTo>
                      <a:pt x="2181" y="1521"/>
                    </a:lnTo>
                    <a:lnTo>
                      <a:pt x="2175" y="1567"/>
                    </a:lnTo>
                  </a:path>
                </a:pathLst>
              </a:custGeom>
              <a:noFill/>
              <a:ln w="6350">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08" name="Freeform 14"/>
              <p:cNvSpPr/>
              <p:nvPr/>
            </p:nvSpPr>
            <p:spPr bwMode="auto">
              <a:xfrm>
                <a:off x="4598" y="2352"/>
                <a:ext cx="885" cy="747"/>
              </a:xfrm>
              <a:custGeom>
                <a:avLst/>
                <a:gdLst>
                  <a:gd name="T0" fmla="*/ 2160 w 2161"/>
                  <a:gd name="T1" fmla="*/ 518 h 1823"/>
                  <a:gd name="T2" fmla="*/ 2151 w 2161"/>
                  <a:gd name="T3" fmla="*/ 621 h 1823"/>
                  <a:gd name="T4" fmla="*/ 2134 w 2161"/>
                  <a:gd name="T5" fmla="*/ 724 h 1823"/>
                  <a:gd name="T6" fmla="*/ 2109 w 2161"/>
                  <a:gd name="T7" fmla="*/ 823 h 1823"/>
                  <a:gd name="T8" fmla="*/ 2079 w 2161"/>
                  <a:gd name="T9" fmla="*/ 921 h 1823"/>
                  <a:gd name="T10" fmla="*/ 2039 w 2161"/>
                  <a:gd name="T11" fmla="*/ 1014 h 1823"/>
                  <a:gd name="T12" fmla="*/ 1996 w 2161"/>
                  <a:gd name="T13" fmla="*/ 1103 h 1823"/>
                  <a:gd name="T14" fmla="*/ 1945 w 2161"/>
                  <a:gd name="T15" fmla="*/ 1188 h 1823"/>
                  <a:gd name="T16" fmla="*/ 1888 w 2161"/>
                  <a:gd name="T17" fmla="*/ 1270 h 1823"/>
                  <a:gd name="T18" fmla="*/ 1826 w 2161"/>
                  <a:gd name="T19" fmla="*/ 1348 h 1823"/>
                  <a:gd name="T20" fmla="*/ 1758 w 2161"/>
                  <a:gd name="T21" fmla="*/ 1420 h 1823"/>
                  <a:gd name="T22" fmla="*/ 1686 w 2161"/>
                  <a:gd name="T23" fmla="*/ 1488 h 1823"/>
                  <a:gd name="T24" fmla="*/ 1608 w 2161"/>
                  <a:gd name="T25" fmla="*/ 1549 h 1823"/>
                  <a:gd name="T26" fmla="*/ 1527 w 2161"/>
                  <a:gd name="T27" fmla="*/ 1607 h 1823"/>
                  <a:gd name="T28" fmla="*/ 1441 w 2161"/>
                  <a:gd name="T29" fmla="*/ 1658 h 1823"/>
                  <a:gd name="T30" fmla="*/ 1351 w 2161"/>
                  <a:gd name="T31" fmla="*/ 1701 h 1823"/>
                  <a:gd name="T32" fmla="*/ 1258 w 2161"/>
                  <a:gd name="T33" fmla="*/ 1740 h 1823"/>
                  <a:gd name="T34" fmla="*/ 1162 w 2161"/>
                  <a:gd name="T35" fmla="*/ 1770 h 1823"/>
                  <a:gd name="T36" fmla="*/ 1062 w 2161"/>
                  <a:gd name="T37" fmla="*/ 1796 h 1823"/>
                  <a:gd name="T38" fmla="*/ 960 w 2161"/>
                  <a:gd name="T39" fmla="*/ 1813 h 1823"/>
                  <a:gd name="T40" fmla="*/ 856 w 2161"/>
                  <a:gd name="T41" fmla="*/ 1822 h 1823"/>
                  <a:gd name="T42" fmla="*/ 732 w 2161"/>
                  <a:gd name="T43" fmla="*/ 1823 h 1823"/>
                  <a:gd name="T44" fmla="*/ 628 w 2161"/>
                  <a:gd name="T45" fmla="*/ 1814 h 1823"/>
                  <a:gd name="T46" fmla="*/ 524 w 2161"/>
                  <a:gd name="T47" fmla="*/ 1799 h 1823"/>
                  <a:gd name="T48" fmla="*/ 401 w 2161"/>
                  <a:gd name="T49" fmla="*/ 1769 h 1823"/>
                  <a:gd name="T50" fmla="*/ 281 w 2161"/>
                  <a:gd name="T51" fmla="*/ 1728 h 1823"/>
                  <a:gd name="T52" fmla="*/ 212 w 2161"/>
                  <a:gd name="T53" fmla="*/ 1698 h 1823"/>
                  <a:gd name="T54" fmla="*/ 144 w 2161"/>
                  <a:gd name="T55" fmla="*/ 1665 h 1823"/>
                  <a:gd name="T56" fmla="*/ 16 w 2161"/>
                  <a:gd name="T57" fmla="*/ 1588 h 1823"/>
                  <a:gd name="T58" fmla="*/ 4 w 2161"/>
                  <a:gd name="T59" fmla="*/ 1483 h 1823"/>
                  <a:gd name="T60" fmla="*/ 0 w 2161"/>
                  <a:gd name="T61" fmla="*/ 1403 h 1823"/>
                  <a:gd name="T62" fmla="*/ 1 w 2161"/>
                  <a:gd name="T63" fmla="*/ 1306 h 1823"/>
                  <a:gd name="T64" fmla="*/ 12 w 2161"/>
                  <a:gd name="T65" fmla="*/ 1202 h 1823"/>
                  <a:gd name="T66" fmla="*/ 28 w 2161"/>
                  <a:gd name="T67" fmla="*/ 1100 h 1823"/>
                  <a:gd name="T68" fmla="*/ 52 w 2161"/>
                  <a:gd name="T69" fmla="*/ 1000 h 1823"/>
                  <a:gd name="T70" fmla="*/ 84 w 2161"/>
                  <a:gd name="T71" fmla="*/ 904 h 1823"/>
                  <a:gd name="T72" fmla="*/ 121 w 2161"/>
                  <a:gd name="T73" fmla="*/ 811 h 1823"/>
                  <a:gd name="T74" fmla="*/ 166 w 2161"/>
                  <a:gd name="T75" fmla="*/ 721 h 1823"/>
                  <a:gd name="T76" fmla="*/ 216 w 2161"/>
                  <a:gd name="T77" fmla="*/ 635 h 1823"/>
                  <a:gd name="T78" fmla="*/ 273 w 2161"/>
                  <a:gd name="T79" fmla="*/ 554 h 1823"/>
                  <a:gd name="T80" fmla="*/ 335 w 2161"/>
                  <a:gd name="T81" fmla="*/ 476 h 1823"/>
                  <a:gd name="T82" fmla="*/ 402 w 2161"/>
                  <a:gd name="T83" fmla="*/ 403 h 1823"/>
                  <a:gd name="T84" fmla="*/ 476 w 2161"/>
                  <a:gd name="T85" fmla="*/ 336 h 1823"/>
                  <a:gd name="T86" fmla="*/ 553 w 2161"/>
                  <a:gd name="T87" fmla="*/ 274 h 1823"/>
                  <a:gd name="T88" fmla="*/ 634 w 2161"/>
                  <a:gd name="T89" fmla="*/ 217 h 1823"/>
                  <a:gd name="T90" fmla="*/ 720 w 2161"/>
                  <a:gd name="T91" fmla="*/ 166 h 1823"/>
                  <a:gd name="T92" fmla="*/ 810 w 2161"/>
                  <a:gd name="T93" fmla="*/ 122 h 1823"/>
                  <a:gd name="T94" fmla="*/ 903 w 2161"/>
                  <a:gd name="T95" fmla="*/ 85 h 1823"/>
                  <a:gd name="T96" fmla="*/ 999 w 2161"/>
                  <a:gd name="T97" fmla="*/ 53 h 1823"/>
                  <a:gd name="T98" fmla="*/ 1098 w 2161"/>
                  <a:gd name="T99" fmla="*/ 29 h 1823"/>
                  <a:gd name="T100" fmla="*/ 1201 w 2161"/>
                  <a:gd name="T101" fmla="*/ 11 h 1823"/>
                  <a:gd name="T102" fmla="*/ 1304 w 2161"/>
                  <a:gd name="T103" fmla="*/ 2 h 1823"/>
                  <a:gd name="T104" fmla="*/ 1429 w 2161"/>
                  <a:gd name="T105" fmla="*/ 2 h 1823"/>
                  <a:gd name="T106" fmla="*/ 1534 w 2161"/>
                  <a:gd name="T107" fmla="*/ 9 h 1823"/>
                  <a:gd name="T108" fmla="*/ 1637 w 2161"/>
                  <a:gd name="T109" fmla="*/ 24 h 1823"/>
                  <a:gd name="T110" fmla="*/ 1761 w 2161"/>
                  <a:gd name="T111" fmla="*/ 55 h 1823"/>
                  <a:gd name="T112" fmla="*/ 1880 w 2161"/>
                  <a:gd name="T113" fmla="*/ 95 h 1823"/>
                  <a:gd name="T114" fmla="*/ 1949 w 2161"/>
                  <a:gd name="T115" fmla="*/ 125 h 1823"/>
                  <a:gd name="T116" fmla="*/ 2017 w 2161"/>
                  <a:gd name="T117" fmla="*/ 158 h 1823"/>
                  <a:gd name="T118" fmla="*/ 2145 w 2161"/>
                  <a:gd name="T119" fmla="*/ 235 h 1823"/>
                  <a:gd name="T120" fmla="*/ 2157 w 2161"/>
                  <a:gd name="T121" fmla="*/ 340 h 1823"/>
                  <a:gd name="T122" fmla="*/ 2161 w 2161"/>
                  <a:gd name="T123" fmla="*/ 420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61" h="1823">
                    <a:moveTo>
                      <a:pt x="2161" y="447"/>
                    </a:moveTo>
                    <a:lnTo>
                      <a:pt x="2161" y="482"/>
                    </a:lnTo>
                    <a:lnTo>
                      <a:pt x="2160" y="518"/>
                    </a:lnTo>
                    <a:lnTo>
                      <a:pt x="2157" y="552"/>
                    </a:lnTo>
                    <a:lnTo>
                      <a:pt x="2154" y="587"/>
                    </a:lnTo>
                    <a:lnTo>
                      <a:pt x="2151" y="621"/>
                    </a:lnTo>
                    <a:lnTo>
                      <a:pt x="2146" y="656"/>
                    </a:lnTo>
                    <a:lnTo>
                      <a:pt x="2140" y="691"/>
                    </a:lnTo>
                    <a:lnTo>
                      <a:pt x="2134" y="724"/>
                    </a:lnTo>
                    <a:lnTo>
                      <a:pt x="2127" y="758"/>
                    </a:lnTo>
                    <a:lnTo>
                      <a:pt x="2118" y="791"/>
                    </a:lnTo>
                    <a:lnTo>
                      <a:pt x="2109" y="823"/>
                    </a:lnTo>
                    <a:lnTo>
                      <a:pt x="2100" y="856"/>
                    </a:lnTo>
                    <a:lnTo>
                      <a:pt x="2089" y="888"/>
                    </a:lnTo>
                    <a:lnTo>
                      <a:pt x="2079" y="921"/>
                    </a:lnTo>
                    <a:lnTo>
                      <a:pt x="2067" y="951"/>
                    </a:lnTo>
                    <a:lnTo>
                      <a:pt x="2053" y="982"/>
                    </a:lnTo>
                    <a:lnTo>
                      <a:pt x="2039" y="1014"/>
                    </a:lnTo>
                    <a:lnTo>
                      <a:pt x="2026" y="1044"/>
                    </a:lnTo>
                    <a:lnTo>
                      <a:pt x="2011" y="1074"/>
                    </a:lnTo>
                    <a:lnTo>
                      <a:pt x="1996" y="1103"/>
                    </a:lnTo>
                    <a:lnTo>
                      <a:pt x="1979" y="1131"/>
                    </a:lnTo>
                    <a:lnTo>
                      <a:pt x="1963" y="1160"/>
                    </a:lnTo>
                    <a:lnTo>
                      <a:pt x="1945" y="1188"/>
                    </a:lnTo>
                    <a:lnTo>
                      <a:pt x="1927" y="1217"/>
                    </a:lnTo>
                    <a:lnTo>
                      <a:pt x="1907" y="1244"/>
                    </a:lnTo>
                    <a:lnTo>
                      <a:pt x="1888" y="1270"/>
                    </a:lnTo>
                    <a:lnTo>
                      <a:pt x="1868" y="1297"/>
                    </a:lnTo>
                    <a:lnTo>
                      <a:pt x="1847" y="1322"/>
                    </a:lnTo>
                    <a:lnTo>
                      <a:pt x="1826" y="1348"/>
                    </a:lnTo>
                    <a:lnTo>
                      <a:pt x="1803" y="1372"/>
                    </a:lnTo>
                    <a:lnTo>
                      <a:pt x="1781" y="1396"/>
                    </a:lnTo>
                    <a:lnTo>
                      <a:pt x="1758" y="1420"/>
                    </a:lnTo>
                    <a:lnTo>
                      <a:pt x="1734" y="1443"/>
                    </a:lnTo>
                    <a:lnTo>
                      <a:pt x="1710" y="1465"/>
                    </a:lnTo>
                    <a:lnTo>
                      <a:pt x="1686" y="1488"/>
                    </a:lnTo>
                    <a:lnTo>
                      <a:pt x="1661" y="1509"/>
                    </a:lnTo>
                    <a:lnTo>
                      <a:pt x="1635" y="1530"/>
                    </a:lnTo>
                    <a:lnTo>
                      <a:pt x="1608" y="1549"/>
                    </a:lnTo>
                    <a:lnTo>
                      <a:pt x="1583" y="1569"/>
                    </a:lnTo>
                    <a:lnTo>
                      <a:pt x="1555" y="1588"/>
                    </a:lnTo>
                    <a:lnTo>
                      <a:pt x="1527" y="1607"/>
                    </a:lnTo>
                    <a:lnTo>
                      <a:pt x="1498" y="1625"/>
                    </a:lnTo>
                    <a:lnTo>
                      <a:pt x="1470" y="1641"/>
                    </a:lnTo>
                    <a:lnTo>
                      <a:pt x="1441" y="1658"/>
                    </a:lnTo>
                    <a:lnTo>
                      <a:pt x="1411" y="1673"/>
                    </a:lnTo>
                    <a:lnTo>
                      <a:pt x="1383" y="1688"/>
                    </a:lnTo>
                    <a:lnTo>
                      <a:pt x="1351" y="1701"/>
                    </a:lnTo>
                    <a:lnTo>
                      <a:pt x="1321" y="1715"/>
                    </a:lnTo>
                    <a:lnTo>
                      <a:pt x="1289" y="1728"/>
                    </a:lnTo>
                    <a:lnTo>
                      <a:pt x="1258" y="1740"/>
                    </a:lnTo>
                    <a:lnTo>
                      <a:pt x="1226" y="1751"/>
                    </a:lnTo>
                    <a:lnTo>
                      <a:pt x="1195" y="1761"/>
                    </a:lnTo>
                    <a:lnTo>
                      <a:pt x="1162" y="1770"/>
                    </a:lnTo>
                    <a:lnTo>
                      <a:pt x="1130" y="1779"/>
                    </a:lnTo>
                    <a:lnTo>
                      <a:pt x="1095" y="1788"/>
                    </a:lnTo>
                    <a:lnTo>
                      <a:pt x="1062" y="1796"/>
                    </a:lnTo>
                    <a:lnTo>
                      <a:pt x="1029" y="1802"/>
                    </a:lnTo>
                    <a:lnTo>
                      <a:pt x="995" y="1808"/>
                    </a:lnTo>
                    <a:lnTo>
                      <a:pt x="960" y="1813"/>
                    </a:lnTo>
                    <a:lnTo>
                      <a:pt x="926" y="1816"/>
                    </a:lnTo>
                    <a:lnTo>
                      <a:pt x="891" y="1820"/>
                    </a:lnTo>
                    <a:lnTo>
                      <a:pt x="856" y="1822"/>
                    </a:lnTo>
                    <a:lnTo>
                      <a:pt x="820" y="1823"/>
                    </a:lnTo>
                    <a:lnTo>
                      <a:pt x="786" y="1823"/>
                    </a:lnTo>
                    <a:lnTo>
                      <a:pt x="732" y="1823"/>
                    </a:lnTo>
                    <a:lnTo>
                      <a:pt x="706" y="1822"/>
                    </a:lnTo>
                    <a:lnTo>
                      <a:pt x="679" y="1820"/>
                    </a:lnTo>
                    <a:lnTo>
                      <a:pt x="628" y="1814"/>
                    </a:lnTo>
                    <a:lnTo>
                      <a:pt x="601" y="1811"/>
                    </a:lnTo>
                    <a:lnTo>
                      <a:pt x="575" y="1808"/>
                    </a:lnTo>
                    <a:lnTo>
                      <a:pt x="524" y="1799"/>
                    </a:lnTo>
                    <a:lnTo>
                      <a:pt x="475" y="1788"/>
                    </a:lnTo>
                    <a:lnTo>
                      <a:pt x="425" y="1775"/>
                    </a:lnTo>
                    <a:lnTo>
                      <a:pt x="401" y="1769"/>
                    </a:lnTo>
                    <a:lnTo>
                      <a:pt x="375" y="1761"/>
                    </a:lnTo>
                    <a:lnTo>
                      <a:pt x="329" y="1745"/>
                    </a:lnTo>
                    <a:lnTo>
                      <a:pt x="281" y="1728"/>
                    </a:lnTo>
                    <a:lnTo>
                      <a:pt x="258" y="1718"/>
                    </a:lnTo>
                    <a:lnTo>
                      <a:pt x="234" y="1709"/>
                    </a:lnTo>
                    <a:lnTo>
                      <a:pt x="212" y="1698"/>
                    </a:lnTo>
                    <a:lnTo>
                      <a:pt x="189" y="1688"/>
                    </a:lnTo>
                    <a:lnTo>
                      <a:pt x="166" y="1677"/>
                    </a:lnTo>
                    <a:lnTo>
                      <a:pt x="144" y="1665"/>
                    </a:lnTo>
                    <a:lnTo>
                      <a:pt x="100" y="1641"/>
                    </a:lnTo>
                    <a:lnTo>
                      <a:pt x="58" y="1616"/>
                    </a:lnTo>
                    <a:lnTo>
                      <a:pt x="16" y="1588"/>
                    </a:lnTo>
                    <a:lnTo>
                      <a:pt x="9" y="1536"/>
                    </a:lnTo>
                    <a:lnTo>
                      <a:pt x="6" y="1510"/>
                    </a:lnTo>
                    <a:lnTo>
                      <a:pt x="4" y="1483"/>
                    </a:lnTo>
                    <a:lnTo>
                      <a:pt x="3" y="1458"/>
                    </a:lnTo>
                    <a:lnTo>
                      <a:pt x="1" y="1431"/>
                    </a:lnTo>
                    <a:lnTo>
                      <a:pt x="0" y="1403"/>
                    </a:lnTo>
                    <a:lnTo>
                      <a:pt x="0" y="1376"/>
                    </a:lnTo>
                    <a:lnTo>
                      <a:pt x="0" y="1342"/>
                    </a:lnTo>
                    <a:lnTo>
                      <a:pt x="1" y="1306"/>
                    </a:lnTo>
                    <a:lnTo>
                      <a:pt x="4" y="1271"/>
                    </a:lnTo>
                    <a:lnTo>
                      <a:pt x="7" y="1237"/>
                    </a:lnTo>
                    <a:lnTo>
                      <a:pt x="12" y="1202"/>
                    </a:lnTo>
                    <a:lnTo>
                      <a:pt x="16" y="1167"/>
                    </a:lnTo>
                    <a:lnTo>
                      <a:pt x="21" y="1133"/>
                    </a:lnTo>
                    <a:lnTo>
                      <a:pt x="28" y="1100"/>
                    </a:lnTo>
                    <a:lnTo>
                      <a:pt x="36" y="1067"/>
                    </a:lnTo>
                    <a:lnTo>
                      <a:pt x="43" y="1034"/>
                    </a:lnTo>
                    <a:lnTo>
                      <a:pt x="52" y="1000"/>
                    </a:lnTo>
                    <a:lnTo>
                      <a:pt x="61" y="967"/>
                    </a:lnTo>
                    <a:lnTo>
                      <a:pt x="72" y="936"/>
                    </a:lnTo>
                    <a:lnTo>
                      <a:pt x="84" y="904"/>
                    </a:lnTo>
                    <a:lnTo>
                      <a:pt x="96" y="873"/>
                    </a:lnTo>
                    <a:lnTo>
                      <a:pt x="108" y="841"/>
                    </a:lnTo>
                    <a:lnTo>
                      <a:pt x="121" y="811"/>
                    </a:lnTo>
                    <a:lnTo>
                      <a:pt x="135" y="781"/>
                    </a:lnTo>
                    <a:lnTo>
                      <a:pt x="150" y="751"/>
                    </a:lnTo>
                    <a:lnTo>
                      <a:pt x="166" y="721"/>
                    </a:lnTo>
                    <a:lnTo>
                      <a:pt x="182" y="692"/>
                    </a:lnTo>
                    <a:lnTo>
                      <a:pt x="200" y="664"/>
                    </a:lnTo>
                    <a:lnTo>
                      <a:pt x="216" y="635"/>
                    </a:lnTo>
                    <a:lnTo>
                      <a:pt x="236" y="608"/>
                    </a:lnTo>
                    <a:lnTo>
                      <a:pt x="254" y="579"/>
                    </a:lnTo>
                    <a:lnTo>
                      <a:pt x="273" y="554"/>
                    </a:lnTo>
                    <a:lnTo>
                      <a:pt x="293" y="527"/>
                    </a:lnTo>
                    <a:lnTo>
                      <a:pt x="314" y="501"/>
                    </a:lnTo>
                    <a:lnTo>
                      <a:pt x="335" y="476"/>
                    </a:lnTo>
                    <a:lnTo>
                      <a:pt x="357" y="452"/>
                    </a:lnTo>
                    <a:lnTo>
                      <a:pt x="380" y="427"/>
                    </a:lnTo>
                    <a:lnTo>
                      <a:pt x="402" y="403"/>
                    </a:lnTo>
                    <a:lnTo>
                      <a:pt x="427" y="381"/>
                    </a:lnTo>
                    <a:lnTo>
                      <a:pt x="451" y="358"/>
                    </a:lnTo>
                    <a:lnTo>
                      <a:pt x="476" y="336"/>
                    </a:lnTo>
                    <a:lnTo>
                      <a:pt x="500" y="315"/>
                    </a:lnTo>
                    <a:lnTo>
                      <a:pt x="526" y="294"/>
                    </a:lnTo>
                    <a:lnTo>
                      <a:pt x="553" y="274"/>
                    </a:lnTo>
                    <a:lnTo>
                      <a:pt x="580" y="255"/>
                    </a:lnTo>
                    <a:lnTo>
                      <a:pt x="607" y="235"/>
                    </a:lnTo>
                    <a:lnTo>
                      <a:pt x="634" y="217"/>
                    </a:lnTo>
                    <a:lnTo>
                      <a:pt x="663" y="200"/>
                    </a:lnTo>
                    <a:lnTo>
                      <a:pt x="691" y="182"/>
                    </a:lnTo>
                    <a:lnTo>
                      <a:pt x="720" y="166"/>
                    </a:lnTo>
                    <a:lnTo>
                      <a:pt x="750" y="151"/>
                    </a:lnTo>
                    <a:lnTo>
                      <a:pt x="780" y="136"/>
                    </a:lnTo>
                    <a:lnTo>
                      <a:pt x="810" y="122"/>
                    </a:lnTo>
                    <a:lnTo>
                      <a:pt x="840" y="109"/>
                    </a:lnTo>
                    <a:lnTo>
                      <a:pt x="871" y="95"/>
                    </a:lnTo>
                    <a:lnTo>
                      <a:pt x="903" y="85"/>
                    </a:lnTo>
                    <a:lnTo>
                      <a:pt x="935" y="73"/>
                    </a:lnTo>
                    <a:lnTo>
                      <a:pt x="966" y="62"/>
                    </a:lnTo>
                    <a:lnTo>
                      <a:pt x="999" y="53"/>
                    </a:lnTo>
                    <a:lnTo>
                      <a:pt x="1032" y="44"/>
                    </a:lnTo>
                    <a:lnTo>
                      <a:pt x="1065" y="35"/>
                    </a:lnTo>
                    <a:lnTo>
                      <a:pt x="1098" y="29"/>
                    </a:lnTo>
                    <a:lnTo>
                      <a:pt x="1133" y="21"/>
                    </a:lnTo>
                    <a:lnTo>
                      <a:pt x="1166" y="17"/>
                    </a:lnTo>
                    <a:lnTo>
                      <a:pt x="1201" y="11"/>
                    </a:lnTo>
                    <a:lnTo>
                      <a:pt x="1235" y="8"/>
                    </a:lnTo>
                    <a:lnTo>
                      <a:pt x="1270" y="5"/>
                    </a:lnTo>
                    <a:lnTo>
                      <a:pt x="1304" y="2"/>
                    </a:lnTo>
                    <a:lnTo>
                      <a:pt x="1340" y="0"/>
                    </a:lnTo>
                    <a:lnTo>
                      <a:pt x="1377" y="0"/>
                    </a:lnTo>
                    <a:lnTo>
                      <a:pt x="1429" y="2"/>
                    </a:lnTo>
                    <a:lnTo>
                      <a:pt x="1456" y="2"/>
                    </a:lnTo>
                    <a:lnTo>
                      <a:pt x="1482" y="5"/>
                    </a:lnTo>
                    <a:lnTo>
                      <a:pt x="1534" y="9"/>
                    </a:lnTo>
                    <a:lnTo>
                      <a:pt x="1560" y="12"/>
                    </a:lnTo>
                    <a:lnTo>
                      <a:pt x="1586" y="17"/>
                    </a:lnTo>
                    <a:lnTo>
                      <a:pt x="1637" y="24"/>
                    </a:lnTo>
                    <a:lnTo>
                      <a:pt x="1686" y="35"/>
                    </a:lnTo>
                    <a:lnTo>
                      <a:pt x="1736" y="49"/>
                    </a:lnTo>
                    <a:lnTo>
                      <a:pt x="1761" y="55"/>
                    </a:lnTo>
                    <a:lnTo>
                      <a:pt x="1785" y="62"/>
                    </a:lnTo>
                    <a:lnTo>
                      <a:pt x="1834" y="79"/>
                    </a:lnTo>
                    <a:lnTo>
                      <a:pt x="1880" y="95"/>
                    </a:lnTo>
                    <a:lnTo>
                      <a:pt x="1904" y="106"/>
                    </a:lnTo>
                    <a:lnTo>
                      <a:pt x="1927" y="115"/>
                    </a:lnTo>
                    <a:lnTo>
                      <a:pt x="1949" y="125"/>
                    </a:lnTo>
                    <a:lnTo>
                      <a:pt x="1973" y="136"/>
                    </a:lnTo>
                    <a:lnTo>
                      <a:pt x="1994" y="148"/>
                    </a:lnTo>
                    <a:lnTo>
                      <a:pt x="2017" y="158"/>
                    </a:lnTo>
                    <a:lnTo>
                      <a:pt x="2061" y="182"/>
                    </a:lnTo>
                    <a:lnTo>
                      <a:pt x="2104" y="208"/>
                    </a:lnTo>
                    <a:lnTo>
                      <a:pt x="2145" y="235"/>
                    </a:lnTo>
                    <a:lnTo>
                      <a:pt x="2152" y="288"/>
                    </a:lnTo>
                    <a:lnTo>
                      <a:pt x="2155" y="313"/>
                    </a:lnTo>
                    <a:lnTo>
                      <a:pt x="2157" y="340"/>
                    </a:lnTo>
                    <a:lnTo>
                      <a:pt x="2160" y="366"/>
                    </a:lnTo>
                    <a:lnTo>
                      <a:pt x="2160" y="393"/>
                    </a:lnTo>
                    <a:lnTo>
                      <a:pt x="2161" y="420"/>
                    </a:lnTo>
                    <a:lnTo>
                      <a:pt x="2161" y="447"/>
                    </a:lnTo>
                    <a:close/>
                  </a:path>
                </a:pathLst>
              </a:custGeom>
              <a:solidFill>
                <a:srgbClr val="D6DBFE"/>
              </a:solidFill>
              <a:ln w="6350">
                <a:solidFill>
                  <a:srgbClr val="7889FB"/>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0" name="Freeform 15"/>
              <p:cNvSpPr/>
              <p:nvPr/>
            </p:nvSpPr>
            <p:spPr bwMode="auto">
              <a:xfrm>
                <a:off x="4598" y="2352"/>
                <a:ext cx="885" cy="747"/>
              </a:xfrm>
              <a:custGeom>
                <a:avLst/>
                <a:gdLst>
                  <a:gd name="T0" fmla="*/ 2160 w 2161"/>
                  <a:gd name="T1" fmla="*/ 518 h 1823"/>
                  <a:gd name="T2" fmla="*/ 2145 w 2161"/>
                  <a:gd name="T3" fmla="*/ 656 h 1823"/>
                  <a:gd name="T4" fmla="*/ 2118 w 2161"/>
                  <a:gd name="T5" fmla="*/ 790 h 1823"/>
                  <a:gd name="T6" fmla="*/ 2077 w 2161"/>
                  <a:gd name="T7" fmla="*/ 919 h 1823"/>
                  <a:gd name="T8" fmla="*/ 2026 w 2161"/>
                  <a:gd name="T9" fmla="*/ 1044 h 1823"/>
                  <a:gd name="T10" fmla="*/ 1963 w 2161"/>
                  <a:gd name="T11" fmla="*/ 1160 h 1823"/>
                  <a:gd name="T12" fmla="*/ 1888 w 2161"/>
                  <a:gd name="T13" fmla="*/ 1270 h 1823"/>
                  <a:gd name="T14" fmla="*/ 1803 w 2161"/>
                  <a:gd name="T15" fmla="*/ 1372 h 1823"/>
                  <a:gd name="T16" fmla="*/ 1710 w 2161"/>
                  <a:gd name="T17" fmla="*/ 1465 h 1823"/>
                  <a:gd name="T18" fmla="*/ 1608 w 2161"/>
                  <a:gd name="T19" fmla="*/ 1549 h 1823"/>
                  <a:gd name="T20" fmla="*/ 1498 w 2161"/>
                  <a:gd name="T21" fmla="*/ 1625 h 1823"/>
                  <a:gd name="T22" fmla="*/ 1381 w 2161"/>
                  <a:gd name="T23" fmla="*/ 1688 h 1823"/>
                  <a:gd name="T24" fmla="*/ 1258 w 2161"/>
                  <a:gd name="T25" fmla="*/ 1740 h 1823"/>
                  <a:gd name="T26" fmla="*/ 1129 w 2161"/>
                  <a:gd name="T27" fmla="*/ 1779 h 1823"/>
                  <a:gd name="T28" fmla="*/ 995 w 2161"/>
                  <a:gd name="T29" fmla="*/ 1808 h 1823"/>
                  <a:gd name="T30" fmla="*/ 856 w 2161"/>
                  <a:gd name="T31" fmla="*/ 1822 h 1823"/>
                  <a:gd name="T32" fmla="*/ 679 w 2161"/>
                  <a:gd name="T33" fmla="*/ 1819 h 1823"/>
                  <a:gd name="T34" fmla="*/ 575 w 2161"/>
                  <a:gd name="T35" fmla="*/ 1808 h 1823"/>
                  <a:gd name="T36" fmla="*/ 475 w 2161"/>
                  <a:gd name="T37" fmla="*/ 1788 h 1823"/>
                  <a:gd name="T38" fmla="*/ 375 w 2161"/>
                  <a:gd name="T39" fmla="*/ 1761 h 1823"/>
                  <a:gd name="T40" fmla="*/ 234 w 2161"/>
                  <a:gd name="T41" fmla="*/ 1709 h 1823"/>
                  <a:gd name="T42" fmla="*/ 100 w 2161"/>
                  <a:gd name="T43" fmla="*/ 1641 h 1823"/>
                  <a:gd name="T44" fmla="*/ 9 w 2161"/>
                  <a:gd name="T45" fmla="*/ 1536 h 1823"/>
                  <a:gd name="T46" fmla="*/ 1 w 2161"/>
                  <a:gd name="T47" fmla="*/ 1431 h 1823"/>
                  <a:gd name="T48" fmla="*/ 1 w 2161"/>
                  <a:gd name="T49" fmla="*/ 1306 h 1823"/>
                  <a:gd name="T50" fmla="*/ 16 w 2161"/>
                  <a:gd name="T51" fmla="*/ 1167 h 1823"/>
                  <a:gd name="T52" fmla="*/ 43 w 2161"/>
                  <a:gd name="T53" fmla="*/ 1032 h 1823"/>
                  <a:gd name="T54" fmla="*/ 84 w 2161"/>
                  <a:gd name="T55" fmla="*/ 904 h 1823"/>
                  <a:gd name="T56" fmla="*/ 135 w 2161"/>
                  <a:gd name="T57" fmla="*/ 779 h 1823"/>
                  <a:gd name="T58" fmla="*/ 200 w 2161"/>
                  <a:gd name="T59" fmla="*/ 664 h 1823"/>
                  <a:gd name="T60" fmla="*/ 273 w 2161"/>
                  <a:gd name="T61" fmla="*/ 554 h 1823"/>
                  <a:gd name="T62" fmla="*/ 357 w 2161"/>
                  <a:gd name="T63" fmla="*/ 452 h 1823"/>
                  <a:gd name="T64" fmla="*/ 451 w 2161"/>
                  <a:gd name="T65" fmla="*/ 358 h 1823"/>
                  <a:gd name="T66" fmla="*/ 553 w 2161"/>
                  <a:gd name="T67" fmla="*/ 274 h 1823"/>
                  <a:gd name="T68" fmla="*/ 663 w 2161"/>
                  <a:gd name="T69" fmla="*/ 199 h 1823"/>
                  <a:gd name="T70" fmla="*/ 780 w 2161"/>
                  <a:gd name="T71" fmla="*/ 136 h 1823"/>
                  <a:gd name="T72" fmla="*/ 903 w 2161"/>
                  <a:gd name="T73" fmla="*/ 83 h 1823"/>
                  <a:gd name="T74" fmla="*/ 1032 w 2161"/>
                  <a:gd name="T75" fmla="*/ 44 h 1823"/>
                  <a:gd name="T76" fmla="*/ 1166 w 2161"/>
                  <a:gd name="T77" fmla="*/ 15 h 1823"/>
                  <a:gd name="T78" fmla="*/ 1304 w 2161"/>
                  <a:gd name="T79" fmla="*/ 2 h 1823"/>
                  <a:gd name="T80" fmla="*/ 1482 w 2161"/>
                  <a:gd name="T81" fmla="*/ 5 h 1823"/>
                  <a:gd name="T82" fmla="*/ 1586 w 2161"/>
                  <a:gd name="T83" fmla="*/ 15 h 1823"/>
                  <a:gd name="T84" fmla="*/ 1686 w 2161"/>
                  <a:gd name="T85" fmla="*/ 35 h 1823"/>
                  <a:gd name="T86" fmla="*/ 1785 w 2161"/>
                  <a:gd name="T87" fmla="*/ 62 h 1823"/>
                  <a:gd name="T88" fmla="*/ 1927 w 2161"/>
                  <a:gd name="T89" fmla="*/ 115 h 1823"/>
                  <a:gd name="T90" fmla="*/ 2061 w 2161"/>
                  <a:gd name="T91" fmla="*/ 182 h 1823"/>
                  <a:gd name="T92" fmla="*/ 2152 w 2161"/>
                  <a:gd name="T93" fmla="*/ 288 h 1823"/>
                  <a:gd name="T94" fmla="*/ 2160 w 2161"/>
                  <a:gd name="T95" fmla="*/ 39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61" h="1823">
                    <a:moveTo>
                      <a:pt x="2161" y="447"/>
                    </a:moveTo>
                    <a:lnTo>
                      <a:pt x="2160" y="518"/>
                    </a:lnTo>
                    <a:lnTo>
                      <a:pt x="2154" y="587"/>
                    </a:lnTo>
                    <a:lnTo>
                      <a:pt x="2145" y="656"/>
                    </a:lnTo>
                    <a:lnTo>
                      <a:pt x="2133" y="724"/>
                    </a:lnTo>
                    <a:lnTo>
                      <a:pt x="2118" y="790"/>
                    </a:lnTo>
                    <a:lnTo>
                      <a:pt x="2100" y="856"/>
                    </a:lnTo>
                    <a:lnTo>
                      <a:pt x="2077" y="919"/>
                    </a:lnTo>
                    <a:lnTo>
                      <a:pt x="2053" y="982"/>
                    </a:lnTo>
                    <a:lnTo>
                      <a:pt x="2026" y="1044"/>
                    </a:lnTo>
                    <a:lnTo>
                      <a:pt x="1996" y="1103"/>
                    </a:lnTo>
                    <a:lnTo>
                      <a:pt x="1963" y="1160"/>
                    </a:lnTo>
                    <a:lnTo>
                      <a:pt x="1927" y="1216"/>
                    </a:lnTo>
                    <a:lnTo>
                      <a:pt x="1888" y="1270"/>
                    </a:lnTo>
                    <a:lnTo>
                      <a:pt x="1847" y="1322"/>
                    </a:lnTo>
                    <a:lnTo>
                      <a:pt x="1803" y="1372"/>
                    </a:lnTo>
                    <a:lnTo>
                      <a:pt x="1758" y="1420"/>
                    </a:lnTo>
                    <a:lnTo>
                      <a:pt x="1710" y="1465"/>
                    </a:lnTo>
                    <a:lnTo>
                      <a:pt x="1661" y="1509"/>
                    </a:lnTo>
                    <a:lnTo>
                      <a:pt x="1608" y="1549"/>
                    </a:lnTo>
                    <a:lnTo>
                      <a:pt x="1554" y="1588"/>
                    </a:lnTo>
                    <a:lnTo>
                      <a:pt x="1498" y="1625"/>
                    </a:lnTo>
                    <a:lnTo>
                      <a:pt x="1441" y="1658"/>
                    </a:lnTo>
                    <a:lnTo>
                      <a:pt x="1381" y="1688"/>
                    </a:lnTo>
                    <a:lnTo>
                      <a:pt x="1321" y="1715"/>
                    </a:lnTo>
                    <a:lnTo>
                      <a:pt x="1258" y="1740"/>
                    </a:lnTo>
                    <a:lnTo>
                      <a:pt x="1195" y="1761"/>
                    </a:lnTo>
                    <a:lnTo>
                      <a:pt x="1129" y="1779"/>
                    </a:lnTo>
                    <a:lnTo>
                      <a:pt x="1062" y="1795"/>
                    </a:lnTo>
                    <a:lnTo>
                      <a:pt x="995" y="1808"/>
                    </a:lnTo>
                    <a:lnTo>
                      <a:pt x="926" y="1816"/>
                    </a:lnTo>
                    <a:lnTo>
                      <a:pt x="856" y="1822"/>
                    </a:lnTo>
                    <a:lnTo>
                      <a:pt x="786" y="1823"/>
                    </a:lnTo>
                    <a:lnTo>
                      <a:pt x="679" y="1819"/>
                    </a:lnTo>
                    <a:lnTo>
                      <a:pt x="626" y="1814"/>
                    </a:lnTo>
                    <a:lnTo>
                      <a:pt x="575" y="1808"/>
                    </a:lnTo>
                    <a:lnTo>
                      <a:pt x="524" y="1799"/>
                    </a:lnTo>
                    <a:lnTo>
                      <a:pt x="475" y="1788"/>
                    </a:lnTo>
                    <a:lnTo>
                      <a:pt x="425" y="1775"/>
                    </a:lnTo>
                    <a:lnTo>
                      <a:pt x="375" y="1761"/>
                    </a:lnTo>
                    <a:lnTo>
                      <a:pt x="281" y="1728"/>
                    </a:lnTo>
                    <a:lnTo>
                      <a:pt x="234" y="1709"/>
                    </a:lnTo>
                    <a:lnTo>
                      <a:pt x="189" y="1688"/>
                    </a:lnTo>
                    <a:lnTo>
                      <a:pt x="100" y="1641"/>
                    </a:lnTo>
                    <a:lnTo>
                      <a:pt x="16" y="1588"/>
                    </a:lnTo>
                    <a:lnTo>
                      <a:pt x="9" y="1536"/>
                    </a:lnTo>
                    <a:lnTo>
                      <a:pt x="4" y="1483"/>
                    </a:lnTo>
                    <a:lnTo>
                      <a:pt x="1" y="1431"/>
                    </a:lnTo>
                    <a:lnTo>
                      <a:pt x="0" y="1376"/>
                    </a:lnTo>
                    <a:lnTo>
                      <a:pt x="1" y="1306"/>
                    </a:lnTo>
                    <a:lnTo>
                      <a:pt x="7" y="1237"/>
                    </a:lnTo>
                    <a:lnTo>
                      <a:pt x="16" y="1167"/>
                    </a:lnTo>
                    <a:lnTo>
                      <a:pt x="28" y="1100"/>
                    </a:lnTo>
                    <a:lnTo>
                      <a:pt x="43" y="1032"/>
                    </a:lnTo>
                    <a:lnTo>
                      <a:pt x="61" y="967"/>
                    </a:lnTo>
                    <a:lnTo>
                      <a:pt x="84" y="904"/>
                    </a:lnTo>
                    <a:lnTo>
                      <a:pt x="108" y="841"/>
                    </a:lnTo>
                    <a:lnTo>
                      <a:pt x="135" y="779"/>
                    </a:lnTo>
                    <a:lnTo>
                      <a:pt x="166" y="721"/>
                    </a:lnTo>
                    <a:lnTo>
                      <a:pt x="200" y="664"/>
                    </a:lnTo>
                    <a:lnTo>
                      <a:pt x="234" y="606"/>
                    </a:lnTo>
                    <a:lnTo>
                      <a:pt x="273" y="554"/>
                    </a:lnTo>
                    <a:lnTo>
                      <a:pt x="314" y="501"/>
                    </a:lnTo>
                    <a:lnTo>
                      <a:pt x="357" y="452"/>
                    </a:lnTo>
                    <a:lnTo>
                      <a:pt x="402" y="403"/>
                    </a:lnTo>
                    <a:lnTo>
                      <a:pt x="451" y="358"/>
                    </a:lnTo>
                    <a:lnTo>
                      <a:pt x="500" y="315"/>
                    </a:lnTo>
                    <a:lnTo>
                      <a:pt x="553" y="274"/>
                    </a:lnTo>
                    <a:lnTo>
                      <a:pt x="607" y="235"/>
                    </a:lnTo>
                    <a:lnTo>
                      <a:pt x="663" y="199"/>
                    </a:lnTo>
                    <a:lnTo>
                      <a:pt x="720" y="166"/>
                    </a:lnTo>
                    <a:lnTo>
                      <a:pt x="780" y="136"/>
                    </a:lnTo>
                    <a:lnTo>
                      <a:pt x="840" y="109"/>
                    </a:lnTo>
                    <a:lnTo>
                      <a:pt x="903" y="83"/>
                    </a:lnTo>
                    <a:lnTo>
                      <a:pt x="966" y="62"/>
                    </a:lnTo>
                    <a:lnTo>
                      <a:pt x="1032" y="44"/>
                    </a:lnTo>
                    <a:lnTo>
                      <a:pt x="1098" y="27"/>
                    </a:lnTo>
                    <a:lnTo>
                      <a:pt x="1166" y="15"/>
                    </a:lnTo>
                    <a:lnTo>
                      <a:pt x="1235" y="8"/>
                    </a:lnTo>
                    <a:lnTo>
                      <a:pt x="1304" y="2"/>
                    </a:lnTo>
                    <a:lnTo>
                      <a:pt x="1375" y="0"/>
                    </a:lnTo>
                    <a:lnTo>
                      <a:pt x="1482" y="5"/>
                    </a:lnTo>
                    <a:lnTo>
                      <a:pt x="1534" y="9"/>
                    </a:lnTo>
                    <a:lnTo>
                      <a:pt x="1586" y="15"/>
                    </a:lnTo>
                    <a:lnTo>
                      <a:pt x="1637" y="24"/>
                    </a:lnTo>
                    <a:lnTo>
                      <a:pt x="1686" y="35"/>
                    </a:lnTo>
                    <a:lnTo>
                      <a:pt x="1736" y="49"/>
                    </a:lnTo>
                    <a:lnTo>
                      <a:pt x="1785" y="62"/>
                    </a:lnTo>
                    <a:lnTo>
                      <a:pt x="1880" y="95"/>
                    </a:lnTo>
                    <a:lnTo>
                      <a:pt x="1927" y="115"/>
                    </a:lnTo>
                    <a:lnTo>
                      <a:pt x="1972" y="136"/>
                    </a:lnTo>
                    <a:lnTo>
                      <a:pt x="2061" y="182"/>
                    </a:lnTo>
                    <a:lnTo>
                      <a:pt x="2145" y="235"/>
                    </a:lnTo>
                    <a:lnTo>
                      <a:pt x="2152" y="288"/>
                    </a:lnTo>
                    <a:lnTo>
                      <a:pt x="2157" y="340"/>
                    </a:lnTo>
                    <a:lnTo>
                      <a:pt x="2160" y="393"/>
                    </a:lnTo>
                    <a:lnTo>
                      <a:pt x="2161" y="447"/>
                    </a:lnTo>
                  </a:path>
                </a:pathLst>
              </a:custGeom>
              <a:noFill/>
              <a:ln w="6350">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1" name="Freeform 16"/>
              <p:cNvSpPr/>
              <p:nvPr/>
            </p:nvSpPr>
            <p:spPr bwMode="auto">
              <a:xfrm>
                <a:off x="4598" y="2404"/>
                <a:ext cx="654" cy="1024"/>
              </a:xfrm>
              <a:custGeom>
                <a:avLst/>
                <a:gdLst>
                  <a:gd name="T0" fmla="*/ 3 w 1598"/>
                  <a:gd name="T1" fmla="*/ 1173 h 2501"/>
                  <a:gd name="T2" fmla="*/ 15 w 1598"/>
                  <a:gd name="T3" fmla="*/ 1046 h 2501"/>
                  <a:gd name="T4" fmla="*/ 33 w 1598"/>
                  <a:gd name="T5" fmla="*/ 947 h 2501"/>
                  <a:gd name="T6" fmla="*/ 58 w 1598"/>
                  <a:gd name="T7" fmla="*/ 852 h 2501"/>
                  <a:gd name="T8" fmla="*/ 108 w 1598"/>
                  <a:gd name="T9" fmla="*/ 713 h 2501"/>
                  <a:gd name="T10" fmla="*/ 150 w 1598"/>
                  <a:gd name="T11" fmla="*/ 625 h 2501"/>
                  <a:gd name="T12" fmla="*/ 197 w 1598"/>
                  <a:gd name="T13" fmla="*/ 540 h 2501"/>
                  <a:gd name="T14" fmla="*/ 249 w 1598"/>
                  <a:gd name="T15" fmla="*/ 458 h 2501"/>
                  <a:gd name="T16" fmla="*/ 323 w 1598"/>
                  <a:gd name="T17" fmla="*/ 364 h 2501"/>
                  <a:gd name="T18" fmla="*/ 404 w 1598"/>
                  <a:gd name="T19" fmla="*/ 275 h 2501"/>
                  <a:gd name="T20" fmla="*/ 512 w 1598"/>
                  <a:gd name="T21" fmla="*/ 179 h 2501"/>
                  <a:gd name="T22" fmla="*/ 589 w 1598"/>
                  <a:gd name="T23" fmla="*/ 120 h 2501"/>
                  <a:gd name="T24" fmla="*/ 670 w 1598"/>
                  <a:gd name="T25" fmla="*/ 67 h 2501"/>
                  <a:gd name="T26" fmla="*/ 799 w 1598"/>
                  <a:gd name="T27" fmla="*/ 0 h 2501"/>
                  <a:gd name="T28" fmla="*/ 927 w 1598"/>
                  <a:gd name="T29" fmla="*/ 67 h 2501"/>
                  <a:gd name="T30" fmla="*/ 1008 w 1598"/>
                  <a:gd name="T31" fmla="*/ 120 h 2501"/>
                  <a:gd name="T32" fmla="*/ 1123 w 1598"/>
                  <a:gd name="T33" fmla="*/ 209 h 2501"/>
                  <a:gd name="T34" fmla="*/ 1226 w 1598"/>
                  <a:gd name="T35" fmla="*/ 310 h 2501"/>
                  <a:gd name="T36" fmla="*/ 1319 w 1598"/>
                  <a:gd name="T37" fmla="*/ 421 h 2501"/>
                  <a:gd name="T38" fmla="*/ 1375 w 1598"/>
                  <a:gd name="T39" fmla="*/ 499 h 2501"/>
                  <a:gd name="T40" fmla="*/ 1447 w 1598"/>
                  <a:gd name="T41" fmla="*/ 625 h 2501"/>
                  <a:gd name="T42" fmla="*/ 1489 w 1598"/>
                  <a:gd name="T43" fmla="*/ 713 h 2501"/>
                  <a:gd name="T44" fmla="*/ 1524 w 1598"/>
                  <a:gd name="T45" fmla="*/ 804 h 2501"/>
                  <a:gd name="T46" fmla="*/ 1552 w 1598"/>
                  <a:gd name="T47" fmla="*/ 899 h 2501"/>
                  <a:gd name="T48" fmla="*/ 1575 w 1598"/>
                  <a:gd name="T49" fmla="*/ 997 h 2501"/>
                  <a:gd name="T50" fmla="*/ 1589 w 1598"/>
                  <a:gd name="T51" fmla="*/ 1096 h 2501"/>
                  <a:gd name="T52" fmla="*/ 1598 w 1598"/>
                  <a:gd name="T53" fmla="*/ 1249 h 2501"/>
                  <a:gd name="T54" fmla="*/ 1593 w 1598"/>
                  <a:gd name="T55" fmla="*/ 1353 h 2501"/>
                  <a:gd name="T56" fmla="*/ 1575 w 1598"/>
                  <a:gd name="T57" fmla="*/ 1504 h 2501"/>
                  <a:gd name="T58" fmla="*/ 1552 w 1598"/>
                  <a:gd name="T59" fmla="*/ 1601 h 2501"/>
                  <a:gd name="T60" fmla="*/ 1524 w 1598"/>
                  <a:gd name="T61" fmla="*/ 1696 h 2501"/>
                  <a:gd name="T62" fmla="*/ 1470 w 1598"/>
                  <a:gd name="T63" fmla="*/ 1831 h 2501"/>
                  <a:gd name="T64" fmla="*/ 1425 w 1598"/>
                  <a:gd name="T65" fmla="*/ 1919 h 2501"/>
                  <a:gd name="T66" fmla="*/ 1375 w 1598"/>
                  <a:gd name="T67" fmla="*/ 2001 h 2501"/>
                  <a:gd name="T68" fmla="*/ 1319 w 1598"/>
                  <a:gd name="T69" fmla="*/ 2080 h 2501"/>
                  <a:gd name="T70" fmla="*/ 1259 w 1598"/>
                  <a:gd name="T71" fmla="*/ 2155 h 2501"/>
                  <a:gd name="T72" fmla="*/ 1159 w 1598"/>
                  <a:gd name="T73" fmla="*/ 2259 h 2501"/>
                  <a:gd name="T74" fmla="*/ 1047 w 1598"/>
                  <a:gd name="T75" fmla="*/ 2352 h 2501"/>
                  <a:gd name="T76" fmla="*/ 989 w 1598"/>
                  <a:gd name="T77" fmla="*/ 2392 h 2501"/>
                  <a:gd name="T78" fmla="*/ 885 w 1598"/>
                  <a:gd name="T79" fmla="*/ 2456 h 2501"/>
                  <a:gd name="T80" fmla="*/ 754 w 1598"/>
                  <a:gd name="T81" fmla="*/ 2480 h 2501"/>
                  <a:gd name="T82" fmla="*/ 629 w 1598"/>
                  <a:gd name="T83" fmla="*/ 2406 h 2501"/>
                  <a:gd name="T84" fmla="*/ 550 w 1598"/>
                  <a:gd name="T85" fmla="*/ 2352 h 2501"/>
                  <a:gd name="T86" fmla="*/ 439 w 1598"/>
                  <a:gd name="T87" fmla="*/ 2259 h 2501"/>
                  <a:gd name="T88" fmla="*/ 339 w 1598"/>
                  <a:gd name="T89" fmla="*/ 2155 h 2501"/>
                  <a:gd name="T90" fmla="*/ 249 w 1598"/>
                  <a:gd name="T91" fmla="*/ 2040 h 2501"/>
                  <a:gd name="T92" fmla="*/ 197 w 1598"/>
                  <a:gd name="T93" fmla="*/ 1959 h 2501"/>
                  <a:gd name="T94" fmla="*/ 139 w 1598"/>
                  <a:gd name="T95" fmla="*/ 1854 h 2501"/>
                  <a:gd name="T96" fmla="*/ 90 w 1598"/>
                  <a:gd name="T97" fmla="*/ 1741 h 2501"/>
                  <a:gd name="T98" fmla="*/ 58 w 1598"/>
                  <a:gd name="T99" fmla="*/ 1648 h 2501"/>
                  <a:gd name="T100" fmla="*/ 39 w 1598"/>
                  <a:gd name="T101" fmla="*/ 1577 h 2501"/>
                  <a:gd name="T102" fmla="*/ 15 w 1598"/>
                  <a:gd name="T103" fmla="*/ 1454 h 2501"/>
                  <a:gd name="T104" fmla="*/ 4 w 1598"/>
                  <a:gd name="T105" fmla="*/ 1353 h 2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98" h="2501">
                    <a:moveTo>
                      <a:pt x="0" y="1249"/>
                    </a:moveTo>
                    <a:lnTo>
                      <a:pt x="1" y="1198"/>
                    </a:lnTo>
                    <a:lnTo>
                      <a:pt x="3" y="1173"/>
                    </a:lnTo>
                    <a:lnTo>
                      <a:pt x="4" y="1147"/>
                    </a:lnTo>
                    <a:lnTo>
                      <a:pt x="9" y="1096"/>
                    </a:lnTo>
                    <a:lnTo>
                      <a:pt x="15" y="1046"/>
                    </a:lnTo>
                    <a:lnTo>
                      <a:pt x="24" y="997"/>
                    </a:lnTo>
                    <a:lnTo>
                      <a:pt x="28" y="973"/>
                    </a:lnTo>
                    <a:lnTo>
                      <a:pt x="33" y="947"/>
                    </a:lnTo>
                    <a:lnTo>
                      <a:pt x="45" y="899"/>
                    </a:lnTo>
                    <a:lnTo>
                      <a:pt x="51" y="875"/>
                    </a:lnTo>
                    <a:lnTo>
                      <a:pt x="58" y="852"/>
                    </a:lnTo>
                    <a:lnTo>
                      <a:pt x="73" y="804"/>
                    </a:lnTo>
                    <a:lnTo>
                      <a:pt x="90" y="759"/>
                    </a:lnTo>
                    <a:lnTo>
                      <a:pt x="108" y="713"/>
                    </a:lnTo>
                    <a:lnTo>
                      <a:pt x="129" y="669"/>
                    </a:lnTo>
                    <a:lnTo>
                      <a:pt x="139" y="646"/>
                    </a:lnTo>
                    <a:lnTo>
                      <a:pt x="150" y="625"/>
                    </a:lnTo>
                    <a:lnTo>
                      <a:pt x="172" y="582"/>
                    </a:lnTo>
                    <a:lnTo>
                      <a:pt x="185" y="561"/>
                    </a:lnTo>
                    <a:lnTo>
                      <a:pt x="197" y="540"/>
                    </a:lnTo>
                    <a:lnTo>
                      <a:pt x="222" y="499"/>
                    </a:lnTo>
                    <a:lnTo>
                      <a:pt x="236" y="479"/>
                    </a:lnTo>
                    <a:lnTo>
                      <a:pt x="249" y="458"/>
                    </a:lnTo>
                    <a:lnTo>
                      <a:pt x="278" y="421"/>
                    </a:lnTo>
                    <a:lnTo>
                      <a:pt x="308" y="382"/>
                    </a:lnTo>
                    <a:lnTo>
                      <a:pt x="323" y="364"/>
                    </a:lnTo>
                    <a:lnTo>
                      <a:pt x="339" y="346"/>
                    </a:lnTo>
                    <a:lnTo>
                      <a:pt x="371" y="310"/>
                    </a:lnTo>
                    <a:lnTo>
                      <a:pt x="404" y="275"/>
                    </a:lnTo>
                    <a:lnTo>
                      <a:pt x="439" y="242"/>
                    </a:lnTo>
                    <a:lnTo>
                      <a:pt x="475" y="209"/>
                    </a:lnTo>
                    <a:lnTo>
                      <a:pt x="512" y="179"/>
                    </a:lnTo>
                    <a:lnTo>
                      <a:pt x="550" y="149"/>
                    </a:lnTo>
                    <a:lnTo>
                      <a:pt x="569" y="135"/>
                    </a:lnTo>
                    <a:lnTo>
                      <a:pt x="589" y="120"/>
                    </a:lnTo>
                    <a:lnTo>
                      <a:pt x="608" y="106"/>
                    </a:lnTo>
                    <a:lnTo>
                      <a:pt x="629" y="93"/>
                    </a:lnTo>
                    <a:lnTo>
                      <a:pt x="670" y="67"/>
                    </a:lnTo>
                    <a:lnTo>
                      <a:pt x="712" y="43"/>
                    </a:lnTo>
                    <a:lnTo>
                      <a:pt x="754" y="21"/>
                    </a:lnTo>
                    <a:lnTo>
                      <a:pt x="799" y="0"/>
                    </a:lnTo>
                    <a:lnTo>
                      <a:pt x="843" y="21"/>
                    </a:lnTo>
                    <a:lnTo>
                      <a:pt x="885" y="43"/>
                    </a:lnTo>
                    <a:lnTo>
                      <a:pt x="927" y="67"/>
                    </a:lnTo>
                    <a:lnTo>
                      <a:pt x="969" y="93"/>
                    </a:lnTo>
                    <a:lnTo>
                      <a:pt x="989" y="106"/>
                    </a:lnTo>
                    <a:lnTo>
                      <a:pt x="1008" y="120"/>
                    </a:lnTo>
                    <a:lnTo>
                      <a:pt x="1047" y="149"/>
                    </a:lnTo>
                    <a:lnTo>
                      <a:pt x="1085" y="179"/>
                    </a:lnTo>
                    <a:lnTo>
                      <a:pt x="1123" y="209"/>
                    </a:lnTo>
                    <a:lnTo>
                      <a:pt x="1159" y="242"/>
                    </a:lnTo>
                    <a:lnTo>
                      <a:pt x="1193" y="275"/>
                    </a:lnTo>
                    <a:lnTo>
                      <a:pt x="1226" y="310"/>
                    </a:lnTo>
                    <a:lnTo>
                      <a:pt x="1259" y="346"/>
                    </a:lnTo>
                    <a:lnTo>
                      <a:pt x="1289" y="382"/>
                    </a:lnTo>
                    <a:lnTo>
                      <a:pt x="1319" y="421"/>
                    </a:lnTo>
                    <a:lnTo>
                      <a:pt x="1348" y="458"/>
                    </a:lnTo>
                    <a:lnTo>
                      <a:pt x="1362" y="479"/>
                    </a:lnTo>
                    <a:lnTo>
                      <a:pt x="1375" y="499"/>
                    </a:lnTo>
                    <a:lnTo>
                      <a:pt x="1401" y="540"/>
                    </a:lnTo>
                    <a:lnTo>
                      <a:pt x="1425" y="582"/>
                    </a:lnTo>
                    <a:lnTo>
                      <a:pt x="1447" y="625"/>
                    </a:lnTo>
                    <a:lnTo>
                      <a:pt x="1459" y="646"/>
                    </a:lnTo>
                    <a:lnTo>
                      <a:pt x="1470" y="669"/>
                    </a:lnTo>
                    <a:lnTo>
                      <a:pt x="1489" y="713"/>
                    </a:lnTo>
                    <a:lnTo>
                      <a:pt x="1507" y="759"/>
                    </a:lnTo>
                    <a:lnTo>
                      <a:pt x="1516" y="782"/>
                    </a:lnTo>
                    <a:lnTo>
                      <a:pt x="1524" y="804"/>
                    </a:lnTo>
                    <a:lnTo>
                      <a:pt x="1539" y="852"/>
                    </a:lnTo>
                    <a:lnTo>
                      <a:pt x="1546" y="875"/>
                    </a:lnTo>
                    <a:lnTo>
                      <a:pt x="1552" y="899"/>
                    </a:lnTo>
                    <a:lnTo>
                      <a:pt x="1558" y="923"/>
                    </a:lnTo>
                    <a:lnTo>
                      <a:pt x="1564" y="947"/>
                    </a:lnTo>
                    <a:lnTo>
                      <a:pt x="1575" y="997"/>
                    </a:lnTo>
                    <a:lnTo>
                      <a:pt x="1583" y="1046"/>
                    </a:lnTo>
                    <a:lnTo>
                      <a:pt x="1586" y="1070"/>
                    </a:lnTo>
                    <a:lnTo>
                      <a:pt x="1589" y="1096"/>
                    </a:lnTo>
                    <a:lnTo>
                      <a:pt x="1593" y="1147"/>
                    </a:lnTo>
                    <a:lnTo>
                      <a:pt x="1596" y="1198"/>
                    </a:lnTo>
                    <a:lnTo>
                      <a:pt x="1598" y="1249"/>
                    </a:lnTo>
                    <a:lnTo>
                      <a:pt x="1596" y="1302"/>
                    </a:lnTo>
                    <a:lnTo>
                      <a:pt x="1596" y="1328"/>
                    </a:lnTo>
                    <a:lnTo>
                      <a:pt x="1593" y="1353"/>
                    </a:lnTo>
                    <a:lnTo>
                      <a:pt x="1589" y="1404"/>
                    </a:lnTo>
                    <a:lnTo>
                      <a:pt x="1583" y="1454"/>
                    </a:lnTo>
                    <a:lnTo>
                      <a:pt x="1575" y="1504"/>
                    </a:lnTo>
                    <a:lnTo>
                      <a:pt x="1569" y="1528"/>
                    </a:lnTo>
                    <a:lnTo>
                      <a:pt x="1564" y="1552"/>
                    </a:lnTo>
                    <a:lnTo>
                      <a:pt x="1552" y="1601"/>
                    </a:lnTo>
                    <a:lnTo>
                      <a:pt x="1546" y="1625"/>
                    </a:lnTo>
                    <a:lnTo>
                      <a:pt x="1539" y="1648"/>
                    </a:lnTo>
                    <a:lnTo>
                      <a:pt x="1524" y="1696"/>
                    </a:lnTo>
                    <a:lnTo>
                      <a:pt x="1507" y="1741"/>
                    </a:lnTo>
                    <a:lnTo>
                      <a:pt x="1489" y="1786"/>
                    </a:lnTo>
                    <a:lnTo>
                      <a:pt x="1470" y="1831"/>
                    </a:lnTo>
                    <a:lnTo>
                      <a:pt x="1459" y="1854"/>
                    </a:lnTo>
                    <a:lnTo>
                      <a:pt x="1447" y="1875"/>
                    </a:lnTo>
                    <a:lnTo>
                      <a:pt x="1425" y="1919"/>
                    </a:lnTo>
                    <a:lnTo>
                      <a:pt x="1413" y="1940"/>
                    </a:lnTo>
                    <a:lnTo>
                      <a:pt x="1401" y="1959"/>
                    </a:lnTo>
                    <a:lnTo>
                      <a:pt x="1375" y="2001"/>
                    </a:lnTo>
                    <a:lnTo>
                      <a:pt x="1362" y="2021"/>
                    </a:lnTo>
                    <a:lnTo>
                      <a:pt x="1348" y="2040"/>
                    </a:lnTo>
                    <a:lnTo>
                      <a:pt x="1319" y="2080"/>
                    </a:lnTo>
                    <a:lnTo>
                      <a:pt x="1289" y="2117"/>
                    </a:lnTo>
                    <a:lnTo>
                      <a:pt x="1274" y="2137"/>
                    </a:lnTo>
                    <a:lnTo>
                      <a:pt x="1259" y="2155"/>
                    </a:lnTo>
                    <a:lnTo>
                      <a:pt x="1226" y="2191"/>
                    </a:lnTo>
                    <a:lnTo>
                      <a:pt x="1193" y="2225"/>
                    </a:lnTo>
                    <a:lnTo>
                      <a:pt x="1159" y="2259"/>
                    </a:lnTo>
                    <a:lnTo>
                      <a:pt x="1123" y="2290"/>
                    </a:lnTo>
                    <a:lnTo>
                      <a:pt x="1085" y="2322"/>
                    </a:lnTo>
                    <a:lnTo>
                      <a:pt x="1047" y="2352"/>
                    </a:lnTo>
                    <a:lnTo>
                      <a:pt x="1028" y="2365"/>
                    </a:lnTo>
                    <a:lnTo>
                      <a:pt x="1008" y="2379"/>
                    </a:lnTo>
                    <a:lnTo>
                      <a:pt x="989" y="2392"/>
                    </a:lnTo>
                    <a:lnTo>
                      <a:pt x="969" y="2406"/>
                    </a:lnTo>
                    <a:lnTo>
                      <a:pt x="927" y="2431"/>
                    </a:lnTo>
                    <a:lnTo>
                      <a:pt x="885" y="2456"/>
                    </a:lnTo>
                    <a:lnTo>
                      <a:pt x="843" y="2480"/>
                    </a:lnTo>
                    <a:lnTo>
                      <a:pt x="799" y="2501"/>
                    </a:lnTo>
                    <a:lnTo>
                      <a:pt x="754" y="2480"/>
                    </a:lnTo>
                    <a:lnTo>
                      <a:pt x="712" y="2456"/>
                    </a:lnTo>
                    <a:lnTo>
                      <a:pt x="670" y="2431"/>
                    </a:lnTo>
                    <a:lnTo>
                      <a:pt x="629" y="2406"/>
                    </a:lnTo>
                    <a:lnTo>
                      <a:pt x="608" y="2392"/>
                    </a:lnTo>
                    <a:lnTo>
                      <a:pt x="589" y="2379"/>
                    </a:lnTo>
                    <a:lnTo>
                      <a:pt x="550" y="2352"/>
                    </a:lnTo>
                    <a:lnTo>
                      <a:pt x="512" y="2322"/>
                    </a:lnTo>
                    <a:lnTo>
                      <a:pt x="475" y="2290"/>
                    </a:lnTo>
                    <a:lnTo>
                      <a:pt x="439" y="2259"/>
                    </a:lnTo>
                    <a:lnTo>
                      <a:pt x="404" y="2225"/>
                    </a:lnTo>
                    <a:lnTo>
                      <a:pt x="371" y="2191"/>
                    </a:lnTo>
                    <a:lnTo>
                      <a:pt x="339" y="2155"/>
                    </a:lnTo>
                    <a:lnTo>
                      <a:pt x="308" y="2117"/>
                    </a:lnTo>
                    <a:lnTo>
                      <a:pt x="278" y="2080"/>
                    </a:lnTo>
                    <a:lnTo>
                      <a:pt x="249" y="2040"/>
                    </a:lnTo>
                    <a:lnTo>
                      <a:pt x="236" y="2021"/>
                    </a:lnTo>
                    <a:lnTo>
                      <a:pt x="222" y="2001"/>
                    </a:lnTo>
                    <a:lnTo>
                      <a:pt x="197" y="1959"/>
                    </a:lnTo>
                    <a:lnTo>
                      <a:pt x="172" y="1919"/>
                    </a:lnTo>
                    <a:lnTo>
                      <a:pt x="150" y="1875"/>
                    </a:lnTo>
                    <a:lnTo>
                      <a:pt x="139" y="1854"/>
                    </a:lnTo>
                    <a:lnTo>
                      <a:pt x="129" y="1831"/>
                    </a:lnTo>
                    <a:lnTo>
                      <a:pt x="108" y="1786"/>
                    </a:lnTo>
                    <a:lnTo>
                      <a:pt x="90" y="1741"/>
                    </a:lnTo>
                    <a:lnTo>
                      <a:pt x="82" y="1719"/>
                    </a:lnTo>
                    <a:lnTo>
                      <a:pt x="73" y="1696"/>
                    </a:lnTo>
                    <a:lnTo>
                      <a:pt x="58" y="1648"/>
                    </a:lnTo>
                    <a:lnTo>
                      <a:pt x="51" y="1625"/>
                    </a:lnTo>
                    <a:lnTo>
                      <a:pt x="45" y="1601"/>
                    </a:lnTo>
                    <a:lnTo>
                      <a:pt x="39" y="1577"/>
                    </a:lnTo>
                    <a:lnTo>
                      <a:pt x="33" y="1552"/>
                    </a:lnTo>
                    <a:lnTo>
                      <a:pt x="24" y="1504"/>
                    </a:lnTo>
                    <a:lnTo>
                      <a:pt x="15" y="1454"/>
                    </a:lnTo>
                    <a:lnTo>
                      <a:pt x="12" y="1428"/>
                    </a:lnTo>
                    <a:lnTo>
                      <a:pt x="9" y="1404"/>
                    </a:lnTo>
                    <a:lnTo>
                      <a:pt x="4" y="1353"/>
                    </a:lnTo>
                    <a:lnTo>
                      <a:pt x="1" y="1302"/>
                    </a:lnTo>
                    <a:lnTo>
                      <a:pt x="0" y="1249"/>
                    </a:lnTo>
                    <a:close/>
                  </a:path>
                </a:pathLst>
              </a:custGeom>
              <a:solidFill>
                <a:srgbClr val="D6DBFE"/>
              </a:solidFill>
              <a:ln w="6350">
                <a:solidFill>
                  <a:srgbClr val="7889FB"/>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3" name="Freeform 17"/>
              <p:cNvSpPr/>
              <p:nvPr/>
            </p:nvSpPr>
            <p:spPr bwMode="auto">
              <a:xfrm>
                <a:off x="4598" y="2404"/>
                <a:ext cx="654" cy="1024"/>
              </a:xfrm>
              <a:custGeom>
                <a:avLst/>
                <a:gdLst>
                  <a:gd name="T0" fmla="*/ 1 w 1598"/>
                  <a:gd name="T1" fmla="*/ 1198 h 2501"/>
                  <a:gd name="T2" fmla="*/ 15 w 1598"/>
                  <a:gd name="T3" fmla="*/ 1046 h 2501"/>
                  <a:gd name="T4" fmla="*/ 45 w 1598"/>
                  <a:gd name="T5" fmla="*/ 899 h 2501"/>
                  <a:gd name="T6" fmla="*/ 73 w 1598"/>
                  <a:gd name="T7" fmla="*/ 804 h 2501"/>
                  <a:gd name="T8" fmla="*/ 127 w 1598"/>
                  <a:gd name="T9" fmla="*/ 669 h 2501"/>
                  <a:gd name="T10" fmla="*/ 197 w 1598"/>
                  <a:gd name="T11" fmla="*/ 540 h 2501"/>
                  <a:gd name="T12" fmla="*/ 278 w 1598"/>
                  <a:gd name="T13" fmla="*/ 419 h 2501"/>
                  <a:gd name="T14" fmla="*/ 404 w 1598"/>
                  <a:gd name="T15" fmla="*/ 275 h 2501"/>
                  <a:gd name="T16" fmla="*/ 550 w 1598"/>
                  <a:gd name="T17" fmla="*/ 149 h 2501"/>
                  <a:gd name="T18" fmla="*/ 670 w 1598"/>
                  <a:gd name="T19" fmla="*/ 67 h 2501"/>
                  <a:gd name="T20" fmla="*/ 798 w 1598"/>
                  <a:gd name="T21" fmla="*/ 0 h 2501"/>
                  <a:gd name="T22" fmla="*/ 927 w 1598"/>
                  <a:gd name="T23" fmla="*/ 67 h 2501"/>
                  <a:gd name="T24" fmla="*/ 1047 w 1598"/>
                  <a:gd name="T25" fmla="*/ 149 h 2501"/>
                  <a:gd name="T26" fmla="*/ 1193 w 1598"/>
                  <a:gd name="T27" fmla="*/ 275 h 2501"/>
                  <a:gd name="T28" fmla="*/ 1289 w 1598"/>
                  <a:gd name="T29" fmla="*/ 382 h 2501"/>
                  <a:gd name="T30" fmla="*/ 1375 w 1598"/>
                  <a:gd name="T31" fmla="*/ 499 h 2501"/>
                  <a:gd name="T32" fmla="*/ 1425 w 1598"/>
                  <a:gd name="T33" fmla="*/ 582 h 2501"/>
                  <a:gd name="T34" fmla="*/ 1489 w 1598"/>
                  <a:gd name="T35" fmla="*/ 713 h 2501"/>
                  <a:gd name="T36" fmla="*/ 1524 w 1598"/>
                  <a:gd name="T37" fmla="*/ 804 h 2501"/>
                  <a:gd name="T38" fmla="*/ 1564 w 1598"/>
                  <a:gd name="T39" fmla="*/ 947 h 2501"/>
                  <a:gd name="T40" fmla="*/ 1583 w 1598"/>
                  <a:gd name="T41" fmla="*/ 1046 h 2501"/>
                  <a:gd name="T42" fmla="*/ 1593 w 1598"/>
                  <a:gd name="T43" fmla="*/ 1147 h 2501"/>
                  <a:gd name="T44" fmla="*/ 1596 w 1598"/>
                  <a:gd name="T45" fmla="*/ 1302 h 2501"/>
                  <a:gd name="T46" fmla="*/ 1583 w 1598"/>
                  <a:gd name="T47" fmla="*/ 1454 h 2501"/>
                  <a:gd name="T48" fmla="*/ 1552 w 1598"/>
                  <a:gd name="T49" fmla="*/ 1600 h 2501"/>
                  <a:gd name="T50" fmla="*/ 1524 w 1598"/>
                  <a:gd name="T51" fmla="*/ 1695 h 2501"/>
                  <a:gd name="T52" fmla="*/ 1468 w 1598"/>
                  <a:gd name="T53" fmla="*/ 1831 h 2501"/>
                  <a:gd name="T54" fmla="*/ 1401 w 1598"/>
                  <a:gd name="T55" fmla="*/ 1959 h 2501"/>
                  <a:gd name="T56" fmla="*/ 1319 w 1598"/>
                  <a:gd name="T57" fmla="*/ 2080 h 2501"/>
                  <a:gd name="T58" fmla="*/ 1193 w 1598"/>
                  <a:gd name="T59" fmla="*/ 2225 h 2501"/>
                  <a:gd name="T60" fmla="*/ 1047 w 1598"/>
                  <a:gd name="T61" fmla="*/ 2350 h 2501"/>
                  <a:gd name="T62" fmla="*/ 927 w 1598"/>
                  <a:gd name="T63" fmla="*/ 2431 h 2501"/>
                  <a:gd name="T64" fmla="*/ 798 w 1598"/>
                  <a:gd name="T65" fmla="*/ 2501 h 2501"/>
                  <a:gd name="T66" fmla="*/ 670 w 1598"/>
                  <a:gd name="T67" fmla="*/ 2431 h 2501"/>
                  <a:gd name="T68" fmla="*/ 550 w 1598"/>
                  <a:gd name="T69" fmla="*/ 2350 h 2501"/>
                  <a:gd name="T70" fmla="*/ 404 w 1598"/>
                  <a:gd name="T71" fmla="*/ 2225 h 2501"/>
                  <a:gd name="T72" fmla="*/ 308 w 1598"/>
                  <a:gd name="T73" fmla="*/ 2117 h 2501"/>
                  <a:gd name="T74" fmla="*/ 222 w 1598"/>
                  <a:gd name="T75" fmla="*/ 2001 h 2501"/>
                  <a:gd name="T76" fmla="*/ 172 w 1598"/>
                  <a:gd name="T77" fmla="*/ 1917 h 2501"/>
                  <a:gd name="T78" fmla="*/ 108 w 1598"/>
                  <a:gd name="T79" fmla="*/ 1786 h 2501"/>
                  <a:gd name="T80" fmla="*/ 73 w 1598"/>
                  <a:gd name="T81" fmla="*/ 1695 h 2501"/>
                  <a:gd name="T82" fmla="*/ 33 w 1598"/>
                  <a:gd name="T83" fmla="*/ 1552 h 2501"/>
                  <a:gd name="T84" fmla="*/ 15 w 1598"/>
                  <a:gd name="T85" fmla="*/ 1454 h 2501"/>
                  <a:gd name="T86" fmla="*/ 4 w 1598"/>
                  <a:gd name="T87" fmla="*/ 1353 h 2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98" h="2501">
                    <a:moveTo>
                      <a:pt x="0" y="1249"/>
                    </a:moveTo>
                    <a:lnTo>
                      <a:pt x="1" y="1198"/>
                    </a:lnTo>
                    <a:lnTo>
                      <a:pt x="4" y="1147"/>
                    </a:lnTo>
                    <a:lnTo>
                      <a:pt x="15" y="1046"/>
                    </a:lnTo>
                    <a:lnTo>
                      <a:pt x="33" y="947"/>
                    </a:lnTo>
                    <a:lnTo>
                      <a:pt x="45" y="899"/>
                    </a:lnTo>
                    <a:lnTo>
                      <a:pt x="58" y="851"/>
                    </a:lnTo>
                    <a:lnTo>
                      <a:pt x="73" y="804"/>
                    </a:lnTo>
                    <a:lnTo>
                      <a:pt x="90" y="758"/>
                    </a:lnTo>
                    <a:lnTo>
                      <a:pt x="127" y="669"/>
                    </a:lnTo>
                    <a:lnTo>
                      <a:pt x="172" y="582"/>
                    </a:lnTo>
                    <a:lnTo>
                      <a:pt x="197" y="540"/>
                    </a:lnTo>
                    <a:lnTo>
                      <a:pt x="222" y="499"/>
                    </a:lnTo>
                    <a:lnTo>
                      <a:pt x="278" y="419"/>
                    </a:lnTo>
                    <a:lnTo>
                      <a:pt x="338" y="346"/>
                    </a:lnTo>
                    <a:lnTo>
                      <a:pt x="404" y="275"/>
                    </a:lnTo>
                    <a:lnTo>
                      <a:pt x="475" y="209"/>
                    </a:lnTo>
                    <a:lnTo>
                      <a:pt x="550" y="149"/>
                    </a:lnTo>
                    <a:lnTo>
                      <a:pt x="629" y="93"/>
                    </a:lnTo>
                    <a:lnTo>
                      <a:pt x="670" y="67"/>
                    </a:lnTo>
                    <a:lnTo>
                      <a:pt x="712" y="43"/>
                    </a:lnTo>
                    <a:lnTo>
                      <a:pt x="798" y="0"/>
                    </a:lnTo>
                    <a:lnTo>
                      <a:pt x="885" y="43"/>
                    </a:lnTo>
                    <a:lnTo>
                      <a:pt x="927" y="67"/>
                    </a:lnTo>
                    <a:lnTo>
                      <a:pt x="968" y="93"/>
                    </a:lnTo>
                    <a:lnTo>
                      <a:pt x="1047" y="149"/>
                    </a:lnTo>
                    <a:lnTo>
                      <a:pt x="1123" y="209"/>
                    </a:lnTo>
                    <a:lnTo>
                      <a:pt x="1193" y="275"/>
                    </a:lnTo>
                    <a:lnTo>
                      <a:pt x="1258" y="346"/>
                    </a:lnTo>
                    <a:lnTo>
                      <a:pt x="1289" y="382"/>
                    </a:lnTo>
                    <a:lnTo>
                      <a:pt x="1319" y="419"/>
                    </a:lnTo>
                    <a:lnTo>
                      <a:pt x="1375" y="499"/>
                    </a:lnTo>
                    <a:lnTo>
                      <a:pt x="1401" y="540"/>
                    </a:lnTo>
                    <a:lnTo>
                      <a:pt x="1425" y="582"/>
                    </a:lnTo>
                    <a:lnTo>
                      <a:pt x="1468" y="669"/>
                    </a:lnTo>
                    <a:lnTo>
                      <a:pt x="1489" y="713"/>
                    </a:lnTo>
                    <a:lnTo>
                      <a:pt x="1507" y="758"/>
                    </a:lnTo>
                    <a:lnTo>
                      <a:pt x="1524" y="804"/>
                    </a:lnTo>
                    <a:lnTo>
                      <a:pt x="1539" y="851"/>
                    </a:lnTo>
                    <a:lnTo>
                      <a:pt x="1564" y="947"/>
                    </a:lnTo>
                    <a:lnTo>
                      <a:pt x="1573" y="997"/>
                    </a:lnTo>
                    <a:lnTo>
                      <a:pt x="1583" y="1046"/>
                    </a:lnTo>
                    <a:lnTo>
                      <a:pt x="1589" y="1096"/>
                    </a:lnTo>
                    <a:lnTo>
                      <a:pt x="1593" y="1147"/>
                    </a:lnTo>
                    <a:lnTo>
                      <a:pt x="1598" y="1249"/>
                    </a:lnTo>
                    <a:lnTo>
                      <a:pt x="1596" y="1302"/>
                    </a:lnTo>
                    <a:lnTo>
                      <a:pt x="1593" y="1353"/>
                    </a:lnTo>
                    <a:lnTo>
                      <a:pt x="1583" y="1454"/>
                    </a:lnTo>
                    <a:lnTo>
                      <a:pt x="1564" y="1552"/>
                    </a:lnTo>
                    <a:lnTo>
                      <a:pt x="1552" y="1600"/>
                    </a:lnTo>
                    <a:lnTo>
                      <a:pt x="1539" y="1648"/>
                    </a:lnTo>
                    <a:lnTo>
                      <a:pt x="1524" y="1695"/>
                    </a:lnTo>
                    <a:lnTo>
                      <a:pt x="1507" y="1741"/>
                    </a:lnTo>
                    <a:lnTo>
                      <a:pt x="1468" y="1831"/>
                    </a:lnTo>
                    <a:lnTo>
                      <a:pt x="1425" y="1917"/>
                    </a:lnTo>
                    <a:lnTo>
                      <a:pt x="1401" y="1959"/>
                    </a:lnTo>
                    <a:lnTo>
                      <a:pt x="1375" y="2001"/>
                    </a:lnTo>
                    <a:lnTo>
                      <a:pt x="1319" y="2080"/>
                    </a:lnTo>
                    <a:lnTo>
                      <a:pt x="1258" y="2155"/>
                    </a:lnTo>
                    <a:lnTo>
                      <a:pt x="1193" y="2225"/>
                    </a:lnTo>
                    <a:lnTo>
                      <a:pt x="1123" y="2290"/>
                    </a:lnTo>
                    <a:lnTo>
                      <a:pt x="1047" y="2350"/>
                    </a:lnTo>
                    <a:lnTo>
                      <a:pt x="968" y="2406"/>
                    </a:lnTo>
                    <a:lnTo>
                      <a:pt x="927" y="2431"/>
                    </a:lnTo>
                    <a:lnTo>
                      <a:pt x="885" y="2456"/>
                    </a:lnTo>
                    <a:lnTo>
                      <a:pt x="798" y="2501"/>
                    </a:lnTo>
                    <a:lnTo>
                      <a:pt x="712" y="2456"/>
                    </a:lnTo>
                    <a:lnTo>
                      <a:pt x="670" y="2431"/>
                    </a:lnTo>
                    <a:lnTo>
                      <a:pt x="629" y="2406"/>
                    </a:lnTo>
                    <a:lnTo>
                      <a:pt x="550" y="2350"/>
                    </a:lnTo>
                    <a:lnTo>
                      <a:pt x="475" y="2290"/>
                    </a:lnTo>
                    <a:lnTo>
                      <a:pt x="404" y="2225"/>
                    </a:lnTo>
                    <a:lnTo>
                      <a:pt x="338" y="2155"/>
                    </a:lnTo>
                    <a:lnTo>
                      <a:pt x="308" y="2117"/>
                    </a:lnTo>
                    <a:lnTo>
                      <a:pt x="278" y="2080"/>
                    </a:lnTo>
                    <a:lnTo>
                      <a:pt x="222" y="2001"/>
                    </a:lnTo>
                    <a:lnTo>
                      <a:pt x="197" y="1959"/>
                    </a:lnTo>
                    <a:lnTo>
                      <a:pt x="172" y="1917"/>
                    </a:lnTo>
                    <a:lnTo>
                      <a:pt x="127" y="1831"/>
                    </a:lnTo>
                    <a:lnTo>
                      <a:pt x="108" y="1786"/>
                    </a:lnTo>
                    <a:lnTo>
                      <a:pt x="90" y="1741"/>
                    </a:lnTo>
                    <a:lnTo>
                      <a:pt x="73" y="1695"/>
                    </a:lnTo>
                    <a:lnTo>
                      <a:pt x="58" y="1648"/>
                    </a:lnTo>
                    <a:lnTo>
                      <a:pt x="33" y="1552"/>
                    </a:lnTo>
                    <a:lnTo>
                      <a:pt x="24" y="1504"/>
                    </a:lnTo>
                    <a:lnTo>
                      <a:pt x="15" y="1454"/>
                    </a:lnTo>
                    <a:lnTo>
                      <a:pt x="9" y="1403"/>
                    </a:lnTo>
                    <a:lnTo>
                      <a:pt x="4" y="1353"/>
                    </a:lnTo>
                    <a:lnTo>
                      <a:pt x="0" y="1249"/>
                    </a:lnTo>
                  </a:path>
                </a:pathLst>
              </a:custGeom>
              <a:noFill/>
              <a:ln w="6350">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4" name="Freeform 18"/>
              <p:cNvSpPr/>
              <p:nvPr/>
            </p:nvSpPr>
            <p:spPr bwMode="auto">
              <a:xfrm>
                <a:off x="4598" y="2404"/>
                <a:ext cx="654" cy="695"/>
              </a:xfrm>
              <a:custGeom>
                <a:avLst/>
                <a:gdLst>
                  <a:gd name="T0" fmla="*/ 3 w 1598"/>
                  <a:gd name="T1" fmla="*/ 1173 h 1696"/>
                  <a:gd name="T2" fmla="*/ 15 w 1598"/>
                  <a:gd name="T3" fmla="*/ 1046 h 1696"/>
                  <a:gd name="T4" fmla="*/ 33 w 1598"/>
                  <a:gd name="T5" fmla="*/ 947 h 1696"/>
                  <a:gd name="T6" fmla="*/ 58 w 1598"/>
                  <a:gd name="T7" fmla="*/ 852 h 1696"/>
                  <a:gd name="T8" fmla="*/ 108 w 1598"/>
                  <a:gd name="T9" fmla="*/ 713 h 1696"/>
                  <a:gd name="T10" fmla="*/ 150 w 1598"/>
                  <a:gd name="T11" fmla="*/ 625 h 1696"/>
                  <a:gd name="T12" fmla="*/ 197 w 1598"/>
                  <a:gd name="T13" fmla="*/ 540 h 1696"/>
                  <a:gd name="T14" fmla="*/ 249 w 1598"/>
                  <a:gd name="T15" fmla="*/ 458 h 1696"/>
                  <a:gd name="T16" fmla="*/ 323 w 1598"/>
                  <a:gd name="T17" fmla="*/ 364 h 1696"/>
                  <a:gd name="T18" fmla="*/ 404 w 1598"/>
                  <a:gd name="T19" fmla="*/ 275 h 1696"/>
                  <a:gd name="T20" fmla="*/ 512 w 1598"/>
                  <a:gd name="T21" fmla="*/ 179 h 1696"/>
                  <a:gd name="T22" fmla="*/ 589 w 1598"/>
                  <a:gd name="T23" fmla="*/ 120 h 1696"/>
                  <a:gd name="T24" fmla="*/ 670 w 1598"/>
                  <a:gd name="T25" fmla="*/ 67 h 1696"/>
                  <a:gd name="T26" fmla="*/ 799 w 1598"/>
                  <a:gd name="T27" fmla="*/ 0 h 1696"/>
                  <a:gd name="T28" fmla="*/ 927 w 1598"/>
                  <a:gd name="T29" fmla="*/ 67 h 1696"/>
                  <a:gd name="T30" fmla="*/ 1008 w 1598"/>
                  <a:gd name="T31" fmla="*/ 120 h 1696"/>
                  <a:gd name="T32" fmla="*/ 1123 w 1598"/>
                  <a:gd name="T33" fmla="*/ 209 h 1696"/>
                  <a:gd name="T34" fmla="*/ 1226 w 1598"/>
                  <a:gd name="T35" fmla="*/ 310 h 1696"/>
                  <a:gd name="T36" fmla="*/ 1319 w 1598"/>
                  <a:gd name="T37" fmla="*/ 421 h 1696"/>
                  <a:gd name="T38" fmla="*/ 1375 w 1598"/>
                  <a:gd name="T39" fmla="*/ 499 h 1696"/>
                  <a:gd name="T40" fmla="*/ 1447 w 1598"/>
                  <a:gd name="T41" fmla="*/ 625 h 1696"/>
                  <a:gd name="T42" fmla="*/ 1489 w 1598"/>
                  <a:gd name="T43" fmla="*/ 713 h 1696"/>
                  <a:gd name="T44" fmla="*/ 1524 w 1598"/>
                  <a:gd name="T45" fmla="*/ 804 h 1696"/>
                  <a:gd name="T46" fmla="*/ 1552 w 1598"/>
                  <a:gd name="T47" fmla="*/ 899 h 1696"/>
                  <a:gd name="T48" fmla="*/ 1575 w 1598"/>
                  <a:gd name="T49" fmla="*/ 997 h 1696"/>
                  <a:gd name="T50" fmla="*/ 1589 w 1598"/>
                  <a:gd name="T51" fmla="*/ 1096 h 1696"/>
                  <a:gd name="T52" fmla="*/ 1598 w 1598"/>
                  <a:gd name="T53" fmla="*/ 1249 h 1696"/>
                  <a:gd name="T54" fmla="*/ 1595 w 1598"/>
                  <a:gd name="T55" fmla="*/ 1346 h 1696"/>
                  <a:gd name="T56" fmla="*/ 1584 w 1598"/>
                  <a:gd name="T57" fmla="*/ 1440 h 1696"/>
                  <a:gd name="T58" fmla="*/ 1498 w 1598"/>
                  <a:gd name="T59" fmla="*/ 1498 h 1696"/>
                  <a:gd name="T60" fmla="*/ 1360 w 1598"/>
                  <a:gd name="T61" fmla="*/ 1571 h 1696"/>
                  <a:gd name="T62" fmla="*/ 1262 w 1598"/>
                  <a:gd name="T63" fmla="*/ 1612 h 1696"/>
                  <a:gd name="T64" fmla="*/ 1187 w 1598"/>
                  <a:gd name="T65" fmla="*/ 1637 h 1696"/>
                  <a:gd name="T66" fmla="*/ 1110 w 1598"/>
                  <a:gd name="T67" fmla="*/ 1658 h 1696"/>
                  <a:gd name="T68" fmla="*/ 1004 w 1598"/>
                  <a:gd name="T69" fmla="*/ 1680 h 1696"/>
                  <a:gd name="T70" fmla="*/ 924 w 1598"/>
                  <a:gd name="T71" fmla="*/ 1690 h 1696"/>
                  <a:gd name="T72" fmla="*/ 786 w 1598"/>
                  <a:gd name="T73" fmla="*/ 1696 h 1696"/>
                  <a:gd name="T74" fmla="*/ 679 w 1598"/>
                  <a:gd name="T75" fmla="*/ 1693 h 1696"/>
                  <a:gd name="T76" fmla="*/ 575 w 1598"/>
                  <a:gd name="T77" fmla="*/ 1681 h 1696"/>
                  <a:gd name="T78" fmla="*/ 425 w 1598"/>
                  <a:gd name="T79" fmla="*/ 1648 h 1696"/>
                  <a:gd name="T80" fmla="*/ 329 w 1598"/>
                  <a:gd name="T81" fmla="*/ 1618 h 1696"/>
                  <a:gd name="T82" fmla="*/ 234 w 1598"/>
                  <a:gd name="T83" fmla="*/ 1582 h 1696"/>
                  <a:gd name="T84" fmla="*/ 166 w 1598"/>
                  <a:gd name="T85" fmla="*/ 1550 h 1696"/>
                  <a:gd name="T86" fmla="*/ 58 w 1598"/>
                  <a:gd name="T87" fmla="*/ 1489 h 1696"/>
                  <a:gd name="T88" fmla="*/ 6 w 1598"/>
                  <a:gd name="T89" fmla="*/ 1383 h 1696"/>
                  <a:gd name="T90" fmla="*/ 1 w 1598"/>
                  <a:gd name="T91" fmla="*/ 1304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98" h="1696">
                    <a:moveTo>
                      <a:pt x="0" y="1249"/>
                    </a:moveTo>
                    <a:lnTo>
                      <a:pt x="1" y="1198"/>
                    </a:lnTo>
                    <a:lnTo>
                      <a:pt x="3" y="1173"/>
                    </a:lnTo>
                    <a:lnTo>
                      <a:pt x="4" y="1147"/>
                    </a:lnTo>
                    <a:lnTo>
                      <a:pt x="9" y="1096"/>
                    </a:lnTo>
                    <a:lnTo>
                      <a:pt x="15" y="1046"/>
                    </a:lnTo>
                    <a:lnTo>
                      <a:pt x="24" y="997"/>
                    </a:lnTo>
                    <a:lnTo>
                      <a:pt x="28" y="973"/>
                    </a:lnTo>
                    <a:lnTo>
                      <a:pt x="33" y="947"/>
                    </a:lnTo>
                    <a:lnTo>
                      <a:pt x="45" y="899"/>
                    </a:lnTo>
                    <a:lnTo>
                      <a:pt x="51" y="875"/>
                    </a:lnTo>
                    <a:lnTo>
                      <a:pt x="58" y="852"/>
                    </a:lnTo>
                    <a:lnTo>
                      <a:pt x="73" y="804"/>
                    </a:lnTo>
                    <a:lnTo>
                      <a:pt x="90" y="759"/>
                    </a:lnTo>
                    <a:lnTo>
                      <a:pt x="108" y="713"/>
                    </a:lnTo>
                    <a:lnTo>
                      <a:pt x="129" y="669"/>
                    </a:lnTo>
                    <a:lnTo>
                      <a:pt x="139" y="646"/>
                    </a:lnTo>
                    <a:lnTo>
                      <a:pt x="150" y="625"/>
                    </a:lnTo>
                    <a:lnTo>
                      <a:pt x="172" y="582"/>
                    </a:lnTo>
                    <a:lnTo>
                      <a:pt x="185" y="561"/>
                    </a:lnTo>
                    <a:lnTo>
                      <a:pt x="197" y="540"/>
                    </a:lnTo>
                    <a:lnTo>
                      <a:pt x="222" y="499"/>
                    </a:lnTo>
                    <a:lnTo>
                      <a:pt x="236" y="479"/>
                    </a:lnTo>
                    <a:lnTo>
                      <a:pt x="249" y="458"/>
                    </a:lnTo>
                    <a:lnTo>
                      <a:pt x="278" y="421"/>
                    </a:lnTo>
                    <a:lnTo>
                      <a:pt x="308" y="382"/>
                    </a:lnTo>
                    <a:lnTo>
                      <a:pt x="323" y="364"/>
                    </a:lnTo>
                    <a:lnTo>
                      <a:pt x="339" y="346"/>
                    </a:lnTo>
                    <a:lnTo>
                      <a:pt x="371" y="310"/>
                    </a:lnTo>
                    <a:lnTo>
                      <a:pt x="404" y="275"/>
                    </a:lnTo>
                    <a:lnTo>
                      <a:pt x="439" y="242"/>
                    </a:lnTo>
                    <a:lnTo>
                      <a:pt x="475" y="209"/>
                    </a:lnTo>
                    <a:lnTo>
                      <a:pt x="512" y="179"/>
                    </a:lnTo>
                    <a:lnTo>
                      <a:pt x="550" y="149"/>
                    </a:lnTo>
                    <a:lnTo>
                      <a:pt x="569" y="135"/>
                    </a:lnTo>
                    <a:lnTo>
                      <a:pt x="589" y="120"/>
                    </a:lnTo>
                    <a:lnTo>
                      <a:pt x="608" y="106"/>
                    </a:lnTo>
                    <a:lnTo>
                      <a:pt x="629" y="93"/>
                    </a:lnTo>
                    <a:lnTo>
                      <a:pt x="670" y="67"/>
                    </a:lnTo>
                    <a:lnTo>
                      <a:pt x="712" y="43"/>
                    </a:lnTo>
                    <a:lnTo>
                      <a:pt x="754" y="21"/>
                    </a:lnTo>
                    <a:lnTo>
                      <a:pt x="799" y="0"/>
                    </a:lnTo>
                    <a:lnTo>
                      <a:pt x="843" y="21"/>
                    </a:lnTo>
                    <a:lnTo>
                      <a:pt x="885" y="43"/>
                    </a:lnTo>
                    <a:lnTo>
                      <a:pt x="927" y="67"/>
                    </a:lnTo>
                    <a:lnTo>
                      <a:pt x="969" y="93"/>
                    </a:lnTo>
                    <a:lnTo>
                      <a:pt x="989" y="106"/>
                    </a:lnTo>
                    <a:lnTo>
                      <a:pt x="1008" y="120"/>
                    </a:lnTo>
                    <a:lnTo>
                      <a:pt x="1047" y="149"/>
                    </a:lnTo>
                    <a:lnTo>
                      <a:pt x="1085" y="179"/>
                    </a:lnTo>
                    <a:lnTo>
                      <a:pt x="1123" y="209"/>
                    </a:lnTo>
                    <a:lnTo>
                      <a:pt x="1159" y="242"/>
                    </a:lnTo>
                    <a:lnTo>
                      <a:pt x="1193" y="275"/>
                    </a:lnTo>
                    <a:lnTo>
                      <a:pt x="1226" y="310"/>
                    </a:lnTo>
                    <a:lnTo>
                      <a:pt x="1259" y="346"/>
                    </a:lnTo>
                    <a:lnTo>
                      <a:pt x="1289" y="382"/>
                    </a:lnTo>
                    <a:lnTo>
                      <a:pt x="1319" y="421"/>
                    </a:lnTo>
                    <a:lnTo>
                      <a:pt x="1348" y="458"/>
                    </a:lnTo>
                    <a:lnTo>
                      <a:pt x="1362" y="479"/>
                    </a:lnTo>
                    <a:lnTo>
                      <a:pt x="1375" y="499"/>
                    </a:lnTo>
                    <a:lnTo>
                      <a:pt x="1401" y="540"/>
                    </a:lnTo>
                    <a:lnTo>
                      <a:pt x="1425" y="582"/>
                    </a:lnTo>
                    <a:lnTo>
                      <a:pt x="1447" y="625"/>
                    </a:lnTo>
                    <a:lnTo>
                      <a:pt x="1459" y="646"/>
                    </a:lnTo>
                    <a:lnTo>
                      <a:pt x="1470" y="669"/>
                    </a:lnTo>
                    <a:lnTo>
                      <a:pt x="1489" y="713"/>
                    </a:lnTo>
                    <a:lnTo>
                      <a:pt x="1507" y="759"/>
                    </a:lnTo>
                    <a:lnTo>
                      <a:pt x="1516" y="782"/>
                    </a:lnTo>
                    <a:lnTo>
                      <a:pt x="1524" y="804"/>
                    </a:lnTo>
                    <a:lnTo>
                      <a:pt x="1539" y="852"/>
                    </a:lnTo>
                    <a:lnTo>
                      <a:pt x="1546" y="875"/>
                    </a:lnTo>
                    <a:lnTo>
                      <a:pt x="1552" y="899"/>
                    </a:lnTo>
                    <a:lnTo>
                      <a:pt x="1558" y="923"/>
                    </a:lnTo>
                    <a:lnTo>
                      <a:pt x="1564" y="947"/>
                    </a:lnTo>
                    <a:lnTo>
                      <a:pt x="1575" y="997"/>
                    </a:lnTo>
                    <a:lnTo>
                      <a:pt x="1583" y="1046"/>
                    </a:lnTo>
                    <a:lnTo>
                      <a:pt x="1586" y="1070"/>
                    </a:lnTo>
                    <a:lnTo>
                      <a:pt x="1589" y="1096"/>
                    </a:lnTo>
                    <a:lnTo>
                      <a:pt x="1593" y="1147"/>
                    </a:lnTo>
                    <a:lnTo>
                      <a:pt x="1596" y="1198"/>
                    </a:lnTo>
                    <a:lnTo>
                      <a:pt x="1598" y="1249"/>
                    </a:lnTo>
                    <a:lnTo>
                      <a:pt x="1596" y="1299"/>
                    </a:lnTo>
                    <a:lnTo>
                      <a:pt x="1596" y="1322"/>
                    </a:lnTo>
                    <a:lnTo>
                      <a:pt x="1595" y="1346"/>
                    </a:lnTo>
                    <a:lnTo>
                      <a:pt x="1590" y="1394"/>
                    </a:lnTo>
                    <a:lnTo>
                      <a:pt x="1587" y="1418"/>
                    </a:lnTo>
                    <a:lnTo>
                      <a:pt x="1584" y="1440"/>
                    </a:lnTo>
                    <a:lnTo>
                      <a:pt x="1563" y="1455"/>
                    </a:lnTo>
                    <a:lnTo>
                      <a:pt x="1542" y="1470"/>
                    </a:lnTo>
                    <a:lnTo>
                      <a:pt x="1498" y="1498"/>
                    </a:lnTo>
                    <a:lnTo>
                      <a:pt x="1453" y="1525"/>
                    </a:lnTo>
                    <a:lnTo>
                      <a:pt x="1407" y="1549"/>
                    </a:lnTo>
                    <a:lnTo>
                      <a:pt x="1360" y="1571"/>
                    </a:lnTo>
                    <a:lnTo>
                      <a:pt x="1312" y="1592"/>
                    </a:lnTo>
                    <a:lnTo>
                      <a:pt x="1286" y="1603"/>
                    </a:lnTo>
                    <a:lnTo>
                      <a:pt x="1262" y="1612"/>
                    </a:lnTo>
                    <a:lnTo>
                      <a:pt x="1237" y="1621"/>
                    </a:lnTo>
                    <a:lnTo>
                      <a:pt x="1213" y="1628"/>
                    </a:lnTo>
                    <a:lnTo>
                      <a:pt x="1187" y="1637"/>
                    </a:lnTo>
                    <a:lnTo>
                      <a:pt x="1162" y="1645"/>
                    </a:lnTo>
                    <a:lnTo>
                      <a:pt x="1136" y="1651"/>
                    </a:lnTo>
                    <a:lnTo>
                      <a:pt x="1110" y="1658"/>
                    </a:lnTo>
                    <a:lnTo>
                      <a:pt x="1058" y="1669"/>
                    </a:lnTo>
                    <a:lnTo>
                      <a:pt x="1031" y="1675"/>
                    </a:lnTo>
                    <a:lnTo>
                      <a:pt x="1004" y="1680"/>
                    </a:lnTo>
                    <a:lnTo>
                      <a:pt x="978" y="1683"/>
                    </a:lnTo>
                    <a:lnTo>
                      <a:pt x="951" y="1687"/>
                    </a:lnTo>
                    <a:lnTo>
                      <a:pt x="924" y="1690"/>
                    </a:lnTo>
                    <a:lnTo>
                      <a:pt x="896" y="1692"/>
                    </a:lnTo>
                    <a:lnTo>
                      <a:pt x="841" y="1695"/>
                    </a:lnTo>
                    <a:lnTo>
                      <a:pt x="786" y="1696"/>
                    </a:lnTo>
                    <a:lnTo>
                      <a:pt x="732" y="1696"/>
                    </a:lnTo>
                    <a:lnTo>
                      <a:pt x="706" y="1695"/>
                    </a:lnTo>
                    <a:lnTo>
                      <a:pt x="679" y="1693"/>
                    </a:lnTo>
                    <a:lnTo>
                      <a:pt x="628" y="1687"/>
                    </a:lnTo>
                    <a:lnTo>
                      <a:pt x="601" y="1684"/>
                    </a:lnTo>
                    <a:lnTo>
                      <a:pt x="575" y="1681"/>
                    </a:lnTo>
                    <a:lnTo>
                      <a:pt x="524" y="1672"/>
                    </a:lnTo>
                    <a:lnTo>
                      <a:pt x="475" y="1661"/>
                    </a:lnTo>
                    <a:lnTo>
                      <a:pt x="425" y="1648"/>
                    </a:lnTo>
                    <a:lnTo>
                      <a:pt x="401" y="1642"/>
                    </a:lnTo>
                    <a:lnTo>
                      <a:pt x="375" y="1634"/>
                    </a:lnTo>
                    <a:lnTo>
                      <a:pt x="329" y="1618"/>
                    </a:lnTo>
                    <a:lnTo>
                      <a:pt x="281" y="1601"/>
                    </a:lnTo>
                    <a:lnTo>
                      <a:pt x="258" y="1591"/>
                    </a:lnTo>
                    <a:lnTo>
                      <a:pt x="234" y="1582"/>
                    </a:lnTo>
                    <a:lnTo>
                      <a:pt x="212" y="1571"/>
                    </a:lnTo>
                    <a:lnTo>
                      <a:pt x="189" y="1561"/>
                    </a:lnTo>
                    <a:lnTo>
                      <a:pt x="166" y="1550"/>
                    </a:lnTo>
                    <a:lnTo>
                      <a:pt x="144" y="1538"/>
                    </a:lnTo>
                    <a:lnTo>
                      <a:pt x="100" y="1514"/>
                    </a:lnTo>
                    <a:lnTo>
                      <a:pt x="58" y="1489"/>
                    </a:lnTo>
                    <a:lnTo>
                      <a:pt x="16" y="1461"/>
                    </a:lnTo>
                    <a:lnTo>
                      <a:pt x="9" y="1409"/>
                    </a:lnTo>
                    <a:lnTo>
                      <a:pt x="6" y="1383"/>
                    </a:lnTo>
                    <a:lnTo>
                      <a:pt x="4" y="1356"/>
                    </a:lnTo>
                    <a:lnTo>
                      <a:pt x="3" y="1331"/>
                    </a:lnTo>
                    <a:lnTo>
                      <a:pt x="1" y="1304"/>
                    </a:lnTo>
                    <a:lnTo>
                      <a:pt x="0" y="1276"/>
                    </a:lnTo>
                    <a:lnTo>
                      <a:pt x="0" y="1249"/>
                    </a:lnTo>
                    <a:close/>
                  </a:path>
                </a:pathLst>
              </a:custGeom>
              <a:solidFill>
                <a:srgbClr val="7889FB"/>
              </a:solidFill>
              <a:ln w="6350">
                <a:solidFill>
                  <a:srgbClr val="7889FB"/>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6" name="Freeform 19"/>
              <p:cNvSpPr/>
              <p:nvPr/>
            </p:nvSpPr>
            <p:spPr bwMode="auto">
              <a:xfrm>
                <a:off x="4598" y="2404"/>
                <a:ext cx="654" cy="695"/>
              </a:xfrm>
              <a:custGeom>
                <a:avLst/>
                <a:gdLst>
                  <a:gd name="T0" fmla="*/ 1 w 1598"/>
                  <a:gd name="T1" fmla="*/ 1198 h 1696"/>
                  <a:gd name="T2" fmla="*/ 15 w 1598"/>
                  <a:gd name="T3" fmla="*/ 1046 h 1696"/>
                  <a:gd name="T4" fmla="*/ 45 w 1598"/>
                  <a:gd name="T5" fmla="*/ 899 h 1696"/>
                  <a:gd name="T6" fmla="*/ 73 w 1598"/>
                  <a:gd name="T7" fmla="*/ 804 h 1696"/>
                  <a:gd name="T8" fmla="*/ 127 w 1598"/>
                  <a:gd name="T9" fmla="*/ 669 h 1696"/>
                  <a:gd name="T10" fmla="*/ 197 w 1598"/>
                  <a:gd name="T11" fmla="*/ 540 h 1696"/>
                  <a:gd name="T12" fmla="*/ 278 w 1598"/>
                  <a:gd name="T13" fmla="*/ 419 h 1696"/>
                  <a:gd name="T14" fmla="*/ 404 w 1598"/>
                  <a:gd name="T15" fmla="*/ 275 h 1696"/>
                  <a:gd name="T16" fmla="*/ 550 w 1598"/>
                  <a:gd name="T17" fmla="*/ 149 h 1696"/>
                  <a:gd name="T18" fmla="*/ 670 w 1598"/>
                  <a:gd name="T19" fmla="*/ 67 h 1696"/>
                  <a:gd name="T20" fmla="*/ 798 w 1598"/>
                  <a:gd name="T21" fmla="*/ 0 h 1696"/>
                  <a:gd name="T22" fmla="*/ 927 w 1598"/>
                  <a:gd name="T23" fmla="*/ 67 h 1696"/>
                  <a:gd name="T24" fmla="*/ 1047 w 1598"/>
                  <a:gd name="T25" fmla="*/ 149 h 1696"/>
                  <a:gd name="T26" fmla="*/ 1193 w 1598"/>
                  <a:gd name="T27" fmla="*/ 275 h 1696"/>
                  <a:gd name="T28" fmla="*/ 1289 w 1598"/>
                  <a:gd name="T29" fmla="*/ 382 h 1696"/>
                  <a:gd name="T30" fmla="*/ 1375 w 1598"/>
                  <a:gd name="T31" fmla="*/ 499 h 1696"/>
                  <a:gd name="T32" fmla="*/ 1425 w 1598"/>
                  <a:gd name="T33" fmla="*/ 582 h 1696"/>
                  <a:gd name="T34" fmla="*/ 1489 w 1598"/>
                  <a:gd name="T35" fmla="*/ 713 h 1696"/>
                  <a:gd name="T36" fmla="*/ 1524 w 1598"/>
                  <a:gd name="T37" fmla="*/ 804 h 1696"/>
                  <a:gd name="T38" fmla="*/ 1564 w 1598"/>
                  <a:gd name="T39" fmla="*/ 947 h 1696"/>
                  <a:gd name="T40" fmla="*/ 1583 w 1598"/>
                  <a:gd name="T41" fmla="*/ 1046 h 1696"/>
                  <a:gd name="T42" fmla="*/ 1593 w 1598"/>
                  <a:gd name="T43" fmla="*/ 1147 h 1696"/>
                  <a:gd name="T44" fmla="*/ 1595 w 1598"/>
                  <a:gd name="T45" fmla="*/ 1346 h 1696"/>
                  <a:gd name="T46" fmla="*/ 1584 w 1598"/>
                  <a:gd name="T47" fmla="*/ 1440 h 1696"/>
                  <a:gd name="T48" fmla="*/ 1407 w 1598"/>
                  <a:gd name="T49" fmla="*/ 1549 h 1696"/>
                  <a:gd name="T50" fmla="*/ 1213 w 1598"/>
                  <a:gd name="T51" fmla="*/ 1628 h 1696"/>
                  <a:gd name="T52" fmla="*/ 1109 w 1598"/>
                  <a:gd name="T53" fmla="*/ 1657 h 1696"/>
                  <a:gd name="T54" fmla="*/ 1004 w 1598"/>
                  <a:gd name="T55" fmla="*/ 1680 h 1696"/>
                  <a:gd name="T56" fmla="*/ 786 w 1598"/>
                  <a:gd name="T57" fmla="*/ 1696 h 1696"/>
                  <a:gd name="T58" fmla="*/ 626 w 1598"/>
                  <a:gd name="T59" fmla="*/ 1687 h 1696"/>
                  <a:gd name="T60" fmla="*/ 524 w 1598"/>
                  <a:gd name="T61" fmla="*/ 1672 h 1696"/>
                  <a:gd name="T62" fmla="*/ 425 w 1598"/>
                  <a:gd name="T63" fmla="*/ 1648 h 1696"/>
                  <a:gd name="T64" fmla="*/ 281 w 1598"/>
                  <a:gd name="T65" fmla="*/ 1601 h 1696"/>
                  <a:gd name="T66" fmla="*/ 189 w 1598"/>
                  <a:gd name="T67" fmla="*/ 1561 h 1696"/>
                  <a:gd name="T68" fmla="*/ 16 w 1598"/>
                  <a:gd name="T69" fmla="*/ 1461 h 1696"/>
                  <a:gd name="T70" fmla="*/ 4 w 1598"/>
                  <a:gd name="T71" fmla="*/ 1356 h 1696"/>
                  <a:gd name="T72" fmla="*/ 0 w 1598"/>
                  <a:gd name="T73" fmla="*/ 1249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8" h="1696">
                    <a:moveTo>
                      <a:pt x="0" y="1249"/>
                    </a:moveTo>
                    <a:lnTo>
                      <a:pt x="1" y="1198"/>
                    </a:lnTo>
                    <a:lnTo>
                      <a:pt x="4" y="1147"/>
                    </a:lnTo>
                    <a:lnTo>
                      <a:pt x="15" y="1046"/>
                    </a:lnTo>
                    <a:lnTo>
                      <a:pt x="33" y="947"/>
                    </a:lnTo>
                    <a:lnTo>
                      <a:pt x="45" y="899"/>
                    </a:lnTo>
                    <a:lnTo>
                      <a:pt x="58" y="851"/>
                    </a:lnTo>
                    <a:lnTo>
                      <a:pt x="73" y="804"/>
                    </a:lnTo>
                    <a:lnTo>
                      <a:pt x="90" y="758"/>
                    </a:lnTo>
                    <a:lnTo>
                      <a:pt x="127" y="669"/>
                    </a:lnTo>
                    <a:lnTo>
                      <a:pt x="172" y="582"/>
                    </a:lnTo>
                    <a:lnTo>
                      <a:pt x="197" y="540"/>
                    </a:lnTo>
                    <a:lnTo>
                      <a:pt x="222" y="499"/>
                    </a:lnTo>
                    <a:lnTo>
                      <a:pt x="278" y="419"/>
                    </a:lnTo>
                    <a:lnTo>
                      <a:pt x="338" y="346"/>
                    </a:lnTo>
                    <a:lnTo>
                      <a:pt x="404" y="275"/>
                    </a:lnTo>
                    <a:lnTo>
                      <a:pt x="475" y="209"/>
                    </a:lnTo>
                    <a:lnTo>
                      <a:pt x="550" y="149"/>
                    </a:lnTo>
                    <a:lnTo>
                      <a:pt x="629" y="93"/>
                    </a:lnTo>
                    <a:lnTo>
                      <a:pt x="670" y="67"/>
                    </a:lnTo>
                    <a:lnTo>
                      <a:pt x="712" y="43"/>
                    </a:lnTo>
                    <a:lnTo>
                      <a:pt x="798" y="0"/>
                    </a:lnTo>
                    <a:lnTo>
                      <a:pt x="885" y="43"/>
                    </a:lnTo>
                    <a:lnTo>
                      <a:pt x="927" y="67"/>
                    </a:lnTo>
                    <a:lnTo>
                      <a:pt x="968" y="93"/>
                    </a:lnTo>
                    <a:lnTo>
                      <a:pt x="1047" y="149"/>
                    </a:lnTo>
                    <a:lnTo>
                      <a:pt x="1123" y="209"/>
                    </a:lnTo>
                    <a:lnTo>
                      <a:pt x="1193" y="275"/>
                    </a:lnTo>
                    <a:lnTo>
                      <a:pt x="1258" y="346"/>
                    </a:lnTo>
                    <a:lnTo>
                      <a:pt x="1289" y="382"/>
                    </a:lnTo>
                    <a:lnTo>
                      <a:pt x="1319" y="419"/>
                    </a:lnTo>
                    <a:lnTo>
                      <a:pt x="1375" y="499"/>
                    </a:lnTo>
                    <a:lnTo>
                      <a:pt x="1401" y="540"/>
                    </a:lnTo>
                    <a:lnTo>
                      <a:pt x="1425" y="582"/>
                    </a:lnTo>
                    <a:lnTo>
                      <a:pt x="1468" y="669"/>
                    </a:lnTo>
                    <a:lnTo>
                      <a:pt x="1489" y="713"/>
                    </a:lnTo>
                    <a:lnTo>
                      <a:pt x="1507" y="758"/>
                    </a:lnTo>
                    <a:lnTo>
                      <a:pt x="1524" y="804"/>
                    </a:lnTo>
                    <a:lnTo>
                      <a:pt x="1539" y="851"/>
                    </a:lnTo>
                    <a:lnTo>
                      <a:pt x="1564" y="947"/>
                    </a:lnTo>
                    <a:lnTo>
                      <a:pt x="1573" y="997"/>
                    </a:lnTo>
                    <a:lnTo>
                      <a:pt x="1583" y="1046"/>
                    </a:lnTo>
                    <a:lnTo>
                      <a:pt x="1589" y="1096"/>
                    </a:lnTo>
                    <a:lnTo>
                      <a:pt x="1593" y="1147"/>
                    </a:lnTo>
                    <a:lnTo>
                      <a:pt x="1598" y="1249"/>
                    </a:lnTo>
                    <a:lnTo>
                      <a:pt x="1595" y="1346"/>
                    </a:lnTo>
                    <a:lnTo>
                      <a:pt x="1590" y="1394"/>
                    </a:lnTo>
                    <a:lnTo>
                      <a:pt x="1584" y="1440"/>
                    </a:lnTo>
                    <a:lnTo>
                      <a:pt x="1497" y="1498"/>
                    </a:lnTo>
                    <a:lnTo>
                      <a:pt x="1407" y="1549"/>
                    </a:lnTo>
                    <a:lnTo>
                      <a:pt x="1310" y="1592"/>
                    </a:lnTo>
                    <a:lnTo>
                      <a:pt x="1213" y="1628"/>
                    </a:lnTo>
                    <a:lnTo>
                      <a:pt x="1162" y="1643"/>
                    </a:lnTo>
                    <a:lnTo>
                      <a:pt x="1109" y="1657"/>
                    </a:lnTo>
                    <a:lnTo>
                      <a:pt x="1058" y="1669"/>
                    </a:lnTo>
                    <a:lnTo>
                      <a:pt x="1004" y="1680"/>
                    </a:lnTo>
                    <a:lnTo>
                      <a:pt x="896" y="1692"/>
                    </a:lnTo>
                    <a:lnTo>
                      <a:pt x="786" y="1696"/>
                    </a:lnTo>
                    <a:lnTo>
                      <a:pt x="679" y="1692"/>
                    </a:lnTo>
                    <a:lnTo>
                      <a:pt x="626" y="1687"/>
                    </a:lnTo>
                    <a:lnTo>
                      <a:pt x="575" y="1681"/>
                    </a:lnTo>
                    <a:lnTo>
                      <a:pt x="524" y="1672"/>
                    </a:lnTo>
                    <a:lnTo>
                      <a:pt x="475" y="1661"/>
                    </a:lnTo>
                    <a:lnTo>
                      <a:pt x="425" y="1648"/>
                    </a:lnTo>
                    <a:lnTo>
                      <a:pt x="375" y="1634"/>
                    </a:lnTo>
                    <a:lnTo>
                      <a:pt x="281" y="1601"/>
                    </a:lnTo>
                    <a:lnTo>
                      <a:pt x="234" y="1582"/>
                    </a:lnTo>
                    <a:lnTo>
                      <a:pt x="189" y="1561"/>
                    </a:lnTo>
                    <a:lnTo>
                      <a:pt x="100" y="1514"/>
                    </a:lnTo>
                    <a:lnTo>
                      <a:pt x="16" y="1461"/>
                    </a:lnTo>
                    <a:lnTo>
                      <a:pt x="9" y="1409"/>
                    </a:lnTo>
                    <a:lnTo>
                      <a:pt x="4" y="1356"/>
                    </a:lnTo>
                    <a:lnTo>
                      <a:pt x="1" y="1304"/>
                    </a:lnTo>
                    <a:lnTo>
                      <a:pt x="0" y="1249"/>
                    </a:lnTo>
                  </a:path>
                </a:pathLst>
              </a:custGeom>
              <a:noFill/>
              <a:ln w="6350">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7" name="Freeform 20"/>
              <p:cNvSpPr/>
              <p:nvPr/>
            </p:nvSpPr>
            <p:spPr bwMode="auto">
              <a:xfrm>
                <a:off x="4356" y="1970"/>
                <a:ext cx="1127" cy="1129"/>
              </a:xfrm>
              <a:custGeom>
                <a:avLst/>
                <a:gdLst>
                  <a:gd name="T0" fmla="*/ 2745 w 2752"/>
                  <a:gd name="T1" fmla="*/ 1518 h 2754"/>
                  <a:gd name="T2" fmla="*/ 2709 w 2752"/>
                  <a:gd name="T3" fmla="*/ 1721 h 2754"/>
                  <a:gd name="T4" fmla="*/ 2644 w 2752"/>
                  <a:gd name="T5" fmla="*/ 1913 h 2754"/>
                  <a:gd name="T6" fmla="*/ 2554 w 2752"/>
                  <a:gd name="T7" fmla="*/ 2091 h 2754"/>
                  <a:gd name="T8" fmla="*/ 2438 w 2752"/>
                  <a:gd name="T9" fmla="*/ 2253 h 2754"/>
                  <a:gd name="T10" fmla="*/ 2301 w 2752"/>
                  <a:gd name="T11" fmla="*/ 2396 h 2754"/>
                  <a:gd name="T12" fmla="*/ 2145 w 2752"/>
                  <a:gd name="T13" fmla="*/ 2519 h 2754"/>
                  <a:gd name="T14" fmla="*/ 1972 w 2752"/>
                  <a:gd name="T15" fmla="*/ 2619 h 2754"/>
                  <a:gd name="T16" fmla="*/ 1786 w 2752"/>
                  <a:gd name="T17" fmla="*/ 2692 h 2754"/>
                  <a:gd name="T18" fmla="*/ 1586 w 2752"/>
                  <a:gd name="T19" fmla="*/ 2739 h 2754"/>
                  <a:gd name="T20" fmla="*/ 1377 w 2752"/>
                  <a:gd name="T21" fmla="*/ 2754 h 2754"/>
                  <a:gd name="T22" fmla="*/ 1166 w 2752"/>
                  <a:gd name="T23" fmla="*/ 2739 h 2754"/>
                  <a:gd name="T24" fmla="*/ 966 w 2752"/>
                  <a:gd name="T25" fmla="*/ 2692 h 2754"/>
                  <a:gd name="T26" fmla="*/ 780 w 2752"/>
                  <a:gd name="T27" fmla="*/ 2619 h 2754"/>
                  <a:gd name="T28" fmla="*/ 607 w 2752"/>
                  <a:gd name="T29" fmla="*/ 2519 h 2754"/>
                  <a:gd name="T30" fmla="*/ 451 w 2752"/>
                  <a:gd name="T31" fmla="*/ 2396 h 2754"/>
                  <a:gd name="T32" fmla="*/ 314 w 2752"/>
                  <a:gd name="T33" fmla="*/ 2253 h 2754"/>
                  <a:gd name="T34" fmla="*/ 200 w 2752"/>
                  <a:gd name="T35" fmla="*/ 2091 h 2754"/>
                  <a:gd name="T36" fmla="*/ 108 w 2752"/>
                  <a:gd name="T37" fmla="*/ 1913 h 2754"/>
                  <a:gd name="T38" fmla="*/ 43 w 2752"/>
                  <a:gd name="T39" fmla="*/ 1721 h 2754"/>
                  <a:gd name="T40" fmla="*/ 7 w 2752"/>
                  <a:gd name="T41" fmla="*/ 1518 h 2754"/>
                  <a:gd name="T42" fmla="*/ 1 w 2752"/>
                  <a:gd name="T43" fmla="*/ 1307 h 2754"/>
                  <a:gd name="T44" fmla="*/ 28 w 2752"/>
                  <a:gd name="T45" fmla="*/ 1100 h 2754"/>
                  <a:gd name="T46" fmla="*/ 84 w 2752"/>
                  <a:gd name="T47" fmla="*/ 904 h 2754"/>
                  <a:gd name="T48" fmla="*/ 167 w 2752"/>
                  <a:gd name="T49" fmla="*/ 721 h 2754"/>
                  <a:gd name="T50" fmla="*/ 273 w 2752"/>
                  <a:gd name="T51" fmla="*/ 554 h 2754"/>
                  <a:gd name="T52" fmla="*/ 403 w 2752"/>
                  <a:gd name="T53" fmla="*/ 404 h 2754"/>
                  <a:gd name="T54" fmla="*/ 553 w 2752"/>
                  <a:gd name="T55" fmla="*/ 274 h 2754"/>
                  <a:gd name="T56" fmla="*/ 720 w 2752"/>
                  <a:gd name="T57" fmla="*/ 167 h 2754"/>
                  <a:gd name="T58" fmla="*/ 903 w 2752"/>
                  <a:gd name="T59" fmla="*/ 85 h 2754"/>
                  <a:gd name="T60" fmla="*/ 1099 w 2752"/>
                  <a:gd name="T61" fmla="*/ 29 h 2754"/>
                  <a:gd name="T62" fmla="*/ 1306 w 2752"/>
                  <a:gd name="T63" fmla="*/ 2 h 2754"/>
                  <a:gd name="T64" fmla="*/ 1517 w 2752"/>
                  <a:gd name="T65" fmla="*/ 8 h 2754"/>
                  <a:gd name="T66" fmla="*/ 1720 w 2752"/>
                  <a:gd name="T67" fmla="*/ 44 h 2754"/>
                  <a:gd name="T68" fmla="*/ 1912 w 2752"/>
                  <a:gd name="T69" fmla="*/ 109 h 2754"/>
                  <a:gd name="T70" fmla="*/ 2089 w 2752"/>
                  <a:gd name="T71" fmla="*/ 200 h 2754"/>
                  <a:gd name="T72" fmla="*/ 2252 w 2752"/>
                  <a:gd name="T73" fmla="*/ 315 h 2754"/>
                  <a:gd name="T74" fmla="*/ 2394 w 2752"/>
                  <a:gd name="T75" fmla="*/ 452 h 2754"/>
                  <a:gd name="T76" fmla="*/ 2518 w 2752"/>
                  <a:gd name="T77" fmla="*/ 608 h 2754"/>
                  <a:gd name="T78" fmla="*/ 2617 w 2752"/>
                  <a:gd name="T79" fmla="*/ 781 h 2754"/>
                  <a:gd name="T80" fmla="*/ 2691 w 2752"/>
                  <a:gd name="T81" fmla="*/ 967 h 2754"/>
                  <a:gd name="T82" fmla="*/ 2736 w 2752"/>
                  <a:gd name="T83" fmla="*/ 1167 h 2754"/>
                  <a:gd name="T84" fmla="*/ 2752 w 2752"/>
                  <a:gd name="T85" fmla="*/ 1378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52" h="2754">
                    <a:moveTo>
                      <a:pt x="2752" y="1378"/>
                    </a:moveTo>
                    <a:lnTo>
                      <a:pt x="2751" y="1449"/>
                    </a:lnTo>
                    <a:lnTo>
                      <a:pt x="2745" y="1518"/>
                    </a:lnTo>
                    <a:lnTo>
                      <a:pt x="2736" y="1587"/>
                    </a:lnTo>
                    <a:lnTo>
                      <a:pt x="2724" y="1655"/>
                    </a:lnTo>
                    <a:lnTo>
                      <a:pt x="2709" y="1721"/>
                    </a:lnTo>
                    <a:lnTo>
                      <a:pt x="2691" y="1787"/>
                    </a:lnTo>
                    <a:lnTo>
                      <a:pt x="2668" y="1850"/>
                    </a:lnTo>
                    <a:lnTo>
                      <a:pt x="2644" y="1913"/>
                    </a:lnTo>
                    <a:lnTo>
                      <a:pt x="2617" y="1975"/>
                    </a:lnTo>
                    <a:lnTo>
                      <a:pt x="2587" y="2034"/>
                    </a:lnTo>
                    <a:lnTo>
                      <a:pt x="2554" y="2091"/>
                    </a:lnTo>
                    <a:lnTo>
                      <a:pt x="2518" y="2147"/>
                    </a:lnTo>
                    <a:lnTo>
                      <a:pt x="2479" y="2201"/>
                    </a:lnTo>
                    <a:lnTo>
                      <a:pt x="2438" y="2253"/>
                    </a:lnTo>
                    <a:lnTo>
                      <a:pt x="2394" y="2303"/>
                    </a:lnTo>
                    <a:lnTo>
                      <a:pt x="2349" y="2351"/>
                    </a:lnTo>
                    <a:lnTo>
                      <a:pt x="2301" y="2396"/>
                    </a:lnTo>
                    <a:lnTo>
                      <a:pt x="2252" y="2440"/>
                    </a:lnTo>
                    <a:lnTo>
                      <a:pt x="2199" y="2480"/>
                    </a:lnTo>
                    <a:lnTo>
                      <a:pt x="2145" y="2519"/>
                    </a:lnTo>
                    <a:lnTo>
                      <a:pt x="2089" y="2556"/>
                    </a:lnTo>
                    <a:lnTo>
                      <a:pt x="2032" y="2589"/>
                    </a:lnTo>
                    <a:lnTo>
                      <a:pt x="1972" y="2619"/>
                    </a:lnTo>
                    <a:lnTo>
                      <a:pt x="1912" y="2646"/>
                    </a:lnTo>
                    <a:lnTo>
                      <a:pt x="1849" y="2671"/>
                    </a:lnTo>
                    <a:lnTo>
                      <a:pt x="1786" y="2692"/>
                    </a:lnTo>
                    <a:lnTo>
                      <a:pt x="1720" y="2710"/>
                    </a:lnTo>
                    <a:lnTo>
                      <a:pt x="1653" y="2726"/>
                    </a:lnTo>
                    <a:lnTo>
                      <a:pt x="1586" y="2739"/>
                    </a:lnTo>
                    <a:lnTo>
                      <a:pt x="1517" y="2747"/>
                    </a:lnTo>
                    <a:lnTo>
                      <a:pt x="1447" y="2753"/>
                    </a:lnTo>
                    <a:lnTo>
                      <a:pt x="1377" y="2754"/>
                    </a:lnTo>
                    <a:lnTo>
                      <a:pt x="1306" y="2753"/>
                    </a:lnTo>
                    <a:lnTo>
                      <a:pt x="1236" y="2747"/>
                    </a:lnTo>
                    <a:lnTo>
                      <a:pt x="1166" y="2739"/>
                    </a:lnTo>
                    <a:lnTo>
                      <a:pt x="1099" y="2726"/>
                    </a:lnTo>
                    <a:lnTo>
                      <a:pt x="1033" y="2710"/>
                    </a:lnTo>
                    <a:lnTo>
                      <a:pt x="966" y="2692"/>
                    </a:lnTo>
                    <a:lnTo>
                      <a:pt x="903" y="2671"/>
                    </a:lnTo>
                    <a:lnTo>
                      <a:pt x="840" y="2646"/>
                    </a:lnTo>
                    <a:lnTo>
                      <a:pt x="780" y="2619"/>
                    </a:lnTo>
                    <a:lnTo>
                      <a:pt x="720" y="2589"/>
                    </a:lnTo>
                    <a:lnTo>
                      <a:pt x="663" y="2556"/>
                    </a:lnTo>
                    <a:lnTo>
                      <a:pt x="607" y="2519"/>
                    </a:lnTo>
                    <a:lnTo>
                      <a:pt x="553" y="2480"/>
                    </a:lnTo>
                    <a:lnTo>
                      <a:pt x="500" y="2440"/>
                    </a:lnTo>
                    <a:lnTo>
                      <a:pt x="451" y="2396"/>
                    </a:lnTo>
                    <a:lnTo>
                      <a:pt x="403" y="2351"/>
                    </a:lnTo>
                    <a:lnTo>
                      <a:pt x="358" y="2303"/>
                    </a:lnTo>
                    <a:lnTo>
                      <a:pt x="314" y="2253"/>
                    </a:lnTo>
                    <a:lnTo>
                      <a:pt x="273" y="2201"/>
                    </a:lnTo>
                    <a:lnTo>
                      <a:pt x="236" y="2147"/>
                    </a:lnTo>
                    <a:lnTo>
                      <a:pt x="200" y="2091"/>
                    </a:lnTo>
                    <a:lnTo>
                      <a:pt x="167" y="2034"/>
                    </a:lnTo>
                    <a:lnTo>
                      <a:pt x="135" y="1975"/>
                    </a:lnTo>
                    <a:lnTo>
                      <a:pt x="108" y="1913"/>
                    </a:lnTo>
                    <a:lnTo>
                      <a:pt x="84" y="1850"/>
                    </a:lnTo>
                    <a:lnTo>
                      <a:pt x="61" y="1787"/>
                    </a:lnTo>
                    <a:lnTo>
                      <a:pt x="43" y="1721"/>
                    </a:lnTo>
                    <a:lnTo>
                      <a:pt x="28" y="1655"/>
                    </a:lnTo>
                    <a:lnTo>
                      <a:pt x="16" y="1587"/>
                    </a:lnTo>
                    <a:lnTo>
                      <a:pt x="7" y="1518"/>
                    </a:lnTo>
                    <a:lnTo>
                      <a:pt x="1" y="1449"/>
                    </a:lnTo>
                    <a:lnTo>
                      <a:pt x="0" y="1378"/>
                    </a:lnTo>
                    <a:lnTo>
                      <a:pt x="1" y="1307"/>
                    </a:lnTo>
                    <a:lnTo>
                      <a:pt x="7" y="1237"/>
                    </a:lnTo>
                    <a:lnTo>
                      <a:pt x="16" y="1167"/>
                    </a:lnTo>
                    <a:lnTo>
                      <a:pt x="28" y="1100"/>
                    </a:lnTo>
                    <a:lnTo>
                      <a:pt x="43" y="1034"/>
                    </a:lnTo>
                    <a:lnTo>
                      <a:pt x="61" y="967"/>
                    </a:lnTo>
                    <a:lnTo>
                      <a:pt x="84" y="904"/>
                    </a:lnTo>
                    <a:lnTo>
                      <a:pt x="108" y="841"/>
                    </a:lnTo>
                    <a:lnTo>
                      <a:pt x="135" y="781"/>
                    </a:lnTo>
                    <a:lnTo>
                      <a:pt x="167" y="721"/>
                    </a:lnTo>
                    <a:lnTo>
                      <a:pt x="200" y="664"/>
                    </a:lnTo>
                    <a:lnTo>
                      <a:pt x="236" y="608"/>
                    </a:lnTo>
                    <a:lnTo>
                      <a:pt x="273" y="554"/>
                    </a:lnTo>
                    <a:lnTo>
                      <a:pt x="314" y="501"/>
                    </a:lnTo>
                    <a:lnTo>
                      <a:pt x="358" y="452"/>
                    </a:lnTo>
                    <a:lnTo>
                      <a:pt x="403" y="404"/>
                    </a:lnTo>
                    <a:lnTo>
                      <a:pt x="451" y="358"/>
                    </a:lnTo>
                    <a:lnTo>
                      <a:pt x="500" y="315"/>
                    </a:lnTo>
                    <a:lnTo>
                      <a:pt x="553" y="274"/>
                    </a:lnTo>
                    <a:lnTo>
                      <a:pt x="607" y="237"/>
                    </a:lnTo>
                    <a:lnTo>
                      <a:pt x="663" y="200"/>
                    </a:lnTo>
                    <a:lnTo>
                      <a:pt x="720" y="167"/>
                    </a:lnTo>
                    <a:lnTo>
                      <a:pt x="780" y="137"/>
                    </a:lnTo>
                    <a:lnTo>
                      <a:pt x="840" y="109"/>
                    </a:lnTo>
                    <a:lnTo>
                      <a:pt x="903" y="85"/>
                    </a:lnTo>
                    <a:lnTo>
                      <a:pt x="966" y="62"/>
                    </a:lnTo>
                    <a:lnTo>
                      <a:pt x="1033" y="44"/>
                    </a:lnTo>
                    <a:lnTo>
                      <a:pt x="1099" y="29"/>
                    </a:lnTo>
                    <a:lnTo>
                      <a:pt x="1166" y="17"/>
                    </a:lnTo>
                    <a:lnTo>
                      <a:pt x="1236" y="8"/>
                    </a:lnTo>
                    <a:lnTo>
                      <a:pt x="1306" y="2"/>
                    </a:lnTo>
                    <a:lnTo>
                      <a:pt x="1377" y="0"/>
                    </a:lnTo>
                    <a:lnTo>
                      <a:pt x="1447" y="2"/>
                    </a:lnTo>
                    <a:lnTo>
                      <a:pt x="1517" y="8"/>
                    </a:lnTo>
                    <a:lnTo>
                      <a:pt x="1586" y="17"/>
                    </a:lnTo>
                    <a:lnTo>
                      <a:pt x="1653" y="29"/>
                    </a:lnTo>
                    <a:lnTo>
                      <a:pt x="1720" y="44"/>
                    </a:lnTo>
                    <a:lnTo>
                      <a:pt x="1786" y="62"/>
                    </a:lnTo>
                    <a:lnTo>
                      <a:pt x="1849" y="85"/>
                    </a:lnTo>
                    <a:lnTo>
                      <a:pt x="1912" y="109"/>
                    </a:lnTo>
                    <a:lnTo>
                      <a:pt x="1972" y="137"/>
                    </a:lnTo>
                    <a:lnTo>
                      <a:pt x="2032" y="167"/>
                    </a:lnTo>
                    <a:lnTo>
                      <a:pt x="2089" y="200"/>
                    </a:lnTo>
                    <a:lnTo>
                      <a:pt x="2145" y="237"/>
                    </a:lnTo>
                    <a:lnTo>
                      <a:pt x="2199" y="274"/>
                    </a:lnTo>
                    <a:lnTo>
                      <a:pt x="2252" y="315"/>
                    </a:lnTo>
                    <a:lnTo>
                      <a:pt x="2301" y="358"/>
                    </a:lnTo>
                    <a:lnTo>
                      <a:pt x="2349" y="404"/>
                    </a:lnTo>
                    <a:lnTo>
                      <a:pt x="2394" y="452"/>
                    </a:lnTo>
                    <a:lnTo>
                      <a:pt x="2438" y="501"/>
                    </a:lnTo>
                    <a:lnTo>
                      <a:pt x="2479" y="554"/>
                    </a:lnTo>
                    <a:lnTo>
                      <a:pt x="2518" y="608"/>
                    </a:lnTo>
                    <a:lnTo>
                      <a:pt x="2554" y="664"/>
                    </a:lnTo>
                    <a:lnTo>
                      <a:pt x="2587" y="721"/>
                    </a:lnTo>
                    <a:lnTo>
                      <a:pt x="2617" y="781"/>
                    </a:lnTo>
                    <a:lnTo>
                      <a:pt x="2644" y="841"/>
                    </a:lnTo>
                    <a:lnTo>
                      <a:pt x="2668" y="904"/>
                    </a:lnTo>
                    <a:lnTo>
                      <a:pt x="2691" y="967"/>
                    </a:lnTo>
                    <a:lnTo>
                      <a:pt x="2709" y="1034"/>
                    </a:lnTo>
                    <a:lnTo>
                      <a:pt x="2724" y="1100"/>
                    </a:lnTo>
                    <a:lnTo>
                      <a:pt x="2736" y="1167"/>
                    </a:lnTo>
                    <a:lnTo>
                      <a:pt x="2745" y="1237"/>
                    </a:lnTo>
                    <a:lnTo>
                      <a:pt x="2751" y="1307"/>
                    </a:lnTo>
                    <a:lnTo>
                      <a:pt x="2752" y="1378"/>
                    </a:lnTo>
                  </a:path>
                </a:pathLst>
              </a:custGeom>
              <a:noFill/>
              <a:ln w="9525">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9" name="Freeform 21"/>
              <p:cNvSpPr/>
              <p:nvPr/>
            </p:nvSpPr>
            <p:spPr bwMode="auto">
              <a:xfrm>
                <a:off x="4598" y="2352"/>
                <a:ext cx="1127" cy="1128"/>
              </a:xfrm>
              <a:custGeom>
                <a:avLst/>
                <a:gdLst>
                  <a:gd name="T0" fmla="*/ 7 w 2752"/>
                  <a:gd name="T1" fmla="*/ 1237 h 2754"/>
                  <a:gd name="T2" fmla="*/ 43 w 2752"/>
                  <a:gd name="T3" fmla="*/ 1032 h 2754"/>
                  <a:gd name="T4" fmla="*/ 108 w 2752"/>
                  <a:gd name="T5" fmla="*/ 841 h 2754"/>
                  <a:gd name="T6" fmla="*/ 200 w 2752"/>
                  <a:gd name="T7" fmla="*/ 664 h 2754"/>
                  <a:gd name="T8" fmla="*/ 314 w 2752"/>
                  <a:gd name="T9" fmla="*/ 501 h 2754"/>
                  <a:gd name="T10" fmla="*/ 451 w 2752"/>
                  <a:gd name="T11" fmla="*/ 358 h 2754"/>
                  <a:gd name="T12" fmla="*/ 607 w 2752"/>
                  <a:gd name="T13" fmla="*/ 235 h 2754"/>
                  <a:gd name="T14" fmla="*/ 780 w 2752"/>
                  <a:gd name="T15" fmla="*/ 136 h 2754"/>
                  <a:gd name="T16" fmla="*/ 966 w 2752"/>
                  <a:gd name="T17" fmla="*/ 62 h 2754"/>
                  <a:gd name="T18" fmla="*/ 1166 w 2752"/>
                  <a:gd name="T19" fmla="*/ 15 h 2754"/>
                  <a:gd name="T20" fmla="*/ 1375 w 2752"/>
                  <a:gd name="T21" fmla="*/ 0 h 2754"/>
                  <a:gd name="T22" fmla="*/ 1586 w 2752"/>
                  <a:gd name="T23" fmla="*/ 15 h 2754"/>
                  <a:gd name="T24" fmla="*/ 1785 w 2752"/>
                  <a:gd name="T25" fmla="*/ 62 h 2754"/>
                  <a:gd name="T26" fmla="*/ 1972 w 2752"/>
                  <a:gd name="T27" fmla="*/ 136 h 2754"/>
                  <a:gd name="T28" fmla="*/ 2145 w 2752"/>
                  <a:gd name="T29" fmla="*/ 235 h 2754"/>
                  <a:gd name="T30" fmla="*/ 2301 w 2752"/>
                  <a:gd name="T31" fmla="*/ 358 h 2754"/>
                  <a:gd name="T32" fmla="*/ 2438 w 2752"/>
                  <a:gd name="T33" fmla="*/ 501 h 2754"/>
                  <a:gd name="T34" fmla="*/ 2552 w 2752"/>
                  <a:gd name="T35" fmla="*/ 664 h 2754"/>
                  <a:gd name="T36" fmla="*/ 2644 w 2752"/>
                  <a:gd name="T37" fmla="*/ 841 h 2754"/>
                  <a:gd name="T38" fmla="*/ 2708 w 2752"/>
                  <a:gd name="T39" fmla="*/ 1032 h 2754"/>
                  <a:gd name="T40" fmla="*/ 2744 w 2752"/>
                  <a:gd name="T41" fmla="*/ 1237 h 2754"/>
                  <a:gd name="T42" fmla="*/ 2750 w 2752"/>
                  <a:gd name="T43" fmla="*/ 1447 h 2754"/>
                  <a:gd name="T44" fmla="*/ 2723 w 2752"/>
                  <a:gd name="T45" fmla="*/ 1655 h 2754"/>
                  <a:gd name="T46" fmla="*/ 2668 w 2752"/>
                  <a:gd name="T47" fmla="*/ 1850 h 2754"/>
                  <a:gd name="T48" fmla="*/ 2585 w 2752"/>
                  <a:gd name="T49" fmla="*/ 2034 h 2754"/>
                  <a:gd name="T50" fmla="*/ 2478 w 2752"/>
                  <a:gd name="T51" fmla="*/ 2201 h 2754"/>
                  <a:gd name="T52" fmla="*/ 2349 w 2752"/>
                  <a:gd name="T53" fmla="*/ 2351 h 2754"/>
                  <a:gd name="T54" fmla="*/ 2199 w 2752"/>
                  <a:gd name="T55" fmla="*/ 2480 h 2754"/>
                  <a:gd name="T56" fmla="*/ 2032 w 2752"/>
                  <a:gd name="T57" fmla="*/ 2587 h 2754"/>
                  <a:gd name="T58" fmla="*/ 1849 w 2752"/>
                  <a:gd name="T59" fmla="*/ 2670 h 2754"/>
                  <a:gd name="T60" fmla="*/ 1653 w 2752"/>
                  <a:gd name="T61" fmla="*/ 2725 h 2754"/>
                  <a:gd name="T62" fmla="*/ 1447 w 2752"/>
                  <a:gd name="T63" fmla="*/ 2752 h 2754"/>
                  <a:gd name="T64" fmla="*/ 1235 w 2752"/>
                  <a:gd name="T65" fmla="*/ 2746 h 2754"/>
                  <a:gd name="T66" fmla="*/ 1032 w 2752"/>
                  <a:gd name="T67" fmla="*/ 2710 h 2754"/>
                  <a:gd name="T68" fmla="*/ 840 w 2752"/>
                  <a:gd name="T69" fmla="*/ 2646 h 2754"/>
                  <a:gd name="T70" fmla="*/ 663 w 2752"/>
                  <a:gd name="T71" fmla="*/ 2554 h 2754"/>
                  <a:gd name="T72" fmla="*/ 500 w 2752"/>
                  <a:gd name="T73" fmla="*/ 2440 h 2754"/>
                  <a:gd name="T74" fmla="*/ 357 w 2752"/>
                  <a:gd name="T75" fmla="*/ 2303 h 2754"/>
                  <a:gd name="T76" fmla="*/ 234 w 2752"/>
                  <a:gd name="T77" fmla="*/ 2146 h 2754"/>
                  <a:gd name="T78" fmla="*/ 135 w 2752"/>
                  <a:gd name="T79" fmla="*/ 1973 h 2754"/>
                  <a:gd name="T80" fmla="*/ 61 w 2752"/>
                  <a:gd name="T81" fmla="*/ 1785 h 2754"/>
                  <a:gd name="T82" fmla="*/ 16 w 2752"/>
                  <a:gd name="T83" fmla="*/ 1587 h 2754"/>
                  <a:gd name="T84" fmla="*/ 0 w 2752"/>
                  <a:gd name="T85" fmla="*/ 1376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52" h="2754">
                    <a:moveTo>
                      <a:pt x="0" y="1376"/>
                    </a:moveTo>
                    <a:lnTo>
                      <a:pt x="1" y="1306"/>
                    </a:lnTo>
                    <a:lnTo>
                      <a:pt x="7" y="1237"/>
                    </a:lnTo>
                    <a:lnTo>
                      <a:pt x="16" y="1167"/>
                    </a:lnTo>
                    <a:lnTo>
                      <a:pt x="28" y="1100"/>
                    </a:lnTo>
                    <a:lnTo>
                      <a:pt x="43" y="1032"/>
                    </a:lnTo>
                    <a:lnTo>
                      <a:pt x="61" y="967"/>
                    </a:lnTo>
                    <a:lnTo>
                      <a:pt x="84" y="904"/>
                    </a:lnTo>
                    <a:lnTo>
                      <a:pt x="108" y="841"/>
                    </a:lnTo>
                    <a:lnTo>
                      <a:pt x="135" y="779"/>
                    </a:lnTo>
                    <a:lnTo>
                      <a:pt x="166" y="721"/>
                    </a:lnTo>
                    <a:lnTo>
                      <a:pt x="200" y="664"/>
                    </a:lnTo>
                    <a:lnTo>
                      <a:pt x="234" y="606"/>
                    </a:lnTo>
                    <a:lnTo>
                      <a:pt x="273" y="554"/>
                    </a:lnTo>
                    <a:lnTo>
                      <a:pt x="314" y="501"/>
                    </a:lnTo>
                    <a:lnTo>
                      <a:pt x="357" y="452"/>
                    </a:lnTo>
                    <a:lnTo>
                      <a:pt x="402" y="403"/>
                    </a:lnTo>
                    <a:lnTo>
                      <a:pt x="451" y="358"/>
                    </a:lnTo>
                    <a:lnTo>
                      <a:pt x="500" y="315"/>
                    </a:lnTo>
                    <a:lnTo>
                      <a:pt x="553" y="274"/>
                    </a:lnTo>
                    <a:lnTo>
                      <a:pt x="607" y="235"/>
                    </a:lnTo>
                    <a:lnTo>
                      <a:pt x="663" y="199"/>
                    </a:lnTo>
                    <a:lnTo>
                      <a:pt x="720" y="166"/>
                    </a:lnTo>
                    <a:lnTo>
                      <a:pt x="780" y="136"/>
                    </a:lnTo>
                    <a:lnTo>
                      <a:pt x="840" y="109"/>
                    </a:lnTo>
                    <a:lnTo>
                      <a:pt x="903" y="83"/>
                    </a:lnTo>
                    <a:lnTo>
                      <a:pt x="966" y="62"/>
                    </a:lnTo>
                    <a:lnTo>
                      <a:pt x="1032" y="44"/>
                    </a:lnTo>
                    <a:lnTo>
                      <a:pt x="1098" y="27"/>
                    </a:lnTo>
                    <a:lnTo>
                      <a:pt x="1166" y="15"/>
                    </a:lnTo>
                    <a:lnTo>
                      <a:pt x="1235" y="8"/>
                    </a:lnTo>
                    <a:lnTo>
                      <a:pt x="1304" y="2"/>
                    </a:lnTo>
                    <a:lnTo>
                      <a:pt x="1375" y="0"/>
                    </a:lnTo>
                    <a:lnTo>
                      <a:pt x="1447" y="2"/>
                    </a:lnTo>
                    <a:lnTo>
                      <a:pt x="1516" y="8"/>
                    </a:lnTo>
                    <a:lnTo>
                      <a:pt x="1586" y="15"/>
                    </a:lnTo>
                    <a:lnTo>
                      <a:pt x="1653" y="27"/>
                    </a:lnTo>
                    <a:lnTo>
                      <a:pt x="1719" y="44"/>
                    </a:lnTo>
                    <a:lnTo>
                      <a:pt x="1785" y="62"/>
                    </a:lnTo>
                    <a:lnTo>
                      <a:pt x="1849" y="83"/>
                    </a:lnTo>
                    <a:lnTo>
                      <a:pt x="1912" y="109"/>
                    </a:lnTo>
                    <a:lnTo>
                      <a:pt x="1972" y="136"/>
                    </a:lnTo>
                    <a:lnTo>
                      <a:pt x="2032" y="166"/>
                    </a:lnTo>
                    <a:lnTo>
                      <a:pt x="2089" y="199"/>
                    </a:lnTo>
                    <a:lnTo>
                      <a:pt x="2145" y="235"/>
                    </a:lnTo>
                    <a:lnTo>
                      <a:pt x="2199" y="274"/>
                    </a:lnTo>
                    <a:lnTo>
                      <a:pt x="2251" y="315"/>
                    </a:lnTo>
                    <a:lnTo>
                      <a:pt x="2301" y="358"/>
                    </a:lnTo>
                    <a:lnTo>
                      <a:pt x="2349" y="403"/>
                    </a:lnTo>
                    <a:lnTo>
                      <a:pt x="2394" y="452"/>
                    </a:lnTo>
                    <a:lnTo>
                      <a:pt x="2438" y="501"/>
                    </a:lnTo>
                    <a:lnTo>
                      <a:pt x="2478" y="554"/>
                    </a:lnTo>
                    <a:lnTo>
                      <a:pt x="2517" y="606"/>
                    </a:lnTo>
                    <a:lnTo>
                      <a:pt x="2552" y="664"/>
                    </a:lnTo>
                    <a:lnTo>
                      <a:pt x="2585" y="721"/>
                    </a:lnTo>
                    <a:lnTo>
                      <a:pt x="2617" y="779"/>
                    </a:lnTo>
                    <a:lnTo>
                      <a:pt x="2644" y="841"/>
                    </a:lnTo>
                    <a:lnTo>
                      <a:pt x="2668" y="904"/>
                    </a:lnTo>
                    <a:lnTo>
                      <a:pt x="2690" y="967"/>
                    </a:lnTo>
                    <a:lnTo>
                      <a:pt x="2708" y="1032"/>
                    </a:lnTo>
                    <a:lnTo>
                      <a:pt x="2723" y="1100"/>
                    </a:lnTo>
                    <a:lnTo>
                      <a:pt x="2735" y="1167"/>
                    </a:lnTo>
                    <a:lnTo>
                      <a:pt x="2744" y="1237"/>
                    </a:lnTo>
                    <a:lnTo>
                      <a:pt x="2750" y="1306"/>
                    </a:lnTo>
                    <a:lnTo>
                      <a:pt x="2752" y="1376"/>
                    </a:lnTo>
                    <a:lnTo>
                      <a:pt x="2750" y="1447"/>
                    </a:lnTo>
                    <a:lnTo>
                      <a:pt x="2744" y="1518"/>
                    </a:lnTo>
                    <a:lnTo>
                      <a:pt x="2735" y="1587"/>
                    </a:lnTo>
                    <a:lnTo>
                      <a:pt x="2723" y="1655"/>
                    </a:lnTo>
                    <a:lnTo>
                      <a:pt x="2708" y="1721"/>
                    </a:lnTo>
                    <a:lnTo>
                      <a:pt x="2690" y="1785"/>
                    </a:lnTo>
                    <a:lnTo>
                      <a:pt x="2668" y="1850"/>
                    </a:lnTo>
                    <a:lnTo>
                      <a:pt x="2644" y="1913"/>
                    </a:lnTo>
                    <a:lnTo>
                      <a:pt x="2617" y="1973"/>
                    </a:lnTo>
                    <a:lnTo>
                      <a:pt x="2585" y="2034"/>
                    </a:lnTo>
                    <a:lnTo>
                      <a:pt x="2552" y="2091"/>
                    </a:lnTo>
                    <a:lnTo>
                      <a:pt x="2517" y="2146"/>
                    </a:lnTo>
                    <a:lnTo>
                      <a:pt x="2478" y="2201"/>
                    </a:lnTo>
                    <a:lnTo>
                      <a:pt x="2438" y="2253"/>
                    </a:lnTo>
                    <a:lnTo>
                      <a:pt x="2394" y="2303"/>
                    </a:lnTo>
                    <a:lnTo>
                      <a:pt x="2349" y="2351"/>
                    </a:lnTo>
                    <a:lnTo>
                      <a:pt x="2301" y="2396"/>
                    </a:lnTo>
                    <a:lnTo>
                      <a:pt x="2251" y="2440"/>
                    </a:lnTo>
                    <a:lnTo>
                      <a:pt x="2199" y="2480"/>
                    </a:lnTo>
                    <a:lnTo>
                      <a:pt x="2145" y="2518"/>
                    </a:lnTo>
                    <a:lnTo>
                      <a:pt x="2089" y="2554"/>
                    </a:lnTo>
                    <a:lnTo>
                      <a:pt x="2032" y="2587"/>
                    </a:lnTo>
                    <a:lnTo>
                      <a:pt x="1972" y="2617"/>
                    </a:lnTo>
                    <a:lnTo>
                      <a:pt x="1912" y="2646"/>
                    </a:lnTo>
                    <a:lnTo>
                      <a:pt x="1849" y="2670"/>
                    </a:lnTo>
                    <a:lnTo>
                      <a:pt x="1785" y="2692"/>
                    </a:lnTo>
                    <a:lnTo>
                      <a:pt x="1719" y="2710"/>
                    </a:lnTo>
                    <a:lnTo>
                      <a:pt x="1653" y="2725"/>
                    </a:lnTo>
                    <a:lnTo>
                      <a:pt x="1586" y="2737"/>
                    </a:lnTo>
                    <a:lnTo>
                      <a:pt x="1516" y="2746"/>
                    </a:lnTo>
                    <a:lnTo>
                      <a:pt x="1447" y="2752"/>
                    </a:lnTo>
                    <a:lnTo>
                      <a:pt x="1375" y="2754"/>
                    </a:lnTo>
                    <a:lnTo>
                      <a:pt x="1304" y="2752"/>
                    </a:lnTo>
                    <a:lnTo>
                      <a:pt x="1235" y="2746"/>
                    </a:lnTo>
                    <a:lnTo>
                      <a:pt x="1166" y="2737"/>
                    </a:lnTo>
                    <a:lnTo>
                      <a:pt x="1098" y="2725"/>
                    </a:lnTo>
                    <a:lnTo>
                      <a:pt x="1032" y="2710"/>
                    </a:lnTo>
                    <a:lnTo>
                      <a:pt x="966" y="2692"/>
                    </a:lnTo>
                    <a:lnTo>
                      <a:pt x="903" y="2670"/>
                    </a:lnTo>
                    <a:lnTo>
                      <a:pt x="840" y="2646"/>
                    </a:lnTo>
                    <a:lnTo>
                      <a:pt x="780" y="2617"/>
                    </a:lnTo>
                    <a:lnTo>
                      <a:pt x="720" y="2587"/>
                    </a:lnTo>
                    <a:lnTo>
                      <a:pt x="663" y="2554"/>
                    </a:lnTo>
                    <a:lnTo>
                      <a:pt x="607" y="2518"/>
                    </a:lnTo>
                    <a:lnTo>
                      <a:pt x="553" y="2480"/>
                    </a:lnTo>
                    <a:lnTo>
                      <a:pt x="500" y="2440"/>
                    </a:lnTo>
                    <a:lnTo>
                      <a:pt x="451" y="2396"/>
                    </a:lnTo>
                    <a:lnTo>
                      <a:pt x="402" y="2351"/>
                    </a:lnTo>
                    <a:lnTo>
                      <a:pt x="357" y="2303"/>
                    </a:lnTo>
                    <a:lnTo>
                      <a:pt x="314" y="2253"/>
                    </a:lnTo>
                    <a:lnTo>
                      <a:pt x="273" y="2201"/>
                    </a:lnTo>
                    <a:lnTo>
                      <a:pt x="234" y="2146"/>
                    </a:lnTo>
                    <a:lnTo>
                      <a:pt x="200" y="2091"/>
                    </a:lnTo>
                    <a:lnTo>
                      <a:pt x="166" y="2034"/>
                    </a:lnTo>
                    <a:lnTo>
                      <a:pt x="135" y="1973"/>
                    </a:lnTo>
                    <a:lnTo>
                      <a:pt x="108" y="1913"/>
                    </a:lnTo>
                    <a:lnTo>
                      <a:pt x="84" y="1850"/>
                    </a:lnTo>
                    <a:lnTo>
                      <a:pt x="61" y="1785"/>
                    </a:lnTo>
                    <a:lnTo>
                      <a:pt x="43" y="1721"/>
                    </a:lnTo>
                    <a:lnTo>
                      <a:pt x="28" y="1655"/>
                    </a:lnTo>
                    <a:lnTo>
                      <a:pt x="16" y="1587"/>
                    </a:lnTo>
                    <a:lnTo>
                      <a:pt x="7" y="1518"/>
                    </a:lnTo>
                    <a:lnTo>
                      <a:pt x="1" y="1447"/>
                    </a:lnTo>
                    <a:lnTo>
                      <a:pt x="0" y="1376"/>
                    </a:lnTo>
                  </a:path>
                </a:pathLst>
              </a:custGeom>
              <a:noFill/>
              <a:ln w="9525">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20" name="Freeform 22"/>
              <p:cNvSpPr/>
              <p:nvPr/>
            </p:nvSpPr>
            <p:spPr bwMode="auto">
              <a:xfrm>
                <a:off x="4125" y="2352"/>
                <a:ext cx="1127" cy="1128"/>
              </a:xfrm>
              <a:custGeom>
                <a:avLst/>
                <a:gdLst>
                  <a:gd name="T0" fmla="*/ 8 w 2753"/>
                  <a:gd name="T1" fmla="*/ 1237 h 2754"/>
                  <a:gd name="T2" fmla="*/ 44 w 2753"/>
                  <a:gd name="T3" fmla="*/ 1032 h 2754"/>
                  <a:gd name="T4" fmla="*/ 108 w 2753"/>
                  <a:gd name="T5" fmla="*/ 841 h 2754"/>
                  <a:gd name="T6" fmla="*/ 200 w 2753"/>
                  <a:gd name="T7" fmla="*/ 664 h 2754"/>
                  <a:gd name="T8" fmla="*/ 314 w 2753"/>
                  <a:gd name="T9" fmla="*/ 501 h 2754"/>
                  <a:gd name="T10" fmla="*/ 451 w 2753"/>
                  <a:gd name="T11" fmla="*/ 358 h 2754"/>
                  <a:gd name="T12" fmla="*/ 607 w 2753"/>
                  <a:gd name="T13" fmla="*/ 235 h 2754"/>
                  <a:gd name="T14" fmla="*/ 780 w 2753"/>
                  <a:gd name="T15" fmla="*/ 136 h 2754"/>
                  <a:gd name="T16" fmla="*/ 967 w 2753"/>
                  <a:gd name="T17" fmla="*/ 62 h 2754"/>
                  <a:gd name="T18" fmla="*/ 1167 w 2753"/>
                  <a:gd name="T19" fmla="*/ 15 h 2754"/>
                  <a:gd name="T20" fmla="*/ 1376 w 2753"/>
                  <a:gd name="T21" fmla="*/ 0 h 2754"/>
                  <a:gd name="T22" fmla="*/ 1586 w 2753"/>
                  <a:gd name="T23" fmla="*/ 15 h 2754"/>
                  <a:gd name="T24" fmla="*/ 1786 w 2753"/>
                  <a:gd name="T25" fmla="*/ 62 h 2754"/>
                  <a:gd name="T26" fmla="*/ 1972 w 2753"/>
                  <a:gd name="T27" fmla="*/ 136 h 2754"/>
                  <a:gd name="T28" fmla="*/ 2145 w 2753"/>
                  <a:gd name="T29" fmla="*/ 235 h 2754"/>
                  <a:gd name="T30" fmla="*/ 2302 w 2753"/>
                  <a:gd name="T31" fmla="*/ 358 h 2754"/>
                  <a:gd name="T32" fmla="*/ 2438 w 2753"/>
                  <a:gd name="T33" fmla="*/ 501 h 2754"/>
                  <a:gd name="T34" fmla="*/ 2553 w 2753"/>
                  <a:gd name="T35" fmla="*/ 664 h 2754"/>
                  <a:gd name="T36" fmla="*/ 2644 w 2753"/>
                  <a:gd name="T37" fmla="*/ 841 h 2754"/>
                  <a:gd name="T38" fmla="*/ 2709 w 2753"/>
                  <a:gd name="T39" fmla="*/ 1032 h 2754"/>
                  <a:gd name="T40" fmla="*/ 2745 w 2753"/>
                  <a:gd name="T41" fmla="*/ 1237 h 2754"/>
                  <a:gd name="T42" fmla="*/ 2751 w 2753"/>
                  <a:gd name="T43" fmla="*/ 1447 h 2754"/>
                  <a:gd name="T44" fmla="*/ 2724 w 2753"/>
                  <a:gd name="T45" fmla="*/ 1655 h 2754"/>
                  <a:gd name="T46" fmla="*/ 2668 w 2753"/>
                  <a:gd name="T47" fmla="*/ 1850 h 2754"/>
                  <a:gd name="T48" fmla="*/ 2586 w 2753"/>
                  <a:gd name="T49" fmla="*/ 2034 h 2754"/>
                  <a:gd name="T50" fmla="*/ 2479 w 2753"/>
                  <a:gd name="T51" fmla="*/ 2201 h 2754"/>
                  <a:gd name="T52" fmla="*/ 2350 w 2753"/>
                  <a:gd name="T53" fmla="*/ 2351 h 2754"/>
                  <a:gd name="T54" fmla="*/ 2199 w 2753"/>
                  <a:gd name="T55" fmla="*/ 2480 h 2754"/>
                  <a:gd name="T56" fmla="*/ 2032 w 2753"/>
                  <a:gd name="T57" fmla="*/ 2587 h 2754"/>
                  <a:gd name="T58" fmla="*/ 1849 w 2753"/>
                  <a:gd name="T59" fmla="*/ 2670 h 2754"/>
                  <a:gd name="T60" fmla="*/ 1654 w 2753"/>
                  <a:gd name="T61" fmla="*/ 2725 h 2754"/>
                  <a:gd name="T62" fmla="*/ 1448 w 2753"/>
                  <a:gd name="T63" fmla="*/ 2752 h 2754"/>
                  <a:gd name="T64" fmla="*/ 1236 w 2753"/>
                  <a:gd name="T65" fmla="*/ 2746 h 2754"/>
                  <a:gd name="T66" fmla="*/ 1033 w 2753"/>
                  <a:gd name="T67" fmla="*/ 2710 h 2754"/>
                  <a:gd name="T68" fmla="*/ 840 w 2753"/>
                  <a:gd name="T69" fmla="*/ 2646 h 2754"/>
                  <a:gd name="T70" fmla="*/ 663 w 2753"/>
                  <a:gd name="T71" fmla="*/ 2554 h 2754"/>
                  <a:gd name="T72" fmla="*/ 501 w 2753"/>
                  <a:gd name="T73" fmla="*/ 2440 h 2754"/>
                  <a:gd name="T74" fmla="*/ 358 w 2753"/>
                  <a:gd name="T75" fmla="*/ 2303 h 2754"/>
                  <a:gd name="T76" fmla="*/ 235 w 2753"/>
                  <a:gd name="T77" fmla="*/ 2146 h 2754"/>
                  <a:gd name="T78" fmla="*/ 135 w 2753"/>
                  <a:gd name="T79" fmla="*/ 1973 h 2754"/>
                  <a:gd name="T80" fmla="*/ 62 w 2753"/>
                  <a:gd name="T81" fmla="*/ 1785 h 2754"/>
                  <a:gd name="T82" fmla="*/ 17 w 2753"/>
                  <a:gd name="T83" fmla="*/ 1587 h 2754"/>
                  <a:gd name="T84" fmla="*/ 0 w 2753"/>
                  <a:gd name="T85" fmla="*/ 1376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53" h="2754">
                    <a:moveTo>
                      <a:pt x="0" y="1376"/>
                    </a:moveTo>
                    <a:lnTo>
                      <a:pt x="2" y="1306"/>
                    </a:lnTo>
                    <a:lnTo>
                      <a:pt x="8" y="1237"/>
                    </a:lnTo>
                    <a:lnTo>
                      <a:pt x="17" y="1167"/>
                    </a:lnTo>
                    <a:lnTo>
                      <a:pt x="29" y="1100"/>
                    </a:lnTo>
                    <a:lnTo>
                      <a:pt x="44" y="1032"/>
                    </a:lnTo>
                    <a:lnTo>
                      <a:pt x="62" y="967"/>
                    </a:lnTo>
                    <a:lnTo>
                      <a:pt x="84" y="904"/>
                    </a:lnTo>
                    <a:lnTo>
                      <a:pt x="108" y="841"/>
                    </a:lnTo>
                    <a:lnTo>
                      <a:pt x="135" y="779"/>
                    </a:lnTo>
                    <a:lnTo>
                      <a:pt x="167" y="721"/>
                    </a:lnTo>
                    <a:lnTo>
                      <a:pt x="200" y="664"/>
                    </a:lnTo>
                    <a:lnTo>
                      <a:pt x="235" y="606"/>
                    </a:lnTo>
                    <a:lnTo>
                      <a:pt x="274" y="554"/>
                    </a:lnTo>
                    <a:lnTo>
                      <a:pt x="314" y="501"/>
                    </a:lnTo>
                    <a:lnTo>
                      <a:pt x="358" y="452"/>
                    </a:lnTo>
                    <a:lnTo>
                      <a:pt x="403" y="403"/>
                    </a:lnTo>
                    <a:lnTo>
                      <a:pt x="451" y="358"/>
                    </a:lnTo>
                    <a:lnTo>
                      <a:pt x="501" y="315"/>
                    </a:lnTo>
                    <a:lnTo>
                      <a:pt x="553" y="274"/>
                    </a:lnTo>
                    <a:lnTo>
                      <a:pt x="607" y="235"/>
                    </a:lnTo>
                    <a:lnTo>
                      <a:pt x="663" y="199"/>
                    </a:lnTo>
                    <a:lnTo>
                      <a:pt x="720" y="166"/>
                    </a:lnTo>
                    <a:lnTo>
                      <a:pt x="780" y="136"/>
                    </a:lnTo>
                    <a:lnTo>
                      <a:pt x="840" y="109"/>
                    </a:lnTo>
                    <a:lnTo>
                      <a:pt x="904" y="83"/>
                    </a:lnTo>
                    <a:lnTo>
                      <a:pt x="967" y="62"/>
                    </a:lnTo>
                    <a:lnTo>
                      <a:pt x="1033" y="44"/>
                    </a:lnTo>
                    <a:lnTo>
                      <a:pt x="1099" y="27"/>
                    </a:lnTo>
                    <a:lnTo>
                      <a:pt x="1167" y="15"/>
                    </a:lnTo>
                    <a:lnTo>
                      <a:pt x="1236" y="8"/>
                    </a:lnTo>
                    <a:lnTo>
                      <a:pt x="1305" y="2"/>
                    </a:lnTo>
                    <a:lnTo>
                      <a:pt x="1376" y="0"/>
                    </a:lnTo>
                    <a:lnTo>
                      <a:pt x="1448" y="2"/>
                    </a:lnTo>
                    <a:lnTo>
                      <a:pt x="1517" y="8"/>
                    </a:lnTo>
                    <a:lnTo>
                      <a:pt x="1586" y="15"/>
                    </a:lnTo>
                    <a:lnTo>
                      <a:pt x="1654" y="27"/>
                    </a:lnTo>
                    <a:lnTo>
                      <a:pt x="1720" y="44"/>
                    </a:lnTo>
                    <a:lnTo>
                      <a:pt x="1786" y="62"/>
                    </a:lnTo>
                    <a:lnTo>
                      <a:pt x="1849" y="83"/>
                    </a:lnTo>
                    <a:lnTo>
                      <a:pt x="1912" y="109"/>
                    </a:lnTo>
                    <a:lnTo>
                      <a:pt x="1972" y="136"/>
                    </a:lnTo>
                    <a:lnTo>
                      <a:pt x="2032" y="166"/>
                    </a:lnTo>
                    <a:lnTo>
                      <a:pt x="2090" y="199"/>
                    </a:lnTo>
                    <a:lnTo>
                      <a:pt x="2145" y="235"/>
                    </a:lnTo>
                    <a:lnTo>
                      <a:pt x="2199" y="274"/>
                    </a:lnTo>
                    <a:lnTo>
                      <a:pt x="2252" y="315"/>
                    </a:lnTo>
                    <a:lnTo>
                      <a:pt x="2302" y="358"/>
                    </a:lnTo>
                    <a:lnTo>
                      <a:pt x="2350" y="403"/>
                    </a:lnTo>
                    <a:lnTo>
                      <a:pt x="2395" y="452"/>
                    </a:lnTo>
                    <a:lnTo>
                      <a:pt x="2438" y="501"/>
                    </a:lnTo>
                    <a:lnTo>
                      <a:pt x="2479" y="554"/>
                    </a:lnTo>
                    <a:lnTo>
                      <a:pt x="2518" y="606"/>
                    </a:lnTo>
                    <a:lnTo>
                      <a:pt x="2553" y="664"/>
                    </a:lnTo>
                    <a:lnTo>
                      <a:pt x="2586" y="721"/>
                    </a:lnTo>
                    <a:lnTo>
                      <a:pt x="2617" y="779"/>
                    </a:lnTo>
                    <a:lnTo>
                      <a:pt x="2644" y="841"/>
                    </a:lnTo>
                    <a:lnTo>
                      <a:pt x="2668" y="904"/>
                    </a:lnTo>
                    <a:lnTo>
                      <a:pt x="2691" y="967"/>
                    </a:lnTo>
                    <a:lnTo>
                      <a:pt x="2709" y="1032"/>
                    </a:lnTo>
                    <a:lnTo>
                      <a:pt x="2724" y="1100"/>
                    </a:lnTo>
                    <a:lnTo>
                      <a:pt x="2736" y="1167"/>
                    </a:lnTo>
                    <a:lnTo>
                      <a:pt x="2745" y="1237"/>
                    </a:lnTo>
                    <a:lnTo>
                      <a:pt x="2751" y="1306"/>
                    </a:lnTo>
                    <a:lnTo>
                      <a:pt x="2753" y="1376"/>
                    </a:lnTo>
                    <a:lnTo>
                      <a:pt x="2751" y="1447"/>
                    </a:lnTo>
                    <a:lnTo>
                      <a:pt x="2745" y="1518"/>
                    </a:lnTo>
                    <a:lnTo>
                      <a:pt x="2736" y="1587"/>
                    </a:lnTo>
                    <a:lnTo>
                      <a:pt x="2724" y="1655"/>
                    </a:lnTo>
                    <a:lnTo>
                      <a:pt x="2709" y="1721"/>
                    </a:lnTo>
                    <a:lnTo>
                      <a:pt x="2691" y="1785"/>
                    </a:lnTo>
                    <a:lnTo>
                      <a:pt x="2668" y="1850"/>
                    </a:lnTo>
                    <a:lnTo>
                      <a:pt x="2644" y="1913"/>
                    </a:lnTo>
                    <a:lnTo>
                      <a:pt x="2617" y="1973"/>
                    </a:lnTo>
                    <a:lnTo>
                      <a:pt x="2586" y="2034"/>
                    </a:lnTo>
                    <a:lnTo>
                      <a:pt x="2553" y="2091"/>
                    </a:lnTo>
                    <a:lnTo>
                      <a:pt x="2518" y="2146"/>
                    </a:lnTo>
                    <a:lnTo>
                      <a:pt x="2479" y="2201"/>
                    </a:lnTo>
                    <a:lnTo>
                      <a:pt x="2438" y="2253"/>
                    </a:lnTo>
                    <a:lnTo>
                      <a:pt x="2395" y="2303"/>
                    </a:lnTo>
                    <a:lnTo>
                      <a:pt x="2350" y="2351"/>
                    </a:lnTo>
                    <a:lnTo>
                      <a:pt x="2302" y="2396"/>
                    </a:lnTo>
                    <a:lnTo>
                      <a:pt x="2252" y="2440"/>
                    </a:lnTo>
                    <a:lnTo>
                      <a:pt x="2199" y="2480"/>
                    </a:lnTo>
                    <a:lnTo>
                      <a:pt x="2145" y="2518"/>
                    </a:lnTo>
                    <a:lnTo>
                      <a:pt x="2090" y="2554"/>
                    </a:lnTo>
                    <a:lnTo>
                      <a:pt x="2032" y="2587"/>
                    </a:lnTo>
                    <a:lnTo>
                      <a:pt x="1972" y="2617"/>
                    </a:lnTo>
                    <a:lnTo>
                      <a:pt x="1912" y="2646"/>
                    </a:lnTo>
                    <a:lnTo>
                      <a:pt x="1849" y="2670"/>
                    </a:lnTo>
                    <a:lnTo>
                      <a:pt x="1786" y="2692"/>
                    </a:lnTo>
                    <a:lnTo>
                      <a:pt x="1720" y="2710"/>
                    </a:lnTo>
                    <a:lnTo>
                      <a:pt x="1654" y="2725"/>
                    </a:lnTo>
                    <a:lnTo>
                      <a:pt x="1586" y="2737"/>
                    </a:lnTo>
                    <a:lnTo>
                      <a:pt x="1517" y="2746"/>
                    </a:lnTo>
                    <a:lnTo>
                      <a:pt x="1448" y="2752"/>
                    </a:lnTo>
                    <a:lnTo>
                      <a:pt x="1376" y="2754"/>
                    </a:lnTo>
                    <a:lnTo>
                      <a:pt x="1305" y="2752"/>
                    </a:lnTo>
                    <a:lnTo>
                      <a:pt x="1236" y="2746"/>
                    </a:lnTo>
                    <a:lnTo>
                      <a:pt x="1167" y="2737"/>
                    </a:lnTo>
                    <a:lnTo>
                      <a:pt x="1099" y="2725"/>
                    </a:lnTo>
                    <a:lnTo>
                      <a:pt x="1033" y="2710"/>
                    </a:lnTo>
                    <a:lnTo>
                      <a:pt x="967" y="2692"/>
                    </a:lnTo>
                    <a:lnTo>
                      <a:pt x="904" y="2670"/>
                    </a:lnTo>
                    <a:lnTo>
                      <a:pt x="840" y="2646"/>
                    </a:lnTo>
                    <a:lnTo>
                      <a:pt x="780" y="2617"/>
                    </a:lnTo>
                    <a:lnTo>
                      <a:pt x="720" y="2587"/>
                    </a:lnTo>
                    <a:lnTo>
                      <a:pt x="663" y="2554"/>
                    </a:lnTo>
                    <a:lnTo>
                      <a:pt x="607" y="2518"/>
                    </a:lnTo>
                    <a:lnTo>
                      <a:pt x="553" y="2480"/>
                    </a:lnTo>
                    <a:lnTo>
                      <a:pt x="501" y="2440"/>
                    </a:lnTo>
                    <a:lnTo>
                      <a:pt x="451" y="2396"/>
                    </a:lnTo>
                    <a:lnTo>
                      <a:pt x="403" y="2351"/>
                    </a:lnTo>
                    <a:lnTo>
                      <a:pt x="358" y="2303"/>
                    </a:lnTo>
                    <a:lnTo>
                      <a:pt x="314" y="2253"/>
                    </a:lnTo>
                    <a:lnTo>
                      <a:pt x="274" y="2201"/>
                    </a:lnTo>
                    <a:lnTo>
                      <a:pt x="235" y="2146"/>
                    </a:lnTo>
                    <a:lnTo>
                      <a:pt x="200" y="2091"/>
                    </a:lnTo>
                    <a:lnTo>
                      <a:pt x="167" y="2034"/>
                    </a:lnTo>
                    <a:lnTo>
                      <a:pt x="135" y="1973"/>
                    </a:lnTo>
                    <a:lnTo>
                      <a:pt x="108" y="1913"/>
                    </a:lnTo>
                    <a:lnTo>
                      <a:pt x="84" y="1850"/>
                    </a:lnTo>
                    <a:lnTo>
                      <a:pt x="62" y="1785"/>
                    </a:lnTo>
                    <a:lnTo>
                      <a:pt x="44" y="1721"/>
                    </a:lnTo>
                    <a:lnTo>
                      <a:pt x="29" y="1655"/>
                    </a:lnTo>
                    <a:lnTo>
                      <a:pt x="17" y="1587"/>
                    </a:lnTo>
                    <a:lnTo>
                      <a:pt x="8" y="1518"/>
                    </a:lnTo>
                    <a:lnTo>
                      <a:pt x="2" y="1447"/>
                    </a:lnTo>
                    <a:lnTo>
                      <a:pt x="0" y="1376"/>
                    </a:lnTo>
                  </a:path>
                </a:pathLst>
              </a:custGeom>
              <a:noFill/>
              <a:ln w="9525">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91" name="TextBox 190"/>
            <p:cNvSpPr txBox="1"/>
            <p:nvPr/>
          </p:nvSpPr>
          <p:spPr>
            <a:xfrm>
              <a:off x="6367865" y="2774475"/>
              <a:ext cx="1571057" cy="1105396"/>
            </a:xfrm>
            <a:prstGeom prst="rect">
              <a:avLst/>
            </a:prstGeom>
            <a:noFill/>
          </p:spPr>
          <p:txBody>
            <a:bodyPr wrap="square" rtlCol="0">
              <a:spAutoFit/>
            </a:bodyPr>
            <a:lstStyle/>
            <a:p>
              <a:pPr marL="88900" marR="0" lvl="0" indent="-88900" defTabSz="914400" eaLnBrk="1" fontAlgn="auto" latinLnBrk="0" hangingPunct="1">
                <a:lnSpc>
                  <a:spcPct val="100000"/>
                </a:lnSpc>
                <a:spcBef>
                  <a:spcPts val="0"/>
                </a:spcBef>
                <a:spcAft>
                  <a:spcPts val="0"/>
                </a:spcAft>
                <a:buClrTx/>
                <a:buSzTx/>
                <a:buFont typeface="微软雅黑" panose="020B0503020204020204" charset="-122"/>
                <a:buChar char="▪"/>
                <a:defRPr/>
              </a:pPr>
              <a:r>
                <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S&amp;OP</a:t>
              </a: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会议</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a:p>
              <a:pPr marL="174625" marR="0" lvl="1" indent="-87630" defTabSz="91440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105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需求计划</a:t>
              </a:r>
              <a:endParaRPr kumimoji="0" lang="en-US" altLang="zh-CN" sz="105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a:p>
              <a:pPr marL="174625" marR="0" lvl="1" indent="-87630" defTabSz="91440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105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主生产计划</a:t>
              </a:r>
              <a:endParaRPr kumimoji="0" lang="en-US" altLang="zh-CN" sz="105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a:p>
              <a:pPr marL="174625" marR="0" lvl="1" indent="-87630" defTabSz="91440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105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零部件计划</a:t>
              </a:r>
              <a:endParaRPr kumimoji="0" lang="en-US" altLang="zh-CN" sz="105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a:p>
              <a:pPr marL="87630" marR="0" lvl="0" indent="-87630" defTabSz="91440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端到端订单管理</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201" name="TextBox 200"/>
            <p:cNvSpPr txBox="1"/>
            <p:nvPr/>
          </p:nvSpPr>
          <p:spPr>
            <a:xfrm>
              <a:off x="6475358" y="1436259"/>
              <a:ext cx="1356667" cy="100653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销售执行</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销售计划</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商机与预测</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销售订单</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02" name="TextBox 201"/>
            <p:cNvSpPr txBox="1"/>
            <p:nvPr/>
          </p:nvSpPr>
          <p:spPr>
            <a:xfrm>
              <a:off x="5354627" y="3721685"/>
              <a:ext cx="1356667" cy="79085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生产执行</a:t>
              </a: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作业计划</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物料调达</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04" name="TextBox 203"/>
            <p:cNvSpPr txBox="1"/>
            <p:nvPr/>
          </p:nvSpPr>
          <p:spPr>
            <a:xfrm>
              <a:off x="7493782" y="3624395"/>
              <a:ext cx="1527709" cy="10424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采购执行</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采购工程</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供应能力</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供应问题协调</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grpSp>
      <p:grpSp>
        <p:nvGrpSpPr>
          <p:cNvPr id="222" name="Group 5"/>
          <p:cNvGrpSpPr/>
          <p:nvPr/>
        </p:nvGrpSpPr>
        <p:grpSpPr>
          <a:xfrm>
            <a:off x="802882" y="1451374"/>
            <a:ext cx="3129701" cy="2880000"/>
            <a:chOff x="251520" y="1499111"/>
            <a:chExt cx="3204000" cy="3168352"/>
          </a:xfrm>
        </p:grpSpPr>
        <p:sp>
          <p:nvSpPr>
            <p:cNvPr id="223" name="Freeform 24"/>
            <p:cNvSpPr/>
            <p:nvPr/>
          </p:nvSpPr>
          <p:spPr bwMode="auto">
            <a:xfrm>
              <a:off x="1705944" y="2767573"/>
              <a:ext cx="999250" cy="631429"/>
            </a:xfrm>
            <a:custGeom>
              <a:avLst/>
              <a:gdLst>
                <a:gd name="T0" fmla="*/ 1512 w 1521"/>
                <a:gd name="T1" fmla="*/ 44 h 916"/>
                <a:gd name="T2" fmla="*/ 1491 w 1521"/>
                <a:gd name="T3" fmla="*/ 92 h 916"/>
                <a:gd name="T4" fmla="*/ 1470 w 1521"/>
                <a:gd name="T5" fmla="*/ 140 h 916"/>
                <a:gd name="T6" fmla="*/ 1446 w 1521"/>
                <a:gd name="T7" fmla="*/ 185 h 916"/>
                <a:gd name="T8" fmla="*/ 1421 w 1521"/>
                <a:gd name="T9" fmla="*/ 230 h 916"/>
                <a:gd name="T10" fmla="*/ 1380 w 1521"/>
                <a:gd name="T11" fmla="*/ 296 h 916"/>
                <a:gd name="T12" fmla="*/ 1352 w 1521"/>
                <a:gd name="T13" fmla="*/ 340 h 916"/>
                <a:gd name="T14" fmla="*/ 1305 w 1521"/>
                <a:gd name="T15" fmla="*/ 400 h 916"/>
                <a:gd name="T16" fmla="*/ 1272 w 1521"/>
                <a:gd name="T17" fmla="*/ 441 h 916"/>
                <a:gd name="T18" fmla="*/ 1237 w 1521"/>
                <a:gd name="T19" fmla="*/ 478 h 916"/>
                <a:gd name="T20" fmla="*/ 1201 w 1521"/>
                <a:gd name="T21" fmla="*/ 516 h 916"/>
                <a:gd name="T22" fmla="*/ 1146 w 1521"/>
                <a:gd name="T23" fmla="*/ 569 h 916"/>
                <a:gd name="T24" fmla="*/ 1066 w 1521"/>
                <a:gd name="T25" fmla="*/ 633 h 916"/>
                <a:gd name="T26" fmla="*/ 1025 w 1521"/>
                <a:gd name="T27" fmla="*/ 665 h 916"/>
                <a:gd name="T28" fmla="*/ 938 w 1521"/>
                <a:gd name="T29" fmla="*/ 721 h 916"/>
                <a:gd name="T30" fmla="*/ 893 w 1521"/>
                <a:gd name="T31" fmla="*/ 746 h 916"/>
                <a:gd name="T32" fmla="*/ 848 w 1521"/>
                <a:gd name="T33" fmla="*/ 770 h 916"/>
                <a:gd name="T34" fmla="*/ 801 w 1521"/>
                <a:gd name="T35" fmla="*/ 793 h 916"/>
                <a:gd name="T36" fmla="*/ 753 w 1521"/>
                <a:gd name="T37" fmla="*/ 814 h 916"/>
                <a:gd name="T38" fmla="*/ 704 w 1521"/>
                <a:gd name="T39" fmla="*/ 833 h 916"/>
                <a:gd name="T40" fmla="*/ 605 w 1521"/>
                <a:gd name="T41" fmla="*/ 865 h 916"/>
                <a:gd name="T42" fmla="*/ 501 w 1521"/>
                <a:gd name="T43" fmla="*/ 891 h 916"/>
                <a:gd name="T44" fmla="*/ 448 w 1521"/>
                <a:gd name="T45" fmla="*/ 900 h 916"/>
                <a:gd name="T46" fmla="*/ 369 w 1521"/>
                <a:gd name="T47" fmla="*/ 910 h 916"/>
                <a:gd name="T48" fmla="*/ 286 w 1521"/>
                <a:gd name="T49" fmla="*/ 916 h 916"/>
                <a:gd name="T50" fmla="*/ 202 w 1521"/>
                <a:gd name="T51" fmla="*/ 916 h 916"/>
                <a:gd name="T52" fmla="*/ 143 w 1521"/>
                <a:gd name="T53" fmla="*/ 913 h 916"/>
                <a:gd name="T54" fmla="*/ 84 w 1521"/>
                <a:gd name="T55" fmla="*/ 909 h 916"/>
                <a:gd name="T56" fmla="*/ 27 w 1521"/>
                <a:gd name="T57" fmla="*/ 901 h 916"/>
                <a:gd name="T58" fmla="*/ 9 w 1521"/>
                <a:gd name="T59" fmla="*/ 872 h 916"/>
                <a:gd name="T60" fmla="*/ 29 w 1521"/>
                <a:gd name="T61" fmla="*/ 824 h 916"/>
                <a:gd name="T62" fmla="*/ 51 w 1521"/>
                <a:gd name="T63" fmla="*/ 778 h 916"/>
                <a:gd name="T64" fmla="*/ 74 w 1521"/>
                <a:gd name="T65" fmla="*/ 731 h 916"/>
                <a:gd name="T66" fmla="*/ 99 w 1521"/>
                <a:gd name="T67" fmla="*/ 686 h 916"/>
                <a:gd name="T68" fmla="*/ 140 w 1521"/>
                <a:gd name="T69" fmla="*/ 620 h 916"/>
                <a:gd name="T70" fmla="*/ 170 w 1521"/>
                <a:gd name="T71" fmla="*/ 578 h 916"/>
                <a:gd name="T72" fmla="*/ 217 w 1521"/>
                <a:gd name="T73" fmla="*/ 516 h 916"/>
                <a:gd name="T74" fmla="*/ 250 w 1521"/>
                <a:gd name="T75" fmla="*/ 477 h 916"/>
                <a:gd name="T76" fmla="*/ 283 w 1521"/>
                <a:gd name="T77" fmla="*/ 438 h 916"/>
                <a:gd name="T78" fmla="*/ 319 w 1521"/>
                <a:gd name="T79" fmla="*/ 402 h 916"/>
                <a:gd name="T80" fmla="*/ 376 w 1521"/>
                <a:gd name="T81" fmla="*/ 348 h 916"/>
                <a:gd name="T82" fmla="*/ 454 w 1521"/>
                <a:gd name="T83" fmla="*/ 283 h 916"/>
                <a:gd name="T84" fmla="*/ 496 w 1521"/>
                <a:gd name="T85" fmla="*/ 253 h 916"/>
                <a:gd name="T86" fmla="*/ 582 w 1521"/>
                <a:gd name="T87" fmla="*/ 196 h 916"/>
                <a:gd name="T88" fmla="*/ 627 w 1521"/>
                <a:gd name="T89" fmla="*/ 170 h 916"/>
                <a:gd name="T90" fmla="*/ 674 w 1521"/>
                <a:gd name="T91" fmla="*/ 146 h 916"/>
                <a:gd name="T92" fmla="*/ 720 w 1521"/>
                <a:gd name="T93" fmla="*/ 124 h 916"/>
                <a:gd name="T94" fmla="*/ 768 w 1521"/>
                <a:gd name="T95" fmla="*/ 102 h 916"/>
                <a:gd name="T96" fmla="*/ 816 w 1521"/>
                <a:gd name="T97" fmla="*/ 84 h 916"/>
                <a:gd name="T98" fmla="*/ 917 w 1521"/>
                <a:gd name="T99" fmla="*/ 51 h 916"/>
                <a:gd name="T100" fmla="*/ 1019 w 1521"/>
                <a:gd name="T101" fmla="*/ 27 h 916"/>
                <a:gd name="T102" fmla="*/ 1072 w 1521"/>
                <a:gd name="T103" fmla="*/ 17 h 916"/>
                <a:gd name="T104" fmla="*/ 1153 w 1521"/>
                <a:gd name="T105" fmla="*/ 8 h 916"/>
                <a:gd name="T106" fmla="*/ 1234 w 1521"/>
                <a:gd name="T107" fmla="*/ 2 h 916"/>
                <a:gd name="T108" fmla="*/ 1320 w 1521"/>
                <a:gd name="T109" fmla="*/ 0 h 916"/>
                <a:gd name="T110" fmla="*/ 1377 w 1521"/>
                <a:gd name="T111" fmla="*/ 3 h 916"/>
                <a:gd name="T112" fmla="*/ 1436 w 1521"/>
                <a:gd name="T113" fmla="*/ 8 h 916"/>
                <a:gd name="T114" fmla="*/ 1493 w 1521"/>
                <a:gd name="T115" fmla="*/ 15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21" h="916">
                  <a:moveTo>
                    <a:pt x="1521" y="20"/>
                  </a:moveTo>
                  <a:lnTo>
                    <a:pt x="1512" y="44"/>
                  </a:lnTo>
                  <a:lnTo>
                    <a:pt x="1502" y="68"/>
                  </a:lnTo>
                  <a:lnTo>
                    <a:pt x="1491" y="92"/>
                  </a:lnTo>
                  <a:lnTo>
                    <a:pt x="1481" y="116"/>
                  </a:lnTo>
                  <a:lnTo>
                    <a:pt x="1470" y="140"/>
                  </a:lnTo>
                  <a:lnTo>
                    <a:pt x="1458" y="163"/>
                  </a:lnTo>
                  <a:lnTo>
                    <a:pt x="1446" y="185"/>
                  </a:lnTo>
                  <a:lnTo>
                    <a:pt x="1434" y="209"/>
                  </a:lnTo>
                  <a:lnTo>
                    <a:pt x="1421" y="230"/>
                  </a:lnTo>
                  <a:lnTo>
                    <a:pt x="1409" y="253"/>
                  </a:lnTo>
                  <a:lnTo>
                    <a:pt x="1380" y="296"/>
                  </a:lnTo>
                  <a:lnTo>
                    <a:pt x="1367" y="318"/>
                  </a:lnTo>
                  <a:lnTo>
                    <a:pt x="1352" y="340"/>
                  </a:lnTo>
                  <a:lnTo>
                    <a:pt x="1320" y="381"/>
                  </a:lnTo>
                  <a:lnTo>
                    <a:pt x="1305" y="400"/>
                  </a:lnTo>
                  <a:lnTo>
                    <a:pt x="1288" y="421"/>
                  </a:lnTo>
                  <a:lnTo>
                    <a:pt x="1272" y="441"/>
                  </a:lnTo>
                  <a:lnTo>
                    <a:pt x="1255" y="460"/>
                  </a:lnTo>
                  <a:lnTo>
                    <a:pt x="1237" y="478"/>
                  </a:lnTo>
                  <a:lnTo>
                    <a:pt x="1219" y="498"/>
                  </a:lnTo>
                  <a:lnTo>
                    <a:pt x="1201" y="516"/>
                  </a:lnTo>
                  <a:lnTo>
                    <a:pt x="1183" y="534"/>
                  </a:lnTo>
                  <a:lnTo>
                    <a:pt x="1146" y="569"/>
                  </a:lnTo>
                  <a:lnTo>
                    <a:pt x="1107" y="602"/>
                  </a:lnTo>
                  <a:lnTo>
                    <a:pt x="1066" y="633"/>
                  </a:lnTo>
                  <a:lnTo>
                    <a:pt x="1045" y="650"/>
                  </a:lnTo>
                  <a:lnTo>
                    <a:pt x="1025" y="665"/>
                  </a:lnTo>
                  <a:lnTo>
                    <a:pt x="982" y="694"/>
                  </a:lnTo>
                  <a:lnTo>
                    <a:pt x="938" y="721"/>
                  </a:lnTo>
                  <a:lnTo>
                    <a:pt x="916" y="734"/>
                  </a:lnTo>
                  <a:lnTo>
                    <a:pt x="893" y="746"/>
                  </a:lnTo>
                  <a:lnTo>
                    <a:pt x="871" y="760"/>
                  </a:lnTo>
                  <a:lnTo>
                    <a:pt x="848" y="770"/>
                  </a:lnTo>
                  <a:lnTo>
                    <a:pt x="824" y="782"/>
                  </a:lnTo>
                  <a:lnTo>
                    <a:pt x="801" y="793"/>
                  </a:lnTo>
                  <a:lnTo>
                    <a:pt x="777" y="803"/>
                  </a:lnTo>
                  <a:lnTo>
                    <a:pt x="753" y="814"/>
                  </a:lnTo>
                  <a:lnTo>
                    <a:pt x="729" y="824"/>
                  </a:lnTo>
                  <a:lnTo>
                    <a:pt x="704" y="833"/>
                  </a:lnTo>
                  <a:lnTo>
                    <a:pt x="654" y="850"/>
                  </a:lnTo>
                  <a:lnTo>
                    <a:pt x="605" y="865"/>
                  </a:lnTo>
                  <a:lnTo>
                    <a:pt x="553" y="878"/>
                  </a:lnTo>
                  <a:lnTo>
                    <a:pt x="501" y="891"/>
                  </a:lnTo>
                  <a:lnTo>
                    <a:pt x="475" y="895"/>
                  </a:lnTo>
                  <a:lnTo>
                    <a:pt x="448" y="900"/>
                  </a:lnTo>
                  <a:lnTo>
                    <a:pt x="394" y="907"/>
                  </a:lnTo>
                  <a:lnTo>
                    <a:pt x="369" y="910"/>
                  </a:lnTo>
                  <a:lnTo>
                    <a:pt x="341" y="912"/>
                  </a:lnTo>
                  <a:lnTo>
                    <a:pt x="286" y="916"/>
                  </a:lnTo>
                  <a:lnTo>
                    <a:pt x="230" y="916"/>
                  </a:lnTo>
                  <a:lnTo>
                    <a:pt x="202" y="916"/>
                  </a:lnTo>
                  <a:lnTo>
                    <a:pt x="172" y="915"/>
                  </a:lnTo>
                  <a:lnTo>
                    <a:pt x="143" y="913"/>
                  </a:lnTo>
                  <a:lnTo>
                    <a:pt x="114" y="912"/>
                  </a:lnTo>
                  <a:lnTo>
                    <a:pt x="84" y="909"/>
                  </a:lnTo>
                  <a:lnTo>
                    <a:pt x="56" y="906"/>
                  </a:lnTo>
                  <a:lnTo>
                    <a:pt x="27" y="901"/>
                  </a:lnTo>
                  <a:lnTo>
                    <a:pt x="0" y="897"/>
                  </a:lnTo>
                  <a:lnTo>
                    <a:pt x="9" y="872"/>
                  </a:lnTo>
                  <a:lnTo>
                    <a:pt x="18" y="848"/>
                  </a:lnTo>
                  <a:lnTo>
                    <a:pt x="29" y="824"/>
                  </a:lnTo>
                  <a:lnTo>
                    <a:pt x="39" y="800"/>
                  </a:lnTo>
                  <a:lnTo>
                    <a:pt x="51" y="778"/>
                  </a:lnTo>
                  <a:lnTo>
                    <a:pt x="62" y="754"/>
                  </a:lnTo>
                  <a:lnTo>
                    <a:pt x="74" y="731"/>
                  </a:lnTo>
                  <a:lnTo>
                    <a:pt x="87" y="709"/>
                  </a:lnTo>
                  <a:lnTo>
                    <a:pt x="99" y="686"/>
                  </a:lnTo>
                  <a:lnTo>
                    <a:pt x="113" y="663"/>
                  </a:lnTo>
                  <a:lnTo>
                    <a:pt x="140" y="620"/>
                  </a:lnTo>
                  <a:lnTo>
                    <a:pt x="155" y="599"/>
                  </a:lnTo>
                  <a:lnTo>
                    <a:pt x="170" y="578"/>
                  </a:lnTo>
                  <a:lnTo>
                    <a:pt x="200" y="536"/>
                  </a:lnTo>
                  <a:lnTo>
                    <a:pt x="217" y="516"/>
                  </a:lnTo>
                  <a:lnTo>
                    <a:pt x="232" y="496"/>
                  </a:lnTo>
                  <a:lnTo>
                    <a:pt x="250" y="477"/>
                  </a:lnTo>
                  <a:lnTo>
                    <a:pt x="266" y="457"/>
                  </a:lnTo>
                  <a:lnTo>
                    <a:pt x="283" y="438"/>
                  </a:lnTo>
                  <a:lnTo>
                    <a:pt x="301" y="420"/>
                  </a:lnTo>
                  <a:lnTo>
                    <a:pt x="319" y="402"/>
                  </a:lnTo>
                  <a:lnTo>
                    <a:pt x="337" y="384"/>
                  </a:lnTo>
                  <a:lnTo>
                    <a:pt x="376" y="348"/>
                  </a:lnTo>
                  <a:lnTo>
                    <a:pt x="414" y="315"/>
                  </a:lnTo>
                  <a:lnTo>
                    <a:pt x="454" y="283"/>
                  </a:lnTo>
                  <a:lnTo>
                    <a:pt x="475" y="268"/>
                  </a:lnTo>
                  <a:lnTo>
                    <a:pt x="496" y="253"/>
                  </a:lnTo>
                  <a:lnTo>
                    <a:pt x="538" y="223"/>
                  </a:lnTo>
                  <a:lnTo>
                    <a:pt x="582" y="196"/>
                  </a:lnTo>
                  <a:lnTo>
                    <a:pt x="605" y="182"/>
                  </a:lnTo>
                  <a:lnTo>
                    <a:pt x="627" y="170"/>
                  </a:lnTo>
                  <a:lnTo>
                    <a:pt x="650" y="158"/>
                  </a:lnTo>
                  <a:lnTo>
                    <a:pt x="674" y="146"/>
                  </a:lnTo>
                  <a:lnTo>
                    <a:pt x="696" y="134"/>
                  </a:lnTo>
                  <a:lnTo>
                    <a:pt x="720" y="124"/>
                  </a:lnTo>
                  <a:lnTo>
                    <a:pt x="744" y="113"/>
                  </a:lnTo>
                  <a:lnTo>
                    <a:pt x="768" y="102"/>
                  </a:lnTo>
                  <a:lnTo>
                    <a:pt x="792" y="93"/>
                  </a:lnTo>
                  <a:lnTo>
                    <a:pt x="816" y="84"/>
                  </a:lnTo>
                  <a:lnTo>
                    <a:pt x="866" y="66"/>
                  </a:lnTo>
                  <a:lnTo>
                    <a:pt x="917" y="51"/>
                  </a:lnTo>
                  <a:lnTo>
                    <a:pt x="968" y="38"/>
                  </a:lnTo>
                  <a:lnTo>
                    <a:pt x="1019" y="27"/>
                  </a:lnTo>
                  <a:lnTo>
                    <a:pt x="1046" y="21"/>
                  </a:lnTo>
                  <a:lnTo>
                    <a:pt x="1072" y="17"/>
                  </a:lnTo>
                  <a:lnTo>
                    <a:pt x="1126" y="9"/>
                  </a:lnTo>
                  <a:lnTo>
                    <a:pt x="1153" y="8"/>
                  </a:lnTo>
                  <a:lnTo>
                    <a:pt x="1180" y="5"/>
                  </a:lnTo>
                  <a:lnTo>
                    <a:pt x="1234" y="2"/>
                  </a:lnTo>
                  <a:lnTo>
                    <a:pt x="1290" y="0"/>
                  </a:lnTo>
                  <a:lnTo>
                    <a:pt x="1320" y="0"/>
                  </a:lnTo>
                  <a:lnTo>
                    <a:pt x="1349" y="2"/>
                  </a:lnTo>
                  <a:lnTo>
                    <a:pt x="1377" y="3"/>
                  </a:lnTo>
                  <a:lnTo>
                    <a:pt x="1407" y="5"/>
                  </a:lnTo>
                  <a:lnTo>
                    <a:pt x="1436" y="8"/>
                  </a:lnTo>
                  <a:lnTo>
                    <a:pt x="1464" y="11"/>
                  </a:lnTo>
                  <a:lnTo>
                    <a:pt x="1493" y="15"/>
                  </a:lnTo>
                  <a:lnTo>
                    <a:pt x="1521" y="20"/>
                  </a:lnTo>
                  <a:close/>
                </a:path>
              </a:pathLst>
            </a:custGeom>
            <a:solidFill>
              <a:srgbClr val="D6DBFE"/>
            </a:solidFill>
            <a:ln w="6350">
              <a:solidFill>
                <a:srgbClr val="7889FB"/>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25" name="Freeform 25"/>
            <p:cNvSpPr/>
            <p:nvPr/>
          </p:nvSpPr>
          <p:spPr bwMode="auto">
            <a:xfrm>
              <a:off x="1705944" y="2767573"/>
              <a:ext cx="999250" cy="631429"/>
            </a:xfrm>
            <a:custGeom>
              <a:avLst/>
              <a:gdLst>
                <a:gd name="T0" fmla="*/ 1521 w 1521"/>
                <a:gd name="T1" fmla="*/ 20 h 916"/>
                <a:gd name="T2" fmla="*/ 1502 w 1521"/>
                <a:gd name="T3" fmla="*/ 68 h 916"/>
                <a:gd name="T4" fmla="*/ 1481 w 1521"/>
                <a:gd name="T5" fmla="*/ 116 h 916"/>
                <a:gd name="T6" fmla="*/ 1434 w 1521"/>
                <a:gd name="T7" fmla="*/ 208 h 916"/>
                <a:gd name="T8" fmla="*/ 1407 w 1521"/>
                <a:gd name="T9" fmla="*/ 253 h 916"/>
                <a:gd name="T10" fmla="*/ 1380 w 1521"/>
                <a:gd name="T11" fmla="*/ 296 h 916"/>
                <a:gd name="T12" fmla="*/ 1320 w 1521"/>
                <a:gd name="T13" fmla="*/ 381 h 916"/>
                <a:gd name="T14" fmla="*/ 1254 w 1521"/>
                <a:gd name="T15" fmla="*/ 459 h 916"/>
                <a:gd name="T16" fmla="*/ 1219 w 1521"/>
                <a:gd name="T17" fmla="*/ 496 h 916"/>
                <a:gd name="T18" fmla="*/ 1183 w 1521"/>
                <a:gd name="T19" fmla="*/ 534 h 916"/>
                <a:gd name="T20" fmla="*/ 1146 w 1521"/>
                <a:gd name="T21" fmla="*/ 569 h 916"/>
                <a:gd name="T22" fmla="*/ 1107 w 1521"/>
                <a:gd name="T23" fmla="*/ 602 h 916"/>
                <a:gd name="T24" fmla="*/ 1024 w 1521"/>
                <a:gd name="T25" fmla="*/ 665 h 916"/>
                <a:gd name="T26" fmla="*/ 938 w 1521"/>
                <a:gd name="T27" fmla="*/ 721 h 916"/>
                <a:gd name="T28" fmla="*/ 848 w 1521"/>
                <a:gd name="T29" fmla="*/ 770 h 916"/>
                <a:gd name="T30" fmla="*/ 753 w 1521"/>
                <a:gd name="T31" fmla="*/ 814 h 916"/>
                <a:gd name="T32" fmla="*/ 704 w 1521"/>
                <a:gd name="T33" fmla="*/ 833 h 916"/>
                <a:gd name="T34" fmla="*/ 654 w 1521"/>
                <a:gd name="T35" fmla="*/ 850 h 916"/>
                <a:gd name="T36" fmla="*/ 605 w 1521"/>
                <a:gd name="T37" fmla="*/ 865 h 916"/>
                <a:gd name="T38" fmla="*/ 553 w 1521"/>
                <a:gd name="T39" fmla="*/ 878 h 916"/>
                <a:gd name="T40" fmla="*/ 448 w 1521"/>
                <a:gd name="T41" fmla="*/ 900 h 916"/>
                <a:gd name="T42" fmla="*/ 394 w 1521"/>
                <a:gd name="T43" fmla="*/ 907 h 916"/>
                <a:gd name="T44" fmla="*/ 340 w 1521"/>
                <a:gd name="T45" fmla="*/ 912 h 916"/>
                <a:gd name="T46" fmla="*/ 230 w 1521"/>
                <a:gd name="T47" fmla="*/ 916 h 916"/>
                <a:gd name="T48" fmla="*/ 114 w 1521"/>
                <a:gd name="T49" fmla="*/ 912 h 916"/>
                <a:gd name="T50" fmla="*/ 56 w 1521"/>
                <a:gd name="T51" fmla="*/ 906 h 916"/>
                <a:gd name="T52" fmla="*/ 0 w 1521"/>
                <a:gd name="T53" fmla="*/ 897 h 916"/>
                <a:gd name="T54" fmla="*/ 18 w 1521"/>
                <a:gd name="T55" fmla="*/ 848 h 916"/>
                <a:gd name="T56" fmla="*/ 39 w 1521"/>
                <a:gd name="T57" fmla="*/ 800 h 916"/>
                <a:gd name="T58" fmla="*/ 86 w 1521"/>
                <a:gd name="T59" fmla="*/ 709 h 916"/>
                <a:gd name="T60" fmla="*/ 113 w 1521"/>
                <a:gd name="T61" fmla="*/ 663 h 916"/>
                <a:gd name="T62" fmla="*/ 140 w 1521"/>
                <a:gd name="T63" fmla="*/ 620 h 916"/>
                <a:gd name="T64" fmla="*/ 200 w 1521"/>
                <a:gd name="T65" fmla="*/ 536 h 916"/>
                <a:gd name="T66" fmla="*/ 266 w 1521"/>
                <a:gd name="T67" fmla="*/ 457 h 916"/>
                <a:gd name="T68" fmla="*/ 301 w 1521"/>
                <a:gd name="T69" fmla="*/ 420 h 916"/>
                <a:gd name="T70" fmla="*/ 337 w 1521"/>
                <a:gd name="T71" fmla="*/ 384 h 916"/>
                <a:gd name="T72" fmla="*/ 375 w 1521"/>
                <a:gd name="T73" fmla="*/ 348 h 916"/>
                <a:gd name="T74" fmla="*/ 414 w 1521"/>
                <a:gd name="T75" fmla="*/ 315 h 916"/>
                <a:gd name="T76" fmla="*/ 496 w 1521"/>
                <a:gd name="T77" fmla="*/ 251 h 916"/>
                <a:gd name="T78" fmla="*/ 582 w 1521"/>
                <a:gd name="T79" fmla="*/ 196 h 916"/>
                <a:gd name="T80" fmla="*/ 674 w 1521"/>
                <a:gd name="T81" fmla="*/ 146 h 916"/>
                <a:gd name="T82" fmla="*/ 768 w 1521"/>
                <a:gd name="T83" fmla="*/ 102 h 916"/>
                <a:gd name="T84" fmla="*/ 816 w 1521"/>
                <a:gd name="T85" fmla="*/ 83 h 916"/>
                <a:gd name="T86" fmla="*/ 866 w 1521"/>
                <a:gd name="T87" fmla="*/ 66 h 916"/>
                <a:gd name="T88" fmla="*/ 917 w 1521"/>
                <a:gd name="T89" fmla="*/ 51 h 916"/>
                <a:gd name="T90" fmla="*/ 968 w 1521"/>
                <a:gd name="T91" fmla="*/ 38 h 916"/>
                <a:gd name="T92" fmla="*/ 1072 w 1521"/>
                <a:gd name="T93" fmla="*/ 17 h 916"/>
                <a:gd name="T94" fmla="*/ 1126 w 1521"/>
                <a:gd name="T95" fmla="*/ 9 h 916"/>
                <a:gd name="T96" fmla="*/ 1180 w 1521"/>
                <a:gd name="T97" fmla="*/ 5 h 916"/>
                <a:gd name="T98" fmla="*/ 1290 w 1521"/>
                <a:gd name="T99" fmla="*/ 0 h 916"/>
                <a:gd name="T100" fmla="*/ 1407 w 1521"/>
                <a:gd name="T101" fmla="*/ 5 h 916"/>
                <a:gd name="T102" fmla="*/ 1464 w 1521"/>
                <a:gd name="T103" fmla="*/ 11 h 916"/>
                <a:gd name="T104" fmla="*/ 1521 w 1521"/>
                <a:gd name="T105" fmla="*/ 20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1" h="916">
                  <a:moveTo>
                    <a:pt x="1521" y="20"/>
                  </a:moveTo>
                  <a:lnTo>
                    <a:pt x="1502" y="68"/>
                  </a:lnTo>
                  <a:lnTo>
                    <a:pt x="1481" y="116"/>
                  </a:lnTo>
                  <a:lnTo>
                    <a:pt x="1434" y="208"/>
                  </a:lnTo>
                  <a:lnTo>
                    <a:pt x="1407" y="253"/>
                  </a:lnTo>
                  <a:lnTo>
                    <a:pt x="1380" y="296"/>
                  </a:lnTo>
                  <a:lnTo>
                    <a:pt x="1320" y="381"/>
                  </a:lnTo>
                  <a:lnTo>
                    <a:pt x="1254" y="459"/>
                  </a:lnTo>
                  <a:lnTo>
                    <a:pt x="1219" y="496"/>
                  </a:lnTo>
                  <a:lnTo>
                    <a:pt x="1183" y="534"/>
                  </a:lnTo>
                  <a:lnTo>
                    <a:pt x="1146" y="569"/>
                  </a:lnTo>
                  <a:lnTo>
                    <a:pt x="1107" y="602"/>
                  </a:lnTo>
                  <a:lnTo>
                    <a:pt x="1024" y="665"/>
                  </a:lnTo>
                  <a:lnTo>
                    <a:pt x="938" y="721"/>
                  </a:lnTo>
                  <a:lnTo>
                    <a:pt x="848" y="770"/>
                  </a:lnTo>
                  <a:lnTo>
                    <a:pt x="753" y="814"/>
                  </a:lnTo>
                  <a:lnTo>
                    <a:pt x="704" y="833"/>
                  </a:lnTo>
                  <a:lnTo>
                    <a:pt x="654" y="850"/>
                  </a:lnTo>
                  <a:lnTo>
                    <a:pt x="605" y="865"/>
                  </a:lnTo>
                  <a:lnTo>
                    <a:pt x="553" y="878"/>
                  </a:lnTo>
                  <a:lnTo>
                    <a:pt x="448" y="900"/>
                  </a:lnTo>
                  <a:lnTo>
                    <a:pt x="394" y="907"/>
                  </a:lnTo>
                  <a:lnTo>
                    <a:pt x="340" y="912"/>
                  </a:lnTo>
                  <a:lnTo>
                    <a:pt x="230" y="916"/>
                  </a:lnTo>
                  <a:lnTo>
                    <a:pt x="114" y="912"/>
                  </a:lnTo>
                  <a:lnTo>
                    <a:pt x="56" y="906"/>
                  </a:lnTo>
                  <a:lnTo>
                    <a:pt x="0" y="897"/>
                  </a:lnTo>
                  <a:lnTo>
                    <a:pt x="18" y="848"/>
                  </a:lnTo>
                  <a:lnTo>
                    <a:pt x="39" y="800"/>
                  </a:lnTo>
                  <a:lnTo>
                    <a:pt x="86" y="709"/>
                  </a:lnTo>
                  <a:lnTo>
                    <a:pt x="113" y="663"/>
                  </a:lnTo>
                  <a:lnTo>
                    <a:pt x="140" y="620"/>
                  </a:lnTo>
                  <a:lnTo>
                    <a:pt x="200" y="536"/>
                  </a:lnTo>
                  <a:lnTo>
                    <a:pt x="266" y="457"/>
                  </a:lnTo>
                  <a:lnTo>
                    <a:pt x="301" y="420"/>
                  </a:lnTo>
                  <a:lnTo>
                    <a:pt x="337" y="384"/>
                  </a:lnTo>
                  <a:lnTo>
                    <a:pt x="375" y="348"/>
                  </a:lnTo>
                  <a:lnTo>
                    <a:pt x="414" y="315"/>
                  </a:lnTo>
                  <a:lnTo>
                    <a:pt x="496" y="251"/>
                  </a:lnTo>
                  <a:lnTo>
                    <a:pt x="582" y="196"/>
                  </a:lnTo>
                  <a:lnTo>
                    <a:pt x="674" y="146"/>
                  </a:lnTo>
                  <a:lnTo>
                    <a:pt x="768" y="102"/>
                  </a:lnTo>
                  <a:lnTo>
                    <a:pt x="816" y="83"/>
                  </a:lnTo>
                  <a:lnTo>
                    <a:pt x="866" y="66"/>
                  </a:lnTo>
                  <a:lnTo>
                    <a:pt x="917" y="51"/>
                  </a:lnTo>
                  <a:lnTo>
                    <a:pt x="968" y="38"/>
                  </a:lnTo>
                  <a:lnTo>
                    <a:pt x="1072" y="17"/>
                  </a:lnTo>
                  <a:lnTo>
                    <a:pt x="1126" y="9"/>
                  </a:lnTo>
                  <a:lnTo>
                    <a:pt x="1180" y="5"/>
                  </a:lnTo>
                  <a:lnTo>
                    <a:pt x="1290" y="0"/>
                  </a:lnTo>
                  <a:lnTo>
                    <a:pt x="1407" y="5"/>
                  </a:lnTo>
                  <a:lnTo>
                    <a:pt x="1464" y="11"/>
                  </a:lnTo>
                  <a:lnTo>
                    <a:pt x="1521" y="20"/>
                  </a:lnTo>
                </a:path>
              </a:pathLst>
            </a:custGeom>
            <a:noFill/>
            <a:ln w="6350">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26" name="Freeform 26"/>
            <p:cNvSpPr/>
            <p:nvPr/>
          </p:nvSpPr>
          <p:spPr bwMode="auto">
            <a:xfrm>
              <a:off x="1010736" y="2767573"/>
              <a:ext cx="990360" cy="631429"/>
            </a:xfrm>
            <a:custGeom>
              <a:avLst/>
              <a:gdLst>
                <a:gd name="T0" fmla="*/ 1484 w 1511"/>
                <a:gd name="T1" fmla="*/ 903 h 916"/>
                <a:gd name="T2" fmla="*/ 1430 w 1511"/>
                <a:gd name="T3" fmla="*/ 910 h 916"/>
                <a:gd name="T4" fmla="*/ 1374 w 1511"/>
                <a:gd name="T5" fmla="*/ 915 h 916"/>
                <a:gd name="T6" fmla="*/ 1290 w 1511"/>
                <a:gd name="T7" fmla="*/ 916 h 916"/>
                <a:gd name="T8" fmla="*/ 1180 w 1511"/>
                <a:gd name="T9" fmla="*/ 912 h 916"/>
                <a:gd name="T10" fmla="*/ 1101 w 1511"/>
                <a:gd name="T11" fmla="*/ 904 h 916"/>
                <a:gd name="T12" fmla="*/ 1047 w 1511"/>
                <a:gd name="T13" fmla="*/ 895 h 916"/>
                <a:gd name="T14" fmla="*/ 994 w 1511"/>
                <a:gd name="T15" fmla="*/ 884 h 916"/>
                <a:gd name="T16" fmla="*/ 917 w 1511"/>
                <a:gd name="T17" fmla="*/ 865 h 916"/>
                <a:gd name="T18" fmla="*/ 866 w 1511"/>
                <a:gd name="T19" fmla="*/ 850 h 916"/>
                <a:gd name="T20" fmla="*/ 817 w 1511"/>
                <a:gd name="T21" fmla="*/ 833 h 916"/>
                <a:gd name="T22" fmla="*/ 721 w 1511"/>
                <a:gd name="T23" fmla="*/ 793 h 916"/>
                <a:gd name="T24" fmla="*/ 674 w 1511"/>
                <a:gd name="T25" fmla="*/ 770 h 916"/>
                <a:gd name="T26" fmla="*/ 605 w 1511"/>
                <a:gd name="T27" fmla="*/ 734 h 916"/>
                <a:gd name="T28" fmla="*/ 539 w 1511"/>
                <a:gd name="T29" fmla="*/ 694 h 916"/>
                <a:gd name="T30" fmla="*/ 454 w 1511"/>
                <a:gd name="T31" fmla="*/ 633 h 916"/>
                <a:gd name="T32" fmla="*/ 376 w 1511"/>
                <a:gd name="T33" fmla="*/ 567 h 916"/>
                <a:gd name="T34" fmla="*/ 337 w 1511"/>
                <a:gd name="T35" fmla="*/ 533 h 916"/>
                <a:gd name="T36" fmla="*/ 283 w 1511"/>
                <a:gd name="T37" fmla="*/ 478 h 916"/>
                <a:gd name="T38" fmla="*/ 232 w 1511"/>
                <a:gd name="T39" fmla="*/ 420 h 916"/>
                <a:gd name="T40" fmla="*/ 170 w 1511"/>
                <a:gd name="T41" fmla="*/ 339 h 916"/>
                <a:gd name="T42" fmla="*/ 140 w 1511"/>
                <a:gd name="T43" fmla="*/ 295 h 916"/>
                <a:gd name="T44" fmla="*/ 113 w 1511"/>
                <a:gd name="T45" fmla="*/ 251 h 916"/>
                <a:gd name="T46" fmla="*/ 88 w 1511"/>
                <a:gd name="T47" fmla="*/ 208 h 916"/>
                <a:gd name="T48" fmla="*/ 52 w 1511"/>
                <a:gd name="T49" fmla="*/ 139 h 916"/>
                <a:gd name="T50" fmla="*/ 19 w 1511"/>
                <a:gd name="T51" fmla="*/ 66 h 916"/>
                <a:gd name="T52" fmla="*/ 0 w 1511"/>
                <a:gd name="T53" fmla="*/ 18 h 916"/>
                <a:gd name="T54" fmla="*/ 55 w 1511"/>
                <a:gd name="T55" fmla="*/ 11 h 916"/>
                <a:gd name="T56" fmla="*/ 109 w 1511"/>
                <a:gd name="T57" fmla="*/ 5 h 916"/>
                <a:gd name="T58" fmla="*/ 164 w 1511"/>
                <a:gd name="T59" fmla="*/ 2 h 916"/>
                <a:gd name="T60" fmla="*/ 276 w 1511"/>
                <a:gd name="T61" fmla="*/ 2 h 916"/>
                <a:gd name="T62" fmla="*/ 385 w 1511"/>
                <a:gd name="T63" fmla="*/ 9 h 916"/>
                <a:gd name="T64" fmla="*/ 438 w 1511"/>
                <a:gd name="T65" fmla="*/ 17 h 916"/>
                <a:gd name="T66" fmla="*/ 491 w 1511"/>
                <a:gd name="T67" fmla="*/ 27 h 916"/>
                <a:gd name="T68" fmla="*/ 543 w 1511"/>
                <a:gd name="T69" fmla="*/ 38 h 916"/>
                <a:gd name="T70" fmla="*/ 620 w 1511"/>
                <a:gd name="T71" fmla="*/ 59 h 916"/>
                <a:gd name="T72" fmla="*/ 669 w 1511"/>
                <a:gd name="T73" fmla="*/ 75 h 916"/>
                <a:gd name="T74" fmla="*/ 743 w 1511"/>
                <a:gd name="T75" fmla="*/ 102 h 916"/>
                <a:gd name="T76" fmla="*/ 815 w 1511"/>
                <a:gd name="T77" fmla="*/ 134 h 916"/>
                <a:gd name="T78" fmla="*/ 884 w 1511"/>
                <a:gd name="T79" fmla="*/ 170 h 916"/>
                <a:gd name="T80" fmla="*/ 929 w 1511"/>
                <a:gd name="T81" fmla="*/ 196 h 916"/>
                <a:gd name="T82" fmla="*/ 1015 w 1511"/>
                <a:gd name="T83" fmla="*/ 253 h 916"/>
                <a:gd name="T84" fmla="*/ 1098 w 1511"/>
                <a:gd name="T85" fmla="*/ 316 h 916"/>
                <a:gd name="T86" fmla="*/ 1155 w 1511"/>
                <a:gd name="T87" fmla="*/ 366 h 916"/>
                <a:gd name="T88" fmla="*/ 1211 w 1511"/>
                <a:gd name="T89" fmla="*/ 420 h 916"/>
                <a:gd name="T90" fmla="*/ 1245 w 1511"/>
                <a:gd name="T91" fmla="*/ 457 h 916"/>
                <a:gd name="T92" fmla="*/ 1311 w 1511"/>
                <a:gd name="T93" fmla="*/ 537 h 916"/>
                <a:gd name="T94" fmla="*/ 1356 w 1511"/>
                <a:gd name="T95" fmla="*/ 600 h 916"/>
                <a:gd name="T96" fmla="*/ 1385 w 1511"/>
                <a:gd name="T97" fmla="*/ 642 h 916"/>
                <a:gd name="T98" fmla="*/ 1412 w 1511"/>
                <a:gd name="T99" fmla="*/ 687 h 916"/>
                <a:gd name="T100" fmla="*/ 1450 w 1511"/>
                <a:gd name="T101" fmla="*/ 755 h 916"/>
                <a:gd name="T102" fmla="*/ 1472 w 1511"/>
                <a:gd name="T103" fmla="*/ 802 h 916"/>
                <a:gd name="T104" fmla="*/ 1502 w 1511"/>
                <a:gd name="T105" fmla="*/ 874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11" h="916">
                  <a:moveTo>
                    <a:pt x="1511" y="900"/>
                  </a:moveTo>
                  <a:lnTo>
                    <a:pt x="1484" y="903"/>
                  </a:lnTo>
                  <a:lnTo>
                    <a:pt x="1457" y="907"/>
                  </a:lnTo>
                  <a:lnTo>
                    <a:pt x="1430" y="910"/>
                  </a:lnTo>
                  <a:lnTo>
                    <a:pt x="1403" y="912"/>
                  </a:lnTo>
                  <a:lnTo>
                    <a:pt x="1374" y="915"/>
                  </a:lnTo>
                  <a:lnTo>
                    <a:pt x="1347" y="916"/>
                  </a:lnTo>
                  <a:lnTo>
                    <a:pt x="1290" y="916"/>
                  </a:lnTo>
                  <a:lnTo>
                    <a:pt x="1236" y="916"/>
                  </a:lnTo>
                  <a:lnTo>
                    <a:pt x="1180" y="912"/>
                  </a:lnTo>
                  <a:lnTo>
                    <a:pt x="1126" y="907"/>
                  </a:lnTo>
                  <a:lnTo>
                    <a:pt x="1101" y="904"/>
                  </a:lnTo>
                  <a:lnTo>
                    <a:pt x="1074" y="900"/>
                  </a:lnTo>
                  <a:lnTo>
                    <a:pt x="1047" y="895"/>
                  </a:lnTo>
                  <a:lnTo>
                    <a:pt x="1021" y="891"/>
                  </a:lnTo>
                  <a:lnTo>
                    <a:pt x="994" y="884"/>
                  </a:lnTo>
                  <a:lnTo>
                    <a:pt x="969" y="878"/>
                  </a:lnTo>
                  <a:lnTo>
                    <a:pt x="917" y="865"/>
                  </a:lnTo>
                  <a:lnTo>
                    <a:pt x="892" y="857"/>
                  </a:lnTo>
                  <a:lnTo>
                    <a:pt x="866" y="850"/>
                  </a:lnTo>
                  <a:lnTo>
                    <a:pt x="842" y="841"/>
                  </a:lnTo>
                  <a:lnTo>
                    <a:pt x="817" y="833"/>
                  </a:lnTo>
                  <a:lnTo>
                    <a:pt x="769" y="814"/>
                  </a:lnTo>
                  <a:lnTo>
                    <a:pt x="721" y="793"/>
                  </a:lnTo>
                  <a:lnTo>
                    <a:pt x="696" y="782"/>
                  </a:lnTo>
                  <a:lnTo>
                    <a:pt x="674" y="770"/>
                  </a:lnTo>
                  <a:lnTo>
                    <a:pt x="627" y="746"/>
                  </a:lnTo>
                  <a:lnTo>
                    <a:pt x="605" y="734"/>
                  </a:lnTo>
                  <a:lnTo>
                    <a:pt x="582" y="721"/>
                  </a:lnTo>
                  <a:lnTo>
                    <a:pt x="539" y="694"/>
                  </a:lnTo>
                  <a:lnTo>
                    <a:pt x="497" y="663"/>
                  </a:lnTo>
                  <a:lnTo>
                    <a:pt x="454" y="633"/>
                  </a:lnTo>
                  <a:lnTo>
                    <a:pt x="414" y="602"/>
                  </a:lnTo>
                  <a:lnTo>
                    <a:pt x="376" y="567"/>
                  </a:lnTo>
                  <a:lnTo>
                    <a:pt x="357" y="551"/>
                  </a:lnTo>
                  <a:lnTo>
                    <a:pt x="337" y="533"/>
                  </a:lnTo>
                  <a:lnTo>
                    <a:pt x="301" y="496"/>
                  </a:lnTo>
                  <a:lnTo>
                    <a:pt x="283" y="478"/>
                  </a:lnTo>
                  <a:lnTo>
                    <a:pt x="267" y="459"/>
                  </a:lnTo>
                  <a:lnTo>
                    <a:pt x="232" y="420"/>
                  </a:lnTo>
                  <a:lnTo>
                    <a:pt x="200" y="379"/>
                  </a:lnTo>
                  <a:lnTo>
                    <a:pt x="170" y="339"/>
                  </a:lnTo>
                  <a:lnTo>
                    <a:pt x="155" y="318"/>
                  </a:lnTo>
                  <a:lnTo>
                    <a:pt x="140" y="295"/>
                  </a:lnTo>
                  <a:lnTo>
                    <a:pt x="127" y="274"/>
                  </a:lnTo>
                  <a:lnTo>
                    <a:pt x="113" y="251"/>
                  </a:lnTo>
                  <a:lnTo>
                    <a:pt x="100" y="230"/>
                  </a:lnTo>
                  <a:lnTo>
                    <a:pt x="88" y="208"/>
                  </a:lnTo>
                  <a:lnTo>
                    <a:pt x="62" y="161"/>
                  </a:lnTo>
                  <a:lnTo>
                    <a:pt x="52" y="139"/>
                  </a:lnTo>
                  <a:lnTo>
                    <a:pt x="40" y="115"/>
                  </a:lnTo>
                  <a:lnTo>
                    <a:pt x="19" y="66"/>
                  </a:lnTo>
                  <a:lnTo>
                    <a:pt x="9" y="42"/>
                  </a:lnTo>
                  <a:lnTo>
                    <a:pt x="0" y="18"/>
                  </a:lnTo>
                  <a:lnTo>
                    <a:pt x="28" y="14"/>
                  </a:lnTo>
                  <a:lnTo>
                    <a:pt x="55" y="11"/>
                  </a:lnTo>
                  <a:lnTo>
                    <a:pt x="82" y="8"/>
                  </a:lnTo>
                  <a:lnTo>
                    <a:pt x="109" y="5"/>
                  </a:lnTo>
                  <a:lnTo>
                    <a:pt x="137" y="3"/>
                  </a:lnTo>
                  <a:lnTo>
                    <a:pt x="164" y="2"/>
                  </a:lnTo>
                  <a:lnTo>
                    <a:pt x="221" y="0"/>
                  </a:lnTo>
                  <a:lnTo>
                    <a:pt x="276" y="2"/>
                  </a:lnTo>
                  <a:lnTo>
                    <a:pt x="331" y="5"/>
                  </a:lnTo>
                  <a:lnTo>
                    <a:pt x="385" y="9"/>
                  </a:lnTo>
                  <a:lnTo>
                    <a:pt x="411" y="14"/>
                  </a:lnTo>
                  <a:lnTo>
                    <a:pt x="438" y="17"/>
                  </a:lnTo>
                  <a:lnTo>
                    <a:pt x="465" y="21"/>
                  </a:lnTo>
                  <a:lnTo>
                    <a:pt x="491" y="27"/>
                  </a:lnTo>
                  <a:lnTo>
                    <a:pt x="518" y="32"/>
                  </a:lnTo>
                  <a:lnTo>
                    <a:pt x="543" y="38"/>
                  </a:lnTo>
                  <a:lnTo>
                    <a:pt x="594" y="51"/>
                  </a:lnTo>
                  <a:lnTo>
                    <a:pt x="620" y="59"/>
                  </a:lnTo>
                  <a:lnTo>
                    <a:pt x="645" y="66"/>
                  </a:lnTo>
                  <a:lnTo>
                    <a:pt x="669" y="75"/>
                  </a:lnTo>
                  <a:lnTo>
                    <a:pt x="695" y="84"/>
                  </a:lnTo>
                  <a:lnTo>
                    <a:pt x="743" y="102"/>
                  </a:lnTo>
                  <a:lnTo>
                    <a:pt x="791" y="124"/>
                  </a:lnTo>
                  <a:lnTo>
                    <a:pt x="815" y="134"/>
                  </a:lnTo>
                  <a:lnTo>
                    <a:pt x="838" y="146"/>
                  </a:lnTo>
                  <a:lnTo>
                    <a:pt x="884" y="170"/>
                  </a:lnTo>
                  <a:lnTo>
                    <a:pt x="907" y="184"/>
                  </a:lnTo>
                  <a:lnTo>
                    <a:pt x="929" y="196"/>
                  </a:lnTo>
                  <a:lnTo>
                    <a:pt x="973" y="224"/>
                  </a:lnTo>
                  <a:lnTo>
                    <a:pt x="1015" y="253"/>
                  </a:lnTo>
                  <a:lnTo>
                    <a:pt x="1057" y="283"/>
                  </a:lnTo>
                  <a:lnTo>
                    <a:pt x="1098" y="316"/>
                  </a:lnTo>
                  <a:lnTo>
                    <a:pt x="1135" y="349"/>
                  </a:lnTo>
                  <a:lnTo>
                    <a:pt x="1155" y="366"/>
                  </a:lnTo>
                  <a:lnTo>
                    <a:pt x="1174" y="384"/>
                  </a:lnTo>
                  <a:lnTo>
                    <a:pt x="1211" y="420"/>
                  </a:lnTo>
                  <a:lnTo>
                    <a:pt x="1229" y="439"/>
                  </a:lnTo>
                  <a:lnTo>
                    <a:pt x="1245" y="457"/>
                  </a:lnTo>
                  <a:lnTo>
                    <a:pt x="1280" y="496"/>
                  </a:lnTo>
                  <a:lnTo>
                    <a:pt x="1311" y="537"/>
                  </a:lnTo>
                  <a:lnTo>
                    <a:pt x="1341" y="579"/>
                  </a:lnTo>
                  <a:lnTo>
                    <a:pt x="1356" y="600"/>
                  </a:lnTo>
                  <a:lnTo>
                    <a:pt x="1371" y="621"/>
                  </a:lnTo>
                  <a:lnTo>
                    <a:pt x="1385" y="642"/>
                  </a:lnTo>
                  <a:lnTo>
                    <a:pt x="1398" y="665"/>
                  </a:lnTo>
                  <a:lnTo>
                    <a:pt x="1412" y="687"/>
                  </a:lnTo>
                  <a:lnTo>
                    <a:pt x="1424" y="710"/>
                  </a:lnTo>
                  <a:lnTo>
                    <a:pt x="1450" y="755"/>
                  </a:lnTo>
                  <a:lnTo>
                    <a:pt x="1460" y="779"/>
                  </a:lnTo>
                  <a:lnTo>
                    <a:pt x="1472" y="802"/>
                  </a:lnTo>
                  <a:lnTo>
                    <a:pt x="1493" y="850"/>
                  </a:lnTo>
                  <a:lnTo>
                    <a:pt x="1502" y="874"/>
                  </a:lnTo>
                  <a:lnTo>
                    <a:pt x="1511" y="900"/>
                  </a:lnTo>
                  <a:close/>
                </a:path>
              </a:pathLst>
            </a:custGeom>
            <a:solidFill>
              <a:srgbClr val="D6DBFE"/>
            </a:solidFill>
            <a:ln w="6350">
              <a:solidFill>
                <a:srgbClr val="7889FB"/>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5" name="Freeform 27"/>
            <p:cNvSpPr/>
            <p:nvPr/>
          </p:nvSpPr>
          <p:spPr bwMode="auto">
            <a:xfrm>
              <a:off x="1010736" y="2767573"/>
              <a:ext cx="990360" cy="631429"/>
            </a:xfrm>
            <a:custGeom>
              <a:avLst/>
              <a:gdLst>
                <a:gd name="T0" fmla="*/ 1511 w 1511"/>
                <a:gd name="T1" fmla="*/ 898 h 916"/>
                <a:gd name="T2" fmla="*/ 1457 w 1511"/>
                <a:gd name="T3" fmla="*/ 907 h 916"/>
                <a:gd name="T4" fmla="*/ 1403 w 1511"/>
                <a:gd name="T5" fmla="*/ 912 h 916"/>
                <a:gd name="T6" fmla="*/ 1290 w 1511"/>
                <a:gd name="T7" fmla="*/ 916 h 916"/>
                <a:gd name="T8" fmla="*/ 1180 w 1511"/>
                <a:gd name="T9" fmla="*/ 912 h 916"/>
                <a:gd name="T10" fmla="*/ 1074 w 1511"/>
                <a:gd name="T11" fmla="*/ 900 h 916"/>
                <a:gd name="T12" fmla="*/ 1021 w 1511"/>
                <a:gd name="T13" fmla="*/ 889 h 916"/>
                <a:gd name="T14" fmla="*/ 969 w 1511"/>
                <a:gd name="T15" fmla="*/ 878 h 916"/>
                <a:gd name="T16" fmla="*/ 866 w 1511"/>
                <a:gd name="T17" fmla="*/ 850 h 916"/>
                <a:gd name="T18" fmla="*/ 769 w 1511"/>
                <a:gd name="T19" fmla="*/ 814 h 916"/>
                <a:gd name="T20" fmla="*/ 721 w 1511"/>
                <a:gd name="T21" fmla="*/ 793 h 916"/>
                <a:gd name="T22" fmla="*/ 674 w 1511"/>
                <a:gd name="T23" fmla="*/ 770 h 916"/>
                <a:gd name="T24" fmla="*/ 627 w 1511"/>
                <a:gd name="T25" fmla="*/ 746 h 916"/>
                <a:gd name="T26" fmla="*/ 582 w 1511"/>
                <a:gd name="T27" fmla="*/ 721 h 916"/>
                <a:gd name="T28" fmla="*/ 539 w 1511"/>
                <a:gd name="T29" fmla="*/ 694 h 916"/>
                <a:gd name="T30" fmla="*/ 497 w 1511"/>
                <a:gd name="T31" fmla="*/ 663 h 916"/>
                <a:gd name="T32" fmla="*/ 454 w 1511"/>
                <a:gd name="T33" fmla="*/ 633 h 916"/>
                <a:gd name="T34" fmla="*/ 414 w 1511"/>
                <a:gd name="T35" fmla="*/ 602 h 916"/>
                <a:gd name="T36" fmla="*/ 375 w 1511"/>
                <a:gd name="T37" fmla="*/ 567 h 916"/>
                <a:gd name="T38" fmla="*/ 337 w 1511"/>
                <a:gd name="T39" fmla="*/ 533 h 916"/>
                <a:gd name="T40" fmla="*/ 267 w 1511"/>
                <a:gd name="T41" fmla="*/ 459 h 916"/>
                <a:gd name="T42" fmla="*/ 200 w 1511"/>
                <a:gd name="T43" fmla="*/ 379 h 916"/>
                <a:gd name="T44" fmla="*/ 140 w 1511"/>
                <a:gd name="T45" fmla="*/ 295 h 916"/>
                <a:gd name="T46" fmla="*/ 113 w 1511"/>
                <a:gd name="T47" fmla="*/ 251 h 916"/>
                <a:gd name="T48" fmla="*/ 86 w 1511"/>
                <a:gd name="T49" fmla="*/ 206 h 916"/>
                <a:gd name="T50" fmla="*/ 62 w 1511"/>
                <a:gd name="T51" fmla="*/ 161 h 916"/>
                <a:gd name="T52" fmla="*/ 40 w 1511"/>
                <a:gd name="T53" fmla="*/ 115 h 916"/>
                <a:gd name="T54" fmla="*/ 19 w 1511"/>
                <a:gd name="T55" fmla="*/ 66 h 916"/>
                <a:gd name="T56" fmla="*/ 0 w 1511"/>
                <a:gd name="T57" fmla="*/ 18 h 916"/>
                <a:gd name="T58" fmla="*/ 55 w 1511"/>
                <a:gd name="T59" fmla="*/ 11 h 916"/>
                <a:gd name="T60" fmla="*/ 109 w 1511"/>
                <a:gd name="T61" fmla="*/ 5 h 916"/>
                <a:gd name="T62" fmla="*/ 220 w 1511"/>
                <a:gd name="T63" fmla="*/ 0 h 916"/>
                <a:gd name="T64" fmla="*/ 331 w 1511"/>
                <a:gd name="T65" fmla="*/ 5 h 916"/>
                <a:gd name="T66" fmla="*/ 438 w 1511"/>
                <a:gd name="T67" fmla="*/ 17 h 916"/>
                <a:gd name="T68" fmla="*/ 491 w 1511"/>
                <a:gd name="T69" fmla="*/ 27 h 916"/>
                <a:gd name="T70" fmla="*/ 543 w 1511"/>
                <a:gd name="T71" fmla="*/ 38 h 916"/>
                <a:gd name="T72" fmla="*/ 645 w 1511"/>
                <a:gd name="T73" fmla="*/ 66 h 916"/>
                <a:gd name="T74" fmla="*/ 743 w 1511"/>
                <a:gd name="T75" fmla="*/ 102 h 916"/>
                <a:gd name="T76" fmla="*/ 791 w 1511"/>
                <a:gd name="T77" fmla="*/ 124 h 916"/>
                <a:gd name="T78" fmla="*/ 838 w 1511"/>
                <a:gd name="T79" fmla="*/ 146 h 916"/>
                <a:gd name="T80" fmla="*/ 884 w 1511"/>
                <a:gd name="T81" fmla="*/ 170 h 916"/>
                <a:gd name="T82" fmla="*/ 928 w 1511"/>
                <a:gd name="T83" fmla="*/ 196 h 916"/>
                <a:gd name="T84" fmla="*/ 973 w 1511"/>
                <a:gd name="T85" fmla="*/ 224 h 916"/>
                <a:gd name="T86" fmla="*/ 1015 w 1511"/>
                <a:gd name="T87" fmla="*/ 253 h 916"/>
                <a:gd name="T88" fmla="*/ 1057 w 1511"/>
                <a:gd name="T89" fmla="*/ 283 h 916"/>
                <a:gd name="T90" fmla="*/ 1096 w 1511"/>
                <a:gd name="T91" fmla="*/ 316 h 916"/>
                <a:gd name="T92" fmla="*/ 1135 w 1511"/>
                <a:gd name="T93" fmla="*/ 349 h 916"/>
                <a:gd name="T94" fmla="*/ 1173 w 1511"/>
                <a:gd name="T95" fmla="*/ 384 h 916"/>
                <a:gd name="T96" fmla="*/ 1245 w 1511"/>
                <a:gd name="T97" fmla="*/ 457 h 916"/>
                <a:gd name="T98" fmla="*/ 1311 w 1511"/>
                <a:gd name="T99" fmla="*/ 537 h 916"/>
                <a:gd name="T100" fmla="*/ 1371 w 1511"/>
                <a:gd name="T101" fmla="*/ 621 h 916"/>
                <a:gd name="T102" fmla="*/ 1398 w 1511"/>
                <a:gd name="T103" fmla="*/ 665 h 916"/>
                <a:gd name="T104" fmla="*/ 1424 w 1511"/>
                <a:gd name="T105" fmla="*/ 710 h 916"/>
                <a:gd name="T106" fmla="*/ 1448 w 1511"/>
                <a:gd name="T107" fmla="*/ 755 h 916"/>
                <a:gd name="T108" fmla="*/ 1472 w 1511"/>
                <a:gd name="T109" fmla="*/ 802 h 916"/>
                <a:gd name="T110" fmla="*/ 1492 w 1511"/>
                <a:gd name="T111" fmla="*/ 850 h 916"/>
                <a:gd name="T112" fmla="*/ 1511 w 1511"/>
                <a:gd name="T113" fmla="*/ 898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11" h="916">
                  <a:moveTo>
                    <a:pt x="1511" y="898"/>
                  </a:moveTo>
                  <a:lnTo>
                    <a:pt x="1457" y="907"/>
                  </a:lnTo>
                  <a:lnTo>
                    <a:pt x="1403" y="912"/>
                  </a:lnTo>
                  <a:lnTo>
                    <a:pt x="1290" y="916"/>
                  </a:lnTo>
                  <a:lnTo>
                    <a:pt x="1180" y="912"/>
                  </a:lnTo>
                  <a:lnTo>
                    <a:pt x="1074" y="900"/>
                  </a:lnTo>
                  <a:lnTo>
                    <a:pt x="1021" y="889"/>
                  </a:lnTo>
                  <a:lnTo>
                    <a:pt x="969" y="878"/>
                  </a:lnTo>
                  <a:lnTo>
                    <a:pt x="866" y="850"/>
                  </a:lnTo>
                  <a:lnTo>
                    <a:pt x="769" y="814"/>
                  </a:lnTo>
                  <a:lnTo>
                    <a:pt x="721" y="793"/>
                  </a:lnTo>
                  <a:lnTo>
                    <a:pt x="674" y="770"/>
                  </a:lnTo>
                  <a:lnTo>
                    <a:pt x="627" y="746"/>
                  </a:lnTo>
                  <a:lnTo>
                    <a:pt x="582" y="721"/>
                  </a:lnTo>
                  <a:lnTo>
                    <a:pt x="539" y="694"/>
                  </a:lnTo>
                  <a:lnTo>
                    <a:pt x="497" y="663"/>
                  </a:lnTo>
                  <a:lnTo>
                    <a:pt x="454" y="633"/>
                  </a:lnTo>
                  <a:lnTo>
                    <a:pt x="414" y="602"/>
                  </a:lnTo>
                  <a:lnTo>
                    <a:pt x="375" y="567"/>
                  </a:lnTo>
                  <a:lnTo>
                    <a:pt x="337" y="533"/>
                  </a:lnTo>
                  <a:lnTo>
                    <a:pt x="267" y="459"/>
                  </a:lnTo>
                  <a:lnTo>
                    <a:pt x="200" y="379"/>
                  </a:lnTo>
                  <a:lnTo>
                    <a:pt x="140" y="295"/>
                  </a:lnTo>
                  <a:lnTo>
                    <a:pt x="113" y="251"/>
                  </a:lnTo>
                  <a:lnTo>
                    <a:pt x="86" y="206"/>
                  </a:lnTo>
                  <a:lnTo>
                    <a:pt x="62" y="161"/>
                  </a:lnTo>
                  <a:lnTo>
                    <a:pt x="40" y="115"/>
                  </a:lnTo>
                  <a:lnTo>
                    <a:pt x="19" y="66"/>
                  </a:lnTo>
                  <a:lnTo>
                    <a:pt x="0" y="18"/>
                  </a:lnTo>
                  <a:lnTo>
                    <a:pt x="55" y="11"/>
                  </a:lnTo>
                  <a:lnTo>
                    <a:pt x="109" y="5"/>
                  </a:lnTo>
                  <a:lnTo>
                    <a:pt x="220" y="0"/>
                  </a:lnTo>
                  <a:lnTo>
                    <a:pt x="331" y="5"/>
                  </a:lnTo>
                  <a:lnTo>
                    <a:pt x="438" y="17"/>
                  </a:lnTo>
                  <a:lnTo>
                    <a:pt x="491" y="27"/>
                  </a:lnTo>
                  <a:lnTo>
                    <a:pt x="543" y="38"/>
                  </a:lnTo>
                  <a:lnTo>
                    <a:pt x="645" y="66"/>
                  </a:lnTo>
                  <a:lnTo>
                    <a:pt x="743" y="102"/>
                  </a:lnTo>
                  <a:lnTo>
                    <a:pt x="791" y="124"/>
                  </a:lnTo>
                  <a:lnTo>
                    <a:pt x="838" y="146"/>
                  </a:lnTo>
                  <a:lnTo>
                    <a:pt x="884" y="170"/>
                  </a:lnTo>
                  <a:lnTo>
                    <a:pt x="928" y="196"/>
                  </a:lnTo>
                  <a:lnTo>
                    <a:pt x="973" y="224"/>
                  </a:lnTo>
                  <a:lnTo>
                    <a:pt x="1015" y="253"/>
                  </a:lnTo>
                  <a:lnTo>
                    <a:pt x="1057" y="283"/>
                  </a:lnTo>
                  <a:lnTo>
                    <a:pt x="1096" y="316"/>
                  </a:lnTo>
                  <a:lnTo>
                    <a:pt x="1135" y="349"/>
                  </a:lnTo>
                  <a:lnTo>
                    <a:pt x="1173" y="384"/>
                  </a:lnTo>
                  <a:lnTo>
                    <a:pt x="1245" y="457"/>
                  </a:lnTo>
                  <a:lnTo>
                    <a:pt x="1311" y="537"/>
                  </a:lnTo>
                  <a:lnTo>
                    <a:pt x="1371" y="621"/>
                  </a:lnTo>
                  <a:lnTo>
                    <a:pt x="1398" y="665"/>
                  </a:lnTo>
                  <a:lnTo>
                    <a:pt x="1424" y="710"/>
                  </a:lnTo>
                  <a:lnTo>
                    <a:pt x="1448" y="755"/>
                  </a:lnTo>
                  <a:lnTo>
                    <a:pt x="1472" y="802"/>
                  </a:lnTo>
                  <a:lnTo>
                    <a:pt x="1492" y="850"/>
                  </a:lnTo>
                  <a:lnTo>
                    <a:pt x="1511" y="898"/>
                  </a:lnTo>
                </a:path>
              </a:pathLst>
            </a:custGeom>
            <a:noFill/>
            <a:ln w="6350">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6" name="Freeform 28"/>
            <p:cNvSpPr/>
            <p:nvPr/>
          </p:nvSpPr>
          <p:spPr bwMode="auto">
            <a:xfrm>
              <a:off x="1650825" y="3115045"/>
              <a:ext cx="407168" cy="1204945"/>
            </a:xfrm>
            <a:custGeom>
              <a:avLst/>
              <a:gdLst>
                <a:gd name="T0" fmla="*/ 0 w 622"/>
                <a:gd name="T1" fmla="*/ 842 h 1746"/>
                <a:gd name="T2" fmla="*/ 3 w 622"/>
                <a:gd name="T3" fmla="*/ 781 h 1746"/>
                <a:gd name="T4" fmla="*/ 7 w 622"/>
                <a:gd name="T5" fmla="*/ 720 h 1746"/>
                <a:gd name="T6" fmla="*/ 15 w 622"/>
                <a:gd name="T7" fmla="*/ 660 h 1746"/>
                <a:gd name="T8" fmla="*/ 25 w 622"/>
                <a:gd name="T9" fmla="*/ 602 h 1746"/>
                <a:gd name="T10" fmla="*/ 39 w 622"/>
                <a:gd name="T11" fmla="*/ 543 h 1746"/>
                <a:gd name="T12" fmla="*/ 54 w 622"/>
                <a:gd name="T13" fmla="*/ 486 h 1746"/>
                <a:gd name="T14" fmla="*/ 82 w 622"/>
                <a:gd name="T15" fmla="*/ 402 h 1746"/>
                <a:gd name="T16" fmla="*/ 126 w 622"/>
                <a:gd name="T17" fmla="*/ 293 h 1746"/>
                <a:gd name="T18" fmla="*/ 151 w 622"/>
                <a:gd name="T19" fmla="*/ 242 h 1746"/>
                <a:gd name="T20" fmla="*/ 180 w 622"/>
                <a:gd name="T21" fmla="*/ 191 h 1746"/>
                <a:gd name="T22" fmla="*/ 210 w 622"/>
                <a:gd name="T23" fmla="*/ 141 h 1746"/>
                <a:gd name="T24" fmla="*/ 242 w 622"/>
                <a:gd name="T25" fmla="*/ 93 h 1746"/>
                <a:gd name="T26" fmla="*/ 275 w 622"/>
                <a:gd name="T27" fmla="*/ 45 h 1746"/>
                <a:gd name="T28" fmla="*/ 311 w 622"/>
                <a:gd name="T29" fmla="*/ 0 h 1746"/>
                <a:gd name="T30" fmla="*/ 363 w 622"/>
                <a:gd name="T31" fmla="*/ 69 h 1746"/>
                <a:gd name="T32" fmla="*/ 411 w 622"/>
                <a:gd name="T33" fmla="*/ 141 h 1746"/>
                <a:gd name="T34" fmla="*/ 441 w 622"/>
                <a:gd name="T35" fmla="*/ 191 h 1746"/>
                <a:gd name="T36" fmla="*/ 482 w 622"/>
                <a:gd name="T37" fmla="*/ 268 h 1746"/>
                <a:gd name="T38" fmla="*/ 506 w 622"/>
                <a:gd name="T39" fmla="*/ 320 h 1746"/>
                <a:gd name="T40" fmla="*/ 529 w 622"/>
                <a:gd name="T41" fmla="*/ 374 h 1746"/>
                <a:gd name="T42" fmla="*/ 548 w 622"/>
                <a:gd name="T43" fmla="*/ 429 h 1746"/>
                <a:gd name="T44" fmla="*/ 566 w 622"/>
                <a:gd name="T45" fmla="*/ 486 h 1746"/>
                <a:gd name="T46" fmla="*/ 581 w 622"/>
                <a:gd name="T47" fmla="*/ 543 h 1746"/>
                <a:gd name="T48" fmla="*/ 595 w 622"/>
                <a:gd name="T49" fmla="*/ 602 h 1746"/>
                <a:gd name="T50" fmla="*/ 605 w 622"/>
                <a:gd name="T51" fmla="*/ 660 h 1746"/>
                <a:gd name="T52" fmla="*/ 616 w 622"/>
                <a:gd name="T53" fmla="*/ 750 h 1746"/>
                <a:gd name="T54" fmla="*/ 620 w 622"/>
                <a:gd name="T55" fmla="*/ 811 h 1746"/>
                <a:gd name="T56" fmla="*/ 622 w 622"/>
                <a:gd name="T57" fmla="*/ 872 h 1746"/>
                <a:gd name="T58" fmla="*/ 620 w 622"/>
                <a:gd name="T59" fmla="*/ 935 h 1746"/>
                <a:gd name="T60" fmla="*/ 616 w 622"/>
                <a:gd name="T61" fmla="*/ 996 h 1746"/>
                <a:gd name="T62" fmla="*/ 610 w 622"/>
                <a:gd name="T63" fmla="*/ 1056 h 1746"/>
                <a:gd name="T64" fmla="*/ 601 w 622"/>
                <a:gd name="T65" fmla="*/ 1116 h 1746"/>
                <a:gd name="T66" fmla="*/ 589 w 622"/>
                <a:gd name="T67" fmla="*/ 1175 h 1746"/>
                <a:gd name="T68" fmla="*/ 575 w 622"/>
                <a:gd name="T69" fmla="*/ 1232 h 1746"/>
                <a:gd name="T70" fmla="*/ 557 w 622"/>
                <a:gd name="T71" fmla="*/ 1289 h 1746"/>
                <a:gd name="T72" fmla="*/ 518 w 622"/>
                <a:gd name="T73" fmla="*/ 1399 h 1746"/>
                <a:gd name="T74" fmla="*/ 482 w 622"/>
                <a:gd name="T75" fmla="*/ 1478 h 1746"/>
                <a:gd name="T76" fmla="*/ 455 w 622"/>
                <a:gd name="T77" fmla="*/ 1529 h 1746"/>
                <a:gd name="T78" fmla="*/ 426 w 622"/>
                <a:gd name="T79" fmla="*/ 1581 h 1746"/>
                <a:gd name="T80" fmla="*/ 396 w 622"/>
                <a:gd name="T81" fmla="*/ 1629 h 1746"/>
                <a:gd name="T82" fmla="*/ 363 w 622"/>
                <a:gd name="T83" fmla="*/ 1677 h 1746"/>
                <a:gd name="T84" fmla="*/ 329 w 622"/>
                <a:gd name="T85" fmla="*/ 1723 h 1746"/>
                <a:gd name="T86" fmla="*/ 275 w 622"/>
                <a:gd name="T87" fmla="*/ 1699 h 1746"/>
                <a:gd name="T88" fmla="*/ 242 w 622"/>
                <a:gd name="T89" fmla="*/ 1653 h 1746"/>
                <a:gd name="T90" fmla="*/ 193 w 622"/>
                <a:gd name="T91" fmla="*/ 1581 h 1746"/>
                <a:gd name="T92" fmla="*/ 151 w 622"/>
                <a:gd name="T93" fmla="*/ 1504 h 1746"/>
                <a:gd name="T94" fmla="*/ 126 w 622"/>
                <a:gd name="T95" fmla="*/ 1453 h 1746"/>
                <a:gd name="T96" fmla="*/ 103 w 622"/>
                <a:gd name="T97" fmla="*/ 1399 h 1746"/>
                <a:gd name="T98" fmla="*/ 82 w 622"/>
                <a:gd name="T99" fmla="*/ 1344 h 1746"/>
                <a:gd name="T100" fmla="*/ 63 w 622"/>
                <a:gd name="T101" fmla="*/ 1289 h 1746"/>
                <a:gd name="T102" fmla="*/ 46 w 622"/>
                <a:gd name="T103" fmla="*/ 1232 h 1746"/>
                <a:gd name="T104" fmla="*/ 31 w 622"/>
                <a:gd name="T105" fmla="*/ 1175 h 1746"/>
                <a:gd name="T106" fmla="*/ 21 w 622"/>
                <a:gd name="T107" fmla="*/ 1116 h 1746"/>
                <a:gd name="T108" fmla="*/ 12 w 622"/>
                <a:gd name="T109" fmla="*/ 1056 h 1746"/>
                <a:gd name="T110" fmla="*/ 3 w 622"/>
                <a:gd name="T111" fmla="*/ 966 h 1746"/>
                <a:gd name="T112" fmla="*/ 0 w 622"/>
                <a:gd name="T113" fmla="*/ 904 h 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2" h="1746">
                  <a:moveTo>
                    <a:pt x="0" y="872"/>
                  </a:moveTo>
                  <a:lnTo>
                    <a:pt x="0" y="842"/>
                  </a:lnTo>
                  <a:lnTo>
                    <a:pt x="0" y="811"/>
                  </a:lnTo>
                  <a:lnTo>
                    <a:pt x="3" y="781"/>
                  </a:lnTo>
                  <a:lnTo>
                    <a:pt x="4" y="750"/>
                  </a:lnTo>
                  <a:lnTo>
                    <a:pt x="7" y="720"/>
                  </a:lnTo>
                  <a:lnTo>
                    <a:pt x="12" y="690"/>
                  </a:lnTo>
                  <a:lnTo>
                    <a:pt x="15" y="660"/>
                  </a:lnTo>
                  <a:lnTo>
                    <a:pt x="21" y="630"/>
                  </a:lnTo>
                  <a:lnTo>
                    <a:pt x="25" y="602"/>
                  </a:lnTo>
                  <a:lnTo>
                    <a:pt x="31" y="571"/>
                  </a:lnTo>
                  <a:lnTo>
                    <a:pt x="39" y="543"/>
                  </a:lnTo>
                  <a:lnTo>
                    <a:pt x="46" y="514"/>
                  </a:lnTo>
                  <a:lnTo>
                    <a:pt x="54" y="486"/>
                  </a:lnTo>
                  <a:lnTo>
                    <a:pt x="63" y="457"/>
                  </a:lnTo>
                  <a:lnTo>
                    <a:pt x="82" y="402"/>
                  </a:lnTo>
                  <a:lnTo>
                    <a:pt x="103" y="347"/>
                  </a:lnTo>
                  <a:lnTo>
                    <a:pt x="126" y="293"/>
                  </a:lnTo>
                  <a:lnTo>
                    <a:pt x="139" y="268"/>
                  </a:lnTo>
                  <a:lnTo>
                    <a:pt x="151" y="242"/>
                  </a:lnTo>
                  <a:lnTo>
                    <a:pt x="165" y="215"/>
                  </a:lnTo>
                  <a:lnTo>
                    <a:pt x="180" y="191"/>
                  </a:lnTo>
                  <a:lnTo>
                    <a:pt x="193" y="165"/>
                  </a:lnTo>
                  <a:lnTo>
                    <a:pt x="210" y="141"/>
                  </a:lnTo>
                  <a:lnTo>
                    <a:pt x="225" y="117"/>
                  </a:lnTo>
                  <a:lnTo>
                    <a:pt x="242" y="93"/>
                  </a:lnTo>
                  <a:lnTo>
                    <a:pt x="258" y="69"/>
                  </a:lnTo>
                  <a:lnTo>
                    <a:pt x="275" y="45"/>
                  </a:lnTo>
                  <a:lnTo>
                    <a:pt x="293" y="23"/>
                  </a:lnTo>
                  <a:lnTo>
                    <a:pt x="311" y="0"/>
                  </a:lnTo>
                  <a:lnTo>
                    <a:pt x="345" y="45"/>
                  </a:lnTo>
                  <a:lnTo>
                    <a:pt x="363" y="69"/>
                  </a:lnTo>
                  <a:lnTo>
                    <a:pt x="380" y="93"/>
                  </a:lnTo>
                  <a:lnTo>
                    <a:pt x="411" y="141"/>
                  </a:lnTo>
                  <a:lnTo>
                    <a:pt x="426" y="165"/>
                  </a:lnTo>
                  <a:lnTo>
                    <a:pt x="441" y="191"/>
                  </a:lnTo>
                  <a:lnTo>
                    <a:pt x="469" y="242"/>
                  </a:lnTo>
                  <a:lnTo>
                    <a:pt x="482" y="268"/>
                  </a:lnTo>
                  <a:lnTo>
                    <a:pt x="494" y="293"/>
                  </a:lnTo>
                  <a:lnTo>
                    <a:pt x="506" y="320"/>
                  </a:lnTo>
                  <a:lnTo>
                    <a:pt x="518" y="347"/>
                  </a:lnTo>
                  <a:lnTo>
                    <a:pt x="529" y="374"/>
                  </a:lnTo>
                  <a:lnTo>
                    <a:pt x="539" y="402"/>
                  </a:lnTo>
                  <a:lnTo>
                    <a:pt x="548" y="429"/>
                  </a:lnTo>
                  <a:lnTo>
                    <a:pt x="557" y="457"/>
                  </a:lnTo>
                  <a:lnTo>
                    <a:pt x="566" y="486"/>
                  </a:lnTo>
                  <a:lnTo>
                    <a:pt x="575" y="514"/>
                  </a:lnTo>
                  <a:lnTo>
                    <a:pt x="581" y="543"/>
                  </a:lnTo>
                  <a:lnTo>
                    <a:pt x="589" y="571"/>
                  </a:lnTo>
                  <a:lnTo>
                    <a:pt x="595" y="602"/>
                  </a:lnTo>
                  <a:lnTo>
                    <a:pt x="601" y="630"/>
                  </a:lnTo>
                  <a:lnTo>
                    <a:pt x="605" y="660"/>
                  </a:lnTo>
                  <a:lnTo>
                    <a:pt x="610" y="690"/>
                  </a:lnTo>
                  <a:lnTo>
                    <a:pt x="616" y="750"/>
                  </a:lnTo>
                  <a:lnTo>
                    <a:pt x="619" y="781"/>
                  </a:lnTo>
                  <a:lnTo>
                    <a:pt x="620" y="811"/>
                  </a:lnTo>
                  <a:lnTo>
                    <a:pt x="622" y="842"/>
                  </a:lnTo>
                  <a:lnTo>
                    <a:pt x="622" y="872"/>
                  </a:lnTo>
                  <a:lnTo>
                    <a:pt x="622" y="904"/>
                  </a:lnTo>
                  <a:lnTo>
                    <a:pt x="620" y="935"/>
                  </a:lnTo>
                  <a:lnTo>
                    <a:pt x="619" y="966"/>
                  </a:lnTo>
                  <a:lnTo>
                    <a:pt x="616" y="996"/>
                  </a:lnTo>
                  <a:lnTo>
                    <a:pt x="613" y="1026"/>
                  </a:lnTo>
                  <a:lnTo>
                    <a:pt x="610" y="1056"/>
                  </a:lnTo>
                  <a:lnTo>
                    <a:pt x="605" y="1086"/>
                  </a:lnTo>
                  <a:lnTo>
                    <a:pt x="601" y="1116"/>
                  </a:lnTo>
                  <a:lnTo>
                    <a:pt x="595" y="1144"/>
                  </a:lnTo>
                  <a:lnTo>
                    <a:pt x="589" y="1175"/>
                  </a:lnTo>
                  <a:lnTo>
                    <a:pt x="581" y="1203"/>
                  </a:lnTo>
                  <a:lnTo>
                    <a:pt x="575" y="1232"/>
                  </a:lnTo>
                  <a:lnTo>
                    <a:pt x="566" y="1260"/>
                  </a:lnTo>
                  <a:lnTo>
                    <a:pt x="557" y="1289"/>
                  </a:lnTo>
                  <a:lnTo>
                    <a:pt x="539" y="1344"/>
                  </a:lnTo>
                  <a:lnTo>
                    <a:pt x="518" y="1399"/>
                  </a:lnTo>
                  <a:lnTo>
                    <a:pt x="494" y="1453"/>
                  </a:lnTo>
                  <a:lnTo>
                    <a:pt x="482" y="1478"/>
                  </a:lnTo>
                  <a:lnTo>
                    <a:pt x="469" y="1504"/>
                  </a:lnTo>
                  <a:lnTo>
                    <a:pt x="455" y="1529"/>
                  </a:lnTo>
                  <a:lnTo>
                    <a:pt x="441" y="1555"/>
                  </a:lnTo>
                  <a:lnTo>
                    <a:pt x="426" y="1581"/>
                  </a:lnTo>
                  <a:lnTo>
                    <a:pt x="411" y="1605"/>
                  </a:lnTo>
                  <a:lnTo>
                    <a:pt x="396" y="1629"/>
                  </a:lnTo>
                  <a:lnTo>
                    <a:pt x="380" y="1653"/>
                  </a:lnTo>
                  <a:lnTo>
                    <a:pt x="363" y="1677"/>
                  </a:lnTo>
                  <a:lnTo>
                    <a:pt x="345" y="1699"/>
                  </a:lnTo>
                  <a:lnTo>
                    <a:pt x="329" y="1723"/>
                  </a:lnTo>
                  <a:lnTo>
                    <a:pt x="311" y="1746"/>
                  </a:lnTo>
                  <a:lnTo>
                    <a:pt x="275" y="1699"/>
                  </a:lnTo>
                  <a:lnTo>
                    <a:pt x="258" y="1677"/>
                  </a:lnTo>
                  <a:lnTo>
                    <a:pt x="242" y="1653"/>
                  </a:lnTo>
                  <a:lnTo>
                    <a:pt x="210" y="1605"/>
                  </a:lnTo>
                  <a:lnTo>
                    <a:pt x="193" y="1581"/>
                  </a:lnTo>
                  <a:lnTo>
                    <a:pt x="180" y="1555"/>
                  </a:lnTo>
                  <a:lnTo>
                    <a:pt x="151" y="1504"/>
                  </a:lnTo>
                  <a:lnTo>
                    <a:pt x="139" y="1478"/>
                  </a:lnTo>
                  <a:lnTo>
                    <a:pt x="126" y="1453"/>
                  </a:lnTo>
                  <a:lnTo>
                    <a:pt x="114" y="1426"/>
                  </a:lnTo>
                  <a:lnTo>
                    <a:pt x="103" y="1399"/>
                  </a:lnTo>
                  <a:lnTo>
                    <a:pt x="91" y="1372"/>
                  </a:lnTo>
                  <a:lnTo>
                    <a:pt x="82" y="1344"/>
                  </a:lnTo>
                  <a:lnTo>
                    <a:pt x="72" y="1316"/>
                  </a:lnTo>
                  <a:lnTo>
                    <a:pt x="63" y="1289"/>
                  </a:lnTo>
                  <a:lnTo>
                    <a:pt x="54" y="1260"/>
                  </a:lnTo>
                  <a:lnTo>
                    <a:pt x="46" y="1232"/>
                  </a:lnTo>
                  <a:lnTo>
                    <a:pt x="39" y="1203"/>
                  </a:lnTo>
                  <a:lnTo>
                    <a:pt x="31" y="1175"/>
                  </a:lnTo>
                  <a:lnTo>
                    <a:pt x="25" y="1144"/>
                  </a:lnTo>
                  <a:lnTo>
                    <a:pt x="21" y="1116"/>
                  </a:lnTo>
                  <a:lnTo>
                    <a:pt x="15" y="1086"/>
                  </a:lnTo>
                  <a:lnTo>
                    <a:pt x="12" y="1056"/>
                  </a:lnTo>
                  <a:lnTo>
                    <a:pt x="4" y="996"/>
                  </a:lnTo>
                  <a:lnTo>
                    <a:pt x="3" y="966"/>
                  </a:lnTo>
                  <a:lnTo>
                    <a:pt x="0" y="935"/>
                  </a:lnTo>
                  <a:lnTo>
                    <a:pt x="0" y="904"/>
                  </a:lnTo>
                  <a:lnTo>
                    <a:pt x="0" y="872"/>
                  </a:lnTo>
                  <a:close/>
                </a:path>
              </a:pathLst>
            </a:custGeom>
            <a:solidFill>
              <a:srgbClr val="D6DBFE"/>
            </a:solidFill>
            <a:ln w="6350">
              <a:solidFill>
                <a:srgbClr val="7889FB"/>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7" name="Freeform 29"/>
            <p:cNvSpPr/>
            <p:nvPr/>
          </p:nvSpPr>
          <p:spPr bwMode="auto">
            <a:xfrm>
              <a:off x="1649047" y="3115045"/>
              <a:ext cx="408946" cy="1203077"/>
            </a:xfrm>
            <a:custGeom>
              <a:avLst/>
              <a:gdLst>
                <a:gd name="T0" fmla="*/ 0 w 624"/>
                <a:gd name="T1" fmla="*/ 872 h 1745"/>
                <a:gd name="T2" fmla="*/ 2 w 624"/>
                <a:gd name="T3" fmla="*/ 811 h 1745"/>
                <a:gd name="T4" fmla="*/ 6 w 624"/>
                <a:gd name="T5" fmla="*/ 750 h 1745"/>
                <a:gd name="T6" fmla="*/ 12 w 624"/>
                <a:gd name="T7" fmla="*/ 690 h 1745"/>
                <a:gd name="T8" fmla="*/ 23 w 624"/>
                <a:gd name="T9" fmla="*/ 630 h 1745"/>
                <a:gd name="T10" fmla="*/ 33 w 624"/>
                <a:gd name="T11" fmla="*/ 571 h 1745"/>
                <a:gd name="T12" fmla="*/ 48 w 624"/>
                <a:gd name="T13" fmla="*/ 514 h 1745"/>
                <a:gd name="T14" fmla="*/ 83 w 624"/>
                <a:gd name="T15" fmla="*/ 402 h 1745"/>
                <a:gd name="T16" fmla="*/ 128 w 624"/>
                <a:gd name="T17" fmla="*/ 293 h 1745"/>
                <a:gd name="T18" fmla="*/ 182 w 624"/>
                <a:gd name="T19" fmla="*/ 191 h 1745"/>
                <a:gd name="T20" fmla="*/ 210 w 624"/>
                <a:gd name="T21" fmla="*/ 141 h 1745"/>
                <a:gd name="T22" fmla="*/ 244 w 624"/>
                <a:gd name="T23" fmla="*/ 92 h 1745"/>
                <a:gd name="T24" fmla="*/ 313 w 624"/>
                <a:gd name="T25" fmla="*/ 0 h 1745"/>
                <a:gd name="T26" fmla="*/ 347 w 624"/>
                <a:gd name="T27" fmla="*/ 45 h 1745"/>
                <a:gd name="T28" fmla="*/ 382 w 624"/>
                <a:gd name="T29" fmla="*/ 92 h 1745"/>
                <a:gd name="T30" fmla="*/ 413 w 624"/>
                <a:gd name="T31" fmla="*/ 141 h 1745"/>
                <a:gd name="T32" fmla="*/ 443 w 624"/>
                <a:gd name="T33" fmla="*/ 191 h 1745"/>
                <a:gd name="T34" fmla="*/ 457 w 624"/>
                <a:gd name="T35" fmla="*/ 215 h 1745"/>
                <a:gd name="T36" fmla="*/ 471 w 624"/>
                <a:gd name="T37" fmla="*/ 241 h 1745"/>
                <a:gd name="T38" fmla="*/ 496 w 624"/>
                <a:gd name="T39" fmla="*/ 293 h 1745"/>
                <a:gd name="T40" fmla="*/ 520 w 624"/>
                <a:gd name="T41" fmla="*/ 347 h 1745"/>
                <a:gd name="T42" fmla="*/ 541 w 624"/>
                <a:gd name="T43" fmla="*/ 402 h 1745"/>
                <a:gd name="T44" fmla="*/ 559 w 624"/>
                <a:gd name="T45" fmla="*/ 457 h 1745"/>
                <a:gd name="T46" fmla="*/ 576 w 624"/>
                <a:gd name="T47" fmla="*/ 514 h 1745"/>
                <a:gd name="T48" fmla="*/ 591 w 624"/>
                <a:gd name="T49" fmla="*/ 571 h 1745"/>
                <a:gd name="T50" fmla="*/ 603 w 624"/>
                <a:gd name="T51" fmla="*/ 630 h 1745"/>
                <a:gd name="T52" fmla="*/ 612 w 624"/>
                <a:gd name="T53" fmla="*/ 690 h 1745"/>
                <a:gd name="T54" fmla="*/ 618 w 624"/>
                <a:gd name="T55" fmla="*/ 750 h 1745"/>
                <a:gd name="T56" fmla="*/ 622 w 624"/>
                <a:gd name="T57" fmla="*/ 811 h 1745"/>
                <a:gd name="T58" fmla="*/ 624 w 624"/>
                <a:gd name="T59" fmla="*/ 872 h 1745"/>
                <a:gd name="T60" fmla="*/ 622 w 624"/>
                <a:gd name="T61" fmla="*/ 934 h 1745"/>
                <a:gd name="T62" fmla="*/ 618 w 624"/>
                <a:gd name="T63" fmla="*/ 996 h 1745"/>
                <a:gd name="T64" fmla="*/ 612 w 624"/>
                <a:gd name="T65" fmla="*/ 1056 h 1745"/>
                <a:gd name="T66" fmla="*/ 603 w 624"/>
                <a:gd name="T67" fmla="*/ 1116 h 1745"/>
                <a:gd name="T68" fmla="*/ 591 w 624"/>
                <a:gd name="T69" fmla="*/ 1175 h 1745"/>
                <a:gd name="T70" fmla="*/ 576 w 624"/>
                <a:gd name="T71" fmla="*/ 1232 h 1745"/>
                <a:gd name="T72" fmla="*/ 541 w 624"/>
                <a:gd name="T73" fmla="*/ 1344 h 1745"/>
                <a:gd name="T74" fmla="*/ 496 w 624"/>
                <a:gd name="T75" fmla="*/ 1453 h 1745"/>
                <a:gd name="T76" fmla="*/ 443 w 624"/>
                <a:gd name="T77" fmla="*/ 1555 h 1745"/>
                <a:gd name="T78" fmla="*/ 413 w 624"/>
                <a:gd name="T79" fmla="*/ 1605 h 1745"/>
                <a:gd name="T80" fmla="*/ 382 w 624"/>
                <a:gd name="T81" fmla="*/ 1653 h 1745"/>
                <a:gd name="T82" fmla="*/ 313 w 624"/>
                <a:gd name="T83" fmla="*/ 1745 h 1745"/>
                <a:gd name="T84" fmla="*/ 277 w 624"/>
                <a:gd name="T85" fmla="*/ 1699 h 1745"/>
                <a:gd name="T86" fmla="*/ 244 w 624"/>
                <a:gd name="T87" fmla="*/ 1653 h 1745"/>
                <a:gd name="T88" fmla="*/ 210 w 624"/>
                <a:gd name="T89" fmla="*/ 1605 h 1745"/>
                <a:gd name="T90" fmla="*/ 182 w 624"/>
                <a:gd name="T91" fmla="*/ 1555 h 1745"/>
                <a:gd name="T92" fmla="*/ 167 w 624"/>
                <a:gd name="T93" fmla="*/ 1529 h 1745"/>
                <a:gd name="T94" fmla="*/ 153 w 624"/>
                <a:gd name="T95" fmla="*/ 1504 h 1745"/>
                <a:gd name="T96" fmla="*/ 128 w 624"/>
                <a:gd name="T97" fmla="*/ 1453 h 1745"/>
                <a:gd name="T98" fmla="*/ 105 w 624"/>
                <a:gd name="T99" fmla="*/ 1399 h 1745"/>
                <a:gd name="T100" fmla="*/ 83 w 624"/>
                <a:gd name="T101" fmla="*/ 1344 h 1745"/>
                <a:gd name="T102" fmla="*/ 65 w 624"/>
                <a:gd name="T103" fmla="*/ 1289 h 1745"/>
                <a:gd name="T104" fmla="*/ 48 w 624"/>
                <a:gd name="T105" fmla="*/ 1232 h 1745"/>
                <a:gd name="T106" fmla="*/ 33 w 624"/>
                <a:gd name="T107" fmla="*/ 1175 h 1745"/>
                <a:gd name="T108" fmla="*/ 23 w 624"/>
                <a:gd name="T109" fmla="*/ 1116 h 1745"/>
                <a:gd name="T110" fmla="*/ 12 w 624"/>
                <a:gd name="T111" fmla="*/ 1056 h 1745"/>
                <a:gd name="T112" fmla="*/ 6 w 624"/>
                <a:gd name="T113" fmla="*/ 996 h 1745"/>
                <a:gd name="T114" fmla="*/ 2 w 624"/>
                <a:gd name="T115" fmla="*/ 934 h 1745"/>
                <a:gd name="T116" fmla="*/ 0 w 624"/>
                <a:gd name="T117" fmla="*/ 872 h 1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24" h="1745">
                  <a:moveTo>
                    <a:pt x="0" y="872"/>
                  </a:moveTo>
                  <a:lnTo>
                    <a:pt x="2" y="811"/>
                  </a:lnTo>
                  <a:lnTo>
                    <a:pt x="6" y="750"/>
                  </a:lnTo>
                  <a:lnTo>
                    <a:pt x="12" y="690"/>
                  </a:lnTo>
                  <a:lnTo>
                    <a:pt x="23" y="630"/>
                  </a:lnTo>
                  <a:lnTo>
                    <a:pt x="33" y="571"/>
                  </a:lnTo>
                  <a:lnTo>
                    <a:pt x="48" y="514"/>
                  </a:lnTo>
                  <a:lnTo>
                    <a:pt x="83" y="402"/>
                  </a:lnTo>
                  <a:lnTo>
                    <a:pt x="128" y="293"/>
                  </a:lnTo>
                  <a:lnTo>
                    <a:pt x="182" y="191"/>
                  </a:lnTo>
                  <a:lnTo>
                    <a:pt x="210" y="141"/>
                  </a:lnTo>
                  <a:lnTo>
                    <a:pt x="244" y="92"/>
                  </a:lnTo>
                  <a:lnTo>
                    <a:pt x="313" y="0"/>
                  </a:lnTo>
                  <a:lnTo>
                    <a:pt x="347" y="45"/>
                  </a:lnTo>
                  <a:lnTo>
                    <a:pt x="382" y="92"/>
                  </a:lnTo>
                  <a:lnTo>
                    <a:pt x="413" y="141"/>
                  </a:lnTo>
                  <a:lnTo>
                    <a:pt x="443" y="191"/>
                  </a:lnTo>
                  <a:lnTo>
                    <a:pt x="457" y="215"/>
                  </a:lnTo>
                  <a:lnTo>
                    <a:pt x="471" y="241"/>
                  </a:lnTo>
                  <a:lnTo>
                    <a:pt x="496" y="293"/>
                  </a:lnTo>
                  <a:lnTo>
                    <a:pt x="520" y="347"/>
                  </a:lnTo>
                  <a:lnTo>
                    <a:pt x="541" y="402"/>
                  </a:lnTo>
                  <a:lnTo>
                    <a:pt x="559" y="457"/>
                  </a:lnTo>
                  <a:lnTo>
                    <a:pt x="576" y="514"/>
                  </a:lnTo>
                  <a:lnTo>
                    <a:pt x="591" y="571"/>
                  </a:lnTo>
                  <a:lnTo>
                    <a:pt x="603" y="630"/>
                  </a:lnTo>
                  <a:lnTo>
                    <a:pt x="612" y="690"/>
                  </a:lnTo>
                  <a:lnTo>
                    <a:pt x="618" y="750"/>
                  </a:lnTo>
                  <a:lnTo>
                    <a:pt x="622" y="811"/>
                  </a:lnTo>
                  <a:lnTo>
                    <a:pt x="624" y="872"/>
                  </a:lnTo>
                  <a:lnTo>
                    <a:pt x="622" y="934"/>
                  </a:lnTo>
                  <a:lnTo>
                    <a:pt x="618" y="996"/>
                  </a:lnTo>
                  <a:lnTo>
                    <a:pt x="612" y="1056"/>
                  </a:lnTo>
                  <a:lnTo>
                    <a:pt x="603" y="1116"/>
                  </a:lnTo>
                  <a:lnTo>
                    <a:pt x="591" y="1175"/>
                  </a:lnTo>
                  <a:lnTo>
                    <a:pt x="576" y="1232"/>
                  </a:lnTo>
                  <a:lnTo>
                    <a:pt x="541" y="1344"/>
                  </a:lnTo>
                  <a:lnTo>
                    <a:pt x="496" y="1453"/>
                  </a:lnTo>
                  <a:lnTo>
                    <a:pt x="443" y="1555"/>
                  </a:lnTo>
                  <a:lnTo>
                    <a:pt x="413" y="1605"/>
                  </a:lnTo>
                  <a:lnTo>
                    <a:pt x="382" y="1653"/>
                  </a:lnTo>
                  <a:lnTo>
                    <a:pt x="313" y="1745"/>
                  </a:lnTo>
                  <a:lnTo>
                    <a:pt x="277" y="1699"/>
                  </a:lnTo>
                  <a:lnTo>
                    <a:pt x="244" y="1653"/>
                  </a:lnTo>
                  <a:lnTo>
                    <a:pt x="210" y="1605"/>
                  </a:lnTo>
                  <a:lnTo>
                    <a:pt x="182" y="1555"/>
                  </a:lnTo>
                  <a:lnTo>
                    <a:pt x="167" y="1529"/>
                  </a:lnTo>
                  <a:lnTo>
                    <a:pt x="153" y="1504"/>
                  </a:lnTo>
                  <a:lnTo>
                    <a:pt x="128" y="1453"/>
                  </a:lnTo>
                  <a:lnTo>
                    <a:pt x="105" y="1399"/>
                  </a:lnTo>
                  <a:lnTo>
                    <a:pt x="83" y="1344"/>
                  </a:lnTo>
                  <a:lnTo>
                    <a:pt x="65" y="1289"/>
                  </a:lnTo>
                  <a:lnTo>
                    <a:pt x="48" y="1232"/>
                  </a:lnTo>
                  <a:lnTo>
                    <a:pt x="33" y="1175"/>
                  </a:lnTo>
                  <a:lnTo>
                    <a:pt x="23" y="1116"/>
                  </a:lnTo>
                  <a:lnTo>
                    <a:pt x="12" y="1056"/>
                  </a:lnTo>
                  <a:lnTo>
                    <a:pt x="6" y="996"/>
                  </a:lnTo>
                  <a:lnTo>
                    <a:pt x="2" y="934"/>
                  </a:lnTo>
                  <a:lnTo>
                    <a:pt x="0" y="872"/>
                  </a:lnTo>
                </a:path>
              </a:pathLst>
            </a:custGeom>
            <a:noFill/>
            <a:ln w="6350">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8" name="Freeform 30"/>
            <p:cNvSpPr/>
            <p:nvPr/>
          </p:nvSpPr>
          <p:spPr bwMode="auto">
            <a:xfrm>
              <a:off x="1705944" y="3115045"/>
              <a:ext cx="295152" cy="283956"/>
            </a:xfrm>
            <a:custGeom>
              <a:avLst/>
              <a:gdLst>
                <a:gd name="T0" fmla="*/ 451 w 451"/>
                <a:gd name="T1" fmla="*/ 396 h 412"/>
                <a:gd name="T2" fmla="*/ 424 w 451"/>
                <a:gd name="T3" fmla="*/ 399 h 412"/>
                <a:gd name="T4" fmla="*/ 397 w 451"/>
                <a:gd name="T5" fmla="*/ 403 h 412"/>
                <a:gd name="T6" fmla="*/ 370 w 451"/>
                <a:gd name="T7" fmla="*/ 406 h 412"/>
                <a:gd name="T8" fmla="*/ 343 w 451"/>
                <a:gd name="T9" fmla="*/ 408 h 412"/>
                <a:gd name="T10" fmla="*/ 314 w 451"/>
                <a:gd name="T11" fmla="*/ 411 h 412"/>
                <a:gd name="T12" fmla="*/ 287 w 451"/>
                <a:gd name="T13" fmla="*/ 412 h 412"/>
                <a:gd name="T14" fmla="*/ 230 w 451"/>
                <a:gd name="T15" fmla="*/ 412 h 412"/>
                <a:gd name="T16" fmla="*/ 202 w 451"/>
                <a:gd name="T17" fmla="*/ 412 h 412"/>
                <a:gd name="T18" fmla="*/ 172 w 451"/>
                <a:gd name="T19" fmla="*/ 411 h 412"/>
                <a:gd name="T20" fmla="*/ 143 w 451"/>
                <a:gd name="T21" fmla="*/ 409 h 412"/>
                <a:gd name="T22" fmla="*/ 114 w 451"/>
                <a:gd name="T23" fmla="*/ 408 h 412"/>
                <a:gd name="T24" fmla="*/ 84 w 451"/>
                <a:gd name="T25" fmla="*/ 405 h 412"/>
                <a:gd name="T26" fmla="*/ 56 w 451"/>
                <a:gd name="T27" fmla="*/ 402 h 412"/>
                <a:gd name="T28" fmla="*/ 27 w 451"/>
                <a:gd name="T29" fmla="*/ 397 h 412"/>
                <a:gd name="T30" fmla="*/ 0 w 451"/>
                <a:gd name="T31" fmla="*/ 393 h 412"/>
                <a:gd name="T32" fmla="*/ 21 w 451"/>
                <a:gd name="T33" fmla="*/ 340 h 412"/>
                <a:gd name="T34" fmla="*/ 32 w 451"/>
                <a:gd name="T35" fmla="*/ 313 h 412"/>
                <a:gd name="T36" fmla="*/ 44 w 451"/>
                <a:gd name="T37" fmla="*/ 287 h 412"/>
                <a:gd name="T38" fmla="*/ 69 w 451"/>
                <a:gd name="T39" fmla="*/ 236 h 412"/>
                <a:gd name="T40" fmla="*/ 83 w 451"/>
                <a:gd name="T41" fmla="*/ 212 h 412"/>
                <a:gd name="T42" fmla="*/ 96 w 451"/>
                <a:gd name="T43" fmla="*/ 186 h 412"/>
                <a:gd name="T44" fmla="*/ 111 w 451"/>
                <a:gd name="T45" fmla="*/ 162 h 412"/>
                <a:gd name="T46" fmla="*/ 126 w 451"/>
                <a:gd name="T47" fmla="*/ 138 h 412"/>
                <a:gd name="T48" fmla="*/ 157 w 451"/>
                <a:gd name="T49" fmla="*/ 90 h 412"/>
                <a:gd name="T50" fmla="*/ 191 w 451"/>
                <a:gd name="T51" fmla="*/ 45 h 412"/>
                <a:gd name="T52" fmla="*/ 208 w 451"/>
                <a:gd name="T53" fmla="*/ 23 h 412"/>
                <a:gd name="T54" fmla="*/ 226 w 451"/>
                <a:gd name="T55" fmla="*/ 0 h 412"/>
                <a:gd name="T56" fmla="*/ 244 w 451"/>
                <a:gd name="T57" fmla="*/ 23 h 412"/>
                <a:gd name="T58" fmla="*/ 260 w 451"/>
                <a:gd name="T59" fmla="*/ 45 h 412"/>
                <a:gd name="T60" fmla="*/ 277 w 451"/>
                <a:gd name="T61" fmla="*/ 68 h 412"/>
                <a:gd name="T62" fmla="*/ 293 w 451"/>
                <a:gd name="T63" fmla="*/ 92 h 412"/>
                <a:gd name="T64" fmla="*/ 310 w 451"/>
                <a:gd name="T65" fmla="*/ 114 h 412"/>
                <a:gd name="T66" fmla="*/ 325 w 451"/>
                <a:gd name="T67" fmla="*/ 138 h 412"/>
                <a:gd name="T68" fmla="*/ 340 w 451"/>
                <a:gd name="T69" fmla="*/ 162 h 412"/>
                <a:gd name="T70" fmla="*/ 355 w 451"/>
                <a:gd name="T71" fmla="*/ 188 h 412"/>
                <a:gd name="T72" fmla="*/ 369 w 451"/>
                <a:gd name="T73" fmla="*/ 212 h 412"/>
                <a:gd name="T74" fmla="*/ 382 w 451"/>
                <a:gd name="T75" fmla="*/ 238 h 412"/>
                <a:gd name="T76" fmla="*/ 408 w 451"/>
                <a:gd name="T77" fmla="*/ 289 h 412"/>
                <a:gd name="T78" fmla="*/ 420 w 451"/>
                <a:gd name="T79" fmla="*/ 314 h 412"/>
                <a:gd name="T80" fmla="*/ 430 w 451"/>
                <a:gd name="T81" fmla="*/ 341 h 412"/>
                <a:gd name="T82" fmla="*/ 441 w 451"/>
                <a:gd name="T83" fmla="*/ 368 h 412"/>
                <a:gd name="T84" fmla="*/ 451 w 451"/>
                <a:gd name="T85" fmla="*/ 396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1" h="412">
                  <a:moveTo>
                    <a:pt x="451" y="396"/>
                  </a:moveTo>
                  <a:lnTo>
                    <a:pt x="424" y="399"/>
                  </a:lnTo>
                  <a:lnTo>
                    <a:pt x="397" y="403"/>
                  </a:lnTo>
                  <a:lnTo>
                    <a:pt x="370" y="406"/>
                  </a:lnTo>
                  <a:lnTo>
                    <a:pt x="343" y="408"/>
                  </a:lnTo>
                  <a:lnTo>
                    <a:pt x="314" y="411"/>
                  </a:lnTo>
                  <a:lnTo>
                    <a:pt x="287" y="412"/>
                  </a:lnTo>
                  <a:lnTo>
                    <a:pt x="230" y="412"/>
                  </a:lnTo>
                  <a:lnTo>
                    <a:pt x="202" y="412"/>
                  </a:lnTo>
                  <a:lnTo>
                    <a:pt x="172" y="411"/>
                  </a:lnTo>
                  <a:lnTo>
                    <a:pt x="143" y="409"/>
                  </a:lnTo>
                  <a:lnTo>
                    <a:pt x="114" y="408"/>
                  </a:lnTo>
                  <a:lnTo>
                    <a:pt x="84" y="405"/>
                  </a:lnTo>
                  <a:lnTo>
                    <a:pt x="56" y="402"/>
                  </a:lnTo>
                  <a:lnTo>
                    <a:pt x="27" y="397"/>
                  </a:lnTo>
                  <a:lnTo>
                    <a:pt x="0" y="393"/>
                  </a:lnTo>
                  <a:lnTo>
                    <a:pt x="21" y="340"/>
                  </a:lnTo>
                  <a:lnTo>
                    <a:pt x="32" y="313"/>
                  </a:lnTo>
                  <a:lnTo>
                    <a:pt x="44" y="287"/>
                  </a:lnTo>
                  <a:lnTo>
                    <a:pt x="69" y="236"/>
                  </a:lnTo>
                  <a:lnTo>
                    <a:pt x="83" y="212"/>
                  </a:lnTo>
                  <a:lnTo>
                    <a:pt x="96" y="186"/>
                  </a:lnTo>
                  <a:lnTo>
                    <a:pt x="111" y="162"/>
                  </a:lnTo>
                  <a:lnTo>
                    <a:pt x="126" y="138"/>
                  </a:lnTo>
                  <a:lnTo>
                    <a:pt x="157" y="90"/>
                  </a:lnTo>
                  <a:lnTo>
                    <a:pt x="191" y="45"/>
                  </a:lnTo>
                  <a:lnTo>
                    <a:pt x="208" y="23"/>
                  </a:lnTo>
                  <a:lnTo>
                    <a:pt x="226" y="0"/>
                  </a:lnTo>
                  <a:lnTo>
                    <a:pt x="244" y="23"/>
                  </a:lnTo>
                  <a:lnTo>
                    <a:pt x="260" y="45"/>
                  </a:lnTo>
                  <a:lnTo>
                    <a:pt x="277" y="68"/>
                  </a:lnTo>
                  <a:lnTo>
                    <a:pt x="293" y="92"/>
                  </a:lnTo>
                  <a:lnTo>
                    <a:pt x="310" y="114"/>
                  </a:lnTo>
                  <a:lnTo>
                    <a:pt x="325" y="138"/>
                  </a:lnTo>
                  <a:lnTo>
                    <a:pt x="340" y="162"/>
                  </a:lnTo>
                  <a:lnTo>
                    <a:pt x="355" y="188"/>
                  </a:lnTo>
                  <a:lnTo>
                    <a:pt x="369" y="212"/>
                  </a:lnTo>
                  <a:lnTo>
                    <a:pt x="382" y="238"/>
                  </a:lnTo>
                  <a:lnTo>
                    <a:pt x="408" y="289"/>
                  </a:lnTo>
                  <a:lnTo>
                    <a:pt x="420" y="314"/>
                  </a:lnTo>
                  <a:lnTo>
                    <a:pt x="430" y="341"/>
                  </a:lnTo>
                  <a:lnTo>
                    <a:pt x="441" y="368"/>
                  </a:lnTo>
                  <a:lnTo>
                    <a:pt x="451" y="396"/>
                  </a:lnTo>
                  <a:close/>
                </a:path>
              </a:pathLst>
            </a:custGeom>
            <a:solidFill>
              <a:srgbClr val="7889FB"/>
            </a:solidFill>
            <a:ln w="6350">
              <a:solidFill>
                <a:srgbClr val="7889FB"/>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9" name="Freeform 31"/>
            <p:cNvSpPr/>
            <p:nvPr/>
          </p:nvSpPr>
          <p:spPr bwMode="auto">
            <a:xfrm>
              <a:off x="1705944" y="3115045"/>
              <a:ext cx="295152" cy="283956"/>
            </a:xfrm>
            <a:custGeom>
              <a:avLst/>
              <a:gdLst>
                <a:gd name="T0" fmla="*/ 451 w 451"/>
                <a:gd name="T1" fmla="*/ 394 h 412"/>
                <a:gd name="T2" fmla="*/ 397 w 451"/>
                <a:gd name="T3" fmla="*/ 403 h 412"/>
                <a:gd name="T4" fmla="*/ 343 w 451"/>
                <a:gd name="T5" fmla="*/ 408 h 412"/>
                <a:gd name="T6" fmla="*/ 230 w 451"/>
                <a:gd name="T7" fmla="*/ 412 h 412"/>
                <a:gd name="T8" fmla="*/ 114 w 451"/>
                <a:gd name="T9" fmla="*/ 408 h 412"/>
                <a:gd name="T10" fmla="*/ 56 w 451"/>
                <a:gd name="T11" fmla="*/ 402 h 412"/>
                <a:gd name="T12" fmla="*/ 0 w 451"/>
                <a:gd name="T13" fmla="*/ 393 h 412"/>
                <a:gd name="T14" fmla="*/ 21 w 451"/>
                <a:gd name="T15" fmla="*/ 340 h 412"/>
                <a:gd name="T16" fmla="*/ 44 w 451"/>
                <a:gd name="T17" fmla="*/ 287 h 412"/>
                <a:gd name="T18" fmla="*/ 69 w 451"/>
                <a:gd name="T19" fmla="*/ 236 h 412"/>
                <a:gd name="T20" fmla="*/ 96 w 451"/>
                <a:gd name="T21" fmla="*/ 186 h 412"/>
                <a:gd name="T22" fmla="*/ 157 w 451"/>
                <a:gd name="T23" fmla="*/ 90 h 412"/>
                <a:gd name="T24" fmla="*/ 190 w 451"/>
                <a:gd name="T25" fmla="*/ 45 h 412"/>
                <a:gd name="T26" fmla="*/ 226 w 451"/>
                <a:gd name="T27" fmla="*/ 0 h 412"/>
                <a:gd name="T28" fmla="*/ 260 w 451"/>
                <a:gd name="T29" fmla="*/ 45 h 412"/>
                <a:gd name="T30" fmla="*/ 293 w 451"/>
                <a:gd name="T31" fmla="*/ 92 h 412"/>
                <a:gd name="T32" fmla="*/ 325 w 451"/>
                <a:gd name="T33" fmla="*/ 138 h 412"/>
                <a:gd name="T34" fmla="*/ 353 w 451"/>
                <a:gd name="T35" fmla="*/ 186 h 412"/>
                <a:gd name="T36" fmla="*/ 382 w 451"/>
                <a:gd name="T37" fmla="*/ 238 h 412"/>
                <a:gd name="T38" fmla="*/ 408 w 451"/>
                <a:gd name="T39" fmla="*/ 289 h 412"/>
                <a:gd name="T40" fmla="*/ 430 w 451"/>
                <a:gd name="T41" fmla="*/ 341 h 412"/>
                <a:gd name="T42" fmla="*/ 451 w 451"/>
                <a:gd name="T43" fmla="*/ 394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1" h="412">
                  <a:moveTo>
                    <a:pt x="451" y="394"/>
                  </a:moveTo>
                  <a:lnTo>
                    <a:pt x="397" y="403"/>
                  </a:lnTo>
                  <a:lnTo>
                    <a:pt x="343" y="408"/>
                  </a:lnTo>
                  <a:lnTo>
                    <a:pt x="230" y="412"/>
                  </a:lnTo>
                  <a:lnTo>
                    <a:pt x="114" y="408"/>
                  </a:lnTo>
                  <a:lnTo>
                    <a:pt x="56" y="402"/>
                  </a:lnTo>
                  <a:lnTo>
                    <a:pt x="0" y="393"/>
                  </a:lnTo>
                  <a:lnTo>
                    <a:pt x="21" y="340"/>
                  </a:lnTo>
                  <a:lnTo>
                    <a:pt x="44" y="287"/>
                  </a:lnTo>
                  <a:lnTo>
                    <a:pt x="69" y="236"/>
                  </a:lnTo>
                  <a:lnTo>
                    <a:pt x="96" y="186"/>
                  </a:lnTo>
                  <a:lnTo>
                    <a:pt x="157" y="90"/>
                  </a:lnTo>
                  <a:lnTo>
                    <a:pt x="190" y="45"/>
                  </a:lnTo>
                  <a:lnTo>
                    <a:pt x="226" y="0"/>
                  </a:lnTo>
                  <a:lnTo>
                    <a:pt x="260" y="45"/>
                  </a:lnTo>
                  <a:lnTo>
                    <a:pt x="293" y="92"/>
                  </a:lnTo>
                  <a:lnTo>
                    <a:pt x="325" y="138"/>
                  </a:lnTo>
                  <a:lnTo>
                    <a:pt x="353" y="186"/>
                  </a:lnTo>
                  <a:lnTo>
                    <a:pt x="382" y="238"/>
                  </a:lnTo>
                  <a:lnTo>
                    <a:pt x="408" y="289"/>
                  </a:lnTo>
                  <a:lnTo>
                    <a:pt x="430" y="341"/>
                  </a:lnTo>
                  <a:lnTo>
                    <a:pt x="451" y="394"/>
                  </a:lnTo>
                </a:path>
              </a:pathLst>
            </a:custGeom>
            <a:noFill/>
            <a:ln w="6350">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40" name="Freeform 32"/>
            <p:cNvSpPr/>
            <p:nvPr/>
          </p:nvSpPr>
          <p:spPr bwMode="auto">
            <a:xfrm>
              <a:off x="953840" y="1499111"/>
              <a:ext cx="1806473" cy="1899890"/>
            </a:xfrm>
            <a:custGeom>
              <a:avLst/>
              <a:gdLst>
                <a:gd name="T0" fmla="*/ 2745 w 2752"/>
                <a:gd name="T1" fmla="*/ 1518 h 2754"/>
                <a:gd name="T2" fmla="*/ 2709 w 2752"/>
                <a:gd name="T3" fmla="*/ 1722 h 2754"/>
                <a:gd name="T4" fmla="*/ 2644 w 2752"/>
                <a:gd name="T5" fmla="*/ 1913 h 2754"/>
                <a:gd name="T6" fmla="*/ 2552 w 2752"/>
                <a:gd name="T7" fmla="*/ 2091 h 2754"/>
                <a:gd name="T8" fmla="*/ 2438 w 2752"/>
                <a:gd name="T9" fmla="*/ 2253 h 2754"/>
                <a:gd name="T10" fmla="*/ 2301 w 2752"/>
                <a:gd name="T11" fmla="*/ 2396 h 2754"/>
                <a:gd name="T12" fmla="*/ 2145 w 2752"/>
                <a:gd name="T13" fmla="*/ 2519 h 2754"/>
                <a:gd name="T14" fmla="*/ 1972 w 2752"/>
                <a:gd name="T15" fmla="*/ 2619 h 2754"/>
                <a:gd name="T16" fmla="*/ 1786 w 2752"/>
                <a:gd name="T17" fmla="*/ 2692 h 2754"/>
                <a:gd name="T18" fmla="*/ 1586 w 2752"/>
                <a:gd name="T19" fmla="*/ 2739 h 2754"/>
                <a:gd name="T20" fmla="*/ 1375 w 2752"/>
                <a:gd name="T21" fmla="*/ 2754 h 2754"/>
                <a:gd name="T22" fmla="*/ 1166 w 2752"/>
                <a:gd name="T23" fmla="*/ 2739 h 2754"/>
                <a:gd name="T24" fmla="*/ 966 w 2752"/>
                <a:gd name="T25" fmla="*/ 2692 h 2754"/>
                <a:gd name="T26" fmla="*/ 778 w 2752"/>
                <a:gd name="T27" fmla="*/ 2619 h 2754"/>
                <a:gd name="T28" fmla="*/ 607 w 2752"/>
                <a:gd name="T29" fmla="*/ 2519 h 2754"/>
                <a:gd name="T30" fmla="*/ 451 w 2752"/>
                <a:gd name="T31" fmla="*/ 2396 h 2754"/>
                <a:gd name="T32" fmla="*/ 314 w 2752"/>
                <a:gd name="T33" fmla="*/ 2253 h 2754"/>
                <a:gd name="T34" fmla="*/ 198 w 2752"/>
                <a:gd name="T35" fmla="*/ 2091 h 2754"/>
                <a:gd name="T36" fmla="*/ 108 w 2752"/>
                <a:gd name="T37" fmla="*/ 1913 h 2754"/>
                <a:gd name="T38" fmla="*/ 43 w 2752"/>
                <a:gd name="T39" fmla="*/ 1722 h 2754"/>
                <a:gd name="T40" fmla="*/ 7 w 2752"/>
                <a:gd name="T41" fmla="*/ 1518 h 2754"/>
                <a:gd name="T42" fmla="*/ 1 w 2752"/>
                <a:gd name="T43" fmla="*/ 1307 h 2754"/>
                <a:gd name="T44" fmla="*/ 28 w 2752"/>
                <a:gd name="T45" fmla="*/ 1100 h 2754"/>
                <a:gd name="T46" fmla="*/ 82 w 2752"/>
                <a:gd name="T47" fmla="*/ 904 h 2754"/>
                <a:gd name="T48" fmla="*/ 165 w 2752"/>
                <a:gd name="T49" fmla="*/ 721 h 2754"/>
                <a:gd name="T50" fmla="*/ 273 w 2752"/>
                <a:gd name="T51" fmla="*/ 554 h 2754"/>
                <a:gd name="T52" fmla="*/ 403 w 2752"/>
                <a:gd name="T53" fmla="*/ 404 h 2754"/>
                <a:gd name="T54" fmla="*/ 553 w 2752"/>
                <a:gd name="T55" fmla="*/ 274 h 2754"/>
                <a:gd name="T56" fmla="*/ 720 w 2752"/>
                <a:gd name="T57" fmla="*/ 167 h 2754"/>
                <a:gd name="T58" fmla="*/ 903 w 2752"/>
                <a:gd name="T59" fmla="*/ 85 h 2754"/>
                <a:gd name="T60" fmla="*/ 1099 w 2752"/>
                <a:gd name="T61" fmla="*/ 29 h 2754"/>
                <a:gd name="T62" fmla="*/ 1305 w 2752"/>
                <a:gd name="T63" fmla="*/ 3 h 2754"/>
                <a:gd name="T64" fmla="*/ 1517 w 2752"/>
                <a:gd name="T65" fmla="*/ 8 h 2754"/>
                <a:gd name="T66" fmla="*/ 1719 w 2752"/>
                <a:gd name="T67" fmla="*/ 44 h 2754"/>
                <a:gd name="T68" fmla="*/ 1912 w 2752"/>
                <a:gd name="T69" fmla="*/ 109 h 2754"/>
                <a:gd name="T70" fmla="*/ 2089 w 2752"/>
                <a:gd name="T71" fmla="*/ 200 h 2754"/>
                <a:gd name="T72" fmla="*/ 2252 w 2752"/>
                <a:gd name="T73" fmla="*/ 315 h 2754"/>
                <a:gd name="T74" fmla="*/ 2394 w 2752"/>
                <a:gd name="T75" fmla="*/ 452 h 2754"/>
                <a:gd name="T76" fmla="*/ 2516 w 2752"/>
                <a:gd name="T77" fmla="*/ 608 h 2754"/>
                <a:gd name="T78" fmla="*/ 2615 w 2752"/>
                <a:gd name="T79" fmla="*/ 781 h 2754"/>
                <a:gd name="T80" fmla="*/ 2691 w 2752"/>
                <a:gd name="T81" fmla="*/ 969 h 2754"/>
                <a:gd name="T82" fmla="*/ 2736 w 2752"/>
                <a:gd name="T83" fmla="*/ 1167 h 2754"/>
                <a:gd name="T84" fmla="*/ 2752 w 2752"/>
                <a:gd name="T85" fmla="*/ 1378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52" h="2754">
                  <a:moveTo>
                    <a:pt x="2752" y="1378"/>
                  </a:moveTo>
                  <a:lnTo>
                    <a:pt x="2751" y="1449"/>
                  </a:lnTo>
                  <a:lnTo>
                    <a:pt x="2745" y="1518"/>
                  </a:lnTo>
                  <a:lnTo>
                    <a:pt x="2736" y="1587"/>
                  </a:lnTo>
                  <a:lnTo>
                    <a:pt x="2724" y="1655"/>
                  </a:lnTo>
                  <a:lnTo>
                    <a:pt x="2709" y="1722"/>
                  </a:lnTo>
                  <a:lnTo>
                    <a:pt x="2691" y="1787"/>
                  </a:lnTo>
                  <a:lnTo>
                    <a:pt x="2668" y="1850"/>
                  </a:lnTo>
                  <a:lnTo>
                    <a:pt x="2644" y="1913"/>
                  </a:lnTo>
                  <a:lnTo>
                    <a:pt x="2615" y="1975"/>
                  </a:lnTo>
                  <a:lnTo>
                    <a:pt x="2585" y="2034"/>
                  </a:lnTo>
                  <a:lnTo>
                    <a:pt x="2552" y="2091"/>
                  </a:lnTo>
                  <a:lnTo>
                    <a:pt x="2516" y="2148"/>
                  </a:lnTo>
                  <a:lnTo>
                    <a:pt x="2479" y="2201"/>
                  </a:lnTo>
                  <a:lnTo>
                    <a:pt x="2438" y="2253"/>
                  </a:lnTo>
                  <a:lnTo>
                    <a:pt x="2394" y="2303"/>
                  </a:lnTo>
                  <a:lnTo>
                    <a:pt x="2349" y="2351"/>
                  </a:lnTo>
                  <a:lnTo>
                    <a:pt x="2301" y="2396"/>
                  </a:lnTo>
                  <a:lnTo>
                    <a:pt x="2252" y="2440"/>
                  </a:lnTo>
                  <a:lnTo>
                    <a:pt x="2199" y="2480"/>
                  </a:lnTo>
                  <a:lnTo>
                    <a:pt x="2145" y="2519"/>
                  </a:lnTo>
                  <a:lnTo>
                    <a:pt x="2089" y="2556"/>
                  </a:lnTo>
                  <a:lnTo>
                    <a:pt x="2032" y="2589"/>
                  </a:lnTo>
                  <a:lnTo>
                    <a:pt x="1972" y="2619"/>
                  </a:lnTo>
                  <a:lnTo>
                    <a:pt x="1912" y="2646"/>
                  </a:lnTo>
                  <a:lnTo>
                    <a:pt x="1849" y="2671"/>
                  </a:lnTo>
                  <a:lnTo>
                    <a:pt x="1786" y="2692"/>
                  </a:lnTo>
                  <a:lnTo>
                    <a:pt x="1719" y="2710"/>
                  </a:lnTo>
                  <a:lnTo>
                    <a:pt x="1653" y="2727"/>
                  </a:lnTo>
                  <a:lnTo>
                    <a:pt x="1586" y="2739"/>
                  </a:lnTo>
                  <a:lnTo>
                    <a:pt x="1517" y="2747"/>
                  </a:lnTo>
                  <a:lnTo>
                    <a:pt x="1446" y="2753"/>
                  </a:lnTo>
                  <a:lnTo>
                    <a:pt x="1375" y="2754"/>
                  </a:lnTo>
                  <a:lnTo>
                    <a:pt x="1305" y="2753"/>
                  </a:lnTo>
                  <a:lnTo>
                    <a:pt x="1235" y="2747"/>
                  </a:lnTo>
                  <a:lnTo>
                    <a:pt x="1166" y="2739"/>
                  </a:lnTo>
                  <a:lnTo>
                    <a:pt x="1099" y="2727"/>
                  </a:lnTo>
                  <a:lnTo>
                    <a:pt x="1032" y="2710"/>
                  </a:lnTo>
                  <a:lnTo>
                    <a:pt x="966" y="2692"/>
                  </a:lnTo>
                  <a:lnTo>
                    <a:pt x="903" y="2671"/>
                  </a:lnTo>
                  <a:lnTo>
                    <a:pt x="840" y="2646"/>
                  </a:lnTo>
                  <a:lnTo>
                    <a:pt x="778" y="2619"/>
                  </a:lnTo>
                  <a:lnTo>
                    <a:pt x="720" y="2589"/>
                  </a:lnTo>
                  <a:lnTo>
                    <a:pt x="663" y="2556"/>
                  </a:lnTo>
                  <a:lnTo>
                    <a:pt x="607" y="2519"/>
                  </a:lnTo>
                  <a:lnTo>
                    <a:pt x="553" y="2480"/>
                  </a:lnTo>
                  <a:lnTo>
                    <a:pt x="500" y="2440"/>
                  </a:lnTo>
                  <a:lnTo>
                    <a:pt x="451" y="2396"/>
                  </a:lnTo>
                  <a:lnTo>
                    <a:pt x="403" y="2351"/>
                  </a:lnTo>
                  <a:lnTo>
                    <a:pt x="358" y="2303"/>
                  </a:lnTo>
                  <a:lnTo>
                    <a:pt x="314" y="2253"/>
                  </a:lnTo>
                  <a:lnTo>
                    <a:pt x="273" y="2201"/>
                  </a:lnTo>
                  <a:lnTo>
                    <a:pt x="234" y="2148"/>
                  </a:lnTo>
                  <a:lnTo>
                    <a:pt x="198" y="2091"/>
                  </a:lnTo>
                  <a:lnTo>
                    <a:pt x="165" y="2034"/>
                  </a:lnTo>
                  <a:lnTo>
                    <a:pt x="135" y="1975"/>
                  </a:lnTo>
                  <a:lnTo>
                    <a:pt x="108" y="1913"/>
                  </a:lnTo>
                  <a:lnTo>
                    <a:pt x="82" y="1850"/>
                  </a:lnTo>
                  <a:lnTo>
                    <a:pt x="61" y="1787"/>
                  </a:lnTo>
                  <a:lnTo>
                    <a:pt x="43" y="1722"/>
                  </a:lnTo>
                  <a:lnTo>
                    <a:pt x="28" y="1655"/>
                  </a:lnTo>
                  <a:lnTo>
                    <a:pt x="15" y="1587"/>
                  </a:lnTo>
                  <a:lnTo>
                    <a:pt x="7" y="1518"/>
                  </a:lnTo>
                  <a:lnTo>
                    <a:pt x="1" y="1449"/>
                  </a:lnTo>
                  <a:lnTo>
                    <a:pt x="0" y="1378"/>
                  </a:lnTo>
                  <a:lnTo>
                    <a:pt x="1" y="1307"/>
                  </a:lnTo>
                  <a:lnTo>
                    <a:pt x="7" y="1237"/>
                  </a:lnTo>
                  <a:lnTo>
                    <a:pt x="15" y="1167"/>
                  </a:lnTo>
                  <a:lnTo>
                    <a:pt x="28" y="1100"/>
                  </a:lnTo>
                  <a:lnTo>
                    <a:pt x="43" y="1034"/>
                  </a:lnTo>
                  <a:lnTo>
                    <a:pt x="61" y="969"/>
                  </a:lnTo>
                  <a:lnTo>
                    <a:pt x="82" y="904"/>
                  </a:lnTo>
                  <a:lnTo>
                    <a:pt x="108" y="841"/>
                  </a:lnTo>
                  <a:lnTo>
                    <a:pt x="135" y="781"/>
                  </a:lnTo>
                  <a:lnTo>
                    <a:pt x="165" y="721"/>
                  </a:lnTo>
                  <a:lnTo>
                    <a:pt x="198" y="664"/>
                  </a:lnTo>
                  <a:lnTo>
                    <a:pt x="234" y="608"/>
                  </a:lnTo>
                  <a:lnTo>
                    <a:pt x="273" y="554"/>
                  </a:lnTo>
                  <a:lnTo>
                    <a:pt x="314" y="501"/>
                  </a:lnTo>
                  <a:lnTo>
                    <a:pt x="358" y="452"/>
                  </a:lnTo>
                  <a:lnTo>
                    <a:pt x="403" y="404"/>
                  </a:lnTo>
                  <a:lnTo>
                    <a:pt x="451" y="358"/>
                  </a:lnTo>
                  <a:lnTo>
                    <a:pt x="500" y="315"/>
                  </a:lnTo>
                  <a:lnTo>
                    <a:pt x="553" y="274"/>
                  </a:lnTo>
                  <a:lnTo>
                    <a:pt x="607" y="237"/>
                  </a:lnTo>
                  <a:lnTo>
                    <a:pt x="663" y="200"/>
                  </a:lnTo>
                  <a:lnTo>
                    <a:pt x="720" y="167"/>
                  </a:lnTo>
                  <a:lnTo>
                    <a:pt x="778" y="137"/>
                  </a:lnTo>
                  <a:lnTo>
                    <a:pt x="840" y="109"/>
                  </a:lnTo>
                  <a:lnTo>
                    <a:pt x="903" y="85"/>
                  </a:lnTo>
                  <a:lnTo>
                    <a:pt x="966" y="62"/>
                  </a:lnTo>
                  <a:lnTo>
                    <a:pt x="1032" y="44"/>
                  </a:lnTo>
                  <a:lnTo>
                    <a:pt x="1099" y="29"/>
                  </a:lnTo>
                  <a:lnTo>
                    <a:pt x="1166" y="17"/>
                  </a:lnTo>
                  <a:lnTo>
                    <a:pt x="1235" y="8"/>
                  </a:lnTo>
                  <a:lnTo>
                    <a:pt x="1305" y="3"/>
                  </a:lnTo>
                  <a:lnTo>
                    <a:pt x="1375" y="0"/>
                  </a:lnTo>
                  <a:lnTo>
                    <a:pt x="1446" y="3"/>
                  </a:lnTo>
                  <a:lnTo>
                    <a:pt x="1517" y="8"/>
                  </a:lnTo>
                  <a:lnTo>
                    <a:pt x="1586" y="17"/>
                  </a:lnTo>
                  <a:lnTo>
                    <a:pt x="1653" y="29"/>
                  </a:lnTo>
                  <a:lnTo>
                    <a:pt x="1719" y="44"/>
                  </a:lnTo>
                  <a:lnTo>
                    <a:pt x="1786" y="62"/>
                  </a:lnTo>
                  <a:lnTo>
                    <a:pt x="1849" y="85"/>
                  </a:lnTo>
                  <a:lnTo>
                    <a:pt x="1912" y="109"/>
                  </a:lnTo>
                  <a:lnTo>
                    <a:pt x="1972" y="137"/>
                  </a:lnTo>
                  <a:lnTo>
                    <a:pt x="2032" y="167"/>
                  </a:lnTo>
                  <a:lnTo>
                    <a:pt x="2089" y="200"/>
                  </a:lnTo>
                  <a:lnTo>
                    <a:pt x="2145" y="237"/>
                  </a:lnTo>
                  <a:lnTo>
                    <a:pt x="2199" y="274"/>
                  </a:lnTo>
                  <a:lnTo>
                    <a:pt x="2252" y="315"/>
                  </a:lnTo>
                  <a:lnTo>
                    <a:pt x="2301" y="358"/>
                  </a:lnTo>
                  <a:lnTo>
                    <a:pt x="2349" y="404"/>
                  </a:lnTo>
                  <a:lnTo>
                    <a:pt x="2394" y="452"/>
                  </a:lnTo>
                  <a:lnTo>
                    <a:pt x="2438" y="501"/>
                  </a:lnTo>
                  <a:lnTo>
                    <a:pt x="2479" y="554"/>
                  </a:lnTo>
                  <a:lnTo>
                    <a:pt x="2516" y="608"/>
                  </a:lnTo>
                  <a:lnTo>
                    <a:pt x="2552" y="664"/>
                  </a:lnTo>
                  <a:lnTo>
                    <a:pt x="2585" y="721"/>
                  </a:lnTo>
                  <a:lnTo>
                    <a:pt x="2615" y="781"/>
                  </a:lnTo>
                  <a:lnTo>
                    <a:pt x="2644" y="841"/>
                  </a:lnTo>
                  <a:lnTo>
                    <a:pt x="2668" y="904"/>
                  </a:lnTo>
                  <a:lnTo>
                    <a:pt x="2691" y="969"/>
                  </a:lnTo>
                  <a:lnTo>
                    <a:pt x="2709" y="1034"/>
                  </a:lnTo>
                  <a:lnTo>
                    <a:pt x="2724" y="1100"/>
                  </a:lnTo>
                  <a:lnTo>
                    <a:pt x="2736" y="1167"/>
                  </a:lnTo>
                  <a:lnTo>
                    <a:pt x="2745" y="1237"/>
                  </a:lnTo>
                  <a:lnTo>
                    <a:pt x="2751" y="1307"/>
                  </a:lnTo>
                  <a:lnTo>
                    <a:pt x="2752" y="1378"/>
                  </a:lnTo>
                </a:path>
              </a:pathLst>
            </a:custGeom>
            <a:noFill/>
            <a:ln w="9525">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45" name="Freeform 33"/>
            <p:cNvSpPr/>
            <p:nvPr/>
          </p:nvSpPr>
          <p:spPr bwMode="auto">
            <a:xfrm>
              <a:off x="1649047" y="2767573"/>
              <a:ext cx="1806473" cy="1899890"/>
            </a:xfrm>
            <a:custGeom>
              <a:avLst/>
              <a:gdLst>
                <a:gd name="T0" fmla="*/ 8 w 2752"/>
                <a:gd name="T1" fmla="*/ 1236 h 2754"/>
                <a:gd name="T2" fmla="*/ 44 w 2752"/>
                <a:gd name="T3" fmla="*/ 1033 h 2754"/>
                <a:gd name="T4" fmla="*/ 108 w 2752"/>
                <a:gd name="T5" fmla="*/ 841 h 2754"/>
                <a:gd name="T6" fmla="*/ 200 w 2752"/>
                <a:gd name="T7" fmla="*/ 663 h 2754"/>
                <a:gd name="T8" fmla="*/ 314 w 2752"/>
                <a:gd name="T9" fmla="*/ 501 h 2754"/>
                <a:gd name="T10" fmla="*/ 451 w 2752"/>
                <a:gd name="T11" fmla="*/ 358 h 2754"/>
                <a:gd name="T12" fmla="*/ 607 w 2752"/>
                <a:gd name="T13" fmla="*/ 235 h 2754"/>
                <a:gd name="T14" fmla="*/ 780 w 2752"/>
                <a:gd name="T15" fmla="*/ 136 h 2754"/>
                <a:gd name="T16" fmla="*/ 968 w 2752"/>
                <a:gd name="T17" fmla="*/ 62 h 2754"/>
                <a:gd name="T18" fmla="*/ 1167 w 2752"/>
                <a:gd name="T19" fmla="*/ 15 h 2754"/>
                <a:gd name="T20" fmla="*/ 1377 w 2752"/>
                <a:gd name="T21" fmla="*/ 0 h 2754"/>
                <a:gd name="T22" fmla="*/ 1586 w 2752"/>
                <a:gd name="T23" fmla="*/ 15 h 2754"/>
                <a:gd name="T24" fmla="*/ 1786 w 2752"/>
                <a:gd name="T25" fmla="*/ 62 h 2754"/>
                <a:gd name="T26" fmla="*/ 1974 w 2752"/>
                <a:gd name="T27" fmla="*/ 136 h 2754"/>
                <a:gd name="T28" fmla="*/ 2147 w 2752"/>
                <a:gd name="T29" fmla="*/ 235 h 2754"/>
                <a:gd name="T30" fmla="*/ 2301 w 2752"/>
                <a:gd name="T31" fmla="*/ 358 h 2754"/>
                <a:gd name="T32" fmla="*/ 2438 w 2752"/>
                <a:gd name="T33" fmla="*/ 501 h 2754"/>
                <a:gd name="T34" fmla="*/ 2554 w 2752"/>
                <a:gd name="T35" fmla="*/ 663 h 2754"/>
                <a:gd name="T36" fmla="*/ 2644 w 2752"/>
                <a:gd name="T37" fmla="*/ 841 h 2754"/>
                <a:gd name="T38" fmla="*/ 2709 w 2752"/>
                <a:gd name="T39" fmla="*/ 1033 h 2754"/>
                <a:gd name="T40" fmla="*/ 2745 w 2752"/>
                <a:gd name="T41" fmla="*/ 1236 h 2754"/>
                <a:gd name="T42" fmla="*/ 2751 w 2752"/>
                <a:gd name="T43" fmla="*/ 1447 h 2754"/>
                <a:gd name="T44" fmla="*/ 2725 w 2752"/>
                <a:gd name="T45" fmla="*/ 1654 h 2754"/>
                <a:gd name="T46" fmla="*/ 2670 w 2752"/>
                <a:gd name="T47" fmla="*/ 1850 h 2754"/>
                <a:gd name="T48" fmla="*/ 2587 w 2752"/>
                <a:gd name="T49" fmla="*/ 2033 h 2754"/>
                <a:gd name="T50" fmla="*/ 2479 w 2752"/>
                <a:gd name="T51" fmla="*/ 2200 h 2754"/>
                <a:gd name="T52" fmla="*/ 2350 w 2752"/>
                <a:gd name="T53" fmla="*/ 2351 h 2754"/>
                <a:gd name="T54" fmla="*/ 2201 w 2752"/>
                <a:gd name="T55" fmla="*/ 2480 h 2754"/>
                <a:gd name="T56" fmla="*/ 2032 w 2752"/>
                <a:gd name="T57" fmla="*/ 2587 h 2754"/>
                <a:gd name="T58" fmla="*/ 1850 w 2752"/>
                <a:gd name="T59" fmla="*/ 2670 h 2754"/>
                <a:gd name="T60" fmla="*/ 1654 w 2752"/>
                <a:gd name="T61" fmla="*/ 2725 h 2754"/>
                <a:gd name="T62" fmla="*/ 1448 w 2752"/>
                <a:gd name="T63" fmla="*/ 2752 h 2754"/>
                <a:gd name="T64" fmla="*/ 1236 w 2752"/>
                <a:gd name="T65" fmla="*/ 2746 h 2754"/>
                <a:gd name="T66" fmla="*/ 1033 w 2752"/>
                <a:gd name="T67" fmla="*/ 2710 h 2754"/>
                <a:gd name="T68" fmla="*/ 840 w 2752"/>
                <a:gd name="T69" fmla="*/ 2646 h 2754"/>
                <a:gd name="T70" fmla="*/ 663 w 2752"/>
                <a:gd name="T71" fmla="*/ 2554 h 2754"/>
                <a:gd name="T72" fmla="*/ 502 w 2752"/>
                <a:gd name="T73" fmla="*/ 2440 h 2754"/>
                <a:gd name="T74" fmla="*/ 358 w 2752"/>
                <a:gd name="T75" fmla="*/ 2303 h 2754"/>
                <a:gd name="T76" fmla="*/ 236 w 2752"/>
                <a:gd name="T77" fmla="*/ 2146 h 2754"/>
                <a:gd name="T78" fmla="*/ 137 w 2752"/>
                <a:gd name="T79" fmla="*/ 1973 h 2754"/>
                <a:gd name="T80" fmla="*/ 63 w 2752"/>
                <a:gd name="T81" fmla="*/ 1787 h 2754"/>
                <a:gd name="T82" fmla="*/ 17 w 2752"/>
                <a:gd name="T83" fmla="*/ 1587 h 2754"/>
                <a:gd name="T84" fmla="*/ 0 w 2752"/>
                <a:gd name="T85" fmla="*/ 1376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52" h="2754">
                  <a:moveTo>
                    <a:pt x="0" y="1376"/>
                  </a:moveTo>
                  <a:lnTo>
                    <a:pt x="3" y="1306"/>
                  </a:lnTo>
                  <a:lnTo>
                    <a:pt x="8" y="1236"/>
                  </a:lnTo>
                  <a:lnTo>
                    <a:pt x="17" y="1167"/>
                  </a:lnTo>
                  <a:lnTo>
                    <a:pt x="29" y="1100"/>
                  </a:lnTo>
                  <a:lnTo>
                    <a:pt x="44" y="1033"/>
                  </a:lnTo>
                  <a:lnTo>
                    <a:pt x="63" y="967"/>
                  </a:lnTo>
                  <a:lnTo>
                    <a:pt x="84" y="904"/>
                  </a:lnTo>
                  <a:lnTo>
                    <a:pt x="108" y="841"/>
                  </a:lnTo>
                  <a:lnTo>
                    <a:pt x="137" y="779"/>
                  </a:lnTo>
                  <a:lnTo>
                    <a:pt x="167" y="721"/>
                  </a:lnTo>
                  <a:lnTo>
                    <a:pt x="200" y="663"/>
                  </a:lnTo>
                  <a:lnTo>
                    <a:pt x="236" y="608"/>
                  </a:lnTo>
                  <a:lnTo>
                    <a:pt x="274" y="554"/>
                  </a:lnTo>
                  <a:lnTo>
                    <a:pt x="314" y="501"/>
                  </a:lnTo>
                  <a:lnTo>
                    <a:pt x="358" y="451"/>
                  </a:lnTo>
                  <a:lnTo>
                    <a:pt x="404" y="403"/>
                  </a:lnTo>
                  <a:lnTo>
                    <a:pt x="451" y="358"/>
                  </a:lnTo>
                  <a:lnTo>
                    <a:pt x="502" y="315"/>
                  </a:lnTo>
                  <a:lnTo>
                    <a:pt x="553" y="274"/>
                  </a:lnTo>
                  <a:lnTo>
                    <a:pt x="607" y="235"/>
                  </a:lnTo>
                  <a:lnTo>
                    <a:pt x="663" y="199"/>
                  </a:lnTo>
                  <a:lnTo>
                    <a:pt x="720" y="166"/>
                  </a:lnTo>
                  <a:lnTo>
                    <a:pt x="780" y="136"/>
                  </a:lnTo>
                  <a:lnTo>
                    <a:pt x="840" y="108"/>
                  </a:lnTo>
                  <a:lnTo>
                    <a:pt x="903" y="83"/>
                  </a:lnTo>
                  <a:lnTo>
                    <a:pt x="968" y="62"/>
                  </a:lnTo>
                  <a:lnTo>
                    <a:pt x="1033" y="44"/>
                  </a:lnTo>
                  <a:lnTo>
                    <a:pt x="1099" y="29"/>
                  </a:lnTo>
                  <a:lnTo>
                    <a:pt x="1167" y="15"/>
                  </a:lnTo>
                  <a:lnTo>
                    <a:pt x="1236" y="8"/>
                  </a:lnTo>
                  <a:lnTo>
                    <a:pt x="1306" y="2"/>
                  </a:lnTo>
                  <a:lnTo>
                    <a:pt x="1377" y="0"/>
                  </a:lnTo>
                  <a:lnTo>
                    <a:pt x="1448" y="2"/>
                  </a:lnTo>
                  <a:lnTo>
                    <a:pt x="1517" y="8"/>
                  </a:lnTo>
                  <a:lnTo>
                    <a:pt x="1586" y="15"/>
                  </a:lnTo>
                  <a:lnTo>
                    <a:pt x="1654" y="29"/>
                  </a:lnTo>
                  <a:lnTo>
                    <a:pt x="1721" y="44"/>
                  </a:lnTo>
                  <a:lnTo>
                    <a:pt x="1786" y="62"/>
                  </a:lnTo>
                  <a:lnTo>
                    <a:pt x="1850" y="83"/>
                  </a:lnTo>
                  <a:lnTo>
                    <a:pt x="1912" y="108"/>
                  </a:lnTo>
                  <a:lnTo>
                    <a:pt x="1974" y="136"/>
                  </a:lnTo>
                  <a:lnTo>
                    <a:pt x="2032" y="166"/>
                  </a:lnTo>
                  <a:lnTo>
                    <a:pt x="2089" y="199"/>
                  </a:lnTo>
                  <a:lnTo>
                    <a:pt x="2147" y="235"/>
                  </a:lnTo>
                  <a:lnTo>
                    <a:pt x="2201" y="274"/>
                  </a:lnTo>
                  <a:lnTo>
                    <a:pt x="2252" y="315"/>
                  </a:lnTo>
                  <a:lnTo>
                    <a:pt x="2301" y="358"/>
                  </a:lnTo>
                  <a:lnTo>
                    <a:pt x="2350" y="403"/>
                  </a:lnTo>
                  <a:lnTo>
                    <a:pt x="2395" y="451"/>
                  </a:lnTo>
                  <a:lnTo>
                    <a:pt x="2438" y="501"/>
                  </a:lnTo>
                  <a:lnTo>
                    <a:pt x="2479" y="554"/>
                  </a:lnTo>
                  <a:lnTo>
                    <a:pt x="2518" y="608"/>
                  </a:lnTo>
                  <a:lnTo>
                    <a:pt x="2554" y="663"/>
                  </a:lnTo>
                  <a:lnTo>
                    <a:pt x="2587" y="721"/>
                  </a:lnTo>
                  <a:lnTo>
                    <a:pt x="2617" y="779"/>
                  </a:lnTo>
                  <a:lnTo>
                    <a:pt x="2644" y="841"/>
                  </a:lnTo>
                  <a:lnTo>
                    <a:pt x="2670" y="904"/>
                  </a:lnTo>
                  <a:lnTo>
                    <a:pt x="2691" y="967"/>
                  </a:lnTo>
                  <a:lnTo>
                    <a:pt x="2709" y="1033"/>
                  </a:lnTo>
                  <a:lnTo>
                    <a:pt x="2725" y="1100"/>
                  </a:lnTo>
                  <a:lnTo>
                    <a:pt x="2737" y="1167"/>
                  </a:lnTo>
                  <a:lnTo>
                    <a:pt x="2745" y="1236"/>
                  </a:lnTo>
                  <a:lnTo>
                    <a:pt x="2751" y="1306"/>
                  </a:lnTo>
                  <a:lnTo>
                    <a:pt x="2752" y="1376"/>
                  </a:lnTo>
                  <a:lnTo>
                    <a:pt x="2751" y="1447"/>
                  </a:lnTo>
                  <a:lnTo>
                    <a:pt x="2745" y="1518"/>
                  </a:lnTo>
                  <a:lnTo>
                    <a:pt x="2737" y="1587"/>
                  </a:lnTo>
                  <a:lnTo>
                    <a:pt x="2725" y="1654"/>
                  </a:lnTo>
                  <a:lnTo>
                    <a:pt x="2709" y="1721"/>
                  </a:lnTo>
                  <a:lnTo>
                    <a:pt x="2691" y="1787"/>
                  </a:lnTo>
                  <a:lnTo>
                    <a:pt x="2670" y="1850"/>
                  </a:lnTo>
                  <a:lnTo>
                    <a:pt x="2644" y="1913"/>
                  </a:lnTo>
                  <a:lnTo>
                    <a:pt x="2617" y="1973"/>
                  </a:lnTo>
                  <a:lnTo>
                    <a:pt x="2587" y="2033"/>
                  </a:lnTo>
                  <a:lnTo>
                    <a:pt x="2554" y="2091"/>
                  </a:lnTo>
                  <a:lnTo>
                    <a:pt x="2518" y="2146"/>
                  </a:lnTo>
                  <a:lnTo>
                    <a:pt x="2479" y="2200"/>
                  </a:lnTo>
                  <a:lnTo>
                    <a:pt x="2438" y="2253"/>
                  </a:lnTo>
                  <a:lnTo>
                    <a:pt x="2395" y="2303"/>
                  </a:lnTo>
                  <a:lnTo>
                    <a:pt x="2350" y="2351"/>
                  </a:lnTo>
                  <a:lnTo>
                    <a:pt x="2301" y="2396"/>
                  </a:lnTo>
                  <a:lnTo>
                    <a:pt x="2252" y="2440"/>
                  </a:lnTo>
                  <a:lnTo>
                    <a:pt x="2201" y="2480"/>
                  </a:lnTo>
                  <a:lnTo>
                    <a:pt x="2147" y="2518"/>
                  </a:lnTo>
                  <a:lnTo>
                    <a:pt x="2089" y="2554"/>
                  </a:lnTo>
                  <a:lnTo>
                    <a:pt x="2032" y="2587"/>
                  </a:lnTo>
                  <a:lnTo>
                    <a:pt x="1974" y="2617"/>
                  </a:lnTo>
                  <a:lnTo>
                    <a:pt x="1912" y="2646"/>
                  </a:lnTo>
                  <a:lnTo>
                    <a:pt x="1850" y="2670"/>
                  </a:lnTo>
                  <a:lnTo>
                    <a:pt x="1786" y="2692"/>
                  </a:lnTo>
                  <a:lnTo>
                    <a:pt x="1721" y="2710"/>
                  </a:lnTo>
                  <a:lnTo>
                    <a:pt x="1654" y="2725"/>
                  </a:lnTo>
                  <a:lnTo>
                    <a:pt x="1586" y="2737"/>
                  </a:lnTo>
                  <a:lnTo>
                    <a:pt x="1517" y="2746"/>
                  </a:lnTo>
                  <a:lnTo>
                    <a:pt x="1448" y="2752"/>
                  </a:lnTo>
                  <a:lnTo>
                    <a:pt x="1377" y="2754"/>
                  </a:lnTo>
                  <a:lnTo>
                    <a:pt x="1306" y="2752"/>
                  </a:lnTo>
                  <a:lnTo>
                    <a:pt x="1236" y="2746"/>
                  </a:lnTo>
                  <a:lnTo>
                    <a:pt x="1167" y="2737"/>
                  </a:lnTo>
                  <a:lnTo>
                    <a:pt x="1099" y="2725"/>
                  </a:lnTo>
                  <a:lnTo>
                    <a:pt x="1033" y="2710"/>
                  </a:lnTo>
                  <a:lnTo>
                    <a:pt x="968" y="2692"/>
                  </a:lnTo>
                  <a:lnTo>
                    <a:pt x="903" y="2670"/>
                  </a:lnTo>
                  <a:lnTo>
                    <a:pt x="840" y="2646"/>
                  </a:lnTo>
                  <a:lnTo>
                    <a:pt x="780" y="2617"/>
                  </a:lnTo>
                  <a:lnTo>
                    <a:pt x="720" y="2587"/>
                  </a:lnTo>
                  <a:lnTo>
                    <a:pt x="663" y="2554"/>
                  </a:lnTo>
                  <a:lnTo>
                    <a:pt x="607" y="2518"/>
                  </a:lnTo>
                  <a:lnTo>
                    <a:pt x="553" y="2480"/>
                  </a:lnTo>
                  <a:lnTo>
                    <a:pt x="502" y="2440"/>
                  </a:lnTo>
                  <a:lnTo>
                    <a:pt x="451" y="2396"/>
                  </a:lnTo>
                  <a:lnTo>
                    <a:pt x="404" y="2351"/>
                  </a:lnTo>
                  <a:lnTo>
                    <a:pt x="358" y="2303"/>
                  </a:lnTo>
                  <a:lnTo>
                    <a:pt x="314" y="2253"/>
                  </a:lnTo>
                  <a:lnTo>
                    <a:pt x="274" y="2200"/>
                  </a:lnTo>
                  <a:lnTo>
                    <a:pt x="236" y="2146"/>
                  </a:lnTo>
                  <a:lnTo>
                    <a:pt x="200" y="2091"/>
                  </a:lnTo>
                  <a:lnTo>
                    <a:pt x="167" y="2033"/>
                  </a:lnTo>
                  <a:lnTo>
                    <a:pt x="137" y="1973"/>
                  </a:lnTo>
                  <a:lnTo>
                    <a:pt x="108" y="1913"/>
                  </a:lnTo>
                  <a:lnTo>
                    <a:pt x="84" y="1850"/>
                  </a:lnTo>
                  <a:lnTo>
                    <a:pt x="63" y="1787"/>
                  </a:lnTo>
                  <a:lnTo>
                    <a:pt x="44" y="1721"/>
                  </a:lnTo>
                  <a:lnTo>
                    <a:pt x="29" y="1654"/>
                  </a:lnTo>
                  <a:lnTo>
                    <a:pt x="17" y="1587"/>
                  </a:lnTo>
                  <a:lnTo>
                    <a:pt x="8" y="1518"/>
                  </a:lnTo>
                  <a:lnTo>
                    <a:pt x="3" y="1447"/>
                  </a:lnTo>
                  <a:lnTo>
                    <a:pt x="0" y="1376"/>
                  </a:lnTo>
                </a:path>
              </a:pathLst>
            </a:custGeom>
            <a:noFill/>
            <a:ln w="9525">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46" name="Freeform 34"/>
            <p:cNvSpPr/>
            <p:nvPr/>
          </p:nvSpPr>
          <p:spPr bwMode="auto">
            <a:xfrm>
              <a:off x="251520" y="2767573"/>
              <a:ext cx="1806473" cy="1899890"/>
            </a:xfrm>
            <a:custGeom>
              <a:avLst/>
              <a:gdLst>
                <a:gd name="T0" fmla="*/ 7 w 2752"/>
                <a:gd name="T1" fmla="*/ 1236 h 2754"/>
                <a:gd name="T2" fmla="*/ 43 w 2752"/>
                <a:gd name="T3" fmla="*/ 1033 h 2754"/>
                <a:gd name="T4" fmla="*/ 108 w 2752"/>
                <a:gd name="T5" fmla="*/ 841 h 2754"/>
                <a:gd name="T6" fmla="*/ 199 w 2752"/>
                <a:gd name="T7" fmla="*/ 663 h 2754"/>
                <a:gd name="T8" fmla="*/ 314 w 2752"/>
                <a:gd name="T9" fmla="*/ 501 h 2754"/>
                <a:gd name="T10" fmla="*/ 450 w 2752"/>
                <a:gd name="T11" fmla="*/ 358 h 2754"/>
                <a:gd name="T12" fmla="*/ 607 w 2752"/>
                <a:gd name="T13" fmla="*/ 235 h 2754"/>
                <a:gd name="T14" fmla="*/ 780 w 2752"/>
                <a:gd name="T15" fmla="*/ 136 h 2754"/>
                <a:gd name="T16" fmla="*/ 966 w 2752"/>
                <a:gd name="T17" fmla="*/ 62 h 2754"/>
                <a:gd name="T18" fmla="*/ 1166 w 2752"/>
                <a:gd name="T19" fmla="*/ 15 h 2754"/>
                <a:gd name="T20" fmla="*/ 1375 w 2752"/>
                <a:gd name="T21" fmla="*/ 0 h 2754"/>
                <a:gd name="T22" fmla="*/ 1585 w 2752"/>
                <a:gd name="T23" fmla="*/ 15 h 2754"/>
                <a:gd name="T24" fmla="*/ 1785 w 2752"/>
                <a:gd name="T25" fmla="*/ 62 h 2754"/>
                <a:gd name="T26" fmla="*/ 1972 w 2752"/>
                <a:gd name="T27" fmla="*/ 136 h 2754"/>
                <a:gd name="T28" fmla="*/ 2145 w 2752"/>
                <a:gd name="T29" fmla="*/ 235 h 2754"/>
                <a:gd name="T30" fmla="*/ 2301 w 2752"/>
                <a:gd name="T31" fmla="*/ 358 h 2754"/>
                <a:gd name="T32" fmla="*/ 2438 w 2752"/>
                <a:gd name="T33" fmla="*/ 501 h 2754"/>
                <a:gd name="T34" fmla="*/ 2552 w 2752"/>
                <a:gd name="T35" fmla="*/ 663 h 2754"/>
                <a:gd name="T36" fmla="*/ 2644 w 2752"/>
                <a:gd name="T37" fmla="*/ 841 h 2754"/>
                <a:gd name="T38" fmla="*/ 2708 w 2752"/>
                <a:gd name="T39" fmla="*/ 1033 h 2754"/>
                <a:gd name="T40" fmla="*/ 2744 w 2752"/>
                <a:gd name="T41" fmla="*/ 1236 h 2754"/>
                <a:gd name="T42" fmla="*/ 2750 w 2752"/>
                <a:gd name="T43" fmla="*/ 1447 h 2754"/>
                <a:gd name="T44" fmla="*/ 2723 w 2752"/>
                <a:gd name="T45" fmla="*/ 1654 h 2754"/>
                <a:gd name="T46" fmla="*/ 2668 w 2752"/>
                <a:gd name="T47" fmla="*/ 1850 h 2754"/>
                <a:gd name="T48" fmla="*/ 2585 w 2752"/>
                <a:gd name="T49" fmla="*/ 2033 h 2754"/>
                <a:gd name="T50" fmla="*/ 2478 w 2752"/>
                <a:gd name="T51" fmla="*/ 2200 h 2754"/>
                <a:gd name="T52" fmla="*/ 2349 w 2752"/>
                <a:gd name="T53" fmla="*/ 2351 h 2754"/>
                <a:gd name="T54" fmla="*/ 2199 w 2752"/>
                <a:gd name="T55" fmla="*/ 2480 h 2754"/>
                <a:gd name="T56" fmla="*/ 2032 w 2752"/>
                <a:gd name="T57" fmla="*/ 2587 h 2754"/>
                <a:gd name="T58" fmla="*/ 1848 w 2752"/>
                <a:gd name="T59" fmla="*/ 2670 h 2754"/>
                <a:gd name="T60" fmla="*/ 1653 w 2752"/>
                <a:gd name="T61" fmla="*/ 2725 h 2754"/>
                <a:gd name="T62" fmla="*/ 1447 w 2752"/>
                <a:gd name="T63" fmla="*/ 2752 h 2754"/>
                <a:gd name="T64" fmla="*/ 1235 w 2752"/>
                <a:gd name="T65" fmla="*/ 2746 h 2754"/>
                <a:gd name="T66" fmla="*/ 1032 w 2752"/>
                <a:gd name="T67" fmla="*/ 2710 h 2754"/>
                <a:gd name="T68" fmla="*/ 840 w 2752"/>
                <a:gd name="T69" fmla="*/ 2646 h 2754"/>
                <a:gd name="T70" fmla="*/ 662 w 2752"/>
                <a:gd name="T71" fmla="*/ 2554 h 2754"/>
                <a:gd name="T72" fmla="*/ 500 w 2752"/>
                <a:gd name="T73" fmla="*/ 2440 h 2754"/>
                <a:gd name="T74" fmla="*/ 357 w 2752"/>
                <a:gd name="T75" fmla="*/ 2303 h 2754"/>
                <a:gd name="T76" fmla="*/ 234 w 2752"/>
                <a:gd name="T77" fmla="*/ 2146 h 2754"/>
                <a:gd name="T78" fmla="*/ 135 w 2752"/>
                <a:gd name="T79" fmla="*/ 1973 h 2754"/>
                <a:gd name="T80" fmla="*/ 61 w 2752"/>
                <a:gd name="T81" fmla="*/ 1787 h 2754"/>
                <a:gd name="T82" fmla="*/ 16 w 2752"/>
                <a:gd name="T83" fmla="*/ 1587 h 2754"/>
                <a:gd name="T84" fmla="*/ 0 w 2752"/>
                <a:gd name="T85" fmla="*/ 1376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52" h="2754">
                  <a:moveTo>
                    <a:pt x="0" y="1376"/>
                  </a:moveTo>
                  <a:lnTo>
                    <a:pt x="1" y="1306"/>
                  </a:lnTo>
                  <a:lnTo>
                    <a:pt x="7" y="1236"/>
                  </a:lnTo>
                  <a:lnTo>
                    <a:pt x="16" y="1167"/>
                  </a:lnTo>
                  <a:lnTo>
                    <a:pt x="28" y="1100"/>
                  </a:lnTo>
                  <a:lnTo>
                    <a:pt x="43" y="1033"/>
                  </a:lnTo>
                  <a:lnTo>
                    <a:pt x="61" y="967"/>
                  </a:lnTo>
                  <a:lnTo>
                    <a:pt x="84" y="904"/>
                  </a:lnTo>
                  <a:lnTo>
                    <a:pt x="108" y="841"/>
                  </a:lnTo>
                  <a:lnTo>
                    <a:pt x="135" y="779"/>
                  </a:lnTo>
                  <a:lnTo>
                    <a:pt x="165" y="721"/>
                  </a:lnTo>
                  <a:lnTo>
                    <a:pt x="199" y="663"/>
                  </a:lnTo>
                  <a:lnTo>
                    <a:pt x="234" y="608"/>
                  </a:lnTo>
                  <a:lnTo>
                    <a:pt x="273" y="554"/>
                  </a:lnTo>
                  <a:lnTo>
                    <a:pt x="314" y="501"/>
                  </a:lnTo>
                  <a:lnTo>
                    <a:pt x="357" y="451"/>
                  </a:lnTo>
                  <a:lnTo>
                    <a:pt x="402" y="403"/>
                  </a:lnTo>
                  <a:lnTo>
                    <a:pt x="450" y="358"/>
                  </a:lnTo>
                  <a:lnTo>
                    <a:pt x="500" y="315"/>
                  </a:lnTo>
                  <a:lnTo>
                    <a:pt x="553" y="274"/>
                  </a:lnTo>
                  <a:lnTo>
                    <a:pt x="607" y="235"/>
                  </a:lnTo>
                  <a:lnTo>
                    <a:pt x="662" y="199"/>
                  </a:lnTo>
                  <a:lnTo>
                    <a:pt x="720" y="166"/>
                  </a:lnTo>
                  <a:lnTo>
                    <a:pt x="780" y="136"/>
                  </a:lnTo>
                  <a:lnTo>
                    <a:pt x="840" y="108"/>
                  </a:lnTo>
                  <a:lnTo>
                    <a:pt x="903" y="83"/>
                  </a:lnTo>
                  <a:lnTo>
                    <a:pt x="966" y="62"/>
                  </a:lnTo>
                  <a:lnTo>
                    <a:pt x="1032" y="44"/>
                  </a:lnTo>
                  <a:lnTo>
                    <a:pt x="1098" y="29"/>
                  </a:lnTo>
                  <a:lnTo>
                    <a:pt x="1166" y="15"/>
                  </a:lnTo>
                  <a:lnTo>
                    <a:pt x="1235" y="8"/>
                  </a:lnTo>
                  <a:lnTo>
                    <a:pt x="1304" y="2"/>
                  </a:lnTo>
                  <a:lnTo>
                    <a:pt x="1375" y="0"/>
                  </a:lnTo>
                  <a:lnTo>
                    <a:pt x="1447" y="2"/>
                  </a:lnTo>
                  <a:lnTo>
                    <a:pt x="1516" y="8"/>
                  </a:lnTo>
                  <a:lnTo>
                    <a:pt x="1585" y="15"/>
                  </a:lnTo>
                  <a:lnTo>
                    <a:pt x="1653" y="29"/>
                  </a:lnTo>
                  <a:lnTo>
                    <a:pt x="1719" y="44"/>
                  </a:lnTo>
                  <a:lnTo>
                    <a:pt x="1785" y="62"/>
                  </a:lnTo>
                  <a:lnTo>
                    <a:pt x="1848" y="83"/>
                  </a:lnTo>
                  <a:lnTo>
                    <a:pt x="1912" y="108"/>
                  </a:lnTo>
                  <a:lnTo>
                    <a:pt x="1972" y="136"/>
                  </a:lnTo>
                  <a:lnTo>
                    <a:pt x="2032" y="166"/>
                  </a:lnTo>
                  <a:lnTo>
                    <a:pt x="2089" y="199"/>
                  </a:lnTo>
                  <a:lnTo>
                    <a:pt x="2145" y="235"/>
                  </a:lnTo>
                  <a:lnTo>
                    <a:pt x="2199" y="274"/>
                  </a:lnTo>
                  <a:lnTo>
                    <a:pt x="2251" y="315"/>
                  </a:lnTo>
                  <a:lnTo>
                    <a:pt x="2301" y="358"/>
                  </a:lnTo>
                  <a:lnTo>
                    <a:pt x="2349" y="403"/>
                  </a:lnTo>
                  <a:lnTo>
                    <a:pt x="2394" y="451"/>
                  </a:lnTo>
                  <a:lnTo>
                    <a:pt x="2438" y="501"/>
                  </a:lnTo>
                  <a:lnTo>
                    <a:pt x="2478" y="554"/>
                  </a:lnTo>
                  <a:lnTo>
                    <a:pt x="2516" y="608"/>
                  </a:lnTo>
                  <a:lnTo>
                    <a:pt x="2552" y="663"/>
                  </a:lnTo>
                  <a:lnTo>
                    <a:pt x="2585" y="721"/>
                  </a:lnTo>
                  <a:lnTo>
                    <a:pt x="2617" y="779"/>
                  </a:lnTo>
                  <a:lnTo>
                    <a:pt x="2644" y="841"/>
                  </a:lnTo>
                  <a:lnTo>
                    <a:pt x="2668" y="904"/>
                  </a:lnTo>
                  <a:lnTo>
                    <a:pt x="2690" y="967"/>
                  </a:lnTo>
                  <a:lnTo>
                    <a:pt x="2708" y="1033"/>
                  </a:lnTo>
                  <a:lnTo>
                    <a:pt x="2723" y="1100"/>
                  </a:lnTo>
                  <a:lnTo>
                    <a:pt x="2735" y="1167"/>
                  </a:lnTo>
                  <a:lnTo>
                    <a:pt x="2744" y="1236"/>
                  </a:lnTo>
                  <a:lnTo>
                    <a:pt x="2750" y="1306"/>
                  </a:lnTo>
                  <a:lnTo>
                    <a:pt x="2752" y="1376"/>
                  </a:lnTo>
                  <a:lnTo>
                    <a:pt x="2750" y="1447"/>
                  </a:lnTo>
                  <a:lnTo>
                    <a:pt x="2744" y="1518"/>
                  </a:lnTo>
                  <a:lnTo>
                    <a:pt x="2735" y="1587"/>
                  </a:lnTo>
                  <a:lnTo>
                    <a:pt x="2723" y="1654"/>
                  </a:lnTo>
                  <a:lnTo>
                    <a:pt x="2708" y="1721"/>
                  </a:lnTo>
                  <a:lnTo>
                    <a:pt x="2690" y="1787"/>
                  </a:lnTo>
                  <a:lnTo>
                    <a:pt x="2668" y="1850"/>
                  </a:lnTo>
                  <a:lnTo>
                    <a:pt x="2644" y="1913"/>
                  </a:lnTo>
                  <a:lnTo>
                    <a:pt x="2617" y="1973"/>
                  </a:lnTo>
                  <a:lnTo>
                    <a:pt x="2585" y="2033"/>
                  </a:lnTo>
                  <a:lnTo>
                    <a:pt x="2552" y="2091"/>
                  </a:lnTo>
                  <a:lnTo>
                    <a:pt x="2516" y="2146"/>
                  </a:lnTo>
                  <a:lnTo>
                    <a:pt x="2478" y="2200"/>
                  </a:lnTo>
                  <a:lnTo>
                    <a:pt x="2438" y="2253"/>
                  </a:lnTo>
                  <a:lnTo>
                    <a:pt x="2394" y="2303"/>
                  </a:lnTo>
                  <a:lnTo>
                    <a:pt x="2349" y="2351"/>
                  </a:lnTo>
                  <a:lnTo>
                    <a:pt x="2301" y="2396"/>
                  </a:lnTo>
                  <a:lnTo>
                    <a:pt x="2251" y="2440"/>
                  </a:lnTo>
                  <a:lnTo>
                    <a:pt x="2199" y="2480"/>
                  </a:lnTo>
                  <a:lnTo>
                    <a:pt x="2145" y="2518"/>
                  </a:lnTo>
                  <a:lnTo>
                    <a:pt x="2089" y="2554"/>
                  </a:lnTo>
                  <a:lnTo>
                    <a:pt x="2032" y="2587"/>
                  </a:lnTo>
                  <a:lnTo>
                    <a:pt x="1972" y="2617"/>
                  </a:lnTo>
                  <a:lnTo>
                    <a:pt x="1912" y="2646"/>
                  </a:lnTo>
                  <a:lnTo>
                    <a:pt x="1848" y="2670"/>
                  </a:lnTo>
                  <a:lnTo>
                    <a:pt x="1785" y="2692"/>
                  </a:lnTo>
                  <a:lnTo>
                    <a:pt x="1719" y="2710"/>
                  </a:lnTo>
                  <a:lnTo>
                    <a:pt x="1653" y="2725"/>
                  </a:lnTo>
                  <a:lnTo>
                    <a:pt x="1585" y="2737"/>
                  </a:lnTo>
                  <a:lnTo>
                    <a:pt x="1516" y="2746"/>
                  </a:lnTo>
                  <a:lnTo>
                    <a:pt x="1447" y="2752"/>
                  </a:lnTo>
                  <a:lnTo>
                    <a:pt x="1375" y="2754"/>
                  </a:lnTo>
                  <a:lnTo>
                    <a:pt x="1304" y="2752"/>
                  </a:lnTo>
                  <a:lnTo>
                    <a:pt x="1235" y="2746"/>
                  </a:lnTo>
                  <a:lnTo>
                    <a:pt x="1166" y="2737"/>
                  </a:lnTo>
                  <a:lnTo>
                    <a:pt x="1098" y="2725"/>
                  </a:lnTo>
                  <a:lnTo>
                    <a:pt x="1032" y="2710"/>
                  </a:lnTo>
                  <a:lnTo>
                    <a:pt x="966" y="2692"/>
                  </a:lnTo>
                  <a:lnTo>
                    <a:pt x="903" y="2670"/>
                  </a:lnTo>
                  <a:lnTo>
                    <a:pt x="840" y="2646"/>
                  </a:lnTo>
                  <a:lnTo>
                    <a:pt x="780" y="2617"/>
                  </a:lnTo>
                  <a:lnTo>
                    <a:pt x="720" y="2587"/>
                  </a:lnTo>
                  <a:lnTo>
                    <a:pt x="662" y="2554"/>
                  </a:lnTo>
                  <a:lnTo>
                    <a:pt x="607" y="2518"/>
                  </a:lnTo>
                  <a:lnTo>
                    <a:pt x="553" y="2480"/>
                  </a:lnTo>
                  <a:lnTo>
                    <a:pt x="500" y="2440"/>
                  </a:lnTo>
                  <a:lnTo>
                    <a:pt x="450" y="2396"/>
                  </a:lnTo>
                  <a:lnTo>
                    <a:pt x="402" y="2351"/>
                  </a:lnTo>
                  <a:lnTo>
                    <a:pt x="357" y="2303"/>
                  </a:lnTo>
                  <a:lnTo>
                    <a:pt x="314" y="2253"/>
                  </a:lnTo>
                  <a:lnTo>
                    <a:pt x="273" y="2200"/>
                  </a:lnTo>
                  <a:lnTo>
                    <a:pt x="234" y="2146"/>
                  </a:lnTo>
                  <a:lnTo>
                    <a:pt x="199" y="2091"/>
                  </a:lnTo>
                  <a:lnTo>
                    <a:pt x="165" y="2033"/>
                  </a:lnTo>
                  <a:lnTo>
                    <a:pt x="135" y="1973"/>
                  </a:lnTo>
                  <a:lnTo>
                    <a:pt x="108" y="1913"/>
                  </a:lnTo>
                  <a:lnTo>
                    <a:pt x="84" y="1850"/>
                  </a:lnTo>
                  <a:lnTo>
                    <a:pt x="61" y="1787"/>
                  </a:lnTo>
                  <a:lnTo>
                    <a:pt x="43" y="1721"/>
                  </a:lnTo>
                  <a:lnTo>
                    <a:pt x="28" y="1654"/>
                  </a:lnTo>
                  <a:lnTo>
                    <a:pt x="16" y="1587"/>
                  </a:lnTo>
                  <a:lnTo>
                    <a:pt x="7" y="1518"/>
                  </a:lnTo>
                  <a:lnTo>
                    <a:pt x="1" y="1447"/>
                  </a:lnTo>
                  <a:lnTo>
                    <a:pt x="0" y="1376"/>
                  </a:lnTo>
                </a:path>
              </a:pathLst>
            </a:custGeom>
            <a:noFill/>
            <a:ln w="9525">
              <a:solidFill>
                <a:srgbClr val="7889FB"/>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48" name="TextBox 247"/>
            <p:cNvSpPr txBox="1"/>
            <p:nvPr/>
          </p:nvSpPr>
          <p:spPr>
            <a:xfrm>
              <a:off x="1266008" y="1635625"/>
              <a:ext cx="1356667" cy="98191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销售计划分解</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粗需求计划</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销售订单</a:t>
              </a:r>
            </a:p>
          </p:txBody>
        </p:sp>
        <p:sp>
          <p:nvSpPr>
            <p:cNvPr id="249" name="TextBox 248"/>
            <p:cNvSpPr txBox="1"/>
            <p:nvPr/>
          </p:nvSpPr>
          <p:spPr>
            <a:xfrm>
              <a:off x="369203" y="3493191"/>
              <a:ext cx="1356667" cy="9141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生产</a:t>
              </a: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生产计划</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生产订单</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生产执行</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50" name="TextBox 249"/>
            <p:cNvSpPr txBox="1"/>
            <p:nvPr/>
          </p:nvSpPr>
          <p:spPr>
            <a:xfrm>
              <a:off x="2094457" y="3354123"/>
              <a:ext cx="1327486" cy="94805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采购</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采购计划</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采购订单</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供货问题协调</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52" name="TextBox 251"/>
            <p:cNvSpPr txBox="1"/>
            <p:nvPr/>
          </p:nvSpPr>
          <p:spPr>
            <a:xfrm>
              <a:off x="1505916" y="3075749"/>
              <a:ext cx="699653" cy="50788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订单</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推进</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255" name="矩形 15"/>
          <p:cNvSpPr/>
          <p:nvPr/>
        </p:nvSpPr>
        <p:spPr bwMode="auto">
          <a:xfrm>
            <a:off x="4819564" y="4475710"/>
            <a:ext cx="3895840" cy="2005534"/>
          </a:xfrm>
          <a:prstGeom prst="rect">
            <a:avLst/>
          </a:prstGeom>
          <a:solidFill>
            <a:srgbClr val="7889FB">
              <a:lumMod val="20000"/>
              <a:lumOff val="80000"/>
            </a:srgbClr>
          </a:solidFill>
          <a:ln w="9525" cap="flat" cmpd="sng" algn="ctr">
            <a:solidFill>
              <a:srgbClr val="D6DBFE">
                <a:lumMod val="90000"/>
              </a:srgbClr>
            </a:solidFill>
            <a:prstDash val="solid"/>
            <a:round/>
            <a:headEnd type="none" w="med" len="med"/>
            <a:tailEnd type="none" w="med" len="med"/>
          </a:ln>
          <a:effectLst/>
        </p:spPr>
        <p:txBody>
          <a:bodyPr lIns="90000" tIns="108000" rIns="90000" bIns="46800"/>
          <a:lstStyle/>
          <a:p>
            <a:pPr marL="182880" marR="0" lvl="0" indent="-182880" defTabSz="914400" eaLnBrk="0" fontAlgn="auto" latinLnBrk="0" hangingPunct="0">
              <a:lnSpc>
                <a:spcPct val="90000"/>
              </a:lnSpc>
              <a:spcBef>
                <a:spcPct val="20000"/>
              </a:spcBef>
              <a:spcAft>
                <a:spcPts val="0"/>
              </a:spcAft>
              <a:buClr>
                <a:srgbClr val="000000"/>
              </a:buClr>
              <a:buSzTx/>
              <a:buFont typeface="Wingdings" panose="05000000000000000000" pitchFamily="2" charset="2"/>
              <a:buNone/>
              <a:defRPr/>
            </a:pPr>
            <a:endParaRPr kumimoji="0" lang="en-US" altLang="zh-CN"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grpSp>
        <p:nvGrpSpPr>
          <p:cNvPr id="256" name="Group 129"/>
          <p:cNvGrpSpPr/>
          <p:nvPr/>
        </p:nvGrpSpPr>
        <p:grpSpPr>
          <a:xfrm>
            <a:off x="560278" y="4619726"/>
            <a:ext cx="676275" cy="215444"/>
            <a:chOff x="625852" y="4797152"/>
            <a:chExt cx="676275" cy="215444"/>
          </a:xfrm>
        </p:grpSpPr>
        <p:sp>
          <p:nvSpPr>
            <p:cNvPr id="257" name="Textframe 11"/>
            <p:cNvSpPr>
              <a:spLocks noChangeArrowheads="1"/>
            </p:cNvSpPr>
            <p:nvPr>
              <p:custDataLst>
                <p:tags r:id="rId4"/>
              </p:custDataLst>
            </p:nvPr>
          </p:nvSpPr>
          <p:spPr bwMode="auto">
            <a:xfrm>
              <a:off x="756027" y="4797152"/>
              <a:ext cx="5461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72000" tIns="0" rIns="72000" bIns="0">
              <a:spAutoFit/>
            </a:bodyPr>
            <a:lstStyle/>
            <a:p>
              <a:pPr marL="0" marR="0" lvl="0" indent="0" defTabSz="330200" eaLnBrk="1" fontAlgn="auto" latinLnBrk="0" hangingPunct="1">
                <a:lnSpc>
                  <a:spcPct val="100000"/>
                </a:lnSpc>
                <a:spcBef>
                  <a:spcPts val="0"/>
                </a:spcBef>
                <a:spcAft>
                  <a:spcPts val="0"/>
                </a:spcAft>
                <a:buClr>
                  <a:srgbClr val="000000"/>
                </a:buClr>
                <a:buSzPct val="100000"/>
                <a:buFont typeface="Arial" panose="020B0604020202020204" pitchFamily="34" charset="0"/>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优点</a:t>
              </a:r>
              <a:endParaRPr kumimoji="0" lang="en-US" altLang="de-DE" sz="1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nvGrpSpPr>
            <p:cNvPr id="258" name="Group 16"/>
            <p:cNvGrpSpPr/>
            <p:nvPr/>
          </p:nvGrpSpPr>
          <p:grpSpPr bwMode="auto">
            <a:xfrm>
              <a:off x="625852" y="4808265"/>
              <a:ext cx="173037" cy="173037"/>
              <a:chOff x="731838" y="2455354"/>
              <a:chExt cx="288000" cy="288000"/>
            </a:xfrm>
          </p:grpSpPr>
          <p:sp>
            <p:nvSpPr>
              <p:cNvPr id="259" name="Rectangle 5"/>
              <p:cNvSpPr>
                <a:spLocks noChangeArrowheads="1"/>
              </p:cNvSpPr>
              <p:nvPr/>
            </p:nvSpPr>
            <p:spPr bwMode="auto">
              <a:xfrm>
                <a:off x="731838" y="2455354"/>
                <a:ext cx="288000" cy="288000"/>
              </a:xfrm>
              <a:prstGeom prst="rect">
                <a:avLst/>
              </a:prstGeom>
              <a:solidFill>
                <a:srgbClr val="7889FB">
                  <a:lumMod val="40000"/>
                  <a:lumOff val="60000"/>
                </a:srgbClr>
              </a:solidFill>
              <a:ln w="6350">
                <a:noFill/>
                <a:miter lim="800000"/>
              </a:ln>
              <a:effec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defRPr/>
                </a:pPr>
                <a:endParaRPr kumimoji="0" lang="de-DE" altLang="zh-CN" sz="1800" b="0" i="0" u="none" strike="noStrike" kern="0" cap="none" spc="0" normalizeH="0" baseline="0" noProof="0">
                  <a:ln>
                    <a:noFill/>
                  </a:ln>
                  <a:solidFill>
                    <a:srgbClr val="000000"/>
                  </a:solidFill>
                  <a:effectLst/>
                  <a:uLnTx/>
                  <a:uFillTx/>
                  <a:cs typeface="Arial" panose="020B0604020202020204"/>
                </a:endParaRPr>
              </a:p>
            </p:txBody>
          </p:sp>
          <p:sp>
            <p:nvSpPr>
              <p:cNvPr id="260" name="Plus 67"/>
              <p:cNvSpPr/>
              <p:nvPr/>
            </p:nvSpPr>
            <p:spPr>
              <a:xfrm>
                <a:off x="750333" y="2473849"/>
                <a:ext cx="251011" cy="251011"/>
              </a:xfrm>
              <a:prstGeom prst="mathPlus">
                <a:avLst/>
              </a:prstGeom>
              <a:solidFill>
                <a:srgbClr val="FFFFFF"/>
              </a:solidFill>
              <a:ln w="9525" cap="flat" cmpd="sng" algn="ctr">
                <a:noFill/>
                <a:prstDash val="solid"/>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Arial" panose="020B0604020202020204"/>
                </a:endParaRPr>
              </a:p>
            </p:txBody>
          </p:sp>
        </p:grpSp>
      </p:grpSp>
      <p:grpSp>
        <p:nvGrpSpPr>
          <p:cNvPr id="261" name="Group 6"/>
          <p:cNvGrpSpPr/>
          <p:nvPr/>
        </p:nvGrpSpPr>
        <p:grpSpPr>
          <a:xfrm>
            <a:off x="560278" y="5267798"/>
            <a:ext cx="676275" cy="215444"/>
            <a:chOff x="625852" y="5573440"/>
            <a:chExt cx="676275" cy="215444"/>
          </a:xfrm>
        </p:grpSpPr>
        <p:grpSp>
          <p:nvGrpSpPr>
            <p:cNvPr id="263" name="Group 21"/>
            <p:cNvGrpSpPr/>
            <p:nvPr/>
          </p:nvGrpSpPr>
          <p:grpSpPr bwMode="auto">
            <a:xfrm flipH="1">
              <a:off x="625852" y="5584552"/>
              <a:ext cx="173037" cy="173038"/>
              <a:chOff x="731838" y="2455354"/>
              <a:chExt cx="288000" cy="288000"/>
            </a:xfrm>
          </p:grpSpPr>
          <p:sp>
            <p:nvSpPr>
              <p:cNvPr id="266" name="Rectangle 5"/>
              <p:cNvSpPr>
                <a:spLocks noChangeArrowheads="1"/>
              </p:cNvSpPr>
              <p:nvPr/>
            </p:nvSpPr>
            <p:spPr bwMode="auto">
              <a:xfrm>
                <a:off x="731838" y="2455354"/>
                <a:ext cx="288000" cy="288000"/>
              </a:xfrm>
              <a:prstGeom prst="rect">
                <a:avLst/>
              </a:prstGeom>
              <a:solidFill>
                <a:srgbClr val="7889FB">
                  <a:lumMod val="40000"/>
                  <a:lumOff val="60000"/>
                </a:srgbClr>
              </a:solidFill>
              <a:ln w="6350">
                <a:noFill/>
                <a:miter lim="800000"/>
              </a:ln>
              <a:effec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defRPr/>
                </a:pPr>
                <a:endParaRPr kumimoji="0" lang="de-DE" altLang="zh-CN" sz="1800" b="0" i="0" u="none" strike="noStrike" kern="0" cap="none" spc="0" normalizeH="0" baseline="0" noProof="0">
                  <a:ln>
                    <a:noFill/>
                  </a:ln>
                  <a:solidFill>
                    <a:srgbClr val="000000"/>
                  </a:solidFill>
                  <a:effectLst/>
                  <a:uLnTx/>
                  <a:uFillTx/>
                  <a:cs typeface="Arial" panose="020B0604020202020204"/>
                </a:endParaRPr>
              </a:p>
            </p:txBody>
          </p:sp>
          <p:sp>
            <p:nvSpPr>
              <p:cNvPr id="267" name="Minus 65"/>
              <p:cNvSpPr/>
              <p:nvPr/>
            </p:nvSpPr>
            <p:spPr>
              <a:xfrm>
                <a:off x="750333" y="2473850"/>
                <a:ext cx="251011" cy="251008"/>
              </a:xfrm>
              <a:prstGeom prst="mathMinus">
                <a:avLst/>
              </a:prstGeom>
              <a:solidFill>
                <a:srgbClr val="FFFFFF"/>
              </a:solidFill>
              <a:ln w="9525" cap="flat" cmpd="sng" algn="ctr">
                <a:noFill/>
                <a:prstDash val="solid"/>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Arial" panose="020B0604020202020204"/>
                </a:endParaRPr>
              </a:p>
            </p:txBody>
          </p:sp>
        </p:grpSp>
        <p:sp>
          <p:nvSpPr>
            <p:cNvPr id="264" name="Textframe 11"/>
            <p:cNvSpPr>
              <a:spLocks noChangeArrowheads="1"/>
            </p:cNvSpPr>
            <p:nvPr>
              <p:custDataLst>
                <p:tags r:id="rId3"/>
              </p:custDataLst>
            </p:nvPr>
          </p:nvSpPr>
          <p:spPr bwMode="auto">
            <a:xfrm>
              <a:off x="756027" y="5573440"/>
              <a:ext cx="5461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72000" tIns="0" rIns="72000" bIns="0">
              <a:spAutoFit/>
            </a:bodyPr>
            <a:lstStyle/>
            <a:p>
              <a:pPr marL="0" marR="0" lvl="0" indent="0" defTabSz="330200" eaLnBrk="1" fontAlgn="auto" latinLnBrk="0" hangingPunct="1">
                <a:lnSpc>
                  <a:spcPct val="100000"/>
                </a:lnSpc>
                <a:spcBef>
                  <a:spcPts val="0"/>
                </a:spcBef>
                <a:spcAft>
                  <a:spcPts val="0"/>
                </a:spcAft>
                <a:buClr>
                  <a:srgbClr val="000000"/>
                </a:buClr>
                <a:buSzPct val="100000"/>
                <a:buFont typeface="Arial" panose="020B0604020202020204" pitchFamily="34" charset="0"/>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缺点</a:t>
              </a:r>
              <a:endParaRPr kumimoji="0" lang="en-US" altLang="de-DE" sz="1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grpSp>
        <p:nvGrpSpPr>
          <p:cNvPr id="268" name="Group 73"/>
          <p:cNvGrpSpPr/>
          <p:nvPr/>
        </p:nvGrpSpPr>
        <p:grpSpPr>
          <a:xfrm>
            <a:off x="4952766" y="4619726"/>
            <a:ext cx="676275" cy="215444"/>
            <a:chOff x="625852" y="4797152"/>
            <a:chExt cx="676275" cy="215444"/>
          </a:xfrm>
        </p:grpSpPr>
        <p:sp>
          <p:nvSpPr>
            <p:cNvPr id="269" name="Textframe 11"/>
            <p:cNvSpPr>
              <a:spLocks noChangeArrowheads="1"/>
            </p:cNvSpPr>
            <p:nvPr>
              <p:custDataLst>
                <p:tags r:id="rId2"/>
              </p:custDataLst>
            </p:nvPr>
          </p:nvSpPr>
          <p:spPr bwMode="auto">
            <a:xfrm>
              <a:off x="756027" y="4797152"/>
              <a:ext cx="5461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72000" tIns="0" rIns="72000" bIns="0">
              <a:spAutoFit/>
            </a:bodyPr>
            <a:lstStyle/>
            <a:p>
              <a:pPr marL="0" marR="0" lvl="0" indent="0" defTabSz="330200" eaLnBrk="1" fontAlgn="auto" latinLnBrk="0" hangingPunct="1">
                <a:lnSpc>
                  <a:spcPct val="100000"/>
                </a:lnSpc>
                <a:spcBef>
                  <a:spcPts val="0"/>
                </a:spcBef>
                <a:spcAft>
                  <a:spcPts val="0"/>
                </a:spcAft>
                <a:buClr>
                  <a:srgbClr val="000000"/>
                </a:buClr>
                <a:buSzPct val="100000"/>
                <a:buFont typeface="Arial" panose="020B0604020202020204" pitchFamily="34" charset="0"/>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优点</a:t>
              </a:r>
              <a:endParaRPr kumimoji="0" lang="en-US" altLang="de-DE" sz="1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nvGrpSpPr>
            <p:cNvPr id="270" name="Group 16"/>
            <p:cNvGrpSpPr/>
            <p:nvPr/>
          </p:nvGrpSpPr>
          <p:grpSpPr bwMode="auto">
            <a:xfrm>
              <a:off x="625852" y="4808265"/>
              <a:ext cx="173037" cy="173037"/>
              <a:chOff x="731838" y="2455354"/>
              <a:chExt cx="288000" cy="288000"/>
            </a:xfrm>
          </p:grpSpPr>
          <p:sp>
            <p:nvSpPr>
              <p:cNvPr id="271" name="Rectangle 5"/>
              <p:cNvSpPr>
                <a:spLocks noChangeArrowheads="1"/>
              </p:cNvSpPr>
              <p:nvPr/>
            </p:nvSpPr>
            <p:spPr bwMode="auto">
              <a:xfrm>
                <a:off x="731838" y="2455354"/>
                <a:ext cx="288000" cy="288000"/>
              </a:xfrm>
              <a:prstGeom prst="rect">
                <a:avLst/>
              </a:prstGeom>
              <a:solidFill>
                <a:srgbClr val="7889FB">
                  <a:lumMod val="40000"/>
                  <a:lumOff val="60000"/>
                </a:srgbClr>
              </a:solidFill>
              <a:ln w="6350">
                <a:noFill/>
                <a:miter lim="800000"/>
              </a:ln>
              <a:effec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defRPr/>
                </a:pPr>
                <a:endParaRPr kumimoji="0" lang="de-DE" altLang="zh-CN" sz="1800" b="0" i="0" u="none" strike="noStrike" kern="0" cap="none" spc="0" normalizeH="0" baseline="0" noProof="0">
                  <a:ln>
                    <a:noFill/>
                  </a:ln>
                  <a:solidFill>
                    <a:srgbClr val="000000"/>
                  </a:solidFill>
                  <a:effectLst/>
                  <a:uLnTx/>
                  <a:uFillTx/>
                  <a:cs typeface="Arial" panose="020B0604020202020204"/>
                </a:endParaRPr>
              </a:p>
            </p:txBody>
          </p:sp>
          <p:sp>
            <p:nvSpPr>
              <p:cNvPr id="272" name="Plus 67"/>
              <p:cNvSpPr/>
              <p:nvPr/>
            </p:nvSpPr>
            <p:spPr>
              <a:xfrm>
                <a:off x="750333" y="2473849"/>
                <a:ext cx="251011" cy="251011"/>
              </a:xfrm>
              <a:prstGeom prst="mathPlus">
                <a:avLst/>
              </a:prstGeom>
              <a:solidFill>
                <a:srgbClr val="FFFFFF"/>
              </a:solidFill>
              <a:ln w="9525" cap="flat" cmpd="sng" algn="ctr">
                <a:noFill/>
                <a:prstDash val="solid"/>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Arial" panose="020B0604020202020204"/>
                </a:endParaRPr>
              </a:p>
            </p:txBody>
          </p:sp>
        </p:grpSp>
      </p:grpSp>
      <p:grpSp>
        <p:nvGrpSpPr>
          <p:cNvPr id="273" name="Group 78"/>
          <p:cNvGrpSpPr/>
          <p:nvPr/>
        </p:nvGrpSpPr>
        <p:grpSpPr>
          <a:xfrm>
            <a:off x="4952766" y="5842205"/>
            <a:ext cx="676275" cy="215444"/>
            <a:chOff x="625852" y="5573440"/>
            <a:chExt cx="676275" cy="215444"/>
          </a:xfrm>
        </p:grpSpPr>
        <p:grpSp>
          <p:nvGrpSpPr>
            <p:cNvPr id="274" name="Group 21"/>
            <p:cNvGrpSpPr/>
            <p:nvPr/>
          </p:nvGrpSpPr>
          <p:grpSpPr bwMode="auto">
            <a:xfrm flipH="1">
              <a:off x="625852" y="5584552"/>
              <a:ext cx="173037" cy="173038"/>
              <a:chOff x="731838" y="2455354"/>
              <a:chExt cx="288000" cy="288000"/>
            </a:xfrm>
          </p:grpSpPr>
          <p:sp>
            <p:nvSpPr>
              <p:cNvPr id="276" name="Rectangle 5"/>
              <p:cNvSpPr>
                <a:spLocks noChangeArrowheads="1"/>
              </p:cNvSpPr>
              <p:nvPr/>
            </p:nvSpPr>
            <p:spPr bwMode="auto">
              <a:xfrm>
                <a:off x="731838" y="2455354"/>
                <a:ext cx="288000" cy="288000"/>
              </a:xfrm>
              <a:prstGeom prst="rect">
                <a:avLst/>
              </a:prstGeom>
              <a:solidFill>
                <a:srgbClr val="7889FB">
                  <a:lumMod val="40000"/>
                  <a:lumOff val="60000"/>
                </a:srgbClr>
              </a:solidFill>
              <a:ln w="6350">
                <a:noFill/>
                <a:miter lim="800000"/>
              </a:ln>
              <a:effec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defRPr/>
                </a:pPr>
                <a:endParaRPr kumimoji="0" lang="de-DE" altLang="zh-CN" sz="1800" b="0" i="0" u="none" strike="noStrike" kern="0" cap="none" spc="0" normalizeH="0" baseline="0" noProof="0">
                  <a:ln>
                    <a:noFill/>
                  </a:ln>
                  <a:solidFill>
                    <a:srgbClr val="000000"/>
                  </a:solidFill>
                  <a:effectLst/>
                  <a:uLnTx/>
                  <a:uFillTx/>
                  <a:cs typeface="Arial" panose="020B0604020202020204"/>
                </a:endParaRPr>
              </a:p>
            </p:txBody>
          </p:sp>
          <p:sp>
            <p:nvSpPr>
              <p:cNvPr id="277" name="Minus 65"/>
              <p:cNvSpPr/>
              <p:nvPr/>
            </p:nvSpPr>
            <p:spPr>
              <a:xfrm>
                <a:off x="750333" y="2473850"/>
                <a:ext cx="251011" cy="251008"/>
              </a:xfrm>
              <a:prstGeom prst="mathMinus">
                <a:avLst/>
              </a:prstGeom>
              <a:solidFill>
                <a:srgbClr val="FFFFFF"/>
              </a:solidFill>
              <a:ln w="9525" cap="flat" cmpd="sng" algn="ctr">
                <a:noFill/>
                <a:prstDash val="solid"/>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Arial" panose="020B0604020202020204"/>
                </a:endParaRPr>
              </a:p>
            </p:txBody>
          </p:sp>
        </p:grpSp>
        <p:sp>
          <p:nvSpPr>
            <p:cNvPr id="275" name="Textframe 11"/>
            <p:cNvSpPr>
              <a:spLocks noChangeArrowheads="1"/>
            </p:cNvSpPr>
            <p:nvPr>
              <p:custDataLst>
                <p:tags r:id="rId1"/>
              </p:custDataLst>
            </p:nvPr>
          </p:nvSpPr>
          <p:spPr bwMode="auto">
            <a:xfrm>
              <a:off x="756027" y="5573440"/>
              <a:ext cx="5461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72000" tIns="0" rIns="72000" bIns="0">
              <a:spAutoFit/>
            </a:bodyPr>
            <a:lstStyle/>
            <a:p>
              <a:pPr marL="0" marR="0" lvl="0" indent="0" defTabSz="330200" eaLnBrk="1" fontAlgn="auto" latinLnBrk="0" hangingPunct="1">
                <a:lnSpc>
                  <a:spcPct val="100000"/>
                </a:lnSpc>
                <a:spcBef>
                  <a:spcPts val="0"/>
                </a:spcBef>
                <a:spcAft>
                  <a:spcPts val="0"/>
                </a:spcAft>
                <a:buClr>
                  <a:srgbClr val="000000"/>
                </a:buClr>
                <a:buSzPct val="100000"/>
                <a:buFont typeface="Arial" panose="020B0604020202020204" pitchFamily="34" charset="0"/>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缺点</a:t>
              </a:r>
              <a:endParaRPr kumimoji="0" lang="en-US" altLang="de-DE" sz="1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278" name="TextBox 277"/>
          <p:cNvSpPr txBox="1"/>
          <p:nvPr/>
        </p:nvSpPr>
        <p:spPr>
          <a:xfrm>
            <a:off x="645045" y="5483822"/>
            <a:ext cx="3687852" cy="738664"/>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CN" altLang="en-US" sz="1400" dirty="0">
                <a:latin typeface="微软雅黑" panose="020B0503020204020204" charset="-122"/>
                <a:ea typeface="微软雅黑" panose="020B0503020204020204" charset="-122"/>
              </a:rPr>
              <a:t>计划职能分散，导致按各自计划工作，协同性差，协调工作量大</a:t>
            </a:r>
            <a:endParaRPr lang="en-US" altLang="zh-CN" sz="1400" dirty="0">
              <a:latin typeface="微软雅黑" panose="020B0503020204020204" charset="-122"/>
              <a:ea typeface="微软雅黑" panose="020B0503020204020204" charset="-122"/>
            </a:endParaRPr>
          </a:p>
          <a:p>
            <a:pPr marL="285750" indent="-285750">
              <a:buClr>
                <a:schemeClr val="accent1"/>
              </a:buClr>
              <a:buFont typeface="Arial" panose="020B0604020202020204" pitchFamily="34" charset="0"/>
              <a:buChar char="•"/>
            </a:pPr>
            <a:r>
              <a:rPr lang="zh-CN" altLang="en-US" sz="1400" dirty="0">
                <a:latin typeface="微软雅黑" panose="020B0503020204020204" charset="-122"/>
                <a:ea typeface="微软雅黑" panose="020B0503020204020204" charset="-122"/>
              </a:rPr>
              <a:t>没有部门对端到端的订单负责</a:t>
            </a:r>
            <a:endParaRPr lang="en-US" altLang="zh-CN" sz="1400" dirty="0">
              <a:latin typeface="微软雅黑" panose="020B0503020204020204" charset="-122"/>
              <a:ea typeface="微软雅黑" panose="020B0503020204020204" charset="-122"/>
            </a:endParaRPr>
          </a:p>
        </p:txBody>
      </p:sp>
      <p:sp>
        <p:nvSpPr>
          <p:cNvPr id="279" name="TextBox 278"/>
          <p:cNvSpPr txBox="1"/>
          <p:nvPr/>
        </p:nvSpPr>
        <p:spPr>
          <a:xfrm>
            <a:off x="639489" y="4802336"/>
            <a:ext cx="3765415" cy="523220"/>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CN" altLang="en-US" sz="1400" dirty="0">
                <a:latin typeface="微软雅黑" panose="020B0503020204020204" charset="-122"/>
                <a:ea typeface="微软雅黑" panose="020B0503020204020204" charset="-122"/>
              </a:rPr>
              <a:t>各自形成完整的销售、生产和采购闭环，以职能为中心</a:t>
            </a:r>
            <a:endParaRPr lang="en-US" altLang="zh-CN" sz="1400" dirty="0">
              <a:latin typeface="微软雅黑" panose="020B0503020204020204" charset="-122"/>
              <a:ea typeface="微软雅黑" panose="020B0503020204020204" charset="-122"/>
            </a:endParaRPr>
          </a:p>
        </p:txBody>
      </p:sp>
      <p:sp>
        <p:nvSpPr>
          <p:cNvPr id="280" name="TextBox 279"/>
          <p:cNvSpPr txBox="1"/>
          <p:nvPr/>
        </p:nvSpPr>
        <p:spPr>
          <a:xfrm>
            <a:off x="4836954" y="4889755"/>
            <a:ext cx="3744415" cy="954107"/>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CN" altLang="en-US" sz="1400" dirty="0">
                <a:latin typeface="微软雅黑" panose="020B0503020204020204" charset="-122"/>
                <a:ea typeface="微软雅黑" panose="020B0503020204020204" charset="-122"/>
              </a:rPr>
              <a:t>端到端计划职能集中，统一协调内部资源，便于管理</a:t>
            </a:r>
            <a:endParaRPr lang="en-US" altLang="zh-CN" sz="1400" dirty="0">
              <a:latin typeface="微软雅黑" panose="020B0503020204020204" charset="-122"/>
              <a:ea typeface="微软雅黑" panose="020B0503020204020204" charset="-122"/>
            </a:endParaRPr>
          </a:p>
          <a:p>
            <a:pPr marL="285750" indent="-285750">
              <a:buClr>
                <a:schemeClr val="accent1"/>
              </a:buClr>
              <a:buFont typeface="Arial" panose="020B0604020202020204" pitchFamily="34" charset="0"/>
              <a:buChar char="•"/>
            </a:pPr>
            <a:r>
              <a:rPr lang="zh-CN" altLang="en-US" sz="1400" dirty="0">
                <a:latin typeface="微软雅黑" panose="020B0503020204020204" charset="-122"/>
                <a:ea typeface="微软雅黑" panose="020B0503020204020204" charset="-122"/>
              </a:rPr>
              <a:t>销售、生产和采购更加聚焦在专业能力的发展上，节约协调统筹的时间精力</a:t>
            </a:r>
            <a:endParaRPr lang="en-US" altLang="zh-CN" sz="1400" dirty="0">
              <a:latin typeface="微软雅黑" panose="020B0503020204020204" charset="-122"/>
              <a:ea typeface="微软雅黑" panose="020B0503020204020204" charset="-122"/>
            </a:endParaRPr>
          </a:p>
        </p:txBody>
      </p:sp>
      <p:sp>
        <p:nvSpPr>
          <p:cNvPr id="281" name="TextBox 280"/>
          <p:cNvSpPr txBox="1"/>
          <p:nvPr/>
        </p:nvSpPr>
        <p:spPr>
          <a:xfrm>
            <a:off x="4902437" y="6089349"/>
            <a:ext cx="3678931" cy="307777"/>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CN" altLang="en-US" sz="1400" dirty="0">
                <a:latin typeface="微软雅黑" panose="020B0503020204020204" charset="-122"/>
                <a:ea typeface="微软雅黑" panose="020B0503020204020204" charset="-122"/>
              </a:rPr>
              <a:t>对集成计划部门能力要求较高</a:t>
            </a:r>
          </a:p>
        </p:txBody>
      </p:sp>
      <p:sp>
        <p:nvSpPr>
          <p:cNvPr id="282" name="TextBox 281"/>
          <p:cNvSpPr txBox="1"/>
          <p:nvPr/>
        </p:nvSpPr>
        <p:spPr>
          <a:xfrm>
            <a:off x="6294601" y="1098014"/>
            <a:ext cx="595035" cy="338554"/>
          </a:xfrm>
          <a:prstGeom prst="rect">
            <a:avLst/>
          </a:prstGeom>
          <a:noFill/>
        </p:spPr>
        <p:txBody>
          <a:bodyPr wrap="none" rtlCol="0">
            <a:spAutoFit/>
          </a:bodyPr>
          <a:lstStyle/>
          <a:p>
            <a:r>
              <a:rPr lang="zh-CN" altLang="en-US" sz="1600" b="1" dirty="0">
                <a:latin typeface="微软雅黑" panose="020B0503020204020204" charset="-122"/>
                <a:ea typeface="微软雅黑" panose="020B0503020204020204" charset="-122"/>
              </a:rPr>
              <a:t>营销</a:t>
            </a:r>
          </a:p>
        </p:txBody>
      </p:sp>
      <p:sp>
        <p:nvSpPr>
          <p:cNvPr id="283" name="TextBox 282"/>
          <p:cNvSpPr txBox="1"/>
          <p:nvPr/>
        </p:nvSpPr>
        <p:spPr>
          <a:xfrm>
            <a:off x="4726354" y="3956092"/>
            <a:ext cx="595035" cy="338554"/>
          </a:xfrm>
          <a:prstGeom prst="rect">
            <a:avLst/>
          </a:prstGeom>
          <a:noFill/>
        </p:spPr>
        <p:txBody>
          <a:bodyPr wrap="none" rtlCol="0">
            <a:spAutoFit/>
          </a:bodyPr>
          <a:lstStyle/>
          <a:p>
            <a:r>
              <a:rPr lang="zh-CN" altLang="en-US" sz="1600" b="1" dirty="0">
                <a:latin typeface="微软雅黑" panose="020B0503020204020204" charset="-122"/>
                <a:ea typeface="微软雅黑" panose="020B0503020204020204" charset="-122"/>
              </a:rPr>
              <a:t>工厂</a:t>
            </a:r>
          </a:p>
        </p:txBody>
      </p:sp>
      <p:sp>
        <p:nvSpPr>
          <p:cNvPr id="284" name="TextBox 283"/>
          <p:cNvSpPr txBox="1"/>
          <p:nvPr/>
        </p:nvSpPr>
        <p:spPr>
          <a:xfrm>
            <a:off x="8145105" y="3956092"/>
            <a:ext cx="595035" cy="338554"/>
          </a:xfrm>
          <a:prstGeom prst="rect">
            <a:avLst/>
          </a:prstGeom>
          <a:noFill/>
        </p:spPr>
        <p:txBody>
          <a:bodyPr wrap="none" rtlCol="0">
            <a:spAutoFit/>
          </a:bodyPr>
          <a:lstStyle/>
          <a:p>
            <a:r>
              <a:rPr lang="zh-CN" altLang="en-US" sz="1600" b="1" dirty="0">
                <a:latin typeface="微软雅黑" panose="020B0503020204020204" charset="-122"/>
                <a:ea typeface="微软雅黑" panose="020B0503020204020204" charset="-122"/>
              </a:rPr>
              <a:t>采购</a:t>
            </a:r>
          </a:p>
        </p:txBody>
      </p:sp>
      <p:sp>
        <p:nvSpPr>
          <p:cNvPr id="285" name="TextBox 284"/>
          <p:cNvSpPr txBox="1"/>
          <p:nvPr/>
        </p:nvSpPr>
        <p:spPr>
          <a:xfrm>
            <a:off x="2044750" y="1098014"/>
            <a:ext cx="595035" cy="338554"/>
          </a:xfrm>
          <a:prstGeom prst="rect">
            <a:avLst/>
          </a:prstGeom>
          <a:noFill/>
        </p:spPr>
        <p:txBody>
          <a:bodyPr wrap="none" rtlCol="0">
            <a:spAutoFit/>
          </a:bodyPr>
          <a:lstStyle/>
          <a:p>
            <a:r>
              <a:rPr lang="zh-CN" altLang="en-US" sz="1600" b="1" dirty="0">
                <a:latin typeface="微软雅黑" panose="020B0503020204020204" charset="-122"/>
                <a:ea typeface="微软雅黑" panose="020B0503020204020204" charset="-122"/>
              </a:rPr>
              <a:t>营销</a:t>
            </a:r>
          </a:p>
        </p:txBody>
      </p:sp>
      <p:sp>
        <p:nvSpPr>
          <p:cNvPr id="286" name="TextBox 285"/>
          <p:cNvSpPr txBox="1"/>
          <p:nvPr/>
        </p:nvSpPr>
        <p:spPr>
          <a:xfrm>
            <a:off x="476503" y="3955534"/>
            <a:ext cx="595035" cy="338554"/>
          </a:xfrm>
          <a:prstGeom prst="rect">
            <a:avLst/>
          </a:prstGeom>
          <a:noFill/>
        </p:spPr>
        <p:txBody>
          <a:bodyPr wrap="none" rtlCol="0">
            <a:spAutoFit/>
          </a:bodyPr>
          <a:lstStyle/>
          <a:p>
            <a:r>
              <a:rPr lang="zh-CN" altLang="en-US" sz="1600" b="1" dirty="0">
                <a:latin typeface="微软雅黑" panose="020B0503020204020204" charset="-122"/>
                <a:ea typeface="微软雅黑" panose="020B0503020204020204" charset="-122"/>
              </a:rPr>
              <a:t>工厂</a:t>
            </a:r>
          </a:p>
        </p:txBody>
      </p:sp>
      <p:sp>
        <p:nvSpPr>
          <p:cNvPr id="287" name="TextBox 286"/>
          <p:cNvSpPr txBox="1"/>
          <p:nvPr/>
        </p:nvSpPr>
        <p:spPr>
          <a:xfrm>
            <a:off x="3691213" y="3955534"/>
            <a:ext cx="595035" cy="338554"/>
          </a:xfrm>
          <a:prstGeom prst="rect">
            <a:avLst/>
          </a:prstGeom>
          <a:noFill/>
        </p:spPr>
        <p:txBody>
          <a:bodyPr wrap="none" rtlCol="0">
            <a:spAutoFit/>
          </a:bodyPr>
          <a:lstStyle/>
          <a:p>
            <a:r>
              <a:rPr lang="zh-CN" altLang="en-US" sz="1600" b="1" dirty="0">
                <a:latin typeface="微软雅黑" panose="020B0503020204020204" charset="-122"/>
                <a:ea typeface="微软雅黑" panose="020B0503020204020204" charset="-122"/>
              </a:rPr>
              <a:t>采购</a:t>
            </a:r>
          </a:p>
        </p:txBody>
      </p:sp>
      <p:sp>
        <p:nvSpPr>
          <p:cNvPr id="288" name="TextBox 287"/>
          <p:cNvSpPr txBox="1"/>
          <p:nvPr/>
        </p:nvSpPr>
        <p:spPr>
          <a:xfrm>
            <a:off x="5869362" y="2313662"/>
            <a:ext cx="1415772" cy="338554"/>
          </a:xfrm>
          <a:prstGeom prst="rect">
            <a:avLst/>
          </a:prstGeom>
          <a:noFill/>
        </p:spPr>
        <p:txBody>
          <a:bodyPr wrap="none" rtlCol="0">
            <a:spAutoFit/>
          </a:bodyPr>
          <a:lstStyle/>
          <a:p>
            <a:r>
              <a:rPr lang="zh-CN" altLang="en-US" sz="1600" b="1" dirty="0">
                <a:latin typeface="微软雅黑" panose="020B0503020204020204" charset="-122"/>
                <a:ea typeface="微软雅黑" panose="020B0503020204020204" charset="-122"/>
              </a:rPr>
              <a:t>产销平衡部门</a:t>
            </a:r>
          </a:p>
        </p:txBody>
      </p:sp>
      <p:sp>
        <p:nvSpPr>
          <p:cNvPr id="289" name="TextBox 288"/>
          <p:cNvSpPr txBox="1"/>
          <p:nvPr/>
        </p:nvSpPr>
        <p:spPr>
          <a:xfrm>
            <a:off x="1699490" y="2602565"/>
            <a:ext cx="1415772" cy="338554"/>
          </a:xfrm>
          <a:prstGeom prst="rect">
            <a:avLst/>
          </a:prstGeom>
          <a:noFill/>
        </p:spPr>
        <p:txBody>
          <a:bodyPr wrap="none" rtlCol="0">
            <a:spAutoFit/>
          </a:bodyPr>
          <a:lstStyle>
            <a:defPPr>
              <a:defRPr lang="zh-CN"/>
            </a:defPPr>
            <a:lvl1pPr>
              <a:defRPr b="1">
                <a:latin typeface="微软雅黑" panose="020B0503020204020204" charset="-122"/>
                <a:ea typeface="微软雅黑" panose="020B050302020402020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产销平衡部门</a:t>
            </a:r>
          </a:p>
        </p:txBody>
      </p:sp>
      <p:sp>
        <p:nvSpPr>
          <p:cNvPr id="290" name="TextBox 289"/>
          <p:cNvSpPr txBox="1"/>
          <p:nvPr/>
        </p:nvSpPr>
        <p:spPr bwMode="auto">
          <a:xfrm>
            <a:off x="4143372" y="2312460"/>
            <a:ext cx="720069" cy="584775"/>
          </a:xfrm>
          <a:prstGeom prst="rect">
            <a:avLst/>
          </a:prstGeom>
          <a:noFill/>
          <a:ln>
            <a:noFill/>
          </a:ln>
        </p:spPr>
        <p:txBody>
          <a:bodyPr wrap="none" rtlCol="0">
            <a:spAutoFit/>
          </a:bodyPr>
          <a:lstStyle/>
          <a:p>
            <a:r>
              <a:rPr kumimoji="1" lang="en-US" altLang="zh-CN" sz="3200" b="1" dirty="0">
                <a:solidFill>
                  <a:srgbClr val="000000"/>
                </a:solidFill>
                <a:latin typeface="微软雅黑" panose="020B0503020204020204" charset="-122"/>
                <a:ea typeface="微软雅黑" panose="020B0503020204020204" charset="-122"/>
                <a:cs typeface="微软雅黑" panose="020B0503020204020204" charset="-122"/>
              </a:rPr>
              <a:t>VS</a:t>
            </a:r>
            <a:endParaRPr kumimoji="1" lang="zh-CN" altLang="en-US" sz="3200" b="1"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从整体集成计划体系来看，目前主要问题集中在</a:t>
            </a:r>
            <a:r>
              <a:rPr dirty="0"/>
              <a:t>8</a:t>
            </a:r>
            <a:r>
              <a:rPr lang="zh-CN" altLang="en-US" dirty="0"/>
              <a:t>个方面</a:t>
            </a:r>
          </a:p>
        </p:txBody>
      </p:sp>
      <p:grpSp>
        <p:nvGrpSpPr>
          <p:cNvPr id="2" name="组合 149"/>
          <p:cNvGrpSpPr/>
          <p:nvPr/>
        </p:nvGrpSpPr>
        <p:grpSpPr>
          <a:xfrm>
            <a:off x="357158" y="1214422"/>
            <a:ext cx="8429684" cy="5110178"/>
            <a:chOff x="357158" y="1214422"/>
            <a:chExt cx="8429684" cy="5110178"/>
          </a:xfrm>
        </p:grpSpPr>
        <p:sp>
          <p:nvSpPr>
            <p:cNvPr id="31" name="五边形 30"/>
            <p:cNvSpPr/>
            <p:nvPr/>
          </p:nvSpPr>
          <p:spPr bwMode="auto">
            <a:xfrm>
              <a:off x="3929058" y="1508112"/>
              <a:ext cx="4714908" cy="1214446"/>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5.5</a:t>
              </a:r>
              <a:r>
                <a:rPr lang="zh-CN" altLang="en-US" sz="1100" b="1" dirty="0">
                  <a:solidFill>
                    <a:srgbClr val="000000"/>
                  </a:solidFill>
                  <a:latin typeface="微软雅黑" panose="020B0503020204020204" charset="-122"/>
                  <a:ea typeface="微软雅黑" panose="020B0503020204020204" charset="-122"/>
                </a:rPr>
                <a:t>采购执行</a:t>
              </a:r>
            </a:p>
          </p:txBody>
        </p:sp>
        <p:sp>
          <p:nvSpPr>
            <p:cNvPr id="28" name="五边形 27"/>
            <p:cNvSpPr/>
            <p:nvPr/>
          </p:nvSpPr>
          <p:spPr bwMode="auto">
            <a:xfrm>
              <a:off x="1643042" y="1508112"/>
              <a:ext cx="2214578" cy="1215131"/>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5.2</a:t>
              </a:r>
              <a:r>
                <a:rPr lang="zh-CN" altLang="en-US" sz="1100" b="1" dirty="0">
                  <a:solidFill>
                    <a:srgbClr val="000000"/>
                  </a:solidFill>
                  <a:latin typeface="微软雅黑" panose="020B0503020204020204" charset="-122"/>
                  <a:ea typeface="微软雅黑" panose="020B0503020204020204" charset="-122"/>
                </a:rPr>
                <a:t>供应链计划管理</a:t>
              </a:r>
            </a:p>
          </p:txBody>
        </p:sp>
        <p:sp>
          <p:nvSpPr>
            <p:cNvPr id="5" name="矩形 4"/>
            <p:cNvSpPr/>
            <p:nvPr/>
          </p:nvSpPr>
          <p:spPr bwMode="auto">
            <a:xfrm>
              <a:off x="357158" y="1214422"/>
              <a:ext cx="1143008" cy="5110178"/>
            </a:xfrm>
            <a:prstGeom prst="rect">
              <a:avLst/>
            </a:prstGeom>
            <a:noFill/>
            <a:ln w="28575">
              <a:solidFill>
                <a:schemeClr val="accent1"/>
              </a:solid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4.0</a:t>
              </a:r>
              <a:r>
                <a:rPr lang="zh-CN" altLang="en-US" sz="1100" b="1" dirty="0">
                  <a:solidFill>
                    <a:srgbClr val="000000"/>
                  </a:solidFill>
                  <a:latin typeface="微软雅黑" panose="020B0503020204020204" charset="-122"/>
                  <a:ea typeface="微软雅黑" panose="020B0503020204020204" charset="-122"/>
                </a:rPr>
                <a:t>营销与服务</a:t>
              </a:r>
            </a:p>
          </p:txBody>
        </p:sp>
        <p:sp>
          <p:nvSpPr>
            <p:cNvPr id="6" name="五边形 5"/>
            <p:cNvSpPr/>
            <p:nvPr/>
          </p:nvSpPr>
          <p:spPr bwMode="auto">
            <a:xfrm>
              <a:off x="428596" y="1508112"/>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4.1</a:t>
              </a:r>
              <a:r>
                <a:rPr lang="zh-CN" altLang="en-US" sz="1100" b="1" dirty="0">
                  <a:solidFill>
                    <a:srgbClr val="000000"/>
                  </a:solidFill>
                  <a:latin typeface="微软雅黑" panose="020B0503020204020204" charset="-122"/>
                  <a:ea typeface="微软雅黑" panose="020B0503020204020204" charset="-122"/>
                </a:rPr>
                <a:t>市场管理</a:t>
              </a:r>
            </a:p>
          </p:txBody>
        </p:sp>
        <p:sp>
          <p:nvSpPr>
            <p:cNvPr id="7" name="五边形 6"/>
            <p:cNvSpPr/>
            <p:nvPr/>
          </p:nvSpPr>
          <p:spPr bwMode="auto">
            <a:xfrm>
              <a:off x="428596" y="1854804"/>
              <a:ext cx="976607" cy="1609736"/>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4.2</a:t>
              </a:r>
              <a:r>
                <a:rPr lang="zh-CN" altLang="en-US" sz="1100" b="1" dirty="0">
                  <a:solidFill>
                    <a:srgbClr val="000000"/>
                  </a:solidFill>
                  <a:latin typeface="微软雅黑" panose="020B0503020204020204" charset="-122"/>
                  <a:ea typeface="微软雅黑" panose="020B0503020204020204" charset="-122"/>
                </a:rPr>
                <a:t>销售过程管理</a:t>
              </a:r>
            </a:p>
          </p:txBody>
        </p:sp>
        <p:sp>
          <p:nvSpPr>
            <p:cNvPr id="10" name="五边形 9"/>
            <p:cNvSpPr/>
            <p:nvPr/>
          </p:nvSpPr>
          <p:spPr bwMode="auto">
            <a:xfrm>
              <a:off x="4075277" y="2327720"/>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5.5.1</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计划管理</a:t>
              </a:r>
            </a:p>
          </p:txBody>
        </p:sp>
        <p:sp>
          <p:nvSpPr>
            <p:cNvPr id="11" name="五边形 10"/>
            <p:cNvSpPr/>
            <p:nvPr/>
          </p:nvSpPr>
          <p:spPr bwMode="auto">
            <a:xfrm>
              <a:off x="1735117" y="2327720"/>
              <a:ext cx="835145"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5.2.3</a:t>
              </a:r>
              <a:r>
                <a:rPr lang="zh-CN" altLang="en-US" sz="900" dirty="0">
                  <a:solidFill>
                    <a:srgbClr val="000000"/>
                  </a:solidFill>
                  <a:latin typeface="微软雅黑" panose="020B0503020204020204" charset="-122"/>
                  <a:ea typeface="微软雅黑" panose="020B0503020204020204" charset="-122"/>
                </a:rPr>
                <a:t>资源</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配置</a:t>
              </a:r>
            </a:p>
          </p:txBody>
        </p:sp>
        <p:sp>
          <p:nvSpPr>
            <p:cNvPr id="12" name="五边形 11"/>
            <p:cNvSpPr/>
            <p:nvPr/>
          </p:nvSpPr>
          <p:spPr bwMode="auto">
            <a:xfrm>
              <a:off x="2879544" y="2327720"/>
              <a:ext cx="8352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5.2.4</a:t>
              </a:r>
              <a:r>
                <a:rPr lang="zh-CN" altLang="en-US" sz="900" dirty="0">
                  <a:solidFill>
                    <a:srgbClr val="000000"/>
                  </a:solidFill>
                  <a:latin typeface="微软雅黑" panose="020B0503020204020204" charset="-122"/>
                  <a:ea typeface="微软雅黑" panose="020B0503020204020204" charset="-122"/>
                </a:rPr>
                <a:t>生产</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计划创建</a:t>
              </a:r>
            </a:p>
          </p:txBody>
        </p:sp>
        <p:sp>
          <p:nvSpPr>
            <p:cNvPr id="14" name="五边形 13"/>
            <p:cNvSpPr/>
            <p:nvPr/>
          </p:nvSpPr>
          <p:spPr bwMode="auto">
            <a:xfrm>
              <a:off x="2878126" y="1831964"/>
              <a:ext cx="836618"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5.2.2</a:t>
              </a:r>
              <a:r>
                <a:rPr lang="zh-CN" altLang="en-US" sz="900" dirty="0">
                  <a:solidFill>
                    <a:srgbClr val="000000"/>
                  </a:solidFill>
                  <a:latin typeface="微软雅黑" panose="020B0503020204020204" charset="-122"/>
                  <a:ea typeface="微软雅黑" panose="020B0503020204020204" charset="-122"/>
                </a:rPr>
                <a:t>需求</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计划制定</a:t>
              </a:r>
            </a:p>
          </p:txBody>
        </p:sp>
        <p:sp>
          <p:nvSpPr>
            <p:cNvPr id="16" name="五边形 15"/>
            <p:cNvSpPr/>
            <p:nvPr/>
          </p:nvSpPr>
          <p:spPr bwMode="auto">
            <a:xfrm>
              <a:off x="496391" y="3108006"/>
              <a:ext cx="860899"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4.2.3</a:t>
              </a:r>
              <a:r>
                <a:rPr lang="zh-CN" altLang="en-US" sz="900" dirty="0">
                  <a:solidFill>
                    <a:srgbClr val="000000"/>
                  </a:solidFill>
                  <a:latin typeface="微软雅黑" panose="020B0503020204020204" charset="-122"/>
                  <a:ea typeface="微软雅黑" panose="020B0503020204020204" charset="-122"/>
                </a:rPr>
                <a:t>合同执行管理</a:t>
              </a:r>
            </a:p>
          </p:txBody>
        </p:sp>
        <p:sp>
          <p:nvSpPr>
            <p:cNvPr id="17" name="五边形 16"/>
            <p:cNvSpPr/>
            <p:nvPr/>
          </p:nvSpPr>
          <p:spPr bwMode="auto">
            <a:xfrm>
              <a:off x="428596" y="3523232"/>
              <a:ext cx="976607" cy="801693"/>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4.3</a:t>
              </a:r>
              <a:r>
                <a:rPr lang="zh-CN" altLang="en-US" sz="1100" b="1" dirty="0">
                  <a:solidFill>
                    <a:srgbClr val="000000"/>
                  </a:solidFill>
                  <a:latin typeface="微软雅黑" panose="020B0503020204020204" charset="-122"/>
                  <a:ea typeface="微软雅黑" panose="020B0503020204020204" charset="-122"/>
                </a:rPr>
                <a:t>服务与配件管理</a:t>
              </a:r>
            </a:p>
          </p:txBody>
        </p:sp>
        <p:sp>
          <p:nvSpPr>
            <p:cNvPr id="18" name="五边形 17"/>
            <p:cNvSpPr/>
            <p:nvPr/>
          </p:nvSpPr>
          <p:spPr bwMode="auto">
            <a:xfrm>
              <a:off x="500533" y="3946528"/>
              <a:ext cx="860400" cy="313056"/>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4.3.5</a:t>
              </a:r>
              <a:r>
                <a:rPr lang="zh-CN" altLang="en-US" sz="900" dirty="0">
                  <a:solidFill>
                    <a:srgbClr val="000000"/>
                  </a:solidFill>
                  <a:latin typeface="微软雅黑" panose="020B0503020204020204" charset="-122"/>
                  <a:ea typeface="微软雅黑" panose="020B0503020204020204" charset="-122"/>
                </a:rPr>
                <a:t>配件计划供应</a:t>
              </a:r>
            </a:p>
          </p:txBody>
        </p:sp>
        <p:sp>
          <p:nvSpPr>
            <p:cNvPr id="20" name="五边形 19"/>
            <p:cNvSpPr/>
            <p:nvPr/>
          </p:nvSpPr>
          <p:spPr bwMode="auto">
            <a:xfrm>
              <a:off x="428596" y="4383617"/>
              <a:ext cx="976607" cy="360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4.4</a:t>
              </a:r>
              <a:r>
                <a:rPr lang="zh-CN" altLang="en-US" sz="1100" b="1" dirty="0">
                  <a:solidFill>
                    <a:srgbClr val="000000"/>
                  </a:solidFill>
                  <a:latin typeface="微软雅黑" panose="020B0503020204020204" charset="-122"/>
                  <a:ea typeface="微软雅黑" panose="020B0503020204020204" charset="-122"/>
                </a:rPr>
                <a:t>代理商</a:t>
              </a:r>
              <a:endParaRPr lang="en-US" altLang="zh-CN" sz="1100" b="1" dirty="0">
                <a:solidFill>
                  <a:srgbClr val="000000"/>
                </a:solidFill>
                <a:latin typeface="微软雅黑" panose="020B0503020204020204" charset="-122"/>
                <a:ea typeface="微软雅黑" panose="020B0503020204020204" charset="-122"/>
              </a:endParaRPr>
            </a:p>
            <a:p>
              <a:pPr algn="ctr">
                <a:buClr>
                  <a:schemeClr val="tx1"/>
                </a:buClr>
              </a:pPr>
              <a:r>
                <a:rPr lang="zh-CN" altLang="en-US" sz="1100" b="1" dirty="0">
                  <a:solidFill>
                    <a:srgbClr val="000000"/>
                  </a:solidFill>
                  <a:latin typeface="微软雅黑" panose="020B0503020204020204" charset="-122"/>
                  <a:ea typeface="微软雅黑" panose="020B0503020204020204" charset="-122"/>
                </a:rPr>
                <a:t>管理</a:t>
              </a:r>
            </a:p>
          </p:txBody>
        </p:sp>
        <p:sp>
          <p:nvSpPr>
            <p:cNvPr id="21" name="五边形 20"/>
            <p:cNvSpPr/>
            <p:nvPr/>
          </p:nvSpPr>
          <p:spPr bwMode="auto">
            <a:xfrm>
              <a:off x="428596" y="4802309"/>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4.5</a:t>
              </a:r>
              <a:r>
                <a:rPr lang="zh-CN" altLang="en-US" sz="1100" b="1" dirty="0">
                  <a:solidFill>
                    <a:srgbClr val="000000"/>
                  </a:solidFill>
                  <a:latin typeface="微软雅黑" panose="020B0503020204020204" charset="-122"/>
                  <a:ea typeface="微软雅黑" panose="020B0503020204020204" charset="-122"/>
                </a:rPr>
                <a:t>客户管理</a:t>
              </a:r>
            </a:p>
          </p:txBody>
        </p:sp>
        <p:sp>
          <p:nvSpPr>
            <p:cNvPr id="22" name="五边形 21"/>
            <p:cNvSpPr/>
            <p:nvPr/>
          </p:nvSpPr>
          <p:spPr bwMode="auto">
            <a:xfrm>
              <a:off x="428596" y="5149001"/>
              <a:ext cx="976607" cy="360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4.6</a:t>
              </a:r>
              <a:r>
                <a:rPr lang="zh-CN" altLang="en-US" sz="1100" b="1" dirty="0">
                  <a:solidFill>
                    <a:srgbClr val="000000"/>
                  </a:solidFill>
                  <a:latin typeface="微软雅黑" panose="020B0503020204020204" charset="-122"/>
                  <a:ea typeface="微软雅黑" panose="020B0503020204020204" charset="-122"/>
                </a:rPr>
                <a:t>主数据</a:t>
              </a:r>
              <a:endParaRPr lang="en-US" altLang="zh-CN" sz="1100" b="1" dirty="0">
                <a:solidFill>
                  <a:srgbClr val="000000"/>
                </a:solidFill>
                <a:latin typeface="微软雅黑" panose="020B0503020204020204" charset="-122"/>
                <a:ea typeface="微软雅黑" panose="020B0503020204020204" charset="-122"/>
              </a:endParaRPr>
            </a:p>
            <a:p>
              <a:pPr algn="ctr">
                <a:buClr>
                  <a:schemeClr val="tx1"/>
                </a:buClr>
              </a:pPr>
              <a:r>
                <a:rPr lang="zh-CN" altLang="en-US" sz="1100" b="1" dirty="0">
                  <a:solidFill>
                    <a:srgbClr val="000000"/>
                  </a:solidFill>
                  <a:latin typeface="微软雅黑" panose="020B0503020204020204" charset="-122"/>
                  <a:ea typeface="微软雅黑" panose="020B0503020204020204" charset="-122"/>
                </a:rPr>
                <a:t>管理</a:t>
              </a:r>
            </a:p>
          </p:txBody>
        </p:sp>
        <p:sp>
          <p:nvSpPr>
            <p:cNvPr id="23" name="五边形 22"/>
            <p:cNvSpPr/>
            <p:nvPr/>
          </p:nvSpPr>
          <p:spPr bwMode="auto">
            <a:xfrm>
              <a:off x="428596" y="5567693"/>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4.7</a:t>
              </a:r>
              <a:r>
                <a:rPr lang="zh-CN" altLang="en-US" sz="1100" b="1" dirty="0">
                  <a:solidFill>
                    <a:srgbClr val="000000"/>
                  </a:solidFill>
                  <a:latin typeface="微软雅黑" panose="020B0503020204020204" charset="-122"/>
                  <a:ea typeface="微软雅黑" panose="020B0503020204020204" charset="-122"/>
                </a:rPr>
                <a:t>设备管理</a:t>
              </a:r>
            </a:p>
          </p:txBody>
        </p:sp>
        <p:sp>
          <p:nvSpPr>
            <p:cNvPr id="24" name="五边形 23"/>
            <p:cNvSpPr/>
            <p:nvPr/>
          </p:nvSpPr>
          <p:spPr bwMode="auto">
            <a:xfrm>
              <a:off x="428596" y="5914382"/>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4.8</a:t>
              </a:r>
              <a:r>
                <a:rPr lang="zh-CN" altLang="en-US" sz="1100" b="1" dirty="0">
                  <a:solidFill>
                    <a:srgbClr val="000000"/>
                  </a:solidFill>
                  <a:latin typeface="微软雅黑" panose="020B0503020204020204" charset="-122"/>
                  <a:ea typeface="微软雅黑" panose="020B0503020204020204" charset="-122"/>
                </a:rPr>
                <a:t>库存管理</a:t>
              </a:r>
            </a:p>
          </p:txBody>
        </p:sp>
        <p:sp>
          <p:nvSpPr>
            <p:cNvPr id="26" name="矩形 25"/>
            <p:cNvSpPr/>
            <p:nvPr/>
          </p:nvSpPr>
          <p:spPr bwMode="auto">
            <a:xfrm>
              <a:off x="1571604" y="1214422"/>
              <a:ext cx="7215238" cy="5110178"/>
            </a:xfrm>
            <a:prstGeom prst="rect">
              <a:avLst/>
            </a:prstGeom>
            <a:noFill/>
            <a:ln w="28575">
              <a:solidFill>
                <a:schemeClr val="accent1"/>
              </a:solid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5.0</a:t>
              </a:r>
              <a:r>
                <a:rPr lang="zh-CN" altLang="en-US" sz="1100" b="1" dirty="0">
                  <a:solidFill>
                    <a:srgbClr val="000000"/>
                  </a:solidFill>
                  <a:latin typeface="微软雅黑" panose="020B0503020204020204" charset="-122"/>
                  <a:ea typeface="微软雅黑" panose="020B0503020204020204" charset="-122"/>
                </a:rPr>
                <a:t>制造与商务</a:t>
              </a:r>
            </a:p>
          </p:txBody>
        </p:sp>
        <p:sp>
          <p:nvSpPr>
            <p:cNvPr id="32" name="五边形 31"/>
            <p:cNvSpPr/>
            <p:nvPr/>
          </p:nvSpPr>
          <p:spPr bwMode="auto">
            <a:xfrm>
              <a:off x="4533900" y="2793996"/>
              <a:ext cx="4110066" cy="2000264"/>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5.6</a:t>
              </a:r>
              <a:r>
                <a:rPr lang="zh-CN" altLang="en-US" sz="1100" b="1" dirty="0">
                  <a:solidFill>
                    <a:srgbClr val="000000"/>
                  </a:solidFill>
                  <a:latin typeface="微软雅黑" panose="020B0503020204020204" charset="-122"/>
                  <a:ea typeface="微软雅黑" panose="020B0503020204020204" charset="-122"/>
                </a:rPr>
                <a:t>物流管理</a:t>
              </a:r>
            </a:p>
          </p:txBody>
        </p:sp>
        <p:sp>
          <p:nvSpPr>
            <p:cNvPr id="33" name="五边形 32"/>
            <p:cNvSpPr/>
            <p:nvPr/>
          </p:nvSpPr>
          <p:spPr bwMode="auto">
            <a:xfrm>
              <a:off x="1643041" y="2793996"/>
              <a:ext cx="2824183" cy="2000264"/>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5.7</a:t>
              </a:r>
              <a:r>
                <a:rPr lang="zh-CN" altLang="en-US" sz="1100" b="1" dirty="0">
                  <a:solidFill>
                    <a:srgbClr val="000000"/>
                  </a:solidFill>
                  <a:latin typeface="微软雅黑" panose="020B0503020204020204" charset="-122"/>
                  <a:ea typeface="微软雅黑" panose="020B0503020204020204" charset="-122"/>
                </a:rPr>
                <a:t>制造管理</a:t>
              </a:r>
            </a:p>
          </p:txBody>
        </p:sp>
        <p:sp>
          <p:nvSpPr>
            <p:cNvPr id="34" name="五边形 33"/>
            <p:cNvSpPr/>
            <p:nvPr/>
          </p:nvSpPr>
          <p:spPr bwMode="auto">
            <a:xfrm>
              <a:off x="5023021" y="2327720"/>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5.5.2</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订单管理</a:t>
              </a:r>
            </a:p>
          </p:txBody>
        </p:sp>
        <p:sp>
          <p:nvSpPr>
            <p:cNvPr id="35" name="五边形 34"/>
            <p:cNvSpPr/>
            <p:nvPr/>
          </p:nvSpPr>
          <p:spPr bwMode="auto">
            <a:xfrm>
              <a:off x="4075276" y="1831964"/>
              <a:ext cx="792000" cy="313200"/>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5.5.3</a:t>
              </a:r>
              <a:r>
                <a:rPr lang="zh-CN" altLang="en-US" sz="900" dirty="0">
                  <a:solidFill>
                    <a:srgbClr val="000000"/>
                  </a:solidFill>
                  <a:latin typeface="微软雅黑" panose="020B0503020204020204" charset="-122"/>
                  <a:ea typeface="微软雅黑" panose="020B0503020204020204" charset="-122"/>
                </a:rPr>
                <a:t>物资</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进口</a:t>
              </a:r>
            </a:p>
          </p:txBody>
        </p:sp>
        <p:sp>
          <p:nvSpPr>
            <p:cNvPr id="36" name="五边形 35"/>
            <p:cNvSpPr/>
            <p:nvPr/>
          </p:nvSpPr>
          <p:spPr bwMode="auto">
            <a:xfrm>
              <a:off x="4985275" y="1831964"/>
              <a:ext cx="792000" cy="313200"/>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5.5.4</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异常管理</a:t>
              </a:r>
            </a:p>
          </p:txBody>
        </p:sp>
        <p:sp>
          <p:nvSpPr>
            <p:cNvPr id="37" name="五边形 36"/>
            <p:cNvSpPr/>
            <p:nvPr/>
          </p:nvSpPr>
          <p:spPr bwMode="auto">
            <a:xfrm>
              <a:off x="5904798" y="1831964"/>
              <a:ext cx="953217" cy="313200"/>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5.5.5</a:t>
              </a:r>
              <a:r>
                <a:rPr lang="zh-CN" altLang="en-US" sz="900" dirty="0">
                  <a:solidFill>
                    <a:srgbClr val="000000"/>
                  </a:solidFill>
                  <a:latin typeface="微软雅黑" panose="020B0503020204020204" charset="-122"/>
                  <a:ea typeface="微软雅黑" panose="020B0503020204020204" charset="-122"/>
                </a:rPr>
                <a:t>采购报账</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付款</a:t>
              </a:r>
            </a:p>
          </p:txBody>
        </p:sp>
        <p:sp>
          <p:nvSpPr>
            <p:cNvPr id="38" name="五边形 37"/>
            <p:cNvSpPr/>
            <p:nvPr/>
          </p:nvSpPr>
          <p:spPr bwMode="auto">
            <a:xfrm>
              <a:off x="5904799" y="2327720"/>
              <a:ext cx="928694" cy="313200"/>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5.5.6</a:t>
              </a:r>
              <a:r>
                <a:rPr lang="zh-CN" altLang="en-US" sz="900" dirty="0">
                  <a:solidFill>
                    <a:srgbClr val="000000"/>
                  </a:solidFill>
                  <a:latin typeface="微软雅黑" panose="020B0503020204020204" charset="-122"/>
                  <a:ea typeface="微软雅黑" panose="020B0503020204020204" charset="-122"/>
                </a:rPr>
                <a:t>废旧及呆滞物资处理</a:t>
              </a:r>
            </a:p>
          </p:txBody>
        </p:sp>
        <p:sp>
          <p:nvSpPr>
            <p:cNvPr id="39" name="五边形 38"/>
            <p:cNvSpPr/>
            <p:nvPr/>
          </p:nvSpPr>
          <p:spPr bwMode="auto">
            <a:xfrm>
              <a:off x="6929454" y="1831964"/>
              <a:ext cx="792000" cy="313200"/>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5.5.7</a:t>
              </a:r>
              <a:r>
                <a:rPr lang="zh-CN" altLang="en-US" sz="900" dirty="0">
                  <a:solidFill>
                    <a:srgbClr val="000000"/>
                  </a:solidFill>
                  <a:latin typeface="微软雅黑" panose="020B0503020204020204" charset="-122"/>
                  <a:ea typeface="微软雅黑" panose="020B0503020204020204" charset="-122"/>
                </a:rPr>
                <a:t>合同</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0" name="五边形 39"/>
            <p:cNvSpPr/>
            <p:nvPr/>
          </p:nvSpPr>
          <p:spPr bwMode="auto">
            <a:xfrm>
              <a:off x="6929454" y="2327720"/>
              <a:ext cx="792000" cy="313200"/>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5.5.8</a:t>
              </a:r>
              <a:r>
                <a:rPr lang="zh-CN" altLang="en-US" sz="900" dirty="0">
                  <a:solidFill>
                    <a:srgbClr val="000000"/>
                  </a:solidFill>
                  <a:latin typeface="微软雅黑" panose="020B0503020204020204" charset="-122"/>
                  <a:ea typeface="微软雅黑" panose="020B0503020204020204" charset="-122"/>
                </a:rPr>
                <a:t>合规</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1" name="五边形 40"/>
            <p:cNvSpPr/>
            <p:nvPr/>
          </p:nvSpPr>
          <p:spPr bwMode="auto">
            <a:xfrm>
              <a:off x="7780528" y="1831964"/>
              <a:ext cx="792000" cy="313200"/>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5.5.9</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数据管理</a:t>
              </a:r>
            </a:p>
          </p:txBody>
        </p:sp>
        <p:sp>
          <p:nvSpPr>
            <p:cNvPr id="42" name="五边形 41"/>
            <p:cNvSpPr/>
            <p:nvPr/>
          </p:nvSpPr>
          <p:spPr bwMode="auto">
            <a:xfrm>
              <a:off x="4652963" y="4365632"/>
              <a:ext cx="972000" cy="313056"/>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5.6.1</a:t>
              </a:r>
              <a:r>
                <a:rPr lang="zh-CN" altLang="en-US" sz="900" dirty="0">
                  <a:solidFill>
                    <a:srgbClr val="000000"/>
                  </a:solidFill>
                  <a:latin typeface="微软雅黑" panose="020B0503020204020204" charset="-122"/>
                  <a:ea typeface="微软雅黑" panose="020B0503020204020204" charset="-122"/>
                </a:rPr>
                <a:t>物流运营</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规划</a:t>
              </a:r>
            </a:p>
          </p:txBody>
        </p:sp>
        <p:sp>
          <p:nvSpPr>
            <p:cNvPr id="43" name="五边形 42"/>
            <p:cNvSpPr/>
            <p:nvPr/>
          </p:nvSpPr>
          <p:spPr bwMode="auto">
            <a:xfrm>
              <a:off x="4652963" y="3141661"/>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5.6.2</a:t>
              </a:r>
              <a:r>
                <a:rPr lang="zh-CN" altLang="en-US" sz="900" dirty="0">
                  <a:solidFill>
                    <a:srgbClr val="000000"/>
                  </a:solidFill>
                  <a:latin typeface="微软雅黑" panose="020B0503020204020204" charset="-122"/>
                  <a:ea typeface="微软雅黑" panose="020B0503020204020204" charset="-122"/>
                </a:rPr>
                <a:t>入厂物流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计划执行</a:t>
              </a:r>
            </a:p>
          </p:txBody>
        </p:sp>
        <p:sp>
          <p:nvSpPr>
            <p:cNvPr id="44" name="五边形 43"/>
            <p:cNvSpPr/>
            <p:nvPr/>
          </p:nvSpPr>
          <p:spPr bwMode="auto">
            <a:xfrm>
              <a:off x="6028892" y="3141661"/>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5.6.3</a:t>
              </a:r>
              <a:r>
                <a:rPr lang="zh-CN" altLang="en-US" sz="900" dirty="0">
                  <a:solidFill>
                    <a:srgbClr val="000000"/>
                  </a:solidFill>
                  <a:latin typeface="微软雅黑" panose="020B0503020204020204" charset="-122"/>
                  <a:ea typeface="微软雅黑" panose="020B0503020204020204" charset="-122"/>
                </a:rPr>
                <a:t>入厂物流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5" name="五边形 44"/>
            <p:cNvSpPr/>
            <p:nvPr/>
          </p:nvSpPr>
          <p:spPr bwMode="auto">
            <a:xfrm>
              <a:off x="4652963" y="3651252"/>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5.6.4</a:t>
              </a:r>
              <a:r>
                <a:rPr lang="zh-CN" altLang="en-US" sz="900" dirty="0">
                  <a:solidFill>
                    <a:srgbClr val="000000"/>
                  </a:solidFill>
                  <a:latin typeface="微软雅黑" panose="020B0503020204020204" charset="-122"/>
                  <a:ea typeface="微软雅黑" panose="020B0503020204020204" charset="-122"/>
                </a:rPr>
                <a:t>仓库管理</a:t>
              </a:r>
            </a:p>
          </p:txBody>
        </p:sp>
        <p:sp>
          <p:nvSpPr>
            <p:cNvPr id="47" name="五边形 46"/>
            <p:cNvSpPr/>
            <p:nvPr/>
          </p:nvSpPr>
          <p:spPr bwMode="auto">
            <a:xfrm>
              <a:off x="7428624" y="3143248"/>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5.6.5</a:t>
              </a:r>
              <a:r>
                <a:rPr lang="zh-CN" altLang="en-US" sz="900" dirty="0">
                  <a:solidFill>
                    <a:srgbClr val="000000"/>
                  </a:solidFill>
                  <a:latin typeface="微软雅黑" panose="020B0503020204020204" charset="-122"/>
                  <a:ea typeface="微软雅黑" panose="020B0503020204020204" charset="-122"/>
                </a:rPr>
                <a:t>出厂物流计划执行</a:t>
              </a:r>
            </a:p>
          </p:txBody>
        </p:sp>
        <p:sp>
          <p:nvSpPr>
            <p:cNvPr id="48" name="五边形 47"/>
            <p:cNvSpPr/>
            <p:nvPr/>
          </p:nvSpPr>
          <p:spPr bwMode="auto">
            <a:xfrm>
              <a:off x="7428624" y="3651252"/>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5.6.6</a:t>
              </a:r>
              <a:r>
                <a:rPr lang="zh-CN" altLang="en-US" sz="900" dirty="0">
                  <a:solidFill>
                    <a:srgbClr val="000000"/>
                  </a:solidFill>
                  <a:latin typeface="微软雅黑" panose="020B0503020204020204" charset="-122"/>
                  <a:ea typeface="微软雅黑" panose="020B0503020204020204" charset="-122"/>
                </a:rPr>
                <a:t>出厂物流管理</a:t>
              </a:r>
            </a:p>
          </p:txBody>
        </p:sp>
        <p:sp>
          <p:nvSpPr>
            <p:cNvPr id="49" name="五边形 48"/>
            <p:cNvSpPr/>
            <p:nvPr/>
          </p:nvSpPr>
          <p:spPr bwMode="auto">
            <a:xfrm>
              <a:off x="5991434" y="4365632"/>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latin typeface="微软雅黑" panose="020B0503020204020204" charset="-122"/>
                  <a:ea typeface="微软雅黑" panose="020B0503020204020204" charset="-122"/>
                </a:rPr>
                <a:t>5.6.7</a:t>
              </a:r>
              <a:r>
                <a:rPr lang="zh-CN" altLang="en-US" sz="900" dirty="0">
                  <a:latin typeface="微软雅黑" panose="020B0503020204020204" charset="-122"/>
                  <a:ea typeface="微软雅黑" panose="020B0503020204020204" charset="-122"/>
                </a:rPr>
                <a:t>逆向物流</a:t>
              </a:r>
            </a:p>
          </p:txBody>
        </p:sp>
        <p:sp>
          <p:nvSpPr>
            <p:cNvPr id="50" name="五边形 49"/>
            <p:cNvSpPr/>
            <p:nvPr/>
          </p:nvSpPr>
          <p:spPr bwMode="auto">
            <a:xfrm>
              <a:off x="1735118" y="3131683"/>
              <a:ext cx="1114433"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5.7.1</a:t>
              </a:r>
              <a:r>
                <a:rPr lang="zh-CN" altLang="en-US" sz="900" dirty="0">
                  <a:solidFill>
                    <a:srgbClr val="000000"/>
                  </a:solidFill>
                  <a:latin typeface="微软雅黑" panose="020B0503020204020204" charset="-122"/>
                  <a:ea typeface="微软雅黑" panose="020B0503020204020204" charset="-122"/>
                </a:rPr>
                <a:t>制定工作中心小日程计划 </a:t>
              </a:r>
            </a:p>
          </p:txBody>
        </p:sp>
        <p:sp>
          <p:nvSpPr>
            <p:cNvPr id="51" name="五边形 50"/>
            <p:cNvSpPr/>
            <p:nvPr/>
          </p:nvSpPr>
          <p:spPr bwMode="auto">
            <a:xfrm>
              <a:off x="3357554" y="3137717"/>
              <a:ext cx="1000132"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5.7.2</a:t>
              </a:r>
              <a:r>
                <a:rPr lang="zh-CN" altLang="en-US" sz="900" dirty="0">
                  <a:solidFill>
                    <a:srgbClr val="000000"/>
                  </a:solidFill>
                  <a:latin typeface="微软雅黑" panose="020B0503020204020204" charset="-122"/>
                  <a:ea typeface="微软雅黑" panose="020B0503020204020204" charset="-122"/>
                </a:rPr>
                <a:t>厂内物流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及配送</a:t>
              </a:r>
            </a:p>
          </p:txBody>
        </p:sp>
        <p:sp>
          <p:nvSpPr>
            <p:cNvPr id="53" name="五边形 52"/>
            <p:cNvSpPr/>
            <p:nvPr/>
          </p:nvSpPr>
          <p:spPr bwMode="auto">
            <a:xfrm>
              <a:off x="3357554" y="3937004"/>
              <a:ext cx="1000132"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5.7.4</a:t>
              </a:r>
              <a:r>
                <a:rPr lang="zh-CN" altLang="en-US" sz="900" dirty="0">
                  <a:solidFill>
                    <a:srgbClr val="000000"/>
                  </a:solidFill>
                  <a:latin typeface="微软雅黑" panose="020B0503020204020204" charset="-122"/>
                  <a:ea typeface="微软雅黑" panose="020B0503020204020204" charset="-122"/>
                </a:rPr>
                <a:t>制造过程</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56" name="五边形 55"/>
            <p:cNvSpPr/>
            <p:nvPr/>
          </p:nvSpPr>
          <p:spPr bwMode="auto">
            <a:xfrm>
              <a:off x="3357554" y="4365632"/>
              <a:ext cx="1000132" cy="313056"/>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5.7.7</a:t>
              </a:r>
              <a:r>
                <a:rPr lang="zh-CN" altLang="en-US" sz="900" dirty="0">
                  <a:solidFill>
                    <a:srgbClr val="000000"/>
                  </a:solidFill>
                  <a:latin typeface="微软雅黑" panose="020B0503020204020204" charset="-122"/>
                  <a:ea typeface="微软雅黑" panose="020B0503020204020204" charset="-122"/>
                </a:rPr>
                <a:t>制造</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数据管理</a:t>
              </a:r>
            </a:p>
          </p:txBody>
        </p:sp>
        <p:cxnSp>
          <p:nvCxnSpPr>
            <p:cNvPr id="61" name="肘形连接符 60"/>
            <p:cNvCxnSpPr>
              <a:stCxn id="14" idx="2"/>
              <a:endCxn id="11" idx="0"/>
            </p:cNvCxnSpPr>
            <p:nvPr/>
          </p:nvCxnSpPr>
          <p:spPr bwMode="auto">
            <a:xfrm rot="5400000">
              <a:off x="2582776" y="1664497"/>
              <a:ext cx="182700" cy="1143746"/>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62" name="肘形连接符 61"/>
            <p:cNvCxnSpPr>
              <a:stCxn id="11" idx="3"/>
              <a:endCxn id="12" idx="1"/>
            </p:cNvCxnSpPr>
            <p:nvPr/>
          </p:nvCxnSpPr>
          <p:spPr bwMode="auto">
            <a:xfrm>
              <a:off x="2570262" y="2484248"/>
              <a:ext cx="309282" cy="7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67" name="肘形连接符 66"/>
            <p:cNvCxnSpPr>
              <a:stCxn id="12" idx="3"/>
              <a:endCxn id="10" idx="1"/>
            </p:cNvCxnSpPr>
            <p:nvPr/>
          </p:nvCxnSpPr>
          <p:spPr bwMode="auto">
            <a:xfrm>
              <a:off x="3714744" y="2484320"/>
              <a:ext cx="360533"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1" name="肘形连接符 70"/>
            <p:cNvCxnSpPr>
              <a:stCxn id="10" idx="3"/>
              <a:endCxn id="34" idx="1"/>
            </p:cNvCxnSpPr>
            <p:nvPr/>
          </p:nvCxnSpPr>
          <p:spPr bwMode="auto">
            <a:xfrm>
              <a:off x="4867277" y="2484320"/>
              <a:ext cx="155744"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4" name="肘形连接符 73"/>
            <p:cNvCxnSpPr>
              <a:stCxn id="34" idx="2"/>
              <a:endCxn id="44" idx="0"/>
            </p:cNvCxnSpPr>
            <p:nvPr/>
          </p:nvCxnSpPr>
          <p:spPr bwMode="auto">
            <a:xfrm rot="16200000" flipH="1">
              <a:off x="5666138" y="2343342"/>
              <a:ext cx="500741" cy="1095895"/>
            </a:xfrm>
            <a:prstGeom prst="bentConnector3">
              <a:avLst>
                <a:gd name="adj1" fmla="val 70290"/>
              </a:avLst>
            </a:prstGeom>
            <a:solidFill>
              <a:schemeClr val="accent1"/>
            </a:solidFill>
            <a:ln w="9525" cap="flat" cmpd="sng" algn="ctr">
              <a:solidFill>
                <a:schemeClr val="tx1"/>
              </a:solidFill>
              <a:prstDash val="solid"/>
              <a:round/>
              <a:headEnd type="none" w="med" len="med"/>
              <a:tailEnd type="arrow"/>
            </a:ln>
            <a:effectLst/>
          </p:spPr>
        </p:cxnSp>
        <p:cxnSp>
          <p:nvCxnSpPr>
            <p:cNvPr id="82" name="肘形连接符 73"/>
            <p:cNvCxnSpPr>
              <a:stCxn id="45" idx="1"/>
              <a:endCxn id="51" idx="3"/>
            </p:cNvCxnSpPr>
            <p:nvPr/>
          </p:nvCxnSpPr>
          <p:spPr bwMode="auto">
            <a:xfrm rot="10800000">
              <a:off x="4357687" y="3294246"/>
              <a:ext cx="295277" cy="513535"/>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88" name="肘形连接符 73"/>
            <p:cNvCxnSpPr>
              <a:stCxn id="51" idx="2"/>
              <a:endCxn id="53" idx="0"/>
            </p:cNvCxnSpPr>
            <p:nvPr/>
          </p:nvCxnSpPr>
          <p:spPr bwMode="auto">
            <a:xfrm rot="5400000">
              <a:off x="3564069" y="3693888"/>
              <a:ext cx="48623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2" name="肘形连接符 91"/>
            <p:cNvCxnSpPr>
              <a:stCxn id="44" idx="2"/>
              <a:endCxn id="45" idx="0"/>
            </p:cNvCxnSpPr>
            <p:nvPr/>
          </p:nvCxnSpPr>
          <p:spPr bwMode="auto">
            <a:xfrm rot="5400000">
              <a:off x="5678225" y="2865020"/>
              <a:ext cx="196535" cy="137592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95" name="肘形连接符 94"/>
            <p:cNvCxnSpPr>
              <a:stCxn id="43" idx="3"/>
              <a:endCxn id="44" idx="1"/>
            </p:cNvCxnSpPr>
            <p:nvPr/>
          </p:nvCxnSpPr>
          <p:spPr bwMode="auto">
            <a:xfrm>
              <a:off x="5624963" y="3298189"/>
              <a:ext cx="403929"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8" name="肘形连接符 97"/>
            <p:cNvCxnSpPr>
              <a:stCxn id="10" idx="2"/>
              <a:endCxn id="43" idx="0"/>
            </p:cNvCxnSpPr>
            <p:nvPr/>
          </p:nvCxnSpPr>
          <p:spPr bwMode="auto">
            <a:xfrm rot="16200000" flipH="1">
              <a:off x="4504302" y="2557435"/>
              <a:ext cx="500741" cy="667710"/>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1" name="肘形连接符 73"/>
            <p:cNvCxnSpPr>
              <a:stCxn id="12" idx="2"/>
              <a:endCxn id="50" idx="0"/>
            </p:cNvCxnSpPr>
            <p:nvPr/>
          </p:nvCxnSpPr>
          <p:spPr bwMode="auto">
            <a:xfrm rot="5400000">
              <a:off x="2498899" y="2383897"/>
              <a:ext cx="490763" cy="100480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4" name="肘形连接符 73"/>
            <p:cNvCxnSpPr>
              <a:stCxn id="50" idx="3"/>
              <a:endCxn id="53" idx="1"/>
            </p:cNvCxnSpPr>
            <p:nvPr/>
          </p:nvCxnSpPr>
          <p:spPr bwMode="auto">
            <a:xfrm>
              <a:off x="2849551" y="3288283"/>
              <a:ext cx="508003" cy="80524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9" name="肘形连接符 108"/>
            <p:cNvCxnSpPr>
              <a:stCxn id="53" idx="3"/>
              <a:endCxn id="48" idx="2"/>
            </p:cNvCxnSpPr>
            <p:nvPr/>
          </p:nvCxnSpPr>
          <p:spPr bwMode="auto">
            <a:xfrm flipV="1">
              <a:off x="4357686" y="3964308"/>
              <a:ext cx="3506502" cy="129224"/>
            </a:xfrm>
            <a:prstGeom prst="bentConnector2">
              <a:avLst/>
            </a:prstGeom>
            <a:solidFill>
              <a:schemeClr val="accent1"/>
            </a:solidFill>
            <a:ln w="9525" cap="flat" cmpd="sng" algn="ctr">
              <a:solidFill>
                <a:schemeClr val="tx1"/>
              </a:solidFill>
              <a:prstDash val="solid"/>
              <a:round/>
              <a:headEnd type="none" w="med" len="med"/>
              <a:tailEnd type="arrow"/>
            </a:ln>
            <a:effectLst/>
          </p:spPr>
        </p:cxnSp>
        <p:cxnSp>
          <p:nvCxnSpPr>
            <p:cNvPr id="114" name="肘形连接符 108"/>
            <p:cNvCxnSpPr>
              <a:stCxn id="47" idx="2"/>
              <a:endCxn id="48" idx="0"/>
            </p:cNvCxnSpPr>
            <p:nvPr/>
          </p:nvCxnSpPr>
          <p:spPr bwMode="auto">
            <a:xfrm rot="5400000">
              <a:off x="7766714" y="3553778"/>
              <a:ext cx="194948"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7" name="五边形 26"/>
            <p:cNvSpPr/>
            <p:nvPr/>
          </p:nvSpPr>
          <p:spPr bwMode="auto">
            <a:xfrm>
              <a:off x="1636722" y="4865698"/>
              <a:ext cx="2828946" cy="1362291"/>
            </a:xfrm>
            <a:prstGeom prst="homePlate">
              <a:avLst>
                <a:gd name="adj" fmla="val 0"/>
              </a:avLst>
            </a:prstGeom>
            <a:solidFill>
              <a:schemeClr val="bg1">
                <a:lumMod val="85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5.1</a:t>
              </a:r>
              <a:r>
                <a:rPr lang="zh-CN" altLang="en-US" sz="1100" b="1" dirty="0">
                  <a:solidFill>
                    <a:srgbClr val="000000"/>
                  </a:solidFill>
                  <a:latin typeface="微软雅黑" panose="020B0503020204020204" charset="-122"/>
                  <a:ea typeface="微软雅黑" panose="020B0503020204020204" charset="-122"/>
                </a:rPr>
                <a:t>采购战略与规划</a:t>
              </a:r>
            </a:p>
          </p:txBody>
        </p:sp>
        <p:sp>
          <p:nvSpPr>
            <p:cNvPr id="29" name="五边形 28"/>
            <p:cNvSpPr/>
            <p:nvPr/>
          </p:nvSpPr>
          <p:spPr bwMode="auto">
            <a:xfrm>
              <a:off x="4537105" y="4865698"/>
              <a:ext cx="1571636" cy="1382722"/>
            </a:xfrm>
            <a:prstGeom prst="homePlate">
              <a:avLst>
                <a:gd name="adj" fmla="val 0"/>
              </a:avLst>
            </a:prstGeom>
            <a:solidFill>
              <a:schemeClr val="bg1">
                <a:lumMod val="85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5.3</a:t>
              </a:r>
              <a:r>
                <a:rPr lang="zh-CN" altLang="en-US" sz="1100" b="1" dirty="0">
                  <a:solidFill>
                    <a:srgbClr val="000000"/>
                  </a:solidFill>
                  <a:latin typeface="微软雅黑" panose="020B0503020204020204" charset="-122"/>
                  <a:ea typeface="微软雅黑" panose="020B0503020204020204" charset="-122"/>
                </a:rPr>
                <a:t>供应链关系管理</a:t>
              </a:r>
            </a:p>
          </p:txBody>
        </p:sp>
        <p:sp>
          <p:nvSpPr>
            <p:cNvPr id="136" name="五边形 135"/>
            <p:cNvSpPr/>
            <p:nvPr/>
          </p:nvSpPr>
          <p:spPr bwMode="auto">
            <a:xfrm>
              <a:off x="6165890" y="4865698"/>
              <a:ext cx="2525673" cy="1382722"/>
            </a:xfrm>
            <a:prstGeom prst="homePlate">
              <a:avLst>
                <a:gd name="adj" fmla="val 0"/>
              </a:avLst>
            </a:prstGeom>
            <a:solidFill>
              <a:schemeClr val="bg1">
                <a:lumMod val="85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5.4</a:t>
              </a:r>
              <a:r>
                <a:rPr lang="zh-CN" altLang="en-US" sz="1100" b="1" dirty="0">
                  <a:solidFill>
                    <a:srgbClr val="000000"/>
                  </a:solidFill>
                  <a:latin typeface="微软雅黑" panose="020B0503020204020204" charset="-122"/>
                  <a:ea typeface="微软雅黑" panose="020B0503020204020204" charset="-122"/>
                </a:rPr>
                <a:t>战略采购</a:t>
              </a:r>
            </a:p>
          </p:txBody>
        </p:sp>
        <p:grpSp>
          <p:nvGrpSpPr>
            <p:cNvPr id="4" name="组合 92"/>
            <p:cNvGrpSpPr/>
            <p:nvPr/>
          </p:nvGrpSpPr>
          <p:grpSpPr>
            <a:xfrm>
              <a:off x="1674819" y="5138057"/>
              <a:ext cx="6964356" cy="1018177"/>
              <a:chOff x="1674819" y="5221255"/>
              <a:chExt cx="6964356" cy="934979"/>
            </a:xfrm>
          </p:grpSpPr>
          <p:sp>
            <p:nvSpPr>
              <p:cNvPr id="125" name="五边形 124"/>
              <p:cNvSpPr/>
              <p:nvPr/>
            </p:nvSpPr>
            <p:spPr bwMode="auto">
              <a:xfrm>
                <a:off x="1674822" y="5221255"/>
                <a:ext cx="151200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5.1.1</a:t>
                </a:r>
                <a:r>
                  <a:rPr lang="zh-CN" altLang="en-US" sz="900" dirty="0">
                    <a:solidFill>
                      <a:srgbClr val="000000"/>
                    </a:solidFill>
                    <a:latin typeface="微软雅黑" panose="020B0503020204020204" charset="-122"/>
                    <a:ea typeface="微软雅黑" panose="020B0503020204020204" charset="-122"/>
                  </a:rPr>
                  <a:t>供应链战略分析和制定</a:t>
                </a:r>
              </a:p>
            </p:txBody>
          </p:sp>
          <p:sp>
            <p:nvSpPr>
              <p:cNvPr id="128" name="五边形 127"/>
              <p:cNvSpPr/>
              <p:nvPr/>
            </p:nvSpPr>
            <p:spPr bwMode="auto">
              <a:xfrm>
                <a:off x="1674822" y="5715085"/>
                <a:ext cx="151200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5.1.3</a:t>
                </a:r>
                <a:r>
                  <a:rPr lang="zh-CN" altLang="en-US" sz="900" dirty="0">
                    <a:solidFill>
                      <a:srgbClr val="000000"/>
                    </a:solidFill>
                    <a:latin typeface="微软雅黑" panose="020B0503020204020204" charset="-122"/>
                    <a:ea typeface="微软雅黑" panose="020B0503020204020204" charset="-122"/>
                  </a:rPr>
                  <a:t>供应链运营模式设计</a:t>
                </a:r>
              </a:p>
            </p:txBody>
          </p:sp>
          <p:sp>
            <p:nvSpPr>
              <p:cNvPr id="129" name="五边形 128"/>
              <p:cNvSpPr/>
              <p:nvPr/>
            </p:nvSpPr>
            <p:spPr bwMode="auto">
              <a:xfrm>
                <a:off x="3234805" y="5468170"/>
                <a:ext cx="118800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5.1.5</a:t>
                </a:r>
                <a:r>
                  <a:rPr lang="zh-CN" altLang="en-US" sz="900" dirty="0">
                    <a:solidFill>
                      <a:srgbClr val="000000"/>
                    </a:solidFill>
                    <a:latin typeface="微软雅黑" panose="020B0503020204020204" charset="-122"/>
                    <a:ea typeface="微软雅黑" panose="020B0503020204020204" charset="-122"/>
                  </a:rPr>
                  <a:t>仓储策略制定</a:t>
                </a:r>
              </a:p>
            </p:txBody>
          </p:sp>
          <p:sp>
            <p:nvSpPr>
              <p:cNvPr id="130" name="五边形 129"/>
              <p:cNvSpPr/>
              <p:nvPr/>
            </p:nvSpPr>
            <p:spPr bwMode="auto">
              <a:xfrm>
                <a:off x="1674819" y="5958702"/>
                <a:ext cx="2747986"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5.1.7</a:t>
                </a:r>
                <a:r>
                  <a:rPr lang="zh-CN" altLang="en-US" sz="900" dirty="0">
                    <a:solidFill>
                      <a:srgbClr val="000000"/>
                    </a:solidFill>
                    <a:latin typeface="微软雅黑" panose="020B0503020204020204" charset="-122"/>
                    <a:ea typeface="微软雅黑" panose="020B0503020204020204" charset="-122"/>
                  </a:rPr>
                  <a:t>采购绩效管理</a:t>
                </a:r>
              </a:p>
            </p:txBody>
          </p:sp>
          <p:sp>
            <p:nvSpPr>
              <p:cNvPr id="131" name="五边形 130"/>
              <p:cNvSpPr/>
              <p:nvPr/>
            </p:nvSpPr>
            <p:spPr bwMode="auto">
              <a:xfrm>
                <a:off x="1674821" y="5468170"/>
                <a:ext cx="151200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5.1.2</a:t>
                </a:r>
                <a:r>
                  <a:rPr lang="zh-CN" altLang="en-US" sz="900" dirty="0">
                    <a:solidFill>
                      <a:srgbClr val="000000"/>
                    </a:solidFill>
                    <a:latin typeface="微软雅黑" panose="020B0503020204020204" charset="-122"/>
                    <a:ea typeface="微软雅黑" panose="020B0503020204020204" charset="-122"/>
                  </a:rPr>
                  <a:t>供应链战略资产规划</a:t>
                </a:r>
              </a:p>
            </p:txBody>
          </p:sp>
          <p:sp>
            <p:nvSpPr>
              <p:cNvPr id="132" name="五边形 131"/>
              <p:cNvSpPr/>
              <p:nvPr/>
            </p:nvSpPr>
            <p:spPr bwMode="auto">
              <a:xfrm>
                <a:off x="3234805" y="5221255"/>
                <a:ext cx="118800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5.1.4</a:t>
                </a:r>
                <a:r>
                  <a:rPr lang="zh-CN" altLang="en-US" sz="900" dirty="0">
                    <a:solidFill>
                      <a:srgbClr val="000000"/>
                    </a:solidFill>
                    <a:latin typeface="微软雅黑" panose="020B0503020204020204" charset="-122"/>
                    <a:ea typeface="微软雅黑" panose="020B0503020204020204" charset="-122"/>
                  </a:rPr>
                  <a:t>供应链网络规划</a:t>
                </a:r>
              </a:p>
            </p:txBody>
          </p:sp>
          <p:sp>
            <p:nvSpPr>
              <p:cNvPr id="133" name="五边形 132"/>
              <p:cNvSpPr/>
              <p:nvPr/>
            </p:nvSpPr>
            <p:spPr bwMode="auto">
              <a:xfrm>
                <a:off x="3234805" y="5715085"/>
                <a:ext cx="118800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5.1.6</a:t>
                </a:r>
                <a:r>
                  <a:rPr lang="zh-CN" altLang="en-US" sz="900" dirty="0">
                    <a:solidFill>
                      <a:srgbClr val="000000"/>
                    </a:solidFill>
                    <a:latin typeface="微软雅黑" panose="020B0503020204020204" charset="-122"/>
                    <a:ea typeface="微软雅黑" panose="020B0503020204020204" charset="-122"/>
                  </a:rPr>
                  <a:t>运输策略制定</a:t>
                </a:r>
              </a:p>
            </p:txBody>
          </p:sp>
          <p:sp>
            <p:nvSpPr>
              <p:cNvPr id="137" name="五边形 136"/>
              <p:cNvSpPr/>
              <p:nvPr/>
            </p:nvSpPr>
            <p:spPr bwMode="auto">
              <a:xfrm>
                <a:off x="4618071" y="5221255"/>
                <a:ext cx="139066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5.3.1</a:t>
                </a:r>
                <a:r>
                  <a:rPr lang="zh-CN" altLang="en-US" sz="900" dirty="0">
                    <a:solidFill>
                      <a:srgbClr val="000000"/>
                    </a:solidFill>
                    <a:latin typeface="微软雅黑" panose="020B0503020204020204" charset="-122"/>
                    <a:ea typeface="微软雅黑" panose="020B0503020204020204" charset="-122"/>
                  </a:rPr>
                  <a:t>开发供应商评价模型</a:t>
                </a:r>
              </a:p>
            </p:txBody>
          </p:sp>
          <p:sp>
            <p:nvSpPr>
              <p:cNvPr id="138" name="五边形 137"/>
              <p:cNvSpPr/>
              <p:nvPr/>
            </p:nvSpPr>
            <p:spPr bwMode="auto">
              <a:xfrm>
                <a:off x="4618071" y="5471458"/>
                <a:ext cx="139066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5.3.2</a:t>
                </a:r>
                <a:r>
                  <a:rPr lang="zh-CN" altLang="en-US" sz="900" dirty="0">
                    <a:solidFill>
                      <a:srgbClr val="000000"/>
                    </a:solidFill>
                    <a:latin typeface="微软雅黑" panose="020B0503020204020204" charset="-122"/>
                    <a:ea typeface="微软雅黑" panose="020B0503020204020204" charset="-122"/>
                  </a:rPr>
                  <a:t>评估供应商真实业绩</a:t>
                </a:r>
              </a:p>
            </p:txBody>
          </p:sp>
          <p:sp>
            <p:nvSpPr>
              <p:cNvPr id="139" name="五边形 138"/>
              <p:cNvSpPr/>
              <p:nvPr/>
            </p:nvSpPr>
            <p:spPr bwMode="auto">
              <a:xfrm>
                <a:off x="4618075" y="5715085"/>
                <a:ext cx="139066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5.3.4</a:t>
                </a:r>
                <a:r>
                  <a:rPr lang="zh-CN" altLang="en-US" sz="900" dirty="0">
                    <a:solidFill>
                      <a:srgbClr val="000000"/>
                    </a:solidFill>
                    <a:latin typeface="微软雅黑" panose="020B0503020204020204" charset="-122"/>
                    <a:ea typeface="微软雅黑" panose="020B0503020204020204" charset="-122"/>
                  </a:rPr>
                  <a:t>供应商细分</a:t>
                </a:r>
              </a:p>
            </p:txBody>
          </p:sp>
          <p:sp>
            <p:nvSpPr>
              <p:cNvPr id="140" name="五边形 139"/>
              <p:cNvSpPr/>
              <p:nvPr/>
            </p:nvSpPr>
            <p:spPr bwMode="auto">
              <a:xfrm>
                <a:off x="4618068" y="5958702"/>
                <a:ext cx="1390660"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5.3.4</a:t>
                </a:r>
                <a:r>
                  <a:rPr lang="zh-CN" altLang="en-US" sz="900" dirty="0">
                    <a:solidFill>
                      <a:srgbClr val="000000"/>
                    </a:solidFill>
                    <a:latin typeface="微软雅黑" panose="020B0503020204020204" charset="-122"/>
                    <a:ea typeface="微软雅黑" panose="020B0503020204020204" charset="-122"/>
                  </a:rPr>
                  <a:t>供应商关系发展</a:t>
                </a:r>
              </a:p>
            </p:txBody>
          </p:sp>
          <p:sp>
            <p:nvSpPr>
              <p:cNvPr id="141" name="五边形 140"/>
              <p:cNvSpPr/>
              <p:nvPr/>
            </p:nvSpPr>
            <p:spPr bwMode="auto">
              <a:xfrm>
                <a:off x="6229387" y="5221255"/>
                <a:ext cx="1057257"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5.4.1</a:t>
                </a:r>
                <a:r>
                  <a:rPr lang="zh-CN" altLang="en-US" sz="900" dirty="0">
                    <a:solidFill>
                      <a:srgbClr val="000000"/>
                    </a:solidFill>
                    <a:latin typeface="微软雅黑" panose="020B0503020204020204" charset="-122"/>
                    <a:ea typeface="微软雅黑" panose="020B0503020204020204" charset="-122"/>
                  </a:rPr>
                  <a:t>分析采购现状</a:t>
                </a:r>
              </a:p>
            </p:txBody>
          </p:sp>
          <p:sp>
            <p:nvSpPr>
              <p:cNvPr id="142" name="五边形 141"/>
              <p:cNvSpPr/>
              <p:nvPr/>
            </p:nvSpPr>
            <p:spPr bwMode="auto">
              <a:xfrm>
                <a:off x="7310438" y="5225645"/>
                <a:ext cx="1328737"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5.4.3</a:t>
                </a:r>
                <a:r>
                  <a:rPr lang="zh-CN" altLang="en-US" sz="900" dirty="0">
                    <a:solidFill>
                      <a:srgbClr val="000000"/>
                    </a:solidFill>
                    <a:latin typeface="微软雅黑" panose="020B0503020204020204" charset="-122"/>
                    <a:ea typeface="微软雅黑" panose="020B0503020204020204" charset="-122"/>
                  </a:rPr>
                  <a:t>创建类别采购策略</a:t>
                </a:r>
              </a:p>
            </p:txBody>
          </p:sp>
          <p:sp>
            <p:nvSpPr>
              <p:cNvPr id="143" name="五边形 142"/>
              <p:cNvSpPr/>
              <p:nvPr/>
            </p:nvSpPr>
            <p:spPr bwMode="auto">
              <a:xfrm>
                <a:off x="6229391" y="5715085"/>
                <a:ext cx="2409784"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5.4.5</a:t>
                </a:r>
                <a:r>
                  <a:rPr lang="zh-CN" altLang="en-US" sz="900" dirty="0">
                    <a:solidFill>
                      <a:srgbClr val="000000"/>
                    </a:solidFill>
                    <a:latin typeface="微软雅黑" panose="020B0503020204020204" charset="-122"/>
                    <a:ea typeface="微软雅黑" panose="020B0503020204020204" charset="-122"/>
                  </a:rPr>
                  <a:t>管理零部件标准化</a:t>
                </a:r>
              </a:p>
            </p:txBody>
          </p:sp>
          <p:sp>
            <p:nvSpPr>
              <p:cNvPr id="145" name="五边形 144"/>
              <p:cNvSpPr/>
              <p:nvPr/>
            </p:nvSpPr>
            <p:spPr bwMode="auto">
              <a:xfrm>
                <a:off x="6229387" y="5468170"/>
                <a:ext cx="1057257"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5.4.2</a:t>
                </a:r>
                <a:r>
                  <a:rPr lang="zh-CN" altLang="en-US" sz="900" dirty="0">
                    <a:solidFill>
                      <a:srgbClr val="000000"/>
                    </a:solidFill>
                    <a:latin typeface="微软雅黑" panose="020B0503020204020204" charset="-122"/>
                    <a:ea typeface="微软雅黑" panose="020B0503020204020204" charset="-122"/>
                  </a:rPr>
                  <a:t>分析供应商</a:t>
                </a:r>
              </a:p>
            </p:txBody>
          </p:sp>
          <p:sp>
            <p:nvSpPr>
              <p:cNvPr id="146" name="五边形 145"/>
              <p:cNvSpPr/>
              <p:nvPr/>
            </p:nvSpPr>
            <p:spPr bwMode="auto">
              <a:xfrm>
                <a:off x="7310438" y="5471458"/>
                <a:ext cx="1328737"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5.4.4</a:t>
                </a:r>
                <a:r>
                  <a:rPr lang="zh-CN" altLang="en-US" sz="900" dirty="0">
                    <a:solidFill>
                      <a:srgbClr val="000000"/>
                    </a:solidFill>
                    <a:latin typeface="微软雅黑" panose="020B0503020204020204" charset="-122"/>
                    <a:ea typeface="微软雅黑" panose="020B0503020204020204" charset="-122"/>
                  </a:rPr>
                  <a:t>执行类别采购策略</a:t>
                </a:r>
              </a:p>
            </p:txBody>
          </p:sp>
          <p:sp>
            <p:nvSpPr>
              <p:cNvPr id="147" name="五边形 146"/>
              <p:cNvSpPr/>
              <p:nvPr/>
            </p:nvSpPr>
            <p:spPr bwMode="auto">
              <a:xfrm>
                <a:off x="6229391" y="5958702"/>
                <a:ext cx="2409784" cy="197532"/>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5.4.6</a:t>
                </a:r>
                <a:r>
                  <a:rPr lang="zh-CN" altLang="en-US" sz="900" dirty="0">
                    <a:solidFill>
                      <a:srgbClr val="000000"/>
                    </a:solidFill>
                    <a:latin typeface="微软雅黑" panose="020B0503020204020204" charset="-122"/>
                    <a:ea typeface="微软雅黑" panose="020B0503020204020204" charset="-122"/>
                  </a:rPr>
                  <a:t>全球商品委员会管理</a:t>
                </a:r>
              </a:p>
            </p:txBody>
          </p:sp>
        </p:grpSp>
        <p:sp>
          <p:nvSpPr>
            <p:cNvPr id="251" name="五边形 250"/>
            <p:cNvSpPr/>
            <p:nvPr/>
          </p:nvSpPr>
          <p:spPr bwMode="auto">
            <a:xfrm>
              <a:off x="500034" y="2700016"/>
              <a:ext cx="860899" cy="313056"/>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4.2.2</a:t>
              </a:r>
              <a:r>
                <a:rPr lang="zh-CN" altLang="en-US" sz="900" dirty="0">
                  <a:solidFill>
                    <a:srgbClr val="000000"/>
                  </a:solidFill>
                  <a:latin typeface="微软雅黑" panose="020B0503020204020204" charset="-122"/>
                  <a:ea typeface="微软雅黑" panose="020B0503020204020204" charset="-122"/>
                </a:rPr>
                <a:t>线索到</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合同</a:t>
              </a:r>
            </a:p>
          </p:txBody>
        </p:sp>
        <p:cxnSp>
          <p:nvCxnSpPr>
            <p:cNvPr id="252" name="肘形连接符 66"/>
            <p:cNvCxnSpPr>
              <a:stCxn id="251" idx="2"/>
              <a:endCxn id="16" idx="0"/>
            </p:cNvCxnSpPr>
            <p:nvPr/>
          </p:nvCxnSpPr>
          <p:spPr bwMode="auto">
            <a:xfrm rot="5400000">
              <a:off x="830759" y="3058718"/>
              <a:ext cx="94934" cy="364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55" name="肘形连接符 66"/>
            <p:cNvCxnSpPr>
              <a:stCxn id="281" idx="1"/>
              <a:endCxn id="120" idx="1"/>
            </p:cNvCxnSpPr>
            <p:nvPr/>
          </p:nvCxnSpPr>
          <p:spPr bwMode="auto">
            <a:xfrm rot="10800000" flipH="1">
              <a:off x="500034" y="1988492"/>
              <a:ext cx="1247784" cy="441328"/>
            </a:xfrm>
            <a:prstGeom prst="bentConnector3">
              <a:avLst>
                <a:gd name="adj1" fmla="val -8142"/>
              </a:avLst>
            </a:prstGeom>
            <a:solidFill>
              <a:schemeClr val="accent1"/>
            </a:solidFill>
            <a:ln w="9525" cap="flat" cmpd="sng" algn="ctr">
              <a:solidFill>
                <a:schemeClr val="tx1"/>
              </a:solidFill>
              <a:prstDash val="solid"/>
              <a:round/>
              <a:headEnd type="none" w="med" len="med"/>
              <a:tailEnd type="arrow"/>
            </a:ln>
            <a:effectLst/>
          </p:spPr>
        </p:cxnSp>
        <p:cxnSp>
          <p:nvCxnSpPr>
            <p:cNvPr id="258" name="肘形连接符 66"/>
            <p:cNvCxnSpPr>
              <a:stCxn id="16" idx="3"/>
              <a:endCxn id="11" idx="1"/>
            </p:cNvCxnSpPr>
            <p:nvPr/>
          </p:nvCxnSpPr>
          <p:spPr bwMode="auto">
            <a:xfrm flipV="1">
              <a:off x="1357290" y="2484248"/>
              <a:ext cx="377827" cy="780286"/>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263" name="肘形连接符 66"/>
            <p:cNvCxnSpPr>
              <a:stCxn id="18" idx="1"/>
              <a:endCxn id="120" idx="1"/>
            </p:cNvCxnSpPr>
            <p:nvPr/>
          </p:nvCxnSpPr>
          <p:spPr bwMode="auto">
            <a:xfrm rot="10800000" flipH="1">
              <a:off x="500532" y="1988492"/>
              <a:ext cx="1247285" cy="2114564"/>
            </a:xfrm>
            <a:prstGeom prst="bentConnector3">
              <a:avLst>
                <a:gd name="adj1" fmla="val -8146"/>
              </a:avLst>
            </a:prstGeom>
            <a:solidFill>
              <a:schemeClr val="accent1"/>
            </a:solidFill>
            <a:ln w="9525" cap="flat" cmpd="sng" algn="ctr">
              <a:solidFill>
                <a:schemeClr val="tx1"/>
              </a:solidFill>
              <a:prstDash val="solid"/>
              <a:round/>
              <a:headEnd type="none" w="med" len="med"/>
              <a:tailEnd type="arrow"/>
            </a:ln>
            <a:effectLst/>
          </p:spPr>
        </p:cxnSp>
        <p:cxnSp>
          <p:nvCxnSpPr>
            <p:cNvPr id="276" name="肘形连接符 66"/>
            <p:cNvCxnSpPr>
              <a:stCxn id="18" idx="3"/>
              <a:endCxn id="11" idx="1"/>
            </p:cNvCxnSpPr>
            <p:nvPr/>
          </p:nvCxnSpPr>
          <p:spPr bwMode="auto">
            <a:xfrm flipV="1">
              <a:off x="1360933" y="2484248"/>
              <a:ext cx="374184" cy="1618808"/>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sp>
          <p:nvSpPr>
            <p:cNvPr id="281" name="五边形 280"/>
            <p:cNvSpPr/>
            <p:nvPr/>
          </p:nvSpPr>
          <p:spPr bwMode="auto">
            <a:xfrm>
              <a:off x="500034" y="2273292"/>
              <a:ext cx="860899"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4.2.4</a:t>
              </a:r>
              <a:r>
                <a:rPr lang="zh-CN" altLang="en-US" sz="900" dirty="0">
                  <a:solidFill>
                    <a:srgbClr val="000000"/>
                  </a:solidFill>
                  <a:latin typeface="微软雅黑" panose="020B0503020204020204" charset="-122"/>
                  <a:ea typeface="微软雅黑" panose="020B0503020204020204" charset="-122"/>
                </a:rPr>
                <a:t>销售管理</a:t>
              </a:r>
            </a:p>
          </p:txBody>
        </p:sp>
        <p:cxnSp>
          <p:nvCxnSpPr>
            <p:cNvPr id="283" name="肘形连接符 66"/>
            <p:cNvCxnSpPr>
              <a:stCxn id="281" idx="2"/>
              <a:endCxn id="251" idx="0"/>
            </p:cNvCxnSpPr>
            <p:nvPr/>
          </p:nvCxnSpPr>
          <p:spPr bwMode="auto">
            <a:xfrm rot="5400000">
              <a:off x="823213" y="2643182"/>
              <a:ext cx="113668"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9" name="肘形连接符 108"/>
            <p:cNvCxnSpPr>
              <a:stCxn id="50" idx="2"/>
              <a:endCxn id="47" idx="3"/>
            </p:cNvCxnSpPr>
            <p:nvPr/>
          </p:nvCxnSpPr>
          <p:spPr bwMode="auto">
            <a:xfrm rot="5400000" flipH="1" flipV="1">
              <a:off x="5248695" y="292955"/>
              <a:ext cx="145107" cy="6158749"/>
            </a:xfrm>
            <a:prstGeom prst="bentConnector4">
              <a:avLst>
                <a:gd name="adj1" fmla="val -905593"/>
                <a:gd name="adj2" fmla="val 103712"/>
              </a:avLst>
            </a:prstGeom>
            <a:solidFill>
              <a:schemeClr val="accent1"/>
            </a:solidFill>
            <a:ln w="9525" cap="flat" cmpd="sng" algn="ctr">
              <a:solidFill>
                <a:schemeClr val="tx1"/>
              </a:solidFill>
              <a:prstDash val="solid"/>
              <a:round/>
              <a:headEnd type="none" w="med" len="med"/>
              <a:tailEnd type="arrow"/>
            </a:ln>
            <a:effectLst/>
          </p:spPr>
        </p:cxnSp>
        <p:sp>
          <p:nvSpPr>
            <p:cNvPr id="52" name="五边形 51"/>
            <p:cNvSpPr/>
            <p:nvPr/>
          </p:nvSpPr>
          <p:spPr bwMode="auto">
            <a:xfrm>
              <a:off x="1733551" y="3543095"/>
              <a:ext cx="1116000" cy="313056"/>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5.7.3</a:t>
              </a:r>
              <a:r>
                <a:rPr lang="zh-CN" altLang="en-US" sz="900" dirty="0">
                  <a:solidFill>
                    <a:srgbClr val="000000"/>
                  </a:solidFill>
                  <a:latin typeface="微软雅黑" panose="020B0503020204020204" charset="-122"/>
                  <a:ea typeface="微软雅黑" panose="020B0503020204020204" charset="-122"/>
                </a:rPr>
                <a:t>制造人员管理</a:t>
              </a:r>
            </a:p>
          </p:txBody>
        </p:sp>
        <p:sp>
          <p:nvSpPr>
            <p:cNvPr id="54" name="五边形 53"/>
            <p:cNvSpPr/>
            <p:nvPr/>
          </p:nvSpPr>
          <p:spPr bwMode="auto">
            <a:xfrm>
              <a:off x="1733551" y="3954363"/>
              <a:ext cx="1116000" cy="313056"/>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5.7.5</a:t>
              </a:r>
              <a:r>
                <a:rPr lang="zh-CN" altLang="en-US" sz="900" dirty="0">
                  <a:solidFill>
                    <a:srgbClr val="000000"/>
                  </a:solidFill>
                  <a:latin typeface="微软雅黑" panose="020B0503020204020204" charset="-122"/>
                  <a:ea typeface="微软雅黑" panose="020B0503020204020204" charset="-122"/>
                </a:rPr>
                <a:t>制造质量管理</a:t>
              </a:r>
            </a:p>
          </p:txBody>
        </p:sp>
        <p:sp>
          <p:nvSpPr>
            <p:cNvPr id="55" name="五边形 54"/>
            <p:cNvSpPr/>
            <p:nvPr/>
          </p:nvSpPr>
          <p:spPr bwMode="auto">
            <a:xfrm>
              <a:off x="1733551" y="4365632"/>
              <a:ext cx="1116000" cy="313056"/>
            </a:xfrm>
            <a:prstGeom prst="homePlate">
              <a:avLst>
                <a:gd name="adj" fmla="val 32222"/>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5.7.6</a:t>
              </a:r>
              <a:r>
                <a:rPr lang="zh-CN" altLang="en-US" sz="900" dirty="0">
                  <a:solidFill>
                    <a:srgbClr val="000000"/>
                  </a:solidFill>
                  <a:latin typeface="微软雅黑" panose="020B0503020204020204" charset="-122"/>
                  <a:ea typeface="微软雅黑" panose="020B0503020204020204" charset="-122"/>
                </a:rPr>
                <a:t>设备管理</a:t>
              </a:r>
            </a:p>
          </p:txBody>
        </p:sp>
        <p:sp>
          <p:nvSpPr>
            <p:cNvPr id="13" name="五边形 12"/>
            <p:cNvSpPr/>
            <p:nvPr/>
          </p:nvSpPr>
          <p:spPr bwMode="auto">
            <a:xfrm>
              <a:off x="7786710" y="2324092"/>
              <a:ext cx="785818" cy="311008"/>
            </a:xfrm>
            <a:prstGeom prst="homePlate">
              <a:avLst>
                <a:gd name="adj" fmla="val 20370"/>
              </a:avLst>
            </a:prstGeom>
            <a:solidFill>
              <a:schemeClr val="bg1">
                <a:lumMod val="75000"/>
              </a:schemeClr>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5.2.10</a:t>
              </a:r>
              <a:r>
                <a:rPr lang="zh-CN" altLang="en-US" sz="900" dirty="0">
                  <a:solidFill>
                    <a:srgbClr val="000000"/>
                  </a:solidFill>
                  <a:latin typeface="微软雅黑" panose="020B0503020204020204" charset="-122"/>
                  <a:ea typeface="微软雅黑" panose="020B0503020204020204" charset="-122"/>
                </a:rPr>
                <a:t>库存</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控制</a:t>
              </a:r>
            </a:p>
          </p:txBody>
        </p:sp>
        <p:sp>
          <p:nvSpPr>
            <p:cNvPr id="120" name="五边形 119"/>
            <p:cNvSpPr/>
            <p:nvPr/>
          </p:nvSpPr>
          <p:spPr bwMode="auto">
            <a:xfrm>
              <a:off x="1747818" y="1831964"/>
              <a:ext cx="836618"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5.2.1</a:t>
              </a:r>
              <a:r>
                <a:rPr lang="zh-CN" altLang="en-US" sz="900" dirty="0">
                  <a:solidFill>
                    <a:srgbClr val="000000"/>
                  </a:solidFill>
                  <a:latin typeface="微软雅黑" panose="020B0503020204020204" charset="-122"/>
                  <a:ea typeface="微软雅黑" panose="020B0503020204020204" charset="-122"/>
                </a:rPr>
                <a:t>整机库存管理</a:t>
              </a:r>
            </a:p>
          </p:txBody>
        </p:sp>
        <p:cxnSp>
          <p:nvCxnSpPr>
            <p:cNvPr id="123" name="肘形连接符 61"/>
            <p:cNvCxnSpPr>
              <a:stCxn id="120" idx="3"/>
              <a:endCxn id="14" idx="1"/>
            </p:cNvCxnSpPr>
            <p:nvPr/>
          </p:nvCxnSpPr>
          <p:spPr bwMode="auto">
            <a:xfrm>
              <a:off x="2584436" y="1988492"/>
              <a:ext cx="2936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
        <p:nvSpPr>
          <p:cNvPr id="144"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148"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149"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151"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152"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
        <p:nvSpPr>
          <p:cNvPr id="150" name="矩形 149"/>
          <p:cNvSpPr/>
          <p:nvPr/>
        </p:nvSpPr>
        <p:spPr bwMode="auto">
          <a:xfrm>
            <a:off x="357158" y="1500174"/>
            <a:ext cx="8358246" cy="4786346"/>
          </a:xfrm>
          <a:prstGeom prst="rect">
            <a:avLst/>
          </a:prstGeom>
          <a:solidFill>
            <a:schemeClr val="bg1">
              <a:lumMod val="95000"/>
              <a:alpha val="85000"/>
            </a:schemeClr>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grpSp>
        <p:nvGrpSpPr>
          <p:cNvPr id="153" name="组合 245"/>
          <p:cNvGrpSpPr/>
          <p:nvPr/>
        </p:nvGrpSpPr>
        <p:grpSpPr>
          <a:xfrm>
            <a:off x="428596" y="1752600"/>
            <a:ext cx="8001056" cy="2541594"/>
            <a:chOff x="428596" y="1744662"/>
            <a:chExt cx="8001056" cy="2541594"/>
          </a:xfrm>
        </p:grpSpPr>
        <p:sp>
          <p:nvSpPr>
            <p:cNvPr id="155" name="Text Box 23"/>
            <p:cNvSpPr txBox="1">
              <a:spLocks noChangeArrowheads="1"/>
            </p:cNvSpPr>
            <p:nvPr/>
          </p:nvSpPr>
          <p:spPr bwMode="auto">
            <a:xfrm>
              <a:off x="2880585" y="2285992"/>
              <a:ext cx="844366" cy="428628"/>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生产计划</a:t>
              </a:r>
              <a:endParaRPr lang="en-US" altLang="zh-CN" sz="1200" b="1" dirty="0">
                <a:latin typeface="微软雅黑" panose="020B0503020204020204" charset="-122"/>
                <a:ea typeface="微软雅黑" panose="020B0503020204020204" charset="-122"/>
              </a:endParaRPr>
            </a:p>
          </p:txBody>
        </p:sp>
        <p:cxnSp>
          <p:nvCxnSpPr>
            <p:cNvPr id="156" name="AutoShape 50"/>
            <p:cNvCxnSpPr>
              <a:cxnSpLocks noChangeShapeType="1"/>
              <a:stCxn id="158" idx="2"/>
              <a:endCxn id="174" idx="0"/>
            </p:cNvCxnSpPr>
            <p:nvPr/>
          </p:nvCxnSpPr>
          <p:spPr bwMode="auto">
            <a:xfrm rot="5400000">
              <a:off x="3564045" y="3679033"/>
              <a:ext cx="357190" cy="1588"/>
            </a:xfrm>
            <a:prstGeom prst="straightConnector1">
              <a:avLst/>
            </a:prstGeom>
            <a:noFill/>
            <a:ln w="15875">
              <a:solidFill>
                <a:schemeClr val="tx1"/>
              </a:solidFill>
              <a:round/>
              <a:tailEnd type="triangle" w="med" len="med"/>
            </a:ln>
          </p:spPr>
        </p:cxnSp>
        <p:sp>
          <p:nvSpPr>
            <p:cNvPr id="157" name="Text Box 48"/>
            <p:cNvSpPr txBox="1">
              <a:spLocks noChangeArrowheads="1"/>
            </p:cNvSpPr>
            <p:nvPr/>
          </p:nvSpPr>
          <p:spPr bwMode="auto">
            <a:xfrm>
              <a:off x="3714744" y="3544731"/>
              <a:ext cx="571504" cy="246221"/>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defRPr/>
              </a:pPr>
              <a:r>
                <a:rPr lang="zh-CN" altLang="en-US" sz="1000" b="1" dirty="0">
                  <a:latin typeface="微软雅黑" panose="020B0503020204020204" charset="-122"/>
                  <a:ea typeface="微软雅黑" panose="020B0503020204020204" charset="-122"/>
                </a:rPr>
                <a:t>配送单</a:t>
              </a:r>
              <a:endParaRPr lang="en-US" sz="1000" b="1" dirty="0">
                <a:latin typeface="微软雅黑" panose="020B0503020204020204" charset="-122"/>
                <a:ea typeface="微软雅黑" panose="020B0503020204020204" charset="-122"/>
              </a:endParaRPr>
            </a:p>
          </p:txBody>
        </p:sp>
        <p:sp>
          <p:nvSpPr>
            <p:cNvPr id="158" name="Text Box 23"/>
            <p:cNvSpPr txBox="1">
              <a:spLocks noChangeArrowheads="1"/>
            </p:cNvSpPr>
            <p:nvPr/>
          </p:nvSpPr>
          <p:spPr bwMode="auto">
            <a:xfrm>
              <a:off x="3171136" y="3071810"/>
              <a:ext cx="1143008" cy="428628"/>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厂内物流</a:t>
              </a:r>
              <a:endParaRPr lang="en-US" altLang="zh-CN" sz="1200" b="1" dirty="0">
                <a:latin typeface="微软雅黑" panose="020B0503020204020204" charset="-122"/>
                <a:ea typeface="微软雅黑" panose="020B0503020204020204" charset="-122"/>
              </a:endParaRPr>
            </a:p>
          </p:txBody>
        </p:sp>
        <p:cxnSp>
          <p:nvCxnSpPr>
            <p:cNvPr id="159" name="AutoShape 50"/>
            <p:cNvCxnSpPr>
              <a:cxnSpLocks noChangeShapeType="1"/>
              <a:stCxn id="187" idx="1"/>
              <a:endCxn id="158" idx="3"/>
            </p:cNvCxnSpPr>
            <p:nvPr/>
          </p:nvCxnSpPr>
          <p:spPr bwMode="auto">
            <a:xfrm rot="10800000">
              <a:off x="4314144" y="3286124"/>
              <a:ext cx="359456" cy="1588"/>
            </a:xfrm>
            <a:prstGeom prst="straightConnector1">
              <a:avLst/>
            </a:prstGeom>
            <a:noFill/>
            <a:ln w="15875">
              <a:solidFill>
                <a:schemeClr val="tx1"/>
              </a:solidFill>
              <a:round/>
              <a:tailEnd type="triangle" w="med" len="med"/>
            </a:ln>
          </p:spPr>
        </p:cxnSp>
        <p:sp>
          <p:nvSpPr>
            <p:cNvPr id="160" name="Text Box 48"/>
            <p:cNvSpPr txBox="1">
              <a:spLocks noChangeArrowheads="1"/>
            </p:cNvSpPr>
            <p:nvPr/>
          </p:nvSpPr>
          <p:spPr bwMode="auto">
            <a:xfrm>
              <a:off x="4214810" y="2899906"/>
              <a:ext cx="571504"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1000" b="1" dirty="0">
                  <a:latin typeface="微软雅黑" panose="020B0503020204020204" charset="-122"/>
                  <a:ea typeface="微软雅黑" panose="020B0503020204020204" charset="-122"/>
                </a:rPr>
                <a:t>配送</a:t>
              </a:r>
              <a:br>
                <a:rPr lang="en-US" altLang="zh-CN" sz="1000" b="1" dirty="0">
                  <a:latin typeface="微软雅黑" panose="020B0503020204020204" charset="-122"/>
                  <a:ea typeface="微软雅黑" panose="020B0503020204020204" charset="-122"/>
                </a:rPr>
              </a:br>
              <a:r>
                <a:rPr lang="zh-CN" altLang="en-US" sz="1000" b="1" dirty="0">
                  <a:latin typeface="微软雅黑" panose="020B0503020204020204" charset="-122"/>
                  <a:ea typeface="微软雅黑" panose="020B0503020204020204" charset="-122"/>
                </a:rPr>
                <a:t>指令</a:t>
              </a:r>
              <a:endParaRPr lang="en-US" sz="1000" b="1" dirty="0">
                <a:latin typeface="微软雅黑" panose="020B0503020204020204" charset="-122"/>
                <a:ea typeface="微软雅黑" panose="020B0503020204020204" charset="-122"/>
              </a:endParaRPr>
            </a:p>
          </p:txBody>
        </p:sp>
        <p:grpSp>
          <p:nvGrpSpPr>
            <p:cNvPr id="161" name="组合 232"/>
            <p:cNvGrpSpPr/>
            <p:nvPr/>
          </p:nvGrpSpPr>
          <p:grpSpPr>
            <a:xfrm>
              <a:off x="428596" y="1744662"/>
              <a:ext cx="8001056" cy="2541594"/>
              <a:chOff x="428596" y="1744662"/>
              <a:chExt cx="8001056" cy="2541594"/>
            </a:xfrm>
          </p:grpSpPr>
          <p:cxnSp>
            <p:nvCxnSpPr>
              <p:cNvPr id="162" name="肘形连接符 66"/>
              <p:cNvCxnSpPr/>
              <p:nvPr/>
            </p:nvCxnSpPr>
            <p:spPr bwMode="auto">
              <a:xfrm>
                <a:off x="3714744" y="2484320"/>
                <a:ext cx="360533"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63" name="肘形连接符 70"/>
              <p:cNvCxnSpPr/>
              <p:nvPr/>
            </p:nvCxnSpPr>
            <p:spPr bwMode="auto">
              <a:xfrm>
                <a:off x="4867277" y="2484320"/>
                <a:ext cx="155744"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64" name="肘形连接符 66"/>
              <p:cNvCxnSpPr/>
              <p:nvPr/>
            </p:nvCxnSpPr>
            <p:spPr bwMode="auto">
              <a:xfrm rot="5400000">
                <a:off x="830759" y="3058718"/>
                <a:ext cx="94934" cy="364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65" name="Text Box 23"/>
              <p:cNvSpPr txBox="1">
                <a:spLocks noChangeArrowheads="1"/>
              </p:cNvSpPr>
              <p:nvPr/>
            </p:nvSpPr>
            <p:spPr bwMode="auto">
              <a:xfrm>
                <a:off x="1643042" y="1744662"/>
                <a:ext cx="2071702" cy="365116"/>
              </a:xfrm>
              <a:prstGeom prst="rect">
                <a:avLst/>
              </a:prstGeom>
              <a:solidFill>
                <a:schemeClr val="accent1">
                  <a:lumMod val="40000"/>
                  <a:lumOff val="60000"/>
                </a:schemeClr>
              </a:solidFill>
              <a:ln w="12700" algn="ctr">
                <a:solidFill>
                  <a:schemeClr val="tx1"/>
                </a:solidFill>
                <a:miter lim="800000"/>
              </a:ln>
            </p:spPr>
            <p:txBody>
              <a:bodyPr lIns="0" tIns="46800" rIns="0" bIns="46800" anchor="ctr"/>
              <a:lstStyle/>
              <a:p>
                <a:pPr algn="ctr">
                  <a:spcBef>
                    <a:spcPct val="50000"/>
                  </a:spcBef>
                </a:pPr>
                <a:r>
                  <a:rPr lang="zh-CN" altLang="en-US" sz="1200" b="1" dirty="0">
                    <a:latin typeface="微软雅黑" panose="020B0503020204020204" charset="-122"/>
                    <a:ea typeface="微软雅黑" panose="020B0503020204020204" charset="-122"/>
                  </a:rPr>
                  <a:t>需求计划</a:t>
                </a:r>
                <a:endParaRPr lang="en-US" altLang="zh-CN" sz="1200" b="1" dirty="0">
                  <a:latin typeface="微软雅黑" panose="020B0503020204020204" charset="-122"/>
                  <a:ea typeface="微软雅黑" panose="020B0503020204020204" charset="-122"/>
                </a:endParaRPr>
              </a:p>
            </p:txBody>
          </p:sp>
          <p:sp>
            <p:nvSpPr>
              <p:cNvPr id="166" name="Text Box 25"/>
              <p:cNvSpPr txBox="1">
                <a:spLocks noChangeArrowheads="1"/>
              </p:cNvSpPr>
              <p:nvPr/>
            </p:nvSpPr>
            <p:spPr bwMode="auto">
              <a:xfrm>
                <a:off x="1643042" y="2285992"/>
                <a:ext cx="844556" cy="428400"/>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产销平衡</a:t>
                </a:r>
                <a:br>
                  <a:rPr lang="en-US" altLang="zh-CN" sz="1200" b="1" dirty="0">
                    <a:latin typeface="微软雅黑" panose="020B0503020204020204" charset="-122"/>
                    <a:ea typeface="微软雅黑" panose="020B0503020204020204" charset="-122"/>
                  </a:rPr>
                </a:br>
                <a:r>
                  <a:rPr lang="zh-CN" altLang="en-US" sz="1200" b="1" dirty="0">
                    <a:latin typeface="微软雅黑" panose="020B0503020204020204" charset="-122"/>
                    <a:ea typeface="微软雅黑" panose="020B0503020204020204" charset="-122"/>
                  </a:rPr>
                  <a:t>机制</a:t>
                </a:r>
                <a:endParaRPr lang="en-US" altLang="zh-CN" sz="1200" b="1" dirty="0">
                  <a:latin typeface="微软雅黑" panose="020B0503020204020204" charset="-122"/>
                  <a:ea typeface="微软雅黑" panose="020B0503020204020204" charset="-122"/>
                </a:endParaRPr>
              </a:p>
            </p:txBody>
          </p:sp>
          <p:sp>
            <p:nvSpPr>
              <p:cNvPr id="167" name="Text Box 23"/>
              <p:cNvSpPr txBox="1">
                <a:spLocks noChangeArrowheads="1"/>
              </p:cNvSpPr>
              <p:nvPr/>
            </p:nvSpPr>
            <p:spPr bwMode="auto">
              <a:xfrm>
                <a:off x="428596" y="3062514"/>
                <a:ext cx="1000132" cy="509362"/>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销售订单</a:t>
                </a:r>
                <a:endParaRPr lang="en-US" altLang="zh-CN" sz="1200" b="1" dirty="0">
                  <a:latin typeface="微软雅黑" panose="020B0503020204020204" charset="-122"/>
                  <a:ea typeface="微软雅黑" panose="020B0503020204020204" charset="-122"/>
                </a:endParaRPr>
              </a:p>
            </p:txBody>
          </p:sp>
          <p:sp>
            <p:nvSpPr>
              <p:cNvPr id="168" name="Text Box 23"/>
              <p:cNvSpPr txBox="1">
                <a:spLocks noChangeArrowheads="1"/>
              </p:cNvSpPr>
              <p:nvPr/>
            </p:nvSpPr>
            <p:spPr bwMode="auto">
              <a:xfrm>
                <a:off x="428596" y="2214554"/>
                <a:ext cx="1000132" cy="412532"/>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商机管理</a:t>
                </a:r>
                <a:endParaRPr lang="en-US" altLang="zh-CN" sz="1200" b="1" dirty="0">
                  <a:latin typeface="微软雅黑" panose="020B0503020204020204" charset="-122"/>
                  <a:ea typeface="微软雅黑" panose="020B0503020204020204" charset="-122"/>
                </a:endParaRPr>
              </a:p>
            </p:txBody>
          </p:sp>
          <p:cxnSp>
            <p:nvCxnSpPr>
              <p:cNvPr id="169" name="AutoShape 50"/>
              <p:cNvCxnSpPr>
                <a:cxnSpLocks noChangeShapeType="1"/>
                <a:stCxn id="168" idx="2"/>
                <a:endCxn id="167" idx="0"/>
              </p:cNvCxnSpPr>
              <p:nvPr/>
            </p:nvCxnSpPr>
            <p:spPr bwMode="auto">
              <a:xfrm rot="5400000">
                <a:off x="710948" y="2844800"/>
                <a:ext cx="435428" cy="1588"/>
              </a:xfrm>
              <a:prstGeom prst="straightConnector1">
                <a:avLst/>
              </a:prstGeom>
              <a:noFill/>
              <a:ln w="15875">
                <a:solidFill>
                  <a:schemeClr val="tx1"/>
                </a:solidFill>
                <a:round/>
                <a:tailEnd type="triangle" w="med" len="med"/>
              </a:ln>
            </p:spPr>
          </p:cxnSp>
          <p:cxnSp>
            <p:nvCxnSpPr>
              <p:cNvPr id="170" name="AutoShape 50"/>
              <p:cNvCxnSpPr>
                <a:cxnSpLocks noChangeShapeType="1"/>
                <a:stCxn id="168" idx="0"/>
                <a:endCxn id="165" idx="1"/>
              </p:cNvCxnSpPr>
              <p:nvPr/>
            </p:nvCxnSpPr>
            <p:spPr bwMode="auto">
              <a:xfrm rot="5400000" flipH="1" flipV="1">
                <a:off x="1142185" y="1713697"/>
                <a:ext cx="287334" cy="714380"/>
              </a:xfrm>
              <a:prstGeom prst="bentConnector2">
                <a:avLst/>
              </a:prstGeom>
              <a:noFill/>
              <a:ln w="15875">
                <a:solidFill>
                  <a:schemeClr val="tx1"/>
                </a:solidFill>
                <a:round/>
                <a:tailEnd type="triangle" w="med" len="med"/>
              </a:ln>
            </p:spPr>
          </p:cxnSp>
          <p:cxnSp>
            <p:nvCxnSpPr>
              <p:cNvPr id="171" name="AutoShape 50"/>
              <p:cNvCxnSpPr>
                <a:cxnSpLocks noChangeShapeType="1"/>
                <a:stCxn id="166" idx="3"/>
                <a:endCxn id="155" idx="1"/>
              </p:cNvCxnSpPr>
              <p:nvPr/>
            </p:nvCxnSpPr>
            <p:spPr bwMode="auto">
              <a:xfrm>
                <a:off x="2487598" y="2500192"/>
                <a:ext cx="392987" cy="114"/>
              </a:xfrm>
              <a:prstGeom prst="straightConnector1">
                <a:avLst/>
              </a:prstGeom>
              <a:noFill/>
              <a:ln w="15875">
                <a:solidFill>
                  <a:schemeClr val="tx1"/>
                </a:solidFill>
                <a:round/>
                <a:tailEnd type="triangle" w="med" len="med"/>
              </a:ln>
            </p:spPr>
          </p:cxnSp>
          <p:sp>
            <p:nvSpPr>
              <p:cNvPr id="172" name="Text Box 23"/>
              <p:cNvSpPr txBox="1">
                <a:spLocks noChangeArrowheads="1"/>
              </p:cNvSpPr>
              <p:nvPr/>
            </p:nvSpPr>
            <p:spPr bwMode="auto">
              <a:xfrm>
                <a:off x="1714480" y="3071810"/>
                <a:ext cx="1143008" cy="428628"/>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日排程计划</a:t>
                </a:r>
                <a:endParaRPr lang="en-US" altLang="zh-CN" sz="1200" b="1" dirty="0">
                  <a:latin typeface="微软雅黑" panose="020B0503020204020204" charset="-122"/>
                  <a:ea typeface="微软雅黑" panose="020B0503020204020204" charset="-122"/>
                </a:endParaRPr>
              </a:p>
            </p:txBody>
          </p:sp>
          <p:cxnSp>
            <p:nvCxnSpPr>
              <p:cNvPr id="173" name="AutoShape 50"/>
              <p:cNvCxnSpPr>
                <a:cxnSpLocks noChangeShapeType="1"/>
                <a:stCxn id="167" idx="3"/>
                <a:endCxn id="166" idx="1"/>
              </p:cNvCxnSpPr>
              <p:nvPr/>
            </p:nvCxnSpPr>
            <p:spPr bwMode="auto">
              <a:xfrm flipV="1">
                <a:off x="1428728" y="2500192"/>
                <a:ext cx="214314" cy="817003"/>
              </a:xfrm>
              <a:prstGeom prst="bentConnector3">
                <a:avLst>
                  <a:gd name="adj1" fmla="val 50000"/>
                </a:avLst>
              </a:prstGeom>
              <a:noFill/>
              <a:ln w="15875">
                <a:solidFill>
                  <a:schemeClr val="tx1"/>
                </a:solidFill>
                <a:round/>
                <a:tailEnd type="triangle" w="med" len="med"/>
              </a:ln>
            </p:spPr>
          </p:cxnSp>
          <p:sp>
            <p:nvSpPr>
              <p:cNvPr id="174" name="Text Box 23"/>
              <p:cNvSpPr txBox="1">
                <a:spLocks noChangeArrowheads="1"/>
              </p:cNvSpPr>
              <p:nvPr/>
            </p:nvSpPr>
            <p:spPr bwMode="auto">
              <a:xfrm>
                <a:off x="3171136" y="3857628"/>
                <a:ext cx="1143008" cy="428628"/>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生产制造</a:t>
                </a:r>
                <a:endParaRPr lang="en-US" altLang="zh-CN" sz="1200" b="1" dirty="0">
                  <a:latin typeface="微软雅黑" panose="020B0503020204020204" charset="-122"/>
                  <a:ea typeface="微软雅黑" panose="020B0503020204020204" charset="-122"/>
                </a:endParaRPr>
              </a:p>
            </p:txBody>
          </p:sp>
          <p:cxnSp>
            <p:nvCxnSpPr>
              <p:cNvPr id="175" name="AutoShape 50"/>
              <p:cNvCxnSpPr>
                <a:cxnSpLocks noChangeShapeType="1"/>
                <a:stCxn id="172" idx="2"/>
                <a:endCxn id="174" idx="1"/>
              </p:cNvCxnSpPr>
              <p:nvPr/>
            </p:nvCxnSpPr>
            <p:spPr bwMode="auto">
              <a:xfrm rot="16200000" flipH="1">
                <a:off x="2442808" y="3343614"/>
                <a:ext cx="571504" cy="885152"/>
              </a:xfrm>
              <a:prstGeom prst="bentConnector2">
                <a:avLst/>
              </a:prstGeom>
              <a:noFill/>
              <a:ln w="15875">
                <a:solidFill>
                  <a:schemeClr val="tx1"/>
                </a:solidFill>
                <a:round/>
                <a:tailEnd type="triangle" w="med" len="med"/>
              </a:ln>
            </p:spPr>
          </p:cxnSp>
          <p:cxnSp>
            <p:nvCxnSpPr>
              <p:cNvPr id="184" name="AutoShape 50"/>
              <p:cNvCxnSpPr>
                <a:cxnSpLocks noChangeShapeType="1"/>
                <a:stCxn id="165" idx="2"/>
                <a:endCxn id="166" idx="0"/>
              </p:cNvCxnSpPr>
              <p:nvPr/>
            </p:nvCxnSpPr>
            <p:spPr bwMode="auto">
              <a:xfrm rot="5400000">
                <a:off x="2284000" y="1891099"/>
                <a:ext cx="176214" cy="613573"/>
              </a:xfrm>
              <a:prstGeom prst="bentConnector3">
                <a:avLst>
                  <a:gd name="adj1" fmla="val 50000"/>
                </a:avLst>
              </a:prstGeom>
              <a:noFill/>
              <a:ln w="15875">
                <a:solidFill>
                  <a:schemeClr val="tx1"/>
                </a:solidFill>
                <a:round/>
                <a:tailEnd type="triangle" w="med" len="med"/>
              </a:ln>
            </p:spPr>
          </p:cxnSp>
          <p:sp>
            <p:nvSpPr>
              <p:cNvPr id="185" name="Text Box 23"/>
              <p:cNvSpPr txBox="1">
                <a:spLocks noChangeArrowheads="1"/>
              </p:cNvSpPr>
              <p:nvPr/>
            </p:nvSpPr>
            <p:spPr bwMode="auto">
              <a:xfrm>
                <a:off x="4110715" y="2285992"/>
                <a:ext cx="678999" cy="428628"/>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零部件</a:t>
                </a:r>
                <a:br>
                  <a:rPr lang="en-US" altLang="zh-CN" sz="1200" b="1" dirty="0">
                    <a:latin typeface="微软雅黑" panose="020B0503020204020204" charset="-122"/>
                    <a:ea typeface="微软雅黑" panose="020B0503020204020204" charset="-122"/>
                  </a:rPr>
                </a:br>
                <a:r>
                  <a:rPr lang="zh-CN" altLang="en-US" sz="1200" b="1" dirty="0">
                    <a:latin typeface="微软雅黑" panose="020B0503020204020204" charset="-122"/>
                    <a:ea typeface="微软雅黑" panose="020B0503020204020204" charset="-122"/>
                  </a:rPr>
                  <a:t>计划</a:t>
                </a:r>
                <a:endParaRPr lang="en-US" altLang="zh-CN" sz="1200" b="1" dirty="0">
                  <a:latin typeface="微软雅黑" panose="020B0503020204020204" charset="-122"/>
                  <a:ea typeface="微软雅黑" panose="020B0503020204020204" charset="-122"/>
                </a:endParaRPr>
              </a:p>
            </p:txBody>
          </p:sp>
          <p:cxnSp>
            <p:nvCxnSpPr>
              <p:cNvPr id="186" name="AutoShape 50"/>
              <p:cNvCxnSpPr>
                <a:cxnSpLocks noChangeShapeType="1"/>
                <a:stCxn id="155" idx="3"/>
                <a:endCxn id="185" idx="1"/>
              </p:cNvCxnSpPr>
              <p:nvPr/>
            </p:nvCxnSpPr>
            <p:spPr bwMode="auto">
              <a:xfrm>
                <a:off x="3724951" y="2500306"/>
                <a:ext cx="385764" cy="1588"/>
              </a:xfrm>
              <a:prstGeom prst="straightConnector1">
                <a:avLst/>
              </a:prstGeom>
              <a:noFill/>
              <a:ln w="15875">
                <a:solidFill>
                  <a:schemeClr val="tx1"/>
                </a:solidFill>
                <a:round/>
                <a:tailEnd type="triangle" w="med" len="med"/>
              </a:ln>
            </p:spPr>
          </p:cxnSp>
          <p:sp>
            <p:nvSpPr>
              <p:cNvPr id="187" name="Text Box 23"/>
              <p:cNvSpPr txBox="1">
                <a:spLocks noChangeArrowheads="1"/>
              </p:cNvSpPr>
              <p:nvPr/>
            </p:nvSpPr>
            <p:spPr bwMode="auto">
              <a:xfrm>
                <a:off x="4673600" y="3071810"/>
                <a:ext cx="2327292" cy="428628"/>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零部件交付</a:t>
                </a:r>
                <a:endParaRPr lang="en-US" altLang="zh-CN" sz="1200" b="1" dirty="0">
                  <a:latin typeface="微软雅黑" panose="020B0503020204020204" charset="-122"/>
                  <a:ea typeface="微软雅黑" panose="020B0503020204020204" charset="-122"/>
                </a:endParaRPr>
              </a:p>
            </p:txBody>
          </p:sp>
          <p:cxnSp>
            <p:nvCxnSpPr>
              <p:cNvPr id="188" name="AutoShape 50"/>
              <p:cNvCxnSpPr>
                <a:cxnSpLocks noChangeShapeType="1"/>
                <a:stCxn id="198" idx="2"/>
                <a:endCxn id="187" idx="0"/>
              </p:cNvCxnSpPr>
              <p:nvPr/>
            </p:nvCxnSpPr>
            <p:spPr bwMode="auto">
              <a:xfrm rot="16200000" flipH="1">
                <a:off x="5461347" y="2695911"/>
                <a:ext cx="357190" cy="394608"/>
              </a:xfrm>
              <a:prstGeom prst="bentConnector3">
                <a:avLst>
                  <a:gd name="adj1" fmla="val 50000"/>
                </a:avLst>
              </a:prstGeom>
              <a:noFill/>
              <a:ln w="15875">
                <a:solidFill>
                  <a:schemeClr val="tx1"/>
                </a:solidFill>
                <a:round/>
                <a:tailEnd type="triangle" w="med" len="med"/>
              </a:ln>
            </p:spPr>
          </p:cxnSp>
          <p:sp>
            <p:nvSpPr>
              <p:cNvPr id="189" name="Text Box 23"/>
              <p:cNvSpPr txBox="1">
                <a:spLocks noChangeArrowheads="1"/>
              </p:cNvSpPr>
              <p:nvPr/>
            </p:nvSpPr>
            <p:spPr bwMode="auto">
              <a:xfrm>
                <a:off x="7286612" y="3071810"/>
                <a:ext cx="1143040" cy="877890"/>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整机交付</a:t>
                </a:r>
                <a:endParaRPr lang="en-US" altLang="zh-CN" sz="1200" b="1" dirty="0">
                  <a:latin typeface="微软雅黑" panose="020B0503020204020204" charset="-122"/>
                  <a:ea typeface="微软雅黑" panose="020B0503020204020204" charset="-122"/>
                </a:endParaRPr>
              </a:p>
            </p:txBody>
          </p:sp>
          <p:cxnSp>
            <p:nvCxnSpPr>
              <p:cNvPr id="190" name="AutoShape 50"/>
              <p:cNvCxnSpPr>
                <a:cxnSpLocks noChangeShapeType="1"/>
                <a:stCxn id="174" idx="3"/>
                <a:endCxn id="189" idx="2"/>
              </p:cNvCxnSpPr>
              <p:nvPr/>
            </p:nvCxnSpPr>
            <p:spPr bwMode="auto">
              <a:xfrm flipV="1">
                <a:off x="4314144" y="3949700"/>
                <a:ext cx="3543988" cy="122242"/>
              </a:xfrm>
              <a:prstGeom prst="bentConnector2">
                <a:avLst/>
              </a:prstGeom>
              <a:noFill/>
              <a:ln w="15875">
                <a:solidFill>
                  <a:schemeClr val="tx1"/>
                </a:solidFill>
                <a:round/>
                <a:tailEnd type="triangle" w="med" len="med"/>
              </a:ln>
            </p:spPr>
          </p:cxnSp>
          <p:sp>
            <p:nvSpPr>
              <p:cNvPr id="191" name="Text Box 48"/>
              <p:cNvSpPr txBox="1">
                <a:spLocks noChangeArrowheads="1"/>
              </p:cNvSpPr>
              <p:nvPr/>
            </p:nvSpPr>
            <p:spPr bwMode="auto">
              <a:xfrm>
                <a:off x="2476711" y="2080749"/>
                <a:ext cx="1000132" cy="246221"/>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1000" b="1" dirty="0">
                    <a:latin typeface="微软雅黑" panose="020B0503020204020204" charset="-122"/>
                    <a:ea typeface="微软雅黑" panose="020B0503020204020204" charset="-122"/>
                  </a:rPr>
                  <a:t>需求计划</a:t>
                </a:r>
                <a:endParaRPr lang="en-US" sz="1000" b="1" dirty="0">
                  <a:latin typeface="微软雅黑" panose="020B0503020204020204" charset="-122"/>
                  <a:ea typeface="微软雅黑" panose="020B0503020204020204" charset="-122"/>
                </a:endParaRPr>
              </a:p>
            </p:txBody>
          </p:sp>
          <p:sp>
            <p:nvSpPr>
              <p:cNvPr id="192" name="Text Box 48"/>
              <p:cNvSpPr txBox="1">
                <a:spLocks noChangeArrowheads="1"/>
              </p:cNvSpPr>
              <p:nvPr/>
            </p:nvSpPr>
            <p:spPr bwMode="auto">
              <a:xfrm>
                <a:off x="2396202" y="2506373"/>
                <a:ext cx="550866"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1000" b="1" dirty="0">
                    <a:latin typeface="微软雅黑" panose="020B0503020204020204" charset="-122"/>
                    <a:ea typeface="微软雅黑" panose="020B0503020204020204" charset="-122"/>
                  </a:rPr>
                  <a:t>平衡</a:t>
                </a:r>
                <a:endParaRPr lang="en-US" altLang="zh-CN" sz="1000" b="1" dirty="0">
                  <a:latin typeface="微软雅黑" panose="020B0503020204020204" charset="-122"/>
                  <a:ea typeface="微软雅黑" panose="020B0503020204020204" charset="-122"/>
                </a:endParaRPr>
              </a:p>
              <a:p>
                <a:pPr algn="ctr">
                  <a:defRPr/>
                </a:pPr>
                <a:r>
                  <a:rPr lang="zh-CN" altLang="en-US" sz="1000" b="1" dirty="0">
                    <a:latin typeface="微软雅黑" panose="020B0503020204020204" charset="-122"/>
                    <a:ea typeface="微软雅黑" panose="020B0503020204020204" charset="-122"/>
                  </a:rPr>
                  <a:t>计划</a:t>
                </a:r>
                <a:endParaRPr lang="en-US" sz="1000" b="1" dirty="0">
                  <a:latin typeface="微软雅黑" panose="020B0503020204020204" charset="-122"/>
                  <a:ea typeface="微软雅黑" panose="020B0503020204020204" charset="-122"/>
                </a:endParaRPr>
              </a:p>
            </p:txBody>
          </p:sp>
          <p:sp>
            <p:nvSpPr>
              <p:cNvPr id="193" name="Text Box 48"/>
              <p:cNvSpPr txBox="1">
                <a:spLocks noChangeArrowheads="1"/>
              </p:cNvSpPr>
              <p:nvPr/>
            </p:nvSpPr>
            <p:spPr bwMode="auto">
              <a:xfrm>
                <a:off x="3549417" y="2478024"/>
                <a:ext cx="736028"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1000" b="1" dirty="0">
                    <a:latin typeface="微软雅黑" panose="020B0503020204020204" charset="-122"/>
                    <a:ea typeface="微软雅黑" panose="020B0503020204020204" charset="-122"/>
                  </a:rPr>
                  <a:t>供应</a:t>
                </a:r>
                <a:br>
                  <a:rPr lang="en-US" altLang="zh-CN" sz="1000" b="1" dirty="0">
                    <a:latin typeface="微软雅黑" panose="020B0503020204020204" charset="-122"/>
                    <a:ea typeface="微软雅黑" panose="020B0503020204020204" charset="-122"/>
                  </a:rPr>
                </a:br>
                <a:r>
                  <a:rPr lang="zh-CN" altLang="en-US" sz="1000" b="1" dirty="0">
                    <a:latin typeface="微软雅黑" panose="020B0503020204020204" charset="-122"/>
                    <a:ea typeface="微软雅黑" panose="020B0503020204020204" charset="-122"/>
                  </a:rPr>
                  <a:t>计划</a:t>
                </a:r>
                <a:endParaRPr lang="en-US" sz="1000" b="1" dirty="0">
                  <a:latin typeface="微软雅黑" panose="020B0503020204020204" charset="-122"/>
                  <a:ea typeface="微软雅黑" panose="020B0503020204020204" charset="-122"/>
                </a:endParaRPr>
              </a:p>
            </p:txBody>
          </p:sp>
          <p:sp>
            <p:nvSpPr>
              <p:cNvPr id="194" name="Text Box 48"/>
              <p:cNvSpPr txBox="1">
                <a:spLocks noChangeArrowheads="1"/>
              </p:cNvSpPr>
              <p:nvPr/>
            </p:nvSpPr>
            <p:spPr bwMode="auto">
              <a:xfrm>
                <a:off x="1477715" y="2698291"/>
                <a:ext cx="950342"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defRPr/>
                </a:pPr>
                <a:r>
                  <a:rPr lang="zh-CN" altLang="en-US" sz="1000" b="1" dirty="0">
                    <a:latin typeface="微软雅黑" panose="020B0503020204020204" charset="-122"/>
                    <a:ea typeface="微软雅黑" panose="020B0503020204020204" charset="-122"/>
                  </a:rPr>
                  <a:t>订单优先级</a:t>
                </a:r>
                <a:endParaRPr lang="en-US" altLang="zh-CN" sz="1000" b="1" dirty="0">
                  <a:latin typeface="微软雅黑" panose="020B0503020204020204" charset="-122"/>
                  <a:ea typeface="微软雅黑" panose="020B0503020204020204" charset="-122"/>
                </a:endParaRPr>
              </a:p>
              <a:p>
                <a:pPr>
                  <a:defRPr/>
                </a:pPr>
                <a:r>
                  <a:rPr lang="zh-CN" altLang="en-US" sz="1000" b="1" dirty="0">
                    <a:latin typeface="微软雅黑" panose="020B0503020204020204" charset="-122"/>
                    <a:ea typeface="微软雅黑" panose="020B0503020204020204" charset="-122"/>
                  </a:rPr>
                  <a:t>与上线日期</a:t>
                </a:r>
                <a:endParaRPr lang="en-US" sz="1000" b="1" dirty="0">
                  <a:latin typeface="微软雅黑" panose="020B0503020204020204" charset="-122"/>
                  <a:ea typeface="微软雅黑" panose="020B0503020204020204" charset="-122"/>
                </a:endParaRPr>
              </a:p>
            </p:txBody>
          </p:sp>
          <p:sp>
            <p:nvSpPr>
              <p:cNvPr id="195" name="Text Box 48"/>
              <p:cNvSpPr txBox="1">
                <a:spLocks noChangeArrowheads="1"/>
              </p:cNvSpPr>
              <p:nvPr/>
            </p:nvSpPr>
            <p:spPr bwMode="auto">
              <a:xfrm>
                <a:off x="4227510" y="3848557"/>
                <a:ext cx="1093218" cy="246221"/>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1000" b="1" dirty="0">
                    <a:latin typeface="微软雅黑" panose="020B0503020204020204" charset="-122"/>
                    <a:ea typeface="微软雅黑" panose="020B0503020204020204" charset="-122"/>
                  </a:rPr>
                  <a:t>整机交付计划</a:t>
                </a:r>
                <a:endParaRPr lang="en-US" sz="1000" b="1" dirty="0">
                  <a:latin typeface="微软雅黑" panose="020B0503020204020204" charset="-122"/>
                  <a:ea typeface="微软雅黑" panose="020B0503020204020204" charset="-122"/>
                </a:endParaRPr>
              </a:p>
            </p:txBody>
          </p:sp>
          <p:sp>
            <p:nvSpPr>
              <p:cNvPr id="196" name="Text Box 48"/>
              <p:cNvSpPr txBox="1">
                <a:spLocks noChangeArrowheads="1"/>
              </p:cNvSpPr>
              <p:nvPr/>
            </p:nvSpPr>
            <p:spPr bwMode="auto">
              <a:xfrm>
                <a:off x="892500" y="2656564"/>
                <a:ext cx="521714"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defRPr/>
                </a:pPr>
                <a:r>
                  <a:rPr lang="zh-CN" altLang="en-US" sz="1000" b="1" dirty="0">
                    <a:latin typeface="微软雅黑" panose="020B0503020204020204" charset="-122"/>
                    <a:ea typeface="微软雅黑" panose="020B0503020204020204" charset="-122"/>
                  </a:rPr>
                  <a:t>确定订单</a:t>
                </a:r>
                <a:endParaRPr lang="en-US" sz="1000" b="1" dirty="0">
                  <a:latin typeface="微软雅黑" panose="020B0503020204020204" charset="-122"/>
                  <a:ea typeface="微软雅黑" panose="020B0503020204020204" charset="-122"/>
                </a:endParaRPr>
              </a:p>
            </p:txBody>
          </p:sp>
          <p:sp>
            <p:nvSpPr>
              <p:cNvPr id="197" name="Text Box 48"/>
              <p:cNvSpPr txBox="1">
                <a:spLocks noChangeArrowheads="1"/>
              </p:cNvSpPr>
              <p:nvPr/>
            </p:nvSpPr>
            <p:spPr bwMode="auto">
              <a:xfrm>
                <a:off x="892500" y="1858496"/>
                <a:ext cx="521714"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defRPr/>
                </a:pPr>
                <a:r>
                  <a:rPr lang="zh-CN" altLang="en-US" sz="1000" b="1" dirty="0">
                    <a:latin typeface="微软雅黑" panose="020B0503020204020204" charset="-122"/>
                    <a:ea typeface="微软雅黑" panose="020B0503020204020204" charset="-122"/>
                  </a:rPr>
                  <a:t>意向信息</a:t>
                </a:r>
                <a:endParaRPr lang="en-US" sz="1000" b="1" dirty="0">
                  <a:latin typeface="微软雅黑" panose="020B0503020204020204" charset="-122"/>
                  <a:ea typeface="微软雅黑" panose="020B0503020204020204" charset="-122"/>
                </a:endParaRPr>
              </a:p>
            </p:txBody>
          </p:sp>
          <p:sp>
            <p:nvSpPr>
              <p:cNvPr id="198" name="Text Box 23"/>
              <p:cNvSpPr txBox="1">
                <a:spLocks noChangeArrowheads="1"/>
              </p:cNvSpPr>
              <p:nvPr/>
            </p:nvSpPr>
            <p:spPr bwMode="auto">
              <a:xfrm>
                <a:off x="5085448" y="2285992"/>
                <a:ext cx="714380" cy="428628"/>
              </a:xfrm>
              <a:prstGeom prst="rect">
                <a:avLst/>
              </a:prstGeom>
              <a:solidFill>
                <a:schemeClr val="accent1">
                  <a:lumMod val="40000"/>
                  <a:lumOff val="60000"/>
                </a:schemeClr>
              </a:solidFill>
              <a:ln w="12700" algn="ctr">
                <a:solidFill>
                  <a:schemeClr val="tx1"/>
                </a:solidFill>
                <a:miter lim="800000"/>
              </a:ln>
            </p:spPr>
            <p:txBody>
              <a:bodyPr lIns="90000" tIns="46800" rIns="90000" bIns="46800" anchor="ctr"/>
              <a:lstStyle/>
              <a:p>
                <a:pPr algn="ctr">
                  <a:spcBef>
                    <a:spcPct val="50000"/>
                  </a:spcBef>
                </a:pPr>
                <a:r>
                  <a:rPr lang="zh-CN" altLang="en-US" sz="1200" b="1" dirty="0">
                    <a:latin typeface="微软雅黑" panose="020B0503020204020204" charset="-122"/>
                    <a:ea typeface="微软雅黑" panose="020B0503020204020204" charset="-122"/>
                  </a:rPr>
                  <a:t>零部件</a:t>
                </a:r>
                <a:br>
                  <a:rPr lang="en-US" altLang="zh-CN" sz="1200" b="1" dirty="0">
                    <a:latin typeface="微软雅黑" panose="020B0503020204020204" charset="-122"/>
                    <a:ea typeface="微软雅黑" panose="020B0503020204020204" charset="-122"/>
                  </a:rPr>
                </a:br>
                <a:r>
                  <a:rPr lang="zh-CN" altLang="en-US" sz="1200" b="1" dirty="0">
                    <a:latin typeface="微软雅黑" panose="020B0503020204020204" charset="-122"/>
                    <a:ea typeface="微软雅黑" panose="020B0503020204020204" charset="-122"/>
                  </a:rPr>
                  <a:t>采购</a:t>
                </a:r>
                <a:endParaRPr lang="en-US" altLang="zh-CN" sz="1200" b="1" dirty="0">
                  <a:latin typeface="微软雅黑" panose="020B0503020204020204" charset="-122"/>
                  <a:ea typeface="微软雅黑" panose="020B0503020204020204" charset="-122"/>
                </a:endParaRPr>
              </a:p>
            </p:txBody>
          </p:sp>
          <p:cxnSp>
            <p:nvCxnSpPr>
              <p:cNvPr id="199" name="AutoShape 50"/>
              <p:cNvCxnSpPr>
                <a:cxnSpLocks noChangeShapeType="1"/>
                <a:stCxn id="185" idx="3"/>
                <a:endCxn id="198" idx="1"/>
              </p:cNvCxnSpPr>
              <p:nvPr/>
            </p:nvCxnSpPr>
            <p:spPr bwMode="auto">
              <a:xfrm>
                <a:off x="4789714" y="2500306"/>
                <a:ext cx="295734" cy="1588"/>
              </a:xfrm>
              <a:prstGeom prst="straightConnector1">
                <a:avLst/>
              </a:prstGeom>
              <a:noFill/>
              <a:ln w="15875">
                <a:solidFill>
                  <a:schemeClr val="tx1"/>
                </a:solidFill>
                <a:round/>
                <a:tailEnd type="triangle" w="med" len="med"/>
              </a:ln>
            </p:spPr>
          </p:cxnSp>
          <p:sp>
            <p:nvSpPr>
              <p:cNvPr id="200" name="Text Box 48"/>
              <p:cNvSpPr txBox="1">
                <a:spLocks noChangeArrowheads="1"/>
              </p:cNvSpPr>
              <p:nvPr/>
            </p:nvSpPr>
            <p:spPr bwMode="auto">
              <a:xfrm>
                <a:off x="5013328" y="2677142"/>
                <a:ext cx="571504"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1000" b="1" dirty="0">
                    <a:latin typeface="微软雅黑" panose="020B0503020204020204" charset="-122"/>
                    <a:ea typeface="微软雅黑" panose="020B0503020204020204" charset="-122"/>
                  </a:rPr>
                  <a:t>配送</a:t>
                </a:r>
                <a:br>
                  <a:rPr lang="en-US" altLang="zh-CN" sz="1000" b="1" dirty="0">
                    <a:latin typeface="微软雅黑" panose="020B0503020204020204" charset="-122"/>
                    <a:ea typeface="微软雅黑" panose="020B0503020204020204" charset="-122"/>
                  </a:rPr>
                </a:br>
                <a:r>
                  <a:rPr lang="zh-CN" altLang="en-US" sz="1000" b="1" dirty="0">
                    <a:latin typeface="微软雅黑" panose="020B0503020204020204" charset="-122"/>
                    <a:ea typeface="微软雅黑" panose="020B0503020204020204" charset="-122"/>
                  </a:rPr>
                  <a:t>指令</a:t>
                </a:r>
                <a:endParaRPr lang="en-US" sz="1000" b="1" dirty="0">
                  <a:latin typeface="微软雅黑" panose="020B0503020204020204" charset="-122"/>
                  <a:ea typeface="微软雅黑" panose="020B0503020204020204" charset="-122"/>
                </a:endParaRPr>
              </a:p>
            </p:txBody>
          </p:sp>
          <p:sp>
            <p:nvSpPr>
              <p:cNvPr id="201" name="Text Box 48"/>
              <p:cNvSpPr txBox="1">
                <a:spLocks noChangeArrowheads="1"/>
              </p:cNvSpPr>
              <p:nvPr/>
            </p:nvSpPr>
            <p:spPr bwMode="auto">
              <a:xfrm>
                <a:off x="4672466" y="2114088"/>
                <a:ext cx="571504"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1000" b="1" dirty="0">
                    <a:latin typeface="微软雅黑" panose="020B0503020204020204" charset="-122"/>
                    <a:ea typeface="微软雅黑" panose="020B0503020204020204" charset="-122"/>
                  </a:rPr>
                  <a:t>采购</a:t>
                </a:r>
                <a:endParaRPr lang="en-US" altLang="zh-CN" sz="1000" b="1" dirty="0">
                  <a:latin typeface="微软雅黑" panose="020B0503020204020204" charset="-122"/>
                  <a:ea typeface="微软雅黑" panose="020B0503020204020204" charset="-122"/>
                </a:endParaRPr>
              </a:p>
              <a:p>
                <a:pPr algn="ctr">
                  <a:defRPr/>
                </a:pPr>
                <a:r>
                  <a:rPr lang="zh-CN" altLang="en-US" sz="1000" b="1" dirty="0">
                    <a:latin typeface="微软雅黑" panose="020B0503020204020204" charset="-122"/>
                    <a:ea typeface="微软雅黑" panose="020B0503020204020204" charset="-122"/>
                  </a:rPr>
                  <a:t>订单</a:t>
                </a:r>
                <a:endParaRPr lang="en-US" sz="1000" b="1" dirty="0">
                  <a:latin typeface="微软雅黑" panose="020B0503020204020204" charset="-122"/>
                  <a:ea typeface="微软雅黑" panose="020B0503020204020204" charset="-122"/>
                </a:endParaRPr>
              </a:p>
            </p:txBody>
          </p:sp>
          <p:sp>
            <p:nvSpPr>
              <p:cNvPr id="202" name="Text Box 48"/>
              <p:cNvSpPr txBox="1">
                <a:spLocks noChangeArrowheads="1"/>
              </p:cNvSpPr>
              <p:nvPr/>
            </p:nvSpPr>
            <p:spPr bwMode="auto">
              <a:xfrm>
                <a:off x="2172136" y="3527824"/>
                <a:ext cx="571504" cy="400110"/>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lgn="ctr">
                  <a:defRPr/>
                </a:pPr>
                <a:r>
                  <a:rPr lang="zh-CN" altLang="en-US" sz="1000" b="1" dirty="0">
                    <a:latin typeface="微软雅黑" panose="020B0503020204020204" charset="-122"/>
                    <a:ea typeface="微软雅黑" panose="020B0503020204020204" charset="-122"/>
                  </a:rPr>
                  <a:t>配送</a:t>
                </a:r>
                <a:br>
                  <a:rPr lang="en-US" altLang="zh-CN" sz="1000" b="1" dirty="0">
                    <a:latin typeface="微软雅黑" panose="020B0503020204020204" charset="-122"/>
                    <a:ea typeface="微软雅黑" panose="020B0503020204020204" charset="-122"/>
                  </a:rPr>
                </a:br>
                <a:r>
                  <a:rPr lang="zh-CN" altLang="en-US" sz="1000" b="1" dirty="0">
                    <a:latin typeface="微软雅黑" panose="020B0503020204020204" charset="-122"/>
                    <a:ea typeface="微软雅黑" panose="020B0503020204020204" charset="-122"/>
                  </a:rPr>
                  <a:t>指令</a:t>
                </a:r>
                <a:endParaRPr lang="en-US" sz="1000" b="1" dirty="0">
                  <a:latin typeface="微软雅黑" panose="020B0503020204020204" charset="-122"/>
                  <a:ea typeface="微软雅黑" panose="020B0503020204020204" charset="-122"/>
                </a:endParaRPr>
              </a:p>
            </p:txBody>
          </p:sp>
        </p:grpSp>
      </p:grpSp>
      <p:grpSp>
        <p:nvGrpSpPr>
          <p:cNvPr id="203" name="组合 162"/>
          <p:cNvGrpSpPr/>
          <p:nvPr/>
        </p:nvGrpSpPr>
        <p:grpSpPr>
          <a:xfrm>
            <a:off x="84106" y="1142984"/>
            <a:ext cx="7631166" cy="3949728"/>
            <a:chOff x="145143" y="1122346"/>
            <a:chExt cx="7631166" cy="3949728"/>
          </a:xfrm>
        </p:grpSpPr>
        <p:sp>
          <p:nvSpPr>
            <p:cNvPr id="204" name="AutoShape 78"/>
            <p:cNvSpPr>
              <a:spLocks noChangeArrowheads="1"/>
            </p:cNvSpPr>
            <p:nvPr/>
          </p:nvSpPr>
          <p:spPr bwMode="auto">
            <a:xfrm>
              <a:off x="500034" y="3643314"/>
              <a:ext cx="1143008" cy="857256"/>
            </a:xfrm>
            <a:prstGeom prst="wedgeRoundRectCallout">
              <a:avLst>
                <a:gd name="adj1" fmla="val -18041"/>
                <a:gd name="adj2" fmla="val -67328"/>
                <a:gd name="adj3" fmla="val 16667"/>
              </a:avLst>
            </a:prstGeom>
            <a:solidFill>
              <a:srgbClr val="FFFF00"/>
            </a:solidFill>
            <a:ln w="19050" algn="ctr">
              <a:solidFill>
                <a:srgbClr val="242490"/>
              </a:solidFill>
              <a:miter lim="800000"/>
            </a:ln>
          </p:spPr>
          <p:txBody>
            <a:bodyPr lIns="36000" tIns="36000" rIns="36000" bIns="36000" anchor="ctr"/>
            <a:lstStyle/>
            <a:p>
              <a:pPr marL="0" lvl="1"/>
              <a:r>
                <a:rPr lang="en-US" altLang="zh-CN" sz="1200" b="1" dirty="0">
                  <a:latin typeface="微软雅黑" panose="020B0503020204020204" charset="-122"/>
                  <a:ea typeface="微软雅黑" panose="020B0503020204020204" charset="-122"/>
                </a:rPr>
                <a:t>Q2</a:t>
              </a:r>
              <a:r>
                <a:rPr lang="en-US" altLang="zh-CN" sz="1200" dirty="0">
                  <a:latin typeface="微软雅黑" panose="020B0503020204020204" charset="-122"/>
                  <a:ea typeface="微软雅黑" panose="020B0503020204020204" charset="-122"/>
                </a:rPr>
                <a:t> : </a:t>
              </a:r>
              <a:r>
                <a:rPr lang="zh-CN" altLang="en-US" sz="1200" dirty="0">
                  <a:latin typeface="微软雅黑" panose="020B0503020204020204" charset="-122"/>
                  <a:ea typeface="微软雅黑" panose="020B0503020204020204" charset="-122"/>
                </a:rPr>
                <a:t>缺乏端到端的订单管理，订单处理规则不明确</a:t>
              </a:r>
              <a:endParaRPr lang="en-US" altLang="zh-CN" sz="1200" dirty="0">
                <a:latin typeface="微软雅黑" panose="020B0503020204020204" charset="-122"/>
                <a:ea typeface="微软雅黑" panose="020B0503020204020204" charset="-122"/>
              </a:endParaRPr>
            </a:p>
          </p:txBody>
        </p:sp>
        <p:sp>
          <p:nvSpPr>
            <p:cNvPr id="205" name="AutoShape 78"/>
            <p:cNvSpPr>
              <a:spLocks noChangeArrowheads="1"/>
            </p:cNvSpPr>
            <p:nvPr/>
          </p:nvSpPr>
          <p:spPr bwMode="auto">
            <a:xfrm>
              <a:off x="1788217" y="1122346"/>
              <a:ext cx="1500198" cy="571504"/>
            </a:xfrm>
            <a:prstGeom prst="wedgeRoundRectCallout">
              <a:avLst>
                <a:gd name="adj1" fmla="val -41866"/>
                <a:gd name="adj2" fmla="val 158068"/>
                <a:gd name="adj3" fmla="val 16667"/>
              </a:avLst>
            </a:prstGeom>
            <a:solidFill>
              <a:srgbClr val="FFFF00"/>
            </a:solidFill>
            <a:ln w="19050" algn="ctr">
              <a:solidFill>
                <a:srgbClr val="242490"/>
              </a:solidFill>
              <a:miter lim="800000"/>
            </a:ln>
          </p:spPr>
          <p:txBody>
            <a:bodyPr lIns="36000" tIns="36000" rIns="36000" bIns="36000" anchor="ctr"/>
            <a:lstStyle/>
            <a:p>
              <a:pPr marL="0" lvl="1"/>
              <a:r>
                <a:rPr lang="en-US" altLang="zh-CN" sz="1200" b="1" dirty="0">
                  <a:latin typeface="微软雅黑" panose="020B0503020204020204" charset="-122"/>
                  <a:ea typeface="微软雅黑" panose="020B0503020204020204" charset="-122"/>
                </a:rPr>
                <a:t>Q3</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产销平衡机制有待完善</a:t>
              </a:r>
              <a:endParaRPr lang="en-US" altLang="zh-CN" sz="1200" dirty="0">
                <a:latin typeface="微软雅黑" panose="020B0503020204020204" charset="-122"/>
                <a:ea typeface="微软雅黑" panose="020B0503020204020204" charset="-122"/>
              </a:endParaRPr>
            </a:p>
          </p:txBody>
        </p:sp>
        <p:sp>
          <p:nvSpPr>
            <p:cNvPr id="206" name="AutoShape 78"/>
            <p:cNvSpPr>
              <a:spLocks noChangeArrowheads="1"/>
            </p:cNvSpPr>
            <p:nvPr/>
          </p:nvSpPr>
          <p:spPr bwMode="auto">
            <a:xfrm>
              <a:off x="5457152" y="1514688"/>
              <a:ext cx="1500198" cy="714380"/>
            </a:xfrm>
            <a:prstGeom prst="wedgeRoundRectCallout">
              <a:avLst>
                <a:gd name="adj1" fmla="val -96166"/>
                <a:gd name="adj2" fmla="val 66428"/>
                <a:gd name="adj3" fmla="val 16667"/>
              </a:avLst>
            </a:prstGeom>
            <a:solidFill>
              <a:srgbClr val="FFFF00"/>
            </a:solidFill>
            <a:ln w="19050" algn="ctr">
              <a:solidFill>
                <a:srgbClr val="242490"/>
              </a:solidFill>
              <a:miter lim="800000"/>
            </a:ln>
          </p:spPr>
          <p:txBody>
            <a:bodyPr lIns="36000" tIns="36000" rIns="36000" bIns="36000" anchor="ctr"/>
            <a:lstStyle/>
            <a:p>
              <a:pPr marL="0" lvl="1"/>
              <a:r>
                <a:rPr lang="en-US" altLang="zh-CN" sz="1200" b="1" dirty="0">
                  <a:latin typeface="微软雅黑" panose="020B0503020204020204" charset="-122"/>
                  <a:ea typeface="微软雅黑" panose="020B0503020204020204" charset="-122"/>
                </a:rPr>
                <a:t>Q5</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零部件计划方式及准确度对供应商指导性不足</a:t>
              </a:r>
              <a:endParaRPr lang="en-US" altLang="zh-CN" sz="1200" dirty="0">
                <a:latin typeface="微软雅黑" panose="020B0503020204020204" charset="-122"/>
                <a:ea typeface="微软雅黑" panose="020B0503020204020204" charset="-122"/>
              </a:endParaRPr>
            </a:p>
          </p:txBody>
        </p:sp>
        <p:sp>
          <p:nvSpPr>
            <p:cNvPr id="207" name="AutoShape 78"/>
            <p:cNvSpPr>
              <a:spLocks noChangeArrowheads="1"/>
            </p:cNvSpPr>
            <p:nvPr/>
          </p:nvSpPr>
          <p:spPr bwMode="auto">
            <a:xfrm>
              <a:off x="6000759" y="2357430"/>
              <a:ext cx="1775550" cy="642942"/>
            </a:xfrm>
            <a:prstGeom prst="wedgeRoundRectCallout">
              <a:avLst>
                <a:gd name="adj1" fmla="val -32554"/>
                <a:gd name="adj2" fmla="val 74329"/>
                <a:gd name="adj3" fmla="val 16667"/>
              </a:avLst>
            </a:prstGeom>
            <a:solidFill>
              <a:srgbClr val="FFFF00"/>
            </a:solidFill>
            <a:ln w="19050" algn="ctr">
              <a:solidFill>
                <a:srgbClr val="242490"/>
              </a:solidFill>
              <a:miter lim="800000"/>
            </a:ln>
          </p:spPr>
          <p:txBody>
            <a:bodyPr lIns="36000" tIns="36000" rIns="36000" bIns="36000" anchor="ctr"/>
            <a:lstStyle/>
            <a:p>
              <a:pPr marL="0" lvl="1"/>
              <a:r>
                <a:rPr lang="en-US" altLang="zh-CN" sz="1200" b="1" dirty="0">
                  <a:latin typeface="微软雅黑" panose="020B0503020204020204" charset="-122"/>
                  <a:ea typeface="微软雅黑" panose="020B0503020204020204" charset="-122"/>
                </a:rPr>
                <a:t>Q6</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因计划变更等造成的零部件缺件较多，供应及预警机制需完善</a:t>
              </a:r>
              <a:endParaRPr lang="en-US" altLang="zh-CN" sz="1200" dirty="0">
                <a:latin typeface="微软雅黑" panose="020B0503020204020204" charset="-122"/>
                <a:ea typeface="微软雅黑" panose="020B0503020204020204" charset="-122"/>
              </a:endParaRPr>
            </a:p>
          </p:txBody>
        </p:sp>
        <p:sp>
          <p:nvSpPr>
            <p:cNvPr id="208" name="AutoShape 78"/>
            <p:cNvSpPr>
              <a:spLocks noChangeArrowheads="1"/>
            </p:cNvSpPr>
            <p:nvPr/>
          </p:nvSpPr>
          <p:spPr bwMode="auto">
            <a:xfrm>
              <a:off x="2143108" y="3643314"/>
              <a:ext cx="1071570" cy="857256"/>
            </a:xfrm>
            <a:prstGeom prst="wedgeRoundRectCallout">
              <a:avLst>
                <a:gd name="adj1" fmla="val -35069"/>
                <a:gd name="adj2" fmla="val -77486"/>
                <a:gd name="adj3" fmla="val 16667"/>
              </a:avLst>
            </a:prstGeom>
            <a:solidFill>
              <a:srgbClr val="FFFF00"/>
            </a:solidFill>
            <a:ln w="19050" algn="ctr">
              <a:solidFill>
                <a:srgbClr val="242490"/>
              </a:solidFill>
              <a:miter lim="800000"/>
            </a:ln>
          </p:spPr>
          <p:txBody>
            <a:bodyPr lIns="36000" tIns="36000" rIns="36000" bIns="36000" anchor="ctr"/>
            <a:lstStyle/>
            <a:p>
              <a:pPr marL="0" lvl="1"/>
              <a:r>
                <a:rPr lang="en-US" altLang="zh-CN" sz="1200" b="1" dirty="0">
                  <a:latin typeface="微软雅黑" panose="020B0503020204020204" charset="-122"/>
                  <a:ea typeface="微软雅黑" panose="020B0503020204020204" charset="-122"/>
                </a:rPr>
                <a:t>Q4</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日锁定计划难以真正锁定，影响生产稳定性</a:t>
              </a:r>
              <a:endParaRPr lang="en-US" altLang="zh-CN" sz="1200" dirty="0">
                <a:latin typeface="微软雅黑" panose="020B0503020204020204" charset="-122"/>
                <a:ea typeface="微软雅黑" panose="020B0503020204020204" charset="-122"/>
              </a:endParaRPr>
            </a:p>
          </p:txBody>
        </p:sp>
        <p:sp>
          <p:nvSpPr>
            <p:cNvPr id="209" name="AutoShape 78"/>
            <p:cNvSpPr>
              <a:spLocks noChangeArrowheads="1"/>
            </p:cNvSpPr>
            <p:nvPr/>
          </p:nvSpPr>
          <p:spPr bwMode="auto">
            <a:xfrm>
              <a:off x="3786182" y="4429132"/>
              <a:ext cx="1571636" cy="642942"/>
            </a:xfrm>
            <a:prstGeom prst="wedgeRoundRectCallout">
              <a:avLst>
                <a:gd name="adj1" fmla="val -47066"/>
                <a:gd name="adj2" fmla="val -82565"/>
                <a:gd name="adj3" fmla="val 16667"/>
              </a:avLst>
            </a:prstGeom>
            <a:solidFill>
              <a:srgbClr val="FFFF00"/>
            </a:solidFill>
            <a:ln w="19050" algn="ctr">
              <a:solidFill>
                <a:srgbClr val="242490"/>
              </a:solidFill>
              <a:miter lim="800000"/>
            </a:ln>
          </p:spPr>
          <p:txBody>
            <a:bodyPr lIns="36000" tIns="36000" rIns="36000" bIns="36000" anchor="ctr"/>
            <a:lstStyle/>
            <a:p>
              <a:pPr marL="0" lvl="1"/>
              <a:r>
                <a:rPr lang="en-US" altLang="zh-CN" sz="1200" b="1" dirty="0">
                  <a:latin typeface="微软雅黑" panose="020B0503020204020204" charset="-122"/>
                  <a:ea typeface="微软雅黑" panose="020B0503020204020204" charset="-122"/>
                </a:rPr>
                <a:t>Q8</a:t>
              </a:r>
              <a:r>
                <a:rPr lang="en-US" altLang="zh-CN" sz="1200" dirty="0">
                  <a:latin typeface="微软雅黑" panose="020B0503020204020204" charset="-122"/>
                  <a:ea typeface="微软雅黑" panose="020B0503020204020204" charset="-122"/>
                </a:rPr>
                <a:t>: MES</a:t>
              </a:r>
              <a:r>
                <a:rPr lang="zh-CN" altLang="en-US" sz="1200" dirty="0">
                  <a:latin typeface="微软雅黑" panose="020B0503020204020204" charset="-122"/>
                  <a:ea typeface="微软雅黑" panose="020B0503020204020204" charset="-122"/>
                </a:rPr>
                <a:t>自动化集成化程度较低，影响生产制造精益化水平</a:t>
              </a:r>
              <a:endPar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10" name="AutoShape 78"/>
            <p:cNvSpPr>
              <a:spLocks noChangeArrowheads="1"/>
            </p:cNvSpPr>
            <p:nvPr/>
          </p:nvSpPr>
          <p:spPr bwMode="auto">
            <a:xfrm>
              <a:off x="5572132" y="3643314"/>
              <a:ext cx="1643074" cy="714380"/>
            </a:xfrm>
            <a:prstGeom prst="wedgeRoundRectCallout">
              <a:avLst>
                <a:gd name="adj1" fmla="val -36340"/>
                <a:gd name="adj2" fmla="val -76810"/>
                <a:gd name="adj3" fmla="val 16667"/>
              </a:avLst>
            </a:prstGeom>
            <a:solidFill>
              <a:srgbClr val="FFFF00"/>
            </a:solidFill>
            <a:ln w="19050" algn="ctr">
              <a:solidFill>
                <a:srgbClr val="242490"/>
              </a:solidFill>
              <a:miter lim="800000"/>
            </a:ln>
          </p:spPr>
          <p:txBody>
            <a:bodyPr lIns="36000" tIns="36000" rIns="36000" bIns="36000" anchor="ctr"/>
            <a:lstStyle/>
            <a:p>
              <a:pPr marL="0" lvl="1"/>
              <a:r>
                <a:rPr lang="en-US" altLang="zh-CN" sz="1200" b="1" dirty="0">
                  <a:latin typeface="微软雅黑" panose="020B0503020204020204" charset="-122"/>
                  <a:ea typeface="微软雅黑" panose="020B0503020204020204" charset="-122"/>
                </a:rPr>
                <a:t>Q7</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工程变更频繁，且信息下达不及时，影响生产的顺畅运行</a:t>
              </a:r>
              <a:endParaRPr lang="en-US" altLang="zh-CN" sz="1200" dirty="0">
                <a:latin typeface="微软雅黑" panose="020B0503020204020204" charset="-122"/>
                <a:ea typeface="微软雅黑" panose="020B0503020204020204" charset="-122"/>
              </a:endParaRPr>
            </a:p>
          </p:txBody>
        </p:sp>
        <p:sp>
          <p:nvSpPr>
            <p:cNvPr id="211" name="AutoShape 78"/>
            <p:cNvSpPr>
              <a:spLocks noChangeArrowheads="1"/>
            </p:cNvSpPr>
            <p:nvPr/>
          </p:nvSpPr>
          <p:spPr bwMode="auto">
            <a:xfrm>
              <a:off x="145143" y="1514688"/>
              <a:ext cx="1426461" cy="667659"/>
            </a:xfrm>
            <a:prstGeom prst="wedgeRoundRectCallout">
              <a:avLst>
                <a:gd name="adj1" fmla="val 62106"/>
                <a:gd name="adj2" fmla="val -1188"/>
                <a:gd name="adj3" fmla="val 16667"/>
              </a:avLst>
            </a:prstGeom>
            <a:solidFill>
              <a:srgbClr val="FFFF00"/>
            </a:solidFill>
            <a:ln w="19050" algn="ctr">
              <a:solidFill>
                <a:srgbClr val="242490"/>
              </a:solidFill>
              <a:miter lim="800000"/>
            </a:ln>
          </p:spPr>
          <p:txBody>
            <a:bodyPr lIns="36000" tIns="36000" rIns="36000" bIns="36000" anchor="ctr"/>
            <a:lstStyle/>
            <a:p>
              <a:pPr marL="0" lvl="1"/>
              <a:r>
                <a:rPr lang="en-US" altLang="zh-CN" sz="1200" b="1" dirty="0">
                  <a:latin typeface="微软雅黑" panose="020B0503020204020204" charset="-122"/>
                  <a:ea typeface="微软雅黑" panose="020B0503020204020204" charset="-122"/>
                </a:rPr>
                <a:t>Q1</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需求计划准确率偏低，对生产和采购指导性不强</a:t>
              </a:r>
              <a:endParaRPr lang="en-US" altLang="zh-CN" sz="1200" dirty="0">
                <a:latin typeface="微软雅黑" panose="020B0503020204020204" charset="-122"/>
                <a:ea typeface="微软雅黑" panose="020B0503020204020204" charset="-122"/>
              </a:endParaRPr>
            </a:p>
          </p:txBody>
        </p:sp>
      </p:grpSp>
      <p:cxnSp>
        <p:nvCxnSpPr>
          <p:cNvPr id="212" name="AutoShape 50"/>
          <p:cNvCxnSpPr>
            <a:cxnSpLocks noChangeShapeType="1"/>
            <a:stCxn id="155" idx="2"/>
            <a:endCxn id="172" idx="0"/>
          </p:cNvCxnSpPr>
          <p:nvPr/>
        </p:nvCxnSpPr>
        <p:spPr bwMode="auto">
          <a:xfrm rot="5400000">
            <a:off x="2615781" y="2392761"/>
            <a:ext cx="357190" cy="1016784"/>
          </a:xfrm>
          <a:prstGeom prst="bentConnector3">
            <a:avLst>
              <a:gd name="adj1" fmla="val 50000"/>
            </a:avLst>
          </a:prstGeom>
          <a:noFill/>
          <a:ln w="15875">
            <a:solidFill>
              <a:schemeClr val="tx1"/>
            </a:solidFill>
            <a:round/>
            <a:tailEnd type="triangle" w="med" len="med"/>
          </a:ln>
        </p:spPr>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问题描述与根因分析</a:t>
            </a:r>
          </a:p>
        </p:txBody>
      </p:sp>
      <p:sp>
        <p:nvSpPr>
          <p:cNvPr id="144"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148"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149"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151"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152"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graphicFrame>
        <p:nvGraphicFramePr>
          <p:cNvPr id="153" name="Group 71"/>
          <p:cNvGraphicFramePr>
            <a:graphicFrameLocks noGrp="1"/>
          </p:cNvGraphicFramePr>
          <p:nvPr/>
        </p:nvGraphicFramePr>
        <p:xfrm>
          <a:off x="214282" y="1092196"/>
          <a:ext cx="8741032" cy="5431804"/>
        </p:xfrm>
        <a:graphic>
          <a:graphicData uri="http://schemas.openxmlformats.org/drawingml/2006/table">
            <a:tbl>
              <a:tblPr/>
              <a:tblGrid>
                <a:gridCol w="1643074">
                  <a:extLst>
                    <a:ext uri="{9D8B030D-6E8A-4147-A177-3AD203B41FA5}">
                      <a16:colId xmlns:a16="http://schemas.microsoft.com/office/drawing/2014/main" val="20000"/>
                    </a:ext>
                  </a:extLst>
                </a:gridCol>
                <a:gridCol w="1499163">
                  <a:extLst>
                    <a:ext uri="{9D8B030D-6E8A-4147-A177-3AD203B41FA5}">
                      <a16:colId xmlns:a16="http://schemas.microsoft.com/office/drawing/2014/main" val="20001"/>
                    </a:ext>
                  </a:extLst>
                </a:gridCol>
                <a:gridCol w="1001167">
                  <a:extLst>
                    <a:ext uri="{9D8B030D-6E8A-4147-A177-3AD203B41FA5}">
                      <a16:colId xmlns:a16="http://schemas.microsoft.com/office/drawing/2014/main" val="20002"/>
                    </a:ext>
                  </a:extLst>
                </a:gridCol>
                <a:gridCol w="1238351">
                  <a:extLst>
                    <a:ext uri="{9D8B030D-6E8A-4147-A177-3AD203B41FA5}">
                      <a16:colId xmlns:a16="http://schemas.microsoft.com/office/drawing/2014/main" val="20003"/>
                    </a:ext>
                  </a:extLst>
                </a:gridCol>
                <a:gridCol w="1261979">
                  <a:extLst>
                    <a:ext uri="{9D8B030D-6E8A-4147-A177-3AD203B41FA5}">
                      <a16:colId xmlns:a16="http://schemas.microsoft.com/office/drawing/2014/main" val="20004"/>
                    </a:ext>
                  </a:extLst>
                </a:gridCol>
                <a:gridCol w="977539">
                  <a:extLst>
                    <a:ext uri="{9D8B030D-6E8A-4147-A177-3AD203B41FA5}">
                      <a16:colId xmlns:a16="http://schemas.microsoft.com/office/drawing/2014/main" val="20005"/>
                    </a:ext>
                  </a:extLst>
                </a:gridCol>
                <a:gridCol w="1119759">
                  <a:extLst>
                    <a:ext uri="{9D8B030D-6E8A-4147-A177-3AD203B41FA5}">
                      <a16:colId xmlns:a16="http://schemas.microsoft.com/office/drawing/2014/main" val="20006"/>
                    </a:ext>
                  </a:extLst>
                </a:gridCol>
              </a:tblGrid>
              <a:tr h="256205">
                <a:tc rowSpan="2">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关键问题</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rowSpan="2">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问题描述</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gridSpan="5">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根因分析</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276162">
                <a:tc v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v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策略</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组织</a:t>
                      </a:r>
                      <a:r>
                        <a:rPr kumimoji="0" lang="en-US" altLang="zh-CN"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人员</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管理</a:t>
                      </a:r>
                      <a:r>
                        <a:rPr kumimoji="0" lang="en-US" altLang="zh-CN"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流程</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绩效</a:t>
                      </a:r>
                      <a:r>
                        <a:rPr kumimoji="0" lang="en-US" altLang="zh-CN"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/KPI</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en-US" altLang="zh-CN"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IT</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60769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10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Q1</a:t>
                      </a:r>
                      <a:r>
                        <a:rPr kumimoji="0" lang="zh-CN" altLang="en-US" sz="10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lang="zh-CN" altLang="en-US" sz="1000" dirty="0">
                          <a:latin typeface="微软雅黑" panose="020B0503020204020204" charset="-122"/>
                          <a:ea typeface="微软雅黑" panose="020B0503020204020204" charset="-122"/>
                        </a:rPr>
                        <a:t>需求计划准确率偏低，对生产和采购指导性不强</a:t>
                      </a:r>
                      <a:endParaRPr kumimoji="0" lang="zh-CN" altLang="en-US" sz="10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月度需求计划准确率</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57%</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国际：</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38%</a:t>
                      </a:r>
                      <a:endPar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1000" dirty="0">
                          <a:latin typeface="微软雅黑" panose="020B0503020204020204" charset="-122"/>
                          <a:ea typeface="微软雅黑" panose="020B0503020204020204" charset="-122"/>
                        </a:rPr>
                        <a:t>计划模式共识</a:t>
                      </a:r>
                      <a:endParaRPr kumimoji="1" lang="en-US" altLang="zh-CN" sz="1000" dirty="0">
                        <a:latin typeface="微软雅黑" panose="020B0503020204020204" charset="-122"/>
                        <a:ea typeface="微软雅黑" panose="020B0503020204020204" charset="-122"/>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1000" dirty="0">
                          <a:latin typeface="微软雅黑" panose="020B0503020204020204" charset="-122"/>
                          <a:ea typeface="微软雅黑" panose="020B0503020204020204" charset="-122"/>
                        </a:rPr>
                        <a:t>提报方法无明确要求</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预测能力不足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需求提报不重视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缺少商机应用，联合预测不足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缺少科学预测方法</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需求计划准确率计算宽松</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考核激励不足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缺系统支持预测</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销售与生产信息共享不足</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2"/>
                  </a:ext>
                </a:extLst>
              </a:tr>
              <a:tr h="60769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Q2</a:t>
                      </a:r>
                      <a:r>
                        <a:rPr lang="en-US" altLang="zh-CN" sz="1000" dirty="0">
                          <a:latin typeface="微软雅黑" panose="020B0503020204020204" charset="-122"/>
                          <a:ea typeface="微软雅黑" panose="020B0503020204020204" charset="-122"/>
                        </a:rPr>
                        <a:t> : </a:t>
                      </a:r>
                      <a:r>
                        <a:rPr lang="zh-CN" altLang="en-US" sz="1000" dirty="0">
                          <a:latin typeface="微软雅黑" panose="020B0503020204020204" charset="-122"/>
                          <a:ea typeface="微软雅黑" panose="020B0503020204020204" charset="-122"/>
                        </a:rPr>
                        <a:t>缺乏端到端的订单管理，订单处理规则不明确</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订单分段管理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可视化程度不高</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订单处理缺乏规则</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订单管理策略未清晰明确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端到端订单管理职责不明确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订单关联不足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订单优先级不足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订单处理环节多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缺乏订单指标评价或考核</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订单系统不统一</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后端数据未打通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交期系统不支持</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3"/>
                  </a:ext>
                </a:extLst>
              </a:tr>
              <a:tr h="60769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Q3</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产销平衡机制有待完善</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会议召开时间较晚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中长期计划关注度低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指标关注度低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S&amp;OP</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体系不完善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中长期不够重视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各环节风险识别能力不足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会议机制不完善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计划管理流程未明确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指标体系不完善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考核力度不足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缺少指标系统报表</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4"/>
                  </a:ext>
                </a:extLst>
              </a:tr>
              <a:tr h="60769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Q4</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 </a:t>
                      </a:r>
                      <a:r>
                        <a:rPr lang="en-US" altLang="zh-CN" sz="1000" dirty="0">
                          <a:latin typeface="微软雅黑" panose="020B0503020204020204" charset="-122"/>
                          <a:ea typeface="微软雅黑" panose="020B0503020204020204" charset="-122"/>
                        </a:rPr>
                        <a:t>3</a:t>
                      </a:r>
                      <a:r>
                        <a:rPr lang="zh-CN" altLang="en-US" sz="1000" dirty="0">
                          <a:latin typeface="微软雅黑" panose="020B0503020204020204" charset="-122"/>
                          <a:ea typeface="微软雅黑" panose="020B0503020204020204" charset="-122"/>
                        </a:rPr>
                        <a:t>日锁定计划难以真正锁定，影响生产稳定性</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日上线计划准确率</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总体：</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74%</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大</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56%, </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78%, </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小</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87%</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计划模式与规则需完善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锁定期不够重视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锁定计划缺乏统筹管理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缺少订单规则</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订单变更流程不明确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锁定计划准确率指标未纳入考核</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系统需设定锁定计划修改权限</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607691">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Q5</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零部件计划对供应商备货及生产指导性不足</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长周期采购依靠经验</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中短期计划指导不足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临时采购计划较多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计划模式与规则需完善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计划不够重视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忙于短期应对，无暇顾及长期计划</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商机指导作用低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计划准确率低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S&amp;OP</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机制不完善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基础数据不完善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指标关注不足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不支持计划协同</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不支持计划、订单修正与例外</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6"/>
                  </a:ext>
                </a:extLst>
              </a:tr>
              <a:tr h="607691">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Q6</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因计划变更等造成的零部件缺件较多，供应及预警机制需完善</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中挖月均停线</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369</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小时</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零部件分类与供应策略</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风险识别能力不足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供应商自身能力不足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计划准确率低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计划变更多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紧急订单多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指标数据不准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考核不足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采购管理及报表分析功能不足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7"/>
                  </a:ext>
                </a:extLst>
              </a:tr>
              <a:tr h="607691">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Q7</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工程变更频繁，且信息下达不及时，影响生产的顺畅运行</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月均变更次数：</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59</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次</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月均变更涉及物料：</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576</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项</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BOM</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模块化、可配置化</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工程变更职责不明确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人员重视度低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工程变更管理流程不顺畅</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缺变更管理平台</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作业人员无法查询变更信息</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8"/>
                  </a:ext>
                </a:extLst>
              </a:tr>
              <a:tr h="638515">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Q8</a:t>
                      </a:r>
                      <a:r>
                        <a:rPr lang="en-US" altLang="zh-CN" sz="1000" dirty="0">
                          <a:latin typeface="微软雅黑" panose="020B0503020204020204" charset="-122"/>
                          <a:ea typeface="微软雅黑" panose="020B0503020204020204" charset="-122"/>
                        </a:rPr>
                        <a:t>: MES</a:t>
                      </a:r>
                      <a:r>
                        <a:rPr lang="zh-CN" altLang="en-US" sz="1000" dirty="0">
                          <a:latin typeface="微软雅黑" panose="020B0503020204020204" charset="-122"/>
                          <a:ea typeface="微软雅黑" panose="020B0503020204020204" charset="-122"/>
                        </a:rPr>
                        <a:t>自动化集成化程度较低，影响生产制造精益化水平</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日报工次数</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SY75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：超过</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1400</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次</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SY215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：超过</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370</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次</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SY365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：超过</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450</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次</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en-US" altLang="zh-CN" sz="1000" dirty="0">
                          <a:latin typeface="微软雅黑" panose="020B0503020204020204" charset="-122"/>
                          <a:ea typeface="微软雅黑" panose="020B0503020204020204" charset="-122"/>
                        </a:rPr>
                        <a:t>N/A</a:t>
                      </a:r>
                      <a:endParaRPr kumimoji="1" lang="zh-CN" altLang="en-US"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报工点设置多，不易执行</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自动化需求不明确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MES</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集成度低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缺系统拉动厂内外物流</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lang="zh-CN" altLang="en-US" dirty="0"/>
              <a:t>所有问题最终可归因至体系化问题</a:t>
            </a:r>
          </a:p>
        </p:txBody>
      </p:sp>
      <p:sp>
        <p:nvSpPr>
          <p:cNvPr id="144"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148"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149"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151"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152"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graphicFrame>
        <p:nvGraphicFramePr>
          <p:cNvPr id="153" name="Group 71"/>
          <p:cNvGraphicFramePr>
            <a:graphicFrameLocks noGrp="1"/>
          </p:cNvGraphicFramePr>
          <p:nvPr/>
        </p:nvGraphicFramePr>
        <p:xfrm>
          <a:off x="214282" y="1092196"/>
          <a:ext cx="8741032" cy="5431804"/>
        </p:xfrm>
        <a:graphic>
          <a:graphicData uri="http://schemas.openxmlformats.org/drawingml/2006/table">
            <a:tbl>
              <a:tblPr/>
              <a:tblGrid>
                <a:gridCol w="1643074">
                  <a:extLst>
                    <a:ext uri="{9D8B030D-6E8A-4147-A177-3AD203B41FA5}">
                      <a16:colId xmlns:a16="http://schemas.microsoft.com/office/drawing/2014/main" val="20000"/>
                    </a:ext>
                  </a:extLst>
                </a:gridCol>
                <a:gridCol w="1499163">
                  <a:extLst>
                    <a:ext uri="{9D8B030D-6E8A-4147-A177-3AD203B41FA5}">
                      <a16:colId xmlns:a16="http://schemas.microsoft.com/office/drawing/2014/main" val="20001"/>
                    </a:ext>
                  </a:extLst>
                </a:gridCol>
                <a:gridCol w="1001167">
                  <a:extLst>
                    <a:ext uri="{9D8B030D-6E8A-4147-A177-3AD203B41FA5}">
                      <a16:colId xmlns:a16="http://schemas.microsoft.com/office/drawing/2014/main" val="20002"/>
                    </a:ext>
                  </a:extLst>
                </a:gridCol>
                <a:gridCol w="1238351">
                  <a:extLst>
                    <a:ext uri="{9D8B030D-6E8A-4147-A177-3AD203B41FA5}">
                      <a16:colId xmlns:a16="http://schemas.microsoft.com/office/drawing/2014/main" val="20003"/>
                    </a:ext>
                  </a:extLst>
                </a:gridCol>
                <a:gridCol w="1261979">
                  <a:extLst>
                    <a:ext uri="{9D8B030D-6E8A-4147-A177-3AD203B41FA5}">
                      <a16:colId xmlns:a16="http://schemas.microsoft.com/office/drawing/2014/main" val="20004"/>
                    </a:ext>
                  </a:extLst>
                </a:gridCol>
                <a:gridCol w="977539">
                  <a:extLst>
                    <a:ext uri="{9D8B030D-6E8A-4147-A177-3AD203B41FA5}">
                      <a16:colId xmlns:a16="http://schemas.microsoft.com/office/drawing/2014/main" val="20005"/>
                    </a:ext>
                  </a:extLst>
                </a:gridCol>
                <a:gridCol w="1119759">
                  <a:extLst>
                    <a:ext uri="{9D8B030D-6E8A-4147-A177-3AD203B41FA5}">
                      <a16:colId xmlns:a16="http://schemas.microsoft.com/office/drawing/2014/main" val="20006"/>
                    </a:ext>
                  </a:extLst>
                </a:gridCol>
              </a:tblGrid>
              <a:tr h="256205">
                <a:tc rowSpan="2">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关键问题</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rowSpan="2">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问题描述</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gridSpan="5">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根因分析</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276162">
                <a:tc v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vMerge="1">
                  <a:txBody>
                    <a:bodyPr/>
                    <a:lstStyle/>
                    <a:p>
                      <a:endParaRPr lang="zh-CN"/>
                    </a:p>
                  </a:txBody>
                  <a:tcPr marT="72000" marB="72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策略</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组织</a:t>
                      </a:r>
                      <a:r>
                        <a:rPr kumimoji="0" lang="en-US" altLang="zh-CN"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人员</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管理</a:t>
                      </a:r>
                      <a:r>
                        <a:rPr kumimoji="0" lang="en-US" altLang="zh-CN"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流程</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绩效</a:t>
                      </a:r>
                      <a:r>
                        <a:rPr kumimoji="0" lang="en-US" altLang="zh-CN"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/KPI</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en-US" altLang="zh-CN"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IT</a:t>
                      </a:r>
                      <a:endPar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60769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10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Q1</a:t>
                      </a:r>
                      <a:r>
                        <a:rPr kumimoji="0" lang="zh-CN" altLang="en-US" sz="10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t>
                      </a:r>
                      <a:r>
                        <a:rPr lang="zh-CN" altLang="en-US" sz="1000" dirty="0">
                          <a:latin typeface="微软雅黑" panose="020B0503020204020204" charset="-122"/>
                          <a:ea typeface="微软雅黑" panose="020B0503020204020204" charset="-122"/>
                        </a:rPr>
                        <a:t>需求计划准确率偏低，对生产和采购指导性不强</a:t>
                      </a:r>
                      <a:endParaRPr kumimoji="0" lang="zh-CN" altLang="en-US" sz="1000" b="1"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月度需求计划准确率</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国内：</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57%</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国际：</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38%</a:t>
                      </a:r>
                      <a:endPar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1000" dirty="0">
                          <a:latin typeface="微软雅黑" panose="020B0503020204020204" charset="-122"/>
                          <a:ea typeface="微软雅黑" panose="020B0503020204020204" charset="-122"/>
                        </a:rPr>
                        <a:t>计划模式共识</a:t>
                      </a:r>
                      <a:endParaRPr kumimoji="1" lang="en-US" altLang="zh-CN" sz="1000" dirty="0">
                        <a:latin typeface="微软雅黑" panose="020B0503020204020204" charset="-122"/>
                        <a:ea typeface="微软雅黑" panose="020B0503020204020204" charset="-122"/>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1000" dirty="0">
                          <a:latin typeface="微软雅黑" panose="020B0503020204020204" charset="-122"/>
                          <a:ea typeface="微软雅黑" panose="020B0503020204020204" charset="-122"/>
                        </a:rPr>
                        <a:t>提报方法无明确要求</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预测能力不足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需求提报不重视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缺少商机应用，联合预测不足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缺少科学预测方法</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需求计划准确率计算宽松</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考核激励不足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缺系统支持预测</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销售与生产信息共享不足</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2"/>
                  </a:ext>
                </a:extLst>
              </a:tr>
              <a:tr h="60769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Q2</a:t>
                      </a:r>
                      <a:r>
                        <a:rPr lang="en-US" altLang="zh-CN" sz="1000" dirty="0">
                          <a:latin typeface="微软雅黑" panose="020B0503020204020204" charset="-122"/>
                          <a:ea typeface="微软雅黑" panose="020B0503020204020204" charset="-122"/>
                        </a:rPr>
                        <a:t> : </a:t>
                      </a:r>
                      <a:r>
                        <a:rPr lang="zh-CN" altLang="en-US" sz="1000" dirty="0">
                          <a:latin typeface="微软雅黑" panose="020B0503020204020204" charset="-122"/>
                          <a:ea typeface="微软雅黑" panose="020B0503020204020204" charset="-122"/>
                        </a:rPr>
                        <a:t>缺乏端到端的订单管理，订单处理规则不明确</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订单分段管理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可视化程度不高</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订单处理缺乏规则</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订单管理策略未清晰明确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端到端订单管理职责不明确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订单关联不足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订单优先级不足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订单处理环节多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缺乏订单指标评价或考核</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订单系统不统一</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后端数据未打通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交期系统不支持</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3"/>
                  </a:ext>
                </a:extLst>
              </a:tr>
              <a:tr h="60769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Q3</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产销平衡机制有待完善</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会议召开时间较晚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中长期计划关注度低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指标关注度低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S&amp;OP</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体系不完善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中长期不够重视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各环节风险识别能力不足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会议机制不完善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计划管理流程未明确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指标体系不完善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考核力度不足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缺少指标系统报表</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4"/>
                  </a:ext>
                </a:extLst>
              </a:tr>
              <a:tr h="607691">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Q4</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 </a:t>
                      </a:r>
                      <a:r>
                        <a:rPr lang="en-US" altLang="zh-CN" sz="1000" dirty="0">
                          <a:latin typeface="微软雅黑" panose="020B0503020204020204" charset="-122"/>
                          <a:ea typeface="微软雅黑" panose="020B0503020204020204" charset="-122"/>
                        </a:rPr>
                        <a:t>3</a:t>
                      </a:r>
                      <a:r>
                        <a:rPr lang="zh-CN" altLang="en-US" sz="1000" dirty="0">
                          <a:latin typeface="微软雅黑" panose="020B0503020204020204" charset="-122"/>
                          <a:ea typeface="微软雅黑" panose="020B0503020204020204" charset="-122"/>
                        </a:rPr>
                        <a:t>日锁定计划难以真正锁定，影响生产稳定性</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日上线计划准确率</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总体：</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74%</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大</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56%, </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78%, </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小</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87%</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计划模式与规则需完善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锁定期不够重视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锁定计划缺乏统筹管理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缺少订单规则</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订单变更流程不明确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锁定计划准确率指标未纳入考核</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cs typeface="Arial" panose="020B0604020202020204"/>
                        </a:defRPr>
                      </a:lvl9p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系统需设定锁定计划修改权限</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607691">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Q5</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零部件计划对供应商备货及生产指导性不足</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长周期采购依靠经验</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中短期计划指导不足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临时采购计划较多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计划模式与规则需完善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计划不够重视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忙于短期应对，无暇顾及长期计划</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商机指导作用低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计划准确率低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S&amp;OP</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机制不完善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基础数据不完善</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指标关注不足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不支持计划协同</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不支持计划、订单修正与例外</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6"/>
                  </a:ext>
                </a:extLst>
              </a:tr>
              <a:tr h="607691">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Q6</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因计划变更等造成的零部件缺件较多，供应及预警机制需完善</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中挖月均停线</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369</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小时</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零部件分类与供应策略</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风险识别能力不足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供应商自身能力不足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计划准确率低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计划变更多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紧急订单多</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指标数据不准</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考核不足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采购管理及报表分析功能不足</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7"/>
                  </a:ext>
                </a:extLst>
              </a:tr>
              <a:tr h="607691">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Q7</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工程变更频繁，且信息下达不及时，影响生产的顺畅运行</a:t>
                      </a:r>
                      <a:endParaRPr lang="en-US" altLang="zh-CN"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月均变更次数：</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59</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次</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月均变更涉及物料：</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576</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项</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BOM</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模块化、可配置化</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工程变更职责不明确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人员重视度低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工程变更管理流程不顺畅</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缺变更管理平台</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作业人员无法查询变更信息</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8"/>
                  </a:ext>
                </a:extLst>
              </a:tr>
              <a:tr h="638515">
                <a:tc>
                  <a:txBody>
                    <a:body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lang="en-US" altLang="zh-CN" sz="1000" b="1" dirty="0">
                          <a:latin typeface="微软雅黑" panose="020B0503020204020204" charset="-122"/>
                          <a:ea typeface="微软雅黑" panose="020B0503020204020204" charset="-122"/>
                        </a:rPr>
                        <a:t>Q8</a:t>
                      </a:r>
                      <a:r>
                        <a:rPr lang="en-US" altLang="zh-CN" sz="1000" dirty="0">
                          <a:latin typeface="微软雅黑" panose="020B0503020204020204" charset="-122"/>
                          <a:ea typeface="微软雅黑" panose="020B0503020204020204" charset="-122"/>
                        </a:rPr>
                        <a:t>: MES</a:t>
                      </a:r>
                      <a:r>
                        <a:rPr lang="zh-CN" altLang="en-US" sz="1000" dirty="0">
                          <a:latin typeface="微软雅黑" panose="020B0503020204020204" charset="-122"/>
                          <a:ea typeface="微软雅黑" panose="020B0503020204020204" charset="-122"/>
                        </a:rPr>
                        <a:t>自动化集成化程度较低，影响生产制造精益化水平</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日报工次数</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SY75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：超过</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1400</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次</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SY215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：超过</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370</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次</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SY365</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：超过</a:t>
                      </a: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450</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次</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en-US" altLang="zh-CN" sz="1000" dirty="0">
                          <a:latin typeface="微软雅黑" panose="020B0503020204020204" charset="-122"/>
                          <a:ea typeface="微软雅黑" panose="020B0503020204020204" charset="-122"/>
                        </a:rPr>
                        <a:t>N/A</a:t>
                      </a:r>
                      <a:endParaRPr kumimoji="1" lang="zh-CN" altLang="en-US" sz="1000" dirty="0">
                        <a:latin typeface="微软雅黑" panose="020B0503020204020204" charset="-122"/>
                        <a:ea typeface="微软雅黑" panose="020B0503020204020204" charset="-122"/>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报工点设置多，不易执行</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自动化需求不明确</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N/A</a:t>
                      </a: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MES</a:t>
                      </a: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集成度低</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缺系统拉动厂内外物流</a:t>
                      </a:r>
                      <a:endParaRPr kumimoji="0" lang="en-US" altLang="zh-CN" sz="1000" b="0" i="0" u="none" strike="noStrike" kern="1200"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36000" marR="36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9"/>
                  </a:ext>
                </a:extLst>
              </a:tr>
            </a:tbl>
          </a:graphicData>
        </a:graphic>
      </p:graphicFrame>
      <p:sp>
        <p:nvSpPr>
          <p:cNvPr id="9" name="矩形 8"/>
          <p:cNvSpPr/>
          <p:nvPr/>
        </p:nvSpPr>
        <p:spPr bwMode="auto">
          <a:xfrm>
            <a:off x="3428991" y="1714488"/>
            <a:ext cx="5482779" cy="4744369"/>
          </a:xfrm>
          <a:prstGeom prst="rect">
            <a:avLst/>
          </a:prstGeom>
          <a:solidFill>
            <a:schemeClr val="bg1">
              <a:lumMod val="95000"/>
              <a:alpha val="85000"/>
            </a:schemeClr>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0" name="圆角矩形 9"/>
          <p:cNvSpPr/>
          <p:nvPr/>
        </p:nvSpPr>
        <p:spPr bwMode="auto">
          <a:xfrm>
            <a:off x="8059080" y="1857364"/>
            <a:ext cx="714380" cy="4357718"/>
          </a:xfrm>
          <a:prstGeom prst="roundRect">
            <a:avLst/>
          </a:prstGeom>
          <a:solidFill>
            <a:srgbClr val="CCCCFF"/>
          </a:solidFill>
          <a:ln w="9525" cap="flat" cmpd="sng" algn="ctr">
            <a:solidFill>
              <a:schemeClr val="accent1">
                <a:lumMod val="60000"/>
                <a:lumOff val="40000"/>
              </a:schemeClr>
            </a:solidFill>
            <a:prstDash val="solid"/>
            <a:round/>
            <a:headEnd type="none" w="med" len="med"/>
            <a:tailEnd type="none"/>
          </a:ln>
          <a:effectLst/>
        </p:spPr>
        <p:txBody>
          <a:bodyPr rtlCol="0" anchor="ctr"/>
          <a:lstStyle/>
          <a:p>
            <a:pPr algn="ctr"/>
            <a:r>
              <a:rPr lang="en-US" altLang="zh-CN" b="1" dirty="0">
                <a:latin typeface="微软雅黑" panose="020B0503020204020204" charset="-122"/>
                <a:ea typeface="微软雅黑" panose="020B0503020204020204" charset="-122"/>
              </a:rPr>
              <a:t>IT</a:t>
            </a:r>
          </a:p>
          <a:p>
            <a:pPr algn="ctr"/>
            <a:r>
              <a:rPr lang="zh-CN" altLang="en-US" b="1" dirty="0">
                <a:latin typeface="微软雅黑" panose="020B0503020204020204" charset="-122"/>
                <a:ea typeface="微软雅黑" panose="020B0503020204020204" charset="-122"/>
              </a:rPr>
              <a:t>支</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撑</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不</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足</a:t>
            </a:r>
          </a:p>
        </p:txBody>
      </p:sp>
      <p:sp>
        <p:nvSpPr>
          <p:cNvPr id="11" name="圆角矩形 10"/>
          <p:cNvSpPr/>
          <p:nvPr/>
        </p:nvSpPr>
        <p:spPr bwMode="auto">
          <a:xfrm>
            <a:off x="7000892" y="1857364"/>
            <a:ext cx="714380" cy="4357718"/>
          </a:xfrm>
          <a:prstGeom prst="roundRect">
            <a:avLst/>
          </a:prstGeom>
          <a:solidFill>
            <a:srgbClr val="CCCCFF"/>
          </a:solidFill>
          <a:ln w="9525" cap="flat" cmpd="sng" algn="ctr">
            <a:solidFill>
              <a:schemeClr val="accent1">
                <a:lumMod val="60000"/>
                <a:lumOff val="40000"/>
              </a:schemeClr>
            </a:solidFill>
            <a:prstDash val="solid"/>
            <a:round/>
            <a:headEnd type="none" w="med" len="med"/>
            <a:tailEnd type="none"/>
          </a:ln>
          <a:effectLst/>
        </p:spPr>
        <p:txBody>
          <a:bodyPr rtlCol="0" anchor="ctr"/>
          <a:lstStyle/>
          <a:p>
            <a:pPr algn="ctr"/>
            <a:r>
              <a:rPr lang="zh-CN" altLang="en-US" b="1" dirty="0">
                <a:latin typeface="微软雅黑" panose="020B0503020204020204" charset="-122"/>
                <a:ea typeface="微软雅黑" panose="020B0503020204020204" charset="-122"/>
              </a:rPr>
              <a:t>绩</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效</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体</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系</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不</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完</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善</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考</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核</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力</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度</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不</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够</a:t>
            </a:r>
          </a:p>
        </p:txBody>
      </p:sp>
      <p:sp>
        <p:nvSpPr>
          <p:cNvPr id="12" name="圆角矩形 11"/>
          <p:cNvSpPr/>
          <p:nvPr/>
        </p:nvSpPr>
        <p:spPr bwMode="auto">
          <a:xfrm>
            <a:off x="5857884" y="1857364"/>
            <a:ext cx="714380" cy="4357718"/>
          </a:xfrm>
          <a:prstGeom prst="roundRect">
            <a:avLst/>
          </a:prstGeom>
          <a:solidFill>
            <a:srgbClr val="CCCCFF"/>
          </a:solidFill>
          <a:ln w="9525" cap="flat" cmpd="sng" algn="ctr">
            <a:solidFill>
              <a:schemeClr val="accent1">
                <a:lumMod val="60000"/>
                <a:lumOff val="40000"/>
              </a:schemeClr>
            </a:solidFill>
            <a:prstDash val="solid"/>
            <a:round/>
            <a:headEnd type="none" w="med" len="med"/>
            <a:tailEnd type="none"/>
          </a:ln>
          <a:effectLst/>
        </p:spPr>
        <p:txBody>
          <a:bodyPr rtlCol="0" anchor="ctr"/>
          <a:lstStyle/>
          <a:p>
            <a:pPr algn="ctr"/>
            <a:r>
              <a:rPr lang="zh-CN" altLang="en-US" b="1" dirty="0">
                <a:latin typeface="微软雅黑" panose="020B0503020204020204" charset="-122"/>
                <a:ea typeface="微软雅黑" panose="020B0503020204020204" charset="-122"/>
              </a:rPr>
              <a:t>规</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则</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不</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明</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确</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缺</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流</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程</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指</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导</a:t>
            </a:r>
          </a:p>
        </p:txBody>
      </p:sp>
      <p:sp>
        <p:nvSpPr>
          <p:cNvPr id="13" name="圆角矩形 12"/>
          <p:cNvSpPr/>
          <p:nvPr/>
        </p:nvSpPr>
        <p:spPr bwMode="auto">
          <a:xfrm>
            <a:off x="4643438" y="1857364"/>
            <a:ext cx="714380" cy="4357718"/>
          </a:xfrm>
          <a:prstGeom prst="roundRect">
            <a:avLst/>
          </a:prstGeom>
          <a:solidFill>
            <a:srgbClr val="CCCCFF"/>
          </a:solidFill>
          <a:ln w="9525" cap="flat" cmpd="sng" algn="ctr">
            <a:solidFill>
              <a:schemeClr val="accent1">
                <a:lumMod val="60000"/>
                <a:lumOff val="40000"/>
              </a:schemeClr>
            </a:solidFill>
            <a:prstDash val="solid"/>
            <a:round/>
            <a:headEnd type="none" w="med" len="med"/>
            <a:tailEnd type="none"/>
          </a:ln>
          <a:effectLst/>
        </p:spPr>
        <p:txBody>
          <a:bodyPr rtlCol="0" anchor="ctr"/>
          <a:lstStyle/>
          <a:p>
            <a:pPr algn="ctr"/>
            <a:r>
              <a:rPr lang="zh-CN" altLang="en-US" b="1" dirty="0">
                <a:latin typeface="微软雅黑" panose="020B0503020204020204" charset="-122"/>
                <a:ea typeface="微软雅黑" panose="020B0503020204020204" charset="-122"/>
              </a:rPr>
              <a:t>人</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员</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能</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力</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不</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足</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重</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视</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度</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不</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够</a:t>
            </a:r>
          </a:p>
        </p:txBody>
      </p:sp>
      <p:sp>
        <p:nvSpPr>
          <p:cNvPr id="14" name="圆角矩形 13"/>
          <p:cNvSpPr/>
          <p:nvPr/>
        </p:nvSpPr>
        <p:spPr bwMode="auto">
          <a:xfrm>
            <a:off x="3500430" y="1857364"/>
            <a:ext cx="714380" cy="4357718"/>
          </a:xfrm>
          <a:prstGeom prst="roundRect">
            <a:avLst/>
          </a:prstGeom>
          <a:solidFill>
            <a:srgbClr val="CCCCFF"/>
          </a:solidFill>
          <a:ln w="9525" cap="flat" cmpd="sng" algn="ctr">
            <a:solidFill>
              <a:schemeClr val="accent1">
                <a:lumMod val="60000"/>
                <a:lumOff val="40000"/>
              </a:schemeClr>
            </a:solidFill>
            <a:prstDash val="solid"/>
            <a:round/>
            <a:headEnd type="none" w="med" len="med"/>
            <a:tailEnd type="none"/>
          </a:ln>
          <a:effectLst/>
        </p:spPr>
        <p:txBody>
          <a:bodyPr rtlCol="0" anchor="ctr"/>
          <a:lstStyle/>
          <a:p>
            <a:pPr algn="ctr"/>
            <a:r>
              <a:rPr lang="zh-CN" altLang="en-US" b="1" dirty="0">
                <a:latin typeface="微软雅黑" panose="020B0503020204020204" charset="-122"/>
                <a:ea typeface="微软雅黑" panose="020B0503020204020204" charset="-122"/>
              </a:rPr>
              <a:t>计</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划</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模</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式</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及</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产</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销</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平</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衡</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机</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制</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需</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优</a:t>
            </a:r>
            <a:endParaRPr lang="en-US" altLang="zh-CN" b="1" dirty="0">
              <a:latin typeface="微软雅黑" panose="020B0503020204020204" charset="-122"/>
              <a:ea typeface="微软雅黑" panose="020B0503020204020204" charset="-122"/>
            </a:endParaRPr>
          </a:p>
          <a:p>
            <a:pPr algn="ctr"/>
            <a:r>
              <a:rPr lang="zh-CN" altLang="en-US" b="1" dirty="0">
                <a:latin typeface="微软雅黑" panose="020B0503020204020204" charset="-122"/>
                <a:ea typeface="微软雅黑" panose="020B0503020204020204" charset="-122"/>
              </a:rPr>
              <a:t>化</a:t>
            </a:r>
            <a:endParaRPr lang="en-US" altLang="zh-CN" b="1" dirty="0">
              <a:latin typeface="微软雅黑" panose="020B0503020204020204" charset="-122"/>
              <a:ea typeface="微软雅黑" panose="020B050302020402020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Q1</a:t>
            </a:r>
            <a:r>
              <a:rPr lang="zh-CN" altLang="en-US" dirty="0"/>
              <a:t>：需求计划准确率偏低，对生产和采购指导性不强</a:t>
            </a:r>
          </a:p>
        </p:txBody>
      </p:sp>
      <p:sp>
        <p:nvSpPr>
          <p:cNvPr id="9" name="TextBox 8"/>
          <p:cNvSpPr txBox="1"/>
          <p:nvPr/>
        </p:nvSpPr>
        <p:spPr bwMode="auto">
          <a:xfrm>
            <a:off x="214281" y="1386000"/>
            <a:ext cx="8739555" cy="50040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a:ln>
          <a:effectLst/>
        </p:spPr>
        <p:txBody>
          <a:bodyPr rtlCol="0" anchor="ctr"/>
          <a:lstStyle>
            <a:defPPr>
              <a:defRPr lang="zh-CN"/>
            </a:defPPr>
            <a:lvl1pPr algn="ctr" fontAlgn="auto">
              <a:spcBef>
                <a:spcPts val="0"/>
              </a:spcBef>
              <a:spcAft>
                <a:spcPts val="0"/>
              </a:spcAft>
              <a:defRPr sz="1600" b="1">
                <a:solidFill>
                  <a:schemeClr val="bg2"/>
                </a:solidFill>
                <a:latin typeface="微软雅黑" panose="020B0503020204020204" charset="-122"/>
                <a:ea typeface="微软雅黑" panose="020B0503020204020204" charset="-122"/>
              </a:defRPr>
            </a:lvl1pPr>
          </a:lstStyle>
          <a:p>
            <a:pPr fontAlgn="base">
              <a:spcBef>
                <a:spcPct val="0"/>
              </a:spcBef>
              <a:spcAft>
                <a:spcPct val="0"/>
              </a:spcAft>
            </a:pPr>
            <a:r>
              <a:rPr lang="zh-CN" altLang="en-US" sz="1400" dirty="0">
                <a:solidFill>
                  <a:schemeClr val="tx1"/>
                </a:solidFill>
              </a:rPr>
              <a:t>问题描述</a:t>
            </a:r>
            <a:endParaRPr lang="en-US" altLang="en-US" sz="1400" dirty="0">
              <a:solidFill>
                <a:schemeClr val="tx1"/>
              </a:solidFill>
            </a:endParaRPr>
          </a:p>
        </p:txBody>
      </p:sp>
      <p:sp>
        <p:nvSpPr>
          <p:cNvPr id="10" name="矩形 9"/>
          <p:cNvSpPr/>
          <p:nvPr/>
        </p:nvSpPr>
        <p:spPr bwMode="auto">
          <a:xfrm>
            <a:off x="214282" y="1949964"/>
            <a:ext cx="8739218" cy="349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13" name="矩形 1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业务影响</a:t>
            </a:r>
          </a:p>
        </p:txBody>
      </p:sp>
      <p:sp>
        <p:nvSpPr>
          <p:cNvPr id="14" name="矩形 1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marL="266700" indent="-266700"/>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需求计划准确率低，降低了供应商备货准确性，容易产生</a:t>
            </a:r>
            <a:r>
              <a:rPr lang="zh-CN" altLang="en-US" sz="1200" b="1" dirty="0">
                <a:latin typeface="微软雅黑" panose="020B0503020204020204" charset="-122"/>
                <a:ea typeface="微软雅黑" panose="020B0503020204020204" charset="-122"/>
              </a:rPr>
              <a:t>缺件</a:t>
            </a:r>
            <a:r>
              <a:rPr lang="zh-CN" altLang="en-US" sz="1200" dirty="0">
                <a:latin typeface="微软雅黑" panose="020B0503020204020204" charset="-122"/>
                <a:ea typeface="微软雅黑" panose="020B0503020204020204" charset="-122"/>
              </a:rPr>
              <a:t>问题（缺件影响生产工时：大挖平均</a:t>
            </a:r>
            <a:r>
              <a:rPr lang="en-US" altLang="zh-CN" sz="1200" dirty="0">
                <a:latin typeface="微软雅黑" panose="020B0503020204020204" charset="-122"/>
                <a:ea typeface="微软雅黑" panose="020B0503020204020204" charset="-122"/>
              </a:rPr>
              <a:t>1218</a:t>
            </a:r>
            <a:r>
              <a:rPr lang="zh-CN" altLang="en-US" sz="1200" dirty="0">
                <a:latin typeface="微软雅黑" panose="020B0503020204020204" charset="-122"/>
                <a:ea typeface="微软雅黑" panose="020B0503020204020204" charset="-122"/>
              </a:rPr>
              <a:t>小时</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月；中挖平均</a:t>
            </a:r>
            <a:r>
              <a:rPr lang="en-US" altLang="zh-CN" sz="1200" dirty="0">
                <a:latin typeface="微软雅黑" panose="020B0503020204020204" charset="-122"/>
                <a:ea typeface="微软雅黑" panose="020B0503020204020204" charset="-122"/>
              </a:rPr>
              <a:t>377</a:t>
            </a:r>
            <a:r>
              <a:rPr lang="zh-CN" altLang="en-US" sz="1200" dirty="0">
                <a:latin typeface="微软雅黑" panose="020B0503020204020204" charset="-122"/>
                <a:ea typeface="微软雅黑" panose="020B0503020204020204" charset="-122"/>
              </a:rPr>
              <a:t>小时</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月），影响</a:t>
            </a:r>
            <a:r>
              <a:rPr lang="zh-CN" altLang="en-US" sz="1200" b="1" dirty="0">
                <a:latin typeface="微软雅黑" panose="020B0503020204020204" charset="-122"/>
                <a:ea typeface="微软雅黑" panose="020B0503020204020204" charset="-122"/>
              </a:rPr>
              <a:t>生产稳定性</a:t>
            </a:r>
            <a:r>
              <a:rPr lang="zh-CN" altLang="en-US" sz="1200" dirty="0">
                <a:latin typeface="微软雅黑" panose="020B0503020204020204" charset="-122"/>
                <a:ea typeface="微软雅黑" panose="020B0503020204020204" charset="-122"/>
              </a:rPr>
              <a:t>，从而增加</a:t>
            </a:r>
            <a:r>
              <a:rPr lang="zh-CN" altLang="en-US" sz="1200" b="1" dirty="0">
                <a:latin typeface="微软雅黑" panose="020B0503020204020204" charset="-122"/>
                <a:ea typeface="微软雅黑" panose="020B0503020204020204" charset="-122"/>
              </a:rPr>
              <a:t>运营成本</a:t>
            </a:r>
            <a:endParaRPr lang="en-US" altLang="zh-CN" sz="1200" b="1" dirty="0">
              <a:latin typeface="微软雅黑" panose="020B0503020204020204" charset="-122"/>
              <a:ea typeface="微软雅黑" panose="020B0503020204020204" charset="-122"/>
            </a:endParaRPr>
          </a:p>
          <a:p>
            <a:pPr marL="266700" indent="-266700"/>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计划外紧急订单多，预测时未有效把握，容易使我们在满足</a:t>
            </a:r>
            <a:r>
              <a:rPr lang="zh-CN" altLang="en-US" sz="1200" b="1" dirty="0">
                <a:latin typeface="微软雅黑" panose="020B0503020204020204" charset="-122"/>
                <a:ea typeface="微软雅黑" panose="020B0503020204020204" charset="-122"/>
              </a:rPr>
              <a:t>客户交期</a:t>
            </a:r>
            <a:r>
              <a:rPr lang="zh-CN" altLang="en-US" sz="1200" dirty="0">
                <a:latin typeface="微软雅黑" panose="020B0503020204020204" charset="-122"/>
                <a:ea typeface="微软雅黑" panose="020B0503020204020204" charset="-122"/>
              </a:rPr>
              <a:t>上处在被动位置</a:t>
            </a:r>
          </a:p>
          <a:p>
            <a:pPr marL="266700" indent="-266700"/>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锁定期计划的调整，容易扰乱</a:t>
            </a:r>
            <a:r>
              <a:rPr lang="zh-CN" altLang="en-US" sz="1200" b="1" dirty="0">
                <a:latin typeface="微软雅黑" panose="020B0503020204020204" charset="-122"/>
                <a:ea typeface="微软雅黑" panose="020B0503020204020204" charset="-122"/>
              </a:rPr>
              <a:t>生产秩序</a:t>
            </a:r>
            <a:r>
              <a:rPr lang="zh-CN" altLang="en-US" sz="1200" dirty="0">
                <a:latin typeface="微软雅黑" panose="020B0503020204020204" charset="-122"/>
                <a:ea typeface="微软雅黑" panose="020B0503020204020204" charset="-122"/>
              </a:rPr>
              <a:t>，从计划锁定期的变更来看，</a:t>
            </a:r>
            <a:r>
              <a:rPr lang="en-US" altLang="zh-CN" sz="1200" dirty="0">
                <a:latin typeface="微软雅黑" panose="020B0503020204020204" charset="-122"/>
                <a:ea typeface="微软雅黑" panose="020B0503020204020204" charset="-122"/>
              </a:rPr>
              <a:t>3+2</a:t>
            </a:r>
            <a:r>
              <a:rPr lang="zh-CN" altLang="en-US" sz="1200" dirty="0">
                <a:latin typeface="微软雅黑" panose="020B0503020204020204" charset="-122"/>
                <a:ea typeface="微软雅黑" panose="020B0503020204020204" charset="-122"/>
              </a:rPr>
              <a:t>平均变更率为</a:t>
            </a:r>
            <a:r>
              <a:rPr lang="en-US" altLang="zh-CN" sz="1200" dirty="0">
                <a:latin typeface="微软雅黑" panose="020B0503020204020204" charset="-122"/>
                <a:ea typeface="微软雅黑" panose="020B0503020204020204" charset="-122"/>
              </a:rPr>
              <a:t>26%</a:t>
            </a:r>
            <a:r>
              <a:rPr lang="zh-CN" altLang="en-US" sz="1200" dirty="0">
                <a:latin typeface="微软雅黑" panose="020B0503020204020204" charset="-122"/>
                <a:ea typeface="微软雅黑" panose="020B0503020204020204" charset="-122"/>
              </a:rPr>
              <a:t>，其中大挖为</a:t>
            </a:r>
            <a:r>
              <a:rPr lang="en-US" altLang="zh-CN" sz="1200" dirty="0">
                <a:latin typeface="微软雅黑" panose="020B0503020204020204" charset="-122"/>
                <a:ea typeface="微软雅黑" panose="020B0503020204020204" charset="-122"/>
              </a:rPr>
              <a:t>44%</a:t>
            </a:r>
            <a:r>
              <a:rPr lang="zh-CN" altLang="en-US" sz="1200" dirty="0">
                <a:latin typeface="微软雅黑" panose="020B0503020204020204" charset="-122"/>
                <a:ea typeface="微软雅黑" panose="020B0503020204020204" charset="-122"/>
              </a:rPr>
              <a:t>、中挖为</a:t>
            </a:r>
            <a:r>
              <a:rPr lang="en-US" altLang="zh-CN" sz="1200" dirty="0">
                <a:latin typeface="微软雅黑" panose="020B0503020204020204" charset="-122"/>
                <a:ea typeface="微软雅黑" panose="020B0503020204020204" charset="-122"/>
              </a:rPr>
              <a:t>22%</a:t>
            </a:r>
            <a:r>
              <a:rPr lang="zh-CN" altLang="en-US" sz="1200" dirty="0">
                <a:latin typeface="微软雅黑" panose="020B0503020204020204" charset="-122"/>
                <a:ea typeface="微软雅黑" panose="020B0503020204020204" charset="-122"/>
              </a:rPr>
              <a:t>、小挖为</a:t>
            </a:r>
            <a:r>
              <a:rPr lang="en-US" altLang="zh-CN" sz="1200" dirty="0">
                <a:latin typeface="微软雅黑" panose="020B0503020204020204" charset="-122"/>
                <a:ea typeface="微软雅黑" panose="020B0503020204020204" charset="-122"/>
              </a:rPr>
              <a:t>13%</a:t>
            </a:r>
            <a:r>
              <a:rPr lang="zh-CN" altLang="en-US" sz="1200" dirty="0">
                <a:latin typeface="微软雅黑" panose="020B0503020204020204" charset="-122"/>
                <a:ea typeface="微软雅黑" panose="020B0503020204020204" charset="-122"/>
              </a:rPr>
              <a:t>（理论上锁定期变更率目标为</a:t>
            </a:r>
            <a:r>
              <a:rPr lang="en-US" altLang="zh-CN" sz="1200" dirty="0">
                <a:latin typeface="微软雅黑" panose="020B0503020204020204" charset="-122"/>
                <a:ea typeface="微软雅黑" panose="020B0503020204020204" charset="-122"/>
              </a:rPr>
              <a:t>0%</a:t>
            </a:r>
            <a:r>
              <a:rPr lang="zh-CN" altLang="en-US" sz="1200" dirty="0">
                <a:latin typeface="微软雅黑" panose="020B0503020204020204" charset="-122"/>
                <a:ea typeface="微软雅黑" panose="020B0503020204020204" charset="-122"/>
              </a:rPr>
              <a:t>）</a:t>
            </a:r>
          </a:p>
        </p:txBody>
      </p:sp>
      <p:sp>
        <p:nvSpPr>
          <p:cNvPr id="12" name="TextBox 11"/>
          <p:cNvSpPr txBox="1"/>
          <p:nvPr/>
        </p:nvSpPr>
        <p:spPr bwMode="auto">
          <a:xfrm>
            <a:off x="2715744" y="2035810"/>
            <a:ext cx="369332" cy="1500198"/>
          </a:xfrm>
          <a:prstGeom prst="rect">
            <a:avLst/>
          </a:prstGeom>
          <a:noFill/>
          <a:ln>
            <a:noFill/>
          </a:ln>
        </p:spPr>
        <p:txBody>
          <a:bodyPr vert="eaVert" wrap="squar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国内需求计划准确率</a:t>
            </a:r>
          </a:p>
        </p:txBody>
      </p:sp>
      <p:sp>
        <p:nvSpPr>
          <p:cNvPr id="15" name="TextBox 14"/>
          <p:cNvSpPr txBox="1"/>
          <p:nvPr/>
        </p:nvSpPr>
        <p:spPr bwMode="auto">
          <a:xfrm>
            <a:off x="2727817" y="3643314"/>
            <a:ext cx="369332" cy="1500198"/>
          </a:xfrm>
          <a:prstGeom prst="rect">
            <a:avLst/>
          </a:prstGeom>
          <a:noFill/>
          <a:ln>
            <a:noFill/>
          </a:ln>
        </p:spPr>
        <p:txBody>
          <a:bodyPr vert="eaVert" wrap="squar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国际需求计划准确率</a:t>
            </a:r>
          </a:p>
        </p:txBody>
      </p:sp>
      <p:sp>
        <p:nvSpPr>
          <p:cNvPr id="16" name="TextBox 15"/>
          <p:cNvSpPr txBox="1"/>
          <p:nvPr/>
        </p:nvSpPr>
        <p:spPr bwMode="auto">
          <a:xfrm>
            <a:off x="8245873" y="2370411"/>
            <a:ext cx="642942" cy="830997"/>
          </a:xfrm>
          <a:prstGeom prst="rect">
            <a:avLst/>
          </a:prstGeom>
          <a:noFill/>
          <a:ln>
            <a:noFill/>
          </a:ln>
        </p:spPr>
        <p:txBody>
          <a:bodyPr wrap="square" lIns="0" rIns="0"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36%</a:t>
            </a: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35%</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66%</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 </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总：</a:t>
            </a:r>
            <a:r>
              <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rPr>
              <a:t>57</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 </a:t>
            </a:r>
            <a:endPar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TextBox 16"/>
          <p:cNvSpPr txBox="1"/>
          <p:nvPr/>
        </p:nvSpPr>
        <p:spPr bwMode="auto">
          <a:xfrm>
            <a:off x="8245873" y="3977915"/>
            <a:ext cx="642942" cy="830997"/>
          </a:xfrm>
          <a:prstGeom prst="rect">
            <a:avLst/>
          </a:prstGeom>
          <a:noFill/>
          <a:ln>
            <a:noFill/>
          </a:ln>
        </p:spPr>
        <p:txBody>
          <a:bodyPr wrap="square" lIns="0" rIns="0"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13%</a:t>
            </a: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44%</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35%</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总：</a:t>
            </a:r>
            <a:r>
              <a:rPr kumimoji="1" lang="en-US" altLang="zh-CN" sz="1200" b="1" dirty="0">
                <a:solidFill>
                  <a:srgbClr val="FF0000"/>
                </a:solidFill>
                <a:latin typeface="微软雅黑" panose="020B0503020204020204" charset="-122"/>
                <a:ea typeface="微软雅黑" panose="020B0503020204020204" charset="-122"/>
                <a:cs typeface="微软雅黑" panose="020B0503020204020204" charset="-122"/>
              </a:rPr>
              <a:t>38%</a:t>
            </a:r>
            <a:r>
              <a:rPr kumimoji="1" lang="zh-CN" altLang="en-US" sz="1200" b="1" dirty="0">
                <a:solidFill>
                  <a:srgbClr val="FF0000"/>
                </a:solidFill>
                <a:latin typeface="微软雅黑" panose="020B0503020204020204" charset="-122"/>
                <a:ea typeface="微软雅黑" panose="020B0503020204020204" charset="-122"/>
                <a:cs typeface="微软雅黑" panose="020B0503020204020204" charset="-122"/>
              </a:rPr>
              <a:t> </a:t>
            </a:r>
          </a:p>
        </p:txBody>
      </p:sp>
      <p:sp>
        <p:nvSpPr>
          <p:cNvPr id="20" name="TextBox 19"/>
          <p:cNvSpPr txBox="1"/>
          <p:nvPr/>
        </p:nvSpPr>
        <p:spPr bwMode="auto">
          <a:xfrm>
            <a:off x="285720" y="2000240"/>
            <a:ext cx="2357454" cy="3370153"/>
          </a:xfrm>
          <a:prstGeom prst="rect">
            <a:avLst/>
          </a:prstGeom>
          <a:noFill/>
          <a:ln>
            <a:noFill/>
          </a:ln>
        </p:spPr>
        <p:txBody>
          <a:bodyPr wrap="square" rtlCol="0">
            <a:spAutoFit/>
          </a:bodyPr>
          <a:lstStyle/>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按照标准计算方式（基于每月末确定的需求计划值计算，不考虑月中调整因素），</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年需求计划准确率（月度）国内平均值为</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57%</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，国际平均值为</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38%</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，总体需求计划准确率偏低</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国内小挖高于总体平均值，国际中挖高于总体平均值，和销售量大有一定关系</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需求计划更多关注前三月，</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后三月计划较少关注</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，对长周期采购件的指导作用较低</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计划外紧急订单较多</a:t>
            </a: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，对零部件供应及生产稳定性影响较大</a:t>
            </a:r>
          </a:p>
        </p:txBody>
      </p:sp>
      <p:sp>
        <p:nvSpPr>
          <p:cNvPr id="21" name="TextBox 20"/>
          <p:cNvSpPr txBox="1"/>
          <p:nvPr/>
        </p:nvSpPr>
        <p:spPr bwMode="auto">
          <a:xfrm>
            <a:off x="3000364" y="5203075"/>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N</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月需求计划准确率），项目组分析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graphicFrame>
        <p:nvGraphicFramePr>
          <p:cNvPr id="19" name="图表 18"/>
          <p:cNvGraphicFramePr/>
          <p:nvPr/>
        </p:nvGraphicFramePr>
        <p:xfrm>
          <a:off x="3000364" y="2047909"/>
          <a:ext cx="5143536" cy="147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图表 21"/>
          <p:cNvGraphicFramePr/>
          <p:nvPr/>
        </p:nvGraphicFramePr>
        <p:xfrm>
          <a:off x="2999500" y="3655413"/>
          <a:ext cx="5144400" cy="1476000"/>
        </p:xfrm>
        <a:graphic>
          <a:graphicData uri="http://schemas.openxmlformats.org/drawingml/2006/chart">
            <c:chart xmlns:c="http://schemas.openxmlformats.org/drawingml/2006/chart" xmlns:r="http://schemas.openxmlformats.org/officeDocument/2006/relationships" r:id="rId3"/>
          </a:graphicData>
        </a:graphic>
      </p:graphicFrame>
      <p:sp>
        <p:nvSpPr>
          <p:cNvPr id="25"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26"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27"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28"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29"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Q1</a:t>
            </a:r>
            <a:r>
              <a:rPr lang="zh-CN" altLang="en-US" dirty="0"/>
              <a:t>：需求计划准确率偏低，对生产和采购指导性不强</a:t>
            </a:r>
          </a:p>
        </p:txBody>
      </p:sp>
      <p:sp>
        <p:nvSpPr>
          <p:cNvPr id="4" name="Line 5"/>
          <p:cNvSpPr>
            <a:spLocks noChangeShapeType="1"/>
          </p:cNvSpPr>
          <p:nvPr/>
        </p:nvSpPr>
        <p:spPr bwMode="auto">
          <a:xfrm>
            <a:off x="1430339" y="3403845"/>
            <a:ext cx="6284574" cy="1257"/>
          </a:xfrm>
          <a:prstGeom prst="line">
            <a:avLst/>
          </a:prstGeom>
          <a:noFill/>
          <a:ln w="38100"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5" name="Line 6"/>
          <p:cNvSpPr>
            <a:spLocks noChangeShapeType="1"/>
          </p:cNvSpPr>
          <p:nvPr/>
        </p:nvSpPr>
        <p:spPr bwMode="auto">
          <a:xfrm>
            <a:off x="3583793"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6" name="Line 7"/>
          <p:cNvSpPr>
            <a:spLocks noChangeShapeType="1"/>
          </p:cNvSpPr>
          <p:nvPr/>
        </p:nvSpPr>
        <p:spPr bwMode="auto">
          <a:xfrm>
            <a:off x="5544454"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9" name="Line 11"/>
          <p:cNvSpPr>
            <a:spLocks noChangeShapeType="1"/>
          </p:cNvSpPr>
          <p:nvPr/>
        </p:nvSpPr>
        <p:spPr bwMode="auto">
          <a:xfrm flipV="1">
            <a:off x="2268013"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0" name="Text Box 12"/>
          <p:cNvSpPr txBox="1">
            <a:spLocks noChangeArrowheads="1"/>
          </p:cNvSpPr>
          <p:nvPr/>
        </p:nvSpPr>
        <p:spPr bwMode="auto">
          <a:xfrm>
            <a:off x="325585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组织</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人员</a:t>
            </a:r>
          </a:p>
        </p:txBody>
      </p:sp>
      <p:sp>
        <p:nvSpPr>
          <p:cNvPr id="11" name="Text Box 13"/>
          <p:cNvSpPr txBox="1">
            <a:spLocks noChangeArrowheads="1"/>
          </p:cNvSpPr>
          <p:nvPr/>
        </p:nvSpPr>
        <p:spPr bwMode="auto">
          <a:xfrm>
            <a:off x="4423667"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en-US" altLang="zh-CN" sz="1400" b="1" dirty="0">
                <a:solidFill>
                  <a:srgbClr val="FFFFFF"/>
                </a:solidFill>
                <a:latin typeface="微软雅黑" panose="020B0503020204020204" charset="-122"/>
                <a:ea typeface="微软雅黑" panose="020B0503020204020204" charset="-122"/>
              </a:rPr>
              <a:t>IT</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13" name="Text Box 16"/>
          <p:cNvSpPr txBox="1">
            <a:spLocks noChangeArrowheads="1"/>
          </p:cNvSpPr>
          <p:nvPr/>
        </p:nvSpPr>
        <p:spPr bwMode="auto">
          <a:xfrm>
            <a:off x="515789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策略</a:t>
            </a:r>
          </a:p>
        </p:txBody>
      </p:sp>
      <p:sp>
        <p:nvSpPr>
          <p:cNvPr id="15" name="新月形 14"/>
          <p:cNvSpPr/>
          <p:nvPr/>
        </p:nvSpPr>
        <p:spPr bwMode="auto">
          <a:xfrm rot="10800000">
            <a:off x="857224" y="2891352"/>
            <a:ext cx="655876" cy="1026242"/>
          </a:xfrm>
          <a:prstGeom prst="moon">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6" name="流程图: 延期 15"/>
          <p:cNvSpPr/>
          <p:nvPr/>
        </p:nvSpPr>
        <p:spPr bwMode="auto">
          <a:xfrm>
            <a:off x="7714914" y="2891352"/>
            <a:ext cx="1189863" cy="1026242"/>
          </a:xfrm>
          <a:prstGeom prst="flowChartDelay">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r>
              <a:rPr lang="zh-CN" altLang="en-US" b="1" dirty="0">
                <a:solidFill>
                  <a:schemeClr val="bg1"/>
                </a:solidFill>
                <a:latin typeface="微软雅黑" panose="020B0503020204020204" charset="-122"/>
                <a:ea typeface="微软雅黑" panose="020B0503020204020204" charset="-122"/>
              </a:rPr>
              <a:t>需求计划准确率偏低</a:t>
            </a:r>
          </a:p>
        </p:txBody>
      </p:sp>
      <p:sp>
        <p:nvSpPr>
          <p:cNvPr id="17" name="Line 11"/>
          <p:cNvSpPr>
            <a:spLocks noChangeShapeType="1"/>
          </p:cNvSpPr>
          <p:nvPr/>
        </p:nvSpPr>
        <p:spPr bwMode="auto">
          <a:xfrm flipV="1">
            <a:off x="4934437"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8" name="Text Box 14"/>
          <p:cNvSpPr txBox="1">
            <a:spLocks noChangeArrowheads="1"/>
          </p:cNvSpPr>
          <p:nvPr/>
        </p:nvSpPr>
        <p:spPr bwMode="auto">
          <a:xfrm>
            <a:off x="2052388"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绩效</a:t>
            </a:r>
            <a:r>
              <a:rPr kumimoji="1" lang="en-US" altLang="zh-CN" sz="1400" b="1" dirty="0">
                <a:solidFill>
                  <a:srgbClr val="FFFFFF"/>
                </a:solidFill>
                <a:latin typeface="微软雅黑" panose="020B0503020204020204" charset="-122"/>
                <a:ea typeface="微软雅黑" panose="020B0503020204020204" charset="-122"/>
              </a:rPr>
              <a:t>/KPI</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21" name="AutoShape 21"/>
          <p:cNvSpPr/>
          <p:nvPr/>
        </p:nvSpPr>
        <p:spPr bwMode="auto">
          <a:xfrm>
            <a:off x="6363860" y="3840570"/>
            <a:ext cx="1520382" cy="399094"/>
          </a:xfrm>
          <a:prstGeom prst="borderCallout2">
            <a:avLst>
              <a:gd name="adj1" fmla="val 30000"/>
              <a:gd name="adj2" fmla="val -5861"/>
              <a:gd name="adj3" fmla="val 58571"/>
              <a:gd name="adj4" fmla="val -19523"/>
              <a:gd name="adj5" fmla="val 68465"/>
              <a:gd name="adj6" fmla="val -28087"/>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缺乏系统支持需求预测</a:t>
            </a:r>
          </a:p>
        </p:txBody>
      </p:sp>
      <p:sp>
        <p:nvSpPr>
          <p:cNvPr id="22" name="AutoShape 21"/>
          <p:cNvSpPr/>
          <p:nvPr/>
        </p:nvSpPr>
        <p:spPr bwMode="auto">
          <a:xfrm>
            <a:off x="5929322" y="4364333"/>
            <a:ext cx="1520382" cy="399094"/>
          </a:xfrm>
          <a:prstGeom prst="borderCallout2">
            <a:avLst>
              <a:gd name="adj1" fmla="val 30000"/>
              <a:gd name="adj2" fmla="val -5861"/>
              <a:gd name="adj3" fmla="val 15374"/>
              <a:gd name="adj4" fmla="val -17770"/>
              <a:gd name="adj5" fmla="val 25267"/>
              <a:gd name="adj6" fmla="val -30716"/>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无法及时全面地获得前端销售和后端生产数据</a:t>
            </a:r>
          </a:p>
        </p:txBody>
      </p:sp>
      <p:sp>
        <p:nvSpPr>
          <p:cNvPr id="23" name="AutoShape 21"/>
          <p:cNvSpPr/>
          <p:nvPr/>
        </p:nvSpPr>
        <p:spPr bwMode="auto">
          <a:xfrm>
            <a:off x="3896233" y="3786190"/>
            <a:ext cx="1579062" cy="399094"/>
          </a:xfrm>
          <a:prstGeom prst="borderCallout2">
            <a:avLst>
              <a:gd name="adj1" fmla="val 30000"/>
              <a:gd name="adj2" fmla="val -5861"/>
              <a:gd name="adj3" fmla="val 58571"/>
              <a:gd name="adj4" fmla="val -19523"/>
              <a:gd name="adj5" fmla="val 62705"/>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需求计划准确率</a:t>
            </a:r>
            <a:r>
              <a:rPr kumimoji="1" lang="en-US" altLang="zh-CN" sz="1000" dirty="0">
                <a:latin typeface="微软雅黑" panose="020B0503020204020204" charset="-122"/>
                <a:ea typeface="微软雅黑" panose="020B0503020204020204" charset="-122"/>
              </a:rPr>
              <a:t>KPI</a:t>
            </a:r>
            <a:r>
              <a:rPr kumimoji="1" lang="zh-CN" altLang="en-US" sz="1000" dirty="0">
                <a:latin typeface="微软雅黑" panose="020B0503020204020204" charset="-122"/>
                <a:ea typeface="微软雅黑" panose="020B0503020204020204" charset="-122"/>
              </a:rPr>
              <a:t>的计算方法较为宽松</a:t>
            </a:r>
          </a:p>
        </p:txBody>
      </p:sp>
      <p:sp>
        <p:nvSpPr>
          <p:cNvPr id="25" name="AutoShape 21"/>
          <p:cNvSpPr/>
          <p:nvPr/>
        </p:nvSpPr>
        <p:spPr bwMode="auto">
          <a:xfrm>
            <a:off x="4794956" y="2458402"/>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前端对销售预测和需求提报工作不重视</a:t>
            </a:r>
          </a:p>
        </p:txBody>
      </p:sp>
      <p:sp>
        <p:nvSpPr>
          <p:cNvPr id="26" name="AutoShape 21"/>
          <p:cNvSpPr/>
          <p:nvPr/>
        </p:nvSpPr>
        <p:spPr bwMode="auto">
          <a:xfrm>
            <a:off x="6141708" y="1928802"/>
            <a:ext cx="1520382" cy="399094"/>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缺乏对模式的共识，无调整机制导致随意调整</a:t>
            </a:r>
          </a:p>
        </p:txBody>
      </p:sp>
      <p:sp>
        <p:nvSpPr>
          <p:cNvPr id="27" name="AutoShape 21"/>
          <p:cNvSpPr/>
          <p:nvPr/>
        </p:nvSpPr>
        <p:spPr bwMode="auto">
          <a:xfrm>
            <a:off x="6731394" y="2458402"/>
            <a:ext cx="1520382" cy="399094"/>
          </a:xfrm>
          <a:prstGeom prst="borderCallout2">
            <a:avLst>
              <a:gd name="adj1" fmla="val 30000"/>
              <a:gd name="adj2" fmla="val -5861"/>
              <a:gd name="adj3" fmla="val -13425"/>
              <a:gd name="adj4" fmla="val -8129"/>
              <a:gd name="adj5" fmla="val -651"/>
              <a:gd name="adj6" fmla="val -23705"/>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事业部层面对需求计划的提报方法没有明确的要求和指导</a:t>
            </a:r>
          </a:p>
        </p:txBody>
      </p:sp>
      <p:sp>
        <p:nvSpPr>
          <p:cNvPr id="28" name="AutoShape 21"/>
          <p:cNvSpPr/>
          <p:nvPr/>
        </p:nvSpPr>
        <p:spPr bwMode="auto">
          <a:xfrm>
            <a:off x="4239669" y="1928802"/>
            <a:ext cx="1520382" cy="399094"/>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人员缺乏预测方法和市场洞察能力</a:t>
            </a:r>
          </a:p>
        </p:txBody>
      </p:sp>
      <p:sp>
        <p:nvSpPr>
          <p:cNvPr id="29" name="AutoShape 21"/>
          <p:cNvSpPr/>
          <p:nvPr/>
        </p:nvSpPr>
        <p:spPr bwMode="auto">
          <a:xfrm>
            <a:off x="3189278" y="4298956"/>
            <a:ext cx="1520382" cy="399094"/>
          </a:xfrm>
          <a:prstGeom prst="borderCallout2">
            <a:avLst>
              <a:gd name="adj1" fmla="val 30000"/>
              <a:gd name="adj2" fmla="val -5861"/>
              <a:gd name="adj3" fmla="val 61451"/>
              <a:gd name="adj4" fmla="val -11634"/>
              <a:gd name="adj5" fmla="val 71344"/>
              <a:gd name="adj6" fmla="val -1932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考核和激励力度不足</a:t>
            </a:r>
          </a:p>
        </p:txBody>
      </p:sp>
      <p:sp>
        <p:nvSpPr>
          <p:cNvPr id="31" name="AutoShape 21"/>
          <p:cNvSpPr/>
          <p:nvPr/>
        </p:nvSpPr>
        <p:spPr bwMode="auto">
          <a:xfrm>
            <a:off x="2714612" y="2458402"/>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凭经验及有限的市场数据预测，未使用科学的预测方法</a:t>
            </a:r>
          </a:p>
        </p:txBody>
      </p:sp>
      <p:sp>
        <p:nvSpPr>
          <p:cNvPr id="35" name="Line 6"/>
          <p:cNvSpPr>
            <a:spLocks noChangeShapeType="1"/>
          </p:cNvSpPr>
          <p:nvPr/>
        </p:nvSpPr>
        <p:spPr bwMode="auto">
          <a:xfrm>
            <a:off x="1480991" y="1846331"/>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36" name="Text Box 12"/>
          <p:cNvSpPr txBox="1">
            <a:spLocks noChangeArrowheads="1"/>
          </p:cNvSpPr>
          <p:nvPr/>
        </p:nvSpPr>
        <p:spPr bwMode="auto">
          <a:xfrm>
            <a:off x="1243455" y="1478637"/>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管理</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流程</a:t>
            </a:r>
          </a:p>
        </p:txBody>
      </p:sp>
      <p:sp>
        <p:nvSpPr>
          <p:cNvPr id="37" name="AutoShape 21"/>
          <p:cNvSpPr/>
          <p:nvPr/>
        </p:nvSpPr>
        <p:spPr bwMode="auto">
          <a:xfrm>
            <a:off x="2218059" y="1928802"/>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尚未将商机成体系地引入需求预测中，联合预测流于形式</a:t>
            </a:r>
          </a:p>
        </p:txBody>
      </p:sp>
      <p:cxnSp>
        <p:nvCxnSpPr>
          <p:cNvPr id="47" name="直接连接符 46"/>
          <p:cNvCxnSpPr/>
          <p:nvPr/>
        </p:nvCxnSpPr>
        <p:spPr bwMode="auto">
          <a:xfrm>
            <a:off x="1857356"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8" name="直接连接符 47"/>
          <p:cNvCxnSpPr/>
          <p:nvPr/>
        </p:nvCxnSpPr>
        <p:spPr bwMode="auto">
          <a:xfrm>
            <a:off x="2328754"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9" name="直接连接符 48"/>
          <p:cNvCxnSpPr/>
          <p:nvPr/>
        </p:nvCxnSpPr>
        <p:spPr bwMode="auto">
          <a:xfrm>
            <a:off x="3872485"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0" name="直接连接符 49"/>
          <p:cNvCxnSpPr/>
          <p:nvPr/>
        </p:nvCxnSpPr>
        <p:spPr bwMode="auto">
          <a:xfrm>
            <a:off x="4454544"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1" name="直接连接符 50"/>
          <p:cNvCxnSpPr/>
          <p:nvPr/>
        </p:nvCxnSpPr>
        <p:spPr bwMode="auto">
          <a:xfrm>
            <a:off x="5827405"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2" name="直接连接符 51"/>
          <p:cNvCxnSpPr/>
          <p:nvPr/>
        </p:nvCxnSpPr>
        <p:spPr bwMode="auto">
          <a:xfrm>
            <a:off x="6409463"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3" name="直接连接符 52"/>
          <p:cNvCxnSpPr/>
          <p:nvPr/>
        </p:nvCxnSpPr>
        <p:spPr bwMode="auto">
          <a:xfrm>
            <a:off x="3535430" y="3936787"/>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4" name="直接连接符 53"/>
          <p:cNvCxnSpPr/>
          <p:nvPr/>
        </p:nvCxnSpPr>
        <p:spPr bwMode="auto">
          <a:xfrm>
            <a:off x="2861320" y="448788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5" name="直接连接符 54"/>
          <p:cNvCxnSpPr/>
          <p:nvPr/>
        </p:nvCxnSpPr>
        <p:spPr bwMode="auto">
          <a:xfrm>
            <a:off x="5989578" y="407456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6" name="直接连接符 55"/>
          <p:cNvCxnSpPr/>
          <p:nvPr/>
        </p:nvCxnSpPr>
        <p:spPr bwMode="auto">
          <a:xfrm>
            <a:off x="5490350" y="4556767"/>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44" name="矩形 4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策略</a:t>
            </a:r>
            <a:r>
              <a:rPr lang="zh-CN" altLang="en-US" sz="1200" dirty="0">
                <a:latin typeface="微软雅黑" panose="020B0503020204020204" charset="-122"/>
                <a:ea typeface="微软雅黑" panose="020B0503020204020204" charset="-122"/>
              </a:rPr>
              <a:t>：探讨</a:t>
            </a:r>
            <a:r>
              <a:rPr lang="zh-CN" altLang="en-US" sz="1200" b="1" dirty="0">
                <a:latin typeface="微软雅黑" panose="020B0503020204020204" charset="-122"/>
                <a:ea typeface="微软雅黑" panose="020B0503020204020204" charset="-122"/>
              </a:rPr>
              <a:t>计划模式</a:t>
            </a:r>
            <a:r>
              <a:rPr lang="zh-CN" altLang="en-US" sz="1200" dirty="0">
                <a:latin typeface="微软雅黑" panose="020B0503020204020204" charset="-122"/>
                <a:ea typeface="微软雅黑" panose="020B0503020204020204" charset="-122"/>
              </a:rPr>
              <a:t>，并达成共识［</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组织</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人员</a:t>
            </a:r>
            <a:r>
              <a:rPr lang="zh-CN" altLang="en-US" sz="1200" dirty="0">
                <a:latin typeface="微软雅黑" panose="020B0503020204020204" charset="-122"/>
                <a:ea typeface="微软雅黑" panose="020B0503020204020204" charset="-122"/>
              </a:rPr>
              <a:t>：将达成共识的集成计划模式和需求管理方法在组织内进行</a:t>
            </a:r>
            <a:r>
              <a:rPr lang="zh-CN" altLang="en-US" sz="1200" b="1" dirty="0">
                <a:latin typeface="微软雅黑" panose="020B0503020204020204" charset="-122"/>
                <a:ea typeface="微软雅黑" panose="020B0503020204020204" charset="-122"/>
              </a:rPr>
              <a:t>宣贯和培训</a:t>
            </a:r>
            <a:r>
              <a:rPr lang="zh-CN" altLang="en-US" sz="1200" dirty="0">
                <a:latin typeface="微软雅黑" panose="020B0503020204020204" charset="-122"/>
                <a:ea typeface="微软雅黑" panose="020B0503020204020204" charset="-122"/>
              </a:rPr>
              <a:t>［x</a:t>
            </a:r>
            <a:r>
              <a:rPr lang="en-US" altLang="zh-CN" sz="1200" dirty="0">
                <a:latin typeface="微软雅黑" panose="020B0503020204020204" charset="-122"/>
                <a:ea typeface="微软雅黑" panose="020B0503020204020204" charset="-122"/>
              </a:rPr>
              <a:t>/x</a:t>
            </a:r>
            <a:r>
              <a:rPr lang="zh-CN" altLang="en-US" sz="1200" dirty="0">
                <a:latin typeface="微软雅黑" panose="020B0503020204020204" charset="-122"/>
                <a:ea typeface="微软雅黑" panose="020B0503020204020204" charset="-122"/>
              </a:rPr>
              <a:t>团队推进］</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管理</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流程</a:t>
            </a:r>
            <a:r>
              <a:rPr lang="zh-CN" altLang="en-US" sz="1200" dirty="0">
                <a:latin typeface="微软雅黑" panose="020B0503020204020204" charset="-122"/>
                <a:ea typeface="微软雅黑" panose="020B0503020204020204" charset="-122"/>
              </a:rPr>
              <a:t>：梳理</a:t>
            </a:r>
            <a:r>
              <a:rPr lang="zh-CN" altLang="en-US" sz="1200" b="1" dirty="0">
                <a:latin typeface="微软雅黑" panose="020B0503020204020204" charset="-122"/>
                <a:ea typeface="微软雅黑" panose="020B0503020204020204" charset="-122"/>
              </a:rPr>
              <a:t>需求计划管理方法</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；梳理</a:t>
            </a:r>
            <a:r>
              <a:rPr lang="zh-CN" altLang="en-US" sz="1200" b="1" dirty="0">
                <a:latin typeface="微软雅黑" panose="020B0503020204020204" charset="-122"/>
                <a:ea typeface="微软雅黑" panose="020B0503020204020204" charset="-122"/>
              </a:rPr>
              <a:t>需求计划管理流程</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绩效</a:t>
            </a:r>
            <a:r>
              <a:rPr lang="en-US" altLang="zh-CN" sz="1200" u="sng"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 提出需求计划管理的</a:t>
            </a:r>
            <a:r>
              <a:rPr lang="en-US" altLang="zh-CN" sz="1200" b="1" dirty="0">
                <a:latin typeface="微软雅黑" panose="020B0503020204020204" charset="-122"/>
                <a:ea typeface="微软雅黑" panose="020B0503020204020204" charset="-122"/>
              </a:rPr>
              <a:t>KPI</a:t>
            </a:r>
            <a:r>
              <a:rPr lang="zh-CN" altLang="en-US" sz="1200" b="1" dirty="0">
                <a:latin typeface="微软雅黑" panose="020B0503020204020204" charset="-122"/>
                <a:ea typeface="微软雅黑" panose="020B0503020204020204" charset="-122"/>
              </a:rPr>
              <a:t>建议</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a:t>
            </a:r>
            <a:r>
              <a:rPr lang="zh-CN" altLang="en-US" sz="1200" b="1" dirty="0">
                <a:latin typeface="微软雅黑" panose="020B0503020204020204" charset="-122"/>
                <a:ea typeface="微软雅黑" panose="020B0503020204020204" charset="-122"/>
              </a:rPr>
              <a:t>发布考核制度</a:t>
            </a:r>
            <a:r>
              <a:rPr lang="zh-CN" altLang="en-US" sz="1200" dirty="0">
                <a:latin typeface="微软雅黑" panose="020B0503020204020204" charset="-122"/>
                <a:ea typeface="微软雅黑" panose="020B0503020204020204" charset="-122"/>
              </a:rPr>
              <a:t>［x团队推进］</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a:t>
            </a:r>
            <a:r>
              <a:rPr lang="en-US" altLang="zh-CN" sz="1200" u="sng"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：构筑一体化平台打通数据共享（有权限的），同时支持需求预测和提报［</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系统实施</a:t>
            </a:r>
            <a:r>
              <a:rPr lang="en-US" altLang="zh-CN" sz="1200" dirty="0">
                <a:latin typeface="微软雅黑" panose="020B0503020204020204" charset="-122"/>
                <a:ea typeface="微软雅黑" panose="020B0503020204020204" charset="-122"/>
              </a:rPr>
              <a:t>/CRM</a:t>
            </a:r>
            <a:r>
              <a:rPr lang="zh-CN" altLang="en-US" sz="1200" dirty="0">
                <a:latin typeface="微软雅黑" panose="020B0503020204020204" charset="-122"/>
                <a:ea typeface="微软雅黑" panose="020B0503020204020204" charset="-122"/>
              </a:rPr>
              <a:t>优化］ </a:t>
            </a:r>
          </a:p>
        </p:txBody>
      </p:sp>
      <p:sp>
        <p:nvSpPr>
          <p:cNvPr id="42" name="矩形 41"/>
          <p:cNvSpPr/>
          <p:nvPr/>
        </p:nvSpPr>
        <p:spPr bwMode="auto">
          <a:xfrm>
            <a:off x="214282" y="1385430"/>
            <a:ext cx="500066" cy="4068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根因分析</a:t>
            </a:r>
          </a:p>
        </p:txBody>
      </p:sp>
      <p:sp>
        <p:nvSpPr>
          <p:cNvPr id="43" name="矩形 4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改进方向</a:t>
            </a:r>
          </a:p>
        </p:txBody>
      </p:sp>
      <p:sp>
        <p:nvSpPr>
          <p:cNvPr id="46" name="矩形 45"/>
          <p:cNvSpPr/>
          <p:nvPr/>
        </p:nvSpPr>
        <p:spPr bwMode="auto">
          <a:xfrm>
            <a:off x="785786" y="1385430"/>
            <a:ext cx="8172000" cy="4068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57" name="矩形 56"/>
          <p:cNvSpPr/>
          <p:nvPr/>
        </p:nvSpPr>
        <p:spPr>
          <a:xfrm>
            <a:off x="214282" y="1049521"/>
            <a:ext cx="8715436" cy="307777"/>
          </a:xfrm>
          <a:prstGeom prst="rect">
            <a:avLst/>
          </a:prstGeom>
        </p:spPr>
        <p:txBody>
          <a:bodyPr wrap="square">
            <a:spAutoFit/>
          </a:bodyPr>
          <a:lstStyle/>
          <a:p>
            <a:r>
              <a:rPr lang="zh-CN" altLang="en-US" sz="1400" b="1" dirty="0">
                <a:latin typeface="微软雅黑" panose="020B0503020204020204" charset="-122"/>
                <a:ea typeface="微软雅黑" panose="020B0503020204020204" charset="-122"/>
              </a:rPr>
              <a:t>工程机械行业受国家政策和客户行业变动影响较大，存在不可控因素增大预测的难度</a:t>
            </a:r>
          </a:p>
        </p:txBody>
      </p:sp>
      <p:sp>
        <p:nvSpPr>
          <p:cNvPr id="60"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61"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62"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63"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64"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Q2</a:t>
            </a:r>
            <a:r>
              <a:rPr lang="zh-CN" altLang="en-US" dirty="0"/>
              <a:t>：缺乏端到端的订单管理，订单处理规则不明确</a:t>
            </a:r>
          </a:p>
        </p:txBody>
      </p:sp>
      <p:sp>
        <p:nvSpPr>
          <p:cNvPr id="9" name="TextBox 8"/>
          <p:cNvSpPr txBox="1"/>
          <p:nvPr/>
        </p:nvSpPr>
        <p:spPr bwMode="auto">
          <a:xfrm>
            <a:off x="214281" y="1386000"/>
            <a:ext cx="8739555" cy="50040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a:ln>
          <a:effectLst/>
        </p:spPr>
        <p:txBody>
          <a:bodyPr rtlCol="0" anchor="ctr"/>
          <a:lstStyle>
            <a:defPPr>
              <a:defRPr lang="zh-CN"/>
            </a:defPPr>
            <a:lvl1pPr algn="ctr" fontAlgn="auto">
              <a:spcBef>
                <a:spcPts val="0"/>
              </a:spcBef>
              <a:spcAft>
                <a:spcPts val="0"/>
              </a:spcAft>
              <a:defRPr sz="1600" b="1">
                <a:solidFill>
                  <a:schemeClr val="bg2"/>
                </a:solidFill>
                <a:latin typeface="微软雅黑" panose="020B0503020204020204" charset="-122"/>
                <a:ea typeface="微软雅黑" panose="020B0503020204020204" charset="-122"/>
              </a:defRPr>
            </a:lvl1pPr>
          </a:lstStyle>
          <a:p>
            <a:pPr fontAlgn="base">
              <a:spcBef>
                <a:spcPct val="0"/>
              </a:spcBef>
              <a:spcAft>
                <a:spcPct val="0"/>
              </a:spcAft>
            </a:pPr>
            <a:r>
              <a:rPr lang="zh-CN" altLang="en-US" sz="1400" dirty="0">
                <a:solidFill>
                  <a:schemeClr val="tx1"/>
                </a:solidFill>
              </a:rPr>
              <a:t>问题描述</a:t>
            </a:r>
            <a:endParaRPr lang="en-US" altLang="en-US" sz="1400" dirty="0">
              <a:solidFill>
                <a:schemeClr val="tx1"/>
              </a:solidFill>
            </a:endParaRPr>
          </a:p>
        </p:txBody>
      </p:sp>
      <p:sp>
        <p:nvSpPr>
          <p:cNvPr id="10" name="矩形 9"/>
          <p:cNvSpPr/>
          <p:nvPr/>
        </p:nvSpPr>
        <p:spPr bwMode="auto">
          <a:xfrm>
            <a:off x="214282" y="1949964"/>
            <a:ext cx="8739218" cy="349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13" name="矩形 1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业务影响</a:t>
            </a:r>
          </a:p>
        </p:txBody>
      </p:sp>
      <p:sp>
        <p:nvSpPr>
          <p:cNvPr id="14" name="矩形 1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marL="266700" indent="-266700"/>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无法快速获取</a:t>
            </a:r>
            <a:r>
              <a:rPr lang="zh-CN" altLang="en-US" sz="1200" b="1" dirty="0">
                <a:latin typeface="微软雅黑" panose="020B0503020204020204" charset="-122"/>
                <a:ea typeface="微软雅黑" panose="020B0503020204020204" charset="-122"/>
              </a:rPr>
              <a:t>可靠的承诺交付日期</a:t>
            </a:r>
            <a:endParaRPr lang="en-US" altLang="zh-CN" sz="1200" b="1" dirty="0">
              <a:latin typeface="微软雅黑" panose="020B0503020204020204" charset="-122"/>
              <a:ea typeface="微软雅黑" panose="020B0503020204020204" charset="-122"/>
            </a:endParaRPr>
          </a:p>
          <a:p>
            <a:pPr marL="266700" indent="-266700"/>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订单状态不可视，订单沟通凭借线下电话，</a:t>
            </a:r>
            <a:r>
              <a:rPr lang="zh-CN" altLang="en-US" sz="1200" b="1" dirty="0">
                <a:latin typeface="微软雅黑" panose="020B0503020204020204" charset="-122"/>
                <a:ea typeface="微软雅黑" panose="020B0503020204020204" charset="-122"/>
              </a:rPr>
              <a:t>工作效率低</a:t>
            </a:r>
            <a:r>
              <a:rPr lang="zh-CN" altLang="en-US" sz="1200" dirty="0">
                <a:latin typeface="微软雅黑" panose="020B0503020204020204" charset="-122"/>
                <a:ea typeface="微软雅黑" panose="020B0503020204020204" charset="-122"/>
              </a:rPr>
              <a:t>，难以及时向客户反馈交付进度</a:t>
            </a:r>
            <a:endParaRPr lang="en-US" altLang="zh-CN" sz="1200" dirty="0">
              <a:latin typeface="微软雅黑" panose="020B0503020204020204" charset="-122"/>
              <a:ea typeface="微软雅黑" panose="020B0503020204020204" charset="-122"/>
            </a:endParaRPr>
          </a:p>
          <a:p>
            <a:pPr marL="266700" indent="-266700"/>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影响客户订单响应和交付，</a:t>
            </a:r>
            <a:r>
              <a:rPr lang="zh-CN" altLang="en-US" sz="1200" b="1" dirty="0">
                <a:latin typeface="微软雅黑" panose="020B0503020204020204" charset="-122"/>
                <a:ea typeface="微软雅黑" panose="020B0503020204020204" charset="-122"/>
              </a:rPr>
              <a:t>降低客户满意度</a:t>
            </a:r>
            <a:endParaRPr lang="en-US" altLang="zh-CN" sz="1200" b="1" dirty="0">
              <a:latin typeface="微软雅黑" panose="020B0503020204020204" charset="-122"/>
              <a:ea typeface="微软雅黑" panose="020B0503020204020204" charset="-122"/>
            </a:endParaRPr>
          </a:p>
        </p:txBody>
      </p:sp>
      <p:sp>
        <p:nvSpPr>
          <p:cNvPr id="20" name="TextBox 19"/>
          <p:cNvSpPr txBox="1"/>
          <p:nvPr/>
        </p:nvSpPr>
        <p:spPr bwMode="auto">
          <a:xfrm>
            <a:off x="285720" y="2000240"/>
            <a:ext cx="2928958" cy="3447098"/>
          </a:xfrm>
          <a:prstGeom prst="rect">
            <a:avLst/>
          </a:prstGeom>
          <a:noFill/>
          <a:ln>
            <a:noFill/>
          </a:ln>
        </p:spPr>
        <p:txBody>
          <a:bodyPr wrap="square" rtlCol="0">
            <a:spAutoFit/>
          </a:bodyPr>
          <a:lstStyle/>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国内销售订单仅作为过账凭证，国际销售订单作为发货凭证，未作为贯穿交付过程的凭证</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国内：靠库存满足为主，样机申请和发货已经关联，对于无库存满足的部分，</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尚未与生产订单关联</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（量较少）</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国际：按订单生产为主，但是销售合同</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销售订单</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生产订单</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发货单</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割裂</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未实现信息的贯通</a:t>
            </a: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订单的处理和沟通依靠零散的系统和工具（电子表格、电话等），</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无法通过系统便利地查看订单的全生命周期状态</a:t>
            </a:r>
            <a:endPar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订单</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处理缺乏规则</a:t>
            </a: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，经常存在人为干预的情况</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1026" name="Picture 2"/>
          <p:cNvPicPr>
            <a:picLocks noChangeAspect="1" noChangeArrowheads="1"/>
          </p:cNvPicPr>
          <p:nvPr/>
        </p:nvPicPr>
        <p:blipFill>
          <a:blip r:embed="rId2"/>
          <a:srcRect/>
          <a:stretch>
            <a:fillRect/>
          </a:stretch>
        </p:blipFill>
        <p:spPr bwMode="auto">
          <a:xfrm>
            <a:off x="4071934" y="2794057"/>
            <a:ext cx="4229106" cy="2206579"/>
          </a:xfrm>
          <a:prstGeom prst="rect">
            <a:avLst/>
          </a:prstGeom>
          <a:noFill/>
          <a:ln w="9525">
            <a:noFill/>
            <a:miter lim="800000"/>
            <a:headEnd/>
            <a:tailEnd/>
          </a:ln>
          <a:effectLst/>
        </p:spPr>
      </p:pic>
      <p:sp>
        <p:nvSpPr>
          <p:cNvPr id="19" name="Freeform 100"/>
          <p:cNvSpPr/>
          <p:nvPr/>
        </p:nvSpPr>
        <p:spPr bwMode="auto">
          <a:xfrm>
            <a:off x="5993638" y="5037232"/>
            <a:ext cx="216000" cy="144000"/>
          </a:xfrm>
          <a:custGeom>
            <a:avLst/>
            <a:gdLst>
              <a:gd name="T0" fmla="*/ 0 w 227"/>
              <a:gd name="T1" fmla="*/ 2147483647 h 201"/>
              <a:gd name="T2" fmla="*/ 0 w 227"/>
              <a:gd name="T3" fmla="*/ 2147483647 h 201"/>
              <a:gd name="T4" fmla="*/ 0 w 227"/>
              <a:gd name="T5" fmla="*/ 2147483647 h 201"/>
              <a:gd name="T6" fmla="*/ 0 w 227"/>
              <a:gd name="T7" fmla="*/ 2147483647 h 201"/>
              <a:gd name="T8" fmla="*/ 0 w 227"/>
              <a:gd name="T9" fmla="*/ 2147483647 h 201"/>
              <a:gd name="T10" fmla="*/ 0 w 227"/>
              <a:gd name="T11" fmla="*/ 2147483647 h 201"/>
              <a:gd name="T12" fmla="*/ 0 w 227"/>
              <a:gd name="T13" fmla="*/ 2147483647 h 201"/>
              <a:gd name="T14" fmla="*/ 0 w 227"/>
              <a:gd name="T15" fmla="*/ 2147483647 h 201"/>
              <a:gd name="T16" fmla="*/ 0 w 227"/>
              <a:gd name="T17" fmla="*/ 2147483647 h 201"/>
              <a:gd name="T18" fmla="*/ 0 w 227"/>
              <a:gd name="T19" fmla="*/ 2147483647 h 201"/>
              <a:gd name="T20" fmla="*/ 0 w 227"/>
              <a:gd name="T21" fmla="*/ 2147483647 h 201"/>
              <a:gd name="T22" fmla="*/ 0 w 227"/>
              <a:gd name="T23" fmla="*/ 2147483647 h 201"/>
              <a:gd name="T24" fmla="*/ 0 w 227"/>
              <a:gd name="T25" fmla="*/ 2147483647 h 201"/>
              <a:gd name="T26" fmla="*/ 0 w 227"/>
              <a:gd name="T27" fmla="*/ 2147483647 h 201"/>
              <a:gd name="T28" fmla="*/ 0 w 227"/>
              <a:gd name="T29" fmla="*/ 2147483647 h 201"/>
              <a:gd name="T30" fmla="*/ 2147483647 w 227"/>
              <a:gd name="T31" fmla="*/ 2147483647 h 201"/>
              <a:gd name="T32" fmla="*/ 2147483647 w 227"/>
              <a:gd name="T33" fmla="*/ 2147483647 h 201"/>
              <a:gd name="T34" fmla="*/ 2147483647 w 227"/>
              <a:gd name="T35" fmla="*/ 2147483647 h 201"/>
              <a:gd name="T36" fmla="*/ 2147483647 w 227"/>
              <a:gd name="T37" fmla="*/ 2147483647 h 201"/>
              <a:gd name="T38" fmla="*/ 2147483647 w 227"/>
              <a:gd name="T39" fmla="*/ 2147483647 h 201"/>
              <a:gd name="T40" fmla="*/ 2147483647 w 227"/>
              <a:gd name="T41" fmla="*/ 2147483647 h 201"/>
              <a:gd name="T42" fmla="*/ 2147483647 w 227"/>
              <a:gd name="T43" fmla="*/ 2147483647 h 201"/>
              <a:gd name="T44" fmla="*/ 2147483647 w 227"/>
              <a:gd name="T45" fmla="*/ 2147483647 h 201"/>
              <a:gd name="T46" fmla="*/ 2147483647 w 227"/>
              <a:gd name="T47" fmla="*/ 2147483647 h 201"/>
              <a:gd name="T48" fmla="*/ 2147483647 w 227"/>
              <a:gd name="T49" fmla="*/ 2147483647 h 201"/>
              <a:gd name="T50" fmla="*/ 2147483647 w 227"/>
              <a:gd name="T51" fmla="*/ 2147483647 h 201"/>
              <a:gd name="T52" fmla="*/ 2147483647 w 227"/>
              <a:gd name="T53" fmla="*/ 2147483647 h 201"/>
              <a:gd name="T54" fmla="*/ 2147483647 w 227"/>
              <a:gd name="T55" fmla="*/ 2147483647 h 201"/>
              <a:gd name="T56" fmla="*/ 2147483647 w 227"/>
              <a:gd name="T57" fmla="*/ 2147483647 h 201"/>
              <a:gd name="T58" fmla="*/ 2147483647 w 227"/>
              <a:gd name="T59" fmla="*/ 2147483647 h 201"/>
              <a:gd name="T60" fmla="*/ 2147483647 w 227"/>
              <a:gd name="T61" fmla="*/ 2147483647 h 201"/>
              <a:gd name="T62" fmla="*/ 2147483647 w 227"/>
              <a:gd name="T63" fmla="*/ 2147483647 h 201"/>
              <a:gd name="T64" fmla="*/ 2147483647 w 227"/>
              <a:gd name="T65" fmla="*/ 2147483647 h 201"/>
              <a:gd name="T66" fmla="*/ 2147483647 w 227"/>
              <a:gd name="T67" fmla="*/ 2147483647 h 201"/>
              <a:gd name="T68" fmla="*/ 2147483647 w 227"/>
              <a:gd name="T69" fmla="*/ 2147483647 h 201"/>
              <a:gd name="T70" fmla="*/ 2147483647 w 227"/>
              <a:gd name="T71" fmla="*/ 2147483647 h 201"/>
              <a:gd name="T72" fmla="*/ 2147483647 w 227"/>
              <a:gd name="T73" fmla="*/ 2147483647 h 201"/>
              <a:gd name="T74" fmla="*/ 2147483647 w 227"/>
              <a:gd name="T75" fmla="*/ 2147483647 h 201"/>
              <a:gd name="T76" fmla="*/ 2147483647 w 227"/>
              <a:gd name="T77" fmla="*/ 2147483647 h 201"/>
              <a:gd name="T78" fmla="*/ 2147483647 w 227"/>
              <a:gd name="T79" fmla="*/ 2147483647 h 201"/>
              <a:gd name="T80" fmla="*/ 2147483647 w 227"/>
              <a:gd name="T81" fmla="*/ 2147483647 h 201"/>
              <a:gd name="T82" fmla="*/ 2147483647 w 227"/>
              <a:gd name="T83" fmla="*/ 2147483647 h 201"/>
              <a:gd name="T84" fmla="*/ 2147483647 w 227"/>
              <a:gd name="T85" fmla="*/ 2147483647 h 201"/>
              <a:gd name="T86" fmla="*/ 2147483647 w 227"/>
              <a:gd name="T87" fmla="*/ 0 h 201"/>
              <a:gd name="T88" fmla="*/ 2147483647 w 227"/>
              <a:gd name="T89" fmla="*/ 2147483647 h 201"/>
              <a:gd name="T90" fmla="*/ 2147483647 w 227"/>
              <a:gd name="T91" fmla="*/ 2147483647 h 201"/>
              <a:gd name="T92" fmla="*/ 2147483647 w 227"/>
              <a:gd name="T93" fmla="*/ 2147483647 h 201"/>
              <a:gd name="T94" fmla="*/ 2147483647 w 227"/>
              <a:gd name="T95" fmla="*/ 2147483647 h 201"/>
              <a:gd name="T96" fmla="*/ 2147483647 w 227"/>
              <a:gd name="T97" fmla="*/ 2147483647 h 201"/>
              <a:gd name="T98" fmla="*/ 2147483647 w 227"/>
              <a:gd name="T99" fmla="*/ 2147483647 h 201"/>
              <a:gd name="T100" fmla="*/ 2147483647 w 227"/>
              <a:gd name="T101" fmla="*/ 2147483647 h 201"/>
              <a:gd name="T102" fmla="*/ 2147483647 w 227"/>
              <a:gd name="T103" fmla="*/ 2147483647 h 201"/>
              <a:gd name="T104" fmla="*/ 2147483647 w 227"/>
              <a:gd name="T105" fmla="*/ 2147483647 h 201"/>
              <a:gd name="T106" fmla="*/ 2147483647 w 227"/>
              <a:gd name="T107" fmla="*/ 2147483647 h 201"/>
              <a:gd name="T108" fmla="*/ 2147483647 w 227"/>
              <a:gd name="T109" fmla="*/ 2147483647 h 201"/>
              <a:gd name="T110" fmla="*/ 2147483647 w 227"/>
              <a:gd name="T111" fmla="*/ 2147483647 h 201"/>
              <a:gd name="T112" fmla="*/ 2147483647 w 227"/>
              <a:gd name="T113" fmla="*/ 2147483647 h 201"/>
              <a:gd name="T114" fmla="*/ 2147483647 w 227"/>
              <a:gd name="T115" fmla="*/ 2147483647 h 201"/>
              <a:gd name="T116" fmla="*/ 2147483647 w 227"/>
              <a:gd name="T117" fmla="*/ 2147483647 h 20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27"/>
              <a:gd name="T178" fmla="*/ 0 h 201"/>
              <a:gd name="T179" fmla="*/ 227 w 227"/>
              <a:gd name="T180" fmla="*/ 201 h 20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27" h="201">
                <a:moveTo>
                  <a:pt x="64" y="199"/>
                </a:moveTo>
                <a:lnTo>
                  <a:pt x="53" y="199"/>
                </a:lnTo>
                <a:lnTo>
                  <a:pt x="40" y="199"/>
                </a:lnTo>
                <a:lnTo>
                  <a:pt x="39" y="198"/>
                </a:lnTo>
                <a:lnTo>
                  <a:pt x="38" y="197"/>
                </a:lnTo>
                <a:lnTo>
                  <a:pt x="39" y="190"/>
                </a:lnTo>
                <a:lnTo>
                  <a:pt x="39" y="182"/>
                </a:lnTo>
                <a:lnTo>
                  <a:pt x="36" y="173"/>
                </a:lnTo>
                <a:lnTo>
                  <a:pt x="34" y="165"/>
                </a:lnTo>
                <a:lnTo>
                  <a:pt x="34" y="162"/>
                </a:lnTo>
                <a:lnTo>
                  <a:pt x="34" y="161"/>
                </a:lnTo>
                <a:lnTo>
                  <a:pt x="35" y="160"/>
                </a:lnTo>
                <a:lnTo>
                  <a:pt x="36" y="159"/>
                </a:lnTo>
                <a:lnTo>
                  <a:pt x="36" y="158"/>
                </a:lnTo>
                <a:lnTo>
                  <a:pt x="35" y="156"/>
                </a:lnTo>
                <a:lnTo>
                  <a:pt x="34" y="154"/>
                </a:lnTo>
                <a:lnTo>
                  <a:pt x="32" y="153"/>
                </a:lnTo>
                <a:lnTo>
                  <a:pt x="31" y="153"/>
                </a:lnTo>
                <a:lnTo>
                  <a:pt x="31" y="156"/>
                </a:lnTo>
                <a:lnTo>
                  <a:pt x="32" y="160"/>
                </a:lnTo>
                <a:lnTo>
                  <a:pt x="29" y="155"/>
                </a:lnTo>
                <a:lnTo>
                  <a:pt x="27" y="151"/>
                </a:lnTo>
                <a:lnTo>
                  <a:pt x="25" y="148"/>
                </a:lnTo>
                <a:lnTo>
                  <a:pt x="23" y="145"/>
                </a:lnTo>
                <a:lnTo>
                  <a:pt x="25" y="145"/>
                </a:lnTo>
                <a:lnTo>
                  <a:pt x="25" y="142"/>
                </a:lnTo>
                <a:lnTo>
                  <a:pt x="23" y="138"/>
                </a:lnTo>
                <a:lnTo>
                  <a:pt x="22" y="136"/>
                </a:lnTo>
                <a:lnTo>
                  <a:pt x="20" y="132"/>
                </a:lnTo>
                <a:lnTo>
                  <a:pt x="18" y="129"/>
                </a:lnTo>
                <a:lnTo>
                  <a:pt x="14" y="128"/>
                </a:lnTo>
                <a:lnTo>
                  <a:pt x="13" y="128"/>
                </a:lnTo>
                <a:lnTo>
                  <a:pt x="11" y="127"/>
                </a:lnTo>
                <a:lnTo>
                  <a:pt x="3" y="119"/>
                </a:lnTo>
                <a:lnTo>
                  <a:pt x="2" y="117"/>
                </a:lnTo>
                <a:lnTo>
                  <a:pt x="0" y="110"/>
                </a:lnTo>
                <a:lnTo>
                  <a:pt x="3" y="101"/>
                </a:lnTo>
                <a:lnTo>
                  <a:pt x="6" y="103"/>
                </a:lnTo>
                <a:lnTo>
                  <a:pt x="14" y="106"/>
                </a:lnTo>
                <a:lnTo>
                  <a:pt x="27" y="115"/>
                </a:lnTo>
                <a:lnTo>
                  <a:pt x="41" y="125"/>
                </a:lnTo>
                <a:lnTo>
                  <a:pt x="47" y="132"/>
                </a:lnTo>
                <a:lnTo>
                  <a:pt x="51" y="136"/>
                </a:lnTo>
                <a:lnTo>
                  <a:pt x="55" y="142"/>
                </a:lnTo>
                <a:lnTo>
                  <a:pt x="60" y="147"/>
                </a:lnTo>
                <a:lnTo>
                  <a:pt x="62" y="148"/>
                </a:lnTo>
                <a:lnTo>
                  <a:pt x="63" y="149"/>
                </a:lnTo>
                <a:lnTo>
                  <a:pt x="65" y="148"/>
                </a:lnTo>
                <a:lnTo>
                  <a:pt x="67" y="147"/>
                </a:lnTo>
                <a:lnTo>
                  <a:pt x="67" y="143"/>
                </a:lnTo>
                <a:lnTo>
                  <a:pt x="71" y="144"/>
                </a:lnTo>
                <a:lnTo>
                  <a:pt x="73" y="140"/>
                </a:lnTo>
                <a:lnTo>
                  <a:pt x="75" y="138"/>
                </a:lnTo>
                <a:lnTo>
                  <a:pt x="93" y="112"/>
                </a:lnTo>
                <a:lnTo>
                  <a:pt x="100" y="101"/>
                </a:lnTo>
                <a:lnTo>
                  <a:pt x="103" y="101"/>
                </a:lnTo>
                <a:lnTo>
                  <a:pt x="107" y="99"/>
                </a:lnTo>
                <a:lnTo>
                  <a:pt x="107" y="95"/>
                </a:lnTo>
                <a:lnTo>
                  <a:pt x="109" y="94"/>
                </a:lnTo>
                <a:lnTo>
                  <a:pt x="110" y="93"/>
                </a:lnTo>
                <a:lnTo>
                  <a:pt x="114" y="88"/>
                </a:lnTo>
                <a:lnTo>
                  <a:pt x="115" y="86"/>
                </a:lnTo>
                <a:lnTo>
                  <a:pt x="117" y="81"/>
                </a:lnTo>
                <a:lnTo>
                  <a:pt x="123" y="75"/>
                </a:lnTo>
                <a:lnTo>
                  <a:pt x="125" y="75"/>
                </a:lnTo>
                <a:lnTo>
                  <a:pt x="125" y="72"/>
                </a:lnTo>
                <a:lnTo>
                  <a:pt x="140" y="58"/>
                </a:lnTo>
                <a:lnTo>
                  <a:pt x="140" y="60"/>
                </a:lnTo>
                <a:lnTo>
                  <a:pt x="119" y="86"/>
                </a:lnTo>
                <a:lnTo>
                  <a:pt x="117" y="88"/>
                </a:lnTo>
                <a:lnTo>
                  <a:pt x="115" y="91"/>
                </a:lnTo>
                <a:lnTo>
                  <a:pt x="114" y="93"/>
                </a:lnTo>
                <a:lnTo>
                  <a:pt x="114" y="95"/>
                </a:lnTo>
                <a:lnTo>
                  <a:pt x="111" y="98"/>
                </a:lnTo>
                <a:lnTo>
                  <a:pt x="109" y="100"/>
                </a:lnTo>
                <a:lnTo>
                  <a:pt x="108" y="103"/>
                </a:lnTo>
                <a:lnTo>
                  <a:pt x="106" y="105"/>
                </a:lnTo>
                <a:lnTo>
                  <a:pt x="106" y="109"/>
                </a:lnTo>
                <a:lnTo>
                  <a:pt x="106" y="111"/>
                </a:lnTo>
                <a:lnTo>
                  <a:pt x="104" y="114"/>
                </a:lnTo>
                <a:lnTo>
                  <a:pt x="100" y="115"/>
                </a:lnTo>
                <a:lnTo>
                  <a:pt x="100" y="119"/>
                </a:lnTo>
                <a:lnTo>
                  <a:pt x="98" y="121"/>
                </a:lnTo>
                <a:lnTo>
                  <a:pt x="97" y="123"/>
                </a:lnTo>
                <a:lnTo>
                  <a:pt x="97" y="126"/>
                </a:lnTo>
                <a:lnTo>
                  <a:pt x="98" y="128"/>
                </a:lnTo>
                <a:lnTo>
                  <a:pt x="99" y="129"/>
                </a:lnTo>
                <a:lnTo>
                  <a:pt x="101" y="128"/>
                </a:lnTo>
                <a:lnTo>
                  <a:pt x="103" y="123"/>
                </a:lnTo>
                <a:lnTo>
                  <a:pt x="105" y="120"/>
                </a:lnTo>
                <a:lnTo>
                  <a:pt x="105" y="117"/>
                </a:lnTo>
                <a:lnTo>
                  <a:pt x="105" y="115"/>
                </a:lnTo>
                <a:lnTo>
                  <a:pt x="108" y="111"/>
                </a:lnTo>
                <a:lnTo>
                  <a:pt x="110" y="109"/>
                </a:lnTo>
                <a:lnTo>
                  <a:pt x="115" y="104"/>
                </a:lnTo>
                <a:lnTo>
                  <a:pt x="115" y="100"/>
                </a:lnTo>
                <a:lnTo>
                  <a:pt x="117" y="98"/>
                </a:lnTo>
                <a:lnTo>
                  <a:pt x="117" y="97"/>
                </a:lnTo>
                <a:lnTo>
                  <a:pt x="119" y="98"/>
                </a:lnTo>
                <a:lnTo>
                  <a:pt x="125" y="92"/>
                </a:lnTo>
                <a:lnTo>
                  <a:pt x="130" y="87"/>
                </a:lnTo>
                <a:lnTo>
                  <a:pt x="134" y="82"/>
                </a:lnTo>
                <a:lnTo>
                  <a:pt x="137" y="77"/>
                </a:lnTo>
                <a:lnTo>
                  <a:pt x="142" y="72"/>
                </a:lnTo>
                <a:lnTo>
                  <a:pt x="152" y="67"/>
                </a:lnTo>
                <a:lnTo>
                  <a:pt x="155" y="66"/>
                </a:lnTo>
                <a:lnTo>
                  <a:pt x="159" y="62"/>
                </a:lnTo>
                <a:lnTo>
                  <a:pt x="161" y="60"/>
                </a:lnTo>
                <a:lnTo>
                  <a:pt x="162" y="58"/>
                </a:lnTo>
                <a:lnTo>
                  <a:pt x="162" y="54"/>
                </a:lnTo>
                <a:lnTo>
                  <a:pt x="162" y="53"/>
                </a:lnTo>
                <a:lnTo>
                  <a:pt x="170" y="45"/>
                </a:lnTo>
                <a:lnTo>
                  <a:pt x="170" y="43"/>
                </a:lnTo>
                <a:lnTo>
                  <a:pt x="169" y="42"/>
                </a:lnTo>
                <a:lnTo>
                  <a:pt x="165" y="43"/>
                </a:lnTo>
                <a:lnTo>
                  <a:pt x="162" y="45"/>
                </a:lnTo>
                <a:lnTo>
                  <a:pt x="160" y="48"/>
                </a:lnTo>
                <a:lnTo>
                  <a:pt x="158" y="52"/>
                </a:lnTo>
                <a:lnTo>
                  <a:pt x="158" y="48"/>
                </a:lnTo>
                <a:lnTo>
                  <a:pt x="158" y="47"/>
                </a:lnTo>
                <a:lnTo>
                  <a:pt x="176" y="28"/>
                </a:lnTo>
                <a:lnTo>
                  <a:pt x="173" y="32"/>
                </a:lnTo>
                <a:lnTo>
                  <a:pt x="172" y="36"/>
                </a:lnTo>
                <a:lnTo>
                  <a:pt x="171" y="38"/>
                </a:lnTo>
                <a:lnTo>
                  <a:pt x="172" y="39"/>
                </a:lnTo>
                <a:lnTo>
                  <a:pt x="202" y="16"/>
                </a:lnTo>
                <a:lnTo>
                  <a:pt x="209" y="10"/>
                </a:lnTo>
                <a:lnTo>
                  <a:pt x="215" y="6"/>
                </a:lnTo>
                <a:lnTo>
                  <a:pt x="218" y="4"/>
                </a:lnTo>
                <a:lnTo>
                  <a:pt x="221" y="3"/>
                </a:lnTo>
                <a:lnTo>
                  <a:pt x="225" y="0"/>
                </a:lnTo>
                <a:lnTo>
                  <a:pt x="227" y="0"/>
                </a:lnTo>
                <a:lnTo>
                  <a:pt x="223" y="3"/>
                </a:lnTo>
                <a:lnTo>
                  <a:pt x="220" y="5"/>
                </a:lnTo>
                <a:lnTo>
                  <a:pt x="217" y="8"/>
                </a:lnTo>
                <a:lnTo>
                  <a:pt x="214" y="10"/>
                </a:lnTo>
                <a:lnTo>
                  <a:pt x="212" y="14"/>
                </a:lnTo>
                <a:lnTo>
                  <a:pt x="194" y="32"/>
                </a:lnTo>
                <a:lnTo>
                  <a:pt x="184" y="45"/>
                </a:lnTo>
                <a:lnTo>
                  <a:pt x="173" y="60"/>
                </a:lnTo>
                <a:lnTo>
                  <a:pt x="139" y="106"/>
                </a:lnTo>
                <a:lnTo>
                  <a:pt x="134" y="114"/>
                </a:lnTo>
                <a:lnTo>
                  <a:pt x="132" y="116"/>
                </a:lnTo>
                <a:lnTo>
                  <a:pt x="130" y="120"/>
                </a:lnTo>
                <a:lnTo>
                  <a:pt x="130" y="123"/>
                </a:lnTo>
                <a:lnTo>
                  <a:pt x="127" y="125"/>
                </a:lnTo>
                <a:lnTo>
                  <a:pt x="127" y="126"/>
                </a:lnTo>
                <a:lnTo>
                  <a:pt x="122" y="132"/>
                </a:lnTo>
                <a:lnTo>
                  <a:pt x="103" y="172"/>
                </a:lnTo>
                <a:lnTo>
                  <a:pt x="100" y="173"/>
                </a:lnTo>
                <a:lnTo>
                  <a:pt x="99" y="176"/>
                </a:lnTo>
                <a:lnTo>
                  <a:pt x="99" y="179"/>
                </a:lnTo>
                <a:lnTo>
                  <a:pt x="98" y="179"/>
                </a:lnTo>
                <a:lnTo>
                  <a:pt x="98" y="182"/>
                </a:lnTo>
                <a:lnTo>
                  <a:pt x="96" y="183"/>
                </a:lnTo>
                <a:lnTo>
                  <a:pt x="96" y="184"/>
                </a:lnTo>
                <a:lnTo>
                  <a:pt x="96" y="186"/>
                </a:lnTo>
                <a:lnTo>
                  <a:pt x="96" y="187"/>
                </a:lnTo>
                <a:lnTo>
                  <a:pt x="94" y="188"/>
                </a:lnTo>
                <a:lnTo>
                  <a:pt x="93" y="189"/>
                </a:lnTo>
                <a:lnTo>
                  <a:pt x="92" y="190"/>
                </a:lnTo>
                <a:lnTo>
                  <a:pt x="93" y="192"/>
                </a:lnTo>
                <a:lnTo>
                  <a:pt x="94" y="193"/>
                </a:lnTo>
                <a:lnTo>
                  <a:pt x="95" y="194"/>
                </a:lnTo>
                <a:lnTo>
                  <a:pt x="96" y="194"/>
                </a:lnTo>
                <a:lnTo>
                  <a:pt x="97" y="193"/>
                </a:lnTo>
                <a:lnTo>
                  <a:pt x="98" y="193"/>
                </a:lnTo>
                <a:lnTo>
                  <a:pt x="98" y="194"/>
                </a:lnTo>
                <a:lnTo>
                  <a:pt x="96" y="194"/>
                </a:lnTo>
                <a:lnTo>
                  <a:pt x="96" y="197"/>
                </a:lnTo>
                <a:lnTo>
                  <a:pt x="94" y="198"/>
                </a:lnTo>
                <a:lnTo>
                  <a:pt x="94" y="199"/>
                </a:lnTo>
                <a:lnTo>
                  <a:pt x="92" y="200"/>
                </a:lnTo>
                <a:lnTo>
                  <a:pt x="90" y="201"/>
                </a:lnTo>
                <a:lnTo>
                  <a:pt x="88" y="201"/>
                </a:lnTo>
                <a:lnTo>
                  <a:pt x="84" y="200"/>
                </a:lnTo>
                <a:lnTo>
                  <a:pt x="77" y="199"/>
                </a:lnTo>
                <a:lnTo>
                  <a:pt x="64" y="199"/>
                </a:lnTo>
                <a:close/>
              </a:path>
            </a:pathLst>
          </a:custGeom>
          <a:solidFill>
            <a:schemeClr val="accent1"/>
          </a:solidFill>
          <a:ln w="9525">
            <a:noFill/>
            <a:rou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22" name="Freeform 103"/>
          <p:cNvSpPr/>
          <p:nvPr/>
        </p:nvSpPr>
        <p:spPr bwMode="auto">
          <a:xfrm>
            <a:off x="8278206" y="5059120"/>
            <a:ext cx="174304" cy="144000"/>
          </a:xfrm>
          <a:custGeom>
            <a:avLst/>
            <a:gdLst>
              <a:gd name="T0" fmla="*/ 0 w 215"/>
              <a:gd name="T1" fmla="*/ 2147483647 h 239"/>
              <a:gd name="T2" fmla="*/ 0 w 215"/>
              <a:gd name="T3" fmla="*/ 2147483647 h 239"/>
              <a:gd name="T4" fmla="*/ 0 w 215"/>
              <a:gd name="T5" fmla="*/ 2147483647 h 239"/>
              <a:gd name="T6" fmla="*/ 0 w 215"/>
              <a:gd name="T7" fmla="*/ 2147483647 h 239"/>
              <a:gd name="T8" fmla="*/ 0 w 215"/>
              <a:gd name="T9" fmla="*/ 2147483647 h 239"/>
              <a:gd name="T10" fmla="*/ 0 w 215"/>
              <a:gd name="T11" fmla="*/ 2147483647 h 239"/>
              <a:gd name="T12" fmla="*/ 2147483647 w 215"/>
              <a:gd name="T13" fmla="*/ 2147483647 h 239"/>
              <a:gd name="T14" fmla="*/ 2147483647 w 215"/>
              <a:gd name="T15" fmla="*/ 2147483647 h 239"/>
              <a:gd name="T16" fmla="*/ 2147483647 w 215"/>
              <a:gd name="T17" fmla="*/ 2147483647 h 239"/>
              <a:gd name="T18" fmla="*/ 2147483647 w 215"/>
              <a:gd name="T19" fmla="*/ 2147483647 h 239"/>
              <a:gd name="T20" fmla="*/ 2147483647 w 215"/>
              <a:gd name="T21" fmla="*/ 2147483647 h 239"/>
              <a:gd name="T22" fmla="*/ 2147483647 w 215"/>
              <a:gd name="T23" fmla="*/ 2147483647 h 239"/>
              <a:gd name="T24" fmla="*/ 2147483647 w 215"/>
              <a:gd name="T25" fmla="*/ 2147483647 h 239"/>
              <a:gd name="T26" fmla="*/ 2147483647 w 215"/>
              <a:gd name="T27" fmla="*/ 2147483647 h 239"/>
              <a:gd name="T28" fmla="*/ 2147483647 w 215"/>
              <a:gd name="T29" fmla="*/ 2147483647 h 239"/>
              <a:gd name="T30" fmla="*/ 2147483647 w 215"/>
              <a:gd name="T31" fmla="*/ 2147483647 h 239"/>
              <a:gd name="T32" fmla="*/ 2147483647 w 215"/>
              <a:gd name="T33" fmla="*/ 2147483647 h 239"/>
              <a:gd name="T34" fmla="*/ 2147483647 w 215"/>
              <a:gd name="T35" fmla="*/ 2147483647 h 239"/>
              <a:gd name="T36" fmla="*/ 2147483647 w 215"/>
              <a:gd name="T37" fmla="*/ 2147483647 h 239"/>
              <a:gd name="T38" fmla="*/ 2147483647 w 215"/>
              <a:gd name="T39" fmla="*/ 2147483647 h 239"/>
              <a:gd name="T40" fmla="*/ 2147483647 w 215"/>
              <a:gd name="T41" fmla="*/ 2147483647 h 239"/>
              <a:gd name="T42" fmla="*/ 2147483647 w 215"/>
              <a:gd name="T43" fmla="*/ 2147483647 h 239"/>
              <a:gd name="T44" fmla="*/ 2147483647 w 215"/>
              <a:gd name="T45" fmla="*/ 2147483647 h 239"/>
              <a:gd name="T46" fmla="*/ 2147483647 w 215"/>
              <a:gd name="T47" fmla="*/ 2147483647 h 239"/>
              <a:gd name="T48" fmla="*/ 2147483647 w 215"/>
              <a:gd name="T49" fmla="*/ 2147483647 h 239"/>
              <a:gd name="T50" fmla="*/ 2147483647 w 215"/>
              <a:gd name="T51" fmla="*/ 2147483647 h 239"/>
              <a:gd name="T52" fmla="*/ 2147483647 w 215"/>
              <a:gd name="T53" fmla="*/ 2147483647 h 239"/>
              <a:gd name="T54" fmla="*/ 2147483647 w 215"/>
              <a:gd name="T55" fmla="*/ 2147483647 h 239"/>
              <a:gd name="T56" fmla="*/ 2147483647 w 215"/>
              <a:gd name="T57" fmla="*/ 2147483647 h 239"/>
              <a:gd name="T58" fmla="*/ 2147483647 w 215"/>
              <a:gd name="T59" fmla="*/ 2147483647 h 239"/>
              <a:gd name="T60" fmla="*/ 2147483647 w 215"/>
              <a:gd name="T61" fmla="*/ 2147483647 h 239"/>
              <a:gd name="T62" fmla="*/ 2147483647 w 215"/>
              <a:gd name="T63" fmla="*/ 2147483647 h 239"/>
              <a:gd name="T64" fmla="*/ 2147483647 w 215"/>
              <a:gd name="T65" fmla="*/ 2147483647 h 239"/>
              <a:gd name="T66" fmla="*/ 2147483647 w 215"/>
              <a:gd name="T67" fmla="*/ 0 h 239"/>
              <a:gd name="T68" fmla="*/ 2147483647 w 215"/>
              <a:gd name="T69" fmla="*/ 2147483647 h 239"/>
              <a:gd name="T70" fmla="*/ 2147483647 w 215"/>
              <a:gd name="T71" fmla="*/ 2147483647 h 239"/>
              <a:gd name="T72" fmla="*/ 2147483647 w 215"/>
              <a:gd name="T73" fmla="*/ 2147483647 h 239"/>
              <a:gd name="T74" fmla="*/ 2147483647 w 215"/>
              <a:gd name="T75" fmla="*/ 2147483647 h 239"/>
              <a:gd name="T76" fmla="*/ 0 w 215"/>
              <a:gd name="T77" fmla="*/ 2147483647 h 239"/>
              <a:gd name="T78" fmla="*/ 0 w 215"/>
              <a:gd name="T79" fmla="*/ 2147483647 h 239"/>
              <a:gd name="T80" fmla="*/ 0 w 215"/>
              <a:gd name="T81" fmla="*/ 2147483647 h 239"/>
              <a:gd name="T82" fmla="*/ 0 w 215"/>
              <a:gd name="T83" fmla="*/ 2147483647 h 239"/>
              <a:gd name="T84" fmla="*/ 0 w 215"/>
              <a:gd name="T85" fmla="*/ 2147483647 h 239"/>
              <a:gd name="T86" fmla="*/ 0 w 215"/>
              <a:gd name="T87" fmla="*/ 2147483647 h 239"/>
              <a:gd name="T88" fmla="*/ 0 w 215"/>
              <a:gd name="T89" fmla="*/ 2147483647 h 239"/>
              <a:gd name="T90" fmla="*/ 0 w 215"/>
              <a:gd name="T91" fmla="*/ 2147483647 h 239"/>
              <a:gd name="T92" fmla="*/ 0 w 215"/>
              <a:gd name="T93" fmla="*/ 2147483647 h 239"/>
              <a:gd name="T94" fmla="*/ 0 w 215"/>
              <a:gd name="T95" fmla="*/ 2147483647 h 239"/>
              <a:gd name="T96" fmla="*/ 0 w 215"/>
              <a:gd name="T97" fmla="*/ 2147483647 h 239"/>
              <a:gd name="T98" fmla="*/ 0 w 215"/>
              <a:gd name="T99" fmla="*/ 2147483647 h 239"/>
              <a:gd name="T100" fmla="*/ 0 w 215"/>
              <a:gd name="T101" fmla="*/ 2147483647 h 23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15"/>
              <a:gd name="T154" fmla="*/ 0 h 239"/>
              <a:gd name="T155" fmla="*/ 215 w 215"/>
              <a:gd name="T156" fmla="*/ 239 h 23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15" h="239">
                <a:moveTo>
                  <a:pt x="38" y="105"/>
                </a:moveTo>
                <a:lnTo>
                  <a:pt x="31" y="116"/>
                </a:lnTo>
                <a:lnTo>
                  <a:pt x="20" y="131"/>
                </a:lnTo>
                <a:lnTo>
                  <a:pt x="9" y="150"/>
                </a:lnTo>
                <a:lnTo>
                  <a:pt x="9" y="154"/>
                </a:lnTo>
                <a:lnTo>
                  <a:pt x="3" y="168"/>
                </a:lnTo>
                <a:lnTo>
                  <a:pt x="0" y="182"/>
                </a:lnTo>
                <a:lnTo>
                  <a:pt x="12" y="190"/>
                </a:lnTo>
                <a:lnTo>
                  <a:pt x="15" y="184"/>
                </a:lnTo>
                <a:lnTo>
                  <a:pt x="23" y="174"/>
                </a:lnTo>
                <a:lnTo>
                  <a:pt x="33" y="162"/>
                </a:lnTo>
                <a:lnTo>
                  <a:pt x="48" y="144"/>
                </a:lnTo>
                <a:lnTo>
                  <a:pt x="59" y="138"/>
                </a:lnTo>
                <a:lnTo>
                  <a:pt x="68" y="131"/>
                </a:lnTo>
                <a:lnTo>
                  <a:pt x="68" y="123"/>
                </a:lnTo>
                <a:lnTo>
                  <a:pt x="89" y="106"/>
                </a:lnTo>
                <a:lnTo>
                  <a:pt x="108" y="133"/>
                </a:lnTo>
                <a:lnTo>
                  <a:pt x="113" y="137"/>
                </a:lnTo>
                <a:lnTo>
                  <a:pt x="120" y="144"/>
                </a:lnTo>
                <a:lnTo>
                  <a:pt x="122" y="150"/>
                </a:lnTo>
                <a:lnTo>
                  <a:pt x="132" y="163"/>
                </a:lnTo>
                <a:lnTo>
                  <a:pt x="134" y="167"/>
                </a:lnTo>
                <a:lnTo>
                  <a:pt x="137" y="170"/>
                </a:lnTo>
                <a:lnTo>
                  <a:pt x="143" y="168"/>
                </a:lnTo>
                <a:lnTo>
                  <a:pt x="148" y="172"/>
                </a:lnTo>
                <a:lnTo>
                  <a:pt x="153" y="176"/>
                </a:lnTo>
                <a:lnTo>
                  <a:pt x="155" y="181"/>
                </a:lnTo>
                <a:lnTo>
                  <a:pt x="153" y="183"/>
                </a:lnTo>
                <a:lnTo>
                  <a:pt x="147" y="176"/>
                </a:lnTo>
                <a:lnTo>
                  <a:pt x="144" y="176"/>
                </a:lnTo>
                <a:lnTo>
                  <a:pt x="145" y="178"/>
                </a:lnTo>
                <a:lnTo>
                  <a:pt x="150" y="185"/>
                </a:lnTo>
                <a:lnTo>
                  <a:pt x="164" y="200"/>
                </a:lnTo>
                <a:lnTo>
                  <a:pt x="195" y="222"/>
                </a:lnTo>
                <a:lnTo>
                  <a:pt x="196" y="228"/>
                </a:lnTo>
                <a:lnTo>
                  <a:pt x="201" y="227"/>
                </a:lnTo>
                <a:lnTo>
                  <a:pt x="206" y="228"/>
                </a:lnTo>
                <a:lnTo>
                  <a:pt x="209" y="233"/>
                </a:lnTo>
                <a:lnTo>
                  <a:pt x="215" y="239"/>
                </a:lnTo>
                <a:lnTo>
                  <a:pt x="207" y="224"/>
                </a:lnTo>
                <a:lnTo>
                  <a:pt x="185" y="199"/>
                </a:lnTo>
                <a:lnTo>
                  <a:pt x="184" y="193"/>
                </a:lnTo>
                <a:lnTo>
                  <a:pt x="176" y="181"/>
                </a:lnTo>
                <a:lnTo>
                  <a:pt x="169" y="170"/>
                </a:lnTo>
                <a:lnTo>
                  <a:pt x="172" y="163"/>
                </a:lnTo>
                <a:lnTo>
                  <a:pt x="164" y="156"/>
                </a:lnTo>
                <a:lnTo>
                  <a:pt x="162" y="150"/>
                </a:lnTo>
                <a:lnTo>
                  <a:pt x="163" y="148"/>
                </a:lnTo>
                <a:lnTo>
                  <a:pt x="148" y="131"/>
                </a:lnTo>
                <a:lnTo>
                  <a:pt x="143" y="123"/>
                </a:lnTo>
                <a:lnTo>
                  <a:pt x="143" y="112"/>
                </a:lnTo>
                <a:lnTo>
                  <a:pt x="137" y="104"/>
                </a:lnTo>
                <a:lnTo>
                  <a:pt x="135" y="106"/>
                </a:lnTo>
                <a:lnTo>
                  <a:pt x="131" y="98"/>
                </a:lnTo>
                <a:lnTo>
                  <a:pt x="122" y="85"/>
                </a:lnTo>
                <a:lnTo>
                  <a:pt x="115" y="78"/>
                </a:lnTo>
                <a:lnTo>
                  <a:pt x="136" y="59"/>
                </a:lnTo>
                <a:lnTo>
                  <a:pt x="146" y="48"/>
                </a:lnTo>
                <a:lnTo>
                  <a:pt x="155" y="38"/>
                </a:lnTo>
                <a:lnTo>
                  <a:pt x="161" y="29"/>
                </a:lnTo>
                <a:lnTo>
                  <a:pt x="161" y="27"/>
                </a:lnTo>
                <a:lnTo>
                  <a:pt x="163" y="27"/>
                </a:lnTo>
                <a:lnTo>
                  <a:pt x="162" y="32"/>
                </a:lnTo>
                <a:lnTo>
                  <a:pt x="167" y="21"/>
                </a:lnTo>
                <a:lnTo>
                  <a:pt x="172" y="15"/>
                </a:lnTo>
                <a:lnTo>
                  <a:pt x="174" y="10"/>
                </a:lnTo>
                <a:lnTo>
                  <a:pt x="172" y="4"/>
                </a:lnTo>
                <a:lnTo>
                  <a:pt x="167" y="0"/>
                </a:lnTo>
                <a:lnTo>
                  <a:pt x="159" y="0"/>
                </a:lnTo>
                <a:lnTo>
                  <a:pt x="148" y="3"/>
                </a:lnTo>
                <a:lnTo>
                  <a:pt x="143" y="6"/>
                </a:lnTo>
                <a:lnTo>
                  <a:pt x="133" y="12"/>
                </a:lnTo>
                <a:lnTo>
                  <a:pt x="120" y="22"/>
                </a:lnTo>
                <a:lnTo>
                  <a:pt x="107" y="36"/>
                </a:lnTo>
                <a:lnTo>
                  <a:pt x="93" y="45"/>
                </a:lnTo>
                <a:lnTo>
                  <a:pt x="79" y="32"/>
                </a:lnTo>
                <a:lnTo>
                  <a:pt x="59" y="18"/>
                </a:lnTo>
                <a:lnTo>
                  <a:pt x="48" y="15"/>
                </a:lnTo>
                <a:lnTo>
                  <a:pt x="25" y="14"/>
                </a:lnTo>
                <a:lnTo>
                  <a:pt x="17" y="14"/>
                </a:lnTo>
                <a:lnTo>
                  <a:pt x="14" y="17"/>
                </a:lnTo>
                <a:lnTo>
                  <a:pt x="11" y="17"/>
                </a:lnTo>
                <a:lnTo>
                  <a:pt x="5" y="20"/>
                </a:lnTo>
                <a:lnTo>
                  <a:pt x="3" y="21"/>
                </a:lnTo>
                <a:lnTo>
                  <a:pt x="2" y="26"/>
                </a:lnTo>
                <a:lnTo>
                  <a:pt x="3" y="32"/>
                </a:lnTo>
                <a:lnTo>
                  <a:pt x="3" y="39"/>
                </a:lnTo>
                <a:lnTo>
                  <a:pt x="5" y="45"/>
                </a:lnTo>
                <a:lnTo>
                  <a:pt x="11" y="53"/>
                </a:lnTo>
                <a:lnTo>
                  <a:pt x="17" y="59"/>
                </a:lnTo>
                <a:lnTo>
                  <a:pt x="31" y="67"/>
                </a:lnTo>
                <a:lnTo>
                  <a:pt x="41" y="72"/>
                </a:lnTo>
                <a:lnTo>
                  <a:pt x="31" y="62"/>
                </a:lnTo>
                <a:lnTo>
                  <a:pt x="25" y="56"/>
                </a:lnTo>
                <a:lnTo>
                  <a:pt x="26" y="51"/>
                </a:lnTo>
                <a:lnTo>
                  <a:pt x="31" y="51"/>
                </a:lnTo>
                <a:lnTo>
                  <a:pt x="36" y="56"/>
                </a:lnTo>
                <a:lnTo>
                  <a:pt x="44" y="60"/>
                </a:lnTo>
                <a:lnTo>
                  <a:pt x="55" y="71"/>
                </a:lnTo>
                <a:lnTo>
                  <a:pt x="63" y="78"/>
                </a:lnTo>
                <a:lnTo>
                  <a:pt x="45" y="98"/>
                </a:lnTo>
                <a:lnTo>
                  <a:pt x="38" y="105"/>
                </a:lnTo>
                <a:close/>
              </a:path>
            </a:pathLst>
          </a:custGeom>
          <a:solidFill>
            <a:srgbClr val="FF0000"/>
          </a:solidFill>
          <a:ln w="9525">
            <a:noFill/>
            <a:rou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23" name="Isosceles Triangle 104"/>
          <p:cNvSpPr/>
          <p:nvPr/>
        </p:nvSpPr>
        <p:spPr bwMode="auto">
          <a:xfrm>
            <a:off x="7135922" y="5037232"/>
            <a:ext cx="216000" cy="144000"/>
          </a:xfrm>
          <a:prstGeom prst="triangle">
            <a:avLst/>
          </a:prstGeom>
          <a:solidFill>
            <a:srgbClr val="F9CDAD"/>
          </a:solidFill>
          <a:ln w="6350">
            <a:solidFill>
              <a:srgbClr val="F9CDAD"/>
            </a:solid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24" name="燕尾形 23"/>
          <p:cNvSpPr/>
          <p:nvPr/>
        </p:nvSpPr>
        <p:spPr bwMode="auto">
          <a:xfrm>
            <a:off x="4071934" y="2456742"/>
            <a:ext cx="1116000" cy="285752"/>
          </a:xfrm>
          <a:prstGeom prst="chevron">
            <a:avLst/>
          </a:prstGeom>
          <a:solidFill>
            <a:schemeClr val="tx2">
              <a:lumMod val="40000"/>
              <a:lumOff val="60000"/>
            </a:schemeClr>
          </a:solidFill>
          <a:ln w="9525" cap="flat" cmpd="sng" algn="ctr">
            <a:noFill/>
            <a:prstDash val="solid"/>
            <a:round/>
            <a:headEnd type="none" w="med" len="med"/>
            <a:tailEnd type="none"/>
          </a:ln>
          <a:effectLst/>
        </p:spPr>
        <p:txBody>
          <a:bodyPr lIns="36000" rIns="36000" rtlCol="0" anchor="ctr"/>
          <a:lstStyle/>
          <a:p>
            <a:pPr algn="ctr"/>
            <a:r>
              <a:rPr lang="zh-CN" altLang="en-US" sz="1200" b="1" dirty="0">
                <a:solidFill>
                  <a:schemeClr val="bg1"/>
                </a:solidFill>
                <a:latin typeface="微软雅黑" panose="020B0503020204020204" charset="-122"/>
                <a:ea typeface="微软雅黑" panose="020B0503020204020204" charset="-122"/>
              </a:rPr>
              <a:t>销售订单</a:t>
            </a:r>
          </a:p>
        </p:txBody>
      </p:sp>
      <p:sp>
        <p:nvSpPr>
          <p:cNvPr id="25" name="燕尾形 24"/>
          <p:cNvSpPr/>
          <p:nvPr/>
        </p:nvSpPr>
        <p:spPr bwMode="auto">
          <a:xfrm>
            <a:off x="5119691" y="2456742"/>
            <a:ext cx="1116000" cy="285752"/>
          </a:xfrm>
          <a:prstGeom prst="chevron">
            <a:avLst/>
          </a:prstGeom>
          <a:solidFill>
            <a:schemeClr val="tx2">
              <a:lumMod val="40000"/>
              <a:lumOff val="60000"/>
            </a:schemeClr>
          </a:solidFill>
          <a:ln w="9525" cap="flat" cmpd="sng" algn="ctr">
            <a:noFill/>
            <a:prstDash val="solid"/>
            <a:round/>
            <a:headEnd type="none" w="med" len="med"/>
            <a:tailEnd type="none"/>
          </a:ln>
          <a:effectLst/>
        </p:spPr>
        <p:txBody>
          <a:bodyPr lIns="36000" rIns="36000" rtlCol="0" anchor="ctr"/>
          <a:lstStyle/>
          <a:p>
            <a:pPr algn="ctr"/>
            <a:r>
              <a:rPr lang="zh-CN" altLang="en-US" sz="1200" b="1" dirty="0">
                <a:solidFill>
                  <a:schemeClr val="bg1"/>
                </a:solidFill>
                <a:latin typeface="微软雅黑" panose="020B0503020204020204" charset="-122"/>
                <a:ea typeface="微软雅黑" panose="020B0503020204020204" charset="-122"/>
              </a:rPr>
              <a:t>生产计划</a:t>
            </a:r>
          </a:p>
        </p:txBody>
      </p:sp>
      <p:sp>
        <p:nvSpPr>
          <p:cNvPr id="26" name="燕尾形 25"/>
          <p:cNvSpPr/>
          <p:nvPr/>
        </p:nvSpPr>
        <p:spPr bwMode="auto">
          <a:xfrm>
            <a:off x="6167448" y="2456742"/>
            <a:ext cx="1116000" cy="285752"/>
          </a:xfrm>
          <a:prstGeom prst="chevron">
            <a:avLst/>
          </a:prstGeom>
          <a:solidFill>
            <a:schemeClr val="tx2">
              <a:lumMod val="40000"/>
              <a:lumOff val="60000"/>
            </a:schemeClr>
          </a:solidFill>
          <a:ln w="9525" cap="flat" cmpd="sng" algn="ctr">
            <a:noFill/>
            <a:prstDash val="solid"/>
            <a:round/>
            <a:headEnd type="none" w="med" len="med"/>
            <a:tailEnd type="none"/>
          </a:ln>
          <a:effectLst/>
        </p:spPr>
        <p:txBody>
          <a:bodyPr lIns="36000" rIns="36000" rtlCol="0" anchor="ctr"/>
          <a:lstStyle/>
          <a:p>
            <a:pPr algn="ctr"/>
            <a:r>
              <a:rPr lang="zh-CN" altLang="en-US" sz="1200" b="1" dirty="0">
                <a:solidFill>
                  <a:schemeClr val="bg1"/>
                </a:solidFill>
                <a:latin typeface="微软雅黑" panose="020B0503020204020204" charset="-122"/>
                <a:ea typeface="微软雅黑" panose="020B0503020204020204" charset="-122"/>
              </a:rPr>
              <a:t>生产订单</a:t>
            </a:r>
          </a:p>
        </p:txBody>
      </p:sp>
      <p:sp>
        <p:nvSpPr>
          <p:cNvPr id="27" name="燕尾形 26"/>
          <p:cNvSpPr/>
          <p:nvPr/>
        </p:nvSpPr>
        <p:spPr bwMode="auto">
          <a:xfrm>
            <a:off x="7215206" y="2456742"/>
            <a:ext cx="1116000" cy="285752"/>
          </a:xfrm>
          <a:prstGeom prst="chevron">
            <a:avLst/>
          </a:prstGeom>
          <a:solidFill>
            <a:schemeClr val="tx2">
              <a:lumMod val="40000"/>
              <a:lumOff val="60000"/>
            </a:schemeClr>
          </a:solidFill>
          <a:ln w="9525" cap="flat" cmpd="sng" algn="ctr">
            <a:noFill/>
            <a:prstDash val="solid"/>
            <a:round/>
            <a:headEnd type="none" w="med" len="med"/>
            <a:tailEnd type="none"/>
          </a:ln>
          <a:effectLst/>
        </p:spPr>
        <p:txBody>
          <a:bodyPr lIns="36000" rIns="36000" rtlCol="0" anchor="ctr"/>
          <a:lstStyle/>
          <a:p>
            <a:pPr algn="ctr"/>
            <a:r>
              <a:rPr lang="zh-CN" altLang="en-US" sz="1200" b="1" dirty="0">
                <a:solidFill>
                  <a:schemeClr val="bg1"/>
                </a:solidFill>
                <a:latin typeface="微软雅黑" panose="020B0503020204020204" charset="-122"/>
                <a:ea typeface="微软雅黑" panose="020B0503020204020204" charset="-122"/>
              </a:rPr>
              <a:t>发货单</a:t>
            </a:r>
          </a:p>
        </p:txBody>
      </p:sp>
      <p:sp>
        <p:nvSpPr>
          <p:cNvPr id="29" name="闪电形 28"/>
          <p:cNvSpPr/>
          <p:nvPr/>
        </p:nvSpPr>
        <p:spPr bwMode="auto">
          <a:xfrm>
            <a:off x="5000628" y="2456742"/>
            <a:ext cx="285752" cy="285752"/>
          </a:xfrm>
          <a:prstGeom prst="lightningBolt">
            <a:avLst/>
          </a:prstGeom>
          <a:solidFill>
            <a:srgbClr val="FF0000"/>
          </a:solidFill>
          <a:ln w="9525" cap="flat" cmpd="sng" algn="ctr">
            <a:noFill/>
            <a:prstDash val="solid"/>
            <a:round/>
            <a:headEnd type="none" w="med" len="med"/>
            <a:tailEnd type="none"/>
          </a:ln>
          <a:effectLst/>
        </p:spPr>
        <p:txBody>
          <a:bodyPr rtlCol="0" anchor="ctr"/>
          <a:lstStyle/>
          <a:p>
            <a:pPr algn="ctr"/>
            <a:endParaRPr lang="zh-CN" altLang="en-US"/>
          </a:p>
        </p:txBody>
      </p:sp>
      <p:sp>
        <p:nvSpPr>
          <p:cNvPr id="30" name="闪电形 29"/>
          <p:cNvSpPr/>
          <p:nvPr/>
        </p:nvSpPr>
        <p:spPr bwMode="auto">
          <a:xfrm>
            <a:off x="7072330" y="2456742"/>
            <a:ext cx="285752" cy="285752"/>
          </a:xfrm>
          <a:prstGeom prst="lightningBolt">
            <a:avLst/>
          </a:prstGeom>
          <a:solidFill>
            <a:srgbClr val="FF0000"/>
          </a:solidFill>
          <a:ln w="9525" cap="flat" cmpd="sng" algn="ctr">
            <a:noFill/>
            <a:prstDash val="solid"/>
            <a:round/>
            <a:headEnd type="none" w="med" len="med"/>
            <a:tailEnd type="none"/>
          </a:ln>
          <a:effectLst/>
        </p:spPr>
        <p:txBody>
          <a:bodyPr rtlCol="0" anchor="ctr"/>
          <a:lstStyle/>
          <a:p>
            <a:pPr algn="ctr"/>
            <a:endParaRPr lang="zh-CN" altLang="en-US"/>
          </a:p>
        </p:txBody>
      </p:sp>
      <p:sp>
        <p:nvSpPr>
          <p:cNvPr id="31" name="Left Brace 93"/>
          <p:cNvSpPr/>
          <p:nvPr/>
        </p:nvSpPr>
        <p:spPr>
          <a:xfrm rot="5400000">
            <a:off x="6017636" y="318602"/>
            <a:ext cx="252000" cy="4000530"/>
          </a:xfrm>
          <a:prstGeom prst="leftBrace">
            <a:avLst>
              <a:gd name="adj1" fmla="val 111635"/>
              <a:gd name="adj2" fmla="val 50001"/>
            </a:avLst>
          </a:prstGeom>
          <a:solidFill>
            <a:schemeClr val="bg1"/>
          </a:solidFill>
          <a:ln w="3810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l"/>
            <a:endParaRPr lang="zh-CN" altLang="en-US" sz="1100"/>
          </a:p>
        </p:txBody>
      </p:sp>
      <p:sp>
        <p:nvSpPr>
          <p:cNvPr id="32" name="Left Brace 93"/>
          <p:cNvSpPr/>
          <p:nvPr/>
        </p:nvSpPr>
        <p:spPr>
          <a:xfrm rot="10800000">
            <a:off x="8320528" y="2816880"/>
            <a:ext cx="252000" cy="2183756"/>
          </a:xfrm>
          <a:prstGeom prst="leftBrace">
            <a:avLst>
              <a:gd name="adj1" fmla="val 111635"/>
              <a:gd name="adj2" fmla="val 50001"/>
            </a:avLst>
          </a:prstGeom>
          <a:solidFill>
            <a:schemeClr val="bg1"/>
          </a:solidFill>
          <a:ln w="3810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l"/>
            <a:endParaRPr lang="zh-CN" altLang="en-US" sz="1100"/>
          </a:p>
        </p:txBody>
      </p:sp>
      <p:sp>
        <p:nvSpPr>
          <p:cNvPr id="33" name="TextBox 32"/>
          <p:cNvSpPr txBox="1"/>
          <p:nvPr/>
        </p:nvSpPr>
        <p:spPr>
          <a:xfrm>
            <a:off x="8615359" y="3090860"/>
            <a:ext cx="285784" cy="1600438"/>
          </a:xfrm>
          <a:prstGeom prst="rect">
            <a:avLst/>
          </a:prstGeom>
          <a:noFill/>
        </p:spPr>
        <p:txBody>
          <a:bodyPr wrap="square" rtlCol="0" anchor="ctr">
            <a:spAutoFit/>
          </a:bodyPr>
          <a:lstStyle/>
          <a:p>
            <a:pPr algn="ctr"/>
            <a:r>
              <a:rPr lang="zh-CN" altLang="en-US" sz="1400" b="1" dirty="0">
                <a:latin typeface="微软雅黑" panose="020B0503020204020204" charset="-122"/>
                <a:ea typeface="微软雅黑" panose="020B0503020204020204" charset="-122"/>
              </a:rPr>
              <a:t>可视化程度不高</a:t>
            </a:r>
            <a:endParaRPr lang="en-US" altLang="zh-CN" sz="1400" b="1" dirty="0">
              <a:latin typeface="微软雅黑" panose="020B0503020204020204" charset="-122"/>
              <a:ea typeface="微软雅黑" panose="020B0503020204020204" charset="-122"/>
            </a:endParaRPr>
          </a:p>
        </p:txBody>
      </p:sp>
      <p:sp>
        <p:nvSpPr>
          <p:cNvPr id="34" name="TextBox 33"/>
          <p:cNvSpPr txBox="1"/>
          <p:nvPr/>
        </p:nvSpPr>
        <p:spPr>
          <a:xfrm>
            <a:off x="4000496" y="4986122"/>
            <a:ext cx="2016000" cy="246221"/>
          </a:xfrm>
          <a:prstGeom prst="rect">
            <a:avLst/>
          </a:prstGeom>
          <a:noFill/>
        </p:spPr>
        <p:txBody>
          <a:bodyPr wrap="square" rtlCol="0">
            <a:spAutoFit/>
          </a:bodyPr>
          <a:lstStyle/>
          <a:p>
            <a:r>
              <a:rPr lang="zh-CN" altLang="en-US" sz="1000" dirty="0">
                <a:latin typeface="微软雅黑" panose="020B0503020204020204" charset="-122"/>
                <a:ea typeface="微软雅黑" panose="020B0503020204020204" charset="-122"/>
              </a:rPr>
              <a:t>国内：</a:t>
            </a:r>
            <a:r>
              <a:rPr lang="en-US" altLang="zh-CN" sz="1000" dirty="0">
                <a:latin typeface="微软雅黑" panose="020B0503020204020204" charset="-122"/>
                <a:ea typeface="微软雅黑" panose="020B0503020204020204" charset="-122"/>
              </a:rPr>
              <a:t>27.3%</a:t>
            </a:r>
            <a:r>
              <a:rPr lang="zh-CN" altLang="en-US" sz="1000" dirty="0">
                <a:latin typeface="微软雅黑" panose="020B0503020204020204" charset="-122"/>
                <a:ea typeface="微软雅黑" panose="020B0503020204020204" charset="-122"/>
              </a:rPr>
              <a:t>     国际：</a:t>
            </a:r>
            <a:r>
              <a:rPr lang="en-US" altLang="zh-CN" sz="1000" dirty="0">
                <a:latin typeface="微软雅黑" panose="020B0503020204020204" charset="-122"/>
                <a:ea typeface="微软雅黑" panose="020B0503020204020204" charset="-122"/>
              </a:rPr>
              <a:t>18.2%</a:t>
            </a:r>
            <a:endParaRPr lang="zh-CN" altLang="en-US" sz="1000" dirty="0">
              <a:latin typeface="微软雅黑" panose="020B0503020204020204" charset="-122"/>
              <a:ea typeface="微软雅黑" panose="020B0503020204020204" charset="-122"/>
            </a:endParaRPr>
          </a:p>
        </p:txBody>
      </p:sp>
      <p:sp>
        <p:nvSpPr>
          <p:cNvPr id="35" name="TextBox 34"/>
          <p:cNvSpPr txBox="1"/>
          <p:nvPr/>
        </p:nvSpPr>
        <p:spPr>
          <a:xfrm>
            <a:off x="4000496" y="1985243"/>
            <a:ext cx="4286280" cy="307777"/>
          </a:xfrm>
          <a:prstGeom prst="rect">
            <a:avLst/>
          </a:prstGeom>
          <a:noFill/>
        </p:spPr>
        <p:txBody>
          <a:bodyPr wrap="square" rtlCol="0">
            <a:spAutoFit/>
          </a:bodyPr>
          <a:lstStyle/>
          <a:p>
            <a:pPr algn="ctr"/>
            <a:r>
              <a:rPr lang="zh-CN" altLang="en-US" sz="1400" b="1" dirty="0">
                <a:latin typeface="微软雅黑" panose="020B0503020204020204" charset="-122"/>
                <a:ea typeface="微软雅黑" panose="020B0503020204020204" charset="-122"/>
              </a:rPr>
              <a:t>订单分段管理，销售和生产未协同</a:t>
            </a:r>
          </a:p>
        </p:txBody>
      </p:sp>
      <p:sp>
        <p:nvSpPr>
          <p:cNvPr id="36" name="TextBox 35"/>
          <p:cNvSpPr txBox="1"/>
          <p:nvPr/>
        </p:nvSpPr>
        <p:spPr>
          <a:xfrm>
            <a:off x="6186780" y="4986122"/>
            <a:ext cx="972000" cy="246221"/>
          </a:xfrm>
          <a:prstGeom prst="rect">
            <a:avLst/>
          </a:prstGeom>
          <a:noFill/>
        </p:spPr>
        <p:txBody>
          <a:bodyPr wrap="square" rtlCol="0">
            <a:spAutoFit/>
          </a:bodyPr>
          <a:lstStyle/>
          <a:p>
            <a:r>
              <a:rPr lang="zh-CN" altLang="en-US" sz="1000" dirty="0">
                <a:latin typeface="微软雅黑" panose="020B0503020204020204" charset="-122"/>
                <a:ea typeface="微软雅黑" panose="020B0503020204020204" charset="-122"/>
              </a:rPr>
              <a:t>通过系统可视</a:t>
            </a:r>
          </a:p>
        </p:txBody>
      </p:sp>
      <p:sp>
        <p:nvSpPr>
          <p:cNvPr id="37" name="TextBox 36"/>
          <p:cNvSpPr txBox="1"/>
          <p:nvPr/>
        </p:nvSpPr>
        <p:spPr>
          <a:xfrm>
            <a:off x="7329064" y="4986122"/>
            <a:ext cx="972000" cy="246221"/>
          </a:xfrm>
          <a:prstGeom prst="rect">
            <a:avLst/>
          </a:prstGeom>
          <a:noFill/>
        </p:spPr>
        <p:txBody>
          <a:bodyPr wrap="square" rtlCol="0">
            <a:spAutoFit/>
          </a:bodyPr>
          <a:lstStyle/>
          <a:p>
            <a:r>
              <a:rPr lang="zh-CN" altLang="en-US" sz="1000" dirty="0">
                <a:latin typeface="微软雅黑" panose="020B0503020204020204" charset="-122"/>
                <a:ea typeface="微软雅黑" panose="020B0503020204020204" charset="-122"/>
              </a:rPr>
              <a:t>通过人工可视</a:t>
            </a:r>
          </a:p>
        </p:txBody>
      </p:sp>
      <p:sp>
        <p:nvSpPr>
          <p:cNvPr id="38" name="TextBox 37"/>
          <p:cNvSpPr txBox="1"/>
          <p:nvPr/>
        </p:nvSpPr>
        <p:spPr>
          <a:xfrm>
            <a:off x="8429652" y="4986122"/>
            <a:ext cx="576000" cy="246221"/>
          </a:xfrm>
          <a:prstGeom prst="rect">
            <a:avLst/>
          </a:prstGeom>
          <a:noFill/>
        </p:spPr>
        <p:txBody>
          <a:bodyPr wrap="square" rtlCol="0">
            <a:spAutoFit/>
          </a:bodyPr>
          <a:lstStyle/>
          <a:p>
            <a:r>
              <a:rPr lang="zh-CN" altLang="en-US" sz="1000" dirty="0">
                <a:latin typeface="微软雅黑" panose="020B0503020204020204" charset="-122"/>
                <a:ea typeface="微软雅黑" panose="020B0503020204020204" charset="-122"/>
              </a:rPr>
              <a:t>不可视</a:t>
            </a:r>
          </a:p>
        </p:txBody>
      </p:sp>
      <p:sp>
        <p:nvSpPr>
          <p:cNvPr id="39" name="矩形 38"/>
          <p:cNvSpPr/>
          <p:nvPr/>
        </p:nvSpPr>
        <p:spPr bwMode="auto">
          <a:xfrm>
            <a:off x="5214942" y="3786190"/>
            <a:ext cx="2592000" cy="252000"/>
          </a:xfrm>
          <a:prstGeom prst="rect">
            <a:avLst/>
          </a:prstGeom>
          <a:noFill/>
          <a:ln w="9525" cap="flat" cmpd="sng" algn="ctr">
            <a:solidFill>
              <a:srgbClr val="C00000"/>
            </a:solidFill>
            <a:prstDash val="solid"/>
            <a:round/>
            <a:headEnd type="none" w="med" len="med"/>
            <a:tailEnd type="none"/>
          </a:ln>
          <a:effectLst/>
        </p:spPr>
        <p:txBody>
          <a:bodyPr rtlCol="0" anchor="ctr"/>
          <a:lstStyle/>
          <a:p>
            <a:pPr algn="ctr"/>
            <a:endParaRPr lang="zh-CN" altLang="en-US"/>
          </a:p>
        </p:txBody>
      </p:sp>
      <p:sp>
        <p:nvSpPr>
          <p:cNvPr id="40" name="Left Brace 93"/>
          <p:cNvSpPr/>
          <p:nvPr/>
        </p:nvSpPr>
        <p:spPr>
          <a:xfrm rot="10800000" flipH="1">
            <a:off x="3714744" y="2816880"/>
            <a:ext cx="252000" cy="2183756"/>
          </a:xfrm>
          <a:prstGeom prst="leftBrace">
            <a:avLst>
              <a:gd name="adj1" fmla="val 111635"/>
              <a:gd name="adj2" fmla="val 50001"/>
            </a:avLst>
          </a:prstGeom>
          <a:solidFill>
            <a:schemeClr val="bg1"/>
          </a:solidFill>
          <a:ln w="3810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l"/>
            <a:endParaRPr lang="zh-CN" altLang="en-US" sz="1100"/>
          </a:p>
        </p:txBody>
      </p:sp>
      <p:sp>
        <p:nvSpPr>
          <p:cNvPr id="41" name="TextBox 40"/>
          <p:cNvSpPr txBox="1"/>
          <p:nvPr/>
        </p:nvSpPr>
        <p:spPr>
          <a:xfrm>
            <a:off x="3357554" y="2970440"/>
            <a:ext cx="285784" cy="1815882"/>
          </a:xfrm>
          <a:prstGeom prst="rect">
            <a:avLst/>
          </a:prstGeom>
          <a:noFill/>
        </p:spPr>
        <p:txBody>
          <a:bodyPr wrap="square" rtlCol="0" anchor="ctr">
            <a:spAutoFit/>
          </a:bodyPr>
          <a:lstStyle/>
          <a:p>
            <a:pPr algn="ct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订单处理缺乏规则</a:t>
            </a:r>
            <a:endParaRPr lang="en-US" altLang="zh-CN" sz="1400" b="1" dirty="0">
              <a:latin typeface="微软雅黑" panose="020B0503020204020204" charset="-122"/>
              <a:ea typeface="微软雅黑" panose="020B0503020204020204" charset="-122"/>
            </a:endParaRPr>
          </a:p>
        </p:txBody>
      </p:sp>
      <p:sp>
        <p:nvSpPr>
          <p:cNvPr id="45" name="TextBox 44"/>
          <p:cNvSpPr txBox="1"/>
          <p:nvPr/>
        </p:nvSpPr>
        <p:spPr bwMode="auto">
          <a:xfrm>
            <a:off x="3786182" y="5212600"/>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来源：x重机提供（访谈调研），项目组分析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7"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48"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49"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50"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51"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Q2</a:t>
            </a:r>
            <a:r>
              <a:rPr lang="zh-CN" altLang="en-US" dirty="0"/>
              <a:t>：缺乏端到端的订单管理，订单处理规则不明确</a:t>
            </a:r>
          </a:p>
        </p:txBody>
      </p:sp>
      <p:sp>
        <p:nvSpPr>
          <p:cNvPr id="4" name="Line 5"/>
          <p:cNvSpPr>
            <a:spLocks noChangeShapeType="1"/>
          </p:cNvSpPr>
          <p:nvPr/>
        </p:nvSpPr>
        <p:spPr bwMode="auto">
          <a:xfrm>
            <a:off x="1430339" y="3403845"/>
            <a:ext cx="6284574" cy="1257"/>
          </a:xfrm>
          <a:prstGeom prst="line">
            <a:avLst/>
          </a:prstGeom>
          <a:noFill/>
          <a:ln w="38100"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5" name="Line 6"/>
          <p:cNvSpPr>
            <a:spLocks noChangeShapeType="1"/>
          </p:cNvSpPr>
          <p:nvPr/>
        </p:nvSpPr>
        <p:spPr bwMode="auto">
          <a:xfrm>
            <a:off x="3583793"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6" name="Line 7"/>
          <p:cNvSpPr>
            <a:spLocks noChangeShapeType="1"/>
          </p:cNvSpPr>
          <p:nvPr/>
        </p:nvSpPr>
        <p:spPr bwMode="auto">
          <a:xfrm>
            <a:off x="5544454"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9" name="Line 11"/>
          <p:cNvSpPr>
            <a:spLocks noChangeShapeType="1"/>
          </p:cNvSpPr>
          <p:nvPr/>
        </p:nvSpPr>
        <p:spPr bwMode="auto">
          <a:xfrm flipV="1">
            <a:off x="2268013"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0" name="Text Box 12"/>
          <p:cNvSpPr txBox="1">
            <a:spLocks noChangeArrowheads="1"/>
          </p:cNvSpPr>
          <p:nvPr/>
        </p:nvSpPr>
        <p:spPr bwMode="auto">
          <a:xfrm>
            <a:off x="325585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组织</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人员</a:t>
            </a:r>
          </a:p>
        </p:txBody>
      </p:sp>
      <p:sp>
        <p:nvSpPr>
          <p:cNvPr id="11" name="Text Box 13"/>
          <p:cNvSpPr txBox="1">
            <a:spLocks noChangeArrowheads="1"/>
          </p:cNvSpPr>
          <p:nvPr/>
        </p:nvSpPr>
        <p:spPr bwMode="auto">
          <a:xfrm>
            <a:off x="4423667"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en-US" altLang="zh-CN" sz="1400" b="1" dirty="0">
                <a:solidFill>
                  <a:srgbClr val="FFFFFF"/>
                </a:solidFill>
                <a:latin typeface="微软雅黑" panose="020B0503020204020204" charset="-122"/>
                <a:ea typeface="微软雅黑" panose="020B0503020204020204" charset="-122"/>
              </a:rPr>
              <a:t>IT</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13" name="Text Box 16"/>
          <p:cNvSpPr txBox="1">
            <a:spLocks noChangeArrowheads="1"/>
          </p:cNvSpPr>
          <p:nvPr/>
        </p:nvSpPr>
        <p:spPr bwMode="auto">
          <a:xfrm>
            <a:off x="515789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策略</a:t>
            </a:r>
          </a:p>
        </p:txBody>
      </p:sp>
      <p:sp>
        <p:nvSpPr>
          <p:cNvPr id="15" name="新月形 14"/>
          <p:cNvSpPr/>
          <p:nvPr/>
        </p:nvSpPr>
        <p:spPr bwMode="auto">
          <a:xfrm rot="10800000">
            <a:off x="857224" y="2891352"/>
            <a:ext cx="655876" cy="1026242"/>
          </a:xfrm>
          <a:prstGeom prst="moon">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6" name="流程图: 延期 15"/>
          <p:cNvSpPr/>
          <p:nvPr/>
        </p:nvSpPr>
        <p:spPr bwMode="auto">
          <a:xfrm>
            <a:off x="7714914" y="2891352"/>
            <a:ext cx="1189863" cy="1026242"/>
          </a:xfrm>
          <a:prstGeom prst="flowChartDelay">
            <a:avLst/>
          </a:prstGeom>
          <a:solidFill>
            <a:schemeClr val="tx2">
              <a:lumMod val="40000"/>
              <a:lumOff val="60000"/>
            </a:schemeClr>
          </a:solidFill>
          <a:ln w="9525" cap="flat" cmpd="sng" algn="ctr">
            <a:noFill/>
            <a:prstDash val="solid"/>
            <a:round/>
            <a:headEnd type="none" w="med" len="med"/>
            <a:tailEnd type="none"/>
          </a:ln>
          <a:effectLst/>
        </p:spPr>
        <p:txBody>
          <a:bodyPr lIns="0" rIns="0" rtlCol="0" anchor="ctr"/>
          <a:lstStyle/>
          <a:p>
            <a:pPr algn="ctr"/>
            <a:r>
              <a:rPr lang="zh-CN" altLang="en-US" b="1" dirty="0">
                <a:solidFill>
                  <a:schemeClr val="bg1"/>
                </a:solidFill>
                <a:latin typeface="微软雅黑" panose="020B0503020204020204" charset="-122"/>
                <a:ea typeface="微软雅黑" panose="020B0503020204020204" charset="-122"/>
              </a:rPr>
              <a:t>缺乏端到端的订单管理</a:t>
            </a:r>
          </a:p>
        </p:txBody>
      </p:sp>
      <p:sp>
        <p:nvSpPr>
          <p:cNvPr id="17" name="Line 11"/>
          <p:cNvSpPr>
            <a:spLocks noChangeShapeType="1"/>
          </p:cNvSpPr>
          <p:nvPr/>
        </p:nvSpPr>
        <p:spPr bwMode="auto">
          <a:xfrm flipV="1">
            <a:off x="4934437"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8" name="Text Box 14"/>
          <p:cNvSpPr txBox="1">
            <a:spLocks noChangeArrowheads="1"/>
          </p:cNvSpPr>
          <p:nvPr/>
        </p:nvSpPr>
        <p:spPr bwMode="auto">
          <a:xfrm>
            <a:off x="2052388"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绩效</a:t>
            </a:r>
            <a:r>
              <a:rPr kumimoji="1" lang="en-US" altLang="zh-CN" sz="1400" b="1" dirty="0">
                <a:solidFill>
                  <a:srgbClr val="FFFFFF"/>
                </a:solidFill>
                <a:latin typeface="微软雅黑" panose="020B0503020204020204" charset="-122"/>
                <a:ea typeface="微软雅黑" panose="020B0503020204020204" charset="-122"/>
              </a:rPr>
              <a:t>/KPI</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21" name="AutoShape 21"/>
          <p:cNvSpPr/>
          <p:nvPr/>
        </p:nvSpPr>
        <p:spPr bwMode="auto">
          <a:xfrm>
            <a:off x="6286512" y="3840570"/>
            <a:ext cx="1520382" cy="399094"/>
          </a:xfrm>
          <a:prstGeom prst="borderCallout2">
            <a:avLst>
              <a:gd name="adj1" fmla="val 30000"/>
              <a:gd name="adj2" fmla="val -5861"/>
              <a:gd name="adj3" fmla="val 58571"/>
              <a:gd name="adj4" fmla="val -19523"/>
              <a:gd name="adj5" fmla="val 68465"/>
              <a:gd name="adj6" fmla="val -28087"/>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订单管理系统不统一（</a:t>
            </a:r>
            <a:r>
              <a:rPr kumimoji="1" lang="en-US" altLang="zh-CN" sz="1000" dirty="0">
                <a:latin typeface="微软雅黑" panose="020B0503020204020204" charset="-122"/>
                <a:ea typeface="微软雅黑" panose="020B0503020204020204" charset="-122"/>
              </a:rPr>
              <a:t>CRM/OA/</a:t>
            </a:r>
            <a:r>
              <a:rPr kumimoji="1" lang="zh-CN" altLang="en-US" sz="1000" dirty="0">
                <a:latin typeface="微软雅黑" panose="020B0503020204020204" charset="-122"/>
                <a:ea typeface="微软雅黑" panose="020B0503020204020204" charset="-122"/>
              </a:rPr>
              <a:t>邮件</a:t>
            </a:r>
            <a:r>
              <a:rPr kumimoji="1" lang="en-US" altLang="zh-CN" sz="1000" dirty="0">
                <a:latin typeface="微软雅黑" panose="020B0503020204020204" charset="-122"/>
                <a:ea typeface="微软雅黑" panose="020B0503020204020204" charset="-122"/>
              </a:rPr>
              <a:t>-SAP</a:t>
            </a:r>
            <a:r>
              <a:rPr kumimoji="1" lang="zh-CN" altLang="en-US" sz="1000" dirty="0">
                <a:latin typeface="微软雅黑" panose="020B0503020204020204" charset="-122"/>
                <a:ea typeface="微软雅黑" panose="020B0503020204020204" charset="-122"/>
              </a:rPr>
              <a:t>）</a:t>
            </a:r>
          </a:p>
        </p:txBody>
      </p:sp>
      <p:sp>
        <p:nvSpPr>
          <p:cNvPr id="22" name="AutoShape 21"/>
          <p:cNvSpPr/>
          <p:nvPr/>
        </p:nvSpPr>
        <p:spPr bwMode="auto">
          <a:xfrm>
            <a:off x="6000760" y="4292494"/>
            <a:ext cx="1520382" cy="399094"/>
          </a:xfrm>
          <a:prstGeom prst="borderCallout2">
            <a:avLst>
              <a:gd name="adj1" fmla="val 30000"/>
              <a:gd name="adj2" fmla="val -5861"/>
              <a:gd name="adj3" fmla="val 15374"/>
              <a:gd name="adj4" fmla="val -17770"/>
              <a:gd name="adj5" fmla="val 25267"/>
              <a:gd name="adj6" fmla="val -30716"/>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后端数据（上线、异常、下线等）未和销售订单打通</a:t>
            </a:r>
          </a:p>
        </p:txBody>
      </p:sp>
      <p:sp>
        <p:nvSpPr>
          <p:cNvPr id="23" name="AutoShape 21"/>
          <p:cNvSpPr/>
          <p:nvPr/>
        </p:nvSpPr>
        <p:spPr bwMode="auto">
          <a:xfrm>
            <a:off x="3896233" y="3764370"/>
            <a:ext cx="1520382" cy="660000"/>
          </a:xfrm>
          <a:prstGeom prst="borderCallout2">
            <a:avLst>
              <a:gd name="adj1" fmla="val 30000"/>
              <a:gd name="adj2" fmla="val -5861"/>
              <a:gd name="adj3" fmla="val 58571"/>
              <a:gd name="adj4" fmla="val -19523"/>
              <a:gd name="adj5" fmla="val 62705"/>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缺乏订单交付指标的评价或考核（订单响应周期、订单交付周期、订单准时交付率）</a:t>
            </a:r>
          </a:p>
        </p:txBody>
      </p:sp>
      <p:sp>
        <p:nvSpPr>
          <p:cNvPr id="26" name="AutoShape 21"/>
          <p:cNvSpPr/>
          <p:nvPr/>
        </p:nvSpPr>
        <p:spPr bwMode="auto">
          <a:xfrm>
            <a:off x="6141708" y="1838314"/>
            <a:ext cx="1645002" cy="399094"/>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国内以库存满足，对交付能力的提升紧迫性不高</a:t>
            </a:r>
          </a:p>
        </p:txBody>
      </p:sp>
      <p:sp>
        <p:nvSpPr>
          <p:cNvPr id="27" name="AutoShape 21"/>
          <p:cNvSpPr/>
          <p:nvPr/>
        </p:nvSpPr>
        <p:spPr bwMode="auto">
          <a:xfrm>
            <a:off x="6731394" y="2377439"/>
            <a:ext cx="1626820" cy="399094"/>
          </a:xfrm>
          <a:prstGeom prst="borderCallout2">
            <a:avLst>
              <a:gd name="adj1" fmla="val 30000"/>
              <a:gd name="adj2" fmla="val -5861"/>
              <a:gd name="adj3" fmla="val -13425"/>
              <a:gd name="adj4" fmla="val -8129"/>
              <a:gd name="adj5" fmla="val -651"/>
              <a:gd name="adj6" fmla="val -23705"/>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国际计划和订单模式并没有清晰的界限和业务共识</a:t>
            </a:r>
          </a:p>
        </p:txBody>
      </p:sp>
      <p:sp>
        <p:nvSpPr>
          <p:cNvPr id="28" name="AutoShape 21"/>
          <p:cNvSpPr/>
          <p:nvPr/>
        </p:nvSpPr>
        <p:spPr bwMode="auto">
          <a:xfrm>
            <a:off x="4239669" y="1857364"/>
            <a:ext cx="1332463" cy="399094"/>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端到端订单管理职责不明确</a:t>
            </a:r>
          </a:p>
        </p:txBody>
      </p:sp>
      <p:sp>
        <p:nvSpPr>
          <p:cNvPr id="31" name="AutoShape 21"/>
          <p:cNvSpPr/>
          <p:nvPr/>
        </p:nvSpPr>
        <p:spPr bwMode="auto">
          <a:xfrm>
            <a:off x="2655874" y="2370130"/>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缺少订单优先级规则</a:t>
            </a:r>
          </a:p>
        </p:txBody>
      </p:sp>
      <p:sp>
        <p:nvSpPr>
          <p:cNvPr id="35" name="Line 6"/>
          <p:cNvSpPr>
            <a:spLocks noChangeShapeType="1"/>
          </p:cNvSpPr>
          <p:nvPr/>
        </p:nvSpPr>
        <p:spPr bwMode="auto">
          <a:xfrm>
            <a:off x="1480991" y="1846331"/>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36" name="Text Box 12"/>
          <p:cNvSpPr txBox="1">
            <a:spLocks noChangeArrowheads="1"/>
          </p:cNvSpPr>
          <p:nvPr/>
        </p:nvSpPr>
        <p:spPr bwMode="auto">
          <a:xfrm>
            <a:off x="1243455" y="1478637"/>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管理</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流程</a:t>
            </a:r>
          </a:p>
        </p:txBody>
      </p:sp>
      <p:sp>
        <p:nvSpPr>
          <p:cNvPr id="37" name="AutoShape 21"/>
          <p:cNvSpPr/>
          <p:nvPr/>
        </p:nvSpPr>
        <p:spPr bwMode="auto">
          <a:xfrm>
            <a:off x="2218059" y="1928802"/>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未分配的样机申请一日过期，无法和后续需求、生产关联</a:t>
            </a:r>
          </a:p>
        </p:txBody>
      </p:sp>
      <p:cxnSp>
        <p:nvCxnSpPr>
          <p:cNvPr id="47" name="直接连接符 46"/>
          <p:cNvCxnSpPr/>
          <p:nvPr/>
        </p:nvCxnSpPr>
        <p:spPr bwMode="auto">
          <a:xfrm>
            <a:off x="1857356"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8" name="直接连接符 47"/>
          <p:cNvCxnSpPr/>
          <p:nvPr/>
        </p:nvCxnSpPr>
        <p:spPr bwMode="auto">
          <a:xfrm>
            <a:off x="2328754"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9" name="直接连接符 48"/>
          <p:cNvCxnSpPr/>
          <p:nvPr/>
        </p:nvCxnSpPr>
        <p:spPr bwMode="auto">
          <a:xfrm>
            <a:off x="3872485"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1" name="直接连接符 50"/>
          <p:cNvCxnSpPr/>
          <p:nvPr/>
        </p:nvCxnSpPr>
        <p:spPr bwMode="auto">
          <a:xfrm>
            <a:off x="5827405"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2" name="直接连接符 51"/>
          <p:cNvCxnSpPr/>
          <p:nvPr/>
        </p:nvCxnSpPr>
        <p:spPr bwMode="auto">
          <a:xfrm>
            <a:off x="6409463"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3" name="直接连接符 52"/>
          <p:cNvCxnSpPr/>
          <p:nvPr/>
        </p:nvCxnSpPr>
        <p:spPr bwMode="auto">
          <a:xfrm>
            <a:off x="3535430" y="3936787"/>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5" name="直接连接符 54"/>
          <p:cNvCxnSpPr/>
          <p:nvPr/>
        </p:nvCxnSpPr>
        <p:spPr bwMode="auto">
          <a:xfrm>
            <a:off x="5989578" y="407456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6" name="直接连接符 55"/>
          <p:cNvCxnSpPr/>
          <p:nvPr/>
        </p:nvCxnSpPr>
        <p:spPr bwMode="auto">
          <a:xfrm>
            <a:off x="5603636" y="4429132"/>
            <a:ext cx="378000"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44" name="矩形 4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策略</a:t>
            </a:r>
            <a:r>
              <a:rPr lang="zh-CN" altLang="en-US" sz="1200" dirty="0">
                <a:latin typeface="微软雅黑" panose="020B0503020204020204" charset="-122"/>
                <a:ea typeface="微软雅黑" panose="020B0503020204020204" charset="-122"/>
              </a:rPr>
              <a:t>：探讨</a:t>
            </a:r>
            <a:r>
              <a:rPr lang="zh-CN" altLang="en-US" sz="1200" b="1" dirty="0">
                <a:latin typeface="微软雅黑" panose="020B0503020204020204" charset="-122"/>
                <a:ea typeface="微软雅黑" panose="020B0503020204020204" charset="-122"/>
              </a:rPr>
              <a:t>订单管理策略</a:t>
            </a:r>
            <a:r>
              <a:rPr lang="zh-CN" altLang="en-US" sz="1200" dirty="0">
                <a:latin typeface="微软雅黑" panose="020B0503020204020204" charset="-122"/>
                <a:ea typeface="微软雅黑" panose="020B0503020204020204" charset="-122"/>
              </a:rPr>
              <a:t>，并达成共识［</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组织</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人员</a:t>
            </a:r>
            <a:r>
              <a:rPr lang="zh-CN" altLang="en-US" sz="1200" dirty="0">
                <a:latin typeface="微软雅黑" panose="020B0503020204020204" charset="-122"/>
                <a:ea typeface="微软雅黑" panose="020B0503020204020204" charset="-122"/>
              </a:rPr>
              <a:t>：根据订单模式和管理机制明确各部门在订单管理的</a:t>
            </a:r>
            <a:r>
              <a:rPr lang="zh-CN" altLang="en-US" sz="1200" b="1" dirty="0">
                <a:latin typeface="微软雅黑" panose="020B0503020204020204" charset="-122"/>
                <a:ea typeface="微软雅黑" panose="020B0503020204020204" charset="-122"/>
              </a:rPr>
              <a:t>职责</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管理</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流程</a:t>
            </a:r>
            <a:r>
              <a:rPr lang="zh-CN" altLang="en-US" sz="1200" dirty="0">
                <a:latin typeface="微软雅黑" panose="020B0503020204020204" charset="-122"/>
                <a:ea typeface="微软雅黑" panose="020B0503020204020204" charset="-122"/>
              </a:rPr>
              <a:t>：梳理</a:t>
            </a:r>
            <a:r>
              <a:rPr lang="zh-CN" altLang="en-US" sz="1200" b="1" dirty="0">
                <a:latin typeface="微软雅黑" panose="020B0503020204020204" charset="-122"/>
                <a:ea typeface="微软雅黑" panose="020B0503020204020204" charset="-122"/>
              </a:rPr>
              <a:t>订单管理规则</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；基于</a:t>
            </a:r>
            <a:r>
              <a:rPr lang="en-US" altLang="zh-CN" sz="1200" dirty="0">
                <a:latin typeface="微软雅黑" panose="020B0503020204020204" charset="-122"/>
                <a:ea typeface="微软雅黑" panose="020B0503020204020204" charset="-122"/>
              </a:rPr>
              <a:t>CRM</a:t>
            </a:r>
            <a:r>
              <a:rPr lang="zh-CN" altLang="en-US" sz="1200" dirty="0">
                <a:latin typeface="微软雅黑" panose="020B0503020204020204" charset="-122"/>
                <a:ea typeface="微软雅黑" panose="020B0503020204020204" charset="-122"/>
              </a:rPr>
              <a:t>流程优化</a:t>
            </a:r>
            <a:r>
              <a:rPr lang="zh-CN" altLang="en-US" sz="1200" b="1" dirty="0">
                <a:latin typeface="微软雅黑" panose="020B0503020204020204" charset="-122"/>
                <a:ea typeface="微软雅黑" panose="020B0503020204020204" charset="-122"/>
              </a:rPr>
              <a:t>订单流程</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绩效</a:t>
            </a:r>
            <a:r>
              <a:rPr lang="en-US" altLang="zh-CN" sz="1200" u="sng"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：提出订单管理的</a:t>
            </a:r>
            <a:r>
              <a:rPr lang="en-US" altLang="zh-CN" sz="1200" b="1" dirty="0">
                <a:latin typeface="微软雅黑" panose="020B0503020204020204" charset="-122"/>
                <a:ea typeface="微软雅黑" panose="020B0503020204020204" charset="-122"/>
              </a:rPr>
              <a:t>KPI</a:t>
            </a:r>
            <a:r>
              <a:rPr lang="zh-CN" altLang="en-US" sz="1200" b="1" dirty="0">
                <a:latin typeface="微软雅黑" panose="020B0503020204020204" charset="-122"/>
                <a:ea typeface="微软雅黑" panose="020B0503020204020204" charset="-122"/>
              </a:rPr>
              <a:t>建议</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详细蓝图设计］；发布</a:t>
            </a:r>
            <a:r>
              <a:rPr lang="zh-CN" altLang="en-US" sz="1200" b="1" dirty="0">
                <a:latin typeface="微软雅黑" panose="020B0503020204020204" charset="-122"/>
                <a:ea typeface="微软雅黑" panose="020B0503020204020204" charset="-122"/>
              </a:rPr>
              <a:t>考核制度</a:t>
            </a:r>
            <a:r>
              <a:rPr lang="zh-CN" altLang="en-US" sz="1200" dirty="0">
                <a:latin typeface="微软雅黑" panose="020B0503020204020204" charset="-122"/>
                <a:ea typeface="微软雅黑" panose="020B0503020204020204" charset="-122"/>
              </a:rPr>
              <a:t>［x团队推进］</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a:t>
            </a:r>
            <a:r>
              <a:rPr lang="en-US" altLang="zh-CN" sz="1200" u="sng"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：打通销售和生产环节，通过系统集成实现订单端到端管理［</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系统实施</a:t>
            </a:r>
            <a:r>
              <a:rPr lang="en-US" altLang="zh-CN" sz="1200" dirty="0">
                <a:latin typeface="微软雅黑" panose="020B0503020204020204" charset="-122"/>
                <a:ea typeface="微软雅黑" panose="020B0503020204020204" charset="-122"/>
              </a:rPr>
              <a:t>/CRM</a:t>
            </a:r>
            <a:r>
              <a:rPr lang="zh-CN" altLang="en-US" sz="1200" dirty="0">
                <a:latin typeface="微软雅黑" panose="020B0503020204020204" charset="-122"/>
                <a:ea typeface="微软雅黑" panose="020B0503020204020204" charset="-122"/>
              </a:rPr>
              <a:t>优化］ </a:t>
            </a:r>
          </a:p>
        </p:txBody>
      </p:sp>
      <p:sp>
        <p:nvSpPr>
          <p:cNvPr id="42" name="矩形 41"/>
          <p:cNvSpPr/>
          <p:nvPr/>
        </p:nvSpPr>
        <p:spPr bwMode="auto">
          <a:xfrm>
            <a:off x="214282" y="1385430"/>
            <a:ext cx="500066" cy="4068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根因分析</a:t>
            </a:r>
          </a:p>
        </p:txBody>
      </p:sp>
      <p:sp>
        <p:nvSpPr>
          <p:cNvPr id="43" name="矩形 4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改进方向</a:t>
            </a:r>
          </a:p>
        </p:txBody>
      </p:sp>
      <p:sp>
        <p:nvSpPr>
          <p:cNvPr id="46" name="矩形 45"/>
          <p:cNvSpPr/>
          <p:nvPr/>
        </p:nvSpPr>
        <p:spPr bwMode="auto">
          <a:xfrm>
            <a:off x="785786" y="1385430"/>
            <a:ext cx="8172000" cy="4068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41" name="AutoShape 21"/>
          <p:cNvSpPr/>
          <p:nvPr/>
        </p:nvSpPr>
        <p:spPr bwMode="auto">
          <a:xfrm>
            <a:off x="3181794" y="2828292"/>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国际订单多为特殊配置处理环节多、沟通成本大（成本、交期、状态）</a:t>
            </a:r>
          </a:p>
        </p:txBody>
      </p:sp>
      <p:cxnSp>
        <p:nvCxnSpPr>
          <p:cNvPr id="45" name="直接连接符 44"/>
          <p:cNvCxnSpPr/>
          <p:nvPr/>
        </p:nvCxnSpPr>
        <p:spPr bwMode="auto">
          <a:xfrm>
            <a:off x="2808636" y="2970838"/>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58" name="AutoShape 21"/>
          <p:cNvSpPr/>
          <p:nvPr/>
        </p:nvSpPr>
        <p:spPr bwMode="auto">
          <a:xfrm>
            <a:off x="5715008" y="4714884"/>
            <a:ext cx="1520382" cy="399094"/>
          </a:xfrm>
          <a:prstGeom prst="borderCallout2">
            <a:avLst>
              <a:gd name="adj1" fmla="val 30000"/>
              <a:gd name="adj2" fmla="val -5861"/>
              <a:gd name="adj3" fmla="val 15374"/>
              <a:gd name="adj4" fmla="val -17770"/>
              <a:gd name="adj5" fmla="val 25267"/>
              <a:gd name="adj6" fmla="val -30716"/>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交期人为匹配，未能通过系统判断</a:t>
            </a:r>
          </a:p>
        </p:txBody>
      </p:sp>
      <p:cxnSp>
        <p:nvCxnSpPr>
          <p:cNvPr id="59" name="直接连接符 58"/>
          <p:cNvCxnSpPr/>
          <p:nvPr/>
        </p:nvCxnSpPr>
        <p:spPr bwMode="auto">
          <a:xfrm>
            <a:off x="5282446" y="4786322"/>
            <a:ext cx="378000"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60"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61"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62"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63"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64"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Q3</a:t>
            </a:r>
            <a:r>
              <a:rPr lang="zh-CN" altLang="en-US" dirty="0"/>
              <a:t>：产销平衡机制有待完善</a:t>
            </a:r>
          </a:p>
        </p:txBody>
      </p:sp>
      <p:sp>
        <p:nvSpPr>
          <p:cNvPr id="9" name="TextBox 8"/>
          <p:cNvSpPr txBox="1"/>
          <p:nvPr/>
        </p:nvSpPr>
        <p:spPr bwMode="auto">
          <a:xfrm>
            <a:off x="214281" y="1386000"/>
            <a:ext cx="8739555" cy="50040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a:ln>
          <a:effectLst/>
        </p:spPr>
        <p:txBody>
          <a:bodyPr rtlCol="0" anchor="ctr"/>
          <a:lstStyle>
            <a:defPPr>
              <a:defRPr lang="zh-CN"/>
            </a:defPPr>
            <a:lvl1pPr algn="ctr" fontAlgn="auto">
              <a:spcBef>
                <a:spcPts val="0"/>
              </a:spcBef>
              <a:spcAft>
                <a:spcPts val="0"/>
              </a:spcAft>
              <a:defRPr sz="1600" b="1">
                <a:solidFill>
                  <a:schemeClr val="bg2"/>
                </a:solidFill>
                <a:latin typeface="微软雅黑" panose="020B0503020204020204" charset="-122"/>
                <a:ea typeface="微软雅黑" panose="020B0503020204020204" charset="-122"/>
              </a:defRPr>
            </a:lvl1pPr>
          </a:lstStyle>
          <a:p>
            <a:pPr fontAlgn="base">
              <a:spcBef>
                <a:spcPct val="0"/>
              </a:spcBef>
              <a:spcAft>
                <a:spcPct val="0"/>
              </a:spcAft>
            </a:pPr>
            <a:r>
              <a:rPr lang="zh-CN" altLang="en-US" sz="1400" dirty="0">
                <a:solidFill>
                  <a:schemeClr val="tx1"/>
                </a:solidFill>
              </a:rPr>
              <a:t>问题描述</a:t>
            </a:r>
            <a:endParaRPr lang="en-US" altLang="en-US" sz="1400" dirty="0">
              <a:solidFill>
                <a:schemeClr val="tx1"/>
              </a:solidFill>
            </a:endParaRPr>
          </a:p>
        </p:txBody>
      </p:sp>
      <p:sp>
        <p:nvSpPr>
          <p:cNvPr id="10" name="矩形 9"/>
          <p:cNvSpPr/>
          <p:nvPr/>
        </p:nvSpPr>
        <p:spPr bwMode="auto">
          <a:xfrm>
            <a:off x="214282" y="1949964"/>
            <a:ext cx="8739218" cy="349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13" name="矩形 1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业务影响</a:t>
            </a:r>
          </a:p>
        </p:txBody>
      </p:sp>
      <p:sp>
        <p:nvSpPr>
          <p:cNvPr id="14" name="矩形 1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marL="262255" indent="-262255"/>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自制件准备期不足，容易发生</a:t>
            </a:r>
            <a:r>
              <a:rPr lang="zh-CN" altLang="en-US" sz="1200" b="1" dirty="0">
                <a:latin typeface="微软雅黑" panose="020B0503020204020204" charset="-122"/>
                <a:ea typeface="微软雅黑" panose="020B0503020204020204" charset="-122"/>
              </a:rPr>
              <a:t>自制件缺货</a:t>
            </a:r>
            <a:r>
              <a:rPr lang="zh-CN" altLang="en-US" sz="1200" dirty="0">
                <a:latin typeface="微软雅黑" panose="020B0503020204020204" charset="-122"/>
                <a:ea typeface="微软雅黑" panose="020B0503020204020204" charset="-122"/>
              </a:rPr>
              <a:t>问题，影响正常的组装生产</a:t>
            </a:r>
          </a:p>
          <a:p>
            <a:pPr marL="262255" indent="-262255"/>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中长期风险识别不足，容易发生</a:t>
            </a:r>
            <a:r>
              <a:rPr lang="zh-CN" altLang="en-US" sz="1200" b="1" dirty="0">
                <a:latin typeface="微软雅黑" panose="020B0503020204020204" charset="-122"/>
                <a:ea typeface="微软雅黑" panose="020B0503020204020204" charset="-122"/>
              </a:rPr>
              <a:t>进口件缺件</a:t>
            </a:r>
            <a:r>
              <a:rPr lang="zh-CN" altLang="en-US" sz="1200" dirty="0">
                <a:latin typeface="微软雅黑" panose="020B0503020204020204" charset="-122"/>
                <a:ea typeface="微软雅黑" panose="020B0503020204020204" charset="-122"/>
              </a:rPr>
              <a:t>及</a:t>
            </a:r>
            <a:r>
              <a:rPr lang="zh-CN" altLang="en-US" sz="1200" b="1" dirty="0">
                <a:latin typeface="微软雅黑" panose="020B0503020204020204" charset="-122"/>
                <a:ea typeface="微软雅黑" panose="020B0503020204020204" charset="-122"/>
              </a:rPr>
              <a:t>中长期产能</a:t>
            </a:r>
            <a:r>
              <a:rPr lang="zh-CN" altLang="en-US" sz="1200" dirty="0">
                <a:latin typeface="微软雅黑" panose="020B0503020204020204" charset="-122"/>
                <a:ea typeface="微软雅黑" panose="020B0503020204020204" charset="-122"/>
              </a:rPr>
              <a:t>问题</a:t>
            </a:r>
            <a:endParaRPr lang="en-US" altLang="zh-CN" sz="1200" dirty="0">
              <a:latin typeface="微软雅黑" panose="020B0503020204020204" charset="-122"/>
              <a:ea typeface="微软雅黑" panose="020B0503020204020204" charset="-122"/>
            </a:endParaRPr>
          </a:p>
          <a:p>
            <a:pPr marL="262255" indent="-262255"/>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指标评价未列入会议议程，指标管理容易流于形式，无法推动</a:t>
            </a:r>
            <a:r>
              <a:rPr lang="zh-CN" altLang="en-US" sz="1200" b="1" dirty="0">
                <a:latin typeface="微软雅黑" panose="020B0503020204020204" charset="-122"/>
                <a:ea typeface="微软雅黑" panose="020B0503020204020204" charset="-122"/>
              </a:rPr>
              <a:t>指标的持续提升</a:t>
            </a:r>
            <a:r>
              <a:rPr lang="zh-CN" altLang="en-US" sz="1200" dirty="0">
                <a:latin typeface="微软雅黑" panose="020B0503020204020204" charset="-122"/>
                <a:ea typeface="微软雅黑" panose="020B0503020204020204" charset="-122"/>
              </a:rPr>
              <a:t>，不能持续改善业务</a:t>
            </a:r>
            <a:endParaRPr lang="en-US" altLang="zh-CN" sz="1200" dirty="0">
              <a:latin typeface="微软雅黑" panose="020B0503020204020204" charset="-122"/>
              <a:ea typeface="微软雅黑" panose="020B0503020204020204" charset="-122"/>
            </a:endParaRPr>
          </a:p>
        </p:txBody>
      </p:sp>
      <p:sp>
        <p:nvSpPr>
          <p:cNvPr id="20" name="TextBox 19"/>
          <p:cNvSpPr txBox="1"/>
          <p:nvPr/>
        </p:nvSpPr>
        <p:spPr bwMode="auto">
          <a:xfrm>
            <a:off x="285720" y="1942184"/>
            <a:ext cx="2571768" cy="3090077"/>
          </a:xfrm>
          <a:prstGeom prst="rect">
            <a:avLst/>
          </a:prstGeom>
          <a:noFill/>
          <a:ln>
            <a:noFill/>
          </a:ln>
        </p:spPr>
        <p:txBody>
          <a:bodyPr wrap="square" rtlCol="0">
            <a:spAutoFit/>
          </a:bodyPr>
          <a:lstStyle/>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目前月度产销平衡会议</a:t>
            </a:r>
            <a:r>
              <a:rPr kumimoji="1" lang="zh-CN" altLang="en-US" sz="1200" dirty="0">
                <a:latin typeface="微软雅黑" panose="020B0503020204020204" charset="-122"/>
                <a:ea typeface="微软雅黑" panose="020B0503020204020204" charset="-122"/>
                <a:cs typeface="微软雅黑" panose="020B0503020204020204" charset="-122"/>
              </a:rPr>
              <a:t>召开时间较晚</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（每月</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25</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号左右），对结构件计划及下料计划的指导性不足，</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自制件准备更多凭借经验执行</a:t>
            </a: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产销平衡会议重点关注第一月的产供销平衡，并且侧重于销售任务完成及财务数据，对于</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中长期关注度较低</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，降低了中长期计划的指导作用；会议内容也较少关注</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进口件与关重件的备货及风险评审</a:t>
            </a:r>
            <a:endPar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运营指标评价主要通过会后通报形式管理，且考核幅度不大，对于</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指标的持续提升作用较小</a:t>
            </a:r>
            <a:endPar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endParaRPr>
          </a:p>
        </p:txBody>
      </p:sp>
      <p:graphicFrame>
        <p:nvGraphicFramePr>
          <p:cNvPr id="25" name="表格 24"/>
          <p:cNvGraphicFramePr>
            <a:graphicFrameLocks noGrp="1"/>
          </p:cNvGraphicFramePr>
          <p:nvPr/>
        </p:nvGraphicFramePr>
        <p:xfrm>
          <a:off x="3094040" y="2214554"/>
          <a:ext cx="5667401" cy="370840"/>
        </p:xfrm>
        <a:graphic>
          <a:graphicData uri="http://schemas.openxmlformats.org/drawingml/2006/table">
            <a:tbl>
              <a:tblPr firstRow="1" bandRow="1">
                <a:tableStyleId>{5C22544A-7EE6-4342-B048-85BDC9FD1C3A}</a:tableStyleId>
              </a:tblPr>
              <a:tblGrid>
                <a:gridCol w="1549398">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gridCol w="666437">
                  <a:extLst>
                    <a:ext uri="{9D8B030D-6E8A-4147-A177-3AD203B41FA5}">
                      <a16:colId xmlns:a16="http://schemas.microsoft.com/office/drawing/2014/main" val="20002"/>
                    </a:ext>
                  </a:extLst>
                </a:gridCol>
                <a:gridCol w="666437">
                  <a:extLst>
                    <a:ext uri="{9D8B030D-6E8A-4147-A177-3AD203B41FA5}">
                      <a16:colId xmlns:a16="http://schemas.microsoft.com/office/drawing/2014/main" val="20003"/>
                    </a:ext>
                  </a:extLst>
                </a:gridCol>
                <a:gridCol w="666437">
                  <a:extLst>
                    <a:ext uri="{9D8B030D-6E8A-4147-A177-3AD203B41FA5}">
                      <a16:colId xmlns:a16="http://schemas.microsoft.com/office/drawing/2014/main" val="20004"/>
                    </a:ext>
                  </a:extLst>
                </a:gridCol>
                <a:gridCol w="666437">
                  <a:extLst>
                    <a:ext uri="{9D8B030D-6E8A-4147-A177-3AD203B41FA5}">
                      <a16:colId xmlns:a16="http://schemas.microsoft.com/office/drawing/2014/main" val="20005"/>
                    </a:ext>
                  </a:extLst>
                </a:gridCol>
                <a:gridCol w="666437">
                  <a:extLst>
                    <a:ext uri="{9D8B030D-6E8A-4147-A177-3AD203B41FA5}">
                      <a16:colId xmlns:a16="http://schemas.microsoft.com/office/drawing/2014/main" val="20006"/>
                    </a:ext>
                  </a:extLst>
                </a:gridCol>
              </a:tblGrid>
              <a:tr h="370840">
                <a:tc>
                  <a:txBody>
                    <a:bodyPr/>
                    <a:lstStyle/>
                    <a:p>
                      <a:pPr algn="ctr"/>
                      <a:r>
                        <a:rPr lang="en-US" altLang="zh-CN" sz="1200" dirty="0">
                          <a:solidFill>
                            <a:schemeClr val="tx1"/>
                          </a:solidFill>
                          <a:latin typeface="微软雅黑" panose="020B0503020204020204" charset="-122"/>
                          <a:ea typeface="微软雅黑" panose="020B0503020204020204" charset="-122"/>
                        </a:rPr>
                        <a:t>N-1</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N+1</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N+2</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N+3</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N+4</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微软雅黑" panose="020B0503020204020204" charset="-122"/>
                          <a:ea typeface="微软雅黑" panose="020B0503020204020204" charset="-122"/>
                        </a:rPr>
                        <a:t>N+5</a:t>
                      </a:r>
                      <a:r>
                        <a:rPr lang="zh-CN" altLang="en-US" sz="1200" dirty="0">
                          <a:solidFill>
                            <a:schemeClr val="tx1"/>
                          </a:solidFill>
                          <a:latin typeface="微软雅黑" panose="020B0503020204020204" charset="-122"/>
                          <a:ea typeface="微软雅黑" panose="020B0503020204020204" charset="-122"/>
                        </a:rPr>
                        <a:t>月</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26" name="等腰三角形 25"/>
          <p:cNvSpPr/>
          <p:nvPr/>
        </p:nvSpPr>
        <p:spPr bwMode="auto">
          <a:xfrm>
            <a:off x="4126671" y="2571744"/>
            <a:ext cx="130176" cy="214314"/>
          </a:xfrm>
          <a:prstGeom prst="triangle">
            <a:avLst/>
          </a:prstGeom>
          <a:solidFill>
            <a:srgbClr val="FFC000"/>
          </a:solidFill>
          <a:ln w="9525" cap="flat" cmpd="sng" algn="ctr">
            <a:noFill/>
            <a:prstDash val="solid"/>
            <a:round/>
            <a:headEnd type="none" w="med" len="med"/>
            <a:tailEnd type="none"/>
          </a:ln>
          <a:effectLst/>
        </p:spPr>
        <p:txBody>
          <a:bodyPr rtlCol="0" anchor="ctr"/>
          <a:lstStyle/>
          <a:p>
            <a:pPr algn="ctr"/>
            <a:endParaRPr lang="zh-CN" altLang="en-US"/>
          </a:p>
        </p:txBody>
      </p:sp>
      <p:sp>
        <p:nvSpPr>
          <p:cNvPr id="27" name="TextBox 26"/>
          <p:cNvSpPr txBox="1"/>
          <p:nvPr/>
        </p:nvSpPr>
        <p:spPr bwMode="auto">
          <a:xfrm>
            <a:off x="3384318" y="2754534"/>
            <a:ext cx="873957" cy="430887"/>
          </a:xfrm>
          <a:prstGeom prst="rect">
            <a:avLst/>
          </a:prstGeom>
          <a:noFill/>
          <a:ln>
            <a:noFill/>
          </a:ln>
        </p:spPr>
        <p:txBody>
          <a:bodyPr wrap="none" rtlCol="0">
            <a:spAutoFit/>
          </a:bodyPr>
          <a:lstStyle/>
          <a:p>
            <a:pPr algn="r"/>
            <a:r>
              <a:rPr kumimoji="1" lang="en-US" altLang="zh-CN" sz="1100" b="0" dirty="0">
                <a:solidFill>
                  <a:srgbClr val="000000"/>
                </a:solidFill>
                <a:latin typeface="微软雅黑" panose="020B0503020204020204" charset="-122"/>
                <a:ea typeface="微软雅黑" panose="020B0503020204020204" charset="-122"/>
                <a:cs typeface="微软雅黑" panose="020B0503020204020204" charset="-122"/>
              </a:rPr>
              <a:t>25</a:t>
            </a:r>
            <a:r>
              <a:rPr kumimoji="1" lang="zh-CN" altLang="en-US" sz="1100" dirty="0">
                <a:solidFill>
                  <a:srgbClr val="000000"/>
                </a:solidFill>
                <a:latin typeface="微软雅黑" panose="020B0503020204020204" charset="-122"/>
                <a:ea typeface="微软雅黑" panose="020B0503020204020204" charset="-122"/>
                <a:cs typeface="微软雅黑" panose="020B0503020204020204" charset="-122"/>
              </a:rPr>
              <a:t>号左右</a:t>
            </a:r>
            <a:br>
              <a:rPr kumimoji="1" lang="en-US" altLang="zh-CN" sz="1100" dirty="0">
                <a:solidFill>
                  <a:srgbClr val="000000"/>
                </a:solidFill>
                <a:latin typeface="微软雅黑" panose="020B0503020204020204" charset="-122"/>
                <a:ea typeface="微软雅黑" panose="020B0503020204020204" charset="-122"/>
                <a:cs typeface="微软雅黑" panose="020B0503020204020204" charset="-122"/>
              </a:rPr>
            </a:br>
            <a:r>
              <a:rPr kumimoji="1" lang="en-US" altLang="zh-CN" sz="1100" dirty="0">
                <a:solidFill>
                  <a:srgbClr val="000000"/>
                </a:solidFill>
                <a:latin typeface="微软雅黑" panose="020B0503020204020204" charset="-122"/>
                <a:ea typeface="微软雅黑" panose="020B0503020204020204" charset="-122"/>
                <a:cs typeface="微软雅黑" panose="020B0503020204020204" charset="-122"/>
              </a:rPr>
              <a:t>S&amp;OP</a:t>
            </a:r>
            <a:r>
              <a:rPr kumimoji="1" lang="zh-CN" altLang="en-US" sz="1100" dirty="0">
                <a:solidFill>
                  <a:srgbClr val="000000"/>
                </a:solidFill>
                <a:latin typeface="微软雅黑" panose="020B0503020204020204" charset="-122"/>
                <a:ea typeface="微软雅黑" panose="020B0503020204020204" charset="-122"/>
                <a:cs typeface="微软雅黑" panose="020B0503020204020204" charset="-122"/>
              </a:rPr>
              <a:t>会议</a:t>
            </a:r>
            <a:endParaRPr kumimoji="1" lang="zh-CN" altLang="en-US" sz="1100" b="0" dirty="0">
              <a:solidFill>
                <a:srgbClr val="000000"/>
              </a:solidFill>
              <a:latin typeface="微软雅黑" panose="020B0503020204020204" charset="-122"/>
              <a:ea typeface="微软雅黑" panose="020B0503020204020204" charset="-122"/>
              <a:cs typeface="微软雅黑" panose="020B0503020204020204" charset="-122"/>
            </a:endParaRPr>
          </a:p>
        </p:txBody>
      </p:sp>
      <p:cxnSp>
        <p:nvCxnSpPr>
          <p:cNvPr id="29" name="直接连接符 28"/>
          <p:cNvCxnSpPr/>
          <p:nvPr/>
        </p:nvCxnSpPr>
        <p:spPr bwMode="auto">
          <a:xfrm rot="5400000">
            <a:off x="4229438" y="3057182"/>
            <a:ext cx="828000" cy="1588"/>
          </a:xfrm>
          <a:prstGeom prst="line">
            <a:avLst/>
          </a:prstGeom>
          <a:solidFill>
            <a:schemeClr val="accent1"/>
          </a:solidFill>
          <a:ln w="9525" cap="flat" cmpd="sng" algn="ctr">
            <a:solidFill>
              <a:schemeClr val="bg1">
                <a:lumMod val="75000"/>
              </a:schemeClr>
            </a:solidFill>
            <a:prstDash val="dash"/>
            <a:round/>
            <a:headEnd type="none" w="med" len="med"/>
            <a:tailEnd type="none"/>
          </a:ln>
          <a:effectLst/>
        </p:spPr>
      </p:cxnSp>
      <p:cxnSp>
        <p:nvCxnSpPr>
          <p:cNvPr id="30" name="直接连接符 29"/>
          <p:cNvCxnSpPr/>
          <p:nvPr/>
        </p:nvCxnSpPr>
        <p:spPr bwMode="auto">
          <a:xfrm rot="5400000">
            <a:off x="3877090" y="3147182"/>
            <a:ext cx="648000" cy="1588"/>
          </a:xfrm>
          <a:prstGeom prst="line">
            <a:avLst/>
          </a:prstGeom>
          <a:solidFill>
            <a:schemeClr val="accent1"/>
          </a:solidFill>
          <a:ln w="9525" cap="flat" cmpd="sng" algn="ctr">
            <a:solidFill>
              <a:schemeClr val="bg1">
                <a:lumMod val="75000"/>
              </a:schemeClr>
            </a:solidFill>
            <a:prstDash val="dash"/>
            <a:round/>
            <a:headEnd type="none" w="med" len="med"/>
            <a:tailEnd type="none"/>
          </a:ln>
          <a:effectLst/>
        </p:spPr>
      </p:cxnSp>
      <p:cxnSp>
        <p:nvCxnSpPr>
          <p:cNvPr id="31" name="直接连接符 30"/>
          <p:cNvCxnSpPr/>
          <p:nvPr/>
        </p:nvCxnSpPr>
        <p:spPr bwMode="auto">
          <a:xfrm rot="5400000">
            <a:off x="5028976" y="3056388"/>
            <a:ext cx="828000" cy="1588"/>
          </a:xfrm>
          <a:prstGeom prst="line">
            <a:avLst/>
          </a:prstGeom>
          <a:solidFill>
            <a:schemeClr val="accent1"/>
          </a:solidFill>
          <a:ln w="9525" cap="flat" cmpd="sng" algn="ctr">
            <a:solidFill>
              <a:schemeClr val="bg1">
                <a:lumMod val="75000"/>
              </a:schemeClr>
            </a:solidFill>
            <a:prstDash val="dash"/>
            <a:round/>
            <a:headEnd type="none" w="med" len="med"/>
            <a:tailEnd type="none"/>
          </a:ln>
          <a:effectLst/>
        </p:spPr>
      </p:cxnSp>
      <p:cxnSp>
        <p:nvCxnSpPr>
          <p:cNvPr id="33" name="直接箭头连接符 32"/>
          <p:cNvCxnSpPr/>
          <p:nvPr/>
        </p:nvCxnSpPr>
        <p:spPr bwMode="auto">
          <a:xfrm>
            <a:off x="4643438" y="3214686"/>
            <a:ext cx="785818" cy="1588"/>
          </a:xfrm>
          <a:prstGeom prst="straightConnector1">
            <a:avLst/>
          </a:prstGeom>
          <a:solidFill>
            <a:schemeClr val="accent1"/>
          </a:solidFill>
          <a:ln w="9525" cap="flat" cmpd="sng" algn="ctr">
            <a:solidFill>
              <a:schemeClr val="tx1"/>
            </a:solidFill>
            <a:prstDash val="solid"/>
            <a:round/>
            <a:headEnd type="arrow" w="med" len="med"/>
            <a:tailEnd type="arrow"/>
          </a:ln>
          <a:effectLst/>
        </p:spPr>
      </p:cxnSp>
      <p:sp>
        <p:nvSpPr>
          <p:cNvPr id="34" name="TextBox 33"/>
          <p:cNvSpPr txBox="1"/>
          <p:nvPr/>
        </p:nvSpPr>
        <p:spPr bwMode="auto">
          <a:xfrm>
            <a:off x="4636791" y="3214686"/>
            <a:ext cx="748923" cy="261610"/>
          </a:xfrm>
          <a:prstGeom prst="rect">
            <a:avLst/>
          </a:prstGeom>
          <a:noFill/>
          <a:ln>
            <a:noFill/>
          </a:ln>
        </p:spPr>
        <p:txBody>
          <a:bodyPr wrap="none" rtlCol="0">
            <a:spAutoFit/>
          </a:bodyPr>
          <a:lstStyle/>
          <a:p>
            <a:r>
              <a:rPr kumimoji="1" lang="zh-CN" altLang="en-US" sz="1100" b="0" dirty="0">
                <a:solidFill>
                  <a:srgbClr val="000000"/>
                </a:solidFill>
                <a:latin typeface="微软雅黑" panose="020B0503020204020204" charset="-122"/>
                <a:ea typeface="微软雅黑" panose="020B0503020204020204" charset="-122"/>
                <a:cs typeface="微软雅黑" panose="020B0503020204020204" charset="-122"/>
              </a:rPr>
              <a:t>上线计划</a:t>
            </a:r>
          </a:p>
        </p:txBody>
      </p:sp>
      <p:cxnSp>
        <p:nvCxnSpPr>
          <p:cNvPr id="35" name="直接箭头连接符 34"/>
          <p:cNvCxnSpPr/>
          <p:nvPr/>
        </p:nvCxnSpPr>
        <p:spPr bwMode="auto">
          <a:xfrm>
            <a:off x="4214810" y="3214686"/>
            <a:ext cx="432000" cy="1588"/>
          </a:xfrm>
          <a:prstGeom prst="straightConnector1">
            <a:avLst/>
          </a:prstGeom>
          <a:solidFill>
            <a:schemeClr val="accent1"/>
          </a:solidFill>
          <a:ln w="9525" cap="flat" cmpd="sng" algn="ctr">
            <a:solidFill>
              <a:schemeClr val="tx1"/>
            </a:solidFill>
            <a:prstDash val="solid"/>
            <a:round/>
            <a:headEnd type="arrow" w="med" len="med"/>
            <a:tailEnd type="arrow"/>
          </a:ln>
          <a:effectLst/>
        </p:spPr>
      </p:cxnSp>
      <p:sp>
        <p:nvSpPr>
          <p:cNvPr id="36" name="TextBox 35"/>
          <p:cNvSpPr txBox="1"/>
          <p:nvPr/>
        </p:nvSpPr>
        <p:spPr bwMode="auto">
          <a:xfrm>
            <a:off x="4204540" y="3243714"/>
            <a:ext cx="466794" cy="430887"/>
          </a:xfrm>
          <a:prstGeom prst="rect">
            <a:avLst/>
          </a:prstGeom>
          <a:noFill/>
          <a:ln>
            <a:noFill/>
          </a:ln>
        </p:spPr>
        <p:txBody>
          <a:bodyPr wrap="none" rtlCol="0">
            <a:spAutoFit/>
          </a:bodyPr>
          <a:lstStyle/>
          <a:p>
            <a:pPr algn="ctr"/>
            <a:r>
              <a:rPr kumimoji="1" lang="zh-CN" altLang="en-US" sz="1100" b="0" dirty="0">
                <a:solidFill>
                  <a:srgbClr val="000000"/>
                </a:solidFill>
                <a:latin typeface="微软雅黑" panose="020B0503020204020204" charset="-122"/>
                <a:ea typeface="微软雅黑" panose="020B0503020204020204" charset="-122"/>
                <a:cs typeface="微软雅黑" panose="020B0503020204020204" charset="-122"/>
              </a:rPr>
              <a:t>准备</a:t>
            </a:r>
            <a:endParaRPr kumimoji="1" lang="en-US" altLang="zh-CN" sz="1100" b="0"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100" b="0" dirty="0">
                <a:solidFill>
                  <a:srgbClr val="000000"/>
                </a:solidFill>
                <a:latin typeface="微软雅黑" panose="020B0503020204020204" charset="-122"/>
                <a:ea typeface="微软雅黑" panose="020B0503020204020204" charset="-122"/>
                <a:cs typeface="微软雅黑" panose="020B0503020204020204" charset="-122"/>
              </a:rPr>
              <a:t>期</a:t>
            </a:r>
          </a:p>
        </p:txBody>
      </p:sp>
      <p:cxnSp>
        <p:nvCxnSpPr>
          <p:cNvPr id="37" name="直接连接符 36"/>
          <p:cNvCxnSpPr/>
          <p:nvPr/>
        </p:nvCxnSpPr>
        <p:spPr bwMode="auto">
          <a:xfrm rot="5400000">
            <a:off x="8357534" y="3056388"/>
            <a:ext cx="828000" cy="1588"/>
          </a:xfrm>
          <a:prstGeom prst="line">
            <a:avLst/>
          </a:prstGeom>
          <a:solidFill>
            <a:schemeClr val="accent1"/>
          </a:solidFill>
          <a:ln w="9525" cap="flat" cmpd="sng" algn="ctr">
            <a:solidFill>
              <a:schemeClr val="bg1">
                <a:lumMod val="75000"/>
              </a:schemeClr>
            </a:solidFill>
            <a:prstDash val="dash"/>
            <a:round/>
            <a:headEnd type="none" w="med" len="med"/>
            <a:tailEnd type="none"/>
          </a:ln>
          <a:effectLst/>
        </p:spPr>
      </p:cxnSp>
      <p:sp>
        <p:nvSpPr>
          <p:cNvPr id="38" name="椭圆 37"/>
          <p:cNvSpPr/>
          <p:nvPr/>
        </p:nvSpPr>
        <p:spPr bwMode="auto">
          <a:xfrm>
            <a:off x="5500694" y="2857496"/>
            <a:ext cx="3214710" cy="285752"/>
          </a:xfrm>
          <a:prstGeom prst="ellipse">
            <a:avLst/>
          </a:prstGeom>
          <a:noFill/>
          <a:ln w="9525" cap="flat" cmpd="sng" algn="ctr">
            <a:solidFill>
              <a:schemeClr val="tx1"/>
            </a:solidFill>
            <a:prstDash val="dash"/>
            <a:round/>
            <a:headEnd type="none" w="med" len="med"/>
            <a:tailEnd type="none"/>
          </a:ln>
          <a:effectLst/>
        </p:spPr>
        <p:txBody>
          <a:bodyPr rtlCol="0" anchor="ctr"/>
          <a:lstStyle/>
          <a:p>
            <a:pPr algn="ctr"/>
            <a:r>
              <a:rPr lang="zh-CN" altLang="en-US" sz="1200" dirty="0">
                <a:latin typeface="微软雅黑" panose="020B0503020204020204" charset="-122"/>
                <a:ea typeface="微软雅黑" panose="020B0503020204020204" charset="-122"/>
              </a:rPr>
              <a:t>关注度较低</a:t>
            </a:r>
          </a:p>
        </p:txBody>
      </p:sp>
      <p:sp>
        <p:nvSpPr>
          <p:cNvPr id="39" name="线形标注 2 38"/>
          <p:cNvSpPr/>
          <p:nvPr/>
        </p:nvSpPr>
        <p:spPr bwMode="auto">
          <a:xfrm>
            <a:off x="2928926" y="4071942"/>
            <a:ext cx="1214446" cy="785818"/>
          </a:xfrm>
          <a:prstGeom prst="borderCallout2">
            <a:avLst>
              <a:gd name="adj1" fmla="val 46686"/>
              <a:gd name="adj2" fmla="val 99506"/>
              <a:gd name="adj3" fmla="val 28909"/>
              <a:gd name="adj4" fmla="val 113051"/>
              <a:gd name="adj5" fmla="val -55580"/>
              <a:gd name="adj6" fmla="val 126226"/>
            </a:avLst>
          </a:prstGeom>
          <a:noFill/>
          <a:ln w="9525" cap="flat" cmpd="sng" algn="ctr">
            <a:solidFill>
              <a:schemeClr val="tx1"/>
            </a:solidFill>
            <a:prstDash val="solid"/>
            <a:round/>
            <a:headEnd type="none" w="med" len="med"/>
            <a:tailEnd type="none"/>
          </a:ln>
          <a:effectLst/>
        </p:spPr>
        <p:txBody>
          <a:bodyPr lIns="36000" rIns="36000" rtlCol="0" anchor="ctr"/>
          <a:lstStyle/>
          <a:p>
            <a:pPr marL="87630" indent="-87630">
              <a:spcBef>
                <a:spcPts val="300"/>
              </a:spcBef>
              <a:buFont typeface="Arial" panose="020B0604020202020204" pitchFamily="34" charset="0"/>
              <a:buChar char="•"/>
            </a:pPr>
            <a:r>
              <a:rPr lang="zh-CN" altLang="en-US" sz="1100" dirty="0">
                <a:latin typeface="微软雅黑" panose="020B0503020204020204" charset="-122"/>
                <a:ea typeface="微软雅黑" panose="020B0503020204020204" charset="-122"/>
              </a:rPr>
              <a:t>结构件及下料准备期时间不够，职能凭经验判断</a:t>
            </a:r>
          </a:p>
        </p:txBody>
      </p:sp>
      <p:sp>
        <p:nvSpPr>
          <p:cNvPr id="40" name="下箭头 39"/>
          <p:cNvSpPr/>
          <p:nvPr/>
        </p:nvSpPr>
        <p:spPr bwMode="auto">
          <a:xfrm>
            <a:off x="6929454" y="3242582"/>
            <a:ext cx="428628" cy="642942"/>
          </a:xfrm>
          <a:prstGeom prst="downArrow">
            <a:avLst/>
          </a:prstGeom>
          <a:solidFill>
            <a:schemeClr val="accent1">
              <a:lumMod val="20000"/>
              <a:lumOff val="80000"/>
            </a:schemeClr>
          </a:solidFill>
          <a:ln w="9525" cap="flat" cmpd="sng" algn="ctr">
            <a:noFill/>
            <a:prstDash val="solid"/>
            <a:round/>
            <a:headEnd type="none" w="med" len="med"/>
            <a:tailEnd type="none"/>
          </a:ln>
          <a:effectLst>
            <a:outerShdw blurRad="50800" dist="38100" dir="2700000" algn="tl" rotWithShape="0">
              <a:prstClr val="black">
                <a:alpha val="40000"/>
              </a:prstClr>
            </a:outerShdw>
          </a:effectLst>
        </p:spPr>
        <p:txBody>
          <a:bodyPr rtlCol="0" anchor="ctr"/>
          <a:lstStyle/>
          <a:p>
            <a:pPr algn="ctr"/>
            <a:endParaRPr lang="zh-CN" altLang="en-US"/>
          </a:p>
        </p:txBody>
      </p:sp>
      <p:sp>
        <p:nvSpPr>
          <p:cNvPr id="41" name="下箭头 40"/>
          <p:cNvSpPr/>
          <p:nvPr/>
        </p:nvSpPr>
        <p:spPr bwMode="auto">
          <a:xfrm>
            <a:off x="4829856" y="3511325"/>
            <a:ext cx="428628" cy="374199"/>
          </a:xfrm>
          <a:prstGeom prst="downArrow">
            <a:avLst/>
          </a:prstGeom>
          <a:solidFill>
            <a:schemeClr val="accent1">
              <a:lumMod val="20000"/>
              <a:lumOff val="80000"/>
            </a:schemeClr>
          </a:solidFill>
          <a:ln w="9525" cap="flat" cmpd="sng" algn="ctr">
            <a:noFill/>
            <a:prstDash val="solid"/>
            <a:round/>
            <a:headEnd type="none" w="med" len="med"/>
            <a:tailEnd type="none"/>
          </a:ln>
          <a:effectLst>
            <a:outerShdw blurRad="50800" dist="38100" dir="2700000" algn="tl" rotWithShape="0">
              <a:prstClr val="black">
                <a:alpha val="40000"/>
              </a:prstClr>
            </a:outerShdw>
          </a:effectLst>
        </p:spPr>
        <p:txBody>
          <a:bodyPr rtlCol="0" anchor="ctr"/>
          <a:lstStyle/>
          <a:p>
            <a:pPr algn="ctr"/>
            <a:endParaRPr lang="zh-CN" altLang="en-US"/>
          </a:p>
        </p:txBody>
      </p:sp>
      <p:graphicFrame>
        <p:nvGraphicFramePr>
          <p:cNvPr id="42" name="Group 72"/>
          <p:cNvGraphicFramePr>
            <a:graphicFrameLocks noGrp="1"/>
          </p:cNvGraphicFramePr>
          <p:nvPr/>
        </p:nvGraphicFramePr>
        <p:xfrm>
          <a:off x="6929454" y="3972608"/>
          <a:ext cx="1928826" cy="1289289"/>
        </p:xfrm>
        <a:graphic>
          <a:graphicData uri="http://schemas.openxmlformats.org/drawingml/2006/table">
            <a:tbl>
              <a:tblPr/>
              <a:tblGrid>
                <a:gridCol w="522617">
                  <a:extLst>
                    <a:ext uri="{9D8B030D-6E8A-4147-A177-3AD203B41FA5}">
                      <a16:colId xmlns:a16="http://schemas.microsoft.com/office/drawing/2014/main" val="20000"/>
                    </a:ext>
                  </a:extLst>
                </a:gridCol>
                <a:gridCol w="1406209">
                  <a:extLst>
                    <a:ext uri="{9D8B030D-6E8A-4147-A177-3AD203B41FA5}">
                      <a16:colId xmlns:a16="http://schemas.microsoft.com/office/drawing/2014/main" val="20001"/>
                    </a:ext>
                  </a:extLst>
                </a:gridCol>
              </a:tblGrid>
              <a:tr h="35187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100" b="0" i="0" u="none" strike="noStrike" cap="none" normalizeH="0" baseline="0" dirty="0">
                          <a:ln>
                            <a:noFill/>
                          </a:ln>
                          <a:effectLst/>
                          <a:latin typeface="微软雅黑" panose="020B0503020204020204" charset="-122"/>
                          <a:ea typeface="微软雅黑" panose="020B0503020204020204" charset="-122"/>
                        </a:rPr>
                        <a:t>生产</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4BACC6">
                        <a:alpha val="2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产能准备</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4BACC6">
                        <a:alpha val="20000"/>
                      </a:srgbClr>
                    </a:solidFill>
                  </a:tcPr>
                </a:tc>
                <a:extLst>
                  <a:ext uri="{0D108BD9-81ED-4DB2-BD59-A6C34878D82A}">
                    <a16:rowId xmlns:a16="http://schemas.microsoft.com/office/drawing/2014/main" val="10000"/>
                  </a:ext>
                </a:extLst>
              </a:tr>
              <a:tr h="35187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采购</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驱动中长零部件需求</a:t>
                      </a:r>
                      <a:br>
                        <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rPr>
                      </a:b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（包括进口件）</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069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供应商</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4BACC6">
                        <a:alpha val="2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核查供应商产能</a:t>
                      </a:r>
                    </a:p>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（确保供应能力）</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4BACC6">
                        <a:alpha val="20000"/>
                      </a:srgbClr>
                    </a:solidFill>
                  </a:tcPr>
                </a:tc>
                <a:extLst>
                  <a:ext uri="{0D108BD9-81ED-4DB2-BD59-A6C34878D82A}">
                    <a16:rowId xmlns:a16="http://schemas.microsoft.com/office/drawing/2014/main" val="10002"/>
                  </a:ext>
                </a:extLst>
              </a:tr>
            </a:tbl>
          </a:graphicData>
        </a:graphic>
      </p:graphicFrame>
      <p:graphicFrame>
        <p:nvGraphicFramePr>
          <p:cNvPr id="43" name="Group 72"/>
          <p:cNvGraphicFramePr>
            <a:graphicFrameLocks noGrp="1"/>
          </p:cNvGraphicFramePr>
          <p:nvPr/>
        </p:nvGraphicFramePr>
        <p:xfrm>
          <a:off x="4657952" y="3972608"/>
          <a:ext cx="2128626" cy="1296510"/>
        </p:xfrm>
        <a:graphic>
          <a:graphicData uri="http://schemas.openxmlformats.org/drawingml/2006/table">
            <a:tbl>
              <a:tblPr/>
              <a:tblGrid>
                <a:gridCol w="541973">
                  <a:extLst>
                    <a:ext uri="{9D8B030D-6E8A-4147-A177-3AD203B41FA5}">
                      <a16:colId xmlns:a16="http://schemas.microsoft.com/office/drawing/2014/main" val="20000"/>
                    </a:ext>
                  </a:extLst>
                </a:gridCol>
                <a:gridCol w="1586653">
                  <a:extLst>
                    <a:ext uri="{9D8B030D-6E8A-4147-A177-3AD203B41FA5}">
                      <a16:colId xmlns:a16="http://schemas.microsoft.com/office/drawing/2014/main" val="20001"/>
                    </a:ext>
                  </a:extLst>
                </a:gridCol>
              </a:tblGrid>
              <a:tr h="35187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100" b="0" i="0" u="none" strike="noStrike" cap="none" normalizeH="0" baseline="0" dirty="0">
                          <a:ln>
                            <a:noFill/>
                          </a:ln>
                          <a:effectLst/>
                          <a:latin typeface="微软雅黑" panose="020B0503020204020204" charset="-122"/>
                          <a:ea typeface="微软雅黑" panose="020B0503020204020204" charset="-122"/>
                        </a:rPr>
                        <a:t>生产</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4BACC6">
                        <a:alpha val="2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生产排产准备</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4BACC6">
                        <a:alpha val="20000"/>
                      </a:srgbClr>
                    </a:solidFill>
                  </a:tcPr>
                </a:tc>
                <a:extLst>
                  <a:ext uri="{0D108BD9-81ED-4DB2-BD59-A6C34878D82A}">
                    <a16:rowId xmlns:a16="http://schemas.microsoft.com/office/drawing/2014/main" val="10000"/>
                  </a:ext>
                </a:extLst>
              </a:tr>
              <a:tr h="433941">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采购</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驱动短期零部件需求</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069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供应商</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4BACC6">
                        <a:alpha val="2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指导供应商生产及备货</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（缩短交货期）</a:t>
                      </a:r>
                    </a:p>
                  </a:txBody>
                  <a:tcPr marL="36000" marR="3600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4BACC6">
                        <a:alpha val="20000"/>
                      </a:srgbClr>
                    </a:solidFill>
                  </a:tcPr>
                </a:tc>
                <a:extLst>
                  <a:ext uri="{0D108BD9-81ED-4DB2-BD59-A6C34878D82A}">
                    <a16:rowId xmlns:a16="http://schemas.microsoft.com/office/drawing/2014/main" val="10002"/>
                  </a:ext>
                </a:extLst>
              </a:tr>
            </a:tbl>
          </a:graphicData>
        </a:graphic>
      </p:graphicFrame>
      <p:sp>
        <p:nvSpPr>
          <p:cNvPr id="45"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46"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47"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48"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49"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Q3</a:t>
            </a:r>
            <a:r>
              <a:rPr lang="zh-CN" altLang="en-US" dirty="0"/>
              <a:t>：产销平衡机制有待完善</a:t>
            </a:r>
          </a:p>
        </p:txBody>
      </p:sp>
      <p:sp>
        <p:nvSpPr>
          <p:cNvPr id="4" name="Line 5"/>
          <p:cNvSpPr>
            <a:spLocks noChangeShapeType="1"/>
          </p:cNvSpPr>
          <p:nvPr/>
        </p:nvSpPr>
        <p:spPr bwMode="auto">
          <a:xfrm>
            <a:off x="1430339" y="3403845"/>
            <a:ext cx="6284574" cy="1257"/>
          </a:xfrm>
          <a:prstGeom prst="line">
            <a:avLst/>
          </a:prstGeom>
          <a:noFill/>
          <a:ln w="38100"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5" name="Line 6"/>
          <p:cNvSpPr>
            <a:spLocks noChangeShapeType="1"/>
          </p:cNvSpPr>
          <p:nvPr/>
        </p:nvSpPr>
        <p:spPr bwMode="auto">
          <a:xfrm>
            <a:off x="3583793"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6" name="Line 7"/>
          <p:cNvSpPr>
            <a:spLocks noChangeShapeType="1"/>
          </p:cNvSpPr>
          <p:nvPr/>
        </p:nvSpPr>
        <p:spPr bwMode="auto">
          <a:xfrm>
            <a:off x="5544454"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9" name="Line 11"/>
          <p:cNvSpPr>
            <a:spLocks noChangeShapeType="1"/>
          </p:cNvSpPr>
          <p:nvPr/>
        </p:nvSpPr>
        <p:spPr bwMode="auto">
          <a:xfrm flipV="1">
            <a:off x="2268013"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0" name="Text Box 12"/>
          <p:cNvSpPr txBox="1">
            <a:spLocks noChangeArrowheads="1"/>
          </p:cNvSpPr>
          <p:nvPr/>
        </p:nvSpPr>
        <p:spPr bwMode="auto">
          <a:xfrm>
            <a:off x="325585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组织</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人员</a:t>
            </a:r>
          </a:p>
        </p:txBody>
      </p:sp>
      <p:sp>
        <p:nvSpPr>
          <p:cNvPr id="11" name="Text Box 13"/>
          <p:cNvSpPr txBox="1">
            <a:spLocks noChangeArrowheads="1"/>
          </p:cNvSpPr>
          <p:nvPr/>
        </p:nvSpPr>
        <p:spPr bwMode="auto">
          <a:xfrm>
            <a:off x="4423667"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en-US" altLang="zh-CN" sz="1400" b="1" dirty="0">
                <a:solidFill>
                  <a:srgbClr val="FFFFFF"/>
                </a:solidFill>
                <a:latin typeface="微软雅黑" panose="020B0503020204020204" charset="-122"/>
                <a:ea typeface="微软雅黑" panose="020B0503020204020204" charset="-122"/>
              </a:rPr>
              <a:t>IT</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13" name="Text Box 16"/>
          <p:cNvSpPr txBox="1">
            <a:spLocks noChangeArrowheads="1"/>
          </p:cNvSpPr>
          <p:nvPr/>
        </p:nvSpPr>
        <p:spPr bwMode="auto">
          <a:xfrm>
            <a:off x="515789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策略</a:t>
            </a:r>
          </a:p>
        </p:txBody>
      </p:sp>
      <p:sp>
        <p:nvSpPr>
          <p:cNvPr id="15" name="新月形 14"/>
          <p:cNvSpPr/>
          <p:nvPr/>
        </p:nvSpPr>
        <p:spPr bwMode="auto">
          <a:xfrm rot="10800000">
            <a:off x="857224" y="2891352"/>
            <a:ext cx="655876" cy="1026242"/>
          </a:xfrm>
          <a:prstGeom prst="moon">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6" name="流程图: 延期 15"/>
          <p:cNvSpPr/>
          <p:nvPr/>
        </p:nvSpPr>
        <p:spPr bwMode="auto">
          <a:xfrm>
            <a:off x="7714914" y="2891352"/>
            <a:ext cx="1189863" cy="1026242"/>
          </a:xfrm>
          <a:prstGeom prst="flowChartDelay">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r>
              <a:rPr lang="zh-CN" altLang="en-US" b="1" dirty="0">
                <a:solidFill>
                  <a:schemeClr val="bg1"/>
                </a:solidFill>
                <a:latin typeface="微软雅黑" panose="020B0503020204020204" charset="-122"/>
                <a:ea typeface="微软雅黑" panose="020B0503020204020204" charset="-122"/>
              </a:rPr>
              <a:t>产销平衡机制待完善</a:t>
            </a:r>
          </a:p>
        </p:txBody>
      </p:sp>
      <p:sp>
        <p:nvSpPr>
          <p:cNvPr id="17" name="Line 11"/>
          <p:cNvSpPr>
            <a:spLocks noChangeShapeType="1"/>
          </p:cNvSpPr>
          <p:nvPr/>
        </p:nvSpPr>
        <p:spPr bwMode="auto">
          <a:xfrm flipV="1">
            <a:off x="4934437"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8" name="Text Box 14"/>
          <p:cNvSpPr txBox="1">
            <a:spLocks noChangeArrowheads="1"/>
          </p:cNvSpPr>
          <p:nvPr/>
        </p:nvSpPr>
        <p:spPr bwMode="auto">
          <a:xfrm>
            <a:off x="2052388"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绩效</a:t>
            </a:r>
            <a:r>
              <a:rPr kumimoji="1" lang="en-US" altLang="zh-CN" sz="1400" b="1" dirty="0">
                <a:solidFill>
                  <a:srgbClr val="FFFFFF"/>
                </a:solidFill>
                <a:latin typeface="微软雅黑" panose="020B0503020204020204" charset="-122"/>
                <a:ea typeface="微软雅黑" panose="020B0503020204020204" charset="-122"/>
              </a:rPr>
              <a:t>/KPI</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23" name="AutoShape 21"/>
          <p:cNvSpPr/>
          <p:nvPr/>
        </p:nvSpPr>
        <p:spPr bwMode="auto">
          <a:xfrm>
            <a:off x="3844238" y="3797027"/>
            <a:ext cx="1520382" cy="470173"/>
          </a:xfrm>
          <a:prstGeom prst="borderCallout2">
            <a:avLst>
              <a:gd name="adj1" fmla="val 30000"/>
              <a:gd name="adj2" fmla="val -5861"/>
              <a:gd name="adj3" fmla="val 58571"/>
              <a:gd name="adj4" fmla="val -19523"/>
              <a:gd name="adj5" fmla="val 62705"/>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指标体系不完善，很多重要的产销存指标未纳入体系进行管理</a:t>
            </a:r>
          </a:p>
        </p:txBody>
      </p:sp>
      <p:sp>
        <p:nvSpPr>
          <p:cNvPr id="26" name="AutoShape 21"/>
          <p:cNvSpPr/>
          <p:nvPr/>
        </p:nvSpPr>
        <p:spPr bwMode="auto">
          <a:xfrm>
            <a:off x="6270070" y="1886392"/>
            <a:ext cx="1787878" cy="627922"/>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en-US" altLang="zh-CN" sz="1000" dirty="0">
                <a:latin typeface="微软雅黑" panose="020B0503020204020204" charset="-122"/>
                <a:ea typeface="微软雅黑" panose="020B0503020204020204" charset="-122"/>
              </a:rPr>
              <a:t>S&amp;OP</a:t>
            </a:r>
            <a:r>
              <a:rPr kumimoji="1" lang="zh-CN" altLang="en-US" sz="1000" dirty="0">
                <a:latin typeface="微软雅黑" panose="020B0503020204020204" charset="-122"/>
                <a:ea typeface="微软雅黑" panose="020B0503020204020204" charset="-122"/>
              </a:rPr>
              <a:t>体系还不完善，需结合计划模式设计相应的管理方式，如是否需要预备会、临时会、周度会等</a:t>
            </a:r>
          </a:p>
        </p:txBody>
      </p:sp>
      <p:sp>
        <p:nvSpPr>
          <p:cNvPr id="28" name="AutoShape 21"/>
          <p:cNvSpPr/>
          <p:nvPr/>
        </p:nvSpPr>
        <p:spPr bwMode="auto">
          <a:xfrm>
            <a:off x="4239669" y="1943316"/>
            <a:ext cx="1520382" cy="399094"/>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各业务部门对于中长期计划的重视度不够，更多侧重于短期执行</a:t>
            </a:r>
          </a:p>
        </p:txBody>
      </p:sp>
      <p:sp>
        <p:nvSpPr>
          <p:cNvPr id="35" name="Line 6"/>
          <p:cNvSpPr>
            <a:spLocks noChangeShapeType="1"/>
          </p:cNvSpPr>
          <p:nvPr/>
        </p:nvSpPr>
        <p:spPr bwMode="auto">
          <a:xfrm>
            <a:off x="1480991" y="1846331"/>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36" name="Text Box 12"/>
          <p:cNvSpPr txBox="1">
            <a:spLocks noChangeArrowheads="1"/>
          </p:cNvSpPr>
          <p:nvPr/>
        </p:nvSpPr>
        <p:spPr bwMode="auto">
          <a:xfrm>
            <a:off x="1243455" y="1478637"/>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管理</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流程</a:t>
            </a:r>
          </a:p>
        </p:txBody>
      </p:sp>
      <p:cxnSp>
        <p:nvCxnSpPr>
          <p:cNvPr id="47" name="直接连接符 46"/>
          <p:cNvCxnSpPr/>
          <p:nvPr/>
        </p:nvCxnSpPr>
        <p:spPr bwMode="auto">
          <a:xfrm>
            <a:off x="1785918"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8" name="直接连接符 47"/>
          <p:cNvCxnSpPr/>
          <p:nvPr/>
        </p:nvCxnSpPr>
        <p:spPr bwMode="auto">
          <a:xfrm>
            <a:off x="2481505" y="2643182"/>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9" name="直接连接符 48"/>
          <p:cNvCxnSpPr/>
          <p:nvPr/>
        </p:nvCxnSpPr>
        <p:spPr bwMode="auto">
          <a:xfrm>
            <a:off x="3901513"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0" name="直接连接符 49"/>
          <p:cNvCxnSpPr/>
          <p:nvPr/>
        </p:nvCxnSpPr>
        <p:spPr bwMode="auto">
          <a:xfrm>
            <a:off x="4454544"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1" name="直接连接符 50"/>
          <p:cNvCxnSpPr/>
          <p:nvPr/>
        </p:nvCxnSpPr>
        <p:spPr bwMode="auto">
          <a:xfrm>
            <a:off x="5880369"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3" name="直接连接符 52"/>
          <p:cNvCxnSpPr/>
          <p:nvPr/>
        </p:nvCxnSpPr>
        <p:spPr bwMode="auto">
          <a:xfrm>
            <a:off x="3491888" y="3936787"/>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4" name="直接连接符 53"/>
          <p:cNvCxnSpPr/>
          <p:nvPr/>
        </p:nvCxnSpPr>
        <p:spPr bwMode="auto">
          <a:xfrm>
            <a:off x="2861320" y="448788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5" name="直接连接符 54"/>
          <p:cNvCxnSpPr/>
          <p:nvPr/>
        </p:nvCxnSpPr>
        <p:spPr bwMode="auto">
          <a:xfrm>
            <a:off x="5960550" y="407456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44" name="矩形 4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、策略：结合计划模式，建立</a:t>
            </a:r>
            <a:r>
              <a:rPr lang="en-US" altLang="zh-CN" sz="1200" b="1" dirty="0">
                <a:latin typeface="微软雅黑" panose="020B0503020204020204" charset="-122"/>
                <a:ea typeface="微软雅黑" panose="020B0503020204020204" charset="-122"/>
              </a:rPr>
              <a:t>S&amp;OP</a:t>
            </a:r>
            <a:r>
              <a:rPr lang="zh-CN" altLang="en-US" sz="1200" b="1" dirty="0">
                <a:latin typeface="微软雅黑" panose="020B0503020204020204" charset="-122"/>
                <a:ea typeface="微软雅黑" panose="020B0503020204020204" charset="-122"/>
              </a:rPr>
              <a:t>体系</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、组织</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人员：梳理</a:t>
            </a:r>
            <a:r>
              <a:rPr lang="en-US" altLang="zh-CN" sz="1200" dirty="0">
                <a:latin typeface="微软雅黑" panose="020B0503020204020204" charset="-122"/>
                <a:ea typeface="微软雅黑" panose="020B0503020204020204" charset="-122"/>
              </a:rPr>
              <a:t>S&amp;OP</a:t>
            </a:r>
            <a:r>
              <a:rPr lang="zh-CN" altLang="en-US" sz="1200" dirty="0">
                <a:latin typeface="微软雅黑" panose="020B0503020204020204" charset="-122"/>
                <a:ea typeface="微软雅黑" panose="020B0503020204020204" charset="-122"/>
              </a:rPr>
              <a:t>体系中各业务部门的</a:t>
            </a:r>
            <a:r>
              <a:rPr lang="zh-CN" altLang="en-US" sz="1200" b="1" dirty="0">
                <a:latin typeface="微软雅黑" panose="020B0503020204020204" charset="-122"/>
                <a:ea typeface="微软雅黑" panose="020B0503020204020204" charset="-122"/>
              </a:rPr>
              <a:t>职能分工与职责</a:t>
            </a:r>
            <a:r>
              <a:rPr lang="zh-CN" altLang="en-US" sz="1200" dirty="0">
                <a:latin typeface="微软雅黑" panose="020B0503020204020204" charset="-122"/>
                <a:ea typeface="微软雅黑" panose="020B0503020204020204" charset="-122"/>
              </a:rPr>
              <a:t>，并加强</a:t>
            </a:r>
            <a:r>
              <a:rPr lang="zh-CN" altLang="en-US" sz="1200" b="1" dirty="0">
                <a:latin typeface="微软雅黑" panose="020B0503020204020204" charset="-122"/>
                <a:ea typeface="微软雅黑" panose="020B0503020204020204" charset="-122"/>
              </a:rPr>
              <a:t>宣贯与培训</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、管理</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流程：梳理</a:t>
            </a:r>
            <a:r>
              <a:rPr lang="en-US" altLang="zh-CN" sz="1200" b="1" dirty="0">
                <a:latin typeface="微软雅黑" panose="020B0503020204020204" charset="-122"/>
                <a:ea typeface="微软雅黑" panose="020B0503020204020204" charset="-122"/>
              </a:rPr>
              <a:t>S&amp;OP</a:t>
            </a:r>
            <a:r>
              <a:rPr lang="zh-CN" altLang="en-US" sz="1200" b="1" dirty="0">
                <a:latin typeface="微软雅黑" panose="020B0503020204020204" charset="-122"/>
                <a:ea typeface="微软雅黑" panose="020B0503020204020204" charset="-122"/>
              </a:rPr>
              <a:t>会议机制</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；梳理</a:t>
            </a:r>
            <a:r>
              <a:rPr lang="en-US" altLang="zh-CN" sz="1200" b="1" dirty="0">
                <a:latin typeface="微软雅黑" panose="020B0503020204020204" charset="-122"/>
                <a:ea typeface="微软雅黑" panose="020B0503020204020204" charset="-122"/>
              </a:rPr>
              <a:t>S&amp;OP</a:t>
            </a:r>
            <a:r>
              <a:rPr lang="zh-CN" altLang="en-US" sz="1200" b="1" dirty="0">
                <a:latin typeface="微软雅黑" panose="020B0503020204020204" charset="-122"/>
                <a:ea typeface="微软雅黑" panose="020B0503020204020204" charset="-122"/>
              </a:rPr>
              <a:t>运营流程</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、绩效</a:t>
            </a:r>
            <a:r>
              <a:rPr lang="en-US" altLang="zh-CN" sz="1200"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 梳理产销协同的</a:t>
            </a:r>
            <a:r>
              <a:rPr lang="en-US" altLang="zh-CN" sz="1200" b="1" dirty="0">
                <a:latin typeface="微软雅黑" panose="020B0503020204020204" charset="-122"/>
                <a:ea typeface="微软雅黑" panose="020B0503020204020204" charset="-122"/>
              </a:rPr>
              <a:t>KPI</a:t>
            </a:r>
            <a:r>
              <a:rPr lang="zh-CN" altLang="en-US" sz="1200" b="1" dirty="0">
                <a:latin typeface="微软雅黑" panose="020B0503020204020204" charset="-122"/>
                <a:ea typeface="微软雅黑" panose="020B0503020204020204" charset="-122"/>
              </a:rPr>
              <a:t>体系</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详细蓝图设计］；发布</a:t>
            </a:r>
            <a:r>
              <a:rPr lang="zh-CN" altLang="en-US" sz="1200" b="1" dirty="0">
                <a:latin typeface="微软雅黑" panose="020B0503020204020204" charset="-122"/>
                <a:ea typeface="微软雅黑" panose="020B0503020204020204" charset="-122"/>
              </a:rPr>
              <a:t>考核制度</a:t>
            </a:r>
            <a:r>
              <a:rPr lang="zh-CN" altLang="en-US" sz="1200" dirty="0">
                <a:latin typeface="微软雅黑" panose="020B0503020204020204" charset="-122"/>
                <a:ea typeface="微软雅黑" panose="020B0503020204020204" charset="-122"/>
              </a:rPr>
              <a:t>［x团队推进］</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：设计并开发</a:t>
            </a:r>
            <a:r>
              <a:rPr lang="en-US" altLang="zh-CN" sz="1200" dirty="0">
                <a:latin typeface="微软雅黑" panose="020B0503020204020204" charset="-122"/>
                <a:ea typeface="微软雅黑" panose="020B0503020204020204" charset="-122"/>
              </a:rPr>
              <a:t>S&amp;OP</a:t>
            </a:r>
            <a:r>
              <a:rPr lang="zh-CN" altLang="en-US" sz="1200" dirty="0">
                <a:latin typeface="微软雅黑" panose="020B0503020204020204" charset="-122"/>
                <a:ea typeface="微软雅黑" panose="020B0503020204020204" charset="-122"/>
              </a:rPr>
              <a:t>所需的分析报表［</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系统实施］ </a:t>
            </a:r>
          </a:p>
        </p:txBody>
      </p:sp>
      <p:sp>
        <p:nvSpPr>
          <p:cNvPr id="42" name="矩形 41"/>
          <p:cNvSpPr/>
          <p:nvPr/>
        </p:nvSpPr>
        <p:spPr bwMode="auto">
          <a:xfrm>
            <a:off x="214282" y="1385430"/>
            <a:ext cx="500066" cy="4068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根因分析</a:t>
            </a:r>
          </a:p>
        </p:txBody>
      </p:sp>
      <p:sp>
        <p:nvSpPr>
          <p:cNvPr id="43" name="矩形 4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改进方向</a:t>
            </a:r>
          </a:p>
        </p:txBody>
      </p:sp>
      <p:sp>
        <p:nvSpPr>
          <p:cNvPr id="46" name="矩形 45"/>
          <p:cNvSpPr/>
          <p:nvPr/>
        </p:nvSpPr>
        <p:spPr bwMode="auto">
          <a:xfrm>
            <a:off x="785786" y="1385430"/>
            <a:ext cx="8172000" cy="4068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45" name="AutoShape 21"/>
          <p:cNvSpPr/>
          <p:nvPr/>
        </p:nvSpPr>
        <p:spPr bwMode="auto">
          <a:xfrm>
            <a:off x="2143108" y="1942810"/>
            <a:ext cx="1500198" cy="486058"/>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产销平衡会议机制不完善，包括时间、议题、模板等</a:t>
            </a:r>
          </a:p>
        </p:txBody>
      </p:sp>
      <p:sp>
        <p:nvSpPr>
          <p:cNvPr id="58" name="AutoShape 21"/>
          <p:cNvSpPr/>
          <p:nvPr/>
        </p:nvSpPr>
        <p:spPr bwMode="auto">
          <a:xfrm>
            <a:off x="4766130" y="2414354"/>
            <a:ext cx="1520382" cy="514580"/>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各业务环节对风险识别的能力不足，包括供应风险、产能风险等</a:t>
            </a:r>
          </a:p>
        </p:txBody>
      </p:sp>
      <p:sp>
        <p:nvSpPr>
          <p:cNvPr id="59" name="AutoShape 21"/>
          <p:cNvSpPr/>
          <p:nvPr/>
        </p:nvSpPr>
        <p:spPr bwMode="auto">
          <a:xfrm>
            <a:off x="2829592" y="2514314"/>
            <a:ext cx="1500198" cy="486058"/>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从需求计划提报到生产计划确定的流程还需进一步明确</a:t>
            </a:r>
          </a:p>
        </p:txBody>
      </p:sp>
      <p:sp>
        <p:nvSpPr>
          <p:cNvPr id="60" name="AutoShape 21"/>
          <p:cNvSpPr/>
          <p:nvPr/>
        </p:nvSpPr>
        <p:spPr bwMode="auto">
          <a:xfrm>
            <a:off x="6294224" y="3958600"/>
            <a:ext cx="1520382" cy="470532"/>
          </a:xfrm>
          <a:prstGeom prst="borderCallout2">
            <a:avLst>
              <a:gd name="adj1" fmla="val 30000"/>
              <a:gd name="adj2" fmla="val -5861"/>
              <a:gd name="adj3" fmla="val 58571"/>
              <a:gd name="adj4" fmla="val -19523"/>
              <a:gd name="adj5" fmla="val 62705"/>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缺少指标对应的系统报表，需要人工统计分析，工作量大，效率低</a:t>
            </a:r>
          </a:p>
        </p:txBody>
      </p:sp>
      <p:sp>
        <p:nvSpPr>
          <p:cNvPr id="61" name="AutoShape 21"/>
          <p:cNvSpPr/>
          <p:nvPr/>
        </p:nvSpPr>
        <p:spPr bwMode="auto">
          <a:xfrm>
            <a:off x="3172268" y="4328666"/>
            <a:ext cx="1520382" cy="470173"/>
          </a:xfrm>
          <a:prstGeom prst="borderCallout2">
            <a:avLst>
              <a:gd name="adj1" fmla="val 30000"/>
              <a:gd name="adj2" fmla="val -5861"/>
              <a:gd name="adj3" fmla="val 58571"/>
              <a:gd name="adj4" fmla="val -19523"/>
              <a:gd name="adj5" fmla="val 62705"/>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对相关责任部门的考核力度不够，难以有效驱动指标提升与业务改善</a:t>
            </a:r>
          </a:p>
        </p:txBody>
      </p:sp>
      <p:sp>
        <p:nvSpPr>
          <p:cNvPr id="40"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41"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52"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56"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57"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Q4</a:t>
            </a:r>
            <a:r>
              <a:rPr lang="zh-CN" altLang="en-US" dirty="0"/>
              <a:t>：</a:t>
            </a:r>
            <a:r>
              <a:rPr dirty="0"/>
              <a:t>3</a:t>
            </a:r>
            <a:r>
              <a:rPr lang="zh-CN" altLang="en-US" dirty="0"/>
              <a:t>日锁定计划难以真正锁定，影响生产稳定性</a:t>
            </a:r>
          </a:p>
        </p:txBody>
      </p:sp>
      <p:sp>
        <p:nvSpPr>
          <p:cNvPr id="9" name="TextBox 8"/>
          <p:cNvSpPr txBox="1"/>
          <p:nvPr/>
        </p:nvSpPr>
        <p:spPr bwMode="auto">
          <a:xfrm>
            <a:off x="214281" y="1386000"/>
            <a:ext cx="8739555" cy="50040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a:ln>
          <a:effectLst/>
        </p:spPr>
        <p:txBody>
          <a:bodyPr rtlCol="0" anchor="ctr"/>
          <a:lstStyle>
            <a:defPPr>
              <a:defRPr lang="zh-CN"/>
            </a:defPPr>
            <a:lvl1pPr algn="ctr" fontAlgn="auto">
              <a:spcBef>
                <a:spcPts val="0"/>
              </a:spcBef>
              <a:spcAft>
                <a:spcPts val="0"/>
              </a:spcAft>
              <a:defRPr sz="1600" b="1">
                <a:solidFill>
                  <a:schemeClr val="bg2"/>
                </a:solidFill>
                <a:latin typeface="微软雅黑" panose="020B0503020204020204" charset="-122"/>
                <a:ea typeface="微软雅黑" panose="020B0503020204020204" charset="-122"/>
              </a:defRPr>
            </a:lvl1pPr>
          </a:lstStyle>
          <a:p>
            <a:pPr fontAlgn="base">
              <a:spcBef>
                <a:spcPct val="0"/>
              </a:spcBef>
              <a:spcAft>
                <a:spcPct val="0"/>
              </a:spcAft>
            </a:pPr>
            <a:r>
              <a:rPr lang="zh-CN" altLang="en-US" sz="1400" dirty="0">
                <a:solidFill>
                  <a:schemeClr val="tx1"/>
                </a:solidFill>
              </a:rPr>
              <a:t>问题描述</a:t>
            </a:r>
            <a:endParaRPr lang="en-US" altLang="en-US" sz="1400" dirty="0">
              <a:solidFill>
                <a:schemeClr val="tx1"/>
              </a:solidFill>
            </a:endParaRPr>
          </a:p>
        </p:txBody>
      </p:sp>
      <p:sp>
        <p:nvSpPr>
          <p:cNvPr id="10" name="矩形 9"/>
          <p:cNvSpPr/>
          <p:nvPr/>
        </p:nvSpPr>
        <p:spPr bwMode="auto">
          <a:xfrm>
            <a:off x="214282" y="1949964"/>
            <a:ext cx="8739218" cy="349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13" name="矩形 1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业务影响</a:t>
            </a:r>
          </a:p>
        </p:txBody>
      </p:sp>
      <p:sp>
        <p:nvSpPr>
          <p:cNvPr id="14" name="矩形 1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marL="266700" indent="-266700"/>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日锁定计划的调整影响供应商</a:t>
            </a:r>
            <a:r>
              <a:rPr lang="zh-CN" altLang="en-US" sz="1200" b="1" dirty="0">
                <a:latin typeface="微软雅黑" panose="020B0503020204020204" charset="-122"/>
                <a:ea typeface="微软雅黑" panose="020B0503020204020204" charset="-122"/>
              </a:rPr>
              <a:t>及时准确配送</a:t>
            </a:r>
            <a:r>
              <a:rPr lang="zh-CN" altLang="en-US" sz="1200" dirty="0">
                <a:latin typeface="微软雅黑" panose="020B0503020204020204" charset="-122"/>
                <a:ea typeface="微软雅黑" panose="020B0503020204020204" charset="-122"/>
              </a:rPr>
              <a:t>，易造成</a:t>
            </a:r>
            <a:r>
              <a:rPr lang="zh-CN" altLang="en-US" sz="1200" b="1" dirty="0">
                <a:latin typeface="微软雅黑" panose="020B0503020204020204" charset="-122"/>
                <a:ea typeface="微软雅黑" panose="020B0503020204020204" charset="-122"/>
              </a:rPr>
              <a:t>缺件</a:t>
            </a:r>
            <a:r>
              <a:rPr lang="zh-CN" altLang="en-US" sz="1200" dirty="0">
                <a:latin typeface="微软雅黑" panose="020B0503020204020204" charset="-122"/>
                <a:ea typeface="微软雅黑" panose="020B0503020204020204" charset="-122"/>
              </a:rPr>
              <a:t>问题，降低</a:t>
            </a:r>
            <a:r>
              <a:rPr lang="zh-CN" altLang="en-US" sz="1200" b="1" dirty="0">
                <a:latin typeface="微软雅黑" panose="020B0503020204020204" charset="-122"/>
                <a:ea typeface="微软雅黑" panose="020B0503020204020204" charset="-122"/>
              </a:rPr>
              <a:t>生产稳定运行</a:t>
            </a:r>
            <a:endParaRPr lang="en-US" altLang="zh-CN" sz="1200" dirty="0">
              <a:latin typeface="微软雅黑" panose="020B0503020204020204" charset="-122"/>
              <a:ea typeface="微软雅黑" panose="020B0503020204020204" charset="-122"/>
            </a:endParaRPr>
          </a:p>
          <a:p>
            <a:pPr marL="266700" indent="-266700"/>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日锁定计划的调整影响订单的及时交付，不论紧急订单原因还是缺件原因，已经排定好的订单生产计划都会被打乱，不能满足的订单需要</a:t>
            </a:r>
            <a:r>
              <a:rPr lang="zh-CN" altLang="en-US" sz="1200" b="1" dirty="0">
                <a:latin typeface="微软雅黑" panose="020B0503020204020204" charset="-122"/>
                <a:ea typeface="微软雅黑" panose="020B0503020204020204" charset="-122"/>
              </a:rPr>
              <a:t>延期生产并交付</a:t>
            </a:r>
            <a:r>
              <a:rPr lang="zh-CN" altLang="en-US" sz="1200" dirty="0">
                <a:latin typeface="微软雅黑" panose="020B0503020204020204" charset="-122"/>
                <a:ea typeface="微软雅黑" panose="020B0503020204020204" charset="-122"/>
              </a:rPr>
              <a:t>，降低</a:t>
            </a:r>
            <a:r>
              <a:rPr lang="zh-CN" altLang="en-US" sz="1200" b="1" dirty="0">
                <a:latin typeface="微软雅黑" panose="020B0503020204020204" charset="-122"/>
                <a:ea typeface="微软雅黑" panose="020B0503020204020204" charset="-122"/>
              </a:rPr>
              <a:t>代理商或客户满意度</a:t>
            </a:r>
          </a:p>
        </p:txBody>
      </p:sp>
      <p:sp>
        <p:nvSpPr>
          <p:cNvPr id="20" name="TextBox 19"/>
          <p:cNvSpPr txBox="1"/>
          <p:nvPr/>
        </p:nvSpPr>
        <p:spPr bwMode="auto">
          <a:xfrm>
            <a:off x="285720" y="2059085"/>
            <a:ext cx="2571768" cy="3293209"/>
          </a:xfrm>
          <a:prstGeom prst="rect">
            <a:avLst/>
          </a:prstGeom>
          <a:noFill/>
          <a:ln>
            <a:noFill/>
          </a:ln>
        </p:spPr>
        <p:txBody>
          <a:bodyPr wrap="square" rtlCol="0">
            <a:spAutoFit/>
          </a:bodyPr>
          <a:lstStyle/>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目前供应商配送以及工厂生产主要依靠</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3+2</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滚动计划来推动，其中，</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天为锁定计划，</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天为预测计划，但是受计划外紧急订单以及零部件缺件影响，</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3</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天锁定计划经常需要调整</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，难以真正的锁定，影响了供应商及时配送，降低了生产稳定运行</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从去年总体数据来看，</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日上线计划准确率总体为</a:t>
            </a:r>
            <a:r>
              <a:rPr kumimoji="1" lang="en-US" altLang="zh-CN" sz="1200" dirty="0">
                <a:latin typeface="微软雅黑" panose="020B0503020204020204" charset="-122"/>
                <a:ea typeface="微软雅黑" panose="020B0503020204020204" charset="-122"/>
                <a:cs typeface="微软雅黑" panose="020B0503020204020204" charset="-122"/>
              </a:rPr>
              <a:t>74%</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，相当于</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26%</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的变更</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锁定难度大</a:t>
            </a:r>
            <a:endPar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endParaRPr>
          </a:p>
          <a:p>
            <a:pPr marL="17780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从三挖各自的数据分别来看，大挖</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56%</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，中挖</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78%</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，小挖</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87%</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小挖相对容易锁定，大挖锁定难度较大</a:t>
            </a:r>
            <a:endPar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4" name="TextBox 23"/>
          <p:cNvSpPr txBox="1"/>
          <p:nvPr/>
        </p:nvSpPr>
        <p:spPr bwMode="auto">
          <a:xfrm>
            <a:off x="4013196" y="2143116"/>
            <a:ext cx="3251253" cy="307777"/>
          </a:xfrm>
          <a:prstGeom prst="rect">
            <a:avLst/>
          </a:prstGeom>
          <a:noFill/>
          <a:ln>
            <a:noFill/>
          </a:ln>
        </p:spPr>
        <p:txBody>
          <a:bodyPr wrap="square" lIns="0" rIns="0" rtlCol="0">
            <a:spAutoFit/>
          </a:bodyPr>
          <a:lstStyle/>
          <a:p>
            <a:pPr algn="ct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日上线计划准确率（</a:t>
            </a: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5" name="TextBox 24"/>
          <p:cNvSpPr txBox="1"/>
          <p:nvPr/>
        </p:nvSpPr>
        <p:spPr bwMode="auto">
          <a:xfrm>
            <a:off x="8143900" y="3143248"/>
            <a:ext cx="642942" cy="830997"/>
          </a:xfrm>
          <a:prstGeom prst="rect">
            <a:avLst/>
          </a:prstGeom>
          <a:noFill/>
          <a:ln>
            <a:noFill/>
          </a:ln>
        </p:spPr>
        <p:txBody>
          <a:bodyPr wrap="square" lIns="0" rIns="0"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56%</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78%</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87%</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总：</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74%</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zh-CN" altLang="en-US" sz="1200" b="0" dirty="0">
              <a:solidFill>
                <a:srgbClr val="FF0000"/>
              </a:solidFill>
              <a:latin typeface="微软雅黑" panose="020B0503020204020204" charset="-122"/>
              <a:ea typeface="微软雅黑" panose="020B0503020204020204" charset="-122"/>
              <a:cs typeface="微软雅黑" panose="020B0503020204020204" charset="-122"/>
            </a:endParaRPr>
          </a:p>
        </p:txBody>
      </p:sp>
      <p:graphicFrame>
        <p:nvGraphicFramePr>
          <p:cNvPr id="12" name="图表 11"/>
          <p:cNvGraphicFramePr/>
          <p:nvPr/>
        </p:nvGraphicFramePr>
        <p:xfrm>
          <a:off x="2786050" y="2428868"/>
          <a:ext cx="5286412" cy="2643206"/>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p:cNvSpPr txBox="1"/>
          <p:nvPr/>
        </p:nvSpPr>
        <p:spPr bwMode="auto">
          <a:xfrm>
            <a:off x="3000364" y="5203075"/>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日上线计划准确率），项目组分析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21"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22"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23"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26"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Q4</a:t>
            </a:r>
            <a:r>
              <a:rPr lang="zh-CN" altLang="en-US" dirty="0"/>
              <a:t>：</a:t>
            </a:r>
            <a:r>
              <a:rPr dirty="0"/>
              <a:t>3</a:t>
            </a:r>
            <a:r>
              <a:rPr lang="zh-CN" altLang="en-US" dirty="0"/>
              <a:t>日锁定计划难以真正锁定，影响生产稳定性</a:t>
            </a:r>
          </a:p>
        </p:txBody>
      </p:sp>
      <p:sp>
        <p:nvSpPr>
          <p:cNvPr id="4" name="Line 5"/>
          <p:cNvSpPr>
            <a:spLocks noChangeShapeType="1"/>
          </p:cNvSpPr>
          <p:nvPr/>
        </p:nvSpPr>
        <p:spPr bwMode="auto">
          <a:xfrm>
            <a:off x="1430339" y="3403845"/>
            <a:ext cx="6284574" cy="1257"/>
          </a:xfrm>
          <a:prstGeom prst="line">
            <a:avLst/>
          </a:prstGeom>
          <a:noFill/>
          <a:ln w="38100"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5" name="Line 6"/>
          <p:cNvSpPr>
            <a:spLocks noChangeShapeType="1"/>
          </p:cNvSpPr>
          <p:nvPr/>
        </p:nvSpPr>
        <p:spPr bwMode="auto">
          <a:xfrm>
            <a:off x="3583793"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6" name="Line 7"/>
          <p:cNvSpPr>
            <a:spLocks noChangeShapeType="1"/>
          </p:cNvSpPr>
          <p:nvPr/>
        </p:nvSpPr>
        <p:spPr bwMode="auto">
          <a:xfrm>
            <a:off x="5544454"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9" name="Line 11"/>
          <p:cNvSpPr>
            <a:spLocks noChangeShapeType="1"/>
          </p:cNvSpPr>
          <p:nvPr/>
        </p:nvSpPr>
        <p:spPr bwMode="auto">
          <a:xfrm flipV="1">
            <a:off x="2268013"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0" name="Text Box 12"/>
          <p:cNvSpPr txBox="1">
            <a:spLocks noChangeArrowheads="1"/>
          </p:cNvSpPr>
          <p:nvPr/>
        </p:nvSpPr>
        <p:spPr bwMode="auto">
          <a:xfrm>
            <a:off x="325585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组织</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人员</a:t>
            </a:r>
          </a:p>
        </p:txBody>
      </p:sp>
      <p:sp>
        <p:nvSpPr>
          <p:cNvPr id="11" name="Text Box 13"/>
          <p:cNvSpPr txBox="1">
            <a:spLocks noChangeArrowheads="1"/>
          </p:cNvSpPr>
          <p:nvPr/>
        </p:nvSpPr>
        <p:spPr bwMode="auto">
          <a:xfrm>
            <a:off x="4423667"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en-US" altLang="zh-CN" sz="1400" b="1" dirty="0">
                <a:solidFill>
                  <a:srgbClr val="FFFFFF"/>
                </a:solidFill>
                <a:latin typeface="微软雅黑" panose="020B0503020204020204" charset="-122"/>
                <a:ea typeface="微软雅黑" panose="020B0503020204020204" charset="-122"/>
              </a:rPr>
              <a:t>IT</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13" name="Text Box 16"/>
          <p:cNvSpPr txBox="1">
            <a:spLocks noChangeArrowheads="1"/>
          </p:cNvSpPr>
          <p:nvPr/>
        </p:nvSpPr>
        <p:spPr bwMode="auto">
          <a:xfrm>
            <a:off x="515789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策略</a:t>
            </a:r>
          </a:p>
        </p:txBody>
      </p:sp>
      <p:sp>
        <p:nvSpPr>
          <p:cNvPr id="15" name="新月形 14"/>
          <p:cNvSpPr/>
          <p:nvPr/>
        </p:nvSpPr>
        <p:spPr bwMode="auto">
          <a:xfrm rot="10800000">
            <a:off x="857224" y="2891352"/>
            <a:ext cx="655876" cy="1026242"/>
          </a:xfrm>
          <a:prstGeom prst="moon">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6" name="流程图: 延期 15"/>
          <p:cNvSpPr/>
          <p:nvPr/>
        </p:nvSpPr>
        <p:spPr bwMode="auto">
          <a:xfrm>
            <a:off x="7714914" y="2891352"/>
            <a:ext cx="1189863" cy="1026242"/>
          </a:xfrm>
          <a:prstGeom prst="flowChartDelay">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r>
              <a:rPr lang="zh-CN" altLang="en-US" b="1" dirty="0">
                <a:solidFill>
                  <a:schemeClr val="bg1"/>
                </a:solidFill>
                <a:latin typeface="微软雅黑" panose="020B0503020204020204" charset="-122"/>
                <a:ea typeface="微软雅黑" panose="020B0503020204020204" charset="-122"/>
              </a:rPr>
              <a:t>锁定计划未真正锁定</a:t>
            </a:r>
          </a:p>
        </p:txBody>
      </p:sp>
      <p:sp>
        <p:nvSpPr>
          <p:cNvPr id="17" name="Line 11"/>
          <p:cNvSpPr>
            <a:spLocks noChangeShapeType="1"/>
          </p:cNvSpPr>
          <p:nvPr/>
        </p:nvSpPr>
        <p:spPr bwMode="auto">
          <a:xfrm flipV="1">
            <a:off x="4934437"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8" name="Text Box 14"/>
          <p:cNvSpPr txBox="1">
            <a:spLocks noChangeArrowheads="1"/>
          </p:cNvSpPr>
          <p:nvPr/>
        </p:nvSpPr>
        <p:spPr bwMode="auto">
          <a:xfrm>
            <a:off x="2052388"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绩效</a:t>
            </a:r>
            <a:r>
              <a:rPr kumimoji="1" lang="en-US" altLang="zh-CN" sz="1400" b="1" dirty="0">
                <a:solidFill>
                  <a:srgbClr val="FFFFFF"/>
                </a:solidFill>
                <a:latin typeface="微软雅黑" panose="020B0503020204020204" charset="-122"/>
                <a:ea typeface="微软雅黑" panose="020B0503020204020204" charset="-122"/>
              </a:rPr>
              <a:t>/KPI</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28" name="AutoShape 21"/>
          <p:cNvSpPr/>
          <p:nvPr/>
        </p:nvSpPr>
        <p:spPr bwMode="auto">
          <a:xfrm>
            <a:off x="4239669" y="1895464"/>
            <a:ext cx="1520382" cy="500066"/>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对锁定期计划变更的影响力认识不够，缺少足够的重视</a:t>
            </a:r>
          </a:p>
        </p:txBody>
      </p:sp>
      <p:sp>
        <p:nvSpPr>
          <p:cNvPr id="35" name="Line 6"/>
          <p:cNvSpPr>
            <a:spLocks noChangeShapeType="1"/>
          </p:cNvSpPr>
          <p:nvPr/>
        </p:nvSpPr>
        <p:spPr bwMode="auto">
          <a:xfrm>
            <a:off x="1480991" y="1846331"/>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36" name="Text Box 12"/>
          <p:cNvSpPr txBox="1">
            <a:spLocks noChangeArrowheads="1"/>
          </p:cNvSpPr>
          <p:nvPr/>
        </p:nvSpPr>
        <p:spPr bwMode="auto">
          <a:xfrm>
            <a:off x="1243455" y="1478637"/>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管理</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流程</a:t>
            </a:r>
          </a:p>
        </p:txBody>
      </p:sp>
      <p:sp>
        <p:nvSpPr>
          <p:cNvPr id="37" name="AutoShape 21"/>
          <p:cNvSpPr/>
          <p:nvPr/>
        </p:nvSpPr>
        <p:spPr bwMode="auto">
          <a:xfrm>
            <a:off x="2192659" y="1870064"/>
            <a:ext cx="1520382" cy="500066"/>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计划外紧急订单较多，缺少订单规则（如锁定期变更的例外规则）</a:t>
            </a:r>
          </a:p>
        </p:txBody>
      </p:sp>
      <p:cxnSp>
        <p:nvCxnSpPr>
          <p:cNvPr id="47" name="直接连接符 46"/>
          <p:cNvCxnSpPr/>
          <p:nvPr/>
        </p:nvCxnSpPr>
        <p:spPr bwMode="auto">
          <a:xfrm>
            <a:off x="1857356"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9" name="直接连接符 48"/>
          <p:cNvCxnSpPr/>
          <p:nvPr/>
        </p:nvCxnSpPr>
        <p:spPr bwMode="auto">
          <a:xfrm>
            <a:off x="3898578"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3" name="直接连接符 52"/>
          <p:cNvCxnSpPr/>
          <p:nvPr/>
        </p:nvCxnSpPr>
        <p:spPr bwMode="auto">
          <a:xfrm>
            <a:off x="3535430" y="3936787"/>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4" name="直接连接符 53"/>
          <p:cNvCxnSpPr/>
          <p:nvPr/>
        </p:nvCxnSpPr>
        <p:spPr bwMode="auto">
          <a:xfrm>
            <a:off x="2861320" y="448788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5" name="直接连接符 54"/>
          <p:cNvCxnSpPr/>
          <p:nvPr/>
        </p:nvCxnSpPr>
        <p:spPr bwMode="auto">
          <a:xfrm>
            <a:off x="5989578" y="407456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6" name="直接连接符 55"/>
          <p:cNvCxnSpPr/>
          <p:nvPr/>
        </p:nvCxnSpPr>
        <p:spPr bwMode="auto">
          <a:xfrm>
            <a:off x="5490350" y="4556767"/>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44" name="矩形 4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策略</a:t>
            </a:r>
            <a:r>
              <a:rPr lang="zh-CN" altLang="en-US" sz="1200" dirty="0">
                <a:latin typeface="微软雅黑" panose="020B0503020204020204" charset="-122"/>
                <a:ea typeface="微软雅黑" panose="020B0503020204020204" charset="-122"/>
              </a:rPr>
              <a:t>：明确</a:t>
            </a:r>
            <a:r>
              <a:rPr lang="zh-CN" altLang="en-US" sz="1200" b="1" dirty="0">
                <a:latin typeface="微软雅黑" panose="020B0503020204020204" charset="-122"/>
                <a:ea typeface="微软雅黑" panose="020B0503020204020204" charset="-122"/>
              </a:rPr>
              <a:t>订单生产方式</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3+2</a:t>
            </a:r>
            <a:r>
              <a:rPr lang="zh-CN" altLang="en-US" sz="1200" dirty="0">
                <a:latin typeface="微软雅黑" panose="020B0503020204020204" charset="-122"/>
                <a:ea typeface="微软雅黑" panose="020B0503020204020204" charset="-122"/>
              </a:rPr>
              <a:t>滚动计划）的运行要求，并在内部形成共识［</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组织</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人员</a:t>
            </a:r>
            <a:r>
              <a:rPr lang="zh-CN" altLang="en-US" sz="1200" dirty="0">
                <a:latin typeface="微软雅黑" panose="020B0503020204020204" charset="-122"/>
                <a:ea typeface="微软雅黑" panose="020B0503020204020204" charset="-122"/>
              </a:rPr>
              <a:t>：明确锁定计划变更的</a:t>
            </a:r>
            <a:r>
              <a:rPr lang="zh-CN" altLang="en-US" sz="1200" b="1" dirty="0">
                <a:latin typeface="微软雅黑" panose="020B0503020204020204" charset="-122"/>
                <a:ea typeface="微软雅黑" panose="020B0503020204020204" charset="-122"/>
              </a:rPr>
              <a:t>责任组织及职责</a:t>
            </a:r>
            <a:r>
              <a:rPr lang="zh-CN" altLang="en-US" sz="1200" dirty="0">
                <a:latin typeface="微软雅黑" panose="020B0503020204020204" charset="-122"/>
                <a:ea typeface="微软雅黑" panose="020B0503020204020204" charset="-122"/>
              </a:rPr>
              <a:t> ，对订单生产方式进行</a:t>
            </a:r>
            <a:r>
              <a:rPr lang="zh-CN" altLang="en-US" sz="1200" b="1" dirty="0">
                <a:latin typeface="微软雅黑" panose="020B0503020204020204" charset="-122"/>
                <a:ea typeface="微软雅黑" panose="020B0503020204020204" charset="-122"/>
              </a:rPr>
              <a:t>宣贯和培训</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管理</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流程</a:t>
            </a:r>
            <a:r>
              <a:rPr lang="zh-CN" altLang="en-US" sz="1200" dirty="0">
                <a:latin typeface="微软雅黑" panose="020B0503020204020204" charset="-122"/>
                <a:ea typeface="微软雅黑" panose="020B0503020204020204" charset="-122"/>
              </a:rPr>
              <a:t>：梳理</a:t>
            </a:r>
            <a:r>
              <a:rPr lang="zh-CN" altLang="en-US" sz="1200" b="1" dirty="0">
                <a:latin typeface="微软雅黑" panose="020B0503020204020204" charset="-122"/>
                <a:ea typeface="微软雅黑" panose="020B0503020204020204" charset="-122"/>
              </a:rPr>
              <a:t>锁定计划变更规则</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；梳理</a:t>
            </a:r>
            <a:r>
              <a:rPr lang="zh-CN" altLang="en-US" sz="1200" b="1" dirty="0">
                <a:latin typeface="微软雅黑" panose="020B0503020204020204" charset="-122"/>
                <a:ea typeface="微软雅黑" panose="020B0503020204020204" charset="-122"/>
              </a:rPr>
              <a:t>锁定计划变更流程</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绩效</a:t>
            </a:r>
            <a:r>
              <a:rPr lang="en-US" altLang="zh-CN" sz="1200" u="sng"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：提出锁定计划变更的</a:t>
            </a:r>
            <a:r>
              <a:rPr lang="en-US" altLang="zh-CN" sz="1200" b="1" dirty="0">
                <a:latin typeface="微软雅黑" panose="020B0503020204020204" charset="-122"/>
                <a:ea typeface="微软雅黑" panose="020B0503020204020204" charset="-122"/>
              </a:rPr>
              <a:t>KPI</a:t>
            </a:r>
            <a:r>
              <a:rPr lang="zh-CN" altLang="en-US" sz="1200" b="1" dirty="0">
                <a:latin typeface="微软雅黑" panose="020B0503020204020204" charset="-122"/>
                <a:ea typeface="微软雅黑" panose="020B0503020204020204" charset="-122"/>
              </a:rPr>
              <a:t>建议</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详细蓝图设计］；发布</a:t>
            </a:r>
            <a:r>
              <a:rPr lang="zh-CN" altLang="en-US" sz="1200" b="1" dirty="0">
                <a:latin typeface="微软雅黑" panose="020B0503020204020204" charset="-122"/>
                <a:ea typeface="微软雅黑" panose="020B0503020204020204" charset="-122"/>
              </a:rPr>
              <a:t>考核制度</a:t>
            </a:r>
            <a:r>
              <a:rPr lang="zh-CN" altLang="en-US" sz="1200" dirty="0">
                <a:latin typeface="微软雅黑" panose="020B0503020204020204" charset="-122"/>
                <a:ea typeface="微软雅黑" panose="020B0503020204020204" charset="-122"/>
              </a:rPr>
              <a:t>［x团队推进］</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a:t>
            </a:r>
            <a:r>
              <a:rPr lang="en-US" altLang="zh-CN" sz="1200" u="sng"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：在系统中设置权限，只允许责任岗位负责锁定计划变更［</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系统实施］ </a:t>
            </a:r>
          </a:p>
        </p:txBody>
      </p:sp>
      <p:sp>
        <p:nvSpPr>
          <p:cNvPr id="42" name="矩形 41"/>
          <p:cNvSpPr/>
          <p:nvPr/>
        </p:nvSpPr>
        <p:spPr bwMode="auto">
          <a:xfrm>
            <a:off x="214282" y="1385430"/>
            <a:ext cx="500066" cy="4068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根因分析</a:t>
            </a:r>
          </a:p>
        </p:txBody>
      </p:sp>
      <p:sp>
        <p:nvSpPr>
          <p:cNvPr id="43" name="矩形 4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改进方向</a:t>
            </a:r>
          </a:p>
        </p:txBody>
      </p:sp>
      <p:sp>
        <p:nvSpPr>
          <p:cNvPr id="46" name="矩形 45"/>
          <p:cNvSpPr/>
          <p:nvPr/>
        </p:nvSpPr>
        <p:spPr bwMode="auto">
          <a:xfrm>
            <a:off x="785786" y="1385430"/>
            <a:ext cx="8172000" cy="4068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cxnSp>
        <p:nvCxnSpPr>
          <p:cNvPr id="45" name="直接连接符 44"/>
          <p:cNvCxnSpPr/>
          <p:nvPr/>
        </p:nvCxnSpPr>
        <p:spPr bwMode="auto">
          <a:xfrm>
            <a:off x="2408935"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8" name="直接连接符 57"/>
          <p:cNvCxnSpPr/>
          <p:nvPr/>
        </p:nvCxnSpPr>
        <p:spPr bwMode="auto">
          <a:xfrm>
            <a:off x="4480637"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9" name="直接连接符 58"/>
          <p:cNvCxnSpPr/>
          <p:nvPr/>
        </p:nvCxnSpPr>
        <p:spPr bwMode="auto">
          <a:xfrm>
            <a:off x="5898843"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60" name="直接连接符 59"/>
          <p:cNvCxnSpPr/>
          <p:nvPr/>
        </p:nvCxnSpPr>
        <p:spPr bwMode="auto">
          <a:xfrm>
            <a:off x="6480901"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61" name="AutoShape 21"/>
          <p:cNvSpPr/>
          <p:nvPr/>
        </p:nvSpPr>
        <p:spPr bwMode="auto">
          <a:xfrm>
            <a:off x="2753166" y="2428868"/>
            <a:ext cx="1604520" cy="500066"/>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订单变更流程还不明确，区分营销原因、生产原因不同的处理过程</a:t>
            </a:r>
          </a:p>
        </p:txBody>
      </p:sp>
      <p:sp>
        <p:nvSpPr>
          <p:cNvPr id="62" name="AutoShape 21"/>
          <p:cNvSpPr/>
          <p:nvPr/>
        </p:nvSpPr>
        <p:spPr bwMode="auto">
          <a:xfrm>
            <a:off x="4824868" y="2403468"/>
            <a:ext cx="1520382" cy="500066"/>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锁定计划变更需要由统一的部门进行统筹管理，不能随意调整</a:t>
            </a:r>
          </a:p>
        </p:txBody>
      </p:sp>
      <p:sp>
        <p:nvSpPr>
          <p:cNvPr id="63" name="AutoShape 21"/>
          <p:cNvSpPr/>
          <p:nvPr/>
        </p:nvSpPr>
        <p:spPr bwMode="auto">
          <a:xfrm>
            <a:off x="3870774" y="3765552"/>
            <a:ext cx="1604520" cy="500066"/>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锁定计划准确率指标未纳入考核，降低了各部门的关注度与重视度</a:t>
            </a:r>
          </a:p>
        </p:txBody>
      </p:sp>
      <p:sp>
        <p:nvSpPr>
          <p:cNvPr id="64" name="AutoShape 21"/>
          <p:cNvSpPr/>
          <p:nvPr/>
        </p:nvSpPr>
        <p:spPr bwMode="auto">
          <a:xfrm>
            <a:off x="6319850" y="3929066"/>
            <a:ext cx="1604520" cy="500066"/>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通过设置</a:t>
            </a:r>
            <a:r>
              <a:rPr kumimoji="1" lang="en-US" altLang="zh-CN" sz="1000" dirty="0">
                <a:latin typeface="微软雅黑" panose="020B0503020204020204" charset="-122"/>
                <a:ea typeface="微软雅黑" panose="020B0503020204020204" charset="-122"/>
              </a:rPr>
              <a:t>IT</a:t>
            </a:r>
            <a:r>
              <a:rPr kumimoji="1" lang="zh-CN" altLang="en-US" sz="1000" dirty="0">
                <a:latin typeface="微软雅黑" panose="020B0503020204020204" charset="-122"/>
                <a:ea typeface="微软雅黑" panose="020B0503020204020204" charset="-122"/>
              </a:rPr>
              <a:t>系统权限，控制锁定计划不经过评审随意变更</a:t>
            </a:r>
          </a:p>
        </p:txBody>
      </p:sp>
      <p:sp>
        <p:nvSpPr>
          <p:cNvPr id="65" name="AutoShape 21"/>
          <p:cNvSpPr/>
          <p:nvPr/>
        </p:nvSpPr>
        <p:spPr bwMode="auto">
          <a:xfrm>
            <a:off x="6232990" y="1882764"/>
            <a:ext cx="1520382" cy="500066"/>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对</a:t>
            </a:r>
            <a:r>
              <a:rPr kumimoji="1" lang="en-US" altLang="zh-CN" sz="1000" dirty="0">
                <a:latin typeface="微软雅黑" panose="020B0503020204020204" charset="-122"/>
                <a:ea typeface="微软雅黑" panose="020B0503020204020204" charset="-122"/>
              </a:rPr>
              <a:t>3+2</a:t>
            </a:r>
            <a:r>
              <a:rPr kumimoji="1" lang="zh-CN" altLang="en-US" sz="1000" dirty="0">
                <a:latin typeface="微软雅黑" panose="020B0503020204020204" charset="-122"/>
                <a:ea typeface="微软雅黑" panose="020B0503020204020204" charset="-122"/>
              </a:rPr>
              <a:t>滚动计划方式的运行要求未形成内部的共识</a:t>
            </a:r>
          </a:p>
        </p:txBody>
      </p:sp>
      <p:sp>
        <p:nvSpPr>
          <p:cNvPr id="41"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48"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50"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51"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52"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auto">
          <a:xfrm>
            <a:off x="214282" y="1949964"/>
            <a:ext cx="8739218" cy="349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dirty="0"/>
          </a:p>
        </p:txBody>
      </p:sp>
      <p:sp>
        <p:nvSpPr>
          <p:cNvPr id="3" name="标题 1"/>
          <p:cNvSpPr>
            <a:spLocks noGrp="1"/>
          </p:cNvSpPr>
          <p:nvPr>
            <p:ph type="title" idx="4294967295"/>
          </p:nvPr>
        </p:nvSpPr>
        <p:spPr>
          <a:xfrm>
            <a:off x="162000" y="593725"/>
            <a:ext cx="8820000" cy="695325"/>
          </a:xfrm>
        </p:spPr>
        <p:txBody>
          <a:bodyPr/>
          <a:lstStyle/>
          <a:p>
            <a:r>
              <a:rPr dirty="0"/>
              <a:t>Q5</a:t>
            </a:r>
            <a:r>
              <a:rPr lang="zh-CN" altLang="en-US" dirty="0"/>
              <a:t>：零部件计划对供应商备货及生产指导性不足</a:t>
            </a:r>
          </a:p>
        </p:txBody>
      </p:sp>
      <p:sp>
        <p:nvSpPr>
          <p:cNvPr id="9" name="TextBox 8"/>
          <p:cNvSpPr txBox="1"/>
          <p:nvPr/>
        </p:nvSpPr>
        <p:spPr bwMode="auto">
          <a:xfrm>
            <a:off x="214281" y="1386000"/>
            <a:ext cx="8739555" cy="50040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a:ln>
          <a:effectLst/>
        </p:spPr>
        <p:txBody>
          <a:bodyPr rtlCol="0" anchor="ctr"/>
          <a:lstStyle>
            <a:defPPr>
              <a:defRPr lang="zh-CN"/>
            </a:defPPr>
            <a:lvl1pPr algn="ctr" fontAlgn="auto">
              <a:spcBef>
                <a:spcPts val="0"/>
              </a:spcBef>
              <a:spcAft>
                <a:spcPts val="0"/>
              </a:spcAft>
              <a:defRPr sz="1600" b="1">
                <a:solidFill>
                  <a:schemeClr val="bg2"/>
                </a:solidFill>
                <a:latin typeface="微软雅黑" panose="020B0503020204020204" charset="-122"/>
                <a:ea typeface="微软雅黑" panose="020B0503020204020204" charset="-122"/>
              </a:defRPr>
            </a:lvl1pPr>
          </a:lstStyle>
          <a:p>
            <a:pPr fontAlgn="base">
              <a:spcBef>
                <a:spcPct val="0"/>
              </a:spcBef>
              <a:spcAft>
                <a:spcPct val="0"/>
              </a:spcAft>
            </a:pPr>
            <a:r>
              <a:rPr lang="zh-CN" altLang="en-US" sz="1400" dirty="0">
                <a:solidFill>
                  <a:schemeClr val="tx1"/>
                </a:solidFill>
              </a:rPr>
              <a:t>问题描述</a:t>
            </a:r>
            <a:endParaRPr lang="en-US" altLang="en-US" sz="1400" dirty="0">
              <a:solidFill>
                <a:schemeClr val="tx1"/>
              </a:solidFill>
            </a:endParaRPr>
          </a:p>
        </p:txBody>
      </p:sp>
      <p:sp>
        <p:nvSpPr>
          <p:cNvPr id="13" name="矩形 1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业务影响</a:t>
            </a:r>
          </a:p>
        </p:txBody>
      </p:sp>
      <p:sp>
        <p:nvSpPr>
          <p:cNvPr id="14" name="矩形 1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1</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、进口件及国内长周期件供应商缺乏计划指导备货</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、部分国内供应商依赖自己经验进行备货及生产准备</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、备货不当时造成</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零部件短缺或库存</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过多</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4</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、计划变更时采购响应不及时，</a:t>
            </a:r>
            <a:r>
              <a:rPr kumimoji="1" lang="zh-CN" altLang="en-US" sz="1200" b="1" dirty="0">
                <a:latin typeface="微软雅黑" panose="020B0503020204020204" charset="-122"/>
                <a:ea typeface="微软雅黑" panose="020B0503020204020204" charset="-122"/>
                <a:cs typeface="微软雅黑" panose="020B0503020204020204" charset="-122"/>
              </a:rPr>
              <a:t>影响产品及时交付</a:t>
            </a:r>
            <a:endParaRPr kumimoji="1" lang="en-US" altLang="zh-CN" sz="1200" b="1" dirty="0">
              <a:latin typeface="微软雅黑" panose="020B0503020204020204" charset="-122"/>
              <a:ea typeface="微软雅黑" panose="020B0503020204020204" charset="-122"/>
              <a:cs typeface="微软雅黑" panose="020B0503020204020204" charset="-122"/>
            </a:endParaRPr>
          </a:p>
          <a:p>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5</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、临时采购计划较多，</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造成采购人员疲于应付紧急催单</a:t>
            </a:r>
          </a:p>
        </p:txBody>
      </p:sp>
      <p:sp>
        <p:nvSpPr>
          <p:cNvPr id="2" name="TextBox 1"/>
          <p:cNvSpPr txBox="1"/>
          <p:nvPr/>
        </p:nvSpPr>
        <p:spPr bwMode="auto">
          <a:xfrm>
            <a:off x="251520" y="1967349"/>
            <a:ext cx="3240360" cy="3293209"/>
          </a:xfrm>
          <a:prstGeom prst="rect">
            <a:avLst/>
          </a:prstGeom>
          <a:noFill/>
          <a:ln w="9525">
            <a:noFill/>
            <a:miter lim="800000"/>
          </a:ln>
        </p:spPr>
        <p:txBody>
          <a:bodyPr wrap="square" rtlCol="0">
            <a:spAutoFit/>
          </a:bodyPr>
          <a:lstStyle/>
          <a:p>
            <a:r>
              <a:rPr kumimoji="1" lang="zh-CN" altLang="en-US" sz="1400" dirty="0">
                <a:latin typeface="微软雅黑" panose="020B0503020204020204" charset="-122"/>
                <a:ea typeface="微软雅黑" panose="020B0503020204020204" charset="-122"/>
                <a:cs typeface="微软雅黑" panose="020B0503020204020204" charset="-122"/>
              </a:rPr>
              <a:t>缺乏对中长期计划的关注及供应，执行层面花费较大力气保证交付</a:t>
            </a:r>
            <a:endParaRPr kumimoji="1" lang="en-US" altLang="zh-CN" sz="1400" dirty="0">
              <a:latin typeface="微软雅黑" panose="020B0503020204020204" charset="-122"/>
              <a:ea typeface="微软雅黑" panose="020B0503020204020204" charset="-122"/>
              <a:cs typeface="微软雅黑" panose="020B0503020204020204" charset="-122"/>
            </a:endParaRPr>
          </a:p>
          <a:p>
            <a:endPar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pitchFamily="2" charset="2"/>
              <a:buChar char="Ø"/>
            </a:pP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缺乏有效的长周期零部件计划</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，导致采购周期紧张，尤其是长周期的外购件；产销平衡对中长期零部件计划考虑不足</a:t>
            </a:r>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   </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中长期零部件计划也未与商机有效关联</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pitchFamily="2" charset="2"/>
              <a:buChar char="Ø"/>
            </a:pP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C</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表计划及及锁定计划变更对零部件计划影响较大，</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对于通用件的到货指导性不够</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1450" lvl="0" indent="-171450">
              <a:buFont typeface="Wingdings" panose="05000000000000000000" pitchFamily="2" charset="2"/>
              <a:buChar char="Ø"/>
            </a:pPr>
            <a:endPar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endParaRPr>
          </a:p>
          <a:p>
            <a:pPr marL="171450" lvl="0" indent="-171450">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因零部件通用性差导致</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零部件计划具有挑战</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；与关键供应商产能协调及需求反馈机制还需完善</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1450" lvl="0" indent="-171450">
              <a:buFont typeface="Wingdings" panose="05000000000000000000" pitchFamily="2" charset="2"/>
              <a:buChar char="Ø"/>
            </a:pP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1450" lvl="0" indent="-171450">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因</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计划外订单</a:t>
            </a:r>
            <a:r>
              <a:rPr kumimoji="1" lang="zh-CN" altLang="en-US" sz="1200" dirty="0">
                <a:latin typeface="微软雅黑" panose="020B0503020204020204" charset="-122"/>
                <a:ea typeface="微软雅黑" panose="020B0503020204020204" charset="-122"/>
                <a:cs typeface="微软雅黑" panose="020B0503020204020204" charset="-122"/>
              </a:rPr>
              <a:t>导致临时采购计划</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较多，</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供应商无法及时响应</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8" name="标题 1"/>
          <p:cNvSpPr txBox="1"/>
          <p:nvPr/>
        </p:nvSpPr>
        <p:spPr bwMode="auto">
          <a:xfrm>
            <a:off x="7812360" y="2672921"/>
            <a:ext cx="1080120" cy="468053"/>
          </a:xfrm>
          <a:prstGeom prst="rect">
            <a:avLst/>
          </a:prstGeom>
          <a:solidFill>
            <a:schemeClr val="accent6">
              <a:lumMod val="60000"/>
              <a:lumOff val="40000"/>
            </a:schemeClr>
          </a:solidFill>
          <a:ln w="12700">
            <a:solidFill>
              <a:schemeClr val="tx1">
                <a:lumMod val="50000"/>
                <a:lumOff val="50000"/>
              </a:schemeClr>
            </a:solidFill>
            <a:miter lim="800000"/>
          </a:ln>
        </p:spPr>
        <p:txBody>
          <a:bodyPr lIns="92075" tIns="46038" rIns="92075" bIns="46038" anchor="ctr"/>
          <a:lstStyle>
            <a:defPPr>
              <a:defRPr lang="zh-CN"/>
            </a:defPPr>
            <a:lvl1pPr marR="0" lvl="0" indent="0" algn="ctr" fontAlgn="auto">
              <a:lnSpc>
                <a:spcPct val="90000"/>
              </a:lnSpc>
              <a:spcBef>
                <a:spcPts val="0"/>
              </a:spcBef>
              <a:spcAft>
                <a:spcPts val="0"/>
              </a:spcAft>
              <a:buClrTx/>
              <a:buSzTx/>
              <a:buFontTx/>
              <a:buNone/>
              <a:defRPr kumimoji="0" sz="1400" b="0"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pPr defTabSz="981075"/>
            <a:r>
              <a:rPr lang="en-US" altLang="zh-CN" sz="1200" b="1" dirty="0"/>
              <a:t>A</a:t>
            </a:r>
            <a:r>
              <a:rPr lang="zh-CN" altLang="en-US" sz="1200" b="1" dirty="0"/>
              <a:t>表</a:t>
            </a:r>
            <a:r>
              <a:rPr lang="zh-CN" altLang="zh-CN" sz="1200" b="1" dirty="0"/>
              <a:t>：</a:t>
            </a:r>
            <a:r>
              <a:rPr lang="zh-CN" altLang="en-US" sz="1200" b="1" dirty="0"/>
              <a:t>中期</a:t>
            </a:r>
            <a:endParaRPr lang="en-US" altLang="zh-CN" sz="1200" b="1" dirty="0"/>
          </a:p>
          <a:p>
            <a:pPr defTabSz="981075"/>
            <a:r>
              <a:rPr lang="zh-CN" altLang="en-US" sz="1200" b="1" dirty="0"/>
              <a:t>计划</a:t>
            </a:r>
          </a:p>
        </p:txBody>
      </p:sp>
      <p:sp>
        <p:nvSpPr>
          <p:cNvPr id="29" name="标题 1"/>
          <p:cNvSpPr txBox="1"/>
          <p:nvPr/>
        </p:nvSpPr>
        <p:spPr bwMode="auto">
          <a:xfrm>
            <a:off x="6840360" y="2672921"/>
            <a:ext cx="972000" cy="467999"/>
          </a:xfrm>
          <a:prstGeom prst="rect">
            <a:avLst/>
          </a:prstGeom>
          <a:solidFill>
            <a:schemeClr val="accent6">
              <a:lumMod val="60000"/>
              <a:lumOff val="40000"/>
            </a:schemeClr>
          </a:solidFill>
          <a:ln w="12700">
            <a:solidFill>
              <a:schemeClr val="tx1">
                <a:lumMod val="50000"/>
                <a:lumOff val="50000"/>
              </a:schemeClr>
            </a:solidFill>
            <a:miter lim="800000"/>
          </a:ln>
        </p:spPr>
        <p:txBody>
          <a:bodyPr lIns="92075" tIns="46038" rIns="92075" bIns="46038" anchor="ctr"/>
          <a:lstStyle>
            <a:defPPr>
              <a:defRPr lang="zh-CN"/>
            </a:defPPr>
            <a:lvl1pPr marR="0" lvl="0" indent="0" algn="ctr" fontAlgn="auto">
              <a:lnSpc>
                <a:spcPct val="90000"/>
              </a:lnSpc>
              <a:spcBef>
                <a:spcPts val="0"/>
              </a:spcBef>
              <a:spcAft>
                <a:spcPts val="0"/>
              </a:spcAft>
              <a:buClrTx/>
              <a:buSzTx/>
              <a:buFontTx/>
              <a:buNone/>
              <a:defRPr kumimoji="0" sz="1400" b="0"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r>
              <a:rPr lang="en-US" altLang="zh-CN" sz="1200" b="1" dirty="0"/>
              <a:t>B</a:t>
            </a:r>
            <a:r>
              <a:rPr lang="zh-CN" altLang="en-US" sz="1200" b="1" dirty="0"/>
              <a:t>表</a:t>
            </a:r>
            <a:r>
              <a:rPr lang="zh-CN" altLang="zh-CN" sz="1200" b="1" dirty="0"/>
              <a:t>：</a:t>
            </a:r>
            <a:r>
              <a:rPr lang="zh-CN" altLang="en-US" sz="1200" b="1" dirty="0"/>
              <a:t>主生产计划</a:t>
            </a:r>
            <a:endParaRPr lang="en-US" altLang="zh-CN" sz="1200" dirty="0"/>
          </a:p>
        </p:txBody>
      </p:sp>
      <p:sp>
        <p:nvSpPr>
          <p:cNvPr id="30" name="标题 1"/>
          <p:cNvSpPr txBox="1"/>
          <p:nvPr/>
        </p:nvSpPr>
        <p:spPr bwMode="auto">
          <a:xfrm>
            <a:off x="5868144" y="2672921"/>
            <a:ext cx="972000" cy="467999"/>
          </a:xfrm>
          <a:prstGeom prst="rect">
            <a:avLst/>
          </a:prstGeom>
          <a:solidFill>
            <a:schemeClr val="accent6">
              <a:lumMod val="60000"/>
              <a:lumOff val="40000"/>
            </a:schemeClr>
          </a:solidFill>
          <a:ln w="12700">
            <a:solidFill>
              <a:schemeClr val="tx1">
                <a:lumMod val="50000"/>
                <a:lumOff val="50000"/>
              </a:schemeClr>
            </a:solidFill>
            <a:miter lim="800000"/>
          </a:ln>
        </p:spPr>
        <p:txBody>
          <a:bodyPr lIns="92075" tIns="46038" rIns="92075" bIns="46038" anchor="ctr"/>
          <a:lstStyle>
            <a:defPPr>
              <a:defRPr lang="zh-CN"/>
            </a:defPPr>
            <a:lvl1pPr marR="0" lvl="0" indent="0" algn="ctr" fontAlgn="auto">
              <a:lnSpc>
                <a:spcPct val="90000"/>
              </a:lnSpc>
              <a:spcBef>
                <a:spcPts val="0"/>
              </a:spcBef>
              <a:spcAft>
                <a:spcPts val="0"/>
              </a:spcAft>
              <a:buClrTx/>
              <a:buSzTx/>
              <a:buFontTx/>
              <a:buNone/>
              <a:defRPr kumimoji="0" sz="1400" b="0"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pPr defTabSz="981075"/>
            <a:r>
              <a:rPr lang="en-US" altLang="zh-CN" sz="1200" b="1" dirty="0"/>
              <a:t>C</a:t>
            </a:r>
            <a:r>
              <a:rPr lang="zh-CN" altLang="en-US" sz="1200" b="1" dirty="0"/>
              <a:t>表</a:t>
            </a:r>
            <a:r>
              <a:rPr lang="zh-CN" altLang="zh-CN" sz="1200" b="1" dirty="0"/>
              <a:t>：</a:t>
            </a:r>
            <a:r>
              <a:rPr lang="zh-CN" altLang="en-US" sz="1200" b="1" dirty="0"/>
              <a:t>排产计划</a:t>
            </a:r>
          </a:p>
        </p:txBody>
      </p:sp>
      <p:sp>
        <p:nvSpPr>
          <p:cNvPr id="31" name="标题 1"/>
          <p:cNvSpPr txBox="1"/>
          <p:nvPr/>
        </p:nvSpPr>
        <p:spPr bwMode="auto">
          <a:xfrm>
            <a:off x="4752030" y="2672921"/>
            <a:ext cx="1116113" cy="467999"/>
          </a:xfrm>
          <a:prstGeom prst="rect">
            <a:avLst/>
          </a:prstGeom>
          <a:solidFill>
            <a:schemeClr val="accent1"/>
          </a:solidFill>
          <a:ln w="12700">
            <a:solidFill>
              <a:schemeClr val="tx1">
                <a:lumMod val="50000"/>
                <a:lumOff val="50000"/>
              </a:schemeClr>
            </a:solidFill>
            <a:miter lim="800000"/>
          </a:ln>
        </p:spPr>
        <p:txBody>
          <a:bodyPr lIns="92075" tIns="46038" rIns="92075" bIns="46038" anchor="ctr"/>
          <a:lstStyle>
            <a:defPPr>
              <a:defRPr lang="zh-CN"/>
            </a:defPPr>
            <a:lvl1pPr marR="0" lvl="0" indent="0" algn="ctr" fontAlgn="auto">
              <a:lnSpc>
                <a:spcPct val="90000"/>
              </a:lnSpc>
              <a:spcBef>
                <a:spcPts val="0"/>
              </a:spcBef>
              <a:spcAft>
                <a:spcPts val="0"/>
              </a:spcAft>
              <a:buClrTx/>
              <a:buSzTx/>
              <a:buFontTx/>
              <a:buNone/>
              <a:defRPr kumimoji="0" sz="1400" b="0"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pPr defTabSz="981075"/>
            <a:r>
              <a:rPr lang="en-US" altLang="zh-CN" sz="1200" b="1" dirty="0">
                <a:solidFill>
                  <a:schemeClr val="bg1"/>
                </a:solidFill>
              </a:rPr>
              <a:t>3+2</a:t>
            </a:r>
            <a:r>
              <a:rPr lang="zh-CN" altLang="en-US" sz="1200" b="1" dirty="0">
                <a:solidFill>
                  <a:schemeClr val="bg1"/>
                </a:solidFill>
              </a:rPr>
              <a:t>滚动</a:t>
            </a:r>
            <a:endParaRPr lang="en-US" altLang="zh-CN" sz="1200" b="1" dirty="0">
              <a:solidFill>
                <a:schemeClr val="bg1"/>
              </a:solidFill>
            </a:endParaRPr>
          </a:p>
          <a:p>
            <a:pPr defTabSz="981075"/>
            <a:r>
              <a:rPr lang="zh-CN" altLang="en-US" sz="1200" b="1" dirty="0">
                <a:solidFill>
                  <a:schemeClr val="bg1"/>
                </a:solidFill>
              </a:rPr>
              <a:t>计划</a:t>
            </a:r>
          </a:p>
        </p:txBody>
      </p:sp>
      <p:graphicFrame>
        <p:nvGraphicFramePr>
          <p:cNvPr id="32" name="Table 31"/>
          <p:cNvGraphicFramePr>
            <a:graphicFrameLocks noGrp="1"/>
          </p:cNvGraphicFramePr>
          <p:nvPr/>
        </p:nvGraphicFramePr>
        <p:xfrm>
          <a:off x="4716016" y="3212976"/>
          <a:ext cx="4176464" cy="2232249"/>
        </p:xfrm>
        <a:graphic>
          <a:graphicData uri="http://schemas.openxmlformats.org/drawingml/2006/table">
            <a:tbl>
              <a:tblPr firstRow="1" bandRow="1">
                <a:tableStyleId>{3B4B98B0-60AC-42C2-AFA5-B58CD77FA1E5}</a:tableStyleId>
              </a:tblPr>
              <a:tblGrid>
                <a:gridCol w="1118695">
                  <a:extLst>
                    <a:ext uri="{9D8B030D-6E8A-4147-A177-3AD203B41FA5}">
                      <a16:colId xmlns:a16="http://schemas.microsoft.com/office/drawing/2014/main" val="20000"/>
                    </a:ext>
                  </a:extLst>
                </a:gridCol>
                <a:gridCol w="969537">
                  <a:extLst>
                    <a:ext uri="{9D8B030D-6E8A-4147-A177-3AD203B41FA5}">
                      <a16:colId xmlns:a16="http://schemas.microsoft.com/office/drawing/2014/main" val="20001"/>
                    </a:ext>
                  </a:extLst>
                </a:gridCol>
                <a:gridCol w="1044116">
                  <a:extLst>
                    <a:ext uri="{9D8B030D-6E8A-4147-A177-3AD203B41FA5}">
                      <a16:colId xmlns:a16="http://schemas.microsoft.com/office/drawing/2014/main" val="20002"/>
                    </a:ext>
                  </a:extLst>
                </a:gridCol>
                <a:gridCol w="1044116">
                  <a:extLst>
                    <a:ext uri="{9D8B030D-6E8A-4147-A177-3AD203B41FA5}">
                      <a16:colId xmlns:a16="http://schemas.microsoft.com/office/drawing/2014/main" val="20003"/>
                    </a:ext>
                  </a:extLst>
                </a:gridCol>
              </a:tblGrid>
              <a:tr h="744083">
                <a:tc>
                  <a:txBody>
                    <a:bodyPr/>
                    <a:lstStyle/>
                    <a:p>
                      <a:r>
                        <a:rPr lang="en-US" altLang="zh-CN" sz="1200" dirty="0">
                          <a:latin typeface="微软"/>
                          <a:cs typeface="微软"/>
                        </a:rPr>
                        <a:t>——</a:t>
                      </a:r>
                      <a:endParaRPr lang="en-US" sz="1200" dirty="0">
                        <a:latin typeface="微软"/>
                        <a:cs typeface="微软"/>
                      </a:endParaRPr>
                    </a:p>
                  </a:txBody>
                  <a:tcPr anchor="ctr"/>
                </a:tc>
                <a:tc>
                  <a:txBody>
                    <a:bodyPr/>
                    <a:lstStyle/>
                    <a:p>
                      <a:r>
                        <a:rPr lang="en-US" altLang="zh-CN" sz="1200" dirty="0">
                          <a:latin typeface="微软"/>
                          <a:cs typeface="微软"/>
                        </a:rPr>
                        <a:t>——</a:t>
                      </a:r>
                      <a:endParaRPr lang="en-US" sz="1200" dirty="0">
                        <a:latin typeface="微软"/>
                        <a:cs typeface="微软"/>
                      </a:endParaRPr>
                    </a:p>
                  </a:txBody>
                  <a:tcPr anchor="ctr"/>
                </a:tc>
                <a:tc>
                  <a:txBody>
                    <a:bodyPr/>
                    <a:lstStyle/>
                    <a:p>
                      <a:r>
                        <a:rPr lang="en-US" sz="1200" dirty="0">
                          <a:solidFill>
                            <a:schemeClr val="accent2"/>
                          </a:solidFill>
                          <a:latin typeface="微软"/>
                          <a:cs typeface="微软"/>
                        </a:rPr>
                        <a:t>MRP</a:t>
                      </a:r>
                      <a:r>
                        <a:rPr lang="zh-CN" altLang="en-US" sz="1200" dirty="0">
                          <a:solidFill>
                            <a:schemeClr val="accent2"/>
                          </a:solidFill>
                          <a:latin typeface="微软"/>
                          <a:cs typeface="微软"/>
                        </a:rPr>
                        <a:t>－</a:t>
                      </a:r>
                      <a:r>
                        <a:rPr lang="en-US" sz="1200" dirty="0">
                          <a:solidFill>
                            <a:schemeClr val="accent2"/>
                          </a:solidFill>
                          <a:latin typeface="微软"/>
                          <a:cs typeface="微软"/>
                        </a:rPr>
                        <a:t>PR/PO</a:t>
                      </a:r>
                    </a:p>
                    <a:p>
                      <a:r>
                        <a:rPr lang="zh-CN" altLang="en-US" sz="1200" dirty="0">
                          <a:solidFill>
                            <a:schemeClr val="accent2"/>
                          </a:solidFill>
                          <a:latin typeface="微软"/>
                          <a:cs typeface="微软"/>
                        </a:rPr>
                        <a:t>生产</a:t>
                      </a:r>
                      <a:endParaRPr lang="en-US" sz="1200" dirty="0">
                        <a:solidFill>
                          <a:schemeClr val="accent2"/>
                        </a:solidFill>
                        <a:latin typeface="微软"/>
                        <a:cs typeface="微软"/>
                      </a:endParaRPr>
                    </a:p>
                  </a:txBody>
                  <a:tcPr anchor="ctr"/>
                </a:tc>
                <a:tc>
                  <a:txBody>
                    <a:bodyPr/>
                    <a:lstStyle/>
                    <a:p>
                      <a:r>
                        <a:rPr lang="en-US" sz="1200" baseline="0" dirty="0">
                          <a:latin typeface="微软"/>
                          <a:cs typeface="微软"/>
                        </a:rPr>
                        <a:t> </a:t>
                      </a:r>
                      <a:r>
                        <a:rPr lang="zh-CN" altLang="en-US" sz="1200" baseline="0" dirty="0">
                          <a:latin typeface="微软"/>
                          <a:cs typeface="微软"/>
                        </a:rPr>
                        <a:t>产能</a:t>
                      </a:r>
                      <a:endParaRPr lang="en-US" altLang="zh-CN" sz="1200" baseline="0" dirty="0">
                        <a:latin typeface="微软"/>
                        <a:cs typeface="微软"/>
                      </a:endParaRPr>
                    </a:p>
                    <a:p>
                      <a:r>
                        <a:rPr lang="en-US" altLang="zh-CN" sz="1200" baseline="0" dirty="0">
                          <a:latin typeface="微软"/>
                          <a:cs typeface="微软"/>
                        </a:rPr>
                        <a:t> </a:t>
                      </a:r>
                      <a:r>
                        <a:rPr lang="zh-CN" altLang="en-US" sz="1200" baseline="0" dirty="0">
                          <a:latin typeface="微软"/>
                          <a:cs typeface="微软"/>
                        </a:rPr>
                        <a:t>备料</a:t>
                      </a:r>
                      <a:endParaRPr lang="en-US" sz="1200" dirty="0">
                        <a:latin typeface="微软"/>
                        <a:cs typeface="微软"/>
                      </a:endParaRPr>
                    </a:p>
                  </a:txBody>
                  <a:tcPr anchor="ctr"/>
                </a:tc>
                <a:extLst>
                  <a:ext uri="{0D108BD9-81ED-4DB2-BD59-A6C34878D82A}">
                    <a16:rowId xmlns:a16="http://schemas.microsoft.com/office/drawing/2014/main" val="10000"/>
                  </a:ext>
                </a:extLst>
              </a:tr>
              <a:tr h="744083">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
                          <a:cs typeface="微软"/>
                        </a:rPr>
                        <a:t>——</a:t>
                      </a:r>
                      <a:endParaRPr lang="en-US" sz="1200" dirty="0">
                        <a:latin typeface="微软"/>
                        <a:cs typeface="微软"/>
                      </a:endParaRPr>
                    </a:p>
                  </a:txBody>
                  <a:tcPr anchor="ctr"/>
                </a:tc>
                <a:tc>
                  <a:txBody>
                    <a:bodyPr/>
                    <a:lstStyle/>
                    <a:p>
                      <a:r>
                        <a:rPr lang="en-US" sz="1200" dirty="0">
                          <a:solidFill>
                            <a:srgbClr val="C0504D"/>
                          </a:solidFill>
                          <a:latin typeface="微软"/>
                          <a:cs typeface="微软"/>
                        </a:rPr>
                        <a:t>MRP-PR/PO</a:t>
                      </a:r>
                    </a:p>
                    <a:p>
                      <a:r>
                        <a:rPr lang="zh-CN" altLang="en-US" sz="1200" dirty="0">
                          <a:solidFill>
                            <a:srgbClr val="C0504D"/>
                          </a:solidFill>
                          <a:latin typeface="微软"/>
                          <a:cs typeface="微软"/>
                        </a:rPr>
                        <a:t>生产</a:t>
                      </a:r>
                      <a:endParaRPr lang="en-US" sz="1200" dirty="0">
                        <a:solidFill>
                          <a:srgbClr val="C0504D"/>
                        </a:solidFill>
                        <a:latin typeface="微软"/>
                        <a:cs typeface="微软"/>
                      </a:endParaRPr>
                    </a:p>
                  </a:txBody>
                  <a:tcPr anchor="ctr"/>
                </a:tc>
                <a:tc>
                  <a:txBody>
                    <a:bodyPr/>
                    <a:lstStyle/>
                    <a:p>
                      <a:r>
                        <a:rPr lang="en-US" sz="1200" baseline="0" dirty="0">
                          <a:latin typeface="微软"/>
                          <a:cs typeface="微软"/>
                        </a:rPr>
                        <a:t> </a:t>
                      </a:r>
                      <a:r>
                        <a:rPr lang="zh-CN" altLang="en-US" sz="1200" baseline="0" dirty="0">
                          <a:latin typeface="微软"/>
                          <a:cs typeface="微软"/>
                        </a:rPr>
                        <a:t>产能</a:t>
                      </a:r>
                      <a:endParaRPr lang="en-US" altLang="zh-CN" sz="1200" baseline="0" dirty="0">
                        <a:latin typeface="微软"/>
                        <a:cs typeface="微软"/>
                      </a:endParaRPr>
                    </a:p>
                    <a:p>
                      <a:r>
                        <a:rPr lang="en-US" altLang="zh-CN" sz="1200" baseline="0" dirty="0">
                          <a:latin typeface="微软"/>
                          <a:cs typeface="微软"/>
                        </a:rPr>
                        <a:t> </a:t>
                      </a:r>
                      <a:r>
                        <a:rPr lang="zh-CN" altLang="en-US" sz="1200" baseline="0" dirty="0">
                          <a:latin typeface="微软"/>
                          <a:cs typeface="微软"/>
                        </a:rPr>
                        <a:t>备料</a:t>
                      </a:r>
                      <a:endParaRPr lang="en-US" sz="1200" dirty="0">
                        <a:latin typeface="微软"/>
                        <a:cs typeface="微软"/>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
                          <a:cs typeface="微软"/>
                        </a:rPr>
                        <a:t>——</a:t>
                      </a:r>
                      <a:endParaRPr lang="en-US" sz="1200" dirty="0">
                        <a:latin typeface="微软"/>
                        <a:cs typeface="微软"/>
                      </a:endParaRPr>
                    </a:p>
                  </a:txBody>
                  <a:tcPr anchor="ctr"/>
                </a:tc>
                <a:extLst>
                  <a:ext uri="{0D108BD9-81ED-4DB2-BD59-A6C34878D82A}">
                    <a16:rowId xmlns:a16="http://schemas.microsoft.com/office/drawing/2014/main" val="10001"/>
                  </a:ext>
                </a:extLst>
              </a:tr>
              <a:tr h="744083">
                <a:tc>
                  <a:txBody>
                    <a:bodyPr/>
                    <a:lstStyle/>
                    <a:p>
                      <a:r>
                        <a:rPr lang="zh-CN" altLang="en-US" sz="1200" dirty="0">
                          <a:solidFill>
                            <a:srgbClr val="C0504D"/>
                          </a:solidFill>
                          <a:latin typeface="微软"/>
                          <a:cs typeface="微软"/>
                        </a:rPr>
                        <a:t>生产排产</a:t>
                      </a:r>
                      <a:r>
                        <a:rPr lang="en-US" altLang="zh-CN" sz="1200" dirty="0">
                          <a:solidFill>
                            <a:srgbClr val="C0504D"/>
                          </a:solidFill>
                          <a:latin typeface="微软"/>
                          <a:cs typeface="微软"/>
                        </a:rPr>
                        <a:t>/</a:t>
                      </a:r>
                      <a:r>
                        <a:rPr lang="zh-CN" altLang="en-US" sz="1200" dirty="0">
                          <a:solidFill>
                            <a:srgbClr val="C0504D"/>
                          </a:solidFill>
                          <a:latin typeface="微软"/>
                          <a:cs typeface="微软"/>
                        </a:rPr>
                        <a:t>配送指令</a:t>
                      </a:r>
                      <a:endParaRPr lang="en-US" sz="1200" dirty="0">
                        <a:solidFill>
                          <a:srgbClr val="C0504D"/>
                        </a:solidFill>
                        <a:latin typeface="微软"/>
                        <a:cs typeface="微软"/>
                      </a:endParaRPr>
                    </a:p>
                  </a:txBody>
                  <a:tcPr anchor="ctr"/>
                </a:tc>
                <a:tc>
                  <a:txBody>
                    <a:bodyPr/>
                    <a:lstStyle/>
                    <a:p>
                      <a:r>
                        <a:rPr lang="en-US" altLang="zh-CN" sz="1200" baseline="0" dirty="0">
                          <a:latin typeface="微软"/>
                          <a:cs typeface="微软"/>
                        </a:rPr>
                        <a:t>PO</a:t>
                      </a:r>
                    </a:p>
                    <a:p>
                      <a:r>
                        <a:rPr lang="en-US" altLang="zh-CN" sz="1200" baseline="0" dirty="0">
                          <a:latin typeface="微软"/>
                          <a:cs typeface="微软"/>
                        </a:rPr>
                        <a:t>(</a:t>
                      </a:r>
                      <a:r>
                        <a:rPr lang="zh-CN" altLang="en-US" sz="1200" baseline="0" dirty="0">
                          <a:latin typeface="微软"/>
                          <a:cs typeface="微软"/>
                        </a:rPr>
                        <a:t>用于收货</a:t>
                      </a:r>
                      <a:r>
                        <a:rPr lang="en-US" altLang="zh-CN" sz="1200" baseline="0" dirty="0">
                          <a:latin typeface="微软"/>
                          <a:cs typeface="微软"/>
                        </a:rPr>
                        <a:t>)</a:t>
                      </a:r>
                    </a:p>
                    <a:p>
                      <a:r>
                        <a:rPr lang="zh-CN" altLang="en-US" sz="1200" baseline="0" dirty="0">
                          <a:latin typeface="微软"/>
                          <a:cs typeface="微软"/>
                        </a:rPr>
                        <a:t>生产</a:t>
                      </a:r>
                      <a:endParaRPr lang="en-US" altLang="zh-CN" sz="1200" baseline="0" dirty="0">
                        <a:latin typeface="微软"/>
                        <a:cs typeface="微软"/>
                      </a:endParaRPr>
                    </a:p>
                  </a:txBody>
                  <a:tcPr anchor="ctr"/>
                </a:tc>
                <a:tc>
                  <a:txBody>
                    <a:bodyPr/>
                    <a:lstStyle/>
                    <a:p>
                      <a:r>
                        <a:rPr lang="zh-CN" altLang="en-US" sz="1200" baseline="0" dirty="0">
                          <a:latin typeface="微软"/>
                          <a:cs typeface="微软"/>
                        </a:rPr>
                        <a:t>产能</a:t>
                      </a:r>
                      <a:endParaRPr lang="en-US" altLang="zh-CN" sz="1200" baseline="0" dirty="0">
                        <a:latin typeface="微软"/>
                        <a:cs typeface="微软"/>
                      </a:endParaRPr>
                    </a:p>
                    <a:p>
                      <a:r>
                        <a:rPr lang="zh-CN" altLang="en-US" sz="1200" baseline="0" dirty="0">
                          <a:latin typeface="微软"/>
                          <a:cs typeface="微软"/>
                        </a:rPr>
                        <a:t>备料</a:t>
                      </a:r>
                      <a:endParaRPr lang="en-US" sz="1200" dirty="0">
                        <a:latin typeface="微软"/>
                        <a:cs typeface="微软"/>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
                          <a:cs typeface="微软"/>
                        </a:rPr>
                        <a:t>——</a:t>
                      </a:r>
                      <a:endParaRPr lang="en-US" sz="1200" dirty="0">
                        <a:latin typeface="微软"/>
                        <a:cs typeface="微软"/>
                      </a:endParaRPr>
                    </a:p>
                  </a:txBody>
                  <a:tcPr anchor="ctr"/>
                </a:tc>
                <a:extLst>
                  <a:ext uri="{0D108BD9-81ED-4DB2-BD59-A6C34878D82A}">
                    <a16:rowId xmlns:a16="http://schemas.microsoft.com/office/drawing/2014/main" val="10002"/>
                  </a:ext>
                </a:extLst>
              </a:tr>
            </a:tbl>
          </a:graphicData>
        </a:graphic>
      </p:graphicFrame>
      <p:sp>
        <p:nvSpPr>
          <p:cNvPr id="33" name="Left Brace 32"/>
          <p:cNvSpPr/>
          <p:nvPr/>
        </p:nvSpPr>
        <p:spPr bwMode="auto">
          <a:xfrm rot="5400000">
            <a:off x="5130117" y="1898780"/>
            <a:ext cx="360046" cy="1116231"/>
          </a:xfrm>
          <a:prstGeom prst="leftBrace">
            <a:avLst/>
          </a:prstGeom>
          <a:solidFill>
            <a:schemeClr val="accent1"/>
          </a:solidFill>
          <a:ln w="9525" cap="flat" cmpd="sng" algn="ctr">
            <a:solidFill>
              <a:schemeClr val="tx1"/>
            </a:solidFill>
            <a:prstDash val="solid"/>
            <a:round/>
            <a:headEnd type="none" w="med" len="med"/>
            <a:tailEnd type="none"/>
          </a:ln>
          <a:effectLst/>
          <a:scene3d>
            <a:camera prst="orthographicFront">
              <a:rot lat="0" lon="21594000" rev="0"/>
            </a:camera>
            <a:lightRig rig="threePt" dir="t"/>
          </a:scene3d>
        </p:spPr>
        <p:txBody>
          <a:bodyPr rtlCol="0" anchor="ctr"/>
          <a:lstStyle/>
          <a:p>
            <a:pPr algn="ctr"/>
            <a:endParaRPr lang="en-US"/>
          </a:p>
        </p:txBody>
      </p:sp>
      <p:sp>
        <p:nvSpPr>
          <p:cNvPr id="34" name="Left Brace 33"/>
          <p:cNvSpPr/>
          <p:nvPr/>
        </p:nvSpPr>
        <p:spPr bwMode="auto">
          <a:xfrm rot="5400000">
            <a:off x="7200292" y="944727"/>
            <a:ext cx="360039" cy="3024336"/>
          </a:xfrm>
          <a:prstGeom prst="leftBrace">
            <a:avLst/>
          </a:prstGeom>
          <a:solidFill>
            <a:schemeClr val="accent6">
              <a:lumMod val="60000"/>
              <a:lumOff val="40000"/>
            </a:schemeClr>
          </a:solidFill>
          <a:ln w="9525" cap="flat" cmpd="sng" algn="ctr">
            <a:solidFill>
              <a:schemeClr val="tx1"/>
            </a:solidFill>
            <a:prstDash val="solid"/>
            <a:round/>
            <a:headEnd type="none" w="med" len="med"/>
            <a:tailEnd type="none"/>
          </a:ln>
          <a:effectLst/>
          <a:scene3d>
            <a:camera prst="orthographicFront">
              <a:rot lat="0" lon="21594000" rev="0"/>
            </a:camera>
            <a:lightRig rig="threePt" dir="t"/>
          </a:scene3d>
        </p:spPr>
        <p:txBody>
          <a:bodyPr rtlCol="0" anchor="ctr"/>
          <a:lstStyle/>
          <a:p>
            <a:pPr algn="ctr"/>
            <a:endParaRPr lang="en-US">
              <a:solidFill>
                <a:schemeClr val="accent2">
                  <a:lumMod val="40000"/>
                  <a:lumOff val="60000"/>
                </a:schemeClr>
              </a:solidFill>
            </a:endParaRPr>
          </a:p>
        </p:txBody>
      </p:sp>
      <p:sp>
        <p:nvSpPr>
          <p:cNvPr id="35" name="TextBox 34"/>
          <p:cNvSpPr txBox="1"/>
          <p:nvPr/>
        </p:nvSpPr>
        <p:spPr bwMode="auto">
          <a:xfrm>
            <a:off x="6156176" y="1916832"/>
            <a:ext cx="2880320" cy="461665"/>
          </a:xfrm>
          <a:prstGeom prst="rect">
            <a:avLst/>
          </a:prstGeom>
          <a:noFill/>
          <a:ln w="9525">
            <a:noFill/>
            <a:miter lim="800000"/>
          </a:ln>
        </p:spPr>
        <p:txBody>
          <a:bodyPr wrap="square" rtlCol="0">
            <a:spAutoFit/>
          </a:bodyPr>
          <a:lstStyle/>
          <a:p>
            <a:pPr algn="ctr"/>
            <a:r>
              <a:rPr kumimoji="1" lang="zh-CN" altLang="en-US" sz="1200" dirty="0">
                <a:solidFill>
                  <a:schemeClr val="accent6"/>
                </a:solidFill>
                <a:latin typeface="微软雅黑" panose="020B0503020204020204" charset="-122"/>
                <a:ea typeface="微软雅黑" panose="020B0503020204020204" charset="-122"/>
                <a:cs typeface="微软雅黑" panose="020B0503020204020204" charset="-122"/>
              </a:rPr>
              <a:t>计划层面准确率较低，</a:t>
            </a:r>
            <a:endParaRPr kumimoji="1" lang="en-US" altLang="zh-CN" sz="1200" dirty="0">
              <a:solidFill>
                <a:schemeClr val="accent6"/>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dirty="0">
                <a:solidFill>
                  <a:schemeClr val="accent6"/>
                </a:solidFill>
                <a:latin typeface="微软雅黑" panose="020B0503020204020204" charset="-122"/>
                <a:ea typeface="微软雅黑" panose="020B0503020204020204" charset="-122"/>
                <a:cs typeface="微软雅黑" panose="020B0503020204020204" charset="-122"/>
              </a:rPr>
              <a:t>关注度偏低，</a:t>
            </a:r>
            <a:r>
              <a:rPr kumimoji="1" lang="en-US" altLang="zh-CN" sz="1200" dirty="0">
                <a:solidFill>
                  <a:schemeClr val="accent6"/>
                </a:solidFill>
                <a:latin typeface="微软雅黑" panose="020B0503020204020204" charset="-122"/>
                <a:ea typeface="微软雅黑" panose="020B0503020204020204" charset="-122"/>
                <a:cs typeface="微软雅黑" panose="020B0503020204020204" charset="-122"/>
              </a:rPr>
              <a:t>MRP</a:t>
            </a:r>
            <a:r>
              <a:rPr kumimoji="1" lang="zh-CN" altLang="en-US" sz="1200" dirty="0">
                <a:solidFill>
                  <a:schemeClr val="accent6"/>
                </a:solidFill>
                <a:latin typeface="微软雅黑" panose="020B0503020204020204" charset="-122"/>
                <a:ea typeface="微软雅黑" panose="020B0503020204020204" charset="-122"/>
                <a:cs typeface="微软雅黑" panose="020B0503020204020204" charset="-122"/>
              </a:rPr>
              <a:t>运行不准确</a:t>
            </a:r>
            <a:endParaRPr kumimoji="1" lang="en-US" sz="12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36" name="TextBox 35"/>
          <p:cNvSpPr txBox="1"/>
          <p:nvPr/>
        </p:nvSpPr>
        <p:spPr bwMode="auto">
          <a:xfrm>
            <a:off x="4571999" y="1916832"/>
            <a:ext cx="1440161" cy="461665"/>
          </a:xfrm>
          <a:prstGeom prst="rect">
            <a:avLst/>
          </a:prstGeom>
          <a:noFill/>
          <a:ln>
            <a:noFill/>
          </a:ln>
        </p:spPr>
        <p:txBody>
          <a:bodyPr wrap="square" rtlCol="0">
            <a:spAutoFit/>
          </a:bodyPr>
          <a:lstStyle/>
          <a:p>
            <a:r>
              <a:rPr kumimoji="1" lang="zh-CN" altLang="en-US" sz="1200" dirty="0">
                <a:solidFill>
                  <a:srgbClr val="3366FF"/>
                </a:solidFill>
                <a:latin typeface="微软雅黑" panose="020B0503020204020204" charset="-122"/>
                <a:ea typeface="微软雅黑" panose="020B0503020204020204" charset="-122"/>
                <a:cs typeface="微软雅黑" panose="020B0503020204020204" charset="-122"/>
              </a:rPr>
              <a:t>执行层面，花费较大力气保证交付</a:t>
            </a:r>
            <a:endParaRPr kumimoji="1" lang="en-US" sz="1200" dirty="0">
              <a:solidFill>
                <a:srgbClr val="3366FF"/>
              </a:solidFill>
              <a:latin typeface="微软雅黑" panose="020B0503020204020204" charset="-122"/>
              <a:ea typeface="微软雅黑" panose="020B0503020204020204" charset="-122"/>
              <a:cs typeface="微软雅黑" panose="020B0503020204020204" charset="-122"/>
            </a:endParaRPr>
          </a:p>
        </p:txBody>
      </p:sp>
      <p:sp>
        <p:nvSpPr>
          <p:cNvPr id="37" name="AutoShape 78"/>
          <p:cNvSpPr>
            <a:spLocks noChangeArrowheads="1"/>
          </p:cNvSpPr>
          <p:nvPr/>
        </p:nvSpPr>
        <p:spPr bwMode="auto">
          <a:xfrm>
            <a:off x="4788024" y="3284968"/>
            <a:ext cx="1656226" cy="576080"/>
          </a:xfrm>
          <a:prstGeom prst="wedgeRoundRectCallout">
            <a:avLst>
              <a:gd name="adj1" fmla="val 64204"/>
              <a:gd name="adj2" fmla="val 4199"/>
              <a:gd name="adj3" fmla="val 16667"/>
            </a:avLst>
          </a:prstGeom>
          <a:solidFill>
            <a:srgbClr val="FFFFCC"/>
          </a:solidFill>
          <a:ln w="19050" algn="ctr">
            <a:solidFill>
              <a:srgbClr val="242490"/>
            </a:solidFill>
            <a:miter lim="800000"/>
          </a:ln>
        </p:spPr>
        <p:txBody>
          <a:bodyPr lIns="72000" tIns="36000" rIns="36000" bIns="36000" anchor="ctr"/>
          <a:lstStyle/>
          <a:p>
            <a:pPr marL="79375" lvl="1" indent="-79375">
              <a:buFont typeface="Arial" panose="020B0604020202020204"/>
              <a:buChar char="•"/>
            </a:pPr>
            <a:r>
              <a:rPr lang="zh-CN" altLang="en-US" sz="1000" b="1" dirty="0">
                <a:latin typeface="微软雅黑" panose="020B0503020204020204" charset="-122"/>
                <a:ea typeface="微软雅黑" panose="020B0503020204020204" charset="-122"/>
              </a:rPr>
              <a:t>三月整机需求计划无法有效指导进口件要货</a:t>
            </a:r>
            <a:endParaRPr lang="en-US" altLang="zh-CN" sz="1000" b="1" dirty="0">
              <a:latin typeface="微软雅黑" panose="020B0503020204020204" charset="-122"/>
              <a:ea typeface="微软雅黑" panose="020B0503020204020204" charset="-122"/>
            </a:endParaRPr>
          </a:p>
          <a:p>
            <a:pPr marL="79375" lvl="1" indent="-79375">
              <a:buFont typeface="Arial" panose="020B0604020202020204"/>
              <a:buChar char="•"/>
            </a:pPr>
            <a:r>
              <a:rPr lang="zh-CN" altLang="en-US" sz="1000" b="1" dirty="0">
                <a:latin typeface="微软雅黑" panose="020B0503020204020204" charset="-122"/>
                <a:ea typeface="微软雅黑" panose="020B0503020204020204" charset="-122"/>
              </a:rPr>
              <a:t>产销平衡机制里考虑不足</a:t>
            </a:r>
            <a:endParaRPr lang="en-US" altLang="zh-CN" sz="1000" b="1" dirty="0">
              <a:latin typeface="微软雅黑" panose="020B0503020204020204" charset="-122"/>
              <a:ea typeface="微软雅黑" panose="020B0503020204020204" charset="-122"/>
            </a:endParaRPr>
          </a:p>
        </p:txBody>
      </p:sp>
      <p:sp>
        <p:nvSpPr>
          <p:cNvPr id="38" name="AutoShape 78"/>
          <p:cNvSpPr>
            <a:spLocks noChangeArrowheads="1"/>
          </p:cNvSpPr>
          <p:nvPr/>
        </p:nvSpPr>
        <p:spPr bwMode="auto">
          <a:xfrm>
            <a:off x="4644008" y="4041057"/>
            <a:ext cx="1152128" cy="684087"/>
          </a:xfrm>
          <a:prstGeom prst="wedgeRoundRectCallout">
            <a:avLst>
              <a:gd name="adj1" fmla="val 58323"/>
              <a:gd name="adj2" fmla="val -2513"/>
              <a:gd name="adj3" fmla="val 16667"/>
            </a:avLst>
          </a:prstGeom>
          <a:solidFill>
            <a:srgbClr val="FFFFCC"/>
          </a:solidFill>
          <a:ln w="19050" algn="ctr">
            <a:solidFill>
              <a:srgbClr val="242490"/>
            </a:solidFill>
            <a:miter lim="800000"/>
          </a:ln>
        </p:spPr>
        <p:txBody>
          <a:bodyPr lIns="36000" tIns="36000" rIns="36000" bIns="36000" anchor="ctr"/>
          <a:lstStyle/>
          <a:p>
            <a:pPr marL="79375" lvl="1" indent="-79375">
              <a:buFont typeface="Arial" panose="020B0604020202020204"/>
              <a:buChar char="•"/>
            </a:pPr>
            <a:r>
              <a:rPr lang="zh-CN" altLang="en-US" sz="1000" b="1" dirty="0">
                <a:latin typeface="微软雅黑" panose="020B0503020204020204" charset="-122"/>
                <a:ea typeface="微软雅黑" panose="020B0503020204020204" charset="-122"/>
              </a:rPr>
              <a:t>中期计划有效性不高</a:t>
            </a:r>
            <a:endParaRPr lang="en-US" altLang="zh-CN" sz="1000" b="1" dirty="0">
              <a:latin typeface="微软雅黑" panose="020B0503020204020204" charset="-122"/>
              <a:ea typeface="微软雅黑" panose="020B0503020204020204" charset="-122"/>
            </a:endParaRPr>
          </a:p>
          <a:p>
            <a:pPr marL="79375" lvl="1" indent="-79375">
              <a:buFont typeface="Arial" panose="020B0604020202020204"/>
              <a:buChar char="•"/>
            </a:pPr>
            <a:r>
              <a:rPr lang="zh-CN" altLang="en-US" sz="1000" b="1" dirty="0">
                <a:latin typeface="微软雅黑" panose="020B0503020204020204" charset="-122"/>
                <a:ea typeface="微软雅黑" panose="020B0503020204020204" charset="-122"/>
              </a:rPr>
              <a:t>采购订单无法指导生产及到货</a:t>
            </a:r>
            <a:endParaRPr lang="en-US" altLang="zh-CN" sz="1000" b="1" dirty="0">
              <a:latin typeface="微软雅黑" panose="020B0503020204020204" charset="-122"/>
              <a:ea typeface="微软雅黑" panose="020B0503020204020204" charset="-122"/>
            </a:endParaRPr>
          </a:p>
        </p:txBody>
      </p:sp>
      <p:sp>
        <p:nvSpPr>
          <p:cNvPr id="39" name="AutoShape 78"/>
          <p:cNvSpPr>
            <a:spLocks noChangeArrowheads="1"/>
          </p:cNvSpPr>
          <p:nvPr/>
        </p:nvSpPr>
        <p:spPr bwMode="auto">
          <a:xfrm>
            <a:off x="4860039" y="5409218"/>
            <a:ext cx="1404160" cy="396046"/>
          </a:xfrm>
          <a:prstGeom prst="wedgeRoundRectCallout">
            <a:avLst>
              <a:gd name="adj1" fmla="val -29151"/>
              <a:gd name="adj2" fmla="val -78145"/>
              <a:gd name="adj3" fmla="val 16667"/>
            </a:avLst>
          </a:prstGeom>
          <a:solidFill>
            <a:srgbClr val="FFFFCC"/>
          </a:solidFill>
          <a:ln w="19050" algn="ctr">
            <a:solidFill>
              <a:srgbClr val="242490"/>
            </a:solidFill>
            <a:miter lim="800000"/>
          </a:ln>
        </p:spPr>
        <p:txBody>
          <a:bodyPr lIns="72000" tIns="36000" rIns="36000" bIns="36000" anchor="ctr"/>
          <a:lstStyle/>
          <a:p>
            <a:pPr marL="79375" lvl="1" indent="-79375">
              <a:buFont typeface="Arial" panose="020B0604020202020204"/>
              <a:buChar char="•"/>
            </a:pPr>
            <a:r>
              <a:rPr lang="zh-CN" altLang="en-US" sz="1000" b="1" dirty="0">
                <a:latin typeface="微软雅黑" panose="020B0503020204020204" charset="-122"/>
                <a:ea typeface="微软雅黑" panose="020B0503020204020204" charset="-122"/>
              </a:rPr>
              <a:t>三天计划无法锁定，插单或变更多</a:t>
            </a:r>
            <a:endParaRPr lang="en-US" altLang="zh-CN" sz="1000" b="1" dirty="0">
              <a:latin typeface="微软雅黑" panose="020B0503020204020204" charset="-122"/>
              <a:ea typeface="微软雅黑" panose="020B0503020204020204" charset="-122"/>
            </a:endParaRPr>
          </a:p>
        </p:txBody>
      </p:sp>
      <p:sp>
        <p:nvSpPr>
          <p:cNvPr id="40" name="TextBox 39"/>
          <p:cNvSpPr txBox="1"/>
          <p:nvPr/>
        </p:nvSpPr>
        <p:spPr bwMode="auto">
          <a:xfrm>
            <a:off x="3779912" y="3356992"/>
            <a:ext cx="864116" cy="467999"/>
          </a:xfrm>
          <a:prstGeom prst="rect">
            <a:avLst/>
          </a:prstGeom>
          <a:solidFill>
            <a:schemeClr val="tx2">
              <a:lumMod val="20000"/>
              <a:lumOff val="80000"/>
            </a:schemeClr>
          </a:solidFill>
          <a:ln>
            <a:noFill/>
          </a:ln>
        </p:spPr>
        <p:txBody>
          <a:bodyPr wrap="square" rtlCol="0">
            <a:spAutoFit/>
          </a:bodyPr>
          <a:lstStyle/>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长周期件</a:t>
            </a:r>
            <a:endParaRPr kumimoji="1" lang="en-US" altLang="zh-CN" sz="1200" b="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钢材</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油料</a:t>
            </a:r>
            <a:endParaRPr kumimoji="1" 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1" name="TextBox 40"/>
          <p:cNvSpPr txBox="1"/>
          <p:nvPr/>
        </p:nvSpPr>
        <p:spPr bwMode="auto">
          <a:xfrm>
            <a:off x="3779912" y="4149080"/>
            <a:ext cx="863999" cy="467999"/>
          </a:xfrm>
          <a:prstGeom prst="rect">
            <a:avLst/>
          </a:prstGeom>
          <a:solidFill>
            <a:schemeClr val="tx2">
              <a:lumMod val="20000"/>
              <a:lumOff val="80000"/>
            </a:schemeClr>
          </a:solidFill>
          <a:ln>
            <a:noFill/>
          </a:ln>
        </p:spPr>
        <p:txBody>
          <a:bodyPr wrap="square" rtlCol="0" anchor="ctr">
            <a:noAutofit/>
          </a:bodyPr>
          <a:lstStyle/>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当量补货</a:t>
            </a:r>
            <a:endParaRPr kumimoji="1" 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2" name="TextBox 41"/>
          <p:cNvSpPr txBox="1"/>
          <p:nvPr/>
        </p:nvSpPr>
        <p:spPr bwMode="auto">
          <a:xfrm>
            <a:off x="3779912" y="4941169"/>
            <a:ext cx="863999" cy="467999"/>
          </a:xfrm>
          <a:prstGeom prst="rect">
            <a:avLst/>
          </a:prstGeom>
          <a:solidFill>
            <a:schemeClr val="tx2">
              <a:lumMod val="20000"/>
              <a:lumOff val="80000"/>
            </a:schemeClr>
          </a:solidFill>
          <a:ln>
            <a:noFill/>
          </a:ln>
        </p:spPr>
        <p:txBody>
          <a:bodyPr wrap="square" rtlCol="0">
            <a:spAutoFit/>
          </a:bodyPr>
          <a:lstStyle/>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按生产订单配送</a:t>
            </a:r>
            <a:endParaRPr kumimoji="1" 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6"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27"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43"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44"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45"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Q5</a:t>
            </a:r>
            <a:r>
              <a:rPr lang="zh-CN" altLang="en-US" dirty="0"/>
              <a:t>：零部件计划对供应商备货及生产指导性不足</a:t>
            </a:r>
          </a:p>
        </p:txBody>
      </p:sp>
      <p:grpSp>
        <p:nvGrpSpPr>
          <p:cNvPr id="2" name="组合 40"/>
          <p:cNvGrpSpPr/>
          <p:nvPr/>
        </p:nvGrpSpPr>
        <p:grpSpPr>
          <a:xfrm>
            <a:off x="857224" y="1456868"/>
            <a:ext cx="8047553" cy="3857652"/>
            <a:chOff x="447920" y="1500174"/>
            <a:chExt cx="8528295" cy="4000528"/>
          </a:xfrm>
        </p:grpSpPr>
        <p:sp>
          <p:nvSpPr>
            <p:cNvPr id="4" name="Line 5"/>
            <p:cNvSpPr>
              <a:spLocks noChangeShapeType="1"/>
            </p:cNvSpPr>
            <p:nvPr/>
          </p:nvSpPr>
          <p:spPr bwMode="auto">
            <a:xfrm>
              <a:off x="1055272" y="3519261"/>
              <a:ext cx="6660000" cy="1304"/>
            </a:xfrm>
            <a:prstGeom prst="line">
              <a:avLst/>
            </a:prstGeom>
            <a:noFill/>
            <a:ln w="38100"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5" name="Line 6"/>
            <p:cNvSpPr>
              <a:spLocks noChangeShapeType="1"/>
            </p:cNvSpPr>
            <p:nvPr/>
          </p:nvSpPr>
          <p:spPr bwMode="auto">
            <a:xfrm>
              <a:off x="3337368" y="1881487"/>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6" name="Line 7"/>
            <p:cNvSpPr>
              <a:spLocks noChangeShapeType="1"/>
            </p:cNvSpPr>
            <p:nvPr/>
          </p:nvSpPr>
          <p:spPr bwMode="auto">
            <a:xfrm>
              <a:off x="5415154" y="1881487"/>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9" name="Line 11"/>
            <p:cNvSpPr>
              <a:spLocks noChangeShapeType="1"/>
            </p:cNvSpPr>
            <p:nvPr/>
          </p:nvSpPr>
          <p:spPr bwMode="auto">
            <a:xfrm flipV="1">
              <a:off x="1942986" y="3524066"/>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0" name="Text Box 12"/>
            <p:cNvSpPr txBox="1">
              <a:spLocks noChangeArrowheads="1"/>
            </p:cNvSpPr>
            <p:nvPr/>
          </p:nvSpPr>
          <p:spPr bwMode="auto">
            <a:xfrm>
              <a:off x="2989839" y="1500174"/>
              <a:ext cx="1037943" cy="335292"/>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组织</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人员</a:t>
              </a:r>
            </a:p>
          </p:txBody>
        </p:sp>
        <p:sp>
          <p:nvSpPr>
            <p:cNvPr id="11" name="Text Box 13"/>
            <p:cNvSpPr txBox="1">
              <a:spLocks noChangeArrowheads="1"/>
            </p:cNvSpPr>
            <p:nvPr/>
          </p:nvSpPr>
          <p:spPr bwMode="auto">
            <a:xfrm>
              <a:off x="4227414" y="5166645"/>
              <a:ext cx="1037943" cy="33405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en-US" altLang="zh-CN" sz="1400" b="1" dirty="0">
                  <a:solidFill>
                    <a:srgbClr val="FFFFFF"/>
                  </a:solidFill>
                  <a:latin typeface="微软雅黑" panose="020B0503020204020204" charset="-122"/>
                  <a:ea typeface="微软雅黑" panose="020B0503020204020204" charset="-122"/>
                </a:rPr>
                <a:t>IT</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13" name="Text Box 16"/>
            <p:cNvSpPr txBox="1">
              <a:spLocks noChangeArrowheads="1"/>
            </p:cNvSpPr>
            <p:nvPr/>
          </p:nvSpPr>
          <p:spPr bwMode="auto">
            <a:xfrm>
              <a:off x="5005502" y="1500174"/>
              <a:ext cx="1037943" cy="335292"/>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策略</a:t>
              </a:r>
            </a:p>
          </p:txBody>
        </p:sp>
        <p:sp>
          <p:nvSpPr>
            <p:cNvPr id="15" name="新月形 14"/>
            <p:cNvSpPr/>
            <p:nvPr/>
          </p:nvSpPr>
          <p:spPr bwMode="auto">
            <a:xfrm rot="10800000">
              <a:off x="447920" y="2987787"/>
              <a:ext cx="695056" cy="1064251"/>
            </a:xfrm>
            <a:prstGeom prst="moon">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6" name="流程图: 延期 15"/>
            <p:cNvSpPr/>
            <p:nvPr/>
          </p:nvSpPr>
          <p:spPr bwMode="auto">
            <a:xfrm>
              <a:off x="7715272" y="2987787"/>
              <a:ext cx="1260943" cy="1064251"/>
            </a:xfrm>
            <a:prstGeom prst="flowChartDelay">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r>
                <a:rPr lang="zh-CN" altLang="en-US" sz="1600" b="1" dirty="0">
                  <a:solidFill>
                    <a:schemeClr val="bg1"/>
                  </a:solidFill>
                  <a:latin typeface="微软雅黑" panose="020B0503020204020204" charset="-122"/>
                  <a:ea typeface="微软雅黑" panose="020B0503020204020204" charset="-122"/>
                </a:rPr>
                <a:t>零部件计划指导性不足</a:t>
              </a:r>
            </a:p>
          </p:txBody>
        </p:sp>
        <p:sp>
          <p:nvSpPr>
            <p:cNvPr id="17" name="Line 11"/>
            <p:cNvSpPr>
              <a:spLocks noChangeShapeType="1"/>
            </p:cNvSpPr>
            <p:nvPr/>
          </p:nvSpPr>
          <p:spPr bwMode="auto">
            <a:xfrm flipV="1">
              <a:off x="4768696" y="3524066"/>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8" name="Text Box 14"/>
            <p:cNvSpPr txBox="1">
              <a:spLocks noChangeArrowheads="1"/>
            </p:cNvSpPr>
            <p:nvPr/>
          </p:nvSpPr>
          <p:spPr bwMode="auto">
            <a:xfrm>
              <a:off x="1714480" y="5166645"/>
              <a:ext cx="1037943" cy="33405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绩效</a:t>
              </a:r>
              <a:r>
                <a:rPr kumimoji="1" lang="en-US" altLang="zh-CN" sz="1400" b="1" dirty="0">
                  <a:solidFill>
                    <a:srgbClr val="FFFFFF"/>
                  </a:solidFill>
                  <a:latin typeface="微软雅黑" panose="020B0503020204020204" charset="-122"/>
                  <a:ea typeface="微软雅黑" panose="020B0503020204020204" charset="-122"/>
                </a:rPr>
                <a:t>/KPI</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21" name="AutoShape 21"/>
            <p:cNvSpPr/>
            <p:nvPr/>
          </p:nvSpPr>
          <p:spPr bwMode="auto">
            <a:xfrm>
              <a:off x="6318380" y="3993398"/>
              <a:ext cx="1271231" cy="448050"/>
            </a:xfrm>
            <a:prstGeom prst="borderCallout2">
              <a:avLst>
                <a:gd name="adj1" fmla="val 30000"/>
                <a:gd name="adj2" fmla="val -5861"/>
                <a:gd name="adj3" fmla="val 58571"/>
                <a:gd name="adj4" fmla="val -19523"/>
                <a:gd name="adj5" fmla="val 68465"/>
                <a:gd name="adj6" fmla="val -28087"/>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不能支持与供应商的计划协同</a:t>
              </a:r>
            </a:p>
          </p:txBody>
        </p:sp>
        <p:sp>
          <p:nvSpPr>
            <p:cNvPr id="22" name="AutoShape 21"/>
            <p:cNvSpPr/>
            <p:nvPr/>
          </p:nvSpPr>
          <p:spPr bwMode="auto">
            <a:xfrm>
              <a:off x="5857884" y="4586761"/>
              <a:ext cx="1579109" cy="526761"/>
            </a:xfrm>
            <a:prstGeom prst="borderCallout2">
              <a:avLst>
                <a:gd name="adj1" fmla="val 30000"/>
                <a:gd name="adj2" fmla="val -5861"/>
                <a:gd name="adj3" fmla="val 15374"/>
                <a:gd name="adj4" fmla="val -17770"/>
                <a:gd name="adj5" fmla="val 25267"/>
                <a:gd name="adj6" fmla="val -30716"/>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不能支持计划、订单的及时修正与采购订单例外信息处理</a:t>
              </a:r>
            </a:p>
          </p:txBody>
        </p:sp>
        <p:sp>
          <p:nvSpPr>
            <p:cNvPr id="23" name="AutoShape 21"/>
            <p:cNvSpPr/>
            <p:nvPr/>
          </p:nvSpPr>
          <p:spPr bwMode="auto">
            <a:xfrm>
              <a:off x="3695390" y="3872380"/>
              <a:ext cx="1611206" cy="569067"/>
            </a:xfrm>
            <a:prstGeom prst="borderCallout2">
              <a:avLst>
                <a:gd name="adj1" fmla="val 30000"/>
                <a:gd name="adj2" fmla="val -5861"/>
                <a:gd name="adj3" fmla="val 58571"/>
                <a:gd name="adj4" fmla="val -19523"/>
                <a:gd name="adj5" fmla="val 62705"/>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采购周期、采购批量等数据管理无指标牵引，导致</a:t>
              </a:r>
              <a:r>
                <a:rPr kumimoji="1" lang="en-US" altLang="zh-CN" sz="1000" dirty="0">
                  <a:latin typeface="微软雅黑" panose="020B0503020204020204" charset="-122"/>
                  <a:ea typeface="微软雅黑" panose="020B0503020204020204" charset="-122"/>
                </a:rPr>
                <a:t>MRP</a:t>
              </a:r>
              <a:r>
                <a:rPr kumimoji="1" lang="zh-CN" altLang="en-US" sz="1000" dirty="0">
                  <a:latin typeface="微软雅黑" panose="020B0503020204020204" charset="-122"/>
                  <a:ea typeface="微软雅黑" panose="020B0503020204020204" charset="-122"/>
                </a:rPr>
                <a:t>运行受影响</a:t>
              </a:r>
            </a:p>
          </p:txBody>
        </p:sp>
        <p:sp>
          <p:nvSpPr>
            <p:cNvPr id="25" name="AutoShape 21"/>
            <p:cNvSpPr/>
            <p:nvPr/>
          </p:nvSpPr>
          <p:spPr bwMode="auto">
            <a:xfrm>
              <a:off x="4079370" y="1902499"/>
              <a:ext cx="1411740" cy="522725"/>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整体对计划重视度还不够，更关注执行</a:t>
              </a:r>
            </a:p>
          </p:txBody>
        </p:sp>
        <p:sp>
          <p:nvSpPr>
            <p:cNvPr id="26" name="AutoShape 21"/>
            <p:cNvSpPr/>
            <p:nvPr/>
          </p:nvSpPr>
          <p:spPr bwMode="auto">
            <a:xfrm>
              <a:off x="6048087" y="1878257"/>
              <a:ext cx="1611206" cy="413875"/>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solidFill>
                    <a:srgbClr val="000000"/>
                  </a:solidFill>
                  <a:latin typeface="微软雅黑" panose="020B0503020204020204" charset="-122"/>
                  <a:ea typeface="微软雅黑" panose="020B0503020204020204" charset="-122"/>
                </a:rPr>
                <a:t>针对长周期进口件的零部件计划策略还需完善</a:t>
              </a:r>
            </a:p>
          </p:txBody>
        </p:sp>
        <p:sp>
          <p:nvSpPr>
            <p:cNvPr id="27" name="AutoShape 21"/>
            <p:cNvSpPr/>
            <p:nvPr/>
          </p:nvSpPr>
          <p:spPr bwMode="auto">
            <a:xfrm>
              <a:off x="6680442" y="2425223"/>
              <a:ext cx="1138098" cy="448050"/>
            </a:xfrm>
            <a:prstGeom prst="borderCallout2">
              <a:avLst>
                <a:gd name="adj1" fmla="val 30000"/>
                <a:gd name="adj2" fmla="val -5861"/>
                <a:gd name="adj3" fmla="val -13425"/>
                <a:gd name="adj4" fmla="val -8129"/>
                <a:gd name="adj5" fmla="val -651"/>
                <a:gd name="adj6" fmla="val -23705"/>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缺乏对计划模式及规则的共识</a:t>
              </a:r>
            </a:p>
          </p:txBody>
        </p:sp>
        <p:sp>
          <p:nvSpPr>
            <p:cNvPr id="29" name="AutoShape 21"/>
            <p:cNvSpPr/>
            <p:nvPr/>
          </p:nvSpPr>
          <p:spPr bwMode="auto">
            <a:xfrm>
              <a:off x="2934726" y="4590797"/>
              <a:ext cx="1220953" cy="448050"/>
            </a:xfrm>
            <a:prstGeom prst="borderCallout2">
              <a:avLst>
                <a:gd name="adj1" fmla="val 30000"/>
                <a:gd name="adj2" fmla="val -5861"/>
                <a:gd name="adj3" fmla="val 61451"/>
                <a:gd name="adj4" fmla="val -11634"/>
                <a:gd name="adj5" fmla="val 71344"/>
                <a:gd name="adj6" fmla="val -1932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采购计划准确率受限于准确性问题较少关注</a:t>
              </a:r>
            </a:p>
          </p:txBody>
        </p:sp>
        <p:sp>
          <p:nvSpPr>
            <p:cNvPr id="31" name="AutoShape 21"/>
            <p:cNvSpPr/>
            <p:nvPr/>
          </p:nvSpPr>
          <p:spPr bwMode="auto">
            <a:xfrm>
              <a:off x="3286116" y="3000372"/>
              <a:ext cx="1611206" cy="413875"/>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endParaRPr kumimoji="1" lang="zh-CN" altLang="en-US" sz="1000" dirty="0">
                <a:latin typeface="微软雅黑" panose="020B0503020204020204" charset="-122"/>
                <a:ea typeface="微软雅黑" panose="020B0503020204020204" charset="-122"/>
              </a:endParaRPr>
            </a:p>
          </p:txBody>
        </p:sp>
        <p:sp>
          <p:nvSpPr>
            <p:cNvPr id="35" name="Line 6"/>
            <p:cNvSpPr>
              <a:spLocks noChangeShapeType="1"/>
            </p:cNvSpPr>
            <p:nvPr/>
          </p:nvSpPr>
          <p:spPr bwMode="auto">
            <a:xfrm>
              <a:off x="1108949" y="1904062"/>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36" name="Text Box 12"/>
            <p:cNvSpPr txBox="1">
              <a:spLocks noChangeArrowheads="1"/>
            </p:cNvSpPr>
            <p:nvPr/>
          </p:nvSpPr>
          <p:spPr bwMode="auto">
            <a:xfrm>
              <a:off x="857224" y="1522749"/>
              <a:ext cx="1037943" cy="335292"/>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管理</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流程</a:t>
              </a:r>
            </a:p>
          </p:txBody>
        </p:sp>
        <p:sp>
          <p:nvSpPr>
            <p:cNvPr id="37" name="AutoShape 21"/>
            <p:cNvSpPr/>
            <p:nvPr/>
          </p:nvSpPr>
          <p:spPr bwMode="auto">
            <a:xfrm>
              <a:off x="2553178" y="2350549"/>
              <a:ext cx="1096153" cy="531926"/>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营销端预测准确率较低</a:t>
              </a:r>
            </a:p>
          </p:txBody>
        </p:sp>
        <p:sp>
          <p:nvSpPr>
            <p:cNvPr id="38" name="AutoShape 21"/>
            <p:cNvSpPr/>
            <p:nvPr/>
          </p:nvSpPr>
          <p:spPr bwMode="auto">
            <a:xfrm>
              <a:off x="1899809" y="1900832"/>
              <a:ext cx="1611206" cy="413875"/>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长周期进口件未与营销端商机相关联</a:t>
              </a:r>
            </a:p>
          </p:txBody>
        </p:sp>
        <p:cxnSp>
          <p:nvCxnSpPr>
            <p:cNvPr id="45" name="直接连接符 44"/>
            <p:cNvCxnSpPr>
              <a:endCxn id="38" idx="2"/>
            </p:cNvCxnSpPr>
            <p:nvPr/>
          </p:nvCxnSpPr>
          <p:spPr bwMode="auto">
            <a:xfrm>
              <a:off x="1500166" y="2071678"/>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7" name="直接连接符 46"/>
            <p:cNvCxnSpPr/>
            <p:nvPr/>
          </p:nvCxnSpPr>
          <p:spPr bwMode="auto">
            <a:xfrm>
              <a:off x="2143108" y="2643182"/>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8" name="直接连接符 47"/>
            <p:cNvCxnSpPr/>
            <p:nvPr/>
          </p:nvCxnSpPr>
          <p:spPr bwMode="auto">
            <a:xfrm>
              <a:off x="2786050" y="3214686"/>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9" name="直接连接符 48"/>
            <p:cNvCxnSpPr/>
            <p:nvPr/>
          </p:nvCxnSpPr>
          <p:spPr bwMode="auto">
            <a:xfrm>
              <a:off x="3643306" y="2071678"/>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0" name="直接连接符 49"/>
            <p:cNvCxnSpPr/>
            <p:nvPr/>
          </p:nvCxnSpPr>
          <p:spPr bwMode="auto">
            <a:xfrm>
              <a:off x="4214810" y="2643182"/>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1" name="直接连接符 50"/>
            <p:cNvCxnSpPr/>
            <p:nvPr/>
          </p:nvCxnSpPr>
          <p:spPr bwMode="auto">
            <a:xfrm>
              <a:off x="5715008" y="2071678"/>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2" name="直接连接符 51"/>
            <p:cNvCxnSpPr/>
            <p:nvPr/>
          </p:nvCxnSpPr>
          <p:spPr bwMode="auto">
            <a:xfrm>
              <a:off x="6286512" y="2571744"/>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3" name="直接连接符 52"/>
            <p:cNvCxnSpPr/>
            <p:nvPr/>
          </p:nvCxnSpPr>
          <p:spPr bwMode="auto">
            <a:xfrm>
              <a:off x="3286116" y="4071942"/>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4" name="直接连接符 53"/>
            <p:cNvCxnSpPr/>
            <p:nvPr/>
          </p:nvCxnSpPr>
          <p:spPr bwMode="auto">
            <a:xfrm>
              <a:off x="2400559" y="4814822"/>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5" name="直接连接符 54"/>
            <p:cNvCxnSpPr/>
            <p:nvPr/>
          </p:nvCxnSpPr>
          <p:spPr bwMode="auto">
            <a:xfrm>
              <a:off x="5886869" y="4214818"/>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6" name="直接连接符 55"/>
            <p:cNvCxnSpPr/>
            <p:nvPr/>
          </p:nvCxnSpPr>
          <p:spPr bwMode="auto">
            <a:xfrm>
              <a:off x="5357818" y="4714884"/>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57" name="AutoShape 21"/>
            <p:cNvSpPr/>
            <p:nvPr/>
          </p:nvSpPr>
          <p:spPr bwMode="auto">
            <a:xfrm>
              <a:off x="4689846" y="2425223"/>
              <a:ext cx="1411740" cy="522725"/>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人员疲于进行短期交付，无暇顾及中长期计划管理</a:t>
              </a:r>
            </a:p>
          </p:txBody>
        </p:sp>
        <p:sp>
          <p:nvSpPr>
            <p:cNvPr id="58" name="AutoShape 21"/>
            <p:cNvSpPr/>
            <p:nvPr/>
          </p:nvSpPr>
          <p:spPr bwMode="auto">
            <a:xfrm>
              <a:off x="3163655" y="3022623"/>
              <a:ext cx="1068334" cy="373375"/>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产销平衡机制待完善</a:t>
              </a:r>
            </a:p>
          </p:txBody>
        </p:sp>
      </p:grpSp>
      <p:sp>
        <p:nvSpPr>
          <p:cNvPr id="44" name="矩形 4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lIns="72000" tIns="46800" rIns="72000" rtlCol="0" anchor="t"/>
          <a:lstStyle/>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策略</a:t>
            </a:r>
            <a:r>
              <a:rPr lang="zh-CN" altLang="en-US" sz="1200" dirty="0">
                <a:latin typeface="微软雅黑" panose="020B0503020204020204" charset="-122"/>
                <a:ea typeface="微软雅黑" panose="020B0503020204020204" charset="-122"/>
              </a:rPr>
              <a:t>：集成计划模式［</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组织</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人员</a:t>
            </a:r>
            <a:r>
              <a:rPr lang="zh-CN" altLang="en-US" sz="1200" dirty="0">
                <a:latin typeface="微软雅黑" panose="020B0503020204020204" charset="-122"/>
                <a:ea typeface="微软雅黑" panose="020B0503020204020204" charset="-122"/>
              </a:rPr>
              <a:t>：将达成共识的集成计划模式和需求提报方法在组织内进行宣贯和培训［x团队推进］</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管理</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流程</a:t>
            </a:r>
            <a:r>
              <a:rPr lang="zh-CN" altLang="en-US" sz="1200" dirty="0">
                <a:latin typeface="微软雅黑" panose="020B0503020204020204" charset="-122"/>
                <a:ea typeface="微软雅黑" panose="020B0503020204020204" charset="-122"/>
              </a:rPr>
              <a:t>：梳理零部件管理策略［</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；梳理零部件计划管理流程［</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绩效</a:t>
            </a:r>
            <a:r>
              <a:rPr lang="en-US" altLang="zh-CN" sz="1200" u="sng"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：梳理</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指标体系［</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顶层设计］，并开发相关的指标报表［</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系统实施］</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a:t>
            </a:r>
            <a:r>
              <a:rPr lang="en-US" altLang="zh-CN" sz="1200" u="sng"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：支持</a:t>
            </a:r>
            <a:r>
              <a:rPr lang="en-US" altLang="zh-CN" sz="1200" dirty="0">
                <a:latin typeface="微软雅黑" panose="020B0503020204020204" charset="-122"/>
                <a:ea typeface="微软雅黑" panose="020B0503020204020204" charset="-122"/>
              </a:rPr>
              <a:t>MRP</a:t>
            </a:r>
            <a:r>
              <a:rPr lang="zh-CN" altLang="en-US" sz="1200" dirty="0">
                <a:latin typeface="微软雅黑" panose="020B0503020204020204" charset="-122"/>
                <a:ea typeface="微软雅黑" panose="020B0503020204020204" charset="-122"/>
              </a:rPr>
              <a:t>运算及系统发布零部件计划及订单、发货指令［</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系统实施</a:t>
            </a:r>
            <a:r>
              <a:rPr lang="en-US" altLang="zh-CN" sz="1200" dirty="0">
                <a:latin typeface="微软雅黑" panose="020B0503020204020204" charset="-122"/>
                <a:ea typeface="微软雅黑" panose="020B0503020204020204" charset="-122"/>
              </a:rPr>
              <a:t>/CRM</a:t>
            </a:r>
            <a:r>
              <a:rPr lang="zh-CN" altLang="en-US" sz="1200" dirty="0">
                <a:latin typeface="微软雅黑" panose="020B0503020204020204" charset="-122"/>
                <a:ea typeface="微软雅黑" panose="020B0503020204020204" charset="-122"/>
              </a:rPr>
              <a:t>优化］ </a:t>
            </a:r>
          </a:p>
        </p:txBody>
      </p:sp>
      <p:sp>
        <p:nvSpPr>
          <p:cNvPr id="42" name="矩形 41"/>
          <p:cNvSpPr/>
          <p:nvPr/>
        </p:nvSpPr>
        <p:spPr bwMode="auto">
          <a:xfrm>
            <a:off x="214282" y="1385430"/>
            <a:ext cx="500066" cy="4068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根因分析</a:t>
            </a:r>
          </a:p>
        </p:txBody>
      </p:sp>
      <p:sp>
        <p:nvSpPr>
          <p:cNvPr id="43" name="矩形 4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改进方向</a:t>
            </a:r>
          </a:p>
        </p:txBody>
      </p:sp>
      <p:sp>
        <p:nvSpPr>
          <p:cNvPr id="46" name="矩形 45"/>
          <p:cNvSpPr/>
          <p:nvPr/>
        </p:nvSpPr>
        <p:spPr bwMode="auto">
          <a:xfrm>
            <a:off x="785786" y="1385430"/>
            <a:ext cx="8172000" cy="4068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62"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63"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64"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65"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66"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Chart 29"/>
          <p:cNvGraphicFramePr/>
          <p:nvPr/>
        </p:nvGraphicFramePr>
        <p:xfrm>
          <a:off x="395536" y="3286124"/>
          <a:ext cx="4176464" cy="18710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Chart 32"/>
          <p:cNvGraphicFramePr/>
          <p:nvPr/>
        </p:nvGraphicFramePr>
        <p:xfrm>
          <a:off x="4572000" y="3000372"/>
          <a:ext cx="4321919" cy="2242074"/>
        </p:xfrm>
        <a:graphic>
          <a:graphicData uri="http://schemas.openxmlformats.org/drawingml/2006/chart">
            <c:chart xmlns:c="http://schemas.openxmlformats.org/drawingml/2006/chart" xmlns:r="http://schemas.openxmlformats.org/officeDocument/2006/relationships" r:id="rId3"/>
          </a:graphicData>
        </a:graphic>
      </p:graphicFrame>
      <p:sp>
        <p:nvSpPr>
          <p:cNvPr id="3" name="标题 1"/>
          <p:cNvSpPr>
            <a:spLocks noGrp="1"/>
          </p:cNvSpPr>
          <p:nvPr>
            <p:ph type="title" idx="4294967295"/>
          </p:nvPr>
        </p:nvSpPr>
        <p:spPr>
          <a:xfrm>
            <a:off x="162000" y="593725"/>
            <a:ext cx="8820000" cy="695325"/>
          </a:xfrm>
        </p:spPr>
        <p:txBody>
          <a:bodyPr/>
          <a:lstStyle/>
          <a:p>
            <a:r>
              <a:rPr dirty="0"/>
              <a:t>Q</a:t>
            </a:r>
            <a:r>
              <a:rPr lang="en-US" altLang="zh-CN" dirty="0"/>
              <a:t>6</a:t>
            </a:r>
            <a:r>
              <a:rPr lang="zh-CN" altLang="en-US" dirty="0"/>
              <a:t>：因计划变更等造成的零部件缺件较多，供应及预警机制需完善</a:t>
            </a:r>
          </a:p>
        </p:txBody>
      </p:sp>
      <p:sp>
        <p:nvSpPr>
          <p:cNvPr id="9" name="TextBox 8"/>
          <p:cNvSpPr txBox="1"/>
          <p:nvPr/>
        </p:nvSpPr>
        <p:spPr bwMode="auto">
          <a:xfrm>
            <a:off x="214281" y="1386000"/>
            <a:ext cx="8739555" cy="50040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a:ln>
          <a:effectLst/>
        </p:spPr>
        <p:txBody>
          <a:bodyPr rtlCol="0" anchor="ctr"/>
          <a:lstStyle>
            <a:defPPr>
              <a:defRPr lang="zh-CN"/>
            </a:defPPr>
            <a:lvl1pPr algn="ctr" fontAlgn="auto">
              <a:spcBef>
                <a:spcPts val="0"/>
              </a:spcBef>
              <a:spcAft>
                <a:spcPts val="0"/>
              </a:spcAft>
              <a:defRPr sz="1600" b="1">
                <a:solidFill>
                  <a:schemeClr val="bg2"/>
                </a:solidFill>
                <a:latin typeface="微软雅黑" panose="020B0503020204020204" charset="-122"/>
                <a:ea typeface="微软雅黑" panose="020B0503020204020204" charset="-122"/>
              </a:defRPr>
            </a:lvl1pPr>
          </a:lstStyle>
          <a:p>
            <a:pPr fontAlgn="base">
              <a:spcBef>
                <a:spcPct val="0"/>
              </a:spcBef>
              <a:spcAft>
                <a:spcPct val="0"/>
              </a:spcAft>
            </a:pPr>
            <a:r>
              <a:rPr lang="zh-CN" altLang="en-US" sz="1400" dirty="0">
                <a:solidFill>
                  <a:schemeClr val="tx1"/>
                </a:solidFill>
              </a:rPr>
              <a:t>问题描述</a:t>
            </a:r>
            <a:endParaRPr lang="en-US" altLang="en-US" sz="1400" dirty="0">
              <a:solidFill>
                <a:schemeClr val="tx1"/>
              </a:solidFill>
            </a:endParaRPr>
          </a:p>
        </p:txBody>
      </p:sp>
      <p:sp>
        <p:nvSpPr>
          <p:cNvPr id="10" name="矩形 9"/>
          <p:cNvSpPr/>
          <p:nvPr/>
        </p:nvSpPr>
        <p:spPr bwMode="auto">
          <a:xfrm>
            <a:off x="214282" y="1949964"/>
            <a:ext cx="8739218" cy="349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dirty="0"/>
          </a:p>
        </p:txBody>
      </p:sp>
      <p:sp>
        <p:nvSpPr>
          <p:cNvPr id="13" name="矩形 1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业务影响</a:t>
            </a:r>
          </a:p>
        </p:txBody>
      </p:sp>
      <p:sp>
        <p:nvSpPr>
          <p:cNvPr id="14" name="矩形 1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1</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、无法实现对客户的交付承诺</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2</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生产稳定性受到影响</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，生产的不连续导致可能的生产线效率损失及整机质量问题</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3</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、计划变更导致的零部件备货错误可能造成</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库存呆滞</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4</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、生产及采购人员处理临时缺料工作量大，</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不利于整体采购能力的提升</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 name="TextBox 1"/>
          <p:cNvSpPr txBox="1"/>
          <p:nvPr/>
        </p:nvSpPr>
        <p:spPr bwMode="auto">
          <a:xfrm>
            <a:off x="251519" y="1988840"/>
            <a:ext cx="8713093" cy="1015663"/>
          </a:xfrm>
          <a:prstGeom prst="rect">
            <a:avLst/>
          </a:prstGeom>
          <a:noFill/>
          <a:ln>
            <a:noFill/>
          </a:ln>
        </p:spPr>
        <p:txBody>
          <a:bodyPr wrap="square" rtlCol="0">
            <a:spAutoFit/>
          </a:bodyPr>
          <a:lstStyle/>
          <a:p>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因计划变更与供应商交付问题，上线后零部件缺件对生产稳定性造成影响</a:t>
            </a:r>
            <a:endPar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2</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015</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年下半年，</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中挖月均停线时间达</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377</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小时</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latin typeface="微软雅黑" panose="020B0503020204020204" charset="-122"/>
                <a:ea typeface="微软雅黑" panose="020B0503020204020204" charset="-122"/>
                <a:cs typeface="微软雅黑" panose="020B0503020204020204" charset="-122"/>
              </a:rPr>
              <a:t>生产线可动率</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为</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68%</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 </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其中外购件影响占总工时比率为</a:t>
            </a:r>
            <a:r>
              <a:rPr kumimoji="1" lang="zh-CN" altLang="zh-CN" sz="1200" b="1" dirty="0">
                <a:solidFill>
                  <a:srgbClr val="0000FF"/>
                </a:solidFill>
                <a:latin typeface="微软雅黑" panose="020B0503020204020204" charset="-122"/>
                <a:ea typeface="微软雅黑" panose="020B0503020204020204" charset="-122"/>
                <a:cs typeface="微软雅黑" panose="020B0503020204020204" charset="-122"/>
              </a:rPr>
              <a:t>2</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0%</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；大挖月均损失工时</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2364</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小时</a:t>
            </a:r>
            <a:r>
              <a:rPr kumimoji="1" lang="zh-CN" altLang="zh-CN" sz="1200" b="1" dirty="0">
                <a:solidFill>
                  <a:srgbClr val="0000FF"/>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人</a:t>
            </a:r>
            <a:r>
              <a:rPr kumimoji="1" lang="en-US" altLang="zh-CN" sz="1200" b="1" dirty="0">
                <a:solidFill>
                  <a:srgbClr val="0000FF"/>
                </a:solidFill>
                <a:latin typeface="微软雅黑" panose="020B0503020204020204" charset="-122"/>
                <a:ea typeface="微软雅黑" panose="020B0503020204020204" charset="-122"/>
                <a:cs typeface="微软雅黑" panose="020B0503020204020204" charset="-122"/>
              </a:rPr>
              <a:t>, </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生产线可动率为</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98%</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其中外购件影响占总工时比率为</a:t>
            </a:r>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0</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.6</a:t>
            </a:r>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pitchFamily="2" charset="2"/>
              <a:buChar char="Ø"/>
            </a:pP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计划变更</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（客户配置变更</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设计变更</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紧急国际订单）引起的</a:t>
            </a:r>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外购件短缺较多，供应商备货盲目</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供应策略及风险识别还有待进一步提升，</a:t>
            </a:r>
            <a:r>
              <a:rPr kumimoji="1" lang="zh-CN" altLang="en-US" sz="1200" b="1" dirty="0">
                <a:solidFill>
                  <a:srgbClr val="0000FF"/>
                </a:solidFill>
                <a:latin typeface="微软雅黑" panose="020B0503020204020204" charset="-122"/>
                <a:ea typeface="微软雅黑" panose="020B0503020204020204" charset="-122"/>
                <a:cs typeface="微软雅黑" panose="020B0503020204020204" charset="-122"/>
              </a:rPr>
              <a:t>无法实现准确预警及自动化</a:t>
            </a:r>
            <a:endParaRPr kumimoji="1" lang="en-US" sz="1200" b="1" dirty="0">
              <a:solidFill>
                <a:srgbClr val="0000FF"/>
              </a:solidFill>
              <a:latin typeface="微软雅黑" panose="020B0503020204020204" charset="-122"/>
              <a:ea typeface="微软雅黑" panose="020B0503020204020204" charset="-122"/>
              <a:cs typeface="微软雅黑" panose="020B0503020204020204" charset="-122"/>
            </a:endParaRPr>
          </a:p>
        </p:txBody>
      </p:sp>
      <p:sp>
        <p:nvSpPr>
          <p:cNvPr id="20"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21"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22"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23"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24"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
        <p:nvSpPr>
          <p:cNvPr id="19" name="TextBox 18"/>
          <p:cNvSpPr txBox="1"/>
          <p:nvPr/>
        </p:nvSpPr>
        <p:spPr bwMode="auto">
          <a:xfrm>
            <a:off x="285720" y="3000372"/>
            <a:ext cx="864096" cy="400110"/>
          </a:xfrm>
          <a:prstGeom prst="rect">
            <a:avLst/>
          </a:prstGeom>
          <a:noFill/>
          <a:ln>
            <a:noFill/>
          </a:ln>
        </p:spPr>
        <p:txBody>
          <a:bodyPr wrap="square" rtlCol="0">
            <a:spAutoFit/>
          </a:bodyPr>
          <a:lstStyle/>
          <a:p>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挖</a:t>
            </a:r>
            <a:r>
              <a:rPr kumimoji="1" lang="zh-CN" altLang="en-US" sz="1000" dirty="0">
                <a:solidFill>
                  <a:srgbClr val="000000"/>
                </a:solidFill>
                <a:latin typeface="微软雅黑" panose="020B0503020204020204" charset="-122"/>
                <a:ea typeface="微软雅黑" panose="020B0503020204020204" charset="-122"/>
                <a:cs typeface="微软雅黑" panose="020B0503020204020204" charset="-122"/>
              </a:rPr>
              <a:t>停线时间</a:t>
            </a:r>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（小时）</a:t>
            </a:r>
            <a:endParaRPr kumimoji="1" lang="en-US" sz="10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bwMode="auto">
          <a:xfrm>
            <a:off x="5652120" y="3009125"/>
            <a:ext cx="2592288" cy="276999"/>
          </a:xfrm>
          <a:prstGeom prst="rect">
            <a:avLst/>
          </a:prstGeom>
          <a:noFill/>
          <a:ln>
            <a:noFill/>
          </a:ln>
        </p:spPr>
        <p:txBody>
          <a:bodyPr wrap="square" rtlCol="0">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大挖</a:t>
            </a:r>
            <a:endParaRPr kumimoji="1" lang="en-US" sz="12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9" name="TextBox 28"/>
          <p:cNvSpPr txBox="1"/>
          <p:nvPr/>
        </p:nvSpPr>
        <p:spPr bwMode="auto">
          <a:xfrm>
            <a:off x="1357290" y="3009125"/>
            <a:ext cx="2376264" cy="276999"/>
          </a:xfrm>
          <a:prstGeom prst="rect">
            <a:avLst/>
          </a:prstGeom>
          <a:noFill/>
          <a:ln>
            <a:noFill/>
          </a:ln>
        </p:spPr>
        <p:txBody>
          <a:bodyPr wrap="square" rtlCol="0" anchor="b">
            <a:spAutoFit/>
          </a:bodyPr>
          <a:lstStyle/>
          <a:p>
            <a:pPr algn="ct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中挖</a:t>
            </a:r>
            <a:endParaRPr kumimoji="1" lang="en-US" sz="12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31" name="TextBox 30"/>
          <p:cNvSpPr txBox="1"/>
          <p:nvPr/>
        </p:nvSpPr>
        <p:spPr bwMode="auto">
          <a:xfrm>
            <a:off x="251520" y="5085184"/>
            <a:ext cx="8424936" cy="36830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zh-CN" altLang="zh-CN" sz="900" i="1" dirty="0">
                <a:solidFill>
                  <a:srgbClr val="000000"/>
                </a:solidFill>
                <a:latin typeface="微软雅黑" panose="020B0503020204020204" charset="-122"/>
                <a:ea typeface="微软雅黑" panose="020B0503020204020204" charset="-122"/>
                <a:cs typeface="微软雅黑" panose="020B0503020204020204" charset="-122"/>
              </a:rPr>
              <a:t>6</a:t>
            </a:r>
            <a:r>
              <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rPr>
              <a:t>-12</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月</a:t>
            </a:r>
            <a:r>
              <a:rPr kumimoji="1" lang="zh-CN" altLang="en-US" sz="900" i="1" dirty="0">
                <a:solidFill>
                  <a:srgbClr val="000000"/>
                </a:solidFill>
                <a:latin typeface="微软雅黑" panose="020B0503020204020204" charset="-122"/>
                <a:ea typeface="微软雅黑" panose="020B0503020204020204" charset="-122"/>
                <a:cs typeface="微软雅黑" panose="020B0503020204020204" charset="-122"/>
              </a:rPr>
              <a:t>大挖组装部损失工时、中挖回转平台生产线停线时间数据；中挖考虑了因某一工序导致的其他工序停线；大挖未计算在内</a:t>
            </a:r>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5" name="TextBox 24"/>
          <p:cNvSpPr txBox="1"/>
          <p:nvPr/>
        </p:nvSpPr>
        <p:spPr bwMode="auto">
          <a:xfrm>
            <a:off x="3571868" y="3000372"/>
            <a:ext cx="1143008" cy="369332"/>
          </a:xfrm>
          <a:prstGeom prst="rect">
            <a:avLst/>
          </a:prstGeom>
          <a:noFill/>
          <a:ln>
            <a:noFill/>
          </a:ln>
        </p:spPr>
        <p:txBody>
          <a:bodyPr wrap="square" rtlCol="0">
            <a:spAutoFit/>
          </a:bodyPr>
          <a:lstStyle/>
          <a:p>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外购件缺件影响停线占总工时比率</a:t>
            </a:r>
            <a:endParaRPr kumimoji="1" lang="en-US" sz="9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6" name="TextBox 25"/>
          <p:cNvSpPr txBox="1"/>
          <p:nvPr/>
        </p:nvSpPr>
        <p:spPr bwMode="auto">
          <a:xfrm>
            <a:off x="7929586" y="3000372"/>
            <a:ext cx="1143008" cy="369332"/>
          </a:xfrm>
          <a:prstGeom prst="rect">
            <a:avLst/>
          </a:prstGeom>
          <a:noFill/>
          <a:ln>
            <a:noFill/>
          </a:ln>
        </p:spPr>
        <p:txBody>
          <a:bodyPr wrap="square" rtlCol="0">
            <a:spAutoFit/>
          </a:bodyPr>
          <a:lstStyle/>
          <a:p>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外购件缺件影响停线占总工时比率</a:t>
            </a:r>
            <a:endParaRPr kumimoji="1" lang="en-US" sz="9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8" name="TextBox 27"/>
          <p:cNvSpPr txBox="1"/>
          <p:nvPr/>
        </p:nvSpPr>
        <p:spPr bwMode="auto">
          <a:xfrm>
            <a:off x="5000628" y="3000372"/>
            <a:ext cx="928694" cy="369332"/>
          </a:xfrm>
          <a:prstGeom prst="rect">
            <a:avLst/>
          </a:prstGeom>
          <a:noFill/>
          <a:ln>
            <a:noFill/>
          </a:ln>
        </p:spPr>
        <p:txBody>
          <a:bodyPr wrap="square" rtlCol="0">
            <a:spAutoFit/>
          </a:bodyPr>
          <a:lstStyle/>
          <a:p>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大挖损失总工时</a:t>
            </a:r>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900" b="0" dirty="0">
                <a:solidFill>
                  <a:srgbClr val="000000"/>
                </a:solidFill>
                <a:latin typeface="微软雅黑" panose="020B0503020204020204" charset="-122"/>
                <a:ea typeface="微软雅黑" panose="020B0503020204020204" charset="-122"/>
                <a:cs typeface="微软雅黑" panose="020B0503020204020204" charset="-122"/>
              </a:rPr>
              <a:t>小时＊人</a:t>
            </a:r>
            <a:r>
              <a:rPr kumimoji="1" lang="en-US" altLang="zh-CN" sz="900" b="0"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sz="900" b="0"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a:t>
            </a:r>
            <a:r>
              <a:rPr lang="en-US" altLang="zh-CN" dirty="0"/>
              <a:t>6</a:t>
            </a:r>
            <a:r>
              <a:rPr lang="zh-CN" altLang="en-US" dirty="0"/>
              <a:t>：因计划变更等造成的零部件缺件较多，供应及预警机制需完善</a:t>
            </a:r>
          </a:p>
        </p:txBody>
      </p:sp>
      <p:grpSp>
        <p:nvGrpSpPr>
          <p:cNvPr id="2" name="组合 40"/>
          <p:cNvGrpSpPr/>
          <p:nvPr/>
        </p:nvGrpSpPr>
        <p:grpSpPr>
          <a:xfrm>
            <a:off x="857224" y="1456868"/>
            <a:ext cx="8047553" cy="3857652"/>
            <a:chOff x="447920" y="1500174"/>
            <a:chExt cx="8528295" cy="4000528"/>
          </a:xfrm>
        </p:grpSpPr>
        <p:sp>
          <p:nvSpPr>
            <p:cNvPr id="4" name="Line 5"/>
            <p:cNvSpPr>
              <a:spLocks noChangeShapeType="1"/>
            </p:cNvSpPr>
            <p:nvPr/>
          </p:nvSpPr>
          <p:spPr bwMode="auto">
            <a:xfrm>
              <a:off x="1055272" y="3519261"/>
              <a:ext cx="6660000" cy="1304"/>
            </a:xfrm>
            <a:prstGeom prst="line">
              <a:avLst/>
            </a:prstGeom>
            <a:noFill/>
            <a:ln w="38100"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5" name="Line 6"/>
            <p:cNvSpPr>
              <a:spLocks noChangeShapeType="1"/>
            </p:cNvSpPr>
            <p:nvPr/>
          </p:nvSpPr>
          <p:spPr bwMode="auto">
            <a:xfrm>
              <a:off x="3337368" y="1881487"/>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6" name="Line 7"/>
            <p:cNvSpPr>
              <a:spLocks noChangeShapeType="1"/>
            </p:cNvSpPr>
            <p:nvPr/>
          </p:nvSpPr>
          <p:spPr bwMode="auto">
            <a:xfrm>
              <a:off x="5415154" y="1881487"/>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9" name="Line 11"/>
            <p:cNvSpPr>
              <a:spLocks noChangeShapeType="1"/>
            </p:cNvSpPr>
            <p:nvPr/>
          </p:nvSpPr>
          <p:spPr bwMode="auto">
            <a:xfrm flipV="1">
              <a:off x="1942986" y="3524066"/>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0" name="Text Box 12"/>
            <p:cNvSpPr txBox="1">
              <a:spLocks noChangeArrowheads="1"/>
            </p:cNvSpPr>
            <p:nvPr/>
          </p:nvSpPr>
          <p:spPr bwMode="auto">
            <a:xfrm>
              <a:off x="2989839" y="1500174"/>
              <a:ext cx="1037943" cy="335292"/>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组织</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人员</a:t>
              </a:r>
            </a:p>
          </p:txBody>
        </p:sp>
        <p:sp>
          <p:nvSpPr>
            <p:cNvPr id="11" name="Text Box 13"/>
            <p:cNvSpPr txBox="1">
              <a:spLocks noChangeArrowheads="1"/>
            </p:cNvSpPr>
            <p:nvPr/>
          </p:nvSpPr>
          <p:spPr bwMode="auto">
            <a:xfrm>
              <a:off x="4227414" y="5166645"/>
              <a:ext cx="1037943" cy="33405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en-US" altLang="zh-CN" sz="1400" b="1" dirty="0">
                  <a:solidFill>
                    <a:srgbClr val="FFFFFF"/>
                  </a:solidFill>
                  <a:latin typeface="微软雅黑" panose="020B0503020204020204" charset="-122"/>
                  <a:ea typeface="微软雅黑" panose="020B0503020204020204" charset="-122"/>
                </a:rPr>
                <a:t>IT</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13" name="Text Box 16"/>
            <p:cNvSpPr txBox="1">
              <a:spLocks noChangeArrowheads="1"/>
            </p:cNvSpPr>
            <p:nvPr/>
          </p:nvSpPr>
          <p:spPr bwMode="auto">
            <a:xfrm>
              <a:off x="5005502" y="1500174"/>
              <a:ext cx="1037943" cy="335292"/>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策略</a:t>
              </a:r>
            </a:p>
          </p:txBody>
        </p:sp>
        <p:sp>
          <p:nvSpPr>
            <p:cNvPr id="15" name="新月形 14"/>
            <p:cNvSpPr/>
            <p:nvPr/>
          </p:nvSpPr>
          <p:spPr bwMode="auto">
            <a:xfrm rot="10800000">
              <a:off x="447920" y="2987787"/>
              <a:ext cx="695056" cy="1064251"/>
            </a:xfrm>
            <a:prstGeom prst="moon">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6" name="流程图: 延期 15"/>
            <p:cNvSpPr/>
            <p:nvPr/>
          </p:nvSpPr>
          <p:spPr bwMode="auto">
            <a:xfrm>
              <a:off x="7715272" y="2987787"/>
              <a:ext cx="1260943" cy="1064251"/>
            </a:xfrm>
            <a:prstGeom prst="flowChartDelay">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r>
                <a:rPr lang="zh-CN" altLang="en-US" sz="1600" b="1" dirty="0">
                  <a:solidFill>
                    <a:schemeClr val="bg1"/>
                  </a:solidFill>
                  <a:latin typeface="微软雅黑" panose="020B0503020204020204" charset="-122"/>
                  <a:ea typeface="微软雅黑" panose="020B0503020204020204" charset="-122"/>
                </a:rPr>
                <a:t>零部件缺件问题</a:t>
              </a:r>
            </a:p>
          </p:txBody>
        </p:sp>
        <p:sp>
          <p:nvSpPr>
            <p:cNvPr id="17" name="Line 11"/>
            <p:cNvSpPr>
              <a:spLocks noChangeShapeType="1"/>
            </p:cNvSpPr>
            <p:nvPr/>
          </p:nvSpPr>
          <p:spPr bwMode="auto">
            <a:xfrm flipV="1">
              <a:off x="4768696" y="3524066"/>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8" name="Text Box 14"/>
            <p:cNvSpPr txBox="1">
              <a:spLocks noChangeArrowheads="1"/>
            </p:cNvSpPr>
            <p:nvPr/>
          </p:nvSpPr>
          <p:spPr bwMode="auto">
            <a:xfrm>
              <a:off x="1714480" y="5166645"/>
              <a:ext cx="1037943" cy="33405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绩效</a:t>
              </a:r>
              <a:r>
                <a:rPr kumimoji="1" lang="en-US" altLang="zh-CN" sz="1400" b="1" dirty="0">
                  <a:solidFill>
                    <a:srgbClr val="FFFFFF"/>
                  </a:solidFill>
                  <a:latin typeface="微软雅黑" panose="020B0503020204020204" charset="-122"/>
                  <a:ea typeface="微软雅黑" panose="020B0503020204020204" charset="-122"/>
                </a:rPr>
                <a:t>/KPI</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21" name="AutoShape 21"/>
            <p:cNvSpPr/>
            <p:nvPr/>
          </p:nvSpPr>
          <p:spPr bwMode="auto">
            <a:xfrm>
              <a:off x="6318380" y="4071942"/>
              <a:ext cx="1611206" cy="413875"/>
            </a:xfrm>
            <a:prstGeom prst="borderCallout2">
              <a:avLst>
                <a:gd name="adj1" fmla="val 30000"/>
                <a:gd name="adj2" fmla="val -5861"/>
                <a:gd name="adj3" fmla="val 58571"/>
                <a:gd name="adj4" fmla="val -19523"/>
                <a:gd name="adj5" fmla="val 68465"/>
                <a:gd name="adj6" fmla="val -28087"/>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缺乏系统对零部件计划、订单、交付上的支持</a:t>
              </a:r>
            </a:p>
          </p:txBody>
        </p:sp>
        <p:sp>
          <p:nvSpPr>
            <p:cNvPr id="22" name="AutoShape 21"/>
            <p:cNvSpPr/>
            <p:nvPr/>
          </p:nvSpPr>
          <p:spPr bwMode="auto">
            <a:xfrm>
              <a:off x="5857884" y="4586761"/>
              <a:ext cx="1611206" cy="413875"/>
            </a:xfrm>
            <a:prstGeom prst="borderCallout2">
              <a:avLst>
                <a:gd name="adj1" fmla="val 30000"/>
                <a:gd name="adj2" fmla="val -5861"/>
                <a:gd name="adj3" fmla="val 15374"/>
                <a:gd name="adj4" fmla="val -17770"/>
                <a:gd name="adj5" fmla="val 25267"/>
                <a:gd name="adj6" fmla="val -30716"/>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缺乏对管理报表、</a:t>
              </a:r>
              <a:r>
                <a:rPr kumimoji="1" lang="en-US" altLang="zh-CN" sz="1000" dirty="0">
                  <a:latin typeface="微软雅黑" panose="020B0503020204020204" charset="-122"/>
                  <a:ea typeface="微软雅黑" panose="020B0503020204020204" charset="-122"/>
                </a:rPr>
                <a:t>KPI</a:t>
              </a:r>
              <a:r>
                <a:rPr kumimoji="1" lang="zh-CN" altLang="en-US" sz="1000" dirty="0">
                  <a:latin typeface="微软雅黑" panose="020B0503020204020204" charset="-122"/>
                  <a:ea typeface="微软雅黑" panose="020B0503020204020204" charset="-122"/>
                </a:rPr>
                <a:t>报表提取，不利于进行管理改善</a:t>
              </a:r>
            </a:p>
          </p:txBody>
        </p:sp>
        <p:sp>
          <p:nvSpPr>
            <p:cNvPr id="23" name="AutoShape 21"/>
            <p:cNvSpPr/>
            <p:nvPr/>
          </p:nvSpPr>
          <p:spPr bwMode="auto">
            <a:xfrm>
              <a:off x="3695390" y="3872381"/>
              <a:ext cx="1611206" cy="413875"/>
            </a:xfrm>
            <a:prstGeom prst="borderCallout2">
              <a:avLst>
                <a:gd name="adj1" fmla="val 30000"/>
                <a:gd name="adj2" fmla="val -5861"/>
                <a:gd name="adj3" fmla="val 58571"/>
                <a:gd name="adj4" fmla="val -19523"/>
                <a:gd name="adj5" fmla="val 62705"/>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采购周期、到货及时率、缺货率等指标统计困难，数据不准确</a:t>
              </a:r>
            </a:p>
          </p:txBody>
        </p:sp>
        <p:sp>
          <p:nvSpPr>
            <p:cNvPr id="25" name="AutoShape 21"/>
            <p:cNvSpPr/>
            <p:nvPr/>
          </p:nvSpPr>
          <p:spPr bwMode="auto">
            <a:xfrm>
              <a:off x="4657974" y="2468122"/>
              <a:ext cx="1252826" cy="479827"/>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供应商本身能力问题如产能、质量问题等</a:t>
              </a:r>
            </a:p>
          </p:txBody>
        </p:sp>
        <p:sp>
          <p:nvSpPr>
            <p:cNvPr id="26" name="AutoShape 21"/>
            <p:cNvSpPr/>
            <p:nvPr/>
          </p:nvSpPr>
          <p:spPr bwMode="auto">
            <a:xfrm>
              <a:off x="6444967" y="2126524"/>
              <a:ext cx="1220953" cy="413875"/>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solidFill>
                    <a:srgbClr val="000000"/>
                  </a:solidFill>
                  <a:latin typeface="微软雅黑" panose="020B0503020204020204" charset="-122"/>
                  <a:ea typeface="微软雅黑" panose="020B0503020204020204" charset="-122"/>
                </a:rPr>
                <a:t>零部件分类及相应的供应策略</a:t>
              </a:r>
            </a:p>
          </p:txBody>
        </p:sp>
        <p:sp>
          <p:nvSpPr>
            <p:cNvPr id="28" name="AutoShape 21"/>
            <p:cNvSpPr/>
            <p:nvPr/>
          </p:nvSpPr>
          <p:spPr bwMode="auto">
            <a:xfrm>
              <a:off x="4032424" y="1878257"/>
              <a:ext cx="1344208" cy="413875"/>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对供应风险及供应商的把控能力还有待提升</a:t>
              </a:r>
            </a:p>
          </p:txBody>
        </p:sp>
        <p:sp>
          <p:nvSpPr>
            <p:cNvPr id="29" name="AutoShape 21"/>
            <p:cNvSpPr/>
            <p:nvPr/>
          </p:nvSpPr>
          <p:spPr bwMode="auto">
            <a:xfrm>
              <a:off x="3011035" y="4441447"/>
              <a:ext cx="915715" cy="522725"/>
            </a:xfrm>
            <a:prstGeom prst="borderCallout2">
              <a:avLst>
                <a:gd name="adj1" fmla="val 30000"/>
                <a:gd name="adj2" fmla="val -5861"/>
                <a:gd name="adj3" fmla="val 61451"/>
                <a:gd name="adj4" fmla="val -11634"/>
                <a:gd name="adj5" fmla="val 71344"/>
                <a:gd name="adj6" fmla="val -1932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指标对供应商绩效的改善还不足</a:t>
              </a:r>
            </a:p>
          </p:txBody>
        </p:sp>
        <p:sp>
          <p:nvSpPr>
            <p:cNvPr id="31" name="AutoShape 21"/>
            <p:cNvSpPr/>
            <p:nvPr/>
          </p:nvSpPr>
          <p:spPr bwMode="auto">
            <a:xfrm>
              <a:off x="3239964" y="3000373"/>
              <a:ext cx="1068334" cy="395625"/>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供应商管理及协同性问题</a:t>
              </a:r>
            </a:p>
          </p:txBody>
        </p:sp>
        <p:sp>
          <p:nvSpPr>
            <p:cNvPr id="35" name="Line 6"/>
            <p:cNvSpPr>
              <a:spLocks noChangeShapeType="1"/>
            </p:cNvSpPr>
            <p:nvPr/>
          </p:nvSpPr>
          <p:spPr bwMode="auto">
            <a:xfrm>
              <a:off x="1108949" y="1904062"/>
              <a:ext cx="1891415" cy="1596376"/>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36" name="Text Box 12"/>
            <p:cNvSpPr txBox="1">
              <a:spLocks noChangeArrowheads="1"/>
            </p:cNvSpPr>
            <p:nvPr/>
          </p:nvSpPr>
          <p:spPr bwMode="auto">
            <a:xfrm>
              <a:off x="857224" y="1522749"/>
              <a:ext cx="1037943" cy="335292"/>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管理</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流程</a:t>
              </a:r>
            </a:p>
          </p:txBody>
        </p:sp>
        <p:sp>
          <p:nvSpPr>
            <p:cNvPr id="37" name="AutoShape 21"/>
            <p:cNvSpPr/>
            <p:nvPr/>
          </p:nvSpPr>
          <p:spPr bwMode="auto">
            <a:xfrm>
              <a:off x="2476868" y="2425223"/>
              <a:ext cx="1325082" cy="413875"/>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紧急无预测订单的采购货期不足，无法及时到货</a:t>
              </a:r>
            </a:p>
          </p:txBody>
        </p:sp>
        <p:sp>
          <p:nvSpPr>
            <p:cNvPr id="38" name="AutoShape 21"/>
            <p:cNvSpPr/>
            <p:nvPr/>
          </p:nvSpPr>
          <p:spPr bwMode="auto">
            <a:xfrm>
              <a:off x="1899809" y="1900832"/>
              <a:ext cx="1611206" cy="413875"/>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零部件计划准确率低，对备货指导性不大</a:t>
              </a:r>
            </a:p>
          </p:txBody>
        </p:sp>
        <p:cxnSp>
          <p:nvCxnSpPr>
            <p:cNvPr id="45" name="直接连接符 44"/>
            <p:cNvCxnSpPr>
              <a:endCxn id="38" idx="2"/>
            </p:cNvCxnSpPr>
            <p:nvPr/>
          </p:nvCxnSpPr>
          <p:spPr bwMode="auto">
            <a:xfrm>
              <a:off x="1500166" y="2071678"/>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7" name="直接连接符 46"/>
            <p:cNvCxnSpPr/>
            <p:nvPr/>
          </p:nvCxnSpPr>
          <p:spPr bwMode="auto">
            <a:xfrm>
              <a:off x="2143108" y="2643182"/>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8" name="直接连接符 47"/>
            <p:cNvCxnSpPr/>
            <p:nvPr/>
          </p:nvCxnSpPr>
          <p:spPr bwMode="auto">
            <a:xfrm>
              <a:off x="2786050" y="3214686"/>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9" name="直接连接符 48"/>
            <p:cNvCxnSpPr/>
            <p:nvPr/>
          </p:nvCxnSpPr>
          <p:spPr bwMode="auto">
            <a:xfrm>
              <a:off x="3643306" y="2071678"/>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0" name="直接连接符 49"/>
            <p:cNvCxnSpPr/>
            <p:nvPr/>
          </p:nvCxnSpPr>
          <p:spPr bwMode="auto">
            <a:xfrm>
              <a:off x="4214810" y="2643182"/>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1" name="直接连接符 50"/>
            <p:cNvCxnSpPr/>
            <p:nvPr/>
          </p:nvCxnSpPr>
          <p:spPr bwMode="auto">
            <a:xfrm>
              <a:off x="5987109" y="2350549"/>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3" name="直接连接符 52"/>
            <p:cNvCxnSpPr/>
            <p:nvPr/>
          </p:nvCxnSpPr>
          <p:spPr bwMode="auto">
            <a:xfrm>
              <a:off x="3286116" y="4071942"/>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4" name="直接连接符 53"/>
            <p:cNvCxnSpPr/>
            <p:nvPr/>
          </p:nvCxnSpPr>
          <p:spPr bwMode="auto">
            <a:xfrm>
              <a:off x="2571736" y="4643446"/>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5" name="直接连接符 54"/>
            <p:cNvCxnSpPr/>
            <p:nvPr/>
          </p:nvCxnSpPr>
          <p:spPr bwMode="auto">
            <a:xfrm>
              <a:off x="5886869" y="4214818"/>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6" name="直接连接符 55"/>
            <p:cNvCxnSpPr/>
            <p:nvPr/>
          </p:nvCxnSpPr>
          <p:spPr bwMode="auto">
            <a:xfrm>
              <a:off x="5357818" y="4714884"/>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52" name="AutoShape 21"/>
            <p:cNvSpPr/>
            <p:nvPr/>
          </p:nvSpPr>
          <p:spPr bwMode="auto">
            <a:xfrm>
              <a:off x="6750205" y="2499898"/>
              <a:ext cx="992025" cy="448050"/>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solidFill>
                    <a:srgbClr val="000000"/>
                  </a:solidFill>
                  <a:latin typeface="微软雅黑" panose="020B0503020204020204" charset="-122"/>
                  <a:ea typeface="微软雅黑" panose="020B0503020204020204" charset="-122"/>
                </a:rPr>
                <a:t>计划模式</a:t>
              </a:r>
            </a:p>
          </p:txBody>
        </p:sp>
        <p:cxnSp>
          <p:nvCxnSpPr>
            <p:cNvPr id="57" name="直接连接符 50"/>
            <p:cNvCxnSpPr/>
            <p:nvPr/>
          </p:nvCxnSpPr>
          <p:spPr bwMode="auto">
            <a:xfrm>
              <a:off x="6368657" y="2723923"/>
              <a:ext cx="399643"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grpSp>
      <p:sp>
        <p:nvSpPr>
          <p:cNvPr id="44" name="矩形 4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lIns="72000" tIns="46800" rIns="72000" rtlCol="0" anchor="t"/>
          <a:lstStyle/>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策略</a:t>
            </a:r>
            <a:r>
              <a:rPr lang="zh-CN" altLang="en-US" sz="1200" dirty="0">
                <a:latin typeface="微软雅黑" panose="020B0503020204020204" charset="-122"/>
                <a:ea typeface="微软雅黑" panose="020B0503020204020204" charset="-122"/>
              </a:rPr>
              <a:t>：零部件计划及供应解决方案［</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组织</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人员</a:t>
            </a:r>
            <a:r>
              <a:rPr lang="zh-CN" altLang="en-US" sz="1200" dirty="0">
                <a:latin typeface="微软雅黑" panose="020B0503020204020204" charset="-122"/>
                <a:ea typeface="微软雅黑" panose="020B0503020204020204" charset="-122"/>
              </a:rPr>
              <a:t>：将达成共识的顶层设计及方案在组织内进行宣贯和培训［x团队推进］</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管理</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流程</a:t>
            </a:r>
            <a:r>
              <a:rPr lang="zh-CN" altLang="en-US" sz="1200" dirty="0">
                <a:latin typeface="微软雅黑" panose="020B0503020204020204" charset="-122"/>
                <a:ea typeface="微软雅黑" panose="020B0503020204020204" charset="-122"/>
              </a:rPr>
              <a:t>：梳理需求预测方法［</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 ；梳理零部件供应相关流程［</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绩效</a:t>
            </a:r>
            <a:r>
              <a:rPr lang="en-US" altLang="zh-CN" sz="1200" u="sng"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 梳理</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指标体系［</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顶层设计］，并开发相关的指标报表［</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系统实施］</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a:t>
            </a:r>
            <a:r>
              <a:rPr lang="en-US" altLang="zh-CN" sz="1200" u="sng"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：构筑供应预警平台，支持预警自动化及报表［</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系统实施</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 </a:t>
            </a:r>
          </a:p>
        </p:txBody>
      </p:sp>
      <p:sp>
        <p:nvSpPr>
          <p:cNvPr id="42" name="矩形 41"/>
          <p:cNvSpPr/>
          <p:nvPr/>
        </p:nvSpPr>
        <p:spPr bwMode="auto">
          <a:xfrm>
            <a:off x="214282" y="1385430"/>
            <a:ext cx="500066" cy="4068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根因分析</a:t>
            </a:r>
          </a:p>
        </p:txBody>
      </p:sp>
      <p:sp>
        <p:nvSpPr>
          <p:cNvPr id="43" name="矩形 4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改进方向</a:t>
            </a:r>
          </a:p>
        </p:txBody>
      </p:sp>
      <p:sp>
        <p:nvSpPr>
          <p:cNvPr id="46" name="矩形 45"/>
          <p:cNvSpPr/>
          <p:nvPr/>
        </p:nvSpPr>
        <p:spPr bwMode="auto">
          <a:xfrm>
            <a:off x="785786" y="1385430"/>
            <a:ext cx="8172000" cy="4068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58"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59"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60"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61"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62"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Q7</a:t>
            </a:r>
            <a:r>
              <a:rPr lang="zh-CN" altLang="en-US" dirty="0"/>
              <a:t>：工程变更频繁，且信息下达不及时，影响生产的顺畅运行</a:t>
            </a:r>
          </a:p>
        </p:txBody>
      </p:sp>
      <p:sp>
        <p:nvSpPr>
          <p:cNvPr id="9" name="TextBox 8"/>
          <p:cNvSpPr txBox="1"/>
          <p:nvPr/>
        </p:nvSpPr>
        <p:spPr bwMode="auto">
          <a:xfrm>
            <a:off x="214281" y="1386000"/>
            <a:ext cx="8739555" cy="50040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a:ln>
          <a:effectLst/>
        </p:spPr>
        <p:txBody>
          <a:bodyPr rtlCol="0" anchor="ctr"/>
          <a:lstStyle>
            <a:defPPr>
              <a:defRPr lang="zh-CN"/>
            </a:defPPr>
            <a:lvl1pPr algn="ctr" fontAlgn="auto">
              <a:spcBef>
                <a:spcPts val="0"/>
              </a:spcBef>
              <a:spcAft>
                <a:spcPts val="0"/>
              </a:spcAft>
              <a:defRPr sz="1600" b="1">
                <a:solidFill>
                  <a:schemeClr val="bg2"/>
                </a:solidFill>
                <a:latin typeface="微软雅黑" panose="020B0503020204020204" charset="-122"/>
                <a:ea typeface="微软雅黑" panose="020B0503020204020204" charset="-122"/>
              </a:defRPr>
            </a:lvl1pPr>
          </a:lstStyle>
          <a:p>
            <a:pPr fontAlgn="base">
              <a:spcBef>
                <a:spcPct val="0"/>
              </a:spcBef>
              <a:spcAft>
                <a:spcPct val="0"/>
              </a:spcAft>
            </a:pPr>
            <a:r>
              <a:rPr lang="zh-CN" altLang="en-US" sz="1400" dirty="0">
                <a:solidFill>
                  <a:schemeClr val="tx1"/>
                </a:solidFill>
              </a:rPr>
              <a:t>问题描述</a:t>
            </a:r>
            <a:endParaRPr lang="en-US" altLang="en-US" sz="1400" dirty="0">
              <a:solidFill>
                <a:schemeClr val="tx1"/>
              </a:solidFill>
            </a:endParaRPr>
          </a:p>
        </p:txBody>
      </p:sp>
      <p:sp>
        <p:nvSpPr>
          <p:cNvPr id="10" name="矩形 9"/>
          <p:cNvSpPr/>
          <p:nvPr/>
        </p:nvSpPr>
        <p:spPr bwMode="auto">
          <a:xfrm>
            <a:off x="214282" y="1949964"/>
            <a:ext cx="8739218" cy="349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13" name="矩形 1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业务影响</a:t>
            </a:r>
          </a:p>
        </p:txBody>
      </p:sp>
      <p:sp>
        <p:nvSpPr>
          <p:cNvPr id="14" name="矩形 1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marL="266700" indent="-266700"/>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设计变更频繁，未及时将信息进行传递，供应商无法掌握到新的变更需求信息，仍然按原有零部件进行备货，容易造成</a:t>
            </a:r>
            <a:r>
              <a:rPr lang="zh-CN" altLang="en-US" sz="1200" b="1" dirty="0">
                <a:latin typeface="微软雅黑" panose="020B0503020204020204" charset="-122"/>
                <a:ea typeface="微软雅黑" panose="020B0503020204020204" charset="-122"/>
              </a:rPr>
              <a:t>零部件呆滞</a:t>
            </a:r>
          </a:p>
          <a:p>
            <a:pPr marL="266700" indent="-266700"/>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当供应商按旧的零部件配送时，导致新零部件的缺件，直接会</a:t>
            </a:r>
            <a:r>
              <a:rPr lang="zh-CN" altLang="en-US" sz="1200" b="1" dirty="0">
                <a:latin typeface="微软雅黑" panose="020B0503020204020204" charset="-122"/>
                <a:ea typeface="微软雅黑" panose="020B0503020204020204" charset="-122"/>
              </a:rPr>
              <a:t>影响工厂的正常生产运行</a:t>
            </a:r>
          </a:p>
        </p:txBody>
      </p:sp>
      <p:sp>
        <p:nvSpPr>
          <p:cNvPr id="20" name="TextBox 19"/>
          <p:cNvSpPr txBox="1"/>
          <p:nvPr/>
        </p:nvSpPr>
        <p:spPr bwMode="auto">
          <a:xfrm>
            <a:off x="285720" y="2029268"/>
            <a:ext cx="2428892" cy="2683812"/>
          </a:xfrm>
          <a:prstGeom prst="rect">
            <a:avLst/>
          </a:prstGeom>
          <a:noFill/>
          <a:ln>
            <a:noFill/>
          </a:ln>
        </p:spPr>
        <p:txBody>
          <a:bodyPr wrap="square" rtlCol="0">
            <a:spAutoFit/>
          </a:bodyPr>
          <a:lstStyle/>
          <a:p>
            <a:pPr marL="177800" lvl="0" indent="-177800">
              <a:lnSpc>
                <a:spcPct val="110000"/>
              </a:lnSpc>
              <a:spcBef>
                <a:spcPts val="600"/>
              </a:spcBef>
              <a:buFont typeface="Wingdings" panose="05000000000000000000" pitchFamily="2" charset="2"/>
              <a:buChar char="Ø"/>
            </a:pP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1</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月至</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12</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月的数据分析，平均每月设计变更：大挖达</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83</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次、中挖</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46</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次、小挖</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48</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次，</a:t>
            </a:r>
            <a:r>
              <a:rPr kumimoji="1" lang="zh-CN" altLang="en-US" sz="1200" b="1" dirty="0">
                <a:solidFill>
                  <a:srgbClr val="0066FF"/>
                </a:solidFill>
                <a:latin typeface="微软雅黑" panose="020B0503020204020204" charset="-122"/>
                <a:ea typeface="微软雅黑" panose="020B0503020204020204" charset="-122"/>
                <a:cs typeface="微软雅黑" panose="020B0503020204020204" charset="-122"/>
              </a:rPr>
              <a:t>变更次数较多</a:t>
            </a:r>
            <a:endParaRPr kumimoji="1" lang="en-US" altLang="zh-CN" sz="1200" b="1" dirty="0">
              <a:solidFill>
                <a:srgbClr val="0066FF"/>
              </a:solidFill>
              <a:latin typeface="微软雅黑" panose="020B0503020204020204" charset="-122"/>
              <a:ea typeface="微软雅黑" panose="020B0503020204020204" charset="-122"/>
              <a:cs typeface="微软雅黑" panose="020B0503020204020204" charset="-122"/>
            </a:endParaRPr>
          </a:p>
          <a:p>
            <a:pPr marL="177800" lvl="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从项次上看，大挖每月设计变更物料数量达</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847</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项、中挖</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396</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项、小挖</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486</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项，</a:t>
            </a:r>
            <a:r>
              <a:rPr kumimoji="1" lang="zh-CN" altLang="en-US" sz="1200" b="1" dirty="0">
                <a:solidFill>
                  <a:srgbClr val="0066FF"/>
                </a:solidFill>
                <a:latin typeface="微软雅黑" panose="020B0503020204020204" charset="-122"/>
                <a:ea typeface="微软雅黑" panose="020B0503020204020204" charset="-122"/>
                <a:cs typeface="微软雅黑" panose="020B0503020204020204" charset="-122"/>
              </a:rPr>
              <a:t>变更涉及物料项目较多</a:t>
            </a:r>
            <a:endParaRPr kumimoji="1" lang="en-US" altLang="zh-CN" sz="1200" b="1" dirty="0">
              <a:solidFill>
                <a:srgbClr val="0066FF"/>
              </a:solidFill>
              <a:latin typeface="微软雅黑" panose="020B0503020204020204" charset="-122"/>
              <a:ea typeface="微软雅黑" panose="020B0503020204020204" charset="-122"/>
              <a:cs typeface="微软雅黑" panose="020B0503020204020204" charset="-122"/>
            </a:endParaRPr>
          </a:p>
          <a:p>
            <a:pPr marL="177800" lvl="0" indent="-177800">
              <a:lnSpc>
                <a:spcPct val="110000"/>
              </a:lnSpc>
              <a:spcBef>
                <a:spcPts val="600"/>
              </a:spcBef>
              <a:buFont typeface="Wingdings" panose="05000000000000000000" pitchFamily="2" charset="2"/>
              <a:buChar char="Ø"/>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这种情况下，信息的及时传递非常重要，但目前有供应商反馈</a:t>
            </a:r>
            <a:r>
              <a:rPr kumimoji="1" lang="zh-CN" altLang="en-US" sz="1200" b="1" dirty="0">
                <a:solidFill>
                  <a:srgbClr val="0066FF"/>
                </a:solidFill>
                <a:latin typeface="微软雅黑" panose="020B0503020204020204" charset="-122"/>
                <a:ea typeface="微软雅黑" panose="020B0503020204020204" charset="-122"/>
                <a:cs typeface="微软雅黑" panose="020B0503020204020204" charset="-122"/>
              </a:rPr>
              <a:t>物料缺料与呆滞原因超</a:t>
            </a:r>
            <a:r>
              <a:rPr kumimoji="1" lang="en-US" altLang="zh-CN" sz="1200" b="1" dirty="0">
                <a:solidFill>
                  <a:srgbClr val="0066FF"/>
                </a:solidFill>
                <a:latin typeface="微软雅黑" panose="020B0503020204020204" charset="-122"/>
                <a:ea typeface="微软雅黑" panose="020B0503020204020204" charset="-122"/>
                <a:cs typeface="微软雅黑" panose="020B0503020204020204" charset="-122"/>
              </a:rPr>
              <a:t>50%</a:t>
            </a:r>
            <a:r>
              <a:rPr kumimoji="1" lang="zh-CN" altLang="en-US" sz="1200" b="1" dirty="0">
                <a:solidFill>
                  <a:srgbClr val="0066FF"/>
                </a:solidFill>
                <a:latin typeface="微软雅黑" panose="020B0503020204020204" charset="-122"/>
                <a:ea typeface="微软雅黑" panose="020B0503020204020204" charset="-122"/>
                <a:cs typeface="微软雅黑" panose="020B0503020204020204" charset="-122"/>
              </a:rPr>
              <a:t>为变更切换通知不及时引起</a:t>
            </a:r>
            <a:endParaRPr kumimoji="1" lang="en-US" altLang="zh-CN" sz="1200" b="1" dirty="0">
              <a:solidFill>
                <a:srgbClr val="0066FF"/>
              </a:solidFill>
              <a:latin typeface="微软雅黑" panose="020B0503020204020204" charset="-122"/>
              <a:ea typeface="微软雅黑" panose="020B0503020204020204" charset="-122"/>
              <a:cs typeface="微软雅黑" panose="020B0503020204020204" charset="-122"/>
            </a:endParaRPr>
          </a:p>
        </p:txBody>
      </p:sp>
      <p:graphicFrame>
        <p:nvGraphicFramePr>
          <p:cNvPr id="15" name="图表 14"/>
          <p:cNvGraphicFramePr/>
          <p:nvPr/>
        </p:nvGraphicFramePr>
        <p:xfrm>
          <a:off x="2857488" y="2071678"/>
          <a:ext cx="5286412" cy="142876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bwMode="auto">
          <a:xfrm>
            <a:off x="3000364" y="5203075"/>
            <a:ext cx="5214974" cy="229870"/>
          </a:xfrm>
          <a:prstGeom prst="rect">
            <a:avLst/>
          </a:prstGeom>
          <a:noFill/>
          <a:ln>
            <a:noFill/>
          </a:ln>
        </p:spPr>
        <p:txBody>
          <a:bodyPr wrap="square" lIns="0" rIns="0" rtlCol="0">
            <a:spAutoFit/>
          </a:bodyPr>
          <a:lstStyle/>
          <a:p>
            <a:r>
              <a:rPr kumimoji="1" lang="zh-CN" altLang="en-US" sz="900" b="0" i="1" dirty="0">
                <a:solidFill>
                  <a:srgbClr val="000000"/>
                </a:solidFill>
                <a:latin typeface="微软雅黑" panose="020B0503020204020204" charset="-122"/>
                <a:ea typeface="微软雅黑" panose="020B0503020204020204" charset="-122"/>
                <a:cs typeface="微软雅黑" panose="020B0503020204020204" charset="-122"/>
              </a:rPr>
              <a:t>来源：x重机提供，项目组分析</a:t>
            </a:r>
            <a:endParaRPr kumimoji="1" lang="en-US" altLang="zh-CN" sz="900" b="0" i="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bwMode="auto">
          <a:xfrm>
            <a:off x="8215338" y="2455127"/>
            <a:ext cx="642942" cy="830997"/>
          </a:xfrm>
          <a:prstGeom prst="rect">
            <a:avLst/>
          </a:prstGeom>
          <a:noFill/>
          <a:ln>
            <a:noFill/>
          </a:ln>
        </p:spPr>
        <p:txBody>
          <a:bodyPr wrap="square" lIns="0" rIns="0"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83</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46</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48</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总：</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59</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zh-CN" altLang="en-US" sz="1200" b="0"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2"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23"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24"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25"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26"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
        <p:nvSpPr>
          <p:cNvPr id="12" name="TextBox 11"/>
          <p:cNvSpPr txBox="1"/>
          <p:nvPr/>
        </p:nvSpPr>
        <p:spPr bwMode="auto">
          <a:xfrm>
            <a:off x="4000496" y="2000240"/>
            <a:ext cx="3251253" cy="261610"/>
          </a:xfrm>
          <a:prstGeom prst="rect">
            <a:avLst/>
          </a:prstGeom>
          <a:noFill/>
          <a:ln>
            <a:noFill/>
          </a:ln>
        </p:spPr>
        <p:txBody>
          <a:bodyPr wrap="square" lIns="0" rIns="0" rtlCol="0">
            <a:spAutoFit/>
          </a:bodyPr>
          <a:lstStyle/>
          <a:p>
            <a:pPr algn="ctr"/>
            <a:r>
              <a:rPr kumimoji="1" lang="en-US" altLang="zh-CN" sz="1100" b="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1100" b="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1100" b="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1100" b="1" dirty="0">
                <a:solidFill>
                  <a:srgbClr val="000000"/>
                </a:solidFill>
                <a:latin typeface="微软雅黑" panose="020B0503020204020204" charset="-122"/>
                <a:ea typeface="微软雅黑" panose="020B0503020204020204" charset="-122"/>
                <a:cs typeface="微软雅黑" panose="020B0503020204020204" charset="-122"/>
              </a:rPr>
              <a:t>月设计变更次数</a:t>
            </a:r>
            <a:endParaRPr kumimoji="1" lang="en-US" altLang="zh-CN" sz="1100" b="1" dirty="0">
              <a:solidFill>
                <a:srgbClr val="000000"/>
              </a:solidFill>
              <a:latin typeface="微软雅黑" panose="020B0503020204020204" charset="-122"/>
              <a:ea typeface="微软雅黑" panose="020B0503020204020204" charset="-122"/>
              <a:cs typeface="微软雅黑" panose="020B0503020204020204" charset="-122"/>
            </a:endParaRPr>
          </a:p>
        </p:txBody>
      </p:sp>
      <p:graphicFrame>
        <p:nvGraphicFramePr>
          <p:cNvPr id="27" name="图表 26"/>
          <p:cNvGraphicFramePr/>
          <p:nvPr/>
        </p:nvGraphicFramePr>
        <p:xfrm>
          <a:off x="2857488" y="3571876"/>
          <a:ext cx="5286412" cy="1714512"/>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Box 27"/>
          <p:cNvSpPr txBox="1"/>
          <p:nvPr/>
        </p:nvSpPr>
        <p:spPr bwMode="auto">
          <a:xfrm>
            <a:off x="4000496" y="3500438"/>
            <a:ext cx="3251253" cy="261610"/>
          </a:xfrm>
          <a:prstGeom prst="rect">
            <a:avLst/>
          </a:prstGeom>
          <a:noFill/>
          <a:ln>
            <a:noFill/>
          </a:ln>
        </p:spPr>
        <p:txBody>
          <a:bodyPr wrap="square" lIns="0" rIns="0" rtlCol="0">
            <a:spAutoFit/>
          </a:bodyPr>
          <a:lstStyle/>
          <a:p>
            <a:pPr algn="ctr"/>
            <a:r>
              <a:rPr kumimoji="1" lang="en-US" altLang="zh-CN" sz="1100" b="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1100" b="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1100" b="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1100" b="1" dirty="0">
                <a:solidFill>
                  <a:srgbClr val="000000"/>
                </a:solidFill>
                <a:latin typeface="微软雅黑" panose="020B0503020204020204" charset="-122"/>
                <a:ea typeface="微软雅黑" panose="020B0503020204020204" charset="-122"/>
                <a:cs typeface="微软雅黑" panose="020B0503020204020204" charset="-122"/>
              </a:rPr>
              <a:t>月设计变更涉及物料数量</a:t>
            </a:r>
            <a:endParaRPr kumimoji="1" lang="en-US" altLang="zh-CN" sz="11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9" name="TextBox 28"/>
          <p:cNvSpPr txBox="1"/>
          <p:nvPr/>
        </p:nvSpPr>
        <p:spPr bwMode="auto">
          <a:xfrm>
            <a:off x="8215338" y="3883887"/>
            <a:ext cx="642942" cy="830997"/>
          </a:xfrm>
          <a:prstGeom prst="rect">
            <a:avLst/>
          </a:prstGeom>
          <a:noFill/>
          <a:ln>
            <a:noFill/>
          </a:ln>
        </p:spPr>
        <p:txBody>
          <a:bodyPr wrap="square" lIns="0" rIns="0"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847</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中：</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396</a:t>
            </a: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小</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486</a:t>
            </a:r>
            <a:r>
              <a:rPr kumimoji="1" lang="zh-CN" altLang="en-US" sz="1200" dirty="0">
                <a:solidFill>
                  <a:srgbClr val="FF0000"/>
                </a:solidFill>
                <a:latin typeface="微软雅黑" panose="020B0503020204020204" charset="-122"/>
                <a:ea typeface="微软雅黑" panose="020B0503020204020204" charset="-122"/>
                <a:cs typeface="微软雅黑" panose="020B0503020204020204" charset="-122"/>
              </a:rPr>
              <a:t> </a:t>
            </a:r>
            <a:endParaRPr kumimoji="1" lang="en-US" altLang="zh-CN" sz="1200" b="0" dirty="0">
              <a:solidFill>
                <a:srgbClr val="FF0000"/>
              </a:solidFill>
              <a:latin typeface="微软雅黑" panose="020B0503020204020204" charset="-122"/>
              <a:ea typeface="微软雅黑" panose="020B0503020204020204" charset="-122"/>
              <a:cs typeface="微软雅黑" panose="020B0503020204020204" charset="-122"/>
            </a:endParaRPr>
          </a:p>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总：</a:t>
            </a:r>
            <a:r>
              <a:rPr kumimoji="1" lang="en-US" altLang="zh-CN" sz="1200" dirty="0">
                <a:solidFill>
                  <a:srgbClr val="FF0000"/>
                </a:solidFill>
                <a:latin typeface="微软雅黑" panose="020B0503020204020204" charset="-122"/>
                <a:ea typeface="微软雅黑" panose="020B0503020204020204" charset="-122"/>
                <a:cs typeface="微软雅黑" panose="020B0503020204020204" charset="-122"/>
              </a:rPr>
              <a:t>576</a:t>
            </a:r>
            <a:endParaRPr kumimoji="1" lang="zh-CN" altLang="en-US" sz="1200" b="0" dirty="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idx="4294967295"/>
          </p:nvPr>
        </p:nvSpPr>
        <p:spPr>
          <a:xfrm>
            <a:off x="162000" y="593725"/>
            <a:ext cx="8820000" cy="695325"/>
          </a:xfrm>
        </p:spPr>
        <p:txBody>
          <a:bodyPr/>
          <a:lstStyle/>
          <a:p>
            <a:r>
              <a:rPr dirty="0"/>
              <a:t>Q7</a:t>
            </a:r>
            <a:r>
              <a:rPr lang="zh-CN" altLang="en-US" dirty="0"/>
              <a:t>：工程变更频繁，且信息下达不及时，影响生产的顺畅运行</a:t>
            </a:r>
          </a:p>
        </p:txBody>
      </p:sp>
      <p:sp>
        <p:nvSpPr>
          <p:cNvPr id="4" name="Line 5"/>
          <p:cNvSpPr>
            <a:spLocks noChangeShapeType="1"/>
          </p:cNvSpPr>
          <p:nvPr/>
        </p:nvSpPr>
        <p:spPr bwMode="auto">
          <a:xfrm>
            <a:off x="1430339" y="3403845"/>
            <a:ext cx="6284574" cy="1257"/>
          </a:xfrm>
          <a:prstGeom prst="line">
            <a:avLst/>
          </a:prstGeom>
          <a:noFill/>
          <a:ln w="38100"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5" name="Line 6"/>
          <p:cNvSpPr>
            <a:spLocks noChangeShapeType="1"/>
          </p:cNvSpPr>
          <p:nvPr/>
        </p:nvSpPr>
        <p:spPr bwMode="auto">
          <a:xfrm>
            <a:off x="3583793"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6" name="Line 7"/>
          <p:cNvSpPr>
            <a:spLocks noChangeShapeType="1"/>
          </p:cNvSpPr>
          <p:nvPr/>
        </p:nvSpPr>
        <p:spPr bwMode="auto">
          <a:xfrm>
            <a:off x="5544454"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9" name="Line 11"/>
          <p:cNvSpPr>
            <a:spLocks noChangeShapeType="1"/>
          </p:cNvSpPr>
          <p:nvPr/>
        </p:nvSpPr>
        <p:spPr bwMode="auto">
          <a:xfrm flipV="1">
            <a:off x="2268013"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0" name="Text Box 12"/>
          <p:cNvSpPr txBox="1">
            <a:spLocks noChangeArrowheads="1"/>
          </p:cNvSpPr>
          <p:nvPr/>
        </p:nvSpPr>
        <p:spPr bwMode="auto">
          <a:xfrm>
            <a:off x="325585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组织</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人员</a:t>
            </a:r>
          </a:p>
        </p:txBody>
      </p:sp>
      <p:sp>
        <p:nvSpPr>
          <p:cNvPr id="11" name="Text Box 13"/>
          <p:cNvSpPr txBox="1">
            <a:spLocks noChangeArrowheads="1"/>
          </p:cNvSpPr>
          <p:nvPr/>
        </p:nvSpPr>
        <p:spPr bwMode="auto">
          <a:xfrm>
            <a:off x="4423667"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en-US" altLang="zh-CN" sz="1400" b="1" dirty="0">
                <a:solidFill>
                  <a:srgbClr val="FFFFFF"/>
                </a:solidFill>
                <a:latin typeface="微软雅黑" panose="020B0503020204020204" charset="-122"/>
                <a:ea typeface="微软雅黑" panose="020B0503020204020204" charset="-122"/>
              </a:rPr>
              <a:t>IT</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13" name="Text Box 16"/>
          <p:cNvSpPr txBox="1">
            <a:spLocks noChangeArrowheads="1"/>
          </p:cNvSpPr>
          <p:nvPr/>
        </p:nvSpPr>
        <p:spPr bwMode="auto">
          <a:xfrm>
            <a:off x="515789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策略</a:t>
            </a:r>
          </a:p>
        </p:txBody>
      </p:sp>
      <p:sp>
        <p:nvSpPr>
          <p:cNvPr id="15" name="新月形 14"/>
          <p:cNvSpPr/>
          <p:nvPr/>
        </p:nvSpPr>
        <p:spPr bwMode="auto">
          <a:xfrm rot="10800000">
            <a:off x="857224" y="2891352"/>
            <a:ext cx="655876" cy="1026242"/>
          </a:xfrm>
          <a:prstGeom prst="moon">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6" name="流程图: 延期 15"/>
          <p:cNvSpPr/>
          <p:nvPr/>
        </p:nvSpPr>
        <p:spPr bwMode="auto">
          <a:xfrm>
            <a:off x="7714914" y="2891352"/>
            <a:ext cx="1189863" cy="1026242"/>
          </a:xfrm>
          <a:prstGeom prst="flowChartDelay">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r>
              <a:rPr lang="zh-CN" altLang="en-US" b="1" dirty="0">
                <a:solidFill>
                  <a:schemeClr val="bg1"/>
                </a:solidFill>
                <a:latin typeface="微软雅黑" panose="020B0503020204020204" charset="-122"/>
                <a:ea typeface="微软雅黑" panose="020B0503020204020204" charset="-122"/>
              </a:rPr>
              <a:t>工程变更信息流不畅</a:t>
            </a:r>
          </a:p>
        </p:txBody>
      </p:sp>
      <p:sp>
        <p:nvSpPr>
          <p:cNvPr id="17" name="Line 11"/>
          <p:cNvSpPr>
            <a:spLocks noChangeShapeType="1"/>
          </p:cNvSpPr>
          <p:nvPr/>
        </p:nvSpPr>
        <p:spPr bwMode="auto">
          <a:xfrm flipV="1">
            <a:off x="4934437"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8" name="Text Box 14"/>
          <p:cNvSpPr txBox="1">
            <a:spLocks noChangeArrowheads="1"/>
          </p:cNvSpPr>
          <p:nvPr/>
        </p:nvSpPr>
        <p:spPr bwMode="auto">
          <a:xfrm>
            <a:off x="2052388"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绩效</a:t>
            </a:r>
            <a:r>
              <a:rPr kumimoji="1" lang="en-US" altLang="zh-CN" sz="1400" b="1" dirty="0">
                <a:solidFill>
                  <a:srgbClr val="FFFFFF"/>
                </a:solidFill>
                <a:latin typeface="微软雅黑" panose="020B0503020204020204" charset="-122"/>
                <a:ea typeface="微软雅黑" panose="020B0503020204020204" charset="-122"/>
              </a:rPr>
              <a:t>/KPI</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21" name="AutoShape 21"/>
          <p:cNvSpPr/>
          <p:nvPr/>
        </p:nvSpPr>
        <p:spPr bwMode="auto">
          <a:xfrm>
            <a:off x="6396765" y="3840570"/>
            <a:ext cx="1520382" cy="399094"/>
          </a:xfrm>
          <a:prstGeom prst="borderCallout2">
            <a:avLst>
              <a:gd name="adj1" fmla="val 30000"/>
              <a:gd name="adj2" fmla="val -5861"/>
              <a:gd name="adj3" fmla="val 58571"/>
              <a:gd name="adj4" fmla="val -19523"/>
              <a:gd name="adj5" fmla="val 68465"/>
              <a:gd name="adj6" fmla="val -28087"/>
            </a:avLst>
          </a:prstGeom>
          <a:noFill/>
          <a:ln w="12700" cap="sq">
            <a:noFill/>
            <a:miter lim="800000"/>
          </a:ln>
          <a:effectLst/>
        </p:spPr>
        <p:txBody>
          <a:bodyPr wrap="square" anchor="ctr"/>
          <a:lstStyle/>
          <a:p>
            <a:pPr fontAlgn="base">
              <a:spcBef>
                <a:spcPct val="0"/>
              </a:spcBef>
              <a:spcAft>
                <a:spcPct val="0"/>
              </a:spcAft>
            </a:pPr>
            <a:endParaRPr kumimoji="1" lang="zh-CN" altLang="en-US" sz="1000" dirty="0">
              <a:latin typeface="微软雅黑" panose="020B0503020204020204" charset="-122"/>
              <a:ea typeface="微软雅黑" panose="020B0503020204020204" charset="-122"/>
            </a:endParaRPr>
          </a:p>
        </p:txBody>
      </p:sp>
      <p:sp>
        <p:nvSpPr>
          <p:cNvPr id="22" name="AutoShape 21"/>
          <p:cNvSpPr/>
          <p:nvPr/>
        </p:nvSpPr>
        <p:spPr bwMode="auto">
          <a:xfrm>
            <a:off x="5962227" y="4364333"/>
            <a:ext cx="1520382" cy="399094"/>
          </a:xfrm>
          <a:prstGeom prst="borderCallout2">
            <a:avLst>
              <a:gd name="adj1" fmla="val 30000"/>
              <a:gd name="adj2" fmla="val -5861"/>
              <a:gd name="adj3" fmla="val 15374"/>
              <a:gd name="adj4" fmla="val -17770"/>
              <a:gd name="adj5" fmla="val 25267"/>
              <a:gd name="adj6" fmla="val -30716"/>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生产业务人员缺少终端信息渠道查询变更信息</a:t>
            </a:r>
          </a:p>
        </p:txBody>
      </p:sp>
      <p:sp>
        <p:nvSpPr>
          <p:cNvPr id="25" name="AutoShape 21"/>
          <p:cNvSpPr/>
          <p:nvPr/>
        </p:nvSpPr>
        <p:spPr bwMode="auto">
          <a:xfrm>
            <a:off x="4794956" y="2458402"/>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人员对变更影响估计不足，重视程度低</a:t>
            </a:r>
          </a:p>
        </p:txBody>
      </p:sp>
      <p:sp>
        <p:nvSpPr>
          <p:cNvPr id="28" name="AutoShape 21"/>
          <p:cNvSpPr/>
          <p:nvPr/>
        </p:nvSpPr>
        <p:spPr bwMode="auto">
          <a:xfrm>
            <a:off x="4239669" y="1928802"/>
            <a:ext cx="1520382" cy="399094"/>
          </a:xfrm>
          <a:prstGeom prst="borderCallout2">
            <a:avLst>
              <a:gd name="adj1" fmla="val 30000"/>
              <a:gd name="adj2" fmla="val -5861"/>
              <a:gd name="adj3" fmla="val 12494"/>
              <a:gd name="adj4" fmla="val -10758"/>
              <a:gd name="adj5" fmla="val 33907"/>
              <a:gd name="adj6" fmla="val -26334"/>
            </a:avLst>
          </a:prstGeom>
          <a:noFill/>
          <a:ln w="12700" cap="sq">
            <a:noFill/>
            <a:miter lim="800000"/>
          </a:ln>
          <a:effectLst/>
        </p:spPr>
        <p:txBody>
          <a:bodyPr wrap="square" anchor="ctr"/>
          <a:lstStyle/>
          <a:p>
            <a:pPr fontAlgn="base">
              <a:spcBef>
                <a:spcPct val="0"/>
              </a:spcBef>
              <a:spcAft>
                <a:spcPct val="0"/>
              </a:spcAft>
            </a:pPr>
            <a:endParaRPr kumimoji="1" lang="zh-CN" altLang="en-US" sz="1000" dirty="0">
              <a:latin typeface="微软雅黑" panose="020B0503020204020204" charset="-122"/>
              <a:ea typeface="微软雅黑" panose="020B0503020204020204" charset="-122"/>
            </a:endParaRPr>
          </a:p>
        </p:txBody>
      </p:sp>
      <p:sp>
        <p:nvSpPr>
          <p:cNvPr id="35" name="Line 6"/>
          <p:cNvSpPr>
            <a:spLocks noChangeShapeType="1"/>
          </p:cNvSpPr>
          <p:nvPr/>
        </p:nvSpPr>
        <p:spPr bwMode="auto">
          <a:xfrm>
            <a:off x="1480991" y="1846331"/>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36" name="Text Box 12"/>
          <p:cNvSpPr txBox="1">
            <a:spLocks noChangeArrowheads="1"/>
          </p:cNvSpPr>
          <p:nvPr/>
        </p:nvSpPr>
        <p:spPr bwMode="auto">
          <a:xfrm>
            <a:off x="1243455" y="1478637"/>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管理</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流程</a:t>
            </a:r>
          </a:p>
        </p:txBody>
      </p:sp>
      <p:sp>
        <p:nvSpPr>
          <p:cNvPr id="37" name="AutoShape 21"/>
          <p:cNvSpPr/>
          <p:nvPr/>
        </p:nvSpPr>
        <p:spPr bwMode="auto">
          <a:xfrm>
            <a:off x="2218059" y="1928802"/>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工程变更信息传递及后续跟进管理流程未清晰定义</a:t>
            </a:r>
          </a:p>
        </p:txBody>
      </p:sp>
      <p:cxnSp>
        <p:nvCxnSpPr>
          <p:cNvPr id="47" name="直接连接符 46"/>
          <p:cNvCxnSpPr/>
          <p:nvPr/>
        </p:nvCxnSpPr>
        <p:spPr bwMode="auto">
          <a:xfrm>
            <a:off x="1857356"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49" name="直接连接符 48"/>
          <p:cNvCxnSpPr/>
          <p:nvPr/>
        </p:nvCxnSpPr>
        <p:spPr bwMode="auto">
          <a:xfrm>
            <a:off x="3872485"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0" name="直接连接符 49"/>
          <p:cNvCxnSpPr/>
          <p:nvPr/>
        </p:nvCxnSpPr>
        <p:spPr bwMode="auto">
          <a:xfrm>
            <a:off x="4454544"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5" name="直接连接符 54"/>
          <p:cNvCxnSpPr/>
          <p:nvPr/>
        </p:nvCxnSpPr>
        <p:spPr bwMode="auto">
          <a:xfrm>
            <a:off x="5989578" y="407456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56" name="直接连接符 55"/>
          <p:cNvCxnSpPr/>
          <p:nvPr/>
        </p:nvCxnSpPr>
        <p:spPr bwMode="auto">
          <a:xfrm>
            <a:off x="5490350" y="4556767"/>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44" name="矩形 43"/>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策略</a:t>
            </a:r>
            <a:r>
              <a:rPr lang="zh-CN" altLang="en-US" sz="1200" dirty="0">
                <a:latin typeface="微软雅黑" panose="020B0503020204020204" charset="-122"/>
                <a:ea typeface="微软雅黑" panose="020B0503020204020204" charset="-122"/>
              </a:rPr>
              <a:t>：驱动</a:t>
            </a:r>
            <a:r>
              <a:rPr lang="en-US" altLang="zh-CN" sz="1200" b="1" dirty="0">
                <a:latin typeface="微软雅黑" panose="020B0503020204020204" charset="-122"/>
                <a:ea typeface="微软雅黑" panose="020B0503020204020204" charset="-122"/>
              </a:rPr>
              <a:t>BOM</a:t>
            </a:r>
            <a:r>
              <a:rPr lang="zh-CN" altLang="en-US" sz="1200" b="1" dirty="0">
                <a:latin typeface="微软雅黑" panose="020B0503020204020204" charset="-122"/>
                <a:ea typeface="微软雅黑" panose="020B0503020204020204" charset="-122"/>
              </a:rPr>
              <a:t>模块化、可配置化</a:t>
            </a:r>
            <a:r>
              <a:rPr lang="zh-CN" altLang="en-US" sz="1200" dirty="0">
                <a:latin typeface="微软雅黑" panose="020B0503020204020204" charset="-122"/>
                <a:ea typeface="微软雅黑" panose="020B0503020204020204" charset="-122"/>
              </a:rPr>
              <a:t>发展［x自行逐步推动］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组织</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人员</a:t>
            </a:r>
            <a:r>
              <a:rPr lang="zh-CN" altLang="en-US" sz="1200" dirty="0">
                <a:latin typeface="微软雅黑" panose="020B0503020204020204" charset="-122"/>
                <a:ea typeface="微软雅黑" panose="020B0503020204020204" charset="-122"/>
              </a:rPr>
              <a:t>：明确工程变更管理流程的职责［</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 ；将流程进行</a:t>
            </a:r>
            <a:r>
              <a:rPr lang="zh-CN" altLang="en-US" sz="1200" b="1" dirty="0">
                <a:latin typeface="微软雅黑" panose="020B0503020204020204" charset="-122"/>
                <a:ea typeface="微软雅黑" panose="020B0503020204020204" charset="-122"/>
              </a:rPr>
              <a:t>宣贯与培训</a:t>
            </a:r>
            <a:r>
              <a:rPr lang="zh-CN" altLang="en-US" sz="1200" dirty="0">
                <a:latin typeface="微软雅黑" panose="020B0503020204020204" charset="-122"/>
                <a:ea typeface="微软雅黑" panose="020B0503020204020204" charset="-122"/>
              </a:rPr>
              <a:t>［x团队推进］</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管理</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流程</a:t>
            </a:r>
            <a:r>
              <a:rPr lang="zh-CN" altLang="en-US" sz="1200" dirty="0">
                <a:latin typeface="微软雅黑" panose="020B0503020204020204" charset="-122"/>
                <a:ea typeface="微软雅黑" panose="020B0503020204020204" charset="-122"/>
              </a:rPr>
              <a:t>：梳理</a:t>
            </a:r>
            <a:r>
              <a:rPr lang="zh-CN" altLang="en-US" sz="1200" b="1" dirty="0">
                <a:latin typeface="微软雅黑" panose="020B0503020204020204" charset="-122"/>
                <a:ea typeface="微软雅黑" panose="020B0503020204020204" charset="-122"/>
              </a:rPr>
              <a:t>工程变更管理流程</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详细蓝图设计］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绩效</a:t>
            </a:r>
            <a:r>
              <a:rPr lang="en-US" altLang="zh-CN" sz="1200" u="sng"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：无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a:t>
            </a:r>
            <a:r>
              <a:rPr lang="en-US" altLang="zh-CN" sz="1200" u="sng"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：优化</a:t>
            </a:r>
            <a:r>
              <a:rPr lang="en-US" altLang="zh-CN" sz="1200" dirty="0">
                <a:latin typeface="微软雅黑" panose="020B0503020204020204" charset="-122"/>
                <a:ea typeface="微软雅黑" panose="020B0503020204020204" charset="-122"/>
              </a:rPr>
              <a:t>PDM</a:t>
            </a:r>
            <a:r>
              <a:rPr lang="zh-CN" altLang="en-US" sz="1200" dirty="0">
                <a:latin typeface="微软雅黑" panose="020B0503020204020204" charset="-122"/>
                <a:ea typeface="微软雅黑" panose="020B0503020204020204" charset="-122"/>
              </a:rPr>
              <a:t>系统，从源头支持</a:t>
            </a:r>
            <a:r>
              <a:rPr lang="en-US" altLang="zh-CN" sz="1200" dirty="0">
                <a:latin typeface="微软雅黑" panose="020B0503020204020204" charset="-122"/>
                <a:ea typeface="微软雅黑" panose="020B0503020204020204" charset="-122"/>
              </a:rPr>
              <a:t>BOM</a:t>
            </a:r>
            <a:r>
              <a:rPr lang="zh-CN" altLang="en-US" sz="1200" dirty="0">
                <a:latin typeface="微软雅黑" panose="020B0503020204020204" charset="-122"/>
                <a:ea typeface="微软雅黑" panose="020B0503020204020204" charset="-122"/>
              </a:rPr>
              <a:t>的可选配化；信息化的变更管理平台［x自行逐步推动］ </a:t>
            </a:r>
          </a:p>
        </p:txBody>
      </p:sp>
      <p:sp>
        <p:nvSpPr>
          <p:cNvPr id="42" name="矩形 41"/>
          <p:cNvSpPr/>
          <p:nvPr/>
        </p:nvSpPr>
        <p:spPr bwMode="auto">
          <a:xfrm>
            <a:off x="214282" y="1385430"/>
            <a:ext cx="500066" cy="4068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根因分析</a:t>
            </a:r>
          </a:p>
        </p:txBody>
      </p:sp>
      <p:sp>
        <p:nvSpPr>
          <p:cNvPr id="43" name="矩形 42"/>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改进方向</a:t>
            </a:r>
          </a:p>
        </p:txBody>
      </p:sp>
      <p:sp>
        <p:nvSpPr>
          <p:cNvPr id="46" name="矩形 45"/>
          <p:cNvSpPr/>
          <p:nvPr/>
        </p:nvSpPr>
        <p:spPr bwMode="auto">
          <a:xfrm>
            <a:off x="785786" y="1385430"/>
            <a:ext cx="8172000" cy="4068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41" name="AutoShape 21"/>
          <p:cNvSpPr/>
          <p:nvPr/>
        </p:nvSpPr>
        <p:spPr bwMode="auto">
          <a:xfrm>
            <a:off x="6429388" y="3929066"/>
            <a:ext cx="1520382" cy="399094"/>
          </a:xfrm>
          <a:prstGeom prst="borderCallout2">
            <a:avLst>
              <a:gd name="adj1" fmla="val 30000"/>
              <a:gd name="adj2" fmla="val -5861"/>
              <a:gd name="adj3" fmla="val 15374"/>
              <a:gd name="adj4" fmla="val -17770"/>
              <a:gd name="adj5" fmla="val 25267"/>
              <a:gd name="adj6" fmla="val -30716"/>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缺乏信息化的变更管理平台进行管理</a:t>
            </a:r>
          </a:p>
        </p:txBody>
      </p:sp>
      <p:sp>
        <p:nvSpPr>
          <p:cNvPr id="60"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61"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62"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63"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64"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
        <p:nvSpPr>
          <p:cNvPr id="65" name="AutoShape 21"/>
          <p:cNvSpPr/>
          <p:nvPr/>
        </p:nvSpPr>
        <p:spPr bwMode="auto">
          <a:xfrm>
            <a:off x="4176710" y="1870064"/>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工程变更信息传递职责不明确</a:t>
            </a:r>
          </a:p>
        </p:txBody>
      </p:sp>
      <p:sp>
        <p:nvSpPr>
          <p:cNvPr id="66" name="AutoShape 21"/>
          <p:cNvSpPr/>
          <p:nvPr/>
        </p:nvSpPr>
        <p:spPr bwMode="auto">
          <a:xfrm>
            <a:off x="6141708" y="1928802"/>
            <a:ext cx="1520382" cy="399094"/>
          </a:xfrm>
          <a:prstGeom prst="borderCallout2">
            <a:avLst>
              <a:gd name="adj1" fmla="val 30000"/>
              <a:gd name="adj2" fmla="val -5861"/>
              <a:gd name="adj3" fmla="val -1905"/>
              <a:gd name="adj4" fmla="val -13388"/>
              <a:gd name="adj5" fmla="val 36787"/>
              <a:gd name="adj6" fmla="val -21952"/>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通过</a:t>
            </a:r>
            <a:r>
              <a:rPr kumimoji="1" lang="en-US" altLang="zh-CN" sz="1000" dirty="0">
                <a:latin typeface="微软雅黑" panose="020B0503020204020204" charset="-122"/>
                <a:ea typeface="微软雅黑" panose="020B0503020204020204" charset="-122"/>
              </a:rPr>
              <a:t>BOM</a:t>
            </a:r>
            <a:r>
              <a:rPr kumimoji="1" lang="zh-CN" altLang="en-US" sz="1000" dirty="0">
                <a:latin typeface="微软雅黑" panose="020B0503020204020204" charset="-122"/>
                <a:ea typeface="微软雅黑" panose="020B0503020204020204" charset="-122"/>
              </a:rPr>
              <a:t>模块化、可配置化，可减少变更频次</a:t>
            </a:r>
          </a:p>
        </p:txBody>
      </p:sp>
      <p:cxnSp>
        <p:nvCxnSpPr>
          <p:cNvPr id="67" name="直接连接符 66"/>
          <p:cNvCxnSpPr/>
          <p:nvPr/>
        </p:nvCxnSpPr>
        <p:spPr bwMode="auto">
          <a:xfrm>
            <a:off x="5827405"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62000" y="593725"/>
            <a:ext cx="8820000" cy="695325"/>
          </a:xfrm>
        </p:spPr>
        <p:txBody>
          <a:bodyPr/>
          <a:lstStyle/>
          <a:p>
            <a:pPr marL="174625" indent="-174625">
              <a:spcBef>
                <a:spcPts val="1200"/>
              </a:spcBef>
            </a:pPr>
            <a:r>
              <a:rPr dirty="0"/>
              <a:t>Q8</a:t>
            </a:r>
            <a:r>
              <a:rPr lang="zh-CN" altLang="en-US" dirty="0"/>
              <a:t>：</a:t>
            </a:r>
            <a:r>
              <a:rPr dirty="0"/>
              <a:t>MES</a:t>
            </a:r>
            <a:r>
              <a:rPr lang="zh-CN" altLang="en-US" dirty="0"/>
              <a:t>自动化集成化程度较低，影响生产制造精益化水平</a:t>
            </a:r>
            <a:endParaRPr kumimoji="1" lang="zh-CN" altLang="en-US"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bwMode="auto">
          <a:xfrm>
            <a:off x="214281" y="1386000"/>
            <a:ext cx="8739555" cy="50040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a:ln>
          <a:effectLst/>
        </p:spPr>
        <p:txBody>
          <a:bodyPr rtlCol="0" anchor="ctr"/>
          <a:lstStyle>
            <a:defPPr>
              <a:defRPr lang="zh-CN"/>
            </a:defPPr>
            <a:lvl1pPr algn="ctr" fontAlgn="auto">
              <a:spcBef>
                <a:spcPts val="0"/>
              </a:spcBef>
              <a:spcAft>
                <a:spcPts val="0"/>
              </a:spcAft>
              <a:defRPr sz="1600" b="1">
                <a:solidFill>
                  <a:schemeClr val="bg2"/>
                </a:solidFill>
                <a:latin typeface="微软雅黑" panose="020B0503020204020204" charset="-122"/>
                <a:ea typeface="微软雅黑" panose="020B0503020204020204" charset="-122"/>
              </a:defRPr>
            </a:lvl1pPr>
          </a:lstStyle>
          <a:p>
            <a:pPr fontAlgn="base">
              <a:spcBef>
                <a:spcPct val="0"/>
              </a:spcBef>
              <a:spcAft>
                <a:spcPct val="0"/>
              </a:spcAft>
            </a:pPr>
            <a:r>
              <a:rPr lang="zh-CN" altLang="en-US" sz="1400" dirty="0">
                <a:solidFill>
                  <a:schemeClr val="tx1"/>
                </a:solidFill>
              </a:rPr>
              <a:t>问题描述</a:t>
            </a:r>
            <a:endParaRPr lang="en-US" altLang="en-US" sz="1400" dirty="0">
              <a:solidFill>
                <a:schemeClr val="tx1"/>
              </a:solidFill>
            </a:endParaRPr>
          </a:p>
        </p:txBody>
      </p:sp>
      <p:sp>
        <p:nvSpPr>
          <p:cNvPr id="4" name="矩形 3"/>
          <p:cNvSpPr/>
          <p:nvPr/>
        </p:nvSpPr>
        <p:spPr bwMode="auto">
          <a:xfrm>
            <a:off x="214282" y="1949964"/>
            <a:ext cx="8739218" cy="349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5" name="矩形 4"/>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业务影响</a:t>
            </a:r>
          </a:p>
        </p:txBody>
      </p:sp>
      <p:sp>
        <p:nvSpPr>
          <p:cNvPr id="6" name="矩形 5"/>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、自动化程度低，人工操作多，</a:t>
            </a:r>
            <a:r>
              <a:rPr lang="zh-CN" altLang="en-US" sz="1200" b="1" dirty="0">
                <a:latin typeface="微软雅黑" panose="020B0503020204020204" charset="-122"/>
                <a:ea typeface="微软雅黑" panose="020B0503020204020204" charset="-122"/>
              </a:rPr>
              <a:t>效率低下</a:t>
            </a:r>
            <a:r>
              <a:rPr lang="zh-CN" altLang="en-US" sz="1200" dirty="0">
                <a:latin typeface="微软雅黑" panose="020B0503020204020204" charset="-122"/>
                <a:ea typeface="微软雅黑" panose="020B0503020204020204" charset="-122"/>
              </a:rPr>
              <a:t>，如报工</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关键部件追溯等</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、系统集成度低，</a:t>
            </a:r>
            <a:r>
              <a:rPr lang="zh-CN" altLang="en-US" sz="1200" b="1" dirty="0">
                <a:latin typeface="微软雅黑" panose="020B0503020204020204" charset="-122"/>
                <a:ea typeface="微软雅黑" panose="020B0503020204020204" charset="-122"/>
              </a:rPr>
              <a:t>信息传递效率低</a:t>
            </a:r>
            <a:r>
              <a:rPr lang="zh-CN" altLang="en-US" sz="1200" dirty="0">
                <a:latin typeface="微软雅黑" panose="020B0503020204020204" charset="-122"/>
                <a:ea typeface="微软雅黑" panose="020B0503020204020204" charset="-122"/>
              </a:rPr>
              <a:t>，如无法自动接收</a:t>
            </a:r>
            <a:r>
              <a:rPr lang="en-US" altLang="zh-CN" sz="1200" dirty="0">
                <a:latin typeface="微软雅黑" panose="020B0503020204020204" charset="-122"/>
                <a:ea typeface="微软雅黑" panose="020B0503020204020204" charset="-122"/>
              </a:rPr>
              <a:t>ERP</a:t>
            </a:r>
            <a:r>
              <a:rPr lang="zh-CN" altLang="en-US" sz="1200" dirty="0">
                <a:latin typeface="微软雅黑" panose="020B0503020204020204" charset="-122"/>
                <a:ea typeface="微软雅黑" panose="020B0503020204020204" charset="-122"/>
              </a:rPr>
              <a:t>计划</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、工厂业务可视化程度低，</a:t>
            </a:r>
            <a:r>
              <a:rPr lang="zh-CN" altLang="en-US" sz="1200" b="1" dirty="0">
                <a:latin typeface="微软雅黑" panose="020B0503020204020204" charset="-122"/>
                <a:ea typeface="微软雅黑" panose="020B0503020204020204" charset="-122"/>
              </a:rPr>
              <a:t>提高协同沟通成本</a:t>
            </a:r>
            <a:endParaRPr lang="en-US" altLang="zh-CN" sz="1200" b="1"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、无法指导拉动试生产与物料配送，</a:t>
            </a:r>
            <a:r>
              <a:rPr lang="zh-CN" altLang="en-US" sz="1200" b="1" dirty="0">
                <a:latin typeface="微软雅黑" panose="020B0503020204020204" charset="-122"/>
                <a:ea typeface="微软雅黑" panose="020B0503020204020204" charset="-122"/>
              </a:rPr>
              <a:t>精益化程度无法提高</a:t>
            </a:r>
            <a:endParaRPr lang="en-US" altLang="zh-CN" sz="1200" b="1" dirty="0">
              <a:latin typeface="微软雅黑" panose="020B0503020204020204" charset="-122"/>
              <a:ea typeface="微软雅黑" panose="020B0503020204020204" charset="-122"/>
            </a:endParaRPr>
          </a:p>
          <a:p>
            <a:endParaRPr lang="en-US" altLang="zh-CN" sz="1200" dirty="0">
              <a:latin typeface="微软雅黑" panose="020B0503020204020204" charset="-122"/>
              <a:ea typeface="微软雅黑" panose="020B0503020204020204" charset="-122"/>
            </a:endParaRPr>
          </a:p>
        </p:txBody>
      </p:sp>
      <p:sp>
        <p:nvSpPr>
          <p:cNvPr id="7" name="TextBox 6"/>
          <p:cNvSpPr txBox="1"/>
          <p:nvPr/>
        </p:nvSpPr>
        <p:spPr bwMode="auto">
          <a:xfrm>
            <a:off x="285720" y="2051403"/>
            <a:ext cx="2500330" cy="3354765"/>
          </a:xfrm>
          <a:prstGeom prst="rect">
            <a:avLst/>
          </a:prstGeom>
          <a:noFill/>
          <a:ln>
            <a:noFill/>
          </a:ln>
        </p:spPr>
        <p:txBody>
          <a:bodyPr wrap="square" rtlCol="0">
            <a:spAutoFit/>
          </a:bodyPr>
          <a:lstStyle/>
          <a:p>
            <a:pPr marL="177800" lvl="0" indent="-177800">
              <a:spcBef>
                <a:spcPts val="600"/>
              </a:spcBef>
              <a:buFont typeface="Wingdings" panose="05000000000000000000" pitchFamily="2" charset="2"/>
              <a:buChar char="Ø"/>
            </a:pPr>
            <a:r>
              <a:rPr lang="zh-CN" altLang="en-US" sz="1200" dirty="0">
                <a:latin typeface="微软雅黑" panose="020B0503020204020204" charset="-122"/>
                <a:ea typeface="微软雅黑" panose="020B0503020204020204" charset="-122"/>
              </a:rPr>
              <a:t>制造物流领域</a:t>
            </a:r>
            <a:r>
              <a:rPr lang="zh-CN" altLang="en-US" sz="1200" b="1" dirty="0">
                <a:latin typeface="微软雅黑" panose="020B0503020204020204" charset="-122"/>
                <a:ea typeface="微软雅黑" panose="020B0503020204020204" charset="-122"/>
              </a:rPr>
              <a:t>自动化处理水平有待提升</a:t>
            </a:r>
            <a:r>
              <a:rPr lang="zh-CN" altLang="en-US" sz="1200" dirty="0">
                <a:latin typeface="微软雅黑" panose="020B0503020204020204" charset="-122"/>
                <a:ea typeface="微软雅黑" panose="020B0503020204020204" charset="-122"/>
              </a:rPr>
              <a:t>，距离数字化，智能化工厂仍有较大差距</a:t>
            </a:r>
            <a:endParaRPr lang="en-US" altLang="zh-CN" sz="1200" dirty="0">
              <a:latin typeface="微软雅黑" panose="020B0503020204020204" charset="-122"/>
              <a:ea typeface="微软雅黑" panose="020B0503020204020204" charset="-122"/>
            </a:endParaRPr>
          </a:p>
          <a:p>
            <a:pPr marL="177800" lvl="0" indent="-177800">
              <a:spcBef>
                <a:spcPts val="600"/>
              </a:spcBef>
              <a:buFont typeface="Wingdings" panose="05000000000000000000" pitchFamily="2" charset="2"/>
              <a:buChar char="Ø"/>
            </a:pPr>
            <a:r>
              <a:rPr lang="zh-CN" altLang="en-US" sz="1200" dirty="0">
                <a:latin typeface="微软雅黑" panose="020B0503020204020204" charset="-122"/>
                <a:ea typeface="微软雅黑" panose="020B0503020204020204" charset="-122"/>
              </a:rPr>
              <a:t>结构与组装存在</a:t>
            </a:r>
            <a:r>
              <a:rPr lang="en-US" altLang="zh-CN" sz="1200" b="1" dirty="0">
                <a:latin typeface="微软雅黑" panose="020B0503020204020204" charset="-122"/>
                <a:ea typeface="微软雅黑" panose="020B0503020204020204" charset="-122"/>
              </a:rPr>
              <a:t>2</a:t>
            </a:r>
            <a:r>
              <a:rPr lang="zh-CN" altLang="en-US" sz="1200" b="1" dirty="0">
                <a:latin typeface="微软雅黑" panose="020B0503020204020204" charset="-122"/>
                <a:ea typeface="微软雅黑" panose="020B0503020204020204" charset="-122"/>
              </a:rPr>
              <a:t>套</a:t>
            </a:r>
            <a:r>
              <a:rPr lang="en-US" altLang="zh-CN" sz="1200" b="1" dirty="0">
                <a:latin typeface="微软雅黑" panose="020B0503020204020204" charset="-122"/>
                <a:ea typeface="微软雅黑" panose="020B0503020204020204" charset="-122"/>
              </a:rPr>
              <a:t>MES</a:t>
            </a:r>
            <a:r>
              <a:rPr lang="zh-CN" altLang="en-US" sz="1200" b="1" dirty="0">
                <a:latin typeface="微软雅黑" panose="020B0503020204020204" charset="-122"/>
                <a:ea typeface="微软雅黑" panose="020B0503020204020204" charset="-122"/>
              </a:rPr>
              <a:t>系统</a:t>
            </a:r>
            <a:r>
              <a:rPr lang="zh-CN" altLang="en-US" sz="1200" dirty="0">
                <a:latin typeface="微软雅黑" panose="020B0503020204020204" charset="-122"/>
                <a:ea typeface="微软雅黑" panose="020B0503020204020204" charset="-122"/>
              </a:rPr>
              <a:t>，多系统间集成程度低，导致效率低下，如计划需要人工导入等</a:t>
            </a:r>
            <a:endParaRPr lang="en-US" altLang="zh-CN" sz="1200" dirty="0">
              <a:latin typeface="微软雅黑" panose="020B0503020204020204" charset="-122"/>
              <a:ea typeface="微软雅黑" panose="020B0503020204020204" charset="-122"/>
            </a:endParaRPr>
          </a:p>
          <a:p>
            <a:pPr marL="177800" lvl="0" indent="-177800">
              <a:spcBef>
                <a:spcPts val="600"/>
              </a:spcBef>
              <a:buFont typeface="Wingdings" panose="05000000000000000000" pitchFamily="2" charset="2"/>
              <a:buChar char="Ø"/>
            </a:pPr>
            <a:r>
              <a:rPr lang="zh-CN" altLang="en-US" sz="1200" dirty="0">
                <a:latin typeface="微软雅黑" panose="020B0503020204020204" charset="-122"/>
                <a:ea typeface="微软雅黑" panose="020B0503020204020204" charset="-122"/>
              </a:rPr>
              <a:t>未能实现主机计划到部件计划的</a:t>
            </a:r>
            <a:r>
              <a:rPr lang="zh-CN" altLang="en-US" sz="1200" b="1" dirty="0">
                <a:latin typeface="微软雅黑" panose="020B0503020204020204" charset="-122"/>
                <a:ea typeface="微软雅黑" panose="020B0503020204020204" charset="-122"/>
              </a:rPr>
              <a:t>自动排产</a:t>
            </a:r>
            <a:r>
              <a:rPr lang="zh-CN" altLang="en-US" sz="1200" dirty="0">
                <a:latin typeface="微软雅黑" panose="020B0503020204020204" charset="-122"/>
                <a:ea typeface="微软雅黑" panose="020B0503020204020204" charset="-122"/>
              </a:rPr>
              <a:t>，缺乏精益计划指导下的前序生产与物料的拉动执行</a:t>
            </a:r>
            <a:endParaRPr lang="en-US" altLang="zh-CN" sz="1200" dirty="0">
              <a:latin typeface="微软雅黑" panose="020B0503020204020204" charset="-122"/>
              <a:ea typeface="微软雅黑" panose="020B0503020204020204" charset="-122"/>
            </a:endParaRPr>
          </a:p>
          <a:p>
            <a:pPr marL="177800" lvl="0" indent="-177800">
              <a:spcBef>
                <a:spcPts val="600"/>
              </a:spcBef>
              <a:buFont typeface="Wingdings" panose="05000000000000000000" pitchFamily="2" charset="2"/>
              <a:buChar char="Ø"/>
            </a:pPr>
            <a:r>
              <a:rPr lang="zh-CN" altLang="en-US" sz="1200" dirty="0">
                <a:latin typeface="微软雅黑" panose="020B0503020204020204" charset="-122"/>
                <a:ea typeface="微软雅黑" panose="020B0503020204020204" charset="-122"/>
              </a:rPr>
              <a:t>关键部件记录与</a:t>
            </a:r>
            <a:r>
              <a:rPr lang="zh-CN" altLang="en-US" sz="1200" b="1" dirty="0">
                <a:latin typeface="微软雅黑" panose="020B0503020204020204" charset="-122"/>
                <a:ea typeface="微软雅黑" panose="020B0503020204020204" charset="-122"/>
              </a:rPr>
              <a:t>报工操作效率低下</a:t>
            </a:r>
            <a:r>
              <a:rPr lang="zh-CN" altLang="en-US" sz="1200" dirty="0">
                <a:latin typeface="微软雅黑" panose="020B0503020204020204" charset="-122"/>
                <a:ea typeface="微软雅黑" panose="020B0503020204020204" charset="-122"/>
              </a:rPr>
              <a:t>，存在流程和自动化层面的问题问题</a:t>
            </a:r>
            <a:endParaRPr lang="en-US" altLang="zh-CN" sz="1200" dirty="0">
              <a:latin typeface="微软雅黑" panose="020B0503020204020204" charset="-122"/>
              <a:ea typeface="微软雅黑" panose="020B0503020204020204" charset="-122"/>
            </a:endParaRPr>
          </a:p>
          <a:p>
            <a:pPr marL="177800" lvl="0" indent="-177800">
              <a:spcBef>
                <a:spcPts val="600"/>
              </a:spcBef>
              <a:buFont typeface="Wingdings" panose="05000000000000000000" pitchFamily="2" charset="2"/>
              <a:buChar char="Ø"/>
            </a:pPr>
            <a:r>
              <a:rPr lang="zh-CN" altLang="en-US" sz="1200" dirty="0">
                <a:latin typeface="微软雅黑" panose="020B0503020204020204" charset="-122"/>
                <a:ea typeface="微软雅黑" panose="020B0503020204020204" charset="-122"/>
              </a:rPr>
              <a:t>右图仅以报工为例，仅备料生产阶段，小挖报工数量可达</a:t>
            </a:r>
            <a:r>
              <a:rPr lang="en-US" altLang="zh-CN" sz="1200" dirty="0">
                <a:latin typeface="微软雅黑" panose="020B0503020204020204" charset="-122"/>
                <a:ea typeface="微软雅黑" panose="020B0503020204020204" charset="-122"/>
              </a:rPr>
              <a:t>2000</a:t>
            </a:r>
            <a:r>
              <a:rPr lang="zh-CN" altLang="en-US" sz="1200" dirty="0">
                <a:latin typeface="微软雅黑" panose="020B0503020204020204" charset="-122"/>
                <a:ea typeface="微软雅黑" panose="020B0503020204020204" charset="-122"/>
              </a:rPr>
              <a:t>张</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次以上，需要专人打印纸质单据，专人进行报工扫描作业</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TextBox 7"/>
          <p:cNvSpPr txBox="1"/>
          <p:nvPr/>
        </p:nvSpPr>
        <p:spPr bwMode="auto">
          <a:xfrm>
            <a:off x="3000364" y="5203075"/>
            <a:ext cx="5214974" cy="245110"/>
          </a:xfrm>
          <a:prstGeom prst="rect">
            <a:avLst/>
          </a:prstGeom>
          <a:noFill/>
          <a:ln>
            <a:noFill/>
          </a:ln>
        </p:spPr>
        <p:txBody>
          <a:bodyPr wrap="square" lIns="0" rIns="0" rtlCol="0">
            <a:spAutoFit/>
          </a:bodyPr>
          <a:lstStyle/>
          <a:p>
            <a:r>
              <a:rPr kumimoji="1" lang="zh-CN" altLang="en-US" sz="1000" b="0" dirty="0">
                <a:solidFill>
                  <a:srgbClr val="000000"/>
                </a:solidFill>
                <a:latin typeface="微软雅黑" panose="020B0503020204020204" charset="-122"/>
                <a:ea typeface="微软雅黑" panose="020B0503020204020204" charset="-122"/>
                <a:cs typeface="微软雅黑" panose="020B0503020204020204" charset="-122"/>
              </a:rPr>
              <a:t>数据来源：x重机提供，项目组分析</a:t>
            </a:r>
            <a:endParaRPr kumimoji="1" lang="en-US" altLang="zh-CN" sz="1000" b="0" dirty="0">
              <a:solidFill>
                <a:srgbClr val="000000"/>
              </a:solidFill>
              <a:latin typeface="微软雅黑" panose="020B0503020204020204" charset="-122"/>
              <a:ea typeface="微软雅黑" panose="020B0503020204020204" charset="-122"/>
              <a:cs typeface="微软雅黑" panose="020B0503020204020204" charset="-122"/>
            </a:endParaRPr>
          </a:p>
        </p:txBody>
      </p:sp>
      <p:graphicFrame>
        <p:nvGraphicFramePr>
          <p:cNvPr id="10" name="表格 9"/>
          <p:cNvGraphicFramePr>
            <a:graphicFrameLocks noGrp="1"/>
          </p:cNvGraphicFramePr>
          <p:nvPr/>
        </p:nvGraphicFramePr>
        <p:xfrm>
          <a:off x="2857488" y="2071678"/>
          <a:ext cx="1214444" cy="1457098"/>
        </p:xfrm>
        <a:graphic>
          <a:graphicData uri="http://schemas.openxmlformats.org/drawingml/2006/table">
            <a:tbl>
              <a:tblPr/>
              <a:tblGrid>
                <a:gridCol w="376896">
                  <a:extLst>
                    <a:ext uri="{9D8B030D-6E8A-4147-A177-3AD203B41FA5}">
                      <a16:colId xmlns:a16="http://schemas.microsoft.com/office/drawing/2014/main" val="20000"/>
                    </a:ext>
                  </a:extLst>
                </a:gridCol>
                <a:gridCol w="408922">
                  <a:extLst>
                    <a:ext uri="{9D8B030D-6E8A-4147-A177-3AD203B41FA5}">
                      <a16:colId xmlns:a16="http://schemas.microsoft.com/office/drawing/2014/main" val="20001"/>
                    </a:ext>
                  </a:extLst>
                </a:gridCol>
                <a:gridCol w="428626">
                  <a:extLst>
                    <a:ext uri="{9D8B030D-6E8A-4147-A177-3AD203B41FA5}">
                      <a16:colId xmlns:a16="http://schemas.microsoft.com/office/drawing/2014/main" val="20002"/>
                    </a:ext>
                  </a:extLst>
                </a:gridCol>
              </a:tblGrid>
              <a:tr h="382808">
                <a:tc>
                  <a:txBody>
                    <a:bodyPr/>
                    <a:lstStyle/>
                    <a:p>
                      <a:pPr algn="ctr" rtl="0" fontAlgn="ctr"/>
                      <a:r>
                        <a:rPr lang="zh-CN" altLang="en-US" sz="1000" b="0" i="0" u="none" strike="noStrike" dirty="0">
                          <a:solidFill>
                            <a:srgbClr val="000000"/>
                          </a:solidFill>
                          <a:latin typeface="微软雅黑" panose="020B0503020204020204" charset="-122"/>
                          <a:ea typeface="微软雅黑" panose="020B0503020204020204" charset="-122"/>
                        </a:rPr>
                        <a:t>备料生产</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ctr" rtl="0" fontAlgn="ctr"/>
                      <a:r>
                        <a:rPr lang="zh-CN" altLang="en-US" sz="1000" b="0" i="0" u="none" strike="noStrike" dirty="0">
                          <a:solidFill>
                            <a:srgbClr val="000000"/>
                          </a:solidFill>
                          <a:latin typeface="微软雅黑" panose="020B0503020204020204" charset="-122"/>
                          <a:ea typeface="微软雅黑" panose="020B0503020204020204" charset="-122"/>
                        </a:rPr>
                        <a:t>举例</a:t>
                      </a:r>
                      <a:endParaRPr lang="en-US" altLang="zh-CN" sz="1000" b="0" i="0" u="none" strike="noStrike" dirty="0">
                        <a:solidFill>
                          <a:srgbClr val="000000"/>
                        </a:solidFill>
                        <a:latin typeface="微软雅黑" panose="020B0503020204020204" charset="-122"/>
                        <a:ea typeface="微软雅黑" panose="020B0503020204020204" charset="-122"/>
                      </a:endParaRPr>
                    </a:p>
                    <a:p>
                      <a:pPr algn="ctr" rtl="0" fontAlgn="ctr"/>
                      <a:r>
                        <a:rPr lang="zh-CN" altLang="en-US" sz="1000" b="0" i="0" u="none" strike="noStrike" dirty="0">
                          <a:solidFill>
                            <a:srgbClr val="000000"/>
                          </a:solidFill>
                          <a:latin typeface="微软雅黑" panose="020B0503020204020204" charset="-122"/>
                          <a:ea typeface="微软雅黑" panose="020B0503020204020204" charset="-122"/>
                        </a:rPr>
                        <a:t>机型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ctr" rtl="0" fontAlgn="ctr"/>
                      <a:r>
                        <a:rPr lang="zh-CN" altLang="en-US" sz="1000" b="0" i="0" u="none" strike="noStrike" dirty="0">
                          <a:solidFill>
                            <a:srgbClr val="000000"/>
                          </a:solidFill>
                          <a:latin typeface="微软雅黑" panose="020B0503020204020204" charset="-122"/>
                          <a:ea typeface="微软雅黑" panose="020B0503020204020204" charset="-122"/>
                        </a:rPr>
                        <a:t>日报工次数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0"/>
                  </a:ext>
                </a:extLst>
              </a:tr>
              <a:tr h="300156">
                <a:tc>
                  <a:txBody>
                    <a:bodyPr/>
                    <a:lstStyle/>
                    <a:p>
                      <a:pPr algn="ctr" rtl="0" fontAlgn="ctr"/>
                      <a:r>
                        <a:rPr lang="zh-CN" altLang="en-US" sz="1000" b="0" i="0" u="none" strike="noStrike">
                          <a:solidFill>
                            <a:srgbClr val="000000"/>
                          </a:solidFill>
                          <a:latin typeface="微软雅黑" panose="020B0503020204020204" charset="-122"/>
                          <a:ea typeface="微软雅黑" panose="020B0503020204020204" charset="-122"/>
                        </a:rPr>
                        <a:t>大挖</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dirty="0">
                          <a:solidFill>
                            <a:srgbClr val="000000"/>
                          </a:solidFill>
                          <a:latin typeface="微软雅黑" panose="020B0503020204020204" charset="-122"/>
                          <a:ea typeface="微软雅黑" panose="020B0503020204020204" charset="-122"/>
                        </a:rPr>
                        <a:t>SY365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latin typeface="微软雅黑" panose="020B0503020204020204" charset="-122"/>
                          <a:ea typeface="微软雅黑" panose="020B0503020204020204" charset="-122"/>
                        </a:rPr>
                        <a:t>449~</a:t>
                      </a:r>
                    </a:p>
                    <a:p>
                      <a:pPr algn="ctr" rtl="0" fontAlgn="ctr"/>
                      <a:r>
                        <a:rPr lang="en-US" altLang="zh-CN" sz="1000" b="0" i="0" u="none" strike="noStrike" dirty="0">
                          <a:solidFill>
                            <a:srgbClr val="000000"/>
                          </a:solidFill>
                          <a:latin typeface="微软雅黑" panose="020B0503020204020204" charset="-122"/>
                          <a:ea typeface="微软雅黑" panose="020B0503020204020204" charset="-122"/>
                        </a:rPr>
                        <a:t>998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0156">
                <a:tc>
                  <a:txBody>
                    <a:bodyPr/>
                    <a:lstStyle/>
                    <a:p>
                      <a:pPr algn="ctr" rtl="0" fontAlgn="ctr"/>
                      <a:r>
                        <a:rPr lang="zh-CN" altLang="en-US" sz="1000" b="0" i="0" u="none" strike="noStrike">
                          <a:solidFill>
                            <a:srgbClr val="000000"/>
                          </a:solidFill>
                          <a:latin typeface="微软雅黑" panose="020B0503020204020204" charset="-122"/>
                          <a:ea typeface="微软雅黑" panose="020B0503020204020204" charset="-122"/>
                        </a:rPr>
                        <a:t>中挖</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dirty="0">
                          <a:solidFill>
                            <a:srgbClr val="000000"/>
                          </a:solidFill>
                          <a:latin typeface="微软雅黑" panose="020B0503020204020204" charset="-122"/>
                          <a:ea typeface="微软雅黑" panose="020B0503020204020204" charset="-122"/>
                        </a:rPr>
                        <a:t> SY215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latin typeface="微软雅黑" panose="020B0503020204020204" charset="-122"/>
                          <a:ea typeface="微软雅黑" panose="020B0503020204020204" charset="-122"/>
                        </a:rPr>
                        <a:t>370~</a:t>
                      </a:r>
                    </a:p>
                    <a:p>
                      <a:pPr algn="ctr" rtl="0" fontAlgn="ctr"/>
                      <a:r>
                        <a:rPr lang="en-US" altLang="zh-CN" sz="1000" b="0" i="0" u="none" strike="noStrike" dirty="0">
                          <a:solidFill>
                            <a:srgbClr val="000000"/>
                          </a:solidFill>
                          <a:latin typeface="微软雅黑" panose="020B0503020204020204" charset="-122"/>
                          <a:ea typeface="微软雅黑" panose="020B0503020204020204" charset="-122"/>
                        </a:rPr>
                        <a:t>740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5640">
                <a:tc>
                  <a:txBody>
                    <a:bodyPr/>
                    <a:lstStyle/>
                    <a:p>
                      <a:pPr algn="ctr" rtl="0" fontAlgn="ctr"/>
                      <a:r>
                        <a:rPr lang="zh-CN" altLang="en-US" sz="1000" b="0" i="0" u="none" strike="noStrike">
                          <a:solidFill>
                            <a:srgbClr val="000000"/>
                          </a:solidFill>
                          <a:latin typeface="微软雅黑" panose="020B0503020204020204" charset="-122"/>
                          <a:ea typeface="微软雅黑" panose="020B0503020204020204" charset="-122"/>
                        </a:rPr>
                        <a:t>小挖</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dirty="0">
                          <a:solidFill>
                            <a:srgbClr val="000000"/>
                          </a:solidFill>
                          <a:latin typeface="微软雅黑" panose="020B0503020204020204" charset="-122"/>
                          <a:ea typeface="微软雅黑" panose="020B0503020204020204" charset="-122"/>
                        </a:rPr>
                        <a:t>SY75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latin typeface="微软雅黑" panose="020B0503020204020204" charset="-122"/>
                          <a:ea typeface="微软雅黑" panose="020B0503020204020204" charset="-122"/>
                        </a:rPr>
                        <a:t>1400~2257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椭圆 10"/>
          <p:cNvSpPr/>
          <p:nvPr/>
        </p:nvSpPr>
        <p:spPr bwMode="auto">
          <a:xfrm>
            <a:off x="3071802" y="3071810"/>
            <a:ext cx="1000132" cy="500066"/>
          </a:xfrm>
          <a:prstGeom prst="ellipse">
            <a:avLst/>
          </a:prstGeom>
          <a:noFill/>
          <a:ln w="9525" cap="flat" cmpd="sng" algn="ctr">
            <a:solidFill>
              <a:srgbClr val="FF0000"/>
            </a:solidFill>
            <a:prstDash val="dash"/>
            <a:round/>
            <a:headEnd type="none" w="med" len="med"/>
            <a:tailEnd type="none"/>
          </a:ln>
          <a:effectLst/>
        </p:spPr>
        <p:txBody>
          <a:bodyPr rtlCol="0" anchor="ctr"/>
          <a:lstStyle/>
          <a:p>
            <a:pPr algn="ctr"/>
            <a:endParaRPr lang="zh-CN" altLang="en-US"/>
          </a:p>
        </p:txBody>
      </p:sp>
      <p:sp>
        <p:nvSpPr>
          <p:cNvPr id="15"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16"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17"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18"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19"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grpSp>
        <p:nvGrpSpPr>
          <p:cNvPr id="9" name="组合 56"/>
          <p:cNvGrpSpPr/>
          <p:nvPr/>
        </p:nvGrpSpPr>
        <p:grpSpPr>
          <a:xfrm>
            <a:off x="4429124" y="2495478"/>
            <a:ext cx="4143404" cy="2576596"/>
            <a:chOff x="875305" y="958553"/>
            <a:chExt cx="6718099" cy="4429383"/>
          </a:xfrm>
        </p:grpSpPr>
        <p:pic>
          <p:nvPicPr>
            <p:cNvPr id="21" name="图片 20"/>
            <p:cNvPicPr>
              <a:picLocks noChangeAspect="1"/>
            </p:cNvPicPr>
            <p:nvPr/>
          </p:nvPicPr>
          <p:blipFill rotWithShape="1">
            <a:blip r:embed="rId2" cstate="print">
              <a:extLst>
                <a:ext uri="{28A0092B-C50C-407E-A947-70E740481C1C}">
                  <a14:useLocalDpi xmlns:a14="http://schemas.microsoft.com/office/drawing/2010/main" val="0"/>
                </a:ext>
              </a:extLst>
            </a:blip>
            <a:srcRect l="5436" b="20761"/>
            <a:stretch>
              <a:fillRect/>
            </a:stretch>
          </p:blipFill>
          <p:spPr>
            <a:xfrm>
              <a:off x="2358847" y="2123743"/>
              <a:ext cx="3920587" cy="1847933"/>
            </a:xfrm>
            <a:prstGeom prst="rect">
              <a:avLst/>
            </a:prstGeom>
            <a:effectLst>
              <a:softEdge rad="127000"/>
            </a:effectLst>
          </p:spPr>
        </p:pic>
        <p:sp>
          <p:nvSpPr>
            <p:cNvPr id="22" name="椭圆 21"/>
            <p:cNvSpPr/>
            <p:nvPr/>
          </p:nvSpPr>
          <p:spPr bwMode="auto">
            <a:xfrm>
              <a:off x="3800901" y="373910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23" name="形状 22"/>
            <p:cNvCxnSpPr>
              <a:stCxn id="22" idx="4"/>
              <a:endCxn id="25" idx="6"/>
            </p:cNvCxnSpPr>
            <p:nvPr/>
          </p:nvCxnSpPr>
          <p:spPr bwMode="auto">
            <a:xfrm rot="5400000">
              <a:off x="3171743" y="3861247"/>
              <a:ext cx="697299" cy="669018"/>
            </a:xfrm>
            <a:prstGeom prst="bentConnector2">
              <a:avLst/>
            </a:prstGeom>
            <a:solidFill>
              <a:schemeClr val="accent1"/>
            </a:solidFill>
            <a:ln w="19050" cap="flat" cmpd="sng" algn="ctr">
              <a:solidFill>
                <a:srgbClr val="FF0000"/>
              </a:solidFill>
              <a:prstDash val="solid"/>
              <a:round/>
              <a:headEnd type="none" w="med" len="med"/>
              <a:tailEnd type="triangle" w="med" len="med"/>
            </a:ln>
            <a:effectLst/>
          </p:spPr>
        </p:cxnSp>
        <p:sp>
          <p:nvSpPr>
            <p:cNvPr id="24" name="Rectangle 4"/>
            <p:cNvSpPr>
              <a:spLocks noChangeArrowheads="1"/>
            </p:cNvSpPr>
            <p:nvPr/>
          </p:nvSpPr>
          <p:spPr bwMode="auto">
            <a:xfrm>
              <a:off x="2395975" y="4831253"/>
              <a:ext cx="564257" cy="556682"/>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b="1" dirty="0">
                  <a:solidFill>
                    <a:srgbClr val="FF0000"/>
                  </a:solidFill>
                  <a:latin typeface="微软雅黑" panose="020B0503020204020204" charset="-122"/>
                  <a:ea typeface="微软雅黑" panose="020B0503020204020204" charset="-122"/>
                </a:rPr>
                <a:t>可视化低</a:t>
              </a:r>
              <a:endParaRPr kumimoji="1" lang="en-US" altLang="zh-CN" sz="900" b="1" dirty="0">
                <a:solidFill>
                  <a:srgbClr val="FF0000"/>
                </a:solidFill>
                <a:latin typeface="微软雅黑" panose="020B0503020204020204" charset="-122"/>
                <a:ea typeface="微软雅黑" panose="020B0503020204020204" charset="-122"/>
              </a:endParaRPr>
            </a:p>
          </p:txBody>
        </p:sp>
        <p:pic>
          <p:nvPicPr>
            <p:cNvPr id="25" name="Picture 7"/>
            <p:cNvPicPr>
              <a:picLocks noChangeAspect="1" noChangeArrowheads="1"/>
            </p:cNvPicPr>
            <p:nvPr/>
          </p:nvPicPr>
          <p:blipFill>
            <a:blip r:embed="rId3" cstate="print"/>
            <a:srcRect/>
            <a:stretch>
              <a:fillRect/>
            </a:stretch>
          </p:blipFill>
          <p:spPr bwMode="auto">
            <a:xfrm>
              <a:off x="2068085" y="4215596"/>
              <a:ext cx="1117798" cy="657620"/>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6" name="椭圆 25"/>
            <p:cNvSpPr/>
            <p:nvPr/>
          </p:nvSpPr>
          <p:spPr bwMode="auto">
            <a:xfrm>
              <a:off x="4061251" y="338985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pic>
          <p:nvPicPr>
            <p:cNvPr id="27" name="图片 26"/>
            <p:cNvPicPr>
              <a:picLocks noChangeAspect="1"/>
            </p:cNvPicPr>
            <p:nvPr/>
          </p:nvPicPr>
          <p:blipFill>
            <a:blip r:embed="rId4" cstate="print"/>
            <a:srcRect l="14047" r="19354" b="30396"/>
            <a:stretch>
              <a:fillRect/>
            </a:stretch>
          </p:blipFill>
          <p:spPr>
            <a:xfrm>
              <a:off x="4048126" y="4236856"/>
              <a:ext cx="1080000" cy="682624"/>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28" name="形状 41"/>
            <p:cNvCxnSpPr>
              <a:stCxn id="26" idx="4"/>
              <a:endCxn id="27" idx="0"/>
            </p:cNvCxnSpPr>
            <p:nvPr/>
          </p:nvCxnSpPr>
          <p:spPr bwMode="auto">
            <a:xfrm rot="16200000" flipH="1">
              <a:off x="3982189" y="3630918"/>
              <a:ext cx="738999" cy="472875"/>
            </a:xfrm>
            <a:prstGeom prst="bentConnector3">
              <a:avLst>
                <a:gd name="adj1" fmla="val 50000"/>
              </a:avLst>
            </a:prstGeom>
            <a:solidFill>
              <a:schemeClr val="accent1"/>
            </a:solidFill>
            <a:ln w="19050" cap="flat" cmpd="sng" algn="ctr">
              <a:solidFill>
                <a:srgbClr val="FF0000"/>
              </a:solidFill>
              <a:prstDash val="solid"/>
              <a:round/>
              <a:headEnd type="none" w="med" len="med"/>
              <a:tailEnd type="triangle" w="med" len="med"/>
            </a:ln>
            <a:effectLst/>
          </p:spPr>
        </p:cxnSp>
        <p:sp>
          <p:nvSpPr>
            <p:cNvPr id="29" name="Rectangle 4"/>
            <p:cNvSpPr>
              <a:spLocks noChangeArrowheads="1"/>
            </p:cNvSpPr>
            <p:nvPr/>
          </p:nvSpPr>
          <p:spPr bwMode="auto">
            <a:xfrm>
              <a:off x="4328006" y="4888405"/>
              <a:ext cx="564257" cy="499531"/>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b="1" dirty="0">
                  <a:solidFill>
                    <a:srgbClr val="FF0000"/>
                  </a:solidFill>
                  <a:latin typeface="微软雅黑" panose="020B0503020204020204" charset="-122"/>
                  <a:ea typeface="微软雅黑" panose="020B0503020204020204" charset="-122"/>
                </a:rPr>
                <a:t>缺乏设备状态管理</a:t>
              </a:r>
              <a:endParaRPr kumimoji="1" lang="en-US" altLang="zh-CN" sz="900" b="1" dirty="0">
                <a:solidFill>
                  <a:srgbClr val="FF0000"/>
                </a:solidFill>
                <a:latin typeface="微软雅黑" panose="020B0503020204020204" charset="-122"/>
                <a:ea typeface="微软雅黑" panose="020B0503020204020204" charset="-122"/>
              </a:endParaRPr>
            </a:p>
          </p:txBody>
        </p:sp>
        <p:pic>
          <p:nvPicPr>
            <p:cNvPr id="30" name="Picture 16"/>
            <p:cNvPicPr>
              <a:picLocks noChangeAspect="1" noChangeArrowheads="1"/>
            </p:cNvPicPr>
            <p:nvPr/>
          </p:nvPicPr>
          <p:blipFill>
            <a:blip r:embed="rId5" cstate="print"/>
            <a:srcRect/>
            <a:stretch>
              <a:fillRect/>
            </a:stretch>
          </p:blipFill>
          <p:spPr bwMode="auto">
            <a:xfrm>
              <a:off x="894035" y="3424682"/>
              <a:ext cx="1080000" cy="802708"/>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1" name="椭圆 30"/>
            <p:cNvSpPr/>
            <p:nvPr/>
          </p:nvSpPr>
          <p:spPr bwMode="auto">
            <a:xfrm>
              <a:off x="3146851" y="326920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32" name="形状 41"/>
            <p:cNvCxnSpPr>
              <a:stCxn id="31" idx="4"/>
              <a:endCxn id="30" idx="6"/>
            </p:cNvCxnSpPr>
            <p:nvPr/>
          </p:nvCxnSpPr>
          <p:spPr bwMode="auto">
            <a:xfrm rot="5400000">
              <a:off x="2363029" y="2988213"/>
              <a:ext cx="448829" cy="1226816"/>
            </a:xfrm>
            <a:prstGeom prst="bentConnector2">
              <a:avLst/>
            </a:prstGeom>
            <a:solidFill>
              <a:schemeClr val="accent1"/>
            </a:solidFill>
            <a:ln w="19050" cap="flat" cmpd="sng" algn="ctr">
              <a:solidFill>
                <a:srgbClr val="FF0000"/>
              </a:solidFill>
              <a:prstDash val="solid"/>
              <a:round/>
              <a:headEnd type="none" w="med" len="med"/>
              <a:tailEnd type="triangle" w="med" len="med"/>
            </a:ln>
            <a:effectLst/>
          </p:spPr>
        </p:cxnSp>
        <p:sp>
          <p:nvSpPr>
            <p:cNvPr id="33" name="Rectangle 4"/>
            <p:cNvSpPr>
              <a:spLocks noChangeArrowheads="1"/>
            </p:cNvSpPr>
            <p:nvPr/>
          </p:nvSpPr>
          <p:spPr bwMode="auto">
            <a:xfrm>
              <a:off x="1133957" y="4202605"/>
              <a:ext cx="564257" cy="253916"/>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b="1" dirty="0">
                  <a:solidFill>
                    <a:srgbClr val="FF0000"/>
                  </a:solidFill>
                  <a:latin typeface="微软雅黑" panose="020B0503020204020204" charset="-122"/>
                  <a:ea typeface="微软雅黑" panose="020B0503020204020204" charset="-122"/>
                </a:rPr>
                <a:t>人工扫描部件</a:t>
              </a:r>
              <a:endParaRPr kumimoji="1" lang="en-US" altLang="zh-CN" sz="900" b="1" dirty="0">
                <a:solidFill>
                  <a:srgbClr val="FF0000"/>
                </a:solidFill>
                <a:latin typeface="微软雅黑" panose="020B0503020204020204" charset="-122"/>
                <a:ea typeface="微软雅黑" panose="020B0503020204020204" charset="-122"/>
              </a:endParaRPr>
            </a:p>
          </p:txBody>
        </p:sp>
        <p:pic>
          <p:nvPicPr>
            <p:cNvPr id="34" name="Picture 14" descr="http://www.sooq.cn/resupload/18/1374028455511_1.jpg"/>
            <p:cNvPicPr>
              <a:picLocks noChangeAspect="1" noChangeArrowheads="1"/>
            </p:cNvPicPr>
            <p:nvPr/>
          </p:nvPicPr>
          <p:blipFill>
            <a:blip r:embed="rId6" cstate="print"/>
            <a:srcRect t="22566" r="21208"/>
            <a:stretch>
              <a:fillRect/>
            </a:stretch>
          </p:blipFill>
          <p:spPr bwMode="auto">
            <a:xfrm>
              <a:off x="3452115" y="1089661"/>
              <a:ext cx="1080000" cy="732358"/>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5" name="椭圆 34"/>
            <p:cNvSpPr/>
            <p:nvPr/>
          </p:nvSpPr>
          <p:spPr bwMode="auto">
            <a:xfrm>
              <a:off x="5646211" y="330603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36" name="形状 41"/>
            <p:cNvCxnSpPr>
              <a:stCxn id="35" idx="6"/>
              <a:endCxn id="37" idx="2"/>
            </p:cNvCxnSpPr>
            <p:nvPr/>
          </p:nvCxnSpPr>
          <p:spPr bwMode="auto">
            <a:xfrm>
              <a:off x="5754213" y="3360037"/>
              <a:ext cx="527533" cy="443320"/>
            </a:xfrm>
            <a:prstGeom prst="bentConnector3">
              <a:avLst>
                <a:gd name="adj1" fmla="val 50000"/>
              </a:avLst>
            </a:prstGeom>
            <a:solidFill>
              <a:schemeClr val="accent1"/>
            </a:solidFill>
            <a:ln w="19050" cap="flat" cmpd="sng" algn="ctr">
              <a:solidFill>
                <a:srgbClr val="FF0000"/>
              </a:solidFill>
              <a:prstDash val="solid"/>
              <a:round/>
              <a:headEnd type="none" w="med" len="med"/>
              <a:tailEnd type="triangle" w="med" len="med"/>
            </a:ln>
            <a:effectLst/>
          </p:spPr>
        </p:cxnSp>
        <p:pic>
          <p:nvPicPr>
            <p:cNvPr id="37" name="Picture 6" descr="http://www.etrol.com.cn/img/20110819011342849.jpg"/>
            <p:cNvPicPr>
              <a:picLocks noChangeArrowheads="1"/>
            </p:cNvPicPr>
            <p:nvPr/>
          </p:nvPicPr>
          <p:blipFill>
            <a:blip r:embed="rId7" cstate="print"/>
            <a:srcRect l="57534" r="9169" b="68177"/>
            <a:stretch>
              <a:fillRect/>
            </a:stretch>
          </p:blipFill>
          <p:spPr bwMode="auto">
            <a:xfrm>
              <a:off x="6281746" y="3437957"/>
              <a:ext cx="1080000" cy="730800"/>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8" name="Rectangle 4"/>
            <p:cNvSpPr>
              <a:spLocks noChangeArrowheads="1"/>
            </p:cNvSpPr>
            <p:nvPr/>
          </p:nvSpPr>
          <p:spPr bwMode="auto">
            <a:xfrm>
              <a:off x="6594209" y="4175935"/>
              <a:ext cx="999195" cy="597963"/>
            </a:xfrm>
            <a:prstGeom prst="rect">
              <a:avLst/>
            </a:prstGeom>
            <a:noFill/>
            <a:ln w="9525">
              <a:noFill/>
              <a:miter lim="800000"/>
            </a:ln>
          </p:spPr>
          <p:txBody>
            <a:bodyPr wrap="none" lIns="0" tIns="0" rIns="0" bIns="0">
              <a:noAutofit/>
            </a:bodyPr>
            <a:lstStyle/>
            <a:p>
              <a:pPr algn="ctr">
                <a:buClr>
                  <a:srgbClr val="CC0000"/>
                </a:buClr>
              </a:pPr>
              <a:r>
                <a:rPr kumimoji="1" lang="zh-CN" altLang="en-US" sz="900" b="1" dirty="0">
                  <a:solidFill>
                    <a:srgbClr val="FF0000"/>
                  </a:solidFill>
                  <a:latin typeface="微软雅黑" panose="020B0503020204020204" charset="-122"/>
                  <a:ea typeface="微软雅黑" panose="020B0503020204020204" charset="-122"/>
                </a:rPr>
                <a:t>无法指导</a:t>
              </a:r>
              <a:endParaRPr kumimoji="1" lang="en-US" altLang="zh-CN" sz="900" b="1" dirty="0">
                <a:solidFill>
                  <a:srgbClr val="FF0000"/>
                </a:solidFill>
                <a:latin typeface="微软雅黑" panose="020B0503020204020204" charset="-122"/>
                <a:ea typeface="微软雅黑" panose="020B0503020204020204" charset="-122"/>
              </a:endParaRPr>
            </a:p>
            <a:p>
              <a:pPr algn="ctr">
                <a:buClr>
                  <a:srgbClr val="CC0000"/>
                </a:buClr>
              </a:pPr>
              <a:r>
                <a:rPr kumimoji="1" lang="zh-CN" altLang="en-US" sz="900" b="1" dirty="0">
                  <a:solidFill>
                    <a:srgbClr val="FF0000"/>
                  </a:solidFill>
                  <a:latin typeface="微软雅黑" panose="020B0503020204020204" charset="-122"/>
                  <a:ea typeface="微软雅黑" panose="020B0503020204020204" charset="-122"/>
                </a:rPr>
                <a:t>精确拉动</a:t>
              </a:r>
              <a:endParaRPr kumimoji="1" lang="en-US" altLang="zh-CN" sz="900" b="1" dirty="0">
                <a:solidFill>
                  <a:srgbClr val="FF0000"/>
                </a:solidFill>
                <a:latin typeface="微软雅黑" panose="020B0503020204020204" charset="-122"/>
                <a:ea typeface="微软雅黑" panose="020B0503020204020204" charset="-122"/>
              </a:endParaRPr>
            </a:p>
          </p:txBody>
        </p:sp>
        <p:pic>
          <p:nvPicPr>
            <p:cNvPr id="39" name="Picture 4" descr="http://xh.sh-tobacco.com.cn/group/images/upload/news8999.jpg"/>
            <p:cNvPicPr>
              <a:picLocks noChangeAspect="1" noChangeArrowheads="1"/>
            </p:cNvPicPr>
            <p:nvPr/>
          </p:nvPicPr>
          <p:blipFill>
            <a:blip r:embed="rId8" cstate="print"/>
            <a:srcRect t="18482" b="13517"/>
            <a:stretch>
              <a:fillRect/>
            </a:stretch>
          </p:blipFill>
          <p:spPr bwMode="auto">
            <a:xfrm>
              <a:off x="875305" y="1993900"/>
              <a:ext cx="1080000" cy="781626"/>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0" name="椭圆 39"/>
            <p:cNvSpPr/>
            <p:nvPr/>
          </p:nvSpPr>
          <p:spPr bwMode="auto">
            <a:xfrm>
              <a:off x="2689651" y="255800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41" name="形状 41"/>
            <p:cNvCxnSpPr>
              <a:stCxn id="40" idx="2"/>
              <a:endCxn id="39" idx="4"/>
            </p:cNvCxnSpPr>
            <p:nvPr/>
          </p:nvCxnSpPr>
          <p:spPr bwMode="auto">
            <a:xfrm rot="10800000" flipV="1">
              <a:off x="1415305" y="2612006"/>
              <a:ext cx="1274346" cy="163519"/>
            </a:xfrm>
            <a:prstGeom prst="bentConnector4">
              <a:avLst>
                <a:gd name="adj1" fmla="val 28813"/>
                <a:gd name="adj2" fmla="val 239800"/>
              </a:avLst>
            </a:prstGeom>
            <a:solidFill>
              <a:schemeClr val="accent1"/>
            </a:solidFill>
            <a:ln w="19050" cap="flat" cmpd="sng" algn="ctr">
              <a:solidFill>
                <a:srgbClr val="FF0000"/>
              </a:solidFill>
              <a:prstDash val="solid"/>
              <a:round/>
              <a:headEnd type="none" w="med" len="med"/>
              <a:tailEnd type="triangle" w="med" len="med"/>
            </a:ln>
            <a:effectLst/>
          </p:spPr>
        </p:cxnSp>
        <p:sp>
          <p:nvSpPr>
            <p:cNvPr id="42" name="Rectangle 4"/>
            <p:cNvSpPr>
              <a:spLocks noChangeArrowheads="1"/>
            </p:cNvSpPr>
            <p:nvPr/>
          </p:nvSpPr>
          <p:spPr bwMode="auto">
            <a:xfrm>
              <a:off x="991134" y="1572593"/>
              <a:ext cx="564257" cy="253915"/>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b="1" dirty="0">
                  <a:solidFill>
                    <a:srgbClr val="FF0000"/>
                  </a:solidFill>
                  <a:latin typeface="微软雅黑" panose="020B0503020204020204" charset="-122"/>
                  <a:ea typeface="微软雅黑" panose="020B0503020204020204" charset="-122"/>
                </a:rPr>
                <a:t>报工效率低下</a:t>
              </a:r>
              <a:endParaRPr kumimoji="1" lang="en-US" altLang="zh-CN" sz="900" b="1" dirty="0">
                <a:solidFill>
                  <a:srgbClr val="FF0000"/>
                </a:solidFill>
                <a:latin typeface="微软雅黑" panose="020B0503020204020204" charset="-122"/>
                <a:ea typeface="微软雅黑" panose="020B0503020204020204" charset="-122"/>
              </a:endParaRPr>
            </a:p>
          </p:txBody>
        </p:sp>
        <p:sp>
          <p:nvSpPr>
            <p:cNvPr id="43" name="椭圆 42"/>
            <p:cNvSpPr/>
            <p:nvPr/>
          </p:nvSpPr>
          <p:spPr bwMode="auto">
            <a:xfrm>
              <a:off x="3673901" y="258975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44" name="形状 41"/>
            <p:cNvCxnSpPr>
              <a:stCxn id="43" idx="0"/>
              <a:endCxn id="34" idx="4"/>
            </p:cNvCxnSpPr>
            <p:nvPr/>
          </p:nvCxnSpPr>
          <p:spPr bwMode="auto">
            <a:xfrm rot="5400000" flipH="1" flipV="1">
              <a:off x="3476139" y="2073781"/>
              <a:ext cx="767738" cy="264214"/>
            </a:xfrm>
            <a:prstGeom prst="bentConnector3">
              <a:avLst>
                <a:gd name="adj1" fmla="val 50000"/>
              </a:avLst>
            </a:prstGeom>
            <a:solidFill>
              <a:schemeClr val="accent1"/>
            </a:solidFill>
            <a:ln w="19050" cap="flat" cmpd="sng" algn="ctr">
              <a:solidFill>
                <a:srgbClr val="FF0000"/>
              </a:solidFill>
              <a:prstDash val="solid"/>
              <a:round/>
              <a:headEnd type="none" w="med" len="med"/>
              <a:tailEnd type="triangle" w="med" len="med"/>
            </a:ln>
            <a:effectLst/>
          </p:spPr>
        </p:cxnSp>
        <p:pic>
          <p:nvPicPr>
            <p:cNvPr id="45" name="Picture 2"/>
            <p:cNvPicPr>
              <a:picLocks noChangeAspect="1" noChangeArrowheads="1"/>
            </p:cNvPicPr>
            <p:nvPr/>
          </p:nvPicPr>
          <p:blipFill>
            <a:blip r:embed="rId9" cstate="print"/>
            <a:srcRect/>
            <a:stretch>
              <a:fillRect/>
            </a:stretch>
          </p:blipFill>
          <p:spPr bwMode="auto">
            <a:xfrm>
              <a:off x="6004379" y="1541917"/>
              <a:ext cx="1084489" cy="744841"/>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6" name="椭圆 45"/>
            <p:cNvSpPr/>
            <p:nvPr/>
          </p:nvSpPr>
          <p:spPr bwMode="auto">
            <a:xfrm>
              <a:off x="4319061" y="256943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47" name="形状 41"/>
            <p:cNvCxnSpPr>
              <a:stCxn id="46" idx="6"/>
              <a:endCxn id="45" idx="4"/>
            </p:cNvCxnSpPr>
            <p:nvPr/>
          </p:nvCxnSpPr>
          <p:spPr bwMode="auto">
            <a:xfrm flipV="1">
              <a:off x="4427061" y="2286758"/>
              <a:ext cx="2119563" cy="336679"/>
            </a:xfrm>
            <a:prstGeom prst="bentConnector2">
              <a:avLst/>
            </a:prstGeom>
            <a:solidFill>
              <a:schemeClr val="accent1"/>
            </a:solidFill>
            <a:ln w="19050" cap="flat" cmpd="sng" algn="ctr">
              <a:solidFill>
                <a:srgbClr val="FF0000"/>
              </a:solidFill>
              <a:prstDash val="solid"/>
              <a:round/>
              <a:headEnd type="none" w="med" len="med"/>
              <a:tailEnd type="triangle" w="med" len="med"/>
            </a:ln>
            <a:effectLst/>
          </p:spPr>
        </p:cxnSp>
        <p:sp>
          <p:nvSpPr>
            <p:cNvPr id="48" name="Rectangle 4"/>
            <p:cNvSpPr>
              <a:spLocks noChangeArrowheads="1"/>
            </p:cNvSpPr>
            <p:nvPr/>
          </p:nvSpPr>
          <p:spPr bwMode="auto">
            <a:xfrm>
              <a:off x="6334171" y="966853"/>
              <a:ext cx="564257" cy="614039"/>
            </a:xfrm>
            <a:prstGeom prst="rect">
              <a:avLst/>
            </a:prstGeom>
            <a:noFill/>
            <a:ln w="9525">
              <a:noFill/>
              <a:miter lim="800000"/>
            </a:ln>
          </p:spPr>
          <p:txBody>
            <a:bodyPr wrap="none" lIns="0" tIns="0" rIns="0" bIns="0">
              <a:noAutofit/>
            </a:bodyPr>
            <a:lstStyle/>
            <a:p>
              <a:pPr algn="ctr">
                <a:buClr>
                  <a:srgbClr val="CC0000"/>
                </a:buClr>
              </a:pPr>
              <a:r>
                <a:rPr kumimoji="1" lang="en-US" altLang="zh-CN" sz="900" b="1" dirty="0">
                  <a:solidFill>
                    <a:srgbClr val="FF0000"/>
                  </a:solidFill>
                  <a:latin typeface="微软雅黑" panose="020B0503020204020204" charset="-122"/>
                  <a:ea typeface="微软雅黑" panose="020B0503020204020204" charset="-122"/>
                </a:rPr>
                <a:t>ERP</a:t>
              </a:r>
              <a:r>
                <a:rPr kumimoji="1" lang="zh-CN" altLang="en-US" sz="900" b="1" dirty="0">
                  <a:solidFill>
                    <a:srgbClr val="FF0000"/>
                  </a:solidFill>
                  <a:latin typeface="微软雅黑" panose="020B0503020204020204" charset="-122"/>
                  <a:ea typeface="微软雅黑" panose="020B0503020204020204" charset="-122"/>
                </a:rPr>
                <a:t>计划</a:t>
              </a:r>
              <a:endParaRPr kumimoji="1" lang="en-US" altLang="zh-CN" sz="900" b="1" dirty="0">
                <a:solidFill>
                  <a:srgbClr val="FF0000"/>
                </a:solidFill>
                <a:latin typeface="微软雅黑" panose="020B0503020204020204" charset="-122"/>
                <a:ea typeface="微软雅黑" panose="020B0503020204020204" charset="-122"/>
              </a:endParaRPr>
            </a:p>
            <a:p>
              <a:pPr algn="ctr">
                <a:buClr>
                  <a:srgbClr val="CC0000"/>
                </a:buClr>
              </a:pPr>
              <a:r>
                <a:rPr kumimoji="1" lang="zh-CN" altLang="en-US" sz="900" b="1" dirty="0">
                  <a:solidFill>
                    <a:srgbClr val="FF0000"/>
                  </a:solidFill>
                  <a:latin typeface="微软雅黑" panose="020B0503020204020204" charset="-122"/>
                  <a:ea typeface="微软雅黑" panose="020B0503020204020204" charset="-122"/>
                </a:rPr>
                <a:t>无法自动传递</a:t>
              </a:r>
              <a:endParaRPr kumimoji="1" lang="en-US" altLang="zh-CN" sz="900" b="1" dirty="0">
                <a:solidFill>
                  <a:srgbClr val="FF0000"/>
                </a:solidFill>
                <a:latin typeface="微软雅黑" panose="020B0503020204020204" charset="-122"/>
                <a:ea typeface="微软雅黑" panose="020B0503020204020204" charset="-122"/>
              </a:endParaRPr>
            </a:p>
          </p:txBody>
        </p:sp>
        <p:grpSp>
          <p:nvGrpSpPr>
            <p:cNvPr id="12" name="组合 87"/>
            <p:cNvGrpSpPr/>
            <p:nvPr/>
          </p:nvGrpSpPr>
          <p:grpSpPr>
            <a:xfrm>
              <a:off x="2059957" y="1433675"/>
              <a:ext cx="1075450" cy="484025"/>
              <a:chOff x="6835157" y="2386175"/>
              <a:chExt cx="1075450" cy="484025"/>
            </a:xfrm>
          </p:grpSpPr>
          <p:pic>
            <p:nvPicPr>
              <p:cNvPr id="53" name="Picture 15" descr="http://ec4.images-amazon.com/images/I/31bdEbFL54L._SL500_AA300_.jpg"/>
              <p:cNvPicPr>
                <a:picLocks noChangeAspect="1" noChangeArrowheads="1"/>
              </p:cNvPicPr>
              <p:nvPr/>
            </p:nvPicPr>
            <p:blipFill>
              <a:blip r:embed="rId10" cstate="print"/>
              <a:srcRect l="16397" t="19556" r="28746" b="9841"/>
              <a:stretch>
                <a:fillRect/>
              </a:stretch>
            </p:blipFill>
            <p:spPr bwMode="auto">
              <a:xfrm>
                <a:off x="6835157" y="2386175"/>
                <a:ext cx="324000" cy="417000"/>
              </a:xfrm>
              <a:prstGeom prst="rect">
                <a:avLst/>
              </a:prstGeom>
              <a:noFill/>
            </p:spPr>
          </p:pic>
          <p:pic>
            <p:nvPicPr>
              <p:cNvPr id="54" name="Picture 3"/>
              <p:cNvPicPr>
                <a:picLocks noChangeAspect="1" noChangeArrowheads="1"/>
              </p:cNvPicPr>
              <p:nvPr/>
            </p:nvPicPr>
            <p:blipFill>
              <a:blip r:embed="rId11" cstate="print"/>
              <a:srcRect/>
              <a:stretch>
                <a:fillRect/>
              </a:stretch>
            </p:blipFill>
            <p:spPr bwMode="auto">
              <a:xfrm>
                <a:off x="7023101" y="2413000"/>
                <a:ext cx="887506" cy="457200"/>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sp>
          <p:nvSpPr>
            <p:cNvPr id="50" name="椭圆 49"/>
            <p:cNvSpPr/>
            <p:nvPr/>
          </p:nvSpPr>
          <p:spPr bwMode="auto">
            <a:xfrm>
              <a:off x="2918251" y="292630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51" name="形状 41"/>
            <p:cNvCxnSpPr>
              <a:stCxn id="50" idx="0"/>
              <a:endCxn id="54" idx="6"/>
            </p:cNvCxnSpPr>
            <p:nvPr/>
          </p:nvCxnSpPr>
          <p:spPr bwMode="auto">
            <a:xfrm rot="5400000" flipH="1" flipV="1">
              <a:off x="2435226" y="2226126"/>
              <a:ext cx="1237207" cy="163156"/>
            </a:xfrm>
            <a:prstGeom prst="bentConnector4">
              <a:avLst>
                <a:gd name="adj1" fmla="val 40761"/>
                <a:gd name="adj2" fmla="val 240111"/>
              </a:avLst>
            </a:prstGeom>
            <a:solidFill>
              <a:schemeClr val="accent1"/>
            </a:solidFill>
            <a:ln w="19050" cap="flat" cmpd="sng" algn="ctr">
              <a:solidFill>
                <a:srgbClr val="FF0000"/>
              </a:solidFill>
              <a:prstDash val="solid"/>
              <a:round/>
              <a:headEnd type="none" w="med" len="med"/>
              <a:tailEnd type="triangle" w="med" len="med"/>
            </a:ln>
            <a:effectLst/>
          </p:spPr>
        </p:cxnSp>
        <p:sp>
          <p:nvSpPr>
            <p:cNvPr id="52" name="Rectangle 4"/>
            <p:cNvSpPr>
              <a:spLocks noChangeArrowheads="1"/>
            </p:cNvSpPr>
            <p:nvPr/>
          </p:nvSpPr>
          <p:spPr bwMode="auto">
            <a:xfrm>
              <a:off x="2265257" y="958553"/>
              <a:ext cx="564257" cy="253916"/>
            </a:xfrm>
            <a:prstGeom prst="rect">
              <a:avLst/>
            </a:prstGeom>
            <a:noFill/>
            <a:ln w="9525">
              <a:noFill/>
              <a:miter lim="800000"/>
            </a:ln>
          </p:spPr>
          <p:txBody>
            <a:bodyPr wrap="none" lIns="0" tIns="0" rIns="0" bIns="0">
              <a:noAutofit/>
            </a:bodyPr>
            <a:lstStyle/>
            <a:p>
              <a:pPr algn="ctr">
                <a:buClr>
                  <a:srgbClr val="CC0000"/>
                </a:buClr>
              </a:pPr>
              <a:r>
                <a:rPr kumimoji="1" lang="zh-CN" altLang="en-US" sz="900" b="1" dirty="0">
                  <a:solidFill>
                    <a:srgbClr val="FF0000"/>
                  </a:solidFill>
                  <a:latin typeface="微软雅黑" panose="020B0503020204020204" charset="-122"/>
                  <a:ea typeface="微软雅黑" panose="020B0503020204020204" charset="-122"/>
                </a:rPr>
                <a:t>产品追溯</a:t>
              </a:r>
              <a:endParaRPr kumimoji="1" lang="en-US" altLang="zh-CN" sz="900" b="1" dirty="0">
                <a:solidFill>
                  <a:srgbClr val="FF0000"/>
                </a:solidFill>
                <a:latin typeface="微软雅黑" panose="020B0503020204020204" charset="-122"/>
                <a:ea typeface="微软雅黑" panose="020B0503020204020204" charset="-122"/>
              </a:endParaRPr>
            </a:p>
            <a:p>
              <a:pPr algn="ctr">
                <a:buClr>
                  <a:srgbClr val="CC0000"/>
                </a:buClr>
              </a:pPr>
              <a:r>
                <a:rPr kumimoji="1" lang="zh-CN" altLang="en-US" sz="900" b="1" dirty="0">
                  <a:solidFill>
                    <a:srgbClr val="FF0000"/>
                  </a:solidFill>
                  <a:latin typeface="微软雅黑" panose="020B0503020204020204" charset="-122"/>
                  <a:ea typeface="微软雅黑" panose="020B0503020204020204" charset="-122"/>
                </a:rPr>
                <a:t>录入困难</a:t>
              </a:r>
              <a:endParaRPr kumimoji="1" lang="en-US" altLang="zh-CN" sz="900" b="1" dirty="0">
                <a:solidFill>
                  <a:srgbClr val="FF0000"/>
                </a:solidFill>
                <a:latin typeface="微软雅黑" panose="020B0503020204020204" charset="-122"/>
                <a:ea typeface="微软雅黑" panose="020B0503020204020204" charset="-122"/>
              </a:endParaRPr>
            </a:p>
          </p:txBody>
        </p:sp>
      </p:grpSp>
      <p:sp>
        <p:nvSpPr>
          <p:cNvPr id="55" name="Rectangle 4"/>
          <p:cNvSpPr>
            <a:spLocks noChangeArrowheads="1"/>
          </p:cNvSpPr>
          <p:nvPr/>
        </p:nvSpPr>
        <p:spPr bwMode="auto">
          <a:xfrm>
            <a:off x="6224257" y="2352602"/>
            <a:ext cx="348007" cy="147704"/>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b="1" dirty="0">
                <a:solidFill>
                  <a:srgbClr val="FF0000"/>
                </a:solidFill>
                <a:latin typeface="微软雅黑" panose="020B0503020204020204" charset="-122"/>
                <a:ea typeface="微软雅黑" panose="020B0503020204020204" charset="-122"/>
              </a:rPr>
              <a:t>终端查询不便</a:t>
            </a:r>
            <a:endParaRPr kumimoji="1" lang="en-US" altLang="zh-CN" sz="900" b="1" dirty="0">
              <a:solidFill>
                <a:srgbClr val="FF0000"/>
              </a:solidFill>
              <a:latin typeface="微软雅黑" panose="020B0503020204020204" charset="-122"/>
              <a:ea typeface="微软雅黑" panose="020B0503020204020204" charset="-122"/>
            </a:endParaRPr>
          </a:p>
        </p:txBody>
      </p:sp>
      <p:cxnSp>
        <p:nvCxnSpPr>
          <p:cNvPr id="57" name="直接箭头连接符 56"/>
          <p:cNvCxnSpPr/>
          <p:nvPr/>
        </p:nvCxnSpPr>
        <p:spPr bwMode="auto">
          <a:xfrm rot="10800000">
            <a:off x="4143372" y="2714620"/>
            <a:ext cx="214314" cy="71438"/>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62000" y="593725"/>
            <a:ext cx="8820000" cy="695325"/>
          </a:xfrm>
        </p:spPr>
        <p:txBody>
          <a:bodyPr/>
          <a:lstStyle/>
          <a:p>
            <a:pPr marL="174625" indent="-174625">
              <a:spcBef>
                <a:spcPts val="1200"/>
              </a:spcBef>
            </a:pPr>
            <a:r>
              <a:rPr dirty="0"/>
              <a:t>Q8</a:t>
            </a:r>
            <a:r>
              <a:rPr lang="zh-CN" altLang="en-US" dirty="0"/>
              <a:t>：</a:t>
            </a:r>
            <a:r>
              <a:rPr dirty="0"/>
              <a:t>MES</a:t>
            </a:r>
            <a:r>
              <a:rPr lang="zh-CN" altLang="en-US" dirty="0"/>
              <a:t>自动化集成化程度较低，影响生产制造精益化水平</a:t>
            </a:r>
            <a:endParaRPr kumimoji="1" lang="zh-CN" altLang="en-US"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3" name="Line 5"/>
          <p:cNvSpPr>
            <a:spLocks noChangeShapeType="1"/>
          </p:cNvSpPr>
          <p:nvPr/>
        </p:nvSpPr>
        <p:spPr bwMode="auto">
          <a:xfrm>
            <a:off x="1430339" y="3403845"/>
            <a:ext cx="6284574" cy="1257"/>
          </a:xfrm>
          <a:prstGeom prst="line">
            <a:avLst/>
          </a:prstGeom>
          <a:noFill/>
          <a:ln w="38100"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4" name="Line 6"/>
          <p:cNvSpPr>
            <a:spLocks noChangeShapeType="1"/>
          </p:cNvSpPr>
          <p:nvPr/>
        </p:nvSpPr>
        <p:spPr bwMode="auto">
          <a:xfrm>
            <a:off x="3583793"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5" name="Line 7"/>
          <p:cNvSpPr>
            <a:spLocks noChangeShapeType="1"/>
          </p:cNvSpPr>
          <p:nvPr/>
        </p:nvSpPr>
        <p:spPr bwMode="auto">
          <a:xfrm>
            <a:off x="5544454" y="1824563"/>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6" name="Line 11"/>
          <p:cNvSpPr>
            <a:spLocks noChangeShapeType="1"/>
          </p:cNvSpPr>
          <p:nvPr/>
        </p:nvSpPr>
        <p:spPr bwMode="auto">
          <a:xfrm flipV="1">
            <a:off x="2268013"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7" name="Text Box 12"/>
          <p:cNvSpPr txBox="1">
            <a:spLocks noChangeArrowheads="1"/>
          </p:cNvSpPr>
          <p:nvPr/>
        </p:nvSpPr>
        <p:spPr bwMode="auto">
          <a:xfrm>
            <a:off x="325585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组织</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人员</a:t>
            </a:r>
          </a:p>
        </p:txBody>
      </p:sp>
      <p:sp>
        <p:nvSpPr>
          <p:cNvPr id="8" name="Text Box 13"/>
          <p:cNvSpPr txBox="1">
            <a:spLocks noChangeArrowheads="1"/>
          </p:cNvSpPr>
          <p:nvPr/>
        </p:nvSpPr>
        <p:spPr bwMode="auto">
          <a:xfrm>
            <a:off x="4423667"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en-US" altLang="zh-CN" sz="1400" b="1" dirty="0">
                <a:solidFill>
                  <a:srgbClr val="FFFFFF"/>
                </a:solidFill>
                <a:latin typeface="微软雅黑" panose="020B0503020204020204" charset="-122"/>
                <a:ea typeface="微软雅黑" panose="020B0503020204020204" charset="-122"/>
              </a:rPr>
              <a:t>IT</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9" name="Text Box 16"/>
          <p:cNvSpPr txBox="1">
            <a:spLocks noChangeArrowheads="1"/>
          </p:cNvSpPr>
          <p:nvPr/>
        </p:nvSpPr>
        <p:spPr bwMode="auto">
          <a:xfrm>
            <a:off x="5157894" y="1456868"/>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策略</a:t>
            </a:r>
          </a:p>
        </p:txBody>
      </p:sp>
      <p:sp>
        <p:nvSpPr>
          <p:cNvPr id="10" name="新月形 9"/>
          <p:cNvSpPr/>
          <p:nvPr/>
        </p:nvSpPr>
        <p:spPr bwMode="auto">
          <a:xfrm rot="10800000">
            <a:off x="857224" y="2891352"/>
            <a:ext cx="655876" cy="1026242"/>
          </a:xfrm>
          <a:prstGeom prst="moon">
            <a:avLst/>
          </a:prstGeom>
          <a:solidFill>
            <a:schemeClr val="tx2">
              <a:lumMod val="40000"/>
              <a:lumOff val="60000"/>
            </a:schemeClr>
          </a:solidFill>
          <a:ln w="9525" cap="flat" cmpd="sng" algn="ctr">
            <a:noFill/>
            <a:prstDash val="solid"/>
            <a:round/>
            <a:headEnd type="none" w="med" len="med"/>
            <a:tailEnd type="none"/>
          </a:ln>
          <a:effectLst/>
        </p:spPr>
        <p:txBody>
          <a:bodyPr rtlCol="0" anchor="ctr"/>
          <a:lstStyle/>
          <a:p>
            <a:pPr algn="ctr"/>
            <a:endParaRPr lang="zh-CN" altLang="en-US"/>
          </a:p>
        </p:txBody>
      </p:sp>
      <p:sp>
        <p:nvSpPr>
          <p:cNvPr id="11" name="流程图: 延期 10"/>
          <p:cNvSpPr/>
          <p:nvPr/>
        </p:nvSpPr>
        <p:spPr bwMode="auto">
          <a:xfrm>
            <a:off x="7714914" y="2891352"/>
            <a:ext cx="1189863" cy="1026242"/>
          </a:xfrm>
          <a:prstGeom prst="flowChartDelay">
            <a:avLst/>
          </a:prstGeom>
          <a:solidFill>
            <a:schemeClr val="tx2">
              <a:lumMod val="40000"/>
              <a:lumOff val="60000"/>
            </a:schemeClr>
          </a:solidFill>
          <a:ln w="9525" cap="flat" cmpd="sng" algn="ctr">
            <a:noFill/>
            <a:prstDash val="solid"/>
            <a:round/>
            <a:headEnd type="none" w="med" len="med"/>
            <a:tailEnd type="none"/>
          </a:ln>
          <a:effectLst/>
        </p:spPr>
        <p:txBody>
          <a:bodyPr lIns="0" rIns="0" rtlCol="0" anchor="ctr"/>
          <a:lstStyle/>
          <a:p>
            <a:pPr algn="ctr"/>
            <a:r>
              <a:rPr lang="en-US" altLang="zh-CN" b="1" dirty="0">
                <a:solidFill>
                  <a:schemeClr val="bg1"/>
                </a:solidFill>
                <a:latin typeface="微软雅黑" panose="020B0503020204020204" charset="-122"/>
                <a:ea typeface="微软雅黑" panose="020B0503020204020204" charset="-122"/>
              </a:rPr>
              <a:t>MES</a:t>
            </a:r>
            <a:r>
              <a:rPr lang="zh-CN" altLang="en-US" b="1" dirty="0">
                <a:solidFill>
                  <a:schemeClr val="bg1"/>
                </a:solidFill>
                <a:latin typeface="微软雅黑" panose="020B0503020204020204" charset="-122"/>
                <a:ea typeface="微软雅黑" panose="020B0503020204020204" charset="-122"/>
              </a:rPr>
              <a:t>自</a:t>
            </a:r>
            <a:endParaRPr lang="en-US" altLang="zh-CN" b="1" dirty="0">
              <a:solidFill>
                <a:schemeClr val="bg1"/>
              </a:solidFill>
              <a:latin typeface="微软雅黑" panose="020B0503020204020204" charset="-122"/>
              <a:ea typeface="微软雅黑" panose="020B0503020204020204" charset="-122"/>
            </a:endParaRPr>
          </a:p>
          <a:p>
            <a:pPr algn="ctr"/>
            <a:r>
              <a:rPr lang="zh-CN" altLang="en-US" b="1" dirty="0">
                <a:solidFill>
                  <a:schemeClr val="bg1"/>
                </a:solidFill>
                <a:latin typeface="微软雅黑" panose="020B0503020204020204" charset="-122"/>
                <a:ea typeface="微软雅黑" panose="020B0503020204020204" charset="-122"/>
              </a:rPr>
              <a:t>动化集成化程度低</a:t>
            </a:r>
          </a:p>
        </p:txBody>
      </p:sp>
      <p:sp>
        <p:nvSpPr>
          <p:cNvPr id="12" name="Line 11"/>
          <p:cNvSpPr>
            <a:spLocks noChangeShapeType="1"/>
          </p:cNvSpPr>
          <p:nvPr/>
        </p:nvSpPr>
        <p:spPr bwMode="auto">
          <a:xfrm flipV="1">
            <a:off x="4934437" y="3408478"/>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13" name="Text Box 14"/>
          <p:cNvSpPr txBox="1">
            <a:spLocks noChangeArrowheads="1"/>
          </p:cNvSpPr>
          <p:nvPr/>
        </p:nvSpPr>
        <p:spPr bwMode="auto">
          <a:xfrm>
            <a:off x="2052388" y="4992394"/>
            <a:ext cx="979434" cy="322126"/>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绩效</a:t>
            </a:r>
            <a:r>
              <a:rPr kumimoji="1" lang="en-US" altLang="zh-CN" sz="1400" b="1" dirty="0">
                <a:solidFill>
                  <a:srgbClr val="FFFFFF"/>
                </a:solidFill>
                <a:latin typeface="微软雅黑" panose="020B0503020204020204" charset="-122"/>
                <a:ea typeface="微软雅黑" panose="020B0503020204020204" charset="-122"/>
              </a:rPr>
              <a:t>/KPI</a:t>
            </a:r>
            <a:endParaRPr kumimoji="1" lang="zh-CN" altLang="en-US" sz="1400" b="1" dirty="0">
              <a:solidFill>
                <a:srgbClr val="FFFFFF"/>
              </a:solidFill>
              <a:latin typeface="微软雅黑" panose="020B0503020204020204" charset="-122"/>
              <a:ea typeface="微软雅黑" panose="020B0503020204020204" charset="-122"/>
            </a:endParaRPr>
          </a:p>
        </p:txBody>
      </p:sp>
      <p:sp>
        <p:nvSpPr>
          <p:cNvPr id="14" name="AutoShape 21"/>
          <p:cNvSpPr/>
          <p:nvPr/>
        </p:nvSpPr>
        <p:spPr bwMode="auto">
          <a:xfrm>
            <a:off x="6286512" y="3887162"/>
            <a:ext cx="1520382" cy="399094"/>
          </a:xfrm>
          <a:prstGeom prst="borderCallout2">
            <a:avLst>
              <a:gd name="adj1" fmla="val 30000"/>
              <a:gd name="adj2" fmla="val -5861"/>
              <a:gd name="adj3" fmla="val 58571"/>
              <a:gd name="adj4" fmla="val -19523"/>
              <a:gd name="adj5" fmla="val 68465"/>
              <a:gd name="adj6" fmla="val -28087"/>
            </a:avLst>
          </a:prstGeom>
          <a:noFill/>
          <a:ln w="12700" cap="sq">
            <a:noFill/>
            <a:miter lim="800000"/>
          </a:ln>
          <a:effectLst/>
        </p:spPr>
        <p:txBody>
          <a:bodyPr wrap="square" anchor="ctr"/>
          <a:lstStyle/>
          <a:p>
            <a:pPr fontAlgn="base">
              <a:spcBef>
                <a:spcPct val="0"/>
              </a:spcBef>
              <a:spcAft>
                <a:spcPct val="0"/>
              </a:spcAft>
            </a:pPr>
            <a:r>
              <a:rPr kumimoji="1" lang="en-US" altLang="zh-CN" sz="1000" dirty="0">
                <a:latin typeface="微软雅黑" panose="020B0503020204020204" charset="-122"/>
                <a:ea typeface="微软雅黑" panose="020B0503020204020204" charset="-122"/>
              </a:rPr>
              <a:t>MES</a:t>
            </a:r>
            <a:r>
              <a:rPr kumimoji="1" lang="zh-CN" altLang="en-US" sz="1000" dirty="0">
                <a:latin typeface="微软雅黑" panose="020B0503020204020204" charset="-122"/>
                <a:ea typeface="微软雅黑" panose="020B0503020204020204" charset="-122"/>
              </a:rPr>
              <a:t>集成度低，自动化处理水平低</a:t>
            </a:r>
          </a:p>
        </p:txBody>
      </p:sp>
      <p:sp>
        <p:nvSpPr>
          <p:cNvPr id="15" name="AutoShape 21"/>
          <p:cNvSpPr/>
          <p:nvPr/>
        </p:nvSpPr>
        <p:spPr bwMode="auto">
          <a:xfrm>
            <a:off x="5786446" y="4458666"/>
            <a:ext cx="1520382" cy="399094"/>
          </a:xfrm>
          <a:prstGeom prst="borderCallout2">
            <a:avLst>
              <a:gd name="adj1" fmla="val 30000"/>
              <a:gd name="adj2" fmla="val -5861"/>
              <a:gd name="adj3" fmla="val 15374"/>
              <a:gd name="adj4" fmla="val -17770"/>
              <a:gd name="adj5" fmla="val 25267"/>
              <a:gd name="adj6" fmla="val -30716"/>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缺乏有效系统指导场内外物流的拉动执行</a:t>
            </a:r>
          </a:p>
        </p:txBody>
      </p:sp>
      <p:sp>
        <p:nvSpPr>
          <p:cNvPr id="19" name="AutoShape 21"/>
          <p:cNvSpPr/>
          <p:nvPr/>
        </p:nvSpPr>
        <p:spPr bwMode="auto">
          <a:xfrm>
            <a:off x="6731394" y="2458402"/>
            <a:ext cx="1520382" cy="399094"/>
          </a:xfrm>
          <a:prstGeom prst="borderCallout2">
            <a:avLst>
              <a:gd name="adj1" fmla="val 30000"/>
              <a:gd name="adj2" fmla="val -5861"/>
              <a:gd name="adj3" fmla="val -13425"/>
              <a:gd name="adj4" fmla="val -8129"/>
              <a:gd name="adj5" fmla="val -651"/>
              <a:gd name="adj6" fmla="val -23705"/>
            </a:avLst>
          </a:prstGeom>
          <a:noFill/>
          <a:ln w="12700" cap="sq">
            <a:noFill/>
            <a:miter lim="800000"/>
          </a:ln>
          <a:effectLst/>
        </p:spPr>
        <p:txBody>
          <a:bodyPr wrap="square" anchor="ctr"/>
          <a:lstStyle/>
          <a:p>
            <a:pPr fontAlgn="base">
              <a:spcBef>
                <a:spcPct val="0"/>
              </a:spcBef>
              <a:spcAft>
                <a:spcPct val="0"/>
              </a:spcAft>
            </a:pPr>
            <a:r>
              <a:rPr kumimoji="1" lang="en-US" altLang="zh-CN" sz="1000" dirty="0">
                <a:latin typeface="微软雅黑" panose="020B0503020204020204" charset="-122"/>
                <a:ea typeface="微软雅黑" panose="020B0503020204020204" charset="-122"/>
              </a:rPr>
              <a:t> </a:t>
            </a:r>
            <a:endParaRPr kumimoji="1" lang="zh-CN" altLang="en-US" sz="1000" dirty="0">
              <a:latin typeface="微软雅黑" panose="020B0503020204020204" charset="-122"/>
              <a:ea typeface="微软雅黑" panose="020B0503020204020204" charset="-122"/>
            </a:endParaRPr>
          </a:p>
        </p:txBody>
      </p:sp>
      <p:sp>
        <p:nvSpPr>
          <p:cNvPr id="23" name="Line 6"/>
          <p:cNvSpPr>
            <a:spLocks noChangeShapeType="1"/>
          </p:cNvSpPr>
          <p:nvPr/>
        </p:nvSpPr>
        <p:spPr bwMode="auto">
          <a:xfrm>
            <a:off x="1480991" y="1846331"/>
            <a:ext cx="1784795" cy="1539363"/>
          </a:xfrm>
          <a:prstGeom prst="line">
            <a:avLst/>
          </a:prstGeom>
          <a:noFill/>
          <a:ln w="28575" cap="sq">
            <a:solidFill>
              <a:schemeClr val="tx2">
                <a:lumMod val="60000"/>
                <a:lumOff val="40000"/>
              </a:schemeClr>
            </a:solidFill>
            <a:round/>
            <a:tailEnd type="triangle" w="med" len="med"/>
          </a:ln>
          <a:effectLst/>
        </p:spPr>
        <p:txBody>
          <a:bodyPr wrap="none" anchor="ctr"/>
          <a:lstStyle/>
          <a:p>
            <a:pPr fontAlgn="base">
              <a:spcBef>
                <a:spcPct val="0"/>
              </a:spcBef>
              <a:spcAft>
                <a:spcPct val="0"/>
              </a:spcAft>
            </a:pPr>
            <a:endParaRPr lang="zh-CN" altLang="en-US" sz="1200">
              <a:solidFill>
                <a:srgbClr val="000000"/>
              </a:solidFill>
              <a:latin typeface="微软雅黑" panose="020B0503020204020204" charset="-122"/>
              <a:ea typeface="微软雅黑" panose="020B0503020204020204" charset="-122"/>
            </a:endParaRPr>
          </a:p>
        </p:txBody>
      </p:sp>
      <p:sp>
        <p:nvSpPr>
          <p:cNvPr id="24" name="Text Box 12"/>
          <p:cNvSpPr txBox="1">
            <a:spLocks noChangeArrowheads="1"/>
          </p:cNvSpPr>
          <p:nvPr/>
        </p:nvSpPr>
        <p:spPr bwMode="auto">
          <a:xfrm>
            <a:off x="1243455" y="1478637"/>
            <a:ext cx="979434" cy="323317"/>
          </a:xfrm>
          <a:prstGeom prst="rect">
            <a:avLst/>
          </a:prstGeom>
          <a:solidFill>
            <a:schemeClr val="tx2">
              <a:lumMod val="40000"/>
              <a:lumOff val="60000"/>
            </a:schemeClr>
          </a:solidFill>
          <a:ln w="12700" cap="sq">
            <a:noFill/>
            <a:miter lim="800000"/>
          </a:ln>
          <a:effectLst/>
        </p:spPr>
        <p:txBody>
          <a:bodyPr wrap="square" anchor="ctr"/>
          <a:lstStyle/>
          <a:p>
            <a:pPr algn="ctr" fontAlgn="base">
              <a:spcBef>
                <a:spcPct val="0"/>
              </a:spcBef>
              <a:spcAft>
                <a:spcPct val="0"/>
              </a:spcAft>
            </a:pPr>
            <a:r>
              <a:rPr kumimoji="1" lang="zh-CN" altLang="en-US" sz="1400" b="1" dirty="0">
                <a:solidFill>
                  <a:srgbClr val="FFFFFF"/>
                </a:solidFill>
                <a:latin typeface="微软雅黑" panose="020B0503020204020204" charset="-122"/>
                <a:ea typeface="微软雅黑" panose="020B0503020204020204" charset="-122"/>
              </a:rPr>
              <a:t>管理</a:t>
            </a:r>
            <a:r>
              <a:rPr kumimoji="1" lang="en-US" altLang="zh-CN" sz="1400" b="1" dirty="0">
                <a:solidFill>
                  <a:srgbClr val="FFFFFF"/>
                </a:solidFill>
                <a:latin typeface="微软雅黑" panose="020B0503020204020204" charset="-122"/>
                <a:ea typeface="微软雅黑" panose="020B0503020204020204" charset="-122"/>
              </a:rPr>
              <a:t>/</a:t>
            </a:r>
            <a:r>
              <a:rPr kumimoji="1" lang="zh-CN" altLang="en-US" sz="1400" b="1" dirty="0">
                <a:solidFill>
                  <a:srgbClr val="FFFFFF"/>
                </a:solidFill>
                <a:latin typeface="微软雅黑" panose="020B0503020204020204" charset="-122"/>
                <a:ea typeface="微软雅黑" panose="020B0503020204020204" charset="-122"/>
              </a:rPr>
              <a:t>流程</a:t>
            </a:r>
          </a:p>
        </p:txBody>
      </p:sp>
      <p:sp>
        <p:nvSpPr>
          <p:cNvPr id="25" name="AutoShape 21"/>
          <p:cNvSpPr/>
          <p:nvPr/>
        </p:nvSpPr>
        <p:spPr bwMode="auto">
          <a:xfrm>
            <a:off x="2143108" y="1958336"/>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生产制造各环节的自动化集成化需求不明确</a:t>
            </a:r>
          </a:p>
        </p:txBody>
      </p:sp>
      <p:cxnSp>
        <p:nvCxnSpPr>
          <p:cNvPr id="26" name="直接连接符 25"/>
          <p:cNvCxnSpPr/>
          <p:nvPr/>
        </p:nvCxnSpPr>
        <p:spPr bwMode="auto">
          <a:xfrm>
            <a:off x="1774043" y="2041901"/>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27" name="直接连接符 26"/>
          <p:cNvCxnSpPr/>
          <p:nvPr/>
        </p:nvCxnSpPr>
        <p:spPr bwMode="auto">
          <a:xfrm>
            <a:off x="2328754" y="2571744"/>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34" name="直接连接符 33"/>
          <p:cNvCxnSpPr/>
          <p:nvPr/>
        </p:nvCxnSpPr>
        <p:spPr bwMode="auto">
          <a:xfrm>
            <a:off x="5989578" y="4074560"/>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cxnSp>
        <p:nvCxnSpPr>
          <p:cNvPr id="35" name="直接连接符 34"/>
          <p:cNvCxnSpPr/>
          <p:nvPr/>
        </p:nvCxnSpPr>
        <p:spPr bwMode="auto">
          <a:xfrm>
            <a:off x="5490350" y="4556767"/>
            <a:ext cx="377115" cy="0"/>
          </a:xfrm>
          <a:prstGeom prst="line">
            <a:avLst/>
          </a:prstGeom>
          <a:solidFill>
            <a:schemeClr val="accent1"/>
          </a:solidFill>
          <a:ln w="9525" cap="flat" cmpd="sng" algn="ctr">
            <a:solidFill>
              <a:schemeClr val="tx2">
                <a:lumMod val="60000"/>
                <a:lumOff val="40000"/>
              </a:schemeClr>
            </a:solidFill>
            <a:prstDash val="solid"/>
            <a:round/>
            <a:headEnd type="none" w="med" len="med"/>
            <a:tailEnd type="none" w="med" len="med"/>
          </a:ln>
          <a:effectLst/>
        </p:spPr>
      </p:cxnSp>
      <p:sp>
        <p:nvSpPr>
          <p:cNvPr id="36" name="矩形 35"/>
          <p:cNvSpPr/>
          <p:nvPr/>
        </p:nvSpPr>
        <p:spPr bwMode="auto">
          <a:xfrm>
            <a:off x="785786" y="5528834"/>
            <a:ext cx="8172000" cy="972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策略</a:t>
            </a:r>
            <a:r>
              <a:rPr lang="zh-CN" altLang="en-US" sz="1200" dirty="0">
                <a:latin typeface="微软雅黑" panose="020B0503020204020204" charset="-122"/>
                <a:ea typeface="微软雅黑" panose="020B0503020204020204" charset="-122"/>
              </a:rPr>
              <a:t>：无</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组织</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人员</a:t>
            </a:r>
            <a:r>
              <a:rPr lang="zh-CN" altLang="en-US" sz="1200" dirty="0">
                <a:latin typeface="微软雅黑" panose="020B0503020204020204" charset="-122"/>
                <a:ea typeface="微软雅黑" panose="020B0503020204020204" charset="-122"/>
              </a:rPr>
              <a:t>：无</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管理</a:t>
            </a:r>
            <a:r>
              <a:rPr lang="en-US" altLang="zh-CN" sz="1200" u="sng" dirty="0">
                <a:latin typeface="微软雅黑" panose="020B0503020204020204" charset="-122"/>
                <a:ea typeface="微软雅黑" panose="020B0503020204020204" charset="-122"/>
              </a:rPr>
              <a:t>/</a:t>
            </a:r>
            <a:r>
              <a:rPr lang="zh-CN" altLang="en-US" sz="1200" u="sng" dirty="0">
                <a:latin typeface="微软雅黑" panose="020B0503020204020204" charset="-122"/>
                <a:ea typeface="微软雅黑" panose="020B0503020204020204" charset="-122"/>
              </a:rPr>
              <a:t>流程</a:t>
            </a:r>
            <a:r>
              <a:rPr lang="zh-CN" altLang="en-US" sz="1200" dirty="0">
                <a:latin typeface="微软雅黑" panose="020B0503020204020204" charset="-122"/>
                <a:ea typeface="微软雅黑" panose="020B0503020204020204" charset="-122"/>
              </a:rPr>
              <a:t>：精益排产的基础上推行拉动式生产与物流配送，简化与优化报工点设置［</a:t>
            </a:r>
            <a:r>
              <a:rPr lang="en-US" altLang="zh-CN" sz="1200" dirty="0">
                <a:latin typeface="微软雅黑" panose="020B0503020204020204" charset="-122"/>
                <a:ea typeface="微软雅黑" panose="020B0503020204020204" charset="-122"/>
              </a:rPr>
              <a:t>SCM</a:t>
            </a: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 顶层设计］</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、绩效</a:t>
            </a:r>
            <a:r>
              <a:rPr lang="en-US" altLang="zh-CN" sz="1200" dirty="0">
                <a:latin typeface="微软雅黑" panose="020B0503020204020204" charset="-122"/>
                <a:ea typeface="微软雅黑" panose="020B0503020204020204" charset="-122"/>
              </a:rPr>
              <a:t>/KPI</a:t>
            </a:r>
            <a:r>
              <a:rPr lang="zh-CN" altLang="en-US" sz="1200" dirty="0">
                <a:latin typeface="微软雅黑" panose="020B0503020204020204" charset="-122"/>
                <a:ea typeface="微软雅黑" panose="020B0503020204020204" charset="-122"/>
              </a:rPr>
              <a:t>：无 </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a:t>
            </a:r>
            <a:r>
              <a:rPr lang="en-US" altLang="zh-CN" sz="1200" u="sng"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：统一与优化的</a:t>
            </a:r>
            <a:r>
              <a:rPr lang="en-US" altLang="zh-CN" sz="1200" dirty="0">
                <a:latin typeface="微软雅黑" panose="020B0503020204020204" charset="-122"/>
                <a:ea typeface="微软雅黑" panose="020B0503020204020204" charset="-122"/>
              </a:rPr>
              <a:t>MES</a:t>
            </a:r>
            <a:r>
              <a:rPr lang="zh-CN" altLang="en-US" sz="1200" dirty="0">
                <a:latin typeface="微软雅黑" panose="020B0503020204020204" charset="-122"/>
                <a:ea typeface="微软雅黑" panose="020B0503020204020204" charset="-122"/>
              </a:rPr>
              <a:t>管理平台，以提高业务自动化，精益化水平［x团队推进］</a:t>
            </a:r>
            <a:endParaRPr lang="en-US" altLang="zh-CN" sz="1200" dirty="0">
              <a:latin typeface="微软雅黑" panose="020B0503020204020204" charset="-122"/>
              <a:ea typeface="微软雅黑" panose="020B0503020204020204" charset="-122"/>
            </a:endParaRPr>
          </a:p>
          <a:p>
            <a:endParaRPr lang="zh-CN" altLang="en-US" sz="1200" dirty="0">
              <a:latin typeface="微软雅黑" panose="020B0503020204020204" charset="-122"/>
              <a:ea typeface="微软雅黑" panose="020B0503020204020204" charset="-122"/>
            </a:endParaRPr>
          </a:p>
        </p:txBody>
      </p:sp>
      <p:sp>
        <p:nvSpPr>
          <p:cNvPr id="37" name="矩形 36"/>
          <p:cNvSpPr/>
          <p:nvPr/>
        </p:nvSpPr>
        <p:spPr bwMode="auto">
          <a:xfrm>
            <a:off x="214282" y="1385430"/>
            <a:ext cx="500066" cy="4068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根因分析</a:t>
            </a:r>
          </a:p>
        </p:txBody>
      </p:sp>
      <p:sp>
        <p:nvSpPr>
          <p:cNvPr id="38" name="矩形 37"/>
          <p:cNvSpPr/>
          <p:nvPr/>
        </p:nvSpPr>
        <p:spPr bwMode="auto">
          <a:xfrm>
            <a:off x="214282" y="5528834"/>
            <a:ext cx="500066" cy="972000"/>
          </a:xfrm>
          <a:prstGeom prst="rect">
            <a:avLst/>
          </a:prstGeom>
          <a:solidFill>
            <a:schemeClr val="accent1">
              <a:lumMod val="20000"/>
              <a:lumOff val="80000"/>
            </a:schemeClr>
          </a:solidFill>
          <a:ln w="9525" cap="flat" cmpd="sng" algn="ctr">
            <a:noFill/>
            <a:prstDash val="solid"/>
            <a:round/>
            <a:headEnd type="none" w="med" len="med"/>
            <a:tailEnd type="none"/>
          </a:ln>
          <a:effectLst/>
        </p:spPr>
        <p:txBody>
          <a:bodyPr rtlCol="0" anchor="ctr"/>
          <a:lstStyle/>
          <a:p>
            <a:pPr algn="ctr"/>
            <a:r>
              <a:rPr lang="zh-CN" altLang="en-US" sz="1400" b="1" dirty="0">
                <a:latin typeface="微软雅黑" panose="020B0503020204020204" charset="-122"/>
                <a:ea typeface="微软雅黑" panose="020B0503020204020204" charset="-122"/>
              </a:rPr>
              <a:t>改进方向</a:t>
            </a:r>
          </a:p>
        </p:txBody>
      </p:sp>
      <p:sp>
        <p:nvSpPr>
          <p:cNvPr id="39" name="矩形 38"/>
          <p:cNvSpPr/>
          <p:nvPr/>
        </p:nvSpPr>
        <p:spPr bwMode="auto">
          <a:xfrm>
            <a:off x="785786" y="1385430"/>
            <a:ext cx="8172000" cy="4068000"/>
          </a:xfrm>
          <a:prstGeom prst="rect">
            <a:avLst/>
          </a:prstGeom>
          <a:noFill/>
          <a:ln w="9525" cap="flat" cmpd="sng" algn="ctr">
            <a:solidFill>
              <a:schemeClr val="accent1">
                <a:lumMod val="40000"/>
                <a:lumOff val="60000"/>
              </a:schemeClr>
            </a:solidFill>
            <a:prstDash val="solid"/>
            <a:round/>
            <a:headEnd type="none" w="med" len="med"/>
            <a:tailEnd type="none"/>
          </a:ln>
          <a:effectLst/>
        </p:spPr>
        <p:txBody>
          <a:bodyPr rtlCol="0" anchor="ctr"/>
          <a:lstStyle/>
          <a:p>
            <a:pPr algn="ctr"/>
            <a:endParaRPr lang="zh-CN" altLang="en-US"/>
          </a:p>
        </p:txBody>
      </p:sp>
      <p:sp>
        <p:nvSpPr>
          <p:cNvPr id="43"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44"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45" name="燕尾形 41"/>
          <p:cNvSpPr/>
          <p:nvPr/>
        </p:nvSpPr>
        <p:spPr bwMode="auto">
          <a:xfrm>
            <a:off x="5493436"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业务现状</a:t>
            </a:r>
          </a:p>
        </p:txBody>
      </p:sp>
      <p:sp>
        <p:nvSpPr>
          <p:cNvPr id="46"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47"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流程现状</a:t>
            </a:r>
          </a:p>
        </p:txBody>
      </p:sp>
      <p:sp>
        <p:nvSpPr>
          <p:cNvPr id="48" name="AutoShape 21"/>
          <p:cNvSpPr/>
          <p:nvPr/>
        </p:nvSpPr>
        <p:spPr bwMode="auto">
          <a:xfrm>
            <a:off x="2726675" y="2458402"/>
            <a:ext cx="1520382" cy="399094"/>
          </a:xfrm>
          <a:prstGeom prst="borderCallout2">
            <a:avLst>
              <a:gd name="adj1" fmla="val 30000"/>
              <a:gd name="adj2" fmla="val -5861"/>
              <a:gd name="adj3" fmla="val 41292"/>
              <a:gd name="adj4" fmla="val -13388"/>
              <a:gd name="adj5" fmla="val 59825"/>
              <a:gd name="adj6" fmla="val -26333"/>
            </a:avLst>
          </a:prstGeom>
          <a:noFill/>
          <a:ln w="12700" cap="sq">
            <a:noFill/>
            <a:miter lim="800000"/>
          </a:ln>
          <a:effectLst/>
        </p:spPr>
        <p:txBody>
          <a:bodyPr wrap="square" anchor="ctr"/>
          <a:lstStyle/>
          <a:p>
            <a:pPr fontAlgn="base">
              <a:spcBef>
                <a:spcPct val="0"/>
              </a:spcBef>
              <a:spcAft>
                <a:spcPct val="0"/>
              </a:spcAft>
            </a:pPr>
            <a:r>
              <a:rPr kumimoji="1" lang="zh-CN" altLang="en-US" sz="1000" dirty="0">
                <a:latin typeface="微软雅黑" panose="020B0503020204020204" charset="-122"/>
                <a:ea typeface="微软雅黑" panose="020B0503020204020204" charset="-122"/>
              </a:rPr>
              <a:t>报工点设置多，不易执行</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绩效方面的主要问题是：集成计划指标体系还不完善，目前更多侧重于库存管理等结果性指标，过程性管理指标较少（行业</a:t>
            </a:r>
            <a:r>
              <a:rPr kern="0" dirty="0"/>
              <a:t>20</a:t>
            </a:r>
            <a:r>
              <a:rPr lang="zh-CN" altLang="en-US" kern="0" dirty="0"/>
              <a:t>个指标，x关注</a:t>
            </a:r>
            <a:r>
              <a:rPr kern="0" dirty="0"/>
              <a:t>10</a:t>
            </a:r>
            <a:r>
              <a:rPr lang="zh-CN" altLang="en-US" kern="0" dirty="0"/>
              <a:t>个）</a:t>
            </a:r>
          </a:p>
        </p:txBody>
      </p:sp>
      <p:sp>
        <p:nvSpPr>
          <p:cNvPr id="134"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135"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137" name="燕尾形 41"/>
          <p:cNvSpPr/>
          <p:nvPr/>
        </p:nvSpPr>
        <p:spPr bwMode="auto">
          <a:xfrm>
            <a:off x="5493436"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业务现状</a:t>
            </a:r>
          </a:p>
        </p:txBody>
      </p:sp>
      <p:sp>
        <p:nvSpPr>
          <p:cNvPr id="138" name="燕尾形 40"/>
          <p:cNvSpPr/>
          <p:nvPr/>
        </p:nvSpPr>
        <p:spPr bwMode="auto">
          <a:xfrm>
            <a:off x="6347064"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algn="ctr">
              <a:lnSpc>
                <a:spcPct val="90000"/>
              </a:lnSpc>
              <a:spcBef>
                <a:spcPct val="20000"/>
              </a:spcBef>
              <a:buClr>
                <a:srgbClr val="000000"/>
              </a:buClr>
              <a:defRPr/>
            </a:pPr>
            <a:r>
              <a:rPr lang="zh-CN" altLang="en-US" sz="1200" b="1" kern="0" dirty="0">
                <a:solidFill>
                  <a:srgbClr val="FFFFFF"/>
                </a:solidFill>
                <a:latin typeface="微软雅黑" panose="020B0503020204020204" charset="-122"/>
                <a:ea typeface="微软雅黑" panose="020B0503020204020204" charset="-122"/>
              </a:rPr>
              <a:t>绩效现状</a:t>
            </a:r>
          </a:p>
        </p:txBody>
      </p:sp>
      <p:sp>
        <p:nvSpPr>
          <p:cNvPr id="139" name="燕尾形 41"/>
          <p:cNvSpPr/>
          <p:nvPr/>
        </p:nvSpPr>
        <p:spPr bwMode="auto">
          <a:xfrm>
            <a:off x="7200692"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R="0" lvl="0" indent="0" algn="ctr" eaLnBrk="0" fontAlgn="auto" hangingPunct="0">
              <a:lnSpc>
                <a:spcPct val="90000"/>
              </a:lnSpc>
              <a:spcBef>
                <a:spcPct val="20000"/>
              </a:spcBef>
              <a:spcAft>
                <a:spcPts val="0"/>
              </a:spcAft>
              <a:buClr>
                <a:srgbClr val="000000"/>
              </a:buClr>
              <a:buSzTx/>
              <a:buFont typeface="Arial" panose="020B0604020202020204" pitchFamily="34" charset="0"/>
              <a:buNone/>
              <a:defRPr/>
            </a:pPr>
            <a:r>
              <a:rPr lang="zh-CN" altLang="en-US" sz="1200" b="1" kern="0" dirty="0">
                <a:solidFill>
                  <a:sysClr val="windowText" lastClr="000000"/>
                </a:solidFill>
                <a:latin typeface="微软雅黑" panose="020B0503020204020204" charset="-122"/>
                <a:ea typeface="微软雅黑" panose="020B0503020204020204" charset="-122"/>
              </a:rPr>
              <a:t>流程现状</a:t>
            </a:r>
          </a:p>
        </p:txBody>
      </p:sp>
      <p:sp>
        <p:nvSpPr>
          <p:cNvPr id="106" name="矩形 105"/>
          <p:cNvSpPr/>
          <p:nvPr/>
        </p:nvSpPr>
        <p:spPr>
          <a:xfrm>
            <a:off x="1444409" y="1263876"/>
            <a:ext cx="6112306" cy="307736"/>
          </a:xfrm>
          <a:prstGeom prst="rect">
            <a:avLst/>
          </a:prstGeom>
          <a:noFill/>
          <a:ln>
            <a:solidFill>
              <a:schemeClr val="bg1">
                <a:lumMod val="65000"/>
              </a:schemeClr>
            </a:solidFill>
          </a:ln>
        </p:spPr>
        <p:txBody>
          <a:bodyPr wrap="square" lIns="72000" tIns="0" rIns="72000" anchor="ctr">
            <a:noAutofit/>
          </a:bodyPr>
          <a:lstStyle/>
          <a:p>
            <a:pPr algn="ctr">
              <a:lnSpc>
                <a:spcPct val="150000"/>
              </a:lnSpc>
              <a:buClr>
                <a:srgbClr val="C00000"/>
              </a:buClr>
            </a:pPr>
            <a:r>
              <a:rPr lang="zh-CN" altLang="en-US" sz="1200" b="1" dirty="0">
                <a:solidFill>
                  <a:schemeClr val="accent1"/>
                </a:solidFill>
                <a:latin typeface="微软雅黑" panose="020B0503020204020204" charset="-122"/>
                <a:ea typeface="微软雅黑" panose="020B0503020204020204" charset="-122"/>
              </a:rPr>
              <a:t>打造敏捷供应链，实现卓越订单交付</a:t>
            </a:r>
            <a:endParaRPr lang="en-US" altLang="zh-CN" sz="1200" b="1" dirty="0">
              <a:solidFill>
                <a:schemeClr val="accent1"/>
              </a:solidFill>
              <a:latin typeface="微软雅黑" panose="020B0503020204020204" charset="-122"/>
              <a:ea typeface="微软雅黑" panose="020B0503020204020204" charset="-122"/>
            </a:endParaRPr>
          </a:p>
        </p:txBody>
      </p:sp>
      <p:sp>
        <p:nvSpPr>
          <p:cNvPr id="108" name="矩形 107"/>
          <p:cNvSpPr/>
          <p:nvPr/>
        </p:nvSpPr>
        <p:spPr bwMode="auto">
          <a:xfrm>
            <a:off x="344458" y="1813822"/>
            <a:ext cx="1214445" cy="329294"/>
          </a:xfrm>
          <a:prstGeom prst="rect">
            <a:avLst/>
          </a:prstGeom>
          <a:noFill/>
          <a:ln>
            <a:solidFill>
              <a:schemeClr val="bg1">
                <a:lumMod val="65000"/>
              </a:schemeClr>
            </a:solidFill>
          </a:ln>
        </p:spPr>
        <p:txBody>
          <a:bodyPr wrap="square" lIns="72000" tIns="0" rIns="72000" anchor="ctr">
            <a:noAutofit/>
          </a:bodyPr>
          <a:lstStyle/>
          <a:p>
            <a:pPr lvl="0" indent="-117475" algn="ctr">
              <a:lnSpc>
                <a:spcPct val="150000"/>
              </a:lnSpc>
              <a:buClr>
                <a:srgbClr val="C00000"/>
              </a:buClr>
            </a:pPr>
            <a:r>
              <a:rPr lang="zh-CN" altLang="en-US" sz="1200" b="1" dirty="0">
                <a:solidFill>
                  <a:schemeClr val="accent1"/>
                </a:solidFill>
                <a:latin typeface="微软雅黑" panose="020B0503020204020204" charset="-122"/>
                <a:ea typeface="微软雅黑" panose="020B0503020204020204" charset="-122"/>
              </a:rPr>
              <a:t>订单交付周期</a:t>
            </a:r>
            <a:endParaRPr lang="en-US" altLang="zh-CN" sz="1200" b="1" dirty="0">
              <a:solidFill>
                <a:schemeClr val="accent1"/>
              </a:solidFill>
              <a:latin typeface="微软雅黑" panose="020B0503020204020204" charset="-122"/>
              <a:ea typeface="微软雅黑" panose="020B0503020204020204" charset="-122"/>
            </a:endParaRPr>
          </a:p>
        </p:txBody>
      </p:sp>
      <p:sp>
        <p:nvSpPr>
          <p:cNvPr id="110" name="矩形 109"/>
          <p:cNvSpPr/>
          <p:nvPr/>
        </p:nvSpPr>
        <p:spPr bwMode="auto">
          <a:xfrm>
            <a:off x="3260716" y="1813822"/>
            <a:ext cx="1357322" cy="329294"/>
          </a:xfrm>
          <a:prstGeom prst="rect">
            <a:avLst/>
          </a:prstGeom>
          <a:noFill/>
          <a:ln>
            <a:solidFill>
              <a:schemeClr val="bg1">
                <a:lumMod val="65000"/>
              </a:schemeClr>
            </a:solidFill>
          </a:ln>
        </p:spPr>
        <p:txBody>
          <a:bodyPr wrap="square" lIns="72000" tIns="0" rIns="72000" anchor="ctr">
            <a:noAutofit/>
          </a:bodyPr>
          <a:lstStyle/>
          <a:p>
            <a:pPr lvl="0" indent="-117475" algn="ctr">
              <a:buClr>
                <a:srgbClr val="C00000"/>
              </a:buClr>
            </a:pPr>
            <a:r>
              <a:rPr lang="zh-CN" altLang="en-US" sz="1200" b="1" dirty="0">
                <a:solidFill>
                  <a:schemeClr val="accent1"/>
                </a:solidFill>
                <a:latin typeface="微软雅黑" panose="020B0503020204020204" charset="-122"/>
                <a:ea typeface="微软雅黑" panose="020B0503020204020204" charset="-122"/>
              </a:rPr>
              <a:t>订单准时交付率</a:t>
            </a:r>
            <a:endParaRPr lang="en-US" altLang="zh-CN" sz="1200" b="1" dirty="0">
              <a:solidFill>
                <a:schemeClr val="accent1"/>
              </a:solidFill>
              <a:latin typeface="微软雅黑" panose="020B0503020204020204" charset="-122"/>
              <a:ea typeface="微软雅黑" panose="020B0503020204020204" charset="-122"/>
            </a:endParaRPr>
          </a:p>
        </p:txBody>
      </p:sp>
      <p:sp>
        <p:nvSpPr>
          <p:cNvPr id="114" name="矩形 113"/>
          <p:cNvSpPr/>
          <p:nvPr/>
        </p:nvSpPr>
        <p:spPr bwMode="auto">
          <a:xfrm>
            <a:off x="357158"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订单响应周期</a:t>
            </a:r>
          </a:p>
        </p:txBody>
      </p:sp>
      <p:sp>
        <p:nvSpPr>
          <p:cNvPr id="116" name="矩形 115"/>
          <p:cNvSpPr/>
          <p:nvPr/>
        </p:nvSpPr>
        <p:spPr bwMode="auto">
          <a:xfrm>
            <a:off x="784441"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订单组织周期</a:t>
            </a:r>
          </a:p>
        </p:txBody>
      </p:sp>
      <p:sp>
        <p:nvSpPr>
          <p:cNvPr id="117" name="矩形 116"/>
          <p:cNvSpPr/>
          <p:nvPr/>
        </p:nvSpPr>
        <p:spPr bwMode="auto">
          <a:xfrm>
            <a:off x="1211724"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订单交付周期</a:t>
            </a:r>
          </a:p>
        </p:txBody>
      </p:sp>
      <p:sp>
        <p:nvSpPr>
          <p:cNvPr id="121" name="矩形 120"/>
          <p:cNvSpPr/>
          <p:nvPr/>
        </p:nvSpPr>
        <p:spPr bwMode="auto">
          <a:xfrm>
            <a:off x="1639007"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需求计划准确率</a:t>
            </a:r>
          </a:p>
        </p:txBody>
      </p:sp>
      <p:sp>
        <p:nvSpPr>
          <p:cNvPr id="126" name="矩形 125"/>
          <p:cNvSpPr/>
          <p:nvPr/>
        </p:nvSpPr>
        <p:spPr bwMode="auto">
          <a:xfrm>
            <a:off x="2066290"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锁定计划变更率</a:t>
            </a:r>
          </a:p>
        </p:txBody>
      </p:sp>
      <p:sp>
        <p:nvSpPr>
          <p:cNvPr id="128" name="矩形 127"/>
          <p:cNvSpPr/>
          <p:nvPr/>
        </p:nvSpPr>
        <p:spPr bwMode="auto">
          <a:xfrm>
            <a:off x="2493573"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零部件准时供货率</a:t>
            </a:r>
          </a:p>
        </p:txBody>
      </p:sp>
      <p:sp>
        <p:nvSpPr>
          <p:cNvPr id="130" name="矩形 129"/>
          <p:cNvSpPr/>
          <p:nvPr/>
        </p:nvSpPr>
        <p:spPr bwMode="auto">
          <a:xfrm>
            <a:off x="2920856"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百万零部件质量缺陷率</a:t>
            </a:r>
          </a:p>
        </p:txBody>
      </p:sp>
      <p:sp>
        <p:nvSpPr>
          <p:cNvPr id="132" name="矩形 131"/>
          <p:cNvSpPr/>
          <p:nvPr/>
        </p:nvSpPr>
        <p:spPr bwMode="auto">
          <a:xfrm>
            <a:off x="3348139"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生产线可动率</a:t>
            </a:r>
          </a:p>
        </p:txBody>
      </p:sp>
      <p:sp>
        <p:nvSpPr>
          <p:cNvPr id="136" name="矩形 135"/>
          <p:cNvSpPr/>
          <p:nvPr/>
        </p:nvSpPr>
        <p:spPr bwMode="auto">
          <a:xfrm>
            <a:off x="5484554"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整机准时到达率</a:t>
            </a:r>
          </a:p>
        </p:txBody>
      </p:sp>
      <p:sp>
        <p:nvSpPr>
          <p:cNvPr id="145" name="矩形 144"/>
          <p:cNvSpPr/>
          <p:nvPr/>
        </p:nvSpPr>
        <p:spPr bwMode="auto">
          <a:xfrm>
            <a:off x="6339120"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整机存货周转</a:t>
            </a:r>
          </a:p>
        </p:txBody>
      </p:sp>
      <p:sp>
        <p:nvSpPr>
          <p:cNvPr id="146" name="矩形 145"/>
          <p:cNvSpPr/>
          <p:nvPr/>
        </p:nvSpPr>
        <p:spPr bwMode="auto">
          <a:xfrm>
            <a:off x="3775422"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停线时间</a:t>
            </a:r>
            <a:r>
              <a:rPr lang="en-US" altLang="zh-CN" sz="1100" b="1" dirty="0">
                <a:solidFill>
                  <a:schemeClr val="accent1"/>
                </a:solidFill>
                <a:latin typeface="微软雅黑" panose="020B0503020204020204" charset="-122"/>
                <a:ea typeface="微软雅黑" panose="020B0503020204020204" charset="-122"/>
              </a:rPr>
              <a:t>︵</a:t>
            </a:r>
            <a:r>
              <a:rPr lang="zh-CN" altLang="en-US" sz="1100" b="1" dirty="0">
                <a:solidFill>
                  <a:schemeClr val="accent1"/>
                </a:solidFill>
                <a:latin typeface="微软雅黑" panose="020B0503020204020204" charset="-122"/>
                <a:ea typeface="微软雅黑" panose="020B0503020204020204" charset="-122"/>
              </a:rPr>
              <a:t>缺件</a:t>
            </a:r>
            <a:r>
              <a:rPr lang="en-US" altLang="zh-CN" sz="1100" b="1" dirty="0">
                <a:solidFill>
                  <a:schemeClr val="accent1"/>
                </a:solidFill>
                <a:latin typeface="微软雅黑" panose="020B0503020204020204" charset="-122"/>
                <a:ea typeface="微软雅黑" panose="020B0503020204020204" charset="-122"/>
              </a:rPr>
              <a:t>/</a:t>
            </a:r>
            <a:r>
              <a:rPr lang="zh-CN" altLang="en-US" sz="1100" b="1" dirty="0">
                <a:solidFill>
                  <a:schemeClr val="accent1"/>
                </a:solidFill>
                <a:latin typeface="微软雅黑" panose="020B0503020204020204" charset="-122"/>
                <a:ea typeface="微软雅黑" panose="020B0503020204020204" charset="-122"/>
              </a:rPr>
              <a:t>质量</a:t>
            </a:r>
            <a:endParaRPr lang="en-US" altLang="zh-CN" sz="1100" b="1" dirty="0">
              <a:solidFill>
                <a:schemeClr val="accent1"/>
              </a:solidFill>
              <a:latin typeface="微软雅黑" panose="020B0503020204020204" charset="-122"/>
              <a:ea typeface="微软雅黑" panose="020B0503020204020204" charset="-122"/>
            </a:endParaRPr>
          </a:p>
          <a:p>
            <a:pPr indent="-117475" algn="ctr">
              <a:buClr>
                <a:srgbClr val="C00000"/>
              </a:buClr>
            </a:pPr>
            <a:r>
              <a:rPr lang="zh-CN" altLang="zh-CN" sz="1100" b="1" dirty="0">
                <a:solidFill>
                  <a:schemeClr val="accent1"/>
                </a:solidFill>
                <a:latin typeface="微软雅黑" panose="020B0503020204020204" charset="-122"/>
                <a:ea typeface="微软雅黑" panose="020B0503020204020204" charset="-122"/>
              </a:rPr>
              <a:t>︶</a:t>
            </a:r>
            <a:endParaRPr lang="en-US" altLang="zh-CN" sz="1100" b="1" dirty="0">
              <a:solidFill>
                <a:schemeClr val="accent1"/>
              </a:solidFill>
              <a:latin typeface="微软雅黑" panose="020B0503020204020204" charset="-122"/>
              <a:ea typeface="微软雅黑" panose="020B0503020204020204" charset="-122"/>
            </a:endParaRPr>
          </a:p>
        </p:txBody>
      </p:sp>
      <p:sp>
        <p:nvSpPr>
          <p:cNvPr id="147" name="矩形 146"/>
          <p:cNvSpPr/>
          <p:nvPr/>
        </p:nvSpPr>
        <p:spPr bwMode="auto">
          <a:xfrm>
            <a:off x="5911837" y="2321358"/>
            <a:ext cx="324000" cy="1958542"/>
          </a:xfrm>
          <a:prstGeom prst="rect">
            <a:avLst/>
          </a:prstGeom>
          <a:noFill/>
          <a:ln>
            <a:solidFill>
              <a:schemeClr val="bg1">
                <a:lumMod val="65000"/>
              </a:schemeClr>
            </a:solidFill>
          </a:ln>
        </p:spPr>
        <p:txBody>
          <a:bodyPr wrap="square" lIns="72000" tIns="72000" rIns="72000" anchor="t">
            <a:noAutofit/>
          </a:bodyPr>
          <a:lstStyle/>
          <a:p>
            <a:pPr lvl="0"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到货质量完好率</a:t>
            </a:r>
          </a:p>
        </p:txBody>
      </p:sp>
      <p:sp>
        <p:nvSpPr>
          <p:cNvPr id="149" name="矩形 148"/>
          <p:cNvSpPr/>
          <p:nvPr/>
        </p:nvSpPr>
        <p:spPr bwMode="auto">
          <a:xfrm>
            <a:off x="4202705"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生产计划完成率</a:t>
            </a:r>
          </a:p>
        </p:txBody>
      </p:sp>
      <p:sp>
        <p:nvSpPr>
          <p:cNvPr id="150" name="矩形 149"/>
          <p:cNvSpPr/>
          <p:nvPr/>
        </p:nvSpPr>
        <p:spPr bwMode="auto">
          <a:xfrm>
            <a:off x="6766403"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整机超龄库存比率</a:t>
            </a:r>
          </a:p>
        </p:txBody>
      </p:sp>
      <p:sp>
        <p:nvSpPr>
          <p:cNvPr id="152" name="矩形 151"/>
          <p:cNvSpPr/>
          <p:nvPr/>
        </p:nvSpPr>
        <p:spPr bwMode="auto">
          <a:xfrm>
            <a:off x="7193686"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零部件</a:t>
            </a:r>
            <a:r>
              <a:rPr lang="en-US" altLang="zh-CN" sz="1100" b="1" dirty="0">
                <a:solidFill>
                  <a:schemeClr val="accent1"/>
                </a:solidFill>
                <a:latin typeface="微软雅黑" panose="020B0503020204020204" charset="-122"/>
                <a:ea typeface="微软雅黑" panose="020B0503020204020204" charset="-122"/>
              </a:rPr>
              <a:t>/</a:t>
            </a:r>
            <a:r>
              <a:rPr lang="zh-CN" altLang="en-US" sz="1100" b="1" dirty="0">
                <a:solidFill>
                  <a:schemeClr val="accent1"/>
                </a:solidFill>
                <a:latin typeface="微软雅黑" panose="020B0503020204020204" charset="-122"/>
                <a:ea typeface="微软雅黑" panose="020B0503020204020204" charset="-122"/>
              </a:rPr>
              <a:t>在制品存货周转</a:t>
            </a:r>
          </a:p>
        </p:txBody>
      </p:sp>
      <p:sp>
        <p:nvSpPr>
          <p:cNvPr id="153" name="矩形 152"/>
          <p:cNvSpPr/>
          <p:nvPr/>
        </p:nvSpPr>
        <p:spPr bwMode="auto">
          <a:xfrm>
            <a:off x="7620969"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零部件超龄库存比率</a:t>
            </a:r>
          </a:p>
        </p:txBody>
      </p:sp>
      <p:sp>
        <p:nvSpPr>
          <p:cNvPr id="155" name="矩形 154"/>
          <p:cNvSpPr/>
          <p:nvPr/>
        </p:nvSpPr>
        <p:spPr bwMode="auto">
          <a:xfrm>
            <a:off x="4629988" y="2321358"/>
            <a:ext cx="324000" cy="195854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整机准时入库率</a:t>
            </a:r>
          </a:p>
        </p:txBody>
      </p:sp>
      <p:cxnSp>
        <p:nvCxnSpPr>
          <p:cNvPr id="173" name="肘形连接符 172"/>
          <p:cNvCxnSpPr>
            <a:stCxn id="108" idx="2"/>
            <a:endCxn id="114" idx="0"/>
          </p:cNvCxnSpPr>
          <p:nvPr/>
        </p:nvCxnSpPr>
        <p:spPr bwMode="auto">
          <a:xfrm rot="5400000">
            <a:off x="646299" y="2015976"/>
            <a:ext cx="178242" cy="432523"/>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175" name="肘形连接符 174"/>
          <p:cNvCxnSpPr>
            <a:stCxn id="108" idx="2"/>
            <a:endCxn id="116" idx="0"/>
          </p:cNvCxnSpPr>
          <p:nvPr/>
        </p:nvCxnSpPr>
        <p:spPr bwMode="auto">
          <a:xfrm rot="5400000">
            <a:off x="859940" y="2229617"/>
            <a:ext cx="178242" cy="5240"/>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184" name="肘形连接符 183"/>
          <p:cNvCxnSpPr>
            <a:stCxn id="108" idx="2"/>
            <a:endCxn id="117" idx="0"/>
          </p:cNvCxnSpPr>
          <p:nvPr/>
        </p:nvCxnSpPr>
        <p:spPr bwMode="auto">
          <a:xfrm rot="16200000" flipH="1">
            <a:off x="1073581" y="2021215"/>
            <a:ext cx="178242" cy="422043"/>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189" name="肘形连接符 188"/>
          <p:cNvCxnSpPr>
            <a:stCxn id="110" idx="2"/>
            <a:endCxn id="121" idx="0"/>
          </p:cNvCxnSpPr>
          <p:nvPr/>
        </p:nvCxnSpPr>
        <p:spPr bwMode="auto">
          <a:xfrm rot="5400000">
            <a:off x="2781071" y="1163052"/>
            <a:ext cx="178242" cy="2138370"/>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08" name="肘形连接符 207"/>
          <p:cNvCxnSpPr>
            <a:stCxn id="110" idx="2"/>
            <a:endCxn id="147" idx="0"/>
          </p:cNvCxnSpPr>
          <p:nvPr/>
        </p:nvCxnSpPr>
        <p:spPr bwMode="auto">
          <a:xfrm rot="16200000" flipH="1">
            <a:off x="4917486" y="1165007"/>
            <a:ext cx="178242" cy="2134460"/>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sp>
        <p:nvSpPr>
          <p:cNvPr id="212" name="矩形 211"/>
          <p:cNvSpPr/>
          <p:nvPr/>
        </p:nvSpPr>
        <p:spPr bwMode="auto">
          <a:xfrm>
            <a:off x="6454788" y="1813822"/>
            <a:ext cx="1357322" cy="329294"/>
          </a:xfrm>
          <a:prstGeom prst="rect">
            <a:avLst/>
          </a:prstGeom>
          <a:noFill/>
          <a:ln>
            <a:solidFill>
              <a:schemeClr val="bg1">
                <a:lumMod val="65000"/>
              </a:schemeClr>
            </a:solidFill>
          </a:ln>
        </p:spPr>
        <p:txBody>
          <a:bodyPr wrap="square" lIns="72000" tIns="0" rIns="72000" anchor="ctr">
            <a:noAutofit/>
          </a:bodyPr>
          <a:lstStyle/>
          <a:p>
            <a:pPr lvl="0" indent="-117475" algn="ctr">
              <a:buClr>
                <a:srgbClr val="C00000"/>
              </a:buClr>
            </a:pPr>
            <a:r>
              <a:rPr lang="zh-CN" altLang="en-US" sz="1200" b="1" dirty="0">
                <a:solidFill>
                  <a:schemeClr val="accent1"/>
                </a:solidFill>
                <a:latin typeface="微软雅黑" panose="020B0503020204020204" charset="-122"/>
                <a:ea typeface="微软雅黑" panose="020B0503020204020204" charset="-122"/>
              </a:rPr>
              <a:t>总体存货周转率</a:t>
            </a:r>
          </a:p>
        </p:txBody>
      </p:sp>
      <p:sp>
        <p:nvSpPr>
          <p:cNvPr id="213" name="矩形 212"/>
          <p:cNvSpPr/>
          <p:nvPr/>
        </p:nvSpPr>
        <p:spPr bwMode="auto">
          <a:xfrm>
            <a:off x="8048252" y="1813822"/>
            <a:ext cx="324000" cy="245586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工厂产能利用率</a:t>
            </a:r>
          </a:p>
        </p:txBody>
      </p:sp>
      <p:sp>
        <p:nvSpPr>
          <p:cNvPr id="214" name="矩形 213"/>
          <p:cNvSpPr/>
          <p:nvPr/>
        </p:nvSpPr>
        <p:spPr bwMode="auto">
          <a:xfrm>
            <a:off x="8475542" y="1813822"/>
            <a:ext cx="324000" cy="2455862"/>
          </a:xfrm>
          <a:prstGeom prst="rect">
            <a:avLst/>
          </a:prstGeom>
          <a:noFill/>
          <a:ln>
            <a:solidFill>
              <a:schemeClr val="bg1">
                <a:lumMod val="65000"/>
              </a:schemeClr>
            </a:solidFill>
          </a:ln>
        </p:spPr>
        <p:txBody>
          <a:bodyPr wrap="square" lIns="72000" tIns="72000" rIns="72000" anchor="t">
            <a:noAutofit/>
          </a:bodyPr>
          <a:lstStyle/>
          <a:p>
            <a:pPr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每百万收入供应链管理人员成本</a:t>
            </a:r>
          </a:p>
        </p:txBody>
      </p:sp>
      <p:cxnSp>
        <p:nvCxnSpPr>
          <p:cNvPr id="215" name="肘形连接符 214"/>
          <p:cNvCxnSpPr>
            <a:stCxn id="110" idx="2"/>
            <a:endCxn id="126" idx="0"/>
          </p:cNvCxnSpPr>
          <p:nvPr/>
        </p:nvCxnSpPr>
        <p:spPr bwMode="auto">
          <a:xfrm rot="5400000">
            <a:off x="2994713" y="1376694"/>
            <a:ext cx="178242" cy="1711087"/>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18" name="肘形连接符 217"/>
          <p:cNvCxnSpPr>
            <a:stCxn id="110" idx="2"/>
            <a:endCxn id="128" idx="0"/>
          </p:cNvCxnSpPr>
          <p:nvPr/>
        </p:nvCxnSpPr>
        <p:spPr bwMode="auto">
          <a:xfrm rot="5400000">
            <a:off x="3208354" y="1590335"/>
            <a:ext cx="178242" cy="1283804"/>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21" name="肘形连接符 220"/>
          <p:cNvCxnSpPr>
            <a:stCxn id="110" idx="2"/>
            <a:endCxn id="130" idx="0"/>
          </p:cNvCxnSpPr>
          <p:nvPr/>
        </p:nvCxnSpPr>
        <p:spPr bwMode="auto">
          <a:xfrm rot="5400000">
            <a:off x="3421996" y="1803977"/>
            <a:ext cx="178242" cy="856521"/>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25" name="肘形连接符 224"/>
          <p:cNvCxnSpPr>
            <a:stCxn id="110" idx="2"/>
            <a:endCxn id="132" idx="0"/>
          </p:cNvCxnSpPr>
          <p:nvPr/>
        </p:nvCxnSpPr>
        <p:spPr bwMode="auto">
          <a:xfrm rot="5400000">
            <a:off x="3635637" y="2017618"/>
            <a:ext cx="178242" cy="429238"/>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28" name="肘形连接符 227"/>
          <p:cNvCxnSpPr>
            <a:stCxn id="110" idx="2"/>
            <a:endCxn id="146" idx="0"/>
          </p:cNvCxnSpPr>
          <p:nvPr/>
        </p:nvCxnSpPr>
        <p:spPr bwMode="auto">
          <a:xfrm rot="5400000">
            <a:off x="3849279" y="2231260"/>
            <a:ext cx="178242" cy="1955"/>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31" name="肘形连接符 230"/>
          <p:cNvCxnSpPr>
            <a:stCxn id="110" idx="2"/>
            <a:endCxn id="149" idx="0"/>
          </p:cNvCxnSpPr>
          <p:nvPr/>
        </p:nvCxnSpPr>
        <p:spPr bwMode="auto">
          <a:xfrm rot="16200000" flipH="1">
            <a:off x="4062920" y="2019573"/>
            <a:ext cx="178242" cy="425328"/>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34" name="肘形连接符 233"/>
          <p:cNvCxnSpPr>
            <a:stCxn id="110" idx="2"/>
            <a:endCxn id="136" idx="0"/>
          </p:cNvCxnSpPr>
          <p:nvPr/>
        </p:nvCxnSpPr>
        <p:spPr bwMode="auto">
          <a:xfrm rot="16200000" flipH="1">
            <a:off x="4703844" y="1378648"/>
            <a:ext cx="178242" cy="1707177"/>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37" name="肘形连接符 236"/>
          <p:cNvCxnSpPr>
            <a:stCxn id="110" idx="2"/>
            <a:endCxn id="88" idx="0"/>
          </p:cNvCxnSpPr>
          <p:nvPr/>
        </p:nvCxnSpPr>
        <p:spPr bwMode="auto">
          <a:xfrm rot="16200000" flipH="1">
            <a:off x="4484867" y="1597626"/>
            <a:ext cx="188914" cy="1279894"/>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40" name="肘形连接符 239"/>
          <p:cNvCxnSpPr>
            <a:stCxn id="212" idx="2"/>
            <a:endCxn id="145" idx="0"/>
          </p:cNvCxnSpPr>
          <p:nvPr/>
        </p:nvCxnSpPr>
        <p:spPr bwMode="auto">
          <a:xfrm rot="5400000">
            <a:off x="6728164" y="1916073"/>
            <a:ext cx="178242" cy="632329"/>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43" name="肘形连接符 242"/>
          <p:cNvCxnSpPr>
            <a:stCxn id="212" idx="2"/>
            <a:endCxn id="150" idx="0"/>
          </p:cNvCxnSpPr>
          <p:nvPr/>
        </p:nvCxnSpPr>
        <p:spPr bwMode="auto">
          <a:xfrm rot="5400000">
            <a:off x="6941805" y="2129714"/>
            <a:ext cx="178242" cy="205046"/>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48" name="肘形连接符 247"/>
          <p:cNvCxnSpPr>
            <a:stCxn id="212" idx="2"/>
            <a:endCxn id="152" idx="0"/>
          </p:cNvCxnSpPr>
          <p:nvPr/>
        </p:nvCxnSpPr>
        <p:spPr bwMode="auto">
          <a:xfrm rot="16200000" flipH="1">
            <a:off x="7155446" y="2121118"/>
            <a:ext cx="178242" cy="222237"/>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51" name="肘形连接符 250"/>
          <p:cNvCxnSpPr>
            <a:stCxn id="212" idx="2"/>
            <a:endCxn id="153" idx="0"/>
          </p:cNvCxnSpPr>
          <p:nvPr/>
        </p:nvCxnSpPr>
        <p:spPr bwMode="auto">
          <a:xfrm rot="16200000" flipH="1">
            <a:off x="7369088" y="1907477"/>
            <a:ext cx="178242" cy="649520"/>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54" name="肘形连接符 253"/>
          <p:cNvCxnSpPr>
            <a:stCxn id="106" idx="2"/>
            <a:endCxn id="214" idx="0"/>
          </p:cNvCxnSpPr>
          <p:nvPr/>
        </p:nvCxnSpPr>
        <p:spPr bwMode="auto">
          <a:xfrm rot="16200000" flipH="1">
            <a:off x="6447947" y="-375773"/>
            <a:ext cx="242210" cy="4136980"/>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57" name="肘形连接符 256"/>
          <p:cNvCxnSpPr>
            <a:stCxn id="106" idx="2"/>
            <a:endCxn id="213" idx="0"/>
          </p:cNvCxnSpPr>
          <p:nvPr/>
        </p:nvCxnSpPr>
        <p:spPr bwMode="auto">
          <a:xfrm rot="16200000" flipH="1">
            <a:off x="6234302" y="-162128"/>
            <a:ext cx="242210" cy="3709690"/>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60" name="肘形连接符 259"/>
          <p:cNvCxnSpPr>
            <a:stCxn id="106" idx="2"/>
            <a:endCxn id="212" idx="0"/>
          </p:cNvCxnSpPr>
          <p:nvPr/>
        </p:nvCxnSpPr>
        <p:spPr bwMode="auto">
          <a:xfrm rot="16200000" flipH="1">
            <a:off x="5695900" y="376273"/>
            <a:ext cx="242210" cy="2632887"/>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63" name="肘形连接符 262"/>
          <p:cNvCxnSpPr>
            <a:stCxn id="106" idx="2"/>
            <a:endCxn id="110" idx="0"/>
          </p:cNvCxnSpPr>
          <p:nvPr/>
        </p:nvCxnSpPr>
        <p:spPr bwMode="auto">
          <a:xfrm rot="5400000">
            <a:off x="4098865" y="1412125"/>
            <a:ext cx="242210" cy="561185"/>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cxnSp>
        <p:nvCxnSpPr>
          <p:cNvPr id="266" name="肘形连接符 265"/>
          <p:cNvCxnSpPr>
            <a:stCxn id="106" idx="2"/>
            <a:endCxn id="108" idx="0"/>
          </p:cNvCxnSpPr>
          <p:nvPr/>
        </p:nvCxnSpPr>
        <p:spPr bwMode="auto">
          <a:xfrm rot="5400000">
            <a:off x="2605017" y="-81723"/>
            <a:ext cx="242210" cy="3548881"/>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graphicFrame>
        <p:nvGraphicFramePr>
          <p:cNvPr id="269" name="表格 268"/>
          <p:cNvGraphicFramePr>
            <a:graphicFrameLocks noGrp="1"/>
          </p:cNvGraphicFramePr>
          <p:nvPr/>
        </p:nvGraphicFramePr>
        <p:xfrm>
          <a:off x="279396" y="4370394"/>
          <a:ext cx="8585200" cy="2133600"/>
        </p:xfrm>
        <a:graphic>
          <a:graphicData uri="http://schemas.openxmlformats.org/drawingml/2006/table">
            <a:tbl>
              <a:tblPr>
                <a:tableStyleId>{5C22544A-7EE6-4342-B048-85BDC9FD1C3A}</a:tableStyleId>
              </a:tblPr>
              <a:tblGrid>
                <a:gridCol w="429260">
                  <a:extLst>
                    <a:ext uri="{9D8B030D-6E8A-4147-A177-3AD203B41FA5}">
                      <a16:colId xmlns:a16="http://schemas.microsoft.com/office/drawing/2014/main" val="20000"/>
                    </a:ext>
                  </a:extLst>
                </a:gridCol>
                <a:gridCol w="429260">
                  <a:extLst>
                    <a:ext uri="{9D8B030D-6E8A-4147-A177-3AD203B41FA5}">
                      <a16:colId xmlns:a16="http://schemas.microsoft.com/office/drawing/2014/main" val="20001"/>
                    </a:ext>
                  </a:extLst>
                </a:gridCol>
                <a:gridCol w="429260">
                  <a:extLst>
                    <a:ext uri="{9D8B030D-6E8A-4147-A177-3AD203B41FA5}">
                      <a16:colId xmlns:a16="http://schemas.microsoft.com/office/drawing/2014/main" val="20002"/>
                    </a:ext>
                  </a:extLst>
                </a:gridCol>
                <a:gridCol w="429260">
                  <a:extLst>
                    <a:ext uri="{9D8B030D-6E8A-4147-A177-3AD203B41FA5}">
                      <a16:colId xmlns:a16="http://schemas.microsoft.com/office/drawing/2014/main" val="20003"/>
                    </a:ext>
                  </a:extLst>
                </a:gridCol>
                <a:gridCol w="429260">
                  <a:extLst>
                    <a:ext uri="{9D8B030D-6E8A-4147-A177-3AD203B41FA5}">
                      <a16:colId xmlns:a16="http://schemas.microsoft.com/office/drawing/2014/main" val="20004"/>
                    </a:ext>
                  </a:extLst>
                </a:gridCol>
                <a:gridCol w="429260">
                  <a:extLst>
                    <a:ext uri="{9D8B030D-6E8A-4147-A177-3AD203B41FA5}">
                      <a16:colId xmlns:a16="http://schemas.microsoft.com/office/drawing/2014/main" val="20005"/>
                    </a:ext>
                  </a:extLst>
                </a:gridCol>
                <a:gridCol w="429260">
                  <a:extLst>
                    <a:ext uri="{9D8B030D-6E8A-4147-A177-3AD203B41FA5}">
                      <a16:colId xmlns:a16="http://schemas.microsoft.com/office/drawing/2014/main" val="20006"/>
                    </a:ext>
                  </a:extLst>
                </a:gridCol>
                <a:gridCol w="429260">
                  <a:extLst>
                    <a:ext uri="{9D8B030D-6E8A-4147-A177-3AD203B41FA5}">
                      <a16:colId xmlns:a16="http://schemas.microsoft.com/office/drawing/2014/main" val="20007"/>
                    </a:ext>
                  </a:extLst>
                </a:gridCol>
                <a:gridCol w="429260">
                  <a:extLst>
                    <a:ext uri="{9D8B030D-6E8A-4147-A177-3AD203B41FA5}">
                      <a16:colId xmlns:a16="http://schemas.microsoft.com/office/drawing/2014/main" val="20008"/>
                    </a:ext>
                  </a:extLst>
                </a:gridCol>
                <a:gridCol w="429260">
                  <a:extLst>
                    <a:ext uri="{9D8B030D-6E8A-4147-A177-3AD203B41FA5}">
                      <a16:colId xmlns:a16="http://schemas.microsoft.com/office/drawing/2014/main" val="20009"/>
                    </a:ext>
                  </a:extLst>
                </a:gridCol>
                <a:gridCol w="429260">
                  <a:extLst>
                    <a:ext uri="{9D8B030D-6E8A-4147-A177-3AD203B41FA5}">
                      <a16:colId xmlns:a16="http://schemas.microsoft.com/office/drawing/2014/main" val="20010"/>
                    </a:ext>
                  </a:extLst>
                </a:gridCol>
                <a:gridCol w="429260">
                  <a:extLst>
                    <a:ext uri="{9D8B030D-6E8A-4147-A177-3AD203B41FA5}">
                      <a16:colId xmlns:a16="http://schemas.microsoft.com/office/drawing/2014/main" val="20011"/>
                    </a:ext>
                  </a:extLst>
                </a:gridCol>
                <a:gridCol w="429260">
                  <a:extLst>
                    <a:ext uri="{9D8B030D-6E8A-4147-A177-3AD203B41FA5}">
                      <a16:colId xmlns:a16="http://schemas.microsoft.com/office/drawing/2014/main" val="20012"/>
                    </a:ext>
                  </a:extLst>
                </a:gridCol>
                <a:gridCol w="429260">
                  <a:extLst>
                    <a:ext uri="{9D8B030D-6E8A-4147-A177-3AD203B41FA5}">
                      <a16:colId xmlns:a16="http://schemas.microsoft.com/office/drawing/2014/main" val="20013"/>
                    </a:ext>
                  </a:extLst>
                </a:gridCol>
                <a:gridCol w="429260">
                  <a:extLst>
                    <a:ext uri="{9D8B030D-6E8A-4147-A177-3AD203B41FA5}">
                      <a16:colId xmlns:a16="http://schemas.microsoft.com/office/drawing/2014/main" val="20014"/>
                    </a:ext>
                  </a:extLst>
                </a:gridCol>
                <a:gridCol w="429260">
                  <a:extLst>
                    <a:ext uri="{9D8B030D-6E8A-4147-A177-3AD203B41FA5}">
                      <a16:colId xmlns:a16="http://schemas.microsoft.com/office/drawing/2014/main" val="20015"/>
                    </a:ext>
                  </a:extLst>
                </a:gridCol>
                <a:gridCol w="429260">
                  <a:extLst>
                    <a:ext uri="{9D8B030D-6E8A-4147-A177-3AD203B41FA5}">
                      <a16:colId xmlns:a16="http://schemas.microsoft.com/office/drawing/2014/main" val="20016"/>
                    </a:ext>
                  </a:extLst>
                </a:gridCol>
                <a:gridCol w="429260">
                  <a:extLst>
                    <a:ext uri="{9D8B030D-6E8A-4147-A177-3AD203B41FA5}">
                      <a16:colId xmlns:a16="http://schemas.microsoft.com/office/drawing/2014/main" val="20017"/>
                    </a:ext>
                  </a:extLst>
                </a:gridCol>
                <a:gridCol w="429260">
                  <a:extLst>
                    <a:ext uri="{9D8B030D-6E8A-4147-A177-3AD203B41FA5}">
                      <a16:colId xmlns:a16="http://schemas.microsoft.com/office/drawing/2014/main" val="20018"/>
                    </a:ext>
                  </a:extLst>
                </a:gridCol>
                <a:gridCol w="429260">
                  <a:extLst>
                    <a:ext uri="{9D8B030D-6E8A-4147-A177-3AD203B41FA5}">
                      <a16:colId xmlns:a16="http://schemas.microsoft.com/office/drawing/2014/main" val="20019"/>
                    </a:ext>
                  </a:extLst>
                </a:gridCol>
              </a:tblGrid>
              <a:tr h="285752">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0"/>
                  </a:ext>
                </a:extLst>
              </a:tr>
              <a:tr h="1129358">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latin typeface="微软雅黑" panose="020B0503020204020204" charset="-122"/>
                          <a:ea typeface="微软雅黑" panose="020B0503020204020204" charset="-122"/>
                        </a:rPr>
                        <a:t>销售计划准确率</a:t>
                      </a:r>
                    </a:p>
                    <a:p>
                      <a:pPr algn="ctr"/>
                      <a:endParaRPr lang="zh-CN" altLang="en-US" sz="1100" dirty="0">
                        <a:latin typeface="微软雅黑" panose="020B0503020204020204" charset="-122"/>
                        <a:ea typeface="微软雅黑" panose="020B0503020204020204" charset="-122"/>
                      </a:endParaRPr>
                    </a:p>
                  </a:txBody>
                  <a:tcPr/>
                </a:tc>
                <a:tc>
                  <a:txBody>
                    <a:bodyPr/>
                    <a:lstStyle/>
                    <a:p>
                      <a:pPr algn="ctr"/>
                      <a:r>
                        <a:rPr lang="en-US" altLang="zh-CN" sz="1100" dirty="0">
                          <a:latin typeface="微软雅黑" panose="020B0503020204020204" charset="-122"/>
                          <a:ea typeface="微软雅黑" panose="020B0503020204020204" charset="-122"/>
                        </a:rPr>
                        <a:t>3</a:t>
                      </a:r>
                    </a:p>
                    <a:p>
                      <a:pPr algn="ctr"/>
                      <a:r>
                        <a:rPr lang="zh-CN" altLang="en-US" sz="1100" dirty="0">
                          <a:latin typeface="微软雅黑" panose="020B0503020204020204" charset="-122"/>
                          <a:ea typeface="微软雅黑" panose="020B0503020204020204" charset="-122"/>
                        </a:rPr>
                        <a:t>日上线计划准确率</a:t>
                      </a:r>
                    </a:p>
                  </a:txBody>
                  <a:tcPr/>
                </a:tc>
                <a:tc>
                  <a:txBody>
                    <a:bodyPr/>
                    <a:lstStyle/>
                    <a:p>
                      <a:pPr algn="ctr"/>
                      <a:r>
                        <a:rPr lang="zh-CN" altLang="en-US" sz="1100" dirty="0">
                          <a:latin typeface="微软雅黑" panose="020B0503020204020204" charset="-122"/>
                          <a:ea typeface="微软雅黑" panose="020B0503020204020204" charset="-122"/>
                        </a:rPr>
                        <a:t>自制保供率</a:t>
                      </a:r>
                    </a:p>
                  </a:txBody>
                  <a:tcPr/>
                </a:tc>
                <a:tc>
                  <a:txBody>
                    <a:bodyPr/>
                    <a:lstStyle/>
                    <a:p>
                      <a:pPr algn="ctr"/>
                      <a:r>
                        <a:rPr lang="zh-CN" altLang="en-US" sz="1100" dirty="0">
                          <a:latin typeface="微软雅黑" panose="020B0503020204020204" charset="-122"/>
                          <a:ea typeface="微软雅黑" panose="020B0503020204020204" charset="-122"/>
                        </a:rPr>
                        <a:t>保内故障率</a:t>
                      </a:r>
                    </a:p>
                  </a:txBody>
                  <a:tcPr/>
                </a:tc>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algn="ctr"/>
                      <a:r>
                        <a:rPr lang="zh-CN" altLang="en-US" sz="1100" dirty="0">
                          <a:latin typeface="微软雅黑" panose="020B0503020204020204" charset="-122"/>
                          <a:ea typeface="微软雅黑" panose="020B0503020204020204" charset="-122"/>
                        </a:rPr>
                        <a:t>生产计划完成率</a:t>
                      </a:r>
                    </a:p>
                  </a:txBody>
                  <a:tcPr/>
                </a:tc>
                <a:tc>
                  <a:txBody>
                    <a:bodyPr/>
                    <a:lstStyle/>
                    <a:p>
                      <a:pPr algn="ctr"/>
                      <a:r>
                        <a:rPr lang="zh-CN" altLang="en-US" sz="1100" dirty="0">
                          <a:latin typeface="微软雅黑" panose="020B0503020204020204" charset="-122"/>
                          <a:ea typeface="微软雅黑" panose="020B0503020204020204" charset="-122"/>
                        </a:rPr>
                        <a:t>主机交付及时率</a:t>
                      </a:r>
                    </a:p>
                  </a:txBody>
                  <a:tcPr/>
                </a:tc>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algn="ctr"/>
                      <a:r>
                        <a:rPr lang="zh-CN" altLang="en-US" sz="1100" dirty="0">
                          <a:latin typeface="微软雅黑" panose="020B0503020204020204" charset="-122"/>
                          <a:ea typeface="微软雅黑" panose="020B0503020204020204" charset="-122"/>
                        </a:rPr>
                        <a:t>存货周转率</a:t>
                      </a:r>
                      <a:endParaRPr lang="en-US" altLang="zh-CN" sz="1100" dirty="0">
                        <a:latin typeface="微软雅黑" panose="020B0503020204020204" charset="-122"/>
                        <a:ea typeface="微软雅黑" panose="020B0503020204020204" charset="-122"/>
                      </a:endParaRPr>
                    </a:p>
                    <a:p>
                      <a:pPr algn="ctr"/>
                      <a:r>
                        <a:rPr lang="en-US" altLang="zh-CN" sz="1100" dirty="0">
                          <a:latin typeface="微软雅黑" panose="020B0503020204020204" charset="-122"/>
                          <a:ea typeface="微软雅黑" panose="020B0503020204020204" charset="-122"/>
                        </a:rPr>
                        <a:t>/</a:t>
                      </a:r>
                    </a:p>
                    <a:p>
                      <a:pPr algn="ctr"/>
                      <a:r>
                        <a:rPr lang="zh-CN" altLang="en-US" sz="1100" dirty="0">
                          <a:latin typeface="微软雅黑" panose="020B0503020204020204" charset="-122"/>
                          <a:ea typeface="微软雅黑" panose="020B0503020204020204" charset="-122"/>
                        </a:rPr>
                        <a:t>存货余额</a:t>
                      </a:r>
                    </a:p>
                  </a:txBody>
                  <a:tcPr/>
                </a:tc>
                <a:tc>
                  <a:txBody>
                    <a:bodyPr/>
                    <a:lstStyle/>
                    <a:p>
                      <a:pPr algn="ctr"/>
                      <a:r>
                        <a:rPr lang="zh-CN" altLang="en-US" sz="1100" dirty="0">
                          <a:latin typeface="微软雅黑" panose="020B0503020204020204" charset="-122"/>
                          <a:ea typeface="微软雅黑" panose="020B0503020204020204" charset="-122"/>
                        </a:rPr>
                        <a:t>呆滞存货</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latin typeface="微软雅黑" panose="020B0503020204020204" charset="-122"/>
                          <a:ea typeface="微软雅黑" panose="020B0503020204020204" charset="-122"/>
                        </a:rPr>
                        <a:t>存货周转率</a:t>
                      </a:r>
                      <a:endParaRPr lang="en-US" altLang="zh-CN" sz="1100" dirty="0">
                        <a:latin typeface="微软雅黑" panose="020B0503020204020204" charset="-122"/>
                        <a:ea typeface="微软雅黑" panose="020B0503020204020204" charset="-122"/>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100" dirty="0">
                          <a:latin typeface="微软雅黑" panose="020B0503020204020204" charset="-122"/>
                          <a:ea typeface="微软雅黑" panose="020B0503020204020204" charset="-122"/>
                        </a:rPr>
                        <a:t>/</a:t>
                      </a:r>
                    </a:p>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latin typeface="微软雅黑" panose="020B0503020204020204" charset="-122"/>
                          <a:ea typeface="微软雅黑" panose="020B0503020204020204" charset="-122"/>
                        </a:rPr>
                        <a:t>存货余额</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latin typeface="微软雅黑" panose="020B0503020204020204" charset="-122"/>
                          <a:ea typeface="微软雅黑" panose="020B0503020204020204" charset="-122"/>
                        </a:rPr>
                        <a:t>呆滞存货</a:t>
                      </a:r>
                    </a:p>
                  </a:txBody>
                  <a:tcPr/>
                </a:tc>
                <a:tc>
                  <a:txBody>
                    <a:bodyPr/>
                    <a:lstStyle/>
                    <a:p>
                      <a:pPr algn="ctr"/>
                      <a:endParaRPr lang="zh-CN" altLang="en-US" sz="1100" dirty="0">
                        <a:latin typeface="微软雅黑" panose="020B0503020204020204" charset="-122"/>
                        <a:ea typeface="微软雅黑" panose="020B0503020204020204" charset="-122"/>
                      </a:endParaRPr>
                    </a:p>
                  </a:txBody>
                  <a:tcPr/>
                </a:tc>
                <a:tc>
                  <a:txBody>
                    <a:bodyPr/>
                    <a:lstStyle/>
                    <a:p>
                      <a:pPr algn="ctr"/>
                      <a:endParaRPr lang="zh-CN" altLang="en-US" sz="11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1"/>
                  </a:ext>
                </a:extLst>
              </a:tr>
            </a:tbl>
          </a:graphicData>
        </a:graphic>
      </p:graphicFrame>
      <p:sp>
        <p:nvSpPr>
          <p:cNvPr id="270" name="椭圆 269"/>
          <p:cNvSpPr/>
          <p:nvPr/>
        </p:nvSpPr>
        <p:spPr bwMode="auto">
          <a:xfrm>
            <a:off x="1714480" y="4475170"/>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271" name="椭圆 270"/>
          <p:cNvSpPr/>
          <p:nvPr/>
        </p:nvSpPr>
        <p:spPr bwMode="auto">
          <a:xfrm>
            <a:off x="2571736" y="4488552"/>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57" name="椭圆 56"/>
          <p:cNvSpPr/>
          <p:nvPr/>
        </p:nvSpPr>
        <p:spPr bwMode="auto">
          <a:xfrm>
            <a:off x="4286248" y="4503066"/>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58" name="椭圆 57"/>
          <p:cNvSpPr/>
          <p:nvPr/>
        </p:nvSpPr>
        <p:spPr bwMode="auto">
          <a:xfrm>
            <a:off x="4714876" y="4503066"/>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59" name="椭圆 58"/>
          <p:cNvSpPr/>
          <p:nvPr/>
        </p:nvSpPr>
        <p:spPr bwMode="auto">
          <a:xfrm>
            <a:off x="6437478" y="4503066"/>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60" name="椭圆 59"/>
          <p:cNvSpPr/>
          <p:nvPr/>
        </p:nvSpPr>
        <p:spPr bwMode="auto">
          <a:xfrm>
            <a:off x="6848944" y="4503066"/>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61" name="椭圆 60"/>
          <p:cNvSpPr/>
          <p:nvPr/>
        </p:nvSpPr>
        <p:spPr bwMode="auto">
          <a:xfrm>
            <a:off x="7281200" y="4503066"/>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62" name="椭圆 61"/>
          <p:cNvSpPr/>
          <p:nvPr/>
        </p:nvSpPr>
        <p:spPr bwMode="auto">
          <a:xfrm>
            <a:off x="7704086" y="4503066"/>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88" name="矩形 87"/>
          <p:cNvSpPr/>
          <p:nvPr/>
        </p:nvSpPr>
        <p:spPr bwMode="auto">
          <a:xfrm>
            <a:off x="5057271" y="2332030"/>
            <a:ext cx="324000" cy="1958542"/>
          </a:xfrm>
          <a:prstGeom prst="rect">
            <a:avLst/>
          </a:prstGeom>
          <a:noFill/>
          <a:ln>
            <a:solidFill>
              <a:schemeClr val="bg1">
                <a:lumMod val="65000"/>
              </a:schemeClr>
            </a:solidFill>
          </a:ln>
        </p:spPr>
        <p:txBody>
          <a:bodyPr wrap="square" lIns="72000" tIns="72000" rIns="72000" anchor="t">
            <a:noAutofit/>
          </a:bodyPr>
          <a:lstStyle/>
          <a:p>
            <a:pPr lvl="0" indent="-117475" algn="ctr">
              <a:buClr>
                <a:srgbClr val="C00000"/>
              </a:buClr>
            </a:pPr>
            <a:r>
              <a:rPr lang="zh-CN" altLang="en-US" sz="1100" b="1" dirty="0">
                <a:solidFill>
                  <a:schemeClr val="accent1"/>
                </a:solidFill>
                <a:latin typeface="微软雅黑" panose="020B0503020204020204" charset="-122"/>
                <a:ea typeface="微软雅黑" panose="020B0503020204020204" charset="-122"/>
              </a:rPr>
              <a:t>百台产品缺陷项次</a:t>
            </a:r>
          </a:p>
        </p:txBody>
      </p:sp>
      <p:cxnSp>
        <p:nvCxnSpPr>
          <p:cNvPr id="98" name="肘形连接符 97"/>
          <p:cNvCxnSpPr>
            <a:stCxn id="110" idx="2"/>
            <a:endCxn id="155" idx="0"/>
          </p:cNvCxnSpPr>
          <p:nvPr/>
        </p:nvCxnSpPr>
        <p:spPr bwMode="auto">
          <a:xfrm rot="16200000" flipH="1">
            <a:off x="4276561" y="1805931"/>
            <a:ext cx="178242" cy="852611"/>
          </a:xfrm>
          <a:prstGeom prst="bentConnector3">
            <a:avLst>
              <a:gd name="adj1" fmla="val 50000"/>
            </a:avLst>
          </a:prstGeom>
          <a:solidFill>
            <a:schemeClr val="accent1"/>
          </a:solidFill>
          <a:ln w="9525" cap="flat" cmpd="sng" algn="ctr">
            <a:solidFill>
              <a:schemeClr val="bg1">
                <a:lumMod val="65000"/>
              </a:schemeClr>
            </a:solidFill>
            <a:prstDash val="solid"/>
            <a:round/>
            <a:headEnd type="none" w="med" len="med"/>
            <a:tailEnd type="none"/>
          </a:ln>
          <a:effectLst/>
        </p:spPr>
      </p:cxnSp>
      <p:sp>
        <p:nvSpPr>
          <p:cNvPr id="66" name="椭圆 65"/>
          <p:cNvSpPr/>
          <p:nvPr/>
        </p:nvSpPr>
        <p:spPr bwMode="auto">
          <a:xfrm>
            <a:off x="2123984" y="4475170"/>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67" name="椭圆 66"/>
          <p:cNvSpPr/>
          <p:nvPr/>
        </p:nvSpPr>
        <p:spPr bwMode="auto">
          <a:xfrm>
            <a:off x="2981240" y="4486056"/>
            <a:ext cx="162000" cy="162000"/>
          </a:xfrm>
          <a:prstGeom prst="ellipse">
            <a:avLst/>
          </a:prstGeom>
          <a:solidFill>
            <a:schemeClr val="tx1"/>
          </a:solid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68" name="TextBox 67"/>
          <p:cNvSpPr txBox="1"/>
          <p:nvPr/>
        </p:nvSpPr>
        <p:spPr bwMode="auto">
          <a:xfrm>
            <a:off x="-14514" y="4714884"/>
            <a:ext cx="389850" cy="1569660"/>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现</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有</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考</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核</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指</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标</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组合 104"/>
          <p:cNvGrpSpPr/>
          <p:nvPr/>
        </p:nvGrpSpPr>
        <p:grpSpPr>
          <a:xfrm>
            <a:off x="1643041" y="1508112"/>
            <a:ext cx="7000925" cy="4041788"/>
            <a:chOff x="1643041" y="1508112"/>
            <a:chExt cx="7000925" cy="3286148"/>
          </a:xfrm>
        </p:grpSpPr>
        <p:sp>
          <p:nvSpPr>
            <p:cNvPr id="31" name="五边形 30"/>
            <p:cNvSpPr/>
            <p:nvPr/>
          </p:nvSpPr>
          <p:spPr bwMode="auto">
            <a:xfrm>
              <a:off x="3929058" y="1508112"/>
              <a:ext cx="4714908" cy="1214446"/>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5.5</a:t>
              </a:r>
              <a:r>
                <a:rPr lang="zh-CN" altLang="en-US" sz="1100" b="1" dirty="0">
                  <a:solidFill>
                    <a:srgbClr val="000000"/>
                  </a:solidFill>
                  <a:latin typeface="微软雅黑" panose="020B0503020204020204" charset="-122"/>
                  <a:ea typeface="微软雅黑" panose="020B0503020204020204" charset="-122"/>
                </a:rPr>
                <a:t>采购执行</a:t>
              </a:r>
            </a:p>
          </p:txBody>
        </p:sp>
        <p:sp>
          <p:nvSpPr>
            <p:cNvPr id="28" name="五边形 27"/>
            <p:cNvSpPr/>
            <p:nvPr/>
          </p:nvSpPr>
          <p:spPr bwMode="auto">
            <a:xfrm>
              <a:off x="1643042" y="1508112"/>
              <a:ext cx="2214578" cy="1215131"/>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5.2</a:t>
              </a:r>
              <a:r>
                <a:rPr lang="zh-CN" altLang="en-US" sz="1100" b="1" dirty="0">
                  <a:solidFill>
                    <a:srgbClr val="000000"/>
                  </a:solidFill>
                  <a:latin typeface="微软雅黑" panose="020B0503020204020204" charset="-122"/>
                  <a:ea typeface="微软雅黑" panose="020B0503020204020204" charset="-122"/>
                </a:rPr>
                <a:t>供应链计划管理</a:t>
              </a:r>
            </a:p>
          </p:txBody>
        </p:sp>
        <p:sp>
          <p:nvSpPr>
            <p:cNvPr id="10" name="五边形 9"/>
            <p:cNvSpPr/>
            <p:nvPr/>
          </p:nvSpPr>
          <p:spPr bwMode="auto">
            <a:xfrm>
              <a:off x="4075277" y="2327720"/>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5.5.1</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计划管理</a:t>
              </a:r>
            </a:p>
          </p:txBody>
        </p:sp>
        <p:sp>
          <p:nvSpPr>
            <p:cNvPr id="11" name="五边形 10"/>
            <p:cNvSpPr/>
            <p:nvPr/>
          </p:nvSpPr>
          <p:spPr bwMode="auto">
            <a:xfrm>
              <a:off x="1735117" y="2327720"/>
              <a:ext cx="835145"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5.2.3</a:t>
              </a:r>
              <a:r>
                <a:rPr lang="zh-CN" altLang="en-US" sz="900" dirty="0">
                  <a:solidFill>
                    <a:srgbClr val="000000"/>
                  </a:solidFill>
                  <a:latin typeface="微软雅黑" panose="020B0503020204020204" charset="-122"/>
                  <a:ea typeface="微软雅黑" panose="020B0503020204020204" charset="-122"/>
                </a:rPr>
                <a:t>资源</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配置</a:t>
              </a:r>
            </a:p>
          </p:txBody>
        </p:sp>
        <p:sp>
          <p:nvSpPr>
            <p:cNvPr id="12" name="五边形 11"/>
            <p:cNvSpPr/>
            <p:nvPr/>
          </p:nvSpPr>
          <p:spPr bwMode="auto">
            <a:xfrm>
              <a:off x="2879544" y="2327720"/>
              <a:ext cx="835200" cy="313200"/>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5.2.4</a:t>
              </a:r>
              <a:r>
                <a:rPr lang="zh-CN" altLang="en-US" sz="900" dirty="0">
                  <a:solidFill>
                    <a:srgbClr val="000000"/>
                  </a:solidFill>
                  <a:latin typeface="微软雅黑" panose="020B0503020204020204" charset="-122"/>
                  <a:ea typeface="微软雅黑" panose="020B0503020204020204" charset="-122"/>
                </a:rPr>
                <a:t>生产</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计划创建</a:t>
              </a:r>
            </a:p>
          </p:txBody>
        </p:sp>
        <p:sp>
          <p:nvSpPr>
            <p:cNvPr id="14" name="五边形 13"/>
            <p:cNvSpPr/>
            <p:nvPr/>
          </p:nvSpPr>
          <p:spPr bwMode="auto">
            <a:xfrm>
              <a:off x="2878126" y="1831964"/>
              <a:ext cx="836618"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5.2.2</a:t>
              </a:r>
              <a:r>
                <a:rPr lang="zh-CN" altLang="en-US" sz="900" dirty="0">
                  <a:solidFill>
                    <a:srgbClr val="000000"/>
                  </a:solidFill>
                  <a:latin typeface="微软雅黑" panose="020B0503020204020204" charset="-122"/>
                  <a:ea typeface="微软雅黑" panose="020B0503020204020204" charset="-122"/>
                </a:rPr>
                <a:t>需求</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计划制定</a:t>
              </a:r>
            </a:p>
          </p:txBody>
        </p:sp>
        <p:sp>
          <p:nvSpPr>
            <p:cNvPr id="32" name="五边形 31"/>
            <p:cNvSpPr/>
            <p:nvPr/>
          </p:nvSpPr>
          <p:spPr bwMode="auto">
            <a:xfrm>
              <a:off x="4533900" y="2793996"/>
              <a:ext cx="4110066" cy="2000264"/>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5.6</a:t>
              </a:r>
              <a:r>
                <a:rPr lang="zh-CN" altLang="en-US" sz="1100" b="1" dirty="0">
                  <a:solidFill>
                    <a:srgbClr val="000000"/>
                  </a:solidFill>
                  <a:latin typeface="微软雅黑" panose="020B0503020204020204" charset="-122"/>
                  <a:ea typeface="微软雅黑" panose="020B0503020204020204" charset="-122"/>
                </a:rPr>
                <a:t>物流管理</a:t>
              </a:r>
            </a:p>
          </p:txBody>
        </p:sp>
        <p:sp>
          <p:nvSpPr>
            <p:cNvPr id="33" name="五边形 32"/>
            <p:cNvSpPr/>
            <p:nvPr/>
          </p:nvSpPr>
          <p:spPr bwMode="auto">
            <a:xfrm>
              <a:off x="1643041" y="2793996"/>
              <a:ext cx="2824183" cy="2000264"/>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5.7</a:t>
              </a:r>
              <a:r>
                <a:rPr lang="zh-CN" altLang="en-US" sz="1100" b="1" dirty="0">
                  <a:solidFill>
                    <a:srgbClr val="000000"/>
                  </a:solidFill>
                  <a:latin typeface="微软雅黑" panose="020B0503020204020204" charset="-122"/>
                  <a:ea typeface="微软雅黑" panose="020B0503020204020204" charset="-122"/>
                </a:rPr>
                <a:t>制造管理</a:t>
              </a:r>
            </a:p>
          </p:txBody>
        </p:sp>
        <p:sp>
          <p:nvSpPr>
            <p:cNvPr id="34" name="五边形 33"/>
            <p:cNvSpPr/>
            <p:nvPr/>
          </p:nvSpPr>
          <p:spPr bwMode="auto">
            <a:xfrm>
              <a:off x="5023021" y="2327720"/>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5.5.2</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订单管理</a:t>
              </a:r>
            </a:p>
          </p:txBody>
        </p:sp>
        <p:sp>
          <p:nvSpPr>
            <p:cNvPr id="35" name="五边形 34"/>
            <p:cNvSpPr/>
            <p:nvPr/>
          </p:nvSpPr>
          <p:spPr bwMode="auto">
            <a:xfrm>
              <a:off x="4075276" y="1831964"/>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5.5.3</a:t>
              </a:r>
              <a:r>
                <a:rPr lang="zh-CN" altLang="en-US" sz="900" dirty="0">
                  <a:solidFill>
                    <a:srgbClr val="000000"/>
                  </a:solidFill>
                  <a:latin typeface="微软雅黑" panose="020B0503020204020204" charset="-122"/>
                  <a:ea typeface="微软雅黑" panose="020B0503020204020204" charset="-122"/>
                </a:rPr>
                <a:t>物资</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进口</a:t>
              </a:r>
            </a:p>
          </p:txBody>
        </p:sp>
        <p:sp>
          <p:nvSpPr>
            <p:cNvPr id="36" name="五边形 35"/>
            <p:cNvSpPr/>
            <p:nvPr/>
          </p:nvSpPr>
          <p:spPr bwMode="auto">
            <a:xfrm>
              <a:off x="4985275" y="1831964"/>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5.5.4</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异常管理</a:t>
              </a:r>
            </a:p>
          </p:txBody>
        </p:sp>
        <p:sp>
          <p:nvSpPr>
            <p:cNvPr id="37" name="五边形 36"/>
            <p:cNvSpPr/>
            <p:nvPr/>
          </p:nvSpPr>
          <p:spPr bwMode="auto">
            <a:xfrm>
              <a:off x="5904798" y="1831964"/>
              <a:ext cx="953217"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5.5.5</a:t>
              </a:r>
              <a:r>
                <a:rPr lang="zh-CN" altLang="en-US" sz="900" dirty="0">
                  <a:solidFill>
                    <a:srgbClr val="000000"/>
                  </a:solidFill>
                  <a:latin typeface="微软雅黑" panose="020B0503020204020204" charset="-122"/>
                  <a:ea typeface="微软雅黑" panose="020B0503020204020204" charset="-122"/>
                </a:rPr>
                <a:t>采购报账</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付款</a:t>
              </a:r>
            </a:p>
          </p:txBody>
        </p:sp>
        <p:sp>
          <p:nvSpPr>
            <p:cNvPr id="38" name="五边形 37"/>
            <p:cNvSpPr/>
            <p:nvPr/>
          </p:nvSpPr>
          <p:spPr bwMode="auto">
            <a:xfrm>
              <a:off x="5904799" y="2327720"/>
              <a:ext cx="928694"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5.5.6</a:t>
              </a:r>
              <a:r>
                <a:rPr lang="zh-CN" altLang="en-US" sz="900" dirty="0">
                  <a:solidFill>
                    <a:srgbClr val="000000"/>
                  </a:solidFill>
                  <a:latin typeface="微软雅黑" panose="020B0503020204020204" charset="-122"/>
                  <a:ea typeface="微软雅黑" panose="020B0503020204020204" charset="-122"/>
                </a:rPr>
                <a:t>废旧及呆滞物资处理</a:t>
              </a:r>
            </a:p>
          </p:txBody>
        </p:sp>
        <p:sp>
          <p:nvSpPr>
            <p:cNvPr id="39" name="五边形 38"/>
            <p:cNvSpPr/>
            <p:nvPr/>
          </p:nvSpPr>
          <p:spPr bwMode="auto">
            <a:xfrm>
              <a:off x="6929454" y="1831964"/>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5.5.7</a:t>
              </a:r>
              <a:r>
                <a:rPr lang="zh-CN" altLang="en-US" sz="900" dirty="0">
                  <a:solidFill>
                    <a:srgbClr val="000000"/>
                  </a:solidFill>
                  <a:latin typeface="微软雅黑" panose="020B0503020204020204" charset="-122"/>
                  <a:ea typeface="微软雅黑" panose="020B0503020204020204" charset="-122"/>
                </a:rPr>
                <a:t>合同</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0" name="五边形 39"/>
            <p:cNvSpPr/>
            <p:nvPr/>
          </p:nvSpPr>
          <p:spPr bwMode="auto">
            <a:xfrm>
              <a:off x="6929454" y="2327720"/>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5.5.8</a:t>
              </a:r>
              <a:r>
                <a:rPr lang="zh-CN" altLang="en-US" sz="900" dirty="0">
                  <a:solidFill>
                    <a:srgbClr val="000000"/>
                  </a:solidFill>
                  <a:latin typeface="微软雅黑" panose="020B0503020204020204" charset="-122"/>
                  <a:ea typeface="微软雅黑" panose="020B0503020204020204" charset="-122"/>
                </a:rPr>
                <a:t>合规</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1" name="五边形 40"/>
            <p:cNvSpPr/>
            <p:nvPr/>
          </p:nvSpPr>
          <p:spPr bwMode="auto">
            <a:xfrm>
              <a:off x="7780528" y="1831964"/>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5.5.9</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数据管理</a:t>
              </a:r>
            </a:p>
          </p:txBody>
        </p:sp>
        <p:sp>
          <p:nvSpPr>
            <p:cNvPr id="42" name="五边形 41"/>
            <p:cNvSpPr/>
            <p:nvPr/>
          </p:nvSpPr>
          <p:spPr bwMode="auto">
            <a:xfrm>
              <a:off x="4652963" y="4365632"/>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5.6.1</a:t>
              </a:r>
              <a:r>
                <a:rPr lang="zh-CN" altLang="en-US" sz="900" dirty="0">
                  <a:solidFill>
                    <a:srgbClr val="000000"/>
                  </a:solidFill>
                  <a:latin typeface="微软雅黑" panose="020B0503020204020204" charset="-122"/>
                  <a:ea typeface="微软雅黑" panose="020B0503020204020204" charset="-122"/>
                </a:rPr>
                <a:t>物流运营</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规划</a:t>
              </a:r>
            </a:p>
          </p:txBody>
        </p:sp>
        <p:sp>
          <p:nvSpPr>
            <p:cNvPr id="43" name="五边形 42"/>
            <p:cNvSpPr/>
            <p:nvPr/>
          </p:nvSpPr>
          <p:spPr bwMode="auto">
            <a:xfrm>
              <a:off x="4652963" y="3141661"/>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5.6.2</a:t>
              </a:r>
              <a:r>
                <a:rPr lang="zh-CN" altLang="en-US" sz="900" dirty="0">
                  <a:solidFill>
                    <a:srgbClr val="000000"/>
                  </a:solidFill>
                  <a:latin typeface="微软雅黑" panose="020B0503020204020204" charset="-122"/>
                  <a:ea typeface="微软雅黑" panose="020B0503020204020204" charset="-122"/>
                </a:rPr>
                <a:t>入厂物流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计划执行</a:t>
              </a:r>
            </a:p>
          </p:txBody>
        </p:sp>
        <p:sp>
          <p:nvSpPr>
            <p:cNvPr id="44" name="五边形 43"/>
            <p:cNvSpPr/>
            <p:nvPr/>
          </p:nvSpPr>
          <p:spPr bwMode="auto">
            <a:xfrm>
              <a:off x="6028892" y="3141661"/>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5.6.3</a:t>
              </a:r>
              <a:r>
                <a:rPr lang="zh-CN" altLang="en-US" sz="900" dirty="0">
                  <a:solidFill>
                    <a:srgbClr val="000000"/>
                  </a:solidFill>
                  <a:latin typeface="微软雅黑" panose="020B0503020204020204" charset="-122"/>
                  <a:ea typeface="微软雅黑" panose="020B0503020204020204" charset="-122"/>
                </a:rPr>
                <a:t>入厂物流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5" name="五边形 44"/>
            <p:cNvSpPr/>
            <p:nvPr/>
          </p:nvSpPr>
          <p:spPr bwMode="auto">
            <a:xfrm>
              <a:off x="4652963" y="3651252"/>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5.6.4</a:t>
              </a:r>
              <a:r>
                <a:rPr lang="zh-CN" altLang="en-US" sz="900" dirty="0">
                  <a:solidFill>
                    <a:srgbClr val="000000"/>
                  </a:solidFill>
                  <a:latin typeface="微软雅黑" panose="020B0503020204020204" charset="-122"/>
                  <a:ea typeface="微软雅黑" panose="020B0503020204020204" charset="-122"/>
                </a:rPr>
                <a:t>仓库管理</a:t>
              </a:r>
            </a:p>
          </p:txBody>
        </p:sp>
        <p:sp>
          <p:nvSpPr>
            <p:cNvPr id="47" name="五边形 46"/>
            <p:cNvSpPr/>
            <p:nvPr/>
          </p:nvSpPr>
          <p:spPr bwMode="auto">
            <a:xfrm>
              <a:off x="7428624" y="3143248"/>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5.6.5</a:t>
              </a:r>
              <a:r>
                <a:rPr lang="zh-CN" altLang="en-US" sz="900" dirty="0">
                  <a:solidFill>
                    <a:srgbClr val="000000"/>
                  </a:solidFill>
                  <a:latin typeface="微软雅黑" panose="020B0503020204020204" charset="-122"/>
                  <a:ea typeface="微软雅黑" panose="020B0503020204020204" charset="-122"/>
                </a:rPr>
                <a:t>出厂物流计划执行</a:t>
              </a:r>
            </a:p>
          </p:txBody>
        </p:sp>
        <p:sp>
          <p:nvSpPr>
            <p:cNvPr id="48" name="五边形 47"/>
            <p:cNvSpPr/>
            <p:nvPr/>
          </p:nvSpPr>
          <p:spPr bwMode="auto">
            <a:xfrm>
              <a:off x="7428624" y="3651252"/>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5.6.6</a:t>
              </a:r>
              <a:r>
                <a:rPr lang="zh-CN" altLang="en-US" sz="900" dirty="0">
                  <a:solidFill>
                    <a:srgbClr val="000000"/>
                  </a:solidFill>
                  <a:latin typeface="微软雅黑" panose="020B0503020204020204" charset="-122"/>
                  <a:ea typeface="微软雅黑" panose="020B0503020204020204" charset="-122"/>
                </a:rPr>
                <a:t>出厂物流管理</a:t>
              </a:r>
            </a:p>
          </p:txBody>
        </p:sp>
        <p:sp>
          <p:nvSpPr>
            <p:cNvPr id="49" name="五边形 48"/>
            <p:cNvSpPr/>
            <p:nvPr/>
          </p:nvSpPr>
          <p:spPr bwMode="auto">
            <a:xfrm>
              <a:off x="5991434" y="4365632"/>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5.6.7</a:t>
              </a:r>
              <a:r>
                <a:rPr lang="zh-CN" altLang="en-US" sz="900" dirty="0">
                  <a:solidFill>
                    <a:srgbClr val="000000"/>
                  </a:solidFill>
                  <a:latin typeface="微软雅黑" panose="020B0503020204020204" charset="-122"/>
                  <a:ea typeface="微软雅黑" panose="020B0503020204020204" charset="-122"/>
                </a:rPr>
                <a:t>逆向物流</a:t>
              </a:r>
            </a:p>
          </p:txBody>
        </p:sp>
        <p:sp>
          <p:nvSpPr>
            <p:cNvPr id="50" name="五边形 49"/>
            <p:cNvSpPr/>
            <p:nvPr/>
          </p:nvSpPr>
          <p:spPr bwMode="auto">
            <a:xfrm>
              <a:off x="1735118" y="3131683"/>
              <a:ext cx="1114433"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5.7.1</a:t>
              </a:r>
              <a:r>
                <a:rPr lang="zh-CN" altLang="en-US" sz="900" dirty="0">
                  <a:solidFill>
                    <a:srgbClr val="000000"/>
                  </a:solidFill>
                  <a:latin typeface="微软雅黑" panose="020B0503020204020204" charset="-122"/>
                  <a:ea typeface="微软雅黑" panose="020B0503020204020204" charset="-122"/>
                </a:rPr>
                <a:t>制定工作中心小日程计划 </a:t>
              </a:r>
            </a:p>
          </p:txBody>
        </p:sp>
        <p:sp>
          <p:nvSpPr>
            <p:cNvPr id="51" name="五边形 50"/>
            <p:cNvSpPr/>
            <p:nvPr/>
          </p:nvSpPr>
          <p:spPr bwMode="auto">
            <a:xfrm>
              <a:off x="3357554" y="3137717"/>
              <a:ext cx="1000132"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5.7.2</a:t>
              </a:r>
              <a:r>
                <a:rPr lang="zh-CN" altLang="en-US" sz="900" dirty="0">
                  <a:solidFill>
                    <a:srgbClr val="000000"/>
                  </a:solidFill>
                  <a:latin typeface="微软雅黑" panose="020B0503020204020204" charset="-122"/>
                  <a:ea typeface="微软雅黑" panose="020B0503020204020204" charset="-122"/>
                </a:rPr>
                <a:t>厂内物流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及配送</a:t>
              </a:r>
            </a:p>
          </p:txBody>
        </p:sp>
        <p:sp>
          <p:nvSpPr>
            <p:cNvPr id="53" name="五边形 52"/>
            <p:cNvSpPr/>
            <p:nvPr/>
          </p:nvSpPr>
          <p:spPr bwMode="auto">
            <a:xfrm>
              <a:off x="3357554" y="3937004"/>
              <a:ext cx="1000132"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5.7.4</a:t>
              </a:r>
              <a:r>
                <a:rPr lang="zh-CN" altLang="en-US" sz="900" dirty="0">
                  <a:solidFill>
                    <a:srgbClr val="000000"/>
                  </a:solidFill>
                  <a:latin typeface="微软雅黑" panose="020B0503020204020204" charset="-122"/>
                  <a:ea typeface="微软雅黑" panose="020B0503020204020204" charset="-122"/>
                </a:rPr>
                <a:t>制造过程</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56" name="五边形 55"/>
            <p:cNvSpPr/>
            <p:nvPr/>
          </p:nvSpPr>
          <p:spPr bwMode="auto">
            <a:xfrm>
              <a:off x="3357554" y="4365632"/>
              <a:ext cx="1000132"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5.7.7</a:t>
              </a:r>
              <a:r>
                <a:rPr lang="zh-CN" altLang="en-US" sz="900" dirty="0">
                  <a:solidFill>
                    <a:srgbClr val="000000"/>
                  </a:solidFill>
                  <a:latin typeface="微软雅黑" panose="020B0503020204020204" charset="-122"/>
                  <a:ea typeface="微软雅黑" panose="020B0503020204020204" charset="-122"/>
                </a:rPr>
                <a:t>制造</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数据管理</a:t>
              </a:r>
            </a:p>
          </p:txBody>
        </p:sp>
        <p:cxnSp>
          <p:nvCxnSpPr>
            <p:cNvPr id="61" name="肘形连接符 60"/>
            <p:cNvCxnSpPr>
              <a:stCxn id="14" idx="2"/>
              <a:endCxn id="11" idx="0"/>
            </p:cNvCxnSpPr>
            <p:nvPr/>
          </p:nvCxnSpPr>
          <p:spPr bwMode="auto">
            <a:xfrm rot="5400000">
              <a:off x="2582776" y="1664497"/>
              <a:ext cx="182700" cy="1143746"/>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62" name="肘形连接符 61"/>
            <p:cNvCxnSpPr>
              <a:stCxn id="11" idx="3"/>
              <a:endCxn id="12" idx="1"/>
            </p:cNvCxnSpPr>
            <p:nvPr/>
          </p:nvCxnSpPr>
          <p:spPr bwMode="auto">
            <a:xfrm>
              <a:off x="2570262" y="2484248"/>
              <a:ext cx="309282" cy="7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67" name="肘形连接符 66"/>
            <p:cNvCxnSpPr>
              <a:stCxn id="12" idx="3"/>
              <a:endCxn id="10" idx="1"/>
            </p:cNvCxnSpPr>
            <p:nvPr/>
          </p:nvCxnSpPr>
          <p:spPr bwMode="auto">
            <a:xfrm>
              <a:off x="3714744" y="2484320"/>
              <a:ext cx="360533"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1" name="肘形连接符 70"/>
            <p:cNvCxnSpPr>
              <a:stCxn id="10" idx="3"/>
              <a:endCxn id="34" idx="1"/>
            </p:cNvCxnSpPr>
            <p:nvPr/>
          </p:nvCxnSpPr>
          <p:spPr bwMode="auto">
            <a:xfrm>
              <a:off x="4867277" y="2484320"/>
              <a:ext cx="155744"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4" name="肘形连接符 73"/>
            <p:cNvCxnSpPr>
              <a:stCxn id="34" idx="2"/>
              <a:endCxn id="44" idx="0"/>
            </p:cNvCxnSpPr>
            <p:nvPr/>
          </p:nvCxnSpPr>
          <p:spPr bwMode="auto">
            <a:xfrm rot="16200000" flipH="1">
              <a:off x="5666138" y="2343342"/>
              <a:ext cx="500741" cy="1095895"/>
            </a:xfrm>
            <a:prstGeom prst="bentConnector3">
              <a:avLst>
                <a:gd name="adj1" fmla="val 70290"/>
              </a:avLst>
            </a:prstGeom>
            <a:solidFill>
              <a:schemeClr val="accent1"/>
            </a:solidFill>
            <a:ln w="9525" cap="flat" cmpd="sng" algn="ctr">
              <a:solidFill>
                <a:schemeClr val="tx1"/>
              </a:solidFill>
              <a:prstDash val="solid"/>
              <a:round/>
              <a:headEnd type="none" w="med" len="med"/>
              <a:tailEnd type="arrow"/>
            </a:ln>
            <a:effectLst/>
          </p:spPr>
        </p:cxnSp>
        <p:cxnSp>
          <p:nvCxnSpPr>
            <p:cNvPr id="82" name="肘形连接符 73"/>
            <p:cNvCxnSpPr>
              <a:stCxn id="45" idx="1"/>
              <a:endCxn id="51" idx="3"/>
            </p:cNvCxnSpPr>
            <p:nvPr/>
          </p:nvCxnSpPr>
          <p:spPr bwMode="auto">
            <a:xfrm rot="10800000">
              <a:off x="4357687" y="3294246"/>
              <a:ext cx="295277" cy="513535"/>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88" name="肘形连接符 73"/>
            <p:cNvCxnSpPr>
              <a:stCxn id="51" idx="2"/>
              <a:endCxn id="53" idx="0"/>
            </p:cNvCxnSpPr>
            <p:nvPr/>
          </p:nvCxnSpPr>
          <p:spPr bwMode="auto">
            <a:xfrm rot="5400000">
              <a:off x="3564069" y="3693888"/>
              <a:ext cx="48623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2" name="肘形连接符 91"/>
            <p:cNvCxnSpPr>
              <a:stCxn id="44" idx="2"/>
              <a:endCxn id="45" idx="0"/>
            </p:cNvCxnSpPr>
            <p:nvPr/>
          </p:nvCxnSpPr>
          <p:spPr bwMode="auto">
            <a:xfrm rot="5400000">
              <a:off x="5678225" y="2865020"/>
              <a:ext cx="196535" cy="137592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95" name="肘形连接符 94"/>
            <p:cNvCxnSpPr>
              <a:stCxn id="43" idx="3"/>
              <a:endCxn id="44" idx="1"/>
            </p:cNvCxnSpPr>
            <p:nvPr/>
          </p:nvCxnSpPr>
          <p:spPr bwMode="auto">
            <a:xfrm>
              <a:off x="5624963" y="3298189"/>
              <a:ext cx="403929"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8" name="肘形连接符 97"/>
            <p:cNvCxnSpPr>
              <a:stCxn id="10" idx="2"/>
              <a:endCxn id="43" idx="0"/>
            </p:cNvCxnSpPr>
            <p:nvPr/>
          </p:nvCxnSpPr>
          <p:spPr bwMode="auto">
            <a:xfrm rot="16200000" flipH="1">
              <a:off x="4504302" y="2557435"/>
              <a:ext cx="500741" cy="667710"/>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1" name="肘形连接符 73"/>
            <p:cNvCxnSpPr>
              <a:stCxn id="12" idx="2"/>
              <a:endCxn id="50" idx="0"/>
            </p:cNvCxnSpPr>
            <p:nvPr/>
          </p:nvCxnSpPr>
          <p:spPr bwMode="auto">
            <a:xfrm rot="5400000">
              <a:off x="2498899" y="2383897"/>
              <a:ext cx="490763" cy="100480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4" name="肘形连接符 73"/>
            <p:cNvCxnSpPr>
              <a:stCxn id="50" idx="3"/>
              <a:endCxn id="53" idx="1"/>
            </p:cNvCxnSpPr>
            <p:nvPr/>
          </p:nvCxnSpPr>
          <p:spPr bwMode="auto">
            <a:xfrm>
              <a:off x="2849551" y="3288283"/>
              <a:ext cx="508003" cy="80524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9" name="肘形连接符 108"/>
            <p:cNvCxnSpPr>
              <a:stCxn id="53" idx="3"/>
              <a:endCxn id="48" idx="2"/>
            </p:cNvCxnSpPr>
            <p:nvPr/>
          </p:nvCxnSpPr>
          <p:spPr bwMode="auto">
            <a:xfrm flipV="1">
              <a:off x="4357686" y="3964308"/>
              <a:ext cx="3506502" cy="129224"/>
            </a:xfrm>
            <a:prstGeom prst="bentConnector2">
              <a:avLst/>
            </a:prstGeom>
            <a:solidFill>
              <a:schemeClr val="accent1"/>
            </a:solidFill>
            <a:ln w="9525" cap="flat" cmpd="sng" algn="ctr">
              <a:solidFill>
                <a:schemeClr val="tx1"/>
              </a:solidFill>
              <a:prstDash val="solid"/>
              <a:round/>
              <a:headEnd type="none" w="med" len="med"/>
              <a:tailEnd type="arrow"/>
            </a:ln>
            <a:effectLst/>
          </p:spPr>
        </p:cxnSp>
        <p:cxnSp>
          <p:nvCxnSpPr>
            <p:cNvPr id="114" name="肘形连接符 108"/>
            <p:cNvCxnSpPr>
              <a:stCxn id="47" idx="2"/>
              <a:endCxn id="48" idx="0"/>
            </p:cNvCxnSpPr>
            <p:nvPr/>
          </p:nvCxnSpPr>
          <p:spPr bwMode="auto">
            <a:xfrm rot="5400000">
              <a:off x="7766714" y="3553778"/>
              <a:ext cx="194948"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9" name="肘形连接符 108"/>
            <p:cNvCxnSpPr>
              <a:stCxn id="50" idx="2"/>
              <a:endCxn id="47" idx="3"/>
            </p:cNvCxnSpPr>
            <p:nvPr/>
          </p:nvCxnSpPr>
          <p:spPr bwMode="auto">
            <a:xfrm rot="5400000" flipH="1" flipV="1">
              <a:off x="5248695" y="292955"/>
              <a:ext cx="145107" cy="6158749"/>
            </a:xfrm>
            <a:prstGeom prst="bentConnector4">
              <a:avLst>
                <a:gd name="adj1" fmla="val -905593"/>
                <a:gd name="adj2" fmla="val 103712"/>
              </a:avLst>
            </a:prstGeom>
            <a:solidFill>
              <a:schemeClr val="accent1"/>
            </a:solidFill>
            <a:ln w="9525" cap="flat" cmpd="sng" algn="ctr">
              <a:solidFill>
                <a:schemeClr val="tx1"/>
              </a:solidFill>
              <a:prstDash val="solid"/>
              <a:round/>
              <a:headEnd type="none" w="med" len="med"/>
              <a:tailEnd type="arrow"/>
            </a:ln>
            <a:effectLst/>
          </p:spPr>
        </p:cxnSp>
        <p:sp>
          <p:nvSpPr>
            <p:cNvPr id="52" name="五边形 51"/>
            <p:cNvSpPr/>
            <p:nvPr/>
          </p:nvSpPr>
          <p:spPr bwMode="auto">
            <a:xfrm>
              <a:off x="1733551" y="3543095"/>
              <a:ext cx="1116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5.7.3</a:t>
              </a:r>
              <a:r>
                <a:rPr lang="zh-CN" altLang="en-US" sz="900" dirty="0">
                  <a:solidFill>
                    <a:srgbClr val="000000"/>
                  </a:solidFill>
                  <a:latin typeface="微软雅黑" panose="020B0503020204020204" charset="-122"/>
                  <a:ea typeface="微软雅黑" panose="020B0503020204020204" charset="-122"/>
                </a:rPr>
                <a:t>制造人员管理</a:t>
              </a:r>
            </a:p>
          </p:txBody>
        </p:sp>
        <p:sp>
          <p:nvSpPr>
            <p:cNvPr id="54" name="五边形 53"/>
            <p:cNvSpPr/>
            <p:nvPr/>
          </p:nvSpPr>
          <p:spPr bwMode="auto">
            <a:xfrm>
              <a:off x="1733551" y="3954363"/>
              <a:ext cx="1116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5.7.5</a:t>
              </a:r>
              <a:r>
                <a:rPr lang="zh-CN" altLang="en-US" sz="900" dirty="0">
                  <a:solidFill>
                    <a:srgbClr val="000000"/>
                  </a:solidFill>
                  <a:latin typeface="微软雅黑" panose="020B0503020204020204" charset="-122"/>
                  <a:ea typeface="微软雅黑" panose="020B0503020204020204" charset="-122"/>
                </a:rPr>
                <a:t>制造质量管理</a:t>
              </a:r>
            </a:p>
          </p:txBody>
        </p:sp>
        <p:sp>
          <p:nvSpPr>
            <p:cNvPr id="55" name="五边形 54"/>
            <p:cNvSpPr/>
            <p:nvPr/>
          </p:nvSpPr>
          <p:spPr bwMode="auto">
            <a:xfrm>
              <a:off x="1733551" y="4365632"/>
              <a:ext cx="1116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5.7.6</a:t>
              </a:r>
              <a:r>
                <a:rPr lang="zh-CN" altLang="en-US" sz="900" dirty="0">
                  <a:solidFill>
                    <a:srgbClr val="000000"/>
                  </a:solidFill>
                  <a:latin typeface="微软雅黑" panose="020B0503020204020204" charset="-122"/>
                  <a:ea typeface="微软雅黑" panose="020B0503020204020204" charset="-122"/>
                </a:rPr>
                <a:t>设备管理</a:t>
              </a:r>
            </a:p>
          </p:txBody>
        </p:sp>
        <p:sp>
          <p:nvSpPr>
            <p:cNvPr id="13" name="五边形 12"/>
            <p:cNvSpPr/>
            <p:nvPr/>
          </p:nvSpPr>
          <p:spPr bwMode="auto">
            <a:xfrm>
              <a:off x="7786710" y="2324092"/>
              <a:ext cx="785818" cy="311008"/>
            </a:xfrm>
            <a:prstGeom prst="homePlate">
              <a:avLst>
                <a:gd name="adj" fmla="val 20370"/>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5.5.10</a:t>
              </a:r>
              <a:r>
                <a:rPr lang="zh-CN" altLang="en-US" sz="900" dirty="0">
                  <a:solidFill>
                    <a:srgbClr val="000000"/>
                  </a:solidFill>
                  <a:latin typeface="微软雅黑" panose="020B0503020204020204" charset="-122"/>
                  <a:ea typeface="微软雅黑" panose="020B0503020204020204" charset="-122"/>
                </a:rPr>
                <a:t>库存</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控制</a:t>
              </a:r>
            </a:p>
          </p:txBody>
        </p:sp>
        <p:sp>
          <p:nvSpPr>
            <p:cNvPr id="120" name="五边形 119"/>
            <p:cNvSpPr/>
            <p:nvPr/>
          </p:nvSpPr>
          <p:spPr bwMode="auto">
            <a:xfrm>
              <a:off x="1747818" y="1831964"/>
              <a:ext cx="836618"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5.2.1</a:t>
              </a:r>
              <a:r>
                <a:rPr lang="zh-CN" altLang="en-US" sz="900" dirty="0">
                  <a:solidFill>
                    <a:srgbClr val="000000"/>
                  </a:solidFill>
                  <a:latin typeface="微软雅黑" panose="020B0503020204020204" charset="-122"/>
                  <a:ea typeface="微软雅黑" panose="020B0503020204020204" charset="-122"/>
                </a:rPr>
                <a:t>整机库存管理</a:t>
              </a:r>
            </a:p>
          </p:txBody>
        </p:sp>
        <p:cxnSp>
          <p:nvCxnSpPr>
            <p:cNvPr id="123" name="肘形连接符 61"/>
            <p:cNvCxnSpPr>
              <a:stCxn id="120" idx="3"/>
              <a:endCxn id="14" idx="1"/>
            </p:cNvCxnSpPr>
            <p:nvPr/>
          </p:nvCxnSpPr>
          <p:spPr bwMode="auto">
            <a:xfrm>
              <a:off x="2584436" y="1988492"/>
              <a:ext cx="2936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
        <p:nvSpPr>
          <p:cNvPr id="3" name="标题 1"/>
          <p:cNvSpPr>
            <a:spLocks noGrp="1"/>
          </p:cNvSpPr>
          <p:nvPr>
            <p:ph type="title"/>
          </p:nvPr>
        </p:nvSpPr>
        <p:spPr>
          <a:xfrm>
            <a:off x="162000" y="593725"/>
            <a:ext cx="8820000" cy="695325"/>
          </a:xfrm>
        </p:spPr>
        <p:txBody>
          <a:bodyPr/>
          <a:lstStyle/>
          <a:p>
            <a:r>
              <a:rPr lang="zh-CN" altLang="en-US" dirty="0"/>
              <a:t>x已建立自己的流程框架，集成计划重点关注</a:t>
            </a:r>
            <a:r>
              <a:rPr dirty="0"/>
              <a:t>32</a:t>
            </a:r>
            <a:r>
              <a:rPr lang="zh-CN" altLang="en-US" dirty="0"/>
              <a:t>个三级流程，</a:t>
            </a:r>
            <a:r>
              <a:rPr dirty="0"/>
              <a:t>9</a:t>
            </a:r>
            <a:r>
              <a:rPr lang="zh-CN" altLang="en-US" dirty="0"/>
              <a:t>个未建流程，</a:t>
            </a:r>
            <a:r>
              <a:rPr dirty="0"/>
              <a:t>23</a:t>
            </a:r>
            <a:r>
              <a:rPr lang="zh-CN" altLang="en-US" dirty="0"/>
              <a:t>个已有流程，未来需要基于计划模式及方案对流程进行新增与优化</a:t>
            </a:r>
          </a:p>
        </p:txBody>
      </p:sp>
      <p:sp>
        <p:nvSpPr>
          <p:cNvPr id="5" name="矩形 4"/>
          <p:cNvSpPr/>
          <p:nvPr/>
        </p:nvSpPr>
        <p:spPr bwMode="auto">
          <a:xfrm>
            <a:off x="357158" y="1214422"/>
            <a:ext cx="1143008" cy="5110178"/>
          </a:xfrm>
          <a:prstGeom prst="rect">
            <a:avLst/>
          </a:prstGeom>
          <a:noFill/>
          <a:ln w="28575">
            <a:solidFill>
              <a:schemeClr val="accent1"/>
            </a:solid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4.0</a:t>
            </a:r>
            <a:r>
              <a:rPr lang="zh-CN" altLang="en-US" sz="1100" b="1" dirty="0">
                <a:solidFill>
                  <a:srgbClr val="000000"/>
                </a:solidFill>
                <a:latin typeface="微软雅黑" panose="020B0503020204020204" charset="-122"/>
                <a:ea typeface="微软雅黑" panose="020B0503020204020204" charset="-122"/>
              </a:rPr>
              <a:t>营销与服务</a:t>
            </a:r>
          </a:p>
        </p:txBody>
      </p:sp>
      <p:sp>
        <p:nvSpPr>
          <p:cNvPr id="6" name="五边形 5"/>
          <p:cNvSpPr/>
          <p:nvPr/>
        </p:nvSpPr>
        <p:spPr bwMode="auto">
          <a:xfrm>
            <a:off x="428596" y="1508112"/>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4.1</a:t>
            </a:r>
            <a:r>
              <a:rPr lang="zh-CN" altLang="en-US" sz="1100" b="1" dirty="0">
                <a:solidFill>
                  <a:srgbClr val="000000"/>
                </a:solidFill>
                <a:latin typeface="微软雅黑" panose="020B0503020204020204" charset="-122"/>
                <a:ea typeface="微软雅黑" panose="020B0503020204020204" charset="-122"/>
              </a:rPr>
              <a:t>市场管理</a:t>
            </a:r>
          </a:p>
        </p:txBody>
      </p:sp>
      <p:sp>
        <p:nvSpPr>
          <p:cNvPr id="7" name="五边形 6"/>
          <p:cNvSpPr/>
          <p:nvPr/>
        </p:nvSpPr>
        <p:spPr bwMode="auto">
          <a:xfrm>
            <a:off x="428596" y="1854804"/>
            <a:ext cx="976607" cy="1609736"/>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4.2</a:t>
            </a:r>
            <a:r>
              <a:rPr lang="zh-CN" altLang="en-US" sz="1100" b="1" dirty="0">
                <a:solidFill>
                  <a:srgbClr val="000000"/>
                </a:solidFill>
                <a:latin typeface="微软雅黑" panose="020B0503020204020204" charset="-122"/>
                <a:ea typeface="微软雅黑" panose="020B0503020204020204" charset="-122"/>
              </a:rPr>
              <a:t>销售过程管理</a:t>
            </a:r>
          </a:p>
        </p:txBody>
      </p:sp>
      <p:sp>
        <p:nvSpPr>
          <p:cNvPr id="16" name="五边形 15"/>
          <p:cNvSpPr/>
          <p:nvPr/>
        </p:nvSpPr>
        <p:spPr bwMode="auto">
          <a:xfrm>
            <a:off x="496391" y="3108006"/>
            <a:ext cx="860899"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4.2.3</a:t>
            </a:r>
            <a:r>
              <a:rPr lang="zh-CN" altLang="en-US" sz="900" dirty="0">
                <a:solidFill>
                  <a:srgbClr val="000000"/>
                </a:solidFill>
                <a:latin typeface="微软雅黑" panose="020B0503020204020204" charset="-122"/>
                <a:ea typeface="微软雅黑" panose="020B0503020204020204" charset="-122"/>
              </a:rPr>
              <a:t>合同执行管理</a:t>
            </a:r>
          </a:p>
        </p:txBody>
      </p:sp>
      <p:sp>
        <p:nvSpPr>
          <p:cNvPr id="17" name="五边形 16"/>
          <p:cNvSpPr/>
          <p:nvPr/>
        </p:nvSpPr>
        <p:spPr bwMode="auto">
          <a:xfrm>
            <a:off x="428596" y="3523232"/>
            <a:ext cx="976607" cy="801693"/>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4.3</a:t>
            </a:r>
            <a:r>
              <a:rPr lang="zh-CN" altLang="en-US" sz="1100" b="1" dirty="0">
                <a:solidFill>
                  <a:srgbClr val="000000"/>
                </a:solidFill>
                <a:latin typeface="微软雅黑" panose="020B0503020204020204" charset="-122"/>
                <a:ea typeface="微软雅黑" panose="020B0503020204020204" charset="-122"/>
              </a:rPr>
              <a:t>服务与配件管理</a:t>
            </a:r>
          </a:p>
        </p:txBody>
      </p:sp>
      <p:sp>
        <p:nvSpPr>
          <p:cNvPr id="18" name="五边形 17"/>
          <p:cNvSpPr/>
          <p:nvPr/>
        </p:nvSpPr>
        <p:spPr bwMode="auto">
          <a:xfrm>
            <a:off x="500533" y="3946528"/>
            <a:ext cx="8604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4.3.5</a:t>
            </a:r>
            <a:r>
              <a:rPr lang="zh-CN" altLang="en-US" sz="900" dirty="0">
                <a:solidFill>
                  <a:srgbClr val="000000"/>
                </a:solidFill>
                <a:latin typeface="微软雅黑" panose="020B0503020204020204" charset="-122"/>
                <a:ea typeface="微软雅黑" panose="020B0503020204020204" charset="-122"/>
              </a:rPr>
              <a:t>配件计划供应</a:t>
            </a:r>
          </a:p>
        </p:txBody>
      </p:sp>
      <p:sp>
        <p:nvSpPr>
          <p:cNvPr id="20" name="五边形 19"/>
          <p:cNvSpPr/>
          <p:nvPr/>
        </p:nvSpPr>
        <p:spPr bwMode="auto">
          <a:xfrm>
            <a:off x="428596" y="4383617"/>
            <a:ext cx="976607" cy="360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4.4</a:t>
            </a:r>
            <a:r>
              <a:rPr lang="zh-CN" altLang="en-US" sz="1100" b="1" dirty="0">
                <a:solidFill>
                  <a:srgbClr val="000000"/>
                </a:solidFill>
                <a:latin typeface="微软雅黑" panose="020B0503020204020204" charset="-122"/>
                <a:ea typeface="微软雅黑" panose="020B0503020204020204" charset="-122"/>
              </a:rPr>
              <a:t>代理商</a:t>
            </a:r>
            <a:endParaRPr lang="en-US" altLang="zh-CN" sz="1100" b="1" dirty="0">
              <a:solidFill>
                <a:srgbClr val="000000"/>
              </a:solidFill>
              <a:latin typeface="微软雅黑" panose="020B0503020204020204" charset="-122"/>
              <a:ea typeface="微软雅黑" panose="020B0503020204020204" charset="-122"/>
            </a:endParaRPr>
          </a:p>
          <a:p>
            <a:pPr algn="ctr">
              <a:buClr>
                <a:schemeClr val="tx1"/>
              </a:buClr>
            </a:pPr>
            <a:r>
              <a:rPr lang="zh-CN" altLang="en-US" sz="1100" b="1" dirty="0">
                <a:solidFill>
                  <a:srgbClr val="000000"/>
                </a:solidFill>
                <a:latin typeface="微软雅黑" panose="020B0503020204020204" charset="-122"/>
                <a:ea typeface="微软雅黑" panose="020B0503020204020204" charset="-122"/>
              </a:rPr>
              <a:t>管理</a:t>
            </a:r>
          </a:p>
        </p:txBody>
      </p:sp>
      <p:sp>
        <p:nvSpPr>
          <p:cNvPr id="21" name="五边形 20"/>
          <p:cNvSpPr/>
          <p:nvPr/>
        </p:nvSpPr>
        <p:spPr bwMode="auto">
          <a:xfrm>
            <a:off x="428596" y="4802309"/>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4.5</a:t>
            </a:r>
            <a:r>
              <a:rPr lang="zh-CN" altLang="en-US" sz="1100" b="1" dirty="0">
                <a:solidFill>
                  <a:srgbClr val="000000"/>
                </a:solidFill>
                <a:latin typeface="微软雅黑" panose="020B0503020204020204" charset="-122"/>
                <a:ea typeface="微软雅黑" panose="020B0503020204020204" charset="-122"/>
              </a:rPr>
              <a:t>客户管理</a:t>
            </a:r>
          </a:p>
        </p:txBody>
      </p:sp>
      <p:sp>
        <p:nvSpPr>
          <p:cNvPr id="22" name="五边形 21"/>
          <p:cNvSpPr/>
          <p:nvPr/>
        </p:nvSpPr>
        <p:spPr bwMode="auto">
          <a:xfrm>
            <a:off x="428596" y="5149001"/>
            <a:ext cx="976607" cy="360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4.6</a:t>
            </a:r>
            <a:r>
              <a:rPr lang="zh-CN" altLang="en-US" sz="1100" b="1" dirty="0">
                <a:solidFill>
                  <a:srgbClr val="000000"/>
                </a:solidFill>
                <a:latin typeface="微软雅黑" panose="020B0503020204020204" charset="-122"/>
                <a:ea typeface="微软雅黑" panose="020B0503020204020204" charset="-122"/>
              </a:rPr>
              <a:t>主数据</a:t>
            </a:r>
            <a:endParaRPr lang="en-US" altLang="zh-CN" sz="1100" b="1" dirty="0">
              <a:solidFill>
                <a:srgbClr val="000000"/>
              </a:solidFill>
              <a:latin typeface="微软雅黑" panose="020B0503020204020204" charset="-122"/>
              <a:ea typeface="微软雅黑" panose="020B0503020204020204" charset="-122"/>
            </a:endParaRPr>
          </a:p>
          <a:p>
            <a:pPr algn="ctr">
              <a:buClr>
                <a:schemeClr val="tx1"/>
              </a:buClr>
            </a:pPr>
            <a:r>
              <a:rPr lang="zh-CN" altLang="en-US" sz="1100" b="1" dirty="0">
                <a:solidFill>
                  <a:srgbClr val="000000"/>
                </a:solidFill>
                <a:latin typeface="微软雅黑" panose="020B0503020204020204" charset="-122"/>
                <a:ea typeface="微软雅黑" panose="020B0503020204020204" charset="-122"/>
              </a:rPr>
              <a:t>管理</a:t>
            </a:r>
          </a:p>
        </p:txBody>
      </p:sp>
      <p:sp>
        <p:nvSpPr>
          <p:cNvPr id="23" name="五边形 22"/>
          <p:cNvSpPr/>
          <p:nvPr/>
        </p:nvSpPr>
        <p:spPr bwMode="auto">
          <a:xfrm>
            <a:off x="428596" y="5567693"/>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4.7</a:t>
            </a:r>
            <a:r>
              <a:rPr lang="zh-CN" altLang="en-US" sz="1100" b="1" dirty="0">
                <a:solidFill>
                  <a:srgbClr val="000000"/>
                </a:solidFill>
                <a:latin typeface="微软雅黑" panose="020B0503020204020204" charset="-122"/>
                <a:ea typeface="微软雅黑" panose="020B0503020204020204" charset="-122"/>
              </a:rPr>
              <a:t>设备管理</a:t>
            </a:r>
          </a:p>
        </p:txBody>
      </p:sp>
      <p:sp>
        <p:nvSpPr>
          <p:cNvPr id="24" name="五边形 23"/>
          <p:cNvSpPr/>
          <p:nvPr/>
        </p:nvSpPr>
        <p:spPr bwMode="auto">
          <a:xfrm>
            <a:off x="428596" y="5914382"/>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4.8</a:t>
            </a:r>
            <a:r>
              <a:rPr lang="zh-CN" altLang="en-US" sz="1100" b="1" dirty="0">
                <a:solidFill>
                  <a:srgbClr val="000000"/>
                </a:solidFill>
                <a:latin typeface="微软雅黑" panose="020B0503020204020204" charset="-122"/>
                <a:ea typeface="微软雅黑" panose="020B0503020204020204" charset="-122"/>
              </a:rPr>
              <a:t>库存管理</a:t>
            </a:r>
          </a:p>
        </p:txBody>
      </p:sp>
      <p:sp>
        <p:nvSpPr>
          <p:cNvPr id="26" name="矩形 25"/>
          <p:cNvSpPr/>
          <p:nvPr/>
        </p:nvSpPr>
        <p:spPr bwMode="auto">
          <a:xfrm>
            <a:off x="1571604" y="1214422"/>
            <a:ext cx="7215238" cy="5110178"/>
          </a:xfrm>
          <a:prstGeom prst="rect">
            <a:avLst/>
          </a:prstGeom>
          <a:noFill/>
          <a:ln w="28575">
            <a:solidFill>
              <a:schemeClr val="accent1"/>
            </a:solid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5.0</a:t>
            </a:r>
            <a:r>
              <a:rPr lang="zh-CN" altLang="en-US" sz="1100" b="1" dirty="0">
                <a:solidFill>
                  <a:srgbClr val="000000"/>
                </a:solidFill>
                <a:latin typeface="微软雅黑" panose="020B0503020204020204" charset="-122"/>
                <a:ea typeface="微软雅黑" panose="020B0503020204020204" charset="-122"/>
              </a:rPr>
              <a:t>制造与商务</a:t>
            </a:r>
          </a:p>
        </p:txBody>
      </p:sp>
      <p:sp>
        <p:nvSpPr>
          <p:cNvPr id="27" name="五边形 26"/>
          <p:cNvSpPr/>
          <p:nvPr/>
        </p:nvSpPr>
        <p:spPr bwMode="auto">
          <a:xfrm>
            <a:off x="1636722" y="5632083"/>
            <a:ext cx="2828946" cy="595905"/>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5.1</a:t>
            </a:r>
            <a:r>
              <a:rPr lang="zh-CN" altLang="en-US" sz="1100" b="1" dirty="0">
                <a:solidFill>
                  <a:srgbClr val="000000"/>
                </a:solidFill>
                <a:latin typeface="微软雅黑" panose="020B0503020204020204" charset="-122"/>
                <a:ea typeface="微软雅黑" panose="020B0503020204020204" charset="-122"/>
              </a:rPr>
              <a:t>采购战略与规划</a:t>
            </a:r>
          </a:p>
        </p:txBody>
      </p:sp>
      <p:sp>
        <p:nvSpPr>
          <p:cNvPr id="29" name="五边形 28"/>
          <p:cNvSpPr/>
          <p:nvPr/>
        </p:nvSpPr>
        <p:spPr bwMode="auto">
          <a:xfrm>
            <a:off x="4537105" y="5643578"/>
            <a:ext cx="1571636" cy="604842"/>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5.3</a:t>
            </a:r>
            <a:r>
              <a:rPr lang="zh-CN" altLang="en-US" sz="1100" b="1" dirty="0">
                <a:solidFill>
                  <a:srgbClr val="000000"/>
                </a:solidFill>
                <a:latin typeface="微软雅黑" panose="020B0503020204020204" charset="-122"/>
                <a:ea typeface="微软雅黑" panose="020B0503020204020204" charset="-122"/>
              </a:rPr>
              <a:t>供应链关系管理</a:t>
            </a:r>
          </a:p>
        </p:txBody>
      </p:sp>
      <p:sp>
        <p:nvSpPr>
          <p:cNvPr id="136" name="五边形 135"/>
          <p:cNvSpPr/>
          <p:nvPr/>
        </p:nvSpPr>
        <p:spPr bwMode="auto">
          <a:xfrm>
            <a:off x="6165890" y="5643578"/>
            <a:ext cx="2525673" cy="604842"/>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5.4</a:t>
            </a:r>
            <a:r>
              <a:rPr lang="zh-CN" altLang="en-US" sz="1100" b="1" dirty="0">
                <a:solidFill>
                  <a:srgbClr val="000000"/>
                </a:solidFill>
                <a:latin typeface="微软雅黑" panose="020B0503020204020204" charset="-122"/>
                <a:ea typeface="微软雅黑" panose="020B0503020204020204" charset="-122"/>
              </a:rPr>
              <a:t>战略采购</a:t>
            </a:r>
          </a:p>
        </p:txBody>
      </p:sp>
      <p:sp>
        <p:nvSpPr>
          <p:cNvPr id="250" name="TextBox 54"/>
          <p:cNvSpPr txBox="1">
            <a:spLocks noChangeArrowheads="1"/>
          </p:cNvSpPr>
          <p:nvPr/>
        </p:nvSpPr>
        <p:spPr bwMode="auto">
          <a:xfrm>
            <a:off x="565152" y="6357939"/>
            <a:ext cx="4292600" cy="400110"/>
          </a:xfrm>
          <a:prstGeom prst="rect">
            <a:avLst/>
          </a:prstGeom>
          <a:noFill/>
          <a:ln w="9525">
            <a:noFill/>
            <a:miter lim="800000"/>
          </a:ln>
        </p:spPr>
        <p:txBody>
          <a:bodyPr wrap="square">
            <a:spAutoFit/>
          </a:bodyPr>
          <a:lstStyle/>
          <a:p>
            <a:r>
              <a:rPr lang="zh-CN" altLang="en-US" sz="1000" i="1" dirty="0">
                <a:latin typeface="微软雅黑" panose="020B0503020204020204" charset="-122"/>
                <a:ea typeface="微软雅黑" panose="020B0503020204020204" charset="-122"/>
              </a:rPr>
              <a:t>备注：本页仅为三级流程的逻辑关系示意图，四级流程将会根据解决方案内容在第三阶段进行详细设计</a:t>
            </a:r>
          </a:p>
        </p:txBody>
      </p:sp>
      <p:sp>
        <p:nvSpPr>
          <p:cNvPr id="251" name="五边形 250"/>
          <p:cNvSpPr/>
          <p:nvPr/>
        </p:nvSpPr>
        <p:spPr bwMode="auto">
          <a:xfrm>
            <a:off x="500034" y="2700016"/>
            <a:ext cx="860899"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4.2.2</a:t>
            </a:r>
            <a:r>
              <a:rPr lang="zh-CN" altLang="en-US" sz="900" dirty="0">
                <a:solidFill>
                  <a:srgbClr val="000000"/>
                </a:solidFill>
                <a:latin typeface="微软雅黑" panose="020B0503020204020204" charset="-122"/>
                <a:ea typeface="微软雅黑" panose="020B0503020204020204" charset="-122"/>
              </a:rPr>
              <a:t>线索到</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合同</a:t>
            </a:r>
          </a:p>
        </p:txBody>
      </p:sp>
      <p:cxnSp>
        <p:nvCxnSpPr>
          <p:cNvPr id="252" name="肘形连接符 66"/>
          <p:cNvCxnSpPr>
            <a:stCxn id="251" idx="2"/>
            <a:endCxn id="16" idx="0"/>
          </p:cNvCxnSpPr>
          <p:nvPr/>
        </p:nvCxnSpPr>
        <p:spPr bwMode="auto">
          <a:xfrm rot="5400000">
            <a:off x="830759" y="3058718"/>
            <a:ext cx="94934" cy="364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55" name="肘形连接符 66"/>
          <p:cNvCxnSpPr>
            <a:stCxn id="281" idx="1"/>
            <a:endCxn id="120" idx="1"/>
          </p:cNvCxnSpPr>
          <p:nvPr/>
        </p:nvCxnSpPr>
        <p:spPr bwMode="auto">
          <a:xfrm rot="10800000" flipH="1">
            <a:off x="500034" y="2098954"/>
            <a:ext cx="1247784" cy="330866"/>
          </a:xfrm>
          <a:prstGeom prst="bentConnector3">
            <a:avLst>
              <a:gd name="adj1" fmla="val -7124"/>
            </a:avLst>
          </a:prstGeom>
          <a:solidFill>
            <a:schemeClr val="accent1"/>
          </a:solidFill>
          <a:ln w="9525" cap="flat" cmpd="sng" algn="ctr">
            <a:solidFill>
              <a:schemeClr val="tx1"/>
            </a:solidFill>
            <a:prstDash val="solid"/>
            <a:round/>
            <a:headEnd type="none" w="med" len="med"/>
            <a:tailEnd type="arrow"/>
          </a:ln>
          <a:effectLst/>
        </p:spPr>
      </p:cxnSp>
      <p:cxnSp>
        <p:nvCxnSpPr>
          <p:cNvPr id="258" name="肘形连接符 66"/>
          <p:cNvCxnSpPr>
            <a:stCxn id="16" idx="3"/>
            <a:endCxn id="11" idx="1"/>
          </p:cNvCxnSpPr>
          <p:nvPr/>
        </p:nvCxnSpPr>
        <p:spPr bwMode="auto">
          <a:xfrm flipV="1">
            <a:off x="1357290" y="2708707"/>
            <a:ext cx="377827" cy="555827"/>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263" name="肘形连接符 66"/>
          <p:cNvCxnSpPr>
            <a:stCxn id="18" idx="1"/>
            <a:endCxn id="120" idx="1"/>
          </p:cNvCxnSpPr>
          <p:nvPr/>
        </p:nvCxnSpPr>
        <p:spPr bwMode="auto">
          <a:xfrm rot="10800000" flipH="1">
            <a:off x="500532" y="2098954"/>
            <a:ext cx="1247285" cy="2004102"/>
          </a:xfrm>
          <a:prstGeom prst="bentConnector3">
            <a:avLst>
              <a:gd name="adj1" fmla="val -7128"/>
            </a:avLst>
          </a:prstGeom>
          <a:solidFill>
            <a:schemeClr val="accent1"/>
          </a:solidFill>
          <a:ln w="9525" cap="flat" cmpd="sng" algn="ctr">
            <a:solidFill>
              <a:schemeClr val="tx1"/>
            </a:solidFill>
            <a:prstDash val="solid"/>
            <a:round/>
            <a:headEnd type="none" w="med" len="med"/>
            <a:tailEnd type="arrow"/>
          </a:ln>
          <a:effectLst/>
        </p:spPr>
      </p:cxnSp>
      <p:cxnSp>
        <p:nvCxnSpPr>
          <p:cNvPr id="276" name="肘形连接符 66"/>
          <p:cNvCxnSpPr>
            <a:stCxn id="18" idx="3"/>
            <a:endCxn id="11" idx="1"/>
          </p:cNvCxnSpPr>
          <p:nvPr/>
        </p:nvCxnSpPr>
        <p:spPr bwMode="auto">
          <a:xfrm flipV="1">
            <a:off x="1360933" y="2708707"/>
            <a:ext cx="374184" cy="139434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sp>
        <p:nvSpPr>
          <p:cNvPr id="281" name="五边形 280"/>
          <p:cNvSpPr/>
          <p:nvPr/>
        </p:nvSpPr>
        <p:spPr bwMode="auto">
          <a:xfrm>
            <a:off x="500034" y="2273292"/>
            <a:ext cx="860899"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4.2.4</a:t>
            </a:r>
            <a:r>
              <a:rPr lang="zh-CN" altLang="en-US" sz="900" dirty="0">
                <a:solidFill>
                  <a:srgbClr val="000000"/>
                </a:solidFill>
                <a:latin typeface="微软雅黑" panose="020B0503020204020204" charset="-122"/>
                <a:ea typeface="微软雅黑" panose="020B0503020204020204" charset="-122"/>
              </a:rPr>
              <a:t>销售管理</a:t>
            </a:r>
          </a:p>
        </p:txBody>
      </p:sp>
      <p:cxnSp>
        <p:nvCxnSpPr>
          <p:cNvPr id="283" name="肘形连接符 66"/>
          <p:cNvCxnSpPr>
            <a:stCxn id="281" idx="2"/>
            <a:endCxn id="251" idx="0"/>
          </p:cNvCxnSpPr>
          <p:nvPr/>
        </p:nvCxnSpPr>
        <p:spPr bwMode="auto">
          <a:xfrm rot="5400000">
            <a:off x="823213" y="2643182"/>
            <a:ext cx="113668"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44" name="矩形 143"/>
          <p:cNvSpPr/>
          <p:nvPr/>
        </p:nvSpPr>
        <p:spPr bwMode="auto">
          <a:xfrm>
            <a:off x="6958148" y="6409872"/>
            <a:ext cx="900000" cy="276248"/>
          </a:xfrm>
          <a:prstGeom prst="rect">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zh-CN" altLang="en-US" sz="900" b="1" dirty="0">
                <a:solidFill>
                  <a:srgbClr val="000000"/>
                </a:solidFill>
                <a:latin typeface="微软雅黑" panose="020B0503020204020204" charset="-122"/>
                <a:ea typeface="微软雅黑" panose="020B0503020204020204" charset="-122"/>
              </a:rPr>
              <a:t>有流程</a:t>
            </a:r>
            <a:endParaRPr lang="en-US" altLang="zh-CN" sz="900" b="1" dirty="0">
              <a:solidFill>
                <a:srgbClr val="000000"/>
              </a:solidFill>
              <a:latin typeface="微软雅黑" panose="020B0503020204020204" charset="-122"/>
              <a:ea typeface="微软雅黑" panose="020B0503020204020204" charset="-122"/>
            </a:endParaRPr>
          </a:p>
        </p:txBody>
      </p:sp>
      <p:sp>
        <p:nvSpPr>
          <p:cNvPr id="149" name="矩形 148"/>
          <p:cNvSpPr/>
          <p:nvPr/>
        </p:nvSpPr>
        <p:spPr bwMode="auto">
          <a:xfrm>
            <a:off x="5958016" y="6409872"/>
            <a:ext cx="900000" cy="276248"/>
          </a:xfrm>
          <a:prstGeom prst="rect">
            <a:avLst/>
          </a:prstGeom>
          <a:solidFill>
            <a:srgbClr val="92D050"/>
          </a:solidFill>
          <a:ln w="6350">
            <a:solidFill>
              <a:schemeClr val="tx1"/>
            </a:solidFill>
            <a:miter lim="800000"/>
          </a:ln>
        </p:spPr>
        <p:txBody>
          <a:bodyPr lIns="18000" tIns="36000" rIns="18000" bIns="36000" rtlCol="0" anchor="ctr">
            <a:noAutofit/>
          </a:bodyPr>
          <a:lstStyle/>
          <a:p>
            <a:pPr algn="ctr">
              <a:buClr>
                <a:schemeClr val="tx1"/>
              </a:buClr>
            </a:pPr>
            <a:r>
              <a:rPr lang="zh-CN" altLang="en-US" sz="900" b="1" dirty="0">
                <a:solidFill>
                  <a:sysClr val="windowText" lastClr="000000"/>
                </a:solidFill>
                <a:latin typeface="微软雅黑" panose="020B0503020204020204" charset="-122"/>
                <a:ea typeface="微软雅黑" panose="020B0503020204020204" charset="-122"/>
              </a:rPr>
              <a:t>无流程</a:t>
            </a:r>
            <a:endParaRPr lang="en-US" altLang="zh-CN" sz="900" b="1" dirty="0">
              <a:solidFill>
                <a:sysClr val="windowText" lastClr="000000"/>
              </a:solidFill>
              <a:latin typeface="微软雅黑" panose="020B0503020204020204" charset="-122"/>
              <a:ea typeface="微软雅黑" panose="020B0503020204020204" charset="-122"/>
            </a:endParaRPr>
          </a:p>
        </p:txBody>
      </p:sp>
      <p:sp>
        <p:nvSpPr>
          <p:cNvPr id="96" name="五边形 37"/>
          <p:cNvSpPr/>
          <p:nvPr/>
        </p:nvSpPr>
        <p:spPr bwMode="auto">
          <a:xfrm>
            <a:off x="3786182" y="128338"/>
            <a:ext cx="900000" cy="288000"/>
          </a:xfrm>
          <a:prstGeom prst="homePlate">
            <a:avLst>
              <a:gd name="adj" fmla="val 34198"/>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模式现状</a:t>
            </a:r>
          </a:p>
        </p:txBody>
      </p:sp>
      <p:sp>
        <p:nvSpPr>
          <p:cNvPr id="97" name="燕尾形 40"/>
          <p:cNvSpPr/>
          <p:nvPr/>
        </p:nvSpPr>
        <p:spPr bwMode="auto">
          <a:xfrm>
            <a:off x="4639809"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组织现状</a:t>
            </a:r>
          </a:p>
        </p:txBody>
      </p:sp>
      <p:sp>
        <p:nvSpPr>
          <p:cNvPr id="100" name="燕尾形 41"/>
          <p:cNvSpPr/>
          <p:nvPr/>
        </p:nvSpPr>
        <p:spPr bwMode="auto">
          <a:xfrm>
            <a:off x="5493436"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algn="ctr" eaLnBrk="0" hangingPunct="0">
              <a:lnSpc>
                <a:spcPct val="90000"/>
              </a:lnSpc>
              <a:spcBef>
                <a:spcPct val="20000"/>
              </a:spcBef>
              <a:buClr>
                <a:srgbClr val="000000"/>
              </a:buClr>
              <a:defRPr/>
            </a:pPr>
            <a:r>
              <a:rPr lang="zh-CN" altLang="en-US" sz="1200" b="1" kern="0" dirty="0">
                <a:solidFill>
                  <a:sysClr val="windowText" lastClr="000000"/>
                </a:solidFill>
                <a:latin typeface="微软雅黑" panose="020B0503020204020204" charset="-122"/>
                <a:ea typeface="微软雅黑" panose="020B0503020204020204" charset="-122"/>
              </a:rPr>
              <a:t>业务现状</a:t>
            </a:r>
          </a:p>
        </p:txBody>
      </p:sp>
      <p:sp>
        <p:nvSpPr>
          <p:cNvPr id="102" name="燕尾形 40"/>
          <p:cNvSpPr/>
          <p:nvPr/>
        </p:nvSpPr>
        <p:spPr bwMode="auto">
          <a:xfrm>
            <a:off x="6347064" y="128338"/>
            <a:ext cx="900000" cy="288000"/>
          </a:xfrm>
          <a:prstGeom prst="chevron">
            <a:avLst>
              <a:gd name="adj" fmla="val 36455"/>
            </a:avLst>
          </a:prstGeom>
          <a:no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绩效现状</a:t>
            </a:r>
          </a:p>
        </p:txBody>
      </p:sp>
      <p:sp>
        <p:nvSpPr>
          <p:cNvPr id="103" name="燕尾形 41"/>
          <p:cNvSpPr/>
          <p:nvPr/>
        </p:nvSpPr>
        <p:spPr bwMode="auto">
          <a:xfrm>
            <a:off x="7200692" y="128338"/>
            <a:ext cx="900000" cy="288000"/>
          </a:xfrm>
          <a:prstGeom prst="chevron">
            <a:avLst>
              <a:gd name="adj" fmla="val 36455"/>
            </a:avLst>
          </a:prstGeom>
          <a:solidFill>
            <a:srgbClr val="7889FB"/>
          </a:solidFill>
          <a:ln w="12700" algn="ctr">
            <a:solidFill>
              <a:srgbClr val="000000"/>
            </a:solidFill>
            <a:miter lim="800000"/>
          </a:ln>
        </p:spPr>
        <p:txBody>
          <a:bodyPr wrap="none" tIns="72000" anchor="ctr"/>
          <a:lstStyle/>
          <a:p>
            <a:pPr marR="0" lvl="0" indent="0" algn="ctr" fontAlgn="auto">
              <a:lnSpc>
                <a:spcPct val="90000"/>
              </a:lnSpc>
              <a:spcBef>
                <a:spcPct val="20000"/>
              </a:spcBef>
              <a:spcAft>
                <a:spcPts val="0"/>
              </a:spcAft>
              <a:buClr>
                <a:srgbClr val="000000"/>
              </a:buClr>
              <a:buSzTx/>
              <a:buFont typeface="Arial" panose="020B0604020202020204" pitchFamily="34" charset="0"/>
              <a:buNone/>
              <a:defRPr/>
            </a:pPr>
            <a:r>
              <a:rPr lang="zh-CN" altLang="en-US" sz="1200" b="1" kern="0" dirty="0">
                <a:solidFill>
                  <a:srgbClr val="FFFFFF"/>
                </a:solidFill>
                <a:latin typeface="微软雅黑" panose="020B0503020204020204" charset="-122"/>
                <a:ea typeface="微软雅黑" panose="020B0503020204020204" charset="-122"/>
              </a:rPr>
              <a:t>流程现状</a:t>
            </a:r>
          </a:p>
        </p:txBody>
      </p:sp>
      <p:sp>
        <p:nvSpPr>
          <p:cNvPr id="108" name="矩形 107"/>
          <p:cNvSpPr/>
          <p:nvPr/>
        </p:nvSpPr>
        <p:spPr bwMode="auto">
          <a:xfrm>
            <a:off x="4957884" y="6416696"/>
            <a:ext cx="900000" cy="276248"/>
          </a:xfrm>
          <a:prstGeom prst="rect">
            <a:avLst/>
          </a:prstGeom>
          <a:solidFill>
            <a:schemeClr val="bg1">
              <a:lumMod val="85000"/>
            </a:schemeClr>
          </a:solidFill>
          <a:ln w="6350">
            <a:solidFill>
              <a:schemeClr val="tx1"/>
            </a:solidFill>
            <a:miter lim="800000"/>
          </a:ln>
        </p:spPr>
        <p:txBody>
          <a:bodyPr lIns="18000" tIns="36000" rIns="18000" bIns="36000" rtlCol="0" anchor="ctr">
            <a:noAutofit/>
          </a:bodyPr>
          <a:lstStyle/>
          <a:p>
            <a:pPr algn="ctr">
              <a:buClr>
                <a:schemeClr val="tx1"/>
              </a:buClr>
            </a:pPr>
            <a:r>
              <a:rPr lang="en-US" altLang="zh-CN" sz="900" b="1" dirty="0">
                <a:solidFill>
                  <a:sysClr val="windowText" lastClr="000000"/>
                </a:solidFill>
                <a:latin typeface="微软雅黑" panose="020B0503020204020204" charset="-122"/>
                <a:ea typeface="微软雅黑" panose="020B0503020204020204" charset="-122"/>
              </a:rPr>
              <a:t>SCM1.0</a:t>
            </a:r>
            <a:r>
              <a:rPr lang="zh-CN" altLang="en-US" sz="900" b="1" dirty="0">
                <a:solidFill>
                  <a:sysClr val="windowText" lastClr="000000"/>
                </a:solidFill>
                <a:latin typeface="微软雅黑" panose="020B0503020204020204" charset="-122"/>
                <a:ea typeface="微软雅黑" panose="020B0503020204020204" charset="-122"/>
              </a:rPr>
              <a:t>不相关</a:t>
            </a:r>
            <a:endParaRPr lang="en-US" altLang="zh-CN" sz="900" b="1" dirty="0">
              <a:solidFill>
                <a:sysClr val="windowText" lastClr="000000"/>
              </a:solidFill>
              <a:latin typeface="微软雅黑" panose="020B0503020204020204" charset="-122"/>
              <a:ea typeface="微软雅黑" panose="020B050302020402020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附录</a:t>
            </a:r>
          </a:p>
        </p:txBody>
      </p:sp>
      <p:sp>
        <p:nvSpPr>
          <p:cNvPr id="10" name="Rectangle 4"/>
          <p:cNvSpPr>
            <a:spLocks noChangeArrowheads="1"/>
          </p:cNvSpPr>
          <p:nvPr/>
        </p:nvSpPr>
        <p:spPr bwMode="auto">
          <a:xfrm>
            <a:off x="1371763" y="1544105"/>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项目进度与工作范围</a:t>
            </a:r>
          </a:p>
        </p:txBody>
      </p:sp>
      <p:sp>
        <p:nvSpPr>
          <p:cNvPr id="12" name="Rectangle 11"/>
          <p:cNvSpPr>
            <a:spLocks noChangeArrowheads="1"/>
          </p:cNvSpPr>
          <p:nvPr/>
        </p:nvSpPr>
        <p:spPr bwMode="auto">
          <a:xfrm>
            <a:off x="585986" y="1544105"/>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1</a:t>
            </a:r>
          </a:p>
        </p:txBody>
      </p:sp>
      <p:sp>
        <p:nvSpPr>
          <p:cNvPr id="13" name="Rectangle 11"/>
          <p:cNvSpPr>
            <a:spLocks noChangeArrowheads="1"/>
          </p:cNvSpPr>
          <p:nvPr/>
        </p:nvSpPr>
        <p:spPr bwMode="auto">
          <a:xfrm>
            <a:off x="585986" y="2209660"/>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2</a:t>
            </a:r>
          </a:p>
        </p:txBody>
      </p:sp>
      <p:sp>
        <p:nvSpPr>
          <p:cNvPr id="16" name="Rectangle 5"/>
          <p:cNvSpPr>
            <a:spLocks noChangeArrowheads="1"/>
          </p:cNvSpPr>
          <p:nvPr/>
        </p:nvSpPr>
        <p:spPr bwMode="auto">
          <a:xfrm>
            <a:off x="1371763" y="2209872"/>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业务成熟度分析</a:t>
            </a:r>
          </a:p>
        </p:txBody>
      </p:sp>
      <p:sp>
        <p:nvSpPr>
          <p:cNvPr id="14" name="Rectangle 11"/>
          <p:cNvSpPr>
            <a:spLocks noChangeArrowheads="1"/>
          </p:cNvSpPr>
          <p:nvPr/>
        </p:nvSpPr>
        <p:spPr bwMode="auto">
          <a:xfrm>
            <a:off x="585986" y="2875216"/>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3</a:t>
            </a:r>
          </a:p>
        </p:txBody>
      </p:sp>
      <p:sp>
        <p:nvSpPr>
          <p:cNvPr id="15" name="Rectangle 5"/>
          <p:cNvSpPr>
            <a:spLocks noChangeArrowheads="1"/>
          </p:cNvSpPr>
          <p:nvPr/>
        </p:nvSpPr>
        <p:spPr bwMode="auto">
          <a:xfrm>
            <a:off x="1371763" y="2875639"/>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总体绩效指标分析</a:t>
            </a:r>
          </a:p>
        </p:txBody>
      </p:sp>
      <p:sp>
        <p:nvSpPr>
          <p:cNvPr id="17" name="Rectangle 4"/>
          <p:cNvSpPr>
            <a:spLocks noChangeArrowheads="1"/>
          </p:cNvSpPr>
          <p:nvPr/>
        </p:nvSpPr>
        <p:spPr bwMode="auto">
          <a:xfrm>
            <a:off x="1371763" y="3541406"/>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现状分析</a:t>
            </a:r>
          </a:p>
        </p:txBody>
      </p:sp>
      <p:sp>
        <p:nvSpPr>
          <p:cNvPr id="18" name="Rectangle 11"/>
          <p:cNvSpPr>
            <a:spLocks noChangeArrowheads="1"/>
          </p:cNvSpPr>
          <p:nvPr/>
        </p:nvSpPr>
        <p:spPr bwMode="auto">
          <a:xfrm>
            <a:off x="585986" y="3540772"/>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4</a:t>
            </a:r>
          </a:p>
        </p:txBody>
      </p:sp>
      <p:sp>
        <p:nvSpPr>
          <p:cNvPr id="20" name="Rectangle 11"/>
          <p:cNvSpPr>
            <a:spLocks noChangeArrowheads="1"/>
          </p:cNvSpPr>
          <p:nvPr/>
        </p:nvSpPr>
        <p:spPr bwMode="auto">
          <a:xfrm>
            <a:off x="585986" y="4206327"/>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5</a:t>
            </a:r>
          </a:p>
        </p:txBody>
      </p:sp>
      <p:sp>
        <p:nvSpPr>
          <p:cNvPr id="21" name="Rectangle 5"/>
          <p:cNvSpPr>
            <a:spLocks noChangeArrowheads="1"/>
          </p:cNvSpPr>
          <p:nvPr/>
        </p:nvSpPr>
        <p:spPr bwMode="auto">
          <a:xfrm>
            <a:off x="1371763" y="4207173"/>
            <a:ext cx="7170202" cy="503237"/>
          </a:xfrm>
          <a:prstGeom prst="rect">
            <a:avLst/>
          </a:prstGeom>
          <a:solidFill>
            <a:srgbClr val="D6DBFE"/>
          </a:solidFill>
          <a:ln w="9525" algn="ctr">
            <a:solidFill>
              <a:srgbClr val="7889FB"/>
            </a:solidFill>
            <a:miter lim="800000"/>
          </a:ln>
        </p:spPr>
        <p:txBody>
          <a:bodyPr wrap="none" lIns="90000" tIns="46800" rIns="90000" bIns="46800" anchor="ctr"/>
          <a:lstStyle/>
          <a:p>
            <a:pPr>
              <a:defRPr/>
            </a:pPr>
            <a:r>
              <a:rPr lang="zh-CN" altLang="en-US" sz="1600" b="1" kern="0" dirty="0">
                <a:solidFill>
                  <a:sysClr val="windowText" lastClr="000000"/>
                </a:solidFill>
                <a:latin typeface="微软雅黑" panose="020B0503020204020204" charset="-122"/>
                <a:ea typeface="微软雅黑" panose="020B0503020204020204" charset="-122"/>
              </a:rPr>
              <a:t>解决思路</a:t>
            </a:r>
          </a:p>
        </p:txBody>
      </p:sp>
      <p:sp>
        <p:nvSpPr>
          <p:cNvPr id="26" name="Rectangle 11"/>
          <p:cNvSpPr>
            <a:spLocks noChangeArrowheads="1"/>
          </p:cNvSpPr>
          <p:nvPr/>
        </p:nvSpPr>
        <p:spPr bwMode="auto">
          <a:xfrm>
            <a:off x="585986" y="4871885"/>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6</a:t>
            </a:r>
          </a:p>
        </p:txBody>
      </p:sp>
      <p:sp>
        <p:nvSpPr>
          <p:cNvPr id="29" name="Rectangle 5"/>
          <p:cNvSpPr>
            <a:spLocks noChangeArrowheads="1"/>
          </p:cNvSpPr>
          <p:nvPr/>
        </p:nvSpPr>
        <p:spPr bwMode="auto">
          <a:xfrm>
            <a:off x="1371763" y="4872938"/>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集成计划体系流程框架</a:t>
            </a:r>
            <a:r>
              <a:rPr lang="en-US" altLang="zh-CN" sz="1600" kern="0" dirty="0">
                <a:solidFill>
                  <a:sysClr val="windowText" lastClr="000000"/>
                </a:solidFill>
                <a:latin typeface="微软雅黑" panose="020B0503020204020204" charset="-122"/>
                <a:ea typeface="微软雅黑" panose="020B0503020204020204" charset="-122"/>
              </a:rPr>
              <a:t>1.0</a:t>
            </a:r>
            <a:endParaRPr lang="zh-CN" altLang="en-US" sz="1600" kern="0" dirty="0">
              <a:solidFill>
                <a:sysClr val="windowText" lastClr="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lang="zh-CN" altLang="en-US" dirty="0"/>
              <a:t>总体解决思路</a:t>
            </a:r>
          </a:p>
        </p:txBody>
      </p:sp>
      <p:sp>
        <p:nvSpPr>
          <p:cNvPr id="13" name="TextBox 12"/>
          <p:cNvSpPr txBox="1"/>
          <p:nvPr/>
        </p:nvSpPr>
        <p:spPr bwMode="auto">
          <a:xfrm>
            <a:off x="1249142" y="1317385"/>
            <a:ext cx="3852000" cy="954107"/>
          </a:xfrm>
          <a:prstGeom prst="rect">
            <a:avLst/>
          </a:prstGeom>
          <a:noFill/>
          <a:ln>
            <a:noFill/>
          </a:ln>
        </p:spPr>
        <p:txBody>
          <a:bodyPr wrap="square" rtlCol="0">
            <a:spAutoFit/>
          </a:bodyPr>
          <a:lstStyle/>
          <a:p>
            <a:pPr marL="174625" indent="-174625" algn="r">
              <a:spcBef>
                <a:spcPts val="12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多种订单组织方式并存，规则不够明确</a:t>
            </a:r>
          </a:p>
          <a:p>
            <a:pPr marL="174625" indent="-174625" algn="r">
              <a:spcBef>
                <a:spcPts val="12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计划调整规则未明确定义</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4625" indent="-174625" algn="r">
              <a:spcBef>
                <a:spcPts val="1200"/>
              </a:spcBef>
            </a:pP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3+2</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滚动计划周期偏短</a:t>
            </a:r>
          </a:p>
        </p:txBody>
      </p:sp>
      <p:sp>
        <p:nvSpPr>
          <p:cNvPr id="14" name="TextBox 13"/>
          <p:cNvSpPr txBox="1"/>
          <p:nvPr/>
        </p:nvSpPr>
        <p:spPr bwMode="auto">
          <a:xfrm>
            <a:off x="1249142" y="2378308"/>
            <a:ext cx="3852000" cy="615553"/>
          </a:xfrm>
          <a:prstGeom prst="rect">
            <a:avLst/>
          </a:prstGeom>
          <a:noFill/>
          <a:ln>
            <a:noFill/>
          </a:ln>
        </p:spPr>
        <p:txBody>
          <a:bodyPr wrap="square" rtlCol="0">
            <a:spAutoFit/>
          </a:bodyPr>
          <a:lstStyle/>
          <a:p>
            <a:pPr marL="174625" indent="-174625" algn="r">
              <a:spcBef>
                <a:spcPts val="12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集成计划以职能为中心，计划职能涉及多个部门</a:t>
            </a:r>
            <a:endPar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a:p>
            <a:pPr marL="174625" indent="-174625" algn="r">
              <a:spcBef>
                <a:spcPts val="1200"/>
              </a:spcBef>
            </a:pP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采购执行涉及多个部门，对供应商窗口较多</a:t>
            </a:r>
          </a:p>
        </p:txBody>
      </p:sp>
      <p:sp>
        <p:nvSpPr>
          <p:cNvPr id="15" name="TextBox 14"/>
          <p:cNvSpPr txBox="1"/>
          <p:nvPr/>
        </p:nvSpPr>
        <p:spPr bwMode="auto">
          <a:xfrm>
            <a:off x="1175657" y="3046411"/>
            <a:ext cx="3925485" cy="2831544"/>
          </a:xfrm>
          <a:prstGeom prst="rect">
            <a:avLst/>
          </a:prstGeom>
          <a:noFill/>
          <a:ln>
            <a:noFill/>
          </a:ln>
        </p:spPr>
        <p:txBody>
          <a:bodyPr wrap="square" rtlCol="0">
            <a:spAutoFit/>
          </a:bodyPr>
          <a:lstStyle/>
          <a:p>
            <a:pPr marL="174625" indent="-174625" algn="r">
              <a:spcBef>
                <a:spcPts val="1200"/>
              </a:spcBef>
            </a:pPr>
            <a:r>
              <a:rPr lang="zh-CN" altLang="en-US" sz="1200" dirty="0">
                <a:latin typeface="微软雅黑" panose="020B0503020204020204" charset="-122"/>
                <a:ea typeface="微软雅黑" panose="020B0503020204020204" charset="-122"/>
              </a:rPr>
              <a:t>需求计划准确率偏低，对生产和采购指导性不强</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缺乏端到端的订单管理，订单处理规则不明确</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产销平衡机制有待完善</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日锁定计划难以真正锁定，影响生产稳定性</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零部件计划对供应商备货及生产指导性不足</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因计划变更等造成的零部件缺件较多，供应及预警机制需完善</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zh-CN" altLang="en-US" sz="1200" dirty="0">
                <a:latin typeface="微软雅黑" panose="020B0503020204020204" charset="-122"/>
                <a:ea typeface="微软雅黑" panose="020B0503020204020204" charset="-122"/>
              </a:rPr>
              <a:t>工程变更频繁且信息下达不及时，影响生产的顺畅运行</a:t>
            </a:r>
            <a:endParaRPr lang="en-US" altLang="zh-CN" sz="1200" dirty="0">
              <a:latin typeface="微软雅黑" panose="020B0503020204020204" charset="-122"/>
              <a:ea typeface="微软雅黑" panose="020B0503020204020204" charset="-122"/>
            </a:endParaRPr>
          </a:p>
          <a:p>
            <a:pPr marL="174625" indent="-174625" algn="r">
              <a:spcBef>
                <a:spcPts val="1200"/>
              </a:spcBef>
            </a:pPr>
            <a:r>
              <a:rPr lang="en-US" altLang="zh-CN" sz="1200" dirty="0">
                <a:latin typeface="微软雅黑" panose="020B0503020204020204" charset="-122"/>
                <a:ea typeface="微软雅黑" panose="020B0503020204020204" charset="-122"/>
              </a:rPr>
              <a:t>MES</a:t>
            </a:r>
            <a:r>
              <a:rPr lang="zh-CN" altLang="en-US" sz="1200" dirty="0">
                <a:latin typeface="微软雅黑" panose="020B0503020204020204" charset="-122"/>
                <a:ea typeface="微软雅黑" panose="020B0503020204020204" charset="-122"/>
              </a:rPr>
              <a:t>自动化集成化程度较低，影响生产制造精益化水平</a:t>
            </a:r>
            <a:endPar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bwMode="auto">
          <a:xfrm>
            <a:off x="1249142" y="5871274"/>
            <a:ext cx="3852000" cy="276999"/>
          </a:xfrm>
          <a:prstGeom prst="rect">
            <a:avLst/>
          </a:prstGeom>
          <a:noFill/>
          <a:ln>
            <a:noFill/>
          </a:ln>
        </p:spPr>
        <p:txBody>
          <a:bodyPr wrap="square" rtlCol="0">
            <a:spAutoFit/>
          </a:bodyPr>
          <a:lstStyle/>
          <a:p>
            <a:pPr marL="174625" indent="-174625" algn="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集成计划指标体系还不完善，过程性管理指标较少</a:t>
            </a:r>
          </a:p>
        </p:txBody>
      </p:sp>
      <p:sp>
        <p:nvSpPr>
          <p:cNvPr id="17" name="TextBox 16"/>
          <p:cNvSpPr txBox="1"/>
          <p:nvPr/>
        </p:nvSpPr>
        <p:spPr bwMode="auto">
          <a:xfrm>
            <a:off x="1249142" y="6183177"/>
            <a:ext cx="3852000" cy="461665"/>
          </a:xfrm>
          <a:prstGeom prst="rect">
            <a:avLst/>
          </a:prstGeom>
          <a:noFill/>
          <a:ln>
            <a:noFill/>
          </a:ln>
        </p:spPr>
        <p:txBody>
          <a:bodyPr wrap="square" rtlCol="0">
            <a:spAutoFit/>
          </a:bodyPr>
          <a:lstStyle/>
          <a:p>
            <a:pPr algn="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集成计划相关的一部分业务还未搭建流程，未来需要基于计划模式及方案对流程进行新增与优化</a:t>
            </a:r>
          </a:p>
        </p:txBody>
      </p:sp>
      <p:sp>
        <p:nvSpPr>
          <p:cNvPr id="18" name="圆角矩形 17"/>
          <p:cNvSpPr/>
          <p:nvPr/>
        </p:nvSpPr>
        <p:spPr bwMode="auto">
          <a:xfrm>
            <a:off x="485520" y="1389954"/>
            <a:ext cx="722810" cy="745007"/>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模式</a:t>
            </a:r>
          </a:p>
        </p:txBody>
      </p:sp>
      <p:sp>
        <p:nvSpPr>
          <p:cNvPr id="19" name="圆角矩形 18"/>
          <p:cNvSpPr/>
          <p:nvPr/>
        </p:nvSpPr>
        <p:spPr bwMode="auto">
          <a:xfrm>
            <a:off x="485520" y="2403469"/>
            <a:ext cx="722810" cy="46800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组织</a:t>
            </a:r>
          </a:p>
        </p:txBody>
      </p:sp>
      <p:sp>
        <p:nvSpPr>
          <p:cNvPr id="20" name="圆角矩形 19"/>
          <p:cNvSpPr/>
          <p:nvPr/>
        </p:nvSpPr>
        <p:spPr bwMode="auto">
          <a:xfrm>
            <a:off x="485520" y="3403601"/>
            <a:ext cx="722810" cy="1571636"/>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业务</a:t>
            </a:r>
          </a:p>
        </p:txBody>
      </p:sp>
      <p:sp>
        <p:nvSpPr>
          <p:cNvPr id="21" name="圆角矩形 20"/>
          <p:cNvSpPr/>
          <p:nvPr/>
        </p:nvSpPr>
        <p:spPr bwMode="auto">
          <a:xfrm>
            <a:off x="485520" y="5895851"/>
            <a:ext cx="722810" cy="230537"/>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绩效</a:t>
            </a:r>
          </a:p>
        </p:txBody>
      </p:sp>
      <p:sp>
        <p:nvSpPr>
          <p:cNvPr id="22" name="圆角矩形 21"/>
          <p:cNvSpPr/>
          <p:nvPr/>
        </p:nvSpPr>
        <p:spPr bwMode="auto">
          <a:xfrm>
            <a:off x="485520" y="6251909"/>
            <a:ext cx="722810" cy="353451"/>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a:ln>
          <a:effectLst/>
        </p:spPr>
        <p:txBody>
          <a:bodyPr rtlCol="0" anchor="ctr"/>
          <a:lstStyle/>
          <a:p>
            <a:pPr algn="ctr"/>
            <a:r>
              <a:rPr lang="zh-CN" altLang="en-US" sz="1600" b="1" dirty="0">
                <a:latin typeface="微软雅黑" panose="020B0503020204020204" charset="-122"/>
                <a:ea typeface="微软雅黑" panose="020B0503020204020204" charset="-122"/>
              </a:rPr>
              <a:t>流程</a:t>
            </a:r>
          </a:p>
        </p:txBody>
      </p:sp>
      <p:cxnSp>
        <p:nvCxnSpPr>
          <p:cNvPr id="25" name="直接连接符 24"/>
          <p:cNvCxnSpPr/>
          <p:nvPr/>
        </p:nvCxnSpPr>
        <p:spPr bwMode="auto">
          <a:xfrm>
            <a:off x="485520" y="2289621"/>
            <a:ext cx="5112000" cy="1588"/>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6" name="直接连接符 25"/>
          <p:cNvCxnSpPr/>
          <p:nvPr/>
        </p:nvCxnSpPr>
        <p:spPr bwMode="auto">
          <a:xfrm>
            <a:off x="485520" y="2974973"/>
            <a:ext cx="5112000" cy="1588"/>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7" name="直接连接符 26"/>
          <p:cNvCxnSpPr/>
          <p:nvPr/>
        </p:nvCxnSpPr>
        <p:spPr bwMode="auto">
          <a:xfrm>
            <a:off x="485520" y="5833169"/>
            <a:ext cx="5112000" cy="1588"/>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8" name="椭圆 11"/>
          <p:cNvSpPr>
            <a:spLocks noChangeArrowheads="1"/>
          </p:cNvSpPr>
          <p:nvPr/>
        </p:nvSpPr>
        <p:spPr bwMode="auto">
          <a:xfrm>
            <a:off x="5142146" y="1655284"/>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2</a:t>
            </a:r>
            <a:endParaRPr lang="zh-CN" altLang="en-US" sz="1200" b="1">
              <a:solidFill>
                <a:schemeClr val="bg1"/>
              </a:solidFill>
              <a:latin typeface="微软雅黑" panose="020B0503020204020204" charset="-122"/>
              <a:ea typeface="微软雅黑" panose="020B0503020204020204" charset="-122"/>
            </a:endParaRPr>
          </a:p>
        </p:txBody>
      </p:sp>
      <p:sp>
        <p:nvSpPr>
          <p:cNvPr id="29" name="椭圆 12"/>
          <p:cNvSpPr>
            <a:spLocks noChangeArrowheads="1"/>
          </p:cNvSpPr>
          <p:nvPr/>
        </p:nvSpPr>
        <p:spPr bwMode="auto">
          <a:xfrm>
            <a:off x="5142146" y="1996356"/>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3</a:t>
            </a:r>
            <a:endParaRPr lang="zh-CN" altLang="en-US" sz="1200" b="1">
              <a:solidFill>
                <a:schemeClr val="bg1"/>
              </a:solidFill>
              <a:latin typeface="微软雅黑" panose="020B0503020204020204" charset="-122"/>
              <a:ea typeface="微软雅黑" panose="020B0503020204020204" charset="-122"/>
            </a:endParaRPr>
          </a:p>
        </p:txBody>
      </p:sp>
      <p:sp>
        <p:nvSpPr>
          <p:cNvPr id="30" name="椭圆 13"/>
          <p:cNvSpPr>
            <a:spLocks noChangeArrowheads="1"/>
          </p:cNvSpPr>
          <p:nvPr/>
        </p:nvSpPr>
        <p:spPr bwMode="auto">
          <a:xfrm>
            <a:off x="5142146" y="2678500"/>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5</a:t>
            </a:r>
            <a:endParaRPr lang="zh-CN" altLang="en-US" sz="1200" b="1">
              <a:solidFill>
                <a:schemeClr val="bg1"/>
              </a:solidFill>
              <a:latin typeface="微软雅黑" panose="020B0503020204020204" charset="-122"/>
              <a:ea typeface="微软雅黑" panose="020B0503020204020204" charset="-122"/>
            </a:endParaRPr>
          </a:p>
        </p:txBody>
      </p:sp>
      <p:sp>
        <p:nvSpPr>
          <p:cNvPr id="31" name="椭圆 14"/>
          <p:cNvSpPr>
            <a:spLocks noChangeArrowheads="1"/>
          </p:cNvSpPr>
          <p:nvPr/>
        </p:nvSpPr>
        <p:spPr bwMode="auto">
          <a:xfrm>
            <a:off x="5142146" y="2337428"/>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4</a:t>
            </a:r>
            <a:endParaRPr lang="zh-CN" altLang="en-US" sz="1200" b="1">
              <a:solidFill>
                <a:schemeClr val="bg1"/>
              </a:solidFill>
              <a:latin typeface="微软雅黑" panose="020B0503020204020204" charset="-122"/>
              <a:ea typeface="微软雅黑" panose="020B0503020204020204" charset="-122"/>
            </a:endParaRPr>
          </a:p>
        </p:txBody>
      </p:sp>
      <p:sp>
        <p:nvSpPr>
          <p:cNvPr id="32" name="椭圆 15"/>
          <p:cNvSpPr>
            <a:spLocks noChangeArrowheads="1"/>
          </p:cNvSpPr>
          <p:nvPr/>
        </p:nvSpPr>
        <p:spPr bwMode="auto">
          <a:xfrm>
            <a:off x="5142146" y="3019572"/>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6</a:t>
            </a:r>
            <a:endParaRPr lang="zh-CN" altLang="en-US" sz="1200" b="1">
              <a:solidFill>
                <a:schemeClr val="bg1"/>
              </a:solidFill>
              <a:latin typeface="微软雅黑" panose="020B0503020204020204" charset="-122"/>
              <a:ea typeface="微软雅黑" panose="020B0503020204020204" charset="-122"/>
            </a:endParaRPr>
          </a:p>
        </p:txBody>
      </p:sp>
      <p:sp>
        <p:nvSpPr>
          <p:cNvPr id="33" name="椭圆 16"/>
          <p:cNvSpPr>
            <a:spLocks noChangeArrowheads="1"/>
          </p:cNvSpPr>
          <p:nvPr/>
        </p:nvSpPr>
        <p:spPr bwMode="auto">
          <a:xfrm>
            <a:off x="5142146" y="3360644"/>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7</a:t>
            </a:r>
            <a:endParaRPr lang="zh-CN" altLang="en-US" sz="1200" b="1">
              <a:solidFill>
                <a:schemeClr val="bg1"/>
              </a:solidFill>
              <a:latin typeface="微软雅黑" panose="020B0503020204020204" charset="-122"/>
              <a:ea typeface="微软雅黑" panose="020B0503020204020204" charset="-122"/>
            </a:endParaRPr>
          </a:p>
        </p:txBody>
      </p:sp>
      <p:sp>
        <p:nvSpPr>
          <p:cNvPr id="34" name="椭圆 17"/>
          <p:cNvSpPr>
            <a:spLocks noChangeArrowheads="1"/>
          </p:cNvSpPr>
          <p:nvPr/>
        </p:nvSpPr>
        <p:spPr bwMode="auto">
          <a:xfrm>
            <a:off x="5142146" y="4042788"/>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9</a:t>
            </a:r>
            <a:endParaRPr lang="zh-CN" altLang="en-US" sz="1200" b="1">
              <a:solidFill>
                <a:schemeClr val="bg1"/>
              </a:solidFill>
              <a:latin typeface="微软雅黑" panose="020B0503020204020204" charset="-122"/>
              <a:ea typeface="微软雅黑" panose="020B0503020204020204" charset="-122"/>
            </a:endParaRPr>
          </a:p>
        </p:txBody>
      </p:sp>
      <p:sp>
        <p:nvSpPr>
          <p:cNvPr id="35" name="椭圆 18"/>
          <p:cNvSpPr>
            <a:spLocks noChangeArrowheads="1"/>
          </p:cNvSpPr>
          <p:nvPr/>
        </p:nvSpPr>
        <p:spPr bwMode="auto">
          <a:xfrm>
            <a:off x="5142146" y="4724932"/>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11</a:t>
            </a:r>
            <a:endParaRPr lang="zh-CN" altLang="en-US" sz="1200" b="1">
              <a:solidFill>
                <a:schemeClr val="bg1"/>
              </a:solidFill>
              <a:latin typeface="微软雅黑" panose="020B0503020204020204" charset="-122"/>
              <a:ea typeface="微软雅黑" panose="020B0503020204020204" charset="-122"/>
            </a:endParaRPr>
          </a:p>
        </p:txBody>
      </p:sp>
      <p:sp>
        <p:nvSpPr>
          <p:cNvPr id="36" name="椭圆 19"/>
          <p:cNvSpPr>
            <a:spLocks noChangeArrowheads="1"/>
          </p:cNvSpPr>
          <p:nvPr/>
        </p:nvSpPr>
        <p:spPr bwMode="auto">
          <a:xfrm>
            <a:off x="5142146" y="5529730"/>
            <a:ext cx="431800" cy="288925"/>
          </a:xfrm>
          <a:prstGeom prst="ellipse">
            <a:avLst/>
          </a:prstGeom>
          <a:solidFill>
            <a:schemeClr val="accent1"/>
          </a:solidFill>
          <a:ln w="9525" algn="ctr">
            <a:noFill/>
            <a:round/>
          </a:ln>
        </p:spPr>
        <p:txBody>
          <a:bodyPr wrap="none" lIns="0" rIns="0" anchor="ctr"/>
          <a:lstStyle/>
          <a:p>
            <a:pPr algn="ctr"/>
            <a:r>
              <a:rPr lang="en-US" altLang="zh-CN" sz="1200" b="1" dirty="0">
                <a:solidFill>
                  <a:schemeClr val="bg1"/>
                </a:solidFill>
                <a:latin typeface="微软雅黑" panose="020B0503020204020204" charset="-122"/>
                <a:ea typeface="微软雅黑" panose="020B0503020204020204" charset="-122"/>
              </a:rPr>
              <a:t>13</a:t>
            </a:r>
            <a:endParaRPr lang="zh-CN" altLang="en-US" sz="1200" b="1" dirty="0">
              <a:solidFill>
                <a:schemeClr val="bg1"/>
              </a:solidFill>
              <a:latin typeface="微软雅黑" panose="020B0503020204020204" charset="-122"/>
              <a:ea typeface="微软雅黑" panose="020B0503020204020204" charset="-122"/>
            </a:endParaRPr>
          </a:p>
        </p:txBody>
      </p:sp>
      <p:sp>
        <p:nvSpPr>
          <p:cNvPr id="37" name="椭圆 20"/>
          <p:cNvSpPr>
            <a:spLocks noChangeArrowheads="1"/>
          </p:cNvSpPr>
          <p:nvPr/>
        </p:nvSpPr>
        <p:spPr bwMode="auto">
          <a:xfrm>
            <a:off x="5142146" y="1315799"/>
            <a:ext cx="431800" cy="287338"/>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1</a:t>
            </a:r>
            <a:endParaRPr lang="zh-CN" altLang="en-US" sz="1200" b="1">
              <a:solidFill>
                <a:schemeClr val="bg1"/>
              </a:solidFill>
              <a:latin typeface="微软雅黑" panose="020B0503020204020204" charset="-122"/>
              <a:ea typeface="微软雅黑" panose="020B0503020204020204" charset="-122"/>
            </a:endParaRPr>
          </a:p>
        </p:txBody>
      </p:sp>
      <p:sp>
        <p:nvSpPr>
          <p:cNvPr id="38" name="椭圆 15"/>
          <p:cNvSpPr>
            <a:spLocks noChangeArrowheads="1"/>
          </p:cNvSpPr>
          <p:nvPr/>
        </p:nvSpPr>
        <p:spPr bwMode="auto">
          <a:xfrm>
            <a:off x="5154846" y="3701716"/>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8</a:t>
            </a:r>
            <a:endParaRPr lang="zh-CN" altLang="en-US" sz="1200" b="1">
              <a:solidFill>
                <a:schemeClr val="bg1"/>
              </a:solidFill>
              <a:latin typeface="微软雅黑" panose="020B0503020204020204" charset="-122"/>
              <a:ea typeface="微软雅黑" panose="020B0503020204020204" charset="-122"/>
            </a:endParaRPr>
          </a:p>
        </p:txBody>
      </p:sp>
      <p:sp>
        <p:nvSpPr>
          <p:cNvPr id="39" name="椭圆 16"/>
          <p:cNvSpPr>
            <a:spLocks noChangeArrowheads="1"/>
          </p:cNvSpPr>
          <p:nvPr/>
        </p:nvSpPr>
        <p:spPr bwMode="auto">
          <a:xfrm>
            <a:off x="5154846" y="4383860"/>
            <a:ext cx="431800" cy="288925"/>
          </a:xfrm>
          <a:prstGeom prst="ellipse">
            <a:avLst/>
          </a:prstGeom>
          <a:solidFill>
            <a:schemeClr val="accent1"/>
          </a:solidFill>
          <a:ln w="9525" algn="ctr">
            <a:noFill/>
            <a:round/>
          </a:ln>
        </p:spPr>
        <p:txBody>
          <a:bodyPr lIns="0" rIns="0" anchor="ctr"/>
          <a:lstStyle/>
          <a:p>
            <a:pPr algn="ctr"/>
            <a:r>
              <a:rPr lang="en-US" altLang="zh-CN" sz="1200" b="1" dirty="0">
                <a:solidFill>
                  <a:schemeClr val="bg1"/>
                </a:solidFill>
                <a:latin typeface="微软雅黑" panose="020B0503020204020204" charset="-122"/>
                <a:ea typeface="微软雅黑" panose="020B0503020204020204" charset="-122"/>
              </a:rPr>
              <a:t>10</a:t>
            </a:r>
            <a:endParaRPr lang="zh-CN" altLang="en-US" sz="1200" b="1" dirty="0">
              <a:solidFill>
                <a:schemeClr val="bg1"/>
              </a:solidFill>
              <a:latin typeface="微软雅黑" panose="020B0503020204020204" charset="-122"/>
              <a:ea typeface="微软雅黑" panose="020B0503020204020204" charset="-122"/>
            </a:endParaRPr>
          </a:p>
        </p:txBody>
      </p:sp>
      <p:sp>
        <p:nvSpPr>
          <p:cNvPr id="40" name="椭圆 17"/>
          <p:cNvSpPr>
            <a:spLocks noChangeArrowheads="1"/>
          </p:cNvSpPr>
          <p:nvPr/>
        </p:nvSpPr>
        <p:spPr bwMode="auto">
          <a:xfrm>
            <a:off x="5154846" y="5218856"/>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12</a:t>
            </a:r>
            <a:endParaRPr lang="zh-CN" altLang="en-US" sz="1200" b="1">
              <a:solidFill>
                <a:schemeClr val="bg1"/>
              </a:solidFill>
              <a:latin typeface="微软雅黑" panose="020B0503020204020204" charset="-122"/>
              <a:ea typeface="微软雅黑" panose="020B0503020204020204" charset="-122"/>
            </a:endParaRPr>
          </a:p>
        </p:txBody>
      </p:sp>
      <p:sp>
        <p:nvSpPr>
          <p:cNvPr id="41" name="椭圆 18"/>
          <p:cNvSpPr>
            <a:spLocks noChangeArrowheads="1"/>
          </p:cNvSpPr>
          <p:nvPr/>
        </p:nvSpPr>
        <p:spPr bwMode="auto">
          <a:xfrm>
            <a:off x="5154846" y="5902745"/>
            <a:ext cx="431800" cy="288925"/>
          </a:xfrm>
          <a:prstGeom prst="ellipse">
            <a:avLst/>
          </a:prstGeom>
          <a:solidFill>
            <a:schemeClr val="accent1"/>
          </a:solidFill>
          <a:ln w="9525" algn="ctr">
            <a:noFill/>
            <a:round/>
          </a:ln>
        </p:spPr>
        <p:txBody>
          <a:bodyPr lIns="0" rIns="0" anchor="ctr"/>
          <a:lstStyle/>
          <a:p>
            <a:pPr algn="ctr"/>
            <a:r>
              <a:rPr lang="en-US" altLang="zh-CN" sz="1200" b="1">
                <a:solidFill>
                  <a:schemeClr val="bg1"/>
                </a:solidFill>
                <a:latin typeface="微软雅黑" panose="020B0503020204020204" charset="-122"/>
                <a:ea typeface="微软雅黑" panose="020B0503020204020204" charset="-122"/>
              </a:rPr>
              <a:t>14</a:t>
            </a:r>
            <a:endParaRPr lang="zh-CN" altLang="en-US" sz="1200" b="1">
              <a:solidFill>
                <a:schemeClr val="bg1"/>
              </a:solidFill>
              <a:latin typeface="微软雅黑" panose="020B0503020204020204" charset="-122"/>
              <a:ea typeface="微软雅黑" panose="020B0503020204020204" charset="-122"/>
            </a:endParaRPr>
          </a:p>
        </p:txBody>
      </p:sp>
      <p:sp>
        <p:nvSpPr>
          <p:cNvPr id="42" name="椭圆 19"/>
          <p:cNvSpPr>
            <a:spLocks noChangeArrowheads="1"/>
          </p:cNvSpPr>
          <p:nvPr/>
        </p:nvSpPr>
        <p:spPr bwMode="auto">
          <a:xfrm>
            <a:off x="5154846" y="6237081"/>
            <a:ext cx="431800" cy="288925"/>
          </a:xfrm>
          <a:prstGeom prst="ellipse">
            <a:avLst/>
          </a:prstGeom>
          <a:solidFill>
            <a:schemeClr val="accent1"/>
          </a:solidFill>
          <a:ln w="9525" algn="ctr">
            <a:noFill/>
            <a:round/>
          </a:ln>
        </p:spPr>
        <p:txBody>
          <a:bodyPr wrap="none" lIns="0" rIns="0" anchor="ctr"/>
          <a:lstStyle/>
          <a:p>
            <a:pPr algn="ctr"/>
            <a:r>
              <a:rPr lang="en-US" altLang="zh-CN" sz="1200" b="1" dirty="0">
                <a:solidFill>
                  <a:schemeClr val="bg1"/>
                </a:solidFill>
                <a:latin typeface="微软雅黑" panose="020B0503020204020204" charset="-122"/>
                <a:ea typeface="微软雅黑" panose="020B0503020204020204" charset="-122"/>
              </a:rPr>
              <a:t>15</a:t>
            </a:r>
            <a:endParaRPr lang="zh-CN" altLang="en-US" sz="1200" b="1" dirty="0">
              <a:solidFill>
                <a:schemeClr val="bg1"/>
              </a:solidFill>
              <a:latin typeface="微软雅黑" panose="020B0503020204020204" charset="-122"/>
              <a:ea typeface="微软雅黑" panose="020B0503020204020204" charset="-122"/>
            </a:endParaRPr>
          </a:p>
        </p:txBody>
      </p:sp>
      <p:cxnSp>
        <p:nvCxnSpPr>
          <p:cNvPr id="43" name="直接连接符 42"/>
          <p:cNvCxnSpPr/>
          <p:nvPr/>
        </p:nvCxnSpPr>
        <p:spPr bwMode="auto">
          <a:xfrm>
            <a:off x="485520" y="6190359"/>
            <a:ext cx="5112000" cy="1588"/>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44" name="圆角矩形 82"/>
          <p:cNvSpPr>
            <a:spLocks noChangeArrowheads="1"/>
          </p:cNvSpPr>
          <p:nvPr/>
        </p:nvSpPr>
        <p:spPr bwMode="auto">
          <a:xfrm>
            <a:off x="6043171" y="3135992"/>
            <a:ext cx="1928825" cy="360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buAutoNum type="alphaUcPeriod"/>
            </a:pPr>
            <a:r>
              <a:rPr lang="zh-CN" altLang="en-US" sz="1400" b="1" dirty="0">
                <a:solidFill>
                  <a:srgbClr val="000000"/>
                </a:solidFill>
                <a:latin typeface="微软雅黑" panose="020B0503020204020204" charset="-122"/>
                <a:ea typeface="微软雅黑" panose="020B0503020204020204" charset="-122"/>
              </a:rPr>
              <a:t>需求管理解决方案</a:t>
            </a:r>
          </a:p>
        </p:txBody>
      </p:sp>
      <p:sp>
        <p:nvSpPr>
          <p:cNvPr id="45" name="圆角矩形 82"/>
          <p:cNvSpPr>
            <a:spLocks noChangeArrowheads="1"/>
          </p:cNvSpPr>
          <p:nvPr/>
        </p:nvSpPr>
        <p:spPr bwMode="auto">
          <a:xfrm>
            <a:off x="6043171" y="3584920"/>
            <a:ext cx="1928825" cy="360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pPr>
            <a:r>
              <a:rPr lang="en-US" altLang="zh-CN" sz="1400" b="1" dirty="0">
                <a:solidFill>
                  <a:srgbClr val="000000"/>
                </a:solidFill>
                <a:latin typeface="微软雅黑" panose="020B0503020204020204" charset="-122"/>
                <a:ea typeface="微软雅黑" panose="020B0503020204020204" charset="-122"/>
              </a:rPr>
              <a:t>B.	</a:t>
            </a:r>
            <a:r>
              <a:rPr lang="zh-CN" altLang="en-US" sz="1400" b="1" dirty="0">
                <a:solidFill>
                  <a:srgbClr val="000000"/>
                </a:solidFill>
                <a:latin typeface="微软雅黑" panose="020B0503020204020204" charset="-122"/>
                <a:ea typeface="微软雅黑" panose="020B0503020204020204" charset="-122"/>
              </a:rPr>
              <a:t>订单管理解决方案</a:t>
            </a:r>
          </a:p>
        </p:txBody>
      </p:sp>
      <p:sp>
        <p:nvSpPr>
          <p:cNvPr id="46" name="圆角矩形 82"/>
          <p:cNvSpPr>
            <a:spLocks noChangeArrowheads="1"/>
          </p:cNvSpPr>
          <p:nvPr/>
        </p:nvSpPr>
        <p:spPr bwMode="auto">
          <a:xfrm>
            <a:off x="6043171" y="4033848"/>
            <a:ext cx="1928825" cy="432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pPr>
            <a:r>
              <a:rPr lang="en-US" altLang="zh-CN" sz="1400" b="1" dirty="0">
                <a:solidFill>
                  <a:srgbClr val="000000"/>
                </a:solidFill>
                <a:latin typeface="微软雅黑" panose="020B0503020204020204" charset="-122"/>
                <a:ea typeface="微软雅黑" panose="020B0503020204020204" charset="-122"/>
              </a:rPr>
              <a:t>C.	</a:t>
            </a:r>
            <a:r>
              <a:rPr lang="zh-CN" altLang="en-US" sz="1400" b="1" dirty="0">
                <a:solidFill>
                  <a:srgbClr val="000000"/>
                </a:solidFill>
                <a:latin typeface="微软雅黑" panose="020B0503020204020204" charset="-122"/>
                <a:ea typeface="微软雅黑" panose="020B0503020204020204" charset="-122"/>
              </a:rPr>
              <a:t>产销平衡与生产计划解决方案</a:t>
            </a:r>
          </a:p>
        </p:txBody>
      </p:sp>
      <p:sp>
        <p:nvSpPr>
          <p:cNvPr id="47" name="圆角矩形 82"/>
          <p:cNvSpPr>
            <a:spLocks noChangeArrowheads="1"/>
          </p:cNvSpPr>
          <p:nvPr/>
        </p:nvSpPr>
        <p:spPr bwMode="auto">
          <a:xfrm>
            <a:off x="6043171" y="4554776"/>
            <a:ext cx="1928825" cy="432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pPr>
            <a:r>
              <a:rPr lang="en-US" altLang="zh-CN" sz="1400" b="1" dirty="0">
                <a:solidFill>
                  <a:srgbClr val="000000"/>
                </a:solidFill>
                <a:latin typeface="微软雅黑" panose="020B0503020204020204" charset="-122"/>
                <a:ea typeface="微软雅黑" panose="020B0503020204020204" charset="-122"/>
              </a:rPr>
              <a:t>D.	</a:t>
            </a:r>
            <a:r>
              <a:rPr lang="zh-CN" altLang="en-US" sz="1400" b="1" dirty="0">
                <a:solidFill>
                  <a:srgbClr val="000000"/>
                </a:solidFill>
                <a:latin typeface="微软雅黑" panose="020B0503020204020204" charset="-122"/>
                <a:ea typeface="微软雅黑" panose="020B0503020204020204" charset="-122"/>
              </a:rPr>
              <a:t>生产执行与物流</a:t>
            </a:r>
            <a:br>
              <a:rPr lang="en-US" altLang="zh-CN" sz="1400" b="1" dirty="0">
                <a:solidFill>
                  <a:srgbClr val="000000"/>
                </a:solidFill>
                <a:latin typeface="微软雅黑" panose="020B0503020204020204" charset="-122"/>
                <a:ea typeface="微软雅黑" panose="020B0503020204020204" charset="-122"/>
              </a:rPr>
            </a:br>
            <a:r>
              <a:rPr lang="zh-CN" altLang="en-US" sz="1400" b="1" dirty="0">
                <a:solidFill>
                  <a:srgbClr val="000000"/>
                </a:solidFill>
                <a:latin typeface="微软雅黑" panose="020B0503020204020204" charset="-122"/>
                <a:ea typeface="微软雅黑" panose="020B0503020204020204" charset="-122"/>
              </a:rPr>
              <a:t>解决方案</a:t>
            </a:r>
          </a:p>
        </p:txBody>
      </p:sp>
      <p:sp>
        <p:nvSpPr>
          <p:cNvPr id="48" name="圆角矩形 82"/>
          <p:cNvSpPr>
            <a:spLocks noChangeArrowheads="1"/>
          </p:cNvSpPr>
          <p:nvPr/>
        </p:nvSpPr>
        <p:spPr bwMode="auto">
          <a:xfrm>
            <a:off x="6043171" y="5075703"/>
            <a:ext cx="1928825" cy="432000"/>
          </a:xfrm>
          <a:prstGeom prst="roundRect">
            <a:avLst>
              <a:gd name="adj" fmla="val 16667"/>
            </a:avLst>
          </a:prstGeom>
          <a:solidFill>
            <a:srgbClr val="CCCCFF"/>
          </a:solidFill>
          <a:ln w="6350">
            <a:solidFill>
              <a:schemeClr val="tx1"/>
            </a:solidFill>
            <a:miter lim="800000"/>
          </a:ln>
        </p:spPr>
        <p:txBody>
          <a:bodyPr anchor="ctr"/>
          <a:lstStyle/>
          <a:p>
            <a:pPr marL="262255" indent="-262255">
              <a:buClr>
                <a:schemeClr val="tx1"/>
              </a:buClr>
            </a:pPr>
            <a:r>
              <a:rPr lang="en-US" altLang="zh-CN" sz="1400" b="1" dirty="0">
                <a:solidFill>
                  <a:srgbClr val="000000"/>
                </a:solidFill>
                <a:latin typeface="微软雅黑" panose="020B0503020204020204" charset="-122"/>
                <a:ea typeface="微软雅黑" panose="020B0503020204020204" charset="-122"/>
              </a:rPr>
              <a:t>E.	</a:t>
            </a:r>
            <a:r>
              <a:rPr lang="zh-CN" altLang="en-US" sz="1400" b="1" dirty="0">
                <a:solidFill>
                  <a:srgbClr val="000000"/>
                </a:solidFill>
                <a:latin typeface="微软雅黑" panose="020B0503020204020204" charset="-122"/>
                <a:ea typeface="微软雅黑" panose="020B0503020204020204" charset="-122"/>
              </a:rPr>
              <a:t>零部件计划与交付解决方案</a:t>
            </a:r>
          </a:p>
        </p:txBody>
      </p:sp>
      <p:sp>
        <p:nvSpPr>
          <p:cNvPr id="49" name="圆角矩形 82"/>
          <p:cNvSpPr>
            <a:spLocks noChangeArrowheads="1"/>
          </p:cNvSpPr>
          <p:nvPr/>
        </p:nvSpPr>
        <p:spPr bwMode="auto">
          <a:xfrm>
            <a:off x="6043171" y="2474907"/>
            <a:ext cx="1928825" cy="410485"/>
          </a:xfrm>
          <a:prstGeom prst="roundRect">
            <a:avLst>
              <a:gd name="adj" fmla="val 16667"/>
            </a:avLst>
          </a:prstGeom>
          <a:gradFill flip="none" rotWithShape="1">
            <a:gsLst>
              <a:gs pos="2000">
                <a:srgbClr val="CCCCFF"/>
              </a:gs>
              <a:gs pos="100000">
                <a:srgbClr val="FFFFCC"/>
              </a:gs>
              <a:gs pos="0">
                <a:schemeClr val="accent1">
                  <a:tint val="66000"/>
                  <a:satMod val="160000"/>
                </a:schemeClr>
              </a:gs>
              <a:gs pos="0">
                <a:schemeClr val="accent1">
                  <a:tint val="66000"/>
                  <a:satMod val="160000"/>
                </a:schemeClr>
              </a:gs>
              <a:gs pos="0">
                <a:schemeClr val="accent1">
                  <a:tint val="66000"/>
                  <a:satMod val="160000"/>
                </a:schemeClr>
              </a:gs>
              <a:gs pos="0">
                <a:schemeClr val="accent1">
                  <a:tint val="66000"/>
                  <a:satMod val="160000"/>
                </a:schemeClr>
              </a:gs>
              <a:gs pos="0">
                <a:schemeClr val="accent1">
                  <a:tint val="66000"/>
                  <a:satMod val="160000"/>
                </a:schemeClr>
              </a:gs>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6350">
            <a:solidFill>
              <a:schemeClr val="tx1"/>
            </a:solidFill>
            <a:miter lim="800000"/>
          </a:ln>
        </p:spPr>
        <p:txBody>
          <a:bodyPr anchor="ctr"/>
          <a:lstStyle/>
          <a:p>
            <a:pPr marL="262255" indent="-262255" algn="ctr">
              <a:buClr>
                <a:schemeClr val="tx1"/>
              </a:buClr>
            </a:pPr>
            <a:r>
              <a:rPr lang="zh-CN" altLang="en-US" sz="1400" b="1" dirty="0">
                <a:latin typeface="微软雅黑" panose="020B0503020204020204" charset="-122"/>
                <a:ea typeface="微软雅黑" panose="020B0503020204020204" charset="-122"/>
              </a:rPr>
              <a:t>组织研讨及共识</a:t>
            </a:r>
          </a:p>
        </p:txBody>
      </p:sp>
      <p:sp>
        <p:nvSpPr>
          <p:cNvPr id="50" name="圆角矩形 82"/>
          <p:cNvSpPr>
            <a:spLocks noChangeArrowheads="1"/>
          </p:cNvSpPr>
          <p:nvPr/>
        </p:nvSpPr>
        <p:spPr bwMode="auto">
          <a:xfrm>
            <a:off x="6043171" y="1593611"/>
            <a:ext cx="1928825" cy="410485"/>
          </a:xfrm>
          <a:prstGeom prst="roundRect">
            <a:avLst>
              <a:gd name="adj" fmla="val 16667"/>
            </a:avLst>
          </a:prstGeom>
          <a:solidFill>
            <a:srgbClr val="CCCCFF"/>
          </a:solidFill>
          <a:ln w="6350">
            <a:solidFill>
              <a:schemeClr val="tx1"/>
            </a:solidFill>
            <a:miter lim="800000"/>
          </a:ln>
        </p:spPr>
        <p:txBody>
          <a:bodyPr anchor="ctr"/>
          <a:lstStyle/>
          <a:p>
            <a:pPr marL="262255" indent="-262255" algn="ctr">
              <a:buClr>
                <a:schemeClr val="tx1"/>
              </a:buClr>
            </a:pPr>
            <a:r>
              <a:rPr lang="zh-CN" altLang="en-US" sz="1400" b="1" dirty="0">
                <a:solidFill>
                  <a:srgbClr val="000000"/>
                </a:solidFill>
                <a:latin typeface="微软雅黑" panose="020B0503020204020204" charset="-122"/>
                <a:ea typeface="微软雅黑" panose="020B0503020204020204" charset="-122"/>
              </a:rPr>
              <a:t>计划模式研讨及共识</a:t>
            </a:r>
          </a:p>
        </p:txBody>
      </p:sp>
      <p:sp>
        <p:nvSpPr>
          <p:cNvPr id="51" name="圆角矩形 82"/>
          <p:cNvSpPr>
            <a:spLocks noChangeArrowheads="1"/>
          </p:cNvSpPr>
          <p:nvPr/>
        </p:nvSpPr>
        <p:spPr bwMode="auto">
          <a:xfrm>
            <a:off x="6043171" y="5722275"/>
            <a:ext cx="1928825" cy="346060"/>
          </a:xfrm>
          <a:prstGeom prst="roundRect">
            <a:avLst>
              <a:gd name="adj" fmla="val 16667"/>
            </a:avLst>
          </a:prstGeom>
          <a:solidFill>
            <a:srgbClr val="FFFFCC"/>
          </a:solidFill>
          <a:ln w="6350">
            <a:solidFill>
              <a:schemeClr val="tx1"/>
            </a:solidFill>
            <a:miter lim="800000"/>
          </a:ln>
        </p:spPr>
        <p:txBody>
          <a:bodyPr anchor="ctr"/>
          <a:lstStyle/>
          <a:p>
            <a:pPr marL="262255" indent="-262255" algn="ctr">
              <a:buClr>
                <a:schemeClr val="tx1"/>
              </a:buClr>
            </a:pPr>
            <a:r>
              <a:rPr lang="zh-CN" altLang="en-US" sz="1400" b="1" dirty="0">
                <a:latin typeface="微软雅黑" panose="020B0503020204020204" charset="-122"/>
                <a:ea typeface="微软雅黑" panose="020B0503020204020204" charset="-122"/>
              </a:rPr>
              <a:t>绩效体系设计</a:t>
            </a:r>
          </a:p>
        </p:txBody>
      </p:sp>
      <p:sp>
        <p:nvSpPr>
          <p:cNvPr id="52" name="圆角矩形 82"/>
          <p:cNvSpPr>
            <a:spLocks noChangeArrowheads="1"/>
          </p:cNvSpPr>
          <p:nvPr/>
        </p:nvSpPr>
        <p:spPr bwMode="auto">
          <a:xfrm>
            <a:off x="6043171" y="6176301"/>
            <a:ext cx="1928825" cy="410485"/>
          </a:xfrm>
          <a:prstGeom prst="roundRect">
            <a:avLst>
              <a:gd name="adj" fmla="val 16667"/>
            </a:avLst>
          </a:prstGeom>
          <a:solidFill>
            <a:srgbClr val="FFFFCC"/>
          </a:solidFill>
          <a:ln w="6350">
            <a:solidFill>
              <a:schemeClr val="tx1"/>
            </a:solidFill>
            <a:miter lim="800000"/>
          </a:ln>
        </p:spPr>
        <p:txBody>
          <a:bodyPr anchor="ctr"/>
          <a:lstStyle/>
          <a:p>
            <a:pPr marL="262255" indent="-262255" algn="ctr">
              <a:buClr>
                <a:schemeClr val="tx1"/>
              </a:buClr>
            </a:pPr>
            <a:r>
              <a:rPr lang="zh-CN" altLang="en-US" sz="1400" b="1" dirty="0">
                <a:latin typeface="微软雅黑" panose="020B0503020204020204" charset="-122"/>
                <a:ea typeface="微软雅黑" panose="020B0503020204020204" charset="-122"/>
              </a:rPr>
              <a:t>流程设计</a:t>
            </a:r>
            <a:r>
              <a:rPr lang="en-US" altLang="zh-CN" sz="1400" b="1" dirty="0">
                <a:latin typeface="微软雅黑" panose="020B0503020204020204" charset="-122"/>
                <a:ea typeface="微软雅黑" panose="020B0503020204020204" charset="-122"/>
              </a:rPr>
              <a:t>/IT</a:t>
            </a:r>
            <a:r>
              <a:rPr lang="zh-CN" altLang="en-US" sz="1400" b="1" dirty="0">
                <a:latin typeface="微软雅黑" panose="020B0503020204020204" charset="-122"/>
                <a:ea typeface="微软雅黑" panose="020B0503020204020204" charset="-122"/>
              </a:rPr>
              <a:t>需求梳理</a:t>
            </a:r>
          </a:p>
        </p:txBody>
      </p:sp>
      <p:cxnSp>
        <p:nvCxnSpPr>
          <p:cNvPr id="53" name="直接连接符 91"/>
          <p:cNvCxnSpPr>
            <a:cxnSpLocks noChangeShapeType="1"/>
            <a:stCxn id="50" idx="1"/>
            <a:endCxn id="37" idx="6"/>
          </p:cNvCxnSpPr>
          <p:nvPr/>
        </p:nvCxnSpPr>
        <p:spPr bwMode="auto">
          <a:xfrm rot="10800000">
            <a:off x="5573947" y="1459468"/>
            <a:ext cx="469225" cy="339386"/>
          </a:xfrm>
          <a:prstGeom prst="line">
            <a:avLst/>
          </a:prstGeom>
          <a:noFill/>
          <a:ln w="9525" algn="ctr">
            <a:solidFill>
              <a:schemeClr val="tx1"/>
            </a:solidFill>
            <a:round/>
          </a:ln>
        </p:spPr>
      </p:cxnSp>
      <p:cxnSp>
        <p:nvCxnSpPr>
          <p:cNvPr id="56" name="直接连接符 91"/>
          <p:cNvCxnSpPr>
            <a:cxnSpLocks noChangeShapeType="1"/>
            <a:stCxn id="50" idx="1"/>
            <a:endCxn id="28" idx="6"/>
          </p:cNvCxnSpPr>
          <p:nvPr/>
        </p:nvCxnSpPr>
        <p:spPr bwMode="auto">
          <a:xfrm rot="10800000" flipV="1">
            <a:off x="5573947" y="1798853"/>
            <a:ext cx="469225" cy="893"/>
          </a:xfrm>
          <a:prstGeom prst="line">
            <a:avLst/>
          </a:prstGeom>
          <a:noFill/>
          <a:ln w="9525" algn="ctr">
            <a:solidFill>
              <a:schemeClr val="tx1"/>
            </a:solidFill>
            <a:round/>
          </a:ln>
        </p:spPr>
      </p:cxnSp>
      <p:cxnSp>
        <p:nvCxnSpPr>
          <p:cNvPr id="59" name="直接连接符 91"/>
          <p:cNvCxnSpPr>
            <a:cxnSpLocks noChangeShapeType="1"/>
            <a:stCxn id="50" idx="1"/>
            <a:endCxn id="29" idx="6"/>
          </p:cNvCxnSpPr>
          <p:nvPr/>
        </p:nvCxnSpPr>
        <p:spPr bwMode="auto">
          <a:xfrm rot="10800000" flipV="1">
            <a:off x="5573947" y="1798853"/>
            <a:ext cx="469225" cy="341965"/>
          </a:xfrm>
          <a:prstGeom prst="line">
            <a:avLst/>
          </a:prstGeom>
          <a:noFill/>
          <a:ln w="9525" algn="ctr">
            <a:solidFill>
              <a:schemeClr val="tx1"/>
            </a:solidFill>
            <a:round/>
          </a:ln>
        </p:spPr>
      </p:cxnSp>
      <p:cxnSp>
        <p:nvCxnSpPr>
          <p:cNvPr id="62" name="直接连接符 91"/>
          <p:cNvCxnSpPr>
            <a:cxnSpLocks noChangeShapeType="1"/>
            <a:stCxn id="49" idx="1"/>
            <a:endCxn id="31" idx="6"/>
          </p:cNvCxnSpPr>
          <p:nvPr/>
        </p:nvCxnSpPr>
        <p:spPr bwMode="auto">
          <a:xfrm rot="10800000">
            <a:off x="5573947" y="2481892"/>
            <a:ext cx="469225" cy="198259"/>
          </a:xfrm>
          <a:prstGeom prst="line">
            <a:avLst/>
          </a:prstGeom>
          <a:noFill/>
          <a:ln w="9525" algn="ctr">
            <a:solidFill>
              <a:schemeClr val="tx1"/>
            </a:solidFill>
            <a:round/>
          </a:ln>
        </p:spPr>
      </p:cxnSp>
      <p:cxnSp>
        <p:nvCxnSpPr>
          <p:cNvPr id="65" name="直接连接符 91"/>
          <p:cNvCxnSpPr>
            <a:cxnSpLocks noChangeShapeType="1"/>
            <a:stCxn id="49" idx="1"/>
            <a:endCxn id="30" idx="6"/>
          </p:cNvCxnSpPr>
          <p:nvPr/>
        </p:nvCxnSpPr>
        <p:spPr bwMode="auto">
          <a:xfrm rot="10800000" flipV="1">
            <a:off x="5573947" y="2680149"/>
            <a:ext cx="469225" cy="142813"/>
          </a:xfrm>
          <a:prstGeom prst="line">
            <a:avLst/>
          </a:prstGeom>
          <a:noFill/>
          <a:ln w="9525" algn="ctr">
            <a:solidFill>
              <a:schemeClr val="tx1"/>
            </a:solidFill>
            <a:round/>
          </a:ln>
        </p:spPr>
      </p:cxnSp>
      <p:cxnSp>
        <p:nvCxnSpPr>
          <p:cNvPr id="68" name="直接连接符 91"/>
          <p:cNvCxnSpPr>
            <a:cxnSpLocks noChangeShapeType="1"/>
            <a:stCxn id="44" idx="1"/>
            <a:endCxn id="32" idx="6"/>
          </p:cNvCxnSpPr>
          <p:nvPr/>
        </p:nvCxnSpPr>
        <p:spPr bwMode="auto">
          <a:xfrm rot="10800000">
            <a:off x="5573947" y="3164036"/>
            <a:ext cx="469225" cy="151957"/>
          </a:xfrm>
          <a:prstGeom prst="line">
            <a:avLst/>
          </a:prstGeom>
          <a:noFill/>
          <a:ln w="9525" algn="ctr">
            <a:solidFill>
              <a:schemeClr val="tx1"/>
            </a:solidFill>
            <a:round/>
          </a:ln>
        </p:spPr>
      </p:cxnSp>
      <p:cxnSp>
        <p:nvCxnSpPr>
          <p:cNvPr id="71" name="直接连接符 91"/>
          <p:cNvCxnSpPr>
            <a:cxnSpLocks noChangeShapeType="1"/>
            <a:stCxn id="45" idx="1"/>
            <a:endCxn id="33" idx="6"/>
          </p:cNvCxnSpPr>
          <p:nvPr/>
        </p:nvCxnSpPr>
        <p:spPr bwMode="auto">
          <a:xfrm rot="10800000">
            <a:off x="5573947" y="3505108"/>
            <a:ext cx="469225" cy="259813"/>
          </a:xfrm>
          <a:prstGeom prst="line">
            <a:avLst/>
          </a:prstGeom>
          <a:noFill/>
          <a:ln w="9525" algn="ctr">
            <a:solidFill>
              <a:schemeClr val="tx1"/>
            </a:solidFill>
            <a:round/>
          </a:ln>
        </p:spPr>
      </p:cxnSp>
      <p:cxnSp>
        <p:nvCxnSpPr>
          <p:cNvPr id="74" name="直接连接符 91"/>
          <p:cNvCxnSpPr>
            <a:cxnSpLocks noChangeShapeType="1"/>
            <a:stCxn id="46" idx="1"/>
            <a:endCxn id="38" idx="6"/>
          </p:cNvCxnSpPr>
          <p:nvPr/>
        </p:nvCxnSpPr>
        <p:spPr bwMode="auto">
          <a:xfrm rot="10800000">
            <a:off x="5586647" y="3846180"/>
            <a:ext cx="456525" cy="403669"/>
          </a:xfrm>
          <a:prstGeom prst="line">
            <a:avLst/>
          </a:prstGeom>
          <a:noFill/>
          <a:ln w="9525" algn="ctr">
            <a:solidFill>
              <a:schemeClr val="tx1"/>
            </a:solidFill>
            <a:round/>
          </a:ln>
        </p:spPr>
      </p:cxnSp>
      <p:cxnSp>
        <p:nvCxnSpPr>
          <p:cNvPr id="77" name="直接连接符 91"/>
          <p:cNvCxnSpPr>
            <a:cxnSpLocks noChangeShapeType="1"/>
            <a:stCxn id="50" idx="1"/>
            <a:endCxn id="34" idx="6"/>
          </p:cNvCxnSpPr>
          <p:nvPr/>
        </p:nvCxnSpPr>
        <p:spPr bwMode="auto">
          <a:xfrm rot="10800000" flipV="1">
            <a:off x="5573947" y="1798853"/>
            <a:ext cx="469225" cy="2388397"/>
          </a:xfrm>
          <a:prstGeom prst="line">
            <a:avLst/>
          </a:prstGeom>
          <a:noFill/>
          <a:ln w="9525" algn="ctr">
            <a:solidFill>
              <a:schemeClr val="tx1"/>
            </a:solidFill>
            <a:round/>
          </a:ln>
        </p:spPr>
      </p:cxnSp>
      <p:cxnSp>
        <p:nvCxnSpPr>
          <p:cNvPr id="80" name="直接连接符 91"/>
          <p:cNvCxnSpPr>
            <a:cxnSpLocks noChangeShapeType="1"/>
            <a:stCxn id="46" idx="1"/>
            <a:endCxn id="34" idx="6"/>
          </p:cNvCxnSpPr>
          <p:nvPr/>
        </p:nvCxnSpPr>
        <p:spPr bwMode="auto">
          <a:xfrm rot="10800000">
            <a:off x="5573947" y="4187252"/>
            <a:ext cx="469225" cy="62597"/>
          </a:xfrm>
          <a:prstGeom prst="line">
            <a:avLst/>
          </a:prstGeom>
          <a:noFill/>
          <a:ln w="9525" algn="ctr">
            <a:solidFill>
              <a:schemeClr val="tx1"/>
            </a:solidFill>
            <a:round/>
          </a:ln>
        </p:spPr>
      </p:cxnSp>
      <p:cxnSp>
        <p:nvCxnSpPr>
          <p:cNvPr id="83" name="直接连接符 91"/>
          <p:cNvCxnSpPr>
            <a:cxnSpLocks noChangeShapeType="1"/>
            <a:stCxn id="48" idx="1"/>
            <a:endCxn id="39" idx="6"/>
          </p:cNvCxnSpPr>
          <p:nvPr/>
        </p:nvCxnSpPr>
        <p:spPr bwMode="auto">
          <a:xfrm rot="10800000">
            <a:off x="5586647" y="4528323"/>
            <a:ext cx="456525" cy="763380"/>
          </a:xfrm>
          <a:prstGeom prst="line">
            <a:avLst/>
          </a:prstGeom>
          <a:noFill/>
          <a:ln w="9525" algn="ctr">
            <a:solidFill>
              <a:schemeClr val="tx1"/>
            </a:solidFill>
            <a:round/>
          </a:ln>
        </p:spPr>
      </p:cxnSp>
      <p:cxnSp>
        <p:nvCxnSpPr>
          <p:cNvPr id="86" name="直接连接符 91"/>
          <p:cNvCxnSpPr>
            <a:cxnSpLocks noChangeShapeType="1"/>
            <a:stCxn id="48" idx="1"/>
            <a:endCxn id="35" idx="6"/>
          </p:cNvCxnSpPr>
          <p:nvPr/>
        </p:nvCxnSpPr>
        <p:spPr bwMode="auto">
          <a:xfrm rot="10800000">
            <a:off x="5573947" y="4869395"/>
            <a:ext cx="469225" cy="422308"/>
          </a:xfrm>
          <a:prstGeom prst="line">
            <a:avLst/>
          </a:prstGeom>
          <a:noFill/>
          <a:ln w="9525" algn="ctr">
            <a:solidFill>
              <a:schemeClr val="tx1"/>
            </a:solidFill>
            <a:round/>
          </a:ln>
        </p:spPr>
      </p:cxnSp>
      <p:cxnSp>
        <p:nvCxnSpPr>
          <p:cNvPr id="89" name="直接连接符 91"/>
          <p:cNvCxnSpPr>
            <a:cxnSpLocks noChangeShapeType="1"/>
            <a:stCxn id="52" idx="1"/>
            <a:endCxn id="40" idx="6"/>
          </p:cNvCxnSpPr>
          <p:nvPr/>
        </p:nvCxnSpPr>
        <p:spPr bwMode="auto">
          <a:xfrm rot="10800000">
            <a:off x="5586647" y="5363320"/>
            <a:ext cx="456525" cy="1018225"/>
          </a:xfrm>
          <a:prstGeom prst="line">
            <a:avLst/>
          </a:prstGeom>
          <a:noFill/>
          <a:ln w="9525" algn="ctr">
            <a:solidFill>
              <a:schemeClr val="tx1"/>
            </a:solidFill>
            <a:round/>
          </a:ln>
        </p:spPr>
      </p:cxnSp>
      <p:cxnSp>
        <p:nvCxnSpPr>
          <p:cNvPr id="92" name="直接连接符 91"/>
          <p:cNvCxnSpPr>
            <a:cxnSpLocks noChangeShapeType="1"/>
            <a:stCxn id="47" idx="1"/>
            <a:endCxn id="36" idx="6"/>
          </p:cNvCxnSpPr>
          <p:nvPr/>
        </p:nvCxnSpPr>
        <p:spPr bwMode="auto">
          <a:xfrm rot="10800000" flipV="1">
            <a:off x="5573947" y="4770775"/>
            <a:ext cx="469225" cy="903417"/>
          </a:xfrm>
          <a:prstGeom prst="line">
            <a:avLst/>
          </a:prstGeom>
          <a:noFill/>
          <a:ln w="9525" algn="ctr">
            <a:solidFill>
              <a:schemeClr val="tx1"/>
            </a:solidFill>
            <a:round/>
          </a:ln>
        </p:spPr>
      </p:cxnSp>
      <p:cxnSp>
        <p:nvCxnSpPr>
          <p:cNvPr id="96" name="直接连接符 91"/>
          <p:cNvCxnSpPr>
            <a:cxnSpLocks noChangeShapeType="1"/>
            <a:stCxn id="51" idx="1"/>
            <a:endCxn id="41" idx="6"/>
          </p:cNvCxnSpPr>
          <p:nvPr/>
        </p:nvCxnSpPr>
        <p:spPr bwMode="auto">
          <a:xfrm rot="10800000" flipV="1">
            <a:off x="5586647" y="5895304"/>
            <a:ext cx="456525" cy="151903"/>
          </a:xfrm>
          <a:prstGeom prst="line">
            <a:avLst/>
          </a:prstGeom>
          <a:noFill/>
          <a:ln w="9525" algn="ctr">
            <a:solidFill>
              <a:schemeClr val="tx1"/>
            </a:solidFill>
            <a:round/>
          </a:ln>
        </p:spPr>
      </p:cxnSp>
      <p:cxnSp>
        <p:nvCxnSpPr>
          <p:cNvPr id="99" name="直接连接符 91"/>
          <p:cNvCxnSpPr>
            <a:cxnSpLocks noChangeShapeType="1"/>
            <a:stCxn id="52" idx="1"/>
            <a:endCxn id="42" idx="6"/>
          </p:cNvCxnSpPr>
          <p:nvPr/>
        </p:nvCxnSpPr>
        <p:spPr bwMode="auto">
          <a:xfrm rot="10800000">
            <a:off x="5586647" y="6381544"/>
            <a:ext cx="456525" cy="1588"/>
          </a:xfrm>
          <a:prstGeom prst="line">
            <a:avLst/>
          </a:prstGeom>
          <a:noFill/>
          <a:ln w="9525" algn="ctr">
            <a:solidFill>
              <a:schemeClr val="tx1"/>
            </a:solidFill>
            <a:round/>
          </a:ln>
        </p:spPr>
      </p:cxnSp>
      <p:cxnSp>
        <p:nvCxnSpPr>
          <p:cNvPr id="103" name="直接连接符 102"/>
          <p:cNvCxnSpPr/>
          <p:nvPr/>
        </p:nvCxnSpPr>
        <p:spPr bwMode="auto">
          <a:xfrm>
            <a:off x="6057586" y="1189023"/>
            <a:ext cx="1872000" cy="1588"/>
          </a:xfrm>
          <a:prstGeom prst="line">
            <a:avLst/>
          </a:prstGeom>
          <a:solidFill>
            <a:schemeClr val="accent1"/>
          </a:solidFill>
          <a:ln w="9525" cap="flat" cmpd="sng" algn="ctr">
            <a:solidFill>
              <a:schemeClr val="tx1"/>
            </a:solidFill>
            <a:prstDash val="solid"/>
            <a:round/>
            <a:headEnd type="none" w="med" len="med"/>
            <a:tailEnd type="none"/>
          </a:ln>
          <a:effectLst/>
        </p:spPr>
      </p:cxnSp>
      <p:sp>
        <p:nvSpPr>
          <p:cNvPr id="104" name="TextBox 103"/>
          <p:cNvSpPr txBox="1"/>
          <p:nvPr/>
        </p:nvSpPr>
        <p:spPr bwMode="auto">
          <a:xfrm>
            <a:off x="6504882" y="875868"/>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解决思路</a:t>
            </a:r>
          </a:p>
        </p:txBody>
      </p:sp>
      <p:cxnSp>
        <p:nvCxnSpPr>
          <p:cNvPr id="105" name="直接连接符 104"/>
          <p:cNvCxnSpPr/>
          <p:nvPr/>
        </p:nvCxnSpPr>
        <p:spPr bwMode="auto">
          <a:xfrm>
            <a:off x="1228928" y="1185394"/>
            <a:ext cx="4320000" cy="1588"/>
          </a:xfrm>
          <a:prstGeom prst="line">
            <a:avLst/>
          </a:prstGeom>
          <a:solidFill>
            <a:schemeClr val="accent1"/>
          </a:solidFill>
          <a:ln w="9525" cap="flat" cmpd="sng" algn="ctr">
            <a:solidFill>
              <a:schemeClr val="tx1"/>
            </a:solidFill>
            <a:prstDash val="solid"/>
            <a:round/>
            <a:headEnd type="none" w="med" len="med"/>
            <a:tailEnd type="none"/>
          </a:ln>
          <a:effectLst/>
        </p:spPr>
      </p:cxnSp>
      <p:sp>
        <p:nvSpPr>
          <p:cNvPr id="106" name="TextBox 105"/>
          <p:cNvSpPr txBox="1"/>
          <p:nvPr/>
        </p:nvSpPr>
        <p:spPr bwMode="auto">
          <a:xfrm>
            <a:off x="2886227" y="886260"/>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关键发现</a:t>
            </a:r>
          </a:p>
        </p:txBody>
      </p:sp>
      <p:sp>
        <p:nvSpPr>
          <p:cNvPr id="61" name="TextBox 60"/>
          <p:cNvSpPr txBox="1"/>
          <p:nvPr/>
        </p:nvSpPr>
        <p:spPr bwMode="auto">
          <a:xfrm>
            <a:off x="7985378" y="1637179"/>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清晰模式</a:t>
            </a:r>
          </a:p>
        </p:txBody>
      </p:sp>
      <p:cxnSp>
        <p:nvCxnSpPr>
          <p:cNvPr id="63" name="直接连接符 62"/>
          <p:cNvCxnSpPr/>
          <p:nvPr/>
        </p:nvCxnSpPr>
        <p:spPr bwMode="auto">
          <a:xfrm>
            <a:off x="8143900" y="1183769"/>
            <a:ext cx="720000" cy="1588"/>
          </a:xfrm>
          <a:prstGeom prst="line">
            <a:avLst/>
          </a:prstGeom>
          <a:solidFill>
            <a:schemeClr val="accent1"/>
          </a:solidFill>
          <a:ln w="9525" cap="flat" cmpd="sng" algn="ctr">
            <a:solidFill>
              <a:schemeClr val="tx1"/>
            </a:solidFill>
            <a:prstDash val="solid"/>
            <a:round/>
            <a:headEnd type="none" w="med" len="med"/>
            <a:tailEnd type="none"/>
          </a:ln>
          <a:effectLst/>
        </p:spPr>
      </p:cxnSp>
      <p:sp>
        <p:nvSpPr>
          <p:cNvPr id="64" name="TextBox 63"/>
          <p:cNvSpPr txBox="1"/>
          <p:nvPr/>
        </p:nvSpPr>
        <p:spPr bwMode="auto">
          <a:xfrm>
            <a:off x="8206383" y="870614"/>
            <a:ext cx="595035"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目标</a:t>
            </a:r>
          </a:p>
        </p:txBody>
      </p:sp>
      <p:sp>
        <p:nvSpPr>
          <p:cNvPr id="66" name="TextBox 65"/>
          <p:cNvSpPr txBox="1"/>
          <p:nvPr/>
        </p:nvSpPr>
        <p:spPr bwMode="auto">
          <a:xfrm>
            <a:off x="7985378" y="2518942"/>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理顺组织</a:t>
            </a:r>
          </a:p>
        </p:txBody>
      </p:sp>
      <p:sp>
        <p:nvSpPr>
          <p:cNvPr id="67" name="TextBox 66"/>
          <p:cNvSpPr txBox="1"/>
          <p:nvPr/>
        </p:nvSpPr>
        <p:spPr bwMode="auto">
          <a:xfrm>
            <a:off x="7985378" y="4091710"/>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优化业务</a:t>
            </a:r>
          </a:p>
        </p:txBody>
      </p:sp>
      <p:sp>
        <p:nvSpPr>
          <p:cNvPr id="69" name="TextBox 68"/>
          <p:cNvSpPr txBox="1"/>
          <p:nvPr/>
        </p:nvSpPr>
        <p:spPr bwMode="auto">
          <a:xfrm>
            <a:off x="7985378" y="5749298"/>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强化管控</a:t>
            </a:r>
          </a:p>
        </p:txBody>
      </p:sp>
      <p:sp>
        <p:nvSpPr>
          <p:cNvPr id="70" name="TextBox 69"/>
          <p:cNvSpPr txBox="1"/>
          <p:nvPr/>
        </p:nvSpPr>
        <p:spPr bwMode="auto">
          <a:xfrm>
            <a:off x="7985378" y="6233718"/>
            <a:ext cx="1005403" cy="338554"/>
          </a:xfrm>
          <a:prstGeom prst="rect">
            <a:avLst/>
          </a:prstGeom>
          <a:noFill/>
          <a:ln>
            <a:noFill/>
          </a:ln>
        </p:spPr>
        <p:txBody>
          <a:bodyPr wrap="none" rtlCol="0">
            <a:spAutoFit/>
          </a:bodyPr>
          <a:lstStyle/>
          <a:p>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规范流程</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lang="zh-CN" altLang="en-US" dirty="0"/>
              <a:t>顶层设计阶段主要工作内容</a:t>
            </a:r>
          </a:p>
        </p:txBody>
      </p:sp>
      <p:sp>
        <p:nvSpPr>
          <p:cNvPr id="38" name="矩形 54"/>
          <p:cNvSpPr>
            <a:spLocks noChangeArrowheads="1"/>
          </p:cNvSpPr>
          <p:nvPr/>
        </p:nvSpPr>
        <p:spPr bwMode="auto">
          <a:xfrm>
            <a:off x="3885518" y="3615422"/>
            <a:ext cx="142875" cy="214313"/>
          </a:xfrm>
          <a:prstGeom prst="rect">
            <a:avLst/>
          </a:prstGeom>
          <a:noFill/>
          <a:ln w="6350">
            <a:noFill/>
            <a:miter lim="800000"/>
          </a:ln>
        </p:spPr>
        <p:txBody>
          <a:bodyPr anchor="ctr"/>
          <a:lstStyle/>
          <a:p>
            <a:pPr marL="117475" marR="0" lvl="0" indent="-117475"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a:ln>
                <a:noFill/>
              </a:ln>
              <a:solidFill>
                <a:srgbClr val="000000"/>
              </a:solidFill>
              <a:effectLst/>
              <a:uLnTx/>
              <a:uFillTx/>
            </a:endParaRPr>
          </a:p>
        </p:txBody>
      </p:sp>
      <p:sp>
        <p:nvSpPr>
          <p:cNvPr id="39" name="矩形 52"/>
          <p:cNvSpPr>
            <a:spLocks noChangeArrowheads="1"/>
          </p:cNvSpPr>
          <p:nvPr/>
        </p:nvSpPr>
        <p:spPr bwMode="auto">
          <a:xfrm>
            <a:off x="4686982" y="4500566"/>
            <a:ext cx="142875" cy="214313"/>
          </a:xfrm>
          <a:prstGeom prst="rect">
            <a:avLst/>
          </a:prstGeom>
          <a:noFill/>
          <a:ln w="6350">
            <a:noFill/>
            <a:miter lim="800000"/>
          </a:ln>
        </p:spPr>
        <p:txBody>
          <a:bodyPr anchor="ctr"/>
          <a:lstStyle/>
          <a:p>
            <a:pPr marL="117475" marR="0" lvl="0" indent="-117475"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a:ln>
                <a:noFill/>
              </a:ln>
              <a:solidFill>
                <a:srgbClr val="000000"/>
              </a:solidFill>
              <a:effectLst/>
              <a:uLnTx/>
              <a:uFillTx/>
            </a:endParaRPr>
          </a:p>
        </p:txBody>
      </p:sp>
      <p:sp>
        <p:nvSpPr>
          <p:cNvPr id="40" name="圆角矩形 71"/>
          <p:cNvSpPr>
            <a:spLocks noChangeArrowheads="1"/>
          </p:cNvSpPr>
          <p:nvPr/>
        </p:nvSpPr>
        <p:spPr bwMode="auto">
          <a:xfrm>
            <a:off x="1329395" y="4487188"/>
            <a:ext cx="1368000" cy="792162"/>
          </a:xfrm>
          <a:prstGeom prst="roundRect">
            <a:avLst>
              <a:gd name="adj" fmla="val 16667"/>
            </a:avLst>
          </a:prstGeom>
          <a:solidFill>
            <a:schemeClr val="bg1"/>
          </a:solidFill>
          <a:ln w="28575" algn="ctr">
            <a:solidFill>
              <a:schemeClr val="bg1">
                <a:lumMod val="65000"/>
              </a:schemeClr>
            </a:solidFill>
            <a:prstDash val="dash"/>
            <a:round/>
          </a:ln>
          <a:effectLst>
            <a:outerShdw blurRad="50800" dist="38100" dir="2700000" algn="tl" rotWithShape="0">
              <a:prstClr val="black">
                <a:alpha val="40000"/>
              </a:prstClr>
            </a:outerShdw>
          </a:effectLst>
        </p:spPr>
        <p:txBody>
          <a:bodyPr lIns="90000" tIns="46800" rIns="90000" bIns="46800" anchor="ctr"/>
          <a:lstStyle/>
          <a:p>
            <a:pPr marL="174625" marR="0" lvl="0" indent="-174625" algn="ctr" defTabSz="914400" eaLnBrk="0" fontAlgn="auto" latinLnBrk="0" hangingPunct="0">
              <a:lnSpc>
                <a:spcPct val="100000"/>
              </a:lnSpc>
              <a:spcBef>
                <a:spcPts val="600"/>
              </a:spcBef>
              <a:spcAft>
                <a:spcPts val="0"/>
              </a:spcAft>
              <a:buClrTx/>
              <a:buSzTx/>
              <a:defRPr/>
            </a:pPr>
            <a:r>
              <a:rPr kumimoji="0" lang="zh-CN" altLang="en-US" sz="1200" b="1" i="0" u="none" strike="noStrike" kern="0" cap="none" spc="0" normalizeH="0" baseline="0" noProof="0" dirty="0">
                <a:ln>
                  <a:noFill/>
                </a:ln>
                <a:solidFill>
                  <a:schemeClr val="bg1">
                    <a:lumMod val="65000"/>
                  </a:schemeClr>
                </a:solidFill>
                <a:effectLst/>
                <a:uLnTx/>
                <a:uFillTx/>
                <a:latin typeface="微软雅黑" panose="020B0503020204020204" charset="-122"/>
                <a:ea typeface="微软雅黑" panose="020B0503020204020204" charset="-122"/>
              </a:rPr>
              <a:t>商机信息</a:t>
            </a:r>
            <a:endParaRPr kumimoji="0" lang="en-US" altLang="zh-CN" sz="1200" b="1" i="0" u="none" strike="noStrike" kern="0" cap="none" spc="0" normalizeH="0" baseline="0" noProof="0" dirty="0">
              <a:ln>
                <a:noFill/>
              </a:ln>
              <a:solidFill>
                <a:schemeClr val="bg1">
                  <a:lumMod val="65000"/>
                </a:schemeClr>
              </a:solidFill>
              <a:effectLst/>
              <a:uLnTx/>
              <a:uFillTx/>
              <a:latin typeface="微软雅黑" panose="020B0503020204020204" charset="-122"/>
              <a:ea typeface="微软雅黑" panose="020B0503020204020204" charset="-122"/>
            </a:endParaRPr>
          </a:p>
        </p:txBody>
      </p:sp>
      <p:sp>
        <p:nvSpPr>
          <p:cNvPr id="41" name="圆角矩形 72"/>
          <p:cNvSpPr>
            <a:spLocks noChangeArrowheads="1"/>
          </p:cNvSpPr>
          <p:nvPr/>
        </p:nvSpPr>
        <p:spPr bwMode="auto">
          <a:xfrm>
            <a:off x="3714744" y="3115352"/>
            <a:ext cx="1543741" cy="792162"/>
          </a:xfrm>
          <a:prstGeom prst="roundRect">
            <a:avLst>
              <a:gd name="adj" fmla="val 16667"/>
            </a:avLst>
          </a:prstGeom>
          <a:solidFill>
            <a:srgbClr val="D6DBFE"/>
          </a:solidFill>
          <a:ln w="28575" algn="ctr">
            <a:noFill/>
            <a:round/>
          </a:ln>
          <a:effectLst>
            <a:outerShdw blurRad="50800" dist="38100" dir="2700000" algn="tl" rotWithShape="0">
              <a:prstClr val="black">
                <a:alpha val="40000"/>
              </a:prstClr>
            </a:outerShdw>
          </a:effectLst>
        </p:spPr>
        <p:txBody>
          <a:bodyPr lIns="90000" tIns="46800" rIns="90000" bIns="46800" anchor="ctr"/>
          <a:lstStyle/>
          <a:p>
            <a:pPr marL="174625" marR="0" lvl="0" indent="-174625" defTabSz="914400" eaLnBrk="0" fontAlgn="auto" latinLnBrk="0" hangingPunct="0">
              <a:lnSpc>
                <a:spcPct val="100000"/>
              </a:lnSpc>
              <a:spcBef>
                <a:spcPts val="600"/>
              </a:spcBef>
              <a:spcAft>
                <a:spcPts val="0"/>
              </a:spcAft>
              <a:buClrTx/>
              <a:buSzTx/>
              <a:buFont typeface="+mj-lt"/>
              <a:buAutoNum type="alphaUcPeriod" startAt="3"/>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产销平衡与生产计划解决方案</a:t>
            </a: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42" name="AutoShape 13"/>
          <p:cNvCxnSpPr>
            <a:cxnSpLocks noChangeShapeType="1"/>
            <a:stCxn id="61" idx="3"/>
            <a:endCxn id="41" idx="1"/>
          </p:cNvCxnSpPr>
          <p:nvPr/>
        </p:nvCxnSpPr>
        <p:spPr bwMode="auto">
          <a:xfrm>
            <a:off x="2697395" y="3511433"/>
            <a:ext cx="1017349" cy="1588"/>
          </a:xfrm>
          <a:prstGeom prst="straightConnector1">
            <a:avLst/>
          </a:prstGeom>
          <a:noFill/>
          <a:ln w="9525">
            <a:solidFill>
              <a:srgbClr val="000000">
                <a:lumMod val="50000"/>
                <a:lumOff val="50000"/>
              </a:srgbClr>
            </a:solidFill>
            <a:miter lim="800000"/>
            <a:tailEnd type="triangle" w="med" len="med"/>
          </a:ln>
        </p:spPr>
      </p:cxnSp>
      <p:cxnSp>
        <p:nvCxnSpPr>
          <p:cNvPr id="43" name="AutoShape 15"/>
          <p:cNvCxnSpPr>
            <a:cxnSpLocks noChangeShapeType="1"/>
          </p:cNvCxnSpPr>
          <p:nvPr/>
        </p:nvCxnSpPr>
        <p:spPr bwMode="auto">
          <a:xfrm>
            <a:off x="4460432" y="4802191"/>
            <a:ext cx="0" cy="0"/>
          </a:xfrm>
          <a:prstGeom prst="straightConnector1">
            <a:avLst/>
          </a:prstGeom>
          <a:noFill/>
          <a:ln w="9525">
            <a:solidFill>
              <a:srgbClr val="000000"/>
            </a:solidFill>
            <a:round/>
            <a:tailEnd type="triangle" w="med" len="med"/>
          </a:ln>
          <a:effectLst>
            <a:prstShdw prst="shdw17" dist="17961" dir="2700000">
              <a:srgbClr val="000000">
                <a:gamma/>
                <a:shade val="60000"/>
                <a:invGamma/>
              </a:srgbClr>
            </a:prstShdw>
          </a:effectLst>
        </p:spPr>
      </p:cxnSp>
      <p:cxnSp>
        <p:nvCxnSpPr>
          <p:cNvPr id="45" name="AutoShape 20"/>
          <p:cNvCxnSpPr>
            <a:cxnSpLocks noChangeShapeType="1"/>
            <a:stCxn id="52" idx="0"/>
            <a:endCxn id="41" idx="2"/>
          </p:cNvCxnSpPr>
          <p:nvPr/>
        </p:nvCxnSpPr>
        <p:spPr bwMode="auto">
          <a:xfrm rot="5400000" flipH="1" flipV="1">
            <a:off x="4189744" y="4190317"/>
            <a:ext cx="579674" cy="14068"/>
          </a:xfrm>
          <a:prstGeom prst="straightConnector1">
            <a:avLst/>
          </a:prstGeom>
          <a:noFill/>
          <a:ln w="9525">
            <a:solidFill>
              <a:srgbClr val="000000">
                <a:lumMod val="50000"/>
                <a:lumOff val="50000"/>
              </a:srgbClr>
            </a:solidFill>
            <a:miter lim="800000"/>
            <a:tailEnd type="triangle" w="med" len="med"/>
          </a:ln>
        </p:spPr>
      </p:cxnSp>
      <p:sp>
        <p:nvSpPr>
          <p:cNvPr id="46" name="Text Box 29"/>
          <p:cNvSpPr txBox="1">
            <a:spLocks noChangeArrowheads="1"/>
          </p:cNvSpPr>
          <p:nvPr/>
        </p:nvSpPr>
        <p:spPr bwMode="auto">
          <a:xfrm>
            <a:off x="3685716" y="4046343"/>
            <a:ext cx="971550" cy="339725"/>
          </a:xfrm>
          <a:prstGeom prst="rect">
            <a:avLst/>
          </a:prstGeom>
          <a:noFill/>
          <a:ln w="9525">
            <a:noFill/>
            <a:miter lim="800000"/>
          </a:ln>
        </p:spPr>
        <p:txBody>
          <a:bodyPr>
            <a:spAutoFit/>
          </a:bodyPr>
          <a:lstStyle/>
          <a:p>
            <a:pPr marL="0" marR="0" lvl="0" indent="0" defTabSz="914400" eaLnBrk="1" fontAlgn="auto" latinLnBrk="0" hangingPunct="1">
              <a:lnSpc>
                <a:spcPct val="8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订单优先级</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8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和上线日期</a:t>
            </a: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sp>
        <p:nvSpPr>
          <p:cNvPr id="48" name="Text Box 37"/>
          <p:cNvSpPr txBox="1">
            <a:spLocks noChangeArrowheads="1"/>
          </p:cNvSpPr>
          <p:nvPr/>
        </p:nvSpPr>
        <p:spPr bwMode="auto">
          <a:xfrm>
            <a:off x="1543746" y="3283635"/>
            <a:ext cx="696913" cy="246062"/>
          </a:xfrm>
          <a:prstGeom prst="rect">
            <a:avLst/>
          </a:prstGeom>
          <a:noFill/>
          <a:ln w="9525">
            <a:noFill/>
            <a:miter lim="800000"/>
          </a:ln>
          <a:effectLst>
            <a:prstShdw prst="shdw17" dist="17961" dir="2700000">
              <a:srgbClr val="7889FB">
                <a:gamma/>
                <a:shade val="60000"/>
                <a:invGamma/>
              </a:srgbClr>
            </a:prstShdw>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需求计划</a:t>
            </a:r>
            <a:endParaRPr kumimoji="0" 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50" name="Text Box 46"/>
          <p:cNvSpPr txBox="1">
            <a:spLocks noChangeArrowheads="1"/>
          </p:cNvSpPr>
          <p:nvPr/>
        </p:nvSpPr>
        <p:spPr bwMode="auto">
          <a:xfrm>
            <a:off x="5510452" y="4702634"/>
            <a:ext cx="790575" cy="215900"/>
          </a:xfrm>
          <a:prstGeom prst="rect">
            <a:avLst/>
          </a:prstGeom>
          <a:noFill/>
          <a:ln w="9525">
            <a:noFill/>
            <a:miter lim="800000"/>
          </a:ln>
        </p:spPr>
        <p:txBody>
          <a:bodyPr>
            <a:spAutoFit/>
          </a:bodyPr>
          <a:lstStyle/>
          <a:p>
            <a:pPr marL="0" marR="0" lvl="0" indent="0" algn="ctr" defTabSz="914400" eaLnBrk="1" fontAlgn="auto" latinLnBrk="0" hangingPunct="1">
              <a:lnSpc>
                <a:spcPct val="8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订单状态</a:t>
            </a: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cxnSp>
        <p:nvCxnSpPr>
          <p:cNvPr id="51" name="AutoShape 47"/>
          <p:cNvCxnSpPr>
            <a:cxnSpLocks noChangeShapeType="1"/>
            <a:stCxn id="68" idx="0"/>
            <a:endCxn id="41" idx="0"/>
          </p:cNvCxnSpPr>
          <p:nvPr/>
        </p:nvCxnSpPr>
        <p:spPr bwMode="auto">
          <a:xfrm rot="16200000" flipV="1">
            <a:off x="5828181" y="1773786"/>
            <a:ext cx="1132" cy="2684264"/>
          </a:xfrm>
          <a:prstGeom prst="bentConnector3">
            <a:avLst>
              <a:gd name="adj1" fmla="val 20294346"/>
            </a:avLst>
          </a:prstGeom>
          <a:noFill/>
          <a:ln w="9525">
            <a:solidFill>
              <a:srgbClr val="000000">
                <a:lumMod val="50000"/>
                <a:lumOff val="50000"/>
              </a:srgbClr>
            </a:solidFill>
            <a:miter lim="800000"/>
            <a:tailEnd type="triangle" w="med" len="med"/>
          </a:ln>
        </p:spPr>
      </p:cxnSp>
      <p:sp>
        <p:nvSpPr>
          <p:cNvPr id="52" name="圆角矩形 74"/>
          <p:cNvSpPr>
            <a:spLocks noChangeArrowheads="1"/>
          </p:cNvSpPr>
          <p:nvPr/>
        </p:nvSpPr>
        <p:spPr bwMode="auto">
          <a:xfrm>
            <a:off x="3700676" y="4487188"/>
            <a:ext cx="1543741" cy="792162"/>
          </a:xfrm>
          <a:prstGeom prst="roundRect">
            <a:avLst>
              <a:gd name="adj" fmla="val 16667"/>
            </a:avLst>
          </a:prstGeom>
          <a:solidFill>
            <a:srgbClr val="D6DBFE"/>
          </a:solidFill>
          <a:ln w="28575" algn="ctr">
            <a:noFill/>
            <a:round/>
          </a:ln>
          <a:effectLst>
            <a:outerShdw blurRad="50800" dist="38100" dir="2700000" algn="tl" rotWithShape="0">
              <a:prstClr val="black">
                <a:alpha val="40000"/>
              </a:prstClr>
            </a:outerShdw>
          </a:effectLst>
        </p:spPr>
        <p:txBody>
          <a:bodyPr lIns="90000" tIns="46800" rIns="90000" bIns="46800" anchor="ctr"/>
          <a:lstStyle/>
          <a:p>
            <a:pPr marL="174625" marR="0" lvl="0" indent="-174625" defTabSz="914400" eaLnBrk="0" fontAlgn="auto" latinLnBrk="0" hangingPunct="0">
              <a:lnSpc>
                <a:spcPct val="100000"/>
              </a:lnSpc>
              <a:spcBef>
                <a:spcPts val="600"/>
              </a:spcBef>
              <a:spcAft>
                <a:spcPts val="0"/>
              </a:spcAft>
              <a:buClrTx/>
              <a:buSzTx/>
              <a:buFont typeface="+mj-lt"/>
              <a:buAutoNum type="alphaUcPeriod" startAt="2"/>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订单管理解决</a:t>
            </a:r>
            <a:br>
              <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方案</a:t>
            </a: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54" name="Text Box 48"/>
          <p:cNvSpPr txBox="1">
            <a:spLocks noChangeArrowheads="1"/>
          </p:cNvSpPr>
          <p:nvPr/>
        </p:nvSpPr>
        <p:spPr bwMode="auto">
          <a:xfrm>
            <a:off x="603912" y="2447467"/>
            <a:ext cx="1296987" cy="554037"/>
          </a:xfrm>
          <a:prstGeom prst="rect">
            <a:avLst/>
          </a:prstGeom>
          <a:noFill/>
          <a:ln w="9525">
            <a:noFill/>
            <a:miter lim="800000"/>
          </a:ln>
          <a:effectLst>
            <a:prstShdw prst="shdw17" dist="17961" dir="2700000">
              <a:srgbClr val="7889FB">
                <a:gamma/>
                <a:shade val="60000"/>
                <a:invGamma/>
              </a:srgbClr>
            </a:prstShdw>
          </a:effectLst>
        </p:spPr>
        <p:txBody>
          <a:bodyPr>
            <a:spAutoFit/>
          </a:body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物料供应对</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需求管理的要求</a:t>
            </a: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a:p>
            <a:pPr marL="0" marR="0" lvl="0" indent="0" algn="r"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sp>
        <p:nvSpPr>
          <p:cNvPr id="55" name="Text Box 28"/>
          <p:cNvSpPr txBox="1">
            <a:spLocks noChangeArrowheads="1"/>
          </p:cNvSpPr>
          <p:nvPr/>
        </p:nvSpPr>
        <p:spPr bwMode="auto">
          <a:xfrm>
            <a:off x="4790175" y="2644314"/>
            <a:ext cx="825500" cy="246062"/>
          </a:xfrm>
          <a:prstGeom prst="rect">
            <a:avLst/>
          </a:prstGeom>
          <a:noFill/>
          <a:ln w="9525">
            <a:noFill/>
            <a:miter lim="800000"/>
          </a:ln>
          <a:effectLst>
            <a:prstShdw prst="shdw17" dist="17961" dir="2700000">
              <a:srgbClr val="7889FB">
                <a:gamma/>
                <a:shade val="60000"/>
                <a:invGamma/>
              </a:srgbClr>
            </a:prstShdw>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供应商约束</a:t>
            </a: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grpSp>
        <p:nvGrpSpPr>
          <p:cNvPr id="56" name="组合 77"/>
          <p:cNvGrpSpPr/>
          <p:nvPr/>
        </p:nvGrpSpPr>
        <p:grpSpPr bwMode="auto">
          <a:xfrm>
            <a:off x="1843975" y="2430000"/>
            <a:ext cx="5557650" cy="685352"/>
            <a:chOff x="4003798" y="1571610"/>
            <a:chExt cx="3712268" cy="857257"/>
          </a:xfrm>
        </p:grpSpPr>
        <p:cxnSp>
          <p:nvCxnSpPr>
            <p:cNvPr id="57" name="直接连接符 67"/>
            <p:cNvCxnSpPr>
              <a:cxnSpLocks noChangeShapeType="1"/>
            </p:cNvCxnSpPr>
            <p:nvPr/>
          </p:nvCxnSpPr>
          <p:spPr bwMode="auto">
            <a:xfrm rot="5400000" flipH="1" flipV="1">
              <a:off x="7286644" y="1999445"/>
              <a:ext cx="857256" cy="1588"/>
            </a:xfrm>
            <a:prstGeom prst="line">
              <a:avLst/>
            </a:prstGeom>
            <a:noFill/>
            <a:ln w="9525" algn="ctr">
              <a:solidFill>
                <a:srgbClr val="000000">
                  <a:lumMod val="50000"/>
                  <a:lumOff val="50000"/>
                </a:srgbClr>
              </a:solidFill>
              <a:round/>
            </a:ln>
          </p:spPr>
        </p:cxnSp>
        <p:cxnSp>
          <p:nvCxnSpPr>
            <p:cNvPr id="58" name="直接连接符 69"/>
            <p:cNvCxnSpPr>
              <a:cxnSpLocks noChangeShapeType="1"/>
            </p:cNvCxnSpPr>
            <p:nvPr/>
          </p:nvCxnSpPr>
          <p:spPr bwMode="auto">
            <a:xfrm rot="10800000">
              <a:off x="4007640" y="1571612"/>
              <a:ext cx="3707633" cy="1588"/>
            </a:xfrm>
            <a:prstGeom prst="line">
              <a:avLst/>
            </a:prstGeom>
            <a:noFill/>
            <a:ln w="9525" algn="ctr">
              <a:solidFill>
                <a:srgbClr val="000000">
                  <a:lumMod val="50000"/>
                  <a:lumOff val="50000"/>
                </a:srgbClr>
              </a:solidFill>
              <a:round/>
            </a:ln>
          </p:spPr>
        </p:cxnSp>
        <p:cxnSp>
          <p:nvCxnSpPr>
            <p:cNvPr id="59" name="AutoShape 39"/>
            <p:cNvCxnSpPr>
              <a:cxnSpLocks noChangeShapeType="1"/>
            </p:cNvCxnSpPr>
            <p:nvPr/>
          </p:nvCxnSpPr>
          <p:spPr bwMode="auto">
            <a:xfrm rot="5400000">
              <a:off x="3576104" y="1999304"/>
              <a:ext cx="856975" cy="1588"/>
            </a:xfrm>
            <a:prstGeom prst="straightConnector1">
              <a:avLst/>
            </a:prstGeom>
            <a:noFill/>
            <a:ln w="9525">
              <a:solidFill>
                <a:srgbClr val="000000">
                  <a:lumMod val="50000"/>
                  <a:lumOff val="50000"/>
                </a:srgbClr>
              </a:solidFill>
              <a:round/>
              <a:tailEnd type="triangle" w="med" len="med"/>
            </a:ln>
          </p:spPr>
        </p:cxnSp>
      </p:grpSp>
      <p:sp>
        <p:nvSpPr>
          <p:cNvPr id="60" name="AutoShape 26"/>
          <p:cNvSpPr/>
          <p:nvPr/>
        </p:nvSpPr>
        <p:spPr bwMode="auto">
          <a:xfrm>
            <a:off x="2629574" y="2615286"/>
            <a:ext cx="1057275" cy="428625"/>
          </a:xfrm>
          <a:prstGeom prst="accentCallout2">
            <a:avLst>
              <a:gd name="adj1" fmla="val 44269"/>
              <a:gd name="adj2" fmla="val 96227"/>
              <a:gd name="adj3" fmla="val 42519"/>
              <a:gd name="adj4" fmla="val 96227"/>
              <a:gd name="adj5" fmla="val 129563"/>
              <a:gd name="adj6" fmla="val 112010"/>
            </a:avLst>
          </a:prstGeom>
          <a:noFill/>
          <a:ln w="9525">
            <a:solidFill>
              <a:srgbClr val="000000">
                <a:lumMod val="50000"/>
                <a:lumOff val="50000"/>
              </a:srgbClr>
            </a:solidFill>
            <a:miter lim="800000"/>
          </a:ln>
        </p:spPr>
        <p:txBody>
          <a:body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生产资源约束</a:t>
            </a: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sp>
        <p:nvSpPr>
          <p:cNvPr id="61" name="圆角矩形 71"/>
          <p:cNvSpPr>
            <a:spLocks noChangeArrowheads="1"/>
          </p:cNvSpPr>
          <p:nvPr/>
        </p:nvSpPr>
        <p:spPr bwMode="auto">
          <a:xfrm>
            <a:off x="1329395" y="3115352"/>
            <a:ext cx="1368000" cy="792162"/>
          </a:xfrm>
          <a:prstGeom prst="roundRect">
            <a:avLst>
              <a:gd name="adj" fmla="val 16667"/>
            </a:avLst>
          </a:prstGeom>
          <a:solidFill>
            <a:srgbClr val="D6DBFE"/>
          </a:solidFill>
          <a:ln w="28575" algn="ctr">
            <a:noFill/>
            <a:round/>
          </a:ln>
          <a:effectLst>
            <a:outerShdw blurRad="50800" dist="38100" dir="2700000" algn="tl" rotWithShape="0">
              <a:prstClr val="black">
                <a:alpha val="40000"/>
              </a:prstClr>
            </a:outerShdw>
          </a:effectLst>
        </p:spPr>
        <p:txBody>
          <a:bodyPr lIns="90000" tIns="46800" rIns="90000" bIns="46800" anchor="ctr"/>
          <a:lstStyle/>
          <a:p>
            <a:pPr marL="174625" marR="0" lvl="0" indent="-174625" defTabSz="914400" eaLnBrk="0" fontAlgn="auto" latinLnBrk="0" hangingPunct="0">
              <a:lnSpc>
                <a:spcPct val="100000"/>
              </a:lnSpc>
              <a:spcBef>
                <a:spcPts val="600"/>
              </a:spcBef>
              <a:spcAft>
                <a:spcPts val="0"/>
              </a:spcAft>
              <a:buClrTx/>
              <a:buSzTx/>
              <a:buFont typeface="+mj-lt"/>
              <a:buAutoNum type="alphaUcPeriod"/>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需求</a:t>
            </a:r>
            <a:r>
              <a:rPr lang="zh-CN" altLang="en-US" sz="1200" b="1" kern="0" dirty="0">
                <a:solidFill>
                  <a:sysClr val="windowText" lastClr="000000"/>
                </a:solidFill>
                <a:latin typeface="微软雅黑" panose="020B0503020204020204" charset="-122"/>
                <a:ea typeface="微软雅黑" panose="020B0503020204020204" charset="-122"/>
              </a:rPr>
              <a:t>管理</a:t>
            </a: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解决方案</a:t>
            </a: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62" name="AutoShape 39"/>
          <p:cNvCxnSpPr>
            <a:cxnSpLocks noChangeShapeType="1"/>
            <a:stCxn id="40" idx="0"/>
            <a:endCxn id="61" idx="2"/>
          </p:cNvCxnSpPr>
          <p:nvPr/>
        </p:nvCxnSpPr>
        <p:spPr bwMode="auto">
          <a:xfrm rot="5400000" flipH="1" flipV="1">
            <a:off x="1723558" y="4197351"/>
            <a:ext cx="579674" cy="1588"/>
          </a:xfrm>
          <a:prstGeom prst="straightConnector1">
            <a:avLst/>
          </a:prstGeom>
          <a:noFill/>
          <a:ln w="9525">
            <a:solidFill>
              <a:srgbClr val="000000">
                <a:lumMod val="50000"/>
                <a:lumOff val="50000"/>
              </a:srgbClr>
            </a:solidFill>
            <a:round/>
            <a:tailEnd type="triangle" w="med" len="med"/>
          </a:ln>
        </p:spPr>
      </p:cxnSp>
      <p:sp>
        <p:nvSpPr>
          <p:cNvPr id="63" name="AutoShape 26"/>
          <p:cNvSpPr/>
          <p:nvPr/>
        </p:nvSpPr>
        <p:spPr bwMode="auto">
          <a:xfrm>
            <a:off x="285719" y="3844246"/>
            <a:ext cx="1000133" cy="558122"/>
          </a:xfrm>
          <a:prstGeom prst="accentCallout2">
            <a:avLst>
              <a:gd name="adj1" fmla="val 13792"/>
              <a:gd name="adj2" fmla="val 98972"/>
              <a:gd name="adj3" fmla="val 48613"/>
              <a:gd name="adj4" fmla="val 100665"/>
              <a:gd name="adj5" fmla="val -14069"/>
              <a:gd name="adj6" fmla="val 125971"/>
            </a:avLst>
          </a:prstGeom>
          <a:noFill/>
          <a:ln w="9525">
            <a:solidFill>
              <a:srgbClr val="000000">
                <a:lumMod val="50000"/>
                <a:lumOff val="50000"/>
              </a:srgbClr>
            </a:solidFill>
            <a:miter lim="800000"/>
          </a:ln>
        </p:spPr>
        <p:txBody>
          <a:body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销售计划</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整机库存</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产能利用要求</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sp>
        <p:nvSpPr>
          <p:cNvPr id="64" name="Text Box 48"/>
          <p:cNvSpPr txBox="1">
            <a:spLocks noChangeArrowheads="1"/>
          </p:cNvSpPr>
          <p:nvPr/>
        </p:nvSpPr>
        <p:spPr bwMode="auto">
          <a:xfrm>
            <a:off x="1961234" y="4016150"/>
            <a:ext cx="939797" cy="400110"/>
          </a:xfrm>
          <a:prstGeom prst="rect">
            <a:avLst/>
          </a:prstGeom>
          <a:noFill/>
          <a:ln w="9525">
            <a:noFill/>
            <a:miter lim="800000"/>
          </a:ln>
          <a:effectLst>
            <a:prstShdw prst="shdw17" dist="17961" dir="2700000">
              <a:srgbClr val="7889FB">
                <a:gamma/>
                <a:shade val="60000"/>
                <a:invGamma/>
              </a:srgbClr>
            </a:prst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基于商机的</a:t>
            </a:r>
            <a:endParaRPr kumimoji="0" lang="en-US" altLang="zh-CN"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联合预测</a:t>
            </a: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sp>
        <p:nvSpPr>
          <p:cNvPr id="65" name="Text Box 48"/>
          <p:cNvSpPr txBox="1">
            <a:spLocks noChangeArrowheads="1"/>
          </p:cNvSpPr>
          <p:nvPr/>
        </p:nvSpPr>
        <p:spPr bwMode="auto">
          <a:xfrm>
            <a:off x="2858620" y="3254727"/>
            <a:ext cx="811435" cy="246221"/>
          </a:xfrm>
          <a:prstGeom prst="rect">
            <a:avLst/>
          </a:prstGeom>
          <a:noFill/>
          <a:ln w="9525">
            <a:noFill/>
            <a:miter lim="800000"/>
          </a:ln>
          <a:effectLst>
            <a:prstShdw prst="shdw17" dist="17961" dir="2700000">
              <a:srgbClr val="7889FB">
                <a:gamma/>
                <a:shade val="60000"/>
                <a:invGamma/>
              </a:srgbClr>
            </a:prst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需求计划</a:t>
            </a: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cxnSp>
        <p:nvCxnSpPr>
          <p:cNvPr id="66" name="AutoShape 39"/>
          <p:cNvCxnSpPr>
            <a:cxnSpLocks noChangeShapeType="1"/>
            <a:stCxn id="40" idx="3"/>
            <a:endCxn id="52" idx="1"/>
          </p:cNvCxnSpPr>
          <p:nvPr/>
        </p:nvCxnSpPr>
        <p:spPr bwMode="auto">
          <a:xfrm>
            <a:off x="2697395" y="4883269"/>
            <a:ext cx="1003281" cy="1588"/>
          </a:xfrm>
          <a:prstGeom prst="straightConnector1">
            <a:avLst/>
          </a:prstGeom>
          <a:noFill/>
          <a:ln w="9525">
            <a:solidFill>
              <a:srgbClr val="000000">
                <a:lumMod val="50000"/>
                <a:lumOff val="50000"/>
              </a:srgbClr>
            </a:solidFill>
            <a:round/>
            <a:tailEnd type="triangle" w="med" len="med"/>
          </a:ln>
        </p:spPr>
      </p:cxnSp>
      <p:sp>
        <p:nvSpPr>
          <p:cNvPr id="67" name="Text Box 48"/>
          <p:cNvSpPr txBox="1">
            <a:spLocks noChangeArrowheads="1"/>
          </p:cNvSpPr>
          <p:nvPr/>
        </p:nvSpPr>
        <p:spPr bwMode="auto">
          <a:xfrm>
            <a:off x="2786050" y="4656828"/>
            <a:ext cx="857255" cy="246221"/>
          </a:xfrm>
          <a:prstGeom prst="rect">
            <a:avLst/>
          </a:prstGeom>
          <a:noFill/>
          <a:ln w="9525">
            <a:noFill/>
            <a:miter lim="800000"/>
          </a:ln>
          <a:effectLst>
            <a:prstShdw prst="shdw17" dist="17961" dir="2700000">
              <a:srgbClr val="7889FB">
                <a:gamma/>
                <a:shade val="60000"/>
                <a:invGamma/>
              </a:srgbClr>
            </a:prst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rPr>
              <a:t>订单信息</a:t>
            </a:r>
            <a:endParaRPr kumimoji="0" lang="en-US" sz="1000" b="0" i="0" u="none" strike="noStrike" kern="0" cap="none" spc="0" normalizeH="0" baseline="0" noProof="0" dirty="0">
              <a:ln>
                <a:noFill/>
              </a:ln>
              <a:solidFill>
                <a:srgbClr val="000000">
                  <a:lumMod val="65000"/>
                  <a:lumOff val="35000"/>
                </a:srgbClr>
              </a:solidFill>
              <a:effectLst/>
              <a:uLnTx/>
              <a:uFillTx/>
              <a:latin typeface="微软雅黑" panose="020B0503020204020204" charset="-122"/>
              <a:ea typeface="微软雅黑" panose="020B0503020204020204" charset="-122"/>
            </a:endParaRPr>
          </a:p>
        </p:txBody>
      </p:sp>
      <p:sp>
        <p:nvSpPr>
          <p:cNvPr id="68" name="圆角矩形 77"/>
          <p:cNvSpPr>
            <a:spLocks noChangeArrowheads="1"/>
          </p:cNvSpPr>
          <p:nvPr/>
        </p:nvSpPr>
        <p:spPr bwMode="auto">
          <a:xfrm>
            <a:off x="6429388" y="3116484"/>
            <a:ext cx="1482981" cy="792162"/>
          </a:xfrm>
          <a:prstGeom prst="roundRect">
            <a:avLst>
              <a:gd name="adj" fmla="val 16667"/>
            </a:avLst>
          </a:prstGeom>
          <a:solidFill>
            <a:srgbClr val="D6DBFE"/>
          </a:solidFill>
          <a:ln w="28575" algn="ctr">
            <a:noFill/>
            <a:round/>
          </a:ln>
          <a:effectLst>
            <a:outerShdw blurRad="50800" dist="38100" dir="2700000" algn="tl" rotWithShape="0">
              <a:prstClr val="black">
                <a:alpha val="40000"/>
              </a:prstClr>
            </a:outerShdw>
          </a:effectLst>
        </p:spPr>
        <p:txBody>
          <a:bodyPr lIns="90000" tIns="46800" rIns="90000" bIns="46800" anchor="ctr"/>
          <a:lstStyle/>
          <a:p>
            <a:pPr marL="174625" marR="0" lvl="0" indent="-174625" defTabSz="914400" eaLnBrk="0" fontAlgn="auto" latinLnBrk="0" hangingPunct="0">
              <a:lnSpc>
                <a:spcPct val="100000"/>
              </a:lnSpc>
              <a:spcBef>
                <a:spcPts val="600"/>
              </a:spcBef>
              <a:spcAft>
                <a:spcPts val="0"/>
              </a:spcAft>
              <a:buClrTx/>
              <a:buSzTx/>
              <a:buFont typeface="+mj-lt"/>
              <a:buAutoNum type="alphaUcPeriod" startAt="5"/>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零部件计划与交付解决方案</a:t>
            </a: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69" name="AutoShape 20"/>
          <p:cNvCxnSpPr>
            <a:cxnSpLocks noChangeShapeType="1"/>
            <a:stCxn id="41" idx="3"/>
            <a:endCxn id="68" idx="1"/>
          </p:cNvCxnSpPr>
          <p:nvPr/>
        </p:nvCxnSpPr>
        <p:spPr bwMode="auto">
          <a:xfrm>
            <a:off x="5258485" y="3511433"/>
            <a:ext cx="1170903" cy="1132"/>
          </a:xfrm>
          <a:prstGeom prst="straightConnector1">
            <a:avLst/>
          </a:prstGeom>
          <a:noFill/>
          <a:ln w="9525">
            <a:solidFill>
              <a:srgbClr val="000000">
                <a:lumMod val="50000"/>
                <a:lumOff val="50000"/>
              </a:srgbClr>
            </a:solidFill>
            <a:miter lim="800000"/>
            <a:tailEnd type="triangle" w="med" len="med"/>
          </a:ln>
        </p:spPr>
      </p:cxnSp>
      <p:sp>
        <p:nvSpPr>
          <p:cNvPr id="70" name="Text Box 41"/>
          <p:cNvSpPr txBox="1">
            <a:spLocks noChangeArrowheads="1"/>
          </p:cNvSpPr>
          <p:nvPr/>
        </p:nvSpPr>
        <p:spPr bwMode="auto">
          <a:xfrm>
            <a:off x="5556926" y="3130998"/>
            <a:ext cx="697627" cy="400110"/>
          </a:xfrm>
          <a:prstGeom prst="rect">
            <a:avLst/>
          </a:prstGeom>
          <a:noFill/>
          <a:ln w="9525">
            <a:noFill/>
            <a:miter lim="800000"/>
          </a:ln>
          <a:effectLst>
            <a:prstShdw prst="shdw17" dist="17961" dir="2700000">
              <a:srgbClr val="7889FB">
                <a:gamma/>
                <a:shade val="60000"/>
                <a:invGamma/>
              </a:srgbClr>
            </a:prstShdw>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交付与</a:t>
            </a:r>
            <a:b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供应计划</a:t>
            </a:r>
            <a:endParaRPr kumimoji="0" 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71" name="圆角矩形 77"/>
          <p:cNvSpPr>
            <a:spLocks noChangeArrowheads="1"/>
          </p:cNvSpPr>
          <p:nvPr/>
        </p:nvSpPr>
        <p:spPr bwMode="auto">
          <a:xfrm>
            <a:off x="6428256" y="4487188"/>
            <a:ext cx="1482981" cy="792162"/>
          </a:xfrm>
          <a:prstGeom prst="roundRect">
            <a:avLst>
              <a:gd name="adj" fmla="val 16667"/>
            </a:avLst>
          </a:prstGeom>
          <a:solidFill>
            <a:srgbClr val="D6DBFE"/>
          </a:solidFill>
          <a:ln w="28575" algn="ctr">
            <a:noFill/>
            <a:round/>
          </a:ln>
          <a:effectLst>
            <a:outerShdw blurRad="50800" dist="38100" dir="2700000" algn="tl" rotWithShape="0">
              <a:prstClr val="black">
                <a:alpha val="40000"/>
              </a:prstClr>
            </a:outerShdw>
          </a:effectLst>
        </p:spPr>
        <p:txBody>
          <a:bodyPr lIns="90000" tIns="46800" rIns="90000" bIns="46800" anchor="ctr"/>
          <a:lstStyle/>
          <a:p>
            <a:pPr marL="174625" marR="0" lvl="0" indent="-174625" defTabSz="914400" eaLnBrk="0" fontAlgn="auto" latinLnBrk="0" hangingPunct="0">
              <a:lnSpc>
                <a:spcPct val="100000"/>
              </a:lnSpc>
              <a:spcBef>
                <a:spcPts val="600"/>
              </a:spcBef>
              <a:spcAft>
                <a:spcPts val="0"/>
              </a:spcAft>
              <a:buClrTx/>
              <a:buSzTx/>
              <a:buFont typeface="+mj-lt"/>
              <a:buAutoNum type="alphaUcPeriod" startAt="4"/>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生产执行与物流解决方案</a:t>
            </a: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73" name="AutoShape 20"/>
          <p:cNvCxnSpPr>
            <a:cxnSpLocks noChangeShapeType="1"/>
            <a:stCxn id="68" idx="2"/>
            <a:endCxn id="71" idx="0"/>
          </p:cNvCxnSpPr>
          <p:nvPr/>
        </p:nvCxnSpPr>
        <p:spPr bwMode="auto">
          <a:xfrm rot="5400000">
            <a:off x="6881042" y="4197351"/>
            <a:ext cx="578542" cy="1132"/>
          </a:xfrm>
          <a:prstGeom prst="straightConnector1">
            <a:avLst/>
          </a:prstGeom>
          <a:noFill/>
          <a:ln w="9525">
            <a:solidFill>
              <a:srgbClr val="000000">
                <a:lumMod val="50000"/>
                <a:lumOff val="50000"/>
              </a:srgbClr>
            </a:solidFill>
            <a:miter lim="800000"/>
            <a:tailEnd type="triangle" w="med" len="med"/>
          </a:ln>
        </p:spPr>
      </p:cxnSp>
      <p:cxnSp>
        <p:nvCxnSpPr>
          <p:cNvPr id="79" name="AutoShape 20"/>
          <p:cNvCxnSpPr>
            <a:cxnSpLocks noChangeShapeType="1"/>
            <a:stCxn id="71" idx="1"/>
            <a:endCxn id="52" idx="3"/>
          </p:cNvCxnSpPr>
          <p:nvPr/>
        </p:nvCxnSpPr>
        <p:spPr bwMode="auto">
          <a:xfrm rot="10800000">
            <a:off x="5244418" y="4883269"/>
            <a:ext cx="1183839" cy="1588"/>
          </a:xfrm>
          <a:prstGeom prst="straightConnector1">
            <a:avLst/>
          </a:prstGeom>
          <a:noFill/>
          <a:ln w="9525">
            <a:solidFill>
              <a:srgbClr val="000000">
                <a:lumMod val="50000"/>
                <a:lumOff val="50000"/>
              </a:srgbClr>
            </a:solidFill>
            <a:miter lim="800000"/>
            <a:tailEnd type="triangle" w="med" len="med"/>
          </a:ln>
        </p:spPr>
      </p:cxnSp>
      <p:sp>
        <p:nvSpPr>
          <p:cNvPr id="35" name="圆角矩形 71"/>
          <p:cNvSpPr>
            <a:spLocks noChangeArrowheads="1"/>
          </p:cNvSpPr>
          <p:nvPr/>
        </p:nvSpPr>
        <p:spPr bwMode="auto">
          <a:xfrm>
            <a:off x="1329395" y="1249866"/>
            <a:ext cx="6572296" cy="500066"/>
          </a:xfrm>
          <a:prstGeom prst="roundRect">
            <a:avLst>
              <a:gd name="adj" fmla="val 16667"/>
            </a:avLst>
          </a:prstGeom>
          <a:solidFill>
            <a:srgbClr val="D6DBFE"/>
          </a:solidFill>
          <a:ln w="28575" algn="ctr">
            <a:noFill/>
            <a:round/>
          </a:ln>
          <a:effectLst>
            <a:outerShdw blurRad="50800" dist="38100" dir="2700000" algn="tl" rotWithShape="0">
              <a:prstClr val="black">
                <a:alpha val="40000"/>
              </a:prstClr>
            </a:outerShdw>
          </a:effectLst>
        </p:spPr>
        <p:txBody>
          <a:bodyPr lIns="90000" tIns="46800" rIns="90000" bIns="46800" anchor="ctr"/>
          <a:lstStyle/>
          <a:p>
            <a:pPr marL="228600" marR="0" lvl="0" indent="-228600" algn="ctr" defTabSz="914400" eaLnBrk="0" fontAlgn="auto" latinLnBrk="0" hangingPunct="0">
              <a:lnSpc>
                <a:spcPct val="100000"/>
              </a:lnSpc>
              <a:spcBef>
                <a:spcPts val="600"/>
              </a:spcBef>
              <a:spcAft>
                <a:spcPts val="0"/>
              </a:spcAft>
              <a:buClrTx/>
              <a:buSzTx/>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计划模式研讨及共识</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36" name="下箭头 35"/>
          <p:cNvSpPr/>
          <p:nvPr/>
        </p:nvSpPr>
        <p:spPr bwMode="auto">
          <a:xfrm>
            <a:off x="1763362" y="1864912"/>
            <a:ext cx="500066" cy="500066"/>
          </a:xfrm>
          <a:prstGeom prst="downArrow">
            <a:avLst/>
          </a:prstGeom>
          <a:solidFill>
            <a:schemeClr val="bg1">
              <a:lumMod val="95000"/>
            </a:schemeClr>
          </a:solid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37" name="下箭头 36"/>
          <p:cNvSpPr/>
          <p:nvPr/>
        </p:nvSpPr>
        <p:spPr bwMode="auto">
          <a:xfrm>
            <a:off x="4324452" y="1864912"/>
            <a:ext cx="500066" cy="500066"/>
          </a:xfrm>
          <a:prstGeom prst="downArrow">
            <a:avLst/>
          </a:prstGeom>
          <a:solidFill>
            <a:schemeClr val="bg1">
              <a:lumMod val="95000"/>
            </a:schemeClr>
          </a:solid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44" name="下箭头 43"/>
          <p:cNvSpPr/>
          <p:nvPr/>
        </p:nvSpPr>
        <p:spPr bwMode="auto">
          <a:xfrm>
            <a:off x="6978336" y="1864912"/>
            <a:ext cx="500066" cy="500066"/>
          </a:xfrm>
          <a:prstGeom prst="downArrow">
            <a:avLst/>
          </a:prstGeom>
          <a:solidFill>
            <a:schemeClr val="bg1">
              <a:lumMod val="95000"/>
            </a:schemeClr>
          </a:solid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72" name="圆角矩形 71"/>
          <p:cNvSpPr>
            <a:spLocks noChangeArrowheads="1"/>
          </p:cNvSpPr>
          <p:nvPr/>
        </p:nvSpPr>
        <p:spPr bwMode="auto">
          <a:xfrm>
            <a:off x="1340073" y="5929330"/>
            <a:ext cx="6572296" cy="500066"/>
          </a:xfrm>
          <a:prstGeom prst="roundRect">
            <a:avLst>
              <a:gd name="adj" fmla="val 16667"/>
            </a:avLst>
          </a:prstGeom>
          <a:solidFill>
            <a:srgbClr val="D6DBFE"/>
          </a:solidFill>
          <a:ln w="28575" algn="ctr">
            <a:noFill/>
            <a:round/>
          </a:ln>
          <a:effectLst>
            <a:outerShdw blurRad="50800" dist="38100" dir="2700000" algn="tl" rotWithShape="0">
              <a:prstClr val="black">
                <a:alpha val="40000"/>
              </a:prstClr>
            </a:outerShdw>
          </a:effectLst>
        </p:spPr>
        <p:txBody>
          <a:bodyPr lIns="90000" tIns="46800" rIns="90000" bIns="46800" anchor="ctr"/>
          <a:lstStyle/>
          <a:p>
            <a:pPr marL="228600" marR="0" lvl="0" indent="-228600" algn="ctr" defTabSz="914400" eaLnBrk="0" fontAlgn="auto" latinLnBrk="0" hangingPunct="0">
              <a:lnSpc>
                <a:spcPct val="100000"/>
              </a:lnSpc>
              <a:spcBef>
                <a:spcPts val="600"/>
              </a:spcBef>
              <a:spcAft>
                <a:spcPts val="0"/>
              </a:spcAft>
              <a:buClrTx/>
              <a:buSzTx/>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组织初步探讨</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74" name="下箭头 73"/>
          <p:cNvSpPr/>
          <p:nvPr/>
        </p:nvSpPr>
        <p:spPr bwMode="auto">
          <a:xfrm>
            <a:off x="1768701" y="5386854"/>
            <a:ext cx="500066" cy="500066"/>
          </a:xfrm>
          <a:prstGeom prst="downArrow">
            <a:avLst/>
          </a:prstGeom>
          <a:solidFill>
            <a:schemeClr val="bg1">
              <a:lumMod val="95000"/>
            </a:schemeClr>
          </a:solid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75" name="下箭头 74"/>
          <p:cNvSpPr/>
          <p:nvPr/>
        </p:nvSpPr>
        <p:spPr bwMode="auto">
          <a:xfrm>
            <a:off x="4329791" y="5386854"/>
            <a:ext cx="500066" cy="500066"/>
          </a:xfrm>
          <a:prstGeom prst="downArrow">
            <a:avLst/>
          </a:prstGeom>
          <a:solidFill>
            <a:schemeClr val="bg1">
              <a:lumMod val="95000"/>
            </a:schemeClr>
          </a:solid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
        <p:nvSpPr>
          <p:cNvPr id="76" name="下箭头 75"/>
          <p:cNvSpPr/>
          <p:nvPr/>
        </p:nvSpPr>
        <p:spPr bwMode="auto">
          <a:xfrm>
            <a:off x="6983675" y="5386854"/>
            <a:ext cx="500066" cy="500066"/>
          </a:xfrm>
          <a:prstGeom prst="downArrow">
            <a:avLst/>
          </a:prstGeom>
          <a:solidFill>
            <a:schemeClr val="bg1">
              <a:lumMod val="95000"/>
            </a:schemeClr>
          </a:solidFill>
          <a:ln w="9525" cap="flat" cmpd="sng" algn="ctr">
            <a:solidFill>
              <a:schemeClr val="bg1">
                <a:lumMod val="75000"/>
              </a:schemeClr>
            </a:solidFill>
            <a:prstDash val="solid"/>
            <a:round/>
            <a:headEnd type="none" w="med" len="med"/>
            <a:tailEnd type="none"/>
          </a:ln>
          <a:effectLst/>
        </p:spPr>
        <p:txBody>
          <a:bodyPr rtlCol="0" anchor="ctr"/>
          <a:lstStyle/>
          <a:p>
            <a:pPr algn="ctr"/>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dirty="0"/>
              <a:t>A. </a:t>
            </a:r>
            <a:r>
              <a:rPr lang="zh-CN" altLang="en-US" dirty="0"/>
              <a:t>需求管理解决方案概要说明</a:t>
            </a:r>
          </a:p>
        </p:txBody>
      </p:sp>
      <p:sp>
        <p:nvSpPr>
          <p:cNvPr id="12" name="Rectangle 20"/>
          <p:cNvSpPr txBox="1">
            <a:spLocks noChangeArrowheads="1"/>
          </p:cNvSpPr>
          <p:nvPr/>
        </p:nvSpPr>
        <p:spPr>
          <a:xfrm>
            <a:off x="323850" y="1341909"/>
            <a:ext cx="4462463" cy="1222995"/>
          </a:xfrm>
          <a:prstGeom prst="rect">
            <a:avLst/>
          </a:prstGeom>
          <a:ln>
            <a:solidFill>
              <a:srgbClr val="7889FB"/>
            </a:solidFill>
          </a:ln>
        </p:spPr>
        <p:txBody>
          <a:bodyPr anchor="ctr"/>
          <a:lstStyle/>
          <a:p>
            <a:pPr marL="173355" lvl="0" indent="-173355" eaLnBrk="0" hangingPunct="0">
              <a:spcBef>
                <a:spcPct val="20000"/>
              </a:spcBef>
              <a:buClr>
                <a:srgbClr val="7889FB"/>
              </a:buClr>
              <a:buFont typeface="Wingdings" panose="05000000000000000000" pitchFamily="2" charset="2"/>
              <a:buChar char="§"/>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基于</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CRM</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销售漏斗管理，</a:t>
            </a:r>
            <a:r>
              <a:rPr lang="zh-CN" altLang="en-US" sz="1000" kern="0" dirty="0">
                <a:solidFill>
                  <a:srgbClr val="000000"/>
                </a:solidFill>
                <a:latin typeface="微软雅黑" panose="020B0503020204020204" charset="-122"/>
                <a:ea typeface="微软雅黑" panose="020B0503020204020204" charset="-122"/>
              </a:rPr>
              <a:t>利用商机信息实现对未来销售预测判断，为需求计划提供有效输入</a:t>
            </a:r>
            <a:endParaRPr lang="en-US" altLang="zh-CN" sz="1000" kern="0" dirty="0">
              <a:solidFill>
                <a:srgbClr val="000000"/>
              </a:solidFill>
              <a:latin typeface="微软雅黑" panose="020B0503020204020204" charset="-122"/>
              <a:ea typeface="微软雅黑" panose="020B0503020204020204" charset="-122"/>
            </a:endParaRPr>
          </a:p>
          <a:p>
            <a:pPr marL="173355" lvl="0" indent="-173355" eaLnBrk="0" hangingPunct="0">
              <a:spcBef>
                <a:spcPct val="20000"/>
              </a:spcBef>
              <a:buClr>
                <a:srgbClr val="7889FB"/>
              </a:buClr>
              <a:buFont typeface="Wingdings" panose="05000000000000000000" pitchFamily="2" charset="2"/>
              <a:buChar char="§"/>
              <a:defRPr/>
            </a:pPr>
            <a:r>
              <a:rPr lang="zh-CN" altLang="en-US" sz="1000" kern="0" dirty="0">
                <a:solidFill>
                  <a:sysClr val="windowText" lastClr="000000"/>
                </a:solidFill>
                <a:latin typeface="微软雅黑" panose="020B0503020204020204" charset="-122"/>
                <a:ea typeface="微软雅黑" panose="020B0503020204020204" charset="-122"/>
              </a:rPr>
              <a:t>优化需求计划的内容和颗粒度，提高需求计划准确率</a:t>
            </a:r>
            <a:endParaRPr lang="en-US" altLang="zh-CN" sz="1000" kern="0" dirty="0">
              <a:solidFill>
                <a:sysClr val="windowText" lastClr="000000"/>
              </a:solidFill>
              <a:latin typeface="微软雅黑" panose="020B0503020204020204" charset="-122"/>
              <a:ea typeface="微软雅黑" panose="020B0503020204020204" charset="-122"/>
            </a:endParaRPr>
          </a:p>
          <a:p>
            <a:pPr marL="173355" lvl="0" indent="-173355" eaLnBrk="0" hangingPunct="0">
              <a:spcBef>
                <a:spcPct val="20000"/>
              </a:spcBef>
              <a:buClr>
                <a:srgbClr val="7889FB"/>
              </a:buClr>
              <a:buFont typeface="Wingdings" panose="05000000000000000000" pitchFamily="2" charset="2"/>
              <a:buChar char="§"/>
              <a:defRPr/>
            </a:pPr>
            <a:r>
              <a:rPr lang="zh-CN" altLang="en-US" sz="1000" kern="0" dirty="0">
                <a:solidFill>
                  <a:sysClr val="windowText" lastClr="000000"/>
                </a:solidFill>
                <a:latin typeface="微软雅黑" panose="020B0503020204020204" charset="-122"/>
                <a:ea typeface="微软雅黑" panose="020B0503020204020204" charset="-122"/>
              </a:rPr>
              <a:t>优化整机</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库存管控制度，降低长期车库存比率</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13" name="Rectangle 21"/>
          <p:cNvSpPr>
            <a:spLocks noChangeArrowheads="1"/>
          </p:cNvSpPr>
          <p:nvPr/>
        </p:nvSpPr>
        <p:spPr bwMode="auto">
          <a:xfrm>
            <a:off x="642938" y="5572125"/>
            <a:ext cx="8286750" cy="928688"/>
          </a:xfrm>
          <a:prstGeom prst="rect">
            <a:avLst/>
          </a:prstGeom>
          <a:noFill/>
          <a:ln w="9525">
            <a:solidFill>
              <a:srgbClr val="7889FB"/>
            </a:solidFill>
            <a:miter lim="800000"/>
          </a:ln>
        </p:spPr>
        <p:txBody>
          <a:bodyPr anchor="ctr"/>
          <a:lstStyle/>
          <a:p>
            <a:pPr marL="173355" lvl="0" indent="-173355" eaLnBrk="0" hangingPunct="0">
              <a:spcBef>
                <a:spcPct val="20000"/>
              </a:spcBef>
              <a:buClr>
                <a:srgbClr val="7889FB"/>
              </a:buClr>
              <a:buFont typeface="Wingdings" panose="05000000000000000000" pitchFamily="2" charset="2"/>
              <a:buChar char="§"/>
              <a:defRPr/>
            </a:pPr>
            <a:r>
              <a:rPr lang="zh-CN" altLang="en-US" sz="1200" kern="0" dirty="0">
                <a:solidFill>
                  <a:sysClr val="windowText" lastClr="000000"/>
                </a:solidFill>
                <a:latin typeface="微软雅黑" panose="020B0503020204020204" charset="-122"/>
                <a:ea typeface="微软雅黑" panose="020B0503020204020204" charset="-122"/>
              </a:rPr>
              <a:t>为产销平衡提供有效输入，提高未来订单的完美履行率、缩短订单交货周期，提高市场竞争力</a:t>
            </a:r>
            <a:endParaRPr lang="en-US" altLang="zh-CN" sz="1200" kern="0" dirty="0">
              <a:solidFill>
                <a:sysClr val="windowText" lastClr="000000"/>
              </a:solidFill>
              <a:latin typeface="微软雅黑" panose="020B0503020204020204" charset="-122"/>
              <a:ea typeface="微软雅黑" panose="020B0503020204020204" charset="-122"/>
            </a:endParaRPr>
          </a:p>
          <a:p>
            <a:pPr marL="173355" lvl="0" indent="-173355" eaLnBrk="0" hangingPunct="0">
              <a:spcBef>
                <a:spcPct val="20000"/>
              </a:spcBef>
              <a:buClr>
                <a:srgbClr val="7889FB"/>
              </a:buClr>
              <a:buFont typeface="Wingdings" panose="05000000000000000000" pitchFamily="2" charset="2"/>
              <a:buChar char="§"/>
              <a:defRPr/>
            </a:pPr>
            <a:r>
              <a:rPr lang="zh-CN" altLang="en-US" sz="1200" kern="0" dirty="0">
                <a:solidFill>
                  <a:srgbClr val="000000"/>
                </a:solidFill>
                <a:latin typeface="微软雅黑" panose="020B0503020204020204" charset="-122"/>
                <a:ea typeface="微软雅黑" panose="020B0503020204020204" charset="-122"/>
              </a:rPr>
              <a:t>为生产产能的调整和零部件预测提供更可靠的依据和足够的准备期</a:t>
            </a:r>
            <a:endParaRPr lang="en-US" altLang="zh-CN" sz="1200" kern="0" dirty="0">
              <a:solidFill>
                <a:srgbClr val="000000"/>
              </a:solidFill>
              <a:latin typeface="微软雅黑" panose="020B0503020204020204" charset="-122"/>
              <a:ea typeface="微软雅黑" panose="020B0503020204020204" charset="-122"/>
            </a:endParaRPr>
          </a:p>
          <a:p>
            <a:pPr marL="173355" lvl="0" indent="-173355" eaLnBrk="0" hangingPunct="0">
              <a:spcBef>
                <a:spcPct val="20000"/>
              </a:spcBef>
              <a:buClr>
                <a:srgbClr val="7889FB"/>
              </a:buClr>
              <a:buFont typeface="Wingdings" panose="05000000000000000000" pitchFamily="2" charset="2"/>
              <a:buChar char="§"/>
              <a:defRPr/>
            </a:pPr>
            <a:r>
              <a:rPr lang="zh-CN" altLang="en-US" sz="1200" kern="0" dirty="0">
                <a:solidFill>
                  <a:srgbClr val="000000"/>
                </a:solidFill>
                <a:latin typeface="微软雅黑" panose="020B0503020204020204" charset="-122"/>
                <a:ea typeface="微软雅黑" panose="020B0503020204020204" charset="-122"/>
              </a:rPr>
              <a:t>提高库存结构与实际需求的匹配低，降低长期车库存比率</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4" name="Rectangle 22"/>
          <p:cNvSpPr>
            <a:spLocks noChangeArrowheads="1"/>
          </p:cNvSpPr>
          <p:nvPr/>
        </p:nvSpPr>
        <p:spPr bwMode="auto">
          <a:xfrm>
            <a:off x="323850" y="2998656"/>
            <a:ext cx="8621713" cy="2448000"/>
          </a:xfrm>
          <a:prstGeom prst="rect">
            <a:avLst/>
          </a:prstGeom>
          <a:noFill/>
          <a:ln w="9525">
            <a:solidFill>
              <a:srgbClr val="7889FB"/>
            </a:solidFill>
            <a:miter lim="800000"/>
          </a:ln>
        </p:spPr>
        <p:txBody>
          <a:bodyPr tIns="72000" bIns="72000" anchor="ctr"/>
          <a:lstStyle/>
          <a:p>
            <a:pPr marL="173355" marR="0" lvl="0" indent="-173355" defTabSz="914400" eaLnBrk="0" fontAlgn="auto" latinLnBrk="0" hangingPunct="0">
              <a:lnSpc>
                <a:spcPts val="1300"/>
              </a:lnSpc>
              <a:spcBef>
                <a:spcPts val="300"/>
              </a:spcBef>
              <a:spcAft>
                <a:spcPts val="0"/>
              </a:spcAft>
              <a:buClr>
                <a:srgbClr val="7889FB"/>
              </a:buClr>
              <a:buSzTx/>
              <a:buFontTx/>
              <a:buNone/>
              <a:defRPr/>
            </a:pP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A-1 </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需求计划管理</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基于达成共识的计划模式，明确生产计划和零配件计划对</a:t>
            </a:r>
            <a:r>
              <a:rPr lang="zh-CN" altLang="en-US" sz="1200" kern="0" dirty="0">
                <a:solidFill>
                  <a:sysClr val="windowText" lastClr="000000"/>
                </a:solidFill>
                <a:latin typeface="微软雅黑" panose="020B0503020204020204" charset="-122"/>
                <a:ea typeface="微软雅黑" panose="020B0503020204020204" charset="-122"/>
              </a:rPr>
              <a:t>营销</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需求计划的</a:t>
            </a:r>
            <a:r>
              <a:rPr lang="zh-CN" altLang="en-US" sz="1200" kern="0" dirty="0">
                <a:solidFill>
                  <a:sysClr val="windowText" lastClr="000000"/>
                </a:solidFill>
                <a:latin typeface="微软雅黑" panose="020B0503020204020204" charset="-122"/>
                <a:ea typeface="微软雅黑" panose="020B0503020204020204" charset="-122"/>
              </a:rPr>
              <a:t>要求</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，确定各个时间跨度需求计划提报的颗粒度</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充分考虑影响预测准确性的因素以及不同时间跨度的影响要素，结合商机管理设计联合预测的方法</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lang="zh-CN" altLang="en-US" sz="1200" kern="0" dirty="0">
                <a:solidFill>
                  <a:sysClr val="windowText" lastClr="000000"/>
                </a:solidFill>
                <a:latin typeface="微软雅黑" panose="020B0503020204020204" charset="-122"/>
                <a:ea typeface="微软雅黑" panose="020B0503020204020204" charset="-122"/>
              </a:rPr>
              <a:t>通过必要的考核手段明确需求计划权威性</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lang="zh-CN" altLang="en-US" sz="1200" kern="0" dirty="0">
                <a:solidFill>
                  <a:sysClr val="windowText" lastClr="000000"/>
                </a:solidFill>
                <a:latin typeface="微软雅黑" panose="020B0503020204020204" charset="-122"/>
                <a:ea typeface="微软雅黑" panose="020B0503020204020204" charset="-122"/>
              </a:rPr>
              <a:t>提出</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需求计划准确率提升的保障性和先导性措施建议，例如市场洞察体系、营销端销售辅导机制等</a:t>
            </a:r>
          </a:p>
          <a:p>
            <a:pPr marL="173355" marR="0" lvl="0" indent="-173355" defTabSz="914400" eaLnBrk="0" fontAlgn="auto" latinLnBrk="0" hangingPunct="0">
              <a:lnSpc>
                <a:spcPts val="1300"/>
              </a:lnSpc>
              <a:spcBef>
                <a:spcPts val="300"/>
              </a:spcBef>
              <a:spcAft>
                <a:spcPts val="0"/>
              </a:spcAft>
              <a:buClr>
                <a:srgbClr val="7889FB"/>
              </a:buClr>
              <a:buSzTx/>
              <a:buFontTx/>
              <a:buNone/>
              <a:defRPr/>
            </a:pP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A-2 </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销售预测</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lvl="1" indent="-173355" eaLnBrk="0" hangingPunct="0">
              <a:lnSpc>
                <a:spcPts val="1300"/>
              </a:lnSpc>
              <a:spcBef>
                <a:spcPts val="300"/>
              </a:spcBef>
              <a:buClr>
                <a:srgbClr val="7889FB"/>
              </a:buClr>
              <a:buFont typeface="Arial" panose="020B0604020202020204" pitchFamily="34" charset="0"/>
              <a:buChar char="‒"/>
              <a:defRPr/>
            </a:pPr>
            <a:r>
              <a:rPr lang="zh-CN" altLang="en-US" sz="1200" kern="0" dirty="0">
                <a:solidFill>
                  <a:sysClr val="windowText" lastClr="000000"/>
                </a:solidFill>
                <a:latin typeface="微软雅黑" panose="020B0503020204020204" charset="-122"/>
                <a:ea typeface="微软雅黑" panose="020B0503020204020204" charset="-122"/>
              </a:rPr>
              <a:t>按照需求计划管理机制定义销售预测方法</a:t>
            </a:r>
            <a:endParaRPr lang="en-US" altLang="zh-CN" sz="1200" kern="0" dirty="0">
              <a:solidFill>
                <a:sysClr val="windowText" lastClr="000000"/>
              </a:solidFill>
              <a:latin typeface="微软雅黑" panose="020B0503020204020204" charset="-122"/>
              <a:ea typeface="微软雅黑" panose="020B0503020204020204" charset="-122"/>
            </a:endParaRPr>
          </a:p>
          <a:p>
            <a:pPr marL="173355" marR="0" lvl="0" indent="-173355" defTabSz="914400" eaLnBrk="0" fontAlgn="auto" latinLnBrk="0" hangingPunct="0">
              <a:lnSpc>
                <a:spcPts val="1300"/>
              </a:lnSpc>
              <a:spcBef>
                <a:spcPts val="300"/>
              </a:spcBef>
              <a:spcAft>
                <a:spcPts val="0"/>
              </a:spcAft>
              <a:buClr>
                <a:srgbClr val="7889FB"/>
              </a:buClr>
              <a:buSzTx/>
              <a:buFontTx/>
              <a:buNone/>
              <a:defRPr/>
            </a:pP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A-3</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整机库存管理</a:t>
            </a: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明确库存的定义和分类规则，分析各类库存产生的原因及影响，以及与需求计划之间的关系，制定相应的处理办法</a:t>
            </a: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研究库存管理策略及当量标准</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15" name="Rectangle 32"/>
          <p:cNvSpPr>
            <a:spLocks noChangeArrowheads="1"/>
          </p:cNvSpPr>
          <p:nvPr/>
        </p:nvSpPr>
        <p:spPr bwMode="auto">
          <a:xfrm>
            <a:off x="4922787" y="1341909"/>
            <a:ext cx="4022776" cy="1222995"/>
          </a:xfrm>
          <a:prstGeom prst="rect">
            <a:avLst/>
          </a:prstGeom>
          <a:noFill/>
          <a:ln w="9525">
            <a:solidFill>
              <a:srgbClr val="7889FB"/>
            </a:solidFill>
            <a:miter lim="800000"/>
          </a:ln>
        </p:spPr>
        <p:txBody>
          <a:bodyPr/>
          <a:lstStyle/>
          <a:p>
            <a:pPr marL="0" marR="0" lvl="0" indent="0" defTabSz="914400" eaLnBrk="0" fontAlgn="auto" latinLnBrk="0" hangingPunct="0">
              <a:lnSpc>
                <a:spcPct val="100000"/>
              </a:lnSpc>
              <a:spcBef>
                <a:spcPct val="20000"/>
              </a:spcBef>
              <a:spcAft>
                <a:spcPts val="0"/>
              </a:spcAft>
              <a:buClr>
                <a:srgbClr val="000000"/>
              </a:buClr>
              <a:buSzTx/>
              <a:buFontTx/>
              <a:buNone/>
              <a:defRPr/>
            </a:pPr>
            <a:endParaRPr kumimoji="0" lang="en-US" altLang="zh-CN"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ts val="1300"/>
              </a:lnSpc>
              <a:spcBef>
                <a:spcPct val="20000"/>
              </a:spcBef>
              <a:spcAft>
                <a:spcPts val="0"/>
              </a:spcAft>
              <a:buClr>
                <a:srgbClr val="000000"/>
              </a:buClr>
              <a:buSzTx/>
              <a:buFontTx/>
              <a:buNone/>
              <a:defRPr/>
            </a:pPr>
            <a:r>
              <a:rPr lang="zh-CN" altLang="en-US" sz="1200" kern="0" dirty="0">
                <a:solidFill>
                  <a:srgbClr val="000000"/>
                </a:solidFill>
                <a:latin typeface="微软雅黑" panose="020B0503020204020204" charset="-122"/>
                <a:ea typeface="微软雅黑" panose="020B0503020204020204" charset="-122"/>
              </a:rPr>
              <a:t>x重机</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                               </a:t>
            </a: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x</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顾问：</a:t>
            </a:r>
            <a:r>
              <a:rPr lang="zh-CN" altLang="en-US" sz="1200" kern="0" dirty="0">
                <a:solidFill>
                  <a:srgbClr val="000000"/>
                </a:solidFill>
                <a:latin typeface="微软雅黑" panose="020B0503020204020204" charset="-122"/>
                <a:ea typeface="微软雅黑" panose="020B0503020204020204" charset="-122"/>
              </a:rPr>
              <a:t>麦晓华</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营销组组长：王旭        </a:t>
            </a:r>
            <a:endParaRPr lang="en-US" altLang="zh-CN" sz="1200" kern="0" dirty="0">
              <a:solidFill>
                <a:srgbClr val="000000"/>
              </a:solidFill>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国内营销业务责任人：刘仲</a:t>
            </a:r>
            <a:endParaRPr lang="en-US" altLang="zh-CN" sz="1200" kern="0" dirty="0">
              <a:solidFill>
                <a:srgbClr val="000000"/>
              </a:solidFill>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国际营销业务责任人：王旭</a:t>
            </a:r>
            <a:endParaRPr lang="en-US" altLang="zh-CN" sz="1200" kern="0" dirty="0">
              <a:solidFill>
                <a:srgbClr val="000000"/>
              </a:solidFill>
              <a:latin typeface="微软雅黑" panose="020B0503020204020204" charset="-122"/>
              <a:ea typeface="微软雅黑" panose="020B0503020204020204" charset="-122"/>
            </a:endParaRPr>
          </a:p>
        </p:txBody>
      </p:sp>
      <p:sp>
        <p:nvSpPr>
          <p:cNvPr id="16" name="矩形 81"/>
          <p:cNvSpPr>
            <a:spLocks noChangeArrowheads="1"/>
          </p:cNvSpPr>
          <p:nvPr/>
        </p:nvSpPr>
        <p:spPr bwMode="auto">
          <a:xfrm>
            <a:off x="285750" y="5572125"/>
            <a:ext cx="357188" cy="928688"/>
          </a:xfrm>
          <a:prstGeom prst="rect">
            <a:avLst/>
          </a:prstGeom>
          <a:solidFill>
            <a:srgbClr val="7889FB"/>
          </a:solidFill>
          <a:ln w="6350">
            <a:solidFill>
              <a:srgbClr val="7889FB"/>
            </a:solidFill>
            <a:miter lim="800000"/>
          </a:ln>
        </p:spPr>
        <p:txBody>
          <a:bodyPr anchor="ctr"/>
          <a:lstStyle/>
          <a:p>
            <a:pPr marL="0" marR="0" lvl="0" indent="0"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收益</a:t>
            </a:r>
          </a:p>
        </p:txBody>
      </p:sp>
      <p:sp>
        <p:nvSpPr>
          <p:cNvPr id="17" name="矩形 82"/>
          <p:cNvSpPr>
            <a:spLocks noChangeArrowheads="1"/>
          </p:cNvSpPr>
          <p:nvPr/>
        </p:nvSpPr>
        <p:spPr bwMode="auto">
          <a:xfrm>
            <a:off x="331515" y="1196752"/>
            <a:ext cx="1000125"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目标</a:t>
            </a:r>
          </a:p>
        </p:txBody>
      </p:sp>
      <p:sp>
        <p:nvSpPr>
          <p:cNvPr id="18" name="矩形 83"/>
          <p:cNvSpPr>
            <a:spLocks noChangeArrowheads="1"/>
          </p:cNvSpPr>
          <p:nvPr/>
        </p:nvSpPr>
        <p:spPr bwMode="auto">
          <a:xfrm>
            <a:off x="4922787" y="1199034"/>
            <a:ext cx="1000125"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负责人</a:t>
            </a:r>
          </a:p>
        </p:txBody>
      </p:sp>
      <p:sp>
        <p:nvSpPr>
          <p:cNvPr id="19" name="矩形 84"/>
          <p:cNvSpPr>
            <a:spLocks noChangeArrowheads="1"/>
          </p:cNvSpPr>
          <p:nvPr/>
        </p:nvSpPr>
        <p:spPr bwMode="auto">
          <a:xfrm>
            <a:off x="323850" y="2643182"/>
            <a:ext cx="8621713"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关键要点</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dirty="0"/>
              <a:t>A. </a:t>
            </a:r>
            <a:r>
              <a:rPr lang="zh-CN" altLang="en-US" dirty="0"/>
              <a:t>需求管理分析框架</a:t>
            </a:r>
          </a:p>
        </p:txBody>
      </p:sp>
      <p:grpSp>
        <p:nvGrpSpPr>
          <p:cNvPr id="2" name="组合 40"/>
          <p:cNvGrpSpPr/>
          <p:nvPr/>
        </p:nvGrpSpPr>
        <p:grpSpPr>
          <a:xfrm>
            <a:off x="414000" y="1571612"/>
            <a:ext cx="8286808" cy="4357718"/>
            <a:chOff x="428596" y="1285860"/>
            <a:chExt cx="8286808" cy="4346584"/>
          </a:xfrm>
        </p:grpSpPr>
        <p:sp>
          <p:nvSpPr>
            <p:cNvPr id="4" name="Rectangle 2"/>
            <p:cNvSpPr>
              <a:spLocks noChangeArrowheads="1"/>
            </p:cNvSpPr>
            <p:nvPr/>
          </p:nvSpPr>
          <p:spPr bwMode="auto">
            <a:xfrm>
              <a:off x="428596" y="1285860"/>
              <a:ext cx="8286808" cy="4346584"/>
            </a:xfrm>
            <a:prstGeom prst="rect">
              <a:avLst/>
            </a:prstGeom>
            <a:noFill/>
            <a:ln w="9525">
              <a:solidFill>
                <a:srgbClr val="000000"/>
              </a:solidFill>
              <a:miter lim="800000"/>
            </a:ln>
          </p:spPr>
          <p:txBody>
            <a:bodyPr wrap="none" tIns="108000" rIns="108000"/>
            <a:lstStyle/>
            <a:p>
              <a:pPr algn="r" eaLnBrk="0" hangingPunct="0">
                <a:lnSpc>
                  <a:spcPct val="90000"/>
                </a:lnSpc>
                <a:buClr>
                  <a:srgbClr val="000000"/>
                </a:buClr>
                <a:buFont typeface="Arial" panose="020B0604020202020204" pitchFamily="34" charset="0"/>
                <a:buNone/>
              </a:pPr>
              <a:endParaRPr lang="zh-CN" altLang="en-US" b="1" u="sng" dirty="0">
                <a:solidFill>
                  <a:srgbClr val="000000"/>
                </a:solidFill>
                <a:latin typeface="微软雅黑" panose="020B0503020204020204" charset="-122"/>
                <a:ea typeface="微软雅黑" panose="020B0503020204020204" charset="-122"/>
              </a:endParaRPr>
            </a:p>
          </p:txBody>
        </p:sp>
        <p:sp>
          <p:nvSpPr>
            <p:cNvPr id="6" name="AutoShape 26"/>
            <p:cNvSpPr>
              <a:spLocks noChangeArrowheads="1"/>
            </p:cNvSpPr>
            <p:nvPr/>
          </p:nvSpPr>
          <p:spPr bwMode="auto">
            <a:xfrm>
              <a:off x="714347" y="1558230"/>
              <a:ext cx="1080000" cy="324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历史销量</a:t>
              </a:r>
            </a:p>
          </p:txBody>
        </p:sp>
        <p:sp>
          <p:nvSpPr>
            <p:cNvPr id="7" name="AutoShape 29"/>
            <p:cNvSpPr>
              <a:spLocks noChangeArrowheads="1"/>
            </p:cNvSpPr>
            <p:nvPr/>
          </p:nvSpPr>
          <p:spPr bwMode="auto">
            <a:xfrm>
              <a:off x="714347" y="4121560"/>
              <a:ext cx="1080000" cy="324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购机政策</a:t>
              </a:r>
              <a:endParaRPr lang="en-US" altLang="zh-CN" sz="1200" dirty="0">
                <a:solidFill>
                  <a:srgbClr val="000000"/>
                </a:solidFill>
                <a:latin typeface="微软雅黑" panose="020B0503020204020204" charset="-122"/>
                <a:ea typeface="微软雅黑" panose="020B0503020204020204" charset="-122"/>
              </a:endParaRPr>
            </a:p>
          </p:txBody>
        </p:sp>
        <p:sp>
          <p:nvSpPr>
            <p:cNvPr id="8" name="AutoShape 26"/>
            <p:cNvSpPr>
              <a:spLocks noChangeArrowheads="1"/>
            </p:cNvSpPr>
            <p:nvPr/>
          </p:nvSpPr>
          <p:spPr bwMode="auto">
            <a:xfrm>
              <a:off x="714347" y="3096228"/>
              <a:ext cx="1080000" cy="324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市场信息</a:t>
              </a:r>
            </a:p>
          </p:txBody>
        </p:sp>
        <p:sp>
          <p:nvSpPr>
            <p:cNvPr id="9" name="AutoShape 26"/>
            <p:cNvSpPr>
              <a:spLocks noChangeArrowheads="1"/>
            </p:cNvSpPr>
            <p:nvPr/>
          </p:nvSpPr>
          <p:spPr bwMode="auto">
            <a:xfrm>
              <a:off x="714347" y="2070896"/>
              <a:ext cx="1080000" cy="324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商机信息</a:t>
              </a:r>
            </a:p>
          </p:txBody>
        </p:sp>
        <p:sp>
          <p:nvSpPr>
            <p:cNvPr id="10" name="AutoShape 26"/>
            <p:cNvSpPr>
              <a:spLocks noChangeArrowheads="1"/>
            </p:cNvSpPr>
            <p:nvPr/>
          </p:nvSpPr>
          <p:spPr bwMode="auto">
            <a:xfrm>
              <a:off x="2328394" y="3786190"/>
              <a:ext cx="1260000" cy="468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订单信息</a:t>
              </a:r>
            </a:p>
          </p:txBody>
        </p:sp>
        <p:sp>
          <p:nvSpPr>
            <p:cNvPr id="11" name="Text Box 21"/>
            <p:cNvSpPr txBox="1">
              <a:spLocks noChangeArrowheads="1"/>
            </p:cNvSpPr>
            <p:nvPr/>
          </p:nvSpPr>
          <p:spPr bwMode="auto">
            <a:xfrm>
              <a:off x="3932332" y="2857496"/>
              <a:ext cx="2997122" cy="1428760"/>
            </a:xfrm>
            <a:prstGeom prst="rect">
              <a:avLst/>
            </a:prstGeom>
            <a:solidFill>
              <a:schemeClr val="accent1">
                <a:lumMod val="20000"/>
                <a:lumOff val="80000"/>
              </a:schemeClr>
            </a:solidFill>
            <a:ln w="12700" algn="ctr">
              <a:solidFill>
                <a:schemeClr val="accent1"/>
              </a:solidFill>
              <a:prstDash val="solid"/>
              <a:miter lim="800000"/>
            </a:ln>
          </p:spPr>
          <p:txBody>
            <a:bodyPr lIns="90000" tIns="82800" rIns="90000" bIns="46800" anchor="t"/>
            <a:lstStyle/>
            <a:p>
              <a:pPr algn="ctr"/>
              <a:r>
                <a:rPr lang="zh-CN" altLang="en-US" sz="1600" b="1" dirty="0">
                  <a:solidFill>
                    <a:srgbClr val="000000"/>
                  </a:solidFill>
                  <a:latin typeface="微软雅黑" panose="020B0503020204020204" charset="-122"/>
                  <a:ea typeface="微软雅黑" panose="020B0503020204020204" charset="-122"/>
                </a:rPr>
                <a:t>需求计划</a:t>
              </a:r>
              <a:endParaRPr lang="en-US" altLang="zh-CN" sz="1600" b="1" dirty="0">
                <a:solidFill>
                  <a:srgbClr val="000000"/>
                </a:solidFill>
                <a:latin typeface="微软雅黑" panose="020B0503020204020204" charset="-122"/>
                <a:ea typeface="微软雅黑" panose="020B0503020204020204" charset="-122"/>
              </a:endParaRPr>
            </a:p>
          </p:txBody>
        </p:sp>
        <p:cxnSp>
          <p:nvCxnSpPr>
            <p:cNvPr id="12" name="直接箭头连接符 11"/>
            <p:cNvCxnSpPr>
              <a:stCxn id="31" idx="1"/>
            </p:cNvCxnSpPr>
            <p:nvPr/>
          </p:nvCxnSpPr>
          <p:spPr bwMode="auto">
            <a:xfrm rot="5400000" flipH="1" flipV="1">
              <a:off x="5209322" y="4500570"/>
              <a:ext cx="428628" cy="1588"/>
            </a:xfrm>
            <a:prstGeom prst="straightConnector1">
              <a:avLst/>
            </a:prstGeom>
            <a:noFill/>
            <a:ln w="9525" cap="flat" cmpd="sng" algn="ctr">
              <a:solidFill>
                <a:schemeClr val="accent1"/>
              </a:solidFill>
              <a:prstDash val="dash"/>
              <a:round/>
              <a:headEnd type="none" w="med" len="med"/>
              <a:tailEnd type="arrow"/>
            </a:ln>
            <a:effectLst/>
          </p:spPr>
        </p:cxnSp>
        <p:cxnSp>
          <p:nvCxnSpPr>
            <p:cNvPr id="13" name="直接箭头连接符 12"/>
            <p:cNvCxnSpPr>
              <a:stCxn id="32" idx="4"/>
            </p:cNvCxnSpPr>
            <p:nvPr/>
          </p:nvCxnSpPr>
          <p:spPr bwMode="auto">
            <a:xfrm rot="5400000">
              <a:off x="4311554" y="2591430"/>
              <a:ext cx="532132" cy="1588"/>
            </a:xfrm>
            <a:prstGeom prst="straightConnector1">
              <a:avLst/>
            </a:prstGeom>
            <a:noFill/>
            <a:ln w="9525" cap="flat" cmpd="sng" algn="ctr">
              <a:solidFill>
                <a:schemeClr val="accent1"/>
              </a:solidFill>
              <a:prstDash val="dash"/>
              <a:round/>
              <a:headEnd type="none" w="med" len="med"/>
              <a:tailEnd type="arrow"/>
            </a:ln>
            <a:effectLst/>
          </p:spPr>
        </p:cxnSp>
        <p:sp>
          <p:nvSpPr>
            <p:cNvPr id="14" name="Text Box 21"/>
            <p:cNvSpPr txBox="1">
              <a:spLocks noChangeArrowheads="1"/>
            </p:cNvSpPr>
            <p:nvPr/>
          </p:nvSpPr>
          <p:spPr bwMode="auto">
            <a:xfrm>
              <a:off x="7239685" y="3143248"/>
              <a:ext cx="1118529" cy="857256"/>
            </a:xfrm>
            <a:prstGeom prst="rect">
              <a:avLst/>
            </a:prstGeom>
            <a:noFill/>
            <a:ln w="12700" algn="ctr">
              <a:solidFill>
                <a:schemeClr val="accent1"/>
              </a:solidFill>
              <a:prstDash val="solid"/>
              <a:miter lim="800000"/>
            </a:ln>
          </p:spPr>
          <p:txBody>
            <a:bodyPr lIns="90000" tIns="46800" rIns="90000" bIns="46800" anchor="ctr"/>
            <a:lstStyle/>
            <a:p>
              <a:pPr algn="ctr"/>
              <a:r>
                <a:rPr lang="zh-CN" altLang="en-US" sz="1400" b="1" dirty="0">
                  <a:solidFill>
                    <a:srgbClr val="000000"/>
                  </a:solidFill>
                  <a:latin typeface="微软雅黑" panose="020B0503020204020204" charset="-122"/>
                  <a:ea typeface="微软雅黑" panose="020B0503020204020204" charset="-122"/>
                </a:rPr>
                <a:t>资源配置</a:t>
              </a:r>
              <a:endParaRPr lang="en-US" altLang="zh-CN" sz="1400" b="1" dirty="0">
                <a:solidFill>
                  <a:srgbClr val="000000"/>
                </a:solidFill>
                <a:latin typeface="微软雅黑" panose="020B0503020204020204" charset="-122"/>
                <a:ea typeface="微软雅黑" panose="020B0503020204020204" charset="-122"/>
              </a:endParaRPr>
            </a:p>
            <a:p>
              <a:pPr algn="ctr"/>
              <a:r>
                <a:rPr lang="zh-CN" altLang="en-US" sz="1400" b="1" dirty="0">
                  <a:solidFill>
                    <a:srgbClr val="000000"/>
                  </a:solidFill>
                  <a:latin typeface="微软雅黑" panose="020B0503020204020204" charset="-122"/>
                  <a:ea typeface="微软雅黑" panose="020B0503020204020204" charset="-122"/>
                </a:rPr>
                <a:t>计划与产销平衡机制</a:t>
              </a:r>
              <a:endParaRPr lang="en-US" altLang="zh-CN" sz="1400" b="1" dirty="0">
                <a:solidFill>
                  <a:srgbClr val="000000"/>
                </a:solidFill>
                <a:latin typeface="微软雅黑" panose="020B0503020204020204" charset="-122"/>
                <a:ea typeface="微软雅黑" panose="020B0503020204020204" charset="-122"/>
              </a:endParaRPr>
            </a:p>
          </p:txBody>
        </p:sp>
        <p:cxnSp>
          <p:nvCxnSpPr>
            <p:cNvPr id="15" name="直接箭头连接符 14"/>
            <p:cNvCxnSpPr>
              <a:stCxn id="11" idx="3"/>
              <a:endCxn id="14" idx="1"/>
            </p:cNvCxnSpPr>
            <p:nvPr/>
          </p:nvCxnSpPr>
          <p:spPr bwMode="auto">
            <a:xfrm>
              <a:off x="6929454" y="3571876"/>
              <a:ext cx="310231" cy="1588"/>
            </a:xfrm>
            <a:prstGeom prst="straightConnector1">
              <a:avLst/>
            </a:prstGeom>
            <a:noFill/>
            <a:ln w="9525" cap="flat" cmpd="sng" algn="ctr">
              <a:solidFill>
                <a:schemeClr val="accent1"/>
              </a:solidFill>
              <a:prstDash val="solid"/>
              <a:round/>
              <a:headEnd type="none" w="med" len="med"/>
              <a:tailEnd type="arrow"/>
            </a:ln>
            <a:effectLst/>
          </p:spPr>
        </p:cxnSp>
        <p:sp>
          <p:nvSpPr>
            <p:cNvPr id="16" name="AutoShape 26"/>
            <p:cNvSpPr>
              <a:spLocks noChangeArrowheads="1"/>
            </p:cNvSpPr>
            <p:nvPr/>
          </p:nvSpPr>
          <p:spPr bwMode="auto">
            <a:xfrm>
              <a:off x="714347" y="3608894"/>
              <a:ext cx="1080000" cy="324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竞争者信息</a:t>
              </a:r>
            </a:p>
          </p:txBody>
        </p:sp>
        <p:sp>
          <p:nvSpPr>
            <p:cNvPr id="17" name="AutoShape 26"/>
            <p:cNvSpPr>
              <a:spLocks noChangeArrowheads="1"/>
            </p:cNvSpPr>
            <p:nvPr/>
          </p:nvSpPr>
          <p:spPr bwMode="auto">
            <a:xfrm>
              <a:off x="714347" y="2583562"/>
              <a:ext cx="1080000" cy="324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促销政策</a:t>
              </a:r>
            </a:p>
          </p:txBody>
        </p:sp>
        <p:sp>
          <p:nvSpPr>
            <p:cNvPr id="18" name="AutoShape 26"/>
            <p:cNvSpPr>
              <a:spLocks noChangeArrowheads="1"/>
            </p:cNvSpPr>
            <p:nvPr/>
          </p:nvSpPr>
          <p:spPr bwMode="auto">
            <a:xfrm>
              <a:off x="714347" y="4634226"/>
              <a:ext cx="1080000" cy="324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en-US" altLang="zh-CN" sz="1200" dirty="0">
                  <a:solidFill>
                    <a:srgbClr val="000000"/>
                  </a:solidFill>
                  <a:latin typeface="微软雅黑" panose="020B0503020204020204" charset="-122"/>
                  <a:ea typeface="微软雅黑" panose="020B0503020204020204" charset="-122"/>
                </a:rPr>
                <a:t>……</a:t>
              </a:r>
              <a:endParaRPr lang="zh-CN" altLang="en-US" sz="1200" dirty="0">
                <a:solidFill>
                  <a:srgbClr val="000000"/>
                </a:solidFill>
                <a:latin typeface="微软雅黑" panose="020B0503020204020204" charset="-122"/>
                <a:ea typeface="微软雅黑" panose="020B0503020204020204" charset="-122"/>
              </a:endParaRPr>
            </a:p>
          </p:txBody>
        </p:sp>
        <p:cxnSp>
          <p:nvCxnSpPr>
            <p:cNvPr id="19" name="直接连接符 18"/>
            <p:cNvCxnSpPr/>
            <p:nvPr/>
          </p:nvCxnSpPr>
          <p:spPr bwMode="auto">
            <a:xfrm>
              <a:off x="1714480" y="1712900"/>
              <a:ext cx="432000" cy="1588"/>
            </a:xfrm>
            <a:prstGeom prst="line">
              <a:avLst/>
            </a:prstGeom>
            <a:noFill/>
            <a:ln w="9525" cap="flat" cmpd="sng" algn="ctr">
              <a:solidFill>
                <a:schemeClr val="accent1"/>
              </a:solidFill>
              <a:prstDash val="dash"/>
              <a:round/>
              <a:headEnd type="none" w="med" len="med"/>
              <a:tailEnd type="none" w="med" len="med"/>
            </a:ln>
            <a:effectLst/>
          </p:spPr>
        </p:cxnSp>
        <p:cxnSp>
          <p:nvCxnSpPr>
            <p:cNvPr id="20" name="直接连接符 19"/>
            <p:cNvCxnSpPr/>
            <p:nvPr/>
          </p:nvCxnSpPr>
          <p:spPr bwMode="auto">
            <a:xfrm>
              <a:off x="1714480" y="2243582"/>
              <a:ext cx="432000" cy="1588"/>
            </a:xfrm>
            <a:prstGeom prst="line">
              <a:avLst/>
            </a:prstGeom>
            <a:noFill/>
            <a:ln w="9525" cap="flat" cmpd="sng" algn="ctr">
              <a:solidFill>
                <a:schemeClr val="accent1"/>
              </a:solidFill>
              <a:prstDash val="dash"/>
              <a:round/>
              <a:headEnd type="none" w="med" len="med"/>
              <a:tailEnd type="none" w="med" len="med"/>
            </a:ln>
            <a:effectLst/>
          </p:spPr>
        </p:cxnSp>
        <p:cxnSp>
          <p:nvCxnSpPr>
            <p:cNvPr id="21" name="直接连接符 20"/>
            <p:cNvCxnSpPr/>
            <p:nvPr/>
          </p:nvCxnSpPr>
          <p:spPr bwMode="auto">
            <a:xfrm>
              <a:off x="1714480" y="2740928"/>
              <a:ext cx="432000" cy="1588"/>
            </a:xfrm>
            <a:prstGeom prst="line">
              <a:avLst/>
            </a:prstGeom>
            <a:noFill/>
            <a:ln w="9525" cap="flat" cmpd="sng" algn="ctr">
              <a:solidFill>
                <a:schemeClr val="accent1"/>
              </a:solidFill>
              <a:prstDash val="dash"/>
              <a:round/>
              <a:headEnd type="none" w="med" len="med"/>
              <a:tailEnd type="none" w="med" len="med"/>
            </a:ln>
            <a:effectLst/>
          </p:spPr>
        </p:cxnSp>
        <p:cxnSp>
          <p:nvCxnSpPr>
            <p:cNvPr id="22" name="直接连接符 21"/>
            <p:cNvCxnSpPr/>
            <p:nvPr/>
          </p:nvCxnSpPr>
          <p:spPr bwMode="auto">
            <a:xfrm>
              <a:off x="1714480" y="3770088"/>
              <a:ext cx="432000" cy="1588"/>
            </a:xfrm>
            <a:prstGeom prst="line">
              <a:avLst/>
            </a:prstGeom>
            <a:noFill/>
            <a:ln w="9525" cap="flat" cmpd="sng" algn="ctr">
              <a:solidFill>
                <a:schemeClr val="accent1"/>
              </a:solidFill>
              <a:prstDash val="dash"/>
              <a:round/>
              <a:headEnd type="none" w="med" len="med"/>
              <a:tailEnd type="none" w="med" len="med"/>
            </a:ln>
            <a:effectLst/>
          </p:spPr>
        </p:cxnSp>
        <p:cxnSp>
          <p:nvCxnSpPr>
            <p:cNvPr id="23" name="直接连接符 22"/>
            <p:cNvCxnSpPr/>
            <p:nvPr/>
          </p:nvCxnSpPr>
          <p:spPr bwMode="auto">
            <a:xfrm>
              <a:off x="1714480" y="4258360"/>
              <a:ext cx="432000" cy="1588"/>
            </a:xfrm>
            <a:prstGeom prst="line">
              <a:avLst/>
            </a:prstGeom>
            <a:noFill/>
            <a:ln w="9525" cap="flat" cmpd="sng" algn="ctr">
              <a:solidFill>
                <a:schemeClr val="accent1"/>
              </a:solidFill>
              <a:prstDash val="dash"/>
              <a:round/>
              <a:headEnd type="none" w="med" len="med"/>
              <a:tailEnd type="none" w="med" len="med"/>
            </a:ln>
            <a:effectLst/>
          </p:spPr>
        </p:cxnSp>
        <p:cxnSp>
          <p:nvCxnSpPr>
            <p:cNvPr id="24" name="直接连接符 23"/>
            <p:cNvCxnSpPr/>
            <p:nvPr/>
          </p:nvCxnSpPr>
          <p:spPr bwMode="auto">
            <a:xfrm>
              <a:off x="1714480" y="4806130"/>
              <a:ext cx="432000" cy="1588"/>
            </a:xfrm>
            <a:prstGeom prst="line">
              <a:avLst/>
            </a:prstGeom>
            <a:noFill/>
            <a:ln w="9525" cap="flat" cmpd="sng" algn="ctr">
              <a:solidFill>
                <a:schemeClr val="accent1"/>
              </a:solidFill>
              <a:prstDash val="dash"/>
              <a:round/>
              <a:headEnd type="none" w="med" len="med"/>
              <a:tailEnd type="none" w="med" len="med"/>
            </a:ln>
            <a:effectLst/>
          </p:spPr>
        </p:cxnSp>
        <p:cxnSp>
          <p:nvCxnSpPr>
            <p:cNvPr id="25" name="直接连接符 24"/>
            <p:cNvCxnSpPr/>
            <p:nvPr/>
          </p:nvCxnSpPr>
          <p:spPr bwMode="auto">
            <a:xfrm rot="16200000" flipH="1">
              <a:off x="598479" y="3252835"/>
              <a:ext cx="3096000" cy="1"/>
            </a:xfrm>
            <a:prstGeom prst="line">
              <a:avLst/>
            </a:prstGeom>
            <a:noFill/>
            <a:ln w="9525" cap="flat" cmpd="sng" algn="ctr">
              <a:solidFill>
                <a:schemeClr val="accent1"/>
              </a:solidFill>
              <a:prstDash val="dash"/>
              <a:round/>
              <a:headEnd type="none" w="med" len="med"/>
              <a:tailEnd type="none" w="med" len="med"/>
            </a:ln>
            <a:effectLst/>
          </p:spPr>
        </p:cxnSp>
        <p:cxnSp>
          <p:nvCxnSpPr>
            <p:cNvPr id="26" name="直接箭头连接符 25"/>
            <p:cNvCxnSpPr/>
            <p:nvPr/>
          </p:nvCxnSpPr>
          <p:spPr bwMode="auto">
            <a:xfrm>
              <a:off x="1728994" y="3257096"/>
              <a:ext cx="720000" cy="1588"/>
            </a:xfrm>
            <a:prstGeom prst="straightConnector1">
              <a:avLst/>
            </a:prstGeom>
            <a:noFill/>
            <a:ln w="9525" cap="flat" cmpd="sng" algn="ctr">
              <a:solidFill>
                <a:schemeClr val="accent1"/>
              </a:solidFill>
              <a:prstDash val="dash"/>
              <a:round/>
              <a:headEnd type="none" w="med" len="med"/>
              <a:tailEnd type="arrow"/>
            </a:ln>
            <a:effectLst/>
          </p:spPr>
        </p:cxnSp>
        <p:sp>
          <p:nvSpPr>
            <p:cNvPr id="27" name="上下箭头 26"/>
            <p:cNvSpPr/>
            <p:nvPr/>
          </p:nvSpPr>
          <p:spPr bwMode="auto">
            <a:xfrm rot="5400000">
              <a:off x="5214942" y="2357431"/>
              <a:ext cx="357190" cy="2643206"/>
            </a:xfrm>
            <a:prstGeom prst="upDownArrow">
              <a:avLst>
                <a:gd name="adj1" fmla="val 50000"/>
                <a:gd name="adj2" fmla="val 33746"/>
              </a:avLst>
            </a:prstGeom>
            <a:noFill/>
            <a:ln w="6350">
              <a:solidFill>
                <a:schemeClr val="tx1"/>
              </a:solid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28" name="矩形 27"/>
            <p:cNvSpPr/>
            <p:nvPr/>
          </p:nvSpPr>
          <p:spPr bwMode="auto">
            <a:xfrm>
              <a:off x="4286248" y="3367018"/>
              <a:ext cx="648000" cy="648000"/>
            </a:xfrm>
            <a:prstGeom prst="rect">
              <a:avLst/>
            </a:prstGeom>
            <a:solidFill>
              <a:schemeClr val="bg1">
                <a:lumMod val="95000"/>
              </a:schemeClr>
            </a:solidFill>
            <a:ln w="6350">
              <a:solidFill>
                <a:schemeClr val="bg1">
                  <a:lumMod val="65000"/>
                </a:schemeClr>
              </a:solidFill>
              <a:prstDash val="dash"/>
              <a:miter lim="800000"/>
            </a:ln>
          </p:spPr>
          <p:txBody>
            <a:bodyPr lIns="36000" rIns="36000" rtlCol="0" anchor="ctr">
              <a:noAutofit/>
            </a:bodyPr>
            <a:lstStyle/>
            <a:p>
              <a:pPr marL="117475" indent="-117475" algn="ctr">
                <a:buClr>
                  <a:schemeClr val="tx1"/>
                </a:buClr>
              </a:pPr>
              <a:r>
                <a:rPr lang="zh-CN" altLang="en-US" sz="1200" dirty="0">
                  <a:solidFill>
                    <a:srgbClr val="000000"/>
                  </a:solidFill>
                  <a:latin typeface="微软雅黑" panose="020B0503020204020204" charset="-122"/>
                  <a:ea typeface="微软雅黑" panose="020B0503020204020204" charset="-122"/>
                </a:rPr>
                <a:t>代理商</a:t>
              </a:r>
            </a:p>
          </p:txBody>
        </p:sp>
        <p:sp>
          <p:nvSpPr>
            <p:cNvPr id="29" name="矩形 28"/>
            <p:cNvSpPr/>
            <p:nvPr/>
          </p:nvSpPr>
          <p:spPr bwMode="auto">
            <a:xfrm>
              <a:off x="5072066" y="3367018"/>
              <a:ext cx="648000" cy="648000"/>
            </a:xfrm>
            <a:prstGeom prst="rect">
              <a:avLst/>
            </a:prstGeom>
            <a:solidFill>
              <a:schemeClr val="bg1">
                <a:lumMod val="95000"/>
              </a:schemeClr>
            </a:solidFill>
            <a:ln w="6350">
              <a:solidFill>
                <a:schemeClr val="bg1">
                  <a:lumMod val="65000"/>
                </a:schemeClr>
              </a:solidFill>
              <a:prstDash val="dash"/>
              <a:miter lim="800000"/>
            </a:ln>
          </p:spPr>
          <p:txBody>
            <a:bodyPr lIns="36000" rIns="36000" rtlCol="0" anchor="ctr">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区域</a:t>
              </a:r>
              <a:endParaRPr lang="en-US" altLang="zh-CN" sz="1200" dirty="0">
                <a:solidFill>
                  <a:srgbClr val="000000"/>
                </a:solidFill>
                <a:latin typeface="微软雅黑" panose="020B0503020204020204" charset="-122"/>
                <a:ea typeface="微软雅黑" panose="020B0503020204020204" charset="-122"/>
              </a:endParaRPr>
            </a:p>
          </p:txBody>
        </p:sp>
        <p:sp>
          <p:nvSpPr>
            <p:cNvPr id="30" name="矩形 29"/>
            <p:cNvSpPr/>
            <p:nvPr/>
          </p:nvSpPr>
          <p:spPr bwMode="auto">
            <a:xfrm>
              <a:off x="5857884" y="3367018"/>
              <a:ext cx="648000" cy="648000"/>
            </a:xfrm>
            <a:prstGeom prst="rect">
              <a:avLst/>
            </a:prstGeom>
            <a:solidFill>
              <a:schemeClr val="bg1">
                <a:lumMod val="95000"/>
              </a:schemeClr>
            </a:solidFill>
            <a:ln w="6350">
              <a:solidFill>
                <a:schemeClr val="bg1">
                  <a:lumMod val="65000"/>
                </a:schemeClr>
              </a:solidFill>
              <a:prstDash val="dash"/>
              <a:miter lim="800000"/>
            </a:ln>
          </p:spPr>
          <p:txBody>
            <a:bodyPr lIns="36000" rIns="36000" rtlCol="0" anchor="ctr">
              <a:noAutofit/>
            </a:bodyPr>
            <a:lstStyle/>
            <a:p>
              <a:pPr algn="ctr">
                <a:buClr>
                  <a:schemeClr val="tx1"/>
                </a:buClr>
              </a:pPr>
              <a:r>
                <a:rPr lang="zh-CN" altLang="en-US" sz="1200" dirty="0">
                  <a:solidFill>
                    <a:srgbClr val="000000"/>
                  </a:solidFill>
                  <a:latin typeface="微软雅黑" panose="020B0503020204020204" charset="-122"/>
                  <a:ea typeface="微软雅黑" panose="020B0503020204020204" charset="-122"/>
                </a:rPr>
                <a:t>营销</a:t>
              </a:r>
              <a:endParaRPr lang="en-US" altLang="zh-CN" sz="1200" dirty="0">
                <a:solidFill>
                  <a:srgbClr val="000000"/>
                </a:solidFill>
                <a:latin typeface="微软雅黑" panose="020B0503020204020204" charset="-122"/>
                <a:ea typeface="微软雅黑" panose="020B0503020204020204" charset="-122"/>
              </a:endParaRPr>
            </a:p>
            <a:p>
              <a:pPr algn="ctr">
                <a:buClr>
                  <a:schemeClr val="tx1"/>
                </a:buClr>
              </a:pPr>
              <a:r>
                <a:rPr lang="zh-CN" altLang="en-US" sz="1200" dirty="0">
                  <a:solidFill>
                    <a:srgbClr val="000000"/>
                  </a:solidFill>
                  <a:latin typeface="微软雅黑" panose="020B0503020204020204" charset="-122"/>
                  <a:ea typeface="微软雅黑" panose="020B0503020204020204" charset="-122"/>
                </a:rPr>
                <a:t>后台</a:t>
              </a:r>
            </a:p>
          </p:txBody>
        </p:sp>
        <p:sp>
          <p:nvSpPr>
            <p:cNvPr id="31" name="AutoShape 26"/>
            <p:cNvSpPr>
              <a:spLocks noChangeArrowheads="1"/>
            </p:cNvSpPr>
            <p:nvPr/>
          </p:nvSpPr>
          <p:spPr bwMode="auto">
            <a:xfrm>
              <a:off x="4703636" y="4714884"/>
              <a:ext cx="1440000" cy="468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整机库存</a:t>
              </a:r>
            </a:p>
          </p:txBody>
        </p:sp>
        <p:sp>
          <p:nvSpPr>
            <p:cNvPr id="32" name="AutoShape 26"/>
            <p:cNvSpPr>
              <a:spLocks noChangeArrowheads="1"/>
            </p:cNvSpPr>
            <p:nvPr/>
          </p:nvSpPr>
          <p:spPr bwMode="auto">
            <a:xfrm>
              <a:off x="3857620" y="1857364"/>
              <a:ext cx="1440000" cy="468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销售计划</a:t>
              </a:r>
            </a:p>
          </p:txBody>
        </p:sp>
        <p:sp>
          <p:nvSpPr>
            <p:cNvPr id="33" name="AutoShape 26"/>
            <p:cNvSpPr>
              <a:spLocks noChangeArrowheads="1"/>
            </p:cNvSpPr>
            <p:nvPr/>
          </p:nvSpPr>
          <p:spPr bwMode="auto">
            <a:xfrm>
              <a:off x="2328394" y="3028268"/>
              <a:ext cx="1260000" cy="468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销售预测</a:t>
              </a:r>
            </a:p>
          </p:txBody>
        </p:sp>
        <p:cxnSp>
          <p:nvCxnSpPr>
            <p:cNvPr id="34" name="直接箭头连接符 33"/>
            <p:cNvCxnSpPr/>
            <p:nvPr/>
          </p:nvCxnSpPr>
          <p:spPr bwMode="auto">
            <a:xfrm>
              <a:off x="3472534" y="3257096"/>
              <a:ext cx="468000" cy="1588"/>
            </a:xfrm>
            <a:prstGeom prst="straightConnector1">
              <a:avLst/>
            </a:prstGeom>
            <a:noFill/>
            <a:ln w="9525" cap="flat" cmpd="sng" algn="ctr">
              <a:solidFill>
                <a:schemeClr val="accent1"/>
              </a:solidFill>
              <a:prstDash val="dash"/>
              <a:round/>
              <a:headEnd type="none" w="med" len="med"/>
              <a:tailEnd type="arrow"/>
            </a:ln>
            <a:effectLst/>
          </p:spPr>
        </p:cxnSp>
        <p:cxnSp>
          <p:nvCxnSpPr>
            <p:cNvPr id="36" name="直接箭头连接符 35"/>
            <p:cNvCxnSpPr/>
            <p:nvPr/>
          </p:nvCxnSpPr>
          <p:spPr bwMode="auto">
            <a:xfrm>
              <a:off x="3461058" y="4000504"/>
              <a:ext cx="468000" cy="1588"/>
            </a:xfrm>
            <a:prstGeom prst="straightConnector1">
              <a:avLst/>
            </a:prstGeom>
            <a:noFill/>
            <a:ln w="9525" cap="flat" cmpd="sng" algn="ctr">
              <a:solidFill>
                <a:schemeClr val="accent1"/>
              </a:solidFill>
              <a:prstDash val="dash"/>
              <a:round/>
              <a:headEnd type="none" w="med" len="med"/>
              <a:tailEnd type="arrow"/>
            </a:ln>
            <a:effectLst/>
          </p:spPr>
        </p:cxnSp>
        <p:cxnSp>
          <p:nvCxnSpPr>
            <p:cNvPr id="37" name="直接箭头连接符 36"/>
            <p:cNvCxnSpPr>
              <a:stCxn id="38" idx="4"/>
            </p:cNvCxnSpPr>
            <p:nvPr/>
          </p:nvCxnSpPr>
          <p:spPr bwMode="auto">
            <a:xfrm rot="5400000">
              <a:off x="5943388" y="2591430"/>
              <a:ext cx="532132" cy="1588"/>
            </a:xfrm>
            <a:prstGeom prst="straightConnector1">
              <a:avLst/>
            </a:prstGeom>
            <a:noFill/>
            <a:ln w="9525" cap="flat" cmpd="sng" algn="ctr">
              <a:solidFill>
                <a:schemeClr val="accent1"/>
              </a:solidFill>
              <a:prstDash val="dash"/>
              <a:round/>
              <a:headEnd type="none" w="med" len="med"/>
              <a:tailEnd type="arrow"/>
            </a:ln>
            <a:effectLst/>
          </p:spPr>
        </p:cxnSp>
        <p:sp>
          <p:nvSpPr>
            <p:cNvPr id="38" name="AutoShape 26"/>
            <p:cNvSpPr>
              <a:spLocks noChangeArrowheads="1"/>
            </p:cNvSpPr>
            <p:nvPr/>
          </p:nvSpPr>
          <p:spPr bwMode="auto">
            <a:xfrm>
              <a:off x="5489454" y="1857364"/>
              <a:ext cx="1440000" cy="468000"/>
            </a:xfrm>
            <a:prstGeom prst="flowChartInputOutput">
              <a:avLst/>
            </a:prstGeom>
            <a:noFill/>
            <a:ln w="12700" algn="ctr">
              <a:solidFill>
                <a:schemeClr val="accent1"/>
              </a:solidFill>
              <a:prstDash val="dash"/>
              <a:miter lim="800000"/>
            </a:ln>
          </p:spPr>
          <p:txBody>
            <a:bodyPr wrap="none" lIns="90000" tIns="46800" rIns="90000" bIns="46800" anchor="ctr"/>
            <a:lstStyle/>
            <a:p>
              <a:pPr algn="ctr"/>
              <a:r>
                <a:rPr lang="zh-CN" altLang="en-US" sz="1200" dirty="0">
                  <a:solidFill>
                    <a:srgbClr val="000000"/>
                  </a:solidFill>
                  <a:latin typeface="微软雅黑" panose="020B0503020204020204" charset="-122"/>
                  <a:ea typeface="微软雅黑" panose="020B0503020204020204" charset="-122"/>
                </a:rPr>
                <a:t>产能利用要求</a:t>
              </a:r>
            </a:p>
          </p:txBody>
        </p:sp>
      </p:grpSp>
      <p:sp>
        <p:nvSpPr>
          <p:cNvPr id="39" name="Rectangle 17"/>
          <p:cNvSpPr>
            <a:spLocks noChangeArrowheads="1"/>
          </p:cNvSpPr>
          <p:nvPr/>
        </p:nvSpPr>
        <p:spPr bwMode="auto">
          <a:xfrm>
            <a:off x="399404" y="1071546"/>
            <a:ext cx="8316000" cy="384864"/>
          </a:xfrm>
          <a:prstGeom prst="rect">
            <a:avLst/>
          </a:prstGeom>
          <a:noFill/>
          <a:ln w="6350">
            <a:noFill/>
            <a:miter lim="800000"/>
          </a:ln>
          <a:effectLst/>
        </p:spPr>
        <p:txBody>
          <a:bodyPr tIns="182880" bIns="91440" anchor="ctr"/>
          <a:lstStyle/>
          <a:p>
            <a:pPr marL="119380" lvl="0" indent="-119380" algn="ctr">
              <a:spcBef>
                <a:spcPts val="430"/>
              </a:spcBef>
              <a:defRPr/>
            </a:pPr>
            <a:r>
              <a:rPr lang="zh-CN" altLang="en-US" sz="1600" b="1" kern="0" dirty="0">
                <a:solidFill>
                  <a:srgbClr val="3366FF"/>
                </a:solidFill>
                <a:latin typeface="微软雅黑" panose="020B0503020204020204" charset="-122"/>
                <a:ea typeface="微软雅黑" panose="020B0503020204020204" charset="-122"/>
                <a:cs typeface="Arial" panose="020B0604020202020204" pitchFamily="34" charset="0"/>
              </a:rPr>
              <a:t>需求管理分析框架</a:t>
            </a:r>
          </a:p>
        </p:txBody>
      </p:sp>
      <p:sp>
        <p:nvSpPr>
          <p:cNvPr id="40" name="TextBox 39"/>
          <p:cNvSpPr txBox="1"/>
          <p:nvPr/>
        </p:nvSpPr>
        <p:spPr bwMode="auto">
          <a:xfrm>
            <a:off x="414000" y="6050181"/>
            <a:ext cx="8286808" cy="338554"/>
          </a:xfrm>
          <a:prstGeom prst="rect">
            <a:avLst/>
          </a:prstGeom>
          <a:noFill/>
          <a:ln>
            <a:noFill/>
          </a:ln>
        </p:spPr>
        <p:txBody>
          <a:bodyPr wrap="square" rtlCol="0">
            <a:spAutoFit/>
          </a:bodyPr>
          <a:lstStyle/>
          <a:p>
            <a:pPr marL="119380" indent="-119380" algn="ctr">
              <a:spcBef>
                <a:spcPts val="430"/>
              </a:spcBef>
              <a:defRPr/>
            </a:pPr>
            <a:r>
              <a:rPr lang="zh-CN" altLang="en-US" sz="1600" b="1" kern="0" dirty="0">
                <a:solidFill>
                  <a:srgbClr val="3366FF"/>
                </a:solidFill>
                <a:latin typeface="微软雅黑" panose="020B0503020204020204" charset="-122"/>
                <a:ea typeface="微软雅黑" panose="020B0503020204020204" charset="-122"/>
                <a:cs typeface="Arial" panose="020B0604020202020204" pitchFamily="34" charset="0"/>
              </a:rPr>
              <a:t>销售预测有工具、需求提报有依据、库存管理有策略</a:t>
            </a:r>
          </a:p>
        </p:txBody>
      </p:sp>
      <p:sp>
        <p:nvSpPr>
          <p:cNvPr id="43" name="五角星 42"/>
          <p:cNvSpPr/>
          <p:nvPr/>
        </p:nvSpPr>
        <p:spPr bwMode="auto">
          <a:xfrm>
            <a:off x="3286116" y="3143248"/>
            <a:ext cx="285752" cy="357190"/>
          </a:xfrm>
          <a:prstGeom prst="star5">
            <a:avLst/>
          </a:prstGeom>
          <a:solidFill>
            <a:srgbClr val="FF0000"/>
          </a:solidFill>
          <a:ln w="9525" cap="flat" cmpd="sng" algn="ctr">
            <a:noFill/>
            <a:prstDash val="solid"/>
            <a:round/>
            <a:headEnd type="none" w="med" len="med"/>
            <a:tailEnd type="none"/>
          </a:ln>
          <a:effectLst/>
        </p:spPr>
        <p:txBody>
          <a:bodyPr rtlCol="0" anchor="ctr"/>
          <a:lstStyle/>
          <a:p>
            <a:pPr algn="ctr"/>
            <a:endParaRPr lang="zh-CN" altLang="en-US"/>
          </a:p>
        </p:txBody>
      </p:sp>
      <p:sp>
        <p:nvSpPr>
          <p:cNvPr id="44" name="五角星 43"/>
          <p:cNvSpPr/>
          <p:nvPr/>
        </p:nvSpPr>
        <p:spPr bwMode="auto">
          <a:xfrm>
            <a:off x="5643570" y="4786322"/>
            <a:ext cx="285752" cy="357190"/>
          </a:xfrm>
          <a:prstGeom prst="star5">
            <a:avLst/>
          </a:prstGeom>
          <a:solidFill>
            <a:srgbClr val="FF0000"/>
          </a:solidFill>
          <a:ln w="9525" cap="flat" cmpd="sng" algn="ctr">
            <a:noFill/>
            <a:prstDash val="solid"/>
            <a:round/>
            <a:headEnd type="none" w="med" len="med"/>
            <a:tailEnd type="none"/>
          </a:ln>
          <a:effectLst/>
        </p:spPr>
        <p:txBody>
          <a:bodyPr rtlCol="0" anchor="ctr"/>
          <a:lstStyle/>
          <a:p>
            <a:pPr algn="ctr"/>
            <a:endParaRPr lang="zh-CN" altLang="en-US"/>
          </a:p>
        </p:txBody>
      </p:sp>
      <p:sp>
        <p:nvSpPr>
          <p:cNvPr id="45" name="五角星 44"/>
          <p:cNvSpPr/>
          <p:nvPr/>
        </p:nvSpPr>
        <p:spPr bwMode="auto">
          <a:xfrm>
            <a:off x="6286512" y="3143248"/>
            <a:ext cx="285752" cy="357190"/>
          </a:xfrm>
          <a:prstGeom prst="star5">
            <a:avLst/>
          </a:prstGeom>
          <a:solidFill>
            <a:srgbClr val="FF0000"/>
          </a:solidFill>
          <a:ln w="9525" cap="flat" cmpd="sng" algn="ctr">
            <a:noFill/>
            <a:prstDash val="solid"/>
            <a:round/>
            <a:headEnd type="none" w="med" len="med"/>
            <a:tailEnd type="none"/>
          </a:ln>
          <a:effectLst/>
        </p:spPr>
        <p:txBody>
          <a:bodyPr rtlCol="0" anchor="ctr"/>
          <a:lstStyle/>
          <a:p>
            <a:pPr algn="ctr"/>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2000" y="577959"/>
            <a:ext cx="8820000" cy="695325"/>
          </a:xfrm>
        </p:spPr>
        <p:txBody>
          <a:bodyPr/>
          <a:lstStyle/>
          <a:p>
            <a:r>
              <a:rPr dirty="0"/>
              <a:t>A-1. </a:t>
            </a:r>
            <a:r>
              <a:rPr lang="zh-CN" altLang="en-US" dirty="0"/>
              <a:t>需求计划管理（以某装备企业需求管理为例）</a:t>
            </a:r>
          </a:p>
        </p:txBody>
      </p:sp>
      <p:sp>
        <p:nvSpPr>
          <p:cNvPr id="3" name="Text Box 4"/>
          <p:cNvSpPr txBox="1">
            <a:spLocks noChangeArrowheads="1"/>
          </p:cNvSpPr>
          <p:nvPr/>
        </p:nvSpPr>
        <p:spPr bwMode="auto">
          <a:xfrm>
            <a:off x="355586" y="5560978"/>
            <a:ext cx="1260000" cy="463537"/>
          </a:xfrm>
          <a:prstGeom prst="rect">
            <a:avLst/>
          </a:prstGeom>
          <a:solidFill>
            <a:srgbClr val="FFFFCC"/>
          </a:solidFill>
          <a:ln w="190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noAutofit/>
          </a:bodyPr>
          <a:lstStyle>
            <a:lvl1pPr>
              <a:defRPr sz="1200">
                <a:solidFill>
                  <a:schemeClr val="tx1"/>
                </a:solidFill>
                <a:latin typeface="Arial" panose="020B0604020202020204" pitchFamily="34" charset="0"/>
                <a:cs typeface="Arial" panose="020B0604020202020204" pitchFamily="34" charset="0"/>
              </a:defRPr>
            </a:lvl1pPr>
            <a:lvl2pPr marL="571500">
              <a:defRPr sz="1200">
                <a:solidFill>
                  <a:schemeClr val="tx1"/>
                </a:solidFill>
                <a:latin typeface="Arial" panose="020B0604020202020204" pitchFamily="34" charset="0"/>
                <a:cs typeface="Arial" panose="020B0604020202020204" pitchFamily="34" charset="0"/>
              </a:defRPr>
            </a:lvl2pPr>
            <a:lvl3pPr marL="1143000">
              <a:defRPr sz="1200">
                <a:solidFill>
                  <a:schemeClr val="tx1"/>
                </a:solidFill>
                <a:latin typeface="Arial" panose="020B0604020202020204" pitchFamily="34" charset="0"/>
                <a:cs typeface="Arial" panose="020B0604020202020204" pitchFamily="34" charset="0"/>
              </a:defRPr>
            </a:lvl3pPr>
            <a:lvl4pPr marL="1714500">
              <a:defRPr sz="1200">
                <a:solidFill>
                  <a:schemeClr val="tx1"/>
                </a:solidFill>
                <a:latin typeface="Arial" panose="020B0604020202020204" pitchFamily="34" charset="0"/>
                <a:cs typeface="Arial" panose="020B0604020202020204" pitchFamily="34" charset="0"/>
              </a:defRPr>
            </a:lvl4pPr>
            <a:lvl5pPr marL="2286000">
              <a:defRPr sz="1200">
                <a:solidFill>
                  <a:schemeClr val="tx1"/>
                </a:solidFill>
                <a:latin typeface="Arial" panose="020B0604020202020204" pitchFamily="34" charset="0"/>
                <a:cs typeface="Arial" panose="020B0604020202020204" pitchFamily="34" charset="0"/>
              </a:defRPr>
            </a:lvl5pPr>
            <a:lvl6pPr marL="27432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6pPr>
            <a:lvl7pPr marL="32004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7pPr>
            <a:lvl8pPr marL="36576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8pPr>
            <a:lvl9pPr marL="41148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9pPr>
          </a:lstStyle>
          <a:p>
            <a:pPr algn="ctr" eaLnBrk="1" hangingPunct="1">
              <a:lnSpc>
                <a:spcPct val="100000"/>
              </a:lnSpc>
              <a:spcBef>
                <a:spcPct val="0"/>
              </a:spcBef>
              <a:buClrTx/>
              <a:buFontTx/>
              <a:buNone/>
            </a:pPr>
            <a:r>
              <a:rPr lang="zh-CN" altLang="en-US" sz="1400" b="1" dirty="0">
                <a:latin typeface="微软雅黑" panose="020B0503020204020204" charset="-122"/>
                <a:ea typeface="微软雅黑" panose="020B0503020204020204" charset="-122"/>
              </a:rPr>
              <a:t>代理商</a:t>
            </a:r>
            <a:endParaRPr lang="fr-BE" sz="1400" b="1" dirty="0">
              <a:latin typeface="微软雅黑" panose="020B0503020204020204" charset="-122"/>
              <a:ea typeface="微软雅黑" panose="020B0503020204020204" charset="-122"/>
            </a:endParaRPr>
          </a:p>
        </p:txBody>
      </p:sp>
      <p:sp>
        <p:nvSpPr>
          <p:cNvPr id="4" name="Text Box 7"/>
          <p:cNvSpPr txBox="1">
            <a:spLocks noChangeArrowheads="1"/>
          </p:cNvSpPr>
          <p:nvPr/>
        </p:nvSpPr>
        <p:spPr bwMode="auto">
          <a:xfrm>
            <a:off x="355828" y="2635216"/>
            <a:ext cx="1260000" cy="463537"/>
          </a:xfrm>
          <a:prstGeom prst="rect">
            <a:avLst/>
          </a:prstGeom>
          <a:solidFill>
            <a:srgbClr val="FFFFCC"/>
          </a:solidFill>
          <a:ln w="190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defRPr sz="1200">
                <a:solidFill>
                  <a:schemeClr val="tx1"/>
                </a:solidFill>
                <a:latin typeface="Arial" panose="020B0604020202020204" pitchFamily="34" charset="0"/>
                <a:cs typeface="Arial" panose="020B0604020202020204" pitchFamily="34" charset="0"/>
              </a:defRPr>
            </a:lvl1pPr>
            <a:lvl2pPr marL="571500">
              <a:defRPr sz="1200">
                <a:solidFill>
                  <a:schemeClr val="tx1"/>
                </a:solidFill>
                <a:latin typeface="Arial" panose="020B0604020202020204" pitchFamily="34" charset="0"/>
                <a:cs typeface="Arial" panose="020B0604020202020204" pitchFamily="34" charset="0"/>
              </a:defRPr>
            </a:lvl2pPr>
            <a:lvl3pPr marL="1143000">
              <a:defRPr sz="1200">
                <a:solidFill>
                  <a:schemeClr val="tx1"/>
                </a:solidFill>
                <a:latin typeface="Arial" panose="020B0604020202020204" pitchFamily="34" charset="0"/>
                <a:cs typeface="Arial" panose="020B0604020202020204" pitchFamily="34" charset="0"/>
              </a:defRPr>
            </a:lvl3pPr>
            <a:lvl4pPr marL="1714500">
              <a:defRPr sz="1200">
                <a:solidFill>
                  <a:schemeClr val="tx1"/>
                </a:solidFill>
                <a:latin typeface="Arial" panose="020B0604020202020204" pitchFamily="34" charset="0"/>
                <a:cs typeface="Arial" panose="020B0604020202020204" pitchFamily="34" charset="0"/>
              </a:defRPr>
            </a:lvl4pPr>
            <a:lvl5pPr marL="2286000">
              <a:defRPr sz="1200">
                <a:solidFill>
                  <a:schemeClr val="tx1"/>
                </a:solidFill>
                <a:latin typeface="Arial" panose="020B0604020202020204" pitchFamily="34" charset="0"/>
                <a:cs typeface="Arial" panose="020B0604020202020204" pitchFamily="34" charset="0"/>
              </a:defRPr>
            </a:lvl5pPr>
            <a:lvl6pPr marL="27432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6pPr>
            <a:lvl7pPr marL="32004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7pPr>
            <a:lvl8pPr marL="36576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8pPr>
            <a:lvl9pPr marL="41148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9pPr>
          </a:lstStyle>
          <a:p>
            <a:pPr algn="ctr">
              <a:spcBef>
                <a:spcPct val="0"/>
              </a:spcBef>
            </a:pPr>
            <a:r>
              <a:rPr lang="zh-CN" altLang="en-US" sz="1400" b="1" dirty="0">
                <a:latin typeface="微软雅黑" panose="020B0503020204020204" charset="-122"/>
                <a:ea typeface="微软雅黑" panose="020B0503020204020204" charset="-122"/>
              </a:rPr>
              <a:t>营销管理</a:t>
            </a:r>
            <a:endParaRPr lang="en-US" altLang="zh-CN" sz="1400" b="1" dirty="0">
              <a:latin typeface="微软雅黑" panose="020B0503020204020204" charset="-122"/>
              <a:ea typeface="微软雅黑" panose="020B0503020204020204" charset="-122"/>
            </a:endParaRPr>
          </a:p>
          <a:p>
            <a:pPr algn="ctr">
              <a:spcBef>
                <a:spcPct val="0"/>
              </a:spcBef>
            </a:pPr>
            <a:r>
              <a:rPr lang="zh-CN" altLang="en-US" sz="1400" b="1" dirty="0">
                <a:latin typeface="微软雅黑" panose="020B0503020204020204" charset="-122"/>
                <a:ea typeface="微软雅黑" panose="020B0503020204020204" charset="-122"/>
              </a:rPr>
              <a:t>业务部</a:t>
            </a:r>
            <a:endParaRPr lang="en-US" altLang="en-US" sz="1400" b="1" dirty="0">
              <a:latin typeface="微软雅黑" panose="020B0503020204020204" charset="-122"/>
              <a:ea typeface="微软雅黑" panose="020B0503020204020204" charset="-122"/>
            </a:endParaRPr>
          </a:p>
        </p:txBody>
      </p:sp>
      <p:cxnSp>
        <p:nvCxnSpPr>
          <p:cNvPr id="5" name="直接箭头连接符 4"/>
          <p:cNvCxnSpPr>
            <a:stCxn id="3" idx="0"/>
          </p:cNvCxnSpPr>
          <p:nvPr/>
        </p:nvCxnSpPr>
        <p:spPr bwMode="auto">
          <a:xfrm rot="16200000" flipV="1">
            <a:off x="474288" y="5049680"/>
            <a:ext cx="1022354" cy="242"/>
          </a:xfrm>
          <a:prstGeom prst="straightConnector1">
            <a:avLst/>
          </a:prstGeom>
          <a:noFill/>
          <a:ln w="9525" cap="flat" cmpd="sng" algn="ctr">
            <a:solidFill>
              <a:schemeClr val="tx1"/>
            </a:solidFill>
            <a:prstDash val="solid"/>
            <a:round/>
            <a:headEnd type="none" w="med" len="med"/>
            <a:tailEnd type="arrow"/>
          </a:ln>
          <a:effectLst/>
        </p:spPr>
      </p:cxnSp>
      <p:cxnSp>
        <p:nvCxnSpPr>
          <p:cNvPr id="6" name="直接箭头连接符 5"/>
          <p:cNvCxnSpPr>
            <a:endCxn id="4" idx="2"/>
          </p:cNvCxnSpPr>
          <p:nvPr/>
        </p:nvCxnSpPr>
        <p:spPr bwMode="auto">
          <a:xfrm rot="5400000" flipH="1" flipV="1">
            <a:off x="497419" y="3586678"/>
            <a:ext cx="976335" cy="484"/>
          </a:xfrm>
          <a:prstGeom prst="straightConnector1">
            <a:avLst/>
          </a:prstGeom>
          <a:noFill/>
          <a:ln w="9525" cap="flat" cmpd="sng" algn="ctr">
            <a:solidFill>
              <a:schemeClr val="tx1"/>
            </a:solidFill>
            <a:prstDash val="solid"/>
            <a:round/>
            <a:headEnd type="none" w="med" len="med"/>
            <a:tailEnd type="arrow"/>
          </a:ln>
          <a:effectLst/>
        </p:spPr>
      </p:cxnSp>
      <p:cxnSp>
        <p:nvCxnSpPr>
          <p:cNvPr id="7" name="曲线连接符 6"/>
          <p:cNvCxnSpPr>
            <a:stCxn id="4" idx="3"/>
          </p:cNvCxnSpPr>
          <p:nvPr/>
        </p:nvCxnSpPr>
        <p:spPr bwMode="auto">
          <a:xfrm>
            <a:off x="1615828" y="2866984"/>
            <a:ext cx="1588" cy="1342856"/>
          </a:xfrm>
          <a:prstGeom prst="curvedConnector3">
            <a:avLst>
              <a:gd name="adj1" fmla="val 14395466"/>
            </a:avLst>
          </a:prstGeom>
          <a:noFill/>
          <a:ln w="9525" cap="flat" cmpd="sng" algn="ctr">
            <a:solidFill>
              <a:schemeClr val="tx1"/>
            </a:solidFill>
            <a:prstDash val="solid"/>
            <a:round/>
            <a:headEnd type="none" w="med" len="med"/>
            <a:tailEnd type="triangle"/>
          </a:ln>
          <a:effectLst/>
        </p:spPr>
      </p:cxnSp>
      <p:cxnSp>
        <p:nvCxnSpPr>
          <p:cNvPr id="8" name="曲线连接符 7"/>
          <p:cNvCxnSpPr>
            <a:endCxn id="3" idx="3"/>
          </p:cNvCxnSpPr>
          <p:nvPr/>
        </p:nvCxnSpPr>
        <p:spPr bwMode="auto">
          <a:xfrm flipH="1">
            <a:off x="1615586" y="4332485"/>
            <a:ext cx="242" cy="1460261"/>
          </a:xfrm>
          <a:prstGeom prst="curvedConnector3">
            <a:avLst>
              <a:gd name="adj1" fmla="val -94462810"/>
            </a:avLst>
          </a:prstGeom>
          <a:noFill/>
          <a:ln w="9525" cap="flat" cmpd="sng" algn="ctr">
            <a:solidFill>
              <a:schemeClr val="tx1"/>
            </a:solidFill>
            <a:prstDash val="solid"/>
            <a:round/>
            <a:headEnd type="none" w="med" len="med"/>
            <a:tailEnd type="triangle"/>
          </a:ln>
          <a:effectLst/>
        </p:spPr>
      </p:cxnSp>
      <p:grpSp>
        <p:nvGrpSpPr>
          <p:cNvPr id="9" name="组合 39"/>
          <p:cNvGrpSpPr/>
          <p:nvPr/>
        </p:nvGrpSpPr>
        <p:grpSpPr>
          <a:xfrm>
            <a:off x="368528" y="4056534"/>
            <a:ext cx="1260000" cy="463537"/>
            <a:chOff x="798970" y="4071942"/>
            <a:chExt cx="1260000" cy="540000"/>
          </a:xfrm>
        </p:grpSpPr>
        <p:sp>
          <p:nvSpPr>
            <p:cNvPr id="10" name="矩形 9"/>
            <p:cNvSpPr/>
            <p:nvPr/>
          </p:nvSpPr>
          <p:spPr bwMode="auto">
            <a:xfrm>
              <a:off x="1974832" y="4214818"/>
              <a:ext cx="71438" cy="71438"/>
            </a:xfrm>
            <a:prstGeom prst="rect">
              <a:avLst/>
            </a:prstGeom>
            <a:noFill/>
            <a:ln w="6350">
              <a:solidFill>
                <a:schemeClr val="tx1"/>
              </a:solid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1" name="矩形 10"/>
            <p:cNvSpPr/>
            <p:nvPr/>
          </p:nvSpPr>
          <p:spPr bwMode="auto">
            <a:xfrm>
              <a:off x="1974832" y="4357694"/>
              <a:ext cx="71438" cy="71438"/>
            </a:xfrm>
            <a:prstGeom prst="rect">
              <a:avLst/>
            </a:prstGeom>
            <a:noFill/>
            <a:ln w="6350">
              <a:solidFill>
                <a:schemeClr val="tx1"/>
              </a:solid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2" name="Text Box 6"/>
            <p:cNvSpPr txBox="1">
              <a:spLocks noChangeArrowheads="1"/>
            </p:cNvSpPr>
            <p:nvPr/>
          </p:nvSpPr>
          <p:spPr bwMode="auto">
            <a:xfrm>
              <a:off x="798970" y="4071942"/>
              <a:ext cx="1260000" cy="540000"/>
            </a:xfrm>
            <a:prstGeom prst="rect">
              <a:avLst/>
            </a:prstGeom>
            <a:solidFill>
              <a:srgbClr val="FFFFCC"/>
            </a:solidFill>
            <a:ln w="190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defRPr sz="1200">
                  <a:solidFill>
                    <a:schemeClr val="tx1"/>
                  </a:solidFill>
                  <a:latin typeface="Arial" panose="020B0604020202020204" pitchFamily="34" charset="0"/>
                  <a:cs typeface="Arial" panose="020B0604020202020204" pitchFamily="34" charset="0"/>
                </a:defRPr>
              </a:lvl1pPr>
              <a:lvl2pPr marL="571500">
                <a:defRPr sz="1200">
                  <a:solidFill>
                    <a:schemeClr val="tx1"/>
                  </a:solidFill>
                  <a:latin typeface="Arial" panose="020B0604020202020204" pitchFamily="34" charset="0"/>
                  <a:cs typeface="Arial" panose="020B0604020202020204" pitchFamily="34" charset="0"/>
                </a:defRPr>
              </a:lvl2pPr>
              <a:lvl3pPr marL="1143000">
                <a:defRPr sz="1200">
                  <a:solidFill>
                    <a:schemeClr val="tx1"/>
                  </a:solidFill>
                  <a:latin typeface="Arial" panose="020B0604020202020204" pitchFamily="34" charset="0"/>
                  <a:cs typeface="Arial" panose="020B0604020202020204" pitchFamily="34" charset="0"/>
                </a:defRPr>
              </a:lvl3pPr>
              <a:lvl4pPr marL="1714500">
                <a:defRPr sz="1200">
                  <a:solidFill>
                    <a:schemeClr val="tx1"/>
                  </a:solidFill>
                  <a:latin typeface="Arial" panose="020B0604020202020204" pitchFamily="34" charset="0"/>
                  <a:cs typeface="Arial" panose="020B0604020202020204" pitchFamily="34" charset="0"/>
                </a:defRPr>
              </a:lvl4pPr>
              <a:lvl5pPr marL="2286000">
                <a:defRPr sz="1200">
                  <a:solidFill>
                    <a:schemeClr val="tx1"/>
                  </a:solidFill>
                  <a:latin typeface="Arial" panose="020B0604020202020204" pitchFamily="34" charset="0"/>
                  <a:cs typeface="Arial" panose="020B0604020202020204" pitchFamily="34" charset="0"/>
                </a:defRPr>
              </a:lvl5pPr>
              <a:lvl6pPr marL="27432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6pPr>
              <a:lvl7pPr marL="32004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7pPr>
              <a:lvl8pPr marL="36576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8pPr>
              <a:lvl9pPr marL="4114800" eaLnBrk="0" fontAlgn="base" hangingPunct="0">
                <a:lnSpc>
                  <a:spcPct val="90000"/>
                </a:lnSpc>
                <a:spcBef>
                  <a:spcPct val="20000"/>
                </a:spcBef>
                <a:spcAft>
                  <a:spcPct val="0"/>
                </a:spcAft>
                <a:buClr>
                  <a:schemeClr val="tx1"/>
                </a:buClr>
                <a:buFont typeface="Arial" panose="020B0604020202020204" pitchFamily="34" charset="0"/>
                <a:defRPr sz="1200">
                  <a:solidFill>
                    <a:schemeClr val="tx1"/>
                  </a:solidFill>
                  <a:latin typeface="Arial" panose="020B0604020202020204" pitchFamily="34" charset="0"/>
                  <a:cs typeface="Arial" panose="020B0604020202020204" pitchFamily="34" charset="0"/>
                </a:defRPr>
              </a:lvl9pPr>
            </a:lstStyle>
            <a:p>
              <a:pPr algn="ctr">
                <a:spcBef>
                  <a:spcPct val="0"/>
                </a:spcBef>
              </a:pPr>
              <a:r>
                <a:rPr lang="zh-CN" altLang="en-US" sz="1400" b="1" dirty="0">
                  <a:latin typeface="微软雅黑" panose="020B0503020204020204" charset="-122"/>
                  <a:ea typeface="微软雅黑" panose="020B0503020204020204" charset="-122"/>
                </a:rPr>
                <a:t>各区域市场部</a:t>
              </a:r>
              <a:endParaRPr lang="en-US" altLang="en-US" sz="1400" b="1" dirty="0">
                <a:latin typeface="微软雅黑" panose="020B0503020204020204" charset="-122"/>
                <a:ea typeface="微软雅黑" panose="020B0503020204020204" charset="-122"/>
              </a:endParaRPr>
            </a:p>
          </p:txBody>
        </p:sp>
      </p:grpSp>
      <p:sp>
        <p:nvSpPr>
          <p:cNvPr id="13" name="TextBox 12"/>
          <p:cNvSpPr txBox="1"/>
          <p:nvPr/>
        </p:nvSpPr>
        <p:spPr>
          <a:xfrm>
            <a:off x="2025160" y="5301537"/>
            <a:ext cx="895840" cy="957975"/>
          </a:xfrm>
          <a:prstGeom prst="rect">
            <a:avLst/>
          </a:prstGeom>
          <a:noFill/>
          <a:ln w="28575">
            <a:solidFill>
              <a:schemeClr val="accent6">
                <a:lumMod val="75000"/>
              </a:schemeClr>
            </a:solidFill>
          </a:ln>
        </p:spPr>
        <p:txBody>
          <a:bodyPr wrap="square" lIns="36000" rIns="36000" rtlCol="0" anchor="ctr">
            <a:noAutofit/>
          </a:bodyPr>
          <a:lstStyle/>
          <a:p>
            <a:pPr algn="ctr"/>
            <a:r>
              <a:rPr lang="zh-CN" altLang="en-US" sz="1200" dirty="0">
                <a:latin typeface="微软雅黑" panose="020B0503020204020204" charset="-122"/>
                <a:ea typeface="微软雅黑" panose="020B0503020204020204" charset="-122"/>
              </a:rPr>
              <a:t>代理商</a:t>
            </a:r>
            <a:endParaRPr lang="en-US" altLang="zh-CN" sz="1200" dirty="0">
              <a:latin typeface="微软雅黑" panose="020B0503020204020204" charset="-122"/>
              <a:ea typeface="微软雅黑" panose="020B0503020204020204" charset="-122"/>
            </a:endParaRPr>
          </a:p>
          <a:p>
            <a:pPr algn="ctr"/>
            <a:r>
              <a:rPr lang="zh-CN" altLang="en-US" sz="1200" dirty="0">
                <a:latin typeface="微软雅黑" panose="020B0503020204020204" charset="-122"/>
                <a:ea typeface="微软雅黑" panose="020B0503020204020204" charset="-122"/>
              </a:rPr>
              <a:t>提报月度</a:t>
            </a:r>
            <a:endParaRPr lang="en-US" altLang="zh-CN" sz="1200" dirty="0">
              <a:latin typeface="微软雅黑" panose="020B0503020204020204" charset="-122"/>
              <a:ea typeface="微软雅黑" panose="020B0503020204020204" charset="-122"/>
            </a:endParaRPr>
          </a:p>
          <a:p>
            <a:pPr algn="ctr"/>
            <a:r>
              <a:rPr lang="zh-CN" altLang="en-US" sz="1200" dirty="0">
                <a:latin typeface="微软雅黑" panose="020B0503020204020204" charset="-122"/>
                <a:ea typeface="微软雅黑" panose="020B0503020204020204" charset="-122"/>
              </a:rPr>
              <a:t>需求计划</a:t>
            </a:r>
          </a:p>
        </p:txBody>
      </p:sp>
      <p:sp>
        <p:nvSpPr>
          <p:cNvPr id="14" name="TextBox 13"/>
          <p:cNvSpPr txBox="1"/>
          <p:nvPr/>
        </p:nvSpPr>
        <p:spPr>
          <a:xfrm>
            <a:off x="2025160" y="3759792"/>
            <a:ext cx="895840" cy="1112488"/>
          </a:xfrm>
          <a:prstGeom prst="rect">
            <a:avLst/>
          </a:prstGeom>
          <a:noFill/>
          <a:ln w="28575">
            <a:solidFill>
              <a:schemeClr val="accent6">
                <a:lumMod val="75000"/>
              </a:schemeClr>
            </a:solidFill>
          </a:ln>
        </p:spPr>
        <p:txBody>
          <a:bodyPr wrap="square" lIns="36000" rIns="36000" rtlCol="0" anchor="ctr">
            <a:noAutofit/>
          </a:bodyPr>
          <a:lstStyle/>
          <a:p>
            <a:pPr algn="ctr"/>
            <a:r>
              <a:rPr lang="zh-CN" altLang="en-US" sz="1200" dirty="0">
                <a:latin typeface="微软雅黑" panose="020B0503020204020204" charset="-122"/>
                <a:ea typeface="微软雅黑" panose="020B0503020204020204" charset="-122"/>
              </a:rPr>
              <a:t>市场部</a:t>
            </a:r>
            <a:endParaRPr lang="en-US" altLang="zh-CN" sz="1200" dirty="0">
              <a:latin typeface="微软雅黑" panose="020B0503020204020204" charset="-122"/>
              <a:ea typeface="微软雅黑" panose="020B0503020204020204" charset="-122"/>
            </a:endParaRPr>
          </a:p>
          <a:p>
            <a:pPr algn="ctr"/>
            <a:r>
              <a:rPr lang="zh-CN" altLang="en-US" sz="1200" dirty="0">
                <a:latin typeface="微软雅黑" panose="020B0503020204020204" charset="-122"/>
                <a:ea typeface="微软雅黑" panose="020B0503020204020204" charset="-122"/>
              </a:rPr>
              <a:t>评审月度</a:t>
            </a:r>
            <a:endParaRPr lang="en-US" altLang="zh-CN" sz="1200" dirty="0">
              <a:latin typeface="微软雅黑" panose="020B0503020204020204" charset="-122"/>
              <a:ea typeface="微软雅黑" panose="020B0503020204020204" charset="-122"/>
            </a:endParaRPr>
          </a:p>
          <a:p>
            <a:pPr algn="ctr"/>
            <a:r>
              <a:rPr lang="zh-CN" altLang="en-US" sz="1200" dirty="0">
                <a:latin typeface="微软雅黑" panose="020B0503020204020204" charset="-122"/>
                <a:ea typeface="微软雅黑" panose="020B0503020204020204" charset="-122"/>
              </a:rPr>
              <a:t>需求计划</a:t>
            </a:r>
          </a:p>
        </p:txBody>
      </p:sp>
      <p:sp>
        <p:nvSpPr>
          <p:cNvPr id="15" name="TextBox 14"/>
          <p:cNvSpPr txBox="1"/>
          <p:nvPr/>
        </p:nvSpPr>
        <p:spPr>
          <a:xfrm>
            <a:off x="5000628" y="5301537"/>
            <a:ext cx="3817560" cy="957975"/>
          </a:xfrm>
          <a:prstGeom prst="rect">
            <a:avLst/>
          </a:prstGeom>
          <a:noFill/>
          <a:ln w="28575">
            <a:solidFill>
              <a:schemeClr val="accent6">
                <a:lumMod val="75000"/>
              </a:schemeClr>
            </a:solidFill>
          </a:ln>
        </p:spPr>
        <p:txBody>
          <a:bodyPr wrap="square" rtlCol="0" anchor="ctr">
            <a:noAutofit/>
          </a:bodyPr>
          <a:lstStyle/>
          <a:p>
            <a:pPr>
              <a:spcBef>
                <a:spcPts val="600"/>
              </a:spcBef>
              <a:tabLst>
                <a:tab pos="812800" algn="l"/>
              </a:tabLst>
            </a:pPr>
            <a:r>
              <a:rPr lang="zh-CN" altLang="en-US" sz="1000" b="1" u="sng" dirty="0">
                <a:latin typeface="微软雅黑" panose="020B0503020204020204" charset="-122"/>
                <a:ea typeface="微软雅黑" panose="020B0503020204020204" charset="-122"/>
              </a:rPr>
              <a:t>定量信息</a:t>
            </a:r>
            <a:r>
              <a:rPr lang="zh-CN" altLang="en-US" sz="1000" dirty="0">
                <a:latin typeface="微软雅黑" panose="020B0503020204020204" charset="-122"/>
                <a:ea typeface="微软雅黑" panose="020B0503020204020204" charset="-122"/>
              </a:rPr>
              <a:t>：</a:t>
            </a: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代理商前期月度需求计划、</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代理商历史销量、代理商销售目标、</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代理商库存</a:t>
            </a:r>
            <a:endParaRPr lang="en-US" altLang="zh-CN" sz="1000" dirty="0">
              <a:latin typeface="微软雅黑" panose="020B0503020204020204" charset="-122"/>
              <a:ea typeface="微软雅黑" panose="020B0503020204020204" charset="-122"/>
            </a:endParaRPr>
          </a:p>
          <a:p>
            <a:pPr>
              <a:spcBef>
                <a:spcPts val="600"/>
              </a:spcBef>
              <a:tabLst>
                <a:tab pos="812800" algn="l"/>
              </a:tabLst>
            </a:pPr>
            <a:r>
              <a:rPr lang="zh-CN" altLang="en-US" sz="1000" b="1" u="sng" dirty="0">
                <a:latin typeface="微软雅黑" panose="020B0503020204020204" charset="-122"/>
                <a:ea typeface="微软雅黑" panose="020B0503020204020204" charset="-122"/>
              </a:rPr>
              <a:t>定性信息</a:t>
            </a:r>
            <a:r>
              <a:rPr lang="zh-CN" altLang="en-US" sz="1000" dirty="0">
                <a:latin typeface="微软雅黑" panose="020B0503020204020204" charset="-122"/>
                <a:ea typeface="微软雅黑" panose="020B0503020204020204" charset="-122"/>
              </a:rPr>
              <a:t>：</a:t>
            </a: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促销政策、市场信息、</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竞争者信息、购机政策</a:t>
            </a:r>
          </a:p>
        </p:txBody>
      </p:sp>
      <p:sp>
        <p:nvSpPr>
          <p:cNvPr id="16" name="TextBox 15"/>
          <p:cNvSpPr txBox="1"/>
          <p:nvPr/>
        </p:nvSpPr>
        <p:spPr>
          <a:xfrm>
            <a:off x="2025160" y="2345600"/>
            <a:ext cx="895840" cy="1112488"/>
          </a:xfrm>
          <a:prstGeom prst="rect">
            <a:avLst/>
          </a:prstGeom>
          <a:noFill/>
          <a:ln w="28575">
            <a:solidFill>
              <a:schemeClr val="accent6">
                <a:lumMod val="75000"/>
              </a:schemeClr>
            </a:solidFill>
          </a:ln>
        </p:spPr>
        <p:txBody>
          <a:bodyPr wrap="square" lIns="36000" rIns="36000" rtlCol="0" anchor="ctr">
            <a:noAutofit/>
          </a:bodyPr>
          <a:lstStyle/>
          <a:p>
            <a:pPr algn="ctr"/>
            <a:r>
              <a:rPr lang="zh-CN" altLang="en-US" sz="1200" dirty="0">
                <a:latin typeface="微软雅黑" panose="020B0503020204020204" charset="-122"/>
                <a:ea typeface="微软雅黑" panose="020B0503020204020204" charset="-122"/>
              </a:rPr>
              <a:t>业务部</a:t>
            </a:r>
            <a:endParaRPr lang="en-US" altLang="zh-CN" sz="1200" dirty="0">
              <a:latin typeface="微软雅黑" panose="020B0503020204020204" charset="-122"/>
              <a:ea typeface="微软雅黑" panose="020B0503020204020204" charset="-122"/>
            </a:endParaRPr>
          </a:p>
          <a:p>
            <a:pPr algn="ctr"/>
            <a:r>
              <a:rPr lang="zh-CN" altLang="en-US" sz="1200" dirty="0">
                <a:latin typeface="微软雅黑" panose="020B0503020204020204" charset="-122"/>
                <a:ea typeface="微软雅黑" panose="020B0503020204020204" charset="-122"/>
              </a:rPr>
              <a:t>评审月度</a:t>
            </a:r>
            <a:endParaRPr lang="en-US" altLang="zh-CN" sz="1200" dirty="0">
              <a:latin typeface="微软雅黑" panose="020B0503020204020204" charset="-122"/>
              <a:ea typeface="微软雅黑" panose="020B0503020204020204" charset="-122"/>
            </a:endParaRPr>
          </a:p>
          <a:p>
            <a:pPr algn="ctr"/>
            <a:r>
              <a:rPr lang="zh-CN" altLang="en-US" sz="1200" dirty="0">
                <a:latin typeface="微软雅黑" panose="020B0503020204020204" charset="-122"/>
                <a:ea typeface="微软雅黑" panose="020B0503020204020204" charset="-122"/>
              </a:rPr>
              <a:t>需求计划</a:t>
            </a:r>
          </a:p>
        </p:txBody>
      </p:sp>
      <p:cxnSp>
        <p:nvCxnSpPr>
          <p:cNvPr id="17" name="直接连接符 16"/>
          <p:cNvCxnSpPr/>
          <p:nvPr/>
        </p:nvCxnSpPr>
        <p:spPr bwMode="auto">
          <a:xfrm>
            <a:off x="342644" y="2224513"/>
            <a:ext cx="1285884" cy="1363"/>
          </a:xfrm>
          <a:prstGeom prst="line">
            <a:avLst/>
          </a:prstGeom>
          <a:noFill/>
          <a:ln w="9525" cap="flat" cmpd="sng" algn="ctr">
            <a:solidFill>
              <a:schemeClr val="tx1"/>
            </a:solidFill>
            <a:prstDash val="solid"/>
            <a:round/>
            <a:headEnd type="none" w="med" len="med"/>
            <a:tailEnd type="none" w="med" len="med"/>
          </a:ln>
          <a:effectLst/>
        </p:spPr>
      </p:cxnSp>
      <p:sp>
        <p:nvSpPr>
          <p:cNvPr id="18" name="TextBox 17"/>
          <p:cNvSpPr txBox="1"/>
          <p:nvPr/>
        </p:nvSpPr>
        <p:spPr>
          <a:xfrm>
            <a:off x="688069" y="1928802"/>
            <a:ext cx="595035" cy="290615"/>
          </a:xfrm>
          <a:prstGeom prst="rect">
            <a:avLst/>
          </a:prstGeom>
          <a:noFill/>
        </p:spPr>
        <p:txBody>
          <a:bodyPr wrap="none" rtlCol="0">
            <a:spAutoFit/>
          </a:bodyPr>
          <a:lstStyle/>
          <a:p>
            <a:r>
              <a:rPr lang="zh-CN" altLang="en-US" sz="1600" b="1" dirty="0">
                <a:latin typeface="微软雅黑" panose="020B0503020204020204" charset="-122"/>
                <a:ea typeface="微软雅黑" panose="020B0503020204020204" charset="-122"/>
              </a:rPr>
              <a:t>组织</a:t>
            </a:r>
          </a:p>
        </p:txBody>
      </p:sp>
      <p:cxnSp>
        <p:nvCxnSpPr>
          <p:cNvPr id="19" name="直接连接符 18"/>
          <p:cNvCxnSpPr/>
          <p:nvPr/>
        </p:nvCxnSpPr>
        <p:spPr bwMode="auto">
          <a:xfrm>
            <a:off x="1997926" y="2224513"/>
            <a:ext cx="936000" cy="1363"/>
          </a:xfrm>
          <a:prstGeom prst="line">
            <a:avLst/>
          </a:prstGeom>
          <a:noFill/>
          <a:ln w="9525" cap="flat" cmpd="sng" algn="ctr">
            <a:solidFill>
              <a:schemeClr val="tx1"/>
            </a:solidFill>
            <a:prstDash val="solid"/>
            <a:round/>
            <a:headEnd type="none" w="med" len="med"/>
            <a:tailEnd type="none" w="med" len="med"/>
          </a:ln>
          <a:effectLst/>
        </p:spPr>
      </p:cxnSp>
      <p:sp>
        <p:nvSpPr>
          <p:cNvPr id="20" name="TextBox 19"/>
          <p:cNvSpPr txBox="1"/>
          <p:nvPr/>
        </p:nvSpPr>
        <p:spPr>
          <a:xfrm>
            <a:off x="2227708" y="1928802"/>
            <a:ext cx="595036" cy="290615"/>
          </a:xfrm>
          <a:prstGeom prst="rect">
            <a:avLst/>
          </a:prstGeom>
          <a:noFill/>
        </p:spPr>
        <p:txBody>
          <a:bodyPr wrap="none" rtlCol="0">
            <a:spAutoFit/>
          </a:bodyPr>
          <a:lstStyle/>
          <a:p>
            <a:pPr algn="ctr"/>
            <a:r>
              <a:rPr lang="zh-CN" altLang="en-US" sz="1600" b="1" dirty="0">
                <a:latin typeface="微软雅黑" panose="020B0503020204020204" charset="-122"/>
                <a:ea typeface="微软雅黑" panose="020B0503020204020204" charset="-122"/>
              </a:rPr>
              <a:t>职责</a:t>
            </a:r>
          </a:p>
        </p:txBody>
      </p:sp>
      <p:cxnSp>
        <p:nvCxnSpPr>
          <p:cNvPr id="21" name="直接连接符 20"/>
          <p:cNvCxnSpPr/>
          <p:nvPr/>
        </p:nvCxnSpPr>
        <p:spPr bwMode="auto">
          <a:xfrm>
            <a:off x="2357422" y="5054884"/>
            <a:ext cx="6300000" cy="1363"/>
          </a:xfrm>
          <a:prstGeom prst="line">
            <a:avLst/>
          </a:prstGeom>
          <a:noFill/>
          <a:ln w="9525" cap="flat" cmpd="sng" algn="ctr">
            <a:solidFill>
              <a:schemeClr val="accent2">
                <a:lumMod val="90000"/>
              </a:schemeClr>
            </a:solidFill>
            <a:prstDash val="dash"/>
            <a:round/>
            <a:headEnd type="none" w="med" len="med"/>
            <a:tailEnd type="none" w="med" len="med"/>
          </a:ln>
          <a:effectLst/>
        </p:spPr>
      </p:cxnSp>
      <p:cxnSp>
        <p:nvCxnSpPr>
          <p:cNvPr id="22" name="直接连接符 21"/>
          <p:cNvCxnSpPr/>
          <p:nvPr/>
        </p:nvCxnSpPr>
        <p:spPr bwMode="auto">
          <a:xfrm>
            <a:off x="2357422" y="3576331"/>
            <a:ext cx="6300000" cy="1363"/>
          </a:xfrm>
          <a:prstGeom prst="line">
            <a:avLst/>
          </a:prstGeom>
          <a:noFill/>
          <a:ln w="9525" cap="flat" cmpd="sng" algn="ctr">
            <a:solidFill>
              <a:schemeClr val="accent2">
                <a:lumMod val="90000"/>
              </a:schemeClr>
            </a:solidFill>
            <a:prstDash val="dash"/>
            <a:round/>
            <a:headEnd type="none" w="med" len="med"/>
            <a:tailEnd type="none" w="med" len="med"/>
          </a:ln>
          <a:effectLst/>
        </p:spPr>
      </p:cxnSp>
      <p:cxnSp>
        <p:nvCxnSpPr>
          <p:cNvPr id="23" name="直接连接符 22"/>
          <p:cNvCxnSpPr/>
          <p:nvPr/>
        </p:nvCxnSpPr>
        <p:spPr bwMode="auto">
          <a:xfrm>
            <a:off x="5016301" y="2224513"/>
            <a:ext cx="3786214" cy="1363"/>
          </a:xfrm>
          <a:prstGeom prst="line">
            <a:avLst/>
          </a:prstGeom>
          <a:noFill/>
          <a:ln w="9525" cap="flat" cmpd="sng" algn="ctr">
            <a:solidFill>
              <a:schemeClr val="tx1"/>
            </a:solidFill>
            <a:prstDash val="solid"/>
            <a:round/>
            <a:headEnd type="none" w="med" len="med"/>
            <a:tailEnd type="none" w="med" len="med"/>
          </a:ln>
          <a:effectLst/>
        </p:spPr>
      </p:cxnSp>
      <p:sp>
        <p:nvSpPr>
          <p:cNvPr id="24" name="TextBox 23"/>
          <p:cNvSpPr txBox="1"/>
          <p:nvPr/>
        </p:nvSpPr>
        <p:spPr>
          <a:xfrm>
            <a:off x="5600886" y="1928802"/>
            <a:ext cx="2617044" cy="290615"/>
          </a:xfrm>
          <a:prstGeom prst="rect">
            <a:avLst/>
          </a:prstGeom>
          <a:noFill/>
        </p:spPr>
        <p:txBody>
          <a:bodyPr wrap="square" rtlCol="0">
            <a:spAutoFit/>
          </a:bodyPr>
          <a:lstStyle/>
          <a:p>
            <a:pPr algn="ctr"/>
            <a:r>
              <a:rPr lang="zh-CN" altLang="en-US" sz="1600" b="1" dirty="0">
                <a:latin typeface="微软雅黑" panose="020B0503020204020204" charset="-122"/>
                <a:ea typeface="微软雅黑" panose="020B0503020204020204" charset="-122"/>
              </a:rPr>
              <a:t>月度联合预测的参考信息</a:t>
            </a:r>
          </a:p>
        </p:txBody>
      </p:sp>
      <p:sp>
        <p:nvSpPr>
          <p:cNvPr id="25" name="TextBox 24"/>
          <p:cNvSpPr txBox="1"/>
          <p:nvPr/>
        </p:nvSpPr>
        <p:spPr>
          <a:xfrm>
            <a:off x="5000628" y="3759792"/>
            <a:ext cx="3817560" cy="1112488"/>
          </a:xfrm>
          <a:prstGeom prst="rect">
            <a:avLst/>
          </a:prstGeom>
          <a:noFill/>
          <a:ln w="28575">
            <a:solidFill>
              <a:schemeClr val="accent6">
                <a:lumMod val="75000"/>
              </a:schemeClr>
            </a:solidFill>
          </a:ln>
        </p:spPr>
        <p:txBody>
          <a:bodyPr wrap="square" rtlCol="0" anchor="ctr">
            <a:noAutofit/>
          </a:bodyPr>
          <a:lstStyle/>
          <a:p>
            <a:pPr>
              <a:spcBef>
                <a:spcPts val="600"/>
              </a:spcBef>
              <a:tabLst>
                <a:tab pos="812800" algn="l"/>
              </a:tabLst>
            </a:pPr>
            <a:r>
              <a:rPr lang="zh-CN" altLang="en-US" sz="1000" b="1" u="sng" dirty="0">
                <a:latin typeface="微软雅黑" panose="020B0503020204020204" charset="-122"/>
                <a:ea typeface="微软雅黑" panose="020B0503020204020204" charset="-122"/>
              </a:rPr>
              <a:t>定量信息</a:t>
            </a:r>
            <a:r>
              <a:rPr lang="zh-CN" altLang="en-US" sz="1000" dirty="0">
                <a:latin typeface="微软雅黑" panose="020B0503020204020204" charset="-122"/>
                <a:ea typeface="微软雅黑" panose="020B0503020204020204" charset="-122"/>
              </a:rPr>
              <a:t>：</a:t>
            </a: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代理商提报的计划、区域月度需求计划、</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区域历史销量、区域销售目标、</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区域整机库存</a:t>
            </a:r>
            <a:endParaRPr lang="en-US" altLang="zh-CN" sz="1000" dirty="0">
              <a:latin typeface="微软雅黑" panose="020B0503020204020204" charset="-122"/>
              <a:ea typeface="微软雅黑" panose="020B0503020204020204" charset="-122"/>
            </a:endParaRPr>
          </a:p>
          <a:p>
            <a:pPr>
              <a:spcBef>
                <a:spcPts val="600"/>
              </a:spcBef>
              <a:tabLst>
                <a:tab pos="812800" algn="l"/>
              </a:tabLst>
            </a:pPr>
            <a:r>
              <a:rPr lang="zh-CN" altLang="en-US" sz="1000" b="1" u="sng" dirty="0">
                <a:latin typeface="微软雅黑" panose="020B0503020204020204" charset="-122"/>
                <a:ea typeface="微软雅黑" panose="020B0503020204020204" charset="-122"/>
              </a:rPr>
              <a:t>定性信息</a:t>
            </a:r>
            <a:r>
              <a:rPr lang="zh-CN" altLang="en-US" sz="1000" dirty="0">
                <a:latin typeface="微软雅黑" panose="020B0503020204020204" charset="-122"/>
                <a:ea typeface="微软雅黑" panose="020B0503020204020204" charset="-122"/>
              </a:rPr>
              <a:t>：</a:t>
            </a: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区域市场趋势与政策、区域促销政策、</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区域产品组合、新产品推广计划、</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购机政策</a:t>
            </a:r>
          </a:p>
        </p:txBody>
      </p:sp>
      <p:sp>
        <p:nvSpPr>
          <p:cNvPr id="26" name="TextBox 25"/>
          <p:cNvSpPr txBox="1"/>
          <p:nvPr/>
        </p:nvSpPr>
        <p:spPr>
          <a:xfrm>
            <a:off x="5000628" y="2345600"/>
            <a:ext cx="3817560" cy="1112488"/>
          </a:xfrm>
          <a:prstGeom prst="rect">
            <a:avLst/>
          </a:prstGeom>
          <a:noFill/>
          <a:ln w="28575">
            <a:solidFill>
              <a:schemeClr val="accent6">
                <a:lumMod val="75000"/>
              </a:schemeClr>
            </a:solidFill>
          </a:ln>
        </p:spPr>
        <p:txBody>
          <a:bodyPr wrap="square" rtlCol="0" anchor="ctr">
            <a:noAutofit/>
          </a:bodyPr>
          <a:lstStyle/>
          <a:p>
            <a:pPr>
              <a:spcBef>
                <a:spcPts val="600"/>
              </a:spcBef>
              <a:tabLst>
                <a:tab pos="812800" algn="l"/>
              </a:tabLst>
            </a:pPr>
            <a:r>
              <a:rPr lang="zh-CN" altLang="en-US" sz="1000" b="1" u="sng" dirty="0">
                <a:latin typeface="微软雅黑" panose="020B0503020204020204" charset="-122"/>
                <a:ea typeface="微软雅黑" panose="020B0503020204020204" charset="-122"/>
              </a:rPr>
              <a:t>定量信息</a:t>
            </a:r>
            <a:r>
              <a:rPr lang="zh-CN" altLang="en-US" sz="1000" dirty="0">
                <a:latin typeface="微软雅黑" panose="020B0503020204020204" charset="-122"/>
                <a:ea typeface="微软雅黑" panose="020B0503020204020204" charset="-122"/>
              </a:rPr>
              <a:t>：</a:t>
            </a: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市场部审核的计划、总体月度需求计划、</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总的历史销量、总体销售目标、</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厂内与厂外整机库存</a:t>
            </a:r>
            <a:endParaRPr lang="en-US" altLang="zh-CN" sz="1000" dirty="0">
              <a:latin typeface="微软雅黑" panose="020B0503020204020204" charset="-122"/>
              <a:ea typeface="微软雅黑" panose="020B0503020204020204" charset="-122"/>
            </a:endParaRPr>
          </a:p>
          <a:p>
            <a:pPr>
              <a:spcBef>
                <a:spcPts val="600"/>
              </a:spcBef>
              <a:tabLst>
                <a:tab pos="812800" algn="l"/>
              </a:tabLst>
            </a:pPr>
            <a:r>
              <a:rPr lang="zh-CN" altLang="en-US" sz="1000" b="1" u="sng" dirty="0">
                <a:latin typeface="微软雅黑" panose="020B0503020204020204" charset="-122"/>
                <a:ea typeface="微软雅黑" panose="020B0503020204020204" charset="-122"/>
              </a:rPr>
              <a:t>定性信息</a:t>
            </a:r>
            <a:r>
              <a:rPr lang="zh-CN" altLang="en-US" sz="1000" dirty="0">
                <a:latin typeface="微软雅黑" panose="020B0503020204020204" charset="-122"/>
                <a:ea typeface="微软雅黑" panose="020B0503020204020204" charset="-122"/>
              </a:rPr>
              <a:t>：</a:t>
            </a: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总体市场趋势与政策、总体促销政策、</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区域产品组合、新产品推广计划、</a:t>
            </a:r>
            <a:br>
              <a:rPr lang="en-US" altLang="zh-CN" sz="1000" dirty="0">
                <a:latin typeface="微软雅黑" panose="020B0503020204020204" charset="-122"/>
                <a:ea typeface="微软雅黑" panose="020B0503020204020204" charset="-122"/>
              </a:rPr>
            </a:br>
            <a:r>
              <a:rPr lang="en-US" altLang="zh-CN" sz="1000" dirty="0">
                <a:latin typeface="微软雅黑" panose="020B0503020204020204" charset="-122"/>
                <a:ea typeface="微软雅黑" panose="020B0503020204020204" charset="-122"/>
              </a:rPr>
              <a:t>	</a:t>
            </a:r>
            <a:r>
              <a:rPr lang="zh-CN" altLang="en-US" sz="1000" dirty="0">
                <a:latin typeface="微软雅黑" panose="020B0503020204020204" charset="-122"/>
                <a:ea typeface="微软雅黑" panose="020B0503020204020204" charset="-122"/>
              </a:rPr>
              <a:t>购机政策、产能利用要求</a:t>
            </a:r>
          </a:p>
        </p:txBody>
      </p:sp>
      <p:sp>
        <p:nvSpPr>
          <p:cNvPr id="27" name="TextBox 26"/>
          <p:cNvSpPr txBox="1"/>
          <p:nvPr/>
        </p:nvSpPr>
        <p:spPr>
          <a:xfrm>
            <a:off x="454547" y="4821859"/>
            <a:ext cx="543739" cy="449133"/>
          </a:xfrm>
          <a:prstGeom prst="rect">
            <a:avLst/>
          </a:prstGeom>
          <a:noFill/>
        </p:spPr>
        <p:txBody>
          <a:bodyPr wrap="none" rtlCol="0">
            <a:spAutoFit/>
          </a:bodyPr>
          <a:lstStyle/>
          <a:p>
            <a:r>
              <a:rPr lang="zh-CN" altLang="en-US" sz="1400" dirty="0">
                <a:latin typeface="微软雅黑" panose="020B0503020204020204" charset="-122"/>
                <a:ea typeface="微软雅黑" panose="020B0503020204020204" charset="-122"/>
              </a:rPr>
              <a:t>提报</a:t>
            </a:r>
            <a:endParaRPr lang="en-US" altLang="zh-CN" sz="1400" dirty="0">
              <a:latin typeface="微软雅黑" panose="020B0503020204020204" charset="-122"/>
              <a:ea typeface="微软雅黑" panose="020B0503020204020204" charset="-122"/>
            </a:endParaRPr>
          </a:p>
          <a:p>
            <a:r>
              <a:rPr lang="zh-CN" altLang="en-US" sz="1400" dirty="0">
                <a:latin typeface="微软雅黑" panose="020B0503020204020204" charset="-122"/>
                <a:ea typeface="微软雅黑" panose="020B0503020204020204" charset="-122"/>
              </a:rPr>
              <a:t>计划</a:t>
            </a:r>
          </a:p>
        </p:txBody>
      </p:sp>
      <p:sp>
        <p:nvSpPr>
          <p:cNvPr id="28" name="TextBox 27"/>
          <p:cNvSpPr txBox="1"/>
          <p:nvPr/>
        </p:nvSpPr>
        <p:spPr>
          <a:xfrm>
            <a:off x="447420" y="3371923"/>
            <a:ext cx="543739" cy="449133"/>
          </a:xfrm>
          <a:prstGeom prst="rect">
            <a:avLst/>
          </a:prstGeom>
          <a:noFill/>
        </p:spPr>
        <p:txBody>
          <a:bodyPr wrap="none" rtlCol="0">
            <a:spAutoFit/>
          </a:bodyPr>
          <a:lstStyle/>
          <a:p>
            <a:r>
              <a:rPr lang="zh-CN" altLang="en-US" sz="1400" dirty="0">
                <a:latin typeface="微软雅黑" panose="020B0503020204020204" charset="-122"/>
                <a:ea typeface="微软雅黑" panose="020B0503020204020204" charset="-122"/>
              </a:rPr>
              <a:t>提报</a:t>
            </a:r>
            <a:endParaRPr lang="en-US" altLang="zh-CN" sz="1400" dirty="0">
              <a:latin typeface="微软雅黑" panose="020B0503020204020204" charset="-122"/>
              <a:ea typeface="微软雅黑" panose="020B0503020204020204" charset="-122"/>
            </a:endParaRPr>
          </a:p>
          <a:p>
            <a:r>
              <a:rPr lang="zh-CN" altLang="en-US" sz="1400" dirty="0">
                <a:latin typeface="微软雅黑" panose="020B0503020204020204" charset="-122"/>
                <a:ea typeface="微软雅黑" panose="020B0503020204020204" charset="-122"/>
              </a:rPr>
              <a:t>计划</a:t>
            </a:r>
          </a:p>
        </p:txBody>
      </p:sp>
      <p:sp>
        <p:nvSpPr>
          <p:cNvPr id="29" name="TextBox 28"/>
          <p:cNvSpPr txBox="1"/>
          <p:nvPr/>
        </p:nvSpPr>
        <p:spPr>
          <a:xfrm>
            <a:off x="1342776" y="3371923"/>
            <a:ext cx="543739" cy="449133"/>
          </a:xfrm>
          <a:prstGeom prst="rect">
            <a:avLst/>
          </a:prstGeom>
          <a:noFill/>
        </p:spPr>
        <p:txBody>
          <a:bodyPr wrap="none" rtlCol="0">
            <a:spAutoFit/>
          </a:bodyPr>
          <a:lstStyle/>
          <a:p>
            <a:r>
              <a:rPr lang="zh-CN" altLang="en-US" sz="1400" dirty="0">
                <a:latin typeface="微软雅黑" panose="020B0503020204020204" charset="-122"/>
                <a:ea typeface="微软雅黑" panose="020B0503020204020204" charset="-122"/>
              </a:rPr>
              <a:t>反馈</a:t>
            </a:r>
            <a:endParaRPr lang="en-US" altLang="zh-CN" sz="1400" dirty="0">
              <a:latin typeface="微软雅黑" panose="020B0503020204020204" charset="-122"/>
              <a:ea typeface="微软雅黑" panose="020B0503020204020204" charset="-122"/>
            </a:endParaRPr>
          </a:p>
          <a:p>
            <a:r>
              <a:rPr lang="zh-CN" altLang="en-US" sz="1400" dirty="0">
                <a:latin typeface="微软雅黑" panose="020B0503020204020204" charset="-122"/>
                <a:ea typeface="微软雅黑" panose="020B0503020204020204" charset="-122"/>
              </a:rPr>
              <a:t>调整</a:t>
            </a:r>
          </a:p>
        </p:txBody>
      </p:sp>
      <p:sp>
        <p:nvSpPr>
          <p:cNvPr id="30" name="TextBox 29"/>
          <p:cNvSpPr txBox="1"/>
          <p:nvPr/>
        </p:nvSpPr>
        <p:spPr>
          <a:xfrm>
            <a:off x="1342776" y="4821859"/>
            <a:ext cx="543739" cy="449133"/>
          </a:xfrm>
          <a:prstGeom prst="rect">
            <a:avLst/>
          </a:prstGeom>
          <a:noFill/>
        </p:spPr>
        <p:txBody>
          <a:bodyPr wrap="none" rtlCol="0">
            <a:spAutoFit/>
          </a:bodyPr>
          <a:lstStyle/>
          <a:p>
            <a:r>
              <a:rPr lang="zh-CN" altLang="en-US" sz="1400" dirty="0">
                <a:latin typeface="微软雅黑" panose="020B0503020204020204" charset="-122"/>
                <a:ea typeface="微软雅黑" panose="020B0503020204020204" charset="-122"/>
              </a:rPr>
              <a:t>反馈</a:t>
            </a:r>
            <a:endParaRPr lang="en-US" altLang="zh-CN" sz="1400" dirty="0">
              <a:latin typeface="微软雅黑" panose="020B0503020204020204" charset="-122"/>
              <a:ea typeface="微软雅黑" panose="020B0503020204020204" charset="-122"/>
            </a:endParaRPr>
          </a:p>
          <a:p>
            <a:r>
              <a:rPr lang="zh-CN" altLang="en-US" sz="1400" dirty="0">
                <a:latin typeface="微软雅黑" panose="020B0503020204020204" charset="-122"/>
                <a:ea typeface="微软雅黑" panose="020B0503020204020204" charset="-122"/>
              </a:rPr>
              <a:t>调整</a:t>
            </a:r>
          </a:p>
        </p:txBody>
      </p:sp>
      <p:cxnSp>
        <p:nvCxnSpPr>
          <p:cNvPr id="31" name="直接连接符 30"/>
          <p:cNvCxnSpPr/>
          <p:nvPr/>
        </p:nvCxnSpPr>
        <p:spPr bwMode="auto">
          <a:xfrm>
            <a:off x="3092440" y="2224513"/>
            <a:ext cx="1714512" cy="1363"/>
          </a:xfrm>
          <a:prstGeom prst="line">
            <a:avLst/>
          </a:prstGeom>
          <a:noFill/>
          <a:ln w="9525" cap="flat" cmpd="sng" algn="ctr">
            <a:solidFill>
              <a:schemeClr val="tx1"/>
            </a:solidFill>
            <a:prstDash val="solid"/>
            <a:round/>
            <a:headEnd type="none" w="med" len="med"/>
            <a:tailEnd type="none" w="med" len="med"/>
          </a:ln>
          <a:effectLst/>
        </p:spPr>
      </p:cxnSp>
      <p:sp>
        <p:nvSpPr>
          <p:cNvPr id="32" name="TextBox 31"/>
          <p:cNvSpPr txBox="1"/>
          <p:nvPr/>
        </p:nvSpPr>
        <p:spPr>
          <a:xfrm>
            <a:off x="3250626" y="1928802"/>
            <a:ext cx="1398140" cy="290615"/>
          </a:xfrm>
          <a:prstGeom prst="rect">
            <a:avLst/>
          </a:prstGeom>
          <a:noFill/>
        </p:spPr>
        <p:txBody>
          <a:bodyPr wrap="none" rtlCol="0">
            <a:spAutoFit/>
          </a:bodyPr>
          <a:lstStyle/>
          <a:p>
            <a:pPr algn="ctr"/>
            <a:r>
              <a:rPr lang="zh-CN" altLang="en-US" sz="1600" b="1" dirty="0">
                <a:latin typeface="微软雅黑" panose="020B0503020204020204" charset="-122"/>
                <a:ea typeface="微软雅黑" panose="020B0503020204020204" charset="-122"/>
              </a:rPr>
              <a:t>周期</a:t>
            </a:r>
            <a:r>
              <a:rPr lang="en-US" altLang="zh-CN" sz="1600" b="1" dirty="0">
                <a:latin typeface="微软雅黑" panose="020B0503020204020204" charset="-122"/>
                <a:ea typeface="微软雅黑" panose="020B0503020204020204" charset="-122"/>
              </a:rPr>
              <a:t>&amp;</a:t>
            </a:r>
            <a:r>
              <a:rPr lang="zh-CN" altLang="en-US" sz="1600" b="1" dirty="0">
                <a:latin typeface="微软雅黑" panose="020B0503020204020204" charset="-122"/>
                <a:ea typeface="微软雅黑" panose="020B0503020204020204" charset="-122"/>
              </a:rPr>
              <a:t>颗粒度</a:t>
            </a:r>
          </a:p>
        </p:txBody>
      </p:sp>
      <p:grpSp>
        <p:nvGrpSpPr>
          <p:cNvPr id="33" name="组合 100"/>
          <p:cNvGrpSpPr/>
          <p:nvPr/>
        </p:nvGrpSpPr>
        <p:grpSpPr>
          <a:xfrm>
            <a:off x="3345690" y="5173832"/>
            <a:ext cx="1169231" cy="528462"/>
            <a:chOff x="3551682" y="5143512"/>
            <a:chExt cx="1005158" cy="615635"/>
          </a:xfrm>
        </p:grpSpPr>
        <p:sp>
          <p:nvSpPr>
            <p:cNvPr id="34" name="Rectangle 34"/>
            <p:cNvSpPr/>
            <p:nvPr/>
          </p:nvSpPr>
          <p:spPr>
            <a:xfrm>
              <a:off x="3802735" y="5143512"/>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1</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35" name="Rectangle 34"/>
            <p:cNvSpPr/>
            <p:nvPr/>
          </p:nvSpPr>
          <p:spPr>
            <a:xfrm>
              <a:off x="4053787" y="5143512"/>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2</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36" name="Rectangle 34"/>
            <p:cNvSpPr/>
            <p:nvPr/>
          </p:nvSpPr>
          <p:spPr>
            <a:xfrm>
              <a:off x="4304840" y="5143512"/>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3</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37" name="Rectangle 34"/>
            <p:cNvSpPr/>
            <p:nvPr/>
          </p:nvSpPr>
          <p:spPr>
            <a:xfrm>
              <a:off x="3551682" y="5143512"/>
              <a:ext cx="252000" cy="615635"/>
            </a:xfrm>
            <a:prstGeom prst="rect">
              <a:avLst/>
            </a:prstGeom>
            <a:solidFill>
              <a:schemeClr val="bg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br>
              <a:r>
                <a:rPr lang="en-US" altLang="zh-CN"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0</a:t>
              </a:r>
            </a:p>
            <a:p>
              <a:pPr algn="ctr">
                <a:buFontTx/>
                <a:buNone/>
                <a:defRPr/>
              </a:pPr>
              <a:r>
                <a:rPr lang="zh-CN" alt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月</a:t>
              </a:r>
              <a:endParaRPr 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endParaRPr>
            </a:p>
          </p:txBody>
        </p:sp>
      </p:grpSp>
      <p:grpSp>
        <p:nvGrpSpPr>
          <p:cNvPr id="38" name="组合 99"/>
          <p:cNvGrpSpPr/>
          <p:nvPr/>
        </p:nvGrpSpPr>
        <p:grpSpPr>
          <a:xfrm>
            <a:off x="3360205" y="3707153"/>
            <a:ext cx="1169229" cy="528462"/>
            <a:chOff x="3566196" y="3357562"/>
            <a:chExt cx="1005156" cy="615635"/>
          </a:xfrm>
        </p:grpSpPr>
        <p:sp>
          <p:nvSpPr>
            <p:cNvPr id="39" name="Rectangle 34"/>
            <p:cNvSpPr/>
            <p:nvPr/>
          </p:nvSpPr>
          <p:spPr>
            <a:xfrm>
              <a:off x="3817248" y="3357562"/>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1</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40" name="Rectangle 34"/>
            <p:cNvSpPr/>
            <p:nvPr/>
          </p:nvSpPr>
          <p:spPr>
            <a:xfrm>
              <a:off x="4068300" y="3357562"/>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2</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41" name="Rectangle 34"/>
            <p:cNvSpPr/>
            <p:nvPr/>
          </p:nvSpPr>
          <p:spPr>
            <a:xfrm>
              <a:off x="4319352" y="3357562"/>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3</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42" name="Rectangle 34"/>
            <p:cNvSpPr/>
            <p:nvPr/>
          </p:nvSpPr>
          <p:spPr>
            <a:xfrm>
              <a:off x="3566196" y="3357562"/>
              <a:ext cx="252000" cy="615635"/>
            </a:xfrm>
            <a:prstGeom prst="rect">
              <a:avLst/>
            </a:prstGeom>
            <a:solidFill>
              <a:schemeClr val="bg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br>
              <a:r>
                <a:rPr lang="en-US" altLang="zh-CN"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0</a:t>
              </a:r>
            </a:p>
            <a:p>
              <a:pPr algn="ctr">
                <a:buFontTx/>
                <a:buNone/>
                <a:defRPr/>
              </a:pPr>
              <a:r>
                <a:rPr lang="zh-CN" alt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月</a:t>
              </a:r>
              <a:endParaRPr 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endParaRPr>
            </a:p>
          </p:txBody>
        </p:sp>
      </p:grpSp>
      <p:grpSp>
        <p:nvGrpSpPr>
          <p:cNvPr id="43" name="组合 98"/>
          <p:cNvGrpSpPr/>
          <p:nvPr/>
        </p:nvGrpSpPr>
        <p:grpSpPr>
          <a:xfrm>
            <a:off x="3374719" y="2314452"/>
            <a:ext cx="1169229" cy="528462"/>
            <a:chOff x="3580710" y="1714488"/>
            <a:chExt cx="1005156" cy="615635"/>
          </a:xfrm>
        </p:grpSpPr>
        <p:sp>
          <p:nvSpPr>
            <p:cNvPr id="44" name="Rectangle 34"/>
            <p:cNvSpPr/>
            <p:nvPr/>
          </p:nvSpPr>
          <p:spPr>
            <a:xfrm>
              <a:off x="3831762" y="1714488"/>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1</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45" name="Rectangle 34"/>
            <p:cNvSpPr/>
            <p:nvPr/>
          </p:nvSpPr>
          <p:spPr>
            <a:xfrm>
              <a:off x="4082814" y="1714488"/>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2</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46" name="Rectangle 34"/>
            <p:cNvSpPr/>
            <p:nvPr/>
          </p:nvSpPr>
          <p:spPr>
            <a:xfrm>
              <a:off x="4333866" y="1714488"/>
              <a:ext cx="252000" cy="615635"/>
            </a:xfrm>
            <a:prstGeom prst="rect">
              <a:avLst/>
            </a:prstGeom>
            <a:solidFill>
              <a:schemeClr val="accent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bg1"/>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en-US" altLang="zh-CN" sz="1000" i="1" kern="0" dirty="0">
                  <a:solidFill>
                    <a:schemeClr val="bg1"/>
                  </a:solidFill>
                  <a:latin typeface="微软雅黑" panose="020B0503020204020204" charset="-122"/>
                  <a:ea typeface="微软雅黑" panose="020B0503020204020204" charset="-122"/>
                  <a:cs typeface="Helvetica" pitchFamily="34" charset="0"/>
                </a:rPr>
                <a:t>3</a:t>
              </a:r>
              <a:br>
                <a:rPr lang="en-US" altLang="zh-CN" sz="1000" i="1" kern="0" dirty="0">
                  <a:solidFill>
                    <a:schemeClr val="bg1"/>
                  </a:solidFill>
                  <a:latin typeface="微软雅黑" panose="020B0503020204020204" charset="-122"/>
                  <a:ea typeface="微软雅黑" panose="020B0503020204020204" charset="-122"/>
                  <a:cs typeface="Helvetica" pitchFamily="34" charset="0"/>
                </a:rPr>
              </a:br>
              <a:r>
                <a:rPr lang="zh-CN" altLang="en-US" sz="1000" i="1" kern="0" dirty="0">
                  <a:solidFill>
                    <a:schemeClr val="bg1"/>
                  </a:solidFill>
                  <a:latin typeface="微软雅黑" panose="020B0503020204020204" charset="-122"/>
                  <a:ea typeface="微软雅黑" panose="020B0503020204020204" charset="-122"/>
                  <a:cs typeface="Helvetica" pitchFamily="34" charset="0"/>
                </a:rPr>
                <a:t>月</a:t>
              </a:r>
              <a:endParaRPr lang="en-US" sz="1000" i="1" kern="0" dirty="0">
                <a:solidFill>
                  <a:schemeClr val="bg1"/>
                </a:solidFill>
                <a:latin typeface="微软雅黑" panose="020B0503020204020204" charset="-122"/>
                <a:ea typeface="微软雅黑" panose="020B0503020204020204" charset="-122"/>
                <a:cs typeface="Helvetica" pitchFamily="34" charset="0"/>
              </a:endParaRPr>
            </a:p>
          </p:txBody>
        </p:sp>
        <p:sp>
          <p:nvSpPr>
            <p:cNvPr id="47" name="Rectangle 34"/>
            <p:cNvSpPr/>
            <p:nvPr/>
          </p:nvSpPr>
          <p:spPr>
            <a:xfrm>
              <a:off x="3580710" y="1714488"/>
              <a:ext cx="252000" cy="615635"/>
            </a:xfrm>
            <a:prstGeom prst="rect">
              <a:avLst/>
            </a:prstGeom>
            <a:solidFill>
              <a:schemeClr val="bg1"/>
            </a:solidFill>
            <a:ln w="12700" cap="flat" cmpd="sng" algn="ctr">
              <a:solidFill>
                <a:schemeClr val="accent6">
                  <a:lumMod val="75000"/>
                </a:schemeClr>
              </a:solidFill>
              <a:prstDash val="solid"/>
            </a:ln>
            <a:effectLst/>
          </p:spPr>
          <p:txBody>
            <a:bodyPr lIns="0" tIns="36000" rIns="0" bIns="36000" anchor="ctr"/>
            <a:lstStyle/>
            <a:p>
              <a:pPr algn="ctr">
                <a:buFontTx/>
                <a:buNone/>
                <a:defRPr/>
              </a:pPr>
              <a:r>
                <a:rPr lang="zh-CN" alt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第</a:t>
              </a:r>
              <a:br>
                <a:rPr lang="en-US" altLang="zh-CN"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br>
              <a:r>
                <a:rPr lang="en-US" altLang="zh-CN"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0</a:t>
              </a:r>
            </a:p>
            <a:p>
              <a:pPr algn="ctr">
                <a:buFontTx/>
                <a:buNone/>
                <a:defRPr/>
              </a:pPr>
              <a:r>
                <a:rPr lang="zh-CN" alt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rPr>
                <a:t>月</a:t>
              </a:r>
              <a:endParaRPr lang="en-US" sz="1000" i="1" kern="0" dirty="0">
                <a:solidFill>
                  <a:schemeClr val="tx1">
                    <a:lumMod val="50000"/>
                    <a:lumOff val="50000"/>
                  </a:schemeClr>
                </a:solidFill>
                <a:latin typeface="微软雅黑" panose="020B0503020204020204" charset="-122"/>
                <a:ea typeface="微软雅黑" panose="020B0503020204020204" charset="-122"/>
                <a:cs typeface="Helvetica" pitchFamily="34" charset="0"/>
              </a:endParaRPr>
            </a:p>
          </p:txBody>
        </p:sp>
      </p:grpSp>
      <p:sp>
        <p:nvSpPr>
          <p:cNvPr id="48" name="TextBox 47"/>
          <p:cNvSpPr txBox="1"/>
          <p:nvPr/>
        </p:nvSpPr>
        <p:spPr>
          <a:xfrm>
            <a:off x="3127915" y="5722825"/>
            <a:ext cx="1717137" cy="515181"/>
          </a:xfrm>
          <a:prstGeom prst="rect">
            <a:avLst/>
          </a:prstGeom>
          <a:noFill/>
        </p:spPr>
        <p:txBody>
          <a:bodyPr wrap="none" rtlCol="0">
            <a:spAutoFit/>
          </a:bodyPr>
          <a:lstStyle/>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第</a:t>
            </a:r>
            <a:r>
              <a:rPr lang="en-US" altLang="zh-CN" sz="1100" dirty="0">
                <a:latin typeface="微软雅黑" panose="020B0503020204020204" charset="-122"/>
                <a:ea typeface="微软雅黑" panose="020B0503020204020204" charset="-122"/>
              </a:rPr>
              <a:t>0</a:t>
            </a:r>
            <a:r>
              <a:rPr lang="zh-CN" altLang="en-US" sz="1100" dirty="0">
                <a:latin typeface="微软雅黑" panose="020B0503020204020204" charset="-122"/>
                <a:ea typeface="微软雅黑" panose="020B0503020204020204" charset="-122"/>
              </a:rPr>
              <a:t>月</a:t>
            </a:r>
            <a:r>
              <a:rPr lang="en-US" altLang="zh-CN" sz="1100" dirty="0">
                <a:latin typeface="微软雅黑" panose="020B0503020204020204" charset="-122"/>
                <a:ea typeface="微软雅黑" panose="020B0503020204020204" charset="-122"/>
              </a:rPr>
              <a:t>10</a:t>
            </a:r>
            <a:r>
              <a:rPr lang="zh-CN" altLang="en-US" sz="1100" dirty="0">
                <a:latin typeface="微软雅黑" panose="020B0503020204020204" charset="-122"/>
                <a:ea typeface="微软雅黑" panose="020B0503020204020204" charset="-122"/>
              </a:rPr>
              <a:t>号提报</a:t>
            </a:r>
            <a:endParaRPr lang="en-US" altLang="zh-CN" sz="1100" dirty="0">
              <a:latin typeface="微软雅黑" panose="020B0503020204020204" charset="-122"/>
              <a:ea typeface="微软雅黑" panose="020B0503020204020204" charset="-122"/>
            </a:endParaRPr>
          </a:p>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提报第</a:t>
            </a:r>
            <a:r>
              <a:rPr lang="en-US" altLang="zh-CN" sz="1100" dirty="0">
                <a:latin typeface="微软雅黑" panose="020B0503020204020204" charset="-122"/>
                <a:ea typeface="微软雅黑" panose="020B0503020204020204" charset="-122"/>
              </a:rPr>
              <a:t>1-3</a:t>
            </a:r>
            <a:r>
              <a:rPr lang="zh-CN" altLang="en-US" sz="1100" dirty="0">
                <a:latin typeface="微软雅黑" panose="020B0503020204020204" charset="-122"/>
                <a:ea typeface="微软雅黑" panose="020B0503020204020204" charset="-122"/>
              </a:rPr>
              <a:t>月需求计划</a:t>
            </a:r>
            <a:endParaRPr lang="en-US" altLang="zh-CN" sz="1100" dirty="0">
              <a:latin typeface="微软雅黑" panose="020B0503020204020204" charset="-122"/>
              <a:ea typeface="微软雅黑" panose="020B0503020204020204" charset="-122"/>
            </a:endParaRPr>
          </a:p>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产品：</a:t>
            </a:r>
            <a:r>
              <a:rPr lang="en-US" altLang="zh-CN" sz="1100" dirty="0">
                <a:latin typeface="微软雅黑" panose="020B0503020204020204" charset="-122"/>
                <a:ea typeface="微软雅黑" panose="020B0503020204020204" charset="-122"/>
              </a:rPr>
              <a:t>A</a:t>
            </a:r>
            <a:r>
              <a:rPr lang="zh-CN" altLang="en-US" sz="1100" dirty="0">
                <a:latin typeface="微软雅黑" panose="020B0503020204020204" charset="-122"/>
                <a:ea typeface="微软雅黑" panose="020B0503020204020204" charset="-122"/>
              </a:rPr>
              <a:t>类（品种）</a:t>
            </a:r>
          </a:p>
        </p:txBody>
      </p:sp>
      <p:sp>
        <p:nvSpPr>
          <p:cNvPr id="49" name="TextBox 48"/>
          <p:cNvSpPr txBox="1"/>
          <p:nvPr/>
        </p:nvSpPr>
        <p:spPr>
          <a:xfrm>
            <a:off x="3127915" y="4259055"/>
            <a:ext cx="1717137" cy="515181"/>
          </a:xfrm>
          <a:prstGeom prst="rect">
            <a:avLst/>
          </a:prstGeom>
          <a:noFill/>
        </p:spPr>
        <p:txBody>
          <a:bodyPr wrap="none" rtlCol="0">
            <a:spAutoFit/>
          </a:bodyPr>
          <a:lstStyle/>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第</a:t>
            </a:r>
            <a:r>
              <a:rPr lang="en-US" altLang="zh-CN" sz="1100" dirty="0">
                <a:latin typeface="微软雅黑" panose="020B0503020204020204" charset="-122"/>
                <a:ea typeface="微软雅黑" panose="020B0503020204020204" charset="-122"/>
              </a:rPr>
              <a:t>0</a:t>
            </a:r>
            <a:r>
              <a:rPr lang="zh-CN" altLang="en-US" sz="1100" dirty="0">
                <a:latin typeface="微软雅黑" panose="020B0503020204020204" charset="-122"/>
                <a:ea typeface="微软雅黑" panose="020B0503020204020204" charset="-122"/>
              </a:rPr>
              <a:t>月</a:t>
            </a:r>
            <a:r>
              <a:rPr lang="en-US" altLang="zh-CN" sz="1100" dirty="0">
                <a:latin typeface="微软雅黑" panose="020B0503020204020204" charset="-122"/>
                <a:ea typeface="微软雅黑" panose="020B0503020204020204" charset="-122"/>
              </a:rPr>
              <a:t>11</a:t>
            </a:r>
            <a:r>
              <a:rPr lang="zh-CN" altLang="en-US" sz="1100" dirty="0">
                <a:latin typeface="微软雅黑" panose="020B0503020204020204" charset="-122"/>
                <a:ea typeface="微软雅黑" panose="020B0503020204020204" charset="-122"/>
              </a:rPr>
              <a:t>号评审</a:t>
            </a:r>
            <a:endParaRPr lang="en-US" altLang="zh-CN" sz="1100" dirty="0">
              <a:latin typeface="微软雅黑" panose="020B0503020204020204" charset="-122"/>
              <a:ea typeface="微软雅黑" panose="020B0503020204020204" charset="-122"/>
            </a:endParaRPr>
          </a:p>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评审第</a:t>
            </a:r>
            <a:r>
              <a:rPr lang="en-US" altLang="zh-CN" sz="1100" dirty="0">
                <a:latin typeface="微软雅黑" panose="020B0503020204020204" charset="-122"/>
                <a:ea typeface="微软雅黑" panose="020B0503020204020204" charset="-122"/>
              </a:rPr>
              <a:t>1-3</a:t>
            </a:r>
            <a:r>
              <a:rPr lang="zh-CN" altLang="en-US" sz="1100" dirty="0">
                <a:latin typeface="微软雅黑" panose="020B0503020204020204" charset="-122"/>
                <a:ea typeface="微软雅黑" panose="020B0503020204020204" charset="-122"/>
              </a:rPr>
              <a:t>月需求计划</a:t>
            </a:r>
            <a:endParaRPr lang="en-US" altLang="zh-CN" sz="1100" dirty="0">
              <a:latin typeface="微软雅黑" panose="020B0503020204020204" charset="-122"/>
              <a:ea typeface="微软雅黑" panose="020B0503020204020204" charset="-122"/>
            </a:endParaRPr>
          </a:p>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产品：</a:t>
            </a:r>
            <a:r>
              <a:rPr lang="en-US" altLang="zh-CN" sz="1100" dirty="0">
                <a:latin typeface="微软雅黑" panose="020B0503020204020204" charset="-122"/>
                <a:ea typeface="微软雅黑" panose="020B0503020204020204" charset="-122"/>
              </a:rPr>
              <a:t>A</a:t>
            </a:r>
            <a:r>
              <a:rPr lang="zh-CN" altLang="en-US" sz="1100" dirty="0">
                <a:latin typeface="微软雅黑" panose="020B0503020204020204" charset="-122"/>
                <a:ea typeface="微软雅黑" panose="020B0503020204020204" charset="-122"/>
              </a:rPr>
              <a:t>类（品种）</a:t>
            </a:r>
          </a:p>
        </p:txBody>
      </p:sp>
      <p:sp>
        <p:nvSpPr>
          <p:cNvPr id="50" name="TextBox 49"/>
          <p:cNvSpPr txBox="1"/>
          <p:nvPr/>
        </p:nvSpPr>
        <p:spPr>
          <a:xfrm>
            <a:off x="3126783" y="2854867"/>
            <a:ext cx="1778051" cy="660489"/>
          </a:xfrm>
          <a:prstGeom prst="rect">
            <a:avLst/>
          </a:prstGeom>
          <a:noFill/>
        </p:spPr>
        <p:txBody>
          <a:bodyPr wrap="none" rtlCol="0">
            <a:spAutoFit/>
          </a:bodyPr>
          <a:lstStyle/>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第</a:t>
            </a:r>
            <a:r>
              <a:rPr lang="en-US" altLang="zh-CN" sz="1100" dirty="0">
                <a:latin typeface="微软雅黑" panose="020B0503020204020204" charset="-122"/>
                <a:ea typeface="微软雅黑" panose="020B0503020204020204" charset="-122"/>
              </a:rPr>
              <a:t>0</a:t>
            </a:r>
            <a:r>
              <a:rPr lang="zh-CN" altLang="en-US" sz="1100" dirty="0">
                <a:latin typeface="微软雅黑" panose="020B0503020204020204" charset="-122"/>
                <a:ea typeface="微软雅黑" panose="020B0503020204020204" charset="-122"/>
              </a:rPr>
              <a:t>月</a:t>
            </a:r>
            <a:r>
              <a:rPr lang="en-US" altLang="zh-CN" sz="1100" dirty="0">
                <a:latin typeface="微软雅黑" panose="020B0503020204020204" charset="-122"/>
                <a:ea typeface="微软雅黑" panose="020B0503020204020204" charset="-122"/>
              </a:rPr>
              <a:t>12-13</a:t>
            </a:r>
            <a:r>
              <a:rPr lang="zh-CN" altLang="en-US" sz="1100" dirty="0">
                <a:latin typeface="微软雅黑" panose="020B0503020204020204" charset="-122"/>
                <a:ea typeface="微软雅黑" panose="020B0503020204020204" charset="-122"/>
              </a:rPr>
              <a:t>号评审</a:t>
            </a:r>
            <a:endParaRPr lang="en-US" altLang="zh-CN" sz="1100" dirty="0">
              <a:latin typeface="微软雅黑" panose="020B0503020204020204" charset="-122"/>
              <a:ea typeface="微软雅黑" panose="020B0503020204020204" charset="-122"/>
            </a:endParaRPr>
          </a:p>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评审第</a:t>
            </a:r>
            <a:r>
              <a:rPr lang="en-US" altLang="zh-CN" sz="1100" dirty="0">
                <a:latin typeface="微软雅黑" panose="020B0503020204020204" charset="-122"/>
                <a:ea typeface="微软雅黑" panose="020B0503020204020204" charset="-122"/>
              </a:rPr>
              <a:t>1-3</a:t>
            </a:r>
            <a:r>
              <a:rPr lang="zh-CN" altLang="en-US" sz="1100" dirty="0">
                <a:latin typeface="微软雅黑" panose="020B0503020204020204" charset="-122"/>
                <a:ea typeface="微软雅黑" panose="020B0503020204020204" charset="-122"/>
              </a:rPr>
              <a:t>月需求计划</a:t>
            </a:r>
            <a:endParaRPr lang="en-US" altLang="zh-CN" sz="1100" dirty="0">
              <a:latin typeface="微软雅黑" panose="020B0503020204020204" charset="-122"/>
              <a:ea typeface="微软雅黑" panose="020B0503020204020204" charset="-122"/>
            </a:endParaRPr>
          </a:p>
          <a:p>
            <a:pPr marL="174625" indent="-174625">
              <a:buFont typeface="Wingdings" panose="05000000000000000000" pitchFamily="2" charset="2"/>
              <a:buChar char="q"/>
            </a:pPr>
            <a:r>
              <a:rPr lang="zh-CN" altLang="en-US" sz="1100" dirty="0">
                <a:latin typeface="微软雅黑" panose="020B0503020204020204" charset="-122"/>
                <a:ea typeface="微软雅黑" panose="020B0503020204020204" charset="-122"/>
              </a:rPr>
              <a:t>产品：</a:t>
            </a:r>
            <a:r>
              <a:rPr lang="en-US" altLang="zh-CN" sz="1100" dirty="0">
                <a:latin typeface="微软雅黑" panose="020B0503020204020204" charset="-122"/>
                <a:ea typeface="微软雅黑" panose="020B0503020204020204" charset="-122"/>
              </a:rPr>
              <a:t>A/D</a:t>
            </a:r>
            <a:r>
              <a:rPr lang="zh-CN" altLang="en-US" sz="1100" dirty="0">
                <a:latin typeface="微软雅黑" panose="020B0503020204020204" charset="-122"/>
                <a:ea typeface="微软雅黑" panose="020B0503020204020204" charset="-122"/>
              </a:rPr>
              <a:t>类（品种）</a:t>
            </a:r>
            <a:endParaRPr lang="en-US" altLang="zh-CN" sz="1100" dirty="0">
              <a:latin typeface="微软雅黑" panose="020B0503020204020204" charset="-122"/>
              <a:ea typeface="微软雅黑" panose="020B0503020204020204" charset="-122"/>
            </a:endParaRPr>
          </a:p>
          <a:p>
            <a:pPr marL="174625" indent="-174625"/>
            <a:r>
              <a:rPr lang="zh-CN" altLang="en-US" sz="1100" dirty="0">
                <a:latin typeface="微软雅黑" panose="020B0503020204020204" charset="-122"/>
                <a:ea typeface="微软雅黑" panose="020B0503020204020204" charset="-122"/>
              </a:rPr>
              <a:t> 所有产品（到系列总量）</a:t>
            </a:r>
          </a:p>
        </p:txBody>
      </p:sp>
      <p:sp>
        <p:nvSpPr>
          <p:cNvPr id="52" name="TextBox 51"/>
          <p:cNvSpPr txBox="1"/>
          <p:nvPr/>
        </p:nvSpPr>
        <p:spPr bwMode="auto">
          <a:xfrm>
            <a:off x="285720" y="1214422"/>
            <a:ext cx="8501122" cy="737235"/>
          </a:xfrm>
          <a:prstGeom prst="rect">
            <a:avLst/>
          </a:prstGeom>
          <a:noFill/>
          <a:ln>
            <a:noFill/>
          </a:ln>
        </p:spPr>
        <p:txBody>
          <a:bodyPr wrap="square" rtlCol="0">
            <a:spAutoFit/>
          </a:bodyPr>
          <a:lstStyle/>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需求计划管理要点：组织和职责、提报周期、颗粒度、</a:t>
            </a:r>
            <a:r>
              <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rPr>
              <a:t>预测参考信息</a:t>
            </a:r>
            <a:endParaRPr kumimoji="1" lang="en-US" altLang="zh-CN" sz="1400" b="0" dirty="0">
              <a:solidFill>
                <a:srgbClr val="000000"/>
              </a:solidFill>
              <a:latin typeface="微软雅黑" panose="020B0503020204020204" charset="-122"/>
              <a:ea typeface="微软雅黑" panose="020B0503020204020204" charset="-122"/>
              <a:cs typeface="微软雅黑" panose="020B0503020204020204" charset="-122"/>
            </a:endParaRPr>
          </a:p>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x重机方案特殊考虑点：不同模式的提报周期差异、海外大区需求提报机制、多个来源需求（国内营销、国际营销、服务、新产品、新利恒等）</a:t>
            </a:r>
            <a:endPar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5"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bwMode="auto">
          <a:xfrm>
            <a:off x="285720" y="2428868"/>
            <a:ext cx="8572560" cy="3857652"/>
          </a:xfrm>
          <a:prstGeom prst="rect">
            <a:avLst/>
          </a:prstGeom>
          <a:solidFill>
            <a:srgbClr val="FFFFFF">
              <a:lumMod val="95000"/>
            </a:srgbClr>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endParaRPr>
          </a:p>
        </p:txBody>
      </p:sp>
      <p:sp>
        <p:nvSpPr>
          <p:cNvPr id="25" name="TextBox 24"/>
          <p:cNvSpPr txBox="1"/>
          <p:nvPr>
            <p:custDataLst>
              <p:tags r:id="rId2"/>
            </p:custDataLst>
          </p:nvPr>
        </p:nvSpPr>
        <p:spPr>
          <a:xfrm>
            <a:off x="428596" y="4572008"/>
            <a:ext cx="500066" cy="646331"/>
          </a:xfrm>
          <a:prstGeom prst="rect">
            <a:avLst/>
          </a:prstGeom>
          <a:solidFill>
            <a:srgbClr val="D6DBFE"/>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定性</a:t>
            </a:r>
          </a:p>
        </p:txBody>
      </p:sp>
      <p:sp>
        <p:nvSpPr>
          <p:cNvPr id="26" name="TextBox 25"/>
          <p:cNvSpPr txBox="1"/>
          <p:nvPr>
            <p:custDataLst>
              <p:tags r:id="rId3"/>
            </p:custDataLst>
          </p:nvPr>
        </p:nvSpPr>
        <p:spPr>
          <a:xfrm>
            <a:off x="428596" y="2928934"/>
            <a:ext cx="500066" cy="646331"/>
          </a:xfrm>
          <a:prstGeom prst="rect">
            <a:avLst/>
          </a:prstGeom>
          <a:solidFill>
            <a:srgbClr val="D6DBFE"/>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定量</a:t>
            </a:r>
          </a:p>
        </p:txBody>
      </p:sp>
      <p:sp>
        <p:nvSpPr>
          <p:cNvPr id="27" name="Text Box 3"/>
          <p:cNvSpPr txBox="1">
            <a:spLocks noChangeArrowheads="1"/>
          </p:cNvSpPr>
          <p:nvPr>
            <p:custDataLst>
              <p:tags r:id="rId4"/>
            </p:custDataLst>
          </p:nvPr>
        </p:nvSpPr>
        <p:spPr bwMode="auto">
          <a:xfrm>
            <a:off x="1381290" y="3086324"/>
            <a:ext cx="1261884" cy="307777"/>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历史销售数据</a:t>
            </a:r>
            <a:endParaRPr kumimoji="0" lang="en-US" altLang="ko-KR"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8" name="Text Box 5"/>
          <p:cNvSpPr txBox="1">
            <a:spLocks noChangeArrowheads="1"/>
          </p:cNvSpPr>
          <p:nvPr>
            <p:custDataLst>
              <p:tags r:id="rId5"/>
            </p:custDataLst>
          </p:nvPr>
        </p:nvSpPr>
        <p:spPr bwMode="auto">
          <a:xfrm>
            <a:off x="3357555" y="4753285"/>
            <a:ext cx="1928826" cy="461665"/>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人为判断</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专家意见</a:t>
            </a:r>
            <a:endParaRPr kumimoji="0" lang="en-US" altLang="ko-KR"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cxnSp>
        <p:nvCxnSpPr>
          <p:cNvPr id="29" name="AutoShape 12"/>
          <p:cNvCxnSpPr>
            <a:cxnSpLocks noChangeShapeType="1"/>
            <a:stCxn id="35" idx="3"/>
            <a:endCxn id="30" idx="0"/>
          </p:cNvCxnSpPr>
          <p:nvPr>
            <p:custDataLst>
              <p:tags r:id="rId6"/>
            </p:custDataLst>
          </p:nvPr>
        </p:nvCxnSpPr>
        <p:spPr bwMode="auto">
          <a:xfrm flipH="1" flipV="1">
            <a:off x="4321967" y="2977218"/>
            <a:ext cx="4107685" cy="1041554"/>
          </a:xfrm>
          <a:prstGeom prst="bentConnector4">
            <a:avLst>
              <a:gd name="adj1" fmla="val -5565"/>
              <a:gd name="adj2" fmla="val 121948"/>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 Box 3"/>
          <p:cNvSpPr txBox="1">
            <a:spLocks noChangeArrowheads="1"/>
          </p:cNvSpPr>
          <p:nvPr>
            <p:custDataLst>
              <p:tags r:id="rId7"/>
            </p:custDataLst>
          </p:nvPr>
        </p:nvSpPr>
        <p:spPr bwMode="auto">
          <a:xfrm>
            <a:off x="3357554" y="2977218"/>
            <a:ext cx="1928826" cy="523220"/>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预测方法</a:t>
            </a:r>
            <a:endPar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季节指数平滑模型</a:t>
            </a: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endParaRPr kumimoji="0" lang="en-US" altLang="ko-KR"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31" name="TextBox 30"/>
          <p:cNvSpPr txBox="1"/>
          <p:nvPr>
            <p:custDataLst>
              <p:tags r:id="rId8"/>
            </p:custDataLst>
          </p:nvPr>
        </p:nvSpPr>
        <p:spPr>
          <a:xfrm>
            <a:off x="1285852" y="3916366"/>
            <a:ext cx="1857388" cy="2085186"/>
          </a:xfrm>
          <a:prstGeom prst="rect">
            <a:avLst/>
          </a:prstGeom>
          <a:noFill/>
        </p:spPr>
        <p:txBody>
          <a:bodyPr wrap="square" rtlCol="0">
            <a:spAutoFit/>
          </a:bodyPr>
          <a:lstStyle/>
          <a:p>
            <a:pPr marL="107950">
              <a:spcBef>
                <a:spcPts val="600"/>
              </a:spcBef>
            </a:pPr>
            <a:r>
              <a:rPr lang="zh-CN" altLang="en-US" sz="1400" b="1" u="sng" dirty="0">
                <a:latin typeface="微软雅黑" panose="020B0503020204020204" charset="-122"/>
                <a:ea typeface="微软雅黑" panose="020B0503020204020204" charset="-122"/>
              </a:rPr>
              <a:t>定性影响因素</a:t>
            </a:r>
            <a:endParaRPr lang="en-US" altLang="zh-CN" sz="1400" b="1" u="sng" dirty="0">
              <a:latin typeface="微软雅黑" panose="020B0503020204020204" charset="-122"/>
              <a:ea typeface="微软雅黑" panose="020B0503020204020204" charset="-122"/>
            </a:endParaRPr>
          </a:p>
          <a:p>
            <a:pPr marL="107950" indent="-177800">
              <a:spcBef>
                <a:spcPts val="300"/>
              </a:spcBef>
              <a:buFont typeface="Arial" panose="020B0604020202020204" pitchFamily="34" charset="0"/>
              <a:buChar char="•"/>
            </a:pPr>
            <a:r>
              <a:rPr lang="zh-CN" altLang="en-US" sz="1400" dirty="0">
                <a:latin typeface="微软雅黑" panose="020B0503020204020204" charset="-122"/>
                <a:ea typeface="微软雅黑" panose="020B0503020204020204" charset="-122"/>
              </a:rPr>
              <a:t>购机政策</a:t>
            </a:r>
            <a:endParaRPr lang="en-US" altLang="zh-CN" sz="1400" dirty="0">
              <a:latin typeface="微软雅黑" panose="020B0503020204020204" charset="-122"/>
              <a:ea typeface="微软雅黑" panose="020B0503020204020204" charset="-122"/>
            </a:endParaRPr>
          </a:p>
          <a:p>
            <a:pPr marL="107950" indent="-177800">
              <a:spcBef>
                <a:spcPts val="300"/>
              </a:spcBef>
              <a:buFont typeface="Arial" panose="020B0604020202020204" pitchFamily="34" charset="0"/>
              <a:buChar char="•"/>
            </a:pPr>
            <a:r>
              <a:rPr lang="zh-CN" altLang="en-US" sz="1400" dirty="0">
                <a:latin typeface="微软雅黑" panose="020B0503020204020204" charset="-122"/>
                <a:ea typeface="微软雅黑" panose="020B0503020204020204" charset="-122"/>
              </a:rPr>
              <a:t>市场趋势</a:t>
            </a:r>
            <a:endParaRPr lang="en-US" altLang="zh-CN" sz="1400" dirty="0">
              <a:latin typeface="微软雅黑" panose="020B0503020204020204" charset="-122"/>
              <a:ea typeface="微软雅黑" panose="020B0503020204020204" charset="-122"/>
            </a:endParaRPr>
          </a:p>
          <a:p>
            <a:pPr marL="107950" indent="-177800">
              <a:spcBef>
                <a:spcPts val="300"/>
              </a:spcBef>
              <a:buFont typeface="Arial" panose="020B0604020202020204" pitchFamily="34" charset="0"/>
              <a:buChar char="•"/>
            </a:pPr>
            <a:r>
              <a:rPr lang="zh-CN" altLang="en-US" sz="1400" dirty="0">
                <a:latin typeface="微软雅黑" panose="020B0503020204020204" charset="-122"/>
                <a:ea typeface="微软雅黑" panose="020B0503020204020204" charset="-122"/>
              </a:rPr>
              <a:t>促销政策</a:t>
            </a:r>
            <a:endParaRPr lang="en-US" altLang="zh-CN" sz="1400" dirty="0">
              <a:latin typeface="微软雅黑" panose="020B0503020204020204" charset="-122"/>
              <a:ea typeface="微软雅黑" panose="020B0503020204020204" charset="-122"/>
            </a:endParaRPr>
          </a:p>
          <a:p>
            <a:pPr marL="107950" indent="-177800">
              <a:spcBef>
                <a:spcPts val="300"/>
              </a:spcBef>
              <a:buFont typeface="Arial" panose="020B0604020202020204" pitchFamily="34" charset="0"/>
              <a:buChar char="•"/>
            </a:pPr>
            <a:r>
              <a:rPr lang="zh-CN" altLang="en-US" sz="1400" dirty="0">
                <a:latin typeface="微软雅黑" panose="020B0503020204020204" charset="-122"/>
                <a:ea typeface="微软雅黑" panose="020B0503020204020204" charset="-122"/>
              </a:rPr>
              <a:t>销售目标</a:t>
            </a:r>
            <a:endParaRPr lang="en-US" altLang="zh-CN" sz="1400" dirty="0">
              <a:latin typeface="微软雅黑" panose="020B0503020204020204" charset="-122"/>
              <a:ea typeface="微软雅黑" panose="020B0503020204020204" charset="-122"/>
            </a:endParaRPr>
          </a:p>
          <a:p>
            <a:pPr marL="107950" indent="-177800">
              <a:spcBef>
                <a:spcPts val="300"/>
              </a:spcBef>
              <a:buFont typeface="Arial" panose="020B0604020202020204" pitchFamily="34" charset="0"/>
              <a:buChar char="•"/>
            </a:pPr>
            <a:r>
              <a:rPr lang="zh-CN" altLang="en-US" sz="1400" dirty="0">
                <a:latin typeface="微软雅黑" panose="020B0503020204020204" charset="-122"/>
                <a:ea typeface="微软雅黑" panose="020B0503020204020204" charset="-122"/>
              </a:rPr>
              <a:t>产品组合</a:t>
            </a:r>
            <a:endParaRPr lang="en-US" altLang="zh-CN" sz="1400" dirty="0">
              <a:latin typeface="微软雅黑" panose="020B0503020204020204" charset="-122"/>
              <a:ea typeface="微软雅黑" panose="020B0503020204020204" charset="-122"/>
            </a:endParaRPr>
          </a:p>
          <a:p>
            <a:pPr marL="107950" indent="-177800">
              <a:spcBef>
                <a:spcPts val="300"/>
              </a:spcBef>
              <a:buFont typeface="Arial" panose="020B0604020202020204" pitchFamily="34" charset="0"/>
              <a:buChar char="•"/>
            </a:pPr>
            <a:r>
              <a:rPr lang="zh-CN" altLang="en-US" sz="1400" dirty="0">
                <a:latin typeface="微软雅黑" panose="020B0503020204020204" charset="-122"/>
                <a:ea typeface="微软雅黑" panose="020B0503020204020204" charset="-122"/>
              </a:rPr>
              <a:t>新产品推广计划</a:t>
            </a:r>
            <a:endParaRPr lang="en-US" altLang="zh-CN" sz="1400" dirty="0">
              <a:latin typeface="微软雅黑" panose="020B0503020204020204" charset="-122"/>
              <a:ea typeface="微软雅黑" panose="020B0503020204020204" charset="-122"/>
            </a:endParaRPr>
          </a:p>
          <a:p>
            <a:pPr marL="107950" indent="-177800">
              <a:spcBef>
                <a:spcPts val="300"/>
              </a:spcBef>
              <a:buFont typeface="Arial" panose="020B0604020202020204" pitchFamily="34" charset="0"/>
              <a:buChar char="•"/>
            </a:pPr>
            <a:r>
              <a:rPr lang="zh-CN" altLang="en-US" sz="1400" dirty="0">
                <a:latin typeface="微软雅黑" panose="020B0503020204020204" charset="-122"/>
                <a:ea typeface="微软雅黑" panose="020B0503020204020204" charset="-122"/>
              </a:rPr>
              <a:t>气候变化等</a:t>
            </a:r>
            <a:r>
              <a:rPr lang="en-US" altLang="zh-CN" sz="1400" dirty="0">
                <a:latin typeface="微软雅黑" panose="020B0503020204020204" charset="-122"/>
                <a:ea typeface="微软雅黑" panose="020B0503020204020204" charset="-122"/>
              </a:rPr>
              <a:t>…</a:t>
            </a:r>
          </a:p>
        </p:txBody>
      </p:sp>
      <p:sp>
        <p:nvSpPr>
          <p:cNvPr id="32" name="右大括号 31"/>
          <p:cNvSpPr/>
          <p:nvPr>
            <p:custDataLst>
              <p:tags r:id="rId9"/>
            </p:custDataLst>
          </p:nvPr>
        </p:nvSpPr>
        <p:spPr bwMode="auto">
          <a:xfrm>
            <a:off x="2928926" y="4072726"/>
            <a:ext cx="357190" cy="1785950"/>
          </a:xfrm>
          <a:prstGeom prst="rightBrace">
            <a:avLst>
              <a:gd name="adj1" fmla="val 39680"/>
              <a:gd name="adj2" fmla="val 50000"/>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cxnSp>
        <p:nvCxnSpPr>
          <p:cNvPr id="33" name="直接箭头连接符 32"/>
          <p:cNvCxnSpPr>
            <a:stCxn id="27" idx="3"/>
            <a:endCxn id="30" idx="1"/>
          </p:cNvCxnSpPr>
          <p:nvPr>
            <p:custDataLst>
              <p:tags r:id="rId10"/>
            </p:custDataLst>
          </p:nvPr>
        </p:nvCxnSpPr>
        <p:spPr bwMode="auto">
          <a:xfrm flipV="1">
            <a:off x="2643174" y="3238828"/>
            <a:ext cx="714380" cy="1385"/>
          </a:xfrm>
          <a:prstGeom prst="straightConnector1">
            <a:avLst/>
          </a:prstGeom>
          <a:noFill/>
          <a:ln w="9525">
            <a:solidFill>
              <a:srgbClr val="000000"/>
            </a:solidFill>
            <a:round/>
            <a:tailEnd type="triangle" w="med" len="med"/>
          </a:ln>
          <a:effectLst/>
        </p:spPr>
      </p:cxnSp>
      <p:sp>
        <p:nvSpPr>
          <p:cNvPr id="34" name="Text Box 3"/>
          <p:cNvSpPr txBox="1">
            <a:spLocks noChangeArrowheads="1"/>
          </p:cNvSpPr>
          <p:nvPr>
            <p:custDataLst>
              <p:tags r:id="rId11"/>
            </p:custDataLst>
          </p:nvPr>
        </p:nvSpPr>
        <p:spPr bwMode="auto">
          <a:xfrm>
            <a:off x="5643570" y="3867800"/>
            <a:ext cx="902811" cy="307777"/>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销售预测</a:t>
            </a:r>
            <a:endParaRPr kumimoji="0" lang="en-US" altLang="ko-KR"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35" name="Text Box 3"/>
          <p:cNvSpPr txBox="1">
            <a:spLocks noChangeArrowheads="1"/>
          </p:cNvSpPr>
          <p:nvPr>
            <p:custDataLst>
              <p:tags r:id="rId12"/>
            </p:custDataLst>
          </p:nvPr>
        </p:nvSpPr>
        <p:spPr bwMode="auto">
          <a:xfrm>
            <a:off x="6929454" y="3757162"/>
            <a:ext cx="1500198" cy="523220"/>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预测偏差计算与模型调整</a:t>
            </a:r>
            <a:endParaRPr kumimoji="0" lang="en-US" altLang="ko-KR"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cxnSp>
        <p:nvCxnSpPr>
          <p:cNvPr id="36" name="肘形连接符 35"/>
          <p:cNvCxnSpPr>
            <a:stCxn id="30" idx="3"/>
            <a:endCxn id="34" idx="1"/>
          </p:cNvCxnSpPr>
          <p:nvPr>
            <p:custDataLst>
              <p:tags r:id="rId13"/>
            </p:custDataLst>
          </p:nvPr>
        </p:nvCxnSpPr>
        <p:spPr bwMode="auto">
          <a:xfrm>
            <a:off x="5286380" y="3238828"/>
            <a:ext cx="357190" cy="782861"/>
          </a:xfrm>
          <a:prstGeom prst="bentConnector3">
            <a:avLst>
              <a:gd name="adj1" fmla="val 50000"/>
            </a:avLst>
          </a:prstGeom>
          <a:noFill/>
          <a:ln w="9525" cap="flat" cmpd="sng" algn="ctr">
            <a:solidFill>
              <a:srgbClr val="000000"/>
            </a:solidFill>
            <a:prstDash val="solid"/>
            <a:round/>
            <a:headEnd type="none" w="med" len="med"/>
            <a:tailEnd type="triangle" w="med" len="med"/>
          </a:ln>
          <a:effectLst/>
        </p:spPr>
      </p:cxnSp>
      <p:cxnSp>
        <p:nvCxnSpPr>
          <p:cNvPr id="37" name="肘形连接符 36"/>
          <p:cNvCxnSpPr>
            <a:stCxn id="28" idx="3"/>
            <a:endCxn id="34" idx="1"/>
          </p:cNvCxnSpPr>
          <p:nvPr>
            <p:custDataLst>
              <p:tags r:id="rId14"/>
            </p:custDataLst>
          </p:nvPr>
        </p:nvCxnSpPr>
        <p:spPr bwMode="auto">
          <a:xfrm flipV="1">
            <a:off x="5286381" y="4021689"/>
            <a:ext cx="357189" cy="962429"/>
          </a:xfrm>
          <a:prstGeom prst="bentConnector3">
            <a:avLst>
              <a:gd name="adj1" fmla="val 50000"/>
            </a:avLst>
          </a:prstGeom>
          <a:noFill/>
          <a:ln w="9525" cap="flat" cmpd="sng" algn="ctr">
            <a:solidFill>
              <a:srgbClr val="000000"/>
            </a:solidFill>
            <a:prstDash val="solid"/>
            <a:round/>
            <a:headEnd type="none" w="med" len="med"/>
            <a:tailEnd type="triangle" w="med" len="med"/>
          </a:ln>
          <a:effectLst/>
        </p:spPr>
      </p:cxnSp>
      <p:cxnSp>
        <p:nvCxnSpPr>
          <p:cNvPr id="38" name="直接箭头连接符 37"/>
          <p:cNvCxnSpPr>
            <a:stCxn id="34" idx="3"/>
            <a:endCxn id="35" idx="1"/>
          </p:cNvCxnSpPr>
          <p:nvPr>
            <p:custDataLst>
              <p:tags r:id="rId15"/>
            </p:custDataLst>
          </p:nvPr>
        </p:nvCxnSpPr>
        <p:spPr bwMode="auto">
          <a:xfrm flipV="1">
            <a:off x="6546381" y="4018772"/>
            <a:ext cx="383073" cy="2917"/>
          </a:xfrm>
          <a:prstGeom prst="straightConnector1">
            <a:avLst/>
          </a:prstGeom>
          <a:noFill/>
          <a:ln w="9525">
            <a:solidFill>
              <a:srgbClr val="000000"/>
            </a:solidFill>
            <a:round/>
            <a:tailEnd type="triangle" w="med" len="med"/>
          </a:ln>
          <a:effectLst/>
        </p:spPr>
      </p:cxnSp>
      <p:sp>
        <p:nvSpPr>
          <p:cNvPr id="39" name="TextBox 38"/>
          <p:cNvSpPr txBox="1"/>
          <p:nvPr>
            <p:custDataLst>
              <p:tags r:id="rId16"/>
            </p:custDataLst>
          </p:nvPr>
        </p:nvSpPr>
        <p:spPr>
          <a:xfrm>
            <a:off x="2714612" y="2691466"/>
            <a:ext cx="642942" cy="523220"/>
          </a:xfrm>
          <a:prstGeom prst="rect">
            <a:avLst/>
          </a:prstGeom>
          <a:noFill/>
        </p:spPr>
        <p:txBody>
          <a:bodyPr wrap="square" rtlCol="0">
            <a:spAutoFit/>
          </a:bodyPr>
          <a:lstStyle/>
          <a:p>
            <a:r>
              <a:rPr lang="zh-CN" altLang="en-US" sz="1400" dirty="0">
                <a:latin typeface="微软雅黑" panose="020B0503020204020204" charset="-122"/>
                <a:ea typeface="微软雅黑" panose="020B0503020204020204" charset="-122"/>
              </a:rPr>
              <a:t>选择模型</a:t>
            </a:r>
          </a:p>
        </p:txBody>
      </p:sp>
      <p:sp>
        <p:nvSpPr>
          <p:cNvPr id="40" name="TextBox 39"/>
          <p:cNvSpPr txBox="1"/>
          <p:nvPr>
            <p:custDataLst>
              <p:tags r:id="rId17"/>
            </p:custDataLst>
          </p:nvPr>
        </p:nvSpPr>
        <p:spPr>
          <a:xfrm>
            <a:off x="6215074" y="2714620"/>
            <a:ext cx="1428760" cy="523220"/>
          </a:xfrm>
          <a:prstGeom prst="rect">
            <a:avLst/>
          </a:prstGeom>
          <a:noFill/>
        </p:spPr>
        <p:txBody>
          <a:bodyPr wrap="square" rtlCol="0">
            <a:spAutoFit/>
          </a:bodyPr>
          <a:lstStyle/>
          <a:p>
            <a:r>
              <a:rPr lang="zh-CN" altLang="en-US" sz="1400" dirty="0">
                <a:latin typeface="微软雅黑" panose="020B0503020204020204" charset="-122"/>
                <a:ea typeface="微软雅黑" panose="020B0503020204020204" charset="-122"/>
              </a:rPr>
              <a:t>模型调整</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模型参数调整</a:t>
            </a:r>
          </a:p>
        </p:txBody>
      </p:sp>
      <p:sp>
        <p:nvSpPr>
          <p:cNvPr id="41" name="TextBox 40"/>
          <p:cNvSpPr txBox="1"/>
          <p:nvPr>
            <p:custDataLst>
              <p:tags r:id="rId18"/>
            </p:custDataLst>
          </p:nvPr>
        </p:nvSpPr>
        <p:spPr>
          <a:xfrm>
            <a:off x="6429388" y="4261972"/>
            <a:ext cx="642942" cy="738664"/>
          </a:xfrm>
          <a:prstGeom prst="rect">
            <a:avLst/>
          </a:prstGeom>
          <a:noFill/>
        </p:spPr>
        <p:txBody>
          <a:bodyPr wrap="square" rtlCol="0">
            <a:spAutoFit/>
          </a:bodyPr>
          <a:lstStyle/>
          <a:p>
            <a:pPr algn="ctr"/>
            <a:r>
              <a:rPr lang="zh-CN" altLang="en-US" sz="1400" dirty="0">
                <a:latin typeface="微软雅黑" panose="020B0503020204020204" charset="-122"/>
                <a:ea typeface="微软雅黑" panose="020B0503020204020204" charset="-122"/>
              </a:rPr>
              <a:t>比较实际需求</a:t>
            </a:r>
          </a:p>
        </p:txBody>
      </p:sp>
      <p:sp>
        <p:nvSpPr>
          <p:cNvPr id="43" name="标题 1"/>
          <p:cNvSpPr>
            <a:spLocks noGrp="1"/>
          </p:cNvSpPr>
          <p:nvPr>
            <p:ph type="title"/>
          </p:nvPr>
        </p:nvSpPr>
        <p:spPr>
          <a:xfrm>
            <a:off x="162000" y="577959"/>
            <a:ext cx="8820000" cy="695325"/>
          </a:xfrm>
        </p:spPr>
        <p:txBody>
          <a:bodyPr/>
          <a:lstStyle/>
          <a:p>
            <a:r>
              <a:rPr dirty="0"/>
              <a:t>A-2. </a:t>
            </a:r>
            <a:r>
              <a:rPr lang="zh-CN" altLang="en-US" dirty="0"/>
              <a:t>销售预测</a:t>
            </a:r>
          </a:p>
        </p:txBody>
      </p:sp>
      <p:sp>
        <p:nvSpPr>
          <p:cNvPr id="44" name="TextBox 43"/>
          <p:cNvSpPr txBox="1"/>
          <p:nvPr/>
        </p:nvSpPr>
        <p:spPr bwMode="auto">
          <a:xfrm>
            <a:off x="285720" y="1214422"/>
            <a:ext cx="8501122" cy="737235"/>
          </a:xfrm>
          <a:prstGeom prst="rect">
            <a:avLst/>
          </a:prstGeom>
          <a:noFill/>
          <a:ln>
            <a:noFill/>
          </a:ln>
        </p:spPr>
        <p:txBody>
          <a:bodyPr wrap="square" rtlCol="0">
            <a:spAutoFit/>
          </a:bodyPr>
          <a:lstStyle/>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销售预测要点：定量和定性相结合、预测工具、定期优化</a:t>
            </a:r>
            <a:endParaRPr kumimoji="1" lang="en-US" altLang="zh-CN" sz="1400" b="0" dirty="0">
              <a:solidFill>
                <a:srgbClr val="000000"/>
              </a:solidFill>
              <a:latin typeface="微软雅黑" panose="020B0503020204020204" charset="-122"/>
              <a:ea typeface="微软雅黑" panose="020B0503020204020204" charset="-122"/>
              <a:cs typeface="微软雅黑" panose="020B0503020204020204" charset="-122"/>
            </a:endParaRPr>
          </a:p>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x重机方案特殊考虑点：预测产品范围、行业波动对预测结果的修正、产品生命周期对预测权重的影响、行业的特殊要素（开工率、国家政策等）</a:t>
            </a:r>
          </a:p>
        </p:txBody>
      </p:sp>
      <p:sp>
        <p:nvSpPr>
          <p:cNvPr id="47" name="TextBox 46"/>
          <p:cNvSpPr txBox="1"/>
          <p:nvPr>
            <p:custDataLst>
              <p:tags r:id="rId19"/>
            </p:custDataLst>
          </p:nvPr>
        </p:nvSpPr>
        <p:spPr>
          <a:xfrm>
            <a:off x="1357290" y="2548590"/>
            <a:ext cx="1285884" cy="523220"/>
          </a:xfrm>
          <a:prstGeom prst="rect">
            <a:avLst/>
          </a:prstGeom>
          <a:noFill/>
        </p:spPr>
        <p:txBody>
          <a:bodyPr wrap="square" rtlCol="0">
            <a:spAutoFit/>
          </a:bodyPr>
          <a:lstStyle/>
          <a:p>
            <a:r>
              <a:rPr lang="zh-CN" altLang="en-US" sz="1400" dirty="0">
                <a:latin typeface="微软雅黑" panose="020B0503020204020204" charset="-122"/>
                <a:ea typeface="微软雅黑" panose="020B0503020204020204" charset="-122"/>
              </a:rPr>
              <a:t>短期预测还需要看商机</a:t>
            </a:r>
          </a:p>
        </p:txBody>
      </p:sp>
      <p:sp>
        <p:nvSpPr>
          <p:cNvPr id="24" name="Text Box 14"/>
          <p:cNvSpPr txBox="1">
            <a:spLocks noChangeArrowheads="1"/>
          </p:cNvSpPr>
          <p:nvPr>
            <p:custDataLst>
              <p:tags r:id="rId20"/>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标题 1"/>
          <p:cNvSpPr>
            <a:spLocks noGrp="1"/>
          </p:cNvSpPr>
          <p:nvPr>
            <p:ph type="title"/>
          </p:nvPr>
        </p:nvSpPr>
        <p:spPr>
          <a:xfrm>
            <a:off x="162000" y="577959"/>
            <a:ext cx="8820000" cy="695325"/>
          </a:xfrm>
        </p:spPr>
        <p:txBody>
          <a:bodyPr/>
          <a:lstStyle/>
          <a:p>
            <a:r>
              <a:rPr dirty="0"/>
              <a:t>A-3. </a:t>
            </a:r>
            <a:r>
              <a:rPr lang="zh-CN" altLang="en-US" dirty="0"/>
              <a:t>整机库存管理</a:t>
            </a:r>
          </a:p>
        </p:txBody>
      </p:sp>
      <p:sp>
        <p:nvSpPr>
          <p:cNvPr id="44" name="TextBox 43"/>
          <p:cNvSpPr txBox="1"/>
          <p:nvPr/>
        </p:nvSpPr>
        <p:spPr bwMode="auto">
          <a:xfrm>
            <a:off x="285720" y="1214422"/>
            <a:ext cx="8501122" cy="521970"/>
          </a:xfrm>
          <a:prstGeom prst="rect">
            <a:avLst/>
          </a:prstGeom>
          <a:noFill/>
          <a:ln>
            <a:noFill/>
          </a:ln>
        </p:spPr>
        <p:txBody>
          <a:bodyPr wrap="square" rtlCol="0">
            <a:spAutoFit/>
          </a:bodyPr>
          <a:lstStyle/>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整机库存要点：合理库存设置、超期车提醒和处理</a:t>
            </a:r>
            <a:endParaRPr kumimoji="1" lang="en-US" altLang="zh-CN" sz="1400" b="0" dirty="0">
              <a:solidFill>
                <a:srgbClr val="000000"/>
              </a:solidFill>
              <a:latin typeface="微软雅黑" panose="020B0503020204020204" charset="-122"/>
              <a:ea typeface="微软雅黑" panose="020B0503020204020204" charset="-122"/>
              <a:cs typeface="微软雅黑" panose="020B0503020204020204" charset="-122"/>
            </a:endParaRPr>
          </a:p>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x重机方案特殊考虑点：国内代理商库存产权归工厂</a:t>
            </a:r>
            <a:endPar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p:txBody>
      </p:sp>
      <p:grpSp>
        <p:nvGrpSpPr>
          <p:cNvPr id="2" name="组合 142"/>
          <p:cNvGrpSpPr/>
          <p:nvPr/>
        </p:nvGrpSpPr>
        <p:grpSpPr>
          <a:xfrm>
            <a:off x="357159" y="2071678"/>
            <a:ext cx="8358245" cy="4429156"/>
            <a:chOff x="357159" y="1428736"/>
            <a:chExt cx="8358245" cy="5072098"/>
          </a:xfrm>
        </p:grpSpPr>
        <p:sp>
          <p:nvSpPr>
            <p:cNvPr id="94" name="Rectangle 10"/>
            <p:cNvSpPr>
              <a:spLocks noChangeArrowheads="1"/>
            </p:cNvSpPr>
            <p:nvPr/>
          </p:nvSpPr>
          <p:spPr bwMode="auto">
            <a:xfrm>
              <a:off x="357159" y="3065942"/>
              <a:ext cx="612000" cy="900112"/>
            </a:xfrm>
            <a:prstGeom prst="rect">
              <a:avLst/>
            </a:prstGeom>
            <a:solidFill>
              <a:srgbClr val="D6DBFE"/>
            </a:solidFill>
            <a:ln w="38100" algn="ctr">
              <a:solidFill>
                <a:srgbClr val="969696"/>
              </a:solidFill>
              <a:miter lim="800000"/>
            </a:ln>
          </p:spPr>
          <p:txBody>
            <a:bodyPr lIns="90000" tIns="46800" rIns="90000" bIns="46800" anchor="ct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需求</a:t>
              </a:r>
              <a:b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计划</a:t>
              </a:r>
            </a:p>
          </p:txBody>
        </p:sp>
        <p:sp>
          <p:nvSpPr>
            <p:cNvPr id="95" name="Rectangle 10"/>
            <p:cNvSpPr>
              <a:spLocks noChangeArrowheads="1"/>
            </p:cNvSpPr>
            <p:nvPr/>
          </p:nvSpPr>
          <p:spPr bwMode="auto">
            <a:xfrm>
              <a:off x="357159" y="4208950"/>
              <a:ext cx="612000" cy="900112"/>
            </a:xfrm>
            <a:prstGeom prst="rect">
              <a:avLst/>
            </a:prstGeom>
            <a:solidFill>
              <a:srgbClr val="D6DBFE"/>
            </a:solidFill>
            <a:ln w="38100" algn="ctr">
              <a:solidFill>
                <a:srgbClr val="969696"/>
              </a:solidFill>
              <a:miter lim="800000"/>
            </a:ln>
          </p:spPr>
          <p:txBody>
            <a:bodyPr lIns="90000" tIns="46800" rIns="90000" bIns="46800" anchor="ct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销售</a:t>
              </a:r>
              <a:b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计划</a:t>
              </a:r>
            </a:p>
          </p:txBody>
        </p:sp>
        <p:sp>
          <p:nvSpPr>
            <p:cNvPr id="96" name="Rectangle 10"/>
            <p:cNvSpPr>
              <a:spLocks noChangeArrowheads="1"/>
            </p:cNvSpPr>
            <p:nvPr/>
          </p:nvSpPr>
          <p:spPr bwMode="auto">
            <a:xfrm>
              <a:off x="1615147" y="3637446"/>
              <a:ext cx="1285884" cy="900112"/>
            </a:xfrm>
            <a:prstGeom prst="rect">
              <a:avLst/>
            </a:prstGeom>
            <a:solidFill>
              <a:srgbClr val="D6DBFE"/>
            </a:solidFill>
            <a:ln w="38100" algn="ctr">
              <a:solidFill>
                <a:srgbClr val="969696"/>
              </a:solidFill>
              <a:miter lim="800000"/>
            </a:ln>
          </p:spPr>
          <p:txBody>
            <a:bodyPr lIns="90000" tIns="46800" rIns="90000" bIns="46800" anchor="ct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订单管理</a:t>
              </a:r>
              <a:b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代理商订单</a:t>
              </a:r>
              <a:b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 ￭</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主机厂订单</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97" name="肘形连接符 96"/>
            <p:cNvCxnSpPr>
              <a:stCxn id="94" idx="3"/>
              <a:endCxn id="96" idx="1"/>
            </p:cNvCxnSpPr>
            <p:nvPr/>
          </p:nvCxnSpPr>
          <p:spPr bwMode="auto">
            <a:xfrm>
              <a:off x="969159" y="3515998"/>
              <a:ext cx="645988" cy="571504"/>
            </a:xfrm>
            <a:prstGeom prst="bentConnector3">
              <a:avLst>
                <a:gd name="adj1" fmla="val 50000"/>
              </a:avLst>
            </a:prstGeom>
            <a:noFill/>
            <a:ln w="9525" cap="flat" cmpd="sng" algn="ctr">
              <a:solidFill>
                <a:srgbClr val="000000"/>
              </a:solidFill>
              <a:prstDash val="solid"/>
              <a:round/>
              <a:headEnd type="none" w="med" len="med"/>
              <a:tailEnd type="arrow"/>
            </a:ln>
            <a:effectLst/>
          </p:spPr>
        </p:cxnSp>
        <p:cxnSp>
          <p:nvCxnSpPr>
            <p:cNvPr id="98" name="肘形连接符 97"/>
            <p:cNvCxnSpPr>
              <a:stCxn id="95" idx="3"/>
              <a:endCxn id="96" idx="1"/>
            </p:cNvCxnSpPr>
            <p:nvPr/>
          </p:nvCxnSpPr>
          <p:spPr bwMode="auto">
            <a:xfrm flipV="1">
              <a:off x="969159" y="4087502"/>
              <a:ext cx="645988" cy="571504"/>
            </a:xfrm>
            <a:prstGeom prst="bentConnector3">
              <a:avLst>
                <a:gd name="adj1" fmla="val 50000"/>
              </a:avLst>
            </a:prstGeom>
            <a:noFill/>
            <a:ln w="9525" cap="flat" cmpd="sng" algn="ctr">
              <a:solidFill>
                <a:srgbClr val="000000"/>
              </a:solidFill>
              <a:prstDash val="solid"/>
              <a:round/>
              <a:headEnd type="none" w="med" len="med"/>
              <a:tailEnd type="arrow"/>
            </a:ln>
            <a:effectLst/>
          </p:spPr>
        </p:cxnSp>
        <p:sp>
          <p:nvSpPr>
            <p:cNvPr id="99" name="Rectangle 10"/>
            <p:cNvSpPr>
              <a:spLocks noChangeArrowheads="1"/>
            </p:cNvSpPr>
            <p:nvPr/>
          </p:nvSpPr>
          <p:spPr bwMode="auto">
            <a:xfrm>
              <a:off x="3214679" y="3637446"/>
              <a:ext cx="563570" cy="900112"/>
            </a:xfrm>
            <a:prstGeom prst="rect">
              <a:avLst/>
            </a:prstGeom>
            <a:solidFill>
              <a:srgbClr val="D6DBFE"/>
            </a:solidFill>
            <a:ln w="38100" algn="ctr">
              <a:solidFill>
                <a:srgbClr val="969696"/>
              </a:solidFill>
              <a:miter lim="800000"/>
            </a:ln>
          </p:spPr>
          <p:txBody>
            <a:bodyPr lIns="90000" tIns="46800" rIns="90000" bIns="46800" anchor="ct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工厂</a:t>
              </a:r>
              <a:b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生产</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100" name="肘形连接符 76"/>
            <p:cNvCxnSpPr>
              <a:stCxn id="96" idx="3"/>
              <a:endCxn id="99" idx="1"/>
            </p:cNvCxnSpPr>
            <p:nvPr/>
          </p:nvCxnSpPr>
          <p:spPr bwMode="auto">
            <a:xfrm>
              <a:off x="2901031" y="4087502"/>
              <a:ext cx="313648" cy="1588"/>
            </a:xfrm>
            <a:prstGeom prst="straightConnector1">
              <a:avLst/>
            </a:prstGeom>
            <a:noFill/>
            <a:ln w="9525" cap="flat" cmpd="sng" algn="ctr">
              <a:solidFill>
                <a:srgbClr val="000000"/>
              </a:solidFill>
              <a:prstDash val="solid"/>
              <a:round/>
              <a:headEnd type="none" w="med" len="med"/>
              <a:tailEnd type="arrow"/>
            </a:ln>
            <a:effectLst/>
          </p:spPr>
        </p:cxnSp>
        <p:sp>
          <p:nvSpPr>
            <p:cNvPr id="101" name="流程图: 磁盘 9"/>
            <p:cNvSpPr>
              <a:spLocks noChangeArrowheads="1"/>
            </p:cNvSpPr>
            <p:nvPr/>
          </p:nvSpPr>
          <p:spPr bwMode="auto">
            <a:xfrm>
              <a:off x="4429124" y="3637446"/>
              <a:ext cx="756000" cy="900113"/>
            </a:xfrm>
            <a:prstGeom prst="flowChartMagneticDisk">
              <a:avLst/>
            </a:prstGeom>
            <a:solidFill>
              <a:srgbClr val="D6DBFE"/>
            </a:solidFill>
            <a:ln w="38100" algn="ctr">
              <a:solidFill>
                <a:srgbClr val="969696"/>
              </a:solidFill>
              <a:miter lim="800000"/>
            </a:ln>
          </p:spPr>
          <p:txBody>
            <a:bodyPr lIns="90000" tIns="162000" rIns="90000" bIns="46800" anchor="ctr"/>
            <a:lstStyle/>
            <a:p>
              <a:pPr marL="0" marR="0" lvl="0" indent="0" algn="ctr" defTabSz="914400" eaLnBrk="1" fontAlgn="auto" latinLnBrk="0" hangingPunct="1">
                <a:lnSpc>
                  <a:spcPct val="100000"/>
                </a:lnSpc>
                <a:spcBef>
                  <a:spcPct val="50000"/>
                </a:spcBef>
                <a:spcAft>
                  <a:spcPts val="0"/>
                </a:spcAft>
                <a:buClr>
                  <a:srgbClr val="000000"/>
                </a:buClr>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主机厂</a:t>
              </a:r>
              <a:b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库存</a:t>
              </a:r>
            </a:p>
          </p:txBody>
        </p:sp>
        <p:sp>
          <p:nvSpPr>
            <p:cNvPr id="102" name="流程图: 磁盘 11"/>
            <p:cNvSpPr>
              <a:spLocks noChangeArrowheads="1"/>
            </p:cNvSpPr>
            <p:nvPr/>
          </p:nvSpPr>
          <p:spPr bwMode="auto">
            <a:xfrm>
              <a:off x="6930586" y="3637446"/>
              <a:ext cx="756000" cy="900113"/>
            </a:xfrm>
            <a:prstGeom prst="flowChartMagneticDisk">
              <a:avLst/>
            </a:prstGeom>
            <a:solidFill>
              <a:srgbClr val="D6DBFE"/>
            </a:solidFill>
            <a:ln w="38100" algn="ctr">
              <a:solidFill>
                <a:srgbClr val="969696"/>
              </a:solidFill>
              <a:miter lim="800000"/>
            </a:ln>
          </p:spPr>
          <p:txBody>
            <a:bodyPr lIns="90000" tIns="162000" rIns="90000" bIns="46800" anchor="ctr"/>
            <a:lstStyle/>
            <a:p>
              <a:pPr marL="0" marR="0" lvl="0" indent="0" algn="ctr" defTabSz="914400" eaLnBrk="1" fontAlgn="auto" latinLnBrk="0" hangingPunct="1">
                <a:lnSpc>
                  <a:spcPct val="100000"/>
                </a:lnSpc>
                <a:spcBef>
                  <a:spcPct val="50000"/>
                </a:spcBef>
                <a:spcAft>
                  <a:spcPts val="0"/>
                </a:spcAft>
                <a:buClr>
                  <a:srgbClr val="000000"/>
                </a:buClr>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代理商</a:t>
              </a:r>
              <a:b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库存</a:t>
              </a:r>
            </a:p>
          </p:txBody>
        </p:sp>
        <p:cxnSp>
          <p:nvCxnSpPr>
            <p:cNvPr id="103" name="肘形连接符 76"/>
            <p:cNvCxnSpPr>
              <a:stCxn id="99" idx="3"/>
              <a:endCxn id="101" idx="2"/>
            </p:cNvCxnSpPr>
            <p:nvPr/>
          </p:nvCxnSpPr>
          <p:spPr bwMode="auto">
            <a:xfrm>
              <a:off x="3778249" y="4087502"/>
              <a:ext cx="650875" cy="1"/>
            </a:xfrm>
            <a:prstGeom prst="straightConnector1">
              <a:avLst/>
            </a:prstGeom>
            <a:noFill/>
            <a:ln w="9525" cap="flat" cmpd="sng" algn="ctr">
              <a:solidFill>
                <a:srgbClr val="000000"/>
              </a:solidFill>
              <a:prstDash val="solid"/>
              <a:round/>
              <a:headEnd type="none" w="med" len="med"/>
              <a:tailEnd type="arrow"/>
            </a:ln>
            <a:effectLst/>
          </p:spPr>
        </p:cxnSp>
        <p:cxnSp>
          <p:nvCxnSpPr>
            <p:cNvPr id="104" name="肘形连接符 76"/>
            <p:cNvCxnSpPr>
              <a:stCxn id="101" idx="4"/>
              <a:endCxn id="102" idx="2"/>
            </p:cNvCxnSpPr>
            <p:nvPr/>
          </p:nvCxnSpPr>
          <p:spPr bwMode="auto">
            <a:xfrm>
              <a:off x="5185124" y="4087503"/>
              <a:ext cx="1745462" cy="1588"/>
            </a:xfrm>
            <a:prstGeom prst="straightConnector1">
              <a:avLst/>
            </a:prstGeom>
            <a:noFill/>
            <a:ln w="9525" cap="flat" cmpd="sng" algn="ctr">
              <a:solidFill>
                <a:srgbClr val="000000"/>
              </a:solidFill>
              <a:prstDash val="solid"/>
              <a:round/>
              <a:headEnd type="none" w="med" len="med"/>
              <a:tailEnd type="arrow"/>
            </a:ln>
            <a:effectLst/>
          </p:spPr>
        </p:cxnSp>
        <p:sp>
          <p:nvSpPr>
            <p:cNvPr id="105" name="Rectangle 10"/>
            <p:cNvSpPr>
              <a:spLocks noChangeArrowheads="1"/>
            </p:cNvSpPr>
            <p:nvPr/>
          </p:nvSpPr>
          <p:spPr bwMode="auto">
            <a:xfrm>
              <a:off x="8286776" y="3637446"/>
              <a:ext cx="428628" cy="900112"/>
            </a:xfrm>
            <a:prstGeom prst="rect">
              <a:avLst/>
            </a:prstGeom>
            <a:solidFill>
              <a:srgbClr val="D6DBFE"/>
            </a:solidFill>
            <a:ln w="38100" algn="ctr">
              <a:solidFill>
                <a:srgbClr val="969696"/>
              </a:solidFill>
              <a:miter lim="800000"/>
            </a:ln>
          </p:spPr>
          <p:txBody>
            <a:bodyPr lIns="90000" tIns="46800" rIns="90000" bIns="46800" anchor="ct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实销</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106" name="肘形连接符 76"/>
            <p:cNvCxnSpPr>
              <a:stCxn id="102" idx="4"/>
              <a:endCxn id="105" idx="1"/>
            </p:cNvCxnSpPr>
            <p:nvPr/>
          </p:nvCxnSpPr>
          <p:spPr bwMode="auto">
            <a:xfrm flipV="1">
              <a:off x="7686586" y="4087502"/>
              <a:ext cx="600190" cy="1"/>
            </a:xfrm>
            <a:prstGeom prst="straightConnector1">
              <a:avLst/>
            </a:prstGeom>
            <a:noFill/>
            <a:ln w="9525" cap="flat" cmpd="sng" algn="ctr">
              <a:solidFill>
                <a:srgbClr val="000000"/>
              </a:solidFill>
              <a:prstDash val="solid"/>
              <a:round/>
              <a:headEnd type="none" w="med" len="med"/>
              <a:tailEnd type="arrow"/>
            </a:ln>
            <a:effectLst/>
          </p:spPr>
        </p:cxnSp>
        <p:sp>
          <p:nvSpPr>
            <p:cNvPr id="107" name="Rectangle 10"/>
            <p:cNvSpPr>
              <a:spLocks noChangeArrowheads="1"/>
            </p:cNvSpPr>
            <p:nvPr/>
          </p:nvSpPr>
          <p:spPr bwMode="auto">
            <a:xfrm>
              <a:off x="6930586" y="5066206"/>
              <a:ext cx="756000" cy="642942"/>
            </a:xfrm>
            <a:prstGeom prst="rect">
              <a:avLst/>
            </a:prstGeom>
            <a:solidFill>
              <a:srgbClr val="D6DBFE"/>
            </a:solidFill>
            <a:ln w="38100" algn="ctr">
              <a:solidFill>
                <a:srgbClr val="969696"/>
              </a:solidFill>
              <a:miter lim="800000"/>
            </a:ln>
          </p:spPr>
          <p:txBody>
            <a:bodyPr lIns="90000" tIns="46800" rIns="90000" bIns="46800" anchor="ct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代理商</a:t>
              </a:r>
              <a:b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b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调货</a:t>
              </a:r>
              <a:endPar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cxnSp>
          <p:nvCxnSpPr>
            <p:cNvPr id="108" name="肘形连接符 76"/>
            <p:cNvCxnSpPr>
              <a:stCxn id="107" idx="0"/>
              <a:endCxn id="102" idx="3"/>
            </p:cNvCxnSpPr>
            <p:nvPr/>
          </p:nvCxnSpPr>
          <p:spPr bwMode="auto">
            <a:xfrm rot="5400000" flipH="1" flipV="1">
              <a:off x="7044263" y="4801883"/>
              <a:ext cx="528647" cy="1588"/>
            </a:xfrm>
            <a:prstGeom prst="straightConnector1">
              <a:avLst/>
            </a:prstGeom>
            <a:noFill/>
            <a:ln w="9525" cap="flat" cmpd="sng" algn="ctr">
              <a:solidFill>
                <a:srgbClr val="000000"/>
              </a:solidFill>
              <a:prstDash val="solid"/>
              <a:round/>
              <a:headEnd type="none" w="med" len="med"/>
              <a:tailEnd type="arrow"/>
            </a:ln>
            <a:effectLst/>
          </p:spPr>
        </p:cxnSp>
        <p:sp>
          <p:nvSpPr>
            <p:cNvPr id="109" name="等腰三角形 108"/>
            <p:cNvSpPr/>
            <p:nvPr/>
          </p:nvSpPr>
          <p:spPr bwMode="auto">
            <a:xfrm>
              <a:off x="5328790" y="3951094"/>
              <a:ext cx="142876" cy="214314"/>
            </a:xfrm>
            <a:prstGeom prst="triangle">
              <a:avLst/>
            </a:prstGeom>
            <a:solidFill>
              <a:srgbClr val="FFC000"/>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10" name="等腰三角形 109"/>
            <p:cNvSpPr/>
            <p:nvPr/>
          </p:nvSpPr>
          <p:spPr bwMode="auto">
            <a:xfrm>
              <a:off x="4099830" y="3965608"/>
              <a:ext cx="142876" cy="214314"/>
            </a:xfrm>
            <a:prstGeom prst="triangle">
              <a:avLst/>
            </a:prstGeom>
            <a:solidFill>
              <a:srgbClr val="FFC000"/>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11" name="等腰三角形 110"/>
            <p:cNvSpPr/>
            <p:nvPr/>
          </p:nvSpPr>
          <p:spPr bwMode="auto">
            <a:xfrm>
              <a:off x="6585646" y="3965608"/>
              <a:ext cx="142876" cy="214314"/>
            </a:xfrm>
            <a:prstGeom prst="triangle">
              <a:avLst/>
            </a:prstGeom>
            <a:solidFill>
              <a:srgbClr val="FFC000"/>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12" name="等腰三角形 111"/>
            <p:cNvSpPr/>
            <p:nvPr/>
          </p:nvSpPr>
          <p:spPr bwMode="auto">
            <a:xfrm>
              <a:off x="7787842" y="3966740"/>
              <a:ext cx="142876" cy="214314"/>
            </a:xfrm>
            <a:prstGeom prst="triangle">
              <a:avLst/>
            </a:prstGeom>
            <a:solidFill>
              <a:srgbClr val="FFC000"/>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nvGrpSpPr>
            <p:cNvPr id="3" name="组合 112"/>
            <p:cNvGrpSpPr/>
            <p:nvPr/>
          </p:nvGrpSpPr>
          <p:grpSpPr>
            <a:xfrm>
              <a:off x="5715008" y="3766940"/>
              <a:ext cx="642942" cy="284770"/>
              <a:chOff x="3709713" y="2036779"/>
              <a:chExt cx="1433791" cy="600439"/>
            </a:xfrm>
          </p:grpSpPr>
          <p:pic>
            <p:nvPicPr>
              <p:cNvPr id="114" name="Picture 2"/>
              <p:cNvPicPr>
                <a:picLocks noChangeAspect="1" noChangeArrowheads="1"/>
              </p:cNvPicPr>
              <p:nvPr/>
            </p:nvPicPr>
            <p:blipFill>
              <a:blip r:embed="rId3" cstate="print"/>
              <a:srcRect/>
              <a:stretch>
                <a:fillRect/>
              </a:stretch>
            </p:blipFill>
            <p:spPr bwMode="auto">
              <a:xfrm>
                <a:off x="3709713" y="2080228"/>
                <a:ext cx="1433791" cy="556990"/>
              </a:xfrm>
              <a:prstGeom prst="rect">
                <a:avLst/>
              </a:prstGeom>
              <a:noFill/>
              <a:ln w="9525">
                <a:noFill/>
                <a:miter lim="800000"/>
                <a:headEnd/>
                <a:tailEnd/>
              </a:ln>
              <a:effectLst/>
            </p:spPr>
          </p:pic>
          <p:pic>
            <p:nvPicPr>
              <p:cNvPr id="115" name="Picture 4"/>
              <p:cNvPicPr>
                <a:picLocks noChangeAspect="1" noChangeArrowheads="1"/>
              </p:cNvPicPr>
              <p:nvPr/>
            </p:nvPicPr>
            <p:blipFill>
              <a:blip r:embed="rId4" cstate="print"/>
              <a:srcRect b="2055"/>
              <a:stretch>
                <a:fillRect/>
              </a:stretch>
            </p:blipFill>
            <p:spPr bwMode="auto">
              <a:xfrm>
                <a:off x="3854810" y="2036779"/>
                <a:ext cx="360000" cy="291280"/>
              </a:xfrm>
              <a:prstGeom prst="rect">
                <a:avLst/>
              </a:prstGeom>
              <a:noFill/>
              <a:ln w="9525">
                <a:noFill/>
                <a:miter lim="800000"/>
                <a:headEnd/>
                <a:tailEnd/>
              </a:ln>
              <a:effectLst/>
            </p:spPr>
          </p:pic>
          <p:pic>
            <p:nvPicPr>
              <p:cNvPr id="116" name="Picture 4"/>
              <p:cNvPicPr>
                <a:picLocks noChangeAspect="1" noChangeArrowheads="1"/>
              </p:cNvPicPr>
              <p:nvPr/>
            </p:nvPicPr>
            <p:blipFill>
              <a:blip r:embed="rId4" cstate="print"/>
              <a:srcRect b="2256"/>
              <a:stretch>
                <a:fillRect/>
              </a:stretch>
            </p:blipFill>
            <p:spPr bwMode="auto">
              <a:xfrm>
                <a:off x="4286248" y="2036779"/>
                <a:ext cx="360000" cy="290680"/>
              </a:xfrm>
              <a:prstGeom prst="rect">
                <a:avLst/>
              </a:prstGeom>
              <a:noFill/>
              <a:ln w="9525">
                <a:noFill/>
                <a:miter lim="800000"/>
                <a:headEnd/>
                <a:tailEnd/>
              </a:ln>
              <a:effectLst/>
            </p:spPr>
          </p:pic>
        </p:grpSp>
        <p:sp>
          <p:nvSpPr>
            <p:cNvPr id="117" name="TextBox 116"/>
            <p:cNvSpPr txBox="1"/>
            <p:nvPr/>
          </p:nvSpPr>
          <p:spPr>
            <a:xfrm>
              <a:off x="3929058" y="3623554"/>
              <a:ext cx="441146" cy="400110"/>
            </a:xfrm>
            <a:prstGeom prst="rect">
              <a:avLst/>
            </a:prstGeom>
            <a:noFill/>
          </p:spPr>
          <p:txBody>
            <a:bodyPr wrap="none" rtlCol="0">
              <a:spAutoFit/>
            </a:bodyPr>
            <a:lstStyle/>
            <a:p>
              <a:r>
                <a:rPr lang="zh-CN" altLang="en-US" sz="1000" b="1" dirty="0">
                  <a:latin typeface="微软雅黑" panose="020B0503020204020204" charset="-122"/>
                  <a:ea typeface="微软雅黑" panose="020B0503020204020204" charset="-122"/>
                </a:rPr>
                <a:t>生产</a:t>
              </a:r>
              <a:br>
                <a:rPr lang="en-US" altLang="zh-CN" sz="1000" b="1" dirty="0">
                  <a:latin typeface="微软雅黑" panose="020B0503020204020204" charset="-122"/>
                  <a:ea typeface="微软雅黑" panose="020B0503020204020204" charset="-122"/>
                </a:rPr>
              </a:br>
              <a:r>
                <a:rPr lang="zh-CN" altLang="en-US" sz="1000" b="1" dirty="0">
                  <a:latin typeface="微软雅黑" panose="020B0503020204020204" charset="-122"/>
                  <a:ea typeface="微软雅黑" panose="020B0503020204020204" charset="-122"/>
                </a:rPr>
                <a:t>入库</a:t>
              </a:r>
            </a:p>
          </p:txBody>
        </p:sp>
        <p:sp>
          <p:nvSpPr>
            <p:cNvPr id="118" name="TextBox 117"/>
            <p:cNvSpPr txBox="1"/>
            <p:nvPr/>
          </p:nvSpPr>
          <p:spPr>
            <a:xfrm>
              <a:off x="5200428" y="3623554"/>
              <a:ext cx="441146" cy="400110"/>
            </a:xfrm>
            <a:prstGeom prst="rect">
              <a:avLst/>
            </a:prstGeom>
            <a:noFill/>
          </p:spPr>
          <p:txBody>
            <a:bodyPr wrap="none" rtlCol="0">
              <a:spAutoFit/>
            </a:bodyPr>
            <a:lstStyle/>
            <a:p>
              <a:r>
                <a:rPr lang="zh-CN" altLang="en-US" sz="1000" b="1" dirty="0">
                  <a:latin typeface="微软雅黑" panose="020B0503020204020204" charset="-122"/>
                  <a:ea typeface="微软雅黑" panose="020B0503020204020204" charset="-122"/>
                </a:rPr>
                <a:t>工厂</a:t>
              </a:r>
              <a:br>
                <a:rPr lang="en-US" altLang="zh-CN" sz="1000" b="1" dirty="0">
                  <a:latin typeface="微软雅黑" panose="020B0503020204020204" charset="-122"/>
                  <a:ea typeface="微软雅黑" panose="020B0503020204020204" charset="-122"/>
                </a:rPr>
              </a:br>
              <a:r>
                <a:rPr lang="zh-CN" altLang="en-US" sz="1000" b="1" dirty="0">
                  <a:latin typeface="微软雅黑" panose="020B0503020204020204" charset="-122"/>
                  <a:ea typeface="微软雅黑" panose="020B0503020204020204" charset="-122"/>
                </a:rPr>
                <a:t>出库</a:t>
              </a:r>
            </a:p>
          </p:txBody>
        </p:sp>
        <p:sp>
          <p:nvSpPr>
            <p:cNvPr id="119" name="TextBox 118"/>
            <p:cNvSpPr txBox="1"/>
            <p:nvPr/>
          </p:nvSpPr>
          <p:spPr>
            <a:xfrm>
              <a:off x="6372464" y="3623554"/>
              <a:ext cx="569387" cy="458190"/>
            </a:xfrm>
            <a:prstGeom prst="rect">
              <a:avLst/>
            </a:prstGeom>
            <a:noFill/>
          </p:spPr>
          <p:txBody>
            <a:bodyPr wrap="none" rtlCol="0">
              <a:spAutoFit/>
            </a:bodyPr>
            <a:lstStyle/>
            <a:p>
              <a:pPr algn="ctr"/>
              <a:r>
                <a:rPr lang="zh-CN" altLang="en-US" sz="1000" b="1" dirty="0">
                  <a:latin typeface="微软雅黑" panose="020B0503020204020204" charset="-122"/>
                  <a:ea typeface="微软雅黑" panose="020B0503020204020204" charset="-122"/>
                </a:rPr>
                <a:t>代理商</a:t>
              </a:r>
              <a:br>
                <a:rPr lang="en-US" altLang="zh-CN" sz="1000" b="1" dirty="0">
                  <a:latin typeface="微软雅黑" panose="020B0503020204020204" charset="-122"/>
                  <a:ea typeface="微软雅黑" panose="020B0503020204020204" charset="-122"/>
                </a:rPr>
              </a:br>
              <a:r>
                <a:rPr lang="zh-CN" altLang="en-US" sz="1000" b="1" dirty="0">
                  <a:latin typeface="微软雅黑" panose="020B0503020204020204" charset="-122"/>
                  <a:ea typeface="微软雅黑" panose="020B0503020204020204" charset="-122"/>
                </a:rPr>
                <a:t>收货</a:t>
              </a:r>
            </a:p>
          </p:txBody>
        </p:sp>
        <p:sp>
          <p:nvSpPr>
            <p:cNvPr id="120" name="TextBox 119"/>
            <p:cNvSpPr txBox="1"/>
            <p:nvPr/>
          </p:nvSpPr>
          <p:spPr>
            <a:xfrm>
              <a:off x="7643834" y="3623554"/>
              <a:ext cx="441146" cy="400110"/>
            </a:xfrm>
            <a:prstGeom prst="rect">
              <a:avLst/>
            </a:prstGeom>
            <a:noFill/>
          </p:spPr>
          <p:txBody>
            <a:bodyPr wrap="none" rtlCol="0">
              <a:spAutoFit/>
            </a:bodyPr>
            <a:lstStyle/>
            <a:p>
              <a:r>
                <a:rPr lang="zh-CN" altLang="en-US" sz="1000" b="1" dirty="0">
                  <a:latin typeface="微软雅黑" panose="020B0503020204020204" charset="-122"/>
                  <a:ea typeface="微软雅黑" panose="020B0503020204020204" charset="-122"/>
                </a:rPr>
                <a:t>用户</a:t>
              </a:r>
              <a:endParaRPr lang="en-US" altLang="zh-CN" sz="1000" b="1" dirty="0">
                <a:latin typeface="微软雅黑" panose="020B0503020204020204" charset="-122"/>
                <a:ea typeface="微软雅黑" panose="020B0503020204020204" charset="-122"/>
              </a:endParaRPr>
            </a:p>
            <a:p>
              <a:r>
                <a:rPr lang="zh-CN" altLang="en-US" sz="1000" b="1" dirty="0">
                  <a:latin typeface="微软雅黑" panose="020B0503020204020204" charset="-122"/>
                  <a:ea typeface="微软雅黑" panose="020B0503020204020204" charset="-122"/>
                </a:rPr>
                <a:t>实销</a:t>
              </a:r>
              <a:endParaRPr lang="en-US" altLang="zh-CN" sz="1000" b="1" dirty="0">
                <a:latin typeface="微软雅黑" panose="020B0503020204020204" charset="-122"/>
                <a:ea typeface="微软雅黑" panose="020B0503020204020204" charset="-122"/>
              </a:endParaRPr>
            </a:p>
          </p:txBody>
        </p:sp>
        <p:sp>
          <p:nvSpPr>
            <p:cNvPr id="121" name="TextBox 120"/>
            <p:cNvSpPr txBox="1"/>
            <p:nvPr/>
          </p:nvSpPr>
          <p:spPr>
            <a:xfrm>
              <a:off x="957690" y="2937580"/>
              <a:ext cx="500066" cy="600164"/>
            </a:xfrm>
            <a:prstGeom prst="rect">
              <a:avLst/>
            </a:prstGeom>
            <a:noFill/>
          </p:spPr>
          <p:txBody>
            <a:bodyPr wrap="square" rtlCol="0" anchor="ctr">
              <a:spAutoFit/>
            </a:bodyPr>
            <a:lstStyle/>
            <a:p>
              <a:r>
                <a:rPr lang="zh-CN" altLang="en-US" sz="1100" dirty="0">
                  <a:latin typeface="微软雅黑" panose="020B0503020204020204" charset="-122"/>
                  <a:ea typeface="微软雅黑" panose="020B0503020204020204" charset="-122"/>
                </a:rPr>
                <a:t>满足</a:t>
              </a:r>
              <a:br>
                <a:rPr lang="en-US" altLang="zh-CN" sz="1100" dirty="0">
                  <a:latin typeface="微软雅黑" panose="020B0503020204020204" charset="-122"/>
                  <a:ea typeface="微软雅黑" panose="020B0503020204020204" charset="-122"/>
                </a:rPr>
              </a:br>
              <a:r>
                <a:rPr lang="zh-CN" altLang="en-US" sz="1100" dirty="0">
                  <a:latin typeface="微软雅黑" panose="020B0503020204020204" charset="-122"/>
                  <a:ea typeface="微软雅黑" panose="020B0503020204020204" charset="-122"/>
                </a:rPr>
                <a:t>市场</a:t>
              </a:r>
              <a:endParaRPr lang="en-US" altLang="zh-CN" sz="1100" dirty="0">
                <a:latin typeface="微软雅黑" panose="020B0503020204020204" charset="-122"/>
                <a:ea typeface="微软雅黑" panose="020B0503020204020204" charset="-122"/>
              </a:endParaRPr>
            </a:p>
            <a:p>
              <a:r>
                <a:rPr lang="zh-CN" altLang="en-US" sz="1100" dirty="0">
                  <a:latin typeface="微软雅黑" panose="020B0503020204020204" charset="-122"/>
                  <a:ea typeface="微软雅黑" panose="020B0503020204020204" charset="-122"/>
                </a:rPr>
                <a:t>需求</a:t>
              </a:r>
            </a:p>
          </p:txBody>
        </p:sp>
        <p:cxnSp>
          <p:nvCxnSpPr>
            <p:cNvPr id="122" name="肘形连接符 121"/>
            <p:cNvCxnSpPr>
              <a:stCxn id="101" idx="1"/>
              <a:endCxn id="125" idx="0"/>
            </p:cNvCxnSpPr>
            <p:nvPr/>
          </p:nvCxnSpPr>
          <p:spPr bwMode="auto">
            <a:xfrm rot="16200000" flipV="1">
              <a:off x="3625816" y="2456137"/>
              <a:ext cx="1588" cy="2362617"/>
            </a:xfrm>
            <a:prstGeom prst="bentConnector3">
              <a:avLst>
                <a:gd name="adj1" fmla="val 44557382"/>
              </a:avLst>
            </a:prstGeom>
            <a:noFill/>
            <a:ln w="9525" cap="flat" cmpd="sng" algn="ctr">
              <a:solidFill>
                <a:srgbClr val="000000"/>
              </a:solidFill>
              <a:prstDash val="solid"/>
              <a:round/>
              <a:headEnd type="none" w="med" len="med"/>
              <a:tailEnd type="arrow"/>
            </a:ln>
            <a:effectLst/>
          </p:spPr>
        </p:cxnSp>
        <p:cxnSp>
          <p:nvCxnSpPr>
            <p:cNvPr id="123" name="肘形连接符 122"/>
            <p:cNvCxnSpPr>
              <a:stCxn id="102" idx="1"/>
              <a:endCxn id="124" idx="0"/>
            </p:cNvCxnSpPr>
            <p:nvPr/>
          </p:nvCxnSpPr>
          <p:spPr bwMode="auto">
            <a:xfrm rot="16200000" flipV="1">
              <a:off x="4676181" y="1005040"/>
              <a:ext cx="1588" cy="5264811"/>
            </a:xfrm>
            <a:prstGeom prst="bentConnector3">
              <a:avLst>
                <a:gd name="adj1" fmla="val 63751342"/>
              </a:avLst>
            </a:prstGeom>
            <a:noFill/>
            <a:ln w="9525" cap="flat" cmpd="sng" algn="ctr">
              <a:solidFill>
                <a:srgbClr val="000000"/>
              </a:solidFill>
              <a:prstDash val="solid"/>
              <a:round/>
              <a:headEnd type="none" w="med" len="med"/>
              <a:tailEnd type="arrow"/>
            </a:ln>
            <a:effectLst/>
          </p:spPr>
        </p:cxnSp>
        <p:sp>
          <p:nvSpPr>
            <p:cNvPr id="124" name="矩形 123"/>
            <p:cNvSpPr/>
            <p:nvPr/>
          </p:nvSpPr>
          <p:spPr bwMode="auto">
            <a:xfrm>
              <a:off x="1972337" y="3637446"/>
              <a:ext cx="142876" cy="71438"/>
            </a:xfrm>
            <a:prstGeom prst="rect">
              <a:avLst/>
            </a:prstGeom>
            <a:noFill/>
            <a:ln w="6350">
              <a:no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25" name="矩形 124"/>
            <p:cNvSpPr/>
            <p:nvPr/>
          </p:nvSpPr>
          <p:spPr bwMode="auto">
            <a:xfrm>
              <a:off x="2373069" y="3637446"/>
              <a:ext cx="142876" cy="71438"/>
            </a:xfrm>
            <a:prstGeom prst="rect">
              <a:avLst/>
            </a:prstGeom>
            <a:noFill/>
            <a:ln w="6350">
              <a:no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26" name="等腰三角形 125"/>
            <p:cNvSpPr/>
            <p:nvPr/>
          </p:nvSpPr>
          <p:spPr bwMode="auto">
            <a:xfrm>
              <a:off x="1972337" y="3280256"/>
              <a:ext cx="142876" cy="142876"/>
            </a:xfrm>
            <a:prstGeom prst="triangle">
              <a:avLst/>
            </a:prstGeom>
            <a:solidFill>
              <a:srgbClr val="FFC000"/>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cxnSp>
          <p:nvCxnSpPr>
            <p:cNvPr id="127" name="肘形连接符 139"/>
            <p:cNvCxnSpPr>
              <a:stCxn id="107" idx="1"/>
              <a:endCxn id="96" idx="2"/>
            </p:cNvCxnSpPr>
            <p:nvPr/>
          </p:nvCxnSpPr>
          <p:spPr bwMode="auto">
            <a:xfrm rot="10800000">
              <a:off x="2258090" y="4537559"/>
              <a:ext cx="4672497" cy="850119"/>
            </a:xfrm>
            <a:prstGeom prst="bentConnector2">
              <a:avLst/>
            </a:prstGeom>
            <a:noFill/>
            <a:ln w="9525" cap="flat" cmpd="sng" algn="ctr">
              <a:solidFill>
                <a:srgbClr val="000000"/>
              </a:solidFill>
              <a:prstDash val="solid"/>
              <a:round/>
              <a:headEnd type="none" w="med" len="med"/>
              <a:tailEnd type="arrow"/>
            </a:ln>
            <a:effectLst/>
          </p:spPr>
        </p:cxnSp>
        <p:sp>
          <p:nvSpPr>
            <p:cNvPr id="128" name="等腰三角形 127"/>
            <p:cNvSpPr/>
            <p:nvPr/>
          </p:nvSpPr>
          <p:spPr bwMode="auto">
            <a:xfrm>
              <a:off x="2371937" y="3280256"/>
              <a:ext cx="142876" cy="142876"/>
            </a:xfrm>
            <a:prstGeom prst="triangle">
              <a:avLst/>
            </a:prstGeom>
            <a:solidFill>
              <a:srgbClr val="FFC000"/>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29" name="等腰三角形 128"/>
            <p:cNvSpPr/>
            <p:nvPr/>
          </p:nvSpPr>
          <p:spPr bwMode="auto">
            <a:xfrm>
              <a:off x="2186651" y="4709016"/>
              <a:ext cx="142876" cy="142876"/>
            </a:xfrm>
            <a:prstGeom prst="triangle">
              <a:avLst/>
            </a:prstGeom>
            <a:solidFill>
              <a:srgbClr val="FFC000"/>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30" name="TextBox 129"/>
            <p:cNvSpPr txBox="1"/>
            <p:nvPr/>
          </p:nvSpPr>
          <p:spPr>
            <a:xfrm>
              <a:off x="2258089" y="4580654"/>
              <a:ext cx="928694" cy="493435"/>
            </a:xfrm>
            <a:prstGeom prst="rect">
              <a:avLst/>
            </a:prstGeom>
            <a:noFill/>
          </p:spPr>
          <p:txBody>
            <a:bodyPr wrap="square" rtlCol="0" anchor="ctr">
              <a:spAutoFit/>
            </a:bodyPr>
            <a:lstStyle/>
            <a:p>
              <a:r>
                <a:rPr lang="zh-CN" altLang="en-US" sz="1100" dirty="0">
                  <a:latin typeface="微软雅黑" panose="020B0503020204020204" charset="-122"/>
                  <a:ea typeface="微软雅黑" panose="020B0503020204020204" charset="-122"/>
                </a:rPr>
                <a:t>耦合其他</a:t>
              </a:r>
              <a:br>
                <a:rPr lang="en-US" altLang="zh-CN" sz="1100" dirty="0">
                  <a:latin typeface="微软雅黑" panose="020B0503020204020204" charset="-122"/>
                  <a:ea typeface="微软雅黑" panose="020B0503020204020204" charset="-122"/>
                </a:rPr>
              </a:br>
              <a:r>
                <a:rPr lang="zh-CN" altLang="en-US" sz="1100" dirty="0">
                  <a:latin typeface="微软雅黑" panose="020B0503020204020204" charset="-122"/>
                  <a:ea typeface="微软雅黑" panose="020B0503020204020204" charset="-122"/>
                </a:rPr>
                <a:t>代理商库存</a:t>
              </a:r>
            </a:p>
          </p:txBody>
        </p:sp>
        <p:sp>
          <p:nvSpPr>
            <p:cNvPr id="131" name="TextBox 130"/>
            <p:cNvSpPr txBox="1"/>
            <p:nvPr/>
          </p:nvSpPr>
          <p:spPr>
            <a:xfrm>
              <a:off x="1558223" y="2952462"/>
              <a:ext cx="500066" cy="600164"/>
            </a:xfrm>
            <a:prstGeom prst="rect">
              <a:avLst/>
            </a:prstGeom>
            <a:noFill/>
          </p:spPr>
          <p:txBody>
            <a:bodyPr wrap="square" rtlCol="0" anchor="ctr">
              <a:spAutoFit/>
            </a:bodyPr>
            <a:lstStyle/>
            <a:p>
              <a:r>
                <a:rPr lang="zh-CN" altLang="en-US" sz="1100" dirty="0">
                  <a:latin typeface="微软雅黑" panose="020B0503020204020204" charset="-122"/>
                  <a:ea typeface="微软雅黑" panose="020B0503020204020204" charset="-122"/>
                </a:rPr>
                <a:t>耦合</a:t>
              </a:r>
              <a:br>
                <a:rPr lang="en-US" altLang="zh-CN" sz="1100" dirty="0">
                  <a:latin typeface="微软雅黑" panose="020B0503020204020204" charset="-122"/>
                  <a:ea typeface="微软雅黑" panose="020B0503020204020204" charset="-122"/>
                </a:rPr>
              </a:br>
              <a:r>
                <a:rPr lang="zh-CN" altLang="en-US" sz="1100" dirty="0">
                  <a:latin typeface="微软雅黑" panose="020B0503020204020204" charset="-122"/>
                  <a:ea typeface="微软雅黑" panose="020B0503020204020204" charset="-122"/>
                </a:rPr>
                <a:t>自身</a:t>
              </a:r>
              <a:br>
                <a:rPr lang="en-US" altLang="zh-CN" sz="1100" dirty="0">
                  <a:latin typeface="微软雅黑" panose="020B0503020204020204" charset="-122"/>
                  <a:ea typeface="微软雅黑" panose="020B0503020204020204" charset="-122"/>
                </a:rPr>
              </a:br>
              <a:r>
                <a:rPr lang="zh-CN" altLang="en-US" sz="1100" dirty="0">
                  <a:latin typeface="微软雅黑" panose="020B0503020204020204" charset="-122"/>
                  <a:ea typeface="微软雅黑" panose="020B0503020204020204" charset="-122"/>
                </a:rPr>
                <a:t>库存</a:t>
              </a:r>
            </a:p>
          </p:txBody>
        </p:sp>
        <p:sp>
          <p:nvSpPr>
            <p:cNvPr id="132" name="TextBox 131"/>
            <p:cNvSpPr txBox="1"/>
            <p:nvPr/>
          </p:nvSpPr>
          <p:spPr>
            <a:xfrm>
              <a:off x="956558" y="4651328"/>
              <a:ext cx="500066" cy="600164"/>
            </a:xfrm>
            <a:prstGeom prst="rect">
              <a:avLst/>
            </a:prstGeom>
            <a:noFill/>
          </p:spPr>
          <p:txBody>
            <a:bodyPr wrap="square" rtlCol="0" anchor="ctr">
              <a:spAutoFit/>
            </a:bodyPr>
            <a:lstStyle/>
            <a:p>
              <a:r>
                <a:rPr lang="zh-CN" altLang="en-US" sz="1100" dirty="0">
                  <a:latin typeface="微软雅黑" panose="020B0503020204020204" charset="-122"/>
                  <a:ea typeface="微软雅黑" panose="020B0503020204020204" charset="-122"/>
                </a:rPr>
                <a:t>满足</a:t>
              </a:r>
              <a:br>
                <a:rPr lang="en-US" altLang="zh-CN" sz="1100" dirty="0">
                  <a:latin typeface="微软雅黑" panose="020B0503020204020204" charset="-122"/>
                  <a:ea typeface="微软雅黑" panose="020B0503020204020204" charset="-122"/>
                </a:rPr>
              </a:br>
              <a:r>
                <a:rPr lang="zh-CN" altLang="en-US" sz="1100" dirty="0">
                  <a:latin typeface="微软雅黑" panose="020B0503020204020204" charset="-122"/>
                  <a:ea typeface="微软雅黑" panose="020B0503020204020204" charset="-122"/>
                </a:rPr>
                <a:t>公司</a:t>
              </a:r>
              <a:endParaRPr lang="en-US" altLang="zh-CN" sz="1100" dirty="0">
                <a:latin typeface="微软雅黑" panose="020B0503020204020204" charset="-122"/>
                <a:ea typeface="微软雅黑" panose="020B0503020204020204" charset="-122"/>
              </a:endParaRPr>
            </a:p>
            <a:p>
              <a:r>
                <a:rPr lang="zh-CN" altLang="en-US" sz="1100" dirty="0">
                  <a:latin typeface="微软雅黑" panose="020B0503020204020204" charset="-122"/>
                  <a:ea typeface="微软雅黑" panose="020B0503020204020204" charset="-122"/>
                </a:rPr>
                <a:t>目标</a:t>
              </a:r>
            </a:p>
          </p:txBody>
        </p:sp>
        <p:sp>
          <p:nvSpPr>
            <p:cNvPr id="133" name="TextBox 132"/>
            <p:cNvSpPr txBox="1"/>
            <p:nvPr/>
          </p:nvSpPr>
          <p:spPr>
            <a:xfrm>
              <a:off x="2472403" y="3106538"/>
              <a:ext cx="857256" cy="430887"/>
            </a:xfrm>
            <a:prstGeom prst="rect">
              <a:avLst/>
            </a:prstGeom>
            <a:noFill/>
          </p:spPr>
          <p:txBody>
            <a:bodyPr wrap="square" rtlCol="0" anchor="ctr">
              <a:spAutoFit/>
            </a:bodyPr>
            <a:lstStyle/>
            <a:p>
              <a:r>
                <a:rPr lang="zh-CN" altLang="en-US" sz="1100" dirty="0">
                  <a:latin typeface="微软雅黑" panose="020B0503020204020204" charset="-122"/>
                  <a:ea typeface="微软雅黑" panose="020B0503020204020204" charset="-122"/>
                </a:rPr>
                <a:t>耦合</a:t>
              </a:r>
              <a:endParaRPr lang="en-US" altLang="zh-CN" sz="1100" dirty="0">
                <a:latin typeface="微软雅黑" panose="020B0503020204020204" charset="-122"/>
                <a:ea typeface="微软雅黑" panose="020B0503020204020204" charset="-122"/>
              </a:endParaRPr>
            </a:p>
            <a:p>
              <a:r>
                <a:rPr lang="zh-CN" altLang="en-US" sz="1100" dirty="0">
                  <a:latin typeface="微软雅黑" panose="020B0503020204020204" charset="-122"/>
                  <a:ea typeface="微软雅黑" panose="020B0503020204020204" charset="-122"/>
                </a:rPr>
                <a:t>工厂库存</a:t>
              </a:r>
            </a:p>
          </p:txBody>
        </p:sp>
        <p:sp>
          <p:nvSpPr>
            <p:cNvPr id="134" name="矩形 133"/>
            <p:cNvSpPr/>
            <p:nvPr/>
          </p:nvSpPr>
          <p:spPr bwMode="auto">
            <a:xfrm>
              <a:off x="3929059" y="2050844"/>
              <a:ext cx="4214842" cy="3829076"/>
            </a:xfrm>
            <a:prstGeom prst="rect">
              <a:avLst/>
            </a:prstGeom>
            <a:noFill/>
            <a:ln w="28575">
              <a:solidFill>
                <a:srgbClr val="FF0000"/>
              </a:solidFill>
              <a:prstDash val="dash"/>
              <a:miter lim="800000"/>
            </a:ln>
          </p:spPr>
          <p:txBody>
            <a:bodyPr rtlCol="0" anchor="t">
              <a:noAutofit/>
            </a:bodyPr>
            <a:lstStyle/>
            <a:p>
              <a:pPr marL="117475" indent="-117475" algn="l">
                <a:buClr>
                  <a:schemeClr val="tx1"/>
                </a:buClr>
              </a:pPr>
              <a:r>
                <a:rPr lang="zh-CN" altLang="en-US" b="1" dirty="0">
                  <a:solidFill>
                    <a:srgbClr val="FF0000"/>
                  </a:solidFill>
                  <a:latin typeface="微软雅黑" panose="020B0503020204020204" charset="-122"/>
                  <a:ea typeface="微软雅黑" panose="020B0503020204020204" charset="-122"/>
                </a:rPr>
                <a:t>库存管理</a:t>
              </a:r>
            </a:p>
          </p:txBody>
        </p:sp>
        <p:sp>
          <p:nvSpPr>
            <p:cNvPr id="135" name="等腰三角形 134"/>
            <p:cNvSpPr/>
            <p:nvPr/>
          </p:nvSpPr>
          <p:spPr bwMode="auto">
            <a:xfrm>
              <a:off x="7244235" y="3280256"/>
              <a:ext cx="142876" cy="142876"/>
            </a:xfrm>
            <a:prstGeom prst="triangle">
              <a:avLst/>
            </a:prstGeom>
            <a:solidFill>
              <a:srgbClr val="FFC000"/>
            </a:solidFill>
            <a:ln w="6350">
              <a:solidFill>
                <a:srgbClr val="000000"/>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36" name="TextBox 135"/>
            <p:cNvSpPr txBox="1"/>
            <p:nvPr/>
          </p:nvSpPr>
          <p:spPr>
            <a:xfrm>
              <a:off x="6429389" y="3089076"/>
              <a:ext cx="928694" cy="430887"/>
            </a:xfrm>
            <a:prstGeom prst="rect">
              <a:avLst/>
            </a:prstGeom>
            <a:noFill/>
          </p:spPr>
          <p:txBody>
            <a:bodyPr wrap="square" rtlCol="0" anchor="ctr">
              <a:spAutoFit/>
            </a:bodyPr>
            <a:lstStyle/>
            <a:p>
              <a:r>
                <a:rPr lang="zh-CN" altLang="en-US" sz="1100" dirty="0">
                  <a:latin typeface="微软雅黑" panose="020B0503020204020204" charset="-122"/>
                  <a:ea typeface="微软雅黑" panose="020B0503020204020204" charset="-122"/>
                </a:rPr>
                <a:t>确保库存在合理范围内</a:t>
              </a:r>
            </a:p>
          </p:txBody>
        </p:sp>
        <p:sp>
          <p:nvSpPr>
            <p:cNvPr id="137" name="线形标注 1(带边框和强调线) 136"/>
            <p:cNvSpPr/>
            <p:nvPr/>
          </p:nvSpPr>
          <p:spPr bwMode="auto">
            <a:xfrm>
              <a:off x="4500563" y="6068834"/>
              <a:ext cx="1771437" cy="432000"/>
            </a:xfrm>
            <a:prstGeom prst="accentBorderCallout1">
              <a:avLst>
                <a:gd name="adj1" fmla="val 26601"/>
                <a:gd name="adj2" fmla="val 104349"/>
                <a:gd name="adj3" fmla="val -374143"/>
                <a:gd name="adj4" fmla="val 148931"/>
              </a:avLst>
            </a:prstGeom>
            <a:solidFill>
              <a:srgbClr val="FFFFCC"/>
            </a:solidFill>
            <a:ln w="19050">
              <a:solidFill>
                <a:srgbClr val="FFC000"/>
              </a:solidFill>
              <a:miter lim="800000"/>
            </a:ln>
          </p:spPr>
          <p:txBody>
            <a:bodyPr lIns="72000" rIns="36000" anchor="ctr"/>
            <a:lstStyle/>
            <a:p>
              <a:pPr marL="117475" indent="-117475" algn="ctr" fontAlgn="base">
                <a:spcBef>
                  <a:spcPct val="0"/>
                </a:spcBef>
                <a:spcAft>
                  <a:spcPct val="0"/>
                </a:spcAft>
                <a:buClr>
                  <a:schemeClr val="tx1"/>
                </a:buClr>
              </a:pPr>
              <a:r>
                <a:rPr lang="zh-CN" altLang="en-US" sz="1200" b="1" dirty="0">
                  <a:solidFill>
                    <a:srgbClr val="000000"/>
                  </a:solidFill>
                  <a:latin typeface="微软雅黑" panose="020B0503020204020204" charset="-122"/>
                  <a:ea typeface="微软雅黑" panose="020B0503020204020204" charset="-122"/>
                </a:rPr>
                <a:t>库存超期车管理</a:t>
              </a:r>
              <a:endParaRPr lang="en-US" altLang="zh-CN" sz="1200" b="1" dirty="0">
                <a:solidFill>
                  <a:srgbClr val="000000"/>
                </a:solidFill>
                <a:latin typeface="微软雅黑" panose="020B0503020204020204" charset="-122"/>
                <a:ea typeface="微软雅黑" panose="020B0503020204020204" charset="-122"/>
              </a:endParaRPr>
            </a:p>
            <a:p>
              <a:pPr marL="117475" indent="-117475" algn="ctr" fontAlgn="base">
                <a:spcBef>
                  <a:spcPct val="0"/>
                </a:spcBef>
                <a:spcAft>
                  <a:spcPct val="0"/>
                </a:spcAft>
                <a:buClr>
                  <a:schemeClr val="tx1"/>
                </a:buClr>
              </a:pPr>
              <a:r>
                <a:rPr lang="zh-CN" altLang="en-US" sz="1200" b="1" dirty="0">
                  <a:solidFill>
                    <a:srgbClr val="000000"/>
                  </a:solidFill>
                  <a:latin typeface="微软雅黑" panose="020B0503020204020204" charset="-122"/>
                  <a:ea typeface="微软雅黑" panose="020B0503020204020204" charset="-122"/>
                </a:rPr>
                <a:t>（库龄分析）</a:t>
              </a:r>
            </a:p>
          </p:txBody>
        </p:sp>
        <p:cxnSp>
          <p:nvCxnSpPr>
            <p:cNvPr id="138" name="直接连接符 137"/>
            <p:cNvCxnSpPr>
              <a:stCxn id="101" idx="3"/>
              <a:endCxn id="137" idx="3"/>
            </p:cNvCxnSpPr>
            <p:nvPr/>
          </p:nvCxnSpPr>
          <p:spPr bwMode="auto">
            <a:xfrm rot="16200000" flipH="1">
              <a:off x="4331066" y="5013617"/>
              <a:ext cx="1531275" cy="579158"/>
            </a:xfrm>
            <a:prstGeom prst="line">
              <a:avLst/>
            </a:prstGeom>
            <a:solidFill>
              <a:srgbClr val="FFC000"/>
            </a:solidFill>
            <a:ln w="19050">
              <a:solidFill>
                <a:srgbClr val="FFC000"/>
              </a:solidFill>
              <a:miter lim="800000"/>
            </a:ln>
          </p:spPr>
        </p:cxnSp>
        <p:sp>
          <p:nvSpPr>
            <p:cNvPr id="139" name="线形标注 1(带边框和强调线) 138"/>
            <p:cNvSpPr/>
            <p:nvPr/>
          </p:nvSpPr>
          <p:spPr bwMode="auto">
            <a:xfrm>
              <a:off x="5143506" y="1428736"/>
              <a:ext cx="1428759" cy="432000"/>
            </a:xfrm>
            <a:prstGeom prst="accentBorderCallout1">
              <a:avLst>
                <a:gd name="adj1" fmla="val 26601"/>
                <a:gd name="adj2" fmla="val 104349"/>
                <a:gd name="adj3" fmla="val 454650"/>
                <a:gd name="adj4" fmla="val 151956"/>
              </a:avLst>
            </a:prstGeom>
            <a:solidFill>
              <a:srgbClr val="FFFFCC"/>
            </a:solidFill>
            <a:ln w="19050">
              <a:solidFill>
                <a:srgbClr val="FFC000"/>
              </a:solidFill>
              <a:miter lim="800000"/>
            </a:ln>
          </p:spPr>
          <p:txBody>
            <a:bodyPr lIns="72000" rIns="36000" anchor="ctr"/>
            <a:lstStyle/>
            <a:p>
              <a:pPr marL="117475" indent="-117475" algn="ctr" fontAlgn="base">
                <a:spcBef>
                  <a:spcPct val="0"/>
                </a:spcBef>
                <a:spcAft>
                  <a:spcPct val="0"/>
                </a:spcAft>
                <a:buClr>
                  <a:schemeClr val="tx1"/>
                </a:buClr>
              </a:pPr>
              <a:r>
                <a:rPr lang="zh-CN" altLang="en-US" sz="1200" b="1" dirty="0">
                  <a:solidFill>
                    <a:srgbClr val="000000"/>
                  </a:solidFill>
                  <a:latin typeface="微软雅黑" panose="020B0503020204020204" charset="-122"/>
                  <a:ea typeface="微软雅黑" panose="020B0503020204020204" charset="-122"/>
                </a:rPr>
                <a:t>库存当量管理</a:t>
              </a:r>
              <a:endParaRPr lang="en-US" altLang="zh-CN" sz="1200" b="1" dirty="0">
                <a:solidFill>
                  <a:srgbClr val="000000"/>
                </a:solidFill>
                <a:latin typeface="微软雅黑" panose="020B0503020204020204" charset="-122"/>
                <a:ea typeface="微软雅黑" panose="020B0503020204020204" charset="-122"/>
              </a:endParaRPr>
            </a:p>
            <a:p>
              <a:pPr marL="117475" indent="-117475" algn="ctr" fontAlgn="base">
                <a:spcBef>
                  <a:spcPct val="0"/>
                </a:spcBef>
                <a:spcAft>
                  <a:spcPct val="0"/>
                </a:spcAft>
                <a:buClr>
                  <a:schemeClr val="tx1"/>
                </a:buClr>
              </a:pPr>
              <a:r>
                <a:rPr lang="zh-CN" altLang="en-US" sz="1200" b="1" dirty="0">
                  <a:solidFill>
                    <a:srgbClr val="000000"/>
                  </a:solidFill>
                  <a:latin typeface="微软雅黑" panose="020B0503020204020204" charset="-122"/>
                  <a:ea typeface="微软雅黑" panose="020B0503020204020204" charset="-122"/>
                </a:rPr>
                <a:t>（存销比分析）</a:t>
              </a:r>
            </a:p>
          </p:txBody>
        </p:sp>
        <p:sp>
          <p:nvSpPr>
            <p:cNvPr id="140" name="TextBox 139"/>
            <p:cNvSpPr txBox="1"/>
            <p:nvPr/>
          </p:nvSpPr>
          <p:spPr>
            <a:xfrm>
              <a:off x="5668971" y="4063808"/>
              <a:ext cx="748923" cy="295466"/>
            </a:xfrm>
            <a:prstGeom prst="rect">
              <a:avLst/>
            </a:prstGeom>
            <a:noFill/>
          </p:spPr>
          <p:txBody>
            <a:bodyPr wrap="none" rtlCol="0" anchor="ctr">
              <a:spAutoFit/>
            </a:bodyPr>
            <a:lstStyle/>
            <a:p>
              <a:pPr>
                <a:lnSpc>
                  <a:spcPct val="120000"/>
                </a:lnSpc>
                <a:spcBef>
                  <a:spcPts val="600"/>
                </a:spcBef>
              </a:pPr>
              <a:r>
                <a:rPr lang="zh-CN" altLang="en-US" sz="1100" b="1" dirty="0">
                  <a:latin typeface="微软雅黑" panose="020B0503020204020204" charset="-122"/>
                  <a:ea typeface="微软雅黑" panose="020B0503020204020204" charset="-122"/>
                </a:rPr>
                <a:t>在途库存</a:t>
              </a:r>
            </a:p>
          </p:txBody>
        </p:sp>
      </p:grpSp>
      <p:sp>
        <p:nvSpPr>
          <p:cNvPr id="53"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dirty="0"/>
              <a:t>B. </a:t>
            </a:r>
            <a:r>
              <a:rPr lang="zh-CN" altLang="en-US" dirty="0"/>
              <a:t>订单管理解决方案概要说明</a:t>
            </a:r>
          </a:p>
        </p:txBody>
      </p:sp>
      <p:sp>
        <p:nvSpPr>
          <p:cNvPr id="12" name="Rectangle 20"/>
          <p:cNvSpPr txBox="1">
            <a:spLocks noChangeArrowheads="1"/>
          </p:cNvSpPr>
          <p:nvPr/>
        </p:nvSpPr>
        <p:spPr>
          <a:xfrm>
            <a:off x="323851" y="1421334"/>
            <a:ext cx="4533902" cy="1222995"/>
          </a:xfrm>
          <a:prstGeom prst="rect">
            <a:avLst/>
          </a:prstGeom>
          <a:ln>
            <a:solidFill>
              <a:schemeClr val="accent1"/>
            </a:solidFill>
          </a:ln>
        </p:spPr>
        <p:txBody>
          <a:bodyPr/>
          <a:lstStyle/>
          <a:p>
            <a:pPr marL="173355" indent="-173355" eaLnBrk="0" hangingPunct="0">
              <a:spcBef>
                <a:spcPct val="20000"/>
              </a:spcBef>
              <a:buClr>
                <a:schemeClr val="tx1"/>
              </a:buClr>
              <a:buFont typeface="Wingdings" panose="05000000000000000000" pitchFamily="2" charset="2"/>
              <a:buNone/>
              <a:defRPr/>
            </a:pPr>
            <a:endParaRPr lang="en-US" altLang="zh-CN" sz="1200" b="1" kern="0" dirty="0">
              <a:latin typeface="微软雅黑" panose="020B0503020204020204" charset="-122"/>
              <a:ea typeface="微软雅黑" panose="020B0503020204020204" charset="-122"/>
            </a:endParaRPr>
          </a:p>
          <a:p>
            <a:pPr marL="173355" indent="-173355" eaLnBrk="0" hangingPunct="0">
              <a:spcBef>
                <a:spcPct val="20000"/>
              </a:spcBef>
              <a:buClr>
                <a:schemeClr val="accent1"/>
              </a:buClr>
              <a:buFont typeface="Wingdings" panose="05000000000000000000" pitchFamily="2" charset="2"/>
              <a:buChar char="§"/>
              <a:defRPr/>
            </a:pPr>
            <a:r>
              <a:rPr lang="zh-CN" altLang="en-US" sz="1200" dirty="0">
                <a:latin typeface="微软雅黑" panose="020B0503020204020204" charset="-122"/>
                <a:ea typeface="微软雅黑" panose="020B0503020204020204" charset="-122"/>
              </a:rPr>
              <a:t>明确订单端到端管理的负责组织及职责</a:t>
            </a:r>
            <a:endParaRPr lang="en-US" altLang="zh-CN" sz="1200" dirty="0">
              <a:latin typeface="微软雅黑" panose="020B0503020204020204" charset="-122"/>
              <a:ea typeface="微软雅黑" panose="020B0503020204020204" charset="-122"/>
            </a:endParaRPr>
          </a:p>
          <a:p>
            <a:pPr marL="173355" indent="-173355" eaLnBrk="0" hangingPunct="0">
              <a:spcBef>
                <a:spcPct val="20000"/>
              </a:spcBef>
              <a:buClr>
                <a:schemeClr val="accent1"/>
              </a:buClr>
              <a:buFont typeface="Wingdings" panose="05000000000000000000" pitchFamily="2" charset="2"/>
              <a:buChar char="§"/>
              <a:defRPr/>
            </a:pPr>
            <a:r>
              <a:rPr lang="zh-CN" altLang="en-US" sz="1200" dirty="0">
                <a:latin typeface="微软雅黑" panose="020B0503020204020204" charset="-122"/>
                <a:ea typeface="微软雅黑" panose="020B0503020204020204" charset="-122"/>
              </a:rPr>
              <a:t>通过订单可视、分类管理、优先级管理及与其他方案的衔接等手段提升交付周期的承诺能力及订单交付水平</a:t>
            </a:r>
            <a:endParaRPr lang="en-US" altLang="zh-CN" sz="1200" dirty="0">
              <a:latin typeface="微软雅黑" panose="020B0503020204020204" charset="-122"/>
              <a:ea typeface="微软雅黑" panose="020B0503020204020204" charset="-122"/>
            </a:endParaRPr>
          </a:p>
        </p:txBody>
      </p:sp>
      <p:sp>
        <p:nvSpPr>
          <p:cNvPr id="13" name="Rectangle 21"/>
          <p:cNvSpPr>
            <a:spLocks noChangeArrowheads="1"/>
          </p:cNvSpPr>
          <p:nvPr/>
        </p:nvSpPr>
        <p:spPr bwMode="auto">
          <a:xfrm>
            <a:off x="677863" y="5572125"/>
            <a:ext cx="8267700" cy="928688"/>
          </a:xfrm>
          <a:prstGeom prst="rect">
            <a:avLst/>
          </a:prstGeom>
          <a:noFill/>
          <a:ln w="9525">
            <a:solidFill>
              <a:schemeClr val="accent1"/>
            </a:solidFill>
            <a:miter lim="800000"/>
          </a:ln>
        </p:spPr>
        <p:txBody>
          <a:bodyPr anchor="ctr"/>
          <a:lstStyle/>
          <a:p>
            <a:pPr marL="173355" lvl="1" indent="-173355" eaLnBrk="0" hangingPunct="0">
              <a:spcBef>
                <a:spcPct val="20000"/>
              </a:spcBef>
              <a:buClr>
                <a:schemeClr val="accent1"/>
              </a:buClr>
              <a:buFont typeface="Wingdings" panose="05000000000000000000" pitchFamily="2" charset="2"/>
              <a:buChar char="§"/>
            </a:pPr>
            <a:r>
              <a:rPr lang="zh-CN" altLang="en-US" sz="1200" dirty="0">
                <a:latin typeface="微软雅黑" panose="020B0503020204020204" charset="-122"/>
                <a:ea typeface="微软雅黑" panose="020B0503020204020204" charset="-122"/>
              </a:rPr>
              <a:t>通过明确订单管理策略，实现x重机订单提报、审批和执行的机制，提高订单业务的规范性</a:t>
            </a:r>
            <a:endParaRPr lang="en-US" altLang="zh-CN" sz="1200" dirty="0">
              <a:latin typeface="微软雅黑" panose="020B0503020204020204" charset="-122"/>
              <a:ea typeface="微软雅黑" panose="020B0503020204020204" charset="-122"/>
            </a:endParaRPr>
          </a:p>
          <a:p>
            <a:pPr marL="173355" lvl="1" indent="-173355" eaLnBrk="0" hangingPunct="0">
              <a:spcBef>
                <a:spcPct val="20000"/>
              </a:spcBef>
              <a:buClr>
                <a:schemeClr val="accent1"/>
              </a:buClr>
              <a:buFont typeface="Wingdings" panose="05000000000000000000" pitchFamily="2" charset="2"/>
              <a:buChar char="§"/>
            </a:pPr>
            <a:r>
              <a:rPr lang="zh-CN" altLang="en-US" sz="1200" dirty="0">
                <a:latin typeface="微软雅黑" panose="020B0503020204020204" charset="-122"/>
                <a:ea typeface="微软雅黑" panose="020B0503020204020204" charset="-122"/>
              </a:rPr>
              <a:t>通过分类及优先级管理，节省公司资源，持续管理和改善订单交付能力</a:t>
            </a:r>
            <a:endParaRPr lang="en-US" altLang="zh-CN" sz="1200" dirty="0">
              <a:latin typeface="微软雅黑" panose="020B0503020204020204" charset="-122"/>
              <a:ea typeface="微软雅黑" panose="020B0503020204020204" charset="-122"/>
            </a:endParaRPr>
          </a:p>
          <a:p>
            <a:pPr marL="173355" lvl="1" indent="-173355" eaLnBrk="0" hangingPunct="0">
              <a:spcBef>
                <a:spcPct val="20000"/>
              </a:spcBef>
              <a:buClr>
                <a:schemeClr val="accent1"/>
              </a:buClr>
              <a:buFont typeface="Wingdings" panose="05000000000000000000" pitchFamily="2" charset="2"/>
              <a:buChar char="§"/>
            </a:pPr>
            <a:r>
              <a:rPr lang="zh-CN" altLang="en-US" sz="1200" dirty="0">
                <a:latin typeface="微软雅黑" panose="020B0503020204020204" charset="-122"/>
                <a:ea typeface="微软雅黑" panose="020B0503020204020204" charset="-122"/>
              </a:rPr>
              <a:t>通过交期规则，帮助营销端快速答复交期，提升交付周期承诺能力（需要配套的</a:t>
            </a:r>
            <a:r>
              <a:rPr lang="en-US" altLang="zh-CN" sz="1200" dirty="0">
                <a:latin typeface="微软雅黑" panose="020B0503020204020204" charset="-122"/>
                <a:ea typeface="微软雅黑" panose="020B0503020204020204" charset="-122"/>
              </a:rPr>
              <a:t>IT</a:t>
            </a:r>
            <a:r>
              <a:rPr lang="zh-CN" altLang="en-US" sz="1200" dirty="0">
                <a:latin typeface="微软雅黑" panose="020B0503020204020204" charset="-122"/>
                <a:ea typeface="微软雅黑" panose="020B0503020204020204" charset="-122"/>
              </a:rPr>
              <a:t>工具）</a:t>
            </a:r>
            <a:endParaRPr lang="en-US" altLang="zh-CN" sz="1200" dirty="0">
              <a:latin typeface="微软雅黑" panose="020B0503020204020204" charset="-122"/>
              <a:ea typeface="微软雅黑" panose="020B0503020204020204" charset="-122"/>
            </a:endParaRPr>
          </a:p>
          <a:p>
            <a:pPr marL="173355" lvl="1" indent="-173355" eaLnBrk="0" hangingPunct="0">
              <a:spcBef>
                <a:spcPct val="20000"/>
              </a:spcBef>
              <a:buClr>
                <a:schemeClr val="accent1"/>
              </a:buClr>
              <a:buFont typeface="Wingdings" panose="05000000000000000000" pitchFamily="2" charset="2"/>
              <a:buChar char="§"/>
            </a:pPr>
            <a:r>
              <a:rPr lang="zh-CN" altLang="en-US" sz="1200" dirty="0">
                <a:latin typeface="微软雅黑" panose="020B0503020204020204" charset="-122"/>
                <a:ea typeface="微软雅黑" panose="020B0503020204020204" charset="-122"/>
              </a:rPr>
              <a:t>通过订单的可视化，实现订单状态信息的共享，提高发运效率和客户沟通准确率，提高客户满意度</a:t>
            </a:r>
            <a:endParaRPr lang="en-US" altLang="zh-CN" sz="1200" dirty="0">
              <a:latin typeface="微软雅黑" panose="020B0503020204020204" charset="-122"/>
              <a:ea typeface="微软雅黑" panose="020B0503020204020204" charset="-122"/>
            </a:endParaRPr>
          </a:p>
        </p:txBody>
      </p:sp>
      <p:sp>
        <p:nvSpPr>
          <p:cNvPr id="14" name="Rectangle 22"/>
          <p:cNvSpPr>
            <a:spLocks noChangeArrowheads="1"/>
          </p:cNvSpPr>
          <p:nvPr/>
        </p:nvSpPr>
        <p:spPr bwMode="auto">
          <a:xfrm>
            <a:off x="323850" y="2974972"/>
            <a:ext cx="8621713" cy="2559595"/>
          </a:xfrm>
          <a:prstGeom prst="rect">
            <a:avLst/>
          </a:prstGeom>
          <a:noFill/>
          <a:ln w="9525">
            <a:solidFill>
              <a:schemeClr val="accent1"/>
            </a:solidFill>
            <a:miter lim="800000"/>
          </a:ln>
        </p:spPr>
        <p:txBody>
          <a:bodyPr anchor="ctr"/>
          <a:lstStyle/>
          <a:p>
            <a:pPr marL="173355" indent="-173355" eaLnBrk="0" fontAlgn="auto" hangingPunct="0">
              <a:lnSpc>
                <a:spcPts val="1300"/>
              </a:lnSpc>
              <a:spcBef>
                <a:spcPct val="20000"/>
              </a:spcBef>
              <a:spcAft>
                <a:spcPts val="0"/>
              </a:spcAft>
              <a:buClr>
                <a:schemeClr val="accent1"/>
              </a:buClr>
              <a:defRPr/>
            </a:pPr>
            <a:r>
              <a:rPr lang="en-US" altLang="zh-CN" sz="1200" dirty="0">
                <a:latin typeface="微软雅黑" panose="020B0503020204020204" charset="-122"/>
                <a:ea typeface="微软雅黑" panose="020B0503020204020204" charset="-122"/>
              </a:rPr>
              <a:t>B-1 </a:t>
            </a:r>
            <a:r>
              <a:rPr lang="zh-CN" altLang="en-US" sz="1200" dirty="0">
                <a:latin typeface="微软雅黑" panose="020B0503020204020204" charset="-122"/>
                <a:ea typeface="微软雅黑" panose="020B0503020204020204" charset="-122"/>
              </a:rPr>
              <a:t>订单管理策略</a:t>
            </a:r>
            <a:endParaRPr lang="en-US" altLang="zh-CN" sz="1200" dirty="0">
              <a:latin typeface="微软雅黑" panose="020B0503020204020204" charset="-122"/>
              <a:ea typeface="微软雅黑" panose="020B0503020204020204" charset="-122"/>
            </a:endParaRPr>
          </a:p>
          <a:p>
            <a:pPr marL="360680" lvl="1" indent="-173355" eaLnBrk="0" fontAlgn="auto" hangingPunct="0">
              <a:lnSpc>
                <a:spcPts val="1300"/>
              </a:lnSpc>
              <a:spcBef>
                <a:spcPct val="20000"/>
              </a:spcBef>
              <a:spcAft>
                <a:spcPts val="0"/>
              </a:spcAft>
              <a:buClr>
                <a:schemeClr val="accent1"/>
              </a:buClr>
              <a:buFont typeface="微软雅黑" panose="020B0503020204020204" charset="-122"/>
              <a:buChar char="−"/>
              <a:defRPr/>
            </a:pPr>
            <a:r>
              <a:rPr lang="zh-CN" altLang="en-US" sz="1200" dirty="0">
                <a:latin typeface="微软雅黑" panose="020B0503020204020204" charset="-122"/>
                <a:ea typeface="微软雅黑" panose="020B0503020204020204" charset="-122"/>
              </a:rPr>
              <a:t>定义订单管理周期和端到端负责组织及职责</a:t>
            </a:r>
            <a:endParaRPr lang="en-US" altLang="zh-CN" sz="1200" dirty="0">
              <a:latin typeface="微软雅黑" panose="020B0503020204020204" charset="-122"/>
              <a:ea typeface="微软雅黑" panose="020B0503020204020204" charset="-122"/>
            </a:endParaRPr>
          </a:p>
          <a:p>
            <a:pPr marL="173355" indent="-173355" eaLnBrk="0" fontAlgn="auto" hangingPunct="0">
              <a:lnSpc>
                <a:spcPts val="1300"/>
              </a:lnSpc>
              <a:spcBef>
                <a:spcPct val="20000"/>
              </a:spcBef>
              <a:spcAft>
                <a:spcPts val="0"/>
              </a:spcAft>
              <a:buClr>
                <a:schemeClr val="accent1"/>
              </a:buClr>
              <a:defRPr/>
            </a:pPr>
            <a:r>
              <a:rPr lang="en-US" altLang="zh-CN" sz="1200" dirty="0">
                <a:latin typeface="微软雅黑" panose="020B0503020204020204" charset="-122"/>
                <a:ea typeface="微软雅黑" panose="020B0503020204020204" charset="-122"/>
              </a:rPr>
              <a:t>B-2 </a:t>
            </a:r>
            <a:r>
              <a:rPr lang="zh-CN" altLang="en-US" sz="1200" dirty="0">
                <a:latin typeface="微软雅黑" panose="020B0503020204020204" charset="-122"/>
                <a:ea typeface="微软雅黑" panose="020B0503020204020204" charset="-122"/>
              </a:rPr>
              <a:t>订单分类及优先级管理</a:t>
            </a:r>
            <a:endParaRPr lang="en-US" altLang="zh-CN" sz="1200" dirty="0">
              <a:latin typeface="微软雅黑" panose="020B0503020204020204" charset="-122"/>
              <a:ea typeface="微软雅黑" panose="020B0503020204020204" charset="-122"/>
            </a:endParaRPr>
          </a:p>
          <a:p>
            <a:pPr marL="360680" lvl="1" indent="-173355" eaLnBrk="0" hangingPunct="0">
              <a:lnSpc>
                <a:spcPts val="1300"/>
              </a:lnSpc>
              <a:spcBef>
                <a:spcPct val="20000"/>
              </a:spcBef>
              <a:buClr>
                <a:schemeClr val="accent1"/>
              </a:buClr>
              <a:buFont typeface="微软雅黑" panose="020B0503020204020204" charset="-122"/>
              <a:buChar char="−"/>
              <a:defRPr/>
            </a:pPr>
            <a:r>
              <a:rPr lang="zh-CN" altLang="en-US" sz="1200" dirty="0">
                <a:latin typeface="微软雅黑" panose="020B0503020204020204" charset="-122"/>
                <a:ea typeface="微软雅黑" panose="020B0503020204020204" charset="-122"/>
              </a:rPr>
              <a:t>定义订单分类及优先级</a:t>
            </a:r>
          </a:p>
          <a:p>
            <a:pPr marL="360680" lvl="1" indent="-173355" eaLnBrk="0" hangingPunct="0">
              <a:lnSpc>
                <a:spcPts val="1300"/>
              </a:lnSpc>
              <a:spcBef>
                <a:spcPct val="20000"/>
              </a:spcBef>
              <a:buClr>
                <a:schemeClr val="accent1"/>
              </a:buClr>
              <a:buFont typeface="微软雅黑" panose="020B0503020204020204" charset="-122"/>
              <a:buChar char="−"/>
              <a:defRPr/>
            </a:pPr>
            <a:r>
              <a:rPr lang="zh-CN" altLang="en-US" sz="1200" dirty="0">
                <a:latin typeface="微软雅黑" panose="020B0503020204020204" charset="-122"/>
                <a:ea typeface="微软雅黑" panose="020B0503020204020204" charset="-122"/>
              </a:rPr>
              <a:t>不同类型订单的管理</a:t>
            </a:r>
          </a:p>
          <a:p>
            <a:pPr marL="360680" lvl="1" indent="-173355" eaLnBrk="0" hangingPunct="0">
              <a:lnSpc>
                <a:spcPts val="1300"/>
              </a:lnSpc>
              <a:spcBef>
                <a:spcPct val="20000"/>
              </a:spcBef>
              <a:buClr>
                <a:schemeClr val="accent1"/>
              </a:buClr>
              <a:buFont typeface="微软雅黑" panose="020B0503020204020204" charset="-122"/>
              <a:buChar char="−"/>
              <a:defRPr/>
            </a:pPr>
            <a:r>
              <a:rPr lang="zh-CN" altLang="en-US" sz="1200" dirty="0">
                <a:latin typeface="微软雅黑" panose="020B0503020204020204" charset="-122"/>
                <a:ea typeface="微软雅黑" panose="020B0503020204020204" charset="-122"/>
              </a:rPr>
              <a:t>订单优先级在评审过程的应用</a:t>
            </a:r>
            <a:endParaRPr lang="en-US" altLang="zh-CN" sz="1200" dirty="0">
              <a:latin typeface="微软雅黑" panose="020B0503020204020204" charset="-122"/>
              <a:ea typeface="微软雅黑" panose="020B0503020204020204" charset="-122"/>
            </a:endParaRPr>
          </a:p>
          <a:p>
            <a:pPr marL="173355" indent="-173355" eaLnBrk="0" fontAlgn="auto" hangingPunct="0">
              <a:lnSpc>
                <a:spcPts val="1300"/>
              </a:lnSpc>
              <a:spcBef>
                <a:spcPct val="20000"/>
              </a:spcBef>
              <a:spcAft>
                <a:spcPts val="0"/>
              </a:spcAft>
              <a:buClr>
                <a:schemeClr val="accent1"/>
              </a:buClr>
              <a:defRPr/>
            </a:pPr>
            <a:r>
              <a:rPr lang="en-US" altLang="zh-CN" sz="1200" dirty="0">
                <a:latin typeface="微软雅黑" panose="020B0503020204020204" charset="-122"/>
                <a:ea typeface="微软雅黑" panose="020B0503020204020204" charset="-122"/>
              </a:rPr>
              <a:t>B-3</a:t>
            </a:r>
            <a:r>
              <a:rPr lang="zh-CN" altLang="en-US" sz="1200" dirty="0">
                <a:latin typeface="微软雅黑" panose="020B0503020204020204" charset="-122"/>
                <a:ea typeface="微软雅黑" panose="020B0503020204020204" charset="-122"/>
              </a:rPr>
              <a:t> 订单交期</a:t>
            </a:r>
            <a:endParaRPr lang="en-US" altLang="zh-CN" sz="1200" dirty="0">
              <a:latin typeface="微软雅黑" panose="020B0503020204020204" charset="-122"/>
              <a:ea typeface="微软雅黑" panose="020B0503020204020204" charset="-122"/>
            </a:endParaRPr>
          </a:p>
          <a:p>
            <a:pPr marL="360680" lvl="1" indent="-173355" eaLnBrk="0" fontAlgn="auto" hangingPunct="0">
              <a:lnSpc>
                <a:spcPts val="1300"/>
              </a:lnSpc>
              <a:spcBef>
                <a:spcPct val="20000"/>
              </a:spcBef>
              <a:spcAft>
                <a:spcPts val="0"/>
              </a:spcAft>
              <a:buClr>
                <a:schemeClr val="accent1"/>
              </a:buClr>
              <a:buFont typeface="微软雅黑" panose="020B0503020204020204" charset="-122"/>
              <a:buChar char="−"/>
              <a:defRPr/>
            </a:pPr>
            <a:r>
              <a:rPr lang="zh-CN" altLang="en-US" sz="1200" dirty="0">
                <a:latin typeface="微软雅黑" panose="020B0503020204020204" charset="-122"/>
                <a:ea typeface="微软雅黑" panose="020B0503020204020204" charset="-122"/>
              </a:rPr>
              <a:t>定义订单交期答复的影响要素和规则</a:t>
            </a:r>
            <a:endParaRPr lang="en-US" altLang="zh-CN" sz="1200" dirty="0">
              <a:latin typeface="微软雅黑" panose="020B0503020204020204" charset="-122"/>
              <a:ea typeface="微软雅黑" panose="020B0503020204020204" charset="-122"/>
            </a:endParaRPr>
          </a:p>
          <a:p>
            <a:pPr marL="173355" indent="-173355" eaLnBrk="0" fontAlgn="auto" hangingPunct="0">
              <a:lnSpc>
                <a:spcPts val="1300"/>
              </a:lnSpc>
              <a:spcBef>
                <a:spcPct val="20000"/>
              </a:spcBef>
              <a:spcAft>
                <a:spcPts val="0"/>
              </a:spcAft>
              <a:buClr>
                <a:schemeClr val="accent1"/>
              </a:buClr>
              <a:defRPr/>
            </a:pPr>
            <a:r>
              <a:rPr lang="en-US" altLang="zh-CN" sz="1200" dirty="0">
                <a:latin typeface="微软雅黑" panose="020B0503020204020204" charset="-122"/>
                <a:ea typeface="微软雅黑" panose="020B0503020204020204" charset="-122"/>
              </a:rPr>
              <a:t>B-4</a:t>
            </a:r>
            <a:r>
              <a:rPr lang="zh-CN" altLang="en-US" sz="1200" dirty="0">
                <a:latin typeface="微软雅黑" panose="020B0503020204020204" charset="-122"/>
                <a:ea typeface="微软雅黑" panose="020B0503020204020204" charset="-122"/>
              </a:rPr>
              <a:t> 订单可视化</a:t>
            </a:r>
            <a:endParaRPr lang="en-US" altLang="zh-CN" sz="1200" dirty="0">
              <a:latin typeface="微软雅黑" panose="020B0503020204020204" charset="-122"/>
              <a:ea typeface="微软雅黑" panose="020B0503020204020204" charset="-122"/>
            </a:endParaRPr>
          </a:p>
          <a:p>
            <a:pPr marL="360680" lvl="1" indent="-173355" eaLnBrk="0" fontAlgn="auto" hangingPunct="0">
              <a:lnSpc>
                <a:spcPts val="1300"/>
              </a:lnSpc>
              <a:spcBef>
                <a:spcPct val="20000"/>
              </a:spcBef>
              <a:spcAft>
                <a:spcPts val="0"/>
              </a:spcAft>
              <a:buClr>
                <a:schemeClr val="accent1"/>
              </a:buClr>
              <a:buFont typeface="微软雅黑" panose="020B0503020204020204" charset="-122"/>
              <a:buChar char="−"/>
              <a:defRPr/>
            </a:pPr>
            <a:r>
              <a:rPr lang="zh-CN" altLang="en-US" sz="1200" dirty="0">
                <a:latin typeface="微软雅黑" panose="020B0503020204020204" charset="-122"/>
                <a:ea typeface="微软雅黑" panose="020B0503020204020204" charset="-122"/>
              </a:rPr>
              <a:t>定义订单全生命周期管理节点及各组织的可视规则</a:t>
            </a:r>
          </a:p>
          <a:p>
            <a:pPr marL="360680" lvl="1" indent="-173355" eaLnBrk="0" fontAlgn="auto" hangingPunct="0">
              <a:lnSpc>
                <a:spcPts val="1300"/>
              </a:lnSpc>
              <a:spcBef>
                <a:spcPct val="20000"/>
              </a:spcBef>
              <a:spcAft>
                <a:spcPts val="0"/>
              </a:spcAft>
              <a:buClr>
                <a:schemeClr val="accent1"/>
              </a:buClr>
              <a:buFont typeface="微软雅黑" panose="020B0503020204020204" charset="-122"/>
              <a:buChar char="−"/>
              <a:defRPr/>
            </a:pPr>
            <a:r>
              <a:rPr lang="zh-CN" altLang="en-US" sz="1200" dirty="0">
                <a:latin typeface="微软雅黑" panose="020B0503020204020204" charset="-122"/>
                <a:ea typeface="微软雅黑" panose="020B0503020204020204" charset="-122"/>
              </a:rPr>
              <a:t>定义订单响应周期、订单组织周期、订单发运周期、订单准时交付率</a:t>
            </a:r>
          </a:p>
        </p:txBody>
      </p:sp>
      <p:sp>
        <p:nvSpPr>
          <p:cNvPr id="15" name="矩形 81"/>
          <p:cNvSpPr>
            <a:spLocks noChangeArrowheads="1"/>
          </p:cNvSpPr>
          <p:nvPr/>
        </p:nvSpPr>
        <p:spPr bwMode="auto">
          <a:xfrm>
            <a:off x="320675" y="5572125"/>
            <a:ext cx="357188" cy="928688"/>
          </a:xfrm>
          <a:prstGeom prst="rect">
            <a:avLst/>
          </a:prstGeom>
          <a:solidFill>
            <a:srgbClr val="7889FB"/>
          </a:solidFill>
          <a:ln w="6350">
            <a:solidFill>
              <a:srgbClr val="7889FB"/>
            </a:solidFill>
            <a:miter lim="800000"/>
          </a:ln>
        </p:spPr>
        <p:txBody>
          <a:bodyPr anchor="ctr"/>
          <a:lstStyle/>
          <a:p>
            <a:pPr marL="117475" indent="-117475" algn="ctr">
              <a:buClr>
                <a:srgbClr val="000000"/>
              </a:buClr>
              <a:defRPr/>
            </a:pPr>
            <a:r>
              <a:rPr lang="zh-CN" altLang="en-US" sz="1400" b="1" kern="0" dirty="0">
                <a:solidFill>
                  <a:srgbClr val="FFFFFF"/>
                </a:solidFill>
                <a:latin typeface="微软雅黑" panose="020B0503020204020204" charset="-122"/>
                <a:ea typeface="微软雅黑" panose="020B0503020204020204" charset="-122"/>
              </a:rPr>
              <a:t>收</a:t>
            </a:r>
            <a:endParaRPr lang="en-US" altLang="zh-CN" sz="1400" b="1" kern="0" dirty="0">
              <a:solidFill>
                <a:srgbClr val="FFFFFF"/>
              </a:solidFill>
              <a:latin typeface="微软雅黑" panose="020B0503020204020204" charset="-122"/>
              <a:ea typeface="微软雅黑" panose="020B0503020204020204" charset="-122"/>
            </a:endParaRPr>
          </a:p>
          <a:p>
            <a:pPr marL="117475" indent="-117475" algn="ctr">
              <a:buClr>
                <a:srgbClr val="000000"/>
              </a:buClr>
              <a:defRPr/>
            </a:pPr>
            <a:r>
              <a:rPr lang="zh-CN" altLang="en-US" sz="1400" b="1" kern="0" dirty="0">
                <a:solidFill>
                  <a:srgbClr val="FFFFFF"/>
                </a:solidFill>
                <a:latin typeface="微软雅黑" panose="020B0503020204020204" charset="-122"/>
                <a:ea typeface="微软雅黑" panose="020B0503020204020204" charset="-122"/>
              </a:rPr>
              <a:t>益</a:t>
            </a:r>
          </a:p>
        </p:txBody>
      </p:sp>
      <p:sp>
        <p:nvSpPr>
          <p:cNvPr id="16" name="矩形 82"/>
          <p:cNvSpPr>
            <a:spLocks noChangeArrowheads="1"/>
          </p:cNvSpPr>
          <p:nvPr/>
        </p:nvSpPr>
        <p:spPr bwMode="auto">
          <a:xfrm>
            <a:off x="320675" y="1268760"/>
            <a:ext cx="1000125" cy="285750"/>
          </a:xfrm>
          <a:prstGeom prst="rect">
            <a:avLst/>
          </a:prstGeom>
          <a:solidFill>
            <a:srgbClr val="7889FB"/>
          </a:solidFill>
          <a:ln w="6350">
            <a:solidFill>
              <a:srgbClr val="7889FB"/>
            </a:solidFill>
            <a:miter lim="800000"/>
          </a:ln>
        </p:spPr>
        <p:txBody>
          <a:bodyPr anchor="ctr"/>
          <a:lstStyle/>
          <a:p>
            <a:pPr marL="117475" indent="-117475" algn="ctr">
              <a:buClr>
                <a:srgbClr val="000000"/>
              </a:buClr>
              <a:defRPr/>
            </a:pPr>
            <a:r>
              <a:rPr lang="zh-CN" altLang="en-US" sz="1400" b="1" kern="0">
                <a:solidFill>
                  <a:srgbClr val="FFFFFF"/>
                </a:solidFill>
                <a:latin typeface="微软雅黑" panose="020B0503020204020204" charset="-122"/>
                <a:ea typeface="微软雅黑" panose="020B0503020204020204" charset="-122"/>
              </a:rPr>
              <a:t>目标</a:t>
            </a:r>
          </a:p>
        </p:txBody>
      </p:sp>
      <p:sp>
        <p:nvSpPr>
          <p:cNvPr id="17" name="矩形 84"/>
          <p:cNvSpPr>
            <a:spLocks noChangeArrowheads="1"/>
          </p:cNvSpPr>
          <p:nvPr/>
        </p:nvSpPr>
        <p:spPr bwMode="auto">
          <a:xfrm>
            <a:off x="323850" y="2690366"/>
            <a:ext cx="8621713" cy="285750"/>
          </a:xfrm>
          <a:prstGeom prst="rect">
            <a:avLst/>
          </a:prstGeom>
          <a:solidFill>
            <a:srgbClr val="7889FB"/>
          </a:solidFill>
          <a:ln w="6350">
            <a:solidFill>
              <a:srgbClr val="7889FB"/>
            </a:solidFill>
            <a:miter lim="800000"/>
          </a:ln>
        </p:spPr>
        <p:txBody>
          <a:bodyPr anchor="ctr"/>
          <a:lstStyle/>
          <a:p>
            <a:pPr marL="117475" indent="-117475" algn="ctr">
              <a:buClr>
                <a:srgbClr val="000000"/>
              </a:buClr>
              <a:defRPr/>
            </a:pPr>
            <a:r>
              <a:rPr lang="zh-CN" altLang="en-US" sz="1400" b="1" kern="0">
                <a:solidFill>
                  <a:srgbClr val="FFFFFF"/>
                </a:solidFill>
                <a:latin typeface="微软雅黑" panose="020B0503020204020204" charset="-122"/>
                <a:ea typeface="微软雅黑" panose="020B0503020204020204" charset="-122"/>
              </a:rPr>
              <a:t>关键要点</a:t>
            </a:r>
          </a:p>
        </p:txBody>
      </p:sp>
      <p:sp>
        <p:nvSpPr>
          <p:cNvPr id="18" name="Rectangle 32"/>
          <p:cNvSpPr>
            <a:spLocks noChangeArrowheads="1"/>
          </p:cNvSpPr>
          <p:nvPr/>
        </p:nvSpPr>
        <p:spPr bwMode="auto">
          <a:xfrm>
            <a:off x="5004048" y="1421334"/>
            <a:ext cx="3941515" cy="1222995"/>
          </a:xfrm>
          <a:prstGeom prst="rect">
            <a:avLst/>
          </a:prstGeom>
          <a:noFill/>
          <a:ln w="9525">
            <a:solidFill>
              <a:schemeClr val="accent1"/>
            </a:solidFill>
            <a:miter lim="800000"/>
          </a:ln>
        </p:spPr>
        <p:txBody>
          <a:bodyPr/>
          <a:lstStyle/>
          <a:p>
            <a:pPr eaLnBrk="0" hangingPunct="0">
              <a:lnSpc>
                <a:spcPts val="1300"/>
              </a:lnSpc>
              <a:spcBef>
                <a:spcPct val="20000"/>
              </a:spcBef>
              <a:buClr>
                <a:srgbClr val="000000"/>
              </a:buClr>
              <a:defRPr/>
            </a:pPr>
            <a:endParaRPr lang="en-US" altLang="zh-CN" sz="1200" b="1" dirty="0">
              <a:solidFill>
                <a:srgbClr val="000000"/>
              </a:solidFill>
              <a:latin typeface="微软雅黑" panose="020B0503020204020204" charset="-122"/>
              <a:ea typeface="微软雅黑" panose="020B0503020204020204" charset="-122"/>
            </a:endParaRPr>
          </a:p>
          <a:p>
            <a:pPr eaLnBrk="0" hangingPunct="0">
              <a:lnSpc>
                <a:spcPts val="1300"/>
              </a:lnSpc>
              <a:spcBef>
                <a:spcPct val="20000"/>
              </a:spcBef>
              <a:buClr>
                <a:srgbClr val="000000"/>
              </a:buClr>
              <a:defRPr/>
            </a:pPr>
            <a:r>
              <a:rPr lang="zh-CN" altLang="en-US" sz="1200" dirty="0">
                <a:solidFill>
                  <a:srgbClr val="000000"/>
                </a:solidFill>
                <a:latin typeface="微软雅黑" panose="020B0503020204020204" charset="-122"/>
                <a:ea typeface="微软雅黑" panose="020B0503020204020204" charset="-122"/>
              </a:rPr>
              <a:t>x重机：                    </a:t>
            </a:r>
            <a:r>
              <a:rPr lang="en-US" altLang="zh-CN" sz="1200" dirty="0">
                <a:solidFill>
                  <a:srgbClr val="000000"/>
                </a:solidFill>
                <a:latin typeface="微软雅黑" panose="020B0503020204020204" charset="-122"/>
                <a:ea typeface="微软雅黑" panose="020B0503020204020204" charset="-122"/>
              </a:rPr>
              <a:t>x</a:t>
            </a:r>
            <a:r>
              <a:rPr lang="zh-CN" altLang="en-US" sz="1200" dirty="0">
                <a:solidFill>
                  <a:srgbClr val="000000"/>
                </a:solidFill>
                <a:latin typeface="微软雅黑" panose="020B0503020204020204" charset="-122"/>
                <a:ea typeface="微软雅黑" panose="020B0503020204020204" charset="-122"/>
              </a:rPr>
              <a:t>顾问：麦晓华</a:t>
            </a:r>
            <a:endParaRPr lang="en-US" altLang="zh-CN" sz="1200" dirty="0">
              <a:solidFill>
                <a:srgbClr val="000000"/>
              </a:solidFill>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营销组组长：王旭</a:t>
            </a:r>
            <a:endParaRPr lang="en-US" altLang="zh-CN" sz="1200" kern="0" dirty="0">
              <a:solidFill>
                <a:srgbClr val="000000"/>
              </a:solidFill>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国内营销业务责任人：刘仲</a:t>
            </a:r>
            <a:endParaRPr lang="en-US" altLang="zh-CN" sz="1200" kern="0" dirty="0">
              <a:solidFill>
                <a:srgbClr val="000000"/>
              </a:solidFill>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国际营销业务责任人：王旭</a:t>
            </a:r>
            <a:endParaRPr lang="en-US" altLang="zh-CN" sz="1200" kern="0" dirty="0">
              <a:solidFill>
                <a:srgbClr val="000000"/>
              </a:solidFill>
              <a:latin typeface="微软雅黑" panose="020B0503020204020204" charset="-122"/>
              <a:ea typeface="微软雅黑" panose="020B0503020204020204" charset="-122"/>
            </a:endParaRPr>
          </a:p>
        </p:txBody>
      </p:sp>
      <p:sp>
        <p:nvSpPr>
          <p:cNvPr id="19" name="矩形 83"/>
          <p:cNvSpPr>
            <a:spLocks noChangeArrowheads="1"/>
          </p:cNvSpPr>
          <p:nvPr/>
        </p:nvSpPr>
        <p:spPr bwMode="auto">
          <a:xfrm>
            <a:off x="5004048" y="1278459"/>
            <a:ext cx="1000125" cy="285750"/>
          </a:xfrm>
          <a:prstGeom prst="rect">
            <a:avLst/>
          </a:prstGeom>
          <a:solidFill>
            <a:srgbClr val="7889FB"/>
          </a:solidFill>
          <a:ln w="6350">
            <a:solidFill>
              <a:srgbClr val="7889FB"/>
            </a:solidFill>
            <a:miter lim="800000"/>
          </a:ln>
        </p:spPr>
        <p:txBody>
          <a:bodyPr anchor="ctr"/>
          <a:lstStyle/>
          <a:p>
            <a:pPr marL="117475" indent="-117475" algn="ctr">
              <a:buClr>
                <a:srgbClr val="000000"/>
              </a:buClr>
              <a:defRPr/>
            </a:pPr>
            <a:r>
              <a:rPr lang="zh-CN" altLang="en-US" sz="1400" b="1" kern="0" dirty="0">
                <a:solidFill>
                  <a:srgbClr val="FFFFFF"/>
                </a:solidFill>
                <a:latin typeface="微软雅黑" panose="020B0503020204020204" charset="-122"/>
                <a:ea typeface="微软雅黑" panose="020B0503020204020204" charset="-122"/>
              </a:rPr>
              <a:t>负责人</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dirty="0"/>
              <a:t>B. </a:t>
            </a:r>
            <a:r>
              <a:rPr lang="zh-CN" altLang="en-US" dirty="0"/>
              <a:t>订单全生命周期管理框架</a:t>
            </a:r>
          </a:p>
        </p:txBody>
      </p:sp>
      <p:sp>
        <p:nvSpPr>
          <p:cNvPr id="5" name="Rectangle 17"/>
          <p:cNvSpPr>
            <a:spLocks noChangeArrowheads="1"/>
          </p:cNvSpPr>
          <p:nvPr/>
        </p:nvSpPr>
        <p:spPr bwMode="auto">
          <a:xfrm>
            <a:off x="381772" y="2680848"/>
            <a:ext cx="1404000" cy="1874811"/>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182880" bIns="91440"/>
          <a:lstStyle/>
          <a:p>
            <a:pPr marL="119380" indent="-119380" algn="ctr">
              <a:spcBef>
                <a:spcPct val="20000"/>
              </a:spcBef>
              <a:defRPr/>
            </a:pPr>
            <a:r>
              <a:rPr lang="zh-CN" altLang="en-US"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订单提报</a:t>
            </a:r>
            <a:endParaRPr lang="en-US" altLang="zh-CN" b="1"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marR="0" lvl="0" indent="-119380" algn="l" defTabSz="914400" eaLnBrk="1" fontAlgn="auto" latinLnBrk="0" hangingPunct="1">
              <a:lnSpc>
                <a:spcPct val="100000"/>
              </a:lnSpc>
              <a:spcBef>
                <a:spcPct val="20000"/>
              </a:spcBef>
              <a:spcAft>
                <a:spcPts val="0"/>
              </a:spcAft>
              <a:buClrTx/>
              <a:buSzTx/>
              <a:buFontTx/>
              <a:buChar char="•"/>
              <a:defRPr/>
            </a:pPr>
            <a:endParaRPr kumimoji="0" lang="en-US" altLang="zh-CN" sz="12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endParaRPr>
          </a:p>
          <a:p>
            <a:pPr marL="119380" marR="0" lvl="0" indent="-119380" algn="l" defTabSz="914400" eaLnBrk="1" fontAlgn="auto" latinLnBrk="0" hangingPunct="1">
              <a:lnSpc>
                <a:spcPct val="100000"/>
              </a:lnSpc>
              <a:spcBef>
                <a:spcPct val="20000"/>
              </a:spcBef>
              <a:spcAft>
                <a:spcPts val="0"/>
              </a:spcAft>
              <a:buClrTx/>
              <a:buSzTx/>
              <a:buFontTx/>
              <a:buChar char="•"/>
              <a:defRPr/>
            </a:pPr>
            <a:r>
              <a:rPr kumimoji="0" lang="zh-CN" altLang="en-US" sz="12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rPr>
              <a:t>代理商按一定的规则提报订单</a:t>
            </a:r>
            <a:endParaRPr kumimoji="0" lang="en-US" altLang="zh-CN" sz="12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endParaRPr>
          </a:p>
          <a:p>
            <a:pPr marL="119380" marR="0" lvl="0" indent="-119380" algn="l" defTabSz="914400" eaLnBrk="1" fontAlgn="auto" latinLnBrk="0" hangingPunct="1">
              <a:lnSpc>
                <a:spcPct val="100000"/>
              </a:lnSpc>
              <a:spcBef>
                <a:spcPct val="20000"/>
              </a:spcBef>
              <a:spcAft>
                <a:spcPts val="0"/>
              </a:spcAft>
              <a:buClrTx/>
              <a:buSzTx/>
              <a:buFontTx/>
              <a:buChar char="•"/>
              <a:defRPr/>
            </a:pPr>
            <a:r>
              <a:rPr kumimoji="0" lang="zh-CN" altLang="en-US" sz="12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rPr>
              <a:t>营销公司实时管理订单的提报，催促提报</a:t>
            </a:r>
          </a:p>
        </p:txBody>
      </p:sp>
      <p:sp>
        <p:nvSpPr>
          <p:cNvPr id="6" name="Rectangle 18"/>
          <p:cNvSpPr>
            <a:spLocks noChangeArrowheads="1"/>
          </p:cNvSpPr>
          <p:nvPr/>
        </p:nvSpPr>
        <p:spPr bwMode="auto">
          <a:xfrm>
            <a:off x="2125850" y="2680848"/>
            <a:ext cx="1404000" cy="1874811"/>
          </a:xfrm>
          <a:prstGeom prst="rect">
            <a:avLst/>
          </a:prstGeom>
          <a:solidFill>
            <a:schemeClr val="accent1">
              <a:lumMod val="40000"/>
              <a:lumOff val="60000"/>
            </a:schemeClr>
          </a:solidFill>
          <a:ln w="6350" algn="ctr">
            <a:solidFill>
              <a:schemeClr val="tx1"/>
            </a:solidFill>
            <a:miter lim="800000"/>
          </a:ln>
          <a:effectLst>
            <a:outerShdw blurRad="50800" dist="38100" dir="2700000" algn="tl" rotWithShape="0">
              <a:prstClr val="black">
                <a:alpha val="40000"/>
              </a:prstClr>
            </a:outerShdw>
          </a:effectLst>
        </p:spPr>
        <p:txBody>
          <a:bodyPr tIns="182880" bIns="91440"/>
          <a:lstStyle/>
          <a:p>
            <a:pPr marR="0" lvl="0" algn="ctr" defTabSz="914400" eaLnBrk="1" fontAlgn="auto" latinLnBrk="0" hangingPunct="1">
              <a:lnSpc>
                <a:spcPct val="100000"/>
              </a:lnSpc>
              <a:spcBef>
                <a:spcPct val="20000"/>
              </a:spcBef>
              <a:spcAft>
                <a:spcPts val="0"/>
              </a:spcAft>
              <a:buClrTx/>
              <a:buSzTx/>
              <a:defRPr/>
            </a:pPr>
            <a:r>
              <a:rPr lang="zh-CN" altLang="en-US" b="1" kern="0" dirty="0">
                <a:solidFill>
                  <a:sysClr val="windowText" lastClr="000000"/>
                </a:solidFill>
                <a:latin typeface="微软雅黑" panose="020B0503020204020204" charset="-122"/>
                <a:ea typeface="微软雅黑" panose="020B0503020204020204" charset="-122"/>
                <a:cs typeface="Arial" panose="020B0604020202020204" pitchFamily="34" charset="0"/>
              </a:rPr>
              <a:t> 订单评审</a:t>
            </a:r>
            <a:endParaRPr lang="en-US" altLang="zh-CN" b="1"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根据规则评审订单（订单分类和优先级）</a:t>
            </a: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根据库存、产能和配件供应等答复交期</a:t>
            </a: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7" name="Rectangle 19"/>
          <p:cNvSpPr>
            <a:spLocks noChangeArrowheads="1"/>
          </p:cNvSpPr>
          <p:nvPr/>
        </p:nvSpPr>
        <p:spPr bwMode="auto">
          <a:xfrm>
            <a:off x="3869928" y="2680848"/>
            <a:ext cx="1404000" cy="1874811"/>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182880" bIns="91440"/>
          <a:lstStyle/>
          <a:p>
            <a:pPr algn="ctr">
              <a:spcBef>
                <a:spcPct val="20000"/>
              </a:spcBef>
              <a:defRPr/>
            </a:pPr>
            <a:r>
              <a:rPr lang="zh-CN" altLang="en-US"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订单锁定</a:t>
            </a:r>
            <a:endParaRPr lang="en-US" altLang="zh-CN" b="1"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根据周度</a:t>
            </a:r>
            <a:r>
              <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S&amp;OP</a:t>
            </a:r>
            <a:r>
              <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会议评审及锁定订单生产</a:t>
            </a: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订单的变更规则</a:t>
            </a:r>
          </a:p>
          <a:p>
            <a:pPr marL="119380" marR="0" lvl="0" indent="-119380" algn="l" defTabSz="914400" eaLnBrk="1" fontAlgn="auto" latinLnBrk="0" hangingPunct="1">
              <a:lnSpc>
                <a:spcPct val="100000"/>
              </a:lnSpc>
              <a:spcBef>
                <a:spcPts val="0"/>
              </a:spcBef>
              <a:spcAft>
                <a:spcPts val="0"/>
              </a:spcAft>
              <a:buClrTx/>
              <a:buSzTx/>
              <a:buFontTx/>
              <a:buChar char="•"/>
              <a:defRPr/>
            </a:pPr>
            <a:endParaRPr kumimoji="0" lang="zh-CN" altLang="en-US" sz="1200" b="0" i="0" u="none" strike="noStrike" kern="0" cap="none" spc="0" normalizeH="0" baseline="0" noProof="0" dirty="0">
              <a:ln>
                <a:noFill/>
              </a:ln>
              <a:solidFill>
                <a:sysClr val="windowText" lastClr="000000"/>
              </a:solidFill>
              <a:uLnTx/>
              <a:uFillTx/>
              <a:latin typeface="微软雅黑" panose="020B0503020204020204" charset="-122"/>
              <a:ea typeface="微软雅黑" panose="020B0503020204020204" charset="-122"/>
              <a:cs typeface="Arial" panose="020B0604020202020204" pitchFamily="34" charset="0"/>
            </a:endParaRPr>
          </a:p>
        </p:txBody>
      </p:sp>
      <p:sp>
        <p:nvSpPr>
          <p:cNvPr id="8" name="Rectangle 22"/>
          <p:cNvSpPr>
            <a:spLocks noChangeArrowheads="1"/>
          </p:cNvSpPr>
          <p:nvPr/>
        </p:nvSpPr>
        <p:spPr bwMode="auto">
          <a:xfrm>
            <a:off x="5614006" y="2680848"/>
            <a:ext cx="1404000" cy="1874811"/>
          </a:xfrm>
          <a:prstGeom prst="rect">
            <a:avLst/>
          </a:prstGeom>
          <a:solidFill>
            <a:schemeClr val="bg1">
              <a:lumMod val="95000"/>
            </a:schemeClr>
          </a:solidFill>
          <a:ln w="6350">
            <a:solidFill>
              <a:schemeClr val="tx1"/>
            </a:solidFill>
            <a:miter lim="800000"/>
          </a:ln>
          <a:effectLst>
            <a:outerShdw blurRad="50800" dist="38100" dir="2700000" algn="tl" rotWithShape="0">
              <a:prstClr val="black">
                <a:alpha val="40000"/>
              </a:prstClr>
            </a:outerShdw>
          </a:effectLst>
        </p:spPr>
        <p:txBody>
          <a:bodyPr tIns="182880" bIns="91440"/>
          <a:lstStyle/>
          <a:p>
            <a:pPr marR="0" lvl="0" algn="ctr" fontAlgn="auto">
              <a:lnSpc>
                <a:spcPct val="100000"/>
              </a:lnSpc>
              <a:spcBef>
                <a:spcPct val="20000"/>
              </a:spcBef>
              <a:spcAft>
                <a:spcPts val="0"/>
              </a:spcAft>
              <a:buClrTx/>
              <a:buSzTx/>
              <a:defRPr/>
            </a:pPr>
            <a:r>
              <a:rPr lang="zh-CN" altLang="en-US"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订单执行</a:t>
            </a:r>
            <a:endParaRPr lang="en-US" altLang="zh-CN" b="1"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生产部门按照确定生产计划执行生产</a:t>
            </a: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采购部门按照采购计划执行采购</a:t>
            </a: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endPar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9" name="Rectangle 17"/>
          <p:cNvSpPr>
            <a:spLocks noChangeArrowheads="1"/>
          </p:cNvSpPr>
          <p:nvPr/>
        </p:nvSpPr>
        <p:spPr bwMode="auto">
          <a:xfrm>
            <a:off x="381772" y="4649322"/>
            <a:ext cx="8388000" cy="452541"/>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72000" bIns="72000" anchor="ctr"/>
          <a:lstStyle/>
          <a:p>
            <a:pPr marL="119380" lvl="0" indent="-119380" algn="ctr">
              <a:spcBef>
                <a:spcPts val="430"/>
              </a:spcBef>
              <a:defRPr/>
            </a:pPr>
            <a:r>
              <a:rPr lang="zh-CN" altLang="en-US"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订单监控及可视</a:t>
            </a:r>
            <a:endParaRPr lang="zh-CN" altLang="en-US" sz="1600" b="1"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10" name="Right Arrow 31"/>
          <p:cNvSpPr/>
          <p:nvPr/>
        </p:nvSpPr>
        <p:spPr bwMode="auto">
          <a:xfrm>
            <a:off x="1811811" y="3456632"/>
            <a:ext cx="288000" cy="323243"/>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1" name="Right Arrow 32"/>
          <p:cNvSpPr/>
          <p:nvPr/>
        </p:nvSpPr>
        <p:spPr bwMode="auto">
          <a:xfrm>
            <a:off x="3555889" y="3456632"/>
            <a:ext cx="288000" cy="323243"/>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2" name="Right Arrow 33"/>
          <p:cNvSpPr/>
          <p:nvPr/>
        </p:nvSpPr>
        <p:spPr bwMode="auto">
          <a:xfrm>
            <a:off x="5299967" y="3456632"/>
            <a:ext cx="288000" cy="323243"/>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17" name="Rectangle 22"/>
          <p:cNvSpPr>
            <a:spLocks noChangeArrowheads="1"/>
          </p:cNvSpPr>
          <p:nvPr/>
        </p:nvSpPr>
        <p:spPr bwMode="auto">
          <a:xfrm>
            <a:off x="7358082" y="2680848"/>
            <a:ext cx="1404000" cy="1874811"/>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182880" bIns="91440"/>
          <a:lstStyle/>
          <a:p>
            <a:pPr marR="0" lvl="0" algn="ctr" fontAlgn="auto">
              <a:lnSpc>
                <a:spcPct val="100000"/>
              </a:lnSpc>
              <a:spcBef>
                <a:spcPct val="20000"/>
              </a:spcBef>
              <a:spcAft>
                <a:spcPts val="0"/>
              </a:spcAft>
              <a:buClrTx/>
              <a:buSzTx/>
              <a:defRPr/>
            </a:pPr>
            <a:r>
              <a:rPr lang="zh-CN" altLang="en-US"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订单交付</a:t>
            </a:r>
            <a:endParaRPr lang="en-US" altLang="zh-CN" b="1"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endParaRPr lang="en-US" altLang="zh-CN" sz="12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119380" lvl="0" indent="-119380">
              <a:spcBef>
                <a:spcPct val="20000"/>
              </a:spcBef>
              <a:buFontTx/>
              <a:buChar char="•"/>
              <a:defRPr/>
            </a:pPr>
            <a:r>
              <a:rPr lang="zh-CN" altLang="en-US" sz="1200" kern="0" dirty="0">
                <a:solidFill>
                  <a:sysClr val="windowText" lastClr="000000"/>
                </a:solidFill>
                <a:latin typeface="微软雅黑" panose="020B0503020204020204" charset="-122"/>
                <a:ea typeface="微软雅黑" panose="020B0503020204020204" charset="-122"/>
                <a:cs typeface="Arial" panose="020B0604020202020204" pitchFamily="34" charset="0"/>
              </a:rPr>
              <a:t>生产下线入库后将主机交付给代理商 </a:t>
            </a:r>
          </a:p>
        </p:txBody>
      </p:sp>
      <p:sp>
        <p:nvSpPr>
          <p:cNvPr id="18" name="Rectangle 17"/>
          <p:cNvSpPr>
            <a:spLocks noChangeArrowheads="1"/>
          </p:cNvSpPr>
          <p:nvPr/>
        </p:nvSpPr>
        <p:spPr bwMode="auto">
          <a:xfrm>
            <a:off x="428596" y="1571612"/>
            <a:ext cx="8316000" cy="384864"/>
          </a:xfrm>
          <a:prstGeom prst="rect">
            <a:avLst/>
          </a:prstGeom>
          <a:noFill/>
          <a:ln w="6350">
            <a:noFill/>
            <a:miter lim="800000"/>
          </a:ln>
          <a:effectLst/>
        </p:spPr>
        <p:txBody>
          <a:bodyPr tIns="182880" bIns="91440" anchor="ctr"/>
          <a:lstStyle/>
          <a:p>
            <a:pPr marL="119380" lvl="0" indent="-119380" algn="ctr">
              <a:spcBef>
                <a:spcPts val="430"/>
              </a:spcBef>
              <a:defRPr/>
            </a:pPr>
            <a:r>
              <a:rPr lang="zh-CN" altLang="en-US" sz="1600" b="1" kern="0" dirty="0">
                <a:solidFill>
                  <a:srgbClr val="3366FF"/>
                </a:solidFill>
                <a:latin typeface="微软雅黑" panose="020B0503020204020204" charset="-122"/>
                <a:ea typeface="微软雅黑" panose="020B0503020204020204" charset="-122"/>
                <a:cs typeface="Arial" panose="020B0604020202020204" pitchFamily="34" charset="0"/>
              </a:rPr>
              <a:t>订单全生命周期管理框架</a:t>
            </a:r>
          </a:p>
        </p:txBody>
      </p:sp>
      <p:sp>
        <p:nvSpPr>
          <p:cNvPr id="19" name="Right Arrow 33"/>
          <p:cNvSpPr/>
          <p:nvPr/>
        </p:nvSpPr>
        <p:spPr bwMode="auto">
          <a:xfrm>
            <a:off x="7044045" y="3456632"/>
            <a:ext cx="288000" cy="323243"/>
          </a:xfrm>
          <a:prstGeom prst="rightArrow">
            <a:avLst/>
          </a:prstGeom>
          <a:solidFill>
            <a:schemeClr val="accent1"/>
          </a:solidFill>
          <a:ln w="6350">
            <a:noFill/>
            <a:miter lim="800000"/>
          </a:ln>
          <a:effectLst>
            <a:outerShdw blurRad="50800" dist="38100" dir="2700000" algn="tl" rotWithShape="0">
              <a:prstClr val="black">
                <a:alpha val="40000"/>
              </a:prstClr>
            </a:outerShdw>
          </a:effectLst>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20" name="Rectangle 17"/>
          <p:cNvSpPr>
            <a:spLocks noChangeArrowheads="1"/>
          </p:cNvSpPr>
          <p:nvPr/>
        </p:nvSpPr>
        <p:spPr bwMode="auto">
          <a:xfrm>
            <a:off x="398842" y="2042223"/>
            <a:ext cx="8388000" cy="452541"/>
          </a:xfrm>
          <a:prstGeom prst="rect">
            <a:avLst/>
          </a:prstGeom>
          <a:solidFill>
            <a:schemeClr val="accent1">
              <a:lumMod val="40000"/>
              <a:lumOff val="60000"/>
            </a:schemeClr>
          </a:solidFill>
          <a:ln w="6350">
            <a:solidFill>
              <a:schemeClr val="tx1"/>
            </a:solidFill>
            <a:miter lim="800000"/>
          </a:ln>
          <a:effectLst>
            <a:outerShdw blurRad="50800" dist="38100" dir="2700000" algn="tl" rotWithShape="0">
              <a:prstClr val="black">
                <a:alpha val="40000"/>
              </a:prstClr>
            </a:outerShdw>
          </a:effectLst>
        </p:spPr>
        <p:txBody>
          <a:bodyPr tIns="72000" bIns="72000" anchor="ctr"/>
          <a:lstStyle/>
          <a:p>
            <a:pPr marL="119380" indent="-119380" algn="ctr">
              <a:spcBef>
                <a:spcPts val="430"/>
              </a:spcBef>
              <a:defRPr/>
            </a:pPr>
            <a:r>
              <a:rPr lang="zh-CN" altLang="en-US" b="1" kern="0" dirty="0">
                <a:solidFill>
                  <a:sysClr val="windowText" lastClr="000000"/>
                </a:solidFill>
                <a:latin typeface="微软雅黑" panose="020B0503020204020204" charset="-122"/>
                <a:ea typeface="微软雅黑" panose="020B0503020204020204" charset="-122"/>
                <a:cs typeface="Arial" panose="020B0604020202020204" pitchFamily="34" charset="0"/>
              </a:rPr>
              <a:t>订单管理策略</a:t>
            </a:r>
          </a:p>
        </p:txBody>
      </p:sp>
      <p:sp>
        <p:nvSpPr>
          <p:cNvPr id="23" name="线形标注 1 22"/>
          <p:cNvSpPr/>
          <p:nvPr/>
        </p:nvSpPr>
        <p:spPr bwMode="auto">
          <a:xfrm>
            <a:off x="714348" y="1317364"/>
            <a:ext cx="1571636" cy="484865"/>
          </a:xfrm>
          <a:prstGeom prst="borderCallout1">
            <a:avLst>
              <a:gd name="adj1" fmla="val 96083"/>
              <a:gd name="adj2" fmla="val 49490"/>
              <a:gd name="adj3" fmla="val 189814"/>
              <a:gd name="adj4" fmla="val 98141"/>
            </a:avLst>
          </a:prstGeom>
          <a:noFill/>
          <a:ln w="19050" cap="flat" cmpd="sng" algn="ctr">
            <a:solidFill>
              <a:srgbClr val="C00000"/>
            </a:solidFill>
            <a:prstDash val="solid"/>
            <a:round/>
            <a:headEnd type="none" w="med" len="med"/>
            <a:tailEnd type="none"/>
          </a:ln>
          <a:effectLst/>
        </p:spPr>
        <p:txBody>
          <a:bodyPr lIns="36000" rIns="36000" rtlCol="0" anchor="ctr"/>
          <a:lstStyle/>
          <a:p>
            <a:pPr algn="ctr"/>
            <a:r>
              <a:rPr lang="zh-CN" altLang="en-US" sz="1400" b="1" dirty="0">
                <a:latin typeface="微软雅黑" panose="020B0503020204020204" charset="-122"/>
                <a:ea typeface="微软雅黑" panose="020B0503020204020204" charset="-122"/>
              </a:rPr>
              <a:t>订单管理策略</a:t>
            </a:r>
          </a:p>
        </p:txBody>
      </p:sp>
      <p:sp>
        <p:nvSpPr>
          <p:cNvPr id="24" name="线形标注 1 23"/>
          <p:cNvSpPr/>
          <p:nvPr/>
        </p:nvSpPr>
        <p:spPr bwMode="auto">
          <a:xfrm>
            <a:off x="6858016" y="1317364"/>
            <a:ext cx="1571636" cy="484865"/>
          </a:xfrm>
          <a:prstGeom prst="borderCallout1">
            <a:avLst>
              <a:gd name="adj1" fmla="val 101417"/>
              <a:gd name="adj2" fmla="val 50298"/>
              <a:gd name="adj3" fmla="val 315165"/>
              <a:gd name="adj4" fmla="val -230745"/>
            </a:avLst>
          </a:prstGeom>
          <a:noFill/>
          <a:ln w="19050" cap="flat" cmpd="sng" algn="ctr">
            <a:solidFill>
              <a:srgbClr val="C00000"/>
            </a:solidFill>
            <a:prstDash val="solid"/>
            <a:round/>
            <a:headEnd type="none" w="med" len="med"/>
            <a:tailEnd type="none"/>
          </a:ln>
          <a:effectLst/>
        </p:spPr>
        <p:txBody>
          <a:bodyPr lIns="36000" rIns="36000" rtlCol="0" anchor="ctr"/>
          <a:lstStyle/>
          <a:p>
            <a:pPr algn="ctr"/>
            <a:r>
              <a:rPr lang="zh-CN" altLang="en-US" sz="1400" b="1" dirty="0">
                <a:latin typeface="微软雅黑" panose="020B0503020204020204" charset="-122"/>
                <a:ea typeface="微软雅黑" panose="020B0503020204020204" charset="-122"/>
              </a:rPr>
              <a:t>订单分类和优先级</a:t>
            </a:r>
          </a:p>
        </p:txBody>
      </p:sp>
      <p:sp>
        <p:nvSpPr>
          <p:cNvPr id="25" name="线形标注 1 24"/>
          <p:cNvSpPr/>
          <p:nvPr/>
        </p:nvSpPr>
        <p:spPr bwMode="auto">
          <a:xfrm>
            <a:off x="714348" y="5230151"/>
            <a:ext cx="1571636" cy="484865"/>
          </a:xfrm>
          <a:prstGeom prst="borderCallout1">
            <a:avLst>
              <a:gd name="adj1" fmla="val -7027"/>
              <a:gd name="adj2" fmla="val 19591"/>
              <a:gd name="adj3" fmla="val -166276"/>
              <a:gd name="adj4" fmla="val 108647"/>
            </a:avLst>
          </a:prstGeom>
          <a:noFill/>
          <a:ln w="19050" cap="flat" cmpd="sng" algn="ctr">
            <a:solidFill>
              <a:srgbClr val="C00000"/>
            </a:solidFill>
            <a:prstDash val="solid"/>
            <a:round/>
            <a:headEnd type="none" w="med" len="med"/>
            <a:tailEnd type="none"/>
          </a:ln>
          <a:effectLst/>
        </p:spPr>
        <p:txBody>
          <a:bodyPr lIns="36000" rIns="36000" rtlCol="0" anchor="ctr"/>
          <a:lstStyle/>
          <a:p>
            <a:pPr algn="ctr"/>
            <a:r>
              <a:rPr lang="zh-CN" altLang="en-US" sz="1400" b="1" dirty="0">
                <a:latin typeface="微软雅黑" panose="020B0503020204020204" charset="-122"/>
                <a:ea typeface="微软雅黑" panose="020B0503020204020204" charset="-122"/>
              </a:rPr>
              <a:t>订单交期</a:t>
            </a:r>
          </a:p>
        </p:txBody>
      </p:sp>
      <p:sp>
        <p:nvSpPr>
          <p:cNvPr id="26" name="线形标注 1 25"/>
          <p:cNvSpPr/>
          <p:nvPr/>
        </p:nvSpPr>
        <p:spPr bwMode="auto">
          <a:xfrm>
            <a:off x="6858016" y="5230151"/>
            <a:ext cx="1571636" cy="484865"/>
          </a:xfrm>
          <a:prstGeom prst="borderCallout1">
            <a:avLst>
              <a:gd name="adj1" fmla="val -7027"/>
              <a:gd name="adj2" fmla="val 19591"/>
              <a:gd name="adj3" fmla="val -67056"/>
              <a:gd name="adj4" fmla="val -6101"/>
            </a:avLst>
          </a:prstGeom>
          <a:noFill/>
          <a:ln w="19050" cap="flat" cmpd="sng" algn="ctr">
            <a:solidFill>
              <a:srgbClr val="C00000"/>
            </a:solidFill>
            <a:prstDash val="solid"/>
            <a:round/>
            <a:headEnd type="none" w="med" len="med"/>
            <a:tailEnd type="none"/>
          </a:ln>
          <a:effectLst/>
        </p:spPr>
        <p:txBody>
          <a:bodyPr lIns="36000" rIns="36000" rtlCol="0" anchor="ctr"/>
          <a:lstStyle/>
          <a:p>
            <a:pPr algn="ctr"/>
            <a:r>
              <a:rPr lang="zh-CN" altLang="en-US" sz="1400" b="1" dirty="0">
                <a:latin typeface="微软雅黑" panose="020B0503020204020204" charset="-122"/>
                <a:ea typeface="微软雅黑" panose="020B0503020204020204" charset="-122"/>
              </a:rPr>
              <a:t>订单可视化</a:t>
            </a:r>
          </a:p>
        </p:txBody>
      </p:sp>
      <p:sp>
        <p:nvSpPr>
          <p:cNvPr id="28" name="TextBox 27"/>
          <p:cNvSpPr txBox="1"/>
          <p:nvPr/>
        </p:nvSpPr>
        <p:spPr bwMode="auto">
          <a:xfrm>
            <a:off x="285720" y="6050181"/>
            <a:ext cx="8429684" cy="338554"/>
          </a:xfrm>
          <a:prstGeom prst="rect">
            <a:avLst/>
          </a:prstGeom>
          <a:noFill/>
          <a:ln>
            <a:noFill/>
          </a:ln>
        </p:spPr>
        <p:txBody>
          <a:bodyPr wrap="square" rtlCol="0">
            <a:spAutoFit/>
          </a:bodyPr>
          <a:lstStyle/>
          <a:p>
            <a:pPr marL="119380" indent="-119380" algn="ctr">
              <a:spcBef>
                <a:spcPts val="430"/>
              </a:spcBef>
              <a:defRPr/>
            </a:pPr>
            <a:r>
              <a:rPr lang="zh-CN" altLang="en-US" sz="1600" b="1" kern="0" dirty="0">
                <a:solidFill>
                  <a:srgbClr val="3366FF"/>
                </a:solidFill>
                <a:latin typeface="微软雅黑" panose="020B0503020204020204" charset="-122"/>
                <a:ea typeface="微软雅黑" panose="020B0503020204020204" charset="-122"/>
                <a:cs typeface="Arial" panose="020B0604020202020204" pitchFamily="34" charset="0"/>
              </a:rPr>
              <a:t>严肃的订单执行、准确的订单承诺，透明的订单状态</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B-1. </a:t>
            </a:r>
            <a:r>
              <a:rPr lang="zh-CN" altLang="en-US" dirty="0"/>
              <a:t>订单管理策略（以某汽车企业订单管理机制为例）</a:t>
            </a:r>
          </a:p>
        </p:txBody>
      </p:sp>
      <p:grpSp>
        <p:nvGrpSpPr>
          <p:cNvPr id="3" name="组合 73"/>
          <p:cNvGrpSpPr/>
          <p:nvPr/>
        </p:nvGrpSpPr>
        <p:grpSpPr>
          <a:xfrm>
            <a:off x="214282" y="2143116"/>
            <a:ext cx="8689422" cy="4214842"/>
            <a:chOff x="214282" y="2571744"/>
            <a:chExt cx="8689422" cy="3786214"/>
          </a:xfrm>
        </p:grpSpPr>
        <p:sp>
          <p:nvSpPr>
            <p:cNvPr id="30" name="Rectangle 62"/>
            <p:cNvSpPr/>
            <p:nvPr/>
          </p:nvSpPr>
          <p:spPr>
            <a:xfrm>
              <a:off x="1819123" y="3819404"/>
              <a:ext cx="655161"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代理商提报订单</a:t>
              </a:r>
              <a:endParaRPr lang="en-US" altLang="zh-CN" sz="1000" dirty="0">
                <a:solidFill>
                  <a:srgbClr val="060B00"/>
                </a:solidFill>
                <a:latin typeface="微软雅黑" panose="020B0503020204020204" charset="-122"/>
                <a:ea typeface="微软雅黑" panose="020B0503020204020204" charset="-122"/>
              </a:endParaRPr>
            </a:p>
          </p:txBody>
        </p:sp>
        <p:grpSp>
          <p:nvGrpSpPr>
            <p:cNvPr id="4" name="组合 30"/>
            <p:cNvGrpSpPr/>
            <p:nvPr/>
          </p:nvGrpSpPr>
          <p:grpSpPr>
            <a:xfrm>
              <a:off x="1357290" y="2571744"/>
              <a:ext cx="7546414" cy="491662"/>
              <a:chOff x="597487" y="1318178"/>
              <a:chExt cx="3758682" cy="356350"/>
            </a:xfrm>
          </p:grpSpPr>
          <p:sp>
            <p:nvSpPr>
              <p:cNvPr id="32" name="Rectangle 25"/>
              <p:cNvSpPr/>
              <p:nvPr/>
            </p:nvSpPr>
            <p:spPr bwMode="auto">
              <a:xfrm>
                <a:off x="3281674" y="1475939"/>
                <a:ext cx="269646" cy="198589"/>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四</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33" name="Rectangle 27"/>
              <p:cNvSpPr/>
              <p:nvPr/>
            </p:nvSpPr>
            <p:spPr bwMode="auto">
              <a:xfrm>
                <a:off x="3818240" y="1475939"/>
                <a:ext cx="269646" cy="198589"/>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FFFFFF"/>
                    </a:solidFill>
                    <a:latin typeface="微软雅黑" panose="020B0503020204020204" charset="-122"/>
                    <a:ea typeface="微软雅黑" panose="020B0503020204020204" charset="-122"/>
                    <a:cs typeface="Helvetica" pitchFamily="34" charset="0"/>
                  </a:rPr>
                  <a:t>六</a:t>
                </a:r>
                <a:endParaRPr lang="en-US" sz="1000" i="1" kern="0" dirty="0">
                  <a:solidFill>
                    <a:srgbClr val="FFFFFF"/>
                  </a:solidFill>
                  <a:latin typeface="微软雅黑" panose="020B0503020204020204" charset="-122"/>
                  <a:ea typeface="微软雅黑" panose="020B0503020204020204" charset="-122"/>
                  <a:cs typeface="Helvetica" pitchFamily="34" charset="0"/>
                </a:endParaRPr>
              </a:p>
            </p:txBody>
          </p:sp>
          <p:sp>
            <p:nvSpPr>
              <p:cNvPr id="34" name="Rectangle 28"/>
              <p:cNvSpPr/>
              <p:nvPr/>
            </p:nvSpPr>
            <p:spPr bwMode="auto">
              <a:xfrm>
                <a:off x="4086523" y="1475939"/>
                <a:ext cx="269646" cy="198589"/>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FFFFFF"/>
                    </a:solidFill>
                    <a:latin typeface="微软雅黑" panose="020B0503020204020204" charset="-122"/>
                    <a:ea typeface="微软雅黑" panose="020B0503020204020204" charset="-122"/>
                    <a:cs typeface="Helvetica" pitchFamily="34" charset="0"/>
                  </a:rPr>
                  <a:t>日</a:t>
                </a:r>
                <a:endParaRPr lang="en-US" sz="1000" i="1" kern="0" dirty="0">
                  <a:solidFill>
                    <a:srgbClr val="FFFFFF"/>
                  </a:solidFill>
                  <a:latin typeface="微软雅黑" panose="020B0503020204020204" charset="-122"/>
                  <a:ea typeface="微软雅黑" panose="020B0503020204020204" charset="-122"/>
                  <a:cs typeface="Helvetica" pitchFamily="34" charset="0"/>
                </a:endParaRPr>
              </a:p>
            </p:txBody>
          </p:sp>
          <p:sp>
            <p:nvSpPr>
              <p:cNvPr id="35" name="Rectangle 29"/>
              <p:cNvSpPr/>
              <p:nvPr/>
            </p:nvSpPr>
            <p:spPr bwMode="auto">
              <a:xfrm>
                <a:off x="2476828" y="1475939"/>
                <a:ext cx="269646" cy="198589"/>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一</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36" name="Rectangle 30"/>
              <p:cNvSpPr/>
              <p:nvPr/>
            </p:nvSpPr>
            <p:spPr bwMode="auto">
              <a:xfrm>
                <a:off x="2745110" y="1475939"/>
                <a:ext cx="269646" cy="198589"/>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二</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37" name="Rectangle 31"/>
              <p:cNvSpPr/>
              <p:nvPr/>
            </p:nvSpPr>
            <p:spPr bwMode="auto">
              <a:xfrm>
                <a:off x="3013393" y="1475939"/>
                <a:ext cx="269646" cy="198589"/>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三</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38" name="Rectangle 36"/>
              <p:cNvSpPr/>
              <p:nvPr/>
            </p:nvSpPr>
            <p:spPr>
              <a:xfrm>
                <a:off x="2476828" y="1318178"/>
                <a:ext cx="1879341" cy="156526"/>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200" i="1" kern="0" dirty="0">
                    <a:solidFill>
                      <a:srgbClr val="4D4D4D"/>
                    </a:solidFill>
                    <a:latin typeface="微软雅黑" panose="020B0503020204020204" charset="-122"/>
                    <a:ea typeface="微软雅黑" panose="020B0503020204020204" charset="-122"/>
                    <a:cs typeface="Helvetica" pitchFamily="34" charset="0"/>
                  </a:rPr>
                  <a:t>第</a:t>
                </a:r>
                <a:r>
                  <a:rPr lang="en-US" altLang="zh-CN" sz="1200" i="1" kern="0" dirty="0">
                    <a:solidFill>
                      <a:srgbClr val="4D4D4D"/>
                    </a:solidFill>
                    <a:latin typeface="微软雅黑" panose="020B0503020204020204" charset="-122"/>
                    <a:ea typeface="微软雅黑" panose="020B0503020204020204" charset="-122"/>
                    <a:cs typeface="Helvetica" pitchFamily="34" charset="0"/>
                  </a:rPr>
                  <a:t>2</a:t>
                </a:r>
                <a:r>
                  <a:rPr lang="zh-CN" altLang="en-US" sz="1200" i="1" kern="0" dirty="0">
                    <a:solidFill>
                      <a:srgbClr val="4D4D4D"/>
                    </a:solidFill>
                    <a:latin typeface="微软雅黑" panose="020B0503020204020204" charset="-122"/>
                    <a:ea typeface="微软雅黑" panose="020B0503020204020204" charset="-122"/>
                    <a:cs typeface="Helvetica" pitchFamily="34" charset="0"/>
                  </a:rPr>
                  <a:t>周</a:t>
                </a:r>
                <a:endParaRPr lang="en-US" sz="12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39" name="Rectangle 38"/>
              <p:cNvSpPr/>
              <p:nvPr/>
            </p:nvSpPr>
            <p:spPr bwMode="auto">
              <a:xfrm>
                <a:off x="3549958" y="1475939"/>
                <a:ext cx="269646" cy="198589"/>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五</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grpSp>
            <p:nvGrpSpPr>
              <p:cNvPr id="5" name="组合 252"/>
              <p:cNvGrpSpPr/>
              <p:nvPr/>
            </p:nvGrpSpPr>
            <p:grpSpPr>
              <a:xfrm>
                <a:off x="597488" y="1318187"/>
                <a:ext cx="1879339" cy="356351"/>
                <a:chOff x="608593" y="3671210"/>
                <a:chExt cx="1805753" cy="432992"/>
              </a:xfrm>
            </p:grpSpPr>
            <p:sp>
              <p:nvSpPr>
                <p:cNvPr id="41" name="Rectangle 25"/>
                <p:cNvSpPr/>
                <p:nvPr/>
              </p:nvSpPr>
              <p:spPr bwMode="auto">
                <a:xfrm>
                  <a:off x="1381925" y="3862902"/>
                  <a:ext cx="259087"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四</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42" name="Rectangle 27"/>
                <p:cNvSpPr/>
                <p:nvPr/>
              </p:nvSpPr>
              <p:spPr bwMode="auto">
                <a:xfrm>
                  <a:off x="1897480" y="3862902"/>
                  <a:ext cx="259087" cy="241300"/>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FFFFFF"/>
                      </a:solidFill>
                      <a:latin typeface="微软雅黑" panose="020B0503020204020204" charset="-122"/>
                      <a:ea typeface="微软雅黑" panose="020B0503020204020204" charset="-122"/>
                      <a:cs typeface="Helvetica" pitchFamily="34" charset="0"/>
                    </a:rPr>
                    <a:t>六</a:t>
                  </a:r>
                  <a:endParaRPr lang="en-US" sz="1000" i="1" kern="0" dirty="0">
                    <a:solidFill>
                      <a:srgbClr val="FFFFFF"/>
                    </a:solidFill>
                    <a:latin typeface="微软雅黑" panose="020B0503020204020204" charset="-122"/>
                    <a:ea typeface="微软雅黑" panose="020B0503020204020204" charset="-122"/>
                    <a:cs typeface="Helvetica" pitchFamily="34" charset="0"/>
                  </a:endParaRPr>
                </a:p>
              </p:txBody>
            </p:sp>
            <p:sp>
              <p:nvSpPr>
                <p:cNvPr id="43" name="Rectangle 28"/>
                <p:cNvSpPr/>
                <p:nvPr/>
              </p:nvSpPr>
              <p:spPr bwMode="auto">
                <a:xfrm>
                  <a:off x="2155259" y="3862902"/>
                  <a:ext cx="259087" cy="241300"/>
                </a:xfrm>
                <a:prstGeom prst="rect">
                  <a:avLst/>
                </a:prstGeom>
                <a:solidFill>
                  <a:srgbClr val="FFFFFF">
                    <a:lumMod val="5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FFFFFF"/>
                      </a:solidFill>
                      <a:latin typeface="微软雅黑" panose="020B0503020204020204" charset="-122"/>
                      <a:ea typeface="微软雅黑" panose="020B0503020204020204" charset="-122"/>
                      <a:cs typeface="Helvetica" pitchFamily="34" charset="0"/>
                    </a:rPr>
                    <a:t>日</a:t>
                  </a:r>
                  <a:endParaRPr lang="en-US" sz="1000" i="1" kern="0" dirty="0">
                    <a:solidFill>
                      <a:srgbClr val="FFFFFF"/>
                    </a:solidFill>
                    <a:latin typeface="微软雅黑" panose="020B0503020204020204" charset="-122"/>
                    <a:ea typeface="微软雅黑" panose="020B0503020204020204" charset="-122"/>
                    <a:cs typeface="Helvetica" pitchFamily="34" charset="0"/>
                  </a:endParaRPr>
                </a:p>
              </p:txBody>
            </p:sp>
            <p:sp>
              <p:nvSpPr>
                <p:cNvPr id="44" name="Rectangle 29"/>
                <p:cNvSpPr/>
                <p:nvPr/>
              </p:nvSpPr>
              <p:spPr bwMode="auto">
                <a:xfrm>
                  <a:off x="608593" y="3862902"/>
                  <a:ext cx="259087"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一</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45" name="Rectangle 30"/>
                <p:cNvSpPr/>
                <p:nvPr/>
              </p:nvSpPr>
              <p:spPr bwMode="auto">
                <a:xfrm>
                  <a:off x="866370" y="3862902"/>
                  <a:ext cx="259087"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二</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46" name="Rectangle 31"/>
                <p:cNvSpPr/>
                <p:nvPr/>
              </p:nvSpPr>
              <p:spPr bwMode="auto">
                <a:xfrm>
                  <a:off x="1124148" y="3862902"/>
                  <a:ext cx="259087"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三</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47" name="Rectangle 36"/>
                <p:cNvSpPr/>
                <p:nvPr/>
              </p:nvSpPr>
              <p:spPr>
                <a:xfrm>
                  <a:off x="608593" y="3671210"/>
                  <a:ext cx="1805753" cy="190191"/>
                </a:xfrm>
                <a:prstGeom prst="rect">
                  <a:avLst/>
                </a:prstGeom>
                <a:solidFill>
                  <a:srgbClr val="FFFFFF"/>
                </a:solidFill>
                <a:ln w="12700" cap="flat" cmpd="sng" algn="ctr">
                  <a:solidFill>
                    <a:srgbClr val="939394">
                      <a:lumMod val="60000"/>
                      <a:lumOff val="40000"/>
                    </a:srgbClr>
                  </a:solidFill>
                  <a:prstDash val="solid"/>
                </a:ln>
                <a:effectLst/>
              </p:spPr>
              <p:txBody>
                <a:bodyPr lIns="0" tIns="36000" rIns="0" bIns="36000" anchor="ctr"/>
                <a:lstStyle/>
                <a:p>
                  <a:pPr algn="ctr">
                    <a:buFontTx/>
                    <a:buNone/>
                    <a:defRPr/>
                  </a:pPr>
                  <a:r>
                    <a:rPr lang="zh-CN" altLang="en-US" sz="1200" i="1" kern="0" dirty="0">
                      <a:solidFill>
                        <a:srgbClr val="4D4D4D"/>
                      </a:solidFill>
                      <a:latin typeface="微软雅黑" panose="020B0503020204020204" charset="-122"/>
                      <a:ea typeface="微软雅黑" panose="020B0503020204020204" charset="-122"/>
                      <a:cs typeface="Helvetica" pitchFamily="34" charset="0"/>
                    </a:rPr>
                    <a:t>第</a:t>
                  </a:r>
                  <a:r>
                    <a:rPr lang="en-US" altLang="zh-CN" sz="1200" i="1" kern="0" dirty="0">
                      <a:solidFill>
                        <a:srgbClr val="4D4D4D"/>
                      </a:solidFill>
                      <a:latin typeface="微软雅黑" panose="020B0503020204020204" charset="-122"/>
                      <a:ea typeface="微软雅黑" panose="020B0503020204020204" charset="-122"/>
                      <a:cs typeface="Helvetica" pitchFamily="34" charset="0"/>
                    </a:rPr>
                    <a:t>1</a:t>
                  </a:r>
                  <a:r>
                    <a:rPr lang="zh-CN" altLang="en-US" sz="1200" i="1" kern="0" dirty="0">
                      <a:solidFill>
                        <a:srgbClr val="4D4D4D"/>
                      </a:solidFill>
                      <a:latin typeface="微软雅黑" panose="020B0503020204020204" charset="-122"/>
                      <a:ea typeface="微软雅黑" panose="020B0503020204020204" charset="-122"/>
                      <a:cs typeface="Helvetica" pitchFamily="34" charset="0"/>
                    </a:rPr>
                    <a:t>周</a:t>
                  </a:r>
                  <a:endParaRPr lang="en-US" sz="1200" i="1" kern="0" dirty="0">
                    <a:solidFill>
                      <a:srgbClr val="4D4D4D"/>
                    </a:solidFill>
                    <a:latin typeface="微软雅黑" panose="020B0503020204020204" charset="-122"/>
                    <a:ea typeface="微软雅黑" panose="020B0503020204020204" charset="-122"/>
                    <a:cs typeface="Helvetica" pitchFamily="34" charset="0"/>
                  </a:endParaRPr>
                </a:p>
              </p:txBody>
            </p:sp>
            <p:sp>
              <p:nvSpPr>
                <p:cNvPr id="48" name="Rectangle 38"/>
                <p:cNvSpPr/>
                <p:nvPr/>
              </p:nvSpPr>
              <p:spPr bwMode="auto">
                <a:xfrm>
                  <a:off x="1639703" y="3862902"/>
                  <a:ext cx="259087" cy="241300"/>
                </a:xfrm>
                <a:prstGeom prst="rect">
                  <a:avLst/>
                </a:prstGeom>
                <a:solidFill>
                  <a:srgbClr val="939394">
                    <a:lumMod val="20000"/>
                    <a:lumOff val="80000"/>
                  </a:srgbClr>
                </a:solidFill>
                <a:ln w="12700" cap="flat" cmpd="sng" algn="ctr">
                  <a:solidFill>
                    <a:srgbClr val="939394">
                      <a:lumMod val="60000"/>
                      <a:lumOff val="40000"/>
                    </a:srgbClr>
                  </a:solidFill>
                  <a:prstDash val="solid"/>
                </a:ln>
                <a:effectLst/>
              </p:spPr>
              <p:txBody>
                <a:bodyPr lIns="0" tIns="36000" rIns="0" bIns="36000" anchor="ctr"/>
                <a:lstStyle/>
                <a:p>
                  <a:pPr algn="ctr">
                    <a:buFontTx/>
                    <a:buNone/>
                  </a:pPr>
                  <a:r>
                    <a:rPr lang="zh-CN" altLang="en-US" sz="1000" i="1" kern="0" dirty="0">
                      <a:solidFill>
                        <a:srgbClr val="4D4D4D"/>
                      </a:solidFill>
                      <a:latin typeface="微软雅黑" panose="020B0503020204020204" charset="-122"/>
                      <a:ea typeface="微软雅黑" panose="020B0503020204020204" charset="-122"/>
                      <a:cs typeface="Helvetica" pitchFamily="34" charset="0"/>
                    </a:rPr>
                    <a:t>五</a:t>
                  </a:r>
                  <a:endParaRPr lang="en-US" sz="1000" i="1" kern="0" dirty="0">
                    <a:solidFill>
                      <a:srgbClr val="4D4D4D"/>
                    </a:solidFill>
                    <a:latin typeface="微软雅黑" panose="020B0503020204020204" charset="-122"/>
                    <a:ea typeface="微软雅黑" panose="020B0503020204020204" charset="-122"/>
                    <a:cs typeface="Helvetica" pitchFamily="34" charset="0"/>
                  </a:endParaRPr>
                </a:p>
              </p:txBody>
            </p:sp>
          </p:grpSp>
        </p:grpSp>
        <p:cxnSp>
          <p:nvCxnSpPr>
            <p:cNvPr id="49" name="肘形连接符 255"/>
            <p:cNvCxnSpPr/>
            <p:nvPr/>
          </p:nvCxnSpPr>
          <p:spPr bwMode="auto">
            <a:xfrm rot="16200000" flipV="1">
              <a:off x="1928162" y="3434017"/>
              <a:ext cx="792554" cy="0"/>
            </a:xfrm>
            <a:prstGeom prst="straightConnector1">
              <a:avLst/>
            </a:prstGeom>
            <a:noFill/>
            <a:ln w="9525" cap="flat" cmpd="sng" algn="ctr">
              <a:solidFill>
                <a:schemeClr val="tx1"/>
              </a:solidFill>
              <a:prstDash val="solid"/>
              <a:round/>
              <a:headEnd type="none" w="med" len="med"/>
              <a:tailEnd type="triangle"/>
            </a:ln>
            <a:effectLst/>
          </p:spPr>
        </p:cxnSp>
        <p:sp>
          <p:nvSpPr>
            <p:cNvPr id="50" name="Rectangle 62"/>
            <p:cNvSpPr/>
            <p:nvPr/>
          </p:nvSpPr>
          <p:spPr>
            <a:xfrm>
              <a:off x="2688598" y="3259084"/>
              <a:ext cx="655161"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订单评审</a:t>
              </a:r>
              <a:endParaRPr lang="en-US" altLang="zh-CN" sz="1000" dirty="0">
                <a:solidFill>
                  <a:srgbClr val="060B00"/>
                </a:solidFill>
                <a:latin typeface="微软雅黑" panose="020B0503020204020204" charset="-122"/>
                <a:ea typeface="微软雅黑" panose="020B0503020204020204" charset="-122"/>
              </a:endParaRPr>
            </a:p>
          </p:txBody>
        </p:sp>
        <p:cxnSp>
          <p:nvCxnSpPr>
            <p:cNvPr id="51" name="肘形连接符 255"/>
            <p:cNvCxnSpPr/>
            <p:nvPr/>
          </p:nvCxnSpPr>
          <p:spPr bwMode="auto">
            <a:xfrm rot="16200000" flipV="1">
              <a:off x="3087223" y="3158485"/>
              <a:ext cx="215801" cy="2421"/>
            </a:xfrm>
            <a:prstGeom prst="straightConnector1">
              <a:avLst/>
            </a:prstGeom>
            <a:noFill/>
            <a:ln w="9525" cap="flat" cmpd="sng" algn="ctr">
              <a:solidFill>
                <a:schemeClr val="tx1"/>
              </a:solidFill>
              <a:prstDash val="solid"/>
              <a:round/>
              <a:headEnd type="none" w="med" len="med"/>
              <a:tailEnd type="triangle"/>
            </a:ln>
            <a:effectLst/>
          </p:spPr>
        </p:cxnSp>
        <p:sp>
          <p:nvSpPr>
            <p:cNvPr id="52" name="Rectangle 62"/>
            <p:cNvSpPr/>
            <p:nvPr/>
          </p:nvSpPr>
          <p:spPr>
            <a:xfrm>
              <a:off x="3474416" y="3819404"/>
              <a:ext cx="655161"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订单取消</a:t>
              </a:r>
              <a:endParaRPr lang="en-US" altLang="zh-CN" sz="1000" dirty="0">
                <a:solidFill>
                  <a:srgbClr val="060B00"/>
                </a:solidFill>
                <a:latin typeface="微软雅黑" panose="020B0503020204020204" charset="-122"/>
                <a:ea typeface="微软雅黑" panose="020B0503020204020204" charset="-122"/>
              </a:endParaRPr>
            </a:p>
          </p:txBody>
        </p:sp>
        <p:cxnSp>
          <p:nvCxnSpPr>
            <p:cNvPr id="53" name="肘形连接符 255"/>
            <p:cNvCxnSpPr/>
            <p:nvPr/>
          </p:nvCxnSpPr>
          <p:spPr bwMode="auto">
            <a:xfrm rot="16200000" flipV="1">
              <a:off x="3583455" y="3434017"/>
              <a:ext cx="792554" cy="0"/>
            </a:xfrm>
            <a:prstGeom prst="straightConnector1">
              <a:avLst/>
            </a:prstGeom>
            <a:noFill/>
            <a:ln w="9525" cap="flat" cmpd="sng" algn="ctr">
              <a:solidFill>
                <a:schemeClr val="tx1"/>
              </a:solidFill>
              <a:prstDash val="solid"/>
              <a:round/>
              <a:headEnd type="none" w="med" len="med"/>
              <a:tailEnd type="triangle"/>
            </a:ln>
            <a:effectLst/>
          </p:spPr>
        </p:cxnSp>
        <p:sp>
          <p:nvSpPr>
            <p:cNvPr id="54" name="Rectangle 62"/>
            <p:cNvSpPr/>
            <p:nvPr/>
          </p:nvSpPr>
          <p:spPr>
            <a:xfrm>
              <a:off x="5176709" y="3259084"/>
              <a:ext cx="2655425"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扣款</a:t>
              </a:r>
              <a:r>
                <a:rPr lang="en-US" altLang="zh-CN" sz="1000" dirty="0">
                  <a:solidFill>
                    <a:srgbClr val="060B00"/>
                  </a:solidFill>
                  <a:latin typeface="微软雅黑" panose="020B0503020204020204" charset="-122"/>
                  <a:ea typeface="微软雅黑" panose="020B0503020204020204" charset="-122"/>
                </a:rPr>
                <a:t>/</a:t>
              </a:r>
              <a:r>
                <a:rPr lang="zh-CN" altLang="en-US" sz="1000" dirty="0">
                  <a:solidFill>
                    <a:srgbClr val="060B00"/>
                  </a:solidFill>
                  <a:latin typeface="微软雅黑" panose="020B0503020204020204" charset="-122"/>
                  <a:ea typeface="微软雅黑" panose="020B0503020204020204" charset="-122"/>
                </a:rPr>
                <a:t>分车</a:t>
              </a:r>
              <a:r>
                <a:rPr lang="en-US" altLang="zh-CN" sz="1000" dirty="0">
                  <a:solidFill>
                    <a:srgbClr val="060B00"/>
                  </a:solidFill>
                  <a:latin typeface="微软雅黑" panose="020B0503020204020204" charset="-122"/>
                  <a:ea typeface="微软雅黑" panose="020B0503020204020204" charset="-122"/>
                </a:rPr>
                <a:t>/</a:t>
              </a:r>
              <a:r>
                <a:rPr lang="zh-CN" altLang="en-US" sz="1000" dirty="0">
                  <a:solidFill>
                    <a:srgbClr val="060B00"/>
                  </a:solidFill>
                  <a:latin typeface="微软雅黑" panose="020B0503020204020204" charset="-122"/>
                  <a:ea typeface="微软雅黑" panose="020B0503020204020204" charset="-122"/>
                </a:rPr>
                <a:t>发车</a:t>
              </a:r>
              <a:endParaRPr lang="en-US" altLang="zh-CN" sz="1000" dirty="0">
                <a:solidFill>
                  <a:srgbClr val="060B00"/>
                </a:solidFill>
                <a:latin typeface="微软雅黑" panose="020B0503020204020204" charset="-122"/>
                <a:ea typeface="微软雅黑" panose="020B0503020204020204" charset="-122"/>
              </a:endParaRPr>
            </a:p>
          </p:txBody>
        </p:sp>
        <p:cxnSp>
          <p:nvCxnSpPr>
            <p:cNvPr id="55" name="肘形连接符 255"/>
            <p:cNvCxnSpPr/>
            <p:nvPr/>
          </p:nvCxnSpPr>
          <p:spPr bwMode="auto">
            <a:xfrm rot="16200000" flipV="1">
              <a:off x="5361020" y="3144430"/>
              <a:ext cx="215801" cy="2421"/>
            </a:xfrm>
            <a:prstGeom prst="straightConnector1">
              <a:avLst/>
            </a:prstGeom>
            <a:noFill/>
            <a:ln w="9525" cap="flat" cmpd="sng" algn="ctr">
              <a:solidFill>
                <a:schemeClr val="tx1"/>
              </a:solidFill>
              <a:prstDash val="solid"/>
              <a:round/>
              <a:headEnd type="none" w="med" len="med"/>
              <a:tailEnd type="triangle"/>
            </a:ln>
            <a:effectLst/>
          </p:spPr>
        </p:cxnSp>
        <p:sp>
          <p:nvSpPr>
            <p:cNvPr id="56" name="TextBox 55"/>
            <p:cNvSpPr txBox="1"/>
            <p:nvPr/>
          </p:nvSpPr>
          <p:spPr bwMode="auto">
            <a:xfrm>
              <a:off x="214282" y="3341076"/>
              <a:ext cx="400110" cy="873742"/>
            </a:xfrm>
            <a:prstGeom prst="rect">
              <a:avLst/>
            </a:prstGeom>
            <a:noFill/>
            <a:ln>
              <a:noFill/>
            </a:ln>
          </p:spPr>
          <p:txBody>
            <a:bodyPr vert="eaVert" wrap="square" rtlCol="0">
              <a:spAutoFit/>
            </a:bodyPr>
            <a:lstStyle/>
            <a:p>
              <a:pPr algn="ct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常规订单</a:t>
              </a:r>
            </a:p>
          </p:txBody>
        </p:sp>
        <p:sp>
          <p:nvSpPr>
            <p:cNvPr id="57" name="TextBox 56"/>
            <p:cNvSpPr txBox="1"/>
            <p:nvPr/>
          </p:nvSpPr>
          <p:spPr bwMode="auto">
            <a:xfrm>
              <a:off x="214282" y="4429132"/>
              <a:ext cx="400110" cy="873742"/>
            </a:xfrm>
            <a:prstGeom prst="rect">
              <a:avLst/>
            </a:prstGeom>
            <a:noFill/>
            <a:ln>
              <a:noFill/>
            </a:ln>
          </p:spPr>
          <p:txBody>
            <a:bodyPr vert="eaVert" wrap="square" rtlCol="0">
              <a:spAutoFit/>
            </a:bodyPr>
            <a:lstStyle/>
            <a:p>
              <a:pPr algn="ct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战略订单</a:t>
              </a:r>
            </a:p>
          </p:txBody>
        </p:sp>
        <p:sp>
          <p:nvSpPr>
            <p:cNvPr id="58" name="Rectangle 62"/>
            <p:cNvSpPr/>
            <p:nvPr/>
          </p:nvSpPr>
          <p:spPr>
            <a:xfrm>
              <a:off x="5188928" y="3819404"/>
              <a:ext cx="2655425"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扣款方式修改（有时间限制）</a:t>
              </a:r>
              <a:endParaRPr lang="en-US" altLang="zh-CN" sz="1000" dirty="0">
                <a:solidFill>
                  <a:srgbClr val="060B00"/>
                </a:solidFill>
                <a:latin typeface="微软雅黑" panose="020B0503020204020204" charset="-122"/>
                <a:ea typeface="微软雅黑" panose="020B0503020204020204" charset="-122"/>
              </a:endParaRPr>
            </a:p>
          </p:txBody>
        </p:sp>
        <p:sp>
          <p:nvSpPr>
            <p:cNvPr id="59" name="Rectangle 62"/>
            <p:cNvSpPr/>
            <p:nvPr/>
          </p:nvSpPr>
          <p:spPr>
            <a:xfrm>
              <a:off x="1402714" y="4377477"/>
              <a:ext cx="2714644"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工厂资源发布和战略订单提报时间</a:t>
              </a:r>
              <a:r>
                <a:rPr lang="en-US" altLang="zh-CN" sz="1000" dirty="0">
                  <a:solidFill>
                    <a:srgbClr val="060B00"/>
                  </a:solidFill>
                  <a:latin typeface="微软雅黑" panose="020B0503020204020204" charset="-122"/>
                  <a:ea typeface="微软雅黑" panose="020B0503020204020204" charset="-122"/>
                </a:rPr>
                <a:t>/</a:t>
              </a:r>
              <a:r>
                <a:rPr lang="zh-CN" altLang="en-US" sz="1000" dirty="0">
                  <a:solidFill>
                    <a:srgbClr val="060B00"/>
                  </a:solidFill>
                  <a:latin typeface="微软雅黑" panose="020B0503020204020204" charset="-122"/>
                  <a:ea typeface="微软雅黑" panose="020B0503020204020204" charset="-122"/>
                </a:rPr>
                <a:t>评审</a:t>
              </a:r>
              <a:endParaRPr lang="en-US" altLang="zh-CN" sz="1000" dirty="0">
                <a:solidFill>
                  <a:srgbClr val="060B00"/>
                </a:solidFill>
                <a:latin typeface="微软雅黑" panose="020B0503020204020204" charset="-122"/>
                <a:ea typeface="微软雅黑" panose="020B0503020204020204" charset="-122"/>
              </a:endParaRPr>
            </a:p>
          </p:txBody>
        </p:sp>
        <p:sp>
          <p:nvSpPr>
            <p:cNvPr id="60" name="Rectangle 62"/>
            <p:cNvSpPr/>
            <p:nvPr/>
          </p:nvSpPr>
          <p:spPr>
            <a:xfrm>
              <a:off x="1402714" y="4926143"/>
              <a:ext cx="2714644"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代理商在规定时间提报订单</a:t>
              </a:r>
              <a:endParaRPr lang="en-US" altLang="zh-CN" sz="1000" dirty="0">
                <a:solidFill>
                  <a:srgbClr val="060B00"/>
                </a:solidFill>
                <a:latin typeface="微软雅黑" panose="020B0503020204020204" charset="-122"/>
                <a:ea typeface="微软雅黑" panose="020B0503020204020204" charset="-122"/>
              </a:endParaRPr>
            </a:p>
          </p:txBody>
        </p:sp>
        <p:sp>
          <p:nvSpPr>
            <p:cNvPr id="61" name="TextBox 60"/>
            <p:cNvSpPr txBox="1"/>
            <p:nvPr/>
          </p:nvSpPr>
          <p:spPr bwMode="auto">
            <a:xfrm>
              <a:off x="214282" y="5484216"/>
              <a:ext cx="400110" cy="873742"/>
            </a:xfrm>
            <a:prstGeom prst="rect">
              <a:avLst/>
            </a:prstGeom>
            <a:noFill/>
            <a:ln>
              <a:noFill/>
            </a:ln>
          </p:spPr>
          <p:txBody>
            <a:bodyPr vert="eaVert" wrap="square" rtlCol="0">
              <a:spAutoFit/>
            </a:bodyPr>
            <a:lstStyle/>
            <a:p>
              <a:pPr algn="ct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补充订单</a:t>
              </a:r>
            </a:p>
          </p:txBody>
        </p:sp>
        <p:sp>
          <p:nvSpPr>
            <p:cNvPr id="62" name="Rectangle 62"/>
            <p:cNvSpPr/>
            <p:nvPr/>
          </p:nvSpPr>
          <p:spPr>
            <a:xfrm>
              <a:off x="1402714" y="5425967"/>
              <a:ext cx="2714644"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评审</a:t>
              </a:r>
              <a:endParaRPr lang="en-US" altLang="zh-CN" sz="1000" dirty="0">
                <a:solidFill>
                  <a:srgbClr val="060B00"/>
                </a:solidFill>
                <a:latin typeface="微软雅黑" panose="020B0503020204020204" charset="-122"/>
                <a:ea typeface="微软雅黑" panose="020B0503020204020204" charset="-122"/>
              </a:endParaRPr>
            </a:p>
          </p:txBody>
        </p:sp>
        <p:sp>
          <p:nvSpPr>
            <p:cNvPr id="63" name="TextBox 62"/>
            <p:cNvSpPr txBox="1"/>
            <p:nvPr/>
          </p:nvSpPr>
          <p:spPr bwMode="auto">
            <a:xfrm>
              <a:off x="642910" y="3337816"/>
              <a:ext cx="642942" cy="225861"/>
            </a:xfrm>
            <a:prstGeom prst="rect">
              <a:avLst/>
            </a:prstGeom>
            <a:noFill/>
            <a:ln>
              <a:noFill/>
            </a:ln>
          </p:spPr>
          <p:txBody>
            <a:bodyPr wrap="squar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主机厂</a:t>
              </a:r>
              <a:endPar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4" name="TextBox 63"/>
            <p:cNvSpPr txBox="1"/>
            <p:nvPr/>
          </p:nvSpPr>
          <p:spPr bwMode="auto">
            <a:xfrm>
              <a:off x="642910" y="3898136"/>
              <a:ext cx="642942" cy="248830"/>
            </a:xfrm>
            <a:prstGeom prst="rect">
              <a:avLst/>
            </a:prstGeom>
            <a:noFill/>
            <a:ln>
              <a:noFill/>
            </a:ln>
          </p:spPr>
          <p:txBody>
            <a:bodyPr wrap="square" rtlCol="0">
              <a:spAutoFit/>
            </a:bodyPr>
            <a:lstStyle/>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代理商</a:t>
              </a:r>
            </a:p>
          </p:txBody>
        </p:sp>
        <p:sp>
          <p:nvSpPr>
            <p:cNvPr id="65" name="TextBox 64"/>
            <p:cNvSpPr txBox="1"/>
            <p:nvPr/>
          </p:nvSpPr>
          <p:spPr bwMode="auto">
            <a:xfrm>
              <a:off x="642910" y="4456209"/>
              <a:ext cx="642942" cy="225861"/>
            </a:xfrm>
            <a:prstGeom prst="rect">
              <a:avLst/>
            </a:prstGeom>
            <a:noFill/>
            <a:ln>
              <a:noFill/>
            </a:ln>
          </p:spPr>
          <p:txBody>
            <a:bodyPr wrap="squar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主机厂</a:t>
              </a:r>
              <a:endPar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6" name="TextBox 65"/>
            <p:cNvSpPr txBox="1"/>
            <p:nvPr/>
          </p:nvSpPr>
          <p:spPr bwMode="auto">
            <a:xfrm>
              <a:off x="642910" y="5004875"/>
              <a:ext cx="642942" cy="248830"/>
            </a:xfrm>
            <a:prstGeom prst="rect">
              <a:avLst/>
            </a:prstGeom>
            <a:noFill/>
            <a:ln>
              <a:noFill/>
            </a:ln>
          </p:spPr>
          <p:txBody>
            <a:bodyPr wrap="square" rtlCol="0">
              <a:spAutoFit/>
            </a:bodyPr>
            <a:lstStyle/>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代理商</a:t>
              </a:r>
            </a:p>
          </p:txBody>
        </p:sp>
        <p:sp>
          <p:nvSpPr>
            <p:cNvPr id="67" name="TextBox 66"/>
            <p:cNvSpPr txBox="1"/>
            <p:nvPr/>
          </p:nvSpPr>
          <p:spPr bwMode="auto">
            <a:xfrm>
              <a:off x="642910" y="5484216"/>
              <a:ext cx="642942" cy="225861"/>
            </a:xfrm>
            <a:prstGeom prst="rect">
              <a:avLst/>
            </a:prstGeom>
            <a:noFill/>
            <a:ln>
              <a:noFill/>
            </a:ln>
          </p:spPr>
          <p:txBody>
            <a:bodyPr wrap="squar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主机厂</a:t>
              </a:r>
              <a:endPar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8" name="TextBox 67"/>
            <p:cNvSpPr txBox="1"/>
            <p:nvPr/>
          </p:nvSpPr>
          <p:spPr bwMode="auto">
            <a:xfrm>
              <a:off x="642910" y="6053365"/>
              <a:ext cx="642942" cy="248830"/>
            </a:xfrm>
            <a:prstGeom prst="rect">
              <a:avLst/>
            </a:prstGeom>
            <a:noFill/>
            <a:ln>
              <a:noFill/>
            </a:ln>
          </p:spPr>
          <p:txBody>
            <a:bodyPr wrap="square" rtlCol="0">
              <a:spAutoFit/>
            </a:bodyPr>
            <a:lstStyle/>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代理商</a:t>
              </a:r>
            </a:p>
          </p:txBody>
        </p:sp>
        <p:sp>
          <p:nvSpPr>
            <p:cNvPr id="69" name="Rectangle 62"/>
            <p:cNvSpPr/>
            <p:nvPr/>
          </p:nvSpPr>
          <p:spPr>
            <a:xfrm>
              <a:off x="1402714" y="5974633"/>
              <a:ext cx="2714644" cy="383325"/>
            </a:xfrm>
            <a:prstGeom prst="rect">
              <a:avLst/>
            </a:prstGeom>
            <a:solidFill>
              <a:schemeClr val="bg1"/>
            </a:solidFill>
            <a:ln>
              <a:solidFill>
                <a:srgbClr val="66AA4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000" dirty="0">
                  <a:solidFill>
                    <a:srgbClr val="060B00"/>
                  </a:solidFill>
                  <a:latin typeface="微软雅黑" panose="020B0503020204020204" charset="-122"/>
                  <a:ea typeface="微软雅黑" panose="020B0503020204020204" charset="-122"/>
                </a:rPr>
                <a:t>代理商随时提报订单（</a:t>
              </a:r>
              <a:r>
                <a:rPr lang="en-US" altLang="zh-CN" sz="1000" dirty="0">
                  <a:solidFill>
                    <a:srgbClr val="060B00"/>
                  </a:solidFill>
                  <a:latin typeface="微软雅黑" panose="020B0503020204020204" charset="-122"/>
                  <a:ea typeface="微软雅黑" panose="020B0503020204020204" charset="-122"/>
                </a:rPr>
                <a:t>500</a:t>
              </a:r>
              <a:r>
                <a:rPr lang="zh-CN" altLang="en-US" sz="1000" dirty="0">
                  <a:solidFill>
                    <a:srgbClr val="060B00"/>
                  </a:solidFill>
                  <a:latin typeface="微软雅黑" panose="020B0503020204020204" charset="-122"/>
                  <a:ea typeface="微软雅黑" panose="020B0503020204020204" charset="-122"/>
                </a:rPr>
                <a:t>元费用）</a:t>
              </a:r>
              <a:endParaRPr lang="en-US" altLang="zh-CN" sz="1000" dirty="0">
                <a:solidFill>
                  <a:srgbClr val="060B00"/>
                </a:solidFill>
                <a:latin typeface="微软雅黑" panose="020B0503020204020204" charset="-122"/>
                <a:ea typeface="微软雅黑" panose="020B0503020204020204" charset="-122"/>
              </a:endParaRPr>
            </a:p>
          </p:txBody>
        </p:sp>
        <p:sp>
          <p:nvSpPr>
            <p:cNvPr id="72" name="流程图: 过程 71"/>
            <p:cNvSpPr/>
            <p:nvPr/>
          </p:nvSpPr>
          <p:spPr bwMode="auto">
            <a:xfrm>
              <a:off x="5143504" y="2571744"/>
              <a:ext cx="2714644" cy="2214578"/>
            </a:xfrm>
            <a:prstGeom prst="flowChartProcess">
              <a:avLst/>
            </a:prstGeom>
            <a:noFill/>
            <a:ln w="19050" cap="flat" cmpd="sng" algn="ctr">
              <a:solidFill>
                <a:srgbClr val="FF0000"/>
              </a:solidFill>
              <a:prstDash val="solid"/>
              <a:round/>
              <a:headEnd type="none" w="med" len="med"/>
              <a:tailEnd type="none"/>
            </a:ln>
            <a:effectLst/>
          </p:spPr>
          <p:txBody>
            <a:bodyPr rtlCol="0" anchor="b"/>
            <a:lstStyle/>
            <a:p>
              <a:pPr algn="ctr"/>
              <a:r>
                <a:rPr lang="zh-CN" altLang="en-US" sz="1400" b="1" dirty="0">
                  <a:latin typeface="微软雅黑" panose="020B0503020204020204" charset="-122"/>
                  <a:ea typeface="微软雅黑" panose="020B0503020204020204" charset="-122"/>
                </a:rPr>
                <a:t>锁定</a:t>
              </a:r>
            </a:p>
          </p:txBody>
        </p:sp>
      </p:grpSp>
      <p:sp>
        <p:nvSpPr>
          <p:cNvPr id="73" name="TextBox 72"/>
          <p:cNvSpPr txBox="1"/>
          <p:nvPr/>
        </p:nvSpPr>
        <p:spPr bwMode="auto">
          <a:xfrm>
            <a:off x="285720" y="1214422"/>
            <a:ext cx="8501122" cy="521970"/>
          </a:xfrm>
          <a:prstGeom prst="rect">
            <a:avLst/>
          </a:prstGeom>
          <a:noFill/>
          <a:ln>
            <a:noFill/>
          </a:ln>
        </p:spPr>
        <p:txBody>
          <a:bodyPr wrap="square" rtlCol="0">
            <a:spAutoFit/>
          </a:bodyPr>
          <a:lstStyle/>
          <a:p>
            <a:pPr marL="266700" indent="-266700">
              <a:buFont typeface="Wingdings" panose="05000000000000000000" pitchFamily="2" charset="2"/>
              <a:buChar char="Ø"/>
            </a:pPr>
            <a:r>
              <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rPr>
              <a:t>订单管理策略要点：订单提报的时间、锁定管理、取消和变更机制、例外订单的处理</a:t>
            </a:r>
            <a:endParaRPr kumimoji="1" lang="en-US" altLang="zh-CN" sz="1400" b="0" dirty="0">
              <a:solidFill>
                <a:srgbClr val="000000"/>
              </a:solidFill>
              <a:latin typeface="微软雅黑" panose="020B0503020204020204" charset="-122"/>
              <a:ea typeface="微软雅黑" panose="020B0503020204020204" charset="-122"/>
              <a:cs typeface="微软雅黑" panose="020B0503020204020204" charset="-122"/>
            </a:endParaRPr>
          </a:p>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x重机方案特殊考虑点：不同销售模式（工厂直销</a:t>
            </a:r>
            <a:r>
              <a:rPr kumimoji="1" lang="en-US" altLang="zh-CN" sz="14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代理商代销</a:t>
            </a:r>
            <a:r>
              <a:rPr kumimoji="1" lang="en-US" altLang="zh-CN" sz="14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代理商销售、国内</a:t>
            </a:r>
            <a:r>
              <a:rPr kumimoji="1" lang="en-US" altLang="zh-CN" sz="14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国际）</a:t>
            </a:r>
            <a:endPar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70"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B-2. </a:t>
            </a:r>
            <a:r>
              <a:rPr lang="zh-CN" altLang="en-US" dirty="0"/>
              <a:t>订单分类和优先级（以某装备企业订单优先级为例）</a:t>
            </a:r>
          </a:p>
        </p:txBody>
      </p:sp>
      <p:sp>
        <p:nvSpPr>
          <p:cNvPr id="16" name="Rectangle 25"/>
          <p:cNvSpPr/>
          <p:nvPr/>
        </p:nvSpPr>
        <p:spPr bwMode="auto">
          <a:xfrm>
            <a:off x="4533245" y="2536817"/>
            <a:ext cx="4032000" cy="3278188"/>
          </a:xfrm>
          <a:prstGeom prst="rect">
            <a:avLst/>
          </a:prstGeom>
          <a:noFill/>
          <a:ln w="9525" cap="flat" cmpd="sng" algn="ctr">
            <a:solidFill>
              <a:srgbClr val="FFFFFF">
                <a:lumMod val="50000"/>
              </a:srgbClr>
            </a:solidFill>
            <a:prstDash val="solid"/>
            <a:round/>
            <a:headEnd type="none" w="med" len="med"/>
            <a:tailEnd type="arrow"/>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a typeface="宋体" panose="02010600030101010101" pitchFamily="2" charset="-122"/>
            </a:endParaRPr>
          </a:p>
        </p:txBody>
      </p:sp>
      <p:sp>
        <p:nvSpPr>
          <p:cNvPr id="17" name="Rectangle 6"/>
          <p:cNvSpPr/>
          <p:nvPr/>
        </p:nvSpPr>
        <p:spPr bwMode="auto">
          <a:xfrm>
            <a:off x="315913" y="2536817"/>
            <a:ext cx="4032000" cy="3278188"/>
          </a:xfrm>
          <a:prstGeom prst="rect">
            <a:avLst/>
          </a:prstGeom>
          <a:noFill/>
          <a:ln w="9525" cap="flat" cmpd="sng" algn="ctr">
            <a:solidFill>
              <a:srgbClr val="FFFFFF">
                <a:lumMod val="50000"/>
              </a:srgbClr>
            </a:solidFill>
            <a:prstDash val="solid"/>
            <a:round/>
            <a:headEnd type="none" w="med" len="med"/>
            <a:tailEnd type="arrow"/>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a typeface="宋体" panose="02010600030101010101" pitchFamily="2" charset="-122"/>
            </a:endParaRPr>
          </a:p>
        </p:txBody>
      </p:sp>
      <p:sp>
        <p:nvSpPr>
          <p:cNvPr id="24" name="自选图形 12"/>
          <p:cNvSpPr>
            <a:spLocks noChangeArrowheads="1"/>
          </p:cNvSpPr>
          <p:nvPr/>
        </p:nvSpPr>
        <p:spPr bwMode="gray">
          <a:xfrm>
            <a:off x="1087313" y="2285992"/>
            <a:ext cx="2489200" cy="454025"/>
          </a:xfrm>
          <a:prstGeom prst="roundRect">
            <a:avLst>
              <a:gd name="adj" fmla="val 16667"/>
            </a:avLst>
          </a:prstGeom>
          <a:solidFill>
            <a:srgbClr val="D6DBFE"/>
          </a:solidFill>
          <a:ln w="28575">
            <a:no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订单分类</a:t>
            </a:r>
          </a:p>
        </p:txBody>
      </p:sp>
      <p:sp>
        <p:nvSpPr>
          <p:cNvPr id="25" name="文本框 15"/>
          <p:cNvSpPr txBox="1">
            <a:spLocks noChangeArrowheads="1"/>
          </p:cNvSpPr>
          <p:nvPr/>
        </p:nvSpPr>
        <p:spPr bwMode="gray">
          <a:xfrm>
            <a:off x="634082" y="2906212"/>
            <a:ext cx="3395662" cy="319580"/>
          </a:xfrm>
          <a:prstGeom prst="rect">
            <a:avLst/>
          </a:prstGeom>
          <a:noFill/>
          <a:ln w="9525">
            <a:noFill/>
            <a:miter lim="800000"/>
          </a:ln>
        </p:spPr>
        <p:txBody>
          <a:bodyP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graphicFrame>
        <p:nvGraphicFramePr>
          <p:cNvPr id="27" name="Table 27"/>
          <p:cNvGraphicFramePr>
            <a:graphicFrameLocks noGrp="1"/>
          </p:cNvGraphicFramePr>
          <p:nvPr/>
        </p:nvGraphicFramePr>
        <p:xfrm>
          <a:off x="460251" y="3309930"/>
          <a:ext cx="3743325" cy="2361207"/>
        </p:xfrm>
        <a:graphic>
          <a:graphicData uri="http://schemas.openxmlformats.org/drawingml/2006/table">
            <a:tbl>
              <a:tblPr/>
              <a:tblGrid>
                <a:gridCol w="721216">
                  <a:extLst>
                    <a:ext uri="{9D8B030D-6E8A-4147-A177-3AD203B41FA5}">
                      <a16:colId xmlns:a16="http://schemas.microsoft.com/office/drawing/2014/main" val="20000"/>
                    </a:ext>
                  </a:extLst>
                </a:gridCol>
                <a:gridCol w="809854">
                  <a:extLst>
                    <a:ext uri="{9D8B030D-6E8A-4147-A177-3AD203B41FA5}">
                      <a16:colId xmlns:a16="http://schemas.microsoft.com/office/drawing/2014/main" val="20001"/>
                    </a:ext>
                  </a:extLst>
                </a:gridCol>
                <a:gridCol w="2212255">
                  <a:extLst>
                    <a:ext uri="{9D8B030D-6E8A-4147-A177-3AD203B41FA5}">
                      <a16:colId xmlns:a16="http://schemas.microsoft.com/office/drawing/2014/main" val="20002"/>
                    </a:ext>
                  </a:extLst>
                </a:gridCol>
              </a:tblGrid>
              <a:tr h="416991">
                <a:tc rowSpan="4">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100" u="none" strike="noStrike" cap="none" normalizeH="0" baseline="0" dirty="0">
                          <a:ln>
                            <a:noFill/>
                          </a:ln>
                          <a:effectLst/>
                          <a:latin typeface="微软雅黑" panose="020B0503020204020204" charset="-122"/>
                          <a:ea typeface="微软雅黑" panose="020B0503020204020204" charset="-122"/>
                        </a:rPr>
                        <a:t>代理商订单</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a:txBody>
                  <a:tcPr marL="91435" marR="91435" marT="36019" marB="36019" anchor="ctr"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100" u="none" strike="noStrike" cap="none" normalizeH="0" baseline="0" dirty="0">
                          <a:ln>
                            <a:noFill/>
                          </a:ln>
                          <a:effectLst/>
                          <a:latin typeface="微软雅黑" panose="020B0503020204020204" charset="-122"/>
                          <a:ea typeface="微软雅黑" panose="020B0503020204020204" charset="-122"/>
                        </a:rPr>
                        <a:t>企业大客户订单</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最终客户已知</a:t>
                      </a:r>
                      <a:endParaRPr kumimoji="0" lang="en-US" altLang="zh-CN" sz="1100" u="none" strike="noStrike" cap="none" normalizeH="0" baseline="0" dirty="0">
                        <a:ln>
                          <a:noFill/>
                        </a:ln>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企业大客户的订单</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96724">
                <a:tc vMerge="1">
                  <a:txBody>
                    <a:bodyPr/>
                    <a:lstStyle/>
                    <a:p>
                      <a:endParaRPr lang="zh-CN"/>
                    </a:p>
                  </a:txBody>
                  <a:tcPr marL="91444" marR="91444" marT="36007" marB="36007"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100" u="none" strike="noStrike" cap="none" normalizeH="0" baseline="0" dirty="0">
                          <a:ln>
                            <a:noFill/>
                          </a:ln>
                          <a:effectLst/>
                          <a:latin typeface="微软雅黑" panose="020B0503020204020204" charset="-122"/>
                          <a:ea typeface="微软雅黑" panose="020B0503020204020204" charset="-122"/>
                        </a:rPr>
                        <a:t>一般大客户订单</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最终客户已知</a:t>
                      </a:r>
                      <a:endParaRPr kumimoji="0" lang="en-US" altLang="zh-CN" sz="1100" u="none" strike="noStrike" cap="none" normalizeH="0" baseline="0" dirty="0">
                        <a:ln>
                          <a:noFill/>
                        </a:ln>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客户为一般大客户的订单</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0899">
                <a:tc vMerge="1">
                  <a:txBody>
                    <a:bodyPr/>
                    <a:lstStyle/>
                    <a:p>
                      <a:endParaRPr lang="zh-CN"/>
                    </a:p>
                  </a:txBody>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rPr>
                        <a:t>一般客户订单</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最终客户已知</a:t>
                      </a:r>
                      <a:endParaRPr kumimoji="0" lang="en-US" altLang="zh-CN" sz="1100" u="none" strike="noStrike" cap="none" normalizeH="0" baseline="0" dirty="0">
                        <a:ln>
                          <a:noFill/>
                        </a:ln>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客户为一般客户的订单</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5560">
                <a:tc vMerge="1">
                  <a:txBody>
                    <a:bodyPr/>
                    <a:lstStyle/>
                    <a:p>
                      <a:endParaRPr lang="zh-CN"/>
                    </a:p>
                  </a:txBody>
                  <a:tcPr marL="91444" marR="91444" marT="36007" marB="36007"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100" u="none" strike="noStrike" cap="none" normalizeH="0" baseline="0" dirty="0">
                          <a:ln>
                            <a:noFill/>
                          </a:ln>
                          <a:effectLst/>
                          <a:latin typeface="微软雅黑" panose="020B0503020204020204" charset="-122"/>
                          <a:ea typeface="微软雅黑" panose="020B0503020204020204" charset="-122"/>
                        </a:rPr>
                        <a:t>补货订单</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没有最终客户信息的代理商订单</a:t>
                      </a:r>
                      <a:endParaRPr kumimoji="0" lang="en-US" altLang="zh-CN"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48072">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pPr>
                      <a:r>
                        <a:rPr kumimoji="0" lang="zh-CN" altLang="en-US" sz="1100" u="none" strike="noStrike" cap="none" normalizeH="0" baseline="0" dirty="0">
                          <a:ln>
                            <a:noFill/>
                          </a:ln>
                          <a:effectLst/>
                          <a:latin typeface="微软雅黑" panose="020B0503020204020204" charset="-122"/>
                          <a:ea typeface="微软雅黑" panose="020B0503020204020204" charset="-122"/>
                        </a:rPr>
                        <a:t>主机厂订单</a:t>
                      </a:r>
                      <a:endParaRPr kumimoji="0" lang="zh-CN" altLang="en-US" sz="1100" b="1"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36019" marB="36019" anchor="ctr"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100" u="none" strike="noStrike" cap="none" normalizeH="0" baseline="0" dirty="0">
                          <a:ln>
                            <a:noFill/>
                          </a:ln>
                          <a:effectLst/>
                          <a:latin typeface="微软雅黑" panose="020B0503020204020204" charset="-122"/>
                          <a:ea typeface="微软雅黑" panose="020B0503020204020204" charset="-122"/>
                        </a:rPr>
                        <a:t>补货订单</a:t>
                      </a:r>
                      <a:endParaRPr kumimoji="0" lang="zh-CN" altLang="en-US" sz="11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无客户信息</a:t>
                      </a:r>
                      <a:endParaRPr kumimoji="0" lang="en-US" altLang="zh-CN" sz="1100" u="none" strike="noStrike" cap="none" normalizeH="0" baseline="0" dirty="0">
                        <a:ln>
                          <a:noFill/>
                        </a:ln>
                        <a:effectLst/>
                        <a:latin typeface="微软雅黑" panose="020B0503020204020204" charset="-122"/>
                        <a:ea typeface="微软雅黑" panose="020B0503020204020204" charset="-122"/>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pPr>
                      <a:r>
                        <a:rPr kumimoji="0" lang="zh-CN" altLang="en-US" sz="1100" u="none" strike="noStrike" cap="none" normalizeH="0" baseline="0" dirty="0">
                          <a:ln>
                            <a:noFill/>
                          </a:ln>
                          <a:effectLst/>
                          <a:latin typeface="微软雅黑" panose="020B0503020204020204" charset="-122"/>
                          <a:ea typeface="微软雅黑" panose="020B0503020204020204" charset="-122"/>
                        </a:rPr>
                        <a:t>与代理商达成一致的为应对未来销售及平衡产能的订单</a:t>
                      </a:r>
                      <a:endParaRPr kumimoji="0" lang="en-US" altLang="zh-CN" sz="1100" u="none" strike="noStrike" cap="none" normalizeH="0" baseline="0" dirty="0">
                        <a:ln>
                          <a:noFill/>
                        </a:ln>
                        <a:effectLst/>
                        <a:latin typeface="微软雅黑" panose="020B0503020204020204" charset="-122"/>
                        <a:ea typeface="微软雅黑" panose="020B0503020204020204" charset="-122"/>
                      </a:endParaRPr>
                    </a:p>
                  </a:txBody>
                  <a:tcPr marL="91435" marR="91435" marT="54029" marB="54029" horzOverflow="overflow">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28" name="Rectangle 4"/>
          <p:cNvSpPr>
            <a:spLocks noChangeArrowheads="1"/>
          </p:cNvSpPr>
          <p:nvPr/>
        </p:nvSpPr>
        <p:spPr bwMode="auto">
          <a:xfrm>
            <a:off x="492001" y="2863842"/>
            <a:ext cx="3679825" cy="431800"/>
          </a:xfrm>
          <a:prstGeom prst="rect">
            <a:avLst/>
          </a:prstGeom>
          <a:noFill/>
          <a:ln w="9525">
            <a:noFill/>
            <a:miter lim="800000"/>
          </a:ln>
        </p:spPr>
        <p:txBody>
          <a:bodyPr>
            <a:spAutoFit/>
          </a:bodyPr>
          <a:lstStyle/>
          <a:p>
            <a:r>
              <a:rPr lang="zh-CN" altLang="en-US" sz="1100" dirty="0">
                <a:latin typeface="微软雅黑" panose="020B0503020204020204" charset="-122"/>
                <a:ea typeface="微软雅黑" panose="020B0503020204020204" charset="-122"/>
              </a:rPr>
              <a:t>订单排产首要考虑客户要求的交付时间，在出现冲突的情况下，通过客户类型判定优先级：</a:t>
            </a:r>
            <a:endParaRPr lang="en-US" altLang="zh-CN" sz="1100" dirty="0">
              <a:latin typeface="微软雅黑" panose="020B0503020204020204" charset="-122"/>
              <a:ea typeface="微软雅黑" panose="020B0503020204020204" charset="-122"/>
            </a:endParaRPr>
          </a:p>
        </p:txBody>
      </p:sp>
      <p:sp>
        <p:nvSpPr>
          <p:cNvPr id="29" name="文本框 15"/>
          <p:cNvSpPr txBox="1">
            <a:spLocks noChangeArrowheads="1"/>
          </p:cNvSpPr>
          <p:nvPr/>
        </p:nvSpPr>
        <p:spPr bwMode="gray">
          <a:xfrm>
            <a:off x="4548982" y="2886047"/>
            <a:ext cx="4000527" cy="284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200" b="1" dirty="0">
                <a:latin typeface="微软雅黑" panose="020B0503020204020204" charset="-122"/>
                <a:ea typeface="微软雅黑" panose="020B0503020204020204" charset="-122"/>
              </a:rPr>
              <a:t>优先级原则：</a:t>
            </a:r>
            <a:endParaRPr lang="en-US" altLang="zh-CN" sz="1200" b="1" dirty="0">
              <a:latin typeface="微软雅黑" panose="020B0503020204020204" charset="-122"/>
              <a:ea typeface="微软雅黑" panose="020B0503020204020204" charset="-122"/>
            </a:endParaRPr>
          </a:p>
          <a:p>
            <a:pPr marL="171450" indent="-171450" eaLnBrk="1" hangingPunct="1">
              <a:buFont typeface="Wingdings" panose="05000000000000000000" pitchFamily="2" charset="2"/>
              <a:buChar char="p"/>
              <a:defRPr/>
            </a:pPr>
            <a:r>
              <a:rPr lang="zh-CN" altLang="en-US" sz="1200" dirty="0">
                <a:latin typeface="微软雅黑" panose="020B0503020204020204" charset="-122"/>
                <a:ea typeface="微软雅黑" panose="020B0503020204020204" charset="-122"/>
              </a:rPr>
              <a:t>客户订单优先</a:t>
            </a:r>
            <a:endParaRPr lang="en-US" altLang="zh-CN" sz="1200" dirty="0">
              <a:latin typeface="微软雅黑" panose="020B0503020204020204" charset="-122"/>
              <a:ea typeface="微软雅黑" panose="020B0503020204020204" charset="-122"/>
            </a:endParaRPr>
          </a:p>
          <a:p>
            <a:pPr marL="171450" indent="-171450" eaLnBrk="1" hangingPunct="1">
              <a:buSzPct val="100000"/>
              <a:buFont typeface="Wingdings" panose="05000000000000000000" pitchFamily="2" charset="2"/>
              <a:buChar char="Ø"/>
              <a:defRPr/>
            </a:pPr>
            <a:r>
              <a:rPr lang="zh-CN" altLang="en-US" sz="1100" dirty="0">
                <a:latin typeface="微软雅黑" panose="020B0503020204020204" charset="-122"/>
                <a:ea typeface="微软雅黑" panose="020B0503020204020204" charset="-122"/>
              </a:rPr>
              <a:t>代理商订单优于主机厂订单</a:t>
            </a:r>
            <a:endParaRPr lang="en-US" altLang="zh-CN" sz="1100" dirty="0">
              <a:latin typeface="微软雅黑" panose="020B0503020204020204" charset="-122"/>
              <a:ea typeface="微软雅黑" panose="020B0503020204020204" charset="-122"/>
            </a:endParaRPr>
          </a:p>
          <a:p>
            <a:pPr marL="171450" indent="-171450" eaLnBrk="1" hangingPunct="1">
              <a:buFont typeface="Wingdings" panose="05000000000000000000" pitchFamily="2" charset="2"/>
              <a:buChar char="Ø"/>
              <a:defRPr/>
            </a:pPr>
            <a:r>
              <a:rPr lang="zh-CN" altLang="en-US" sz="1100" dirty="0">
                <a:latin typeface="微软雅黑" panose="020B0503020204020204" charset="-122"/>
                <a:ea typeface="微软雅黑" panose="020B0503020204020204" charset="-122"/>
              </a:rPr>
              <a:t>同为代理商订单，企业大客户订单优于一般大客户订单、优于一般客户订单；有客户信息的订单优于补货订单</a:t>
            </a:r>
            <a:endParaRPr lang="en-US" altLang="zh-CN" sz="1100" dirty="0">
              <a:latin typeface="微软雅黑" panose="020B0503020204020204" charset="-122"/>
              <a:ea typeface="微软雅黑" panose="020B0503020204020204" charset="-122"/>
            </a:endParaRPr>
          </a:p>
          <a:p>
            <a:pPr marL="171450" indent="-171450" eaLnBrk="1" hangingPunct="1">
              <a:buFont typeface="Wingdings" panose="05000000000000000000" pitchFamily="2" charset="2"/>
              <a:buChar char="Ø"/>
              <a:defRPr/>
            </a:pPr>
            <a:r>
              <a:rPr lang="zh-CN" altLang="en-US" sz="1100" dirty="0">
                <a:latin typeface="微软雅黑" panose="020B0503020204020204" charset="-122"/>
                <a:ea typeface="微软雅黑" panose="020B0503020204020204" charset="-122"/>
              </a:rPr>
              <a:t>无法通过以上规则排定时可以通过周度订单评审或领导决策来排定优先级</a:t>
            </a:r>
            <a:endParaRPr lang="en-US" altLang="zh-CN" sz="1100" dirty="0">
              <a:latin typeface="微软雅黑" panose="020B0503020204020204" charset="-122"/>
              <a:ea typeface="微软雅黑" panose="020B0503020204020204" charset="-122"/>
            </a:endParaRPr>
          </a:p>
          <a:p>
            <a:pPr marL="171450" indent="-171450" eaLnBrk="1" hangingPunct="1">
              <a:buFont typeface="Wingdings" panose="05000000000000000000" pitchFamily="2" charset="2"/>
              <a:buChar char="p"/>
              <a:defRPr/>
            </a:pPr>
            <a:r>
              <a:rPr lang="zh-CN" altLang="en-US" sz="1200" dirty="0">
                <a:latin typeface="微软雅黑" panose="020B0503020204020204" charset="-122"/>
                <a:ea typeface="微软雅黑" panose="020B0503020204020204" charset="-122"/>
              </a:rPr>
              <a:t>同样客户类型订单，预测内的优先排产，预测外的延迟排产</a:t>
            </a:r>
            <a:endParaRPr lang="en-US" altLang="zh-CN" sz="1200" dirty="0">
              <a:latin typeface="微软雅黑" panose="020B0503020204020204" charset="-122"/>
              <a:ea typeface="微软雅黑" panose="020B0503020204020204" charset="-122"/>
            </a:endParaRPr>
          </a:p>
          <a:p>
            <a:pPr marL="171450" indent="-171450" eaLnBrk="1" hangingPunct="1">
              <a:buFont typeface="Wingdings" panose="05000000000000000000" pitchFamily="2" charset="2"/>
              <a:buChar char="p"/>
              <a:defRPr/>
            </a:pPr>
            <a:endParaRPr lang="en-US" altLang="zh-CN" sz="1200" dirty="0">
              <a:latin typeface="微软雅黑" panose="020B0503020204020204" charset="-122"/>
              <a:ea typeface="微软雅黑" panose="020B0503020204020204" charset="-122"/>
            </a:endParaRPr>
          </a:p>
          <a:p>
            <a:pPr marL="0" lvl="1" eaLnBrk="1" hangingPunct="1">
              <a:defRPr/>
            </a:pPr>
            <a:r>
              <a:rPr lang="zh-CN" altLang="en-US" sz="1100" dirty="0">
                <a:latin typeface="微软雅黑" panose="020B0503020204020204" charset="-122"/>
                <a:ea typeface="微软雅黑" panose="020B0503020204020204" charset="-122"/>
              </a:rPr>
              <a:t>*由于海外订单有代理商信息且已付款，视为客户订单，需要优先排产</a:t>
            </a:r>
            <a:endParaRPr lang="en-US" altLang="zh-CN" sz="1100" dirty="0">
              <a:latin typeface="微软雅黑" panose="020B0503020204020204" charset="-122"/>
              <a:ea typeface="微软雅黑" panose="020B0503020204020204" charset="-122"/>
            </a:endParaRPr>
          </a:p>
          <a:p>
            <a:pPr eaLnBrk="1" hangingPunct="1">
              <a:defRPr/>
            </a:pPr>
            <a:endParaRPr lang="en-US" altLang="zh-CN" sz="1100" dirty="0">
              <a:latin typeface="微软雅黑" panose="020B0503020204020204" charset="-122"/>
              <a:ea typeface="微软雅黑" panose="020B0503020204020204" charset="-122"/>
            </a:endParaRPr>
          </a:p>
          <a:p>
            <a:pPr lvl="1" eaLnBrk="1" hangingPunct="1">
              <a:lnSpc>
                <a:spcPct val="90000"/>
              </a:lnSpc>
              <a:defRPr/>
            </a:pPr>
            <a:endParaRPr lang="en-US" altLang="zh-CN" sz="1100" dirty="0">
              <a:latin typeface="微软雅黑" panose="020B0503020204020204" charset="-122"/>
              <a:ea typeface="微软雅黑" panose="020B0503020204020204" charset="-122"/>
            </a:endParaRPr>
          </a:p>
          <a:p>
            <a:pPr marL="0" lvl="1" eaLnBrk="1" hangingPunct="1">
              <a:lnSpc>
                <a:spcPct val="90000"/>
              </a:lnSpc>
              <a:defRPr/>
            </a:pPr>
            <a:endParaRPr lang="zh-CN" altLang="en-US" sz="1100" dirty="0">
              <a:latin typeface="微软雅黑" panose="020B0503020204020204" charset="-122"/>
              <a:ea typeface="微软雅黑" panose="020B0503020204020204" charset="-122"/>
            </a:endParaRPr>
          </a:p>
          <a:p>
            <a:pPr lvl="1" eaLnBrk="1" hangingPunct="1">
              <a:lnSpc>
                <a:spcPct val="90000"/>
              </a:lnSpc>
              <a:defRPr/>
            </a:pPr>
            <a:endParaRPr lang="en-US" altLang="zh-CN" sz="1200" dirty="0">
              <a:latin typeface="微软雅黑" panose="020B0503020204020204" charset="-122"/>
              <a:ea typeface="微软雅黑" panose="020B0503020204020204" charset="-122"/>
            </a:endParaRPr>
          </a:p>
        </p:txBody>
      </p:sp>
      <p:sp>
        <p:nvSpPr>
          <p:cNvPr id="19" name="TextBox 18"/>
          <p:cNvSpPr txBox="1"/>
          <p:nvPr/>
        </p:nvSpPr>
        <p:spPr bwMode="auto">
          <a:xfrm>
            <a:off x="285720" y="1214422"/>
            <a:ext cx="8501122" cy="737235"/>
          </a:xfrm>
          <a:prstGeom prst="rect">
            <a:avLst/>
          </a:prstGeom>
          <a:noFill/>
          <a:ln>
            <a:noFill/>
          </a:ln>
        </p:spPr>
        <p:txBody>
          <a:bodyPr wrap="square" rtlCol="0">
            <a:spAutoFit/>
          </a:bodyPr>
          <a:lstStyle/>
          <a:p>
            <a:pPr marL="266700" indent="-266700">
              <a:buFont typeface="Wingdings" panose="05000000000000000000" pitchFamily="2" charset="2"/>
              <a:buChar char="Ø"/>
            </a:pPr>
            <a:r>
              <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rPr>
              <a:t>订单分类和优先级要点：订单主体、客户类型、订单和客户的关联</a:t>
            </a:r>
            <a:endParaRPr kumimoji="1" lang="en-US" altLang="zh-CN" sz="1400" b="0" dirty="0">
              <a:solidFill>
                <a:srgbClr val="000000"/>
              </a:solidFill>
              <a:latin typeface="微软雅黑" panose="020B0503020204020204" charset="-122"/>
              <a:ea typeface="微软雅黑" panose="020B0503020204020204" charset="-122"/>
              <a:cs typeface="微软雅黑" panose="020B0503020204020204" charset="-122"/>
            </a:endParaRPr>
          </a:p>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x重机方案特殊考虑点：不同销售模式（工厂直销</a:t>
            </a:r>
            <a:r>
              <a:rPr kumimoji="1" lang="en-US" altLang="zh-CN" sz="14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代理商代销</a:t>
            </a:r>
            <a:r>
              <a:rPr kumimoji="1" lang="en-US" altLang="zh-CN" sz="14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代理商销售、国内</a:t>
            </a:r>
            <a:r>
              <a:rPr kumimoji="1" lang="en-US" altLang="zh-CN" sz="14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国际）、客户分级策略</a:t>
            </a:r>
            <a:endPar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3" name="自选图形 12"/>
          <p:cNvSpPr>
            <a:spLocks noChangeArrowheads="1"/>
          </p:cNvSpPr>
          <p:nvPr/>
        </p:nvSpPr>
        <p:spPr bwMode="gray">
          <a:xfrm>
            <a:off x="5304645" y="2285992"/>
            <a:ext cx="2489200" cy="454025"/>
          </a:xfrm>
          <a:prstGeom prst="roundRect">
            <a:avLst>
              <a:gd name="adj" fmla="val 16667"/>
            </a:avLst>
          </a:prstGeom>
          <a:solidFill>
            <a:srgbClr val="D6DBFE"/>
          </a:solidFill>
          <a:ln w="28575">
            <a:no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优先级原则</a:t>
            </a:r>
          </a:p>
        </p:txBody>
      </p:sp>
      <p:sp>
        <p:nvSpPr>
          <p:cNvPr id="31" name="矩形 30"/>
          <p:cNvSpPr/>
          <p:nvPr/>
        </p:nvSpPr>
        <p:spPr>
          <a:xfrm>
            <a:off x="344458" y="6000768"/>
            <a:ext cx="8215370" cy="430887"/>
          </a:xfrm>
          <a:prstGeom prst="rect">
            <a:avLst/>
          </a:prstGeom>
        </p:spPr>
        <p:txBody>
          <a:bodyPr wrap="square">
            <a:spAutoFit/>
          </a:bodyPr>
          <a:lstStyle/>
          <a:p>
            <a:pPr>
              <a:defRPr/>
            </a:pPr>
            <a:r>
              <a:rPr lang="zh-CN" altLang="en-US" sz="1100" dirty="0">
                <a:latin typeface="微软雅黑" panose="020B0503020204020204" charset="-122"/>
                <a:ea typeface="微软雅黑" panose="020B0503020204020204" charset="-122"/>
              </a:rPr>
              <a:t>优先级原则通常是逐渐优化的过程，初期以简单的优先级排序规则，应用成熟后可以考虑更加复杂的优先级规则，如：订单总金额、订单利润、代理商资质、消化陈旧库存（整车或物料）</a:t>
            </a:r>
            <a:endParaRPr lang="en-US" altLang="zh-CN" sz="1100" dirty="0">
              <a:latin typeface="微软雅黑" panose="020B0503020204020204" charset="-122"/>
              <a:ea typeface="微软雅黑" panose="020B0503020204020204" charset="-122"/>
            </a:endParaRPr>
          </a:p>
        </p:txBody>
      </p:sp>
      <p:sp>
        <p:nvSpPr>
          <p:cNvPr id="14"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B-3. </a:t>
            </a:r>
            <a:r>
              <a:rPr lang="zh-CN" altLang="en-US" dirty="0"/>
              <a:t>订单交期（以某商用车订单交期为例）</a:t>
            </a:r>
          </a:p>
        </p:txBody>
      </p:sp>
      <p:sp>
        <p:nvSpPr>
          <p:cNvPr id="19" name="TextBox 18"/>
          <p:cNvSpPr txBox="1"/>
          <p:nvPr/>
        </p:nvSpPr>
        <p:spPr bwMode="auto">
          <a:xfrm>
            <a:off x="285720" y="1214422"/>
            <a:ext cx="8501122" cy="521970"/>
          </a:xfrm>
          <a:prstGeom prst="rect">
            <a:avLst/>
          </a:prstGeom>
          <a:noFill/>
          <a:ln>
            <a:noFill/>
          </a:ln>
        </p:spPr>
        <p:txBody>
          <a:bodyPr wrap="square" rtlCol="0">
            <a:spAutoFit/>
          </a:bodyPr>
          <a:lstStyle/>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订单交期</a:t>
            </a:r>
            <a:r>
              <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rPr>
              <a:t>要点：订单流不同阶段的交期、预计交期的估算规则、交期信息的更新</a:t>
            </a:r>
            <a:endParaRPr kumimoji="1" lang="en-US" altLang="zh-CN" sz="1400" b="0" dirty="0">
              <a:solidFill>
                <a:srgbClr val="000000"/>
              </a:solidFill>
              <a:latin typeface="微软雅黑" panose="020B0503020204020204" charset="-122"/>
              <a:ea typeface="微软雅黑" panose="020B0503020204020204" charset="-122"/>
              <a:cs typeface="微软雅黑" panose="020B0503020204020204" charset="-122"/>
            </a:endParaRPr>
          </a:p>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x重机方案特殊考虑点：探讨订单交期对国内</a:t>
            </a:r>
            <a:r>
              <a:rPr kumimoji="1" lang="en-US" altLang="zh-CN" sz="1400" dirty="0">
                <a:solidFill>
                  <a:srgbClr val="000000"/>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国际业务的重要性和必要性</a:t>
            </a:r>
            <a:endPar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p:txBody>
      </p:sp>
      <p:grpSp>
        <p:nvGrpSpPr>
          <p:cNvPr id="3" name="组合 9"/>
          <p:cNvGrpSpPr/>
          <p:nvPr/>
        </p:nvGrpSpPr>
        <p:grpSpPr bwMode="auto">
          <a:xfrm>
            <a:off x="392110" y="2143116"/>
            <a:ext cx="3822700" cy="319424"/>
            <a:chOff x="325982" y="4147756"/>
            <a:chExt cx="3822242" cy="360040"/>
          </a:xfrm>
        </p:grpSpPr>
        <p:sp>
          <p:nvSpPr>
            <p:cNvPr id="66" name="矩形 8"/>
            <p:cNvSpPr>
              <a:spLocks noChangeArrowheads="1"/>
            </p:cNvSpPr>
            <p:nvPr/>
          </p:nvSpPr>
          <p:spPr bwMode="auto">
            <a:xfrm>
              <a:off x="506001" y="4147756"/>
              <a:ext cx="3642223" cy="360040"/>
            </a:xfrm>
            <a:prstGeom prst="rect">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参考交期</a:t>
              </a:r>
            </a:p>
          </p:txBody>
        </p:sp>
        <p:sp>
          <p:nvSpPr>
            <p:cNvPr id="67" name="椭圆 7"/>
            <p:cNvSpPr>
              <a:spLocks noChangeArrowheads="1"/>
            </p:cNvSpPr>
            <p:nvPr/>
          </p:nvSpPr>
          <p:spPr bwMode="auto">
            <a:xfrm>
              <a:off x="325982" y="4147756"/>
              <a:ext cx="360040" cy="360040"/>
            </a:xfrm>
            <a:prstGeom prst="ellipse">
              <a:avLst/>
            </a:prstGeom>
            <a:solidFill>
              <a:srgbClr val="7889FB"/>
            </a:solidFill>
            <a:ln w="19050" algn="ctr">
              <a:solidFill>
                <a:srgbClr val="FFFFFF"/>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1</a:t>
              </a:r>
              <a:endParaRPr kumimoji="0" lang="zh-CN" altLang="en-US"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sp>
        <p:nvSpPr>
          <p:cNvPr id="68" name="TextBox 10"/>
          <p:cNvSpPr txBox="1">
            <a:spLocks noChangeArrowheads="1"/>
          </p:cNvSpPr>
          <p:nvPr/>
        </p:nvSpPr>
        <p:spPr bwMode="auto">
          <a:xfrm>
            <a:off x="410366" y="2504907"/>
            <a:ext cx="3786188" cy="1177786"/>
          </a:xfrm>
          <a:prstGeom prst="rect">
            <a:avLst/>
          </a:prstGeom>
          <a:noFill/>
          <a:ln w="9525">
            <a:noFill/>
            <a:miter lim="800000"/>
          </a:ln>
        </p:spPr>
        <p:txBody>
          <a:bodyPr>
            <a:spAutoFit/>
          </a:bodyPr>
          <a:lstStyle/>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定义：</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针对某一时期的所有订单提供一个参考的交期，包含整车物流时间</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发布时间：</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定期或发生变化时以公告形式发布，供代理商下单之前参考，不针对具体订单</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说明：</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示例</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:3~5</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月提交的订单，常规产品交期为</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20</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天，非常规产品交期为</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30</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天</a:t>
            </a:r>
          </a:p>
        </p:txBody>
      </p:sp>
      <p:grpSp>
        <p:nvGrpSpPr>
          <p:cNvPr id="4" name="组合 109"/>
          <p:cNvGrpSpPr/>
          <p:nvPr/>
        </p:nvGrpSpPr>
        <p:grpSpPr bwMode="auto">
          <a:xfrm>
            <a:off x="4784726" y="4941702"/>
            <a:ext cx="3821113" cy="319424"/>
            <a:chOff x="325982" y="4147756"/>
            <a:chExt cx="3822242" cy="360046"/>
          </a:xfrm>
        </p:grpSpPr>
        <p:sp>
          <p:nvSpPr>
            <p:cNvPr id="70" name="矩形 110"/>
            <p:cNvSpPr>
              <a:spLocks noChangeArrowheads="1"/>
            </p:cNvSpPr>
            <p:nvPr/>
          </p:nvSpPr>
          <p:spPr bwMode="auto">
            <a:xfrm>
              <a:off x="506001" y="4147762"/>
              <a:ext cx="3642223" cy="360040"/>
            </a:xfrm>
            <a:prstGeom prst="rect">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2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rPr>
                <a:t>更新交期</a:t>
              </a:r>
            </a:p>
          </p:txBody>
        </p:sp>
        <p:sp>
          <p:nvSpPr>
            <p:cNvPr id="71" name="椭圆 111"/>
            <p:cNvSpPr>
              <a:spLocks noChangeArrowheads="1"/>
            </p:cNvSpPr>
            <p:nvPr/>
          </p:nvSpPr>
          <p:spPr bwMode="auto">
            <a:xfrm>
              <a:off x="325982" y="4147756"/>
              <a:ext cx="360040" cy="360040"/>
            </a:xfrm>
            <a:prstGeom prst="ellipse">
              <a:avLst/>
            </a:prstGeom>
            <a:solidFill>
              <a:srgbClr val="7889FB"/>
            </a:solidFill>
            <a:ln w="19050" algn="ctr">
              <a:solidFill>
                <a:srgbClr val="FFFFFF"/>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4</a:t>
              </a:r>
              <a:endParaRPr kumimoji="0" lang="zh-CN" altLang="en-US"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72" name="TextBox 112"/>
          <p:cNvSpPr txBox="1">
            <a:spLocks noChangeArrowheads="1"/>
          </p:cNvSpPr>
          <p:nvPr/>
        </p:nvSpPr>
        <p:spPr bwMode="auto">
          <a:xfrm>
            <a:off x="4802188" y="5299088"/>
            <a:ext cx="3786188" cy="1014556"/>
          </a:xfrm>
          <a:prstGeom prst="rect">
            <a:avLst/>
          </a:prstGeom>
          <a:noFill/>
          <a:ln w="9525">
            <a:noFill/>
            <a:miter lim="800000"/>
          </a:ln>
        </p:spPr>
        <p:txBody>
          <a:bodyPr>
            <a:spAutoFit/>
          </a:bodyPr>
          <a:lstStyle/>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定义：</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交期发生变化时向代理商进行更新</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发布时间：</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自承诺交期发布至车辆实际交付期间，交期发生向后变动（延期）时进行滚动更新</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示例：</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在</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DMS</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系统中特定的位置滚动更新，或以邮件的形式进行通知</a:t>
            </a:r>
          </a:p>
        </p:txBody>
      </p:sp>
      <p:grpSp>
        <p:nvGrpSpPr>
          <p:cNvPr id="5" name="组合 113"/>
          <p:cNvGrpSpPr/>
          <p:nvPr/>
        </p:nvGrpSpPr>
        <p:grpSpPr bwMode="auto">
          <a:xfrm>
            <a:off x="392110" y="4941702"/>
            <a:ext cx="3822700" cy="319424"/>
            <a:chOff x="325982" y="4147756"/>
            <a:chExt cx="3822242" cy="360040"/>
          </a:xfrm>
        </p:grpSpPr>
        <p:sp>
          <p:nvSpPr>
            <p:cNvPr id="74" name="矩形 114"/>
            <p:cNvSpPr>
              <a:spLocks noChangeArrowheads="1"/>
            </p:cNvSpPr>
            <p:nvPr/>
          </p:nvSpPr>
          <p:spPr bwMode="auto">
            <a:xfrm>
              <a:off x="506001" y="4147756"/>
              <a:ext cx="3642223" cy="360040"/>
            </a:xfrm>
            <a:prstGeom prst="rect">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预计交期</a:t>
              </a:r>
            </a:p>
          </p:txBody>
        </p:sp>
        <p:sp>
          <p:nvSpPr>
            <p:cNvPr id="75" name="椭圆 116"/>
            <p:cNvSpPr>
              <a:spLocks noChangeArrowheads="1"/>
            </p:cNvSpPr>
            <p:nvPr/>
          </p:nvSpPr>
          <p:spPr bwMode="auto">
            <a:xfrm>
              <a:off x="325982" y="4147756"/>
              <a:ext cx="360040" cy="360040"/>
            </a:xfrm>
            <a:prstGeom prst="ellipse">
              <a:avLst/>
            </a:prstGeom>
            <a:solidFill>
              <a:srgbClr val="7889FB"/>
            </a:solidFill>
            <a:ln w="19050" algn="ctr">
              <a:solidFill>
                <a:srgbClr val="FFFFFF"/>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2</a:t>
              </a:r>
              <a:endParaRPr kumimoji="0" lang="zh-CN" altLang="en-US"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sp>
        <p:nvSpPr>
          <p:cNvPr id="76" name="TextBox 117"/>
          <p:cNvSpPr txBox="1">
            <a:spLocks noChangeArrowheads="1"/>
          </p:cNvSpPr>
          <p:nvPr/>
        </p:nvSpPr>
        <p:spPr bwMode="auto">
          <a:xfrm>
            <a:off x="410366" y="5299088"/>
            <a:ext cx="3786188" cy="1177637"/>
          </a:xfrm>
          <a:prstGeom prst="rect">
            <a:avLst/>
          </a:prstGeom>
          <a:noFill/>
          <a:ln w="9525">
            <a:noFill/>
            <a:miter lim="800000"/>
          </a:ln>
        </p:spPr>
        <p:txBody>
          <a:bodyPr>
            <a:spAutoFit/>
          </a:bodyPr>
          <a:lstStyle/>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定义：</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运用产能切片针对具体的订单在</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24</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小时内向代理商答复发布预计交期</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发布时间：</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根据产能切片进行生产预排后的预计交期</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说明：</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通过产能切片</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IT</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系统答复预计交期，最终能实现产能切片排产即可以直接执行；未</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IT</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化前，可以使用参考交期或承诺交期作为考核的依据</a:t>
            </a:r>
          </a:p>
        </p:txBody>
      </p:sp>
      <p:grpSp>
        <p:nvGrpSpPr>
          <p:cNvPr id="6" name="组合 113"/>
          <p:cNvGrpSpPr/>
          <p:nvPr/>
        </p:nvGrpSpPr>
        <p:grpSpPr bwMode="auto">
          <a:xfrm>
            <a:off x="4783932" y="2143116"/>
            <a:ext cx="3822700" cy="319424"/>
            <a:chOff x="325982" y="4147756"/>
            <a:chExt cx="3822242" cy="360040"/>
          </a:xfrm>
        </p:grpSpPr>
        <p:sp>
          <p:nvSpPr>
            <p:cNvPr id="78" name="矩形 114"/>
            <p:cNvSpPr>
              <a:spLocks noChangeArrowheads="1"/>
            </p:cNvSpPr>
            <p:nvPr/>
          </p:nvSpPr>
          <p:spPr bwMode="auto">
            <a:xfrm>
              <a:off x="506001" y="4147756"/>
              <a:ext cx="3642223" cy="360040"/>
            </a:xfrm>
            <a:prstGeom prst="rect">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承诺交期</a:t>
              </a:r>
            </a:p>
          </p:txBody>
        </p:sp>
        <p:sp>
          <p:nvSpPr>
            <p:cNvPr id="79" name="椭圆 116"/>
            <p:cNvSpPr>
              <a:spLocks noChangeArrowheads="1"/>
            </p:cNvSpPr>
            <p:nvPr/>
          </p:nvSpPr>
          <p:spPr bwMode="auto">
            <a:xfrm>
              <a:off x="325982" y="4147756"/>
              <a:ext cx="360040" cy="360040"/>
            </a:xfrm>
            <a:prstGeom prst="ellipse">
              <a:avLst/>
            </a:prstGeom>
            <a:solidFill>
              <a:srgbClr val="7889FB"/>
            </a:solidFill>
            <a:ln w="19050" algn="ctr">
              <a:solidFill>
                <a:srgbClr val="FFFFFF"/>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3</a:t>
              </a:r>
              <a:endParaRPr kumimoji="0" lang="zh-CN" altLang="en-US" sz="1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grpSp>
      <p:sp>
        <p:nvSpPr>
          <p:cNvPr id="80" name="TextBox 117"/>
          <p:cNvSpPr txBox="1">
            <a:spLocks noChangeArrowheads="1"/>
          </p:cNvSpPr>
          <p:nvPr/>
        </p:nvSpPr>
        <p:spPr bwMode="auto">
          <a:xfrm>
            <a:off x="4802188" y="2504907"/>
            <a:ext cx="3786188" cy="1177637"/>
          </a:xfrm>
          <a:prstGeom prst="rect">
            <a:avLst/>
          </a:prstGeom>
          <a:noFill/>
          <a:ln w="9525">
            <a:noFill/>
            <a:miter lim="800000"/>
          </a:ln>
        </p:spPr>
        <p:txBody>
          <a:bodyPr>
            <a:spAutoFit/>
          </a:bodyPr>
          <a:lstStyle/>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定义：</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在周度</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S&amp;OP</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评审后，生产上线锁定，针对具体的订单向代理商正式发布承诺的交期，是考量准时交付和延期索赔的基准时间</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发布时间：</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根据周度</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S&amp;OP</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锁定后后，发布承诺交期</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defTabSz="914400" eaLnBrk="1" fontAlgn="auto" latinLnBrk="0" hangingPunct="1">
              <a:lnSpc>
                <a:spcPct val="100000"/>
              </a:lnSpc>
              <a:spcBef>
                <a:spcPts val="0"/>
              </a:spcBef>
              <a:spcAft>
                <a:spcPts val="500"/>
              </a:spcAft>
              <a:buClrTx/>
              <a:buSzTx/>
              <a:buFontTx/>
              <a:buNone/>
              <a:defRPr/>
            </a:pPr>
            <a:r>
              <a:rPr kumimoji="0" lang="zh-CN" altLang="en-US" sz="1000" b="1" i="0" u="sng" strike="noStrike" kern="0" cap="none" spc="0" normalizeH="0" baseline="0" noProof="0" dirty="0">
                <a:ln>
                  <a:noFill/>
                </a:ln>
                <a:solidFill>
                  <a:srgbClr val="7889FB"/>
                </a:solidFill>
                <a:effectLst/>
                <a:uLnTx/>
                <a:uFillTx/>
                <a:latin typeface="微软雅黑" panose="020B0503020204020204" charset="-122"/>
                <a:ea typeface="微软雅黑" panose="020B0503020204020204" charset="-122"/>
              </a:rPr>
              <a:t>示例：</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在</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DMS</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系统中特定的位置显示， 或以邮件的形式进行通知</a:t>
            </a:r>
          </a:p>
        </p:txBody>
      </p:sp>
      <p:sp>
        <p:nvSpPr>
          <p:cNvPr id="56" name="AutoShape 9"/>
          <p:cNvSpPr>
            <a:spLocks noChangeArrowheads="1"/>
          </p:cNvSpPr>
          <p:nvPr/>
        </p:nvSpPr>
        <p:spPr bwMode="auto">
          <a:xfrm>
            <a:off x="2255480" y="4014471"/>
            <a:ext cx="1620000" cy="447786"/>
          </a:xfrm>
          <a:prstGeom prst="chevron">
            <a:avLst>
              <a:gd name="adj" fmla="val 25894"/>
            </a:avLst>
          </a:prstGeom>
          <a:solidFill>
            <a:srgbClr val="7889FB"/>
          </a:solidFill>
          <a:ln w="12700">
            <a:noFill/>
            <a:miter lim="800000"/>
          </a:ln>
          <a:effectLst>
            <a:outerShdw blurRad="50800" dist="38100" dir="2700000" algn="tl" rotWithShape="0">
              <a:prstClr val="black">
                <a:alpha val="40000"/>
              </a:prstClr>
            </a:outerShdw>
          </a:effectLst>
        </p:spPr>
        <p:txBody>
          <a:bodyPr lIns="36000" tIns="92075" rIns="36000" bIns="92075" anchor="ctr"/>
          <a:lstStyle/>
          <a:p>
            <a:pPr marL="0" marR="0" lvl="0" indent="0" algn="ctr" defTabSz="914400" eaLnBrk="1" fontAlgn="auto" latinLnBrk="0" hangingPunct="1">
              <a:lnSpc>
                <a:spcPct val="100000"/>
              </a:lnSpc>
              <a:spcBef>
                <a:spcPts val="0"/>
              </a:spcBef>
              <a:spcAft>
                <a:spcPts val="0"/>
              </a:spcAft>
              <a:buClrTx/>
              <a:buSzTx/>
              <a:buFontTx/>
              <a:buNone/>
              <a:tabLst>
                <a:tab pos="85725" algn="l"/>
              </a:tabLst>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订单</a:t>
            </a:r>
            <a:r>
              <a:rPr lang="zh-CN" altLang="en-US" sz="1200" b="1" kern="0" dirty="0">
                <a:solidFill>
                  <a:srgbClr val="FFFFFF"/>
                </a:solidFill>
                <a:latin typeface="微软雅黑" panose="020B0503020204020204" charset="-122"/>
                <a:ea typeface="微软雅黑" panose="020B0503020204020204" charset="-122"/>
              </a:rPr>
              <a:t>评审</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57" name="AutoShape 10"/>
          <p:cNvSpPr>
            <a:spLocks noChangeArrowheads="1"/>
          </p:cNvSpPr>
          <p:nvPr/>
        </p:nvSpPr>
        <p:spPr bwMode="auto">
          <a:xfrm>
            <a:off x="3844976" y="4014471"/>
            <a:ext cx="1620000" cy="447786"/>
          </a:xfrm>
          <a:prstGeom prst="chevron">
            <a:avLst>
              <a:gd name="adj" fmla="val 25874"/>
            </a:avLst>
          </a:prstGeom>
          <a:solidFill>
            <a:srgbClr val="7889FB"/>
          </a:solidFill>
          <a:ln w="12700">
            <a:noFill/>
            <a:miter lim="800000"/>
          </a:ln>
          <a:effectLst>
            <a:outerShdw blurRad="50800" dist="38100" dir="2700000" algn="tl" rotWithShape="0">
              <a:prstClr val="black">
                <a:alpha val="40000"/>
              </a:prstClr>
            </a:outerShdw>
          </a:effectLst>
        </p:spPr>
        <p:txBody>
          <a:bodyPr lIns="36000" tIns="92075" rIns="36000" bIns="92075" anchor="ctr"/>
          <a:lstStyle/>
          <a:p>
            <a:pPr marL="0" marR="0" lvl="0" indent="0" algn="ctr" defTabSz="914400" eaLnBrk="1" fontAlgn="auto" latinLnBrk="0" hangingPunct="1">
              <a:lnSpc>
                <a:spcPct val="100000"/>
              </a:lnSpc>
              <a:spcBef>
                <a:spcPts val="0"/>
              </a:spcBef>
              <a:spcAft>
                <a:spcPts val="0"/>
              </a:spcAft>
              <a:buClrTx/>
              <a:buSzTx/>
              <a:buFontTx/>
              <a:buNone/>
              <a:tabLst>
                <a:tab pos="85725" algn="l"/>
              </a:tabLst>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订单锁定</a:t>
            </a:r>
          </a:p>
        </p:txBody>
      </p:sp>
      <p:sp>
        <p:nvSpPr>
          <p:cNvPr id="58" name="AutoShape 10"/>
          <p:cNvSpPr>
            <a:spLocks noChangeArrowheads="1"/>
          </p:cNvSpPr>
          <p:nvPr/>
        </p:nvSpPr>
        <p:spPr bwMode="auto">
          <a:xfrm>
            <a:off x="5434472" y="4014471"/>
            <a:ext cx="1620000" cy="447786"/>
          </a:xfrm>
          <a:prstGeom prst="chevron">
            <a:avLst>
              <a:gd name="adj" fmla="val 25874"/>
            </a:avLst>
          </a:prstGeom>
          <a:solidFill>
            <a:srgbClr val="7889FB"/>
          </a:solidFill>
          <a:ln w="12700">
            <a:noFill/>
            <a:miter lim="800000"/>
          </a:ln>
          <a:effectLst>
            <a:outerShdw blurRad="50800" dist="38100" dir="2700000" algn="tl" rotWithShape="0">
              <a:prstClr val="black">
                <a:alpha val="40000"/>
              </a:prstClr>
            </a:outerShdw>
          </a:effectLst>
        </p:spPr>
        <p:txBody>
          <a:bodyPr lIns="36000" tIns="92075" rIns="36000" bIns="92075" anchor="ctr"/>
          <a:lstStyle/>
          <a:p>
            <a:pPr marL="0" marR="0" lvl="0" indent="0" algn="ctr" defTabSz="914400" eaLnBrk="0" fontAlgn="auto" latinLnBrk="0" hangingPunct="0">
              <a:lnSpc>
                <a:spcPct val="90000"/>
              </a:lnSpc>
              <a:spcBef>
                <a:spcPts val="0"/>
              </a:spcBef>
              <a:spcAft>
                <a:spcPts val="0"/>
              </a:spcAft>
              <a:buClr>
                <a:srgbClr val="000000"/>
              </a:buClr>
              <a:buSzTx/>
              <a:buFont typeface="Arial" panose="020B0604020202020204" pitchFamily="34" charset="0"/>
              <a:buNone/>
              <a:tabLst>
                <a:tab pos="85725" algn="l"/>
              </a:tabLst>
              <a:defRPr/>
            </a:pPr>
            <a:r>
              <a:rPr lang="zh-CN" altLang="en-US" sz="1200" b="1" kern="0" dirty="0">
                <a:solidFill>
                  <a:srgbClr val="FFFFFF"/>
                </a:solidFill>
                <a:latin typeface="微软雅黑" panose="020B0503020204020204" charset="-122"/>
                <a:ea typeface="微软雅黑" panose="020B0503020204020204" charset="-122"/>
              </a:rPr>
              <a:t>订单执行</a:t>
            </a:r>
            <a:endPar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p:txBody>
      </p:sp>
      <p:sp>
        <p:nvSpPr>
          <p:cNvPr id="61" name="AutoShape 6"/>
          <p:cNvSpPr>
            <a:spLocks noChangeArrowheads="1"/>
          </p:cNvSpPr>
          <p:nvPr/>
        </p:nvSpPr>
        <p:spPr bwMode="auto">
          <a:xfrm>
            <a:off x="665984" y="4014471"/>
            <a:ext cx="1620000" cy="447786"/>
          </a:xfrm>
          <a:prstGeom prst="homePlate">
            <a:avLst>
              <a:gd name="adj" fmla="val 24381"/>
            </a:avLst>
          </a:prstGeom>
          <a:solidFill>
            <a:srgbClr val="7889FB"/>
          </a:solidFill>
          <a:ln w="12700">
            <a:noFill/>
            <a:miter lim="800000"/>
          </a:ln>
          <a:effectLst>
            <a:outerShdw blurRad="50800" dist="38100" dir="2700000" algn="tl" rotWithShape="0">
              <a:prstClr val="black">
                <a:alpha val="40000"/>
              </a:prstClr>
            </a:outerShdw>
          </a:effectLst>
        </p:spPr>
        <p:txBody>
          <a:bodyPr lIns="36000" tIns="92075" rIns="36000" bIns="92075"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订单提报</a:t>
            </a:r>
          </a:p>
        </p:txBody>
      </p:sp>
      <p:sp>
        <p:nvSpPr>
          <p:cNvPr id="62" name="AutoShape 10"/>
          <p:cNvSpPr>
            <a:spLocks noChangeArrowheads="1"/>
          </p:cNvSpPr>
          <p:nvPr/>
        </p:nvSpPr>
        <p:spPr bwMode="auto">
          <a:xfrm>
            <a:off x="7023966" y="4014471"/>
            <a:ext cx="1620000" cy="447786"/>
          </a:xfrm>
          <a:prstGeom prst="chevron">
            <a:avLst>
              <a:gd name="adj" fmla="val 25874"/>
            </a:avLst>
          </a:prstGeom>
          <a:solidFill>
            <a:srgbClr val="7889FB"/>
          </a:solidFill>
          <a:ln w="12700">
            <a:noFill/>
            <a:miter lim="800000"/>
          </a:ln>
          <a:effectLst>
            <a:outerShdw blurRad="50800" dist="38100" dir="2700000" algn="tl" rotWithShape="0">
              <a:prstClr val="black">
                <a:alpha val="40000"/>
              </a:prstClr>
            </a:outerShdw>
          </a:effectLst>
        </p:spPr>
        <p:txBody>
          <a:bodyPr lIns="36000" tIns="92075" rIns="36000" bIns="92075" anchor="ctr"/>
          <a:lstStyle/>
          <a:p>
            <a:pPr marL="0" marR="0" lvl="0" indent="0" algn="ctr" defTabSz="914400" eaLnBrk="1" fontAlgn="auto" latinLnBrk="0" hangingPunct="1">
              <a:lnSpc>
                <a:spcPct val="100000"/>
              </a:lnSpc>
              <a:spcBef>
                <a:spcPts val="0"/>
              </a:spcBef>
              <a:spcAft>
                <a:spcPts val="0"/>
              </a:spcAft>
              <a:buClrTx/>
              <a:buSzTx/>
              <a:buFontTx/>
              <a:buNone/>
              <a:tabLst>
                <a:tab pos="85725" algn="l"/>
              </a:tabLst>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订单交付</a:t>
            </a:r>
          </a:p>
        </p:txBody>
      </p:sp>
      <p:cxnSp>
        <p:nvCxnSpPr>
          <p:cNvPr id="63" name="直接箭头连接符 101"/>
          <p:cNvCxnSpPr>
            <a:cxnSpLocks noChangeShapeType="1"/>
          </p:cNvCxnSpPr>
          <p:nvPr/>
        </p:nvCxnSpPr>
        <p:spPr bwMode="auto">
          <a:xfrm>
            <a:off x="533372" y="3798890"/>
            <a:ext cx="0" cy="429496"/>
          </a:xfrm>
          <a:prstGeom prst="straightConnector1">
            <a:avLst/>
          </a:prstGeom>
          <a:noFill/>
          <a:ln w="19050" algn="ctr">
            <a:solidFill>
              <a:srgbClr val="FF0000"/>
            </a:solidFill>
            <a:round/>
            <a:tailEnd type="arrow" w="med" len="med"/>
          </a:ln>
        </p:spPr>
      </p:cxnSp>
      <p:sp>
        <p:nvSpPr>
          <p:cNvPr id="64" name="右大括号 5"/>
          <p:cNvSpPr/>
          <p:nvPr/>
        </p:nvSpPr>
        <p:spPr bwMode="auto">
          <a:xfrm rot="5400000">
            <a:off x="6881047" y="3136949"/>
            <a:ext cx="338933" cy="3099642"/>
          </a:xfrm>
          <a:prstGeom prst="rightBrace">
            <a:avLst>
              <a:gd name="adj1" fmla="val 8321"/>
              <a:gd name="adj2" fmla="val 50000"/>
            </a:avLst>
          </a:prstGeom>
          <a:noFill/>
          <a:ln w="19050" algn="ctr">
            <a:solidFill>
              <a:srgbClr val="FF0000"/>
            </a:solidFill>
            <a:round/>
          </a:ln>
        </p:spPr>
        <p:txBody>
          <a:bodyPr anchor="ctr"/>
          <a:lstStyle/>
          <a:p>
            <a:pPr algn="ctr"/>
            <a:endParaRPr lang="zh-CN" altLang="en-US" sz="1200">
              <a:latin typeface="微软雅黑" panose="020B0503020204020204" charset="-122"/>
              <a:ea typeface="微软雅黑" panose="020B0503020204020204" charset="-122"/>
            </a:endParaRPr>
          </a:p>
        </p:txBody>
      </p:sp>
      <p:cxnSp>
        <p:nvCxnSpPr>
          <p:cNvPr id="82" name="直接箭头连接符 101"/>
          <p:cNvCxnSpPr>
            <a:cxnSpLocks noChangeShapeType="1"/>
          </p:cNvCxnSpPr>
          <p:nvPr/>
        </p:nvCxnSpPr>
        <p:spPr bwMode="auto">
          <a:xfrm flipV="1">
            <a:off x="5214942" y="3643314"/>
            <a:ext cx="0" cy="282031"/>
          </a:xfrm>
          <a:prstGeom prst="straightConnector1">
            <a:avLst/>
          </a:prstGeom>
          <a:noFill/>
          <a:ln w="19050" algn="ctr">
            <a:solidFill>
              <a:srgbClr val="FF0000"/>
            </a:solidFill>
            <a:round/>
            <a:tailEnd type="arrow" w="med" len="med"/>
          </a:ln>
        </p:spPr>
      </p:cxnSp>
      <p:cxnSp>
        <p:nvCxnSpPr>
          <p:cNvPr id="83" name="直接箭头连接符 101"/>
          <p:cNvCxnSpPr>
            <a:cxnSpLocks noChangeShapeType="1"/>
          </p:cNvCxnSpPr>
          <p:nvPr/>
        </p:nvCxnSpPr>
        <p:spPr bwMode="auto">
          <a:xfrm flipH="1">
            <a:off x="3786182" y="4500570"/>
            <a:ext cx="0" cy="330584"/>
          </a:xfrm>
          <a:prstGeom prst="straightConnector1">
            <a:avLst/>
          </a:prstGeom>
          <a:noFill/>
          <a:ln w="19050" algn="ctr">
            <a:solidFill>
              <a:srgbClr val="FF0000"/>
            </a:solidFill>
            <a:round/>
            <a:tailEnd type="arrow" w="med" len="med"/>
          </a:ln>
        </p:spPr>
      </p:cxnSp>
      <p:sp>
        <p:nvSpPr>
          <p:cNvPr id="30"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3"/>
          <a:srcRect/>
          <a:stretch>
            <a:fillRect/>
          </a:stretch>
        </p:blipFill>
        <p:spPr bwMode="auto">
          <a:xfrm>
            <a:off x="4572000" y="2857496"/>
            <a:ext cx="4320000" cy="3238295"/>
          </a:xfrm>
          <a:prstGeom prst="rect">
            <a:avLst/>
          </a:prstGeom>
          <a:noFill/>
          <a:ln w="9525">
            <a:noFill/>
            <a:miter lim="800000"/>
            <a:headEnd/>
            <a:tailEnd/>
          </a:ln>
          <a:effectLst/>
        </p:spPr>
      </p:pic>
      <p:pic>
        <p:nvPicPr>
          <p:cNvPr id="34819" name="Picture 3"/>
          <p:cNvPicPr>
            <a:picLocks noChangeArrowheads="1"/>
          </p:cNvPicPr>
          <p:nvPr/>
        </p:nvPicPr>
        <p:blipFill>
          <a:blip r:embed="rId4"/>
          <a:srcRect/>
          <a:stretch>
            <a:fillRect/>
          </a:stretch>
        </p:blipFill>
        <p:spPr bwMode="auto">
          <a:xfrm>
            <a:off x="214282" y="2857496"/>
            <a:ext cx="4320000" cy="3237053"/>
          </a:xfrm>
          <a:prstGeom prst="rect">
            <a:avLst/>
          </a:prstGeom>
          <a:noFill/>
          <a:ln w="9525">
            <a:noFill/>
            <a:miter lim="800000"/>
            <a:headEnd/>
            <a:tailEnd/>
          </a:ln>
          <a:effectLst/>
        </p:spPr>
      </p:pic>
      <p:sp>
        <p:nvSpPr>
          <p:cNvPr id="2" name="标题 1"/>
          <p:cNvSpPr>
            <a:spLocks noGrp="1"/>
          </p:cNvSpPr>
          <p:nvPr>
            <p:ph type="title"/>
          </p:nvPr>
        </p:nvSpPr>
        <p:spPr/>
        <p:txBody>
          <a:bodyPr/>
          <a:lstStyle/>
          <a:p>
            <a:r>
              <a:rPr dirty="0"/>
              <a:t>B-4. </a:t>
            </a:r>
            <a:r>
              <a:rPr lang="zh-CN" altLang="en-US" dirty="0"/>
              <a:t>订单可视化（以某装备企业订单优先级为例）</a:t>
            </a:r>
          </a:p>
        </p:txBody>
      </p:sp>
      <p:sp>
        <p:nvSpPr>
          <p:cNvPr id="19" name="TextBox 18"/>
          <p:cNvSpPr txBox="1"/>
          <p:nvPr/>
        </p:nvSpPr>
        <p:spPr bwMode="auto">
          <a:xfrm>
            <a:off x="285720" y="1214422"/>
            <a:ext cx="8501122" cy="521970"/>
          </a:xfrm>
          <a:prstGeom prst="rect">
            <a:avLst/>
          </a:prstGeom>
          <a:noFill/>
          <a:ln>
            <a:noFill/>
          </a:ln>
        </p:spPr>
        <p:txBody>
          <a:bodyPr wrap="square" rtlCol="0">
            <a:spAutoFit/>
          </a:bodyPr>
          <a:lstStyle/>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订单可视化</a:t>
            </a:r>
            <a:r>
              <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rPr>
              <a:t>要点：订单关键节点、订单可视规则、各个节点的</a:t>
            </a:r>
            <a:r>
              <a:rPr kumimoji="1" lang="en-US" altLang="zh-CN" sz="1400" b="0" dirty="0">
                <a:solidFill>
                  <a:srgbClr val="000000"/>
                </a:solidFill>
                <a:latin typeface="微软雅黑" panose="020B0503020204020204" charset="-122"/>
                <a:ea typeface="微软雅黑" panose="020B0503020204020204" charset="-122"/>
                <a:cs typeface="微软雅黑" panose="020B0503020204020204" charset="-122"/>
              </a:rPr>
              <a:t>KPI</a:t>
            </a:r>
          </a:p>
          <a:p>
            <a:pPr marL="266700" indent="-266700">
              <a:buFont typeface="Wingdings" panose="05000000000000000000" pitchFamily="2" charset="2"/>
              <a:buChar char="Ø"/>
            </a:pPr>
            <a:r>
              <a:rPr kumimoji="1" lang="zh-CN" altLang="en-US" sz="1400" dirty="0">
                <a:solidFill>
                  <a:srgbClr val="000000"/>
                </a:solidFill>
                <a:latin typeface="微软雅黑" panose="020B0503020204020204" charset="-122"/>
                <a:ea typeface="微软雅黑" panose="020B0503020204020204" charset="-122"/>
                <a:cs typeface="微软雅黑" panose="020B0503020204020204" charset="-122"/>
              </a:rPr>
              <a:t>x重机方案特殊考虑点：不同模式的订单关键节点差异</a:t>
            </a:r>
            <a:endParaRPr kumimoji="1" lang="zh-CN" altLang="en-US" sz="14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3" name="自选图形 12"/>
          <p:cNvSpPr>
            <a:spLocks noChangeArrowheads="1"/>
          </p:cNvSpPr>
          <p:nvPr/>
        </p:nvSpPr>
        <p:spPr bwMode="gray">
          <a:xfrm>
            <a:off x="214282" y="2500306"/>
            <a:ext cx="4284000" cy="311149"/>
          </a:xfrm>
          <a:prstGeom prst="roundRect">
            <a:avLst>
              <a:gd name="adj" fmla="val 16667"/>
            </a:avLst>
          </a:prstGeom>
          <a:solidFill>
            <a:srgbClr val="D6DBFE"/>
          </a:solidFill>
          <a:ln w="28575">
            <a:no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订单关键节点</a:t>
            </a:r>
          </a:p>
        </p:txBody>
      </p:sp>
      <p:sp>
        <p:nvSpPr>
          <p:cNvPr id="134" name="自选图形 12"/>
          <p:cNvSpPr>
            <a:spLocks noChangeArrowheads="1"/>
          </p:cNvSpPr>
          <p:nvPr/>
        </p:nvSpPr>
        <p:spPr bwMode="gray">
          <a:xfrm>
            <a:off x="4572000" y="2500306"/>
            <a:ext cx="4284000" cy="311149"/>
          </a:xfrm>
          <a:prstGeom prst="roundRect">
            <a:avLst>
              <a:gd name="adj" fmla="val 16667"/>
            </a:avLst>
          </a:prstGeom>
          <a:solidFill>
            <a:srgbClr val="D6DBFE"/>
          </a:solidFill>
          <a:ln w="28575">
            <a:no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订单可视规则</a:t>
            </a:r>
          </a:p>
        </p:txBody>
      </p:sp>
      <p:sp>
        <p:nvSpPr>
          <p:cNvPr id="9"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dirty="0"/>
              <a:t>C. </a:t>
            </a:r>
            <a:r>
              <a:rPr lang="zh-CN" altLang="en-US" dirty="0"/>
              <a:t>产销平衡与生产计划解决方案概要说明</a:t>
            </a:r>
          </a:p>
        </p:txBody>
      </p:sp>
      <p:sp>
        <p:nvSpPr>
          <p:cNvPr id="72" name="Rectangle 20"/>
          <p:cNvSpPr txBox="1">
            <a:spLocks noChangeArrowheads="1"/>
          </p:cNvSpPr>
          <p:nvPr/>
        </p:nvSpPr>
        <p:spPr>
          <a:xfrm>
            <a:off x="323850" y="1341909"/>
            <a:ext cx="4462463" cy="1222995"/>
          </a:xfrm>
          <a:prstGeom prst="rect">
            <a:avLst/>
          </a:prstGeom>
          <a:ln>
            <a:solidFill>
              <a:srgbClr val="7889FB"/>
            </a:solidFill>
          </a:ln>
        </p:spPr>
        <p:txBody>
          <a:bodyPr anchor="ctr"/>
          <a:lstStyle/>
          <a:p>
            <a:pPr marL="173355" marR="0" lvl="0" indent="-173355" defTabSz="914400" eaLnBrk="0" fontAlgn="auto" latinLnBrk="0" hangingPunct="0">
              <a:lnSpc>
                <a:spcPct val="100000"/>
              </a:lnSpc>
              <a:spcBef>
                <a:spcPct val="20000"/>
              </a:spcBef>
              <a:spcAft>
                <a:spcPts val="0"/>
              </a:spcAft>
              <a:buClr>
                <a:srgbClr val="000000"/>
              </a:buClr>
              <a:buSzTx/>
              <a:buFont typeface="Wingdings" panose="05000000000000000000" pitchFamily="2" charset="2"/>
              <a:buNone/>
              <a:defRPr/>
            </a:pP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3355" lvl="0" indent="-173355" eaLnBrk="0" hangingPunct="0">
              <a:spcBef>
                <a:spcPct val="20000"/>
              </a:spcBef>
              <a:buClr>
                <a:srgbClr val="7889FB"/>
              </a:buClr>
              <a:buFont typeface="Wingdings" panose="05000000000000000000" pitchFamily="2" charset="2"/>
              <a:buChar char="§"/>
              <a:defRPr/>
            </a:pPr>
            <a:r>
              <a:rPr lang="zh-CN" altLang="en-US" sz="1200" kern="0" dirty="0">
                <a:solidFill>
                  <a:sysClr val="windowText" lastClr="000000"/>
                </a:solidFill>
                <a:latin typeface="微软雅黑" panose="020B0503020204020204" charset="-122"/>
                <a:ea typeface="微软雅黑" panose="020B0503020204020204" charset="-122"/>
              </a:rPr>
              <a:t>从整个公司的层面，跨职能或跨层级调动资源并进行最优配置，以解决产销冲突和业务矛盾，获得最佳的业务成果，提升公司运营能力</a:t>
            </a:r>
          </a:p>
          <a:p>
            <a:pPr marL="173355" indent="-173355" eaLnBrk="0" hangingPunct="0">
              <a:spcBef>
                <a:spcPct val="20000"/>
              </a:spcBef>
              <a:buClr>
                <a:srgbClr val="7889FB"/>
              </a:buClr>
              <a:buFont typeface="Wingdings" panose="05000000000000000000" pitchFamily="2" charset="2"/>
              <a:buChar char="§"/>
              <a:defRPr/>
            </a:pPr>
            <a:r>
              <a:rPr lang="zh-CN" altLang="en-US" sz="1200" kern="0" dirty="0">
                <a:solidFill>
                  <a:srgbClr val="000000"/>
                </a:solidFill>
                <a:latin typeface="微软雅黑" panose="020B0503020204020204" charset="-122"/>
                <a:ea typeface="微软雅黑" panose="020B0503020204020204" charset="-122"/>
              </a:rPr>
              <a:t>完善包含从主生产计划、工作中心小日程计划到</a:t>
            </a:r>
            <a:r>
              <a:rPr lang="en-US" altLang="zh-CN" sz="1200" kern="0" dirty="0">
                <a:solidFill>
                  <a:srgbClr val="000000"/>
                </a:solidFill>
                <a:latin typeface="微软雅黑" panose="020B0503020204020204" charset="-122"/>
                <a:ea typeface="微软雅黑" panose="020B0503020204020204" charset="-122"/>
              </a:rPr>
              <a:t>3+2</a:t>
            </a:r>
            <a:r>
              <a:rPr lang="zh-CN" altLang="en-US" sz="1200" kern="0" dirty="0">
                <a:solidFill>
                  <a:srgbClr val="000000"/>
                </a:solidFill>
                <a:latin typeface="微软雅黑" panose="020B0503020204020204" charset="-122"/>
                <a:ea typeface="微软雅黑" panose="020B0503020204020204" charset="-122"/>
              </a:rPr>
              <a:t>滚动计划的计划体系</a:t>
            </a:r>
            <a:endParaRPr lang="en-US" altLang="zh-CN" sz="1200" kern="0" dirty="0">
              <a:solidFill>
                <a:srgbClr val="000000"/>
              </a:solidFill>
              <a:latin typeface="微软雅黑" panose="020B0503020204020204" charset="-122"/>
              <a:ea typeface="微软雅黑" panose="020B0503020204020204" charset="-122"/>
            </a:endParaRPr>
          </a:p>
        </p:txBody>
      </p:sp>
      <p:sp>
        <p:nvSpPr>
          <p:cNvPr id="74" name="Rectangle 21"/>
          <p:cNvSpPr>
            <a:spLocks noChangeArrowheads="1"/>
          </p:cNvSpPr>
          <p:nvPr/>
        </p:nvSpPr>
        <p:spPr bwMode="auto">
          <a:xfrm>
            <a:off x="642938" y="5572125"/>
            <a:ext cx="8286750" cy="928688"/>
          </a:xfrm>
          <a:prstGeom prst="rect">
            <a:avLst/>
          </a:prstGeom>
          <a:noFill/>
          <a:ln w="9525">
            <a:solidFill>
              <a:srgbClr val="7889FB"/>
            </a:solidFill>
            <a:miter lim="800000"/>
          </a:ln>
        </p:spPr>
        <p:txBody>
          <a:bodyPr/>
          <a:lstStyle/>
          <a:p>
            <a:pPr marL="173355" indent="-173355" eaLnBrk="0" hangingPunct="0">
              <a:spcBef>
                <a:spcPct val="20000"/>
              </a:spcBef>
              <a:buClr>
                <a:schemeClr val="accent1"/>
              </a:buClr>
              <a:buFont typeface="Wingdings" panose="05000000000000000000" pitchFamily="2" charset="2"/>
              <a:buChar char="§"/>
              <a:defRPr/>
            </a:pPr>
            <a:r>
              <a:rPr lang="zh-CN" altLang="en-US" sz="1200" dirty="0">
                <a:solidFill>
                  <a:srgbClr val="000000"/>
                </a:solidFill>
                <a:latin typeface="微软雅黑" panose="020B0503020204020204" charset="-122"/>
                <a:ea typeface="微软雅黑" panose="020B0503020204020204" charset="-122"/>
              </a:rPr>
              <a:t>及早识别供需矛盾，合理配置资源，提升运营效率和客户服务水平</a:t>
            </a:r>
            <a:endParaRPr lang="en-US" altLang="zh-CN" sz="1200" dirty="0">
              <a:solidFill>
                <a:srgbClr val="000000"/>
              </a:solidFill>
              <a:latin typeface="微软雅黑" panose="020B0503020204020204" charset="-122"/>
              <a:ea typeface="微软雅黑" panose="020B0503020204020204" charset="-122"/>
            </a:endParaRPr>
          </a:p>
          <a:p>
            <a:pPr marL="173355" indent="-173355" eaLnBrk="0" hangingPunct="0">
              <a:spcBef>
                <a:spcPct val="20000"/>
              </a:spcBef>
              <a:buClr>
                <a:schemeClr val="accent1"/>
              </a:buClr>
              <a:buFont typeface="Wingdings" panose="05000000000000000000" pitchFamily="2" charset="2"/>
              <a:buChar char="§"/>
              <a:defRPr/>
            </a:pPr>
            <a:r>
              <a:rPr lang="zh-CN" altLang="en-US" sz="1200" dirty="0">
                <a:latin typeface="微软雅黑" panose="020B0503020204020204" charset="-122"/>
                <a:ea typeface="微软雅黑" panose="020B0503020204020204" charset="-122"/>
              </a:rPr>
              <a:t>提供更可靠的生产及零部件计划，缩短零部件交付周期，降低全流程运营成本</a:t>
            </a:r>
            <a:endParaRPr lang="en-US" altLang="zh-CN" sz="1200" dirty="0">
              <a:latin typeface="微软雅黑" panose="020B0503020204020204" charset="-122"/>
              <a:ea typeface="微软雅黑" panose="020B0503020204020204" charset="-122"/>
            </a:endParaRPr>
          </a:p>
          <a:p>
            <a:pPr marL="173355" lvl="0" indent="-173355" eaLnBrk="0" hangingPunct="0">
              <a:spcBef>
                <a:spcPct val="20000"/>
              </a:spcBef>
              <a:buClr>
                <a:srgbClr val="7889FB"/>
              </a:buClr>
              <a:buFont typeface="Wingdings" panose="05000000000000000000" pitchFamily="2" charset="2"/>
              <a:buChar char="§"/>
              <a:defRPr/>
            </a:pPr>
            <a:r>
              <a:rPr lang="zh-CN" altLang="en-US" sz="1200" kern="0" dirty="0">
                <a:solidFill>
                  <a:srgbClr val="000000"/>
                </a:solidFill>
                <a:latin typeface="微软雅黑" panose="020B0503020204020204" charset="-122"/>
                <a:ea typeface="微软雅黑" panose="020B0503020204020204" charset="-122"/>
              </a:rPr>
              <a:t>提高计划对生产执行和零部件供应的指导性</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3355" marR="0" lvl="0" indent="-173355" defTabSz="914400" eaLnBrk="0" fontAlgn="auto" latinLnBrk="0" hangingPunct="0">
              <a:lnSpc>
                <a:spcPct val="100000"/>
              </a:lnSpc>
              <a:spcBef>
                <a:spcPct val="20000"/>
              </a:spcBef>
              <a:spcAft>
                <a:spcPts val="0"/>
              </a:spcAft>
              <a:buClr>
                <a:srgbClr val="7889FB"/>
              </a:buClr>
              <a:buSzTx/>
              <a:buFont typeface="Wingdings" panose="05000000000000000000" pitchFamily="2" charset="2"/>
              <a:buChar char="§"/>
              <a:defRPr/>
            </a:pP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75" name="Rectangle 22"/>
          <p:cNvSpPr>
            <a:spLocks noChangeArrowheads="1"/>
          </p:cNvSpPr>
          <p:nvPr/>
        </p:nvSpPr>
        <p:spPr bwMode="auto">
          <a:xfrm>
            <a:off x="323850" y="2957637"/>
            <a:ext cx="8621713" cy="2559595"/>
          </a:xfrm>
          <a:prstGeom prst="rect">
            <a:avLst/>
          </a:prstGeom>
          <a:noFill/>
          <a:ln w="9525">
            <a:solidFill>
              <a:srgbClr val="7889FB"/>
            </a:solidFill>
            <a:miter lim="800000"/>
          </a:ln>
        </p:spPr>
        <p:txBody>
          <a:bodyPr tIns="0" bIns="72000"/>
          <a:lstStyle/>
          <a:p>
            <a:pPr marL="173355" marR="0" lvl="0" indent="-173355" defTabSz="914400" eaLnBrk="0" fontAlgn="auto" latinLnBrk="0" hangingPunct="0">
              <a:lnSpc>
                <a:spcPct val="100000"/>
              </a:lnSpc>
              <a:spcBef>
                <a:spcPct val="20000"/>
              </a:spcBef>
              <a:spcAft>
                <a:spcPts val="0"/>
              </a:spcAft>
              <a:buClr>
                <a:srgbClr val="000000"/>
              </a:buClr>
              <a:buSzTx/>
              <a:buFont typeface="Wingdings" panose="05000000000000000000" pitchFamily="2" charset="2"/>
              <a:buNone/>
              <a:defRPr/>
            </a:pPr>
            <a:endParaRPr kumimoji="0" lang="en-US" altLang="zh-CN"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3355" lvl="0" indent="-173355" eaLnBrk="0" hangingPunct="0">
              <a:lnSpc>
                <a:spcPts val="1300"/>
              </a:lnSpc>
              <a:spcBef>
                <a:spcPts val="300"/>
              </a:spcBef>
              <a:buClr>
                <a:srgbClr val="7889FB"/>
              </a:buClr>
              <a:defRPr/>
            </a:pP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C-1 </a:t>
            </a:r>
            <a:r>
              <a:rPr lang="zh-CN" altLang="en-US" sz="1200" dirty="0">
                <a:solidFill>
                  <a:srgbClr val="000000"/>
                </a:solidFill>
                <a:latin typeface="微软雅黑" panose="020B0503020204020204" charset="-122"/>
                <a:ea typeface="微软雅黑" panose="020B0503020204020204" charset="-122"/>
              </a:rPr>
              <a:t>产销平衡会议机制</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28650" lvl="1" indent="-171450" eaLnBrk="0" hangingPunct="0">
              <a:spcBef>
                <a:spcPct val="20000"/>
              </a:spcBef>
              <a:buClr>
                <a:schemeClr val="accent1"/>
              </a:buClr>
              <a:buSzPct val="100000"/>
              <a:buFont typeface="微软雅黑" panose="020B0503020204020204" charset="-122"/>
              <a:buChar char="−"/>
              <a:defRPr/>
            </a:pPr>
            <a:r>
              <a:rPr lang="zh-CN" altLang="en-US" sz="1200" dirty="0">
                <a:latin typeface="微软雅黑" panose="020B0503020204020204" charset="-122"/>
                <a:ea typeface="微软雅黑" panose="020B0503020204020204" charset="-122"/>
              </a:rPr>
              <a:t>产销平衡会议的年、月、周的参与部门、人员及职责</a:t>
            </a:r>
            <a:endParaRPr lang="en-US" altLang="zh-CN" sz="1200" dirty="0">
              <a:latin typeface="微软雅黑" panose="020B0503020204020204" charset="-122"/>
              <a:ea typeface="微软雅黑" panose="020B0503020204020204" charset="-122"/>
            </a:endParaRPr>
          </a:p>
          <a:p>
            <a:pPr marL="628650" lvl="1" indent="-171450" eaLnBrk="0" hangingPunct="0">
              <a:spcBef>
                <a:spcPct val="20000"/>
              </a:spcBef>
              <a:buClr>
                <a:schemeClr val="accent1"/>
              </a:buClr>
              <a:buSzPct val="100000"/>
              <a:buFont typeface="微软雅黑" panose="020B0503020204020204" charset="-122"/>
              <a:buChar char="−"/>
              <a:defRPr/>
            </a:pPr>
            <a:r>
              <a:rPr lang="zh-CN" altLang="en-US" sz="1200" dirty="0">
                <a:latin typeface="微软雅黑" panose="020B0503020204020204" charset="-122"/>
                <a:ea typeface="微软雅黑" panose="020B0503020204020204" charset="-122"/>
              </a:rPr>
              <a:t>产销平衡会议的议程及会议管理制度</a:t>
            </a:r>
            <a:endParaRPr lang="en-US" altLang="zh-CN" sz="1200" dirty="0">
              <a:latin typeface="微软雅黑" panose="020B0503020204020204" charset="-122"/>
              <a:ea typeface="微软雅黑" panose="020B0503020204020204" charset="-122"/>
            </a:endParaRPr>
          </a:p>
          <a:p>
            <a:pPr marL="628650" lvl="1" indent="-171450" eaLnBrk="0" hangingPunct="0">
              <a:spcBef>
                <a:spcPct val="20000"/>
              </a:spcBef>
              <a:buClr>
                <a:schemeClr val="accent1"/>
              </a:buClr>
              <a:buSzPct val="100000"/>
              <a:buFont typeface="微软雅黑" panose="020B0503020204020204" charset="-122"/>
              <a:buChar char="−"/>
              <a:defRPr/>
            </a:pPr>
            <a:r>
              <a:rPr lang="zh-CN" altLang="en-US" sz="1200" dirty="0">
                <a:latin typeface="微软雅黑" panose="020B0503020204020204" charset="-122"/>
                <a:ea typeface="微软雅黑" panose="020B0503020204020204" charset="-122"/>
              </a:rPr>
              <a:t>产销平衡会议的输入要求</a:t>
            </a:r>
            <a:endParaRPr lang="en-US" altLang="zh-CN" sz="1200" dirty="0">
              <a:latin typeface="微软雅黑" panose="020B0503020204020204" charset="-122"/>
              <a:ea typeface="微软雅黑" panose="020B0503020204020204" charset="-122"/>
            </a:endParaRPr>
          </a:p>
          <a:p>
            <a:pPr marL="628650" lvl="1" indent="-171450" eaLnBrk="0" hangingPunct="0">
              <a:spcBef>
                <a:spcPct val="20000"/>
              </a:spcBef>
              <a:buClr>
                <a:schemeClr val="accent1"/>
              </a:buClr>
              <a:buSzPct val="100000"/>
              <a:buFont typeface="微软雅黑" panose="020B0503020204020204" charset="-122"/>
              <a:buChar char="−"/>
              <a:defRPr/>
            </a:pPr>
            <a:r>
              <a:rPr lang="zh-CN" altLang="en-US" sz="1200" dirty="0">
                <a:latin typeface="微软雅黑" panose="020B0503020204020204" charset="-122"/>
                <a:ea typeface="微软雅黑" panose="020B0503020204020204" charset="-122"/>
              </a:rPr>
              <a:t>产销平衡的输出行动计划跟进</a:t>
            </a:r>
            <a:endParaRPr lang="en-US" altLang="zh-CN" sz="1200" dirty="0">
              <a:latin typeface="微软雅黑" panose="020B0503020204020204" charset="-122"/>
              <a:ea typeface="微软雅黑" panose="020B0503020204020204" charset="-122"/>
            </a:endParaRPr>
          </a:p>
          <a:p>
            <a:pPr marL="173355" marR="0" lvl="0" indent="-173355" defTabSz="914400" eaLnBrk="0" fontAlgn="auto" latinLnBrk="0" hangingPunct="0">
              <a:lnSpc>
                <a:spcPts val="1300"/>
              </a:lnSpc>
              <a:spcBef>
                <a:spcPts val="300"/>
              </a:spcBef>
              <a:spcAft>
                <a:spcPts val="0"/>
              </a:spcAft>
              <a:buClr>
                <a:srgbClr val="7889FB"/>
              </a:buClr>
              <a:buSzTx/>
              <a:buFontTx/>
              <a:buNone/>
              <a:defRPr/>
            </a:pPr>
            <a:r>
              <a:rPr lang="en-US" altLang="zh-CN" sz="1200" kern="0" dirty="0">
                <a:solidFill>
                  <a:sysClr val="windowText" lastClr="000000"/>
                </a:solidFill>
                <a:latin typeface="微软雅黑" panose="020B0503020204020204" charset="-122"/>
                <a:ea typeface="微软雅黑" panose="020B0503020204020204" charset="-122"/>
              </a:rPr>
              <a:t>C</a:t>
            </a: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-2 </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生产计划管理</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lvl="1" indent="-173355" eaLnBrk="0" hangingPunct="0">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结合产品线和淡旺季，设计适合的生产计划</a:t>
            </a:r>
          </a:p>
          <a:p>
            <a:pPr marL="630555" lvl="1" indent="-173355" eaLnBrk="0" hangingPunct="0">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生产计划区分冻结期、更改期和预</a:t>
            </a:r>
            <a:r>
              <a:rPr lang="zh-CN" altLang="en-US" sz="1200" kern="0">
                <a:latin typeface="微软雅黑" panose="020B0503020204020204" charset="-122"/>
                <a:ea typeface="微软雅黑" panose="020B0503020204020204" charset="-122"/>
              </a:rPr>
              <a:t>测期</a:t>
            </a:r>
            <a:endParaRPr lang="en-US" altLang="zh-CN" sz="1200" kern="0" dirty="0">
              <a:latin typeface="微软雅黑" panose="020B0503020204020204" charset="-122"/>
              <a:ea typeface="微软雅黑" panose="020B0503020204020204" charset="-122"/>
            </a:endParaRPr>
          </a:p>
        </p:txBody>
      </p:sp>
      <p:sp>
        <p:nvSpPr>
          <p:cNvPr id="76" name="Rectangle 32"/>
          <p:cNvSpPr>
            <a:spLocks noChangeArrowheads="1"/>
          </p:cNvSpPr>
          <p:nvPr/>
        </p:nvSpPr>
        <p:spPr bwMode="auto">
          <a:xfrm>
            <a:off x="4922787" y="1341909"/>
            <a:ext cx="4022776" cy="1222995"/>
          </a:xfrm>
          <a:prstGeom prst="rect">
            <a:avLst/>
          </a:prstGeom>
          <a:noFill/>
          <a:ln w="9525">
            <a:solidFill>
              <a:srgbClr val="7889FB"/>
            </a:solidFill>
            <a:miter lim="800000"/>
          </a:ln>
        </p:spPr>
        <p:txBody>
          <a:bodyPr/>
          <a:lstStyle/>
          <a:p>
            <a:pPr marL="0" marR="0" lvl="0" indent="0" defTabSz="914400" eaLnBrk="0" fontAlgn="auto" latinLnBrk="0" hangingPunct="0">
              <a:lnSpc>
                <a:spcPct val="100000"/>
              </a:lnSpc>
              <a:spcBef>
                <a:spcPct val="20000"/>
              </a:spcBef>
              <a:spcAft>
                <a:spcPts val="0"/>
              </a:spcAft>
              <a:buClr>
                <a:srgbClr val="000000"/>
              </a:buClr>
              <a:buSzTx/>
              <a:buFontTx/>
              <a:buNone/>
              <a:defRPr/>
            </a:pPr>
            <a:endParaRPr kumimoji="0" lang="en-US" altLang="zh-CN"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ts val="1300"/>
              </a:lnSpc>
              <a:spcBef>
                <a:spcPct val="20000"/>
              </a:spcBef>
              <a:spcAft>
                <a:spcPts val="0"/>
              </a:spcAft>
              <a:buClr>
                <a:srgbClr val="000000"/>
              </a:buClr>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x重机：                                    </a:t>
            </a: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x</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顾问：韩黎洪</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1450" marR="0" lvl="0" indent="-171450" defTabSz="914400" eaLnBrk="0" fontAlgn="auto" latinLnBrk="0" hangingPunct="0">
              <a:lnSpc>
                <a:spcPts val="1300"/>
              </a:lnSpc>
              <a:spcBef>
                <a:spcPct val="20000"/>
              </a:spcBef>
              <a:spcAft>
                <a:spcPts val="0"/>
              </a:spcAft>
              <a:buClr>
                <a:srgbClr val="000000"/>
              </a:buClr>
              <a:buSzTx/>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集成计划组组长</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：王旭             </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1450" marR="0" lvl="0" indent="-171450" defTabSz="914400" eaLnBrk="0" fontAlgn="auto" latinLnBrk="0" hangingPunct="0">
              <a:lnSpc>
                <a:spcPts val="1300"/>
              </a:lnSpc>
              <a:spcBef>
                <a:spcPct val="20000"/>
              </a:spcBef>
              <a:spcAft>
                <a:spcPts val="0"/>
              </a:spcAft>
              <a:buClr>
                <a:srgbClr val="000000"/>
              </a:buClr>
              <a:buSzTx/>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产销平衡业务</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责任人：华萍</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1450" marR="0" lvl="0" indent="-171450" defTabSz="914400" eaLnBrk="0" fontAlgn="auto" latinLnBrk="0" hangingPunct="0">
              <a:lnSpc>
                <a:spcPts val="1300"/>
              </a:lnSpc>
              <a:spcBef>
                <a:spcPct val="20000"/>
              </a:spcBef>
              <a:spcAft>
                <a:spcPts val="0"/>
              </a:spcAft>
              <a:buClr>
                <a:srgbClr val="000000"/>
              </a:buClr>
              <a:buSzTx/>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生产计划业务责任人</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：三挖公司总经理</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77" name="矩形 81"/>
          <p:cNvSpPr>
            <a:spLocks noChangeArrowheads="1"/>
          </p:cNvSpPr>
          <p:nvPr/>
        </p:nvSpPr>
        <p:spPr bwMode="auto">
          <a:xfrm>
            <a:off x="285750" y="5572125"/>
            <a:ext cx="357188" cy="928688"/>
          </a:xfrm>
          <a:prstGeom prst="rect">
            <a:avLst/>
          </a:prstGeom>
          <a:solidFill>
            <a:srgbClr val="7889FB"/>
          </a:solidFill>
          <a:ln w="6350">
            <a:solidFill>
              <a:srgbClr val="7889FB"/>
            </a:solidFill>
            <a:miter lim="800000"/>
          </a:ln>
        </p:spPr>
        <p:txBody>
          <a:bodyPr anchor="ctr"/>
          <a:lstStyle/>
          <a:p>
            <a:pPr marL="0" marR="0" lvl="0" indent="0"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收益</a:t>
            </a:r>
          </a:p>
        </p:txBody>
      </p:sp>
      <p:sp>
        <p:nvSpPr>
          <p:cNvPr id="78" name="矩形 82"/>
          <p:cNvSpPr>
            <a:spLocks noChangeArrowheads="1"/>
          </p:cNvSpPr>
          <p:nvPr/>
        </p:nvSpPr>
        <p:spPr bwMode="auto">
          <a:xfrm>
            <a:off x="331515" y="1196752"/>
            <a:ext cx="1000125"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目标</a:t>
            </a:r>
          </a:p>
        </p:txBody>
      </p:sp>
      <p:sp>
        <p:nvSpPr>
          <p:cNvPr id="80" name="矩形 83"/>
          <p:cNvSpPr>
            <a:spLocks noChangeArrowheads="1"/>
          </p:cNvSpPr>
          <p:nvPr/>
        </p:nvSpPr>
        <p:spPr bwMode="auto">
          <a:xfrm>
            <a:off x="4922787" y="1199034"/>
            <a:ext cx="1000125"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负责人</a:t>
            </a:r>
          </a:p>
        </p:txBody>
      </p:sp>
      <p:sp>
        <p:nvSpPr>
          <p:cNvPr id="81" name="矩形 84"/>
          <p:cNvSpPr>
            <a:spLocks noChangeArrowheads="1"/>
          </p:cNvSpPr>
          <p:nvPr/>
        </p:nvSpPr>
        <p:spPr bwMode="auto">
          <a:xfrm>
            <a:off x="323850" y="2787774"/>
            <a:ext cx="8621713"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关键要点</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标题 1"/>
          <p:cNvSpPr>
            <a:spLocks noGrp="1"/>
          </p:cNvSpPr>
          <p:nvPr>
            <p:ph type="title"/>
          </p:nvPr>
        </p:nvSpPr>
        <p:spPr>
          <a:xfrm>
            <a:off x="162000" y="593725"/>
            <a:ext cx="8820000" cy="695325"/>
          </a:xfrm>
        </p:spPr>
        <p:txBody>
          <a:bodyPr/>
          <a:lstStyle/>
          <a:p>
            <a:r>
              <a:rPr dirty="0"/>
              <a:t>C-1. </a:t>
            </a:r>
            <a:r>
              <a:rPr lang="zh-CN" altLang="en-US" dirty="0"/>
              <a:t>产销平衡（</a:t>
            </a:r>
            <a:r>
              <a:rPr dirty="0"/>
              <a:t>S&amp;OP</a:t>
            </a:r>
            <a:r>
              <a:rPr lang="zh-CN" altLang="en-US" dirty="0"/>
              <a:t>）会议机制</a:t>
            </a:r>
          </a:p>
        </p:txBody>
      </p:sp>
      <p:sp>
        <p:nvSpPr>
          <p:cNvPr id="82" name="等腰三角形 9"/>
          <p:cNvSpPr/>
          <p:nvPr/>
        </p:nvSpPr>
        <p:spPr bwMode="auto">
          <a:xfrm>
            <a:off x="1114425" y="2532045"/>
            <a:ext cx="925513" cy="855663"/>
          </a:xfrm>
          <a:prstGeom prst="triangle">
            <a:avLst>
              <a:gd name="adj" fmla="val 52335"/>
            </a:avLst>
          </a:prstGeom>
          <a:solidFill>
            <a:srgbClr val="FFFFFF"/>
          </a:solidFill>
          <a:ln w="38100" cap="flat" cmpd="sng" algn="ctr">
            <a:solidFill>
              <a:srgbClr val="7889FB"/>
            </a:solidFill>
            <a:prstDash val="sysDot"/>
          </a:ln>
          <a:effectLst/>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cs typeface="Arial" panose="020B0604020202020204"/>
            </a:endParaRPr>
          </a:p>
        </p:txBody>
      </p:sp>
      <p:sp>
        <p:nvSpPr>
          <p:cNvPr id="83" name="Rectangle 10"/>
          <p:cNvSpPr>
            <a:spLocks noChangeArrowheads="1"/>
          </p:cNvSpPr>
          <p:nvPr/>
        </p:nvSpPr>
        <p:spPr bwMode="gray">
          <a:xfrm>
            <a:off x="758825" y="1863708"/>
            <a:ext cx="1566863" cy="403225"/>
          </a:xfrm>
          <a:prstGeom prst="rect">
            <a:avLst/>
          </a:prstGeom>
          <a:solidFill>
            <a:srgbClr val="FFFFFF"/>
          </a:solidFill>
          <a:ln w="12700">
            <a:solidFill>
              <a:srgbClr val="7889FB"/>
            </a:solidFill>
            <a:miter lim="800000"/>
            <a:headEnd type="none" w="sm" len="sm"/>
            <a:tailEnd type="none" w="sm" len="sm"/>
          </a:ln>
        </p:spPr>
        <p:txBody>
          <a:bodyPr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识别产供销差距</a:t>
            </a:r>
            <a:endParaRPr kumimoji="0" lang="en-US" altLang="zh-CN"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84" name="右箭头 14"/>
          <p:cNvSpPr>
            <a:spLocks noChangeArrowheads="1"/>
          </p:cNvSpPr>
          <p:nvPr/>
        </p:nvSpPr>
        <p:spPr bwMode="auto">
          <a:xfrm>
            <a:off x="2919413" y="3040045"/>
            <a:ext cx="504825" cy="381000"/>
          </a:xfrm>
          <a:prstGeom prst="rightArrow">
            <a:avLst>
              <a:gd name="adj1" fmla="val 50000"/>
              <a:gd name="adj2" fmla="val 50025"/>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85" name="Rectangle 10"/>
          <p:cNvSpPr>
            <a:spLocks noChangeArrowheads="1"/>
          </p:cNvSpPr>
          <p:nvPr/>
        </p:nvSpPr>
        <p:spPr bwMode="gray">
          <a:xfrm>
            <a:off x="3730625" y="1863708"/>
            <a:ext cx="1566863" cy="403225"/>
          </a:xfrm>
          <a:prstGeom prst="rect">
            <a:avLst/>
          </a:prstGeom>
          <a:solidFill>
            <a:srgbClr val="FFFFFF"/>
          </a:solidFill>
          <a:ln w="12700">
            <a:solidFill>
              <a:srgbClr val="7889FB"/>
            </a:solidFill>
            <a:miter lim="800000"/>
            <a:headEnd type="none" w="sm" len="sm"/>
            <a:tailEnd type="none" w="sm" len="sm"/>
          </a:ln>
        </p:spPr>
        <p:txBody>
          <a:bodyPr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设计调整方案</a:t>
            </a:r>
            <a:endParaRPr kumimoji="0" lang="en-US" altLang="zh-CN"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86" name="Rectangle 10"/>
          <p:cNvSpPr>
            <a:spLocks noChangeArrowheads="1"/>
          </p:cNvSpPr>
          <p:nvPr/>
        </p:nvSpPr>
        <p:spPr bwMode="gray">
          <a:xfrm>
            <a:off x="6756400" y="1863708"/>
            <a:ext cx="1565275" cy="403225"/>
          </a:xfrm>
          <a:prstGeom prst="rect">
            <a:avLst/>
          </a:prstGeom>
          <a:solidFill>
            <a:srgbClr val="FFFFFF"/>
          </a:solidFill>
          <a:ln w="12700">
            <a:solidFill>
              <a:srgbClr val="7889FB"/>
            </a:solidFill>
            <a:miter lim="800000"/>
            <a:headEnd type="none" w="sm" len="sm"/>
            <a:tailEnd type="none" w="sm" len="sm"/>
          </a:ln>
        </p:spPr>
        <p:txBody>
          <a:bodyPr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达成一致和承诺</a:t>
            </a:r>
            <a:endParaRPr kumimoji="0" lang="en-US" altLang="zh-CN"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nvGrpSpPr>
          <p:cNvPr id="2" name="组合 17"/>
          <p:cNvGrpSpPr/>
          <p:nvPr/>
        </p:nvGrpSpPr>
        <p:grpSpPr bwMode="auto">
          <a:xfrm>
            <a:off x="6448425" y="2295508"/>
            <a:ext cx="2089150" cy="1422400"/>
            <a:chOff x="33929" y="2322458"/>
            <a:chExt cx="2443432" cy="1665523"/>
          </a:xfrm>
        </p:grpSpPr>
        <p:sp>
          <p:nvSpPr>
            <p:cNvPr id="88" name="等腰三角形 18"/>
            <p:cNvSpPr/>
            <p:nvPr/>
          </p:nvSpPr>
          <p:spPr bwMode="auto">
            <a:xfrm>
              <a:off x="557522" y="2513918"/>
              <a:ext cx="1377680" cy="1001917"/>
            </a:xfrm>
            <a:prstGeom prst="triangle">
              <a:avLst/>
            </a:prstGeom>
            <a:solidFill>
              <a:srgbClr val="FFFFFF"/>
            </a:solidFill>
            <a:ln w="127000" cap="flat" cmpd="dbl" algn="ctr">
              <a:solidFill>
                <a:srgbClr val="7889FB"/>
              </a:solidFill>
              <a:prstDash val="solid"/>
            </a:ln>
            <a:effectLst/>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cs typeface="Arial" panose="020B0604020202020204"/>
              </a:endParaRPr>
            </a:p>
          </p:txBody>
        </p:sp>
        <p:sp>
          <p:nvSpPr>
            <p:cNvPr id="89" name="椭圆 23"/>
            <p:cNvSpPr>
              <a:spLocks noChangeArrowheads="1"/>
            </p:cNvSpPr>
            <p:nvPr/>
          </p:nvSpPr>
          <p:spPr bwMode="auto">
            <a:xfrm>
              <a:off x="33929" y="3061613"/>
              <a:ext cx="907779" cy="907779"/>
            </a:xfrm>
            <a:prstGeom prst="ellipse">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0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90" name="椭圆 26"/>
            <p:cNvSpPr>
              <a:spLocks noChangeArrowheads="1"/>
            </p:cNvSpPr>
            <p:nvPr/>
          </p:nvSpPr>
          <p:spPr bwMode="auto">
            <a:xfrm>
              <a:off x="1569581" y="3080202"/>
              <a:ext cx="907780" cy="907779"/>
            </a:xfrm>
            <a:prstGeom prst="ellipse">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91" name="椭圆 27"/>
            <p:cNvSpPr>
              <a:spLocks noChangeArrowheads="1"/>
            </p:cNvSpPr>
            <p:nvPr/>
          </p:nvSpPr>
          <p:spPr bwMode="auto">
            <a:xfrm>
              <a:off x="792755" y="2322458"/>
              <a:ext cx="907780" cy="907780"/>
            </a:xfrm>
            <a:prstGeom prst="ellipse">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2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rPr>
                <a:t>需求</a:t>
              </a:r>
            </a:p>
          </p:txBody>
        </p:sp>
      </p:grpSp>
      <p:pic>
        <p:nvPicPr>
          <p:cNvPr id="92" name="Picture 2" descr="C:\Users\fei\AppData\Local\Microsoft\Windows\Temporary Internet Files\Content.IE5\4QBV911D\MC900297565[1].wmf"/>
          <p:cNvPicPr>
            <a:picLocks noChangeAspect="1" noChangeArrowheads="1"/>
          </p:cNvPicPr>
          <p:nvPr/>
        </p:nvPicPr>
        <p:blipFill>
          <a:blip r:embed="rId2"/>
          <a:srcRect/>
          <a:stretch>
            <a:fillRect/>
          </a:stretch>
        </p:blipFill>
        <p:spPr bwMode="auto">
          <a:xfrm>
            <a:off x="3711575" y="2709845"/>
            <a:ext cx="1566863" cy="973138"/>
          </a:xfrm>
          <a:prstGeom prst="rect">
            <a:avLst/>
          </a:prstGeom>
          <a:noFill/>
          <a:ln w="9525">
            <a:noFill/>
            <a:miter lim="800000"/>
            <a:headEnd/>
            <a:tailEnd/>
          </a:ln>
        </p:spPr>
      </p:pic>
      <p:sp>
        <p:nvSpPr>
          <p:cNvPr id="93" name="右箭头 22"/>
          <p:cNvSpPr>
            <a:spLocks noChangeArrowheads="1"/>
          </p:cNvSpPr>
          <p:nvPr/>
        </p:nvSpPr>
        <p:spPr bwMode="auto">
          <a:xfrm>
            <a:off x="5656263" y="3103545"/>
            <a:ext cx="503237" cy="381000"/>
          </a:xfrm>
          <a:prstGeom prst="rightArrow">
            <a:avLst>
              <a:gd name="adj1" fmla="val 50000"/>
              <a:gd name="adj2" fmla="val 49868"/>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grpSp>
        <p:nvGrpSpPr>
          <p:cNvPr id="3" name="组合 17"/>
          <p:cNvGrpSpPr/>
          <p:nvPr/>
        </p:nvGrpSpPr>
        <p:grpSpPr bwMode="auto">
          <a:xfrm>
            <a:off x="544513" y="2295508"/>
            <a:ext cx="2071687" cy="1422400"/>
            <a:chOff x="73661" y="2238144"/>
            <a:chExt cx="2424394" cy="1666590"/>
          </a:xfrm>
        </p:grpSpPr>
        <p:sp>
          <p:nvSpPr>
            <p:cNvPr id="95" name="椭圆 23"/>
            <p:cNvSpPr>
              <a:spLocks noChangeArrowheads="1"/>
            </p:cNvSpPr>
            <p:nvPr/>
          </p:nvSpPr>
          <p:spPr bwMode="auto">
            <a:xfrm>
              <a:off x="73661" y="2996956"/>
              <a:ext cx="907782" cy="907778"/>
            </a:xfrm>
            <a:prstGeom prst="ellipse">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96" name="椭圆 26"/>
            <p:cNvSpPr>
              <a:spLocks noChangeArrowheads="1"/>
            </p:cNvSpPr>
            <p:nvPr/>
          </p:nvSpPr>
          <p:spPr bwMode="auto">
            <a:xfrm>
              <a:off x="1590274" y="2912642"/>
              <a:ext cx="907781" cy="907778"/>
            </a:xfrm>
            <a:prstGeom prst="ellipse">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97" name="椭圆 27"/>
            <p:cNvSpPr>
              <a:spLocks noChangeArrowheads="1"/>
            </p:cNvSpPr>
            <p:nvPr/>
          </p:nvSpPr>
          <p:spPr bwMode="auto">
            <a:xfrm>
              <a:off x="792755" y="2238144"/>
              <a:ext cx="907780" cy="907780"/>
            </a:xfrm>
            <a:prstGeom prst="ellipse">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2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rPr>
                <a:t>需求</a:t>
              </a:r>
            </a:p>
          </p:txBody>
        </p:sp>
      </p:grpSp>
      <p:sp>
        <p:nvSpPr>
          <p:cNvPr id="98" name="TextBox 6"/>
          <p:cNvSpPr txBox="1">
            <a:spLocks noChangeArrowheads="1"/>
          </p:cNvSpPr>
          <p:nvPr/>
        </p:nvSpPr>
        <p:spPr bwMode="auto">
          <a:xfrm>
            <a:off x="188913" y="1000108"/>
            <a:ext cx="8415337" cy="738187"/>
          </a:xfrm>
          <a:prstGeom prst="rect">
            <a:avLst/>
          </a:prstGeom>
          <a:noFill/>
          <a:ln w="9525">
            <a:noFill/>
            <a:miter lim="800000"/>
          </a:ln>
        </p:spPr>
        <p:txBody>
          <a:bodyPr>
            <a:spAutoFit/>
          </a:bodyPr>
          <a:lstStyle/>
          <a:p>
            <a:pPr fontAlgn="auto">
              <a:spcBef>
                <a:spcPts val="0"/>
              </a:spcBef>
              <a:spcAft>
                <a:spcPts val="0"/>
              </a:spcAft>
              <a:defRPr/>
            </a:pPr>
            <a:r>
              <a:rPr lang="en-US" altLang="zh-CN" sz="1400" kern="0" dirty="0">
                <a:latin typeface="微软雅黑" panose="020B0503020204020204" charset="-122"/>
                <a:ea typeface="微软雅黑" panose="020B0503020204020204" charset="-122"/>
              </a:rPr>
              <a:t>S&amp;OP</a:t>
            </a:r>
            <a:r>
              <a:rPr lang="zh-CN" altLang="en-US" sz="1400" kern="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sales &amp; operation planning</a:t>
            </a:r>
            <a:r>
              <a:rPr lang="zh-CN" altLang="en-US" sz="1400" dirty="0">
                <a:latin typeface="微软雅黑" panose="020B0503020204020204" charset="-122"/>
                <a:ea typeface="微软雅黑" panose="020B0503020204020204" charset="-122"/>
              </a:rPr>
              <a:t>，销售与运作计划是一个业务过程，用于帮助公司保持需求与供应的平衡；需要优化配置供应链上的资源，以最小的成本最大程度的满足市场需求，从而提高企业整体的运营效率</a:t>
            </a:r>
            <a:endParaRPr lang="en-US" altLang="zh-CN" sz="1400" dirty="0">
              <a:latin typeface="微软雅黑" panose="020B0503020204020204" charset="-122"/>
              <a:ea typeface="微软雅黑" panose="020B0503020204020204" charset="-122"/>
            </a:endParaRPr>
          </a:p>
        </p:txBody>
      </p:sp>
      <p:sp>
        <p:nvSpPr>
          <p:cNvPr id="99" name="TextBox 2"/>
          <p:cNvSpPr txBox="1">
            <a:spLocks noChangeArrowheads="1"/>
          </p:cNvSpPr>
          <p:nvPr/>
        </p:nvSpPr>
        <p:spPr bwMode="auto">
          <a:xfrm>
            <a:off x="395288" y="4830745"/>
            <a:ext cx="2344737" cy="1384300"/>
          </a:xfrm>
          <a:prstGeom prst="rect">
            <a:avLst/>
          </a:prstGeom>
          <a:noFill/>
          <a:ln w="9525">
            <a:noFill/>
            <a:miter lim="800000"/>
          </a:ln>
        </p:spPr>
        <p:txBody>
          <a:bodyPr wrap="none">
            <a:spAutoFit/>
          </a:bodyPr>
          <a:lstStyle/>
          <a:p>
            <a:pPr marL="177800" indent="-177800">
              <a:buFont typeface="Arial" panose="020B0604020202020204" pitchFamily="34" charset="0"/>
              <a:buChar char="•"/>
            </a:pPr>
            <a:r>
              <a:rPr lang="zh-CN" altLang="en-US" sz="1200">
                <a:latin typeface="微软雅黑" panose="020B0503020204020204" charset="-122"/>
                <a:ea typeface="微软雅黑" panose="020B0503020204020204" charset="-122"/>
              </a:rPr>
              <a:t>旺季储备</a:t>
            </a:r>
            <a:endParaRPr lang="en-US" altLang="zh-CN" sz="1200">
              <a:latin typeface="微软雅黑" panose="020B0503020204020204" charset="-122"/>
              <a:ea typeface="微软雅黑" panose="020B0503020204020204" charset="-122"/>
            </a:endParaRP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储备的数量、品种</a:t>
            </a:r>
            <a:endParaRPr lang="en-US" altLang="zh-CN" sz="1200">
              <a:latin typeface="微软雅黑" panose="020B0503020204020204" charset="-122"/>
              <a:ea typeface="微软雅黑" panose="020B0503020204020204" charset="-122"/>
            </a:endParaRP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储备的时间、方式</a:t>
            </a:r>
            <a:endParaRPr lang="en-US" altLang="zh-CN" sz="1200">
              <a:latin typeface="微软雅黑" panose="020B0503020204020204" charset="-122"/>
              <a:ea typeface="微软雅黑" panose="020B0503020204020204" charset="-122"/>
            </a:endParaRP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所需的资金、成本和风险</a:t>
            </a:r>
            <a:endParaRPr lang="en-US" altLang="zh-CN" sz="1200">
              <a:latin typeface="微软雅黑" panose="020B0503020204020204" charset="-122"/>
              <a:ea typeface="微软雅黑" panose="020B0503020204020204" charset="-122"/>
            </a:endParaRPr>
          </a:p>
          <a:p>
            <a:pPr marL="177800" indent="-177800">
              <a:buFont typeface="Arial" panose="020B0604020202020204" pitchFamily="34" charset="0"/>
              <a:buChar char="•"/>
            </a:pPr>
            <a:r>
              <a:rPr lang="zh-CN" altLang="en-US" sz="1200">
                <a:latin typeface="微软雅黑" panose="020B0503020204020204" charset="-122"/>
                <a:ea typeface="微软雅黑" panose="020B0503020204020204" charset="-122"/>
              </a:rPr>
              <a:t>淡季促销活动</a:t>
            </a:r>
            <a:endParaRPr lang="en-US" altLang="zh-CN" sz="1200">
              <a:latin typeface="微软雅黑" panose="020B0503020204020204" charset="-122"/>
              <a:ea typeface="微软雅黑" panose="020B0503020204020204" charset="-122"/>
            </a:endParaRP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促销计划和预期效果</a:t>
            </a:r>
            <a:endParaRPr lang="en-US" altLang="zh-CN" sz="1200">
              <a:latin typeface="微软雅黑" panose="020B0503020204020204" charset="-122"/>
              <a:ea typeface="微软雅黑" panose="020B0503020204020204" charset="-122"/>
            </a:endParaRP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所需投入的资源和资金</a:t>
            </a:r>
          </a:p>
        </p:txBody>
      </p:sp>
      <p:sp>
        <p:nvSpPr>
          <p:cNvPr id="100" name="TextBox 28"/>
          <p:cNvSpPr txBox="1">
            <a:spLocks noChangeArrowheads="1"/>
          </p:cNvSpPr>
          <p:nvPr/>
        </p:nvSpPr>
        <p:spPr bwMode="auto">
          <a:xfrm>
            <a:off x="1149350" y="4456095"/>
            <a:ext cx="800100" cy="276225"/>
          </a:xfrm>
          <a:prstGeom prst="rect">
            <a:avLst/>
          </a:prstGeom>
          <a:noFill/>
          <a:ln w="9525">
            <a:noFill/>
            <a:miter lim="800000"/>
          </a:ln>
        </p:spPr>
        <p:txBody>
          <a:bodyPr wrap="none">
            <a:spAutoFit/>
          </a:bodyPr>
          <a:lstStyle/>
          <a:p>
            <a:r>
              <a:rPr lang="zh-CN" altLang="en-US" sz="1200" b="1">
                <a:solidFill>
                  <a:srgbClr val="7889FB"/>
                </a:solidFill>
                <a:latin typeface="微软雅黑" panose="020B0503020204020204" charset="-122"/>
                <a:ea typeface="微软雅黑" panose="020B0503020204020204" charset="-122"/>
              </a:rPr>
              <a:t>需求计划</a:t>
            </a:r>
          </a:p>
        </p:txBody>
      </p:sp>
      <p:sp>
        <p:nvSpPr>
          <p:cNvPr id="101" name="TextBox 29"/>
          <p:cNvSpPr txBox="1">
            <a:spLocks noChangeArrowheads="1"/>
          </p:cNvSpPr>
          <p:nvPr/>
        </p:nvSpPr>
        <p:spPr bwMode="auto">
          <a:xfrm>
            <a:off x="3995738" y="4456095"/>
            <a:ext cx="1262062" cy="276225"/>
          </a:xfrm>
          <a:prstGeom prst="rect">
            <a:avLst/>
          </a:prstGeom>
          <a:noFill/>
          <a:ln w="9525">
            <a:noFill/>
            <a:miter lim="800000"/>
          </a:ln>
        </p:spPr>
        <p:txBody>
          <a:bodyPr wrap="none">
            <a:spAutoFit/>
          </a:bodyPr>
          <a:lstStyle/>
          <a:p>
            <a:r>
              <a:rPr lang="zh-CN" altLang="en-US" sz="1200" b="1">
                <a:solidFill>
                  <a:srgbClr val="7889FB"/>
                </a:solidFill>
                <a:latin typeface="微软雅黑" panose="020B0503020204020204" charset="-122"/>
                <a:ea typeface="微软雅黑" panose="020B0503020204020204" charset="-122"/>
              </a:rPr>
              <a:t>产能及人力安排</a:t>
            </a:r>
          </a:p>
        </p:txBody>
      </p:sp>
      <p:sp>
        <p:nvSpPr>
          <p:cNvPr id="102" name="TextBox 30"/>
          <p:cNvSpPr txBox="1">
            <a:spLocks noChangeArrowheads="1"/>
          </p:cNvSpPr>
          <p:nvPr/>
        </p:nvSpPr>
        <p:spPr bwMode="auto">
          <a:xfrm>
            <a:off x="6875463" y="4456095"/>
            <a:ext cx="954087" cy="276225"/>
          </a:xfrm>
          <a:prstGeom prst="rect">
            <a:avLst/>
          </a:prstGeom>
          <a:noFill/>
          <a:ln w="9525">
            <a:noFill/>
            <a:miter lim="800000"/>
          </a:ln>
        </p:spPr>
        <p:txBody>
          <a:bodyPr wrap="none">
            <a:spAutoFit/>
          </a:bodyPr>
          <a:lstStyle/>
          <a:p>
            <a:r>
              <a:rPr lang="zh-CN" altLang="en-US" sz="1200" b="1">
                <a:solidFill>
                  <a:srgbClr val="7889FB"/>
                </a:solidFill>
                <a:latin typeface="微软雅黑" panose="020B0503020204020204" charset="-122"/>
                <a:ea typeface="微软雅黑" panose="020B0503020204020204" charset="-122"/>
              </a:rPr>
              <a:t>零部件供应</a:t>
            </a:r>
          </a:p>
        </p:txBody>
      </p:sp>
      <p:sp>
        <p:nvSpPr>
          <p:cNvPr id="103" name="等腰三角形 7"/>
          <p:cNvSpPr>
            <a:spLocks noChangeArrowheads="1"/>
          </p:cNvSpPr>
          <p:nvPr/>
        </p:nvSpPr>
        <p:spPr bwMode="auto">
          <a:xfrm>
            <a:off x="1227138" y="3862370"/>
            <a:ext cx="6646862" cy="493713"/>
          </a:xfrm>
          <a:prstGeom prst="triangle">
            <a:avLst>
              <a:gd name="adj" fmla="val 50000"/>
            </a:avLst>
          </a:prstGeom>
          <a:solidFill>
            <a:srgbClr val="D6DBFE"/>
          </a:solidFill>
          <a:ln w="9525" algn="ctr">
            <a:solidFill>
              <a:srgbClr val="7889FB"/>
            </a:solidFill>
            <a:round/>
          </a:ln>
        </p:spPr>
        <p:txBody>
          <a:bodyPr lIns="90000" tIns="46800" rIns="90000" bIns="46800"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104" name="TextBox 32"/>
          <p:cNvSpPr txBox="1">
            <a:spLocks noChangeArrowheads="1"/>
          </p:cNvSpPr>
          <p:nvPr/>
        </p:nvSpPr>
        <p:spPr bwMode="auto">
          <a:xfrm>
            <a:off x="3132138" y="4830745"/>
            <a:ext cx="2808287" cy="1754188"/>
          </a:xfrm>
          <a:prstGeom prst="rect">
            <a:avLst/>
          </a:prstGeom>
          <a:noFill/>
          <a:ln w="9525">
            <a:noFill/>
            <a:miter lim="800000"/>
          </a:ln>
        </p:spPr>
        <p:txBody>
          <a:bodyPr>
            <a:spAutoFit/>
          </a:bodyPr>
          <a:lstStyle/>
          <a:p>
            <a:pPr marL="177800" indent="-177800">
              <a:buFont typeface="Arial" panose="020B0604020202020204" pitchFamily="34" charset="0"/>
              <a:buChar char="•"/>
            </a:pPr>
            <a:r>
              <a:rPr lang="zh-CN" altLang="en-US" sz="1200">
                <a:latin typeface="微软雅黑" panose="020B0503020204020204" charset="-122"/>
                <a:ea typeface="微软雅黑" panose="020B0503020204020204" charset="-122"/>
              </a:rPr>
              <a:t>标准产能计算和设定</a:t>
            </a:r>
            <a:endParaRPr lang="en-US" altLang="zh-CN" sz="1200">
              <a:latin typeface="微软雅黑" panose="020B0503020204020204" charset="-122"/>
              <a:ea typeface="微软雅黑" panose="020B0503020204020204" charset="-122"/>
            </a:endParaRP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各生产线所生产的车型限制</a:t>
            </a: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各工厂的最低产能、标准产能及极限承诺能</a:t>
            </a:r>
            <a:endParaRPr lang="en-US" altLang="zh-CN" sz="1200">
              <a:latin typeface="微软雅黑" panose="020B0503020204020204" charset="-122"/>
              <a:ea typeface="微软雅黑" panose="020B0503020204020204" charset="-122"/>
            </a:endParaRPr>
          </a:p>
          <a:p>
            <a:pPr marL="177800" indent="-177800">
              <a:buFont typeface="Arial" panose="020B0604020202020204" pitchFamily="34" charset="0"/>
              <a:buChar char="•"/>
            </a:pPr>
            <a:r>
              <a:rPr lang="zh-CN" altLang="en-US" sz="1200">
                <a:latin typeface="微软雅黑" panose="020B0503020204020204" charset="-122"/>
                <a:ea typeface="微软雅黑" panose="020B0503020204020204" charset="-122"/>
              </a:rPr>
              <a:t>人力资源调整</a:t>
            </a:r>
            <a:endParaRPr lang="en-US" altLang="zh-CN" sz="1200">
              <a:latin typeface="微软雅黑" panose="020B0503020204020204" charset="-122"/>
              <a:ea typeface="微软雅黑" panose="020B0503020204020204" charset="-122"/>
            </a:endParaRP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标准工作时间和可用加班时间</a:t>
            </a: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国定人员及可变人员</a:t>
            </a:r>
            <a:endParaRPr lang="en-US" altLang="zh-CN" sz="1200">
              <a:latin typeface="微软雅黑" panose="020B0503020204020204" charset="-122"/>
              <a:ea typeface="微软雅黑" panose="020B0503020204020204" charset="-122"/>
            </a:endParaRPr>
          </a:p>
          <a:p>
            <a:pPr marL="463550" lvl="1" indent="-285750">
              <a:buFont typeface="Wingdings" panose="05000000000000000000" pitchFamily="2" charset="2"/>
              <a:buChar char="ü"/>
            </a:pPr>
            <a:r>
              <a:rPr lang="zh-CN" altLang="en-US" sz="1200">
                <a:latin typeface="微软雅黑" panose="020B0503020204020204" charset="-122"/>
                <a:ea typeface="微软雅黑" panose="020B0503020204020204" charset="-122"/>
              </a:rPr>
              <a:t>新员工招募和培训周期</a:t>
            </a:r>
          </a:p>
          <a:p>
            <a:pPr marL="177800" indent="-177800">
              <a:buFont typeface="Arial" panose="020B0604020202020204" pitchFamily="34" charset="0"/>
              <a:buChar char="•"/>
            </a:pPr>
            <a:r>
              <a:rPr lang="zh-CN" altLang="en-US" sz="1200">
                <a:latin typeface="微软雅黑" panose="020B0503020204020204" charset="-122"/>
                <a:ea typeface="微软雅黑" panose="020B0503020204020204" charset="-122"/>
              </a:rPr>
              <a:t>技术、设备改造周期和成本</a:t>
            </a:r>
            <a:endParaRPr lang="en-US" altLang="zh-CN" sz="1200">
              <a:latin typeface="微软雅黑" panose="020B0503020204020204" charset="-122"/>
              <a:ea typeface="微软雅黑" panose="020B0503020204020204" charset="-122"/>
            </a:endParaRPr>
          </a:p>
        </p:txBody>
      </p:sp>
      <p:sp>
        <p:nvSpPr>
          <p:cNvPr id="105" name="TextBox 33"/>
          <p:cNvSpPr txBox="1">
            <a:spLocks noChangeArrowheads="1"/>
          </p:cNvSpPr>
          <p:nvPr/>
        </p:nvSpPr>
        <p:spPr bwMode="auto">
          <a:xfrm>
            <a:off x="6300788" y="4830745"/>
            <a:ext cx="2627312" cy="1568450"/>
          </a:xfrm>
          <a:prstGeom prst="rect">
            <a:avLst/>
          </a:prstGeom>
          <a:noFill/>
          <a:ln w="9525">
            <a:noFill/>
            <a:miter lim="800000"/>
          </a:ln>
        </p:spPr>
        <p:txBody>
          <a:bodyPr>
            <a:spAutoFit/>
          </a:bodyPr>
          <a:lstStyle/>
          <a:p>
            <a:pPr marL="177800" indent="-177800">
              <a:buFont typeface="Arial" panose="020B0604020202020204" pitchFamily="34" charset="0"/>
              <a:buChar char="•"/>
              <a:defRPr/>
            </a:pPr>
            <a:r>
              <a:rPr lang="zh-CN" altLang="en-US" sz="1200" dirty="0">
                <a:latin typeface="微软雅黑" panose="020B0503020204020204" charset="-122"/>
                <a:ea typeface="微软雅黑" panose="020B0503020204020204" charset="-122"/>
              </a:rPr>
              <a:t>零部件需求计划</a:t>
            </a:r>
            <a:endParaRPr lang="en-US" altLang="zh-CN" sz="1200" dirty="0">
              <a:latin typeface="微软雅黑" panose="020B0503020204020204" charset="-122"/>
              <a:ea typeface="微软雅黑" panose="020B0503020204020204" charset="-122"/>
            </a:endParaRPr>
          </a:p>
          <a:p>
            <a:pPr marL="463550" lvl="1" indent="-285750">
              <a:buFont typeface="Wingdings" panose="05000000000000000000" pitchFamily="2" charset="2"/>
              <a:buChar char="ü"/>
              <a:defRPr/>
            </a:pPr>
            <a:r>
              <a:rPr lang="zh-CN" altLang="en-US" sz="1200" dirty="0">
                <a:latin typeface="微软雅黑" panose="020B0503020204020204" charset="-122"/>
                <a:ea typeface="微软雅黑" panose="020B0503020204020204" charset="-122"/>
              </a:rPr>
              <a:t>发布零部件需求计划指导供应商备货</a:t>
            </a:r>
            <a:endParaRPr lang="en-US" altLang="zh-CN" sz="1200" dirty="0">
              <a:latin typeface="微软雅黑" panose="020B0503020204020204" charset="-122"/>
              <a:ea typeface="微软雅黑" panose="020B0503020204020204" charset="-122"/>
            </a:endParaRPr>
          </a:p>
          <a:p>
            <a:pPr marL="463550" lvl="1" indent="-285750">
              <a:buFont typeface="Wingdings" panose="05000000000000000000" pitchFamily="2" charset="2"/>
              <a:buChar char="ü"/>
              <a:defRPr/>
            </a:pPr>
            <a:r>
              <a:rPr lang="zh-CN" altLang="en-US" sz="1200" dirty="0">
                <a:latin typeface="微软雅黑" panose="020B0503020204020204" charset="-122"/>
                <a:ea typeface="微软雅黑" panose="020B0503020204020204" charset="-122"/>
              </a:rPr>
              <a:t>关键零部件储备计划</a:t>
            </a:r>
            <a:endParaRPr lang="en-US" altLang="zh-CN" sz="1200" dirty="0">
              <a:latin typeface="微软雅黑" panose="020B0503020204020204" charset="-122"/>
              <a:ea typeface="微软雅黑" panose="020B0503020204020204" charset="-122"/>
            </a:endParaRPr>
          </a:p>
          <a:p>
            <a:pPr marL="177800" lvl="1" indent="-177800">
              <a:buFont typeface="Arial" panose="020B0604020202020204" pitchFamily="34" charset="0"/>
              <a:buChar char="•"/>
              <a:defRPr/>
            </a:pPr>
            <a:r>
              <a:rPr lang="zh-CN" altLang="en-US" sz="1200" dirty="0">
                <a:latin typeface="微软雅黑" panose="020B0503020204020204" charset="-122"/>
                <a:ea typeface="微软雅黑" panose="020B0503020204020204" charset="-122"/>
              </a:rPr>
              <a:t>弥补供应商产能缺口</a:t>
            </a:r>
            <a:endParaRPr lang="en-US" altLang="zh-CN" sz="1200" dirty="0">
              <a:latin typeface="微软雅黑" panose="020B0503020204020204" charset="-122"/>
              <a:ea typeface="微软雅黑" panose="020B0503020204020204" charset="-122"/>
            </a:endParaRPr>
          </a:p>
          <a:p>
            <a:pPr marL="463550" lvl="1" indent="-285750">
              <a:buFont typeface="Wingdings" panose="05000000000000000000" pitchFamily="2" charset="2"/>
              <a:buChar char="ü"/>
              <a:defRPr/>
            </a:pPr>
            <a:r>
              <a:rPr lang="zh-CN" altLang="en-US" sz="1200" dirty="0">
                <a:latin typeface="微软雅黑" panose="020B0503020204020204" charset="-122"/>
                <a:ea typeface="微软雅黑" panose="020B0503020204020204" charset="-122"/>
              </a:rPr>
              <a:t>供应商产能和库存可视化</a:t>
            </a:r>
            <a:endParaRPr lang="en-US" altLang="zh-CN" sz="1200" dirty="0">
              <a:latin typeface="微软雅黑" panose="020B0503020204020204" charset="-122"/>
              <a:ea typeface="微软雅黑" panose="020B0503020204020204" charset="-122"/>
            </a:endParaRPr>
          </a:p>
          <a:p>
            <a:pPr marL="463550" lvl="1" indent="-285750">
              <a:buFont typeface="Wingdings" panose="05000000000000000000" pitchFamily="2" charset="2"/>
              <a:buChar char="ü"/>
              <a:defRPr/>
            </a:pPr>
            <a:r>
              <a:rPr lang="zh-CN" altLang="en-US" sz="1200" dirty="0">
                <a:latin typeface="微软雅黑" panose="020B0503020204020204" charset="-122"/>
                <a:ea typeface="微软雅黑" panose="020B0503020204020204" charset="-122"/>
              </a:rPr>
              <a:t>旺季前的紧缺零部件储备</a:t>
            </a:r>
            <a:endParaRPr lang="en-US" altLang="zh-CN" sz="1200" dirty="0">
              <a:latin typeface="微软雅黑" panose="020B0503020204020204" charset="-122"/>
              <a:ea typeface="微软雅黑" panose="020B0503020204020204" charset="-122"/>
            </a:endParaRPr>
          </a:p>
          <a:p>
            <a:pPr marL="463550" lvl="1" indent="-285750">
              <a:buFont typeface="Wingdings" panose="05000000000000000000" pitchFamily="2" charset="2"/>
              <a:buChar char="ü"/>
              <a:defRPr/>
            </a:pPr>
            <a:r>
              <a:rPr lang="zh-CN" altLang="en-US" sz="1200" dirty="0">
                <a:latin typeface="微软雅黑" panose="020B0503020204020204" charset="-122"/>
                <a:ea typeface="微软雅黑" panose="020B0503020204020204" charset="-122"/>
              </a:rPr>
              <a:t>新供应商开发计划</a:t>
            </a:r>
            <a:endParaRPr lang="en-US" altLang="zh-CN" sz="1200" dirty="0">
              <a:latin typeface="微软雅黑" panose="020B0503020204020204" charset="-122"/>
              <a:ea typeface="微软雅黑" panose="020B0503020204020204" charset="-122"/>
            </a:endParaRPr>
          </a:p>
        </p:txBody>
      </p:sp>
      <p:sp>
        <p:nvSpPr>
          <p:cNvPr id="106" name="TextBox 2"/>
          <p:cNvSpPr txBox="1">
            <a:spLocks noChangeArrowheads="1"/>
          </p:cNvSpPr>
          <p:nvPr/>
        </p:nvSpPr>
        <p:spPr bwMode="auto">
          <a:xfrm>
            <a:off x="547688" y="3087670"/>
            <a:ext cx="784225" cy="461963"/>
          </a:xfrm>
          <a:prstGeom prst="rect">
            <a:avLst/>
          </a:prstGeom>
          <a:noFill/>
          <a:ln w="9525">
            <a:noFill/>
            <a:miter lim="800000"/>
          </a:ln>
        </p:spPr>
        <p:txBody>
          <a:bodyPr>
            <a:spAutoFit/>
          </a:bodyPr>
          <a:lstStyle/>
          <a:p>
            <a:pPr algn="ctr"/>
            <a:r>
              <a:rPr lang="zh-CN" altLang="en-US" sz="1200" b="1">
                <a:latin typeface="微软雅黑" panose="020B0503020204020204" charset="-122"/>
                <a:ea typeface="微软雅黑" panose="020B0503020204020204" charset="-122"/>
              </a:rPr>
              <a:t>产能及人力</a:t>
            </a:r>
          </a:p>
        </p:txBody>
      </p:sp>
      <p:sp>
        <p:nvSpPr>
          <p:cNvPr id="107" name="TextBox 30"/>
          <p:cNvSpPr txBox="1">
            <a:spLocks noChangeArrowheads="1"/>
          </p:cNvSpPr>
          <p:nvPr/>
        </p:nvSpPr>
        <p:spPr bwMode="auto">
          <a:xfrm>
            <a:off x="1835150" y="3027345"/>
            <a:ext cx="784225" cy="461963"/>
          </a:xfrm>
          <a:prstGeom prst="rect">
            <a:avLst/>
          </a:prstGeom>
          <a:noFill/>
          <a:ln w="9525">
            <a:noFill/>
            <a:miter lim="800000"/>
          </a:ln>
        </p:spPr>
        <p:txBody>
          <a:bodyPr>
            <a:spAutoFit/>
          </a:bodyPr>
          <a:lstStyle/>
          <a:p>
            <a:pPr algn="ctr"/>
            <a:r>
              <a:rPr lang="zh-CN" altLang="en-US" sz="1200" b="1">
                <a:latin typeface="微软雅黑" panose="020B0503020204020204" charset="-122"/>
                <a:ea typeface="微软雅黑" panose="020B0503020204020204" charset="-122"/>
              </a:rPr>
              <a:t>零部件供应</a:t>
            </a:r>
          </a:p>
        </p:txBody>
      </p:sp>
      <p:sp>
        <p:nvSpPr>
          <p:cNvPr id="109" name="TextBox 31"/>
          <p:cNvSpPr txBox="1">
            <a:spLocks noChangeArrowheads="1"/>
          </p:cNvSpPr>
          <p:nvPr/>
        </p:nvSpPr>
        <p:spPr bwMode="auto">
          <a:xfrm>
            <a:off x="6440488" y="3087670"/>
            <a:ext cx="784225" cy="461963"/>
          </a:xfrm>
          <a:prstGeom prst="rect">
            <a:avLst/>
          </a:prstGeom>
          <a:noFill/>
          <a:ln w="9525">
            <a:noFill/>
            <a:miter lim="800000"/>
          </a:ln>
        </p:spPr>
        <p:txBody>
          <a:bodyPr>
            <a:spAutoFit/>
          </a:bodyPr>
          <a:lstStyle/>
          <a:p>
            <a:pPr algn="ctr"/>
            <a:r>
              <a:rPr lang="zh-CN" altLang="en-US" sz="1200" b="1">
                <a:latin typeface="微软雅黑" panose="020B0503020204020204" charset="-122"/>
                <a:ea typeface="微软雅黑" panose="020B0503020204020204" charset="-122"/>
              </a:rPr>
              <a:t>产能及人力</a:t>
            </a:r>
          </a:p>
        </p:txBody>
      </p:sp>
      <p:sp>
        <p:nvSpPr>
          <p:cNvPr id="110" name="TextBox 32"/>
          <p:cNvSpPr txBox="1">
            <a:spLocks noChangeArrowheads="1"/>
          </p:cNvSpPr>
          <p:nvPr/>
        </p:nvSpPr>
        <p:spPr bwMode="auto">
          <a:xfrm>
            <a:off x="7815263" y="3087670"/>
            <a:ext cx="717550" cy="461963"/>
          </a:xfrm>
          <a:prstGeom prst="rect">
            <a:avLst/>
          </a:prstGeom>
          <a:noFill/>
          <a:ln w="9525">
            <a:noFill/>
            <a:miter lim="800000"/>
          </a:ln>
        </p:spPr>
        <p:txBody>
          <a:bodyPr>
            <a:spAutoFit/>
          </a:bodyPr>
          <a:lstStyle/>
          <a:p>
            <a:pPr algn="ctr"/>
            <a:r>
              <a:rPr lang="zh-CN" altLang="en-US" sz="1200" b="1">
                <a:latin typeface="微软雅黑" panose="020B0503020204020204" charset="-122"/>
                <a:ea typeface="微软雅黑" panose="020B0503020204020204" charset="-122"/>
              </a:rPr>
              <a:t>零部件供应</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标题 1"/>
          <p:cNvSpPr>
            <a:spLocks noGrp="1"/>
          </p:cNvSpPr>
          <p:nvPr>
            <p:ph type="title"/>
          </p:nvPr>
        </p:nvSpPr>
        <p:spPr>
          <a:xfrm>
            <a:off x="162000" y="593725"/>
            <a:ext cx="8820000" cy="695325"/>
          </a:xfrm>
        </p:spPr>
        <p:txBody>
          <a:bodyPr/>
          <a:lstStyle/>
          <a:p>
            <a:r>
              <a:rPr dirty="0"/>
              <a:t>C-1. </a:t>
            </a:r>
            <a:r>
              <a:rPr lang="zh-CN" altLang="en-US" dirty="0"/>
              <a:t>其他企业的产销平衡会议机制示例</a:t>
            </a:r>
          </a:p>
        </p:txBody>
      </p:sp>
      <p:sp>
        <p:nvSpPr>
          <p:cNvPr id="47" name="矩形 58"/>
          <p:cNvSpPr/>
          <p:nvPr/>
        </p:nvSpPr>
        <p:spPr bwMode="auto">
          <a:xfrm>
            <a:off x="1226360" y="2617951"/>
            <a:ext cx="885251" cy="1028956"/>
          </a:xfrm>
          <a:prstGeom prst="rect">
            <a:avLst/>
          </a:prstGeom>
          <a:solidFill>
            <a:srgbClr val="7889FB">
              <a:lumMod val="60000"/>
              <a:lumOff val="40000"/>
            </a:srgbClr>
          </a:solidFill>
          <a:ln w="28575" algn="ctr">
            <a:noFill/>
            <a:round/>
          </a:ln>
        </p:spPr>
        <p:txBody>
          <a:bodyPr lIns="72000" tIns="72000" rIns="72000" bIns="7200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最高管理者及组织</a:t>
            </a:r>
          </a:p>
        </p:txBody>
      </p:sp>
      <p:sp>
        <p:nvSpPr>
          <p:cNvPr id="48" name="矩形 19"/>
          <p:cNvSpPr/>
          <p:nvPr/>
        </p:nvSpPr>
        <p:spPr bwMode="auto">
          <a:xfrm>
            <a:off x="578288" y="2640387"/>
            <a:ext cx="576064" cy="984086"/>
          </a:xfrm>
          <a:prstGeom prst="rect">
            <a:avLst/>
          </a:prstGeom>
          <a:noFill/>
          <a:ln w="28575" algn="ctr">
            <a:solidFill>
              <a:srgbClr val="4B709D"/>
            </a:solidFill>
            <a:round/>
          </a:ln>
        </p:spPr>
        <p:txBody>
          <a:bodyPr lIns="72000" tIns="72000" rIns="72000" bIns="72000" anchor="ctr"/>
          <a:lstStyle/>
          <a:p>
            <a:pPr algn="ctr" eaLnBrk="0" hangingPunct="0">
              <a:defRPr/>
            </a:pPr>
            <a:r>
              <a:rPr lang="zh-CN" altLang="en-US" sz="1400" b="1" kern="0" dirty="0">
                <a:latin typeface="微软雅黑" panose="020B0503020204020204" charset="-122"/>
                <a:ea typeface="微软雅黑" panose="020B0503020204020204" charset="-122"/>
                <a:sym typeface="Trebuchet MS" panose="020B0603020202020204" pitchFamily="34" charset="0"/>
              </a:rPr>
              <a:t>组织</a:t>
            </a:r>
          </a:p>
        </p:txBody>
      </p:sp>
      <p:sp>
        <p:nvSpPr>
          <p:cNvPr id="50" name="矩形 58"/>
          <p:cNvSpPr/>
          <p:nvPr/>
        </p:nvSpPr>
        <p:spPr bwMode="auto">
          <a:xfrm>
            <a:off x="1226360" y="3698071"/>
            <a:ext cx="885252" cy="1434610"/>
          </a:xfrm>
          <a:prstGeom prst="rect">
            <a:avLst/>
          </a:prstGeom>
          <a:solidFill>
            <a:srgbClr val="7889FB">
              <a:lumMod val="60000"/>
              <a:lumOff val="40000"/>
            </a:srgbClr>
          </a:solidFill>
          <a:ln w="28575" algn="ctr">
            <a:noFill/>
            <a:round/>
          </a:ln>
        </p:spPr>
        <p:txBody>
          <a:bodyPr lIns="72000" tIns="72000" rIns="72000" bIns="7200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评审主题</a:t>
            </a:r>
            <a:endParaRPr kumimoji="0" lang="en-US" altLang="zh-CN" sz="11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及范围</a:t>
            </a:r>
          </a:p>
        </p:txBody>
      </p:sp>
      <p:sp>
        <p:nvSpPr>
          <p:cNvPr id="51" name="矩形 19"/>
          <p:cNvSpPr/>
          <p:nvPr/>
        </p:nvSpPr>
        <p:spPr bwMode="auto">
          <a:xfrm>
            <a:off x="578287" y="3698070"/>
            <a:ext cx="576064" cy="1434611"/>
          </a:xfrm>
          <a:prstGeom prst="rect">
            <a:avLst/>
          </a:prstGeom>
          <a:noFill/>
          <a:ln w="28575" algn="ctr">
            <a:solidFill>
              <a:srgbClr val="4B709D"/>
            </a:solidFill>
            <a:round/>
          </a:ln>
        </p:spPr>
        <p:txBody>
          <a:bodyPr lIns="72000" tIns="72000" rIns="72000" bIns="72000" anchor="ctr"/>
          <a:lstStyle/>
          <a:p>
            <a:pPr algn="ctr" eaLnBrk="0" hangingPunct="0">
              <a:defRPr/>
            </a:pPr>
            <a:r>
              <a:rPr lang="zh-CN" altLang="en-US" sz="1400" b="1" kern="0" dirty="0">
                <a:latin typeface="微软雅黑" panose="020B0503020204020204" charset="-122"/>
                <a:ea typeface="微软雅黑" panose="020B0503020204020204" charset="-122"/>
                <a:sym typeface="Trebuchet MS" panose="020B0603020202020204" pitchFamily="34" charset="0"/>
              </a:rPr>
              <a:t>内容</a:t>
            </a:r>
          </a:p>
        </p:txBody>
      </p:sp>
      <p:sp>
        <p:nvSpPr>
          <p:cNvPr id="54" name="矩形 19"/>
          <p:cNvSpPr/>
          <p:nvPr/>
        </p:nvSpPr>
        <p:spPr bwMode="auto">
          <a:xfrm>
            <a:off x="578288" y="1546202"/>
            <a:ext cx="576064" cy="1017738"/>
          </a:xfrm>
          <a:prstGeom prst="rect">
            <a:avLst/>
          </a:prstGeom>
          <a:noFill/>
          <a:ln w="28575" algn="ctr">
            <a:solidFill>
              <a:srgbClr val="4B709D"/>
            </a:solidFill>
            <a:round/>
          </a:ln>
        </p:spPr>
        <p:txBody>
          <a:bodyPr lIns="72000" tIns="72000" rIns="72000" bIns="72000" anchor="ctr"/>
          <a:lstStyle/>
          <a:p>
            <a:pPr algn="ctr" eaLnBrk="0" hangingPunct="0">
              <a:defRPr/>
            </a:pPr>
            <a:r>
              <a:rPr lang="zh-CN" altLang="en-US" sz="1400" b="1" kern="0" dirty="0">
                <a:latin typeface="微软雅黑" panose="020B0503020204020204" charset="-122"/>
                <a:ea typeface="微软雅黑" panose="020B0503020204020204" charset="-122"/>
                <a:sym typeface="Trebuchet MS" panose="020B0603020202020204" pitchFamily="34" charset="0"/>
              </a:rPr>
              <a:t>会议</a:t>
            </a:r>
          </a:p>
        </p:txBody>
      </p:sp>
      <p:sp>
        <p:nvSpPr>
          <p:cNvPr id="55" name="矩形 58"/>
          <p:cNvSpPr/>
          <p:nvPr/>
        </p:nvSpPr>
        <p:spPr bwMode="auto">
          <a:xfrm>
            <a:off x="1226358" y="1534984"/>
            <a:ext cx="885253" cy="1028956"/>
          </a:xfrm>
          <a:prstGeom prst="rect">
            <a:avLst/>
          </a:prstGeom>
          <a:solidFill>
            <a:srgbClr val="7889FB">
              <a:lumMod val="60000"/>
              <a:lumOff val="40000"/>
            </a:srgbClr>
          </a:solidFill>
          <a:ln w="28575" algn="ctr">
            <a:noFill/>
            <a:round/>
          </a:ln>
        </p:spPr>
        <p:txBody>
          <a:bodyPr lIns="72000" tIns="72000" rIns="72000" bIns="7200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会议形式及频次</a:t>
            </a:r>
          </a:p>
        </p:txBody>
      </p:sp>
      <p:sp>
        <p:nvSpPr>
          <p:cNvPr id="63" name="矩形 19"/>
          <p:cNvSpPr/>
          <p:nvPr/>
        </p:nvSpPr>
        <p:spPr bwMode="auto">
          <a:xfrm>
            <a:off x="571472" y="5204690"/>
            <a:ext cx="576064" cy="1287317"/>
          </a:xfrm>
          <a:prstGeom prst="rect">
            <a:avLst/>
          </a:prstGeom>
          <a:noFill/>
          <a:ln w="28575" algn="ctr">
            <a:solidFill>
              <a:srgbClr val="4B709D"/>
            </a:solidFill>
            <a:round/>
          </a:ln>
        </p:spPr>
        <p:txBody>
          <a:bodyPr lIns="72000" tIns="72000" rIns="72000" bIns="72000" anchor="ctr"/>
          <a:lstStyle/>
          <a:p>
            <a:pPr algn="ctr" eaLnBrk="0" hangingPunct="0">
              <a:defRPr/>
            </a:pPr>
            <a:r>
              <a:rPr lang="zh-CN" altLang="en-US" sz="1400" b="1" kern="0" dirty="0">
                <a:latin typeface="微软雅黑" panose="020B0503020204020204" charset="-122"/>
                <a:ea typeface="微软雅黑" panose="020B0503020204020204" charset="-122"/>
                <a:sym typeface="Trebuchet MS" panose="020B0603020202020204" pitchFamily="34" charset="0"/>
              </a:rPr>
              <a:t>其他</a:t>
            </a:r>
          </a:p>
        </p:txBody>
      </p:sp>
      <p:sp>
        <p:nvSpPr>
          <p:cNvPr id="64" name="矩形 58"/>
          <p:cNvSpPr/>
          <p:nvPr/>
        </p:nvSpPr>
        <p:spPr bwMode="auto">
          <a:xfrm>
            <a:off x="1226361" y="5204690"/>
            <a:ext cx="885252" cy="835004"/>
          </a:xfrm>
          <a:prstGeom prst="rect">
            <a:avLst/>
          </a:prstGeom>
          <a:solidFill>
            <a:srgbClr val="7889FB">
              <a:lumMod val="60000"/>
              <a:lumOff val="40000"/>
            </a:srgbClr>
          </a:solidFill>
          <a:ln w="28575" algn="ctr">
            <a:noFill/>
            <a:round/>
          </a:ln>
        </p:spPr>
        <p:txBody>
          <a:bodyPr lIns="72000" tIns="72000" rIns="72000" bIns="7200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执行过程</a:t>
            </a:r>
          </a:p>
        </p:txBody>
      </p:sp>
      <p:sp>
        <p:nvSpPr>
          <p:cNvPr id="65" name="矩形 58"/>
          <p:cNvSpPr/>
          <p:nvPr/>
        </p:nvSpPr>
        <p:spPr bwMode="auto">
          <a:xfrm>
            <a:off x="1226360" y="6140794"/>
            <a:ext cx="885253" cy="351213"/>
          </a:xfrm>
          <a:prstGeom prst="rect">
            <a:avLst/>
          </a:prstGeom>
          <a:solidFill>
            <a:srgbClr val="7889FB">
              <a:lumMod val="60000"/>
              <a:lumOff val="40000"/>
            </a:srgbClr>
          </a:solidFill>
          <a:ln w="28575" algn="ctr">
            <a:noFill/>
            <a:round/>
          </a:ln>
        </p:spPr>
        <p:txBody>
          <a:bodyPr lIns="72000" tIns="72000" rIns="72000" bIns="7200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例外机制</a:t>
            </a:r>
          </a:p>
        </p:txBody>
      </p:sp>
      <p:cxnSp>
        <p:nvCxnSpPr>
          <p:cNvPr id="73" name="直接连接符 13"/>
          <p:cNvCxnSpPr/>
          <p:nvPr/>
        </p:nvCxnSpPr>
        <p:spPr>
          <a:xfrm>
            <a:off x="671793" y="1361840"/>
            <a:ext cx="1439818" cy="0"/>
          </a:xfrm>
          <a:prstGeom prst="line">
            <a:avLst/>
          </a:prstGeom>
          <a:noFill/>
          <a:ln w="19050" cap="flat" cmpd="sng" algn="ctr">
            <a:solidFill>
              <a:srgbClr val="000000"/>
            </a:solidFill>
            <a:prstDash val="solid"/>
          </a:ln>
          <a:effectLst/>
        </p:spPr>
      </p:cxnSp>
      <p:sp>
        <p:nvSpPr>
          <p:cNvPr id="74" name="文本框 2"/>
          <p:cNvSpPr txBox="1">
            <a:spLocks noChangeArrowheads="1"/>
          </p:cNvSpPr>
          <p:nvPr/>
        </p:nvSpPr>
        <p:spPr bwMode="auto">
          <a:xfrm>
            <a:off x="671793" y="1005959"/>
            <a:ext cx="1439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dirty="0">
                <a:latin typeface="微软雅黑" panose="020B0503020204020204" charset="-122"/>
                <a:ea typeface="微软雅黑" panose="020B0503020204020204" charset="-122"/>
              </a:rPr>
              <a:t>S&amp;OP</a:t>
            </a:r>
            <a:r>
              <a:rPr lang="zh-CN" altLang="en-US" sz="1400" b="1" dirty="0">
                <a:latin typeface="微软雅黑" panose="020B0503020204020204" charset="-122"/>
                <a:ea typeface="微软雅黑" panose="020B0503020204020204" charset="-122"/>
              </a:rPr>
              <a:t>计划体系</a:t>
            </a:r>
          </a:p>
        </p:txBody>
      </p:sp>
      <p:grpSp>
        <p:nvGrpSpPr>
          <p:cNvPr id="2" name="组合 82"/>
          <p:cNvGrpSpPr/>
          <p:nvPr/>
        </p:nvGrpSpPr>
        <p:grpSpPr>
          <a:xfrm>
            <a:off x="2320184" y="1005960"/>
            <a:ext cx="6357982" cy="5494874"/>
            <a:chOff x="3565178" y="1005960"/>
            <a:chExt cx="3748355" cy="5494874"/>
          </a:xfrm>
        </p:grpSpPr>
        <p:sp>
          <p:nvSpPr>
            <p:cNvPr id="45" name="文本框 11"/>
            <p:cNvSpPr txBox="1">
              <a:spLocks noChangeArrowheads="1"/>
            </p:cNvSpPr>
            <p:nvPr/>
          </p:nvSpPr>
          <p:spPr bwMode="auto">
            <a:xfrm>
              <a:off x="6208428" y="1013917"/>
              <a:ext cx="3933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sz="1400" b="1">
                  <a:latin typeface="微软雅黑" panose="020B0503020204020204" charset="-122"/>
                  <a:ea typeface="微软雅黑" panose="020B0503020204020204"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企业</a:t>
              </a: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B</a:t>
              </a:r>
            </a:p>
          </p:txBody>
        </p:sp>
        <p:sp>
          <p:nvSpPr>
            <p:cNvPr id="46" name="文本框 26"/>
            <p:cNvSpPr txBox="1">
              <a:spLocks noChangeArrowheads="1"/>
            </p:cNvSpPr>
            <p:nvPr/>
          </p:nvSpPr>
          <p:spPr bwMode="auto">
            <a:xfrm>
              <a:off x="4264481" y="1005960"/>
              <a:ext cx="3999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sz="1400" b="1">
                  <a:latin typeface="微软雅黑" panose="020B0503020204020204" charset="-122"/>
                  <a:ea typeface="微软雅黑" panose="020B0503020204020204"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企业</a:t>
              </a: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a:t>
              </a:r>
              <a:endPar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56" name="矩形 68"/>
            <p:cNvSpPr/>
            <p:nvPr/>
          </p:nvSpPr>
          <p:spPr bwMode="auto">
            <a:xfrm>
              <a:off x="3565180" y="1546202"/>
              <a:ext cx="1962850" cy="971758"/>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年度：财经例会</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季度：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S&amp;OP</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例会</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月度：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S&amp;OP</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例会</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周度：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S&amp;OP</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例会</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月度前有</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S&amp;OP</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预备会</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sp>
          <p:nvSpPr>
            <p:cNvPr id="57" name="矩形 68"/>
            <p:cNvSpPr/>
            <p:nvPr/>
          </p:nvSpPr>
          <p:spPr bwMode="auto">
            <a:xfrm>
              <a:off x="5600039" y="1534983"/>
              <a:ext cx="1674820" cy="982976"/>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年度：战略管理会议</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月度：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S&amp;OP</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例会</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周度：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S&amp;OP</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例会</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sp>
          <p:nvSpPr>
            <p:cNvPr id="59" name="矩形 68"/>
            <p:cNvSpPr/>
            <p:nvPr/>
          </p:nvSpPr>
          <p:spPr bwMode="auto">
            <a:xfrm>
              <a:off x="3565179" y="2640386"/>
              <a:ext cx="1962851" cy="1006521"/>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年度：财经组织，</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CEO</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主持</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季度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月度：二级计委组织，计委主任主持</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产品线总裁</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周度：集成计划部组织，集成计划部部长主持</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sp>
          <p:nvSpPr>
            <p:cNvPr id="60" name="矩形 68"/>
            <p:cNvSpPr/>
            <p:nvPr/>
          </p:nvSpPr>
          <p:spPr bwMode="auto">
            <a:xfrm>
              <a:off x="5600038" y="2617951"/>
              <a:ext cx="1674821" cy="1006521"/>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年度：董事会</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月度：集团订单履行</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周度：集团订单履行</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sp>
          <p:nvSpPr>
            <p:cNvPr id="61" name="矩形 68"/>
            <p:cNvSpPr/>
            <p:nvPr/>
          </p:nvSpPr>
          <p:spPr bwMode="auto">
            <a:xfrm>
              <a:off x="3565179" y="3732009"/>
              <a:ext cx="1962851" cy="1400673"/>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年度：战略目标、年度规划</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季度：季度滚动评审订单及预测，约束等。时间跨度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12</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个月</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月度：月度滚动评审订单及预测，时间跨度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12</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个月</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周度：周度滚动评审订单及预测，时间跨度</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3</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个月</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sp>
          <p:nvSpPr>
            <p:cNvPr id="62" name="矩形 68"/>
            <p:cNvSpPr/>
            <p:nvPr/>
          </p:nvSpPr>
          <p:spPr bwMode="auto">
            <a:xfrm>
              <a:off x="5600038" y="3753554"/>
              <a:ext cx="1674821" cy="1379128"/>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年度：销售目标、需求计划，产能等</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月度：主要评审上月度完成情况及下月度计划</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周度：主要评审订单及未来三个月计划</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sp>
          <p:nvSpPr>
            <p:cNvPr id="67" name="矩形 68"/>
            <p:cNvSpPr/>
            <p:nvPr/>
          </p:nvSpPr>
          <p:spPr bwMode="auto">
            <a:xfrm>
              <a:off x="3565181" y="5223142"/>
              <a:ext cx="1962849" cy="816552"/>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年度计划月度滚动、月度计划周度滚动，并保持一定周期的锁定，</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ERP</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中直接分解成备货计划及生产计划</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sp>
          <p:nvSpPr>
            <p:cNvPr id="68" name="矩形 68"/>
            <p:cNvSpPr/>
            <p:nvPr/>
          </p:nvSpPr>
          <p:spPr bwMode="auto">
            <a:xfrm>
              <a:off x="5616996" y="5223142"/>
              <a:ext cx="1657863" cy="816552"/>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年度计划月度滚动、月度计划周度滚动，并保持一定周期的锁定，</a:t>
              </a: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ERP</a:t>
              </a: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中直接分解成备货计划及生产计划</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cxnSp>
          <p:nvCxnSpPr>
            <p:cNvPr id="69" name="直接连接符 13"/>
            <p:cNvCxnSpPr/>
            <p:nvPr/>
          </p:nvCxnSpPr>
          <p:spPr>
            <a:xfrm>
              <a:off x="3799838" y="1352707"/>
              <a:ext cx="1584176" cy="0"/>
            </a:xfrm>
            <a:prstGeom prst="line">
              <a:avLst/>
            </a:prstGeom>
            <a:noFill/>
            <a:ln w="19050" cap="flat" cmpd="sng" algn="ctr">
              <a:solidFill>
                <a:srgbClr val="000000"/>
              </a:solidFill>
              <a:prstDash val="solid"/>
            </a:ln>
            <a:effectLst/>
          </p:spPr>
        </p:cxnSp>
        <p:sp>
          <p:nvSpPr>
            <p:cNvPr id="71" name="矩形 68"/>
            <p:cNvSpPr/>
            <p:nvPr/>
          </p:nvSpPr>
          <p:spPr bwMode="auto">
            <a:xfrm>
              <a:off x="3565178" y="6140794"/>
              <a:ext cx="1962853" cy="360040"/>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闭环管理，重大异常发生时临时组织会议决策</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endParaRPr>
            </a:p>
          </p:txBody>
        </p:sp>
        <p:sp>
          <p:nvSpPr>
            <p:cNvPr id="72" name="矩形 68"/>
            <p:cNvSpPr/>
            <p:nvPr/>
          </p:nvSpPr>
          <p:spPr bwMode="auto">
            <a:xfrm>
              <a:off x="5616998" y="6140794"/>
              <a:ext cx="1696535" cy="360040"/>
            </a:xfrm>
            <a:prstGeom prst="rect">
              <a:avLst/>
            </a:prstGeom>
            <a:noFill/>
            <a:ln w="12700" algn="ctr">
              <a:solidFill>
                <a:srgbClr val="D6DBFE"/>
              </a:solidFill>
              <a:round/>
            </a:ln>
          </p:spPr>
          <p:txBody>
            <a:bodyPr lIns="54000" tIns="36000" rIns="54000" bIns="36000" anchor="ctr"/>
            <a:lstStyle/>
            <a:p>
              <a:pPr marL="171450" marR="0" lvl="0" indent="-171450" defTabSz="914400" eaLnBrk="0" fontAlgn="auto" latinLnBrk="0" hangingPunct="0">
                <a:lnSpc>
                  <a:spcPct val="100000"/>
                </a:lnSpc>
                <a:spcBef>
                  <a:spcPts val="0"/>
                </a:spcBef>
                <a:spcAft>
                  <a:spcPts val="0"/>
                </a:spcAft>
                <a:buClrTx/>
                <a:buSzTx/>
                <a:buFont typeface="Arial" panose="020B0604020202020204" pitchFamily="34" charset="0"/>
                <a:buChar char="•"/>
                <a:defRPr/>
              </a:pPr>
              <a:r>
                <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sym typeface="Trebuchet MS" panose="020B0603020202020204" pitchFamily="34" charset="0"/>
                </a:rPr>
                <a:t>N/A</a:t>
              </a:r>
            </a:p>
          </p:txBody>
        </p:sp>
        <p:cxnSp>
          <p:nvCxnSpPr>
            <p:cNvPr id="81" name="直接连接符 13"/>
            <p:cNvCxnSpPr/>
            <p:nvPr/>
          </p:nvCxnSpPr>
          <p:spPr>
            <a:xfrm>
              <a:off x="5744054" y="1352707"/>
              <a:ext cx="1296144" cy="0"/>
            </a:xfrm>
            <a:prstGeom prst="line">
              <a:avLst/>
            </a:prstGeom>
            <a:noFill/>
            <a:ln w="19050" cap="flat" cmpd="sng" algn="ctr">
              <a:solidFill>
                <a:srgbClr val="000000"/>
              </a:solidFill>
              <a:prstDash val="solid"/>
            </a:ln>
            <a:effectLst/>
          </p:spPr>
        </p:cxnSp>
      </p:grpSp>
      <p:sp>
        <p:nvSpPr>
          <p:cNvPr id="30"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标题 1"/>
          <p:cNvSpPr>
            <a:spLocks noGrp="1"/>
          </p:cNvSpPr>
          <p:nvPr>
            <p:ph type="title"/>
          </p:nvPr>
        </p:nvSpPr>
        <p:spPr>
          <a:xfrm>
            <a:off x="162000" y="593725"/>
            <a:ext cx="8820000" cy="695325"/>
          </a:xfrm>
        </p:spPr>
        <p:txBody>
          <a:bodyPr/>
          <a:lstStyle/>
          <a:p>
            <a:r>
              <a:rPr dirty="0"/>
              <a:t>C-1. </a:t>
            </a:r>
            <a:r>
              <a:rPr lang="zh-CN" altLang="en-US" dirty="0"/>
              <a:t>某车厂的产销平衡（</a:t>
            </a:r>
            <a:r>
              <a:rPr dirty="0"/>
              <a:t>S&amp;OP</a:t>
            </a:r>
            <a:r>
              <a:rPr lang="zh-CN" altLang="en-US" dirty="0"/>
              <a:t>）主要职责</a:t>
            </a:r>
          </a:p>
        </p:txBody>
      </p:sp>
      <p:sp>
        <p:nvSpPr>
          <p:cNvPr id="27" name="Text Box 18"/>
          <p:cNvSpPr txBox="1">
            <a:spLocks noChangeArrowheads="1"/>
          </p:cNvSpPr>
          <p:nvPr/>
        </p:nvSpPr>
        <p:spPr bwMode="auto">
          <a:xfrm>
            <a:off x="2025650" y="1200150"/>
            <a:ext cx="1754188" cy="276225"/>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en-US" altLang="zh-CN" sz="1200" b="1">
                <a:solidFill>
                  <a:srgbClr val="000000"/>
                </a:solidFill>
                <a:latin typeface="微软雅黑" panose="020B0503020204020204" charset="-122"/>
                <a:ea typeface="微软雅黑" panose="020B0503020204020204" charset="-122"/>
              </a:rPr>
              <a:t>S&amp;OP</a:t>
            </a:r>
            <a:r>
              <a:rPr lang="zh-CN" altLang="en-US" sz="1200" b="1">
                <a:solidFill>
                  <a:srgbClr val="000000"/>
                </a:solidFill>
                <a:latin typeface="微软雅黑" panose="020B0503020204020204" charset="-122"/>
                <a:ea typeface="微软雅黑" panose="020B0503020204020204" charset="-122"/>
              </a:rPr>
              <a:t>组织者</a:t>
            </a:r>
            <a:endParaRPr lang="en-US" altLang="zh-CN" sz="1200" b="1">
              <a:solidFill>
                <a:srgbClr val="000000"/>
              </a:solidFill>
              <a:latin typeface="微软雅黑" panose="020B0503020204020204" charset="-122"/>
              <a:ea typeface="微软雅黑" panose="020B0503020204020204" charset="-122"/>
            </a:endParaRPr>
          </a:p>
        </p:txBody>
      </p:sp>
      <p:sp>
        <p:nvSpPr>
          <p:cNvPr id="28" name="Text Box 19"/>
          <p:cNvSpPr txBox="1">
            <a:spLocks noChangeArrowheads="1"/>
          </p:cNvSpPr>
          <p:nvPr/>
        </p:nvSpPr>
        <p:spPr bwMode="auto">
          <a:xfrm>
            <a:off x="2025650" y="1476375"/>
            <a:ext cx="1754188" cy="1754188"/>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 组织产销平衡会议，准备会议材料</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组织产供销各方的会前交流，协调冲突，形成备选方案和分析</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发布产销平衡会议决策结果并监控执行情况</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收集和计算相关绩效指标</a:t>
            </a:r>
          </a:p>
        </p:txBody>
      </p:sp>
      <p:sp>
        <p:nvSpPr>
          <p:cNvPr id="29" name="Text Box 22"/>
          <p:cNvSpPr txBox="1">
            <a:spLocks noChangeArrowheads="1"/>
          </p:cNvSpPr>
          <p:nvPr/>
        </p:nvSpPr>
        <p:spPr bwMode="auto">
          <a:xfrm>
            <a:off x="3817938" y="1200150"/>
            <a:ext cx="1762125" cy="276225"/>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zh-CN" altLang="en-US" sz="1200" b="1">
                <a:solidFill>
                  <a:srgbClr val="000000"/>
                </a:solidFill>
                <a:latin typeface="微软雅黑" panose="020B0503020204020204" charset="-122"/>
                <a:ea typeface="微软雅黑" panose="020B0503020204020204" charset="-122"/>
              </a:rPr>
              <a:t>营销公司</a:t>
            </a:r>
            <a:endParaRPr lang="en-US" altLang="zh-CN" sz="1200" b="1">
              <a:solidFill>
                <a:srgbClr val="000000"/>
              </a:solidFill>
              <a:latin typeface="微软雅黑" panose="020B0503020204020204" charset="-122"/>
              <a:ea typeface="微软雅黑" panose="020B0503020204020204" charset="-122"/>
            </a:endParaRPr>
          </a:p>
        </p:txBody>
      </p:sp>
      <p:sp>
        <p:nvSpPr>
          <p:cNvPr id="30" name="Text Box 23"/>
          <p:cNvSpPr txBox="1">
            <a:spLocks noChangeArrowheads="1"/>
          </p:cNvSpPr>
          <p:nvPr/>
        </p:nvSpPr>
        <p:spPr bwMode="auto">
          <a:xfrm>
            <a:off x="3817938" y="1455738"/>
            <a:ext cx="1762125" cy="1754187"/>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提供月度需求计划和库存计划、新产品销售计划</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提供市场</a:t>
            </a:r>
            <a:r>
              <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a:t>
            </a: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销售的趋势和变动风险</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执行销售相关的行动计划</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提供销售部门相关绩效指标</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31" name="Text Box 26"/>
          <p:cNvSpPr txBox="1">
            <a:spLocks noChangeArrowheads="1"/>
          </p:cNvSpPr>
          <p:nvPr/>
        </p:nvSpPr>
        <p:spPr bwMode="auto">
          <a:xfrm>
            <a:off x="317500" y="1200150"/>
            <a:ext cx="1662113" cy="276225"/>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en-US" altLang="zh-CN" sz="1200" b="1">
                <a:solidFill>
                  <a:srgbClr val="000000"/>
                </a:solidFill>
                <a:latin typeface="微软雅黑" panose="020B0503020204020204" charset="-122"/>
                <a:ea typeface="微软雅黑" panose="020B0503020204020204" charset="-122"/>
              </a:rPr>
              <a:t>S&amp;OP</a:t>
            </a:r>
            <a:r>
              <a:rPr lang="zh-CN" altLang="en-US" sz="1200" b="1">
                <a:solidFill>
                  <a:srgbClr val="000000"/>
                </a:solidFill>
                <a:latin typeface="微软雅黑" panose="020B0503020204020204" charset="-122"/>
                <a:ea typeface="微软雅黑" panose="020B0503020204020204" charset="-122"/>
              </a:rPr>
              <a:t>决策者</a:t>
            </a:r>
            <a:endParaRPr lang="en-US" altLang="zh-CN" sz="1200" b="1">
              <a:solidFill>
                <a:srgbClr val="000000"/>
              </a:solidFill>
              <a:latin typeface="微软雅黑" panose="020B0503020204020204" charset="-122"/>
              <a:ea typeface="微软雅黑" panose="020B0503020204020204" charset="-122"/>
            </a:endParaRPr>
          </a:p>
        </p:txBody>
      </p:sp>
      <p:sp>
        <p:nvSpPr>
          <p:cNvPr id="32" name="Text Box 27"/>
          <p:cNvSpPr txBox="1">
            <a:spLocks noChangeArrowheads="1"/>
          </p:cNvSpPr>
          <p:nvPr/>
        </p:nvSpPr>
        <p:spPr bwMode="auto">
          <a:xfrm>
            <a:off x="317500" y="1473200"/>
            <a:ext cx="1662113" cy="1754188"/>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主持</a:t>
            </a:r>
            <a:r>
              <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S&amp;OP</a:t>
            </a: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正式会议</a:t>
            </a:r>
            <a:r>
              <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 </a:t>
            </a: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处理产供销冲突，决策产销存计划</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评估绩效</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33" name="Text Box 38"/>
          <p:cNvSpPr txBox="1">
            <a:spLocks noChangeArrowheads="1"/>
          </p:cNvSpPr>
          <p:nvPr/>
        </p:nvSpPr>
        <p:spPr bwMode="auto">
          <a:xfrm>
            <a:off x="317500" y="3794125"/>
            <a:ext cx="1662113" cy="1570038"/>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提供关键零部件交期、约束相关信息</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提供零部件库存及安全库存设置</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提供零部件计划相关的行动计划</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提供零部件计划部门相关绩效指标</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34" name="Text Box 39"/>
          <p:cNvSpPr txBox="1">
            <a:spLocks noChangeArrowheads="1"/>
          </p:cNvSpPr>
          <p:nvPr/>
        </p:nvSpPr>
        <p:spPr bwMode="auto">
          <a:xfrm>
            <a:off x="317500" y="3505200"/>
            <a:ext cx="1662113" cy="288925"/>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zh-CN" altLang="en-US" sz="1200" b="1">
                <a:solidFill>
                  <a:srgbClr val="000000"/>
                </a:solidFill>
                <a:latin typeface="微软雅黑" panose="020B0503020204020204" charset="-122"/>
                <a:ea typeface="微软雅黑" panose="020B0503020204020204" charset="-122"/>
              </a:rPr>
              <a:t>采购部门</a:t>
            </a:r>
            <a:endParaRPr lang="en-US" altLang="zh-CN" sz="1200" b="1">
              <a:solidFill>
                <a:srgbClr val="000000"/>
              </a:solidFill>
              <a:latin typeface="微软雅黑" panose="020B0503020204020204" charset="-122"/>
              <a:ea typeface="微软雅黑" panose="020B0503020204020204" charset="-122"/>
            </a:endParaRPr>
          </a:p>
        </p:txBody>
      </p:sp>
      <p:sp>
        <p:nvSpPr>
          <p:cNvPr id="35" name="Text Box 46"/>
          <p:cNvSpPr txBox="1">
            <a:spLocks noChangeArrowheads="1"/>
          </p:cNvSpPr>
          <p:nvPr/>
        </p:nvSpPr>
        <p:spPr bwMode="auto">
          <a:xfrm>
            <a:off x="2030413" y="3500438"/>
            <a:ext cx="1749425" cy="277812"/>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zh-CN" altLang="en-US" sz="1200" b="1">
                <a:solidFill>
                  <a:srgbClr val="000000"/>
                </a:solidFill>
                <a:latin typeface="微软雅黑" panose="020B0503020204020204" charset="-122"/>
                <a:ea typeface="微软雅黑" panose="020B0503020204020204" charset="-122"/>
              </a:rPr>
              <a:t>人力资源部</a:t>
            </a:r>
            <a:endParaRPr lang="en-US" altLang="zh-CN" sz="1200" b="1">
              <a:solidFill>
                <a:srgbClr val="000000"/>
              </a:solidFill>
              <a:latin typeface="微软雅黑" panose="020B0503020204020204" charset="-122"/>
              <a:ea typeface="微软雅黑" panose="020B0503020204020204" charset="-122"/>
            </a:endParaRPr>
          </a:p>
        </p:txBody>
      </p:sp>
      <p:sp>
        <p:nvSpPr>
          <p:cNvPr id="36" name="Text Box 47"/>
          <p:cNvSpPr txBox="1">
            <a:spLocks noChangeArrowheads="1"/>
          </p:cNvSpPr>
          <p:nvPr/>
        </p:nvSpPr>
        <p:spPr bwMode="auto">
          <a:xfrm>
            <a:off x="2025650" y="3794125"/>
            <a:ext cx="1754188" cy="1570038"/>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人力准备及调整计划</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提供人力相关绩效指标</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37" name="Line 35"/>
          <p:cNvSpPr>
            <a:spLocks noChangeShapeType="1"/>
          </p:cNvSpPr>
          <p:nvPr/>
        </p:nvSpPr>
        <p:spPr bwMode="auto">
          <a:xfrm>
            <a:off x="357188" y="3371850"/>
            <a:ext cx="8421687" cy="0"/>
          </a:xfrm>
          <a:prstGeom prst="line">
            <a:avLst/>
          </a:prstGeom>
          <a:noFill/>
          <a:ln w="28575">
            <a:solidFill>
              <a:srgbClr val="7889FB"/>
            </a:solidFill>
            <a:round/>
            <a:headEnd type="none" w="sm" len="sm"/>
            <a:tailEnd type="none" w="sm" len="sm"/>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 name="Text Box 38"/>
          <p:cNvSpPr txBox="1">
            <a:spLocks noChangeArrowheads="1"/>
          </p:cNvSpPr>
          <p:nvPr/>
        </p:nvSpPr>
        <p:spPr bwMode="auto">
          <a:xfrm>
            <a:off x="3832225" y="3794125"/>
            <a:ext cx="1747838" cy="1570038"/>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提供产品版本切换信息，新产品开发进度，老产品切换进度</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39" name="Text Box 39"/>
          <p:cNvSpPr txBox="1">
            <a:spLocks noChangeArrowheads="1"/>
          </p:cNvSpPr>
          <p:nvPr/>
        </p:nvSpPr>
        <p:spPr bwMode="auto">
          <a:xfrm>
            <a:off x="3817938" y="3506788"/>
            <a:ext cx="1762125" cy="288925"/>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zh-CN" altLang="en-US" sz="1200" b="1">
                <a:solidFill>
                  <a:srgbClr val="000000"/>
                </a:solidFill>
                <a:latin typeface="微软雅黑" panose="020B0503020204020204" charset="-122"/>
                <a:ea typeface="微软雅黑" panose="020B0503020204020204" charset="-122"/>
              </a:rPr>
              <a:t>研究院</a:t>
            </a:r>
            <a:endParaRPr lang="en-US" altLang="zh-CN" sz="1200" b="1">
              <a:solidFill>
                <a:srgbClr val="000000"/>
              </a:solidFill>
              <a:latin typeface="微软雅黑" panose="020B0503020204020204" charset="-122"/>
              <a:ea typeface="微软雅黑" panose="020B0503020204020204" charset="-122"/>
            </a:endParaRPr>
          </a:p>
        </p:txBody>
      </p:sp>
      <p:sp>
        <p:nvSpPr>
          <p:cNvPr id="40" name="Text Box 22"/>
          <p:cNvSpPr txBox="1">
            <a:spLocks noChangeArrowheads="1"/>
          </p:cNvSpPr>
          <p:nvPr/>
        </p:nvSpPr>
        <p:spPr bwMode="auto">
          <a:xfrm>
            <a:off x="5651500" y="1196975"/>
            <a:ext cx="1530350" cy="276225"/>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zh-CN" altLang="en-US" sz="1200" b="1">
                <a:solidFill>
                  <a:srgbClr val="000000"/>
                </a:solidFill>
                <a:latin typeface="微软雅黑" panose="020B0503020204020204" charset="-122"/>
                <a:ea typeface="微软雅黑" panose="020B0503020204020204" charset="-122"/>
              </a:rPr>
              <a:t>计划财务代表</a:t>
            </a:r>
            <a:endParaRPr lang="en-US" altLang="zh-CN" sz="1200" b="1">
              <a:solidFill>
                <a:srgbClr val="000000"/>
              </a:solidFill>
              <a:latin typeface="微软雅黑" panose="020B0503020204020204" charset="-122"/>
              <a:ea typeface="微软雅黑" panose="020B0503020204020204" charset="-122"/>
            </a:endParaRPr>
          </a:p>
        </p:txBody>
      </p:sp>
      <p:sp>
        <p:nvSpPr>
          <p:cNvPr id="41" name="Text Box 23"/>
          <p:cNvSpPr txBox="1">
            <a:spLocks noChangeArrowheads="1"/>
          </p:cNvSpPr>
          <p:nvPr/>
        </p:nvSpPr>
        <p:spPr bwMode="auto">
          <a:xfrm>
            <a:off x="5651500" y="1473200"/>
            <a:ext cx="1530350" cy="1754188"/>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提供财务计划</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提供财务部门</a:t>
            </a:r>
            <a:r>
              <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OTD</a:t>
            </a: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相关绩效指标</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2" name="Text Box 38"/>
          <p:cNvSpPr txBox="1">
            <a:spLocks noChangeArrowheads="1"/>
          </p:cNvSpPr>
          <p:nvPr/>
        </p:nvSpPr>
        <p:spPr bwMode="auto">
          <a:xfrm>
            <a:off x="5651500" y="3810000"/>
            <a:ext cx="1530350" cy="1570038"/>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提供工艺改善计划</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3" name="Text Box 39"/>
          <p:cNvSpPr txBox="1">
            <a:spLocks noChangeArrowheads="1"/>
          </p:cNvSpPr>
          <p:nvPr/>
        </p:nvSpPr>
        <p:spPr bwMode="auto">
          <a:xfrm>
            <a:off x="5651500" y="3506788"/>
            <a:ext cx="1530350" cy="288925"/>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zh-CN" altLang="en-US" sz="1200" b="1">
                <a:solidFill>
                  <a:srgbClr val="000000"/>
                </a:solidFill>
                <a:latin typeface="微软雅黑" panose="020B0503020204020204" charset="-122"/>
                <a:ea typeface="微软雅黑" panose="020B0503020204020204" charset="-122"/>
              </a:rPr>
              <a:t>工艺部</a:t>
            </a:r>
            <a:endParaRPr lang="en-US" altLang="zh-CN" sz="1200" b="1">
              <a:solidFill>
                <a:srgbClr val="000000"/>
              </a:solidFill>
              <a:latin typeface="微软雅黑" panose="020B0503020204020204" charset="-122"/>
              <a:ea typeface="微软雅黑" panose="020B0503020204020204" charset="-122"/>
            </a:endParaRPr>
          </a:p>
        </p:txBody>
      </p:sp>
      <p:sp>
        <p:nvSpPr>
          <p:cNvPr id="44" name="Text Box 38"/>
          <p:cNvSpPr txBox="1">
            <a:spLocks noChangeArrowheads="1"/>
          </p:cNvSpPr>
          <p:nvPr/>
        </p:nvSpPr>
        <p:spPr bwMode="auto">
          <a:xfrm>
            <a:off x="7250113" y="3810000"/>
            <a:ext cx="1528762" cy="1568450"/>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提供质量改善计划</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5" name="Text Box 39"/>
          <p:cNvSpPr txBox="1">
            <a:spLocks noChangeArrowheads="1"/>
          </p:cNvSpPr>
          <p:nvPr/>
        </p:nvSpPr>
        <p:spPr bwMode="auto">
          <a:xfrm>
            <a:off x="7250113" y="3506788"/>
            <a:ext cx="1528762" cy="287337"/>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zh-CN" altLang="en-US" sz="1200" b="1">
                <a:solidFill>
                  <a:srgbClr val="000000"/>
                </a:solidFill>
                <a:latin typeface="微软雅黑" panose="020B0503020204020204" charset="-122"/>
                <a:ea typeface="微软雅黑" panose="020B0503020204020204" charset="-122"/>
              </a:rPr>
              <a:t>质量部</a:t>
            </a:r>
            <a:endParaRPr lang="en-US" altLang="zh-CN" sz="1200" b="1">
              <a:solidFill>
                <a:srgbClr val="000000"/>
              </a:solidFill>
              <a:latin typeface="微软雅黑" panose="020B0503020204020204" charset="-122"/>
              <a:ea typeface="微软雅黑" panose="020B0503020204020204" charset="-122"/>
            </a:endParaRPr>
          </a:p>
        </p:txBody>
      </p:sp>
      <p:sp>
        <p:nvSpPr>
          <p:cNvPr id="46" name="Text Box 22"/>
          <p:cNvSpPr txBox="1">
            <a:spLocks noChangeArrowheads="1"/>
          </p:cNvSpPr>
          <p:nvPr/>
        </p:nvSpPr>
        <p:spPr bwMode="auto">
          <a:xfrm>
            <a:off x="7250113" y="1200150"/>
            <a:ext cx="1528762" cy="276225"/>
          </a:xfrm>
          <a:prstGeom prst="rect">
            <a:avLst/>
          </a:prstGeom>
          <a:solidFill>
            <a:srgbClr val="FFC000"/>
          </a:solidFill>
          <a:ln w="9525">
            <a:noFill/>
            <a:miter lim="800000"/>
          </a:ln>
        </p:spPr>
        <p:txBody>
          <a:bodyPr>
            <a:spAutoFit/>
          </a:bodyPr>
          <a:lstStyle/>
          <a:p>
            <a:pPr marL="52705" indent="-52705" algn="ctr" eaLnBrk="0" hangingPunct="0">
              <a:spcAft>
                <a:spcPct val="25000"/>
              </a:spcAft>
              <a:buClr>
                <a:srgbClr val="7889FB"/>
              </a:buClr>
              <a:buFont typeface="Wingdings" panose="05000000000000000000" pitchFamily="2" charset="2"/>
              <a:buNone/>
            </a:pPr>
            <a:r>
              <a:rPr lang="zh-CN" altLang="en-US" sz="1200" b="1">
                <a:solidFill>
                  <a:srgbClr val="000000"/>
                </a:solidFill>
                <a:latin typeface="微软雅黑" panose="020B0503020204020204" charset="-122"/>
                <a:ea typeface="微软雅黑" panose="020B0503020204020204" charset="-122"/>
              </a:rPr>
              <a:t>工厂</a:t>
            </a:r>
            <a:endParaRPr lang="en-US" altLang="zh-CN" sz="1200" b="1">
              <a:solidFill>
                <a:srgbClr val="000000"/>
              </a:solidFill>
              <a:latin typeface="微软雅黑" panose="020B0503020204020204" charset="-122"/>
              <a:ea typeface="微软雅黑" panose="020B0503020204020204" charset="-122"/>
            </a:endParaRPr>
          </a:p>
        </p:txBody>
      </p:sp>
      <p:sp>
        <p:nvSpPr>
          <p:cNvPr id="47" name="Text Box 23"/>
          <p:cNvSpPr txBox="1">
            <a:spLocks noChangeArrowheads="1"/>
          </p:cNvSpPr>
          <p:nvPr/>
        </p:nvSpPr>
        <p:spPr bwMode="auto">
          <a:xfrm>
            <a:off x="7250113" y="1476375"/>
            <a:ext cx="1528762" cy="1754188"/>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提供产能约束及产能弹性相关信息</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提供产能调整相关的行动计划</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提供生产计划部门相关绩效指标</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 typeface="Wingdings" panose="05000000000000000000" pitchFamily="2" charset="2"/>
              <a:buChar char="n"/>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8" name="Text Box 47"/>
          <p:cNvSpPr txBox="1">
            <a:spLocks noChangeArrowheads="1"/>
          </p:cNvSpPr>
          <p:nvPr/>
        </p:nvSpPr>
        <p:spPr bwMode="auto">
          <a:xfrm>
            <a:off x="2030413" y="5622925"/>
            <a:ext cx="6748462" cy="830263"/>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Tx/>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S&amp;OP</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决策者：</a:t>
            </a: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CEO</a:t>
            </a:r>
          </a:p>
          <a:p>
            <a:pPr marL="0" marR="0" lvl="0" indent="0" defTabSz="914400" eaLnBrk="0" fontAlgn="auto" latinLnBrk="0" hangingPunct="0">
              <a:lnSpc>
                <a:spcPct val="100000"/>
              </a:lnSpc>
              <a:spcBef>
                <a:spcPts val="0"/>
              </a:spcBef>
              <a:spcAft>
                <a:spcPts val="0"/>
              </a:spcAft>
              <a:buClr>
                <a:srgbClr val="7889FB"/>
              </a:buClr>
              <a:buSzPct val="70000"/>
              <a:buFontTx/>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S&amp;OP</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组织者：订单中心负责人</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S&amp;OP</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预备会参与层级：部长或副部长级</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S&amp;OP</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正式会参与层级：总经理或副总级</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49" name="Text Box 47"/>
          <p:cNvSpPr txBox="1">
            <a:spLocks noChangeArrowheads="1"/>
          </p:cNvSpPr>
          <p:nvPr/>
        </p:nvSpPr>
        <p:spPr bwMode="auto">
          <a:xfrm>
            <a:off x="317500" y="5611813"/>
            <a:ext cx="1662113" cy="831850"/>
          </a:xfrm>
          <a:prstGeom prst="rect">
            <a:avLst/>
          </a:prstGeom>
          <a:solidFill>
            <a:srgbClr val="D6DBFE"/>
          </a:solidFill>
          <a:ln w="9525">
            <a:noFill/>
            <a:miter lim="800000"/>
          </a:ln>
        </p:spPr>
        <p:txBody>
          <a:bodyPr>
            <a:spAutoFit/>
          </a:bodyPr>
          <a:lstStyle/>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r>
              <a:rPr kumimoji="0" lang="zh-CN" altLang="en-US"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建议与会层级</a:t>
            </a:r>
            <a:r>
              <a:rPr kumimoji="0" lang="zh-CN" altLang="en-US"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a:t>
            </a: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ct val="100000"/>
              </a:lnSpc>
              <a:spcBef>
                <a:spcPts val="0"/>
              </a:spcBef>
              <a:spcAft>
                <a:spcPts val="0"/>
              </a:spcAft>
              <a:buClr>
                <a:srgbClr val="7889FB"/>
              </a:buClr>
              <a:buSzPct val="70000"/>
              <a:buFontTx/>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Line 35"/>
          <p:cNvSpPr>
            <a:spLocks noChangeShapeType="1"/>
          </p:cNvSpPr>
          <p:nvPr/>
        </p:nvSpPr>
        <p:spPr bwMode="auto">
          <a:xfrm>
            <a:off x="317500" y="5478463"/>
            <a:ext cx="8461375" cy="0"/>
          </a:xfrm>
          <a:prstGeom prst="line">
            <a:avLst/>
          </a:prstGeom>
          <a:noFill/>
          <a:ln w="28575">
            <a:solidFill>
              <a:srgbClr val="7889FB"/>
            </a:solidFill>
            <a:round/>
            <a:headEnd type="none" w="sm" len="sm"/>
            <a:tailEnd type="none" w="sm" len="sm"/>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52"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标题 1"/>
          <p:cNvSpPr>
            <a:spLocks noGrp="1"/>
          </p:cNvSpPr>
          <p:nvPr>
            <p:ph type="title"/>
          </p:nvPr>
        </p:nvSpPr>
        <p:spPr>
          <a:xfrm>
            <a:off x="162000" y="593725"/>
            <a:ext cx="8820000" cy="695325"/>
          </a:xfrm>
        </p:spPr>
        <p:txBody>
          <a:bodyPr/>
          <a:lstStyle/>
          <a:p>
            <a:r>
              <a:rPr dirty="0"/>
              <a:t>C-2. </a:t>
            </a:r>
            <a:r>
              <a:rPr lang="zh-CN" altLang="en-US" dirty="0"/>
              <a:t>生产计划体系（以某装备制造车厂生产计划体系为例）</a:t>
            </a:r>
          </a:p>
        </p:txBody>
      </p:sp>
      <p:cxnSp>
        <p:nvCxnSpPr>
          <p:cNvPr id="51" name="直接连接符 50"/>
          <p:cNvCxnSpPr/>
          <p:nvPr/>
        </p:nvCxnSpPr>
        <p:spPr bwMode="auto">
          <a:xfrm>
            <a:off x="3695919" y="1935962"/>
            <a:ext cx="0" cy="1781070"/>
          </a:xfrm>
          <a:prstGeom prst="line">
            <a:avLst/>
          </a:prstGeom>
          <a:noFill/>
          <a:ln w="9525" cap="flat" cmpd="sng" algn="ctr">
            <a:solidFill>
              <a:srgbClr val="FF0000"/>
            </a:solidFill>
            <a:prstDash val="dash"/>
            <a:round/>
            <a:headEnd type="none" w="med" len="med"/>
            <a:tailEnd type="none" w="med" len="med"/>
          </a:ln>
          <a:effectLst/>
        </p:spPr>
      </p:cxnSp>
      <p:cxnSp>
        <p:nvCxnSpPr>
          <p:cNvPr id="52" name="直接连接符 51"/>
          <p:cNvCxnSpPr/>
          <p:nvPr/>
        </p:nvCxnSpPr>
        <p:spPr bwMode="auto">
          <a:xfrm flipH="1">
            <a:off x="2346536" y="1935962"/>
            <a:ext cx="1588" cy="1781070"/>
          </a:xfrm>
          <a:prstGeom prst="line">
            <a:avLst/>
          </a:prstGeom>
          <a:noFill/>
          <a:ln w="9525" cap="flat" cmpd="sng" algn="ctr">
            <a:solidFill>
              <a:srgbClr val="FF0000"/>
            </a:solidFill>
            <a:prstDash val="dash"/>
            <a:round/>
            <a:headEnd type="none" w="med" len="med"/>
            <a:tailEnd type="none" w="med" len="med"/>
          </a:ln>
          <a:effectLst/>
        </p:spPr>
      </p:cxnSp>
      <p:cxnSp>
        <p:nvCxnSpPr>
          <p:cNvPr id="53" name="直接连接符 52"/>
          <p:cNvCxnSpPr/>
          <p:nvPr/>
        </p:nvCxnSpPr>
        <p:spPr bwMode="auto">
          <a:xfrm>
            <a:off x="4640716" y="1935962"/>
            <a:ext cx="0" cy="1781070"/>
          </a:xfrm>
          <a:prstGeom prst="line">
            <a:avLst/>
          </a:prstGeom>
          <a:noFill/>
          <a:ln w="9525" cap="flat" cmpd="sng" algn="ctr">
            <a:solidFill>
              <a:srgbClr val="FF0000"/>
            </a:solidFill>
            <a:prstDash val="dash"/>
            <a:round/>
            <a:headEnd type="none" w="med" len="med"/>
            <a:tailEnd type="none" w="med" len="med"/>
          </a:ln>
          <a:effectLst/>
        </p:spPr>
      </p:cxnSp>
      <p:sp>
        <p:nvSpPr>
          <p:cNvPr id="54" name="TextBox 61"/>
          <p:cNvSpPr txBox="1">
            <a:spLocks noChangeArrowheads="1"/>
          </p:cNvSpPr>
          <p:nvPr/>
        </p:nvSpPr>
        <p:spPr bwMode="auto">
          <a:xfrm>
            <a:off x="7642697" y="1597825"/>
            <a:ext cx="1011237" cy="338137"/>
          </a:xfrm>
          <a:prstGeom prst="rect">
            <a:avLst/>
          </a:prstGeom>
          <a:noFill/>
          <a:ln w="9525">
            <a:noFill/>
            <a:miter lim="800000"/>
          </a:ln>
        </p:spPr>
        <p:txBody>
          <a:bodyPr wrap="none">
            <a:spAutoFit/>
          </a:bodyPr>
          <a:lstStyle/>
          <a:p>
            <a:r>
              <a:rPr lang="zh-CN" altLang="en-US" sz="1600" b="1" dirty="0">
                <a:latin typeface="微软雅黑" panose="020B0503020204020204" charset="-122"/>
                <a:ea typeface="微软雅黑" panose="020B0503020204020204" charset="-122"/>
              </a:rPr>
              <a:t>负责部门</a:t>
            </a:r>
          </a:p>
        </p:txBody>
      </p:sp>
      <p:sp>
        <p:nvSpPr>
          <p:cNvPr id="55" name="Text Box 27"/>
          <p:cNvSpPr txBox="1">
            <a:spLocks noChangeArrowheads="1"/>
          </p:cNvSpPr>
          <p:nvPr/>
        </p:nvSpPr>
        <p:spPr bwMode="auto">
          <a:xfrm>
            <a:off x="297220" y="3032577"/>
            <a:ext cx="715111"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短期</a:t>
            </a:r>
          </a:p>
        </p:txBody>
      </p:sp>
      <p:sp>
        <p:nvSpPr>
          <p:cNvPr id="56" name="AutoShape 19"/>
          <p:cNvSpPr>
            <a:spLocks noChangeArrowheads="1"/>
          </p:cNvSpPr>
          <p:nvPr/>
        </p:nvSpPr>
        <p:spPr bwMode="auto">
          <a:xfrm>
            <a:off x="999306" y="1987877"/>
            <a:ext cx="6357982" cy="324000"/>
          </a:xfrm>
          <a:prstGeom prst="homePlate">
            <a:avLst>
              <a:gd name="adj" fmla="val 51490"/>
            </a:avLst>
          </a:prstGeom>
          <a:solidFill>
            <a:schemeClr val="accent1"/>
          </a:solidFill>
          <a:ln w="6350" algn="ctr">
            <a:noFill/>
            <a:miter lim="800000"/>
          </a:ln>
        </p:spPr>
        <p:txBody>
          <a:bodyPr wrap="none" lIns="0" tIns="0" rIns="0" bIns="0" anchor="ctr"/>
          <a:lstStyle/>
          <a:p>
            <a:pPr algn="ctr" defTabSz="981075">
              <a:lnSpc>
                <a:spcPct val="120000"/>
              </a:lnSpc>
              <a:spcBef>
                <a:spcPct val="50000"/>
              </a:spcBef>
            </a:pPr>
            <a:r>
              <a:rPr lang="zh-CN" altLang="en-US" sz="1400" b="1" dirty="0">
                <a:solidFill>
                  <a:schemeClr val="bg1"/>
                </a:solidFill>
                <a:latin typeface="微软雅黑" panose="020B0503020204020204" charset="-122"/>
                <a:ea typeface="微软雅黑" panose="020B0503020204020204" charset="-122"/>
              </a:rPr>
              <a:t>“一</a:t>
            </a:r>
            <a:r>
              <a:rPr lang="en-US" altLang="zh-CN" sz="1400" b="1" dirty="0">
                <a:solidFill>
                  <a:schemeClr val="bg1"/>
                </a:solidFill>
                <a:latin typeface="微软雅黑" panose="020B0503020204020204" charset="-122"/>
                <a:ea typeface="微软雅黑" panose="020B0503020204020204" charset="-122"/>
              </a:rPr>
              <a:t>+</a:t>
            </a:r>
            <a:r>
              <a:rPr lang="zh-CN" altLang="en-US" sz="1400" b="1" dirty="0">
                <a:solidFill>
                  <a:schemeClr val="bg1"/>
                </a:solidFill>
                <a:latin typeface="微软雅黑" panose="020B0503020204020204" charset="-122"/>
                <a:ea typeface="微软雅黑" panose="020B0503020204020204" charset="-122"/>
              </a:rPr>
              <a:t>二”月生产计划</a:t>
            </a:r>
          </a:p>
        </p:txBody>
      </p:sp>
      <p:sp>
        <p:nvSpPr>
          <p:cNvPr id="57" name="Text Box 8"/>
          <p:cNvSpPr txBox="1">
            <a:spLocks noChangeArrowheads="1"/>
          </p:cNvSpPr>
          <p:nvPr/>
        </p:nvSpPr>
        <p:spPr bwMode="gray">
          <a:xfrm>
            <a:off x="7515448" y="1987877"/>
            <a:ext cx="1260000" cy="324000"/>
          </a:xfrm>
          <a:prstGeom prst="rect">
            <a:avLst/>
          </a:prstGeom>
          <a:noFill/>
          <a:ln w="12700">
            <a:solidFill>
              <a:schemeClr val="tx1"/>
            </a:solidFill>
            <a:miter lim="800000"/>
          </a:ln>
        </p:spPr>
        <p:txBody>
          <a:bodyPr lIns="0" tIns="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订单中心</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58" name="AutoShape 19"/>
          <p:cNvSpPr>
            <a:spLocks noChangeArrowheads="1"/>
          </p:cNvSpPr>
          <p:nvPr/>
        </p:nvSpPr>
        <p:spPr bwMode="auto">
          <a:xfrm>
            <a:off x="1000100" y="2375094"/>
            <a:ext cx="3657852" cy="324000"/>
          </a:xfrm>
          <a:prstGeom prst="homePlate">
            <a:avLst>
              <a:gd name="adj" fmla="val 51490"/>
            </a:avLst>
          </a:prstGeom>
          <a:solidFill>
            <a:schemeClr val="accent1"/>
          </a:solidFill>
          <a:ln w="6350" algn="ctr">
            <a:noFill/>
            <a:miter lim="800000"/>
          </a:ln>
        </p:spPr>
        <p:txBody>
          <a:bodyPr wrap="none" lIns="0" tIns="0" rIns="0" bIns="0" anchor="ctr"/>
          <a:lstStyle/>
          <a:p>
            <a:pPr algn="ctr" defTabSz="981075">
              <a:lnSpc>
                <a:spcPct val="120000"/>
              </a:lnSpc>
              <a:spcBef>
                <a:spcPct val="50000"/>
              </a:spcBef>
            </a:pPr>
            <a:r>
              <a:rPr lang="zh-CN" altLang="en-US" sz="1400" b="1" dirty="0">
                <a:solidFill>
                  <a:schemeClr val="bg1"/>
                </a:solidFill>
                <a:latin typeface="微软雅黑" panose="020B0503020204020204" charset="-122"/>
                <a:ea typeface="微软雅黑" panose="020B0503020204020204" charset="-122"/>
              </a:rPr>
              <a:t>“</a:t>
            </a:r>
            <a:r>
              <a:rPr lang="en-US" altLang="zh-CN" sz="1400" b="1" dirty="0">
                <a:solidFill>
                  <a:schemeClr val="bg1"/>
                </a:solidFill>
                <a:latin typeface="微软雅黑" panose="020B0503020204020204" charset="-122"/>
                <a:ea typeface="微软雅黑" panose="020B0503020204020204" charset="-122"/>
              </a:rPr>
              <a:t>2+2</a:t>
            </a:r>
            <a:r>
              <a:rPr lang="zh-CN" altLang="en-US" sz="1400" b="1" dirty="0">
                <a:solidFill>
                  <a:schemeClr val="bg1"/>
                </a:solidFill>
                <a:latin typeface="微软雅黑" panose="020B0503020204020204" charset="-122"/>
                <a:ea typeface="微软雅黑" panose="020B0503020204020204" charset="-122"/>
              </a:rPr>
              <a:t>”周生产计划（品种）</a:t>
            </a:r>
          </a:p>
        </p:txBody>
      </p:sp>
      <p:cxnSp>
        <p:nvCxnSpPr>
          <p:cNvPr id="59" name="直接连接符 58"/>
          <p:cNvCxnSpPr/>
          <p:nvPr/>
        </p:nvCxnSpPr>
        <p:spPr bwMode="auto">
          <a:xfrm flipH="1">
            <a:off x="998286" y="1935962"/>
            <a:ext cx="2608" cy="1781070"/>
          </a:xfrm>
          <a:prstGeom prst="line">
            <a:avLst/>
          </a:prstGeom>
          <a:noFill/>
          <a:ln w="9525" cap="flat" cmpd="sng" algn="ctr">
            <a:solidFill>
              <a:schemeClr val="tx1"/>
            </a:solidFill>
            <a:prstDash val="solid"/>
            <a:round/>
            <a:headEnd type="triangle" w="med" len="med"/>
            <a:tailEnd type="none" w="med" len="med"/>
          </a:ln>
          <a:effectLst/>
        </p:spPr>
      </p:cxnSp>
      <p:sp>
        <p:nvSpPr>
          <p:cNvPr id="60" name="矩形 5"/>
          <p:cNvSpPr>
            <a:spLocks noChangeArrowheads="1"/>
          </p:cNvSpPr>
          <p:nvPr/>
        </p:nvSpPr>
        <p:spPr bwMode="auto">
          <a:xfrm>
            <a:off x="566379" y="1124744"/>
            <a:ext cx="445952" cy="252000"/>
          </a:xfrm>
          <a:prstGeom prst="rect">
            <a:avLst/>
          </a:prstGeom>
          <a:solidFill>
            <a:srgbClr val="FFFFCC"/>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月</a:t>
            </a:r>
          </a:p>
        </p:txBody>
      </p:sp>
      <p:sp>
        <p:nvSpPr>
          <p:cNvPr id="61" name="矩形 6"/>
          <p:cNvSpPr>
            <a:spLocks noChangeArrowheads="1"/>
          </p:cNvSpPr>
          <p:nvPr/>
        </p:nvSpPr>
        <p:spPr bwMode="auto">
          <a:xfrm>
            <a:off x="566379" y="1375595"/>
            <a:ext cx="445952" cy="252000"/>
          </a:xfrm>
          <a:prstGeom prst="rect">
            <a:avLst/>
          </a:prstGeom>
          <a:solidFill>
            <a:srgbClr val="E5F8FF"/>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周</a:t>
            </a:r>
          </a:p>
        </p:txBody>
      </p:sp>
      <p:sp>
        <p:nvSpPr>
          <p:cNvPr id="62" name="矩形 8"/>
          <p:cNvSpPr>
            <a:spLocks noChangeArrowheads="1"/>
          </p:cNvSpPr>
          <p:nvPr/>
        </p:nvSpPr>
        <p:spPr bwMode="auto">
          <a:xfrm>
            <a:off x="1008850" y="1124744"/>
            <a:ext cx="3614174" cy="252000"/>
          </a:xfrm>
          <a:prstGeom prst="rect">
            <a:avLst/>
          </a:prstGeom>
          <a:solidFill>
            <a:srgbClr val="FFFFCC"/>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a:solidFill>
                  <a:srgbClr val="000000"/>
                </a:solidFill>
                <a:latin typeface="微软雅黑" panose="020B0503020204020204" charset="-122"/>
                <a:ea typeface="微软雅黑" panose="020B0503020204020204" charset="-122"/>
              </a:rPr>
              <a:t>第</a:t>
            </a:r>
            <a:r>
              <a:rPr lang="en-US" altLang="zh-CN" sz="1400">
                <a:solidFill>
                  <a:srgbClr val="000000"/>
                </a:solidFill>
                <a:latin typeface="微软雅黑" panose="020B0503020204020204" charset="-122"/>
                <a:ea typeface="微软雅黑" panose="020B0503020204020204" charset="-122"/>
              </a:rPr>
              <a:t>1</a:t>
            </a:r>
            <a:r>
              <a:rPr lang="zh-CN" altLang="en-US" sz="1400">
                <a:solidFill>
                  <a:srgbClr val="000000"/>
                </a:solidFill>
                <a:latin typeface="微软雅黑" panose="020B0503020204020204" charset="-122"/>
                <a:ea typeface="微软雅黑" panose="020B0503020204020204" charset="-122"/>
              </a:rPr>
              <a:t>月</a:t>
            </a:r>
          </a:p>
        </p:txBody>
      </p:sp>
      <p:sp>
        <p:nvSpPr>
          <p:cNvPr id="63" name="矩形 33"/>
          <p:cNvSpPr>
            <a:spLocks noChangeArrowheads="1"/>
          </p:cNvSpPr>
          <p:nvPr/>
        </p:nvSpPr>
        <p:spPr bwMode="auto">
          <a:xfrm>
            <a:off x="4614553" y="1124744"/>
            <a:ext cx="1386000" cy="252000"/>
          </a:xfrm>
          <a:prstGeom prst="rect">
            <a:avLst/>
          </a:prstGeom>
          <a:solidFill>
            <a:srgbClr val="FFFFCC"/>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第</a:t>
            </a:r>
            <a:r>
              <a:rPr lang="en-US" altLang="zh-CN" sz="1400" dirty="0">
                <a:solidFill>
                  <a:srgbClr val="000000"/>
                </a:solidFill>
                <a:latin typeface="微软雅黑" panose="020B0503020204020204" charset="-122"/>
                <a:ea typeface="微软雅黑" panose="020B0503020204020204" charset="-122"/>
              </a:rPr>
              <a:t>2</a:t>
            </a:r>
            <a:r>
              <a:rPr lang="zh-CN" altLang="en-US" sz="1400" dirty="0">
                <a:solidFill>
                  <a:srgbClr val="000000"/>
                </a:solidFill>
                <a:latin typeface="微软雅黑" panose="020B0503020204020204" charset="-122"/>
                <a:ea typeface="微软雅黑" panose="020B0503020204020204" charset="-122"/>
              </a:rPr>
              <a:t>月</a:t>
            </a:r>
          </a:p>
        </p:txBody>
      </p:sp>
      <p:sp>
        <p:nvSpPr>
          <p:cNvPr id="64" name="矩形 38"/>
          <p:cNvSpPr>
            <a:spLocks noChangeArrowheads="1"/>
          </p:cNvSpPr>
          <p:nvPr/>
        </p:nvSpPr>
        <p:spPr bwMode="auto">
          <a:xfrm>
            <a:off x="5992722" y="1124744"/>
            <a:ext cx="1386000" cy="252000"/>
          </a:xfrm>
          <a:prstGeom prst="rect">
            <a:avLst/>
          </a:prstGeom>
          <a:solidFill>
            <a:srgbClr val="FFFFCC"/>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a:solidFill>
                  <a:srgbClr val="000000"/>
                </a:solidFill>
                <a:latin typeface="微软雅黑" panose="020B0503020204020204" charset="-122"/>
                <a:ea typeface="微软雅黑" panose="020B0503020204020204" charset="-122"/>
              </a:rPr>
              <a:t>第</a:t>
            </a:r>
            <a:r>
              <a:rPr lang="en-US" altLang="zh-CN" sz="1400">
                <a:solidFill>
                  <a:srgbClr val="000000"/>
                </a:solidFill>
                <a:latin typeface="微软雅黑" panose="020B0503020204020204" charset="-122"/>
                <a:ea typeface="微软雅黑" panose="020B0503020204020204" charset="-122"/>
              </a:rPr>
              <a:t>3</a:t>
            </a:r>
            <a:r>
              <a:rPr lang="zh-CN" altLang="en-US" sz="1400">
                <a:solidFill>
                  <a:srgbClr val="000000"/>
                </a:solidFill>
                <a:latin typeface="微软雅黑" panose="020B0503020204020204" charset="-122"/>
                <a:ea typeface="微软雅黑" panose="020B0503020204020204" charset="-122"/>
              </a:rPr>
              <a:t>月</a:t>
            </a:r>
          </a:p>
        </p:txBody>
      </p:sp>
      <p:sp>
        <p:nvSpPr>
          <p:cNvPr id="65" name="矩形 43"/>
          <p:cNvSpPr>
            <a:spLocks noChangeArrowheads="1"/>
          </p:cNvSpPr>
          <p:nvPr/>
        </p:nvSpPr>
        <p:spPr bwMode="auto">
          <a:xfrm>
            <a:off x="2348241" y="1375595"/>
            <a:ext cx="1332000" cy="252000"/>
          </a:xfrm>
          <a:prstGeom prst="rect">
            <a:avLst/>
          </a:prstGeom>
          <a:solidFill>
            <a:srgbClr val="B3EBFF"/>
          </a:solidFill>
          <a:ln w="9525" algn="ctr">
            <a:solidFill>
              <a:schemeClr val="tx1"/>
            </a:solidFill>
            <a:round/>
          </a:ln>
        </p:spPr>
        <p:txBody>
          <a:bodyPr lIns="0" tIns="0" rIns="0" bIns="0" anchor="ctr"/>
          <a:lstStyle/>
          <a:p>
            <a:pPr algn="ctr" eaLnBrk="0" hangingPunct="0">
              <a:lnSpc>
                <a:spcPct val="90000"/>
              </a:lnSpc>
              <a:spcBef>
                <a:spcPct val="20000"/>
              </a:spcBef>
              <a:buClr>
                <a:srgbClr val="000000"/>
              </a:buClr>
              <a:buFont typeface="Arial" panose="020B0604020202020204" pitchFamily="34" charset="0"/>
              <a:buNone/>
            </a:pPr>
            <a:r>
              <a:rPr lang="en-US" altLang="zh-CN" sz="1200" dirty="0">
                <a:solidFill>
                  <a:srgbClr val="000000"/>
                </a:solidFill>
                <a:latin typeface="微软雅黑" panose="020B0503020204020204" charset="-122"/>
                <a:ea typeface="微软雅黑" panose="020B0503020204020204" charset="-122"/>
              </a:rPr>
              <a:t>2</a:t>
            </a:r>
            <a:r>
              <a:rPr lang="zh-CN" altLang="en-US" sz="1200" dirty="0">
                <a:solidFill>
                  <a:srgbClr val="000000"/>
                </a:solidFill>
                <a:latin typeface="微软雅黑" panose="020B0503020204020204" charset="-122"/>
                <a:ea typeface="微软雅黑" panose="020B0503020204020204" charset="-122"/>
              </a:rPr>
              <a:t>周</a:t>
            </a:r>
          </a:p>
        </p:txBody>
      </p:sp>
      <p:sp>
        <p:nvSpPr>
          <p:cNvPr id="66" name="矩形 44"/>
          <p:cNvSpPr>
            <a:spLocks noChangeArrowheads="1"/>
          </p:cNvSpPr>
          <p:nvPr/>
        </p:nvSpPr>
        <p:spPr bwMode="auto">
          <a:xfrm>
            <a:off x="3680680" y="1375594"/>
            <a:ext cx="496800" cy="252000"/>
          </a:xfrm>
          <a:prstGeom prst="rect">
            <a:avLst/>
          </a:prstGeom>
          <a:solidFill>
            <a:srgbClr val="B3EBFF"/>
          </a:solidFill>
          <a:ln w="9525" algn="ctr">
            <a:solidFill>
              <a:schemeClr val="tx1"/>
            </a:solidFill>
            <a:round/>
          </a:ln>
        </p:spPr>
        <p:txBody>
          <a:bodyPr lIns="0" tIns="0" rIns="0" bIns="0" anchor="ctr"/>
          <a:lstStyle/>
          <a:p>
            <a:pPr algn="ctr" eaLnBrk="0" hangingPunct="0">
              <a:lnSpc>
                <a:spcPct val="90000"/>
              </a:lnSpc>
              <a:spcBef>
                <a:spcPct val="20000"/>
              </a:spcBef>
              <a:buClr>
                <a:srgbClr val="000000"/>
              </a:buClr>
              <a:buFont typeface="Arial" panose="020B0604020202020204" pitchFamily="34" charset="0"/>
              <a:buNone/>
            </a:pPr>
            <a:r>
              <a:rPr lang="en-US" altLang="zh-CN" sz="1200" dirty="0">
                <a:solidFill>
                  <a:srgbClr val="000000"/>
                </a:solidFill>
                <a:latin typeface="微软雅黑" panose="020B0503020204020204" charset="-122"/>
                <a:ea typeface="微软雅黑" panose="020B0503020204020204" charset="-122"/>
              </a:rPr>
              <a:t>3</a:t>
            </a:r>
            <a:r>
              <a:rPr lang="zh-CN" altLang="en-US" sz="1200" dirty="0">
                <a:solidFill>
                  <a:srgbClr val="000000"/>
                </a:solidFill>
                <a:latin typeface="微软雅黑" panose="020B0503020204020204" charset="-122"/>
                <a:ea typeface="微软雅黑" panose="020B0503020204020204" charset="-122"/>
              </a:rPr>
              <a:t>周</a:t>
            </a:r>
          </a:p>
        </p:txBody>
      </p:sp>
      <p:sp>
        <p:nvSpPr>
          <p:cNvPr id="67" name="矩形 45"/>
          <p:cNvSpPr>
            <a:spLocks noChangeArrowheads="1"/>
          </p:cNvSpPr>
          <p:nvPr/>
        </p:nvSpPr>
        <p:spPr bwMode="auto">
          <a:xfrm>
            <a:off x="4173024" y="1375594"/>
            <a:ext cx="450000" cy="252000"/>
          </a:xfrm>
          <a:prstGeom prst="rect">
            <a:avLst/>
          </a:prstGeom>
          <a:solidFill>
            <a:srgbClr val="B3EBFF"/>
          </a:solidFill>
          <a:ln w="9525" algn="ctr">
            <a:solidFill>
              <a:schemeClr val="tx1"/>
            </a:solidFill>
            <a:round/>
          </a:ln>
        </p:spPr>
        <p:txBody>
          <a:bodyPr lIns="0" tIns="0" rIns="0" bIns="0" anchor="ctr"/>
          <a:lstStyle/>
          <a:p>
            <a:pPr algn="ctr" eaLnBrk="0" hangingPunct="0">
              <a:lnSpc>
                <a:spcPct val="90000"/>
              </a:lnSpc>
              <a:spcBef>
                <a:spcPct val="20000"/>
              </a:spcBef>
              <a:buClr>
                <a:srgbClr val="000000"/>
              </a:buClr>
              <a:buFont typeface="Arial" panose="020B0604020202020204" pitchFamily="34" charset="0"/>
              <a:buNone/>
            </a:pPr>
            <a:r>
              <a:rPr lang="en-US" altLang="zh-CN" sz="1200" dirty="0">
                <a:solidFill>
                  <a:srgbClr val="000000"/>
                </a:solidFill>
                <a:latin typeface="微软雅黑" panose="020B0503020204020204" charset="-122"/>
                <a:ea typeface="微软雅黑" panose="020B0503020204020204" charset="-122"/>
              </a:rPr>
              <a:t>4</a:t>
            </a:r>
            <a:r>
              <a:rPr lang="zh-CN" altLang="en-US" sz="1200" dirty="0">
                <a:solidFill>
                  <a:srgbClr val="000000"/>
                </a:solidFill>
                <a:latin typeface="微软雅黑" panose="020B0503020204020204" charset="-122"/>
                <a:ea typeface="微软雅黑" panose="020B0503020204020204" charset="-122"/>
              </a:rPr>
              <a:t>周</a:t>
            </a:r>
          </a:p>
        </p:txBody>
      </p:sp>
      <p:sp>
        <p:nvSpPr>
          <p:cNvPr id="68" name="矩形 6"/>
          <p:cNvSpPr>
            <a:spLocks noChangeArrowheads="1"/>
          </p:cNvSpPr>
          <p:nvPr/>
        </p:nvSpPr>
        <p:spPr bwMode="auto">
          <a:xfrm>
            <a:off x="566379" y="1627990"/>
            <a:ext cx="445952"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日</a:t>
            </a:r>
          </a:p>
        </p:txBody>
      </p:sp>
      <p:sp>
        <p:nvSpPr>
          <p:cNvPr id="69" name="矩形 43"/>
          <p:cNvSpPr>
            <a:spLocks noChangeArrowheads="1"/>
          </p:cNvSpPr>
          <p:nvPr/>
        </p:nvSpPr>
        <p:spPr bwMode="auto">
          <a:xfrm>
            <a:off x="1008850" y="1375595"/>
            <a:ext cx="1337856" cy="252000"/>
          </a:xfrm>
          <a:prstGeom prst="rect">
            <a:avLst/>
          </a:prstGeom>
          <a:solidFill>
            <a:srgbClr val="B3EBFF"/>
          </a:solidFill>
          <a:ln w="9525" algn="ctr">
            <a:solidFill>
              <a:schemeClr val="tx1"/>
            </a:solidFill>
            <a:round/>
          </a:ln>
        </p:spPr>
        <p:txBody>
          <a:bodyPr lIns="0" tIns="0" rIns="0" bIns="0" anchor="ctr"/>
          <a:lstStyle/>
          <a:p>
            <a:pPr algn="ctr" eaLnBrk="0" hangingPunct="0">
              <a:lnSpc>
                <a:spcPct val="90000"/>
              </a:lnSpc>
              <a:spcBef>
                <a:spcPct val="20000"/>
              </a:spcBef>
              <a:buClr>
                <a:srgbClr val="000000"/>
              </a:buClr>
              <a:buFont typeface="Arial" panose="020B0604020202020204" pitchFamily="34" charset="0"/>
              <a:buNone/>
            </a:pPr>
            <a:r>
              <a:rPr lang="en-US" altLang="zh-CN" sz="1200" dirty="0">
                <a:solidFill>
                  <a:srgbClr val="000000"/>
                </a:solidFill>
                <a:latin typeface="微软雅黑" panose="020B0503020204020204" charset="-122"/>
                <a:ea typeface="微软雅黑" panose="020B0503020204020204" charset="-122"/>
              </a:rPr>
              <a:t>1</a:t>
            </a:r>
            <a:r>
              <a:rPr lang="zh-CN" altLang="en-US" sz="1200" dirty="0">
                <a:solidFill>
                  <a:srgbClr val="000000"/>
                </a:solidFill>
                <a:latin typeface="微软雅黑" panose="020B0503020204020204" charset="-122"/>
                <a:ea typeface="微软雅黑" panose="020B0503020204020204" charset="-122"/>
              </a:rPr>
              <a:t>周</a:t>
            </a:r>
          </a:p>
        </p:txBody>
      </p:sp>
      <p:sp>
        <p:nvSpPr>
          <p:cNvPr id="70" name="矩形 6"/>
          <p:cNvSpPr>
            <a:spLocks noChangeArrowheads="1"/>
          </p:cNvSpPr>
          <p:nvPr/>
        </p:nvSpPr>
        <p:spPr bwMode="auto">
          <a:xfrm>
            <a:off x="1008850" y="16279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一</a:t>
            </a:r>
          </a:p>
        </p:txBody>
      </p:sp>
      <p:sp>
        <p:nvSpPr>
          <p:cNvPr id="71" name="矩形 6"/>
          <p:cNvSpPr>
            <a:spLocks noChangeArrowheads="1"/>
          </p:cNvSpPr>
          <p:nvPr/>
        </p:nvSpPr>
        <p:spPr bwMode="auto">
          <a:xfrm>
            <a:off x="1276446" y="16279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二</a:t>
            </a:r>
          </a:p>
        </p:txBody>
      </p:sp>
      <p:sp>
        <p:nvSpPr>
          <p:cNvPr id="72" name="矩形 6"/>
          <p:cNvSpPr>
            <a:spLocks noChangeArrowheads="1"/>
          </p:cNvSpPr>
          <p:nvPr/>
        </p:nvSpPr>
        <p:spPr bwMode="auto">
          <a:xfrm>
            <a:off x="1544043" y="16279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三</a:t>
            </a:r>
          </a:p>
        </p:txBody>
      </p:sp>
      <p:sp>
        <p:nvSpPr>
          <p:cNvPr id="73" name="矩形 6"/>
          <p:cNvSpPr>
            <a:spLocks noChangeArrowheads="1"/>
          </p:cNvSpPr>
          <p:nvPr/>
        </p:nvSpPr>
        <p:spPr bwMode="auto">
          <a:xfrm>
            <a:off x="1811639" y="16279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四</a:t>
            </a:r>
          </a:p>
        </p:txBody>
      </p:sp>
      <p:sp>
        <p:nvSpPr>
          <p:cNvPr id="74" name="矩形 6"/>
          <p:cNvSpPr>
            <a:spLocks noChangeArrowheads="1"/>
          </p:cNvSpPr>
          <p:nvPr/>
        </p:nvSpPr>
        <p:spPr bwMode="auto">
          <a:xfrm>
            <a:off x="2079236" y="16279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五</a:t>
            </a:r>
          </a:p>
        </p:txBody>
      </p:sp>
      <p:sp>
        <p:nvSpPr>
          <p:cNvPr id="75" name="矩形 6"/>
          <p:cNvSpPr>
            <a:spLocks noChangeArrowheads="1"/>
          </p:cNvSpPr>
          <p:nvPr/>
        </p:nvSpPr>
        <p:spPr bwMode="auto">
          <a:xfrm>
            <a:off x="2348241" y="16298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一</a:t>
            </a:r>
          </a:p>
        </p:txBody>
      </p:sp>
      <p:sp>
        <p:nvSpPr>
          <p:cNvPr id="76" name="矩形 6"/>
          <p:cNvSpPr>
            <a:spLocks noChangeArrowheads="1"/>
          </p:cNvSpPr>
          <p:nvPr/>
        </p:nvSpPr>
        <p:spPr bwMode="auto">
          <a:xfrm>
            <a:off x="2611592" y="16298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二</a:t>
            </a:r>
          </a:p>
        </p:txBody>
      </p:sp>
      <p:sp>
        <p:nvSpPr>
          <p:cNvPr id="77" name="矩形 6"/>
          <p:cNvSpPr>
            <a:spLocks noChangeArrowheads="1"/>
          </p:cNvSpPr>
          <p:nvPr/>
        </p:nvSpPr>
        <p:spPr bwMode="auto">
          <a:xfrm>
            <a:off x="2879189" y="16298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三</a:t>
            </a:r>
          </a:p>
        </p:txBody>
      </p:sp>
      <p:sp>
        <p:nvSpPr>
          <p:cNvPr id="78" name="矩形 6"/>
          <p:cNvSpPr>
            <a:spLocks noChangeArrowheads="1"/>
          </p:cNvSpPr>
          <p:nvPr/>
        </p:nvSpPr>
        <p:spPr bwMode="auto">
          <a:xfrm>
            <a:off x="3146785" y="16298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四</a:t>
            </a:r>
          </a:p>
        </p:txBody>
      </p:sp>
      <p:sp>
        <p:nvSpPr>
          <p:cNvPr id="79" name="矩形 6"/>
          <p:cNvSpPr>
            <a:spLocks noChangeArrowheads="1"/>
          </p:cNvSpPr>
          <p:nvPr/>
        </p:nvSpPr>
        <p:spPr bwMode="auto">
          <a:xfrm>
            <a:off x="3414382" y="1629890"/>
            <a:ext cx="267470" cy="252000"/>
          </a:xfrm>
          <a:prstGeom prst="rect">
            <a:avLst/>
          </a:prstGeom>
          <a:solidFill>
            <a:schemeClr val="bg1">
              <a:lumMod val="85000"/>
            </a:schemeClr>
          </a:solidFill>
          <a:ln w="9525" algn="ctr">
            <a:solidFill>
              <a:schemeClr val="tx1"/>
            </a:solidFill>
            <a:round/>
          </a:ln>
        </p:spPr>
        <p:txBody>
          <a:bodyPr lIns="90000" tIns="46800" rIns="90000" bIns="46800" anchor="ctr"/>
          <a:lstStyle/>
          <a:p>
            <a:pPr algn="ctr" eaLnBrk="0" hangingPunct="0">
              <a:lnSpc>
                <a:spcPct val="90000"/>
              </a:lnSpc>
              <a:spcBef>
                <a:spcPct val="20000"/>
              </a:spcBef>
              <a:buClr>
                <a:srgbClr val="000000"/>
              </a:buClr>
              <a:buFont typeface="Arial" panose="020B0604020202020204" pitchFamily="34" charset="0"/>
              <a:buNone/>
            </a:pPr>
            <a:r>
              <a:rPr lang="zh-CN" altLang="en-US" sz="1400" dirty="0">
                <a:solidFill>
                  <a:srgbClr val="000000"/>
                </a:solidFill>
                <a:latin typeface="微软雅黑" panose="020B0503020204020204" charset="-122"/>
                <a:ea typeface="微软雅黑" panose="020B0503020204020204" charset="-122"/>
              </a:rPr>
              <a:t>五</a:t>
            </a:r>
          </a:p>
        </p:txBody>
      </p:sp>
      <p:sp>
        <p:nvSpPr>
          <p:cNvPr id="80" name="AutoShape 19"/>
          <p:cNvSpPr>
            <a:spLocks noChangeArrowheads="1"/>
          </p:cNvSpPr>
          <p:nvPr/>
        </p:nvSpPr>
        <p:spPr bwMode="auto">
          <a:xfrm>
            <a:off x="999306" y="2794900"/>
            <a:ext cx="2728800" cy="324000"/>
          </a:xfrm>
          <a:prstGeom prst="homePlate">
            <a:avLst>
              <a:gd name="adj" fmla="val 29498"/>
            </a:avLst>
          </a:prstGeom>
          <a:solidFill>
            <a:schemeClr val="accent1"/>
          </a:solidFill>
          <a:ln w="6350" algn="ctr">
            <a:noFill/>
            <a:miter lim="800000"/>
          </a:ln>
        </p:spPr>
        <p:txBody>
          <a:bodyPr wrap="none" lIns="0" tIns="36000" rIns="0" bIns="0" anchor="ctr"/>
          <a:lstStyle/>
          <a:p>
            <a:pPr algn="ctr" defTabSz="981075">
              <a:lnSpc>
                <a:spcPct val="90000"/>
              </a:lnSpc>
            </a:pPr>
            <a:r>
              <a:rPr lang="zh-CN" altLang="en-US" sz="1200" b="1" dirty="0">
                <a:solidFill>
                  <a:schemeClr val="bg1"/>
                </a:solidFill>
                <a:latin typeface="微软雅黑" panose="020B0503020204020204" charset="-122"/>
                <a:ea typeface="微软雅黑" panose="020B0503020204020204" charset="-122"/>
              </a:rPr>
              <a:t>双周日生产计划</a:t>
            </a:r>
          </a:p>
        </p:txBody>
      </p:sp>
      <p:sp>
        <p:nvSpPr>
          <p:cNvPr id="81" name="矩形 80"/>
          <p:cNvSpPr/>
          <p:nvPr/>
        </p:nvSpPr>
        <p:spPr bwMode="auto">
          <a:xfrm>
            <a:off x="998286" y="3217954"/>
            <a:ext cx="1350418" cy="246284"/>
          </a:xfrm>
          <a:prstGeom prst="rect">
            <a:avLst/>
          </a:prstGeom>
          <a:solidFill>
            <a:srgbClr val="FF0000"/>
          </a:solidFill>
          <a:ln w="6350">
            <a:solidFill>
              <a:schemeClr val="tx1"/>
            </a:solidFill>
            <a:miter lim="800000"/>
          </a:ln>
        </p:spPr>
        <p:txBody>
          <a:bodyPr rtlCol="0" anchor="ctr">
            <a:noAutofit/>
          </a:bodyPr>
          <a:lstStyle/>
          <a:p>
            <a:pPr marL="117475" indent="-117475" algn="ctr">
              <a:buClr>
                <a:schemeClr val="tx1"/>
              </a:buClr>
            </a:pPr>
            <a:r>
              <a:rPr lang="zh-CN" altLang="en-US" sz="1200" b="1" dirty="0">
                <a:solidFill>
                  <a:schemeClr val="bg1"/>
                </a:solidFill>
                <a:latin typeface="微软雅黑" panose="020B0503020204020204" charset="-122"/>
                <a:ea typeface="微软雅黑" panose="020B0503020204020204" charset="-122"/>
              </a:rPr>
              <a:t>提前</a:t>
            </a:r>
            <a:r>
              <a:rPr lang="en-US" altLang="zh-CN" sz="1200" b="1" dirty="0">
                <a:solidFill>
                  <a:schemeClr val="bg1"/>
                </a:solidFill>
                <a:latin typeface="微软雅黑" panose="020B0503020204020204" charset="-122"/>
                <a:ea typeface="微软雅黑" panose="020B0503020204020204" charset="-122"/>
              </a:rPr>
              <a:t>4</a:t>
            </a:r>
            <a:r>
              <a:rPr lang="zh-CN" altLang="en-US" sz="1200" b="1" dirty="0">
                <a:solidFill>
                  <a:schemeClr val="bg1"/>
                </a:solidFill>
                <a:latin typeface="微软雅黑" panose="020B0503020204020204" charset="-122"/>
                <a:ea typeface="微软雅黑" panose="020B0503020204020204" charset="-122"/>
              </a:rPr>
              <a:t>锁定</a:t>
            </a:r>
          </a:p>
        </p:txBody>
      </p:sp>
      <p:sp>
        <p:nvSpPr>
          <p:cNvPr id="82" name="Text Box 8"/>
          <p:cNvSpPr txBox="1">
            <a:spLocks noChangeArrowheads="1"/>
          </p:cNvSpPr>
          <p:nvPr/>
        </p:nvSpPr>
        <p:spPr bwMode="gray">
          <a:xfrm>
            <a:off x="7515471" y="2375094"/>
            <a:ext cx="1260000" cy="324000"/>
          </a:xfrm>
          <a:prstGeom prst="rect">
            <a:avLst/>
          </a:prstGeom>
          <a:noFill/>
          <a:ln w="12700">
            <a:solidFill>
              <a:schemeClr val="tx1"/>
            </a:solidFill>
            <a:miter lim="800000"/>
          </a:ln>
        </p:spPr>
        <p:txBody>
          <a:bodyPr lIns="0" tIns="3600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订单中心</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83" name="Text Box 8"/>
          <p:cNvSpPr txBox="1">
            <a:spLocks noChangeArrowheads="1"/>
          </p:cNvSpPr>
          <p:nvPr/>
        </p:nvSpPr>
        <p:spPr bwMode="gray">
          <a:xfrm>
            <a:off x="7515494" y="2794900"/>
            <a:ext cx="1260000" cy="324000"/>
          </a:xfrm>
          <a:prstGeom prst="rect">
            <a:avLst/>
          </a:prstGeom>
          <a:noFill/>
          <a:ln w="12700">
            <a:solidFill>
              <a:schemeClr val="tx1"/>
            </a:solidFill>
            <a:miter lim="800000"/>
          </a:ln>
        </p:spPr>
        <p:txBody>
          <a:bodyPr lIns="0" tIns="3600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84" name="Text Box 8"/>
          <p:cNvSpPr txBox="1">
            <a:spLocks noChangeArrowheads="1"/>
          </p:cNvSpPr>
          <p:nvPr/>
        </p:nvSpPr>
        <p:spPr bwMode="gray">
          <a:xfrm>
            <a:off x="7515448" y="3217954"/>
            <a:ext cx="1260000" cy="244800"/>
          </a:xfrm>
          <a:prstGeom prst="rect">
            <a:avLst/>
          </a:prstGeom>
          <a:noFill/>
          <a:ln w="12700">
            <a:solidFill>
              <a:schemeClr val="tx1"/>
            </a:solidFill>
            <a:miter lim="800000"/>
          </a:ln>
        </p:spPr>
        <p:txBody>
          <a:bodyPr lIns="0" tIns="36000" rIns="0" bIns="0" anchor="ctr"/>
          <a:lstStyle/>
          <a:p>
            <a:pPr algn="ctr" eaLnBrk="0" hangingPunct="0">
              <a:lnSpc>
                <a:spcPct val="80000"/>
              </a:lnSpc>
              <a:spcBef>
                <a:spcPct val="20000"/>
              </a:spcBef>
              <a:buClr>
                <a:schemeClr val="tx1"/>
              </a:buClr>
            </a:pPr>
            <a:r>
              <a:rPr lang="zh-CN" altLang="en-US" sz="1200" dirty="0">
                <a:latin typeface="微软雅黑" panose="020B0503020204020204" charset="-122"/>
                <a:ea typeface="微软雅黑" panose="020B0503020204020204" charset="-122"/>
                <a:cs typeface="Times New Roman" panose="02020603050405020304" pitchFamily="18" charset="0"/>
              </a:rPr>
              <a:t>工厂</a:t>
            </a:r>
            <a:endParaRPr lang="en-US" altLang="zh-CN" sz="1200" dirty="0">
              <a:latin typeface="微软雅黑" panose="020B0503020204020204" charset="-122"/>
              <a:ea typeface="微软雅黑" panose="020B0503020204020204" charset="-122"/>
              <a:cs typeface="Times New Roman" panose="02020603050405020304" pitchFamily="18" charset="0"/>
            </a:endParaRPr>
          </a:p>
        </p:txBody>
      </p:sp>
      <p:sp>
        <p:nvSpPr>
          <p:cNvPr id="85" name="Text Box 27"/>
          <p:cNvSpPr txBox="1">
            <a:spLocks noChangeArrowheads="1"/>
          </p:cNvSpPr>
          <p:nvPr/>
        </p:nvSpPr>
        <p:spPr bwMode="auto">
          <a:xfrm>
            <a:off x="285783" y="2397632"/>
            <a:ext cx="715111"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中期</a:t>
            </a:r>
          </a:p>
        </p:txBody>
      </p:sp>
      <p:sp>
        <p:nvSpPr>
          <p:cNvPr id="86" name="Text Box 27"/>
          <p:cNvSpPr txBox="1">
            <a:spLocks noChangeArrowheads="1"/>
          </p:cNvSpPr>
          <p:nvPr/>
        </p:nvSpPr>
        <p:spPr bwMode="auto">
          <a:xfrm>
            <a:off x="293739" y="2024844"/>
            <a:ext cx="715111" cy="307777"/>
          </a:xfrm>
          <a:prstGeom prst="rect">
            <a:avLst/>
          </a:prstGeom>
          <a:noFill/>
          <a:ln w="9525">
            <a:noFill/>
            <a:miter lim="800000"/>
          </a:ln>
          <a:effectLst>
            <a:prstShdw prst="shdw17" dist="17961" dir="2700000">
              <a:schemeClr val="accent1">
                <a:gamma/>
                <a:shade val="60000"/>
                <a:invGamma/>
              </a:schemeClr>
            </a:prstShdw>
          </a:effectLst>
        </p:spPr>
        <p:txBody>
          <a:bodyPr vert="horz" wrap="square">
            <a:spAutoFit/>
          </a:bodyPr>
          <a:lstStyle/>
          <a:p>
            <a:pPr algn="ctr">
              <a:spcBef>
                <a:spcPct val="50000"/>
              </a:spcBef>
              <a:defRPr/>
            </a:pPr>
            <a:r>
              <a:rPr lang="zh-CN" altLang="en-US" sz="1400" b="1" dirty="0">
                <a:latin typeface="微软雅黑" panose="020B0503020204020204" charset="-122"/>
                <a:ea typeface="微软雅黑" panose="020B0503020204020204" charset="-122"/>
              </a:rPr>
              <a:t>长期</a:t>
            </a:r>
          </a:p>
        </p:txBody>
      </p:sp>
      <p:graphicFrame>
        <p:nvGraphicFramePr>
          <p:cNvPr id="87" name="表格 86"/>
          <p:cNvGraphicFramePr>
            <a:graphicFrameLocks noGrp="1"/>
          </p:cNvGraphicFramePr>
          <p:nvPr/>
        </p:nvGraphicFramePr>
        <p:xfrm>
          <a:off x="539552" y="3786190"/>
          <a:ext cx="7920881" cy="2693694"/>
        </p:xfrm>
        <a:graphic>
          <a:graphicData uri="http://schemas.openxmlformats.org/drawingml/2006/table">
            <a:tbl>
              <a:tblPr firstRow="1" bandRow="1">
                <a:tableStyleId>{5C22544A-7EE6-4342-B048-85BDC9FD1C3A}</a:tableStyleId>
              </a:tblPr>
              <a:tblGrid>
                <a:gridCol w="1173080">
                  <a:extLst>
                    <a:ext uri="{9D8B030D-6E8A-4147-A177-3AD203B41FA5}">
                      <a16:colId xmlns:a16="http://schemas.microsoft.com/office/drawing/2014/main" val="20000"/>
                    </a:ext>
                  </a:extLst>
                </a:gridCol>
                <a:gridCol w="729089">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1080120">
                  <a:extLst>
                    <a:ext uri="{9D8B030D-6E8A-4147-A177-3AD203B41FA5}">
                      <a16:colId xmlns:a16="http://schemas.microsoft.com/office/drawing/2014/main" val="20004"/>
                    </a:ext>
                  </a:extLst>
                </a:gridCol>
                <a:gridCol w="1080120">
                  <a:extLst>
                    <a:ext uri="{9D8B030D-6E8A-4147-A177-3AD203B41FA5}">
                      <a16:colId xmlns:a16="http://schemas.microsoft.com/office/drawing/2014/main" val="20005"/>
                    </a:ext>
                  </a:extLst>
                </a:gridCol>
                <a:gridCol w="2058272">
                  <a:extLst>
                    <a:ext uri="{9D8B030D-6E8A-4147-A177-3AD203B41FA5}">
                      <a16:colId xmlns:a16="http://schemas.microsoft.com/office/drawing/2014/main" val="20006"/>
                    </a:ext>
                  </a:extLst>
                </a:gridCol>
              </a:tblGrid>
              <a:tr h="287839">
                <a:tc>
                  <a:txBody>
                    <a:bodyPr/>
                    <a:lstStyle/>
                    <a:p>
                      <a:pPr algn="ctr"/>
                      <a:r>
                        <a:rPr lang="zh-CN" altLang="en-US" sz="1200" dirty="0">
                          <a:latin typeface="微软雅黑" panose="020B0503020204020204" charset="-122"/>
                          <a:ea typeface="微软雅黑" panose="020B0503020204020204" charset="-122"/>
                        </a:rPr>
                        <a:t>计划层次</a:t>
                      </a:r>
                    </a:p>
                  </a:txBody>
                  <a:tcPr anchor="ctr"/>
                </a:tc>
                <a:tc>
                  <a:txBody>
                    <a:bodyPr/>
                    <a:lstStyle/>
                    <a:p>
                      <a:pPr algn="ctr"/>
                      <a:r>
                        <a:rPr lang="zh-CN" altLang="en-US" sz="1200" dirty="0">
                          <a:latin typeface="微软雅黑" panose="020B0503020204020204" charset="-122"/>
                          <a:ea typeface="微软雅黑" panose="020B0503020204020204" charset="-122"/>
                        </a:rPr>
                        <a:t>来源</a:t>
                      </a:r>
                    </a:p>
                  </a:txBody>
                  <a:tcPr anchor="ctr"/>
                </a:tc>
                <a:tc>
                  <a:txBody>
                    <a:bodyPr/>
                    <a:lstStyle/>
                    <a:p>
                      <a:pPr algn="ctr"/>
                      <a:r>
                        <a:rPr lang="zh-CN" altLang="en-US" sz="1200" dirty="0">
                          <a:latin typeface="微软雅黑" panose="020B0503020204020204" charset="-122"/>
                          <a:ea typeface="微软雅黑" panose="020B0503020204020204" charset="-122"/>
                        </a:rPr>
                        <a:t>提报时间</a:t>
                      </a:r>
                    </a:p>
                  </a:txBody>
                  <a:tcPr anchor="ctr"/>
                </a:tc>
                <a:tc>
                  <a:txBody>
                    <a:bodyPr/>
                    <a:lstStyle/>
                    <a:p>
                      <a:pPr algn="ctr"/>
                      <a:r>
                        <a:rPr lang="zh-CN" altLang="en-US" sz="1200" dirty="0">
                          <a:latin typeface="微软雅黑" panose="020B0503020204020204" charset="-122"/>
                          <a:ea typeface="微软雅黑" panose="020B0503020204020204" charset="-122"/>
                        </a:rPr>
                        <a:t>计划跨度</a:t>
                      </a:r>
                    </a:p>
                  </a:txBody>
                  <a:tcPr anchor="ctr"/>
                </a:tc>
                <a:tc>
                  <a:txBody>
                    <a:bodyPr/>
                    <a:lstStyle/>
                    <a:p>
                      <a:pPr algn="ctr"/>
                      <a:r>
                        <a:rPr lang="zh-CN" altLang="en-US" sz="1200" dirty="0">
                          <a:latin typeface="微软雅黑" panose="020B0503020204020204" charset="-122"/>
                          <a:ea typeface="微软雅黑" panose="020B0503020204020204" charset="-122"/>
                        </a:rPr>
                        <a:t>产品颗粒度</a:t>
                      </a:r>
                    </a:p>
                  </a:txBody>
                  <a:tcPr anchor="ctr"/>
                </a:tc>
                <a:tc>
                  <a:txBody>
                    <a:bodyPr/>
                    <a:lstStyle/>
                    <a:p>
                      <a:pPr algn="ctr"/>
                      <a:r>
                        <a:rPr lang="zh-CN" altLang="en-US" sz="1200" dirty="0">
                          <a:latin typeface="微软雅黑" panose="020B0503020204020204" charset="-122"/>
                          <a:ea typeface="微软雅黑" panose="020B0503020204020204" charset="-122"/>
                        </a:rPr>
                        <a:t>时间颗粒度</a:t>
                      </a: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charset="-122"/>
                          <a:ea typeface="微软雅黑" panose="020B0503020204020204" charset="-122"/>
                        </a:rPr>
                        <a:t>用途</a:t>
                      </a:r>
                    </a:p>
                  </a:txBody>
                  <a:tcPr anchor="ctr"/>
                </a:tc>
                <a:extLst>
                  <a:ext uri="{0D108BD9-81ED-4DB2-BD59-A6C34878D82A}">
                    <a16:rowId xmlns:a16="http://schemas.microsoft.com/office/drawing/2014/main" val="10000"/>
                  </a:ext>
                </a:extLst>
              </a:tr>
              <a:tr h="560204">
                <a:tc>
                  <a:txBody>
                    <a:bodyPr/>
                    <a:lstStyle/>
                    <a:p>
                      <a:r>
                        <a:rPr lang="zh-CN" altLang="en-US" sz="1200" dirty="0">
                          <a:latin typeface="微软雅黑" panose="020B0503020204020204" charset="-122"/>
                          <a:ea typeface="微软雅黑" panose="020B0503020204020204" charset="-122"/>
                        </a:rPr>
                        <a:t>“一</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二”月度计划</a:t>
                      </a:r>
                    </a:p>
                  </a:txBody>
                  <a:tcPr anchor="ctr"/>
                </a:tc>
                <a:tc>
                  <a:txBody>
                    <a:bodyPr/>
                    <a:lstStyle/>
                    <a:p>
                      <a:r>
                        <a:rPr lang="zh-CN" altLang="en-US" sz="1200" dirty="0">
                          <a:latin typeface="微软雅黑" panose="020B0503020204020204" charset="-122"/>
                          <a:ea typeface="微软雅黑" panose="020B0503020204020204" charset="-122"/>
                        </a:rPr>
                        <a:t>预测</a:t>
                      </a:r>
                    </a:p>
                  </a:txBody>
                  <a:tcPr anchor="ctr"/>
                </a:tc>
                <a:tc>
                  <a:txBody>
                    <a:bodyPr/>
                    <a:lstStyle/>
                    <a:p>
                      <a:r>
                        <a:rPr lang="zh-CN" altLang="en-US" sz="1200" dirty="0">
                          <a:latin typeface="微软雅黑" panose="020B0503020204020204" charset="-122"/>
                          <a:ea typeface="微软雅黑" panose="020B0503020204020204" charset="-122"/>
                        </a:rPr>
                        <a:t>每月</a:t>
                      </a:r>
                      <a:r>
                        <a:rPr lang="en-US" altLang="zh-CN" sz="1200" dirty="0">
                          <a:latin typeface="微软雅黑" panose="020B0503020204020204" charset="-122"/>
                          <a:ea typeface="微软雅黑" panose="020B0503020204020204" charset="-122"/>
                        </a:rPr>
                        <a:t>20</a:t>
                      </a:r>
                      <a:r>
                        <a:rPr lang="zh-CN" altLang="en-US" sz="1200" dirty="0">
                          <a:latin typeface="微软雅黑" panose="020B0503020204020204" charset="-122"/>
                          <a:ea typeface="微软雅黑" panose="020B0503020204020204" charset="-122"/>
                        </a:rPr>
                        <a:t>号</a:t>
                      </a:r>
                    </a:p>
                  </a:txBody>
                  <a:tcPr anchor="ctr"/>
                </a:tc>
                <a:tc>
                  <a:txBody>
                    <a:bodyPr/>
                    <a:lstStyle/>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个月</a:t>
                      </a:r>
                    </a:p>
                  </a:txBody>
                  <a:tcPr anchor="ctr"/>
                </a:tc>
                <a:tc>
                  <a:txBody>
                    <a:bodyPr/>
                    <a:lstStyle/>
                    <a:p>
                      <a:r>
                        <a:rPr lang="en-US" altLang="zh-CN" sz="1200" dirty="0">
                          <a:latin typeface="微软雅黑" panose="020B0503020204020204" charset="-122"/>
                          <a:ea typeface="微软雅黑" panose="020B0503020204020204" charset="-122"/>
                        </a:rPr>
                        <a:t>A</a:t>
                      </a:r>
                      <a:r>
                        <a:rPr lang="zh-CN" altLang="en-US" sz="1200" dirty="0">
                          <a:latin typeface="微软雅黑" panose="020B0503020204020204" charset="-122"/>
                          <a:ea typeface="微软雅黑" panose="020B0503020204020204" charset="-122"/>
                        </a:rPr>
                        <a:t>类到品种</a:t>
                      </a:r>
                      <a:endParaRPr lang="en-US" altLang="zh-CN" sz="1200" dirty="0">
                        <a:latin typeface="微软雅黑" panose="020B0503020204020204" charset="-122"/>
                        <a:ea typeface="微软雅黑" panose="020B0503020204020204" charset="-122"/>
                      </a:endParaRPr>
                    </a:p>
                    <a:p>
                      <a:r>
                        <a:rPr lang="zh-CN" altLang="en-US" sz="1200" dirty="0">
                          <a:latin typeface="微软雅黑" panose="020B0503020204020204" charset="-122"/>
                          <a:ea typeface="微软雅黑" panose="020B0503020204020204" charset="-122"/>
                        </a:rPr>
                        <a:t>所有产品到系列总量</a:t>
                      </a:r>
                    </a:p>
                  </a:txBody>
                  <a:tcPr anchor="ctr"/>
                </a:tc>
                <a:tc>
                  <a:txBody>
                    <a:bodyPr/>
                    <a:lstStyle/>
                    <a:p>
                      <a:r>
                        <a:rPr lang="zh-CN" altLang="en-US" sz="1200" dirty="0">
                          <a:latin typeface="微软雅黑" panose="020B0503020204020204" charset="-122"/>
                          <a:ea typeface="微软雅黑" panose="020B0503020204020204" charset="-122"/>
                        </a:rPr>
                        <a:t>到月</a:t>
                      </a:r>
                    </a:p>
                  </a:txBody>
                  <a:tcPr anchor="ctr"/>
                </a:tc>
                <a:tc>
                  <a:txBody>
                    <a:bodyPr/>
                    <a:lstStyle/>
                    <a:p>
                      <a:pPr marL="285750" indent="-285750">
                        <a:buFont typeface="Arial" panose="020B0604020202020204" pitchFamily="34" charset="0"/>
                        <a:buChar char="•"/>
                      </a:pPr>
                      <a:r>
                        <a:rPr lang="zh-CN" altLang="en-US" sz="1200" dirty="0">
                          <a:latin typeface="微软雅黑" panose="020B0503020204020204" charset="-122"/>
                          <a:ea typeface="微软雅黑" panose="020B0503020204020204" charset="-122"/>
                        </a:rPr>
                        <a:t>产能准备</a:t>
                      </a:r>
                      <a:endParaRPr lang="en-US" altLang="zh-CN" sz="1200" dirty="0">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sz="1200" dirty="0">
                          <a:latin typeface="微软雅黑" panose="020B0503020204020204" charset="-122"/>
                          <a:ea typeface="微软雅黑" panose="020B0503020204020204" charset="-122"/>
                        </a:rPr>
                        <a:t>中长期零部件采购计划</a:t>
                      </a:r>
                    </a:p>
                  </a:txBody>
                  <a:tcPr anchor="ctr"/>
                </a:tc>
                <a:extLst>
                  <a:ext uri="{0D108BD9-81ED-4DB2-BD59-A6C34878D82A}">
                    <a16:rowId xmlns:a16="http://schemas.microsoft.com/office/drawing/2014/main" val="10001"/>
                  </a:ext>
                </a:extLst>
              </a:tr>
              <a:tr h="485615">
                <a:tc>
                  <a:txBody>
                    <a:bodyPr/>
                    <a:lstStyle/>
                    <a:p>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2+2”</a:t>
                      </a:r>
                      <a:r>
                        <a:rPr lang="zh-CN" altLang="en-US" sz="1200" dirty="0">
                          <a:latin typeface="微软雅黑" panose="020B0503020204020204" charset="-122"/>
                          <a:ea typeface="微软雅黑" panose="020B0503020204020204" charset="-122"/>
                        </a:rPr>
                        <a:t>周生产计划</a:t>
                      </a:r>
                    </a:p>
                  </a:txBody>
                  <a:tcPr anchor="ctr"/>
                </a:tc>
                <a:tc>
                  <a:txBody>
                    <a:bodyPr/>
                    <a:lstStyle/>
                    <a:p>
                      <a:r>
                        <a:rPr lang="zh-CN" altLang="en-US" sz="1200" dirty="0">
                          <a:latin typeface="微软雅黑" panose="020B0503020204020204" charset="-122"/>
                          <a:ea typeface="微软雅黑" panose="020B0503020204020204" charset="-122"/>
                        </a:rPr>
                        <a:t>预测</a:t>
                      </a:r>
                    </a:p>
                  </a:txBody>
                  <a:tcPr anchor="ctr"/>
                </a:tc>
                <a:tc rowSpan="2">
                  <a:txBody>
                    <a:bodyPr/>
                    <a:lstStyle/>
                    <a:p>
                      <a:r>
                        <a:rPr lang="zh-CN" altLang="en-US" sz="1200" dirty="0">
                          <a:latin typeface="微软雅黑" panose="020B0503020204020204" charset="-122"/>
                          <a:ea typeface="微软雅黑" panose="020B0503020204020204" charset="-122"/>
                        </a:rPr>
                        <a:t>提前</a:t>
                      </a:r>
                      <a:r>
                        <a:rPr lang="en-US" altLang="zh-CN" sz="1200" dirty="0">
                          <a:latin typeface="微软雅黑" panose="020B0503020204020204" charset="-122"/>
                          <a:ea typeface="微软雅黑" panose="020B0503020204020204" charset="-122"/>
                        </a:rPr>
                        <a:t>6</a:t>
                      </a:r>
                      <a:r>
                        <a:rPr lang="zh-CN" altLang="en-US" sz="1200" dirty="0">
                          <a:latin typeface="微软雅黑" panose="020B0503020204020204" charset="-122"/>
                          <a:ea typeface="微软雅黑" panose="020B0503020204020204" charset="-122"/>
                        </a:rPr>
                        <a:t>天</a:t>
                      </a:r>
                      <a:endParaRPr lang="en-US" altLang="zh-CN" sz="1200" dirty="0">
                        <a:latin typeface="微软雅黑" panose="020B0503020204020204" charset="-122"/>
                        <a:ea typeface="微软雅黑" panose="020B0503020204020204" charset="-122"/>
                      </a:endParaRPr>
                    </a:p>
                    <a:p>
                      <a:r>
                        <a:rPr lang="zh-CN" altLang="en-US" sz="1200" dirty="0">
                          <a:latin typeface="微软雅黑" panose="020B0503020204020204" charset="-122"/>
                          <a:ea typeface="微软雅黑" panose="020B0503020204020204" charset="-122"/>
                        </a:rPr>
                        <a:t>（周二）</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charset="-122"/>
                          <a:ea typeface="微软雅黑" panose="020B0503020204020204" charset="-122"/>
                        </a:rPr>
                        <a:t>预测</a:t>
                      </a:r>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周</a:t>
                      </a:r>
                      <a:endParaRPr lang="en-US" altLang="zh-CN" sz="1200" dirty="0">
                        <a:latin typeface="微软雅黑" panose="020B0503020204020204" charset="-122"/>
                        <a:ea typeface="微软雅黑" panose="020B0503020204020204" charset="-122"/>
                      </a:endParaRPr>
                    </a:p>
                  </a:txBody>
                  <a:tcPr anchor="ctr"/>
                </a:tc>
                <a:tc rowSpan="2">
                  <a:txBody>
                    <a:bodyPr/>
                    <a:lstStyle/>
                    <a:p>
                      <a:r>
                        <a:rPr lang="zh-CN" altLang="en-US" sz="1200" dirty="0">
                          <a:latin typeface="微软雅黑" panose="020B0503020204020204" charset="-122"/>
                          <a:ea typeface="微软雅黑" panose="020B0503020204020204" charset="-122"/>
                        </a:rPr>
                        <a:t>到品种</a:t>
                      </a:r>
                    </a:p>
                  </a:txBody>
                  <a:tcPr anchor="ctr"/>
                </a:tc>
                <a:tc>
                  <a:txBody>
                    <a:bodyPr/>
                    <a:lstStyle/>
                    <a:p>
                      <a:r>
                        <a:rPr lang="zh-CN" altLang="en-US" sz="1200" dirty="0">
                          <a:latin typeface="微软雅黑" panose="020B0503020204020204" charset="-122"/>
                          <a:ea typeface="微软雅黑" panose="020B0503020204020204" charset="-122"/>
                        </a:rPr>
                        <a:t>后</a:t>
                      </a:r>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周到周</a:t>
                      </a:r>
                      <a:endParaRPr lang="en-US" altLang="zh-CN" sz="1200" dirty="0">
                        <a:latin typeface="微软雅黑" panose="020B0503020204020204" charset="-122"/>
                        <a:ea typeface="微软雅黑" panose="020B0503020204020204" charset="-122"/>
                      </a:endParaRPr>
                    </a:p>
                  </a:txBody>
                  <a:tcPr anchor="ct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charset="-122"/>
                          <a:ea typeface="微软雅黑" panose="020B0503020204020204" charset="-122"/>
                        </a:rPr>
                        <a:t>中期零部件采购计划</a:t>
                      </a:r>
                      <a:endParaRPr lang="en-US" altLang="zh-CN" sz="1200" dirty="0">
                        <a:latin typeface="微软雅黑" panose="020B0503020204020204" charset="-122"/>
                        <a:ea typeface="微软雅黑" panose="020B0503020204020204" charset="-122"/>
                      </a:endParaRPr>
                    </a:p>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charset="-122"/>
                          <a:ea typeface="微软雅黑" panose="020B0503020204020204" charset="-122"/>
                        </a:rPr>
                        <a:t>供应商备货</a:t>
                      </a:r>
                    </a:p>
                  </a:txBody>
                  <a:tcPr anchor="ctr"/>
                </a:tc>
                <a:extLst>
                  <a:ext uri="{0D108BD9-81ED-4DB2-BD59-A6C34878D82A}">
                    <a16:rowId xmlns:a16="http://schemas.microsoft.com/office/drawing/2014/main" val="10002"/>
                  </a:ext>
                </a:extLst>
              </a:tr>
              <a:tr h="610354">
                <a:tc>
                  <a:txBody>
                    <a:bodyPr/>
                    <a:lstStyle/>
                    <a:p>
                      <a:pPr marL="0" algn="l" defTabSz="457200" rtl="0" eaLnBrk="1" latinLnBrk="0" hangingPunct="1"/>
                      <a:r>
                        <a:rPr lang="zh-CN" altLang="en-US" sz="1200" kern="1200" dirty="0">
                          <a:solidFill>
                            <a:schemeClr val="dk1"/>
                          </a:solidFill>
                          <a:latin typeface="微软雅黑" panose="020B0503020204020204" charset="-122"/>
                          <a:ea typeface="微软雅黑" panose="020B0503020204020204" charset="-122"/>
                          <a:cs typeface="+mn-cs"/>
                        </a:rPr>
                        <a:t>双周日生产计划</a:t>
                      </a:r>
                    </a:p>
                  </a:txBody>
                  <a:tcPr anchor="ctr"/>
                </a:tc>
                <a:tc>
                  <a:txBody>
                    <a:bodyPr/>
                    <a:lstStyle/>
                    <a:p>
                      <a:r>
                        <a:rPr lang="zh-CN" altLang="en-US" sz="1200" dirty="0">
                          <a:latin typeface="微软雅黑" panose="020B0503020204020204" charset="-122"/>
                          <a:ea typeface="微软雅黑" panose="020B0503020204020204" charset="-122"/>
                        </a:rPr>
                        <a:t>订单和预测</a:t>
                      </a:r>
                    </a:p>
                  </a:txBody>
                  <a:tcPr anchor="ctr"/>
                </a:tc>
                <a:tc vMerge="1">
                  <a:txBody>
                    <a:bodyPr/>
                    <a:lstStyle/>
                    <a:p>
                      <a:endParaRPr lang="zh-CN"/>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zh-CN" altLang="en-US" sz="1200" b="0" dirty="0">
                          <a:latin typeface="微软雅黑" panose="020B0503020204020204" charset="-122"/>
                          <a:ea typeface="微软雅黑" panose="020B0503020204020204" charset="-122"/>
                        </a:rPr>
                        <a:t>锁定</a:t>
                      </a:r>
                      <a:r>
                        <a:rPr lang="en-US" altLang="zh-CN" sz="1200" b="0" dirty="0">
                          <a:latin typeface="微软雅黑" panose="020B0503020204020204" charset="-122"/>
                          <a:ea typeface="微软雅黑" panose="020B0503020204020204" charset="-122"/>
                        </a:rPr>
                        <a:t>1</a:t>
                      </a:r>
                      <a:r>
                        <a:rPr lang="zh-CN" altLang="en-US" sz="1200" b="0" dirty="0">
                          <a:latin typeface="微软雅黑" panose="020B0503020204020204" charset="-122"/>
                          <a:ea typeface="微软雅黑" panose="020B0503020204020204" charset="-122"/>
                        </a:rPr>
                        <a:t>周，预排</a:t>
                      </a:r>
                      <a:r>
                        <a:rPr lang="en-US" altLang="zh-CN" sz="1200" b="0" dirty="0">
                          <a:latin typeface="微软雅黑" panose="020B0503020204020204" charset="-122"/>
                          <a:ea typeface="微软雅黑" panose="020B0503020204020204" charset="-122"/>
                        </a:rPr>
                        <a:t>1</a:t>
                      </a:r>
                      <a:r>
                        <a:rPr lang="zh-CN" altLang="en-US" sz="1200" b="0" dirty="0">
                          <a:latin typeface="微软雅黑" panose="020B0503020204020204" charset="-122"/>
                          <a:ea typeface="微软雅黑" panose="020B0503020204020204" charset="-122"/>
                        </a:rPr>
                        <a:t>周</a:t>
                      </a:r>
                    </a:p>
                  </a:txBody>
                  <a:tcPr anchor="ctr"/>
                </a:tc>
                <a:tc vMerge="1">
                  <a:txBody>
                    <a:bodyPr/>
                    <a:lstStyle/>
                    <a:p>
                      <a:endParaRPr lang="zh-CN"/>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charset="-122"/>
                          <a:ea typeface="微软雅黑" panose="020B0503020204020204" charset="-122"/>
                        </a:rPr>
                        <a:t>前</a:t>
                      </a:r>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周到天</a:t>
                      </a:r>
                      <a:endParaRPr lang="en-US" altLang="zh-CN" sz="1200" dirty="0">
                        <a:latin typeface="微软雅黑" panose="020B0503020204020204" charset="-122"/>
                        <a:ea typeface="微软雅黑" panose="020B0503020204020204" charset="-122"/>
                      </a:endParaRPr>
                    </a:p>
                  </a:txBody>
                  <a:tcPr anchor="ctr"/>
                </a:tc>
                <a:tc>
                  <a:txBody>
                    <a:bodyPr/>
                    <a:lstStyle/>
                    <a:p>
                      <a:pPr marL="285750" indent="-285750">
                        <a:buFont typeface="Arial" panose="020B0604020202020204" pitchFamily="34" charset="0"/>
                        <a:buChar char="•"/>
                      </a:pPr>
                      <a:r>
                        <a:rPr lang="zh-CN" altLang="en-US" sz="1200" dirty="0">
                          <a:latin typeface="微软雅黑" panose="020B0503020204020204" charset="-122"/>
                          <a:ea typeface="微软雅黑" panose="020B0503020204020204" charset="-122"/>
                        </a:rPr>
                        <a:t>生产排产</a:t>
                      </a:r>
                    </a:p>
                    <a:p>
                      <a:pPr marL="285750" indent="-285750">
                        <a:buFont typeface="Arial" panose="020B0604020202020204" pitchFamily="34" charset="0"/>
                        <a:buChar char="•"/>
                      </a:pPr>
                      <a:r>
                        <a:rPr lang="zh-CN" altLang="en-US" sz="1200" dirty="0">
                          <a:latin typeface="微软雅黑" panose="020B0503020204020204" charset="-122"/>
                          <a:ea typeface="微软雅黑" panose="020B0503020204020204" charset="-122"/>
                        </a:rPr>
                        <a:t>采购订单</a:t>
                      </a:r>
                      <a:endParaRPr lang="en-US" altLang="zh-CN" sz="1200" dirty="0">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sz="1200" dirty="0">
                          <a:latin typeface="微软雅黑" panose="020B0503020204020204" charset="-122"/>
                          <a:ea typeface="微软雅黑" panose="020B0503020204020204" charset="-122"/>
                        </a:rPr>
                        <a:t>供应商配送</a:t>
                      </a:r>
                      <a:endParaRPr lang="en-US" altLang="zh-CN" sz="1200" dirty="0">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3"/>
                  </a:ext>
                </a:extLst>
              </a:tr>
              <a:tr h="610354">
                <a:tc>
                  <a:txBody>
                    <a:bodyPr/>
                    <a:lstStyle/>
                    <a:p>
                      <a:r>
                        <a:rPr lang="zh-CN" altLang="en-US" sz="1200" dirty="0">
                          <a:latin typeface="微软雅黑" panose="020B0503020204020204" charset="-122"/>
                          <a:ea typeface="微软雅黑" panose="020B0503020204020204" charset="-122"/>
                        </a:rPr>
                        <a:t>日排程计划</a:t>
                      </a:r>
                    </a:p>
                  </a:txBody>
                  <a:tcPr anchor="ctr"/>
                </a:tc>
                <a:tc>
                  <a:txBody>
                    <a:bodyPr/>
                    <a:lstStyle/>
                    <a:p>
                      <a:r>
                        <a:rPr lang="zh-CN" altLang="en-US" sz="1200" dirty="0">
                          <a:latin typeface="微软雅黑" panose="020B0503020204020204" charset="-122"/>
                          <a:ea typeface="微软雅黑" panose="020B0503020204020204" charset="-122"/>
                        </a:rPr>
                        <a:t>周计划</a:t>
                      </a:r>
                    </a:p>
                  </a:txBody>
                  <a:tcPr anchor="ctr"/>
                </a:tc>
                <a:tc>
                  <a:txBody>
                    <a:bodyPr/>
                    <a:lstStyle/>
                    <a:p>
                      <a:r>
                        <a:rPr lang="zh-CN" altLang="en-US" sz="1200" dirty="0">
                          <a:latin typeface="微软雅黑" panose="020B0503020204020204" charset="-122"/>
                          <a:ea typeface="微软雅黑" panose="020B0503020204020204" charset="-122"/>
                        </a:rPr>
                        <a:t>提前</a:t>
                      </a:r>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天锁定上线</a:t>
                      </a:r>
                      <a:endParaRPr lang="en-US" altLang="zh-CN" sz="1200" dirty="0">
                        <a:latin typeface="微软雅黑" panose="020B0503020204020204" charset="-122"/>
                        <a:ea typeface="微软雅黑" panose="020B0503020204020204" charset="-122"/>
                      </a:endParaRPr>
                    </a:p>
                    <a:p>
                      <a:r>
                        <a:rPr lang="zh-CN" altLang="en-US" sz="1200" dirty="0">
                          <a:latin typeface="微软雅黑" panose="020B0503020204020204" charset="-122"/>
                          <a:ea typeface="微软雅黑" panose="020B0503020204020204" charset="-122"/>
                        </a:rPr>
                        <a:t>（周三）</a:t>
                      </a:r>
                    </a:p>
                  </a:txBody>
                  <a:tcPr anchor="ctr"/>
                </a:tc>
                <a:tc>
                  <a:txBody>
                    <a:bodyPr/>
                    <a:lstStyle/>
                    <a:p>
                      <a:r>
                        <a:rPr lang="en-US" altLang="zh-CN" sz="1200" dirty="0">
                          <a:latin typeface="微软雅黑" panose="020B0503020204020204" charset="-122"/>
                          <a:ea typeface="微软雅黑" panose="020B0503020204020204" charset="-122"/>
                        </a:rPr>
                        <a:t>7</a:t>
                      </a:r>
                      <a:r>
                        <a:rPr lang="zh-CN" altLang="en-US" sz="1200" dirty="0">
                          <a:latin typeface="微软雅黑" panose="020B0503020204020204" charset="-122"/>
                          <a:ea typeface="微软雅黑" panose="020B0503020204020204" charset="-122"/>
                        </a:rPr>
                        <a:t>天</a:t>
                      </a:r>
                    </a:p>
                  </a:txBody>
                  <a:tcPr anchor="ctr"/>
                </a:tc>
                <a:tc>
                  <a:txBody>
                    <a:bodyPr/>
                    <a:lstStyle/>
                    <a:p>
                      <a:r>
                        <a:rPr lang="zh-CN" altLang="en-US" sz="1200" dirty="0">
                          <a:latin typeface="微软雅黑" panose="020B0503020204020204" charset="-122"/>
                          <a:ea typeface="微软雅黑" panose="020B0503020204020204" charset="-122"/>
                        </a:rPr>
                        <a:t>到品种</a:t>
                      </a:r>
                    </a:p>
                  </a:txBody>
                  <a:tcPr anchor="ctr"/>
                </a:tc>
                <a:tc>
                  <a:txBody>
                    <a:bodyPr/>
                    <a:lstStyle/>
                    <a:p>
                      <a:r>
                        <a:rPr lang="zh-CN" altLang="en-US" sz="1200" dirty="0">
                          <a:latin typeface="微软雅黑" panose="020B0503020204020204" charset="-122"/>
                          <a:ea typeface="微软雅黑" panose="020B0503020204020204" charset="-122"/>
                        </a:rPr>
                        <a:t>到小时</a:t>
                      </a:r>
                    </a:p>
                  </a:txBody>
                  <a:tcPr anchor="ctr"/>
                </a:tc>
                <a:tc>
                  <a:txBody>
                    <a:bodyPr/>
                    <a:lstStyle/>
                    <a:p>
                      <a:pPr marL="285750" indent="-285750">
                        <a:buFont typeface="Arial" panose="020B0604020202020204" pitchFamily="34" charset="0"/>
                        <a:buChar char="•"/>
                      </a:pPr>
                      <a:r>
                        <a:rPr lang="zh-CN" altLang="en-US" sz="1200" dirty="0">
                          <a:latin typeface="微软雅黑" panose="020B0503020204020204" charset="-122"/>
                          <a:ea typeface="微软雅黑" panose="020B0503020204020204" charset="-122"/>
                        </a:rPr>
                        <a:t>厂内配送</a:t>
                      </a:r>
                      <a:endParaRPr lang="en-US" altLang="zh-CN" sz="1200" dirty="0">
                        <a:latin typeface="微软雅黑" panose="020B0503020204020204" charset="-122"/>
                        <a:ea typeface="微软雅黑" panose="020B0503020204020204" charset="-122"/>
                      </a:endParaRPr>
                    </a:p>
                    <a:p>
                      <a:pPr marL="285750" indent="-285750">
                        <a:buFont typeface="Arial" panose="020B0604020202020204" pitchFamily="34" charset="0"/>
                        <a:buChar char="•"/>
                      </a:pPr>
                      <a:r>
                        <a:rPr lang="en-US" altLang="zh-CN" sz="1200" dirty="0">
                          <a:latin typeface="微软雅黑" panose="020B0503020204020204" charset="-122"/>
                          <a:ea typeface="微软雅黑" panose="020B0503020204020204" charset="-122"/>
                        </a:rPr>
                        <a:t>JIT</a:t>
                      </a:r>
                      <a:r>
                        <a:rPr lang="zh-CN" altLang="en-US" sz="1200" dirty="0">
                          <a:latin typeface="微软雅黑" panose="020B0503020204020204" charset="-122"/>
                          <a:ea typeface="微软雅黑" panose="020B0503020204020204" charset="-122"/>
                        </a:rPr>
                        <a:t>件供货</a:t>
                      </a:r>
                      <a:endParaRPr lang="en-US" altLang="zh-CN" sz="1200" dirty="0">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sz="1200" dirty="0">
                          <a:latin typeface="微软雅黑" panose="020B0503020204020204" charset="-122"/>
                          <a:ea typeface="微软雅黑" panose="020B0503020204020204" charset="-122"/>
                        </a:rPr>
                        <a:t>生产上线</a:t>
                      </a:r>
                    </a:p>
                  </a:txBody>
                  <a:tcPr anchor="ctr"/>
                </a:tc>
                <a:extLst>
                  <a:ext uri="{0D108BD9-81ED-4DB2-BD59-A6C34878D82A}">
                    <a16:rowId xmlns:a16="http://schemas.microsoft.com/office/drawing/2014/main" val="10004"/>
                  </a:ext>
                </a:extLst>
              </a:tr>
            </a:tbl>
          </a:graphicData>
        </a:graphic>
      </p:graphicFrame>
      <p:cxnSp>
        <p:nvCxnSpPr>
          <p:cNvPr id="88" name="直接连接符 87"/>
          <p:cNvCxnSpPr/>
          <p:nvPr/>
        </p:nvCxnSpPr>
        <p:spPr bwMode="auto">
          <a:xfrm>
            <a:off x="7369161" y="1916832"/>
            <a:ext cx="0" cy="1781070"/>
          </a:xfrm>
          <a:prstGeom prst="line">
            <a:avLst/>
          </a:prstGeom>
          <a:noFill/>
          <a:ln w="9525" cap="flat" cmpd="sng" algn="ctr">
            <a:solidFill>
              <a:srgbClr val="FF0000"/>
            </a:solidFill>
            <a:prstDash val="dash"/>
            <a:round/>
            <a:headEnd type="none" w="med" len="med"/>
            <a:tailEnd type="none" w="med" len="med"/>
          </a:ln>
          <a:effectLst/>
        </p:spPr>
      </p:cxnSp>
      <p:sp>
        <p:nvSpPr>
          <p:cNvPr id="42"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dirty="0"/>
              <a:t>D. </a:t>
            </a:r>
            <a:r>
              <a:rPr lang="zh-CN" altLang="en-US" dirty="0"/>
              <a:t>生产执行与物流解决方案概要说明</a:t>
            </a:r>
          </a:p>
        </p:txBody>
      </p:sp>
      <p:sp>
        <p:nvSpPr>
          <p:cNvPr id="72" name="Rectangle 20"/>
          <p:cNvSpPr txBox="1">
            <a:spLocks noChangeArrowheads="1"/>
          </p:cNvSpPr>
          <p:nvPr/>
        </p:nvSpPr>
        <p:spPr>
          <a:xfrm>
            <a:off x="323850" y="1341909"/>
            <a:ext cx="4462463" cy="1222995"/>
          </a:xfrm>
          <a:prstGeom prst="rect">
            <a:avLst/>
          </a:prstGeom>
          <a:ln>
            <a:solidFill>
              <a:srgbClr val="7889FB"/>
            </a:solidFill>
          </a:ln>
        </p:spPr>
        <p:txBody>
          <a:bodyPr anchor="ctr"/>
          <a:lstStyle/>
          <a:p>
            <a:pPr marL="173355" marR="0" lvl="0" indent="-173355" defTabSz="914400" eaLnBrk="0" fontAlgn="auto" latinLnBrk="0" hangingPunct="0">
              <a:lnSpc>
                <a:spcPct val="100000"/>
              </a:lnSpc>
              <a:spcBef>
                <a:spcPct val="20000"/>
              </a:spcBef>
              <a:spcAft>
                <a:spcPts val="0"/>
              </a:spcAft>
              <a:buClr>
                <a:srgbClr val="000000"/>
              </a:buClr>
              <a:buSzTx/>
              <a:buFont typeface="Wingdings" panose="05000000000000000000" pitchFamily="2" charset="2"/>
              <a:buNone/>
              <a:defRPr/>
            </a:pP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3355" indent="-173355" eaLnBrk="0" hangingPunct="0">
              <a:spcBef>
                <a:spcPct val="20000"/>
              </a:spcBef>
              <a:buClr>
                <a:srgbClr val="7889FB"/>
              </a:buClr>
              <a:buFont typeface="Wingdings" panose="05000000000000000000" pitchFamily="2" charset="2"/>
              <a:buChar char="§"/>
              <a:defRPr/>
            </a:pPr>
            <a:r>
              <a:rPr lang="zh-CN" altLang="en-US" sz="1000" kern="0" dirty="0">
                <a:solidFill>
                  <a:sysClr val="windowText" lastClr="000000"/>
                </a:solidFill>
                <a:latin typeface="微软雅黑" panose="020B0503020204020204" charset="-122"/>
                <a:ea typeface="微软雅黑" panose="020B0503020204020204" charset="-122"/>
              </a:rPr>
              <a:t>自动化：优化生产执行报工过程，便捷，高效，易操作</a:t>
            </a:r>
            <a:endParaRPr lang="en-US" altLang="zh-CN" sz="1000" kern="0" dirty="0">
              <a:solidFill>
                <a:sysClr val="windowText" lastClr="000000"/>
              </a:solidFill>
              <a:latin typeface="微软雅黑" panose="020B0503020204020204" charset="-122"/>
              <a:ea typeface="微软雅黑" panose="020B0503020204020204" charset="-122"/>
            </a:endParaRPr>
          </a:p>
          <a:p>
            <a:pPr marL="173355" indent="-173355" eaLnBrk="0" hangingPunct="0">
              <a:spcBef>
                <a:spcPct val="20000"/>
              </a:spcBef>
              <a:buClr>
                <a:srgbClr val="7889FB"/>
              </a:buClr>
              <a:buFont typeface="Wingdings" panose="05000000000000000000" pitchFamily="2" charset="2"/>
              <a:buChar char="§"/>
              <a:defRPr/>
            </a:pPr>
            <a:r>
              <a:rPr lang="zh-CN" altLang="en-US" sz="1000" kern="0" dirty="0">
                <a:solidFill>
                  <a:sysClr val="windowText" lastClr="000000"/>
                </a:solidFill>
                <a:latin typeface="微软雅黑" panose="020B0503020204020204" charset="-122"/>
                <a:ea typeface="微软雅黑" panose="020B0503020204020204" charset="-122"/>
              </a:rPr>
              <a:t>柔性化：支持基于预测与订单混合生产模式，实现定制化与交期平衡</a:t>
            </a:r>
            <a:endParaRPr lang="en-US" altLang="zh-CN" sz="1000" kern="0" dirty="0">
              <a:solidFill>
                <a:sysClr val="windowText" lastClr="000000"/>
              </a:solidFill>
              <a:latin typeface="微软雅黑" panose="020B0503020204020204" charset="-122"/>
              <a:ea typeface="微软雅黑" panose="020B0503020204020204" charset="-122"/>
            </a:endParaRPr>
          </a:p>
          <a:p>
            <a:pPr marL="173355" lvl="0" indent="-173355" eaLnBrk="0" hangingPunct="0">
              <a:spcBef>
                <a:spcPct val="20000"/>
              </a:spcBef>
              <a:buClr>
                <a:srgbClr val="7889FB"/>
              </a:buClr>
              <a:buFont typeface="Wingdings" panose="05000000000000000000" pitchFamily="2" charset="2"/>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最优化：</a:t>
            </a:r>
            <a:r>
              <a:rPr lang="zh-CN" altLang="en-US" sz="1000" kern="0" dirty="0">
                <a:solidFill>
                  <a:sysClr val="windowText" lastClr="000000"/>
                </a:solidFill>
                <a:latin typeface="微软雅黑" panose="020B0503020204020204" charset="-122"/>
                <a:ea typeface="微软雅黑" panose="020B0503020204020204" charset="-122"/>
              </a:rPr>
              <a:t>优化计划与资源配置，正确的时间</a:t>
            </a:r>
            <a:r>
              <a:rPr lang="en-US" altLang="zh-CN" sz="1000" kern="0" dirty="0">
                <a:solidFill>
                  <a:sysClr val="windowText" lastClr="000000"/>
                </a:solidFill>
                <a:latin typeface="微软雅黑" panose="020B0503020204020204" charset="-122"/>
                <a:ea typeface="微软雅黑" panose="020B0503020204020204" charset="-122"/>
              </a:rPr>
              <a:t>/</a:t>
            </a:r>
            <a:r>
              <a:rPr lang="zh-CN" altLang="en-US" sz="1000" kern="0" dirty="0">
                <a:solidFill>
                  <a:sysClr val="windowText" lastClr="000000"/>
                </a:solidFill>
                <a:latin typeface="微软雅黑" panose="020B0503020204020204" charset="-122"/>
                <a:ea typeface="微软雅黑" panose="020B0503020204020204" charset="-122"/>
              </a:rPr>
              <a:t>地点</a:t>
            </a:r>
            <a:r>
              <a:rPr lang="en-US" altLang="zh-CN" sz="1000" kern="0" dirty="0">
                <a:solidFill>
                  <a:sysClr val="windowText" lastClr="000000"/>
                </a:solidFill>
                <a:latin typeface="微软雅黑" panose="020B0503020204020204" charset="-122"/>
                <a:ea typeface="微软雅黑" panose="020B0503020204020204" charset="-122"/>
              </a:rPr>
              <a:t>/</a:t>
            </a:r>
            <a:r>
              <a:rPr lang="zh-CN" altLang="en-US" sz="1000" kern="0" dirty="0">
                <a:solidFill>
                  <a:sysClr val="windowText" lastClr="000000"/>
                </a:solidFill>
                <a:latin typeface="微软雅黑" panose="020B0503020204020204" charset="-122"/>
                <a:ea typeface="微软雅黑" panose="020B0503020204020204" charset="-122"/>
              </a:rPr>
              <a:t>资源，生产正确数量的正确产品</a:t>
            </a:r>
            <a:endParaRPr lang="en-US" altLang="zh-CN" sz="1000" kern="0" dirty="0">
              <a:solidFill>
                <a:sysClr val="windowText" lastClr="000000"/>
              </a:solidFill>
              <a:latin typeface="微软雅黑" panose="020B0503020204020204" charset="-122"/>
              <a:ea typeface="微软雅黑" panose="020B0503020204020204" charset="-122"/>
            </a:endParaRPr>
          </a:p>
          <a:p>
            <a:pPr marL="173355" marR="0" lvl="0" indent="-173355" defTabSz="914400" eaLnBrk="0" fontAlgn="auto" latinLnBrk="0" hangingPunct="0">
              <a:lnSpc>
                <a:spcPct val="100000"/>
              </a:lnSpc>
              <a:spcBef>
                <a:spcPct val="20000"/>
              </a:spcBef>
              <a:spcAft>
                <a:spcPts val="0"/>
              </a:spcAft>
              <a:buClr>
                <a:srgbClr val="7889FB"/>
              </a:buClr>
              <a:buSzTx/>
              <a:buFont typeface="Wingdings" panose="05000000000000000000" pitchFamily="2" charset="2"/>
              <a:buChar char="§"/>
              <a:defRPr/>
            </a:pPr>
            <a:r>
              <a:rPr lang="zh-CN" altLang="en-US" sz="1000" kern="0" dirty="0">
                <a:solidFill>
                  <a:sysClr val="windowText" lastClr="000000"/>
                </a:solidFill>
                <a:latin typeface="微软雅黑" panose="020B0503020204020204" charset="-122"/>
                <a:ea typeface="微软雅黑" panose="020B0503020204020204" charset="-122"/>
              </a:rPr>
              <a:t>可视</a:t>
            </a: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化：通过系统集成实现便捷查询，如手机网络查询与分析</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74" name="Rectangle 21"/>
          <p:cNvSpPr>
            <a:spLocks noChangeArrowheads="1"/>
          </p:cNvSpPr>
          <p:nvPr/>
        </p:nvSpPr>
        <p:spPr bwMode="auto">
          <a:xfrm>
            <a:off x="642938" y="5572125"/>
            <a:ext cx="8286750" cy="928688"/>
          </a:xfrm>
          <a:prstGeom prst="rect">
            <a:avLst/>
          </a:prstGeom>
          <a:noFill/>
          <a:ln w="9525">
            <a:solidFill>
              <a:srgbClr val="7889FB"/>
            </a:solidFill>
            <a:miter lim="800000"/>
          </a:ln>
        </p:spPr>
        <p:txBody>
          <a:bodyPr/>
          <a:lstStyle/>
          <a:p>
            <a:pPr marL="180975" indent="-180975">
              <a:lnSpc>
                <a:spcPct val="110000"/>
              </a:lnSpc>
              <a:spcBef>
                <a:spcPts val="600"/>
              </a:spcBef>
            </a:pPr>
            <a:endParaRPr lang="en-US" altLang="zh-CN" sz="1200" dirty="0">
              <a:latin typeface="微软雅黑" panose="020B0503020204020204" charset="-122"/>
              <a:ea typeface="微软雅黑" panose="020B0503020204020204" charset="-122"/>
            </a:endParaRPr>
          </a:p>
          <a:p>
            <a:pPr marL="180975" indent="-180975">
              <a:lnSpc>
                <a:spcPct val="110000"/>
              </a:lnSpc>
              <a:spcBef>
                <a:spcPts val="600"/>
              </a:spcBef>
            </a:pPr>
            <a:r>
              <a:rPr lang="zh-CN" altLang="en-US" sz="1200" dirty="0">
                <a:latin typeface="微软雅黑" panose="020B0503020204020204" charset="-122"/>
                <a:ea typeface="微软雅黑" panose="020B0503020204020204" charset="-122"/>
              </a:rPr>
              <a:t>通过准时化</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自动化</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柔性化</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可视化，</a:t>
            </a:r>
            <a:r>
              <a:rPr lang="zh-CN" altLang="en-US" sz="1400" b="1" dirty="0">
                <a:latin typeface="微软雅黑" panose="020B0503020204020204" charset="-122"/>
                <a:ea typeface="微软雅黑" panose="020B0503020204020204" charset="-122"/>
              </a:rPr>
              <a:t>提高制造物流执行效率</a:t>
            </a:r>
            <a:endParaRPr lang="en-US" altLang="zh-CN" sz="1200" b="1" dirty="0">
              <a:latin typeface="微软雅黑" panose="020B0503020204020204" charset="-122"/>
              <a:ea typeface="微软雅黑" panose="020B0503020204020204" charset="-122"/>
            </a:endParaRPr>
          </a:p>
          <a:p>
            <a:pPr marL="173355" marR="0" lvl="0" indent="-173355" defTabSz="914400" eaLnBrk="0" fontAlgn="auto" latinLnBrk="0" hangingPunct="0">
              <a:lnSpc>
                <a:spcPct val="100000"/>
              </a:lnSpc>
              <a:spcBef>
                <a:spcPct val="20000"/>
              </a:spcBef>
              <a:spcAft>
                <a:spcPts val="0"/>
              </a:spcAft>
              <a:buClr>
                <a:srgbClr val="7889FB"/>
              </a:buClr>
              <a:buSzTx/>
              <a:buFont typeface="Wingdings" panose="05000000000000000000" pitchFamily="2" charset="2"/>
              <a:buChar char="§"/>
              <a:defRPr/>
            </a:pP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75" name="Rectangle 22"/>
          <p:cNvSpPr>
            <a:spLocks noChangeArrowheads="1"/>
          </p:cNvSpPr>
          <p:nvPr/>
        </p:nvSpPr>
        <p:spPr bwMode="auto">
          <a:xfrm>
            <a:off x="323850" y="2857496"/>
            <a:ext cx="8621713" cy="2643206"/>
          </a:xfrm>
          <a:prstGeom prst="rect">
            <a:avLst/>
          </a:prstGeom>
          <a:noFill/>
          <a:ln w="9525">
            <a:solidFill>
              <a:srgbClr val="7889FB"/>
            </a:solidFill>
            <a:miter lim="800000"/>
          </a:ln>
        </p:spPr>
        <p:txBody>
          <a:bodyPr tIns="0" bIns="72000"/>
          <a:lstStyle/>
          <a:p>
            <a:pPr marL="173355" marR="0" lvl="0" indent="-173355" defTabSz="914400" eaLnBrk="0" fontAlgn="auto" latinLnBrk="0" hangingPunct="0">
              <a:lnSpc>
                <a:spcPct val="100000"/>
              </a:lnSpc>
              <a:spcBef>
                <a:spcPct val="20000"/>
              </a:spcBef>
              <a:spcAft>
                <a:spcPts val="0"/>
              </a:spcAft>
              <a:buClr>
                <a:srgbClr val="000000"/>
              </a:buClr>
              <a:buSzTx/>
              <a:buFont typeface="Wingdings" panose="05000000000000000000" pitchFamily="2" charset="2"/>
              <a:buNone/>
              <a:defRPr/>
            </a:pPr>
            <a:endParaRPr kumimoji="0" lang="en-US" altLang="zh-CN"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3355" marR="0" lvl="0" indent="-173355" defTabSz="914400" eaLnBrk="0" fontAlgn="auto" latinLnBrk="0" hangingPunct="0">
              <a:lnSpc>
                <a:spcPts val="1300"/>
              </a:lnSpc>
              <a:spcBef>
                <a:spcPts val="300"/>
              </a:spcBef>
              <a:spcAft>
                <a:spcPts val="0"/>
              </a:spcAft>
              <a:buClr>
                <a:srgbClr val="7889FB"/>
              </a:buClr>
              <a:buSzTx/>
              <a:buFontTx/>
              <a:buNone/>
              <a:defRPr/>
            </a:pPr>
            <a:r>
              <a:rPr lang="en-US" altLang="zh-CN" sz="1200" kern="0" dirty="0">
                <a:solidFill>
                  <a:sysClr val="windowText" lastClr="000000"/>
                </a:solidFill>
                <a:latin typeface="微软雅黑" panose="020B0503020204020204" charset="-122"/>
                <a:ea typeface="微软雅黑" panose="020B0503020204020204" charset="-122"/>
              </a:rPr>
              <a:t>D</a:t>
            </a: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-1 </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准时生产</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备料与结构拉动生产</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物料拉动配送方式，计划看板</a:t>
            </a: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循环看板</a:t>
            </a: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手工看板</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3355" lvl="0" indent="-173355" eaLnBrk="0" hangingPunct="0">
              <a:lnSpc>
                <a:spcPts val="1300"/>
              </a:lnSpc>
              <a:spcBef>
                <a:spcPts val="300"/>
              </a:spcBef>
              <a:buClr>
                <a:srgbClr val="7889FB"/>
              </a:buClr>
              <a:defRPr/>
            </a:pPr>
            <a:r>
              <a:rPr lang="en-US" altLang="zh-CN" sz="1200" kern="0" dirty="0">
                <a:solidFill>
                  <a:sysClr val="windowText" lastClr="000000"/>
                </a:solidFill>
                <a:latin typeface="微软雅黑" panose="020B0503020204020204" charset="-122"/>
                <a:ea typeface="微软雅黑" panose="020B0503020204020204" charset="-122"/>
              </a:rPr>
              <a:t>D-2 </a:t>
            </a:r>
            <a:r>
              <a:rPr lang="zh-CN" altLang="en-US" sz="1200" kern="0" dirty="0">
                <a:solidFill>
                  <a:sysClr val="windowText" lastClr="000000"/>
                </a:solidFill>
                <a:latin typeface="微软雅黑" panose="020B0503020204020204" charset="-122"/>
                <a:ea typeface="微软雅黑" panose="020B0503020204020204" charset="-122"/>
              </a:rPr>
              <a:t>柔性化</a:t>
            </a:r>
            <a:endParaRPr lang="en-US" altLang="zh-CN" sz="1200" kern="0" dirty="0">
              <a:solidFill>
                <a:sysClr val="windowText" lastClr="000000"/>
              </a:solidFill>
              <a:latin typeface="微软雅黑" panose="020B0503020204020204" charset="-122"/>
              <a:ea typeface="微软雅黑" panose="020B0503020204020204" charset="-122"/>
            </a:endParaRPr>
          </a:p>
          <a:p>
            <a:pPr marL="630555" lvl="1" indent="-173355" eaLnBrk="0" hangingPunct="0">
              <a:lnSpc>
                <a:spcPts val="1300"/>
              </a:lnSpc>
              <a:spcBef>
                <a:spcPts val="300"/>
              </a:spcBef>
              <a:buClr>
                <a:srgbClr val="7889FB"/>
              </a:buClr>
              <a:buFont typeface="Arial" panose="020B0604020202020204" pitchFamily="34" charset="0"/>
              <a:buChar char="‒"/>
              <a:defRPr/>
            </a:pPr>
            <a:r>
              <a:rPr lang="zh-CN" altLang="en-US" sz="1200" kern="0" dirty="0">
                <a:solidFill>
                  <a:sysClr val="windowText" lastClr="000000"/>
                </a:solidFill>
                <a:latin typeface="微软雅黑" panose="020B0503020204020204" charset="-122"/>
                <a:ea typeface="微软雅黑" panose="020B0503020204020204" charset="-122"/>
              </a:rPr>
              <a:t>支持基于预测与订单混合生产模式，实现定制化与交期平衡</a:t>
            </a:r>
            <a:endParaRPr lang="en-US" altLang="zh-CN" sz="1200" kern="0" dirty="0">
              <a:solidFill>
                <a:sysClr val="windowText" lastClr="000000"/>
              </a:solidFill>
              <a:latin typeface="微软雅黑" panose="020B0503020204020204" charset="-122"/>
              <a:ea typeface="微软雅黑" panose="020B0503020204020204" charset="-122"/>
            </a:endParaRPr>
          </a:p>
          <a:p>
            <a:pPr marL="630555" lvl="1" indent="-173355" eaLnBrk="0" hangingPunct="0">
              <a:lnSpc>
                <a:spcPts val="1300"/>
              </a:lnSpc>
              <a:spcBef>
                <a:spcPts val="300"/>
              </a:spcBef>
              <a:buClr>
                <a:srgbClr val="7889FB"/>
              </a:buClr>
              <a:buFont typeface="Arial" panose="020B0604020202020204" pitchFamily="34" charset="0"/>
              <a:buChar char="‒"/>
              <a:defRPr/>
            </a:pPr>
            <a:r>
              <a:rPr lang="zh-CN" altLang="en-US" sz="1200" kern="0" dirty="0">
                <a:solidFill>
                  <a:sysClr val="windowText" lastClr="000000"/>
                </a:solidFill>
                <a:latin typeface="微软雅黑" panose="020B0503020204020204" charset="-122"/>
                <a:ea typeface="微软雅黑" panose="020B0503020204020204" charset="-122"/>
              </a:rPr>
              <a:t>工程变更信息精确到批次或序列号管理</a:t>
            </a:r>
            <a:endParaRPr lang="en-US" altLang="zh-CN" sz="1200" kern="0" dirty="0">
              <a:solidFill>
                <a:sysClr val="windowText" lastClr="000000"/>
              </a:solidFill>
              <a:latin typeface="微软雅黑" panose="020B0503020204020204" charset="-122"/>
              <a:ea typeface="微软雅黑" panose="020B0503020204020204" charset="-122"/>
            </a:endParaRPr>
          </a:p>
          <a:p>
            <a:pPr marL="173355" marR="0" lvl="0" indent="-173355" defTabSz="914400" eaLnBrk="0" fontAlgn="auto" latinLnBrk="0" hangingPunct="0">
              <a:lnSpc>
                <a:spcPts val="1300"/>
              </a:lnSpc>
              <a:spcBef>
                <a:spcPts val="300"/>
              </a:spcBef>
              <a:spcAft>
                <a:spcPts val="0"/>
              </a:spcAft>
              <a:buClr>
                <a:srgbClr val="7889FB"/>
              </a:buClr>
              <a:buSzTx/>
              <a:buFontTx/>
              <a:buNone/>
              <a:defRPr/>
            </a:pPr>
            <a:r>
              <a:rPr lang="en-US" altLang="zh-CN" sz="1200" kern="0" dirty="0">
                <a:solidFill>
                  <a:sysClr val="windowText" lastClr="000000"/>
                </a:solidFill>
                <a:latin typeface="微软雅黑" panose="020B0503020204020204" charset="-122"/>
                <a:ea typeface="微软雅黑" panose="020B0503020204020204" charset="-122"/>
              </a:rPr>
              <a:t>D</a:t>
            </a:r>
            <a:r>
              <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-3 </a:t>
            </a:r>
            <a:r>
              <a:rPr lang="zh-CN" altLang="en-US" sz="1200" kern="0" dirty="0">
                <a:solidFill>
                  <a:sysClr val="windowText" lastClr="000000"/>
                </a:solidFill>
                <a:latin typeface="微软雅黑" panose="020B0503020204020204" charset="-122"/>
                <a:ea typeface="微软雅黑" panose="020B0503020204020204" charset="-122"/>
              </a:rPr>
              <a:t>自动化（</a:t>
            </a:r>
            <a:r>
              <a:rPr lang="en-US" altLang="zh-CN" sz="1200" kern="0" dirty="0">
                <a:solidFill>
                  <a:sysClr val="windowText" lastClr="000000"/>
                </a:solidFill>
                <a:latin typeface="微软雅黑" panose="020B0503020204020204" charset="-122"/>
                <a:ea typeface="微软雅黑" panose="020B0503020204020204" charset="-122"/>
              </a:rPr>
              <a:t>MES</a:t>
            </a:r>
            <a:r>
              <a:rPr lang="zh-CN" altLang="en-US" sz="1200" kern="0" dirty="0">
                <a:solidFill>
                  <a:sysClr val="windowText" lastClr="000000"/>
                </a:solidFill>
                <a:latin typeface="微软雅黑" panose="020B0503020204020204" charset="-122"/>
                <a:ea typeface="微软雅黑" panose="020B0503020204020204" charset="-122"/>
              </a:rPr>
              <a:t>集成优化）</a:t>
            </a: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优化报工</a:t>
            </a:r>
            <a:r>
              <a:rPr lang="zh-CN" altLang="en-US" sz="1200" kern="0" dirty="0">
                <a:solidFill>
                  <a:sysClr val="windowText" lastClr="000000"/>
                </a:solidFill>
                <a:latin typeface="微软雅黑" panose="020B0503020204020204" charset="-122"/>
                <a:ea typeface="微软雅黑" panose="020B0503020204020204" charset="-122"/>
              </a:rPr>
              <a:t>点设置</a:t>
            </a: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，提高备料生产报工效率</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630555" marR="0" lvl="1" indent="-173355" defTabSz="914400" eaLnBrk="0" fontAlgn="auto" latinLnBrk="0" hangingPunct="0">
              <a:lnSpc>
                <a:spcPts val="1300"/>
              </a:lnSpc>
              <a:spcBef>
                <a:spcPts val="300"/>
              </a:spcBef>
              <a:spcAft>
                <a:spcPts val="0"/>
              </a:spcAft>
              <a:buClr>
                <a:srgbClr val="7889FB"/>
              </a:buClr>
              <a:buSzTx/>
              <a:buFont typeface="Arial" panose="020B0604020202020204" pitchFamily="34" charset="0"/>
              <a:buChar char="‒"/>
              <a:defRPr/>
            </a:pPr>
            <a:r>
              <a:rPr lang="zh-CN" altLang="en-US" sz="1200" kern="0" dirty="0">
                <a:solidFill>
                  <a:sysClr val="windowText" lastClr="000000"/>
                </a:solidFill>
                <a:latin typeface="微软雅黑" panose="020B0503020204020204" charset="-122"/>
                <a:ea typeface="微软雅黑" panose="020B0503020204020204" charset="-122"/>
              </a:rPr>
              <a:t>提高仓储领投料，下线结算等效率</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3355" indent="-173355" eaLnBrk="0" hangingPunct="0">
              <a:lnSpc>
                <a:spcPts val="1300"/>
              </a:lnSpc>
              <a:spcBef>
                <a:spcPts val="300"/>
              </a:spcBef>
              <a:buClr>
                <a:srgbClr val="7889FB"/>
              </a:buClr>
              <a:defRPr/>
            </a:pPr>
            <a:r>
              <a:rPr lang="en-US" altLang="zh-CN" sz="1200" kern="0" dirty="0">
                <a:solidFill>
                  <a:sysClr val="windowText" lastClr="000000"/>
                </a:solidFill>
                <a:latin typeface="微软雅黑" panose="020B0503020204020204" charset="-122"/>
                <a:ea typeface="微软雅黑" panose="020B0503020204020204" charset="-122"/>
              </a:rPr>
              <a:t>D-4 </a:t>
            </a:r>
            <a:r>
              <a:rPr lang="zh-CN" altLang="en-US" sz="1200" kern="0" dirty="0">
                <a:solidFill>
                  <a:sysClr val="windowText" lastClr="000000"/>
                </a:solidFill>
                <a:latin typeface="微软雅黑" panose="020B0503020204020204" charset="-122"/>
                <a:ea typeface="微软雅黑" panose="020B0503020204020204" charset="-122"/>
              </a:rPr>
              <a:t> 可视化</a:t>
            </a:r>
            <a:endParaRPr lang="en-US" altLang="zh-CN" sz="1200" kern="0" dirty="0">
              <a:solidFill>
                <a:sysClr val="windowText" lastClr="000000"/>
              </a:solidFill>
              <a:latin typeface="微软雅黑" panose="020B0503020204020204" charset="-122"/>
              <a:ea typeface="微软雅黑" panose="020B0503020204020204" charset="-122"/>
            </a:endParaRPr>
          </a:p>
          <a:p>
            <a:pPr marL="630555" lvl="1" indent="-173355" eaLnBrk="0" hangingPunct="0">
              <a:lnSpc>
                <a:spcPts val="1300"/>
              </a:lnSpc>
              <a:spcBef>
                <a:spcPts val="300"/>
              </a:spcBef>
              <a:buClr>
                <a:srgbClr val="7889FB"/>
              </a:buClr>
              <a:buFont typeface="Arial" panose="020B0604020202020204" pitchFamily="34" charset="0"/>
              <a:buChar char="‒"/>
              <a:defRPr/>
            </a:pPr>
            <a:r>
              <a:rPr lang="zh-CN" altLang="en-US" sz="1200" dirty="0">
                <a:latin typeface="微软雅黑" panose="020B0503020204020204" charset="-122"/>
                <a:ea typeface="微软雅黑" panose="020B0503020204020204" charset="-122"/>
              </a:rPr>
              <a:t>订单录入到出库的的生产全过程可视；数据，变更，资源信息对现场可视</a:t>
            </a:r>
            <a:endParaRPr lang="en-US" altLang="zh-CN" sz="1200" kern="0" dirty="0">
              <a:solidFill>
                <a:sysClr val="windowText" lastClr="000000"/>
              </a:solidFill>
              <a:latin typeface="微软雅黑" panose="020B0503020204020204" charset="-122"/>
              <a:ea typeface="微软雅黑" panose="020B0503020204020204" charset="-122"/>
            </a:endParaRPr>
          </a:p>
          <a:p>
            <a:pPr marL="173355" indent="-173355" eaLnBrk="0" hangingPunct="0">
              <a:lnSpc>
                <a:spcPts val="1300"/>
              </a:lnSpc>
              <a:spcBef>
                <a:spcPts val="300"/>
              </a:spcBef>
              <a:buClr>
                <a:srgbClr val="7889FB"/>
              </a:buClr>
              <a:defRPr/>
            </a:pPr>
            <a:r>
              <a:rPr lang="zh-CN" altLang="en-US" sz="1200" i="1" kern="0" dirty="0">
                <a:solidFill>
                  <a:sysClr val="windowText" lastClr="000000"/>
                </a:solidFill>
                <a:latin typeface="微软雅黑" panose="020B0503020204020204" charset="-122"/>
                <a:ea typeface="微软雅黑" panose="020B0503020204020204" charset="-122"/>
              </a:rPr>
              <a:t> *  报表类及更多</a:t>
            </a:r>
            <a:r>
              <a:rPr lang="en-US" altLang="zh-CN" sz="1200" i="1" kern="0" dirty="0">
                <a:solidFill>
                  <a:sysClr val="windowText" lastClr="000000"/>
                </a:solidFill>
                <a:latin typeface="微软雅黑" panose="020B0503020204020204" charset="-122"/>
                <a:ea typeface="微软雅黑" panose="020B0503020204020204" charset="-122"/>
              </a:rPr>
              <a:t>IT</a:t>
            </a:r>
            <a:r>
              <a:rPr lang="zh-CN" altLang="en-US" sz="1200" i="1" kern="0" dirty="0">
                <a:solidFill>
                  <a:sysClr val="windowText" lastClr="000000"/>
                </a:solidFill>
                <a:latin typeface="微软雅黑" panose="020B0503020204020204" charset="-122"/>
                <a:ea typeface="微软雅黑" panose="020B0503020204020204" charset="-122"/>
              </a:rPr>
              <a:t>需求参见问题需求清单，将会在系统实现阶段重点关注</a:t>
            </a:r>
            <a:endParaRPr lang="en-US" altLang="zh-CN" sz="1200" i="1" kern="0" dirty="0">
              <a:solidFill>
                <a:sysClr val="windowText" lastClr="000000"/>
              </a:solidFill>
              <a:latin typeface="微软雅黑" panose="020B0503020204020204" charset="-122"/>
              <a:ea typeface="微软雅黑" panose="020B0503020204020204" charset="-122"/>
            </a:endParaRPr>
          </a:p>
        </p:txBody>
      </p:sp>
      <p:sp>
        <p:nvSpPr>
          <p:cNvPr id="76" name="Rectangle 32"/>
          <p:cNvSpPr>
            <a:spLocks noChangeArrowheads="1"/>
          </p:cNvSpPr>
          <p:nvPr/>
        </p:nvSpPr>
        <p:spPr bwMode="auto">
          <a:xfrm>
            <a:off x="4922787" y="1341909"/>
            <a:ext cx="4022776" cy="1222995"/>
          </a:xfrm>
          <a:prstGeom prst="rect">
            <a:avLst/>
          </a:prstGeom>
          <a:noFill/>
          <a:ln w="9525">
            <a:solidFill>
              <a:srgbClr val="7889FB"/>
            </a:solidFill>
            <a:miter lim="800000"/>
          </a:ln>
        </p:spPr>
        <p:txBody>
          <a:bodyPr/>
          <a:lstStyle/>
          <a:p>
            <a:pPr marL="0" marR="0" lvl="0" indent="0" defTabSz="914400" eaLnBrk="0" fontAlgn="auto" latinLnBrk="0" hangingPunct="0">
              <a:lnSpc>
                <a:spcPct val="100000"/>
              </a:lnSpc>
              <a:spcBef>
                <a:spcPct val="20000"/>
              </a:spcBef>
              <a:spcAft>
                <a:spcPts val="0"/>
              </a:spcAft>
              <a:buClr>
                <a:srgbClr val="000000"/>
              </a:buClr>
              <a:buSzTx/>
              <a:buFontTx/>
              <a:buNone/>
              <a:defRPr/>
            </a:pPr>
            <a:endParaRPr kumimoji="0" lang="en-US" altLang="zh-CN"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ts val="1300"/>
              </a:lnSpc>
              <a:spcBef>
                <a:spcPct val="20000"/>
              </a:spcBef>
              <a:spcAft>
                <a:spcPts val="0"/>
              </a:spcAft>
              <a:buClr>
                <a:srgbClr val="000000"/>
              </a:buClr>
              <a:buSzTx/>
              <a:buFontTx/>
              <a:buNone/>
              <a:defRPr/>
            </a:pPr>
            <a:r>
              <a:rPr lang="zh-CN" altLang="en-US" sz="1200" kern="0" dirty="0">
                <a:solidFill>
                  <a:srgbClr val="000000"/>
                </a:solidFill>
                <a:latin typeface="微软雅黑" panose="020B0503020204020204" charset="-122"/>
                <a:ea typeface="微软雅黑" panose="020B0503020204020204" charset="-122"/>
              </a:rPr>
              <a:t>x</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                               </a:t>
            </a: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x</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顾问：张启瑞</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1450" marR="0" lvl="0" indent="-171450" defTabSz="914400" eaLnBrk="0" fontAlgn="auto" latinLnBrk="0" hangingPunct="0">
              <a:lnSpc>
                <a:spcPts val="1300"/>
              </a:lnSpc>
              <a:spcBef>
                <a:spcPct val="20000"/>
              </a:spcBef>
              <a:spcAft>
                <a:spcPts val="0"/>
              </a:spcAft>
              <a:buClr>
                <a:srgbClr val="000000"/>
              </a:buClr>
              <a:buSzTx/>
              <a:buFont typeface="Arial" panose="020B0604020202020204" pitchFamily="34" charset="0"/>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责任领导：</a:t>
            </a:r>
            <a:r>
              <a:rPr lang="zh-CN" altLang="en-US" sz="1200" kern="0" dirty="0">
                <a:solidFill>
                  <a:srgbClr val="000000"/>
                </a:solidFill>
                <a:latin typeface="微软雅黑" panose="020B0503020204020204" charset="-122"/>
                <a:ea typeface="微软雅黑" panose="020B0503020204020204" charset="-122"/>
              </a:rPr>
              <a:t>柳洪文</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             </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1450" marR="0" lvl="0" indent="-171450" defTabSz="914400" eaLnBrk="0" fontAlgn="auto" latinLnBrk="0" hangingPunct="0">
              <a:lnSpc>
                <a:spcPts val="1300"/>
              </a:lnSpc>
              <a:spcBef>
                <a:spcPct val="20000"/>
              </a:spcBef>
              <a:spcAft>
                <a:spcPts val="0"/>
              </a:spcAft>
              <a:buClr>
                <a:srgbClr val="000000"/>
              </a:buClr>
              <a:buSzTx/>
              <a:buFont typeface="Arial" panose="020B0604020202020204" pitchFamily="34" charset="0"/>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责任人：</a:t>
            </a:r>
            <a:r>
              <a:rPr lang="zh-CN" altLang="en-US" sz="1200" kern="0" dirty="0">
                <a:solidFill>
                  <a:srgbClr val="000000"/>
                </a:solidFill>
                <a:latin typeface="微软雅黑" panose="020B0503020204020204" charset="-122"/>
                <a:ea typeface="微软雅黑" panose="020B0503020204020204" charset="-122"/>
              </a:rPr>
              <a:t>吕超荣</a:t>
            </a:r>
            <a:r>
              <a:rPr lang="en-US" altLang="zh-CN" sz="1200" kern="0" dirty="0">
                <a:solidFill>
                  <a:srgbClr val="000000"/>
                </a:solidFill>
                <a:latin typeface="微软雅黑" panose="020B0503020204020204" charset="-122"/>
                <a:ea typeface="微软雅黑" panose="020B0503020204020204" charset="-122"/>
              </a:rPr>
              <a:t>/</a:t>
            </a:r>
            <a:r>
              <a:rPr lang="zh-CN" altLang="en-US" sz="1200" kern="0" dirty="0">
                <a:solidFill>
                  <a:srgbClr val="000000"/>
                </a:solidFill>
                <a:latin typeface="微软雅黑" panose="020B0503020204020204" charset="-122"/>
                <a:ea typeface="微软雅黑" panose="020B0503020204020204" charset="-122"/>
              </a:rPr>
              <a:t>单夫球</a:t>
            </a:r>
            <a:r>
              <a:rPr lang="en-US" altLang="zh-CN" sz="1200" kern="0" dirty="0">
                <a:solidFill>
                  <a:srgbClr val="000000"/>
                </a:solidFill>
                <a:latin typeface="微软雅黑" panose="020B0503020204020204" charset="-122"/>
                <a:ea typeface="微软雅黑" panose="020B0503020204020204" charset="-122"/>
              </a:rPr>
              <a:t>/</a:t>
            </a:r>
            <a:r>
              <a:rPr lang="zh-CN" altLang="en-US" sz="1200" kern="0" dirty="0">
                <a:solidFill>
                  <a:srgbClr val="000000"/>
                </a:solidFill>
                <a:latin typeface="微软雅黑" panose="020B0503020204020204" charset="-122"/>
                <a:ea typeface="微软雅黑" panose="020B0503020204020204" charset="-122"/>
              </a:rPr>
              <a:t>程丽</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1450" marR="0" lvl="0" indent="-171450" defTabSz="914400" eaLnBrk="0" fontAlgn="auto" latinLnBrk="0" hangingPunct="0">
              <a:lnSpc>
                <a:spcPts val="1300"/>
              </a:lnSpc>
              <a:spcBef>
                <a:spcPct val="20000"/>
              </a:spcBef>
              <a:spcAft>
                <a:spcPts val="0"/>
              </a:spcAft>
              <a:buClr>
                <a:srgbClr val="000000"/>
              </a:buClr>
              <a:buSzTx/>
              <a:buFont typeface="Arial" panose="020B0604020202020204" pitchFamily="34" charset="0"/>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联络人：邓艳林</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3355" marR="0" lvl="0" indent="-173355" defTabSz="914400" eaLnBrk="0" fontAlgn="auto" latinLnBrk="0" hangingPunct="0">
              <a:lnSpc>
                <a:spcPts val="1300"/>
              </a:lnSpc>
              <a:spcBef>
                <a:spcPct val="20000"/>
              </a:spcBef>
              <a:spcAft>
                <a:spcPts val="0"/>
              </a:spcAft>
              <a:buClr>
                <a:srgbClr val="000000"/>
              </a:buClr>
              <a:buSzTx/>
              <a:buFont typeface="Arial" panose="020B0604020202020204" pitchFamily="34" charset="0"/>
              <a:buChar char="•"/>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BPIT</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r>
              <a:rPr lang="zh-CN" altLang="en-US" sz="1200" kern="0" dirty="0">
                <a:solidFill>
                  <a:srgbClr val="000000"/>
                </a:solidFill>
                <a:latin typeface="微软雅黑" panose="020B0503020204020204" charset="-122"/>
                <a:ea typeface="微软雅黑" panose="020B0503020204020204" charset="-122"/>
              </a:rPr>
              <a:t>李成</a:t>
            </a: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a:t>
            </a:r>
            <a:r>
              <a:rPr lang="zh-CN" altLang="en-US" sz="1200" kern="0" dirty="0">
                <a:solidFill>
                  <a:srgbClr val="000000"/>
                </a:solidFill>
                <a:latin typeface="微软雅黑" panose="020B0503020204020204" charset="-122"/>
                <a:ea typeface="微软雅黑" panose="020B0503020204020204" charset="-122"/>
              </a:rPr>
              <a:t>谢林</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77" name="矩形 81"/>
          <p:cNvSpPr>
            <a:spLocks noChangeArrowheads="1"/>
          </p:cNvSpPr>
          <p:nvPr/>
        </p:nvSpPr>
        <p:spPr bwMode="auto">
          <a:xfrm>
            <a:off x="285750" y="5572125"/>
            <a:ext cx="357188" cy="928688"/>
          </a:xfrm>
          <a:prstGeom prst="rect">
            <a:avLst/>
          </a:prstGeom>
          <a:solidFill>
            <a:srgbClr val="7889FB"/>
          </a:solidFill>
          <a:ln w="6350">
            <a:solidFill>
              <a:srgbClr val="7889FB"/>
            </a:solidFill>
            <a:miter lim="800000"/>
          </a:ln>
        </p:spPr>
        <p:txBody>
          <a:bodyPr anchor="ctr"/>
          <a:lstStyle/>
          <a:p>
            <a:pPr marL="0" marR="0" lvl="0" indent="0"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收益</a:t>
            </a:r>
          </a:p>
        </p:txBody>
      </p:sp>
      <p:sp>
        <p:nvSpPr>
          <p:cNvPr id="78" name="矩形 82"/>
          <p:cNvSpPr>
            <a:spLocks noChangeArrowheads="1"/>
          </p:cNvSpPr>
          <p:nvPr/>
        </p:nvSpPr>
        <p:spPr bwMode="auto">
          <a:xfrm>
            <a:off x="331515" y="1196752"/>
            <a:ext cx="1000125"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目标</a:t>
            </a:r>
          </a:p>
        </p:txBody>
      </p:sp>
      <p:sp>
        <p:nvSpPr>
          <p:cNvPr id="80" name="矩形 83"/>
          <p:cNvSpPr>
            <a:spLocks noChangeArrowheads="1"/>
          </p:cNvSpPr>
          <p:nvPr/>
        </p:nvSpPr>
        <p:spPr bwMode="auto">
          <a:xfrm>
            <a:off x="4922787" y="1199034"/>
            <a:ext cx="1000125"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负责人</a:t>
            </a:r>
          </a:p>
        </p:txBody>
      </p:sp>
      <p:sp>
        <p:nvSpPr>
          <p:cNvPr id="81" name="矩形 84"/>
          <p:cNvSpPr>
            <a:spLocks noChangeArrowheads="1"/>
          </p:cNvSpPr>
          <p:nvPr/>
        </p:nvSpPr>
        <p:spPr bwMode="auto">
          <a:xfrm>
            <a:off x="323850" y="2787774"/>
            <a:ext cx="8621713"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关键要点</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D. </a:t>
            </a:r>
            <a:r>
              <a:rPr lang="zh-CN" altLang="en-US" dirty="0"/>
              <a:t>生产执行与物流先进实践：先进企业实现智能制造的四大目标</a:t>
            </a:r>
          </a:p>
        </p:txBody>
      </p:sp>
      <p:sp>
        <p:nvSpPr>
          <p:cNvPr id="13" name="AutoShape 3"/>
          <p:cNvSpPr>
            <a:spLocks noChangeAspect="1" noChangeArrowheads="1" noTextEdit="1"/>
          </p:cNvSpPr>
          <p:nvPr/>
        </p:nvSpPr>
        <p:spPr bwMode="auto">
          <a:xfrm>
            <a:off x="250825" y="1273748"/>
            <a:ext cx="4102100" cy="4792663"/>
          </a:xfrm>
          <a:prstGeom prst="rect">
            <a:avLst/>
          </a:prstGeom>
          <a:noFill/>
          <a:ln w="9525">
            <a:noFill/>
            <a:miter lim="800000"/>
          </a:ln>
        </p:spPr>
        <p:txBody>
          <a:bodyPr vert="horz" wrap="square" lIns="91440" tIns="45720" rIns="91440" bIns="45720" numCol="1" anchor="t" anchorCtr="0" compatLnSpc="1"/>
          <a:lstStyle/>
          <a:p>
            <a:endParaRPr lang="zh-CN" altLang="en-US"/>
          </a:p>
        </p:txBody>
      </p:sp>
      <p:sp>
        <p:nvSpPr>
          <p:cNvPr id="14" name="Rectangle 5"/>
          <p:cNvSpPr>
            <a:spLocks noChangeArrowheads="1"/>
          </p:cNvSpPr>
          <p:nvPr/>
        </p:nvSpPr>
        <p:spPr bwMode="auto">
          <a:xfrm>
            <a:off x="817560" y="5214951"/>
            <a:ext cx="3305175" cy="571504"/>
          </a:xfrm>
          <a:prstGeom prst="rect">
            <a:avLst/>
          </a:prstGeom>
          <a:solidFill>
            <a:srgbClr val="D6D6D6"/>
          </a:solidFill>
          <a:ln w="9525">
            <a:noFill/>
            <a:miter lim="800000"/>
          </a:ln>
        </p:spPr>
        <p:txBody>
          <a:bodyPr vert="horz" wrap="square" lIns="91440" tIns="45720" rIns="91440" bIns="45720" numCol="1" anchor="t" anchorCtr="0" compatLnSpc="1"/>
          <a:lstStyle/>
          <a:p>
            <a:endParaRPr lang="zh-CN" altLang="en-US"/>
          </a:p>
        </p:txBody>
      </p:sp>
      <p:sp>
        <p:nvSpPr>
          <p:cNvPr id="15" name="Rectangle 6"/>
          <p:cNvSpPr>
            <a:spLocks noChangeArrowheads="1"/>
          </p:cNvSpPr>
          <p:nvPr/>
        </p:nvSpPr>
        <p:spPr bwMode="auto">
          <a:xfrm>
            <a:off x="1176335" y="4937703"/>
            <a:ext cx="276225" cy="250825"/>
          </a:xfrm>
          <a:prstGeom prst="rect">
            <a:avLst/>
          </a:prstGeom>
          <a:solidFill>
            <a:srgbClr val="D6D6D6"/>
          </a:solidFill>
          <a:ln w="9525">
            <a:noFill/>
            <a:miter lim="800000"/>
          </a:ln>
        </p:spPr>
        <p:txBody>
          <a:bodyPr vert="horz" wrap="square" lIns="91440" tIns="45720" rIns="91440" bIns="45720" numCol="1" anchor="t" anchorCtr="0" compatLnSpc="1"/>
          <a:lstStyle/>
          <a:p>
            <a:endParaRPr lang="zh-CN" altLang="en-US"/>
          </a:p>
        </p:txBody>
      </p:sp>
      <p:sp>
        <p:nvSpPr>
          <p:cNvPr id="16" name="Rectangle 7"/>
          <p:cNvSpPr>
            <a:spLocks noChangeArrowheads="1"/>
          </p:cNvSpPr>
          <p:nvPr/>
        </p:nvSpPr>
        <p:spPr bwMode="auto">
          <a:xfrm>
            <a:off x="1839910" y="4937703"/>
            <a:ext cx="276225" cy="250825"/>
          </a:xfrm>
          <a:prstGeom prst="rect">
            <a:avLst/>
          </a:prstGeom>
          <a:solidFill>
            <a:srgbClr val="D6D6D6"/>
          </a:solidFill>
          <a:ln w="9525">
            <a:noFill/>
            <a:miter lim="800000"/>
          </a:ln>
        </p:spPr>
        <p:txBody>
          <a:bodyPr vert="horz" wrap="square" lIns="91440" tIns="45720" rIns="91440" bIns="45720" numCol="1" anchor="t" anchorCtr="0" compatLnSpc="1"/>
          <a:lstStyle/>
          <a:p>
            <a:endParaRPr lang="zh-CN" altLang="en-US"/>
          </a:p>
        </p:txBody>
      </p:sp>
      <p:sp>
        <p:nvSpPr>
          <p:cNvPr id="17" name="Rectangle 8"/>
          <p:cNvSpPr>
            <a:spLocks noChangeArrowheads="1"/>
          </p:cNvSpPr>
          <p:nvPr/>
        </p:nvSpPr>
        <p:spPr bwMode="auto">
          <a:xfrm>
            <a:off x="2489197" y="4937703"/>
            <a:ext cx="282575" cy="250825"/>
          </a:xfrm>
          <a:prstGeom prst="rect">
            <a:avLst/>
          </a:prstGeom>
          <a:solidFill>
            <a:srgbClr val="D6D6D6"/>
          </a:solidFill>
          <a:ln w="9525">
            <a:noFill/>
            <a:miter lim="800000"/>
          </a:ln>
        </p:spPr>
        <p:txBody>
          <a:bodyPr vert="horz" wrap="square" lIns="91440" tIns="45720" rIns="91440" bIns="45720" numCol="1" anchor="t" anchorCtr="0" compatLnSpc="1"/>
          <a:lstStyle/>
          <a:p>
            <a:endParaRPr lang="zh-CN" altLang="en-US"/>
          </a:p>
        </p:txBody>
      </p:sp>
      <p:sp>
        <p:nvSpPr>
          <p:cNvPr id="18" name="Rectangle 9"/>
          <p:cNvSpPr>
            <a:spLocks noChangeArrowheads="1"/>
          </p:cNvSpPr>
          <p:nvPr/>
        </p:nvSpPr>
        <p:spPr bwMode="auto">
          <a:xfrm>
            <a:off x="3152772" y="4937703"/>
            <a:ext cx="268288" cy="250825"/>
          </a:xfrm>
          <a:prstGeom prst="rect">
            <a:avLst/>
          </a:prstGeom>
          <a:solidFill>
            <a:srgbClr val="D6D6D6"/>
          </a:solidFill>
          <a:ln w="9525">
            <a:noFill/>
            <a:miter lim="800000"/>
          </a:ln>
        </p:spPr>
        <p:txBody>
          <a:bodyPr vert="horz" wrap="square" lIns="91440" tIns="45720" rIns="91440" bIns="45720" numCol="1" anchor="t" anchorCtr="0" compatLnSpc="1"/>
          <a:lstStyle/>
          <a:p>
            <a:endParaRPr lang="zh-CN" altLang="en-US"/>
          </a:p>
        </p:txBody>
      </p:sp>
      <p:sp>
        <p:nvSpPr>
          <p:cNvPr id="19" name="Rectangle 10"/>
          <p:cNvSpPr>
            <a:spLocks noChangeArrowheads="1"/>
          </p:cNvSpPr>
          <p:nvPr/>
        </p:nvSpPr>
        <p:spPr bwMode="auto">
          <a:xfrm>
            <a:off x="3808410" y="4937703"/>
            <a:ext cx="314325" cy="250825"/>
          </a:xfrm>
          <a:prstGeom prst="rect">
            <a:avLst/>
          </a:prstGeom>
          <a:solidFill>
            <a:srgbClr val="D6D6D6"/>
          </a:solidFill>
          <a:ln w="9525">
            <a:noFill/>
            <a:miter lim="800000"/>
          </a:ln>
        </p:spPr>
        <p:txBody>
          <a:bodyPr vert="horz" wrap="square" lIns="91440" tIns="45720" rIns="91440" bIns="45720" numCol="1" anchor="t" anchorCtr="0" compatLnSpc="1"/>
          <a:lstStyle/>
          <a:p>
            <a:endParaRPr lang="zh-CN" altLang="en-US"/>
          </a:p>
        </p:txBody>
      </p:sp>
      <p:sp>
        <p:nvSpPr>
          <p:cNvPr id="20" name="Rectangle 11"/>
          <p:cNvSpPr>
            <a:spLocks noChangeArrowheads="1"/>
          </p:cNvSpPr>
          <p:nvPr/>
        </p:nvSpPr>
        <p:spPr bwMode="auto">
          <a:xfrm>
            <a:off x="811210" y="2609875"/>
            <a:ext cx="3303588" cy="2237342"/>
          </a:xfrm>
          <a:prstGeom prst="rect">
            <a:avLst/>
          </a:prstGeom>
          <a:solidFill>
            <a:srgbClr val="C7CDFD"/>
          </a:solidFill>
          <a:ln w="9525">
            <a:noFill/>
            <a:miter lim="800000"/>
          </a:ln>
        </p:spPr>
        <p:txBody>
          <a:bodyPr vert="horz" wrap="square" lIns="91440" tIns="45720" rIns="91440" bIns="45720" numCol="1" anchor="t" anchorCtr="0" compatLnSpc="1"/>
          <a:lstStyle/>
          <a:p>
            <a:endParaRPr lang="zh-CN" altLang="en-US"/>
          </a:p>
        </p:txBody>
      </p:sp>
      <p:sp>
        <p:nvSpPr>
          <p:cNvPr id="21" name="Rectangle 12"/>
          <p:cNvSpPr>
            <a:spLocks noChangeArrowheads="1"/>
          </p:cNvSpPr>
          <p:nvPr/>
        </p:nvSpPr>
        <p:spPr bwMode="auto">
          <a:xfrm>
            <a:off x="811210" y="4847216"/>
            <a:ext cx="334963" cy="284163"/>
          </a:xfrm>
          <a:prstGeom prst="rect">
            <a:avLst/>
          </a:prstGeom>
          <a:solidFill>
            <a:srgbClr val="C7CDFD"/>
          </a:solidFill>
          <a:ln w="9525">
            <a:noFill/>
            <a:miter lim="800000"/>
          </a:ln>
        </p:spPr>
        <p:txBody>
          <a:bodyPr vert="horz" wrap="square" lIns="91440" tIns="45720" rIns="91440" bIns="45720" numCol="1" anchor="t" anchorCtr="0" compatLnSpc="1"/>
          <a:lstStyle/>
          <a:p>
            <a:endParaRPr lang="zh-CN" altLang="en-US"/>
          </a:p>
        </p:txBody>
      </p:sp>
      <p:sp>
        <p:nvSpPr>
          <p:cNvPr id="22" name="Rectangle 13"/>
          <p:cNvSpPr>
            <a:spLocks noChangeArrowheads="1"/>
          </p:cNvSpPr>
          <p:nvPr/>
        </p:nvSpPr>
        <p:spPr bwMode="auto">
          <a:xfrm>
            <a:off x="1474785" y="4847216"/>
            <a:ext cx="327025" cy="284163"/>
          </a:xfrm>
          <a:prstGeom prst="rect">
            <a:avLst/>
          </a:prstGeom>
          <a:solidFill>
            <a:srgbClr val="C7CDFD"/>
          </a:solidFill>
          <a:ln w="9525">
            <a:noFill/>
            <a:miter lim="800000"/>
          </a:ln>
        </p:spPr>
        <p:txBody>
          <a:bodyPr vert="horz" wrap="square" lIns="91440" tIns="45720" rIns="91440" bIns="45720" numCol="1" anchor="t" anchorCtr="0" compatLnSpc="1"/>
          <a:lstStyle/>
          <a:p>
            <a:endParaRPr lang="zh-CN" altLang="en-US"/>
          </a:p>
        </p:txBody>
      </p:sp>
      <p:sp>
        <p:nvSpPr>
          <p:cNvPr id="23" name="Rectangle 14"/>
          <p:cNvSpPr>
            <a:spLocks noChangeArrowheads="1"/>
          </p:cNvSpPr>
          <p:nvPr/>
        </p:nvSpPr>
        <p:spPr bwMode="auto">
          <a:xfrm>
            <a:off x="2138360" y="4847216"/>
            <a:ext cx="328613" cy="284163"/>
          </a:xfrm>
          <a:prstGeom prst="rect">
            <a:avLst/>
          </a:prstGeom>
          <a:solidFill>
            <a:srgbClr val="C7CDFD"/>
          </a:solidFill>
          <a:ln w="9525">
            <a:noFill/>
            <a:miter lim="800000"/>
          </a:ln>
        </p:spPr>
        <p:txBody>
          <a:bodyPr vert="horz" wrap="square" lIns="91440" tIns="45720" rIns="91440" bIns="45720" numCol="1" anchor="t" anchorCtr="0" compatLnSpc="1"/>
          <a:lstStyle/>
          <a:p>
            <a:endParaRPr lang="zh-CN" altLang="en-US"/>
          </a:p>
        </p:txBody>
      </p:sp>
      <p:sp>
        <p:nvSpPr>
          <p:cNvPr id="24" name="Rectangle 15"/>
          <p:cNvSpPr>
            <a:spLocks noChangeArrowheads="1"/>
          </p:cNvSpPr>
          <p:nvPr/>
        </p:nvSpPr>
        <p:spPr bwMode="auto">
          <a:xfrm>
            <a:off x="2793997" y="4847216"/>
            <a:ext cx="328613" cy="284163"/>
          </a:xfrm>
          <a:prstGeom prst="rect">
            <a:avLst/>
          </a:prstGeom>
          <a:solidFill>
            <a:srgbClr val="C7CDFD"/>
          </a:solidFill>
          <a:ln w="9525">
            <a:noFill/>
            <a:miter lim="800000"/>
          </a:ln>
        </p:spPr>
        <p:txBody>
          <a:bodyPr vert="horz" wrap="square" lIns="91440" tIns="45720" rIns="91440" bIns="45720" numCol="1" anchor="t" anchorCtr="0" compatLnSpc="1"/>
          <a:lstStyle/>
          <a:p>
            <a:endParaRPr lang="zh-CN" altLang="en-US"/>
          </a:p>
        </p:txBody>
      </p:sp>
      <p:sp>
        <p:nvSpPr>
          <p:cNvPr id="25" name="Rectangle 16"/>
          <p:cNvSpPr>
            <a:spLocks noChangeArrowheads="1"/>
          </p:cNvSpPr>
          <p:nvPr/>
        </p:nvSpPr>
        <p:spPr bwMode="auto">
          <a:xfrm>
            <a:off x="3457572" y="4847216"/>
            <a:ext cx="328613" cy="284163"/>
          </a:xfrm>
          <a:prstGeom prst="rect">
            <a:avLst/>
          </a:prstGeom>
          <a:solidFill>
            <a:srgbClr val="C7CDFD"/>
          </a:solidFill>
          <a:ln w="9525">
            <a:noFill/>
            <a:miter lim="800000"/>
          </a:ln>
        </p:spPr>
        <p:txBody>
          <a:bodyPr vert="horz" wrap="square" lIns="91440" tIns="45720" rIns="91440" bIns="45720" numCol="1" anchor="t" anchorCtr="0" compatLnSpc="1"/>
          <a:lstStyle/>
          <a:p>
            <a:endParaRPr lang="zh-CN" altLang="en-US"/>
          </a:p>
        </p:txBody>
      </p:sp>
      <p:sp>
        <p:nvSpPr>
          <p:cNvPr id="26" name="Rectangle 17"/>
          <p:cNvSpPr>
            <a:spLocks noChangeArrowheads="1"/>
          </p:cNvSpPr>
          <p:nvPr/>
        </p:nvSpPr>
        <p:spPr bwMode="auto">
          <a:xfrm>
            <a:off x="1870054" y="3701041"/>
            <a:ext cx="1222375" cy="400050"/>
          </a:xfrm>
          <a:prstGeom prst="rect">
            <a:avLst/>
          </a:prstGeom>
          <a:solidFill>
            <a:srgbClr val="FFFFFF"/>
          </a:solidFill>
          <a:ln w="9525">
            <a:noFill/>
            <a:miter lim="800000"/>
          </a:ln>
        </p:spPr>
        <p:txBody>
          <a:bodyPr vert="horz" wrap="square" lIns="91440" tIns="45720" rIns="91440" bIns="45720" numCol="1" anchor="t" anchorCtr="0" compatLnSpc="1"/>
          <a:lstStyle/>
          <a:p>
            <a:endParaRPr lang="zh-CN" altLang="en-US"/>
          </a:p>
        </p:txBody>
      </p:sp>
      <p:sp>
        <p:nvSpPr>
          <p:cNvPr id="27" name="Rectangle 18"/>
          <p:cNvSpPr>
            <a:spLocks noChangeArrowheads="1"/>
          </p:cNvSpPr>
          <p:nvPr/>
        </p:nvSpPr>
        <p:spPr bwMode="auto">
          <a:xfrm>
            <a:off x="2246291" y="3751841"/>
            <a:ext cx="378309"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i="0" u="none" strike="noStrike" cap="none" normalizeH="0" baseline="0" dirty="0">
                <a:ln>
                  <a:noFill/>
                </a:ln>
                <a:solidFill>
                  <a:srgbClr val="000000"/>
                </a:solidFill>
                <a:effectLst/>
                <a:latin typeface="微软雅黑" panose="020B0503020204020204" charset="-122"/>
                <a:ea typeface="微软雅黑" panose="020B0503020204020204" charset="-122"/>
                <a:cs typeface="宋体" panose="02010600030101010101" pitchFamily="2" charset="-122"/>
              </a:rPr>
              <a:t>MES</a:t>
            </a:r>
            <a:endParaRPr kumimoji="0" lang="en-US" altLang="zh-CN" sz="1400" i="0" u="none" strike="noStrike" cap="none" normalizeH="0" baseline="0" dirty="0">
              <a:ln>
                <a:noFill/>
              </a:ln>
              <a:solidFill>
                <a:srgbClr val="000000"/>
              </a:solidFill>
              <a:effectLst/>
              <a:latin typeface="微软雅黑" panose="020B0503020204020204" charset="-122"/>
              <a:ea typeface="微软雅黑" panose="020B0503020204020204" charset="-122"/>
              <a:cs typeface="宋体" panose="02010600030101010101" pitchFamily="2" charset="-122"/>
            </a:endParaRPr>
          </a:p>
        </p:txBody>
      </p:sp>
      <p:sp>
        <p:nvSpPr>
          <p:cNvPr id="29" name="Rectangle 21"/>
          <p:cNvSpPr>
            <a:spLocks noChangeArrowheads="1"/>
          </p:cNvSpPr>
          <p:nvPr/>
        </p:nvSpPr>
        <p:spPr bwMode="auto">
          <a:xfrm>
            <a:off x="941360" y="5110204"/>
            <a:ext cx="615553" cy="184666"/>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现场物理</a:t>
            </a:r>
            <a:endParaRPr kumimoji="0" 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1" name="Rectangle 25"/>
          <p:cNvSpPr>
            <a:spLocks noChangeArrowheads="1"/>
          </p:cNvSpPr>
          <p:nvPr/>
        </p:nvSpPr>
        <p:spPr bwMode="auto">
          <a:xfrm>
            <a:off x="886299" y="4068282"/>
            <a:ext cx="615553" cy="184666"/>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业务现场</a:t>
            </a:r>
            <a:endParaRPr kumimoji="0" 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2" name="Rectangle 27"/>
          <p:cNvSpPr>
            <a:spLocks noChangeArrowheads="1"/>
          </p:cNvSpPr>
          <p:nvPr/>
        </p:nvSpPr>
        <p:spPr bwMode="auto">
          <a:xfrm>
            <a:off x="869922" y="3071810"/>
            <a:ext cx="615553" cy="184666"/>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集成运营</a:t>
            </a:r>
            <a:endParaRPr kumimoji="0" 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4" name="Freeform 29"/>
          <p:cNvSpPr/>
          <p:nvPr/>
        </p:nvSpPr>
        <p:spPr bwMode="auto">
          <a:xfrm>
            <a:off x="781047" y="1609742"/>
            <a:ext cx="3433763" cy="4319588"/>
          </a:xfrm>
          <a:custGeom>
            <a:avLst/>
            <a:gdLst/>
            <a:ahLst/>
            <a:cxnLst>
              <a:cxn ang="0">
                <a:pos x="48" y="0"/>
              </a:cxn>
              <a:cxn ang="0">
                <a:pos x="48" y="6032"/>
              </a:cxn>
              <a:cxn ang="0">
                <a:pos x="24" y="6008"/>
              </a:cxn>
              <a:cxn ang="0">
                <a:pos x="7368" y="6008"/>
              </a:cxn>
              <a:cxn ang="0">
                <a:pos x="7368" y="6056"/>
              </a:cxn>
              <a:cxn ang="0">
                <a:pos x="24" y="6056"/>
              </a:cxn>
              <a:cxn ang="0">
                <a:pos x="0" y="6032"/>
              </a:cxn>
              <a:cxn ang="0">
                <a:pos x="0" y="0"/>
              </a:cxn>
              <a:cxn ang="0">
                <a:pos x="48" y="0"/>
              </a:cxn>
            </a:cxnLst>
            <a:rect l="0" t="0" r="r" b="b"/>
            <a:pathLst>
              <a:path w="7368" h="6056">
                <a:moveTo>
                  <a:pt x="48" y="0"/>
                </a:moveTo>
                <a:lnTo>
                  <a:pt x="48" y="6032"/>
                </a:lnTo>
                <a:lnTo>
                  <a:pt x="24" y="6008"/>
                </a:lnTo>
                <a:lnTo>
                  <a:pt x="7368" y="6008"/>
                </a:lnTo>
                <a:lnTo>
                  <a:pt x="7368" y="6056"/>
                </a:lnTo>
                <a:lnTo>
                  <a:pt x="24" y="6056"/>
                </a:lnTo>
                <a:cubicBezTo>
                  <a:pt x="11" y="6056"/>
                  <a:pt x="0" y="6046"/>
                  <a:pt x="0" y="6032"/>
                </a:cubicBezTo>
                <a:lnTo>
                  <a:pt x="0" y="0"/>
                </a:lnTo>
                <a:lnTo>
                  <a:pt x="48" y="0"/>
                </a:ln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36" name="Freeform 31"/>
          <p:cNvSpPr>
            <a:spLocks noEditPoints="1"/>
          </p:cNvSpPr>
          <p:nvPr/>
        </p:nvSpPr>
        <p:spPr bwMode="auto">
          <a:xfrm>
            <a:off x="255585" y="3580391"/>
            <a:ext cx="3844925" cy="11113"/>
          </a:xfrm>
          <a:custGeom>
            <a:avLst/>
            <a:gdLst/>
            <a:ahLst/>
            <a:cxnLst>
              <a:cxn ang="0">
                <a:pos x="33" y="0"/>
              </a:cxn>
              <a:cxn ang="0">
                <a:pos x="84" y="0"/>
              </a:cxn>
              <a:cxn ang="0">
                <a:pos x="117" y="7"/>
              </a:cxn>
              <a:cxn ang="0">
                <a:pos x="131" y="7"/>
              </a:cxn>
              <a:cxn ang="0">
                <a:pos x="164" y="0"/>
              </a:cxn>
              <a:cxn ang="0">
                <a:pos x="230" y="0"/>
              </a:cxn>
              <a:cxn ang="0">
                <a:pos x="282" y="0"/>
              </a:cxn>
              <a:cxn ang="0">
                <a:pos x="315" y="7"/>
              </a:cxn>
              <a:cxn ang="0">
                <a:pos x="329" y="7"/>
              </a:cxn>
              <a:cxn ang="0">
                <a:pos x="362" y="0"/>
              </a:cxn>
              <a:cxn ang="0">
                <a:pos x="428" y="0"/>
              </a:cxn>
              <a:cxn ang="0">
                <a:pos x="479" y="0"/>
              </a:cxn>
              <a:cxn ang="0">
                <a:pos x="512" y="7"/>
              </a:cxn>
              <a:cxn ang="0">
                <a:pos x="526" y="7"/>
              </a:cxn>
              <a:cxn ang="0">
                <a:pos x="559" y="0"/>
              </a:cxn>
              <a:cxn ang="0">
                <a:pos x="625" y="0"/>
              </a:cxn>
              <a:cxn ang="0">
                <a:pos x="677" y="0"/>
              </a:cxn>
              <a:cxn ang="0">
                <a:pos x="710" y="7"/>
              </a:cxn>
              <a:cxn ang="0">
                <a:pos x="724" y="7"/>
              </a:cxn>
              <a:cxn ang="0">
                <a:pos x="757" y="0"/>
              </a:cxn>
              <a:cxn ang="0">
                <a:pos x="823" y="0"/>
              </a:cxn>
              <a:cxn ang="0">
                <a:pos x="874" y="0"/>
              </a:cxn>
              <a:cxn ang="0">
                <a:pos x="907" y="7"/>
              </a:cxn>
              <a:cxn ang="0">
                <a:pos x="922" y="7"/>
              </a:cxn>
              <a:cxn ang="0">
                <a:pos x="954" y="0"/>
              </a:cxn>
              <a:cxn ang="0">
                <a:pos x="1020" y="0"/>
              </a:cxn>
              <a:cxn ang="0">
                <a:pos x="1072" y="0"/>
              </a:cxn>
              <a:cxn ang="0">
                <a:pos x="1105" y="7"/>
              </a:cxn>
              <a:cxn ang="0">
                <a:pos x="1119" y="7"/>
              </a:cxn>
              <a:cxn ang="0">
                <a:pos x="1152" y="0"/>
              </a:cxn>
              <a:cxn ang="0">
                <a:pos x="1218" y="0"/>
              </a:cxn>
              <a:cxn ang="0">
                <a:pos x="1270" y="0"/>
              </a:cxn>
              <a:cxn ang="0">
                <a:pos x="1302" y="7"/>
              </a:cxn>
              <a:cxn ang="0">
                <a:pos x="1316" y="7"/>
              </a:cxn>
              <a:cxn ang="0">
                <a:pos x="1349" y="0"/>
              </a:cxn>
              <a:cxn ang="0">
                <a:pos x="1415" y="0"/>
              </a:cxn>
              <a:cxn ang="0">
                <a:pos x="1467" y="0"/>
              </a:cxn>
              <a:cxn ang="0">
                <a:pos x="1500" y="7"/>
              </a:cxn>
              <a:cxn ang="0">
                <a:pos x="1514" y="7"/>
              </a:cxn>
              <a:cxn ang="0">
                <a:pos x="1547" y="0"/>
              </a:cxn>
              <a:cxn ang="0">
                <a:pos x="1613" y="0"/>
              </a:cxn>
              <a:cxn ang="0">
                <a:pos x="1664" y="0"/>
              </a:cxn>
              <a:cxn ang="0">
                <a:pos x="1697" y="7"/>
              </a:cxn>
              <a:cxn ang="0">
                <a:pos x="1711" y="7"/>
              </a:cxn>
              <a:cxn ang="0">
                <a:pos x="1744" y="0"/>
              </a:cxn>
              <a:cxn ang="0">
                <a:pos x="1810" y="0"/>
              </a:cxn>
              <a:cxn ang="0">
                <a:pos x="1862" y="0"/>
              </a:cxn>
              <a:cxn ang="0">
                <a:pos x="1895" y="7"/>
              </a:cxn>
              <a:cxn ang="0">
                <a:pos x="1909" y="7"/>
              </a:cxn>
              <a:cxn ang="0">
                <a:pos x="1942" y="0"/>
              </a:cxn>
              <a:cxn ang="0">
                <a:pos x="2008" y="0"/>
              </a:cxn>
              <a:cxn ang="0">
                <a:pos x="2059" y="0"/>
              </a:cxn>
              <a:cxn ang="0">
                <a:pos x="2093" y="7"/>
              </a:cxn>
              <a:cxn ang="0">
                <a:pos x="2107" y="7"/>
              </a:cxn>
              <a:cxn ang="0">
                <a:pos x="2140" y="0"/>
              </a:cxn>
              <a:cxn ang="0">
                <a:pos x="2205" y="0"/>
              </a:cxn>
              <a:cxn ang="0">
                <a:pos x="2257" y="0"/>
              </a:cxn>
              <a:cxn ang="0">
                <a:pos x="2290" y="7"/>
              </a:cxn>
              <a:cxn ang="0">
                <a:pos x="2304" y="7"/>
              </a:cxn>
              <a:cxn ang="0">
                <a:pos x="2337" y="0"/>
              </a:cxn>
              <a:cxn ang="0">
                <a:pos x="2403" y="0"/>
              </a:cxn>
            </a:cxnLst>
            <a:rect l="0" t="0" r="r" b="b"/>
            <a:pathLst>
              <a:path w="2422" h="7">
                <a:moveTo>
                  <a:pt x="0" y="0"/>
                </a:moveTo>
                <a:lnTo>
                  <a:pt x="19" y="0"/>
                </a:lnTo>
                <a:lnTo>
                  <a:pt x="19" y="7"/>
                </a:lnTo>
                <a:lnTo>
                  <a:pt x="0" y="7"/>
                </a:lnTo>
                <a:lnTo>
                  <a:pt x="0" y="0"/>
                </a:lnTo>
                <a:close/>
                <a:moveTo>
                  <a:pt x="33" y="0"/>
                </a:moveTo>
                <a:lnTo>
                  <a:pt x="52" y="0"/>
                </a:lnTo>
                <a:lnTo>
                  <a:pt x="52" y="7"/>
                </a:lnTo>
                <a:lnTo>
                  <a:pt x="33" y="7"/>
                </a:lnTo>
                <a:lnTo>
                  <a:pt x="33" y="0"/>
                </a:lnTo>
                <a:close/>
                <a:moveTo>
                  <a:pt x="66" y="0"/>
                </a:moveTo>
                <a:lnTo>
                  <a:pt x="84" y="0"/>
                </a:lnTo>
                <a:lnTo>
                  <a:pt x="84" y="7"/>
                </a:lnTo>
                <a:lnTo>
                  <a:pt x="66" y="7"/>
                </a:lnTo>
                <a:lnTo>
                  <a:pt x="66" y="0"/>
                </a:lnTo>
                <a:close/>
                <a:moveTo>
                  <a:pt x="99" y="0"/>
                </a:moveTo>
                <a:lnTo>
                  <a:pt x="117" y="0"/>
                </a:lnTo>
                <a:lnTo>
                  <a:pt x="117" y="7"/>
                </a:lnTo>
                <a:lnTo>
                  <a:pt x="99" y="7"/>
                </a:lnTo>
                <a:lnTo>
                  <a:pt x="99" y="0"/>
                </a:lnTo>
                <a:close/>
                <a:moveTo>
                  <a:pt x="131" y="0"/>
                </a:moveTo>
                <a:lnTo>
                  <a:pt x="150" y="0"/>
                </a:lnTo>
                <a:lnTo>
                  <a:pt x="150" y="7"/>
                </a:lnTo>
                <a:lnTo>
                  <a:pt x="131" y="7"/>
                </a:lnTo>
                <a:lnTo>
                  <a:pt x="131" y="0"/>
                </a:lnTo>
                <a:close/>
                <a:moveTo>
                  <a:pt x="164" y="0"/>
                </a:moveTo>
                <a:lnTo>
                  <a:pt x="183" y="0"/>
                </a:lnTo>
                <a:lnTo>
                  <a:pt x="183" y="7"/>
                </a:lnTo>
                <a:lnTo>
                  <a:pt x="164" y="7"/>
                </a:lnTo>
                <a:lnTo>
                  <a:pt x="164" y="0"/>
                </a:lnTo>
                <a:close/>
                <a:moveTo>
                  <a:pt x="197" y="0"/>
                </a:moveTo>
                <a:lnTo>
                  <a:pt x="216" y="0"/>
                </a:lnTo>
                <a:lnTo>
                  <a:pt x="216" y="7"/>
                </a:lnTo>
                <a:lnTo>
                  <a:pt x="197" y="7"/>
                </a:lnTo>
                <a:lnTo>
                  <a:pt x="197" y="0"/>
                </a:lnTo>
                <a:close/>
                <a:moveTo>
                  <a:pt x="230" y="0"/>
                </a:moveTo>
                <a:lnTo>
                  <a:pt x="249" y="0"/>
                </a:lnTo>
                <a:lnTo>
                  <a:pt x="249" y="7"/>
                </a:lnTo>
                <a:lnTo>
                  <a:pt x="230" y="7"/>
                </a:lnTo>
                <a:lnTo>
                  <a:pt x="230" y="0"/>
                </a:lnTo>
                <a:close/>
                <a:moveTo>
                  <a:pt x="263" y="0"/>
                </a:moveTo>
                <a:lnTo>
                  <a:pt x="282" y="0"/>
                </a:lnTo>
                <a:lnTo>
                  <a:pt x="282" y="7"/>
                </a:lnTo>
                <a:lnTo>
                  <a:pt x="263" y="7"/>
                </a:lnTo>
                <a:lnTo>
                  <a:pt x="263" y="0"/>
                </a:lnTo>
                <a:close/>
                <a:moveTo>
                  <a:pt x="296" y="0"/>
                </a:moveTo>
                <a:lnTo>
                  <a:pt x="315" y="0"/>
                </a:lnTo>
                <a:lnTo>
                  <a:pt x="315" y="7"/>
                </a:lnTo>
                <a:lnTo>
                  <a:pt x="296" y="7"/>
                </a:lnTo>
                <a:lnTo>
                  <a:pt x="296" y="0"/>
                </a:lnTo>
                <a:close/>
                <a:moveTo>
                  <a:pt x="329" y="0"/>
                </a:moveTo>
                <a:lnTo>
                  <a:pt x="348" y="0"/>
                </a:lnTo>
                <a:lnTo>
                  <a:pt x="348" y="7"/>
                </a:lnTo>
                <a:lnTo>
                  <a:pt x="329" y="7"/>
                </a:lnTo>
                <a:lnTo>
                  <a:pt x="329" y="0"/>
                </a:lnTo>
                <a:close/>
                <a:moveTo>
                  <a:pt x="362" y="0"/>
                </a:moveTo>
                <a:lnTo>
                  <a:pt x="381" y="0"/>
                </a:lnTo>
                <a:lnTo>
                  <a:pt x="381" y="7"/>
                </a:lnTo>
                <a:lnTo>
                  <a:pt x="362" y="7"/>
                </a:lnTo>
                <a:lnTo>
                  <a:pt x="362" y="0"/>
                </a:lnTo>
                <a:close/>
                <a:moveTo>
                  <a:pt x="395" y="0"/>
                </a:moveTo>
                <a:lnTo>
                  <a:pt x="414" y="0"/>
                </a:lnTo>
                <a:lnTo>
                  <a:pt x="414" y="7"/>
                </a:lnTo>
                <a:lnTo>
                  <a:pt x="395" y="7"/>
                </a:lnTo>
                <a:lnTo>
                  <a:pt x="395" y="0"/>
                </a:lnTo>
                <a:close/>
                <a:moveTo>
                  <a:pt x="428" y="0"/>
                </a:moveTo>
                <a:lnTo>
                  <a:pt x="446" y="0"/>
                </a:lnTo>
                <a:lnTo>
                  <a:pt x="446" y="7"/>
                </a:lnTo>
                <a:lnTo>
                  <a:pt x="428" y="7"/>
                </a:lnTo>
                <a:lnTo>
                  <a:pt x="428" y="0"/>
                </a:lnTo>
                <a:close/>
                <a:moveTo>
                  <a:pt x="461" y="0"/>
                </a:moveTo>
                <a:lnTo>
                  <a:pt x="479" y="0"/>
                </a:lnTo>
                <a:lnTo>
                  <a:pt x="479" y="7"/>
                </a:lnTo>
                <a:lnTo>
                  <a:pt x="461" y="7"/>
                </a:lnTo>
                <a:lnTo>
                  <a:pt x="461" y="0"/>
                </a:lnTo>
                <a:close/>
                <a:moveTo>
                  <a:pt x="493" y="0"/>
                </a:moveTo>
                <a:lnTo>
                  <a:pt x="512" y="0"/>
                </a:lnTo>
                <a:lnTo>
                  <a:pt x="512" y="7"/>
                </a:lnTo>
                <a:lnTo>
                  <a:pt x="493" y="7"/>
                </a:lnTo>
                <a:lnTo>
                  <a:pt x="493" y="0"/>
                </a:lnTo>
                <a:close/>
                <a:moveTo>
                  <a:pt x="526" y="0"/>
                </a:moveTo>
                <a:lnTo>
                  <a:pt x="545" y="0"/>
                </a:lnTo>
                <a:lnTo>
                  <a:pt x="545" y="7"/>
                </a:lnTo>
                <a:lnTo>
                  <a:pt x="526" y="7"/>
                </a:lnTo>
                <a:lnTo>
                  <a:pt x="526" y="0"/>
                </a:lnTo>
                <a:close/>
                <a:moveTo>
                  <a:pt x="559" y="0"/>
                </a:moveTo>
                <a:lnTo>
                  <a:pt x="578" y="0"/>
                </a:lnTo>
                <a:lnTo>
                  <a:pt x="578" y="7"/>
                </a:lnTo>
                <a:lnTo>
                  <a:pt x="559" y="7"/>
                </a:lnTo>
                <a:lnTo>
                  <a:pt x="559" y="0"/>
                </a:lnTo>
                <a:close/>
                <a:moveTo>
                  <a:pt x="592" y="0"/>
                </a:moveTo>
                <a:lnTo>
                  <a:pt x="611" y="0"/>
                </a:lnTo>
                <a:lnTo>
                  <a:pt x="611" y="7"/>
                </a:lnTo>
                <a:lnTo>
                  <a:pt x="592" y="7"/>
                </a:lnTo>
                <a:lnTo>
                  <a:pt x="592" y="0"/>
                </a:lnTo>
                <a:close/>
                <a:moveTo>
                  <a:pt x="625" y="0"/>
                </a:moveTo>
                <a:lnTo>
                  <a:pt x="644" y="0"/>
                </a:lnTo>
                <a:lnTo>
                  <a:pt x="644" y="7"/>
                </a:lnTo>
                <a:lnTo>
                  <a:pt x="625" y="7"/>
                </a:lnTo>
                <a:lnTo>
                  <a:pt x="625" y="0"/>
                </a:lnTo>
                <a:close/>
                <a:moveTo>
                  <a:pt x="658" y="0"/>
                </a:moveTo>
                <a:lnTo>
                  <a:pt x="677" y="0"/>
                </a:lnTo>
                <a:lnTo>
                  <a:pt x="677" y="7"/>
                </a:lnTo>
                <a:lnTo>
                  <a:pt x="658" y="7"/>
                </a:lnTo>
                <a:lnTo>
                  <a:pt x="658" y="0"/>
                </a:lnTo>
                <a:close/>
                <a:moveTo>
                  <a:pt x="691" y="0"/>
                </a:moveTo>
                <a:lnTo>
                  <a:pt x="710" y="0"/>
                </a:lnTo>
                <a:lnTo>
                  <a:pt x="710" y="7"/>
                </a:lnTo>
                <a:lnTo>
                  <a:pt x="691" y="7"/>
                </a:lnTo>
                <a:lnTo>
                  <a:pt x="691" y="0"/>
                </a:lnTo>
                <a:close/>
                <a:moveTo>
                  <a:pt x="724" y="0"/>
                </a:moveTo>
                <a:lnTo>
                  <a:pt x="743" y="0"/>
                </a:lnTo>
                <a:lnTo>
                  <a:pt x="743" y="7"/>
                </a:lnTo>
                <a:lnTo>
                  <a:pt x="724" y="7"/>
                </a:lnTo>
                <a:lnTo>
                  <a:pt x="724" y="0"/>
                </a:lnTo>
                <a:close/>
                <a:moveTo>
                  <a:pt x="757" y="0"/>
                </a:moveTo>
                <a:lnTo>
                  <a:pt x="776" y="0"/>
                </a:lnTo>
                <a:lnTo>
                  <a:pt x="776" y="7"/>
                </a:lnTo>
                <a:lnTo>
                  <a:pt x="757" y="7"/>
                </a:lnTo>
                <a:lnTo>
                  <a:pt x="757" y="0"/>
                </a:lnTo>
                <a:close/>
                <a:moveTo>
                  <a:pt x="790" y="0"/>
                </a:moveTo>
                <a:lnTo>
                  <a:pt x="809" y="0"/>
                </a:lnTo>
                <a:lnTo>
                  <a:pt x="809" y="7"/>
                </a:lnTo>
                <a:lnTo>
                  <a:pt x="790" y="7"/>
                </a:lnTo>
                <a:lnTo>
                  <a:pt x="790" y="0"/>
                </a:lnTo>
                <a:close/>
                <a:moveTo>
                  <a:pt x="823" y="0"/>
                </a:moveTo>
                <a:lnTo>
                  <a:pt x="841" y="0"/>
                </a:lnTo>
                <a:lnTo>
                  <a:pt x="841" y="7"/>
                </a:lnTo>
                <a:lnTo>
                  <a:pt x="823" y="7"/>
                </a:lnTo>
                <a:lnTo>
                  <a:pt x="823" y="0"/>
                </a:lnTo>
                <a:close/>
                <a:moveTo>
                  <a:pt x="855" y="0"/>
                </a:moveTo>
                <a:lnTo>
                  <a:pt x="874" y="0"/>
                </a:lnTo>
                <a:lnTo>
                  <a:pt x="874" y="7"/>
                </a:lnTo>
                <a:lnTo>
                  <a:pt x="855" y="7"/>
                </a:lnTo>
                <a:lnTo>
                  <a:pt x="855" y="0"/>
                </a:lnTo>
                <a:close/>
                <a:moveTo>
                  <a:pt x="888" y="0"/>
                </a:moveTo>
                <a:lnTo>
                  <a:pt x="907" y="0"/>
                </a:lnTo>
                <a:lnTo>
                  <a:pt x="907" y="7"/>
                </a:lnTo>
                <a:lnTo>
                  <a:pt x="888" y="7"/>
                </a:lnTo>
                <a:lnTo>
                  <a:pt x="888" y="0"/>
                </a:lnTo>
                <a:close/>
                <a:moveTo>
                  <a:pt x="922" y="0"/>
                </a:moveTo>
                <a:lnTo>
                  <a:pt x="940" y="0"/>
                </a:lnTo>
                <a:lnTo>
                  <a:pt x="940" y="7"/>
                </a:lnTo>
                <a:lnTo>
                  <a:pt x="922" y="7"/>
                </a:lnTo>
                <a:lnTo>
                  <a:pt x="922" y="0"/>
                </a:lnTo>
                <a:close/>
                <a:moveTo>
                  <a:pt x="954" y="0"/>
                </a:moveTo>
                <a:lnTo>
                  <a:pt x="973" y="0"/>
                </a:lnTo>
                <a:lnTo>
                  <a:pt x="973" y="7"/>
                </a:lnTo>
                <a:lnTo>
                  <a:pt x="954" y="7"/>
                </a:lnTo>
                <a:lnTo>
                  <a:pt x="954" y="0"/>
                </a:lnTo>
                <a:close/>
                <a:moveTo>
                  <a:pt x="987" y="0"/>
                </a:moveTo>
                <a:lnTo>
                  <a:pt x="1006" y="0"/>
                </a:lnTo>
                <a:lnTo>
                  <a:pt x="1006" y="7"/>
                </a:lnTo>
                <a:lnTo>
                  <a:pt x="987" y="7"/>
                </a:lnTo>
                <a:lnTo>
                  <a:pt x="987" y="0"/>
                </a:lnTo>
                <a:close/>
                <a:moveTo>
                  <a:pt x="1020" y="0"/>
                </a:moveTo>
                <a:lnTo>
                  <a:pt x="1039" y="0"/>
                </a:lnTo>
                <a:lnTo>
                  <a:pt x="1039" y="7"/>
                </a:lnTo>
                <a:lnTo>
                  <a:pt x="1020" y="7"/>
                </a:lnTo>
                <a:lnTo>
                  <a:pt x="1020" y="0"/>
                </a:lnTo>
                <a:close/>
                <a:moveTo>
                  <a:pt x="1053" y="0"/>
                </a:moveTo>
                <a:lnTo>
                  <a:pt x="1072" y="0"/>
                </a:lnTo>
                <a:lnTo>
                  <a:pt x="1072" y="7"/>
                </a:lnTo>
                <a:lnTo>
                  <a:pt x="1053" y="7"/>
                </a:lnTo>
                <a:lnTo>
                  <a:pt x="1053" y="0"/>
                </a:lnTo>
                <a:close/>
                <a:moveTo>
                  <a:pt x="1086" y="0"/>
                </a:moveTo>
                <a:lnTo>
                  <a:pt x="1105" y="0"/>
                </a:lnTo>
                <a:lnTo>
                  <a:pt x="1105" y="7"/>
                </a:lnTo>
                <a:lnTo>
                  <a:pt x="1086" y="7"/>
                </a:lnTo>
                <a:lnTo>
                  <a:pt x="1086" y="0"/>
                </a:lnTo>
                <a:close/>
                <a:moveTo>
                  <a:pt x="1119" y="0"/>
                </a:moveTo>
                <a:lnTo>
                  <a:pt x="1138" y="0"/>
                </a:lnTo>
                <a:lnTo>
                  <a:pt x="1138" y="7"/>
                </a:lnTo>
                <a:lnTo>
                  <a:pt x="1119" y="7"/>
                </a:lnTo>
                <a:lnTo>
                  <a:pt x="1119" y="0"/>
                </a:lnTo>
                <a:close/>
                <a:moveTo>
                  <a:pt x="1152" y="0"/>
                </a:moveTo>
                <a:lnTo>
                  <a:pt x="1171" y="0"/>
                </a:lnTo>
                <a:lnTo>
                  <a:pt x="1171" y="7"/>
                </a:lnTo>
                <a:lnTo>
                  <a:pt x="1152" y="7"/>
                </a:lnTo>
                <a:lnTo>
                  <a:pt x="1152" y="0"/>
                </a:lnTo>
                <a:close/>
                <a:moveTo>
                  <a:pt x="1185" y="0"/>
                </a:moveTo>
                <a:lnTo>
                  <a:pt x="1204" y="0"/>
                </a:lnTo>
                <a:lnTo>
                  <a:pt x="1204" y="7"/>
                </a:lnTo>
                <a:lnTo>
                  <a:pt x="1185" y="7"/>
                </a:lnTo>
                <a:lnTo>
                  <a:pt x="1185" y="0"/>
                </a:lnTo>
                <a:close/>
                <a:moveTo>
                  <a:pt x="1218" y="0"/>
                </a:moveTo>
                <a:lnTo>
                  <a:pt x="1237" y="0"/>
                </a:lnTo>
                <a:lnTo>
                  <a:pt x="1237" y="7"/>
                </a:lnTo>
                <a:lnTo>
                  <a:pt x="1218" y="7"/>
                </a:lnTo>
                <a:lnTo>
                  <a:pt x="1218" y="0"/>
                </a:lnTo>
                <a:close/>
                <a:moveTo>
                  <a:pt x="1251" y="0"/>
                </a:moveTo>
                <a:lnTo>
                  <a:pt x="1270" y="0"/>
                </a:lnTo>
                <a:lnTo>
                  <a:pt x="1270" y="7"/>
                </a:lnTo>
                <a:lnTo>
                  <a:pt x="1251" y="7"/>
                </a:lnTo>
                <a:lnTo>
                  <a:pt x="1251" y="0"/>
                </a:lnTo>
                <a:close/>
                <a:moveTo>
                  <a:pt x="1284" y="0"/>
                </a:moveTo>
                <a:lnTo>
                  <a:pt x="1302" y="0"/>
                </a:lnTo>
                <a:lnTo>
                  <a:pt x="1302" y="7"/>
                </a:lnTo>
                <a:lnTo>
                  <a:pt x="1284" y="7"/>
                </a:lnTo>
                <a:lnTo>
                  <a:pt x="1284" y="0"/>
                </a:lnTo>
                <a:close/>
                <a:moveTo>
                  <a:pt x="1316" y="0"/>
                </a:moveTo>
                <a:lnTo>
                  <a:pt x="1335" y="0"/>
                </a:lnTo>
                <a:lnTo>
                  <a:pt x="1335" y="7"/>
                </a:lnTo>
                <a:lnTo>
                  <a:pt x="1316" y="7"/>
                </a:lnTo>
                <a:lnTo>
                  <a:pt x="1316" y="0"/>
                </a:lnTo>
                <a:close/>
                <a:moveTo>
                  <a:pt x="1349" y="0"/>
                </a:moveTo>
                <a:lnTo>
                  <a:pt x="1368" y="0"/>
                </a:lnTo>
                <a:lnTo>
                  <a:pt x="1368" y="7"/>
                </a:lnTo>
                <a:lnTo>
                  <a:pt x="1349" y="7"/>
                </a:lnTo>
                <a:lnTo>
                  <a:pt x="1349" y="0"/>
                </a:lnTo>
                <a:close/>
                <a:moveTo>
                  <a:pt x="1382" y="0"/>
                </a:moveTo>
                <a:lnTo>
                  <a:pt x="1401" y="0"/>
                </a:lnTo>
                <a:lnTo>
                  <a:pt x="1401" y="7"/>
                </a:lnTo>
                <a:lnTo>
                  <a:pt x="1382" y="7"/>
                </a:lnTo>
                <a:lnTo>
                  <a:pt x="1382" y="0"/>
                </a:lnTo>
                <a:close/>
                <a:moveTo>
                  <a:pt x="1415" y="0"/>
                </a:moveTo>
                <a:lnTo>
                  <a:pt x="1434" y="0"/>
                </a:lnTo>
                <a:lnTo>
                  <a:pt x="1434" y="7"/>
                </a:lnTo>
                <a:lnTo>
                  <a:pt x="1415" y="7"/>
                </a:lnTo>
                <a:lnTo>
                  <a:pt x="1415" y="0"/>
                </a:lnTo>
                <a:close/>
                <a:moveTo>
                  <a:pt x="1448" y="0"/>
                </a:moveTo>
                <a:lnTo>
                  <a:pt x="1467" y="0"/>
                </a:lnTo>
                <a:lnTo>
                  <a:pt x="1467" y="7"/>
                </a:lnTo>
                <a:lnTo>
                  <a:pt x="1448" y="7"/>
                </a:lnTo>
                <a:lnTo>
                  <a:pt x="1448" y="0"/>
                </a:lnTo>
                <a:close/>
                <a:moveTo>
                  <a:pt x="1481" y="0"/>
                </a:moveTo>
                <a:lnTo>
                  <a:pt x="1500" y="0"/>
                </a:lnTo>
                <a:lnTo>
                  <a:pt x="1500" y="7"/>
                </a:lnTo>
                <a:lnTo>
                  <a:pt x="1481" y="7"/>
                </a:lnTo>
                <a:lnTo>
                  <a:pt x="1481" y="0"/>
                </a:lnTo>
                <a:close/>
                <a:moveTo>
                  <a:pt x="1514" y="0"/>
                </a:moveTo>
                <a:lnTo>
                  <a:pt x="1533" y="0"/>
                </a:lnTo>
                <a:lnTo>
                  <a:pt x="1533" y="7"/>
                </a:lnTo>
                <a:lnTo>
                  <a:pt x="1514" y="7"/>
                </a:lnTo>
                <a:lnTo>
                  <a:pt x="1514" y="0"/>
                </a:lnTo>
                <a:close/>
                <a:moveTo>
                  <a:pt x="1547" y="0"/>
                </a:moveTo>
                <a:lnTo>
                  <a:pt x="1566" y="0"/>
                </a:lnTo>
                <a:lnTo>
                  <a:pt x="1566" y="7"/>
                </a:lnTo>
                <a:lnTo>
                  <a:pt x="1547" y="7"/>
                </a:lnTo>
                <a:lnTo>
                  <a:pt x="1547" y="0"/>
                </a:lnTo>
                <a:close/>
                <a:moveTo>
                  <a:pt x="1580" y="0"/>
                </a:moveTo>
                <a:lnTo>
                  <a:pt x="1599" y="0"/>
                </a:lnTo>
                <a:lnTo>
                  <a:pt x="1599" y="7"/>
                </a:lnTo>
                <a:lnTo>
                  <a:pt x="1580" y="7"/>
                </a:lnTo>
                <a:lnTo>
                  <a:pt x="1580" y="0"/>
                </a:lnTo>
                <a:close/>
                <a:moveTo>
                  <a:pt x="1613" y="0"/>
                </a:moveTo>
                <a:lnTo>
                  <a:pt x="1632" y="0"/>
                </a:lnTo>
                <a:lnTo>
                  <a:pt x="1632" y="7"/>
                </a:lnTo>
                <a:lnTo>
                  <a:pt x="1613" y="7"/>
                </a:lnTo>
                <a:lnTo>
                  <a:pt x="1613" y="0"/>
                </a:lnTo>
                <a:close/>
                <a:moveTo>
                  <a:pt x="1646" y="0"/>
                </a:moveTo>
                <a:lnTo>
                  <a:pt x="1664" y="0"/>
                </a:lnTo>
                <a:lnTo>
                  <a:pt x="1664" y="7"/>
                </a:lnTo>
                <a:lnTo>
                  <a:pt x="1646" y="7"/>
                </a:lnTo>
                <a:lnTo>
                  <a:pt x="1646" y="0"/>
                </a:lnTo>
                <a:close/>
                <a:moveTo>
                  <a:pt x="1679" y="0"/>
                </a:moveTo>
                <a:lnTo>
                  <a:pt x="1697" y="0"/>
                </a:lnTo>
                <a:lnTo>
                  <a:pt x="1697" y="7"/>
                </a:lnTo>
                <a:lnTo>
                  <a:pt x="1679" y="7"/>
                </a:lnTo>
                <a:lnTo>
                  <a:pt x="1679" y="0"/>
                </a:lnTo>
                <a:close/>
                <a:moveTo>
                  <a:pt x="1711" y="0"/>
                </a:moveTo>
                <a:lnTo>
                  <a:pt x="1730" y="0"/>
                </a:lnTo>
                <a:lnTo>
                  <a:pt x="1730" y="7"/>
                </a:lnTo>
                <a:lnTo>
                  <a:pt x="1711" y="7"/>
                </a:lnTo>
                <a:lnTo>
                  <a:pt x="1711" y="0"/>
                </a:lnTo>
                <a:close/>
                <a:moveTo>
                  <a:pt x="1744" y="0"/>
                </a:moveTo>
                <a:lnTo>
                  <a:pt x="1763" y="0"/>
                </a:lnTo>
                <a:lnTo>
                  <a:pt x="1763" y="7"/>
                </a:lnTo>
                <a:lnTo>
                  <a:pt x="1744" y="7"/>
                </a:lnTo>
                <a:lnTo>
                  <a:pt x="1744" y="0"/>
                </a:lnTo>
                <a:close/>
                <a:moveTo>
                  <a:pt x="1777" y="0"/>
                </a:moveTo>
                <a:lnTo>
                  <a:pt x="1796" y="0"/>
                </a:lnTo>
                <a:lnTo>
                  <a:pt x="1796" y="7"/>
                </a:lnTo>
                <a:lnTo>
                  <a:pt x="1777" y="7"/>
                </a:lnTo>
                <a:lnTo>
                  <a:pt x="1777" y="0"/>
                </a:lnTo>
                <a:close/>
                <a:moveTo>
                  <a:pt x="1810" y="0"/>
                </a:moveTo>
                <a:lnTo>
                  <a:pt x="1829" y="0"/>
                </a:lnTo>
                <a:lnTo>
                  <a:pt x="1829" y="7"/>
                </a:lnTo>
                <a:lnTo>
                  <a:pt x="1810" y="7"/>
                </a:lnTo>
                <a:lnTo>
                  <a:pt x="1810" y="0"/>
                </a:lnTo>
                <a:close/>
                <a:moveTo>
                  <a:pt x="1843" y="0"/>
                </a:moveTo>
                <a:lnTo>
                  <a:pt x="1862" y="0"/>
                </a:lnTo>
                <a:lnTo>
                  <a:pt x="1862" y="7"/>
                </a:lnTo>
                <a:lnTo>
                  <a:pt x="1843" y="7"/>
                </a:lnTo>
                <a:lnTo>
                  <a:pt x="1843" y="0"/>
                </a:lnTo>
                <a:close/>
                <a:moveTo>
                  <a:pt x="1876" y="0"/>
                </a:moveTo>
                <a:lnTo>
                  <a:pt x="1895" y="0"/>
                </a:lnTo>
                <a:lnTo>
                  <a:pt x="1895" y="7"/>
                </a:lnTo>
                <a:lnTo>
                  <a:pt x="1876" y="7"/>
                </a:lnTo>
                <a:lnTo>
                  <a:pt x="1876" y="0"/>
                </a:lnTo>
                <a:close/>
                <a:moveTo>
                  <a:pt x="1909" y="0"/>
                </a:moveTo>
                <a:lnTo>
                  <a:pt x="1928" y="0"/>
                </a:lnTo>
                <a:lnTo>
                  <a:pt x="1928" y="7"/>
                </a:lnTo>
                <a:lnTo>
                  <a:pt x="1909" y="7"/>
                </a:lnTo>
                <a:lnTo>
                  <a:pt x="1909" y="0"/>
                </a:lnTo>
                <a:close/>
                <a:moveTo>
                  <a:pt x="1942" y="0"/>
                </a:moveTo>
                <a:lnTo>
                  <a:pt x="1961" y="0"/>
                </a:lnTo>
                <a:lnTo>
                  <a:pt x="1961" y="7"/>
                </a:lnTo>
                <a:lnTo>
                  <a:pt x="1942" y="7"/>
                </a:lnTo>
                <a:lnTo>
                  <a:pt x="1942" y="0"/>
                </a:lnTo>
                <a:close/>
                <a:moveTo>
                  <a:pt x="1975" y="0"/>
                </a:moveTo>
                <a:lnTo>
                  <a:pt x="1994" y="0"/>
                </a:lnTo>
                <a:lnTo>
                  <a:pt x="1994" y="7"/>
                </a:lnTo>
                <a:lnTo>
                  <a:pt x="1975" y="7"/>
                </a:lnTo>
                <a:lnTo>
                  <a:pt x="1975" y="0"/>
                </a:lnTo>
                <a:close/>
                <a:moveTo>
                  <a:pt x="2008" y="0"/>
                </a:moveTo>
                <a:lnTo>
                  <a:pt x="2026" y="0"/>
                </a:lnTo>
                <a:lnTo>
                  <a:pt x="2026" y="7"/>
                </a:lnTo>
                <a:lnTo>
                  <a:pt x="2008" y="7"/>
                </a:lnTo>
                <a:lnTo>
                  <a:pt x="2008" y="0"/>
                </a:lnTo>
                <a:close/>
                <a:moveTo>
                  <a:pt x="2041" y="0"/>
                </a:moveTo>
                <a:lnTo>
                  <a:pt x="2059" y="0"/>
                </a:lnTo>
                <a:lnTo>
                  <a:pt x="2059" y="7"/>
                </a:lnTo>
                <a:lnTo>
                  <a:pt x="2041" y="7"/>
                </a:lnTo>
                <a:lnTo>
                  <a:pt x="2041" y="0"/>
                </a:lnTo>
                <a:close/>
                <a:moveTo>
                  <a:pt x="2074" y="0"/>
                </a:moveTo>
                <a:lnTo>
                  <a:pt x="2093" y="0"/>
                </a:lnTo>
                <a:lnTo>
                  <a:pt x="2093" y="7"/>
                </a:lnTo>
                <a:lnTo>
                  <a:pt x="2074" y="7"/>
                </a:lnTo>
                <a:lnTo>
                  <a:pt x="2074" y="0"/>
                </a:lnTo>
                <a:close/>
                <a:moveTo>
                  <a:pt x="2107" y="0"/>
                </a:moveTo>
                <a:lnTo>
                  <a:pt x="2125" y="0"/>
                </a:lnTo>
                <a:lnTo>
                  <a:pt x="2125" y="7"/>
                </a:lnTo>
                <a:lnTo>
                  <a:pt x="2107" y="7"/>
                </a:lnTo>
                <a:lnTo>
                  <a:pt x="2107" y="0"/>
                </a:lnTo>
                <a:close/>
                <a:moveTo>
                  <a:pt x="2140" y="0"/>
                </a:moveTo>
                <a:lnTo>
                  <a:pt x="2158" y="0"/>
                </a:lnTo>
                <a:lnTo>
                  <a:pt x="2158" y="7"/>
                </a:lnTo>
                <a:lnTo>
                  <a:pt x="2140" y="7"/>
                </a:lnTo>
                <a:lnTo>
                  <a:pt x="2140" y="0"/>
                </a:lnTo>
                <a:close/>
                <a:moveTo>
                  <a:pt x="2172" y="0"/>
                </a:moveTo>
                <a:lnTo>
                  <a:pt x="2191" y="0"/>
                </a:lnTo>
                <a:lnTo>
                  <a:pt x="2191" y="7"/>
                </a:lnTo>
                <a:lnTo>
                  <a:pt x="2172" y="7"/>
                </a:lnTo>
                <a:lnTo>
                  <a:pt x="2172" y="0"/>
                </a:lnTo>
                <a:close/>
                <a:moveTo>
                  <a:pt x="2205" y="0"/>
                </a:moveTo>
                <a:lnTo>
                  <a:pt x="2224" y="0"/>
                </a:lnTo>
                <a:lnTo>
                  <a:pt x="2224" y="7"/>
                </a:lnTo>
                <a:lnTo>
                  <a:pt x="2205" y="7"/>
                </a:lnTo>
                <a:lnTo>
                  <a:pt x="2205" y="0"/>
                </a:lnTo>
                <a:close/>
                <a:moveTo>
                  <a:pt x="2238" y="0"/>
                </a:moveTo>
                <a:lnTo>
                  <a:pt x="2257" y="0"/>
                </a:lnTo>
                <a:lnTo>
                  <a:pt x="2257" y="7"/>
                </a:lnTo>
                <a:lnTo>
                  <a:pt x="2238" y="7"/>
                </a:lnTo>
                <a:lnTo>
                  <a:pt x="2238" y="0"/>
                </a:lnTo>
                <a:close/>
                <a:moveTo>
                  <a:pt x="2271" y="0"/>
                </a:moveTo>
                <a:lnTo>
                  <a:pt x="2290" y="0"/>
                </a:lnTo>
                <a:lnTo>
                  <a:pt x="2290" y="7"/>
                </a:lnTo>
                <a:lnTo>
                  <a:pt x="2271" y="7"/>
                </a:lnTo>
                <a:lnTo>
                  <a:pt x="2271" y="0"/>
                </a:lnTo>
                <a:close/>
                <a:moveTo>
                  <a:pt x="2304" y="0"/>
                </a:moveTo>
                <a:lnTo>
                  <a:pt x="2323" y="0"/>
                </a:lnTo>
                <a:lnTo>
                  <a:pt x="2323" y="7"/>
                </a:lnTo>
                <a:lnTo>
                  <a:pt x="2304" y="7"/>
                </a:lnTo>
                <a:lnTo>
                  <a:pt x="2304" y="0"/>
                </a:lnTo>
                <a:close/>
                <a:moveTo>
                  <a:pt x="2337" y="0"/>
                </a:moveTo>
                <a:lnTo>
                  <a:pt x="2356" y="0"/>
                </a:lnTo>
                <a:lnTo>
                  <a:pt x="2356" y="7"/>
                </a:lnTo>
                <a:lnTo>
                  <a:pt x="2337" y="7"/>
                </a:lnTo>
                <a:lnTo>
                  <a:pt x="2337" y="0"/>
                </a:lnTo>
                <a:close/>
                <a:moveTo>
                  <a:pt x="2370" y="0"/>
                </a:moveTo>
                <a:lnTo>
                  <a:pt x="2389" y="0"/>
                </a:lnTo>
                <a:lnTo>
                  <a:pt x="2389" y="7"/>
                </a:lnTo>
                <a:lnTo>
                  <a:pt x="2370" y="7"/>
                </a:lnTo>
                <a:lnTo>
                  <a:pt x="2370" y="0"/>
                </a:lnTo>
                <a:close/>
                <a:moveTo>
                  <a:pt x="2403" y="0"/>
                </a:moveTo>
                <a:lnTo>
                  <a:pt x="2422" y="0"/>
                </a:lnTo>
                <a:lnTo>
                  <a:pt x="2422" y="7"/>
                </a:lnTo>
                <a:lnTo>
                  <a:pt x="2403" y="7"/>
                </a:lnTo>
                <a:lnTo>
                  <a:pt x="2403" y="0"/>
                </a:ln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37" name="Freeform 32"/>
          <p:cNvSpPr>
            <a:spLocks noEditPoints="1"/>
          </p:cNvSpPr>
          <p:nvPr/>
        </p:nvSpPr>
        <p:spPr bwMode="auto">
          <a:xfrm>
            <a:off x="255585" y="4629728"/>
            <a:ext cx="3844925" cy="11113"/>
          </a:xfrm>
          <a:custGeom>
            <a:avLst/>
            <a:gdLst/>
            <a:ahLst/>
            <a:cxnLst>
              <a:cxn ang="0">
                <a:pos x="33" y="0"/>
              </a:cxn>
              <a:cxn ang="0">
                <a:pos x="84" y="0"/>
              </a:cxn>
              <a:cxn ang="0">
                <a:pos x="117" y="7"/>
              </a:cxn>
              <a:cxn ang="0">
                <a:pos x="131" y="7"/>
              </a:cxn>
              <a:cxn ang="0">
                <a:pos x="164" y="0"/>
              </a:cxn>
              <a:cxn ang="0">
                <a:pos x="230" y="0"/>
              </a:cxn>
              <a:cxn ang="0">
                <a:pos x="282" y="0"/>
              </a:cxn>
              <a:cxn ang="0">
                <a:pos x="315" y="7"/>
              </a:cxn>
              <a:cxn ang="0">
                <a:pos x="329" y="7"/>
              </a:cxn>
              <a:cxn ang="0">
                <a:pos x="362" y="0"/>
              </a:cxn>
              <a:cxn ang="0">
                <a:pos x="428" y="0"/>
              </a:cxn>
              <a:cxn ang="0">
                <a:pos x="479" y="0"/>
              </a:cxn>
              <a:cxn ang="0">
                <a:pos x="512" y="7"/>
              </a:cxn>
              <a:cxn ang="0">
                <a:pos x="526" y="7"/>
              </a:cxn>
              <a:cxn ang="0">
                <a:pos x="559" y="0"/>
              </a:cxn>
              <a:cxn ang="0">
                <a:pos x="625" y="0"/>
              </a:cxn>
              <a:cxn ang="0">
                <a:pos x="677" y="0"/>
              </a:cxn>
              <a:cxn ang="0">
                <a:pos x="710" y="7"/>
              </a:cxn>
              <a:cxn ang="0">
                <a:pos x="724" y="7"/>
              </a:cxn>
              <a:cxn ang="0">
                <a:pos x="757" y="0"/>
              </a:cxn>
              <a:cxn ang="0">
                <a:pos x="823" y="0"/>
              </a:cxn>
              <a:cxn ang="0">
                <a:pos x="874" y="0"/>
              </a:cxn>
              <a:cxn ang="0">
                <a:pos x="907" y="7"/>
              </a:cxn>
              <a:cxn ang="0">
                <a:pos x="922" y="7"/>
              </a:cxn>
              <a:cxn ang="0">
                <a:pos x="954" y="0"/>
              </a:cxn>
              <a:cxn ang="0">
                <a:pos x="1020" y="0"/>
              </a:cxn>
              <a:cxn ang="0">
                <a:pos x="1072" y="0"/>
              </a:cxn>
              <a:cxn ang="0">
                <a:pos x="1105" y="7"/>
              </a:cxn>
              <a:cxn ang="0">
                <a:pos x="1119" y="7"/>
              </a:cxn>
              <a:cxn ang="0">
                <a:pos x="1152" y="0"/>
              </a:cxn>
              <a:cxn ang="0">
                <a:pos x="1218" y="0"/>
              </a:cxn>
              <a:cxn ang="0">
                <a:pos x="1270" y="0"/>
              </a:cxn>
              <a:cxn ang="0">
                <a:pos x="1302" y="7"/>
              </a:cxn>
              <a:cxn ang="0">
                <a:pos x="1316" y="7"/>
              </a:cxn>
              <a:cxn ang="0">
                <a:pos x="1349" y="0"/>
              </a:cxn>
              <a:cxn ang="0">
                <a:pos x="1415" y="0"/>
              </a:cxn>
              <a:cxn ang="0">
                <a:pos x="1467" y="0"/>
              </a:cxn>
              <a:cxn ang="0">
                <a:pos x="1500" y="7"/>
              </a:cxn>
              <a:cxn ang="0">
                <a:pos x="1514" y="7"/>
              </a:cxn>
              <a:cxn ang="0">
                <a:pos x="1547" y="0"/>
              </a:cxn>
              <a:cxn ang="0">
                <a:pos x="1613" y="0"/>
              </a:cxn>
              <a:cxn ang="0">
                <a:pos x="1664" y="0"/>
              </a:cxn>
              <a:cxn ang="0">
                <a:pos x="1697" y="7"/>
              </a:cxn>
              <a:cxn ang="0">
                <a:pos x="1711" y="7"/>
              </a:cxn>
              <a:cxn ang="0">
                <a:pos x="1744" y="0"/>
              </a:cxn>
              <a:cxn ang="0">
                <a:pos x="1810" y="0"/>
              </a:cxn>
              <a:cxn ang="0">
                <a:pos x="1862" y="0"/>
              </a:cxn>
              <a:cxn ang="0">
                <a:pos x="1895" y="7"/>
              </a:cxn>
              <a:cxn ang="0">
                <a:pos x="1909" y="7"/>
              </a:cxn>
              <a:cxn ang="0">
                <a:pos x="1942" y="0"/>
              </a:cxn>
              <a:cxn ang="0">
                <a:pos x="2008" y="0"/>
              </a:cxn>
              <a:cxn ang="0">
                <a:pos x="2059" y="0"/>
              </a:cxn>
              <a:cxn ang="0">
                <a:pos x="2093" y="7"/>
              </a:cxn>
              <a:cxn ang="0">
                <a:pos x="2107" y="7"/>
              </a:cxn>
              <a:cxn ang="0">
                <a:pos x="2140" y="0"/>
              </a:cxn>
              <a:cxn ang="0">
                <a:pos x="2205" y="0"/>
              </a:cxn>
              <a:cxn ang="0">
                <a:pos x="2257" y="0"/>
              </a:cxn>
              <a:cxn ang="0">
                <a:pos x="2290" y="7"/>
              </a:cxn>
              <a:cxn ang="0">
                <a:pos x="2304" y="7"/>
              </a:cxn>
              <a:cxn ang="0">
                <a:pos x="2337" y="0"/>
              </a:cxn>
              <a:cxn ang="0">
                <a:pos x="2403" y="0"/>
              </a:cxn>
            </a:cxnLst>
            <a:rect l="0" t="0" r="r" b="b"/>
            <a:pathLst>
              <a:path w="2422" h="7">
                <a:moveTo>
                  <a:pt x="0" y="0"/>
                </a:moveTo>
                <a:lnTo>
                  <a:pt x="19" y="0"/>
                </a:lnTo>
                <a:lnTo>
                  <a:pt x="19" y="7"/>
                </a:lnTo>
                <a:lnTo>
                  <a:pt x="0" y="7"/>
                </a:lnTo>
                <a:lnTo>
                  <a:pt x="0" y="0"/>
                </a:lnTo>
                <a:close/>
                <a:moveTo>
                  <a:pt x="33" y="0"/>
                </a:moveTo>
                <a:lnTo>
                  <a:pt x="52" y="0"/>
                </a:lnTo>
                <a:lnTo>
                  <a:pt x="52" y="7"/>
                </a:lnTo>
                <a:lnTo>
                  <a:pt x="33" y="7"/>
                </a:lnTo>
                <a:lnTo>
                  <a:pt x="33" y="0"/>
                </a:lnTo>
                <a:close/>
                <a:moveTo>
                  <a:pt x="66" y="0"/>
                </a:moveTo>
                <a:lnTo>
                  <a:pt x="84" y="0"/>
                </a:lnTo>
                <a:lnTo>
                  <a:pt x="84" y="7"/>
                </a:lnTo>
                <a:lnTo>
                  <a:pt x="66" y="7"/>
                </a:lnTo>
                <a:lnTo>
                  <a:pt x="66" y="0"/>
                </a:lnTo>
                <a:close/>
                <a:moveTo>
                  <a:pt x="99" y="0"/>
                </a:moveTo>
                <a:lnTo>
                  <a:pt x="117" y="0"/>
                </a:lnTo>
                <a:lnTo>
                  <a:pt x="117" y="7"/>
                </a:lnTo>
                <a:lnTo>
                  <a:pt x="99" y="7"/>
                </a:lnTo>
                <a:lnTo>
                  <a:pt x="99" y="0"/>
                </a:lnTo>
                <a:close/>
                <a:moveTo>
                  <a:pt x="131" y="0"/>
                </a:moveTo>
                <a:lnTo>
                  <a:pt x="150" y="0"/>
                </a:lnTo>
                <a:lnTo>
                  <a:pt x="150" y="7"/>
                </a:lnTo>
                <a:lnTo>
                  <a:pt x="131" y="7"/>
                </a:lnTo>
                <a:lnTo>
                  <a:pt x="131" y="0"/>
                </a:lnTo>
                <a:close/>
                <a:moveTo>
                  <a:pt x="164" y="0"/>
                </a:moveTo>
                <a:lnTo>
                  <a:pt x="183" y="0"/>
                </a:lnTo>
                <a:lnTo>
                  <a:pt x="183" y="7"/>
                </a:lnTo>
                <a:lnTo>
                  <a:pt x="164" y="7"/>
                </a:lnTo>
                <a:lnTo>
                  <a:pt x="164" y="0"/>
                </a:lnTo>
                <a:close/>
                <a:moveTo>
                  <a:pt x="197" y="0"/>
                </a:moveTo>
                <a:lnTo>
                  <a:pt x="216" y="0"/>
                </a:lnTo>
                <a:lnTo>
                  <a:pt x="216" y="7"/>
                </a:lnTo>
                <a:lnTo>
                  <a:pt x="197" y="7"/>
                </a:lnTo>
                <a:lnTo>
                  <a:pt x="197" y="0"/>
                </a:lnTo>
                <a:close/>
                <a:moveTo>
                  <a:pt x="230" y="0"/>
                </a:moveTo>
                <a:lnTo>
                  <a:pt x="249" y="0"/>
                </a:lnTo>
                <a:lnTo>
                  <a:pt x="249" y="7"/>
                </a:lnTo>
                <a:lnTo>
                  <a:pt x="230" y="7"/>
                </a:lnTo>
                <a:lnTo>
                  <a:pt x="230" y="0"/>
                </a:lnTo>
                <a:close/>
                <a:moveTo>
                  <a:pt x="263" y="0"/>
                </a:moveTo>
                <a:lnTo>
                  <a:pt x="282" y="0"/>
                </a:lnTo>
                <a:lnTo>
                  <a:pt x="282" y="7"/>
                </a:lnTo>
                <a:lnTo>
                  <a:pt x="263" y="7"/>
                </a:lnTo>
                <a:lnTo>
                  <a:pt x="263" y="0"/>
                </a:lnTo>
                <a:close/>
                <a:moveTo>
                  <a:pt x="296" y="0"/>
                </a:moveTo>
                <a:lnTo>
                  <a:pt x="315" y="0"/>
                </a:lnTo>
                <a:lnTo>
                  <a:pt x="315" y="7"/>
                </a:lnTo>
                <a:lnTo>
                  <a:pt x="296" y="7"/>
                </a:lnTo>
                <a:lnTo>
                  <a:pt x="296" y="0"/>
                </a:lnTo>
                <a:close/>
                <a:moveTo>
                  <a:pt x="329" y="0"/>
                </a:moveTo>
                <a:lnTo>
                  <a:pt x="348" y="0"/>
                </a:lnTo>
                <a:lnTo>
                  <a:pt x="348" y="7"/>
                </a:lnTo>
                <a:lnTo>
                  <a:pt x="329" y="7"/>
                </a:lnTo>
                <a:lnTo>
                  <a:pt x="329" y="0"/>
                </a:lnTo>
                <a:close/>
                <a:moveTo>
                  <a:pt x="362" y="0"/>
                </a:moveTo>
                <a:lnTo>
                  <a:pt x="381" y="0"/>
                </a:lnTo>
                <a:lnTo>
                  <a:pt x="381" y="7"/>
                </a:lnTo>
                <a:lnTo>
                  <a:pt x="362" y="7"/>
                </a:lnTo>
                <a:lnTo>
                  <a:pt x="362" y="0"/>
                </a:lnTo>
                <a:close/>
                <a:moveTo>
                  <a:pt x="395" y="0"/>
                </a:moveTo>
                <a:lnTo>
                  <a:pt x="414" y="0"/>
                </a:lnTo>
                <a:lnTo>
                  <a:pt x="414" y="7"/>
                </a:lnTo>
                <a:lnTo>
                  <a:pt x="395" y="7"/>
                </a:lnTo>
                <a:lnTo>
                  <a:pt x="395" y="0"/>
                </a:lnTo>
                <a:close/>
                <a:moveTo>
                  <a:pt x="428" y="0"/>
                </a:moveTo>
                <a:lnTo>
                  <a:pt x="446" y="0"/>
                </a:lnTo>
                <a:lnTo>
                  <a:pt x="446" y="7"/>
                </a:lnTo>
                <a:lnTo>
                  <a:pt x="428" y="7"/>
                </a:lnTo>
                <a:lnTo>
                  <a:pt x="428" y="0"/>
                </a:lnTo>
                <a:close/>
                <a:moveTo>
                  <a:pt x="461" y="0"/>
                </a:moveTo>
                <a:lnTo>
                  <a:pt x="479" y="0"/>
                </a:lnTo>
                <a:lnTo>
                  <a:pt x="479" y="7"/>
                </a:lnTo>
                <a:lnTo>
                  <a:pt x="461" y="7"/>
                </a:lnTo>
                <a:lnTo>
                  <a:pt x="461" y="0"/>
                </a:lnTo>
                <a:close/>
                <a:moveTo>
                  <a:pt x="493" y="0"/>
                </a:moveTo>
                <a:lnTo>
                  <a:pt x="512" y="0"/>
                </a:lnTo>
                <a:lnTo>
                  <a:pt x="512" y="7"/>
                </a:lnTo>
                <a:lnTo>
                  <a:pt x="493" y="7"/>
                </a:lnTo>
                <a:lnTo>
                  <a:pt x="493" y="0"/>
                </a:lnTo>
                <a:close/>
                <a:moveTo>
                  <a:pt x="526" y="0"/>
                </a:moveTo>
                <a:lnTo>
                  <a:pt x="545" y="0"/>
                </a:lnTo>
                <a:lnTo>
                  <a:pt x="545" y="7"/>
                </a:lnTo>
                <a:lnTo>
                  <a:pt x="526" y="7"/>
                </a:lnTo>
                <a:lnTo>
                  <a:pt x="526" y="0"/>
                </a:lnTo>
                <a:close/>
                <a:moveTo>
                  <a:pt x="559" y="0"/>
                </a:moveTo>
                <a:lnTo>
                  <a:pt x="578" y="0"/>
                </a:lnTo>
                <a:lnTo>
                  <a:pt x="578" y="7"/>
                </a:lnTo>
                <a:lnTo>
                  <a:pt x="559" y="7"/>
                </a:lnTo>
                <a:lnTo>
                  <a:pt x="559" y="0"/>
                </a:lnTo>
                <a:close/>
                <a:moveTo>
                  <a:pt x="592" y="0"/>
                </a:moveTo>
                <a:lnTo>
                  <a:pt x="611" y="0"/>
                </a:lnTo>
                <a:lnTo>
                  <a:pt x="611" y="7"/>
                </a:lnTo>
                <a:lnTo>
                  <a:pt x="592" y="7"/>
                </a:lnTo>
                <a:lnTo>
                  <a:pt x="592" y="0"/>
                </a:lnTo>
                <a:close/>
                <a:moveTo>
                  <a:pt x="625" y="0"/>
                </a:moveTo>
                <a:lnTo>
                  <a:pt x="644" y="0"/>
                </a:lnTo>
                <a:lnTo>
                  <a:pt x="644" y="7"/>
                </a:lnTo>
                <a:lnTo>
                  <a:pt x="625" y="7"/>
                </a:lnTo>
                <a:lnTo>
                  <a:pt x="625" y="0"/>
                </a:lnTo>
                <a:close/>
                <a:moveTo>
                  <a:pt x="658" y="0"/>
                </a:moveTo>
                <a:lnTo>
                  <a:pt x="677" y="0"/>
                </a:lnTo>
                <a:lnTo>
                  <a:pt x="677" y="7"/>
                </a:lnTo>
                <a:lnTo>
                  <a:pt x="658" y="7"/>
                </a:lnTo>
                <a:lnTo>
                  <a:pt x="658" y="0"/>
                </a:lnTo>
                <a:close/>
                <a:moveTo>
                  <a:pt x="691" y="0"/>
                </a:moveTo>
                <a:lnTo>
                  <a:pt x="710" y="0"/>
                </a:lnTo>
                <a:lnTo>
                  <a:pt x="710" y="7"/>
                </a:lnTo>
                <a:lnTo>
                  <a:pt x="691" y="7"/>
                </a:lnTo>
                <a:lnTo>
                  <a:pt x="691" y="0"/>
                </a:lnTo>
                <a:close/>
                <a:moveTo>
                  <a:pt x="724" y="0"/>
                </a:moveTo>
                <a:lnTo>
                  <a:pt x="743" y="0"/>
                </a:lnTo>
                <a:lnTo>
                  <a:pt x="743" y="7"/>
                </a:lnTo>
                <a:lnTo>
                  <a:pt x="724" y="7"/>
                </a:lnTo>
                <a:lnTo>
                  <a:pt x="724" y="0"/>
                </a:lnTo>
                <a:close/>
                <a:moveTo>
                  <a:pt x="757" y="0"/>
                </a:moveTo>
                <a:lnTo>
                  <a:pt x="776" y="0"/>
                </a:lnTo>
                <a:lnTo>
                  <a:pt x="776" y="7"/>
                </a:lnTo>
                <a:lnTo>
                  <a:pt x="757" y="7"/>
                </a:lnTo>
                <a:lnTo>
                  <a:pt x="757" y="0"/>
                </a:lnTo>
                <a:close/>
                <a:moveTo>
                  <a:pt x="790" y="0"/>
                </a:moveTo>
                <a:lnTo>
                  <a:pt x="809" y="0"/>
                </a:lnTo>
                <a:lnTo>
                  <a:pt x="809" y="7"/>
                </a:lnTo>
                <a:lnTo>
                  <a:pt x="790" y="7"/>
                </a:lnTo>
                <a:lnTo>
                  <a:pt x="790" y="0"/>
                </a:lnTo>
                <a:close/>
                <a:moveTo>
                  <a:pt x="823" y="0"/>
                </a:moveTo>
                <a:lnTo>
                  <a:pt x="841" y="0"/>
                </a:lnTo>
                <a:lnTo>
                  <a:pt x="841" y="7"/>
                </a:lnTo>
                <a:lnTo>
                  <a:pt x="823" y="7"/>
                </a:lnTo>
                <a:lnTo>
                  <a:pt x="823" y="0"/>
                </a:lnTo>
                <a:close/>
                <a:moveTo>
                  <a:pt x="855" y="0"/>
                </a:moveTo>
                <a:lnTo>
                  <a:pt x="874" y="0"/>
                </a:lnTo>
                <a:lnTo>
                  <a:pt x="874" y="7"/>
                </a:lnTo>
                <a:lnTo>
                  <a:pt x="855" y="7"/>
                </a:lnTo>
                <a:lnTo>
                  <a:pt x="855" y="0"/>
                </a:lnTo>
                <a:close/>
                <a:moveTo>
                  <a:pt x="888" y="0"/>
                </a:moveTo>
                <a:lnTo>
                  <a:pt x="907" y="0"/>
                </a:lnTo>
                <a:lnTo>
                  <a:pt x="907" y="7"/>
                </a:lnTo>
                <a:lnTo>
                  <a:pt x="888" y="7"/>
                </a:lnTo>
                <a:lnTo>
                  <a:pt x="888" y="0"/>
                </a:lnTo>
                <a:close/>
                <a:moveTo>
                  <a:pt x="922" y="0"/>
                </a:moveTo>
                <a:lnTo>
                  <a:pt x="940" y="0"/>
                </a:lnTo>
                <a:lnTo>
                  <a:pt x="940" y="7"/>
                </a:lnTo>
                <a:lnTo>
                  <a:pt x="922" y="7"/>
                </a:lnTo>
                <a:lnTo>
                  <a:pt x="922" y="0"/>
                </a:lnTo>
                <a:close/>
                <a:moveTo>
                  <a:pt x="954" y="0"/>
                </a:moveTo>
                <a:lnTo>
                  <a:pt x="973" y="0"/>
                </a:lnTo>
                <a:lnTo>
                  <a:pt x="973" y="7"/>
                </a:lnTo>
                <a:lnTo>
                  <a:pt x="954" y="7"/>
                </a:lnTo>
                <a:lnTo>
                  <a:pt x="954" y="0"/>
                </a:lnTo>
                <a:close/>
                <a:moveTo>
                  <a:pt x="987" y="0"/>
                </a:moveTo>
                <a:lnTo>
                  <a:pt x="1006" y="0"/>
                </a:lnTo>
                <a:lnTo>
                  <a:pt x="1006" y="7"/>
                </a:lnTo>
                <a:lnTo>
                  <a:pt x="987" y="7"/>
                </a:lnTo>
                <a:lnTo>
                  <a:pt x="987" y="0"/>
                </a:lnTo>
                <a:close/>
                <a:moveTo>
                  <a:pt x="1020" y="0"/>
                </a:moveTo>
                <a:lnTo>
                  <a:pt x="1039" y="0"/>
                </a:lnTo>
                <a:lnTo>
                  <a:pt x="1039" y="7"/>
                </a:lnTo>
                <a:lnTo>
                  <a:pt x="1020" y="7"/>
                </a:lnTo>
                <a:lnTo>
                  <a:pt x="1020" y="0"/>
                </a:lnTo>
                <a:close/>
                <a:moveTo>
                  <a:pt x="1053" y="0"/>
                </a:moveTo>
                <a:lnTo>
                  <a:pt x="1072" y="0"/>
                </a:lnTo>
                <a:lnTo>
                  <a:pt x="1072" y="7"/>
                </a:lnTo>
                <a:lnTo>
                  <a:pt x="1053" y="7"/>
                </a:lnTo>
                <a:lnTo>
                  <a:pt x="1053" y="0"/>
                </a:lnTo>
                <a:close/>
                <a:moveTo>
                  <a:pt x="1086" y="0"/>
                </a:moveTo>
                <a:lnTo>
                  <a:pt x="1105" y="0"/>
                </a:lnTo>
                <a:lnTo>
                  <a:pt x="1105" y="7"/>
                </a:lnTo>
                <a:lnTo>
                  <a:pt x="1086" y="7"/>
                </a:lnTo>
                <a:lnTo>
                  <a:pt x="1086" y="0"/>
                </a:lnTo>
                <a:close/>
                <a:moveTo>
                  <a:pt x="1119" y="0"/>
                </a:moveTo>
                <a:lnTo>
                  <a:pt x="1138" y="0"/>
                </a:lnTo>
                <a:lnTo>
                  <a:pt x="1138" y="7"/>
                </a:lnTo>
                <a:lnTo>
                  <a:pt x="1119" y="7"/>
                </a:lnTo>
                <a:lnTo>
                  <a:pt x="1119" y="0"/>
                </a:lnTo>
                <a:close/>
                <a:moveTo>
                  <a:pt x="1152" y="0"/>
                </a:moveTo>
                <a:lnTo>
                  <a:pt x="1171" y="0"/>
                </a:lnTo>
                <a:lnTo>
                  <a:pt x="1171" y="7"/>
                </a:lnTo>
                <a:lnTo>
                  <a:pt x="1152" y="7"/>
                </a:lnTo>
                <a:lnTo>
                  <a:pt x="1152" y="0"/>
                </a:lnTo>
                <a:close/>
                <a:moveTo>
                  <a:pt x="1185" y="0"/>
                </a:moveTo>
                <a:lnTo>
                  <a:pt x="1204" y="0"/>
                </a:lnTo>
                <a:lnTo>
                  <a:pt x="1204" y="7"/>
                </a:lnTo>
                <a:lnTo>
                  <a:pt x="1185" y="7"/>
                </a:lnTo>
                <a:lnTo>
                  <a:pt x="1185" y="0"/>
                </a:lnTo>
                <a:close/>
                <a:moveTo>
                  <a:pt x="1218" y="0"/>
                </a:moveTo>
                <a:lnTo>
                  <a:pt x="1237" y="0"/>
                </a:lnTo>
                <a:lnTo>
                  <a:pt x="1237" y="7"/>
                </a:lnTo>
                <a:lnTo>
                  <a:pt x="1218" y="7"/>
                </a:lnTo>
                <a:lnTo>
                  <a:pt x="1218" y="0"/>
                </a:lnTo>
                <a:close/>
                <a:moveTo>
                  <a:pt x="1251" y="0"/>
                </a:moveTo>
                <a:lnTo>
                  <a:pt x="1270" y="0"/>
                </a:lnTo>
                <a:lnTo>
                  <a:pt x="1270" y="7"/>
                </a:lnTo>
                <a:lnTo>
                  <a:pt x="1251" y="7"/>
                </a:lnTo>
                <a:lnTo>
                  <a:pt x="1251" y="0"/>
                </a:lnTo>
                <a:close/>
                <a:moveTo>
                  <a:pt x="1284" y="0"/>
                </a:moveTo>
                <a:lnTo>
                  <a:pt x="1302" y="0"/>
                </a:lnTo>
                <a:lnTo>
                  <a:pt x="1302" y="7"/>
                </a:lnTo>
                <a:lnTo>
                  <a:pt x="1284" y="7"/>
                </a:lnTo>
                <a:lnTo>
                  <a:pt x="1284" y="0"/>
                </a:lnTo>
                <a:close/>
                <a:moveTo>
                  <a:pt x="1316" y="0"/>
                </a:moveTo>
                <a:lnTo>
                  <a:pt x="1335" y="0"/>
                </a:lnTo>
                <a:lnTo>
                  <a:pt x="1335" y="7"/>
                </a:lnTo>
                <a:lnTo>
                  <a:pt x="1316" y="7"/>
                </a:lnTo>
                <a:lnTo>
                  <a:pt x="1316" y="0"/>
                </a:lnTo>
                <a:close/>
                <a:moveTo>
                  <a:pt x="1349" y="0"/>
                </a:moveTo>
                <a:lnTo>
                  <a:pt x="1368" y="0"/>
                </a:lnTo>
                <a:lnTo>
                  <a:pt x="1368" y="7"/>
                </a:lnTo>
                <a:lnTo>
                  <a:pt x="1349" y="7"/>
                </a:lnTo>
                <a:lnTo>
                  <a:pt x="1349" y="0"/>
                </a:lnTo>
                <a:close/>
                <a:moveTo>
                  <a:pt x="1382" y="0"/>
                </a:moveTo>
                <a:lnTo>
                  <a:pt x="1401" y="0"/>
                </a:lnTo>
                <a:lnTo>
                  <a:pt x="1401" y="7"/>
                </a:lnTo>
                <a:lnTo>
                  <a:pt x="1382" y="7"/>
                </a:lnTo>
                <a:lnTo>
                  <a:pt x="1382" y="0"/>
                </a:lnTo>
                <a:close/>
                <a:moveTo>
                  <a:pt x="1415" y="0"/>
                </a:moveTo>
                <a:lnTo>
                  <a:pt x="1434" y="0"/>
                </a:lnTo>
                <a:lnTo>
                  <a:pt x="1434" y="7"/>
                </a:lnTo>
                <a:lnTo>
                  <a:pt x="1415" y="7"/>
                </a:lnTo>
                <a:lnTo>
                  <a:pt x="1415" y="0"/>
                </a:lnTo>
                <a:close/>
                <a:moveTo>
                  <a:pt x="1448" y="0"/>
                </a:moveTo>
                <a:lnTo>
                  <a:pt x="1467" y="0"/>
                </a:lnTo>
                <a:lnTo>
                  <a:pt x="1467" y="7"/>
                </a:lnTo>
                <a:lnTo>
                  <a:pt x="1448" y="7"/>
                </a:lnTo>
                <a:lnTo>
                  <a:pt x="1448" y="0"/>
                </a:lnTo>
                <a:close/>
                <a:moveTo>
                  <a:pt x="1481" y="0"/>
                </a:moveTo>
                <a:lnTo>
                  <a:pt x="1500" y="0"/>
                </a:lnTo>
                <a:lnTo>
                  <a:pt x="1500" y="7"/>
                </a:lnTo>
                <a:lnTo>
                  <a:pt x="1481" y="7"/>
                </a:lnTo>
                <a:lnTo>
                  <a:pt x="1481" y="0"/>
                </a:lnTo>
                <a:close/>
                <a:moveTo>
                  <a:pt x="1514" y="0"/>
                </a:moveTo>
                <a:lnTo>
                  <a:pt x="1533" y="0"/>
                </a:lnTo>
                <a:lnTo>
                  <a:pt x="1533" y="7"/>
                </a:lnTo>
                <a:lnTo>
                  <a:pt x="1514" y="7"/>
                </a:lnTo>
                <a:lnTo>
                  <a:pt x="1514" y="0"/>
                </a:lnTo>
                <a:close/>
                <a:moveTo>
                  <a:pt x="1547" y="0"/>
                </a:moveTo>
                <a:lnTo>
                  <a:pt x="1566" y="0"/>
                </a:lnTo>
                <a:lnTo>
                  <a:pt x="1566" y="7"/>
                </a:lnTo>
                <a:lnTo>
                  <a:pt x="1547" y="7"/>
                </a:lnTo>
                <a:lnTo>
                  <a:pt x="1547" y="0"/>
                </a:lnTo>
                <a:close/>
                <a:moveTo>
                  <a:pt x="1580" y="0"/>
                </a:moveTo>
                <a:lnTo>
                  <a:pt x="1599" y="0"/>
                </a:lnTo>
                <a:lnTo>
                  <a:pt x="1599" y="7"/>
                </a:lnTo>
                <a:lnTo>
                  <a:pt x="1580" y="7"/>
                </a:lnTo>
                <a:lnTo>
                  <a:pt x="1580" y="0"/>
                </a:lnTo>
                <a:close/>
                <a:moveTo>
                  <a:pt x="1613" y="0"/>
                </a:moveTo>
                <a:lnTo>
                  <a:pt x="1632" y="0"/>
                </a:lnTo>
                <a:lnTo>
                  <a:pt x="1632" y="7"/>
                </a:lnTo>
                <a:lnTo>
                  <a:pt x="1613" y="7"/>
                </a:lnTo>
                <a:lnTo>
                  <a:pt x="1613" y="0"/>
                </a:lnTo>
                <a:close/>
                <a:moveTo>
                  <a:pt x="1646" y="0"/>
                </a:moveTo>
                <a:lnTo>
                  <a:pt x="1664" y="0"/>
                </a:lnTo>
                <a:lnTo>
                  <a:pt x="1664" y="7"/>
                </a:lnTo>
                <a:lnTo>
                  <a:pt x="1646" y="7"/>
                </a:lnTo>
                <a:lnTo>
                  <a:pt x="1646" y="0"/>
                </a:lnTo>
                <a:close/>
                <a:moveTo>
                  <a:pt x="1679" y="0"/>
                </a:moveTo>
                <a:lnTo>
                  <a:pt x="1697" y="0"/>
                </a:lnTo>
                <a:lnTo>
                  <a:pt x="1697" y="7"/>
                </a:lnTo>
                <a:lnTo>
                  <a:pt x="1679" y="7"/>
                </a:lnTo>
                <a:lnTo>
                  <a:pt x="1679" y="0"/>
                </a:lnTo>
                <a:close/>
                <a:moveTo>
                  <a:pt x="1711" y="0"/>
                </a:moveTo>
                <a:lnTo>
                  <a:pt x="1730" y="0"/>
                </a:lnTo>
                <a:lnTo>
                  <a:pt x="1730" y="7"/>
                </a:lnTo>
                <a:lnTo>
                  <a:pt x="1711" y="7"/>
                </a:lnTo>
                <a:lnTo>
                  <a:pt x="1711" y="0"/>
                </a:lnTo>
                <a:close/>
                <a:moveTo>
                  <a:pt x="1744" y="0"/>
                </a:moveTo>
                <a:lnTo>
                  <a:pt x="1763" y="0"/>
                </a:lnTo>
                <a:lnTo>
                  <a:pt x="1763" y="7"/>
                </a:lnTo>
                <a:lnTo>
                  <a:pt x="1744" y="7"/>
                </a:lnTo>
                <a:lnTo>
                  <a:pt x="1744" y="0"/>
                </a:lnTo>
                <a:close/>
                <a:moveTo>
                  <a:pt x="1777" y="0"/>
                </a:moveTo>
                <a:lnTo>
                  <a:pt x="1796" y="0"/>
                </a:lnTo>
                <a:lnTo>
                  <a:pt x="1796" y="7"/>
                </a:lnTo>
                <a:lnTo>
                  <a:pt x="1777" y="7"/>
                </a:lnTo>
                <a:lnTo>
                  <a:pt x="1777" y="0"/>
                </a:lnTo>
                <a:close/>
                <a:moveTo>
                  <a:pt x="1810" y="0"/>
                </a:moveTo>
                <a:lnTo>
                  <a:pt x="1829" y="0"/>
                </a:lnTo>
                <a:lnTo>
                  <a:pt x="1829" y="7"/>
                </a:lnTo>
                <a:lnTo>
                  <a:pt x="1810" y="7"/>
                </a:lnTo>
                <a:lnTo>
                  <a:pt x="1810" y="0"/>
                </a:lnTo>
                <a:close/>
                <a:moveTo>
                  <a:pt x="1843" y="0"/>
                </a:moveTo>
                <a:lnTo>
                  <a:pt x="1862" y="0"/>
                </a:lnTo>
                <a:lnTo>
                  <a:pt x="1862" y="7"/>
                </a:lnTo>
                <a:lnTo>
                  <a:pt x="1843" y="7"/>
                </a:lnTo>
                <a:lnTo>
                  <a:pt x="1843" y="0"/>
                </a:lnTo>
                <a:close/>
                <a:moveTo>
                  <a:pt x="1876" y="0"/>
                </a:moveTo>
                <a:lnTo>
                  <a:pt x="1895" y="0"/>
                </a:lnTo>
                <a:lnTo>
                  <a:pt x="1895" y="7"/>
                </a:lnTo>
                <a:lnTo>
                  <a:pt x="1876" y="7"/>
                </a:lnTo>
                <a:lnTo>
                  <a:pt x="1876" y="0"/>
                </a:lnTo>
                <a:close/>
                <a:moveTo>
                  <a:pt x="1909" y="0"/>
                </a:moveTo>
                <a:lnTo>
                  <a:pt x="1928" y="0"/>
                </a:lnTo>
                <a:lnTo>
                  <a:pt x="1928" y="7"/>
                </a:lnTo>
                <a:lnTo>
                  <a:pt x="1909" y="7"/>
                </a:lnTo>
                <a:lnTo>
                  <a:pt x="1909" y="0"/>
                </a:lnTo>
                <a:close/>
                <a:moveTo>
                  <a:pt x="1942" y="0"/>
                </a:moveTo>
                <a:lnTo>
                  <a:pt x="1961" y="0"/>
                </a:lnTo>
                <a:lnTo>
                  <a:pt x="1961" y="7"/>
                </a:lnTo>
                <a:lnTo>
                  <a:pt x="1942" y="7"/>
                </a:lnTo>
                <a:lnTo>
                  <a:pt x="1942" y="0"/>
                </a:lnTo>
                <a:close/>
                <a:moveTo>
                  <a:pt x="1975" y="0"/>
                </a:moveTo>
                <a:lnTo>
                  <a:pt x="1994" y="0"/>
                </a:lnTo>
                <a:lnTo>
                  <a:pt x="1994" y="7"/>
                </a:lnTo>
                <a:lnTo>
                  <a:pt x="1975" y="7"/>
                </a:lnTo>
                <a:lnTo>
                  <a:pt x="1975" y="0"/>
                </a:lnTo>
                <a:close/>
                <a:moveTo>
                  <a:pt x="2008" y="0"/>
                </a:moveTo>
                <a:lnTo>
                  <a:pt x="2026" y="0"/>
                </a:lnTo>
                <a:lnTo>
                  <a:pt x="2026" y="7"/>
                </a:lnTo>
                <a:lnTo>
                  <a:pt x="2008" y="7"/>
                </a:lnTo>
                <a:lnTo>
                  <a:pt x="2008" y="0"/>
                </a:lnTo>
                <a:close/>
                <a:moveTo>
                  <a:pt x="2041" y="0"/>
                </a:moveTo>
                <a:lnTo>
                  <a:pt x="2059" y="0"/>
                </a:lnTo>
                <a:lnTo>
                  <a:pt x="2059" y="7"/>
                </a:lnTo>
                <a:lnTo>
                  <a:pt x="2041" y="7"/>
                </a:lnTo>
                <a:lnTo>
                  <a:pt x="2041" y="0"/>
                </a:lnTo>
                <a:close/>
                <a:moveTo>
                  <a:pt x="2074" y="0"/>
                </a:moveTo>
                <a:lnTo>
                  <a:pt x="2093" y="0"/>
                </a:lnTo>
                <a:lnTo>
                  <a:pt x="2093" y="7"/>
                </a:lnTo>
                <a:lnTo>
                  <a:pt x="2074" y="7"/>
                </a:lnTo>
                <a:lnTo>
                  <a:pt x="2074" y="0"/>
                </a:lnTo>
                <a:close/>
                <a:moveTo>
                  <a:pt x="2107" y="0"/>
                </a:moveTo>
                <a:lnTo>
                  <a:pt x="2125" y="0"/>
                </a:lnTo>
                <a:lnTo>
                  <a:pt x="2125" y="7"/>
                </a:lnTo>
                <a:lnTo>
                  <a:pt x="2107" y="7"/>
                </a:lnTo>
                <a:lnTo>
                  <a:pt x="2107" y="0"/>
                </a:lnTo>
                <a:close/>
                <a:moveTo>
                  <a:pt x="2140" y="0"/>
                </a:moveTo>
                <a:lnTo>
                  <a:pt x="2158" y="0"/>
                </a:lnTo>
                <a:lnTo>
                  <a:pt x="2158" y="7"/>
                </a:lnTo>
                <a:lnTo>
                  <a:pt x="2140" y="7"/>
                </a:lnTo>
                <a:lnTo>
                  <a:pt x="2140" y="0"/>
                </a:lnTo>
                <a:close/>
                <a:moveTo>
                  <a:pt x="2172" y="0"/>
                </a:moveTo>
                <a:lnTo>
                  <a:pt x="2191" y="0"/>
                </a:lnTo>
                <a:lnTo>
                  <a:pt x="2191" y="7"/>
                </a:lnTo>
                <a:lnTo>
                  <a:pt x="2172" y="7"/>
                </a:lnTo>
                <a:lnTo>
                  <a:pt x="2172" y="0"/>
                </a:lnTo>
                <a:close/>
                <a:moveTo>
                  <a:pt x="2205" y="0"/>
                </a:moveTo>
                <a:lnTo>
                  <a:pt x="2224" y="0"/>
                </a:lnTo>
                <a:lnTo>
                  <a:pt x="2224" y="7"/>
                </a:lnTo>
                <a:lnTo>
                  <a:pt x="2205" y="7"/>
                </a:lnTo>
                <a:lnTo>
                  <a:pt x="2205" y="0"/>
                </a:lnTo>
                <a:close/>
                <a:moveTo>
                  <a:pt x="2238" y="0"/>
                </a:moveTo>
                <a:lnTo>
                  <a:pt x="2257" y="0"/>
                </a:lnTo>
                <a:lnTo>
                  <a:pt x="2257" y="7"/>
                </a:lnTo>
                <a:lnTo>
                  <a:pt x="2238" y="7"/>
                </a:lnTo>
                <a:lnTo>
                  <a:pt x="2238" y="0"/>
                </a:lnTo>
                <a:close/>
                <a:moveTo>
                  <a:pt x="2271" y="0"/>
                </a:moveTo>
                <a:lnTo>
                  <a:pt x="2290" y="0"/>
                </a:lnTo>
                <a:lnTo>
                  <a:pt x="2290" y="7"/>
                </a:lnTo>
                <a:lnTo>
                  <a:pt x="2271" y="7"/>
                </a:lnTo>
                <a:lnTo>
                  <a:pt x="2271" y="0"/>
                </a:lnTo>
                <a:close/>
                <a:moveTo>
                  <a:pt x="2304" y="0"/>
                </a:moveTo>
                <a:lnTo>
                  <a:pt x="2323" y="0"/>
                </a:lnTo>
                <a:lnTo>
                  <a:pt x="2323" y="7"/>
                </a:lnTo>
                <a:lnTo>
                  <a:pt x="2304" y="7"/>
                </a:lnTo>
                <a:lnTo>
                  <a:pt x="2304" y="0"/>
                </a:lnTo>
                <a:close/>
                <a:moveTo>
                  <a:pt x="2337" y="0"/>
                </a:moveTo>
                <a:lnTo>
                  <a:pt x="2356" y="0"/>
                </a:lnTo>
                <a:lnTo>
                  <a:pt x="2356" y="7"/>
                </a:lnTo>
                <a:lnTo>
                  <a:pt x="2337" y="7"/>
                </a:lnTo>
                <a:lnTo>
                  <a:pt x="2337" y="0"/>
                </a:lnTo>
                <a:close/>
                <a:moveTo>
                  <a:pt x="2370" y="0"/>
                </a:moveTo>
                <a:lnTo>
                  <a:pt x="2389" y="0"/>
                </a:lnTo>
                <a:lnTo>
                  <a:pt x="2389" y="7"/>
                </a:lnTo>
                <a:lnTo>
                  <a:pt x="2370" y="7"/>
                </a:lnTo>
                <a:lnTo>
                  <a:pt x="2370" y="0"/>
                </a:lnTo>
                <a:close/>
                <a:moveTo>
                  <a:pt x="2403" y="0"/>
                </a:moveTo>
                <a:lnTo>
                  <a:pt x="2422" y="0"/>
                </a:lnTo>
                <a:lnTo>
                  <a:pt x="2422" y="7"/>
                </a:lnTo>
                <a:lnTo>
                  <a:pt x="2403" y="7"/>
                </a:lnTo>
                <a:lnTo>
                  <a:pt x="2403" y="0"/>
                </a:ln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40" name="Rectangle 35"/>
          <p:cNvSpPr>
            <a:spLocks noChangeArrowheads="1"/>
          </p:cNvSpPr>
          <p:nvPr/>
        </p:nvSpPr>
        <p:spPr bwMode="auto">
          <a:xfrm>
            <a:off x="226980" y="2967064"/>
            <a:ext cx="248466"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1400" dirty="0">
                <a:solidFill>
                  <a:srgbClr val="000000"/>
                </a:solidFill>
                <a:latin typeface="Arial" panose="020B0604020202020204" pitchFamily="34" charset="0"/>
                <a:ea typeface="宋体" panose="02010600030101010101" pitchFamily="2" charset="-122"/>
                <a:cs typeface="宋体" panose="02010600030101010101" pitchFamily="2" charset="-122"/>
              </a:rPr>
              <a:t>L3 </a:t>
            </a:r>
            <a:endParaRPr kumimoji="0" lang="zh-CN"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1" name="Rectangle 36"/>
          <p:cNvSpPr>
            <a:spLocks noChangeArrowheads="1"/>
          </p:cNvSpPr>
          <p:nvPr/>
        </p:nvSpPr>
        <p:spPr bwMode="auto">
          <a:xfrm>
            <a:off x="222247" y="4040766"/>
            <a:ext cx="198772"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L</a:t>
            </a:r>
            <a:r>
              <a:rPr kumimoji="0" lang="en-US" altLang="zh-CN" sz="14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a:t>
            </a:r>
            <a:endParaRPr kumimoji="0" lang="zh-CN"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3" name="Rectangle 38"/>
          <p:cNvSpPr>
            <a:spLocks noChangeArrowheads="1"/>
          </p:cNvSpPr>
          <p:nvPr/>
        </p:nvSpPr>
        <p:spPr bwMode="auto">
          <a:xfrm>
            <a:off x="222247" y="5108618"/>
            <a:ext cx="198438" cy="21590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L1</a:t>
            </a:r>
            <a:endParaRPr kumimoji="0" lang="zh-CN"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5" name="Rectangle 44"/>
          <p:cNvSpPr>
            <a:spLocks noChangeArrowheads="1"/>
          </p:cNvSpPr>
          <p:nvPr/>
        </p:nvSpPr>
        <p:spPr bwMode="auto">
          <a:xfrm>
            <a:off x="2987666" y="5386404"/>
            <a:ext cx="1155706" cy="400050"/>
          </a:xfrm>
          <a:prstGeom prst="rect">
            <a:avLst/>
          </a:prstGeom>
          <a:solidFill>
            <a:srgbClr val="FFFFFF"/>
          </a:solidFill>
          <a:ln w="9525">
            <a:noFill/>
            <a:miter lim="800000"/>
          </a:ln>
        </p:spPr>
        <p:txBody>
          <a:bodyPr vert="horz" wrap="square" lIns="91440" tIns="45720" rIns="91440" bIns="45720" numCol="1" anchor="t" anchorCtr="0" compatLnSpc="1"/>
          <a:lstStyle/>
          <a:p>
            <a:endParaRPr lang="zh-CN" altLang="en-US"/>
          </a:p>
        </p:txBody>
      </p:sp>
      <p:sp>
        <p:nvSpPr>
          <p:cNvPr id="46" name="Rectangle 45"/>
          <p:cNvSpPr>
            <a:spLocks noChangeArrowheads="1"/>
          </p:cNvSpPr>
          <p:nvPr/>
        </p:nvSpPr>
        <p:spPr bwMode="auto">
          <a:xfrm>
            <a:off x="2703499" y="5490122"/>
            <a:ext cx="1267976"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400" dirty="0">
                <a:solidFill>
                  <a:srgbClr val="000000"/>
                </a:solidFill>
                <a:latin typeface="微软雅黑" panose="020B0503020204020204" charset="-122"/>
                <a:ea typeface="微软雅黑" panose="020B0503020204020204" charset="-122"/>
                <a:cs typeface="宋体" panose="02010600030101010101" pitchFamily="2" charset="-122"/>
              </a:rPr>
              <a:t>       </a:t>
            </a:r>
            <a:r>
              <a:rPr kumimoji="0" lang="zh-CN" sz="1400" i="0" u="none" strike="noStrike" cap="none" normalizeH="0" baseline="0" dirty="0">
                <a:ln>
                  <a:noFill/>
                </a:ln>
                <a:solidFill>
                  <a:srgbClr val="000000"/>
                </a:solidFill>
                <a:effectLst/>
                <a:latin typeface="微软雅黑" panose="020B0503020204020204" charset="-122"/>
                <a:ea typeface="微软雅黑" panose="020B0503020204020204" charset="-122"/>
                <a:cs typeface="宋体" panose="02010600030101010101" pitchFamily="2" charset="-122"/>
              </a:rPr>
              <a:t>自动化</a:t>
            </a:r>
            <a:r>
              <a:rPr lang="zh-CN" altLang="en-US" sz="1400" dirty="0">
                <a:solidFill>
                  <a:srgbClr val="000000"/>
                </a:solidFill>
                <a:latin typeface="微软雅黑" panose="020B0503020204020204" charset="-122"/>
                <a:ea typeface="微软雅黑" panose="020B0503020204020204" charset="-122"/>
                <a:cs typeface="宋体" panose="02010600030101010101" pitchFamily="2" charset="-122"/>
              </a:rPr>
              <a:t>设备</a:t>
            </a:r>
            <a:endParaRPr kumimoji="0" lang="zh-CN" sz="140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p:txBody>
      </p:sp>
      <p:sp>
        <p:nvSpPr>
          <p:cNvPr id="47" name="Rectangle 46"/>
          <p:cNvSpPr>
            <a:spLocks noChangeArrowheads="1"/>
          </p:cNvSpPr>
          <p:nvPr/>
        </p:nvSpPr>
        <p:spPr bwMode="auto">
          <a:xfrm>
            <a:off x="811210" y="1714488"/>
            <a:ext cx="3304800" cy="881061"/>
          </a:xfrm>
          <a:prstGeom prst="rect">
            <a:avLst/>
          </a:prstGeom>
          <a:solidFill>
            <a:srgbClr val="B8C0FC"/>
          </a:solidFill>
          <a:ln w="9525">
            <a:noFill/>
            <a:miter lim="800000"/>
          </a:ln>
        </p:spPr>
        <p:txBody>
          <a:bodyPr vert="horz" wrap="square" lIns="91440" tIns="45720" rIns="91440" bIns="45720" numCol="1" anchor="t" anchorCtr="0" compatLnSpc="1"/>
          <a:lstStyle/>
          <a:p>
            <a:endParaRPr lang="zh-CN" altLang="en-US"/>
          </a:p>
        </p:txBody>
      </p:sp>
      <p:sp>
        <p:nvSpPr>
          <p:cNvPr id="48" name="Rectangle 47"/>
          <p:cNvSpPr>
            <a:spLocks noChangeArrowheads="1"/>
          </p:cNvSpPr>
          <p:nvPr/>
        </p:nvSpPr>
        <p:spPr bwMode="auto">
          <a:xfrm>
            <a:off x="2146297" y="2172278"/>
            <a:ext cx="1282695" cy="398463"/>
          </a:xfrm>
          <a:prstGeom prst="rect">
            <a:avLst/>
          </a:prstGeom>
          <a:solidFill>
            <a:srgbClr val="FFFFFF"/>
          </a:solidFill>
          <a:ln w="9525">
            <a:noFill/>
            <a:miter lim="800000"/>
          </a:ln>
        </p:spPr>
        <p:txBody>
          <a:bodyPr vert="horz" wrap="square" lIns="91440" tIns="45720" rIns="91440" bIns="45720" numCol="1" anchor="t" anchorCtr="0" compatLnSpc="1"/>
          <a:lstStyle/>
          <a:p>
            <a:endParaRPr lang="zh-CN" altLang="en-US"/>
          </a:p>
        </p:txBody>
      </p:sp>
      <p:sp>
        <p:nvSpPr>
          <p:cNvPr id="49" name="Rectangle 48"/>
          <p:cNvSpPr>
            <a:spLocks noChangeArrowheads="1"/>
          </p:cNvSpPr>
          <p:nvPr/>
        </p:nvSpPr>
        <p:spPr bwMode="auto">
          <a:xfrm>
            <a:off x="2294917" y="2254828"/>
            <a:ext cx="718145"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rPr>
              <a:t>数据分析</a:t>
            </a:r>
            <a:endParaRPr kumimoji="0" lang="zh-CN" altLang="zh-CN" sz="1400"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p:txBody>
      </p:sp>
      <p:sp>
        <p:nvSpPr>
          <p:cNvPr id="50" name="Rectangle 50"/>
          <p:cNvSpPr>
            <a:spLocks noChangeArrowheads="1"/>
          </p:cNvSpPr>
          <p:nvPr/>
        </p:nvSpPr>
        <p:spPr bwMode="auto">
          <a:xfrm>
            <a:off x="941360" y="2038370"/>
            <a:ext cx="615553" cy="184666"/>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200" dirty="0">
                <a:solidFill>
                  <a:srgbClr val="000000"/>
                </a:solidFill>
                <a:latin typeface="宋体" panose="02010600030101010101" pitchFamily="2" charset="-122"/>
                <a:ea typeface="宋体" panose="02010600030101010101" pitchFamily="2" charset="-122"/>
                <a:cs typeface="宋体" panose="02010600030101010101" pitchFamily="2" charset="-122"/>
              </a:rPr>
              <a:t>业务分析</a:t>
            </a:r>
            <a:endPar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 name="Rectangle 47"/>
          <p:cNvSpPr>
            <a:spLocks noChangeArrowheads="1"/>
          </p:cNvSpPr>
          <p:nvPr/>
        </p:nvSpPr>
        <p:spPr bwMode="auto">
          <a:xfrm>
            <a:off x="2227244" y="3109940"/>
            <a:ext cx="1222375" cy="398463"/>
          </a:xfrm>
          <a:prstGeom prst="rect">
            <a:avLst/>
          </a:prstGeom>
          <a:solidFill>
            <a:srgbClr val="FFFFFF"/>
          </a:solidFill>
          <a:ln w="9525">
            <a:noFill/>
            <a:miter lim="800000"/>
          </a:ln>
        </p:spPr>
        <p:txBody>
          <a:bodyPr vert="horz" wrap="square" lIns="91440" tIns="45720" rIns="91440" bIns="45720" numCol="1" anchor="t" anchorCtr="0" compatLnSpc="1"/>
          <a:lstStyle/>
          <a:p>
            <a:endParaRPr lang="zh-CN" altLang="en-US" dirty="0">
              <a:solidFill>
                <a:schemeClr val="tx1"/>
              </a:solidFill>
            </a:endParaRPr>
          </a:p>
        </p:txBody>
      </p:sp>
      <p:sp>
        <p:nvSpPr>
          <p:cNvPr id="6" name="Rectangle 17"/>
          <p:cNvSpPr>
            <a:spLocks noChangeArrowheads="1"/>
          </p:cNvSpPr>
          <p:nvPr/>
        </p:nvSpPr>
        <p:spPr bwMode="auto">
          <a:xfrm>
            <a:off x="1880560" y="4120856"/>
            <a:ext cx="1222375" cy="400050"/>
          </a:xfrm>
          <a:prstGeom prst="rect">
            <a:avLst/>
          </a:prstGeom>
          <a:solidFill>
            <a:srgbClr val="FFFFFF"/>
          </a:solidFill>
          <a:ln w="9525">
            <a:noFill/>
            <a:miter lim="800000"/>
          </a:ln>
        </p:spPr>
        <p:txBody>
          <a:bodyPr vert="horz" wrap="square" lIns="91440" tIns="45720" rIns="91440" bIns="45720" numCol="1" anchor="t" anchorCtr="0" compatLnSpc="1"/>
          <a:lstStyle/>
          <a:p>
            <a:endParaRPr lang="zh-CN" altLang="en-US"/>
          </a:p>
        </p:txBody>
      </p:sp>
      <p:sp>
        <p:nvSpPr>
          <p:cNvPr id="7" name="Rectangle 18"/>
          <p:cNvSpPr>
            <a:spLocks noChangeArrowheads="1"/>
          </p:cNvSpPr>
          <p:nvPr/>
        </p:nvSpPr>
        <p:spPr bwMode="auto">
          <a:xfrm>
            <a:off x="2214546" y="4141121"/>
            <a:ext cx="461665" cy="430887"/>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1400" dirty="0">
                <a:solidFill>
                  <a:srgbClr val="000000"/>
                </a:solidFill>
                <a:latin typeface="微软雅黑" panose="020B0503020204020204" charset="-122"/>
                <a:ea typeface="微软雅黑" panose="020B0503020204020204" charset="-122"/>
                <a:cs typeface="宋体" panose="02010600030101010101" pitchFamily="2" charset="-122"/>
              </a:rPr>
              <a:t>WMS</a:t>
            </a: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rgbClr val="000000"/>
                </a:solidFill>
                <a:effectLst/>
                <a:latin typeface="微软雅黑" panose="020B0503020204020204" charset="-122"/>
                <a:ea typeface="微软雅黑" panose="020B0503020204020204" charset="-122"/>
                <a:cs typeface="宋体" panose="02010600030101010101" pitchFamily="2" charset="-122"/>
              </a:rPr>
              <a:t>仓储</a:t>
            </a:r>
            <a:endParaRPr kumimoji="0" lang="zh-CN" altLang="zh-CN" sz="1400"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p:txBody>
      </p:sp>
      <p:sp>
        <p:nvSpPr>
          <p:cNvPr id="8" name="Rectangle 48"/>
          <p:cNvSpPr>
            <a:spLocks noChangeArrowheads="1"/>
          </p:cNvSpPr>
          <p:nvPr/>
        </p:nvSpPr>
        <p:spPr bwMode="auto">
          <a:xfrm>
            <a:off x="2526710" y="3191122"/>
            <a:ext cx="545092" cy="215444"/>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rPr>
              <a:t>ERP</a:t>
            </a:r>
            <a:endParaRPr kumimoji="0" lang="zh-CN" altLang="zh-CN" sz="140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p:txBody>
      </p:sp>
      <p:sp>
        <p:nvSpPr>
          <p:cNvPr id="9" name="Rectangle 17"/>
          <p:cNvSpPr>
            <a:spLocks noChangeArrowheads="1"/>
          </p:cNvSpPr>
          <p:nvPr/>
        </p:nvSpPr>
        <p:spPr bwMode="auto">
          <a:xfrm>
            <a:off x="869922" y="3324254"/>
            <a:ext cx="1222375" cy="400050"/>
          </a:xfrm>
          <a:prstGeom prst="rect">
            <a:avLst/>
          </a:prstGeom>
          <a:solidFill>
            <a:srgbClr val="FFFFFF"/>
          </a:solidFill>
          <a:ln w="9525">
            <a:noFill/>
            <a:miter lim="800000"/>
          </a:ln>
        </p:spPr>
        <p:txBody>
          <a:bodyPr vert="horz" wrap="square" lIns="91440" tIns="45720" rIns="91440" bIns="45720" numCol="1" anchor="t" anchorCtr="0" compatLnSpc="1"/>
          <a:lstStyle/>
          <a:p>
            <a:endParaRPr lang="zh-CN" altLang="en-US"/>
          </a:p>
        </p:txBody>
      </p:sp>
      <p:sp>
        <p:nvSpPr>
          <p:cNvPr id="10" name="Rectangle 18"/>
          <p:cNvSpPr>
            <a:spLocks noChangeArrowheads="1"/>
          </p:cNvSpPr>
          <p:nvPr/>
        </p:nvSpPr>
        <p:spPr bwMode="auto">
          <a:xfrm>
            <a:off x="928662" y="3375272"/>
            <a:ext cx="1059585"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1400" dirty="0">
                <a:solidFill>
                  <a:srgbClr val="000000"/>
                </a:solidFill>
                <a:latin typeface="微软雅黑" panose="020B0503020204020204" charset="-122"/>
                <a:ea typeface="微软雅黑" panose="020B0503020204020204" charset="-122"/>
                <a:cs typeface="宋体" panose="02010600030101010101" pitchFamily="2" charset="-122"/>
              </a:rPr>
              <a:t>AP</a:t>
            </a:r>
            <a:r>
              <a:rPr kumimoji="0" lang="zh-CN" altLang="zh-CN" sz="1400" i="0" u="none" strike="noStrike" cap="none" normalizeH="0" baseline="0" dirty="0">
                <a:ln>
                  <a:noFill/>
                </a:ln>
                <a:solidFill>
                  <a:srgbClr val="000000"/>
                </a:solidFill>
                <a:effectLst/>
                <a:latin typeface="微软雅黑" panose="020B0503020204020204" charset="-122"/>
                <a:ea typeface="微软雅黑" panose="020B0503020204020204" charset="-122"/>
                <a:cs typeface="宋体" panose="02010600030101010101" pitchFamily="2" charset="-122"/>
              </a:rPr>
              <a:t>S</a:t>
            </a:r>
            <a:r>
              <a:rPr kumimoji="0" lang="zh-CN" altLang="en-US" sz="1400" i="0" u="none" strike="noStrike" cap="none" normalizeH="0" baseline="0" dirty="0">
                <a:ln>
                  <a:noFill/>
                </a:ln>
                <a:solidFill>
                  <a:srgbClr val="000000"/>
                </a:solidFill>
                <a:effectLst/>
                <a:latin typeface="微软雅黑" panose="020B0503020204020204" charset="-122"/>
                <a:ea typeface="微软雅黑" panose="020B0503020204020204" charset="-122"/>
                <a:cs typeface="宋体" panose="02010600030101010101" pitchFamily="2" charset="-122"/>
              </a:rPr>
              <a:t>高级排产</a:t>
            </a:r>
            <a:endParaRPr kumimoji="0" lang="zh-CN" altLang="zh-CN"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p:txBody>
      </p:sp>
      <p:sp>
        <p:nvSpPr>
          <p:cNvPr id="11" name="Rectangle 44"/>
          <p:cNvSpPr>
            <a:spLocks noChangeArrowheads="1"/>
          </p:cNvSpPr>
          <p:nvPr/>
        </p:nvSpPr>
        <p:spPr bwMode="auto">
          <a:xfrm>
            <a:off x="857224" y="6029346"/>
            <a:ext cx="993227" cy="40005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anchor="t" anchorCtr="0" compatLnSpc="1"/>
          <a:lstStyle/>
          <a:p>
            <a:endParaRPr lang="zh-CN" altLang="en-US"/>
          </a:p>
        </p:txBody>
      </p:sp>
      <p:sp>
        <p:nvSpPr>
          <p:cNvPr id="12" name="Rectangle 45"/>
          <p:cNvSpPr>
            <a:spLocks noChangeArrowheads="1"/>
          </p:cNvSpPr>
          <p:nvPr/>
        </p:nvSpPr>
        <p:spPr bwMode="auto">
          <a:xfrm>
            <a:off x="918275" y="6100784"/>
            <a:ext cx="718145"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rPr>
              <a:t>工厂模拟</a:t>
            </a:r>
            <a:endParaRPr kumimoji="0" lang="zh-CN" sz="140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p:txBody>
      </p:sp>
      <p:sp>
        <p:nvSpPr>
          <p:cNvPr id="51" name="Rectangle 44"/>
          <p:cNvSpPr>
            <a:spLocks noChangeArrowheads="1"/>
          </p:cNvSpPr>
          <p:nvPr/>
        </p:nvSpPr>
        <p:spPr bwMode="auto">
          <a:xfrm>
            <a:off x="2500298" y="4929198"/>
            <a:ext cx="857256" cy="400050"/>
          </a:xfrm>
          <a:prstGeom prst="rect">
            <a:avLst/>
          </a:prstGeom>
          <a:solidFill>
            <a:srgbClr val="FFFFFF"/>
          </a:solidFill>
          <a:ln w="9525">
            <a:noFill/>
            <a:miter lim="800000"/>
          </a:ln>
        </p:spPr>
        <p:txBody>
          <a:bodyPr vert="horz" wrap="square" lIns="91440" tIns="45720" rIns="91440" bIns="45720" numCol="1" anchor="t" anchorCtr="0" compatLnSpc="1"/>
          <a:lstStyle/>
          <a:p>
            <a:endParaRPr lang="zh-CN" altLang="en-US"/>
          </a:p>
        </p:txBody>
      </p:sp>
      <p:sp>
        <p:nvSpPr>
          <p:cNvPr id="52" name="Rectangle 45"/>
          <p:cNvSpPr>
            <a:spLocks noChangeArrowheads="1"/>
          </p:cNvSpPr>
          <p:nvPr/>
        </p:nvSpPr>
        <p:spPr bwMode="auto">
          <a:xfrm>
            <a:off x="2560623" y="5032916"/>
            <a:ext cx="718145"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rPr>
              <a:t>控制系统</a:t>
            </a:r>
            <a:endParaRPr kumimoji="0" lang="zh-CN" sz="1400"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p:txBody>
      </p:sp>
      <p:sp>
        <p:nvSpPr>
          <p:cNvPr id="39" name="Freeform 34"/>
          <p:cNvSpPr>
            <a:spLocks noEditPoints="1"/>
          </p:cNvSpPr>
          <p:nvPr/>
        </p:nvSpPr>
        <p:spPr bwMode="auto">
          <a:xfrm>
            <a:off x="226980" y="2538436"/>
            <a:ext cx="3792538" cy="11113"/>
          </a:xfrm>
          <a:custGeom>
            <a:avLst/>
            <a:gdLst/>
            <a:ahLst/>
            <a:cxnLst>
              <a:cxn ang="0">
                <a:pos x="33" y="0"/>
              </a:cxn>
              <a:cxn ang="0">
                <a:pos x="84" y="0"/>
              </a:cxn>
              <a:cxn ang="0">
                <a:pos x="117" y="7"/>
              </a:cxn>
              <a:cxn ang="0">
                <a:pos x="131" y="7"/>
              </a:cxn>
              <a:cxn ang="0">
                <a:pos x="164" y="0"/>
              </a:cxn>
              <a:cxn ang="0">
                <a:pos x="230" y="0"/>
              </a:cxn>
              <a:cxn ang="0">
                <a:pos x="282" y="0"/>
              </a:cxn>
              <a:cxn ang="0">
                <a:pos x="315" y="7"/>
              </a:cxn>
              <a:cxn ang="0">
                <a:pos x="329" y="7"/>
              </a:cxn>
              <a:cxn ang="0">
                <a:pos x="362" y="0"/>
              </a:cxn>
              <a:cxn ang="0">
                <a:pos x="428" y="0"/>
              </a:cxn>
              <a:cxn ang="0">
                <a:pos x="479" y="0"/>
              </a:cxn>
              <a:cxn ang="0">
                <a:pos x="512" y="7"/>
              </a:cxn>
              <a:cxn ang="0">
                <a:pos x="526" y="7"/>
              </a:cxn>
              <a:cxn ang="0">
                <a:pos x="559" y="0"/>
              </a:cxn>
              <a:cxn ang="0">
                <a:pos x="625" y="0"/>
              </a:cxn>
              <a:cxn ang="0">
                <a:pos x="677" y="0"/>
              </a:cxn>
              <a:cxn ang="0">
                <a:pos x="710" y="7"/>
              </a:cxn>
              <a:cxn ang="0">
                <a:pos x="724" y="7"/>
              </a:cxn>
              <a:cxn ang="0">
                <a:pos x="757" y="0"/>
              </a:cxn>
              <a:cxn ang="0">
                <a:pos x="823" y="0"/>
              </a:cxn>
              <a:cxn ang="0">
                <a:pos x="874" y="0"/>
              </a:cxn>
              <a:cxn ang="0">
                <a:pos x="907" y="7"/>
              </a:cxn>
              <a:cxn ang="0">
                <a:pos x="922" y="7"/>
              </a:cxn>
              <a:cxn ang="0">
                <a:pos x="954" y="0"/>
              </a:cxn>
              <a:cxn ang="0">
                <a:pos x="1020" y="0"/>
              </a:cxn>
              <a:cxn ang="0">
                <a:pos x="1072" y="0"/>
              </a:cxn>
              <a:cxn ang="0">
                <a:pos x="1105" y="7"/>
              </a:cxn>
              <a:cxn ang="0">
                <a:pos x="1119" y="7"/>
              </a:cxn>
              <a:cxn ang="0">
                <a:pos x="1152" y="0"/>
              </a:cxn>
              <a:cxn ang="0">
                <a:pos x="1218" y="0"/>
              </a:cxn>
              <a:cxn ang="0">
                <a:pos x="1270" y="0"/>
              </a:cxn>
              <a:cxn ang="0">
                <a:pos x="1302" y="7"/>
              </a:cxn>
              <a:cxn ang="0">
                <a:pos x="1316" y="7"/>
              </a:cxn>
              <a:cxn ang="0">
                <a:pos x="1349" y="0"/>
              </a:cxn>
              <a:cxn ang="0">
                <a:pos x="1415" y="0"/>
              </a:cxn>
              <a:cxn ang="0">
                <a:pos x="1467" y="0"/>
              </a:cxn>
              <a:cxn ang="0">
                <a:pos x="1500" y="7"/>
              </a:cxn>
              <a:cxn ang="0">
                <a:pos x="1514" y="7"/>
              </a:cxn>
              <a:cxn ang="0">
                <a:pos x="1547" y="0"/>
              </a:cxn>
              <a:cxn ang="0">
                <a:pos x="1613" y="0"/>
              </a:cxn>
              <a:cxn ang="0">
                <a:pos x="1664" y="0"/>
              </a:cxn>
              <a:cxn ang="0">
                <a:pos x="1697" y="7"/>
              </a:cxn>
              <a:cxn ang="0">
                <a:pos x="1711" y="7"/>
              </a:cxn>
              <a:cxn ang="0">
                <a:pos x="1744" y="0"/>
              </a:cxn>
              <a:cxn ang="0">
                <a:pos x="1810" y="0"/>
              </a:cxn>
              <a:cxn ang="0">
                <a:pos x="1862" y="0"/>
              </a:cxn>
              <a:cxn ang="0">
                <a:pos x="1895" y="7"/>
              </a:cxn>
              <a:cxn ang="0">
                <a:pos x="1909" y="7"/>
              </a:cxn>
              <a:cxn ang="0">
                <a:pos x="1942" y="0"/>
              </a:cxn>
              <a:cxn ang="0">
                <a:pos x="2008" y="0"/>
              </a:cxn>
              <a:cxn ang="0">
                <a:pos x="2059" y="0"/>
              </a:cxn>
              <a:cxn ang="0">
                <a:pos x="2093" y="7"/>
              </a:cxn>
              <a:cxn ang="0">
                <a:pos x="2107" y="7"/>
              </a:cxn>
              <a:cxn ang="0">
                <a:pos x="2140" y="0"/>
              </a:cxn>
              <a:cxn ang="0">
                <a:pos x="2205" y="0"/>
              </a:cxn>
              <a:cxn ang="0">
                <a:pos x="2257" y="0"/>
              </a:cxn>
              <a:cxn ang="0">
                <a:pos x="2290" y="7"/>
              </a:cxn>
              <a:cxn ang="0">
                <a:pos x="2304" y="7"/>
              </a:cxn>
              <a:cxn ang="0">
                <a:pos x="2337" y="0"/>
              </a:cxn>
            </a:cxnLst>
            <a:rect l="0" t="0" r="r" b="b"/>
            <a:pathLst>
              <a:path w="2389" h="7">
                <a:moveTo>
                  <a:pt x="0" y="0"/>
                </a:moveTo>
                <a:lnTo>
                  <a:pt x="19" y="0"/>
                </a:lnTo>
                <a:lnTo>
                  <a:pt x="19" y="7"/>
                </a:lnTo>
                <a:lnTo>
                  <a:pt x="0" y="7"/>
                </a:lnTo>
                <a:lnTo>
                  <a:pt x="0" y="0"/>
                </a:lnTo>
                <a:close/>
                <a:moveTo>
                  <a:pt x="33" y="0"/>
                </a:moveTo>
                <a:lnTo>
                  <a:pt x="52" y="0"/>
                </a:lnTo>
                <a:lnTo>
                  <a:pt x="52" y="7"/>
                </a:lnTo>
                <a:lnTo>
                  <a:pt x="33" y="7"/>
                </a:lnTo>
                <a:lnTo>
                  <a:pt x="33" y="0"/>
                </a:lnTo>
                <a:close/>
                <a:moveTo>
                  <a:pt x="66" y="0"/>
                </a:moveTo>
                <a:lnTo>
                  <a:pt x="84" y="0"/>
                </a:lnTo>
                <a:lnTo>
                  <a:pt x="84" y="7"/>
                </a:lnTo>
                <a:lnTo>
                  <a:pt x="66" y="7"/>
                </a:lnTo>
                <a:lnTo>
                  <a:pt x="66" y="0"/>
                </a:lnTo>
                <a:close/>
                <a:moveTo>
                  <a:pt x="99" y="0"/>
                </a:moveTo>
                <a:lnTo>
                  <a:pt x="117" y="0"/>
                </a:lnTo>
                <a:lnTo>
                  <a:pt x="117" y="7"/>
                </a:lnTo>
                <a:lnTo>
                  <a:pt x="99" y="7"/>
                </a:lnTo>
                <a:lnTo>
                  <a:pt x="99" y="0"/>
                </a:lnTo>
                <a:close/>
                <a:moveTo>
                  <a:pt x="131" y="0"/>
                </a:moveTo>
                <a:lnTo>
                  <a:pt x="150" y="0"/>
                </a:lnTo>
                <a:lnTo>
                  <a:pt x="150" y="7"/>
                </a:lnTo>
                <a:lnTo>
                  <a:pt x="131" y="7"/>
                </a:lnTo>
                <a:lnTo>
                  <a:pt x="131" y="0"/>
                </a:lnTo>
                <a:close/>
                <a:moveTo>
                  <a:pt x="164" y="0"/>
                </a:moveTo>
                <a:lnTo>
                  <a:pt x="183" y="0"/>
                </a:lnTo>
                <a:lnTo>
                  <a:pt x="183" y="7"/>
                </a:lnTo>
                <a:lnTo>
                  <a:pt x="164" y="7"/>
                </a:lnTo>
                <a:lnTo>
                  <a:pt x="164" y="0"/>
                </a:lnTo>
                <a:close/>
                <a:moveTo>
                  <a:pt x="197" y="0"/>
                </a:moveTo>
                <a:lnTo>
                  <a:pt x="216" y="0"/>
                </a:lnTo>
                <a:lnTo>
                  <a:pt x="216" y="7"/>
                </a:lnTo>
                <a:lnTo>
                  <a:pt x="197" y="7"/>
                </a:lnTo>
                <a:lnTo>
                  <a:pt x="197" y="0"/>
                </a:lnTo>
                <a:close/>
                <a:moveTo>
                  <a:pt x="230" y="0"/>
                </a:moveTo>
                <a:lnTo>
                  <a:pt x="249" y="0"/>
                </a:lnTo>
                <a:lnTo>
                  <a:pt x="249" y="7"/>
                </a:lnTo>
                <a:lnTo>
                  <a:pt x="230" y="7"/>
                </a:lnTo>
                <a:lnTo>
                  <a:pt x="230" y="0"/>
                </a:lnTo>
                <a:close/>
                <a:moveTo>
                  <a:pt x="263" y="0"/>
                </a:moveTo>
                <a:lnTo>
                  <a:pt x="282" y="0"/>
                </a:lnTo>
                <a:lnTo>
                  <a:pt x="282" y="7"/>
                </a:lnTo>
                <a:lnTo>
                  <a:pt x="263" y="7"/>
                </a:lnTo>
                <a:lnTo>
                  <a:pt x="263" y="0"/>
                </a:lnTo>
                <a:close/>
                <a:moveTo>
                  <a:pt x="296" y="0"/>
                </a:moveTo>
                <a:lnTo>
                  <a:pt x="315" y="0"/>
                </a:lnTo>
                <a:lnTo>
                  <a:pt x="315" y="7"/>
                </a:lnTo>
                <a:lnTo>
                  <a:pt x="296" y="7"/>
                </a:lnTo>
                <a:lnTo>
                  <a:pt x="296" y="0"/>
                </a:lnTo>
                <a:close/>
                <a:moveTo>
                  <a:pt x="329" y="0"/>
                </a:moveTo>
                <a:lnTo>
                  <a:pt x="348" y="0"/>
                </a:lnTo>
                <a:lnTo>
                  <a:pt x="348" y="7"/>
                </a:lnTo>
                <a:lnTo>
                  <a:pt x="329" y="7"/>
                </a:lnTo>
                <a:lnTo>
                  <a:pt x="329" y="0"/>
                </a:lnTo>
                <a:close/>
                <a:moveTo>
                  <a:pt x="362" y="0"/>
                </a:moveTo>
                <a:lnTo>
                  <a:pt x="381" y="0"/>
                </a:lnTo>
                <a:lnTo>
                  <a:pt x="381" y="7"/>
                </a:lnTo>
                <a:lnTo>
                  <a:pt x="362" y="7"/>
                </a:lnTo>
                <a:lnTo>
                  <a:pt x="362" y="0"/>
                </a:lnTo>
                <a:close/>
                <a:moveTo>
                  <a:pt x="395" y="0"/>
                </a:moveTo>
                <a:lnTo>
                  <a:pt x="414" y="0"/>
                </a:lnTo>
                <a:lnTo>
                  <a:pt x="414" y="7"/>
                </a:lnTo>
                <a:lnTo>
                  <a:pt x="395" y="7"/>
                </a:lnTo>
                <a:lnTo>
                  <a:pt x="395" y="0"/>
                </a:lnTo>
                <a:close/>
                <a:moveTo>
                  <a:pt x="428" y="0"/>
                </a:moveTo>
                <a:lnTo>
                  <a:pt x="446" y="0"/>
                </a:lnTo>
                <a:lnTo>
                  <a:pt x="446" y="7"/>
                </a:lnTo>
                <a:lnTo>
                  <a:pt x="428" y="7"/>
                </a:lnTo>
                <a:lnTo>
                  <a:pt x="428" y="0"/>
                </a:lnTo>
                <a:close/>
                <a:moveTo>
                  <a:pt x="461" y="0"/>
                </a:moveTo>
                <a:lnTo>
                  <a:pt x="479" y="0"/>
                </a:lnTo>
                <a:lnTo>
                  <a:pt x="479" y="7"/>
                </a:lnTo>
                <a:lnTo>
                  <a:pt x="461" y="7"/>
                </a:lnTo>
                <a:lnTo>
                  <a:pt x="461" y="0"/>
                </a:lnTo>
                <a:close/>
                <a:moveTo>
                  <a:pt x="493" y="0"/>
                </a:moveTo>
                <a:lnTo>
                  <a:pt x="512" y="0"/>
                </a:lnTo>
                <a:lnTo>
                  <a:pt x="512" y="7"/>
                </a:lnTo>
                <a:lnTo>
                  <a:pt x="493" y="7"/>
                </a:lnTo>
                <a:lnTo>
                  <a:pt x="493" y="0"/>
                </a:lnTo>
                <a:close/>
                <a:moveTo>
                  <a:pt x="526" y="0"/>
                </a:moveTo>
                <a:lnTo>
                  <a:pt x="545" y="0"/>
                </a:lnTo>
                <a:lnTo>
                  <a:pt x="545" y="7"/>
                </a:lnTo>
                <a:lnTo>
                  <a:pt x="526" y="7"/>
                </a:lnTo>
                <a:lnTo>
                  <a:pt x="526" y="0"/>
                </a:lnTo>
                <a:close/>
                <a:moveTo>
                  <a:pt x="559" y="0"/>
                </a:moveTo>
                <a:lnTo>
                  <a:pt x="578" y="0"/>
                </a:lnTo>
                <a:lnTo>
                  <a:pt x="578" y="7"/>
                </a:lnTo>
                <a:lnTo>
                  <a:pt x="559" y="7"/>
                </a:lnTo>
                <a:lnTo>
                  <a:pt x="559" y="0"/>
                </a:lnTo>
                <a:close/>
                <a:moveTo>
                  <a:pt x="592" y="0"/>
                </a:moveTo>
                <a:lnTo>
                  <a:pt x="611" y="0"/>
                </a:lnTo>
                <a:lnTo>
                  <a:pt x="611" y="7"/>
                </a:lnTo>
                <a:lnTo>
                  <a:pt x="592" y="7"/>
                </a:lnTo>
                <a:lnTo>
                  <a:pt x="592" y="0"/>
                </a:lnTo>
                <a:close/>
                <a:moveTo>
                  <a:pt x="625" y="0"/>
                </a:moveTo>
                <a:lnTo>
                  <a:pt x="644" y="0"/>
                </a:lnTo>
                <a:lnTo>
                  <a:pt x="644" y="7"/>
                </a:lnTo>
                <a:lnTo>
                  <a:pt x="625" y="7"/>
                </a:lnTo>
                <a:lnTo>
                  <a:pt x="625" y="0"/>
                </a:lnTo>
                <a:close/>
                <a:moveTo>
                  <a:pt x="658" y="0"/>
                </a:moveTo>
                <a:lnTo>
                  <a:pt x="677" y="0"/>
                </a:lnTo>
                <a:lnTo>
                  <a:pt x="677" y="7"/>
                </a:lnTo>
                <a:lnTo>
                  <a:pt x="658" y="7"/>
                </a:lnTo>
                <a:lnTo>
                  <a:pt x="658" y="0"/>
                </a:lnTo>
                <a:close/>
                <a:moveTo>
                  <a:pt x="691" y="0"/>
                </a:moveTo>
                <a:lnTo>
                  <a:pt x="710" y="0"/>
                </a:lnTo>
                <a:lnTo>
                  <a:pt x="710" y="7"/>
                </a:lnTo>
                <a:lnTo>
                  <a:pt x="691" y="7"/>
                </a:lnTo>
                <a:lnTo>
                  <a:pt x="691" y="0"/>
                </a:lnTo>
                <a:close/>
                <a:moveTo>
                  <a:pt x="724" y="0"/>
                </a:moveTo>
                <a:lnTo>
                  <a:pt x="743" y="0"/>
                </a:lnTo>
                <a:lnTo>
                  <a:pt x="743" y="7"/>
                </a:lnTo>
                <a:lnTo>
                  <a:pt x="724" y="7"/>
                </a:lnTo>
                <a:lnTo>
                  <a:pt x="724" y="0"/>
                </a:lnTo>
                <a:close/>
                <a:moveTo>
                  <a:pt x="757" y="0"/>
                </a:moveTo>
                <a:lnTo>
                  <a:pt x="776" y="0"/>
                </a:lnTo>
                <a:lnTo>
                  <a:pt x="776" y="7"/>
                </a:lnTo>
                <a:lnTo>
                  <a:pt x="757" y="7"/>
                </a:lnTo>
                <a:lnTo>
                  <a:pt x="757" y="0"/>
                </a:lnTo>
                <a:close/>
                <a:moveTo>
                  <a:pt x="790" y="0"/>
                </a:moveTo>
                <a:lnTo>
                  <a:pt x="809" y="0"/>
                </a:lnTo>
                <a:lnTo>
                  <a:pt x="809" y="7"/>
                </a:lnTo>
                <a:lnTo>
                  <a:pt x="790" y="7"/>
                </a:lnTo>
                <a:lnTo>
                  <a:pt x="790" y="0"/>
                </a:lnTo>
                <a:close/>
                <a:moveTo>
                  <a:pt x="823" y="0"/>
                </a:moveTo>
                <a:lnTo>
                  <a:pt x="841" y="0"/>
                </a:lnTo>
                <a:lnTo>
                  <a:pt x="841" y="7"/>
                </a:lnTo>
                <a:lnTo>
                  <a:pt x="823" y="7"/>
                </a:lnTo>
                <a:lnTo>
                  <a:pt x="823" y="0"/>
                </a:lnTo>
                <a:close/>
                <a:moveTo>
                  <a:pt x="855" y="0"/>
                </a:moveTo>
                <a:lnTo>
                  <a:pt x="874" y="0"/>
                </a:lnTo>
                <a:lnTo>
                  <a:pt x="874" y="7"/>
                </a:lnTo>
                <a:lnTo>
                  <a:pt x="855" y="7"/>
                </a:lnTo>
                <a:lnTo>
                  <a:pt x="855" y="0"/>
                </a:lnTo>
                <a:close/>
                <a:moveTo>
                  <a:pt x="888" y="0"/>
                </a:moveTo>
                <a:lnTo>
                  <a:pt x="907" y="0"/>
                </a:lnTo>
                <a:lnTo>
                  <a:pt x="907" y="7"/>
                </a:lnTo>
                <a:lnTo>
                  <a:pt x="888" y="7"/>
                </a:lnTo>
                <a:lnTo>
                  <a:pt x="888" y="0"/>
                </a:lnTo>
                <a:close/>
                <a:moveTo>
                  <a:pt x="922" y="0"/>
                </a:moveTo>
                <a:lnTo>
                  <a:pt x="940" y="0"/>
                </a:lnTo>
                <a:lnTo>
                  <a:pt x="940" y="7"/>
                </a:lnTo>
                <a:lnTo>
                  <a:pt x="922" y="7"/>
                </a:lnTo>
                <a:lnTo>
                  <a:pt x="922" y="0"/>
                </a:lnTo>
                <a:close/>
                <a:moveTo>
                  <a:pt x="954" y="0"/>
                </a:moveTo>
                <a:lnTo>
                  <a:pt x="973" y="0"/>
                </a:lnTo>
                <a:lnTo>
                  <a:pt x="973" y="7"/>
                </a:lnTo>
                <a:lnTo>
                  <a:pt x="954" y="7"/>
                </a:lnTo>
                <a:lnTo>
                  <a:pt x="954" y="0"/>
                </a:lnTo>
                <a:close/>
                <a:moveTo>
                  <a:pt x="987" y="0"/>
                </a:moveTo>
                <a:lnTo>
                  <a:pt x="1006" y="0"/>
                </a:lnTo>
                <a:lnTo>
                  <a:pt x="1006" y="7"/>
                </a:lnTo>
                <a:lnTo>
                  <a:pt x="987" y="7"/>
                </a:lnTo>
                <a:lnTo>
                  <a:pt x="987" y="0"/>
                </a:lnTo>
                <a:close/>
                <a:moveTo>
                  <a:pt x="1020" y="0"/>
                </a:moveTo>
                <a:lnTo>
                  <a:pt x="1039" y="0"/>
                </a:lnTo>
                <a:lnTo>
                  <a:pt x="1039" y="7"/>
                </a:lnTo>
                <a:lnTo>
                  <a:pt x="1020" y="7"/>
                </a:lnTo>
                <a:lnTo>
                  <a:pt x="1020" y="0"/>
                </a:lnTo>
                <a:close/>
                <a:moveTo>
                  <a:pt x="1053" y="0"/>
                </a:moveTo>
                <a:lnTo>
                  <a:pt x="1072" y="0"/>
                </a:lnTo>
                <a:lnTo>
                  <a:pt x="1072" y="7"/>
                </a:lnTo>
                <a:lnTo>
                  <a:pt x="1053" y="7"/>
                </a:lnTo>
                <a:lnTo>
                  <a:pt x="1053" y="0"/>
                </a:lnTo>
                <a:close/>
                <a:moveTo>
                  <a:pt x="1086" y="0"/>
                </a:moveTo>
                <a:lnTo>
                  <a:pt x="1105" y="0"/>
                </a:lnTo>
                <a:lnTo>
                  <a:pt x="1105" y="7"/>
                </a:lnTo>
                <a:lnTo>
                  <a:pt x="1086" y="7"/>
                </a:lnTo>
                <a:lnTo>
                  <a:pt x="1086" y="0"/>
                </a:lnTo>
                <a:close/>
                <a:moveTo>
                  <a:pt x="1119" y="0"/>
                </a:moveTo>
                <a:lnTo>
                  <a:pt x="1138" y="0"/>
                </a:lnTo>
                <a:lnTo>
                  <a:pt x="1138" y="7"/>
                </a:lnTo>
                <a:lnTo>
                  <a:pt x="1119" y="7"/>
                </a:lnTo>
                <a:lnTo>
                  <a:pt x="1119" y="0"/>
                </a:lnTo>
                <a:close/>
                <a:moveTo>
                  <a:pt x="1152" y="0"/>
                </a:moveTo>
                <a:lnTo>
                  <a:pt x="1171" y="0"/>
                </a:lnTo>
                <a:lnTo>
                  <a:pt x="1171" y="7"/>
                </a:lnTo>
                <a:lnTo>
                  <a:pt x="1152" y="7"/>
                </a:lnTo>
                <a:lnTo>
                  <a:pt x="1152" y="0"/>
                </a:lnTo>
                <a:close/>
                <a:moveTo>
                  <a:pt x="1185" y="0"/>
                </a:moveTo>
                <a:lnTo>
                  <a:pt x="1204" y="0"/>
                </a:lnTo>
                <a:lnTo>
                  <a:pt x="1204" y="7"/>
                </a:lnTo>
                <a:lnTo>
                  <a:pt x="1185" y="7"/>
                </a:lnTo>
                <a:lnTo>
                  <a:pt x="1185" y="0"/>
                </a:lnTo>
                <a:close/>
                <a:moveTo>
                  <a:pt x="1218" y="0"/>
                </a:moveTo>
                <a:lnTo>
                  <a:pt x="1237" y="0"/>
                </a:lnTo>
                <a:lnTo>
                  <a:pt x="1237" y="7"/>
                </a:lnTo>
                <a:lnTo>
                  <a:pt x="1218" y="7"/>
                </a:lnTo>
                <a:lnTo>
                  <a:pt x="1218" y="0"/>
                </a:lnTo>
                <a:close/>
                <a:moveTo>
                  <a:pt x="1251" y="0"/>
                </a:moveTo>
                <a:lnTo>
                  <a:pt x="1270" y="0"/>
                </a:lnTo>
                <a:lnTo>
                  <a:pt x="1270" y="7"/>
                </a:lnTo>
                <a:lnTo>
                  <a:pt x="1251" y="7"/>
                </a:lnTo>
                <a:lnTo>
                  <a:pt x="1251" y="0"/>
                </a:lnTo>
                <a:close/>
                <a:moveTo>
                  <a:pt x="1284" y="0"/>
                </a:moveTo>
                <a:lnTo>
                  <a:pt x="1302" y="0"/>
                </a:lnTo>
                <a:lnTo>
                  <a:pt x="1302" y="7"/>
                </a:lnTo>
                <a:lnTo>
                  <a:pt x="1284" y="7"/>
                </a:lnTo>
                <a:lnTo>
                  <a:pt x="1284" y="0"/>
                </a:lnTo>
                <a:close/>
                <a:moveTo>
                  <a:pt x="1316" y="0"/>
                </a:moveTo>
                <a:lnTo>
                  <a:pt x="1335" y="0"/>
                </a:lnTo>
                <a:lnTo>
                  <a:pt x="1335" y="7"/>
                </a:lnTo>
                <a:lnTo>
                  <a:pt x="1316" y="7"/>
                </a:lnTo>
                <a:lnTo>
                  <a:pt x="1316" y="0"/>
                </a:lnTo>
                <a:close/>
                <a:moveTo>
                  <a:pt x="1349" y="0"/>
                </a:moveTo>
                <a:lnTo>
                  <a:pt x="1368" y="0"/>
                </a:lnTo>
                <a:lnTo>
                  <a:pt x="1368" y="7"/>
                </a:lnTo>
                <a:lnTo>
                  <a:pt x="1349" y="7"/>
                </a:lnTo>
                <a:lnTo>
                  <a:pt x="1349" y="0"/>
                </a:lnTo>
                <a:close/>
                <a:moveTo>
                  <a:pt x="1382" y="0"/>
                </a:moveTo>
                <a:lnTo>
                  <a:pt x="1401" y="0"/>
                </a:lnTo>
                <a:lnTo>
                  <a:pt x="1401" y="7"/>
                </a:lnTo>
                <a:lnTo>
                  <a:pt x="1382" y="7"/>
                </a:lnTo>
                <a:lnTo>
                  <a:pt x="1382" y="0"/>
                </a:lnTo>
                <a:close/>
                <a:moveTo>
                  <a:pt x="1415" y="0"/>
                </a:moveTo>
                <a:lnTo>
                  <a:pt x="1434" y="0"/>
                </a:lnTo>
                <a:lnTo>
                  <a:pt x="1434" y="7"/>
                </a:lnTo>
                <a:lnTo>
                  <a:pt x="1415" y="7"/>
                </a:lnTo>
                <a:lnTo>
                  <a:pt x="1415" y="0"/>
                </a:lnTo>
                <a:close/>
                <a:moveTo>
                  <a:pt x="1448" y="0"/>
                </a:moveTo>
                <a:lnTo>
                  <a:pt x="1467" y="0"/>
                </a:lnTo>
                <a:lnTo>
                  <a:pt x="1467" y="7"/>
                </a:lnTo>
                <a:lnTo>
                  <a:pt x="1448" y="7"/>
                </a:lnTo>
                <a:lnTo>
                  <a:pt x="1448" y="0"/>
                </a:lnTo>
                <a:close/>
                <a:moveTo>
                  <a:pt x="1481" y="0"/>
                </a:moveTo>
                <a:lnTo>
                  <a:pt x="1500" y="0"/>
                </a:lnTo>
                <a:lnTo>
                  <a:pt x="1500" y="7"/>
                </a:lnTo>
                <a:lnTo>
                  <a:pt x="1481" y="7"/>
                </a:lnTo>
                <a:lnTo>
                  <a:pt x="1481" y="0"/>
                </a:lnTo>
                <a:close/>
                <a:moveTo>
                  <a:pt x="1514" y="0"/>
                </a:moveTo>
                <a:lnTo>
                  <a:pt x="1533" y="0"/>
                </a:lnTo>
                <a:lnTo>
                  <a:pt x="1533" y="7"/>
                </a:lnTo>
                <a:lnTo>
                  <a:pt x="1514" y="7"/>
                </a:lnTo>
                <a:lnTo>
                  <a:pt x="1514" y="0"/>
                </a:lnTo>
                <a:close/>
                <a:moveTo>
                  <a:pt x="1547" y="0"/>
                </a:moveTo>
                <a:lnTo>
                  <a:pt x="1566" y="0"/>
                </a:lnTo>
                <a:lnTo>
                  <a:pt x="1566" y="7"/>
                </a:lnTo>
                <a:lnTo>
                  <a:pt x="1547" y="7"/>
                </a:lnTo>
                <a:lnTo>
                  <a:pt x="1547" y="0"/>
                </a:lnTo>
                <a:close/>
                <a:moveTo>
                  <a:pt x="1580" y="0"/>
                </a:moveTo>
                <a:lnTo>
                  <a:pt x="1599" y="0"/>
                </a:lnTo>
                <a:lnTo>
                  <a:pt x="1599" y="7"/>
                </a:lnTo>
                <a:lnTo>
                  <a:pt x="1580" y="7"/>
                </a:lnTo>
                <a:lnTo>
                  <a:pt x="1580" y="0"/>
                </a:lnTo>
                <a:close/>
                <a:moveTo>
                  <a:pt x="1613" y="0"/>
                </a:moveTo>
                <a:lnTo>
                  <a:pt x="1632" y="0"/>
                </a:lnTo>
                <a:lnTo>
                  <a:pt x="1632" y="7"/>
                </a:lnTo>
                <a:lnTo>
                  <a:pt x="1613" y="7"/>
                </a:lnTo>
                <a:lnTo>
                  <a:pt x="1613" y="0"/>
                </a:lnTo>
                <a:close/>
                <a:moveTo>
                  <a:pt x="1646" y="0"/>
                </a:moveTo>
                <a:lnTo>
                  <a:pt x="1664" y="0"/>
                </a:lnTo>
                <a:lnTo>
                  <a:pt x="1664" y="7"/>
                </a:lnTo>
                <a:lnTo>
                  <a:pt x="1646" y="7"/>
                </a:lnTo>
                <a:lnTo>
                  <a:pt x="1646" y="0"/>
                </a:lnTo>
                <a:close/>
                <a:moveTo>
                  <a:pt x="1679" y="0"/>
                </a:moveTo>
                <a:lnTo>
                  <a:pt x="1697" y="0"/>
                </a:lnTo>
                <a:lnTo>
                  <a:pt x="1697" y="7"/>
                </a:lnTo>
                <a:lnTo>
                  <a:pt x="1679" y="7"/>
                </a:lnTo>
                <a:lnTo>
                  <a:pt x="1679" y="0"/>
                </a:lnTo>
                <a:close/>
                <a:moveTo>
                  <a:pt x="1711" y="0"/>
                </a:moveTo>
                <a:lnTo>
                  <a:pt x="1730" y="0"/>
                </a:lnTo>
                <a:lnTo>
                  <a:pt x="1730" y="7"/>
                </a:lnTo>
                <a:lnTo>
                  <a:pt x="1711" y="7"/>
                </a:lnTo>
                <a:lnTo>
                  <a:pt x="1711" y="0"/>
                </a:lnTo>
                <a:close/>
                <a:moveTo>
                  <a:pt x="1744" y="0"/>
                </a:moveTo>
                <a:lnTo>
                  <a:pt x="1763" y="0"/>
                </a:lnTo>
                <a:lnTo>
                  <a:pt x="1763" y="7"/>
                </a:lnTo>
                <a:lnTo>
                  <a:pt x="1744" y="7"/>
                </a:lnTo>
                <a:lnTo>
                  <a:pt x="1744" y="0"/>
                </a:lnTo>
                <a:close/>
                <a:moveTo>
                  <a:pt x="1777" y="0"/>
                </a:moveTo>
                <a:lnTo>
                  <a:pt x="1796" y="0"/>
                </a:lnTo>
                <a:lnTo>
                  <a:pt x="1796" y="7"/>
                </a:lnTo>
                <a:lnTo>
                  <a:pt x="1777" y="7"/>
                </a:lnTo>
                <a:lnTo>
                  <a:pt x="1777" y="0"/>
                </a:lnTo>
                <a:close/>
                <a:moveTo>
                  <a:pt x="1810" y="0"/>
                </a:moveTo>
                <a:lnTo>
                  <a:pt x="1829" y="0"/>
                </a:lnTo>
                <a:lnTo>
                  <a:pt x="1829" y="7"/>
                </a:lnTo>
                <a:lnTo>
                  <a:pt x="1810" y="7"/>
                </a:lnTo>
                <a:lnTo>
                  <a:pt x="1810" y="0"/>
                </a:lnTo>
                <a:close/>
                <a:moveTo>
                  <a:pt x="1843" y="0"/>
                </a:moveTo>
                <a:lnTo>
                  <a:pt x="1862" y="0"/>
                </a:lnTo>
                <a:lnTo>
                  <a:pt x="1862" y="7"/>
                </a:lnTo>
                <a:lnTo>
                  <a:pt x="1843" y="7"/>
                </a:lnTo>
                <a:lnTo>
                  <a:pt x="1843" y="0"/>
                </a:lnTo>
                <a:close/>
                <a:moveTo>
                  <a:pt x="1876" y="0"/>
                </a:moveTo>
                <a:lnTo>
                  <a:pt x="1895" y="0"/>
                </a:lnTo>
                <a:lnTo>
                  <a:pt x="1895" y="7"/>
                </a:lnTo>
                <a:lnTo>
                  <a:pt x="1876" y="7"/>
                </a:lnTo>
                <a:lnTo>
                  <a:pt x="1876" y="0"/>
                </a:lnTo>
                <a:close/>
                <a:moveTo>
                  <a:pt x="1909" y="0"/>
                </a:moveTo>
                <a:lnTo>
                  <a:pt x="1928" y="0"/>
                </a:lnTo>
                <a:lnTo>
                  <a:pt x="1928" y="7"/>
                </a:lnTo>
                <a:lnTo>
                  <a:pt x="1909" y="7"/>
                </a:lnTo>
                <a:lnTo>
                  <a:pt x="1909" y="0"/>
                </a:lnTo>
                <a:close/>
                <a:moveTo>
                  <a:pt x="1942" y="0"/>
                </a:moveTo>
                <a:lnTo>
                  <a:pt x="1961" y="0"/>
                </a:lnTo>
                <a:lnTo>
                  <a:pt x="1961" y="7"/>
                </a:lnTo>
                <a:lnTo>
                  <a:pt x="1942" y="7"/>
                </a:lnTo>
                <a:lnTo>
                  <a:pt x="1942" y="0"/>
                </a:lnTo>
                <a:close/>
                <a:moveTo>
                  <a:pt x="1975" y="0"/>
                </a:moveTo>
                <a:lnTo>
                  <a:pt x="1994" y="0"/>
                </a:lnTo>
                <a:lnTo>
                  <a:pt x="1994" y="7"/>
                </a:lnTo>
                <a:lnTo>
                  <a:pt x="1975" y="7"/>
                </a:lnTo>
                <a:lnTo>
                  <a:pt x="1975" y="0"/>
                </a:lnTo>
                <a:close/>
                <a:moveTo>
                  <a:pt x="2008" y="0"/>
                </a:moveTo>
                <a:lnTo>
                  <a:pt x="2026" y="0"/>
                </a:lnTo>
                <a:lnTo>
                  <a:pt x="2026" y="7"/>
                </a:lnTo>
                <a:lnTo>
                  <a:pt x="2008" y="7"/>
                </a:lnTo>
                <a:lnTo>
                  <a:pt x="2008" y="0"/>
                </a:lnTo>
                <a:close/>
                <a:moveTo>
                  <a:pt x="2041" y="0"/>
                </a:moveTo>
                <a:lnTo>
                  <a:pt x="2059" y="0"/>
                </a:lnTo>
                <a:lnTo>
                  <a:pt x="2059" y="7"/>
                </a:lnTo>
                <a:lnTo>
                  <a:pt x="2041" y="7"/>
                </a:lnTo>
                <a:lnTo>
                  <a:pt x="2041" y="0"/>
                </a:lnTo>
                <a:close/>
                <a:moveTo>
                  <a:pt x="2074" y="0"/>
                </a:moveTo>
                <a:lnTo>
                  <a:pt x="2093" y="0"/>
                </a:lnTo>
                <a:lnTo>
                  <a:pt x="2093" y="7"/>
                </a:lnTo>
                <a:lnTo>
                  <a:pt x="2074" y="7"/>
                </a:lnTo>
                <a:lnTo>
                  <a:pt x="2074" y="0"/>
                </a:lnTo>
                <a:close/>
                <a:moveTo>
                  <a:pt x="2107" y="0"/>
                </a:moveTo>
                <a:lnTo>
                  <a:pt x="2125" y="0"/>
                </a:lnTo>
                <a:lnTo>
                  <a:pt x="2125" y="7"/>
                </a:lnTo>
                <a:lnTo>
                  <a:pt x="2107" y="7"/>
                </a:lnTo>
                <a:lnTo>
                  <a:pt x="2107" y="0"/>
                </a:lnTo>
                <a:close/>
                <a:moveTo>
                  <a:pt x="2140" y="0"/>
                </a:moveTo>
                <a:lnTo>
                  <a:pt x="2158" y="0"/>
                </a:lnTo>
                <a:lnTo>
                  <a:pt x="2158" y="7"/>
                </a:lnTo>
                <a:lnTo>
                  <a:pt x="2140" y="7"/>
                </a:lnTo>
                <a:lnTo>
                  <a:pt x="2140" y="0"/>
                </a:lnTo>
                <a:close/>
                <a:moveTo>
                  <a:pt x="2172" y="0"/>
                </a:moveTo>
                <a:lnTo>
                  <a:pt x="2191" y="0"/>
                </a:lnTo>
                <a:lnTo>
                  <a:pt x="2191" y="7"/>
                </a:lnTo>
                <a:lnTo>
                  <a:pt x="2172" y="7"/>
                </a:lnTo>
                <a:lnTo>
                  <a:pt x="2172" y="0"/>
                </a:lnTo>
                <a:close/>
                <a:moveTo>
                  <a:pt x="2205" y="0"/>
                </a:moveTo>
                <a:lnTo>
                  <a:pt x="2224" y="0"/>
                </a:lnTo>
                <a:lnTo>
                  <a:pt x="2224" y="7"/>
                </a:lnTo>
                <a:lnTo>
                  <a:pt x="2205" y="7"/>
                </a:lnTo>
                <a:lnTo>
                  <a:pt x="2205" y="0"/>
                </a:lnTo>
                <a:close/>
                <a:moveTo>
                  <a:pt x="2238" y="0"/>
                </a:moveTo>
                <a:lnTo>
                  <a:pt x="2257" y="0"/>
                </a:lnTo>
                <a:lnTo>
                  <a:pt x="2257" y="7"/>
                </a:lnTo>
                <a:lnTo>
                  <a:pt x="2238" y="7"/>
                </a:lnTo>
                <a:lnTo>
                  <a:pt x="2238" y="0"/>
                </a:lnTo>
                <a:close/>
                <a:moveTo>
                  <a:pt x="2271" y="0"/>
                </a:moveTo>
                <a:lnTo>
                  <a:pt x="2290" y="0"/>
                </a:lnTo>
                <a:lnTo>
                  <a:pt x="2290" y="7"/>
                </a:lnTo>
                <a:lnTo>
                  <a:pt x="2271" y="7"/>
                </a:lnTo>
                <a:lnTo>
                  <a:pt x="2271" y="0"/>
                </a:lnTo>
                <a:close/>
                <a:moveTo>
                  <a:pt x="2304" y="0"/>
                </a:moveTo>
                <a:lnTo>
                  <a:pt x="2323" y="0"/>
                </a:lnTo>
                <a:lnTo>
                  <a:pt x="2323" y="7"/>
                </a:lnTo>
                <a:lnTo>
                  <a:pt x="2304" y="7"/>
                </a:lnTo>
                <a:lnTo>
                  <a:pt x="2304" y="0"/>
                </a:lnTo>
                <a:close/>
                <a:moveTo>
                  <a:pt x="2337" y="0"/>
                </a:moveTo>
                <a:lnTo>
                  <a:pt x="2356" y="0"/>
                </a:lnTo>
                <a:lnTo>
                  <a:pt x="2356" y="7"/>
                </a:lnTo>
                <a:lnTo>
                  <a:pt x="2337" y="7"/>
                </a:lnTo>
                <a:lnTo>
                  <a:pt x="2337" y="0"/>
                </a:lnTo>
                <a:close/>
                <a:moveTo>
                  <a:pt x="2370" y="0"/>
                </a:moveTo>
                <a:lnTo>
                  <a:pt x="2389" y="0"/>
                </a:lnTo>
                <a:lnTo>
                  <a:pt x="2389" y="7"/>
                </a:lnTo>
                <a:lnTo>
                  <a:pt x="2370" y="7"/>
                </a:lnTo>
                <a:lnTo>
                  <a:pt x="2370" y="0"/>
                </a:ln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55" name="Rectangle 17"/>
          <p:cNvSpPr>
            <a:spLocks noChangeArrowheads="1"/>
          </p:cNvSpPr>
          <p:nvPr/>
        </p:nvSpPr>
        <p:spPr bwMode="auto">
          <a:xfrm>
            <a:off x="3143240" y="3929066"/>
            <a:ext cx="785818" cy="400050"/>
          </a:xfrm>
          <a:prstGeom prst="rect">
            <a:avLst/>
          </a:prstGeom>
          <a:solidFill>
            <a:srgbClr val="FFFFFF"/>
          </a:solidFill>
          <a:ln w="9525">
            <a:noFill/>
            <a:miter lim="800000"/>
          </a:ln>
        </p:spPr>
        <p:txBody>
          <a:bodyPr vert="horz" wrap="square" lIns="91440" tIns="45720" rIns="91440" bIns="45720" numCol="1" anchor="t" anchorCtr="0" compatLnSpc="1"/>
          <a:lstStyle/>
          <a:p>
            <a:endParaRPr lang="zh-CN" altLang="en-US"/>
          </a:p>
        </p:txBody>
      </p:sp>
      <p:sp>
        <p:nvSpPr>
          <p:cNvPr id="56" name="Rectangle 18"/>
          <p:cNvSpPr>
            <a:spLocks noChangeArrowheads="1"/>
          </p:cNvSpPr>
          <p:nvPr/>
        </p:nvSpPr>
        <p:spPr bwMode="auto">
          <a:xfrm>
            <a:off x="3143240" y="3929066"/>
            <a:ext cx="718145" cy="430887"/>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1400" dirty="0">
                <a:solidFill>
                  <a:srgbClr val="000000"/>
                </a:solidFill>
                <a:latin typeface="微软雅黑" panose="020B0503020204020204" charset="-122"/>
                <a:ea typeface="微软雅黑" panose="020B0503020204020204" charset="-122"/>
                <a:cs typeface="宋体" panose="02010600030101010101" pitchFamily="2" charset="-122"/>
              </a:rPr>
              <a:t>   LES</a:t>
            </a:r>
          </a:p>
          <a:p>
            <a:pPr marL="0" marR="0" lvl="0" indent="0" algn="l" defTabSz="914400" rtl="0" eaLnBrk="1" fontAlgn="base" latinLnBrk="0" hangingPunct="1">
              <a:lnSpc>
                <a:spcPct val="100000"/>
              </a:lnSpc>
              <a:spcBef>
                <a:spcPct val="0"/>
              </a:spcBef>
              <a:spcAft>
                <a:spcPct val="0"/>
              </a:spcAft>
              <a:buClrTx/>
              <a:buSzTx/>
              <a:buFontTx/>
              <a:buNone/>
            </a:pPr>
            <a:r>
              <a:rPr lang="zh-CN" altLang="en-US" sz="1400" dirty="0">
                <a:solidFill>
                  <a:srgbClr val="000000"/>
                </a:solidFill>
                <a:latin typeface="微软雅黑" panose="020B0503020204020204" charset="-122"/>
                <a:ea typeface="微软雅黑" panose="020B0503020204020204" charset="-122"/>
                <a:cs typeface="宋体" panose="02010600030101010101" pitchFamily="2" charset="-122"/>
              </a:rPr>
              <a:t>物流执行</a:t>
            </a:r>
            <a:endParaRPr kumimoji="0" lang="zh-CN" altLang="zh-CN" sz="1400"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p:txBody>
      </p:sp>
      <p:sp>
        <p:nvSpPr>
          <p:cNvPr id="57" name="Rectangle 35"/>
          <p:cNvSpPr>
            <a:spLocks noChangeArrowheads="1"/>
          </p:cNvSpPr>
          <p:nvPr/>
        </p:nvSpPr>
        <p:spPr bwMode="auto">
          <a:xfrm>
            <a:off x="214282" y="2071678"/>
            <a:ext cx="248466" cy="215444"/>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1400" dirty="0">
                <a:solidFill>
                  <a:srgbClr val="000000"/>
                </a:solidFill>
                <a:latin typeface="Arial" panose="020B0604020202020204" pitchFamily="34" charset="0"/>
                <a:ea typeface="宋体" panose="02010600030101010101" pitchFamily="2" charset="-122"/>
                <a:cs typeface="宋体" panose="02010600030101010101" pitchFamily="2" charset="-122"/>
              </a:rPr>
              <a:t>L4 </a:t>
            </a:r>
            <a:endParaRPr kumimoji="0" lang="zh-CN"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35" name="Grafik 112"/>
          <p:cNvPicPr>
            <a:picLocks noChangeAspect="1"/>
          </p:cNvPicPr>
          <p:nvPr/>
        </p:nvPicPr>
        <p:blipFill>
          <a:blip r:embed="rId3" cstate="print"/>
          <a:srcRect/>
          <a:stretch>
            <a:fillRect/>
          </a:stretch>
        </p:blipFill>
        <p:spPr bwMode="auto">
          <a:xfrm>
            <a:off x="2143108" y="5357826"/>
            <a:ext cx="720000" cy="408562"/>
          </a:xfrm>
          <a:prstGeom prst="rect">
            <a:avLst/>
          </a:prstGeom>
          <a:noFill/>
          <a:ln w="9525">
            <a:noFill/>
            <a:miter lim="800000"/>
            <a:headEnd/>
            <a:tailEnd/>
          </a:ln>
        </p:spPr>
      </p:pic>
      <p:pic>
        <p:nvPicPr>
          <p:cNvPr id="136" name="Picture 15" descr="http://ec4.images-amazon.com/images/I/31bdEbFL54L._SL500_AA300_.jpg"/>
          <p:cNvPicPr>
            <a:picLocks noChangeAspect="1" noChangeArrowheads="1"/>
          </p:cNvPicPr>
          <p:nvPr/>
        </p:nvPicPr>
        <p:blipFill>
          <a:blip r:embed="rId4" cstate="print"/>
          <a:srcRect l="16397" t="19556" r="28746" b="9841"/>
          <a:stretch>
            <a:fillRect/>
          </a:stretch>
        </p:blipFill>
        <p:spPr bwMode="auto">
          <a:xfrm>
            <a:off x="1571604" y="5357826"/>
            <a:ext cx="324000" cy="417000"/>
          </a:xfrm>
          <a:prstGeom prst="rect">
            <a:avLst/>
          </a:prstGeom>
          <a:noFill/>
        </p:spPr>
      </p:pic>
      <p:pic>
        <p:nvPicPr>
          <p:cNvPr id="137" name="Picture 18"/>
          <p:cNvPicPr>
            <a:picLocks noChangeAspect="1" noChangeArrowheads="1"/>
          </p:cNvPicPr>
          <p:nvPr/>
        </p:nvPicPr>
        <p:blipFill>
          <a:blip r:embed="rId5" cstate="print"/>
          <a:srcRect/>
          <a:stretch>
            <a:fillRect/>
          </a:stretch>
        </p:blipFill>
        <p:spPr bwMode="auto">
          <a:xfrm>
            <a:off x="1788122" y="5459592"/>
            <a:ext cx="314325" cy="223336"/>
          </a:xfrm>
          <a:prstGeom prst="rect">
            <a:avLst/>
          </a:prstGeom>
          <a:noFill/>
          <a:ln w="9525">
            <a:noFill/>
            <a:miter lim="800000"/>
            <a:headEnd/>
            <a:tailEnd/>
          </a:ln>
        </p:spPr>
      </p:pic>
      <p:sp>
        <p:nvSpPr>
          <p:cNvPr id="138" name="矩形 137"/>
          <p:cNvSpPr/>
          <p:nvPr/>
        </p:nvSpPr>
        <p:spPr>
          <a:xfrm>
            <a:off x="4929190" y="5000636"/>
            <a:ext cx="1000132" cy="428628"/>
          </a:xfrm>
          <a:prstGeom prst="rect">
            <a:avLst/>
          </a:prstGeom>
        </p:spPr>
        <p:style>
          <a:lnRef idx="2">
            <a:schemeClr val="accent1"/>
          </a:lnRef>
          <a:fillRef idx="1">
            <a:schemeClr val="lt1"/>
          </a:fillRef>
          <a:effectRef idx="0">
            <a:schemeClr val="accent1"/>
          </a:effectRef>
          <a:fontRef idx="minor">
            <a:schemeClr val="dk1"/>
          </a:fontRef>
        </p:style>
        <p:txBody>
          <a:bodyPr wrap="square">
            <a:noAutofit/>
          </a:bodyPr>
          <a:lstStyle/>
          <a:p>
            <a:pPr algn="ctr"/>
            <a:r>
              <a:rPr lang="zh-CN" altLang="en-US" sz="1800" dirty="0">
                <a:solidFill>
                  <a:schemeClr val="accent1">
                    <a:lumMod val="50000"/>
                  </a:schemeClr>
                </a:solidFill>
                <a:latin typeface="微软雅黑" panose="020B0503020204020204" charset="-122"/>
                <a:ea typeface="微软雅黑" panose="020B0503020204020204" charset="-122"/>
              </a:rPr>
              <a:t>自动化</a:t>
            </a:r>
          </a:p>
        </p:txBody>
      </p:sp>
      <p:sp>
        <p:nvSpPr>
          <p:cNvPr id="139" name="矩形 138"/>
          <p:cNvSpPr/>
          <p:nvPr/>
        </p:nvSpPr>
        <p:spPr>
          <a:xfrm>
            <a:off x="4929158" y="2143116"/>
            <a:ext cx="1000132" cy="428628"/>
          </a:xfrm>
          <a:prstGeom prst="rect">
            <a:avLst/>
          </a:prstGeom>
        </p:spPr>
        <p:style>
          <a:lnRef idx="2">
            <a:schemeClr val="accent1"/>
          </a:lnRef>
          <a:fillRef idx="1">
            <a:schemeClr val="lt1"/>
          </a:fillRef>
          <a:effectRef idx="0">
            <a:schemeClr val="accent1"/>
          </a:effectRef>
          <a:fontRef idx="minor">
            <a:schemeClr val="dk1"/>
          </a:fontRef>
        </p:style>
        <p:txBody>
          <a:bodyPr wrap="square">
            <a:noAutofit/>
          </a:bodyPr>
          <a:lstStyle/>
          <a:p>
            <a:pPr algn="ctr"/>
            <a:r>
              <a:rPr lang="zh-CN" altLang="en-US" dirty="0">
                <a:solidFill>
                  <a:schemeClr val="accent1">
                    <a:lumMod val="50000"/>
                  </a:schemeClr>
                </a:solidFill>
                <a:latin typeface="微软雅黑" panose="020B0503020204020204" charset="-122"/>
                <a:ea typeface="微软雅黑" panose="020B0503020204020204" charset="-122"/>
              </a:rPr>
              <a:t>可视</a:t>
            </a:r>
            <a:r>
              <a:rPr lang="zh-CN" altLang="en-US" sz="1800" dirty="0">
                <a:solidFill>
                  <a:schemeClr val="accent1">
                    <a:lumMod val="50000"/>
                  </a:schemeClr>
                </a:solidFill>
                <a:latin typeface="微软雅黑" panose="020B0503020204020204" charset="-122"/>
                <a:ea typeface="微软雅黑" panose="020B0503020204020204" charset="-122"/>
              </a:rPr>
              <a:t>化</a:t>
            </a:r>
          </a:p>
        </p:txBody>
      </p:sp>
      <p:sp>
        <p:nvSpPr>
          <p:cNvPr id="140" name="矩形 139"/>
          <p:cNvSpPr/>
          <p:nvPr/>
        </p:nvSpPr>
        <p:spPr>
          <a:xfrm>
            <a:off x="4929190" y="3143248"/>
            <a:ext cx="1000132" cy="428628"/>
          </a:xfrm>
          <a:prstGeom prst="rect">
            <a:avLst/>
          </a:prstGeom>
        </p:spPr>
        <p:style>
          <a:lnRef idx="2">
            <a:schemeClr val="accent1"/>
          </a:lnRef>
          <a:fillRef idx="1">
            <a:schemeClr val="lt1"/>
          </a:fillRef>
          <a:effectRef idx="0">
            <a:schemeClr val="accent1"/>
          </a:effectRef>
          <a:fontRef idx="minor">
            <a:schemeClr val="dk1"/>
          </a:fontRef>
        </p:style>
        <p:txBody>
          <a:bodyPr wrap="square">
            <a:noAutofit/>
          </a:bodyPr>
          <a:lstStyle/>
          <a:p>
            <a:pPr algn="ctr"/>
            <a:r>
              <a:rPr lang="zh-CN" altLang="en-US" sz="1800" dirty="0">
                <a:solidFill>
                  <a:schemeClr val="accent1">
                    <a:lumMod val="50000"/>
                  </a:schemeClr>
                </a:solidFill>
                <a:latin typeface="微软雅黑" panose="020B0503020204020204" charset="-122"/>
                <a:ea typeface="微软雅黑" panose="020B0503020204020204" charset="-122"/>
              </a:rPr>
              <a:t>最优化</a:t>
            </a:r>
          </a:p>
        </p:txBody>
      </p:sp>
      <p:sp>
        <p:nvSpPr>
          <p:cNvPr id="141" name="矩形 140"/>
          <p:cNvSpPr/>
          <p:nvPr/>
        </p:nvSpPr>
        <p:spPr>
          <a:xfrm>
            <a:off x="4929190" y="4071942"/>
            <a:ext cx="1000132" cy="428628"/>
          </a:xfrm>
          <a:prstGeom prst="rect">
            <a:avLst/>
          </a:prstGeom>
        </p:spPr>
        <p:style>
          <a:lnRef idx="2">
            <a:schemeClr val="accent1"/>
          </a:lnRef>
          <a:fillRef idx="1">
            <a:schemeClr val="lt1"/>
          </a:fillRef>
          <a:effectRef idx="0">
            <a:schemeClr val="accent1"/>
          </a:effectRef>
          <a:fontRef idx="minor">
            <a:schemeClr val="dk1"/>
          </a:fontRef>
        </p:style>
        <p:txBody>
          <a:bodyPr wrap="square">
            <a:noAutofit/>
          </a:bodyPr>
          <a:lstStyle/>
          <a:p>
            <a:pPr algn="ctr"/>
            <a:r>
              <a:rPr lang="zh-CN" altLang="en-US" sz="1800" dirty="0">
                <a:solidFill>
                  <a:schemeClr val="accent1">
                    <a:lumMod val="50000"/>
                  </a:schemeClr>
                </a:solidFill>
                <a:latin typeface="微软雅黑" panose="020B0503020204020204" charset="-122"/>
                <a:ea typeface="微软雅黑" panose="020B0503020204020204" charset="-122"/>
              </a:rPr>
              <a:t>柔性化</a:t>
            </a:r>
          </a:p>
        </p:txBody>
      </p:sp>
      <p:sp>
        <p:nvSpPr>
          <p:cNvPr id="143" name="矩形 142"/>
          <p:cNvSpPr/>
          <p:nvPr/>
        </p:nvSpPr>
        <p:spPr>
          <a:xfrm>
            <a:off x="6143636" y="3143248"/>
            <a:ext cx="2786114" cy="46166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200" dirty="0">
                <a:solidFill>
                  <a:schemeClr val="accent1">
                    <a:lumMod val="50000"/>
                  </a:schemeClr>
                </a:solidFill>
                <a:latin typeface="微软雅黑" panose="020B0503020204020204" charset="-122"/>
                <a:ea typeface="微软雅黑" panose="020B0503020204020204" charset="-122"/>
              </a:rPr>
              <a:t>优化计划与资源配置，正确的时间</a:t>
            </a:r>
            <a:r>
              <a:rPr lang="en-US" altLang="zh-CN" sz="1200" dirty="0">
                <a:solidFill>
                  <a:schemeClr val="accent1">
                    <a:lumMod val="50000"/>
                  </a:schemeClr>
                </a:solidFill>
                <a:latin typeface="微软雅黑" panose="020B0503020204020204" charset="-122"/>
                <a:ea typeface="微软雅黑" panose="020B0503020204020204" charset="-122"/>
              </a:rPr>
              <a:t>/</a:t>
            </a:r>
            <a:r>
              <a:rPr lang="zh-CN" altLang="en-US" sz="1200" dirty="0">
                <a:solidFill>
                  <a:schemeClr val="accent1">
                    <a:lumMod val="50000"/>
                  </a:schemeClr>
                </a:solidFill>
                <a:latin typeface="微软雅黑" panose="020B0503020204020204" charset="-122"/>
                <a:ea typeface="微软雅黑" panose="020B0503020204020204" charset="-122"/>
              </a:rPr>
              <a:t>地点</a:t>
            </a:r>
            <a:r>
              <a:rPr lang="en-US" altLang="zh-CN" sz="1200" dirty="0">
                <a:solidFill>
                  <a:schemeClr val="accent1">
                    <a:lumMod val="50000"/>
                  </a:schemeClr>
                </a:solidFill>
                <a:latin typeface="微软雅黑" panose="020B0503020204020204" charset="-122"/>
                <a:ea typeface="微软雅黑" panose="020B0503020204020204" charset="-122"/>
              </a:rPr>
              <a:t>/</a:t>
            </a:r>
            <a:r>
              <a:rPr lang="zh-CN" altLang="en-US" sz="1200" dirty="0">
                <a:solidFill>
                  <a:schemeClr val="accent1">
                    <a:lumMod val="50000"/>
                  </a:schemeClr>
                </a:solidFill>
                <a:latin typeface="微软雅黑" panose="020B0503020204020204" charset="-122"/>
                <a:ea typeface="微软雅黑" panose="020B0503020204020204" charset="-122"/>
              </a:rPr>
              <a:t>资源，生产正确数量的正确产品</a:t>
            </a:r>
          </a:p>
        </p:txBody>
      </p:sp>
      <p:sp>
        <p:nvSpPr>
          <p:cNvPr id="144" name="矩形 143"/>
          <p:cNvSpPr/>
          <p:nvPr/>
        </p:nvSpPr>
        <p:spPr>
          <a:xfrm>
            <a:off x="6143604" y="2143116"/>
            <a:ext cx="2786114"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200" dirty="0">
                <a:solidFill>
                  <a:schemeClr val="accent1">
                    <a:lumMod val="50000"/>
                  </a:schemeClr>
                </a:solidFill>
                <a:latin typeface="微软雅黑" panose="020B0503020204020204" charset="-122"/>
                <a:ea typeface="微软雅黑" panose="020B0503020204020204" charset="-122"/>
              </a:rPr>
              <a:t>订单录入到出库的的生产全过程可视，数据，变更，资源信息对现场可视</a:t>
            </a:r>
          </a:p>
        </p:txBody>
      </p:sp>
      <p:sp>
        <p:nvSpPr>
          <p:cNvPr id="145" name="矩形 144"/>
          <p:cNvSpPr/>
          <p:nvPr/>
        </p:nvSpPr>
        <p:spPr>
          <a:xfrm>
            <a:off x="6143636" y="4038904"/>
            <a:ext cx="2786114"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200" dirty="0">
                <a:solidFill>
                  <a:schemeClr val="accent1">
                    <a:lumMod val="50000"/>
                  </a:schemeClr>
                </a:solidFill>
                <a:latin typeface="微软雅黑" panose="020B0503020204020204" charset="-122"/>
                <a:ea typeface="微软雅黑" panose="020B0503020204020204" charset="-122"/>
              </a:rPr>
              <a:t>多品种小批量，预测与订单混合业务模式的支持</a:t>
            </a:r>
          </a:p>
        </p:txBody>
      </p:sp>
      <p:sp>
        <p:nvSpPr>
          <p:cNvPr id="146" name="矩形 145"/>
          <p:cNvSpPr/>
          <p:nvPr/>
        </p:nvSpPr>
        <p:spPr>
          <a:xfrm>
            <a:off x="6143636" y="4967599"/>
            <a:ext cx="2786114"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200" dirty="0">
                <a:solidFill>
                  <a:schemeClr val="accent1">
                    <a:lumMod val="50000"/>
                  </a:schemeClr>
                </a:solidFill>
                <a:latin typeface="微软雅黑" panose="020B0503020204020204" charset="-122"/>
                <a:ea typeface="微软雅黑" panose="020B0503020204020204" charset="-122"/>
              </a:rPr>
              <a:t>生产线报工，投料，设备控制及数据采集质量控制的自动化</a:t>
            </a:r>
          </a:p>
        </p:txBody>
      </p:sp>
      <p:cxnSp>
        <p:nvCxnSpPr>
          <p:cNvPr id="147" name="直接箭头连接符 146"/>
          <p:cNvCxnSpPr>
            <a:endCxn id="139" idx="1"/>
          </p:cNvCxnSpPr>
          <p:nvPr/>
        </p:nvCxnSpPr>
        <p:spPr bwMode="auto">
          <a:xfrm>
            <a:off x="4071902" y="2071678"/>
            <a:ext cx="857256" cy="285752"/>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cxnSp>
        <p:nvCxnSpPr>
          <p:cNvPr id="149" name="直接箭头连接符 148"/>
          <p:cNvCxnSpPr>
            <a:stCxn id="45" idx="3"/>
            <a:endCxn id="139" idx="1"/>
          </p:cNvCxnSpPr>
          <p:nvPr/>
        </p:nvCxnSpPr>
        <p:spPr bwMode="auto">
          <a:xfrm flipV="1">
            <a:off x="4143372" y="2357430"/>
            <a:ext cx="785786" cy="3228999"/>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cxnSp>
        <p:nvCxnSpPr>
          <p:cNvPr id="151" name="直接箭头连接符 150"/>
          <p:cNvCxnSpPr>
            <a:endCxn id="140" idx="1"/>
          </p:cNvCxnSpPr>
          <p:nvPr/>
        </p:nvCxnSpPr>
        <p:spPr bwMode="auto">
          <a:xfrm>
            <a:off x="4071934" y="3143248"/>
            <a:ext cx="857256" cy="214314"/>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cxnSp>
        <p:nvCxnSpPr>
          <p:cNvPr id="153" name="直接箭头连接符 152"/>
          <p:cNvCxnSpPr>
            <a:endCxn id="140" idx="1"/>
          </p:cNvCxnSpPr>
          <p:nvPr/>
        </p:nvCxnSpPr>
        <p:spPr bwMode="auto">
          <a:xfrm flipV="1">
            <a:off x="4071934" y="3357562"/>
            <a:ext cx="857256" cy="642942"/>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cxnSp>
        <p:nvCxnSpPr>
          <p:cNvPr id="156" name="直接箭头连接符 155"/>
          <p:cNvCxnSpPr>
            <a:endCxn id="141" idx="1"/>
          </p:cNvCxnSpPr>
          <p:nvPr/>
        </p:nvCxnSpPr>
        <p:spPr bwMode="auto">
          <a:xfrm rot="16200000" flipH="1">
            <a:off x="4000496" y="3357562"/>
            <a:ext cx="1071570" cy="785818"/>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cxnSp>
        <p:nvCxnSpPr>
          <p:cNvPr id="158" name="直接箭头连接符 157"/>
          <p:cNvCxnSpPr>
            <a:endCxn id="141" idx="1"/>
          </p:cNvCxnSpPr>
          <p:nvPr/>
        </p:nvCxnSpPr>
        <p:spPr bwMode="auto">
          <a:xfrm>
            <a:off x="4143372" y="4071942"/>
            <a:ext cx="785818" cy="214314"/>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cxnSp>
        <p:nvCxnSpPr>
          <p:cNvPr id="161" name="直接箭头连接符 160"/>
          <p:cNvCxnSpPr>
            <a:stCxn id="19" idx="3"/>
            <a:endCxn id="138" idx="1"/>
          </p:cNvCxnSpPr>
          <p:nvPr/>
        </p:nvCxnSpPr>
        <p:spPr bwMode="auto">
          <a:xfrm>
            <a:off x="4122735" y="5063116"/>
            <a:ext cx="806455" cy="151834"/>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cxnSp>
        <p:nvCxnSpPr>
          <p:cNvPr id="164" name="直接箭头连接符 163"/>
          <p:cNvCxnSpPr>
            <a:endCxn id="138" idx="1"/>
          </p:cNvCxnSpPr>
          <p:nvPr/>
        </p:nvCxnSpPr>
        <p:spPr bwMode="auto">
          <a:xfrm rot="16200000" flipH="1">
            <a:off x="3929058" y="4214818"/>
            <a:ext cx="1143008" cy="857256"/>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cxnSp>
        <p:nvCxnSpPr>
          <p:cNvPr id="168" name="直接箭头连接符 167"/>
          <p:cNvCxnSpPr>
            <a:endCxn id="139" idx="1"/>
          </p:cNvCxnSpPr>
          <p:nvPr/>
        </p:nvCxnSpPr>
        <p:spPr bwMode="auto">
          <a:xfrm flipV="1">
            <a:off x="4071934" y="2357430"/>
            <a:ext cx="857224" cy="785818"/>
          </a:xfrm>
          <a:prstGeom prst="straightConnector1">
            <a:avLst/>
          </a:prstGeom>
          <a:solidFill>
            <a:schemeClr val="accent1"/>
          </a:solidFill>
          <a:ln w="28575" cap="flat" cmpd="sng" algn="ctr">
            <a:solidFill>
              <a:srgbClr val="92D050"/>
            </a:solidFill>
            <a:prstDash val="solid"/>
            <a:round/>
            <a:headEnd type="none" w="med" len="med"/>
            <a:tailEnd type="arrow"/>
          </a:ln>
          <a:effectLst/>
        </p:spPr>
      </p:cxnSp>
      <p:sp>
        <p:nvSpPr>
          <p:cNvPr id="67"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58"/>
          <p:cNvSpPr txBox="1"/>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000" b="1" i="0" u="none" strike="noStrike" kern="0" cap="none" spc="0" normalizeH="0" baseline="0" noProof="0" dirty="0">
                <a:ln>
                  <a:noFill/>
                </a:ln>
                <a:solidFill>
                  <a:srgbClr val="0066FF"/>
                </a:solidFill>
                <a:effectLst/>
                <a:uLnTx/>
                <a:uFillTx/>
                <a:latin typeface="微软雅黑" panose="020B0503020204020204" charset="-122"/>
                <a:ea typeface="微软雅黑" panose="020B0503020204020204" charset="-122"/>
                <a:cs typeface="+mj-cs"/>
              </a:rPr>
              <a:t>D.</a:t>
            </a:r>
            <a:r>
              <a:rPr kumimoji="0" lang="en-US" altLang="zh-CN" sz="2000" b="1" i="0" u="none" strike="noStrike" kern="0" cap="none" spc="0" normalizeH="0" noProof="0" dirty="0">
                <a:ln>
                  <a:noFill/>
                </a:ln>
                <a:solidFill>
                  <a:srgbClr val="0066FF"/>
                </a:solidFill>
                <a:effectLst/>
                <a:uLnTx/>
                <a:uFillTx/>
                <a:latin typeface="微软雅黑" panose="020B0503020204020204" charset="-122"/>
                <a:ea typeface="微软雅黑" panose="020B0503020204020204" charset="-122"/>
                <a:cs typeface="+mj-cs"/>
              </a:rPr>
              <a:t> </a:t>
            </a:r>
            <a:r>
              <a:rPr kumimoji="0" lang="zh-CN" altLang="en-US" sz="2000" b="1" i="0" u="none" strike="noStrike" kern="0" cap="none" spc="0" normalizeH="0" baseline="0" noProof="0" dirty="0">
                <a:ln>
                  <a:noFill/>
                </a:ln>
                <a:solidFill>
                  <a:srgbClr val="0066FF"/>
                </a:solidFill>
                <a:effectLst/>
                <a:uLnTx/>
                <a:uFillTx/>
                <a:latin typeface="微软雅黑" panose="020B0503020204020204" charset="-122"/>
                <a:ea typeface="微软雅黑" panose="020B0503020204020204" charset="-122"/>
                <a:cs typeface="+mj-cs"/>
              </a:rPr>
              <a:t>生产执行与物流先进实践：先进企业通过集成</a:t>
            </a:r>
            <a:r>
              <a:rPr kumimoji="0" lang="en-US" altLang="zh-CN" sz="2000" b="1" i="0" u="none" strike="noStrike" kern="0" cap="none" spc="0" normalizeH="0" baseline="0" noProof="0" dirty="0">
                <a:ln>
                  <a:noFill/>
                </a:ln>
                <a:solidFill>
                  <a:srgbClr val="0066FF"/>
                </a:solidFill>
                <a:effectLst/>
                <a:uLnTx/>
                <a:uFillTx/>
                <a:latin typeface="微软雅黑" panose="020B0503020204020204" charset="-122"/>
                <a:ea typeface="微软雅黑" panose="020B0503020204020204" charset="-122"/>
                <a:cs typeface="+mj-cs"/>
              </a:rPr>
              <a:t>MES</a:t>
            </a:r>
            <a:r>
              <a:rPr kumimoji="0" lang="zh-CN" altLang="en-US" sz="2000" b="1" i="0" u="none" strike="noStrike" kern="0" cap="none" spc="0" normalizeH="0" baseline="0" noProof="0" dirty="0">
                <a:ln>
                  <a:noFill/>
                </a:ln>
                <a:solidFill>
                  <a:srgbClr val="0066FF"/>
                </a:solidFill>
                <a:effectLst/>
                <a:uLnTx/>
                <a:uFillTx/>
                <a:latin typeface="微软雅黑" panose="020B0503020204020204" charset="-122"/>
                <a:ea typeface="微软雅黑" panose="020B0503020204020204" charset="-122"/>
                <a:cs typeface="+mj-cs"/>
              </a:rPr>
              <a:t>，实现生产信息自动采集，以及基于现场的物料即时拉动</a:t>
            </a:r>
            <a:br>
              <a:rPr kumimoji="0" lang="en-US" altLang="zh-CN" sz="2000" b="1" i="0" u="none" strike="noStrike" kern="0" cap="none" spc="0" normalizeH="0" baseline="0" noProof="0" dirty="0">
                <a:ln>
                  <a:noFill/>
                </a:ln>
                <a:solidFill>
                  <a:srgbClr val="0066FF"/>
                </a:solidFill>
                <a:effectLst/>
                <a:uLnTx/>
                <a:uFillTx/>
                <a:latin typeface="微软雅黑" panose="020B0503020204020204" charset="-122"/>
                <a:ea typeface="微软雅黑" panose="020B0503020204020204" charset="-122"/>
                <a:cs typeface="+mj-cs"/>
              </a:rPr>
            </a:br>
            <a:endParaRPr kumimoji="0" lang="zh-CN" altLang="en-US" sz="2000" b="1" i="0" u="none" strike="noStrike" kern="0" cap="none" spc="0" normalizeH="0" baseline="0" noProof="0" dirty="0">
              <a:ln>
                <a:noFill/>
              </a:ln>
              <a:solidFill>
                <a:srgbClr val="0066FF"/>
              </a:solidFill>
              <a:effectLst/>
              <a:uLnTx/>
              <a:uFillTx/>
              <a:latin typeface="微软雅黑" panose="020B0503020204020204" charset="-122"/>
              <a:ea typeface="微软雅黑" panose="020B0503020204020204" charset="-122"/>
              <a:cs typeface="+mj-cs"/>
            </a:endParaRPr>
          </a:p>
        </p:txBody>
      </p:sp>
      <p:sp>
        <p:nvSpPr>
          <p:cNvPr id="5" name="矩形 4"/>
          <p:cNvSpPr/>
          <p:nvPr/>
        </p:nvSpPr>
        <p:spPr>
          <a:xfrm>
            <a:off x="4546600" y="1681870"/>
            <a:ext cx="4337050" cy="5003677"/>
          </a:xfrm>
          <a:prstGeom prst="rect">
            <a:avLst/>
          </a:prstGeom>
        </p:spPr>
        <p:txBody>
          <a:bodyPr wrap="square">
            <a:spAutoFit/>
          </a:bodyPr>
          <a:lstStyle/>
          <a:p>
            <a:pPr marL="95250" lvl="1" indent="-95250" eaLnBrk="0" hangingPunct="0">
              <a:lnSpc>
                <a:spcPct val="125000"/>
              </a:lnSpc>
              <a:spcBef>
                <a:spcPct val="20000"/>
              </a:spcBef>
              <a:buClr>
                <a:schemeClr val="tx1"/>
              </a:buClr>
              <a:buFont typeface="Wingdings" panose="05000000000000000000" pitchFamily="2" charset="2"/>
              <a:buChar char="§"/>
              <a:defRPr/>
            </a:pPr>
            <a:r>
              <a:rPr lang="zh-CN" altLang="en-US" sz="1300" dirty="0">
                <a:solidFill>
                  <a:schemeClr val="tx1"/>
                </a:solidFill>
                <a:latin typeface="微软雅黑" panose="020B0503020204020204" charset="-122"/>
                <a:ea typeface="微软雅黑" panose="020B0503020204020204" charset="-122"/>
              </a:rPr>
              <a:t>自动可以接收</a:t>
            </a:r>
            <a:r>
              <a:rPr lang="en-US" altLang="zh-CN" sz="1300" dirty="0">
                <a:solidFill>
                  <a:schemeClr val="tx1"/>
                </a:solidFill>
                <a:latin typeface="微软雅黑" panose="020B0503020204020204" charset="-122"/>
                <a:ea typeface="微软雅黑" panose="020B0503020204020204" charset="-122"/>
              </a:rPr>
              <a:t>ERP</a:t>
            </a:r>
            <a:r>
              <a:rPr lang="zh-CN" altLang="en-US" sz="1300" dirty="0">
                <a:solidFill>
                  <a:schemeClr val="tx1"/>
                </a:solidFill>
                <a:latin typeface="微软雅黑" panose="020B0503020204020204" charset="-122"/>
                <a:ea typeface="微软雅黑" panose="020B0503020204020204" charset="-122"/>
              </a:rPr>
              <a:t>下达的生产计划</a:t>
            </a:r>
            <a:r>
              <a:rPr lang="zh-CN" altLang="en-US" sz="1300" b="0" dirty="0">
                <a:solidFill>
                  <a:schemeClr val="tx1"/>
                </a:solidFill>
                <a:latin typeface="微软雅黑" panose="020B0503020204020204" charset="-122"/>
                <a:ea typeface="微软雅黑" panose="020B0503020204020204" charset="-122"/>
              </a:rPr>
              <a:t>，结合设备、班次等有限能力的约束，进行</a:t>
            </a:r>
            <a:r>
              <a:rPr lang="zh-CN" altLang="en-US" sz="1300" dirty="0">
                <a:solidFill>
                  <a:schemeClr val="tx1"/>
                </a:solidFill>
                <a:latin typeface="微软雅黑" panose="020B0503020204020204" charset="-122"/>
                <a:ea typeface="微软雅黑" panose="020B0503020204020204" charset="-122"/>
              </a:rPr>
              <a:t>作业计划的优化排产</a:t>
            </a:r>
            <a:r>
              <a:rPr lang="zh-CN" altLang="en-US" sz="1300" b="0" dirty="0">
                <a:solidFill>
                  <a:schemeClr val="tx1"/>
                </a:solidFill>
                <a:latin typeface="微软雅黑" panose="020B0503020204020204" charset="-122"/>
                <a:ea typeface="微软雅黑" panose="020B0503020204020204" charset="-122"/>
              </a:rPr>
              <a:t>；并在实时监控条件下对生产执行过程中以对生产计划进行调度调整，提升工厂生产计划的准确性、提高计划员的工作效率。</a:t>
            </a:r>
            <a:endParaRPr lang="en-US" altLang="zh-CN" sz="1300" b="0" dirty="0">
              <a:solidFill>
                <a:schemeClr val="tx1"/>
              </a:solidFill>
              <a:latin typeface="微软雅黑" panose="020B0503020204020204" charset="-122"/>
              <a:ea typeface="微软雅黑" panose="020B0503020204020204" charset="-122"/>
            </a:endParaRPr>
          </a:p>
          <a:p>
            <a:pPr marL="95250" lvl="1" indent="-95250" eaLnBrk="0" hangingPunct="0">
              <a:lnSpc>
                <a:spcPct val="125000"/>
              </a:lnSpc>
              <a:spcBef>
                <a:spcPct val="20000"/>
              </a:spcBef>
              <a:buClr>
                <a:schemeClr val="tx1"/>
              </a:buClr>
              <a:buFont typeface="Wingdings" panose="05000000000000000000" pitchFamily="2" charset="2"/>
              <a:buChar char="§"/>
              <a:defRPr/>
            </a:pPr>
            <a:r>
              <a:rPr lang="zh-CN" altLang="en-US" sz="1300" b="0" dirty="0">
                <a:solidFill>
                  <a:schemeClr val="tx1"/>
                </a:solidFill>
                <a:latin typeface="微软雅黑" panose="020B0503020204020204" charset="-122"/>
                <a:ea typeface="微软雅黑" panose="020B0503020204020204" charset="-122"/>
              </a:rPr>
              <a:t>通过</a:t>
            </a:r>
            <a:r>
              <a:rPr lang="en-US" altLang="zh-CN" sz="1300" b="0" dirty="0">
                <a:solidFill>
                  <a:schemeClr val="tx1"/>
                </a:solidFill>
                <a:latin typeface="微软雅黑" panose="020B0503020204020204" charset="-122"/>
                <a:ea typeface="微软雅黑" panose="020B0503020204020204" charset="-122"/>
              </a:rPr>
              <a:t>MES</a:t>
            </a:r>
            <a:r>
              <a:rPr lang="zh-CN" altLang="en-US" sz="1300" b="0" dirty="0">
                <a:solidFill>
                  <a:schemeClr val="tx1"/>
                </a:solidFill>
                <a:latin typeface="微软雅黑" panose="020B0503020204020204" charset="-122"/>
                <a:ea typeface="微软雅黑" panose="020B0503020204020204" charset="-122"/>
              </a:rPr>
              <a:t>工作站、条码 、电子标签、</a:t>
            </a:r>
            <a:r>
              <a:rPr lang="en-US" altLang="zh-CN" sz="1300" b="0" dirty="0">
                <a:solidFill>
                  <a:schemeClr val="tx1"/>
                </a:solidFill>
                <a:latin typeface="微软雅黑" panose="020B0503020204020204" charset="-122"/>
                <a:ea typeface="微软雅黑" panose="020B0503020204020204" charset="-122"/>
              </a:rPr>
              <a:t>PDA</a:t>
            </a:r>
            <a:r>
              <a:rPr lang="zh-CN" altLang="en-US" sz="1300" b="0" dirty="0">
                <a:solidFill>
                  <a:schemeClr val="tx1"/>
                </a:solidFill>
                <a:latin typeface="微软雅黑" panose="020B0503020204020204" charset="-122"/>
                <a:ea typeface="微软雅黑" panose="020B0503020204020204" charset="-122"/>
              </a:rPr>
              <a:t>、数控采集等技术手段实时准确的</a:t>
            </a:r>
            <a:r>
              <a:rPr lang="zh-CN" altLang="en-US" sz="1300" dirty="0">
                <a:solidFill>
                  <a:schemeClr val="tx1"/>
                </a:solidFill>
                <a:latin typeface="微软雅黑" panose="020B0503020204020204" charset="-122"/>
                <a:ea typeface="微软雅黑" panose="020B0503020204020204" charset="-122"/>
              </a:rPr>
              <a:t>采集作业现场的数据</a:t>
            </a:r>
            <a:r>
              <a:rPr lang="zh-CN" altLang="en-US" sz="1300" b="0" dirty="0">
                <a:solidFill>
                  <a:schemeClr val="tx1"/>
                </a:solidFill>
                <a:latin typeface="微软雅黑" panose="020B0503020204020204" charset="-122"/>
                <a:ea typeface="微软雅黑" panose="020B0503020204020204" charset="-122"/>
              </a:rPr>
              <a:t>，包括人、机、料、法、质量等数据，</a:t>
            </a:r>
            <a:r>
              <a:rPr lang="zh-CN" altLang="en-US" sz="1300" dirty="0">
                <a:solidFill>
                  <a:schemeClr val="tx1"/>
                </a:solidFill>
                <a:latin typeface="微软雅黑" panose="020B0503020204020204" charset="-122"/>
                <a:ea typeface="微软雅黑" panose="020B0503020204020204" charset="-122"/>
              </a:rPr>
              <a:t>实现生产的透明化管理。</a:t>
            </a:r>
            <a:endParaRPr lang="en-US" altLang="zh-CN" sz="1300" dirty="0">
              <a:solidFill>
                <a:schemeClr val="tx1"/>
              </a:solidFill>
              <a:latin typeface="微软雅黑" panose="020B0503020204020204" charset="-122"/>
              <a:ea typeface="微软雅黑" panose="020B0503020204020204" charset="-122"/>
            </a:endParaRPr>
          </a:p>
          <a:p>
            <a:pPr marL="95250" lvl="1" indent="-95250" eaLnBrk="0" hangingPunct="0">
              <a:lnSpc>
                <a:spcPct val="125000"/>
              </a:lnSpc>
              <a:spcBef>
                <a:spcPct val="20000"/>
              </a:spcBef>
              <a:buClr>
                <a:schemeClr val="tx1"/>
              </a:buClr>
              <a:buFont typeface="Wingdings" panose="05000000000000000000" pitchFamily="2" charset="2"/>
              <a:buChar char="§"/>
              <a:defRPr/>
            </a:pPr>
            <a:r>
              <a:rPr lang="zh-CN" altLang="en-US" sz="1300" dirty="0">
                <a:latin typeface="微软雅黑" panose="020B0503020204020204" charset="-122"/>
                <a:ea typeface="微软雅黑" panose="020B0503020204020204" charset="-122"/>
              </a:rPr>
              <a:t>建立以</a:t>
            </a:r>
            <a:r>
              <a:rPr lang="en-US" altLang="zh-CN" sz="1300" dirty="0">
                <a:latin typeface="微软雅黑" panose="020B0503020204020204" charset="-122"/>
                <a:ea typeface="微软雅黑" panose="020B0503020204020204" charset="-122"/>
              </a:rPr>
              <a:t>MES</a:t>
            </a:r>
            <a:r>
              <a:rPr lang="zh-CN" altLang="en-US" sz="1300" dirty="0">
                <a:latin typeface="微软雅黑" panose="020B0503020204020204" charset="-122"/>
                <a:ea typeface="微软雅黑" panose="020B0503020204020204" charset="-122"/>
              </a:rPr>
              <a:t>为中心的生产调度平台</a:t>
            </a:r>
            <a:r>
              <a:rPr lang="zh-CN" altLang="en-US" sz="1300" b="0" dirty="0">
                <a:latin typeface="微软雅黑" panose="020B0503020204020204" charset="-122"/>
                <a:ea typeface="微软雅黑" panose="020B0503020204020204" charset="-122"/>
              </a:rPr>
              <a:t>，通过与</a:t>
            </a:r>
            <a:r>
              <a:rPr lang="en-US" altLang="zh-CN" sz="1300" b="0" dirty="0">
                <a:latin typeface="微软雅黑" panose="020B0503020204020204" charset="-122"/>
                <a:ea typeface="微软雅黑" panose="020B0503020204020204" charset="-122"/>
              </a:rPr>
              <a:t>LES</a:t>
            </a:r>
            <a:r>
              <a:rPr lang="zh-CN" altLang="en-US" sz="1300" b="0" dirty="0">
                <a:latin typeface="微软雅黑" panose="020B0503020204020204" charset="-122"/>
                <a:ea typeface="微软雅黑" panose="020B0503020204020204" charset="-122"/>
              </a:rPr>
              <a:t>，</a:t>
            </a:r>
            <a:r>
              <a:rPr lang="en-US" altLang="zh-CN" sz="1300" b="0" dirty="0">
                <a:latin typeface="微软雅黑" panose="020B0503020204020204" charset="-122"/>
                <a:ea typeface="微软雅黑" panose="020B0503020204020204" charset="-122"/>
              </a:rPr>
              <a:t>WMS</a:t>
            </a:r>
            <a:r>
              <a:rPr lang="zh-CN" altLang="en-US" sz="1300" b="0" dirty="0">
                <a:latin typeface="微软雅黑" panose="020B0503020204020204" charset="-122"/>
                <a:ea typeface="微软雅黑" panose="020B0503020204020204" charset="-122"/>
              </a:rPr>
              <a:t>的高度集成实现物资配送的高效化、智能化，实现现场实时生产物流的推拉结合管理</a:t>
            </a:r>
            <a:r>
              <a:rPr lang="en-US" altLang="zh-CN" sz="1300" b="0" dirty="0">
                <a:latin typeface="微软雅黑" panose="020B0503020204020204" charset="-122"/>
                <a:ea typeface="微软雅黑" panose="020B0503020204020204" charset="-122"/>
              </a:rPr>
              <a:t>, </a:t>
            </a:r>
            <a:r>
              <a:rPr lang="zh-CN" altLang="en-US" sz="1300" b="0" dirty="0">
                <a:latin typeface="微软雅黑" panose="020B0503020204020204" charset="-122"/>
                <a:ea typeface="微软雅黑" panose="020B0503020204020204" charset="-122"/>
              </a:rPr>
              <a:t>有效支持</a:t>
            </a:r>
            <a:r>
              <a:rPr lang="en-US" altLang="zh-CN" sz="1300" b="0" dirty="0">
                <a:latin typeface="微软雅黑" panose="020B0503020204020204" charset="-122"/>
                <a:ea typeface="微软雅黑" panose="020B0503020204020204" charset="-122"/>
              </a:rPr>
              <a:t>JIT</a:t>
            </a:r>
            <a:r>
              <a:rPr lang="zh-CN" altLang="en-US" sz="1300" b="0" dirty="0">
                <a:latin typeface="微软雅黑" panose="020B0503020204020204" charset="-122"/>
                <a:ea typeface="微软雅黑" panose="020B0503020204020204" charset="-122"/>
              </a:rPr>
              <a:t>精益制造管理模式。</a:t>
            </a:r>
            <a:endParaRPr lang="en-US" altLang="zh-CN" sz="1300" b="0" dirty="0">
              <a:latin typeface="微软雅黑" panose="020B0503020204020204" charset="-122"/>
              <a:ea typeface="微软雅黑" panose="020B0503020204020204" charset="-122"/>
            </a:endParaRPr>
          </a:p>
          <a:p>
            <a:pPr marL="95250" lvl="1" indent="-95250" eaLnBrk="0" hangingPunct="0">
              <a:lnSpc>
                <a:spcPct val="125000"/>
              </a:lnSpc>
              <a:spcBef>
                <a:spcPct val="20000"/>
              </a:spcBef>
              <a:buClr>
                <a:schemeClr val="tx1"/>
              </a:buClr>
              <a:buFont typeface="Wingdings" panose="05000000000000000000" pitchFamily="2" charset="2"/>
              <a:buChar char="§"/>
              <a:defRPr/>
            </a:pPr>
            <a:r>
              <a:rPr lang="zh-CN" altLang="en-US" sz="1300" b="0" dirty="0">
                <a:solidFill>
                  <a:schemeClr val="tx1"/>
                </a:solidFill>
                <a:latin typeface="微软雅黑" panose="020B0503020204020204" charset="-122"/>
                <a:ea typeface="微软雅黑" panose="020B0503020204020204" charset="-122"/>
              </a:rPr>
              <a:t>建立生产现场高效的异常响应机制，通过现场</a:t>
            </a:r>
            <a:r>
              <a:rPr lang="en-US" altLang="zh-CN" sz="1300" dirty="0">
                <a:solidFill>
                  <a:schemeClr val="tx1"/>
                </a:solidFill>
                <a:latin typeface="微软雅黑" panose="020B0503020204020204" charset="-122"/>
                <a:ea typeface="微软雅黑" panose="020B0503020204020204" charset="-122"/>
              </a:rPr>
              <a:t>ANDON</a:t>
            </a:r>
            <a:r>
              <a:rPr lang="zh-CN" altLang="en-US" sz="1300" b="0" dirty="0">
                <a:solidFill>
                  <a:schemeClr val="tx1"/>
                </a:solidFill>
                <a:latin typeface="微软雅黑" panose="020B0503020204020204" charset="-122"/>
                <a:ea typeface="微软雅黑" panose="020B0503020204020204" charset="-122"/>
              </a:rPr>
              <a:t>快速呼叫和响应生产过程中的各种预警信息，确保生产的高效运转！</a:t>
            </a:r>
          </a:p>
          <a:p>
            <a:pPr marL="95250" lvl="1" indent="-95250" eaLnBrk="0" hangingPunct="0">
              <a:lnSpc>
                <a:spcPct val="125000"/>
              </a:lnSpc>
              <a:spcBef>
                <a:spcPct val="20000"/>
              </a:spcBef>
              <a:buClr>
                <a:schemeClr val="tx1"/>
              </a:buClr>
              <a:buFont typeface="Wingdings" panose="05000000000000000000" pitchFamily="2" charset="2"/>
              <a:buChar char="§"/>
              <a:defRPr/>
            </a:pPr>
            <a:r>
              <a:rPr lang="zh-CN" altLang="en-US" sz="1300" dirty="0">
                <a:solidFill>
                  <a:schemeClr val="tx1"/>
                </a:solidFill>
                <a:latin typeface="微软雅黑" panose="020B0503020204020204" charset="-122"/>
                <a:ea typeface="微软雅黑" panose="020B0503020204020204" charset="-122"/>
              </a:rPr>
              <a:t>能够对三单元的制造资源</a:t>
            </a:r>
            <a:r>
              <a:rPr lang="en-US" altLang="zh-CN" sz="1300" dirty="0">
                <a:solidFill>
                  <a:schemeClr val="tx1"/>
                </a:solidFill>
                <a:latin typeface="微软雅黑" panose="020B0503020204020204" charset="-122"/>
                <a:ea typeface="微软雅黑" panose="020B0503020204020204" charset="-122"/>
              </a:rPr>
              <a:t>(</a:t>
            </a:r>
            <a:r>
              <a:rPr lang="zh-CN" altLang="en-US" sz="1300" dirty="0">
                <a:solidFill>
                  <a:schemeClr val="tx1"/>
                </a:solidFill>
                <a:latin typeface="微软雅黑" panose="020B0503020204020204" charset="-122"/>
                <a:ea typeface="微软雅黑" panose="020B0503020204020204" charset="-122"/>
              </a:rPr>
              <a:t>设备、人员、工具、生产物料等</a:t>
            </a:r>
            <a:r>
              <a:rPr lang="en-US" altLang="zh-CN" sz="1300" b="0" dirty="0">
                <a:solidFill>
                  <a:schemeClr val="tx1"/>
                </a:solidFill>
                <a:latin typeface="微软雅黑" panose="020B0503020204020204" charset="-122"/>
                <a:ea typeface="微软雅黑" panose="020B0503020204020204" charset="-122"/>
              </a:rPr>
              <a:t>)</a:t>
            </a:r>
            <a:r>
              <a:rPr lang="zh-CN" altLang="en-US" sz="1300" b="0" dirty="0">
                <a:solidFill>
                  <a:schemeClr val="tx1"/>
                </a:solidFill>
                <a:latin typeface="微软雅黑" panose="020B0503020204020204" charset="-122"/>
                <a:ea typeface="微软雅黑" panose="020B0503020204020204" charset="-122"/>
              </a:rPr>
              <a:t>进行统一的管理与合理配置</a:t>
            </a:r>
            <a:r>
              <a:rPr lang="en-US" altLang="zh-CN" sz="1300" b="0" dirty="0">
                <a:solidFill>
                  <a:schemeClr val="tx1"/>
                </a:solidFill>
                <a:latin typeface="微软雅黑" panose="020B0503020204020204" charset="-122"/>
                <a:ea typeface="微软雅黑" panose="020B0503020204020204" charset="-122"/>
              </a:rPr>
              <a:t>, </a:t>
            </a:r>
            <a:r>
              <a:rPr lang="zh-CN" altLang="en-US" sz="1300" b="0" dirty="0">
                <a:solidFill>
                  <a:schemeClr val="tx1"/>
                </a:solidFill>
                <a:latin typeface="微软雅黑" panose="020B0503020204020204" charset="-122"/>
                <a:ea typeface="微软雅黑" panose="020B0503020204020204" charset="-122"/>
              </a:rPr>
              <a:t>实现生产作业计划与调度的科学化、可行化和快速响应管理</a:t>
            </a:r>
            <a:r>
              <a:rPr lang="en-US" altLang="zh-CN" sz="1300" b="0" dirty="0">
                <a:solidFill>
                  <a:schemeClr val="tx1"/>
                </a:solidFill>
                <a:latin typeface="微软雅黑" panose="020B0503020204020204" charset="-122"/>
                <a:ea typeface="微软雅黑" panose="020B0503020204020204" charset="-122"/>
              </a:rPr>
              <a:t>,</a:t>
            </a:r>
            <a:r>
              <a:rPr lang="zh-CN" altLang="en-US" sz="1300" b="0" dirty="0">
                <a:solidFill>
                  <a:schemeClr val="tx1"/>
                </a:solidFill>
                <a:latin typeface="微软雅黑" panose="020B0503020204020204" charset="-122"/>
                <a:ea typeface="微软雅黑" panose="020B0503020204020204" charset="-122"/>
              </a:rPr>
              <a:t>提高制造资源的合理利用率。</a:t>
            </a:r>
            <a:endParaRPr lang="en-US" altLang="zh-CN" sz="1300" b="0" dirty="0">
              <a:solidFill>
                <a:schemeClr val="tx1"/>
              </a:solidFill>
              <a:latin typeface="微软雅黑" panose="020B0503020204020204" charset="-122"/>
              <a:ea typeface="微软雅黑" panose="020B0503020204020204" charset="-122"/>
            </a:endParaRPr>
          </a:p>
        </p:txBody>
      </p:sp>
      <p:grpSp>
        <p:nvGrpSpPr>
          <p:cNvPr id="2" name="组合 56"/>
          <p:cNvGrpSpPr/>
          <p:nvPr/>
        </p:nvGrpSpPr>
        <p:grpSpPr>
          <a:xfrm>
            <a:off x="288423" y="2199862"/>
            <a:ext cx="4363092" cy="3137922"/>
            <a:chOff x="875305" y="1089661"/>
            <a:chExt cx="6486441" cy="4052660"/>
          </a:xfrm>
        </p:grpSpPr>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l="5436" b="20761"/>
            <a:stretch>
              <a:fillRect/>
            </a:stretch>
          </p:blipFill>
          <p:spPr>
            <a:xfrm>
              <a:off x="2358847" y="2123743"/>
              <a:ext cx="3920587" cy="1847933"/>
            </a:xfrm>
            <a:prstGeom prst="rect">
              <a:avLst/>
            </a:prstGeom>
            <a:effectLst>
              <a:softEdge rad="127000"/>
            </a:effectLst>
          </p:spPr>
        </p:pic>
        <p:sp>
          <p:nvSpPr>
            <p:cNvPr id="8" name="椭圆 7"/>
            <p:cNvSpPr/>
            <p:nvPr/>
          </p:nvSpPr>
          <p:spPr bwMode="auto">
            <a:xfrm>
              <a:off x="3800901" y="373910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9" name="形状 8"/>
            <p:cNvCxnSpPr>
              <a:stCxn id="8" idx="4"/>
              <a:endCxn id="11" idx="6"/>
            </p:cNvCxnSpPr>
            <p:nvPr/>
          </p:nvCxnSpPr>
          <p:spPr bwMode="auto">
            <a:xfrm rot="5400000">
              <a:off x="3171743" y="3861247"/>
              <a:ext cx="697299" cy="669018"/>
            </a:xfrm>
            <a:prstGeom prst="bentConnector2">
              <a:avLst/>
            </a:prstGeom>
            <a:solidFill>
              <a:schemeClr val="accent1"/>
            </a:solidFill>
            <a:ln w="19050" cap="flat" cmpd="sng" algn="ctr">
              <a:solidFill>
                <a:srgbClr val="FF0000"/>
              </a:solidFill>
              <a:prstDash val="solid"/>
              <a:round/>
              <a:headEnd type="none" w="med" len="med"/>
              <a:tailEnd type="triangle" w="med" len="med"/>
            </a:ln>
            <a:effectLst/>
          </p:spPr>
        </p:cxnSp>
        <p:sp>
          <p:nvSpPr>
            <p:cNvPr id="10" name="Rectangle 4"/>
            <p:cNvSpPr>
              <a:spLocks noChangeArrowheads="1"/>
            </p:cNvSpPr>
            <p:nvPr/>
          </p:nvSpPr>
          <p:spPr bwMode="auto">
            <a:xfrm>
              <a:off x="2327757" y="4831255"/>
              <a:ext cx="564257" cy="253916"/>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dirty="0">
                  <a:solidFill>
                    <a:schemeClr val="tx2">
                      <a:lumMod val="75000"/>
                    </a:schemeClr>
                  </a:solidFill>
                  <a:latin typeface="微软雅黑" panose="020B0503020204020204" charset="-122"/>
                  <a:ea typeface="微软雅黑" panose="020B0503020204020204" charset="-122"/>
                </a:rPr>
                <a:t>生产监控</a:t>
              </a:r>
              <a:endParaRPr kumimoji="1" lang="en-US" altLang="zh-CN" sz="900" b="1" dirty="0">
                <a:solidFill>
                  <a:schemeClr val="tx2">
                    <a:lumMod val="75000"/>
                  </a:schemeClr>
                </a:solidFill>
                <a:latin typeface="微软雅黑" panose="020B0503020204020204" charset="-122"/>
                <a:ea typeface="微软雅黑" panose="020B0503020204020204" charset="-122"/>
              </a:endParaRPr>
            </a:p>
          </p:txBody>
        </p:sp>
        <p:pic>
          <p:nvPicPr>
            <p:cNvPr id="11" name="Picture 7"/>
            <p:cNvPicPr>
              <a:picLocks noChangeAspect="1" noChangeArrowheads="1"/>
            </p:cNvPicPr>
            <p:nvPr/>
          </p:nvPicPr>
          <p:blipFill>
            <a:blip r:embed="rId4" cstate="print"/>
            <a:srcRect/>
            <a:stretch>
              <a:fillRect/>
            </a:stretch>
          </p:blipFill>
          <p:spPr bwMode="auto">
            <a:xfrm>
              <a:off x="2068085" y="4215596"/>
              <a:ext cx="1117798" cy="657620"/>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2" name="椭圆 11"/>
            <p:cNvSpPr/>
            <p:nvPr/>
          </p:nvSpPr>
          <p:spPr bwMode="auto">
            <a:xfrm>
              <a:off x="4061251" y="338985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5" cstate="print"/>
            <a:srcRect l="14047" r="19354" b="30396"/>
            <a:stretch>
              <a:fillRect/>
            </a:stretch>
          </p:blipFill>
          <p:spPr>
            <a:xfrm>
              <a:off x="4048126" y="4236856"/>
              <a:ext cx="1080000" cy="682624"/>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14" name="形状 41"/>
            <p:cNvCxnSpPr>
              <a:stCxn id="12" idx="4"/>
              <a:endCxn id="13" idx="0"/>
            </p:cNvCxnSpPr>
            <p:nvPr/>
          </p:nvCxnSpPr>
          <p:spPr bwMode="auto">
            <a:xfrm rot="16200000" flipH="1">
              <a:off x="3982189" y="3630918"/>
              <a:ext cx="738999" cy="472875"/>
            </a:xfrm>
            <a:prstGeom prst="bentConnector3">
              <a:avLst>
                <a:gd name="adj1" fmla="val 50000"/>
              </a:avLst>
            </a:prstGeom>
            <a:solidFill>
              <a:schemeClr val="accent1"/>
            </a:solidFill>
            <a:ln w="19050" cap="flat" cmpd="sng" algn="ctr">
              <a:solidFill>
                <a:srgbClr val="FF0000"/>
              </a:solidFill>
              <a:prstDash val="solid"/>
              <a:round/>
              <a:headEnd type="none" w="med" len="med"/>
              <a:tailEnd type="triangle" w="med" len="med"/>
            </a:ln>
            <a:effectLst/>
          </p:spPr>
        </p:cxnSp>
        <p:sp>
          <p:nvSpPr>
            <p:cNvPr id="15" name="Rectangle 4"/>
            <p:cNvSpPr>
              <a:spLocks noChangeArrowheads="1"/>
            </p:cNvSpPr>
            <p:nvPr/>
          </p:nvSpPr>
          <p:spPr bwMode="auto">
            <a:xfrm>
              <a:off x="4328007" y="4888405"/>
              <a:ext cx="564257" cy="253916"/>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dirty="0">
                  <a:solidFill>
                    <a:schemeClr val="tx2">
                      <a:lumMod val="75000"/>
                    </a:schemeClr>
                  </a:solidFill>
                  <a:latin typeface="微软雅黑" panose="020B0503020204020204" charset="-122"/>
                  <a:ea typeface="微软雅黑" panose="020B0503020204020204" charset="-122"/>
                </a:rPr>
                <a:t>设备实时监控</a:t>
              </a:r>
              <a:endParaRPr kumimoji="1" lang="en-US" altLang="zh-CN" sz="900" b="1" dirty="0">
                <a:solidFill>
                  <a:schemeClr val="tx2">
                    <a:lumMod val="75000"/>
                  </a:schemeClr>
                </a:solidFill>
                <a:latin typeface="微软雅黑" panose="020B0503020204020204" charset="-122"/>
                <a:ea typeface="微软雅黑" panose="020B0503020204020204" charset="-122"/>
              </a:endParaRPr>
            </a:p>
          </p:txBody>
        </p:sp>
        <p:pic>
          <p:nvPicPr>
            <p:cNvPr id="16" name="Picture 16"/>
            <p:cNvPicPr>
              <a:picLocks noChangeAspect="1" noChangeArrowheads="1"/>
            </p:cNvPicPr>
            <p:nvPr/>
          </p:nvPicPr>
          <p:blipFill>
            <a:blip r:embed="rId6" cstate="print"/>
            <a:srcRect/>
            <a:stretch>
              <a:fillRect/>
            </a:stretch>
          </p:blipFill>
          <p:spPr bwMode="auto">
            <a:xfrm>
              <a:off x="894035" y="3424682"/>
              <a:ext cx="1080000" cy="802708"/>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7" name="椭圆 16"/>
            <p:cNvSpPr/>
            <p:nvPr/>
          </p:nvSpPr>
          <p:spPr bwMode="auto">
            <a:xfrm>
              <a:off x="3146851" y="326920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18" name="形状 41"/>
            <p:cNvCxnSpPr>
              <a:stCxn id="17" idx="4"/>
              <a:endCxn id="16" idx="6"/>
            </p:cNvCxnSpPr>
            <p:nvPr/>
          </p:nvCxnSpPr>
          <p:spPr bwMode="auto">
            <a:xfrm rot="5400000">
              <a:off x="2363029" y="2988213"/>
              <a:ext cx="448829" cy="1226816"/>
            </a:xfrm>
            <a:prstGeom prst="bentConnector2">
              <a:avLst/>
            </a:prstGeom>
            <a:solidFill>
              <a:schemeClr val="accent1"/>
            </a:solidFill>
            <a:ln w="19050" cap="flat" cmpd="sng" algn="ctr">
              <a:solidFill>
                <a:srgbClr val="FF0000"/>
              </a:solidFill>
              <a:prstDash val="solid"/>
              <a:round/>
              <a:headEnd type="none" w="med" len="med"/>
              <a:tailEnd type="triangle" w="med" len="med"/>
            </a:ln>
            <a:effectLst/>
          </p:spPr>
        </p:cxnSp>
        <p:sp>
          <p:nvSpPr>
            <p:cNvPr id="19" name="Rectangle 4"/>
            <p:cNvSpPr>
              <a:spLocks noChangeArrowheads="1"/>
            </p:cNvSpPr>
            <p:nvPr/>
          </p:nvSpPr>
          <p:spPr bwMode="auto">
            <a:xfrm>
              <a:off x="1133957" y="4202605"/>
              <a:ext cx="564257" cy="253916"/>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dirty="0">
                  <a:solidFill>
                    <a:schemeClr val="tx2">
                      <a:lumMod val="75000"/>
                    </a:schemeClr>
                  </a:solidFill>
                  <a:latin typeface="微软雅黑" panose="020B0503020204020204" charset="-122"/>
                  <a:ea typeface="微软雅黑" panose="020B0503020204020204" charset="-122"/>
                </a:rPr>
                <a:t>产品跟踪</a:t>
              </a:r>
              <a:endParaRPr kumimoji="1" lang="en-US" altLang="zh-CN" sz="900" b="1" dirty="0">
                <a:solidFill>
                  <a:schemeClr val="tx2">
                    <a:lumMod val="75000"/>
                  </a:schemeClr>
                </a:solidFill>
                <a:latin typeface="微软雅黑" panose="020B0503020204020204" charset="-122"/>
                <a:ea typeface="微软雅黑" panose="020B0503020204020204" charset="-122"/>
              </a:endParaRPr>
            </a:p>
          </p:txBody>
        </p:sp>
        <p:pic>
          <p:nvPicPr>
            <p:cNvPr id="20" name="Picture 14" descr="http://www.sooq.cn/resupload/18/1374028455511_1.jpg"/>
            <p:cNvPicPr>
              <a:picLocks noChangeAspect="1" noChangeArrowheads="1"/>
            </p:cNvPicPr>
            <p:nvPr/>
          </p:nvPicPr>
          <p:blipFill>
            <a:blip r:embed="rId7" cstate="print"/>
            <a:srcRect t="22566" r="21208"/>
            <a:stretch>
              <a:fillRect/>
            </a:stretch>
          </p:blipFill>
          <p:spPr bwMode="auto">
            <a:xfrm>
              <a:off x="3452115" y="1089661"/>
              <a:ext cx="1080000" cy="732358"/>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1" name="椭圆 20"/>
            <p:cNvSpPr/>
            <p:nvPr/>
          </p:nvSpPr>
          <p:spPr bwMode="auto">
            <a:xfrm>
              <a:off x="5646211" y="330603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22" name="形状 41"/>
            <p:cNvCxnSpPr>
              <a:stCxn id="21" idx="6"/>
              <a:endCxn id="23" idx="2"/>
            </p:cNvCxnSpPr>
            <p:nvPr/>
          </p:nvCxnSpPr>
          <p:spPr bwMode="auto">
            <a:xfrm>
              <a:off x="5754213" y="3360037"/>
              <a:ext cx="527533" cy="443320"/>
            </a:xfrm>
            <a:prstGeom prst="bentConnector3">
              <a:avLst>
                <a:gd name="adj1" fmla="val 50000"/>
              </a:avLst>
            </a:prstGeom>
            <a:solidFill>
              <a:schemeClr val="accent1"/>
            </a:solidFill>
            <a:ln w="19050" cap="flat" cmpd="sng" algn="ctr">
              <a:solidFill>
                <a:srgbClr val="FF0000"/>
              </a:solidFill>
              <a:prstDash val="solid"/>
              <a:round/>
              <a:headEnd type="none" w="med" len="med"/>
              <a:tailEnd type="triangle" w="med" len="med"/>
            </a:ln>
            <a:effectLst/>
          </p:spPr>
        </p:cxnSp>
        <p:pic>
          <p:nvPicPr>
            <p:cNvPr id="23" name="Picture 6" descr="http://www.etrol.com.cn/img/20110819011342849.jpg"/>
            <p:cNvPicPr>
              <a:picLocks noChangeArrowheads="1"/>
            </p:cNvPicPr>
            <p:nvPr/>
          </p:nvPicPr>
          <p:blipFill>
            <a:blip r:embed="rId8" cstate="print"/>
            <a:srcRect l="57534" r="9169" b="68177"/>
            <a:stretch>
              <a:fillRect/>
            </a:stretch>
          </p:blipFill>
          <p:spPr bwMode="auto">
            <a:xfrm>
              <a:off x="6281746" y="3437957"/>
              <a:ext cx="1080000" cy="730800"/>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4" name="Rectangle 4"/>
            <p:cNvSpPr>
              <a:spLocks noChangeArrowheads="1"/>
            </p:cNvSpPr>
            <p:nvPr/>
          </p:nvSpPr>
          <p:spPr bwMode="auto">
            <a:xfrm>
              <a:off x="6594209" y="4175935"/>
              <a:ext cx="564256" cy="253916"/>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dirty="0">
                  <a:solidFill>
                    <a:schemeClr val="tx2">
                      <a:lumMod val="75000"/>
                    </a:schemeClr>
                  </a:solidFill>
                  <a:latin typeface="微软雅黑" panose="020B0503020204020204" charset="-122"/>
                  <a:ea typeface="微软雅黑" panose="020B0503020204020204" charset="-122"/>
                </a:rPr>
                <a:t>物料精确拉动</a:t>
              </a:r>
              <a:endParaRPr kumimoji="1" lang="en-US" altLang="zh-CN" sz="900" b="1" dirty="0">
                <a:solidFill>
                  <a:schemeClr val="tx2">
                    <a:lumMod val="75000"/>
                  </a:schemeClr>
                </a:solidFill>
                <a:latin typeface="微软雅黑" panose="020B0503020204020204" charset="-122"/>
                <a:ea typeface="微软雅黑" panose="020B0503020204020204" charset="-122"/>
              </a:endParaRPr>
            </a:p>
          </p:txBody>
        </p:sp>
        <p:pic>
          <p:nvPicPr>
            <p:cNvPr id="25" name="Picture 4" descr="http://xh.sh-tobacco.com.cn/group/images/upload/news8999.jpg"/>
            <p:cNvPicPr>
              <a:picLocks noChangeAspect="1" noChangeArrowheads="1"/>
            </p:cNvPicPr>
            <p:nvPr/>
          </p:nvPicPr>
          <p:blipFill>
            <a:blip r:embed="rId9" cstate="print"/>
            <a:srcRect t="18482" b="13517"/>
            <a:stretch>
              <a:fillRect/>
            </a:stretch>
          </p:blipFill>
          <p:spPr bwMode="auto">
            <a:xfrm>
              <a:off x="875305" y="1993900"/>
              <a:ext cx="1080000" cy="781626"/>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6" name="椭圆 25"/>
            <p:cNvSpPr/>
            <p:nvPr/>
          </p:nvSpPr>
          <p:spPr bwMode="auto">
            <a:xfrm>
              <a:off x="2689651" y="255800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27" name="形状 41"/>
            <p:cNvCxnSpPr>
              <a:stCxn id="26" idx="2"/>
              <a:endCxn id="25" idx="4"/>
            </p:cNvCxnSpPr>
            <p:nvPr/>
          </p:nvCxnSpPr>
          <p:spPr bwMode="auto">
            <a:xfrm rot="10800000" flipV="1">
              <a:off x="1415305" y="2612006"/>
              <a:ext cx="1274346" cy="163519"/>
            </a:xfrm>
            <a:prstGeom prst="bentConnector4">
              <a:avLst>
                <a:gd name="adj1" fmla="val 28813"/>
                <a:gd name="adj2" fmla="val 239800"/>
              </a:avLst>
            </a:prstGeom>
            <a:solidFill>
              <a:schemeClr val="accent1"/>
            </a:solidFill>
            <a:ln w="19050" cap="flat" cmpd="sng" algn="ctr">
              <a:solidFill>
                <a:srgbClr val="FF0000"/>
              </a:solidFill>
              <a:prstDash val="solid"/>
              <a:round/>
              <a:headEnd type="none" w="med" len="med"/>
              <a:tailEnd type="triangle" w="med" len="med"/>
            </a:ln>
            <a:effectLst/>
          </p:spPr>
        </p:cxnSp>
        <p:sp>
          <p:nvSpPr>
            <p:cNvPr id="28" name="Rectangle 4"/>
            <p:cNvSpPr>
              <a:spLocks noChangeArrowheads="1"/>
            </p:cNvSpPr>
            <p:nvPr/>
          </p:nvSpPr>
          <p:spPr bwMode="auto">
            <a:xfrm>
              <a:off x="1103477" y="1714675"/>
              <a:ext cx="564257" cy="253916"/>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dirty="0">
                  <a:solidFill>
                    <a:schemeClr val="tx2">
                      <a:lumMod val="75000"/>
                    </a:schemeClr>
                  </a:solidFill>
                  <a:latin typeface="微软雅黑" panose="020B0503020204020204" charset="-122"/>
                  <a:ea typeface="微软雅黑" panose="020B0503020204020204" charset="-122"/>
                </a:rPr>
                <a:t>人员绩效</a:t>
              </a:r>
              <a:endParaRPr kumimoji="1" lang="en-US" altLang="zh-CN" sz="900" b="1" dirty="0">
                <a:solidFill>
                  <a:schemeClr val="tx2">
                    <a:lumMod val="75000"/>
                  </a:schemeClr>
                </a:solidFill>
                <a:latin typeface="微软雅黑" panose="020B0503020204020204" charset="-122"/>
                <a:ea typeface="微软雅黑" panose="020B0503020204020204" charset="-122"/>
              </a:endParaRPr>
            </a:p>
          </p:txBody>
        </p:sp>
        <p:sp>
          <p:nvSpPr>
            <p:cNvPr id="29" name="椭圆 28"/>
            <p:cNvSpPr/>
            <p:nvPr/>
          </p:nvSpPr>
          <p:spPr bwMode="auto">
            <a:xfrm>
              <a:off x="3673901" y="258975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30" name="形状 41"/>
            <p:cNvCxnSpPr>
              <a:stCxn id="29" idx="0"/>
              <a:endCxn id="20" idx="4"/>
            </p:cNvCxnSpPr>
            <p:nvPr/>
          </p:nvCxnSpPr>
          <p:spPr bwMode="auto">
            <a:xfrm rot="5400000" flipH="1" flipV="1">
              <a:off x="3476139" y="2073781"/>
              <a:ext cx="767738" cy="264214"/>
            </a:xfrm>
            <a:prstGeom prst="bentConnector3">
              <a:avLst>
                <a:gd name="adj1" fmla="val 50000"/>
              </a:avLst>
            </a:prstGeom>
            <a:solidFill>
              <a:schemeClr val="accent1"/>
            </a:solidFill>
            <a:ln w="19050" cap="flat" cmpd="sng" algn="ctr">
              <a:solidFill>
                <a:srgbClr val="FF0000"/>
              </a:solidFill>
              <a:prstDash val="solid"/>
              <a:round/>
              <a:headEnd type="none" w="med" len="med"/>
              <a:tailEnd type="triangle" w="med" len="med"/>
            </a:ln>
            <a:effectLst/>
          </p:spPr>
        </p:cxnSp>
        <p:pic>
          <p:nvPicPr>
            <p:cNvPr id="31" name="Picture 2"/>
            <p:cNvPicPr>
              <a:picLocks noChangeAspect="1" noChangeArrowheads="1"/>
            </p:cNvPicPr>
            <p:nvPr/>
          </p:nvPicPr>
          <p:blipFill>
            <a:blip r:embed="rId10" cstate="print"/>
            <a:srcRect/>
            <a:stretch>
              <a:fillRect/>
            </a:stretch>
          </p:blipFill>
          <p:spPr bwMode="auto">
            <a:xfrm>
              <a:off x="6004379" y="1541917"/>
              <a:ext cx="1084489" cy="744841"/>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2" name="椭圆 31"/>
            <p:cNvSpPr/>
            <p:nvPr/>
          </p:nvSpPr>
          <p:spPr bwMode="auto">
            <a:xfrm>
              <a:off x="4319061" y="256943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33" name="形状 41"/>
            <p:cNvCxnSpPr>
              <a:stCxn id="32" idx="6"/>
              <a:endCxn id="31" idx="4"/>
            </p:cNvCxnSpPr>
            <p:nvPr/>
          </p:nvCxnSpPr>
          <p:spPr bwMode="auto">
            <a:xfrm flipV="1">
              <a:off x="4427061" y="2286758"/>
              <a:ext cx="2119563" cy="336679"/>
            </a:xfrm>
            <a:prstGeom prst="bentConnector2">
              <a:avLst/>
            </a:prstGeom>
            <a:solidFill>
              <a:schemeClr val="accent1"/>
            </a:solidFill>
            <a:ln w="19050" cap="flat" cmpd="sng" algn="ctr">
              <a:solidFill>
                <a:srgbClr val="FF0000"/>
              </a:solidFill>
              <a:prstDash val="solid"/>
              <a:round/>
              <a:headEnd type="none" w="med" len="med"/>
              <a:tailEnd type="triangle" w="med" len="med"/>
            </a:ln>
            <a:effectLst/>
          </p:spPr>
        </p:cxnSp>
        <p:sp>
          <p:nvSpPr>
            <p:cNvPr id="34" name="Rectangle 4"/>
            <p:cNvSpPr>
              <a:spLocks noChangeArrowheads="1"/>
            </p:cNvSpPr>
            <p:nvPr/>
          </p:nvSpPr>
          <p:spPr bwMode="auto">
            <a:xfrm>
              <a:off x="6259042" y="1305735"/>
              <a:ext cx="564257" cy="253916"/>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dirty="0">
                  <a:solidFill>
                    <a:schemeClr val="tx2">
                      <a:lumMod val="75000"/>
                    </a:schemeClr>
                  </a:solidFill>
                  <a:latin typeface="微软雅黑" panose="020B0503020204020204" charset="-122"/>
                  <a:ea typeface="微软雅黑" panose="020B0503020204020204" charset="-122"/>
                </a:rPr>
                <a:t>异常快速处理</a:t>
              </a:r>
              <a:endParaRPr kumimoji="1" lang="en-US" altLang="zh-CN" sz="900" b="1" dirty="0">
                <a:solidFill>
                  <a:schemeClr val="tx2">
                    <a:lumMod val="75000"/>
                  </a:schemeClr>
                </a:solidFill>
                <a:latin typeface="微软雅黑" panose="020B0503020204020204" charset="-122"/>
                <a:ea typeface="微软雅黑" panose="020B0503020204020204" charset="-122"/>
              </a:endParaRPr>
            </a:p>
          </p:txBody>
        </p:sp>
        <p:grpSp>
          <p:nvGrpSpPr>
            <p:cNvPr id="4" name="组合 87"/>
            <p:cNvGrpSpPr/>
            <p:nvPr/>
          </p:nvGrpSpPr>
          <p:grpSpPr>
            <a:xfrm>
              <a:off x="2059957" y="1433675"/>
              <a:ext cx="1075450" cy="484025"/>
              <a:chOff x="6835157" y="2386175"/>
              <a:chExt cx="1075450" cy="484025"/>
            </a:xfrm>
          </p:grpSpPr>
          <p:pic>
            <p:nvPicPr>
              <p:cNvPr id="39" name="Picture 15" descr="http://ec4.images-amazon.com/images/I/31bdEbFL54L._SL500_AA300_.jpg"/>
              <p:cNvPicPr>
                <a:picLocks noChangeAspect="1" noChangeArrowheads="1"/>
              </p:cNvPicPr>
              <p:nvPr/>
            </p:nvPicPr>
            <p:blipFill>
              <a:blip r:embed="rId11" cstate="print"/>
              <a:srcRect l="16397" t="19556" r="28746" b="9841"/>
              <a:stretch>
                <a:fillRect/>
              </a:stretch>
            </p:blipFill>
            <p:spPr bwMode="auto">
              <a:xfrm>
                <a:off x="6835157" y="2386175"/>
                <a:ext cx="324000" cy="417000"/>
              </a:xfrm>
              <a:prstGeom prst="rect">
                <a:avLst/>
              </a:prstGeom>
              <a:noFill/>
            </p:spPr>
          </p:pic>
          <p:pic>
            <p:nvPicPr>
              <p:cNvPr id="40" name="Picture 3"/>
              <p:cNvPicPr>
                <a:picLocks noChangeAspect="1" noChangeArrowheads="1"/>
              </p:cNvPicPr>
              <p:nvPr/>
            </p:nvPicPr>
            <p:blipFill>
              <a:blip r:embed="rId12" cstate="print"/>
              <a:srcRect/>
              <a:stretch>
                <a:fillRect/>
              </a:stretch>
            </p:blipFill>
            <p:spPr bwMode="auto">
              <a:xfrm>
                <a:off x="7023101" y="2413000"/>
                <a:ext cx="887506" cy="457200"/>
              </a:xfrm>
              <a:prstGeom prst="ellipse">
                <a:avLst/>
              </a:prstGeom>
              <a:ln w="3175" cap="rnd">
                <a:solidFill>
                  <a:schemeClr val="bg1">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sp>
          <p:nvSpPr>
            <p:cNvPr id="36" name="椭圆 35"/>
            <p:cNvSpPr/>
            <p:nvPr/>
          </p:nvSpPr>
          <p:spPr bwMode="auto">
            <a:xfrm>
              <a:off x="2918251" y="2926307"/>
              <a:ext cx="108000" cy="108000"/>
            </a:xfrm>
            <a:prstGeom prst="ellipse">
              <a:avLst/>
            </a:prstGeom>
            <a:solidFill>
              <a:srgbClr val="FF0000"/>
            </a:solidFill>
            <a:ln w="19050" cmpd="sng">
              <a:solidFill>
                <a:srgbClr val="FFFF00"/>
              </a:solidFill>
              <a:miter lim="800000"/>
            </a:ln>
          </p:spPr>
          <p:txBody>
            <a:bodyPr rot="0" spcFirstLastPara="0" vertOverflow="overflow" horzOverflow="overflow" vert="horz" wrap="square" lIns="36000" tIns="36000" rIns="36000" bIns="36000" numCol="1" spcCol="0" rtlCol="0" fromWordArt="0" anchor="ctr" anchorCtr="0" forceAA="0" compatLnSpc="1">
              <a:noAutofit/>
            </a:bodyPr>
            <a:lstStyle/>
            <a:p>
              <a:pPr algn="ctr">
                <a:lnSpc>
                  <a:spcPct val="110000"/>
                </a:lnSpc>
              </a:pPr>
              <a:endParaRPr kumimoji="1" lang="zh-CN" altLang="en-US" dirty="0">
                <a:latin typeface="微软雅黑" panose="020B0503020204020204" charset="-122"/>
                <a:ea typeface="微软雅黑" panose="020B0503020204020204" charset="-122"/>
              </a:endParaRPr>
            </a:p>
          </p:txBody>
        </p:sp>
        <p:cxnSp>
          <p:nvCxnSpPr>
            <p:cNvPr id="37" name="形状 41"/>
            <p:cNvCxnSpPr>
              <a:stCxn id="36" idx="0"/>
              <a:endCxn id="40" idx="6"/>
            </p:cNvCxnSpPr>
            <p:nvPr/>
          </p:nvCxnSpPr>
          <p:spPr bwMode="auto">
            <a:xfrm rot="5400000" flipH="1" flipV="1">
              <a:off x="2435226" y="2226126"/>
              <a:ext cx="1237207" cy="163156"/>
            </a:xfrm>
            <a:prstGeom prst="bentConnector4">
              <a:avLst>
                <a:gd name="adj1" fmla="val 40761"/>
                <a:gd name="adj2" fmla="val 240111"/>
              </a:avLst>
            </a:prstGeom>
            <a:solidFill>
              <a:schemeClr val="accent1"/>
            </a:solidFill>
            <a:ln w="19050" cap="flat" cmpd="sng" algn="ctr">
              <a:solidFill>
                <a:srgbClr val="FF0000"/>
              </a:solidFill>
              <a:prstDash val="solid"/>
              <a:round/>
              <a:headEnd type="none" w="med" len="med"/>
              <a:tailEnd type="triangle" w="med" len="med"/>
            </a:ln>
            <a:effectLst/>
          </p:spPr>
        </p:cxnSp>
        <p:sp>
          <p:nvSpPr>
            <p:cNvPr id="38" name="Rectangle 4"/>
            <p:cNvSpPr>
              <a:spLocks noChangeArrowheads="1"/>
            </p:cNvSpPr>
            <p:nvPr/>
          </p:nvSpPr>
          <p:spPr bwMode="auto">
            <a:xfrm>
              <a:off x="2370937" y="1176195"/>
              <a:ext cx="564257" cy="253916"/>
            </a:xfrm>
            <a:prstGeom prst="rect">
              <a:avLst/>
            </a:prstGeom>
            <a:noFill/>
            <a:ln w="9525">
              <a:noFill/>
              <a:miter lim="800000"/>
            </a:ln>
          </p:spPr>
          <p:txBody>
            <a:bodyPr wrap="none" lIns="0" tIns="0" rIns="0" bIns="0">
              <a:noAutofit/>
            </a:bodyPr>
            <a:lstStyle/>
            <a:p>
              <a:pPr algn="ctr">
                <a:lnSpc>
                  <a:spcPct val="150000"/>
                </a:lnSpc>
                <a:buClr>
                  <a:srgbClr val="CC0000"/>
                </a:buClr>
              </a:pPr>
              <a:r>
                <a:rPr kumimoji="1" lang="zh-CN" altLang="en-US" sz="900" dirty="0">
                  <a:solidFill>
                    <a:schemeClr val="tx2">
                      <a:lumMod val="75000"/>
                    </a:schemeClr>
                  </a:solidFill>
                  <a:latin typeface="微软雅黑" panose="020B0503020204020204" charset="-122"/>
                  <a:ea typeface="微软雅黑" panose="020B0503020204020204" charset="-122"/>
                </a:rPr>
                <a:t>产品精确追溯</a:t>
              </a:r>
              <a:endParaRPr kumimoji="1" lang="en-US" altLang="zh-CN" sz="900" b="1" dirty="0">
                <a:solidFill>
                  <a:schemeClr val="tx2">
                    <a:lumMod val="75000"/>
                  </a:schemeClr>
                </a:solidFill>
                <a:latin typeface="微软雅黑" panose="020B0503020204020204" charset="-122"/>
                <a:ea typeface="微软雅黑" panose="020B0503020204020204" charset="-122"/>
              </a:endParaRPr>
            </a:p>
          </p:txBody>
        </p:sp>
      </p:grpSp>
      <p:sp>
        <p:nvSpPr>
          <p:cNvPr id="41" name="矩形 40"/>
          <p:cNvSpPr/>
          <p:nvPr/>
        </p:nvSpPr>
        <p:spPr>
          <a:xfrm>
            <a:off x="473147" y="5463855"/>
            <a:ext cx="3621775" cy="1077218"/>
          </a:xfrm>
          <a:prstGeom prst="rect">
            <a:avLst/>
          </a:prstGeom>
        </p:spPr>
        <p:txBody>
          <a:bodyPr wrap="square">
            <a:spAutoFit/>
          </a:bodyPr>
          <a:lstStyle/>
          <a:p>
            <a:r>
              <a:rPr lang="zh-CN" altLang="en-US" sz="1600" dirty="0">
                <a:solidFill>
                  <a:schemeClr val="tx1">
                    <a:lumMod val="65000"/>
                    <a:lumOff val="35000"/>
                  </a:schemeClr>
                </a:solidFill>
                <a:latin typeface="微软雅黑" panose="020B0503020204020204" charset="-122"/>
                <a:ea typeface="微软雅黑" panose="020B0503020204020204" charset="-122"/>
              </a:rPr>
              <a:t>搭建基于联网技术的智能制造</a:t>
            </a:r>
            <a:r>
              <a:rPr lang="en-US" altLang="zh-CN" sz="1600" dirty="0">
                <a:solidFill>
                  <a:schemeClr val="tx1">
                    <a:lumMod val="65000"/>
                    <a:lumOff val="35000"/>
                  </a:schemeClr>
                </a:solidFill>
                <a:latin typeface="微软雅黑" panose="020B0503020204020204" charset="-122"/>
                <a:ea typeface="微软雅黑" panose="020B0503020204020204" charset="-122"/>
              </a:rPr>
              <a:t>MES</a:t>
            </a:r>
            <a:r>
              <a:rPr lang="zh-CN" altLang="en-US" sz="1600" dirty="0">
                <a:solidFill>
                  <a:schemeClr val="tx1">
                    <a:lumMod val="65000"/>
                    <a:lumOff val="35000"/>
                  </a:schemeClr>
                </a:solidFill>
                <a:latin typeface="微软雅黑" panose="020B0503020204020204" charset="-122"/>
                <a:ea typeface="微软雅黑" panose="020B0503020204020204" charset="-122"/>
              </a:rPr>
              <a:t>平台：与制造生产设备和生产线控制、调度、排产等相关的</a:t>
            </a:r>
            <a:r>
              <a:rPr lang="en-US" altLang="zh-CN" sz="1600" dirty="0">
                <a:solidFill>
                  <a:schemeClr val="tx1">
                    <a:lumMod val="65000"/>
                    <a:lumOff val="35000"/>
                  </a:schemeClr>
                </a:solidFill>
                <a:latin typeface="微软雅黑" panose="020B0503020204020204" charset="-122"/>
                <a:ea typeface="微软雅黑" panose="020B0503020204020204" charset="-122"/>
              </a:rPr>
              <a:t>PCS</a:t>
            </a:r>
            <a:r>
              <a:rPr lang="zh-CN" altLang="en-US" sz="1600" dirty="0">
                <a:solidFill>
                  <a:schemeClr val="tx1">
                    <a:lumMod val="65000"/>
                    <a:lumOff val="35000"/>
                  </a:schemeClr>
                </a:solidFill>
                <a:latin typeface="微软雅黑" panose="020B0503020204020204" charset="-122"/>
                <a:ea typeface="微软雅黑" panose="020B0503020204020204" charset="-122"/>
              </a:rPr>
              <a:t>、</a:t>
            </a:r>
            <a:r>
              <a:rPr lang="en-US" altLang="zh-CN" sz="1600" dirty="0">
                <a:solidFill>
                  <a:schemeClr val="tx1">
                    <a:lumMod val="65000"/>
                    <a:lumOff val="35000"/>
                  </a:schemeClr>
                </a:solidFill>
                <a:latin typeface="微软雅黑" panose="020B0503020204020204" charset="-122"/>
                <a:ea typeface="微软雅黑" panose="020B0503020204020204" charset="-122"/>
              </a:rPr>
              <a:t>MES</a:t>
            </a:r>
            <a:r>
              <a:rPr lang="zh-CN" altLang="en-US" sz="1600" dirty="0">
                <a:solidFill>
                  <a:schemeClr val="tx1">
                    <a:lumMod val="65000"/>
                    <a:lumOff val="35000"/>
                  </a:schemeClr>
                </a:solidFill>
                <a:latin typeface="微软雅黑" panose="020B0503020204020204" charset="-122"/>
                <a:ea typeface="微软雅黑" panose="020B0503020204020204" charset="-122"/>
              </a:rPr>
              <a:t>实现信息的紧密相连。</a:t>
            </a:r>
          </a:p>
        </p:txBody>
      </p:sp>
      <p:sp>
        <p:nvSpPr>
          <p:cNvPr id="42"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D. </a:t>
            </a:r>
            <a:r>
              <a:rPr lang="zh-CN" altLang="en-US" dirty="0"/>
              <a:t>生产执行与物流先进实践：先进企业物流模式注重推拉结合的业务模式，将物料计划与预测推送给供应商备货，通过现场实际的拉动实现物料的配送，达到准时送货的目的</a:t>
            </a:r>
          </a:p>
        </p:txBody>
      </p:sp>
      <p:sp>
        <p:nvSpPr>
          <p:cNvPr id="3" name="object 171"/>
          <p:cNvSpPr/>
          <p:nvPr/>
        </p:nvSpPr>
        <p:spPr bwMode="auto">
          <a:xfrm>
            <a:off x="609600" y="3113079"/>
            <a:ext cx="2219325" cy="1533525"/>
          </a:xfrm>
          <a:custGeom>
            <a:avLst/>
            <a:gdLst>
              <a:gd name="T0" fmla="*/ 254507 w 2218950"/>
              <a:gd name="T1" fmla="*/ 0 h 1533150"/>
              <a:gd name="T2" fmla="*/ 213311 w 2218950"/>
              <a:gd name="T3" fmla="*/ 3340 h 1533150"/>
              <a:gd name="T4" fmla="*/ 174199 w 2218950"/>
              <a:gd name="T5" fmla="*/ 13009 h 1533150"/>
              <a:gd name="T6" fmla="*/ 137702 w 2218950"/>
              <a:gd name="T7" fmla="*/ 28475 h 1533150"/>
              <a:gd name="T8" fmla="*/ 104351 w 2218950"/>
              <a:gd name="T9" fmla="*/ 49209 h 1533150"/>
              <a:gd name="T10" fmla="*/ 74675 w 2218950"/>
              <a:gd name="T11" fmla="*/ 74679 h 1533150"/>
              <a:gd name="T12" fmla="*/ 49206 w 2218950"/>
              <a:gd name="T13" fmla="*/ 104355 h 1533150"/>
              <a:gd name="T14" fmla="*/ 28474 w 2218950"/>
              <a:gd name="T15" fmla="*/ 137707 h 1533150"/>
              <a:gd name="T16" fmla="*/ 13008 w 2218950"/>
              <a:gd name="T17" fmla="*/ 174204 h 1533150"/>
              <a:gd name="T18" fmla="*/ 3340 w 2218950"/>
              <a:gd name="T19" fmla="*/ 213317 h 1533150"/>
              <a:gd name="T20" fmla="*/ 0 w 2218950"/>
              <a:gd name="T21" fmla="*/ 254514 h 1533150"/>
              <a:gd name="T22" fmla="*/ 0 w 2218950"/>
              <a:gd name="T23" fmla="*/ 1277118 h 1533150"/>
              <a:gd name="T24" fmla="*/ 3340 w 2218950"/>
              <a:gd name="T25" fmla="*/ 1318727 h 1533150"/>
              <a:gd name="T26" fmla="*/ 13008 w 2218950"/>
              <a:gd name="T27" fmla="*/ 1358170 h 1533150"/>
              <a:gd name="T28" fmla="*/ 28474 w 2218950"/>
              <a:gd name="T29" fmla="*/ 1394924 h 1533150"/>
              <a:gd name="T30" fmla="*/ 49206 w 2218950"/>
              <a:gd name="T31" fmla="*/ 1428469 h 1533150"/>
              <a:gd name="T32" fmla="*/ 74675 w 2218950"/>
              <a:gd name="T33" fmla="*/ 1458283 h 1533150"/>
              <a:gd name="T34" fmla="*/ 104351 w 2218950"/>
              <a:gd name="T35" fmla="*/ 1483845 h 1533150"/>
              <a:gd name="T36" fmla="*/ 137702 w 2218950"/>
              <a:gd name="T37" fmla="*/ 1504634 h 1533150"/>
              <a:gd name="T38" fmla="*/ 174199 w 2218950"/>
              <a:gd name="T39" fmla="*/ 1520129 h 1533150"/>
              <a:gd name="T40" fmla="*/ 213311 w 2218950"/>
              <a:gd name="T41" fmla="*/ 1529807 h 1533150"/>
              <a:gd name="T42" fmla="*/ 254507 w 2218950"/>
              <a:gd name="T43" fmla="*/ 1533150 h 1533150"/>
              <a:gd name="T44" fmla="*/ 1962918 w 2218950"/>
              <a:gd name="T45" fmla="*/ 1533150 h 1533150"/>
              <a:gd name="T46" fmla="*/ 2004527 w 2218950"/>
              <a:gd name="T47" fmla="*/ 1529807 h 1533150"/>
              <a:gd name="T48" fmla="*/ 2043970 w 2218950"/>
              <a:gd name="T49" fmla="*/ 1520129 h 1533150"/>
              <a:gd name="T50" fmla="*/ 2080724 w 2218950"/>
              <a:gd name="T51" fmla="*/ 1504634 h 1533150"/>
              <a:gd name="T52" fmla="*/ 2114269 w 2218950"/>
              <a:gd name="T53" fmla="*/ 1483845 h 1533150"/>
              <a:gd name="T54" fmla="*/ 2144083 w 2218950"/>
              <a:gd name="T55" fmla="*/ 1458283 h 1533150"/>
              <a:gd name="T56" fmla="*/ 2169645 w 2218950"/>
              <a:gd name="T57" fmla="*/ 1428469 h 1533150"/>
              <a:gd name="T58" fmla="*/ 2190434 w 2218950"/>
              <a:gd name="T59" fmla="*/ 1394924 h 1533150"/>
              <a:gd name="T60" fmla="*/ 2205928 w 2218950"/>
              <a:gd name="T61" fmla="*/ 1358170 h 1533150"/>
              <a:gd name="T62" fmla="*/ 2215607 w 2218950"/>
              <a:gd name="T63" fmla="*/ 1318727 h 1533150"/>
              <a:gd name="T64" fmla="*/ 2218950 w 2218950"/>
              <a:gd name="T65" fmla="*/ 1277118 h 1533150"/>
              <a:gd name="T66" fmla="*/ 2218950 w 2218950"/>
              <a:gd name="T67" fmla="*/ 254514 h 1533150"/>
              <a:gd name="T68" fmla="*/ 2215607 w 2218950"/>
              <a:gd name="T69" fmla="*/ 213317 h 1533150"/>
              <a:gd name="T70" fmla="*/ 2205928 w 2218950"/>
              <a:gd name="T71" fmla="*/ 174204 h 1533150"/>
              <a:gd name="T72" fmla="*/ 2190434 w 2218950"/>
              <a:gd name="T73" fmla="*/ 137707 h 1533150"/>
              <a:gd name="T74" fmla="*/ 2169645 w 2218950"/>
              <a:gd name="T75" fmla="*/ 104355 h 1533150"/>
              <a:gd name="T76" fmla="*/ 2144083 w 2218950"/>
              <a:gd name="T77" fmla="*/ 74679 h 1533150"/>
              <a:gd name="T78" fmla="*/ 2114269 w 2218950"/>
              <a:gd name="T79" fmla="*/ 49209 h 1533150"/>
              <a:gd name="T80" fmla="*/ 2080724 w 2218950"/>
              <a:gd name="T81" fmla="*/ 28475 h 1533150"/>
              <a:gd name="T82" fmla="*/ 2043970 w 2218950"/>
              <a:gd name="T83" fmla="*/ 13009 h 1533150"/>
              <a:gd name="T84" fmla="*/ 2004527 w 2218950"/>
              <a:gd name="T85" fmla="*/ 3340 h 1533150"/>
              <a:gd name="T86" fmla="*/ 1962918 w 2218950"/>
              <a:gd name="T87" fmla="*/ 0 h 1533150"/>
              <a:gd name="T88" fmla="*/ 254507 w 2218950"/>
              <a:gd name="T89" fmla="*/ 0 h 15331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218950"/>
              <a:gd name="T136" fmla="*/ 0 h 1533150"/>
              <a:gd name="T137" fmla="*/ 2218950 w 2218950"/>
              <a:gd name="T138" fmla="*/ 1533150 h 153315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218950" h="1533150">
                <a:moveTo>
                  <a:pt x="254507" y="0"/>
                </a:moveTo>
                <a:lnTo>
                  <a:pt x="213311" y="3340"/>
                </a:lnTo>
                <a:lnTo>
                  <a:pt x="174199" y="13009"/>
                </a:lnTo>
                <a:lnTo>
                  <a:pt x="137702" y="28475"/>
                </a:lnTo>
                <a:lnTo>
                  <a:pt x="104351" y="49209"/>
                </a:lnTo>
                <a:lnTo>
                  <a:pt x="74675" y="74679"/>
                </a:lnTo>
                <a:lnTo>
                  <a:pt x="49206" y="104355"/>
                </a:lnTo>
                <a:lnTo>
                  <a:pt x="28474" y="137707"/>
                </a:lnTo>
                <a:lnTo>
                  <a:pt x="13008" y="174204"/>
                </a:lnTo>
                <a:lnTo>
                  <a:pt x="3340" y="213317"/>
                </a:lnTo>
                <a:lnTo>
                  <a:pt x="0" y="254514"/>
                </a:lnTo>
                <a:lnTo>
                  <a:pt x="0" y="1277118"/>
                </a:lnTo>
                <a:lnTo>
                  <a:pt x="3340" y="1318727"/>
                </a:lnTo>
                <a:lnTo>
                  <a:pt x="13008" y="1358170"/>
                </a:lnTo>
                <a:lnTo>
                  <a:pt x="28474" y="1394924"/>
                </a:lnTo>
                <a:lnTo>
                  <a:pt x="49206" y="1428469"/>
                </a:lnTo>
                <a:lnTo>
                  <a:pt x="74675" y="1458283"/>
                </a:lnTo>
                <a:lnTo>
                  <a:pt x="104351" y="1483845"/>
                </a:lnTo>
                <a:lnTo>
                  <a:pt x="137702" y="1504634"/>
                </a:lnTo>
                <a:lnTo>
                  <a:pt x="174199" y="1520129"/>
                </a:lnTo>
                <a:lnTo>
                  <a:pt x="213311" y="1529807"/>
                </a:lnTo>
                <a:lnTo>
                  <a:pt x="254507" y="1533150"/>
                </a:lnTo>
                <a:lnTo>
                  <a:pt x="1962918" y="1533150"/>
                </a:lnTo>
                <a:lnTo>
                  <a:pt x="2004527" y="1529807"/>
                </a:lnTo>
                <a:lnTo>
                  <a:pt x="2043970" y="1520129"/>
                </a:lnTo>
                <a:lnTo>
                  <a:pt x="2080724" y="1504634"/>
                </a:lnTo>
                <a:lnTo>
                  <a:pt x="2114269" y="1483845"/>
                </a:lnTo>
                <a:lnTo>
                  <a:pt x="2144083" y="1458283"/>
                </a:lnTo>
                <a:lnTo>
                  <a:pt x="2169645" y="1428469"/>
                </a:lnTo>
                <a:lnTo>
                  <a:pt x="2190434" y="1394924"/>
                </a:lnTo>
                <a:lnTo>
                  <a:pt x="2205928" y="1358170"/>
                </a:lnTo>
                <a:lnTo>
                  <a:pt x="2215607" y="1318727"/>
                </a:lnTo>
                <a:lnTo>
                  <a:pt x="2218950" y="1277118"/>
                </a:lnTo>
                <a:lnTo>
                  <a:pt x="2218950" y="254514"/>
                </a:lnTo>
                <a:lnTo>
                  <a:pt x="2215607" y="213317"/>
                </a:lnTo>
                <a:lnTo>
                  <a:pt x="2205928" y="174204"/>
                </a:lnTo>
                <a:lnTo>
                  <a:pt x="2190434" y="137707"/>
                </a:lnTo>
                <a:lnTo>
                  <a:pt x="2169645" y="104355"/>
                </a:lnTo>
                <a:lnTo>
                  <a:pt x="2144083" y="74679"/>
                </a:lnTo>
                <a:lnTo>
                  <a:pt x="2114269" y="49209"/>
                </a:lnTo>
                <a:lnTo>
                  <a:pt x="2080724" y="28475"/>
                </a:lnTo>
                <a:lnTo>
                  <a:pt x="2043970" y="13009"/>
                </a:lnTo>
                <a:lnTo>
                  <a:pt x="2004527" y="3340"/>
                </a:lnTo>
                <a:lnTo>
                  <a:pt x="1962918" y="0"/>
                </a:lnTo>
                <a:lnTo>
                  <a:pt x="254507" y="0"/>
                </a:lnTo>
                <a:close/>
              </a:path>
            </a:pathLst>
          </a:custGeom>
          <a:solidFill>
            <a:schemeClr val="accent1">
              <a:lumMod val="40000"/>
              <a:lumOff val="60000"/>
            </a:schemeClr>
          </a:solidFill>
          <a:ln w="9524">
            <a:solidFill>
              <a:srgbClr val="65ADC7"/>
            </a:solidFill>
            <a:round/>
          </a:ln>
        </p:spPr>
        <p:txBody>
          <a:bodyPr lIns="0" tIns="0" rIns="0" bIns="0"/>
          <a:lstStyle/>
          <a:p>
            <a:pPr>
              <a:defRPr/>
            </a:pPr>
            <a:endParaRPr lang="zh-CN" altLang="en-US" sz="1400">
              <a:latin typeface="微软雅黑" panose="020B0503020204020204" charset="-122"/>
              <a:ea typeface="微软雅黑" panose="020B0503020204020204" charset="-122"/>
            </a:endParaRPr>
          </a:p>
        </p:txBody>
      </p:sp>
      <p:sp>
        <p:nvSpPr>
          <p:cNvPr id="4" name="object 262"/>
          <p:cNvSpPr txBox="1"/>
          <p:nvPr/>
        </p:nvSpPr>
        <p:spPr>
          <a:xfrm>
            <a:off x="1163638" y="3205154"/>
            <a:ext cx="1150937" cy="203200"/>
          </a:xfrm>
          <a:prstGeom prst="rect">
            <a:avLst/>
          </a:prstGeom>
        </p:spPr>
        <p:txBody>
          <a:bodyPr lIns="0" tIns="0" rIns="0" bIns="0"/>
          <a:lstStyle/>
          <a:p>
            <a:pPr marL="12700" algn="ctr" fontAlgn="auto">
              <a:lnSpc>
                <a:spcPts val="1535"/>
              </a:lnSpc>
              <a:spcBef>
                <a:spcPts val="75"/>
              </a:spcBef>
              <a:spcAft>
                <a:spcPts val="0"/>
              </a:spcAft>
              <a:defRPr/>
            </a:pPr>
            <a:r>
              <a:rPr lang="zh-CN" altLang="en-US" sz="1100" b="1" dirty="0">
                <a:latin typeface="微软雅黑" panose="020B0503020204020204" charset="-122"/>
                <a:ea typeface="微软雅黑" panose="020B0503020204020204" charset="-122"/>
                <a:cs typeface="Arial" panose="020B0604020202020204"/>
              </a:rPr>
              <a:t>供应商</a:t>
            </a:r>
            <a:endParaRPr sz="1100" dirty="0">
              <a:latin typeface="微软雅黑" panose="020B0503020204020204" charset="-122"/>
              <a:ea typeface="微软雅黑" panose="020B0503020204020204" charset="-122"/>
              <a:cs typeface="Arial" panose="020B0604020202020204"/>
            </a:endParaRPr>
          </a:p>
        </p:txBody>
      </p:sp>
      <p:sp>
        <p:nvSpPr>
          <p:cNvPr id="5" name="Isosceles Triangle 13"/>
          <p:cNvSpPr/>
          <p:nvPr/>
        </p:nvSpPr>
        <p:spPr bwMode="auto">
          <a:xfrm>
            <a:off x="1914525" y="4119554"/>
            <a:ext cx="533400" cy="457200"/>
          </a:xfrm>
          <a:prstGeom prst="triangle">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wrap="none" anchor="ctr"/>
          <a:lstStyle/>
          <a:p>
            <a:pPr>
              <a:defRPr/>
            </a:pPr>
            <a:endParaRPr lang="zh-CN" altLang="en-US" sz="1400">
              <a:latin typeface="微软雅黑" panose="020B0503020204020204" charset="-122"/>
              <a:ea typeface="微软雅黑" panose="020B0503020204020204" charset="-122"/>
            </a:endParaRPr>
          </a:p>
        </p:txBody>
      </p:sp>
      <p:sp>
        <p:nvSpPr>
          <p:cNvPr id="6" name="object 151"/>
          <p:cNvSpPr/>
          <p:nvPr/>
        </p:nvSpPr>
        <p:spPr bwMode="auto">
          <a:xfrm>
            <a:off x="3438525" y="3113079"/>
            <a:ext cx="2447925" cy="1533525"/>
          </a:xfrm>
          <a:custGeom>
            <a:avLst/>
            <a:gdLst>
              <a:gd name="T0" fmla="*/ 2453284 w 2447543"/>
              <a:gd name="T1" fmla="*/ 1281813 h 1533150"/>
              <a:gd name="T2" fmla="*/ 2453284 w 2447543"/>
              <a:gd name="T3" fmla="*/ 255444 h 1533150"/>
              <a:gd name="T4" fmla="*/ 2452434 w 2447543"/>
              <a:gd name="T5" fmla="*/ 234543 h 1533150"/>
              <a:gd name="T6" fmla="*/ 2445857 w 2447543"/>
              <a:gd name="T7" fmla="*/ 194172 h 1533150"/>
              <a:gd name="T8" fmla="*/ 2433193 w 2447543"/>
              <a:gd name="T9" fmla="*/ 156166 h 1533150"/>
              <a:gd name="T10" fmla="*/ 2414982 w 2447543"/>
              <a:gd name="T11" fmla="*/ 121052 h 1533150"/>
              <a:gd name="T12" fmla="*/ 2391766 w 2447543"/>
              <a:gd name="T13" fmla="*/ 89354 h 1533150"/>
              <a:gd name="T14" fmla="*/ 2364058 w 2447543"/>
              <a:gd name="T15" fmla="*/ 61610 h 1533150"/>
              <a:gd name="T16" fmla="*/ 2332403 w 2447543"/>
              <a:gd name="T17" fmla="*/ 38352 h 1533150"/>
              <a:gd name="T18" fmla="*/ 2297323 w 2447543"/>
              <a:gd name="T19" fmla="*/ 20126 h 1533150"/>
              <a:gd name="T20" fmla="*/ 2259366 w 2447543"/>
              <a:gd name="T21" fmla="*/ 7447 h 1533150"/>
              <a:gd name="T22" fmla="*/ 2219051 w 2447543"/>
              <a:gd name="T23" fmla="*/ 846 h 1533150"/>
              <a:gd name="T24" fmla="*/ 2198184 w 2447543"/>
              <a:gd name="T25" fmla="*/ 0 h 1533150"/>
              <a:gd name="T26" fmla="*/ 256631 w 2447543"/>
              <a:gd name="T27" fmla="*/ 0 h 1533150"/>
              <a:gd name="T28" fmla="*/ 214932 w 2447543"/>
              <a:gd name="T29" fmla="*/ 3355 h 1533150"/>
              <a:gd name="T30" fmla="*/ 175384 w 2447543"/>
              <a:gd name="T31" fmla="*/ 13054 h 1533150"/>
              <a:gd name="T32" fmla="*/ 138555 w 2447543"/>
              <a:gd name="T33" fmla="*/ 28580 h 1533150"/>
              <a:gd name="T34" fmla="*/ 104920 w 2447543"/>
              <a:gd name="T35" fmla="*/ 49389 h 1533150"/>
              <a:gd name="T36" fmla="*/ 75046 w 2447543"/>
              <a:gd name="T37" fmla="*/ 74949 h 1533150"/>
              <a:gd name="T38" fmla="*/ 49424 w 2447543"/>
              <a:gd name="T39" fmla="*/ 104745 h 1533150"/>
              <a:gd name="T40" fmla="*/ 28575 w 2447543"/>
              <a:gd name="T41" fmla="*/ 138217 h 1533150"/>
              <a:gd name="T42" fmla="*/ 13051 w 2447543"/>
              <a:gd name="T43" fmla="*/ 174849 h 1533150"/>
              <a:gd name="T44" fmla="*/ 3357 w 2447543"/>
              <a:gd name="T45" fmla="*/ 214097 h 1533150"/>
              <a:gd name="T46" fmla="*/ 0 w 2447543"/>
              <a:gd name="T47" fmla="*/ 255444 h 1533150"/>
              <a:gd name="T48" fmla="*/ 0 w 2447543"/>
              <a:gd name="T49" fmla="*/ 1281813 h 1533150"/>
              <a:gd name="T50" fmla="*/ 3357 w 2447543"/>
              <a:gd name="T51" fmla="*/ 1323575 h 1533150"/>
              <a:gd name="T52" fmla="*/ 13051 w 2447543"/>
              <a:gd name="T53" fmla="*/ 1363162 h 1533150"/>
              <a:gd name="T54" fmla="*/ 28575 w 2447543"/>
              <a:gd name="T55" fmla="*/ 1400050 h 1533150"/>
              <a:gd name="T56" fmla="*/ 49424 w 2447543"/>
              <a:gd name="T57" fmla="*/ 1433720 h 1533150"/>
              <a:gd name="T58" fmla="*/ 75046 w 2447543"/>
              <a:gd name="T59" fmla="*/ 1463643 h 1533150"/>
              <a:gd name="T60" fmla="*/ 104920 w 2447543"/>
              <a:gd name="T61" fmla="*/ 1489298 h 1533150"/>
              <a:gd name="T62" fmla="*/ 138555 w 2447543"/>
              <a:gd name="T63" fmla="*/ 1510163 h 1533150"/>
              <a:gd name="T64" fmla="*/ 175384 w 2447543"/>
              <a:gd name="T65" fmla="*/ 1525716 h 1533150"/>
              <a:gd name="T66" fmla="*/ 214932 w 2447543"/>
              <a:gd name="T67" fmla="*/ 1535428 h 1533150"/>
              <a:gd name="T68" fmla="*/ 256631 w 2447543"/>
              <a:gd name="T69" fmla="*/ 1538784 h 1533150"/>
              <a:gd name="T70" fmla="*/ 2198184 w 2447543"/>
              <a:gd name="T71" fmla="*/ 1538784 h 1533150"/>
              <a:gd name="T72" fmla="*/ 2239482 w 2447543"/>
              <a:gd name="T73" fmla="*/ 1535428 h 1533150"/>
              <a:gd name="T74" fmla="*/ 2278685 w 2447543"/>
              <a:gd name="T75" fmla="*/ 1525716 h 1533150"/>
              <a:gd name="T76" fmla="*/ 2315270 w 2447543"/>
              <a:gd name="T77" fmla="*/ 1510163 h 1533150"/>
              <a:gd name="T78" fmla="*/ 2348684 w 2447543"/>
              <a:gd name="T79" fmla="*/ 1489298 h 1533150"/>
              <a:gd name="T80" fmla="*/ 2378440 w 2447543"/>
              <a:gd name="T81" fmla="*/ 1463643 h 1533150"/>
              <a:gd name="T82" fmla="*/ 2403968 w 2447543"/>
              <a:gd name="T83" fmla="*/ 1433720 h 1533150"/>
              <a:gd name="T84" fmla="*/ 2424739 w 2447543"/>
              <a:gd name="T85" fmla="*/ 1400050 h 1533150"/>
              <a:gd name="T86" fmla="*/ 2440246 w 2447543"/>
              <a:gd name="T87" fmla="*/ 1363162 h 1533150"/>
              <a:gd name="T88" fmla="*/ 2449933 w 2447543"/>
              <a:gd name="T89" fmla="*/ 1323575 h 1533150"/>
              <a:gd name="T90" fmla="*/ 2453284 w 2447543"/>
              <a:gd name="T91" fmla="*/ 1281813 h 15331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47543"/>
              <a:gd name="T139" fmla="*/ 0 h 1533150"/>
              <a:gd name="T140" fmla="*/ 2447543 w 2447543"/>
              <a:gd name="T141" fmla="*/ 1533150 h 15331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47543" h="1533150">
                <a:moveTo>
                  <a:pt x="2447543" y="1277118"/>
                </a:moveTo>
                <a:lnTo>
                  <a:pt x="2447543" y="254514"/>
                </a:lnTo>
                <a:lnTo>
                  <a:pt x="2446697" y="233688"/>
                </a:lnTo>
                <a:lnTo>
                  <a:pt x="2440127" y="193467"/>
                </a:lnTo>
                <a:lnTo>
                  <a:pt x="2427493" y="155596"/>
                </a:lnTo>
                <a:lnTo>
                  <a:pt x="2409328" y="120604"/>
                </a:lnTo>
                <a:lnTo>
                  <a:pt x="2386161" y="89024"/>
                </a:lnTo>
                <a:lnTo>
                  <a:pt x="2358522" y="61385"/>
                </a:lnTo>
                <a:lnTo>
                  <a:pt x="2326943" y="38217"/>
                </a:lnTo>
                <a:lnTo>
                  <a:pt x="2291953" y="20051"/>
                </a:lnTo>
                <a:lnTo>
                  <a:pt x="2254082" y="7417"/>
                </a:lnTo>
                <a:lnTo>
                  <a:pt x="2213861" y="846"/>
                </a:lnTo>
                <a:lnTo>
                  <a:pt x="2193035" y="0"/>
                </a:lnTo>
                <a:lnTo>
                  <a:pt x="256031" y="0"/>
                </a:lnTo>
                <a:lnTo>
                  <a:pt x="214422" y="3340"/>
                </a:lnTo>
                <a:lnTo>
                  <a:pt x="174979" y="13009"/>
                </a:lnTo>
                <a:lnTo>
                  <a:pt x="138225" y="28475"/>
                </a:lnTo>
                <a:lnTo>
                  <a:pt x="104680" y="49209"/>
                </a:lnTo>
                <a:lnTo>
                  <a:pt x="74866" y="74679"/>
                </a:lnTo>
                <a:lnTo>
                  <a:pt x="49304" y="104355"/>
                </a:lnTo>
                <a:lnTo>
                  <a:pt x="28515" y="137707"/>
                </a:lnTo>
                <a:lnTo>
                  <a:pt x="13021" y="174204"/>
                </a:lnTo>
                <a:lnTo>
                  <a:pt x="3342" y="213317"/>
                </a:lnTo>
                <a:lnTo>
                  <a:pt x="0" y="254514"/>
                </a:lnTo>
                <a:lnTo>
                  <a:pt x="0" y="1277118"/>
                </a:lnTo>
                <a:lnTo>
                  <a:pt x="3342" y="1318727"/>
                </a:lnTo>
                <a:lnTo>
                  <a:pt x="13021" y="1358170"/>
                </a:lnTo>
                <a:lnTo>
                  <a:pt x="28515" y="1394924"/>
                </a:lnTo>
                <a:lnTo>
                  <a:pt x="49304" y="1428469"/>
                </a:lnTo>
                <a:lnTo>
                  <a:pt x="74866" y="1458283"/>
                </a:lnTo>
                <a:lnTo>
                  <a:pt x="104680" y="1483845"/>
                </a:lnTo>
                <a:lnTo>
                  <a:pt x="138225" y="1504634"/>
                </a:lnTo>
                <a:lnTo>
                  <a:pt x="174979" y="1520129"/>
                </a:lnTo>
                <a:lnTo>
                  <a:pt x="214422" y="1529807"/>
                </a:lnTo>
                <a:lnTo>
                  <a:pt x="256031" y="1533150"/>
                </a:lnTo>
                <a:lnTo>
                  <a:pt x="2193035" y="1533150"/>
                </a:lnTo>
                <a:lnTo>
                  <a:pt x="2234232" y="1529807"/>
                </a:lnTo>
                <a:lnTo>
                  <a:pt x="2273344" y="1520129"/>
                </a:lnTo>
                <a:lnTo>
                  <a:pt x="2309841" y="1504634"/>
                </a:lnTo>
                <a:lnTo>
                  <a:pt x="2343192" y="1483845"/>
                </a:lnTo>
                <a:lnTo>
                  <a:pt x="2372867" y="1458283"/>
                </a:lnTo>
                <a:lnTo>
                  <a:pt x="2398337" y="1428469"/>
                </a:lnTo>
                <a:lnTo>
                  <a:pt x="2419069" y="1394924"/>
                </a:lnTo>
                <a:lnTo>
                  <a:pt x="2434535" y="1358170"/>
                </a:lnTo>
                <a:lnTo>
                  <a:pt x="2444203" y="1318727"/>
                </a:lnTo>
                <a:lnTo>
                  <a:pt x="2447543" y="1277118"/>
                </a:lnTo>
                <a:close/>
              </a:path>
            </a:pathLst>
          </a:custGeom>
          <a:solidFill>
            <a:srgbClr val="FBD6AC"/>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7" name="object 258"/>
          <p:cNvSpPr txBox="1">
            <a:spLocks noChangeArrowheads="1"/>
          </p:cNvSpPr>
          <p:nvPr/>
        </p:nvSpPr>
        <p:spPr bwMode="auto">
          <a:xfrm>
            <a:off x="3590925" y="2824154"/>
            <a:ext cx="1762125" cy="609600"/>
          </a:xfrm>
          <a:prstGeom prst="rect">
            <a:avLst/>
          </a:prstGeom>
          <a:noFill/>
          <a:ln w="9525">
            <a:noFill/>
            <a:miter lim="800000"/>
          </a:ln>
        </p:spPr>
        <p:txBody>
          <a:bodyPr lIns="0" tIns="0" rIns="0" bIns="0"/>
          <a:lstStyle/>
          <a:p>
            <a:pPr algn="ctr">
              <a:lnSpc>
                <a:spcPts val="1540"/>
              </a:lnSpc>
              <a:spcBef>
                <a:spcPts val="75"/>
              </a:spcBef>
            </a:pPr>
            <a:r>
              <a:rPr lang="zh-CN" altLang="zh-CN" sz="1100" b="1">
                <a:solidFill>
                  <a:srgbClr val="FFFFFF"/>
                </a:solidFill>
                <a:latin typeface="微软雅黑" panose="020B0503020204020204" charset="-122"/>
                <a:ea typeface="微软雅黑" panose="020B0503020204020204" charset="-122"/>
                <a:cs typeface="Arial" panose="020B0604020202020204" pitchFamily="34" charset="0"/>
              </a:rPr>
              <a:t>4</a:t>
            </a:r>
            <a:endParaRPr lang="zh-CN" altLang="zh-CN" sz="1100">
              <a:latin typeface="微软雅黑" panose="020B0503020204020204" charset="-122"/>
              <a:ea typeface="微软雅黑" panose="020B0503020204020204" charset="-122"/>
              <a:cs typeface="Arial" panose="020B0604020202020204" pitchFamily="34" charset="0"/>
            </a:endParaRPr>
          </a:p>
          <a:p>
            <a:pPr algn="ctr">
              <a:lnSpc>
                <a:spcPct val="96000"/>
              </a:lnSpc>
              <a:spcBef>
                <a:spcPts val="1165"/>
              </a:spcBef>
            </a:pPr>
            <a:r>
              <a:rPr lang="zh-CN" altLang="zh-CN" sz="1100" b="1">
                <a:latin typeface="微软雅黑" panose="020B0503020204020204" charset="-122"/>
                <a:ea typeface="微软雅黑" panose="020B0503020204020204" charset="-122"/>
                <a:cs typeface="Arial" panose="020B0604020202020204" pitchFamily="34" charset="0"/>
              </a:rPr>
              <a:t>3PL VMI </a:t>
            </a:r>
            <a:r>
              <a:rPr lang="zh-CN" altLang="en-US" sz="1100" b="1">
                <a:latin typeface="微软雅黑" panose="020B0503020204020204" charset="-122"/>
                <a:ea typeface="微软雅黑" panose="020B0503020204020204" charset="-122"/>
                <a:cs typeface="Arial" panose="020B0604020202020204" pitchFamily="34" charset="0"/>
              </a:rPr>
              <a:t>仓库</a:t>
            </a:r>
            <a:endParaRPr lang="zh-CN" altLang="zh-CN" sz="1100">
              <a:latin typeface="微软雅黑" panose="020B0503020204020204" charset="-122"/>
              <a:ea typeface="微软雅黑" panose="020B0503020204020204" charset="-122"/>
              <a:cs typeface="Arial" panose="020B0604020202020204" pitchFamily="34" charset="0"/>
            </a:endParaRPr>
          </a:p>
        </p:txBody>
      </p:sp>
      <p:sp>
        <p:nvSpPr>
          <p:cNvPr id="8" name="Rectangle 17"/>
          <p:cNvSpPr>
            <a:spLocks noChangeArrowheads="1"/>
          </p:cNvSpPr>
          <p:nvPr/>
        </p:nvSpPr>
        <p:spPr bwMode="auto">
          <a:xfrm>
            <a:off x="4581525" y="3357554"/>
            <a:ext cx="428625" cy="381000"/>
          </a:xfrm>
          <a:prstGeom prst="rect">
            <a:avLst/>
          </a:prstGeom>
          <a:solidFill>
            <a:srgbClr val="7889FB"/>
          </a:solidFill>
          <a:ln w="9525" algn="ctr">
            <a:noFill/>
            <a:miter lim="800000"/>
          </a:ln>
          <a:effectLst>
            <a:innerShdw blurRad="114300">
              <a:prstClr val="black"/>
            </a:innerShdw>
          </a:effectLst>
        </p:spPr>
        <p:txBody>
          <a:bodyPr wrap="none" lIns="18000" rIns="18000" anchor="ctr"/>
          <a:lstStyle/>
          <a:p>
            <a:pPr algn="ctr">
              <a:defRPr/>
            </a:pPr>
            <a:r>
              <a:rPr lang="zh-CN" altLang="en-US" sz="1200" dirty="0">
                <a:solidFill>
                  <a:schemeClr val="bg1"/>
                </a:solidFill>
                <a:latin typeface="微软雅黑" panose="020B0503020204020204" charset="-122"/>
                <a:ea typeface="微软雅黑" panose="020B0503020204020204" charset="-122"/>
              </a:rPr>
              <a:t>库存</a:t>
            </a:r>
            <a:endParaRPr lang="en-US" altLang="zh-CN" sz="1200" dirty="0">
              <a:solidFill>
                <a:schemeClr val="bg1"/>
              </a:solidFill>
              <a:latin typeface="微软雅黑" panose="020B0503020204020204" charset="-122"/>
              <a:ea typeface="微软雅黑" panose="020B0503020204020204" charset="-122"/>
            </a:endParaRPr>
          </a:p>
          <a:p>
            <a:pPr algn="ctr">
              <a:defRPr/>
            </a:pPr>
            <a:r>
              <a:rPr lang="zh-CN" altLang="en-US" sz="1200" dirty="0">
                <a:solidFill>
                  <a:schemeClr val="bg1"/>
                </a:solidFill>
                <a:latin typeface="微软雅黑" panose="020B0503020204020204" charset="-122"/>
                <a:ea typeface="微软雅黑" panose="020B0503020204020204" charset="-122"/>
              </a:rPr>
              <a:t>（</a:t>
            </a:r>
            <a:r>
              <a:rPr lang="en-US" altLang="zh-CN" sz="1200" dirty="0">
                <a:solidFill>
                  <a:schemeClr val="bg1"/>
                </a:solidFill>
                <a:latin typeface="微软雅黑" panose="020B0503020204020204" charset="-122"/>
                <a:ea typeface="微软雅黑" panose="020B0503020204020204" charset="-122"/>
              </a:rPr>
              <a:t>MAX</a:t>
            </a:r>
            <a:r>
              <a:rPr lang="zh-CN" altLang="en-US" sz="1200" dirty="0">
                <a:solidFill>
                  <a:schemeClr val="bg1"/>
                </a:solidFill>
                <a:latin typeface="微软雅黑" panose="020B0503020204020204" charset="-122"/>
                <a:ea typeface="微软雅黑" panose="020B0503020204020204" charset="-122"/>
              </a:rPr>
              <a:t>）</a:t>
            </a:r>
          </a:p>
        </p:txBody>
      </p:sp>
      <p:sp>
        <p:nvSpPr>
          <p:cNvPr id="9" name="Rectangle 18"/>
          <p:cNvSpPr>
            <a:spLocks noChangeArrowheads="1"/>
          </p:cNvSpPr>
          <p:nvPr/>
        </p:nvSpPr>
        <p:spPr bwMode="auto">
          <a:xfrm>
            <a:off x="4581525" y="3967154"/>
            <a:ext cx="428625" cy="381000"/>
          </a:xfrm>
          <a:prstGeom prst="rect">
            <a:avLst/>
          </a:prstGeom>
          <a:solidFill>
            <a:srgbClr val="7889FB"/>
          </a:solidFill>
          <a:ln w="9525" algn="ctr">
            <a:noFill/>
            <a:miter lim="800000"/>
          </a:ln>
          <a:effectLst>
            <a:innerShdw blurRad="114300">
              <a:prstClr val="black"/>
            </a:innerShdw>
          </a:effectLst>
        </p:spPr>
        <p:txBody>
          <a:bodyPr wrap="none" lIns="18000" rIns="18000" anchor="ctr"/>
          <a:lstStyle/>
          <a:p>
            <a:pPr algn="ctr">
              <a:defRPr/>
            </a:pPr>
            <a:r>
              <a:rPr lang="zh-CN" altLang="en-US" sz="1200" dirty="0">
                <a:solidFill>
                  <a:schemeClr val="bg1"/>
                </a:solidFill>
                <a:latin typeface="微软雅黑" panose="020B0503020204020204" charset="-122"/>
                <a:ea typeface="微软雅黑" panose="020B0503020204020204" charset="-122"/>
              </a:rPr>
              <a:t>库存</a:t>
            </a:r>
            <a:endParaRPr lang="en-US" altLang="zh-CN" sz="1200" dirty="0">
              <a:solidFill>
                <a:schemeClr val="bg1"/>
              </a:solidFill>
              <a:latin typeface="微软雅黑" panose="020B0503020204020204" charset="-122"/>
              <a:ea typeface="微软雅黑" panose="020B0503020204020204" charset="-122"/>
            </a:endParaRPr>
          </a:p>
          <a:p>
            <a:pPr algn="ctr">
              <a:defRPr/>
            </a:pPr>
            <a:r>
              <a:rPr lang="zh-CN" altLang="en-US" sz="1200" dirty="0">
                <a:solidFill>
                  <a:schemeClr val="bg1"/>
                </a:solidFill>
                <a:latin typeface="微软雅黑" panose="020B0503020204020204" charset="-122"/>
                <a:ea typeface="微软雅黑" panose="020B0503020204020204" charset="-122"/>
              </a:rPr>
              <a:t>（</a:t>
            </a:r>
            <a:r>
              <a:rPr lang="en-US" altLang="zh-CN" sz="1200" dirty="0">
                <a:solidFill>
                  <a:schemeClr val="bg1"/>
                </a:solidFill>
                <a:latin typeface="微软雅黑" panose="020B0503020204020204" charset="-122"/>
                <a:ea typeface="微软雅黑" panose="020B0503020204020204" charset="-122"/>
              </a:rPr>
              <a:t>MIN</a:t>
            </a:r>
            <a:r>
              <a:rPr lang="zh-CN" altLang="en-US" sz="1200" dirty="0">
                <a:solidFill>
                  <a:schemeClr val="bg1"/>
                </a:solidFill>
                <a:latin typeface="微软雅黑" panose="020B0503020204020204" charset="-122"/>
                <a:ea typeface="微软雅黑" panose="020B0503020204020204" charset="-122"/>
              </a:rPr>
              <a:t>）</a:t>
            </a:r>
          </a:p>
        </p:txBody>
      </p:sp>
      <p:cxnSp>
        <p:nvCxnSpPr>
          <p:cNvPr id="10" name="Straight Arrow Connector 20"/>
          <p:cNvCxnSpPr>
            <a:cxnSpLocks noChangeShapeType="1"/>
          </p:cNvCxnSpPr>
          <p:nvPr/>
        </p:nvCxnSpPr>
        <p:spPr bwMode="auto">
          <a:xfrm>
            <a:off x="4795838" y="3738554"/>
            <a:ext cx="0" cy="228600"/>
          </a:xfrm>
          <a:prstGeom prst="straightConnector1">
            <a:avLst/>
          </a:prstGeom>
          <a:noFill/>
          <a:ln w="9525" algn="ctr">
            <a:solidFill>
              <a:schemeClr val="tx1"/>
            </a:solidFill>
            <a:round/>
            <a:tailEnd type="arrow" w="med" len="med"/>
          </a:ln>
        </p:spPr>
      </p:cxnSp>
      <p:cxnSp>
        <p:nvCxnSpPr>
          <p:cNvPr id="11" name="Straight Arrow Connector 22"/>
          <p:cNvCxnSpPr>
            <a:cxnSpLocks noChangeShapeType="1"/>
          </p:cNvCxnSpPr>
          <p:nvPr/>
        </p:nvCxnSpPr>
        <p:spPr bwMode="auto">
          <a:xfrm flipV="1">
            <a:off x="4795838" y="3738554"/>
            <a:ext cx="0" cy="228600"/>
          </a:xfrm>
          <a:prstGeom prst="straightConnector1">
            <a:avLst/>
          </a:prstGeom>
          <a:noFill/>
          <a:ln w="9525" algn="ctr">
            <a:solidFill>
              <a:schemeClr val="tx1"/>
            </a:solidFill>
            <a:round/>
            <a:tailEnd type="arrow" w="med" len="med"/>
          </a:ln>
        </p:spPr>
      </p:cxnSp>
      <p:sp>
        <p:nvSpPr>
          <p:cNvPr id="12" name="Isosceles Triangle 24"/>
          <p:cNvSpPr/>
          <p:nvPr/>
        </p:nvSpPr>
        <p:spPr bwMode="auto">
          <a:xfrm>
            <a:off x="4962525" y="4119554"/>
            <a:ext cx="533400" cy="457200"/>
          </a:xfrm>
          <a:prstGeom prst="triangle">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wrap="none" anchor="ctr"/>
          <a:lstStyle/>
          <a:p>
            <a:pPr>
              <a:defRPr/>
            </a:pPr>
            <a:endParaRPr lang="zh-CN" altLang="en-US" sz="1400">
              <a:latin typeface="微软雅黑" panose="020B0503020204020204" charset="-122"/>
              <a:ea typeface="微软雅黑" panose="020B0503020204020204" charset="-122"/>
            </a:endParaRPr>
          </a:p>
        </p:txBody>
      </p:sp>
      <p:sp>
        <p:nvSpPr>
          <p:cNvPr id="13" name="object 134"/>
          <p:cNvSpPr/>
          <p:nvPr/>
        </p:nvSpPr>
        <p:spPr bwMode="auto">
          <a:xfrm>
            <a:off x="6638925" y="3128954"/>
            <a:ext cx="2047875" cy="1533525"/>
          </a:xfrm>
          <a:custGeom>
            <a:avLst/>
            <a:gdLst>
              <a:gd name="T0" fmla="*/ 2042562 w 2048255"/>
              <a:gd name="T1" fmla="*/ 1281813 h 1533150"/>
              <a:gd name="T2" fmla="*/ 2042562 w 2048255"/>
              <a:gd name="T3" fmla="*/ 255444 h 1533150"/>
              <a:gd name="T4" fmla="*/ 2041719 w 2048255"/>
              <a:gd name="T5" fmla="*/ 234543 h 1533150"/>
              <a:gd name="T6" fmla="*/ 2035167 w 2048255"/>
              <a:gd name="T7" fmla="*/ 194172 h 1533150"/>
              <a:gd name="T8" fmla="*/ 2022568 w 2048255"/>
              <a:gd name="T9" fmla="*/ 156166 h 1533150"/>
              <a:gd name="T10" fmla="*/ 2004454 w 2048255"/>
              <a:gd name="T11" fmla="*/ 121052 h 1533150"/>
              <a:gd name="T12" fmla="*/ 1981351 w 2048255"/>
              <a:gd name="T13" fmla="*/ 89354 h 1533150"/>
              <a:gd name="T14" fmla="*/ 1953789 w 2048255"/>
              <a:gd name="T15" fmla="*/ 61610 h 1533150"/>
              <a:gd name="T16" fmla="*/ 1922298 w 2048255"/>
              <a:gd name="T17" fmla="*/ 38352 h 1533150"/>
              <a:gd name="T18" fmla="*/ 1887405 w 2048255"/>
              <a:gd name="T19" fmla="*/ 20126 h 1533150"/>
              <a:gd name="T20" fmla="*/ 1849640 w 2048255"/>
              <a:gd name="T21" fmla="*/ 7447 h 1533150"/>
              <a:gd name="T22" fmla="*/ 1809531 w 2048255"/>
              <a:gd name="T23" fmla="*/ 846 h 1533150"/>
              <a:gd name="T24" fmla="*/ 1788763 w 2048255"/>
              <a:gd name="T25" fmla="*/ 0 h 1533150"/>
              <a:gd name="T26" fmla="*/ 255326 w 2048255"/>
              <a:gd name="T27" fmla="*/ 0 h 1533150"/>
              <a:gd name="T28" fmla="*/ 214192 w 2048255"/>
              <a:gd name="T29" fmla="*/ 3355 h 1533150"/>
              <a:gd name="T30" fmla="*/ 175075 w 2048255"/>
              <a:gd name="T31" fmla="*/ 13054 h 1533150"/>
              <a:gd name="T32" fmla="*/ 138507 w 2048255"/>
              <a:gd name="T33" fmla="*/ 28580 h 1533150"/>
              <a:gd name="T34" fmla="*/ 105042 w 2048255"/>
              <a:gd name="T35" fmla="*/ 49389 h 1533150"/>
              <a:gd name="T36" fmla="*/ 75227 w 2048255"/>
              <a:gd name="T37" fmla="*/ 74949 h 1533150"/>
              <a:gd name="T38" fmla="*/ 49608 w 2048255"/>
              <a:gd name="T39" fmla="*/ 104745 h 1533150"/>
              <a:gd name="T40" fmla="*/ 28728 w 2048255"/>
              <a:gd name="T41" fmla="*/ 138217 h 1533150"/>
              <a:gd name="T42" fmla="*/ 13137 w 2048255"/>
              <a:gd name="T43" fmla="*/ 174849 h 1533150"/>
              <a:gd name="T44" fmla="*/ 3368 w 2048255"/>
              <a:gd name="T45" fmla="*/ 214097 h 1533150"/>
              <a:gd name="T46" fmla="*/ 0 w 2048255"/>
              <a:gd name="T47" fmla="*/ 255444 h 1533150"/>
              <a:gd name="T48" fmla="*/ 0 w 2048255"/>
              <a:gd name="T49" fmla="*/ 1281813 h 1533150"/>
              <a:gd name="T50" fmla="*/ 3368 w 2048255"/>
              <a:gd name="T51" fmla="*/ 1323575 h 1533150"/>
              <a:gd name="T52" fmla="*/ 13137 w 2048255"/>
              <a:gd name="T53" fmla="*/ 1363162 h 1533150"/>
              <a:gd name="T54" fmla="*/ 28728 w 2048255"/>
              <a:gd name="T55" fmla="*/ 1400050 h 1533150"/>
              <a:gd name="T56" fmla="*/ 49608 w 2048255"/>
              <a:gd name="T57" fmla="*/ 1433720 h 1533150"/>
              <a:gd name="T58" fmla="*/ 75227 w 2048255"/>
              <a:gd name="T59" fmla="*/ 1463643 h 1533150"/>
              <a:gd name="T60" fmla="*/ 105042 w 2048255"/>
              <a:gd name="T61" fmla="*/ 1489298 h 1533150"/>
              <a:gd name="T62" fmla="*/ 138507 w 2048255"/>
              <a:gd name="T63" fmla="*/ 1510163 h 1533150"/>
              <a:gd name="T64" fmla="*/ 175075 w 2048255"/>
              <a:gd name="T65" fmla="*/ 1525716 h 1533150"/>
              <a:gd name="T66" fmla="*/ 214192 w 2048255"/>
              <a:gd name="T67" fmla="*/ 1535428 h 1533150"/>
              <a:gd name="T68" fmla="*/ 255326 w 2048255"/>
              <a:gd name="T69" fmla="*/ 1538784 h 1533150"/>
              <a:gd name="T70" fmla="*/ 1788763 w 2048255"/>
              <a:gd name="T71" fmla="*/ 1538784 h 1533150"/>
              <a:gd name="T72" fmla="*/ 1829845 w 2048255"/>
              <a:gd name="T73" fmla="*/ 1535428 h 1533150"/>
              <a:gd name="T74" fmla="*/ 1868848 w 2048255"/>
              <a:gd name="T75" fmla="*/ 1525716 h 1533150"/>
              <a:gd name="T76" fmla="*/ 1905244 w 2048255"/>
              <a:gd name="T77" fmla="*/ 1510163 h 1533150"/>
              <a:gd name="T78" fmla="*/ 1938502 w 2048255"/>
              <a:gd name="T79" fmla="*/ 1489298 h 1533150"/>
              <a:gd name="T80" fmla="*/ 1968094 w 2048255"/>
              <a:gd name="T81" fmla="*/ 1463643 h 1533150"/>
              <a:gd name="T82" fmla="*/ 1993493 w 2048255"/>
              <a:gd name="T83" fmla="*/ 1433720 h 1533150"/>
              <a:gd name="T84" fmla="*/ 2014167 w 2048255"/>
              <a:gd name="T85" fmla="*/ 1400050 h 1533150"/>
              <a:gd name="T86" fmla="*/ 2029590 w 2048255"/>
              <a:gd name="T87" fmla="*/ 1363162 h 1533150"/>
              <a:gd name="T88" fmla="*/ 2039232 w 2048255"/>
              <a:gd name="T89" fmla="*/ 1323575 h 1533150"/>
              <a:gd name="T90" fmla="*/ 2042562 w 2048255"/>
              <a:gd name="T91" fmla="*/ 1281813 h 15331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048255"/>
              <a:gd name="T139" fmla="*/ 0 h 1533150"/>
              <a:gd name="T140" fmla="*/ 2048255 w 2048255"/>
              <a:gd name="T141" fmla="*/ 1533150 h 15331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048255" h="1533150">
                <a:moveTo>
                  <a:pt x="2048255" y="1277118"/>
                </a:moveTo>
                <a:lnTo>
                  <a:pt x="2048255" y="254514"/>
                </a:lnTo>
                <a:lnTo>
                  <a:pt x="2047409" y="233688"/>
                </a:lnTo>
                <a:lnTo>
                  <a:pt x="2040839" y="193467"/>
                </a:lnTo>
                <a:lnTo>
                  <a:pt x="2028205" y="155596"/>
                </a:lnTo>
                <a:lnTo>
                  <a:pt x="2010040" y="120604"/>
                </a:lnTo>
                <a:lnTo>
                  <a:pt x="1986873" y="89024"/>
                </a:lnTo>
                <a:lnTo>
                  <a:pt x="1959234" y="61385"/>
                </a:lnTo>
                <a:lnTo>
                  <a:pt x="1927655" y="38217"/>
                </a:lnTo>
                <a:lnTo>
                  <a:pt x="1892665" y="20051"/>
                </a:lnTo>
                <a:lnTo>
                  <a:pt x="1854794" y="7417"/>
                </a:lnTo>
                <a:lnTo>
                  <a:pt x="1814573" y="846"/>
                </a:lnTo>
                <a:lnTo>
                  <a:pt x="1793747" y="0"/>
                </a:lnTo>
                <a:lnTo>
                  <a:pt x="256031" y="0"/>
                </a:lnTo>
                <a:lnTo>
                  <a:pt x="214792" y="3340"/>
                </a:lnTo>
                <a:lnTo>
                  <a:pt x="175564" y="13009"/>
                </a:lnTo>
                <a:lnTo>
                  <a:pt x="138897" y="28475"/>
                </a:lnTo>
                <a:lnTo>
                  <a:pt x="105338" y="49209"/>
                </a:lnTo>
                <a:lnTo>
                  <a:pt x="75437" y="74679"/>
                </a:lnTo>
                <a:lnTo>
                  <a:pt x="49743" y="104355"/>
                </a:lnTo>
                <a:lnTo>
                  <a:pt x="28803" y="137707"/>
                </a:lnTo>
                <a:lnTo>
                  <a:pt x="13167" y="174204"/>
                </a:lnTo>
                <a:lnTo>
                  <a:pt x="3383" y="213317"/>
                </a:lnTo>
                <a:lnTo>
                  <a:pt x="0" y="254514"/>
                </a:lnTo>
                <a:lnTo>
                  <a:pt x="0" y="1277118"/>
                </a:lnTo>
                <a:lnTo>
                  <a:pt x="3383" y="1318727"/>
                </a:lnTo>
                <a:lnTo>
                  <a:pt x="13167" y="1358170"/>
                </a:lnTo>
                <a:lnTo>
                  <a:pt x="28803" y="1394924"/>
                </a:lnTo>
                <a:lnTo>
                  <a:pt x="49743" y="1428469"/>
                </a:lnTo>
                <a:lnTo>
                  <a:pt x="75437" y="1458283"/>
                </a:lnTo>
                <a:lnTo>
                  <a:pt x="105338" y="1483845"/>
                </a:lnTo>
                <a:lnTo>
                  <a:pt x="138897" y="1504634"/>
                </a:lnTo>
                <a:lnTo>
                  <a:pt x="175564" y="1520129"/>
                </a:lnTo>
                <a:lnTo>
                  <a:pt x="214792" y="1529807"/>
                </a:lnTo>
                <a:lnTo>
                  <a:pt x="256031" y="1533150"/>
                </a:lnTo>
                <a:lnTo>
                  <a:pt x="1793747" y="1533150"/>
                </a:lnTo>
                <a:lnTo>
                  <a:pt x="1834944" y="1529807"/>
                </a:lnTo>
                <a:lnTo>
                  <a:pt x="1874056" y="1520129"/>
                </a:lnTo>
                <a:lnTo>
                  <a:pt x="1910553" y="1504634"/>
                </a:lnTo>
                <a:lnTo>
                  <a:pt x="1943904" y="1483845"/>
                </a:lnTo>
                <a:lnTo>
                  <a:pt x="1973579" y="1458283"/>
                </a:lnTo>
                <a:lnTo>
                  <a:pt x="1999049" y="1428469"/>
                </a:lnTo>
                <a:lnTo>
                  <a:pt x="2019781" y="1394924"/>
                </a:lnTo>
                <a:lnTo>
                  <a:pt x="2035247" y="1358170"/>
                </a:lnTo>
                <a:lnTo>
                  <a:pt x="2044915" y="1318727"/>
                </a:lnTo>
                <a:lnTo>
                  <a:pt x="2048255" y="1277118"/>
                </a:lnTo>
                <a:close/>
              </a:path>
            </a:pathLst>
          </a:custGeom>
          <a:solidFill>
            <a:srgbClr val="F8F8F8"/>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14" name="Isosceles Triangle 26"/>
          <p:cNvSpPr/>
          <p:nvPr/>
        </p:nvSpPr>
        <p:spPr bwMode="auto">
          <a:xfrm>
            <a:off x="7096125" y="4119554"/>
            <a:ext cx="533400" cy="457200"/>
          </a:xfrm>
          <a:prstGeom prst="triangle">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wrap="none" anchor="ctr"/>
          <a:lstStyle/>
          <a:p>
            <a:pPr>
              <a:defRPr/>
            </a:pPr>
            <a:endParaRPr lang="zh-CN" altLang="en-US" sz="1400">
              <a:latin typeface="微软雅黑" panose="020B0503020204020204" charset="-122"/>
              <a:ea typeface="微软雅黑" panose="020B0503020204020204" charset="-122"/>
            </a:endParaRPr>
          </a:p>
        </p:txBody>
      </p:sp>
      <p:sp>
        <p:nvSpPr>
          <p:cNvPr id="15" name="object 262"/>
          <p:cNvSpPr txBox="1"/>
          <p:nvPr/>
        </p:nvSpPr>
        <p:spPr>
          <a:xfrm>
            <a:off x="7240588" y="3230554"/>
            <a:ext cx="1150937" cy="203200"/>
          </a:xfrm>
          <a:prstGeom prst="rect">
            <a:avLst/>
          </a:prstGeom>
        </p:spPr>
        <p:txBody>
          <a:bodyPr lIns="0" tIns="0" rIns="0" bIns="0"/>
          <a:lstStyle/>
          <a:p>
            <a:pPr marL="12700" algn="ctr" fontAlgn="auto">
              <a:lnSpc>
                <a:spcPts val="1535"/>
              </a:lnSpc>
              <a:spcBef>
                <a:spcPts val="75"/>
              </a:spcBef>
              <a:spcAft>
                <a:spcPts val="0"/>
              </a:spcAft>
              <a:defRPr/>
            </a:pPr>
            <a:r>
              <a:rPr lang="zh-CN" altLang="en-US" sz="1100" dirty="0">
                <a:latin typeface="微软雅黑" panose="020B0503020204020204" charset="-122"/>
                <a:ea typeface="微软雅黑" panose="020B0503020204020204" charset="-122"/>
                <a:cs typeface="Arial" panose="020B0604020202020204"/>
              </a:rPr>
              <a:t>主机厂</a:t>
            </a:r>
            <a:endParaRPr sz="1100" dirty="0">
              <a:latin typeface="微软雅黑" panose="020B0503020204020204" charset="-122"/>
              <a:ea typeface="微软雅黑" panose="020B0503020204020204" charset="-122"/>
              <a:cs typeface="Arial" panose="020B0604020202020204"/>
            </a:endParaRPr>
          </a:p>
        </p:txBody>
      </p:sp>
      <p:sp>
        <p:nvSpPr>
          <p:cNvPr id="16" name="object 175"/>
          <p:cNvSpPr/>
          <p:nvPr/>
        </p:nvSpPr>
        <p:spPr bwMode="auto">
          <a:xfrm>
            <a:off x="971528" y="3286124"/>
            <a:ext cx="457200" cy="328602"/>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noFill/>
          <a:ln w="25399">
            <a:solidFill>
              <a:srgbClr val="6BB0C9"/>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17" name="object 379"/>
          <p:cNvSpPr txBox="1">
            <a:spLocks noChangeArrowheads="1"/>
          </p:cNvSpPr>
          <p:nvPr/>
        </p:nvSpPr>
        <p:spPr bwMode="auto">
          <a:xfrm>
            <a:off x="958828" y="3214686"/>
            <a:ext cx="469900" cy="400040"/>
          </a:xfrm>
          <a:prstGeom prst="rect">
            <a:avLst/>
          </a:prstGeom>
          <a:noFill/>
          <a:ln w="9525">
            <a:noFill/>
            <a:miter lim="800000"/>
          </a:ln>
        </p:spPr>
        <p:txBody>
          <a:bodyPr lIns="0" tIns="0" rIns="0" bIns="0"/>
          <a:lstStyle/>
          <a:p>
            <a:pPr algn="ctr">
              <a:lnSpc>
                <a:spcPts val="1100"/>
              </a:lnSpc>
              <a:spcBef>
                <a:spcPts val="15"/>
              </a:spcBef>
            </a:pPr>
            <a:endParaRPr lang="zh-CN" altLang="zh-CN" sz="1000" dirty="0">
              <a:latin typeface="微软雅黑" panose="020B0503020204020204" charset="-122"/>
              <a:ea typeface="微软雅黑" panose="020B0503020204020204" charset="-122"/>
            </a:endParaRPr>
          </a:p>
          <a:p>
            <a:pPr algn="ctr">
              <a:lnSpc>
                <a:spcPct val="96000"/>
              </a:lnSpc>
            </a:pPr>
            <a:r>
              <a:rPr lang="zh-CN" altLang="zh-CN" sz="1400" dirty="0">
                <a:latin typeface="微软雅黑" panose="020B0503020204020204" charset="-122"/>
                <a:ea typeface="微软雅黑" panose="020B0503020204020204" charset="-122"/>
                <a:cs typeface="Arial" panose="020B0604020202020204" pitchFamily="34" charset="0"/>
              </a:rPr>
              <a:t>MRP</a:t>
            </a:r>
          </a:p>
        </p:txBody>
      </p:sp>
      <p:sp>
        <p:nvSpPr>
          <p:cNvPr id="18" name="object 175"/>
          <p:cNvSpPr/>
          <p:nvPr/>
        </p:nvSpPr>
        <p:spPr bwMode="auto">
          <a:xfrm>
            <a:off x="3971925" y="3357562"/>
            <a:ext cx="457200" cy="349200"/>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noFill/>
          <a:ln w="25399">
            <a:solidFill>
              <a:srgbClr val="6BB0C9"/>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19" name="object 379"/>
          <p:cNvSpPr txBox="1">
            <a:spLocks noChangeArrowheads="1"/>
          </p:cNvSpPr>
          <p:nvPr/>
        </p:nvSpPr>
        <p:spPr bwMode="auto">
          <a:xfrm>
            <a:off x="3959225" y="3286124"/>
            <a:ext cx="469900" cy="399600"/>
          </a:xfrm>
          <a:prstGeom prst="rect">
            <a:avLst/>
          </a:prstGeom>
          <a:noFill/>
          <a:ln w="9525">
            <a:noFill/>
            <a:miter lim="800000"/>
          </a:ln>
        </p:spPr>
        <p:txBody>
          <a:bodyPr lIns="0" tIns="0" rIns="0" bIns="0"/>
          <a:lstStyle/>
          <a:p>
            <a:pPr algn="ctr">
              <a:lnSpc>
                <a:spcPts val="1100"/>
              </a:lnSpc>
              <a:spcBef>
                <a:spcPts val="15"/>
              </a:spcBef>
            </a:pPr>
            <a:endParaRPr lang="zh-CN" altLang="zh-CN" sz="1000" dirty="0">
              <a:latin typeface="微软雅黑" panose="020B0503020204020204" charset="-122"/>
              <a:ea typeface="微软雅黑" panose="020B0503020204020204" charset="-122"/>
            </a:endParaRPr>
          </a:p>
          <a:p>
            <a:pPr algn="ctr">
              <a:lnSpc>
                <a:spcPct val="96000"/>
              </a:lnSpc>
            </a:pPr>
            <a:r>
              <a:rPr lang="zh-CN" altLang="zh-CN" sz="1400" dirty="0">
                <a:latin typeface="微软雅黑" panose="020B0503020204020204" charset="-122"/>
                <a:ea typeface="微软雅黑" panose="020B0503020204020204" charset="-122"/>
                <a:cs typeface="Arial" panose="020B0604020202020204" pitchFamily="34" charset="0"/>
              </a:rPr>
              <a:t>MRP</a:t>
            </a:r>
          </a:p>
        </p:txBody>
      </p:sp>
      <p:sp>
        <p:nvSpPr>
          <p:cNvPr id="20" name="object 379"/>
          <p:cNvSpPr txBox="1">
            <a:spLocks noChangeArrowheads="1"/>
          </p:cNvSpPr>
          <p:nvPr/>
        </p:nvSpPr>
        <p:spPr bwMode="auto">
          <a:xfrm>
            <a:off x="7845425" y="3543304"/>
            <a:ext cx="469900" cy="457200"/>
          </a:xfrm>
          <a:prstGeom prst="rect">
            <a:avLst/>
          </a:prstGeom>
          <a:noFill/>
          <a:ln w="9525">
            <a:noFill/>
            <a:miter lim="800000"/>
          </a:ln>
        </p:spPr>
        <p:txBody>
          <a:bodyPr lIns="0" tIns="0" rIns="0" bIns="0"/>
          <a:lstStyle/>
          <a:p>
            <a:pPr algn="ctr">
              <a:lnSpc>
                <a:spcPct val="96000"/>
              </a:lnSpc>
            </a:pPr>
            <a:r>
              <a:rPr lang="zh-CN" altLang="zh-CN" sz="1400" dirty="0">
                <a:latin typeface="微软雅黑" panose="020B0503020204020204" charset="-122"/>
                <a:ea typeface="微软雅黑" panose="020B0503020204020204" charset="-122"/>
                <a:cs typeface="Arial" panose="020B0604020202020204" pitchFamily="34" charset="0"/>
              </a:rPr>
              <a:t>MRP</a:t>
            </a:r>
          </a:p>
        </p:txBody>
      </p:sp>
      <p:sp>
        <p:nvSpPr>
          <p:cNvPr id="21" name="object 175"/>
          <p:cNvSpPr/>
          <p:nvPr/>
        </p:nvSpPr>
        <p:spPr bwMode="auto">
          <a:xfrm>
            <a:off x="7858125" y="3458590"/>
            <a:ext cx="457200" cy="327600"/>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noFill/>
          <a:ln w="25399">
            <a:solidFill>
              <a:srgbClr val="6BB0C9"/>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22" name="object 186"/>
          <p:cNvSpPr/>
          <p:nvPr/>
        </p:nvSpPr>
        <p:spPr bwMode="auto">
          <a:xfrm>
            <a:off x="2447925" y="4424354"/>
            <a:ext cx="2438400" cy="152400"/>
          </a:xfrm>
          <a:custGeom>
            <a:avLst/>
            <a:gdLst>
              <a:gd name="T0" fmla="*/ 444303 w 2743199"/>
              <a:gd name="T1" fmla="*/ 4334065 h 114299"/>
              <a:gd name="T2" fmla="*/ 444303 w 2743199"/>
              <a:gd name="T3" fmla="*/ 0 h 114299"/>
              <a:gd name="T4" fmla="*/ 0 w 2743199"/>
              <a:gd name="T5" fmla="*/ 0 h 114299"/>
              <a:gd name="T6" fmla="*/ 0 w 2743199"/>
              <a:gd name="T7" fmla="*/ 4334065 h 114299"/>
              <a:gd name="T8" fmla="*/ 444303 w 2743199"/>
              <a:gd name="T9" fmla="*/ 4334065 h 114299"/>
              <a:gd name="T10" fmla="*/ 468785 w 2743199"/>
              <a:gd name="T11" fmla="*/ 2166992 h 114299"/>
              <a:gd name="T12" fmla="*/ 439356 w 2743199"/>
              <a:gd name="T13" fmla="*/ -4220013 h 114299"/>
              <a:gd name="T14" fmla="*/ 439356 w 2743199"/>
              <a:gd name="T15" fmla="*/ 0 h 114299"/>
              <a:gd name="T16" fmla="*/ 444303 w 2743199"/>
              <a:gd name="T17" fmla="*/ 0 h 114299"/>
              <a:gd name="T18" fmla="*/ 444303 w 2743199"/>
              <a:gd name="T19" fmla="*/ 7480354 h 114299"/>
              <a:gd name="T20" fmla="*/ 468785 w 2743199"/>
              <a:gd name="T21" fmla="*/ 2166992 h 114299"/>
              <a:gd name="T22" fmla="*/ 444303 w 2743199"/>
              <a:gd name="T23" fmla="*/ 7480354 h 114299"/>
              <a:gd name="T24" fmla="*/ 444303 w 2743199"/>
              <a:gd name="T25" fmla="*/ 4334065 h 114299"/>
              <a:gd name="T26" fmla="*/ 439356 w 2743199"/>
              <a:gd name="T27" fmla="*/ 4334065 h 114299"/>
              <a:gd name="T28" fmla="*/ 439356 w 2743199"/>
              <a:gd name="T29" fmla="*/ 8554225 h 114299"/>
              <a:gd name="T30" fmla="*/ 444303 w 2743199"/>
              <a:gd name="T31" fmla="*/ 7480354 h 1142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43199"/>
              <a:gd name="T49" fmla="*/ 0 h 114299"/>
              <a:gd name="T50" fmla="*/ 2743199 w 2743199"/>
              <a:gd name="T51" fmla="*/ 114299 h 1142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43199" h="114299">
                <a:moveTo>
                  <a:pt x="2599943" y="57911"/>
                </a:moveTo>
                <a:lnTo>
                  <a:pt x="2599943" y="0"/>
                </a:lnTo>
                <a:lnTo>
                  <a:pt x="0" y="0"/>
                </a:lnTo>
                <a:lnTo>
                  <a:pt x="0" y="57911"/>
                </a:lnTo>
                <a:lnTo>
                  <a:pt x="2599943" y="57911"/>
                </a:lnTo>
                <a:close/>
              </a:path>
              <a:path w="2743199" h="114299">
                <a:moveTo>
                  <a:pt x="2743199" y="28955"/>
                </a:moveTo>
                <a:lnTo>
                  <a:pt x="2570987" y="-56387"/>
                </a:lnTo>
                <a:lnTo>
                  <a:pt x="2570987" y="0"/>
                </a:lnTo>
                <a:lnTo>
                  <a:pt x="2599943" y="0"/>
                </a:lnTo>
                <a:lnTo>
                  <a:pt x="2599943" y="99950"/>
                </a:lnTo>
                <a:lnTo>
                  <a:pt x="2743199" y="28955"/>
                </a:lnTo>
                <a:close/>
              </a:path>
              <a:path w="2743199" h="114299">
                <a:moveTo>
                  <a:pt x="2599943" y="99950"/>
                </a:moveTo>
                <a:lnTo>
                  <a:pt x="2599943" y="57911"/>
                </a:lnTo>
                <a:lnTo>
                  <a:pt x="2570987" y="57911"/>
                </a:lnTo>
                <a:lnTo>
                  <a:pt x="2570987" y="114299"/>
                </a:lnTo>
                <a:lnTo>
                  <a:pt x="2599943" y="99950"/>
                </a:lnTo>
                <a:close/>
              </a:path>
            </a:pathLst>
          </a:custGeom>
          <a:solidFill>
            <a:srgbClr val="000000"/>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23" name="object 186"/>
          <p:cNvSpPr/>
          <p:nvPr/>
        </p:nvSpPr>
        <p:spPr bwMode="auto">
          <a:xfrm>
            <a:off x="5648325" y="4424354"/>
            <a:ext cx="1371600" cy="152400"/>
          </a:xfrm>
          <a:custGeom>
            <a:avLst/>
            <a:gdLst>
              <a:gd name="T0" fmla="*/ 80 w 2743199"/>
              <a:gd name="T1" fmla="*/ 4334065 h 114299"/>
              <a:gd name="T2" fmla="*/ 80 w 2743199"/>
              <a:gd name="T3" fmla="*/ 0 h 114299"/>
              <a:gd name="T4" fmla="*/ 0 w 2743199"/>
              <a:gd name="T5" fmla="*/ 0 h 114299"/>
              <a:gd name="T6" fmla="*/ 0 w 2743199"/>
              <a:gd name="T7" fmla="*/ 4334065 h 114299"/>
              <a:gd name="T8" fmla="*/ 80 w 2743199"/>
              <a:gd name="T9" fmla="*/ 4334065 h 114299"/>
              <a:gd name="T10" fmla="*/ 84 w 2743199"/>
              <a:gd name="T11" fmla="*/ 2166992 h 114299"/>
              <a:gd name="T12" fmla="*/ 79 w 2743199"/>
              <a:gd name="T13" fmla="*/ -4220013 h 114299"/>
              <a:gd name="T14" fmla="*/ 79 w 2743199"/>
              <a:gd name="T15" fmla="*/ 0 h 114299"/>
              <a:gd name="T16" fmla="*/ 80 w 2743199"/>
              <a:gd name="T17" fmla="*/ 0 h 114299"/>
              <a:gd name="T18" fmla="*/ 80 w 2743199"/>
              <a:gd name="T19" fmla="*/ 7480354 h 114299"/>
              <a:gd name="T20" fmla="*/ 84 w 2743199"/>
              <a:gd name="T21" fmla="*/ 2166992 h 114299"/>
              <a:gd name="T22" fmla="*/ 80 w 2743199"/>
              <a:gd name="T23" fmla="*/ 7480354 h 114299"/>
              <a:gd name="T24" fmla="*/ 80 w 2743199"/>
              <a:gd name="T25" fmla="*/ 4334065 h 114299"/>
              <a:gd name="T26" fmla="*/ 79 w 2743199"/>
              <a:gd name="T27" fmla="*/ 4334065 h 114299"/>
              <a:gd name="T28" fmla="*/ 79 w 2743199"/>
              <a:gd name="T29" fmla="*/ 8554225 h 114299"/>
              <a:gd name="T30" fmla="*/ 80 w 2743199"/>
              <a:gd name="T31" fmla="*/ 7480354 h 1142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43199"/>
              <a:gd name="T49" fmla="*/ 0 h 114299"/>
              <a:gd name="T50" fmla="*/ 2743199 w 2743199"/>
              <a:gd name="T51" fmla="*/ 114299 h 1142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43199" h="114299">
                <a:moveTo>
                  <a:pt x="2599943" y="57911"/>
                </a:moveTo>
                <a:lnTo>
                  <a:pt x="2599943" y="0"/>
                </a:lnTo>
                <a:lnTo>
                  <a:pt x="0" y="0"/>
                </a:lnTo>
                <a:lnTo>
                  <a:pt x="0" y="57911"/>
                </a:lnTo>
                <a:lnTo>
                  <a:pt x="2599943" y="57911"/>
                </a:lnTo>
                <a:close/>
              </a:path>
              <a:path w="2743199" h="114299">
                <a:moveTo>
                  <a:pt x="2743199" y="28955"/>
                </a:moveTo>
                <a:lnTo>
                  <a:pt x="2570987" y="-56387"/>
                </a:lnTo>
                <a:lnTo>
                  <a:pt x="2570987" y="0"/>
                </a:lnTo>
                <a:lnTo>
                  <a:pt x="2599943" y="0"/>
                </a:lnTo>
                <a:lnTo>
                  <a:pt x="2599943" y="99950"/>
                </a:lnTo>
                <a:lnTo>
                  <a:pt x="2743199" y="28955"/>
                </a:lnTo>
                <a:close/>
              </a:path>
              <a:path w="2743199" h="114299">
                <a:moveTo>
                  <a:pt x="2599943" y="99950"/>
                </a:moveTo>
                <a:lnTo>
                  <a:pt x="2599943" y="57911"/>
                </a:lnTo>
                <a:lnTo>
                  <a:pt x="2570987" y="57911"/>
                </a:lnTo>
                <a:lnTo>
                  <a:pt x="2570987" y="114299"/>
                </a:lnTo>
                <a:lnTo>
                  <a:pt x="2599943" y="99950"/>
                </a:lnTo>
                <a:close/>
              </a:path>
            </a:pathLst>
          </a:custGeom>
          <a:solidFill>
            <a:srgbClr val="000000"/>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24" name="object 192"/>
          <p:cNvSpPr/>
          <p:nvPr/>
        </p:nvSpPr>
        <p:spPr bwMode="auto">
          <a:xfrm>
            <a:off x="1304925" y="2747954"/>
            <a:ext cx="6772275" cy="304800"/>
          </a:xfrm>
          <a:custGeom>
            <a:avLst/>
            <a:gdLst>
              <a:gd name="T0" fmla="*/ 6747200 w 6772655"/>
              <a:gd name="T1" fmla="*/ 8630905 h 239267"/>
              <a:gd name="T2" fmla="*/ 6614732 w 6772655"/>
              <a:gd name="T3" fmla="*/ 0 h 239267"/>
              <a:gd name="T4" fmla="*/ 6756344 w 6772655"/>
              <a:gd name="T5" fmla="*/ 747964 h 239267"/>
              <a:gd name="T6" fmla="*/ 6747200 w 6772655"/>
              <a:gd name="T7" fmla="*/ 747964 h 239267"/>
              <a:gd name="T8" fmla="*/ 6404556 w 6772655"/>
              <a:gd name="T9" fmla="*/ 0 h 239267"/>
              <a:gd name="T10" fmla="*/ 6348215 w 6772655"/>
              <a:gd name="T11" fmla="*/ 0 h 239267"/>
              <a:gd name="T12" fmla="*/ 6138082 w 6772655"/>
              <a:gd name="T13" fmla="*/ 747964 h 239267"/>
              <a:gd name="T14" fmla="*/ 6138082 w 6772655"/>
              <a:gd name="T15" fmla="*/ 747964 h 239267"/>
              <a:gd name="T16" fmla="*/ 5777195 w 6772655"/>
              <a:gd name="T17" fmla="*/ 747964 h 239267"/>
              <a:gd name="T18" fmla="*/ 5567062 w 6772655"/>
              <a:gd name="T19" fmla="*/ 0 h 239267"/>
              <a:gd name="T20" fmla="*/ 5510734 w 6772655"/>
              <a:gd name="T21" fmla="*/ 0 h 239267"/>
              <a:gd name="T22" fmla="*/ 5300601 w 6772655"/>
              <a:gd name="T23" fmla="*/ 747964 h 239267"/>
              <a:gd name="T24" fmla="*/ 5300601 w 6772655"/>
              <a:gd name="T25" fmla="*/ 747964 h 239267"/>
              <a:gd name="T26" fmla="*/ 4939714 w 6772655"/>
              <a:gd name="T27" fmla="*/ 747964 h 239267"/>
              <a:gd name="T28" fmla="*/ 4729581 w 6772655"/>
              <a:gd name="T29" fmla="*/ 0 h 239267"/>
              <a:gd name="T30" fmla="*/ 4673252 w 6772655"/>
              <a:gd name="T31" fmla="*/ 0 h 239267"/>
              <a:gd name="T32" fmla="*/ 4463120 w 6772655"/>
              <a:gd name="T33" fmla="*/ 747964 h 239267"/>
              <a:gd name="T34" fmla="*/ 4463120 w 6772655"/>
              <a:gd name="T35" fmla="*/ 747964 h 239267"/>
              <a:gd name="T36" fmla="*/ 4102205 w 6772655"/>
              <a:gd name="T37" fmla="*/ 747964 h 239267"/>
              <a:gd name="T38" fmla="*/ 3892073 w 6772655"/>
              <a:gd name="T39" fmla="*/ 0 h 239267"/>
              <a:gd name="T40" fmla="*/ 3835744 w 6772655"/>
              <a:gd name="T41" fmla="*/ 0 h 239267"/>
              <a:gd name="T42" fmla="*/ 3625612 w 6772655"/>
              <a:gd name="T43" fmla="*/ 747964 h 239267"/>
              <a:gd name="T44" fmla="*/ 3625612 w 6772655"/>
              <a:gd name="T45" fmla="*/ 747964 h 239267"/>
              <a:gd name="T46" fmla="*/ 3264724 w 6772655"/>
              <a:gd name="T47" fmla="*/ 747964 h 239267"/>
              <a:gd name="T48" fmla="*/ 3054592 w 6772655"/>
              <a:gd name="T49" fmla="*/ 0 h 239267"/>
              <a:gd name="T50" fmla="*/ 2998235 w 6772655"/>
              <a:gd name="T51" fmla="*/ 0 h 239267"/>
              <a:gd name="T52" fmla="*/ 2788103 w 6772655"/>
              <a:gd name="T53" fmla="*/ 747964 h 239267"/>
              <a:gd name="T54" fmla="*/ 2788103 w 6772655"/>
              <a:gd name="T55" fmla="*/ 747964 h 239267"/>
              <a:gd name="T56" fmla="*/ 2427215 w 6772655"/>
              <a:gd name="T57" fmla="*/ 747964 h 239267"/>
              <a:gd name="T58" fmla="*/ 2217083 w 6772655"/>
              <a:gd name="T59" fmla="*/ 0 h 239267"/>
              <a:gd name="T60" fmla="*/ 2160754 w 6772655"/>
              <a:gd name="T61" fmla="*/ 0 h 239267"/>
              <a:gd name="T62" fmla="*/ 1950608 w 6772655"/>
              <a:gd name="T63" fmla="*/ 747964 h 239267"/>
              <a:gd name="T64" fmla="*/ 1950608 w 6772655"/>
              <a:gd name="T65" fmla="*/ 747964 h 239267"/>
              <a:gd name="T66" fmla="*/ 1589727 w 6772655"/>
              <a:gd name="T67" fmla="*/ 747964 h 239267"/>
              <a:gd name="T68" fmla="*/ 1379588 w 6772655"/>
              <a:gd name="T69" fmla="*/ 0 h 239267"/>
              <a:gd name="T70" fmla="*/ 1323245 w 6772655"/>
              <a:gd name="T71" fmla="*/ 0 h 239267"/>
              <a:gd name="T72" fmla="*/ 1113113 w 6772655"/>
              <a:gd name="T73" fmla="*/ 747964 h 239267"/>
              <a:gd name="T74" fmla="*/ 1113113 w 6772655"/>
              <a:gd name="T75" fmla="*/ 747964 h 239267"/>
              <a:gd name="T76" fmla="*/ 752225 w 6772655"/>
              <a:gd name="T77" fmla="*/ 747964 h 239267"/>
              <a:gd name="T78" fmla="*/ 542093 w 6772655"/>
              <a:gd name="T79" fmla="*/ 0 h 239267"/>
              <a:gd name="T80" fmla="*/ 485750 w 6772655"/>
              <a:gd name="T81" fmla="*/ 0 h 239267"/>
              <a:gd name="T82" fmla="*/ 275618 w 6772655"/>
              <a:gd name="T83" fmla="*/ 747964 h 239267"/>
              <a:gd name="T84" fmla="*/ 275618 w 6772655"/>
              <a:gd name="T85" fmla="*/ 747964 h 239267"/>
              <a:gd name="T86" fmla="*/ 28925 w 6772655"/>
              <a:gd name="T87" fmla="*/ 5063445 h 239267"/>
              <a:gd name="T88" fmla="*/ 47198 w 6772655"/>
              <a:gd name="T89" fmla="*/ 747964 h 239267"/>
              <a:gd name="T90" fmla="*/ 38069 w 6772655"/>
              <a:gd name="T91" fmla="*/ 747964 h 239267"/>
              <a:gd name="T92" fmla="*/ 38069 w 6772655"/>
              <a:gd name="T93" fmla="*/ 747964 h 239267"/>
              <a:gd name="T94" fmla="*/ 0 w 6772655"/>
              <a:gd name="T95" fmla="*/ 6156689 h 23926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72655"/>
              <a:gd name="T145" fmla="*/ 0 h 239267"/>
              <a:gd name="T146" fmla="*/ 6772655 w 6772655"/>
              <a:gd name="T147" fmla="*/ 239267 h 23926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72655" h="239267">
                <a:moveTo>
                  <a:pt x="6772655" y="228599"/>
                </a:moveTo>
                <a:lnTo>
                  <a:pt x="6772655" y="76199"/>
                </a:lnTo>
                <a:lnTo>
                  <a:pt x="6752843" y="76199"/>
                </a:lnTo>
                <a:lnTo>
                  <a:pt x="6752843" y="228599"/>
                </a:lnTo>
                <a:lnTo>
                  <a:pt x="6772655" y="228599"/>
                </a:lnTo>
                <a:close/>
              </a:path>
              <a:path w="6772655" h="239267">
                <a:moveTo>
                  <a:pt x="6772655" y="19811"/>
                </a:moveTo>
                <a:lnTo>
                  <a:pt x="6772655" y="0"/>
                </a:lnTo>
                <a:lnTo>
                  <a:pt x="6620255" y="0"/>
                </a:lnTo>
                <a:lnTo>
                  <a:pt x="6620255" y="19811"/>
                </a:lnTo>
                <a:lnTo>
                  <a:pt x="6752843" y="19811"/>
                </a:lnTo>
                <a:lnTo>
                  <a:pt x="6752843" y="10667"/>
                </a:lnTo>
                <a:lnTo>
                  <a:pt x="6761987" y="19811"/>
                </a:lnTo>
                <a:lnTo>
                  <a:pt x="6772655" y="19811"/>
                </a:lnTo>
                <a:close/>
              </a:path>
              <a:path w="6772655" h="239267">
                <a:moveTo>
                  <a:pt x="6761987" y="19811"/>
                </a:moveTo>
                <a:lnTo>
                  <a:pt x="6752843" y="10667"/>
                </a:lnTo>
                <a:lnTo>
                  <a:pt x="6752843" y="19811"/>
                </a:lnTo>
                <a:lnTo>
                  <a:pt x="6761987" y="19811"/>
                </a:lnTo>
                <a:close/>
              </a:path>
              <a:path w="6772655" h="239267">
                <a:moveTo>
                  <a:pt x="6562343" y="19811"/>
                </a:moveTo>
                <a:lnTo>
                  <a:pt x="6562343" y="0"/>
                </a:lnTo>
                <a:lnTo>
                  <a:pt x="6409943" y="0"/>
                </a:lnTo>
                <a:lnTo>
                  <a:pt x="6409943" y="19811"/>
                </a:lnTo>
                <a:lnTo>
                  <a:pt x="6562343" y="19811"/>
                </a:lnTo>
                <a:close/>
              </a:path>
              <a:path w="6772655" h="239267">
                <a:moveTo>
                  <a:pt x="6353555" y="19811"/>
                </a:moveTo>
                <a:lnTo>
                  <a:pt x="6353555" y="0"/>
                </a:lnTo>
                <a:lnTo>
                  <a:pt x="6201155" y="0"/>
                </a:lnTo>
                <a:lnTo>
                  <a:pt x="6201155" y="19811"/>
                </a:lnTo>
                <a:lnTo>
                  <a:pt x="6353555" y="19811"/>
                </a:lnTo>
                <a:close/>
              </a:path>
              <a:path w="6772655" h="239267">
                <a:moveTo>
                  <a:pt x="6143243" y="19811"/>
                </a:moveTo>
                <a:lnTo>
                  <a:pt x="6143243" y="0"/>
                </a:lnTo>
                <a:lnTo>
                  <a:pt x="5990843" y="0"/>
                </a:lnTo>
                <a:lnTo>
                  <a:pt x="5990843" y="19811"/>
                </a:lnTo>
                <a:lnTo>
                  <a:pt x="6143243" y="19811"/>
                </a:lnTo>
                <a:close/>
              </a:path>
              <a:path w="6772655" h="239267">
                <a:moveTo>
                  <a:pt x="5934455" y="19811"/>
                </a:moveTo>
                <a:lnTo>
                  <a:pt x="5934455" y="0"/>
                </a:lnTo>
                <a:lnTo>
                  <a:pt x="5782055" y="0"/>
                </a:lnTo>
                <a:lnTo>
                  <a:pt x="5782055" y="19811"/>
                </a:lnTo>
                <a:lnTo>
                  <a:pt x="5934455" y="19811"/>
                </a:lnTo>
                <a:close/>
              </a:path>
              <a:path w="6772655" h="239267">
                <a:moveTo>
                  <a:pt x="5724143" y="19811"/>
                </a:moveTo>
                <a:lnTo>
                  <a:pt x="5724143" y="0"/>
                </a:lnTo>
                <a:lnTo>
                  <a:pt x="5571743" y="0"/>
                </a:lnTo>
                <a:lnTo>
                  <a:pt x="5571743" y="19811"/>
                </a:lnTo>
                <a:lnTo>
                  <a:pt x="5724143" y="19811"/>
                </a:lnTo>
                <a:close/>
              </a:path>
              <a:path w="6772655" h="239267">
                <a:moveTo>
                  <a:pt x="5515355" y="19811"/>
                </a:moveTo>
                <a:lnTo>
                  <a:pt x="5515355" y="0"/>
                </a:lnTo>
                <a:lnTo>
                  <a:pt x="5362955" y="0"/>
                </a:lnTo>
                <a:lnTo>
                  <a:pt x="5362955" y="19811"/>
                </a:lnTo>
                <a:lnTo>
                  <a:pt x="5515355" y="19811"/>
                </a:lnTo>
                <a:close/>
              </a:path>
              <a:path w="6772655" h="239267">
                <a:moveTo>
                  <a:pt x="5305043" y="19811"/>
                </a:moveTo>
                <a:lnTo>
                  <a:pt x="5305043" y="0"/>
                </a:lnTo>
                <a:lnTo>
                  <a:pt x="5152643" y="0"/>
                </a:lnTo>
                <a:lnTo>
                  <a:pt x="5152643" y="19811"/>
                </a:lnTo>
                <a:lnTo>
                  <a:pt x="5305043" y="19811"/>
                </a:lnTo>
                <a:close/>
              </a:path>
              <a:path w="6772655" h="239267">
                <a:moveTo>
                  <a:pt x="5096255" y="19811"/>
                </a:moveTo>
                <a:lnTo>
                  <a:pt x="5096255" y="0"/>
                </a:lnTo>
                <a:lnTo>
                  <a:pt x="4943855" y="0"/>
                </a:lnTo>
                <a:lnTo>
                  <a:pt x="4943855" y="19811"/>
                </a:lnTo>
                <a:lnTo>
                  <a:pt x="5096255" y="19811"/>
                </a:lnTo>
                <a:close/>
              </a:path>
              <a:path w="6772655" h="239267">
                <a:moveTo>
                  <a:pt x="4885943" y="19811"/>
                </a:moveTo>
                <a:lnTo>
                  <a:pt x="4885943" y="0"/>
                </a:lnTo>
                <a:lnTo>
                  <a:pt x="4733543" y="0"/>
                </a:lnTo>
                <a:lnTo>
                  <a:pt x="4733543" y="19811"/>
                </a:lnTo>
                <a:lnTo>
                  <a:pt x="4885943" y="19811"/>
                </a:lnTo>
                <a:close/>
              </a:path>
              <a:path w="6772655" h="239267">
                <a:moveTo>
                  <a:pt x="4677155" y="19811"/>
                </a:moveTo>
                <a:lnTo>
                  <a:pt x="4677155" y="0"/>
                </a:lnTo>
                <a:lnTo>
                  <a:pt x="4524755" y="0"/>
                </a:lnTo>
                <a:lnTo>
                  <a:pt x="4524755" y="19811"/>
                </a:lnTo>
                <a:lnTo>
                  <a:pt x="4677155" y="19811"/>
                </a:lnTo>
                <a:close/>
              </a:path>
              <a:path w="6772655" h="239267">
                <a:moveTo>
                  <a:pt x="4466843" y="19811"/>
                </a:moveTo>
                <a:lnTo>
                  <a:pt x="4466843" y="0"/>
                </a:lnTo>
                <a:lnTo>
                  <a:pt x="4314443" y="0"/>
                </a:lnTo>
                <a:lnTo>
                  <a:pt x="4314443" y="19811"/>
                </a:lnTo>
                <a:lnTo>
                  <a:pt x="4466843" y="19811"/>
                </a:lnTo>
                <a:close/>
              </a:path>
              <a:path w="6772655" h="239267">
                <a:moveTo>
                  <a:pt x="4258055" y="19811"/>
                </a:moveTo>
                <a:lnTo>
                  <a:pt x="4258055" y="0"/>
                </a:lnTo>
                <a:lnTo>
                  <a:pt x="4105655" y="0"/>
                </a:lnTo>
                <a:lnTo>
                  <a:pt x="4105655" y="19811"/>
                </a:lnTo>
                <a:lnTo>
                  <a:pt x="4258055" y="19811"/>
                </a:lnTo>
                <a:close/>
              </a:path>
              <a:path w="6772655" h="239267">
                <a:moveTo>
                  <a:pt x="4047743" y="19811"/>
                </a:moveTo>
                <a:lnTo>
                  <a:pt x="4047743" y="0"/>
                </a:lnTo>
                <a:lnTo>
                  <a:pt x="3895343" y="0"/>
                </a:lnTo>
                <a:lnTo>
                  <a:pt x="3895343" y="19811"/>
                </a:lnTo>
                <a:lnTo>
                  <a:pt x="4047743" y="19811"/>
                </a:lnTo>
                <a:close/>
              </a:path>
              <a:path w="6772655" h="239267">
                <a:moveTo>
                  <a:pt x="3838955" y="19811"/>
                </a:moveTo>
                <a:lnTo>
                  <a:pt x="3838955" y="0"/>
                </a:lnTo>
                <a:lnTo>
                  <a:pt x="3686555" y="0"/>
                </a:lnTo>
                <a:lnTo>
                  <a:pt x="3686555" y="19811"/>
                </a:lnTo>
                <a:lnTo>
                  <a:pt x="3838955" y="19811"/>
                </a:lnTo>
                <a:close/>
              </a:path>
              <a:path w="6772655" h="239267">
                <a:moveTo>
                  <a:pt x="3628643" y="19811"/>
                </a:moveTo>
                <a:lnTo>
                  <a:pt x="3628643" y="0"/>
                </a:lnTo>
                <a:lnTo>
                  <a:pt x="3476243" y="0"/>
                </a:lnTo>
                <a:lnTo>
                  <a:pt x="3476243" y="19811"/>
                </a:lnTo>
                <a:lnTo>
                  <a:pt x="3628643" y="19811"/>
                </a:lnTo>
                <a:close/>
              </a:path>
              <a:path w="6772655" h="239267">
                <a:moveTo>
                  <a:pt x="3419855" y="19811"/>
                </a:moveTo>
                <a:lnTo>
                  <a:pt x="3419855" y="0"/>
                </a:lnTo>
                <a:lnTo>
                  <a:pt x="3267455" y="0"/>
                </a:lnTo>
                <a:lnTo>
                  <a:pt x="3267455" y="19811"/>
                </a:lnTo>
                <a:lnTo>
                  <a:pt x="3419855" y="19811"/>
                </a:lnTo>
                <a:close/>
              </a:path>
              <a:path w="6772655" h="239267">
                <a:moveTo>
                  <a:pt x="3209543" y="19811"/>
                </a:moveTo>
                <a:lnTo>
                  <a:pt x="3209543" y="0"/>
                </a:lnTo>
                <a:lnTo>
                  <a:pt x="3057143" y="0"/>
                </a:lnTo>
                <a:lnTo>
                  <a:pt x="3057143" y="19811"/>
                </a:lnTo>
                <a:lnTo>
                  <a:pt x="3209543" y="19811"/>
                </a:lnTo>
                <a:close/>
              </a:path>
              <a:path w="6772655" h="239267">
                <a:moveTo>
                  <a:pt x="3000755" y="19811"/>
                </a:moveTo>
                <a:lnTo>
                  <a:pt x="3000755" y="0"/>
                </a:lnTo>
                <a:lnTo>
                  <a:pt x="2848355" y="0"/>
                </a:lnTo>
                <a:lnTo>
                  <a:pt x="2848355" y="19811"/>
                </a:lnTo>
                <a:lnTo>
                  <a:pt x="3000755" y="19811"/>
                </a:lnTo>
                <a:close/>
              </a:path>
              <a:path w="6772655" h="239267">
                <a:moveTo>
                  <a:pt x="2790443" y="19811"/>
                </a:moveTo>
                <a:lnTo>
                  <a:pt x="2790443" y="0"/>
                </a:lnTo>
                <a:lnTo>
                  <a:pt x="2638043" y="0"/>
                </a:lnTo>
                <a:lnTo>
                  <a:pt x="2638043" y="19811"/>
                </a:lnTo>
                <a:lnTo>
                  <a:pt x="2790443" y="19811"/>
                </a:lnTo>
                <a:close/>
              </a:path>
              <a:path w="6772655" h="239267">
                <a:moveTo>
                  <a:pt x="2581655" y="19811"/>
                </a:moveTo>
                <a:lnTo>
                  <a:pt x="2581655" y="0"/>
                </a:lnTo>
                <a:lnTo>
                  <a:pt x="2429255" y="0"/>
                </a:lnTo>
                <a:lnTo>
                  <a:pt x="2429255" y="19811"/>
                </a:lnTo>
                <a:lnTo>
                  <a:pt x="2581655" y="19811"/>
                </a:lnTo>
                <a:close/>
              </a:path>
              <a:path w="6772655" h="239267">
                <a:moveTo>
                  <a:pt x="2371343" y="19811"/>
                </a:moveTo>
                <a:lnTo>
                  <a:pt x="2371343" y="0"/>
                </a:lnTo>
                <a:lnTo>
                  <a:pt x="2218943" y="0"/>
                </a:lnTo>
                <a:lnTo>
                  <a:pt x="2218943" y="19811"/>
                </a:lnTo>
                <a:lnTo>
                  <a:pt x="2371343" y="19811"/>
                </a:lnTo>
                <a:close/>
              </a:path>
              <a:path w="6772655" h="239267">
                <a:moveTo>
                  <a:pt x="2162555" y="19811"/>
                </a:moveTo>
                <a:lnTo>
                  <a:pt x="2162555" y="0"/>
                </a:lnTo>
                <a:lnTo>
                  <a:pt x="2010155" y="0"/>
                </a:lnTo>
                <a:lnTo>
                  <a:pt x="2010155" y="19811"/>
                </a:lnTo>
                <a:lnTo>
                  <a:pt x="2162555" y="19811"/>
                </a:lnTo>
                <a:close/>
              </a:path>
              <a:path w="6772655" h="239267">
                <a:moveTo>
                  <a:pt x="1952243" y="19811"/>
                </a:moveTo>
                <a:lnTo>
                  <a:pt x="1952243" y="0"/>
                </a:lnTo>
                <a:lnTo>
                  <a:pt x="1799843" y="0"/>
                </a:lnTo>
                <a:lnTo>
                  <a:pt x="1799843" y="19811"/>
                </a:lnTo>
                <a:lnTo>
                  <a:pt x="1952243" y="19811"/>
                </a:lnTo>
                <a:close/>
              </a:path>
              <a:path w="6772655" h="239267">
                <a:moveTo>
                  <a:pt x="1743455" y="19811"/>
                </a:moveTo>
                <a:lnTo>
                  <a:pt x="1743455" y="0"/>
                </a:lnTo>
                <a:lnTo>
                  <a:pt x="1591055" y="0"/>
                </a:lnTo>
                <a:lnTo>
                  <a:pt x="1591055" y="19811"/>
                </a:lnTo>
                <a:lnTo>
                  <a:pt x="1743455" y="19811"/>
                </a:lnTo>
                <a:close/>
              </a:path>
              <a:path w="6772655" h="239267">
                <a:moveTo>
                  <a:pt x="1533143" y="19811"/>
                </a:moveTo>
                <a:lnTo>
                  <a:pt x="1533143" y="0"/>
                </a:lnTo>
                <a:lnTo>
                  <a:pt x="1380743" y="0"/>
                </a:lnTo>
                <a:lnTo>
                  <a:pt x="1380743" y="19811"/>
                </a:lnTo>
                <a:lnTo>
                  <a:pt x="1533143" y="19811"/>
                </a:lnTo>
                <a:close/>
              </a:path>
              <a:path w="6772655" h="239267">
                <a:moveTo>
                  <a:pt x="1324355" y="19811"/>
                </a:moveTo>
                <a:lnTo>
                  <a:pt x="1324355" y="0"/>
                </a:lnTo>
                <a:lnTo>
                  <a:pt x="1171955" y="0"/>
                </a:lnTo>
                <a:lnTo>
                  <a:pt x="1171955" y="19811"/>
                </a:lnTo>
                <a:lnTo>
                  <a:pt x="1324355" y="19811"/>
                </a:lnTo>
                <a:close/>
              </a:path>
              <a:path w="6772655" h="239267">
                <a:moveTo>
                  <a:pt x="1114043" y="19811"/>
                </a:moveTo>
                <a:lnTo>
                  <a:pt x="1114043" y="0"/>
                </a:lnTo>
                <a:lnTo>
                  <a:pt x="961643" y="0"/>
                </a:lnTo>
                <a:lnTo>
                  <a:pt x="961643" y="19811"/>
                </a:lnTo>
                <a:lnTo>
                  <a:pt x="1114043" y="19811"/>
                </a:lnTo>
                <a:close/>
              </a:path>
              <a:path w="6772655" h="239267">
                <a:moveTo>
                  <a:pt x="905255" y="19811"/>
                </a:moveTo>
                <a:lnTo>
                  <a:pt x="905255" y="0"/>
                </a:lnTo>
                <a:lnTo>
                  <a:pt x="752855" y="0"/>
                </a:lnTo>
                <a:lnTo>
                  <a:pt x="752855" y="19811"/>
                </a:lnTo>
                <a:lnTo>
                  <a:pt x="905255" y="19811"/>
                </a:lnTo>
                <a:close/>
              </a:path>
              <a:path w="6772655" h="239267">
                <a:moveTo>
                  <a:pt x="694943" y="19811"/>
                </a:moveTo>
                <a:lnTo>
                  <a:pt x="694943" y="0"/>
                </a:lnTo>
                <a:lnTo>
                  <a:pt x="542543" y="0"/>
                </a:lnTo>
                <a:lnTo>
                  <a:pt x="542543" y="19811"/>
                </a:lnTo>
                <a:lnTo>
                  <a:pt x="694943" y="19811"/>
                </a:lnTo>
                <a:close/>
              </a:path>
              <a:path w="6772655" h="239267">
                <a:moveTo>
                  <a:pt x="486155" y="19811"/>
                </a:moveTo>
                <a:lnTo>
                  <a:pt x="486155" y="0"/>
                </a:lnTo>
                <a:lnTo>
                  <a:pt x="333755" y="0"/>
                </a:lnTo>
                <a:lnTo>
                  <a:pt x="333755" y="19811"/>
                </a:lnTo>
                <a:lnTo>
                  <a:pt x="486155" y="19811"/>
                </a:lnTo>
                <a:close/>
              </a:path>
              <a:path w="6772655" h="239267">
                <a:moveTo>
                  <a:pt x="275843" y="19811"/>
                </a:moveTo>
                <a:lnTo>
                  <a:pt x="275843" y="0"/>
                </a:lnTo>
                <a:lnTo>
                  <a:pt x="123443" y="0"/>
                </a:lnTo>
                <a:lnTo>
                  <a:pt x="123443" y="19811"/>
                </a:lnTo>
                <a:lnTo>
                  <a:pt x="275843" y="19811"/>
                </a:lnTo>
                <a:close/>
              </a:path>
              <a:path w="6772655" h="239267">
                <a:moveTo>
                  <a:pt x="67055" y="19811"/>
                </a:moveTo>
                <a:lnTo>
                  <a:pt x="67055" y="0"/>
                </a:lnTo>
                <a:lnTo>
                  <a:pt x="28955" y="0"/>
                </a:lnTo>
                <a:lnTo>
                  <a:pt x="28955" y="134111"/>
                </a:lnTo>
                <a:lnTo>
                  <a:pt x="38099" y="134111"/>
                </a:lnTo>
                <a:lnTo>
                  <a:pt x="38099" y="19811"/>
                </a:lnTo>
                <a:lnTo>
                  <a:pt x="47243" y="10667"/>
                </a:lnTo>
                <a:lnTo>
                  <a:pt x="47243" y="19811"/>
                </a:lnTo>
                <a:lnTo>
                  <a:pt x="67055" y="19811"/>
                </a:lnTo>
                <a:close/>
              </a:path>
              <a:path w="6772655" h="239267">
                <a:moveTo>
                  <a:pt x="47243" y="19811"/>
                </a:moveTo>
                <a:lnTo>
                  <a:pt x="47243" y="10667"/>
                </a:lnTo>
                <a:lnTo>
                  <a:pt x="38099" y="19811"/>
                </a:lnTo>
                <a:lnTo>
                  <a:pt x="47243" y="19811"/>
                </a:lnTo>
                <a:close/>
              </a:path>
              <a:path w="6772655" h="239267">
                <a:moveTo>
                  <a:pt x="47243" y="134111"/>
                </a:moveTo>
                <a:lnTo>
                  <a:pt x="47243" y="19811"/>
                </a:lnTo>
                <a:lnTo>
                  <a:pt x="38099" y="19811"/>
                </a:lnTo>
                <a:lnTo>
                  <a:pt x="38099" y="134111"/>
                </a:lnTo>
                <a:lnTo>
                  <a:pt x="47243" y="134111"/>
                </a:lnTo>
                <a:close/>
              </a:path>
              <a:path w="6772655" h="239267">
                <a:moveTo>
                  <a:pt x="76199" y="163067"/>
                </a:moveTo>
                <a:lnTo>
                  <a:pt x="0" y="163067"/>
                </a:lnTo>
                <a:lnTo>
                  <a:pt x="38099" y="239267"/>
                </a:lnTo>
                <a:lnTo>
                  <a:pt x="76199" y="163067"/>
                </a:lnTo>
                <a:close/>
              </a:path>
            </a:pathLst>
          </a:custGeom>
          <a:solidFill>
            <a:srgbClr val="000000"/>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25" name="object 193"/>
          <p:cNvSpPr/>
          <p:nvPr/>
        </p:nvSpPr>
        <p:spPr bwMode="auto">
          <a:xfrm>
            <a:off x="1076325" y="2900354"/>
            <a:ext cx="6781800" cy="152400"/>
          </a:xfrm>
          <a:custGeom>
            <a:avLst/>
            <a:gdLst>
              <a:gd name="T0" fmla="*/ 6750982 w 6772655"/>
              <a:gd name="T1" fmla="*/ 3114125 h 108203"/>
              <a:gd name="T2" fmla="*/ 6872278 w 6772655"/>
              <a:gd name="T3" fmla="*/ 4930713 h 108203"/>
              <a:gd name="T4" fmla="*/ 6862949 w 6772655"/>
              <a:gd name="T5" fmla="*/ 14792408 h 108203"/>
              <a:gd name="T6" fmla="*/ 6911158 w 6772655"/>
              <a:gd name="T7" fmla="*/ 4930713 h 108203"/>
              <a:gd name="T8" fmla="*/ 6872278 w 6772655"/>
              <a:gd name="T9" fmla="*/ 3114125 h 108203"/>
              <a:gd name="T10" fmla="*/ 6862949 w 6772655"/>
              <a:gd name="T11" fmla="*/ 4930713 h 108203"/>
              <a:gd name="T12" fmla="*/ 6862949 w 6772655"/>
              <a:gd name="T13" fmla="*/ 7266355 h 108203"/>
              <a:gd name="T14" fmla="*/ 6691871 w 6772655"/>
              <a:gd name="T15" fmla="*/ 3114125 h 108203"/>
              <a:gd name="T16" fmla="*/ 6691871 w 6772655"/>
              <a:gd name="T17" fmla="*/ 3114125 h 108203"/>
              <a:gd name="T18" fmla="*/ 6323302 w 6772655"/>
              <a:gd name="T19" fmla="*/ 3114125 h 108203"/>
              <a:gd name="T20" fmla="*/ 6108692 w 6772655"/>
              <a:gd name="T21" fmla="*/ 0 h 108203"/>
              <a:gd name="T22" fmla="*/ 6051155 w 6772655"/>
              <a:gd name="T23" fmla="*/ 0 h 108203"/>
              <a:gd name="T24" fmla="*/ 5836537 w 6772655"/>
              <a:gd name="T25" fmla="*/ 3114125 h 108203"/>
              <a:gd name="T26" fmla="*/ 5836537 w 6772655"/>
              <a:gd name="T27" fmla="*/ 3114125 h 108203"/>
              <a:gd name="T28" fmla="*/ 5467960 w 6772655"/>
              <a:gd name="T29" fmla="*/ 3114125 h 108203"/>
              <a:gd name="T30" fmla="*/ 5253355 w 6772655"/>
              <a:gd name="T31" fmla="*/ 0 h 108203"/>
              <a:gd name="T32" fmla="*/ 5195805 w 6772655"/>
              <a:gd name="T33" fmla="*/ 0 h 108203"/>
              <a:gd name="T34" fmla="*/ 4981200 w 6772655"/>
              <a:gd name="T35" fmla="*/ 3114125 h 108203"/>
              <a:gd name="T36" fmla="*/ 4981200 w 6772655"/>
              <a:gd name="T37" fmla="*/ 3114125 h 108203"/>
              <a:gd name="T38" fmla="*/ 4612623 w 6772655"/>
              <a:gd name="T39" fmla="*/ 3114125 h 108203"/>
              <a:gd name="T40" fmla="*/ 4398009 w 6772655"/>
              <a:gd name="T41" fmla="*/ 0 h 108203"/>
              <a:gd name="T42" fmla="*/ 4340480 w 6772655"/>
              <a:gd name="T43" fmla="*/ 0 h 108203"/>
              <a:gd name="T44" fmla="*/ 4125857 w 6772655"/>
              <a:gd name="T45" fmla="*/ 3114125 h 108203"/>
              <a:gd name="T46" fmla="*/ 4125857 w 6772655"/>
              <a:gd name="T47" fmla="*/ 3114125 h 108203"/>
              <a:gd name="T48" fmla="*/ 3757282 w 6772655"/>
              <a:gd name="T49" fmla="*/ 3114125 h 108203"/>
              <a:gd name="T50" fmla="*/ 3542671 w 6772655"/>
              <a:gd name="T51" fmla="*/ 0 h 108203"/>
              <a:gd name="T52" fmla="*/ 3485129 w 6772655"/>
              <a:gd name="T53" fmla="*/ 0 h 108203"/>
              <a:gd name="T54" fmla="*/ 3270520 w 6772655"/>
              <a:gd name="T55" fmla="*/ 3114125 h 108203"/>
              <a:gd name="T56" fmla="*/ 3270520 w 6772655"/>
              <a:gd name="T57" fmla="*/ 3114125 h 108203"/>
              <a:gd name="T58" fmla="*/ 2901943 w 6772655"/>
              <a:gd name="T59" fmla="*/ 3114125 h 108203"/>
              <a:gd name="T60" fmla="*/ 2687329 w 6772655"/>
              <a:gd name="T61" fmla="*/ 0 h 108203"/>
              <a:gd name="T62" fmla="*/ 2629788 w 6772655"/>
              <a:gd name="T63" fmla="*/ 0 h 108203"/>
              <a:gd name="T64" fmla="*/ 2415174 w 6772655"/>
              <a:gd name="T65" fmla="*/ 3114125 h 108203"/>
              <a:gd name="T66" fmla="*/ 2415174 w 6772655"/>
              <a:gd name="T67" fmla="*/ 3114125 h 108203"/>
              <a:gd name="T68" fmla="*/ 2046604 w 6772655"/>
              <a:gd name="T69" fmla="*/ 3114125 h 108203"/>
              <a:gd name="T70" fmla="*/ 1831990 w 6772655"/>
              <a:gd name="T71" fmla="*/ 0 h 108203"/>
              <a:gd name="T72" fmla="*/ 1774449 w 6772655"/>
              <a:gd name="T73" fmla="*/ 0 h 108203"/>
              <a:gd name="T74" fmla="*/ 1559837 w 6772655"/>
              <a:gd name="T75" fmla="*/ 3114125 h 108203"/>
              <a:gd name="T76" fmla="*/ 1559837 w 6772655"/>
              <a:gd name="T77" fmla="*/ 3114125 h 108203"/>
              <a:gd name="T78" fmla="*/ 1191263 w 6772655"/>
              <a:gd name="T79" fmla="*/ 3114125 h 108203"/>
              <a:gd name="T80" fmla="*/ 976646 w 6772655"/>
              <a:gd name="T81" fmla="*/ 0 h 108203"/>
              <a:gd name="T82" fmla="*/ 919104 w 6772655"/>
              <a:gd name="T83" fmla="*/ 0 h 108203"/>
              <a:gd name="T84" fmla="*/ 704492 w 6772655"/>
              <a:gd name="T85" fmla="*/ 3114125 h 108203"/>
              <a:gd name="T86" fmla="*/ 704492 w 6772655"/>
              <a:gd name="T87" fmla="*/ 3114125 h 108203"/>
              <a:gd name="T88" fmla="*/ 335916 w 6772655"/>
              <a:gd name="T89" fmla="*/ 3114125 h 108203"/>
              <a:gd name="T90" fmla="*/ 121303 w 6772655"/>
              <a:gd name="T91" fmla="*/ 0 h 108203"/>
              <a:gd name="T92" fmla="*/ 63762 w 6772655"/>
              <a:gd name="T93" fmla="*/ 0 h 108203"/>
              <a:gd name="T94" fmla="*/ 9328 w 6772655"/>
              <a:gd name="T95" fmla="*/ 3114125 h 108203"/>
              <a:gd name="T96" fmla="*/ 20216 w 6772655"/>
              <a:gd name="T97" fmla="*/ 3114125 h 108203"/>
              <a:gd name="T98" fmla="*/ 20216 w 6772655"/>
              <a:gd name="T99" fmla="*/ 18425748 h 108203"/>
              <a:gd name="T100" fmla="*/ 20216 w 6772655"/>
              <a:gd name="T101" fmla="*/ 18425748 h 10820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772655"/>
              <a:gd name="T154" fmla="*/ 0 h 108203"/>
              <a:gd name="T155" fmla="*/ 6772655 w 6772655"/>
              <a:gd name="T156" fmla="*/ 108203 h 10820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772655" h="108203">
                <a:moveTo>
                  <a:pt x="6743699" y="28955"/>
                </a:moveTo>
                <a:lnTo>
                  <a:pt x="6743699" y="0"/>
                </a:lnTo>
                <a:lnTo>
                  <a:pt x="6615683" y="0"/>
                </a:lnTo>
                <a:lnTo>
                  <a:pt x="6615683" y="18287"/>
                </a:lnTo>
                <a:lnTo>
                  <a:pt x="6725411" y="18287"/>
                </a:lnTo>
                <a:lnTo>
                  <a:pt x="6725411" y="9143"/>
                </a:lnTo>
                <a:lnTo>
                  <a:pt x="6734555" y="18287"/>
                </a:lnTo>
                <a:lnTo>
                  <a:pt x="6734555" y="28955"/>
                </a:lnTo>
                <a:lnTo>
                  <a:pt x="6743699" y="28955"/>
                </a:lnTo>
                <a:close/>
              </a:path>
              <a:path w="6772655" h="108203">
                <a:moveTo>
                  <a:pt x="6772655" y="28955"/>
                </a:moveTo>
                <a:lnTo>
                  <a:pt x="6696455" y="28955"/>
                </a:lnTo>
                <a:lnTo>
                  <a:pt x="6725411" y="86867"/>
                </a:lnTo>
                <a:lnTo>
                  <a:pt x="6725411" y="42671"/>
                </a:lnTo>
                <a:lnTo>
                  <a:pt x="6743699" y="42671"/>
                </a:lnTo>
                <a:lnTo>
                  <a:pt x="6743699" y="86867"/>
                </a:lnTo>
                <a:lnTo>
                  <a:pt x="6772655" y="28955"/>
                </a:lnTo>
                <a:close/>
              </a:path>
              <a:path w="6772655" h="108203">
                <a:moveTo>
                  <a:pt x="6734555" y="18287"/>
                </a:moveTo>
                <a:lnTo>
                  <a:pt x="6725411" y="9143"/>
                </a:lnTo>
                <a:lnTo>
                  <a:pt x="6725411" y="18287"/>
                </a:lnTo>
                <a:lnTo>
                  <a:pt x="6734555" y="18287"/>
                </a:lnTo>
                <a:close/>
              </a:path>
              <a:path w="6772655" h="108203">
                <a:moveTo>
                  <a:pt x="6734555" y="28955"/>
                </a:moveTo>
                <a:lnTo>
                  <a:pt x="6734555" y="18287"/>
                </a:lnTo>
                <a:lnTo>
                  <a:pt x="6725411" y="18287"/>
                </a:lnTo>
                <a:lnTo>
                  <a:pt x="6725411" y="28955"/>
                </a:lnTo>
                <a:lnTo>
                  <a:pt x="6734555" y="28955"/>
                </a:lnTo>
                <a:close/>
              </a:path>
              <a:path w="6772655" h="108203">
                <a:moveTo>
                  <a:pt x="6743699" y="86867"/>
                </a:moveTo>
                <a:lnTo>
                  <a:pt x="6743699" y="42671"/>
                </a:lnTo>
                <a:lnTo>
                  <a:pt x="6725411" y="42671"/>
                </a:lnTo>
                <a:lnTo>
                  <a:pt x="6725411" y="86867"/>
                </a:lnTo>
                <a:lnTo>
                  <a:pt x="6734555" y="105155"/>
                </a:lnTo>
                <a:lnTo>
                  <a:pt x="6743699" y="86867"/>
                </a:lnTo>
                <a:close/>
              </a:path>
              <a:path w="6772655" h="108203">
                <a:moveTo>
                  <a:pt x="6557771" y="18287"/>
                </a:moveTo>
                <a:lnTo>
                  <a:pt x="6557771" y="0"/>
                </a:lnTo>
                <a:lnTo>
                  <a:pt x="6405371" y="0"/>
                </a:lnTo>
                <a:lnTo>
                  <a:pt x="6405371" y="18287"/>
                </a:lnTo>
                <a:lnTo>
                  <a:pt x="6557771" y="18287"/>
                </a:lnTo>
                <a:close/>
              </a:path>
              <a:path w="6772655" h="108203">
                <a:moveTo>
                  <a:pt x="6348983" y="18287"/>
                </a:moveTo>
                <a:lnTo>
                  <a:pt x="6348983" y="0"/>
                </a:lnTo>
                <a:lnTo>
                  <a:pt x="6196583" y="0"/>
                </a:lnTo>
                <a:lnTo>
                  <a:pt x="6196583" y="18287"/>
                </a:lnTo>
                <a:lnTo>
                  <a:pt x="6348983" y="18287"/>
                </a:lnTo>
                <a:close/>
              </a:path>
              <a:path w="6772655" h="108203">
                <a:moveTo>
                  <a:pt x="6138671" y="18287"/>
                </a:moveTo>
                <a:lnTo>
                  <a:pt x="6138671" y="0"/>
                </a:lnTo>
                <a:lnTo>
                  <a:pt x="5986271" y="0"/>
                </a:lnTo>
                <a:lnTo>
                  <a:pt x="5986271" y="18287"/>
                </a:lnTo>
                <a:lnTo>
                  <a:pt x="6138671" y="18287"/>
                </a:lnTo>
                <a:close/>
              </a:path>
              <a:path w="6772655" h="108203">
                <a:moveTo>
                  <a:pt x="5929883" y="18287"/>
                </a:moveTo>
                <a:lnTo>
                  <a:pt x="5929883" y="0"/>
                </a:lnTo>
                <a:lnTo>
                  <a:pt x="5777483" y="0"/>
                </a:lnTo>
                <a:lnTo>
                  <a:pt x="5777483" y="18287"/>
                </a:lnTo>
                <a:lnTo>
                  <a:pt x="5929883" y="18287"/>
                </a:lnTo>
                <a:close/>
              </a:path>
              <a:path w="6772655" h="108203">
                <a:moveTo>
                  <a:pt x="5719571" y="18287"/>
                </a:moveTo>
                <a:lnTo>
                  <a:pt x="5719571" y="0"/>
                </a:lnTo>
                <a:lnTo>
                  <a:pt x="5567171" y="0"/>
                </a:lnTo>
                <a:lnTo>
                  <a:pt x="5567171" y="18287"/>
                </a:lnTo>
                <a:lnTo>
                  <a:pt x="5719571" y="18287"/>
                </a:lnTo>
                <a:close/>
              </a:path>
              <a:path w="6772655" h="108203">
                <a:moveTo>
                  <a:pt x="5510783" y="18287"/>
                </a:moveTo>
                <a:lnTo>
                  <a:pt x="5510783" y="0"/>
                </a:lnTo>
                <a:lnTo>
                  <a:pt x="5358383" y="0"/>
                </a:lnTo>
                <a:lnTo>
                  <a:pt x="5358383" y="18287"/>
                </a:lnTo>
                <a:lnTo>
                  <a:pt x="5510783" y="18287"/>
                </a:lnTo>
                <a:close/>
              </a:path>
              <a:path w="6772655" h="108203">
                <a:moveTo>
                  <a:pt x="5300471" y="18287"/>
                </a:moveTo>
                <a:lnTo>
                  <a:pt x="5300471" y="0"/>
                </a:lnTo>
                <a:lnTo>
                  <a:pt x="5148071" y="0"/>
                </a:lnTo>
                <a:lnTo>
                  <a:pt x="5148071" y="18287"/>
                </a:lnTo>
                <a:lnTo>
                  <a:pt x="5300471" y="18287"/>
                </a:lnTo>
                <a:close/>
              </a:path>
              <a:path w="6772655" h="108203">
                <a:moveTo>
                  <a:pt x="5091683" y="18287"/>
                </a:moveTo>
                <a:lnTo>
                  <a:pt x="5091683" y="0"/>
                </a:lnTo>
                <a:lnTo>
                  <a:pt x="4939283" y="0"/>
                </a:lnTo>
                <a:lnTo>
                  <a:pt x="4939283" y="18287"/>
                </a:lnTo>
                <a:lnTo>
                  <a:pt x="5091683" y="18287"/>
                </a:lnTo>
                <a:close/>
              </a:path>
              <a:path w="6772655" h="108203">
                <a:moveTo>
                  <a:pt x="4881371" y="18287"/>
                </a:moveTo>
                <a:lnTo>
                  <a:pt x="4881371" y="0"/>
                </a:lnTo>
                <a:lnTo>
                  <a:pt x="4728971" y="0"/>
                </a:lnTo>
                <a:lnTo>
                  <a:pt x="4728971" y="18287"/>
                </a:lnTo>
                <a:lnTo>
                  <a:pt x="4881371" y="18287"/>
                </a:lnTo>
                <a:close/>
              </a:path>
              <a:path w="6772655" h="108203">
                <a:moveTo>
                  <a:pt x="4672583" y="18287"/>
                </a:moveTo>
                <a:lnTo>
                  <a:pt x="4672583" y="0"/>
                </a:lnTo>
                <a:lnTo>
                  <a:pt x="4520183" y="0"/>
                </a:lnTo>
                <a:lnTo>
                  <a:pt x="4520183" y="18287"/>
                </a:lnTo>
                <a:lnTo>
                  <a:pt x="4672583" y="18287"/>
                </a:lnTo>
                <a:close/>
              </a:path>
              <a:path w="6772655" h="108203">
                <a:moveTo>
                  <a:pt x="4462271" y="18287"/>
                </a:moveTo>
                <a:lnTo>
                  <a:pt x="4462271" y="0"/>
                </a:lnTo>
                <a:lnTo>
                  <a:pt x="4309871" y="0"/>
                </a:lnTo>
                <a:lnTo>
                  <a:pt x="4309871" y="18287"/>
                </a:lnTo>
                <a:lnTo>
                  <a:pt x="4462271" y="18287"/>
                </a:lnTo>
                <a:close/>
              </a:path>
              <a:path w="6772655" h="108203">
                <a:moveTo>
                  <a:pt x="4253483" y="18287"/>
                </a:moveTo>
                <a:lnTo>
                  <a:pt x="4253483" y="0"/>
                </a:lnTo>
                <a:lnTo>
                  <a:pt x="4101083" y="0"/>
                </a:lnTo>
                <a:lnTo>
                  <a:pt x="4101083" y="18287"/>
                </a:lnTo>
                <a:lnTo>
                  <a:pt x="4253483" y="18287"/>
                </a:lnTo>
                <a:close/>
              </a:path>
              <a:path w="6772655" h="108203">
                <a:moveTo>
                  <a:pt x="4043171" y="18287"/>
                </a:moveTo>
                <a:lnTo>
                  <a:pt x="4043171" y="0"/>
                </a:lnTo>
                <a:lnTo>
                  <a:pt x="3890771" y="0"/>
                </a:lnTo>
                <a:lnTo>
                  <a:pt x="3890771" y="18287"/>
                </a:lnTo>
                <a:lnTo>
                  <a:pt x="4043171" y="18287"/>
                </a:lnTo>
                <a:close/>
              </a:path>
              <a:path w="6772655" h="108203">
                <a:moveTo>
                  <a:pt x="3834383" y="18287"/>
                </a:moveTo>
                <a:lnTo>
                  <a:pt x="3834383" y="0"/>
                </a:lnTo>
                <a:lnTo>
                  <a:pt x="3681983" y="0"/>
                </a:lnTo>
                <a:lnTo>
                  <a:pt x="3681983" y="18287"/>
                </a:lnTo>
                <a:lnTo>
                  <a:pt x="3834383" y="18287"/>
                </a:lnTo>
                <a:close/>
              </a:path>
              <a:path w="6772655" h="108203">
                <a:moveTo>
                  <a:pt x="3624071" y="18287"/>
                </a:moveTo>
                <a:lnTo>
                  <a:pt x="3624071" y="0"/>
                </a:lnTo>
                <a:lnTo>
                  <a:pt x="3471671" y="0"/>
                </a:lnTo>
                <a:lnTo>
                  <a:pt x="3471671" y="18287"/>
                </a:lnTo>
                <a:lnTo>
                  <a:pt x="3624071" y="18287"/>
                </a:lnTo>
                <a:close/>
              </a:path>
              <a:path w="6772655" h="108203">
                <a:moveTo>
                  <a:pt x="3415283" y="18287"/>
                </a:moveTo>
                <a:lnTo>
                  <a:pt x="3415283" y="0"/>
                </a:lnTo>
                <a:lnTo>
                  <a:pt x="3262883" y="0"/>
                </a:lnTo>
                <a:lnTo>
                  <a:pt x="3262883" y="18287"/>
                </a:lnTo>
                <a:lnTo>
                  <a:pt x="3415283" y="18287"/>
                </a:lnTo>
                <a:close/>
              </a:path>
              <a:path w="6772655" h="108203">
                <a:moveTo>
                  <a:pt x="3204971" y="18287"/>
                </a:moveTo>
                <a:lnTo>
                  <a:pt x="3204971" y="0"/>
                </a:lnTo>
                <a:lnTo>
                  <a:pt x="3052571" y="0"/>
                </a:lnTo>
                <a:lnTo>
                  <a:pt x="3052571" y="18287"/>
                </a:lnTo>
                <a:lnTo>
                  <a:pt x="3204971" y="18287"/>
                </a:lnTo>
                <a:close/>
              </a:path>
              <a:path w="6772655" h="108203">
                <a:moveTo>
                  <a:pt x="2996183" y="18287"/>
                </a:moveTo>
                <a:lnTo>
                  <a:pt x="2996183" y="0"/>
                </a:lnTo>
                <a:lnTo>
                  <a:pt x="2843783" y="0"/>
                </a:lnTo>
                <a:lnTo>
                  <a:pt x="2843783" y="18287"/>
                </a:lnTo>
                <a:lnTo>
                  <a:pt x="2996183" y="18287"/>
                </a:lnTo>
                <a:close/>
              </a:path>
              <a:path w="6772655" h="108203">
                <a:moveTo>
                  <a:pt x="2785871" y="18287"/>
                </a:moveTo>
                <a:lnTo>
                  <a:pt x="2785871" y="0"/>
                </a:lnTo>
                <a:lnTo>
                  <a:pt x="2633471" y="0"/>
                </a:lnTo>
                <a:lnTo>
                  <a:pt x="2633471" y="18287"/>
                </a:lnTo>
                <a:lnTo>
                  <a:pt x="2785871" y="18287"/>
                </a:lnTo>
                <a:close/>
              </a:path>
              <a:path w="6772655" h="108203">
                <a:moveTo>
                  <a:pt x="2577083" y="18287"/>
                </a:moveTo>
                <a:lnTo>
                  <a:pt x="2577083" y="0"/>
                </a:lnTo>
                <a:lnTo>
                  <a:pt x="2424683" y="0"/>
                </a:lnTo>
                <a:lnTo>
                  <a:pt x="2424683" y="18287"/>
                </a:lnTo>
                <a:lnTo>
                  <a:pt x="2577083" y="18287"/>
                </a:lnTo>
                <a:close/>
              </a:path>
              <a:path w="6772655" h="108203">
                <a:moveTo>
                  <a:pt x="2366771" y="18287"/>
                </a:moveTo>
                <a:lnTo>
                  <a:pt x="2366771" y="0"/>
                </a:lnTo>
                <a:lnTo>
                  <a:pt x="2214371" y="0"/>
                </a:lnTo>
                <a:lnTo>
                  <a:pt x="2214371" y="18287"/>
                </a:lnTo>
                <a:lnTo>
                  <a:pt x="2366771" y="18287"/>
                </a:lnTo>
                <a:close/>
              </a:path>
              <a:path w="6772655" h="108203">
                <a:moveTo>
                  <a:pt x="2157983" y="18287"/>
                </a:moveTo>
                <a:lnTo>
                  <a:pt x="2157983" y="0"/>
                </a:lnTo>
                <a:lnTo>
                  <a:pt x="2005583" y="0"/>
                </a:lnTo>
                <a:lnTo>
                  <a:pt x="2005583" y="18287"/>
                </a:lnTo>
                <a:lnTo>
                  <a:pt x="2157983" y="18287"/>
                </a:lnTo>
                <a:close/>
              </a:path>
              <a:path w="6772655" h="108203">
                <a:moveTo>
                  <a:pt x="1947671" y="18287"/>
                </a:moveTo>
                <a:lnTo>
                  <a:pt x="1947671" y="0"/>
                </a:lnTo>
                <a:lnTo>
                  <a:pt x="1795271" y="0"/>
                </a:lnTo>
                <a:lnTo>
                  <a:pt x="1795271" y="18287"/>
                </a:lnTo>
                <a:lnTo>
                  <a:pt x="1947671" y="18287"/>
                </a:lnTo>
                <a:close/>
              </a:path>
              <a:path w="6772655" h="108203">
                <a:moveTo>
                  <a:pt x="1738883" y="18287"/>
                </a:moveTo>
                <a:lnTo>
                  <a:pt x="1738883" y="0"/>
                </a:lnTo>
                <a:lnTo>
                  <a:pt x="1586483" y="0"/>
                </a:lnTo>
                <a:lnTo>
                  <a:pt x="1586483" y="18287"/>
                </a:lnTo>
                <a:lnTo>
                  <a:pt x="1738883" y="18287"/>
                </a:lnTo>
                <a:close/>
              </a:path>
              <a:path w="6772655" h="108203">
                <a:moveTo>
                  <a:pt x="1528571" y="18287"/>
                </a:moveTo>
                <a:lnTo>
                  <a:pt x="1528571" y="0"/>
                </a:lnTo>
                <a:lnTo>
                  <a:pt x="1376171" y="0"/>
                </a:lnTo>
                <a:lnTo>
                  <a:pt x="1376171" y="18287"/>
                </a:lnTo>
                <a:lnTo>
                  <a:pt x="1528571" y="18287"/>
                </a:lnTo>
                <a:close/>
              </a:path>
              <a:path w="6772655" h="108203">
                <a:moveTo>
                  <a:pt x="1319783" y="18287"/>
                </a:moveTo>
                <a:lnTo>
                  <a:pt x="1319783" y="0"/>
                </a:lnTo>
                <a:lnTo>
                  <a:pt x="1167383" y="0"/>
                </a:lnTo>
                <a:lnTo>
                  <a:pt x="1167383" y="18287"/>
                </a:lnTo>
                <a:lnTo>
                  <a:pt x="1319783" y="18287"/>
                </a:lnTo>
                <a:close/>
              </a:path>
              <a:path w="6772655" h="108203">
                <a:moveTo>
                  <a:pt x="1109471" y="18287"/>
                </a:moveTo>
                <a:lnTo>
                  <a:pt x="1109471" y="0"/>
                </a:lnTo>
                <a:lnTo>
                  <a:pt x="957071" y="0"/>
                </a:lnTo>
                <a:lnTo>
                  <a:pt x="957071" y="18287"/>
                </a:lnTo>
                <a:lnTo>
                  <a:pt x="1109471" y="18287"/>
                </a:lnTo>
                <a:close/>
              </a:path>
              <a:path w="6772655" h="108203">
                <a:moveTo>
                  <a:pt x="900683" y="18287"/>
                </a:moveTo>
                <a:lnTo>
                  <a:pt x="900683" y="0"/>
                </a:lnTo>
                <a:lnTo>
                  <a:pt x="748283" y="0"/>
                </a:lnTo>
                <a:lnTo>
                  <a:pt x="748283" y="18287"/>
                </a:lnTo>
                <a:lnTo>
                  <a:pt x="900683" y="18287"/>
                </a:lnTo>
                <a:close/>
              </a:path>
              <a:path w="6772655" h="108203">
                <a:moveTo>
                  <a:pt x="690371" y="18287"/>
                </a:moveTo>
                <a:lnTo>
                  <a:pt x="690371" y="0"/>
                </a:lnTo>
                <a:lnTo>
                  <a:pt x="537971" y="0"/>
                </a:lnTo>
                <a:lnTo>
                  <a:pt x="537971" y="18287"/>
                </a:lnTo>
                <a:lnTo>
                  <a:pt x="690371" y="18287"/>
                </a:lnTo>
                <a:close/>
              </a:path>
              <a:path w="6772655" h="108203">
                <a:moveTo>
                  <a:pt x="481583" y="18287"/>
                </a:moveTo>
                <a:lnTo>
                  <a:pt x="481583" y="0"/>
                </a:lnTo>
                <a:lnTo>
                  <a:pt x="329183" y="0"/>
                </a:lnTo>
                <a:lnTo>
                  <a:pt x="329183" y="18287"/>
                </a:lnTo>
                <a:lnTo>
                  <a:pt x="481583" y="18287"/>
                </a:lnTo>
                <a:close/>
              </a:path>
              <a:path w="6772655" h="108203">
                <a:moveTo>
                  <a:pt x="271271" y="18287"/>
                </a:moveTo>
                <a:lnTo>
                  <a:pt x="271271" y="0"/>
                </a:lnTo>
                <a:lnTo>
                  <a:pt x="118871" y="0"/>
                </a:lnTo>
                <a:lnTo>
                  <a:pt x="118871" y="18287"/>
                </a:lnTo>
                <a:lnTo>
                  <a:pt x="271271" y="18287"/>
                </a:lnTo>
                <a:close/>
              </a:path>
              <a:path w="6772655" h="108203">
                <a:moveTo>
                  <a:pt x="62483" y="18287"/>
                </a:moveTo>
                <a:lnTo>
                  <a:pt x="62483" y="0"/>
                </a:lnTo>
                <a:lnTo>
                  <a:pt x="0" y="0"/>
                </a:lnTo>
                <a:lnTo>
                  <a:pt x="0" y="108203"/>
                </a:lnTo>
                <a:lnTo>
                  <a:pt x="9143" y="108203"/>
                </a:lnTo>
                <a:lnTo>
                  <a:pt x="9143" y="18287"/>
                </a:lnTo>
                <a:lnTo>
                  <a:pt x="19811" y="9143"/>
                </a:lnTo>
                <a:lnTo>
                  <a:pt x="19811" y="18287"/>
                </a:lnTo>
                <a:lnTo>
                  <a:pt x="62483" y="18287"/>
                </a:lnTo>
                <a:close/>
              </a:path>
              <a:path w="6772655" h="108203">
                <a:moveTo>
                  <a:pt x="19811" y="18287"/>
                </a:moveTo>
                <a:lnTo>
                  <a:pt x="19811" y="9143"/>
                </a:lnTo>
                <a:lnTo>
                  <a:pt x="9143" y="18287"/>
                </a:lnTo>
                <a:lnTo>
                  <a:pt x="19811" y="18287"/>
                </a:lnTo>
                <a:close/>
              </a:path>
              <a:path w="6772655" h="108203">
                <a:moveTo>
                  <a:pt x="19811" y="108203"/>
                </a:moveTo>
                <a:lnTo>
                  <a:pt x="19811" y="18287"/>
                </a:lnTo>
                <a:lnTo>
                  <a:pt x="9143" y="18287"/>
                </a:lnTo>
                <a:lnTo>
                  <a:pt x="9143" y="108203"/>
                </a:lnTo>
                <a:lnTo>
                  <a:pt x="19811" y="108203"/>
                </a:lnTo>
                <a:close/>
              </a:path>
            </a:pathLst>
          </a:custGeom>
          <a:solidFill>
            <a:srgbClr val="000000"/>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26" name="object 194"/>
          <p:cNvSpPr/>
          <p:nvPr/>
        </p:nvSpPr>
        <p:spPr bwMode="auto">
          <a:xfrm>
            <a:off x="1152525" y="4652954"/>
            <a:ext cx="6772275" cy="228600"/>
          </a:xfrm>
          <a:custGeom>
            <a:avLst/>
            <a:gdLst>
              <a:gd name="T0" fmla="*/ 6740974 w 6771131"/>
              <a:gd name="T1" fmla="*/ 33708552 h 160019"/>
              <a:gd name="T2" fmla="*/ 6750131 w 6771131"/>
              <a:gd name="T3" fmla="*/ 1926052 h 160019"/>
              <a:gd name="T4" fmla="*/ 6760833 w 6771131"/>
              <a:gd name="T5" fmla="*/ 15409502 h 160019"/>
              <a:gd name="T6" fmla="*/ 6760833 w 6771131"/>
              <a:gd name="T7" fmla="*/ 15409502 h 160019"/>
              <a:gd name="T8" fmla="*/ 6760833 w 6771131"/>
              <a:gd name="T9" fmla="*/ 33708552 h 160019"/>
              <a:gd name="T10" fmla="*/ 6750131 w 6771131"/>
              <a:gd name="T11" fmla="*/ 29856118 h 160019"/>
              <a:gd name="T12" fmla="*/ 6750131 w 6771131"/>
              <a:gd name="T13" fmla="*/ 29856118 h 160019"/>
              <a:gd name="T14" fmla="*/ 6618741 w 6771131"/>
              <a:gd name="T15" fmla="*/ 33708552 h 160019"/>
              <a:gd name="T16" fmla="*/ 6618741 w 6771131"/>
              <a:gd name="T17" fmla="*/ 33708552 h 160019"/>
              <a:gd name="T18" fmla="*/ 6255096 w 6771131"/>
              <a:gd name="T19" fmla="*/ 33708552 h 160019"/>
              <a:gd name="T20" fmla="*/ 6045780 w 6771131"/>
              <a:gd name="T21" fmla="*/ 29856118 h 160019"/>
              <a:gd name="T22" fmla="*/ 5987734 w 6771131"/>
              <a:gd name="T23" fmla="*/ 29856118 h 160019"/>
              <a:gd name="T24" fmla="*/ 5778407 w 6771131"/>
              <a:gd name="T25" fmla="*/ 33708552 h 160019"/>
              <a:gd name="T26" fmla="*/ 5778407 w 6771131"/>
              <a:gd name="T27" fmla="*/ 33708552 h 160019"/>
              <a:gd name="T28" fmla="*/ 5414785 w 6771131"/>
              <a:gd name="T29" fmla="*/ 33708552 h 160019"/>
              <a:gd name="T30" fmla="*/ 5205466 w 6771131"/>
              <a:gd name="T31" fmla="*/ 29856118 h 160019"/>
              <a:gd name="T32" fmla="*/ 5147396 w 6771131"/>
              <a:gd name="T33" fmla="*/ 29856118 h 160019"/>
              <a:gd name="T34" fmla="*/ 4938085 w 6771131"/>
              <a:gd name="T35" fmla="*/ 33708552 h 160019"/>
              <a:gd name="T36" fmla="*/ 4938085 w 6771131"/>
              <a:gd name="T37" fmla="*/ 33708552 h 160019"/>
              <a:gd name="T38" fmla="*/ 4574435 w 6771131"/>
              <a:gd name="T39" fmla="*/ 33708552 h 160019"/>
              <a:gd name="T40" fmla="*/ 4365124 w 6771131"/>
              <a:gd name="T41" fmla="*/ 29856118 h 160019"/>
              <a:gd name="T42" fmla="*/ 4307074 w 6771131"/>
              <a:gd name="T43" fmla="*/ 29856118 h 160019"/>
              <a:gd name="T44" fmla="*/ 4097752 w 6771131"/>
              <a:gd name="T45" fmla="*/ 33708552 h 160019"/>
              <a:gd name="T46" fmla="*/ 4097752 w 6771131"/>
              <a:gd name="T47" fmla="*/ 33708552 h 160019"/>
              <a:gd name="T48" fmla="*/ 3734120 w 6771131"/>
              <a:gd name="T49" fmla="*/ 33708552 h 160019"/>
              <a:gd name="T50" fmla="*/ 3524807 w 6771131"/>
              <a:gd name="T51" fmla="*/ 29856118 h 160019"/>
              <a:gd name="T52" fmla="*/ 3466745 w 6771131"/>
              <a:gd name="T53" fmla="*/ 29856118 h 160019"/>
              <a:gd name="T54" fmla="*/ 3257422 w 6771131"/>
              <a:gd name="T55" fmla="*/ 33708552 h 160019"/>
              <a:gd name="T56" fmla="*/ 3257422 w 6771131"/>
              <a:gd name="T57" fmla="*/ 33708552 h 160019"/>
              <a:gd name="T58" fmla="*/ 2893794 w 6771131"/>
              <a:gd name="T59" fmla="*/ 33708552 h 160019"/>
              <a:gd name="T60" fmla="*/ 2684477 w 6771131"/>
              <a:gd name="T61" fmla="*/ 29856118 h 160019"/>
              <a:gd name="T62" fmla="*/ 2626415 w 6771131"/>
              <a:gd name="T63" fmla="*/ 29856118 h 160019"/>
              <a:gd name="T64" fmla="*/ 2417092 w 6771131"/>
              <a:gd name="T65" fmla="*/ 33708552 h 160019"/>
              <a:gd name="T66" fmla="*/ 2417092 w 6771131"/>
              <a:gd name="T67" fmla="*/ 33708552 h 160019"/>
              <a:gd name="T68" fmla="*/ 2053464 w 6771131"/>
              <a:gd name="T69" fmla="*/ 33708552 h 160019"/>
              <a:gd name="T70" fmla="*/ 1844147 w 6771131"/>
              <a:gd name="T71" fmla="*/ 29856118 h 160019"/>
              <a:gd name="T72" fmla="*/ 1786085 w 6771131"/>
              <a:gd name="T73" fmla="*/ 29856118 h 160019"/>
              <a:gd name="T74" fmla="*/ 1576771 w 6771131"/>
              <a:gd name="T75" fmla="*/ 33708552 h 160019"/>
              <a:gd name="T76" fmla="*/ 1576771 w 6771131"/>
              <a:gd name="T77" fmla="*/ 33708552 h 160019"/>
              <a:gd name="T78" fmla="*/ 1213134 w 6771131"/>
              <a:gd name="T79" fmla="*/ 33708552 h 160019"/>
              <a:gd name="T80" fmla="*/ 1003817 w 6771131"/>
              <a:gd name="T81" fmla="*/ 29856118 h 160019"/>
              <a:gd name="T82" fmla="*/ 945755 w 6771131"/>
              <a:gd name="T83" fmla="*/ 29856118 h 160019"/>
              <a:gd name="T84" fmla="*/ 736440 w 6771131"/>
              <a:gd name="T85" fmla="*/ 33708552 h 160019"/>
              <a:gd name="T86" fmla="*/ 736440 w 6771131"/>
              <a:gd name="T87" fmla="*/ 33708552 h 160019"/>
              <a:gd name="T88" fmla="*/ 372800 w 6771131"/>
              <a:gd name="T89" fmla="*/ 33708552 h 160019"/>
              <a:gd name="T90" fmla="*/ 163487 w 6771131"/>
              <a:gd name="T91" fmla="*/ 29856118 h 160019"/>
              <a:gd name="T92" fmla="*/ 18332 w 6771131"/>
              <a:gd name="T93" fmla="*/ 19903997 h 160019"/>
              <a:gd name="T94" fmla="*/ 9173 w 6771131"/>
              <a:gd name="T95" fmla="*/ 29856118 h 160019"/>
              <a:gd name="T96" fmla="*/ 9173 w 6771131"/>
              <a:gd name="T97" fmla="*/ 29856118 h 160019"/>
              <a:gd name="T98" fmla="*/ 18332 w 6771131"/>
              <a:gd name="T99" fmla="*/ 33708552 h 160019"/>
              <a:gd name="T100" fmla="*/ 18332 w 6771131"/>
              <a:gd name="T101" fmla="*/ 33708552 h 160019"/>
              <a:gd name="T102" fmla="*/ 0 w 6771131"/>
              <a:gd name="T103" fmla="*/ 8025576 h 16001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6771131"/>
              <a:gd name="T157" fmla="*/ 0 h 160019"/>
              <a:gd name="T158" fmla="*/ 6771131 w 6771131"/>
              <a:gd name="T159" fmla="*/ 160019 h 16001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6771131" h="160019">
                <a:moveTo>
                  <a:pt x="6733031" y="141731"/>
                </a:moveTo>
                <a:lnTo>
                  <a:pt x="6658355" y="141731"/>
                </a:lnTo>
                <a:lnTo>
                  <a:pt x="6658355" y="160019"/>
                </a:lnTo>
                <a:lnTo>
                  <a:pt x="6723887" y="160019"/>
                </a:lnTo>
                <a:lnTo>
                  <a:pt x="6723887" y="150875"/>
                </a:lnTo>
                <a:lnTo>
                  <a:pt x="6733031" y="141731"/>
                </a:lnTo>
                <a:close/>
              </a:path>
              <a:path w="6771131" h="160019">
                <a:moveTo>
                  <a:pt x="6771131" y="85343"/>
                </a:moveTo>
                <a:lnTo>
                  <a:pt x="6733031" y="9143"/>
                </a:lnTo>
                <a:lnTo>
                  <a:pt x="6694931" y="85343"/>
                </a:lnTo>
                <a:lnTo>
                  <a:pt x="6723887" y="85343"/>
                </a:lnTo>
                <a:lnTo>
                  <a:pt x="6723887" y="73151"/>
                </a:lnTo>
                <a:lnTo>
                  <a:pt x="6743699" y="73151"/>
                </a:lnTo>
                <a:lnTo>
                  <a:pt x="6743699" y="85343"/>
                </a:lnTo>
                <a:lnTo>
                  <a:pt x="6771131" y="85343"/>
                </a:lnTo>
                <a:close/>
              </a:path>
              <a:path w="6771131" h="160019">
                <a:moveTo>
                  <a:pt x="6743699" y="85343"/>
                </a:moveTo>
                <a:lnTo>
                  <a:pt x="6743699" y="73151"/>
                </a:lnTo>
                <a:lnTo>
                  <a:pt x="6723887" y="73151"/>
                </a:lnTo>
                <a:lnTo>
                  <a:pt x="6723887" y="85343"/>
                </a:lnTo>
                <a:lnTo>
                  <a:pt x="6743699" y="85343"/>
                </a:lnTo>
                <a:close/>
              </a:path>
              <a:path w="6771131" h="160019">
                <a:moveTo>
                  <a:pt x="6743699" y="160019"/>
                </a:moveTo>
                <a:lnTo>
                  <a:pt x="6743699" y="85343"/>
                </a:lnTo>
                <a:lnTo>
                  <a:pt x="6723887" y="85343"/>
                </a:lnTo>
                <a:lnTo>
                  <a:pt x="6723887" y="141731"/>
                </a:lnTo>
                <a:lnTo>
                  <a:pt x="6733031" y="141731"/>
                </a:lnTo>
                <a:lnTo>
                  <a:pt x="6733031" y="160019"/>
                </a:lnTo>
                <a:lnTo>
                  <a:pt x="6743699" y="160019"/>
                </a:lnTo>
                <a:close/>
              </a:path>
              <a:path w="6771131" h="160019">
                <a:moveTo>
                  <a:pt x="6733031" y="160019"/>
                </a:moveTo>
                <a:lnTo>
                  <a:pt x="6733031" y="141731"/>
                </a:lnTo>
                <a:lnTo>
                  <a:pt x="6723887" y="150875"/>
                </a:lnTo>
                <a:lnTo>
                  <a:pt x="6723887" y="160019"/>
                </a:lnTo>
                <a:lnTo>
                  <a:pt x="6733031" y="160019"/>
                </a:lnTo>
                <a:close/>
              </a:path>
              <a:path w="6771131" h="160019">
                <a:moveTo>
                  <a:pt x="6601967" y="160019"/>
                </a:moveTo>
                <a:lnTo>
                  <a:pt x="6601967" y="141731"/>
                </a:lnTo>
                <a:lnTo>
                  <a:pt x="6449567" y="141731"/>
                </a:lnTo>
                <a:lnTo>
                  <a:pt x="6449567" y="160019"/>
                </a:lnTo>
                <a:lnTo>
                  <a:pt x="6601967" y="160019"/>
                </a:lnTo>
                <a:close/>
              </a:path>
              <a:path w="6771131" h="160019">
                <a:moveTo>
                  <a:pt x="6391655" y="160019"/>
                </a:moveTo>
                <a:lnTo>
                  <a:pt x="6391655" y="141731"/>
                </a:lnTo>
                <a:lnTo>
                  <a:pt x="6239255" y="141731"/>
                </a:lnTo>
                <a:lnTo>
                  <a:pt x="6239255" y="160019"/>
                </a:lnTo>
                <a:lnTo>
                  <a:pt x="6391655" y="160019"/>
                </a:lnTo>
                <a:close/>
              </a:path>
              <a:path w="6771131" h="160019">
                <a:moveTo>
                  <a:pt x="6182867" y="160019"/>
                </a:moveTo>
                <a:lnTo>
                  <a:pt x="6182867" y="141731"/>
                </a:lnTo>
                <a:lnTo>
                  <a:pt x="6030467" y="141731"/>
                </a:lnTo>
                <a:lnTo>
                  <a:pt x="6030467" y="160019"/>
                </a:lnTo>
                <a:lnTo>
                  <a:pt x="6182867" y="160019"/>
                </a:lnTo>
                <a:close/>
              </a:path>
              <a:path w="6771131" h="160019">
                <a:moveTo>
                  <a:pt x="5972555" y="160019"/>
                </a:moveTo>
                <a:lnTo>
                  <a:pt x="5972555" y="141731"/>
                </a:lnTo>
                <a:lnTo>
                  <a:pt x="5820155" y="141731"/>
                </a:lnTo>
                <a:lnTo>
                  <a:pt x="5820155" y="160019"/>
                </a:lnTo>
                <a:lnTo>
                  <a:pt x="5972555" y="160019"/>
                </a:lnTo>
                <a:close/>
              </a:path>
              <a:path w="6771131" h="160019">
                <a:moveTo>
                  <a:pt x="5763767" y="160019"/>
                </a:moveTo>
                <a:lnTo>
                  <a:pt x="5763767" y="141731"/>
                </a:lnTo>
                <a:lnTo>
                  <a:pt x="5611367" y="141731"/>
                </a:lnTo>
                <a:lnTo>
                  <a:pt x="5611367" y="160019"/>
                </a:lnTo>
                <a:lnTo>
                  <a:pt x="5763767" y="160019"/>
                </a:lnTo>
                <a:close/>
              </a:path>
              <a:path w="6771131" h="160019">
                <a:moveTo>
                  <a:pt x="5553455" y="160019"/>
                </a:moveTo>
                <a:lnTo>
                  <a:pt x="5553455" y="141731"/>
                </a:lnTo>
                <a:lnTo>
                  <a:pt x="5401055" y="141731"/>
                </a:lnTo>
                <a:lnTo>
                  <a:pt x="5401055" y="160019"/>
                </a:lnTo>
                <a:lnTo>
                  <a:pt x="5553455" y="160019"/>
                </a:lnTo>
                <a:close/>
              </a:path>
              <a:path w="6771131" h="160019">
                <a:moveTo>
                  <a:pt x="5344667" y="160019"/>
                </a:moveTo>
                <a:lnTo>
                  <a:pt x="5344667" y="141731"/>
                </a:lnTo>
                <a:lnTo>
                  <a:pt x="5192267" y="141731"/>
                </a:lnTo>
                <a:lnTo>
                  <a:pt x="5192267" y="160019"/>
                </a:lnTo>
                <a:lnTo>
                  <a:pt x="5344667" y="160019"/>
                </a:lnTo>
                <a:close/>
              </a:path>
              <a:path w="6771131" h="160019">
                <a:moveTo>
                  <a:pt x="5134355" y="160019"/>
                </a:moveTo>
                <a:lnTo>
                  <a:pt x="5134355" y="141731"/>
                </a:lnTo>
                <a:lnTo>
                  <a:pt x="4981955" y="141731"/>
                </a:lnTo>
                <a:lnTo>
                  <a:pt x="4981955" y="160019"/>
                </a:lnTo>
                <a:lnTo>
                  <a:pt x="5134355" y="160019"/>
                </a:lnTo>
                <a:close/>
              </a:path>
              <a:path w="6771131" h="160019">
                <a:moveTo>
                  <a:pt x="4925567" y="160019"/>
                </a:moveTo>
                <a:lnTo>
                  <a:pt x="4925567" y="141731"/>
                </a:lnTo>
                <a:lnTo>
                  <a:pt x="4773167" y="141731"/>
                </a:lnTo>
                <a:lnTo>
                  <a:pt x="4773167" y="160019"/>
                </a:lnTo>
                <a:lnTo>
                  <a:pt x="4925567" y="160019"/>
                </a:lnTo>
                <a:close/>
              </a:path>
              <a:path w="6771131" h="160019">
                <a:moveTo>
                  <a:pt x="4715255" y="160019"/>
                </a:moveTo>
                <a:lnTo>
                  <a:pt x="4715255" y="141731"/>
                </a:lnTo>
                <a:lnTo>
                  <a:pt x="4562855" y="141731"/>
                </a:lnTo>
                <a:lnTo>
                  <a:pt x="4562855" y="160019"/>
                </a:lnTo>
                <a:lnTo>
                  <a:pt x="4715255" y="160019"/>
                </a:lnTo>
                <a:close/>
              </a:path>
              <a:path w="6771131" h="160019">
                <a:moveTo>
                  <a:pt x="4506467" y="160019"/>
                </a:moveTo>
                <a:lnTo>
                  <a:pt x="4506467" y="141731"/>
                </a:lnTo>
                <a:lnTo>
                  <a:pt x="4354067" y="141731"/>
                </a:lnTo>
                <a:lnTo>
                  <a:pt x="4354067" y="160019"/>
                </a:lnTo>
                <a:lnTo>
                  <a:pt x="4506467" y="160019"/>
                </a:lnTo>
                <a:close/>
              </a:path>
              <a:path w="6771131" h="160019">
                <a:moveTo>
                  <a:pt x="4296155" y="160019"/>
                </a:moveTo>
                <a:lnTo>
                  <a:pt x="4296155" y="141731"/>
                </a:lnTo>
                <a:lnTo>
                  <a:pt x="4143755" y="141731"/>
                </a:lnTo>
                <a:lnTo>
                  <a:pt x="4143755" y="160019"/>
                </a:lnTo>
                <a:lnTo>
                  <a:pt x="4296155" y="160019"/>
                </a:lnTo>
                <a:close/>
              </a:path>
              <a:path w="6771131" h="160019">
                <a:moveTo>
                  <a:pt x="4087367" y="160019"/>
                </a:moveTo>
                <a:lnTo>
                  <a:pt x="4087367" y="141731"/>
                </a:lnTo>
                <a:lnTo>
                  <a:pt x="3934967" y="141731"/>
                </a:lnTo>
                <a:lnTo>
                  <a:pt x="3934967" y="160019"/>
                </a:lnTo>
                <a:lnTo>
                  <a:pt x="4087367" y="160019"/>
                </a:lnTo>
                <a:close/>
              </a:path>
              <a:path w="6771131" h="160019">
                <a:moveTo>
                  <a:pt x="3877055" y="160019"/>
                </a:moveTo>
                <a:lnTo>
                  <a:pt x="3877055" y="141731"/>
                </a:lnTo>
                <a:lnTo>
                  <a:pt x="3724655" y="141731"/>
                </a:lnTo>
                <a:lnTo>
                  <a:pt x="3724655" y="160019"/>
                </a:lnTo>
                <a:lnTo>
                  <a:pt x="3877055" y="160019"/>
                </a:lnTo>
                <a:close/>
              </a:path>
              <a:path w="6771131" h="160019">
                <a:moveTo>
                  <a:pt x="3668267" y="160019"/>
                </a:moveTo>
                <a:lnTo>
                  <a:pt x="3668267" y="141731"/>
                </a:lnTo>
                <a:lnTo>
                  <a:pt x="3515867" y="141731"/>
                </a:lnTo>
                <a:lnTo>
                  <a:pt x="3515867" y="160019"/>
                </a:lnTo>
                <a:lnTo>
                  <a:pt x="3668267" y="160019"/>
                </a:lnTo>
                <a:close/>
              </a:path>
              <a:path w="6771131" h="160019">
                <a:moveTo>
                  <a:pt x="3457955" y="160019"/>
                </a:moveTo>
                <a:lnTo>
                  <a:pt x="3457955" y="141731"/>
                </a:lnTo>
                <a:lnTo>
                  <a:pt x="3305555" y="141731"/>
                </a:lnTo>
                <a:lnTo>
                  <a:pt x="3305555" y="160019"/>
                </a:lnTo>
                <a:lnTo>
                  <a:pt x="3457955" y="160019"/>
                </a:lnTo>
                <a:close/>
              </a:path>
              <a:path w="6771131" h="160019">
                <a:moveTo>
                  <a:pt x="3249167" y="160019"/>
                </a:moveTo>
                <a:lnTo>
                  <a:pt x="3249167" y="141731"/>
                </a:lnTo>
                <a:lnTo>
                  <a:pt x="3096767" y="141731"/>
                </a:lnTo>
                <a:lnTo>
                  <a:pt x="3096767" y="160019"/>
                </a:lnTo>
                <a:lnTo>
                  <a:pt x="3249167" y="160019"/>
                </a:lnTo>
                <a:close/>
              </a:path>
              <a:path w="6771131" h="160019">
                <a:moveTo>
                  <a:pt x="3038855" y="160019"/>
                </a:moveTo>
                <a:lnTo>
                  <a:pt x="3038855" y="141731"/>
                </a:lnTo>
                <a:lnTo>
                  <a:pt x="2886455" y="141731"/>
                </a:lnTo>
                <a:lnTo>
                  <a:pt x="2886455" y="160019"/>
                </a:lnTo>
                <a:lnTo>
                  <a:pt x="3038855" y="160019"/>
                </a:lnTo>
                <a:close/>
              </a:path>
              <a:path w="6771131" h="160019">
                <a:moveTo>
                  <a:pt x="2830067" y="160019"/>
                </a:moveTo>
                <a:lnTo>
                  <a:pt x="2830067" y="141731"/>
                </a:lnTo>
                <a:lnTo>
                  <a:pt x="2677667" y="141731"/>
                </a:lnTo>
                <a:lnTo>
                  <a:pt x="2677667" y="160019"/>
                </a:lnTo>
                <a:lnTo>
                  <a:pt x="2830067" y="160019"/>
                </a:lnTo>
                <a:close/>
              </a:path>
              <a:path w="6771131" h="160019">
                <a:moveTo>
                  <a:pt x="2619755" y="160019"/>
                </a:moveTo>
                <a:lnTo>
                  <a:pt x="2619755" y="141731"/>
                </a:lnTo>
                <a:lnTo>
                  <a:pt x="2467355" y="141731"/>
                </a:lnTo>
                <a:lnTo>
                  <a:pt x="2467355" y="160019"/>
                </a:lnTo>
                <a:lnTo>
                  <a:pt x="2619755" y="160019"/>
                </a:lnTo>
                <a:close/>
              </a:path>
              <a:path w="6771131" h="160019">
                <a:moveTo>
                  <a:pt x="2410967" y="160019"/>
                </a:moveTo>
                <a:lnTo>
                  <a:pt x="2410967" y="141731"/>
                </a:lnTo>
                <a:lnTo>
                  <a:pt x="2258567" y="141731"/>
                </a:lnTo>
                <a:lnTo>
                  <a:pt x="2258567" y="160019"/>
                </a:lnTo>
                <a:lnTo>
                  <a:pt x="2410967" y="160019"/>
                </a:lnTo>
                <a:close/>
              </a:path>
              <a:path w="6771131" h="160019">
                <a:moveTo>
                  <a:pt x="2200655" y="160019"/>
                </a:moveTo>
                <a:lnTo>
                  <a:pt x="2200655" y="141731"/>
                </a:lnTo>
                <a:lnTo>
                  <a:pt x="2048255" y="141731"/>
                </a:lnTo>
                <a:lnTo>
                  <a:pt x="2048255" y="160019"/>
                </a:lnTo>
                <a:lnTo>
                  <a:pt x="2200655" y="160019"/>
                </a:lnTo>
                <a:close/>
              </a:path>
              <a:path w="6771131" h="160019">
                <a:moveTo>
                  <a:pt x="1991867" y="160019"/>
                </a:moveTo>
                <a:lnTo>
                  <a:pt x="1991867" y="141731"/>
                </a:lnTo>
                <a:lnTo>
                  <a:pt x="1839467" y="141731"/>
                </a:lnTo>
                <a:lnTo>
                  <a:pt x="1839467" y="160019"/>
                </a:lnTo>
                <a:lnTo>
                  <a:pt x="1991867" y="160019"/>
                </a:lnTo>
                <a:close/>
              </a:path>
              <a:path w="6771131" h="160019">
                <a:moveTo>
                  <a:pt x="1781555" y="160019"/>
                </a:moveTo>
                <a:lnTo>
                  <a:pt x="1781555" y="141731"/>
                </a:lnTo>
                <a:lnTo>
                  <a:pt x="1629155" y="141731"/>
                </a:lnTo>
                <a:lnTo>
                  <a:pt x="1629155" y="160019"/>
                </a:lnTo>
                <a:lnTo>
                  <a:pt x="1781555" y="160019"/>
                </a:lnTo>
                <a:close/>
              </a:path>
              <a:path w="6771131" h="160019">
                <a:moveTo>
                  <a:pt x="1572767" y="160019"/>
                </a:moveTo>
                <a:lnTo>
                  <a:pt x="1572767" y="141731"/>
                </a:lnTo>
                <a:lnTo>
                  <a:pt x="1420367" y="141731"/>
                </a:lnTo>
                <a:lnTo>
                  <a:pt x="1420367" y="160019"/>
                </a:lnTo>
                <a:lnTo>
                  <a:pt x="1572767" y="160019"/>
                </a:lnTo>
                <a:close/>
              </a:path>
              <a:path w="6771131" h="160019">
                <a:moveTo>
                  <a:pt x="1362455" y="160019"/>
                </a:moveTo>
                <a:lnTo>
                  <a:pt x="1362455" y="141731"/>
                </a:lnTo>
                <a:lnTo>
                  <a:pt x="1210055" y="141731"/>
                </a:lnTo>
                <a:lnTo>
                  <a:pt x="1210055" y="160019"/>
                </a:lnTo>
                <a:lnTo>
                  <a:pt x="1362455" y="160019"/>
                </a:lnTo>
                <a:close/>
              </a:path>
              <a:path w="6771131" h="160019">
                <a:moveTo>
                  <a:pt x="1153667" y="160019"/>
                </a:moveTo>
                <a:lnTo>
                  <a:pt x="1153667" y="141731"/>
                </a:lnTo>
                <a:lnTo>
                  <a:pt x="1001267" y="141731"/>
                </a:lnTo>
                <a:lnTo>
                  <a:pt x="1001267" y="160019"/>
                </a:lnTo>
                <a:lnTo>
                  <a:pt x="1153667" y="160019"/>
                </a:lnTo>
                <a:close/>
              </a:path>
              <a:path w="6771131" h="160019">
                <a:moveTo>
                  <a:pt x="943355" y="160019"/>
                </a:moveTo>
                <a:lnTo>
                  <a:pt x="943355" y="141731"/>
                </a:lnTo>
                <a:lnTo>
                  <a:pt x="790955" y="141731"/>
                </a:lnTo>
                <a:lnTo>
                  <a:pt x="790955" y="160019"/>
                </a:lnTo>
                <a:lnTo>
                  <a:pt x="943355" y="160019"/>
                </a:lnTo>
                <a:close/>
              </a:path>
              <a:path w="6771131" h="160019">
                <a:moveTo>
                  <a:pt x="734567" y="160019"/>
                </a:moveTo>
                <a:lnTo>
                  <a:pt x="734567" y="141731"/>
                </a:lnTo>
                <a:lnTo>
                  <a:pt x="582167" y="141731"/>
                </a:lnTo>
                <a:lnTo>
                  <a:pt x="582167" y="160019"/>
                </a:lnTo>
                <a:lnTo>
                  <a:pt x="734567" y="160019"/>
                </a:lnTo>
                <a:close/>
              </a:path>
              <a:path w="6771131" h="160019">
                <a:moveTo>
                  <a:pt x="524255" y="160019"/>
                </a:moveTo>
                <a:lnTo>
                  <a:pt x="524255" y="141731"/>
                </a:lnTo>
                <a:lnTo>
                  <a:pt x="371855" y="141731"/>
                </a:lnTo>
                <a:lnTo>
                  <a:pt x="371855" y="160019"/>
                </a:lnTo>
                <a:lnTo>
                  <a:pt x="524255" y="160019"/>
                </a:lnTo>
                <a:close/>
              </a:path>
              <a:path w="6771131" h="160019">
                <a:moveTo>
                  <a:pt x="315467" y="160019"/>
                </a:moveTo>
                <a:lnTo>
                  <a:pt x="315467" y="141731"/>
                </a:lnTo>
                <a:lnTo>
                  <a:pt x="163067" y="141731"/>
                </a:lnTo>
                <a:lnTo>
                  <a:pt x="163067" y="160019"/>
                </a:lnTo>
                <a:lnTo>
                  <a:pt x="315467" y="160019"/>
                </a:lnTo>
                <a:close/>
              </a:path>
              <a:path w="6771131" h="160019">
                <a:moveTo>
                  <a:pt x="18287" y="141731"/>
                </a:moveTo>
                <a:lnTo>
                  <a:pt x="18287" y="94487"/>
                </a:lnTo>
                <a:lnTo>
                  <a:pt x="0" y="94487"/>
                </a:lnTo>
                <a:lnTo>
                  <a:pt x="0" y="160019"/>
                </a:lnTo>
                <a:lnTo>
                  <a:pt x="9143" y="160019"/>
                </a:lnTo>
                <a:lnTo>
                  <a:pt x="9143" y="141731"/>
                </a:lnTo>
                <a:lnTo>
                  <a:pt x="18287" y="141731"/>
                </a:lnTo>
                <a:close/>
              </a:path>
              <a:path w="6771131" h="160019">
                <a:moveTo>
                  <a:pt x="105155" y="160019"/>
                </a:moveTo>
                <a:lnTo>
                  <a:pt x="105155" y="141731"/>
                </a:lnTo>
                <a:lnTo>
                  <a:pt x="9143" y="141731"/>
                </a:lnTo>
                <a:lnTo>
                  <a:pt x="18287" y="150875"/>
                </a:lnTo>
                <a:lnTo>
                  <a:pt x="18287" y="160019"/>
                </a:lnTo>
                <a:lnTo>
                  <a:pt x="105155" y="160019"/>
                </a:lnTo>
                <a:close/>
              </a:path>
              <a:path w="6771131" h="160019">
                <a:moveTo>
                  <a:pt x="18287" y="160019"/>
                </a:moveTo>
                <a:lnTo>
                  <a:pt x="18287" y="150875"/>
                </a:lnTo>
                <a:lnTo>
                  <a:pt x="9143" y="141731"/>
                </a:lnTo>
                <a:lnTo>
                  <a:pt x="9143" y="160019"/>
                </a:lnTo>
                <a:lnTo>
                  <a:pt x="18287" y="160019"/>
                </a:lnTo>
                <a:close/>
              </a:path>
              <a:path w="6771131" h="160019">
                <a:moveTo>
                  <a:pt x="18287" y="38099"/>
                </a:moveTo>
                <a:lnTo>
                  <a:pt x="18287" y="0"/>
                </a:lnTo>
                <a:lnTo>
                  <a:pt x="0" y="0"/>
                </a:lnTo>
                <a:lnTo>
                  <a:pt x="0" y="38099"/>
                </a:lnTo>
                <a:lnTo>
                  <a:pt x="18287" y="38099"/>
                </a:lnTo>
                <a:close/>
              </a:path>
            </a:pathLst>
          </a:custGeom>
          <a:solidFill>
            <a:srgbClr val="000000"/>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27" name="object 169"/>
          <p:cNvSpPr/>
          <p:nvPr/>
        </p:nvSpPr>
        <p:spPr bwMode="auto">
          <a:xfrm>
            <a:off x="5164138" y="4043354"/>
            <a:ext cx="2617787" cy="128588"/>
          </a:xfrm>
          <a:custGeom>
            <a:avLst/>
            <a:gdLst>
              <a:gd name="T0" fmla="*/ 0 w 3608831"/>
              <a:gd name="T1" fmla="*/ 35850 h 128015"/>
              <a:gd name="T2" fmla="*/ 1703 w 3608831"/>
              <a:gd name="T3" fmla="*/ 57035 h 128015"/>
              <a:gd name="T4" fmla="*/ 1086 w 3608831"/>
              <a:gd name="T5" fmla="*/ 57035 h 128015"/>
              <a:gd name="T6" fmla="*/ 2777 w 3608831"/>
              <a:gd name="T7" fmla="*/ 37480 h 128015"/>
              <a:gd name="T8" fmla="*/ 2777 w 3608831"/>
              <a:gd name="T9" fmla="*/ 58665 h 128015"/>
              <a:gd name="T10" fmla="*/ 3247 w 3608831"/>
              <a:gd name="T11" fmla="*/ 37480 h 128015"/>
              <a:gd name="T12" fmla="*/ 4938 w 3608831"/>
              <a:gd name="T13" fmla="*/ 60294 h 128015"/>
              <a:gd name="T14" fmla="*/ 4320 w 3608831"/>
              <a:gd name="T15" fmla="*/ 58665 h 128015"/>
              <a:gd name="T16" fmla="*/ 6024 w 3608831"/>
              <a:gd name="T17" fmla="*/ 40740 h 128015"/>
              <a:gd name="T18" fmla="*/ 6024 w 3608831"/>
              <a:gd name="T19" fmla="*/ 60294 h 128015"/>
              <a:gd name="T20" fmla="*/ 6481 w 3608831"/>
              <a:gd name="T21" fmla="*/ 40740 h 128015"/>
              <a:gd name="T22" fmla="*/ 8185 w 3608831"/>
              <a:gd name="T23" fmla="*/ 61923 h 128015"/>
              <a:gd name="T24" fmla="*/ 7567 w 3608831"/>
              <a:gd name="T25" fmla="*/ 61923 h 128015"/>
              <a:gd name="T26" fmla="*/ 9259 w 3608831"/>
              <a:gd name="T27" fmla="*/ 42368 h 128015"/>
              <a:gd name="T28" fmla="*/ 9259 w 3608831"/>
              <a:gd name="T29" fmla="*/ 63552 h 128015"/>
              <a:gd name="T30" fmla="*/ 9728 w 3608831"/>
              <a:gd name="T31" fmla="*/ 43998 h 128015"/>
              <a:gd name="T32" fmla="*/ 11419 w 3608831"/>
              <a:gd name="T33" fmla="*/ 65183 h 128015"/>
              <a:gd name="T34" fmla="*/ 10802 w 3608831"/>
              <a:gd name="T35" fmla="*/ 65183 h 128015"/>
              <a:gd name="T36" fmla="*/ 12506 w 3608831"/>
              <a:gd name="T37" fmla="*/ 45628 h 128015"/>
              <a:gd name="T38" fmla="*/ 12506 w 3608831"/>
              <a:gd name="T39" fmla="*/ 65183 h 128015"/>
              <a:gd name="T40" fmla="*/ 12963 w 3608831"/>
              <a:gd name="T41" fmla="*/ 45628 h 128015"/>
              <a:gd name="T42" fmla="*/ 14667 w 3608831"/>
              <a:gd name="T43" fmla="*/ 68442 h 128015"/>
              <a:gd name="T44" fmla="*/ 14049 w 3608831"/>
              <a:gd name="T45" fmla="*/ 66812 h 128015"/>
              <a:gd name="T46" fmla="*/ 15741 w 3608831"/>
              <a:gd name="T47" fmla="*/ 48886 h 128015"/>
              <a:gd name="T48" fmla="*/ 15741 w 3608831"/>
              <a:gd name="T49" fmla="*/ 68442 h 128015"/>
              <a:gd name="T50" fmla="*/ 16209 w 3608831"/>
              <a:gd name="T51" fmla="*/ 48886 h 128015"/>
              <a:gd name="T52" fmla="*/ 17901 w 3608831"/>
              <a:gd name="T53" fmla="*/ 70071 h 128015"/>
              <a:gd name="T54" fmla="*/ 17284 w 3608831"/>
              <a:gd name="T55" fmla="*/ 70071 h 128015"/>
              <a:gd name="T56" fmla="*/ 18987 w 3608831"/>
              <a:gd name="T57" fmla="*/ 50513 h 128015"/>
              <a:gd name="T58" fmla="*/ 18987 w 3608831"/>
              <a:gd name="T59" fmla="*/ 71701 h 128015"/>
              <a:gd name="T60" fmla="*/ 19444 w 3608831"/>
              <a:gd name="T61" fmla="*/ 50513 h 128015"/>
              <a:gd name="T62" fmla="*/ 21148 w 3608831"/>
              <a:gd name="T63" fmla="*/ 73331 h 128015"/>
              <a:gd name="T64" fmla="*/ 20531 w 3608831"/>
              <a:gd name="T65" fmla="*/ 71701 h 128015"/>
              <a:gd name="T66" fmla="*/ 22221 w 3608831"/>
              <a:gd name="T67" fmla="*/ 53773 h 128015"/>
              <a:gd name="T68" fmla="*/ 22221 w 3608831"/>
              <a:gd name="T69" fmla="*/ 73331 h 128015"/>
              <a:gd name="T70" fmla="*/ 22691 w 3608831"/>
              <a:gd name="T71" fmla="*/ 53773 h 128015"/>
              <a:gd name="T72" fmla="*/ 24382 w 3608831"/>
              <a:gd name="T73" fmla="*/ 74961 h 128015"/>
              <a:gd name="T74" fmla="*/ 23765 w 3608831"/>
              <a:gd name="T75" fmla="*/ 74961 h 128015"/>
              <a:gd name="T76" fmla="*/ 25469 w 3608831"/>
              <a:gd name="T77" fmla="*/ 55405 h 128015"/>
              <a:gd name="T78" fmla="*/ 25469 w 3608831"/>
              <a:gd name="T79" fmla="*/ 76589 h 128015"/>
              <a:gd name="T80" fmla="*/ 25925 w 3608831"/>
              <a:gd name="T81" fmla="*/ 57035 h 128015"/>
              <a:gd name="T82" fmla="*/ 27628 w 3608831"/>
              <a:gd name="T83" fmla="*/ 78218 h 128015"/>
              <a:gd name="T84" fmla="*/ 27012 w 3608831"/>
              <a:gd name="T85" fmla="*/ 78218 h 128015"/>
              <a:gd name="T86" fmla="*/ 28086 w 3608831"/>
              <a:gd name="T87" fmla="*/ 58665 h 128015"/>
              <a:gd name="T88" fmla="*/ 28204 w 3608831"/>
              <a:gd name="T89" fmla="*/ 58665 h 128015"/>
              <a:gd name="T90" fmla="*/ 28201 w 3608831"/>
              <a:gd name="T91" fmla="*/ 78218 h 128015"/>
              <a:gd name="T92" fmla="*/ 28308 w 3608831"/>
              <a:gd name="T93" fmla="*/ 78218 h 128015"/>
              <a:gd name="T94" fmla="*/ 28201 w 3608831"/>
              <a:gd name="T95" fmla="*/ 78218 h 128015"/>
              <a:gd name="T96" fmla="*/ 28209 w 3608831"/>
              <a:gd name="T97" fmla="*/ 0 h 128015"/>
              <a:gd name="T98" fmla="*/ 28308 w 3608831"/>
              <a:gd name="T99" fmla="*/ 129725 h 12801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608831"/>
              <a:gd name="T151" fmla="*/ 0 h 128015"/>
              <a:gd name="T152" fmla="*/ 3608831 w 3608831"/>
              <a:gd name="T153" fmla="*/ 128015 h 12801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608831" h="128015">
                <a:moveTo>
                  <a:pt x="76199" y="53339"/>
                </a:moveTo>
                <a:lnTo>
                  <a:pt x="76199" y="33527"/>
                </a:lnTo>
                <a:lnTo>
                  <a:pt x="0" y="33527"/>
                </a:lnTo>
                <a:lnTo>
                  <a:pt x="0" y="51815"/>
                </a:lnTo>
                <a:lnTo>
                  <a:pt x="76199" y="53339"/>
                </a:lnTo>
                <a:close/>
              </a:path>
              <a:path w="3608831" h="128015">
                <a:moveTo>
                  <a:pt x="210311" y="53339"/>
                </a:moveTo>
                <a:lnTo>
                  <a:pt x="210311" y="35051"/>
                </a:lnTo>
                <a:lnTo>
                  <a:pt x="134111" y="33527"/>
                </a:lnTo>
                <a:lnTo>
                  <a:pt x="134111" y="53339"/>
                </a:lnTo>
                <a:lnTo>
                  <a:pt x="210311" y="53339"/>
                </a:lnTo>
                <a:close/>
              </a:path>
              <a:path w="3608831" h="128015">
                <a:moveTo>
                  <a:pt x="342899" y="54863"/>
                </a:moveTo>
                <a:lnTo>
                  <a:pt x="342899" y="35051"/>
                </a:lnTo>
                <a:lnTo>
                  <a:pt x="266699" y="35051"/>
                </a:lnTo>
                <a:lnTo>
                  <a:pt x="266699" y="53339"/>
                </a:lnTo>
                <a:lnTo>
                  <a:pt x="342899" y="54863"/>
                </a:lnTo>
                <a:close/>
              </a:path>
              <a:path w="3608831" h="128015">
                <a:moveTo>
                  <a:pt x="477011" y="54863"/>
                </a:moveTo>
                <a:lnTo>
                  <a:pt x="477011" y="36575"/>
                </a:lnTo>
                <a:lnTo>
                  <a:pt x="400811" y="35051"/>
                </a:lnTo>
                <a:lnTo>
                  <a:pt x="400811" y="54863"/>
                </a:lnTo>
                <a:lnTo>
                  <a:pt x="477011" y="54863"/>
                </a:lnTo>
                <a:close/>
              </a:path>
              <a:path w="3608831" h="128015">
                <a:moveTo>
                  <a:pt x="609599" y="56387"/>
                </a:moveTo>
                <a:lnTo>
                  <a:pt x="609599" y="36575"/>
                </a:lnTo>
                <a:lnTo>
                  <a:pt x="533399" y="36575"/>
                </a:lnTo>
                <a:lnTo>
                  <a:pt x="533399" y="54863"/>
                </a:lnTo>
                <a:lnTo>
                  <a:pt x="609599" y="56387"/>
                </a:lnTo>
                <a:close/>
              </a:path>
              <a:path w="3608831" h="128015">
                <a:moveTo>
                  <a:pt x="743711" y="56387"/>
                </a:moveTo>
                <a:lnTo>
                  <a:pt x="743711" y="38099"/>
                </a:lnTo>
                <a:lnTo>
                  <a:pt x="667511" y="36575"/>
                </a:lnTo>
                <a:lnTo>
                  <a:pt x="667511" y="56387"/>
                </a:lnTo>
                <a:lnTo>
                  <a:pt x="743711" y="56387"/>
                </a:lnTo>
                <a:close/>
              </a:path>
              <a:path w="3608831" h="128015">
                <a:moveTo>
                  <a:pt x="876299" y="57911"/>
                </a:moveTo>
                <a:lnTo>
                  <a:pt x="876299" y="38099"/>
                </a:lnTo>
                <a:lnTo>
                  <a:pt x="800099" y="38099"/>
                </a:lnTo>
                <a:lnTo>
                  <a:pt x="800099" y="56387"/>
                </a:lnTo>
                <a:lnTo>
                  <a:pt x="876299" y="57911"/>
                </a:lnTo>
                <a:close/>
              </a:path>
              <a:path w="3608831" h="128015">
                <a:moveTo>
                  <a:pt x="1010411" y="57911"/>
                </a:moveTo>
                <a:lnTo>
                  <a:pt x="1010411" y="39623"/>
                </a:lnTo>
                <a:lnTo>
                  <a:pt x="934211" y="39623"/>
                </a:lnTo>
                <a:lnTo>
                  <a:pt x="934211" y="57911"/>
                </a:lnTo>
                <a:lnTo>
                  <a:pt x="1010411" y="57911"/>
                </a:lnTo>
                <a:close/>
              </a:path>
              <a:path w="3608831" h="128015">
                <a:moveTo>
                  <a:pt x="1142999" y="59435"/>
                </a:moveTo>
                <a:lnTo>
                  <a:pt x="1142999" y="39623"/>
                </a:lnTo>
                <a:lnTo>
                  <a:pt x="1066799" y="39623"/>
                </a:lnTo>
                <a:lnTo>
                  <a:pt x="1066799" y="59435"/>
                </a:lnTo>
                <a:lnTo>
                  <a:pt x="1142999" y="59435"/>
                </a:lnTo>
                <a:close/>
              </a:path>
              <a:path w="3608831" h="128015">
                <a:moveTo>
                  <a:pt x="1277111" y="59435"/>
                </a:moveTo>
                <a:lnTo>
                  <a:pt x="1277111" y="41147"/>
                </a:lnTo>
                <a:lnTo>
                  <a:pt x="1200911" y="41147"/>
                </a:lnTo>
                <a:lnTo>
                  <a:pt x="1200911" y="59435"/>
                </a:lnTo>
                <a:lnTo>
                  <a:pt x="1277111" y="59435"/>
                </a:lnTo>
                <a:close/>
              </a:path>
              <a:path w="3608831" h="128015">
                <a:moveTo>
                  <a:pt x="1409699" y="60959"/>
                </a:moveTo>
                <a:lnTo>
                  <a:pt x="1409699" y="41147"/>
                </a:lnTo>
                <a:lnTo>
                  <a:pt x="1333499" y="41147"/>
                </a:lnTo>
                <a:lnTo>
                  <a:pt x="1333499" y="60959"/>
                </a:lnTo>
                <a:lnTo>
                  <a:pt x="1409699" y="60959"/>
                </a:lnTo>
                <a:close/>
              </a:path>
              <a:path w="3608831" h="128015">
                <a:moveTo>
                  <a:pt x="1543811" y="60959"/>
                </a:moveTo>
                <a:lnTo>
                  <a:pt x="1543811" y="42671"/>
                </a:lnTo>
                <a:lnTo>
                  <a:pt x="1467611" y="42671"/>
                </a:lnTo>
                <a:lnTo>
                  <a:pt x="1467611" y="60959"/>
                </a:lnTo>
                <a:lnTo>
                  <a:pt x="1543811" y="60959"/>
                </a:lnTo>
                <a:close/>
              </a:path>
              <a:path w="3608831" h="128015">
                <a:moveTo>
                  <a:pt x="1676399" y="62483"/>
                </a:moveTo>
                <a:lnTo>
                  <a:pt x="1676399" y="44195"/>
                </a:lnTo>
                <a:lnTo>
                  <a:pt x="1600199" y="42671"/>
                </a:lnTo>
                <a:lnTo>
                  <a:pt x="1600199" y="62483"/>
                </a:lnTo>
                <a:lnTo>
                  <a:pt x="1676399" y="62483"/>
                </a:lnTo>
                <a:close/>
              </a:path>
              <a:path w="3608831" h="128015">
                <a:moveTo>
                  <a:pt x="1810511" y="64007"/>
                </a:moveTo>
                <a:lnTo>
                  <a:pt x="1810511" y="44195"/>
                </a:lnTo>
                <a:lnTo>
                  <a:pt x="1734311" y="44195"/>
                </a:lnTo>
                <a:lnTo>
                  <a:pt x="1734311" y="62483"/>
                </a:lnTo>
                <a:lnTo>
                  <a:pt x="1810511" y="64007"/>
                </a:lnTo>
                <a:close/>
              </a:path>
              <a:path w="3608831" h="128015">
                <a:moveTo>
                  <a:pt x="1943099" y="64007"/>
                </a:moveTo>
                <a:lnTo>
                  <a:pt x="1943099" y="45719"/>
                </a:lnTo>
                <a:lnTo>
                  <a:pt x="1866899" y="44195"/>
                </a:lnTo>
                <a:lnTo>
                  <a:pt x="1866899" y="64007"/>
                </a:lnTo>
                <a:lnTo>
                  <a:pt x="1943099" y="64007"/>
                </a:lnTo>
                <a:close/>
              </a:path>
              <a:path w="3608831" h="128015">
                <a:moveTo>
                  <a:pt x="2077211" y="65531"/>
                </a:moveTo>
                <a:lnTo>
                  <a:pt x="2077211" y="45719"/>
                </a:lnTo>
                <a:lnTo>
                  <a:pt x="2001011" y="45719"/>
                </a:lnTo>
                <a:lnTo>
                  <a:pt x="2001011" y="64007"/>
                </a:lnTo>
                <a:lnTo>
                  <a:pt x="2077211" y="65531"/>
                </a:lnTo>
                <a:close/>
              </a:path>
              <a:path w="3608831" h="128015">
                <a:moveTo>
                  <a:pt x="2209799" y="65531"/>
                </a:moveTo>
                <a:lnTo>
                  <a:pt x="2209799" y="47243"/>
                </a:lnTo>
                <a:lnTo>
                  <a:pt x="2133599" y="45719"/>
                </a:lnTo>
                <a:lnTo>
                  <a:pt x="2133599" y="65531"/>
                </a:lnTo>
                <a:lnTo>
                  <a:pt x="2209799" y="65531"/>
                </a:lnTo>
                <a:close/>
              </a:path>
              <a:path w="3608831" h="128015">
                <a:moveTo>
                  <a:pt x="2343911" y="67055"/>
                </a:moveTo>
                <a:lnTo>
                  <a:pt x="2343911" y="47243"/>
                </a:lnTo>
                <a:lnTo>
                  <a:pt x="2267711" y="47243"/>
                </a:lnTo>
                <a:lnTo>
                  <a:pt x="2267711" y="65531"/>
                </a:lnTo>
                <a:lnTo>
                  <a:pt x="2343911" y="67055"/>
                </a:lnTo>
                <a:close/>
              </a:path>
              <a:path w="3608831" h="128015">
                <a:moveTo>
                  <a:pt x="2476499" y="67055"/>
                </a:moveTo>
                <a:lnTo>
                  <a:pt x="2476499" y="48767"/>
                </a:lnTo>
                <a:lnTo>
                  <a:pt x="2400299" y="47243"/>
                </a:lnTo>
                <a:lnTo>
                  <a:pt x="2400299" y="67055"/>
                </a:lnTo>
                <a:lnTo>
                  <a:pt x="2476499" y="67055"/>
                </a:lnTo>
                <a:close/>
              </a:path>
              <a:path w="3608831" h="128015">
                <a:moveTo>
                  <a:pt x="2610611" y="68579"/>
                </a:moveTo>
                <a:lnTo>
                  <a:pt x="2610611" y="48767"/>
                </a:lnTo>
                <a:lnTo>
                  <a:pt x="2534411" y="48767"/>
                </a:lnTo>
                <a:lnTo>
                  <a:pt x="2534411" y="67055"/>
                </a:lnTo>
                <a:lnTo>
                  <a:pt x="2610611" y="68579"/>
                </a:lnTo>
                <a:close/>
              </a:path>
              <a:path w="3608831" h="128015">
                <a:moveTo>
                  <a:pt x="2743199" y="68579"/>
                </a:moveTo>
                <a:lnTo>
                  <a:pt x="2743199" y="50291"/>
                </a:lnTo>
                <a:lnTo>
                  <a:pt x="2666999" y="50291"/>
                </a:lnTo>
                <a:lnTo>
                  <a:pt x="2666999" y="68579"/>
                </a:lnTo>
                <a:lnTo>
                  <a:pt x="2743199" y="68579"/>
                </a:lnTo>
                <a:close/>
              </a:path>
              <a:path w="3608831" h="128015">
                <a:moveTo>
                  <a:pt x="2877311" y="70103"/>
                </a:moveTo>
                <a:lnTo>
                  <a:pt x="2877311" y="50291"/>
                </a:lnTo>
                <a:lnTo>
                  <a:pt x="2801111" y="50291"/>
                </a:lnTo>
                <a:lnTo>
                  <a:pt x="2801111" y="70103"/>
                </a:lnTo>
                <a:lnTo>
                  <a:pt x="2877311" y="70103"/>
                </a:lnTo>
                <a:close/>
              </a:path>
              <a:path w="3608831" h="128015">
                <a:moveTo>
                  <a:pt x="3009899" y="70103"/>
                </a:moveTo>
                <a:lnTo>
                  <a:pt x="3009899" y="51815"/>
                </a:lnTo>
                <a:lnTo>
                  <a:pt x="2933699" y="51815"/>
                </a:lnTo>
                <a:lnTo>
                  <a:pt x="2933699" y="70103"/>
                </a:lnTo>
                <a:lnTo>
                  <a:pt x="3009899" y="70103"/>
                </a:lnTo>
                <a:close/>
              </a:path>
              <a:path w="3608831" h="128015">
                <a:moveTo>
                  <a:pt x="3144011" y="71627"/>
                </a:moveTo>
                <a:lnTo>
                  <a:pt x="3144011" y="51815"/>
                </a:lnTo>
                <a:lnTo>
                  <a:pt x="3067811" y="51815"/>
                </a:lnTo>
                <a:lnTo>
                  <a:pt x="3067811" y="71627"/>
                </a:lnTo>
                <a:lnTo>
                  <a:pt x="3144011" y="71627"/>
                </a:lnTo>
                <a:close/>
              </a:path>
              <a:path w="3608831" h="128015">
                <a:moveTo>
                  <a:pt x="3276599" y="73151"/>
                </a:moveTo>
                <a:lnTo>
                  <a:pt x="3276599" y="53339"/>
                </a:lnTo>
                <a:lnTo>
                  <a:pt x="3200399" y="53339"/>
                </a:lnTo>
                <a:lnTo>
                  <a:pt x="3200399" y="71627"/>
                </a:lnTo>
                <a:lnTo>
                  <a:pt x="3276599" y="73151"/>
                </a:lnTo>
                <a:close/>
              </a:path>
              <a:path w="3608831" h="128015">
                <a:moveTo>
                  <a:pt x="3410711" y="73151"/>
                </a:moveTo>
                <a:lnTo>
                  <a:pt x="3410711" y="54863"/>
                </a:lnTo>
                <a:lnTo>
                  <a:pt x="3334511" y="53339"/>
                </a:lnTo>
                <a:lnTo>
                  <a:pt x="3334511" y="73151"/>
                </a:lnTo>
                <a:lnTo>
                  <a:pt x="3410711" y="73151"/>
                </a:lnTo>
                <a:close/>
              </a:path>
              <a:path w="3608831" h="128015">
                <a:moveTo>
                  <a:pt x="3481686" y="54863"/>
                </a:moveTo>
                <a:lnTo>
                  <a:pt x="3467099" y="54863"/>
                </a:lnTo>
                <a:lnTo>
                  <a:pt x="3467099" y="73151"/>
                </a:lnTo>
                <a:lnTo>
                  <a:pt x="3481469" y="73151"/>
                </a:lnTo>
                <a:lnTo>
                  <a:pt x="3481686" y="54863"/>
                </a:lnTo>
                <a:close/>
              </a:path>
              <a:path w="3608831" h="128015">
                <a:moveTo>
                  <a:pt x="3494531" y="121321"/>
                </a:moveTo>
                <a:lnTo>
                  <a:pt x="3494531" y="73151"/>
                </a:lnTo>
                <a:lnTo>
                  <a:pt x="3481469" y="73151"/>
                </a:lnTo>
                <a:lnTo>
                  <a:pt x="3480815" y="128015"/>
                </a:lnTo>
                <a:lnTo>
                  <a:pt x="3494531" y="121321"/>
                </a:lnTo>
                <a:close/>
              </a:path>
              <a:path w="3608831" h="128015">
                <a:moveTo>
                  <a:pt x="3494531" y="73151"/>
                </a:moveTo>
                <a:lnTo>
                  <a:pt x="3494531" y="54863"/>
                </a:lnTo>
                <a:lnTo>
                  <a:pt x="3481686" y="54863"/>
                </a:lnTo>
                <a:lnTo>
                  <a:pt x="3481469" y="73151"/>
                </a:lnTo>
                <a:lnTo>
                  <a:pt x="3494531" y="73151"/>
                </a:lnTo>
                <a:close/>
              </a:path>
              <a:path w="3608831" h="128015">
                <a:moveTo>
                  <a:pt x="3608831" y="65531"/>
                </a:moveTo>
                <a:lnTo>
                  <a:pt x="3482339" y="0"/>
                </a:lnTo>
                <a:lnTo>
                  <a:pt x="3481686" y="54863"/>
                </a:lnTo>
                <a:lnTo>
                  <a:pt x="3494531" y="54863"/>
                </a:lnTo>
                <a:lnTo>
                  <a:pt x="3494531" y="121321"/>
                </a:lnTo>
                <a:lnTo>
                  <a:pt x="3608831" y="65531"/>
                </a:lnTo>
                <a:close/>
              </a:path>
            </a:pathLst>
          </a:custGeom>
          <a:solidFill>
            <a:srgbClr val="5D6274"/>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cxnSp>
        <p:nvCxnSpPr>
          <p:cNvPr id="28" name="Straight Arrow Connector 46"/>
          <p:cNvCxnSpPr>
            <a:cxnSpLocks noChangeShapeType="1"/>
          </p:cNvCxnSpPr>
          <p:nvPr/>
        </p:nvCxnSpPr>
        <p:spPr bwMode="auto">
          <a:xfrm flipV="1">
            <a:off x="8086725" y="3890954"/>
            <a:ext cx="0" cy="228600"/>
          </a:xfrm>
          <a:prstGeom prst="straightConnector1">
            <a:avLst/>
          </a:prstGeom>
          <a:noFill/>
          <a:ln w="9525" algn="ctr">
            <a:solidFill>
              <a:schemeClr val="tx1"/>
            </a:solidFill>
            <a:round/>
            <a:tailEnd type="arrow" w="med" len="med"/>
          </a:ln>
        </p:spPr>
      </p:cxnSp>
      <p:sp>
        <p:nvSpPr>
          <p:cNvPr id="29" name="object 175"/>
          <p:cNvSpPr/>
          <p:nvPr/>
        </p:nvSpPr>
        <p:spPr bwMode="auto">
          <a:xfrm>
            <a:off x="7858125" y="4119554"/>
            <a:ext cx="457200" cy="327600"/>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noFill/>
          <a:ln w="25399">
            <a:solidFill>
              <a:srgbClr val="6BB0C9"/>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30" name="object 379"/>
          <p:cNvSpPr txBox="1">
            <a:spLocks noChangeArrowheads="1"/>
          </p:cNvSpPr>
          <p:nvPr/>
        </p:nvSpPr>
        <p:spPr bwMode="auto">
          <a:xfrm>
            <a:off x="7845425" y="4190992"/>
            <a:ext cx="469900" cy="381016"/>
          </a:xfrm>
          <a:prstGeom prst="rect">
            <a:avLst/>
          </a:prstGeom>
          <a:noFill/>
          <a:ln w="9525">
            <a:noFill/>
            <a:miter lim="800000"/>
          </a:ln>
        </p:spPr>
        <p:txBody>
          <a:bodyPr lIns="0" tIns="0" rIns="0" bIns="0"/>
          <a:lstStyle/>
          <a:p>
            <a:pPr algn="ctr">
              <a:lnSpc>
                <a:spcPct val="96000"/>
              </a:lnSpc>
            </a:pPr>
            <a:r>
              <a:rPr lang="en-US" altLang="zh-CN" sz="1400" dirty="0">
                <a:latin typeface="微软雅黑" panose="020B0503020204020204" charset="-122"/>
                <a:ea typeface="微软雅黑" panose="020B0503020204020204" charset="-122"/>
                <a:cs typeface="Arial" panose="020B0604020202020204" pitchFamily="34" charset="0"/>
              </a:rPr>
              <a:t>LES</a:t>
            </a:r>
            <a:endParaRPr lang="zh-CN" altLang="zh-CN" sz="1400" dirty="0">
              <a:latin typeface="微软雅黑" panose="020B0503020204020204" charset="-122"/>
              <a:ea typeface="微软雅黑" panose="020B0503020204020204" charset="-122"/>
              <a:cs typeface="Arial" panose="020B0604020202020204" pitchFamily="34" charset="0"/>
            </a:endParaRPr>
          </a:p>
        </p:txBody>
      </p:sp>
      <p:cxnSp>
        <p:nvCxnSpPr>
          <p:cNvPr id="31" name="Straight Arrow Connector 50"/>
          <p:cNvCxnSpPr>
            <a:cxnSpLocks noChangeShapeType="1"/>
          </p:cNvCxnSpPr>
          <p:nvPr/>
        </p:nvCxnSpPr>
        <p:spPr bwMode="auto">
          <a:xfrm>
            <a:off x="8086725" y="3890954"/>
            <a:ext cx="0" cy="228600"/>
          </a:xfrm>
          <a:prstGeom prst="straightConnector1">
            <a:avLst/>
          </a:prstGeom>
          <a:noFill/>
          <a:ln w="9525" algn="ctr">
            <a:solidFill>
              <a:schemeClr val="tx1"/>
            </a:solidFill>
            <a:round/>
            <a:tailEnd type="arrow" w="med" len="med"/>
          </a:ln>
        </p:spPr>
      </p:cxnSp>
      <p:sp>
        <p:nvSpPr>
          <p:cNvPr id="32" name="TextBox 31"/>
          <p:cNvSpPr txBox="1"/>
          <p:nvPr/>
        </p:nvSpPr>
        <p:spPr>
          <a:xfrm>
            <a:off x="542925" y="4957754"/>
            <a:ext cx="5334000" cy="307777"/>
          </a:xfrm>
          <a:prstGeom prst="rect">
            <a:avLst/>
          </a:prstGeom>
          <a:solidFill>
            <a:schemeClr val="accent1">
              <a:lumMod val="40000"/>
              <a:lumOff val="60000"/>
            </a:schemeClr>
          </a:solidFill>
        </p:spPr>
        <p:txBody>
          <a:bodyPr>
            <a:spAutoFit/>
          </a:bodyPr>
          <a:lstStyle/>
          <a:p>
            <a:pPr algn="ctr">
              <a:defRPr/>
            </a:pPr>
            <a:r>
              <a:rPr lang="zh-CN" altLang="en-US" sz="1400" dirty="0">
                <a:latin typeface="微软雅黑" panose="020B0503020204020204" charset="-122"/>
                <a:ea typeface="微软雅黑" panose="020B0503020204020204" charset="-122"/>
              </a:rPr>
              <a:t>供应商库存</a:t>
            </a:r>
          </a:p>
        </p:txBody>
      </p:sp>
      <p:sp>
        <p:nvSpPr>
          <p:cNvPr id="33" name="TextBox 32"/>
          <p:cNvSpPr txBox="1"/>
          <p:nvPr/>
        </p:nvSpPr>
        <p:spPr>
          <a:xfrm>
            <a:off x="5876925" y="4957754"/>
            <a:ext cx="2743200" cy="307777"/>
          </a:xfrm>
          <a:prstGeom prst="rect">
            <a:avLst/>
          </a:prstGeom>
          <a:solidFill>
            <a:schemeClr val="bg2">
              <a:lumMod val="20000"/>
              <a:lumOff val="80000"/>
            </a:schemeClr>
          </a:solidFill>
        </p:spPr>
        <p:txBody>
          <a:bodyPr>
            <a:spAutoFit/>
          </a:bodyPr>
          <a:lstStyle/>
          <a:p>
            <a:pPr algn="ctr">
              <a:defRPr/>
            </a:pPr>
            <a:r>
              <a:rPr lang="zh-CN" altLang="en-US" sz="1400" dirty="0">
                <a:latin typeface="微软雅黑" panose="020B0503020204020204" charset="-122"/>
                <a:ea typeface="微软雅黑" panose="020B0503020204020204" charset="-122"/>
              </a:rPr>
              <a:t>主机厂库存</a:t>
            </a:r>
          </a:p>
        </p:txBody>
      </p:sp>
      <p:sp>
        <p:nvSpPr>
          <p:cNvPr id="34" name="TextBox 33"/>
          <p:cNvSpPr txBox="1"/>
          <p:nvPr/>
        </p:nvSpPr>
        <p:spPr>
          <a:xfrm>
            <a:off x="542925" y="5291129"/>
            <a:ext cx="2286000" cy="307777"/>
          </a:xfrm>
          <a:prstGeom prst="rect">
            <a:avLst/>
          </a:prstGeom>
          <a:solidFill>
            <a:schemeClr val="accent1">
              <a:lumMod val="40000"/>
              <a:lumOff val="60000"/>
            </a:schemeClr>
          </a:solidFill>
        </p:spPr>
        <p:txBody>
          <a:bodyPr>
            <a:spAutoFit/>
          </a:bodyPr>
          <a:lstStyle/>
          <a:p>
            <a:pPr algn="ctr">
              <a:defRPr/>
            </a:pPr>
            <a:r>
              <a:rPr lang="zh-CN" altLang="en-US" sz="1400" dirty="0">
                <a:latin typeface="微软雅黑" panose="020B0503020204020204" charset="-122"/>
                <a:ea typeface="微软雅黑" panose="020B0503020204020204" charset="-122"/>
              </a:rPr>
              <a:t>供应商管理</a:t>
            </a:r>
          </a:p>
        </p:txBody>
      </p:sp>
      <p:sp>
        <p:nvSpPr>
          <p:cNvPr id="35" name="TextBox 59"/>
          <p:cNvSpPr txBox="1">
            <a:spLocks noChangeArrowheads="1"/>
          </p:cNvSpPr>
          <p:nvPr/>
        </p:nvSpPr>
        <p:spPr bwMode="auto">
          <a:xfrm>
            <a:off x="2828925" y="5291129"/>
            <a:ext cx="3048000" cy="276225"/>
          </a:xfrm>
          <a:prstGeom prst="rect">
            <a:avLst/>
          </a:prstGeom>
          <a:solidFill>
            <a:srgbClr val="FBD6AC"/>
          </a:solidFill>
          <a:ln w="9525">
            <a:noFill/>
            <a:round/>
          </a:ln>
        </p:spPr>
        <p:txBody>
          <a:bodyPr lIns="0" tIns="0" rIns="0" bIns="0"/>
          <a:lstStyle/>
          <a:p>
            <a:pPr algn="ctr"/>
            <a:r>
              <a:rPr lang="en-US" altLang="zh-CN" sz="1400">
                <a:latin typeface="微软雅黑" panose="020B0503020204020204" charset="-122"/>
                <a:ea typeface="微软雅黑" panose="020B0503020204020204" charset="-122"/>
              </a:rPr>
              <a:t>3PL</a:t>
            </a:r>
            <a:r>
              <a:rPr lang="zh-CN" altLang="en-US" sz="1400">
                <a:latin typeface="微软雅黑" panose="020B0503020204020204" charset="-122"/>
                <a:ea typeface="微软雅黑" panose="020B0503020204020204" charset="-122"/>
              </a:rPr>
              <a:t>管理</a:t>
            </a:r>
          </a:p>
        </p:txBody>
      </p:sp>
      <p:sp>
        <p:nvSpPr>
          <p:cNvPr id="36" name="TextBox 35"/>
          <p:cNvSpPr txBox="1"/>
          <p:nvPr/>
        </p:nvSpPr>
        <p:spPr>
          <a:xfrm>
            <a:off x="5876925" y="5291129"/>
            <a:ext cx="2743200" cy="307777"/>
          </a:xfrm>
          <a:prstGeom prst="rect">
            <a:avLst/>
          </a:prstGeom>
          <a:solidFill>
            <a:schemeClr val="bg2">
              <a:lumMod val="20000"/>
              <a:lumOff val="80000"/>
            </a:schemeClr>
          </a:solidFill>
        </p:spPr>
        <p:txBody>
          <a:bodyPr>
            <a:spAutoFit/>
          </a:bodyPr>
          <a:lstStyle/>
          <a:p>
            <a:pPr algn="ctr">
              <a:defRPr/>
            </a:pPr>
            <a:r>
              <a:rPr lang="zh-CN" altLang="en-US" sz="1400" dirty="0">
                <a:latin typeface="微软雅黑" panose="020B0503020204020204" charset="-122"/>
                <a:ea typeface="微软雅黑" panose="020B0503020204020204" charset="-122"/>
              </a:rPr>
              <a:t>主机厂管理</a:t>
            </a:r>
          </a:p>
        </p:txBody>
      </p:sp>
      <p:pic>
        <p:nvPicPr>
          <p:cNvPr id="37" name="Picture 61" descr="857424dd69002e351524b9ece4_560.jpg"/>
          <p:cNvPicPr>
            <a:picLocks noChangeAspect="1"/>
          </p:cNvPicPr>
          <p:nvPr/>
        </p:nvPicPr>
        <p:blipFill>
          <a:blip r:embed="rId3"/>
          <a:srcRect/>
          <a:stretch>
            <a:fillRect/>
          </a:stretch>
        </p:blipFill>
        <p:spPr bwMode="auto">
          <a:xfrm>
            <a:off x="2066925" y="3128954"/>
            <a:ext cx="609600" cy="533400"/>
          </a:xfrm>
          <a:prstGeom prst="rect">
            <a:avLst/>
          </a:prstGeom>
          <a:noFill/>
          <a:ln w="9525">
            <a:noFill/>
            <a:miter lim="800000"/>
            <a:headEnd/>
            <a:tailEnd/>
          </a:ln>
        </p:spPr>
      </p:pic>
      <p:pic>
        <p:nvPicPr>
          <p:cNvPr id="38" name="Picture 64" descr="857424dd69002e351524b9ece4_560.jpg"/>
          <p:cNvPicPr>
            <a:picLocks noChangeAspect="1"/>
          </p:cNvPicPr>
          <p:nvPr/>
        </p:nvPicPr>
        <p:blipFill>
          <a:blip r:embed="rId3"/>
          <a:srcRect/>
          <a:stretch>
            <a:fillRect/>
          </a:stretch>
        </p:blipFill>
        <p:spPr bwMode="auto">
          <a:xfrm>
            <a:off x="5114925" y="3128954"/>
            <a:ext cx="609600" cy="533400"/>
          </a:xfrm>
          <a:prstGeom prst="rect">
            <a:avLst/>
          </a:prstGeom>
          <a:noFill/>
          <a:ln w="9525">
            <a:noFill/>
            <a:miter lim="800000"/>
            <a:headEnd/>
            <a:tailEnd/>
          </a:ln>
        </p:spPr>
      </p:pic>
      <p:pic>
        <p:nvPicPr>
          <p:cNvPr id="39" name="Picture 65" descr="857424dd69002e351524b9ece4_560.jpg"/>
          <p:cNvPicPr>
            <a:picLocks noChangeAspect="1"/>
          </p:cNvPicPr>
          <p:nvPr/>
        </p:nvPicPr>
        <p:blipFill>
          <a:blip r:embed="rId3"/>
          <a:srcRect/>
          <a:stretch>
            <a:fillRect/>
          </a:stretch>
        </p:blipFill>
        <p:spPr bwMode="auto">
          <a:xfrm>
            <a:off x="6791325" y="3128954"/>
            <a:ext cx="609600" cy="533400"/>
          </a:xfrm>
          <a:prstGeom prst="rect">
            <a:avLst/>
          </a:prstGeom>
          <a:noFill/>
          <a:ln w="9525">
            <a:noFill/>
            <a:miter lim="800000"/>
            <a:headEnd/>
            <a:tailEnd/>
          </a:ln>
        </p:spPr>
      </p:pic>
      <p:sp>
        <p:nvSpPr>
          <p:cNvPr id="40" name="object 130"/>
          <p:cNvSpPr/>
          <p:nvPr/>
        </p:nvSpPr>
        <p:spPr bwMode="auto">
          <a:xfrm>
            <a:off x="6496050" y="2595554"/>
            <a:ext cx="457200" cy="457200"/>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solidFill>
            <a:srgbClr val="FFFFFF"/>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41" name="object 131"/>
          <p:cNvSpPr/>
          <p:nvPr/>
        </p:nvSpPr>
        <p:spPr bwMode="auto">
          <a:xfrm>
            <a:off x="6496050" y="2595554"/>
            <a:ext cx="457200" cy="457200"/>
          </a:xfrm>
          <a:custGeom>
            <a:avLst/>
            <a:gdLst>
              <a:gd name="T0" fmla="*/ 0 w 457199"/>
              <a:gd name="T1" fmla="*/ 228599 h 457199"/>
              <a:gd name="T2" fmla="*/ 6629 w 457199"/>
              <a:gd name="T3" fmla="*/ 173586 h 457199"/>
              <a:gd name="T4" fmla="*/ 25470 w 457199"/>
              <a:gd name="T5" fmla="*/ 123439 h 457199"/>
              <a:gd name="T6" fmla="*/ 54948 w 457199"/>
              <a:gd name="T7" fmla="*/ 79731 h 457199"/>
              <a:gd name="T8" fmla="*/ 93488 w 457199"/>
              <a:gd name="T9" fmla="*/ 44037 h 457199"/>
              <a:gd name="T10" fmla="*/ 139517 w 457199"/>
              <a:gd name="T11" fmla="*/ 17930 h 457199"/>
              <a:gd name="T12" fmla="*/ 191461 w 457199"/>
              <a:gd name="T13" fmla="*/ 2985 h 457199"/>
              <a:gd name="T14" fmla="*/ 228599 w 457199"/>
              <a:gd name="T15" fmla="*/ 0 h 457199"/>
              <a:gd name="T16" fmla="*/ 247381 w 457199"/>
              <a:gd name="T17" fmla="*/ 756 h 457199"/>
              <a:gd name="T18" fmla="*/ 300947 w 457199"/>
              <a:gd name="T19" fmla="*/ 11631 h 457199"/>
              <a:gd name="T20" fmla="*/ 349123 w 457199"/>
              <a:gd name="T21" fmla="*/ 34192 h 457199"/>
              <a:gd name="T22" fmla="*/ 390334 w 457199"/>
              <a:gd name="T23" fmla="*/ 66865 h 457199"/>
              <a:gd name="T24" fmla="*/ 423007 w 457199"/>
              <a:gd name="T25" fmla="*/ 108076 h 457199"/>
              <a:gd name="T26" fmla="*/ 445568 w 457199"/>
              <a:gd name="T27" fmla="*/ 156252 h 457199"/>
              <a:gd name="T28" fmla="*/ 456443 w 457199"/>
              <a:gd name="T29" fmla="*/ 209818 h 457199"/>
              <a:gd name="T30" fmla="*/ 457199 w 457199"/>
              <a:gd name="T31" fmla="*/ 228599 h 457199"/>
              <a:gd name="T32" fmla="*/ 456443 w 457199"/>
              <a:gd name="T33" fmla="*/ 247381 h 457199"/>
              <a:gd name="T34" fmla="*/ 445568 w 457199"/>
              <a:gd name="T35" fmla="*/ 300947 h 457199"/>
              <a:gd name="T36" fmla="*/ 423007 w 457199"/>
              <a:gd name="T37" fmla="*/ 349123 h 457199"/>
              <a:gd name="T38" fmla="*/ 390334 w 457199"/>
              <a:gd name="T39" fmla="*/ 390334 h 457199"/>
              <a:gd name="T40" fmla="*/ 349123 w 457199"/>
              <a:gd name="T41" fmla="*/ 423007 h 457199"/>
              <a:gd name="T42" fmla="*/ 300947 w 457199"/>
              <a:gd name="T43" fmla="*/ 445568 h 457199"/>
              <a:gd name="T44" fmla="*/ 247381 w 457199"/>
              <a:gd name="T45" fmla="*/ 456443 h 457199"/>
              <a:gd name="T46" fmla="*/ 228599 w 457199"/>
              <a:gd name="T47" fmla="*/ 457199 h 457199"/>
              <a:gd name="T48" fmla="*/ 209818 w 457199"/>
              <a:gd name="T49" fmla="*/ 456443 h 457199"/>
              <a:gd name="T50" fmla="*/ 156252 w 457199"/>
              <a:gd name="T51" fmla="*/ 445568 h 457199"/>
              <a:gd name="T52" fmla="*/ 108076 w 457199"/>
              <a:gd name="T53" fmla="*/ 423007 h 457199"/>
              <a:gd name="T54" fmla="*/ 66865 w 457199"/>
              <a:gd name="T55" fmla="*/ 390334 h 457199"/>
              <a:gd name="T56" fmla="*/ 34192 w 457199"/>
              <a:gd name="T57" fmla="*/ 349123 h 457199"/>
              <a:gd name="T58" fmla="*/ 11631 w 457199"/>
              <a:gd name="T59" fmla="*/ 300947 h 457199"/>
              <a:gd name="T60" fmla="*/ 756 w 457199"/>
              <a:gd name="T61" fmla="*/ 247381 h 457199"/>
              <a:gd name="T62" fmla="*/ 0 w 457199"/>
              <a:gd name="T63" fmla="*/ 228599 h 4571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57199"/>
              <a:gd name="T97" fmla="*/ 0 h 457199"/>
              <a:gd name="T98" fmla="*/ 457199 w 457199"/>
              <a:gd name="T99" fmla="*/ 457199 h 4571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57199" h="457199">
                <a:moveTo>
                  <a:pt x="0" y="228599"/>
                </a:moveTo>
                <a:lnTo>
                  <a:pt x="6629" y="173586"/>
                </a:lnTo>
                <a:lnTo>
                  <a:pt x="25470" y="123439"/>
                </a:lnTo>
                <a:lnTo>
                  <a:pt x="54948" y="79731"/>
                </a:lnTo>
                <a:lnTo>
                  <a:pt x="93488" y="44037"/>
                </a:lnTo>
                <a:lnTo>
                  <a:pt x="139517" y="17930"/>
                </a:lnTo>
                <a:lnTo>
                  <a:pt x="191461" y="2985"/>
                </a:lnTo>
                <a:lnTo>
                  <a:pt x="228599" y="0"/>
                </a:lnTo>
                <a:lnTo>
                  <a:pt x="247381" y="756"/>
                </a:lnTo>
                <a:lnTo>
                  <a:pt x="300947" y="11631"/>
                </a:lnTo>
                <a:lnTo>
                  <a:pt x="349123" y="34192"/>
                </a:lnTo>
                <a:lnTo>
                  <a:pt x="390334" y="66865"/>
                </a:lnTo>
                <a:lnTo>
                  <a:pt x="423007" y="108076"/>
                </a:lnTo>
                <a:lnTo>
                  <a:pt x="445568" y="156252"/>
                </a:lnTo>
                <a:lnTo>
                  <a:pt x="456443" y="209818"/>
                </a:lnTo>
                <a:lnTo>
                  <a:pt x="457199" y="228599"/>
                </a:lnTo>
                <a:lnTo>
                  <a:pt x="456443" y="247381"/>
                </a:lnTo>
                <a:lnTo>
                  <a:pt x="445568" y="300947"/>
                </a:lnTo>
                <a:lnTo>
                  <a:pt x="423007" y="349123"/>
                </a:lnTo>
                <a:lnTo>
                  <a:pt x="390334" y="390334"/>
                </a:lnTo>
                <a:lnTo>
                  <a:pt x="349123" y="423007"/>
                </a:lnTo>
                <a:lnTo>
                  <a:pt x="300947" y="445568"/>
                </a:lnTo>
                <a:lnTo>
                  <a:pt x="247381" y="456443"/>
                </a:lnTo>
                <a:lnTo>
                  <a:pt x="228599" y="457199"/>
                </a:lnTo>
                <a:lnTo>
                  <a:pt x="209818" y="456443"/>
                </a:lnTo>
                <a:lnTo>
                  <a:pt x="156252" y="445568"/>
                </a:lnTo>
                <a:lnTo>
                  <a:pt x="108076" y="423007"/>
                </a:lnTo>
                <a:lnTo>
                  <a:pt x="66865" y="390334"/>
                </a:lnTo>
                <a:lnTo>
                  <a:pt x="34192" y="349123"/>
                </a:lnTo>
                <a:lnTo>
                  <a:pt x="11631" y="300947"/>
                </a:lnTo>
                <a:lnTo>
                  <a:pt x="756" y="247381"/>
                </a:lnTo>
                <a:lnTo>
                  <a:pt x="0" y="228599"/>
                </a:lnTo>
                <a:close/>
              </a:path>
            </a:pathLst>
          </a:custGeom>
          <a:solidFill>
            <a:schemeClr val="bg1">
              <a:lumMod val="95000"/>
            </a:schemeClr>
          </a:solidFill>
          <a:ln w="9524">
            <a:solidFill>
              <a:srgbClr val="65ADC7"/>
            </a:solidFill>
            <a:round/>
          </a:ln>
        </p:spPr>
        <p:txBody>
          <a:bodyPr lIns="0" tIns="0" rIns="0" bIns="0"/>
          <a:lstStyle/>
          <a:p>
            <a:pPr>
              <a:defRPr/>
            </a:pPr>
            <a:endParaRPr lang="zh-CN" altLang="en-US" sz="1400">
              <a:latin typeface="微软雅黑" panose="020B0503020204020204" charset="-122"/>
              <a:ea typeface="微软雅黑" panose="020B0503020204020204" charset="-122"/>
            </a:endParaRPr>
          </a:p>
        </p:txBody>
      </p:sp>
      <p:sp>
        <p:nvSpPr>
          <p:cNvPr id="42" name="object 132"/>
          <p:cNvSpPr/>
          <p:nvPr/>
        </p:nvSpPr>
        <p:spPr bwMode="auto">
          <a:xfrm>
            <a:off x="6629400" y="2665404"/>
            <a:ext cx="266700" cy="269875"/>
          </a:xfrm>
          <a:custGeom>
            <a:avLst/>
            <a:gdLst>
              <a:gd name="T0" fmla="*/ 232725 w 266864"/>
              <a:gd name="T1" fmla="*/ 272138 h 269714"/>
              <a:gd name="T2" fmla="*/ 251021 w 266864"/>
              <a:gd name="T3" fmla="*/ 237890 h 269714"/>
              <a:gd name="T4" fmla="*/ 261921 w 266864"/>
              <a:gd name="T5" fmla="*/ 200508 h 269714"/>
              <a:gd name="T6" fmla="*/ 264414 w 266864"/>
              <a:gd name="T7" fmla="*/ 174738 h 269714"/>
              <a:gd name="T8" fmla="*/ 263802 w 266864"/>
              <a:gd name="T9" fmla="*/ 159648 h 269714"/>
              <a:gd name="T10" fmla="*/ 254975 w 266864"/>
              <a:gd name="T11" fmla="*/ 116893 h 269714"/>
              <a:gd name="T12" fmla="*/ 236739 w 266864"/>
              <a:gd name="T13" fmla="*/ 78903 h 269714"/>
              <a:gd name="T14" fmla="*/ 210471 w 266864"/>
              <a:gd name="T15" fmla="*/ 46945 h 269714"/>
              <a:gd name="T16" fmla="*/ 177542 w 266864"/>
              <a:gd name="T17" fmla="*/ 22289 h 269714"/>
              <a:gd name="T18" fmla="*/ 139331 w 266864"/>
              <a:gd name="T19" fmla="*/ 6225 h 269714"/>
              <a:gd name="T20" fmla="*/ 97212 w 266864"/>
              <a:gd name="T21" fmla="*/ 0 h 269714"/>
              <a:gd name="T22" fmla="*/ 83769 w 266864"/>
              <a:gd name="T23" fmla="*/ 438 h 269714"/>
              <a:gd name="T24" fmla="*/ 45454 w 266864"/>
              <a:gd name="T25" fmla="*/ 7089 h 269714"/>
              <a:gd name="T26" fmla="*/ 0 w 266864"/>
              <a:gd name="T27" fmla="*/ 27792 h 269714"/>
              <a:gd name="T28" fmla="*/ 232725 w 266864"/>
              <a:gd name="T29" fmla="*/ 272138 h 2697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6864"/>
              <a:gd name="T46" fmla="*/ 0 h 269714"/>
              <a:gd name="T47" fmla="*/ 266864 w 266864"/>
              <a:gd name="T48" fmla="*/ 269714 h 26971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6864" h="269714">
                <a:moveTo>
                  <a:pt x="234881" y="269714"/>
                </a:moveTo>
                <a:lnTo>
                  <a:pt x="253348" y="235770"/>
                </a:lnTo>
                <a:lnTo>
                  <a:pt x="264346" y="198721"/>
                </a:lnTo>
                <a:lnTo>
                  <a:pt x="266864" y="173181"/>
                </a:lnTo>
                <a:lnTo>
                  <a:pt x="266246" y="158225"/>
                </a:lnTo>
                <a:lnTo>
                  <a:pt x="257338" y="115852"/>
                </a:lnTo>
                <a:lnTo>
                  <a:pt x="238934" y="78198"/>
                </a:lnTo>
                <a:lnTo>
                  <a:pt x="212421" y="46525"/>
                </a:lnTo>
                <a:lnTo>
                  <a:pt x="179187" y="22094"/>
                </a:lnTo>
                <a:lnTo>
                  <a:pt x="140621" y="6165"/>
                </a:lnTo>
                <a:lnTo>
                  <a:pt x="98112" y="0"/>
                </a:lnTo>
                <a:lnTo>
                  <a:pt x="84549" y="438"/>
                </a:lnTo>
                <a:lnTo>
                  <a:pt x="45874" y="7029"/>
                </a:lnTo>
                <a:lnTo>
                  <a:pt x="0" y="27544"/>
                </a:lnTo>
                <a:lnTo>
                  <a:pt x="234881" y="269714"/>
                </a:lnTo>
                <a:close/>
              </a:path>
            </a:pathLst>
          </a:custGeom>
          <a:noFill/>
          <a:ln w="9524">
            <a:solidFill>
              <a:srgbClr val="65ADC7"/>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43" name="object 133"/>
          <p:cNvSpPr/>
          <p:nvPr/>
        </p:nvSpPr>
        <p:spPr bwMode="auto">
          <a:xfrm>
            <a:off x="6553200" y="2725729"/>
            <a:ext cx="265113" cy="269875"/>
          </a:xfrm>
          <a:custGeom>
            <a:avLst/>
            <a:gdLst>
              <a:gd name="T0" fmla="*/ 32195 w 264995"/>
              <a:gd name="T1" fmla="*/ 0 h 271237"/>
              <a:gd name="T2" fmla="*/ 12936 w 264995"/>
              <a:gd name="T3" fmla="*/ 31474 h 271237"/>
              <a:gd name="T4" fmla="*/ 2295 w 264995"/>
              <a:gd name="T5" fmla="*/ 65830 h 271237"/>
              <a:gd name="T6" fmla="*/ 0 w 264995"/>
              <a:gd name="T7" fmla="*/ 89512 h 271237"/>
              <a:gd name="T8" fmla="*/ 606 w 264995"/>
              <a:gd name="T9" fmla="*/ 103389 h 271237"/>
              <a:gd name="T10" fmla="*/ 9415 w 264995"/>
              <a:gd name="T11" fmla="*/ 142827 h 271237"/>
              <a:gd name="T12" fmla="*/ 27650 w 264995"/>
              <a:gd name="T13" fmla="*/ 178007 h 271237"/>
              <a:gd name="T14" fmla="*/ 53992 w 264995"/>
              <a:gd name="T15" fmla="*/ 207698 h 271237"/>
              <a:gd name="T16" fmla="*/ 87108 w 264995"/>
              <a:gd name="T17" fmla="*/ 230669 h 271237"/>
              <a:gd name="T18" fmla="*/ 125664 w 264995"/>
              <a:gd name="T19" fmla="*/ 245683 h 271237"/>
              <a:gd name="T20" fmla="*/ 168338 w 264995"/>
              <a:gd name="T21" fmla="*/ 251510 h 271237"/>
              <a:gd name="T22" fmla="*/ 182361 w 264995"/>
              <a:gd name="T23" fmla="*/ 251052 h 271237"/>
              <a:gd name="T24" fmla="*/ 221326 w 264995"/>
              <a:gd name="T25" fmla="*/ 244398 h 271237"/>
              <a:gd name="T26" fmla="*/ 266770 w 264995"/>
              <a:gd name="T27" fmla="*/ 224782 h 271237"/>
              <a:gd name="T28" fmla="*/ 32195 w 264995"/>
              <a:gd name="T29" fmla="*/ 0 h 2712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4995"/>
              <a:gd name="T46" fmla="*/ 0 h 271237"/>
              <a:gd name="T47" fmla="*/ 264995 w 264995"/>
              <a:gd name="T48" fmla="*/ 271237 h 2712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4995" h="271237">
                <a:moveTo>
                  <a:pt x="31985" y="0"/>
                </a:moveTo>
                <a:lnTo>
                  <a:pt x="12846" y="33943"/>
                </a:lnTo>
                <a:lnTo>
                  <a:pt x="2280" y="70993"/>
                </a:lnTo>
                <a:lnTo>
                  <a:pt x="0" y="96533"/>
                </a:lnTo>
                <a:lnTo>
                  <a:pt x="606" y="111499"/>
                </a:lnTo>
                <a:lnTo>
                  <a:pt x="9355" y="154029"/>
                </a:lnTo>
                <a:lnTo>
                  <a:pt x="27470" y="191969"/>
                </a:lnTo>
                <a:lnTo>
                  <a:pt x="53632" y="223990"/>
                </a:lnTo>
                <a:lnTo>
                  <a:pt x="86523" y="248762"/>
                </a:lnTo>
                <a:lnTo>
                  <a:pt x="124824" y="264954"/>
                </a:lnTo>
                <a:lnTo>
                  <a:pt x="167215" y="271237"/>
                </a:lnTo>
                <a:lnTo>
                  <a:pt x="181146" y="270744"/>
                </a:lnTo>
                <a:lnTo>
                  <a:pt x="219856" y="263568"/>
                </a:lnTo>
                <a:lnTo>
                  <a:pt x="264995" y="242412"/>
                </a:lnTo>
                <a:lnTo>
                  <a:pt x="31985" y="0"/>
                </a:lnTo>
                <a:close/>
              </a:path>
            </a:pathLst>
          </a:custGeom>
          <a:noFill/>
          <a:ln w="9524">
            <a:solidFill>
              <a:srgbClr val="65ADC7"/>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44" name="object 149"/>
          <p:cNvSpPr txBox="1"/>
          <p:nvPr/>
        </p:nvSpPr>
        <p:spPr>
          <a:xfrm>
            <a:off x="3738563" y="2519354"/>
            <a:ext cx="2062162" cy="177800"/>
          </a:xfrm>
          <a:prstGeom prst="rect">
            <a:avLst/>
          </a:prstGeom>
        </p:spPr>
        <p:txBody>
          <a:bodyPr lIns="0" tIns="0" rIns="0" bIns="0"/>
          <a:lstStyle/>
          <a:p>
            <a:pPr marL="12700" fontAlgn="auto">
              <a:lnSpc>
                <a:spcPts val="1325"/>
              </a:lnSpc>
              <a:spcBef>
                <a:spcPts val="65"/>
              </a:spcBef>
              <a:spcAft>
                <a:spcPts val="0"/>
              </a:spcAft>
              <a:defRPr/>
            </a:pPr>
            <a:r>
              <a:rPr lang="zh-CN" altLang="en-US" sz="1400" dirty="0">
                <a:latin typeface="微软雅黑" panose="020B0503020204020204" charset="-122"/>
                <a:ea typeface="微软雅黑" panose="020B0503020204020204" charset="-122"/>
                <a:cs typeface="Arial" panose="020B0604020202020204"/>
              </a:rPr>
              <a:t>需求预测</a:t>
            </a:r>
            <a:r>
              <a:rPr sz="1400" spc="4" dirty="0">
                <a:latin typeface="微软雅黑" panose="020B0503020204020204" charset="-122"/>
                <a:ea typeface="微软雅黑" panose="020B0503020204020204" charset="-122"/>
                <a:cs typeface="Arial" panose="020B0604020202020204"/>
              </a:rPr>
              <a:t> </a:t>
            </a:r>
            <a:r>
              <a:rPr sz="1400" spc="-4" dirty="0">
                <a:latin typeface="微软雅黑" panose="020B0503020204020204" charset="-122"/>
                <a:ea typeface="微软雅黑" panose="020B0503020204020204" charset="-122"/>
                <a:cs typeface="Arial" panose="020B0604020202020204"/>
              </a:rPr>
              <a:t>(F</a:t>
            </a:r>
            <a:r>
              <a:rPr sz="1400" spc="-9" dirty="0">
                <a:latin typeface="微软雅黑" panose="020B0503020204020204" charset="-122"/>
                <a:ea typeface="微软雅黑" panose="020B0503020204020204" charset="-122"/>
                <a:cs typeface="Arial" panose="020B0604020202020204"/>
              </a:rPr>
              <a:t>o</a:t>
            </a:r>
            <a:r>
              <a:rPr sz="1400" spc="-4" dirty="0">
                <a:latin typeface="微软雅黑" panose="020B0503020204020204" charset="-122"/>
                <a:ea typeface="微软雅黑" panose="020B0503020204020204" charset="-122"/>
                <a:cs typeface="Arial" panose="020B0604020202020204"/>
              </a:rPr>
              <a:t>r</a:t>
            </a:r>
            <a:r>
              <a:rPr sz="1400" spc="4" dirty="0">
                <a:latin typeface="微软雅黑" panose="020B0503020204020204" charset="-122"/>
                <a:ea typeface="微软雅黑" panose="020B0503020204020204" charset="-122"/>
                <a:cs typeface="Arial" panose="020B0604020202020204"/>
              </a:rPr>
              <a:t>e</a:t>
            </a:r>
            <a:r>
              <a:rPr sz="1400" dirty="0">
                <a:latin typeface="微软雅黑" panose="020B0503020204020204" charset="-122"/>
                <a:ea typeface="微软雅黑" panose="020B0503020204020204" charset="-122"/>
                <a:cs typeface="Arial" panose="020B0604020202020204"/>
              </a:rPr>
              <a:t>c</a:t>
            </a:r>
            <a:r>
              <a:rPr sz="1400" spc="4" dirty="0">
                <a:latin typeface="微软雅黑" panose="020B0503020204020204" charset="-122"/>
                <a:ea typeface="微软雅黑" panose="020B0503020204020204" charset="-122"/>
                <a:cs typeface="Arial" panose="020B0604020202020204"/>
              </a:rPr>
              <a:t>a</a:t>
            </a:r>
            <a:r>
              <a:rPr sz="1400" dirty="0">
                <a:latin typeface="微软雅黑" panose="020B0503020204020204" charset="-122"/>
                <a:ea typeface="微软雅黑" panose="020B0503020204020204" charset="-122"/>
                <a:cs typeface="Arial" panose="020B0604020202020204"/>
              </a:rPr>
              <a:t>st)</a:t>
            </a:r>
          </a:p>
        </p:txBody>
      </p:sp>
      <p:sp>
        <p:nvSpPr>
          <p:cNvPr id="45" name="object 149"/>
          <p:cNvSpPr txBox="1"/>
          <p:nvPr/>
        </p:nvSpPr>
        <p:spPr>
          <a:xfrm>
            <a:off x="3738563" y="2951154"/>
            <a:ext cx="2062162" cy="177800"/>
          </a:xfrm>
          <a:prstGeom prst="rect">
            <a:avLst/>
          </a:prstGeom>
        </p:spPr>
        <p:txBody>
          <a:bodyPr lIns="0" tIns="0" rIns="0" bIns="0"/>
          <a:lstStyle/>
          <a:p>
            <a:pPr marL="12700" fontAlgn="auto">
              <a:lnSpc>
                <a:spcPts val="1325"/>
              </a:lnSpc>
              <a:spcBef>
                <a:spcPts val="65"/>
              </a:spcBef>
              <a:spcAft>
                <a:spcPts val="0"/>
              </a:spcAft>
              <a:defRPr/>
            </a:pPr>
            <a:r>
              <a:rPr lang="zh-CN" altLang="en-US" sz="1400" dirty="0">
                <a:latin typeface="微软雅黑" panose="020B0503020204020204" charset="-122"/>
                <a:ea typeface="微软雅黑" panose="020B0503020204020204" charset="-122"/>
                <a:cs typeface="Arial" panose="020B0604020202020204"/>
              </a:rPr>
              <a:t>需求预测确认</a:t>
            </a:r>
            <a:r>
              <a:rPr sz="1400" spc="4" dirty="0">
                <a:latin typeface="微软雅黑" panose="020B0503020204020204" charset="-122"/>
                <a:ea typeface="微软雅黑" panose="020B0503020204020204" charset="-122"/>
                <a:cs typeface="Arial" panose="020B0604020202020204"/>
              </a:rPr>
              <a:t> </a:t>
            </a:r>
            <a:r>
              <a:rPr sz="1400" spc="-4" dirty="0">
                <a:latin typeface="微软雅黑" panose="020B0503020204020204" charset="-122"/>
                <a:ea typeface="微软雅黑" panose="020B0503020204020204" charset="-122"/>
                <a:cs typeface="Arial" panose="020B0604020202020204"/>
              </a:rPr>
              <a:t>(F</a:t>
            </a:r>
            <a:r>
              <a:rPr sz="1400" spc="-9" dirty="0">
                <a:latin typeface="微软雅黑" panose="020B0503020204020204" charset="-122"/>
                <a:ea typeface="微软雅黑" panose="020B0503020204020204" charset="-122"/>
                <a:cs typeface="Arial" panose="020B0604020202020204"/>
              </a:rPr>
              <a:t>o</a:t>
            </a:r>
            <a:r>
              <a:rPr sz="1400" spc="-4" dirty="0">
                <a:latin typeface="微软雅黑" panose="020B0503020204020204" charset="-122"/>
                <a:ea typeface="微软雅黑" panose="020B0503020204020204" charset="-122"/>
                <a:cs typeface="Arial" panose="020B0604020202020204"/>
              </a:rPr>
              <a:t>r</a:t>
            </a:r>
            <a:r>
              <a:rPr sz="1400" spc="4" dirty="0">
                <a:latin typeface="微软雅黑" panose="020B0503020204020204" charset="-122"/>
                <a:ea typeface="微软雅黑" panose="020B0503020204020204" charset="-122"/>
                <a:cs typeface="Arial" panose="020B0604020202020204"/>
              </a:rPr>
              <a:t>e</a:t>
            </a:r>
            <a:r>
              <a:rPr sz="1400" dirty="0">
                <a:latin typeface="微软雅黑" panose="020B0503020204020204" charset="-122"/>
                <a:ea typeface="微软雅黑" panose="020B0503020204020204" charset="-122"/>
                <a:cs typeface="Arial" panose="020B0604020202020204"/>
              </a:rPr>
              <a:t>c</a:t>
            </a:r>
            <a:r>
              <a:rPr sz="1400" spc="4" dirty="0">
                <a:latin typeface="微软雅黑" panose="020B0503020204020204" charset="-122"/>
                <a:ea typeface="微软雅黑" panose="020B0503020204020204" charset="-122"/>
                <a:cs typeface="Arial" panose="020B0604020202020204"/>
              </a:rPr>
              <a:t>a</a:t>
            </a:r>
            <a:r>
              <a:rPr sz="1400" dirty="0">
                <a:latin typeface="微软雅黑" panose="020B0503020204020204" charset="-122"/>
                <a:ea typeface="微软雅黑" panose="020B0503020204020204" charset="-122"/>
                <a:cs typeface="Arial" panose="020B0604020202020204"/>
              </a:rPr>
              <a:t>st)</a:t>
            </a:r>
          </a:p>
        </p:txBody>
      </p:sp>
      <p:sp>
        <p:nvSpPr>
          <p:cNvPr id="46" name="object 150"/>
          <p:cNvSpPr txBox="1">
            <a:spLocks noChangeArrowheads="1"/>
          </p:cNvSpPr>
          <p:nvPr/>
        </p:nvSpPr>
        <p:spPr bwMode="auto">
          <a:xfrm>
            <a:off x="6602413" y="2671754"/>
            <a:ext cx="303212" cy="330200"/>
          </a:xfrm>
          <a:prstGeom prst="rect">
            <a:avLst/>
          </a:prstGeom>
          <a:noFill/>
          <a:ln w="9525">
            <a:noFill/>
            <a:miter lim="800000"/>
          </a:ln>
        </p:spPr>
        <p:txBody>
          <a:bodyPr lIns="0" tIns="0" rIns="0" bIns="0"/>
          <a:lstStyle/>
          <a:p>
            <a:pPr marL="12700">
              <a:lnSpc>
                <a:spcPts val="2550"/>
              </a:lnSpc>
              <a:spcBef>
                <a:spcPts val="125"/>
              </a:spcBef>
            </a:pPr>
            <a:r>
              <a:rPr lang="zh-CN" altLang="zh-CN" b="1">
                <a:latin typeface="微软雅黑" panose="020B0503020204020204" charset="-122"/>
                <a:ea typeface="微软雅黑" panose="020B0503020204020204" charset="-122"/>
                <a:cs typeface="Arial" panose="020B0604020202020204" pitchFamily="34" charset="0"/>
              </a:rPr>
              <a:t>A</a:t>
            </a:r>
            <a:endParaRPr lang="zh-CN" altLang="zh-CN">
              <a:latin typeface="微软雅黑" panose="020B0503020204020204" charset="-122"/>
              <a:ea typeface="微软雅黑" panose="020B0503020204020204" charset="-122"/>
              <a:cs typeface="Arial" panose="020B0604020202020204" pitchFamily="34" charset="0"/>
            </a:endParaRPr>
          </a:p>
        </p:txBody>
      </p:sp>
      <p:sp>
        <p:nvSpPr>
          <p:cNvPr id="47" name="object 169"/>
          <p:cNvSpPr/>
          <p:nvPr/>
        </p:nvSpPr>
        <p:spPr bwMode="auto">
          <a:xfrm>
            <a:off x="5191125" y="3662354"/>
            <a:ext cx="2617788" cy="128588"/>
          </a:xfrm>
          <a:custGeom>
            <a:avLst/>
            <a:gdLst>
              <a:gd name="T0" fmla="*/ 0 w 3608831"/>
              <a:gd name="T1" fmla="*/ 35850 h 128015"/>
              <a:gd name="T2" fmla="*/ 1703 w 3608831"/>
              <a:gd name="T3" fmla="*/ 57035 h 128015"/>
              <a:gd name="T4" fmla="*/ 1086 w 3608831"/>
              <a:gd name="T5" fmla="*/ 57035 h 128015"/>
              <a:gd name="T6" fmla="*/ 2777 w 3608831"/>
              <a:gd name="T7" fmla="*/ 37480 h 128015"/>
              <a:gd name="T8" fmla="*/ 2777 w 3608831"/>
              <a:gd name="T9" fmla="*/ 58665 h 128015"/>
              <a:gd name="T10" fmla="*/ 3247 w 3608831"/>
              <a:gd name="T11" fmla="*/ 37480 h 128015"/>
              <a:gd name="T12" fmla="*/ 4938 w 3608831"/>
              <a:gd name="T13" fmla="*/ 60294 h 128015"/>
              <a:gd name="T14" fmla="*/ 4321 w 3608831"/>
              <a:gd name="T15" fmla="*/ 58665 h 128015"/>
              <a:gd name="T16" fmla="*/ 6024 w 3608831"/>
              <a:gd name="T17" fmla="*/ 40740 h 128015"/>
              <a:gd name="T18" fmla="*/ 6024 w 3608831"/>
              <a:gd name="T19" fmla="*/ 60294 h 128015"/>
              <a:gd name="T20" fmla="*/ 6481 w 3608831"/>
              <a:gd name="T21" fmla="*/ 40740 h 128015"/>
              <a:gd name="T22" fmla="*/ 8185 w 3608831"/>
              <a:gd name="T23" fmla="*/ 61923 h 128015"/>
              <a:gd name="T24" fmla="*/ 7567 w 3608831"/>
              <a:gd name="T25" fmla="*/ 61923 h 128015"/>
              <a:gd name="T26" fmla="*/ 9259 w 3608831"/>
              <a:gd name="T27" fmla="*/ 42368 h 128015"/>
              <a:gd name="T28" fmla="*/ 9259 w 3608831"/>
              <a:gd name="T29" fmla="*/ 63552 h 128015"/>
              <a:gd name="T30" fmla="*/ 9728 w 3608831"/>
              <a:gd name="T31" fmla="*/ 43998 h 128015"/>
              <a:gd name="T32" fmla="*/ 11419 w 3608831"/>
              <a:gd name="T33" fmla="*/ 65183 h 128015"/>
              <a:gd name="T34" fmla="*/ 10802 w 3608831"/>
              <a:gd name="T35" fmla="*/ 65183 h 128015"/>
              <a:gd name="T36" fmla="*/ 12506 w 3608831"/>
              <a:gd name="T37" fmla="*/ 45628 h 128015"/>
              <a:gd name="T38" fmla="*/ 12506 w 3608831"/>
              <a:gd name="T39" fmla="*/ 65183 h 128015"/>
              <a:gd name="T40" fmla="*/ 12963 w 3608831"/>
              <a:gd name="T41" fmla="*/ 45628 h 128015"/>
              <a:gd name="T42" fmla="*/ 14667 w 3608831"/>
              <a:gd name="T43" fmla="*/ 68442 h 128015"/>
              <a:gd name="T44" fmla="*/ 14049 w 3608831"/>
              <a:gd name="T45" fmla="*/ 66812 h 128015"/>
              <a:gd name="T46" fmla="*/ 15741 w 3608831"/>
              <a:gd name="T47" fmla="*/ 48886 h 128015"/>
              <a:gd name="T48" fmla="*/ 15741 w 3608831"/>
              <a:gd name="T49" fmla="*/ 68442 h 128015"/>
              <a:gd name="T50" fmla="*/ 16209 w 3608831"/>
              <a:gd name="T51" fmla="*/ 48886 h 128015"/>
              <a:gd name="T52" fmla="*/ 17901 w 3608831"/>
              <a:gd name="T53" fmla="*/ 70071 h 128015"/>
              <a:gd name="T54" fmla="*/ 17284 w 3608831"/>
              <a:gd name="T55" fmla="*/ 70071 h 128015"/>
              <a:gd name="T56" fmla="*/ 18987 w 3608831"/>
              <a:gd name="T57" fmla="*/ 50513 h 128015"/>
              <a:gd name="T58" fmla="*/ 18987 w 3608831"/>
              <a:gd name="T59" fmla="*/ 71701 h 128015"/>
              <a:gd name="T60" fmla="*/ 19444 w 3608831"/>
              <a:gd name="T61" fmla="*/ 50513 h 128015"/>
              <a:gd name="T62" fmla="*/ 21148 w 3608831"/>
              <a:gd name="T63" fmla="*/ 73331 h 128015"/>
              <a:gd name="T64" fmla="*/ 20531 w 3608831"/>
              <a:gd name="T65" fmla="*/ 71701 h 128015"/>
              <a:gd name="T66" fmla="*/ 22221 w 3608831"/>
              <a:gd name="T67" fmla="*/ 53773 h 128015"/>
              <a:gd name="T68" fmla="*/ 22221 w 3608831"/>
              <a:gd name="T69" fmla="*/ 73331 h 128015"/>
              <a:gd name="T70" fmla="*/ 22691 w 3608831"/>
              <a:gd name="T71" fmla="*/ 53773 h 128015"/>
              <a:gd name="T72" fmla="*/ 24382 w 3608831"/>
              <a:gd name="T73" fmla="*/ 74961 h 128015"/>
              <a:gd name="T74" fmla="*/ 23765 w 3608831"/>
              <a:gd name="T75" fmla="*/ 74961 h 128015"/>
              <a:gd name="T76" fmla="*/ 25469 w 3608831"/>
              <a:gd name="T77" fmla="*/ 55405 h 128015"/>
              <a:gd name="T78" fmla="*/ 25469 w 3608831"/>
              <a:gd name="T79" fmla="*/ 76589 h 128015"/>
              <a:gd name="T80" fmla="*/ 25925 w 3608831"/>
              <a:gd name="T81" fmla="*/ 57035 h 128015"/>
              <a:gd name="T82" fmla="*/ 27629 w 3608831"/>
              <a:gd name="T83" fmla="*/ 78218 h 128015"/>
              <a:gd name="T84" fmla="*/ 27012 w 3608831"/>
              <a:gd name="T85" fmla="*/ 78218 h 128015"/>
              <a:gd name="T86" fmla="*/ 28086 w 3608831"/>
              <a:gd name="T87" fmla="*/ 58665 h 128015"/>
              <a:gd name="T88" fmla="*/ 28204 w 3608831"/>
              <a:gd name="T89" fmla="*/ 58665 h 128015"/>
              <a:gd name="T90" fmla="*/ 28201 w 3608831"/>
              <a:gd name="T91" fmla="*/ 78218 h 128015"/>
              <a:gd name="T92" fmla="*/ 28308 w 3608831"/>
              <a:gd name="T93" fmla="*/ 78218 h 128015"/>
              <a:gd name="T94" fmla="*/ 28201 w 3608831"/>
              <a:gd name="T95" fmla="*/ 78218 h 128015"/>
              <a:gd name="T96" fmla="*/ 28209 w 3608831"/>
              <a:gd name="T97" fmla="*/ 0 h 128015"/>
              <a:gd name="T98" fmla="*/ 28308 w 3608831"/>
              <a:gd name="T99" fmla="*/ 129725 h 12801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608831"/>
              <a:gd name="T151" fmla="*/ 0 h 128015"/>
              <a:gd name="T152" fmla="*/ 3608831 w 3608831"/>
              <a:gd name="T153" fmla="*/ 128015 h 12801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608831" h="128015">
                <a:moveTo>
                  <a:pt x="76199" y="53339"/>
                </a:moveTo>
                <a:lnTo>
                  <a:pt x="76199" y="33527"/>
                </a:lnTo>
                <a:lnTo>
                  <a:pt x="0" y="33527"/>
                </a:lnTo>
                <a:lnTo>
                  <a:pt x="0" y="51815"/>
                </a:lnTo>
                <a:lnTo>
                  <a:pt x="76199" y="53339"/>
                </a:lnTo>
                <a:close/>
              </a:path>
              <a:path w="3608831" h="128015">
                <a:moveTo>
                  <a:pt x="210311" y="53339"/>
                </a:moveTo>
                <a:lnTo>
                  <a:pt x="210311" y="35051"/>
                </a:lnTo>
                <a:lnTo>
                  <a:pt x="134111" y="33527"/>
                </a:lnTo>
                <a:lnTo>
                  <a:pt x="134111" y="53339"/>
                </a:lnTo>
                <a:lnTo>
                  <a:pt x="210311" y="53339"/>
                </a:lnTo>
                <a:close/>
              </a:path>
              <a:path w="3608831" h="128015">
                <a:moveTo>
                  <a:pt x="342899" y="54863"/>
                </a:moveTo>
                <a:lnTo>
                  <a:pt x="342899" y="35051"/>
                </a:lnTo>
                <a:lnTo>
                  <a:pt x="266699" y="35051"/>
                </a:lnTo>
                <a:lnTo>
                  <a:pt x="266699" y="53339"/>
                </a:lnTo>
                <a:lnTo>
                  <a:pt x="342899" y="54863"/>
                </a:lnTo>
                <a:close/>
              </a:path>
              <a:path w="3608831" h="128015">
                <a:moveTo>
                  <a:pt x="477011" y="54863"/>
                </a:moveTo>
                <a:lnTo>
                  <a:pt x="477011" y="36575"/>
                </a:lnTo>
                <a:lnTo>
                  <a:pt x="400811" y="35051"/>
                </a:lnTo>
                <a:lnTo>
                  <a:pt x="400811" y="54863"/>
                </a:lnTo>
                <a:lnTo>
                  <a:pt x="477011" y="54863"/>
                </a:lnTo>
                <a:close/>
              </a:path>
              <a:path w="3608831" h="128015">
                <a:moveTo>
                  <a:pt x="609599" y="56387"/>
                </a:moveTo>
                <a:lnTo>
                  <a:pt x="609599" y="36575"/>
                </a:lnTo>
                <a:lnTo>
                  <a:pt x="533399" y="36575"/>
                </a:lnTo>
                <a:lnTo>
                  <a:pt x="533399" y="54863"/>
                </a:lnTo>
                <a:lnTo>
                  <a:pt x="609599" y="56387"/>
                </a:lnTo>
                <a:close/>
              </a:path>
              <a:path w="3608831" h="128015">
                <a:moveTo>
                  <a:pt x="743711" y="56387"/>
                </a:moveTo>
                <a:lnTo>
                  <a:pt x="743711" y="38099"/>
                </a:lnTo>
                <a:lnTo>
                  <a:pt x="667511" y="36575"/>
                </a:lnTo>
                <a:lnTo>
                  <a:pt x="667511" y="56387"/>
                </a:lnTo>
                <a:lnTo>
                  <a:pt x="743711" y="56387"/>
                </a:lnTo>
                <a:close/>
              </a:path>
              <a:path w="3608831" h="128015">
                <a:moveTo>
                  <a:pt x="876299" y="57911"/>
                </a:moveTo>
                <a:lnTo>
                  <a:pt x="876299" y="38099"/>
                </a:lnTo>
                <a:lnTo>
                  <a:pt x="800099" y="38099"/>
                </a:lnTo>
                <a:lnTo>
                  <a:pt x="800099" y="56387"/>
                </a:lnTo>
                <a:lnTo>
                  <a:pt x="876299" y="57911"/>
                </a:lnTo>
                <a:close/>
              </a:path>
              <a:path w="3608831" h="128015">
                <a:moveTo>
                  <a:pt x="1010411" y="57911"/>
                </a:moveTo>
                <a:lnTo>
                  <a:pt x="1010411" y="39623"/>
                </a:lnTo>
                <a:lnTo>
                  <a:pt x="934211" y="39623"/>
                </a:lnTo>
                <a:lnTo>
                  <a:pt x="934211" y="57911"/>
                </a:lnTo>
                <a:lnTo>
                  <a:pt x="1010411" y="57911"/>
                </a:lnTo>
                <a:close/>
              </a:path>
              <a:path w="3608831" h="128015">
                <a:moveTo>
                  <a:pt x="1142999" y="59435"/>
                </a:moveTo>
                <a:lnTo>
                  <a:pt x="1142999" y="39623"/>
                </a:lnTo>
                <a:lnTo>
                  <a:pt x="1066799" y="39623"/>
                </a:lnTo>
                <a:lnTo>
                  <a:pt x="1066799" y="59435"/>
                </a:lnTo>
                <a:lnTo>
                  <a:pt x="1142999" y="59435"/>
                </a:lnTo>
                <a:close/>
              </a:path>
              <a:path w="3608831" h="128015">
                <a:moveTo>
                  <a:pt x="1277111" y="59435"/>
                </a:moveTo>
                <a:lnTo>
                  <a:pt x="1277111" y="41147"/>
                </a:lnTo>
                <a:lnTo>
                  <a:pt x="1200911" y="41147"/>
                </a:lnTo>
                <a:lnTo>
                  <a:pt x="1200911" y="59435"/>
                </a:lnTo>
                <a:lnTo>
                  <a:pt x="1277111" y="59435"/>
                </a:lnTo>
                <a:close/>
              </a:path>
              <a:path w="3608831" h="128015">
                <a:moveTo>
                  <a:pt x="1409699" y="60959"/>
                </a:moveTo>
                <a:lnTo>
                  <a:pt x="1409699" y="41147"/>
                </a:lnTo>
                <a:lnTo>
                  <a:pt x="1333499" y="41147"/>
                </a:lnTo>
                <a:lnTo>
                  <a:pt x="1333499" y="60959"/>
                </a:lnTo>
                <a:lnTo>
                  <a:pt x="1409699" y="60959"/>
                </a:lnTo>
                <a:close/>
              </a:path>
              <a:path w="3608831" h="128015">
                <a:moveTo>
                  <a:pt x="1543811" y="60959"/>
                </a:moveTo>
                <a:lnTo>
                  <a:pt x="1543811" y="42671"/>
                </a:lnTo>
                <a:lnTo>
                  <a:pt x="1467611" y="42671"/>
                </a:lnTo>
                <a:lnTo>
                  <a:pt x="1467611" y="60959"/>
                </a:lnTo>
                <a:lnTo>
                  <a:pt x="1543811" y="60959"/>
                </a:lnTo>
                <a:close/>
              </a:path>
              <a:path w="3608831" h="128015">
                <a:moveTo>
                  <a:pt x="1676399" y="62483"/>
                </a:moveTo>
                <a:lnTo>
                  <a:pt x="1676399" y="44195"/>
                </a:lnTo>
                <a:lnTo>
                  <a:pt x="1600199" y="42671"/>
                </a:lnTo>
                <a:lnTo>
                  <a:pt x="1600199" y="62483"/>
                </a:lnTo>
                <a:lnTo>
                  <a:pt x="1676399" y="62483"/>
                </a:lnTo>
                <a:close/>
              </a:path>
              <a:path w="3608831" h="128015">
                <a:moveTo>
                  <a:pt x="1810511" y="64007"/>
                </a:moveTo>
                <a:lnTo>
                  <a:pt x="1810511" y="44195"/>
                </a:lnTo>
                <a:lnTo>
                  <a:pt x="1734311" y="44195"/>
                </a:lnTo>
                <a:lnTo>
                  <a:pt x="1734311" y="62483"/>
                </a:lnTo>
                <a:lnTo>
                  <a:pt x="1810511" y="64007"/>
                </a:lnTo>
                <a:close/>
              </a:path>
              <a:path w="3608831" h="128015">
                <a:moveTo>
                  <a:pt x="1943099" y="64007"/>
                </a:moveTo>
                <a:lnTo>
                  <a:pt x="1943099" y="45719"/>
                </a:lnTo>
                <a:lnTo>
                  <a:pt x="1866899" y="44195"/>
                </a:lnTo>
                <a:lnTo>
                  <a:pt x="1866899" y="64007"/>
                </a:lnTo>
                <a:lnTo>
                  <a:pt x="1943099" y="64007"/>
                </a:lnTo>
                <a:close/>
              </a:path>
              <a:path w="3608831" h="128015">
                <a:moveTo>
                  <a:pt x="2077211" y="65531"/>
                </a:moveTo>
                <a:lnTo>
                  <a:pt x="2077211" y="45719"/>
                </a:lnTo>
                <a:lnTo>
                  <a:pt x="2001011" y="45719"/>
                </a:lnTo>
                <a:lnTo>
                  <a:pt x="2001011" y="64007"/>
                </a:lnTo>
                <a:lnTo>
                  <a:pt x="2077211" y="65531"/>
                </a:lnTo>
                <a:close/>
              </a:path>
              <a:path w="3608831" h="128015">
                <a:moveTo>
                  <a:pt x="2209799" y="65531"/>
                </a:moveTo>
                <a:lnTo>
                  <a:pt x="2209799" y="47243"/>
                </a:lnTo>
                <a:lnTo>
                  <a:pt x="2133599" y="45719"/>
                </a:lnTo>
                <a:lnTo>
                  <a:pt x="2133599" y="65531"/>
                </a:lnTo>
                <a:lnTo>
                  <a:pt x="2209799" y="65531"/>
                </a:lnTo>
                <a:close/>
              </a:path>
              <a:path w="3608831" h="128015">
                <a:moveTo>
                  <a:pt x="2343911" y="67055"/>
                </a:moveTo>
                <a:lnTo>
                  <a:pt x="2343911" y="47243"/>
                </a:lnTo>
                <a:lnTo>
                  <a:pt x="2267711" y="47243"/>
                </a:lnTo>
                <a:lnTo>
                  <a:pt x="2267711" y="65531"/>
                </a:lnTo>
                <a:lnTo>
                  <a:pt x="2343911" y="67055"/>
                </a:lnTo>
                <a:close/>
              </a:path>
              <a:path w="3608831" h="128015">
                <a:moveTo>
                  <a:pt x="2476499" y="67055"/>
                </a:moveTo>
                <a:lnTo>
                  <a:pt x="2476499" y="48767"/>
                </a:lnTo>
                <a:lnTo>
                  <a:pt x="2400299" y="47243"/>
                </a:lnTo>
                <a:lnTo>
                  <a:pt x="2400299" y="67055"/>
                </a:lnTo>
                <a:lnTo>
                  <a:pt x="2476499" y="67055"/>
                </a:lnTo>
                <a:close/>
              </a:path>
              <a:path w="3608831" h="128015">
                <a:moveTo>
                  <a:pt x="2610611" y="68579"/>
                </a:moveTo>
                <a:lnTo>
                  <a:pt x="2610611" y="48767"/>
                </a:lnTo>
                <a:lnTo>
                  <a:pt x="2534411" y="48767"/>
                </a:lnTo>
                <a:lnTo>
                  <a:pt x="2534411" y="67055"/>
                </a:lnTo>
                <a:lnTo>
                  <a:pt x="2610611" y="68579"/>
                </a:lnTo>
                <a:close/>
              </a:path>
              <a:path w="3608831" h="128015">
                <a:moveTo>
                  <a:pt x="2743199" y="68579"/>
                </a:moveTo>
                <a:lnTo>
                  <a:pt x="2743199" y="50291"/>
                </a:lnTo>
                <a:lnTo>
                  <a:pt x="2666999" y="50291"/>
                </a:lnTo>
                <a:lnTo>
                  <a:pt x="2666999" y="68579"/>
                </a:lnTo>
                <a:lnTo>
                  <a:pt x="2743199" y="68579"/>
                </a:lnTo>
                <a:close/>
              </a:path>
              <a:path w="3608831" h="128015">
                <a:moveTo>
                  <a:pt x="2877311" y="70103"/>
                </a:moveTo>
                <a:lnTo>
                  <a:pt x="2877311" y="50291"/>
                </a:lnTo>
                <a:lnTo>
                  <a:pt x="2801111" y="50291"/>
                </a:lnTo>
                <a:lnTo>
                  <a:pt x="2801111" y="70103"/>
                </a:lnTo>
                <a:lnTo>
                  <a:pt x="2877311" y="70103"/>
                </a:lnTo>
                <a:close/>
              </a:path>
              <a:path w="3608831" h="128015">
                <a:moveTo>
                  <a:pt x="3009899" y="70103"/>
                </a:moveTo>
                <a:lnTo>
                  <a:pt x="3009899" y="51815"/>
                </a:lnTo>
                <a:lnTo>
                  <a:pt x="2933699" y="51815"/>
                </a:lnTo>
                <a:lnTo>
                  <a:pt x="2933699" y="70103"/>
                </a:lnTo>
                <a:lnTo>
                  <a:pt x="3009899" y="70103"/>
                </a:lnTo>
                <a:close/>
              </a:path>
              <a:path w="3608831" h="128015">
                <a:moveTo>
                  <a:pt x="3144011" y="71627"/>
                </a:moveTo>
                <a:lnTo>
                  <a:pt x="3144011" y="51815"/>
                </a:lnTo>
                <a:lnTo>
                  <a:pt x="3067811" y="51815"/>
                </a:lnTo>
                <a:lnTo>
                  <a:pt x="3067811" y="71627"/>
                </a:lnTo>
                <a:lnTo>
                  <a:pt x="3144011" y="71627"/>
                </a:lnTo>
                <a:close/>
              </a:path>
              <a:path w="3608831" h="128015">
                <a:moveTo>
                  <a:pt x="3276599" y="73151"/>
                </a:moveTo>
                <a:lnTo>
                  <a:pt x="3276599" y="53339"/>
                </a:lnTo>
                <a:lnTo>
                  <a:pt x="3200399" y="53339"/>
                </a:lnTo>
                <a:lnTo>
                  <a:pt x="3200399" y="71627"/>
                </a:lnTo>
                <a:lnTo>
                  <a:pt x="3276599" y="73151"/>
                </a:lnTo>
                <a:close/>
              </a:path>
              <a:path w="3608831" h="128015">
                <a:moveTo>
                  <a:pt x="3410711" y="73151"/>
                </a:moveTo>
                <a:lnTo>
                  <a:pt x="3410711" y="54863"/>
                </a:lnTo>
                <a:lnTo>
                  <a:pt x="3334511" y="53339"/>
                </a:lnTo>
                <a:lnTo>
                  <a:pt x="3334511" y="73151"/>
                </a:lnTo>
                <a:lnTo>
                  <a:pt x="3410711" y="73151"/>
                </a:lnTo>
                <a:close/>
              </a:path>
              <a:path w="3608831" h="128015">
                <a:moveTo>
                  <a:pt x="3481686" y="54863"/>
                </a:moveTo>
                <a:lnTo>
                  <a:pt x="3467099" y="54863"/>
                </a:lnTo>
                <a:lnTo>
                  <a:pt x="3467099" y="73151"/>
                </a:lnTo>
                <a:lnTo>
                  <a:pt x="3481469" y="73151"/>
                </a:lnTo>
                <a:lnTo>
                  <a:pt x="3481686" y="54863"/>
                </a:lnTo>
                <a:close/>
              </a:path>
              <a:path w="3608831" h="128015">
                <a:moveTo>
                  <a:pt x="3494531" y="121321"/>
                </a:moveTo>
                <a:lnTo>
                  <a:pt x="3494531" y="73151"/>
                </a:lnTo>
                <a:lnTo>
                  <a:pt x="3481469" y="73151"/>
                </a:lnTo>
                <a:lnTo>
                  <a:pt x="3480815" y="128015"/>
                </a:lnTo>
                <a:lnTo>
                  <a:pt x="3494531" y="121321"/>
                </a:lnTo>
                <a:close/>
              </a:path>
              <a:path w="3608831" h="128015">
                <a:moveTo>
                  <a:pt x="3494531" y="73151"/>
                </a:moveTo>
                <a:lnTo>
                  <a:pt x="3494531" y="54863"/>
                </a:lnTo>
                <a:lnTo>
                  <a:pt x="3481686" y="54863"/>
                </a:lnTo>
                <a:lnTo>
                  <a:pt x="3481469" y="73151"/>
                </a:lnTo>
                <a:lnTo>
                  <a:pt x="3494531" y="73151"/>
                </a:lnTo>
                <a:close/>
              </a:path>
              <a:path w="3608831" h="128015">
                <a:moveTo>
                  <a:pt x="3608831" y="65531"/>
                </a:moveTo>
                <a:lnTo>
                  <a:pt x="3482339" y="0"/>
                </a:lnTo>
                <a:lnTo>
                  <a:pt x="3481686" y="54863"/>
                </a:lnTo>
                <a:lnTo>
                  <a:pt x="3494531" y="54863"/>
                </a:lnTo>
                <a:lnTo>
                  <a:pt x="3494531" y="121321"/>
                </a:lnTo>
                <a:lnTo>
                  <a:pt x="3608831" y="65531"/>
                </a:lnTo>
                <a:close/>
              </a:path>
            </a:pathLst>
          </a:custGeom>
          <a:solidFill>
            <a:srgbClr val="5D6274"/>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48" name="object 149"/>
          <p:cNvSpPr txBox="1"/>
          <p:nvPr/>
        </p:nvSpPr>
        <p:spPr>
          <a:xfrm>
            <a:off x="5795963" y="3484554"/>
            <a:ext cx="2062162" cy="177800"/>
          </a:xfrm>
          <a:prstGeom prst="rect">
            <a:avLst/>
          </a:prstGeom>
        </p:spPr>
        <p:txBody>
          <a:bodyPr lIns="0" tIns="0" rIns="0" bIns="0"/>
          <a:lstStyle/>
          <a:p>
            <a:pPr marL="12700" fontAlgn="auto">
              <a:lnSpc>
                <a:spcPts val="1325"/>
              </a:lnSpc>
              <a:spcBef>
                <a:spcPts val="65"/>
              </a:spcBef>
              <a:spcAft>
                <a:spcPts val="0"/>
              </a:spcAft>
              <a:defRPr/>
            </a:pPr>
            <a:r>
              <a:rPr lang="zh-CN" altLang="en-US" sz="1400" dirty="0">
                <a:latin typeface="微软雅黑" panose="020B0503020204020204" charset="-122"/>
                <a:ea typeface="微软雅黑" panose="020B0503020204020204" charset="-122"/>
                <a:cs typeface="Arial" panose="020B0604020202020204"/>
              </a:rPr>
              <a:t>现有库存（</a:t>
            </a:r>
            <a:r>
              <a:rPr lang="en-US" altLang="zh-CN" sz="1400" dirty="0">
                <a:latin typeface="微软雅黑" panose="020B0503020204020204" charset="-122"/>
                <a:ea typeface="微软雅黑" panose="020B0503020204020204" charset="-122"/>
                <a:cs typeface="Arial" panose="020B0604020202020204"/>
              </a:rPr>
              <a:t>On Hand Inventory</a:t>
            </a:r>
            <a:r>
              <a:rPr lang="zh-CN" altLang="en-US" sz="1400" dirty="0">
                <a:latin typeface="微软雅黑" panose="020B0503020204020204" charset="-122"/>
                <a:ea typeface="微软雅黑" panose="020B0503020204020204" charset="-122"/>
                <a:cs typeface="Arial" panose="020B0604020202020204"/>
              </a:rPr>
              <a:t>）</a:t>
            </a:r>
            <a:endParaRPr sz="1400" dirty="0">
              <a:latin typeface="微软雅黑" panose="020B0503020204020204" charset="-122"/>
              <a:ea typeface="微软雅黑" panose="020B0503020204020204" charset="-122"/>
              <a:cs typeface="Arial" panose="020B0604020202020204"/>
            </a:endParaRPr>
          </a:p>
        </p:txBody>
      </p:sp>
      <p:sp>
        <p:nvSpPr>
          <p:cNvPr id="49" name="object 135"/>
          <p:cNvSpPr/>
          <p:nvPr/>
        </p:nvSpPr>
        <p:spPr bwMode="auto">
          <a:xfrm>
            <a:off x="6496050" y="3890954"/>
            <a:ext cx="457200" cy="457200"/>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solidFill>
            <a:srgbClr val="FFFFFF"/>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50" name="object 136"/>
          <p:cNvSpPr/>
          <p:nvPr/>
        </p:nvSpPr>
        <p:spPr bwMode="auto">
          <a:xfrm>
            <a:off x="6496050" y="3890954"/>
            <a:ext cx="457200" cy="457200"/>
          </a:xfrm>
          <a:custGeom>
            <a:avLst/>
            <a:gdLst>
              <a:gd name="T0" fmla="*/ 0 w 457199"/>
              <a:gd name="T1" fmla="*/ 228599 h 457199"/>
              <a:gd name="T2" fmla="*/ 6629 w 457199"/>
              <a:gd name="T3" fmla="*/ 174082 h 457199"/>
              <a:gd name="T4" fmla="*/ 25470 w 457199"/>
              <a:gd name="T5" fmla="*/ 124111 h 457199"/>
              <a:gd name="T6" fmla="*/ 54948 w 457199"/>
              <a:gd name="T7" fmla="*/ 80354 h 457199"/>
              <a:gd name="T8" fmla="*/ 93488 w 457199"/>
              <a:gd name="T9" fmla="*/ 44476 h 457199"/>
              <a:gd name="T10" fmla="*/ 139517 w 457199"/>
              <a:gd name="T11" fmla="*/ 18145 h 457199"/>
              <a:gd name="T12" fmla="*/ 191461 w 457199"/>
              <a:gd name="T13" fmla="*/ 3026 h 457199"/>
              <a:gd name="T14" fmla="*/ 228599 w 457199"/>
              <a:gd name="T15" fmla="*/ 0 h 457199"/>
              <a:gd name="T16" fmla="*/ 247381 w 457199"/>
              <a:gd name="T17" fmla="*/ 766 h 457199"/>
              <a:gd name="T18" fmla="*/ 300947 w 457199"/>
              <a:gd name="T19" fmla="*/ 11777 h 457199"/>
              <a:gd name="T20" fmla="*/ 349123 w 457199"/>
              <a:gd name="T21" fmla="*/ 34556 h 457199"/>
              <a:gd name="T22" fmla="*/ 390334 w 457199"/>
              <a:gd name="T23" fmla="*/ 67436 h 457199"/>
              <a:gd name="T24" fmla="*/ 423007 w 457199"/>
              <a:gd name="T25" fmla="*/ 108753 h 457199"/>
              <a:gd name="T26" fmla="*/ 445568 w 457199"/>
              <a:gd name="T27" fmla="*/ 156837 h 457199"/>
              <a:gd name="T28" fmla="*/ 456443 w 457199"/>
              <a:gd name="T29" fmla="*/ 210025 h 457199"/>
              <a:gd name="T30" fmla="*/ 457199 w 457199"/>
              <a:gd name="T31" fmla="*/ 228599 h 457199"/>
              <a:gd name="T32" fmla="*/ 456443 w 457199"/>
              <a:gd name="T33" fmla="*/ 247381 h 457199"/>
              <a:gd name="T34" fmla="*/ 445568 w 457199"/>
              <a:gd name="T35" fmla="*/ 300947 h 457199"/>
              <a:gd name="T36" fmla="*/ 423007 w 457199"/>
              <a:gd name="T37" fmla="*/ 349123 h 457199"/>
              <a:gd name="T38" fmla="*/ 390334 w 457199"/>
              <a:gd name="T39" fmla="*/ 390334 h 457199"/>
              <a:gd name="T40" fmla="*/ 349123 w 457199"/>
              <a:gd name="T41" fmla="*/ 423007 h 457199"/>
              <a:gd name="T42" fmla="*/ 300947 w 457199"/>
              <a:gd name="T43" fmla="*/ 445568 h 457199"/>
              <a:gd name="T44" fmla="*/ 247381 w 457199"/>
              <a:gd name="T45" fmla="*/ 456443 h 457199"/>
              <a:gd name="T46" fmla="*/ 228599 w 457199"/>
              <a:gd name="T47" fmla="*/ 457199 h 457199"/>
              <a:gd name="T48" fmla="*/ 209818 w 457199"/>
              <a:gd name="T49" fmla="*/ 456443 h 457199"/>
              <a:gd name="T50" fmla="*/ 156252 w 457199"/>
              <a:gd name="T51" fmla="*/ 445568 h 457199"/>
              <a:gd name="T52" fmla="*/ 108076 w 457199"/>
              <a:gd name="T53" fmla="*/ 423007 h 457199"/>
              <a:gd name="T54" fmla="*/ 66865 w 457199"/>
              <a:gd name="T55" fmla="*/ 390334 h 457199"/>
              <a:gd name="T56" fmla="*/ 34192 w 457199"/>
              <a:gd name="T57" fmla="*/ 349123 h 457199"/>
              <a:gd name="T58" fmla="*/ 11631 w 457199"/>
              <a:gd name="T59" fmla="*/ 300947 h 457199"/>
              <a:gd name="T60" fmla="*/ 756 w 457199"/>
              <a:gd name="T61" fmla="*/ 247381 h 457199"/>
              <a:gd name="T62" fmla="*/ 0 w 457199"/>
              <a:gd name="T63" fmla="*/ 228599 h 4571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57199"/>
              <a:gd name="T97" fmla="*/ 0 h 457199"/>
              <a:gd name="T98" fmla="*/ 457199 w 457199"/>
              <a:gd name="T99" fmla="*/ 457199 h 4571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57199" h="457199">
                <a:moveTo>
                  <a:pt x="0" y="228599"/>
                </a:moveTo>
                <a:lnTo>
                  <a:pt x="6629" y="174082"/>
                </a:lnTo>
                <a:lnTo>
                  <a:pt x="25470" y="124111"/>
                </a:lnTo>
                <a:lnTo>
                  <a:pt x="54948" y="80354"/>
                </a:lnTo>
                <a:lnTo>
                  <a:pt x="93488" y="44476"/>
                </a:lnTo>
                <a:lnTo>
                  <a:pt x="139517" y="18145"/>
                </a:lnTo>
                <a:lnTo>
                  <a:pt x="191461" y="3026"/>
                </a:lnTo>
                <a:lnTo>
                  <a:pt x="228599" y="0"/>
                </a:lnTo>
                <a:lnTo>
                  <a:pt x="247381" y="766"/>
                </a:lnTo>
                <a:lnTo>
                  <a:pt x="300947" y="11777"/>
                </a:lnTo>
                <a:lnTo>
                  <a:pt x="349123" y="34556"/>
                </a:lnTo>
                <a:lnTo>
                  <a:pt x="390334" y="67436"/>
                </a:lnTo>
                <a:lnTo>
                  <a:pt x="423007" y="108753"/>
                </a:lnTo>
                <a:lnTo>
                  <a:pt x="445568" y="156837"/>
                </a:lnTo>
                <a:lnTo>
                  <a:pt x="456443" y="210025"/>
                </a:lnTo>
                <a:lnTo>
                  <a:pt x="457199" y="228599"/>
                </a:lnTo>
                <a:lnTo>
                  <a:pt x="456443" y="247381"/>
                </a:lnTo>
                <a:lnTo>
                  <a:pt x="445568" y="300947"/>
                </a:lnTo>
                <a:lnTo>
                  <a:pt x="423007" y="349123"/>
                </a:lnTo>
                <a:lnTo>
                  <a:pt x="390334" y="390334"/>
                </a:lnTo>
                <a:lnTo>
                  <a:pt x="349123" y="423007"/>
                </a:lnTo>
                <a:lnTo>
                  <a:pt x="300947" y="445568"/>
                </a:lnTo>
                <a:lnTo>
                  <a:pt x="247381" y="456443"/>
                </a:lnTo>
                <a:lnTo>
                  <a:pt x="228599" y="457199"/>
                </a:lnTo>
                <a:lnTo>
                  <a:pt x="209818" y="456443"/>
                </a:lnTo>
                <a:lnTo>
                  <a:pt x="156252" y="445568"/>
                </a:lnTo>
                <a:lnTo>
                  <a:pt x="108076" y="423007"/>
                </a:lnTo>
                <a:lnTo>
                  <a:pt x="66865" y="390334"/>
                </a:lnTo>
                <a:lnTo>
                  <a:pt x="34192" y="349123"/>
                </a:lnTo>
                <a:lnTo>
                  <a:pt x="11631" y="300947"/>
                </a:lnTo>
                <a:lnTo>
                  <a:pt x="756" y="247381"/>
                </a:lnTo>
                <a:lnTo>
                  <a:pt x="0" y="228599"/>
                </a:lnTo>
                <a:close/>
              </a:path>
            </a:pathLst>
          </a:custGeom>
          <a:solidFill>
            <a:schemeClr val="bg1">
              <a:lumMod val="95000"/>
            </a:schemeClr>
          </a:solidFill>
          <a:ln w="9524">
            <a:solidFill>
              <a:srgbClr val="65ADC7"/>
            </a:solidFill>
            <a:round/>
          </a:ln>
        </p:spPr>
        <p:txBody>
          <a:bodyPr lIns="0" tIns="0" rIns="0" bIns="0"/>
          <a:lstStyle/>
          <a:p>
            <a:pPr>
              <a:defRPr/>
            </a:pPr>
            <a:endParaRPr lang="zh-CN" altLang="en-US" sz="1400">
              <a:latin typeface="微软雅黑" panose="020B0503020204020204" charset="-122"/>
              <a:ea typeface="微软雅黑" panose="020B0503020204020204" charset="-122"/>
            </a:endParaRPr>
          </a:p>
        </p:txBody>
      </p:sp>
      <p:sp>
        <p:nvSpPr>
          <p:cNvPr id="51" name="object 137"/>
          <p:cNvSpPr/>
          <p:nvPr/>
        </p:nvSpPr>
        <p:spPr bwMode="auto">
          <a:xfrm>
            <a:off x="6630988" y="3948104"/>
            <a:ext cx="265112" cy="271463"/>
          </a:xfrm>
          <a:custGeom>
            <a:avLst/>
            <a:gdLst>
              <a:gd name="T0" fmla="*/ 228252 w 265519"/>
              <a:gd name="T1" fmla="*/ 275057 h 271208"/>
              <a:gd name="T2" fmla="*/ 246098 w 265519"/>
              <a:gd name="T3" fmla="*/ 241057 h 271208"/>
              <a:gd name="T4" fmla="*/ 256861 w 265519"/>
              <a:gd name="T5" fmla="*/ 203535 h 271208"/>
              <a:gd name="T6" fmla="*/ 259479 w 265519"/>
              <a:gd name="T7" fmla="*/ 177206 h 271208"/>
              <a:gd name="T8" fmla="*/ 258885 w 265519"/>
              <a:gd name="T9" fmla="*/ 161872 h 271208"/>
              <a:gd name="T10" fmla="*/ 250268 w 265519"/>
              <a:gd name="T11" fmla="*/ 118515 h 271208"/>
              <a:gd name="T12" fmla="*/ 232445 w 265519"/>
              <a:gd name="T13" fmla="*/ 80076 h 271208"/>
              <a:gd name="T14" fmla="*/ 206757 w 265519"/>
              <a:gd name="T15" fmla="*/ 47780 h 271208"/>
              <a:gd name="T16" fmla="*/ 174535 w 265519"/>
              <a:gd name="T17" fmla="*/ 22846 h 271208"/>
              <a:gd name="T18" fmla="*/ 137125 w 265519"/>
              <a:gd name="T19" fmla="*/ 6515 h 271208"/>
              <a:gd name="T20" fmla="*/ 95861 w 265519"/>
              <a:gd name="T21" fmla="*/ 0 h 271208"/>
              <a:gd name="T22" fmla="*/ 82415 w 265519"/>
              <a:gd name="T23" fmla="*/ 417 h 271208"/>
              <a:gd name="T24" fmla="*/ 44486 w 265519"/>
              <a:gd name="T25" fmla="*/ 7049 h 271208"/>
              <a:gd name="T26" fmla="*/ 0 w 265519"/>
              <a:gd name="T27" fmla="*/ 28323 h 271208"/>
              <a:gd name="T28" fmla="*/ 228252 w 265519"/>
              <a:gd name="T29" fmla="*/ 275057 h 2712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5519"/>
              <a:gd name="T46" fmla="*/ 0 h 271208"/>
              <a:gd name="T47" fmla="*/ 265519 w 265519"/>
              <a:gd name="T48" fmla="*/ 271208 h 2712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5519" h="271208">
                <a:moveTo>
                  <a:pt x="233566" y="271208"/>
                </a:moveTo>
                <a:lnTo>
                  <a:pt x="251827" y="237684"/>
                </a:lnTo>
                <a:lnTo>
                  <a:pt x="262840" y="200686"/>
                </a:lnTo>
                <a:lnTo>
                  <a:pt x="265519" y="174726"/>
                </a:lnTo>
                <a:lnTo>
                  <a:pt x="264911" y="159607"/>
                </a:lnTo>
                <a:lnTo>
                  <a:pt x="256094" y="116857"/>
                </a:lnTo>
                <a:lnTo>
                  <a:pt x="237857" y="78955"/>
                </a:lnTo>
                <a:lnTo>
                  <a:pt x="211568" y="47111"/>
                </a:lnTo>
                <a:lnTo>
                  <a:pt x="178598" y="22531"/>
                </a:lnTo>
                <a:lnTo>
                  <a:pt x="140316" y="6425"/>
                </a:lnTo>
                <a:lnTo>
                  <a:pt x="98092" y="0"/>
                </a:lnTo>
                <a:lnTo>
                  <a:pt x="84334" y="417"/>
                </a:lnTo>
                <a:lnTo>
                  <a:pt x="45522" y="6944"/>
                </a:lnTo>
                <a:lnTo>
                  <a:pt x="0" y="27929"/>
                </a:lnTo>
                <a:lnTo>
                  <a:pt x="233566" y="271208"/>
                </a:lnTo>
                <a:close/>
              </a:path>
            </a:pathLst>
          </a:custGeom>
          <a:noFill/>
          <a:ln w="9524">
            <a:solidFill>
              <a:srgbClr val="65ADC7"/>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52" name="object 138"/>
          <p:cNvSpPr/>
          <p:nvPr/>
        </p:nvSpPr>
        <p:spPr bwMode="auto">
          <a:xfrm>
            <a:off x="6553200" y="4019542"/>
            <a:ext cx="265113" cy="271462"/>
          </a:xfrm>
          <a:custGeom>
            <a:avLst/>
            <a:gdLst>
              <a:gd name="T0" fmla="*/ 32195 w 264995"/>
              <a:gd name="T1" fmla="*/ 0 h 271237"/>
              <a:gd name="T2" fmla="*/ 12936 w 264995"/>
              <a:gd name="T3" fmla="*/ 34363 h 271237"/>
              <a:gd name="T4" fmla="*/ 2295 w 264995"/>
              <a:gd name="T5" fmla="*/ 71880 h 271237"/>
              <a:gd name="T6" fmla="*/ 0 w 264995"/>
              <a:gd name="T7" fmla="*/ 97741 h 271237"/>
              <a:gd name="T8" fmla="*/ 606 w 264995"/>
              <a:gd name="T9" fmla="*/ 113111 h 271237"/>
              <a:gd name="T10" fmla="*/ 9415 w 264995"/>
              <a:gd name="T11" fmla="*/ 156560 h 271237"/>
              <a:gd name="T12" fmla="*/ 27650 w 264995"/>
              <a:gd name="T13" fmla="*/ 195053 h 271237"/>
              <a:gd name="T14" fmla="*/ 53992 w 264995"/>
              <a:gd name="T15" fmla="*/ 227347 h 271237"/>
              <a:gd name="T16" fmla="*/ 87108 w 264995"/>
              <a:gd name="T17" fmla="*/ 252204 h 271237"/>
              <a:gd name="T18" fmla="*/ 125664 w 264995"/>
              <a:gd name="T19" fmla="*/ 268379 h 271237"/>
              <a:gd name="T20" fmla="*/ 168338 w 264995"/>
              <a:gd name="T21" fmla="*/ 274631 h 271237"/>
              <a:gd name="T22" fmla="*/ 182361 w 264995"/>
              <a:gd name="T23" fmla="*/ 274191 h 271237"/>
              <a:gd name="T24" fmla="*/ 221326 w 264995"/>
              <a:gd name="T25" fmla="*/ 267412 h 271237"/>
              <a:gd name="T26" fmla="*/ 266770 w 264995"/>
              <a:gd name="T27" fmla="*/ 245669 h 271237"/>
              <a:gd name="T28" fmla="*/ 32195 w 264995"/>
              <a:gd name="T29" fmla="*/ 0 h 2712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4995"/>
              <a:gd name="T46" fmla="*/ 0 h 271237"/>
              <a:gd name="T47" fmla="*/ 264995 w 264995"/>
              <a:gd name="T48" fmla="*/ 271237 h 2712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4995" h="271237">
                <a:moveTo>
                  <a:pt x="31985" y="0"/>
                </a:moveTo>
                <a:lnTo>
                  <a:pt x="12846" y="33943"/>
                </a:lnTo>
                <a:lnTo>
                  <a:pt x="2280" y="70993"/>
                </a:lnTo>
                <a:lnTo>
                  <a:pt x="0" y="96533"/>
                </a:lnTo>
                <a:lnTo>
                  <a:pt x="606" y="111713"/>
                </a:lnTo>
                <a:lnTo>
                  <a:pt x="9355" y="154625"/>
                </a:lnTo>
                <a:lnTo>
                  <a:pt x="27470" y="192642"/>
                </a:lnTo>
                <a:lnTo>
                  <a:pt x="53632" y="224538"/>
                </a:lnTo>
                <a:lnTo>
                  <a:pt x="86523" y="249087"/>
                </a:lnTo>
                <a:lnTo>
                  <a:pt x="124824" y="265062"/>
                </a:lnTo>
                <a:lnTo>
                  <a:pt x="167215" y="271237"/>
                </a:lnTo>
                <a:lnTo>
                  <a:pt x="181146" y="270801"/>
                </a:lnTo>
                <a:lnTo>
                  <a:pt x="219856" y="264107"/>
                </a:lnTo>
                <a:lnTo>
                  <a:pt x="264995" y="242633"/>
                </a:lnTo>
                <a:lnTo>
                  <a:pt x="31985" y="0"/>
                </a:lnTo>
                <a:close/>
              </a:path>
            </a:pathLst>
          </a:custGeom>
          <a:noFill/>
          <a:ln w="9524">
            <a:solidFill>
              <a:srgbClr val="65ADC7"/>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53" name="object 135"/>
          <p:cNvSpPr/>
          <p:nvPr/>
        </p:nvSpPr>
        <p:spPr bwMode="auto">
          <a:xfrm>
            <a:off x="5343525" y="3509954"/>
            <a:ext cx="457200" cy="457200"/>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solidFill>
            <a:srgbClr val="FFFFFF"/>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54" name="object 136"/>
          <p:cNvSpPr/>
          <p:nvPr/>
        </p:nvSpPr>
        <p:spPr bwMode="auto">
          <a:xfrm>
            <a:off x="5343525" y="3509954"/>
            <a:ext cx="457200" cy="457200"/>
          </a:xfrm>
          <a:custGeom>
            <a:avLst/>
            <a:gdLst>
              <a:gd name="T0" fmla="*/ 0 w 457199"/>
              <a:gd name="T1" fmla="*/ 228599 h 457199"/>
              <a:gd name="T2" fmla="*/ 6629 w 457199"/>
              <a:gd name="T3" fmla="*/ 174082 h 457199"/>
              <a:gd name="T4" fmla="*/ 25470 w 457199"/>
              <a:gd name="T5" fmla="*/ 124111 h 457199"/>
              <a:gd name="T6" fmla="*/ 54948 w 457199"/>
              <a:gd name="T7" fmla="*/ 80354 h 457199"/>
              <a:gd name="T8" fmla="*/ 93488 w 457199"/>
              <a:gd name="T9" fmla="*/ 44476 h 457199"/>
              <a:gd name="T10" fmla="*/ 139517 w 457199"/>
              <a:gd name="T11" fmla="*/ 18145 h 457199"/>
              <a:gd name="T12" fmla="*/ 191461 w 457199"/>
              <a:gd name="T13" fmla="*/ 3026 h 457199"/>
              <a:gd name="T14" fmla="*/ 228599 w 457199"/>
              <a:gd name="T15" fmla="*/ 0 h 457199"/>
              <a:gd name="T16" fmla="*/ 247381 w 457199"/>
              <a:gd name="T17" fmla="*/ 766 h 457199"/>
              <a:gd name="T18" fmla="*/ 300947 w 457199"/>
              <a:gd name="T19" fmla="*/ 11777 h 457199"/>
              <a:gd name="T20" fmla="*/ 349123 w 457199"/>
              <a:gd name="T21" fmla="*/ 34556 h 457199"/>
              <a:gd name="T22" fmla="*/ 390334 w 457199"/>
              <a:gd name="T23" fmla="*/ 67436 h 457199"/>
              <a:gd name="T24" fmla="*/ 423007 w 457199"/>
              <a:gd name="T25" fmla="*/ 108753 h 457199"/>
              <a:gd name="T26" fmla="*/ 445568 w 457199"/>
              <a:gd name="T27" fmla="*/ 156837 h 457199"/>
              <a:gd name="T28" fmla="*/ 456443 w 457199"/>
              <a:gd name="T29" fmla="*/ 210025 h 457199"/>
              <a:gd name="T30" fmla="*/ 457199 w 457199"/>
              <a:gd name="T31" fmla="*/ 228599 h 457199"/>
              <a:gd name="T32" fmla="*/ 456443 w 457199"/>
              <a:gd name="T33" fmla="*/ 247381 h 457199"/>
              <a:gd name="T34" fmla="*/ 445568 w 457199"/>
              <a:gd name="T35" fmla="*/ 300947 h 457199"/>
              <a:gd name="T36" fmla="*/ 423007 w 457199"/>
              <a:gd name="T37" fmla="*/ 349123 h 457199"/>
              <a:gd name="T38" fmla="*/ 390334 w 457199"/>
              <a:gd name="T39" fmla="*/ 390334 h 457199"/>
              <a:gd name="T40" fmla="*/ 349123 w 457199"/>
              <a:gd name="T41" fmla="*/ 423007 h 457199"/>
              <a:gd name="T42" fmla="*/ 300947 w 457199"/>
              <a:gd name="T43" fmla="*/ 445568 h 457199"/>
              <a:gd name="T44" fmla="*/ 247381 w 457199"/>
              <a:gd name="T45" fmla="*/ 456443 h 457199"/>
              <a:gd name="T46" fmla="*/ 228599 w 457199"/>
              <a:gd name="T47" fmla="*/ 457199 h 457199"/>
              <a:gd name="T48" fmla="*/ 209818 w 457199"/>
              <a:gd name="T49" fmla="*/ 456443 h 457199"/>
              <a:gd name="T50" fmla="*/ 156252 w 457199"/>
              <a:gd name="T51" fmla="*/ 445568 h 457199"/>
              <a:gd name="T52" fmla="*/ 108076 w 457199"/>
              <a:gd name="T53" fmla="*/ 423007 h 457199"/>
              <a:gd name="T54" fmla="*/ 66865 w 457199"/>
              <a:gd name="T55" fmla="*/ 390334 h 457199"/>
              <a:gd name="T56" fmla="*/ 34192 w 457199"/>
              <a:gd name="T57" fmla="*/ 349123 h 457199"/>
              <a:gd name="T58" fmla="*/ 11631 w 457199"/>
              <a:gd name="T59" fmla="*/ 300947 h 457199"/>
              <a:gd name="T60" fmla="*/ 756 w 457199"/>
              <a:gd name="T61" fmla="*/ 247381 h 457199"/>
              <a:gd name="T62" fmla="*/ 0 w 457199"/>
              <a:gd name="T63" fmla="*/ 228599 h 4571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57199"/>
              <a:gd name="T97" fmla="*/ 0 h 457199"/>
              <a:gd name="T98" fmla="*/ 457199 w 457199"/>
              <a:gd name="T99" fmla="*/ 457199 h 4571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57199" h="457199">
                <a:moveTo>
                  <a:pt x="0" y="228599"/>
                </a:moveTo>
                <a:lnTo>
                  <a:pt x="6629" y="174082"/>
                </a:lnTo>
                <a:lnTo>
                  <a:pt x="25470" y="124111"/>
                </a:lnTo>
                <a:lnTo>
                  <a:pt x="54948" y="80354"/>
                </a:lnTo>
                <a:lnTo>
                  <a:pt x="93488" y="44476"/>
                </a:lnTo>
                <a:lnTo>
                  <a:pt x="139517" y="18145"/>
                </a:lnTo>
                <a:lnTo>
                  <a:pt x="191461" y="3026"/>
                </a:lnTo>
                <a:lnTo>
                  <a:pt x="228599" y="0"/>
                </a:lnTo>
                <a:lnTo>
                  <a:pt x="247381" y="766"/>
                </a:lnTo>
                <a:lnTo>
                  <a:pt x="300947" y="11777"/>
                </a:lnTo>
                <a:lnTo>
                  <a:pt x="349123" y="34556"/>
                </a:lnTo>
                <a:lnTo>
                  <a:pt x="390334" y="67436"/>
                </a:lnTo>
                <a:lnTo>
                  <a:pt x="423007" y="108753"/>
                </a:lnTo>
                <a:lnTo>
                  <a:pt x="445568" y="156837"/>
                </a:lnTo>
                <a:lnTo>
                  <a:pt x="456443" y="210025"/>
                </a:lnTo>
                <a:lnTo>
                  <a:pt x="457199" y="228599"/>
                </a:lnTo>
                <a:lnTo>
                  <a:pt x="456443" y="247381"/>
                </a:lnTo>
                <a:lnTo>
                  <a:pt x="445568" y="300947"/>
                </a:lnTo>
                <a:lnTo>
                  <a:pt x="423007" y="349123"/>
                </a:lnTo>
                <a:lnTo>
                  <a:pt x="390334" y="390334"/>
                </a:lnTo>
                <a:lnTo>
                  <a:pt x="349123" y="423007"/>
                </a:lnTo>
                <a:lnTo>
                  <a:pt x="300947" y="445568"/>
                </a:lnTo>
                <a:lnTo>
                  <a:pt x="247381" y="456443"/>
                </a:lnTo>
                <a:lnTo>
                  <a:pt x="228599" y="457199"/>
                </a:lnTo>
                <a:lnTo>
                  <a:pt x="209818" y="456443"/>
                </a:lnTo>
                <a:lnTo>
                  <a:pt x="156252" y="445568"/>
                </a:lnTo>
                <a:lnTo>
                  <a:pt x="108076" y="423007"/>
                </a:lnTo>
                <a:lnTo>
                  <a:pt x="66865" y="390334"/>
                </a:lnTo>
                <a:lnTo>
                  <a:pt x="34192" y="349123"/>
                </a:lnTo>
                <a:lnTo>
                  <a:pt x="11631" y="300947"/>
                </a:lnTo>
                <a:lnTo>
                  <a:pt x="756" y="247381"/>
                </a:lnTo>
                <a:lnTo>
                  <a:pt x="0" y="228599"/>
                </a:lnTo>
                <a:close/>
              </a:path>
            </a:pathLst>
          </a:custGeom>
          <a:solidFill>
            <a:schemeClr val="bg1">
              <a:lumMod val="95000"/>
            </a:schemeClr>
          </a:solidFill>
          <a:ln w="9524">
            <a:solidFill>
              <a:srgbClr val="65ADC7"/>
            </a:solidFill>
            <a:round/>
          </a:ln>
        </p:spPr>
        <p:txBody>
          <a:bodyPr lIns="0" tIns="0" rIns="0" bIns="0"/>
          <a:lstStyle/>
          <a:p>
            <a:pPr>
              <a:defRPr/>
            </a:pPr>
            <a:endParaRPr lang="zh-CN" altLang="en-US" sz="1400">
              <a:latin typeface="微软雅黑" panose="020B0503020204020204" charset="-122"/>
              <a:ea typeface="微软雅黑" panose="020B0503020204020204" charset="-122"/>
            </a:endParaRPr>
          </a:p>
        </p:txBody>
      </p:sp>
      <p:sp>
        <p:nvSpPr>
          <p:cNvPr id="55" name="object 137"/>
          <p:cNvSpPr/>
          <p:nvPr/>
        </p:nvSpPr>
        <p:spPr bwMode="auto">
          <a:xfrm>
            <a:off x="5478463" y="3567104"/>
            <a:ext cx="265112" cy="271463"/>
          </a:xfrm>
          <a:custGeom>
            <a:avLst/>
            <a:gdLst>
              <a:gd name="T0" fmla="*/ 228252 w 265519"/>
              <a:gd name="T1" fmla="*/ 275057 h 271208"/>
              <a:gd name="T2" fmla="*/ 246098 w 265519"/>
              <a:gd name="T3" fmla="*/ 241057 h 271208"/>
              <a:gd name="T4" fmla="*/ 256861 w 265519"/>
              <a:gd name="T5" fmla="*/ 203535 h 271208"/>
              <a:gd name="T6" fmla="*/ 259479 w 265519"/>
              <a:gd name="T7" fmla="*/ 177206 h 271208"/>
              <a:gd name="T8" fmla="*/ 258885 w 265519"/>
              <a:gd name="T9" fmla="*/ 161872 h 271208"/>
              <a:gd name="T10" fmla="*/ 250268 w 265519"/>
              <a:gd name="T11" fmla="*/ 118515 h 271208"/>
              <a:gd name="T12" fmla="*/ 232445 w 265519"/>
              <a:gd name="T13" fmla="*/ 80076 h 271208"/>
              <a:gd name="T14" fmla="*/ 206757 w 265519"/>
              <a:gd name="T15" fmla="*/ 47780 h 271208"/>
              <a:gd name="T16" fmla="*/ 174535 w 265519"/>
              <a:gd name="T17" fmla="*/ 22846 h 271208"/>
              <a:gd name="T18" fmla="*/ 137125 w 265519"/>
              <a:gd name="T19" fmla="*/ 6515 h 271208"/>
              <a:gd name="T20" fmla="*/ 95861 w 265519"/>
              <a:gd name="T21" fmla="*/ 0 h 271208"/>
              <a:gd name="T22" fmla="*/ 82415 w 265519"/>
              <a:gd name="T23" fmla="*/ 417 h 271208"/>
              <a:gd name="T24" fmla="*/ 44486 w 265519"/>
              <a:gd name="T25" fmla="*/ 7049 h 271208"/>
              <a:gd name="T26" fmla="*/ 0 w 265519"/>
              <a:gd name="T27" fmla="*/ 28323 h 271208"/>
              <a:gd name="T28" fmla="*/ 228252 w 265519"/>
              <a:gd name="T29" fmla="*/ 275057 h 2712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5519"/>
              <a:gd name="T46" fmla="*/ 0 h 271208"/>
              <a:gd name="T47" fmla="*/ 265519 w 265519"/>
              <a:gd name="T48" fmla="*/ 271208 h 2712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5519" h="271208">
                <a:moveTo>
                  <a:pt x="233566" y="271208"/>
                </a:moveTo>
                <a:lnTo>
                  <a:pt x="251827" y="237684"/>
                </a:lnTo>
                <a:lnTo>
                  <a:pt x="262840" y="200686"/>
                </a:lnTo>
                <a:lnTo>
                  <a:pt x="265519" y="174726"/>
                </a:lnTo>
                <a:lnTo>
                  <a:pt x="264911" y="159607"/>
                </a:lnTo>
                <a:lnTo>
                  <a:pt x="256094" y="116857"/>
                </a:lnTo>
                <a:lnTo>
                  <a:pt x="237857" y="78955"/>
                </a:lnTo>
                <a:lnTo>
                  <a:pt x="211568" y="47111"/>
                </a:lnTo>
                <a:lnTo>
                  <a:pt x="178598" y="22531"/>
                </a:lnTo>
                <a:lnTo>
                  <a:pt x="140316" y="6425"/>
                </a:lnTo>
                <a:lnTo>
                  <a:pt x="98092" y="0"/>
                </a:lnTo>
                <a:lnTo>
                  <a:pt x="84334" y="417"/>
                </a:lnTo>
                <a:lnTo>
                  <a:pt x="45522" y="6944"/>
                </a:lnTo>
                <a:lnTo>
                  <a:pt x="0" y="27929"/>
                </a:lnTo>
                <a:lnTo>
                  <a:pt x="233566" y="271208"/>
                </a:lnTo>
                <a:close/>
              </a:path>
            </a:pathLst>
          </a:custGeom>
          <a:noFill/>
          <a:ln w="9524">
            <a:solidFill>
              <a:srgbClr val="65ADC7"/>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56" name="object 138"/>
          <p:cNvSpPr/>
          <p:nvPr/>
        </p:nvSpPr>
        <p:spPr bwMode="auto">
          <a:xfrm>
            <a:off x="5400675" y="3638542"/>
            <a:ext cx="265113" cy="271462"/>
          </a:xfrm>
          <a:custGeom>
            <a:avLst/>
            <a:gdLst>
              <a:gd name="T0" fmla="*/ 32195 w 264995"/>
              <a:gd name="T1" fmla="*/ 0 h 271237"/>
              <a:gd name="T2" fmla="*/ 12936 w 264995"/>
              <a:gd name="T3" fmla="*/ 34363 h 271237"/>
              <a:gd name="T4" fmla="*/ 2295 w 264995"/>
              <a:gd name="T5" fmla="*/ 71880 h 271237"/>
              <a:gd name="T6" fmla="*/ 0 w 264995"/>
              <a:gd name="T7" fmla="*/ 97741 h 271237"/>
              <a:gd name="T8" fmla="*/ 606 w 264995"/>
              <a:gd name="T9" fmla="*/ 113111 h 271237"/>
              <a:gd name="T10" fmla="*/ 9415 w 264995"/>
              <a:gd name="T11" fmla="*/ 156560 h 271237"/>
              <a:gd name="T12" fmla="*/ 27650 w 264995"/>
              <a:gd name="T13" fmla="*/ 195053 h 271237"/>
              <a:gd name="T14" fmla="*/ 53992 w 264995"/>
              <a:gd name="T15" fmla="*/ 227347 h 271237"/>
              <a:gd name="T16" fmla="*/ 87108 w 264995"/>
              <a:gd name="T17" fmla="*/ 252204 h 271237"/>
              <a:gd name="T18" fmla="*/ 125664 w 264995"/>
              <a:gd name="T19" fmla="*/ 268379 h 271237"/>
              <a:gd name="T20" fmla="*/ 168338 w 264995"/>
              <a:gd name="T21" fmla="*/ 274631 h 271237"/>
              <a:gd name="T22" fmla="*/ 182361 w 264995"/>
              <a:gd name="T23" fmla="*/ 274191 h 271237"/>
              <a:gd name="T24" fmla="*/ 221326 w 264995"/>
              <a:gd name="T25" fmla="*/ 267412 h 271237"/>
              <a:gd name="T26" fmla="*/ 266770 w 264995"/>
              <a:gd name="T27" fmla="*/ 245669 h 271237"/>
              <a:gd name="T28" fmla="*/ 32195 w 264995"/>
              <a:gd name="T29" fmla="*/ 0 h 2712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4995"/>
              <a:gd name="T46" fmla="*/ 0 h 271237"/>
              <a:gd name="T47" fmla="*/ 264995 w 264995"/>
              <a:gd name="T48" fmla="*/ 271237 h 27123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4995" h="271237">
                <a:moveTo>
                  <a:pt x="31985" y="0"/>
                </a:moveTo>
                <a:lnTo>
                  <a:pt x="12846" y="33943"/>
                </a:lnTo>
                <a:lnTo>
                  <a:pt x="2280" y="70993"/>
                </a:lnTo>
                <a:lnTo>
                  <a:pt x="0" y="96533"/>
                </a:lnTo>
                <a:lnTo>
                  <a:pt x="606" y="111713"/>
                </a:lnTo>
                <a:lnTo>
                  <a:pt x="9355" y="154625"/>
                </a:lnTo>
                <a:lnTo>
                  <a:pt x="27470" y="192642"/>
                </a:lnTo>
                <a:lnTo>
                  <a:pt x="53632" y="224538"/>
                </a:lnTo>
                <a:lnTo>
                  <a:pt x="86523" y="249087"/>
                </a:lnTo>
                <a:lnTo>
                  <a:pt x="124824" y="265062"/>
                </a:lnTo>
                <a:lnTo>
                  <a:pt x="167215" y="271237"/>
                </a:lnTo>
                <a:lnTo>
                  <a:pt x="181146" y="270801"/>
                </a:lnTo>
                <a:lnTo>
                  <a:pt x="219856" y="264107"/>
                </a:lnTo>
                <a:lnTo>
                  <a:pt x="264995" y="242633"/>
                </a:lnTo>
                <a:lnTo>
                  <a:pt x="31985" y="0"/>
                </a:lnTo>
                <a:close/>
              </a:path>
            </a:pathLst>
          </a:custGeom>
          <a:noFill/>
          <a:ln w="9524">
            <a:solidFill>
              <a:srgbClr val="65ADC7"/>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57" name="object 156"/>
          <p:cNvSpPr txBox="1">
            <a:spLocks noChangeArrowheads="1"/>
          </p:cNvSpPr>
          <p:nvPr/>
        </p:nvSpPr>
        <p:spPr bwMode="auto">
          <a:xfrm>
            <a:off x="6602413" y="3967154"/>
            <a:ext cx="303212" cy="330200"/>
          </a:xfrm>
          <a:prstGeom prst="rect">
            <a:avLst/>
          </a:prstGeom>
          <a:noFill/>
          <a:ln w="9525">
            <a:noFill/>
            <a:miter lim="800000"/>
          </a:ln>
        </p:spPr>
        <p:txBody>
          <a:bodyPr lIns="0" tIns="0" rIns="0" bIns="0"/>
          <a:lstStyle/>
          <a:p>
            <a:pPr marL="12700">
              <a:lnSpc>
                <a:spcPts val="2550"/>
              </a:lnSpc>
              <a:spcBef>
                <a:spcPts val="125"/>
              </a:spcBef>
            </a:pPr>
            <a:r>
              <a:rPr lang="zh-CN" altLang="zh-CN" b="1">
                <a:latin typeface="微软雅黑" panose="020B0503020204020204" charset="-122"/>
                <a:ea typeface="微软雅黑" panose="020B0503020204020204" charset="-122"/>
                <a:cs typeface="Arial" panose="020B0604020202020204" pitchFamily="34" charset="0"/>
              </a:rPr>
              <a:t>B</a:t>
            </a:r>
            <a:endParaRPr lang="zh-CN" altLang="zh-CN">
              <a:latin typeface="微软雅黑" panose="020B0503020204020204" charset="-122"/>
              <a:ea typeface="微软雅黑" panose="020B0503020204020204" charset="-122"/>
              <a:cs typeface="Arial" panose="020B0604020202020204" pitchFamily="34" charset="0"/>
            </a:endParaRPr>
          </a:p>
        </p:txBody>
      </p:sp>
      <p:sp>
        <p:nvSpPr>
          <p:cNvPr id="58" name="object 188"/>
          <p:cNvSpPr txBox="1">
            <a:spLocks noChangeArrowheads="1"/>
          </p:cNvSpPr>
          <p:nvPr/>
        </p:nvSpPr>
        <p:spPr bwMode="auto">
          <a:xfrm>
            <a:off x="5343525" y="3586154"/>
            <a:ext cx="460375" cy="457200"/>
          </a:xfrm>
          <a:prstGeom prst="rect">
            <a:avLst/>
          </a:prstGeom>
          <a:noFill/>
          <a:ln w="9525">
            <a:noFill/>
            <a:miter lim="800000"/>
          </a:ln>
        </p:spPr>
        <p:txBody>
          <a:bodyPr lIns="0" tIns="0" rIns="0" bIns="0"/>
          <a:lstStyle/>
          <a:p>
            <a:pPr marL="117475">
              <a:lnSpc>
                <a:spcPct val="96000"/>
              </a:lnSpc>
              <a:spcBef>
                <a:spcPts val="440"/>
              </a:spcBef>
            </a:pPr>
            <a:r>
              <a:rPr lang="zh-CN" altLang="zh-CN" b="1">
                <a:latin typeface="微软雅黑" panose="020B0503020204020204" charset="-122"/>
                <a:ea typeface="微软雅黑" panose="020B0503020204020204" charset="-122"/>
                <a:cs typeface="Arial" panose="020B0604020202020204" pitchFamily="34" charset="0"/>
              </a:rPr>
              <a:t>C</a:t>
            </a:r>
            <a:endParaRPr lang="zh-CN" altLang="zh-CN">
              <a:latin typeface="微软雅黑" panose="020B0503020204020204" charset="-122"/>
              <a:ea typeface="微软雅黑" panose="020B0503020204020204" charset="-122"/>
              <a:cs typeface="Arial" panose="020B0604020202020204" pitchFamily="34" charset="0"/>
            </a:endParaRPr>
          </a:p>
        </p:txBody>
      </p:sp>
      <p:sp>
        <p:nvSpPr>
          <p:cNvPr id="59" name="object 143"/>
          <p:cNvSpPr/>
          <p:nvPr/>
        </p:nvSpPr>
        <p:spPr bwMode="auto">
          <a:xfrm>
            <a:off x="6934200" y="6024554"/>
            <a:ext cx="1527175" cy="387350"/>
          </a:xfrm>
          <a:custGeom>
            <a:avLst/>
            <a:gdLst>
              <a:gd name="T0" fmla="*/ 0 w 1527047"/>
              <a:gd name="T1" fmla="*/ 0 h 387095"/>
              <a:gd name="T2" fmla="*/ 0 w 1527047"/>
              <a:gd name="T3" fmla="*/ 390938 h 387095"/>
              <a:gd name="T4" fmla="*/ 1528967 w 1527047"/>
              <a:gd name="T5" fmla="*/ 390938 h 387095"/>
              <a:gd name="T6" fmla="*/ 1528967 w 1527047"/>
              <a:gd name="T7" fmla="*/ 0 h 387095"/>
              <a:gd name="T8" fmla="*/ 0 w 1527047"/>
              <a:gd name="T9" fmla="*/ 0 h 387095"/>
              <a:gd name="T10" fmla="*/ 0 60000 65536"/>
              <a:gd name="T11" fmla="*/ 0 60000 65536"/>
              <a:gd name="T12" fmla="*/ 0 60000 65536"/>
              <a:gd name="T13" fmla="*/ 0 60000 65536"/>
              <a:gd name="T14" fmla="*/ 0 60000 65536"/>
              <a:gd name="T15" fmla="*/ 0 w 1527047"/>
              <a:gd name="T16" fmla="*/ 0 h 387095"/>
              <a:gd name="T17" fmla="*/ 1527047 w 1527047"/>
              <a:gd name="T18" fmla="*/ 387095 h 387095"/>
            </a:gdLst>
            <a:ahLst/>
            <a:cxnLst>
              <a:cxn ang="T10">
                <a:pos x="T0" y="T1"/>
              </a:cxn>
              <a:cxn ang="T11">
                <a:pos x="T2" y="T3"/>
              </a:cxn>
              <a:cxn ang="T12">
                <a:pos x="T4" y="T5"/>
              </a:cxn>
              <a:cxn ang="T13">
                <a:pos x="T6" y="T7"/>
              </a:cxn>
              <a:cxn ang="T14">
                <a:pos x="T8" y="T9"/>
              </a:cxn>
            </a:cxnLst>
            <a:rect l="T15" t="T16" r="T17" b="T18"/>
            <a:pathLst>
              <a:path w="1527047" h="387095">
                <a:moveTo>
                  <a:pt x="0" y="0"/>
                </a:moveTo>
                <a:lnTo>
                  <a:pt x="0" y="387095"/>
                </a:lnTo>
                <a:lnTo>
                  <a:pt x="1527047" y="387095"/>
                </a:lnTo>
                <a:lnTo>
                  <a:pt x="1527047" y="0"/>
                </a:lnTo>
                <a:lnTo>
                  <a:pt x="0" y="0"/>
                </a:lnTo>
                <a:close/>
              </a:path>
            </a:pathLst>
          </a:custGeom>
          <a:noFill/>
          <a:ln w="9524">
            <a:solidFill>
              <a:srgbClr val="000000"/>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60" name="object 144"/>
          <p:cNvSpPr/>
          <p:nvPr/>
        </p:nvSpPr>
        <p:spPr bwMode="auto">
          <a:xfrm>
            <a:off x="7675563" y="6319829"/>
            <a:ext cx="630237" cy="47625"/>
          </a:xfrm>
          <a:custGeom>
            <a:avLst/>
            <a:gdLst>
              <a:gd name="T0" fmla="*/ 557592 w 630935"/>
              <a:gd name="T1" fmla="*/ 20635 h 47243"/>
              <a:gd name="T2" fmla="*/ 557592 w 630935"/>
              <a:gd name="T3" fmla="*/ 0 h 47243"/>
              <a:gd name="T4" fmla="*/ 0 w 630935"/>
              <a:gd name="T5" fmla="*/ 0 h 47243"/>
              <a:gd name="T6" fmla="*/ 0 w 630935"/>
              <a:gd name="T7" fmla="*/ 20635 h 47243"/>
              <a:gd name="T8" fmla="*/ 557592 w 630935"/>
              <a:gd name="T9" fmla="*/ 20635 h 47243"/>
              <a:gd name="T10" fmla="*/ 620546 w 630935"/>
              <a:gd name="T11" fmla="*/ 10317 h 47243"/>
              <a:gd name="T12" fmla="*/ 545600 w 630935"/>
              <a:gd name="T13" fmla="*/ -32675 h 47243"/>
              <a:gd name="T14" fmla="*/ 545600 w 630935"/>
              <a:gd name="T15" fmla="*/ 0 h 47243"/>
              <a:gd name="T16" fmla="*/ 557592 w 630935"/>
              <a:gd name="T17" fmla="*/ 0 h 47243"/>
              <a:gd name="T18" fmla="*/ 557592 w 630935"/>
              <a:gd name="T19" fmla="*/ 46430 h 47243"/>
              <a:gd name="T20" fmla="*/ 620546 w 630935"/>
              <a:gd name="T21" fmla="*/ 10317 h 47243"/>
              <a:gd name="T22" fmla="*/ 557592 w 630935"/>
              <a:gd name="T23" fmla="*/ 46430 h 47243"/>
              <a:gd name="T24" fmla="*/ 557592 w 630935"/>
              <a:gd name="T25" fmla="*/ 20635 h 47243"/>
              <a:gd name="T26" fmla="*/ 545600 w 630935"/>
              <a:gd name="T27" fmla="*/ 20635 h 47243"/>
              <a:gd name="T28" fmla="*/ 545600 w 630935"/>
              <a:gd name="T29" fmla="*/ 53309 h 47243"/>
              <a:gd name="T30" fmla="*/ 557592 w 630935"/>
              <a:gd name="T31" fmla="*/ 46430 h 472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30935"/>
              <a:gd name="T49" fmla="*/ 0 h 47243"/>
              <a:gd name="T50" fmla="*/ 630935 w 630935"/>
              <a:gd name="T51" fmla="*/ 47243 h 4724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30935" h="47243">
                <a:moveTo>
                  <a:pt x="566927" y="18287"/>
                </a:moveTo>
                <a:lnTo>
                  <a:pt x="566927" y="0"/>
                </a:lnTo>
                <a:lnTo>
                  <a:pt x="0" y="0"/>
                </a:lnTo>
                <a:lnTo>
                  <a:pt x="0" y="18287"/>
                </a:lnTo>
                <a:lnTo>
                  <a:pt x="566927" y="18287"/>
                </a:lnTo>
                <a:close/>
              </a:path>
              <a:path w="630935" h="47243">
                <a:moveTo>
                  <a:pt x="630935" y="9143"/>
                </a:moveTo>
                <a:lnTo>
                  <a:pt x="554735" y="-28955"/>
                </a:lnTo>
                <a:lnTo>
                  <a:pt x="554735" y="0"/>
                </a:lnTo>
                <a:lnTo>
                  <a:pt x="566927" y="0"/>
                </a:lnTo>
                <a:lnTo>
                  <a:pt x="566927" y="41147"/>
                </a:lnTo>
                <a:lnTo>
                  <a:pt x="630935" y="9143"/>
                </a:lnTo>
                <a:close/>
              </a:path>
              <a:path w="630935" h="47243">
                <a:moveTo>
                  <a:pt x="566927" y="41147"/>
                </a:moveTo>
                <a:lnTo>
                  <a:pt x="566927" y="18287"/>
                </a:lnTo>
                <a:lnTo>
                  <a:pt x="554735" y="18287"/>
                </a:lnTo>
                <a:lnTo>
                  <a:pt x="554735" y="47243"/>
                </a:lnTo>
                <a:lnTo>
                  <a:pt x="566927" y="41147"/>
                </a:lnTo>
                <a:close/>
              </a:path>
            </a:pathLst>
          </a:custGeom>
          <a:solidFill>
            <a:srgbClr val="000000"/>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61" name="object 145"/>
          <p:cNvSpPr/>
          <p:nvPr/>
        </p:nvSpPr>
        <p:spPr bwMode="auto">
          <a:xfrm>
            <a:off x="7010400" y="6319829"/>
            <a:ext cx="554038" cy="47625"/>
          </a:xfrm>
          <a:custGeom>
            <a:avLst/>
            <a:gdLst>
              <a:gd name="T0" fmla="*/ 74775 w 554735"/>
              <a:gd name="T1" fmla="*/ 20635 h 47243"/>
              <a:gd name="T2" fmla="*/ 74775 w 554735"/>
              <a:gd name="T3" fmla="*/ 0 h 47243"/>
              <a:gd name="T4" fmla="*/ 0 w 554735"/>
              <a:gd name="T5" fmla="*/ 0 h 47243"/>
              <a:gd name="T6" fmla="*/ 0 w 554735"/>
              <a:gd name="T7" fmla="*/ 20635 h 47243"/>
              <a:gd name="T8" fmla="*/ 74775 w 554735"/>
              <a:gd name="T9" fmla="*/ 20635 h 47243"/>
              <a:gd name="T10" fmla="*/ 204887 w 554735"/>
              <a:gd name="T11" fmla="*/ 20635 h 47243"/>
              <a:gd name="T12" fmla="*/ 204887 w 554735"/>
              <a:gd name="T13" fmla="*/ 0 h 47243"/>
              <a:gd name="T14" fmla="*/ 130109 w 554735"/>
              <a:gd name="T15" fmla="*/ 0 h 47243"/>
              <a:gd name="T16" fmla="*/ 130109 w 554735"/>
              <a:gd name="T17" fmla="*/ 20635 h 47243"/>
              <a:gd name="T18" fmla="*/ 204887 w 554735"/>
              <a:gd name="T19" fmla="*/ 20635 h 47243"/>
              <a:gd name="T20" fmla="*/ 336493 w 554735"/>
              <a:gd name="T21" fmla="*/ 20635 h 47243"/>
              <a:gd name="T22" fmla="*/ 336493 w 554735"/>
              <a:gd name="T23" fmla="*/ 0 h 47243"/>
              <a:gd name="T24" fmla="*/ 261717 w 554735"/>
              <a:gd name="T25" fmla="*/ 0 h 47243"/>
              <a:gd name="T26" fmla="*/ 261717 w 554735"/>
              <a:gd name="T27" fmla="*/ 20635 h 47243"/>
              <a:gd name="T28" fmla="*/ 336493 w 554735"/>
              <a:gd name="T29" fmla="*/ 20635 h 47243"/>
              <a:gd name="T30" fmla="*/ 466601 w 554735"/>
              <a:gd name="T31" fmla="*/ 20635 h 47243"/>
              <a:gd name="T32" fmla="*/ 466601 w 554735"/>
              <a:gd name="T33" fmla="*/ 0 h 47243"/>
              <a:gd name="T34" fmla="*/ 391827 w 554735"/>
              <a:gd name="T35" fmla="*/ 0 h 47243"/>
              <a:gd name="T36" fmla="*/ 391827 w 554735"/>
              <a:gd name="T37" fmla="*/ 20635 h 47243"/>
              <a:gd name="T38" fmla="*/ 466601 w 554735"/>
              <a:gd name="T39" fmla="*/ 20635 h 47243"/>
              <a:gd name="T40" fmla="*/ 544371 w 554735"/>
              <a:gd name="T41" fmla="*/ 10317 h 47243"/>
              <a:gd name="T42" fmla="*/ 469593 w 554735"/>
              <a:gd name="T43" fmla="*/ -32675 h 47243"/>
              <a:gd name="T44" fmla="*/ 469593 w 554735"/>
              <a:gd name="T45" fmla="*/ 53309 h 47243"/>
              <a:gd name="T46" fmla="*/ 544371 w 554735"/>
              <a:gd name="T47" fmla="*/ 10317 h 4724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54735"/>
              <a:gd name="T73" fmla="*/ 0 h 47243"/>
              <a:gd name="T74" fmla="*/ 554735 w 554735"/>
              <a:gd name="T75" fmla="*/ 47243 h 4724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54735" h="47243">
                <a:moveTo>
                  <a:pt x="76199" y="18287"/>
                </a:moveTo>
                <a:lnTo>
                  <a:pt x="76199" y="0"/>
                </a:lnTo>
                <a:lnTo>
                  <a:pt x="0" y="0"/>
                </a:lnTo>
                <a:lnTo>
                  <a:pt x="0" y="18287"/>
                </a:lnTo>
                <a:lnTo>
                  <a:pt x="76199" y="18287"/>
                </a:lnTo>
                <a:close/>
              </a:path>
              <a:path w="554735" h="47243">
                <a:moveTo>
                  <a:pt x="208787" y="18287"/>
                </a:moveTo>
                <a:lnTo>
                  <a:pt x="208787" y="0"/>
                </a:lnTo>
                <a:lnTo>
                  <a:pt x="132587" y="0"/>
                </a:lnTo>
                <a:lnTo>
                  <a:pt x="132587" y="18287"/>
                </a:lnTo>
                <a:lnTo>
                  <a:pt x="208787" y="18287"/>
                </a:lnTo>
                <a:close/>
              </a:path>
              <a:path w="554735" h="47243">
                <a:moveTo>
                  <a:pt x="342899" y="18287"/>
                </a:moveTo>
                <a:lnTo>
                  <a:pt x="342899" y="0"/>
                </a:lnTo>
                <a:lnTo>
                  <a:pt x="266699" y="0"/>
                </a:lnTo>
                <a:lnTo>
                  <a:pt x="266699" y="18287"/>
                </a:lnTo>
                <a:lnTo>
                  <a:pt x="342899" y="18287"/>
                </a:lnTo>
                <a:close/>
              </a:path>
              <a:path w="554735" h="47243">
                <a:moveTo>
                  <a:pt x="475487" y="18287"/>
                </a:moveTo>
                <a:lnTo>
                  <a:pt x="475487" y="0"/>
                </a:lnTo>
                <a:lnTo>
                  <a:pt x="399287" y="0"/>
                </a:lnTo>
                <a:lnTo>
                  <a:pt x="399287" y="18287"/>
                </a:lnTo>
                <a:lnTo>
                  <a:pt x="475487" y="18287"/>
                </a:lnTo>
                <a:close/>
              </a:path>
              <a:path w="554735" h="47243">
                <a:moveTo>
                  <a:pt x="554735" y="9143"/>
                </a:moveTo>
                <a:lnTo>
                  <a:pt x="478535" y="-28955"/>
                </a:lnTo>
                <a:lnTo>
                  <a:pt x="478535" y="47243"/>
                </a:lnTo>
                <a:lnTo>
                  <a:pt x="554735" y="9143"/>
                </a:lnTo>
                <a:close/>
              </a:path>
            </a:pathLst>
          </a:custGeom>
          <a:solidFill>
            <a:srgbClr val="000000"/>
          </a:solidFill>
          <a:ln w="9525">
            <a:no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62" name="object 191"/>
          <p:cNvSpPr txBox="1">
            <a:spLocks noChangeArrowheads="1"/>
          </p:cNvSpPr>
          <p:nvPr/>
        </p:nvSpPr>
        <p:spPr bwMode="auto">
          <a:xfrm>
            <a:off x="6934200" y="6024554"/>
            <a:ext cx="1539875" cy="387350"/>
          </a:xfrm>
          <a:prstGeom prst="rect">
            <a:avLst/>
          </a:prstGeom>
          <a:noFill/>
          <a:ln w="9525">
            <a:noFill/>
            <a:miter lim="800000"/>
          </a:ln>
        </p:spPr>
        <p:txBody>
          <a:bodyPr lIns="0" tIns="0" rIns="0" bIns="0"/>
          <a:lstStyle/>
          <a:p>
            <a:pPr>
              <a:lnSpc>
                <a:spcPts val="650"/>
              </a:lnSpc>
              <a:spcBef>
                <a:spcPts val="15"/>
              </a:spcBef>
            </a:pPr>
            <a:endParaRPr lang="zh-CN" altLang="zh-CN" sz="400" dirty="0">
              <a:latin typeface="微软雅黑" panose="020B0503020204020204" charset="-122"/>
              <a:ea typeface="微软雅黑" panose="020B0503020204020204" charset="-122"/>
            </a:endParaRPr>
          </a:p>
          <a:p>
            <a:pPr>
              <a:lnSpc>
                <a:spcPct val="96000"/>
              </a:lnSpc>
            </a:pPr>
            <a:r>
              <a:rPr lang="en-US" altLang="zh-CN" sz="1400" b="1" dirty="0">
                <a:latin typeface="微软雅黑" panose="020B0503020204020204" charset="-122"/>
                <a:ea typeface="微软雅黑" panose="020B0503020204020204" charset="-122"/>
                <a:cs typeface="Arial" panose="020B0604020202020204" pitchFamily="34" charset="0"/>
              </a:rPr>
              <a:t>  </a:t>
            </a:r>
            <a:r>
              <a:rPr lang="zh-CN" altLang="en-US" sz="1400" b="1" dirty="0">
                <a:latin typeface="微软雅黑" panose="020B0503020204020204" charset="-122"/>
                <a:ea typeface="微软雅黑" panose="020B0503020204020204" charset="-122"/>
                <a:cs typeface="Arial" panose="020B0604020202020204" pitchFamily="34" charset="0"/>
              </a:rPr>
              <a:t>信息流</a:t>
            </a:r>
            <a:r>
              <a:rPr lang="en-US" altLang="zh-CN" sz="1400" b="1" dirty="0">
                <a:latin typeface="微软雅黑" panose="020B0503020204020204" charset="-122"/>
                <a:ea typeface="微软雅黑" panose="020B0503020204020204" charset="-122"/>
                <a:cs typeface="Arial" panose="020B0604020202020204" pitchFamily="34" charset="0"/>
              </a:rPr>
              <a:t>     </a:t>
            </a:r>
            <a:r>
              <a:rPr lang="zh-CN" altLang="en-US" sz="1400" b="1" dirty="0">
                <a:latin typeface="微软雅黑" panose="020B0503020204020204" charset="-122"/>
                <a:ea typeface="微软雅黑" panose="020B0503020204020204" charset="-122"/>
                <a:cs typeface="Arial" panose="020B0604020202020204" pitchFamily="34" charset="0"/>
              </a:rPr>
              <a:t>实物流</a:t>
            </a:r>
            <a:endParaRPr lang="zh-CN" altLang="zh-CN" sz="1400" dirty="0">
              <a:latin typeface="微软雅黑" panose="020B0503020204020204" charset="-122"/>
              <a:ea typeface="微软雅黑" panose="020B0503020204020204" charset="-122"/>
              <a:cs typeface="Arial" panose="020B0604020202020204" pitchFamily="34" charset="0"/>
            </a:endParaRPr>
          </a:p>
        </p:txBody>
      </p:sp>
      <p:sp>
        <p:nvSpPr>
          <p:cNvPr id="65" name="AutoShape 55"/>
          <p:cNvSpPr>
            <a:spLocks noChangeArrowheads="1"/>
          </p:cNvSpPr>
          <p:nvPr/>
        </p:nvSpPr>
        <p:spPr bwMode="auto">
          <a:xfrm>
            <a:off x="1500166" y="2214554"/>
            <a:ext cx="6500834" cy="381000"/>
          </a:xfrm>
          <a:prstGeom prst="leftArrow">
            <a:avLst>
              <a:gd name="adj1" fmla="val 50000"/>
              <a:gd name="adj2" fmla="val 337496"/>
            </a:avLst>
          </a:prstGeom>
          <a:noFill/>
          <a:ln w="1270" algn="ctr">
            <a:solidFill>
              <a:srgbClr val="FF0000"/>
            </a:solidFill>
            <a:prstDash val="dash"/>
            <a:miter lim="800000"/>
          </a:ln>
        </p:spPr>
        <p:txBody>
          <a:bodyPr wrap="none" anchor="ctr"/>
          <a:lstStyle/>
          <a:p>
            <a:pPr algn="ctr"/>
            <a:r>
              <a:rPr lang="zh-CN" altLang="en-US" sz="1400" b="1">
                <a:solidFill>
                  <a:schemeClr val="tx2"/>
                </a:solidFill>
                <a:latin typeface="微软雅黑" panose="020B0503020204020204" charset="-122"/>
                <a:ea typeface="微软雅黑" panose="020B0503020204020204" charset="-122"/>
              </a:rPr>
              <a:t>物料需求计划（推）</a:t>
            </a:r>
            <a:endParaRPr lang="en-US" altLang="zh-CN" sz="1400" b="1">
              <a:solidFill>
                <a:schemeClr val="tx2"/>
              </a:solidFill>
              <a:latin typeface="微软雅黑" panose="020B0503020204020204" charset="-122"/>
              <a:ea typeface="微软雅黑" panose="020B0503020204020204" charset="-122"/>
            </a:endParaRPr>
          </a:p>
        </p:txBody>
      </p:sp>
      <p:sp>
        <p:nvSpPr>
          <p:cNvPr id="66" name="AutoShape 56"/>
          <p:cNvSpPr>
            <a:spLocks noChangeArrowheads="1"/>
          </p:cNvSpPr>
          <p:nvPr/>
        </p:nvSpPr>
        <p:spPr bwMode="auto">
          <a:xfrm>
            <a:off x="5181600" y="4500554"/>
            <a:ext cx="2743200" cy="304800"/>
          </a:xfrm>
          <a:prstGeom prst="rightArrow">
            <a:avLst>
              <a:gd name="adj1" fmla="val 50000"/>
              <a:gd name="adj2" fmla="val 318750"/>
            </a:avLst>
          </a:prstGeom>
          <a:noFill/>
          <a:ln w="127" algn="ctr">
            <a:solidFill>
              <a:srgbClr val="FF0000"/>
            </a:solidFill>
            <a:prstDash val="dash"/>
            <a:miter lim="800000"/>
          </a:ln>
        </p:spPr>
        <p:txBody>
          <a:bodyPr wrap="none" anchor="ctr"/>
          <a:lstStyle/>
          <a:p>
            <a:pPr algn="ctr"/>
            <a:r>
              <a:rPr lang="zh-CN" altLang="en-US" sz="1400" b="1" dirty="0">
                <a:solidFill>
                  <a:schemeClr val="tx2"/>
                </a:solidFill>
                <a:latin typeface="微软雅黑" panose="020B0503020204020204" charset="-122"/>
                <a:ea typeface="微软雅黑" panose="020B0503020204020204" charset="-122"/>
              </a:rPr>
              <a:t>生产补货计划</a:t>
            </a:r>
            <a:r>
              <a:rPr lang="en-US" altLang="zh-CN" sz="1400" b="1" dirty="0">
                <a:solidFill>
                  <a:schemeClr val="tx2"/>
                </a:solidFill>
                <a:latin typeface="微软雅黑" panose="020B0503020204020204" charset="-122"/>
                <a:ea typeface="微软雅黑" panose="020B0503020204020204" charset="-122"/>
              </a:rPr>
              <a:t>(</a:t>
            </a:r>
            <a:r>
              <a:rPr lang="zh-CN" altLang="en-US" sz="1400" b="1" dirty="0">
                <a:solidFill>
                  <a:schemeClr val="tx2"/>
                </a:solidFill>
                <a:latin typeface="微软雅黑" panose="020B0503020204020204" charset="-122"/>
                <a:ea typeface="微软雅黑" panose="020B0503020204020204" charset="-122"/>
              </a:rPr>
              <a:t>拉</a:t>
            </a:r>
            <a:r>
              <a:rPr lang="en-US" altLang="zh-CN" sz="1400" b="1" dirty="0">
                <a:solidFill>
                  <a:schemeClr val="tx2"/>
                </a:solidFill>
                <a:latin typeface="微软雅黑" panose="020B0503020204020204" charset="-122"/>
                <a:ea typeface="微软雅黑" panose="020B0503020204020204" charset="-122"/>
              </a:rPr>
              <a:t>)</a:t>
            </a:r>
          </a:p>
        </p:txBody>
      </p:sp>
      <p:sp>
        <p:nvSpPr>
          <p:cNvPr id="67" name="AutoShape 56"/>
          <p:cNvSpPr>
            <a:spLocks noChangeArrowheads="1"/>
          </p:cNvSpPr>
          <p:nvPr/>
        </p:nvSpPr>
        <p:spPr bwMode="auto">
          <a:xfrm>
            <a:off x="2133600" y="4500554"/>
            <a:ext cx="2743200" cy="304800"/>
          </a:xfrm>
          <a:prstGeom prst="rightArrow">
            <a:avLst>
              <a:gd name="adj1" fmla="val 50000"/>
              <a:gd name="adj2" fmla="val 318750"/>
            </a:avLst>
          </a:prstGeom>
          <a:noFill/>
          <a:ln w="127" algn="ctr">
            <a:solidFill>
              <a:srgbClr val="FF0000"/>
            </a:solidFill>
            <a:prstDash val="dash"/>
            <a:miter lim="800000"/>
          </a:ln>
        </p:spPr>
        <p:txBody>
          <a:bodyPr wrap="none" anchor="ctr"/>
          <a:lstStyle/>
          <a:p>
            <a:pPr algn="ctr"/>
            <a:r>
              <a:rPr lang="zh-CN" altLang="en-US" sz="1400" b="1" dirty="0">
                <a:solidFill>
                  <a:schemeClr val="tx2"/>
                </a:solidFill>
                <a:latin typeface="微软雅黑" panose="020B0503020204020204" charset="-122"/>
                <a:ea typeface="微软雅黑" panose="020B0503020204020204" charset="-122"/>
              </a:rPr>
              <a:t>补货计划</a:t>
            </a:r>
            <a:r>
              <a:rPr lang="en-US" altLang="zh-CN" sz="1400" b="1" dirty="0">
                <a:solidFill>
                  <a:schemeClr val="tx2"/>
                </a:solidFill>
                <a:latin typeface="微软雅黑" panose="020B0503020204020204" charset="-122"/>
                <a:ea typeface="微软雅黑" panose="020B0503020204020204" charset="-122"/>
              </a:rPr>
              <a:t>(</a:t>
            </a:r>
            <a:r>
              <a:rPr lang="zh-CN" altLang="en-US" sz="1400" b="1" dirty="0">
                <a:solidFill>
                  <a:schemeClr val="tx2"/>
                </a:solidFill>
                <a:latin typeface="微软雅黑" panose="020B0503020204020204" charset="-122"/>
                <a:ea typeface="微软雅黑" panose="020B0503020204020204" charset="-122"/>
              </a:rPr>
              <a:t>拉</a:t>
            </a:r>
            <a:r>
              <a:rPr lang="en-US" altLang="zh-CN" sz="1400" b="1" dirty="0">
                <a:solidFill>
                  <a:schemeClr val="tx2"/>
                </a:solidFill>
                <a:latin typeface="微软雅黑" panose="020B0503020204020204" charset="-122"/>
                <a:ea typeface="微软雅黑" panose="020B0503020204020204" charset="-122"/>
              </a:rPr>
              <a:t>)</a:t>
            </a:r>
          </a:p>
        </p:txBody>
      </p:sp>
      <p:sp>
        <p:nvSpPr>
          <p:cNvPr id="69" name="object 175"/>
          <p:cNvSpPr/>
          <p:nvPr/>
        </p:nvSpPr>
        <p:spPr bwMode="auto">
          <a:xfrm>
            <a:off x="971528" y="4029092"/>
            <a:ext cx="457200" cy="328602"/>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noFill/>
          <a:ln w="25399">
            <a:solidFill>
              <a:srgbClr val="6BB0C9"/>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70" name="object 379"/>
          <p:cNvSpPr txBox="1">
            <a:spLocks noChangeArrowheads="1"/>
          </p:cNvSpPr>
          <p:nvPr/>
        </p:nvSpPr>
        <p:spPr bwMode="auto">
          <a:xfrm>
            <a:off x="958828" y="3957654"/>
            <a:ext cx="469900" cy="400040"/>
          </a:xfrm>
          <a:prstGeom prst="rect">
            <a:avLst/>
          </a:prstGeom>
          <a:noFill/>
          <a:ln w="9525">
            <a:noFill/>
            <a:miter lim="800000"/>
          </a:ln>
        </p:spPr>
        <p:txBody>
          <a:bodyPr lIns="0" tIns="0" rIns="0" bIns="0"/>
          <a:lstStyle/>
          <a:p>
            <a:pPr algn="ctr">
              <a:lnSpc>
                <a:spcPts val="1100"/>
              </a:lnSpc>
              <a:spcBef>
                <a:spcPts val="15"/>
              </a:spcBef>
            </a:pPr>
            <a:endParaRPr lang="zh-CN" altLang="zh-CN" sz="1000" dirty="0">
              <a:latin typeface="微软雅黑" panose="020B0503020204020204" charset="-122"/>
              <a:ea typeface="微软雅黑" panose="020B0503020204020204" charset="-122"/>
            </a:endParaRPr>
          </a:p>
          <a:p>
            <a:pPr algn="ctr">
              <a:lnSpc>
                <a:spcPct val="96000"/>
              </a:lnSpc>
            </a:pPr>
            <a:r>
              <a:rPr lang="en-US" altLang="zh-CN" sz="1400" dirty="0">
                <a:latin typeface="微软雅黑" panose="020B0503020204020204" charset="-122"/>
                <a:ea typeface="微软雅黑" panose="020B0503020204020204" charset="-122"/>
                <a:cs typeface="Arial" panose="020B0604020202020204" pitchFamily="34" charset="0"/>
              </a:rPr>
              <a:t>LES</a:t>
            </a:r>
            <a:endParaRPr lang="zh-CN" altLang="zh-CN" sz="1400" dirty="0">
              <a:latin typeface="微软雅黑" panose="020B0503020204020204" charset="-122"/>
              <a:ea typeface="微软雅黑" panose="020B0503020204020204" charset="-122"/>
              <a:cs typeface="Arial" panose="020B0604020202020204" pitchFamily="34" charset="0"/>
            </a:endParaRPr>
          </a:p>
        </p:txBody>
      </p:sp>
      <p:sp>
        <p:nvSpPr>
          <p:cNvPr id="71" name="object 175"/>
          <p:cNvSpPr/>
          <p:nvPr/>
        </p:nvSpPr>
        <p:spPr bwMode="auto">
          <a:xfrm>
            <a:off x="3941758" y="4000504"/>
            <a:ext cx="457200" cy="327600"/>
          </a:xfrm>
          <a:custGeom>
            <a:avLst/>
            <a:gdLst>
              <a:gd name="T0" fmla="*/ 0 w 457199"/>
              <a:gd name="T1" fmla="*/ 0 h 457199"/>
              <a:gd name="T2" fmla="*/ 0 w 457199"/>
              <a:gd name="T3" fmla="*/ 457214 h 457199"/>
              <a:gd name="T4" fmla="*/ 457214 w 457199"/>
              <a:gd name="T5" fmla="*/ 457214 h 457199"/>
              <a:gd name="T6" fmla="*/ 457214 w 457199"/>
              <a:gd name="T7" fmla="*/ 0 h 457199"/>
              <a:gd name="T8" fmla="*/ 0 w 457199"/>
              <a:gd name="T9" fmla="*/ 0 h 457199"/>
              <a:gd name="T10" fmla="*/ 0 60000 65536"/>
              <a:gd name="T11" fmla="*/ 0 60000 65536"/>
              <a:gd name="T12" fmla="*/ 0 60000 65536"/>
              <a:gd name="T13" fmla="*/ 0 60000 65536"/>
              <a:gd name="T14" fmla="*/ 0 60000 65536"/>
              <a:gd name="T15" fmla="*/ 0 w 457199"/>
              <a:gd name="T16" fmla="*/ 0 h 457199"/>
              <a:gd name="T17" fmla="*/ 457199 w 457199"/>
              <a:gd name="T18" fmla="*/ 457199 h 457199"/>
            </a:gdLst>
            <a:ahLst/>
            <a:cxnLst>
              <a:cxn ang="T10">
                <a:pos x="T0" y="T1"/>
              </a:cxn>
              <a:cxn ang="T11">
                <a:pos x="T2" y="T3"/>
              </a:cxn>
              <a:cxn ang="T12">
                <a:pos x="T4" y="T5"/>
              </a:cxn>
              <a:cxn ang="T13">
                <a:pos x="T6" y="T7"/>
              </a:cxn>
              <a:cxn ang="T14">
                <a:pos x="T8" y="T9"/>
              </a:cxn>
            </a:cxnLst>
            <a:rect l="T15" t="T16" r="T17" b="T18"/>
            <a:pathLst>
              <a:path w="457199" h="457199">
                <a:moveTo>
                  <a:pt x="0" y="0"/>
                </a:moveTo>
                <a:lnTo>
                  <a:pt x="0" y="457199"/>
                </a:lnTo>
                <a:lnTo>
                  <a:pt x="457199" y="457199"/>
                </a:lnTo>
                <a:lnTo>
                  <a:pt x="457199" y="0"/>
                </a:lnTo>
                <a:lnTo>
                  <a:pt x="0" y="0"/>
                </a:lnTo>
                <a:close/>
              </a:path>
            </a:pathLst>
          </a:custGeom>
          <a:noFill/>
          <a:ln w="25399">
            <a:solidFill>
              <a:srgbClr val="6BB0C9"/>
            </a:solidFill>
            <a:round/>
          </a:ln>
        </p:spPr>
        <p:txBody>
          <a:bodyPr lIns="0" tIns="0" rIns="0" bIns="0"/>
          <a:lstStyle/>
          <a:p>
            <a:endParaRPr lang="zh-CN" altLang="en-US" sz="1400">
              <a:latin typeface="微软雅黑" panose="020B0503020204020204" charset="-122"/>
              <a:ea typeface="微软雅黑" panose="020B0503020204020204" charset="-122"/>
            </a:endParaRPr>
          </a:p>
        </p:txBody>
      </p:sp>
      <p:sp>
        <p:nvSpPr>
          <p:cNvPr id="72" name="object 379"/>
          <p:cNvSpPr txBox="1">
            <a:spLocks noChangeArrowheads="1"/>
          </p:cNvSpPr>
          <p:nvPr/>
        </p:nvSpPr>
        <p:spPr bwMode="auto">
          <a:xfrm>
            <a:off x="3929058" y="3929066"/>
            <a:ext cx="469900" cy="327600"/>
          </a:xfrm>
          <a:prstGeom prst="rect">
            <a:avLst/>
          </a:prstGeom>
          <a:noFill/>
          <a:ln w="9525">
            <a:noFill/>
            <a:miter lim="800000"/>
          </a:ln>
        </p:spPr>
        <p:txBody>
          <a:bodyPr lIns="0" tIns="0" rIns="0" bIns="0"/>
          <a:lstStyle/>
          <a:p>
            <a:pPr algn="ctr">
              <a:lnSpc>
                <a:spcPct val="96000"/>
              </a:lnSpc>
            </a:pPr>
            <a:endParaRPr lang="en-US" altLang="zh-CN" sz="1000" dirty="0">
              <a:latin typeface="微软雅黑" panose="020B0503020204020204" charset="-122"/>
              <a:ea typeface="微软雅黑" panose="020B0503020204020204" charset="-122"/>
              <a:cs typeface="Arial" panose="020B0604020202020204" pitchFamily="34" charset="0"/>
            </a:endParaRPr>
          </a:p>
          <a:p>
            <a:pPr algn="ctr">
              <a:lnSpc>
                <a:spcPct val="96000"/>
              </a:lnSpc>
            </a:pPr>
            <a:r>
              <a:rPr lang="en-US" altLang="zh-CN" sz="1400" dirty="0">
                <a:latin typeface="微软雅黑" panose="020B0503020204020204" charset="-122"/>
                <a:ea typeface="微软雅黑" panose="020B0503020204020204" charset="-122"/>
                <a:cs typeface="Arial" panose="020B0604020202020204" pitchFamily="34" charset="0"/>
              </a:rPr>
              <a:t>LES</a:t>
            </a:r>
            <a:endParaRPr lang="zh-CN" altLang="zh-CN" sz="1400" dirty="0">
              <a:latin typeface="微软雅黑" panose="020B0503020204020204" charset="-122"/>
              <a:ea typeface="微软雅黑" panose="020B0503020204020204" charset="-122"/>
              <a:cs typeface="Arial" panose="020B0604020202020204" pitchFamily="34" charset="0"/>
            </a:endParaRPr>
          </a:p>
        </p:txBody>
      </p:sp>
      <p:sp>
        <p:nvSpPr>
          <p:cNvPr id="74"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D. </a:t>
            </a:r>
            <a:r>
              <a:rPr lang="zh-CN" altLang="en-US" dirty="0"/>
              <a:t>生产执行与物流先进实践：其他企业规模定制（</a:t>
            </a:r>
            <a:r>
              <a:rPr dirty="0"/>
              <a:t>MC</a:t>
            </a:r>
            <a:r>
              <a:rPr lang="zh-CN" altLang="en-US" dirty="0"/>
              <a:t>）与交期平衡</a:t>
            </a:r>
          </a:p>
        </p:txBody>
      </p:sp>
      <p:sp>
        <p:nvSpPr>
          <p:cNvPr id="4" name="TextBox 3"/>
          <p:cNvSpPr txBox="1"/>
          <p:nvPr/>
        </p:nvSpPr>
        <p:spPr>
          <a:xfrm>
            <a:off x="-76200" y="1446885"/>
            <a:ext cx="1211261" cy="369332"/>
          </a:xfrm>
          <a:prstGeom prst="rect">
            <a:avLst/>
          </a:prstGeom>
          <a:noFill/>
        </p:spPr>
        <p:txBody>
          <a:bodyPr wrap="square" rtlCol="0">
            <a:spAutoFit/>
          </a:bodyPr>
          <a:lstStyle/>
          <a:p>
            <a:pPr algn="ctr">
              <a:buNone/>
            </a:pPr>
            <a:r>
              <a:rPr lang="zh-CN" altLang="en-US" dirty="0">
                <a:latin typeface="微软雅黑" panose="020B0503020204020204" charset="-122"/>
                <a:ea typeface="微软雅黑" panose="020B0503020204020204" charset="-122"/>
              </a:rPr>
              <a:t>传统</a:t>
            </a:r>
            <a:r>
              <a:rPr lang="zh-CN" altLang="en-US" dirty="0">
                <a:solidFill>
                  <a:schemeClr val="tx1"/>
                </a:solidFill>
                <a:latin typeface="微软雅黑" panose="020B0503020204020204" charset="-122"/>
                <a:ea typeface="微软雅黑" panose="020B0503020204020204" charset="-122"/>
              </a:rPr>
              <a:t>模式</a:t>
            </a:r>
          </a:p>
        </p:txBody>
      </p:sp>
      <p:sp>
        <p:nvSpPr>
          <p:cNvPr id="5" name="矩形 4"/>
          <p:cNvSpPr/>
          <p:nvPr/>
        </p:nvSpPr>
        <p:spPr bwMode="auto">
          <a:xfrm>
            <a:off x="457200" y="2137260"/>
            <a:ext cx="1096962" cy="228589"/>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销售订单</a:t>
            </a:r>
          </a:p>
        </p:txBody>
      </p:sp>
      <p:sp>
        <p:nvSpPr>
          <p:cNvPr id="6" name="矩形 5"/>
          <p:cNvSpPr/>
          <p:nvPr/>
        </p:nvSpPr>
        <p:spPr bwMode="auto">
          <a:xfrm>
            <a:off x="2667000" y="2135662"/>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前厂机加工</a:t>
            </a:r>
          </a:p>
        </p:txBody>
      </p:sp>
      <p:sp>
        <p:nvSpPr>
          <p:cNvPr id="7" name="矩形 6"/>
          <p:cNvSpPr/>
          <p:nvPr/>
        </p:nvSpPr>
        <p:spPr bwMode="auto">
          <a:xfrm>
            <a:off x="6202362" y="2135662"/>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成品库存</a:t>
            </a:r>
          </a:p>
        </p:txBody>
      </p:sp>
      <p:sp>
        <p:nvSpPr>
          <p:cNvPr id="8" name="TextBox 7"/>
          <p:cNvSpPr txBox="1"/>
          <p:nvPr/>
        </p:nvSpPr>
        <p:spPr>
          <a:xfrm>
            <a:off x="-76200" y="3810000"/>
            <a:ext cx="1211261" cy="369332"/>
          </a:xfrm>
          <a:prstGeom prst="rect">
            <a:avLst/>
          </a:prstGeom>
          <a:noFill/>
        </p:spPr>
        <p:txBody>
          <a:bodyPr wrap="square" rtlCol="0">
            <a:spAutoFit/>
          </a:bodyPr>
          <a:lstStyle/>
          <a:p>
            <a:pPr algn="ctr">
              <a:buNone/>
            </a:pPr>
            <a:r>
              <a:rPr lang="en-US" altLang="zh-CN" dirty="0">
                <a:solidFill>
                  <a:schemeClr val="tx1"/>
                </a:solidFill>
                <a:latin typeface="微软雅黑" panose="020B0503020204020204" charset="-122"/>
                <a:ea typeface="微软雅黑" panose="020B0503020204020204" charset="-122"/>
              </a:rPr>
              <a:t>MC</a:t>
            </a:r>
            <a:r>
              <a:rPr lang="zh-CN" altLang="en-US" dirty="0">
                <a:solidFill>
                  <a:schemeClr val="tx1"/>
                </a:solidFill>
                <a:latin typeface="微软雅黑" panose="020B0503020204020204" charset="-122"/>
                <a:ea typeface="微软雅黑" panose="020B0503020204020204" charset="-122"/>
              </a:rPr>
              <a:t>模式</a:t>
            </a:r>
          </a:p>
        </p:txBody>
      </p:sp>
      <p:sp>
        <p:nvSpPr>
          <p:cNvPr id="9" name="矩形 8"/>
          <p:cNvSpPr/>
          <p:nvPr/>
        </p:nvSpPr>
        <p:spPr bwMode="auto">
          <a:xfrm>
            <a:off x="2057400" y="4267200"/>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前厂机加工</a:t>
            </a:r>
          </a:p>
        </p:txBody>
      </p:sp>
      <p:sp>
        <p:nvSpPr>
          <p:cNvPr id="10" name="矩形 9"/>
          <p:cNvSpPr/>
          <p:nvPr/>
        </p:nvSpPr>
        <p:spPr bwMode="auto">
          <a:xfrm>
            <a:off x="3490912" y="4267200"/>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零部件超市</a:t>
            </a:r>
          </a:p>
        </p:txBody>
      </p:sp>
      <p:sp>
        <p:nvSpPr>
          <p:cNvPr id="11" name="矩形 10"/>
          <p:cNvSpPr/>
          <p:nvPr/>
        </p:nvSpPr>
        <p:spPr bwMode="auto">
          <a:xfrm>
            <a:off x="5029200" y="4267200"/>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总装</a:t>
            </a:r>
            <a:r>
              <a:rPr lang="en-US" altLang="zh-CN" sz="1200" dirty="0">
                <a:solidFill>
                  <a:schemeClr val="tx1"/>
                </a:solidFill>
                <a:latin typeface="微软雅黑" panose="020B0503020204020204" charset="-122"/>
                <a:ea typeface="微软雅黑" panose="020B0503020204020204" charset="-122"/>
              </a:rPr>
              <a:t>/</a:t>
            </a:r>
            <a:r>
              <a:rPr lang="zh-CN" altLang="en-US" sz="1200" dirty="0">
                <a:solidFill>
                  <a:schemeClr val="tx1"/>
                </a:solidFill>
                <a:latin typeface="微软雅黑" panose="020B0503020204020204" charset="-122"/>
                <a:ea typeface="微软雅黑" panose="020B0503020204020204" charset="-122"/>
              </a:rPr>
              <a:t>涂饰</a:t>
            </a:r>
          </a:p>
        </p:txBody>
      </p:sp>
      <p:sp>
        <p:nvSpPr>
          <p:cNvPr id="12" name="矩形 11"/>
          <p:cNvSpPr/>
          <p:nvPr/>
        </p:nvSpPr>
        <p:spPr bwMode="auto">
          <a:xfrm>
            <a:off x="4267200" y="4952206"/>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销售订单</a:t>
            </a:r>
          </a:p>
        </p:txBody>
      </p:sp>
      <p:sp>
        <p:nvSpPr>
          <p:cNvPr id="13" name="矩形 12"/>
          <p:cNvSpPr/>
          <p:nvPr/>
        </p:nvSpPr>
        <p:spPr bwMode="auto">
          <a:xfrm>
            <a:off x="6492875" y="4267200"/>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成品库存</a:t>
            </a:r>
          </a:p>
        </p:txBody>
      </p:sp>
      <p:cxnSp>
        <p:nvCxnSpPr>
          <p:cNvPr id="14" name="直接箭头连接符 13"/>
          <p:cNvCxnSpPr>
            <a:stCxn id="32" idx="3"/>
            <a:endCxn id="7" idx="1"/>
          </p:cNvCxnSpPr>
          <p:nvPr/>
        </p:nvCxnSpPr>
        <p:spPr bwMode="auto">
          <a:xfrm>
            <a:off x="5470525" y="2364262"/>
            <a:ext cx="731837"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cxnSp>
        <p:nvCxnSpPr>
          <p:cNvPr id="15" name="直接箭头连接符 14"/>
          <p:cNvCxnSpPr>
            <a:stCxn id="9" idx="3"/>
            <a:endCxn id="10" idx="1"/>
          </p:cNvCxnSpPr>
          <p:nvPr/>
        </p:nvCxnSpPr>
        <p:spPr bwMode="auto">
          <a:xfrm>
            <a:off x="3032125" y="4495800"/>
            <a:ext cx="458787"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cxnSp>
        <p:nvCxnSpPr>
          <p:cNvPr id="16" name="直接箭头连接符 15"/>
          <p:cNvCxnSpPr>
            <a:stCxn id="12" idx="0"/>
          </p:cNvCxnSpPr>
          <p:nvPr/>
        </p:nvCxnSpPr>
        <p:spPr bwMode="auto">
          <a:xfrm rot="5400000" flipH="1" flipV="1">
            <a:off x="4525963" y="4723606"/>
            <a:ext cx="457200"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cxnSp>
        <p:nvCxnSpPr>
          <p:cNvPr id="17" name="直接箭头连接符 16"/>
          <p:cNvCxnSpPr>
            <a:stCxn id="10" idx="3"/>
            <a:endCxn id="11" idx="1"/>
          </p:cNvCxnSpPr>
          <p:nvPr/>
        </p:nvCxnSpPr>
        <p:spPr bwMode="auto">
          <a:xfrm>
            <a:off x="4465637" y="4495800"/>
            <a:ext cx="563563"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cxnSp>
        <p:nvCxnSpPr>
          <p:cNvPr id="18" name="直接箭头连接符 17"/>
          <p:cNvCxnSpPr>
            <a:stCxn id="11" idx="3"/>
            <a:endCxn id="13" idx="1"/>
          </p:cNvCxnSpPr>
          <p:nvPr/>
        </p:nvCxnSpPr>
        <p:spPr bwMode="auto">
          <a:xfrm>
            <a:off x="6003925" y="4495800"/>
            <a:ext cx="488950"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sp>
        <p:nvSpPr>
          <p:cNvPr id="19" name="右大括号 18"/>
          <p:cNvSpPr/>
          <p:nvPr/>
        </p:nvSpPr>
        <p:spPr bwMode="auto">
          <a:xfrm rot="16200000">
            <a:off x="2819402" y="-28103"/>
            <a:ext cx="381000" cy="3946529"/>
          </a:xfrm>
          <a:prstGeom prst="rightBrace">
            <a:avLst>
              <a:gd name="adj1" fmla="val 183658"/>
              <a:gd name="adj2" fmla="val 50000"/>
            </a:avLst>
          </a:prstGeom>
          <a:noFill/>
          <a:ln w="12700" cap="flat" cmpd="sng" algn="ctr">
            <a:solidFill>
              <a:schemeClr val="accent1"/>
            </a:solidFill>
            <a:prstDash val="lgDash"/>
            <a:round/>
            <a:headEnd type="none" w="med" len="med"/>
            <a:tailEnd type="none" w="med" len="med"/>
          </a:ln>
          <a:effectLst/>
        </p:spPr>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20" name="TextBox 19"/>
          <p:cNvSpPr txBox="1"/>
          <p:nvPr/>
        </p:nvSpPr>
        <p:spPr>
          <a:xfrm>
            <a:off x="2133600" y="1526062"/>
            <a:ext cx="1905000" cy="276999"/>
          </a:xfrm>
          <a:prstGeom prst="rect">
            <a:avLst/>
          </a:prstGeom>
          <a:noFill/>
        </p:spPr>
        <p:txBody>
          <a:bodyPr wrap="square" rtlCol="0">
            <a:spAutoFit/>
          </a:bodyPr>
          <a:lstStyle/>
          <a:p>
            <a:pPr algn="ctr">
              <a:buNone/>
            </a:pPr>
            <a:r>
              <a:rPr lang="zh-CN" altLang="en-US" sz="1200" b="1" u="sng" dirty="0">
                <a:solidFill>
                  <a:schemeClr val="tx1"/>
                </a:solidFill>
                <a:latin typeface="微软雅黑" panose="020B0503020204020204" charset="-122"/>
                <a:ea typeface="微软雅黑" panose="020B0503020204020204" charset="-122"/>
              </a:rPr>
              <a:t>制造提前期：</a:t>
            </a:r>
            <a:r>
              <a:rPr lang="en-US" altLang="zh-CN" sz="1200" b="1" u="sng" dirty="0">
                <a:solidFill>
                  <a:schemeClr val="tx1"/>
                </a:solidFill>
                <a:latin typeface="微软雅黑" panose="020B0503020204020204" charset="-122"/>
                <a:ea typeface="微软雅黑" panose="020B0503020204020204" charset="-122"/>
              </a:rPr>
              <a:t>6 - 9</a:t>
            </a:r>
            <a:r>
              <a:rPr lang="zh-CN" altLang="en-US" sz="1200" b="1" u="sng" dirty="0">
                <a:solidFill>
                  <a:schemeClr val="tx1"/>
                </a:solidFill>
                <a:latin typeface="微软雅黑" panose="020B0503020204020204" charset="-122"/>
                <a:ea typeface="微软雅黑" panose="020B0503020204020204" charset="-122"/>
              </a:rPr>
              <a:t>天</a:t>
            </a:r>
          </a:p>
        </p:txBody>
      </p:sp>
      <p:sp>
        <p:nvSpPr>
          <p:cNvPr id="21" name="右大括号 20"/>
          <p:cNvSpPr/>
          <p:nvPr/>
        </p:nvSpPr>
        <p:spPr bwMode="auto">
          <a:xfrm rot="4927778">
            <a:off x="6709299" y="3576501"/>
            <a:ext cx="304800" cy="3228218"/>
          </a:xfrm>
          <a:prstGeom prst="rightBrace">
            <a:avLst>
              <a:gd name="adj1" fmla="val 323918"/>
              <a:gd name="adj2" fmla="val 50000"/>
            </a:avLst>
          </a:prstGeom>
          <a:noFill/>
          <a:ln w="12700" cap="flat" cmpd="sng" algn="ctr">
            <a:solidFill>
              <a:schemeClr val="accent1"/>
            </a:solidFill>
            <a:prstDash val="lgDash"/>
            <a:round/>
            <a:headEnd type="none" w="med" len="med"/>
            <a:tailEnd type="none" w="med" len="med"/>
          </a:ln>
          <a:effectLst/>
        </p:spPr>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22" name="TextBox 21"/>
          <p:cNvSpPr txBox="1"/>
          <p:nvPr/>
        </p:nvSpPr>
        <p:spPr>
          <a:xfrm>
            <a:off x="6232525" y="5257800"/>
            <a:ext cx="1539875" cy="276999"/>
          </a:xfrm>
          <a:prstGeom prst="rect">
            <a:avLst/>
          </a:prstGeom>
          <a:noFill/>
        </p:spPr>
        <p:txBody>
          <a:bodyPr wrap="square" rtlCol="0">
            <a:spAutoFit/>
          </a:bodyPr>
          <a:lstStyle/>
          <a:p>
            <a:pPr algn="ctr">
              <a:buNone/>
            </a:pPr>
            <a:r>
              <a:rPr lang="zh-CN" altLang="en-US" sz="1200" b="1" u="sng" dirty="0">
                <a:solidFill>
                  <a:schemeClr val="tx1"/>
                </a:solidFill>
                <a:latin typeface="微软雅黑" panose="020B0503020204020204" charset="-122"/>
                <a:ea typeface="微软雅黑" panose="020B0503020204020204" charset="-122"/>
              </a:rPr>
              <a:t>制造提前期：</a:t>
            </a:r>
            <a:r>
              <a:rPr lang="en-US" altLang="zh-CN" sz="1200" b="1" u="sng" dirty="0">
                <a:solidFill>
                  <a:schemeClr val="tx1"/>
                </a:solidFill>
                <a:latin typeface="微软雅黑" panose="020B0503020204020204" charset="-122"/>
                <a:ea typeface="微软雅黑" panose="020B0503020204020204" charset="-122"/>
              </a:rPr>
              <a:t>3</a:t>
            </a:r>
            <a:r>
              <a:rPr lang="zh-CN" altLang="en-US" sz="1200" b="1" u="sng" dirty="0">
                <a:solidFill>
                  <a:schemeClr val="tx1"/>
                </a:solidFill>
                <a:latin typeface="微软雅黑" panose="020B0503020204020204" charset="-122"/>
                <a:ea typeface="微软雅黑" panose="020B0503020204020204" charset="-122"/>
              </a:rPr>
              <a:t>天</a:t>
            </a:r>
          </a:p>
        </p:txBody>
      </p:sp>
      <p:sp>
        <p:nvSpPr>
          <p:cNvPr id="23" name="矩形 22"/>
          <p:cNvSpPr/>
          <p:nvPr/>
        </p:nvSpPr>
        <p:spPr bwMode="auto">
          <a:xfrm>
            <a:off x="7864475" y="2135662"/>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入库出货</a:t>
            </a:r>
          </a:p>
        </p:txBody>
      </p:sp>
      <p:sp>
        <p:nvSpPr>
          <p:cNvPr id="24" name="矩形 23"/>
          <p:cNvSpPr/>
          <p:nvPr/>
        </p:nvSpPr>
        <p:spPr bwMode="auto">
          <a:xfrm>
            <a:off x="7864475" y="4267200"/>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交货</a:t>
            </a:r>
          </a:p>
        </p:txBody>
      </p:sp>
      <p:cxnSp>
        <p:nvCxnSpPr>
          <p:cNvPr id="25" name="直接箭头连接符 24"/>
          <p:cNvCxnSpPr>
            <a:stCxn id="7" idx="3"/>
            <a:endCxn id="23" idx="1"/>
          </p:cNvCxnSpPr>
          <p:nvPr/>
        </p:nvCxnSpPr>
        <p:spPr bwMode="auto">
          <a:xfrm>
            <a:off x="7177087" y="2364262"/>
            <a:ext cx="687388"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cxnSp>
        <p:nvCxnSpPr>
          <p:cNvPr id="26" name="直接箭头连接符 25"/>
          <p:cNvCxnSpPr>
            <a:stCxn id="13" idx="3"/>
            <a:endCxn id="24" idx="1"/>
          </p:cNvCxnSpPr>
          <p:nvPr/>
        </p:nvCxnSpPr>
        <p:spPr bwMode="auto">
          <a:xfrm>
            <a:off x="7467600" y="4495800"/>
            <a:ext cx="396875"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sp>
        <p:nvSpPr>
          <p:cNvPr id="30" name="矩形 29"/>
          <p:cNvSpPr/>
          <p:nvPr/>
        </p:nvSpPr>
        <p:spPr bwMode="auto">
          <a:xfrm>
            <a:off x="457200" y="2365850"/>
            <a:ext cx="1096962" cy="227012"/>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销售预测</a:t>
            </a:r>
          </a:p>
        </p:txBody>
      </p:sp>
      <p:sp>
        <p:nvSpPr>
          <p:cNvPr id="31" name="右箭头 30"/>
          <p:cNvSpPr/>
          <p:nvPr/>
        </p:nvSpPr>
        <p:spPr bwMode="auto">
          <a:xfrm>
            <a:off x="1432560" y="2516662"/>
            <a:ext cx="1005840" cy="91440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大规模</a:t>
            </a:r>
          </a:p>
        </p:txBody>
      </p:sp>
      <p:sp>
        <p:nvSpPr>
          <p:cNvPr id="32" name="矩形 31"/>
          <p:cNvSpPr/>
          <p:nvPr/>
        </p:nvSpPr>
        <p:spPr bwMode="auto">
          <a:xfrm>
            <a:off x="4495800" y="2135662"/>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总装</a:t>
            </a:r>
            <a:r>
              <a:rPr lang="en-US" altLang="zh-CN" sz="1200" dirty="0">
                <a:solidFill>
                  <a:schemeClr val="tx1"/>
                </a:solidFill>
                <a:latin typeface="微软雅黑" panose="020B0503020204020204" charset="-122"/>
                <a:ea typeface="微软雅黑" panose="020B0503020204020204" charset="-122"/>
              </a:rPr>
              <a:t>/</a:t>
            </a:r>
            <a:r>
              <a:rPr lang="zh-CN" altLang="en-US" sz="1200" dirty="0">
                <a:solidFill>
                  <a:schemeClr val="tx1"/>
                </a:solidFill>
                <a:latin typeface="微软雅黑" panose="020B0503020204020204" charset="-122"/>
                <a:ea typeface="微软雅黑" panose="020B0503020204020204" charset="-122"/>
              </a:rPr>
              <a:t>涂饰</a:t>
            </a:r>
          </a:p>
        </p:txBody>
      </p:sp>
      <p:sp>
        <p:nvSpPr>
          <p:cNvPr id="33" name="右箭头 32"/>
          <p:cNvSpPr/>
          <p:nvPr/>
        </p:nvSpPr>
        <p:spPr bwMode="auto">
          <a:xfrm>
            <a:off x="3429000" y="2516662"/>
            <a:ext cx="1005840" cy="91440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大规模</a:t>
            </a:r>
          </a:p>
        </p:txBody>
      </p:sp>
      <p:cxnSp>
        <p:nvCxnSpPr>
          <p:cNvPr id="34" name="直接箭头连接符 33"/>
          <p:cNvCxnSpPr>
            <a:endCxn id="6" idx="1"/>
          </p:cNvCxnSpPr>
          <p:nvPr/>
        </p:nvCxnSpPr>
        <p:spPr bwMode="auto">
          <a:xfrm>
            <a:off x="1554162" y="2362674"/>
            <a:ext cx="1112838"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cxnSp>
        <p:nvCxnSpPr>
          <p:cNvPr id="35" name="直接箭头连接符 34"/>
          <p:cNvCxnSpPr>
            <a:stCxn id="6" idx="3"/>
            <a:endCxn id="32" idx="1"/>
          </p:cNvCxnSpPr>
          <p:nvPr/>
        </p:nvCxnSpPr>
        <p:spPr bwMode="auto">
          <a:xfrm>
            <a:off x="3641725" y="2364262"/>
            <a:ext cx="854075"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sp>
        <p:nvSpPr>
          <p:cNvPr id="36" name="右箭头 35"/>
          <p:cNvSpPr/>
          <p:nvPr/>
        </p:nvSpPr>
        <p:spPr bwMode="auto">
          <a:xfrm>
            <a:off x="5410200" y="2516662"/>
            <a:ext cx="1005840" cy="91440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大规模</a:t>
            </a:r>
          </a:p>
        </p:txBody>
      </p:sp>
      <p:sp>
        <p:nvSpPr>
          <p:cNvPr id="37" name="矩形 36"/>
          <p:cNvSpPr/>
          <p:nvPr/>
        </p:nvSpPr>
        <p:spPr bwMode="auto">
          <a:xfrm>
            <a:off x="457200" y="2745262"/>
            <a:ext cx="868362" cy="228600"/>
          </a:xfrm>
          <a:prstGeom prst="rect">
            <a:avLst/>
          </a:prstGeom>
        </p:spPr>
        <p:style>
          <a:lnRef idx="3">
            <a:schemeClr val="lt1"/>
          </a:lnRef>
          <a:fillRef idx="1">
            <a:schemeClr val="accent2"/>
          </a:fillRef>
          <a:effectRef idx="1">
            <a:schemeClr val="accent2"/>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销售订单</a:t>
            </a:r>
          </a:p>
        </p:txBody>
      </p:sp>
      <p:sp>
        <p:nvSpPr>
          <p:cNvPr id="38" name="矩形 37"/>
          <p:cNvSpPr/>
          <p:nvPr/>
        </p:nvSpPr>
        <p:spPr bwMode="auto">
          <a:xfrm>
            <a:off x="457200" y="2972274"/>
            <a:ext cx="868362" cy="228600"/>
          </a:xfrm>
          <a:prstGeom prst="rect">
            <a:avLst/>
          </a:prstGeom>
          <a:solidFill>
            <a:srgbClr val="FF0000"/>
          </a:solidFill>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销售预测</a:t>
            </a:r>
          </a:p>
        </p:txBody>
      </p:sp>
      <p:sp>
        <p:nvSpPr>
          <p:cNvPr id="39" name="矩形 38"/>
          <p:cNvSpPr/>
          <p:nvPr/>
        </p:nvSpPr>
        <p:spPr bwMode="auto">
          <a:xfrm>
            <a:off x="2438400" y="2745262"/>
            <a:ext cx="906461" cy="457200"/>
          </a:xfrm>
          <a:prstGeom prst="rect">
            <a:avLst/>
          </a:prstGeom>
          <a:solidFill>
            <a:srgbClr val="99CC00"/>
          </a:solidFill>
        </p:spPr>
        <p:style>
          <a:lnRef idx="1">
            <a:schemeClr val="accent5"/>
          </a:lnRef>
          <a:fillRef idx="3">
            <a:schemeClr val="accent5"/>
          </a:fillRef>
          <a:effectRef idx="2">
            <a:schemeClr val="accent5"/>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零部件在制品</a:t>
            </a:r>
          </a:p>
        </p:txBody>
      </p:sp>
      <p:sp>
        <p:nvSpPr>
          <p:cNvPr id="40" name="矩形 39"/>
          <p:cNvSpPr/>
          <p:nvPr/>
        </p:nvSpPr>
        <p:spPr bwMode="auto">
          <a:xfrm>
            <a:off x="4419600" y="2745262"/>
            <a:ext cx="906461" cy="457200"/>
          </a:xfrm>
          <a:prstGeom prst="rect">
            <a:avLst/>
          </a:prstGeom>
          <a:solidFill>
            <a:srgbClr val="00B050"/>
          </a:solidFill>
        </p:spPr>
        <p:style>
          <a:lnRef idx="1">
            <a:schemeClr val="accent5"/>
          </a:lnRef>
          <a:fillRef idx="3">
            <a:schemeClr val="accent5"/>
          </a:fillRef>
          <a:effectRef idx="2">
            <a:schemeClr val="accent5"/>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半成品</a:t>
            </a:r>
          </a:p>
        </p:txBody>
      </p:sp>
      <p:sp>
        <p:nvSpPr>
          <p:cNvPr id="41" name="矩形 40"/>
          <p:cNvSpPr/>
          <p:nvPr/>
        </p:nvSpPr>
        <p:spPr bwMode="auto">
          <a:xfrm>
            <a:off x="6408739" y="2745262"/>
            <a:ext cx="906461" cy="457200"/>
          </a:xfrm>
          <a:prstGeom prst="rect">
            <a:avLst/>
          </a:prstGeom>
          <a:solidFill>
            <a:srgbClr val="377948"/>
          </a:solidFill>
        </p:spPr>
        <p:style>
          <a:lnRef idx="1">
            <a:schemeClr val="accent5"/>
          </a:lnRef>
          <a:fillRef idx="3">
            <a:schemeClr val="accent5"/>
          </a:fillRef>
          <a:effectRef idx="2">
            <a:schemeClr val="accent5"/>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成品</a:t>
            </a:r>
          </a:p>
        </p:txBody>
      </p:sp>
      <p:sp>
        <p:nvSpPr>
          <p:cNvPr id="42" name="右箭头 41"/>
          <p:cNvSpPr/>
          <p:nvPr/>
        </p:nvSpPr>
        <p:spPr bwMode="auto">
          <a:xfrm>
            <a:off x="7391400" y="2745262"/>
            <a:ext cx="594360" cy="22860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endParaRPr lang="zh-CN" altLang="en-US" sz="1200" dirty="0">
              <a:solidFill>
                <a:schemeClr val="tx1"/>
              </a:solidFill>
              <a:latin typeface="微软雅黑" panose="020B0503020204020204" charset="-122"/>
              <a:ea typeface="微软雅黑" panose="020B0503020204020204" charset="-122"/>
            </a:endParaRPr>
          </a:p>
        </p:txBody>
      </p:sp>
      <p:sp>
        <p:nvSpPr>
          <p:cNvPr id="43" name="右箭头 42"/>
          <p:cNvSpPr/>
          <p:nvPr/>
        </p:nvSpPr>
        <p:spPr bwMode="auto">
          <a:xfrm>
            <a:off x="7391400" y="2973862"/>
            <a:ext cx="594360" cy="228600"/>
          </a:xfrm>
          <a:prstGeom prst="rightArrow">
            <a:avLst/>
          </a:prstGeom>
          <a:solidFill>
            <a:srgbClr val="FF9900"/>
          </a:solidFill>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endParaRPr lang="zh-CN" altLang="en-US" sz="1200" dirty="0">
              <a:solidFill>
                <a:schemeClr val="tx1"/>
              </a:solidFill>
              <a:latin typeface="微软雅黑" panose="020B0503020204020204" charset="-122"/>
              <a:ea typeface="微软雅黑" panose="020B0503020204020204" charset="-122"/>
            </a:endParaRPr>
          </a:p>
        </p:txBody>
      </p:sp>
      <p:sp>
        <p:nvSpPr>
          <p:cNvPr id="44" name="矩形 43"/>
          <p:cNvSpPr/>
          <p:nvPr/>
        </p:nvSpPr>
        <p:spPr bwMode="auto">
          <a:xfrm>
            <a:off x="8077200" y="2745262"/>
            <a:ext cx="914400" cy="227012"/>
          </a:xfrm>
          <a:prstGeom prst="rect">
            <a:avLst/>
          </a:prstGeom>
        </p:spPr>
        <p:style>
          <a:lnRef idx="3">
            <a:schemeClr val="lt1"/>
          </a:lnRef>
          <a:fillRef idx="1">
            <a:schemeClr val="accent2"/>
          </a:fillRef>
          <a:effectRef idx="1">
            <a:schemeClr val="accent2"/>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出库商品</a:t>
            </a:r>
          </a:p>
        </p:txBody>
      </p:sp>
      <p:sp>
        <p:nvSpPr>
          <p:cNvPr id="45" name="矩形 44"/>
          <p:cNvSpPr/>
          <p:nvPr/>
        </p:nvSpPr>
        <p:spPr bwMode="auto">
          <a:xfrm>
            <a:off x="8077200" y="2973862"/>
            <a:ext cx="914400" cy="227012"/>
          </a:xfrm>
          <a:prstGeom prst="rect">
            <a:avLst/>
          </a:prstGeom>
          <a:solidFill>
            <a:srgbClr val="FF0000"/>
          </a:solidFill>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滞销库存</a:t>
            </a:r>
          </a:p>
        </p:txBody>
      </p:sp>
      <p:sp>
        <p:nvSpPr>
          <p:cNvPr id="46" name="矩形 45"/>
          <p:cNvSpPr/>
          <p:nvPr/>
        </p:nvSpPr>
        <p:spPr bwMode="auto">
          <a:xfrm>
            <a:off x="457200" y="4267200"/>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销售预测</a:t>
            </a:r>
          </a:p>
        </p:txBody>
      </p:sp>
      <p:cxnSp>
        <p:nvCxnSpPr>
          <p:cNvPr id="47" name="直接箭头连接符 46"/>
          <p:cNvCxnSpPr>
            <a:stCxn id="46" idx="3"/>
            <a:endCxn id="9" idx="1"/>
          </p:cNvCxnSpPr>
          <p:nvPr/>
        </p:nvCxnSpPr>
        <p:spPr bwMode="auto">
          <a:xfrm>
            <a:off x="1431925" y="4495800"/>
            <a:ext cx="625475" cy="1588"/>
          </a:xfrm>
          <a:prstGeom prst="straightConnector1">
            <a:avLst/>
          </a:prstGeom>
          <a:noFill/>
          <a:ln w="12700" cap="flat" cmpd="sng" algn="ctr">
            <a:solidFill>
              <a:schemeClr val="accent2">
                <a:lumMod val="50000"/>
              </a:schemeClr>
            </a:solidFill>
            <a:prstDash val="solid"/>
            <a:round/>
            <a:headEnd type="none" w="med" len="med"/>
            <a:tailEnd type="arrow"/>
          </a:ln>
          <a:effectLst/>
        </p:spPr>
      </p:cxnSp>
      <p:sp>
        <p:nvSpPr>
          <p:cNvPr id="48" name="矩形 47"/>
          <p:cNvSpPr/>
          <p:nvPr/>
        </p:nvSpPr>
        <p:spPr bwMode="auto">
          <a:xfrm>
            <a:off x="457200" y="5715000"/>
            <a:ext cx="868362" cy="457200"/>
          </a:xfrm>
          <a:prstGeom prst="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销售预测</a:t>
            </a:r>
          </a:p>
        </p:txBody>
      </p:sp>
      <p:sp>
        <p:nvSpPr>
          <p:cNvPr id="49" name="右箭头 48"/>
          <p:cNvSpPr/>
          <p:nvPr/>
        </p:nvSpPr>
        <p:spPr bwMode="auto">
          <a:xfrm>
            <a:off x="1432560" y="5486400"/>
            <a:ext cx="1005840" cy="91440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大规模</a:t>
            </a:r>
          </a:p>
        </p:txBody>
      </p:sp>
      <p:sp>
        <p:nvSpPr>
          <p:cNvPr id="50" name="矩形 49"/>
          <p:cNvSpPr/>
          <p:nvPr/>
        </p:nvSpPr>
        <p:spPr bwMode="auto">
          <a:xfrm>
            <a:off x="2438400" y="5715000"/>
            <a:ext cx="906461" cy="457200"/>
          </a:xfrm>
          <a:prstGeom prst="rect">
            <a:avLst/>
          </a:prstGeom>
          <a:solidFill>
            <a:srgbClr val="99CC00"/>
          </a:solidFill>
        </p:spPr>
        <p:style>
          <a:lnRef idx="1">
            <a:schemeClr val="accent5"/>
          </a:lnRef>
          <a:fillRef idx="3">
            <a:schemeClr val="accent5"/>
          </a:fillRef>
          <a:effectRef idx="2">
            <a:schemeClr val="accent5"/>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零部件库存</a:t>
            </a:r>
          </a:p>
        </p:txBody>
      </p:sp>
      <p:sp>
        <p:nvSpPr>
          <p:cNvPr id="51" name="矩形 50"/>
          <p:cNvSpPr/>
          <p:nvPr/>
        </p:nvSpPr>
        <p:spPr bwMode="auto">
          <a:xfrm>
            <a:off x="4419600" y="5715000"/>
            <a:ext cx="906461" cy="228600"/>
          </a:xfrm>
          <a:prstGeom prst="rect">
            <a:avLst/>
          </a:prstGeom>
          <a:solidFill>
            <a:srgbClr val="00B050"/>
          </a:solidFill>
        </p:spPr>
        <p:style>
          <a:lnRef idx="1">
            <a:schemeClr val="accent5"/>
          </a:lnRef>
          <a:fillRef idx="3">
            <a:schemeClr val="accent5"/>
          </a:fillRef>
          <a:effectRef idx="2">
            <a:schemeClr val="accent5"/>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半成品</a:t>
            </a:r>
            <a:r>
              <a:rPr lang="en-US" altLang="zh-CN" sz="1200" dirty="0">
                <a:solidFill>
                  <a:schemeClr val="tx1"/>
                </a:solidFill>
                <a:latin typeface="微软雅黑" panose="020B0503020204020204" charset="-122"/>
                <a:ea typeface="微软雅黑" panose="020B0503020204020204" charset="-122"/>
              </a:rPr>
              <a:t>1</a:t>
            </a:r>
            <a:endParaRPr lang="zh-CN" altLang="en-US" sz="1200" dirty="0">
              <a:solidFill>
                <a:schemeClr val="tx1"/>
              </a:solidFill>
              <a:latin typeface="微软雅黑" panose="020B0503020204020204" charset="-122"/>
              <a:ea typeface="微软雅黑" panose="020B0503020204020204" charset="-122"/>
            </a:endParaRPr>
          </a:p>
        </p:txBody>
      </p:sp>
      <p:sp>
        <p:nvSpPr>
          <p:cNvPr id="52" name="矩形 51"/>
          <p:cNvSpPr/>
          <p:nvPr/>
        </p:nvSpPr>
        <p:spPr bwMode="auto">
          <a:xfrm>
            <a:off x="6408739" y="5715000"/>
            <a:ext cx="906461" cy="228600"/>
          </a:xfrm>
          <a:prstGeom prst="rect">
            <a:avLst/>
          </a:prstGeom>
          <a:solidFill>
            <a:srgbClr val="377948"/>
          </a:solidFill>
        </p:spPr>
        <p:style>
          <a:lnRef idx="1">
            <a:schemeClr val="accent5"/>
          </a:lnRef>
          <a:fillRef idx="3">
            <a:schemeClr val="accent5"/>
          </a:fillRef>
          <a:effectRef idx="2">
            <a:schemeClr val="accent5"/>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成品</a:t>
            </a:r>
            <a:r>
              <a:rPr lang="en-US" altLang="zh-CN" sz="1200" dirty="0">
                <a:solidFill>
                  <a:schemeClr val="tx1"/>
                </a:solidFill>
                <a:latin typeface="微软雅黑" panose="020B0503020204020204" charset="-122"/>
                <a:ea typeface="微软雅黑" panose="020B0503020204020204" charset="-122"/>
              </a:rPr>
              <a:t>1</a:t>
            </a:r>
            <a:endParaRPr lang="zh-CN" altLang="en-US" sz="1200" dirty="0">
              <a:solidFill>
                <a:schemeClr val="tx1"/>
              </a:solidFill>
              <a:latin typeface="微软雅黑" panose="020B0503020204020204" charset="-122"/>
              <a:ea typeface="微软雅黑" panose="020B0503020204020204" charset="-122"/>
            </a:endParaRPr>
          </a:p>
        </p:txBody>
      </p:sp>
      <p:sp>
        <p:nvSpPr>
          <p:cNvPr id="53" name="右箭头 52"/>
          <p:cNvSpPr/>
          <p:nvPr/>
        </p:nvSpPr>
        <p:spPr bwMode="auto">
          <a:xfrm>
            <a:off x="7406640" y="5715000"/>
            <a:ext cx="594360" cy="22860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endParaRPr lang="zh-CN" altLang="en-US" sz="1200" dirty="0">
              <a:solidFill>
                <a:schemeClr val="tx1"/>
              </a:solidFill>
              <a:latin typeface="微软雅黑" panose="020B0503020204020204" charset="-122"/>
              <a:ea typeface="微软雅黑" panose="020B0503020204020204" charset="-122"/>
            </a:endParaRPr>
          </a:p>
        </p:txBody>
      </p:sp>
      <p:sp>
        <p:nvSpPr>
          <p:cNvPr id="54" name="矩形 53"/>
          <p:cNvSpPr/>
          <p:nvPr/>
        </p:nvSpPr>
        <p:spPr bwMode="auto">
          <a:xfrm>
            <a:off x="8092440" y="5715000"/>
            <a:ext cx="914400" cy="227012"/>
          </a:xfrm>
          <a:prstGeom prst="rect">
            <a:avLst/>
          </a:prstGeom>
        </p:spPr>
        <p:style>
          <a:lnRef idx="3">
            <a:schemeClr val="lt1"/>
          </a:lnRef>
          <a:fillRef idx="1">
            <a:schemeClr val="accent2"/>
          </a:fillRef>
          <a:effectRef idx="1">
            <a:schemeClr val="accent2"/>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出库商品</a:t>
            </a:r>
            <a:r>
              <a:rPr lang="en-US" altLang="zh-CN" sz="1200" dirty="0">
                <a:solidFill>
                  <a:schemeClr val="tx1"/>
                </a:solidFill>
                <a:latin typeface="微软雅黑" panose="020B0503020204020204" charset="-122"/>
                <a:ea typeface="微软雅黑" panose="020B0503020204020204" charset="-122"/>
              </a:rPr>
              <a:t>1</a:t>
            </a:r>
            <a:endParaRPr lang="zh-CN" altLang="en-US" sz="1200" dirty="0">
              <a:solidFill>
                <a:schemeClr val="tx1"/>
              </a:solidFill>
              <a:latin typeface="微软雅黑" panose="020B0503020204020204" charset="-122"/>
              <a:ea typeface="微软雅黑" panose="020B0503020204020204" charset="-122"/>
            </a:endParaRPr>
          </a:p>
        </p:txBody>
      </p:sp>
      <p:sp>
        <p:nvSpPr>
          <p:cNvPr id="55" name="右箭头 54"/>
          <p:cNvSpPr/>
          <p:nvPr/>
        </p:nvSpPr>
        <p:spPr bwMode="auto">
          <a:xfrm>
            <a:off x="3429000" y="5713412"/>
            <a:ext cx="868362" cy="230188"/>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endParaRPr lang="zh-CN" altLang="en-US" sz="1200" dirty="0">
              <a:solidFill>
                <a:schemeClr val="tx1"/>
              </a:solidFill>
              <a:latin typeface="微软雅黑" panose="020B0503020204020204" charset="-122"/>
              <a:ea typeface="微软雅黑" panose="020B0503020204020204" charset="-122"/>
            </a:endParaRPr>
          </a:p>
        </p:txBody>
      </p:sp>
      <p:sp>
        <p:nvSpPr>
          <p:cNvPr id="56" name="右箭头 55"/>
          <p:cNvSpPr/>
          <p:nvPr/>
        </p:nvSpPr>
        <p:spPr bwMode="auto">
          <a:xfrm>
            <a:off x="3429000" y="5942012"/>
            <a:ext cx="868362" cy="230188"/>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endParaRPr lang="zh-CN" altLang="en-US" sz="1200" dirty="0">
              <a:solidFill>
                <a:schemeClr val="tx1"/>
              </a:solidFill>
              <a:latin typeface="微软雅黑" panose="020B0503020204020204" charset="-122"/>
              <a:ea typeface="微软雅黑" panose="020B0503020204020204" charset="-122"/>
            </a:endParaRPr>
          </a:p>
        </p:txBody>
      </p:sp>
      <p:sp>
        <p:nvSpPr>
          <p:cNvPr id="57" name="TextBox 56"/>
          <p:cNvSpPr txBox="1"/>
          <p:nvPr/>
        </p:nvSpPr>
        <p:spPr>
          <a:xfrm>
            <a:off x="3208339" y="5486400"/>
            <a:ext cx="1211261" cy="246221"/>
          </a:xfrm>
          <a:prstGeom prst="rect">
            <a:avLst/>
          </a:prstGeom>
          <a:noFill/>
        </p:spPr>
        <p:txBody>
          <a:bodyPr wrap="square" rtlCol="0">
            <a:spAutoFit/>
          </a:bodyPr>
          <a:lstStyle/>
          <a:p>
            <a:pPr algn="ctr">
              <a:buNone/>
            </a:pPr>
            <a:r>
              <a:rPr lang="zh-CN" altLang="en-US" sz="1000" dirty="0">
                <a:solidFill>
                  <a:schemeClr val="tx1"/>
                </a:solidFill>
                <a:latin typeface="微软雅黑" panose="020B0503020204020204" charset="-122"/>
                <a:ea typeface="微软雅黑" panose="020B0503020204020204" charset="-122"/>
              </a:rPr>
              <a:t>明确的销售订单</a:t>
            </a:r>
          </a:p>
        </p:txBody>
      </p:sp>
      <p:sp>
        <p:nvSpPr>
          <p:cNvPr id="58" name="右箭头 57"/>
          <p:cNvSpPr/>
          <p:nvPr/>
        </p:nvSpPr>
        <p:spPr bwMode="auto">
          <a:xfrm>
            <a:off x="5410199" y="5713412"/>
            <a:ext cx="922339" cy="230188"/>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endParaRPr lang="zh-CN" altLang="en-US" sz="1200" dirty="0">
              <a:solidFill>
                <a:schemeClr val="tx1"/>
              </a:solidFill>
              <a:latin typeface="微软雅黑" panose="020B0503020204020204" charset="-122"/>
              <a:ea typeface="微软雅黑" panose="020B0503020204020204" charset="-122"/>
            </a:endParaRPr>
          </a:p>
        </p:txBody>
      </p:sp>
      <p:sp>
        <p:nvSpPr>
          <p:cNvPr id="59" name="右箭头 58"/>
          <p:cNvSpPr/>
          <p:nvPr/>
        </p:nvSpPr>
        <p:spPr bwMode="auto">
          <a:xfrm>
            <a:off x="5410199" y="5942012"/>
            <a:ext cx="922339" cy="230188"/>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endParaRPr lang="zh-CN" altLang="en-US" sz="1200" dirty="0">
              <a:solidFill>
                <a:schemeClr val="tx1"/>
              </a:solidFill>
              <a:latin typeface="微软雅黑" panose="020B0503020204020204" charset="-122"/>
              <a:ea typeface="微软雅黑" panose="020B0503020204020204" charset="-122"/>
            </a:endParaRPr>
          </a:p>
        </p:txBody>
      </p:sp>
      <p:sp>
        <p:nvSpPr>
          <p:cNvPr id="60" name="矩形 59"/>
          <p:cNvSpPr/>
          <p:nvPr/>
        </p:nvSpPr>
        <p:spPr bwMode="auto">
          <a:xfrm>
            <a:off x="4419600" y="5943600"/>
            <a:ext cx="906461" cy="228600"/>
          </a:xfrm>
          <a:prstGeom prst="rect">
            <a:avLst/>
          </a:prstGeom>
          <a:solidFill>
            <a:srgbClr val="00B050"/>
          </a:solidFill>
        </p:spPr>
        <p:style>
          <a:lnRef idx="1">
            <a:schemeClr val="accent5"/>
          </a:lnRef>
          <a:fillRef idx="3">
            <a:schemeClr val="accent5"/>
          </a:fillRef>
          <a:effectRef idx="2">
            <a:schemeClr val="accent5"/>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半成品</a:t>
            </a:r>
            <a:r>
              <a:rPr lang="en-US" altLang="zh-CN" sz="1200" dirty="0">
                <a:solidFill>
                  <a:schemeClr val="tx1"/>
                </a:solidFill>
                <a:latin typeface="微软雅黑" panose="020B0503020204020204" charset="-122"/>
                <a:ea typeface="微软雅黑" panose="020B0503020204020204" charset="-122"/>
              </a:rPr>
              <a:t>2</a:t>
            </a:r>
            <a:endParaRPr lang="zh-CN" altLang="en-US" sz="1200" dirty="0">
              <a:solidFill>
                <a:schemeClr val="tx1"/>
              </a:solidFill>
              <a:latin typeface="微软雅黑" panose="020B0503020204020204" charset="-122"/>
              <a:ea typeface="微软雅黑" panose="020B0503020204020204" charset="-122"/>
            </a:endParaRPr>
          </a:p>
        </p:txBody>
      </p:sp>
      <p:sp>
        <p:nvSpPr>
          <p:cNvPr id="61" name="矩形 60"/>
          <p:cNvSpPr/>
          <p:nvPr/>
        </p:nvSpPr>
        <p:spPr bwMode="auto">
          <a:xfrm>
            <a:off x="6408739" y="5943600"/>
            <a:ext cx="906461" cy="228600"/>
          </a:xfrm>
          <a:prstGeom prst="rect">
            <a:avLst/>
          </a:prstGeom>
          <a:solidFill>
            <a:srgbClr val="377948"/>
          </a:solidFill>
        </p:spPr>
        <p:style>
          <a:lnRef idx="1">
            <a:schemeClr val="accent5"/>
          </a:lnRef>
          <a:fillRef idx="3">
            <a:schemeClr val="accent5"/>
          </a:fillRef>
          <a:effectRef idx="2">
            <a:schemeClr val="accent5"/>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成品</a:t>
            </a:r>
            <a:r>
              <a:rPr lang="en-US" altLang="zh-CN" sz="1200" dirty="0">
                <a:solidFill>
                  <a:schemeClr val="tx1"/>
                </a:solidFill>
                <a:latin typeface="微软雅黑" panose="020B0503020204020204" charset="-122"/>
                <a:ea typeface="微软雅黑" panose="020B0503020204020204" charset="-122"/>
              </a:rPr>
              <a:t>2</a:t>
            </a:r>
            <a:endParaRPr lang="zh-CN" altLang="en-US" sz="1200" dirty="0">
              <a:solidFill>
                <a:schemeClr val="tx1"/>
              </a:solidFill>
              <a:latin typeface="微软雅黑" panose="020B0503020204020204" charset="-122"/>
              <a:ea typeface="微软雅黑" panose="020B0503020204020204" charset="-122"/>
            </a:endParaRPr>
          </a:p>
        </p:txBody>
      </p:sp>
      <p:sp>
        <p:nvSpPr>
          <p:cNvPr id="62" name="右箭头 61"/>
          <p:cNvSpPr/>
          <p:nvPr/>
        </p:nvSpPr>
        <p:spPr bwMode="auto">
          <a:xfrm>
            <a:off x="7406640" y="5943600"/>
            <a:ext cx="594360" cy="22860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noAutofit/>
          </a:bodyPr>
          <a:lstStyle/>
          <a:p>
            <a:pPr algn="ctr">
              <a:buClr>
                <a:schemeClr val="tx1"/>
              </a:buClr>
              <a:buNone/>
            </a:pPr>
            <a:endParaRPr lang="zh-CN" altLang="en-US" sz="1200" dirty="0">
              <a:solidFill>
                <a:schemeClr val="tx1"/>
              </a:solidFill>
              <a:latin typeface="微软雅黑" panose="020B0503020204020204" charset="-122"/>
              <a:ea typeface="微软雅黑" panose="020B0503020204020204" charset="-122"/>
            </a:endParaRPr>
          </a:p>
        </p:txBody>
      </p:sp>
      <p:sp>
        <p:nvSpPr>
          <p:cNvPr id="63" name="矩形 62"/>
          <p:cNvSpPr/>
          <p:nvPr/>
        </p:nvSpPr>
        <p:spPr bwMode="auto">
          <a:xfrm>
            <a:off x="8092440" y="5943600"/>
            <a:ext cx="914400" cy="227012"/>
          </a:xfrm>
          <a:prstGeom prst="rect">
            <a:avLst/>
          </a:prstGeom>
        </p:spPr>
        <p:style>
          <a:lnRef idx="3">
            <a:schemeClr val="lt1"/>
          </a:lnRef>
          <a:fillRef idx="1">
            <a:schemeClr val="accent2"/>
          </a:fillRef>
          <a:effectRef idx="1">
            <a:schemeClr val="accent2"/>
          </a:effectRef>
          <a:fontRef idx="minor">
            <a:schemeClr val="lt1"/>
          </a:fontRef>
        </p:style>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出库商品</a:t>
            </a:r>
            <a:r>
              <a:rPr lang="en-US" altLang="zh-CN" sz="1200" dirty="0">
                <a:solidFill>
                  <a:schemeClr val="tx1"/>
                </a:solidFill>
                <a:latin typeface="微软雅黑" panose="020B0503020204020204" charset="-122"/>
                <a:ea typeface="微软雅黑" panose="020B0503020204020204" charset="-122"/>
              </a:rPr>
              <a:t>1</a:t>
            </a:r>
            <a:endParaRPr lang="zh-CN" altLang="en-US" sz="1200" dirty="0">
              <a:solidFill>
                <a:schemeClr val="tx1"/>
              </a:solidFill>
              <a:latin typeface="微软雅黑" panose="020B0503020204020204" charset="-122"/>
              <a:ea typeface="微软雅黑" panose="020B0503020204020204" charset="-122"/>
            </a:endParaRPr>
          </a:p>
        </p:txBody>
      </p:sp>
      <p:sp>
        <p:nvSpPr>
          <p:cNvPr id="64" name="矩形 63"/>
          <p:cNvSpPr/>
          <p:nvPr/>
        </p:nvSpPr>
        <p:spPr bwMode="auto">
          <a:xfrm>
            <a:off x="2759075" y="4953000"/>
            <a:ext cx="974725" cy="457200"/>
          </a:xfrm>
          <a:prstGeom prst="rect">
            <a:avLst/>
          </a:prstGeom>
          <a:solidFill>
            <a:schemeClr val="bg1"/>
          </a:solidFill>
          <a:ln w="12700">
            <a:solidFill>
              <a:schemeClr val="accent2">
                <a:lumMod val="50000"/>
              </a:schemeClr>
            </a:solidFill>
            <a:miter lim="800000"/>
          </a:ln>
        </p:spPr>
        <p:txBody>
          <a:bodyPr rtlCol="0" anchor="ctr">
            <a:noAutofit/>
          </a:bodyPr>
          <a:lstStyle/>
          <a:p>
            <a:pPr algn="ctr">
              <a:buClr>
                <a:schemeClr val="tx1"/>
              </a:buClr>
              <a:buNone/>
            </a:pPr>
            <a:r>
              <a:rPr lang="zh-CN" altLang="en-US" sz="1200" dirty="0">
                <a:solidFill>
                  <a:schemeClr val="tx1"/>
                </a:solidFill>
                <a:latin typeface="微软雅黑" panose="020B0503020204020204" charset="-122"/>
                <a:ea typeface="微软雅黑" panose="020B0503020204020204" charset="-122"/>
              </a:rPr>
              <a:t>客户选配</a:t>
            </a:r>
            <a:br>
              <a:rPr lang="en-US" altLang="zh-CN" sz="1200" dirty="0">
                <a:solidFill>
                  <a:schemeClr val="tx1"/>
                </a:solidFill>
                <a:latin typeface="微软雅黑" panose="020B0503020204020204" charset="-122"/>
                <a:ea typeface="微软雅黑" panose="020B0503020204020204" charset="-122"/>
              </a:rPr>
            </a:br>
            <a:r>
              <a:rPr lang="zh-CN" altLang="en-US" sz="1200" dirty="0">
                <a:solidFill>
                  <a:schemeClr val="tx1"/>
                </a:solidFill>
                <a:latin typeface="微软雅黑" panose="020B0503020204020204" charset="-122"/>
                <a:ea typeface="微软雅黑" panose="020B0503020204020204" charset="-122"/>
              </a:rPr>
              <a:t>设计</a:t>
            </a:r>
          </a:p>
        </p:txBody>
      </p:sp>
      <p:cxnSp>
        <p:nvCxnSpPr>
          <p:cNvPr id="65" name="直接箭头连接符 64"/>
          <p:cNvCxnSpPr>
            <a:stCxn id="64" idx="3"/>
            <a:endCxn id="12" idx="1"/>
          </p:cNvCxnSpPr>
          <p:nvPr/>
        </p:nvCxnSpPr>
        <p:spPr bwMode="auto">
          <a:xfrm flipV="1">
            <a:off x="3733800" y="5180806"/>
            <a:ext cx="533400" cy="794"/>
          </a:xfrm>
          <a:prstGeom prst="straightConnector1">
            <a:avLst/>
          </a:prstGeom>
          <a:noFill/>
          <a:ln w="12700" cap="flat" cmpd="sng" algn="ctr">
            <a:solidFill>
              <a:schemeClr val="accent2">
                <a:lumMod val="50000"/>
              </a:schemeClr>
            </a:solidFill>
            <a:prstDash val="solid"/>
            <a:round/>
            <a:headEnd type="none" w="med" len="med"/>
            <a:tailEnd type="arrow"/>
          </a:ln>
          <a:effectLst/>
        </p:spPr>
      </p:cxnSp>
      <p:sp>
        <p:nvSpPr>
          <p:cNvPr id="67"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dirty="0"/>
              <a:t>E. </a:t>
            </a:r>
            <a:r>
              <a:rPr lang="zh-CN" altLang="en-US" dirty="0"/>
              <a:t>零部件计划与交付解决方案概要说明</a:t>
            </a:r>
          </a:p>
        </p:txBody>
      </p:sp>
      <p:sp>
        <p:nvSpPr>
          <p:cNvPr id="72" name="Rectangle 20"/>
          <p:cNvSpPr txBox="1">
            <a:spLocks noChangeArrowheads="1"/>
          </p:cNvSpPr>
          <p:nvPr/>
        </p:nvSpPr>
        <p:spPr>
          <a:xfrm>
            <a:off x="323850" y="1341909"/>
            <a:ext cx="4462463" cy="1222995"/>
          </a:xfrm>
          <a:prstGeom prst="rect">
            <a:avLst/>
          </a:prstGeom>
          <a:ln>
            <a:solidFill>
              <a:srgbClr val="7889FB"/>
            </a:solidFill>
          </a:ln>
        </p:spPr>
        <p:txBody>
          <a:bodyPr anchor="ctr"/>
          <a:lstStyle/>
          <a:p>
            <a:pPr marL="173355" marR="0" lvl="0" indent="-173355" defTabSz="914400" eaLnBrk="0" fontAlgn="auto" latinLnBrk="0" hangingPunct="0">
              <a:lnSpc>
                <a:spcPct val="100000"/>
              </a:lnSpc>
              <a:spcBef>
                <a:spcPct val="20000"/>
              </a:spcBef>
              <a:spcAft>
                <a:spcPts val="0"/>
              </a:spcAft>
              <a:buClr>
                <a:srgbClr val="000000"/>
              </a:buClr>
              <a:buSzTx/>
              <a:buFont typeface="Wingdings" panose="05000000000000000000" pitchFamily="2" charset="2"/>
              <a:buNone/>
              <a:defRPr/>
            </a:pPr>
            <a:endParaRPr kumimoji="0" lang="en-US" altLang="zh-CN" sz="12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173355" indent="-173355" eaLnBrk="0" hangingPunct="0">
              <a:lnSpc>
                <a:spcPct val="120000"/>
              </a:lnSpc>
              <a:spcBef>
                <a:spcPct val="20000"/>
              </a:spcBef>
              <a:buClr>
                <a:schemeClr val="accent1"/>
              </a:buClr>
              <a:buFont typeface="Wingdings" panose="05000000000000000000" pitchFamily="2" charset="2"/>
              <a:buChar char="§"/>
              <a:defRPr/>
            </a:pPr>
            <a:r>
              <a:rPr lang="zh-CN" altLang="en-US" sz="1200" kern="0" dirty="0">
                <a:solidFill>
                  <a:srgbClr val="000000"/>
                </a:solidFill>
                <a:latin typeface="微软雅黑" panose="020B0503020204020204" charset="-122"/>
                <a:ea typeface="微软雅黑" panose="020B0503020204020204" charset="-122"/>
              </a:rPr>
              <a:t>完善零部件计划流程，如中长期零部件计划等</a:t>
            </a:r>
            <a:endParaRPr lang="en-US" altLang="zh-CN" sz="1200" kern="0" dirty="0">
              <a:solidFill>
                <a:srgbClr val="000000"/>
              </a:solidFill>
              <a:latin typeface="微软雅黑" panose="020B0503020204020204" charset="-122"/>
              <a:ea typeface="微软雅黑" panose="020B0503020204020204" charset="-122"/>
            </a:endParaRPr>
          </a:p>
          <a:p>
            <a:pPr marL="173355" indent="-173355" eaLnBrk="0" hangingPunct="0">
              <a:spcBef>
                <a:spcPct val="20000"/>
              </a:spcBef>
              <a:buClr>
                <a:schemeClr val="accent1"/>
              </a:buClr>
              <a:buFont typeface="Wingdings" panose="05000000000000000000" pitchFamily="2" charset="2"/>
              <a:buChar char="§"/>
              <a:defRPr/>
            </a:pPr>
            <a:r>
              <a:rPr lang="zh-CN" altLang="en-US" sz="1200" kern="0" dirty="0">
                <a:solidFill>
                  <a:srgbClr val="000000"/>
                </a:solidFill>
                <a:latin typeface="微软雅黑" panose="020B0503020204020204" charset="-122"/>
                <a:ea typeface="微软雅黑" panose="020B0503020204020204" charset="-122"/>
              </a:rPr>
              <a:t>针对零部件进行分类管理，针对性制定供应策略</a:t>
            </a:r>
            <a:r>
              <a:rPr lang="en-US" altLang="zh-CN" sz="1200" kern="0" dirty="0">
                <a:solidFill>
                  <a:srgbClr val="000000"/>
                </a:solidFill>
                <a:latin typeface="微软雅黑" panose="020B0503020204020204" charset="-122"/>
                <a:ea typeface="微软雅黑" panose="020B0503020204020204" charset="-122"/>
              </a:rPr>
              <a:t>, </a:t>
            </a:r>
            <a:r>
              <a:rPr lang="zh-CN" altLang="en-US" sz="1200" kern="0" dirty="0">
                <a:solidFill>
                  <a:srgbClr val="000000"/>
                </a:solidFill>
                <a:latin typeface="微软雅黑" panose="020B0503020204020204" charset="-122"/>
                <a:ea typeface="微软雅黑" panose="020B0503020204020204" charset="-122"/>
              </a:rPr>
              <a:t>提高零部件及时可用性，减少物料短缺对生产的影响</a:t>
            </a:r>
          </a:p>
          <a:p>
            <a:pPr marL="173355" indent="-173355" eaLnBrk="0" hangingPunct="0">
              <a:spcBef>
                <a:spcPct val="20000"/>
              </a:spcBef>
              <a:buClr>
                <a:schemeClr val="accent1"/>
              </a:buClr>
              <a:buFont typeface="Wingdings" panose="05000000000000000000" pitchFamily="2" charset="2"/>
              <a:buChar char="§"/>
              <a:defRPr/>
            </a:pPr>
            <a:r>
              <a:rPr lang="zh-CN" altLang="en-US" sz="1200" kern="0" dirty="0">
                <a:solidFill>
                  <a:srgbClr val="000000"/>
                </a:solidFill>
                <a:latin typeface="微软雅黑" panose="020B0503020204020204" charset="-122"/>
                <a:ea typeface="微软雅黑" panose="020B0503020204020204" charset="-122"/>
              </a:rPr>
              <a:t>完善物料预警机制，提前预防缺料风险并进行应对</a:t>
            </a:r>
            <a:endParaRPr lang="en-US" altLang="zh-CN" sz="1200" kern="0" dirty="0">
              <a:solidFill>
                <a:srgbClr val="000000"/>
              </a:solidFill>
              <a:latin typeface="微软雅黑" panose="020B0503020204020204" charset="-122"/>
              <a:ea typeface="微软雅黑" panose="020B0503020204020204" charset="-122"/>
            </a:endParaRPr>
          </a:p>
        </p:txBody>
      </p:sp>
      <p:sp>
        <p:nvSpPr>
          <p:cNvPr id="74" name="Rectangle 21"/>
          <p:cNvSpPr>
            <a:spLocks noChangeArrowheads="1"/>
          </p:cNvSpPr>
          <p:nvPr/>
        </p:nvSpPr>
        <p:spPr bwMode="auto">
          <a:xfrm>
            <a:off x="658813" y="5572125"/>
            <a:ext cx="8286750" cy="928688"/>
          </a:xfrm>
          <a:prstGeom prst="rect">
            <a:avLst/>
          </a:prstGeom>
          <a:noFill/>
          <a:ln w="9525">
            <a:solidFill>
              <a:srgbClr val="7889FB"/>
            </a:solidFill>
            <a:miter lim="800000"/>
          </a:ln>
        </p:spPr>
        <p:txBody>
          <a:bodyPr/>
          <a:lstStyle/>
          <a:p>
            <a:pPr marL="173355" lvl="1" indent="-173355" eaLnBrk="0" hangingPunct="0">
              <a:spcBef>
                <a:spcPct val="20000"/>
              </a:spcBef>
              <a:buClr>
                <a:schemeClr val="accent1"/>
              </a:buClr>
              <a:buFont typeface="Wingdings" panose="05000000000000000000" pitchFamily="2" charset="2"/>
              <a:buChar char="§"/>
              <a:defRPr/>
            </a:pPr>
            <a:r>
              <a:rPr lang="zh-CN" altLang="en-US" sz="1200" kern="0" dirty="0">
                <a:latin typeface="微软雅黑" panose="020B0503020204020204" charset="-122"/>
                <a:ea typeface="微软雅黑" panose="020B0503020204020204" charset="-122"/>
              </a:rPr>
              <a:t>提高零部件计划对供应商备货的指导性</a:t>
            </a:r>
            <a:endParaRPr lang="en-US" altLang="zh-CN" sz="1200" kern="0" dirty="0">
              <a:latin typeface="微软雅黑" panose="020B0503020204020204" charset="-122"/>
              <a:ea typeface="微软雅黑" panose="020B0503020204020204" charset="-122"/>
            </a:endParaRPr>
          </a:p>
          <a:p>
            <a:pPr marL="173355" lvl="1" indent="-173355" eaLnBrk="0" hangingPunct="0">
              <a:spcBef>
                <a:spcPct val="20000"/>
              </a:spcBef>
              <a:buClr>
                <a:schemeClr val="accent1"/>
              </a:buClr>
              <a:buFont typeface="Wingdings" panose="05000000000000000000" pitchFamily="2" charset="2"/>
              <a:buChar char="§"/>
              <a:defRPr/>
            </a:pPr>
            <a:r>
              <a:rPr lang="zh-CN" altLang="en-US" sz="1200" kern="0" dirty="0">
                <a:latin typeface="微软雅黑" panose="020B0503020204020204" charset="-122"/>
                <a:ea typeface="微软雅黑" panose="020B0503020204020204" charset="-122"/>
              </a:rPr>
              <a:t>提高零部件准时交付率</a:t>
            </a:r>
            <a:r>
              <a:rPr lang="en-US" altLang="zh-CN" sz="1200" kern="0" dirty="0">
                <a:latin typeface="微软雅黑" panose="020B0503020204020204" charset="-122"/>
                <a:ea typeface="微软雅黑" panose="020B0503020204020204" charset="-122"/>
              </a:rPr>
              <a:t>, </a:t>
            </a:r>
            <a:r>
              <a:rPr lang="zh-CN" altLang="en-US" sz="1200" kern="0" dirty="0">
                <a:latin typeface="微软雅黑" panose="020B0503020204020204" charset="-122"/>
                <a:ea typeface="微软雅黑" panose="020B0503020204020204" charset="-122"/>
              </a:rPr>
              <a:t>减少生产线停线时间</a:t>
            </a:r>
          </a:p>
          <a:p>
            <a:pPr marL="173355" lvl="1" indent="-173355" eaLnBrk="0" hangingPunct="0">
              <a:spcBef>
                <a:spcPct val="20000"/>
              </a:spcBef>
              <a:buClr>
                <a:schemeClr val="accent1"/>
              </a:buClr>
              <a:buFont typeface="Wingdings" panose="05000000000000000000" pitchFamily="2" charset="2"/>
              <a:buChar char="§"/>
              <a:defRPr/>
            </a:pPr>
            <a:r>
              <a:rPr lang="zh-CN" altLang="en-US" sz="1200" kern="0" dirty="0">
                <a:latin typeface="微软雅黑" panose="020B0503020204020204" charset="-122"/>
                <a:ea typeface="微软雅黑" panose="020B0503020204020204" charset="-122"/>
              </a:rPr>
              <a:t>通过与供应商协作</a:t>
            </a:r>
            <a:r>
              <a:rPr lang="en-US" altLang="zh-CN" sz="1200" kern="0" dirty="0">
                <a:latin typeface="微软雅黑" panose="020B0503020204020204" charset="-122"/>
                <a:ea typeface="微软雅黑" panose="020B0503020204020204" charset="-122"/>
              </a:rPr>
              <a:t>,</a:t>
            </a:r>
            <a:r>
              <a:rPr lang="zh-CN" altLang="en-US" sz="1200" kern="0" dirty="0">
                <a:latin typeface="微软雅黑" panose="020B0503020204020204" charset="-122"/>
                <a:ea typeface="微软雅黑" panose="020B0503020204020204" charset="-122"/>
              </a:rPr>
              <a:t> 降低供应风险</a:t>
            </a:r>
            <a:r>
              <a:rPr lang="en-US" altLang="zh-CN" sz="1200" kern="0" dirty="0">
                <a:latin typeface="微软雅黑" panose="020B0503020204020204" charset="-122"/>
                <a:ea typeface="微软雅黑" panose="020B0503020204020204" charset="-122"/>
              </a:rPr>
              <a:t>, </a:t>
            </a:r>
            <a:r>
              <a:rPr lang="zh-CN" altLang="en-US" sz="1200" kern="0" dirty="0">
                <a:latin typeface="微软雅黑" panose="020B0503020204020204" charset="-122"/>
                <a:ea typeface="微软雅黑" panose="020B0503020204020204" charset="-122"/>
              </a:rPr>
              <a:t>提高生产组织效率</a:t>
            </a:r>
            <a:endParaRPr lang="en-US" altLang="zh-CN" sz="1200" kern="0" dirty="0">
              <a:latin typeface="微软雅黑" panose="020B0503020204020204" charset="-122"/>
              <a:ea typeface="微软雅黑" panose="020B0503020204020204" charset="-122"/>
            </a:endParaRPr>
          </a:p>
          <a:p>
            <a:pPr marL="173355" lvl="1" indent="-173355" eaLnBrk="0" hangingPunct="0">
              <a:spcBef>
                <a:spcPct val="20000"/>
              </a:spcBef>
              <a:buClr>
                <a:schemeClr val="accent1"/>
              </a:buClr>
              <a:buFont typeface="Wingdings" panose="05000000000000000000" pitchFamily="2" charset="2"/>
              <a:buChar char="§"/>
              <a:defRPr/>
            </a:pPr>
            <a:r>
              <a:rPr lang="zh-CN" altLang="en-US" sz="1200" kern="0" dirty="0">
                <a:latin typeface="微软雅黑" panose="020B0503020204020204" charset="-122"/>
                <a:ea typeface="微软雅黑" panose="020B0503020204020204" charset="-122"/>
              </a:rPr>
              <a:t>降低供应商与x的零部件呆滞库存</a:t>
            </a:r>
            <a:endParaRPr lang="en-US" altLang="zh-CN" sz="1200" kern="0" dirty="0">
              <a:latin typeface="微软雅黑" panose="020B0503020204020204" charset="-122"/>
              <a:ea typeface="微软雅黑" panose="020B0503020204020204" charset="-122"/>
            </a:endParaRPr>
          </a:p>
        </p:txBody>
      </p:sp>
      <p:sp>
        <p:nvSpPr>
          <p:cNvPr id="75" name="Rectangle 22"/>
          <p:cNvSpPr>
            <a:spLocks noChangeArrowheads="1"/>
          </p:cNvSpPr>
          <p:nvPr/>
        </p:nvSpPr>
        <p:spPr bwMode="auto">
          <a:xfrm>
            <a:off x="323850" y="2957637"/>
            <a:ext cx="8621713" cy="2487587"/>
          </a:xfrm>
          <a:prstGeom prst="rect">
            <a:avLst/>
          </a:prstGeom>
          <a:noFill/>
          <a:ln w="9525">
            <a:solidFill>
              <a:srgbClr val="7889FB"/>
            </a:solidFill>
            <a:miter lim="800000"/>
          </a:ln>
        </p:spPr>
        <p:txBody>
          <a:bodyPr tIns="0" bIns="72000" anchor="t"/>
          <a:lstStyle/>
          <a:p>
            <a:pPr marL="173355" marR="0" lvl="0" indent="-173355" defTabSz="914400" eaLnBrk="0" fontAlgn="auto" latinLnBrk="0" hangingPunct="0">
              <a:lnSpc>
                <a:spcPct val="100000"/>
              </a:lnSpc>
              <a:spcBef>
                <a:spcPct val="20000"/>
              </a:spcBef>
              <a:spcAft>
                <a:spcPts val="0"/>
              </a:spcAft>
              <a:buClr>
                <a:srgbClr val="000000"/>
              </a:buClr>
              <a:buSzTx/>
              <a:buFont typeface="Wingdings" panose="05000000000000000000" pitchFamily="2" charset="2"/>
              <a:buNone/>
              <a:defRPr/>
            </a:pPr>
            <a:endParaRPr kumimoji="0" lang="en-US" altLang="zh-CN"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3355" indent="-173355" eaLnBrk="0" hangingPunct="0">
              <a:spcBef>
                <a:spcPts val="200"/>
              </a:spcBef>
              <a:buClr>
                <a:schemeClr val="accent1"/>
              </a:buClr>
              <a:defRPr/>
            </a:pPr>
            <a:r>
              <a:rPr lang="en-US" altLang="zh-CN" sz="1200" kern="0" dirty="0">
                <a:solidFill>
                  <a:srgbClr val="000000"/>
                </a:solidFill>
                <a:latin typeface="微软雅黑" panose="020B0503020204020204" charset="-122"/>
                <a:ea typeface="微软雅黑" panose="020B0503020204020204" charset="-122"/>
              </a:rPr>
              <a:t>E-1 </a:t>
            </a:r>
            <a:r>
              <a:rPr lang="zh-CN" altLang="en-US" sz="1200" kern="0" dirty="0">
                <a:solidFill>
                  <a:srgbClr val="000000"/>
                </a:solidFill>
                <a:latin typeface="微软雅黑" panose="020B0503020204020204" charset="-122"/>
                <a:ea typeface="微软雅黑" panose="020B0503020204020204" charset="-122"/>
              </a:rPr>
              <a:t>零部件计划</a:t>
            </a:r>
          </a:p>
          <a:p>
            <a:pPr marL="630555" lvl="1" indent="-173355" eaLnBrk="0" hangingPunct="0">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结合集成计划模式，提供不同区间的采购计划来指导给供应商备货、生产、发货等</a:t>
            </a:r>
            <a:endParaRPr lang="en-US" altLang="zh-CN" sz="1200" kern="0" dirty="0">
              <a:latin typeface="微软雅黑" panose="020B0503020204020204" charset="-122"/>
              <a:ea typeface="微软雅黑" panose="020B0503020204020204" charset="-122"/>
            </a:endParaRPr>
          </a:p>
          <a:p>
            <a:pPr marL="630555" lvl="1" indent="-173355" eaLnBrk="0" hangingPunct="0">
              <a:lnSpc>
                <a:spcPct val="100000"/>
              </a:lnSpc>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定义需要提供的约束条件</a:t>
            </a:r>
            <a:r>
              <a:rPr lang="en-US" altLang="zh-CN" sz="1200" kern="0" dirty="0">
                <a:latin typeface="微软雅黑" panose="020B0503020204020204" charset="-122"/>
                <a:ea typeface="微软雅黑" panose="020B0503020204020204" charset="-122"/>
              </a:rPr>
              <a:t>(</a:t>
            </a:r>
            <a:r>
              <a:rPr lang="zh-CN" altLang="en-US" sz="1200" kern="0" dirty="0">
                <a:latin typeface="微软雅黑" panose="020B0503020204020204" charset="-122"/>
                <a:ea typeface="微软雅黑" panose="020B0503020204020204" charset="-122"/>
              </a:rPr>
              <a:t>如供应商产能约束</a:t>
            </a:r>
            <a:r>
              <a:rPr lang="en-US" altLang="zh-CN" sz="1200" kern="0" dirty="0">
                <a:latin typeface="微软雅黑" panose="020B0503020204020204" charset="-122"/>
                <a:ea typeface="微软雅黑" panose="020B0503020204020204" charset="-122"/>
              </a:rPr>
              <a:t>)</a:t>
            </a:r>
            <a:r>
              <a:rPr lang="zh-CN" altLang="en-US" sz="1200" kern="0" dirty="0">
                <a:latin typeface="微软雅黑" panose="020B0503020204020204" charset="-122"/>
                <a:ea typeface="微软雅黑" panose="020B0503020204020204" charset="-122"/>
              </a:rPr>
              <a:t>以支持产销平衡</a:t>
            </a:r>
            <a:endParaRPr lang="en-US" altLang="zh-CN" sz="1200" kern="0" dirty="0">
              <a:latin typeface="微软雅黑" panose="020B0503020204020204" charset="-122"/>
              <a:ea typeface="微软雅黑" panose="020B0503020204020204" charset="-122"/>
            </a:endParaRPr>
          </a:p>
          <a:p>
            <a:pPr marL="173355" indent="-173355" eaLnBrk="0" hangingPunct="0">
              <a:spcBef>
                <a:spcPct val="20000"/>
              </a:spcBef>
              <a:buClr>
                <a:schemeClr val="accent1"/>
              </a:buClr>
              <a:defRPr/>
            </a:pPr>
            <a:r>
              <a:rPr lang="en-US" altLang="zh-CN" sz="1200" kern="0" dirty="0">
                <a:solidFill>
                  <a:srgbClr val="000000"/>
                </a:solidFill>
                <a:latin typeface="微软雅黑" panose="020B0503020204020204" charset="-122"/>
                <a:ea typeface="微软雅黑" panose="020B0503020204020204" charset="-122"/>
              </a:rPr>
              <a:t>E-</a:t>
            </a:r>
            <a:r>
              <a:rPr lang="zh-CN" altLang="zh-CN" sz="1200" kern="0" dirty="0">
                <a:solidFill>
                  <a:srgbClr val="000000"/>
                </a:solidFill>
                <a:latin typeface="微软雅黑" panose="020B0503020204020204" charset="-122"/>
                <a:ea typeface="微软雅黑" panose="020B0503020204020204" charset="-122"/>
              </a:rPr>
              <a:t>2</a:t>
            </a:r>
            <a:r>
              <a:rPr lang="en-US" altLang="zh-CN" sz="1200" kern="0" dirty="0">
                <a:solidFill>
                  <a:srgbClr val="000000"/>
                </a:solidFill>
                <a:latin typeface="微软雅黑" panose="020B0503020204020204" charset="-122"/>
                <a:ea typeface="微软雅黑" panose="020B0503020204020204" charset="-122"/>
              </a:rPr>
              <a:t> </a:t>
            </a:r>
            <a:r>
              <a:rPr lang="zh-CN" altLang="en-US" sz="1200" kern="0" dirty="0">
                <a:solidFill>
                  <a:srgbClr val="000000"/>
                </a:solidFill>
                <a:latin typeface="微软雅黑" panose="020B0503020204020204" charset="-122"/>
                <a:ea typeface="微软雅黑" panose="020B0503020204020204" charset="-122"/>
              </a:rPr>
              <a:t>零部件分类与对应的供货模式与库存策略</a:t>
            </a:r>
            <a:endParaRPr lang="en-US" altLang="zh-CN" sz="1200" kern="0" dirty="0">
              <a:solidFill>
                <a:srgbClr val="000000"/>
              </a:solidFill>
              <a:latin typeface="微软雅黑" panose="020B0503020204020204" charset="-122"/>
              <a:ea typeface="微软雅黑" panose="020B0503020204020204" charset="-122"/>
            </a:endParaRPr>
          </a:p>
          <a:p>
            <a:pPr marL="630555" lvl="1" indent="-173355" eaLnBrk="0" hangingPunct="0">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分析零部件采购周期</a:t>
            </a:r>
            <a:r>
              <a:rPr lang="en-US" altLang="zh-CN" sz="1200" kern="0" dirty="0">
                <a:latin typeface="微软雅黑" panose="020B0503020204020204" charset="-122"/>
                <a:ea typeface="微软雅黑" panose="020B0503020204020204" charset="-122"/>
              </a:rPr>
              <a:t>,</a:t>
            </a:r>
            <a:r>
              <a:rPr lang="zh-CN" altLang="en-US" sz="1200" kern="0" dirty="0">
                <a:latin typeface="微软雅黑" panose="020B0503020204020204" charset="-122"/>
                <a:ea typeface="微软雅黑" panose="020B0503020204020204" charset="-122"/>
              </a:rPr>
              <a:t>物料通用性 </a:t>
            </a:r>
            <a:r>
              <a:rPr lang="en-US" altLang="zh-CN" sz="1200" kern="0" dirty="0">
                <a:latin typeface="微软雅黑" panose="020B0503020204020204" charset="-122"/>
                <a:ea typeface="微软雅黑" panose="020B0503020204020204" charset="-122"/>
              </a:rPr>
              <a:t>(</a:t>
            </a:r>
            <a:r>
              <a:rPr lang="zh-CN" altLang="en-US" sz="1200" kern="0" dirty="0">
                <a:latin typeface="微软雅黑" panose="020B0503020204020204" charset="-122"/>
                <a:ea typeface="微软雅黑" panose="020B0503020204020204" charset="-122"/>
              </a:rPr>
              <a:t>通用件或是专用件</a:t>
            </a:r>
            <a:r>
              <a:rPr lang="en-US" altLang="zh-CN" sz="1200" kern="0" dirty="0">
                <a:latin typeface="微软雅黑" panose="020B0503020204020204" charset="-122"/>
                <a:ea typeface="微软雅黑" panose="020B0503020204020204" charset="-122"/>
              </a:rPr>
              <a:t>), </a:t>
            </a:r>
            <a:r>
              <a:rPr lang="zh-CN" altLang="en-US" sz="1200" kern="0" dirty="0">
                <a:latin typeface="微软雅黑" panose="020B0503020204020204" charset="-122"/>
                <a:ea typeface="微软雅黑" panose="020B0503020204020204" charset="-122"/>
              </a:rPr>
              <a:t>用量，采购金额等维度来建立零部件分类</a:t>
            </a:r>
            <a:endParaRPr lang="en-US" altLang="zh-CN" sz="1200" kern="0" dirty="0">
              <a:latin typeface="微软雅黑" panose="020B0503020204020204" charset="-122"/>
              <a:ea typeface="微软雅黑" panose="020B0503020204020204" charset="-122"/>
            </a:endParaRPr>
          </a:p>
          <a:p>
            <a:pPr marL="630555" lvl="1" indent="-173355" eaLnBrk="0" hangingPunct="0">
              <a:lnSpc>
                <a:spcPct val="100000"/>
              </a:lnSpc>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零部件供应策略制定</a:t>
            </a:r>
            <a:r>
              <a:rPr lang="en-US" altLang="zh-CN" sz="1200" kern="0" dirty="0">
                <a:latin typeface="微软雅黑" panose="020B0503020204020204" charset="-122"/>
                <a:ea typeface="微软雅黑" panose="020B0503020204020204" charset="-122"/>
              </a:rPr>
              <a:t>:  </a:t>
            </a:r>
            <a:r>
              <a:rPr lang="zh-CN" altLang="en-US" sz="1200" kern="0" dirty="0">
                <a:latin typeface="微软雅黑" panose="020B0503020204020204" charset="-122"/>
                <a:ea typeface="微软雅黑" panose="020B0503020204020204" charset="-122"/>
              </a:rPr>
              <a:t>根据零部件分类及供应商情况</a:t>
            </a:r>
            <a:r>
              <a:rPr lang="en-US" altLang="zh-CN" sz="1200" kern="0" dirty="0">
                <a:latin typeface="微软雅黑" panose="020B0503020204020204" charset="-122"/>
                <a:ea typeface="微软雅黑" panose="020B0503020204020204" charset="-122"/>
              </a:rPr>
              <a:t>, </a:t>
            </a:r>
            <a:r>
              <a:rPr lang="zh-CN" altLang="en-US" sz="1200" kern="0" dirty="0">
                <a:latin typeface="微软雅黑" panose="020B0503020204020204" charset="-122"/>
                <a:ea typeface="微软雅黑" panose="020B0503020204020204" charset="-122"/>
              </a:rPr>
              <a:t>制定对应的供应策略，以支持生产</a:t>
            </a:r>
            <a:endParaRPr lang="en-US" altLang="zh-CN" sz="1200" kern="0" dirty="0">
              <a:latin typeface="微软雅黑" panose="020B0503020204020204" charset="-122"/>
              <a:ea typeface="微软雅黑" panose="020B0503020204020204" charset="-122"/>
            </a:endParaRPr>
          </a:p>
          <a:p>
            <a:pPr marL="173355" indent="-173355" eaLnBrk="0" hangingPunct="0">
              <a:spcBef>
                <a:spcPts val="200"/>
              </a:spcBef>
              <a:buClr>
                <a:schemeClr val="accent1"/>
              </a:buClr>
              <a:defRPr/>
            </a:pPr>
            <a:r>
              <a:rPr lang="en-US" altLang="zh-CN" sz="1200" kern="0" dirty="0">
                <a:solidFill>
                  <a:srgbClr val="000000"/>
                </a:solidFill>
                <a:latin typeface="微软雅黑" panose="020B0503020204020204" charset="-122"/>
                <a:ea typeface="微软雅黑" panose="020B0503020204020204" charset="-122"/>
              </a:rPr>
              <a:t>E-3 </a:t>
            </a:r>
            <a:r>
              <a:rPr lang="zh-CN" altLang="en-US" sz="1200" kern="0" dirty="0">
                <a:solidFill>
                  <a:srgbClr val="000000"/>
                </a:solidFill>
                <a:latin typeface="微软雅黑" panose="020B0503020204020204" charset="-122"/>
                <a:ea typeface="微软雅黑" panose="020B0503020204020204" charset="-122"/>
              </a:rPr>
              <a:t>零部件配送</a:t>
            </a:r>
          </a:p>
          <a:p>
            <a:pPr marL="630555" lvl="1" indent="-173355" eaLnBrk="0" hangingPunct="0">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按订单配送</a:t>
            </a:r>
            <a:endParaRPr lang="en-US" altLang="zh-CN" sz="1200" kern="0" dirty="0">
              <a:latin typeface="微软雅黑" panose="020B0503020204020204" charset="-122"/>
              <a:ea typeface="微软雅黑" panose="020B0503020204020204" charset="-122"/>
            </a:endParaRPr>
          </a:p>
          <a:p>
            <a:pPr marL="630555" lvl="1" indent="-173355" eaLnBrk="0" hangingPunct="0">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按供货指令配送</a:t>
            </a:r>
            <a:endParaRPr lang="en-US" altLang="zh-CN" sz="1200" kern="0" dirty="0">
              <a:latin typeface="微软雅黑" panose="020B0503020204020204" charset="-122"/>
              <a:ea typeface="微软雅黑" panose="020B0503020204020204" charset="-122"/>
            </a:endParaRPr>
          </a:p>
          <a:p>
            <a:pPr marL="173355" indent="-173355" eaLnBrk="0" hangingPunct="0">
              <a:spcBef>
                <a:spcPts val="200"/>
              </a:spcBef>
              <a:buClr>
                <a:schemeClr val="accent1"/>
              </a:buClr>
              <a:defRPr/>
            </a:pPr>
            <a:r>
              <a:rPr lang="en-US" altLang="zh-CN" sz="1200" kern="0" dirty="0">
                <a:solidFill>
                  <a:srgbClr val="000000"/>
                </a:solidFill>
                <a:latin typeface="微软雅黑" panose="020B0503020204020204" charset="-122"/>
                <a:ea typeface="微软雅黑" panose="020B0503020204020204" charset="-122"/>
              </a:rPr>
              <a:t>E-4 </a:t>
            </a:r>
            <a:r>
              <a:rPr lang="zh-CN" altLang="en-US" sz="1200" kern="0" dirty="0">
                <a:solidFill>
                  <a:srgbClr val="000000"/>
                </a:solidFill>
                <a:latin typeface="微软雅黑" panose="020B0503020204020204" charset="-122"/>
                <a:ea typeface="微软雅黑" panose="020B0503020204020204" charset="-122"/>
              </a:rPr>
              <a:t>供应预警机制</a:t>
            </a:r>
          </a:p>
          <a:p>
            <a:pPr marL="630555" lvl="1" indent="-173355" eaLnBrk="0" hangingPunct="0">
              <a:spcBef>
                <a:spcPts val="200"/>
              </a:spcBef>
              <a:buClr>
                <a:schemeClr val="accent1"/>
              </a:buClr>
              <a:buFont typeface="微软雅黑" panose="020B0503020204020204" charset="-122"/>
              <a:buChar char="−"/>
              <a:defRPr/>
            </a:pPr>
            <a:r>
              <a:rPr lang="zh-CN" altLang="en-US" sz="1200" kern="0" dirty="0">
                <a:latin typeface="微软雅黑" panose="020B0503020204020204" charset="-122"/>
                <a:ea typeface="微软雅黑" panose="020B0503020204020204" charset="-122"/>
              </a:rPr>
              <a:t>定义分级的供应预警机制及应对措施</a:t>
            </a:r>
            <a:endParaRPr lang="en-US" altLang="zh-CN" sz="1200" kern="0" dirty="0">
              <a:latin typeface="微软雅黑" panose="020B0503020204020204" charset="-122"/>
              <a:ea typeface="微软雅黑" panose="020B0503020204020204" charset="-122"/>
            </a:endParaRPr>
          </a:p>
          <a:p>
            <a:pPr marL="630555" lvl="1" indent="-173355" eaLnBrk="0" hangingPunct="0">
              <a:spcBef>
                <a:spcPts val="200"/>
              </a:spcBef>
              <a:buClr>
                <a:schemeClr val="accent1"/>
              </a:buClr>
              <a:buFont typeface="微软雅黑" panose="020B0503020204020204" charset="-122"/>
              <a:buChar char="−"/>
              <a:defRPr/>
            </a:pPr>
            <a:endParaRPr lang="en-US" altLang="zh-CN" sz="1200" kern="0" dirty="0">
              <a:latin typeface="微软雅黑" panose="020B0503020204020204" charset="-122"/>
              <a:ea typeface="微软雅黑" panose="020B0503020204020204" charset="-122"/>
            </a:endParaRPr>
          </a:p>
        </p:txBody>
      </p:sp>
      <p:sp>
        <p:nvSpPr>
          <p:cNvPr id="76" name="Rectangle 32"/>
          <p:cNvSpPr>
            <a:spLocks noChangeArrowheads="1"/>
          </p:cNvSpPr>
          <p:nvPr/>
        </p:nvSpPr>
        <p:spPr bwMode="auto">
          <a:xfrm>
            <a:off x="4922787" y="1341909"/>
            <a:ext cx="4022776" cy="1222995"/>
          </a:xfrm>
          <a:prstGeom prst="rect">
            <a:avLst/>
          </a:prstGeom>
          <a:noFill/>
          <a:ln w="9525">
            <a:solidFill>
              <a:srgbClr val="7889FB"/>
            </a:solidFill>
            <a:miter lim="800000"/>
          </a:ln>
        </p:spPr>
        <p:txBody>
          <a:bodyPr/>
          <a:lstStyle/>
          <a:p>
            <a:pPr marL="0" marR="0" lvl="0" indent="0" defTabSz="914400" eaLnBrk="0" fontAlgn="auto" latinLnBrk="0" hangingPunct="0">
              <a:lnSpc>
                <a:spcPct val="100000"/>
              </a:lnSpc>
              <a:spcBef>
                <a:spcPct val="20000"/>
              </a:spcBef>
              <a:spcAft>
                <a:spcPts val="0"/>
              </a:spcAft>
              <a:buClr>
                <a:srgbClr val="000000"/>
              </a:buClr>
              <a:buSzTx/>
              <a:buFontTx/>
              <a:buNone/>
              <a:defRPr/>
            </a:pPr>
            <a:endParaRPr kumimoji="0" lang="en-US" altLang="zh-CN"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0" marR="0" lvl="0" indent="0" defTabSz="914400" eaLnBrk="0" fontAlgn="auto" latinLnBrk="0" hangingPunct="0">
              <a:lnSpc>
                <a:spcPts val="1300"/>
              </a:lnSpc>
              <a:spcBef>
                <a:spcPct val="20000"/>
              </a:spcBef>
              <a:spcAft>
                <a:spcPts val="0"/>
              </a:spcAft>
              <a:buClr>
                <a:srgbClr val="000000"/>
              </a:buClr>
              <a:buSzTx/>
              <a:buFontTx/>
              <a:buNone/>
              <a:defRPr/>
            </a:pPr>
            <a:r>
              <a:rPr lang="zh-CN" altLang="en-US" sz="1200" kern="0" dirty="0">
                <a:solidFill>
                  <a:srgbClr val="000000"/>
                </a:solidFill>
                <a:latin typeface="微软雅黑" panose="020B0503020204020204" charset="-122"/>
                <a:ea typeface="微软雅黑" panose="020B0503020204020204" charset="-122"/>
              </a:rPr>
              <a:t>x重机</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                               </a:t>
            </a: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x</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顾问：</a:t>
            </a:r>
            <a:r>
              <a:rPr lang="zh-CN" altLang="en-US" sz="1200" kern="0" dirty="0">
                <a:solidFill>
                  <a:srgbClr val="000000"/>
                </a:solidFill>
                <a:latin typeface="微软雅黑" panose="020B0503020204020204" charset="-122"/>
                <a:ea typeface="微软雅黑" panose="020B0503020204020204" charset="-122"/>
              </a:rPr>
              <a:t>沙静</a:t>
            </a: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商务组组长：贺鑫</a:t>
            </a:r>
            <a:endParaRPr lang="en-US" altLang="zh-CN" sz="1200" kern="0" dirty="0">
              <a:solidFill>
                <a:srgbClr val="000000"/>
              </a:solidFill>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进口件业务责任人：贺鑫</a:t>
            </a:r>
            <a:endParaRPr lang="en-US" altLang="zh-CN" sz="1200" kern="0" dirty="0">
              <a:solidFill>
                <a:srgbClr val="000000"/>
              </a:solidFill>
              <a:latin typeface="微软雅黑" panose="020B0503020204020204" charset="-122"/>
              <a:ea typeface="微软雅黑" panose="020B0503020204020204" charset="-122"/>
            </a:endParaRPr>
          </a:p>
          <a:p>
            <a:pPr marL="171450" lvl="0" indent="-171450" eaLnBrk="0" hangingPunct="0">
              <a:lnSpc>
                <a:spcPts val="1300"/>
              </a:lnSpc>
              <a:spcBef>
                <a:spcPct val="20000"/>
              </a:spcBef>
              <a:buClr>
                <a:srgbClr val="000000"/>
              </a:buClr>
              <a:buFont typeface="Arial" panose="020B0604020202020204" pitchFamily="34" charset="0"/>
              <a:buChar char="•"/>
              <a:defRPr/>
            </a:pPr>
            <a:r>
              <a:rPr lang="zh-CN" altLang="en-US" sz="1200" kern="0" dirty="0">
                <a:solidFill>
                  <a:srgbClr val="000000"/>
                </a:solidFill>
                <a:latin typeface="微软雅黑" panose="020B0503020204020204" charset="-122"/>
                <a:ea typeface="微软雅黑" panose="020B0503020204020204" charset="-122"/>
              </a:rPr>
              <a:t>国内件业务责任人：三挖公司总经理</a:t>
            </a:r>
            <a:endParaRPr lang="en-US" altLang="zh-CN" sz="1200" kern="0" dirty="0">
              <a:solidFill>
                <a:srgbClr val="000000"/>
              </a:solidFill>
              <a:latin typeface="微软雅黑" panose="020B0503020204020204" charset="-122"/>
              <a:ea typeface="微软雅黑" panose="020B0503020204020204" charset="-122"/>
            </a:endParaRPr>
          </a:p>
        </p:txBody>
      </p:sp>
      <p:sp>
        <p:nvSpPr>
          <p:cNvPr id="77" name="矩形 81"/>
          <p:cNvSpPr>
            <a:spLocks noChangeArrowheads="1"/>
          </p:cNvSpPr>
          <p:nvPr/>
        </p:nvSpPr>
        <p:spPr bwMode="auto">
          <a:xfrm>
            <a:off x="285750" y="5572125"/>
            <a:ext cx="357188" cy="928688"/>
          </a:xfrm>
          <a:prstGeom prst="rect">
            <a:avLst/>
          </a:prstGeom>
          <a:solidFill>
            <a:srgbClr val="7889FB"/>
          </a:solidFill>
          <a:ln w="6350">
            <a:solidFill>
              <a:srgbClr val="7889FB"/>
            </a:solidFill>
            <a:miter lim="800000"/>
          </a:ln>
        </p:spPr>
        <p:txBody>
          <a:bodyPr anchor="ctr"/>
          <a:lstStyle/>
          <a:p>
            <a:pPr marL="0" marR="0" lvl="0" indent="0"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收益</a:t>
            </a:r>
          </a:p>
        </p:txBody>
      </p:sp>
      <p:sp>
        <p:nvSpPr>
          <p:cNvPr id="78" name="矩形 82"/>
          <p:cNvSpPr>
            <a:spLocks noChangeArrowheads="1"/>
          </p:cNvSpPr>
          <p:nvPr/>
        </p:nvSpPr>
        <p:spPr bwMode="auto">
          <a:xfrm>
            <a:off x="331515" y="1196752"/>
            <a:ext cx="1000125"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目标</a:t>
            </a:r>
          </a:p>
        </p:txBody>
      </p:sp>
      <p:sp>
        <p:nvSpPr>
          <p:cNvPr id="80" name="矩形 83"/>
          <p:cNvSpPr>
            <a:spLocks noChangeArrowheads="1"/>
          </p:cNvSpPr>
          <p:nvPr/>
        </p:nvSpPr>
        <p:spPr bwMode="auto">
          <a:xfrm>
            <a:off x="4922787" y="1199034"/>
            <a:ext cx="1000125"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负责人</a:t>
            </a:r>
          </a:p>
        </p:txBody>
      </p:sp>
      <p:sp>
        <p:nvSpPr>
          <p:cNvPr id="81" name="矩形 84"/>
          <p:cNvSpPr>
            <a:spLocks noChangeArrowheads="1"/>
          </p:cNvSpPr>
          <p:nvPr/>
        </p:nvSpPr>
        <p:spPr bwMode="auto">
          <a:xfrm>
            <a:off x="323850" y="2787774"/>
            <a:ext cx="8621713" cy="285750"/>
          </a:xfrm>
          <a:prstGeom prst="rect">
            <a:avLst/>
          </a:prstGeom>
          <a:solidFill>
            <a:srgbClr val="7889FB"/>
          </a:solidFill>
          <a:ln w="6350">
            <a:solidFill>
              <a:srgbClr val="7889FB"/>
            </a:solidFill>
            <a:miter lim="800000"/>
          </a:ln>
        </p:spPr>
        <p:txBody>
          <a:bodyPr anchor="ctr"/>
          <a:lstStyle/>
          <a:p>
            <a:pPr marL="117475" marR="0" lvl="0" indent="-117475" algn="ctr" defTabSz="914400" eaLnBrk="1" fontAlgn="auto" latinLnBrk="0" hangingPunct="1">
              <a:lnSpc>
                <a:spcPct val="100000"/>
              </a:lnSpc>
              <a:spcBef>
                <a:spcPts val="0"/>
              </a:spcBef>
              <a:spcAft>
                <a:spcPts val="0"/>
              </a:spcAft>
              <a:buClr>
                <a:srgbClr val="000000"/>
              </a:buClr>
              <a:buSzTx/>
              <a:buFontTx/>
              <a:buNone/>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关键要点</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000" y="593725"/>
            <a:ext cx="8820000" cy="459011"/>
          </a:xfrm>
        </p:spPr>
        <p:txBody>
          <a:bodyPr/>
          <a:lstStyle/>
          <a:p>
            <a:r>
              <a:rPr lang="en-US" altLang="zh-TW" dirty="0"/>
              <a:t>E. </a:t>
            </a:r>
            <a:r>
              <a:rPr lang="zh-CN" altLang="en-US" dirty="0"/>
              <a:t>零部件计划与交付</a:t>
            </a:r>
            <a:r>
              <a:rPr lang="zh-TW" altLang="en-US" dirty="0"/>
              <a:t>管理</a:t>
            </a:r>
            <a:r>
              <a:rPr lang="zh-CN" altLang="en-US" dirty="0"/>
              <a:t>思路</a:t>
            </a:r>
            <a:endParaRPr lang="en-US" dirty="0"/>
          </a:p>
        </p:txBody>
      </p:sp>
      <p:sp>
        <p:nvSpPr>
          <p:cNvPr id="37" name="右箭头 9"/>
          <p:cNvSpPr/>
          <p:nvPr/>
        </p:nvSpPr>
        <p:spPr bwMode="auto">
          <a:xfrm>
            <a:off x="7452320" y="3501008"/>
            <a:ext cx="449388" cy="792088"/>
          </a:xfrm>
          <a:prstGeom prst="rightArrow">
            <a:avLst>
              <a:gd name="adj1" fmla="val 50000"/>
              <a:gd name="adj2" fmla="val 62245"/>
            </a:avLst>
          </a:prstGeom>
          <a:solidFill>
            <a:srgbClr val="D6DBFE"/>
          </a:solidFill>
          <a:ln w="9525" algn="ctr">
            <a:noFill/>
            <a:miter lim="800000"/>
          </a:ln>
          <a:effectLst>
            <a:outerShdw blurRad="50800" dist="38100" dir="2700000" algn="tl" rotWithShape="0">
              <a:prstClr val="black">
                <a:alpha val="40000"/>
              </a:prstClr>
            </a:outerShdw>
          </a:effectLst>
        </p:spPr>
        <p:txBody>
          <a:bodyPr wrap="none" lIns="90000" tIns="72000" rIns="90000" bIns="36000" rtlCol="0" anchor="t"/>
          <a:lstStyle/>
          <a:p>
            <a:pPr marL="0" marR="0" lvl="0" indent="0" algn="just"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38" name="矩形 10"/>
          <p:cNvSpPr/>
          <p:nvPr/>
        </p:nvSpPr>
        <p:spPr bwMode="auto">
          <a:xfrm>
            <a:off x="8028384" y="1412776"/>
            <a:ext cx="720080" cy="4824536"/>
          </a:xfrm>
          <a:prstGeom prst="rect">
            <a:avLst/>
          </a:prstGeom>
          <a:solidFill>
            <a:srgbClr val="FFFFCC"/>
          </a:solidFill>
          <a:ln w="9525" algn="ctr">
            <a:solidFill>
              <a:srgbClr val="000000"/>
            </a:solidFill>
            <a:miter lim="800000"/>
          </a:ln>
        </p:spPr>
        <p:txBody>
          <a:bodyPr wrap="none" lIns="90000" tIns="72000" rIns="90000" bIns="36000" rtlCol="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600" b="1" kern="0" dirty="0">
                <a:solidFill>
                  <a:sysClr val="windowText" lastClr="000000"/>
                </a:solidFill>
                <a:latin typeface="微软雅黑" panose="020B0503020204020204" charset="-122"/>
                <a:ea typeface="微软雅黑" panose="020B0503020204020204" charset="-122"/>
              </a:rPr>
              <a:t>减少</a:t>
            </a:r>
            <a:endParaRPr lang="en-US" altLang="zh-CN" sz="1600" b="1" kern="0" dirty="0">
              <a:solidFill>
                <a:sysClr val="windowText" lastClr="000000"/>
              </a:solidFill>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600" b="1" kern="0" dirty="0">
                <a:solidFill>
                  <a:sysClr val="windowText" lastClr="000000"/>
                </a:solidFill>
                <a:latin typeface="微软雅黑" panose="020B0503020204020204" charset="-122"/>
                <a:ea typeface="微软雅黑" panose="020B0503020204020204" charset="-122"/>
              </a:rPr>
              <a:t>缺货</a:t>
            </a:r>
            <a:endParaRPr lang="en-US" altLang="zh-CN" sz="1600" b="1" kern="0" dirty="0">
              <a:solidFill>
                <a:sysClr val="windowText" lastClr="000000"/>
              </a:solidFill>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en-US" altLang="zh-CN"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600" b="1" kern="0" dirty="0">
                <a:solidFill>
                  <a:sysClr val="windowText" lastClr="000000"/>
                </a:solidFill>
                <a:latin typeface="微软雅黑" panose="020B0503020204020204" charset="-122"/>
                <a:ea typeface="微软雅黑" panose="020B0503020204020204" charset="-122"/>
              </a:rPr>
              <a:t>提升</a:t>
            </a:r>
            <a:endParaRPr lang="en-US" altLang="zh-CN" sz="1600" b="1" kern="0" dirty="0">
              <a:solidFill>
                <a:sysClr val="windowText" lastClr="000000"/>
              </a:solidFill>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600" b="1" kern="0" dirty="0">
                <a:solidFill>
                  <a:sysClr val="windowText" lastClr="000000"/>
                </a:solidFill>
                <a:latin typeface="微软雅黑" panose="020B0503020204020204" charset="-122"/>
                <a:ea typeface="微软雅黑" panose="020B0503020204020204" charset="-122"/>
              </a:rPr>
              <a:t>交付</a:t>
            </a:r>
            <a:endParaRPr lang="en-US" altLang="zh-CN" sz="1600" b="1" kern="0" dirty="0">
              <a:solidFill>
                <a:sysClr val="windowText" lastClr="000000"/>
              </a:solidFill>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能力</a:t>
            </a:r>
            <a:endParaRPr kumimoji="0" lang="en-US" altLang="zh-CN"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lang="en-US" altLang="zh-CN" sz="1600" b="1" kern="0" dirty="0">
              <a:solidFill>
                <a:sysClr val="windowText" lastClr="000000"/>
              </a:solidFill>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降低</a:t>
            </a:r>
            <a:endParaRPr kumimoji="0" lang="en-US" altLang="zh-CN"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600" b="1" kern="0" dirty="0">
                <a:solidFill>
                  <a:sysClr val="windowText" lastClr="000000"/>
                </a:solidFill>
                <a:latin typeface="微软雅黑" panose="020B0503020204020204" charset="-122"/>
                <a:ea typeface="微软雅黑" panose="020B0503020204020204" charset="-122"/>
              </a:rPr>
              <a:t>呆滞</a:t>
            </a:r>
            <a:endParaRPr lang="en-US" altLang="zh-CN" sz="1600" b="1" kern="0" dirty="0">
              <a:solidFill>
                <a:sysClr val="windowText" lastClr="000000"/>
              </a:solidFill>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库存</a:t>
            </a:r>
          </a:p>
        </p:txBody>
      </p:sp>
      <p:sp>
        <p:nvSpPr>
          <p:cNvPr id="54" name="Text Box 29"/>
          <p:cNvSpPr txBox="1">
            <a:spLocks noChangeArrowheads="1"/>
          </p:cNvSpPr>
          <p:nvPr/>
        </p:nvSpPr>
        <p:spPr bwMode="auto">
          <a:xfrm flipH="1">
            <a:off x="251520" y="4377723"/>
            <a:ext cx="484423" cy="1823589"/>
          </a:xfrm>
          <a:prstGeom prst="rect">
            <a:avLst/>
          </a:prstGeom>
          <a:gradFill rotWithShape="1">
            <a:gsLst>
              <a:gs pos="0">
                <a:srgbClr val="7889FB">
                  <a:tint val="100000"/>
                  <a:shade val="100000"/>
                  <a:satMod val="130000"/>
                </a:srgbClr>
              </a:gs>
              <a:gs pos="100000">
                <a:srgbClr val="7889FB">
                  <a:tint val="50000"/>
                  <a:shade val="100000"/>
                  <a:satMod val="350000"/>
                </a:srgbClr>
              </a:gs>
            </a:gsLst>
            <a:lin ang="16200000" scaled="0"/>
          </a:gradFill>
          <a:ln w="9525" cap="flat" cmpd="sng" algn="ctr">
            <a:solidFill>
              <a:srgbClr val="7889FB">
                <a:shade val="95000"/>
                <a:satMod val="105000"/>
              </a:srgbClr>
            </a:solidFill>
            <a:prstDash val="solid"/>
          </a:ln>
          <a:effectLst>
            <a:outerShdw blurRad="40000" dist="23000" dir="5400000" rotWithShape="0">
              <a:srgbClr val="000000">
                <a:alpha val="35000"/>
              </a:srgbClr>
            </a:outerShdw>
          </a:effectLst>
        </p:spPr>
        <p:txBody>
          <a:bodyPr rtlCol="0" anchor="ctr"/>
          <a:lstStyle>
            <a:defPPr>
              <a:defRPr lang="zh-CN"/>
            </a:defPPr>
            <a:lvl1pPr>
              <a:defRPr b="1">
                <a:solidFill>
                  <a:schemeClr val="lt1"/>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rPr>
              <a:t>主</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rPr>
              <a:t>要</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rPr>
              <a:t>输</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rPr>
              <a:t>出</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rPr>
              <a:t>物</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endParaRPr>
          </a:p>
        </p:txBody>
      </p:sp>
      <p:sp>
        <p:nvSpPr>
          <p:cNvPr id="55" name="Rectangle 6"/>
          <p:cNvSpPr>
            <a:spLocks noChangeArrowheads="1"/>
          </p:cNvSpPr>
          <p:nvPr/>
        </p:nvSpPr>
        <p:spPr bwMode="gray">
          <a:xfrm>
            <a:off x="2459766" y="4365104"/>
            <a:ext cx="1656182" cy="444710"/>
          </a:xfrm>
          <a:prstGeom prst="rect">
            <a:avLst/>
          </a:prstGeom>
          <a:solidFill>
            <a:srgbClr val="BEC4FD">
              <a:lumMod val="40000"/>
              <a:lumOff val="60000"/>
            </a:srgbClr>
          </a:solidFill>
          <a:ln w="6350" algn="ctr">
            <a:solidFill>
              <a:srgbClr val="B2B2B2"/>
            </a:solidFill>
            <a:miter lim="800000"/>
          </a:ln>
        </p:spPr>
        <p:txBody>
          <a:bodyPr lIns="0" tIns="0" rIns="0" bIns="0" anchor="ctr"/>
          <a:lstStyle>
            <a:lvl1pPr marL="284480" indent="-190500">
              <a:defRPr sz="1000">
                <a:solidFill>
                  <a:schemeClr val="tx1"/>
                </a:solidFill>
                <a:latin typeface="Arial" panose="020B0604020202020204" pitchFamily="34" charset="0"/>
                <a:cs typeface="Arial" panose="020B0604020202020204" pitchFamily="34" charset="0"/>
              </a:defRPr>
            </a:lvl1pPr>
            <a:lvl2pPr marL="742950" indent="-285750">
              <a:defRPr sz="1000">
                <a:solidFill>
                  <a:schemeClr val="tx1"/>
                </a:solidFill>
                <a:latin typeface="Arial" panose="020B0604020202020204" pitchFamily="34" charset="0"/>
                <a:cs typeface="Arial" panose="020B0604020202020204" pitchFamily="34" charset="0"/>
              </a:defRPr>
            </a:lvl2pPr>
            <a:lvl3pPr marL="1143000" indent="-228600">
              <a:defRPr sz="1000">
                <a:solidFill>
                  <a:schemeClr val="tx1"/>
                </a:solidFill>
                <a:latin typeface="Arial" panose="020B0604020202020204" pitchFamily="34" charset="0"/>
                <a:cs typeface="Arial" panose="020B0604020202020204" pitchFamily="34" charset="0"/>
              </a:defRPr>
            </a:lvl3pPr>
            <a:lvl4pPr marL="1600200" indent="-228600">
              <a:defRPr sz="1000">
                <a:solidFill>
                  <a:schemeClr val="tx1"/>
                </a:solidFill>
                <a:latin typeface="Arial" panose="020B0604020202020204" pitchFamily="34" charset="0"/>
                <a:cs typeface="Arial" panose="020B0604020202020204" pitchFamily="34" charset="0"/>
              </a:defRPr>
            </a:lvl4pPr>
            <a:lvl5pPr marL="2057400" indent="-228600">
              <a:defRPr sz="1000">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auto" latinLnBrk="0" hangingPunct="1">
              <a:lnSpc>
                <a:spcPts val="1600"/>
              </a:lnSpc>
              <a:spcBef>
                <a:spcPts val="0"/>
              </a:spcBef>
              <a:spcAft>
                <a:spcPts val="0"/>
              </a:spcAft>
              <a:buClrTx/>
              <a:buSzTx/>
              <a:buFontTx/>
              <a:buNone/>
              <a:defRPr/>
            </a:pPr>
            <a:r>
              <a:rPr lang="zh-CN" altLang="en-US" sz="1200" b="1" kern="0" dirty="0">
                <a:solidFill>
                  <a:srgbClr val="000000"/>
                </a:solidFill>
                <a:latin typeface="微软雅黑" panose="020B0503020204020204" charset="-122"/>
                <a:ea typeface="微软雅黑" panose="020B0503020204020204" charset="-122"/>
              </a:rPr>
              <a:t>零部件供应</a:t>
            </a:r>
            <a:endParaRPr kumimoji="0" lang="zh-CN" altLang="en-US"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6" name="Rectangle 6"/>
          <p:cNvSpPr>
            <a:spLocks noChangeArrowheads="1"/>
          </p:cNvSpPr>
          <p:nvPr/>
        </p:nvSpPr>
        <p:spPr bwMode="gray">
          <a:xfrm>
            <a:off x="755577" y="4365104"/>
            <a:ext cx="1656182" cy="444710"/>
          </a:xfrm>
          <a:prstGeom prst="rect">
            <a:avLst/>
          </a:prstGeom>
          <a:solidFill>
            <a:srgbClr val="BEC4FD">
              <a:lumMod val="40000"/>
              <a:lumOff val="60000"/>
            </a:srgbClr>
          </a:solidFill>
          <a:ln w="6350" algn="ctr">
            <a:solidFill>
              <a:srgbClr val="B2B2B2"/>
            </a:solidFill>
            <a:miter lim="800000"/>
          </a:ln>
        </p:spPr>
        <p:txBody>
          <a:bodyPr lIns="0" tIns="0" rIns="0" bIns="0" anchor="ctr"/>
          <a:lstStyle>
            <a:lvl1pPr marL="284480" indent="-190500">
              <a:defRPr sz="1000">
                <a:solidFill>
                  <a:schemeClr val="tx1"/>
                </a:solidFill>
                <a:latin typeface="Arial" panose="020B0604020202020204" pitchFamily="34" charset="0"/>
                <a:cs typeface="Arial" panose="020B0604020202020204" pitchFamily="34" charset="0"/>
              </a:defRPr>
            </a:lvl1pPr>
            <a:lvl2pPr marL="742950" indent="-285750">
              <a:defRPr sz="1000">
                <a:solidFill>
                  <a:schemeClr val="tx1"/>
                </a:solidFill>
                <a:latin typeface="Arial" panose="020B0604020202020204" pitchFamily="34" charset="0"/>
                <a:cs typeface="Arial" panose="020B0604020202020204" pitchFamily="34" charset="0"/>
              </a:defRPr>
            </a:lvl2pPr>
            <a:lvl3pPr marL="1143000" indent="-228600">
              <a:defRPr sz="1000">
                <a:solidFill>
                  <a:schemeClr val="tx1"/>
                </a:solidFill>
                <a:latin typeface="Arial" panose="020B0604020202020204" pitchFamily="34" charset="0"/>
                <a:cs typeface="Arial" panose="020B0604020202020204" pitchFamily="34" charset="0"/>
              </a:defRPr>
            </a:lvl3pPr>
            <a:lvl4pPr marL="1600200" indent="-228600">
              <a:defRPr sz="1000">
                <a:solidFill>
                  <a:schemeClr val="tx1"/>
                </a:solidFill>
                <a:latin typeface="Arial" panose="020B0604020202020204" pitchFamily="34" charset="0"/>
                <a:cs typeface="Arial" panose="020B0604020202020204" pitchFamily="34" charset="0"/>
              </a:defRPr>
            </a:lvl4pPr>
            <a:lvl5pPr marL="2057400" indent="-228600">
              <a:defRPr sz="1000">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auto" latinLnBrk="0" hangingPunct="1">
              <a:lnSpc>
                <a:spcPts val="16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Arial" panose="020B0604020202020204" pitchFamily="34" charset="0"/>
              </a:rPr>
              <a:t>零部件计划</a:t>
            </a:r>
          </a:p>
        </p:txBody>
      </p:sp>
      <p:sp>
        <p:nvSpPr>
          <p:cNvPr id="57" name="Rectangle 6"/>
          <p:cNvSpPr>
            <a:spLocks noChangeArrowheads="1"/>
          </p:cNvSpPr>
          <p:nvPr/>
        </p:nvSpPr>
        <p:spPr bwMode="gray">
          <a:xfrm>
            <a:off x="4163955" y="4365104"/>
            <a:ext cx="1656182" cy="444710"/>
          </a:xfrm>
          <a:prstGeom prst="rect">
            <a:avLst/>
          </a:prstGeom>
          <a:solidFill>
            <a:srgbClr val="BEC4FD">
              <a:lumMod val="40000"/>
              <a:lumOff val="60000"/>
            </a:srgbClr>
          </a:solidFill>
          <a:ln w="6350" algn="ctr">
            <a:solidFill>
              <a:srgbClr val="B2B2B2"/>
            </a:solidFill>
            <a:miter lim="800000"/>
          </a:ln>
        </p:spPr>
        <p:txBody>
          <a:bodyPr lIns="0" tIns="0" rIns="0" bIns="0" anchor="ctr"/>
          <a:lstStyle>
            <a:lvl1pPr marL="284480" indent="-190500">
              <a:defRPr sz="1000">
                <a:solidFill>
                  <a:schemeClr val="tx1"/>
                </a:solidFill>
                <a:latin typeface="Arial" panose="020B0604020202020204" pitchFamily="34" charset="0"/>
                <a:cs typeface="Arial" panose="020B0604020202020204" pitchFamily="34" charset="0"/>
              </a:defRPr>
            </a:lvl1pPr>
            <a:lvl2pPr marL="742950" indent="-285750">
              <a:defRPr sz="1000">
                <a:solidFill>
                  <a:schemeClr val="tx1"/>
                </a:solidFill>
                <a:latin typeface="Arial" panose="020B0604020202020204" pitchFamily="34" charset="0"/>
                <a:cs typeface="Arial" panose="020B0604020202020204" pitchFamily="34" charset="0"/>
              </a:defRPr>
            </a:lvl2pPr>
            <a:lvl3pPr marL="1143000" indent="-228600">
              <a:defRPr sz="1000">
                <a:solidFill>
                  <a:schemeClr val="tx1"/>
                </a:solidFill>
                <a:latin typeface="Arial" panose="020B0604020202020204" pitchFamily="34" charset="0"/>
                <a:cs typeface="Arial" panose="020B0604020202020204" pitchFamily="34" charset="0"/>
              </a:defRPr>
            </a:lvl3pPr>
            <a:lvl4pPr marL="1600200" indent="-228600">
              <a:defRPr sz="1000">
                <a:solidFill>
                  <a:schemeClr val="tx1"/>
                </a:solidFill>
                <a:latin typeface="Arial" panose="020B0604020202020204" pitchFamily="34" charset="0"/>
                <a:cs typeface="Arial" panose="020B0604020202020204" pitchFamily="34" charset="0"/>
              </a:defRPr>
            </a:lvl4pPr>
            <a:lvl5pPr marL="2057400" indent="-228600">
              <a:defRPr sz="1000">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auto" latinLnBrk="0" hangingPunct="1">
              <a:lnSpc>
                <a:spcPts val="16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Arial" panose="020B0604020202020204" pitchFamily="34" charset="0"/>
              </a:rPr>
              <a:t>零部件配送</a:t>
            </a:r>
          </a:p>
        </p:txBody>
      </p:sp>
      <p:sp>
        <p:nvSpPr>
          <p:cNvPr id="58" name="Rectangle 6"/>
          <p:cNvSpPr>
            <a:spLocks noChangeArrowheads="1"/>
          </p:cNvSpPr>
          <p:nvPr/>
        </p:nvSpPr>
        <p:spPr bwMode="gray">
          <a:xfrm>
            <a:off x="5868144" y="4365104"/>
            <a:ext cx="1656184" cy="444710"/>
          </a:xfrm>
          <a:prstGeom prst="rect">
            <a:avLst/>
          </a:prstGeom>
          <a:solidFill>
            <a:srgbClr val="BEC4FD">
              <a:lumMod val="40000"/>
              <a:lumOff val="60000"/>
            </a:srgbClr>
          </a:solidFill>
          <a:ln w="6350" algn="ctr">
            <a:solidFill>
              <a:srgbClr val="B2B2B2"/>
            </a:solidFill>
            <a:miter lim="800000"/>
          </a:ln>
        </p:spPr>
        <p:txBody>
          <a:bodyPr lIns="0" tIns="0" rIns="0" bIns="0" anchor="ctr"/>
          <a:lstStyle>
            <a:lvl1pPr marL="284480" indent="-190500">
              <a:defRPr sz="1000">
                <a:solidFill>
                  <a:schemeClr val="tx1"/>
                </a:solidFill>
                <a:latin typeface="Arial" panose="020B0604020202020204" pitchFamily="34" charset="0"/>
                <a:cs typeface="Arial" panose="020B0604020202020204" pitchFamily="34" charset="0"/>
              </a:defRPr>
            </a:lvl1pPr>
            <a:lvl2pPr marL="742950" indent="-285750">
              <a:defRPr sz="1000">
                <a:solidFill>
                  <a:schemeClr val="tx1"/>
                </a:solidFill>
                <a:latin typeface="Arial" panose="020B0604020202020204" pitchFamily="34" charset="0"/>
                <a:cs typeface="Arial" panose="020B0604020202020204" pitchFamily="34" charset="0"/>
              </a:defRPr>
            </a:lvl2pPr>
            <a:lvl3pPr marL="1143000" indent="-228600">
              <a:defRPr sz="1000">
                <a:solidFill>
                  <a:schemeClr val="tx1"/>
                </a:solidFill>
                <a:latin typeface="Arial" panose="020B0604020202020204" pitchFamily="34" charset="0"/>
                <a:cs typeface="Arial" panose="020B0604020202020204" pitchFamily="34" charset="0"/>
              </a:defRPr>
            </a:lvl3pPr>
            <a:lvl4pPr marL="1600200" indent="-228600">
              <a:defRPr sz="1000">
                <a:solidFill>
                  <a:schemeClr val="tx1"/>
                </a:solidFill>
                <a:latin typeface="Arial" panose="020B0604020202020204" pitchFamily="34" charset="0"/>
                <a:cs typeface="Arial" panose="020B0604020202020204" pitchFamily="34" charset="0"/>
              </a:defRPr>
            </a:lvl4pPr>
            <a:lvl5pPr marL="2057400" indent="-228600">
              <a:defRPr sz="1000">
                <a:solidFill>
                  <a:schemeClr val="tx1"/>
                </a:solidFill>
                <a:latin typeface="Arial" panose="020B0604020202020204" pitchFamily="34" charset="0"/>
                <a:cs typeface="Arial" panose="020B0604020202020204" pitchFamily="34" charset="0"/>
              </a:defRPr>
            </a:lvl5pPr>
            <a:lvl6pPr marL="25146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6pPr>
            <a:lvl7pPr marL="29718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7pPr>
            <a:lvl8pPr marL="34290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8pPr>
            <a:lvl9pPr marL="3886200" indent="-228600" algn="ctr" eaLnBrk="0" fontAlgn="base" hangingPunct="0">
              <a:lnSpc>
                <a:spcPct val="90000"/>
              </a:lnSpc>
              <a:spcBef>
                <a:spcPct val="20000"/>
              </a:spcBef>
              <a:spcAft>
                <a:spcPct val="0"/>
              </a:spcAft>
              <a:buClr>
                <a:schemeClr val="tx1"/>
              </a:buClr>
              <a:buFont typeface="Arial" panose="020B0604020202020204" pitchFamily="34" charset="0"/>
              <a:defRPr sz="10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auto" latinLnBrk="0" hangingPunct="1">
              <a:lnSpc>
                <a:spcPts val="16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Arial" panose="020B0604020202020204" pitchFamily="34" charset="0"/>
              </a:rPr>
              <a:t>零部件预警管理</a:t>
            </a:r>
          </a:p>
        </p:txBody>
      </p:sp>
      <p:sp>
        <p:nvSpPr>
          <p:cNvPr id="60" name="Rectangle 21"/>
          <p:cNvSpPr>
            <a:spLocks noChangeArrowheads="1"/>
          </p:cNvSpPr>
          <p:nvPr/>
        </p:nvSpPr>
        <p:spPr bwMode="gray">
          <a:xfrm>
            <a:off x="755576" y="4869160"/>
            <a:ext cx="1656184" cy="1368152"/>
          </a:xfrm>
          <a:prstGeom prst="rect">
            <a:avLst/>
          </a:prstGeom>
          <a:noFill/>
          <a:ln w="6350" algn="ctr">
            <a:solidFill>
              <a:srgbClr val="FFFFFF">
                <a:lumMod val="75000"/>
              </a:srgbClr>
            </a:solidFill>
            <a:miter lim="800000"/>
          </a:ln>
        </p:spPr>
        <p:txBody>
          <a:bodyPr lIns="36000" tIns="36000" rIns="36000" bIns="36000"/>
          <a:lstStyle/>
          <a:p>
            <a:pPr marL="97155"/>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承接计划模式的零部件计划方式</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中长期零部件计划：产销平衡机制中考虑</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rPr>
              <a:t>MRP</a:t>
            </a: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计划：更短周期的例行调整；及相应变化规则等</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短期：锁定期订单变更规则</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1" name="Rectangle 21"/>
          <p:cNvSpPr>
            <a:spLocks noChangeArrowheads="1"/>
          </p:cNvSpPr>
          <p:nvPr/>
        </p:nvSpPr>
        <p:spPr bwMode="gray">
          <a:xfrm>
            <a:off x="2459765" y="4862297"/>
            <a:ext cx="1656184" cy="1375015"/>
          </a:xfrm>
          <a:prstGeom prst="rect">
            <a:avLst/>
          </a:prstGeom>
          <a:noFill/>
          <a:ln w="6350" algn="ctr">
            <a:solidFill>
              <a:srgbClr val="FFFFFF">
                <a:lumMod val="75000"/>
              </a:srgbClr>
            </a:solidFill>
            <a:miter lim="800000"/>
          </a:ln>
        </p:spPr>
        <p:txBody>
          <a:bodyPr lIns="36000" tIns="36000" rIns="36000" bIns="36000"/>
          <a:lstStyle/>
          <a:p>
            <a:pPr marL="97155"/>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达成共识的分类规则及供应策略</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零部件分类：按金额、按交期、按通用性程度</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按使用量等</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不同供应策略</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a:p>
            <a:pPr marL="85725" marR="0" lvl="0" indent="-84455" algn="l" defTabSz="914400" eaLnBrk="1" fontAlgn="auto" latinLnBrk="0" hangingPunct="1">
              <a:lnSpc>
                <a:spcPct val="100000"/>
              </a:lnSpc>
              <a:spcBef>
                <a:spcPts val="0"/>
              </a:spcBef>
              <a:spcAft>
                <a:spcPts val="0"/>
              </a:spcAft>
              <a:buClrTx/>
              <a:buSzTx/>
              <a:buFont typeface="Wingdings" panose="05000000000000000000" pitchFamily="2" charset="2"/>
              <a:buChar char="§"/>
              <a:defRPr/>
            </a:pP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Arial" panose="020B0604020202020204" pitchFamily="34" charset="0"/>
            </a:endParaRPr>
          </a:p>
        </p:txBody>
      </p:sp>
      <p:sp>
        <p:nvSpPr>
          <p:cNvPr id="62" name="Rectangle 21"/>
          <p:cNvSpPr>
            <a:spLocks noChangeArrowheads="1"/>
          </p:cNvSpPr>
          <p:nvPr/>
        </p:nvSpPr>
        <p:spPr bwMode="gray">
          <a:xfrm>
            <a:off x="4163954" y="4862297"/>
            <a:ext cx="1656184" cy="1375015"/>
          </a:xfrm>
          <a:prstGeom prst="rect">
            <a:avLst/>
          </a:prstGeom>
          <a:noFill/>
          <a:ln w="6350" algn="ctr">
            <a:solidFill>
              <a:srgbClr val="FFFFFF">
                <a:lumMod val="75000"/>
              </a:srgbClr>
            </a:solidFill>
            <a:miter lim="800000"/>
          </a:ln>
        </p:spPr>
        <p:txBody>
          <a:bodyPr lIns="36000" tIns="36000" rIns="36000" bIns="36000"/>
          <a:lstStyle/>
          <a:p>
            <a:pPr marL="97155"/>
            <a:r>
              <a:rPr kumimoji="1" lang="zh-CN" altLang="en-US" sz="1000" b="1" dirty="0">
                <a:solidFill>
                  <a:srgbClr val="000000"/>
                </a:solidFill>
                <a:latin typeface="微软雅黑" panose="020B0503020204020204" charset="-122"/>
                <a:ea typeface="微软雅黑" panose="020B0503020204020204" charset="-122"/>
                <a:cs typeface="微软雅黑" panose="020B0503020204020204" charset="-122"/>
              </a:rPr>
              <a:t>按订单、当量及交付指令的配送</a:t>
            </a:r>
            <a:endParaRPr kumimoji="1" lang="en-US" altLang="zh-CN" sz="1000" b="1"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按订单供货：长周期件、钢材</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当量补货：中短期常规件</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a:p>
            <a:pPr marL="97155">
              <a:buFont typeface="Arial" panose="020B0604020202020204"/>
              <a:buChar char="•"/>
            </a:pPr>
            <a:r>
              <a:rPr kumimoji="1" lang="zh-CN" altLang="en-US" sz="900" dirty="0">
                <a:solidFill>
                  <a:srgbClr val="000000"/>
                </a:solidFill>
                <a:latin typeface="微软雅黑" panose="020B0503020204020204" charset="-122"/>
                <a:ea typeface="微软雅黑" panose="020B0503020204020204" charset="-122"/>
                <a:cs typeface="微软雅黑" panose="020B0503020204020204" charset="-122"/>
              </a:rPr>
              <a:t>按供货指令供货：距离近、体积大、供应商配合较好的件</a:t>
            </a:r>
            <a:endParaRPr kumimoji="1" lang="en-US" altLang="zh-CN" sz="9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3" name="Rectangle 62"/>
          <p:cNvSpPr>
            <a:spLocks noChangeArrowheads="1"/>
          </p:cNvSpPr>
          <p:nvPr/>
        </p:nvSpPr>
        <p:spPr bwMode="gray">
          <a:xfrm>
            <a:off x="5868144" y="4862297"/>
            <a:ext cx="1656184" cy="1375015"/>
          </a:xfrm>
          <a:prstGeom prst="rect">
            <a:avLst/>
          </a:prstGeom>
          <a:noFill/>
          <a:ln w="6350" algn="ctr">
            <a:solidFill>
              <a:srgbClr val="FFFFFF">
                <a:lumMod val="75000"/>
              </a:srgbClr>
            </a:solidFill>
            <a:miter lim="800000"/>
          </a:ln>
        </p:spPr>
        <p:txBody>
          <a:bodyPr lIns="36000" tIns="36000" rIns="36000" bIns="36000"/>
          <a:lstStyle/>
          <a:p>
            <a:pPr marL="97155" marR="0" lvl="0" algn="l" defTabSz="914400" eaLnBrk="1" fontAlgn="auto" latinLnBrk="0" hangingPunct="1">
              <a:lnSpc>
                <a:spcPct val="100000"/>
              </a:lnSpc>
              <a:spcBef>
                <a:spcPts val="0"/>
              </a:spcBef>
              <a:spcAft>
                <a:spcPts val="0"/>
              </a:spcAft>
              <a:buClrTx/>
              <a:buSzTx/>
              <a:defRPr/>
            </a:pPr>
            <a:r>
              <a:rPr lang="zh-CN" altLang="en-US" sz="1000" b="1" kern="0" dirty="0">
                <a:solidFill>
                  <a:sysClr val="windowText" lastClr="000000"/>
                </a:solidFill>
                <a:latin typeface="微软雅黑" panose="020B0503020204020204" charset="-122"/>
                <a:ea typeface="微软雅黑" panose="020B0503020204020204" charset="-122"/>
                <a:cs typeface="Arial" panose="020B0604020202020204" pitchFamily="34" charset="0"/>
              </a:rPr>
              <a:t>准确的预警报表及应对方式</a:t>
            </a:r>
          </a:p>
          <a:p>
            <a:pPr marL="97155" marR="0" lvl="0" algn="l" defTabSz="914400" eaLnBrk="1" fontAlgn="auto" latinLnBrk="0" hangingPunct="1">
              <a:lnSpc>
                <a:spcPct val="100000"/>
              </a:lnSpc>
              <a:spcBef>
                <a:spcPts val="0"/>
              </a:spcBef>
              <a:spcAft>
                <a:spcPts val="0"/>
              </a:spcAft>
              <a:buClrTx/>
              <a:buSzTx/>
              <a:buFont typeface="Arial" panose="020B0604020202020204"/>
              <a:buChar char="•"/>
              <a:defRPr/>
            </a:pPr>
            <a:r>
              <a:rPr lang="zh-CN" altLang="en-US" sz="900" kern="0" dirty="0">
                <a:solidFill>
                  <a:sysClr val="windowText" lastClr="000000"/>
                </a:solidFill>
                <a:latin typeface="微软雅黑" panose="020B0503020204020204" charset="-122"/>
                <a:ea typeface="微软雅黑" panose="020B0503020204020204" charset="-122"/>
                <a:cs typeface="Arial" panose="020B0604020202020204" pitchFamily="34" charset="0"/>
              </a:rPr>
              <a:t>预警层级</a:t>
            </a:r>
            <a:endParaRPr lang="en-US" altLang="zh-CN" sz="900" kern="0" dirty="0">
              <a:solidFill>
                <a:sysClr val="windowText" lastClr="000000"/>
              </a:solidFill>
              <a:latin typeface="微软雅黑" panose="020B0503020204020204" charset="-122"/>
              <a:ea typeface="微软雅黑" panose="020B0503020204020204" charset="-122"/>
              <a:cs typeface="Arial" panose="020B0604020202020204" pitchFamily="34" charset="0"/>
            </a:endParaRPr>
          </a:p>
          <a:p>
            <a:pPr marL="97155" marR="0" lvl="0" algn="l" defTabSz="914400" eaLnBrk="1" fontAlgn="auto" latinLnBrk="0" hangingPunct="1">
              <a:lnSpc>
                <a:spcPct val="100000"/>
              </a:lnSpc>
              <a:spcBef>
                <a:spcPts val="0"/>
              </a:spcBef>
              <a:spcAft>
                <a:spcPts val="0"/>
              </a:spcAft>
              <a:buClrTx/>
              <a:buSzTx/>
              <a:buFont typeface="Arial" panose="020B0604020202020204"/>
              <a:buChar char="•"/>
              <a:defRPr/>
            </a:pPr>
            <a:r>
              <a:rPr kumimoji="0" lang="zh-CN" altLang="en-US" sz="9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Arial" panose="020B0604020202020204" pitchFamily="34" charset="0"/>
              </a:rPr>
              <a:t>预警报表对象</a:t>
            </a:r>
            <a:endParaRPr kumimoji="0" lang="en-US" altLang="zh-CN" sz="9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Arial" panose="020B0604020202020204" pitchFamily="34" charset="0"/>
            </a:endParaRPr>
          </a:p>
          <a:p>
            <a:pPr marL="97155" marR="0" lvl="0" algn="l" defTabSz="914400" eaLnBrk="1" fontAlgn="auto" latinLnBrk="0" hangingPunct="1">
              <a:lnSpc>
                <a:spcPct val="100000"/>
              </a:lnSpc>
              <a:spcBef>
                <a:spcPts val="0"/>
              </a:spcBef>
              <a:spcAft>
                <a:spcPts val="0"/>
              </a:spcAft>
              <a:buClrTx/>
              <a:buSzTx/>
              <a:buFont typeface="Arial" panose="020B0604020202020204"/>
              <a:buChar char="•"/>
              <a:defRPr/>
            </a:pPr>
            <a:r>
              <a:rPr lang="zh-CN" altLang="en-US" sz="900" kern="0" dirty="0">
                <a:solidFill>
                  <a:sysClr val="windowText" lastClr="000000"/>
                </a:solidFill>
                <a:latin typeface="微软雅黑" panose="020B0503020204020204" charset="-122"/>
                <a:ea typeface="微软雅黑" panose="020B0503020204020204" charset="-122"/>
                <a:cs typeface="Arial" panose="020B0604020202020204" pitchFamily="34" charset="0"/>
              </a:rPr>
              <a:t>处理方式</a:t>
            </a:r>
            <a:endParaRPr kumimoji="0" lang="en-US" altLang="zh-CN" sz="9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Arial" panose="020B0604020202020204" pitchFamily="34" charset="0"/>
            </a:endParaRPr>
          </a:p>
        </p:txBody>
      </p:sp>
      <p:grpSp>
        <p:nvGrpSpPr>
          <p:cNvPr id="3" name="Group 66"/>
          <p:cNvGrpSpPr/>
          <p:nvPr/>
        </p:nvGrpSpPr>
        <p:grpSpPr>
          <a:xfrm>
            <a:off x="755576" y="1446081"/>
            <a:ext cx="2088240" cy="2126927"/>
            <a:chOff x="971600" y="1302073"/>
            <a:chExt cx="2304256" cy="2198935"/>
          </a:xfrm>
        </p:grpSpPr>
        <p:sp>
          <p:nvSpPr>
            <p:cNvPr id="14" name="Rectangle 13"/>
            <p:cNvSpPr/>
            <p:nvPr/>
          </p:nvSpPr>
          <p:spPr bwMode="auto">
            <a:xfrm>
              <a:off x="971600" y="1302073"/>
              <a:ext cx="2304256" cy="576064"/>
            </a:xfrm>
            <a:prstGeom prst="rect">
              <a:avLst/>
            </a:prstGeom>
            <a:solidFill>
              <a:srgbClr val="BEC4FD">
                <a:lumMod val="40000"/>
                <a:lumOff val="60000"/>
              </a:srgbClr>
            </a:solidFill>
            <a:ln w="6350" algn="ctr">
              <a:solidFill>
                <a:schemeClr val="bg1">
                  <a:lumMod val="75000"/>
                </a:schemeClr>
              </a:solidFill>
              <a:miter lim="800000"/>
            </a:ln>
          </p:spPr>
          <p:txBody>
            <a:bodyPr lIns="0" tIns="0" rIns="0" bIns="0" anchor="ctr"/>
            <a:lstStyle/>
            <a:p>
              <a:pPr algn="ctr">
                <a:lnSpc>
                  <a:spcPts val="1600"/>
                </a:lnSpc>
              </a:pPr>
              <a:r>
                <a:rPr lang="zh-CN" altLang="en-US" sz="1200" b="1" kern="0" dirty="0">
                  <a:solidFill>
                    <a:srgbClr val="000000"/>
                  </a:solidFill>
                  <a:latin typeface="微软雅黑" panose="020B0503020204020204" charset="-122"/>
                  <a:ea typeface="微软雅黑" panose="020B0503020204020204" charset="-122"/>
                  <a:cs typeface="Arial" panose="020B0604020202020204" pitchFamily="34" charset="0"/>
                </a:rPr>
                <a:t>零部件分类</a:t>
              </a:r>
              <a:endParaRPr lang="en-US" altLang="zh-CN" sz="1200" b="1" kern="0" dirty="0">
                <a:solidFill>
                  <a:srgbClr val="000000"/>
                </a:solidFill>
                <a:latin typeface="微软雅黑" panose="020B0503020204020204" charset="-122"/>
                <a:ea typeface="微软雅黑" panose="020B0503020204020204" charset="-122"/>
                <a:cs typeface="Arial" panose="020B0604020202020204" pitchFamily="34" charset="0"/>
              </a:endParaRPr>
            </a:p>
          </p:txBody>
        </p:sp>
        <p:pic>
          <p:nvPicPr>
            <p:cNvPr id="66" name="Picture 65"/>
            <p:cNvPicPr>
              <a:picLocks noChangeAspect="1"/>
            </p:cNvPicPr>
            <p:nvPr/>
          </p:nvPicPr>
          <p:blipFill>
            <a:blip r:embed="rId2"/>
            <a:stretch>
              <a:fillRect/>
            </a:stretch>
          </p:blipFill>
          <p:spPr>
            <a:xfrm>
              <a:off x="971600" y="1878137"/>
              <a:ext cx="2304256" cy="1622871"/>
            </a:xfrm>
            <a:prstGeom prst="rect">
              <a:avLst/>
            </a:prstGeom>
            <a:ln>
              <a:solidFill>
                <a:schemeClr val="bg1">
                  <a:lumMod val="75000"/>
                </a:schemeClr>
              </a:solidFill>
            </a:ln>
          </p:spPr>
        </p:pic>
      </p:grpSp>
      <p:sp>
        <p:nvSpPr>
          <p:cNvPr id="72" name="Rectangle 71"/>
          <p:cNvSpPr/>
          <p:nvPr/>
        </p:nvSpPr>
        <p:spPr bwMode="auto">
          <a:xfrm>
            <a:off x="5328056" y="1446081"/>
            <a:ext cx="2088256" cy="557202"/>
          </a:xfrm>
          <a:prstGeom prst="rect">
            <a:avLst/>
          </a:prstGeom>
          <a:solidFill>
            <a:srgbClr val="BEC4FD">
              <a:lumMod val="40000"/>
              <a:lumOff val="60000"/>
            </a:srgbClr>
          </a:solidFill>
          <a:ln w="6350" algn="ctr">
            <a:solidFill>
              <a:schemeClr val="bg1">
                <a:lumMod val="75000"/>
              </a:schemeClr>
            </a:solidFill>
            <a:miter lim="800000"/>
          </a:ln>
        </p:spPr>
        <p:txBody>
          <a:bodyPr lIns="0" tIns="0" rIns="0" bIns="0" anchor="ctr"/>
          <a:lstStyle/>
          <a:p>
            <a:pPr algn="ctr">
              <a:lnSpc>
                <a:spcPts val="1600"/>
              </a:lnSpc>
            </a:pPr>
            <a:r>
              <a:rPr lang="zh-CN" altLang="en-US" sz="1200" b="1" kern="0" dirty="0">
                <a:solidFill>
                  <a:srgbClr val="000000"/>
                </a:solidFill>
                <a:latin typeface="微软雅黑" panose="020B0503020204020204" charset="-122"/>
                <a:ea typeface="微软雅黑" panose="020B0503020204020204" charset="-122"/>
                <a:cs typeface="Arial" panose="020B0604020202020204" pitchFamily="34" charset="0"/>
              </a:rPr>
              <a:t>面对整车类别及市场波动的零部件管理策略</a:t>
            </a:r>
            <a:endParaRPr lang="en-US" altLang="zh-CN" sz="1200" b="1" kern="0"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75" name="等腰三角形 47"/>
          <p:cNvSpPr/>
          <p:nvPr/>
        </p:nvSpPr>
        <p:spPr bwMode="auto">
          <a:xfrm rot="10800000">
            <a:off x="1763688" y="3861048"/>
            <a:ext cx="4320480" cy="285752"/>
          </a:xfrm>
          <a:prstGeom prst="triangle">
            <a:avLst/>
          </a:prstGeom>
          <a:solidFill>
            <a:schemeClr val="bg1">
              <a:lumMod val="85000"/>
            </a:schemeClr>
          </a:solidFill>
          <a:ln w="6350">
            <a:solidFill>
              <a:srgbClr val="FFFFFF">
                <a:lumMod val="85000"/>
              </a:srgbClr>
            </a:solid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endParaRPr>
          </a:p>
        </p:txBody>
      </p:sp>
      <p:grpSp>
        <p:nvGrpSpPr>
          <p:cNvPr id="4" name="Group 79"/>
          <p:cNvGrpSpPr/>
          <p:nvPr/>
        </p:nvGrpSpPr>
        <p:grpSpPr>
          <a:xfrm>
            <a:off x="3041808" y="1446081"/>
            <a:ext cx="2088256" cy="2124248"/>
            <a:chOff x="3203848" y="1268760"/>
            <a:chExt cx="2304256" cy="2232248"/>
          </a:xfrm>
        </p:grpSpPr>
        <p:sp>
          <p:nvSpPr>
            <p:cNvPr id="69" name="Rectangle 68"/>
            <p:cNvSpPr/>
            <p:nvPr/>
          </p:nvSpPr>
          <p:spPr bwMode="auto">
            <a:xfrm>
              <a:off x="3203848" y="1268760"/>
              <a:ext cx="2304256" cy="576064"/>
            </a:xfrm>
            <a:prstGeom prst="rect">
              <a:avLst/>
            </a:prstGeom>
            <a:solidFill>
              <a:srgbClr val="BEC4FD">
                <a:lumMod val="40000"/>
                <a:lumOff val="60000"/>
              </a:srgbClr>
            </a:solidFill>
            <a:ln w="6350" algn="ctr">
              <a:solidFill>
                <a:schemeClr val="bg1">
                  <a:lumMod val="75000"/>
                </a:schemeClr>
              </a:solidFill>
              <a:miter lim="800000"/>
            </a:ln>
          </p:spPr>
          <p:txBody>
            <a:bodyPr lIns="0" tIns="0" rIns="0" bIns="0" anchor="ctr"/>
            <a:lstStyle/>
            <a:p>
              <a:pPr algn="ctr">
                <a:lnSpc>
                  <a:spcPts val="1600"/>
                </a:lnSpc>
              </a:pPr>
              <a:r>
                <a:rPr lang="zh-CN" altLang="en-US" sz="1200" b="1" kern="0" dirty="0">
                  <a:solidFill>
                    <a:srgbClr val="000000"/>
                  </a:solidFill>
                  <a:latin typeface="微软雅黑" panose="020B0503020204020204" charset="-122"/>
                  <a:ea typeface="微软雅黑" panose="020B0503020204020204" charset="-122"/>
                  <a:cs typeface="Arial" panose="020B0604020202020204" pitchFamily="34" charset="0"/>
                </a:rPr>
                <a:t>历史缺料数据</a:t>
              </a:r>
              <a:r>
                <a:rPr lang="en-US" altLang="zh-CN" sz="1200" b="1" kern="0" dirty="0">
                  <a:solidFill>
                    <a:srgbClr val="000000"/>
                  </a:solidFill>
                  <a:latin typeface="微软雅黑" panose="020B0503020204020204" charset="-122"/>
                  <a:ea typeface="微软雅黑" panose="020B0503020204020204" charset="-122"/>
                  <a:cs typeface="Arial" panose="020B0604020202020204" pitchFamily="34" charset="0"/>
                </a:rPr>
                <a:t>/</a:t>
              </a:r>
              <a:r>
                <a:rPr lang="zh-CN" altLang="en-US" sz="1200" b="1" kern="0" dirty="0">
                  <a:solidFill>
                    <a:srgbClr val="000000"/>
                  </a:solidFill>
                  <a:latin typeface="微软雅黑" panose="020B0503020204020204" charset="-122"/>
                  <a:ea typeface="微软雅黑" panose="020B0503020204020204" charset="-122"/>
                  <a:cs typeface="Arial" panose="020B0604020202020204" pitchFamily="34" charset="0"/>
                </a:rPr>
                <a:t>商务变革成果</a:t>
              </a:r>
              <a:endParaRPr lang="en-US" altLang="zh-CN" sz="1200" b="1" kern="0"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78" name="TextBox 77"/>
            <p:cNvSpPr txBox="1"/>
            <p:nvPr/>
          </p:nvSpPr>
          <p:spPr bwMode="auto">
            <a:xfrm>
              <a:off x="3203848" y="1844824"/>
              <a:ext cx="2304256" cy="1656184"/>
            </a:xfrm>
            <a:prstGeom prst="rect">
              <a:avLst/>
            </a:prstGeom>
            <a:noFill/>
            <a:ln w="9525">
              <a:solidFill>
                <a:schemeClr val="bg1">
                  <a:lumMod val="85000"/>
                </a:schemeClr>
              </a:solidFill>
              <a:miter lim="800000"/>
            </a:ln>
          </p:spPr>
          <p:txBody>
            <a:bodyPr wrap="square" rtlCol="0">
              <a:noAutofit/>
            </a:bodyPr>
            <a:lstStyle/>
            <a:p>
              <a:endParaRPr kumimoji="1" lang="en-US"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79" name="TextBox 78"/>
            <p:cNvSpPr txBox="1"/>
            <p:nvPr/>
          </p:nvSpPr>
          <p:spPr bwMode="auto">
            <a:xfrm>
              <a:off x="3491880" y="2132856"/>
              <a:ext cx="1872208" cy="830997"/>
            </a:xfrm>
            <a:prstGeom prst="rect">
              <a:avLst/>
            </a:prstGeom>
            <a:noFill/>
            <a:ln>
              <a:noFill/>
            </a:ln>
          </p:spPr>
          <p:txBody>
            <a:bodyPr wrap="square" rtlCol="0">
              <a:spAutoFit/>
            </a:bodyPr>
            <a:lstStyle/>
            <a:p>
              <a:pPr marL="176530" indent="-176530">
                <a:buFont typeface="Arial" panose="020B0604020202020204"/>
                <a:buChar char="•"/>
              </a:pPr>
              <a:r>
                <a:rPr kumimoji="1" lang="zh-CN" altLang="en-US" sz="1600" b="0" i="1" dirty="0">
                  <a:solidFill>
                    <a:srgbClr val="000000"/>
                  </a:solidFill>
                  <a:latin typeface="微软雅黑" panose="020B0503020204020204" charset="-122"/>
                  <a:ea typeface="微软雅黑" panose="020B0503020204020204" charset="-122"/>
                  <a:cs typeface="微软雅黑" panose="020B0503020204020204" charset="-122"/>
                </a:rPr>
                <a:t>缺料品类分析</a:t>
              </a:r>
              <a:endParaRPr kumimoji="1" lang="en-US" altLang="zh-CN" sz="1600" b="0" i="1" dirty="0">
                <a:solidFill>
                  <a:srgbClr val="000000"/>
                </a:solidFill>
                <a:latin typeface="微软雅黑" panose="020B0503020204020204" charset="-122"/>
                <a:ea typeface="微软雅黑" panose="020B0503020204020204" charset="-122"/>
                <a:cs typeface="微软雅黑" panose="020B0503020204020204" charset="-122"/>
              </a:endParaRPr>
            </a:p>
            <a:p>
              <a:pPr marL="176530" indent="-176530">
                <a:buFont typeface="Arial" panose="020B0604020202020204"/>
                <a:buChar char="•"/>
              </a:pPr>
              <a:r>
                <a:rPr kumimoji="1" lang="zh-CN" altLang="en-US" sz="1600" i="1" dirty="0">
                  <a:solidFill>
                    <a:srgbClr val="000000"/>
                  </a:solidFill>
                  <a:latin typeface="微软雅黑" panose="020B0503020204020204" charset="-122"/>
                  <a:ea typeface="微软雅黑" panose="020B0503020204020204" charset="-122"/>
                  <a:cs typeface="微软雅黑" panose="020B0503020204020204" charset="-122"/>
                </a:rPr>
                <a:t>缺料时间分析</a:t>
              </a:r>
              <a:endParaRPr kumimoji="1" lang="en-US" altLang="zh-CN" sz="1600" b="0" i="1" dirty="0">
                <a:solidFill>
                  <a:srgbClr val="000000"/>
                </a:solidFill>
                <a:latin typeface="微软雅黑" panose="020B0503020204020204" charset="-122"/>
                <a:ea typeface="微软雅黑" panose="020B0503020204020204" charset="-122"/>
                <a:cs typeface="微软雅黑" panose="020B0503020204020204" charset="-122"/>
              </a:endParaRPr>
            </a:p>
            <a:p>
              <a:pPr marL="176530" indent="-176530">
                <a:buFont typeface="Arial" panose="020B0604020202020204"/>
                <a:buChar char="•"/>
              </a:pPr>
              <a:r>
                <a:rPr kumimoji="1" lang="zh-CN" altLang="en-US" sz="1600" i="1" dirty="0">
                  <a:solidFill>
                    <a:srgbClr val="000000"/>
                  </a:solidFill>
                  <a:latin typeface="微软雅黑" panose="020B0503020204020204" charset="-122"/>
                  <a:ea typeface="微软雅黑" panose="020B0503020204020204" charset="-122"/>
                  <a:cs typeface="微软雅黑" panose="020B0503020204020204" charset="-122"/>
                </a:rPr>
                <a:t>缺料原因构成</a:t>
              </a:r>
              <a:endParaRPr kumimoji="1" lang="en-US" sz="1600" b="0" i="1" dirty="0">
                <a:solidFill>
                  <a:srgbClr val="000000"/>
                </a:solidFill>
                <a:latin typeface="微软雅黑" panose="020B0503020204020204" charset="-122"/>
                <a:ea typeface="微软雅黑" panose="020B0503020204020204" charset="-122"/>
                <a:cs typeface="微软雅黑" panose="020B0503020204020204" charset="-122"/>
              </a:endParaRPr>
            </a:p>
          </p:txBody>
        </p:sp>
      </p:grpSp>
      <p:sp>
        <p:nvSpPr>
          <p:cNvPr id="84" name="Text Box 29"/>
          <p:cNvSpPr txBox="1">
            <a:spLocks noChangeArrowheads="1"/>
          </p:cNvSpPr>
          <p:nvPr/>
        </p:nvSpPr>
        <p:spPr bwMode="auto">
          <a:xfrm flipH="1">
            <a:off x="251519" y="1412776"/>
            <a:ext cx="484423" cy="2160240"/>
          </a:xfrm>
          <a:prstGeom prst="rect">
            <a:avLst/>
          </a:prstGeom>
          <a:gradFill rotWithShape="1">
            <a:gsLst>
              <a:gs pos="0">
                <a:srgbClr val="7889FB">
                  <a:tint val="100000"/>
                  <a:shade val="100000"/>
                  <a:satMod val="130000"/>
                </a:srgbClr>
              </a:gs>
              <a:gs pos="100000">
                <a:srgbClr val="7889FB">
                  <a:tint val="50000"/>
                  <a:shade val="100000"/>
                  <a:satMod val="350000"/>
                </a:srgbClr>
              </a:gs>
            </a:gsLst>
            <a:lin ang="16200000" scaled="0"/>
          </a:gradFill>
          <a:ln w="9525" cap="flat" cmpd="sng" algn="ctr">
            <a:solidFill>
              <a:srgbClr val="7889FB">
                <a:shade val="95000"/>
                <a:satMod val="105000"/>
              </a:srgbClr>
            </a:solidFill>
            <a:prstDash val="solid"/>
          </a:ln>
          <a:effectLst>
            <a:outerShdw blurRad="40000" dist="23000" dir="5400000" rotWithShape="0">
              <a:srgbClr val="000000">
                <a:alpha val="35000"/>
              </a:srgbClr>
            </a:outerShdw>
          </a:effectLst>
        </p:spPr>
        <p:txBody>
          <a:bodyPr rtlCol="0" anchor="ctr"/>
          <a:lstStyle>
            <a:defPPr>
              <a:defRPr lang="zh-CN"/>
            </a:defPPr>
            <a:lvl1pPr>
              <a:defRPr b="1">
                <a:solidFill>
                  <a:schemeClr val="lt1"/>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rPr>
              <a:t>主</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rPr>
              <a:t>要</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200" kern="0" dirty="0">
                <a:solidFill>
                  <a:srgbClr val="FFFFFF"/>
                </a:solidFill>
                <a:latin typeface="微软雅黑" panose="020B0503020204020204" charset="-122"/>
                <a:ea typeface="微软雅黑" panose="020B0503020204020204" charset="-122"/>
                <a:cs typeface="Arial" panose="020B0604020202020204"/>
              </a:rPr>
              <a:t>输</a:t>
            </a:r>
            <a:endParaRPr lang="en-US" altLang="zh-CN" sz="1200" kern="0" dirty="0">
              <a:solidFill>
                <a:srgbClr val="FFFFFF"/>
              </a:solidFill>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rPr>
              <a:t>入</a:t>
            </a:r>
            <a:endPar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200" kern="0" dirty="0">
                <a:solidFill>
                  <a:srgbClr val="FFFFFF"/>
                </a:solidFill>
                <a:latin typeface="微软雅黑" panose="020B0503020204020204" charset="-122"/>
                <a:ea typeface="微软雅黑" panose="020B0503020204020204" charset="-122"/>
                <a:cs typeface="Arial" panose="020B0604020202020204"/>
              </a:rPr>
              <a:t>分</a:t>
            </a:r>
            <a:endParaRPr lang="en-US" altLang="zh-CN" sz="1200" kern="0" dirty="0">
              <a:solidFill>
                <a:srgbClr val="FFFFFF"/>
              </a:solidFill>
              <a:latin typeface="微软雅黑" panose="020B0503020204020204" charset="-122"/>
              <a:ea typeface="微软雅黑" panose="020B0503020204020204" charset="-122"/>
              <a:cs typeface="Arial" panose="020B0604020202020204"/>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200" kern="0" dirty="0">
                <a:solidFill>
                  <a:srgbClr val="FFFFFF"/>
                </a:solidFill>
                <a:latin typeface="微软雅黑" panose="020B0503020204020204" charset="-122"/>
                <a:ea typeface="微软雅黑" panose="020B0503020204020204" charset="-122"/>
                <a:cs typeface="Arial" panose="020B0604020202020204"/>
              </a:rPr>
              <a:t>析</a:t>
            </a:r>
            <a:endParaRPr lang="en-US" altLang="zh-CN" sz="1200" kern="0" dirty="0">
              <a:solidFill>
                <a:srgbClr val="FFFFFF"/>
              </a:solidFill>
              <a:latin typeface="微软雅黑" panose="020B0503020204020204" charset="-122"/>
              <a:ea typeface="微软雅黑" panose="020B0503020204020204" charset="-122"/>
              <a:cs typeface="Arial" panose="020B0604020202020204"/>
            </a:endParaRPr>
          </a:p>
        </p:txBody>
      </p:sp>
      <p:pic>
        <p:nvPicPr>
          <p:cNvPr id="88" name="Picture 87"/>
          <p:cNvPicPr>
            <a:picLocks noChangeAspect="1"/>
          </p:cNvPicPr>
          <p:nvPr/>
        </p:nvPicPr>
        <p:blipFill>
          <a:blip r:embed="rId3"/>
          <a:stretch>
            <a:fillRect/>
          </a:stretch>
        </p:blipFill>
        <p:spPr>
          <a:xfrm>
            <a:off x="5328056" y="1988840"/>
            <a:ext cx="2088232" cy="1584176"/>
          </a:xfrm>
          <a:prstGeom prst="rect">
            <a:avLst/>
          </a:prstGeom>
          <a:ln>
            <a:solidFill>
              <a:schemeClr val="bg1">
                <a:lumMod val="75000"/>
              </a:schemeClr>
            </a:solid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E. </a:t>
            </a:r>
            <a:r>
              <a:rPr lang="zh-CN" altLang="en-US" dirty="0"/>
              <a:t>零部件计划与交付</a:t>
            </a:r>
            <a:r>
              <a:rPr lang="zh-TW" altLang="en-US" dirty="0"/>
              <a:t>管理</a:t>
            </a:r>
            <a:r>
              <a:rPr lang="zh-CN" altLang="en-US" dirty="0"/>
              <a:t>框架</a:t>
            </a:r>
            <a:endParaRPr lang="en-US" dirty="0"/>
          </a:p>
        </p:txBody>
      </p:sp>
      <p:grpSp>
        <p:nvGrpSpPr>
          <p:cNvPr id="28" name="Group 27"/>
          <p:cNvGrpSpPr/>
          <p:nvPr/>
        </p:nvGrpSpPr>
        <p:grpSpPr>
          <a:xfrm>
            <a:off x="360196" y="1700808"/>
            <a:ext cx="8388268" cy="4320480"/>
            <a:chOff x="216180" y="1844824"/>
            <a:chExt cx="6948108" cy="3600400"/>
          </a:xfrm>
        </p:grpSpPr>
        <p:sp>
          <p:nvSpPr>
            <p:cNvPr id="3" name="Rectangle 48"/>
            <p:cNvSpPr>
              <a:spLocks noChangeArrowheads="1"/>
            </p:cNvSpPr>
            <p:nvPr/>
          </p:nvSpPr>
          <p:spPr bwMode="auto">
            <a:xfrm>
              <a:off x="216180" y="1844824"/>
              <a:ext cx="6948108" cy="3600400"/>
            </a:xfrm>
            <a:prstGeom prst="rect">
              <a:avLst/>
            </a:prstGeom>
            <a:solidFill>
              <a:schemeClr val="bg1">
                <a:lumMod val="95000"/>
              </a:schemeClr>
            </a:solidFill>
            <a:ln w="9525" cap="flat" cmpd="sng" algn="ctr">
              <a:noFill/>
              <a:prstDash val="solid"/>
              <a:round/>
              <a:headEnd type="none" w="med" len="med"/>
              <a:tailEnd type="none"/>
            </a:ln>
            <a:effectLst/>
          </p:spPr>
          <p:txBody>
            <a:bodyPr rtlCol="0" anchor="ctr"/>
            <a:lstStyle/>
            <a:p>
              <a:pPr algn="ctr"/>
              <a:endParaRPr lang="en-US" altLang="zh-CN" sz="1400" b="1">
                <a:latin typeface="微软雅黑" panose="020B0503020204020204" charset="-122"/>
                <a:ea typeface="微软雅黑" panose="020B0503020204020204" charset="-122"/>
              </a:endParaRPr>
            </a:p>
          </p:txBody>
        </p:sp>
        <p:sp>
          <p:nvSpPr>
            <p:cNvPr id="4" name="Line 26"/>
            <p:cNvSpPr>
              <a:spLocks noChangeShapeType="1"/>
            </p:cNvSpPr>
            <p:nvPr/>
          </p:nvSpPr>
          <p:spPr bwMode="auto">
            <a:xfrm flipH="1">
              <a:off x="4108624" y="2610768"/>
              <a:ext cx="1219200" cy="0"/>
            </a:xfrm>
            <a:prstGeom prst="line">
              <a:avLst/>
            </a:prstGeom>
            <a:noFill/>
            <a:ln w="12700">
              <a:solidFill>
                <a:srgbClr val="000000"/>
              </a:solidFill>
              <a:rou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5" name="Line 30"/>
            <p:cNvSpPr>
              <a:spLocks noChangeShapeType="1"/>
            </p:cNvSpPr>
            <p:nvPr/>
          </p:nvSpPr>
          <p:spPr bwMode="auto">
            <a:xfrm flipH="1">
              <a:off x="4134024" y="3539455"/>
              <a:ext cx="1228725" cy="0"/>
            </a:xfrm>
            <a:prstGeom prst="line">
              <a:avLst/>
            </a:prstGeom>
            <a:noFill/>
            <a:ln w="12700">
              <a:solidFill>
                <a:srgbClr val="000000"/>
              </a:solidFill>
              <a:rou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6" name="Line 34"/>
            <p:cNvSpPr>
              <a:spLocks noChangeShapeType="1"/>
            </p:cNvSpPr>
            <p:nvPr/>
          </p:nvSpPr>
          <p:spPr bwMode="auto">
            <a:xfrm flipH="1">
              <a:off x="4100686" y="4324697"/>
              <a:ext cx="1228725" cy="0"/>
            </a:xfrm>
            <a:prstGeom prst="line">
              <a:avLst/>
            </a:prstGeom>
            <a:noFill/>
            <a:ln w="12700">
              <a:solidFill>
                <a:srgbClr val="000000"/>
              </a:solidFill>
              <a:rou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7" name="Line 25"/>
            <p:cNvSpPr>
              <a:spLocks noChangeShapeType="1"/>
            </p:cNvSpPr>
            <p:nvPr/>
          </p:nvSpPr>
          <p:spPr bwMode="auto">
            <a:xfrm flipH="1">
              <a:off x="4108624" y="2490118"/>
              <a:ext cx="1228725" cy="0"/>
            </a:xfrm>
            <a:prstGeom prst="line">
              <a:avLst/>
            </a:prstGeom>
            <a:noFill/>
            <a:ln w="12700">
              <a:solidFill>
                <a:srgbClr val="000000"/>
              </a:solidFill>
              <a:round/>
              <a:head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8" name="Line 29"/>
            <p:cNvSpPr>
              <a:spLocks noChangeShapeType="1"/>
            </p:cNvSpPr>
            <p:nvPr/>
          </p:nvSpPr>
          <p:spPr bwMode="auto">
            <a:xfrm flipH="1">
              <a:off x="4134024" y="3410868"/>
              <a:ext cx="1238250" cy="0"/>
            </a:xfrm>
            <a:prstGeom prst="line">
              <a:avLst/>
            </a:prstGeom>
            <a:noFill/>
            <a:ln w="12700">
              <a:solidFill>
                <a:srgbClr val="000000"/>
              </a:solidFill>
              <a:round/>
              <a:head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9" name="Line 33"/>
            <p:cNvSpPr>
              <a:spLocks noChangeShapeType="1"/>
            </p:cNvSpPr>
            <p:nvPr/>
          </p:nvSpPr>
          <p:spPr bwMode="auto">
            <a:xfrm flipH="1">
              <a:off x="4100686" y="4181822"/>
              <a:ext cx="1257300" cy="0"/>
            </a:xfrm>
            <a:prstGeom prst="line">
              <a:avLst/>
            </a:prstGeom>
            <a:noFill/>
            <a:ln w="12700">
              <a:solidFill>
                <a:srgbClr val="000000"/>
              </a:solidFill>
              <a:round/>
              <a:head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10" name="Rectangle 21"/>
            <p:cNvSpPr>
              <a:spLocks noChangeArrowheads="1"/>
            </p:cNvSpPr>
            <p:nvPr/>
          </p:nvSpPr>
          <p:spPr bwMode="auto">
            <a:xfrm>
              <a:off x="5436096" y="2204864"/>
              <a:ext cx="1655997" cy="2520280"/>
            </a:xfrm>
            <a:prstGeom prst="rect">
              <a:avLst/>
            </a:prstGeom>
            <a:solidFill>
              <a:srgbClr val="D6DBFE"/>
            </a:solidFill>
            <a:ln w="9525" algn="ctr">
              <a:noFill/>
              <a:round/>
            </a:ln>
          </p:spPr>
          <p:txBody>
            <a:bodyPr lIns="90000" tIns="46800" rIns="90000" bIns="46800" anchor="ctr"/>
            <a:lstStyle/>
            <a:p>
              <a:pPr algn="ctr">
                <a:buFont typeface="Arial" panose="020B0604020202020204" pitchFamily="34" charset="0"/>
                <a:buNone/>
              </a:pPr>
              <a:endParaRPr lang="zh-CN" altLang="en-US" sz="1200" kern="0">
                <a:solidFill>
                  <a:sysClr val="windowText" lastClr="000000"/>
                </a:solidFill>
                <a:latin typeface="微软雅黑" panose="020B0503020204020204" charset="-122"/>
                <a:ea typeface="微软雅黑" panose="020B0503020204020204" charset="-122"/>
              </a:endParaRPr>
            </a:p>
          </p:txBody>
        </p:sp>
        <p:sp>
          <p:nvSpPr>
            <p:cNvPr id="11" name="Text Box 21"/>
            <p:cNvSpPr txBox="1">
              <a:spLocks noChangeArrowheads="1"/>
            </p:cNvSpPr>
            <p:nvPr/>
          </p:nvSpPr>
          <p:spPr bwMode="auto">
            <a:xfrm>
              <a:off x="5724129" y="1915041"/>
              <a:ext cx="1294160" cy="289823"/>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供应商交付</a:t>
              </a:r>
            </a:p>
          </p:txBody>
        </p:sp>
        <p:sp>
          <p:nvSpPr>
            <p:cNvPr id="12" name="Rectangle 23"/>
            <p:cNvSpPr>
              <a:spLocks noChangeArrowheads="1"/>
            </p:cNvSpPr>
            <p:nvPr/>
          </p:nvSpPr>
          <p:spPr bwMode="auto">
            <a:xfrm>
              <a:off x="5606257" y="2368700"/>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供应商生产规划</a:t>
              </a:r>
            </a:p>
          </p:txBody>
        </p:sp>
        <p:sp>
          <p:nvSpPr>
            <p:cNvPr id="13" name="Rectangle 24"/>
            <p:cNvSpPr>
              <a:spLocks noChangeArrowheads="1"/>
            </p:cNvSpPr>
            <p:nvPr/>
          </p:nvSpPr>
          <p:spPr bwMode="auto">
            <a:xfrm>
              <a:off x="5606257" y="3217566"/>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供应商生产安排</a:t>
              </a:r>
            </a:p>
          </p:txBody>
        </p:sp>
        <p:sp>
          <p:nvSpPr>
            <p:cNvPr id="14" name="Rectangle 25"/>
            <p:cNvSpPr>
              <a:spLocks noChangeArrowheads="1"/>
            </p:cNvSpPr>
            <p:nvPr/>
          </p:nvSpPr>
          <p:spPr bwMode="auto">
            <a:xfrm>
              <a:off x="5606257" y="4083200"/>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供应商交货</a:t>
              </a:r>
            </a:p>
          </p:txBody>
        </p:sp>
        <p:sp>
          <p:nvSpPr>
            <p:cNvPr id="15" name="Text Box 27"/>
            <p:cNvSpPr txBox="1">
              <a:spLocks noChangeArrowheads="1"/>
            </p:cNvSpPr>
            <p:nvPr/>
          </p:nvSpPr>
          <p:spPr bwMode="auto">
            <a:xfrm>
              <a:off x="4294237" y="2132856"/>
              <a:ext cx="1028700" cy="371897"/>
            </a:xfrm>
            <a:prstGeom prst="rect">
              <a:avLst/>
            </a:prstGeom>
            <a:noFill/>
            <a:ln w="12700" algn="ctr">
              <a:noFill/>
              <a:miter lim="800000"/>
            </a:ln>
            <a:effectLst>
              <a:prstShdw prst="shdw17" dist="17961" dir="2700000">
                <a:srgbClr val="D6DBFE">
                  <a:gamma/>
                  <a:shade val="60000"/>
                  <a:invGamma/>
                </a:srgbClr>
              </a:prstShdw>
            </a:effectLst>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采购需求计划</a:t>
              </a:r>
              <a:r>
                <a:rPr kumimoji="0" lang="en-US" altLang="zh-CN" sz="10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t>
              </a:r>
              <a:r>
                <a:rPr kumimoji="0" lang="zh-CN" altLang="en-US" sz="10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采购订单</a:t>
              </a:r>
            </a:p>
          </p:txBody>
        </p:sp>
        <p:sp>
          <p:nvSpPr>
            <p:cNvPr id="16" name="Text Box 28"/>
            <p:cNvSpPr txBox="1">
              <a:spLocks noChangeArrowheads="1"/>
            </p:cNvSpPr>
            <p:nvPr/>
          </p:nvSpPr>
          <p:spPr bwMode="auto">
            <a:xfrm>
              <a:off x="4325094" y="2610768"/>
              <a:ext cx="1028700" cy="233397"/>
            </a:xfrm>
            <a:prstGeom prst="rect">
              <a:avLst/>
            </a:prstGeom>
            <a:noFill/>
            <a:ln w="12700" algn="ctr">
              <a:noFill/>
              <a:miter lim="800000"/>
            </a:ln>
            <a:effectLst>
              <a:prstShdw prst="shdw17" dist="17961" dir="2700000">
                <a:srgbClr val="D6DBFE">
                  <a:gamma/>
                  <a:shade val="60000"/>
                  <a:invGamma/>
                </a:srgbClr>
              </a:prstShdw>
            </a:effectLst>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供应商反馈</a:t>
              </a:r>
            </a:p>
          </p:txBody>
        </p:sp>
        <p:sp>
          <p:nvSpPr>
            <p:cNvPr id="17" name="Text Box 31"/>
            <p:cNvSpPr txBox="1">
              <a:spLocks noChangeArrowheads="1"/>
            </p:cNvSpPr>
            <p:nvPr/>
          </p:nvSpPr>
          <p:spPr bwMode="auto">
            <a:xfrm>
              <a:off x="4294237" y="2996952"/>
              <a:ext cx="1141859" cy="371897"/>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marL="0" marR="0" lvl="0" indent="0" defTabSz="914400" eaLnBrk="0" fontAlgn="auto" latinLnBrk="0" hangingPunct="0">
                <a:lnSpc>
                  <a:spcPct val="90000"/>
                </a:lnSpc>
                <a:spcBef>
                  <a:spcPts val="0"/>
                </a:spcBef>
                <a:spcAft>
                  <a:spcPts val="0"/>
                </a:spcAft>
                <a:buClr>
                  <a:srgbClr val="000000"/>
                </a:buClr>
                <a:buSzTx/>
                <a:buFontTx/>
                <a:buNone/>
                <a:defRPr/>
              </a:pPr>
              <a:r>
                <a:rPr kumimoji="0" lang="zh-CN" altLang="en-US" sz="10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采购需求计划</a:t>
              </a:r>
            </a:p>
            <a:p>
              <a:pPr marL="0" marR="0" lvl="0" indent="0" defTabSz="914400" eaLnBrk="0" fontAlgn="auto" latinLnBrk="0" hangingPunct="0">
                <a:lnSpc>
                  <a:spcPct val="90000"/>
                </a:lnSpc>
                <a:spcBef>
                  <a:spcPts val="0"/>
                </a:spcBef>
                <a:spcAft>
                  <a:spcPts val="0"/>
                </a:spcAft>
                <a:buClr>
                  <a:srgbClr val="000000"/>
                </a:buClr>
                <a:buSzTx/>
                <a:buFont typeface="Arial" panose="020B0604020202020204" pitchFamily="34" charset="0"/>
                <a:buNone/>
                <a:defRPr/>
              </a:pPr>
              <a:r>
                <a:rPr kumimoji="0" lang="en-US" altLang="zh-CN" sz="10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a:t>
              </a:r>
              <a:r>
                <a:rPr kumimoji="0" lang="zh-CN" altLang="en-US" sz="10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采购订单</a:t>
              </a:r>
            </a:p>
          </p:txBody>
        </p:sp>
        <p:sp>
          <p:nvSpPr>
            <p:cNvPr id="18" name="Text Box 32"/>
            <p:cNvSpPr txBox="1">
              <a:spLocks noChangeArrowheads="1"/>
            </p:cNvSpPr>
            <p:nvPr/>
          </p:nvSpPr>
          <p:spPr bwMode="auto">
            <a:xfrm>
              <a:off x="4325094" y="3566443"/>
              <a:ext cx="1028700" cy="233397"/>
            </a:xfrm>
            <a:prstGeom prst="rect">
              <a:avLst/>
            </a:prstGeom>
            <a:noFill/>
            <a:ln w="12700" algn="ctr">
              <a:noFill/>
              <a:miter lim="800000"/>
            </a:ln>
            <a:effectLst>
              <a:prstShdw prst="shdw17" dist="17961" dir="2700000">
                <a:srgbClr val="D6DBFE">
                  <a:gamma/>
                  <a:shade val="60000"/>
                  <a:invGamma/>
                </a:srgbClr>
              </a:prstShdw>
            </a:effectLst>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供应商反馈</a:t>
              </a:r>
            </a:p>
          </p:txBody>
        </p:sp>
        <p:sp>
          <p:nvSpPr>
            <p:cNvPr id="19" name="Text Box 35"/>
            <p:cNvSpPr txBox="1">
              <a:spLocks noChangeArrowheads="1"/>
            </p:cNvSpPr>
            <p:nvPr/>
          </p:nvSpPr>
          <p:spPr bwMode="auto">
            <a:xfrm>
              <a:off x="4366245" y="3933056"/>
              <a:ext cx="1028700" cy="233397"/>
            </a:xfrm>
            <a:prstGeom prst="rect">
              <a:avLst/>
            </a:prstGeom>
            <a:noFill/>
            <a:ln w="12700" algn="ctr">
              <a:noFill/>
              <a:miter lim="800000"/>
            </a:ln>
            <a:effectLst>
              <a:prstShdw prst="shdw17" dist="17961" dir="2700000">
                <a:srgbClr val="D6DBFE">
                  <a:gamma/>
                  <a:shade val="60000"/>
                  <a:invGamma/>
                </a:srgbClr>
              </a:prstShdw>
            </a:effectLst>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要货通知</a:t>
              </a:r>
            </a:p>
          </p:txBody>
        </p:sp>
        <p:sp>
          <p:nvSpPr>
            <p:cNvPr id="20" name="Text Box 36"/>
            <p:cNvSpPr txBox="1">
              <a:spLocks noChangeArrowheads="1"/>
            </p:cNvSpPr>
            <p:nvPr/>
          </p:nvSpPr>
          <p:spPr bwMode="auto">
            <a:xfrm>
              <a:off x="4227686" y="4324697"/>
              <a:ext cx="1028700" cy="230832"/>
            </a:xfrm>
            <a:prstGeom prst="rect">
              <a:avLst/>
            </a:prstGeom>
            <a:noFill/>
            <a:ln w="12700" algn="ctr">
              <a:noFill/>
              <a:miter lim="800000"/>
            </a:ln>
            <a:effectLst>
              <a:prstShdw prst="shdw17" dist="17961" dir="2700000">
                <a:srgbClr val="D6DBFE">
                  <a:gamma/>
                  <a:shade val="60000"/>
                  <a:invGamma/>
                </a:srgbClr>
              </a:prstShdw>
            </a:effectLst>
          </p:spPr>
          <p:txBody>
            <a:bodyPr>
              <a:spAutoFit/>
            </a:bodyP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供应商反馈</a:t>
              </a:r>
            </a:p>
          </p:txBody>
        </p:sp>
        <p:sp>
          <p:nvSpPr>
            <p:cNvPr id="21" name="Rectangle 38"/>
            <p:cNvSpPr>
              <a:spLocks noChangeArrowheads="1"/>
            </p:cNvSpPr>
            <p:nvPr/>
          </p:nvSpPr>
          <p:spPr bwMode="auto">
            <a:xfrm>
              <a:off x="2411760" y="2204847"/>
              <a:ext cx="1655998" cy="2520297"/>
            </a:xfrm>
            <a:prstGeom prst="rect">
              <a:avLst/>
            </a:prstGeom>
            <a:solidFill>
              <a:srgbClr val="D6DBFE"/>
            </a:solidFill>
            <a:ln w="9525" algn="ctr">
              <a:noFill/>
              <a:round/>
            </a:ln>
          </p:spPr>
          <p:txBody>
            <a:bodyPr lIns="90000" tIns="46800" rIns="90000" bIns="46800" anchor="ctr"/>
            <a:lstStyle/>
            <a:p>
              <a:pPr algn="ctr">
                <a:buFont typeface="Arial" panose="020B0604020202020204" pitchFamily="34" charset="0"/>
                <a:buNone/>
              </a:pPr>
              <a:endParaRPr lang="zh-CN" altLang="en-US" sz="1200" kern="0" dirty="0">
                <a:solidFill>
                  <a:sysClr val="windowText" lastClr="000000"/>
                </a:solidFill>
                <a:latin typeface="微软雅黑" panose="020B0503020204020204" charset="-122"/>
                <a:ea typeface="微软雅黑" panose="020B0503020204020204" charset="-122"/>
              </a:endParaRPr>
            </a:p>
          </p:txBody>
        </p:sp>
        <p:sp>
          <p:nvSpPr>
            <p:cNvPr id="22" name="Text Box 38"/>
            <p:cNvSpPr txBox="1">
              <a:spLocks noChangeArrowheads="1"/>
            </p:cNvSpPr>
            <p:nvPr/>
          </p:nvSpPr>
          <p:spPr bwMode="auto">
            <a:xfrm>
              <a:off x="216180" y="1915041"/>
              <a:ext cx="1373422" cy="289823"/>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零部件计划</a:t>
              </a:r>
              <a:endParaRPr kumimoji="0" lang="en-US" altLang="zh-CN" sz="14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3" name="Text Box 35"/>
            <p:cNvSpPr txBox="1">
              <a:spLocks noChangeArrowheads="1"/>
            </p:cNvSpPr>
            <p:nvPr/>
          </p:nvSpPr>
          <p:spPr bwMode="auto">
            <a:xfrm>
              <a:off x="4325094" y="4504085"/>
              <a:ext cx="1028700" cy="233397"/>
            </a:xfrm>
            <a:prstGeom prst="rect">
              <a:avLst/>
            </a:prstGeom>
            <a:noFill/>
            <a:ln w="12700" algn="ctr">
              <a:noFill/>
              <a:miter lim="800000"/>
            </a:ln>
            <a:effectLst>
              <a:prstShdw prst="shdw17" dist="17961" dir="2700000">
                <a:srgbClr val="D6DBFE">
                  <a:gamma/>
                  <a:shade val="60000"/>
                  <a:invGamma/>
                </a:srgbClr>
              </a:prstShdw>
            </a:effectLst>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送货通知</a:t>
              </a:r>
            </a:p>
          </p:txBody>
        </p:sp>
        <p:sp>
          <p:nvSpPr>
            <p:cNvPr id="24" name="Text Box 21"/>
            <p:cNvSpPr txBox="1">
              <a:spLocks noChangeArrowheads="1"/>
            </p:cNvSpPr>
            <p:nvPr/>
          </p:nvSpPr>
          <p:spPr bwMode="auto">
            <a:xfrm>
              <a:off x="2627574" y="1915041"/>
              <a:ext cx="1296144" cy="289823"/>
            </a:xfrm>
            <a:prstGeom prst="rect">
              <a:avLst/>
            </a:prstGeom>
            <a:noFill/>
            <a:ln w="12700" algn="ctr">
              <a:noFill/>
              <a:miter lim="800000"/>
            </a:ln>
            <a:effectLst>
              <a:prstShdw prst="shdw17" dist="17961" dir="2700000">
                <a:srgbClr val="D6DBFE">
                  <a:gamma/>
                  <a:shade val="60000"/>
                  <a:invGamma/>
                </a:srgbClr>
              </a:prstShdw>
            </a:effectLst>
          </p:spPr>
          <p:txBody>
            <a:bodyPr wrap="square">
              <a:spAutoFit/>
            </a:bodyP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零部件采购</a:t>
              </a:r>
            </a:p>
          </p:txBody>
        </p:sp>
        <p:sp>
          <p:nvSpPr>
            <p:cNvPr id="25" name="Rectangle 23"/>
            <p:cNvSpPr>
              <a:spLocks noChangeArrowheads="1"/>
            </p:cNvSpPr>
            <p:nvPr/>
          </p:nvSpPr>
          <p:spPr bwMode="auto">
            <a:xfrm>
              <a:off x="2627574" y="2368700"/>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200" kern="0" dirty="0">
                  <a:solidFill>
                    <a:sysClr val="windowText" lastClr="000000"/>
                  </a:solidFill>
                  <a:latin typeface="微软雅黑" panose="020B0503020204020204" charset="-122"/>
                  <a:ea typeface="微软雅黑" panose="020B0503020204020204" charset="-122"/>
                </a:rPr>
                <a:t>中长期零部件</a:t>
              </a:r>
              <a:endParaRPr lang="en-US" altLang="zh-CN" sz="1200" kern="0" dirty="0">
                <a:solidFill>
                  <a:sysClr val="windowText" lastClr="000000"/>
                </a:solidFill>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200" kern="0" dirty="0">
                  <a:solidFill>
                    <a:sysClr val="windowText" lastClr="000000"/>
                  </a:solidFill>
                  <a:latin typeface="微软雅黑" panose="020B0503020204020204" charset="-122"/>
                  <a:ea typeface="微软雅黑" panose="020B0503020204020204" charset="-122"/>
                </a:rPr>
                <a:t>采购订单</a:t>
              </a: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6" name="Rectangle 24"/>
            <p:cNvSpPr>
              <a:spLocks noChangeArrowheads="1"/>
            </p:cNvSpPr>
            <p:nvPr/>
          </p:nvSpPr>
          <p:spPr bwMode="auto">
            <a:xfrm>
              <a:off x="2627574" y="3217566"/>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用量稳定通用件</a:t>
              </a:r>
              <a:endParaRPr kumimoji="0" lang="en-US" altLang="zh-CN"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200" kern="0" dirty="0">
                  <a:solidFill>
                    <a:sysClr val="windowText" lastClr="000000"/>
                  </a:solidFill>
                  <a:latin typeface="微软雅黑" panose="020B0503020204020204" charset="-122"/>
                  <a:ea typeface="微软雅黑" panose="020B0503020204020204" charset="-122"/>
                </a:rPr>
                <a:t>采购要货</a:t>
              </a: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7" name="Rectangle 25"/>
            <p:cNvSpPr>
              <a:spLocks noChangeArrowheads="1"/>
            </p:cNvSpPr>
            <p:nvPr/>
          </p:nvSpPr>
          <p:spPr bwMode="auto">
            <a:xfrm>
              <a:off x="2627574" y="4083200"/>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en-US" altLang="zh-CN" sz="1200" kern="0" noProof="0" dirty="0">
                  <a:solidFill>
                    <a:sysClr val="windowText" lastClr="000000"/>
                  </a:solidFill>
                  <a:latin typeface="微软雅黑" panose="020B0503020204020204" charset="-122"/>
                  <a:ea typeface="微软雅黑" panose="020B0503020204020204" charset="-122"/>
                </a:rPr>
                <a:t>JIT/JIS/</a:t>
              </a:r>
              <a:r>
                <a:rPr lang="zh-CN" altLang="en-US" sz="1200" kern="0" noProof="0" dirty="0">
                  <a:solidFill>
                    <a:sysClr val="windowText" lastClr="000000"/>
                  </a:solidFill>
                  <a:latin typeface="微软雅黑" panose="020B0503020204020204" charset="-122"/>
                  <a:ea typeface="微软雅黑" panose="020B0503020204020204" charset="-122"/>
                </a:rPr>
                <a:t>日供货</a:t>
              </a:r>
              <a:endParaRPr lang="en-US" altLang="zh-CN" sz="1200" kern="0" noProof="0" dirty="0">
                <a:solidFill>
                  <a:sysClr val="windowText" lastClr="000000"/>
                </a:solidFill>
                <a:latin typeface="微软雅黑" panose="020B0503020204020204" charset="-122"/>
                <a:ea typeface="微软雅黑" panose="020B0503020204020204" charset="-122"/>
              </a:endParaRPr>
            </a:p>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200" b="0" i="0" u="none" strike="noStrike" kern="0" cap="none" spc="0" normalizeH="0" baseline="0" dirty="0">
                  <a:ln>
                    <a:noFill/>
                  </a:ln>
                  <a:solidFill>
                    <a:sysClr val="windowText" lastClr="000000"/>
                  </a:solidFill>
                  <a:effectLst/>
                  <a:uLnTx/>
                  <a:uFillTx/>
                  <a:latin typeface="微软雅黑" panose="020B0503020204020204" charset="-122"/>
                  <a:ea typeface="微软雅黑" panose="020B0503020204020204" charset="-122"/>
                </a:rPr>
                <a:t>零部件要货</a:t>
              </a: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29" name="Rectangle 4"/>
            <p:cNvSpPr>
              <a:spLocks noChangeArrowheads="1"/>
            </p:cNvSpPr>
            <p:nvPr/>
          </p:nvSpPr>
          <p:spPr bwMode="auto">
            <a:xfrm>
              <a:off x="288188" y="2204848"/>
              <a:ext cx="1656184" cy="2520296"/>
            </a:xfrm>
            <a:prstGeom prst="rect">
              <a:avLst/>
            </a:prstGeom>
            <a:solidFill>
              <a:srgbClr val="D6DBFE"/>
            </a:solidFill>
            <a:ln w="9525" algn="ctr">
              <a:noFill/>
              <a:round/>
            </a:ln>
          </p:spPr>
          <p:txBody>
            <a:bodyPr lIns="90000" tIns="46800" rIns="90000" bIns="46800" anchor="ctr"/>
            <a:lstStyle/>
            <a:p>
              <a:pPr algn="ctr">
                <a:buFont typeface="Arial" panose="020B0604020202020204" pitchFamily="34" charset="0"/>
                <a:buNone/>
              </a:pPr>
              <a:endParaRPr lang="zh-CN" altLang="en-US" sz="1200" kern="0">
                <a:solidFill>
                  <a:sysClr val="windowText" lastClr="000000"/>
                </a:solidFill>
                <a:latin typeface="微软雅黑" panose="020B0503020204020204" charset="-122"/>
                <a:ea typeface="微软雅黑" panose="020B0503020204020204" charset="-122"/>
              </a:endParaRPr>
            </a:p>
          </p:txBody>
        </p:sp>
        <p:sp>
          <p:nvSpPr>
            <p:cNvPr id="30" name="AutoShape 5"/>
            <p:cNvSpPr>
              <a:spLocks noChangeArrowheads="1"/>
            </p:cNvSpPr>
            <p:nvPr/>
          </p:nvSpPr>
          <p:spPr bwMode="auto">
            <a:xfrm rot="10800000">
              <a:off x="638302" y="2360614"/>
              <a:ext cx="1060375" cy="2404591"/>
            </a:xfrm>
            <a:prstGeom prst="triangle">
              <a:avLst>
                <a:gd name="adj" fmla="val 50000"/>
              </a:avLst>
            </a:prstGeom>
            <a:solidFill>
              <a:srgbClr val="FF9900"/>
            </a:solidFill>
            <a:ln w="12700" algn="ctr">
              <a:noFill/>
              <a:miter lim="800000"/>
            </a:ln>
          </p:spPr>
          <p:txBody>
            <a:bodyPr wrap="none" anchor="ctr"/>
            <a:lstStyle/>
            <a:p>
              <a:pPr algn="ctr" eaLnBrk="0" hangingPunct="0">
                <a:lnSpc>
                  <a:spcPct val="90000"/>
                </a:lnSpc>
                <a:spcBef>
                  <a:spcPct val="20000"/>
                </a:spcBef>
                <a:buClr>
                  <a:schemeClr val="tx1"/>
                </a:buClr>
                <a:buFont typeface="Arial" panose="020B0604020202020204" pitchFamily="34" charset="0"/>
                <a:buNone/>
              </a:pPr>
              <a:endParaRPr lang="zh-CN" altLang="en-US">
                <a:latin typeface="微软雅黑" panose="020B0503020204020204" charset="-122"/>
                <a:ea typeface="微软雅黑" panose="020B0503020204020204" charset="-122"/>
              </a:endParaRPr>
            </a:p>
          </p:txBody>
        </p:sp>
        <p:sp>
          <p:nvSpPr>
            <p:cNvPr id="31" name="Rectangle 6"/>
            <p:cNvSpPr>
              <a:spLocks noChangeArrowheads="1"/>
            </p:cNvSpPr>
            <p:nvPr/>
          </p:nvSpPr>
          <p:spPr bwMode="auto">
            <a:xfrm>
              <a:off x="524006" y="2368700"/>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100" kern="0" dirty="0">
                  <a:solidFill>
                    <a:sysClr val="windowText" lastClr="000000"/>
                  </a:solidFill>
                  <a:latin typeface="微软雅黑" panose="020B0503020204020204" charset="-122"/>
                  <a:ea typeface="微软雅黑" panose="020B0503020204020204" charset="-122"/>
                </a:rPr>
                <a:t>中长期</a:t>
              </a:r>
              <a:r>
                <a:rPr kumimoji="0" lang="zh-CN" altLang="en-US" sz="11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零部件计划</a:t>
              </a:r>
            </a:p>
          </p:txBody>
        </p:sp>
        <p:sp>
          <p:nvSpPr>
            <p:cNvPr id="32" name="Rectangle 7"/>
            <p:cNvSpPr>
              <a:spLocks noChangeArrowheads="1"/>
            </p:cNvSpPr>
            <p:nvPr/>
          </p:nvSpPr>
          <p:spPr bwMode="auto">
            <a:xfrm>
              <a:off x="524006" y="3217566"/>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en-US" sz="1100" kern="0" dirty="0">
                  <a:solidFill>
                    <a:sysClr val="windowText" lastClr="000000"/>
                  </a:solidFill>
                  <a:latin typeface="微软雅黑" panose="020B0503020204020204" charset="-122"/>
                  <a:ea typeface="微软雅黑" panose="020B0503020204020204" charset="-122"/>
                </a:rPr>
                <a:t>中短期</a:t>
              </a:r>
              <a:r>
                <a:rPr kumimoji="0" lang="zh-CN" altLang="en-US" sz="11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零部件计划</a:t>
              </a:r>
              <a:endParaRPr kumimoji="0" lang="en-US" altLang="zh-CN" sz="11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endParaRPr>
            </a:p>
          </p:txBody>
        </p:sp>
        <p:sp>
          <p:nvSpPr>
            <p:cNvPr id="33" name="Rectangle 8"/>
            <p:cNvSpPr>
              <a:spLocks noChangeArrowheads="1"/>
            </p:cNvSpPr>
            <p:nvPr/>
          </p:nvSpPr>
          <p:spPr bwMode="auto">
            <a:xfrm>
              <a:off x="524007" y="4083200"/>
              <a:ext cx="1270000" cy="393700"/>
            </a:xfrm>
            <a:prstGeom prst="rect">
              <a:avLst/>
            </a:prstGeom>
            <a:solidFill>
              <a:srgbClr val="FFFFFF"/>
            </a:solidFill>
            <a:ln w="12700" algn="ctr">
              <a:solidFill>
                <a:srgbClr val="000000"/>
              </a:solidFill>
              <a:miter lim="800000"/>
            </a:ln>
          </p:spPr>
          <p:txBody>
            <a:bodyPr wrap="none"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1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要货通知</a:t>
              </a:r>
            </a:p>
          </p:txBody>
        </p:sp>
        <p:sp>
          <p:nvSpPr>
            <p:cNvPr id="37" name="Line 25"/>
            <p:cNvSpPr>
              <a:spLocks noChangeShapeType="1"/>
            </p:cNvSpPr>
            <p:nvPr/>
          </p:nvSpPr>
          <p:spPr bwMode="auto">
            <a:xfrm flipH="1">
              <a:off x="1944372" y="3356992"/>
              <a:ext cx="468056" cy="0"/>
            </a:xfrm>
            <a:prstGeom prst="line">
              <a:avLst/>
            </a:prstGeom>
            <a:noFill/>
            <a:ln w="12700">
              <a:solidFill>
                <a:schemeClr val="tx1"/>
              </a:solidFill>
              <a:round/>
              <a:headEnd type="triangle" w="med" len="med"/>
            </a:ln>
          </p:spPr>
          <p:txBody>
            <a:bodyPr wrap="none" anchor="ctr"/>
            <a:lstStyle/>
            <a:p>
              <a:endParaRPr lang="zh-CN" altLang="en-US">
                <a:latin typeface="微软雅黑" panose="020B0503020204020204" charset="-122"/>
                <a:ea typeface="微软雅黑" panose="020B0503020204020204" charset="-122"/>
              </a:endParaRPr>
            </a:p>
          </p:txBody>
        </p:sp>
        <p:sp>
          <p:nvSpPr>
            <p:cNvPr id="38" name="Line 25"/>
            <p:cNvSpPr>
              <a:spLocks noChangeShapeType="1"/>
            </p:cNvSpPr>
            <p:nvPr/>
          </p:nvSpPr>
          <p:spPr bwMode="auto">
            <a:xfrm flipH="1">
              <a:off x="1944372" y="4293096"/>
              <a:ext cx="468056" cy="0"/>
            </a:xfrm>
            <a:prstGeom prst="line">
              <a:avLst/>
            </a:prstGeom>
            <a:noFill/>
            <a:ln w="12700">
              <a:solidFill>
                <a:schemeClr val="tx1"/>
              </a:solidFill>
              <a:round/>
              <a:headEnd type="triangle" w="med" len="med"/>
            </a:ln>
          </p:spPr>
          <p:txBody>
            <a:bodyPr wrap="none" anchor="ctr"/>
            <a:lstStyle/>
            <a:p>
              <a:endParaRPr lang="zh-CN" altLang="en-US">
                <a:latin typeface="微软雅黑" panose="020B0503020204020204" charset="-122"/>
                <a:ea typeface="微软雅黑" panose="020B0503020204020204" charset="-122"/>
              </a:endParaRPr>
            </a:p>
          </p:txBody>
        </p:sp>
        <p:sp>
          <p:nvSpPr>
            <p:cNvPr id="39" name="Line 25"/>
            <p:cNvSpPr>
              <a:spLocks noChangeShapeType="1"/>
            </p:cNvSpPr>
            <p:nvPr/>
          </p:nvSpPr>
          <p:spPr bwMode="auto">
            <a:xfrm flipH="1">
              <a:off x="1944372" y="2492896"/>
              <a:ext cx="468056" cy="0"/>
            </a:xfrm>
            <a:prstGeom prst="line">
              <a:avLst/>
            </a:prstGeom>
            <a:noFill/>
            <a:ln w="12700">
              <a:solidFill>
                <a:schemeClr val="tx1"/>
              </a:solidFill>
              <a:round/>
              <a:headEnd type="triangle" w="med" len="med"/>
            </a:ln>
          </p:spPr>
          <p:txBody>
            <a:bodyPr wrap="none" anchor="ctr"/>
            <a:lstStyle/>
            <a:p>
              <a:endParaRPr lang="zh-CN" altLang="en-US">
                <a:latin typeface="微软雅黑" panose="020B0503020204020204" charset="-122"/>
                <a:ea typeface="微软雅黑" panose="020B0503020204020204" charset="-122"/>
              </a:endParaRPr>
            </a:p>
          </p:txBody>
        </p:sp>
        <p:sp>
          <p:nvSpPr>
            <p:cNvPr id="40" name="Rectangle 23"/>
            <p:cNvSpPr>
              <a:spLocks noChangeArrowheads="1"/>
            </p:cNvSpPr>
            <p:nvPr/>
          </p:nvSpPr>
          <p:spPr bwMode="auto">
            <a:xfrm>
              <a:off x="288188" y="4869160"/>
              <a:ext cx="6804092" cy="504056"/>
            </a:xfrm>
            <a:prstGeom prst="rect">
              <a:avLst/>
            </a:prstGeom>
            <a:solidFill>
              <a:srgbClr val="D6DBFE"/>
            </a:solidFill>
            <a:ln w="9525" algn="ctr">
              <a:noFill/>
              <a:round/>
            </a:ln>
          </p:spPr>
          <p:txBody>
            <a:bodyPr lIns="90000" tIns="46800" rIns="90000" bIns="46800" anchor="ctr"/>
            <a:lstStyle/>
            <a:p>
              <a:pPr algn="ctr">
                <a:buFont typeface="Arial" panose="020B0604020202020204" pitchFamily="34" charset="0"/>
                <a:buNone/>
              </a:pPr>
              <a:r>
                <a:rPr lang="zh-CN" altLang="en-US" sz="1200" kern="0" dirty="0">
                  <a:solidFill>
                    <a:sysClr val="windowText" lastClr="000000"/>
                  </a:solidFill>
                  <a:latin typeface="微软雅黑" panose="020B0503020204020204" charset="-122"/>
                  <a:ea typeface="微软雅黑" panose="020B0503020204020204" charset="-122"/>
                </a:rPr>
                <a:t>供应预警机制、供应商协同管理</a:t>
              </a:r>
            </a:p>
          </p:txBody>
        </p:sp>
      </p:grpSp>
      <p:sp>
        <p:nvSpPr>
          <p:cNvPr id="47" name="TextBox 46"/>
          <p:cNvSpPr txBox="1"/>
          <p:nvPr/>
        </p:nvSpPr>
        <p:spPr bwMode="auto">
          <a:xfrm>
            <a:off x="2555776" y="6165304"/>
            <a:ext cx="2952328" cy="338554"/>
          </a:xfrm>
          <a:prstGeom prst="rect">
            <a:avLst/>
          </a:prstGeom>
          <a:noFill/>
          <a:ln>
            <a:noFill/>
          </a:ln>
        </p:spPr>
        <p:txBody>
          <a:bodyPr wrap="square" rtlCol="0">
            <a:spAutoFit/>
          </a:bodyPr>
          <a:lstStyle/>
          <a:p>
            <a:pPr marL="119380" indent="-119380" algn="ctr">
              <a:spcBef>
                <a:spcPts val="430"/>
              </a:spcBef>
              <a:defRPr/>
            </a:pPr>
            <a:r>
              <a:rPr lang="zh-CN" altLang="en-US" sz="1600" b="1" kern="0" dirty="0">
                <a:solidFill>
                  <a:srgbClr val="3366FF"/>
                </a:solidFill>
                <a:latin typeface="微软雅黑" panose="020B0503020204020204" charset="-122"/>
                <a:ea typeface="微软雅黑" panose="020B0503020204020204" charset="-122"/>
                <a:cs typeface="Arial" panose="020B0604020202020204" pitchFamily="34" charset="0"/>
              </a:rPr>
              <a:t>供应承诺可靠、交付风险可控</a:t>
            </a:r>
          </a:p>
        </p:txBody>
      </p:sp>
      <p:sp>
        <p:nvSpPr>
          <p:cNvPr id="48" name="线形标注 2(带边框和强调线) 89"/>
          <p:cNvSpPr/>
          <p:nvPr/>
        </p:nvSpPr>
        <p:spPr bwMode="auto">
          <a:xfrm>
            <a:off x="323528" y="980728"/>
            <a:ext cx="1512168" cy="648072"/>
          </a:xfrm>
          <a:prstGeom prst="accentBorderCallout2">
            <a:avLst>
              <a:gd name="adj1" fmla="val 67829"/>
              <a:gd name="adj2" fmla="val 105259"/>
              <a:gd name="adj3" fmla="val 67056"/>
              <a:gd name="adj4" fmla="val 121128"/>
              <a:gd name="adj5" fmla="val 158201"/>
              <a:gd name="adj6" fmla="val 125216"/>
            </a:avLst>
          </a:prstGeom>
          <a:solidFill>
            <a:srgbClr val="FFFFCC"/>
          </a:solidFill>
          <a:ln w="9525" cap="flat" cmpd="sng" algn="ctr">
            <a:solidFill>
              <a:schemeClr val="tx1"/>
            </a:solidFill>
            <a:prstDash val="solid"/>
            <a:round/>
            <a:headEnd type="none" w="med" len="med"/>
            <a:tailEnd type="none"/>
          </a:ln>
          <a:effectLst/>
        </p:spPr>
        <p:txBody>
          <a:bodyPr rtlCol="0" anchor="t"/>
          <a:lstStyle/>
          <a:p>
            <a:pPr marL="173355" lvl="0" indent="-173355" eaLnBrk="0" hangingPunct="0">
              <a:lnSpc>
                <a:spcPts val="1300"/>
              </a:lnSpc>
              <a:spcBef>
                <a:spcPts val="300"/>
              </a:spcBef>
              <a:buClr>
                <a:srgbClr val="7889FB"/>
              </a:buClr>
              <a:defRPr/>
            </a:pPr>
            <a:r>
              <a:rPr lang="en-US" altLang="zh-CN" sz="1200" b="1" dirty="0">
                <a:solidFill>
                  <a:srgbClr val="000000"/>
                </a:solidFill>
                <a:latin typeface="微软雅黑" panose="020B0503020204020204" charset="-122"/>
                <a:ea typeface="微软雅黑" panose="020B0503020204020204" charset="-122"/>
              </a:rPr>
              <a:t>E-1. </a:t>
            </a:r>
            <a:r>
              <a:rPr lang="zh-CN" altLang="en-US" sz="1200" b="1" dirty="0">
                <a:solidFill>
                  <a:srgbClr val="000000"/>
                </a:solidFill>
                <a:latin typeface="微软雅黑" panose="020B0503020204020204" charset="-122"/>
                <a:ea typeface="微软雅黑" panose="020B0503020204020204" charset="-122"/>
              </a:rPr>
              <a:t>零部件计划</a:t>
            </a:r>
            <a:endParaRPr lang="en-US" altLang="zh-CN" sz="1200" b="1" kern="0" dirty="0">
              <a:solidFill>
                <a:sysClr val="windowText" lastClr="000000"/>
              </a:solidFill>
              <a:latin typeface="微软雅黑" panose="020B0503020204020204" charset="-122"/>
              <a:ea typeface="微软雅黑" panose="020B0503020204020204" charset="-122"/>
            </a:endParaRPr>
          </a:p>
          <a:p>
            <a:pPr marL="173355" lvl="1" indent="-173355" eaLnBrk="0" hangingPunct="0">
              <a:spcBef>
                <a:spcPct val="20000"/>
              </a:spcBef>
              <a:buClr>
                <a:schemeClr val="accent1"/>
              </a:buClr>
              <a:buSzPct val="100000"/>
              <a:buFont typeface="微软雅黑" panose="020B0503020204020204" charset="-122"/>
              <a:buChar char="−"/>
              <a:defRPr/>
            </a:pPr>
            <a:r>
              <a:rPr lang="zh-CN" altLang="en-US" sz="1000" dirty="0">
                <a:latin typeface="微软雅黑" panose="020B0503020204020204" charset="-122"/>
                <a:ea typeface="微软雅黑" panose="020B0503020204020204" charset="-122"/>
              </a:rPr>
              <a:t>中、长期零部件计划</a:t>
            </a:r>
            <a:endParaRPr lang="en-US" altLang="zh-CN" sz="1000" dirty="0">
              <a:latin typeface="微软雅黑" panose="020B0503020204020204" charset="-122"/>
              <a:ea typeface="微软雅黑" panose="020B0503020204020204" charset="-122"/>
            </a:endParaRPr>
          </a:p>
          <a:p>
            <a:pPr marL="173355" lvl="1" indent="-173355" eaLnBrk="0" hangingPunct="0">
              <a:spcBef>
                <a:spcPct val="20000"/>
              </a:spcBef>
              <a:buClr>
                <a:schemeClr val="accent1"/>
              </a:buClr>
              <a:buSzPct val="100000"/>
              <a:buFont typeface="微软雅黑" panose="020B0503020204020204" charset="-122"/>
              <a:buChar char="−"/>
              <a:defRPr/>
            </a:pPr>
            <a:r>
              <a:rPr lang="zh-CN" altLang="en-US" sz="1000" dirty="0">
                <a:latin typeface="微软雅黑" panose="020B0503020204020204" charset="-122"/>
                <a:ea typeface="微软雅黑" panose="020B0503020204020204" charset="-122"/>
              </a:rPr>
              <a:t>短期零部件供货指令</a:t>
            </a:r>
            <a:endParaRPr lang="en-US" altLang="zh-CN" sz="1000" dirty="0">
              <a:latin typeface="微软雅黑" panose="020B0503020204020204" charset="-122"/>
              <a:ea typeface="微软雅黑" panose="020B0503020204020204" charset="-122"/>
            </a:endParaRPr>
          </a:p>
        </p:txBody>
      </p:sp>
      <p:sp>
        <p:nvSpPr>
          <p:cNvPr id="50" name="线形标注 2(带边框和强调线) 88"/>
          <p:cNvSpPr/>
          <p:nvPr/>
        </p:nvSpPr>
        <p:spPr bwMode="auto">
          <a:xfrm>
            <a:off x="5652120" y="980728"/>
            <a:ext cx="1440160" cy="648072"/>
          </a:xfrm>
          <a:prstGeom prst="accentBorderCallout2">
            <a:avLst>
              <a:gd name="adj1" fmla="val 65060"/>
              <a:gd name="adj2" fmla="val -7739"/>
              <a:gd name="adj3" fmla="val 64524"/>
              <a:gd name="adj4" fmla="val -31767"/>
              <a:gd name="adj5" fmla="val 156117"/>
              <a:gd name="adj6" fmla="val -68541"/>
            </a:avLst>
          </a:prstGeom>
          <a:solidFill>
            <a:srgbClr val="FFFFCC"/>
          </a:solidFill>
          <a:ln w="9525" cap="flat" cmpd="sng" algn="ctr">
            <a:solidFill>
              <a:schemeClr val="tx1"/>
            </a:solidFill>
            <a:prstDash val="solid"/>
            <a:round/>
            <a:headEnd type="none" w="med" len="med"/>
            <a:tailEnd type="none"/>
          </a:ln>
          <a:effectLst/>
        </p:spPr>
        <p:txBody>
          <a:bodyPr rtlCol="0" anchor="ctr"/>
          <a:lstStyle/>
          <a:p>
            <a:pPr marL="173355" lvl="0" indent="-173355" eaLnBrk="0" hangingPunct="0">
              <a:lnSpc>
                <a:spcPts val="1300"/>
              </a:lnSpc>
              <a:spcBef>
                <a:spcPts val="300"/>
              </a:spcBef>
              <a:buClr>
                <a:srgbClr val="7889FB"/>
              </a:buClr>
              <a:defRPr/>
            </a:pPr>
            <a:r>
              <a:rPr lang="en-US" altLang="zh-CN" sz="1200" b="1" dirty="0">
                <a:solidFill>
                  <a:srgbClr val="000000"/>
                </a:solidFill>
                <a:latin typeface="微软雅黑" panose="020B0503020204020204" charset="-122"/>
                <a:ea typeface="微软雅黑" panose="020B0503020204020204" charset="-122"/>
              </a:rPr>
              <a:t>E-2. </a:t>
            </a:r>
            <a:r>
              <a:rPr lang="zh-CN" altLang="en-US" sz="1200" b="1" dirty="0">
                <a:solidFill>
                  <a:srgbClr val="000000"/>
                </a:solidFill>
                <a:latin typeface="微软雅黑" panose="020B0503020204020204" charset="-122"/>
                <a:ea typeface="微软雅黑" panose="020B0503020204020204" charset="-122"/>
              </a:rPr>
              <a:t>零部件供应</a:t>
            </a:r>
            <a:endParaRPr lang="en-US" altLang="zh-CN" sz="1200" b="1" kern="0" dirty="0">
              <a:solidFill>
                <a:sysClr val="windowText" lastClr="000000"/>
              </a:solidFill>
              <a:latin typeface="微软雅黑" panose="020B0503020204020204" charset="-122"/>
              <a:ea typeface="微软雅黑" panose="020B0503020204020204" charset="-122"/>
            </a:endParaRPr>
          </a:p>
          <a:p>
            <a:pPr marL="173355" lvl="1" indent="-173355" eaLnBrk="0" hangingPunct="0">
              <a:spcBef>
                <a:spcPct val="20000"/>
              </a:spcBef>
              <a:buClr>
                <a:schemeClr val="accent1"/>
              </a:buClr>
              <a:buSzPct val="100000"/>
              <a:buFont typeface="微软雅黑" panose="020B0503020204020204" charset="-122"/>
              <a:buChar char="−"/>
              <a:defRPr/>
            </a:pPr>
            <a:r>
              <a:rPr lang="zh-CN" altLang="en-US" sz="1000" dirty="0">
                <a:latin typeface="微软雅黑" panose="020B0503020204020204" charset="-122"/>
                <a:ea typeface="微软雅黑" panose="020B0503020204020204" charset="-122"/>
              </a:rPr>
              <a:t>零部件分类</a:t>
            </a:r>
            <a:endParaRPr lang="en-US" altLang="zh-CN" sz="1000" dirty="0">
              <a:latin typeface="微软雅黑" panose="020B0503020204020204" charset="-122"/>
              <a:ea typeface="微软雅黑" panose="020B0503020204020204" charset="-122"/>
            </a:endParaRPr>
          </a:p>
          <a:p>
            <a:pPr marL="173355" lvl="1" indent="-173355" eaLnBrk="0" hangingPunct="0">
              <a:spcBef>
                <a:spcPct val="20000"/>
              </a:spcBef>
              <a:buClr>
                <a:schemeClr val="accent1"/>
              </a:buClr>
              <a:buSzPct val="100000"/>
              <a:buFont typeface="微软雅黑" panose="020B0503020204020204" charset="-122"/>
              <a:buChar char="−"/>
              <a:defRPr/>
            </a:pPr>
            <a:r>
              <a:rPr lang="zh-CN" altLang="en-US" sz="1000" dirty="0">
                <a:latin typeface="微软雅黑" panose="020B0503020204020204" charset="-122"/>
                <a:ea typeface="微软雅黑" panose="020B0503020204020204" charset="-122"/>
              </a:rPr>
              <a:t>零部件供应策略</a:t>
            </a:r>
            <a:endParaRPr lang="en-US" altLang="zh-CN" sz="1000" dirty="0">
              <a:latin typeface="微软雅黑" panose="020B0503020204020204" charset="-122"/>
              <a:ea typeface="微软雅黑" panose="020B0503020204020204" charset="-122"/>
            </a:endParaRPr>
          </a:p>
        </p:txBody>
      </p:sp>
      <p:sp>
        <p:nvSpPr>
          <p:cNvPr id="51" name="线形标注 2(带边框和强调线) 89"/>
          <p:cNvSpPr/>
          <p:nvPr/>
        </p:nvSpPr>
        <p:spPr bwMode="auto">
          <a:xfrm>
            <a:off x="467544" y="6021288"/>
            <a:ext cx="1440160" cy="540056"/>
          </a:xfrm>
          <a:prstGeom prst="accentBorderCallout2">
            <a:avLst>
              <a:gd name="adj1" fmla="val 67829"/>
              <a:gd name="adj2" fmla="val 105259"/>
              <a:gd name="adj3" fmla="val 67056"/>
              <a:gd name="adj4" fmla="val 121128"/>
              <a:gd name="adj5" fmla="val -55679"/>
              <a:gd name="adj6" fmla="val 153843"/>
            </a:avLst>
          </a:prstGeom>
          <a:solidFill>
            <a:srgbClr val="FFFFCC"/>
          </a:solidFill>
          <a:ln w="9525" cap="flat" cmpd="sng" algn="ctr">
            <a:solidFill>
              <a:schemeClr val="tx1"/>
            </a:solidFill>
            <a:prstDash val="solid"/>
            <a:round/>
            <a:headEnd type="none" w="med" len="med"/>
            <a:tailEnd type="none"/>
          </a:ln>
          <a:effectLst/>
        </p:spPr>
        <p:txBody>
          <a:bodyPr rtlCol="0" anchor="ctr"/>
          <a:lstStyle/>
          <a:p>
            <a:pPr marL="173355" lvl="0" indent="-173355" eaLnBrk="0" hangingPunct="0">
              <a:lnSpc>
                <a:spcPts val="1300"/>
              </a:lnSpc>
              <a:spcBef>
                <a:spcPts val="300"/>
              </a:spcBef>
              <a:buClr>
                <a:srgbClr val="7889FB"/>
              </a:buClr>
              <a:defRPr/>
            </a:pPr>
            <a:r>
              <a:rPr lang="en-US" altLang="zh-CN" sz="1200" b="1" dirty="0">
                <a:solidFill>
                  <a:srgbClr val="000000"/>
                </a:solidFill>
                <a:latin typeface="微软雅黑" panose="020B0503020204020204" charset="-122"/>
                <a:ea typeface="微软雅黑" panose="020B0503020204020204" charset="-122"/>
              </a:rPr>
              <a:t>E-</a:t>
            </a:r>
            <a:r>
              <a:rPr lang="zh-CN" altLang="zh-CN" sz="1200" b="1" dirty="0">
                <a:solidFill>
                  <a:srgbClr val="000000"/>
                </a:solidFill>
                <a:latin typeface="微软雅黑" panose="020B0503020204020204" charset="-122"/>
                <a:ea typeface="微软雅黑" panose="020B0503020204020204" charset="-122"/>
              </a:rPr>
              <a:t>4</a:t>
            </a:r>
            <a:r>
              <a:rPr lang="en-US" altLang="zh-CN" sz="1200" b="1" dirty="0">
                <a:solidFill>
                  <a:srgbClr val="000000"/>
                </a:solidFill>
                <a:latin typeface="微软雅黑" panose="020B0503020204020204" charset="-122"/>
                <a:ea typeface="微软雅黑" panose="020B0503020204020204" charset="-122"/>
              </a:rPr>
              <a:t>. </a:t>
            </a:r>
            <a:r>
              <a:rPr lang="zh-CN" altLang="en-US" sz="1200" b="1" dirty="0">
                <a:solidFill>
                  <a:srgbClr val="000000"/>
                </a:solidFill>
                <a:latin typeface="微软雅黑" panose="020B0503020204020204" charset="-122"/>
                <a:ea typeface="微软雅黑" panose="020B0503020204020204" charset="-122"/>
              </a:rPr>
              <a:t>供应预警机制</a:t>
            </a:r>
          </a:p>
          <a:p>
            <a:pPr marL="173355" lvl="1" indent="-173355" eaLnBrk="0" hangingPunct="0">
              <a:spcBef>
                <a:spcPct val="20000"/>
              </a:spcBef>
              <a:buClr>
                <a:schemeClr val="accent1"/>
              </a:buClr>
              <a:buSzPct val="100000"/>
              <a:buFont typeface="微软雅黑" panose="020B0503020204020204" charset="-122"/>
              <a:buChar char="−"/>
              <a:defRPr/>
            </a:pPr>
            <a:r>
              <a:rPr lang="zh-CN" altLang="en-US" sz="1000" dirty="0">
                <a:latin typeface="微软雅黑" panose="020B0503020204020204" charset="-122"/>
                <a:ea typeface="微软雅黑" panose="020B0503020204020204" charset="-122"/>
              </a:rPr>
              <a:t>分级预警</a:t>
            </a:r>
          </a:p>
        </p:txBody>
      </p:sp>
      <p:sp>
        <p:nvSpPr>
          <p:cNvPr id="52" name="线形标注 2(带边框和强调线) 89"/>
          <p:cNvSpPr/>
          <p:nvPr/>
        </p:nvSpPr>
        <p:spPr bwMode="auto">
          <a:xfrm>
            <a:off x="5940152" y="6021288"/>
            <a:ext cx="1440160" cy="540056"/>
          </a:xfrm>
          <a:prstGeom prst="accentBorderCallout2">
            <a:avLst>
              <a:gd name="adj1" fmla="val 67829"/>
              <a:gd name="adj2" fmla="val 105259"/>
              <a:gd name="adj3" fmla="val 67056"/>
              <a:gd name="adj4" fmla="val 121128"/>
              <a:gd name="adj5" fmla="val -199617"/>
              <a:gd name="adj6" fmla="val 132621"/>
            </a:avLst>
          </a:prstGeom>
          <a:solidFill>
            <a:srgbClr val="FFFFCC"/>
          </a:solidFill>
          <a:ln w="9525" cap="flat" cmpd="sng" algn="ctr">
            <a:solidFill>
              <a:schemeClr val="tx1"/>
            </a:solidFill>
            <a:prstDash val="solid"/>
            <a:round/>
            <a:headEnd type="none" w="med" len="med"/>
            <a:tailEnd type="none"/>
          </a:ln>
          <a:effectLst/>
        </p:spPr>
        <p:txBody>
          <a:bodyPr rtlCol="0" anchor="ctr"/>
          <a:lstStyle/>
          <a:p>
            <a:pPr marL="173355" lvl="0" indent="-173355" eaLnBrk="0" hangingPunct="0">
              <a:lnSpc>
                <a:spcPts val="1300"/>
              </a:lnSpc>
              <a:spcBef>
                <a:spcPts val="300"/>
              </a:spcBef>
              <a:buClr>
                <a:srgbClr val="7889FB"/>
              </a:buClr>
              <a:defRPr/>
            </a:pPr>
            <a:r>
              <a:rPr lang="en-US" altLang="zh-CN" sz="1200" b="1" dirty="0">
                <a:solidFill>
                  <a:srgbClr val="000000"/>
                </a:solidFill>
                <a:latin typeface="微软雅黑" panose="020B0503020204020204" charset="-122"/>
                <a:ea typeface="微软雅黑" panose="020B0503020204020204" charset="-122"/>
              </a:rPr>
              <a:t>E-</a:t>
            </a:r>
            <a:r>
              <a:rPr lang="zh-CN" altLang="zh-CN" sz="1200" b="1" dirty="0">
                <a:solidFill>
                  <a:srgbClr val="000000"/>
                </a:solidFill>
                <a:latin typeface="微软雅黑" panose="020B0503020204020204" charset="-122"/>
                <a:ea typeface="微软雅黑" panose="020B0503020204020204" charset="-122"/>
              </a:rPr>
              <a:t>3</a:t>
            </a:r>
            <a:r>
              <a:rPr lang="en-US" altLang="zh-CN" sz="1200" b="1" dirty="0">
                <a:solidFill>
                  <a:srgbClr val="000000"/>
                </a:solidFill>
                <a:latin typeface="微软雅黑" panose="020B0503020204020204" charset="-122"/>
                <a:ea typeface="微软雅黑" panose="020B0503020204020204" charset="-122"/>
              </a:rPr>
              <a:t>. </a:t>
            </a:r>
            <a:r>
              <a:rPr lang="zh-CN" altLang="en-US" sz="1200" b="1" dirty="0">
                <a:solidFill>
                  <a:srgbClr val="000000"/>
                </a:solidFill>
                <a:latin typeface="微软雅黑" panose="020B0503020204020204" charset="-122"/>
                <a:ea typeface="微软雅黑" panose="020B0503020204020204" charset="-122"/>
              </a:rPr>
              <a:t>零部件配送</a:t>
            </a:r>
          </a:p>
          <a:p>
            <a:pPr marL="173355" lvl="1" indent="-173355" eaLnBrk="0" hangingPunct="0">
              <a:spcBef>
                <a:spcPct val="20000"/>
              </a:spcBef>
              <a:buClr>
                <a:schemeClr val="accent1"/>
              </a:buClr>
              <a:buSzPct val="100000"/>
              <a:buFont typeface="微软雅黑" panose="020B0503020204020204" charset="-122"/>
              <a:buChar char="−"/>
              <a:defRPr/>
            </a:pPr>
            <a:r>
              <a:rPr lang="zh-CN" altLang="en-US" sz="1000" dirty="0">
                <a:latin typeface="微软雅黑" panose="020B0503020204020204" charset="-122"/>
                <a:ea typeface="微软雅黑" panose="020B0503020204020204" charset="-122"/>
              </a:rPr>
              <a:t>按订单配送</a:t>
            </a:r>
            <a:endParaRPr lang="en-US" altLang="zh-CN" sz="1000" dirty="0">
              <a:latin typeface="微软雅黑" panose="020B0503020204020204" charset="-122"/>
              <a:ea typeface="微软雅黑" panose="020B0503020204020204" charset="-122"/>
            </a:endParaRPr>
          </a:p>
          <a:p>
            <a:pPr marL="173355" lvl="1" indent="-173355" eaLnBrk="0" hangingPunct="0">
              <a:spcBef>
                <a:spcPct val="20000"/>
              </a:spcBef>
              <a:buClr>
                <a:schemeClr val="accent1"/>
              </a:buClr>
              <a:buSzPct val="100000"/>
              <a:buFont typeface="微软雅黑" panose="020B0503020204020204" charset="-122"/>
              <a:buChar char="−"/>
              <a:defRPr/>
            </a:pPr>
            <a:r>
              <a:rPr lang="zh-CN" altLang="en-US" sz="1000" dirty="0">
                <a:latin typeface="微软雅黑" panose="020B0503020204020204" charset="-122"/>
                <a:ea typeface="微软雅黑" panose="020B0503020204020204" charset="-122"/>
              </a:rPr>
              <a:t>按供货指令配送</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162000" y="593725"/>
            <a:ext cx="8820000" cy="695325"/>
          </a:xfrm>
        </p:spPr>
        <p:txBody>
          <a:bodyPr/>
          <a:lstStyle/>
          <a:p>
            <a:r>
              <a:rPr lang="en-US" altLang="zh-TW" dirty="0"/>
              <a:t>E</a:t>
            </a:r>
            <a:r>
              <a:rPr dirty="0"/>
              <a:t>-1</a:t>
            </a:r>
            <a:r>
              <a:rPr lang="en-US" altLang="zh-TW" dirty="0"/>
              <a:t>. </a:t>
            </a:r>
            <a:r>
              <a:rPr lang="zh-TW" altLang="en-US" dirty="0"/>
              <a:t>零部件计划</a:t>
            </a:r>
            <a:r>
              <a:rPr lang="zh-CN" altLang="en-US" dirty="0"/>
              <a:t>（以某客车企业的零部件计划方式为例）</a:t>
            </a:r>
          </a:p>
        </p:txBody>
      </p:sp>
      <p:sp>
        <p:nvSpPr>
          <p:cNvPr id="5" name="矩形 5"/>
          <p:cNvSpPr>
            <a:spLocks noChangeArrowheads="1"/>
          </p:cNvSpPr>
          <p:nvPr/>
        </p:nvSpPr>
        <p:spPr bwMode="auto">
          <a:xfrm>
            <a:off x="395536" y="1484784"/>
            <a:ext cx="479356" cy="360000"/>
          </a:xfrm>
          <a:prstGeom prst="rect">
            <a:avLst/>
          </a:prstGeom>
          <a:solidFill>
            <a:srgbClr val="FFFFCC"/>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月</a:t>
            </a:r>
          </a:p>
        </p:txBody>
      </p:sp>
      <p:sp>
        <p:nvSpPr>
          <p:cNvPr id="6" name="矩形 6"/>
          <p:cNvSpPr>
            <a:spLocks noChangeArrowheads="1"/>
          </p:cNvSpPr>
          <p:nvPr/>
        </p:nvSpPr>
        <p:spPr bwMode="auto">
          <a:xfrm>
            <a:off x="395536" y="1841974"/>
            <a:ext cx="479356" cy="252000"/>
          </a:xfrm>
          <a:prstGeom prst="rect">
            <a:avLst/>
          </a:prstGeom>
          <a:solidFill>
            <a:srgbClr val="E5F8FF"/>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周</a:t>
            </a:r>
          </a:p>
        </p:txBody>
      </p:sp>
      <p:sp>
        <p:nvSpPr>
          <p:cNvPr id="7" name="矩形 8"/>
          <p:cNvSpPr>
            <a:spLocks noChangeArrowheads="1"/>
          </p:cNvSpPr>
          <p:nvPr/>
        </p:nvSpPr>
        <p:spPr bwMode="auto">
          <a:xfrm>
            <a:off x="871150" y="1484784"/>
            <a:ext cx="3675063" cy="360000"/>
          </a:xfrm>
          <a:prstGeom prst="rect">
            <a:avLst/>
          </a:prstGeom>
          <a:solidFill>
            <a:srgbClr val="FFFFCC"/>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第</a:t>
            </a:r>
            <a:r>
              <a:rPr kumimoji="0" lang="en-US" altLang="zh-CN" sz="1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1</a:t>
            </a:r>
            <a:r>
              <a:rPr kumimoji="0" lang="zh-CN" altLang="en-US" sz="1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月</a:t>
            </a:r>
          </a:p>
        </p:txBody>
      </p:sp>
      <p:sp>
        <p:nvSpPr>
          <p:cNvPr id="8" name="矩形 33"/>
          <p:cNvSpPr>
            <a:spLocks noChangeArrowheads="1"/>
          </p:cNvSpPr>
          <p:nvPr/>
        </p:nvSpPr>
        <p:spPr bwMode="auto">
          <a:xfrm>
            <a:off x="4541884" y="1484784"/>
            <a:ext cx="878819" cy="360000"/>
          </a:xfrm>
          <a:prstGeom prst="rect">
            <a:avLst/>
          </a:prstGeom>
          <a:solidFill>
            <a:srgbClr val="FFFFCC"/>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第</a:t>
            </a: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2</a:t>
            </a: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月</a:t>
            </a:r>
          </a:p>
        </p:txBody>
      </p:sp>
      <p:sp>
        <p:nvSpPr>
          <p:cNvPr id="9" name="矩形 38"/>
          <p:cNvSpPr>
            <a:spLocks noChangeArrowheads="1"/>
          </p:cNvSpPr>
          <p:nvPr/>
        </p:nvSpPr>
        <p:spPr bwMode="auto">
          <a:xfrm>
            <a:off x="5353907" y="1484784"/>
            <a:ext cx="878819" cy="360000"/>
          </a:xfrm>
          <a:prstGeom prst="rect">
            <a:avLst/>
          </a:prstGeom>
          <a:solidFill>
            <a:srgbClr val="FFFFCC"/>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第</a:t>
            </a:r>
            <a:r>
              <a:rPr kumimoji="0" lang="en-US" altLang="zh-CN" sz="1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3</a:t>
            </a:r>
            <a:r>
              <a:rPr kumimoji="0" lang="zh-CN" altLang="en-US" sz="1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月</a:t>
            </a:r>
          </a:p>
        </p:txBody>
      </p:sp>
      <p:sp>
        <p:nvSpPr>
          <p:cNvPr id="10" name="矩形 43"/>
          <p:cNvSpPr>
            <a:spLocks noChangeArrowheads="1"/>
          </p:cNvSpPr>
          <p:nvPr/>
        </p:nvSpPr>
        <p:spPr bwMode="auto">
          <a:xfrm>
            <a:off x="2304135" y="1839833"/>
            <a:ext cx="1438068" cy="252000"/>
          </a:xfrm>
          <a:prstGeom prst="rect">
            <a:avLst/>
          </a:prstGeom>
          <a:solidFill>
            <a:srgbClr val="B3EBFF"/>
          </a:solidFill>
          <a:ln w="9525" algn="ctr">
            <a:solidFill>
              <a:srgbClr val="000000"/>
            </a:solidFill>
            <a:round/>
          </a:ln>
        </p:spPr>
        <p:txBody>
          <a:bodyPr lIns="0" tIns="0" rIns="0" bIns="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2</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周</a:t>
            </a:r>
          </a:p>
        </p:txBody>
      </p:sp>
      <p:sp>
        <p:nvSpPr>
          <p:cNvPr id="11" name="矩形 44"/>
          <p:cNvSpPr>
            <a:spLocks noChangeArrowheads="1"/>
          </p:cNvSpPr>
          <p:nvPr/>
        </p:nvSpPr>
        <p:spPr bwMode="auto">
          <a:xfrm>
            <a:off x="3737790" y="1839833"/>
            <a:ext cx="399463" cy="252000"/>
          </a:xfrm>
          <a:prstGeom prst="rect">
            <a:avLst/>
          </a:prstGeom>
          <a:solidFill>
            <a:srgbClr val="B3EBFF"/>
          </a:solidFill>
          <a:ln w="9525" algn="ctr">
            <a:solidFill>
              <a:srgbClr val="000000"/>
            </a:solidFill>
            <a:round/>
          </a:ln>
        </p:spPr>
        <p:txBody>
          <a:bodyPr lIns="0" tIns="0" rIns="0" bIns="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3</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周</a:t>
            </a:r>
          </a:p>
        </p:txBody>
      </p:sp>
      <p:sp>
        <p:nvSpPr>
          <p:cNvPr id="12" name="矩形 45"/>
          <p:cNvSpPr>
            <a:spLocks noChangeArrowheads="1"/>
          </p:cNvSpPr>
          <p:nvPr/>
        </p:nvSpPr>
        <p:spPr bwMode="auto">
          <a:xfrm>
            <a:off x="4132840" y="1839833"/>
            <a:ext cx="399463" cy="252000"/>
          </a:xfrm>
          <a:prstGeom prst="rect">
            <a:avLst/>
          </a:prstGeom>
          <a:solidFill>
            <a:srgbClr val="B3EBFF"/>
          </a:solidFill>
          <a:ln w="9525" algn="ctr">
            <a:solidFill>
              <a:srgbClr val="000000"/>
            </a:solidFill>
            <a:round/>
          </a:ln>
        </p:spPr>
        <p:txBody>
          <a:bodyPr lIns="0" tIns="0" rIns="0" bIns="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4</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周</a:t>
            </a:r>
          </a:p>
        </p:txBody>
      </p:sp>
      <p:sp>
        <p:nvSpPr>
          <p:cNvPr id="13" name="矩形 6"/>
          <p:cNvSpPr>
            <a:spLocks noChangeArrowheads="1"/>
          </p:cNvSpPr>
          <p:nvPr/>
        </p:nvSpPr>
        <p:spPr bwMode="auto">
          <a:xfrm>
            <a:off x="395536" y="2091833"/>
            <a:ext cx="479356"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日</a:t>
            </a:r>
          </a:p>
        </p:txBody>
      </p:sp>
      <p:sp>
        <p:nvSpPr>
          <p:cNvPr id="14" name="矩形 43"/>
          <p:cNvSpPr>
            <a:spLocks noChangeArrowheads="1"/>
          </p:cNvSpPr>
          <p:nvPr/>
        </p:nvSpPr>
        <p:spPr bwMode="auto">
          <a:xfrm>
            <a:off x="870479" y="1839833"/>
            <a:ext cx="1438068" cy="252000"/>
          </a:xfrm>
          <a:prstGeom prst="rect">
            <a:avLst/>
          </a:prstGeom>
          <a:solidFill>
            <a:srgbClr val="B3EBFF"/>
          </a:solidFill>
          <a:ln w="9525" algn="ctr">
            <a:solidFill>
              <a:srgbClr val="000000"/>
            </a:solidFill>
            <a:round/>
          </a:ln>
        </p:spPr>
        <p:txBody>
          <a:bodyPr lIns="0" tIns="0" rIns="0" bIns="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1</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周</a:t>
            </a:r>
          </a:p>
        </p:txBody>
      </p:sp>
      <p:sp>
        <p:nvSpPr>
          <p:cNvPr id="15" name="矩形 6"/>
          <p:cNvSpPr>
            <a:spLocks noChangeArrowheads="1"/>
          </p:cNvSpPr>
          <p:nvPr/>
        </p:nvSpPr>
        <p:spPr bwMode="auto">
          <a:xfrm>
            <a:off x="871150"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1</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6" name="矩形 6"/>
          <p:cNvSpPr>
            <a:spLocks noChangeArrowheads="1"/>
          </p:cNvSpPr>
          <p:nvPr/>
        </p:nvSpPr>
        <p:spPr bwMode="auto">
          <a:xfrm>
            <a:off x="1158213"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2</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7" name="矩形 6"/>
          <p:cNvSpPr>
            <a:spLocks noChangeArrowheads="1"/>
          </p:cNvSpPr>
          <p:nvPr/>
        </p:nvSpPr>
        <p:spPr bwMode="auto">
          <a:xfrm>
            <a:off x="1445276"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3</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8" name="矩形 6"/>
          <p:cNvSpPr>
            <a:spLocks noChangeArrowheads="1"/>
          </p:cNvSpPr>
          <p:nvPr/>
        </p:nvSpPr>
        <p:spPr bwMode="auto">
          <a:xfrm>
            <a:off x="1732338"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4</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19" name="矩形 6"/>
          <p:cNvSpPr>
            <a:spLocks noChangeArrowheads="1"/>
          </p:cNvSpPr>
          <p:nvPr/>
        </p:nvSpPr>
        <p:spPr bwMode="auto">
          <a:xfrm>
            <a:off x="2019401"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5</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0" name="矩形 6"/>
          <p:cNvSpPr>
            <a:spLocks noChangeArrowheads="1"/>
          </p:cNvSpPr>
          <p:nvPr/>
        </p:nvSpPr>
        <p:spPr bwMode="auto">
          <a:xfrm>
            <a:off x="2306463"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1</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1" name="矩形 6"/>
          <p:cNvSpPr>
            <a:spLocks noChangeArrowheads="1"/>
          </p:cNvSpPr>
          <p:nvPr/>
        </p:nvSpPr>
        <p:spPr bwMode="auto">
          <a:xfrm>
            <a:off x="2593526"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2</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2" name="矩形 6"/>
          <p:cNvSpPr>
            <a:spLocks noChangeArrowheads="1"/>
          </p:cNvSpPr>
          <p:nvPr/>
        </p:nvSpPr>
        <p:spPr bwMode="auto">
          <a:xfrm>
            <a:off x="2880589"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3</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3" name="矩形 6"/>
          <p:cNvSpPr>
            <a:spLocks noChangeArrowheads="1"/>
          </p:cNvSpPr>
          <p:nvPr/>
        </p:nvSpPr>
        <p:spPr bwMode="auto">
          <a:xfrm>
            <a:off x="3167651"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4</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4" name="矩形 6"/>
          <p:cNvSpPr>
            <a:spLocks noChangeArrowheads="1"/>
          </p:cNvSpPr>
          <p:nvPr/>
        </p:nvSpPr>
        <p:spPr bwMode="auto">
          <a:xfrm>
            <a:off x="3454715" y="2091833"/>
            <a:ext cx="287488" cy="252000"/>
          </a:xfrm>
          <a:prstGeom prst="rect">
            <a:avLst/>
          </a:prstGeom>
          <a:solidFill>
            <a:srgbClr val="FFFFFF">
              <a:lumMod val="85000"/>
            </a:srgbClr>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5</a:t>
            </a:r>
            <a:endPar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5" name="右大括号 134"/>
          <p:cNvSpPr/>
          <p:nvPr/>
        </p:nvSpPr>
        <p:spPr bwMode="auto">
          <a:xfrm rot="5400000">
            <a:off x="4792589" y="1443739"/>
            <a:ext cx="432000" cy="2304256"/>
          </a:xfrm>
          <a:prstGeom prst="rightBrace">
            <a:avLst>
              <a:gd name="adj1" fmla="val 28125"/>
              <a:gd name="adj2" fmla="val 50000"/>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7" name="矩形 33"/>
          <p:cNvSpPr>
            <a:spLocks noChangeArrowheads="1"/>
          </p:cNvSpPr>
          <p:nvPr/>
        </p:nvSpPr>
        <p:spPr bwMode="auto">
          <a:xfrm>
            <a:off x="6212791" y="1484784"/>
            <a:ext cx="878819" cy="360000"/>
          </a:xfrm>
          <a:prstGeom prst="rect">
            <a:avLst/>
          </a:prstGeom>
          <a:solidFill>
            <a:srgbClr val="FFFFCC"/>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第</a:t>
            </a:r>
            <a:r>
              <a:rPr lang="zh-CN" altLang="zh-CN" sz="1400" kern="0" dirty="0">
                <a:solidFill>
                  <a:srgbClr val="000000"/>
                </a:solidFill>
                <a:latin typeface="微软雅黑" panose="020B0503020204020204" charset="-122"/>
                <a:ea typeface="微软雅黑" panose="020B0503020204020204" charset="-122"/>
              </a:rPr>
              <a:t>4</a:t>
            </a: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月</a:t>
            </a:r>
          </a:p>
        </p:txBody>
      </p:sp>
      <p:sp>
        <p:nvSpPr>
          <p:cNvPr id="28" name="矩形 38"/>
          <p:cNvSpPr>
            <a:spLocks noChangeArrowheads="1"/>
          </p:cNvSpPr>
          <p:nvPr/>
        </p:nvSpPr>
        <p:spPr bwMode="auto">
          <a:xfrm>
            <a:off x="7024814" y="1484784"/>
            <a:ext cx="878819" cy="360000"/>
          </a:xfrm>
          <a:prstGeom prst="rect">
            <a:avLst/>
          </a:prstGeom>
          <a:solidFill>
            <a:srgbClr val="FFFFCC"/>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第</a:t>
            </a:r>
            <a:r>
              <a:rPr lang="zh-CN" altLang="zh-CN" sz="1400" kern="0" dirty="0">
                <a:solidFill>
                  <a:srgbClr val="000000"/>
                </a:solidFill>
                <a:latin typeface="微软雅黑" panose="020B0503020204020204" charset="-122"/>
                <a:ea typeface="微软雅黑" panose="020B0503020204020204" charset="-122"/>
              </a:rPr>
              <a:t>5</a:t>
            </a: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月</a:t>
            </a:r>
          </a:p>
        </p:txBody>
      </p:sp>
      <p:sp>
        <p:nvSpPr>
          <p:cNvPr id="29" name="矩形 33"/>
          <p:cNvSpPr>
            <a:spLocks noChangeArrowheads="1"/>
          </p:cNvSpPr>
          <p:nvPr/>
        </p:nvSpPr>
        <p:spPr bwMode="auto">
          <a:xfrm>
            <a:off x="7825101" y="1484784"/>
            <a:ext cx="878819" cy="360000"/>
          </a:xfrm>
          <a:prstGeom prst="rect">
            <a:avLst/>
          </a:prstGeom>
          <a:solidFill>
            <a:srgbClr val="FFFFCC"/>
          </a:solidFill>
          <a:ln w="9525" algn="ctr">
            <a:solidFill>
              <a:srgbClr val="000000"/>
            </a:solidFill>
            <a:round/>
          </a:ln>
        </p:spPr>
        <p:txBody>
          <a:bodyPr lIns="90000" tIns="46800" rIns="90000" bIns="4680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第</a:t>
            </a:r>
            <a:r>
              <a:rPr lang="zh-CN" altLang="zh-CN" sz="1400" kern="0" dirty="0">
                <a:solidFill>
                  <a:srgbClr val="000000"/>
                </a:solidFill>
                <a:latin typeface="微软雅黑" panose="020B0503020204020204" charset="-122"/>
                <a:ea typeface="微软雅黑" panose="020B0503020204020204" charset="-122"/>
              </a:rPr>
              <a:t>6</a:t>
            </a:r>
            <a:r>
              <a:rPr kumimoji="0" lang="zh-CN" altLang="en-US"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月</a:t>
            </a:r>
          </a:p>
        </p:txBody>
      </p:sp>
      <p:sp>
        <p:nvSpPr>
          <p:cNvPr id="59" name="右大括号 131"/>
          <p:cNvSpPr/>
          <p:nvPr/>
        </p:nvSpPr>
        <p:spPr bwMode="auto">
          <a:xfrm rot="5400000">
            <a:off x="2092290" y="1191710"/>
            <a:ext cx="432000" cy="2808312"/>
          </a:xfrm>
          <a:prstGeom prst="rightBrace">
            <a:avLst>
              <a:gd name="adj1" fmla="val 28125"/>
              <a:gd name="adj2" fmla="val 48325"/>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0" name="矩形 45"/>
          <p:cNvSpPr>
            <a:spLocks noChangeArrowheads="1"/>
          </p:cNvSpPr>
          <p:nvPr/>
        </p:nvSpPr>
        <p:spPr bwMode="auto">
          <a:xfrm>
            <a:off x="4504534" y="1839833"/>
            <a:ext cx="399463" cy="252000"/>
          </a:xfrm>
          <a:prstGeom prst="rect">
            <a:avLst/>
          </a:prstGeom>
          <a:solidFill>
            <a:srgbClr val="B3EBFF"/>
          </a:solidFill>
          <a:ln w="9525" algn="ctr">
            <a:solidFill>
              <a:srgbClr val="000000"/>
            </a:solidFill>
            <a:round/>
          </a:ln>
        </p:spPr>
        <p:txBody>
          <a:bodyPr lIns="0" tIns="0" rIns="0" bIns="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4</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周</a:t>
            </a:r>
          </a:p>
        </p:txBody>
      </p:sp>
      <p:sp>
        <p:nvSpPr>
          <p:cNvPr id="61" name="矩形 45"/>
          <p:cNvSpPr>
            <a:spLocks noChangeArrowheads="1"/>
          </p:cNvSpPr>
          <p:nvPr/>
        </p:nvSpPr>
        <p:spPr bwMode="auto">
          <a:xfrm>
            <a:off x="5800678" y="1839833"/>
            <a:ext cx="399463" cy="252000"/>
          </a:xfrm>
          <a:prstGeom prst="rect">
            <a:avLst/>
          </a:prstGeom>
          <a:solidFill>
            <a:srgbClr val="B3EBFF"/>
          </a:solidFill>
          <a:ln w="9525" algn="ctr">
            <a:solidFill>
              <a:srgbClr val="000000"/>
            </a:solidFill>
            <a:round/>
          </a:ln>
        </p:spPr>
        <p:txBody>
          <a:bodyPr lIns="0" tIns="0" rIns="0" bIns="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zh-CN" altLang="zh-CN" sz="1200" kern="0" dirty="0">
                <a:solidFill>
                  <a:srgbClr val="000000"/>
                </a:solidFill>
                <a:latin typeface="微软雅黑" panose="020B0503020204020204" charset="-122"/>
                <a:ea typeface="微软雅黑" panose="020B0503020204020204" charset="-122"/>
              </a:rPr>
              <a:t>1</a:t>
            </a:r>
            <a:r>
              <a:rPr lang="en-US" altLang="zh-CN" sz="1200" kern="0" dirty="0">
                <a:solidFill>
                  <a:srgbClr val="000000"/>
                </a:solidFill>
                <a:latin typeface="微软雅黑" panose="020B0503020204020204" charset="-122"/>
                <a:ea typeface="微软雅黑" panose="020B0503020204020204" charset="-122"/>
              </a:rPr>
              <a:t>3</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周</a:t>
            </a:r>
          </a:p>
        </p:txBody>
      </p:sp>
      <p:sp>
        <p:nvSpPr>
          <p:cNvPr id="62" name="矩形 45"/>
          <p:cNvSpPr>
            <a:spLocks noChangeArrowheads="1"/>
          </p:cNvSpPr>
          <p:nvPr/>
        </p:nvSpPr>
        <p:spPr bwMode="auto">
          <a:xfrm>
            <a:off x="4903997" y="1839833"/>
            <a:ext cx="399463" cy="252000"/>
          </a:xfrm>
          <a:prstGeom prst="rect">
            <a:avLst/>
          </a:prstGeom>
          <a:solidFill>
            <a:srgbClr val="B3EBFF"/>
          </a:solidFill>
          <a:ln w="9525" algn="ctr">
            <a:solidFill>
              <a:srgbClr val="000000"/>
            </a:solidFill>
            <a:round/>
          </a:ln>
        </p:spPr>
        <p:txBody>
          <a:bodyPr lIns="0" tIns="0" rIns="0" bIns="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4</a:t>
            </a:r>
            <a:r>
              <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周</a:t>
            </a:r>
          </a:p>
        </p:txBody>
      </p:sp>
      <p:sp>
        <p:nvSpPr>
          <p:cNvPr id="63" name="矩形 45"/>
          <p:cNvSpPr>
            <a:spLocks noChangeArrowheads="1"/>
          </p:cNvSpPr>
          <p:nvPr/>
        </p:nvSpPr>
        <p:spPr bwMode="auto">
          <a:xfrm>
            <a:off x="5296622" y="1839833"/>
            <a:ext cx="507471" cy="252000"/>
          </a:xfrm>
          <a:prstGeom prst="rect">
            <a:avLst/>
          </a:prstGeom>
          <a:solidFill>
            <a:srgbClr val="B3EBFF"/>
          </a:solidFill>
          <a:ln w="9525" algn="ctr">
            <a:solidFill>
              <a:srgbClr val="000000"/>
            </a:solidFill>
            <a:round/>
          </a:ln>
        </p:spPr>
        <p:txBody>
          <a:bodyPr lIns="0" tIns="0" rIns="0" bIns="0" anchor="ct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lang="en-US" altLang="zh-CN" sz="1200" kern="0" noProof="0" dirty="0">
                <a:solidFill>
                  <a:srgbClr val="000000"/>
                </a:solidFill>
                <a:latin typeface="微软雅黑" panose="020B0503020204020204" charset="-122"/>
                <a:ea typeface="微软雅黑" panose="020B0503020204020204" charset="-122"/>
              </a:rPr>
              <a:t>……</a:t>
            </a:r>
            <a:endParaRPr kumimoji="0" lang="zh-CN" altLang="en-US"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65" name="Line 32"/>
          <p:cNvSpPr>
            <a:spLocks noChangeShapeType="1"/>
          </p:cNvSpPr>
          <p:nvPr/>
        </p:nvSpPr>
        <p:spPr bwMode="auto">
          <a:xfrm>
            <a:off x="899592" y="3634334"/>
            <a:ext cx="7704856" cy="10690"/>
          </a:xfrm>
          <a:prstGeom prst="line">
            <a:avLst/>
          </a:prstGeom>
          <a:noFill/>
          <a:ln w="9525">
            <a:solidFill>
              <a:schemeClr val="tx1"/>
            </a:solidFill>
            <a:round/>
          </a:ln>
        </p:spPr>
        <p:txBody>
          <a:bodyPr wrap="square" lIns="0" tIns="46800" rIns="0" bIns="10800" anchor="b">
            <a:spAutoFit/>
          </a:bodyPr>
          <a:lstStyle/>
          <a:p>
            <a:endParaRPr lang="en-US"/>
          </a:p>
        </p:txBody>
      </p:sp>
      <p:sp>
        <p:nvSpPr>
          <p:cNvPr id="66" name="Text Box 26"/>
          <p:cNvSpPr txBox="1">
            <a:spLocks noChangeArrowheads="1"/>
          </p:cNvSpPr>
          <p:nvPr/>
        </p:nvSpPr>
        <p:spPr bwMode="auto">
          <a:xfrm>
            <a:off x="1331640" y="2986262"/>
            <a:ext cx="1799989" cy="360000"/>
          </a:xfrm>
          <a:prstGeom prst="rect">
            <a:avLst/>
          </a:prstGeom>
          <a:solidFill>
            <a:srgbClr val="8EB4E3"/>
          </a:solidFill>
          <a:ln w="9525">
            <a:noFill/>
            <a:miter lim="800000"/>
          </a:ln>
        </p:spPr>
        <p:txBody>
          <a:bodyPr wrap="square" lIns="0" tIns="0" rIns="0" bIns="0" anchor="t">
            <a:spAutoFit/>
          </a:bodyPr>
          <a:lstStyle/>
          <a:p>
            <a:pPr marL="274955" indent="-274955" algn="ctr" eaLnBrk="0" hangingPunct="0">
              <a:lnSpc>
                <a:spcPct val="130000"/>
              </a:lnSpc>
              <a:spcBef>
                <a:spcPct val="25000"/>
              </a:spcBef>
              <a:buClr>
                <a:schemeClr val="tx1"/>
              </a:buClr>
              <a:buFont typeface="Arial" panose="020B0604020202020204" pitchFamily="34" charset="0"/>
              <a:buNone/>
              <a:defRPr/>
            </a:pPr>
            <a:r>
              <a:rPr lang="zh-CN" altLang="en-US" sz="1600" dirty="0">
                <a:latin typeface="微软雅黑" panose="020B0503020204020204" charset="-122"/>
                <a:ea typeface="微软雅黑" panose="020B0503020204020204" charset="-122"/>
                <a:cs typeface="+mj-cs"/>
              </a:rPr>
              <a:t>未来</a:t>
            </a:r>
            <a:r>
              <a:rPr lang="en-US" altLang="zh-CN" sz="1600" dirty="0">
                <a:latin typeface="微软雅黑" panose="020B0503020204020204" charset="-122"/>
                <a:ea typeface="微软雅黑" panose="020B0503020204020204" charset="-122"/>
                <a:cs typeface="+mj-cs"/>
              </a:rPr>
              <a:t>2</a:t>
            </a:r>
            <a:r>
              <a:rPr lang="zh-CN" altLang="en-US" sz="1600" dirty="0">
                <a:latin typeface="微软雅黑" panose="020B0503020204020204" charset="-122"/>
                <a:ea typeface="微软雅黑" panose="020B0503020204020204" charset="-122"/>
                <a:cs typeface="+mj-cs"/>
              </a:rPr>
              <a:t>周</a:t>
            </a:r>
          </a:p>
        </p:txBody>
      </p:sp>
      <p:sp>
        <p:nvSpPr>
          <p:cNvPr id="67" name="Text Box 26"/>
          <p:cNvSpPr txBox="1">
            <a:spLocks noChangeArrowheads="1"/>
          </p:cNvSpPr>
          <p:nvPr/>
        </p:nvSpPr>
        <p:spPr bwMode="auto">
          <a:xfrm>
            <a:off x="4140163" y="2986262"/>
            <a:ext cx="1799989" cy="360000"/>
          </a:xfrm>
          <a:prstGeom prst="rect">
            <a:avLst/>
          </a:prstGeom>
          <a:solidFill>
            <a:srgbClr val="8EB4E3"/>
          </a:solidFill>
          <a:ln>
            <a:noFill/>
          </a:ln>
        </p:spPr>
        <p:txBody>
          <a:bodyPr wrap="square" lIns="0" tIns="0" rIns="0" bIns="0" anchor="t">
            <a:spAutoFit/>
          </a:bodyPr>
          <a:lstStyle>
            <a:lvl1pPr marL="274955" indent="-274955"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a:lnSpc>
                <a:spcPct val="130000"/>
              </a:lnSpc>
              <a:spcBef>
                <a:spcPct val="25000"/>
              </a:spcBef>
              <a:buClr>
                <a:schemeClr val="tx1"/>
              </a:buClr>
              <a:buFont typeface="Arial" panose="020B0604020202020204" pitchFamily="34" charset="0"/>
              <a:buNone/>
            </a:pPr>
            <a:r>
              <a:rPr lang="zh-CN" altLang="en-US" sz="1600" dirty="0">
                <a:latin typeface="微软雅黑" panose="020B0503020204020204" charset="-122"/>
                <a:ea typeface="微软雅黑" panose="020B0503020204020204" charset="-122"/>
                <a:cs typeface="+mj-cs"/>
              </a:rPr>
              <a:t>未来</a:t>
            </a:r>
            <a:r>
              <a:rPr lang="en-US" altLang="zh-CN" sz="1600" dirty="0">
                <a:latin typeface="微软雅黑" panose="020B0503020204020204" charset="-122"/>
                <a:ea typeface="微软雅黑" panose="020B0503020204020204" charset="-122"/>
                <a:cs typeface="+mj-cs"/>
              </a:rPr>
              <a:t>13</a:t>
            </a:r>
            <a:r>
              <a:rPr lang="zh-CN" altLang="en-US" sz="1600" dirty="0">
                <a:latin typeface="微软雅黑" panose="020B0503020204020204" charset="-122"/>
                <a:ea typeface="微软雅黑" panose="020B0503020204020204" charset="-122"/>
                <a:cs typeface="+mj-cs"/>
              </a:rPr>
              <a:t>周</a:t>
            </a:r>
          </a:p>
        </p:txBody>
      </p:sp>
      <p:sp>
        <p:nvSpPr>
          <p:cNvPr id="68" name="Text Box 26"/>
          <p:cNvSpPr txBox="1">
            <a:spLocks noChangeArrowheads="1"/>
          </p:cNvSpPr>
          <p:nvPr/>
        </p:nvSpPr>
        <p:spPr bwMode="auto">
          <a:xfrm>
            <a:off x="6588224" y="2986262"/>
            <a:ext cx="1799989" cy="360000"/>
          </a:xfrm>
          <a:prstGeom prst="rect">
            <a:avLst/>
          </a:prstGeom>
          <a:solidFill>
            <a:srgbClr val="8EB4E3"/>
          </a:solidFill>
          <a:ln>
            <a:noFill/>
          </a:ln>
        </p:spPr>
        <p:txBody>
          <a:bodyPr wrap="square" lIns="0" tIns="0" rIns="0" bIns="0" anchor="t">
            <a:spAutoFit/>
          </a:bodyPr>
          <a:lstStyle>
            <a:lvl1pPr marL="274955" indent="-274955"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a:lnSpc>
                <a:spcPct val="130000"/>
              </a:lnSpc>
              <a:spcBef>
                <a:spcPct val="25000"/>
              </a:spcBef>
              <a:buClr>
                <a:schemeClr val="tx1"/>
              </a:buClr>
            </a:pPr>
            <a:r>
              <a:rPr lang="zh-CN" altLang="en-US" sz="1600" dirty="0">
                <a:latin typeface="微软雅黑" panose="020B0503020204020204" charset="-122"/>
                <a:ea typeface="微软雅黑" panose="020B0503020204020204" charset="-122"/>
                <a:cs typeface="+mj-cs"/>
              </a:rPr>
              <a:t>未来</a:t>
            </a:r>
            <a:r>
              <a:rPr lang="en-US" altLang="zh-CN" sz="1600" dirty="0">
                <a:latin typeface="微软雅黑" panose="020B0503020204020204" charset="-122"/>
                <a:ea typeface="微软雅黑" panose="020B0503020204020204" charset="-122"/>
                <a:cs typeface="+mj-cs"/>
              </a:rPr>
              <a:t>2+4</a:t>
            </a:r>
            <a:r>
              <a:rPr lang="zh-CN" altLang="en-US" sz="1600" dirty="0">
                <a:latin typeface="微软雅黑" panose="020B0503020204020204" charset="-122"/>
                <a:ea typeface="微软雅黑" panose="020B0503020204020204" charset="-122"/>
                <a:cs typeface="+mj-cs"/>
              </a:rPr>
              <a:t>月</a:t>
            </a:r>
          </a:p>
        </p:txBody>
      </p:sp>
      <p:sp>
        <p:nvSpPr>
          <p:cNvPr id="69" name="TextBox 68"/>
          <p:cNvSpPr txBox="1"/>
          <p:nvPr/>
        </p:nvSpPr>
        <p:spPr bwMode="auto">
          <a:xfrm>
            <a:off x="5832093" y="5301624"/>
            <a:ext cx="184666" cy="276999"/>
          </a:xfrm>
          <a:prstGeom prst="rect">
            <a:avLst/>
          </a:prstGeom>
          <a:noFill/>
          <a:ln>
            <a:noFill/>
          </a:ln>
        </p:spPr>
        <p:txBody>
          <a:bodyPr wrap="none" rtlCol="0">
            <a:spAutoFit/>
          </a:bodyPr>
          <a:lstStyle/>
          <a:p>
            <a:endParaRPr kumimoji="1" 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70" name="Rectangle 25"/>
          <p:cNvSpPr>
            <a:spLocks noChangeArrowheads="1"/>
          </p:cNvSpPr>
          <p:nvPr/>
        </p:nvSpPr>
        <p:spPr bwMode="auto">
          <a:xfrm>
            <a:off x="1126680" y="3698895"/>
            <a:ext cx="2437208" cy="529061"/>
          </a:xfrm>
          <a:prstGeom prst="rect">
            <a:avLst/>
          </a:prstGeom>
          <a:noFill/>
          <a:ln w="9525" algn="ctr">
            <a:solidFill>
              <a:srgbClr val="FFFFFF"/>
            </a:solidFill>
            <a:miter lim="800000"/>
          </a:ln>
        </p:spPr>
        <p:txBody>
          <a:bodyPr wrap="square" lIns="0" tIns="46800" rIns="0" bIns="10800" anchor="ctr">
            <a:spAutoFit/>
          </a:bodyPr>
          <a:lstStyle/>
          <a:p>
            <a:pPr marL="93980" indent="-93980" eaLnBrk="0" hangingPunct="0">
              <a:lnSpc>
                <a:spcPct val="13000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周二双周驱动计划会议</a:t>
            </a:r>
          </a:p>
          <a:p>
            <a:pPr marL="109855" indent="-109855" eaLnBrk="0" hangingPunct="0">
              <a:lnSpc>
                <a:spcPct val="13000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周四回顾调整、日常监控</a:t>
            </a:r>
          </a:p>
        </p:txBody>
      </p:sp>
      <p:sp>
        <p:nvSpPr>
          <p:cNvPr id="71" name="Rectangle 26"/>
          <p:cNvSpPr>
            <a:spLocks noChangeArrowheads="1"/>
          </p:cNvSpPr>
          <p:nvPr/>
        </p:nvSpPr>
        <p:spPr bwMode="auto">
          <a:xfrm>
            <a:off x="4267653" y="3742351"/>
            <a:ext cx="1224136" cy="529061"/>
          </a:xfrm>
          <a:prstGeom prst="rect">
            <a:avLst/>
          </a:prstGeom>
          <a:noFill/>
          <a:ln>
            <a:noFill/>
          </a:ln>
        </p:spPr>
        <p:txBody>
          <a:bodyPr wrap="square" lIns="0" tIns="46800" rIns="0" bIns="10800" anchor="ctr">
            <a:spAutoFit/>
          </a:bodyPr>
          <a:lstStyle/>
          <a:p>
            <a:pPr marL="93980" indent="-93980" eaLnBrk="0" hangingPunct="0">
              <a:lnSpc>
                <a:spcPct val="13000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依据需求计划每</a:t>
            </a:r>
            <a:r>
              <a:rPr lang="zh-CN" altLang="zh-CN" sz="1200" dirty="0">
                <a:latin typeface="微软雅黑" panose="020B0503020204020204" charset="-122"/>
                <a:ea typeface="微软雅黑" panose="020B0503020204020204" charset="-122"/>
                <a:cs typeface="+mj-cs"/>
              </a:rPr>
              <a:t>1</a:t>
            </a:r>
            <a:r>
              <a:rPr lang="en-US" altLang="zh-CN" sz="1200" dirty="0">
                <a:latin typeface="微软雅黑" panose="020B0503020204020204" charset="-122"/>
                <a:ea typeface="微软雅黑" panose="020B0503020204020204" charset="-122"/>
                <a:cs typeface="+mj-cs"/>
              </a:rPr>
              <a:t>0</a:t>
            </a:r>
            <a:r>
              <a:rPr lang="zh-CN" altLang="en-US" sz="1200" dirty="0">
                <a:latin typeface="微软雅黑" panose="020B0503020204020204" charset="-122"/>
                <a:ea typeface="微软雅黑" panose="020B0503020204020204" charset="-122"/>
                <a:cs typeface="+mj-cs"/>
              </a:rPr>
              <a:t>天调整</a:t>
            </a:r>
          </a:p>
        </p:txBody>
      </p:sp>
      <p:sp>
        <p:nvSpPr>
          <p:cNvPr id="72" name="Rectangle 27"/>
          <p:cNvSpPr>
            <a:spLocks noChangeArrowheads="1"/>
          </p:cNvSpPr>
          <p:nvPr/>
        </p:nvSpPr>
        <p:spPr bwMode="auto">
          <a:xfrm>
            <a:off x="6876256" y="3727963"/>
            <a:ext cx="1728192" cy="529061"/>
          </a:xfrm>
          <a:prstGeom prst="rect">
            <a:avLst/>
          </a:prstGeom>
          <a:noFill/>
          <a:ln>
            <a:noFill/>
          </a:ln>
        </p:spPr>
        <p:txBody>
          <a:bodyPr wrap="square" lIns="0" tIns="46800" rIns="0" bIns="10800" anchor="ctr">
            <a:spAutoFit/>
          </a:bodyPr>
          <a:lstStyle/>
          <a:p>
            <a:pPr marL="93980" indent="-93980" eaLnBrk="0" hangingPunct="0">
              <a:lnSpc>
                <a:spcPct val="13000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每月需求计划</a:t>
            </a:r>
            <a:r>
              <a:rPr lang="en-US" altLang="zh-CN" sz="1200" dirty="0">
                <a:latin typeface="微软雅黑" panose="020B0503020204020204" charset="-122"/>
                <a:ea typeface="微软雅黑" panose="020B0503020204020204" charset="-122"/>
                <a:cs typeface="+mj-cs"/>
              </a:rPr>
              <a:t>/S&amp;OP</a:t>
            </a:r>
            <a:r>
              <a:rPr lang="zh-CN" altLang="en-US" sz="1200" dirty="0">
                <a:latin typeface="微软雅黑" panose="020B0503020204020204" charset="-122"/>
                <a:ea typeface="微软雅黑" panose="020B0503020204020204" charset="-122"/>
                <a:cs typeface="+mj-cs"/>
              </a:rPr>
              <a:t>计划共识会</a:t>
            </a:r>
          </a:p>
        </p:txBody>
      </p:sp>
      <p:sp>
        <p:nvSpPr>
          <p:cNvPr id="73" name="Rectangle 22"/>
          <p:cNvSpPr>
            <a:spLocks noChangeArrowheads="1"/>
          </p:cNvSpPr>
          <p:nvPr/>
        </p:nvSpPr>
        <p:spPr bwMode="auto">
          <a:xfrm>
            <a:off x="251520" y="3645024"/>
            <a:ext cx="504048" cy="612000"/>
          </a:xfrm>
          <a:prstGeom prst="rect">
            <a:avLst/>
          </a:prstGeom>
          <a:solidFill>
            <a:schemeClr val="tx2">
              <a:lumMod val="40000"/>
              <a:lumOff val="60000"/>
            </a:schemeClr>
          </a:solidFill>
          <a:ln>
            <a:noFill/>
          </a:ln>
        </p:spPr>
        <p:txBody>
          <a:bodyPr wrap="square" lIns="0" tIns="46800" rIns="0" bIns="10800" anchor="ctr">
            <a:spAutoFit/>
          </a:bodyPr>
          <a:lstStyle/>
          <a:p>
            <a:pPr marL="165735" indent="-274955" algn="ctr" eaLnBrk="0" hangingPunct="0">
              <a:buClr>
                <a:schemeClr val="tx1"/>
              </a:buClr>
            </a:pPr>
            <a:r>
              <a:rPr lang="zh-CN" altLang="en-US" sz="1600" dirty="0">
                <a:latin typeface="微软雅黑" panose="020B0503020204020204" charset="-122"/>
                <a:ea typeface="微软雅黑" panose="020B0503020204020204" charset="-122"/>
                <a:cs typeface="+mj-cs"/>
              </a:rPr>
              <a:t>模</a:t>
            </a:r>
            <a:endParaRPr lang="en-US" altLang="zh-CN" sz="1600" dirty="0">
              <a:latin typeface="微软雅黑" panose="020B0503020204020204" charset="-122"/>
              <a:ea typeface="微软雅黑" panose="020B0503020204020204" charset="-122"/>
              <a:cs typeface="+mj-cs"/>
            </a:endParaRPr>
          </a:p>
          <a:p>
            <a:pPr marL="165735" indent="-274955" algn="ctr" eaLnBrk="0" hangingPunct="0">
              <a:buClr>
                <a:schemeClr val="tx1"/>
              </a:buClr>
            </a:pPr>
            <a:r>
              <a:rPr lang="zh-CN" altLang="en-US" sz="1600" dirty="0">
                <a:latin typeface="微软雅黑" panose="020B0503020204020204" charset="-122"/>
                <a:ea typeface="微软雅黑" panose="020B0503020204020204" charset="-122"/>
                <a:cs typeface="+mj-cs"/>
              </a:rPr>
              <a:t>式</a:t>
            </a:r>
          </a:p>
        </p:txBody>
      </p:sp>
      <p:sp>
        <p:nvSpPr>
          <p:cNvPr id="74" name="Rectangle 22"/>
          <p:cNvSpPr>
            <a:spLocks noChangeArrowheads="1"/>
          </p:cNvSpPr>
          <p:nvPr/>
        </p:nvSpPr>
        <p:spPr bwMode="auto">
          <a:xfrm>
            <a:off x="251520" y="4509120"/>
            <a:ext cx="504056" cy="719999"/>
          </a:xfrm>
          <a:prstGeom prst="rect">
            <a:avLst/>
          </a:prstGeom>
          <a:solidFill>
            <a:srgbClr val="8EB4E3"/>
          </a:solidFill>
          <a:ln>
            <a:noFill/>
          </a:ln>
        </p:spPr>
        <p:txBody>
          <a:bodyPr wrap="square" lIns="0" tIns="46800" rIns="0" bIns="10800" anchor="ctr">
            <a:spAutoFit/>
          </a:bodyPr>
          <a:lstStyle/>
          <a:p>
            <a:pPr marL="165735" indent="-274955" algn="ctr" eaLnBrk="0" hangingPunct="0">
              <a:buClr>
                <a:schemeClr val="tx1"/>
              </a:buClr>
            </a:pPr>
            <a:r>
              <a:rPr lang="zh-CN" altLang="en-US" sz="1600" dirty="0">
                <a:latin typeface="微软雅黑" panose="020B0503020204020204" charset="-122"/>
                <a:ea typeface="微软雅黑" panose="020B0503020204020204" charset="-122"/>
                <a:cs typeface="+mj-cs"/>
              </a:rPr>
              <a:t>关</a:t>
            </a:r>
            <a:endParaRPr lang="en-US" altLang="zh-CN" sz="1600" dirty="0">
              <a:latin typeface="微软雅黑" panose="020B0503020204020204" charset="-122"/>
              <a:ea typeface="微软雅黑" panose="020B0503020204020204" charset="-122"/>
              <a:cs typeface="+mj-cs"/>
            </a:endParaRPr>
          </a:p>
          <a:p>
            <a:pPr marL="165735" indent="-274955" algn="ctr" eaLnBrk="0" hangingPunct="0">
              <a:buClr>
                <a:schemeClr val="tx1"/>
              </a:buClr>
            </a:pPr>
            <a:r>
              <a:rPr lang="zh-CN" altLang="en-US" sz="1600" dirty="0">
                <a:latin typeface="微软雅黑" panose="020B0503020204020204" charset="-122"/>
                <a:ea typeface="微软雅黑" panose="020B0503020204020204" charset="-122"/>
                <a:cs typeface="+mj-cs"/>
              </a:rPr>
              <a:t>注</a:t>
            </a:r>
            <a:endParaRPr lang="en-US" altLang="zh-CN" sz="1600" dirty="0">
              <a:latin typeface="微软雅黑" panose="020B0503020204020204" charset="-122"/>
              <a:ea typeface="微软雅黑" panose="020B0503020204020204" charset="-122"/>
              <a:cs typeface="+mj-cs"/>
            </a:endParaRPr>
          </a:p>
          <a:p>
            <a:pPr marL="165735" indent="-274955" algn="ctr" eaLnBrk="0" hangingPunct="0">
              <a:buClr>
                <a:schemeClr val="tx1"/>
              </a:buClr>
            </a:pPr>
            <a:r>
              <a:rPr lang="zh-CN" altLang="en-US" sz="1600" dirty="0">
                <a:latin typeface="微软雅黑" panose="020B0503020204020204" charset="-122"/>
                <a:ea typeface="微软雅黑" panose="020B0503020204020204" charset="-122"/>
                <a:cs typeface="+mj-cs"/>
              </a:rPr>
              <a:t>点</a:t>
            </a:r>
          </a:p>
        </p:txBody>
      </p:sp>
      <p:sp>
        <p:nvSpPr>
          <p:cNvPr id="76" name="Rectangle 29"/>
          <p:cNvSpPr>
            <a:spLocks noChangeArrowheads="1"/>
          </p:cNvSpPr>
          <p:nvPr/>
        </p:nvSpPr>
        <p:spPr bwMode="auto">
          <a:xfrm>
            <a:off x="4267653" y="4617938"/>
            <a:ext cx="1312459" cy="565994"/>
          </a:xfrm>
          <a:prstGeom prst="rect">
            <a:avLst/>
          </a:prstGeom>
          <a:noFill/>
          <a:ln>
            <a:noFill/>
          </a:ln>
        </p:spPr>
        <p:txBody>
          <a:bodyPr wrap="square" lIns="0" tIns="46800" rIns="0" bIns="10800" anchor="ctr">
            <a:spAutoFit/>
          </a:bodyPr>
          <a:lstStyle/>
          <a:p>
            <a:pPr marL="93980" indent="-93980" eaLnBrk="0" hangingPunct="0">
              <a:lnSpc>
                <a:spcPct val="130000"/>
              </a:lnSpc>
              <a:spcBef>
                <a:spcPct val="20000"/>
              </a:spcBef>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月总量准确率控制</a:t>
            </a:r>
            <a:endParaRPr lang="en-US" altLang="zh-CN" sz="1200" dirty="0">
              <a:latin typeface="微软雅黑" panose="020B0503020204020204" charset="-122"/>
              <a:ea typeface="微软雅黑" panose="020B0503020204020204" charset="-122"/>
              <a:cs typeface="+mj-cs"/>
            </a:endParaRPr>
          </a:p>
          <a:p>
            <a:pPr marL="93980" indent="-93980" eaLnBrk="0" hangingPunct="0">
              <a:lnSpc>
                <a:spcPct val="130000"/>
              </a:lnSpc>
              <a:spcBef>
                <a:spcPct val="20000"/>
              </a:spcBef>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意向订单信息</a:t>
            </a:r>
          </a:p>
        </p:txBody>
      </p:sp>
      <p:sp>
        <p:nvSpPr>
          <p:cNvPr id="77" name="右大括号 134"/>
          <p:cNvSpPr/>
          <p:nvPr/>
        </p:nvSpPr>
        <p:spPr bwMode="auto">
          <a:xfrm rot="5400000">
            <a:off x="7247496" y="1437106"/>
            <a:ext cx="401063" cy="2286586"/>
          </a:xfrm>
          <a:prstGeom prst="rightBrace">
            <a:avLst>
              <a:gd name="adj1" fmla="val 28125"/>
              <a:gd name="adj2" fmla="val 50000"/>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8" name="Line 24"/>
          <p:cNvSpPr>
            <a:spLocks noChangeShapeType="1"/>
          </p:cNvSpPr>
          <p:nvPr/>
        </p:nvSpPr>
        <p:spPr bwMode="auto">
          <a:xfrm>
            <a:off x="899592" y="4437112"/>
            <a:ext cx="7704000" cy="0"/>
          </a:xfrm>
          <a:prstGeom prst="line">
            <a:avLst/>
          </a:prstGeom>
          <a:noFill/>
          <a:ln w="9525">
            <a:solidFill>
              <a:schemeClr val="tx1"/>
            </a:solidFill>
            <a:round/>
          </a:ln>
        </p:spPr>
        <p:txBody>
          <a:bodyPr wrap="square" lIns="0" tIns="46800" rIns="0" bIns="10800" anchor="b">
            <a:spAutoFit/>
          </a:bodyPr>
          <a:lstStyle/>
          <a:p>
            <a:endParaRPr lang="en-US"/>
          </a:p>
        </p:txBody>
      </p:sp>
      <p:sp>
        <p:nvSpPr>
          <p:cNvPr id="79" name="Line 37"/>
          <p:cNvSpPr>
            <a:spLocks noChangeShapeType="1"/>
          </p:cNvSpPr>
          <p:nvPr/>
        </p:nvSpPr>
        <p:spPr bwMode="auto">
          <a:xfrm>
            <a:off x="899592" y="5362526"/>
            <a:ext cx="7704000" cy="10690"/>
          </a:xfrm>
          <a:prstGeom prst="line">
            <a:avLst/>
          </a:prstGeom>
          <a:noFill/>
          <a:ln w="9525">
            <a:solidFill>
              <a:schemeClr val="tx1"/>
            </a:solidFill>
            <a:round/>
          </a:ln>
        </p:spPr>
        <p:txBody>
          <a:bodyPr wrap="square" lIns="0" tIns="46800" rIns="0" bIns="10800" anchor="b">
            <a:spAutoFit/>
          </a:bodyPr>
          <a:lstStyle/>
          <a:p>
            <a:endParaRPr lang="en-US"/>
          </a:p>
        </p:txBody>
      </p:sp>
      <p:sp>
        <p:nvSpPr>
          <p:cNvPr id="82" name="Rectangle 25"/>
          <p:cNvSpPr>
            <a:spLocks noChangeArrowheads="1"/>
          </p:cNvSpPr>
          <p:nvPr/>
        </p:nvSpPr>
        <p:spPr bwMode="auto">
          <a:xfrm>
            <a:off x="1126680" y="4509120"/>
            <a:ext cx="2437208" cy="769126"/>
          </a:xfrm>
          <a:prstGeom prst="rect">
            <a:avLst/>
          </a:prstGeom>
          <a:noFill/>
          <a:ln w="9525" algn="ctr">
            <a:solidFill>
              <a:srgbClr val="FFFFFF"/>
            </a:solidFill>
            <a:miter lim="800000"/>
          </a:ln>
        </p:spPr>
        <p:txBody>
          <a:bodyPr wrap="square" lIns="0" tIns="46800" rIns="0" bIns="10800" anchor="ctr">
            <a:spAutoFit/>
          </a:bodyPr>
          <a:lstStyle/>
          <a:p>
            <a:pPr marL="93980" indent="-93980" eaLnBrk="0" hangingPunct="0">
              <a:lnSpc>
                <a:spcPct val="13000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周总量</a:t>
            </a:r>
            <a:endParaRPr lang="en-US" altLang="zh-CN" sz="1200" dirty="0">
              <a:latin typeface="微软雅黑" panose="020B0503020204020204" charset="-122"/>
              <a:ea typeface="微软雅黑" panose="020B0503020204020204" charset="-122"/>
              <a:cs typeface="+mj-cs"/>
            </a:endParaRPr>
          </a:p>
          <a:p>
            <a:pPr marL="93980" indent="-93980" eaLnBrk="0" hangingPunct="0">
              <a:lnSpc>
                <a:spcPct val="13000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订单交付问题</a:t>
            </a:r>
            <a:endParaRPr lang="en-US" altLang="zh-CN" sz="1200" dirty="0">
              <a:latin typeface="微软雅黑" panose="020B0503020204020204" charset="-122"/>
              <a:ea typeface="微软雅黑" panose="020B0503020204020204" charset="-122"/>
              <a:cs typeface="+mj-cs"/>
            </a:endParaRPr>
          </a:p>
          <a:p>
            <a:pPr marL="93980" indent="-93980" eaLnBrk="0" hangingPunct="0">
              <a:lnSpc>
                <a:spcPct val="130000"/>
              </a:lnSpc>
              <a:buClr>
                <a:schemeClr val="tx1"/>
              </a:buClr>
              <a:buFont typeface="Arial" panose="020B0604020202020204"/>
              <a:buChar char="•"/>
              <a:tabLst>
                <a:tab pos="93345" algn="l"/>
                <a:tab pos="626745" algn="l"/>
              </a:tabLst>
            </a:pPr>
            <a:r>
              <a:rPr lang="zh-CN" altLang="en-US" sz="1200" dirty="0">
                <a:latin typeface="微软雅黑" panose="020B0503020204020204" charset="-122"/>
                <a:ea typeface="微软雅黑" panose="020B0503020204020204" charset="-122"/>
                <a:cs typeface="+mj-cs"/>
              </a:rPr>
              <a:t>关键物料瓶颈</a:t>
            </a:r>
          </a:p>
        </p:txBody>
      </p:sp>
      <p:sp>
        <p:nvSpPr>
          <p:cNvPr id="83" name="Rectangle 29"/>
          <p:cNvSpPr>
            <a:spLocks noChangeArrowheads="1"/>
          </p:cNvSpPr>
          <p:nvPr/>
        </p:nvSpPr>
        <p:spPr bwMode="auto">
          <a:xfrm>
            <a:off x="6876256" y="4751092"/>
            <a:ext cx="1528483" cy="288995"/>
          </a:xfrm>
          <a:prstGeom prst="rect">
            <a:avLst/>
          </a:prstGeom>
          <a:noFill/>
          <a:ln>
            <a:noFill/>
          </a:ln>
        </p:spPr>
        <p:txBody>
          <a:bodyPr lIns="0" tIns="46800" rIns="0" bIns="10800" anchor="ctr">
            <a:spAutoFit/>
          </a:bodyPr>
          <a:lstStyle/>
          <a:p>
            <a:pPr marL="93980" indent="-93980" eaLnBrk="0" hangingPunct="0">
              <a:lnSpc>
                <a:spcPct val="130000"/>
              </a:lnSpc>
              <a:spcBef>
                <a:spcPct val="20000"/>
              </a:spcBef>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车型总量准确率控制</a:t>
            </a:r>
          </a:p>
        </p:txBody>
      </p:sp>
      <p:sp>
        <p:nvSpPr>
          <p:cNvPr id="84" name="TextBox 83"/>
          <p:cNvSpPr txBox="1"/>
          <p:nvPr/>
        </p:nvSpPr>
        <p:spPr bwMode="auto">
          <a:xfrm>
            <a:off x="9140081" y="2069748"/>
            <a:ext cx="184666" cy="369332"/>
          </a:xfrm>
          <a:prstGeom prst="rect">
            <a:avLst/>
          </a:prstGeom>
          <a:noFill/>
          <a:ln>
            <a:noFill/>
          </a:ln>
        </p:spPr>
        <p:txBody>
          <a:bodyPr wrap="none" rtlCol="0">
            <a:spAutoFit/>
          </a:bodyPr>
          <a:lstStyle/>
          <a:p>
            <a:endParaRPr kumimoji="1" lang="en-US"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5" name="TextBox 84"/>
          <p:cNvSpPr txBox="1"/>
          <p:nvPr/>
        </p:nvSpPr>
        <p:spPr bwMode="auto">
          <a:xfrm>
            <a:off x="5821029" y="6320280"/>
            <a:ext cx="184666" cy="276999"/>
          </a:xfrm>
          <a:prstGeom prst="rect">
            <a:avLst/>
          </a:prstGeom>
          <a:noFill/>
          <a:ln>
            <a:noFill/>
          </a:ln>
        </p:spPr>
        <p:txBody>
          <a:bodyPr wrap="none" rtlCol="0">
            <a:spAutoFit/>
          </a:bodyPr>
          <a:lstStyle/>
          <a:p>
            <a:endParaRPr kumimoji="1" 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6" name="Rectangle 22"/>
          <p:cNvSpPr>
            <a:spLocks noChangeArrowheads="1"/>
          </p:cNvSpPr>
          <p:nvPr/>
        </p:nvSpPr>
        <p:spPr bwMode="auto">
          <a:xfrm>
            <a:off x="240456" y="5517232"/>
            <a:ext cx="504056" cy="719999"/>
          </a:xfrm>
          <a:prstGeom prst="rect">
            <a:avLst/>
          </a:prstGeom>
          <a:solidFill>
            <a:srgbClr val="8EB4E3"/>
          </a:solidFill>
          <a:ln>
            <a:noFill/>
          </a:ln>
        </p:spPr>
        <p:txBody>
          <a:bodyPr wrap="square" lIns="0" tIns="46800" rIns="0" bIns="10800" anchor="ctr">
            <a:spAutoFit/>
          </a:bodyPr>
          <a:lstStyle/>
          <a:p>
            <a:pPr marL="165735" indent="-274955" algn="ctr" eaLnBrk="0" hangingPunct="0">
              <a:buClr>
                <a:schemeClr val="tx1"/>
              </a:buClr>
            </a:pPr>
            <a:r>
              <a:rPr lang="zh-CN" altLang="en-US" sz="1600" dirty="0">
                <a:latin typeface="微软雅黑" panose="020B0503020204020204" charset="-122"/>
                <a:ea typeface="微软雅黑" panose="020B0503020204020204" charset="-122"/>
                <a:cs typeface="+mj-cs"/>
              </a:rPr>
              <a:t>指</a:t>
            </a:r>
            <a:endParaRPr lang="en-US" altLang="zh-CN" sz="1600" dirty="0">
              <a:latin typeface="微软雅黑" panose="020B0503020204020204" charset="-122"/>
              <a:ea typeface="微软雅黑" panose="020B0503020204020204" charset="-122"/>
              <a:cs typeface="+mj-cs"/>
            </a:endParaRPr>
          </a:p>
          <a:p>
            <a:pPr marL="165735" indent="-274955" algn="ctr" eaLnBrk="0" hangingPunct="0">
              <a:buClr>
                <a:schemeClr val="tx1"/>
              </a:buClr>
            </a:pPr>
            <a:r>
              <a:rPr lang="zh-CN" altLang="en-US" sz="1600" dirty="0">
                <a:latin typeface="微软雅黑" panose="020B0503020204020204" charset="-122"/>
                <a:ea typeface="微软雅黑" panose="020B0503020204020204" charset="-122"/>
                <a:cs typeface="+mj-cs"/>
              </a:rPr>
              <a:t>导</a:t>
            </a:r>
            <a:endParaRPr lang="en-US" altLang="zh-CN" sz="1600" dirty="0">
              <a:latin typeface="微软雅黑" panose="020B0503020204020204" charset="-122"/>
              <a:ea typeface="微软雅黑" panose="020B0503020204020204" charset="-122"/>
              <a:cs typeface="+mj-cs"/>
            </a:endParaRPr>
          </a:p>
          <a:p>
            <a:pPr marL="165735" indent="-274955" algn="ctr" eaLnBrk="0" hangingPunct="0">
              <a:buClr>
                <a:schemeClr val="tx1"/>
              </a:buClr>
            </a:pPr>
            <a:r>
              <a:rPr lang="zh-CN" altLang="en-US" sz="1600" dirty="0">
                <a:latin typeface="微软雅黑" panose="020B0503020204020204" charset="-122"/>
                <a:ea typeface="微软雅黑" panose="020B0503020204020204" charset="-122"/>
                <a:cs typeface="+mj-cs"/>
              </a:rPr>
              <a:t>性</a:t>
            </a:r>
            <a:endParaRPr lang="en-US" altLang="zh-CN" sz="1600" dirty="0">
              <a:latin typeface="微软雅黑" panose="020B0503020204020204" charset="-122"/>
              <a:ea typeface="微软雅黑" panose="020B0503020204020204" charset="-122"/>
              <a:cs typeface="+mj-cs"/>
            </a:endParaRPr>
          </a:p>
        </p:txBody>
      </p:sp>
      <p:sp>
        <p:nvSpPr>
          <p:cNvPr id="87" name="Rectangle 29"/>
          <p:cNvSpPr>
            <a:spLocks noChangeArrowheads="1"/>
          </p:cNvSpPr>
          <p:nvPr/>
        </p:nvSpPr>
        <p:spPr bwMode="auto">
          <a:xfrm>
            <a:off x="4256589" y="5485571"/>
            <a:ext cx="1312459" cy="796826"/>
          </a:xfrm>
          <a:prstGeom prst="rect">
            <a:avLst/>
          </a:prstGeom>
          <a:noFill/>
          <a:ln>
            <a:noFill/>
          </a:ln>
        </p:spPr>
        <p:txBody>
          <a:bodyPr wrap="square" lIns="0" tIns="46800" rIns="0" bIns="10800" anchor="ctr">
            <a:spAutoFit/>
          </a:bodyPr>
          <a:lstStyle/>
          <a:p>
            <a:pPr marL="93980" indent="-93980" eaLnBrk="0" hangingPunct="0">
              <a:lnSpc>
                <a:spcPts val="144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指导供应商准备成品及半成品</a:t>
            </a:r>
            <a:endParaRPr lang="en-US" altLang="zh-CN" sz="1200" dirty="0">
              <a:latin typeface="微软雅黑" panose="020B0503020204020204" charset="-122"/>
              <a:ea typeface="微软雅黑" panose="020B0503020204020204" charset="-122"/>
              <a:cs typeface="+mj-cs"/>
            </a:endParaRPr>
          </a:p>
          <a:p>
            <a:pPr marL="93980" indent="-93980" eaLnBrk="0" hangingPunct="0">
              <a:lnSpc>
                <a:spcPts val="144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指导中长期物料采购</a:t>
            </a:r>
            <a:endParaRPr lang="en-US" altLang="zh-CN" sz="1200" dirty="0">
              <a:latin typeface="微软雅黑" panose="020B0503020204020204" charset="-122"/>
              <a:ea typeface="微软雅黑" panose="020B0503020204020204" charset="-122"/>
              <a:cs typeface="+mj-cs"/>
            </a:endParaRPr>
          </a:p>
        </p:txBody>
      </p:sp>
      <p:sp>
        <p:nvSpPr>
          <p:cNvPr id="89" name="Line 37"/>
          <p:cNvSpPr>
            <a:spLocks noChangeShapeType="1"/>
          </p:cNvSpPr>
          <p:nvPr/>
        </p:nvSpPr>
        <p:spPr bwMode="auto">
          <a:xfrm>
            <a:off x="888528" y="6370638"/>
            <a:ext cx="7704000" cy="10690"/>
          </a:xfrm>
          <a:prstGeom prst="line">
            <a:avLst/>
          </a:prstGeom>
          <a:noFill/>
          <a:ln w="9525">
            <a:solidFill>
              <a:schemeClr val="tx1"/>
            </a:solidFill>
            <a:round/>
          </a:ln>
        </p:spPr>
        <p:txBody>
          <a:bodyPr wrap="square" lIns="0" tIns="46800" rIns="0" bIns="10800" anchor="b">
            <a:spAutoFit/>
          </a:bodyPr>
          <a:lstStyle/>
          <a:p>
            <a:endParaRPr lang="en-US"/>
          </a:p>
        </p:txBody>
      </p:sp>
      <p:sp>
        <p:nvSpPr>
          <p:cNvPr id="90" name="Rectangle 25"/>
          <p:cNvSpPr>
            <a:spLocks noChangeArrowheads="1"/>
          </p:cNvSpPr>
          <p:nvPr/>
        </p:nvSpPr>
        <p:spPr bwMode="auto">
          <a:xfrm>
            <a:off x="1115616" y="5589240"/>
            <a:ext cx="2437208" cy="529061"/>
          </a:xfrm>
          <a:prstGeom prst="rect">
            <a:avLst/>
          </a:prstGeom>
          <a:noFill/>
          <a:ln w="9525" algn="ctr">
            <a:solidFill>
              <a:srgbClr val="FFFFFF"/>
            </a:solidFill>
            <a:miter lim="800000"/>
          </a:ln>
        </p:spPr>
        <p:txBody>
          <a:bodyPr wrap="square" lIns="0" tIns="46800" rIns="0" bIns="10800" anchor="ctr">
            <a:spAutoFit/>
          </a:bodyPr>
          <a:lstStyle/>
          <a:p>
            <a:pPr marL="93980" indent="-93980" eaLnBrk="0" hangingPunct="0">
              <a:lnSpc>
                <a:spcPct val="13000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第</a:t>
            </a:r>
            <a:r>
              <a:rPr lang="en-US" altLang="zh-CN" sz="1200" dirty="0">
                <a:latin typeface="微软雅黑" panose="020B0503020204020204" charset="-122"/>
                <a:ea typeface="微软雅黑" panose="020B0503020204020204" charset="-122"/>
                <a:cs typeface="+mj-cs"/>
              </a:rPr>
              <a:t>1</a:t>
            </a:r>
            <a:r>
              <a:rPr lang="zh-CN" altLang="en-US" sz="1200" dirty="0">
                <a:latin typeface="微软雅黑" panose="020B0503020204020204" charset="-122"/>
                <a:ea typeface="微软雅黑" panose="020B0503020204020204" charset="-122"/>
                <a:cs typeface="+mj-cs"/>
              </a:rPr>
              <a:t>周指导发货</a:t>
            </a:r>
            <a:endParaRPr lang="en-US" altLang="zh-CN" sz="1200" dirty="0">
              <a:latin typeface="微软雅黑" panose="020B0503020204020204" charset="-122"/>
              <a:ea typeface="微软雅黑" panose="020B0503020204020204" charset="-122"/>
              <a:cs typeface="+mj-cs"/>
            </a:endParaRPr>
          </a:p>
          <a:p>
            <a:pPr marL="93980" indent="-93980" eaLnBrk="0" hangingPunct="0">
              <a:lnSpc>
                <a:spcPct val="13000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第</a:t>
            </a:r>
            <a:r>
              <a:rPr lang="en-US" altLang="zh-CN" sz="1200" dirty="0">
                <a:latin typeface="微软雅黑" panose="020B0503020204020204" charset="-122"/>
                <a:ea typeface="微软雅黑" panose="020B0503020204020204" charset="-122"/>
                <a:cs typeface="+mj-cs"/>
              </a:rPr>
              <a:t>2</a:t>
            </a:r>
            <a:r>
              <a:rPr lang="zh-CN" altLang="en-US" sz="1200" dirty="0">
                <a:latin typeface="微软雅黑" panose="020B0503020204020204" charset="-122"/>
                <a:ea typeface="微软雅黑" panose="020B0503020204020204" charset="-122"/>
                <a:cs typeface="+mj-cs"/>
              </a:rPr>
              <a:t>周指导生产</a:t>
            </a:r>
          </a:p>
        </p:txBody>
      </p:sp>
      <p:sp>
        <p:nvSpPr>
          <p:cNvPr id="91" name="Rectangle 29"/>
          <p:cNvSpPr>
            <a:spLocks noChangeArrowheads="1"/>
          </p:cNvSpPr>
          <p:nvPr/>
        </p:nvSpPr>
        <p:spPr bwMode="auto">
          <a:xfrm>
            <a:off x="6865192" y="5572559"/>
            <a:ext cx="1811264" cy="612160"/>
          </a:xfrm>
          <a:prstGeom prst="rect">
            <a:avLst/>
          </a:prstGeom>
          <a:noFill/>
          <a:ln>
            <a:noFill/>
          </a:ln>
        </p:spPr>
        <p:txBody>
          <a:bodyPr wrap="square" lIns="0" tIns="46800" rIns="0" bIns="10800" anchor="ctr">
            <a:spAutoFit/>
          </a:bodyPr>
          <a:lstStyle/>
          <a:p>
            <a:pPr marL="93980" indent="-93980" eaLnBrk="0" hangingPunct="0">
              <a:lnSpc>
                <a:spcPts val="144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指导供应商准备产能及原材料</a:t>
            </a:r>
            <a:endParaRPr lang="en-US" altLang="zh-CN" sz="1200" dirty="0">
              <a:latin typeface="微软雅黑" panose="020B0503020204020204" charset="-122"/>
              <a:ea typeface="微软雅黑" panose="020B0503020204020204" charset="-122"/>
              <a:cs typeface="+mj-cs"/>
            </a:endParaRPr>
          </a:p>
          <a:p>
            <a:pPr marL="93980" indent="-93980" eaLnBrk="0" hangingPunct="0">
              <a:lnSpc>
                <a:spcPts val="1440"/>
              </a:lnSpc>
              <a:buClr>
                <a:schemeClr val="tx1"/>
              </a:buClr>
              <a:buFont typeface="Arial" panose="020B0604020202020204"/>
              <a:buChar char="•"/>
            </a:pPr>
            <a:r>
              <a:rPr lang="zh-CN" altLang="en-US" sz="1200" dirty="0">
                <a:latin typeface="微软雅黑" panose="020B0503020204020204" charset="-122"/>
                <a:ea typeface="微软雅黑" panose="020B0503020204020204" charset="-122"/>
                <a:cs typeface="+mj-cs"/>
              </a:rPr>
              <a:t>指导中长期物料计划</a:t>
            </a:r>
          </a:p>
        </p:txBody>
      </p:sp>
      <p:sp>
        <p:nvSpPr>
          <p:cNvPr id="56"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E</a:t>
            </a:r>
            <a:r>
              <a:rPr dirty="0"/>
              <a:t>-2</a:t>
            </a:r>
            <a:r>
              <a:rPr lang="en-US" altLang="zh-TW" dirty="0"/>
              <a:t>. </a:t>
            </a:r>
            <a:r>
              <a:rPr lang="zh-TW" altLang="en-US" dirty="0"/>
              <a:t>零部件</a:t>
            </a:r>
            <a:r>
              <a:rPr lang="zh-CN" altLang="en-US" dirty="0"/>
              <a:t>供应 </a:t>
            </a:r>
            <a:r>
              <a:rPr dirty="0"/>
              <a:t>- </a:t>
            </a:r>
            <a:r>
              <a:rPr lang="zh-CN" altLang="en-US" dirty="0"/>
              <a:t>根据金额、交期、通用性等分类进行零部件供应策略分析</a:t>
            </a:r>
            <a:endParaRPr lang="en-US" dirty="0"/>
          </a:p>
        </p:txBody>
      </p:sp>
      <p:graphicFrame>
        <p:nvGraphicFramePr>
          <p:cNvPr id="33" name="Table 34"/>
          <p:cNvGraphicFramePr>
            <a:graphicFrameLocks noGrp="1"/>
          </p:cNvGraphicFramePr>
          <p:nvPr/>
        </p:nvGraphicFramePr>
        <p:xfrm>
          <a:off x="1835696" y="1484836"/>
          <a:ext cx="5400600" cy="4416420"/>
        </p:xfrm>
        <a:graphic>
          <a:graphicData uri="http://schemas.openxmlformats.org/drawingml/2006/table">
            <a:tbl>
              <a:tblPr/>
              <a:tblGrid>
                <a:gridCol w="1800200">
                  <a:extLst>
                    <a:ext uri="{9D8B030D-6E8A-4147-A177-3AD203B41FA5}">
                      <a16:colId xmlns:a16="http://schemas.microsoft.com/office/drawing/2014/main" val="20000"/>
                    </a:ext>
                  </a:extLst>
                </a:gridCol>
                <a:gridCol w="1725192">
                  <a:extLst>
                    <a:ext uri="{9D8B030D-6E8A-4147-A177-3AD203B41FA5}">
                      <a16:colId xmlns:a16="http://schemas.microsoft.com/office/drawing/2014/main" val="20001"/>
                    </a:ext>
                  </a:extLst>
                </a:gridCol>
                <a:gridCol w="1875208">
                  <a:extLst>
                    <a:ext uri="{9D8B030D-6E8A-4147-A177-3AD203B41FA5}">
                      <a16:colId xmlns:a16="http://schemas.microsoft.com/office/drawing/2014/main" val="20002"/>
                    </a:ext>
                  </a:extLst>
                </a:gridCol>
              </a:tblGrid>
              <a:tr h="1104105">
                <a:tc>
                  <a:txBody>
                    <a:body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2</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4</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2</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5.7%</a:t>
                      </a: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5</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4</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2</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.8%</a:t>
                      </a: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1</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38</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0.</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5</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110410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8</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8</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3</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4.3%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3</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51</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14.9%</a:t>
                      </a: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6</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860</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7</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.7%</a:t>
                      </a: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110410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10</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1</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CCFF"/>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5</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6</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1</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.9%</a:t>
                      </a: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CCFF"/>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1027</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9.3%</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1</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.65%</a:t>
                      </a: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CCFF"/>
                    </a:solidFill>
                  </a:tcPr>
                </a:tc>
                <a:extLst>
                  <a:ext uri="{0D108BD9-81ED-4DB2-BD59-A6C34878D82A}">
                    <a16:rowId xmlns:a16="http://schemas.microsoft.com/office/drawing/2014/main" val="10002"/>
                  </a:ext>
                </a:extLst>
              </a:tr>
              <a:tr h="1104105">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CCFF"/>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7</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0.33%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CCFF"/>
                    </a:solidFill>
                  </a:tcPr>
                </a:tc>
                <a:tc>
                  <a:txBody>
                    <a:bodyPr/>
                    <a:lstStyle>
                      <a:lvl1pPr marL="0" algn="l" defTabSz="914400" rtl="0" eaLnBrk="1" latinLnBrk="0" hangingPunct="1">
                        <a:defRPr sz="1800" kern="1200">
                          <a:solidFill>
                            <a:schemeClr val="tx1"/>
                          </a:solidFill>
                          <a:latin typeface="Arial" panose="020B0604020202020204"/>
                          <a:ea typeface="Arial" panose="020B0604020202020204"/>
                          <a:cs typeface="Arial" panose="020B0604020202020204"/>
                        </a:defRPr>
                      </a:lvl1pPr>
                      <a:lvl2pPr marL="457200" algn="l" defTabSz="914400" rtl="0" eaLnBrk="1" latinLnBrk="0" hangingPunct="1">
                        <a:defRPr sz="1800" kern="1200">
                          <a:solidFill>
                            <a:schemeClr val="tx1"/>
                          </a:solidFill>
                          <a:latin typeface="Arial" panose="020B0604020202020204"/>
                          <a:ea typeface="Arial" panose="020B0604020202020204"/>
                          <a:cs typeface="Arial" panose="020B0604020202020204"/>
                        </a:defRPr>
                      </a:lvl2pPr>
                      <a:lvl3pPr marL="914400" algn="l" defTabSz="914400" rtl="0" eaLnBrk="1" latinLnBrk="0" hangingPunct="1">
                        <a:defRPr sz="1800" kern="1200">
                          <a:solidFill>
                            <a:schemeClr val="tx1"/>
                          </a:solidFill>
                          <a:latin typeface="Arial" panose="020B0604020202020204"/>
                          <a:ea typeface="Arial" panose="020B0604020202020204"/>
                          <a:cs typeface="Arial" panose="020B0604020202020204"/>
                        </a:defRPr>
                      </a:lvl3pPr>
                      <a:lvl4pPr marL="1371600" algn="l" defTabSz="914400" rtl="0" eaLnBrk="1" latinLnBrk="0" hangingPunct="1">
                        <a:defRPr sz="1800" kern="1200">
                          <a:solidFill>
                            <a:schemeClr val="tx1"/>
                          </a:solidFill>
                          <a:latin typeface="Arial" panose="020B0604020202020204"/>
                          <a:ea typeface="Arial" panose="020B0604020202020204"/>
                          <a:cs typeface="Arial" panose="020B0604020202020204"/>
                        </a:defRPr>
                      </a:lvl4pPr>
                      <a:lvl5pPr marL="1828800" algn="l" defTabSz="914400" rtl="0" eaLnBrk="1" latinLnBrk="0" hangingPunct="1">
                        <a:defRPr sz="1800" kern="1200">
                          <a:solidFill>
                            <a:schemeClr val="tx1"/>
                          </a:solidFill>
                          <a:latin typeface="Arial" panose="020B0604020202020204"/>
                          <a:ea typeface="Arial" panose="020B0604020202020204"/>
                          <a:cs typeface="Arial" panose="020B0604020202020204"/>
                        </a:defRPr>
                      </a:lvl5pPr>
                      <a:lvl6pPr marL="2286000" algn="l" defTabSz="914400" rtl="0" eaLnBrk="1" latinLnBrk="0" hangingPunct="1">
                        <a:defRPr sz="1800" kern="1200">
                          <a:solidFill>
                            <a:schemeClr val="tx1"/>
                          </a:solidFill>
                          <a:latin typeface="Arial" panose="020B0604020202020204"/>
                          <a:ea typeface="Arial" panose="020B0604020202020204"/>
                          <a:cs typeface="Arial" panose="020B0604020202020204"/>
                        </a:defRPr>
                      </a:lvl6pPr>
                      <a:lvl7pPr marL="2743200" algn="l" defTabSz="914400" rtl="0" eaLnBrk="1" latinLnBrk="0" hangingPunct="1">
                        <a:defRPr sz="1800" kern="1200">
                          <a:solidFill>
                            <a:schemeClr val="tx1"/>
                          </a:solidFill>
                          <a:latin typeface="Arial" panose="020B0604020202020204"/>
                          <a:ea typeface="Arial" panose="020B0604020202020204"/>
                          <a:cs typeface="Arial" panose="020B0604020202020204"/>
                        </a:defRPr>
                      </a:lvl7pPr>
                      <a:lvl8pPr marL="3200400" algn="l" defTabSz="914400" rtl="0" eaLnBrk="1" latinLnBrk="0" hangingPunct="1">
                        <a:defRPr sz="1800" kern="1200">
                          <a:solidFill>
                            <a:schemeClr val="tx1"/>
                          </a:solidFill>
                          <a:latin typeface="Arial" panose="020B0604020202020204"/>
                          <a:ea typeface="Arial" panose="020B0604020202020204"/>
                          <a:cs typeface="Arial" panose="020B0604020202020204"/>
                        </a:defRPr>
                      </a:lvl8pPr>
                      <a:lvl9pPr marL="3657600" algn="l" defTabSz="914400" rtl="0" eaLnBrk="1" latinLnBrk="0" hangingPunct="1">
                        <a:defRPr sz="1800" kern="1200">
                          <a:solidFill>
                            <a:schemeClr val="tx1"/>
                          </a:solidFill>
                          <a:latin typeface="Arial" panose="020B0604020202020204"/>
                          <a:ea typeface="Arial" panose="020B0604020202020204"/>
                          <a:cs typeface="Arial" panose="020B0604020202020204"/>
                        </a:defRPr>
                      </a:lvl9pPr>
                    </a:lstStyle>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零部件数</a:t>
                      </a:r>
                      <a:r>
                        <a:rPr kumimoji="0" lang="zh-CN"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1</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76</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个（</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a:t>
                      </a: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cap="none" normalizeH="0" baseline="0" dirty="0">
                          <a:ln>
                            <a:noFill/>
                          </a:ln>
                          <a:solidFill>
                            <a:schemeClr val="tx1"/>
                          </a:solidFill>
                          <a:effectLst/>
                          <a:latin typeface="微软雅黑" panose="020B0503020204020204" charset="-122"/>
                          <a:ea typeface="微软雅黑" panose="020B0503020204020204" charset="-122"/>
                        </a:rPr>
                        <a:t>采购额占比</a:t>
                      </a:r>
                      <a:r>
                        <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rPr>
                        <a:t>0.15%</a:t>
                      </a:r>
                    </a:p>
                    <a:p>
                      <a:pPr marL="180975" marR="0" lvl="0" indent="-180975" algn="ctr" defTabSz="914400" rtl="0" eaLnBrk="1" fontAlgn="base"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cap="none" normalizeH="0" baseline="0" dirty="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CCFF"/>
                    </a:solidFill>
                  </a:tcPr>
                </a:tc>
                <a:extLst>
                  <a:ext uri="{0D108BD9-81ED-4DB2-BD59-A6C34878D82A}">
                    <a16:rowId xmlns:a16="http://schemas.microsoft.com/office/drawing/2014/main" val="10003"/>
                  </a:ext>
                </a:extLst>
              </a:tr>
            </a:tbl>
          </a:graphicData>
        </a:graphic>
      </p:graphicFrame>
      <p:sp>
        <p:nvSpPr>
          <p:cNvPr id="37" name="TextBox 41"/>
          <p:cNvSpPr txBox="1">
            <a:spLocks noChangeArrowheads="1"/>
          </p:cNvSpPr>
          <p:nvPr/>
        </p:nvSpPr>
        <p:spPr bwMode="auto">
          <a:xfrm>
            <a:off x="872538" y="5281463"/>
            <a:ext cx="963158" cy="307777"/>
          </a:xfrm>
          <a:prstGeom prst="rect">
            <a:avLst/>
          </a:prstGeom>
          <a:noFill/>
          <a:ln w="9525">
            <a:noFill/>
            <a:miter lim="800000"/>
          </a:ln>
        </p:spPr>
        <p:txBody>
          <a:bodyPr wrap="square">
            <a:spAutoFit/>
          </a:bodyPr>
          <a:lstStyle/>
          <a:p>
            <a:pPr algn="r"/>
            <a:r>
              <a:rPr lang="en-US" altLang="zh-CN" sz="1400" dirty="0">
                <a:latin typeface="微软雅黑" panose="020B0503020204020204" charset="-122"/>
                <a:ea typeface="微软雅黑" panose="020B0503020204020204" charset="-122"/>
              </a:rPr>
              <a:t>&lt;=7</a:t>
            </a:r>
            <a:r>
              <a:rPr lang="zh-CN" altLang="en-US" sz="1400" dirty="0">
                <a:latin typeface="微软雅黑" panose="020B0503020204020204" charset="-122"/>
                <a:ea typeface="微软雅黑" panose="020B0503020204020204" charset="-122"/>
              </a:rPr>
              <a:t>天</a:t>
            </a:r>
            <a:endParaRPr lang="en-US" altLang="zh-CN" sz="1400" dirty="0">
              <a:latin typeface="微软雅黑" panose="020B0503020204020204" charset="-122"/>
              <a:ea typeface="微软雅黑" panose="020B0503020204020204" charset="-122"/>
            </a:endParaRPr>
          </a:p>
        </p:txBody>
      </p:sp>
      <p:sp>
        <p:nvSpPr>
          <p:cNvPr id="38" name="TextBox 42"/>
          <p:cNvSpPr txBox="1">
            <a:spLocks noChangeArrowheads="1"/>
          </p:cNvSpPr>
          <p:nvPr/>
        </p:nvSpPr>
        <p:spPr bwMode="auto">
          <a:xfrm>
            <a:off x="872538" y="4077072"/>
            <a:ext cx="963158" cy="307777"/>
          </a:xfrm>
          <a:prstGeom prst="rect">
            <a:avLst/>
          </a:prstGeom>
          <a:noFill/>
          <a:ln w="9525">
            <a:noFill/>
            <a:miter lim="800000"/>
          </a:ln>
        </p:spPr>
        <p:txBody>
          <a:bodyPr wrap="square">
            <a:spAutoFit/>
          </a:bodyPr>
          <a:lstStyle/>
          <a:p>
            <a:pPr algn="r"/>
            <a:r>
              <a:rPr lang="zh-CN" altLang="zh-CN" sz="1400" dirty="0">
                <a:latin typeface="微软雅黑" panose="020B0503020204020204" charset="-122"/>
                <a:ea typeface="微软雅黑" panose="020B0503020204020204" charset="-122"/>
              </a:rPr>
              <a:t>8</a:t>
            </a:r>
            <a:r>
              <a:rPr lang="en-US" altLang="zh-CN" sz="1400" dirty="0">
                <a:latin typeface="微软雅黑" panose="020B0503020204020204" charset="-122"/>
                <a:ea typeface="微软雅黑" panose="020B0503020204020204" charset="-122"/>
              </a:rPr>
              <a:t>-</a:t>
            </a:r>
            <a:r>
              <a:rPr lang="zh-CN" altLang="zh-CN" sz="1400" dirty="0">
                <a:latin typeface="微软雅黑" panose="020B0503020204020204" charset="-122"/>
                <a:ea typeface="微软雅黑" panose="020B0503020204020204" charset="-122"/>
              </a:rPr>
              <a:t>2</a:t>
            </a:r>
            <a:r>
              <a:rPr lang="en-US" altLang="zh-CN" sz="1400" dirty="0">
                <a:latin typeface="微软雅黑" panose="020B0503020204020204" charset="-122"/>
                <a:ea typeface="微软雅黑" panose="020B0503020204020204" charset="-122"/>
              </a:rPr>
              <a:t>9</a:t>
            </a:r>
            <a:r>
              <a:rPr lang="zh-CN" altLang="en-US" sz="1400" dirty="0">
                <a:latin typeface="微软雅黑" panose="020B0503020204020204" charset="-122"/>
                <a:ea typeface="微软雅黑" panose="020B0503020204020204" charset="-122"/>
              </a:rPr>
              <a:t>天</a:t>
            </a:r>
            <a:endParaRPr lang="en-US" altLang="zh-CN" sz="1400" dirty="0">
              <a:latin typeface="微软雅黑" panose="020B0503020204020204" charset="-122"/>
              <a:ea typeface="微软雅黑" panose="020B0503020204020204" charset="-122"/>
            </a:endParaRPr>
          </a:p>
        </p:txBody>
      </p:sp>
      <p:sp>
        <p:nvSpPr>
          <p:cNvPr id="39" name="TextBox 43"/>
          <p:cNvSpPr txBox="1">
            <a:spLocks noChangeArrowheads="1"/>
          </p:cNvSpPr>
          <p:nvPr/>
        </p:nvSpPr>
        <p:spPr bwMode="auto">
          <a:xfrm>
            <a:off x="935696" y="1844824"/>
            <a:ext cx="900000" cy="307777"/>
          </a:xfrm>
          <a:prstGeom prst="rect">
            <a:avLst/>
          </a:prstGeom>
          <a:noFill/>
          <a:ln w="9525">
            <a:noFill/>
            <a:miter lim="800000"/>
          </a:ln>
        </p:spPr>
        <p:txBody>
          <a:bodyPr wrap="square">
            <a:spAutoFit/>
          </a:bodyPr>
          <a:lstStyle/>
          <a:p>
            <a:pPr algn="r"/>
            <a:r>
              <a:rPr lang="en-US" altLang="zh-CN" sz="1400" dirty="0">
                <a:latin typeface="微软雅黑" panose="020B0503020204020204" charset="-122"/>
                <a:ea typeface="微软雅黑" panose="020B0503020204020204" charset="-122"/>
              </a:rPr>
              <a:t>&gt;30</a:t>
            </a:r>
            <a:r>
              <a:rPr lang="zh-CN" altLang="en-US" sz="1400" dirty="0">
                <a:latin typeface="微软雅黑" panose="020B0503020204020204" charset="-122"/>
                <a:ea typeface="微软雅黑" panose="020B0503020204020204" charset="-122"/>
              </a:rPr>
              <a:t>天</a:t>
            </a:r>
            <a:endParaRPr lang="en-US" altLang="zh-CN" sz="1400" dirty="0">
              <a:latin typeface="微软雅黑" panose="020B0503020204020204" charset="-122"/>
              <a:ea typeface="微软雅黑" panose="020B0503020204020204" charset="-122"/>
            </a:endParaRPr>
          </a:p>
        </p:txBody>
      </p:sp>
      <p:sp>
        <p:nvSpPr>
          <p:cNvPr id="40" name="TextBox 12"/>
          <p:cNvSpPr txBox="1">
            <a:spLocks noChangeArrowheads="1"/>
          </p:cNvSpPr>
          <p:nvPr/>
        </p:nvSpPr>
        <p:spPr bwMode="auto">
          <a:xfrm>
            <a:off x="4211960" y="6309320"/>
            <a:ext cx="2160240" cy="261610"/>
          </a:xfrm>
          <a:prstGeom prst="rect">
            <a:avLst/>
          </a:prstGeom>
          <a:noFill/>
          <a:ln w="9525">
            <a:noFill/>
            <a:miter lim="800000"/>
          </a:ln>
        </p:spPr>
        <p:txBody>
          <a:bodyPr wrap="square" anchor="t">
            <a:spAutoFit/>
          </a:bodyPr>
          <a:lstStyle/>
          <a:p>
            <a:pPr algn="ctr" eaLnBrk="0" hangingPunct="0">
              <a:lnSpc>
                <a:spcPct val="90000"/>
              </a:lnSpc>
              <a:spcBef>
                <a:spcPct val="20000"/>
              </a:spcBef>
              <a:buClr>
                <a:schemeClr val="tx1"/>
              </a:buClr>
            </a:pPr>
            <a:r>
              <a:rPr lang="zh-CN" altLang="en-US" sz="1200" dirty="0">
                <a:latin typeface="微软雅黑" panose="020B0503020204020204" charset="-122"/>
                <a:ea typeface="微软雅黑" panose="020B0503020204020204" charset="-122"/>
              </a:rPr>
              <a:t>（零部件采购额％）</a:t>
            </a:r>
          </a:p>
        </p:txBody>
      </p:sp>
      <p:sp>
        <p:nvSpPr>
          <p:cNvPr id="41" name="TextBox 36"/>
          <p:cNvSpPr txBox="1">
            <a:spLocks noChangeArrowheads="1"/>
          </p:cNvSpPr>
          <p:nvPr/>
        </p:nvSpPr>
        <p:spPr bwMode="auto">
          <a:xfrm>
            <a:off x="2267744" y="6021341"/>
            <a:ext cx="1055019" cy="287979"/>
          </a:xfrm>
          <a:prstGeom prst="rect">
            <a:avLst/>
          </a:prstGeom>
          <a:noFill/>
          <a:ln w="9525">
            <a:noFill/>
            <a:miter lim="800000"/>
          </a:ln>
        </p:spPr>
        <p:txBody>
          <a:bodyPr wrap="square">
            <a:spAutoFit/>
          </a:bodyPr>
          <a:lstStyle/>
          <a:p>
            <a:r>
              <a:rPr lang="en-US" altLang="zh-CN" sz="1200" b="1" dirty="0">
                <a:latin typeface="微软雅黑" panose="020B0503020204020204" charset="-122"/>
                <a:ea typeface="微软雅黑" panose="020B0503020204020204" charset="-122"/>
              </a:rPr>
              <a:t>A </a:t>
            </a:r>
            <a:r>
              <a:rPr lang="zh-CN" altLang="en-US" sz="1200" b="1" dirty="0">
                <a:latin typeface="微软雅黑" panose="020B0503020204020204" charset="-122"/>
                <a:ea typeface="微软雅黑" panose="020B0503020204020204" charset="-122"/>
              </a:rPr>
              <a:t>（</a:t>
            </a:r>
            <a:r>
              <a:rPr lang="zh-CN" altLang="zh-CN" sz="1200" b="1" dirty="0">
                <a:latin typeface="微软雅黑" panose="020B0503020204020204" charset="-122"/>
                <a:ea typeface="微软雅黑" panose="020B0503020204020204" charset="-122"/>
              </a:rPr>
              <a:t>7</a:t>
            </a:r>
            <a:r>
              <a:rPr lang="en-US" altLang="zh-CN" sz="1200" b="1" dirty="0">
                <a:latin typeface="微软雅黑" panose="020B0503020204020204" charset="-122"/>
                <a:ea typeface="微软雅黑" panose="020B0503020204020204" charset="-122"/>
              </a:rPr>
              <a:t>0%</a:t>
            </a:r>
            <a:r>
              <a:rPr lang="zh-CN" altLang="en-US" sz="1200" b="1" dirty="0">
                <a:latin typeface="微软雅黑" panose="020B0503020204020204" charset="-122"/>
                <a:ea typeface="微软雅黑" panose="020B0503020204020204" charset="-122"/>
              </a:rPr>
              <a:t>）</a:t>
            </a:r>
            <a:r>
              <a:rPr lang="en-US" altLang="zh-CN" sz="1200" b="1" dirty="0">
                <a:latin typeface="微软雅黑" panose="020B0503020204020204" charset="-122"/>
                <a:ea typeface="微软雅黑" panose="020B0503020204020204" charset="-122"/>
              </a:rPr>
              <a:t> </a:t>
            </a:r>
            <a:endParaRPr lang="zh-CN" altLang="en-US" sz="1200" b="1" dirty="0">
              <a:latin typeface="微软雅黑" panose="020B0503020204020204" charset="-122"/>
              <a:ea typeface="微软雅黑" panose="020B0503020204020204" charset="-122"/>
            </a:endParaRPr>
          </a:p>
        </p:txBody>
      </p:sp>
      <p:sp>
        <p:nvSpPr>
          <p:cNvPr id="42" name="TextBox 38"/>
          <p:cNvSpPr txBox="1">
            <a:spLocks noChangeArrowheads="1"/>
          </p:cNvSpPr>
          <p:nvPr/>
        </p:nvSpPr>
        <p:spPr bwMode="auto">
          <a:xfrm>
            <a:off x="5724128" y="6021341"/>
            <a:ext cx="1094094" cy="287979"/>
          </a:xfrm>
          <a:prstGeom prst="rect">
            <a:avLst/>
          </a:prstGeom>
          <a:noFill/>
          <a:ln w="9525">
            <a:noFill/>
            <a:miter lim="800000"/>
          </a:ln>
        </p:spPr>
        <p:txBody>
          <a:bodyPr wrap="square">
            <a:spAutoFit/>
          </a:bodyPr>
          <a:lstStyle/>
          <a:p>
            <a:r>
              <a:rPr lang="en-US" altLang="zh-CN" sz="1200" b="1" dirty="0">
                <a:latin typeface="微软雅黑" panose="020B0503020204020204" charset="-122"/>
                <a:ea typeface="微软雅黑" panose="020B0503020204020204" charset="-122"/>
              </a:rPr>
              <a:t>C</a:t>
            </a:r>
            <a:r>
              <a:rPr lang="zh-CN" altLang="en-US" sz="1200" b="1" dirty="0">
                <a:latin typeface="微软雅黑" panose="020B0503020204020204" charset="-122"/>
                <a:ea typeface="微软雅黑" panose="020B0503020204020204" charset="-122"/>
              </a:rPr>
              <a:t>（</a:t>
            </a:r>
            <a:r>
              <a:rPr lang="zh-CN" altLang="zh-CN" sz="1200" b="1" dirty="0">
                <a:latin typeface="微软雅黑" panose="020B0503020204020204" charset="-122"/>
                <a:ea typeface="微软雅黑" panose="020B0503020204020204" charset="-122"/>
              </a:rPr>
              <a:t>1</a:t>
            </a:r>
            <a:r>
              <a:rPr lang="en-US" altLang="zh-CN" sz="1200" b="1" dirty="0">
                <a:latin typeface="微软雅黑" panose="020B0503020204020204" charset="-122"/>
                <a:ea typeface="微软雅黑" panose="020B0503020204020204" charset="-122"/>
              </a:rPr>
              <a:t>0%</a:t>
            </a:r>
            <a:r>
              <a:rPr lang="zh-CN" altLang="en-US" sz="1200" b="1" dirty="0">
                <a:latin typeface="微软雅黑" panose="020B0503020204020204" charset="-122"/>
                <a:ea typeface="微软雅黑" panose="020B0503020204020204" charset="-122"/>
              </a:rPr>
              <a:t>）</a:t>
            </a:r>
          </a:p>
        </p:txBody>
      </p:sp>
      <p:sp>
        <p:nvSpPr>
          <p:cNvPr id="43" name="TextBox 39"/>
          <p:cNvSpPr txBox="1">
            <a:spLocks noChangeArrowheads="1"/>
          </p:cNvSpPr>
          <p:nvPr/>
        </p:nvSpPr>
        <p:spPr bwMode="auto">
          <a:xfrm>
            <a:off x="3995936" y="6021341"/>
            <a:ext cx="1172243" cy="287979"/>
          </a:xfrm>
          <a:prstGeom prst="rect">
            <a:avLst/>
          </a:prstGeom>
          <a:noFill/>
          <a:ln w="9525">
            <a:noFill/>
            <a:miter lim="800000"/>
          </a:ln>
        </p:spPr>
        <p:txBody>
          <a:bodyPr wrap="square">
            <a:spAutoFit/>
          </a:bodyPr>
          <a:lstStyle/>
          <a:p>
            <a:r>
              <a:rPr lang="en-US" altLang="zh-CN" sz="1200" b="1" dirty="0">
                <a:latin typeface="微软雅黑" panose="020B0503020204020204" charset="-122"/>
                <a:ea typeface="微软雅黑" panose="020B0503020204020204" charset="-122"/>
              </a:rPr>
              <a:t>B </a:t>
            </a:r>
            <a:r>
              <a:rPr lang="zh-CN" altLang="en-US" sz="1200" b="1" dirty="0">
                <a:latin typeface="微软雅黑" panose="020B0503020204020204" charset="-122"/>
                <a:ea typeface="微软雅黑" panose="020B0503020204020204" charset="-122"/>
              </a:rPr>
              <a:t>（</a:t>
            </a:r>
            <a:r>
              <a:rPr lang="zh-CN" altLang="zh-CN" sz="1200" b="1" dirty="0">
                <a:latin typeface="微软雅黑" panose="020B0503020204020204" charset="-122"/>
                <a:ea typeface="微软雅黑" panose="020B0503020204020204" charset="-122"/>
              </a:rPr>
              <a:t>2</a:t>
            </a:r>
            <a:r>
              <a:rPr lang="en-US" altLang="zh-CN" sz="1200" b="1" dirty="0">
                <a:latin typeface="微软雅黑" panose="020B0503020204020204" charset="-122"/>
                <a:ea typeface="微软雅黑" panose="020B0503020204020204" charset="-122"/>
              </a:rPr>
              <a:t>0%</a:t>
            </a:r>
            <a:r>
              <a:rPr lang="zh-CN" altLang="en-US" sz="1200" b="1" dirty="0">
                <a:latin typeface="微软雅黑" panose="020B0503020204020204" charset="-122"/>
                <a:ea typeface="微软雅黑" panose="020B0503020204020204" charset="-122"/>
              </a:rPr>
              <a:t>）</a:t>
            </a:r>
          </a:p>
        </p:txBody>
      </p:sp>
      <p:sp>
        <p:nvSpPr>
          <p:cNvPr id="44" name="Rectangle 20"/>
          <p:cNvSpPr>
            <a:spLocks noChangeArrowheads="1"/>
          </p:cNvSpPr>
          <p:nvPr/>
        </p:nvSpPr>
        <p:spPr bwMode="auto">
          <a:xfrm>
            <a:off x="3635896" y="3717032"/>
            <a:ext cx="4536505" cy="2304256"/>
          </a:xfrm>
          <a:prstGeom prst="rect">
            <a:avLst/>
          </a:prstGeom>
          <a:solidFill>
            <a:schemeClr val="accent1">
              <a:lumMod val="75000"/>
              <a:alpha val="7059"/>
            </a:schemeClr>
          </a:solidFill>
          <a:ln w="50800" algn="ctr">
            <a:solidFill>
              <a:schemeClr val="accent6"/>
            </a:solidFill>
            <a:round/>
          </a:ln>
        </p:spPr>
        <p:txBody>
          <a:bodyPr lIns="90000" tIns="46800" rIns="90000" bIns="46800" anchor="ctr"/>
          <a:lstStyle/>
          <a:p>
            <a:pPr algn="ctr">
              <a:buFont typeface="Arial" panose="020B0604020202020204" pitchFamily="34" charset="0"/>
              <a:buNone/>
            </a:pPr>
            <a:endParaRPr lang="en-US" altLang="zh-CN" sz="1400">
              <a:latin typeface="微软雅黑" panose="020B0503020204020204" charset="-122"/>
              <a:ea typeface="微软雅黑" panose="020B0503020204020204" charset="-122"/>
            </a:endParaRPr>
          </a:p>
        </p:txBody>
      </p:sp>
      <p:graphicFrame>
        <p:nvGraphicFramePr>
          <p:cNvPr id="45" name="表格 34"/>
          <p:cNvGraphicFramePr>
            <a:graphicFrameLocks noGrp="1"/>
          </p:cNvGraphicFramePr>
          <p:nvPr/>
        </p:nvGraphicFramePr>
        <p:xfrm>
          <a:off x="1835696" y="980728"/>
          <a:ext cx="5328592" cy="419535"/>
        </p:xfrm>
        <a:graphic>
          <a:graphicData uri="http://schemas.openxmlformats.org/drawingml/2006/table">
            <a:tbl>
              <a:tblPr>
                <a:tableStyleId>{5C22544A-7EE6-4342-B048-85BDC9FD1C3A}</a:tableStyleId>
              </a:tblPr>
              <a:tblGrid>
                <a:gridCol w="1800200">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tblGrid>
              <a:tr h="419535">
                <a:tc>
                  <a:txBody>
                    <a:bodyPr/>
                    <a:lstStyle/>
                    <a:p>
                      <a:pPr algn="ctr" fontAlgn="b"/>
                      <a:r>
                        <a:rPr lang="zh-CN" altLang="zh-CN" sz="1100" u="none" strike="noStrike" dirty="0">
                          <a:effectLst/>
                        </a:rPr>
                        <a:t>12</a:t>
                      </a:r>
                      <a:r>
                        <a:rPr lang="en-US" altLang="zh-CN" sz="1100" u="none" strike="noStrike" dirty="0">
                          <a:effectLst/>
                        </a:rPr>
                        <a:t>2</a:t>
                      </a:r>
                      <a:r>
                        <a:rPr lang="zh-CN" altLang="en-US" sz="1100" u="none" strike="noStrike" dirty="0">
                          <a:effectLst/>
                        </a:rPr>
                        <a:t>（</a:t>
                      </a:r>
                      <a:r>
                        <a:rPr lang="zh-CN" altLang="zh-CN" sz="1100" u="none" strike="noStrike" dirty="0">
                          <a:effectLst/>
                        </a:rPr>
                        <a:t>1</a:t>
                      </a:r>
                      <a:r>
                        <a:rPr lang="en-US" altLang="zh-CN" sz="1100" u="none" strike="noStrike" dirty="0">
                          <a:effectLst/>
                        </a:rPr>
                        <a:t>.4%</a:t>
                      </a:r>
                      <a:r>
                        <a:rPr lang="zh-CN" altLang="en-US" sz="1100" u="none" strike="noStrike" dirty="0">
                          <a:effectLst/>
                        </a:rPr>
                        <a:t>）</a:t>
                      </a:r>
                      <a:endParaRPr lang="en-US" altLang="zh-CN" sz="1100" b="0" i="0" u="none" strike="noStrike" dirty="0">
                        <a:solidFill>
                          <a:srgbClr val="000000"/>
                        </a:solidFill>
                        <a:effectLst/>
                        <a:latin typeface="宋体" panose="02010600030101010101" pitchFamily="2" charset="-122"/>
                      </a:endParaRPr>
                    </a:p>
                  </a:txBody>
                  <a:tcPr marL="9525" marR="9525" marT="9525" marB="0" anchor="ctr"/>
                </a:tc>
                <a:tc>
                  <a:txBody>
                    <a:bodyPr/>
                    <a:lstStyle/>
                    <a:p>
                      <a:pPr algn="ctr" fontAlgn="b"/>
                      <a:r>
                        <a:rPr lang="zh-CN" altLang="zh-CN" sz="1100" u="none" strike="noStrike" dirty="0">
                          <a:effectLst/>
                        </a:rPr>
                        <a:t>4</a:t>
                      </a:r>
                      <a:r>
                        <a:rPr lang="en-US" altLang="zh-CN" sz="1100" u="none" strike="noStrike" dirty="0">
                          <a:effectLst/>
                        </a:rPr>
                        <a:t>69</a:t>
                      </a:r>
                      <a:r>
                        <a:rPr lang="zh-CN" altLang="en-US" sz="1100" u="none" strike="noStrike" dirty="0">
                          <a:effectLst/>
                        </a:rPr>
                        <a:t>（</a:t>
                      </a:r>
                      <a:r>
                        <a:rPr lang="zh-CN" altLang="zh-CN" sz="1100" u="none" strike="noStrike" dirty="0">
                          <a:effectLst/>
                        </a:rPr>
                        <a:t>5</a:t>
                      </a:r>
                      <a:r>
                        <a:rPr lang="en-US" altLang="zh-CN" sz="1100" u="none" strike="noStrike" dirty="0">
                          <a:effectLst/>
                        </a:rPr>
                        <a:t>.3%</a:t>
                      </a:r>
                      <a:r>
                        <a:rPr lang="zh-CN" altLang="en-US" sz="1100" u="none" strike="noStrike" dirty="0">
                          <a:effectLst/>
                        </a:rPr>
                        <a:t>）</a:t>
                      </a:r>
                      <a:endParaRPr lang="en-US" altLang="zh-CN" sz="1100" b="0" i="0" u="none" strike="noStrike" dirty="0">
                        <a:solidFill>
                          <a:srgbClr val="000000"/>
                        </a:solidFill>
                        <a:effectLst/>
                        <a:latin typeface="宋体" panose="02010600030101010101" pitchFamily="2" charset="-122"/>
                      </a:endParaRPr>
                    </a:p>
                  </a:txBody>
                  <a:tcPr marL="9525" marR="9525" marT="9525" marB="0" anchor="ctr"/>
                </a:tc>
                <a:tc>
                  <a:txBody>
                    <a:bodyPr/>
                    <a:lstStyle/>
                    <a:p>
                      <a:pPr algn="ctr" fontAlgn="b"/>
                      <a:r>
                        <a:rPr lang="zh-CN" altLang="zh-CN" sz="1100" u="none" strike="noStrike" dirty="0">
                          <a:effectLst/>
                        </a:rPr>
                        <a:t>8</a:t>
                      </a:r>
                      <a:r>
                        <a:rPr lang="en-US" altLang="zh-CN" sz="1100" u="none" strike="noStrike" dirty="0">
                          <a:effectLst/>
                        </a:rPr>
                        <a:t>201</a:t>
                      </a:r>
                      <a:r>
                        <a:rPr lang="zh-CN" altLang="en-US" sz="1100" u="none" strike="noStrike" dirty="0">
                          <a:effectLst/>
                        </a:rPr>
                        <a:t>（</a:t>
                      </a:r>
                      <a:r>
                        <a:rPr lang="zh-CN" altLang="zh-CN" sz="1100" u="none" strike="noStrike" dirty="0">
                          <a:effectLst/>
                        </a:rPr>
                        <a:t>9</a:t>
                      </a:r>
                      <a:r>
                        <a:rPr lang="en-US" altLang="zh-CN" sz="1100" u="none" strike="noStrike" dirty="0">
                          <a:effectLst/>
                        </a:rPr>
                        <a:t>3.3%</a:t>
                      </a:r>
                      <a:r>
                        <a:rPr lang="zh-CN" altLang="en-US" sz="1100" u="none" strike="noStrike" dirty="0">
                          <a:effectLst/>
                        </a:rPr>
                        <a:t>）</a:t>
                      </a:r>
                      <a:endParaRPr lang="en-US" altLang="zh-CN" sz="1100" b="0" i="0" u="none" strike="noStrike" dirty="0">
                        <a:solidFill>
                          <a:srgbClr val="000000"/>
                        </a:solidFill>
                        <a:effectLst/>
                        <a:latin typeface="宋体" panose="02010600030101010101" pitchFamily="2" charset="-122"/>
                      </a:endParaRPr>
                    </a:p>
                  </a:txBody>
                  <a:tcPr marL="9525" marR="9525" marT="9525" marB="0" anchor="ctr"/>
                </a:tc>
                <a:extLst>
                  <a:ext uri="{0D108BD9-81ED-4DB2-BD59-A6C34878D82A}">
                    <a16:rowId xmlns:a16="http://schemas.microsoft.com/office/drawing/2014/main" val="10000"/>
                  </a:ext>
                </a:extLst>
              </a:tr>
            </a:tbl>
          </a:graphicData>
        </a:graphic>
      </p:graphicFrame>
      <p:sp>
        <p:nvSpPr>
          <p:cNvPr id="46" name="TextBox 43"/>
          <p:cNvSpPr txBox="1">
            <a:spLocks noChangeArrowheads="1"/>
          </p:cNvSpPr>
          <p:nvPr/>
        </p:nvSpPr>
        <p:spPr bwMode="auto">
          <a:xfrm>
            <a:off x="935696" y="2996952"/>
            <a:ext cx="900000" cy="307777"/>
          </a:xfrm>
          <a:prstGeom prst="rect">
            <a:avLst/>
          </a:prstGeom>
          <a:noFill/>
          <a:ln w="9525">
            <a:noFill/>
            <a:miter lim="800000"/>
          </a:ln>
        </p:spPr>
        <p:txBody>
          <a:bodyPr wrap="square">
            <a:spAutoFit/>
          </a:bodyPr>
          <a:lstStyle/>
          <a:p>
            <a:pPr algn="r"/>
            <a:r>
              <a:rPr lang="en-US" altLang="zh-CN" sz="1400" dirty="0">
                <a:latin typeface="微软雅黑" panose="020B0503020204020204" charset="-122"/>
                <a:ea typeface="微软雅黑" panose="020B0503020204020204" charset="-122"/>
              </a:rPr>
              <a:t>=30</a:t>
            </a:r>
            <a:r>
              <a:rPr lang="zh-CN" altLang="en-US" sz="1400" dirty="0">
                <a:latin typeface="微软雅黑" panose="020B0503020204020204" charset="-122"/>
                <a:ea typeface="微软雅黑" panose="020B0503020204020204" charset="-122"/>
              </a:rPr>
              <a:t>天</a:t>
            </a:r>
            <a:endParaRPr lang="en-US" altLang="zh-CN" sz="1400" dirty="0">
              <a:latin typeface="微软雅黑" panose="020B0503020204020204" charset="-122"/>
              <a:ea typeface="微软雅黑" panose="020B0503020204020204" charset="-122"/>
            </a:endParaRPr>
          </a:p>
        </p:txBody>
      </p:sp>
      <p:sp>
        <p:nvSpPr>
          <p:cNvPr id="47" name="TextBox 16"/>
          <p:cNvSpPr txBox="1">
            <a:spLocks noChangeArrowheads="1"/>
          </p:cNvSpPr>
          <p:nvPr/>
        </p:nvSpPr>
        <p:spPr bwMode="auto">
          <a:xfrm>
            <a:off x="395536" y="980728"/>
            <a:ext cx="1512168" cy="461665"/>
          </a:xfrm>
          <a:prstGeom prst="rect">
            <a:avLst/>
          </a:prstGeom>
          <a:noFill/>
          <a:ln w="9525">
            <a:noFill/>
            <a:miter lim="800000"/>
          </a:ln>
        </p:spPr>
        <p:txBody>
          <a:bodyPr wrap="square">
            <a:spAutoFit/>
          </a:bodyPr>
          <a:lstStyle/>
          <a:p>
            <a:r>
              <a:rPr lang="zh-CN" altLang="en-US" sz="1200" dirty="0">
                <a:latin typeface="微软雅黑" panose="020B0503020204020204" charset="-122"/>
                <a:ea typeface="微软雅黑" panose="020B0503020204020204" charset="-122"/>
              </a:rPr>
              <a:t>（零部件数</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；共</a:t>
            </a:r>
            <a:r>
              <a:rPr lang="en-US" altLang="zh-CN" sz="1200" dirty="0">
                <a:latin typeface="微软雅黑" panose="020B0503020204020204" charset="-122"/>
                <a:ea typeface="微软雅黑" panose="020B0503020204020204" charset="-122"/>
              </a:rPr>
              <a:t>8792</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 </a:t>
            </a:r>
            <a:endParaRPr lang="zh-CN" altLang="en-US" sz="1200" dirty="0">
              <a:latin typeface="微软雅黑" panose="020B0503020204020204" charset="-122"/>
              <a:ea typeface="微软雅黑" panose="020B0503020204020204" charset="-122"/>
            </a:endParaRPr>
          </a:p>
        </p:txBody>
      </p:sp>
      <p:sp>
        <p:nvSpPr>
          <p:cNvPr id="48" name="Rectangle 47"/>
          <p:cNvSpPr>
            <a:spLocks noChangeArrowheads="1"/>
          </p:cNvSpPr>
          <p:nvPr/>
        </p:nvSpPr>
        <p:spPr bwMode="auto">
          <a:xfrm>
            <a:off x="323528" y="1484784"/>
            <a:ext cx="3312368" cy="2160240"/>
          </a:xfrm>
          <a:prstGeom prst="rect">
            <a:avLst/>
          </a:prstGeom>
          <a:noFill/>
          <a:ln w="50800" algn="ctr">
            <a:solidFill>
              <a:schemeClr val="accent4"/>
            </a:solidFill>
            <a:round/>
          </a:ln>
        </p:spPr>
        <p:txBody>
          <a:bodyPr lIns="90000" tIns="46800" rIns="90000" bIns="46800" anchor="ctr"/>
          <a:lstStyle/>
          <a:p>
            <a:pPr algn="ctr">
              <a:buFont typeface="Arial" panose="020B0604020202020204" pitchFamily="34" charset="0"/>
              <a:buNone/>
            </a:pPr>
            <a:endParaRPr lang="en-US" altLang="zh-CN" sz="1400">
              <a:latin typeface="微软雅黑" panose="020B0503020204020204" charset="-122"/>
              <a:ea typeface="微软雅黑" panose="020B0503020204020204" charset="-122"/>
            </a:endParaRPr>
          </a:p>
        </p:txBody>
      </p:sp>
      <p:sp>
        <p:nvSpPr>
          <p:cNvPr id="49" name="TextBox 48"/>
          <p:cNvSpPr txBox="1"/>
          <p:nvPr/>
        </p:nvSpPr>
        <p:spPr>
          <a:xfrm>
            <a:off x="323528" y="2073042"/>
            <a:ext cx="936104" cy="553998"/>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defRPr/>
            </a:pPr>
            <a:r>
              <a:rPr kumimoji="1" lang="zh-CN" altLang="en-US" sz="1000" b="1" dirty="0">
                <a:solidFill>
                  <a:srgbClr val="3366FF"/>
                </a:solidFill>
                <a:latin typeface="微软雅黑" panose="020B0503020204020204" charset="-122"/>
                <a:ea typeface="微软雅黑" panose="020B0503020204020204" charset="-122"/>
                <a:cs typeface="微软雅黑" panose="020B0503020204020204" charset="-122"/>
              </a:rPr>
              <a:t>根据长周期零部件计划备库存</a:t>
            </a:r>
            <a:endParaRPr kumimoji="1" lang="en-US" sz="1000" b="1" dirty="0">
              <a:solidFill>
                <a:srgbClr val="3366FF"/>
              </a:solidFill>
              <a:latin typeface="微软雅黑" panose="020B0503020204020204" charset="-122"/>
              <a:ea typeface="微软雅黑" panose="020B0503020204020204" charset="-122"/>
              <a:cs typeface="微软雅黑" panose="020B0503020204020204" charset="-122"/>
            </a:endParaRPr>
          </a:p>
        </p:txBody>
      </p:sp>
      <p:sp>
        <p:nvSpPr>
          <p:cNvPr id="50" name="Rectangle 49"/>
          <p:cNvSpPr>
            <a:spLocks noChangeArrowheads="1"/>
          </p:cNvSpPr>
          <p:nvPr/>
        </p:nvSpPr>
        <p:spPr bwMode="auto">
          <a:xfrm>
            <a:off x="3635896" y="1484784"/>
            <a:ext cx="4536504" cy="2160240"/>
          </a:xfrm>
          <a:prstGeom prst="rect">
            <a:avLst/>
          </a:prstGeom>
          <a:noFill/>
          <a:ln w="50800" algn="ctr">
            <a:solidFill>
              <a:schemeClr val="accent4"/>
            </a:solidFill>
            <a:round/>
          </a:ln>
        </p:spPr>
        <p:txBody>
          <a:bodyPr lIns="90000" tIns="46800" rIns="90000" bIns="46800" anchor="ctr"/>
          <a:lstStyle/>
          <a:p>
            <a:pPr algn="ctr">
              <a:buFont typeface="Arial" panose="020B0604020202020204" pitchFamily="34" charset="0"/>
              <a:buNone/>
            </a:pPr>
            <a:endParaRPr lang="en-US" altLang="zh-CN" sz="1400">
              <a:latin typeface="微软雅黑" panose="020B0503020204020204" charset="-122"/>
              <a:ea typeface="微软雅黑" panose="020B0503020204020204" charset="-122"/>
            </a:endParaRPr>
          </a:p>
        </p:txBody>
      </p:sp>
      <p:sp>
        <p:nvSpPr>
          <p:cNvPr id="51" name="TextBox 50"/>
          <p:cNvSpPr txBox="1"/>
          <p:nvPr/>
        </p:nvSpPr>
        <p:spPr bwMode="auto">
          <a:xfrm>
            <a:off x="899592" y="6021288"/>
            <a:ext cx="1368152" cy="276999"/>
          </a:xfrm>
          <a:prstGeom prst="rect">
            <a:avLst/>
          </a:prstGeom>
          <a:noFill/>
          <a:ln>
            <a:noFill/>
          </a:ln>
        </p:spPr>
        <p:txBody>
          <a:bodyPr wrap="square" rtlCol="0">
            <a:spAutoFit/>
          </a:bodyPr>
          <a:lstStyle/>
          <a:p>
            <a:r>
              <a:rPr kumimoji="1" lang="zh-CN" altLang="en-US" sz="1200" b="0" dirty="0">
                <a:solidFill>
                  <a:srgbClr val="000000"/>
                </a:solidFill>
                <a:latin typeface="微软雅黑" panose="020B0503020204020204" charset="-122"/>
                <a:ea typeface="微软雅黑" panose="020B0503020204020204" charset="-122"/>
                <a:cs typeface="微软雅黑" panose="020B0503020204020204" charset="-122"/>
              </a:rPr>
              <a:t>采购周期</a:t>
            </a:r>
            <a:endParaRPr kumimoji="1" 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2" name="TextBox 51"/>
          <p:cNvSpPr txBox="1"/>
          <p:nvPr/>
        </p:nvSpPr>
        <p:spPr>
          <a:xfrm>
            <a:off x="7380312" y="2132856"/>
            <a:ext cx="792088" cy="707886"/>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defRPr/>
            </a:pPr>
            <a:r>
              <a:rPr kumimoji="1" lang="zh-CN" altLang="en-US" sz="1000" b="1" dirty="0">
                <a:solidFill>
                  <a:srgbClr val="3366FF"/>
                </a:solidFill>
                <a:latin typeface="微软雅黑" panose="020B0503020204020204" charset="-122"/>
                <a:ea typeface="微软雅黑" panose="020B0503020204020204" charset="-122"/>
                <a:cs typeface="微软雅黑" panose="020B0503020204020204" charset="-122"/>
              </a:rPr>
              <a:t>据历史用量制定计划及安全库存</a:t>
            </a:r>
            <a:endParaRPr kumimoji="1" lang="en-US" sz="1000" b="1" dirty="0">
              <a:solidFill>
                <a:srgbClr val="3366FF"/>
              </a:solidFill>
              <a:latin typeface="微软雅黑" panose="020B0503020204020204" charset="-122"/>
              <a:ea typeface="微软雅黑" panose="020B0503020204020204" charset="-122"/>
              <a:cs typeface="微软雅黑" panose="020B0503020204020204" charset="-122"/>
            </a:endParaRPr>
          </a:p>
        </p:txBody>
      </p:sp>
      <p:sp>
        <p:nvSpPr>
          <p:cNvPr id="53" name="TextBox 52"/>
          <p:cNvSpPr txBox="1"/>
          <p:nvPr/>
        </p:nvSpPr>
        <p:spPr>
          <a:xfrm>
            <a:off x="7380312" y="4365104"/>
            <a:ext cx="792088" cy="553998"/>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defRPr/>
            </a:pPr>
            <a:r>
              <a:rPr kumimoji="1" lang="zh-CN" altLang="en-US" sz="1000" b="1" dirty="0">
                <a:solidFill>
                  <a:srgbClr val="3366FF"/>
                </a:solidFill>
                <a:latin typeface="微软雅黑" panose="020B0503020204020204" charset="-122"/>
                <a:ea typeface="微软雅黑" panose="020B0503020204020204" charset="-122"/>
                <a:cs typeface="微软雅黑" panose="020B0503020204020204" charset="-122"/>
              </a:rPr>
              <a:t>据最高</a:t>
            </a:r>
            <a:r>
              <a:rPr kumimoji="1" lang="en-US" altLang="zh-CN" sz="1000" b="1" dirty="0">
                <a:solidFill>
                  <a:srgbClr val="3366FF"/>
                </a:solidFill>
                <a:latin typeface="微软雅黑" panose="020B0503020204020204" charset="-122"/>
                <a:ea typeface="微软雅黑" panose="020B0503020204020204" charset="-122"/>
                <a:cs typeface="微软雅黑" panose="020B0503020204020204" charset="-122"/>
              </a:rPr>
              <a:t>/</a:t>
            </a:r>
            <a:r>
              <a:rPr kumimoji="1" lang="zh-CN" altLang="en-US" sz="1000" b="1" dirty="0">
                <a:solidFill>
                  <a:srgbClr val="3366FF"/>
                </a:solidFill>
                <a:latin typeface="微软雅黑" panose="020B0503020204020204" charset="-122"/>
                <a:ea typeface="微软雅黑" panose="020B0503020204020204" charset="-122"/>
                <a:cs typeface="微软雅黑" panose="020B0503020204020204" charset="-122"/>
              </a:rPr>
              <a:t>最低库存制定补货</a:t>
            </a:r>
            <a:endParaRPr kumimoji="1" lang="en-US" sz="1000" b="1" dirty="0">
              <a:solidFill>
                <a:srgbClr val="3366FF"/>
              </a:solidFill>
              <a:latin typeface="微软雅黑" panose="020B0503020204020204" charset="-122"/>
              <a:ea typeface="微软雅黑" panose="020B0503020204020204" charset="-122"/>
              <a:cs typeface="微软雅黑" panose="020B0503020204020204" charset="-122"/>
            </a:endParaRPr>
          </a:p>
        </p:txBody>
      </p:sp>
      <p:sp>
        <p:nvSpPr>
          <p:cNvPr id="54" name="TextBox 53"/>
          <p:cNvSpPr txBox="1"/>
          <p:nvPr/>
        </p:nvSpPr>
        <p:spPr bwMode="auto">
          <a:xfrm>
            <a:off x="293130" y="6279123"/>
            <a:ext cx="4422886" cy="245110"/>
          </a:xfrm>
          <a:prstGeom prst="rect">
            <a:avLst/>
          </a:prstGeom>
          <a:noFill/>
          <a:ln>
            <a:noFill/>
          </a:ln>
        </p:spPr>
        <p:txBody>
          <a:bodyPr wrap="square" lIns="0" rIns="0" rtlCol="0">
            <a:spAutoFit/>
          </a:bodyPr>
          <a:lstStyle/>
          <a:p>
            <a:r>
              <a:rPr kumimoji="1" lang="zh-CN" altLang="en-US" sz="1000" b="0" i="1" dirty="0">
                <a:solidFill>
                  <a:srgbClr val="000000"/>
                </a:solidFill>
                <a:latin typeface="微软雅黑" panose="020B0503020204020204" charset="-122"/>
                <a:ea typeface="微软雅黑" panose="020B0503020204020204" charset="-122"/>
                <a:cs typeface="微软雅黑" panose="020B0503020204020204" charset="-122"/>
              </a:rPr>
              <a:t>数据来源：x重机</a:t>
            </a:r>
            <a:r>
              <a:rPr kumimoji="1" lang="en-US" altLang="zh-CN" sz="1000" b="0" i="1" dirty="0">
                <a:solidFill>
                  <a:srgbClr val="000000"/>
                </a:solidFill>
                <a:latin typeface="微软雅黑" panose="020B0503020204020204" charset="-122"/>
                <a:ea typeface="微软雅黑" panose="020B0503020204020204" charset="-122"/>
                <a:cs typeface="微软雅黑" panose="020B0503020204020204" charset="-122"/>
              </a:rPr>
              <a:t>2015</a:t>
            </a:r>
            <a:r>
              <a:rPr kumimoji="1" lang="zh-CN" altLang="en-US" sz="1000" b="0" i="1" dirty="0">
                <a:solidFill>
                  <a:srgbClr val="000000"/>
                </a:solidFill>
                <a:latin typeface="微软雅黑" panose="020B0503020204020204" charset="-122"/>
                <a:ea typeface="微软雅黑" panose="020B0503020204020204" charset="-122"/>
                <a:cs typeface="微软雅黑" panose="020B0503020204020204" charset="-122"/>
              </a:rPr>
              <a:t>年</a:t>
            </a:r>
            <a:r>
              <a:rPr kumimoji="1" lang="en-US" altLang="zh-CN" sz="1000" b="0" i="1" dirty="0">
                <a:solidFill>
                  <a:srgbClr val="000000"/>
                </a:solidFill>
                <a:latin typeface="微软雅黑" panose="020B0503020204020204" charset="-122"/>
                <a:ea typeface="微软雅黑" panose="020B0503020204020204" charset="-122"/>
                <a:cs typeface="微软雅黑" panose="020B0503020204020204" charset="-122"/>
              </a:rPr>
              <a:t>1-12</a:t>
            </a:r>
            <a:r>
              <a:rPr kumimoji="1" lang="zh-CN" altLang="en-US" sz="1000" b="0" i="1" dirty="0">
                <a:solidFill>
                  <a:srgbClr val="000000"/>
                </a:solidFill>
                <a:latin typeface="微软雅黑" panose="020B0503020204020204" charset="-122"/>
                <a:ea typeface="微软雅黑" panose="020B0503020204020204" charset="-122"/>
                <a:cs typeface="微软雅黑" panose="020B0503020204020204" charset="-122"/>
              </a:rPr>
              <a:t>月份大挖发生采购业务的编码，项目组分析</a:t>
            </a:r>
            <a:endParaRPr kumimoji="1" lang="en-US" altLang="zh-CN" sz="1000" b="0" i="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5" name="Rectangle 20"/>
          <p:cNvSpPr>
            <a:spLocks noChangeArrowheads="1"/>
          </p:cNvSpPr>
          <p:nvPr/>
        </p:nvSpPr>
        <p:spPr bwMode="auto">
          <a:xfrm>
            <a:off x="323528" y="3717032"/>
            <a:ext cx="3282478" cy="1008112"/>
          </a:xfrm>
          <a:prstGeom prst="rect">
            <a:avLst/>
          </a:prstGeom>
          <a:solidFill>
            <a:schemeClr val="accent1">
              <a:lumMod val="75000"/>
              <a:alpha val="7059"/>
            </a:schemeClr>
          </a:solidFill>
          <a:ln w="50800" algn="ctr">
            <a:solidFill>
              <a:schemeClr val="tx2">
                <a:lumMod val="40000"/>
                <a:lumOff val="60000"/>
              </a:schemeClr>
            </a:solidFill>
            <a:round/>
          </a:ln>
        </p:spPr>
        <p:txBody>
          <a:bodyPr lIns="90000" tIns="46800" rIns="90000" bIns="46800" anchor="ctr"/>
          <a:lstStyle/>
          <a:p>
            <a:pPr algn="ctr">
              <a:buFont typeface="Arial" panose="020B0604020202020204" pitchFamily="34" charset="0"/>
              <a:buNone/>
            </a:pPr>
            <a:endParaRPr lang="en-US" altLang="zh-CN" sz="1400">
              <a:latin typeface="微软雅黑" panose="020B0503020204020204" charset="-122"/>
              <a:ea typeface="微软雅黑" panose="020B0503020204020204" charset="-122"/>
            </a:endParaRPr>
          </a:p>
        </p:txBody>
      </p:sp>
      <p:sp>
        <p:nvSpPr>
          <p:cNvPr id="56" name="TextBox 55"/>
          <p:cNvSpPr txBox="1"/>
          <p:nvPr/>
        </p:nvSpPr>
        <p:spPr>
          <a:xfrm>
            <a:off x="323528" y="3789040"/>
            <a:ext cx="864096" cy="707886"/>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defRPr/>
            </a:pPr>
            <a:r>
              <a:rPr kumimoji="1" lang="zh-CN" altLang="en-US" sz="1000" b="1" dirty="0">
                <a:solidFill>
                  <a:srgbClr val="3366FF"/>
                </a:solidFill>
                <a:latin typeface="微软雅黑" panose="020B0503020204020204" charset="-122"/>
                <a:ea typeface="微软雅黑" panose="020B0503020204020204" charset="-122"/>
                <a:cs typeface="微软雅黑" panose="020B0503020204020204" charset="-122"/>
              </a:rPr>
              <a:t>根据零部件通用性及供应商情况适当备库存</a:t>
            </a:r>
            <a:endParaRPr kumimoji="1" lang="en-US" sz="1000" b="1" dirty="0">
              <a:solidFill>
                <a:srgbClr val="3366FF"/>
              </a:solidFill>
              <a:latin typeface="微软雅黑" panose="020B0503020204020204" charset="-122"/>
              <a:ea typeface="微软雅黑" panose="020B0503020204020204" charset="-122"/>
              <a:cs typeface="微软雅黑" panose="020B0503020204020204" charset="-122"/>
            </a:endParaRPr>
          </a:p>
        </p:txBody>
      </p:sp>
      <p:sp>
        <p:nvSpPr>
          <p:cNvPr id="57" name="Rectangle 20"/>
          <p:cNvSpPr>
            <a:spLocks noChangeArrowheads="1"/>
          </p:cNvSpPr>
          <p:nvPr/>
        </p:nvSpPr>
        <p:spPr bwMode="auto">
          <a:xfrm>
            <a:off x="323528" y="4797152"/>
            <a:ext cx="3282478" cy="1224136"/>
          </a:xfrm>
          <a:prstGeom prst="rect">
            <a:avLst/>
          </a:prstGeom>
          <a:solidFill>
            <a:schemeClr val="accent1">
              <a:lumMod val="75000"/>
              <a:alpha val="7059"/>
            </a:schemeClr>
          </a:solidFill>
          <a:ln w="50800" algn="ctr">
            <a:solidFill>
              <a:schemeClr val="tx2">
                <a:lumMod val="40000"/>
                <a:lumOff val="60000"/>
              </a:schemeClr>
            </a:solidFill>
            <a:round/>
          </a:ln>
        </p:spPr>
        <p:txBody>
          <a:bodyPr lIns="90000" tIns="46800" rIns="90000" bIns="46800" anchor="ctr"/>
          <a:lstStyle/>
          <a:p>
            <a:pPr algn="ctr">
              <a:buFont typeface="Arial" panose="020B0604020202020204" pitchFamily="34" charset="0"/>
              <a:buNone/>
            </a:pPr>
            <a:endParaRPr lang="en-US" altLang="zh-CN" sz="1400">
              <a:latin typeface="微软雅黑" panose="020B0503020204020204" charset="-122"/>
              <a:ea typeface="微软雅黑" panose="020B0503020204020204" charset="-122"/>
            </a:endParaRPr>
          </a:p>
        </p:txBody>
      </p:sp>
      <p:sp>
        <p:nvSpPr>
          <p:cNvPr id="58" name="TextBox 57"/>
          <p:cNvSpPr txBox="1"/>
          <p:nvPr/>
        </p:nvSpPr>
        <p:spPr>
          <a:xfrm>
            <a:off x="323528" y="5013176"/>
            <a:ext cx="864096" cy="400110"/>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defRPr/>
            </a:pPr>
            <a:r>
              <a:rPr kumimoji="1" lang="zh-CN" altLang="en-US" sz="1000" b="1" dirty="0">
                <a:solidFill>
                  <a:srgbClr val="3366FF"/>
                </a:solidFill>
                <a:latin typeface="微软雅黑" panose="020B0503020204020204" charset="-122"/>
                <a:ea typeface="微软雅黑" panose="020B0503020204020204" charset="-122"/>
                <a:cs typeface="微软雅黑" panose="020B0503020204020204" charset="-122"/>
              </a:rPr>
              <a:t>根据供货指令供货</a:t>
            </a:r>
            <a:endParaRPr kumimoji="1" lang="en-US" sz="1000" b="1" dirty="0">
              <a:solidFill>
                <a:srgbClr val="3366FF"/>
              </a:solidFill>
              <a:latin typeface="微软雅黑" panose="020B0503020204020204" charset="-122"/>
              <a:ea typeface="微软雅黑" panose="020B0503020204020204" charset="-122"/>
              <a:cs typeface="微软雅黑" panose="020B0503020204020204" charset="-122"/>
            </a:endParaRPr>
          </a:p>
        </p:txBody>
      </p:sp>
      <p:sp>
        <p:nvSpPr>
          <p:cNvPr id="59" name="TextBox 58"/>
          <p:cNvSpPr txBox="1"/>
          <p:nvPr/>
        </p:nvSpPr>
        <p:spPr bwMode="auto">
          <a:xfrm>
            <a:off x="6588224" y="5949280"/>
            <a:ext cx="1656184" cy="646331"/>
          </a:xfrm>
          <a:prstGeom prst="rect">
            <a:avLst/>
          </a:prstGeom>
          <a:solidFill>
            <a:schemeClr val="accent6"/>
          </a:solidFill>
          <a:ln>
            <a:noFill/>
          </a:ln>
        </p:spPr>
        <p:txBody>
          <a:bodyPr wrap="square" rtlCol="0">
            <a:spAutoFit/>
          </a:bodyPr>
          <a:lstStyle/>
          <a:p>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大挖总金额约占重机采购额</a:t>
            </a:r>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8</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.2%</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C</a:t>
            </a:r>
            <a:r>
              <a:rPr kumimoji="1" lang="zh-CN" altLang="en-US" sz="1200" dirty="0">
                <a:solidFill>
                  <a:srgbClr val="000000"/>
                </a:solidFill>
                <a:latin typeface="微软雅黑" panose="020B0503020204020204" charset="-122"/>
                <a:ea typeface="微软雅黑" panose="020B0503020204020204" charset="-122"/>
                <a:cs typeface="微软雅黑" panose="020B0503020204020204" charset="-122"/>
              </a:rPr>
              <a:t>类编码金额均</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&lt;</a:t>
            </a:r>
            <a:r>
              <a:rPr kumimoji="1" lang="zh-CN" altLang="zh-CN" sz="1200" dirty="0">
                <a:solidFill>
                  <a:srgbClr val="000000"/>
                </a:solidFill>
                <a:latin typeface="微软雅黑" panose="020B0503020204020204" charset="-122"/>
                <a:ea typeface="微软雅黑" panose="020B0503020204020204" charset="-122"/>
                <a:cs typeface="微软雅黑" panose="020B0503020204020204" charset="-122"/>
              </a:rPr>
              <a:t>3</a:t>
            </a:r>
            <a:r>
              <a:rPr kumimoji="1" lang="en-US" altLang="zh-CN" sz="1200" dirty="0">
                <a:solidFill>
                  <a:srgbClr val="000000"/>
                </a:solidFill>
                <a:latin typeface="微软雅黑" panose="020B0503020204020204" charset="-122"/>
                <a:ea typeface="微软雅黑" panose="020B0503020204020204" charset="-122"/>
                <a:cs typeface="微软雅黑" panose="020B0503020204020204" charset="-122"/>
              </a:rPr>
              <a:t>750RMB</a:t>
            </a:r>
            <a:endParaRPr kumimoji="1" lang="en-US" sz="1200" b="0"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E</a:t>
            </a:r>
            <a:r>
              <a:rPr dirty="0"/>
              <a:t>-</a:t>
            </a:r>
            <a:r>
              <a:rPr lang="en-US" altLang="zh-CN" dirty="0"/>
              <a:t>3</a:t>
            </a:r>
            <a:r>
              <a:rPr lang="en-US" altLang="zh-TW" dirty="0"/>
              <a:t>. </a:t>
            </a:r>
            <a:r>
              <a:rPr lang="zh-TW" altLang="en-US" dirty="0"/>
              <a:t>零部件</a:t>
            </a:r>
            <a:r>
              <a:rPr lang="zh-CN" altLang="en-US" dirty="0"/>
              <a:t>配送</a:t>
            </a:r>
            <a:r>
              <a:rPr lang="en-US" altLang="zh-CN" dirty="0"/>
              <a:t>—</a:t>
            </a:r>
            <a:r>
              <a:rPr lang="zh-CN" altLang="en-US" dirty="0"/>
              <a:t>进口件</a:t>
            </a:r>
            <a:r>
              <a:rPr lang="zh-CN" altLang="zh-CN" dirty="0"/>
              <a:t>/</a:t>
            </a:r>
            <a:r>
              <a:rPr lang="zh-CN" altLang="en-US" dirty="0"/>
              <a:t>钢材等按订单配送；当量补货件按中短期生产配送；</a:t>
            </a:r>
            <a:r>
              <a:rPr lang="en-US" altLang="zh-CN" dirty="0"/>
              <a:t>JIT/JIS</a:t>
            </a:r>
            <a:r>
              <a:rPr lang="zh-CN" altLang="en-US" dirty="0"/>
              <a:t>件按供货指令配送</a:t>
            </a:r>
            <a:endParaRPr lang="en-US" dirty="0"/>
          </a:p>
        </p:txBody>
      </p:sp>
      <p:grpSp>
        <p:nvGrpSpPr>
          <p:cNvPr id="3" name="Group 2"/>
          <p:cNvGrpSpPr/>
          <p:nvPr/>
        </p:nvGrpSpPr>
        <p:grpSpPr>
          <a:xfrm>
            <a:off x="539552" y="1661860"/>
            <a:ext cx="7992888" cy="4431436"/>
            <a:chOff x="4071934" y="1214422"/>
            <a:chExt cx="4500594" cy="4143404"/>
          </a:xfrm>
        </p:grpSpPr>
        <p:sp>
          <p:nvSpPr>
            <p:cNvPr id="38" name="矩形 79"/>
            <p:cNvSpPr/>
            <p:nvPr/>
          </p:nvSpPr>
          <p:spPr bwMode="auto">
            <a:xfrm>
              <a:off x="4071934" y="1643050"/>
              <a:ext cx="4500594" cy="3714776"/>
            </a:xfrm>
            <a:prstGeom prst="rect">
              <a:avLst/>
            </a:prstGeom>
            <a:solidFill>
              <a:srgbClr val="F0F2FE"/>
            </a:solidFill>
            <a:ln w="6350">
              <a:noFill/>
              <a:miter lim="800000"/>
            </a:ln>
          </p:spPr>
          <p:txBody>
            <a:bodyPr rtlCol="0" anchor="ctr">
              <a:noAutofit/>
            </a:bodyPr>
            <a:lstStyle/>
            <a:p>
              <a:pPr marL="117475" marR="0" lvl="0" indent="-117475" algn="l" defTabSz="914400" eaLnBrk="1" fontAlgn="auto" latinLnBrk="0" hangingPunct="1">
                <a:lnSpc>
                  <a:spcPct val="100000"/>
                </a:lnSpc>
                <a:spcBef>
                  <a:spcPts val="0"/>
                </a:spcBef>
                <a:spcAft>
                  <a:spcPts val="0"/>
                </a:spcAft>
                <a:buClr>
                  <a:srgbClr val="000000"/>
                </a:buClr>
                <a:buSzTx/>
                <a:buFont typeface="Wingdings" panose="05000000000000000000" pitchFamily="2" charset="2"/>
                <a:buChar char="§"/>
                <a:defRPr/>
              </a:pPr>
              <a:endParaRPr kumimoji="0" lang="zh-CN" altLang="en-US" sz="1800" b="0" i="0" u="none" strike="noStrike" kern="0" cap="none" spc="0" normalizeH="0" baseline="0" noProof="0" dirty="0">
                <a:ln>
                  <a:noFill/>
                </a:ln>
                <a:solidFill>
                  <a:srgbClr val="000000"/>
                </a:solidFill>
                <a:effectLst/>
                <a:uLnTx/>
                <a:uFillTx/>
              </a:endParaRPr>
            </a:p>
          </p:txBody>
        </p:sp>
        <p:sp>
          <p:nvSpPr>
            <p:cNvPr id="39" name="Rectangle 14"/>
            <p:cNvSpPr>
              <a:spLocks noChangeArrowheads="1"/>
            </p:cNvSpPr>
            <p:nvPr/>
          </p:nvSpPr>
          <p:spPr bwMode="auto">
            <a:xfrm>
              <a:off x="4071934" y="1214422"/>
              <a:ext cx="4500594" cy="403966"/>
            </a:xfrm>
            <a:prstGeom prst="rect">
              <a:avLst/>
            </a:prstGeom>
            <a:solidFill>
              <a:srgbClr val="7889FB"/>
            </a:solidFill>
            <a:ln w="6350">
              <a:noFill/>
              <a:miter lim="800000"/>
            </a:ln>
            <a:effectLst>
              <a:outerShdw dist="35921" dir="2700000" algn="ctr" rotWithShape="0">
                <a:srgbClr val="FFFFFF"/>
              </a:outerShdw>
            </a:effectLst>
          </p:spPr>
          <p:txBody>
            <a:bodyPr wrap="none" lIns="0" tIns="0" rIns="0" bIns="0" anchor="ctr"/>
            <a:lstStyle/>
            <a:p>
              <a:pPr marL="0" marR="0" lvl="0" indent="0" algn="ctr" defTabSz="914400" eaLnBrk="1" fontAlgn="auto" latinLnBrk="0" hangingPunct="1">
                <a:lnSpc>
                  <a:spcPct val="100000"/>
                </a:lnSpc>
                <a:spcBef>
                  <a:spcPts val="0"/>
                </a:spcBef>
                <a:spcAft>
                  <a:spcPts val="0"/>
                </a:spcAft>
                <a:buClrTx/>
                <a:buSzTx/>
                <a:buFont typeface="Wingdings" panose="05000000000000000000" pitchFamily="2" charset="2"/>
                <a:buNone/>
                <a:defRPr/>
              </a:pPr>
              <a:r>
                <a:rPr lang="zh-CN" altLang="en-US" b="1" kern="0" dirty="0">
                  <a:solidFill>
                    <a:srgbClr val="FFFFFF"/>
                  </a:solidFill>
                  <a:latin typeface="微软雅黑" panose="020B0503020204020204" charset="-122"/>
                  <a:ea typeface="微软雅黑" panose="020B0503020204020204" charset="-122"/>
                  <a:cs typeface="Arial" panose="020B0604020202020204" pitchFamily="34" charset="0"/>
                </a:rPr>
                <a:t>零部件配送</a:t>
              </a:r>
              <a:endPar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Arial" panose="020B0604020202020204" pitchFamily="34" charset="0"/>
              </a:endParaRPr>
            </a:p>
          </p:txBody>
        </p:sp>
        <p:sp>
          <p:nvSpPr>
            <p:cNvPr id="41" name="矩形 64"/>
            <p:cNvSpPr/>
            <p:nvPr/>
          </p:nvSpPr>
          <p:spPr bwMode="auto">
            <a:xfrm>
              <a:off x="4357686" y="4567554"/>
              <a:ext cx="1785950" cy="500066"/>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ctr">
              <a:noAutofit/>
            </a:bodyPr>
            <a:lstStyle/>
            <a:p>
              <a:pPr marL="117475" indent="-117475" algn="ctr">
                <a:buClr>
                  <a:schemeClr val="tx1"/>
                </a:buClr>
              </a:pPr>
              <a:r>
                <a:rPr lang="zh-CN" altLang="en-US" sz="1600" b="1" dirty="0">
                  <a:solidFill>
                    <a:srgbClr val="000000"/>
                  </a:solidFill>
                  <a:latin typeface="微软雅黑" panose="020B0503020204020204" charset="-122"/>
                  <a:ea typeface="微软雅黑" panose="020B0503020204020204" charset="-122"/>
                </a:rPr>
                <a:t>按订单供货</a:t>
              </a:r>
            </a:p>
          </p:txBody>
        </p:sp>
        <p:sp>
          <p:nvSpPr>
            <p:cNvPr id="43" name="矩形 66"/>
            <p:cNvSpPr/>
            <p:nvPr/>
          </p:nvSpPr>
          <p:spPr bwMode="auto">
            <a:xfrm>
              <a:off x="4355755" y="2078518"/>
              <a:ext cx="1785950" cy="500066"/>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ctr">
              <a:noAutofit/>
            </a:bodyPr>
            <a:lstStyle/>
            <a:p>
              <a:pPr marL="117475" indent="-117475" algn="ctr">
                <a:buClr>
                  <a:schemeClr val="tx1"/>
                </a:buClr>
              </a:pPr>
              <a:r>
                <a:rPr lang="zh-CN" altLang="en-US" sz="1600" b="1" dirty="0">
                  <a:solidFill>
                    <a:srgbClr val="000000"/>
                  </a:solidFill>
                  <a:latin typeface="微软雅黑" panose="020B0503020204020204" charset="-122"/>
                  <a:ea typeface="微软雅黑" panose="020B0503020204020204" charset="-122"/>
                </a:rPr>
                <a:t>按天</a:t>
              </a:r>
              <a:r>
                <a:rPr lang="en-US" altLang="zh-CN" sz="1600" b="1" dirty="0">
                  <a:solidFill>
                    <a:srgbClr val="000000"/>
                  </a:solidFill>
                  <a:latin typeface="微软雅黑" panose="020B0503020204020204" charset="-122"/>
                  <a:ea typeface="微软雅黑" panose="020B0503020204020204" charset="-122"/>
                </a:rPr>
                <a:t>/</a:t>
              </a:r>
              <a:r>
                <a:rPr lang="zh-CN" altLang="en-US" sz="1600" b="1" dirty="0">
                  <a:solidFill>
                    <a:srgbClr val="000000"/>
                  </a:solidFill>
                  <a:latin typeface="微软雅黑" panose="020B0503020204020204" charset="-122"/>
                  <a:ea typeface="微软雅黑" panose="020B0503020204020204" charset="-122"/>
                </a:rPr>
                <a:t>时区供货（</a:t>
              </a:r>
              <a:r>
                <a:rPr lang="en-US" altLang="zh-CN" sz="1600" b="1" dirty="0">
                  <a:solidFill>
                    <a:srgbClr val="000000"/>
                  </a:solidFill>
                  <a:latin typeface="微软雅黑" panose="020B0503020204020204" charset="-122"/>
                  <a:ea typeface="微软雅黑" panose="020B0503020204020204" charset="-122"/>
                </a:rPr>
                <a:t>JIT</a:t>
              </a:r>
              <a:r>
                <a:rPr lang="zh-CN" altLang="en-US" sz="1600" b="1" dirty="0">
                  <a:solidFill>
                    <a:srgbClr val="000000"/>
                  </a:solidFill>
                  <a:latin typeface="微软雅黑" panose="020B0503020204020204" charset="-122"/>
                  <a:ea typeface="微软雅黑" panose="020B0503020204020204" charset="-122"/>
                </a:rPr>
                <a:t>）</a:t>
              </a:r>
            </a:p>
          </p:txBody>
        </p:sp>
        <p:sp>
          <p:nvSpPr>
            <p:cNvPr id="44" name="矩形 70"/>
            <p:cNvSpPr/>
            <p:nvPr/>
          </p:nvSpPr>
          <p:spPr bwMode="auto">
            <a:xfrm>
              <a:off x="4357686" y="2908197"/>
              <a:ext cx="1785950" cy="500066"/>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ctr">
              <a:noAutofit/>
            </a:bodyPr>
            <a:lstStyle/>
            <a:p>
              <a:pPr marL="117475" indent="-117475" algn="ctr">
                <a:buClr>
                  <a:schemeClr val="tx1"/>
                </a:buClr>
              </a:pPr>
              <a:r>
                <a:rPr lang="zh-CN" altLang="en-US" sz="1600" b="1" dirty="0">
                  <a:solidFill>
                    <a:srgbClr val="000000"/>
                  </a:solidFill>
                  <a:latin typeface="微软雅黑" panose="020B0503020204020204" charset="-122"/>
                  <a:ea typeface="微软雅黑" panose="020B0503020204020204" charset="-122"/>
                </a:rPr>
                <a:t>按上线顺序供货</a:t>
              </a:r>
              <a:r>
                <a:rPr lang="en-US" altLang="zh-CN" sz="1600" b="1" dirty="0">
                  <a:solidFill>
                    <a:srgbClr val="000000"/>
                  </a:solidFill>
                  <a:latin typeface="微软雅黑" panose="020B0503020204020204" charset="-122"/>
                  <a:ea typeface="微软雅黑" panose="020B0503020204020204" charset="-122"/>
                </a:rPr>
                <a:t>(JIS)</a:t>
              </a:r>
              <a:endParaRPr lang="zh-CN" altLang="en-US" sz="1600" b="1" dirty="0">
                <a:solidFill>
                  <a:srgbClr val="000000"/>
                </a:solidFill>
                <a:latin typeface="微软雅黑" panose="020B0503020204020204" charset="-122"/>
                <a:ea typeface="微软雅黑" panose="020B0503020204020204" charset="-122"/>
              </a:endParaRPr>
            </a:p>
          </p:txBody>
        </p:sp>
        <p:sp>
          <p:nvSpPr>
            <p:cNvPr id="45" name="矩形 71"/>
            <p:cNvSpPr/>
            <p:nvPr/>
          </p:nvSpPr>
          <p:spPr bwMode="auto">
            <a:xfrm>
              <a:off x="4357686" y="3737876"/>
              <a:ext cx="1785950" cy="500066"/>
            </a:xfrm>
            <a:prstGeom prst="rect">
              <a:avLst/>
            </a:prstGeom>
            <a:solidFill>
              <a:schemeClr val="bg1"/>
            </a:solidFill>
            <a:ln w="6350">
              <a:solidFill>
                <a:schemeClr val="tx1"/>
              </a:solidFill>
              <a:miter lim="800000"/>
            </a:ln>
            <a:effectLst>
              <a:outerShdw blurRad="50800" dist="38100" dir="2700000" algn="tl" rotWithShape="0">
                <a:prstClr val="black">
                  <a:alpha val="40000"/>
                </a:prstClr>
              </a:outerShdw>
            </a:effectLst>
          </p:spPr>
          <p:txBody>
            <a:bodyPr rtlCol="0" anchor="ctr">
              <a:noAutofit/>
            </a:bodyPr>
            <a:lstStyle/>
            <a:p>
              <a:pPr marL="117475" indent="-117475" algn="ctr">
                <a:buClr>
                  <a:schemeClr val="tx1"/>
                </a:buClr>
              </a:pPr>
              <a:r>
                <a:rPr lang="zh-CN" altLang="en-US" sz="1600" b="1" dirty="0">
                  <a:solidFill>
                    <a:srgbClr val="000000"/>
                  </a:solidFill>
                  <a:latin typeface="微软雅黑" panose="020B0503020204020204" charset="-122"/>
                  <a:ea typeface="微软雅黑" panose="020B0503020204020204" charset="-122"/>
                </a:rPr>
                <a:t>当量补货</a:t>
              </a:r>
            </a:p>
          </p:txBody>
        </p:sp>
        <p:sp>
          <p:nvSpPr>
            <p:cNvPr id="46" name="TextBox 45"/>
            <p:cNvSpPr txBox="1"/>
            <p:nvPr/>
          </p:nvSpPr>
          <p:spPr>
            <a:xfrm>
              <a:off x="6527294" y="2058770"/>
              <a:ext cx="1928826" cy="489212"/>
            </a:xfrm>
            <a:prstGeom prst="rect">
              <a:avLst/>
            </a:prstGeom>
            <a:noFill/>
          </p:spPr>
          <p:txBody>
            <a:bodyPr wrap="square" rtlCol="0">
              <a:spAutoFit/>
            </a:bodyPr>
            <a:lstStyle/>
            <a:p>
              <a:r>
                <a:rPr lang="zh-CN" altLang="en-US" sz="1400" dirty="0">
                  <a:latin typeface="微软雅黑" panose="020B0503020204020204" charset="-122"/>
                  <a:ea typeface="微软雅黑" panose="020B0503020204020204" charset="-122"/>
                </a:rPr>
                <a:t>低价值零部件可以按锁定期时间（如集合</a:t>
              </a:r>
              <a:r>
                <a:rPr lang="en-US" altLang="zh-CN" sz="1400" dirty="0">
                  <a:latin typeface="微软雅黑" panose="020B0503020204020204" charset="-122"/>
                  <a:ea typeface="微软雅黑" panose="020B0503020204020204" charset="-122"/>
                </a:rPr>
                <a:t>3</a:t>
              </a:r>
              <a:r>
                <a:rPr lang="zh-CN" altLang="en-US" sz="1400" dirty="0">
                  <a:latin typeface="微软雅黑" panose="020B0503020204020204" charset="-122"/>
                  <a:ea typeface="微软雅黑" panose="020B0503020204020204" charset="-122"/>
                </a:rPr>
                <a:t>天需求一起配送）配送，减少送货频次</a:t>
              </a:r>
            </a:p>
          </p:txBody>
        </p:sp>
        <p:sp>
          <p:nvSpPr>
            <p:cNvPr id="47" name="TextBox 46"/>
            <p:cNvSpPr txBox="1"/>
            <p:nvPr/>
          </p:nvSpPr>
          <p:spPr>
            <a:xfrm>
              <a:off x="6527294" y="2798598"/>
              <a:ext cx="1928826" cy="690653"/>
            </a:xfrm>
            <a:prstGeom prst="rect">
              <a:avLst/>
            </a:prstGeom>
            <a:noFill/>
          </p:spPr>
          <p:txBody>
            <a:bodyPr wrap="square" rtlCol="0">
              <a:spAutoFit/>
            </a:bodyPr>
            <a:lstStyle/>
            <a:p>
              <a:r>
                <a:rPr lang="zh-CN" altLang="en-US" sz="1400" dirty="0">
                  <a:latin typeface="微软雅黑" panose="020B0503020204020204" charset="-122"/>
                  <a:ea typeface="微软雅黑" panose="020B0503020204020204" charset="-122"/>
                </a:rPr>
                <a:t>对体积较大、供应商距离较近的件按上线顺序供货，提前</a:t>
              </a:r>
              <a:r>
                <a:rPr lang="en-US" altLang="zh-CN" sz="1400" dirty="0">
                  <a:latin typeface="微软雅黑" panose="020B0503020204020204" charset="-122"/>
                  <a:ea typeface="微软雅黑" panose="020B0503020204020204" charset="-122"/>
                </a:rPr>
                <a:t>24</a:t>
              </a:r>
              <a:r>
                <a:rPr lang="zh-CN" altLang="en-US" sz="1400" dirty="0">
                  <a:latin typeface="微软雅黑" panose="020B0503020204020204" charset="-122"/>
                  <a:ea typeface="微软雅黑" panose="020B0503020204020204" charset="-122"/>
                </a:rPr>
                <a:t>小时对上线顺序进行确认并发布</a:t>
              </a:r>
            </a:p>
          </p:txBody>
        </p:sp>
        <p:sp>
          <p:nvSpPr>
            <p:cNvPr id="48" name="TextBox 47"/>
            <p:cNvSpPr txBox="1"/>
            <p:nvPr/>
          </p:nvSpPr>
          <p:spPr>
            <a:xfrm>
              <a:off x="6527294" y="3838151"/>
              <a:ext cx="1928826" cy="287772"/>
            </a:xfrm>
            <a:prstGeom prst="rect">
              <a:avLst/>
            </a:prstGeom>
            <a:noFill/>
          </p:spPr>
          <p:txBody>
            <a:bodyPr wrap="square" rtlCol="0">
              <a:spAutoFit/>
            </a:bodyPr>
            <a:lstStyle/>
            <a:p>
              <a:r>
                <a:rPr lang="zh-CN" altLang="en-US" sz="1400" dirty="0">
                  <a:latin typeface="微软雅黑" panose="020B0503020204020204" charset="-122"/>
                  <a:ea typeface="微软雅黑" panose="020B0503020204020204" charset="-122"/>
                </a:rPr>
                <a:t>由人工盘点变为系统自动按当量触发</a:t>
              </a:r>
            </a:p>
          </p:txBody>
        </p:sp>
        <p:sp>
          <p:nvSpPr>
            <p:cNvPr id="49" name="TextBox 48"/>
            <p:cNvSpPr txBox="1"/>
            <p:nvPr/>
          </p:nvSpPr>
          <p:spPr>
            <a:xfrm>
              <a:off x="6527294" y="4560530"/>
              <a:ext cx="1928826" cy="489212"/>
            </a:xfrm>
            <a:prstGeom prst="rect">
              <a:avLst/>
            </a:prstGeom>
            <a:noFill/>
          </p:spPr>
          <p:txBody>
            <a:bodyPr wrap="square" rtlCol="0">
              <a:spAutoFit/>
            </a:bodyPr>
            <a:lstStyle/>
            <a:p>
              <a:r>
                <a:rPr lang="zh-CN" altLang="en-US" sz="1400" dirty="0">
                  <a:latin typeface="微软雅黑" panose="020B0503020204020204" charset="-122"/>
                  <a:ea typeface="微软雅黑" panose="020B0503020204020204" charset="-122"/>
                </a:rPr>
                <a:t>针对进口件</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钢材、油料按月度下单，根据采购订单供货</a:t>
              </a:r>
            </a:p>
          </p:txBody>
        </p:sp>
        <p:sp>
          <p:nvSpPr>
            <p:cNvPr id="50" name="等腰三角形 166"/>
            <p:cNvSpPr/>
            <p:nvPr/>
          </p:nvSpPr>
          <p:spPr bwMode="auto">
            <a:xfrm rot="5400000">
              <a:off x="6056779" y="2287765"/>
              <a:ext cx="620281" cy="113353"/>
            </a:xfrm>
            <a:prstGeom prst="triangle">
              <a:avLst/>
            </a:prstGeom>
            <a:solidFill>
              <a:schemeClr val="accent1">
                <a:lumMod val="60000"/>
                <a:lumOff val="40000"/>
              </a:schemeClr>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51" name="等腰三角形 167"/>
            <p:cNvSpPr/>
            <p:nvPr/>
          </p:nvSpPr>
          <p:spPr bwMode="auto">
            <a:xfrm rot="5400000">
              <a:off x="6133261" y="3049201"/>
              <a:ext cx="500066" cy="142876"/>
            </a:xfrm>
            <a:prstGeom prst="triangle">
              <a:avLst/>
            </a:prstGeom>
            <a:solidFill>
              <a:schemeClr val="accent1">
                <a:lumMod val="60000"/>
                <a:lumOff val="40000"/>
              </a:schemeClr>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52" name="等腰三角形 168"/>
            <p:cNvSpPr/>
            <p:nvPr/>
          </p:nvSpPr>
          <p:spPr bwMode="auto">
            <a:xfrm rot="5400000">
              <a:off x="6133261" y="3913297"/>
              <a:ext cx="500066" cy="142876"/>
            </a:xfrm>
            <a:prstGeom prst="triangle">
              <a:avLst/>
            </a:prstGeom>
            <a:solidFill>
              <a:schemeClr val="accent1">
                <a:lumMod val="60000"/>
                <a:lumOff val="40000"/>
              </a:schemeClr>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sp>
          <p:nvSpPr>
            <p:cNvPr id="53" name="等腰三角形 169"/>
            <p:cNvSpPr/>
            <p:nvPr/>
          </p:nvSpPr>
          <p:spPr bwMode="auto">
            <a:xfrm rot="5400000">
              <a:off x="6133261" y="4739125"/>
              <a:ext cx="500066" cy="142876"/>
            </a:xfrm>
            <a:prstGeom prst="triangle">
              <a:avLst/>
            </a:prstGeom>
            <a:solidFill>
              <a:schemeClr val="accent1">
                <a:lumMod val="60000"/>
                <a:lumOff val="40000"/>
              </a:schemeClr>
            </a:solidFill>
            <a:ln w="6350">
              <a:noFill/>
              <a:miter lim="800000"/>
            </a:ln>
          </p:spPr>
          <p:txBody>
            <a:bodyPr rtlCol="0" anchor="ctr">
              <a:noAutofit/>
            </a:bodyPr>
            <a:lstStyle/>
            <a:p>
              <a:pPr marL="117475" indent="-117475" algn="l">
                <a:buClr>
                  <a:schemeClr val="tx1"/>
                </a:buClr>
                <a:buFont typeface="Wingdings" panose="05000000000000000000" pitchFamily="2" charset="2"/>
                <a:buChar char="§"/>
              </a:pPr>
              <a:endParaRPr lang="zh-CN" altLang="en-US" dirty="0">
                <a:solidFill>
                  <a:srgbClr val="000000"/>
                </a:solidFill>
              </a:endParaRPr>
            </a:p>
          </p:txBody>
        </p:sp>
      </p:grpSp>
      <p:sp>
        <p:nvSpPr>
          <p:cNvPr id="54"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E</a:t>
            </a:r>
            <a:r>
              <a:rPr dirty="0"/>
              <a:t>-</a:t>
            </a:r>
            <a:r>
              <a:rPr lang="en-US" altLang="zh-CN" dirty="0"/>
              <a:t>4</a:t>
            </a:r>
            <a:r>
              <a:rPr lang="en-US" altLang="zh-TW" dirty="0"/>
              <a:t>. </a:t>
            </a:r>
            <a:r>
              <a:rPr lang="zh-CN" altLang="en-US" dirty="0"/>
              <a:t>供应预警机制 </a:t>
            </a:r>
            <a:r>
              <a:rPr dirty="0"/>
              <a:t>- </a:t>
            </a:r>
            <a:r>
              <a:rPr lang="zh-CN" altLang="en-US" dirty="0"/>
              <a:t>紧密监控零部件状况，提前发现异常问题，采取所需的反应措施</a:t>
            </a:r>
            <a:endParaRPr lang="en-US" altLang="zh-CN" dirty="0"/>
          </a:p>
        </p:txBody>
      </p:sp>
      <p:sp>
        <p:nvSpPr>
          <p:cNvPr id="60" name="TextBox 59"/>
          <p:cNvSpPr txBox="1"/>
          <p:nvPr/>
        </p:nvSpPr>
        <p:spPr>
          <a:xfrm>
            <a:off x="1071563" y="2080221"/>
            <a:ext cx="1080000" cy="485775"/>
          </a:xfrm>
          <a:prstGeom prst="rect">
            <a:avLst/>
          </a:prstGeom>
          <a:solidFill>
            <a:srgbClr val="00B050"/>
          </a:solidFill>
          <a:ln>
            <a:solidFill>
              <a:srgbClr val="FFFFFF">
                <a:lumMod val="75000"/>
              </a:srgbClr>
            </a:solidFill>
          </a:ln>
        </p:spPr>
        <p:txBody>
          <a:bodyPr>
            <a:spAutoFit/>
          </a:bodyPr>
          <a:lstStyle>
            <a:defPPr>
              <a:defRPr lang="zh-CN"/>
            </a:defPPr>
            <a:lvl1pPr eaLnBrk="0" hangingPunct="0">
              <a:lnSpc>
                <a:spcPct val="90000"/>
              </a:lnSpc>
              <a:spcBef>
                <a:spcPct val="20000"/>
              </a:spcBef>
              <a:buClr>
                <a:schemeClr val="tx1"/>
              </a:buClr>
              <a:buFont typeface="Arial" panose="020B0604020202020204" pitchFamily="34" charset="0"/>
              <a:buNone/>
              <a:defRPr sz="1400">
                <a:solidFill>
                  <a:schemeClr val="bg1"/>
                </a:solidFill>
                <a:latin typeface="微软雅黑" panose="020B0503020204020204" charset="-122"/>
                <a:ea typeface="微软雅黑" panose="020B0503020204020204" charset="-122"/>
              </a:defRPr>
            </a:lvl1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供应商产能报警</a:t>
            </a:r>
          </a:p>
        </p:txBody>
      </p:sp>
      <p:sp>
        <p:nvSpPr>
          <p:cNvPr id="61" name="TextBox 12"/>
          <p:cNvSpPr txBox="1">
            <a:spLocks noChangeArrowheads="1"/>
          </p:cNvSpPr>
          <p:nvPr/>
        </p:nvSpPr>
        <p:spPr bwMode="auto">
          <a:xfrm>
            <a:off x="1066800" y="1700808"/>
            <a:ext cx="785813" cy="258532"/>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tx1"/>
              </a:buClr>
              <a:buFont typeface="Arial" panose="020B0604020202020204" pitchFamily="34" charset="0"/>
              <a:buNone/>
            </a:pPr>
            <a:r>
              <a:rPr lang="zh-CN" altLang="en-US">
                <a:latin typeface="微软雅黑" panose="020B0503020204020204" charset="-122"/>
                <a:ea typeface="微软雅黑" panose="020B0503020204020204" charset="-122"/>
              </a:rPr>
              <a:t>一级</a:t>
            </a:r>
          </a:p>
        </p:txBody>
      </p:sp>
      <p:sp>
        <p:nvSpPr>
          <p:cNvPr id="62" name="TextBox 61"/>
          <p:cNvSpPr txBox="1"/>
          <p:nvPr/>
        </p:nvSpPr>
        <p:spPr>
          <a:xfrm>
            <a:off x="382588" y="2076252"/>
            <a:ext cx="428625" cy="677862"/>
          </a:xfrm>
          <a:prstGeom prst="rect">
            <a:avLst/>
          </a:prstGeom>
          <a:noFill/>
          <a:ln>
            <a:solidFill>
              <a:schemeClr val="bg1"/>
            </a:solidFill>
            <a:prstDash val="dash"/>
          </a:ln>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报警点</a:t>
            </a:r>
          </a:p>
        </p:txBody>
      </p:sp>
      <p:sp>
        <p:nvSpPr>
          <p:cNvPr id="63" name="TextBox 62"/>
          <p:cNvSpPr txBox="1"/>
          <p:nvPr/>
        </p:nvSpPr>
        <p:spPr>
          <a:xfrm>
            <a:off x="382588" y="4479330"/>
            <a:ext cx="428625" cy="677862"/>
          </a:xfrm>
          <a:prstGeom prst="rect">
            <a:avLst/>
          </a:prstGeom>
          <a:noFill/>
          <a:ln>
            <a:solidFill>
              <a:srgbClr val="FFFFFF"/>
            </a:solidFill>
            <a:prstDash val="dash"/>
          </a:ln>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信息源</a:t>
            </a:r>
          </a:p>
        </p:txBody>
      </p:sp>
      <p:sp>
        <p:nvSpPr>
          <p:cNvPr id="64" name="TextBox 63"/>
          <p:cNvSpPr txBox="1"/>
          <p:nvPr/>
        </p:nvSpPr>
        <p:spPr>
          <a:xfrm>
            <a:off x="1071563" y="4645671"/>
            <a:ext cx="1080000" cy="480131"/>
          </a:xfrm>
          <a:prstGeom prst="rect">
            <a:avLst/>
          </a:prstGeom>
          <a:solidFill>
            <a:srgbClr val="00B050"/>
          </a:solidFill>
          <a:ln>
            <a:solidFill>
              <a:srgbClr val="FFFFFF">
                <a:lumMod val="75000"/>
              </a:srgbClr>
            </a:solidFill>
          </a:ln>
        </p:spPr>
        <p:txBody>
          <a:bodyPr>
            <a:spAutoFit/>
          </a:bodyPr>
          <a:lstStyle>
            <a:defPPr>
              <a:defRPr lang="zh-CN"/>
            </a:defPPr>
            <a:lvl1pPr eaLnBrk="0" hangingPunct="0">
              <a:lnSpc>
                <a:spcPct val="90000"/>
              </a:lnSpc>
              <a:spcBef>
                <a:spcPct val="20000"/>
              </a:spcBef>
              <a:buClr>
                <a:schemeClr val="tx1"/>
              </a:buClr>
              <a:buFont typeface="Arial" panose="020B0604020202020204" pitchFamily="34" charset="0"/>
              <a:buNone/>
              <a:defRPr sz="1400">
                <a:solidFill>
                  <a:schemeClr val="bg1"/>
                </a:solidFill>
                <a:latin typeface="微软雅黑" panose="020B0503020204020204" charset="-122"/>
                <a:ea typeface="微软雅黑" panose="020B0503020204020204" charset="-122"/>
              </a:defRPr>
            </a:lvl1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3</a:t>
            </a:r>
            <a:r>
              <a:rPr kumimoji="0" lang="zh-CN" altLang="en-US"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月需求计划</a:t>
            </a:r>
          </a:p>
        </p:txBody>
      </p:sp>
      <p:sp>
        <p:nvSpPr>
          <p:cNvPr id="65" name="TextBox 64"/>
          <p:cNvSpPr txBox="1"/>
          <p:nvPr/>
        </p:nvSpPr>
        <p:spPr>
          <a:xfrm>
            <a:off x="2368550" y="2080221"/>
            <a:ext cx="1080000" cy="485775"/>
          </a:xfrm>
          <a:prstGeom prst="rect">
            <a:avLst/>
          </a:prstGeom>
          <a:solidFill>
            <a:srgbClr val="92D050"/>
          </a:solidFill>
          <a:ln>
            <a:solidFill>
              <a:srgbClr val="FFFFFF">
                <a:lumMod val="75000"/>
              </a:srgbClr>
            </a:solidFill>
          </a:ln>
        </p:spPr>
        <p:txBody>
          <a:bodyPr>
            <a:spAutoFit/>
          </a:bodyPr>
          <a:lstStyle>
            <a:defPPr>
              <a:defRPr lang="zh-CN"/>
            </a:defPPr>
            <a:lvl1pPr eaLnBrk="0" hangingPunct="0">
              <a:lnSpc>
                <a:spcPct val="90000"/>
              </a:lnSpc>
              <a:spcBef>
                <a:spcPct val="20000"/>
              </a:spcBef>
              <a:buClr>
                <a:schemeClr val="tx1"/>
              </a:buClr>
              <a:buFont typeface="Arial" panose="020B0604020202020204" pitchFamily="34" charset="0"/>
              <a:buNone/>
              <a:defRPr sz="1400">
                <a:solidFill>
                  <a:schemeClr val="bg1"/>
                </a:solidFill>
                <a:latin typeface="微软雅黑" panose="020B0503020204020204" charset="-122"/>
                <a:ea typeface="微软雅黑" panose="020B0503020204020204" charset="-122"/>
              </a:defRPr>
            </a:lvl1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供应商备料报警</a:t>
            </a:r>
          </a:p>
        </p:txBody>
      </p:sp>
      <p:sp>
        <p:nvSpPr>
          <p:cNvPr id="66" name="TextBox 65"/>
          <p:cNvSpPr txBox="1"/>
          <p:nvPr/>
        </p:nvSpPr>
        <p:spPr>
          <a:xfrm>
            <a:off x="3665537" y="2060847"/>
            <a:ext cx="1080000" cy="485775"/>
          </a:xfrm>
          <a:prstGeom prst="rect">
            <a:avLst/>
          </a:prstGeom>
          <a:solidFill>
            <a:srgbClr val="00B0F0"/>
          </a:solidFill>
          <a:ln>
            <a:solidFill>
              <a:srgbClr val="FFFFFF">
                <a:lumMod val="75000"/>
              </a:srgbClr>
            </a:solidFill>
          </a:ln>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供应商生产计划报警</a:t>
            </a:r>
          </a:p>
        </p:txBody>
      </p:sp>
      <p:sp>
        <p:nvSpPr>
          <p:cNvPr id="69" name="TextBox 68"/>
          <p:cNvSpPr txBox="1"/>
          <p:nvPr/>
        </p:nvSpPr>
        <p:spPr>
          <a:xfrm>
            <a:off x="7556500" y="2060847"/>
            <a:ext cx="1080000" cy="485775"/>
          </a:xfrm>
          <a:prstGeom prst="rect">
            <a:avLst/>
          </a:prstGeom>
          <a:solidFill>
            <a:srgbClr val="FF0000"/>
          </a:solidFill>
          <a:ln>
            <a:solidFill>
              <a:srgbClr val="FFFFFF">
                <a:lumMod val="75000"/>
              </a:srgbClr>
            </a:solidFill>
          </a:ln>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仓库未按时收货报警</a:t>
            </a:r>
          </a:p>
        </p:txBody>
      </p:sp>
      <p:sp>
        <p:nvSpPr>
          <p:cNvPr id="70" name="TextBox 69"/>
          <p:cNvSpPr txBox="1"/>
          <p:nvPr/>
        </p:nvSpPr>
        <p:spPr>
          <a:xfrm>
            <a:off x="2368550" y="4645671"/>
            <a:ext cx="1080000" cy="480131"/>
          </a:xfrm>
          <a:prstGeom prst="rect">
            <a:avLst/>
          </a:prstGeom>
          <a:solidFill>
            <a:srgbClr val="92D050"/>
          </a:solidFill>
          <a:ln>
            <a:solidFill>
              <a:srgbClr val="FFFFFF">
                <a:lumMod val="75000"/>
              </a:srgbClr>
            </a:solidFill>
          </a:ln>
        </p:spPr>
        <p:txBody>
          <a:bodyPr>
            <a:spAutoFit/>
          </a:bodyPr>
          <a:lstStyle>
            <a:defPPr>
              <a:defRPr lang="zh-CN"/>
            </a:defPPr>
            <a:lvl1pPr eaLnBrk="0" hangingPunct="0">
              <a:lnSpc>
                <a:spcPct val="90000"/>
              </a:lnSpc>
              <a:spcBef>
                <a:spcPct val="20000"/>
              </a:spcBef>
              <a:buClr>
                <a:schemeClr val="tx1"/>
              </a:buClr>
              <a:buFont typeface="Arial" panose="020B0604020202020204" pitchFamily="34" charset="0"/>
              <a:buNone/>
              <a:defRPr sz="1400">
                <a:solidFill>
                  <a:schemeClr val="bg1"/>
                </a:solidFill>
                <a:latin typeface="微软雅黑" panose="020B0503020204020204" charset="-122"/>
                <a:ea typeface="微软雅黑" panose="020B0503020204020204" charset="-122"/>
              </a:defRPr>
            </a:lvl1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4</a:t>
            </a:r>
            <a:r>
              <a:rPr kumimoji="0" lang="zh-CN" altLang="en-US"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周需求计划</a:t>
            </a:r>
          </a:p>
        </p:txBody>
      </p:sp>
      <p:sp>
        <p:nvSpPr>
          <p:cNvPr id="71" name="TextBox 70"/>
          <p:cNvSpPr txBox="1"/>
          <p:nvPr/>
        </p:nvSpPr>
        <p:spPr>
          <a:xfrm>
            <a:off x="3665537" y="4645671"/>
            <a:ext cx="1080000" cy="480131"/>
          </a:xfrm>
          <a:prstGeom prst="rect">
            <a:avLst/>
          </a:prstGeom>
          <a:solidFill>
            <a:srgbClr val="00B0F0"/>
          </a:solidFill>
          <a:ln>
            <a:solidFill>
              <a:srgbClr val="FFFFFF">
                <a:lumMod val="75000"/>
              </a:srgbClr>
            </a:solidFill>
          </a:ln>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双周需求计划</a:t>
            </a:r>
          </a:p>
        </p:txBody>
      </p:sp>
      <p:sp>
        <p:nvSpPr>
          <p:cNvPr id="72" name="TextBox 71"/>
          <p:cNvSpPr txBox="1"/>
          <p:nvPr/>
        </p:nvSpPr>
        <p:spPr>
          <a:xfrm>
            <a:off x="4962524" y="4645671"/>
            <a:ext cx="1080000" cy="480131"/>
          </a:xfrm>
          <a:prstGeom prst="rect">
            <a:avLst/>
          </a:prstGeom>
          <a:solidFill>
            <a:srgbClr val="FFFF00"/>
          </a:solidFill>
          <a:ln>
            <a:solidFill>
              <a:srgbClr val="FFFFFF">
                <a:lumMod val="75000"/>
              </a:srgbClr>
            </a:solidFill>
          </a:ln>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供应商创建的送货单</a:t>
            </a:r>
          </a:p>
        </p:txBody>
      </p:sp>
      <p:sp>
        <p:nvSpPr>
          <p:cNvPr id="73" name="TextBox 72"/>
          <p:cNvSpPr txBox="1"/>
          <p:nvPr/>
        </p:nvSpPr>
        <p:spPr>
          <a:xfrm>
            <a:off x="6259511" y="4645671"/>
            <a:ext cx="1080000" cy="485775"/>
          </a:xfrm>
          <a:prstGeom prst="rect">
            <a:avLst/>
          </a:prstGeom>
          <a:solidFill>
            <a:srgbClr val="FFC000"/>
          </a:solidFill>
          <a:ln>
            <a:solidFill>
              <a:srgbClr val="FFFFFF">
                <a:lumMod val="75000"/>
              </a:srgbClr>
            </a:solidFill>
          </a:ln>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4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rPr>
              <a:t>电话跟踪反馈</a:t>
            </a:r>
          </a:p>
        </p:txBody>
      </p:sp>
      <p:sp>
        <p:nvSpPr>
          <p:cNvPr id="74" name="TextBox 73"/>
          <p:cNvSpPr txBox="1"/>
          <p:nvPr/>
        </p:nvSpPr>
        <p:spPr>
          <a:xfrm>
            <a:off x="7556500" y="4645671"/>
            <a:ext cx="1080000" cy="480131"/>
          </a:xfrm>
          <a:prstGeom prst="rect">
            <a:avLst/>
          </a:prstGeom>
          <a:solidFill>
            <a:srgbClr val="FF0000"/>
          </a:solidFill>
          <a:ln>
            <a:solidFill>
              <a:srgbClr val="FFFFFF">
                <a:lumMod val="75000"/>
              </a:srgbClr>
            </a:solidFill>
          </a:ln>
        </p:spPr>
        <p:txBody>
          <a:bodyPr>
            <a:spAutoFit/>
          </a:body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SAP</a:t>
            </a:r>
            <a:r>
              <a:rPr kumimoji="0" lang="zh-CN" altLang="en-US" sz="1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中未收货</a:t>
            </a:r>
          </a:p>
        </p:txBody>
      </p:sp>
      <p:sp>
        <p:nvSpPr>
          <p:cNvPr id="75" name="TextBox 30"/>
          <p:cNvSpPr txBox="1">
            <a:spLocks noChangeArrowheads="1"/>
          </p:cNvSpPr>
          <p:nvPr/>
        </p:nvSpPr>
        <p:spPr bwMode="auto">
          <a:xfrm>
            <a:off x="2402765" y="1700808"/>
            <a:ext cx="785813" cy="258532"/>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tx1"/>
              </a:buClr>
              <a:buFont typeface="Arial" panose="020B0604020202020204" pitchFamily="34" charset="0"/>
              <a:buNone/>
            </a:pPr>
            <a:r>
              <a:rPr lang="zh-CN" altLang="en-US">
                <a:latin typeface="微软雅黑" panose="020B0503020204020204" charset="-122"/>
                <a:ea typeface="微软雅黑" panose="020B0503020204020204" charset="-122"/>
              </a:rPr>
              <a:t>二级</a:t>
            </a:r>
          </a:p>
        </p:txBody>
      </p:sp>
      <p:sp>
        <p:nvSpPr>
          <p:cNvPr id="76" name="TextBox 31"/>
          <p:cNvSpPr txBox="1">
            <a:spLocks noChangeArrowheads="1"/>
          </p:cNvSpPr>
          <p:nvPr/>
        </p:nvSpPr>
        <p:spPr bwMode="auto">
          <a:xfrm>
            <a:off x="3738730" y="1700808"/>
            <a:ext cx="785813" cy="258532"/>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tx1"/>
              </a:buClr>
              <a:buFont typeface="Arial" panose="020B0604020202020204" pitchFamily="34" charset="0"/>
              <a:buNone/>
            </a:pPr>
            <a:r>
              <a:rPr lang="zh-CN" altLang="en-US">
                <a:latin typeface="微软雅黑" panose="020B0503020204020204" charset="-122"/>
                <a:ea typeface="微软雅黑" panose="020B0503020204020204" charset="-122"/>
              </a:rPr>
              <a:t>三级</a:t>
            </a:r>
          </a:p>
        </p:txBody>
      </p:sp>
      <p:sp>
        <p:nvSpPr>
          <p:cNvPr id="77" name="TextBox 32"/>
          <p:cNvSpPr txBox="1">
            <a:spLocks noChangeArrowheads="1"/>
          </p:cNvSpPr>
          <p:nvPr/>
        </p:nvSpPr>
        <p:spPr bwMode="auto">
          <a:xfrm>
            <a:off x="5074695" y="1700808"/>
            <a:ext cx="785813" cy="258532"/>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tx1"/>
              </a:buClr>
              <a:buFont typeface="Arial" panose="020B0604020202020204" pitchFamily="34" charset="0"/>
              <a:buNone/>
            </a:pPr>
            <a:r>
              <a:rPr lang="zh-CN" altLang="en-US">
                <a:latin typeface="微软雅黑" panose="020B0503020204020204" charset="-122"/>
                <a:ea typeface="微软雅黑" panose="020B0503020204020204" charset="-122"/>
              </a:rPr>
              <a:t>四级</a:t>
            </a:r>
          </a:p>
        </p:txBody>
      </p:sp>
      <p:sp>
        <p:nvSpPr>
          <p:cNvPr id="78" name="TextBox 33"/>
          <p:cNvSpPr txBox="1">
            <a:spLocks noChangeArrowheads="1"/>
          </p:cNvSpPr>
          <p:nvPr/>
        </p:nvSpPr>
        <p:spPr bwMode="auto">
          <a:xfrm>
            <a:off x="6410660" y="1700808"/>
            <a:ext cx="785813" cy="258532"/>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tx1"/>
              </a:buClr>
              <a:buFont typeface="Arial" panose="020B0604020202020204" pitchFamily="34" charset="0"/>
              <a:buNone/>
            </a:pPr>
            <a:r>
              <a:rPr lang="zh-CN" altLang="en-US">
                <a:latin typeface="微软雅黑" panose="020B0503020204020204" charset="-122"/>
                <a:ea typeface="微软雅黑" panose="020B0503020204020204" charset="-122"/>
              </a:rPr>
              <a:t>五级</a:t>
            </a:r>
          </a:p>
        </p:txBody>
      </p:sp>
      <p:sp>
        <p:nvSpPr>
          <p:cNvPr id="79" name="TextBox 34"/>
          <p:cNvSpPr txBox="1">
            <a:spLocks noChangeArrowheads="1"/>
          </p:cNvSpPr>
          <p:nvPr/>
        </p:nvSpPr>
        <p:spPr bwMode="auto">
          <a:xfrm>
            <a:off x="7746627" y="1700808"/>
            <a:ext cx="785813" cy="258532"/>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tx1"/>
              </a:buClr>
              <a:buFont typeface="Arial" panose="020B0604020202020204" pitchFamily="34" charset="0"/>
              <a:buNone/>
            </a:pPr>
            <a:r>
              <a:rPr lang="zh-CN" altLang="en-US">
                <a:latin typeface="微软雅黑" panose="020B0503020204020204" charset="-122"/>
                <a:ea typeface="微软雅黑" panose="020B0503020204020204" charset="-122"/>
              </a:rPr>
              <a:t>六级</a:t>
            </a:r>
          </a:p>
        </p:txBody>
      </p:sp>
      <p:cxnSp>
        <p:nvCxnSpPr>
          <p:cNvPr id="80" name="直接连接符 18"/>
          <p:cNvCxnSpPr/>
          <p:nvPr/>
        </p:nvCxnSpPr>
        <p:spPr bwMode="auto">
          <a:xfrm>
            <a:off x="190500" y="3603130"/>
            <a:ext cx="8639175" cy="1587"/>
          </a:xfrm>
          <a:prstGeom prst="line">
            <a:avLst/>
          </a:prstGeom>
          <a:solidFill>
            <a:srgbClr val="D6DBFE"/>
          </a:solidFill>
          <a:ln w="9525" cap="flat" cmpd="sng" algn="ctr">
            <a:solidFill>
              <a:srgbClr val="FFFFFF">
                <a:lumMod val="75000"/>
              </a:srgbClr>
            </a:solidFill>
            <a:prstDash val="dash"/>
            <a:round/>
            <a:headEnd type="none" w="med" len="med"/>
            <a:tailEnd type="none" w="med" len="med"/>
          </a:ln>
          <a:effectLst/>
        </p:spPr>
      </p:cxnSp>
      <p:cxnSp>
        <p:nvCxnSpPr>
          <p:cNvPr id="81" name="直接连接符 18"/>
          <p:cNvCxnSpPr/>
          <p:nvPr/>
        </p:nvCxnSpPr>
        <p:spPr bwMode="auto">
          <a:xfrm>
            <a:off x="190500" y="3603130"/>
            <a:ext cx="8639175" cy="1587"/>
          </a:xfrm>
          <a:prstGeom prst="line">
            <a:avLst/>
          </a:prstGeom>
          <a:solidFill>
            <a:srgbClr val="D6DBFE"/>
          </a:solidFill>
          <a:ln w="9525" cap="flat" cmpd="sng" algn="ctr">
            <a:solidFill>
              <a:srgbClr val="FFFFFF">
                <a:lumMod val="75000"/>
              </a:srgbClr>
            </a:solidFill>
            <a:prstDash val="dash"/>
            <a:round/>
            <a:headEnd type="none" w="med" len="med"/>
            <a:tailEnd type="none" w="med" len="med"/>
          </a:ln>
          <a:effectLst/>
        </p:spPr>
      </p:cxnSp>
      <p:grpSp>
        <p:nvGrpSpPr>
          <p:cNvPr id="3" name="组合 124"/>
          <p:cNvGrpSpPr/>
          <p:nvPr/>
        </p:nvGrpSpPr>
        <p:grpSpPr bwMode="auto">
          <a:xfrm>
            <a:off x="1261402" y="2945905"/>
            <a:ext cx="730250" cy="1309687"/>
            <a:chOff x="1176338" y="2954338"/>
            <a:chExt cx="730250" cy="1309687"/>
          </a:xfrm>
        </p:grpSpPr>
        <p:grpSp>
          <p:nvGrpSpPr>
            <p:cNvPr id="4" name="Group 43"/>
            <p:cNvGrpSpPr/>
            <p:nvPr/>
          </p:nvGrpSpPr>
          <p:grpSpPr bwMode="auto">
            <a:xfrm>
              <a:off x="1176338" y="2954338"/>
              <a:ext cx="730250" cy="1309687"/>
              <a:chOff x="1176291" y="3465513"/>
              <a:chExt cx="730260" cy="1168416"/>
            </a:xfrm>
          </p:grpSpPr>
          <p:sp>
            <p:nvSpPr>
              <p:cNvPr id="85" name="矩形 14"/>
              <p:cNvSpPr>
                <a:spLocks noChangeArrowheads="1"/>
              </p:cNvSpPr>
              <p:nvPr/>
            </p:nvSpPr>
            <p:spPr bwMode="auto">
              <a:xfrm>
                <a:off x="1176291" y="3465513"/>
                <a:ext cx="730260" cy="1168416"/>
              </a:xfrm>
              <a:prstGeom prst="rect">
                <a:avLst/>
              </a:prstGeom>
              <a:solidFill>
                <a:srgbClr val="FFFFCC"/>
              </a:solidFill>
              <a:ln w="9525" algn="ctr">
                <a:solidFill>
                  <a:srgbClr val="000000"/>
                </a:solidFill>
                <a:round/>
              </a:ln>
            </p:spPr>
            <p:txBody>
              <a:bodyPr lIns="0" tIns="0" rIns="0" bIns="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zh-CN" altLang="en-US"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86" name="TextBox 40"/>
              <p:cNvSpPr txBox="1">
                <a:spLocks noChangeArrowheads="1"/>
              </p:cNvSpPr>
              <p:nvPr/>
            </p:nvSpPr>
            <p:spPr bwMode="auto">
              <a:xfrm>
                <a:off x="1176291" y="3526412"/>
                <a:ext cx="730260"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采购计划员</a:t>
                </a:r>
              </a:p>
            </p:txBody>
          </p:sp>
          <p:sp>
            <p:nvSpPr>
              <p:cNvPr id="87" name="TextBox 42"/>
              <p:cNvSpPr txBox="1">
                <a:spLocks noChangeArrowheads="1"/>
              </p:cNvSpPr>
              <p:nvPr/>
            </p:nvSpPr>
            <p:spPr bwMode="auto">
              <a:xfrm>
                <a:off x="1176291" y="4183558"/>
                <a:ext cx="730260"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1E3AF8"/>
                    </a:solidFill>
                    <a:effectLst/>
                    <a:uLnTx/>
                    <a:uFillTx/>
                    <a:latin typeface="微软雅黑" panose="020B0503020204020204" charset="-122"/>
                    <a:ea typeface="微软雅黑" panose="020B0503020204020204" charset="-122"/>
                  </a:rPr>
                  <a:t>供应商物料计划员</a:t>
                </a:r>
              </a:p>
            </p:txBody>
          </p:sp>
        </p:grpSp>
        <p:sp>
          <p:nvSpPr>
            <p:cNvPr id="84" name="Up-Down Arrow 50"/>
            <p:cNvSpPr>
              <a:spLocks noChangeArrowheads="1"/>
            </p:cNvSpPr>
            <p:nvPr/>
          </p:nvSpPr>
          <p:spPr bwMode="auto">
            <a:xfrm>
              <a:off x="1468438" y="3466121"/>
              <a:ext cx="108000" cy="252000"/>
            </a:xfrm>
            <a:prstGeom prst="upDownArrow">
              <a:avLst>
                <a:gd name="adj1" fmla="val 50000"/>
                <a:gd name="adj2" fmla="val 50005"/>
              </a:avLst>
            </a:prstGeom>
            <a:solidFill>
              <a:srgbClr val="D6DBFE"/>
            </a:solidFill>
            <a:ln w="9525" algn="ctr">
              <a:solidFill>
                <a:srgbClr val="7889FB"/>
              </a:solidFill>
              <a:round/>
            </a:ln>
          </p:spPr>
          <p:txBody>
            <a:bodyPr lIns="90000" tIns="46800" rIns="90000" bIns="4680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en-US" altLang="zh-CN"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grpSp>
        <p:nvGrpSpPr>
          <p:cNvPr id="5" name="组合 123"/>
          <p:cNvGrpSpPr/>
          <p:nvPr/>
        </p:nvGrpSpPr>
        <p:grpSpPr bwMode="auto">
          <a:xfrm>
            <a:off x="2561445" y="2945905"/>
            <a:ext cx="730250" cy="1309687"/>
            <a:chOff x="2454275" y="2954338"/>
            <a:chExt cx="730250" cy="1309687"/>
          </a:xfrm>
        </p:grpSpPr>
        <p:grpSp>
          <p:nvGrpSpPr>
            <p:cNvPr id="6" name="Group 53"/>
            <p:cNvGrpSpPr/>
            <p:nvPr/>
          </p:nvGrpSpPr>
          <p:grpSpPr bwMode="auto">
            <a:xfrm>
              <a:off x="2454275" y="2954338"/>
              <a:ext cx="730250" cy="1309687"/>
              <a:chOff x="1176291" y="3465513"/>
              <a:chExt cx="730260" cy="1168416"/>
            </a:xfrm>
          </p:grpSpPr>
          <p:sp>
            <p:nvSpPr>
              <p:cNvPr id="91" name="矩形 14"/>
              <p:cNvSpPr>
                <a:spLocks noChangeArrowheads="1"/>
              </p:cNvSpPr>
              <p:nvPr/>
            </p:nvSpPr>
            <p:spPr bwMode="auto">
              <a:xfrm>
                <a:off x="1176291" y="3465513"/>
                <a:ext cx="730260" cy="1168416"/>
              </a:xfrm>
              <a:prstGeom prst="rect">
                <a:avLst/>
              </a:prstGeom>
              <a:solidFill>
                <a:srgbClr val="FFFFCC"/>
              </a:solidFill>
              <a:ln w="9525" algn="ctr">
                <a:solidFill>
                  <a:srgbClr val="000000"/>
                </a:solidFill>
                <a:round/>
              </a:ln>
            </p:spPr>
            <p:txBody>
              <a:bodyPr lIns="0" tIns="0" rIns="0" bIns="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zh-CN" altLang="en-US"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92" name="TextBox 56"/>
              <p:cNvSpPr txBox="1">
                <a:spLocks noChangeArrowheads="1"/>
              </p:cNvSpPr>
              <p:nvPr/>
            </p:nvSpPr>
            <p:spPr bwMode="auto">
              <a:xfrm>
                <a:off x="1176291" y="3530661"/>
                <a:ext cx="730260"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采购计划员</a:t>
                </a:r>
              </a:p>
            </p:txBody>
          </p:sp>
          <p:sp>
            <p:nvSpPr>
              <p:cNvPr id="93" name="TextBox 48"/>
              <p:cNvSpPr txBox="1">
                <a:spLocks noChangeArrowheads="1"/>
              </p:cNvSpPr>
              <p:nvPr/>
            </p:nvSpPr>
            <p:spPr bwMode="auto">
              <a:xfrm>
                <a:off x="1176291" y="4216132"/>
                <a:ext cx="730260"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1E3AF8"/>
                    </a:solidFill>
                    <a:effectLst/>
                    <a:uLnTx/>
                    <a:uFillTx/>
                    <a:latin typeface="微软雅黑" panose="020B0503020204020204" charset="-122"/>
                    <a:ea typeface="微软雅黑" panose="020B0503020204020204" charset="-122"/>
                  </a:rPr>
                  <a:t>供应商物料计划员</a:t>
                </a:r>
              </a:p>
            </p:txBody>
          </p:sp>
        </p:grpSp>
        <p:sp>
          <p:nvSpPr>
            <p:cNvPr id="90" name="Up-Down Arrow 54"/>
            <p:cNvSpPr>
              <a:spLocks noChangeArrowheads="1"/>
            </p:cNvSpPr>
            <p:nvPr/>
          </p:nvSpPr>
          <p:spPr bwMode="auto">
            <a:xfrm>
              <a:off x="2746375" y="3466121"/>
              <a:ext cx="108000" cy="252000"/>
            </a:xfrm>
            <a:prstGeom prst="upDownArrow">
              <a:avLst>
                <a:gd name="adj1" fmla="val 50000"/>
                <a:gd name="adj2" fmla="val 50005"/>
              </a:avLst>
            </a:prstGeom>
            <a:solidFill>
              <a:srgbClr val="D6DBFE"/>
            </a:solidFill>
            <a:ln w="9525" algn="ctr">
              <a:solidFill>
                <a:srgbClr val="7889FB"/>
              </a:solidFill>
              <a:round/>
            </a:ln>
          </p:spPr>
          <p:txBody>
            <a:bodyPr lIns="90000" tIns="46800" rIns="90000" bIns="4680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en-US" altLang="zh-CN"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grpSp>
        <p:nvGrpSpPr>
          <p:cNvPr id="7" name="组合 122"/>
          <p:cNvGrpSpPr/>
          <p:nvPr/>
        </p:nvGrpSpPr>
        <p:grpSpPr bwMode="auto">
          <a:xfrm>
            <a:off x="3861488" y="2945905"/>
            <a:ext cx="730250" cy="1309687"/>
            <a:chOff x="3695700" y="2954338"/>
            <a:chExt cx="730250" cy="1309687"/>
          </a:xfrm>
        </p:grpSpPr>
        <p:grpSp>
          <p:nvGrpSpPr>
            <p:cNvPr id="8" name="Group 59"/>
            <p:cNvGrpSpPr/>
            <p:nvPr/>
          </p:nvGrpSpPr>
          <p:grpSpPr bwMode="auto">
            <a:xfrm>
              <a:off x="3695700" y="2954338"/>
              <a:ext cx="730250" cy="1309687"/>
              <a:chOff x="1176291" y="3465513"/>
              <a:chExt cx="730260" cy="1168416"/>
            </a:xfrm>
          </p:grpSpPr>
          <p:sp>
            <p:nvSpPr>
              <p:cNvPr id="97" name="矩形 14"/>
              <p:cNvSpPr>
                <a:spLocks noChangeArrowheads="1"/>
              </p:cNvSpPr>
              <p:nvPr/>
            </p:nvSpPr>
            <p:spPr bwMode="auto">
              <a:xfrm>
                <a:off x="1176291" y="3465513"/>
                <a:ext cx="730260" cy="1168416"/>
              </a:xfrm>
              <a:prstGeom prst="rect">
                <a:avLst/>
              </a:prstGeom>
              <a:solidFill>
                <a:srgbClr val="FFFFCC"/>
              </a:solidFill>
              <a:ln w="9525" algn="ctr">
                <a:solidFill>
                  <a:srgbClr val="000000"/>
                </a:solidFill>
                <a:round/>
              </a:ln>
            </p:spPr>
            <p:txBody>
              <a:bodyPr lIns="0" tIns="0" rIns="0" bIns="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zh-CN" altLang="en-US"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98" name="TextBox 62"/>
              <p:cNvSpPr txBox="1">
                <a:spLocks noChangeArrowheads="1"/>
              </p:cNvSpPr>
              <p:nvPr/>
            </p:nvSpPr>
            <p:spPr bwMode="auto">
              <a:xfrm>
                <a:off x="1176291" y="3526412"/>
                <a:ext cx="730260"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采购计划员</a:t>
                </a:r>
              </a:p>
            </p:txBody>
          </p:sp>
          <p:sp>
            <p:nvSpPr>
              <p:cNvPr id="99" name="TextBox 54"/>
              <p:cNvSpPr txBox="1">
                <a:spLocks noChangeArrowheads="1"/>
              </p:cNvSpPr>
              <p:nvPr/>
            </p:nvSpPr>
            <p:spPr bwMode="auto">
              <a:xfrm>
                <a:off x="1176291" y="4216132"/>
                <a:ext cx="730260"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a:ln>
                      <a:noFill/>
                    </a:ln>
                    <a:solidFill>
                      <a:srgbClr val="1E3AF8"/>
                    </a:solidFill>
                    <a:effectLst/>
                    <a:uLnTx/>
                    <a:uFillTx/>
                    <a:latin typeface="微软雅黑" panose="020B0503020204020204" charset="-122"/>
                    <a:ea typeface="微软雅黑" panose="020B0503020204020204" charset="-122"/>
                  </a:rPr>
                  <a:t>供应商物料计划员</a:t>
                </a:r>
              </a:p>
            </p:txBody>
          </p:sp>
        </p:grpSp>
        <p:sp>
          <p:nvSpPr>
            <p:cNvPr id="96" name="Up-Down Arrow 60"/>
            <p:cNvSpPr>
              <a:spLocks noChangeArrowheads="1"/>
            </p:cNvSpPr>
            <p:nvPr/>
          </p:nvSpPr>
          <p:spPr bwMode="auto">
            <a:xfrm>
              <a:off x="3987800" y="3466121"/>
              <a:ext cx="108000" cy="252000"/>
            </a:xfrm>
            <a:prstGeom prst="upDownArrow">
              <a:avLst>
                <a:gd name="adj1" fmla="val 50000"/>
                <a:gd name="adj2" fmla="val 50005"/>
              </a:avLst>
            </a:prstGeom>
            <a:solidFill>
              <a:srgbClr val="D6DBFE"/>
            </a:solidFill>
            <a:ln w="9525" algn="ctr">
              <a:solidFill>
                <a:srgbClr val="7889FB"/>
              </a:solidFill>
              <a:round/>
            </a:ln>
          </p:spPr>
          <p:txBody>
            <a:bodyPr lIns="90000" tIns="46800" rIns="90000" bIns="4680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en-US" altLang="zh-CN"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grpSp>
        <p:nvGrpSpPr>
          <p:cNvPr id="9" name="组合 120"/>
          <p:cNvGrpSpPr/>
          <p:nvPr/>
        </p:nvGrpSpPr>
        <p:grpSpPr bwMode="auto">
          <a:xfrm>
            <a:off x="6461573" y="2945905"/>
            <a:ext cx="774722" cy="1309687"/>
            <a:chOff x="6251574" y="2954338"/>
            <a:chExt cx="774723" cy="1309687"/>
          </a:xfrm>
        </p:grpSpPr>
        <p:grpSp>
          <p:nvGrpSpPr>
            <p:cNvPr id="10" name="Group 71"/>
            <p:cNvGrpSpPr/>
            <p:nvPr/>
          </p:nvGrpSpPr>
          <p:grpSpPr bwMode="auto">
            <a:xfrm>
              <a:off x="6251574" y="2954338"/>
              <a:ext cx="774723" cy="1309687"/>
              <a:chOff x="1176291" y="3465513"/>
              <a:chExt cx="774734" cy="1168416"/>
            </a:xfrm>
          </p:grpSpPr>
          <p:sp>
            <p:nvSpPr>
              <p:cNvPr id="103" name="矩形 14"/>
              <p:cNvSpPr>
                <a:spLocks noChangeArrowheads="1"/>
              </p:cNvSpPr>
              <p:nvPr/>
            </p:nvSpPr>
            <p:spPr bwMode="auto">
              <a:xfrm>
                <a:off x="1176292" y="3465513"/>
                <a:ext cx="730260" cy="1168416"/>
              </a:xfrm>
              <a:prstGeom prst="rect">
                <a:avLst/>
              </a:prstGeom>
              <a:solidFill>
                <a:srgbClr val="FFFFCC"/>
              </a:solidFill>
              <a:ln w="9525" algn="ctr">
                <a:solidFill>
                  <a:srgbClr val="000000"/>
                </a:solidFill>
                <a:round/>
              </a:ln>
            </p:spPr>
            <p:txBody>
              <a:bodyPr lIns="0" tIns="0" rIns="0" bIns="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zh-CN" altLang="en-US"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104" name="TextBox 74"/>
              <p:cNvSpPr txBox="1">
                <a:spLocks noChangeArrowheads="1"/>
              </p:cNvSpPr>
              <p:nvPr/>
            </p:nvSpPr>
            <p:spPr bwMode="auto">
              <a:xfrm>
                <a:off x="1176291" y="3532077"/>
                <a:ext cx="730261"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物料跟踪人员</a:t>
                </a:r>
              </a:p>
            </p:txBody>
          </p:sp>
          <p:sp>
            <p:nvSpPr>
              <p:cNvPr id="105" name="TextBox 60"/>
              <p:cNvSpPr txBox="1">
                <a:spLocks noChangeArrowheads="1"/>
              </p:cNvSpPr>
              <p:nvPr/>
            </p:nvSpPr>
            <p:spPr bwMode="auto">
              <a:xfrm>
                <a:off x="1220764" y="4217702"/>
                <a:ext cx="730261"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1E3AF8"/>
                    </a:solidFill>
                    <a:effectLst/>
                    <a:uLnTx/>
                    <a:uFillTx/>
                    <a:latin typeface="微软雅黑" panose="020B0503020204020204" charset="-122"/>
                    <a:ea typeface="微软雅黑" panose="020B0503020204020204" charset="-122"/>
                  </a:rPr>
                  <a:t>供应商物料计划员</a:t>
                </a:r>
              </a:p>
            </p:txBody>
          </p:sp>
        </p:grpSp>
        <p:sp>
          <p:nvSpPr>
            <p:cNvPr id="102" name="Up-Down Arrow 72"/>
            <p:cNvSpPr>
              <a:spLocks noChangeArrowheads="1"/>
            </p:cNvSpPr>
            <p:nvPr/>
          </p:nvSpPr>
          <p:spPr bwMode="auto">
            <a:xfrm>
              <a:off x="6543675" y="3466121"/>
              <a:ext cx="108000" cy="252000"/>
            </a:xfrm>
            <a:prstGeom prst="upDownArrow">
              <a:avLst>
                <a:gd name="adj1" fmla="val 50000"/>
                <a:gd name="adj2" fmla="val 50005"/>
              </a:avLst>
            </a:prstGeom>
            <a:solidFill>
              <a:srgbClr val="D6DBFE"/>
            </a:solidFill>
            <a:ln w="9525" algn="ctr">
              <a:solidFill>
                <a:srgbClr val="7889FB"/>
              </a:solidFill>
              <a:round/>
            </a:ln>
          </p:spPr>
          <p:txBody>
            <a:bodyPr lIns="90000" tIns="46800" rIns="90000" bIns="4680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en-US" altLang="zh-CN"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grpSp>
        <p:nvGrpSpPr>
          <p:cNvPr id="11" name="组合 119"/>
          <p:cNvGrpSpPr/>
          <p:nvPr/>
        </p:nvGrpSpPr>
        <p:grpSpPr bwMode="auto">
          <a:xfrm>
            <a:off x="7761617" y="2945905"/>
            <a:ext cx="770822" cy="1309687"/>
            <a:chOff x="7712074" y="2954338"/>
            <a:chExt cx="770822" cy="1309687"/>
          </a:xfrm>
        </p:grpSpPr>
        <p:grpSp>
          <p:nvGrpSpPr>
            <p:cNvPr id="12" name="Group 77"/>
            <p:cNvGrpSpPr/>
            <p:nvPr/>
          </p:nvGrpSpPr>
          <p:grpSpPr bwMode="auto">
            <a:xfrm>
              <a:off x="7712074" y="2954338"/>
              <a:ext cx="770822" cy="1309687"/>
              <a:chOff x="1176291" y="3465513"/>
              <a:chExt cx="770833" cy="1168416"/>
            </a:xfrm>
          </p:grpSpPr>
          <p:sp>
            <p:nvSpPr>
              <p:cNvPr id="109" name="矩形 14"/>
              <p:cNvSpPr>
                <a:spLocks noChangeArrowheads="1"/>
              </p:cNvSpPr>
              <p:nvPr/>
            </p:nvSpPr>
            <p:spPr bwMode="auto">
              <a:xfrm>
                <a:off x="1176291" y="3465513"/>
                <a:ext cx="730260" cy="1168416"/>
              </a:xfrm>
              <a:prstGeom prst="rect">
                <a:avLst/>
              </a:prstGeom>
              <a:solidFill>
                <a:srgbClr val="FFFFCC"/>
              </a:solidFill>
              <a:ln w="9525" algn="ctr">
                <a:solidFill>
                  <a:srgbClr val="000000"/>
                </a:solidFill>
                <a:round/>
              </a:ln>
            </p:spPr>
            <p:txBody>
              <a:bodyPr lIns="0" tIns="0" rIns="0" bIns="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zh-CN" altLang="en-US"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110" name="TextBox 80"/>
              <p:cNvSpPr txBox="1">
                <a:spLocks noChangeArrowheads="1"/>
              </p:cNvSpPr>
              <p:nvPr/>
            </p:nvSpPr>
            <p:spPr bwMode="auto">
              <a:xfrm>
                <a:off x="1176291" y="3558986"/>
                <a:ext cx="730260"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rPr>
                  <a:t>物料跟踪人员</a:t>
                </a:r>
              </a:p>
            </p:txBody>
          </p:sp>
          <p:sp>
            <p:nvSpPr>
              <p:cNvPr id="111" name="TextBox 81"/>
              <p:cNvSpPr txBox="1">
                <a:spLocks noChangeArrowheads="1"/>
              </p:cNvSpPr>
              <p:nvPr/>
            </p:nvSpPr>
            <p:spPr bwMode="auto">
              <a:xfrm>
                <a:off x="1216864" y="4217702"/>
                <a:ext cx="730260" cy="329494"/>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物流中心仓库人员</a:t>
                </a:r>
              </a:p>
            </p:txBody>
          </p:sp>
        </p:grpSp>
        <p:sp>
          <p:nvSpPr>
            <p:cNvPr id="108" name="Up-Down Arrow 78"/>
            <p:cNvSpPr>
              <a:spLocks noChangeArrowheads="1"/>
            </p:cNvSpPr>
            <p:nvPr/>
          </p:nvSpPr>
          <p:spPr bwMode="auto">
            <a:xfrm>
              <a:off x="8004175" y="3466121"/>
              <a:ext cx="108000" cy="252000"/>
            </a:xfrm>
            <a:prstGeom prst="upDownArrow">
              <a:avLst>
                <a:gd name="adj1" fmla="val 50000"/>
                <a:gd name="adj2" fmla="val 50005"/>
              </a:avLst>
            </a:prstGeom>
            <a:solidFill>
              <a:srgbClr val="D6DBFE"/>
            </a:solidFill>
            <a:ln w="9525" algn="ctr">
              <a:solidFill>
                <a:srgbClr val="7889FB"/>
              </a:solidFill>
              <a:round/>
            </a:ln>
          </p:spPr>
          <p:txBody>
            <a:bodyPr lIns="90000" tIns="46800" rIns="90000" bIns="4680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en-US" altLang="zh-CN"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grpSp>
        <p:nvGrpSpPr>
          <p:cNvPr id="13" name="组合 121"/>
          <p:cNvGrpSpPr/>
          <p:nvPr/>
        </p:nvGrpSpPr>
        <p:grpSpPr bwMode="auto">
          <a:xfrm>
            <a:off x="5161531" y="2950667"/>
            <a:ext cx="730250" cy="1309688"/>
            <a:chOff x="4973638" y="2959100"/>
            <a:chExt cx="730250" cy="1309688"/>
          </a:xfrm>
        </p:grpSpPr>
        <p:sp>
          <p:nvSpPr>
            <p:cNvPr id="113" name="矩形 14"/>
            <p:cNvSpPr>
              <a:spLocks noChangeArrowheads="1"/>
            </p:cNvSpPr>
            <p:nvPr/>
          </p:nvSpPr>
          <p:spPr bwMode="auto">
            <a:xfrm>
              <a:off x="4973638" y="2959100"/>
              <a:ext cx="730250" cy="1309688"/>
            </a:xfrm>
            <a:prstGeom prst="rect">
              <a:avLst/>
            </a:prstGeom>
            <a:solidFill>
              <a:srgbClr val="FFFFCC"/>
            </a:solidFill>
            <a:ln w="9525" algn="ctr">
              <a:solidFill>
                <a:srgbClr val="000000"/>
              </a:solidFill>
              <a:round/>
            </a:ln>
          </p:spPr>
          <p:txBody>
            <a:bodyPr lIns="0" tIns="0" rIns="0" bIns="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zh-CN" altLang="en-US"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sp>
          <p:nvSpPr>
            <p:cNvPr id="114" name="TextBox 86"/>
            <p:cNvSpPr txBox="1">
              <a:spLocks noChangeArrowheads="1"/>
            </p:cNvSpPr>
            <p:nvPr/>
          </p:nvSpPr>
          <p:spPr bwMode="auto">
            <a:xfrm>
              <a:off x="4973638" y="3819525"/>
              <a:ext cx="730250" cy="369332"/>
            </a:xfrm>
            <a:prstGeom prst="rect">
              <a:avLst/>
            </a:prstGeom>
            <a:noFill/>
            <a:ln>
              <a:noFill/>
            </a:ln>
          </p:spPr>
          <p:txBody>
            <a:bodyPr anchor="ct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物料跟踪人员</a:t>
              </a:r>
            </a:p>
          </p:txBody>
        </p:sp>
        <p:sp>
          <p:nvSpPr>
            <p:cNvPr id="115" name="TextBox 70"/>
            <p:cNvSpPr txBox="1">
              <a:spLocks noChangeArrowheads="1"/>
            </p:cNvSpPr>
            <p:nvPr/>
          </p:nvSpPr>
          <p:spPr bwMode="auto">
            <a:xfrm>
              <a:off x="4973638" y="3028950"/>
              <a:ext cx="730250" cy="510396"/>
            </a:xfrm>
            <a:prstGeom prst="rect">
              <a:avLst/>
            </a:prstGeom>
            <a:noFill/>
            <a:ln>
              <a:noFill/>
            </a:ln>
          </p:spPr>
          <p:txBody>
            <a:bodyPr>
              <a:spAutoFit/>
            </a:bodyP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r>
                <a:rPr kumimoji="0" lang="zh-CN" altLang="en-US" sz="1000" b="0" i="0" u="none" strike="noStrike" kern="0" cap="none" spc="0" normalizeH="0" baseline="0" noProof="0" dirty="0">
                  <a:ln>
                    <a:noFill/>
                  </a:ln>
                  <a:solidFill>
                    <a:srgbClr val="1E3AF8"/>
                  </a:solidFill>
                  <a:effectLst/>
                  <a:uLnTx/>
                  <a:uFillTx/>
                  <a:latin typeface="微软雅黑" panose="020B0503020204020204" charset="-122"/>
                  <a:ea typeface="微软雅黑" panose="020B0503020204020204" charset="-122"/>
                </a:rPr>
                <a:t>供应商物料计划员</a:t>
              </a:r>
            </a:p>
          </p:txBody>
        </p:sp>
        <p:sp>
          <p:nvSpPr>
            <p:cNvPr id="116" name="Up-Down Arrow 84"/>
            <p:cNvSpPr>
              <a:spLocks noChangeArrowheads="1"/>
            </p:cNvSpPr>
            <p:nvPr/>
          </p:nvSpPr>
          <p:spPr bwMode="auto">
            <a:xfrm>
              <a:off x="5265738" y="3466121"/>
              <a:ext cx="108000" cy="252000"/>
            </a:xfrm>
            <a:prstGeom prst="upDownArrow">
              <a:avLst>
                <a:gd name="adj1" fmla="val 50000"/>
                <a:gd name="adj2" fmla="val 50005"/>
              </a:avLst>
            </a:prstGeom>
            <a:solidFill>
              <a:srgbClr val="D6DBFE"/>
            </a:solidFill>
            <a:ln w="9525" algn="ctr">
              <a:solidFill>
                <a:srgbClr val="7889FB"/>
              </a:solidFill>
              <a:round/>
            </a:ln>
          </p:spPr>
          <p:txBody>
            <a:bodyPr lIns="90000" tIns="46800" rIns="90000" bIns="46800" anchor="ctr"/>
            <a:lstStyle>
              <a:lvl1pPr eaLnBrk="0" hangingPunct="0">
                <a:defRPr sz="1200">
                  <a:solidFill>
                    <a:schemeClr val="tx1"/>
                  </a:solidFill>
                  <a:latin typeface="Arial" panose="020B0604020202020204" pitchFamily="34" charset="0"/>
                  <a:ea typeface="宋体" panose="02010600030101010101" pitchFamily="2" charset="-122"/>
                </a:defRPr>
              </a:lvl1pPr>
              <a:lvl2pPr marL="742950" indent="-285750" eaLnBrk="0" hangingPunct="0">
                <a:defRPr sz="1200">
                  <a:solidFill>
                    <a:schemeClr val="tx1"/>
                  </a:solidFill>
                  <a:latin typeface="Arial" panose="020B0604020202020204" pitchFamily="34" charset="0"/>
                  <a:ea typeface="宋体" panose="02010600030101010101" pitchFamily="2" charset="-122"/>
                </a:defRPr>
              </a:lvl2pPr>
              <a:lvl3pPr marL="1143000" indent="-228600" eaLnBrk="0" hangingPunct="0">
                <a:defRPr sz="1200">
                  <a:solidFill>
                    <a:schemeClr val="tx1"/>
                  </a:solidFill>
                  <a:latin typeface="Arial" panose="020B0604020202020204" pitchFamily="34" charset="0"/>
                  <a:ea typeface="宋体" panose="02010600030101010101" pitchFamily="2" charset="-122"/>
                </a:defRPr>
              </a:lvl3pPr>
              <a:lvl4pPr marL="1600200" indent="-228600" eaLnBrk="0" hangingPunct="0">
                <a:defRPr sz="1200">
                  <a:solidFill>
                    <a:schemeClr val="tx1"/>
                  </a:solidFill>
                  <a:latin typeface="Arial" panose="020B0604020202020204" pitchFamily="34" charset="0"/>
                  <a:ea typeface="宋体" panose="02010600030101010101" pitchFamily="2" charset="-122"/>
                </a:defRPr>
              </a:lvl4pPr>
              <a:lvl5pPr marL="2057400" indent="-228600" eaLnBrk="0" hangingPunct="0">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90000"/>
                </a:lnSpc>
                <a:spcBef>
                  <a:spcPct val="20000"/>
                </a:spcBef>
                <a:spcAft>
                  <a:spcPts val="0"/>
                </a:spcAft>
                <a:buClr>
                  <a:srgbClr val="000000"/>
                </a:buClr>
                <a:buSzTx/>
                <a:buFont typeface="Arial" panose="020B0604020202020204" pitchFamily="34" charset="0"/>
                <a:buNone/>
                <a:defRPr/>
              </a:pPr>
              <a:endParaRPr kumimoji="0" lang="en-US" altLang="zh-CN" sz="12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endParaRPr>
            </a:p>
          </p:txBody>
        </p:sp>
      </p:grpSp>
      <p:sp>
        <p:nvSpPr>
          <p:cNvPr id="117" name="TextBox 116"/>
          <p:cNvSpPr txBox="1"/>
          <p:nvPr/>
        </p:nvSpPr>
        <p:spPr>
          <a:xfrm>
            <a:off x="5004047" y="2060847"/>
            <a:ext cx="1115998" cy="540000"/>
          </a:xfrm>
          <a:prstGeom prst="rect">
            <a:avLst/>
          </a:prstGeom>
          <a:solidFill>
            <a:srgbClr val="FFFF00"/>
          </a:solidFill>
          <a:ln>
            <a:solidFill>
              <a:srgbClr val="FFFFFF">
                <a:lumMod val="75000"/>
              </a:srgbClr>
            </a:solidFill>
          </a:ln>
        </p:spPr>
        <p:txBody>
          <a:bodyPr>
            <a:spAutoFit/>
          </a:bodyPr>
          <a:lstStyle>
            <a:defPPr>
              <a:defRPr lang="zh-CN"/>
            </a:defPPr>
            <a:lvl1pPr marR="0" lvl="0" indent="0" eaLnBrk="0" fontAlgn="auto" hangingPunct="0">
              <a:lnSpc>
                <a:spcPct val="90000"/>
              </a:lnSpc>
              <a:spcBef>
                <a:spcPct val="20000"/>
              </a:spcBef>
              <a:spcAft>
                <a:spcPts val="0"/>
              </a:spcAft>
              <a:buClr>
                <a:srgbClr val="000000"/>
              </a:buClr>
              <a:buSzTx/>
              <a:buFont typeface="Arial" panose="020B0604020202020204" pitchFamily="34" charset="0"/>
              <a:buNone/>
              <a:defRPr kumimoji="0" sz="1400" b="0"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r>
              <a:rPr lang="zh-CN" altLang="en-US" sz="1200" dirty="0"/>
              <a:t>供应商未按时发货报警</a:t>
            </a:r>
          </a:p>
        </p:txBody>
      </p:sp>
      <p:sp>
        <p:nvSpPr>
          <p:cNvPr id="118" name="TextBox 117"/>
          <p:cNvSpPr txBox="1"/>
          <p:nvPr/>
        </p:nvSpPr>
        <p:spPr>
          <a:xfrm>
            <a:off x="6300192" y="2060847"/>
            <a:ext cx="1008000" cy="539999"/>
          </a:xfrm>
          <a:prstGeom prst="rect">
            <a:avLst/>
          </a:prstGeom>
          <a:solidFill>
            <a:srgbClr val="FFC000"/>
          </a:solidFill>
          <a:ln>
            <a:solidFill>
              <a:srgbClr val="FFFFFF">
                <a:lumMod val="75000"/>
              </a:srgbClr>
            </a:solidFill>
          </a:ln>
        </p:spPr>
        <p:txBody>
          <a:bodyPr>
            <a:spAutoFit/>
          </a:bodyPr>
          <a:lstStyle>
            <a:defPPr>
              <a:defRPr lang="zh-CN"/>
            </a:defPPr>
            <a:lvl1pPr marR="0" lvl="0" indent="0" eaLnBrk="0" fontAlgn="auto" hangingPunct="0">
              <a:lnSpc>
                <a:spcPct val="90000"/>
              </a:lnSpc>
              <a:spcBef>
                <a:spcPct val="20000"/>
              </a:spcBef>
              <a:spcAft>
                <a:spcPts val="0"/>
              </a:spcAft>
              <a:buClr>
                <a:srgbClr val="000000"/>
              </a:buClr>
              <a:buSzTx/>
              <a:buFont typeface="Arial" panose="020B0604020202020204" pitchFamily="34" charset="0"/>
              <a:buNone/>
              <a:defRPr kumimoji="0" sz="1400" b="0" i="0" u="none" strike="noStrike" kern="0" cap="none" spc="0" normalizeH="0" baseline="0">
                <a:ln>
                  <a:noFill/>
                </a:ln>
                <a:solidFill>
                  <a:sysClr val="windowText" lastClr="000000"/>
                </a:solidFill>
                <a:effectLst/>
                <a:uLnTx/>
                <a:uFillTx/>
                <a:latin typeface="微软雅黑" panose="020B0503020204020204" charset="-122"/>
                <a:ea typeface="微软雅黑" panose="020B0503020204020204" charset="-122"/>
              </a:defRPr>
            </a:lvl1pPr>
          </a:lstStyle>
          <a:p>
            <a:r>
              <a:rPr lang="zh-CN" altLang="en-US" sz="1200" dirty="0"/>
              <a:t>供应商未按时到货报警</a:t>
            </a:r>
          </a:p>
        </p:txBody>
      </p:sp>
      <p:sp>
        <p:nvSpPr>
          <p:cNvPr id="67" name="Text Box 14"/>
          <p:cNvSpPr txBox="1">
            <a:spLocks noChangeArrowheads="1"/>
          </p:cNvSpPr>
          <p:nvPr>
            <p:custDataLst>
              <p:tags r:id="rId1"/>
            </p:custDataLst>
          </p:nvPr>
        </p:nvSpPr>
        <p:spPr bwMode="auto">
          <a:xfrm rot="19468178">
            <a:off x="7570912" y="5814105"/>
            <a:ext cx="1200150" cy="379412"/>
          </a:xfrm>
          <a:prstGeom prst="rect">
            <a:avLst/>
          </a:prstGeom>
          <a:solidFill>
            <a:srgbClr val="FFFFA7"/>
          </a:solidFill>
          <a:ln w="12700" algn="ctr">
            <a:solidFill>
              <a:schemeClr val="accent1"/>
            </a:solidFill>
            <a:miter lim="800000"/>
          </a:ln>
        </p:spPr>
        <p:txBody>
          <a:bodyPr>
            <a:spAutoFit/>
          </a:bodyPr>
          <a:lstStyle/>
          <a:p>
            <a:pPr algn="ctr">
              <a:spcBef>
                <a:spcPct val="50000"/>
              </a:spcBef>
              <a:buFont typeface="Wingdings" panose="05000000000000000000" pitchFamily="2" charset="2"/>
              <a:buNone/>
            </a:pPr>
            <a:r>
              <a:rPr lang="zh-CN" altLang="en-US" sz="1800" b="1" dirty="0">
                <a:solidFill>
                  <a:schemeClr val="accent1"/>
                </a:solidFill>
                <a:latin typeface="微软雅黑" panose="020B0503020204020204" charset="-122"/>
                <a:ea typeface="微软雅黑" panose="020B0503020204020204" charset="-122"/>
              </a:rPr>
              <a:t>示例</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162000" y="593725"/>
            <a:ext cx="8820000" cy="695325"/>
          </a:xfrm>
          <a:prstGeom prst="rect">
            <a:avLst/>
          </a:prstGeom>
          <a:noFill/>
          <a:ln w="9525">
            <a:noFill/>
            <a:miter lim="800000"/>
          </a:ln>
        </p:spPr>
        <p:txBody>
          <a:bodyPr vert="horz" wrap="square" lIns="91440" tIns="45720" rIns="91440" bIns="45720" numCol="1" anchor="t" anchorCtr="0" compatLnSpc="1"/>
          <a:lstStyle>
            <a:lvl1pPr algn="l" rtl="0" eaLnBrk="0" fontAlgn="base" hangingPunct="0">
              <a:lnSpc>
                <a:spcPct val="90000"/>
              </a:lnSpc>
              <a:spcBef>
                <a:spcPct val="0"/>
              </a:spcBef>
              <a:spcAft>
                <a:spcPct val="0"/>
              </a:spcAft>
              <a:defRPr lang="en-US" altLang="zh-CN" sz="2000" b="1" dirty="0" smtClean="0">
                <a:solidFill>
                  <a:srgbClr val="0066FF"/>
                </a:solidFill>
                <a:latin typeface="微软雅黑" panose="020B0503020204020204" charset="-122"/>
                <a:ea typeface="微软雅黑" panose="020B0503020204020204" charset="-122"/>
                <a:cs typeface="+mj-cs"/>
              </a:defRPr>
            </a:lvl1pPr>
            <a:lvl2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2pPr>
            <a:lvl3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3pPr>
            <a:lvl4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4pPr>
            <a:lvl5pPr algn="l" rtl="0" eaLnBrk="0" fontAlgn="base" hangingPunct="0">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5pPr>
            <a:lvl6pPr marL="4572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6pPr>
            <a:lvl7pPr marL="9144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7pPr>
            <a:lvl8pPr marL="13716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8pPr>
            <a:lvl9pPr marL="1828800" algn="l" rtl="0" fontAlgn="base">
              <a:lnSpc>
                <a:spcPct val="90000"/>
              </a:lnSpc>
              <a:spcBef>
                <a:spcPct val="0"/>
              </a:spcBef>
              <a:spcAft>
                <a:spcPct val="0"/>
              </a:spcAft>
              <a:defRPr sz="2000" b="1">
                <a:solidFill>
                  <a:schemeClr val="hlink"/>
                </a:solidFill>
                <a:latin typeface="华文中宋" panose="02010600040101010101" pitchFamily="2" charset="-122"/>
                <a:ea typeface="华文中宋" panose="02010600040101010101" pitchFamily="2" charset="-122"/>
              </a:defRPr>
            </a:lvl9pPr>
          </a:lstStyle>
          <a:p>
            <a:r>
              <a:rPr lang="zh-CN" altLang="en-US" kern="0" dirty="0"/>
              <a:t>附录</a:t>
            </a:r>
          </a:p>
        </p:txBody>
      </p:sp>
      <p:sp>
        <p:nvSpPr>
          <p:cNvPr id="10" name="Rectangle 4"/>
          <p:cNvSpPr>
            <a:spLocks noChangeArrowheads="1"/>
          </p:cNvSpPr>
          <p:nvPr/>
        </p:nvSpPr>
        <p:spPr bwMode="auto">
          <a:xfrm>
            <a:off x="1371763" y="1544105"/>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项目进度与工作范围</a:t>
            </a:r>
          </a:p>
        </p:txBody>
      </p:sp>
      <p:sp>
        <p:nvSpPr>
          <p:cNvPr id="12" name="Rectangle 11"/>
          <p:cNvSpPr>
            <a:spLocks noChangeArrowheads="1"/>
          </p:cNvSpPr>
          <p:nvPr/>
        </p:nvSpPr>
        <p:spPr bwMode="auto">
          <a:xfrm>
            <a:off x="585986" y="1544105"/>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1</a:t>
            </a:r>
          </a:p>
        </p:txBody>
      </p:sp>
      <p:sp>
        <p:nvSpPr>
          <p:cNvPr id="13" name="Rectangle 11"/>
          <p:cNvSpPr>
            <a:spLocks noChangeArrowheads="1"/>
          </p:cNvSpPr>
          <p:nvPr/>
        </p:nvSpPr>
        <p:spPr bwMode="auto">
          <a:xfrm>
            <a:off x="585986" y="2209660"/>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rPr>
              <a:t>2</a:t>
            </a:r>
          </a:p>
        </p:txBody>
      </p:sp>
      <p:sp>
        <p:nvSpPr>
          <p:cNvPr id="16" name="Rectangle 5"/>
          <p:cNvSpPr>
            <a:spLocks noChangeArrowheads="1"/>
          </p:cNvSpPr>
          <p:nvPr/>
        </p:nvSpPr>
        <p:spPr bwMode="auto">
          <a:xfrm>
            <a:off x="1371763" y="2209872"/>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业务成熟度分析</a:t>
            </a:r>
          </a:p>
        </p:txBody>
      </p:sp>
      <p:sp>
        <p:nvSpPr>
          <p:cNvPr id="14" name="Rectangle 11"/>
          <p:cNvSpPr>
            <a:spLocks noChangeArrowheads="1"/>
          </p:cNvSpPr>
          <p:nvPr/>
        </p:nvSpPr>
        <p:spPr bwMode="auto">
          <a:xfrm>
            <a:off x="585986" y="2875216"/>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3</a:t>
            </a:r>
          </a:p>
        </p:txBody>
      </p:sp>
      <p:sp>
        <p:nvSpPr>
          <p:cNvPr id="15" name="Rectangle 5"/>
          <p:cNvSpPr>
            <a:spLocks noChangeArrowheads="1"/>
          </p:cNvSpPr>
          <p:nvPr/>
        </p:nvSpPr>
        <p:spPr bwMode="auto">
          <a:xfrm>
            <a:off x="1371763" y="2875639"/>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总体绩效指标分析</a:t>
            </a:r>
          </a:p>
        </p:txBody>
      </p:sp>
      <p:sp>
        <p:nvSpPr>
          <p:cNvPr id="17" name="Rectangle 4"/>
          <p:cNvSpPr>
            <a:spLocks noChangeArrowheads="1"/>
          </p:cNvSpPr>
          <p:nvPr/>
        </p:nvSpPr>
        <p:spPr bwMode="auto">
          <a:xfrm>
            <a:off x="1371763" y="3541406"/>
            <a:ext cx="7170202" cy="503237"/>
          </a:xfrm>
          <a:prstGeom prst="rect">
            <a:avLst/>
          </a:prstGeom>
          <a:noFill/>
          <a:ln w="9525" algn="ctr">
            <a:solidFill>
              <a:srgbClr val="7889FB"/>
            </a:solidFill>
            <a:miter lim="800000"/>
          </a:ln>
        </p:spPr>
        <p:txBody>
          <a:bodyPr wrap="none" lIns="90000" tIns="46800" rIns="90000" bIns="46800" anchor="ctr"/>
          <a:lstStyle/>
          <a:p>
            <a:pPr lvl="0">
              <a:defRPr/>
            </a:pPr>
            <a:r>
              <a:rPr lang="zh-CN" altLang="en-US" sz="1600" kern="0" dirty="0">
                <a:solidFill>
                  <a:sysClr val="windowText" lastClr="000000"/>
                </a:solidFill>
                <a:latin typeface="微软雅黑" panose="020B0503020204020204" charset="-122"/>
                <a:ea typeface="微软雅黑" panose="020B0503020204020204" charset="-122"/>
              </a:rPr>
              <a:t>现状分析</a:t>
            </a:r>
          </a:p>
        </p:txBody>
      </p:sp>
      <p:sp>
        <p:nvSpPr>
          <p:cNvPr id="18" name="Rectangle 11"/>
          <p:cNvSpPr>
            <a:spLocks noChangeArrowheads="1"/>
          </p:cNvSpPr>
          <p:nvPr/>
        </p:nvSpPr>
        <p:spPr bwMode="auto">
          <a:xfrm>
            <a:off x="585986" y="3540772"/>
            <a:ext cx="684213" cy="503237"/>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4</a:t>
            </a:r>
          </a:p>
        </p:txBody>
      </p:sp>
      <p:sp>
        <p:nvSpPr>
          <p:cNvPr id="20" name="Rectangle 11"/>
          <p:cNvSpPr>
            <a:spLocks noChangeArrowheads="1"/>
          </p:cNvSpPr>
          <p:nvPr/>
        </p:nvSpPr>
        <p:spPr bwMode="auto">
          <a:xfrm>
            <a:off x="585986" y="4206327"/>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5</a:t>
            </a:r>
          </a:p>
        </p:txBody>
      </p:sp>
      <p:sp>
        <p:nvSpPr>
          <p:cNvPr id="21" name="Rectangle 5"/>
          <p:cNvSpPr>
            <a:spLocks noChangeArrowheads="1"/>
          </p:cNvSpPr>
          <p:nvPr/>
        </p:nvSpPr>
        <p:spPr bwMode="auto">
          <a:xfrm>
            <a:off x="1371763" y="4207173"/>
            <a:ext cx="7170202" cy="503237"/>
          </a:xfrm>
          <a:prstGeom prst="rect">
            <a:avLst/>
          </a:prstGeom>
          <a:noFill/>
          <a:ln w="9525" algn="ctr">
            <a:solidFill>
              <a:srgbClr val="7889FB"/>
            </a:solidFill>
            <a:miter lim="800000"/>
          </a:ln>
        </p:spPr>
        <p:txBody>
          <a:bodyPr wrap="none" lIns="90000" tIns="46800" rIns="90000" bIns="46800" anchor="ctr"/>
          <a:lstStyle/>
          <a:p>
            <a:pPr>
              <a:defRPr/>
            </a:pPr>
            <a:r>
              <a:rPr lang="zh-CN" altLang="en-US" sz="1600" kern="0" dirty="0">
                <a:solidFill>
                  <a:sysClr val="windowText" lastClr="000000"/>
                </a:solidFill>
                <a:latin typeface="微软雅黑" panose="020B0503020204020204" charset="-122"/>
                <a:ea typeface="微软雅黑" panose="020B0503020204020204" charset="-122"/>
              </a:rPr>
              <a:t>解决思路</a:t>
            </a:r>
          </a:p>
        </p:txBody>
      </p:sp>
      <p:sp>
        <p:nvSpPr>
          <p:cNvPr id="26" name="Rectangle 11"/>
          <p:cNvSpPr>
            <a:spLocks noChangeArrowheads="1"/>
          </p:cNvSpPr>
          <p:nvPr/>
        </p:nvSpPr>
        <p:spPr bwMode="auto">
          <a:xfrm>
            <a:off x="585986" y="4871885"/>
            <a:ext cx="684213" cy="503238"/>
          </a:xfrm>
          <a:prstGeom prst="rect">
            <a:avLst/>
          </a:prstGeom>
          <a:solidFill>
            <a:srgbClr val="242490"/>
          </a:solidFill>
          <a:ln w="9525" algn="ctr">
            <a:solidFill>
              <a:srgbClr val="7889FB"/>
            </a:solidFill>
            <a:miter lim="800000"/>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6</a:t>
            </a:r>
          </a:p>
        </p:txBody>
      </p:sp>
      <p:sp>
        <p:nvSpPr>
          <p:cNvPr id="29" name="Rectangle 5"/>
          <p:cNvSpPr>
            <a:spLocks noChangeArrowheads="1"/>
          </p:cNvSpPr>
          <p:nvPr/>
        </p:nvSpPr>
        <p:spPr bwMode="auto">
          <a:xfrm>
            <a:off x="1371763" y="4872938"/>
            <a:ext cx="7170202" cy="503237"/>
          </a:xfrm>
          <a:prstGeom prst="rect">
            <a:avLst/>
          </a:prstGeom>
          <a:solidFill>
            <a:srgbClr val="D6DBFE"/>
          </a:solidFill>
          <a:ln w="9525" algn="ctr">
            <a:solidFill>
              <a:srgbClr val="7889FB"/>
            </a:solidFill>
            <a:miter lim="800000"/>
          </a:ln>
        </p:spPr>
        <p:txBody>
          <a:bodyPr wrap="none" lIns="90000" tIns="46800" rIns="90000" bIns="46800" anchor="ctr"/>
          <a:lstStyle/>
          <a:p>
            <a:pPr lvl="0">
              <a:defRPr/>
            </a:pPr>
            <a:r>
              <a:rPr lang="zh-CN" altLang="en-US" sz="1600" b="1" kern="0" dirty="0">
                <a:solidFill>
                  <a:sysClr val="windowText" lastClr="000000"/>
                </a:solidFill>
                <a:latin typeface="微软雅黑" panose="020B0503020204020204" charset="-122"/>
                <a:ea typeface="微软雅黑" panose="020B0503020204020204" charset="-122"/>
              </a:rPr>
              <a:t>集成计划体系流程框架</a:t>
            </a:r>
            <a:r>
              <a:rPr lang="en-US" altLang="zh-CN" sz="1600" b="1" kern="0" dirty="0">
                <a:solidFill>
                  <a:sysClr val="windowText" lastClr="000000"/>
                </a:solidFill>
                <a:latin typeface="微软雅黑" panose="020B0503020204020204" charset="-122"/>
                <a:ea typeface="微软雅黑" panose="020B0503020204020204" charset="-122"/>
              </a:rPr>
              <a:t>1.0</a:t>
            </a:r>
            <a:endParaRPr lang="zh-CN" altLang="en-US" sz="1600" b="1" kern="0" dirty="0">
              <a:solidFill>
                <a:sysClr val="windowText" lastClr="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标题 1"/>
          <p:cNvSpPr>
            <a:spLocks noGrp="1"/>
          </p:cNvSpPr>
          <p:nvPr>
            <p:ph type="title"/>
          </p:nvPr>
        </p:nvSpPr>
        <p:spPr>
          <a:xfrm>
            <a:off x="162000" y="593725"/>
            <a:ext cx="8820000" cy="695325"/>
          </a:xfrm>
        </p:spPr>
        <p:txBody>
          <a:bodyPr/>
          <a:lstStyle/>
          <a:p>
            <a:r>
              <a:rPr lang="zh-CN" altLang="en-US" dirty="0"/>
              <a:t>根据x的总体流程框架，集成计划组主要关注“</a:t>
            </a:r>
            <a:r>
              <a:rPr dirty="0"/>
              <a:t>5.0</a:t>
            </a:r>
            <a:r>
              <a:rPr lang="zh-CN" altLang="en-US" dirty="0"/>
              <a:t>制造与商务”流程，同时会考虑与“</a:t>
            </a:r>
            <a:r>
              <a:rPr dirty="0"/>
              <a:t>4.0</a:t>
            </a:r>
            <a:r>
              <a:rPr lang="zh-CN" altLang="en-US" dirty="0"/>
              <a:t>营销与服务”流程的打通，对</a:t>
            </a:r>
            <a:r>
              <a:rPr dirty="0"/>
              <a:t>4.0</a:t>
            </a:r>
            <a:r>
              <a:rPr lang="zh-CN" altLang="en-US" dirty="0"/>
              <a:t>流程提出优化建议</a:t>
            </a:r>
          </a:p>
        </p:txBody>
      </p:sp>
      <p:sp>
        <p:nvSpPr>
          <p:cNvPr id="15" name="左大括号 14"/>
          <p:cNvSpPr/>
          <p:nvPr/>
        </p:nvSpPr>
        <p:spPr bwMode="auto">
          <a:xfrm>
            <a:off x="1285852" y="1590662"/>
            <a:ext cx="214314" cy="912819"/>
          </a:xfrm>
          <a:prstGeom prst="leftBrace">
            <a:avLst>
              <a:gd name="adj1" fmla="val 30555"/>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16" name="左大括号 15"/>
          <p:cNvSpPr/>
          <p:nvPr/>
        </p:nvSpPr>
        <p:spPr bwMode="auto">
          <a:xfrm>
            <a:off x="1285852" y="3217860"/>
            <a:ext cx="214314" cy="2970534"/>
          </a:xfrm>
          <a:prstGeom prst="leftBrace">
            <a:avLst>
              <a:gd name="adj1" fmla="val 41222"/>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grpSp>
        <p:nvGrpSpPr>
          <p:cNvPr id="2" name="组合 20"/>
          <p:cNvGrpSpPr/>
          <p:nvPr/>
        </p:nvGrpSpPr>
        <p:grpSpPr>
          <a:xfrm>
            <a:off x="1571604" y="1571612"/>
            <a:ext cx="7000924" cy="4643470"/>
            <a:chOff x="785786" y="1357298"/>
            <a:chExt cx="7643866" cy="4643470"/>
          </a:xfrm>
        </p:grpSpPr>
        <p:sp>
          <p:nvSpPr>
            <p:cNvPr id="3" name="五边形 2"/>
            <p:cNvSpPr/>
            <p:nvPr/>
          </p:nvSpPr>
          <p:spPr bwMode="auto">
            <a:xfrm>
              <a:off x="785786" y="2392166"/>
              <a:ext cx="2648250" cy="504000"/>
            </a:xfrm>
            <a:prstGeom prst="homePlate">
              <a:avLst>
                <a:gd name="adj" fmla="val 27374"/>
              </a:avLst>
            </a:prstGeom>
            <a:noFill/>
            <a:ln w="6350">
              <a:solidFill>
                <a:schemeClr val="tx1"/>
              </a:solidFill>
              <a:miter lim="800000"/>
            </a:ln>
          </p:spPr>
          <p:txBody>
            <a:bodyPr rtlCol="0" anchor="ctr">
              <a:noAutofit/>
            </a:bodyPr>
            <a:lstStyle/>
            <a:p>
              <a:pPr algn="ctr">
                <a:buClr>
                  <a:schemeClr val="tx1"/>
                </a:buClr>
              </a:pPr>
              <a:r>
                <a:rPr lang="en-US" altLang="zh-CN" sz="1600" dirty="0">
                  <a:solidFill>
                    <a:srgbClr val="000000"/>
                  </a:solidFill>
                  <a:latin typeface="微软雅黑" panose="020B0503020204020204" charset="-122"/>
                  <a:ea typeface="微软雅黑" panose="020B0503020204020204" charset="-122"/>
                </a:rPr>
                <a:t>3.0 </a:t>
              </a:r>
              <a:r>
                <a:rPr lang="zh-CN" altLang="en-US" sz="1600" dirty="0">
                  <a:solidFill>
                    <a:srgbClr val="000000"/>
                  </a:solidFill>
                  <a:latin typeface="微软雅黑" panose="020B0503020204020204" charset="-122"/>
                  <a:ea typeface="微软雅黑" panose="020B0503020204020204" charset="-122"/>
                </a:rPr>
                <a:t>研发与创新</a:t>
              </a:r>
            </a:p>
          </p:txBody>
        </p:sp>
        <p:sp>
          <p:nvSpPr>
            <p:cNvPr id="4" name="燕尾形 3"/>
            <p:cNvSpPr/>
            <p:nvPr/>
          </p:nvSpPr>
          <p:spPr bwMode="auto">
            <a:xfrm>
              <a:off x="3283594" y="2392166"/>
              <a:ext cx="2648250" cy="504000"/>
            </a:xfrm>
            <a:prstGeom prst="chevron">
              <a:avLst>
                <a:gd name="adj" fmla="val 27374"/>
              </a:avLst>
            </a:prstGeom>
            <a:solidFill>
              <a:srgbClr val="FFC000">
                <a:alpha val="50000"/>
              </a:srgbClr>
            </a:solidFill>
            <a:ln w="6350">
              <a:solidFill>
                <a:schemeClr val="tx1"/>
              </a:solidFill>
              <a:miter lim="800000"/>
            </a:ln>
          </p:spPr>
          <p:txBody>
            <a:bodyPr rtlCol="0" anchor="ctr">
              <a:noAutofit/>
            </a:bodyPr>
            <a:lstStyle/>
            <a:p>
              <a:pPr marL="117475" indent="-117475" algn="ctr">
                <a:buClr>
                  <a:schemeClr val="tx1"/>
                </a:buClr>
              </a:pPr>
              <a:r>
                <a:rPr lang="en-US" altLang="zh-CN" sz="1600" b="1" dirty="0">
                  <a:solidFill>
                    <a:srgbClr val="000000"/>
                  </a:solidFill>
                  <a:latin typeface="微软雅黑" panose="020B0503020204020204" charset="-122"/>
                  <a:ea typeface="微软雅黑" panose="020B0503020204020204" charset="-122"/>
                </a:rPr>
                <a:t>4.0 </a:t>
              </a:r>
              <a:r>
                <a:rPr lang="zh-CN" altLang="en-US" sz="1600" b="1" dirty="0">
                  <a:solidFill>
                    <a:srgbClr val="000000"/>
                  </a:solidFill>
                  <a:latin typeface="微软雅黑" panose="020B0503020204020204" charset="-122"/>
                  <a:ea typeface="微软雅黑" panose="020B0503020204020204" charset="-122"/>
                </a:rPr>
                <a:t>营销与服务</a:t>
              </a:r>
            </a:p>
          </p:txBody>
        </p:sp>
        <p:sp>
          <p:nvSpPr>
            <p:cNvPr id="5" name="燕尾形 4"/>
            <p:cNvSpPr/>
            <p:nvPr/>
          </p:nvSpPr>
          <p:spPr bwMode="auto">
            <a:xfrm>
              <a:off x="5781402" y="2392166"/>
              <a:ext cx="2648250" cy="504000"/>
            </a:xfrm>
            <a:prstGeom prst="chevron">
              <a:avLst>
                <a:gd name="adj" fmla="val 27374"/>
              </a:avLst>
            </a:prstGeom>
            <a:solidFill>
              <a:srgbClr val="FFC000"/>
            </a:solidFill>
            <a:ln w="6350">
              <a:solidFill>
                <a:schemeClr val="tx1"/>
              </a:solidFill>
              <a:miter lim="800000"/>
            </a:ln>
          </p:spPr>
          <p:txBody>
            <a:bodyPr rtlCol="0" anchor="ctr">
              <a:noAutofit/>
            </a:bodyPr>
            <a:lstStyle/>
            <a:p>
              <a:pPr marL="117475" indent="-117475" algn="ctr">
                <a:buClr>
                  <a:schemeClr val="tx1"/>
                </a:buClr>
              </a:pPr>
              <a:r>
                <a:rPr lang="en-US" altLang="zh-CN" sz="1600" b="1" dirty="0">
                  <a:solidFill>
                    <a:srgbClr val="000000"/>
                  </a:solidFill>
                  <a:latin typeface="微软雅黑" panose="020B0503020204020204" charset="-122"/>
                  <a:ea typeface="微软雅黑" panose="020B0503020204020204" charset="-122"/>
                </a:rPr>
                <a:t>5.0 </a:t>
              </a:r>
              <a:r>
                <a:rPr lang="zh-CN" altLang="en-US" sz="1600" b="1" dirty="0">
                  <a:solidFill>
                    <a:srgbClr val="000000"/>
                  </a:solidFill>
                  <a:latin typeface="微软雅黑" panose="020B0503020204020204" charset="-122"/>
                  <a:ea typeface="微软雅黑" panose="020B0503020204020204" charset="-122"/>
                </a:rPr>
                <a:t>制造与商务</a:t>
              </a:r>
            </a:p>
          </p:txBody>
        </p:sp>
        <p:sp>
          <p:nvSpPr>
            <p:cNvPr id="6" name="矩形 5"/>
            <p:cNvSpPr/>
            <p:nvPr/>
          </p:nvSpPr>
          <p:spPr bwMode="auto">
            <a:xfrm>
              <a:off x="785786" y="2981600"/>
              <a:ext cx="7643866" cy="432000"/>
            </a:xfrm>
            <a:prstGeom prst="rect">
              <a:avLst/>
            </a:prstGeom>
            <a:noFill/>
            <a:ln w="6350">
              <a:solidFill>
                <a:schemeClr val="tx1"/>
              </a:solidFill>
              <a:miter lim="800000"/>
            </a:ln>
          </p:spPr>
          <p:txBody>
            <a:bodyPr rtlCol="0" anchor="ctr">
              <a:noAutofit/>
            </a:bodyPr>
            <a:lstStyle/>
            <a:p>
              <a:pPr marL="117475" indent="-117475" algn="ctr">
                <a:buClr>
                  <a:schemeClr val="tx1"/>
                </a:buClr>
              </a:pPr>
              <a:r>
                <a:rPr lang="en-US" altLang="zh-CN" sz="1600" dirty="0">
                  <a:solidFill>
                    <a:srgbClr val="000000"/>
                  </a:solidFill>
                  <a:latin typeface="微软雅黑" panose="020B0503020204020204" charset="-122"/>
                  <a:ea typeface="微软雅黑" panose="020B0503020204020204" charset="-122"/>
                </a:rPr>
                <a:t>6.0</a:t>
              </a:r>
              <a:r>
                <a:rPr lang="zh-CN" altLang="en-US" sz="1600" dirty="0">
                  <a:solidFill>
                    <a:srgbClr val="000000"/>
                  </a:solidFill>
                  <a:latin typeface="微软雅黑" panose="020B0503020204020204" charset="-122"/>
                  <a:ea typeface="微软雅黑" panose="020B0503020204020204" charset="-122"/>
                </a:rPr>
                <a:t>人力资源管理</a:t>
              </a:r>
            </a:p>
          </p:txBody>
        </p:sp>
        <p:sp>
          <p:nvSpPr>
            <p:cNvPr id="7" name="矩形 6"/>
            <p:cNvSpPr/>
            <p:nvPr/>
          </p:nvSpPr>
          <p:spPr bwMode="auto">
            <a:xfrm>
              <a:off x="785786" y="3499034"/>
              <a:ext cx="7643866" cy="432000"/>
            </a:xfrm>
            <a:prstGeom prst="rect">
              <a:avLst/>
            </a:prstGeom>
            <a:noFill/>
            <a:ln w="6350">
              <a:solidFill>
                <a:schemeClr val="tx1"/>
              </a:solidFill>
              <a:miter lim="800000"/>
            </a:ln>
          </p:spPr>
          <p:txBody>
            <a:bodyPr rtlCol="0" anchor="ctr">
              <a:noAutofit/>
            </a:bodyPr>
            <a:lstStyle/>
            <a:p>
              <a:pPr marL="117475" indent="-117475" algn="ctr">
                <a:buClr>
                  <a:schemeClr val="tx1"/>
                </a:buClr>
              </a:pPr>
              <a:r>
                <a:rPr lang="en-US" altLang="zh-CN" sz="1600" dirty="0">
                  <a:solidFill>
                    <a:srgbClr val="000000"/>
                  </a:solidFill>
                  <a:latin typeface="微软雅黑" panose="020B0503020204020204" charset="-122"/>
                  <a:ea typeface="微软雅黑" panose="020B0503020204020204" charset="-122"/>
                </a:rPr>
                <a:t>7.0</a:t>
              </a:r>
              <a:r>
                <a:rPr lang="zh-CN" altLang="en-US" sz="1600" dirty="0">
                  <a:solidFill>
                    <a:srgbClr val="000000"/>
                  </a:solidFill>
                  <a:latin typeface="微软雅黑" panose="020B0503020204020204" charset="-122"/>
                  <a:ea typeface="微软雅黑" panose="020B0503020204020204" charset="-122"/>
                </a:rPr>
                <a:t> 财务与审计管理</a:t>
              </a:r>
            </a:p>
          </p:txBody>
        </p:sp>
        <p:sp>
          <p:nvSpPr>
            <p:cNvPr id="8" name="矩形 7"/>
            <p:cNvSpPr/>
            <p:nvPr/>
          </p:nvSpPr>
          <p:spPr bwMode="auto">
            <a:xfrm>
              <a:off x="785786" y="4016468"/>
              <a:ext cx="7643866" cy="432000"/>
            </a:xfrm>
            <a:prstGeom prst="rect">
              <a:avLst/>
            </a:prstGeom>
            <a:noFill/>
            <a:ln w="6350">
              <a:solidFill>
                <a:schemeClr val="tx1"/>
              </a:solidFill>
              <a:miter lim="800000"/>
            </a:ln>
          </p:spPr>
          <p:txBody>
            <a:bodyPr rtlCol="0" anchor="ctr">
              <a:noAutofit/>
            </a:bodyPr>
            <a:lstStyle/>
            <a:p>
              <a:pPr marL="117475" indent="-117475" algn="ctr">
                <a:buClr>
                  <a:schemeClr val="tx1"/>
                </a:buClr>
              </a:pPr>
              <a:r>
                <a:rPr lang="en-US" altLang="zh-CN" sz="1600" dirty="0">
                  <a:solidFill>
                    <a:srgbClr val="000000"/>
                  </a:solidFill>
                  <a:latin typeface="微软雅黑" panose="020B0503020204020204" charset="-122"/>
                  <a:ea typeface="微软雅黑" panose="020B0503020204020204" charset="-122"/>
                </a:rPr>
                <a:t>8.0 </a:t>
              </a:r>
              <a:r>
                <a:rPr lang="zh-CN" altLang="en-US" sz="1600" dirty="0">
                  <a:solidFill>
                    <a:srgbClr val="000000"/>
                  </a:solidFill>
                  <a:latin typeface="微软雅黑" panose="020B0503020204020204" charset="-122"/>
                  <a:ea typeface="微软雅黑" panose="020B0503020204020204" charset="-122"/>
                </a:rPr>
                <a:t>质量体系管理</a:t>
              </a:r>
            </a:p>
          </p:txBody>
        </p:sp>
        <p:sp>
          <p:nvSpPr>
            <p:cNvPr id="9" name="矩形 8"/>
            <p:cNvSpPr/>
            <p:nvPr/>
          </p:nvSpPr>
          <p:spPr bwMode="auto">
            <a:xfrm>
              <a:off x="785786" y="1874732"/>
              <a:ext cx="7643866" cy="432000"/>
            </a:xfrm>
            <a:prstGeom prst="rect">
              <a:avLst/>
            </a:prstGeom>
            <a:noFill/>
            <a:ln w="6350">
              <a:solidFill>
                <a:schemeClr val="tx1"/>
              </a:solidFill>
              <a:miter lim="800000"/>
            </a:ln>
          </p:spPr>
          <p:txBody>
            <a:bodyPr rtlCol="0" anchor="ctr">
              <a:noAutofit/>
            </a:bodyPr>
            <a:lstStyle/>
            <a:p>
              <a:pPr marL="117475" indent="-117475" algn="ctr">
                <a:buClr>
                  <a:schemeClr val="tx1"/>
                </a:buClr>
              </a:pPr>
              <a:r>
                <a:rPr lang="en-US" altLang="zh-CN" sz="1600" dirty="0">
                  <a:solidFill>
                    <a:srgbClr val="000000"/>
                  </a:solidFill>
                  <a:latin typeface="微软雅黑" panose="020B0503020204020204" charset="-122"/>
                  <a:ea typeface="微软雅黑" panose="020B0503020204020204" charset="-122"/>
                </a:rPr>
                <a:t>2.0 </a:t>
              </a:r>
              <a:r>
                <a:rPr lang="zh-CN" altLang="en-US" sz="1600" dirty="0">
                  <a:solidFill>
                    <a:srgbClr val="000000"/>
                  </a:solidFill>
                  <a:latin typeface="微软雅黑" panose="020B0503020204020204" charset="-122"/>
                  <a:ea typeface="微软雅黑" panose="020B0503020204020204" charset="-122"/>
                </a:rPr>
                <a:t>投资决策管理</a:t>
              </a:r>
            </a:p>
          </p:txBody>
        </p:sp>
        <p:sp>
          <p:nvSpPr>
            <p:cNvPr id="10" name="矩形 9"/>
            <p:cNvSpPr/>
            <p:nvPr/>
          </p:nvSpPr>
          <p:spPr bwMode="auto">
            <a:xfrm>
              <a:off x="785786" y="4533902"/>
              <a:ext cx="7643866" cy="432000"/>
            </a:xfrm>
            <a:prstGeom prst="rect">
              <a:avLst/>
            </a:prstGeom>
            <a:noFill/>
            <a:ln w="6350">
              <a:solidFill>
                <a:schemeClr val="tx1"/>
              </a:solidFill>
              <a:miter lim="800000"/>
            </a:ln>
          </p:spPr>
          <p:txBody>
            <a:bodyPr rtlCol="0" anchor="ctr">
              <a:noAutofit/>
            </a:bodyPr>
            <a:lstStyle/>
            <a:p>
              <a:pPr marL="117475" indent="-117475" algn="ctr">
                <a:buClr>
                  <a:schemeClr val="tx1"/>
                </a:buClr>
              </a:pPr>
              <a:r>
                <a:rPr lang="en-US" altLang="zh-CN" sz="1600" dirty="0">
                  <a:solidFill>
                    <a:srgbClr val="000000"/>
                  </a:solidFill>
                  <a:latin typeface="微软雅黑" panose="020B0503020204020204" charset="-122"/>
                  <a:ea typeface="微软雅黑" panose="020B0503020204020204" charset="-122"/>
                </a:rPr>
                <a:t>9.0 </a:t>
              </a:r>
              <a:r>
                <a:rPr lang="zh-CN" altLang="en-US" sz="1600" dirty="0">
                  <a:solidFill>
                    <a:srgbClr val="000000"/>
                  </a:solidFill>
                  <a:latin typeface="微软雅黑" panose="020B0503020204020204" charset="-122"/>
                  <a:ea typeface="微软雅黑" panose="020B0503020204020204" charset="-122"/>
                </a:rPr>
                <a:t>流程信息化管理</a:t>
              </a:r>
            </a:p>
          </p:txBody>
        </p:sp>
        <p:sp>
          <p:nvSpPr>
            <p:cNvPr id="11" name="矩形 10"/>
            <p:cNvSpPr/>
            <p:nvPr/>
          </p:nvSpPr>
          <p:spPr bwMode="auto">
            <a:xfrm>
              <a:off x="785786" y="5051336"/>
              <a:ext cx="7643866" cy="432000"/>
            </a:xfrm>
            <a:prstGeom prst="rect">
              <a:avLst/>
            </a:prstGeom>
            <a:noFill/>
            <a:ln w="6350">
              <a:solidFill>
                <a:schemeClr val="tx1"/>
              </a:solidFill>
              <a:miter lim="800000"/>
            </a:ln>
          </p:spPr>
          <p:txBody>
            <a:bodyPr rtlCol="0" anchor="ctr">
              <a:noAutofit/>
            </a:bodyPr>
            <a:lstStyle/>
            <a:p>
              <a:pPr marL="117475" indent="-117475" algn="ctr">
                <a:buClr>
                  <a:schemeClr val="tx1"/>
                </a:buClr>
              </a:pPr>
              <a:r>
                <a:rPr lang="en-US" altLang="zh-CN" sz="1600" dirty="0">
                  <a:solidFill>
                    <a:srgbClr val="000000"/>
                  </a:solidFill>
                  <a:latin typeface="微软雅黑" panose="020B0503020204020204" charset="-122"/>
                  <a:ea typeface="微软雅黑" panose="020B0503020204020204" charset="-122"/>
                </a:rPr>
                <a:t>10.0</a:t>
              </a:r>
              <a:r>
                <a:rPr lang="zh-CN" altLang="en-US" sz="1600" dirty="0">
                  <a:solidFill>
                    <a:srgbClr val="000000"/>
                  </a:solidFill>
                  <a:latin typeface="微软雅黑" panose="020B0503020204020204" charset="-122"/>
                  <a:ea typeface="微软雅黑" panose="020B0503020204020204" charset="-122"/>
                </a:rPr>
                <a:t> 环境、健康、安全</a:t>
              </a:r>
            </a:p>
          </p:txBody>
        </p:sp>
        <p:sp>
          <p:nvSpPr>
            <p:cNvPr id="12" name="矩形 11"/>
            <p:cNvSpPr/>
            <p:nvPr/>
          </p:nvSpPr>
          <p:spPr bwMode="auto">
            <a:xfrm>
              <a:off x="785786" y="5568768"/>
              <a:ext cx="7643866" cy="432000"/>
            </a:xfrm>
            <a:prstGeom prst="rect">
              <a:avLst/>
            </a:prstGeom>
            <a:noFill/>
            <a:ln w="6350">
              <a:solidFill>
                <a:schemeClr val="tx1"/>
              </a:solidFill>
              <a:miter lim="800000"/>
            </a:ln>
          </p:spPr>
          <p:txBody>
            <a:bodyPr rtlCol="0" anchor="ctr">
              <a:noAutofit/>
            </a:bodyPr>
            <a:lstStyle/>
            <a:p>
              <a:pPr marL="117475" indent="-117475" algn="ctr">
                <a:buClr>
                  <a:schemeClr val="tx1"/>
                </a:buClr>
              </a:pPr>
              <a:r>
                <a:rPr lang="en-US" altLang="zh-CN" sz="1600" dirty="0">
                  <a:solidFill>
                    <a:srgbClr val="000000"/>
                  </a:solidFill>
                  <a:latin typeface="微软雅黑" panose="020B0503020204020204" charset="-122"/>
                  <a:ea typeface="微软雅黑" panose="020B0503020204020204" charset="-122"/>
                </a:rPr>
                <a:t>11.0 </a:t>
              </a:r>
              <a:r>
                <a:rPr lang="zh-CN" altLang="en-US" sz="1600" dirty="0">
                  <a:solidFill>
                    <a:srgbClr val="000000"/>
                  </a:solidFill>
                  <a:latin typeface="微软雅黑" panose="020B0503020204020204" charset="-122"/>
                  <a:ea typeface="微软雅黑" panose="020B0503020204020204" charset="-122"/>
                </a:rPr>
                <a:t>其他（行政、法务、信息安全）</a:t>
              </a:r>
            </a:p>
          </p:txBody>
        </p:sp>
        <p:sp>
          <p:nvSpPr>
            <p:cNvPr id="17" name="矩形 16"/>
            <p:cNvSpPr/>
            <p:nvPr/>
          </p:nvSpPr>
          <p:spPr bwMode="auto">
            <a:xfrm>
              <a:off x="785786" y="1357298"/>
              <a:ext cx="7643866" cy="432000"/>
            </a:xfrm>
            <a:prstGeom prst="rect">
              <a:avLst/>
            </a:prstGeom>
            <a:noFill/>
            <a:ln w="6350">
              <a:solidFill>
                <a:schemeClr val="tx1"/>
              </a:solidFill>
              <a:miter lim="800000"/>
            </a:ln>
          </p:spPr>
          <p:txBody>
            <a:bodyPr rtlCol="0" anchor="ctr">
              <a:noAutofit/>
            </a:bodyPr>
            <a:lstStyle/>
            <a:p>
              <a:pPr marL="117475" indent="-117475" algn="ctr">
                <a:buClr>
                  <a:schemeClr val="tx1"/>
                </a:buClr>
              </a:pPr>
              <a:r>
                <a:rPr lang="en-US" altLang="zh-CN" sz="1600" dirty="0">
                  <a:solidFill>
                    <a:srgbClr val="000000"/>
                  </a:solidFill>
                  <a:latin typeface="微软雅黑" panose="020B0503020204020204" charset="-122"/>
                  <a:ea typeface="微软雅黑" panose="020B0503020204020204" charset="-122"/>
                </a:rPr>
                <a:t>1.0 </a:t>
              </a:r>
              <a:r>
                <a:rPr lang="zh-CN" altLang="en-US" sz="1600" dirty="0">
                  <a:solidFill>
                    <a:srgbClr val="000000"/>
                  </a:solidFill>
                  <a:latin typeface="微软雅黑" panose="020B0503020204020204" charset="-122"/>
                  <a:ea typeface="微软雅黑" panose="020B0503020204020204" charset="-122"/>
                </a:rPr>
                <a:t>战略规划管理</a:t>
              </a:r>
            </a:p>
          </p:txBody>
        </p:sp>
      </p:grpSp>
      <p:sp>
        <p:nvSpPr>
          <p:cNvPr id="18" name="左大括号 17"/>
          <p:cNvSpPr/>
          <p:nvPr/>
        </p:nvSpPr>
        <p:spPr bwMode="auto">
          <a:xfrm>
            <a:off x="1285852" y="2633657"/>
            <a:ext cx="214314" cy="447682"/>
          </a:xfrm>
          <a:prstGeom prst="leftBrace">
            <a:avLst>
              <a:gd name="adj1" fmla="val 30555"/>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zh-CN" altLang="en-US"/>
          </a:p>
        </p:txBody>
      </p:sp>
      <p:sp>
        <p:nvSpPr>
          <p:cNvPr id="20" name="TextBox 19"/>
          <p:cNvSpPr txBox="1"/>
          <p:nvPr/>
        </p:nvSpPr>
        <p:spPr bwMode="auto">
          <a:xfrm>
            <a:off x="351887" y="1772655"/>
            <a:ext cx="1005403" cy="584775"/>
          </a:xfrm>
          <a:prstGeom prst="rect">
            <a:avLst/>
          </a:prstGeom>
          <a:noFill/>
          <a:ln>
            <a:noFill/>
          </a:ln>
        </p:spPr>
        <p:txBody>
          <a:bodyPr wrap="none" rtlCol="0">
            <a:spAutoFit/>
          </a:bodyPr>
          <a:lstStyle/>
          <a:p>
            <a:pPr algn="ctr"/>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战略管理</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流程</a:t>
            </a:r>
          </a:p>
        </p:txBody>
      </p:sp>
      <p:sp>
        <p:nvSpPr>
          <p:cNvPr id="22" name="TextBox 21"/>
          <p:cNvSpPr txBox="1"/>
          <p:nvPr/>
        </p:nvSpPr>
        <p:spPr bwMode="auto">
          <a:xfrm>
            <a:off x="357158" y="2558473"/>
            <a:ext cx="1005403" cy="584775"/>
          </a:xfrm>
          <a:prstGeom prst="rect">
            <a:avLst/>
          </a:prstGeom>
          <a:noFill/>
          <a:ln>
            <a:noFill/>
          </a:ln>
        </p:spPr>
        <p:txBody>
          <a:bodyPr wrap="none" rtlCol="0">
            <a:spAutoFit/>
          </a:bodyPr>
          <a:lstStyle/>
          <a:p>
            <a:pPr algn="ctr"/>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核心业务</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流程</a:t>
            </a:r>
          </a:p>
        </p:txBody>
      </p:sp>
      <p:sp>
        <p:nvSpPr>
          <p:cNvPr id="23" name="TextBox 22"/>
          <p:cNvSpPr txBox="1"/>
          <p:nvPr/>
        </p:nvSpPr>
        <p:spPr bwMode="auto">
          <a:xfrm>
            <a:off x="357158" y="4415750"/>
            <a:ext cx="1005403" cy="584775"/>
          </a:xfrm>
          <a:prstGeom prst="rect">
            <a:avLst/>
          </a:prstGeom>
          <a:noFill/>
          <a:ln>
            <a:noFill/>
          </a:ln>
        </p:spPr>
        <p:txBody>
          <a:bodyPr wrap="none" rtlCol="0">
            <a:spAutoFit/>
          </a:bodyPr>
          <a:lstStyle/>
          <a:p>
            <a:pPr algn="ctr"/>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管理支撑</a:t>
            </a:r>
            <a:endParaRPr kumimoji="1" lang="en-US" altLang="zh-CN" sz="1600" b="1"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kumimoji="1" lang="zh-CN" altLang="en-US" sz="1600" b="1" dirty="0">
                <a:solidFill>
                  <a:srgbClr val="000000"/>
                </a:solidFill>
                <a:latin typeface="微软雅黑" panose="020B0503020204020204" charset="-122"/>
                <a:ea typeface="微软雅黑" panose="020B0503020204020204" charset="-122"/>
                <a:cs typeface="微软雅黑" panose="020B0503020204020204" charset="-122"/>
              </a:rPr>
              <a:t>流程</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62000" y="593725"/>
            <a:ext cx="8820000" cy="695325"/>
          </a:xfrm>
        </p:spPr>
        <p:txBody>
          <a:bodyPr/>
          <a:lstStyle/>
          <a:p>
            <a:r>
              <a:rPr lang="zh-CN" altLang="en-US" dirty="0"/>
              <a:t>三级流程框架：</a:t>
            </a:r>
            <a:r>
              <a:rPr dirty="0"/>
              <a:t>SCM1.0</a:t>
            </a:r>
            <a:r>
              <a:rPr lang="zh-CN" altLang="en-US" dirty="0"/>
              <a:t>相关三级流程有</a:t>
            </a:r>
            <a:r>
              <a:rPr dirty="0"/>
              <a:t>32</a:t>
            </a:r>
            <a:r>
              <a:rPr lang="zh-CN" altLang="en-US" dirty="0"/>
              <a:t>个，其中</a:t>
            </a:r>
            <a:r>
              <a:rPr dirty="0"/>
              <a:t>9</a:t>
            </a:r>
            <a:r>
              <a:rPr lang="zh-CN" altLang="en-US" dirty="0"/>
              <a:t>个未建流程，未来需新建，另外</a:t>
            </a:r>
            <a:r>
              <a:rPr dirty="0"/>
              <a:t>23</a:t>
            </a:r>
            <a:r>
              <a:rPr lang="zh-CN" altLang="en-US" dirty="0"/>
              <a:t>个已建流程，需要根据新模式与方案进行优化调整</a:t>
            </a:r>
          </a:p>
        </p:txBody>
      </p:sp>
      <p:sp>
        <p:nvSpPr>
          <p:cNvPr id="250" name="TextBox 54"/>
          <p:cNvSpPr txBox="1">
            <a:spLocks noChangeArrowheads="1"/>
          </p:cNvSpPr>
          <p:nvPr/>
        </p:nvSpPr>
        <p:spPr bwMode="auto">
          <a:xfrm>
            <a:off x="565152" y="6357939"/>
            <a:ext cx="4292600" cy="400110"/>
          </a:xfrm>
          <a:prstGeom prst="rect">
            <a:avLst/>
          </a:prstGeom>
          <a:noFill/>
          <a:ln w="9525">
            <a:noFill/>
            <a:miter lim="800000"/>
          </a:ln>
        </p:spPr>
        <p:txBody>
          <a:bodyPr wrap="square">
            <a:spAutoFit/>
          </a:bodyPr>
          <a:lstStyle/>
          <a:p>
            <a:r>
              <a:rPr lang="zh-CN" altLang="en-US" sz="1000" i="1" dirty="0">
                <a:latin typeface="微软雅黑" panose="020B0503020204020204" charset="-122"/>
                <a:ea typeface="微软雅黑" panose="020B0503020204020204" charset="-122"/>
              </a:rPr>
              <a:t>备注：本页仅为三级流程的逻辑关系示意图，四级流程将会根据解决方案内容在第三阶段进行详细设计</a:t>
            </a:r>
          </a:p>
        </p:txBody>
      </p:sp>
      <p:sp>
        <p:nvSpPr>
          <p:cNvPr id="144" name="矩形 143"/>
          <p:cNvSpPr/>
          <p:nvPr/>
        </p:nvSpPr>
        <p:spPr bwMode="auto">
          <a:xfrm>
            <a:off x="6958148" y="6409872"/>
            <a:ext cx="900000" cy="276248"/>
          </a:xfrm>
          <a:prstGeom prst="rect">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zh-CN" altLang="en-US" sz="900" b="1" dirty="0">
                <a:solidFill>
                  <a:srgbClr val="000000"/>
                </a:solidFill>
                <a:latin typeface="微软雅黑" panose="020B0503020204020204" charset="-122"/>
                <a:ea typeface="微软雅黑" panose="020B0503020204020204" charset="-122"/>
              </a:rPr>
              <a:t>有流程</a:t>
            </a:r>
            <a:endParaRPr lang="en-US" altLang="zh-CN" sz="900" b="1" dirty="0">
              <a:solidFill>
                <a:srgbClr val="000000"/>
              </a:solidFill>
              <a:latin typeface="微软雅黑" panose="020B0503020204020204" charset="-122"/>
              <a:ea typeface="微软雅黑" panose="020B0503020204020204" charset="-122"/>
            </a:endParaRPr>
          </a:p>
        </p:txBody>
      </p:sp>
      <p:sp>
        <p:nvSpPr>
          <p:cNvPr id="149" name="矩形 148"/>
          <p:cNvSpPr/>
          <p:nvPr/>
        </p:nvSpPr>
        <p:spPr bwMode="auto">
          <a:xfrm>
            <a:off x="5958016" y="6409872"/>
            <a:ext cx="900000" cy="276248"/>
          </a:xfrm>
          <a:prstGeom prst="rect">
            <a:avLst/>
          </a:prstGeom>
          <a:solidFill>
            <a:srgbClr val="92D050"/>
          </a:solidFill>
          <a:ln w="6350">
            <a:solidFill>
              <a:schemeClr val="tx1"/>
            </a:solidFill>
            <a:miter lim="800000"/>
          </a:ln>
        </p:spPr>
        <p:txBody>
          <a:bodyPr lIns="18000" tIns="36000" rIns="18000" bIns="36000" rtlCol="0" anchor="ctr">
            <a:noAutofit/>
          </a:bodyPr>
          <a:lstStyle/>
          <a:p>
            <a:pPr algn="ctr">
              <a:buClr>
                <a:schemeClr val="tx1"/>
              </a:buClr>
            </a:pPr>
            <a:r>
              <a:rPr lang="zh-CN" altLang="en-US" sz="900" b="1" dirty="0">
                <a:solidFill>
                  <a:sysClr val="windowText" lastClr="000000"/>
                </a:solidFill>
                <a:latin typeface="微软雅黑" panose="020B0503020204020204" charset="-122"/>
                <a:ea typeface="微软雅黑" panose="020B0503020204020204" charset="-122"/>
              </a:rPr>
              <a:t>无流程</a:t>
            </a:r>
            <a:endParaRPr lang="en-US" altLang="zh-CN" sz="900" b="1" dirty="0">
              <a:solidFill>
                <a:sysClr val="windowText" lastClr="000000"/>
              </a:solidFill>
              <a:latin typeface="微软雅黑" panose="020B0503020204020204" charset="-122"/>
              <a:ea typeface="微软雅黑" panose="020B0503020204020204" charset="-122"/>
            </a:endParaRPr>
          </a:p>
        </p:txBody>
      </p:sp>
      <p:sp>
        <p:nvSpPr>
          <p:cNvPr id="108" name="矩形 107"/>
          <p:cNvSpPr/>
          <p:nvPr/>
        </p:nvSpPr>
        <p:spPr bwMode="auto">
          <a:xfrm>
            <a:off x="4957884" y="6416696"/>
            <a:ext cx="900000" cy="276248"/>
          </a:xfrm>
          <a:prstGeom prst="rect">
            <a:avLst/>
          </a:prstGeom>
          <a:solidFill>
            <a:schemeClr val="bg1">
              <a:lumMod val="85000"/>
            </a:schemeClr>
          </a:solidFill>
          <a:ln w="6350">
            <a:solidFill>
              <a:schemeClr val="tx1"/>
            </a:solidFill>
            <a:miter lim="800000"/>
          </a:ln>
        </p:spPr>
        <p:txBody>
          <a:bodyPr lIns="18000" tIns="36000" rIns="18000" bIns="36000" rtlCol="0" anchor="ctr">
            <a:noAutofit/>
          </a:bodyPr>
          <a:lstStyle/>
          <a:p>
            <a:pPr algn="ctr">
              <a:buClr>
                <a:schemeClr val="tx1"/>
              </a:buClr>
            </a:pPr>
            <a:r>
              <a:rPr lang="en-US" altLang="zh-CN" sz="900" b="1" dirty="0">
                <a:solidFill>
                  <a:sysClr val="windowText" lastClr="000000"/>
                </a:solidFill>
                <a:latin typeface="微软雅黑" panose="020B0503020204020204" charset="-122"/>
                <a:ea typeface="微软雅黑" panose="020B0503020204020204" charset="-122"/>
              </a:rPr>
              <a:t>SCM1.0</a:t>
            </a:r>
            <a:r>
              <a:rPr lang="zh-CN" altLang="en-US" sz="900" b="1" dirty="0">
                <a:solidFill>
                  <a:sysClr val="windowText" lastClr="000000"/>
                </a:solidFill>
                <a:latin typeface="微软雅黑" panose="020B0503020204020204" charset="-122"/>
                <a:ea typeface="微软雅黑" panose="020B0503020204020204" charset="-122"/>
              </a:rPr>
              <a:t>不相关</a:t>
            </a:r>
            <a:endParaRPr lang="en-US" altLang="zh-CN" sz="900" b="1" dirty="0">
              <a:solidFill>
                <a:sysClr val="windowText" lastClr="000000"/>
              </a:solidFill>
              <a:latin typeface="微软雅黑" panose="020B0503020204020204" charset="-122"/>
              <a:ea typeface="微软雅黑" panose="020B0503020204020204" charset="-122"/>
            </a:endParaRPr>
          </a:p>
        </p:txBody>
      </p:sp>
      <p:grpSp>
        <p:nvGrpSpPr>
          <p:cNvPr id="4" name="组合 3">
            <a:extLst>
              <a:ext uri="{FF2B5EF4-FFF2-40B4-BE49-F238E27FC236}">
                <a16:creationId xmlns:a16="http://schemas.microsoft.com/office/drawing/2014/main" id="{009C3030-FA25-ACE9-F619-0174526D9DC8}"/>
              </a:ext>
            </a:extLst>
          </p:cNvPr>
          <p:cNvGrpSpPr/>
          <p:nvPr/>
        </p:nvGrpSpPr>
        <p:grpSpPr>
          <a:xfrm>
            <a:off x="236372" y="1214422"/>
            <a:ext cx="8656108" cy="5110178"/>
            <a:chOff x="357158" y="1214422"/>
            <a:chExt cx="8429684" cy="5110178"/>
          </a:xfrm>
        </p:grpSpPr>
        <p:grpSp>
          <p:nvGrpSpPr>
            <p:cNvPr id="2" name="组合 104"/>
            <p:cNvGrpSpPr/>
            <p:nvPr/>
          </p:nvGrpSpPr>
          <p:grpSpPr>
            <a:xfrm>
              <a:off x="1643041" y="1508112"/>
              <a:ext cx="7000925" cy="4041788"/>
              <a:chOff x="1643041" y="1508112"/>
              <a:chExt cx="7000925" cy="3286148"/>
            </a:xfrm>
          </p:grpSpPr>
          <p:sp>
            <p:nvSpPr>
              <p:cNvPr id="31" name="五边形 30"/>
              <p:cNvSpPr/>
              <p:nvPr/>
            </p:nvSpPr>
            <p:spPr bwMode="auto">
              <a:xfrm>
                <a:off x="3929058" y="1508112"/>
                <a:ext cx="4714908" cy="1214446"/>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5.5</a:t>
                </a:r>
                <a:r>
                  <a:rPr lang="zh-CN" altLang="en-US" sz="1100" b="1" dirty="0">
                    <a:solidFill>
                      <a:srgbClr val="000000"/>
                    </a:solidFill>
                    <a:latin typeface="微软雅黑" panose="020B0503020204020204" charset="-122"/>
                    <a:ea typeface="微软雅黑" panose="020B0503020204020204" charset="-122"/>
                  </a:rPr>
                  <a:t>采购执行</a:t>
                </a:r>
              </a:p>
            </p:txBody>
          </p:sp>
          <p:sp>
            <p:nvSpPr>
              <p:cNvPr id="28" name="五边形 27"/>
              <p:cNvSpPr/>
              <p:nvPr/>
            </p:nvSpPr>
            <p:spPr bwMode="auto">
              <a:xfrm>
                <a:off x="1643042" y="1508112"/>
                <a:ext cx="2214578" cy="1215131"/>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5.2</a:t>
                </a:r>
                <a:r>
                  <a:rPr lang="zh-CN" altLang="en-US" sz="1100" b="1" dirty="0">
                    <a:solidFill>
                      <a:srgbClr val="000000"/>
                    </a:solidFill>
                    <a:latin typeface="微软雅黑" panose="020B0503020204020204" charset="-122"/>
                    <a:ea typeface="微软雅黑" panose="020B0503020204020204" charset="-122"/>
                  </a:rPr>
                  <a:t>供应链计划管理</a:t>
                </a:r>
              </a:p>
            </p:txBody>
          </p:sp>
          <p:sp>
            <p:nvSpPr>
              <p:cNvPr id="10" name="五边形 9"/>
              <p:cNvSpPr/>
              <p:nvPr/>
            </p:nvSpPr>
            <p:spPr bwMode="auto">
              <a:xfrm>
                <a:off x="4075277" y="2327720"/>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5.5.1</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计划管理</a:t>
                </a:r>
              </a:p>
            </p:txBody>
          </p:sp>
          <p:sp>
            <p:nvSpPr>
              <p:cNvPr id="11" name="五边形 10"/>
              <p:cNvSpPr/>
              <p:nvPr/>
            </p:nvSpPr>
            <p:spPr bwMode="auto">
              <a:xfrm>
                <a:off x="1735117" y="2327720"/>
                <a:ext cx="835145"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5.2.3</a:t>
                </a:r>
                <a:r>
                  <a:rPr lang="zh-CN" altLang="en-US" sz="900" dirty="0">
                    <a:solidFill>
                      <a:srgbClr val="000000"/>
                    </a:solidFill>
                    <a:latin typeface="微软雅黑" panose="020B0503020204020204" charset="-122"/>
                    <a:ea typeface="微软雅黑" panose="020B0503020204020204" charset="-122"/>
                  </a:rPr>
                  <a:t>资源</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配置</a:t>
                </a:r>
              </a:p>
            </p:txBody>
          </p:sp>
          <p:sp>
            <p:nvSpPr>
              <p:cNvPr id="12" name="五边形 11"/>
              <p:cNvSpPr/>
              <p:nvPr/>
            </p:nvSpPr>
            <p:spPr bwMode="auto">
              <a:xfrm>
                <a:off x="2879544" y="2327720"/>
                <a:ext cx="835200" cy="313200"/>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5.2.4</a:t>
                </a:r>
                <a:r>
                  <a:rPr lang="zh-CN" altLang="en-US" sz="900" dirty="0">
                    <a:solidFill>
                      <a:srgbClr val="000000"/>
                    </a:solidFill>
                    <a:latin typeface="微软雅黑" panose="020B0503020204020204" charset="-122"/>
                    <a:ea typeface="微软雅黑" panose="020B0503020204020204" charset="-122"/>
                  </a:rPr>
                  <a:t>生产</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计划创建</a:t>
                </a:r>
              </a:p>
            </p:txBody>
          </p:sp>
          <p:sp>
            <p:nvSpPr>
              <p:cNvPr id="14" name="五边形 13"/>
              <p:cNvSpPr/>
              <p:nvPr/>
            </p:nvSpPr>
            <p:spPr bwMode="auto">
              <a:xfrm>
                <a:off x="2878126" y="1831964"/>
                <a:ext cx="836618"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5.2.2</a:t>
                </a:r>
                <a:r>
                  <a:rPr lang="zh-CN" altLang="en-US" sz="900" dirty="0">
                    <a:solidFill>
                      <a:srgbClr val="000000"/>
                    </a:solidFill>
                    <a:latin typeface="微软雅黑" panose="020B0503020204020204" charset="-122"/>
                    <a:ea typeface="微软雅黑" panose="020B0503020204020204" charset="-122"/>
                  </a:rPr>
                  <a:t>需求</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计划制定</a:t>
                </a:r>
              </a:p>
            </p:txBody>
          </p:sp>
          <p:sp>
            <p:nvSpPr>
              <p:cNvPr id="32" name="五边形 31"/>
              <p:cNvSpPr/>
              <p:nvPr/>
            </p:nvSpPr>
            <p:spPr bwMode="auto">
              <a:xfrm>
                <a:off x="4533900" y="2793996"/>
                <a:ext cx="4110066" cy="2000264"/>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5.6</a:t>
                </a:r>
                <a:r>
                  <a:rPr lang="zh-CN" altLang="en-US" sz="1100" b="1" dirty="0">
                    <a:solidFill>
                      <a:srgbClr val="000000"/>
                    </a:solidFill>
                    <a:latin typeface="微软雅黑" panose="020B0503020204020204" charset="-122"/>
                    <a:ea typeface="微软雅黑" panose="020B0503020204020204" charset="-122"/>
                  </a:rPr>
                  <a:t>物流管理</a:t>
                </a:r>
              </a:p>
            </p:txBody>
          </p:sp>
          <p:sp>
            <p:nvSpPr>
              <p:cNvPr id="33" name="五边形 32"/>
              <p:cNvSpPr/>
              <p:nvPr/>
            </p:nvSpPr>
            <p:spPr bwMode="auto">
              <a:xfrm>
                <a:off x="1643041" y="2793996"/>
                <a:ext cx="2824183" cy="2000264"/>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5.7</a:t>
                </a:r>
                <a:r>
                  <a:rPr lang="zh-CN" altLang="en-US" sz="1100" b="1" dirty="0">
                    <a:solidFill>
                      <a:srgbClr val="000000"/>
                    </a:solidFill>
                    <a:latin typeface="微软雅黑" panose="020B0503020204020204" charset="-122"/>
                    <a:ea typeface="微软雅黑" panose="020B0503020204020204" charset="-122"/>
                  </a:rPr>
                  <a:t>制造管理</a:t>
                </a:r>
              </a:p>
            </p:txBody>
          </p:sp>
          <p:sp>
            <p:nvSpPr>
              <p:cNvPr id="34" name="五边形 33"/>
              <p:cNvSpPr/>
              <p:nvPr/>
            </p:nvSpPr>
            <p:spPr bwMode="auto">
              <a:xfrm>
                <a:off x="5023021" y="2327720"/>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5.5.2</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订单管理</a:t>
                </a:r>
              </a:p>
            </p:txBody>
          </p:sp>
          <p:sp>
            <p:nvSpPr>
              <p:cNvPr id="35" name="五边形 34"/>
              <p:cNvSpPr/>
              <p:nvPr/>
            </p:nvSpPr>
            <p:spPr bwMode="auto">
              <a:xfrm>
                <a:off x="4075276" y="1831964"/>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5.5.3</a:t>
                </a:r>
                <a:r>
                  <a:rPr lang="zh-CN" altLang="en-US" sz="900" dirty="0">
                    <a:solidFill>
                      <a:srgbClr val="000000"/>
                    </a:solidFill>
                    <a:latin typeface="微软雅黑" panose="020B0503020204020204" charset="-122"/>
                    <a:ea typeface="微软雅黑" panose="020B0503020204020204" charset="-122"/>
                  </a:rPr>
                  <a:t>物资</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进口</a:t>
                </a:r>
              </a:p>
            </p:txBody>
          </p:sp>
          <p:sp>
            <p:nvSpPr>
              <p:cNvPr id="36" name="五边形 35"/>
              <p:cNvSpPr/>
              <p:nvPr/>
            </p:nvSpPr>
            <p:spPr bwMode="auto">
              <a:xfrm>
                <a:off x="4985275" y="1831964"/>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5.5.4</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异常管理</a:t>
                </a:r>
              </a:p>
            </p:txBody>
          </p:sp>
          <p:sp>
            <p:nvSpPr>
              <p:cNvPr id="37" name="五边形 36"/>
              <p:cNvSpPr/>
              <p:nvPr/>
            </p:nvSpPr>
            <p:spPr bwMode="auto">
              <a:xfrm>
                <a:off x="5904798" y="1831964"/>
                <a:ext cx="953217"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5.5.5</a:t>
                </a:r>
                <a:r>
                  <a:rPr lang="zh-CN" altLang="en-US" sz="900" dirty="0">
                    <a:solidFill>
                      <a:srgbClr val="000000"/>
                    </a:solidFill>
                    <a:latin typeface="微软雅黑" panose="020B0503020204020204" charset="-122"/>
                    <a:ea typeface="微软雅黑" panose="020B0503020204020204" charset="-122"/>
                  </a:rPr>
                  <a:t>采购报账</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付款</a:t>
                </a:r>
              </a:p>
            </p:txBody>
          </p:sp>
          <p:sp>
            <p:nvSpPr>
              <p:cNvPr id="38" name="五边形 37"/>
              <p:cNvSpPr/>
              <p:nvPr/>
            </p:nvSpPr>
            <p:spPr bwMode="auto">
              <a:xfrm>
                <a:off x="5904799" y="2327720"/>
                <a:ext cx="928694"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5.5.6</a:t>
                </a:r>
                <a:r>
                  <a:rPr lang="zh-CN" altLang="en-US" sz="900" dirty="0">
                    <a:solidFill>
                      <a:srgbClr val="000000"/>
                    </a:solidFill>
                    <a:latin typeface="微软雅黑" panose="020B0503020204020204" charset="-122"/>
                    <a:ea typeface="微软雅黑" panose="020B0503020204020204" charset="-122"/>
                  </a:rPr>
                  <a:t>废旧及呆滞物资处理</a:t>
                </a:r>
              </a:p>
            </p:txBody>
          </p:sp>
          <p:sp>
            <p:nvSpPr>
              <p:cNvPr id="39" name="五边形 38"/>
              <p:cNvSpPr/>
              <p:nvPr/>
            </p:nvSpPr>
            <p:spPr bwMode="auto">
              <a:xfrm>
                <a:off x="6929454" y="1831964"/>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5.5.7</a:t>
                </a:r>
                <a:r>
                  <a:rPr lang="zh-CN" altLang="en-US" sz="900" dirty="0">
                    <a:solidFill>
                      <a:srgbClr val="000000"/>
                    </a:solidFill>
                    <a:latin typeface="微软雅黑" panose="020B0503020204020204" charset="-122"/>
                    <a:ea typeface="微软雅黑" panose="020B0503020204020204" charset="-122"/>
                  </a:rPr>
                  <a:t>合同</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0" name="五边形 39"/>
              <p:cNvSpPr/>
              <p:nvPr/>
            </p:nvSpPr>
            <p:spPr bwMode="auto">
              <a:xfrm>
                <a:off x="6929454" y="2327720"/>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5.5.8</a:t>
                </a:r>
                <a:r>
                  <a:rPr lang="zh-CN" altLang="en-US" sz="900" dirty="0">
                    <a:solidFill>
                      <a:srgbClr val="000000"/>
                    </a:solidFill>
                    <a:latin typeface="微软雅黑" panose="020B0503020204020204" charset="-122"/>
                    <a:ea typeface="微软雅黑" panose="020B0503020204020204" charset="-122"/>
                  </a:rPr>
                  <a:t>合规</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1" name="五边形 40"/>
              <p:cNvSpPr/>
              <p:nvPr/>
            </p:nvSpPr>
            <p:spPr bwMode="auto">
              <a:xfrm>
                <a:off x="7780528" y="1831964"/>
                <a:ext cx="792000"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5.5.9</a:t>
                </a:r>
                <a:r>
                  <a:rPr lang="zh-CN" altLang="en-US" sz="900" dirty="0">
                    <a:solidFill>
                      <a:srgbClr val="000000"/>
                    </a:solidFill>
                    <a:latin typeface="微软雅黑" panose="020B0503020204020204" charset="-122"/>
                    <a:ea typeface="微软雅黑" panose="020B0503020204020204" charset="-122"/>
                  </a:rPr>
                  <a:t>采购</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数据管理</a:t>
                </a:r>
              </a:p>
            </p:txBody>
          </p:sp>
          <p:sp>
            <p:nvSpPr>
              <p:cNvPr id="42" name="五边形 41"/>
              <p:cNvSpPr/>
              <p:nvPr/>
            </p:nvSpPr>
            <p:spPr bwMode="auto">
              <a:xfrm>
                <a:off x="4652963" y="4365632"/>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5.6.1</a:t>
                </a:r>
                <a:r>
                  <a:rPr lang="zh-CN" altLang="en-US" sz="900" dirty="0">
                    <a:solidFill>
                      <a:srgbClr val="000000"/>
                    </a:solidFill>
                    <a:latin typeface="微软雅黑" panose="020B0503020204020204" charset="-122"/>
                    <a:ea typeface="微软雅黑" panose="020B0503020204020204" charset="-122"/>
                  </a:rPr>
                  <a:t>物流运营</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规划</a:t>
                </a:r>
              </a:p>
            </p:txBody>
          </p:sp>
          <p:sp>
            <p:nvSpPr>
              <p:cNvPr id="43" name="五边形 42"/>
              <p:cNvSpPr/>
              <p:nvPr/>
            </p:nvSpPr>
            <p:spPr bwMode="auto">
              <a:xfrm>
                <a:off x="4652963" y="3141661"/>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5.6.2</a:t>
                </a:r>
                <a:r>
                  <a:rPr lang="zh-CN" altLang="en-US" sz="900" dirty="0">
                    <a:solidFill>
                      <a:srgbClr val="000000"/>
                    </a:solidFill>
                    <a:latin typeface="微软雅黑" panose="020B0503020204020204" charset="-122"/>
                    <a:ea typeface="微软雅黑" panose="020B0503020204020204" charset="-122"/>
                  </a:rPr>
                  <a:t>入厂物流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计划执行</a:t>
                </a:r>
              </a:p>
            </p:txBody>
          </p:sp>
          <p:sp>
            <p:nvSpPr>
              <p:cNvPr id="44" name="五边形 43"/>
              <p:cNvSpPr/>
              <p:nvPr/>
            </p:nvSpPr>
            <p:spPr bwMode="auto">
              <a:xfrm>
                <a:off x="6028892" y="3141661"/>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5.6.3</a:t>
                </a:r>
                <a:r>
                  <a:rPr lang="zh-CN" altLang="en-US" sz="900" dirty="0">
                    <a:solidFill>
                      <a:srgbClr val="000000"/>
                    </a:solidFill>
                    <a:latin typeface="微软雅黑" panose="020B0503020204020204" charset="-122"/>
                    <a:ea typeface="微软雅黑" panose="020B0503020204020204" charset="-122"/>
                  </a:rPr>
                  <a:t>入厂物流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45" name="五边形 44"/>
              <p:cNvSpPr/>
              <p:nvPr/>
            </p:nvSpPr>
            <p:spPr bwMode="auto">
              <a:xfrm>
                <a:off x="4652963" y="3651252"/>
                <a:ext cx="972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5.6.4</a:t>
                </a:r>
                <a:r>
                  <a:rPr lang="zh-CN" altLang="en-US" sz="900" dirty="0">
                    <a:solidFill>
                      <a:srgbClr val="000000"/>
                    </a:solidFill>
                    <a:latin typeface="微软雅黑" panose="020B0503020204020204" charset="-122"/>
                    <a:ea typeface="微软雅黑" panose="020B0503020204020204" charset="-122"/>
                  </a:rPr>
                  <a:t>仓库管理</a:t>
                </a:r>
              </a:p>
            </p:txBody>
          </p:sp>
          <p:sp>
            <p:nvSpPr>
              <p:cNvPr id="47" name="五边形 46"/>
              <p:cNvSpPr/>
              <p:nvPr/>
            </p:nvSpPr>
            <p:spPr bwMode="auto">
              <a:xfrm>
                <a:off x="7428624" y="3143248"/>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5.6.5</a:t>
                </a:r>
                <a:r>
                  <a:rPr lang="zh-CN" altLang="en-US" sz="900" dirty="0">
                    <a:solidFill>
                      <a:srgbClr val="000000"/>
                    </a:solidFill>
                    <a:latin typeface="微软雅黑" panose="020B0503020204020204" charset="-122"/>
                    <a:ea typeface="微软雅黑" panose="020B0503020204020204" charset="-122"/>
                  </a:rPr>
                  <a:t>出厂物流计划执行</a:t>
                </a:r>
              </a:p>
            </p:txBody>
          </p:sp>
          <p:sp>
            <p:nvSpPr>
              <p:cNvPr id="48" name="五边形 47"/>
              <p:cNvSpPr/>
              <p:nvPr/>
            </p:nvSpPr>
            <p:spPr bwMode="auto">
              <a:xfrm>
                <a:off x="7428624" y="3651252"/>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5.6.6</a:t>
                </a:r>
                <a:r>
                  <a:rPr lang="zh-CN" altLang="en-US" sz="900" dirty="0">
                    <a:solidFill>
                      <a:srgbClr val="000000"/>
                    </a:solidFill>
                    <a:latin typeface="微软雅黑" panose="020B0503020204020204" charset="-122"/>
                    <a:ea typeface="微软雅黑" panose="020B0503020204020204" charset="-122"/>
                  </a:rPr>
                  <a:t>出厂物流管理</a:t>
                </a:r>
              </a:p>
            </p:txBody>
          </p:sp>
          <p:sp>
            <p:nvSpPr>
              <p:cNvPr id="49" name="五边形 48"/>
              <p:cNvSpPr/>
              <p:nvPr/>
            </p:nvSpPr>
            <p:spPr bwMode="auto">
              <a:xfrm>
                <a:off x="5991434" y="4365632"/>
                <a:ext cx="972000"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5.6.7</a:t>
                </a:r>
                <a:r>
                  <a:rPr lang="zh-CN" altLang="en-US" sz="900" dirty="0">
                    <a:solidFill>
                      <a:srgbClr val="000000"/>
                    </a:solidFill>
                    <a:latin typeface="微软雅黑" panose="020B0503020204020204" charset="-122"/>
                    <a:ea typeface="微软雅黑" panose="020B0503020204020204" charset="-122"/>
                  </a:rPr>
                  <a:t>逆向物流</a:t>
                </a:r>
              </a:p>
            </p:txBody>
          </p:sp>
          <p:sp>
            <p:nvSpPr>
              <p:cNvPr id="50" name="五边形 49"/>
              <p:cNvSpPr/>
              <p:nvPr/>
            </p:nvSpPr>
            <p:spPr bwMode="auto">
              <a:xfrm>
                <a:off x="1735118" y="3131683"/>
                <a:ext cx="1114433" cy="313200"/>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5.7.1</a:t>
                </a:r>
                <a:r>
                  <a:rPr lang="zh-CN" altLang="en-US" sz="900" dirty="0">
                    <a:solidFill>
                      <a:srgbClr val="000000"/>
                    </a:solidFill>
                    <a:latin typeface="微软雅黑" panose="020B0503020204020204" charset="-122"/>
                    <a:ea typeface="微软雅黑" panose="020B0503020204020204" charset="-122"/>
                  </a:rPr>
                  <a:t>制定工作中心小日程计划 </a:t>
                </a:r>
              </a:p>
            </p:txBody>
          </p:sp>
          <p:sp>
            <p:nvSpPr>
              <p:cNvPr id="51" name="五边形 50"/>
              <p:cNvSpPr/>
              <p:nvPr/>
            </p:nvSpPr>
            <p:spPr bwMode="auto">
              <a:xfrm>
                <a:off x="3357554" y="3137717"/>
                <a:ext cx="1000132"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5.7.2</a:t>
                </a:r>
                <a:r>
                  <a:rPr lang="zh-CN" altLang="en-US" sz="900" dirty="0">
                    <a:solidFill>
                      <a:srgbClr val="000000"/>
                    </a:solidFill>
                    <a:latin typeface="微软雅黑" panose="020B0503020204020204" charset="-122"/>
                    <a:ea typeface="微软雅黑" panose="020B0503020204020204" charset="-122"/>
                  </a:rPr>
                  <a:t>厂内物流</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及配送</a:t>
                </a:r>
              </a:p>
            </p:txBody>
          </p:sp>
          <p:sp>
            <p:nvSpPr>
              <p:cNvPr id="53" name="五边形 52"/>
              <p:cNvSpPr/>
              <p:nvPr/>
            </p:nvSpPr>
            <p:spPr bwMode="auto">
              <a:xfrm>
                <a:off x="3357554" y="3937004"/>
                <a:ext cx="1000132"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5.7.4</a:t>
                </a:r>
                <a:r>
                  <a:rPr lang="zh-CN" altLang="en-US" sz="900" dirty="0">
                    <a:solidFill>
                      <a:srgbClr val="000000"/>
                    </a:solidFill>
                    <a:latin typeface="微软雅黑" panose="020B0503020204020204" charset="-122"/>
                    <a:ea typeface="微软雅黑" panose="020B0503020204020204" charset="-122"/>
                  </a:rPr>
                  <a:t>制造过程</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管理</a:t>
                </a:r>
              </a:p>
            </p:txBody>
          </p:sp>
          <p:sp>
            <p:nvSpPr>
              <p:cNvPr id="56" name="五边形 55"/>
              <p:cNvSpPr/>
              <p:nvPr/>
            </p:nvSpPr>
            <p:spPr bwMode="auto">
              <a:xfrm>
                <a:off x="3357554" y="4365632"/>
                <a:ext cx="1000132"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5.7.7</a:t>
                </a:r>
                <a:r>
                  <a:rPr lang="zh-CN" altLang="en-US" sz="900" dirty="0">
                    <a:solidFill>
                      <a:srgbClr val="000000"/>
                    </a:solidFill>
                    <a:latin typeface="微软雅黑" panose="020B0503020204020204" charset="-122"/>
                    <a:ea typeface="微软雅黑" panose="020B0503020204020204" charset="-122"/>
                  </a:rPr>
                  <a:t>制造</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数据管理</a:t>
                </a:r>
              </a:p>
            </p:txBody>
          </p:sp>
          <p:cxnSp>
            <p:nvCxnSpPr>
              <p:cNvPr id="61" name="肘形连接符 60"/>
              <p:cNvCxnSpPr>
                <a:stCxn id="14" idx="2"/>
                <a:endCxn id="11" idx="0"/>
              </p:cNvCxnSpPr>
              <p:nvPr/>
            </p:nvCxnSpPr>
            <p:spPr bwMode="auto">
              <a:xfrm rot="5400000">
                <a:off x="2582776" y="1664497"/>
                <a:ext cx="182700" cy="1143746"/>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62" name="肘形连接符 61"/>
              <p:cNvCxnSpPr>
                <a:stCxn id="11" idx="3"/>
                <a:endCxn id="12" idx="1"/>
              </p:cNvCxnSpPr>
              <p:nvPr/>
            </p:nvCxnSpPr>
            <p:spPr bwMode="auto">
              <a:xfrm>
                <a:off x="2570262" y="2484248"/>
                <a:ext cx="309282" cy="7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67" name="肘形连接符 66"/>
              <p:cNvCxnSpPr>
                <a:stCxn id="12" idx="3"/>
                <a:endCxn id="10" idx="1"/>
              </p:cNvCxnSpPr>
              <p:nvPr/>
            </p:nvCxnSpPr>
            <p:spPr bwMode="auto">
              <a:xfrm>
                <a:off x="3714744" y="2484320"/>
                <a:ext cx="360533"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1" name="肘形连接符 70"/>
              <p:cNvCxnSpPr>
                <a:stCxn id="10" idx="3"/>
                <a:endCxn id="34" idx="1"/>
              </p:cNvCxnSpPr>
              <p:nvPr/>
            </p:nvCxnSpPr>
            <p:spPr bwMode="auto">
              <a:xfrm>
                <a:off x="4867277" y="2484320"/>
                <a:ext cx="155744"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4" name="肘形连接符 73"/>
              <p:cNvCxnSpPr>
                <a:stCxn id="34" idx="2"/>
                <a:endCxn id="44" idx="0"/>
              </p:cNvCxnSpPr>
              <p:nvPr/>
            </p:nvCxnSpPr>
            <p:spPr bwMode="auto">
              <a:xfrm rot="16200000" flipH="1">
                <a:off x="5666138" y="2343342"/>
                <a:ext cx="500741" cy="1095895"/>
              </a:xfrm>
              <a:prstGeom prst="bentConnector3">
                <a:avLst>
                  <a:gd name="adj1" fmla="val 70290"/>
                </a:avLst>
              </a:prstGeom>
              <a:solidFill>
                <a:schemeClr val="accent1"/>
              </a:solidFill>
              <a:ln w="9525" cap="flat" cmpd="sng" algn="ctr">
                <a:solidFill>
                  <a:schemeClr val="tx1"/>
                </a:solidFill>
                <a:prstDash val="solid"/>
                <a:round/>
                <a:headEnd type="none" w="med" len="med"/>
                <a:tailEnd type="arrow"/>
              </a:ln>
              <a:effectLst/>
            </p:spPr>
          </p:cxnSp>
          <p:cxnSp>
            <p:nvCxnSpPr>
              <p:cNvPr id="82" name="肘形连接符 73"/>
              <p:cNvCxnSpPr>
                <a:stCxn id="45" idx="1"/>
                <a:endCxn id="51" idx="3"/>
              </p:cNvCxnSpPr>
              <p:nvPr/>
            </p:nvCxnSpPr>
            <p:spPr bwMode="auto">
              <a:xfrm rot="10800000">
                <a:off x="4357687" y="3294246"/>
                <a:ext cx="295277" cy="513535"/>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88" name="肘形连接符 73"/>
              <p:cNvCxnSpPr>
                <a:stCxn id="51" idx="2"/>
                <a:endCxn id="53" idx="0"/>
              </p:cNvCxnSpPr>
              <p:nvPr/>
            </p:nvCxnSpPr>
            <p:spPr bwMode="auto">
              <a:xfrm rot="5400000">
                <a:off x="3564069" y="3693888"/>
                <a:ext cx="48623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2" name="肘形连接符 91"/>
              <p:cNvCxnSpPr>
                <a:stCxn id="44" idx="2"/>
                <a:endCxn id="45" idx="0"/>
              </p:cNvCxnSpPr>
              <p:nvPr/>
            </p:nvCxnSpPr>
            <p:spPr bwMode="auto">
              <a:xfrm rot="5400000">
                <a:off x="5678225" y="2865020"/>
                <a:ext cx="196535" cy="137592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95" name="肘形连接符 94"/>
              <p:cNvCxnSpPr>
                <a:stCxn id="43" idx="3"/>
                <a:endCxn id="44" idx="1"/>
              </p:cNvCxnSpPr>
              <p:nvPr/>
            </p:nvCxnSpPr>
            <p:spPr bwMode="auto">
              <a:xfrm>
                <a:off x="5624963" y="3298189"/>
                <a:ext cx="403929"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8" name="肘形连接符 97"/>
              <p:cNvCxnSpPr>
                <a:stCxn id="10" idx="2"/>
                <a:endCxn id="43" idx="0"/>
              </p:cNvCxnSpPr>
              <p:nvPr/>
            </p:nvCxnSpPr>
            <p:spPr bwMode="auto">
              <a:xfrm rot="16200000" flipH="1">
                <a:off x="4504302" y="2557435"/>
                <a:ext cx="500741" cy="667710"/>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1" name="肘形连接符 73"/>
              <p:cNvCxnSpPr>
                <a:stCxn id="12" idx="2"/>
                <a:endCxn id="50" idx="0"/>
              </p:cNvCxnSpPr>
              <p:nvPr/>
            </p:nvCxnSpPr>
            <p:spPr bwMode="auto">
              <a:xfrm rot="5400000">
                <a:off x="2498899" y="2383897"/>
                <a:ext cx="490763" cy="100480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4" name="肘形连接符 73"/>
              <p:cNvCxnSpPr>
                <a:stCxn id="50" idx="3"/>
                <a:endCxn id="53" idx="1"/>
              </p:cNvCxnSpPr>
              <p:nvPr/>
            </p:nvCxnSpPr>
            <p:spPr bwMode="auto">
              <a:xfrm>
                <a:off x="2849551" y="3288283"/>
                <a:ext cx="508003" cy="80524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109" name="肘形连接符 108"/>
              <p:cNvCxnSpPr>
                <a:stCxn id="53" idx="3"/>
                <a:endCxn id="48" idx="2"/>
              </p:cNvCxnSpPr>
              <p:nvPr/>
            </p:nvCxnSpPr>
            <p:spPr bwMode="auto">
              <a:xfrm flipV="1">
                <a:off x="4357686" y="3964308"/>
                <a:ext cx="3506502" cy="129224"/>
              </a:xfrm>
              <a:prstGeom prst="bentConnector2">
                <a:avLst/>
              </a:prstGeom>
              <a:solidFill>
                <a:schemeClr val="accent1"/>
              </a:solidFill>
              <a:ln w="9525" cap="flat" cmpd="sng" algn="ctr">
                <a:solidFill>
                  <a:schemeClr val="tx1"/>
                </a:solidFill>
                <a:prstDash val="solid"/>
                <a:round/>
                <a:headEnd type="none" w="med" len="med"/>
                <a:tailEnd type="arrow"/>
              </a:ln>
              <a:effectLst/>
            </p:spPr>
          </p:cxnSp>
          <p:cxnSp>
            <p:nvCxnSpPr>
              <p:cNvPr id="114" name="肘形连接符 108"/>
              <p:cNvCxnSpPr>
                <a:stCxn id="47" idx="2"/>
                <a:endCxn id="48" idx="0"/>
              </p:cNvCxnSpPr>
              <p:nvPr/>
            </p:nvCxnSpPr>
            <p:spPr bwMode="auto">
              <a:xfrm rot="5400000">
                <a:off x="7766714" y="3553778"/>
                <a:ext cx="194948"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9" name="肘形连接符 108"/>
              <p:cNvCxnSpPr>
                <a:stCxn id="50" idx="2"/>
                <a:endCxn id="47" idx="3"/>
              </p:cNvCxnSpPr>
              <p:nvPr/>
            </p:nvCxnSpPr>
            <p:spPr bwMode="auto">
              <a:xfrm rot="5400000" flipH="1" flipV="1">
                <a:off x="5248695" y="292955"/>
                <a:ext cx="145107" cy="6158749"/>
              </a:xfrm>
              <a:prstGeom prst="bentConnector4">
                <a:avLst>
                  <a:gd name="adj1" fmla="val -905593"/>
                  <a:gd name="adj2" fmla="val 103712"/>
                </a:avLst>
              </a:prstGeom>
              <a:solidFill>
                <a:schemeClr val="accent1"/>
              </a:solidFill>
              <a:ln w="9525" cap="flat" cmpd="sng" algn="ctr">
                <a:solidFill>
                  <a:schemeClr val="tx1"/>
                </a:solidFill>
                <a:prstDash val="solid"/>
                <a:round/>
                <a:headEnd type="none" w="med" len="med"/>
                <a:tailEnd type="arrow"/>
              </a:ln>
              <a:effectLst/>
            </p:spPr>
          </p:cxnSp>
          <p:sp>
            <p:nvSpPr>
              <p:cNvPr id="52" name="五边形 51"/>
              <p:cNvSpPr/>
              <p:nvPr/>
            </p:nvSpPr>
            <p:spPr bwMode="auto">
              <a:xfrm>
                <a:off x="1733551" y="3543095"/>
                <a:ext cx="1116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5.7.3</a:t>
                </a:r>
                <a:r>
                  <a:rPr lang="zh-CN" altLang="en-US" sz="900" dirty="0">
                    <a:solidFill>
                      <a:srgbClr val="000000"/>
                    </a:solidFill>
                    <a:latin typeface="微软雅黑" panose="020B0503020204020204" charset="-122"/>
                    <a:ea typeface="微软雅黑" panose="020B0503020204020204" charset="-122"/>
                  </a:rPr>
                  <a:t>制造人员管理</a:t>
                </a:r>
              </a:p>
            </p:txBody>
          </p:sp>
          <p:sp>
            <p:nvSpPr>
              <p:cNvPr id="54" name="五边形 53"/>
              <p:cNvSpPr/>
              <p:nvPr/>
            </p:nvSpPr>
            <p:spPr bwMode="auto">
              <a:xfrm>
                <a:off x="1733551" y="3954363"/>
                <a:ext cx="1116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5.7.5</a:t>
                </a:r>
                <a:r>
                  <a:rPr lang="zh-CN" altLang="en-US" sz="900" dirty="0">
                    <a:solidFill>
                      <a:srgbClr val="000000"/>
                    </a:solidFill>
                    <a:latin typeface="微软雅黑" panose="020B0503020204020204" charset="-122"/>
                    <a:ea typeface="微软雅黑" panose="020B0503020204020204" charset="-122"/>
                  </a:rPr>
                  <a:t>制造质量管理</a:t>
                </a:r>
              </a:p>
            </p:txBody>
          </p:sp>
          <p:sp>
            <p:nvSpPr>
              <p:cNvPr id="55" name="五边形 54"/>
              <p:cNvSpPr/>
              <p:nvPr/>
            </p:nvSpPr>
            <p:spPr bwMode="auto">
              <a:xfrm>
                <a:off x="1733551" y="4365632"/>
                <a:ext cx="11160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5.7.6</a:t>
                </a:r>
                <a:r>
                  <a:rPr lang="zh-CN" altLang="en-US" sz="900" dirty="0">
                    <a:solidFill>
                      <a:srgbClr val="000000"/>
                    </a:solidFill>
                    <a:latin typeface="微软雅黑" panose="020B0503020204020204" charset="-122"/>
                    <a:ea typeface="微软雅黑" panose="020B0503020204020204" charset="-122"/>
                  </a:rPr>
                  <a:t>设备管理</a:t>
                </a:r>
              </a:p>
            </p:txBody>
          </p:sp>
          <p:sp>
            <p:nvSpPr>
              <p:cNvPr id="13" name="五边形 12"/>
              <p:cNvSpPr/>
              <p:nvPr/>
            </p:nvSpPr>
            <p:spPr bwMode="auto">
              <a:xfrm>
                <a:off x="7786710" y="2324092"/>
                <a:ext cx="785818" cy="311008"/>
              </a:xfrm>
              <a:prstGeom prst="homePlate">
                <a:avLst>
                  <a:gd name="adj" fmla="val 20370"/>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5.5.10</a:t>
                </a:r>
                <a:r>
                  <a:rPr lang="zh-CN" altLang="en-US" sz="900" dirty="0">
                    <a:solidFill>
                      <a:srgbClr val="000000"/>
                    </a:solidFill>
                    <a:latin typeface="微软雅黑" panose="020B0503020204020204" charset="-122"/>
                    <a:ea typeface="微软雅黑" panose="020B0503020204020204" charset="-122"/>
                  </a:rPr>
                  <a:t>库存</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控制</a:t>
                </a:r>
              </a:p>
            </p:txBody>
          </p:sp>
          <p:sp>
            <p:nvSpPr>
              <p:cNvPr id="120" name="五边形 119"/>
              <p:cNvSpPr/>
              <p:nvPr/>
            </p:nvSpPr>
            <p:spPr bwMode="auto">
              <a:xfrm>
                <a:off x="1747818" y="1831964"/>
                <a:ext cx="836618" cy="313056"/>
              </a:xfrm>
              <a:prstGeom prst="homePlate">
                <a:avLst>
                  <a:gd name="adj" fmla="val 32222"/>
                </a:avLst>
              </a:prstGeom>
              <a:solidFill>
                <a:srgbClr val="92D05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5.2.1</a:t>
                </a:r>
                <a:r>
                  <a:rPr lang="zh-CN" altLang="en-US" sz="900" dirty="0">
                    <a:solidFill>
                      <a:srgbClr val="000000"/>
                    </a:solidFill>
                    <a:latin typeface="微软雅黑" panose="020B0503020204020204" charset="-122"/>
                    <a:ea typeface="微软雅黑" panose="020B0503020204020204" charset="-122"/>
                  </a:rPr>
                  <a:t>整机库存管理</a:t>
                </a:r>
              </a:p>
            </p:txBody>
          </p:sp>
          <p:cxnSp>
            <p:nvCxnSpPr>
              <p:cNvPr id="123" name="肘形连接符 61"/>
              <p:cNvCxnSpPr>
                <a:stCxn id="120" idx="3"/>
                <a:endCxn id="14" idx="1"/>
              </p:cNvCxnSpPr>
              <p:nvPr/>
            </p:nvCxnSpPr>
            <p:spPr bwMode="auto">
              <a:xfrm>
                <a:off x="2584436" y="1988492"/>
                <a:ext cx="29369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
          <p:nvSpPr>
            <p:cNvPr id="5" name="矩形 4"/>
            <p:cNvSpPr/>
            <p:nvPr/>
          </p:nvSpPr>
          <p:spPr bwMode="auto">
            <a:xfrm>
              <a:off x="357158" y="1214422"/>
              <a:ext cx="1143008" cy="5110178"/>
            </a:xfrm>
            <a:prstGeom prst="rect">
              <a:avLst/>
            </a:prstGeom>
            <a:noFill/>
            <a:ln w="28575">
              <a:solidFill>
                <a:schemeClr val="accent1"/>
              </a:solid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4.0</a:t>
              </a:r>
              <a:r>
                <a:rPr lang="zh-CN" altLang="en-US" sz="1100" b="1" dirty="0">
                  <a:solidFill>
                    <a:srgbClr val="000000"/>
                  </a:solidFill>
                  <a:latin typeface="微软雅黑" panose="020B0503020204020204" charset="-122"/>
                  <a:ea typeface="微软雅黑" panose="020B0503020204020204" charset="-122"/>
                </a:rPr>
                <a:t>营销与服务</a:t>
              </a:r>
            </a:p>
          </p:txBody>
        </p:sp>
        <p:sp>
          <p:nvSpPr>
            <p:cNvPr id="6" name="五边形 5"/>
            <p:cNvSpPr/>
            <p:nvPr/>
          </p:nvSpPr>
          <p:spPr bwMode="auto">
            <a:xfrm>
              <a:off x="428596" y="1508112"/>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4.1</a:t>
              </a:r>
              <a:r>
                <a:rPr lang="zh-CN" altLang="en-US" sz="1100" b="1" dirty="0">
                  <a:solidFill>
                    <a:srgbClr val="000000"/>
                  </a:solidFill>
                  <a:latin typeface="微软雅黑" panose="020B0503020204020204" charset="-122"/>
                  <a:ea typeface="微软雅黑" panose="020B0503020204020204" charset="-122"/>
                </a:rPr>
                <a:t>市场管理</a:t>
              </a:r>
            </a:p>
          </p:txBody>
        </p:sp>
        <p:sp>
          <p:nvSpPr>
            <p:cNvPr id="7" name="五边形 6"/>
            <p:cNvSpPr/>
            <p:nvPr/>
          </p:nvSpPr>
          <p:spPr bwMode="auto">
            <a:xfrm>
              <a:off x="428596" y="1854804"/>
              <a:ext cx="976607" cy="1609736"/>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4.2</a:t>
              </a:r>
              <a:r>
                <a:rPr lang="zh-CN" altLang="en-US" sz="1100" b="1" dirty="0">
                  <a:solidFill>
                    <a:srgbClr val="000000"/>
                  </a:solidFill>
                  <a:latin typeface="微软雅黑" panose="020B0503020204020204" charset="-122"/>
                  <a:ea typeface="微软雅黑" panose="020B0503020204020204" charset="-122"/>
                </a:rPr>
                <a:t>销售过程管理</a:t>
              </a:r>
            </a:p>
          </p:txBody>
        </p:sp>
        <p:sp>
          <p:nvSpPr>
            <p:cNvPr id="16" name="五边形 15"/>
            <p:cNvSpPr/>
            <p:nvPr/>
          </p:nvSpPr>
          <p:spPr bwMode="auto">
            <a:xfrm>
              <a:off x="496391" y="3108006"/>
              <a:ext cx="860899"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4.2.3</a:t>
              </a:r>
              <a:r>
                <a:rPr lang="zh-CN" altLang="en-US" sz="900" dirty="0">
                  <a:solidFill>
                    <a:srgbClr val="000000"/>
                  </a:solidFill>
                  <a:latin typeface="微软雅黑" panose="020B0503020204020204" charset="-122"/>
                  <a:ea typeface="微软雅黑" panose="020B0503020204020204" charset="-122"/>
                </a:rPr>
                <a:t>合同执行管理</a:t>
              </a:r>
            </a:p>
          </p:txBody>
        </p:sp>
        <p:sp>
          <p:nvSpPr>
            <p:cNvPr id="17" name="五边形 16"/>
            <p:cNvSpPr/>
            <p:nvPr/>
          </p:nvSpPr>
          <p:spPr bwMode="auto">
            <a:xfrm>
              <a:off x="428596" y="3523232"/>
              <a:ext cx="976607" cy="801693"/>
            </a:xfrm>
            <a:prstGeom prst="homePlate">
              <a:avLst>
                <a:gd name="adj" fmla="val 0"/>
              </a:avLst>
            </a:prstGeom>
            <a:solidFill>
              <a:schemeClr val="accent1">
                <a:lumMod val="20000"/>
                <a:lumOff val="80000"/>
              </a:schemeClr>
            </a:solidFill>
            <a:ln w="6350">
              <a:no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4.3</a:t>
              </a:r>
              <a:r>
                <a:rPr lang="zh-CN" altLang="en-US" sz="1100" b="1" dirty="0">
                  <a:solidFill>
                    <a:srgbClr val="000000"/>
                  </a:solidFill>
                  <a:latin typeface="微软雅黑" panose="020B0503020204020204" charset="-122"/>
                  <a:ea typeface="微软雅黑" panose="020B0503020204020204" charset="-122"/>
                </a:rPr>
                <a:t>服务与配件管理</a:t>
              </a:r>
            </a:p>
          </p:txBody>
        </p:sp>
        <p:sp>
          <p:nvSpPr>
            <p:cNvPr id="18" name="五边形 17"/>
            <p:cNvSpPr/>
            <p:nvPr/>
          </p:nvSpPr>
          <p:spPr bwMode="auto">
            <a:xfrm>
              <a:off x="500533" y="3946528"/>
              <a:ext cx="860400"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4.3.5</a:t>
              </a:r>
              <a:r>
                <a:rPr lang="zh-CN" altLang="en-US" sz="900" dirty="0">
                  <a:solidFill>
                    <a:srgbClr val="000000"/>
                  </a:solidFill>
                  <a:latin typeface="微软雅黑" panose="020B0503020204020204" charset="-122"/>
                  <a:ea typeface="微软雅黑" panose="020B0503020204020204" charset="-122"/>
                </a:rPr>
                <a:t>配件计划供应</a:t>
              </a:r>
            </a:p>
          </p:txBody>
        </p:sp>
        <p:sp>
          <p:nvSpPr>
            <p:cNvPr id="20" name="五边形 19"/>
            <p:cNvSpPr/>
            <p:nvPr/>
          </p:nvSpPr>
          <p:spPr bwMode="auto">
            <a:xfrm>
              <a:off x="428596" y="4383617"/>
              <a:ext cx="976607" cy="360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4.4</a:t>
              </a:r>
              <a:r>
                <a:rPr lang="zh-CN" altLang="en-US" sz="1100" b="1" dirty="0">
                  <a:solidFill>
                    <a:srgbClr val="000000"/>
                  </a:solidFill>
                  <a:latin typeface="微软雅黑" panose="020B0503020204020204" charset="-122"/>
                  <a:ea typeface="微软雅黑" panose="020B0503020204020204" charset="-122"/>
                </a:rPr>
                <a:t>代理商</a:t>
              </a:r>
              <a:endParaRPr lang="en-US" altLang="zh-CN" sz="1100" b="1" dirty="0">
                <a:solidFill>
                  <a:srgbClr val="000000"/>
                </a:solidFill>
                <a:latin typeface="微软雅黑" panose="020B0503020204020204" charset="-122"/>
                <a:ea typeface="微软雅黑" panose="020B0503020204020204" charset="-122"/>
              </a:endParaRPr>
            </a:p>
            <a:p>
              <a:pPr algn="ctr">
                <a:buClr>
                  <a:schemeClr val="tx1"/>
                </a:buClr>
              </a:pPr>
              <a:r>
                <a:rPr lang="zh-CN" altLang="en-US" sz="1100" b="1" dirty="0">
                  <a:solidFill>
                    <a:srgbClr val="000000"/>
                  </a:solidFill>
                  <a:latin typeface="微软雅黑" panose="020B0503020204020204" charset="-122"/>
                  <a:ea typeface="微软雅黑" panose="020B0503020204020204" charset="-122"/>
                </a:rPr>
                <a:t>管理</a:t>
              </a:r>
            </a:p>
          </p:txBody>
        </p:sp>
        <p:sp>
          <p:nvSpPr>
            <p:cNvPr id="21" name="五边形 20"/>
            <p:cNvSpPr/>
            <p:nvPr/>
          </p:nvSpPr>
          <p:spPr bwMode="auto">
            <a:xfrm>
              <a:off x="428596" y="4802309"/>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4.5</a:t>
              </a:r>
              <a:r>
                <a:rPr lang="zh-CN" altLang="en-US" sz="1100" b="1" dirty="0">
                  <a:solidFill>
                    <a:srgbClr val="000000"/>
                  </a:solidFill>
                  <a:latin typeface="微软雅黑" panose="020B0503020204020204" charset="-122"/>
                  <a:ea typeface="微软雅黑" panose="020B0503020204020204" charset="-122"/>
                </a:rPr>
                <a:t>客户管理</a:t>
              </a:r>
            </a:p>
          </p:txBody>
        </p:sp>
        <p:sp>
          <p:nvSpPr>
            <p:cNvPr id="22" name="五边形 21"/>
            <p:cNvSpPr/>
            <p:nvPr/>
          </p:nvSpPr>
          <p:spPr bwMode="auto">
            <a:xfrm>
              <a:off x="428596" y="5149001"/>
              <a:ext cx="976607" cy="360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4.6</a:t>
              </a:r>
              <a:r>
                <a:rPr lang="zh-CN" altLang="en-US" sz="1100" b="1" dirty="0">
                  <a:solidFill>
                    <a:srgbClr val="000000"/>
                  </a:solidFill>
                  <a:latin typeface="微软雅黑" panose="020B0503020204020204" charset="-122"/>
                  <a:ea typeface="微软雅黑" panose="020B0503020204020204" charset="-122"/>
                </a:rPr>
                <a:t>主数据</a:t>
              </a:r>
              <a:endParaRPr lang="en-US" altLang="zh-CN" sz="1100" b="1" dirty="0">
                <a:solidFill>
                  <a:srgbClr val="000000"/>
                </a:solidFill>
                <a:latin typeface="微软雅黑" panose="020B0503020204020204" charset="-122"/>
                <a:ea typeface="微软雅黑" panose="020B0503020204020204" charset="-122"/>
              </a:endParaRPr>
            </a:p>
            <a:p>
              <a:pPr algn="ctr">
                <a:buClr>
                  <a:schemeClr val="tx1"/>
                </a:buClr>
              </a:pPr>
              <a:r>
                <a:rPr lang="zh-CN" altLang="en-US" sz="1100" b="1" dirty="0">
                  <a:solidFill>
                    <a:srgbClr val="000000"/>
                  </a:solidFill>
                  <a:latin typeface="微软雅黑" panose="020B0503020204020204" charset="-122"/>
                  <a:ea typeface="微软雅黑" panose="020B0503020204020204" charset="-122"/>
                </a:rPr>
                <a:t>管理</a:t>
              </a:r>
            </a:p>
          </p:txBody>
        </p:sp>
        <p:sp>
          <p:nvSpPr>
            <p:cNvPr id="23" name="五边形 22"/>
            <p:cNvSpPr/>
            <p:nvPr/>
          </p:nvSpPr>
          <p:spPr bwMode="auto">
            <a:xfrm>
              <a:off x="428596" y="5567693"/>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4.7</a:t>
              </a:r>
              <a:r>
                <a:rPr lang="zh-CN" altLang="en-US" sz="1100" b="1" dirty="0">
                  <a:solidFill>
                    <a:srgbClr val="000000"/>
                  </a:solidFill>
                  <a:latin typeface="微软雅黑" panose="020B0503020204020204" charset="-122"/>
                  <a:ea typeface="微软雅黑" panose="020B0503020204020204" charset="-122"/>
                </a:rPr>
                <a:t>设备管理</a:t>
              </a:r>
            </a:p>
          </p:txBody>
        </p:sp>
        <p:sp>
          <p:nvSpPr>
            <p:cNvPr id="24" name="五边形 23"/>
            <p:cNvSpPr/>
            <p:nvPr/>
          </p:nvSpPr>
          <p:spPr bwMode="auto">
            <a:xfrm>
              <a:off x="428596" y="5914382"/>
              <a:ext cx="976607" cy="288000"/>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4.8</a:t>
              </a:r>
              <a:r>
                <a:rPr lang="zh-CN" altLang="en-US" sz="1100" b="1" dirty="0">
                  <a:solidFill>
                    <a:srgbClr val="000000"/>
                  </a:solidFill>
                  <a:latin typeface="微软雅黑" panose="020B0503020204020204" charset="-122"/>
                  <a:ea typeface="微软雅黑" panose="020B0503020204020204" charset="-122"/>
                </a:rPr>
                <a:t>库存管理</a:t>
              </a:r>
            </a:p>
          </p:txBody>
        </p:sp>
        <p:sp>
          <p:nvSpPr>
            <p:cNvPr id="26" name="矩形 25"/>
            <p:cNvSpPr/>
            <p:nvPr/>
          </p:nvSpPr>
          <p:spPr bwMode="auto">
            <a:xfrm>
              <a:off x="1571604" y="1214422"/>
              <a:ext cx="7215238" cy="5110178"/>
            </a:xfrm>
            <a:prstGeom prst="rect">
              <a:avLst/>
            </a:prstGeom>
            <a:noFill/>
            <a:ln w="28575">
              <a:solidFill>
                <a:schemeClr val="accent1"/>
              </a:solidFill>
              <a:miter lim="800000"/>
            </a:ln>
          </p:spPr>
          <p:txBody>
            <a:bodyPr rtlCol="0" anchor="t">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5.0</a:t>
              </a:r>
              <a:r>
                <a:rPr lang="zh-CN" altLang="en-US" sz="1100" b="1" dirty="0">
                  <a:solidFill>
                    <a:srgbClr val="000000"/>
                  </a:solidFill>
                  <a:latin typeface="微软雅黑" panose="020B0503020204020204" charset="-122"/>
                  <a:ea typeface="微软雅黑" panose="020B0503020204020204" charset="-122"/>
                </a:rPr>
                <a:t>制造与商务</a:t>
              </a:r>
            </a:p>
          </p:txBody>
        </p:sp>
        <p:sp>
          <p:nvSpPr>
            <p:cNvPr id="27" name="五边形 26"/>
            <p:cNvSpPr/>
            <p:nvPr/>
          </p:nvSpPr>
          <p:spPr bwMode="auto">
            <a:xfrm>
              <a:off x="1636722" y="5632083"/>
              <a:ext cx="2828946" cy="595905"/>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5.1</a:t>
              </a:r>
              <a:r>
                <a:rPr lang="zh-CN" altLang="en-US" sz="1100" b="1" dirty="0">
                  <a:solidFill>
                    <a:srgbClr val="000000"/>
                  </a:solidFill>
                  <a:latin typeface="微软雅黑" panose="020B0503020204020204" charset="-122"/>
                  <a:ea typeface="微软雅黑" panose="020B0503020204020204" charset="-122"/>
                </a:rPr>
                <a:t>采购战略与规划</a:t>
              </a:r>
            </a:p>
          </p:txBody>
        </p:sp>
        <p:sp>
          <p:nvSpPr>
            <p:cNvPr id="29" name="五边形 28"/>
            <p:cNvSpPr/>
            <p:nvPr/>
          </p:nvSpPr>
          <p:spPr bwMode="auto">
            <a:xfrm>
              <a:off x="4537105" y="5643578"/>
              <a:ext cx="1571636" cy="604842"/>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5.3</a:t>
              </a:r>
              <a:r>
                <a:rPr lang="zh-CN" altLang="en-US" sz="1100" b="1" dirty="0">
                  <a:solidFill>
                    <a:srgbClr val="000000"/>
                  </a:solidFill>
                  <a:latin typeface="微软雅黑" panose="020B0503020204020204" charset="-122"/>
                  <a:ea typeface="微软雅黑" panose="020B0503020204020204" charset="-122"/>
                </a:rPr>
                <a:t>供应链关系管理</a:t>
              </a:r>
            </a:p>
          </p:txBody>
        </p:sp>
        <p:sp>
          <p:nvSpPr>
            <p:cNvPr id="136" name="五边形 135"/>
            <p:cNvSpPr/>
            <p:nvPr/>
          </p:nvSpPr>
          <p:spPr bwMode="auto">
            <a:xfrm>
              <a:off x="6165890" y="5643578"/>
              <a:ext cx="2525673" cy="604842"/>
            </a:xfrm>
            <a:prstGeom prst="homePlate">
              <a:avLst>
                <a:gd name="adj" fmla="val 0"/>
              </a:avLst>
            </a:prstGeom>
            <a:solidFill>
              <a:schemeClr val="bg1">
                <a:lumMod val="85000"/>
              </a:schemeClr>
            </a:solidFill>
            <a:ln w="6350">
              <a:noFill/>
              <a:miter lim="800000"/>
            </a:ln>
          </p:spPr>
          <p:txBody>
            <a:bodyPr rtlCol="0" anchor="ctr">
              <a:noAutofit/>
            </a:bodyPr>
            <a:lstStyle/>
            <a:p>
              <a:pPr algn="ctr">
                <a:buClr>
                  <a:schemeClr val="tx1"/>
                </a:buClr>
              </a:pPr>
              <a:r>
                <a:rPr lang="en-US" altLang="zh-CN" sz="1100" b="1" dirty="0">
                  <a:solidFill>
                    <a:srgbClr val="000000"/>
                  </a:solidFill>
                  <a:latin typeface="微软雅黑" panose="020B0503020204020204" charset="-122"/>
                  <a:ea typeface="微软雅黑" panose="020B0503020204020204" charset="-122"/>
                </a:rPr>
                <a:t>5.4</a:t>
              </a:r>
              <a:r>
                <a:rPr lang="zh-CN" altLang="en-US" sz="1100" b="1" dirty="0">
                  <a:solidFill>
                    <a:srgbClr val="000000"/>
                  </a:solidFill>
                  <a:latin typeface="微软雅黑" panose="020B0503020204020204" charset="-122"/>
                  <a:ea typeface="微软雅黑" panose="020B0503020204020204" charset="-122"/>
                </a:rPr>
                <a:t>战略采购</a:t>
              </a:r>
            </a:p>
          </p:txBody>
        </p:sp>
        <p:sp>
          <p:nvSpPr>
            <p:cNvPr id="251" name="五边形 250"/>
            <p:cNvSpPr/>
            <p:nvPr/>
          </p:nvSpPr>
          <p:spPr bwMode="auto">
            <a:xfrm>
              <a:off x="500034" y="2700016"/>
              <a:ext cx="860899"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4.2.2</a:t>
              </a:r>
              <a:r>
                <a:rPr lang="zh-CN" altLang="en-US" sz="900" dirty="0">
                  <a:solidFill>
                    <a:srgbClr val="000000"/>
                  </a:solidFill>
                  <a:latin typeface="微软雅黑" panose="020B0503020204020204" charset="-122"/>
                  <a:ea typeface="微软雅黑" panose="020B0503020204020204" charset="-122"/>
                </a:rPr>
                <a:t>线索到</a:t>
              </a:r>
              <a:endParaRPr lang="en-US" altLang="zh-CN" sz="900" dirty="0">
                <a:solidFill>
                  <a:srgbClr val="000000"/>
                </a:solidFill>
                <a:latin typeface="微软雅黑" panose="020B0503020204020204" charset="-122"/>
                <a:ea typeface="微软雅黑" panose="020B0503020204020204" charset="-122"/>
              </a:endParaRPr>
            </a:p>
            <a:p>
              <a:pPr algn="ctr">
                <a:buClr>
                  <a:schemeClr val="tx1"/>
                </a:buClr>
              </a:pPr>
              <a:r>
                <a:rPr lang="zh-CN" altLang="en-US" sz="900" dirty="0">
                  <a:solidFill>
                    <a:srgbClr val="000000"/>
                  </a:solidFill>
                  <a:latin typeface="微软雅黑" panose="020B0503020204020204" charset="-122"/>
                  <a:ea typeface="微软雅黑" panose="020B0503020204020204" charset="-122"/>
                </a:rPr>
                <a:t>合同</a:t>
              </a:r>
            </a:p>
          </p:txBody>
        </p:sp>
        <p:cxnSp>
          <p:nvCxnSpPr>
            <p:cNvPr id="252" name="肘形连接符 66"/>
            <p:cNvCxnSpPr>
              <a:stCxn id="251" idx="2"/>
              <a:endCxn id="16" idx="0"/>
            </p:cNvCxnSpPr>
            <p:nvPr/>
          </p:nvCxnSpPr>
          <p:spPr bwMode="auto">
            <a:xfrm rot="5400000">
              <a:off x="830759" y="3058718"/>
              <a:ext cx="94934" cy="364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55" name="肘形连接符 66"/>
            <p:cNvCxnSpPr>
              <a:stCxn id="281" idx="1"/>
              <a:endCxn id="120" idx="1"/>
            </p:cNvCxnSpPr>
            <p:nvPr/>
          </p:nvCxnSpPr>
          <p:spPr bwMode="auto">
            <a:xfrm rot="10800000" flipH="1">
              <a:off x="500034" y="2098954"/>
              <a:ext cx="1247784" cy="330866"/>
            </a:xfrm>
            <a:prstGeom prst="bentConnector3">
              <a:avLst>
                <a:gd name="adj1" fmla="val -7124"/>
              </a:avLst>
            </a:prstGeom>
            <a:solidFill>
              <a:schemeClr val="accent1"/>
            </a:solidFill>
            <a:ln w="9525" cap="flat" cmpd="sng" algn="ctr">
              <a:solidFill>
                <a:schemeClr val="tx1"/>
              </a:solidFill>
              <a:prstDash val="solid"/>
              <a:round/>
              <a:headEnd type="none" w="med" len="med"/>
              <a:tailEnd type="arrow"/>
            </a:ln>
            <a:effectLst/>
          </p:spPr>
        </p:cxnSp>
        <p:cxnSp>
          <p:nvCxnSpPr>
            <p:cNvPr id="258" name="肘形连接符 66"/>
            <p:cNvCxnSpPr>
              <a:stCxn id="16" idx="3"/>
              <a:endCxn id="11" idx="1"/>
            </p:cNvCxnSpPr>
            <p:nvPr/>
          </p:nvCxnSpPr>
          <p:spPr bwMode="auto">
            <a:xfrm flipV="1">
              <a:off x="1357290" y="2708707"/>
              <a:ext cx="377827" cy="555827"/>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cxnSp>
          <p:nvCxnSpPr>
            <p:cNvPr id="263" name="肘形连接符 66"/>
            <p:cNvCxnSpPr>
              <a:stCxn id="18" idx="1"/>
              <a:endCxn id="120" idx="1"/>
            </p:cNvCxnSpPr>
            <p:nvPr/>
          </p:nvCxnSpPr>
          <p:spPr bwMode="auto">
            <a:xfrm rot="10800000" flipH="1">
              <a:off x="500532" y="2098954"/>
              <a:ext cx="1247285" cy="2004102"/>
            </a:xfrm>
            <a:prstGeom prst="bentConnector3">
              <a:avLst>
                <a:gd name="adj1" fmla="val -7128"/>
              </a:avLst>
            </a:prstGeom>
            <a:solidFill>
              <a:schemeClr val="accent1"/>
            </a:solidFill>
            <a:ln w="9525" cap="flat" cmpd="sng" algn="ctr">
              <a:solidFill>
                <a:schemeClr val="tx1"/>
              </a:solidFill>
              <a:prstDash val="solid"/>
              <a:round/>
              <a:headEnd type="none" w="med" len="med"/>
              <a:tailEnd type="arrow"/>
            </a:ln>
            <a:effectLst/>
          </p:spPr>
        </p:cxnSp>
        <p:cxnSp>
          <p:nvCxnSpPr>
            <p:cNvPr id="276" name="肘形连接符 66"/>
            <p:cNvCxnSpPr>
              <a:stCxn id="18" idx="3"/>
              <a:endCxn id="11" idx="1"/>
            </p:cNvCxnSpPr>
            <p:nvPr/>
          </p:nvCxnSpPr>
          <p:spPr bwMode="auto">
            <a:xfrm flipV="1">
              <a:off x="1360933" y="2708707"/>
              <a:ext cx="374184" cy="1394349"/>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a:ln>
            <a:effectLst/>
          </p:spPr>
        </p:cxnSp>
        <p:sp>
          <p:nvSpPr>
            <p:cNvPr id="281" name="五边形 280"/>
            <p:cNvSpPr/>
            <p:nvPr/>
          </p:nvSpPr>
          <p:spPr bwMode="auto">
            <a:xfrm>
              <a:off x="500034" y="2273292"/>
              <a:ext cx="860899" cy="313056"/>
            </a:xfrm>
            <a:prstGeom prst="homePlate">
              <a:avLst>
                <a:gd name="adj" fmla="val 32222"/>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en-US" altLang="zh-CN" sz="900" dirty="0">
                  <a:solidFill>
                    <a:srgbClr val="000000"/>
                  </a:solidFill>
                  <a:latin typeface="微软雅黑" panose="020B0503020204020204" charset="-122"/>
                  <a:ea typeface="微软雅黑" panose="020B0503020204020204" charset="-122"/>
                </a:rPr>
                <a:t>4.2.4</a:t>
              </a:r>
              <a:r>
                <a:rPr lang="zh-CN" altLang="en-US" sz="900" dirty="0">
                  <a:solidFill>
                    <a:srgbClr val="000000"/>
                  </a:solidFill>
                  <a:latin typeface="微软雅黑" panose="020B0503020204020204" charset="-122"/>
                  <a:ea typeface="微软雅黑" panose="020B0503020204020204" charset="-122"/>
                </a:rPr>
                <a:t>销售管理</a:t>
              </a:r>
            </a:p>
          </p:txBody>
        </p:sp>
        <p:cxnSp>
          <p:nvCxnSpPr>
            <p:cNvPr id="283" name="肘形连接符 66"/>
            <p:cNvCxnSpPr>
              <a:stCxn id="281" idx="2"/>
              <a:endCxn id="251" idx="0"/>
            </p:cNvCxnSpPr>
            <p:nvPr/>
          </p:nvCxnSpPr>
          <p:spPr bwMode="auto">
            <a:xfrm rot="5400000">
              <a:off x="823213" y="2643182"/>
              <a:ext cx="113668"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a:t>集成计划体系流程框架</a:t>
            </a:r>
            <a:r>
              <a:t>1.0</a:t>
            </a:r>
            <a:endParaRPr lang="zh-CN" altLang="en-US"/>
          </a:p>
        </p:txBody>
      </p:sp>
      <p:sp>
        <p:nvSpPr>
          <p:cNvPr id="5123" name="文本框 2"/>
          <p:cNvSpPr txBox="1">
            <a:spLocks noChangeArrowheads="1"/>
          </p:cNvSpPr>
          <p:nvPr/>
        </p:nvSpPr>
        <p:spPr bwMode="auto">
          <a:xfrm>
            <a:off x="3032125"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二级流程</a:t>
            </a:r>
          </a:p>
        </p:txBody>
      </p:sp>
      <p:cxnSp>
        <p:nvCxnSpPr>
          <p:cNvPr id="5124" name="直接连接符 54"/>
          <p:cNvCxnSpPr>
            <a:cxnSpLocks noChangeShapeType="1"/>
          </p:cNvCxnSpPr>
          <p:nvPr/>
        </p:nvCxnSpPr>
        <p:spPr bwMode="auto">
          <a:xfrm>
            <a:off x="2555875" y="1436688"/>
            <a:ext cx="1800225" cy="0"/>
          </a:xfrm>
          <a:prstGeom prst="line">
            <a:avLst/>
          </a:prstGeom>
          <a:noFill/>
          <a:ln w="19050" algn="ctr">
            <a:solidFill>
              <a:srgbClr val="000000"/>
            </a:solidFill>
            <a:round/>
          </a:ln>
        </p:spPr>
      </p:cxnSp>
      <p:cxnSp>
        <p:nvCxnSpPr>
          <p:cNvPr id="5125" name="直接连接符 55"/>
          <p:cNvCxnSpPr>
            <a:cxnSpLocks noChangeShapeType="1"/>
          </p:cNvCxnSpPr>
          <p:nvPr/>
        </p:nvCxnSpPr>
        <p:spPr bwMode="auto">
          <a:xfrm>
            <a:off x="5289550" y="1436688"/>
            <a:ext cx="1800225" cy="0"/>
          </a:xfrm>
          <a:prstGeom prst="line">
            <a:avLst/>
          </a:prstGeom>
          <a:noFill/>
          <a:ln w="19050" algn="ctr">
            <a:solidFill>
              <a:srgbClr val="000000"/>
            </a:solidFill>
            <a:round/>
          </a:ln>
        </p:spPr>
      </p:cxnSp>
      <p:sp>
        <p:nvSpPr>
          <p:cNvPr id="5126" name="文本框 11"/>
          <p:cNvSpPr txBox="1">
            <a:spLocks noChangeArrowheads="1"/>
          </p:cNvSpPr>
          <p:nvPr/>
        </p:nvSpPr>
        <p:spPr bwMode="auto">
          <a:xfrm>
            <a:off x="5707063" y="1052513"/>
            <a:ext cx="1004887"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三级流程</a:t>
            </a:r>
          </a:p>
        </p:txBody>
      </p:sp>
      <p:cxnSp>
        <p:nvCxnSpPr>
          <p:cNvPr id="5127" name="直接连接符 8"/>
          <p:cNvCxnSpPr>
            <a:cxnSpLocks noChangeShapeType="1"/>
          </p:cNvCxnSpPr>
          <p:nvPr/>
        </p:nvCxnSpPr>
        <p:spPr bwMode="auto">
          <a:xfrm>
            <a:off x="431800" y="1436688"/>
            <a:ext cx="1620838" cy="0"/>
          </a:xfrm>
          <a:prstGeom prst="line">
            <a:avLst/>
          </a:prstGeom>
          <a:noFill/>
          <a:ln w="19050" algn="ctr">
            <a:solidFill>
              <a:srgbClr val="000000"/>
            </a:solidFill>
            <a:round/>
          </a:ln>
        </p:spPr>
      </p:cxnSp>
      <p:sp>
        <p:nvSpPr>
          <p:cNvPr id="5128" name="文本框 13"/>
          <p:cNvSpPr txBox="1">
            <a:spLocks noChangeArrowheads="1"/>
          </p:cNvSpPr>
          <p:nvPr/>
        </p:nvSpPr>
        <p:spPr bwMode="auto">
          <a:xfrm>
            <a:off x="7889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一级流程</a:t>
            </a:r>
          </a:p>
        </p:txBody>
      </p:sp>
      <p:sp>
        <p:nvSpPr>
          <p:cNvPr id="5129" name="Rectangle 12"/>
          <p:cNvSpPr>
            <a:spLocks noChangeArrowheads="1"/>
          </p:cNvSpPr>
          <p:nvPr/>
        </p:nvSpPr>
        <p:spPr bwMode="auto">
          <a:xfrm>
            <a:off x="395288" y="1854200"/>
            <a:ext cx="1655762" cy="36036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dirty="0">
                <a:solidFill>
                  <a:schemeClr val="bg1">
                    <a:lumMod val="65000"/>
                  </a:schemeClr>
                </a:solidFill>
                <a:latin typeface="微软雅黑" panose="020B0503020204020204" charset="-122"/>
                <a:ea typeface="微软雅黑" panose="020B0503020204020204" charset="-122"/>
              </a:rPr>
              <a:t>1.0 </a:t>
            </a:r>
            <a:r>
              <a:rPr lang="zh-CN" altLang="en-US" sz="1200" b="1" dirty="0">
                <a:solidFill>
                  <a:schemeClr val="bg1">
                    <a:lumMod val="65000"/>
                  </a:schemeClr>
                </a:solidFill>
                <a:latin typeface="微软雅黑" panose="020B0503020204020204" charset="-122"/>
                <a:ea typeface="微软雅黑" panose="020B0503020204020204" charset="-122"/>
              </a:rPr>
              <a:t>战略规划管理</a:t>
            </a:r>
          </a:p>
        </p:txBody>
      </p:sp>
      <p:sp>
        <p:nvSpPr>
          <p:cNvPr id="5130" name="Rectangle 13"/>
          <p:cNvSpPr>
            <a:spLocks noChangeArrowheads="1"/>
          </p:cNvSpPr>
          <p:nvPr/>
        </p:nvSpPr>
        <p:spPr bwMode="auto">
          <a:xfrm>
            <a:off x="395288" y="2433638"/>
            <a:ext cx="1655762" cy="36036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dirty="0">
                <a:solidFill>
                  <a:schemeClr val="bg1">
                    <a:lumMod val="65000"/>
                  </a:schemeClr>
                </a:solidFill>
                <a:latin typeface="微软雅黑" panose="020B0503020204020204" charset="-122"/>
                <a:ea typeface="微软雅黑" panose="020B0503020204020204" charset="-122"/>
              </a:rPr>
              <a:t>2.0 </a:t>
            </a:r>
            <a:r>
              <a:rPr lang="zh-CN" altLang="en-US" sz="1200" b="1" dirty="0">
                <a:solidFill>
                  <a:schemeClr val="bg1">
                    <a:lumMod val="65000"/>
                  </a:schemeClr>
                </a:solidFill>
                <a:latin typeface="微软雅黑" panose="020B0503020204020204" charset="-122"/>
                <a:ea typeface="微软雅黑" panose="020B0503020204020204" charset="-122"/>
              </a:rPr>
              <a:t>投资决策管理</a:t>
            </a:r>
          </a:p>
        </p:txBody>
      </p:sp>
      <p:sp>
        <p:nvSpPr>
          <p:cNvPr id="5131" name="Rectangle 16"/>
          <p:cNvSpPr>
            <a:spLocks noChangeArrowheads="1"/>
          </p:cNvSpPr>
          <p:nvPr/>
        </p:nvSpPr>
        <p:spPr bwMode="auto">
          <a:xfrm>
            <a:off x="414338" y="4221163"/>
            <a:ext cx="1655762" cy="36036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dirty="0">
                <a:solidFill>
                  <a:schemeClr val="bg1">
                    <a:lumMod val="65000"/>
                  </a:schemeClr>
                </a:solidFill>
                <a:latin typeface="微软雅黑" panose="020B0503020204020204" charset="-122"/>
                <a:ea typeface="微软雅黑" panose="020B0503020204020204" charset="-122"/>
              </a:rPr>
              <a:t>5.0 </a:t>
            </a:r>
            <a:r>
              <a:rPr lang="zh-CN" altLang="en-US" sz="1200" b="1" dirty="0">
                <a:solidFill>
                  <a:schemeClr val="bg1">
                    <a:lumMod val="65000"/>
                  </a:schemeClr>
                </a:solidFill>
                <a:latin typeface="微软雅黑" panose="020B0503020204020204" charset="-122"/>
                <a:ea typeface="微软雅黑" panose="020B0503020204020204" charset="-122"/>
              </a:rPr>
              <a:t>制造与商务</a:t>
            </a:r>
          </a:p>
        </p:txBody>
      </p:sp>
      <p:sp>
        <p:nvSpPr>
          <p:cNvPr id="5132" name="Rectangle 20"/>
          <p:cNvSpPr>
            <a:spLocks noChangeArrowheads="1"/>
          </p:cNvSpPr>
          <p:nvPr/>
        </p:nvSpPr>
        <p:spPr bwMode="auto">
          <a:xfrm>
            <a:off x="395288" y="4797425"/>
            <a:ext cx="1655762" cy="36036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dirty="0">
                <a:solidFill>
                  <a:schemeClr val="bg1">
                    <a:lumMod val="65000"/>
                  </a:schemeClr>
                </a:solidFill>
                <a:latin typeface="微软雅黑" panose="020B0503020204020204" charset="-122"/>
                <a:ea typeface="微软雅黑" panose="020B0503020204020204" charset="-122"/>
              </a:rPr>
              <a:t>6.0 </a:t>
            </a:r>
            <a:r>
              <a:rPr lang="zh-CN" altLang="en-US" sz="1200" b="1" dirty="0">
                <a:solidFill>
                  <a:schemeClr val="bg1">
                    <a:lumMod val="65000"/>
                  </a:schemeClr>
                </a:solidFill>
                <a:latin typeface="微软雅黑" panose="020B0503020204020204" charset="-122"/>
                <a:ea typeface="微软雅黑" panose="020B0503020204020204" charset="-122"/>
              </a:rPr>
              <a:t>人力资源管理</a:t>
            </a:r>
          </a:p>
        </p:txBody>
      </p:sp>
      <p:sp>
        <p:nvSpPr>
          <p:cNvPr id="68" name="Rectangle 21"/>
          <p:cNvSpPr/>
          <p:nvPr/>
        </p:nvSpPr>
        <p:spPr>
          <a:xfrm>
            <a:off x="2627313" y="1857375"/>
            <a:ext cx="1655762" cy="36036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4.1 </a:t>
            </a:r>
            <a:r>
              <a:rPr lang="zh-CN" altLang="en-US" sz="1200" b="1" dirty="0">
                <a:solidFill>
                  <a:schemeClr val="bg1">
                    <a:lumMod val="65000"/>
                  </a:schemeClr>
                </a:solidFill>
                <a:latin typeface="微软雅黑" panose="020B0503020204020204" charset="-122"/>
                <a:ea typeface="微软雅黑" panose="020B0503020204020204" charset="-122"/>
              </a:rPr>
              <a:t>市场管理</a:t>
            </a:r>
          </a:p>
        </p:txBody>
      </p:sp>
      <p:sp>
        <p:nvSpPr>
          <p:cNvPr id="69" name="Rectangle 22"/>
          <p:cNvSpPr/>
          <p:nvPr/>
        </p:nvSpPr>
        <p:spPr>
          <a:xfrm>
            <a:off x="2627313" y="2492375"/>
            <a:ext cx="1655762" cy="360363"/>
          </a:xfrm>
          <a:prstGeom prst="rect">
            <a:avLst/>
          </a:prstGeom>
          <a:solidFill>
            <a:srgbClr val="D6DBFE"/>
          </a:solidFill>
          <a:ln w="9525">
            <a:solidFill>
              <a:srgbClr val="000000"/>
            </a:solidFill>
            <a:miter lim="800000"/>
          </a:ln>
        </p:spPr>
        <p:txBody>
          <a:bodyPr wrap="none" lIns="72000" anchor="ctr"/>
          <a:lstStyle/>
          <a:p>
            <a:pPr fontAlgn="auto">
              <a:spcBef>
                <a:spcPct val="20000"/>
              </a:spcBef>
              <a:spcAft>
                <a:spcPts val="0"/>
              </a:spcAft>
              <a:buClr>
                <a:srgbClr val="000000"/>
              </a:buClr>
              <a:defRPr/>
            </a:pPr>
            <a:r>
              <a:rPr lang="en-US" altLang="zh-CN" sz="1200" b="1" dirty="0">
                <a:latin typeface="微软雅黑" panose="020B0503020204020204" charset="-122"/>
                <a:ea typeface="微软雅黑" panose="020B0503020204020204" charset="-122"/>
              </a:rPr>
              <a:t>4.2 </a:t>
            </a:r>
            <a:r>
              <a:rPr lang="zh-CN" altLang="en-US" sz="1200" b="1" dirty="0">
                <a:latin typeface="微软雅黑" panose="020B0503020204020204" charset="-122"/>
                <a:ea typeface="微软雅黑" panose="020B0503020204020204" charset="-122"/>
              </a:rPr>
              <a:t>销售过程管理</a:t>
            </a:r>
          </a:p>
        </p:txBody>
      </p:sp>
      <p:sp>
        <p:nvSpPr>
          <p:cNvPr id="70" name="Rectangle 23"/>
          <p:cNvSpPr/>
          <p:nvPr/>
        </p:nvSpPr>
        <p:spPr>
          <a:xfrm>
            <a:off x="2627313" y="3068638"/>
            <a:ext cx="1655762" cy="360362"/>
          </a:xfrm>
          <a:prstGeom prst="rect">
            <a:avLst/>
          </a:prstGeom>
          <a:solidFill>
            <a:srgbClr val="D6DBFE"/>
          </a:solidFill>
          <a:ln w="9525">
            <a:solidFill>
              <a:srgbClr val="000000"/>
            </a:solidFill>
            <a:miter lim="800000"/>
          </a:ln>
        </p:spPr>
        <p:txBody>
          <a:bodyPr wrap="none" lIns="72000" anchor="ctr"/>
          <a:lstStyle/>
          <a:p>
            <a:pPr indent="-117475" fontAlgn="auto">
              <a:spcBef>
                <a:spcPct val="20000"/>
              </a:spcBef>
              <a:spcAft>
                <a:spcPts val="0"/>
              </a:spcAft>
              <a:buClr>
                <a:srgbClr val="000000"/>
              </a:buClr>
              <a:defRPr/>
            </a:pPr>
            <a:r>
              <a:rPr lang="en-US" altLang="zh-CN" sz="1200" b="1" dirty="0">
                <a:latin typeface="微软雅黑" panose="020B0503020204020204" charset="-122"/>
                <a:ea typeface="微软雅黑" panose="020B0503020204020204" charset="-122"/>
              </a:rPr>
              <a:t>4.3 </a:t>
            </a:r>
            <a:r>
              <a:rPr lang="zh-CN" altLang="en-US" sz="1200" b="1" dirty="0">
                <a:latin typeface="微软雅黑" panose="020B0503020204020204" charset="-122"/>
                <a:ea typeface="微软雅黑" panose="020B0503020204020204" charset="-122"/>
              </a:rPr>
              <a:t>服务与配件管理</a:t>
            </a:r>
            <a:endParaRPr lang="en-US" altLang="zh-CN" sz="1200" b="1" dirty="0">
              <a:latin typeface="微软雅黑" panose="020B0503020204020204" charset="-122"/>
              <a:ea typeface="微软雅黑" panose="020B0503020204020204" charset="-122"/>
            </a:endParaRPr>
          </a:p>
        </p:txBody>
      </p:sp>
      <p:sp>
        <p:nvSpPr>
          <p:cNvPr id="5136" name="Rectangle 25"/>
          <p:cNvSpPr>
            <a:spLocks noChangeArrowheads="1"/>
          </p:cNvSpPr>
          <p:nvPr/>
        </p:nvSpPr>
        <p:spPr bwMode="auto">
          <a:xfrm>
            <a:off x="2635250" y="3644900"/>
            <a:ext cx="1655763" cy="36036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4.4 </a:t>
            </a:r>
            <a:r>
              <a:rPr lang="zh-CN" altLang="en-US" sz="1200" b="1" dirty="0">
                <a:solidFill>
                  <a:schemeClr val="bg1">
                    <a:lumMod val="65000"/>
                  </a:schemeClr>
                </a:solidFill>
                <a:latin typeface="微软雅黑" panose="020B0503020204020204" charset="-122"/>
                <a:ea typeface="微软雅黑" panose="020B0503020204020204" charset="-122"/>
              </a:rPr>
              <a:t>代理商管理</a:t>
            </a:r>
          </a:p>
        </p:txBody>
      </p:sp>
      <p:sp>
        <p:nvSpPr>
          <p:cNvPr id="73" name="Rectangle 26"/>
          <p:cNvSpPr/>
          <p:nvPr/>
        </p:nvSpPr>
        <p:spPr>
          <a:xfrm>
            <a:off x="2635250" y="4221163"/>
            <a:ext cx="1655763" cy="36036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4.5 </a:t>
            </a:r>
            <a:r>
              <a:rPr lang="zh-CN" altLang="en-US" sz="1200" b="1" dirty="0">
                <a:solidFill>
                  <a:schemeClr val="bg1">
                    <a:lumMod val="65000"/>
                  </a:schemeClr>
                </a:solidFill>
                <a:latin typeface="微软雅黑" panose="020B0503020204020204" charset="-122"/>
                <a:ea typeface="微软雅黑" panose="020B0503020204020204" charset="-122"/>
              </a:rPr>
              <a:t>客户管理</a:t>
            </a:r>
          </a:p>
        </p:txBody>
      </p:sp>
      <p:sp>
        <p:nvSpPr>
          <p:cNvPr id="5143" name="Rectangle 34"/>
          <p:cNvSpPr>
            <a:spLocks noChangeArrowheads="1"/>
          </p:cNvSpPr>
          <p:nvPr/>
        </p:nvSpPr>
        <p:spPr bwMode="auto">
          <a:xfrm>
            <a:off x="5219700" y="2205038"/>
            <a:ext cx="1979613" cy="287337"/>
          </a:xfrm>
          <a:prstGeom prst="rect">
            <a:avLst/>
          </a:prstGeom>
          <a:solidFill>
            <a:srgbClr val="FFC000"/>
          </a:solidFill>
          <a:ln w="9525">
            <a:solidFill>
              <a:schemeClr val="tx1"/>
            </a:solidFill>
            <a:miter lim="800000"/>
          </a:ln>
        </p:spPr>
        <p:txBody>
          <a:bodyPr wrap="none" lIns="72000"/>
          <a:lstStyle/>
          <a:p>
            <a:pPr>
              <a:buClr>
                <a:schemeClr val="tx1"/>
              </a:buClr>
              <a:defRPr/>
            </a:pPr>
            <a:r>
              <a:rPr lang="en-US" altLang="zh-CN" sz="1200" b="1" dirty="0">
                <a:latin typeface="微软雅黑" panose="020B0503020204020204" charset="-122"/>
                <a:ea typeface="微软雅黑" panose="020B0503020204020204" charset="-122"/>
              </a:rPr>
              <a:t>4.2.3 </a:t>
            </a:r>
            <a:r>
              <a:rPr lang="zh-CN" altLang="en-US" sz="1200" b="1" dirty="0">
                <a:latin typeface="微软雅黑" panose="020B0503020204020204" charset="-122"/>
                <a:ea typeface="微软雅黑" panose="020B0503020204020204" charset="-122"/>
              </a:rPr>
              <a:t>合同执行管理</a:t>
            </a:r>
          </a:p>
        </p:txBody>
      </p:sp>
      <p:sp>
        <p:nvSpPr>
          <p:cNvPr id="5145" name="Rectangle 36"/>
          <p:cNvSpPr>
            <a:spLocks noChangeArrowheads="1"/>
          </p:cNvSpPr>
          <p:nvPr/>
        </p:nvSpPr>
        <p:spPr bwMode="auto">
          <a:xfrm>
            <a:off x="5221288" y="2924175"/>
            <a:ext cx="1979612" cy="288925"/>
          </a:xfrm>
          <a:prstGeom prst="rect">
            <a:avLst/>
          </a:prstGeom>
          <a:solidFill>
            <a:srgbClr val="FFC000"/>
          </a:solidFill>
          <a:ln w="9525">
            <a:solidFill>
              <a:schemeClr val="tx1"/>
            </a:solidFill>
            <a:miter lim="800000"/>
          </a:ln>
        </p:spPr>
        <p:txBody>
          <a:bodyPr wrap="none" lIns="72000"/>
          <a:lstStyle/>
          <a:p>
            <a:pPr>
              <a:buClr>
                <a:schemeClr val="tx1"/>
              </a:buClr>
              <a:defRPr/>
            </a:pPr>
            <a:r>
              <a:rPr lang="en-US" altLang="zh-CN" sz="1200" b="1" dirty="0">
                <a:latin typeface="微软雅黑" panose="020B0503020204020204" charset="-122"/>
                <a:ea typeface="微软雅黑" panose="020B0503020204020204" charset="-122"/>
              </a:rPr>
              <a:t>4.2.5 </a:t>
            </a:r>
            <a:r>
              <a:rPr lang="zh-CN" altLang="en-US" sz="1200" b="1" dirty="0">
                <a:latin typeface="微软雅黑" panose="020B0503020204020204" charset="-122"/>
                <a:ea typeface="微软雅黑" panose="020B0503020204020204" charset="-122"/>
              </a:rPr>
              <a:t>销售管理</a:t>
            </a:r>
          </a:p>
        </p:txBody>
      </p:sp>
      <p:cxnSp>
        <p:nvCxnSpPr>
          <p:cNvPr id="5140" name="Straight Connector 39"/>
          <p:cNvCxnSpPr>
            <a:cxnSpLocks noChangeShapeType="1"/>
            <a:stCxn id="5146" idx="3"/>
            <a:endCxn id="69" idx="1"/>
          </p:cNvCxnSpPr>
          <p:nvPr/>
        </p:nvCxnSpPr>
        <p:spPr bwMode="auto">
          <a:xfrm flipV="1">
            <a:off x="2051050" y="2673350"/>
            <a:ext cx="576263" cy="1158875"/>
          </a:xfrm>
          <a:prstGeom prst="bentConnector3">
            <a:avLst>
              <a:gd name="adj1" fmla="val 50000"/>
            </a:avLst>
          </a:prstGeom>
          <a:noFill/>
          <a:ln w="9525" algn="ctr">
            <a:solidFill>
              <a:srgbClr val="000000"/>
            </a:solidFill>
            <a:round/>
          </a:ln>
        </p:spPr>
      </p:cxnSp>
      <p:cxnSp>
        <p:nvCxnSpPr>
          <p:cNvPr id="5141" name="Straight Connector 41"/>
          <p:cNvCxnSpPr>
            <a:cxnSpLocks noChangeShapeType="1"/>
            <a:stCxn id="5146" idx="3"/>
            <a:endCxn id="68" idx="1"/>
          </p:cNvCxnSpPr>
          <p:nvPr/>
        </p:nvCxnSpPr>
        <p:spPr bwMode="auto">
          <a:xfrm flipV="1">
            <a:off x="2051050" y="2038350"/>
            <a:ext cx="576263" cy="1793875"/>
          </a:xfrm>
          <a:prstGeom prst="bentConnector3">
            <a:avLst>
              <a:gd name="adj1" fmla="val 50000"/>
            </a:avLst>
          </a:prstGeom>
          <a:noFill/>
          <a:ln w="9525" algn="ctr">
            <a:solidFill>
              <a:srgbClr val="000000"/>
            </a:solidFill>
            <a:round/>
          </a:ln>
        </p:spPr>
      </p:cxnSp>
      <p:cxnSp>
        <p:nvCxnSpPr>
          <p:cNvPr id="5142" name="Elbow Connector 43"/>
          <p:cNvCxnSpPr>
            <a:cxnSpLocks noChangeShapeType="1"/>
            <a:stCxn id="5146" idx="3"/>
            <a:endCxn id="70" idx="1"/>
          </p:cNvCxnSpPr>
          <p:nvPr/>
        </p:nvCxnSpPr>
        <p:spPr bwMode="auto">
          <a:xfrm flipV="1">
            <a:off x="2051050" y="3249613"/>
            <a:ext cx="576263" cy="582612"/>
          </a:xfrm>
          <a:prstGeom prst="bentConnector3">
            <a:avLst>
              <a:gd name="adj1" fmla="val 50000"/>
            </a:avLst>
          </a:prstGeom>
          <a:noFill/>
          <a:ln w="9525" algn="ctr">
            <a:solidFill>
              <a:srgbClr val="000000"/>
            </a:solidFill>
            <a:round/>
          </a:ln>
        </p:spPr>
      </p:cxnSp>
      <p:cxnSp>
        <p:nvCxnSpPr>
          <p:cNvPr id="2" name="Elbow Connector 49"/>
          <p:cNvCxnSpPr>
            <a:cxnSpLocks noChangeShapeType="1"/>
          </p:cNvCxnSpPr>
          <p:nvPr/>
        </p:nvCxnSpPr>
        <p:spPr bwMode="auto">
          <a:xfrm>
            <a:off x="2051050" y="3832225"/>
            <a:ext cx="584200" cy="568325"/>
          </a:xfrm>
          <a:prstGeom prst="bentConnector3">
            <a:avLst>
              <a:gd name="adj1" fmla="val 50000"/>
            </a:avLst>
          </a:prstGeom>
          <a:noFill/>
          <a:ln w="9525" algn="ctr">
            <a:solidFill>
              <a:srgbClr val="000000"/>
            </a:solidFill>
            <a:round/>
          </a:ln>
        </p:spPr>
      </p:cxnSp>
      <p:cxnSp>
        <p:nvCxnSpPr>
          <p:cNvPr id="5144" name="Elbow Connector 68"/>
          <p:cNvCxnSpPr>
            <a:cxnSpLocks noChangeShapeType="1"/>
            <a:stCxn id="5146" idx="3"/>
            <a:endCxn id="5136" idx="1"/>
          </p:cNvCxnSpPr>
          <p:nvPr/>
        </p:nvCxnSpPr>
        <p:spPr bwMode="auto">
          <a:xfrm flipV="1">
            <a:off x="2051050" y="3824288"/>
            <a:ext cx="584200" cy="7937"/>
          </a:xfrm>
          <a:prstGeom prst="bentConnector3">
            <a:avLst>
              <a:gd name="adj1" fmla="val 50000"/>
            </a:avLst>
          </a:prstGeom>
          <a:noFill/>
          <a:ln w="9525" algn="ctr">
            <a:solidFill>
              <a:srgbClr val="000000"/>
            </a:solidFill>
            <a:round/>
          </a:ln>
        </p:spPr>
      </p:cxnSp>
      <p:sp>
        <p:nvSpPr>
          <p:cNvPr id="3" name="Rectangle 15"/>
          <p:cNvSpPr>
            <a:spLocks noChangeArrowheads="1"/>
          </p:cNvSpPr>
          <p:nvPr/>
        </p:nvSpPr>
        <p:spPr bwMode="auto">
          <a:xfrm>
            <a:off x="395288" y="3052763"/>
            <a:ext cx="1655762" cy="36036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dirty="0">
                <a:solidFill>
                  <a:schemeClr val="bg1">
                    <a:lumMod val="65000"/>
                  </a:schemeClr>
                </a:solidFill>
                <a:latin typeface="微软雅黑" panose="020B0503020204020204" charset="-122"/>
                <a:ea typeface="微软雅黑" panose="020B0503020204020204" charset="-122"/>
              </a:rPr>
              <a:t>3.0 </a:t>
            </a:r>
            <a:r>
              <a:rPr lang="zh-CN" altLang="en-US" sz="1200" b="1" dirty="0">
                <a:solidFill>
                  <a:schemeClr val="bg1">
                    <a:lumMod val="65000"/>
                  </a:schemeClr>
                </a:solidFill>
                <a:latin typeface="微软雅黑" panose="020B0503020204020204" charset="-122"/>
                <a:ea typeface="微软雅黑" panose="020B0503020204020204" charset="-122"/>
              </a:rPr>
              <a:t>研发与创新</a:t>
            </a:r>
          </a:p>
        </p:txBody>
      </p:sp>
      <p:sp>
        <p:nvSpPr>
          <p:cNvPr id="5146" name="Rectangle 24"/>
          <p:cNvSpPr>
            <a:spLocks noChangeArrowheads="1"/>
          </p:cNvSpPr>
          <p:nvPr/>
        </p:nvSpPr>
        <p:spPr bwMode="auto">
          <a:xfrm>
            <a:off x="395288" y="3652838"/>
            <a:ext cx="1655762" cy="360362"/>
          </a:xfrm>
          <a:prstGeom prst="rect">
            <a:avLst/>
          </a:prstGeom>
          <a:solidFill>
            <a:srgbClr val="D6DBFE"/>
          </a:solidFill>
          <a:ln w="9525">
            <a:solidFill>
              <a:srgbClr val="000000"/>
            </a:solidFill>
            <a:miter lim="800000"/>
          </a:ln>
        </p:spPr>
        <p:txBody>
          <a:bodyPr wrap="none" lIns="72000" anchor="ctr"/>
          <a:lstStyle/>
          <a:p>
            <a:pPr>
              <a:spcBef>
                <a:spcPct val="20000"/>
              </a:spcBef>
            </a:pPr>
            <a:r>
              <a:rPr lang="en-US" altLang="zh-CN" sz="1200" b="1" dirty="0">
                <a:latin typeface="微软雅黑" panose="020B0503020204020204" charset="-122"/>
                <a:ea typeface="微软雅黑" panose="020B0503020204020204" charset="-122"/>
              </a:rPr>
              <a:t>4.0 </a:t>
            </a:r>
            <a:r>
              <a:rPr lang="zh-CN" altLang="en-US" sz="1200" b="1" dirty="0">
                <a:latin typeface="微软雅黑" panose="020B0503020204020204" charset="-122"/>
                <a:ea typeface="微软雅黑" panose="020B0503020204020204" charset="-122"/>
              </a:rPr>
              <a:t>营销与服务</a:t>
            </a:r>
          </a:p>
        </p:txBody>
      </p:sp>
      <p:sp>
        <p:nvSpPr>
          <p:cNvPr id="72" name="Rectangle 26"/>
          <p:cNvSpPr/>
          <p:nvPr/>
        </p:nvSpPr>
        <p:spPr>
          <a:xfrm>
            <a:off x="2635250" y="4797425"/>
            <a:ext cx="1655763" cy="36036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4.6 </a:t>
            </a:r>
            <a:r>
              <a:rPr lang="zh-CN" altLang="en-US" sz="1200" b="1" dirty="0">
                <a:solidFill>
                  <a:schemeClr val="bg1">
                    <a:lumMod val="65000"/>
                  </a:schemeClr>
                </a:solidFill>
                <a:latin typeface="微软雅黑" panose="020B0503020204020204" charset="-122"/>
                <a:ea typeface="微软雅黑" panose="020B0503020204020204" charset="-122"/>
              </a:rPr>
              <a:t>主数据管理（</a:t>
            </a:r>
            <a:r>
              <a:rPr lang="en-US" altLang="zh-CN" sz="1200" b="1" dirty="0">
                <a:solidFill>
                  <a:schemeClr val="bg1">
                    <a:lumMod val="65000"/>
                  </a:schemeClr>
                </a:solidFill>
                <a:latin typeface="微软雅黑" panose="020B0503020204020204" charset="-122"/>
                <a:ea typeface="微软雅黑" panose="020B0503020204020204" charset="-122"/>
              </a:rPr>
              <a:t>new</a:t>
            </a:r>
            <a:r>
              <a:rPr lang="zh-CN" altLang="en-US" sz="1200" b="1" dirty="0">
                <a:solidFill>
                  <a:schemeClr val="bg1">
                    <a:lumMod val="65000"/>
                  </a:schemeClr>
                </a:solidFill>
                <a:latin typeface="微软雅黑" panose="020B0503020204020204" charset="-122"/>
                <a:ea typeface="微软雅黑" panose="020B0503020204020204" charset="-122"/>
              </a:rPr>
              <a:t>）</a:t>
            </a:r>
          </a:p>
        </p:txBody>
      </p:sp>
      <p:sp>
        <p:nvSpPr>
          <p:cNvPr id="90" name="Rectangle 20"/>
          <p:cNvSpPr/>
          <p:nvPr/>
        </p:nvSpPr>
        <p:spPr>
          <a:xfrm>
            <a:off x="395288" y="5445125"/>
            <a:ext cx="1655762" cy="36036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ts val="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a:t>
            </a:r>
            <a:endParaRPr lang="zh-CN" altLang="en-US" sz="1200" b="1" dirty="0">
              <a:solidFill>
                <a:schemeClr val="bg1">
                  <a:lumMod val="65000"/>
                </a:schemeClr>
              </a:solidFill>
              <a:latin typeface="微软雅黑" panose="020B0503020204020204" charset="-122"/>
              <a:ea typeface="微软雅黑" panose="020B0503020204020204" charset="-122"/>
            </a:endParaRPr>
          </a:p>
        </p:txBody>
      </p:sp>
      <p:sp>
        <p:nvSpPr>
          <p:cNvPr id="35" name="Rectangle 21"/>
          <p:cNvSpPr/>
          <p:nvPr/>
        </p:nvSpPr>
        <p:spPr>
          <a:xfrm>
            <a:off x="5221288" y="1520825"/>
            <a:ext cx="1979612" cy="28733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4.2.1 </a:t>
            </a:r>
            <a:r>
              <a:rPr lang="zh-CN" altLang="en-US" sz="1200" b="1" dirty="0">
                <a:solidFill>
                  <a:schemeClr val="bg1">
                    <a:lumMod val="65000"/>
                  </a:schemeClr>
                </a:solidFill>
                <a:latin typeface="微软雅黑" panose="020B0503020204020204" charset="-122"/>
                <a:ea typeface="微软雅黑" panose="020B0503020204020204" charset="-122"/>
              </a:rPr>
              <a:t>客户规划</a:t>
            </a:r>
          </a:p>
        </p:txBody>
      </p:sp>
      <p:sp>
        <p:nvSpPr>
          <p:cNvPr id="36" name="Rectangle 21"/>
          <p:cNvSpPr/>
          <p:nvPr/>
        </p:nvSpPr>
        <p:spPr>
          <a:xfrm>
            <a:off x="5221288" y="1844675"/>
            <a:ext cx="1979612" cy="288925"/>
          </a:xfrm>
          <a:prstGeom prst="rect">
            <a:avLst/>
          </a:prstGeom>
          <a:solidFill>
            <a:srgbClr val="FFC000"/>
          </a:solidFill>
          <a:ln w="6350">
            <a:solidFill>
              <a:schemeClr val="tx1"/>
            </a:solidFill>
            <a:miter lim="800000"/>
          </a:ln>
        </p:spPr>
        <p:txBody>
          <a:bodyPr lIns="72000" tIns="36000" rIns="18000" bIns="36000" rtlCol="0" anchor="ctr">
            <a:noAutofit/>
          </a:bodyPr>
          <a:lstStyle/>
          <a:p>
            <a:pPr>
              <a:spcBef>
                <a:spcPct val="20000"/>
              </a:spcBef>
              <a:buClr>
                <a:schemeClr val="tx1"/>
              </a:buClr>
              <a:defRPr/>
            </a:pPr>
            <a:r>
              <a:rPr lang="en-US" altLang="zh-CN" sz="1200" b="1" dirty="0">
                <a:latin typeface="微软雅黑" panose="020B0503020204020204" charset="-122"/>
                <a:ea typeface="微软雅黑" panose="020B0503020204020204" charset="-122"/>
              </a:rPr>
              <a:t>4.2.2 </a:t>
            </a:r>
            <a:r>
              <a:rPr lang="zh-CN" altLang="en-US" sz="1200" b="1" dirty="0">
                <a:latin typeface="微软雅黑" panose="020B0503020204020204" charset="-122"/>
                <a:ea typeface="微软雅黑" panose="020B0503020204020204" charset="-122"/>
              </a:rPr>
              <a:t>线索到合同管理</a:t>
            </a:r>
          </a:p>
        </p:txBody>
      </p:sp>
      <p:sp>
        <p:nvSpPr>
          <p:cNvPr id="37" name="Rectangle 21"/>
          <p:cNvSpPr/>
          <p:nvPr/>
        </p:nvSpPr>
        <p:spPr>
          <a:xfrm>
            <a:off x="5221288" y="2565400"/>
            <a:ext cx="1979612" cy="28733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4.2.4 </a:t>
            </a:r>
            <a:r>
              <a:rPr lang="zh-CN" altLang="en-US" sz="1200" b="1" dirty="0">
                <a:solidFill>
                  <a:schemeClr val="bg1">
                    <a:lumMod val="65000"/>
                  </a:schemeClr>
                </a:solidFill>
                <a:latin typeface="微软雅黑" panose="020B0503020204020204" charset="-122"/>
                <a:ea typeface="微软雅黑" panose="020B0503020204020204" charset="-122"/>
              </a:rPr>
              <a:t>回款管理</a:t>
            </a:r>
          </a:p>
        </p:txBody>
      </p:sp>
      <p:cxnSp>
        <p:nvCxnSpPr>
          <p:cNvPr id="5152" name="Elbow Connector 49"/>
          <p:cNvCxnSpPr>
            <a:cxnSpLocks noChangeShapeType="1"/>
            <a:stCxn id="5146" idx="3"/>
            <a:endCxn id="72" idx="1"/>
          </p:cNvCxnSpPr>
          <p:nvPr/>
        </p:nvCxnSpPr>
        <p:spPr bwMode="auto">
          <a:xfrm>
            <a:off x="2051050" y="3832225"/>
            <a:ext cx="584200" cy="1144588"/>
          </a:xfrm>
          <a:prstGeom prst="bentConnector3">
            <a:avLst>
              <a:gd name="adj1" fmla="val 50000"/>
            </a:avLst>
          </a:prstGeom>
          <a:noFill/>
          <a:ln w="9525" algn="ctr">
            <a:solidFill>
              <a:srgbClr val="000000"/>
            </a:solidFill>
            <a:round/>
          </a:ln>
        </p:spPr>
      </p:cxnSp>
      <p:sp>
        <p:nvSpPr>
          <p:cNvPr id="41" name="Rectangle 21"/>
          <p:cNvSpPr/>
          <p:nvPr/>
        </p:nvSpPr>
        <p:spPr>
          <a:xfrm>
            <a:off x="5229225" y="3284538"/>
            <a:ext cx="1979613" cy="2889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4.2.6 </a:t>
            </a:r>
            <a:r>
              <a:rPr lang="zh-CN" altLang="en-US" sz="1200" b="1" dirty="0">
                <a:solidFill>
                  <a:schemeClr val="bg1">
                    <a:lumMod val="65000"/>
                  </a:schemeClr>
                </a:solidFill>
                <a:latin typeface="微软雅黑" panose="020B0503020204020204" charset="-122"/>
                <a:ea typeface="微软雅黑" panose="020B0503020204020204" charset="-122"/>
              </a:rPr>
              <a:t>库存管理</a:t>
            </a:r>
          </a:p>
        </p:txBody>
      </p:sp>
      <p:sp>
        <p:nvSpPr>
          <p:cNvPr id="78" name="Rectangle 21"/>
          <p:cNvSpPr/>
          <p:nvPr/>
        </p:nvSpPr>
        <p:spPr>
          <a:xfrm>
            <a:off x="5254625" y="4076700"/>
            <a:ext cx="1979613" cy="2889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4.3.2 </a:t>
            </a:r>
            <a:r>
              <a:rPr lang="zh-CN" altLang="en-US" sz="1200" b="1" dirty="0">
                <a:solidFill>
                  <a:schemeClr val="bg1">
                    <a:lumMod val="65000"/>
                  </a:schemeClr>
                </a:solidFill>
                <a:latin typeface="微软雅黑" panose="020B0503020204020204" charset="-122"/>
                <a:ea typeface="微软雅黑" panose="020B0503020204020204" charset="-122"/>
              </a:rPr>
              <a:t>服务产品与配件销售</a:t>
            </a:r>
          </a:p>
        </p:txBody>
      </p:sp>
      <p:sp>
        <p:nvSpPr>
          <p:cNvPr id="79" name="Rectangle 21"/>
          <p:cNvSpPr/>
          <p:nvPr/>
        </p:nvSpPr>
        <p:spPr>
          <a:xfrm>
            <a:off x="5237163" y="3716338"/>
            <a:ext cx="1981200" cy="2889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4.3.1 </a:t>
            </a:r>
            <a:r>
              <a:rPr lang="zh-CN" altLang="en-US" sz="1200" b="1" dirty="0">
                <a:solidFill>
                  <a:schemeClr val="bg1">
                    <a:lumMod val="65000"/>
                  </a:schemeClr>
                </a:solidFill>
                <a:latin typeface="微软雅黑" panose="020B0503020204020204" charset="-122"/>
                <a:ea typeface="微软雅黑" panose="020B0503020204020204" charset="-122"/>
              </a:rPr>
              <a:t>售后战略与市场</a:t>
            </a:r>
          </a:p>
        </p:txBody>
      </p:sp>
      <p:sp>
        <p:nvSpPr>
          <p:cNvPr id="80" name="Rectangle 21"/>
          <p:cNvSpPr/>
          <p:nvPr/>
        </p:nvSpPr>
        <p:spPr>
          <a:xfrm>
            <a:off x="5254625" y="5876925"/>
            <a:ext cx="1979613" cy="2889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4.3.7 </a:t>
            </a:r>
            <a:r>
              <a:rPr lang="zh-CN" altLang="en-US" sz="1200" b="1" dirty="0">
                <a:solidFill>
                  <a:schemeClr val="bg1">
                    <a:lumMod val="65000"/>
                  </a:schemeClr>
                </a:solidFill>
                <a:latin typeface="微软雅黑" panose="020B0503020204020204" charset="-122"/>
                <a:ea typeface="微软雅黑" panose="020B0503020204020204" charset="-122"/>
              </a:rPr>
              <a:t>再制造</a:t>
            </a:r>
          </a:p>
        </p:txBody>
      </p:sp>
      <p:sp>
        <p:nvSpPr>
          <p:cNvPr id="81" name="Rectangle 21"/>
          <p:cNvSpPr/>
          <p:nvPr/>
        </p:nvSpPr>
        <p:spPr>
          <a:xfrm>
            <a:off x="5254625" y="5516563"/>
            <a:ext cx="1979613" cy="2889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4.3.6 </a:t>
            </a:r>
            <a:r>
              <a:rPr lang="zh-CN" altLang="en-US" sz="1200" b="1" dirty="0">
                <a:solidFill>
                  <a:schemeClr val="bg1">
                    <a:lumMod val="65000"/>
                  </a:schemeClr>
                </a:solidFill>
                <a:latin typeface="微软雅黑" panose="020B0503020204020204" charset="-122"/>
                <a:ea typeface="微软雅黑" panose="020B0503020204020204" charset="-122"/>
              </a:rPr>
              <a:t>配件物流管理</a:t>
            </a:r>
          </a:p>
        </p:txBody>
      </p:sp>
      <p:sp>
        <p:nvSpPr>
          <p:cNvPr id="82" name="Rectangle 21"/>
          <p:cNvSpPr/>
          <p:nvPr/>
        </p:nvSpPr>
        <p:spPr>
          <a:xfrm>
            <a:off x="5238750" y="4797425"/>
            <a:ext cx="1979613" cy="28733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4.3.4 </a:t>
            </a:r>
            <a:r>
              <a:rPr lang="zh-CN" altLang="en-US" sz="1200" b="1" dirty="0">
                <a:solidFill>
                  <a:schemeClr val="bg1">
                    <a:lumMod val="65000"/>
                  </a:schemeClr>
                </a:solidFill>
                <a:latin typeface="微软雅黑" panose="020B0503020204020204" charset="-122"/>
                <a:ea typeface="微软雅黑" panose="020B0503020204020204" charset="-122"/>
              </a:rPr>
              <a:t>产品质量与索赔管理</a:t>
            </a:r>
          </a:p>
        </p:txBody>
      </p:sp>
      <p:sp>
        <p:nvSpPr>
          <p:cNvPr id="83" name="Rectangle 21"/>
          <p:cNvSpPr/>
          <p:nvPr/>
        </p:nvSpPr>
        <p:spPr>
          <a:xfrm>
            <a:off x="5238750" y="4437063"/>
            <a:ext cx="1979613" cy="28733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4.3.3 </a:t>
            </a:r>
            <a:r>
              <a:rPr lang="zh-CN" altLang="en-US" sz="1200" b="1" dirty="0">
                <a:solidFill>
                  <a:schemeClr val="bg1">
                    <a:lumMod val="65000"/>
                  </a:schemeClr>
                </a:solidFill>
                <a:latin typeface="微软雅黑" panose="020B0503020204020204" charset="-122"/>
                <a:ea typeface="微软雅黑" panose="020B0503020204020204" charset="-122"/>
              </a:rPr>
              <a:t>服务请求与执行管理</a:t>
            </a:r>
          </a:p>
        </p:txBody>
      </p:sp>
      <p:sp>
        <p:nvSpPr>
          <p:cNvPr id="84" name="Rectangle 36"/>
          <p:cNvSpPr>
            <a:spLocks noChangeArrowheads="1"/>
          </p:cNvSpPr>
          <p:nvPr/>
        </p:nvSpPr>
        <p:spPr bwMode="auto">
          <a:xfrm>
            <a:off x="5254625" y="5157788"/>
            <a:ext cx="1979613" cy="287337"/>
          </a:xfrm>
          <a:prstGeom prst="rect">
            <a:avLst/>
          </a:prstGeom>
          <a:solidFill>
            <a:srgbClr val="FFC000"/>
          </a:solidFill>
          <a:ln w="9525">
            <a:solidFill>
              <a:schemeClr val="tx1"/>
            </a:solidFill>
            <a:miter lim="800000"/>
          </a:ln>
        </p:spPr>
        <p:txBody>
          <a:bodyPr wrap="none" lIns="72000"/>
          <a:lstStyle/>
          <a:p>
            <a:pPr>
              <a:buClr>
                <a:schemeClr val="tx1"/>
              </a:buClr>
              <a:defRPr/>
            </a:pPr>
            <a:r>
              <a:rPr lang="en-US" altLang="zh-CN" sz="1200" b="1" dirty="0">
                <a:latin typeface="微软雅黑" panose="020B0503020204020204" charset="-122"/>
                <a:ea typeface="微软雅黑" panose="020B0503020204020204" charset="-122"/>
              </a:rPr>
              <a:t>4.3.5 </a:t>
            </a:r>
            <a:r>
              <a:rPr lang="zh-CN" altLang="en-US" sz="1200" b="1" dirty="0">
                <a:latin typeface="微软雅黑" panose="020B0503020204020204" charset="-122"/>
                <a:ea typeface="微软雅黑" panose="020B0503020204020204" charset="-122"/>
              </a:rPr>
              <a:t>配件计划供应</a:t>
            </a:r>
          </a:p>
        </p:txBody>
      </p:sp>
      <p:sp>
        <p:nvSpPr>
          <p:cNvPr id="85" name="Rectangle 21"/>
          <p:cNvSpPr/>
          <p:nvPr/>
        </p:nvSpPr>
        <p:spPr>
          <a:xfrm>
            <a:off x="5256213" y="6237288"/>
            <a:ext cx="1979612" cy="28733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4.3.8 </a:t>
            </a:r>
            <a:r>
              <a:rPr lang="zh-CN" altLang="en-US" sz="1200" b="1" dirty="0">
                <a:solidFill>
                  <a:schemeClr val="bg1">
                    <a:lumMod val="65000"/>
                  </a:schemeClr>
                </a:solidFill>
                <a:latin typeface="微软雅黑" panose="020B0503020204020204" charset="-122"/>
                <a:ea typeface="微软雅黑" panose="020B0503020204020204" charset="-122"/>
              </a:rPr>
              <a:t>服务与配件绩效管理</a:t>
            </a:r>
          </a:p>
        </p:txBody>
      </p:sp>
      <p:cxnSp>
        <p:nvCxnSpPr>
          <p:cNvPr id="5162" name="肘形连接符 54"/>
          <p:cNvCxnSpPr>
            <a:cxnSpLocks noChangeShapeType="1"/>
            <a:endCxn id="80" idx="1"/>
          </p:cNvCxnSpPr>
          <p:nvPr/>
        </p:nvCxnSpPr>
        <p:spPr bwMode="auto">
          <a:xfrm>
            <a:off x="4291013" y="3249613"/>
            <a:ext cx="963612" cy="2771775"/>
          </a:xfrm>
          <a:prstGeom prst="bentConnector3">
            <a:avLst>
              <a:gd name="adj1" fmla="val 40213"/>
            </a:avLst>
          </a:prstGeom>
          <a:noFill/>
          <a:ln w="9525" algn="ctr">
            <a:solidFill>
              <a:schemeClr val="tx1"/>
            </a:solidFill>
            <a:round/>
          </a:ln>
        </p:spPr>
      </p:cxnSp>
      <p:cxnSp>
        <p:nvCxnSpPr>
          <p:cNvPr id="5163" name="肘形连接符 87"/>
          <p:cNvCxnSpPr>
            <a:cxnSpLocks noChangeShapeType="1"/>
            <a:endCxn id="81" idx="1"/>
          </p:cNvCxnSpPr>
          <p:nvPr/>
        </p:nvCxnSpPr>
        <p:spPr bwMode="auto">
          <a:xfrm>
            <a:off x="4291013" y="3249613"/>
            <a:ext cx="963612" cy="2411412"/>
          </a:xfrm>
          <a:prstGeom prst="bentConnector3">
            <a:avLst>
              <a:gd name="adj1" fmla="val 40213"/>
            </a:avLst>
          </a:prstGeom>
          <a:noFill/>
          <a:ln w="9525" algn="ctr">
            <a:solidFill>
              <a:schemeClr val="tx1"/>
            </a:solidFill>
            <a:round/>
          </a:ln>
        </p:spPr>
      </p:cxnSp>
      <p:cxnSp>
        <p:nvCxnSpPr>
          <p:cNvPr id="5164" name="肘形连接符 90"/>
          <p:cNvCxnSpPr>
            <a:cxnSpLocks noChangeShapeType="1"/>
            <a:endCxn id="79" idx="1"/>
          </p:cNvCxnSpPr>
          <p:nvPr/>
        </p:nvCxnSpPr>
        <p:spPr bwMode="auto">
          <a:xfrm>
            <a:off x="4291013" y="3249613"/>
            <a:ext cx="946150" cy="611187"/>
          </a:xfrm>
          <a:prstGeom prst="bentConnector3">
            <a:avLst>
              <a:gd name="adj1" fmla="val 41037"/>
            </a:avLst>
          </a:prstGeom>
          <a:noFill/>
          <a:ln w="9525" algn="ctr">
            <a:solidFill>
              <a:schemeClr val="tx1"/>
            </a:solidFill>
            <a:round/>
          </a:ln>
        </p:spPr>
      </p:cxnSp>
      <p:cxnSp>
        <p:nvCxnSpPr>
          <p:cNvPr id="5165" name="肘形连接符 92"/>
          <p:cNvCxnSpPr>
            <a:cxnSpLocks noChangeShapeType="1"/>
            <a:endCxn id="78" idx="1"/>
          </p:cNvCxnSpPr>
          <p:nvPr/>
        </p:nvCxnSpPr>
        <p:spPr bwMode="auto">
          <a:xfrm>
            <a:off x="4291013" y="3249613"/>
            <a:ext cx="963612" cy="971550"/>
          </a:xfrm>
          <a:prstGeom prst="bentConnector3">
            <a:avLst>
              <a:gd name="adj1" fmla="val 41190"/>
            </a:avLst>
          </a:prstGeom>
          <a:noFill/>
          <a:ln w="9525" algn="ctr">
            <a:solidFill>
              <a:schemeClr val="tx1"/>
            </a:solidFill>
            <a:round/>
          </a:ln>
        </p:spPr>
      </p:cxnSp>
      <p:cxnSp>
        <p:nvCxnSpPr>
          <p:cNvPr id="5166" name="肘形连接符 94"/>
          <p:cNvCxnSpPr>
            <a:cxnSpLocks noChangeShapeType="1"/>
            <a:endCxn id="83" idx="1"/>
          </p:cNvCxnSpPr>
          <p:nvPr/>
        </p:nvCxnSpPr>
        <p:spPr bwMode="auto">
          <a:xfrm>
            <a:off x="4291013" y="3249613"/>
            <a:ext cx="947737" cy="1331912"/>
          </a:xfrm>
          <a:prstGeom prst="bentConnector3">
            <a:avLst>
              <a:gd name="adj1" fmla="val 41042"/>
            </a:avLst>
          </a:prstGeom>
          <a:noFill/>
          <a:ln w="9525" algn="ctr">
            <a:solidFill>
              <a:schemeClr val="tx1"/>
            </a:solidFill>
            <a:round/>
          </a:ln>
        </p:spPr>
      </p:cxnSp>
      <p:cxnSp>
        <p:nvCxnSpPr>
          <p:cNvPr id="5167" name="肘形连接符 97"/>
          <p:cNvCxnSpPr>
            <a:cxnSpLocks noChangeShapeType="1"/>
            <a:endCxn id="82" idx="1"/>
          </p:cNvCxnSpPr>
          <p:nvPr/>
        </p:nvCxnSpPr>
        <p:spPr bwMode="auto">
          <a:xfrm>
            <a:off x="4291013" y="3249613"/>
            <a:ext cx="947737" cy="1692275"/>
          </a:xfrm>
          <a:prstGeom prst="bentConnector3">
            <a:avLst>
              <a:gd name="adj1" fmla="val 41042"/>
            </a:avLst>
          </a:prstGeom>
          <a:noFill/>
          <a:ln w="9525" algn="ctr">
            <a:solidFill>
              <a:schemeClr val="tx1"/>
            </a:solidFill>
            <a:round/>
          </a:ln>
        </p:spPr>
      </p:cxnSp>
      <p:cxnSp>
        <p:nvCxnSpPr>
          <p:cNvPr id="5168" name="肘形连接符 100"/>
          <p:cNvCxnSpPr>
            <a:cxnSpLocks noChangeShapeType="1"/>
            <a:endCxn id="84" idx="1"/>
          </p:cNvCxnSpPr>
          <p:nvPr/>
        </p:nvCxnSpPr>
        <p:spPr bwMode="auto">
          <a:xfrm>
            <a:off x="4291013" y="3249613"/>
            <a:ext cx="963612" cy="2051050"/>
          </a:xfrm>
          <a:prstGeom prst="bentConnector3">
            <a:avLst>
              <a:gd name="adj1" fmla="val 40213"/>
            </a:avLst>
          </a:prstGeom>
          <a:noFill/>
          <a:ln w="9525" algn="ctr">
            <a:solidFill>
              <a:schemeClr val="tx1"/>
            </a:solidFill>
            <a:round/>
          </a:ln>
        </p:spPr>
      </p:cxnSp>
      <p:cxnSp>
        <p:nvCxnSpPr>
          <p:cNvPr id="5169" name="肘形连接符 5225"/>
          <p:cNvCxnSpPr>
            <a:cxnSpLocks noChangeShapeType="1"/>
            <a:stCxn id="69" idx="3"/>
            <a:endCxn id="36" idx="1"/>
          </p:cNvCxnSpPr>
          <p:nvPr/>
        </p:nvCxnSpPr>
        <p:spPr bwMode="auto">
          <a:xfrm flipV="1">
            <a:off x="4283075" y="1989138"/>
            <a:ext cx="938213" cy="684212"/>
          </a:xfrm>
          <a:prstGeom prst="bentConnector3">
            <a:avLst>
              <a:gd name="adj1" fmla="val 50000"/>
            </a:avLst>
          </a:prstGeom>
          <a:noFill/>
          <a:ln w="9525" algn="ctr">
            <a:solidFill>
              <a:schemeClr val="tx1"/>
            </a:solidFill>
            <a:round/>
          </a:ln>
        </p:spPr>
      </p:cxnSp>
      <p:cxnSp>
        <p:nvCxnSpPr>
          <p:cNvPr id="5170" name="肘形连接符 5227"/>
          <p:cNvCxnSpPr>
            <a:cxnSpLocks noChangeShapeType="1"/>
            <a:stCxn id="69" idx="3"/>
            <a:endCxn id="35" idx="1"/>
          </p:cNvCxnSpPr>
          <p:nvPr/>
        </p:nvCxnSpPr>
        <p:spPr bwMode="auto">
          <a:xfrm flipV="1">
            <a:off x="4283075" y="1663700"/>
            <a:ext cx="938213" cy="1009650"/>
          </a:xfrm>
          <a:prstGeom prst="bentConnector3">
            <a:avLst>
              <a:gd name="adj1" fmla="val 50000"/>
            </a:avLst>
          </a:prstGeom>
          <a:noFill/>
          <a:ln w="9525" algn="ctr">
            <a:solidFill>
              <a:schemeClr val="tx1"/>
            </a:solidFill>
            <a:round/>
          </a:ln>
        </p:spPr>
      </p:cxnSp>
      <p:cxnSp>
        <p:nvCxnSpPr>
          <p:cNvPr id="5171" name="肘形连接符 5230"/>
          <p:cNvCxnSpPr>
            <a:cxnSpLocks noChangeShapeType="1"/>
            <a:stCxn id="69" idx="3"/>
            <a:endCxn id="5143" idx="1"/>
          </p:cNvCxnSpPr>
          <p:nvPr/>
        </p:nvCxnSpPr>
        <p:spPr bwMode="auto">
          <a:xfrm flipV="1">
            <a:off x="4283075" y="2349500"/>
            <a:ext cx="936625" cy="323850"/>
          </a:xfrm>
          <a:prstGeom prst="bentConnector3">
            <a:avLst>
              <a:gd name="adj1" fmla="val 50000"/>
            </a:avLst>
          </a:prstGeom>
          <a:noFill/>
          <a:ln w="9525" algn="ctr">
            <a:solidFill>
              <a:schemeClr val="tx1"/>
            </a:solidFill>
            <a:round/>
          </a:ln>
        </p:spPr>
      </p:cxnSp>
      <p:cxnSp>
        <p:nvCxnSpPr>
          <p:cNvPr id="5172" name="肘形连接符 5232"/>
          <p:cNvCxnSpPr>
            <a:cxnSpLocks noChangeShapeType="1"/>
            <a:stCxn id="69" idx="3"/>
            <a:endCxn id="37" idx="1"/>
          </p:cNvCxnSpPr>
          <p:nvPr/>
        </p:nvCxnSpPr>
        <p:spPr bwMode="auto">
          <a:xfrm>
            <a:off x="4283075" y="2673350"/>
            <a:ext cx="938213" cy="34925"/>
          </a:xfrm>
          <a:prstGeom prst="bentConnector3">
            <a:avLst>
              <a:gd name="adj1" fmla="val 50000"/>
            </a:avLst>
          </a:prstGeom>
          <a:noFill/>
          <a:ln w="9525" algn="ctr">
            <a:solidFill>
              <a:schemeClr val="tx1"/>
            </a:solidFill>
            <a:round/>
          </a:ln>
        </p:spPr>
      </p:cxnSp>
      <p:cxnSp>
        <p:nvCxnSpPr>
          <p:cNvPr id="5173" name="肘形连接符 5234"/>
          <p:cNvCxnSpPr>
            <a:cxnSpLocks noChangeShapeType="1"/>
            <a:stCxn id="69" idx="3"/>
            <a:endCxn id="5145" idx="1"/>
          </p:cNvCxnSpPr>
          <p:nvPr/>
        </p:nvCxnSpPr>
        <p:spPr bwMode="auto">
          <a:xfrm>
            <a:off x="4283075" y="2673350"/>
            <a:ext cx="938213" cy="395288"/>
          </a:xfrm>
          <a:prstGeom prst="bentConnector3">
            <a:avLst>
              <a:gd name="adj1" fmla="val 50000"/>
            </a:avLst>
          </a:prstGeom>
          <a:noFill/>
          <a:ln w="9525" algn="ctr">
            <a:solidFill>
              <a:schemeClr val="tx1"/>
            </a:solidFill>
            <a:round/>
          </a:ln>
        </p:spPr>
      </p:cxnSp>
      <p:cxnSp>
        <p:nvCxnSpPr>
          <p:cNvPr id="5174" name="肘形连接符 5236"/>
          <p:cNvCxnSpPr>
            <a:cxnSpLocks noChangeShapeType="1"/>
            <a:stCxn id="69" idx="3"/>
            <a:endCxn id="41" idx="1"/>
          </p:cNvCxnSpPr>
          <p:nvPr/>
        </p:nvCxnSpPr>
        <p:spPr bwMode="auto">
          <a:xfrm>
            <a:off x="4283075" y="2673350"/>
            <a:ext cx="946150" cy="755650"/>
          </a:xfrm>
          <a:prstGeom prst="bentConnector3">
            <a:avLst>
              <a:gd name="adj1" fmla="val 50000"/>
            </a:avLst>
          </a:prstGeom>
          <a:noFill/>
          <a:ln w="9525" algn="ctr">
            <a:solidFill>
              <a:schemeClr val="tx1"/>
            </a:solidFill>
            <a:round/>
          </a:ln>
        </p:spPr>
      </p:cxnSp>
      <p:sp>
        <p:nvSpPr>
          <p:cNvPr id="55" name="矩形 54"/>
          <p:cNvSpPr/>
          <p:nvPr/>
        </p:nvSpPr>
        <p:spPr bwMode="auto">
          <a:xfrm>
            <a:off x="7215206" y="145532"/>
            <a:ext cx="900000" cy="276248"/>
          </a:xfrm>
          <a:prstGeom prst="rect">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zh-CN" altLang="en-US" sz="900" b="1" dirty="0">
                <a:solidFill>
                  <a:srgbClr val="000000"/>
                </a:solidFill>
                <a:latin typeface="微软雅黑" panose="020B0503020204020204" charset="-122"/>
                <a:ea typeface="微软雅黑" panose="020B0503020204020204" charset="-122"/>
              </a:rPr>
              <a:t>有流程</a:t>
            </a:r>
            <a:endParaRPr lang="en-US" altLang="zh-CN" sz="900" b="1" dirty="0">
              <a:solidFill>
                <a:srgbClr val="000000"/>
              </a:solidFill>
              <a:latin typeface="微软雅黑" panose="020B0503020204020204" charset="-122"/>
              <a:ea typeface="微软雅黑" panose="020B0503020204020204" charset="-122"/>
            </a:endParaRPr>
          </a:p>
        </p:txBody>
      </p:sp>
      <p:sp>
        <p:nvSpPr>
          <p:cNvPr id="56" name="矩形 55"/>
          <p:cNvSpPr/>
          <p:nvPr/>
        </p:nvSpPr>
        <p:spPr bwMode="auto">
          <a:xfrm>
            <a:off x="6215074" y="145532"/>
            <a:ext cx="900000" cy="276248"/>
          </a:xfrm>
          <a:prstGeom prst="rect">
            <a:avLst/>
          </a:prstGeom>
          <a:solidFill>
            <a:srgbClr val="92D050"/>
          </a:solidFill>
          <a:ln w="6350">
            <a:solidFill>
              <a:schemeClr val="tx1"/>
            </a:solidFill>
            <a:miter lim="800000"/>
          </a:ln>
        </p:spPr>
        <p:txBody>
          <a:bodyPr lIns="18000" tIns="36000" rIns="18000" bIns="36000" rtlCol="0" anchor="ctr">
            <a:noAutofit/>
          </a:bodyPr>
          <a:lstStyle/>
          <a:p>
            <a:pPr algn="ctr">
              <a:buClr>
                <a:schemeClr val="tx1"/>
              </a:buClr>
            </a:pPr>
            <a:r>
              <a:rPr lang="zh-CN" altLang="en-US" sz="900" b="1" dirty="0">
                <a:solidFill>
                  <a:sysClr val="windowText" lastClr="000000"/>
                </a:solidFill>
                <a:latin typeface="微软雅黑" panose="020B0503020204020204" charset="-122"/>
                <a:ea typeface="微软雅黑" panose="020B0503020204020204" charset="-122"/>
              </a:rPr>
              <a:t>无流程</a:t>
            </a:r>
            <a:endParaRPr lang="en-US" altLang="zh-CN" sz="900" b="1" dirty="0">
              <a:solidFill>
                <a:sysClr val="windowText" lastClr="000000"/>
              </a:solidFill>
              <a:latin typeface="微软雅黑" panose="020B0503020204020204" charset="-122"/>
              <a:ea typeface="微软雅黑" panose="020B0503020204020204" charset="-122"/>
            </a:endParaRPr>
          </a:p>
        </p:txBody>
      </p:sp>
      <p:sp>
        <p:nvSpPr>
          <p:cNvPr id="57" name="矩形 56"/>
          <p:cNvSpPr/>
          <p:nvPr/>
        </p:nvSpPr>
        <p:spPr bwMode="auto">
          <a:xfrm>
            <a:off x="5214942" y="152356"/>
            <a:ext cx="900000" cy="276248"/>
          </a:xfrm>
          <a:prstGeom prst="rect">
            <a:avLst/>
          </a:prstGeom>
          <a:solidFill>
            <a:schemeClr val="bg1">
              <a:lumMod val="85000"/>
            </a:schemeClr>
          </a:solidFill>
          <a:ln w="6350">
            <a:solidFill>
              <a:schemeClr val="tx1"/>
            </a:solidFill>
            <a:miter lim="800000"/>
          </a:ln>
        </p:spPr>
        <p:txBody>
          <a:bodyPr lIns="18000" tIns="36000" rIns="18000" bIns="36000" rtlCol="0" anchor="ctr">
            <a:noAutofit/>
          </a:bodyPr>
          <a:lstStyle/>
          <a:p>
            <a:pPr algn="ctr">
              <a:buClr>
                <a:schemeClr val="tx1"/>
              </a:buClr>
            </a:pPr>
            <a:r>
              <a:rPr lang="en-US" altLang="zh-CN" sz="900" b="1" dirty="0">
                <a:solidFill>
                  <a:schemeClr val="bg1">
                    <a:lumMod val="65000"/>
                  </a:schemeClr>
                </a:solidFill>
                <a:latin typeface="微软雅黑" panose="020B0503020204020204" charset="-122"/>
                <a:ea typeface="微软雅黑" panose="020B0503020204020204" charset="-122"/>
              </a:rPr>
              <a:t>SCM1.0</a:t>
            </a:r>
            <a:r>
              <a:rPr lang="zh-CN" altLang="en-US" sz="900" b="1" dirty="0">
                <a:solidFill>
                  <a:schemeClr val="bg1">
                    <a:lumMod val="65000"/>
                  </a:schemeClr>
                </a:solidFill>
                <a:latin typeface="微软雅黑" panose="020B0503020204020204" charset="-122"/>
                <a:ea typeface="微软雅黑" panose="020B0503020204020204" charset="-122"/>
              </a:rPr>
              <a:t>不相关</a:t>
            </a:r>
            <a:endParaRPr lang="en-US" altLang="zh-CN" sz="9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a:t>集成计划体系流程框架</a:t>
            </a:r>
            <a:r>
              <a:t>1.0</a:t>
            </a:r>
            <a:endParaRPr lang="zh-CN" altLang="en-US"/>
          </a:p>
        </p:txBody>
      </p:sp>
      <p:sp>
        <p:nvSpPr>
          <p:cNvPr id="6147" name="文本框 2"/>
          <p:cNvSpPr txBox="1">
            <a:spLocks noChangeArrowheads="1"/>
          </p:cNvSpPr>
          <p:nvPr/>
        </p:nvSpPr>
        <p:spPr bwMode="auto">
          <a:xfrm>
            <a:off x="31765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二级流程</a:t>
            </a:r>
          </a:p>
        </p:txBody>
      </p:sp>
      <p:cxnSp>
        <p:nvCxnSpPr>
          <p:cNvPr id="6148" name="直接连接符 54"/>
          <p:cNvCxnSpPr>
            <a:cxnSpLocks noChangeShapeType="1"/>
          </p:cNvCxnSpPr>
          <p:nvPr/>
        </p:nvCxnSpPr>
        <p:spPr bwMode="auto">
          <a:xfrm>
            <a:off x="2700338" y="1436688"/>
            <a:ext cx="1800225" cy="0"/>
          </a:xfrm>
          <a:prstGeom prst="line">
            <a:avLst/>
          </a:prstGeom>
          <a:noFill/>
          <a:ln w="19050" algn="ctr">
            <a:solidFill>
              <a:srgbClr val="000000"/>
            </a:solidFill>
            <a:round/>
          </a:ln>
        </p:spPr>
      </p:cxnSp>
      <p:cxnSp>
        <p:nvCxnSpPr>
          <p:cNvPr id="6149" name="直接连接符 55"/>
          <p:cNvCxnSpPr>
            <a:cxnSpLocks noChangeShapeType="1"/>
          </p:cNvCxnSpPr>
          <p:nvPr/>
        </p:nvCxnSpPr>
        <p:spPr bwMode="auto">
          <a:xfrm>
            <a:off x="5289550" y="1436688"/>
            <a:ext cx="1800225" cy="0"/>
          </a:xfrm>
          <a:prstGeom prst="line">
            <a:avLst/>
          </a:prstGeom>
          <a:noFill/>
          <a:ln w="19050" algn="ctr">
            <a:solidFill>
              <a:srgbClr val="000000"/>
            </a:solidFill>
            <a:round/>
          </a:ln>
        </p:spPr>
      </p:cxnSp>
      <p:sp>
        <p:nvSpPr>
          <p:cNvPr id="6150" name="文本框 11"/>
          <p:cNvSpPr txBox="1">
            <a:spLocks noChangeArrowheads="1"/>
          </p:cNvSpPr>
          <p:nvPr/>
        </p:nvSpPr>
        <p:spPr bwMode="auto">
          <a:xfrm>
            <a:off x="5707063" y="1052513"/>
            <a:ext cx="1004887"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三级流程</a:t>
            </a:r>
          </a:p>
        </p:txBody>
      </p:sp>
      <p:cxnSp>
        <p:nvCxnSpPr>
          <p:cNvPr id="6151" name="直接连接符 8"/>
          <p:cNvCxnSpPr>
            <a:cxnSpLocks noChangeShapeType="1"/>
          </p:cNvCxnSpPr>
          <p:nvPr/>
        </p:nvCxnSpPr>
        <p:spPr bwMode="auto">
          <a:xfrm>
            <a:off x="431800" y="1436688"/>
            <a:ext cx="1620838" cy="0"/>
          </a:xfrm>
          <a:prstGeom prst="line">
            <a:avLst/>
          </a:prstGeom>
          <a:noFill/>
          <a:ln w="19050" algn="ctr">
            <a:solidFill>
              <a:srgbClr val="000000"/>
            </a:solidFill>
            <a:round/>
          </a:ln>
        </p:spPr>
      </p:cxnSp>
      <p:sp>
        <p:nvSpPr>
          <p:cNvPr id="6152" name="文本框 13"/>
          <p:cNvSpPr txBox="1">
            <a:spLocks noChangeArrowheads="1"/>
          </p:cNvSpPr>
          <p:nvPr/>
        </p:nvSpPr>
        <p:spPr bwMode="auto">
          <a:xfrm>
            <a:off x="7889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一级流程</a:t>
            </a:r>
          </a:p>
        </p:txBody>
      </p:sp>
      <p:sp>
        <p:nvSpPr>
          <p:cNvPr id="6153" name="Rectangle 12"/>
          <p:cNvSpPr>
            <a:spLocks noChangeArrowheads="1"/>
          </p:cNvSpPr>
          <p:nvPr/>
        </p:nvSpPr>
        <p:spPr bwMode="auto">
          <a:xfrm>
            <a:off x="395288" y="1854200"/>
            <a:ext cx="1728787"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1.0 </a:t>
            </a:r>
            <a:r>
              <a:rPr lang="zh-CN" altLang="en-US" sz="1200" b="1">
                <a:solidFill>
                  <a:schemeClr val="bg1">
                    <a:lumMod val="65000"/>
                  </a:schemeClr>
                </a:solidFill>
                <a:latin typeface="微软雅黑" panose="020B0503020204020204" charset="-122"/>
                <a:ea typeface="微软雅黑" panose="020B0503020204020204" charset="-122"/>
              </a:rPr>
              <a:t>战略规划管理</a:t>
            </a:r>
          </a:p>
        </p:txBody>
      </p:sp>
      <p:sp>
        <p:nvSpPr>
          <p:cNvPr id="6154" name="Rectangle 13"/>
          <p:cNvSpPr>
            <a:spLocks noChangeArrowheads="1"/>
          </p:cNvSpPr>
          <p:nvPr/>
        </p:nvSpPr>
        <p:spPr bwMode="auto">
          <a:xfrm>
            <a:off x="395288" y="2433638"/>
            <a:ext cx="1728787" cy="4191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2.0 </a:t>
            </a:r>
            <a:r>
              <a:rPr lang="zh-CN" altLang="en-US" sz="1200" b="1">
                <a:solidFill>
                  <a:schemeClr val="bg1">
                    <a:lumMod val="65000"/>
                  </a:schemeClr>
                </a:solidFill>
                <a:latin typeface="微软雅黑" panose="020B0503020204020204" charset="-122"/>
                <a:ea typeface="微软雅黑" panose="020B0503020204020204" charset="-122"/>
              </a:rPr>
              <a:t>投资决策管理</a:t>
            </a:r>
          </a:p>
        </p:txBody>
      </p:sp>
      <p:sp>
        <p:nvSpPr>
          <p:cNvPr id="6155" name="Rectangle 20"/>
          <p:cNvSpPr>
            <a:spLocks noChangeArrowheads="1"/>
          </p:cNvSpPr>
          <p:nvPr/>
        </p:nvSpPr>
        <p:spPr bwMode="auto">
          <a:xfrm>
            <a:off x="395288" y="4797425"/>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6.0 </a:t>
            </a:r>
            <a:r>
              <a:rPr lang="zh-CN" altLang="en-US" sz="1200" b="1">
                <a:solidFill>
                  <a:schemeClr val="bg1">
                    <a:lumMod val="65000"/>
                  </a:schemeClr>
                </a:solidFill>
                <a:latin typeface="微软雅黑" panose="020B0503020204020204" charset="-122"/>
                <a:ea typeface="微软雅黑" panose="020B0503020204020204" charset="-122"/>
              </a:rPr>
              <a:t>人力资源管理</a:t>
            </a:r>
          </a:p>
        </p:txBody>
      </p:sp>
      <p:sp>
        <p:nvSpPr>
          <p:cNvPr id="66" name="Rectangle 21"/>
          <p:cNvSpPr/>
          <p:nvPr/>
        </p:nvSpPr>
        <p:spPr>
          <a:xfrm>
            <a:off x="2771775" y="1854200"/>
            <a:ext cx="1728788"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 </a:t>
            </a:r>
            <a:r>
              <a:rPr lang="zh-CN" altLang="en-US" sz="1200" b="1" dirty="0">
                <a:solidFill>
                  <a:schemeClr val="bg1">
                    <a:lumMod val="65000"/>
                  </a:schemeClr>
                </a:solidFill>
                <a:latin typeface="微软雅黑" panose="020B0503020204020204" charset="-122"/>
                <a:ea typeface="微软雅黑" panose="020B0503020204020204" charset="-122"/>
              </a:rPr>
              <a:t>采购战略与规划</a:t>
            </a:r>
          </a:p>
        </p:txBody>
      </p:sp>
      <p:sp>
        <p:nvSpPr>
          <p:cNvPr id="67" name="Rectangle 22"/>
          <p:cNvSpPr/>
          <p:nvPr/>
        </p:nvSpPr>
        <p:spPr>
          <a:xfrm>
            <a:off x="2771775" y="2497138"/>
            <a:ext cx="1728788" cy="355600"/>
          </a:xfrm>
          <a:prstGeom prst="rect">
            <a:avLst/>
          </a:prstGeom>
          <a:solidFill>
            <a:srgbClr val="D6DBFE"/>
          </a:solidFill>
          <a:ln w="9525">
            <a:solidFill>
              <a:srgbClr val="000000"/>
            </a:solidFill>
            <a:miter lim="800000"/>
          </a:ln>
        </p:spPr>
        <p:txBody>
          <a:bodyPr wrap="none" lIns="72000" anchor="ctr"/>
          <a:lstStyle/>
          <a:p>
            <a:pPr fontAlgn="auto">
              <a:spcBef>
                <a:spcPct val="20000"/>
              </a:spcBef>
              <a:spcAft>
                <a:spcPts val="0"/>
              </a:spcAft>
              <a:buClr>
                <a:srgbClr val="000000"/>
              </a:buClr>
              <a:defRPr/>
            </a:pPr>
            <a:r>
              <a:rPr lang="en-US" altLang="zh-CN" sz="1200" b="1" dirty="0">
                <a:latin typeface="微软雅黑" panose="020B0503020204020204" charset="-122"/>
                <a:ea typeface="微软雅黑" panose="020B0503020204020204" charset="-122"/>
              </a:rPr>
              <a:t>5.2 </a:t>
            </a:r>
            <a:r>
              <a:rPr lang="zh-CN" altLang="en-US" sz="1200" b="1" dirty="0">
                <a:latin typeface="微软雅黑" panose="020B0503020204020204" charset="-122"/>
                <a:ea typeface="微软雅黑" panose="020B0503020204020204" charset="-122"/>
              </a:rPr>
              <a:t>供应链计划管理</a:t>
            </a:r>
          </a:p>
        </p:txBody>
      </p:sp>
      <p:sp>
        <p:nvSpPr>
          <p:cNvPr id="71" name="Rectangle 23"/>
          <p:cNvSpPr/>
          <p:nvPr/>
        </p:nvSpPr>
        <p:spPr>
          <a:xfrm>
            <a:off x="2771775" y="3071813"/>
            <a:ext cx="1728788"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5.3 </a:t>
            </a:r>
            <a:r>
              <a:rPr lang="zh-CN" altLang="en-US" sz="1200" b="1" dirty="0">
                <a:solidFill>
                  <a:schemeClr val="bg1">
                    <a:lumMod val="65000"/>
                  </a:schemeClr>
                </a:solidFill>
                <a:latin typeface="微软雅黑" panose="020B0503020204020204" charset="-122"/>
                <a:ea typeface="微软雅黑" panose="020B0503020204020204" charset="-122"/>
              </a:rPr>
              <a:t>供应商关系管理</a:t>
            </a:r>
            <a:endParaRPr lang="en-US" altLang="zh-CN" sz="1200" b="1" dirty="0">
              <a:solidFill>
                <a:schemeClr val="bg1">
                  <a:lumMod val="65000"/>
                </a:schemeClr>
              </a:solidFill>
              <a:latin typeface="微软雅黑" panose="020B0503020204020204" charset="-122"/>
              <a:ea typeface="微软雅黑" panose="020B0503020204020204" charset="-122"/>
            </a:endParaRPr>
          </a:p>
        </p:txBody>
      </p:sp>
      <p:sp>
        <p:nvSpPr>
          <p:cNvPr id="74" name="Rectangle 25"/>
          <p:cNvSpPr>
            <a:spLocks noChangeArrowheads="1"/>
          </p:cNvSpPr>
          <p:nvPr/>
        </p:nvSpPr>
        <p:spPr bwMode="auto">
          <a:xfrm>
            <a:off x="2779713" y="3644900"/>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a:spcBef>
                <a:spcPct val="20000"/>
              </a:spcBef>
              <a:buClr>
                <a:schemeClr val="tx1"/>
              </a:buClr>
              <a:defRPr/>
            </a:pPr>
            <a:r>
              <a:rPr lang="en-US" altLang="zh-CN" sz="1200" b="1">
                <a:solidFill>
                  <a:schemeClr val="bg1">
                    <a:lumMod val="65000"/>
                  </a:schemeClr>
                </a:solidFill>
                <a:latin typeface="微软雅黑" panose="020B0503020204020204" charset="-122"/>
                <a:ea typeface="微软雅黑" panose="020B0503020204020204" charset="-122"/>
              </a:rPr>
              <a:t>5.4 </a:t>
            </a:r>
            <a:r>
              <a:rPr lang="zh-CN" altLang="en-US" sz="1200" b="1">
                <a:solidFill>
                  <a:schemeClr val="bg1">
                    <a:lumMod val="65000"/>
                  </a:schemeClr>
                </a:solidFill>
                <a:latin typeface="微软雅黑" panose="020B0503020204020204" charset="-122"/>
                <a:ea typeface="微软雅黑" panose="020B0503020204020204" charset="-122"/>
              </a:rPr>
              <a:t>战略采购</a:t>
            </a:r>
          </a:p>
        </p:txBody>
      </p:sp>
      <p:sp>
        <p:nvSpPr>
          <p:cNvPr id="75" name="Rectangle 26"/>
          <p:cNvSpPr/>
          <p:nvPr/>
        </p:nvSpPr>
        <p:spPr>
          <a:xfrm>
            <a:off x="2779713" y="4224338"/>
            <a:ext cx="1728787"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5.5 </a:t>
            </a:r>
            <a:r>
              <a:rPr lang="zh-CN" altLang="en-US" sz="1200" b="1" dirty="0">
                <a:solidFill>
                  <a:schemeClr val="bg1">
                    <a:lumMod val="65000"/>
                  </a:schemeClr>
                </a:solidFill>
                <a:latin typeface="微软雅黑" panose="020B0503020204020204" charset="-122"/>
                <a:ea typeface="微软雅黑" panose="020B0503020204020204" charset="-122"/>
              </a:rPr>
              <a:t>采购执行与支持</a:t>
            </a:r>
          </a:p>
        </p:txBody>
      </p:sp>
      <p:cxnSp>
        <p:nvCxnSpPr>
          <p:cNvPr id="6161" name="Straight Connector 39"/>
          <p:cNvCxnSpPr>
            <a:cxnSpLocks noChangeShapeType="1"/>
            <a:stCxn id="105" idx="3"/>
            <a:endCxn id="67" idx="1"/>
          </p:cNvCxnSpPr>
          <p:nvPr/>
        </p:nvCxnSpPr>
        <p:spPr bwMode="auto">
          <a:xfrm flipV="1">
            <a:off x="2124075" y="2674938"/>
            <a:ext cx="647700" cy="1728787"/>
          </a:xfrm>
          <a:prstGeom prst="bentConnector3">
            <a:avLst>
              <a:gd name="adj1" fmla="val 50000"/>
            </a:avLst>
          </a:prstGeom>
          <a:noFill/>
          <a:ln w="9525" algn="ctr">
            <a:solidFill>
              <a:srgbClr val="000000"/>
            </a:solidFill>
            <a:round/>
          </a:ln>
        </p:spPr>
      </p:cxnSp>
      <p:cxnSp>
        <p:nvCxnSpPr>
          <p:cNvPr id="6162" name="Straight Connector 41"/>
          <p:cNvCxnSpPr>
            <a:cxnSpLocks noChangeShapeType="1"/>
            <a:endCxn id="66" idx="1"/>
          </p:cNvCxnSpPr>
          <p:nvPr/>
        </p:nvCxnSpPr>
        <p:spPr bwMode="auto">
          <a:xfrm flipV="1">
            <a:off x="2143125" y="2033588"/>
            <a:ext cx="628650" cy="2365375"/>
          </a:xfrm>
          <a:prstGeom prst="bentConnector3">
            <a:avLst>
              <a:gd name="adj1" fmla="val 50000"/>
            </a:avLst>
          </a:prstGeom>
          <a:noFill/>
          <a:ln w="9525" algn="ctr">
            <a:solidFill>
              <a:srgbClr val="000000"/>
            </a:solidFill>
            <a:round/>
          </a:ln>
        </p:spPr>
      </p:cxnSp>
      <p:cxnSp>
        <p:nvCxnSpPr>
          <p:cNvPr id="6163" name="Elbow Connector 43"/>
          <p:cNvCxnSpPr>
            <a:cxnSpLocks noChangeShapeType="1"/>
            <a:stCxn id="105" idx="3"/>
            <a:endCxn id="71" idx="1"/>
          </p:cNvCxnSpPr>
          <p:nvPr/>
        </p:nvCxnSpPr>
        <p:spPr bwMode="auto">
          <a:xfrm flipV="1">
            <a:off x="2124075" y="3251200"/>
            <a:ext cx="647700" cy="1152525"/>
          </a:xfrm>
          <a:prstGeom prst="bentConnector3">
            <a:avLst>
              <a:gd name="adj1" fmla="val 50000"/>
            </a:avLst>
          </a:prstGeom>
          <a:noFill/>
          <a:ln w="9525" algn="ctr">
            <a:solidFill>
              <a:srgbClr val="000000"/>
            </a:solidFill>
            <a:round/>
          </a:ln>
        </p:spPr>
      </p:cxnSp>
      <p:cxnSp>
        <p:nvCxnSpPr>
          <p:cNvPr id="6164" name="Elbow Connector 47"/>
          <p:cNvCxnSpPr>
            <a:cxnSpLocks noChangeShapeType="1"/>
            <a:stCxn id="105" idx="3"/>
            <a:endCxn id="74" idx="1"/>
          </p:cNvCxnSpPr>
          <p:nvPr/>
        </p:nvCxnSpPr>
        <p:spPr bwMode="auto">
          <a:xfrm flipV="1">
            <a:off x="2124075" y="3822700"/>
            <a:ext cx="655638" cy="581025"/>
          </a:xfrm>
          <a:prstGeom prst="bentConnector3">
            <a:avLst>
              <a:gd name="adj1" fmla="val 50000"/>
            </a:avLst>
          </a:prstGeom>
          <a:noFill/>
          <a:ln w="9525" algn="ctr">
            <a:solidFill>
              <a:srgbClr val="000000"/>
            </a:solidFill>
            <a:round/>
          </a:ln>
        </p:spPr>
      </p:cxnSp>
      <p:cxnSp>
        <p:nvCxnSpPr>
          <p:cNvPr id="6165" name="Elbow Connector 49"/>
          <p:cNvCxnSpPr>
            <a:cxnSpLocks noChangeShapeType="1"/>
            <a:stCxn id="105" idx="3"/>
            <a:endCxn id="75" idx="1"/>
          </p:cNvCxnSpPr>
          <p:nvPr/>
        </p:nvCxnSpPr>
        <p:spPr bwMode="auto">
          <a:xfrm flipV="1">
            <a:off x="2124075" y="4402138"/>
            <a:ext cx="655638" cy="1587"/>
          </a:xfrm>
          <a:prstGeom prst="bentConnector3">
            <a:avLst>
              <a:gd name="adj1" fmla="val 50000"/>
            </a:avLst>
          </a:prstGeom>
          <a:noFill/>
          <a:ln w="9525" algn="ctr">
            <a:solidFill>
              <a:srgbClr val="000000"/>
            </a:solidFill>
            <a:round/>
          </a:ln>
        </p:spPr>
      </p:cxnSp>
      <p:cxnSp>
        <p:nvCxnSpPr>
          <p:cNvPr id="6166" name="Elbow Connector 68"/>
          <p:cNvCxnSpPr>
            <a:cxnSpLocks noChangeShapeType="1"/>
            <a:stCxn id="105" idx="3"/>
            <a:endCxn id="74" idx="1"/>
          </p:cNvCxnSpPr>
          <p:nvPr/>
        </p:nvCxnSpPr>
        <p:spPr bwMode="auto">
          <a:xfrm flipV="1">
            <a:off x="2124075" y="3822700"/>
            <a:ext cx="655638" cy="581025"/>
          </a:xfrm>
          <a:prstGeom prst="bentConnector3">
            <a:avLst>
              <a:gd name="adj1" fmla="val 50000"/>
            </a:avLst>
          </a:prstGeom>
          <a:noFill/>
          <a:ln w="9525" algn="ctr">
            <a:solidFill>
              <a:srgbClr val="000000"/>
            </a:solidFill>
            <a:round/>
          </a:ln>
        </p:spPr>
      </p:cxnSp>
      <p:sp>
        <p:nvSpPr>
          <p:cNvPr id="6167" name="Rectangle 15"/>
          <p:cNvSpPr>
            <a:spLocks noChangeArrowheads="1"/>
          </p:cNvSpPr>
          <p:nvPr/>
        </p:nvSpPr>
        <p:spPr bwMode="auto">
          <a:xfrm>
            <a:off x="395288" y="3052763"/>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3.0 </a:t>
            </a:r>
            <a:r>
              <a:rPr lang="zh-CN" altLang="en-US" sz="1200" b="1">
                <a:solidFill>
                  <a:schemeClr val="bg1">
                    <a:lumMod val="65000"/>
                  </a:schemeClr>
                </a:solidFill>
                <a:latin typeface="微软雅黑" panose="020B0503020204020204" charset="-122"/>
                <a:ea typeface="微软雅黑" panose="020B0503020204020204" charset="-122"/>
              </a:rPr>
              <a:t>研发与创新</a:t>
            </a:r>
          </a:p>
        </p:txBody>
      </p:sp>
      <p:sp>
        <p:nvSpPr>
          <p:cNvPr id="100" name="Rectangle 26"/>
          <p:cNvSpPr/>
          <p:nvPr/>
        </p:nvSpPr>
        <p:spPr>
          <a:xfrm>
            <a:off x="2779713" y="4800600"/>
            <a:ext cx="1728787"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5.6 </a:t>
            </a:r>
            <a:r>
              <a:rPr lang="zh-CN" altLang="en-US" sz="1200" b="1" dirty="0">
                <a:solidFill>
                  <a:schemeClr val="bg1">
                    <a:lumMod val="65000"/>
                  </a:schemeClr>
                </a:solidFill>
                <a:latin typeface="微软雅黑" panose="020B0503020204020204" charset="-122"/>
                <a:ea typeface="微软雅黑" panose="020B0503020204020204" charset="-122"/>
              </a:rPr>
              <a:t>物流管理</a:t>
            </a:r>
          </a:p>
        </p:txBody>
      </p:sp>
      <p:cxnSp>
        <p:nvCxnSpPr>
          <p:cNvPr id="6169" name="肘形连接符 25"/>
          <p:cNvCxnSpPr>
            <a:cxnSpLocks noChangeShapeType="1"/>
          </p:cNvCxnSpPr>
          <p:nvPr/>
        </p:nvCxnSpPr>
        <p:spPr bwMode="auto">
          <a:xfrm>
            <a:off x="2143125" y="4398963"/>
            <a:ext cx="636588" cy="504825"/>
          </a:xfrm>
          <a:prstGeom prst="bentConnector3">
            <a:avLst>
              <a:gd name="adj1" fmla="val 45556"/>
            </a:avLst>
          </a:prstGeom>
          <a:noFill/>
          <a:ln w="9525" algn="ctr">
            <a:solidFill>
              <a:schemeClr val="tx1"/>
            </a:solidFill>
            <a:round/>
          </a:ln>
        </p:spPr>
      </p:cxnSp>
      <p:sp>
        <p:nvSpPr>
          <p:cNvPr id="103" name="Rectangle 20"/>
          <p:cNvSpPr/>
          <p:nvPr/>
        </p:nvSpPr>
        <p:spPr>
          <a:xfrm>
            <a:off x="395288" y="5445125"/>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a:t>
            </a:r>
            <a:endParaRPr lang="zh-CN" altLang="en-US" sz="1200" b="1" dirty="0">
              <a:solidFill>
                <a:schemeClr val="bg1">
                  <a:lumMod val="65000"/>
                </a:schemeClr>
              </a:solidFill>
              <a:latin typeface="微软雅黑" panose="020B0503020204020204" charset="-122"/>
              <a:ea typeface="微软雅黑" panose="020B0503020204020204" charset="-122"/>
            </a:endParaRPr>
          </a:p>
        </p:txBody>
      </p:sp>
      <p:sp>
        <p:nvSpPr>
          <p:cNvPr id="6171" name="Rectangle 15"/>
          <p:cNvSpPr>
            <a:spLocks noChangeArrowheads="1"/>
          </p:cNvSpPr>
          <p:nvPr/>
        </p:nvSpPr>
        <p:spPr bwMode="auto">
          <a:xfrm>
            <a:off x="395288" y="3644900"/>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4.0 </a:t>
            </a:r>
            <a:r>
              <a:rPr lang="zh-CN" altLang="en-US" sz="1200" b="1">
                <a:solidFill>
                  <a:schemeClr val="bg1">
                    <a:lumMod val="65000"/>
                  </a:schemeClr>
                </a:solidFill>
                <a:latin typeface="微软雅黑" panose="020B0503020204020204" charset="-122"/>
                <a:ea typeface="微软雅黑" panose="020B0503020204020204" charset="-122"/>
              </a:rPr>
              <a:t>营销与服务</a:t>
            </a:r>
          </a:p>
        </p:txBody>
      </p:sp>
      <p:sp>
        <p:nvSpPr>
          <p:cNvPr id="105" name="Rectangle 24"/>
          <p:cNvSpPr>
            <a:spLocks noChangeArrowheads="1"/>
          </p:cNvSpPr>
          <p:nvPr/>
        </p:nvSpPr>
        <p:spPr bwMode="auto">
          <a:xfrm>
            <a:off x="395288" y="4225925"/>
            <a:ext cx="1728787" cy="355600"/>
          </a:xfrm>
          <a:prstGeom prst="rect">
            <a:avLst/>
          </a:prstGeom>
          <a:solidFill>
            <a:srgbClr val="D6DBFE"/>
          </a:solidFill>
          <a:ln w="9525">
            <a:solidFill>
              <a:srgbClr val="000000"/>
            </a:solidFill>
            <a:miter lim="800000"/>
          </a:ln>
        </p:spPr>
        <p:txBody>
          <a:bodyPr wrap="none" lIns="72000" anchor="ctr"/>
          <a:lstStyle/>
          <a:p>
            <a:pPr>
              <a:spcBef>
                <a:spcPct val="20000"/>
              </a:spcBef>
              <a:defRPr/>
            </a:pPr>
            <a:r>
              <a:rPr lang="en-US" altLang="zh-CN" sz="1200" b="1">
                <a:latin typeface="微软雅黑" panose="020B0503020204020204" charset="-122"/>
                <a:ea typeface="微软雅黑" panose="020B0503020204020204" charset="-122"/>
              </a:rPr>
              <a:t>5.0 </a:t>
            </a:r>
            <a:r>
              <a:rPr lang="zh-CN" altLang="en-US" sz="1200" b="1">
                <a:latin typeface="微软雅黑" panose="020B0503020204020204" charset="-122"/>
                <a:ea typeface="微软雅黑" panose="020B0503020204020204" charset="-122"/>
              </a:rPr>
              <a:t>制造与商务</a:t>
            </a:r>
          </a:p>
        </p:txBody>
      </p:sp>
      <p:sp>
        <p:nvSpPr>
          <p:cNvPr id="106" name="Rectangle 26"/>
          <p:cNvSpPr/>
          <p:nvPr/>
        </p:nvSpPr>
        <p:spPr>
          <a:xfrm>
            <a:off x="2771775" y="5437188"/>
            <a:ext cx="1728788"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5.7 </a:t>
            </a:r>
            <a:r>
              <a:rPr lang="zh-CN" altLang="en-US" sz="1200" b="1" dirty="0">
                <a:solidFill>
                  <a:schemeClr val="bg1">
                    <a:lumMod val="65000"/>
                  </a:schemeClr>
                </a:solidFill>
                <a:latin typeface="微软雅黑" panose="020B0503020204020204" charset="-122"/>
                <a:ea typeface="微软雅黑" panose="020B0503020204020204" charset="-122"/>
              </a:rPr>
              <a:t>制造管理</a:t>
            </a:r>
          </a:p>
        </p:txBody>
      </p:sp>
      <p:sp>
        <p:nvSpPr>
          <p:cNvPr id="107" name="Rectangle 21"/>
          <p:cNvSpPr/>
          <p:nvPr/>
        </p:nvSpPr>
        <p:spPr>
          <a:xfrm>
            <a:off x="5267325" y="1793875"/>
            <a:ext cx="2159000" cy="25241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5.1.1</a:t>
            </a:r>
            <a:r>
              <a:rPr lang="zh-CN" altLang="en-US" sz="1200" b="1" dirty="0">
                <a:solidFill>
                  <a:schemeClr val="bg1">
                    <a:lumMod val="65000"/>
                  </a:schemeClr>
                </a:solidFill>
                <a:latin typeface="微软雅黑" panose="020B0503020204020204" charset="-122"/>
                <a:ea typeface="微软雅黑" panose="020B0503020204020204" charset="-122"/>
              </a:rPr>
              <a:t>供应链战略分析和制定 </a:t>
            </a:r>
          </a:p>
        </p:txBody>
      </p:sp>
      <p:sp>
        <p:nvSpPr>
          <p:cNvPr id="108" name="Rectangle 21"/>
          <p:cNvSpPr/>
          <p:nvPr/>
        </p:nvSpPr>
        <p:spPr>
          <a:xfrm>
            <a:off x="5273675" y="3748091"/>
            <a:ext cx="2160588" cy="25241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5.1.7</a:t>
            </a:r>
            <a:r>
              <a:rPr lang="zh-CN" altLang="en-US" sz="1200" b="1" dirty="0">
                <a:solidFill>
                  <a:schemeClr val="bg1">
                    <a:lumMod val="65000"/>
                  </a:schemeClr>
                </a:solidFill>
                <a:latin typeface="微软雅黑" panose="020B0503020204020204" charset="-122"/>
                <a:ea typeface="微软雅黑" panose="020B0503020204020204" charset="-122"/>
              </a:rPr>
              <a:t>采购绩效管理</a:t>
            </a:r>
          </a:p>
        </p:txBody>
      </p:sp>
      <p:sp>
        <p:nvSpPr>
          <p:cNvPr id="109" name="Rectangle 21"/>
          <p:cNvSpPr/>
          <p:nvPr/>
        </p:nvSpPr>
        <p:spPr>
          <a:xfrm>
            <a:off x="5267325" y="2120107"/>
            <a:ext cx="2159000" cy="2508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5.1.2</a:t>
            </a:r>
            <a:r>
              <a:rPr lang="zh-CN" altLang="en-US" sz="1200" b="1" dirty="0">
                <a:solidFill>
                  <a:schemeClr val="bg1">
                    <a:lumMod val="65000"/>
                  </a:schemeClr>
                </a:solidFill>
                <a:latin typeface="微软雅黑" panose="020B0503020204020204" charset="-122"/>
                <a:ea typeface="微软雅黑" panose="020B0503020204020204" charset="-122"/>
              </a:rPr>
              <a:t>供应链战略资产规划</a:t>
            </a:r>
          </a:p>
        </p:txBody>
      </p:sp>
      <p:sp>
        <p:nvSpPr>
          <p:cNvPr id="110" name="Rectangle 21"/>
          <p:cNvSpPr/>
          <p:nvPr/>
        </p:nvSpPr>
        <p:spPr>
          <a:xfrm>
            <a:off x="5267325" y="2444751"/>
            <a:ext cx="2159000" cy="2508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5.1.3</a:t>
            </a:r>
            <a:r>
              <a:rPr lang="zh-CN" altLang="en-US" sz="1200" b="1" dirty="0">
                <a:solidFill>
                  <a:schemeClr val="bg1">
                    <a:lumMod val="65000"/>
                  </a:schemeClr>
                </a:solidFill>
                <a:latin typeface="微软雅黑" panose="020B0503020204020204" charset="-122"/>
                <a:ea typeface="微软雅黑" panose="020B0503020204020204" charset="-122"/>
              </a:rPr>
              <a:t>供应链运营模式设计</a:t>
            </a:r>
          </a:p>
        </p:txBody>
      </p:sp>
      <p:sp>
        <p:nvSpPr>
          <p:cNvPr id="111" name="Rectangle 21"/>
          <p:cNvSpPr/>
          <p:nvPr/>
        </p:nvSpPr>
        <p:spPr>
          <a:xfrm>
            <a:off x="5267325" y="3421857"/>
            <a:ext cx="2159000" cy="25241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5.1.6</a:t>
            </a:r>
            <a:r>
              <a:rPr lang="zh-CN" altLang="en-US" sz="1200" b="1" dirty="0">
                <a:solidFill>
                  <a:schemeClr val="bg1">
                    <a:lumMod val="65000"/>
                  </a:schemeClr>
                </a:solidFill>
                <a:latin typeface="微软雅黑" panose="020B0503020204020204" charset="-122"/>
                <a:ea typeface="微软雅黑" panose="020B0503020204020204" charset="-122"/>
              </a:rPr>
              <a:t>运输策略制定</a:t>
            </a:r>
          </a:p>
        </p:txBody>
      </p:sp>
      <p:sp>
        <p:nvSpPr>
          <p:cNvPr id="112" name="Rectangle 21"/>
          <p:cNvSpPr/>
          <p:nvPr/>
        </p:nvSpPr>
        <p:spPr>
          <a:xfrm>
            <a:off x="5262563" y="3095626"/>
            <a:ext cx="2159000" cy="25241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5.1.5</a:t>
            </a:r>
            <a:r>
              <a:rPr lang="zh-CN" altLang="en-US" sz="1200" b="1" dirty="0">
                <a:solidFill>
                  <a:schemeClr val="bg1">
                    <a:lumMod val="65000"/>
                  </a:schemeClr>
                </a:solidFill>
                <a:latin typeface="微软雅黑" panose="020B0503020204020204" charset="-122"/>
                <a:ea typeface="微软雅黑" panose="020B0503020204020204" charset="-122"/>
              </a:rPr>
              <a:t>仓储策略制定</a:t>
            </a:r>
          </a:p>
        </p:txBody>
      </p:sp>
      <p:sp>
        <p:nvSpPr>
          <p:cNvPr id="113" name="Rectangle 21"/>
          <p:cNvSpPr/>
          <p:nvPr/>
        </p:nvSpPr>
        <p:spPr>
          <a:xfrm>
            <a:off x="5267325" y="2769395"/>
            <a:ext cx="2159000" cy="25241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5.1.4</a:t>
            </a:r>
            <a:r>
              <a:rPr lang="zh-CN" altLang="en-US" sz="1200" b="1" dirty="0">
                <a:solidFill>
                  <a:schemeClr val="bg1">
                    <a:lumMod val="65000"/>
                  </a:schemeClr>
                </a:solidFill>
                <a:latin typeface="微软雅黑" panose="020B0503020204020204" charset="-122"/>
                <a:ea typeface="微软雅黑" panose="020B0503020204020204" charset="-122"/>
              </a:rPr>
              <a:t>供应链网络规划</a:t>
            </a:r>
          </a:p>
        </p:txBody>
      </p:sp>
      <p:sp>
        <p:nvSpPr>
          <p:cNvPr id="127" name="Rectangle 21"/>
          <p:cNvSpPr/>
          <p:nvPr/>
        </p:nvSpPr>
        <p:spPr>
          <a:xfrm>
            <a:off x="5273675" y="5712768"/>
            <a:ext cx="2160588" cy="288000"/>
          </a:xfrm>
          <a:prstGeom prst="rect">
            <a:avLst/>
          </a:prstGeom>
          <a:solidFill>
            <a:srgbClr val="92D05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5.2.4</a:t>
            </a:r>
            <a:r>
              <a:rPr lang="zh-CN" altLang="en-US" sz="1200" b="1" kern="0" dirty="0">
                <a:latin typeface="微软雅黑" panose="020B0503020204020204" charset="-122"/>
                <a:ea typeface="微软雅黑" panose="020B0503020204020204" charset="-122"/>
              </a:rPr>
              <a:t>生产计划创建</a:t>
            </a:r>
          </a:p>
        </p:txBody>
      </p:sp>
      <p:cxnSp>
        <p:nvCxnSpPr>
          <p:cNvPr id="6188" name="肘形连接符 6"/>
          <p:cNvCxnSpPr>
            <a:cxnSpLocks noChangeShapeType="1"/>
            <a:stCxn id="105" idx="3"/>
            <a:endCxn id="106" idx="1"/>
          </p:cNvCxnSpPr>
          <p:nvPr/>
        </p:nvCxnSpPr>
        <p:spPr bwMode="auto">
          <a:xfrm>
            <a:off x="2124075" y="4403725"/>
            <a:ext cx="647700" cy="1212850"/>
          </a:xfrm>
          <a:prstGeom prst="bentConnector3">
            <a:avLst>
              <a:gd name="adj1" fmla="val 50000"/>
            </a:avLst>
          </a:prstGeom>
          <a:noFill/>
          <a:ln w="9525" algn="ctr">
            <a:solidFill>
              <a:schemeClr val="tx1"/>
            </a:solidFill>
            <a:round/>
          </a:ln>
        </p:spPr>
      </p:cxnSp>
      <p:cxnSp>
        <p:nvCxnSpPr>
          <p:cNvPr id="6189" name="肘形连接符 9"/>
          <p:cNvCxnSpPr>
            <a:cxnSpLocks noChangeShapeType="1"/>
            <a:stCxn id="67" idx="3"/>
            <a:endCxn id="127" idx="1"/>
          </p:cNvCxnSpPr>
          <p:nvPr/>
        </p:nvCxnSpPr>
        <p:spPr bwMode="auto">
          <a:xfrm>
            <a:off x="4500563" y="2674938"/>
            <a:ext cx="773112" cy="3181830"/>
          </a:xfrm>
          <a:prstGeom prst="bentConnector3">
            <a:avLst>
              <a:gd name="adj1" fmla="val 50000"/>
            </a:avLst>
          </a:prstGeom>
          <a:noFill/>
          <a:ln w="9525" algn="ctr">
            <a:solidFill>
              <a:schemeClr val="tx1"/>
            </a:solidFill>
            <a:round/>
          </a:ln>
        </p:spPr>
      </p:cxnSp>
      <p:cxnSp>
        <p:nvCxnSpPr>
          <p:cNvPr id="6196" name="肘形连接符 39"/>
          <p:cNvCxnSpPr>
            <a:cxnSpLocks noChangeShapeType="1"/>
            <a:stCxn id="66" idx="3"/>
            <a:endCxn id="108" idx="1"/>
          </p:cNvCxnSpPr>
          <p:nvPr/>
        </p:nvCxnSpPr>
        <p:spPr bwMode="auto">
          <a:xfrm>
            <a:off x="4500563" y="2032794"/>
            <a:ext cx="773112" cy="1841504"/>
          </a:xfrm>
          <a:prstGeom prst="bentConnector3">
            <a:avLst>
              <a:gd name="adj1" fmla="val 59387"/>
            </a:avLst>
          </a:prstGeom>
          <a:noFill/>
          <a:ln w="9525" algn="ctr">
            <a:solidFill>
              <a:schemeClr val="tx1"/>
            </a:solidFill>
            <a:round/>
          </a:ln>
        </p:spPr>
      </p:cxnSp>
      <p:cxnSp>
        <p:nvCxnSpPr>
          <p:cNvPr id="6197" name="直接连接符 151"/>
          <p:cNvCxnSpPr>
            <a:cxnSpLocks noChangeShapeType="1"/>
            <a:endCxn id="110" idx="1"/>
          </p:cNvCxnSpPr>
          <p:nvPr/>
        </p:nvCxnSpPr>
        <p:spPr bwMode="auto">
          <a:xfrm>
            <a:off x="4957763" y="2497138"/>
            <a:ext cx="287337" cy="0"/>
          </a:xfrm>
          <a:prstGeom prst="line">
            <a:avLst/>
          </a:prstGeom>
          <a:noFill/>
          <a:ln w="9525" algn="ctr">
            <a:solidFill>
              <a:schemeClr val="tx1"/>
            </a:solidFill>
            <a:round/>
          </a:ln>
        </p:spPr>
      </p:cxnSp>
      <p:cxnSp>
        <p:nvCxnSpPr>
          <p:cNvPr id="6198" name="直接连接符 153"/>
          <p:cNvCxnSpPr>
            <a:cxnSpLocks noChangeShapeType="1"/>
          </p:cNvCxnSpPr>
          <p:nvPr/>
        </p:nvCxnSpPr>
        <p:spPr bwMode="auto">
          <a:xfrm>
            <a:off x="4957763" y="2781300"/>
            <a:ext cx="287337" cy="0"/>
          </a:xfrm>
          <a:prstGeom prst="line">
            <a:avLst/>
          </a:prstGeom>
          <a:noFill/>
          <a:ln w="9525" algn="ctr">
            <a:solidFill>
              <a:schemeClr val="tx1"/>
            </a:solidFill>
            <a:round/>
          </a:ln>
        </p:spPr>
      </p:cxnSp>
      <p:cxnSp>
        <p:nvCxnSpPr>
          <p:cNvPr id="6199" name="直接连接符 155"/>
          <p:cNvCxnSpPr>
            <a:cxnSpLocks noChangeShapeType="1"/>
          </p:cNvCxnSpPr>
          <p:nvPr/>
        </p:nvCxnSpPr>
        <p:spPr bwMode="auto">
          <a:xfrm>
            <a:off x="4968875" y="3090863"/>
            <a:ext cx="287338" cy="0"/>
          </a:xfrm>
          <a:prstGeom prst="line">
            <a:avLst/>
          </a:prstGeom>
          <a:noFill/>
          <a:ln w="9525" algn="ctr">
            <a:solidFill>
              <a:schemeClr val="tx1"/>
            </a:solidFill>
            <a:round/>
          </a:ln>
        </p:spPr>
      </p:cxnSp>
      <p:cxnSp>
        <p:nvCxnSpPr>
          <p:cNvPr id="6200" name="直接连接符 156"/>
          <p:cNvCxnSpPr>
            <a:cxnSpLocks noChangeShapeType="1"/>
          </p:cNvCxnSpPr>
          <p:nvPr/>
        </p:nvCxnSpPr>
        <p:spPr bwMode="auto">
          <a:xfrm>
            <a:off x="4968875" y="3376613"/>
            <a:ext cx="323850" cy="0"/>
          </a:xfrm>
          <a:prstGeom prst="line">
            <a:avLst/>
          </a:prstGeom>
          <a:noFill/>
          <a:ln w="9525" algn="ctr">
            <a:solidFill>
              <a:schemeClr val="tx1"/>
            </a:solidFill>
            <a:round/>
          </a:ln>
        </p:spPr>
      </p:cxnSp>
      <p:cxnSp>
        <p:nvCxnSpPr>
          <p:cNvPr id="6201" name="直接连接符 157"/>
          <p:cNvCxnSpPr>
            <a:cxnSpLocks noChangeShapeType="1"/>
          </p:cNvCxnSpPr>
          <p:nvPr/>
        </p:nvCxnSpPr>
        <p:spPr bwMode="auto">
          <a:xfrm>
            <a:off x="4968875" y="2201863"/>
            <a:ext cx="287338" cy="0"/>
          </a:xfrm>
          <a:prstGeom prst="line">
            <a:avLst/>
          </a:prstGeom>
          <a:noFill/>
          <a:ln w="9525" algn="ctr">
            <a:solidFill>
              <a:schemeClr val="tx1"/>
            </a:solidFill>
            <a:round/>
          </a:ln>
        </p:spPr>
      </p:cxnSp>
      <p:cxnSp>
        <p:nvCxnSpPr>
          <p:cNvPr id="6202" name="肘形连接符 5216"/>
          <p:cNvCxnSpPr>
            <a:cxnSpLocks noChangeShapeType="1"/>
            <a:stCxn id="66" idx="3"/>
            <a:endCxn id="107" idx="1"/>
          </p:cNvCxnSpPr>
          <p:nvPr/>
        </p:nvCxnSpPr>
        <p:spPr bwMode="auto">
          <a:xfrm flipV="1">
            <a:off x="4500563" y="1920082"/>
            <a:ext cx="766762" cy="112712"/>
          </a:xfrm>
          <a:prstGeom prst="bentConnector3">
            <a:avLst>
              <a:gd name="adj1" fmla="val 59465"/>
            </a:avLst>
          </a:prstGeom>
          <a:noFill/>
          <a:ln w="9525" algn="ctr">
            <a:solidFill>
              <a:schemeClr val="tx1"/>
            </a:solidFill>
            <a:round/>
          </a:ln>
        </p:spPr>
      </p:cxnSp>
      <p:cxnSp>
        <p:nvCxnSpPr>
          <p:cNvPr id="64" name="直接连接符 22"/>
          <p:cNvCxnSpPr>
            <a:cxnSpLocks noChangeShapeType="1"/>
          </p:cNvCxnSpPr>
          <p:nvPr/>
        </p:nvCxnSpPr>
        <p:spPr bwMode="auto">
          <a:xfrm>
            <a:off x="4887913" y="4643446"/>
            <a:ext cx="384175" cy="0"/>
          </a:xfrm>
          <a:prstGeom prst="line">
            <a:avLst/>
          </a:prstGeom>
          <a:noFill/>
          <a:ln w="9525" algn="ctr">
            <a:solidFill>
              <a:schemeClr val="tx1"/>
            </a:solidFill>
            <a:round/>
          </a:ln>
        </p:spPr>
      </p:cxnSp>
      <p:cxnSp>
        <p:nvCxnSpPr>
          <p:cNvPr id="65" name="直接连接符 22"/>
          <p:cNvCxnSpPr>
            <a:cxnSpLocks noChangeShapeType="1"/>
          </p:cNvCxnSpPr>
          <p:nvPr/>
        </p:nvCxnSpPr>
        <p:spPr bwMode="auto">
          <a:xfrm>
            <a:off x="4902205" y="5043046"/>
            <a:ext cx="384175" cy="0"/>
          </a:xfrm>
          <a:prstGeom prst="line">
            <a:avLst/>
          </a:prstGeom>
          <a:noFill/>
          <a:ln w="9525" algn="ctr">
            <a:solidFill>
              <a:schemeClr val="tx1"/>
            </a:solidFill>
            <a:round/>
          </a:ln>
        </p:spPr>
      </p:cxnSp>
      <p:cxnSp>
        <p:nvCxnSpPr>
          <p:cNvPr id="68" name="直接连接符 22"/>
          <p:cNvCxnSpPr>
            <a:cxnSpLocks noChangeShapeType="1"/>
          </p:cNvCxnSpPr>
          <p:nvPr/>
        </p:nvCxnSpPr>
        <p:spPr bwMode="auto">
          <a:xfrm>
            <a:off x="4885648" y="5429264"/>
            <a:ext cx="384175" cy="0"/>
          </a:xfrm>
          <a:prstGeom prst="line">
            <a:avLst/>
          </a:prstGeom>
          <a:noFill/>
          <a:ln w="9525" algn="ctr">
            <a:solidFill>
              <a:schemeClr val="tx1"/>
            </a:solidFill>
            <a:round/>
          </a:ln>
        </p:spPr>
      </p:cxnSp>
      <p:sp>
        <p:nvSpPr>
          <p:cNvPr id="121" name="Rectangle 21"/>
          <p:cNvSpPr/>
          <p:nvPr/>
        </p:nvSpPr>
        <p:spPr>
          <a:xfrm>
            <a:off x="5272088" y="4495156"/>
            <a:ext cx="2160587" cy="288000"/>
          </a:xfrm>
          <a:prstGeom prst="rect">
            <a:avLst/>
          </a:prstGeom>
          <a:solidFill>
            <a:srgbClr val="92D05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5.2.1</a:t>
            </a:r>
            <a:r>
              <a:rPr lang="zh-CN" altLang="en-US" sz="1200" b="1" kern="0" dirty="0">
                <a:latin typeface="微软雅黑" panose="020B0503020204020204" charset="-122"/>
                <a:ea typeface="微软雅黑" panose="020B0503020204020204" charset="-122"/>
              </a:rPr>
              <a:t>整机库存管理</a:t>
            </a:r>
          </a:p>
        </p:txBody>
      </p:sp>
      <p:sp>
        <p:nvSpPr>
          <p:cNvPr id="123" name="Rectangle 21"/>
          <p:cNvSpPr/>
          <p:nvPr/>
        </p:nvSpPr>
        <p:spPr>
          <a:xfrm>
            <a:off x="5272088" y="4901027"/>
            <a:ext cx="2160587" cy="288000"/>
          </a:xfrm>
          <a:prstGeom prst="rect">
            <a:avLst/>
          </a:prstGeom>
          <a:solidFill>
            <a:srgbClr val="92D05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5.2.2</a:t>
            </a:r>
            <a:r>
              <a:rPr lang="zh-CN" altLang="en-US" sz="1200" b="1" kern="0" dirty="0">
                <a:latin typeface="微软雅黑" panose="020B0503020204020204" charset="-122"/>
                <a:ea typeface="微软雅黑" panose="020B0503020204020204" charset="-122"/>
              </a:rPr>
              <a:t>需求计划制定</a:t>
            </a:r>
          </a:p>
        </p:txBody>
      </p:sp>
      <p:sp>
        <p:nvSpPr>
          <p:cNvPr id="124" name="Rectangle 21"/>
          <p:cNvSpPr/>
          <p:nvPr/>
        </p:nvSpPr>
        <p:spPr>
          <a:xfrm>
            <a:off x="5272088" y="5306898"/>
            <a:ext cx="2160587" cy="288000"/>
          </a:xfrm>
          <a:prstGeom prst="rect">
            <a:avLst/>
          </a:prstGeom>
          <a:solidFill>
            <a:srgbClr val="92D05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5.2.3</a:t>
            </a:r>
            <a:r>
              <a:rPr lang="zh-CN" altLang="en-US" sz="1200" b="1" kern="0" dirty="0">
                <a:latin typeface="微软雅黑" panose="020B0503020204020204" charset="-122"/>
                <a:ea typeface="微软雅黑" panose="020B0503020204020204" charset="-122"/>
              </a:rPr>
              <a:t>资源配置</a:t>
            </a:r>
          </a:p>
        </p:txBody>
      </p:sp>
      <p:sp>
        <p:nvSpPr>
          <p:cNvPr id="69" name="矩形 68"/>
          <p:cNvSpPr/>
          <p:nvPr/>
        </p:nvSpPr>
        <p:spPr bwMode="auto">
          <a:xfrm>
            <a:off x="7215206" y="145532"/>
            <a:ext cx="900000" cy="276248"/>
          </a:xfrm>
          <a:prstGeom prst="rect">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zh-CN" altLang="en-US" sz="900" b="1" dirty="0">
                <a:solidFill>
                  <a:srgbClr val="000000"/>
                </a:solidFill>
                <a:latin typeface="微软雅黑" panose="020B0503020204020204" charset="-122"/>
                <a:ea typeface="微软雅黑" panose="020B0503020204020204" charset="-122"/>
              </a:rPr>
              <a:t>有流程</a:t>
            </a:r>
            <a:endParaRPr lang="en-US" altLang="zh-CN" sz="900" b="1" dirty="0">
              <a:solidFill>
                <a:srgbClr val="000000"/>
              </a:solidFill>
              <a:latin typeface="微软雅黑" panose="020B0503020204020204" charset="-122"/>
              <a:ea typeface="微软雅黑" panose="020B0503020204020204" charset="-122"/>
            </a:endParaRPr>
          </a:p>
        </p:txBody>
      </p:sp>
      <p:sp>
        <p:nvSpPr>
          <p:cNvPr id="70" name="矩形 69"/>
          <p:cNvSpPr/>
          <p:nvPr/>
        </p:nvSpPr>
        <p:spPr bwMode="auto">
          <a:xfrm>
            <a:off x="6215074" y="145532"/>
            <a:ext cx="900000" cy="276248"/>
          </a:xfrm>
          <a:prstGeom prst="rect">
            <a:avLst/>
          </a:prstGeom>
          <a:solidFill>
            <a:srgbClr val="92D050"/>
          </a:solidFill>
          <a:ln w="6350">
            <a:solidFill>
              <a:schemeClr val="tx1"/>
            </a:solidFill>
            <a:miter lim="800000"/>
          </a:ln>
        </p:spPr>
        <p:txBody>
          <a:bodyPr lIns="18000" tIns="36000" rIns="18000" bIns="36000" rtlCol="0" anchor="ctr">
            <a:noAutofit/>
          </a:bodyPr>
          <a:lstStyle/>
          <a:p>
            <a:pPr algn="ctr">
              <a:buClr>
                <a:schemeClr val="tx1"/>
              </a:buClr>
            </a:pPr>
            <a:r>
              <a:rPr lang="zh-CN" altLang="en-US" sz="900" b="1" dirty="0">
                <a:solidFill>
                  <a:sysClr val="windowText" lastClr="000000"/>
                </a:solidFill>
                <a:latin typeface="微软雅黑" panose="020B0503020204020204" charset="-122"/>
                <a:ea typeface="微软雅黑" panose="020B0503020204020204" charset="-122"/>
              </a:rPr>
              <a:t>无流程</a:t>
            </a:r>
            <a:endParaRPr lang="en-US" altLang="zh-CN" sz="900" b="1" dirty="0">
              <a:solidFill>
                <a:sysClr val="windowText" lastClr="000000"/>
              </a:solidFill>
              <a:latin typeface="微软雅黑" panose="020B0503020204020204" charset="-122"/>
              <a:ea typeface="微软雅黑" panose="020B0503020204020204" charset="-122"/>
            </a:endParaRPr>
          </a:p>
        </p:txBody>
      </p:sp>
      <p:sp>
        <p:nvSpPr>
          <p:cNvPr id="72" name="矩形 71"/>
          <p:cNvSpPr/>
          <p:nvPr/>
        </p:nvSpPr>
        <p:spPr bwMode="auto">
          <a:xfrm>
            <a:off x="5214942" y="152356"/>
            <a:ext cx="900000" cy="276248"/>
          </a:xfrm>
          <a:prstGeom prst="rect">
            <a:avLst/>
          </a:prstGeom>
          <a:solidFill>
            <a:schemeClr val="bg1">
              <a:lumMod val="85000"/>
            </a:schemeClr>
          </a:solidFill>
          <a:ln w="6350">
            <a:solidFill>
              <a:schemeClr val="tx1"/>
            </a:solidFill>
            <a:miter lim="800000"/>
          </a:ln>
        </p:spPr>
        <p:txBody>
          <a:bodyPr lIns="18000" tIns="36000" rIns="18000" bIns="36000" rtlCol="0" anchor="ctr">
            <a:noAutofit/>
          </a:bodyPr>
          <a:lstStyle/>
          <a:p>
            <a:pPr algn="ctr">
              <a:buClr>
                <a:schemeClr val="tx1"/>
              </a:buClr>
            </a:pPr>
            <a:r>
              <a:rPr lang="en-US" altLang="zh-CN" sz="900" b="1" dirty="0">
                <a:solidFill>
                  <a:schemeClr val="bg1">
                    <a:lumMod val="65000"/>
                  </a:schemeClr>
                </a:solidFill>
                <a:latin typeface="微软雅黑" panose="020B0503020204020204" charset="-122"/>
                <a:ea typeface="微软雅黑" panose="020B0503020204020204" charset="-122"/>
              </a:rPr>
              <a:t>SCM1.0</a:t>
            </a:r>
            <a:r>
              <a:rPr lang="zh-CN" altLang="en-US" sz="900" b="1" dirty="0">
                <a:solidFill>
                  <a:schemeClr val="bg1">
                    <a:lumMod val="65000"/>
                  </a:schemeClr>
                </a:solidFill>
                <a:latin typeface="微软雅黑" panose="020B0503020204020204" charset="-122"/>
                <a:ea typeface="微软雅黑" panose="020B0503020204020204" charset="-122"/>
              </a:rPr>
              <a:t>不相关</a:t>
            </a:r>
            <a:endParaRPr lang="en-US" altLang="zh-CN" sz="9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a:t>集成计划体系流程框架</a:t>
            </a:r>
            <a:r>
              <a:t>1.0</a:t>
            </a:r>
            <a:endParaRPr lang="zh-CN" altLang="en-US"/>
          </a:p>
        </p:txBody>
      </p:sp>
      <p:sp>
        <p:nvSpPr>
          <p:cNvPr id="7171" name="文本框 2"/>
          <p:cNvSpPr txBox="1">
            <a:spLocks noChangeArrowheads="1"/>
          </p:cNvSpPr>
          <p:nvPr/>
        </p:nvSpPr>
        <p:spPr bwMode="auto">
          <a:xfrm>
            <a:off x="31765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二级流程</a:t>
            </a:r>
          </a:p>
        </p:txBody>
      </p:sp>
      <p:cxnSp>
        <p:nvCxnSpPr>
          <p:cNvPr id="7172" name="直接连接符 54"/>
          <p:cNvCxnSpPr>
            <a:cxnSpLocks noChangeShapeType="1"/>
          </p:cNvCxnSpPr>
          <p:nvPr/>
        </p:nvCxnSpPr>
        <p:spPr bwMode="auto">
          <a:xfrm>
            <a:off x="2700338" y="1436688"/>
            <a:ext cx="1800225" cy="0"/>
          </a:xfrm>
          <a:prstGeom prst="line">
            <a:avLst/>
          </a:prstGeom>
          <a:noFill/>
          <a:ln w="19050" algn="ctr">
            <a:solidFill>
              <a:srgbClr val="000000"/>
            </a:solidFill>
            <a:round/>
          </a:ln>
        </p:spPr>
      </p:cxnSp>
      <p:cxnSp>
        <p:nvCxnSpPr>
          <p:cNvPr id="7173" name="直接连接符 55"/>
          <p:cNvCxnSpPr>
            <a:cxnSpLocks noChangeShapeType="1"/>
          </p:cNvCxnSpPr>
          <p:nvPr/>
        </p:nvCxnSpPr>
        <p:spPr bwMode="auto">
          <a:xfrm>
            <a:off x="5289550" y="1436688"/>
            <a:ext cx="1800225" cy="0"/>
          </a:xfrm>
          <a:prstGeom prst="line">
            <a:avLst/>
          </a:prstGeom>
          <a:noFill/>
          <a:ln w="19050" algn="ctr">
            <a:solidFill>
              <a:srgbClr val="000000"/>
            </a:solidFill>
            <a:round/>
          </a:ln>
        </p:spPr>
      </p:cxnSp>
      <p:sp>
        <p:nvSpPr>
          <p:cNvPr id="7174" name="文本框 11"/>
          <p:cNvSpPr txBox="1">
            <a:spLocks noChangeArrowheads="1"/>
          </p:cNvSpPr>
          <p:nvPr/>
        </p:nvSpPr>
        <p:spPr bwMode="auto">
          <a:xfrm>
            <a:off x="5707063" y="1052513"/>
            <a:ext cx="1004887"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三级流程</a:t>
            </a:r>
          </a:p>
        </p:txBody>
      </p:sp>
      <p:cxnSp>
        <p:nvCxnSpPr>
          <p:cNvPr id="7175" name="直接连接符 8"/>
          <p:cNvCxnSpPr>
            <a:cxnSpLocks noChangeShapeType="1"/>
          </p:cNvCxnSpPr>
          <p:nvPr/>
        </p:nvCxnSpPr>
        <p:spPr bwMode="auto">
          <a:xfrm>
            <a:off x="431800" y="1436688"/>
            <a:ext cx="1620838" cy="0"/>
          </a:xfrm>
          <a:prstGeom prst="line">
            <a:avLst/>
          </a:prstGeom>
          <a:noFill/>
          <a:ln w="19050" algn="ctr">
            <a:solidFill>
              <a:srgbClr val="000000"/>
            </a:solidFill>
            <a:round/>
          </a:ln>
        </p:spPr>
      </p:cxnSp>
      <p:sp>
        <p:nvSpPr>
          <p:cNvPr id="7176" name="文本框 13"/>
          <p:cNvSpPr txBox="1">
            <a:spLocks noChangeArrowheads="1"/>
          </p:cNvSpPr>
          <p:nvPr/>
        </p:nvSpPr>
        <p:spPr bwMode="auto">
          <a:xfrm>
            <a:off x="7889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一级流程</a:t>
            </a:r>
          </a:p>
        </p:txBody>
      </p:sp>
      <p:sp>
        <p:nvSpPr>
          <p:cNvPr id="7177" name="Rectangle 12"/>
          <p:cNvSpPr>
            <a:spLocks noChangeArrowheads="1"/>
          </p:cNvSpPr>
          <p:nvPr/>
        </p:nvSpPr>
        <p:spPr bwMode="auto">
          <a:xfrm>
            <a:off x="395288" y="1854200"/>
            <a:ext cx="1728787"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1.0 </a:t>
            </a:r>
            <a:r>
              <a:rPr lang="zh-CN" altLang="en-US" sz="1200" b="1">
                <a:solidFill>
                  <a:schemeClr val="bg1">
                    <a:lumMod val="65000"/>
                  </a:schemeClr>
                </a:solidFill>
                <a:latin typeface="微软雅黑" panose="020B0503020204020204" charset="-122"/>
                <a:ea typeface="微软雅黑" panose="020B0503020204020204" charset="-122"/>
              </a:rPr>
              <a:t>战略规划管理</a:t>
            </a:r>
          </a:p>
        </p:txBody>
      </p:sp>
      <p:sp>
        <p:nvSpPr>
          <p:cNvPr id="7178" name="Rectangle 13"/>
          <p:cNvSpPr>
            <a:spLocks noChangeArrowheads="1"/>
          </p:cNvSpPr>
          <p:nvPr/>
        </p:nvSpPr>
        <p:spPr bwMode="auto">
          <a:xfrm>
            <a:off x="395288" y="2433638"/>
            <a:ext cx="1728787" cy="4191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2.0 </a:t>
            </a:r>
            <a:r>
              <a:rPr lang="zh-CN" altLang="en-US" sz="1200" b="1">
                <a:solidFill>
                  <a:schemeClr val="bg1">
                    <a:lumMod val="65000"/>
                  </a:schemeClr>
                </a:solidFill>
                <a:latin typeface="微软雅黑" panose="020B0503020204020204" charset="-122"/>
                <a:ea typeface="微软雅黑" panose="020B0503020204020204" charset="-122"/>
              </a:rPr>
              <a:t>投资决策管理</a:t>
            </a:r>
          </a:p>
        </p:txBody>
      </p:sp>
      <p:sp>
        <p:nvSpPr>
          <p:cNvPr id="7179" name="Rectangle 20"/>
          <p:cNvSpPr>
            <a:spLocks noChangeArrowheads="1"/>
          </p:cNvSpPr>
          <p:nvPr/>
        </p:nvSpPr>
        <p:spPr bwMode="auto">
          <a:xfrm>
            <a:off x="395288" y="4797425"/>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6.0 </a:t>
            </a:r>
            <a:r>
              <a:rPr lang="zh-CN" altLang="en-US" sz="1200" b="1">
                <a:solidFill>
                  <a:schemeClr val="bg1">
                    <a:lumMod val="65000"/>
                  </a:schemeClr>
                </a:solidFill>
                <a:latin typeface="微软雅黑" panose="020B0503020204020204" charset="-122"/>
                <a:ea typeface="微软雅黑" panose="020B0503020204020204" charset="-122"/>
              </a:rPr>
              <a:t>人力资源管理</a:t>
            </a:r>
          </a:p>
        </p:txBody>
      </p:sp>
      <p:sp>
        <p:nvSpPr>
          <p:cNvPr id="66" name="Rectangle 21"/>
          <p:cNvSpPr/>
          <p:nvPr/>
        </p:nvSpPr>
        <p:spPr>
          <a:xfrm>
            <a:off x="2771775" y="1854200"/>
            <a:ext cx="1728788"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 </a:t>
            </a:r>
            <a:r>
              <a:rPr lang="zh-CN" altLang="en-US" sz="1200" b="1" dirty="0">
                <a:solidFill>
                  <a:schemeClr val="bg1">
                    <a:lumMod val="65000"/>
                  </a:schemeClr>
                </a:solidFill>
                <a:latin typeface="微软雅黑" panose="020B0503020204020204" charset="-122"/>
                <a:ea typeface="微软雅黑" panose="020B0503020204020204" charset="-122"/>
              </a:rPr>
              <a:t>采购战略与规划</a:t>
            </a:r>
          </a:p>
        </p:txBody>
      </p:sp>
      <p:sp>
        <p:nvSpPr>
          <p:cNvPr id="67" name="Rectangle 22"/>
          <p:cNvSpPr/>
          <p:nvPr/>
        </p:nvSpPr>
        <p:spPr>
          <a:xfrm>
            <a:off x="2771775" y="2497138"/>
            <a:ext cx="1728788"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5.2 </a:t>
            </a:r>
            <a:r>
              <a:rPr lang="zh-CN" altLang="en-US" sz="1200" b="1" dirty="0">
                <a:solidFill>
                  <a:schemeClr val="bg1">
                    <a:lumMod val="65000"/>
                  </a:schemeClr>
                </a:solidFill>
                <a:latin typeface="微软雅黑" panose="020B0503020204020204" charset="-122"/>
                <a:ea typeface="微软雅黑" panose="020B0503020204020204" charset="-122"/>
              </a:rPr>
              <a:t>供应链计划管理</a:t>
            </a:r>
          </a:p>
        </p:txBody>
      </p:sp>
      <p:sp>
        <p:nvSpPr>
          <p:cNvPr id="71" name="Rectangle 23"/>
          <p:cNvSpPr/>
          <p:nvPr/>
        </p:nvSpPr>
        <p:spPr>
          <a:xfrm>
            <a:off x="2771775" y="3071813"/>
            <a:ext cx="1728788"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5.3 </a:t>
            </a:r>
            <a:r>
              <a:rPr lang="zh-CN" altLang="en-US" sz="1200" b="1" dirty="0">
                <a:solidFill>
                  <a:schemeClr val="bg1">
                    <a:lumMod val="65000"/>
                  </a:schemeClr>
                </a:solidFill>
                <a:latin typeface="微软雅黑" panose="020B0503020204020204" charset="-122"/>
                <a:ea typeface="微软雅黑" panose="020B0503020204020204" charset="-122"/>
              </a:rPr>
              <a:t>供应商关系管理</a:t>
            </a:r>
            <a:endParaRPr lang="en-US" altLang="zh-CN" sz="1200" b="1" dirty="0">
              <a:solidFill>
                <a:schemeClr val="bg1">
                  <a:lumMod val="65000"/>
                </a:schemeClr>
              </a:solidFill>
              <a:latin typeface="微软雅黑" panose="020B0503020204020204" charset="-122"/>
              <a:ea typeface="微软雅黑" panose="020B0503020204020204" charset="-122"/>
            </a:endParaRPr>
          </a:p>
        </p:txBody>
      </p:sp>
      <p:sp>
        <p:nvSpPr>
          <p:cNvPr id="74" name="Rectangle 25"/>
          <p:cNvSpPr>
            <a:spLocks noChangeArrowheads="1"/>
          </p:cNvSpPr>
          <p:nvPr/>
        </p:nvSpPr>
        <p:spPr bwMode="auto">
          <a:xfrm>
            <a:off x="2779713" y="3644900"/>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a:spcBef>
                <a:spcPct val="20000"/>
              </a:spcBef>
              <a:buClr>
                <a:schemeClr val="tx1"/>
              </a:buClr>
              <a:defRPr/>
            </a:pPr>
            <a:r>
              <a:rPr lang="en-US" altLang="zh-CN" sz="1200" b="1">
                <a:solidFill>
                  <a:schemeClr val="bg1">
                    <a:lumMod val="65000"/>
                  </a:schemeClr>
                </a:solidFill>
                <a:latin typeface="微软雅黑" panose="020B0503020204020204" charset="-122"/>
                <a:ea typeface="微软雅黑" panose="020B0503020204020204" charset="-122"/>
              </a:rPr>
              <a:t>5.4 </a:t>
            </a:r>
            <a:r>
              <a:rPr lang="zh-CN" altLang="en-US" sz="1200" b="1">
                <a:solidFill>
                  <a:schemeClr val="bg1">
                    <a:lumMod val="65000"/>
                  </a:schemeClr>
                </a:solidFill>
                <a:latin typeface="微软雅黑" panose="020B0503020204020204" charset="-122"/>
                <a:ea typeface="微软雅黑" panose="020B0503020204020204" charset="-122"/>
              </a:rPr>
              <a:t>战略采购</a:t>
            </a:r>
          </a:p>
        </p:txBody>
      </p:sp>
      <p:sp>
        <p:nvSpPr>
          <p:cNvPr id="75" name="Rectangle 26"/>
          <p:cNvSpPr/>
          <p:nvPr/>
        </p:nvSpPr>
        <p:spPr>
          <a:xfrm>
            <a:off x="2779713" y="4224338"/>
            <a:ext cx="1728787"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5.5 </a:t>
            </a:r>
            <a:r>
              <a:rPr lang="zh-CN" altLang="en-US" sz="1200" b="1" dirty="0">
                <a:solidFill>
                  <a:schemeClr val="bg1">
                    <a:lumMod val="65000"/>
                  </a:schemeClr>
                </a:solidFill>
                <a:latin typeface="微软雅黑" panose="020B0503020204020204" charset="-122"/>
                <a:ea typeface="微软雅黑" panose="020B0503020204020204" charset="-122"/>
              </a:rPr>
              <a:t>采购执行与支持</a:t>
            </a:r>
          </a:p>
        </p:txBody>
      </p:sp>
      <p:cxnSp>
        <p:nvCxnSpPr>
          <p:cNvPr id="7185" name="Straight Connector 39"/>
          <p:cNvCxnSpPr>
            <a:cxnSpLocks noChangeShapeType="1"/>
            <a:stCxn id="105" idx="3"/>
            <a:endCxn id="67" idx="1"/>
          </p:cNvCxnSpPr>
          <p:nvPr/>
        </p:nvCxnSpPr>
        <p:spPr bwMode="auto">
          <a:xfrm flipV="1">
            <a:off x="2124075" y="2674938"/>
            <a:ext cx="647700" cy="1728787"/>
          </a:xfrm>
          <a:prstGeom prst="bentConnector3">
            <a:avLst>
              <a:gd name="adj1" fmla="val 50000"/>
            </a:avLst>
          </a:prstGeom>
          <a:noFill/>
          <a:ln w="9525" algn="ctr">
            <a:solidFill>
              <a:srgbClr val="000000"/>
            </a:solidFill>
            <a:round/>
          </a:ln>
        </p:spPr>
      </p:cxnSp>
      <p:cxnSp>
        <p:nvCxnSpPr>
          <p:cNvPr id="7186" name="Straight Connector 41"/>
          <p:cNvCxnSpPr>
            <a:cxnSpLocks noChangeShapeType="1"/>
            <a:stCxn id="105" idx="3"/>
            <a:endCxn id="66" idx="1"/>
          </p:cNvCxnSpPr>
          <p:nvPr/>
        </p:nvCxnSpPr>
        <p:spPr bwMode="auto">
          <a:xfrm flipV="1">
            <a:off x="2124075" y="2032794"/>
            <a:ext cx="647700" cy="2370931"/>
          </a:xfrm>
          <a:prstGeom prst="bentConnector3">
            <a:avLst>
              <a:gd name="adj1" fmla="val 50000"/>
            </a:avLst>
          </a:prstGeom>
          <a:noFill/>
          <a:ln w="9525" algn="ctr">
            <a:solidFill>
              <a:srgbClr val="000000"/>
            </a:solidFill>
            <a:round/>
          </a:ln>
        </p:spPr>
      </p:cxnSp>
      <p:cxnSp>
        <p:nvCxnSpPr>
          <p:cNvPr id="7187" name="Elbow Connector 43"/>
          <p:cNvCxnSpPr>
            <a:cxnSpLocks noChangeShapeType="1"/>
            <a:stCxn id="105" idx="3"/>
            <a:endCxn id="71" idx="1"/>
          </p:cNvCxnSpPr>
          <p:nvPr/>
        </p:nvCxnSpPr>
        <p:spPr bwMode="auto">
          <a:xfrm flipV="1">
            <a:off x="2124075" y="3251200"/>
            <a:ext cx="647700" cy="1152525"/>
          </a:xfrm>
          <a:prstGeom prst="bentConnector3">
            <a:avLst>
              <a:gd name="adj1" fmla="val 50000"/>
            </a:avLst>
          </a:prstGeom>
          <a:noFill/>
          <a:ln w="9525" algn="ctr">
            <a:solidFill>
              <a:srgbClr val="000000"/>
            </a:solidFill>
            <a:round/>
          </a:ln>
        </p:spPr>
      </p:cxnSp>
      <p:cxnSp>
        <p:nvCxnSpPr>
          <p:cNvPr id="7188" name="Elbow Connector 47"/>
          <p:cNvCxnSpPr>
            <a:cxnSpLocks noChangeShapeType="1"/>
            <a:stCxn id="105" idx="3"/>
            <a:endCxn id="74" idx="1"/>
          </p:cNvCxnSpPr>
          <p:nvPr/>
        </p:nvCxnSpPr>
        <p:spPr bwMode="auto">
          <a:xfrm flipV="1">
            <a:off x="2124075" y="3822700"/>
            <a:ext cx="655638" cy="581025"/>
          </a:xfrm>
          <a:prstGeom prst="bentConnector3">
            <a:avLst>
              <a:gd name="adj1" fmla="val 50000"/>
            </a:avLst>
          </a:prstGeom>
          <a:noFill/>
          <a:ln w="9525" algn="ctr">
            <a:solidFill>
              <a:srgbClr val="000000"/>
            </a:solidFill>
            <a:round/>
          </a:ln>
        </p:spPr>
      </p:cxnSp>
      <p:cxnSp>
        <p:nvCxnSpPr>
          <p:cNvPr id="7189" name="Elbow Connector 49"/>
          <p:cNvCxnSpPr>
            <a:cxnSpLocks noChangeShapeType="1"/>
            <a:stCxn id="105" idx="3"/>
            <a:endCxn id="75" idx="1"/>
          </p:cNvCxnSpPr>
          <p:nvPr/>
        </p:nvCxnSpPr>
        <p:spPr bwMode="auto">
          <a:xfrm flipV="1">
            <a:off x="2124075" y="4402138"/>
            <a:ext cx="655638" cy="1587"/>
          </a:xfrm>
          <a:prstGeom prst="bentConnector3">
            <a:avLst>
              <a:gd name="adj1" fmla="val 50000"/>
            </a:avLst>
          </a:prstGeom>
          <a:noFill/>
          <a:ln w="9525" algn="ctr">
            <a:solidFill>
              <a:srgbClr val="000000"/>
            </a:solidFill>
            <a:round/>
          </a:ln>
        </p:spPr>
      </p:cxnSp>
      <p:cxnSp>
        <p:nvCxnSpPr>
          <p:cNvPr id="7190" name="Elbow Connector 68"/>
          <p:cNvCxnSpPr>
            <a:cxnSpLocks noChangeShapeType="1"/>
            <a:stCxn id="105" idx="3"/>
            <a:endCxn id="74" idx="1"/>
          </p:cNvCxnSpPr>
          <p:nvPr/>
        </p:nvCxnSpPr>
        <p:spPr bwMode="auto">
          <a:xfrm flipV="1">
            <a:off x="2124075" y="3822700"/>
            <a:ext cx="655638" cy="581025"/>
          </a:xfrm>
          <a:prstGeom prst="bentConnector3">
            <a:avLst>
              <a:gd name="adj1" fmla="val 50000"/>
            </a:avLst>
          </a:prstGeom>
          <a:noFill/>
          <a:ln w="9525" algn="ctr">
            <a:solidFill>
              <a:srgbClr val="000000"/>
            </a:solidFill>
            <a:round/>
          </a:ln>
        </p:spPr>
      </p:cxnSp>
      <p:sp>
        <p:nvSpPr>
          <p:cNvPr id="7191" name="Rectangle 15"/>
          <p:cNvSpPr>
            <a:spLocks noChangeArrowheads="1"/>
          </p:cNvSpPr>
          <p:nvPr/>
        </p:nvSpPr>
        <p:spPr bwMode="auto">
          <a:xfrm>
            <a:off x="395288" y="3052763"/>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3.0 </a:t>
            </a:r>
            <a:r>
              <a:rPr lang="zh-CN" altLang="en-US" sz="1200" b="1">
                <a:solidFill>
                  <a:schemeClr val="bg1">
                    <a:lumMod val="65000"/>
                  </a:schemeClr>
                </a:solidFill>
                <a:latin typeface="微软雅黑" panose="020B0503020204020204" charset="-122"/>
                <a:ea typeface="微软雅黑" panose="020B0503020204020204" charset="-122"/>
              </a:rPr>
              <a:t>研发与创新</a:t>
            </a:r>
          </a:p>
        </p:txBody>
      </p:sp>
      <p:sp>
        <p:nvSpPr>
          <p:cNvPr id="100" name="Rectangle 26"/>
          <p:cNvSpPr/>
          <p:nvPr/>
        </p:nvSpPr>
        <p:spPr>
          <a:xfrm>
            <a:off x="2779713" y="4800600"/>
            <a:ext cx="1728787"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5.6 </a:t>
            </a:r>
            <a:r>
              <a:rPr lang="zh-CN" altLang="en-US" sz="1200" b="1" dirty="0">
                <a:solidFill>
                  <a:schemeClr val="bg1">
                    <a:lumMod val="65000"/>
                  </a:schemeClr>
                </a:solidFill>
                <a:latin typeface="微软雅黑" panose="020B0503020204020204" charset="-122"/>
                <a:ea typeface="微软雅黑" panose="020B0503020204020204" charset="-122"/>
              </a:rPr>
              <a:t>物流管理</a:t>
            </a:r>
          </a:p>
        </p:txBody>
      </p:sp>
      <p:cxnSp>
        <p:nvCxnSpPr>
          <p:cNvPr id="7193" name="肘形连接符 25"/>
          <p:cNvCxnSpPr>
            <a:cxnSpLocks noChangeShapeType="1"/>
          </p:cNvCxnSpPr>
          <p:nvPr/>
        </p:nvCxnSpPr>
        <p:spPr bwMode="auto">
          <a:xfrm>
            <a:off x="2143125" y="4398963"/>
            <a:ext cx="636588" cy="504825"/>
          </a:xfrm>
          <a:prstGeom prst="bentConnector3">
            <a:avLst>
              <a:gd name="adj1" fmla="val 45556"/>
            </a:avLst>
          </a:prstGeom>
          <a:noFill/>
          <a:ln w="9525" algn="ctr">
            <a:solidFill>
              <a:schemeClr val="tx1"/>
            </a:solidFill>
            <a:round/>
          </a:ln>
        </p:spPr>
      </p:cxnSp>
      <p:sp>
        <p:nvSpPr>
          <p:cNvPr id="103" name="Rectangle 20"/>
          <p:cNvSpPr/>
          <p:nvPr/>
        </p:nvSpPr>
        <p:spPr>
          <a:xfrm>
            <a:off x="395288" y="5445125"/>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a:t>
            </a:r>
            <a:endParaRPr lang="zh-CN" altLang="en-US" sz="1200" b="1" dirty="0">
              <a:solidFill>
                <a:schemeClr val="bg1">
                  <a:lumMod val="65000"/>
                </a:schemeClr>
              </a:solidFill>
              <a:latin typeface="微软雅黑" panose="020B0503020204020204" charset="-122"/>
              <a:ea typeface="微软雅黑" panose="020B0503020204020204" charset="-122"/>
            </a:endParaRPr>
          </a:p>
        </p:txBody>
      </p:sp>
      <p:sp>
        <p:nvSpPr>
          <p:cNvPr id="7195" name="Rectangle 15"/>
          <p:cNvSpPr>
            <a:spLocks noChangeArrowheads="1"/>
          </p:cNvSpPr>
          <p:nvPr/>
        </p:nvSpPr>
        <p:spPr bwMode="auto">
          <a:xfrm>
            <a:off x="395288" y="3644900"/>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4.0 </a:t>
            </a:r>
            <a:r>
              <a:rPr lang="zh-CN" altLang="en-US" sz="1200" b="1">
                <a:solidFill>
                  <a:schemeClr val="bg1">
                    <a:lumMod val="65000"/>
                  </a:schemeClr>
                </a:solidFill>
                <a:latin typeface="微软雅黑" panose="020B0503020204020204" charset="-122"/>
                <a:ea typeface="微软雅黑" panose="020B0503020204020204" charset="-122"/>
              </a:rPr>
              <a:t>营销与服务</a:t>
            </a:r>
          </a:p>
        </p:txBody>
      </p:sp>
      <p:sp>
        <p:nvSpPr>
          <p:cNvPr id="105" name="Rectangle 24"/>
          <p:cNvSpPr>
            <a:spLocks noChangeArrowheads="1"/>
          </p:cNvSpPr>
          <p:nvPr/>
        </p:nvSpPr>
        <p:spPr bwMode="auto">
          <a:xfrm>
            <a:off x="395288" y="4225925"/>
            <a:ext cx="1728787" cy="355600"/>
          </a:xfrm>
          <a:prstGeom prst="rect">
            <a:avLst/>
          </a:prstGeom>
          <a:solidFill>
            <a:srgbClr val="D6DBFE"/>
          </a:solidFill>
          <a:ln w="9525">
            <a:solidFill>
              <a:srgbClr val="000000"/>
            </a:solidFill>
            <a:miter lim="800000"/>
          </a:ln>
        </p:spPr>
        <p:txBody>
          <a:bodyPr wrap="none" lIns="72000" anchor="ctr"/>
          <a:lstStyle/>
          <a:p>
            <a:pPr>
              <a:spcBef>
                <a:spcPct val="20000"/>
              </a:spcBef>
              <a:defRPr/>
            </a:pPr>
            <a:r>
              <a:rPr lang="en-US" altLang="zh-CN" sz="1200" b="1">
                <a:latin typeface="微软雅黑" panose="020B0503020204020204" charset="-122"/>
                <a:ea typeface="微软雅黑" panose="020B0503020204020204" charset="-122"/>
              </a:rPr>
              <a:t>5.0 </a:t>
            </a:r>
            <a:r>
              <a:rPr lang="zh-CN" altLang="en-US" sz="1200" b="1">
                <a:latin typeface="微软雅黑" panose="020B0503020204020204" charset="-122"/>
                <a:ea typeface="微软雅黑" panose="020B0503020204020204" charset="-122"/>
              </a:rPr>
              <a:t>制造与商务</a:t>
            </a:r>
          </a:p>
        </p:txBody>
      </p:sp>
      <p:sp>
        <p:nvSpPr>
          <p:cNvPr id="106" name="Rectangle 26"/>
          <p:cNvSpPr/>
          <p:nvPr/>
        </p:nvSpPr>
        <p:spPr>
          <a:xfrm>
            <a:off x="2771775" y="5437188"/>
            <a:ext cx="1728788"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5.7 </a:t>
            </a:r>
            <a:r>
              <a:rPr lang="zh-CN" altLang="en-US" sz="1200" b="1" dirty="0">
                <a:solidFill>
                  <a:schemeClr val="bg1">
                    <a:lumMod val="65000"/>
                  </a:schemeClr>
                </a:solidFill>
                <a:latin typeface="微软雅黑" panose="020B0503020204020204" charset="-122"/>
                <a:ea typeface="微软雅黑" panose="020B0503020204020204" charset="-122"/>
              </a:rPr>
              <a:t>制造管理</a:t>
            </a:r>
          </a:p>
        </p:txBody>
      </p:sp>
      <p:sp>
        <p:nvSpPr>
          <p:cNvPr id="107" name="Rectangle 21"/>
          <p:cNvSpPr/>
          <p:nvPr/>
        </p:nvSpPr>
        <p:spPr>
          <a:xfrm>
            <a:off x="5262563" y="1989138"/>
            <a:ext cx="2159000" cy="41751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5.3.1</a:t>
            </a:r>
            <a:r>
              <a:rPr lang="zh-CN" altLang="en-US" sz="1200" b="1" dirty="0">
                <a:solidFill>
                  <a:schemeClr val="bg1">
                    <a:lumMod val="65000"/>
                  </a:schemeClr>
                </a:solidFill>
                <a:latin typeface="微软雅黑" panose="020B0503020204020204" charset="-122"/>
                <a:ea typeface="微软雅黑" panose="020B0503020204020204" charset="-122"/>
              </a:rPr>
              <a:t>生产类供应商全生命周期</a:t>
            </a:r>
            <a:endParaRPr lang="en-US" altLang="zh-CN" sz="1200" b="1" dirty="0">
              <a:solidFill>
                <a:schemeClr val="bg1">
                  <a:lumMod val="65000"/>
                </a:schemeClr>
              </a:solidFill>
              <a:latin typeface="微软雅黑" panose="020B0503020204020204" charset="-122"/>
              <a:ea typeface="微软雅黑" panose="020B0503020204020204" charset="-122"/>
            </a:endParaRPr>
          </a:p>
          <a:p>
            <a:pPr fontAlgn="auto">
              <a:spcBef>
                <a:spcPct val="20000"/>
              </a:spcBef>
              <a:spcAft>
                <a:spcPts val="0"/>
              </a:spcAft>
              <a:buClr>
                <a:schemeClr val="tx1"/>
              </a:buClr>
              <a:defRPr/>
            </a:pPr>
            <a:r>
              <a:rPr lang="zh-CN" altLang="en-US" sz="1200" b="1" dirty="0">
                <a:solidFill>
                  <a:schemeClr val="bg1">
                    <a:lumMod val="65000"/>
                  </a:schemeClr>
                </a:solidFill>
                <a:latin typeface="微软雅黑" panose="020B0503020204020204" charset="-122"/>
                <a:ea typeface="微软雅黑" panose="020B0503020204020204" charset="-122"/>
              </a:rPr>
              <a:t>管理 </a:t>
            </a:r>
          </a:p>
        </p:txBody>
      </p:sp>
      <p:sp>
        <p:nvSpPr>
          <p:cNvPr id="109" name="Rectangle 21"/>
          <p:cNvSpPr/>
          <p:nvPr/>
        </p:nvSpPr>
        <p:spPr>
          <a:xfrm>
            <a:off x="5257800" y="2506663"/>
            <a:ext cx="2159000" cy="2508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5.3.2</a:t>
            </a:r>
            <a:r>
              <a:rPr lang="zh-CN" altLang="en-US" sz="1200" b="1" dirty="0">
                <a:solidFill>
                  <a:schemeClr val="bg1">
                    <a:lumMod val="65000"/>
                  </a:schemeClr>
                </a:solidFill>
                <a:latin typeface="微软雅黑" panose="020B0503020204020204" charset="-122"/>
                <a:ea typeface="微软雅黑" panose="020B0503020204020204" charset="-122"/>
              </a:rPr>
              <a:t>供应商评估模型重审流程</a:t>
            </a:r>
          </a:p>
        </p:txBody>
      </p:sp>
      <p:sp>
        <p:nvSpPr>
          <p:cNvPr id="110" name="Rectangle 21"/>
          <p:cNvSpPr/>
          <p:nvPr/>
        </p:nvSpPr>
        <p:spPr>
          <a:xfrm>
            <a:off x="5257800" y="2792413"/>
            <a:ext cx="2159000" cy="250825"/>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5.3.3</a:t>
            </a:r>
            <a:r>
              <a:rPr lang="zh-CN" altLang="en-US" sz="1200" b="1" dirty="0">
                <a:solidFill>
                  <a:schemeClr val="bg1">
                    <a:lumMod val="65000"/>
                  </a:schemeClr>
                </a:solidFill>
                <a:latin typeface="微软雅黑" panose="020B0503020204020204" charset="-122"/>
                <a:ea typeface="微软雅黑" panose="020B0503020204020204" charset="-122"/>
              </a:rPr>
              <a:t>评估供应商真实业绩 </a:t>
            </a:r>
          </a:p>
        </p:txBody>
      </p:sp>
      <p:sp>
        <p:nvSpPr>
          <p:cNvPr id="113" name="Rectangle 21"/>
          <p:cNvSpPr/>
          <p:nvPr/>
        </p:nvSpPr>
        <p:spPr>
          <a:xfrm>
            <a:off x="5257800" y="3089275"/>
            <a:ext cx="2159000" cy="25241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5.3.4</a:t>
            </a:r>
            <a:r>
              <a:rPr lang="zh-CN" altLang="en-US" sz="1200" b="1" dirty="0">
                <a:solidFill>
                  <a:schemeClr val="bg1">
                    <a:lumMod val="65000"/>
                  </a:schemeClr>
                </a:solidFill>
                <a:latin typeface="微软雅黑" panose="020B0503020204020204" charset="-122"/>
                <a:ea typeface="微软雅黑" panose="020B0503020204020204" charset="-122"/>
              </a:rPr>
              <a:t>供应商关系发展</a:t>
            </a:r>
          </a:p>
        </p:txBody>
      </p:sp>
      <p:sp>
        <p:nvSpPr>
          <p:cNvPr id="121" name="Rectangle 21"/>
          <p:cNvSpPr/>
          <p:nvPr/>
        </p:nvSpPr>
        <p:spPr>
          <a:xfrm>
            <a:off x="5272088" y="3719513"/>
            <a:ext cx="2160587" cy="25241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5.4.1</a:t>
            </a:r>
            <a:r>
              <a:rPr lang="zh-CN" altLang="en-US" sz="1200" b="1" dirty="0">
                <a:solidFill>
                  <a:schemeClr val="bg1">
                    <a:lumMod val="65000"/>
                  </a:schemeClr>
                </a:solidFill>
                <a:latin typeface="微软雅黑" panose="020B0503020204020204" charset="-122"/>
                <a:ea typeface="微软雅黑" panose="020B0503020204020204" charset="-122"/>
              </a:rPr>
              <a:t>分析采购现状</a:t>
            </a:r>
          </a:p>
        </p:txBody>
      </p:sp>
      <p:sp>
        <p:nvSpPr>
          <p:cNvPr id="122" name="Rectangle 21"/>
          <p:cNvSpPr/>
          <p:nvPr/>
        </p:nvSpPr>
        <p:spPr>
          <a:xfrm>
            <a:off x="5262563" y="4899025"/>
            <a:ext cx="2159000" cy="252413"/>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5.4.5</a:t>
            </a:r>
            <a:r>
              <a:rPr lang="zh-CN" altLang="en-US" sz="1200" b="1" dirty="0">
                <a:solidFill>
                  <a:schemeClr val="bg1">
                    <a:lumMod val="65000"/>
                  </a:schemeClr>
                </a:solidFill>
                <a:latin typeface="微软雅黑" panose="020B0503020204020204" charset="-122"/>
                <a:ea typeface="微软雅黑" panose="020B0503020204020204" charset="-122"/>
              </a:rPr>
              <a:t>管理零部件标准化</a:t>
            </a:r>
          </a:p>
        </p:txBody>
      </p:sp>
      <p:sp>
        <p:nvSpPr>
          <p:cNvPr id="125" name="Rectangle 21"/>
          <p:cNvSpPr/>
          <p:nvPr/>
        </p:nvSpPr>
        <p:spPr>
          <a:xfrm>
            <a:off x="5260975" y="4602163"/>
            <a:ext cx="2160588" cy="25241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5.4.4</a:t>
            </a:r>
            <a:r>
              <a:rPr lang="zh-CN" altLang="en-US" sz="1200" b="1" dirty="0">
                <a:solidFill>
                  <a:schemeClr val="bg1">
                    <a:lumMod val="65000"/>
                  </a:schemeClr>
                </a:solidFill>
                <a:latin typeface="微软雅黑" panose="020B0503020204020204" charset="-122"/>
                <a:ea typeface="微软雅黑" panose="020B0503020204020204" charset="-122"/>
              </a:rPr>
              <a:t>执行类别采购策略</a:t>
            </a:r>
          </a:p>
        </p:txBody>
      </p:sp>
      <p:sp>
        <p:nvSpPr>
          <p:cNvPr id="126" name="Rectangle 21"/>
          <p:cNvSpPr/>
          <p:nvPr/>
        </p:nvSpPr>
        <p:spPr>
          <a:xfrm>
            <a:off x="5249863" y="4313238"/>
            <a:ext cx="2160587" cy="25241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5.4.3</a:t>
            </a:r>
            <a:r>
              <a:rPr lang="zh-CN" altLang="en-US" sz="1200" b="1" dirty="0">
                <a:solidFill>
                  <a:schemeClr val="bg1">
                    <a:lumMod val="65000"/>
                  </a:schemeClr>
                </a:solidFill>
                <a:latin typeface="微软雅黑" panose="020B0503020204020204" charset="-122"/>
                <a:ea typeface="微软雅黑" panose="020B0503020204020204" charset="-122"/>
              </a:rPr>
              <a:t>创建类别采购策略</a:t>
            </a:r>
          </a:p>
        </p:txBody>
      </p:sp>
      <p:sp>
        <p:nvSpPr>
          <p:cNvPr id="127" name="Rectangle 21"/>
          <p:cNvSpPr/>
          <p:nvPr/>
        </p:nvSpPr>
        <p:spPr>
          <a:xfrm>
            <a:off x="5262563" y="4021138"/>
            <a:ext cx="2159000" cy="25241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5.4.2</a:t>
            </a:r>
            <a:r>
              <a:rPr lang="zh-CN" altLang="en-US" sz="1200" b="1" dirty="0">
                <a:solidFill>
                  <a:schemeClr val="bg1">
                    <a:lumMod val="65000"/>
                  </a:schemeClr>
                </a:solidFill>
                <a:latin typeface="微软雅黑" panose="020B0503020204020204" charset="-122"/>
                <a:ea typeface="微软雅黑" panose="020B0503020204020204" charset="-122"/>
              </a:rPr>
              <a:t>分析供应商</a:t>
            </a:r>
          </a:p>
        </p:txBody>
      </p:sp>
      <p:cxnSp>
        <p:nvCxnSpPr>
          <p:cNvPr id="7207" name="肘形连接符 6"/>
          <p:cNvCxnSpPr>
            <a:cxnSpLocks noChangeShapeType="1"/>
            <a:stCxn id="105" idx="3"/>
            <a:endCxn id="106" idx="1"/>
          </p:cNvCxnSpPr>
          <p:nvPr/>
        </p:nvCxnSpPr>
        <p:spPr bwMode="auto">
          <a:xfrm>
            <a:off x="2124075" y="4403725"/>
            <a:ext cx="647700" cy="1212850"/>
          </a:xfrm>
          <a:prstGeom prst="bentConnector3">
            <a:avLst>
              <a:gd name="adj1" fmla="val 50000"/>
            </a:avLst>
          </a:prstGeom>
          <a:noFill/>
          <a:ln w="9525" algn="ctr">
            <a:solidFill>
              <a:schemeClr val="tx1"/>
            </a:solidFill>
            <a:round/>
          </a:ln>
        </p:spPr>
      </p:cxnSp>
      <p:cxnSp>
        <p:nvCxnSpPr>
          <p:cNvPr id="7208" name="直接连接符 22"/>
          <p:cNvCxnSpPr>
            <a:cxnSpLocks noChangeShapeType="1"/>
            <a:endCxn id="121" idx="1"/>
          </p:cNvCxnSpPr>
          <p:nvPr/>
        </p:nvCxnSpPr>
        <p:spPr bwMode="auto">
          <a:xfrm>
            <a:off x="4887913" y="3844925"/>
            <a:ext cx="384175" cy="0"/>
          </a:xfrm>
          <a:prstGeom prst="line">
            <a:avLst/>
          </a:prstGeom>
          <a:noFill/>
          <a:ln w="9525" algn="ctr">
            <a:solidFill>
              <a:schemeClr val="tx1"/>
            </a:solidFill>
            <a:round/>
          </a:ln>
        </p:spPr>
      </p:cxnSp>
      <p:cxnSp>
        <p:nvCxnSpPr>
          <p:cNvPr id="7209" name="直接箭头连接符 30"/>
          <p:cNvCxnSpPr>
            <a:cxnSpLocks noChangeShapeType="1"/>
            <a:endCxn id="127" idx="1"/>
          </p:cNvCxnSpPr>
          <p:nvPr/>
        </p:nvCxnSpPr>
        <p:spPr bwMode="auto">
          <a:xfrm>
            <a:off x="4875213" y="4146550"/>
            <a:ext cx="387350" cy="0"/>
          </a:xfrm>
          <a:prstGeom prst="straightConnector1">
            <a:avLst/>
          </a:prstGeom>
          <a:noFill/>
          <a:ln w="9525" algn="ctr">
            <a:solidFill>
              <a:schemeClr val="tx1"/>
            </a:solidFill>
            <a:round/>
          </a:ln>
        </p:spPr>
      </p:cxnSp>
      <p:cxnSp>
        <p:nvCxnSpPr>
          <p:cNvPr id="7210" name="直接箭头连接符 32"/>
          <p:cNvCxnSpPr>
            <a:cxnSpLocks noChangeShapeType="1"/>
            <a:endCxn id="126" idx="1"/>
          </p:cNvCxnSpPr>
          <p:nvPr/>
        </p:nvCxnSpPr>
        <p:spPr bwMode="auto">
          <a:xfrm>
            <a:off x="4875213" y="4440238"/>
            <a:ext cx="374650" cy="0"/>
          </a:xfrm>
          <a:prstGeom prst="straightConnector1">
            <a:avLst/>
          </a:prstGeom>
          <a:noFill/>
          <a:ln w="9525" algn="ctr">
            <a:solidFill>
              <a:schemeClr val="tx1"/>
            </a:solidFill>
            <a:round/>
          </a:ln>
        </p:spPr>
      </p:cxnSp>
      <p:cxnSp>
        <p:nvCxnSpPr>
          <p:cNvPr id="7211" name="直接箭头连接符 37"/>
          <p:cNvCxnSpPr>
            <a:cxnSpLocks noChangeShapeType="1"/>
            <a:endCxn id="125" idx="1"/>
          </p:cNvCxnSpPr>
          <p:nvPr/>
        </p:nvCxnSpPr>
        <p:spPr bwMode="auto">
          <a:xfrm>
            <a:off x="4875213" y="4727575"/>
            <a:ext cx="385762" cy="0"/>
          </a:xfrm>
          <a:prstGeom prst="straightConnector1">
            <a:avLst/>
          </a:prstGeom>
          <a:noFill/>
          <a:ln w="9525" algn="ctr">
            <a:solidFill>
              <a:schemeClr val="tx1"/>
            </a:solidFill>
            <a:round/>
          </a:ln>
        </p:spPr>
      </p:cxnSp>
      <p:cxnSp>
        <p:nvCxnSpPr>
          <p:cNvPr id="7212" name="直接连接符 151"/>
          <p:cNvCxnSpPr>
            <a:cxnSpLocks noChangeShapeType="1"/>
            <a:endCxn id="110" idx="1"/>
          </p:cNvCxnSpPr>
          <p:nvPr/>
        </p:nvCxnSpPr>
        <p:spPr bwMode="auto">
          <a:xfrm>
            <a:off x="4887913" y="2917825"/>
            <a:ext cx="369887" cy="0"/>
          </a:xfrm>
          <a:prstGeom prst="line">
            <a:avLst/>
          </a:prstGeom>
          <a:noFill/>
          <a:ln w="9525" algn="ctr">
            <a:solidFill>
              <a:schemeClr val="tx1"/>
            </a:solidFill>
            <a:round/>
          </a:ln>
        </p:spPr>
      </p:cxnSp>
      <p:cxnSp>
        <p:nvCxnSpPr>
          <p:cNvPr id="7213" name="直接连接符 157"/>
          <p:cNvCxnSpPr>
            <a:cxnSpLocks noChangeShapeType="1"/>
          </p:cNvCxnSpPr>
          <p:nvPr/>
        </p:nvCxnSpPr>
        <p:spPr bwMode="auto">
          <a:xfrm>
            <a:off x="4887913" y="2624138"/>
            <a:ext cx="358775" cy="0"/>
          </a:xfrm>
          <a:prstGeom prst="line">
            <a:avLst/>
          </a:prstGeom>
          <a:noFill/>
          <a:ln w="9525" algn="ctr">
            <a:solidFill>
              <a:schemeClr val="tx1"/>
            </a:solidFill>
            <a:round/>
          </a:ln>
        </p:spPr>
      </p:cxnSp>
      <p:sp>
        <p:nvSpPr>
          <p:cNvPr id="68" name="Rectangle 21"/>
          <p:cNvSpPr/>
          <p:nvPr/>
        </p:nvSpPr>
        <p:spPr>
          <a:xfrm>
            <a:off x="5264150" y="5192713"/>
            <a:ext cx="2160588" cy="252412"/>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5.4.6</a:t>
            </a:r>
            <a:r>
              <a:rPr lang="zh-CN" altLang="en-US" sz="1200" b="1" dirty="0">
                <a:solidFill>
                  <a:schemeClr val="bg1">
                    <a:lumMod val="65000"/>
                  </a:schemeClr>
                </a:solidFill>
                <a:latin typeface="微软雅黑" panose="020B0503020204020204" charset="-122"/>
                <a:ea typeface="微软雅黑" panose="020B0503020204020204" charset="-122"/>
              </a:rPr>
              <a:t>全球商品委员会管理</a:t>
            </a:r>
          </a:p>
        </p:txBody>
      </p:sp>
      <p:cxnSp>
        <p:nvCxnSpPr>
          <p:cNvPr id="7215" name="直接连接符 68"/>
          <p:cNvCxnSpPr>
            <a:cxnSpLocks noChangeShapeType="1"/>
            <a:endCxn id="68" idx="1"/>
          </p:cNvCxnSpPr>
          <p:nvPr/>
        </p:nvCxnSpPr>
        <p:spPr bwMode="auto">
          <a:xfrm>
            <a:off x="4878388" y="5319713"/>
            <a:ext cx="385762" cy="0"/>
          </a:xfrm>
          <a:prstGeom prst="line">
            <a:avLst/>
          </a:prstGeom>
          <a:noFill/>
          <a:ln w="9525" algn="ctr">
            <a:solidFill>
              <a:schemeClr val="tx1"/>
            </a:solidFill>
            <a:round/>
          </a:ln>
        </p:spPr>
      </p:cxnSp>
      <p:cxnSp>
        <p:nvCxnSpPr>
          <p:cNvPr id="7216" name="肘形连接符 11"/>
          <p:cNvCxnSpPr>
            <a:cxnSpLocks noChangeShapeType="1"/>
            <a:stCxn id="71" idx="3"/>
            <a:endCxn id="107" idx="1"/>
          </p:cNvCxnSpPr>
          <p:nvPr/>
        </p:nvCxnSpPr>
        <p:spPr bwMode="auto">
          <a:xfrm flipV="1">
            <a:off x="4500563" y="2197100"/>
            <a:ext cx="762000" cy="1054100"/>
          </a:xfrm>
          <a:prstGeom prst="bentConnector3">
            <a:avLst>
              <a:gd name="adj1" fmla="val 50000"/>
            </a:avLst>
          </a:prstGeom>
          <a:noFill/>
          <a:ln w="9525" algn="ctr">
            <a:solidFill>
              <a:schemeClr val="tx1"/>
            </a:solidFill>
            <a:round/>
          </a:ln>
        </p:spPr>
      </p:cxnSp>
      <p:cxnSp>
        <p:nvCxnSpPr>
          <p:cNvPr id="7217" name="肘形连接符 16"/>
          <p:cNvCxnSpPr>
            <a:cxnSpLocks noChangeShapeType="1"/>
            <a:stCxn id="74" idx="3"/>
            <a:endCxn id="68" idx="1"/>
          </p:cNvCxnSpPr>
          <p:nvPr/>
        </p:nvCxnSpPr>
        <p:spPr bwMode="auto">
          <a:xfrm>
            <a:off x="4508500" y="3822700"/>
            <a:ext cx="755650" cy="1497013"/>
          </a:xfrm>
          <a:prstGeom prst="bentConnector3">
            <a:avLst>
              <a:gd name="adj1" fmla="val 50000"/>
            </a:avLst>
          </a:prstGeom>
          <a:noFill/>
          <a:ln w="9525" algn="ctr">
            <a:solidFill>
              <a:schemeClr val="tx1"/>
            </a:solidFill>
            <a:round/>
          </a:ln>
        </p:spPr>
      </p:cxnSp>
      <p:cxnSp>
        <p:nvCxnSpPr>
          <p:cNvPr id="7218" name="直接连接符 76"/>
          <p:cNvCxnSpPr>
            <a:cxnSpLocks noChangeShapeType="1"/>
          </p:cNvCxnSpPr>
          <p:nvPr/>
        </p:nvCxnSpPr>
        <p:spPr bwMode="auto">
          <a:xfrm>
            <a:off x="4888366" y="3213100"/>
            <a:ext cx="371475" cy="0"/>
          </a:xfrm>
          <a:prstGeom prst="line">
            <a:avLst/>
          </a:prstGeom>
          <a:noFill/>
          <a:ln w="9525" algn="ctr">
            <a:solidFill>
              <a:schemeClr val="tx1"/>
            </a:solidFill>
            <a:round/>
          </a:ln>
        </p:spPr>
      </p:cxnSp>
      <p:sp>
        <p:nvSpPr>
          <p:cNvPr id="52" name="矩形 51"/>
          <p:cNvSpPr/>
          <p:nvPr/>
        </p:nvSpPr>
        <p:spPr bwMode="auto">
          <a:xfrm>
            <a:off x="7215206" y="145532"/>
            <a:ext cx="900000" cy="276248"/>
          </a:xfrm>
          <a:prstGeom prst="rect">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zh-CN" altLang="en-US" sz="900" b="1" dirty="0">
                <a:solidFill>
                  <a:srgbClr val="000000"/>
                </a:solidFill>
                <a:latin typeface="微软雅黑" panose="020B0503020204020204" charset="-122"/>
                <a:ea typeface="微软雅黑" panose="020B0503020204020204" charset="-122"/>
              </a:rPr>
              <a:t>有流程</a:t>
            </a:r>
            <a:endParaRPr lang="en-US" altLang="zh-CN" sz="900" b="1" dirty="0">
              <a:solidFill>
                <a:srgbClr val="000000"/>
              </a:solidFill>
              <a:latin typeface="微软雅黑" panose="020B0503020204020204" charset="-122"/>
              <a:ea typeface="微软雅黑" panose="020B0503020204020204" charset="-122"/>
            </a:endParaRPr>
          </a:p>
        </p:txBody>
      </p:sp>
      <p:sp>
        <p:nvSpPr>
          <p:cNvPr id="53" name="矩形 52"/>
          <p:cNvSpPr/>
          <p:nvPr/>
        </p:nvSpPr>
        <p:spPr bwMode="auto">
          <a:xfrm>
            <a:off x="6215074" y="145532"/>
            <a:ext cx="900000" cy="276248"/>
          </a:xfrm>
          <a:prstGeom prst="rect">
            <a:avLst/>
          </a:prstGeom>
          <a:solidFill>
            <a:srgbClr val="92D050"/>
          </a:solidFill>
          <a:ln w="6350">
            <a:solidFill>
              <a:schemeClr val="tx1"/>
            </a:solidFill>
            <a:miter lim="800000"/>
          </a:ln>
        </p:spPr>
        <p:txBody>
          <a:bodyPr lIns="18000" tIns="36000" rIns="18000" bIns="36000" rtlCol="0" anchor="ctr">
            <a:noAutofit/>
          </a:bodyPr>
          <a:lstStyle/>
          <a:p>
            <a:pPr algn="ctr">
              <a:buClr>
                <a:schemeClr val="tx1"/>
              </a:buClr>
            </a:pPr>
            <a:r>
              <a:rPr lang="zh-CN" altLang="en-US" sz="900" b="1" dirty="0">
                <a:solidFill>
                  <a:sysClr val="windowText" lastClr="000000"/>
                </a:solidFill>
                <a:latin typeface="微软雅黑" panose="020B0503020204020204" charset="-122"/>
                <a:ea typeface="微软雅黑" panose="020B0503020204020204" charset="-122"/>
              </a:rPr>
              <a:t>无流程</a:t>
            </a:r>
            <a:endParaRPr lang="en-US" altLang="zh-CN" sz="900" b="1" dirty="0">
              <a:solidFill>
                <a:sysClr val="windowText" lastClr="000000"/>
              </a:solidFill>
              <a:latin typeface="微软雅黑" panose="020B0503020204020204" charset="-122"/>
              <a:ea typeface="微软雅黑" panose="020B0503020204020204" charset="-122"/>
            </a:endParaRPr>
          </a:p>
        </p:txBody>
      </p:sp>
      <p:sp>
        <p:nvSpPr>
          <p:cNvPr id="54" name="矩形 53"/>
          <p:cNvSpPr/>
          <p:nvPr/>
        </p:nvSpPr>
        <p:spPr bwMode="auto">
          <a:xfrm>
            <a:off x="5214942" y="152356"/>
            <a:ext cx="900000" cy="276248"/>
          </a:xfrm>
          <a:prstGeom prst="rect">
            <a:avLst/>
          </a:prstGeom>
          <a:solidFill>
            <a:schemeClr val="bg1">
              <a:lumMod val="85000"/>
            </a:schemeClr>
          </a:solidFill>
          <a:ln w="6350">
            <a:solidFill>
              <a:schemeClr val="tx1"/>
            </a:solidFill>
            <a:miter lim="800000"/>
          </a:ln>
        </p:spPr>
        <p:txBody>
          <a:bodyPr lIns="18000" tIns="36000" rIns="18000" bIns="36000" rtlCol="0" anchor="ctr">
            <a:noAutofit/>
          </a:bodyPr>
          <a:lstStyle/>
          <a:p>
            <a:pPr algn="ctr">
              <a:buClr>
                <a:schemeClr val="tx1"/>
              </a:buClr>
            </a:pPr>
            <a:r>
              <a:rPr lang="en-US" altLang="zh-CN" sz="900" b="1" dirty="0">
                <a:solidFill>
                  <a:schemeClr val="bg1">
                    <a:lumMod val="65000"/>
                  </a:schemeClr>
                </a:solidFill>
                <a:latin typeface="微软雅黑" panose="020B0503020204020204" charset="-122"/>
                <a:ea typeface="微软雅黑" panose="020B0503020204020204" charset="-122"/>
              </a:rPr>
              <a:t>SCM1.0</a:t>
            </a:r>
            <a:r>
              <a:rPr lang="zh-CN" altLang="en-US" sz="900" b="1" dirty="0">
                <a:solidFill>
                  <a:schemeClr val="bg1">
                    <a:lumMod val="65000"/>
                  </a:schemeClr>
                </a:solidFill>
                <a:latin typeface="微软雅黑" panose="020B0503020204020204" charset="-122"/>
                <a:ea typeface="微软雅黑" panose="020B0503020204020204" charset="-122"/>
              </a:rPr>
              <a:t>不相关</a:t>
            </a:r>
            <a:endParaRPr lang="en-US" altLang="zh-CN" sz="9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a:t>集成计划体系流程框架</a:t>
            </a:r>
            <a:r>
              <a:t>1.0</a:t>
            </a:r>
            <a:endParaRPr lang="zh-CN" altLang="en-US"/>
          </a:p>
        </p:txBody>
      </p:sp>
      <p:sp>
        <p:nvSpPr>
          <p:cNvPr id="8195" name="文本框 2"/>
          <p:cNvSpPr txBox="1">
            <a:spLocks noChangeArrowheads="1"/>
          </p:cNvSpPr>
          <p:nvPr/>
        </p:nvSpPr>
        <p:spPr bwMode="auto">
          <a:xfrm>
            <a:off x="31765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二级流程</a:t>
            </a:r>
          </a:p>
        </p:txBody>
      </p:sp>
      <p:cxnSp>
        <p:nvCxnSpPr>
          <p:cNvPr id="8196" name="直接连接符 54"/>
          <p:cNvCxnSpPr>
            <a:cxnSpLocks noChangeShapeType="1"/>
          </p:cNvCxnSpPr>
          <p:nvPr/>
        </p:nvCxnSpPr>
        <p:spPr bwMode="auto">
          <a:xfrm>
            <a:off x="2700338" y="1436688"/>
            <a:ext cx="1800225" cy="0"/>
          </a:xfrm>
          <a:prstGeom prst="line">
            <a:avLst/>
          </a:prstGeom>
          <a:noFill/>
          <a:ln w="19050" algn="ctr">
            <a:solidFill>
              <a:srgbClr val="000000"/>
            </a:solidFill>
            <a:round/>
          </a:ln>
        </p:spPr>
      </p:cxnSp>
      <p:cxnSp>
        <p:nvCxnSpPr>
          <p:cNvPr id="8197" name="直接连接符 55"/>
          <p:cNvCxnSpPr>
            <a:cxnSpLocks noChangeShapeType="1"/>
          </p:cNvCxnSpPr>
          <p:nvPr/>
        </p:nvCxnSpPr>
        <p:spPr bwMode="auto">
          <a:xfrm>
            <a:off x="5289550" y="1436688"/>
            <a:ext cx="1800225" cy="0"/>
          </a:xfrm>
          <a:prstGeom prst="line">
            <a:avLst/>
          </a:prstGeom>
          <a:noFill/>
          <a:ln w="19050" algn="ctr">
            <a:solidFill>
              <a:srgbClr val="000000"/>
            </a:solidFill>
            <a:round/>
          </a:ln>
        </p:spPr>
      </p:cxnSp>
      <p:sp>
        <p:nvSpPr>
          <p:cNvPr id="8198" name="文本框 11"/>
          <p:cNvSpPr txBox="1">
            <a:spLocks noChangeArrowheads="1"/>
          </p:cNvSpPr>
          <p:nvPr/>
        </p:nvSpPr>
        <p:spPr bwMode="auto">
          <a:xfrm>
            <a:off x="5707063" y="1052513"/>
            <a:ext cx="1004887"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三级流程</a:t>
            </a:r>
          </a:p>
        </p:txBody>
      </p:sp>
      <p:cxnSp>
        <p:nvCxnSpPr>
          <p:cNvPr id="8199" name="直接连接符 8"/>
          <p:cNvCxnSpPr>
            <a:cxnSpLocks noChangeShapeType="1"/>
          </p:cNvCxnSpPr>
          <p:nvPr/>
        </p:nvCxnSpPr>
        <p:spPr bwMode="auto">
          <a:xfrm>
            <a:off x="431800" y="1436688"/>
            <a:ext cx="1620838" cy="0"/>
          </a:xfrm>
          <a:prstGeom prst="line">
            <a:avLst/>
          </a:prstGeom>
          <a:noFill/>
          <a:ln w="19050" algn="ctr">
            <a:solidFill>
              <a:srgbClr val="000000"/>
            </a:solidFill>
            <a:round/>
          </a:ln>
        </p:spPr>
      </p:cxnSp>
      <p:sp>
        <p:nvSpPr>
          <p:cNvPr id="8200" name="文本框 13"/>
          <p:cNvSpPr txBox="1">
            <a:spLocks noChangeArrowheads="1"/>
          </p:cNvSpPr>
          <p:nvPr/>
        </p:nvSpPr>
        <p:spPr bwMode="auto">
          <a:xfrm>
            <a:off x="7889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一级流程</a:t>
            </a:r>
          </a:p>
        </p:txBody>
      </p:sp>
      <p:sp>
        <p:nvSpPr>
          <p:cNvPr id="8201" name="Rectangle 12"/>
          <p:cNvSpPr>
            <a:spLocks noChangeArrowheads="1"/>
          </p:cNvSpPr>
          <p:nvPr/>
        </p:nvSpPr>
        <p:spPr bwMode="auto">
          <a:xfrm>
            <a:off x="395288" y="1854200"/>
            <a:ext cx="1728787"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1.0 </a:t>
            </a:r>
            <a:r>
              <a:rPr lang="zh-CN" altLang="en-US" sz="1200" b="1">
                <a:solidFill>
                  <a:schemeClr val="bg1">
                    <a:lumMod val="65000"/>
                  </a:schemeClr>
                </a:solidFill>
                <a:latin typeface="微软雅黑" panose="020B0503020204020204" charset="-122"/>
                <a:ea typeface="微软雅黑" panose="020B0503020204020204" charset="-122"/>
              </a:rPr>
              <a:t>战略规划管理</a:t>
            </a:r>
          </a:p>
        </p:txBody>
      </p:sp>
      <p:sp>
        <p:nvSpPr>
          <p:cNvPr id="8202" name="Rectangle 13"/>
          <p:cNvSpPr>
            <a:spLocks noChangeArrowheads="1"/>
          </p:cNvSpPr>
          <p:nvPr/>
        </p:nvSpPr>
        <p:spPr bwMode="auto">
          <a:xfrm>
            <a:off x="395288" y="2433638"/>
            <a:ext cx="1728787" cy="4191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2.0 </a:t>
            </a:r>
            <a:r>
              <a:rPr lang="zh-CN" altLang="en-US" sz="1200" b="1">
                <a:solidFill>
                  <a:schemeClr val="bg1">
                    <a:lumMod val="65000"/>
                  </a:schemeClr>
                </a:solidFill>
                <a:latin typeface="微软雅黑" panose="020B0503020204020204" charset="-122"/>
                <a:ea typeface="微软雅黑" panose="020B0503020204020204" charset="-122"/>
              </a:rPr>
              <a:t>投资决策管理</a:t>
            </a:r>
          </a:p>
        </p:txBody>
      </p:sp>
      <p:sp>
        <p:nvSpPr>
          <p:cNvPr id="8203" name="Rectangle 20"/>
          <p:cNvSpPr>
            <a:spLocks noChangeArrowheads="1"/>
          </p:cNvSpPr>
          <p:nvPr/>
        </p:nvSpPr>
        <p:spPr bwMode="auto">
          <a:xfrm>
            <a:off x="395288" y="4797425"/>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6.0 </a:t>
            </a:r>
            <a:r>
              <a:rPr lang="zh-CN" altLang="en-US" sz="1200" b="1">
                <a:solidFill>
                  <a:schemeClr val="bg1">
                    <a:lumMod val="65000"/>
                  </a:schemeClr>
                </a:solidFill>
                <a:latin typeface="微软雅黑" panose="020B0503020204020204" charset="-122"/>
                <a:ea typeface="微软雅黑" panose="020B0503020204020204" charset="-122"/>
              </a:rPr>
              <a:t>人力资源管理</a:t>
            </a:r>
          </a:p>
        </p:txBody>
      </p:sp>
      <p:sp>
        <p:nvSpPr>
          <p:cNvPr id="66" name="Rectangle 21"/>
          <p:cNvSpPr/>
          <p:nvPr/>
        </p:nvSpPr>
        <p:spPr>
          <a:xfrm>
            <a:off x="2771775" y="1854200"/>
            <a:ext cx="1728788"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 </a:t>
            </a:r>
            <a:r>
              <a:rPr lang="zh-CN" altLang="en-US" sz="1200" b="1" dirty="0">
                <a:solidFill>
                  <a:schemeClr val="bg1">
                    <a:lumMod val="65000"/>
                  </a:schemeClr>
                </a:solidFill>
                <a:latin typeface="微软雅黑" panose="020B0503020204020204" charset="-122"/>
                <a:ea typeface="微软雅黑" panose="020B0503020204020204" charset="-122"/>
              </a:rPr>
              <a:t>采购战略与规划</a:t>
            </a:r>
          </a:p>
        </p:txBody>
      </p:sp>
      <p:sp>
        <p:nvSpPr>
          <p:cNvPr id="67" name="Rectangle 22"/>
          <p:cNvSpPr/>
          <p:nvPr/>
        </p:nvSpPr>
        <p:spPr>
          <a:xfrm>
            <a:off x="2771775" y="2497138"/>
            <a:ext cx="1728788"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5.2 </a:t>
            </a:r>
            <a:r>
              <a:rPr lang="zh-CN" altLang="en-US" sz="1200" b="1" dirty="0">
                <a:solidFill>
                  <a:schemeClr val="bg1">
                    <a:lumMod val="65000"/>
                  </a:schemeClr>
                </a:solidFill>
                <a:latin typeface="微软雅黑" panose="020B0503020204020204" charset="-122"/>
                <a:ea typeface="微软雅黑" panose="020B0503020204020204" charset="-122"/>
              </a:rPr>
              <a:t>供应链计划管理</a:t>
            </a:r>
          </a:p>
        </p:txBody>
      </p:sp>
      <p:sp>
        <p:nvSpPr>
          <p:cNvPr id="71" name="Rectangle 23"/>
          <p:cNvSpPr/>
          <p:nvPr/>
        </p:nvSpPr>
        <p:spPr>
          <a:xfrm>
            <a:off x="2771775" y="3071813"/>
            <a:ext cx="1728788"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5.3 </a:t>
            </a:r>
            <a:r>
              <a:rPr lang="zh-CN" altLang="en-US" sz="1200" b="1" dirty="0">
                <a:solidFill>
                  <a:schemeClr val="bg1">
                    <a:lumMod val="65000"/>
                  </a:schemeClr>
                </a:solidFill>
                <a:latin typeface="微软雅黑" panose="020B0503020204020204" charset="-122"/>
                <a:ea typeface="微软雅黑" panose="020B0503020204020204" charset="-122"/>
              </a:rPr>
              <a:t>供应商关系管理</a:t>
            </a:r>
            <a:endParaRPr lang="en-US" altLang="zh-CN" sz="1200" b="1" dirty="0">
              <a:solidFill>
                <a:schemeClr val="bg1">
                  <a:lumMod val="65000"/>
                </a:schemeClr>
              </a:solidFill>
              <a:latin typeface="微软雅黑" panose="020B0503020204020204" charset="-122"/>
              <a:ea typeface="微软雅黑" panose="020B0503020204020204" charset="-122"/>
            </a:endParaRPr>
          </a:p>
        </p:txBody>
      </p:sp>
      <p:sp>
        <p:nvSpPr>
          <p:cNvPr id="74" name="Rectangle 25"/>
          <p:cNvSpPr>
            <a:spLocks noChangeArrowheads="1"/>
          </p:cNvSpPr>
          <p:nvPr/>
        </p:nvSpPr>
        <p:spPr bwMode="auto">
          <a:xfrm>
            <a:off x="2779713" y="3644900"/>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a:spcBef>
                <a:spcPct val="20000"/>
              </a:spcBef>
              <a:buClr>
                <a:schemeClr val="tx1"/>
              </a:buClr>
              <a:defRPr/>
            </a:pPr>
            <a:r>
              <a:rPr lang="en-US" altLang="zh-CN" sz="1200" b="1">
                <a:solidFill>
                  <a:schemeClr val="bg1">
                    <a:lumMod val="65000"/>
                  </a:schemeClr>
                </a:solidFill>
                <a:latin typeface="微软雅黑" panose="020B0503020204020204" charset="-122"/>
                <a:ea typeface="微软雅黑" panose="020B0503020204020204" charset="-122"/>
              </a:rPr>
              <a:t>5.4 </a:t>
            </a:r>
            <a:r>
              <a:rPr lang="zh-CN" altLang="en-US" sz="1200" b="1">
                <a:solidFill>
                  <a:schemeClr val="bg1">
                    <a:lumMod val="65000"/>
                  </a:schemeClr>
                </a:solidFill>
                <a:latin typeface="微软雅黑" panose="020B0503020204020204" charset="-122"/>
                <a:ea typeface="微软雅黑" panose="020B0503020204020204" charset="-122"/>
              </a:rPr>
              <a:t>战略采购</a:t>
            </a:r>
          </a:p>
        </p:txBody>
      </p:sp>
      <p:sp>
        <p:nvSpPr>
          <p:cNvPr id="75" name="Rectangle 26"/>
          <p:cNvSpPr/>
          <p:nvPr/>
        </p:nvSpPr>
        <p:spPr>
          <a:xfrm>
            <a:off x="2779713" y="4224338"/>
            <a:ext cx="1728787" cy="357187"/>
          </a:xfrm>
          <a:prstGeom prst="rect">
            <a:avLst/>
          </a:prstGeom>
          <a:solidFill>
            <a:srgbClr val="D6DBFE"/>
          </a:solidFill>
          <a:ln w="9525">
            <a:solidFill>
              <a:srgbClr val="000000"/>
            </a:solidFill>
            <a:miter lim="800000"/>
          </a:ln>
        </p:spPr>
        <p:txBody>
          <a:bodyPr wrap="none" lIns="72000" anchor="ctr"/>
          <a:lstStyle/>
          <a:p>
            <a:pPr indent="-117475" fontAlgn="auto">
              <a:spcBef>
                <a:spcPct val="20000"/>
              </a:spcBef>
              <a:spcAft>
                <a:spcPts val="0"/>
              </a:spcAft>
              <a:buClr>
                <a:srgbClr val="000000"/>
              </a:buClr>
              <a:defRPr/>
            </a:pPr>
            <a:r>
              <a:rPr lang="en-US" altLang="zh-CN" sz="1200" b="1" dirty="0">
                <a:latin typeface="微软雅黑" panose="020B0503020204020204" charset="-122"/>
                <a:ea typeface="微软雅黑" panose="020B0503020204020204" charset="-122"/>
              </a:rPr>
              <a:t>5.5 </a:t>
            </a:r>
            <a:r>
              <a:rPr lang="zh-CN" altLang="en-US" sz="1200" b="1" dirty="0">
                <a:latin typeface="微软雅黑" panose="020B0503020204020204" charset="-122"/>
                <a:ea typeface="微软雅黑" panose="020B0503020204020204" charset="-122"/>
              </a:rPr>
              <a:t>采购执行与支持</a:t>
            </a:r>
          </a:p>
        </p:txBody>
      </p:sp>
      <p:cxnSp>
        <p:nvCxnSpPr>
          <p:cNvPr id="8209" name="Straight Connector 39"/>
          <p:cNvCxnSpPr>
            <a:cxnSpLocks noChangeShapeType="1"/>
            <a:stCxn id="105" idx="3"/>
            <a:endCxn id="67" idx="1"/>
          </p:cNvCxnSpPr>
          <p:nvPr/>
        </p:nvCxnSpPr>
        <p:spPr bwMode="auto">
          <a:xfrm flipV="1">
            <a:off x="2124075" y="2674938"/>
            <a:ext cx="647700" cy="1728787"/>
          </a:xfrm>
          <a:prstGeom prst="bentConnector3">
            <a:avLst>
              <a:gd name="adj1" fmla="val 50000"/>
            </a:avLst>
          </a:prstGeom>
          <a:noFill/>
          <a:ln w="9525" algn="ctr">
            <a:solidFill>
              <a:srgbClr val="000000"/>
            </a:solidFill>
            <a:round/>
          </a:ln>
        </p:spPr>
      </p:cxnSp>
      <p:cxnSp>
        <p:nvCxnSpPr>
          <p:cNvPr id="8210" name="Straight Connector 41"/>
          <p:cNvCxnSpPr>
            <a:cxnSpLocks noChangeShapeType="1"/>
            <a:endCxn id="66" idx="1"/>
          </p:cNvCxnSpPr>
          <p:nvPr/>
        </p:nvCxnSpPr>
        <p:spPr bwMode="auto">
          <a:xfrm flipV="1">
            <a:off x="2143125" y="2033588"/>
            <a:ext cx="628650" cy="2365375"/>
          </a:xfrm>
          <a:prstGeom prst="bentConnector3">
            <a:avLst>
              <a:gd name="adj1" fmla="val 50000"/>
            </a:avLst>
          </a:prstGeom>
          <a:noFill/>
          <a:ln w="9525" algn="ctr">
            <a:solidFill>
              <a:srgbClr val="000000"/>
            </a:solidFill>
            <a:round/>
          </a:ln>
        </p:spPr>
      </p:cxnSp>
      <p:cxnSp>
        <p:nvCxnSpPr>
          <p:cNvPr id="8211" name="Elbow Connector 43"/>
          <p:cNvCxnSpPr>
            <a:cxnSpLocks noChangeShapeType="1"/>
            <a:stCxn id="105" idx="3"/>
            <a:endCxn id="71" idx="1"/>
          </p:cNvCxnSpPr>
          <p:nvPr/>
        </p:nvCxnSpPr>
        <p:spPr bwMode="auto">
          <a:xfrm flipV="1">
            <a:off x="2124075" y="3251200"/>
            <a:ext cx="647700" cy="1152525"/>
          </a:xfrm>
          <a:prstGeom prst="bentConnector3">
            <a:avLst>
              <a:gd name="adj1" fmla="val 50000"/>
            </a:avLst>
          </a:prstGeom>
          <a:noFill/>
          <a:ln w="9525" algn="ctr">
            <a:solidFill>
              <a:srgbClr val="000000"/>
            </a:solidFill>
            <a:round/>
          </a:ln>
        </p:spPr>
      </p:cxnSp>
      <p:cxnSp>
        <p:nvCxnSpPr>
          <p:cNvPr id="8212" name="Elbow Connector 47"/>
          <p:cNvCxnSpPr>
            <a:cxnSpLocks noChangeShapeType="1"/>
            <a:stCxn id="105" idx="3"/>
            <a:endCxn id="74" idx="1"/>
          </p:cNvCxnSpPr>
          <p:nvPr/>
        </p:nvCxnSpPr>
        <p:spPr bwMode="auto">
          <a:xfrm flipV="1">
            <a:off x="2124075" y="3822700"/>
            <a:ext cx="655638" cy="581025"/>
          </a:xfrm>
          <a:prstGeom prst="bentConnector3">
            <a:avLst>
              <a:gd name="adj1" fmla="val 50000"/>
            </a:avLst>
          </a:prstGeom>
          <a:noFill/>
          <a:ln w="9525" algn="ctr">
            <a:solidFill>
              <a:srgbClr val="000000"/>
            </a:solidFill>
            <a:round/>
          </a:ln>
        </p:spPr>
      </p:cxnSp>
      <p:cxnSp>
        <p:nvCxnSpPr>
          <p:cNvPr id="8213" name="Elbow Connector 49"/>
          <p:cNvCxnSpPr>
            <a:cxnSpLocks noChangeShapeType="1"/>
            <a:stCxn id="105" idx="3"/>
            <a:endCxn id="75" idx="1"/>
          </p:cNvCxnSpPr>
          <p:nvPr/>
        </p:nvCxnSpPr>
        <p:spPr bwMode="auto">
          <a:xfrm flipV="1">
            <a:off x="2124075" y="4402138"/>
            <a:ext cx="655638" cy="1587"/>
          </a:xfrm>
          <a:prstGeom prst="bentConnector3">
            <a:avLst>
              <a:gd name="adj1" fmla="val 50000"/>
            </a:avLst>
          </a:prstGeom>
          <a:noFill/>
          <a:ln w="9525" algn="ctr">
            <a:solidFill>
              <a:srgbClr val="000000"/>
            </a:solidFill>
            <a:round/>
          </a:ln>
        </p:spPr>
      </p:cxnSp>
      <p:cxnSp>
        <p:nvCxnSpPr>
          <p:cNvPr id="8214" name="Elbow Connector 68"/>
          <p:cNvCxnSpPr>
            <a:cxnSpLocks noChangeShapeType="1"/>
            <a:stCxn id="105" idx="3"/>
            <a:endCxn id="74" idx="1"/>
          </p:cNvCxnSpPr>
          <p:nvPr/>
        </p:nvCxnSpPr>
        <p:spPr bwMode="auto">
          <a:xfrm flipV="1">
            <a:off x="2124075" y="3822700"/>
            <a:ext cx="655638" cy="581025"/>
          </a:xfrm>
          <a:prstGeom prst="bentConnector3">
            <a:avLst>
              <a:gd name="adj1" fmla="val 50000"/>
            </a:avLst>
          </a:prstGeom>
          <a:noFill/>
          <a:ln w="9525" algn="ctr">
            <a:solidFill>
              <a:srgbClr val="000000"/>
            </a:solidFill>
            <a:round/>
          </a:ln>
        </p:spPr>
      </p:cxnSp>
      <p:sp>
        <p:nvSpPr>
          <p:cNvPr id="8215" name="Rectangle 15"/>
          <p:cNvSpPr>
            <a:spLocks noChangeArrowheads="1"/>
          </p:cNvSpPr>
          <p:nvPr/>
        </p:nvSpPr>
        <p:spPr bwMode="auto">
          <a:xfrm>
            <a:off x="395288" y="3052763"/>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3.0 </a:t>
            </a:r>
            <a:r>
              <a:rPr lang="zh-CN" altLang="en-US" sz="1200" b="1">
                <a:solidFill>
                  <a:schemeClr val="bg1">
                    <a:lumMod val="65000"/>
                  </a:schemeClr>
                </a:solidFill>
                <a:latin typeface="微软雅黑" panose="020B0503020204020204" charset="-122"/>
                <a:ea typeface="微软雅黑" panose="020B0503020204020204" charset="-122"/>
              </a:rPr>
              <a:t>研发与创新</a:t>
            </a:r>
          </a:p>
        </p:txBody>
      </p:sp>
      <p:sp>
        <p:nvSpPr>
          <p:cNvPr id="100" name="Rectangle 26"/>
          <p:cNvSpPr/>
          <p:nvPr/>
        </p:nvSpPr>
        <p:spPr>
          <a:xfrm>
            <a:off x="2779713" y="4800600"/>
            <a:ext cx="1728787"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5.6 </a:t>
            </a:r>
            <a:r>
              <a:rPr lang="zh-CN" altLang="en-US" sz="1200" b="1" dirty="0">
                <a:solidFill>
                  <a:schemeClr val="bg1">
                    <a:lumMod val="65000"/>
                  </a:schemeClr>
                </a:solidFill>
                <a:latin typeface="微软雅黑" panose="020B0503020204020204" charset="-122"/>
                <a:ea typeface="微软雅黑" panose="020B0503020204020204" charset="-122"/>
              </a:rPr>
              <a:t>物流管理</a:t>
            </a:r>
          </a:p>
        </p:txBody>
      </p:sp>
      <p:cxnSp>
        <p:nvCxnSpPr>
          <p:cNvPr id="8217" name="肘形连接符 25"/>
          <p:cNvCxnSpPr>
            <a:cxnSpLocks noChangeShapeType="1"/>
          </p:cNvCxnSpPr>
          <p:nvPr/>
        </p:nvCxnSpPr>
        <p:spPr bwMode="auto">
          <a:xfrm>
            <a:off x="2143125" y="4398963"/>
            <a:ext cx="636588" cy="504825"/>
          </a:xfrm>
          <a:prstGeom prst="bentConnector3">
            <a:avLst>
              <a:gd name="adj1" fmla="val 45556"/>
            </a:avLst>
          </a:prstGeom>
          <a:noFill/>
          <a:ln w="9525" algn="ctr">
            <a:solidFill>
              <a:schemeClr val="tx1"/>
            </a:solidFill>
            <a:round/>
          </a:ln>
        </p:spPr>
      </p:cxnSp>
      <p:sp>
        <p:nvSpPr>
          <p:cNvPr id="103" name="Rectangle 20"/>
          <p:cNvSpPr/>
          <p:nvPr/>
        </p:nvSpPr>
        <p:spPr>
          <a:xfrm>
            <a:off x="395288" y="5445125"/>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a:t>
            </a:r>
            <a:endParaRPr lang="zh-CN" altLang="en-US" sz="1200" b="1" dirty="0">
              <a:solidFill>
                <a:schemeClr val="bg1">
                  <a:lumMod val="65000"/>
                </a:schemeClr>
              </a:solidFill>
              <a:latin typeface="微软雅黑" panose="020B0503020204020204" charset="-122"/>
              <a:ea typeface="微软雅黑" panose="020B0503020204020204" charset="-122"/>
            </a:endParaRPr>
          </a:p>
        </p:txBody>
      </p:sp>
      <p:sp>
        <p:nvSpPr>
          <p:cNvPr id="8219" name="Rectangle 15"/>
          <p:cNvSpPr>
            <a:spLocks noChangeArrowheads="1"/>
          </p:cNvSpPr>
          <p:nvPr/>
        </p:nvSpPr>
        <p:spPr bwMode="auto">
          <a:xfrm>
            <a:off x="395288" y="3644900"/>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4.0 </a:t>
            </a:r>
            <a:r>
              <a:rPr lang="zh-CN" altLang="en-US" sz="1200" b="1">
                <a:solidFill>
                  <a:schemeClr val="bg1">
                    <a:lumMod val="65000"/>
                  </a:schemeClr>
                </a:solidFill>
                <a:latin typeface="微软雅黑" panose="020B0503020204020204" charset="-122"/>
                <a:ea typeface="微软雅黑" panose="020B0503020204020204" charset="-122"/>
              </a:rPr>
              <a:t>营销与服务</a:t>
            </a:r>
          </a:p>
        </p:txBody>
      </p:sp>
      <p:sp>
        <p:nvSpPr>
          <p:cNvPr id="105" name="Rectangle 24"/>
          <p:cNvSpPr>
            <a:spLocks noChangeArrowheads="1"/>
          </p:cNvSpPr>
          <p:nvPr/>
        </p:nvSpPr>
        <p:spPr bwMode="auto">
          <a:xfrm>
            <a:off x="395288" y="4225925"/>
            <a:ext cx="1728787" cy="355600"/>
          </a:xfrm>
          <a:prstGeom prst="rect">
            <a:avLst/>
          </a:prstGeom>
          <a:solidFill>
            <a:srgbClr val="D6DBFE"/>
          </a:solidFill>
          <a:ln w="9525">
            <a:solidFill>
              <a:srgbClr val="000000"/>
            </a:solidFill>
            <a:miter lim="800000"/>
          </a:ln>
        </p:spPr>
        <p:txBody>
          <a:bodyPr wrap="none" lIns="72000" anchor="ctr"/>
          <a:lstStyle/>
          <a:p>
            <a:pPr>
              <a:spcBef>
                <a:spcPct val="20000"/>
              </a:spcBef>
              <a:defRPr/>
            </a:pPr>
            <a:r>
              <a:rPr lang="en-US" altLang="zh-CN" sz="1200" b="1">
                <a:latin typeface="微软雅黑" panose="020B0503020204020204" charset="-122"/>
                <a:ea typeface="微软雅黑" panose="020B0503020204020204" charset="-122"/>
              </a:rPr>
              <a:t>5.0 </a:t>
            </a:r>
            <a:r>
              <a:rPr lang="zh-CN" altLang="en-US" sz="1200" b="1">
                <a:latin typeface="微软雅黑" panose="020B0503020204020204" charset="-122"/>
                <a:ea typeface="微软雅黑" panose="020B0503020204020204" charset="-122"/>
              </a:rPr>
              <a:t>制造与商务</a:t>
            </a:r>
          </a:p>
        </p:txBody>
      </p:sp>
      <p:sp>
        <p:nvSpPr>
          <p:cNvPr id="106" name="Rectangle 26"/>
          <p:cNvSpPr/>
          <p:nvPr/>
        </p:nvSpPr>
        <p:spPr>
          <a:xfrm>
            <a:off x="2771775" y="5437188"/>
            <a:ext cx="1728788"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5.7 </a:t>
            </a:r>
            <a:r>
              <a:rPr lang="zh-CN" altLang="en-US" sz="1200" b="1" dirty="0">
                <a:solidFill>
                  <a:schemeClr val="bg1">
                    <a:lumMod val="65000"/>
                  </a:schemeClr>
                </a:solidFill>
                <a:latin typeface="微软雅黑" panose="020B0503020204020204" charset="-122"/>
                <a:ea typeface="微软雅黑" panose="020B0503020204020204" charset="-122"/>
              </a:rPr>
              <a:t>制造管理</a:t>
            </a:r>
          </a:p>
        </p:txBody>
      </p:sp>
      <p:sp>
        <p:nvSpPr>
          <p:cNvPr id="107" name="Rectangle 21"/>
          <p:cNvSpPr/>
          <p:nvPr/>
        </p:nvSpPr>
        <p:spPr>
          <a:xfrm>
            <a:off x="5262563" y="1874838"/>
            <a:ext cx="2159000" cy="2889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5.5.1</a:t>
            </a:r>
            <a:r>
              <a:rPr lang="zh-CN" altLang="en-US" sz="1200" b="1" kern="0" dirty="0">
                <a:latin typeface="微软雅黑" panose="020B0503020204020204" charset="-122"/>
                <a:ea typeface="微软雅黑" panose="020B0503020204020204" charset="-122"/>
              </a:rPr>
              <a:t>采购计划管理</a:t>
            </a:r>
          </a:p>
        </p:txBody>
      </p:sp>
      <p:sp>
        <p:nvSpPr>
          <p:cNvPr id="109" name="Rectangle 21"/>
          <p:cNvSpPr/>
          <p:nvPr/>
        </p:nvSpPr>
        <p:spPr>
          <a:xfrm>
            <a:off x="5257800" y="2236788"/>
            <a:ext cx="2159000"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5.5.2</a:t>
            </a:r>
            <a:r>
              <a:rPr lang="zh-CN" altLang="en-US" sz="1200" b="1" kern="0" dirty="0">
                <a:latin typeface="微软雅黑" panose="020B0503020204020204" charset="-122"/>
                <a:ea typeface="微软雅黑" panose="020B0503020204020204" charset="-122"/>
              </a:rPr>
              <a:t>采购订单管理</a:t>
            </a:r>
          </a:p>
        </p:txBody>
      </p:sp>
      <p:sp>
        <p:nvSpPr>
          <p:cNvPr id="110" name="Rectangle 21"/>
          <p:cNvSpPr/>
          <p:nvPr/>
        </p:nvSpPr>
        <p:spPr>
          <a:xfrm>
            <a:off x="5257800" y="2522538"/>
            <a:ext cx="2159000"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5.5.3</a:t>
            </a:r>
            <a:r>
              <a:rPr lang="zh-CN" altLang="en-US" sz="1200" b="1" kern="0" dirty="0">
                <a:latin typeface="微软雅黑" panose="020B0503020204020204" charset="-122"/>
                <a:ea typeface="微软雅黑" panose="020B0503020204020204" charset="-122"/>
              </a:rPr>
              <a:t>物资进口</a:t>
            </a:r>
          </a:p>
        </p:txBody>
      </p:sp>
      <p:sp>
        <p:nvSpPr>
          <p:cNvPr id="113" name="Rectangle 21"/>
          <p:cNvSpPr/>
          <p:nvPr/>
        </p:nvSpPr>
        <p:spPr>
          <a:xfrm>
            <a:off x="5257800" y="2819400"/>
            <a:ext cx="2159000"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5.5.4</a:t>
            </a:r>
            <a:r>
              <a:rPr lang="zh-CN" altLang="en-US" sz="1200" b="1" kern="0" dirty="0">
                <a:latin typeface="微软雅黑" panose="020B0503020204020204" charset="-122"/>
                <a:ea typeface="微软雅黑" panose="020B0503020204020204" charset="-122"/>
              </a:rPr>
              <a:t>采购异常管理</a:t>
            </a:r>
          </a:p>
        </p:txBody>
      </p:sp>
      <p:sp>
        <p:nvSpPr>
          <p:cNvPr id="121" name="Rectangle 21"/>
          <p:cNvSpPr/>
          <p:nvPr/>
        </p:nvSpPr>
        <p:spPr>
          <a:xfrm>
            <a:off x="5262563" y="3125788"/>
            <a:ext cx="2159000"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5.5.5</a:t>
            </a:r>
            <a:r>
              <a:rPr lang="zh-CN" altLang="en-US" sz="1200" b="1" kern="0" dirty="0">
                <a:latin typeface="微软雅黑" panose="020B0503020204020204" charset="-122"/>
                <a:ea typeface="微软雅黑" panose="020B0503020204020204" charset="-122"/>
              </a:rPr>
              <a:t>采购报帐付款</a:t>
            </a:r>
          </a:p>
        </p:txBody>
      </p:sp>
      <p:sp>
        <p:nvSpPr>
          <p:cNvPr id="122" name="Rectangle 21"/>
          <p:cNvSpPr/>
          <p:nvPr/>
        </p:nvSpPr>
        <p:spPr>
          <a:xfrm>
            <a:off x="5280025" y="4322763"/>
            <a:ext cx="2160588" cy="252412"/>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5.5.9</a:t>
            </a:r>
            <a:r>
              <a:rPr lang="zh-CN" altLang="en-US" sz="1200" b="1" kern="0" dirty="0">
                <a:latin typeface="微软雅黑" panose="020B0503020204020204" charset="-122"/>
                <a:ea typeface="微软雅黑" panose="020B0503020204020204" charset="-122"/>
              </a:rPr>
              <a:t>采购数据管理</a:t>
            </a:r>
          </a:p>
        </p:txBody>
      </p:sp>
      <p:sp>
        <p:nvSpPr>
          <p:cNvPr id="125" name="Rectangle 21"/>
          <p:cNvSpPr/>
          <p:nvPr/>
        </p:nvSpPr>
        <p:spPr>
          <a:xfrm>
            <a:off x="5278438" y="4025900"/>
            <a:ext cx="2160587" cy="252413"/>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5.5.8</a:t>
            </a:r>
            <a:r>
              <a:rPr lang="zh-CN" altLang="en-US" sz="1200" b="1" kern="0" dirty="0">
                <a:latin typeface="微软雅黑" panose="020B0503020204020204" charset="-122"/>
                <a:ea typeface="微软雅黑" panose="020B0503020204020204" charset="-122"/>
              </a:rPr>
              <a:t>合规管理</a:t>
            </a:r>
          </a:p>
        </p:txBody>
      </p:sp>
      <p:sp>
        <p:nvSpPr>
          <p:cNvPr id="126" name="Rectangle 21"/>
          <p:cNvSpPr/>
          <p:nvPr/>
        </p:nvSpPr>
        <p:spPr>
          <a:xfrm>
            <a:off x="5268913" y="3736975"/>
            <a:ext cx="2160587" cy="252413"/>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5.5.7</a:t>
            </a:r>
            <a:r>
              <a:rPr lang="zh-CN" altLang="en-US" sz="1200" b="1" kern="0" dirty="0">
                <a:latin typeface="微软雅黑" panose="020B0503020204020204" charset="-122"/>
                <a:ea typeface="微软雅黑" panose="020B0503020204020204" charset="-122"/>
              </a:rPr>
              <a:t>合同管理</a:t>
            </a:r>
          </a:p>
        </p:txBody>
      </p:sp>
      <p:sp>
        <p:nvSpPr>
          <p:cNvPr id="127" name="Rectangle 21"/>
          <p:cNvSpPr/>
          <p:nvPr/>
        </p:nvSpPr>
        <p:spPr>
          <a:xfrm>
            <a:off x="5280025" y="3444875"/>
            <a:ext cx="2160588" cy="252413"/>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5.5.6 </a:t>
            </a:r>
            <a:r>
              <a:rPr lang="zh-CN" altLang="en-US" sz="1200" b="1" kern="0" dirty="0">
                <a:latin typeface="微软雅黑" panose="020B0503020204020204" charset="-122"/>
                <a:ea typeface="微软雅黑" panose="020B0503020204020204" charset="-122"/>
              </a:rPr>
              <a:t>废旧及呆滞物资处理</a:t>
            </a:r>
          </a:p>
        </p:txBody>
      </p:sp>
      <p:cxnSp>
        <p:nvCxnSpPr>
          <p:cNvPr id="8231" name="肘形连接符 6"/>
          <p:cNvCxnSpPr>
            <a:cxnSpLocks noChangeShapeType="1"/>
            <a:stCxn id="105" idx="3"/>
            <a:endCxn id="106" idx="1"/>
          </p:cNvCxnSpPr>
          <p:nvPr/>
        </p:nvCxnSpPr>
        <p:spPr bwMode="auto">
          <a:xfrm>
            <a:off x="2124075" y="4403725"/>
            <a:ext cx="647700" cy="1212850"/>
          </a:xfrm>
          <a:prstGeom prst="bentConnector3">
            <a:avLst>
              <a:gd name="adj1" fmla="val 50000"/>
            </a:avLst>
          </a:prstGeom>
          <a:noFill/>
          <a:ln w="9525" algn="ctr">
            <a:solidFill>
              <a:schemeClr val="tx1"/>
            </a:solidFill>
            <a:round/>
          </a:ln>
        </p:spPr>
      </p:cxnSp>
      <p:cxnSp>
        <p:nvCxnSpPr>
          <p:cNvPr id="8232" name="直接箭头连接符 30"/>
          <p:cNvCxnSpPr>
            <a:cxnSpLocks noChangeShapeType="1"/>
            <a:endCxn id="127" idx="1"/>
          </p:cNvCxnSpPr>
          <p:nvPr/>
        </p:nvCxnSpPr>
        <p:spPr bwMode="auto">
          <a:xfrm>
            <a:off x="4894263" y="3570288"/>
            <a:ext cx="385762" cy="0"/>
          </a:xfrm>
          <a:prstGeom prst="straightConnector1">
            <a:avLst/>
          </a:prstGeom>
          <a:noFill/>
          <a:ln w="9525" algn="ctr">
            <a:solidFill>
              <a:schemeClr val="tx1"/>
            </a:solidFill>
            <a:round/>
          </a:ln>
        </p:spPr>
      </p:cxnSp>
      <p:cxnSp>
        <p:nvCxnSpPr>
          <p:cNvPr id="8233" name="直接箭头连接符 32"/>
          <p:cNvCxnSpPr>
            <a:cxnSpLocks noChangeShapeType="1"/>
            <a:endCxn id="126" idx="1"/>
          </p:cNvCxnSpPr>
          <p:nvPr/>
        </p:nvCxnSpPr>
        <p:spPr bwMode="auto">
          <a:xfrm>
            <a:off x="4894263" y="3863975"/>
            <a:ext cx="374650" cy="0"/>
          </a:xfrm>
          <a:prstGeom prst="straightConnector1">
            <a:avLst/>
          </a:prstGeom>
          <a:noFill/>
          <a:ln w="9525" algn="ctr">
            <a:solidFill>
              <a:schemeClr val="tx1"/>
            </a:solidFill>
            <a:round/>
          </a:ln>
        </p:spPr>
      </p:cxnSp>
      <p:cxnSp>
        <p:nvCxnSpPr>
          <p:cNvPr id="8234" name="直接箭头连接符 37"/>
          <p:cNvCxnSpPr>
            <a:cxnSpLocks noChangeShapeType="1"/>
            <a:endCxn id="125" idx="1"/>
          </p:cNvCxnSpPr>
          <p:nvPr/>
        </p:nvCxnSpPr>
        <p:spPr bwMode="auto">
          <a:xfrm>
            <a:off x="4894263" y="4151313"/>
            <a:ext cx="384175" cy="0"/>
          </a:xfrm>
          <a:prstGeom prst="straightConnector1">
            <a:avLst/>
          </a:prstGeom>
          <a:noFill/>
          <a:ln w="9525" algn="ctr">
            <a:solidFill>
              <a:schemeClr val="tx1"/>
            </a:solidFill>
            <a:round/>
          </a:ln>
        </p:spPr>
      </p:cxnSp>
      <p:cxnSp>
        <p:nvCxnSpPr>
          <p:cNvPr id="8235" name="直接连接符 151"/>
          <p:cNvCxnSpPr>
            <a:cxnSpLocks noChangeShapeType="1"/>
            <a:endCxn id="110" idx="1"/>
          </p:cNvCxnSpPr>
          <p:nvPr/>
        </p:nvCxnSpPr>
        <p:spPr bwMode="auto">
          <a:xfrm>
            <a:off x="4887913" y="2647950"/>
            <a:ext cx="369887" cy="0"/>
          </a:xfrm>
          <a:prstGeom prst="line">
            <a:avLst/>
          </a:prstGeom>
          <a:noFill/>
          <a:ln w="9525" algn="ctr">
            <a:solidFill>
              <a:schemeClr val="tx1"/>
            </a:solidFill>
            <a:round/>
          </a:ln>
        </p:spPr>
      </p:cxnSp>
      <p:sp>
        <p:nvSpPr>
          <p:cNvPr id="68" name="Rectangle 21"/>
          <p:cNvSpPr/>
          <p:nvPr/>
        </p:nvSpPr>
        <p:spPr>
          <a:xfrm>
            <a:off x="5283200" y="4616450"/>
            <a:ext cx="2159000" cy="252413"/>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5.5.10</a:t>
            </a:r>
            <a:r>
              <a:rPr lang="zh-CN" altLang="en-US" sz="1200" b="1" kern="0" dirty="0">
                <a:latin typeface="微软雅黑" panose="020B0503020204020204" charset="-122"/>
                <a:ea typeface="微软雅黑" panose="020B0503020204020204" charset="-122"/>
              </a:rPr>
              <a:t>库存控制</a:t>
            </a:r>
          </a:p>
        </p:txBody>
      </p:sp>
      <p:cxnSp>
        <p:nvCxnSpPr>
          <p:cNvPr id="8237" name="直接连接符 68"/>
          <p:cNvCxnSpPr>
            <a:cxnSpLocks noChangeShapeType="1"/>
            <a:endCxn id="68" idx="1"/>
          </p:cNvCxnSpPr>
          <p:nvPr/>
        </p:nvCxnSpPr>
        <p:spPr bwMode="auto">
          <a:xfrm>
            <a:off x="4897438" y="4743450"/>
            <a:ext cx="385762" cy="0"/>
          </a:xfrm>
          <a:prstGeom prst="line">
            <a:avLst/>
          </a:prstGeom>
          <a:noFill/>
          <a:ln w="9525" algn="ctr">
            <a:solidFill>
              <a:schemeClr val="tx1"/>
            </a:solidFill>
            <a:round/>
          </a:ln>
        </p:spPr>
      </p:cxnSp>
      <p:cxnSp>
        <p:nvCxnSpPr>
          <p:cNvPr id="8238" name="肘形连接符 2"/>
          <p:cNvCxnSpPr>
            <a:cxnSpLocks noChangeShapeType="1"/>
            <a:stCxn id="75" idx="3"/>
            <a:endCxn id="107" idx="1"/>
          </p:cNvCxnSpPr>
          <p:nvPr/>
        </p:nvCxnSpPr>
        <p:spPr bwMode="auto">
          <a:xfrm flipV="1">
            <a:off x="4508500" y="2019300"/>
            <a:ext cx="754063" cy="2384425"/>
          </a:xfrm>
          <a:prstGeom prst="bentConnector3">
            <a:avLst>
              <a:gd name="adj1" fmla="val 50000"/>
            </a:avLst>
          </a:prstGeom>
          <a:noFill/>
          <a:ln w="9525" algn="ctr">
            <a:solidFill>
              <a:schemeClr val="tx1"/>
            </a:solidFill>
            <a:round/>
          </a:ln>
        </p:spPr>
      </p:cxnSp>
      <p:cxnSp>
        <p:nvCxnSpPr>
          <p:cNvPr id="8239" name="肘形连接符 4"/>
          <p:cNvCxnSpPr>
            <a:cxnSpLocks noChangeShapeType="1"/>
            <a:stCxn id="75" idx="3"/>
            <a:endCxn id="68" idx="1"/>
          </p:cNvCxnSpPr>
          <p:nvPr/>
        </p:nvCxnSpPr>
        <p:spPr bwMode="auto">
          <a:xfrm>
            <a:off x="4508500" y="4403725"/>
            <a:ext cx="774700" cy="339725"/>
          </a:xfrm>
          <a:prstGeom prst="bentConnector3">
            <a:avLst>
              <a:gd name="adj1" fmla="val 47541"/>
            </a:avLst>
          </a:prstGeom>
          <a:noFill/>
          <a:ln w="9525" algn="ctr">
            <a:solidFill>
              <a:schemeClr val="tx1"/>
            </a:solidFill>
            <a:round/>
          </a:ln>
        </p:spPr>
      </p:cxnSp>
      <p:cxnSp>
        <p:nvCxnSpPr>
          <p:cNvPr id="8240" name="肘形连接符 7"/>
          <p:cNvCxnSpPr>
            <a:cxnSpLocks noChangeShapeType="1"/>
            <a:stCxn id="75" idx="3"/>
            <a:endCxn id="122" idx="1"/>
          </p:cNvCxnSpPr>
          <p:nvPr/>
        </p:nvCxnSpPr>
        <p:spPr bwMode="auto">
          <a:xfrm>
            <a:off x="4508500" y="4403725"/>
            <a:ext cx="771525" cy="44450"/>
          </a:xfrm>
          <a:prstGeom prst="bentConnector3">
            <a:avLst>
              <a:gd name="adj1" fmla="val 48766"/>
            </a:avLst>
          </a:prstGeom>
          <a:noFill/>
          <a:ln w="9525" algn="ctr">
            <a:solidFill>
              <a:schemeClr val="tx1"/>
            </a:solidFill>
            <a:round/>
          </a:ln>
        </p:spPr>
      </p:cxnSp>
      <p:cxnSp>
        <p:nvCxnSpPr>
          <p:cNvPr id="8241" name="直接连接符 56"/>
          <p:cNvCxnSpPr>
            <a:cxnSpLocks noChangeShapeType="1"/>
          </p:cNvCxnSpPr>
          <p:nvPr/>
        </p:nvCxnSpPr>
        <p:spPr bwMode="auto">
          <a:xfrm>
            <a:off x="4899025" y="2362200"/>
            <a:ext cx="369888" cy="0"/>
          </a:xfrm>
          <a:prstGeom prst="line">
            <a:avLst/>
          </a:prstGeom>
          <a:noFill/>
          <a:ln w="9525" algn="ctr">
            <a:solidFill>
              <a:schemeClr val="tx1"/>
            </a:solidFill>
            <a:round/>
          </a:ln>
        </p:spPr>
      </p:cxnSp>
      <p:cxnSp>
        <p:nvCxnSpPr>
          <p:cNvPr id="8242" name="直接连接符 57"/>
          <p:cNvCxnSpPr>
            <a:cxnSpLocks noChangeShapeType="1"/>
          </p:cNvCxnSpPr>
          <p:nvPr/>
        </p:nvCxnSpPr>
        <p:spPr bwMode="auto">
          <a:xfrm>
            <a:off x="4884738" y="2963863"/>
            <a:ext cx="371475" cy="0"/>
          </a:xfrm>
          <a:prstGeom prst="line">
            <a:avLst/>
          </a:prstGeom>
          <a:noFill/>
          <a:ln w="9525" algn="ctr">
            <a:solidFill>
              <a:schemeClr val="tx1"/>
            </a:solidFill>
            <a:round/>
          </a:ln>
        </p:spPr>
      </p:cxnSp>
      <p:cxnSp>
        <p:nvCxnSpPr>
          <p:cNvPr id="8243" name="直接连接符 58"/>
          <p:cNvCxnSpPr>
            <a:cxnSpLocks noChangeShapeType="1"/>
          </p:cNvCxnSpPr>
          <p:nvPr/>
        </p:nvCxnSpPr>
        <p:spPr bwMode="auto">
          <a:xfrm>
            <a:off x="4887913" y="3270250"/>
            <a:ext cx="369887" cy="0"/>
          </a:xfrm>
          <a:prstGeom prst="line">
            <a:avLst/>
          </a:prstGeom>
          <a:noFill/>
          <a:ln w="9525" algn="ctr">
            <a:solidFill>
              <a:schemeClr val="tx1"/>
            </a:solidFill>
            <a:round/>
          </a:ln>
        </p:spPr>
      </p:cxnSp>
      <p:sp>
        <p:nvSpPr>
          <p:cNvPr id="57" name="矩形 56"/>
          <p:cNvSpPr/>
          <p:nvPr/>
        </p:nvSpPr>
        <p:spPr bwMode="auto">
          <a:xfrm>
            <a:off x="7215206" y="145532"/>
            <a:ext cx="900000" cy="276248"/>
          </a:xfrm>
          <a:prstGeom prst="rect">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zh-CN" altLang="en-US" sz="900" b="1" dirty="0">
                <a:solidFill>
                  <a:srgbClr val="000000"/>
                </a:solidFill>
                <a:latin typeface="微软雅黑" panose="020B0503020204020204" charset="-122"/>
                <a:ea typeface="微软雅黑" panose="020B0503020204020204" charset="-122"/>
              </a:rPr>
              <a:t>有流程</a:t>
            </a:r>
            <a:endParaRPr lang="en-US" altLang="zh-CN" sz="900" b="1" dirty="0">
              <a:solidFill>
                <a:srgbClr val="000000"/>
              </a:solidFill>
              <a:latin typeface="微软雅黑" panose="020B0503020204020204" charset="-122"/>
              <a:ea typeface="微软雅黑" panose="020B0503020204020204" charset="-122"/>
            </a:endParaRPr>
          </a:p>
        </p:txBody>
      </p:sp>
      <p:sp>
        <p:nvSpPr>
          <p:cNvPr id="58" name="矩形 57"/>
          <p:cNvSpPr/>
          <p:nvPr/>
        </p:nvSpPr>
        <p:spPr bwMode="auto">
          <a:xfrm>
            <a:off x="6215074" y="145532"/>
            <a:ext cx="900000" cy="276248"/>
          </a:xfrm>
          <a:prstGeom prst="rect">
            <a:avLst/>
          </a:prstGeom>
          <a:solidFill>
            <a:srgbClr val="92D050"/>
          </a:solidFill>
          <a:ln w="6350">
            <a:solidFill>
              <a:schemeClr val="tx1"/>
            </a:solidFill>
            <a:miter lim="800000"/>
          </a:ln>
        </p:spPr>
        <p:txBody>
          <a:bodyPr lIns="18000" tIns="36000" rIns="18000" bIns="36000" rtlCol="0" anchor="ctr">
            <a:noAutofit/>
          </a:bodyPr>
          <a:lstStyle/>
          <a:p>
            <a:pPr algn="ctr">
              <a:buClr>
                <a:schemeClr val="tx1"/>
              </a:buClr>
            </a:pPr>
            <a:r>
              <a:rPr lang="zh-CN" altLang="en-US" sz="900" b="1" dirty="0">
                <a:solidFill>
                  <a:sysClr val="windowText" lastClr="000000"/>
                </a:solidFill>
                <a:latin typeface="微软雅黑" panose="020B0503020204020204" charset="-122"/>
                <a:ea typeface="微软雅黑" panose="020B0503020204020204" charset="-122"/>
              </a:rPr>
              <a:t>无流程</a:t>
            </a:r>
            <a:endParaRPr lang="en-US" altLang="zh-CN" sz="900" b="1" dirty="0">
              <a:solidFill>
                <a:sysClr val="windowText" lastClr="000000"/>
              </a:solidFill>
              <a:latin typeface="微软雅黑" panose="020B0503020204020204" charset="-122"/>
              <a:ea typeface="微软雅黑" panose="020B0503020204020204" charset="-122"/>
            </a:endParaRPr>
          </a:p>
        </p:txBody>
      </p:sp>
      <p:sp>
        <p:nvSpPr>
          <p:cNvPr id="59" name="矩形 58"/>
          <p:cNvSpPr/>
          <p:nvPr/>
        </p:nvSpPr>
        <p:spPr bwMode="auto">
          <a:xfrm>
            <a:off x="5214942" y="152356"/>
            <a:ext cx="900000" cy="276248"/>
          </a:xfrm>
          <a:prstGeom prst="rect">
            <a:avLst/>
          </a:prstGeom>
          <a:solidFill>
            <a:schemeClr val="bg1">
              <a:lumMod val="85000"/>
            </a:schemeClr>
          </a:solidFill>
          <a:ln w="6350">
            <a:solidFill>
              <a:schemeClr val="tx1"/>
            </a:solidFill>
            <a:miter lim="800000"/>
          </a:ln>
        </p:spPr>
        <p:txBody>
          <a:bodyPr lIns="18000" tIns="36000" rIns="18000" bIns="36000" rtlCol="0" anchor="ctr">
            <a:noAutofit/>
          </a:bodyPr>
          <a:lstStyle/>
          <a:p>
            <a:pPr algn="ctr">
              <a:buClr>
                <a:schemeClr val="tx1"/>
              </a:buClr>
            </a:pPr>
            <a:r>
              <a:rPr lang="en-US" altLang="zh-CN" sz="900" b="1" dirty="0">
                <a:solidFill>
                  <a:schemeClr val="bg1">
                    <a:lumMod val="65000"/>
                  </a:schemeClr>
                </a:solidFill>
                <a:latin typeface="微软雅黑" panose="020B0503020204020204" charset="-122"/>
                <a:ea typeface="微软雅黑" panose="020B0503020204020204" charset="-122"/>
              </a:rPr>
              <a:t>SCM1.0</a:t>
            </a:r>
            <a:r>
              <a:rPr lang="zh-CN" altLang="en-US" sz="900" b="1" dirty="0">
                <a:solidFill>
                  <a:schemeClr val="bg1">
                    <a:lumMod val="65000"/>
                  </a:schemeClr>
                </a:solidFill>
                <a:latin typeface="微软雅黑" panose="020B0503020204020204" charset="-122"/>
                <a:ea typeface="微软雅黑" panose="020B0503020204020204" charset="-122"/>
              </a:rPr>
              <a:t>不相关</a:t>
            </a:r>
            <a:endParaRPr lang="en-US" altLang="zh-CN" sz="9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a:t>集成计划体系流程框架</a:t>
            </a:r>
            <a:r>
              <a:t>1.0</a:t>
            </a:r>
            <a:endParaRPr lang="zh-CN" altLang="en-US"/>
          </a:p>
        </p:txBody>
      </p:sp>
      <p:sp>
        <p:nvSpPr>
          <p:cNvPr id="9219" name="文本框 2"/>
          <p:cNvSpPr txBox="1">
            <a:spLocks noChangeArrowheads="1"/>
          </p:cNvSpPr>
          <p:nvPr/>
        </p:nvSpPr>
        <p:spPr bwMode="auto">
          <a:xfrm>
            <a:off x="31765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二级流程</a:t>
            </a:r>
          </a:p>
        </p:txBody>
      </p:sp>
      <p:cxnSp>
        <p:nvCxnSpPr>
          <p:cNvPr id="9220" name="直接连接符 54"/>
          <p:cNvCxnSpPr>
            <a:cxnSpLocks noChangeShapeType="1"/>
          </p:cNvCxnSpPr>
          <p:nvPr/>
        </p:nvCxnSpPr>
        <p:spPr bwMode="auto">
          <a:xfrm>
            <a:off x="2700338" y="1436688"/>
            <a:ext cx="1800225" cy="0"/>
          </a:xfrm>
          <a:prstGeom prst="line">
            <a:avLst/>
          </a:prstGeom>
          <a:noFill/>
          <a:ln w="19050" algn="ctr">
            <a:solidFill>
              <a:srgbClr val="000000"/>
            </a:solidFill>
            <a:round/>
          </a:ln>
        </p:spPr>
      </p:cxnSp>
      <p:cxnSp>
        <p:nvCxnSpPr>
          <p:cNvPr id="9221" name="直接连接符 55"/>
          <p:cNvCxnSpPr>
            <a:cxnSpLocks noChangeShapeType="1"/>
          </p:cNvCxnSpPr>
          <p:nvPr/>
        </p:nvCxnSpPr>
        <p:spPr bwMode="auto">
          <a:xfrm>
            <a:off x="5289550" y="1436688"/>
            <a:ext cx="1800225" cy="0"/>
          </a:xfrm>
          <a:prstGeom prst="line">
            <a:avLst/>
          </a:prstGeom>
          <a:noFill/>
          <a:ln w="19050" algn="ctr">
            <a:solidFill>
              <a:srgbClr val="000000"/>
            </a:solidFill>
            <a:round/>
          </a:ln>
        </p:spPr>
      </p:cxnSp>
      <p:sp>
        <p:nvSpPr>
          <p:cNvPr id="9222" name="文本框 11"/>
          <p:cNvSpPr txBox="1">
            <a:spLocks noChangeArrowheads="1"/>
          </p:cNvSpPr>
          <p:nvPr/>
        </p:nvSpPr>
        <p:spPr bwMode="auto">
          <a:xfrm>
            <a:off x="5707063" y="1052513"/>
            <a:ext cx="1004887"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三级流程</a:t>
            </a:r>
          </a:p>
        </p:txBody>
      </p:sp>
      <p:cxnSp>
        <p:nvCxnSpPr>
          <p:cNvPr id="9223" name="直接连接符 8"/>
          <p:cNvCxnSpPr>
            <a:cxnSpLocks noChangeShapeType="1"/>
          </p:cNvCxnSpPr>
          <p:nvPr/>
        </p:nvCxnSpPr>
        <p:spPr bwMode="auto">
          <a:xfrm>
            <a:off x="431800" y="1436688"/>
            <a:ext cx="1620838" cy="0"/>
          </a:xfrm>
          <a:prstGeom prst="line">
            <a:avLst/>
          </a:prstGeom>
          <a:noFill/>
          <a:ln w="19050" algn="ctr">
            <a:solidFill>
              <a:srgbClr val="000000"/>
            </a:solidFill>
            <a:round/>
          </a:ln>
        </p:spPr>
      </p:cxnSp>
      <p:sp>
        <p:nvSpPr>
          <p:cNvPr id="9224" name="文本框 13"/>
          <p:cNvSpPr txBox="1">
            <a:spLocks noChangeArrowheads="1"/>
          </p:cNvSpPr>
          <p:nvPr/>
        </p:nvSpPr>
        <p:spPr bwMode="auto">
          <a:xfrm>
            <a:off x="788988" y="1052513"/>
            <a:ext cx="1006475" cy="338137"/>
          </a:xfrm>
          <a:prstGeom prst="rect">
            <a:avLst/>
          </a:prstGeom>
          <a:noFill/>
          <a:ln w="9525">
            <a:noFill/>
            <a:miter lim="800000"/>
          </a:ln>
        </p:spPr>
        <p:txBody>
          <a:bodyPr wrap="none">
            <a:spAutoFit/>
          </a:bodyPr>
          <a:lstStyle/>
          <a:p>
            <a:r>
              <a:rPr lang="zh-CN" altLang="en-US" sz="1600" b="1">
                <a:latin typeface="微软雅黑" panose="020B0503020204020204" charset="-122"/>
                <a:ea typeface="微软雅黑" panose="020B0503020204020204" charset="-122"/>
              </a:rPr>
              <a:t>一级流程</a:t>
            </a:r>
          </a:p>
        </p:txBody>
      </p:sp>
      <p:sp>
        <p:nvSpPr>
          <p:cNvPr id="9225" name="Rectangle 12"/>
          <p:cNvSpPr>
            <a:spLocks noChangeArrowheads="1"/>
          </p:cNvSpPr>
          <p:nvPr/>
        </p:nvSpPr>
        <p:spPr bwMode="auto">
          <a:xfrm>
            <a:off x="395288" y="1854200"/>
            <a:ext cx="1728787"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1.0 </a:t>
            </a:r>
            <a:r>
              <a:rPr lang="zh-CN" altLang="en-US" sz="1200" b="1">
                <a:solidFill>
                  <a:schemeClr val="bg1">
                    <a:lumMod val="65000"/>
                  </a:schemeClr>
                </a:solidFill>
                <a:latin typeface="微软雅黑" panose="020B0503020204020204" charset="-122"/>
                <a:ea typeface="微软雅黑" panose="020B0503020204020204" charset="-122"/>
              </a:rPr>
              <a:t>战略规划管理</a:t>
            </a:r>
          </a:p>
        </p:txBody>
      </p:sp>
      <p:sp>
        <p:nvSpPr>
          <p:cNvPr id="9226" name="Rectangle 13"/>
          <p:cNvSpPr>
            <a:spLocks noChangeArrowheads="1"/>
          </p:cNvSpPr>
          <p:nvPr/>
        </p:nvSpPr>
        <p:spPr bwMode="auto">
          <a:xfrm>
            <a:off x="395288" y="2433638"/>
            <a:ext cx="1728787" cy="4191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dirty="0">
                <a:solidFill>
                  <a:schemeClr val="bg1">
                    <a:lumMod val="65000"/>
                  </a:schemeClr>
                </a:solidFill>
                <a:latin typeface="微软雅黑" panose="020B0503020204020204" charset="-122"/>
                <a:ea typeface="微软雅黑" panose="020B0503020204020204" charset="-122"/>
              </a:rPr>
              <a:t>2.0 </a:t>
            </a:r>
            <a:r>
              <a:rPr lang="zh-CN" altLang="en-US" sz="1200" b="1" dirty="0">
                <a:solidFill>
                  <a:schemeClr val="bg1">
                    <a:lumMod val="65000"/>
                  </a:schemeClr>
                </a:solidFill>
                <a:latin typeface="微软雅黑" panose="020B0503020204020204" charset="-122"/>
                <a:ea typeface="微软雅黑" panose="020B0503020204020204" charset="-122"/>
              </a:rPr>
              <a:t>投资决策管理</a:t>
            </a:r>
          </a:p>
        </p:txBody>
      </p:sp>
      <p:sp>
        <p:nvSpPr>
          <p:cNvPr id="9227" name="Rectangle 20"/>
          <p:cNvSpPr>
            <a:spLocks noChangeArrowheads="1"/>
          </p:cNvSpPr>
          <p:nvPr/>
        </p:nvSpPr>
        <p:spPr bwMode="auto">
          <a:xfrm>
            <a:off x="395288" y="4797425"/>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6.0 </a:t>
            </a:r>
            <a:r>
              <a:rPr lang="zh-CN" altLang="en-US" sz="1200" b="1">
                <a:solidFill>
                  <a:schemeClr val="bg1">
                    <a:lumMod val="65000"/>
                  </a:schemeClr>
                </a:solidFill>
                <a:latin typeface="微软雅黑" panose="020B0503020204020204" charset="-122"/>
                <a:ea typeface="微软雅黑" panose="020B0503020204020204" charset="-122"/>
              </a:rPr>
              <a:t>人力资源管理</a:t>
            </a:r>
          </a:p>
        </p:txBody>
      </p:sp>
      <p:sp>
        <p:nvSpPr>
          <p:cNvPr id="66" name="Rectangle 21"/>
          <p:cNvSpPr/>
          <p:nvPr/>
        </p:nvSpPr>
        <p:spPr>
          <a:xfrm>
            <a:off x="2771775" y="1854200"/>
            <a:ext cx="1728788" cy="357188"/>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5.1 </a:t>
            </a:r>
            <a:r>
              <a:rPr lang="zh-CN" altLang="en-US" sz="1200" b="1" dirty="0">
                <a:solidFill>
                  <a:schemeClr val="bg1">
                    <a:lumMod val="65000"/>
                  </a:schemeClr>
                </a:solidFill>
                <a:latin typeface="微软雅黑" panose="020B0503020204020204" charset="-122"/>
                <a:ea typeface="微软雅黑" panose="020B0503020204020204" charset="-122"/>
              </a:rPr>
              <a:t>采购战略与规划</a:t>
            </a:r>
          </a:p>
        </p:txBody>
      </p:sp>
      <p:sp>
        <p:nvSpPr>
          <p:cNvPr id="67" name="Rectangle 22"/>
          <p:cNvSpPr/>
          <p:nvPr/>
        </p:nvSpPr>
        <p:spPr>
          <a:xfrm>
            <a:off x="2771775" y="2497138"/>
            <a:ext cx="1728788"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5.2 </a:t>
            </a:r>
            <a:r>
              <a:rPr lang="zh-CN" altLang="en-US" sz="1200" b="1" dirty="0">
                <a:solidFill>
                  <a:schemeClr val="bg1">
                    <a:lumMod val="65000"/>
                  </a:schemeClr>
                </a:solidFill>
                <a:latin typeface="微软雅黑" panose="020B0503020204020204" charset="-122"/>
                <a:ea typeface="微软雅黑" panose="020B0503020204020204" charset="-122"/>
              </a:rPr>
              <a:t>供应链计划管理</a:t>
            </a:r>
          </a:p>
        </p:txBody>
      </p:sp>
      <p:sp>
        <p:nvSpPr>
          <p:cNvPr id="71" name="Rectangle 23"/>
          <p:cNvSpPr/>
          <p:nvPr/>
        </p:nvSpPr>
        <p:spPr>
          <a:xfrm>
            <a:off x="2771775" y="3071813"/>
            <a:ext cx="1728788"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5.3 </a:t>
            </a:r>
            <a:r>
              <a:rPr lang="zh-CN" altLang="en-US" sz="1200" b="1" dirty="0">
                <a:solidFill>
                  <a:schemeClr val="bg1">
                    <a:lumMod val="65000"/>
                  </a:schemeClr>
                </a:solidFill>
                <a:latin typeface="微软雅黑" panose="020B0503020204020204" charset="-122"/>
                <a:ea typeface="微软雅黑" panose="020B0503020204020204" charset="-122"/>
              </a:rPr>
              <a:t>供应商关系管理</a:t>
            </a:r>
            <a:endParaRPr lang="en-US" altLang="zh-CN" sz="1200" b="1" dirty="0">
              <a:solidFill>
                <a:schemeClr val="bg1">
                  <a:lumMod val="65000"/>
                </a:schemeClr>
              </a:solidFill>
              <a:latin typeface="微软雅黑" panose="020B0503020204020204" charset="-122"/>
              <a:ea typeface="微软雅黑" panose="020B0503020204020204" charset="-122"/>
            </a:endParaRPr>
          </a:p>
        </p:txBody>
      </p:sp>
      <p:sp>
        <p:nvSpPr>
          <p:cNvPr id="74" name="Rectangle 25"/>
          <p:cNvSpPr>
            <a:spLocks noChangeArrowheads="1"/>
          </p:cNvSpPr>
          <p:nvPr/>
        </p:nvSpPr>
        <p:spPr bwMode="auto">
          <a:xfrm>
            <a:off x="2779713" y="3644900"/>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a:spcBef>
                <a:spcPct val="20000"/>
              </a:spcBef>
              <a:buClr>
                <a:schemeClr val="tx1"/>
              </a:buClr>
              <a:defRPr/>
            </a:pPr>
            <a:r>
              <a:rPr lang="en-US" altLang="zh-CN" sz="1200" b="1">
                <a:solidFill>
                  <a:schemeClr val="bg1">
                    <a:lumMod val="65000"/>
                  </a:schemeClr>
                </a:solidFill>
                <a:latin typeface="微软雅黑" panose="020B0503020204020204" charset="-122"/>
                <a:ea typeface="微软雅黑" panose="020B0503020204020204" charset="-122"/>
              </a:rPr>
              <a:t>5.4 </a:t>
            </a:r>
            <a:r>
              <a:rPr lang="zh-CN" altLang="en-US" sz="1200" b="1">
                <a:solidFill>
                  <a:schemeClr val="bg1">
                    <a:lumMod val="65000"/>
                  </a:schemeClr>
                </a:solidFill>
                <a:latin typeface="微软雅黑" panose="020B0503020204020204" charset="-122"/>
                <a:ea typeface="微软雅黑" panose="020B0503020204020204" charset="-122"/>
              </a:rPr>
              <a:t>战略采购</a:t>
            </a:r>
          </a:p>
        </p:txBody>
      </p:sp>
      <p:sp>
        <p:nvSpPr>
          <p:cNvPr id="75" name="Rectangle 26"/>
          <p:cNvSpPr/>
          <p:nvPr/>
        </p:nvSpPr>
        <p:spPr>
          <a:xfrm>
            <a:off x="2779713" y="4224338"/>
            <a:ext cx="1728787" cy="357187"/>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5.5 </a:t>
            </a:r>
            <a:r>
              <a:rPr lang="zh-CN" altLang="en-US" sz="1200" b="1" dirty="0">
                <a:solidFill>
                  <a:schemeClr val="bg1">
                    <a:lumMod val="65000"/>
                  </a:schemeClr>
                </a:solidFill>
                <a:latin typeface="微软雅黑" panose="020B0503020204020204" charset="-122"/>
                <a:ea typeface="微软雅黑" panose="020B0503020204020204" charset="-122"/>
              </a:rPr>
              <a:t>采购执行与支持</a:t>
            </a:r>
          </a:p>
        </p:txBody>
      </p:sp>
      <p:cxnSp>
        <p:nvCxnSpPr>
          <p:cNvPr id="9233" name="Straight Connector 39"/>
          <p:cNvCxnSpPr>
            <a:cxnSpLocks noChangeShapeType="1"/>
            <a:stCxn id="105" idx="3"/>
            <a:endCxn id="67" idx="1"/>
          </p:cNvCxnSpPr>
          <p:nvPr/>
        </p:nvCxnSpPr>
        <p:spPr bwMode="auto">
          <a:xfrm flipV="1">
            <a:off x="2124075" y="2674938"/>
            <a:ext cx="647700" cy="1728787"/>
          </a:xfrm>
          <a:prstGeom prst="bentConnector3">
            <a:avLst>
              <a:gd name="adj1" fmla="val 50000"/>
            </a:avLst>
          </a:prstGeom>
          <a:noFill/>
          <a:ln w="9525" algn="ctr">
            <a:solidFill>
              <a:srgbClr val="000000"/>
            </a:solidFill>
            <a:round/>
          </a:ln>
        </p:spPr>
      </p:cxnSp>
      <p:cxnSp>
        <p:nvCxnSpPr>
          <p:cNvPr id="9234" name="Straight Connector 41"/>
          <p:cNvCxnSpPr>
            <a:cxnSpLocks noChangeShapeType="1"/>
            <a:endCxn id="66" idx="1"/>
          </p:cNvCxnSpPr>
          <p:nvPr/>
        </p:nvCxnSpPr>
        <p:spPr bwMode="auto">
          <a:xfrm flipV="1">
            <a:off x="2143125" y="2033588"/>
            <a:ext cx="628650" cy="2365375"/>
          </a:xfrm>
          <a:prstGeom prst="bentConnector3">
            <a:avLst>
              <a:gd name="adj1" fmla="val 50000"/>
            </a:avLst>
          </a:prstGeom>
          <a:noFill/>
          <a:ln w="9525" algn="ctr">
            <a:solidFill>
              <a:srgbClr val="000000"/>
            </a:solidFill>
            <a:round/>
          </a:ln>
        </p:spPr>
      </p:cxnSp>
      <p:cxnSp>
        <p:nvCxnSpPr>
          <p:cNvPr id="9235" name="Elbow Connector 43"/>
          <p:cNvCxnSpPr>
            <a:cxnSpLocks noChangeShapeType="1"/>
            <a:stCxn id="105" idx="3"/>
            <a:endCxn id="71" idx="1"/>
          </p:cNvCxnSpPr>
          <p:nvPr/>
        </p:nvCxnSpPr>
        <p:spPr bwMode="auto">
          <a:xfrm flipV="1">
            <a:off x="2124075" y="3251200"/>
            <a:ext cx="647700" cy="1152525"/>
          </a:xfrm>
          <a:prstGeom prst="bentConnector3">
            <a:avLst>
              <a:gd name="adj1" fmla="val 50000"/>
            </a:avLst>
          </a:prstGeom>
          <a:noFill/>
          <a:ln w="9525" algn="ctr">
            <a:solidFill>
              <a:srgbClr val="000000"/>
            </a:solidFill>
            <a:round/>
          </a:ln>
        </p:spPr>
      </p:cxnSp>
      <p:cxnSp>
        <p:nvCxnSpPr>
          <p:cNvPr id="9236" name="Elbow Connector 47"/>
          <p:cNvCxnSpPr>
            <a:cxnSpLocks noChangeShapeType="1"/>
            <a:stCxn id="105" idx="3"/>
            <a:endCxn id="74" idx="1"/>
          </p:cNvCxnSpPr>
          <p:nvPr/>
        </p:nvCxnSpPr>
        <p:spPr bwMode="auto">
          <a:xfrm flipV="1">
            <a:off x="2124075" y="3822700"/>
            <a:ext cx="655638" cy="581025"/>
          </a:xfrm>
          <a:prstGeom prst="bentConnector3">
            <a:avLst>
              <a:gd name="adj1" fmla="val 50000"/>
            </a:avLst>
          </a:prstGeom>
          <a:noFill/>
          <a:ln w="9525" algn="ctr">
            <a:solidFill>
              <a:srgbClr val="000000"/>
            </a:solidFill>
            <a:round/>
          </a:ln>
        </p:spPr>
      </p:cxnSp>
      <p:cxnSp>
        <p:nvCxnSpPr>
          <p:cNvPr id="9237" name="Elbow Connector 49"/>
          <p:cNvCxnSpPr>
            <a:cxnSpLocks noChangeShapeType="1"/>
            <a:stCxn id="105" idx="3"/>
            <a:endCxn id="75" idx="1"/>
          </p:cNvCxnSpPr>
          <p:nvPr/>
        </p:nvCxnSpPr>
        <p:spPr bwMode="auto">
          <a:xfrm flipV="1">
            <a:off x="2124075" y="4402138"/>
            <a:ext cx="655638" cy="1587"/>
          </a:xfrm>
          <a:prstGeom prst="bentConnector3">
            <a:avLst>
              <a:gd name="adj1" fmla="val 50000"/>
            </a:avLst>
          </a:prstGeom>
          <a:noFill/>
          <a:ln w="9525" algn="ctr">
            <a:solidFill>
              <a:srgbClr val="000000"/>
            </a:solidFill>
            <a:round/>
          </a:ln>
        </p:spPr>
      </p:cxnSp>
      <p:cxnSp>
        <p:nvCxnSpPr>
          <p:cNvPr id="9238" name="Elbow Connector 68"/>
          <p:cNvCxnSpPr>
            <a:cxnSpLocks noChangeShapeType="1"/>
            <a:stCxn id="105" idx="3"/>
            <a:endCxn id="74" idx="1"/>
          </p:cNvCxnSpPr>
          <p:nvPr/>
        </p:nvCxnSpPr>
        <p:spPr bwMode="auto">
          <a:xfrm flipV="1">
            <a:off x="2124075" y="3822700"/>
            <a:ext cx="655638" cy="581025"/>
          </a:xfrm>
          <a:prstGeom prst="bentConnector3">
            <a:avLst>
              <a:gd name="adj1" fmla="val 50000"/>
            </a:avLst>
          </a:prstGeom>
          <a:noFill/>
          <a:ln w="9525" algn="ctr">
            <a:solidFill>
              <a:srgbClr val="000000"/>
            </a:solidFill>
            <a:round/>
          </a:ln>
        </p:spPr>
      </p:cxnSp>
      <p:sp>
        <p:nvSpPr>
          <p:cNvPr id="9239" name="Rectangle 15"/>
          <p:cNvSpPr>
            <a:spLocks noChangeArrowheads="1"/>
          </p:cNvSpPr>
          <p:nvPr/>
        </p:nvSpPr>
        <p:spPr bwMode="auto">
          <a:xfrm>
            <a:off x="395288" y="3052763"/>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3.0 </a:t>
            </a:r>
            <a:r>
              <a:rPr lang="zh-CN" altLang="en-US" sz="1200" b="1">
                <a:solidFill>
                  <a:schemeClr val="bg1">
                    <a:lumMod val="65000"/>
                  </a:schemeClr>
                </a:solidFill>
                <a:latin typeface="微软雅黑" panose="020B0503020204020204" charset="-122"/>
                <a:ea typeface="微软雅黑" panose="020B0503020204020204" charset="-122"/>
              </a:rPr>
              <a:t>研发与创新</a:t>
            </a:r>
          </a:p>
        </p:txBody>
      </p:sp>
      <p:sp>
        <p:nvSpPr>
          <p:cNvPr id="100" name="Rectangle 26"/>
          <p:cNvSpPr/>
          <p:nvPr/>
        </p:nvSpPr>
        <p:spPr>
          <a:xfrm>
            <a:off x="2779713" y="4800600"/>
            <a:ext cx="1728787" cy="357188"/>
          </a:xfrm>
          <a:prstGeom prst="rect">
            <a:avLst/>
          </a:prstGeom>
          <a:solidFill>
            <a:srgbClr val="D6DBFE"/>
          </a:solidFill>
          <a:ln w="9525">
            <a:solidFill>
              <a:srgbClr val="000000"/>
            </a:solidFill>
            <a:miter lim="800000"/>
          </a:ln>
        </p:spPr>
        <p:txBody>
          <a:bodyPr wrap="none" lIns="72000" anchor="ctr"/>
          <a:lstStyle/>
          <a:p>
            <a:pPr indent="-117475" fontAlgn="auto">
              <a:spcBef>
                <a:spcPct val="20000"/>
              </a:spcBef>
              <a:spcAft>
                <a:spcPts val="0"/>
              </a:spcAft>
              <a:buClr>
                <a:srgbClr val="000000"/>
              </a:buClr>
              <a:defRPr/>
            </a:pPr>
            <a:r>
              <a:rPr lang="en-US" altLang="zh-CN" sz="1200" b="1" dirty="0">
                <a:latin typeface="微软雅黑" panose="020B0503020204020204" charset="-122"/>
                <a:ea typeface="微软雅黑" panose="020B0503020204020204" charset="-122"/>
              </a:rPr>
              <a:t>5.6 </a:t>
            </a:r>
            <a:r>
              <a:rPr lang="zh-CN" altLang="en-US" sz="1200" b="1" dirty="0">
                <a:latin typeface="微软雅黑" panose="020B0503020204020204" charset="-122"/>
                <a:ea typeface="微软雅黑" panose="020B0503020204020204" charset="-122"/>
              </a:rPr>
              <a:t>物流管理</a:t>
            </a:r>
          </a:p>
        </p:txBody>
      </p:sp>
      <p:cxnSp>
        <p:nvCxnSpPr>
          <p:cNvPr id="9241" name="肘形连接符 25"/>
          <p:cNvCxnSpPr>
            <a:cxnSpLocks noChangeShapeType="1"/>
          </p:cNvCxnSpPr>
          <p:nvPr/>
        </p:nvCxnSpPr>
        <p:spPr bwMode="auto">
          <a:xfrm>
            <a:off x="2143125" y="4398963"/>
            <a:ext cx="636588" cy="504825"/>
          </a:xfrm>
          <a:prstGeom prst="bentConnector3">
            <a:avLst>
              <a:gd name="adj1" fmla="val 45556"/>
            </a:avLst>
          </a:prstGeom>
          <a:noFill/>
          <a:ln w="9525" algn="ctr">
            <a:solidFill>
              <a:schemeClr val="tx1"/>
            </a:solidFill>
            <a:round/>
          </a:ln>
        </p:spPr>
      </p:cxnSp>
      <p:sp>
        <p:nvSpPr>
          <p:cNvPr id="103" name="Rectangle 20"/>
          <p:cNvSpPr/>
          <p:nvPr/>
        </p:nvSpPr>
        <p:spPr>
          <a:xfrm>
            <a:off x="395288" y="5445125"/>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indent="-117475" fontAlgn="auto">
              <a:spcBef>
                <a:spcPct val="20000"/>
              </a:spcBef>
              <a:spcAft>
                <a:spcPts val="0"/>
              </a:spcAft>
              <a:buClr>
                <a:schemeClr val="tx1"/>
              </a:buClr>
              <a:defRPr/>
            </a:pPr>
            <a:r>
              <a:rPr lang="en-US" altLang="zh-CN" sz="1200" b="1" dirty="0">
                <a:solidFill>
                  <a:schemeClr val="bg1">
                    <a:lumMod val="65000"/>
                  </a:schemeClr>
                </a:solidFill>
                <a:latin typeface="微软雅黑" panose="020B0503020204020204" charset="-122"/>
                <a:ea typeface="微软雅黑" panose="020B0503020204020204" charset="-122"/>
              </a:rPr>
              <a:t>…….</a:t>
            </a:r>
            <a:endParaRPr lang="zh-CN" altLang="en-US" sz="1200" b="1" dirty="0">
              <a:solidFill>
                <a:schemeClr val="bg1">
                  <a:lumMod val="65000"/>
                </a:schemeClr>
              </a:solidFill>
              <a:latin typeface="微软雅黑" panose="020B0503020204020204" charset="-122"/>
              <a:ea typeface="微软雅黑" panose="020B0503020204020204" charset="-122"/>
            </a:endParaRPr>
          </a:p>
        </p:txBody>
      </p:sp>
      <p:sp>
        <p:nvSpPr>
          <p:cNvPr id="9243" name="Rectangle 15"/>
          <p:cNvSpPr>
            <a:spLocks noChangeArrowheads="1"/>
          </p:cNvSpPr>
          <p:nvPr/>
        </p:nvSpPr>
        <p:spPr bwMode="auto">
          <a:xfrm>
            <a:off x="395288" y="3644900"/>
            <a:ext cx="1728787" cy="355600"/>
          </a:xfrm>
          <a:prstGeom prst="rect">
            <a:avLst/>
          </a:prstGeom>
          <a:solidFill>
            <a:schemeClr val="bg1">
              <a:lumMod val="85000"/>
            </a:schemeClr>
          </a:solidFill>
          <a:ln w="6350">
            <a:solidFill>
              <a:schemeClr val="bg1">
                <a:lumMod val="75000"/>
              </a:schemeClr>
            </a:solidFill>
            <a:miter lim="800000"/>
          </a:ln>
        </p:spPr>
        <p:txBody>
          <a:bodyPr lIns="72000" tIns="36000" rIns="18000" bIns="36000" rtlCol="0" anchor="ctr">
            <a:noAutofit/>
          </a:bodyPr>
          <a:lstStyle/>
          <a:p>
            <a:pPr>
              <a:spcBef>
                <a:spcPct val="20000"/>
              </a:spcBef>
              <a:buClr>
                <a:schemeClr val="tx1"/>
              </a:buClr>
            </a:pPr>
            <a:r>
              <a:rPr lang="en-US" altLang="zh-CN" sz="1200" b="1">
                <a:solidFill>
                  <a:schemeClr val="bg1">
                    <a:lumMod val="65000"/>
                  </a:schemeClr>
                </a:solidFill>
                <a:latin typeface="微软雅黑" panose="020B0503020204020204" charset="-122"/>
                <a:ea typeface="微软雅黑" panose="020B0503020204020204" charset="-122"/>
              </a:rPr>
              <a:t>4.0 </a:t>
            </a:r>
            <a:r>
              <a:rPr lang="zh-CN" altLang="en-US" sz="1200" b="1">
                <a:solidFill>
                  <a:schemeClr val="bg1">
                    <a:lumMod val="65000"/>
                  </a:schemeClr>
                </a:solidFill>
                <a:latin typeface="微软雅黑" panose="020B0503020204020204" charset="-122"/>
                <a:ea typeface="微软雅黑" panose="020B0503020204020204" charset="-122"/>
              </a:rPr>
              <a:t>营销与服务</a:t>
            </a:r>
          </a:p>
        </p:txBody>
      </p:sp>
      <p:sp>
        <p:nvSpPr>
          <p:cNvPr id="105" name="Rectangle 24"/>
          <p:cNvSpPr>
            <a:spLocks noChangeArrowheads="1"/>
          </p:cNvSpPr>
          <p:nvPr/>
        </p:nvSpPr>
        <p:spPr bwMode="auto">
          <a:xfrm>
            <a:off x="395288" y="4225925"/>
            <a:ext cx="1728787" cy="355600"/>
          </a:xfrm>
          <a:prstGeom prst="rect">
            <a:avLst/>
          </a:prstGeom>
          <a:solidFill>
            <a:srgbClr val="D6DBFE"/>
          </a:solidFill>
          <a:ln w="9525">
            <a:solidFill>
              <a:srgbClr val="000000"/>
            </a:solidFill>
            <a:miter lim="800000"/>
          </a:ln>
        </p:spPr>
        <p:txBody>
          <a:bodyPr wrap="none" lIns="72000" anchor="ctr"/>
          <a:lstStyle/>
          <a:p>
            <a:pPr>
              <a:spcBef>
                <a:spcPct val="20000"/>
              </a:spcBef>
              <a:defRPr/>
            </a:pPr>
            <a:r>
              <a:rPr lang="en-US" altLang="zh-CN" sz="1200" b="1">
                <a:latin typeface="微软雅黑" panose="020B0503020204020204" charset="-122"/>
                <a:ea typeface="微软雅黑" panose="020B0503020204020204" charset="-122"/>
              </a:rPr>
              <a:t>5.0 </a:t>
            </a:r>
            <a:r>
              <a:rPr lang="zh-CN" altLang="en-US" sz="1200" b="1">
                <a:latin typeface="微软雅黑" panose="020B0503020204020204" charset="-122"/>
                <a:ea typeface="微软雅黑" panose="020B0503020204020204" charset="-122"/>
              </a:rPr>
              <a:t>制造与商务</a:t>
            </a:r>
          </a:p>
        </p:txBody>
      </p:sp>
      <p:sp>
        <p:nvSpPr>
          <p:cNvPr id="106" name="Rectangle 26"/>
          <p:cNvSpPr/>
          <p:nvPr/>
        </p:nvSpPr>
        <p:spPr>
          <a:xfrm>
            <a:off x="2771775" y="5437188"/>
            <a:ext cx="1728788" cy="357187"/>
          </a:xfrm>
          <a:prstGeom prst="rect">
            <a:avLst/>
          </a:prstGeom>
          <a:solidFill>
            <a:srgbClr val="D6DBFE"/>
          </a:solidFill>
          <a:ln w="9525">
            <a:solidFill>
              <a:srgbClr val="000000"/>
            </a:solidFill>
            <a:miter lim="800000"/>
          </a:ln>
        </p:spPr>
        <p:txBody>
          <a:bodyPr wrap="none" lIns="72000" anchor="ctr"/>
          <a:lstStyle/>
          <a:p>
            <a:pPr indent="-117475" fontAlgn="auto">
              <a:spcBef>
                <a:spcPct val="20000"/>
              </a:spcBef>
              <a:spcAft>
                <a:spcPts val="0"/>
              </a:spcAft>
              <a:buClr>
                <a:srgbClr val="000000"/>
              </a:buClr>
              <a:defRPr/>
            </a:pPr>
            <a:r>
              <a:rPr lang="en-US" altLang="zh-CN" sz="1200" b="1" dirty="0">
                <a:latin typeface="微软雅黑" panose="020B0503020204020204" charset="-122"/>
                <a:ea typeface="微软雅黑" panose="020B0503020204020204" charset="-122"/>
              </a:rPr>
              <a:t>5.7 </a:t>
            </a:r>
            <a:r>
              <a:rPr lang="zh-CN" altLang="en-US" sz="1200" b="1" dirty="0">
                <a:latin typeface="微软雅黑" panose="020B0503020204020204" charset="-122"/>
                <a:ea typeface="微软雅黑" panose="020B0503020204020204" charset="-122"/>
              </a:rPr>
              <a:t>制造管理</a:t>
            </a:r>
          </a:p>
        </p:txBody>
      </p:sp>
      <p:sp>
        <p:nvSpPr>
          <p:cNvPr id="107" name="Rectangle 21"/>
          <p:cNvSpPr/>
          <p:nvPr/>
        </p:nvSpPr>
        <p:spPr>
          <a:xfrm>
            <a:off x="5262563" y="1874838"/>
            <a:ext cx="2159000" cy="288925"/>
          </a:xfrm>
          <a:prstGeom prst="rect">
            <a:avLst/>
          </a:prstGeom>
          <a:solidFill>
            <a:srgbClr val="92D050"/>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latin typeface="微软雅黑" panose="020B0503020204020204" charset="-122"/>
                <a:ea typeface="微软雅黑" panose="020B0503020204020204" charset="-122"/>
              </a:rPr>
              <a:t>5.6.1</a:t>
            </a:r>
            <a:r>
              <a:rPr lang="zh-CN" altLang="en-US" sz="1200" b="1" dirty="0">
                <a:latin typeface="微软雅黑" panose="020B0503020204020204" charset="-122"/>
                <a:ea typeface="微软雅黑" panose="020B0503020204020204" charset="-122"/>
              </a:rPr>
              <a:t>物流运营规划</a:t>
            </a:r>
          </a:p>
        </p:txBody>
      </p:sp>
      <p:sp>
        <p:nvSpPr>
          <p:cNvPr id="109" name="Rectangle 21"/>
          <p:cNvSpPr/>
          <p:nvPr/>
        </p:nvSpPr>
        <p:spPr>
          <a:xfrm>
            <a:off x="5257800" y="2236788"/>
            <a:ext cx="2159000" cy="250825"/>
          </a:xfrm>
          <a:prstGeom prst="rect">
            <a:avLst/>
          </a:prstGeom>
          <a:solidFill>
            <a:srgbClr val="92D05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5.6.2</a:t>
            </a:r>
            <a:r>
              <a:rPr lang="zh-CN" altLang="en-US" sz="1200" b="1" kern="0" dirty="0">
                <a:latin typeface="微软雅黑" panose="020B0503020204020204" charset="-122"/>
                <a:ea typeface="微软雅黑" panose="020B0503020204020204" charset="-122"/>
              </a:rPr>
              <a:t>入厂物流计划制定</a:t>
            </a:r>
          </a:p>
        </p:txBody>
      </p:sp>
      <p:sp>
        <p:nvSpPr>
          <p:cNvPr id="110" name="Rectangle 21"/>
          <p:cNvSpPr/>
          <p:nvPr/>
        </p:nvSpPr>
        <p:spPr>
          <a:xfrm>
            <a:off x="5257800" y="2522538"/>
            <a:ext cx="2159000"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5.6.3</a:t>
            </a:r>
            <a:r>
              <a:rPr lang="zh-CN" altLang="en-US" sz="1200" b="1" kern="0" dirty="0">
                <a:latin typeface="微软雅黑" panose="020B0503020204020204" charset="-122"/>
                <a:ea typeface="微软雅黑" panose="020B0503020204020204" charset="-122"/>
              </a:rPr>
              <a:t>入厂物流管理</a:t>
            </a:r>
          </a:p>
        </p:txBody>
      </p:sp>
      <p:sp>
        <p:nvSpPr>
          <p:cNvPr id="113" name="Rectangle 21"/>
          <p:cNvSpPr/>
          <p:nvPr/>
        </p:nvSpPr>
        <p:spPr>
          <a:xfrm>
            <a:off x="5257800" y="2819400"/>
            <a:ext cx="2159000"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5.6.4</a:t>
            </a:r>
            <a:r>
              <a:rPr lang="zh-CN" altLang="en-US" sz="1200" b="1" kern="0" dirty="0">
                <a:latin typeface="微软雅黑" panose="020B0503020204020204" charset="-122"/>
                <a:ea typeface="微软雅黑" panose="020B0503020204020204" charset="-122"/>
              </a:rPr>
              <a:t>仓库管理</a:t>
            </a:r>
          </a:p>
        </p:txBody>
      </p:sp>
      <p:sp>
        <p:nvSpPr>
          <p:cNvPr id="121" name="Rectangle 21"/>
          <p:cNvSpPr/>
          <p:nvPr/>
        </p:nvSpPr>
        <p:spPr>
          <a:xfrm>
            <a:off x="5262563" y="3125788"/>
            <a:ext cx="2159000" cy="250825"/>
          </a:xfrm>
          <a:prstGeom prst="rect">
            <a:avLst/>
          </a:prstGeom>
          <a:solidFill>
            <a:srgbClr val="92D05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5.6.5</a:t>
            </a:r>
            <a:r>
              <a:rPr lang="zh-CN" altLang="en-US" sz="1200" b="1" kern="0" dirty="0">
                <a:latin typeface="微软雅黑" panose="020B0503020204020204" charset="-122"/>
                <a:ea typeface="微软雅黑" panose="020B0503020204020204" charset="-122"/>
              </a:rPr>
              <a:t>出厂物流计划制定</a:t>
            </a:r>
          </a:p>
        </p:txBody>
      </p:sp>
      <p:sp>
        <p:nvSpPr>
          <p:cNvPr id="122" name="Rectangle 21"/>
          <p:cNvSpPr/>
          <p:nvPr/>
        </p:nvSpPr>
        <p:spPr>
          <a:xfrm>
            <a:off x="5280025" y="4446588"/>
            <a:ext cx="2160588"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5.7.2 </a:t>
            </a:r>
            <a:r>
              <a:rPr lang="zh-CN" altLang="en-US" sz="1200" b="1" kern="0" dirty="0">
                <a:latin typeface="微软雅黑" panose="020B0503020204020204" charset="-122"/>
                <a:ea typeface="微软雅黑" panose="020B0503020204020204" charset="-122"/>
              </a:rPr>
              <a:t>厂内物流及配送</a:t>
            </a:r>
          </a:p>
        </p:txBody>
      </p:sp>
      <p:sp>
        <p:nvSpPr>
          <p:cNvPr id="125" name="Rectangle 21"/>
          <p:cNvSpPr/>
          <p:nvPr/>
        </p:nvSpPr>
        <p:spPr>
          <a:xfrm>
            <a:off x="5278438" y="4149725"/>
            <a:ext cx="2160587"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5.7.1 </a:t>
            </a:r>
            <a:r>
              <a:rPr lang="zh-CN" altLang="en-US" sz="1200" b="1" kern="0" dirty="0">
                <a:latin typeface="微软雅黑" panose="020B0503020204020204" charset="-122"/>
                <a:ea typeface="微软雅黑" panose="020B0503020204020204" charset="-122"/>
              </a:rPr>
              <a:t>制定工作中心小日程计划 </a:t>
            </a:r>
          </a:p>
        </p:txBody>
      </p:sp>
      <p:sp>
        <p:nvSpPr>
          <p:cNvPr id="126" name="Rectangle 21"/>
          <p:cNvSpPr/>
          <p:nvPr/>
        </p:nvSpPr>
        <p:spPr>
          <a:xfrm>
            <a:off x="5268913" y="3736975"/>
            <a:ext cx="2160587" cy="252413"/>
          </a:xfrm>
          <a:prstGeom prst="rect">
            <a:avLst/>
          </a:prstGeom>
          <a:solidFill>
            <a:srgbClr val="92D05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5.6.7</a:t>
            </a:r>
            <a:r>
              <a:rPr lang="zh-CN" altLang="en-US" sz="1200" b="1" kern="0" dirty="0">
                <a:latin typeface="微软雅黑" panose="020B0503020204020204" charset="-122"/>
                <a:ea typeface="微软雅黑" panose="020B0503020204020204" charset="-122"/>
              </a:rPr>
              <a:t>逆向物流</a:t>
            </a:r>
          </a:p>
        </p:txBody>
      </p:sp>
      <p:sp>
        <p:nvSpPr>
          <p:cNvPr id="127" name="Rectangle 21"/>
          <p:cNvSpPr/>
          <p:nvPr/>
        </p:nvSpPr>
        <p:spPr>
          <a:xfrm>
            <a:off x="5280025" y="3444875"/>
            <a:ext cx="2160588" cy="252413"/>
          </a:xfrm>
          <a:prstGeom prst="rect">
            <a:avLst/>
          </a:prstGeom>
          <a:solidFill>
            <a:srgbClr val="92D05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5.6.6</a:t>
            </a:r>
            <a:r>
              <a:rPr lang="zh-CN" altLang="en-US" sz="1200" b="1" kern="0" dirty="0">
                <a:latin typeface="微软雅黑" panose="020B0503020204020204" charset="-122"/>
                <a:ea typeface="微软雅黑" panose="020B0503020204020204" charset="-122"/>
              </a:rPr>
              <a:t>出厂物流管理</a:t>
            </a:r>
          </a:p>
        </p:txBody>
      </p:sp>
      <p:cxnSp>
        <p:nvCxnSpPr>
          <p:cNvPr id="9255" name="肘形连接符 6"/>
          <p:cNvCxnSpPr>
            <a:cxnSpLocks noChangeShapeType="1"/>
            <a:stCxn id="105" idx="3"/>
            <a:endCxn id="106" idx="1"/>
          </p:cNvCxnSpPr>
          <p:nvPr/>
        </p:nvCxnSpPr>
        <p:spPr bwMode="auto">
          <a:xfrm>
            <a:off x="2124075" y="4403725"/>
            <a:ext cx="647700" cy="1212850"/>
          </a:xfrm>
          <a:prstGeom prst="bentConnector3">
            <a:avLst>
              <a:gd name="adj1" fmla="val 50000"/>
            </a:avLst>
          </a:prstGeom>
          <a:noFill/>
          <a:ln w="9525" algn="ctr">
            <a:solidFill>
              <a:schemeClr val="tx1"/>
            </a:solidFill>
            <a:round/>
          </a:ln>
        </p:spPr>
      </p:cxnSp>
      <p:cxnSp>
        <p:nvCxnSpPr>
          <p:cNvPr id="9256" name="直接箭头连接符 30"/>
          <p:cNvCxnSpPr>
            <a:cxnSpLocks noChangeShapeType="1"/>
            <a:endCxn id="127" idx="1"/>
          </p:cNvCxnSpPr>
          <p:nvPr/>
        </p:nvCxnSpPr>
        <p:spPr bwMode="auto">
          <a:xfrm>
            <a:off x="4894263" y="3570288"/>
            <a:ext cx="385762" cy="0"/>
          </a:xfrm>
          <a:prstGeom prst="straightConnector1">
            <a:avLst/>
          </a:prstGeom>
          <a:noFill/>
          <a:ln w="9525" algn="ctr">
            <a:solidFill>
              <a:schemeClr val="tx1"/>
            </a:solidFill>
            <a:round/>
          </a:ln>
        </p:spPr>
      </p:cxnSp>
      <p:cxnSp>
        <p:nvCxnSpPr>
          <p:cNvPr id="9257" name="直接箭头连接符 32"/>
          <p:cNvCxnSpPr>
            <a:cxnSpLocks noChangeShapeType="1"/>
            <a:endCxn id="126" idx="1"/>
          </p:cNvCxnSpPr>
          <p:nvPr/>
        </p:nvCxnSpPr>
        <p:spPr bwMode="auto">
          <a:xfrm>
            <a:off x="4894263" y="3863975"/>
            <a:ext cx="374650" cy="0"/>
          </a:xfrm>
          <a:prstGeom prst="straightConnector1">
            <a:avLst/>
          </a:prstGeom>
          <a:noFill/>
          <a:ln w="9525" algn="ctr">
            <a:solidFill>
              <a:schemeClr val="tx1"/>
            </a:solidFill>
            <a:round/>
          </a:ln>
        </p:spPr>
      </p:cxnSp>
      <p:cxnSp>
        <p:nvCxnSpPr>
          <p:cNvPr id="9258" name="直接连接符 151"/>
          <p:cNvCxnSpPr>
            <a:cxnSpLocks noChangeShapeType="1"/>
            <a:endCxn id="110" idx="1"/>
          </p:cNvCxnSpPr>
          <p:nvPr/>
        </p:nvCxnSpPr>
        <p:spPr bwMode="auto">
          <a:xfrm>
            <a:off x="4887913" y="2647950"/>
            <a:ext cx="369887" cy="0"/>
          </a:xfrm>
          <a:prstGeom prst="line">
            <a:avLst/>
          </a:prstGeom>
          <a:noFill/>
          <a:ln w="9525" algn="ctr">
            <a:solidFill>
              <a:schemeClr val="tx1"/>
            </a:solidFill>
            <a:round/>
          </a:ln>
        </p:spPr>
      </p:cxnSp>
      <p:sp>
        <p:nvSpPr>
          <p:cNvPr id="68" name="Rectangle 21"/>
          <p:cNvSpPr/>
          <p:nvPr/>
        </p:nvSpPr>
        <p:spPr>
          <a:xfrm>
            <a:off x="5283200" y="4740275"/>
            <a:ext cx="2159000" cy="252413"/>
          </a:xfrm>
          <a:prstGeom prst="rect">
            <a:avLst/>
          </a:prstGeom>
          <a:solidFill>
            <a:srgbClr val="FFC000"/>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latin typeface="微软雅黑" panose="020B0503020204020204" charset="-122"/>
                <a:ea typeface="微软雅黑" panose="020B0503020204020204" charset="-122"/>
              </a:rPr>
              <a:t>5.7.3 </a:t>
            </a:r>
            <a:r>
              <a:rPr lang="zh-CN" altLang="en-US" sz="1200" b="1" dirty="0">
                <a:latin typeface="微软雅黑" panose="020B0503020204020204" charset="-122"/>
                <a:ea typeface="微软雅黑" panose="020B0503020204020204" charset="-122"/>
              </a:rPr>
              <a:t>制造人员管理</a:t>
            </a:r>
          </a:p>
        </p:txBody>
      </p:sp>
      <p:cxnSp>
        <p:nvCxnSpPr>
          <p:cNvPr id="9260" name="肘形连接符 2"/>
          <p:cNvCxnSpPr>
            <a:cxnSpLocks noChangeShapeType="1"/>
            <a:stCxn id="100" idx="3"/>
            <a:endCxn id="107" idx="1"/>
          </p:cNvCxnSpPr>
          <p:nvPr/>
        </p:nvCxnSpPr>
        <p:spPr bwMode="auto">
          <a:xfrm flipV="1">
            <a:off x="4508500" y="2019300"/>
            <a:ext cx="754063" cy="2960688"/>
          </a:xfrm>
          <a:prstGeom prst="bentConnector3">
            <a:avLst>
              <a:gd name="adj1" fmla="val 50000"/>
            </a:avLst>
          </a:prstGeom>
          <a:noFill/>
          <a:ln w="9525" algn="ctr">
            <a:solidFill>
              <a:schemeClr val="tx1"/>
            </a:solidFill>
            <a:round/>
          </a:ln>
        </p:spPr>
      </p:cxnSp>
      <p:cxnSp>
        <p:nvCxnSpPr>
          <p:cNvPr id="9261" name="直接连接符 56"/>
          <p:cNvCxnSpPr>
            <a:cxnSpLocks noChangeShapeType="1"/>
          </p:cNvCxnSpPr>
          <p:nvPr/>
        </p:nvCxnSpPr>
        <p:spPr bwMode="auto">
          <a:xfrm>
            <a:off x="4899025" y="2362200"/>
            <a:ext cx="369888" cy="0"/>
          </a:xfrm>
          <a:prstGeom prst="line">
            <a:avLst/>
          </a:prstGeom>
          <a:noFill/>
          <a:ln w="9525" algn="ctr">
            <a:solidFill>
              <a:schemeClr val="tx1"/>
            </a:solidFill>
            <a:round/>
          </a:ln>
        </p:spPr>
      </p:cxnSp>
      <p:cxnSp>
        <p:nvCxnSpPr>
          <p:cNvPr id="9262" name="直接连接符 57"/>
          <p:cNvCxnSpPr>
            <a:cxnSpLocks noChangeShapeType="1"/>
          </p:cNvCxnSpPr>
          <p:nvPr/>
        </p:nvCxnSpPr>
        <p:spPr bwMode="auto">
          <a:xfrm>
            <a:off x="4884738" y="2963863"/>
            <a:ext cx="371475" cy="0"/>
          </a:xfrm>
          <a:prstGeom prst="line">
            <a:avLst/>
          </a:prstGeom>
          <a:noFill/>
          <a:ln w="9525" algn="ctr">
            <a:solidFill>
              <a:schemeClr val="tx1"/>
            </a:solidFill>
            <a:round/>
          </a:ln>
        </p:spPr>
      </p:cxnSp>
      <p:cxnSp>
        <p:nvCxnSpPr>
          <p:cNvPr id="9263" name="直接连接符 58"/>
          <p:cNvCxnSpPr>
            <a:cxnSpLocks noChangeShapeType="1"/>
          </p:cNvCxnSpPr>
          <p:nvPr/>
        </p:nvCxnSpPr>
        <p:spPr bwMode="auto">
          <a:xfrm>
            <a:off x="4887913" y="3270250"/>
            <a:ext cx="369887" cy="0"/>
          </a:xfrm>
          <a:prstGeom prst="line">
            <a:avLst/>
          </a:prstGeom>
          <a:noFill/>
          <a:ln w="9525" algn="ctr">
            <a:solidFill>
              <a:schemeClr val="tx1"/>
            </a:solidFill>
            <a:round/>
          </a:ln>
        </p:spPr>
      </p:cxnSp>
      <p:sp>
        <p:nvSpPr>
          <p:cNvPr id="52" name="Rectangle 21"/>
          <p:cNvSpPr/>
          <p:nvPr/>
        </p:nvSpPr>
        <p:spPr>
          <a:xfrm>
            <a:off x="5291138" y="5337175"/>
            <a:ext cx="2160587" cy="252413"/>
          </a:xfrm>
          <a:prstGeom prst="rect">
            <a:avLst/>
          </a:prstGeom>
          <a:solidFill>
            <a:srgbClr val="FFC000"/>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latin typeface="微软雅黑" panose="020B0503020204020204" charset="-122"/>
                <a:ea typeface="微软雅黑" panose="020B0503020204020204" charset="-122"/>
              </a:rPr>
              <a:t>5.7.5 </a:t>
            </a:r>
            <a:r>
              <a:rPr lang="zh-CN" altLang="en-US" sz="1200" b="1" dirty="0">
                <a:latin typeface="微软雅黑" panose="020B0503020204020204" charset="-122"/>
                <a:ea typeface="微软雅黑" panose="020B0503020204020204" charset="-122"/>
              </a:rPr>
              <a:t>制造质量管理</a:t>
            </a:r>
          </a:p>
        </p:txBody>
      </p:sp>
      <p:sp>
        <p:nvSpPr>
          <p:cNvPr id="53" name="Rectangle 21"/>
          <p:cNvSpPr/>
          <p:nvPr/>
        </p:nvSpPr>
        <p:spPr>
          <a:xfrm>
            <a:off x="5289550" y="5040313"/>
            <a:ext cx="2160588" cy="252412"/>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5.7.4 </a:t>
            </a:r>
            <a:r>
              <a:rPr lang="zh-CN" altLang="en-US" sz="1200" b="1" kern="0" dirty="0">
                <a:latin typeface="微软雅黑" panose="020B0503020204020204" charset="-122"/>
                <a:ea typeface="微软雅黑" panose="020B0503020204020204" charset="-122"/>
              </a:rPr>
              <a:t>制造过程管理 </a:t>
            </a:r>
          </a:p>
        </p:txBody>
      </p:sp>
      <p:sp>
        <p:nvSpPr>
          <p:cNvPr id="55" name="Rectangle 21"/>
          <p:cNvSpPr/>
          <p:nvPr/>
        </p:nvSpPr>
        <p:spPr>
          <a:xfrm>
            <a:off x="5292725" y="5632450"/>
            <a:ext cx="2160588" cy="250825"/>
          </a:xfrm>
          <a:prstGeom prst="rect">
            <a:avLst/>
          </a:prstGeom>
          <a:solidFill>
            <a:srgbClr val="FFC000"/>
          </a:solidFill>
          <a:ln w="6350">
            <a:solidFill>
              <a:schemeClr val="bg1">
                <a:lumMod val="75000"/>
              </a:schemeClr>
            </a:solidFill>
            <a:miter lim="800000"/>
          </a:ln>
        </p:spPr>
        <p:txBody>
          <a:bodyPr lIns="72000" tIns="36000" rIns="18000" bIns="36000" rtlCol="0" anchor="ctr">
            <a:noAutofit/>
          </a:bodyPr>
          <a:lstStyle/>
          <a:p>
            <a:pPr fontAlgn="auto">
              <a:spcBef>
                <a:spcPct val="20000"/>
              </a:spcBef>
              <a:spcAft>
                <a:spcPts val="0"/>
              </a:spcAft>
              <a:buClr>
                <a:schemeClr val="tx1"/>
              </a:buClr>
              <a:defRPr/>
            </a:pPr>
            <a:r>
              <a:rPr lang="en-US" altLang="zh-CN" sz="1200" b="1" dirty="0">
                <a:latin typeface="微软雅黑" panose="020B0503020204020204" charset="-122"/>
                <a:ea typeface="微软雅黑" panose="020B0503020204020204" charset="-122"/>
              </a:rPr>
              <a:t>5.7.6 </a:t>
            </a:r>
            <a:r>
              <a:rPr lang="zh-CN" altLang="en-US" sz="1200" b="1" dirty="0">
                <a:latin typeface="微软雅黑" panose="020B0503020204020204" charset="-122"/>
                <a:ea typeface="微软雅黑" panose="020B0503020204020204" charset="-122"/>
              </a:rPr>
              <a:t>设备管理</a:t>
            </a:r>
          </a:p>
        </p:txBody>
      </p:sp>
      <p:sp>
        <p:nvSpPr>
          <p:cNvPr id="60" name="Rectangle 21"/>
          <p:cNvSpPr/>
          <p:nvPr/>
        </p:nvSpPr>
        <p:spPr>
          <a:xfrm>
            <a:off x="5292725" y="5924550"/>
            <a:ext cx="2160588" cy="250825"/>
          </a:xfrm>
          <a:prstGeom prst="rect">
            <a:avLst/>
          </a:prstGeom>
          <a:solidFill>
            <a:srgbClr val="FFC000"/>
          </a:solidFill>
          <a:ln>
            <a:solidFill>
              <a:schemeClr val="tx1"/>
            </a:solidFill>
          </a:ln>
        </p:spPr>
        <p:txBody>
          <a:bodyPr wrap="none" tIns="36000" bIns="36000"/>
          <a:lstStyle/>
          <a:p>
            <a:pPr fontAlgn="auto">
              <a:spcBef>
                <a:spcPts val="0"/>
              </a:spcBef>
              <a:spcAft>
                <a:spcPts val="0"/>
              </a:spcAft>
              <a:buClr>
                <a:srgbClr val="000000"/>
              </a:buClr>
              <a:defRPr/>
            </a:pPr>
            <a:r>
              <a:rPr lang="en-US" altLang="zh-CN" sz="1200" b="1" kern="0" dirty="0">
                <a:latin typeface="微软雅黑" panose="020B0503020204020204" charset="-122"/>
                <a:ea typeface="微软雅黑" panose="020B0503020204020204" charset="-122"/>
              </a:rPr>
              <a:t>5.7.7 </a:t>
            </a:r>
            <a:r>
              <a:rPr lang="zh-CN" altLang="en-US" sz="1200" b="1" kern="0" dirty="0">
                <a:latin typeface="微软雅黑" panose="020B0503020204020204" charset="-122"/>
                <a:ea typeface="微软雅黑" panose="020B0503020204020204" charset="-122"/>
              </a:rPr>
              <a:t>制造数据管理</a:t>
            </a:r>
          </a:p>
        </p:txBody>
      </p:sp>
      <p:cxnSp>
        <p:nvCxnSpPr>
          <p:cNvPr id="9268" name="肘形连接符 5"/>
          <p:cNvCxnSpPr>
            <a:cxnSpLocks noChangeShapeType="1"/>
            <a:stCxn id="106" idx="3"/>
            <a:endCxn id="125" idx="1"/>
          </p:cNvCxnSpPr>
          <p:nvPr/>
        </p:nvCxnSpPr>
        <p:spPr bwMode="auto">
          <a:xfrm flipV="1">
            <a:off x="4500563" y="4275138"/>
            <a:ext cx="777875" cy="1341437"/>
          </a:xfrm>
          <a:prstGeom prst="bentConnector3">
            <a:avLst>
              <a:gd name="adj1" fmla="val 62111"/>
            </a:avLst>
          </a:prstGeom>
          <a:noFill/>
          <a:ln w="9525" algn="ctr">
            <a:solidFill>
              <a:schemeClr val="tx1"/>
            </a:solidFill>
            <a:round/>
          </a:ln>
        </p:spPr>
      </p:cxnSp>
      <p:cxnSp>
        <p:nvCxnSpPr>
          <p:cNvPr id="9269" name="肘形连接符 10"/>
          <p:cNvCxnSpPr>
            <a:cxnSpLocks noChangeShapeType="1"/>
            <a:stCxn id="106" idx="3"/>
            <a:endCxn id="60" idx="1"/>
          </p:cNvCxnSpPr>
          <p:nvPr/>
        </p:nvCxnSpPr>
        <p:spPr bwMode="auto">
          <a:xfrm>
            <a:off x="4500563" y="5616575"/>
            <a:ext cx="792162" cy="433388"/>
          </a:xfrm>
          <a:prstGeom prst="bentConnector3">
            <a:avLst>
              <a:gd name="adj1" fmla="val 61898"/>
            </a:avLst>
          </a:prstGeom>
          <a:noFill/>
          <a:ln w="9525" algn="ctr">
            <a:solidFill>
              <a:schemeClr val="tx1"/>
            </a:solidFill>
            <a:round/>
          </a:ln>
        </p:spPr>
      </p:cxnSp>
      <p:cxnSp>
        <p:nvCxnSpPr>
          <p:cNvPr id="9270" name="肘形连接符 13"/>
          <p:cNvCxnSpPr>
            <a:cxnSpLocks noChangeShapeType="1"/>
            <a:stCxn id="106" idx="3"/>
            <a:endCxn id="55" idx="1"/>
          </p:cNvCxnSpPr>
          <p:nvPr/>
        </p:nvCxnSpPr>
        <p:spPr bwMode="auto">
          <a:xfrm>
            <a:off x="4500563" y="5616575"/>
            <a:ext cx="792162" cy="141288"/>
          </a:xfrm>
          <a:prstGeom prst="bentConnector3">
            <a:avLst>
              <a:gd name="adj1" fmla="val 61898"/>
            </a:avLst>
          </a:prstGeom>
          <a:noFill/>
          <a:ln w="9525" algn="ctr">
            <a:solidFill>
              <a:schemeClr val="tx1"/>
            </a:solidFill>
            <a:round/>
          </a:ln>
        </p:spPr>
      </p:cxnSp>
      <p:cxnSp>
        <p:nvCxnSpPr>
          <p:cNvPr id="9271" name="直接连接符 16"/>
          <p:cNvCxnSpPr>
            <a:cxnSpLocks noChangeShapeType="1"/>
            <a:endCxn id="122" idx="1"/>
          </p:cNvCxnSpPr>
          <p:nvPr/>
        </p:nvCxnSpPr>
        <p:spPr bwMode="auto">
          <a:xfrm>
            <a:off x="5003800" y="4572000"/>
            <a:ext cx="276225" cy="0"/>
          </a:xfrm>
          <a:prstGeom prst="line">
            <a:avLst/>
          </a:prstGeom>
          <a:noFill/>
          <a:ln w="9525" algn="ctr">
            <a:solidFill>
              <a:schemeClr val="tx1"/>
            </a:solidFill>
            <a:round/>
          </a:ln>
        </p:spPr>
      </p:cxnSp>
      <p:cxnSp>
        <p:nvCxnSpPr>
          <p:cNvPr id="9272" name="直接连接符 71"/>
          <p:cNvCxnSpPr>
            <a:cxnSpLocks noChangeShapeType="1"/>
          </p:cNvCxnSpPr>
          <p:nvPr/>
        </p:nvCxnSpPr>
        <p:spPr bwMode="auto">
          <a:xfrm>
            <a:off x="5003800" y="4868863"/>
            <a:ext cx="276225" cy="0"/>
          </a:xfrm>
          <a:prstGeom prst="line">
            <a:avLst/>
          </a:prstGeom>
          <a:noFill/>
          <a:ln w="9525" algn="ctr">
            <a:solidFill>
              <a:schemeClr val="tx1"/>
            </a:solidFill>
            <a:round/>
          </a:ln>
        </p:spPr>
      </p:cxnSp>
      <p:cxnSp>
        <p:nvCxnSpPr>
          <p:cNvPr id="9273" name="直接连接符 72"/>
          <p:cNvCxnSpPr>
            <a:cxnSpLocks noChangeShapeType="1"/>
          </p:cNvCxnSpPr>
          <p:nvPr/>
        </p:nvCxnSpPr>
        <p:spPr bwMode="auto">
          <a:xfrm>
            <a:off x="5003800" y="5157788"/>
            <a:ext cx="276225" cy="0"/>
          </a:xfrm>
          <a:prstGeom prst="line">
            <a:avLst/>
          </a:prstGeom>
          <a:noFill/>
          <a:ln w="9525" algn="ctr">
            <a:solidFill>
              <a:schemeClr val="tx1"/>
            </a:solidFill>
            <a:round/>
          </a:ln>
        </p:spPr>
      </p:cxnSp>
      <p:cxnSp>
        <p:nvCxnSpPr>
          <p:cNvPr id="9274" name="直接连接符 75"/>
          <p:cNvCxnSpPr>
            <a:cxnSpLocks noChangeShapeType="1"/>
          </p:cNvCxnSpPr>
          <p:nvPr/>
        </p:nvCxnSpPr>
        <p:spPr bwMode="auto">
          <a:xfrm>
            <a:off x="5003800" y="5445125"/>
            <a:ext cx="276225" cy="0"/>
          </a:xfrm>
          <a:prstGeom prst="line">
            <a:avLst/>
          </a:prstGeom>
          <a:noFill/>
          <a:ln w="9525" algn="ctr">
            <a:solidFill>
              <a:schemeClr val="tx1"/>
            </a:solidFill>
            <a:round/>
          </a:ln>
        </p:spPr>
      </p:cxnSp>
      <p:sp>
        <p:nvSpPr>
          <p:cNvPr id="61" name="矩形 60"/>
          <p:cNvSpPr/>
          <p:nvPr/>
        </p:nvSpPr>
        <p:spPr bwMode="auto">
          <a:xfrm>
            <a:off x="7215206" y="145532"/>
            <a:ext cx="900000" cy="276248"/>
          </a:xfrm>
          <a:prstGeom prst="rect">
            <a:avLst/>
          </a:prstGeom>
          <a:solidFill>
            <a:srgbClr val="FFC000"/>
          </a:solidFill>
          <a:ln w="6350">
            <a:solidFill>
              <a:schemeClr val="tx1"/>
            </a:solidFill>
            <a:miter lim="800000"/>
          </a:ln>
        </p:spPr>
        <p:txBody>
          <a:bodyPr lIns="36000" rIns="36000" rtlCol="0" anchor="ctr">
            <a:noAutofit/>
          </a:bodyPr>
          <a:lstStyle/>
          <a:p>
            <a:pPr algn="ctr">
              <a:buClr>
                <a:schemeClr val="tx1"/>
              </a:buClr>
            </a:pPr>
            <a:r>
              <a:rPr lang="zh-CN" altLang="en-US" sz="900" b="1" dirty="0">
                <a:solidFill>
                  <a:srgbClr val="000000"/>
                </a:solidFill>
                <a:latin typeface="微软雅黑" panose="020B0503020204020204" charset="-122"/>
                <a:ea typeface="微软雅黑" panose="020B0503020204020204" charset="-122"/>
              </a:rPr>
              <a:t>有流程</a:t>
            </a:r>
            <a:endParaRPr lang="en-US" altLang="zh-CN" sz="900" b="1" dirty="0">
              <a:solidFill>
                <a:srgbClr val="000000"/>
              </a:solidFill>
              <a:latin typeface="微软雅黑" panose="020B0503020204020204" charset="-122"/>
              <a:ea typeface="微软雅黑" panose="020B0503020204020204" charset="-122"/>
            </a:endParaRPr>
          </a:p>
        </p:txBody>
      </p:sp>
      <p:sp>
        <p:nvSpPr>
          <p:cNvPr id="62" name="矩形 61"/>
          <p:cNvSpPr/>
          <p:nvPr/>
        </p:nvSpPr>
        <p:spPr bwMode="auto">
          <a:xfrm>
            <a:off x="6215074" y="145532"/>
            <a:ext cx="900000" cy="276248"/>
          </a:xfrm>
          <a:prstGeom prst="rect">
            <a:avLst/>
          </a:prstGeom>
          <a:solidFill>
            <a:srgbClr val="92D050"/>
          </a:solidFill>
          <a:ln w="6350">
            <a:solidFill>
              <a:schemeClr val="tx1"/>
            </a:solidFill>
            <a:miter lim="800000"/>
          </a:ln>
        </p:spPr>
        <p:txBody>
          <a:bodyPr lIns="18000" tIns="36000" rIns="18000" bIns="36000" rtlCol="0" anchor="ctr">
            <a:noAutofit/>
          </a:bodyPr>
          <a:lstStyle/>
          <a:p>
            <a:pPr algn="ctr">
              <a:buClr>
                <a:schemeClr val="tx1"/>
              </a:buClr>
            </a:pPr>
            <a:r>
              <a:rPr lang="zh-CN" altLang="en-US" sz="900" b="1" dirty="0">
                <a:solidFill>
                  <a:sysClr val="windowText" lastClr="000000"/>
                </a:solidFill>
                <a:latin typeface="微软雅黑" panose="020B0503020204020204" charset="-122"/>
                <a:ea typeface="微软雅黑" panose="020B0503020204020204" charset="-122"/>
              </a:rPr>
              <a:t>无流程</a:t>
            </a:r>
            <a:endParaRPr lang="en-US" altLang="zh-CN" sz="900" b="1" dirty="0">
              <a:solidFill>
                <a:sysClr val="windowText" lastClr="000000"/>
              </a:solidFill>
              <a:latin typeface="微软雅黑" panose="020B0503020204020204" charset="-122"/>
              <a:ea typeface="微软雅黑" panose="020B0503020204020204" charset="-122"/>
            </a:endParaRPr>
          </a:p>
        </p:txBody>
      </p:sp>
      <p:sp>
        <p:nvSpPr>
          <p:cNvPr id="63" name="矩形 62"/>
          <p:cNvSpPr/>
          <p:nvPr/>
        </p:nvSpPr>
        <p:spPr bwMode="auto">
          <a:xfrm>
            <a:off x="5214942" y="152356"/>
            <a:ext cx="900000" cy="276248"/>
          </a:xfrm>
          <a:prstGeom prst="rect">
            <a:avLst/>
          </a:prstGeom>
          <a:solidFill>
            <a:schemeClr val="bg1">
              <a:lumMod val="85000"/>
            </a:schemeClr>
          </a:solidFill>
          <a:ln w="6350">
            <a:solidFill>
              <a:schemeClr val="tx1"/>
            </a:solidFill>
            <a:miter lim="800000"/>
          </a:ln>
        </p:spPr>
        <p:txBody>
          <a:bodyPr lIns="18000" tIns="36000" rIns="18000" bIns="36000" rtlCol="0" anchor="ctr">
            <a:noAutofit/>
          </a:bodyPr>
          <a:lstStyle/>
          <a:p>
            <a:pPr algn="ctr">
              <a:buClr>
                <a:schemeClr val="tx1"/>
              </a:buClr>
            </a:pPr>
            <a:r>
              <a:rPr lang="en-US" altLang="zh-CN" sz="900" b="1" dirty="0">
                <a:solidFill>
                  <a:schemeClr val="bg1">
                    <a:lumMod val="65000"/>
                  </a:schemeClr>
                </a:solidFill>
                <a:latin typeface="微软雅黑" panose="020B0503020204020204" charset="-122"/>
                <a:ea typeface="微软雅黑" panose="020B0503020204020204" charset="-122"/>
              </a:rPr>
              <a:t>SCM1.0</a:t>
            </a:r>
            <a:r>
              <a:rPr lang="zh-CN" altLang="en-US" sz="900" b="1" dirty="0">
                <a:solidFill>
                  <a:schemeClr val="bg1">
                    <a:lumMod val="65000"/>
                  </a:schemeClr>
                </a:solidFill>
                <a:latin typeface="微软雅黑" panose="020B0503020204020204" charset="-122"/>
                <a:ea typeface="微软雅黑" panose="020B0503020204020204" charset="-122"/>
              </a:rPr>
              <a:t>不相关</a:t>
            </a:r>
            <a:endParaRPr lang="en-US" altLang="zh-CN" sz="9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61"/>
          <p:cNvSpPr/>
          <p:nvPr/>
        </p:nvSpPr>
        <p:spPr bwMode="auto">
          <a:xfrm>
            <a:off x="3851604" y="2421372"/>
            <a:ext cx="900000" cy="276248"/>
          </a:xfrm>
          <a:prstGeom prst="rect">
            <a:avLst/>
          </a:prstGeom>
          <a:solidFill>
            <a:srgbClr val="92D050"/>
          </a:solidFill>
          <a:ln w="6350">
            <a:solidFill>
              <a:schemeClr val="tx1"/>
            </a:solidFill>
            <a:miter lim="800000"/>
          </a:ln>
        </p:spPr>
        <p:txBody>
          <a:bodyPr lIns="18000" tIns="36000" rIns="18000" bIns="36000" rtlCol="0" anchor="ctr">
            <a:noAutofit/>
          </a:bodyPr>
          <a:lstStyle/>
          <a:p>
            <a:pPr algn="ctr">
              <a:buClr>
                <a:schemeClr val="tx1"/>
              </a:buClr>
            </a:pPr>
            <a:r>
              <a:rPr lang="zh-CN" altLang="en-US" sz="13800" b="1" dirty="0">
                <a:solidFill>
                  <a:sysClr val="windowText" lastClr="000000"/>
                </a:solidFill>
                <a:latin typeface="微软雅黑" panose="020B0503020204020204" charset="-122"/>
                <a:ea typeface="微软雅黑" panose="020B0503020204020204" charset="-122"/>
              </a:rPr>
              <a:t>谢谢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g4NTc2OTg2YzJjMmVlNjc0MmU3ZTNkNzBlYjE1NDcifQ=="/>
  <p:tag name="RESOURCE_RECORD_KEY" val="{&quot;71&quot;:[76235679511]}"/>
</p:tagLst>
</file>

<file path=ppt/tags/tag2.xml><?xml version="1.0" encoding="utf-8"?>
<p:tagLst xmlns:a="http://schemas.openxmlformats.org/drawingml/2006/main" xmlns:r="http://schemas.openxmlformats.org/officeDocument/2006/relationships" xmlns:p="http://schemas.openxmlformats.org/presentationml/2006/main">
  <p:tag name="RESOURCE_RECORD_KEY" val="{&quot;71&quot;:[76235679511]}"/>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LXsKi_NoU02cxZ.mWN4cF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LXsKi_NoU02cxZ.mWN4cF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LXsKi_NoU02cxZ.mWN4cF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LXsKi_NoU02cxZ.mWN4cF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Gt1uq8jnP0CpABkmYIuqF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4ZmOdAdP1023Daj26AN7X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2_EdbWuTu0KnhhVcutQ8M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2o54i2lUoEODcW5taFxsg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KXTtr2I2nUit71v_EtxBB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gPHs9XKzykmfJm3_VlFkl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OnlrBhL0802AjmYTF6wmg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P0BBTEUVYE6CQnQjmRBez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x2rnJinQDUaJN87NXjU6P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nFNQTYk0.Uqx9gUhDHuY5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xdg6LB2sRUOlut8JZEZFr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uQkXU_PrCEeVPwVgeFyKA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KMTWT.ewMUqR4bvrs2SB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v9zVk6XOFEKmE9CHIQr47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YDr1x21BFEuqBOsdRNk0y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yN8MKhl0R0KsiCjoPdZzX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_5ishz7WQUW1zVCdxDXF.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9etHOz1WaUGjitlJgrOky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yN8MKhl0R0KsiCjoPdZz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f7mbOKpdvUe9ZAW1JUuUlg"/>
</p:tagLst>
</file>

<file path=ppt/theme/theme1.xml><?xml version="1.0" encoding="utf-8"?>
<a:theme xmlns:a="http://schemas.openxmlformats.org/drawingml/2006/main" name="IBM GBS PPT">
  <a:themeElements>
    <a:clrScheme name="">
      <a:dk1>
        <a:srgbClr val="000000"/>
      </a:dk1>
      <a:lt1>
        <a:srgbClr val="FFFFFF"/>
      </a:lt1>
      <a:dk2>
        <a:srgbClr val="1F3041"/>
      </a:dk2>
      <a:lt2>
        <a:srgbClr val="F4F7FA"/>
      </a:lt2>
      <a:accent1>
        <a:srgbClr val="2F6499"/>
      </a:accent1>
      <a:accent2>
        <a:srgbClr val="6490A4"/>
      </a:accent2>
      <a:accent3>
        <a:srgbClr val="6C9995"/>
      </a:accent3>
      <a:accent4>
        <a:srgbClr val="5A886C"/>
      </a:accent4>
      <a:accent5>
        <a:srgbClr val="7AA972"/>
      </a:accent5>
      <a:accent6>
        <a:srgbClr val="71A14D"/>
      </a:accent6>
      <a:hlink>
        <a:srgbClr val="658BD5"/>
      </a:hlink>
      <a:folHlink>
        <a:srgbClr val="A16AA5"/>
      </a:folHlink>
    </a:clrScheme>
    <a:fontScheme name="10 September 2009">
      <a:majorFont>
        <a:latin typeface="华文中宋"/>
        <a:ea typeface="华文中宋"/>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a:ln>
      </a:spPr>
      <a:bodyPr rtlCol="0" anchor="ctr"/>
      <a:lstStyle>
        <a:defPPr algn="ctr">
          <a:defRPr/>
        </a:defPPr>
      </a:lstStyle>
    </a:spDef>
    <a:lnDef>
      <a:spPr bwMode="auto">
        <a:solidFill>
          <a:schemeClr val="accent1"/>
        </a:solidFill>
        <a:ln w="9525" cap="flat" cmpd="sng" algn="ctr">
          <a:solidFill>
            <a:schemeClr val="tx1"/>
          </a:solidFill>
          <a:prstDash val="solid"/>
          <a:round/>
          <a:headEnd type="none" w="med" len="med"/>
          <a:tailEnd type="arrow"/>
        </a:ln>
      </a:spPr>
      <a:bodyPr/>
      <a:lstStyle/>
    </a:lnDef>
    <a:txDef>
      <a:spPr bwMode="auto">
        <a:noFill/>
        <a:ln>
          <a:noFill/>
        </a:ln>
      </a:spPr>
      <a:bodyPr wrap="none" rtlCol="0">
        <a:spAutoFit/>
      </a:bodyPr>
      <a:lstStyle>
        <a:defPPr>
          <a:defRPr kumimoji="1" b="0" dirty="0" smtClean="0">
            <a:solidFill>
              <a:srgbClr val="000000"/>
            </a:solidFill>
            <a:latin typeface="微软雅黑" panose="020B0503020204020204" charset="-122"/>
            <a:ea typeface="微软雅黑" panose="020B0503020204020204" charset="-122"/>
            <a:cs typeface="微软雅黑" panose="020B0503020204020204" charset="-122"/>
          </a:defRPr>
        </a:defPPr>
      </a:lstStyle>
    </a:txDef>
  </a:objectDefaults>
  <a:extraClrSchemeLst>
    <a:extraClrScheme>
      <a:clrScheme name="10 September 2009 1">
        <a:dk1>
          <a:srgbClr val="000000"/>
        </a:dk1>
        <a:lt1>
          <a:srgbClr val="FFFFFF"/>
        </a:lt1>
        <a:dk2>
          <a:srgbClr val="000000"/>
        </a:dk2>
        <a:lt2>
          <a:srgbClr val="808080"/>
        </a:lt2>
        <a:accent1>
          <a:srgbClr val="7889FB"/>
        </a:accent1>
        <a:accent2>
          <a:srgbClr val="009999"/>
        </a:accent2>
        <a:accent3>
          <a:srgbClr val="FFFFFF"/>
        </a:accent3>
        <a:accent4>
          <a:srgbClr val="000000"/>
        </a:accent4>
        <a:accent5>
          <a:srgbClr val="BEC4FD"/>
        </a:accent5>
        <a:accent6>
          <a:srgbClr val="008A8A"/>
        </a:accent6>
        <a:hlink>
          <a:srgbClr val="7889FB"/>
        </a:hlink>
        <a:folHlink>
          <a:srgbClr val="9900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IBM GBS PPT">
  <a:themeElements>
    <a:clrScheme name="">
      <a:dk1>
        <a:srgbClr val="000000"/>
      </a:dk1>
      <a:lt1>
        <a:srgbClr val="FFFFFF"/>
      </a:lt1>
      <a:dk2>
        <a:srgbClr val="1F3041"/>
      </a:dk2>
      <a:lt2>
        <a:srgbClr val="F4F7FA"/>
      </a:lt2>
      <a:accent1>
        <a:srgbClr val="2F6499"/>
      </a:accent1>
      <a:accent2>
        <a:srgbClr val="6490A4"/>
      </a:accent2>
      <a:accent3>
        <a:srgbClr val="6C9995"/>
      </a:accent3>
      <a:accent4>
        <a:srgbClr val="5A886C"/>
      </a:accent4>
      <a:accent5>
        <a:srgbClr val="7AA972"/>
      </a:accent5>
      <a:accent6>
        <a:srgbClr val="71A14D"/>
      </a:accent6>
      <a:hlink>
        <a:srgbClr val="658BD5"/>
      </a:hlink>
      <a:folHlink>
        <a:srgbClr val="A16AA5"/>
      </a:folHlink>
    </a:clrScheme>
    <a:fontScheme name="10 September 2009">
      <a:majorFont>
        <a:latin typeface="华文中宋"/>
        <a:ea typeface="华文中宋"/>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a:ln>
      </a:spPr>
      <a:bodyPr rtlCol="0" anchor="ctr"/>
      <a:lstStyle>
        <a:defPPr algn="ctr">
          <a:defRPr/>
        </a:defPPr>
      </a:lstStyle>
    </a:spDef>
    <a:lnDef>
      <a:spPr bwMode="auto">
        <a:solidFill>
          <a:schemeClr val="accent1"/>
        </a:solidFill>
        <a:ln w="9525" cap="flat" cmpd="sng" algn="ctr">
          <a:solidFill>
            <a:schemeClr val="tx1"/>
          </a:solidFill>
          <a:prstDash val="solid"/>
          <a:round/>
          <a:headEnd type="none" w="med" len="med"/>
          <a:tailEnd type="arrow"/>
        </a:ln>
      </a:spPr>
      <a:bodyPr/>
      <a:lstStyle/>
    </a:lnDef>
    <a:txDef>
      <a:spPr bwMode="auto">
        <a:noFill/>
        <a:ln>
          <a:noFill/>
        </a:ln>
      </a:spPr>
      <a:bodyPr wrap="none" rtlCol="0">
        <a:spAutoFit/>
      </a:bodyPr>
      <a:lstStyle>
        <a:defPPr>
          <a:defRPr kumimoji="1" b="0" dirty="0" smtClean="0">
            <a:solidFill>
              <a:srgbClr val="000000"/>
            </a:solidFill>
            <a:latin typeface="微软雅黑" panose="020B0503020204020204" charset="-122"/>
            <a:ea typeface="微软雅黑" panose="020B0503020204020204" charset="-122"/>
            <a:cs typeface="微软雅黑" panose="020B0503020204020204" charset="-122"/>
          </a:defRPr>
        </a:defPPr>
      </a:lstStyle>
    </a:txDef>
  </a:objectDefaults>
  <a:extraClrSchemeLst>
    <a:extraClrScheme>
      <a:clrScheme name="10 September 2009 1">
        <a:dk1>
          <a:srgbClr val="000000"/>
        </a:dk1>
        <a:lt1>
          <a:srgbClr val="FFFFFF"/>
        </a:lt1>
        <a:dk2>
          <a:srgbClr val="000000"/>
        </a:dk2>
        <a:lt2>
          <a:srgbClr val="808080"/>
        </a:lt2>
        <a:accent1>
          <a:srgbClr val="7889FB"/>
        </a:accent1>
        <a:accent2>
          <a:srgbClr val="009999"/>
        </a:accent2>
        <a:accent3>
          <a:srgbClr val="FFFFFF"/>
        </a:accent3>
        <a:accent4>
          <a:srgbClr val="000000"/>
        </a:accent4>
        <a:accent5>
          <a:srgbClr val="BEC4FD"/>
        </a:accent5>
        <a:accent6>
          <a:srgbClr val="008A8A"/>
        </a:accent6>
        <a:hlink>
          <a:srgbClr val="7889FB"/>
        </a:hlink>
        <a:folHlink>
          <a:srgbClr val="9900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75</TotalTime>
  <Words>25666</Words>
  <Application>Microsoft Office PowerPoint</Application>
  <PresentationFormat>全屏显示(4:3)</PresentationFormat>
  <Paragraphs>4526</Paragraphs>
  <Slides>124</Slides>
  <Notes>19</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124</vt:i4>
      </vt:variant>
    </vt:vector>
  </HeadingPairs>
  <TitlesOfParts>
    <vt:vector size="138" baseType="lpstr">
      <vt:lpstr>Modern H Medium</vt:lpstr>
      <vt:lpstr>冬青黑体简体中文 W3</vt:lpstr>
      <vt:lpstr>华文楷体</vt:lpstr>
      <vt:lpstr>华文细黑</vt:lpstr>
      <vt:lpstr>华文中宋</vt:lpstr>
      <vt:lpstr>宋体</vt:lpstr>
      <vt:lpstr>微软</vt:lpstr>
      <vt:lpstr>微软雅黑</vt:lpstr>
      <vt:lpstr>Arial</vt:lpstr>
      <vt:lpstr>Calibri</vt:lpstr>
      <vt:lpstr>Verdana</vt:lpstr>
      <vt:lpstr>Wingdings</vt:lpstr>
      <vt:lpstr>IBM GBS PPT</vt:lpstr>
      <vt:lpstr>1_IBM GBS PPT</vt:lpstr>
      <vt:lpstr>制造业集团供应链管理成熟度评估模型及集成计划流程框架  </vt:lpstr>
      <vt:lpstr>前期关键发现汇总及总体解决思路</vt:lpstr>
      <vt:lpstr>计划模式（订单组织方式）：理清未来的混合方式构成，明确应用场景</vt:lpstr>
      <vt:lpstr>计划模式（集成计划体系）：完善长中短期计划体系，建立柔性规则</vt:lpstr>
      <vt:lpstr>IT平台搭建：实现整体的产销存一体化业务，包含如快速交期评估、订单可视、主生产计划排产、缺料预警及供应商协同等主要功能点</vt:lpstr>
      <vt:lpstr>专题讨论会初步计划</vt:lpstr>
      <vt:lpstr>讨论点：如何应对市场的变化和波动</vt:lpstr>
      <vt:lpstr>讨论点：如何应对市场的变化和波动 — 柔性规则（现状问题）</vt:lpstr>
      <vt:lpstr>讨论点：如何应对市场的变化和波动 — 柔性规则（未来示例）</vt:lpstr>
      <vt:lpstr>A. 需求管理解决方案：建立基于联合预测的需求计划机制，在一定范围内提高计划准确率</vt:lpstr>
      <vt:lpstr>B. 订单管理解决方案：明确订单全生命周期处理和共享机制，实现订单端到端管理</vt:lpstr>
      <vt:lpstr>C. 产销平衡与生产计划解决方案：建立市场驱动、供需平衡的产销平衡机制</vt:lpstr>
      <vt:lpstr>D. 生产执行与物流解决方案：简单透明，提高执行效率</vt:lpstr>
      <vt:lpstr>E.零部件计划与交付解决方案：提供可靠的零部件交付，及时预防风险，快速响应需求</vt:lpstr>
      <vt:lpstr>PowerPoint 演示文稿</vt:lpstr>
      <vt:lpstr>PowerPoint 演示文稿</vt:lpstr>
      <vt:lpstr>x重机所处市场环境、客户特征和产品特点分析</vt:lpstr>
      <vt:lpstr>x重机所处环境的“三变”特点和企业未来发展“三化”特点，二者的平衡需要实现“规则+承诺、柔性+例外”的产销存一体化方案</vt:lpstr>
      <vt:lpstr>集成计划组工作框架：将依据“集成计划总体框架”按照三个阶段有序开展</vt:lpstr>
      <vt:lpstr>集成计划组推进方法：按照3个阶段、15个步骤逐步开展</vt:lpstr>
      <vt:lpstr>集成计划组工作计划：预计27周，至8月底完成设计工作，进入系统实施阶段</vt:lpstr>
      <vt:lpstr>PowerPoint 演示文稿</vt:lpstr>
      <vt:lpstr>PowerPoint 演示文稿</vt:lpstr>
      <vt:lpstr>PowerPoint 演示文稿</vt:lpstr>
      <vt:lpstr>在分析具体绩效指标之前，项目组首先借助“供应链成熟度评估模型”，从4个维度、5个等级、11个领域，对现有业务进行了初步摸底</vt:lpstr>
      <vt:lpstr>PowerPoint 演示文稿</vt:lpstr>
      <vt:lpstr>PowerPoint 演示文稿</vt:lpstr>
      <vt:lpstr>从管理维度看各具体业务领域成熟度</vt:lpstr>
      <vt:lpstr>营销领域成熟度分析</vt:lpstr>
      <vt:lpstr>集成计划领域成熟度分析</vt:lpstr>
      <vt:lpstr>制造物流领域成熟度分析</vt:lpstr>
      <vt:lpstr>商务领域成熟度分析</vt:lpstr>
      <vt:lpstr>PowerPoint 演示文稿</vt:lpstr>
      <vt:lpstr>PowerPoint 演示文稿</vt:lpstr>
      <vt:lpstr>PowerPoint 演示文稿</vt:lpstr>
      <vt:lpstr>绩效评价</vt:lpstr>
      <vt:lpstr>x重机订单周期划分</vt:lpstr>
      <vt:lpstr>订单响应周期-外部（国际）</vt:lpstr>
      <vt:lpstr>订单响应周期-内部（国际）</vt:lpstr>
      <vt:lpstr>订单组织周期（总体）</vt:lpstr>
      <vt:lpstr>订单交付周期（国内）</vt:lpstr>
      <vt:lpstr>订单交付周期（国际）</vt:lpstr>
      <vt:lpstr>订单准时交付率（国际）</vt:lpstr>
      <vt:lpstr>需求计划准确率（国内-月度）</vt:lpstr>
      <vt:lpstr>需求计划准确率（国际-月度）</vt:lpstr>
      <vt:lpstr>3日上线计划准确率</vt:lpstr>
      <vt:lpstr>PowerPoint 演示文稿</vt:lpstr>
      <vt:lpstr>生产线可动率</vt:lpstr>
      <vt:lpstr>停线时间（缺件/质量）</vt:lpstr>
      <vt:lpstr>生产计划完成率</vt:lpstr>
      <vt:lpstr>主机交付及时率</vt:lpstr>
      <vt:lpstr>主机存货周转率（次，总体）</vt:lpstr>
      <vt:lpstr>主机库存占用资金</vt:lpstr>
      <vt:lpstr>超期库存（代理商台量、事业部占用资金）</vt:lpstr>
      <vt:lpstr>零部件+在制品存货周转率</vt:lpstr>
      <vt:lpstr>零部件/配件呆滞库存金额</vt:lpstr>
      <vt:lpstr>PowerPoint 演示文稿</vt:lpstr>
      <vt:lpstr>基于现状访谈、专题讨论、资料研读、数据分析等手段，在总体框架下分析x重机业务现状，共总结出15个关键发现</vt:lpstr>
      <vt:lpstr>从订单组织方式来看，目前为MTS+MTO混合模式，主要的问题是：多种订单组织方式并存，规则不够明确</vt:lpstr>
      <vt:lpstr>集成计划模式现状</vt:lpstr>
      <vt:lpstr>目前的计划模式主要存在两个问题：计划调整规则未明确定义；3+2滚动计划周期偏短</vt:lpstr>
      <vt:lpstr>目前集成计划管理主要以职能为中心，计划重心主要在三挖公司</vt:lpstr>
      <vt:lpstr>两种集成计划管理组织方式对比</vt:lpstr>
      <vt:lpstr>从整体集成计划体系来看，目前主要问题集中在8个方面</vt:lpstr>
      <vt:lpstr>问题描述与根因分析</vt:lpstr>
      <vt:lpstr>所有问题最终可归因至体系化问题</vt:lpstr>
      <vt:lpstr>Q1：需求计划准确率偏低，对生产和采购指导性不强</vt:lpstr>
      <vt:lpstr>Q1：需求计划准确率偏低，对生产和采购指导性不强</vt:lpstr>
      <vt:lpstr>Q2：缺乏端到端的订单管理，订单处理规则不明确</vt:lpstr>
      <vt:lpstr>Q2：缺乏端到端的订单管理，订单处理规则不明确</vt:lpstr>
      <vt:lpstr>Q3：产销平衡机制有待完善</vt:lpstr>
      <vt:lpstr>Q3：产销平衡机制有待完善</vt:lpstr>
      <vt:lpstr>Q4：3日锁定计划难以真正锁定，影响生产稳定性</vt:lpstr>
      <vt:lpstr>Q4：3日锁定计划难以真正锁定，影响生产稳定性</vt:lpstr>
      <vt:lpstr>Q5：零部件计划对供应商备货及生产指导性不足</vt:lpstr>
      <vt:lpstr>Q5：零部件计划对供应商备货及生产指导性不足</vt:lpstr>
      <vt:lpstr>Q6：因计划变更等造成的零部件缺件较多，供应及预警机制需完善</vt:lpstr>
      <vt:lpstr>Q6：因计划变更等造成的零部件缺件较多，供应及预警机制需完善</vt:lpstr>
      <vt:lpstr>Q7：工程变更频繁，且信息下达不及时，影响生产的顺畅运行</vt:lpstr>
      <vt:lpstr>Q7：工程变更频繁，且信息下达不及时，影响生产的顺畅运行</vt:lpstr>
      <vt:lpstr>Q8：MES自动化集成化程度较低，影响生产制造精益化水平</vt:lpstr>
      <vt:lpstr>Q8：MES自动化集成化程度较低，影响生产制造精益化水平</vt:lpstr>
      <vt:lpstr>PowerPoint 演示文稿</vt:lpstr>
      <vt:lpstr>x已建立自己的流程框架，集成计划重点关注32个三级流程，9个未建流程，23个已有流程，未来需要基于计划模式及方案对流程进行新增与优化</vt:lpstr>
      <vt:lpstr>PowerPoint 演示文稿</vt:lpstr>
      <vt:lpstr>总体解决思路</vt:lpstr>
      <vt:lpstr>顶层设计阶段主要工作内容</vt:lpstr>
      <vt:lpstr>A. 需求管理解决方案概要说明</vt:lpstr>
      <vt:lpstr>A. 需求管理分析框架</vt:lpstr>
      <vt:lpstr>A-1. 需求计划管理（以某装备企业需求管理为例）</vt:lpstr>
      <vt:lpstr>A-2. 销售预测</vt:lpstr>
      <vt:lpstr>A-3. 整机库存管理</vt:lpstr>
      <vt:lpstr>B. 订单管理解决方案概要说明</vt:lpstr>
      <vt:lpstr>B. 订单全生命周期管理框架</vt:lpstr>
      <vt:lpstr>B-1. 订单管理策略（以某汽车企业订单管理机制为例）</vt:lpstr>
      <vt:lpstr>B-2. 订单分类和优先级（以某装备企业订单优先级为例）</vt:lpstr>
      <vt:lpstr>B-3. 订单交期（以某商用车订单交期为例）</vt:lpstr>
      <vt:lpstr>B-4. 订单可视化（以某装备企业订单优先级为例）</vt:lpstr>
      <vt:lpstr>C. 产销平衡与生产计划解决方案概要说明</vt:lpstr>
      <vt:lpstr>C-1. 产销平衡（S&amp;OP）会议机制</vt:lpstr>
      <vt:lpstr>C-1. 其他企业的产销平衡会议机制示例</vt:lpstr>
      <vt:lpstr>C-1. 某车厂的产销平衡（S&amp;OP）主要职责</vt:lpstr>
      <vt:lpstr>C-2. 生产计划体系（以某装备制造车厂生产计划体系为例）</vt:lpstr>
      <vt:lpstr>D. 生产执行与物流解决方案概要说明</vt:lpstr>
      <vt:lpstr>D. 生产执行与物流先进实践：先进企业实现智能制造的四大目标</vt:lpstr>
      <vt:lpstr>PowerPoint 演示文稿</vt:lpstr>
      <vt:lpstr>D. 生产执行与物流先进实践：先进企业物流模式注重推拉结合的业务模式，将物料计划与预测推送给供应商备货，通过现场实际的拉动实现物料的配送，达到准时送货的目的</vt:lpstr>
      <vt:lpstr>D. 生产执行与物流先进实践：其他企业规模定制（MC）与交期平衡</vt:lpstr>
      <vt:lpstr>E. 零部件计划与交付解决方案概要说明</vt:lpstr>
      <vt:lpstr>E. 零部件计划与交付管理思路</vt:lpstr>
      <vt:lpstr>E. 零部件计划与交付管理框架</vt:lpstr>
      <vt:lpstr>E-1. 零部件计划（以某客车企业的零部件计划方式为例）</vt:lpstr>
      <vt:lpstr>E-2. 零部件供应 - 根据金额、交期、通用性等分类进行零部件供应策略分析</vt:lpstr>
      <vt:lpstr>E-3. 零部件配送—进口件/钢材等按订单配送；当量补货件按中短期生产配送；JIT/JIS件按供货指令配送</vt:lpstr>
      <vt:lpstr>E-4. 供应预警机制 - 紧密监控零部件状况，提前发现异常问题，采取所需的反应措施</vt:lpstr>
      <vt:lpstr>PowerPoint 演示文稿</vt:lpstr>
      <vt:lpstr>根据x的总体流程框架，集成计划组主要关注“5.0制造与商务”流程，同时会考虑与“4.0营销与服务”流程的打通，对4.0流程提出优化建议</vt:lpstr>
      <vt:lpstr>三级流程框架：SCM1.0相关三级流程有32个，其中9个未建流程，未来需新建，另外23个已建流程，需要根据新模式与方案进行优化调整</vt:lpstr>
      <vt:lpstr>集成计划体系流程框架1.0</vt:lpstr>
      <vt:lpstr>集成计划体系流程框架1.0</vt:lpstr>
      <vt:lpstr>集成计划体系流程框架1.0</vt:lpstr>
      <vt:lpstr>集成计划体系流程框架1.0</vt:lpstr>
      <vt:lpstr>集成计划体系流程框架1.0</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SCM KPI树</dc:title>
  <dc:creator>maixiaohua</dc:creator>
  <cp:lastModifiedBy>liurongfan liu</cp:lastModifiedBy>
  <cp:revision>4677</cp:revision>
  <dcterms:created xsi:type="dcterms:W3CDTF">2016-02-28T13:38:00Z</dcterms:created>
  <dcterms:modified xsi:type="dcterms:W3CDTF">2024-10-21T16:38:09Z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7DF60212F8804BDFA66516B2423473FA_12</vt:lpwstr>
  </property>
  <property fmtid="{D5CDD505-2E9C-101B-9397-08002B2CF9AE}" pid="3" name="KSOProductBuildVer">
    <vt:lpwstr>2052-12.1.0.17147</vt:lpwstr>
  </property>
</Properties>
</file>