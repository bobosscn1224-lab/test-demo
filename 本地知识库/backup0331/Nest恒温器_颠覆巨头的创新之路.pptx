
<file path=[Content_Types].xml><?xml version="1.0" encoding="utf-8"?>
<Types xmlns="http://schemas.openxmlformats.org/package/2006/content-types">
  <Default Extension="png" ContentType="image/png"/>
  <Default Extension="webp" ContentType="image/webp"/>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Calibri" panose="020F0502020204030204" pitchFamily="34" charset="0"/>
      <p:regular r:id="rId16"/>
      <p:bold r:id="rId17"/>
      <p:italic r:id="rId18"/>
      <p:boldItalic r:id="rId19"/>
    </p:embeddedFont>
    <p:embeddedFont>
      <p:font typeface="MiSans" panose="02010600030101010101" charset="-122"/>
      <p:regular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5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919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mages.squarespace-cdn.com/b193d77fcdcdf475a29999a0b6c9cdd9e64e12dc.jpg"/>
          <p:cNvPicPr>
            <a:picLocks noChangeAspect="1"/>
          </p:cNvPicPr>
          <p:nvPr/>
        </p:nvPicPr>
        <p:blipFill>
          <a:blip r:embed="rId3">
            <a:alphaModFix amt="35000"/>
          </a:blip>
          <a:srcRect l="9" r="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1A1D21">
                  <a:alpha val="85000"/>
                </a:srgbClr>
              </a:gs>
              <a:gs pos="100000">
                <a:srgbClr val="3C8082">
                  <a:alpha val="40000"/>
                </a:srgbClr>
              </a:gs>
            </a:gsLst>
            <a:lin ang="2700000" scaled="1"/>
          </a:gradFill>
          <a:ln/>
        </p:spPr>
      </p:sp>
      <p:sp>
        <p:nvSpPr>
          <p:cNvPr id="4" name="Shape 1"/>
          <p:cNvSpPr/>
          <p:nvPr/>
        </p:nvSpPr>
        <p:spPr>
          <a:xfrm>
            <a:off x="384810" y="1597343"/>
            <a:ext cx="4027170" cy="350520"/>
          </a:xfrm>
          <a:custGeom>
            <a:avLst/>
            <a:gdLst/>
            <a:ahLst/>
            <a:cxnLst/>
            <a:rect l="l" t="t" r="r" b="b"/>
            <a:pathLst>
              <a:path w="4027170" h="350520">
                <a:moveTo>
                  <a:pt x="0" y="0"/>
                </a:moveTo>
                <a:lnTo>
                  <a:pt x="4027170" y="0"/>
                </a:lnTo>
                <a:lnTo>
                  <a:pt x="4027170" y="350520"/>
                </a:lnTo>
                <a:lnTo>
                  <a:pt x="0" y="350520"/>
                </a:lnTo>
                <a:lnTo>
                  <a:pt x="0" y="0"/>
                </a:lnTo>
                <a:close/>
              </a:path>
            </a:pathLst>
          </a:custGeom>
          <a:solidFill>
            <a:srgbClr val="3C8082">
              <a:alpha val="25098"/>
            </a:srgbClr>
          </a:solidFill>
          <a:ln w="10160">
            <a:solidFill>
              <a:srgbClr val="3C8082"/>
            </a:solidFill>
            <a:prstDash val="solid"/>
          </a:ln>
        </p:spPr>
      </p:sp>
      <p:sp>
        <p:nvSpPr>
          <p:cNvPr id="5" name="Text 2"/>
          <p:cNvSpPr/>
          <p:nvPr/>
        </p:nvSpPr>
        <p:spPr>
          <a:xfrm>
            <a:off x="381000" y="1593533"/>
            <a:ext cx="4086225" cy="342900"/>
          </a:xfrm>
          <a:prstGeom prst="rect">
            <a:avLst/>
          </a:prstGeom>
          <a:noFill/>
          <a:ln/>
        </p:spPr>
        <p:txBody>
          <a:bodyPr wrap="square" lIns="190500" tIns="76200" rIns="190500" bIns="76200" rtlCol="0" anchor="ctr"/>
          <a:lstStyle/>
          <a:p>
            <a:pPr>
              <a:lnSpc>
                <a:spcPct val="120000"/>
              </a:lnSpc>
            </a:pPr>
            <a:r>
              <a:rPr lang="en-US" sz="1050" b="1" kern="0" spc="210" dirty="0">
                <a:solidFill>
                  <a:srgbClr val="D9A477"/>
                </a:solidFill>
                <a:latin typeface="MiSans" pitchFamily="34" charset="0"/>
                <a:ea typeface="MiSans" pitchFamily="34" charset="-122"/>
                <a:cs typeface="MiSans" pitchFamily="34" charset="-120"/>
              </a:rPr>
              <a:t>Harvard Business School Case Study</a:t>
            </a:r>
            <a:endParaRPr lang="en-US" sz="1600" dirty="0"/>
          </a:p>
        </p:txBody>
      </p:sp>
      <p:sp>
        <p:nvSpPr>
          <p:cNvPr id="6" name="Text 3"/>
          <p:cNvSpPr/>
          <p:nvPr/>
        </p:nvSpPr>
        <p:spPr>
          <a:xfrm>
            <a:off x="381000" y="2256472"/>
            <a:ext cx="8039100" cy="923925"/>
          </a:xfrm>
          <a:prstGeom prst="rect">
            <a:avLst/>
          </a:prstGeom>
          <a:noFill/>
          <a:ln/>
        </p:spPr>
        <p:txBody>
          <a:bodyPr wrap="square" lIns="0" tIns="0" rIns="0" bIns="0" rtlCol="0" anchor="ctr"/>
          <a:lstStyle/>
          <a:p>
            <a:pPr>
              <a:lnSpc>
                <a:spcPct val="90000"/>
              </a:lnSpc>
            </a:pPr>
            <a:r>
              <a:rPr lang="en-US" sz="6600" b="1" dirty="0">
                <a:solidFill>
                  <a:srgbClr val="E8E8E8"/>
                </a:solidFill>
                <a:latin typeface="MiSans" pitchFamily="34" charset="0"/>
                <a:ea typeface="MiSans" pitchFamily="34" charset="-122"/>
                <a:cs typeface="MiSans" pitchFamily="34" charset="-120"/>
              </a:rPr>
              <a:t>Nest恒温器</a:t>
            </a:r>
            <a:endParaRPr lang="en-US" sz="1600" dirty="0"/>
          </a:p>
        </p:txBody>
      </p:sp>
      <p:sp>
        <p:nvSpPr>
          <p:cNvPr id="7" name="Text 4"/>
          <p:cNvSpPr/>
          <p:nvPr/>
        </p:nvSpPr>
        <p:spPr>
          <a:xfrm>
            <a:off x="381000" y="3407093"/>
            <a:ext cx="7829550" cy="523875"/>
          </a:xfrm>
          <a:prstGeom prst="rect">
            <a:avLst/>
          </a:prstGeom>
          <a:noFill/>
          <a:ln/>
        </p:spPr>
        <p:txBody>
          <a:bodyPr wrap="square" lIns="0" tIns="0" rIns="0" bIns="0" rtlCol="0" anchor="ctr"/>
          <a:lstStyle/>
          <a:p>
            <a:pPr>
              <a:lnSpc>
                <a:spcPct val="100000"/>
              </a:lnSpc>
            </a:pPr>
            <a:r>
              <a:rPr lang="en-US" sz="3300" b="1" dirty="0">
                <a:solidFill>
                  <a:srgbClr val="D9A477"/>
                </a:solidFill>
                <a:latin typeface="MiSans" pitchFamily="34" charset="0"/>
                <a:ea typeface="MiSans" pitchFamily="34" charset="-122"/>
                <a:cs typeface="MiSans" pitchFamily="34" charset="-120"/>
              </a:rPr>
              <a:t>颠覆巨头的创新之路</a:t>
            </a:r>
            <a:endParaRPr lang="en-US" sz="1600" dirty="0"/>
          </a:p>
        </p:txBody>
      </p:sp>
      <p:sp>
        <p:nvSpPr>
          <p:cNvPr id="8" name="Shape 5"/>
          <p:cNvSpPr/>
          <p:nvPr/>
        </p:nvSpPr>
        <p:spPr>
          <a:xfrm>
            <a:off x="381000" y="4435793"/>
            <a:ext cx="1066800" cy="19050"/>
          </a:xfrm>
          <a:custGeom>
            <a:avLst/>
            <a:gdLst/>
            <a:ahLst/>
            <a:cxnLst/>
            <a:rect l="l" t="t" r="r" b="b"/>
            <a:pathLst>
              <a:path w="1066800" h="19050">
                <a:moveTo>
                  <a:pt x="0" y="0"/>
                </a:moveTo>
                <a:lnTo>
                  <a:pt x="1066800" y="0"/>
                </a:lnTo>
                <a:lnTo>
                  <a:pt x="1066800" y="19050"/>
                </a:lnTo>
                <a:lnTo>
                  <a:pt x="0" y="19050"/>
                </a:lnTo>
                <a:lnTo>
                  <a:pt x="0" y="0"/>
                </a:lnTo>
                <a:close/>
              </a:path>
            </a:pathLst>
          </a:custGeom>
          <a:solidFill>
            <a:srgbClr val="3C8082"/>
          </a:solidFill>
          <a:ln/>
        </p:spPr>
      </p:sp>
      <p:sp>
        <p:nvSpPr>
          <p:cNvPr id="9" name="Text 6"/>
          <p:cNvSpPr/>
          <p:nvPr/>
        </p:nvSpPr>
        <p:spPr>
          <a:xfrm>
            <a:off x="1752600" y="4311968"/>
            <a:ext cx="2952750" cy="266700"/>
          </a:xfrm>
          <a:prstGeom prst="rect">
            <a:avLst/>
          </a:prstGeom>
          <a:noFill/>
          <a:ln/>
        </p:spPr>
        <p:txBody>
          <a:bodyPr wrap="square" lIns="0" tIns="0" rIns="0" bIns="0" rtlCol="0" anchor="ctr"/>
          <a:lstStyle/>
          <a:p>
            <a:pPr>
              <a:lnSpc>
                <a:spcPct val="120000"/>
              </a:lnSpc>
            </a:pPr>
            <a:r>
              <a:rPr lang="en-US" sz="1500" dirty="0">
                <a:solidFill>
                  <a:srgbClr val="E8E8E8">
                    <a:alpha val="80000"/>
                  </a:srgbClr>
                </a:solidFill>
                <a:latin typeface="MiSans" pitchFamily="34" charset="0"/>
                <a:ea typeface="MiSans" pitchFamily="34" charset="-122"/>
                <a:cs typeface="MiSans" pitchFamily="34" charset="-120"/>
              </a:rPr>
              <a:t>从市场新兵到行业王者的战略解析</a:t>
            </a:r>
            <a:endParaRPr lang="en-US" sz="1600" dirty="0"/>
          </a:p>
        </p:txBody>
      </p:sp>
      <p:sp>
        <p:nvSpPr>
          <p:cNvPr id="10" name="Shape 7"/>
          <p:cNvSpPr/>
          <p:nvPr/>
        </p:nvSpPr>
        <p:spPr>
          <a:xfrm>
            <a:off x="409575" y="5073968"/>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3C8082"/>
          </a:solidFill>
          <a:ln/>
        </p:spPr>
      </p:sp>
      <p:sp>
        <p:nvSpPr>
          <p:cNvPr id="11" name="Text 8"/>
          <p:cNvSpPr/>
          <p:nvPr/>
        </p:nvSpPr>
        <p:spPr>
          <a:xfrm>
            <a:off x="647700" y="5035868"/>
            <a:ext cx="885825" cy="228600"/>
          </a:xfrm>
          <a:prstGeom prst="rect">
            <a:avLst/>
          </a:prstGeom>
          <a:noFill/>
          <a:ln/>
        </p:spPr>
        <p:txBody>
          <a:bodyPr wrap="square" lIns="0" tIns="0" rIns="0" bIns="0" rtlCol="0" anchor="ctr"/>
          <a:lstStyle/>
          <a:p>
            <a:pPr>
              <a:lnSpc>
                <a:spcPct val="130000"/>
              </a:lnSpc>
            </a:pPr>
            <a:r>
              <a:rPr lang="en-US" sz="1200" dirty="0">
                <a:solidFill>
                  <a:srgbClr val="E8E8E8">
                    <a:alpha val="60000"/>
                  </a:srgbClr>
                </a:solidFill>
                <a:latin typeface="MiSans" pitchFamily="34" charset="0"/>
                <a:ea typeface="MiSans" pitchFamily="34" charset="-122"/>
                <a:cs typeface="MiSans" pitchFamily="34" charset="-120"/>
              </a:rPr>
              <a:t>2025年12月</a:t>
            </a:r>
            <a:endParaRPr lang="en-US" sz="1600" dirty="0"/>
          </a:p>
        </p:txBody>
      </p:sp>
      <p:sp>
        <p:nvSpPr>
          <p:cNvPr id="12" name="Shape 9"/>
          <p:cNvSpPr/>
          <p:nvPr/>
        </p:nvSpPr>
        <p:spPr>
          <a:xfrm>
            <a:off x="1684496" y="5073968"/>
            <a:ext cx="9525" cy="152400"/>
          </a:xfrm>
          <a:custGeom>
            <a:avLst/>
            <a:gdLst/>
            <a:ahLst/>
            <a:cxnLst/>
            <a:rect l="l" t="t" r="r" b="b"/>
            <a:pathLst>
              <a:path w="9525" h="152400">
                <a:moveTo>
                  <a:pt x="0" y="0"/>
                </a:moveTo>
                <a:lnTo>
                  <a:pt x="9525" y="0"/>
                </a:lnTo>
                <a:lnTo>
                  <a:pt x="9525" y="152400"/>
                </a:lnTo>
                <a:lnTo>
                  <a:pt x="0" y="152400"/>
                </a:lnTo>
                <a:lnTo>
                  <a:pt x="0" y="0"/>
                </a:lnTo>
                <a:close/>
              </a:path>
            </a:pathLst>
          </a:custGeom>
          <a:solidFill>
            <a:srgbClr val="6D7275"/>
          </a:solidFill>
          <a:ln/>
        </p:spPr>
      </p:sp>
      <p:sp>
        <p:nvSpPr>
          <p:cNvPr id="13" name="Shape 10"/>
          <p:cNvSpPr/>
          <p:nvPr/>
        </p:nvSpPr>
        <p:spPr>
          <a:xfrm>
            <a:off x="1960721" y="5073968"/>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3C8082"/>
          </a:solidFill>
          <a:ln/>
        </p:spPr>
      </p:sp>
      <p:sp>
        <p:nvSpPr>
          <p:cNvPr id="14" name="Text 11"/>
          <p:cNvSpPr/>
          <p:nvPr/>
        </p:nvSpPr>
        <p:spPr>
          <a:xfrm>
            <a:off x="2189321" y="5035868"/>
            <a:ext cx="990600" cy="228600"/>
          </a:xfrm>
          <a:prstGeom prst="rect">
            <a:avLst/>
          </a:prstGeom>
          <a:noFill/>
          <a:ln/>
        </p:spPr>
        <p:txBody>
          <a:bodyPr wrap="square" lIns="0" tIns="0" rIns="0" bIns="0" rtlCol="0" anchor="ctr"/>
          <a:lstStyle/>
          <a:p>
            <a:pPr>
              <a:lnSpc>
                <a:spcPct val="130000"/>
              </a:lnSpc>
            </a:pPr>
            <a:r>
              <a:rPr lang="en-US" sz="1200" dirty="0">
                <a:solidFill>
                  <a:srgbClr val="E8E8E8">
                    <a:alpha val="60000"/>
                  </a:srgbClr>
                </a:solidFill>
                <a:latin typeface="MiSans" pitchFamily="34" charset="0"/>
                <a:ea typeface="MiSans" pitchFamily="34" charset="-122"/>
                <a:cs typeface="MiSans" pitchFamily="34" charset="-120"/>
              </a:rPr>
              <a:t>商业战略分析</a:t>
            </a:r>
            <a:endParaRPr lang="en-US" sz="1600"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210" dirty="0">
                <a:solidFill>
                  <a:srgbClr val="D9A477"/>
                </a:solidFill>
                <a:latin typeface="MiSans" pitchFamily="34" charset="0"/>
                <a:ea typeface="MiSans" pitchFamily="34" charset="-122"/>
                <a:cs typeface="MiSans" pitchFamily="34" charset="-120"/>
              </a:rPr>
              <a:t>Contents</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E8E8E8"/>
                </a:solidFill>
                <a:latin typeface="MiSans" pitchFamily="34" charset="0"/>
                <a:ea typeface="MiSans" pitchFamily="34" charset="-122"/>
                <a:cs typeface="MiSans" pitchFamily="34" charset="-120"/>
              </a:rPr>
              <a:t>目录</a:t>
            </a:r>
            <a:endParaRPr lang="en-US" sz="1600" dirty="0"/>
          </a:p>
        </p:txBody>
      </p:sp>
      <p:sp>
        <p:nvSpPr>
          <p:cNvPr id="4" name="Shape 2"/>
          <p:cNvSpPr/>
          <p:nvPr/>
        </p:nvSpPr>
        <p:spPr>
          <a:xfrm>
            <a:off x="392430" y="15240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3C8082">
              <a:alpha val="14902"/>
            </a:srgbClr>
          </a:solidFill>
          <a:ln/>
        </p:spPr>
      </p:sp>
      <p:sp>
        <p:nvSpPr>
          <p:cNvPr id="5" name="Shape 3"/>
          <p:cNvSpPr/>
          <p:nvPr/>
        </p:nvSpPr>
        <p:spPr>
          <a:xfrm>
            <a:off x="392430" y="15240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3C8082"/>
          </a:solidFill>
          <a:ln/>
        </p:spPr>
      </p:sp>
      <p:sp>
        <p:nvSpPr>
          <p:cNvPr id="6" name="Shape 4"/>
          <p:cNvSpPr/>
          <p:nvPr/>
        </p:nvSpPr>
        <p:spPr>
          <a:xfrm>
            <a:off x="632460" y="19812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3C8082"/>
          </a:solidFill>
          <a:ln/>
        </p:spPr>
      </p:sp>
      <p:sp>
        <p:nvSpPr>
          <p:cNvPr id="7" name="Text 5"/>
          <p:cNvSpPr/>
          <p:nvPr/>
        </p:nvSpPr>
        <p:spPr>
          <a:xfrm>
            <a:off x="575310" y="1981200"/>
            <a:ext cx="723900" cy="6096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01</a:t>
            </a:r>
            <a:endParaRPr lang="en-US" sz="1600" dirty="0"/>
          </a:p>
        </p:txBody>
      </p:sp>
      <p:sp>
        <p:nvSpPr>
          <p:cNvPr id="8" name="Text 6"/>
          <p:cNvSpPr/>
          <p:nvPr/>
        </p:nvSpPr>
        <p:spPr>
          <a:xfrm>
            <a:off x="1432560" y="20002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市场背景</a:t>
            </a:r>
            <a:endParaRPr lang="en-US" sz="1600" dirty="0"/>
          </a:p>
        </p:txBody>
      </p:sp>
      <p:sp>
        <p:nvSpPr>
          <p:cNvPr id="9" name="Text 7"/>
          <p:cNvSpPr/>
          <p:nvPr/>
        </p:nvSpPr>
        <p:spPr>
          <a:xfrm>
            <a:off x="1432560" y="23431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沉睡的巨头垄断</a:t>
            </a:r>
            <a:endParaRPr lang="en-US" sz="1600" dirty="0"/>
          </a:p>
        </p:txBody>
      </p:sp>
      <p:sp>
        <p:nvSpPr>
          <p:cNvPr id="10" name="Shape 8"/>
          <p:cNvSpPr/>
          <p:nvPr/>
        </p:nvSpPr>
        <p:spPr>
          <a:xfrm>
            <a:off x="6202680" y="15240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3C8082">
              <a:alpha val="14902"/>
            </a:srgbClr>
          </a:solidFill>
          <a:ln/>
        </p:spPr>
      </p:sp>
      <p:sp>
        <p:nvSpPr>
          <p:cNvPr id="11" name="Shape 9"/>
          <p:cNvSpPr/>
          <p:nvPr/>
        </p:nvSpPr>
        <p:spPr>
          <a:xfrm>
            <a:off x="6202680" y="15240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3C8082"/>
          </a:solidFill>
          <a:ln/>
        </p:spPr>
      </p:sp>
      <p:sp>
        <p:nvSpPr>
          <p:cNvPr id="12" name="Shape 10"/>
          <p:cNvSpPr/>
          <p:nvPr/>
        </p:nvSpPr>
        <p:spPr>
          <a:xfrm>
            <a:off x="6442710" y="19812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3C8082"/>
          </a:solidFill>
          <a:ln/>
        </p:spPr>
      </p:sp>
      <p:sp>
        <p:nvSpPr>
          <p:cNvPr id="13" name="Text 11"/>
          <p:cNvSpPr/>
          <p:nvPr/>
        </p:nvSpPr>
        <p:spPr>
          <a:xfrm>
            <a:off x="6385560" y="1981200"/>
            <a:ext cx="723900" cy="6096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02</a:t>
            </a:r>
            <a:endParaRPr lang="en-US" sz="1600" dirty="0"/>
          </a:p>
        </p:txBody>
      </p:sp>
      <p:sp>
        <p:nvSpPr>
          <p:cNvPr id="14" name="Text 12"/>
          <p:cNvSpPr/>
          <p:nvPr/>
        </p:nvSpPr>
        <p:spPr>
          <a:xfrm>
            <a:off x="7242810" y="20002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产品破局</a:t>
            </a:r>
            <a:endParaRPr lang="en-US" sz="1600" dirty="0"/>
          </a:p>
        </p:txBody>
      </p:sp>
      <p:sp>
        <p:nvSpPr>
          <p:cNvPr id="15" name="Text 13"/>
          <p:cNvSpPr/>
          <p:nvPr/>
        </p:nvSpPr>
        <p:spPr>
          <a:xfrm>
            <a:off x="7242810" y="23431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重新定义恒温器</a:t>
            </a:r>
            <a:endParaRPr lang="en-US" sz="1600" dirty="0"/>
          </a:p>
        </p:txBody>
      </p:sp>
      <p:sp>
        <p:nvSpPr>
          <p:cNvPr id="16" name="Shape 14"/>
          <p:cNvSpPr/>
          <p:nvPr/>
        </p:nvSpPr>
        <p:spPr>
          <a:xfrm>
            <a:off x="392430" y="32385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D9A477">
              <a:alpha val="14902"/>
            </a:srgbClr>
          </a:solidFill>
          <a:ln/>
        </p:spPr>
      </p:sp>
      <p:sp>
        <p:nvSpPr>
          <p:cNvPr id="17" name="Shape 15"/>
          <p:cNvSpPr/>
          <p:nvPr/>
        </p:nvSpPr>
        <p:spPr>
          <a:xfrm>
            <a:off x="392430" y="32385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D9A477"/>
          </a:solidFill>
          <a:ln/>
        </p:spPr>
      </p:sp>
      <p:sp>
        <p:nvSpPr>
          <p:cNvPr id="18" name="Shape 16"/>
          <p:cNvSpPr/>
          <p:nvPr/>
        </p:nvSpPr>
        <p:spPr>
          <a:xfrm>
            <a:off x="632460" y="36957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9A477"/>
          </a:solidFill>
          <a:ln/>
        </p:spPr>
      </p:sp>
      <p:sp>
        <p:nvSpPr>
          <p:cNvPr id="19" name="Text 17"/>
          <p:cNvSpPr/>
          <p:nvPr/>
        </p:nvSpPr>
        <p:spPr>
          <a:xfrm>
            <a:off x="575310" y="3695700"/>
            <a:ext cx="723900" cy="6096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MiSans" pitchFamily="34" charset="0"/>
                <a:ea typeface="MiSans" pitchFamily="34" charset="-122"/>
                <a:cs typeface="MiSans" pitchFamily="34" charset="-120"/>
              </a:rPr>
              <a:t>03</a:t>
            </a:r>
            <a:endParaRPr lang="en-US" sz="1600" dirty="0"/>
          </a:p>
        </p:txBody>
      </p:sp>
      <p:sp>
        <p:nvSpPr>
          <p:cNvPr id="20" name="Text 18"/>
          <p:cNvSpPr/>
          <p:nvPr/>
        </p:nvSpPr>
        <p:spPr>
          <a:xfrm>
            <a:off x="1432560" y="37147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商业模式</a:t>
            </a:r>
            <a:endParaRPr lang="en-US" sz="1600" dirty="0"/>
          </a:p>
        </p:txBody>
      </p:sp>
      <p:sp>
        <p:nvSpPr>
          <p:cNvPr id="21" name="Text 19"/>
          <p:cNvSpPr/>
          <p:nvPr/>
        </p:nvSpPr>
        <p:spPr>
          <a:xfrm>
            <a:off x="1432560" y="40576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从开销到投资</a:t>
            </a:r>
            <a:endParaRPr lang="en-US" sz="1600" dirty="0"/>
          </a:p>
        </p:txBody>
      </p:sp>
      <p:sp>
        <p:nvSpPr>
          <p:cNvPr id="22" name="Shape 20"/>
          <p:cNvSpPr/>
          <p:nvPr/>
        </p:nvSpPr>
        <p:spPr>
          <a:xfrm>
            <a:off x="6202680" y="32385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D9A477">
              <a:alpha val="14902"/>
            </a:srgbClr>
          </a:solidFill>
          <a:ln/>
        </p:spPr>
      </p:sp>
      <p:sp>
        <p:nvSpPr>
          <p:cNvPr id="23" name="Shape 21"/>
          <p:cNvSpPr/>
          <p:nvPr/>
        </p:nvSpPr>
        <p:spPr>
          <a:xfrm>
            <a:off x="6202680" y="32385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D9A477"/>
          </a:solidFill>
          <a:ln/>
        </p:spPr>
      </p:sp>
      <p:sp>
        <p:nvSpPr>
          <p:cNvPr id="24" name="Shape 22"/>
          <p:cNvSpPr/>
          <p:nvPr/>
        </p:nvSpPr>
        <p:spPr>
          <a:xfrm>
            <a:off x="6442710" y="36957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9A477"/>
          </a:solidFill>
          <a:ln/>
        </p:spPr>
      </p:sp>
      <p:sp>
        <p:nvSpPr>
          <p:cNvPr id="25" name="Text 23"/>
          <p:cNvSpPr/>
          <p:nvPr/>
        </p:nvSpPr>
        <p:spPr>
          <a:xfrm>
            <a:off x="6385560" y="3695700"/>
            <a:ext cx="723900" cy="6096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MiSans" pitchFamily="34" charset="0"/>
                <a:ea typeface="MiSans" pitchFamily="34" charset="-122"/>
                <a:cs typeface="MiSans" pitchFamily="34" charset="-120"/>
              </a:rPr>
              <a:t>04</a:t>
            </a:r>
            <a:endParaRPr lang="en-US" sz="1600" dirty="0"/>
          </a:p>
        </p:txBody>
      </p:sp>
      <p:sp>
        <p:nvSpPr>
          <p:cNvPr id="26" name="Text 24"/>
          <p:cNvSpPr/>
          <p:nvPr/>
        </p:nvSpPr>
        <p:spPr>
          <a:xfrm>
            <a:off x="7242810" y="37147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市场策略</a:t>
            </a:r>
            <a:endParaRPr lang="en-US" sz="1600" dirty="0"/>
          </a:p>
        </p:txBody>
      </p:sp>
      <p:sp>
        <p:nvSpPr>
          <p:cNvPr id="27" name="Text 25"/>
          <p:cNvSpPr/>
          <p:nvPr/>
        </p:nvSpPr>
        <p:spPr>
          <a:xfrm>
            <a:off x="7242810" y="40576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从挑战者到王者</a:t>
            </a:r>
            <a:endParaRPr lang="en-US" sz="1600" dirty="0"/>
          </a:p>
        </p:txBody>
      </p:sp>
      <p:sp>
        <p:nvSpPr>
          <p:cNvPr id="28" name="Shape 26"/>
          <p:cNvSpPr/>
          <p:nvPr/>
        </p:nvSpPr>
        <p:spPr>
          <a:xfrm>
            <a:off x="392430" y="49530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6D7275">
              <a:alpha val="14902"/>
            </a:srgbClr>
          </a:solidFill>
          <a:ln/>
        </p:spPr>
      </p:sp>
      <p:sp>
        <p:nvSpPr>
          <p:cNvPr id="29" name="Shape 27"/>
          <p:cNvSpPr/>
          <p:nvPr/>
        </p:nvSpPr>
        <p:spPr>
          <a:xfrm>
            <a:off x="392430" y="49530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6D7275"/>
          </a:solidFill>
          <a:ln/>
        </p:spPr>
      </p:sp>
      <p:sp>
        <p:nvSpPr>
          <p:cNvPr id="30" name="Shape 28"/>
          <p:cNvSpPr/>
          <p:nvPr/>
        </p:nvSpPr>
        <p:spPr>
          <a:xfrm>
            <a:off x="632460" y="54102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6D7275"/>
          </a:solidFill>
          <a:ln/>
        </p:spPr>
      </p:sp>
      <p:sp>
        <p:nvSpPr>
          <p:cNvPr id="31" name="Text 29"/>
          <p:cNvSpPr/>
          <p:nvPr/>
        </p:nvSpPr>
        <p:spPr>
          <a:xfrm>
            <a:off x="575310" y="5410200"/>
            <a:ext cx="723900" cy="6096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05</a:t>
            </a:r>
            <a:endParaRPr lang="en-US" sz="1600" dirty="0"/>
          </a:p>
        </p:txBody>
      </p:sp>
      <p:sp>
        <p:nvSpPr>
          <p:cNvPr id="32" name="Text 30"/>
          <p:cNvSpPr/>
          <p:nvPr/>
        </p:nvSpPr>
        <p:spPr>
          <a:xfrm>
            <a:off x="1432560" y="54292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成功密码</a:t>
            </a:r>
            <a:endParaRPr lang="en-US" sz="1600" dirty="0"/>
          </a:p>
        </p:txBody>
      </p:sp>
      <p:sp>
        <p:nvSpPr>
          <p:cNvPr id="33" name="Text 31"/>
          <p:cNvSpPr/>
          <p:nvPr/>
        </p:nvSpPr>
        <p:spPr>
          <a:xfrm>
            <a:off x="1432560" y="57721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四大举措解析</a:t>
            </a:r>
            <a:endParaRPr lang="en-US" sz="1600" dirty="0"/>
          </a:p>
        </p:txBody>
      </p:sp>
      <p:sp>
        <p:nvSpPr>
          <p:cNvPr id="34" name="Shape 32"/>
          <p:cNvSpPr/>
          <p:nvPr/>
        </p:nvSpPr>
        <p:spPr>
          <a:xfrm>
            <a:off x="6202680" y="4953000"/>
            <a:ext cx="5612130" cy="1524000"/>
          </a:xfrm>
          <a:custGeom>
            <a:avLst/>
            <a:gdLst/>
            <a:ahLst/>
            <a:cxnLst/>
            <a:rect l="l" t="t" r="r" b="b"/>
            <a:pathLst>
              <a:path w="5612130" h="1524000">
                <a:moveTo>
                  <a:pt x="0" y="0"/>
                </a:moveTo>
                <a:lnTo>
                  <a:pt x="5612130" y="0"/>
                </a:lnTo>
                <a:lnTo>
                  <a:pt x="5612130" y="1524000"/>
                </a:lnTo>
                <a:lnTo>
                  <a:pt x="0" y="1524000"/>
                </a:lnTo>
                <a:lnTo>
                  <a:pt x="0" y="0"/>
                </a:lnTo>
                <a:close/>
              </a:path>
            </a:pathLst>
          </a:custGeom>
          <a:solidFill>
            <a:srgbClr val="6D7275">
              <a:alpha val="14902"/>
            </a:srgbClr>
          </a:solidFill>
          <a:ln/>
        </p:spPr>
      </p:sp>
      <p:sp>
        <p:nvSpPr>
          <p:cNvPr id="35" name="Shape 33"/>
          <p:cNvSpPr/>
          <p:nvPr/>
        </p:nvSpPr>
        <p:spPr>
          <a:xfrm>
            <a:off x="6202680" y="4953000"/>
            <a:ext cx="22860" cy="1524000"/>
          </a:xfrm>
          <a:custGeom>
            <a:avLst/>
            <a:gdLst/>
            <a:ahLst/>
            <a:cxnLst/>
            <a:rect l="l" t="t" r="r" b="b"/>
            <a:pathLst>
              <a:path w="22860" h="1524000">
                <a:moveTo>
                  <a:pt x="0" y="0"/>
                </a:moveTo>
                <a:lnTo>
                  <a:pt x="22860" y="0"/>
                </a:lnTo>
                <a:lnTo>
                  <a:pt x="22860" y="1524000"/>
                </a:lnTo>
                <a:lnTo>
                  <a:pt x="0" y="1524000"/>
                </a:lnTo>
                <a:lnTo>
                  <a:pt x="0" y="0"/>
                </a:lnTo>
                <a:close/>
              </a:path>
            </a:pathLst>
          </a:custGeom>
          <a:solidFill>
            <a:srgbClr val="6D7275"/>
          </a:solidFill>
          <a:ln/>
        </p:spPr>
      </p:sp>
      <p:sp>
        <p:nvSpPr>
          <p:cNvPr id="36" name="Shape 34"/>
          <p:cNvSpPr/>
          <p:nvPr/>
        </p:nvSpPr>
        <p:spPr>
          <a:xfrm>
            <a:off x="6442710" y="54102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6D7275"/>
          </a:solidFill>
          <a:ln/>
        </p:spPr>
      </p:sp>
      <p:sp>
        <p:nvSpPr>
          <p:cNvPr id="37" name="Text 35"/>
          <p:cNvSpPr/>
          <p:nvPr/>
        </p:nvSpPr>
        <p:spPr>
          <a:xfrm>
            <a:off x="6385560" y="5410200"/>
            <a:ext cx="723900" cy="6096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06</a:t>
            </a:r>
            <a:endParaRPr lang="en-US" sz="1600" dirty="0"/>
          </a:p>
        </p:txBody>
      </p:sp>
      <p:sp>
        <p:nvSpPr>
          <p:cNvPr id="38" name="Text 36"/>
          <p:cNvSpPr/>
          <p:nvPr/>
        </p:nvSpPr>
        <p:spPr>
          <a:xfrm>
            <a:off x="7242810" y="5429250"/>
            <a:ext cx="44386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启示与借鉴</a:t>
            </a:r>
            <a:endParaRPr lang="en-US" sz="1600" dirty="0"/>
          </a:p>
        </p:txBody>
      </p:sp>
      <p:sp>
        <p:nvSpPr>
          <p:cNvPr id="39" name="Text 37"/>
          <p:cNvSpPr/>
          <p:nvPr/>
        </p:nvSpPr>
        <p:spPr>
          <a:xfrm>
            <a:off x="7242810" y="5772150"/>
            <a:ext cx="4419600" cy="228600"/>
          </a:xfrm>
          <a:prstGeom prst="rect">
            <a:avLst/>
          </a:prstGeom>
          <a:noFill/>
          <a:ln/>
        </p:spPr>
        <p:txBody>
          <a:bodyPr wrap="square" lIns="0" tIns="0" rIns="0" bIns="0" rtlCol="0" anchor="ctr"/>
          <a:lstStyle/>
          <a:p>
            <a:pPr>
              <a:lnSpc>
                <a:spcPct val="130000"/>
              </a:lnSpc>
            </a:pPr>
            <a:r>
              <a:rPr lang="en-US" sz="1200" dirty="0">
                <a:solidFill>
                  <a:srgbClr val="E8E8E8">
                    <a:alpha val="70000"/>
                  </a:srgbClr>
                </a:solidFill>
                <a:latin typeface="MiSans" pitchFamily="34" charset="0"/>
                <a:ea typeface="MiSans" pitchFamily="34" charset="-122"/>
                <a:cs typeface="MiSans" pitchFamily="34" charset="-120"/>
              </a:rPr>
              <a:t>战略洞察与方法论</a:t>
            </a:r>
            <a:endParaRPr lang="en-US" sz="1600"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gust-production.s3.amazonaws.com/7cf9bf4595aa0ad3abb3e04523067bed95784df5.jpg"/>
          <p:cNvPicPr>
            <a:picLocks noChangeAspect="1"/>
          </p:cNvPicPr>
          <p:nvPr/>
        </p:nvPicPr>
        <p:blipFill>
          <a:blip r:embed="rId3">
            <a:alphaModFix amt="25000"/>
          </a:blip>
          <a:srcRect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8000"/>
                </a:srgbClr>
              </a:gs>
              <a:gs pos="50000">
                <a:srgbClr val="1A1D21">
                  <a:alpha val="90000"/>
                </a:srgbClr>
              </a:gs>
              <a:gs pos="100000">
                <a:srgbClr val="3C8082">
                  <a:alpha val="30000"/>
                </a:srgbClr>
              </a:gs>
            </a:gsLst>
            <a:lin ang="0" scaled="1"/>
          </a:gradFill>
          <a:ln/>
        </p:spPr>
      </p:sp>
      <p:sp>
        <p:nvSpPr>
          <p:cNvPr id="4" name="Text 1"/>
          <p:cNvSpPr/>
          <p:nvPr/>
        </p:nvSpPr>
        <p:spPr>
          <a:xfrm>
            <a:off x="381000" y="1607820"/>
            <a:ext cx="1857375" cy="1219200"/>
          </a:xfrm>
          <a:prstGeom prst="rect">
            <a:avLst/>
          </a:prstGeom>
          <a:noFill/>
          <a:ln/>
        </p:spPr>
        <p:txBody>
          <a:bodyPr wrap="square" lIns="0" tIns="0" rIns="0" bIns="0" rtlCol="0" anchor="ctr"/>
          <a:lstStyle/>
          <a:p>
            <a:pPr>
              <a:lnSpc>
                <a:spcPct val="80000"/>
              </a:lnSpc>
            </a:pPr>
            <a:r>
              <a:rPr lang="en-US" sz="9600" b="1" dirty="0">
                <a:solidFill>
                  <a:srgbClr val="3C8082"/>
                </a:solidFill>
                <a:latin typeface="MiSans" pitchFamily="34" charset="0"/>
                <a:ea typeface="MiSans" pitchFamily="34" charset="-122"/>
                <a:cs typeface="MiSans" pitchFamily="34" charset="-120"/>
              </a:rPr>
              <a:t>01</a:t>
            </a:r>
            <a:endParaRPr lang="en-US" sz="1600" dirty="0"/>
          </a:p>
        </p:txBody>
      </p:sp>
      <p:sp>
        <p:nvSpPr>
          <p:cNvPr id="5" name="Text 2"/>
          <p:cNvSpPr/>
          <p:nvPr/>
        </p:nvSpPr>
        <p:spPr>
          <a:xfrm>
            <a:off x="1777008" y="2476500"/>
            <a:ext cx="1352550" cy="266700"/>
          </a:xfrm>
          <a:prstGeom prst="rect">
            <a:avLst/>
          </a:prstGeom>
          <a:noFill/>
          <a:ln/>
        </p:spPr>
        <p:txBody>
          <a:bodyPr wrap="square" lIns="0" tIns="0" rIns="0" bIns="0" rtlCol="0" anchor="ctr"/>
          <a:lstStyle/>
          <a:p>
            <a:pPr>
              <a:lnSpc>
                <a:spcPct val="120000"/>
              </a:lnSpc>
            </a:pPr>
            <a:r>
              <a:rPr lang="en-US" sz="1500" b="1" kern="0" spc="450" dirty="0">
                <a:solidFill>
                  <a:srgbClr val="D9A477"/>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381000" y="3284220"/>
            <a:ext cx="7162800" cy="666750"/>
          </a:xfrm>
          <a:prstGeom prst="rect">
            <a:avLst/>
          </a:prstGeom>
          <a:noFill/>
          <a:ln/>
        </p:spPr>
        <p:txBody>
          <a:bodyPr wrap="square" lIns="0" tIns="0" rIns="0" bIns="0" rtlCol="0" anchor="ctr"/>
          <a:lstStyle/>
          <a:p>
            <a:pPr>
              <a:lnSpc>
                <a:spcPct val="90000"/>
              </a:lnSpc>
            </a:pPr>
            <a:r>
              <a:rPr lang="en-US" sz="4800" b="1" dirty="0">
                <a:solidFill>
                  <a:srgbClr val="E8E8E8"/>
                </a:solidFill>
                <a:latin typeface="MiSans" pitchFamily="34" charset="0"/>
                <a:ea typeface="MiSans" pitchFamily="34" charset="-122"/>
                <a:cs typeface="MiSans" pitchFamily="34" charset="-120"/>
              </a:rPr>
              <a:t>市场背景</a:t>
            </a:r>
            <a:endParaRPr lang="en-US" sz="1600" dirty="0"/>
          </a:p>
        </p:txBody>
      </p:sp>
      <p:sp>
        <p:nvSpPr>
          <p:cNvPr id="7" name="Shape 4"/>
          <p:cNvSpPr/>
          <p:nvPr/>
        </p:nvSpPr>
        <p:spPr>
          <a:xfrm>
            <a:off x="381000" y="4183381"/>
            <a:ext cx="1524000" cy="19050"/>
          </a:xfrm>
          <a:custGeom>
            <a:avLst/>
            <a:gdLst/>
            <a:ahLst/>
            <a:cxnLst/>
            <a:rect l="l" t="t" r="r" b="b"/>
            <a:pathLst>
              <a:path w="1524000" h="19050">
                <a:moveTo>
                  <a:pt x="0" y="0"/>
                </a:moveTo>
                <a:lnTo>
                  <a:pt x="1524000" y="0"/>
                </a:lnTo>
                <a:lnTo>
                  <a:pt x="1524000" y="19050"/>
                </a:lnTo>
                <a:lnTo>
                  <a:pt x="0" y="19050"/>
                </a:lnTo>
                <a:lnTo>
                  <a:pt x="0" y="0"/>
                </a:lnTo>
                <a:close/>
              </a:path>
            </a:pathLst>
          </a:custGeom>
          <a:solidFill>
            <a:srgbClr val="D9A477"/>
          </a:solidFill>
          <a:ln/>
        </p:spPr>
      </p:sp>
      <p:sp>
        <p:nvSpPr>
          <p:cNvPr id="8" name="Text 5"/>
          <p:cNvSpPr/>
          <p:nvPr/>
        </p:nvSpPr>
        <p:spPr>
          <a:xfrm>
            <a:off x="381000" y="4507231"/>
            <a:ext cx="6972300" cy="742950"/>
          </a:xfrm>
          <a:prstGeom prst="rect">
            <a:avLst/>
          </a:prstGeom>
          <a:noFill/>
          <a:ln/>
        </p:spPr>
        <p:txBody>
          <a:bodyPr wrap="square" lIns="0" tIns="0" rIns="0" bIns="0" rtlCol="0" anchor="ctr"/>
          <a:lstStyle/>
          <a:p>
            <a:pPr>
              <a:lnSpc>
                <a:spcPct val="140000"/>
              </a:lnSpc>
            </a:pPr>
            <a:r>
              <a:rPr lang="en-US" sz="1800" dirty="0">
                <a:solidFill>
                  <a:srgbClr val="E8E8E8">
                    <a:alpha val="80000"/>
                  </a:srgbClr>
                </a:solidFill>
                <a:latin typeface="MiSans" pitchFamily="34" charset="0"/>
                <a:ea typeface="MiSans" pitchFamily="34" charset="-122"/>
                <a:cs typeface="MiSans" pitchFamily="34" charset="-120"/>
              </a:rPr>
              <a:t>沉睡的巨头垄断市场</a:t>
            </a:r>
            <a:endParaRPr lang="en-US" sz="1600" dirty="0"/>
          </a:p>
          <a:p>
            <a:pPr>
              <a:lnSpc>
                <a:spcPct val="140000"/>
              </a:lnSpc>
            </a:pPr>
            <a:r>
              <a:rPr lang="en-US" sz="1800" dirty="0">
                <a:solidFill>
                  <a:srgbClr val="E8E8E8">
                    <a:alpha val="80000"/>
                  </a:srgbClr>
                </a:solidFill>
                <a:latin typeface="MiSans" pitchFamily="34" charset="0"/>
                <a:ea typeface="MiSans" pitchFamily="34" charset="-122"/>
                <a:cs typeface="MiSans" pitchFamily="34" charset="-120"/>
              </a:rPr>
              <a:t>2010年前的行业格局与挑战</a:t>
            </a:r>
            <a:endParaRPr lang="en-US" sz="1600"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210" dirty="0">
                <a:solidFill>
                  <a:srgbClr val="D9A477"/>
                </a:solidFill>
                <a:latin typeface="MiSans" pitchFamily="34" charset="0"/>
                <a:ea typeface="MiSans" pitchFamily="34" charset="-122"/>
                <a:cs typeface="MiSans" pitchFamily="34" charset="-120"/>
              </a:rPr>
              <a:t>Market Background</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E8E8E8"/>
                </a:solidFill>
                <a:latin typeface="MiSans" pitchFamily="34" charset="0"/>
                <a:ea typeface="MiSans" pitchFamily="34" charset="-122"/>
                <a:cs typeface="MiSans" pitchFamily="34" charset="-120"/>
              </a:rPr>
              <a:t>恒温器市场:被忽视的"沉睡"领域</a:t>
            </a:r>
            <a:endParaRPr lang="en-US" sz="1600" dirty="0"/>
          </a:p>
        </p:txBody>
      </p:sp>
      <p:sp>
        <p:nvSpPr>
          <p:cNvPr id="4" name="Shape 2"/>
          <p:cNvSpPr/>
          <p:nvPr/>
        </p:nvSpPr>
        <p:spPr>
          <a:xfrm>
            <a:off x="403860" y="1297851"/>
            <a:ext cx="6564630" cy="3467100"/>
          </a:xfrm>
          <a:custGeom>
            <a:avLst/>
            <a:gdLst/>
            <a:ahLst/>
            <a:cxnLst/>
            <a:rect l="l" t="t" r="r" b="b"/>
            <a:pathLst>
              <a:path w="6564630" h="2533650">
                <a:moveTo>
                  <a:pt x="0" y="0"/>
                </a:moveTo>
                <a:lnTo>
                  <a:pt x="6564630" y="0"/>
                </a:lnTo>
                <a:lnTo>
                  <a:pt x="6564630" y="2533650"/>
                </a:lnTo>
                <a:lnTo>
                  <a:pt x="0" y="2533650"/>
                </a:lnTo>
                <a:lnTo>
                  <a:pt x="0" y="0"/>
                </a:lnTo>
                <a:close/>
              </a:path>
            </a:pathLst>
          </a:custGeom>
          <a:solidFill>
            <a:srgbClr val="3C8082">
              <a:alpha val="14902"/>
            </a:srgbClr>
          </a:solidFill>
          <a:ln/>
        </p:spPr>
      </p:sp>
      <p:sp>
        <p:nvSpPr>
          <p:cNvPr id="5" name="Shape 3"/>
          <p:cNvSpPr/>
          <p:nvPr/>
        </p:nvSpPr>
        <p:spPr>
          <a:xfrm>
            <a:off x="392430" y="1295400"/>
            <a:ext cx="22860" cy="3466800"/>
          </a:xfrm>
          <a:custGeom>
            <a:avLst/>
            <a:gdLst/>
            <a:ahLst/>
            <a:cxnLst/>
            <a:rect l="l" t="t" r="r" b="b"/>
            <a:pathLst>
              <a:path w="22860" h="2533650">
                <a:moveTo>
                  <a:pt x="0" y="0"/>
                </a:moveTo>
                <a:lnTo>
                  <a:pt x="22860" y="0"/>
                </a:lnTo>
                <a:lnTo>
                  <a:pt x="22860" y="2533650"/>
                </a:lnTo>
                <a:lnTo>
                  <a:pt x="0" y="2533650"/>
                </a:lnTo>
                <a:lnTo>
                  <a:pt x="0" y="0"/>
                </a:lnTo>
                <a:close/>
              </a:path>
            </a:pathLst>
          </a:custGeom>
          <a:solidFill>
            <a:srgbClr val="3C8082"/>
          </a:solidFill>
          <a:ln/>
        </p:spPr>
      </p:sp>
      <p:sp>
        <p:nvSpPr>
          <p:cNvPr id="6" name="Text 4"/>
          <p:cNvSpPr/>
          <p:nvPr/>
        </p:nvSpPr>
        <p:spPr>
          <a:xfrm>
            <a:off x="632460" y="1397254"/>
            <a:ext cx="61912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恒温器是什么?</a:t>
            </a:r>
            <a:endParaRPr lang="en-US" sz="1600" dirty="0"/>
          </a:p>
        </p:txBody>
      </p:sp>
      <p:sp>
        <p:nvSpPr>
          <p:cNvPr id="7" name="Text 5"/>
          <p:cNvSpPr/>
          <p:nvPr/>
        </p:nvSpPr>
        <p:spPr>
          <a:xfrm>
            <a:off x="2866075" y="1847850"/>
            <a:ext cx="4063201" cy="1733550"/>
          </a:xfrm>
          <a:prstGeom prst="rect">
            <a:avLst/>
          </a:prstGeom>
          <a:noFill/>
          <a:ln/>
        </p:spPr>
        <p:txBody>
          <a:bodyPr wrap="square" lIns="0" tIns="0" rIns="0" bIns="0" rtlCol="0" anchor="t"/>
          <a:lstStyle/>
          <a:p>
            <a:pPr>
              <a:lnSpc>
                <a:spcPct val="140000"/>
              </a:lnSpc>
            </a:pPr>
            <a:r>
              <a:rPr lang="en-US" sz="1200" dirty="0">
                <a:solidFill>
                  <a:srgbClr val="E8E8E8">
                    <a:alpha val="85000"/>
                  </a:srgbClr>
                </a:solidFill>
                <a:latin typeface="MiSans" pitchFamily="34" charset="0"/>
                <a:ea typeface="MiSans" pitchFamily="34" charset="-122"/>
                <a:cs typeface="MiSans" pitchFamily="34" charset="-120"/>
              </a:rPr>
              <a:t>恒温器,也称为风机盘管温控器,是中央空调系统的核心控制部件。它存在于所有使用中央空调的场所(住宅、办公楼、商业空间等),负责自动控制暖气、通风及空气调节设备,确保室内温度恒定在设定范围内。</a:t>
            </a:r>
            <a:endParaRPr lang="en-US" sz="1600" dirty="0"/>
          </a:p>
        </p:txBody>
      </p:sp>
      <p:sp>
        <p:nvSpPr>
          <p:cNvPr id="8" name="Shape 6"/>
          <p:cNvSpPr/>
          <p:nvPr/>
        </p:nvSpPr>
        <p:spPr>
          <a:xfrm>
            <a:off x="632460" y="3908640"/>
            <a:ext cx="1952625" cy="723900"/>
          </a:xfrm>
          <a:custGeom>
            <a:avLst/>
            <a:gdLst/>
            <a:ahLst/>
            <a:cxnLst/>
            <a:rect l="l" t="t" r="r" b="b"/>
            <a:pathLst>
              <a:path w="1952625" h="723900">
                <a:moveTo>
                  <a:pt x="0" y="0"/>
                </a:moveTo>
                <a:lnTo>
                  <a:pt x="1952625" y="0"/>
                </a:lnTo>
                <a:lnTo>
                  <a:pt x="1952625" y="723900"/>
                </a:lnTo>
                <a:lnTo>
                  <a:pt x="0" y="723900"/>
                </a:lnTo>
                <a:lnTo>
                  <a:pt x="0" y="0"/>
                </a:lnTo>
                <a:close/>
              </a:path>
            </a:pathLst>
          </a:custGeom>
          <a:solidFill>
            <a:srgbClr val="1A1D21"/>
          </a:solidFill>
          <a:ln/>
        </p:spPr>
      </p:sp>
      <p:sp>
        <p:nvSpPr>
          <p:cNvPr id="9" name="Shape 7"/>
          <p:cNvSpPr/>
          <p:nvPr/>
        </p:nvSpPr>
        <p:spPr>
          <a:xfrm>
            <a:off x="1495425" y="4022940"/>
            <a:ext cx="228600" cy="228600"/>
          </a:xfrm>
          <a:custGeom>
            <a:avLst/>
            <a:gdLst/>
            <a:ahLst/>
            <a:cxnLst/>
            <a:rect l="l" t="t" r="r" b="b"/>
            <a:pathLst>
              <a:path w="228600" h="228600">
                <a:moveTo>
                  <a:pt x="42863" y="42863"/>
                </a:moveTo>
                <a:cubicBezTo>
                  <a:pt x="42863" y="19199"/>
                  <a:pt x="62061" y="0"/>
                  <a:pt x="85725" y="0"/>
                </a:cubicBezTo>
                <a:cubicBezTo>
                  <a:pt x="109389" y="0"/>
                  <a:pt x="128588" y="19199"/>
                  <a:pt x="128588" y="42863"/>
                </a:cubicBezTo>
                <a:lnTo>
                  <a:pt x="128588" y="116398"/>
                </a:lnTo>
                <a:cubicBezTo>
                  <a:pt x="141759" y="128186"/>
                  <a:pt x="150019" y="145286"/>
                  <a:pt x="150019" y="164306"/>
                </a:cubicBezTo>
                <a:cubicBezTo>
                  <a:pt x="150019" y="199802"/>
                  <a:pt x="121221" y="228600"/>
                  <a:pt x="85725" y="228600"/>
                </a:cubicBezTo>
                <a:cubicBezTo>
                  <a:pt x="50229" y="228600"/>
                  <a:pt x="21431" y="199802"/>
                  <a:pt x="21431" y="164306"/>
                </a:cubicBezTo>
                <a:cubicBezTo>
                  <a:pt x="21431" y="145286"/>
                  <a:pt x="29691" y="128141"/>
                  <a:pt x="42863" y="116398"/>
                </a:cubicBezTo>
                <a:lnTo>
                  <a:pt x="42863" y="42863"/>
                </a:lnTo>
                <a:close/>
                <a:moveTo>
                  <a:pt x="85725" y="192881"/>
                </a:moveTo>
                <a:cubicBezTo>
                  <a:pt x="101486" y="192881"/>
                  <a:pt x="114300" y="180067"/>
                  <a:pt x="114300" y="164306"/>
                </a:cubicBezTo>
                <a:cubicBezTo>
                  <a:pt x="114300" y="152296"/>
                  <a:pt x="106933" y="142027"/>
                  <a:pt x="96441" y="137830"/>
                </a:cubicBezTo>
                <a:lnTo>
                  <a:pt x="96441" y="125016"/>
                </a:lnTo>
                <a:cubicBezTo>
                  <a:pt x="96441" y="119077"/>
                  <a:pt x="91663" y="114300"/>
                  <a:pt x="85725" y="114300"/>
                </a:cubicBezTo>
                <a:cubicBezTo>
                  <a:pt x="79787" y="114300"/>
                  <a:pt x="75009" y="119077"/>
                  <a:pt x="75009" y="125016"/>
                </a:cubicBezTo>
                <a:lnTo>
                  <a:pt x="75009" y="137830"/>
                </a:lnTo>
                <a:cubicBezTo>
                  <a:pt x="64517" y="142071"/>
                  <a:pt x="57150" y="152340"/>
                  <a:pt x="57150" y="164306"/>
                </a:cubicBezTo>
                <a:cubicBezTo>
                  <a:pt x="57150" y="180067"/>
                  <a:pt x="69964" y="192881"/>
                  <a:pt x="85725" y="192881"/>
                </a:cubicBezTo>
                <a:close/>
                <a:moveTo>
                  <a:pt x="207169" y="35719"/>
                </a:moveTo>
                <a:cubicBezTo>
                  <a:pt x="207169" y="27833"/>
                  <a:pt x="200767" y="21431"/>
                  <a:pt x="192881" y="21431"/>
                </a:cubicBezTo>
                <a:cubicBezTo>
                  <a:pt x="184996" y="21431"/>
                  <a:pt x="178594" y="27833"/>
                  <a:pt x="178594" y="35719"/>
                </a:cubicBezTo>
                <a:cubicBezTo>
                  <a:pt x="178594" y="43604"/>
                  <a:pt x="184996" y="50006"/>
                  <a:pt x="192881" y="50006"/>
                </a:cubicBezTo>
                <a:cubicBezTo>
                  <a:pt x="200767" y="50006"/>
                  <a:pt x="207169" y="43604"/>
                  <a:pt x="207169" y="35719"/>
                </a:cubicBezTo>
                <a:close/>
                <a:moveTo>
                  <a:pt x="157163" y="35719"/>
                </a:moveTo>
                <a:cubicBezTo>
                  <a:pt x="157163" y="16005"/>
                  <a:pt x="173168" y="0"/>
                  <a:pt x="192881" y="0"/>
                </a:cubicBezTo>
                <a:cubicBezTo>
                  <a:pt x="212595" y="0"/>
                  <a:pt x="228600" y="16005"/>
                  <a:pt x="228600" y="35719"/>
                </a:cubicBezTo>
                <a:cubicBezTo>
                  <a:pt x="228600" y="55432"/>
                  <a:pt x="212595" y="71438"/>
                  <a:pt x="192881" y="71438"/>
                </a:cubicBezTo>
                <a:cubicBezTo>
                  <a:pt x="173168" y="71438"/>
                  <a:pt x="157163" y="55432"/>
                  <a:pt x="157163" y="35719"/>
                </a:cubicBezTo>
                <a:close/>
              </a:path>
            </a:pathLst>
          </a:custGeom>
          <a:solidFill>
            <a:srgbClr val="3C8082"/>
          </a:solidFill>
          <a:ln/>
        </p:spPr>
      </p:sp>
      <p:sp>
        <p:nvSpPr>
          <p:cNvPr id="10" name="Text 8"/>
          <p:cNvSpPr/>
          <p:nvPr/>
        </p:nvSpPr>
        <p:spPr>
          <a:xfrm>
            <a:off x="599123" y="4327740"/>
            <a:ext cx="2019300" cy="190500"/>
          </a:xfrm>
          <a:prstGeom prst="rect">
            <a:avLst/>
          </a:prstGeom>
          <a:noFill/>
          <a:ln/>
        </p:spPr>
        <p:txBody>
          <a:bodyPr wrap="square" lIns="0" tIns="0" rIns="0" bIns="0" rtlCol="0" anchor="ctr"/>
          <a:lstStyle/>
          <a:p>
            <a:pPr algn="ctr">
              <a:lnSpc>
                <a:spcPct val="120000"/>
              </a:lnSpc>
            </a:pPr>
            <a:r>
              <a:rPr lang="en-US" sz="1050" dirty="0">
                <a:solidFill>
                  <a:srgbClr val="E8E8E8">
                    <a:alpha val="80000"/>
                  </a:srgbClr>
                </a:solidFill>
                <a:latin typeface="MiSans" pitchFamily="34" charset="0"/>
                <a:ea typeface="MiSans" pitchFamily="34" charset="-122"/>
                <a:cs typeface="MiSans" pitchFamily="34" charset="-120"/>
              </a:rPr>
              <a:t>精准控温</a:t>
            </a:r>
            <a:endParaRPr lang="en-US" sz="1600" dirty="0"/>
          </a:p>
        </p:txBody>
      </p:sp>
      <p:sp>
        <p:nvSpPr>
          <p:cNvPr id="11" name="Shape 9"/>
          <p:cNvSpPr/>
          <p:nvPr/>
        </p:nvSpPr>
        <p:spPr>
          <a:xfrm>
            <a:off x="2701290" y="3908640"/>
            <a:ext cx="1952625" cy="723900"/>
          </a:xfrm>
          <a:custGeom>
            <a:avLst/>
            <a:gdLst/>
            <a:ahLst/>
            <a:cxnLst/>
            <a:rect l="l" t="t" r="r" b="b"/>
            <a:pathLst>
              <a:path w="1952625" h="723900">
                <a:moveTo>
                  <a:pt x="0" y="0"/>
                </a:moveTo>
                <a:lnTo>
                  <a:pt x="1952625" y="0"/>
                </a:lnTo>
                <a:lnTo>
                  <a:pt x="1952625" y="723900"/>
                </a:lnTo>
                <a:lnTo>
                  <a:pt x="0" y="723900"/>
                </a:lnTo>
                <a:lnTo>
                  <a:pt x="0" y="0"/>
                </a:lnTo>
                <a:close/>
              </a:path>
            </a:pathLst>
          </a:custGeom>
          <a:solidFill>
            <a:srgbClr val="1A1D21"/>
          </a:solidFill>
          <a:ln/>
        </p:spPr>
      </p:sp>
      <p:sp>
        <p:nvSpPr>
          <p:cNvPr id="12" name="Shape 10"/>
          <p:cNvSpPr/>
          <p:nvPr/>
        </p:nvSpPr>
        <p:spPr>
          <a:xfrm>
            <a:off x="3564255" y="4022940"/>
            <a:ext cx="228600" cy="228600"/>
          </a:xfrm>
          <a:custGeom>
            <a:avLst/>
            <a:gdLst/>
            <a:ahLst/>
            <a:cxnLst/>
            <a:rect l="l" t="t" r="r" b="b"/>
            <a:pathLst>
              <a:path w="228600" h="228600">
                <a:moveTo>
                  <a:pt x="128588" y="14288"/>
                </a:moveTo>
                <a:cubicBezTo>
                  <a:pt x="128588" y="22190"/>
                  <a:pt x="134972" y="28575"/>
                  <a:pt x="142875" y="28575"/>
                </a:cubicBezTo>
                <a:lnTo>
                  <a:pt x="160734" y="28575"/>
                </a:lnTo>
                <a:cubicBezTo>
                  <a:pt x="166673" y="28575"/>
                  <a:pt x="171450" y="33352"/>
                  <a:pt x="171450" y="39291"/>
                </a:cubicBezTo>
                <a:cubicBezTo>
                  <a:pt x="171450" y="45229"/>
                  <a:pt x="166673" y="50006"/>
                  <a:pt x="160734" y="50006"/>
                </a:cubicBezTo>
                <a:lnTo>
                  <a:pt x="14288" y="50006"/>
                </a:lnTo>
                <a:cubicBezTo>
                  <a:pt x="6385" y="50006"/>
                  <a:pt x="0" y="56391"/>
                  <a:pt x="0" y="64294"/>
                </a:cubicBezTo>
                <a:cubicBezTo>
                  <a:pt x="0" y="72197"/>
                  <a:pt x="6385" y="78581"/>
                  <a:pt x="14288" y="78581"/>
                </a:cubicBezTo>
                <a:lnTo>
                  <a:pt x="160734" y="78581"/>
                </a:lnTo>
                <a:cubicBezTo>
                  <a:pt x="182434" y="78581"/>
                  <a:pt x="200025" y="60990"/>
                  <a:pt x="200025" y="39291"/>
                </a:cubicBezTo>
                <a:cubicBezTo>
                  <a:pt x="200025" y="17591"/>
                  <a:pt x="182434" y="0"/>
                  <a:pt x="160734" y="0"/>
                </a:cubicBezTo>
                <a:lnTo>
                  <a:pt x="142875" y="0"/>
                </a:lnTo>
                <a:cubicBezTo>
                  <a:pt x="134972" y="0"/>
                  <a:pt x="128588" y="6385"/>
                  <a:pt x="128588" y="14288"/>
                </a:cubicBezTo>
                <a:close/>
                <a:moveTo>
                  <a:pt x="157163" y="171450"/>
                </a:moveTo>
                <a:cubicBezTo>
                  <a:pt x="157163" y="179353"/>
                  <a:pt x="163547" y="185738"/>
                  <a:pt x="171450" y="185738"/>
                </a:cubicBezTo>
                <a:lnTo>
                  <a:pt x="185738" y="185738"/>
                </a:lnTo>
                <a:cubicBezTo>
                  <a:pt x="209401" y="185738"/>
                  <a:pt x="228600" y="166539"/>
                  <a:pt x="228600" y="142875"/>
                </a:cubicBezTo>
                <a:cubicBezTo>
                  <a:pt x="228600" y="119211"/>
                  <a:pt x="209401" y="100013"/>
                  <a:pt x="185738" y="100013"/>
                </a:cubicBezTo>
                <a:lnTo>
                  <a:pt x="14288" y="100013"/>
                </a:lnTo>
                <a:cubicBezTo>
                  <a:pt x="6385" y="100013"/>
                  <a:pt x="0" y="106397"/>
                  <a:pt x="0" y="114300"/>
                </a:cubicBezTo>
                <a:cubicBezTo>
                  <a:pt x="0" y="122203"/>
                  <a:pt x="6385" y="128588"/>
                  <a:pt x="14288" y="128588"/>
                </a:cubicBezTo>
                <a:lnTo>
                  <a:pt x="185738" y="128588"/>
                </a:lnTo>
                <a:cubicBezTo>
                  <a:pt x="193640" y="128588"/>
                  <a:pt x="200025" y="134972"/>
                  <a:pt x="200025" y="142875"/>
                </a:cubicBezTo>
                <a:cubicBezTo>
                  <a:pt x="200025" y="150778"/>
                  <a:pt x="193640" y="157163"/>
                  <a:pt x="185738" y="157163"/>
                </a:cubicBezTo>
                <a:lnTo>
                  <a:pt x="171450" y="157163"/>
                </a:lnTo>
                <a:cubicBezTo>
                  <a:pt x="163547" y="157163"/>
                  <a:pt x="157163" y="163547"/>
                  <a:pt x="157163" y="171450"/>
                </a:cubicBezTo>
                <a:close/>
                <a:moveTo>
                  <a:pt x="57150" y="228600"/>
                </a:moveTo>
                <a:lnTo>
                  <a:pt x="75009" y="228600"/>
                </a:lnTo>
                <a:cubicBezTo>
                  <a:pt x="96709" y="228600"/>
                  <a:pt x="114300" y="211009"/>
                  <a:pt x="114300" y="189309"/>
                </a:cubicBezTo>
                <a:cubicBezTo>
                  <a:pt x="114300" y="167610"/>
                  <a:pt x="96709" y="150019"/>
                  <a:pt x="75009" y="150019"/>
                </a:cubicBezTo>
                <a:lnTo>
                  <a:pt x="14288" y="150019"/>
                </a:lnTo>
                <a:cubicBezTo>
                  <a:pt x="6385" y="150019"/>
                  <a:pt x="0" y="156403"/>
                  <a:pt x="0" y="164306"/>
                </a:cubicBezTo>
                <a:cubicBezTo>
                  <a:pt x="0" y="172209"/>
                  <a:pt x="6385" y="178594"/>
                  <a:pt x="14288" y="178594"/>
                </a:cubicBezTo>
                <a:lnTo>
                  <a:pt x="75009" y="178594"/>
                </a:lnTo>
                <a:cubicBezTo>
                  <a:pt x="80948" y="178594"/>
                  <a:pt x="85725" y="183371"/>
                  <a:pt x="85725" y="189309"/>
                </a:cubicBezTo>
                <a:cubicBezTo>
                  <a:pt x="85725" y="195248"/>
                  <a:pt x="80948" y="200025"/>
                  <a:pt x="75009" y="200025"/>
                </a:cubicBezTo>
                <a:lnTo>
                  <a:pt x="57150" y="200025"/>
                </a:lnTo>
                <a:cubicBezTo>
                  <a:pt x="49247" y="200025"/>
                  <a:pt x="42863" y="206410"/>
                  <a:pt x="42863" y="214313"/>
                </a:cubicBezTo>
                <a:cubicBezTo>
                  <a:pt x="42863" y="222215"/>
                  <a:pt x="49247" y="228600"/>
                  <a:pt x="57150" y="228600"/>
                </a:cubicBezTo>
                <a:close/>
              </a:path>
            </a:pathLst>
          </a:custGeom>
          <a:solidFill>
            <a:srgbClr val="3C8082"/>
          </a:solidFill>
          <a:ln/>
        </p:spPr>
      </p:sp>
      <p:sp>
        <p:nvSpPr>
          <p:cNvPr id="13" name="Text 11"/>
          <p:cNvSpPr/>
          <p:nvPr/>
        </p:nvSpPr>
        <p:spPr>
          <a:xfrm>
            <a:off x="2667953" y="4327740"/>
            <a:ext cx="2019300" cy="190500"/>
          </a:xfrm>
          <a:prstGeom prst="rect">
            <a:avLst/>
          </a:prstGeom>
          <a:noFill/>
          <a:ln/>
        </p:spPr>
        <p:txBody>
          <a:bodyPr wrap="square" lIns="0" tIns="0" rIns="0" bIns="0" rtlCol="0" anchor="ctr"/>
          <a:lstStyle/>
          <a:p>
            <a:pPr algn="ctr">
              <a:lnSpc>
                <a:spcPct val="120000"/>
              </a:lnSpc>
            </a:pPr>
            <a:r>
              <a:rPr lang="en-US" sz="1050" dirty="0">
                <a:solidFill>
                  <a:srgbClr val="E8E8E8">
                    <a:alpha val="80000"/>
                  </a:srgbClr>
                </a:solidFill>
                <a:latin typeface="MiSans" pitchFamily="34" charset="0"/>
                <a:ea typeface="MiSans" pitchFamily="34" charset="-122"/>
                <a:cs typeface="MiSans" pitchFamily="34" charset="-120"/>
              </a:rPr>
              <a:t>自动调节</a:t>
            </a:r>
            <a:endParaRPr lang="en-US" sz="1600" dirty="0"/>
          </a:p>
        </p:txBody>
      </p:sp>
      <p:sp>
        <p:nvSpPr>
          <p:cNvPr id="14" name="Shape 12"/>
          <p:cNvSpPr/>
          <p:nvPr/>
        </p:nvSpPr>
        <p:spPr>
          <a:xfrm>
            <a:off x="4770120" y="3908640"/>
            <a:ext cx="1952625" cy="723900"/>
          </a:xfrm>
          <a:custGeom>
            <a:avLst/>
            <a:gdLst/>
            <a:ahLst/>
            <a:cxnLst/>
            <a:rect l="l" t="t" r="r" b="b"/>
            <a:pathLst>
              <a:path w="1952625" h="723900">
                <a:moveTo>
                  <a:pt x="0" y="0"/>
                </a:moveTo>
                <a:lnTo>
                  <a:pt x="1952625" y="0"/>
                </a:lnTo>
                <a:lnTo>
                  <a:pt x="1952625" y="723900"/>
                </a:lnTo>
                <a:lnTo>
                  <a:pt x="0" y="723900"/>
                </a:lnTo>
                <a:lnTo>
                  <a:pt x="0" y="0"/>
                </a:lnTo>
                <a:close/>
              </a:path>
            </a:pathLst>
          </a:custGeom>
          <a:solidFill>
            <a:srgbClr val="1A1D21"/>
          </a:solidFill>
          <a:ln/>
        </p:spPr>
      </p:sp>
      <p:sp>
        <p:nvSpPr>
          <p:cNvPr id="15" name="Shape 13"/>
          <p:cNvSpPr/>
          <p:nvPr/>
        </p:nvSpPr>
        <p:spPr>
          <a:xfrm>
            <a:off x="5661660" y="4022940"/>
            <a:ext cx="171450" cy="228600"/>
          </a:xfrm>
          <a:custGeom>
            <a:avLst/>
            <a:gdLst/>
            <a:ahLst/>
            <a:cxnLst/>
            <a:rect l="l" t="t" r="r" b="b"/>
            <a:pathLst>
              <a:path w="171450" h="228600">
                <a:moveTo>
                  <a:pt x="28575" y="0"/>
                </a:moveTo>
                <a:cubicBezTo>
                  <a:pt x="12814" y="0"/>
                  <a:pt x="0" y="12814"/>
                  <a:pt x="0" y="28575"/>
                </a:cubicBezTo>
                <a:lnTo>
                  <a:pt x="0" y="200025"/>
                </a:lnTo>
                <a:cubicBezTo>
                  <a:pt x="0" y="215786"/>
                  <a:pt x="12814" y="228600"/>
                  <a:pt x="28575" y="228600"/>
                </a:cubicBezTo>
                <a:lnTo>
                  <a:pt x="142875" y="228600"/>
                </a:lnTo>
                <a:cubicBezTo>
                  <a:pt x="158636" y="228600"/>
                  <a:pt x="171450" y="215786"/>
                  <a:pt x="171450" y="200025"/>
                </a:cubicBezTo>
                <a:lnTo>
                  <a:pt x="171450" y="28575"/>
                </a:lnTo>
                <a:cubicBezTo>
                  <a:pt x="171450" y="12814"/>
                  <a:pt x="158636" y="0"/>
                  <a:pt x="142875" y="0"/>
                </a:cubicBezTo>
                <a:lnTo>
                  <a:pt x="28575" y="0"/>
                </a:lnTo>
                <a:close/>
                <a:moveTo>
                  <a:pt x="78581" y="157163"/>
                </a:moveTo>
                <a:lnTo>
                  <a:pt x="92869" y="157163"/>
                </a:lnTo>
                <a:cubicBezTo>
                  <a:pt x="100772" y="157163"/>
                  <a:pt x="107156" y="163547"/>
                  <a:pt x="107156" y="171450"/>
                </a:cubicBezTo>
                <a:lnTo>
                  <a:pt x="107156" y="207169"/>
                </a:lnTo>
                <a:lnTo>
                  <a:pt x="64294" y="207169"/>
                </a:lnTo>
                <a:lnTo>
                  <a:pt x="64294" y="171450"/>
                </a:lnTo>
                <a:cubicBezTo>
                  <a:pt x="64294" y="163547"/>
                  <a:pt x="70678" y="157163"/>
                  <a:pt x="78581" y="157163"/>
                </a:cubicBezTo>
                <a:close/>
                <a:moveTo>
                  <a:pt x="42863" y="50006"/>
                </a:moveTo>
                <a:cubicBezTo>
                  <a:pt x="42863" y="46077"/>
                  <a:pt x="46077" y="42863"/>
                  <a:pt x="50006" y="42863"/>
                </a:cubicBezTo>
                <a:lnTo>
                  <a:pt x="64294" y="42863"/>
                </a:lnTo>
                <a:cubicBezTo>
                  <a:pt x="68223" y="42863"/>
                  <a:pt x="71438" y="46077"/>
                  <a:pt x="71438" y="50006"/>
                </a:cubicBezTo>
                <a:lnTo>
                  <a:pt x="71438" y="64294"/>
                </a:lnTo>
                <a:cubicBezTo>
                  <a:pt x="71438" y="68223"/>
                  <a:pt x="68223" y="71438"/>
                  <a:pt x="64294" y="71438"/>
                </a:cubicBezTo>
                <a:lnTo>
                  <a:pt x="50006" y="71438"/>
                </a:lnTo>
                <a:cubicBezTo>
                  <a:pt x="46077" y="71438"/>
                  <a:pt x="42863" y="68223"/>
                  <a:pt x="42863" y="64294"/>
                </a:cubicBezTo>
                <a:lnTo>
                  <a:pt x="42863" y="50006"/>
                </a:lnTo>
                <a:close/>
                <a:moveTo>
                  <a:pt x="107156" y="42863"/>
                </a:moveTo>
                <a:lnTo>
                  <a:pt x="121444" y="42863"/>
                </a:lnTo>
                <a:cubicBezTo>
                  <a:pt x="125373" y="42863"/>
                  <a:pt x="128588" y="46077"/>
                  <a:pt x="128588" y="50006"/>
                </a:cubicBezTo>
                <a:lnTo>
                  <a:pt x="128588" y="64294"/>
                </a:lnTo>
                <a:cubicBezTo>
                  <a:pt x="128588" y="68223"/>
                  <a:pt x="125373" y="71438"/>
                  <a:pt x="121444" y="71438"/>
                </a:cubicBezTo>
                <a:lnTo>
                  <a:pt x="107156" y="71438"/>
                </a:lnTo>
                <a:cubicBezTo>
                  <a:pt x="103227" y="71438"/>
                  <a:pt x="100013" y="68223"/>
                  <a:pt x="100013" y="64294"/>
                </a:cubicBezTo>
                <a:lnTo>
                  <a:pt x="100013" y="50006"/>
                </a:lnTo>
                <a:cubicBezTo>
                  <a:pt x="100013" y="46077"/>
                  <a:pt x="103227" y="42863"/>
                  <a:pt x="107156" y="42863"/>
                </a:cubicBezTo>
                <a:close/>
                <a:moveTo>
                  <a:pt x="42863" y="107156"/>
                </a:moveTo>
                <a:cubicBezTo>
                  <a:pt x="42863" y="103227"/>
                  <a:pt x="46077" y="100013"/>
                  <a:pt x="50006" y="100013"/>
                </a:cubicBezTo>
                <a:lnTo>
                  <a:pt x="64294" y="100013"/>
                </a:lnTo>
                <a:cubicBezTo>
                  <a:pt x="68223" y="100013"/>
                  <a:pt x="71438" y="103227"/>
                  <a:pt x="71438" y="107156"/>
                </a:cubicBezTo>
                <a:lnTo>
                  <a:pt x="71438" y="121444"/>
                </a:lnTo>
                <a:cubicBezTo>
                  <a:pt x="71438" y="125373"/>
                  <a:pt x="68223" y="128588"/>
                  <a:pt x="64294" y="128588"/>
                </a:cubicBezTo>
                <a:lnTo>
                  <a:pt x="50006" y="128588"/>
                </a:lnTo>
                <a:cubicBezTo>
                  <a:pt x="46077" y="128588"/>
                  <a:pt x="42863" y="125373"/>
                  <a:pt x="42863" y="121444"/>
                </a:cubicBezTo>
                <a:lnTo>
                  <a:pt x="42863" y="107156"/>
                </a:lnTo>
                <a:close/>
                <a:moveTo>
                  <a:pt x="107156" y="100013"/>
                </a:moveTo>
                <a:lnTo>
                  <a:pt x="121444" y="100013"/>
                </a:lnTo>
                <a:cubicBezTo>
                  <a:pt x="125373" y="100013"/>
                  <a:pt x="128588" y="103227"/>
                  <a:pt x="128588" y="107156"/>
                </a:cubicBezTo>
                <a:lnTo>
                  <a:pt x="128588" y="121444"/>
                </a:lnTo>
                <a:cubicBezTo>
                  <a:pt x="128588" y="125373"/>
                  <a:pt x="125373" y="128588"/>
                  <a:pt x="121444" y="128588"/>
                </a:cubicBezTo>
                <a:lnTo>
                  <a:pt x="107156" y="128588"/>
                </a:lnTo>
                <a:cubicBezTo>
                  <a:pt x="103227" y="128588"/>
                  <a:pt x="100013" y="125373"/>
                  <a:pt x="100013" y="121444"/>
                </a:cubicBezTo>
                <a:lnTo>
                  <a:pt x="100013" y="107156"/>
                </a:lnTo>
                <a:cubicBezTo>
                  <a:pt x="100013" y="103227"/>
                  <a:pt x="103227" y="100013"/>
                  <a:pt x="107156" y="100013"/>
                </a:cubicBezTo>
                <a:close/>
              </a:path>
            </a:pathLst>
          </a:custGeom>
          <a:solidFill>
            <a:srgbClr val="3C8082"/>
          </a:solidFill>
          <a:ln/>
        </p:spPr>
      </p:sp>
      <p:sp>
        <p:nvSpPr>
          <p:cNvPr id="16" name="Text 14"/>
          <p:cNvSpPr/>
          <p:nvPr/>
        </p:nvSpPr>
        <p:spPr>
          <a:xfrm>
            <a:off x="4736783" y="4327740"/>
            <a:ext cx="2019300" cy="190500"/>
          </a:xfrm>
          <a:prstGeom prst="rect">
            <a:avLst/>
          </a:prstGeom>
          <a:noFill/>
          <a:ln/>
        </p:spPr>
        <p:txBody>
          <a:bodyPr wrap="square" lIns="0" tIns="0" rIns="0" bIns="0" rtlCol="0" anchor="ctr"/>
          <a:lstStyle/>
          <a:p>
            <a:pPr algn="ctr">
              <a:lnSpc>
                <a:spcPct val="120000"/>
              </a:lnSpc>
            </a:pPr>
            <a:r>
              <a:rPr lang="en-US" sz="1050" dirty="0">
                <a:solidFill>
                  <a:srgbClr val="E8E8E8">
                    <a:alpha val="80000"/>
                  </a:srgbClr>
                </a:solidFill>
                <a:latin typeface="MiSans" pitchFamily="34" charset="0"/>
                <a:ea typeface="MiSans" pitchFamily="34" charset="-122"/>
                <a:cs typeface="MiSans" pitchFamily="34" charset="-120"/>
              </a:rPr>
              <a:t>广泛应用</a:t>
            </a:r>
            <a:endParaRPr lang="en-US" sz="1600" dirty="0"/>
          </a:p>
        </p:txBody>
      </p:sp>
      <p:sp>
        <p:nvSpPr>
          <p:cNvPr id="17" name="Shape 15"/>
          <p:cNvSpPr/>
          <p:nvPr/>
        </p:nvSpPr>
        <p:spPr>
          <a:xfrm>
            <a:off x="392430" y="4834361"/>
            <a:ext cx="6564630" cy="1619250"/>
          </a:xfrm>
          <a:custGeom>
            <a:avLst/>
            <a:gdLst/>
            <a:ahLst/>
            <a:cxnLst/>
            <a:rect l="l" t="t" r="r" b="b"/>
            <a:pathLst>
              <a:path w="6564630" h="1619250">
                <a:moveTo>
                  <a:pt x="0" y="0"/>
                </a:moveTo>
                <a:lnTo>
                  <a:pt x="6564630" y="0"/>
                </a:lnTo>
                <a:lnTo>
                  <a:pt x="6564630" y="1619250"/>
                </a:lnTo>
                <a:lnTo>
                  <a:pt x="0" y="1619250"/>
                </a:lnTo>
                <a:lnTo>
                  <a:pt x="0" y="0"/>
                </a:lnTo>
                <a:close/>
              </a:path>
            </a:pathLst>
          </a:custGeom>
          <a:solidFill>
            <a:srgbClr val="D9A477">
              <a:alpha val="14902"/>
            </a:srgbClr>
          </a:solidFill>
          <a:ln/>
        </p:spPr>
      </p:sp>
      <p:sp>
        <p:nvSpPr>
          <p:cNvPr id="18" name="Shape 16"/>
          <p:cNvSpPr/>
          <p:nvPr/>
        </p:nvSpPr>
        <p:spPr>
          <a:xfrm>
            <a:off x="392430" y="4834361"/>
            <a:ext cx="22860" cy="1619250"/>
          </a:xfrm>
          <a:custGeom>
            <a:avLst/>
            <a:gdLst/>
            <a:ahLst/>
            <a:cxnLst/>
            <a:rect l="l" t="t" r="r" b="b"/>
            <a:pathLst>
              <a:path w="22860" h="1619250">
                <a:moveTo>
                  <a:pt x="0" y="0"/>
                </a:moveTo>
                <a:lnTo>
                  <a:pt x="22860" y="0"/>
                </a:lnTo>
                <a:lnTo>
                  <a:pt x="22860" y="1619250"/>
                </a:lnTo>
                <a:lnTo>
                  <a:pt x="0" y="1619250"/>
                </a:lnTo>
                <a:lnTo>
                  <a:pt x="0" y="0"/>
                </a:lnTo>
                <a:close/>
              </a:path>
            </a:pathLst>
          </a:custGeom>
          <a:solidFill>
            <a:srgbClr val="D9A477"/>
          </a:solidFill>
          <a:ln/>
        </p:spPr>
      </p:sp>
      <p:sp>
        <p:nvSpPr>
          <p:cNvPr id="19" name="Text 17"/>
          <p:cNvSpPr/>
          <p:nvPr/>
        </p:nvSpPr>
        <p:spPr>
          <a:xfrm>
            <a:off x="632460" y="5062961"/>
            <a:ext cx="61912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市场规模与特性</a:t>
            </a:r>
            <a:endParaRPr lang="en-US" sz="1600" dirty="0"/>
          </a:p>
        </p:txBody>
      </p:sp>
      <p:sp>
        <p:nvSpPr>
          <p:cNvPr id="20" name="Text 18"/>
          <p:cNvSpPr/>
          <p:nvPr/>
        </p:nvSpPr>
        <p:spPr>
          <a:xfrm>
            <a:off x="632460" y="5482061"/>
            <a:ext cx="6172200" cy="742950"/>
          </a:xfrm>
          <a:prstGeom prst="rect">
            <a:avLst/>
          </a:prstGeom>
          <a:noFill/>
          <a:ln/>
        </p:spPr>
        <p:txBody>
          <a:bodyPr wrap="square" lIns="0" tIns="0" rIns="0" bIns="0" rtlCol="0" anchor="ctr"/>
          <a:lstStyle/>
          <a:p>
            <a:pPr>
              <a:lnSpc>
                <a:spcPct val="140000"/>
              </a:lnSpc>
            </a:pPr>
            <a:r>
              <a:rPr lang="en-US" sz="1200" dirty="0">
                <a:solidFill>
                  <a:srgbClr val="E8E8E8">
                    <a:alpha val="85000"/>
                  </a:srgbClr>
                </a:solidFill>
                <a:latin typeface="MiSans" pitchFamily="34" charset="0"/>
                <a:ea typeface="MiSans" pitchFamily="34" charset="-122"/>
                <a:cs typeface="MiSans" pitchFamily="34" charset="-120"/>
              </a:rPr>
              <a:t>作为建筑基础设施的标配设备,恒温器市场具有</a:t>
            </a:r>
            <a:r>
              <a:rPr lang="en-US" sz="1200" b="1" dirty="0">
                <a:solidFill>
                  <a:srgbClr val="D9A477"/>
                </a:solidFill>
                <a:latin typeface="MiSans" pitchFamily="34" charset="0"/>
                <a:ea typeface="MiSans" pitchFamily="34" charset="-122"/>
                <a:cs typeface="MiSans" pitchFamily="34" charset="-120"/>
              </a:rPr>
              <a:t>规模巨大但增长缓慢</a:t>
            </a:r>
            <a:r>
              <a:rPr lang="en-US" sz="1200" dirty="0">
                <a:solidFill>
                  <a:srgbClr val="E8E8E8">
                    <a:alpha val="85000"/>
                  </a:srgbClr>
                </a:solidFill>
                <a:latin typeface="MiSans" pitchFamily="34" charset="0"/>
                <a:ea typeface="MiSans" pitchFamily="34" charset="-122"/>
                <a:cs typeface="MiSans" pitchFamily="34" charset="-120"/>
              </a:rPr>
              <a:t>的特点。然而,2010年前的市场长期被工业巨头垄断,产品创新乏力,用户体验滞后,被称为"沉睡的市场"。这一市场格局为后来的颠覆者留下了巨大的创新空间。</a:t>
            </a:r>
            <a:endParaRPr lang="en-US" sz="1600" dirty="0"/>
          </a:p>
        </p:txBody>
      </p:sp>
      <p:sp>
        <p:nvSpPr>
          <p:cNvPr id="21" name="Shape 19"/>
          <p:cNvSpPr/>
          <p:nvPr/>
        </p:nvSpPr>
        <p:spPr>
          <a:xfrm>
            <a:off x="7193280" y="1295400"/>
            <a:ext cx="4621530" cy="5181600"/>
          </a:xfrm>
          <a:custGeom>
            <a:avLst/>
            <a:gdLst/>
            <a:ahLst/>
            <a:cxnLst/>
            <a:rect l="l" t="t" r="r" b="b"/>
            <a:pathLst>
              <a:path w="4621530" h="5181600">
                <a:moveTo>
                  <a:pt x="0" y="0"/>
                </a:moveTo>
                <a:lnTo>
                  <a:pt x="4621530" y="0"/>
                </a:lnTo>
                <a:lnTo>
                  <a:pt x="4621530" y="5181600"/>
                </a:lnTo>
                <a:lnTo>
                  <a:pt x="0" y="5181600"/>
                </a:lnTo>
                <a:lnTo>
                  <a:pt x="0" y="0"/>
                </a:lnTo>
                <a:close/>
              </a:path>
            </a:pathLst>
          </a:custGeom>
          <a:solidFill>
            <a:srgbClr val="6D7275">
              <a:alpha val="14902"/>
            </a:srgbClr>
          </a:solidFill>
          <a:ln/>
        </p:spPr>
      </p:sp>
      <p:sp>
        <p:nvSpPr>
          <p:cNvPr id="22" name="Shape 20"/>
          <p:cNvSpPr/>
          <p:nvPr/>
        </p:nvSpPr>
        <p:spPr>
          <a:xfrm>
            <a:off x="7193280" y="1295400"/>
            <a:ext cx="22860" cy="5181600"/>
          </a:xfrm>
          <a:custGeom>
            <a:avLst/>
            <a:gdLst/>
            <a:ahLst/>
            <a:cxnLst/>
            <a:rect l="l" t="t" r="r" b="b"/>
            <a:pathLst>
              <a:path w="22860" h="5181600">
                <a:moveTo>
                  <a:pt x="0" y="0"/>
                </a:moveTo>
                <a:lnTo>
                  <a:pt x="22860" y="0"/>
                </a:lnTo>
                <a:lnTo>
                  <a:pt x="22860" y="5181600"/>
                </a:lnTo>
                <a:lnTo>
                  <a:pt x="0" y="5181600"/>
                </a:lnTo>
                <a:lnTo>
                  <a:pt x="0" y="0"/>
                </a:lnTo>
                <a:close/>
              </a:path>
            </a:pathLst>
          </a:custGeom>
          <a:solidFill>
            <a:srgbClr val="6D7275"/>
          </a:solidFill>
          <a:ln/>
        </p:spPr>
      </p:sp>
      <p:sp>
        <p:nvSpPr>
          <p:cNvPr id="23" name="Text 21"/>
          <p:cNvSpPr/>
          <p:nvPr/>
        </p:nvSpPr>
        <p:spPr>
          <a:xfrm>
            <a:off x="7433310" y="1524000"/>
            <a:ext cx="42481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2010年前的市场格局</a:t>
            </a:r>
            <a:endParaRPr lang="en-US" sz="1600" dirty="0"/>
          </a:p>
        </p:txBody>
      </p:sp>
      <p:sp>
        <p:nvSpPr>
          <p:cNvPr id="24" name="Text 22"/>
          <p:cNvSpPr/>
          <p:nvPr/>
        </p:nvSpPr>
        <p:spPr>
          <a:xfrm>
            <a:off x="7433310" y="2057400"/>
            <a:ext cx="685800" cy="228600"/>
          </a:xfrm>
          <a:prstGeom prst="rect">
            <a:avLst/>
          </a:prstGeom>
          <a:noFill/>
          <a:ln/>
        </p:spPr>
        <p:txBody>
          <a:bodyPr wrap="square" lIns="0" tIns="0" rIns="0" bIns="0" rtlCol="0" anchor="ctr"/>
          <a:lstStyle/>
          <a:p>
            <a:pPr>
              <a:lnSpc>
                <a:spcPct val="130000"/>
              </a:lnSpc>
            </a:pPr>
            <a:r>
              <a:rPr lang="en-US" sz="1200" b="1" dirty="0">
                <a:solidFill>
                  <a:srgbClr val="E8E8E8">
                    <a:alpha val="90000"/>
                  </a:srgbClr>
                </a:solidFill>
                <a:latin typeface="MiSans" pitchFamily="34" charset="0"/>
                <a:ea typeface="MiSans" pitchFamily="34" charset="-122"/>
                <a:cs typeface="MiSans" pitchFamily="34" charset="-120"/>
              </a:rPr>
              <a:t>巨头垄断</a:t>
            </a:r>
            <a:endParaRPr lang="en-US" sz="1600" dirty="0"/>
          </a:p>
        </p:txBody>
      </p:sp>
      <p:sp>
        <p:nvSpPr>
          <p:cNvPr id="25" name="Text 23"/>
          <p:cNvSpPr/>
          <p:nvPr/>
        </p:nvSpPr>
        <p:spPr>
          <a:xfrm>
            <a:off x="10230416" y="1836345"/>
            <a:ext cx="1525815" cy="381000"/>
          </a:xfrm>
          <a:prstGeom prst="rect">
            <a:avLst/>
          </a:prstGeom>
          <a:noFill/>
          <a:ln/>
        </p:spPr>
        <p:txBody>
          <a:bodyPr wrap="square" lIns="0" tIns="0" rIns="0" bIns="0" rtlCol="0" anchor="ctr"/>
          <a:lstStyle/>
          <a:p>
            <a:pPr>
              <a:lnSpc>
                <a:spcPct val="90000"/>
              </a:lnSpc>
            </a:pPr>
            <a:r>
              <a:rPr lang="en-US" sz="6000" b="1" dirty="0">
                <a:solidFill>
                  <a:srgbClr val="D9A477"/>
                </a:solidFill>
                <a:latin typeface="MiSans" pitchFamily="34" charset="0"/>
                <a:ea typeface="MiSans" pitchFamily="34" charset="-122"/>
                <a:cs typeface="MiSans" pitchFamily="34" charset="-120"/>
              </a:rPr>
              <a:t>70%</a:t>
            </a:r>
            <a:endParaRPr lang="en-US" sz="4400" b="1" dirty="0"/>
          </a:p>
        </p:txBody>
      </p:sp>
      <p:sp>
        <p:nvSpPr>
          <p:cNvPr id="26" name="Shape 24"/>
          <p:cNvSpPr/>
          <p:nvPr/>
        </p:nvSpPr>
        <p:spPr>
          <a:xfrm>
            <a:off x="7433310" y="2476500"/>
            <a:ext cx="4152900" cy="114300"/>
          </a:xfrm>
          <a:custGeom>
            <a:avLst/>
            <a:gdLst/>
            <a:ahLst/>
            <a:cxnLst/>
            <a:rect l="l" t="t" r="r" b="b"/>
            <a:pathLst>
              <a:path w="4152900" h="114300">
                <a:moveTo>
                  <a:pt x="0" y="0"/>
                </a:moveTo>
                <a:lnTo>
                  <a:pt x="4152900" y="0"/>
                </a:lnTo>
                <a:lnTo>
                  <a:pt x="4152900" y="114300"/>
                </a:lnTo>
                <a:lnTo>
                  <a:pt x="0" y="114300"/>
                </a:lnTo>
                <a:lnTo>
                  <a:pt x="0" y="0"/>
                </a:lnTo>
                <a:close/>
              </a:path>
            </a:pathLst>
          </a:custGeom>
          <a:solidFill>
            <a:srgbClr val="1A1D21"/>
          </a:solidFill>
          <a:ln/>
        </p:spPr>
      </p:sp>
      <p:sp>
        <p:nvSpPr>
          <p:cNvPr id="27" name="Shape 25"/>
          <p:cNvSpPr/>
          <p:nvPr/>
        </p:nvSpPr>
        <p:spPr>
          <a:xfrm>
            <a:off x="7433310" y="2476500"/>
            <a:ext cx="2905125" cy="114300"/>
          </a:xfrm>
          <a:custGeom>
            <a:avLst/>
            <a:gdLst/>
            <a:ahLst/>
            <a:cxnLst/>
            <a:rect l="l" t="t" r="r" b="b"/>
            <a:pathLst>
              <a:path w="2905125" h="114300">
                <a:moveTo>
                  <a:pt x="0" y="0"/>
                </a:moveTo>
                <a:lnTo>
                  <a:pt x="2905125" y="0"/>
                </a:lnTo>
                <a:lnTo>
                  <a:pt x="2905125" y="114300"/>
                </a:lnTo>
                <a:lnTo>
                  <a:pt x="0" y="114300"/>
                </a:lnTo>
                <a:lnTo>
                  <a:pt x="0" y="0"/>
                </a:lnTo>
                <a:close/>
              </a:path>
            </a:pathLst>
          </a:custGeom>
          <a:solidFill>
            <a:srgbClr val="D9A477"/>
          </a:solidFill>
          <a:ln/>
        </p:spPr>
      </p:sp>
      <p:sp>
        <p:nvSpPr>
          <p:cNvPr id="28" name="Text 26"/>
          <p:cNvSpPr/>
          <p:nvPr/>
        </p:nvSpPr>
        <p:spPr>
          <a:xfrm>
            <a:off x="7433310" y="2705100"/>
            <a:ext cx="4219575" cy="381000"/>
          </a:xfrm>
          <a:prstGeom prst="rect">
            <a:avLst/>
          </a:prstGeom>
          <a:noFill/>
          <a:ln/>
        </p:spPr>
        <p:txBody>
          <a:bodyPr wrap="square" lIns="0" tIns="0" rIns="0" bIns="0" rtlCol="0" anchor="ctr"/>
          <a:lstStyle/>
          <a:p>
            <a:pPr>
              <a:lnSpc>
                <a:spcPct val="120000"/>
              </a:lnSpc>
            </a:pPr>
            <a:r>
              <a:rPr lang="en-US" sz="1050" dirty="0">
                <a:solidFill>
                  <a:srgbClr val="E8E8E8">
                    <a:alpha val="70000"/>
                  </a:srgbClr>
                </a:solidFill>
                <a:latin typeface="MiSans" pitchFamily="34" charset="0"/>
                <a:ea typeface="MiSans" pitchFamily="34" charset="-122"/>
                <a:cs typeface="MiSans" pitchFamily="34" charset="-120"/>
              </a:rPr>
              <a:t>霍尼韦尔(Honeywell)、西门子(SIEMENS)等工业巨头占据约70%市场份额</a:t>
            </a:r>
            <a:endParaRPr lang="en-US" sz="1600" dirty="0"/>
          </a:p>
        </p:txBody>
      </p:sp>
      <p:sp>
        <p:nvSpPr>
          <p:cNvPr id="29" name="Shape 27"/>
          <p:cNvSpPr/>
          <p:nvPr/>
        </p:nvSpPr>
        <p:spPr>
          <a:xfrm>
            <a:off x="7433310" y="339090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9A477"/>
          </a:solidFill>
          <a:ln/>
        </p:spPr>
      </p:sp>
      <p:sp>
        <p:nvSpPr>
          <p:cNvPr id="30" name="Text 28"/>
          <p:cNvSpPr/>
          <p:nvPr/>
        </p:nvSpPr>
        <p:spPr>
          <a:xfrm>
            <a:off x="7623810" y="3314700"/>
            <a:ext cx="23431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市场主导者明确</a:t>
            </a:r>
            <a:endParaRPr lang="en-US" sz="1600" dirty="0"/>
          </a:p>
        </p:txBody>
      </p:sp>
      <p:sp>
        <p:nvSpPr>
          <p:cNvPr id="31" name="Text 29"/>
          <p:cNvSpPr/>
          <p:nvPr/>
        </p:nvSpPr>
        <p:spPr>
          <a:xfrm>
            <a:off x="7623810" y="3581400"/>
            <a:ext cx="2333625" cy="190500"/>
          </a:xfrm>
          <a:prstGeom prst="rect">
            <a:avLst/>
          </a:prstGeom>
          <a:noFill/>
          <a:ln/>
        </p:spPr>
        <p:txBody>
          <a:bodyPr wrap="square" lIns="0" tIns="0" rIns="0" bIns="0" rtlCol="0" anchor="ctr"/>
          <a:lstStyle/>
          <a:p>
            <a:pPr>
              <a:lnSpc>
                <a:spcPct val="120000"/>
              </a:lnSpc>
            </a:pPr>
            <a:r>
              <a:rPr lang="en-US" sz="1050" dirty="0">
                <a:solidFill>
                  <a:srgbClr val="E8E8E8">
                    <a:alpha val="70000"/>
                  </a:srgbClr>
                </a:solidFill>
                <a:latin typeface="MiSans" pitchFamily="34" charset="0"/>
                <a:ea typeface="MiSans" pitchFamily="34" charset="-122"/>
                <a:cs typeface="MiSans" pitchFamily="34" charset="-120"/>
              </a:rPr>
              <a:t>少数几家传统企业控制行业标准与渠道</a:t>
            </a:r>
            <a:endParaRPr lang="en-US" sz="1600" dirty="0"/>
          </a:p>
        </p:txBody>
      </p:sp>
      <p:sp>
        <p:nvSpPr>
          <p:cNvPr id="32" name="Shape 30"/>
          <p:cNvSpPr/>
          <p:nvPr/>
        </p:nvSpPr>
        <p:spPr>
          <a:xfrm>
            <a:off x="7433310" y="400050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9A477"/>
          </a:solidFill>
          <a:ln/>
        </p:spPr>
      </p:sp>
      <p:sp>
        <p:nvSpPr>
          <p:cNvPr id="33" name="Text 31"/>
          <p:cNvSpPr/>
          <p:nvPr/>
        </p:nvSpPr>
        <p:spPr>
          <a:xfrm>
            <a:off x="7623810" y="3924300"/>
            <a:ext cx="23812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产品功能单一</a:t>
            </a:r>
            <a:endParaRPr lang="en-US" sz="1600" dirty="0"/>
          </a:p>
        </p:txBody>
      </p:sp>
      <p:sp>
        <p:nvSpPr>
          <p:cNvPr id="34" name="Text 32"/>
          <p:cNvSpPr/>
          <p:nvPr/>
        </p:nvSpPr>
        <p:spPr>
          <a:xfrm>
            <a:off x="7623810" y="4191000"/>
            <a:ext cx="2371725" cy="190500"/>
          </a:xfrm>
          <a:prstGeom prst="rect">
            <a:avLst/>
          </a:prstGeom>
          <a:noFill/>
          <a:ln/>
        </p:spPr>
        <p:txBody>
          <a:bodyPr wrap="square" lIns="0" tIns="0" rIns="0" bIns="0" rtlCol="0" anchor="ctr"/>
          <a:lstStyle/>
          <a:p>
            <a:pPr>
              <a:lnSpc>
                <a:spcPct val="120000"/>
              </a:lnSpc>
            </a:pPr>
            <a:r>
              <a:rPr lang="en-US" sz="1050" dirty="0">
                <a:solidFill>
                  <a:srgbClr val="E8E8E8">
                    <a:alpha val="70000"/>
                  </a:srgbClr>
                </a:solidFill>
                <a:latin typeface="MiSans" pitchFamily="34" charset="0"/>
                <a:ea typeface="MiSans" pitchFamily="34" charset="-122"/>
                <a:cs typeface="MiSans" pitchFamily="34" charset="-120"/>
              </a:rPr>
              <a:t>仅限于基础的温度控制,缺乏智能化特性</a:t>
            </a:r>
            <a:endParaRPr lang="en-US" sz="1600" dirty="0"/>
          </a:p>
        </p:txBody>
      </p:sp>
      <p:sp>
        <p:nvSpPr>
          <p:cNvPr id="35" name="Shape 33"/>
          <p:cNvSpPr/>
          <p:nvPr/>
        </p:nvSpPr>
        <p:spPr>
          <a:xfrm>
            <a:off x="7433310" y="461010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9A477"/>
          </a:solidFill>
          <a:ln/>
        </p:spPr>
      </p:sp>
      <p:sp>
        <p:nvSpPr>
          <p:cNvPr id="36" name="Text 34"/>
          <p:cNvSpPr/>
          <p:nvPr/>
        </p:nvSpPr>
        <p:spPr>
          <a:xfrm>
            <a:off x="7623810" y="4533900"/>
            <a:ext cx="2276475"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用户体验不佳</a:t>
            </a:r>
            <a:endParaRPr lang="en-US" sz="1600" dirty="0"/>
          </a:p>
        </p:txBody>
      </p:sp>
      <p:sp>
        <p:nvSpPr>
          <p:cNvPr id="37" name="Text 35"/>
          <p:cNvSpPr/>
          <p:nvPr/>
        </p:nvSpPr>
        <p:spPr>
          <a:xfrm>
            <a:off x="7623810" y="4800600"/>
            <a:ext cx="2266950" cy="190500"/>
          </a:xfrm>
          <a:prstGeom prst="rect">
            <a:avLst/>
          </a:prstGeom>
          <a:noFill/>
          <a:ln/>
        </p:spPr>
        <p:txBody>
          <a:bodyPr wrap="square" lIns="0" tIns="0" rIns="0" bIns="0" rtlCol="0" anchor="ctr"/>
          <a:lstStyle/>
          <a:p>
            <a:pPr>
              <a:lnSpc>
                <a:spcPct val="120000"/>
              </a:lnSpc>
            </a:pPr>
            <a:r>
              <a:rPr lang="en-US" sz="1050" dirty="0">
                <a:solidFill>
                  <a:srgbClr val="E8E8E8">
                    <a:alpha val="70000"/>
                  </a:srgbClr>
                </a:solidFill>
                <a:latin typeface="MiSans" pitchFamily="34" charset="0"/>
                <a:ea typeface="MiSans" pitchFamily="34" charset="-122"/>
                <a:cs typeface="MiSans" pitchFamily="34" charset="-120"/>
              </a:rPr>
              <a:t>操作复杂,需要手动调节,界面设计落后</a:t>
            </a:r>
            <a:endParaRPr lang="en-US" sz="1600" dirty="0"/>
          </a:p>
        </p:txBody>
      </p:sp>
      <p:sp>
        <p:nvSpPr>
          <p:cNvPr id="38" name="Shape 36"/>
          <p:cNvSpPr/>
          <p:nvPr/>
        </p:nvSpPr>
        <p:spPr>
          <a:xfrm>
            <a:off x="7433310" y="521970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9A477"/>
          </a:solidFill>
          <a:ln/>
        </p:spPr>
      </p:sp>
      <p:sp>
        <p:nvSpPr>
          <p:cNvPr id="39" name="Text 37"/>
          <p:cNvSpPr/>
          <p:nvPr/>
        </p:nvSpPr>
        <p:spPr>
          <a:xfrm>
            <a:off x="7623810" y="5143500"/>
            <a:ext cx="23812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创新动力不足</a:t>
            </a:r>
            <a:endParaRPr lang="en-US" sz="1600" dirty="0"/>
          </a:p>
        </p:txBody>
      </p:sp>
      <p:sp>
        <p:nvSpPr>
          <p:cNvPr id="40" name="Text 38"/>
          <p:cNvSpPr/>
          <p:nvPr/>
        </p:nvSpPr>
        <p:spPr>
          <a:xfrm>
            <a:off x="7623810" y="5410200"/>
            <a:ext cx="2371725" cy="190500"/>
          </a:xfrm>
          <a:prstGeom prst="rect">
            <a:avLst/>
          </a:prstGeom>
          <a:noFill/>
          <a:ln/>
        </p:spPr>
        <p:txBody>
          <a:bodyPr wrap="square" lIns="0" tIns="0" rIns="0" bIns="0" rtlCol="0" anchor="ctr"/>
          <a:lstStyle/>
          <a:p>
            <a:pPr>
              <a:lnSpc>
                <a:spcPct val="120000"/>
              </a:lnSpc>
            </a:pPr>
            <a:r>
              <a:rPr lang="en-US" sz="1050" dirty="0">
                <a:solidFill>
                  <a:srgbClr val="E8E8E8">
                    <a:alpha val="70000"/>
                  </a:srgbClr>
                </a:solidFill>
                <a:latin typeface="MiSans" pitchFamily="34" charset="0"/>
                <a:ea typeface="MiSans" pitchFamily="34" charset="-122"/>
                <a:cs typeface="MiSans" pitchFamily="34" charset="-120"/>
              </a:rPr>
              <a:t>行业领导者满足于现状,缺乏突破性创新</a:t>
            </a:r>
            <a:endParaRPr lang="en-US" sz="1600" dirty="0"/>
          </a:p>
        </p:txBody>
      </p:sp>
      <p:pic>
        <p:nvPicPr>
          <p:cNvPr id="41" name="图片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928" y="1815459"/>
            <a:ext cx="2026977" cy="1824991"/>
          </a:xfrm>
          <a:prstGeom prst="rect">
            <a:avLst/>
          </a:prstGeom>
        </p:spPr>
      </p:pic>
      <p:pic>
        <p:nvPicPr>
          <p:cNvPr id="43" name="图片 42"/>
          <p:cNvPicPr>
            <a:picLocks noChangeAspect="1"/>
          </p:cNvPicPr>
          <p:nvPr/>
        </p:nvPicPr>
        <p:blipFill>
          <a:blip r:embed="rId4"/>
          <a:stretch>
            <a:fillRect/>
          </a:stretch>
        </p:blipFill>
        <p:spPr>
          <a:xfrm>
            <a:off x="10059111" y="3442955"/>
            <a:ext cx="1611992" cy="860640"/>
          </a:xfrm>
          <a:prstGeom prst="rect">
            <a:avLst/>
          </a:prstGeom>
        </p:spPr>
      </p:pic>
      <p:pic>
        <p:nvPicPr>
          <p:cNvPr id="44" name="图片 43"/>
          <p:cNvPicPr>
            <a:picLocks noChangeAspect="1"/>
          </p:cNvPicPr>
          <p:nvPr/>
        </p:nvPicPr>
        <p:blipFill>
          <a:blip r:embed="rId5"/>
          <a:stretch>
            <a:fillRect/>
          </a:stretch>
        </p:blipFill>
        <p:spPr>
          <a:xfrm>
            <a:off x="10079461" y="4496649"/>
            <a:ext cx="1591642" cy="959570"/>
          </a:xfrm>
          <a:prstGeom prst="rect">
            <a:avLst/>
          </a:prstGeom>
        </p:spPr>
      </p:pic>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cms.dandad.org/9864e3146231056516a317a7ee50bf8b0b6bfb16.jpg"/>
          <p:cNvPicPr>
            <a:picLocks noChangeAspect="1"/>
          </p:cNvPicPr>
          <p:nvPr/>
        </p:nvPicPr>
        <p:blipFill>
          <a:blip r:embed="rId3">
            <a:alphaModFix amt="25000"/>
          </a:blip>
          <a:srcRect t="12500" b="1250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8000"/>
                </a:srgbClr>
              </a:gs>
              <a:gs pos="50000">
                <a:srgbClr val="1A1D21">
                  <a:alpha val="90000"/>
                </a:srgbClr>
              </a:gs>
              <a:gs pos="100000">
                <a:srgbClr val="D9A477">
                  <a:alpha val="30000"/>
                </a:srgbClr>
              </a:gs>
            </a:gsLst>
            <a:lin ang="0" scaled="1"/>
          </a:gradFill>
          <a:ln/>
        </p:spPr>
      </p:sp>
      <p:sp>
        <p:nvSpPr>
          <p:cNvPr id="4" name="Text 1"/>
          <p:cNvSpPr/>
          <p:nvPr/>
        </p:nvSpPr>
        <p:spPr>
          <a:xfrm>
            <a:off x="8855154" y="2476500"/>
            <a:ext cx="1352550" cy="266700"/>
          </a:xfrm>
          <a:prstGeom prst="rect">
            <a:avLst/>
          </a:prstGeom>
          <a:noFill/>
          <a:ln/>
        </p:spPr>
        <p:txBody>
          <a:bodyPr wrap="square" lIns="0" tIns="0" rIns="0" bIns="0" rtlCol="0" anchor="ctr"/>
          <a:lstStyle/>
          <a:p>
            <a:pPr algn="r">
              <a:lnSpc>
                <a:spcPct val="120000"/>
              </a:lnSpc>
            </a:pPr>
            <a:r>
              <a:rPr lang="en-US" sz="1500" b="1" kern="0" spc="450" dirty="0">
                <a:solidFill>
                  <a:srgbClr val="D9A477"/>
                </a:solidFill>
                <a:latin typeface="MiSans" pitchFamily="34" charset="0"/>
                <a:ea typeface="MiSans" pitchFamily="34" charset="-122"/>
                <a:cs typeface="MiSans" pitchFamily="34" charset="-120"/>
              </a:rPr>
              <a:t>Chapter</a:t>
            </a:r>
            <a:endParaRPr lang="en-US" sz="1600" dirty="0"/>
          </a:p>
        </p:txBody>
      </p:sp>
      <p:sp>
        <p:nvSpPr>
          <p:cNvPr id="5" name="Text 2"/>
          <p:cNvSpPr/>
          <p:nvPr/>
        </p:nvSpPr>
        <p:spPr>
          <a:xfrm>
            <a:off x="9751695" y="1607820"/>
            <a:ext cx="2057400" cy="1219200"/>
          </a:xfrm>
          <a:prstGeom prst="rect">
            <a:avLst/>
          </a:prstGeom>
          <a:noFill/>
          <a:ln/>
        </p:spPr>
        <p:txBody>
          <a:bodyPr wrap="square" lIns="0" tIns="0" rIns="0" bIns="0" rtlCol="0" anchor="ctr"/>
          <a:lstStyle/>
          <a:p>
            <a:pPr algn="r">
              <a:lnSpc>
                <a:spcPct val="80000"/>
              </a:lnSpc>
            </a:pPr>
            <a:r>
              <a:rPr lang="en-US" sz="9600" b="1" dirty="0">
                <a:solidFill>
                  <a:srgbClr val="D9A477"/>
                </a:solidFill>
                <a:latin typeface="MiSans" pitchFamily="34" charset="0"/>
                <a:ea typeface="MiSans" pitchFamily="34" charset="-122"/>
                <a:cs typeface="MiSans" pitchFamily="34" charset="-120"/>
              </a:rPr>
              <a:t>02</a:t>
            </a:r>
            <a:endParaRPr lang="en-US" sz="1600" dirty="0"/>
          </a:p>
        </p:txBody>
      </p:sp>
      <p:sp>
        <p:nvSpPr>
          <p:cNvPr id="6" name="Text 3"/>
          <p:cNvSpPr/>
          <p:nvPr/>
        </p:nvSpPr>
        <p:spPr>
          <a:xfrm>
            <a:off x="4648200" y="3284220"/>
            <a:ext cx="7162800" cy="666750"/>
          </a:xfrm>
          <a:prstGeom prst="rect">
            <a:avLst/>
          </a:prstGeom>
          <a:noFill/>
          <a:ln/>
        </p:spPr>
        <p:txBody>
          <a:bodyPr wrap="square" lIns="0" tIns="0" rIns="0" bIns="0" rtlCol="0" anchor="ctr"/>
          <a:lstStyle/>
          <a:p>
            <a:pPr algn="r">
              <a:lnSpc>
                <a:spcPct val="90000"/>
              </a:lnSpc>
            </a:pPr>
            <a:r>
              <a:rPr lang="en-US" sz="4800" b="1" dirty="0">
                <a:solidFill>
                  <a:srgbClr val="E8E8E8"/>
                </a:solidFill>
                <a:latin typeface="MiSans" pitchFamily="34" charset="0"/>
                <a:ea typeface="MiSans" pitchFamily="34" charset="-122"/>
                <a:cs typeface="MiSans" pitchFamily="34" charset="-120"/>
              </a:rPr>
              <a:t>产品破局</a:t>
            </a:r>
            <a:endParaRPr lang="en-US" sz="1600" dirty="0"/>
          </a:p>
        </p:txBody>
      </p:sp>
      <p:sp>
        <p:nvSpPr>
          <p:cNvPr id="7" name="Shape 4"/>
          <p:cNvSpPr/>
          <p:nvPr/>
        </p:nvSpPr>
        <p:spPr>
          <a:xfrm>
            <a:off x="10287000" y="4183380"/>
            <a:ext cx="1524000" cy="19050"/>
          </a:xfrm>
          <a:custGeom>
            <a:avLst/>
            <a:gdLst/>
            <a:ahLst/>
            <a:cxnLst/>
            <a:rect l="l" t="t" r="r" b="b"/>
            <a:pathLst>
              <a:path w="1524000" h="19050">
                <a:moveTo>
                  <a:pt x="0" y="0"/>
                </a:moveTo>
                <a:lnTo>
                  <a:pt x="1524000" y="0"/>
                </a:lnTo>
                <a:lnTo>
                  <a:pt x="1524000" y="19050"/>
                </a:lnTo>
                <a:lnTo>
                  <a:pt x="0" y="19050"/>
                </a:lnTo>
                <a:lnTo>
                  <a:pt x="0" y="0"/>
                </a:lnTo>
                <a:close/>
              </a:path>
            </a:pathLst>
          </a:custGeom>
          <a:solidFill>
            <a:srgbClr val="3C8082"/>
          </a:solidFill>
          <a:ln/>
        </p:spPr>
      </p:sp>
      <p:sp>
        <p:nvSpPr>
          <p:cNvPr id="8" name="Text 5"/>
          <p:cNvSpPr/>
          <p:nvPr/>
        </p:nvSpPr>
        <p:spPr>
          <a:xfrm>
            <a:off x="4838700" y="4507230"/>
            <a:ext cx="6972300" cy="742950"/>
          </a:xfrm>
          <a:prstGeom prst="rect">
            <a:avLst/>
          </a:prstGeom>
          <a:noFill/>
          <a:ln/>
        </p:spPr>
        <p:txBody>
          <a:bodyPr wrap="square" lIns="0" tIns="0" rIns="0" bIns="0" rtlCol="0" anchor="ctr"/>
          <a:lstStyle/>
          <a:p>
            <a:pPr algn="r">
              <a:lnSpc>
                <a:spcPct val="140000"/>
              </a:lnSpc>
            </a:pPr>
            <a:r>
              <a:rPr lang="en-US" sz="1800" dirty="0">
                <a:solidFill>
                  <a:srgbClr val="E8E8E8">
                    <a:alpha val="80000"/>
                  </a:srgbClr>
                </a:solidFill>
                <a:latin typeface="MiSans" pitchFamily="34" charset="0"/>
                <a:ea typeface="MiSans" pitchFamily="34" charset="-122"/>
                <a:cs typeface="MiSans" pitchFamily="34" charset="-120"/>
              </a:rPr>
              <a:t>重新定义恒温器的产品形态</a:t>
            </a:r>
            <a:endParaRPr lang="en-US" sz="1600" dirty="0"/>
          </a:p>
          <a:p>
            <a:pPr algn="r">
              <a:lnSpc>
                <a:spcPct val="140000"/>
              </a:lnSpc>
            </a:pPr>
            <a:r>
              <a:rPr lang="en-US" sz="1800" dirty="0">
                <a:solidFill>
                  <a:srgbClr val="E8E8E8">
                    <a:alpha val="80000"/>
                  </a:srgbClr>
                </a:solidFill>
                <a:latin typeface="MiSans" pitchFamily="34" charset="0"/>
                <a:ea typeface="MiSans" pitchFamily="34" charset="-122"/>
                <a:cs typeface="MiSans" pitchFamily="34" charset="-120"/>
              </a:rPr>
              <a:t>三大突破性创新重塑行业标准</a:t>
            </a:r>
            <a:endParaRPr lang="en-US" sz="1600"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3701" y="1195844"/>
            <a:ext cx="4643237" cy="186851"/>
          </a:xfrm>
          <a:prstGeom prst="rect">
            <a:avLst/>
          </a:prstGeom>
          <a:noFill/>
          <a:ln/>
        </p:spPr>
        <p:txBody>
          <a:bodyPr wrap="square" lIns="0" tIns="0" rIns="0" bIns="0" rtlCol="0" anchor="ctr"/>
          <a:lstStyle/>
          <a:p>
            <a:pPr>
              <a:lnSpc>
                <a:spcPct val="120000"/>
              </a:lnSpc>
            </a:pPr>
            <a:r>
              <a:rPr lang="en-US" sz="1030" b="1" kern="0" spc="206" dirty="0">
                <a:solidFill>
                  <a:srgbClr val="D9A477"/>
                </a:solidFill>
                <a:latin typeface="MiSans" pitchFamily="34" charset="0"/>
                <a:ea typeface="MiSans" pitchFamily="34" charset="-122"/>
                <a:cs typeface="MiSans" pitchFamily="34" charset="-120"/>
              </a:rPr>
              <a:t>Product Innovation</a:t>
            </a:r>
            <a:endParaRPr lang="en-US" sz="1600" dirty="0"/>
          </a:p>
        </p:txBody>
      </p:sp>
      <p:sp>
        <p:nvSpPr>
          <p:cNvPr id="3" name="Text 1"/>
          <p:cNvSpPr/>
          <p:nvPr/>
        </p:nvSpPr>
        <p:spPr>
          <a:xfrm>
            <a:off x="373701" y="1457434"/>
            <a:ext cx="4746005" cy="373701"/>
          </a:xfrm>
          <a:prstGeom prst="rect">
            <a:avLst/>
          </a:prstGeom>
          <a:noFill/>
          <a:ln/>
        </p:spPr>
        <p:txBody>
          <a:bodyPr wrap="square" lIns="0" tIns="0" rIns="0" bIns="0" rtlCol="0" anchor="ctr"/>
          <a:lstStyle/>
          <a:p>
            <a:pPr>
              <a:lnSpc>
                <a:spcPct val="90000"/>
              </a:lnSpc>
            </a:pPr>
            <a:r>
              <a:rPr lang="en-US" sz="2648" b="1" dirty="0">
                <a:solidFill>
                  <a:srgbClr val="E8E8E8"/>
                </a:solidFill>
                <a:latin typeface="MiSans" pitchFamily="34" charset="0"/>
                <a:ea typeface="MiSans" pitchFamily="34" charset="-122"/>
                <a:cs typeface="MiSans" pitchFamily="34" charset="-120"/>
              </a:rPr>
              <a:t>Nest的三大突破性创新</a:t>
            </a:r>
            <a:endParaRPr lang="en-US" sz="1600" dirty="0"/>
          </a:p>
        </p:txBody>
      </p:sp>
      <p:pic>
        <p:nvPicPr>
          <p:cNvPr id="4" name="Image 0" descr="https://kimi-web-img.moonshot.cn/img/images.squarespace-cdn.com/b193d77fcdcdf475a29999a0b6c9cdd9e64e12dc.jpg"/>
          <p:cNvPicPr>
            <a:picLocks noChangeAspect="1"/>
          </p:cNvPicPr>
          <p:nvPr/>
        </p:nvPicPr>
        <p:blipFill>
          <a:blip r:embed="rId3"/>
          <a:srcRect l="790" r="790"/>
          <a:stretch/>
        </p:blipFill>
        <p:spPr>
          <a:xfrm>
            <a:off x="373701" y="2017986"/>
            <a:ext cx="4577839" cy="2615908"/>
          </a:xfrm>
          <a:prstGeom prst="roundRect">
            <a:avLst>
              <a:gd name="adj" fmla="val 0"/>
            </a:avLst>
          </a:prstGeom>
        </p:spPr>
      </p:pic>
      <p:sp>
        <p:nvSpPr>
          <p:cNvPr id="5" name="Shape 2"/>
          <p:cNvSpPr/>
          <p:nvPr/>
        </p:nvSpPr>
        <p:spPr>
          <a:xfrm>
            <a:off x="384912" y="4820745"/>
            <a:ext cx="4570365" cy="840828"/>
          </a:xfrm>
          <a:custGeom>
            <a:avLst/>
            <a:gdLst/>
            <a:ahLst/>
            <a:cxnLst/>
            <a:rect l="l" t="t" r="r" b="b"/>
            <a:pathLst>
              <a:path w="4570365" h="840828">
                <a:moveTo>
                  <a:pt x="0" y="0"/>
                </a:moveTo>
                <a:lnTo>
                  <a:pt x="4570365" y="0"/>
                </a:lnTo>
                <a:lnTo>
                  <a:pt x="4570365" y="840828"/>
                </a:lnTo>
                <a:lnTo>
                  <a:pt x="0" y="840828"/>
                </a:lnTo>
                <a:lnTo>
                  <a:pt x="0" y="0"/>
                </a:lnTo>
                <a:close/>
              </a:path>
            </a:pathLst>
          </a:custGeom>
          <a:solidFill>
            <a:srgbClr val="3C8082">
              <a:alpha val="14902"/>
            </a:srgbClr>
          </a:solidFill>
          <a:ln/>
        </p:spPr>
      </p:sp>
      <p:sp>
        <p:nvSpPr>
          <p:cNvPr id="6" name="Shape 3"/>
          <p:cNvSpPr/>
          <p:nvPr/>
        </p:nvSpPr>
        <p:spPr>
          <a:xfrm>
            <a:off x="384912" y="4820745"/>
            <a:ext cx="22422" cy="840828"/>
          </a:xfrm>
          <a:custGeom>
            <a:avLst/>
            <a:gdLst/>
            <a:ahLst/>
            <a:cxnLst/>
            <a:rect l="l" t="t" r="r" b="b"/>
            <a:pathLst>
              <a:path w="22422" h="840828">
                <a:moveTo>
                  <a:pt x="0" y="0"/>
                </a:moveTo>
                <a:lnTo>
                  <a:pt x="22422" y="0"/>
                </a:lnTo>
                <a:lnTo>
                  <a:pt x="22422" y="840828"/>
                </a:lnTo>
                <a:lnTo>
                  <a:pt x="0" y="840828"/>
                </a:lnTo>
                <a:lnTo>
                  <a:pt x="0" y="0"/>
                </a:lnTo>
                <a:close/>
              </a:path>
            </a:pathLst>
          </a:custGeom>
          <a:solidFill>
            <a:srgbClr val="3C8082"/>
          </a:solidFill>
          <a:ln/>
        </p:spPr>
      </p:sp>
      <p:sp>
        <p:nvSpPr>
          <p:cNvPr id="7" name="Text 4"/>
          <p:cNvSpPr/>
          <p:nvPr/>
        </p:nvSpPr>
        <p:spPr>
          <a:xfrm>
            <a:off x="545604" y="4970225"/>
            <a:ext cx="4334933" cy="242906"/>
          </a:xfrm>
          <a:prstGeom prst="rect">
            <a:avLst/>
          </a:prstGeom>
          <a:noFill/>
          <a:ln/>
        </p:spPr>
        <p:txBody>
          <a:bodyPr wrap="square" lIns="0" tIns="0" rIns="0" bIns="0" rtlCol="0" anchor="ctr"/>
          <a:lstStyle/>
          <a:p>
            <a:pPr>
              <a:lnSpc>
                <a:spcPct val="140000"/>
              </a:lnSpc>
            </a:pPr>
            <a:r>
              <a:rPr lang="en-US" sz="1177" b="1" dirty="0">
                <a:solidFill>
                  <a:srgbClr val="D9A477"/>
                </a:solidFill>
                <a:latin typeface="MiSans" pitchFamily="34" charset="0"/>
                <a:ea typeface="MiSans" pitchFamily="34" charset="-122"/>
                <a:cs typeface="MiSans" pitchFamily="34" charset="-120"/>
              </a:rPr>
              <a:t>用户评价:</a:t>
            </a:r>
            <a:r>
              <a:rPr lang="en-US" sz="1177" dirty="0">
                <a:solidFill>
                  <a:srgbClr val="E8E8E8">
                    <a:alpha val="85000"/>
                  </a:srgbClr>
                </a:solidFill>
                <a:latin typeface="MiSans" pitchFamily="34" charset="0"/>
                <a:ea typeface="MiSans" pitchFamily="34" charset="-122"/>
                <a:cs typeface="MiSans" pitchFamily="34" charset="-120"/>
              </a:rPr>
              <a:t> "终于不用每天手动调温度了,它比我更懂我的习惯。"</a:t>
            </a:r>
            <a:endParaRPr lang="en-US" sz="1600" dirty="0"/>
          </a:p>
        </p:txBody>
      </p:sp>
      <p:sp>
        <p:nvSpPr>
          <p:cNvPr id="8" name="Text 5"/>
          <p:cNvSpPr/>
          <p:nvPr/>
        </p:nvSpPr>
        <p:spPr>
          <a:xfrm>
            <a:off x="480206" y="5325241"/>
            <a:ext cx="4325591" cy="186851"/>
          </a:xfrm>
          <a:prstGeom prst="rect">
            <a:avLst/>
          </a:prstGeom>
          <a:noFill/>
          <a:ln/>
        </p:spPr>
        <p:txBody>
          <a:bodyPr wrap="square" lIns="0" tIns="0" rIns="0" bIns="0" rtlCol="0" anchor="ctr"/>
          <a:lstStyle/>
          <a:p>
            <a:pPr algn="r">
              <a:lnSpc>
                <a:spcPct val="120000"/>
              </a:lnSpc>
            </a:pPr>
            <a:r>
              <a:rPr lang="en-US" sz="1030" dirty="0">
                <a:solidFill>
                  <a:srgbClr val="E8E8E8">
                    <a:alpha val="60000"/>
                  </a:srgbClr>
                </a:solidFill>
                <a:latin typeface="MiSans" pitchFamily="34" charset="0"/>
                <a:ea typeface="MiSans" pitchFamily="34" charset="-122"/>
                <a:cs typeface="MiSans" pitchFamily="34" charset="-120"/>
              </a:rPr>
              <a:t>—— 科技博客读者</a:t>
            </a:r>
            <a:endParaRPr lang="en-US" sz="1600" dirty="0"/>
          </a:p>
        </p:txBody>
      </p:sp>
      <p:sp>
        <p:nvSpPr>
          <p:cNvPr id="9" name="Shape 6"/>
          <p:cNvSpPr/>
          <p:nvPr/>
        </p:nvSpPr>
        <p:spPr>
          <a:xfrm>
            <a:off x="5186505" y="373701"/>
            <a:ext cx="6635064" cy="1681655"/>
          </a:xfrm>
          <a:custGeom>
            <a:avLst/>
            <a:gdLst/>
            <a:ahLst/>
            <a:cxnLst/>
            <a:rect l="l" t="t" r="r" b="b"/>
            <a:pathLst>
              <a:path w="6635064" h="1681655">
                <a:moveTo>
                  <a:pt x="0" y="0"/>
                </a:moveTo>
                <a:lnTo>
                  <a:pt x="6635064" y="0"/>
                </a:lnTo>
                <a:lnTo>
                  <a:pt x="6635064" y="1681655"/>
                </a:lnTo>
                <a:lnTo>
                  <a:pt x="0" y="1681655"/>
                </a:lnTo>
                <a:lnTo>
                  <a:pt x="0" y="0"/>
                </a:lnTo>
                <a:close/>
              </a:path>
            </a:pathLst>
          </a:custGeom>
          <a:solidFill>
            <a:srgbClr val="3C8082">
              <a:alpha val="14902"/>
            </a:srgbClr>
          </a:solidFill>
          <a:ln/>
        </p:spPr>
      </p:sp>
      <p:sp>
        <p:nvSpPr>
          <p:cNvPr id="10" name="Shape 7"/>
          <p:cNvSpPr/>
          <p:nvPr/>
        </p:nvSpPr>
        <p:spPr>
          <a:xfrm>
            <a:off x="5186505" y="373701"/>
            <a:ext cx="22422" cy="1681655"/>
          </a:xfrm>
          <a:custGeom>
            <a:avLst/>
            <a:gdLst/>
            <a:ahLst/>
            <a:cxnLst/>
            <a:rect l="l" t="t" r="r" b="b"/>
            <a:pathLst>
              <a:path w="22422" h="1681655">
                <a:moveTo>
                  <a:pt x="0" y="0"/>
                </a:moveTo>
                <a:lnTo>
                  <a:pt x="22422" y="0"/>
                </a:lnTo>
                <a:lnTo>
                  <a:pt x="22422" y="1681655"/>
                </a:lnTo>
                <a:lnTo>
                  <a:pt x="0" y="1681655"/>
                </a:lnTo>
                <a:lnTo>
                  <a:pt x="0" y="0"/>
                </a:lnTo>
                <a:close/>
              </a:path>
            </a:pathLst>
          </a:custGeom>
          <a:solidFill>
            <a:srgbClr val="3C8082"/>
          </a:solidFill>
          <a:ln/>
        </p:spPr>
      </p:sp>
      <p:sp>
        <p:nvSpPr>
          <p:cNvPr id="11" name="Shape 8"/>
          <p:cNvSpPr/>
          <p:nvPr/>
        </p:nvSpPr>
        <p:spPr>
          <a:xfrm>
            <a:off x="5384567" y="560552"/>
            <a:ext cx="523182" cy="523182"/>
          </a:xfrm>
          <a:custGeom>
            <a:avLst/>
            <a:gdLst/>
            <a:ahLst/>
            <a:cxnLst/>
            <a:rect l="l" t="t" r="r" b="b"/>
            <a:pathLst>
              <a:path w="523182" h="523182">
                <a:moveTo>
                  <a:pt x="0" y="0"/>
                </a:moveTo>
                <a:lnTo>
                  <a:pt x="523182" y="0"/>
                </a:lnTo>
                <a:lnTo>
                  <a:pt x="523182" y="523182"/>
                </a:lnTo>
                <a:lnTo>
                  <a:pt x="0" y="523182"/>
                </a:lnTo>
                <a:lnTo>
                  <a:pt x="0" y="0"/>
                </a:lnTo>
                <a:close/>
              </a:path>
            </a:pathLst>
          </a:custGeom>
          <a:solidFill>
            <a:srgbClr val="3C8082"/>
          </a:solidFill>
          <a:ln/>
        </p:spPr>
      </p:sp>
      <p:sp>
        <p:nvSpPr>
          <p:cNvPr id="12" name="Text 9"/>
          <p:cNvSpPr/>
          <p:nvPr/>
        </p:nvSpPr>
        <p:spPr>
          <a:xfrm>
            <a:off x="5328512" y="560552"/>
            <a:ext cx="635292" cy="523182"/>
          </a:xfrm>
          <a:prstGeom prst="rect">
            <a:avLst/>
          </a:prstGeom>
          <a:noFill/>
          <a:ln/>
        </p:spPr>
        <p:txBody>
          <a:bodyPr wrap="square" lIns="0" tIns="0" rIns="0" bIns="0" rtlCol="0" anchor="ctr"/>
          <a:lstStyle/>
          <a:p>
            <a:pPr algn="ctr">
              <a:lnSpc>
                <a:spcPct val="110000"/>
              </a:lnSpc>
            </a:pPr>
            <a:r>
              <a:rPr lang="en-US" sz="1766" b="1" dirty="0">
                <a:solidFill>
                  <a:srgbClr val="FFFFFF"/>
                </a:solidFill>
                <a:latin typeface="MiSans" pitchFamily="34" charset="0"/>
                <a:ea typeface="MiSans" pitchFamily="34" charset="-122"/>
                <a:cs typeface="MiSans" pitchFamily="34" charset="-120"/>
              </a:rPr>
              <a:t>01</a:t>
            </a:r>
            <a:endParaRPr lang="en-US" sz="1600" dirty="0"/>
          </a:p>
        </p:txBody>
      </p:sp>
      <p:sp>
        <p:nvSpPr>
          <p:cNvPr id="13" name="Text 10"/>
          <p:cNvSpPr/>
          <p:nvPr/>
        </p:nvSpPr>
        <p:spPr>
          <a:xfrm>
            <a:off x="6094599" y="560552"/>
            <a:ext cx="5633545" cy="261591"/>
          </a:xfrm>
          <a:prstGeom prst="rect">
            <a:avLst/>
          </a:prstGeom>
          <a:noFill/>
          <a:ln/>
        </p:spPr>
        <p:txBody>
          <a:bodyPr wrap="square" lIns="0" tIns="0" rIns="0" bIns="0" rtlCol="0" anchor="ctr"/>
          <a:lstStyle/>
          <a:p>
            <a:pPr>
              <a:lnSpc>
                <a:spcPct val="120000"/>
              </a:lnSpc>
            </a:pPr>
            <a:r>
              <a:rPr lang="en-US" sz="1471" b="1" dirty="0">
                <a:solidFill>
                  <a:srgbClr val="E8E8E8"/>
                </a:solidFill>
                <a:latin typeface="MiSans" pitchFamily="34" charset="0"/>
                <a:ea typeface="MiSans" pitchFamily="34" charset="-122"/>
                <a:cs typeface="MiSans" pitchFamily="34" charset="-120"/>
              </a:rPr>
              <a:t>极致工业设计</a:t>
            </a:r>
            <a:endParaRPr lang="en-US" sz="1600" dirty="0"/>
          </a:p>
        </p:txBody>
      </p:sp>
      <p:sp>
        <p:nvSpPr>
          <p:cNvPr id="14" name="Text 11"/>
          <p:cNvSpPr/>
          <p:nvPr/>
        </p:nvSpPr>
        <p:spPr>
          <a:xfrm>
            <a:off x="6094599" y="934253"/>
            <a:ext cx="5614860" cy="485811"/>
          </a:xfrm>
          <a:prstGeom prst="rect">
            <a:avLst/>
          </a:prstGeom>
          <a:noFill/>
          <a:ln/>
        </p:spPr>
        <p:txBody>
          <a:bodyPr wrap="square" lIns="0" tIns="0" rIns="0" bIns="0" rtlCol="0" anchor="ctr"/>
          <a:lstStyle/>
          <a:p>
            <a:pPr>
              <a:lnSpc>
                <a:spcPct val="140000"/>
              </a:lnSpc>
            </a:pPr>
            <a:r>
              <a:rPr lang="en-US" sz="1177" dirty="0">
                <a:solidFill>
                  <a:srgbClr val="E8E8E8">
                    <a:alpha val="85000"/>
                  </a:srgbClr>
                </a:solidFill>
                <a:latin typeface="MiSans" pitchFamily="34" charset="0"/>
                <a:ea typeface="MiSans" pitchFamily="34" charset="-122"/>
                <a:cs typeface="MiSans" pitchFamily="34" charset="-120"/>
              </a:rPr>
              <a:t>采用</a:t>
            </a:r>
            <a:r>
              <a:rPr lang="en-US" sz="1177" b="1" dirty="0">
                <a:solidFill>
                  <a:srgbClr val="D9A477"/>
                </a:solidFill>
                <a:latin typeface="MiSans" pitchFamily="34" charset="0"/>
                <a:ea typeface="MiSans" pitchFamily="34" charset="-122"/>
                <a:cs typeface="MiSans" pitchFamily="34" charset="-120"/>
              </a:rPr>
              <a:t>圆形触控屏+金属机身</a:t>
            </a:r>
            <a:r>
              <a:rPr lang="en-US" sz="1177" dirty="0">
                <a:solidFill>
                  <a:srgbClr val="E8E8E8">
                    <a:alpha val="85000"/>
                  </a:srgbClr>
                </a:solidFill>
                <a:latin typeface="MiSans" pitchFamily="34" charset="0"/>
                <a:ea typeface="MiSans" pitchFamily="34" charset="-122"/>
                <a:cs typeface="MiSans" pitchFamily="34" charset="-120"/>
              </a:rPr>
              <a:t>的设计语言,外观时尚简洁,与传统恒温器的塑料面板形成鲜明对比。产品不仅是功能设备,更是家居装饰的一部分,提升了用户的审美体验。</a:t>
            </a:r>
            <a:endParaRPr lang="en-US" sz="1600" dirty="0"/>
          </a:p>
        </p:txBody>
      </p:sp>
      <p:sp>
        <p:nvSpPr>
          <p:cNvPr id="15" name="Shape 12"/>
          <p:cNvSpPr/>
          <p:nvPr/>
        </p:nvSpPr>
        <p:spPr>
          <a:xfrm>
            <a:off x="6094599" y="1532175"/>
            <a:ext cx="1775080" cy="336331"/>
          </a:xfrm>
          <a:custGeom>
            <a:avLst/>
            <a:gdLst/>
            <a:ahLst/>
            <a:cxnLst/>
            <a:rect l="l" t="t" r="r" b="b"/>
            <a:pathLst>
              <a:path w="1775080" h="336331">
                <a:moveTo>
                  <a:pt x="0" y="0"/>
                </a:moveTo>
                <a:lnTo>
                  <a:pt x="1775080" y="0"/>
                </a:lnTo>
                <a:lnTo>
                  <a:pt x="1775080" y="336331"/>
                </a:lnTo>
                <a:lnTo>
                  <a:pt x="0" y="336331"/>
                </a:lnTo>
                <a:lnTo>
                  <a:pt x="0" y="0"/>
                </a:lnTo>
                <a:close/>
              </a:path>
            </a:pathLst>
          </a:custGeom>
          <a:solidFill>
            <a:srgbClr val="1A1D21"/>
          </a:solidFill>
          <a:ln/>
        </p:spPr>
      </p:sp>
      <p:sp>
        <p:nvSpPr>
          <p:cNvPr id="16" name="Text 13"/>
          <p:cNvSpPr/>
          <p:nvPr/>
        </p:nvSpPr>
        <p:spPr>
          <a:xfrm>
            <a:off x="6061900" y="1606915"/>
            <a:ext cx="1840478" cy="186851"/>
          </a:xfrm>
          <a:prstGeom prst="rect">
            <a:avLst/>
          </a:prstGeom>
          <a:noFill/>
          <a:ln/>
        </p:spPr>
        <p:txBody>
          <a:bodyPr wrap="square" lIns="0" tIns="0" rIns="0" bIns="0" rtlCol="0" anchor="ctr"/>
          <a:lstStyle/>
          <a:p>
            <a:pPr algn="ctr">
              <a:lnSpc>
                <a:spcPct val="120000"/>
              </a:lnSpc>
            </a:pPr>
            <a:r>
              <a:rPr lang="en-US" sz="1030" dirty="0">
                <a:solidFill>
                  <a:srgbClr val="E8E8E8">
                    <a:alpha val="80000"/>
                  </a:srgbClr>
                </a:solidFill>
                <a:latin typeface="MiSans" pitchFamily="34" charset="0"/>
                <a:ea typeface="MiSans" pitchFamily="34" charset="-122"/>
                <a:cs typeface="MiSans" pitchFamily="34" charset="-120"/>
              </a:rPr>
              <a:t>圆形触控</a:t>
            </a:r>
            <a:endParaRPr lang="en-US" sz="1600" dirty="0"/>
          </a:p>
        </p:txBody>
      </p:sp>
      <p:sp>
        <p:nvSpPr>
          <p:cNvPr id="17" name="Shape 14"/>
          <p:cNvSpPr/>
          <p:nvPr/>
        </p:nvSpPr>
        <p:spPr>
          <a:xfrm>
            <a:off x="7977235" y="1532175"/>
            <a:ext cx="1775080" cy="336331"/>
          </a:xfrm>
          <a:custGeom>
            <a:avLst/>
            <a:gdLst/>
            <a:ahLst/>
            <a:cxnLst/>
            <a:rect l="l" t="t" r="r" b="b"/>
            <a:pathLst>
              <a:path w="1775080" h="336331">
                <a:moveTo>
                  <a:pt x="0" y="0"/>
                </a:moveTo>
                <a:lnTo>
                  <a:pt x="1775080" y="0"/>
                </a:lnTo>
                <a:lnTo>
                  <a:pt x="1775080" y="336331"/>
                </a:lnTo>
                <a:lnTo>
                  <a:pt x="0" y="336331"/>
                </a:lnTo>
                <a:lnTo>
                  <a:pt x="0" y="0"/>
                </a:lnTo>
                <a:close/>
              </a:path>
            </a:pathLst>
          </a:custGeom>
          <a:solidFill>
            <a:srgbClr val="1A1D21"/>
          </a:solidFill>
          <a:ln/>
        </p:spPr>
      </p:sp>
      <p:sp>
        <p:nvSpPr>
          <p:cNvPr id="18" name="Text 15"/>
          <p:cNvSpPr/>
          <p:nvPr/>
        </p:nvSpPr>
        <p:spPr>
          <a:xfrm>
            <a:off x="7944536" y="1606915"/>
            <a:ext cx="1840478" cy="186851"/>
          </a:xfrm>
          <a:prstGeom prst="rect">
            <a:avLst/>
          </a:prstGeom>
          <a:noFill/>
          <a:ln/>
        </p:spPr>
        <p:txBody>
          <a:bodyPr wrap="square" lIns="0" tIns="0" rIns="0" bIns="0" rtlCol="0" anchor="ctr"/>
          <a:lstStyle/>
          <a:p>
            <a:pPr algn="ctr">
              <a:lnSpc>
                <a:spcPct val="120000"/>
              </a:lnSpc>
            </a:pPr>
            <a:r>
              <a:rPr lang="en-US" sz="1030" dirty="0">
                <a:solidFill>
                  <a:srgbClr val="E8E8E8">
                    <a:alpha val="80000"/>
                  </a:srgbClr>
                </a:solidFill>
                <a:latin typeface="MiSans" pitchFamily="34" charset="0"/>
                <a:ea typeface="MiSans" pitchFamily="34" charset="-122"/>
                <a:cs typeface="MiSans" pitchFamily="34" charset="-120"/>
              </a:rPr>
              <a:t>金属材质</a:t>
            </a:r>
            <a:endParaRPr lang="en-US" sz="1600" dirty="0"/>
          </a:p>
        </p:txBody>
      </p:sp>
      <p:sp>
        <p:nvSpPr>
          <p:cNvPr id="19" name="Shape 16"/>
          <p:cNvSpPr/>
          <p:nvPr/>
        </p:nvSpPr>
        <p:spPr>
          <a:xfrm>
            <a:off x="9859871" y="1532175"/>
            <a:ext cx="1775080" cy="336331"/>
          </a:xfrm>
          <a:custGeom>
            <a:avLst/>
            <a:gdLst/>
            <a:ahLst/>
            <a:cxnLst/>
            <a:rect l="l" t="t" r="r" b="b"/>
            <a:pathLst>
              <a:path w="1775080" h="336331">
                <a:moveTo>
                  <a:pt x="0" y="0"/>
                </a:moveTo>
                <a:lnTo>
                  <a:pt x="1775080" y="0"/>
                </a:lnTo>
                <a:lnTo>
                  <a:pt x="1775080" y="336331"/>
                </a:lnTo>
                <a:lnTo>
                  <a:pt x="0" y="336331"/>
                </a:lnTo>
                <a:lnTo>
                  <a:pt x="0" y="0"/>
                </a:lnTo>
                <a:close/>
              </a:path>
            </a:pathLst>
          </a:custGeom>
          <a:solidFill>
            <a:srgbClr val="1A1D21"/>
          </a:solidFill>
          <a:ln/>
        </p:spPr>
      </p:sp>
      <p:sp>
        <p:nvSpPr>
          <p:cNvPr id="20" name="Text 17"/>
          <p:cNvSpPr/>
          <p:nvPr/>
        </p:nvSpPr>
        <p:spPr>
          <a:xfrm>
            <a:off x="9827172" y="1606915"/>
            <a:ext cx="1840478" cy="186851"/>
          </a:xfrm>
          <a:prstGeom prst="rect">
            <a:avLst/>
          </a:prstGeom>
          <a:noFill/>
          <a:ln/>
        </p:spPr>
        <p:txBody>
          <a:bodyPr wrap="square" lIns="0" tIns="0" rIns="0" bIns="0" rtlCol="0" anchor="ctr"/>
          <a:lstStyle/>
          <a:p>
            <a:pPr algn="ctr">
              <a:lnSpc>
                <a:spcPct val="120000"/>
              </a:lnSpc>
            </a:pPr>
            <a:r>
              <a:rPr lang="en-US" sz="1030" dirty="0">
                <a:solidFill>
                  <a:srgbClr val="E8E8E8">
                    <a:alpha val="80000"/>
                  </a:srgbClr>
                </a:solidFill>
                <a:latin typeface="MiSans" pitchFamily="34" charset="0"/>
                <a:ea typeface="MiSans" pitchFamily="34" charset="-122"/>
                <a:cs typeface="MiSans" pitchFamily="34" charset="-120"/>
              </a:rPr>
              <a:t>极简美学</a:t>
            </a:r>
            <a:endParaRPr lang="en-US" sz="1600" dirty="0"/>
          </a:p>
        </p:txBody>
      </p:sp>
      <p:sp>
        <p:nvSpPr>
          <p:cNvPr id="21" name="Shape 18"/>
          <p:cNvSpPr/>
          <p:nvPr/>
        </p:nvSpPr>
        <p:spPr>
          <a:xfrm>
            <a:off x="5186505" y="2204837"/>
            <a:ext cx="6635064" cy="2111411"/>
          </a:xfrm>
          <a:custGeom>
            <a:avLst/>
            <a:gdLst/>
            <a:ahLst/>
            <a:cxnLst/>
            <a:rect l="l" t="t" r="r" b="b"/>
            <a:pathLst>
              <a:path w="6635064" h="2111411">
                <a:moveTo>
                  <a:pt x="0" y="0"/>
                </a:moveTo>
                <a:lnTo>
                  <a:pt x="6635064" y="0"/>
                </a:lnTo>
                <a:lnTo>
                  <a:pt x="6635064" y="2111411"/>
                </a:lnTo>
                <a:lnTo>
                  <a:pt x="0" y="2111411"/>
                </a:lnTo>
                <a:lnTo>
                  <a:pt x="0" y="0"/>
                </a:lnTo>
                <a:close/>
              </a:path>
            </a:pathLst>
          </a:custGeom>
          <a:solidFill>
            <a:srgbClr val="D9A477">
              <a:alpha val="14902"/>
            </a:srgbClr>
          </a:solidFill>
          <a:ln/>
        </p:spPr>
      </p:sp>
      <p:sp>
        <p:nvSpPr>
          <p:cNvPr id="22" name="Shape 19"/>
          <p:cNvSpPr/>
          <p:nvPr/>
        </p:nvSpPr>
        <p:spPr>
          <a:xfrm>
            <a:off x="5186505" y="2204837"/>
            <a:ext cx="22422" cy="2111411"/>
          </a:xfrm>
          <a:custGeom>
            <a:avLst/>
            <a:gdLst/>
            <a:ahLst/>
            <a:cxnLst/>
            <a:rect l="l" t="t" r="r" b="b"/>
            <a:pathLst>
              <a:path w="22422" h="2111411">
                <a:moveTo>
                  <a:pt x="0" y="0"/>
                </a:moveTo>
                <a:lnTo>
                  <a:pt x="22422" y="0"/>
                </a:lnTo>
                <a:lnTo>
                  <a:pt x="22422" y="2111411"/>
                </a:lnTo>
                <a:lnTo>
                  <a:pt x="0" y="2111411"/>
                </a:lnTo>
                <a:lnTo>
                  <a:pt x="0" y="0"/>
                </a:lnTo>
                <a:close/>
              </a:path>
            </a:pathLst>
          </a:custGeom>
          <a:solidFill>
            <a:srgbClr val="D9A477"/>
          </a:solidFill>
          <a:ln/>
        </p:spPr>
      </p:sp>
      <p:sp>
        <p:nvSpPr>
          <p:cNvPr id="23" name="Shape 20"/>
          <p:cNvSpPr/>
          <p:nvPr/>
        </p:nvSpPr>
        <p:spPr>
          <a:xfrm>
            <a:off x="5384567" y="2391687"/>
            <a:ext cx="523182" cy="523182"/>
          </a:xfrm>
          <a:custGeom>
            <a:avLst/>
            <a:gdLst/>
            <a:ahLst/>
            <a:cxnLst/>
            <a:rect l="l" t="t" r="r" b="b"/>
            <a:pathLst>
              <a:path w="523182" h="523182">
                <a:moveTo>
                  <a:pt x="0" y="0"/>
                </a:moveTo>
                <a:lnTo>
                  <a:pt x="523182" y="0"/>
                </a:lnTo>
                <a:lnTo>
                  <a:pt x="523182" y="523182"/>
                </a:lnTo>
                <a:lnTo>
                  <a:pt x="0" y="523182"/>
                </a:lnTo>
                <a:lnTo>
                  <a:pt x="0" y="0"/>
                </a:lnTo>
                <a:close/>
              </a:path>
            </a:pathLst>
          </a:custGeom>
          <a:solidFill>
            <a:srgbClr val="D9A477"/>
          </a:solidFill>
          <a:ln/>
        </p:spPr>
      </p:sp>
      <p:sp>
        <p:nvSpPr>
          <p:cNvPr id="24" name="Text 21"/>
          <p:cNvSpPr/>
          <p:nvPr/>
        </p:nvSpPr>
        <p:spPr>
          <a:xfrm>
            <a:off x="5328512" y="2391687"/>
            <a:ext cx="635292" cy="523182"/>
          </a:xfrm>
          <a:prstGeom prst="rect">
            <a:avLst/>
          </a:prstGeom>
          <a:noFill/>
          <a:ln/>
        </p:spPr>
        <p:txBody>
          <a:bodyPr wrap="square" lIns="0" tIns="0" rIns="0" bIns="0" rtlCol="0" anchor="ctr"/>
          <a:lstStyle/>
          <a:p>
            <a:pPr algn="ctr">
              <a:lnSpc>
                <a:spcPct val="110000"/>
              </a:lnSpc>
            </a:pPr>
            <a:r>
              <a:rPr lang="en-US" sz="1766" b="1" dirty="0">
                <a:solidFill>
                  <a:srgbClr val="1A1D21"/>
                </a:solidFill>
                <a:latin typeface="MiSans" pitchFamily="34" charset="0"/>
                <a:ea typeface="MiSans" pitchFamily="34" charset="-122"/>
                <a:cs typeface="MiSans" pitchFamily="34" charset="-120"/>
              </a:rPr>
              <a:t>02</a:t>
            </a:r>
            <a:endParaRPr lang="en-US" sz="1600" dirty="0"/>
          </a:p>
        </p:txBody>
      </p:sp>
      <p:sp>
        <p:nvSpPr>
          <p:cNvPr id="25" name="Text 22"/>
          <p:cNvSpPr/>
          <p:nvPr/>
        </p:nvSpPr>
        <p:spPr>
          <a:xfrm>
            <a:off x="6094599" y="2391687"/>
            <a:ext cx="5633545" cy="261591"/>
          </a:xfrm>
          <a:prstGeom prst="rect">
            <a:avLst/>
          </a:prstGeom>
          <a:noFill/>
          <a:ln/>
        </p:spPr>
        <p:txBody>
          <a:bodyPr wrap="square" lIns="0" tIns="0" rIns="0" bIns="0" rtlCol="0" anchor="ctr"/>
          <a:lstStyle/>
          <a:p>
            <a:pPr>
              <a:lnSpc>
                <a:spcPct val="120000"/>
              </a:lnSpc>
            </a:pPr>
            <a:r>
              <a:rPr lang="en-US" sz="1471" b="1" dirty="0">
                <a:solidFill>
                  <a:srgbClr val="E8E8E8"/>
                </a:solidFill>
                <a:latin typeface="MiSans" pitchFamily="34" charset="0"/>
                <a:ea typeface="MiSans" pitchFamily="34" charset="-122"/>
                <a:cs typeface="MiSans" pitchFamily="34" charset="-120"/>
              </a:rPr>
              <a:t>智能学习能力</a:t>
            </a:r>
            <a:endParaRPr lang="en-US" sz="1600" dirty="0"/>
          </a:p>
        </p:txBody>
      </p:sp>
      <p:sp>
        <p:nvSpPr>
          <p:cNvPr id="26" name="Text 23"/>
          <p:cNvSpPr/>
          <p:nvPr/>
        </p:nvSpPr>
        <p:spPr>
          <a:xfrm>
            <a:off x="6094599" y="2765389"/>
            <a:ext cx="5614860" cy="728717"/>
          </a:xfrm>
          <a:prstGeom prst="rect">
            <a:avLst/>
          </a:prstGeom>
          <a:noFill/>
          <a:ln/>
        </p:spPr>
        <p:txBody>
          <a:bodyPr wrap="square" lIns="0" tIns="0" rIns="0" bIns="0" rtlCol="0" anchor="ctr"/>
          <a:lstStyle/>
          <a:p>
            <a:pPr>
              <a:lnSpc>
                <a:spcPct val="140000"/>
              </a:lnSpc>
            </a:pPr>
            <a:r>
              <a:rPr lang="en-US" sz="1177" dirty="0">
                <a:solidFill>
                  <a:srgbClr val="E8E8E8">
                    <a:alpha val="85000"/>
                  </a:srgbClr>
                </a:solidFill>
                <a:latin typeface="MiSans" pitchFamily="34" charset="0"/>
                <a:ea typeface="MiSans" pitchFamily="34" charset="-122"/>
                <a:cs typeface="MiSans" pitchFamily="34" charset="-120"/>
              </a:rPr>
              <a:t>通过</a:t>
            </a:r>
            <a:r>
              <a:rPr lang="en-US" sz="1177" b="1" dirty="0">
                <a:solidFill>
                  <a:srgbClr val="D9A477"/>
                </a:solidFill>
                <a:latin typeface="MiSans" pitchFamily="34" charset="0"/>
                <a:ea typeface="MiSans" pitchFamily="34" charset="-122"/>
                <a:cs typeface="MiSans" pitchFamily="34" charset="-120"/>
              </a:rPr>
              <a:t>机器学习算法</a:t>
            </a:r>
            <a:r>
              <a:rPr lang="en-US" sz="1177" dirty="0">
                <a:solidFill>
                  <a:srgbClr val="E8E8E8">
                    <a:alpha val="85000"/>
                  </a:srgbClr>
                </a:solidFill>
                <a:latin typeface="MiSans" pitchFamily="34" charset="0"/>
                <a:ea typeface="MiSans" pitchFamily="34" charset="-122"/>
                <a:cs typeface="MiSans" pitchFamily="34" charset="-120"/>
              </a:rPr>
              <a:t>,设备能够记录用户的手动调节习惯,自动学习并预测温度需求。例如:工作日早晨自动升温,夜间自动降温,减少用户手动干预。支持Wi-Fi联网,可通过手机APP远程控制和监控。</a:t>
            </a:r>
            <a:endParaRPr lang="en-US" sz="1600" dirty="0"/>
          </a:p>
        </p:txBody>
      </p:sp>
      <p:sp>
        <p:nvSpPr>
          <p:cNvPr id="27" name="Shape 24"/>
          <p:cNvSpPr/>
          <p:nvPr/>
        </p:nvSpPr>
        <p:spPr>
          <a:xfrm>
            <a:off x="6117955" y="3652929"/>
            <a:ext cx="168166" cy="168166"/>
          </a:xfrm>
          <a:custGeom>
            <a:avLst/>
            <a:gdLst/>
            <a:ahLst/>
            <a:cxnLst/>
            <a:rect l="l" t="t" r="r" b="b"/>
            <a:pathLst>
              <a:path w="168166" h="168166">
                <a:moveTo>
                  <a:pt x="39414" y="18393"/>
                </a:moveTo>
                <a:cubicBezTo>
                  <a:pt x="39414" y="8244"/>
                  <a:pt x="47658" y="0"/>
                  <a:pt x="57807" y="0"/>
                </a:cubicBezTo>
                <a:lnTo>
                  <a:pt x="65690" y="0"/>
                </a:lnTo>
                <a:cubicBezTo>
                  <a:pt x="71503" y="0"/>
                  <a:pt x="76200" y="4697"/>
                  <a:pt x="76200" y="10510"/>
                </a:cubicBezTo>
                <a:lnTo>
                  <a:pt x="76200" y="157655"/>
                </a:lnTo>
                <a:cubicBezTo>
                  <a:pt x="76200" y="163469"/>
                  <a:pt x="71503" y="168166"/>
                  <a:pt x="65690" y="168166"/>
                </a:cubicBezTo>
                <a:lnTo>
                  <a:pt x="55179" y="168166"/>
                </a:lnTo>
                <a:cubicBezTo>
                  <a:pt x="45392" y="168166"/>
                  <a:pt x="37148" y="161465"/>
                  <a:pt x="34816" y="152400"/>
                </a:cubicBezTo>
                <a:cubicBezTo>
                  <a:pt x="34586" y="152400"/>
                  <a:pt x="34389" y="152400"/>
                  <a:pt x="34159" y="152400"/>
                </a:cubicBezTo>
                <a:cubicBezTo>
                  <a:pt x="19641" y="152400"/>
                  <a:pt x="7883" y="140642"/>
                  <a:pt x="7883" y="126124"/>
                </a:cubicBezTo>
                <a:cubicBezTo>
                  <a:pt x="7883" y="120212"/>
                  <a:pt x="9853" y="114760"/>
                  <a:pt x="13138" y="110359"/>
                </a:cubicBezTo>
                <a:cubicBezTo>
                  <a:pt x="6766" y="105563"/>
                  <a:pt x="2628" y="97943"/>
                  <a:pt x="2628" y="89338"/>
                </a:cubicBezTo>
                <a:cubicBezTo>
                  <a:pt x="2628" y="79189"/>
                  <a:pt x="8408" y="70354"/>
                  <a:pt x="16817" y="65985"/>
                </a:cubicBezTo>
                <a:cubicBezTo>
                  <a:pt x="14485" y="62044"/>
                  <a:pt x="13138" y="57446"/>
                  <a:pt x="13138" y="52552"/>
                </a:cubicBezTo>
                <a:cubicBezTo>
                  <a:pt x="13138" y="38034"/>
                  <a:pt x="24896" y="26276"/>
                  <a:pt x="39414" y="26276"/>
                </a:cubicBezTo>
                <a:lnTo>
                  <a:pt x="39414" y="18393"/>
                </a:lnTo>
                <a:close/>
                <a:moveTo>
                  <a:pt x="128752" y="18393"/>
                </a:moveTo>
                <a:lnTo>
                  <a:pt x="128752" y="26276"/>
                </a:lnTo>
                <a:cubicBezTo>
                  <a:pt x="143269" y="26276"/>
                  <a:pt x="155028" y="38034"/>
                  <a:pt x="155028" y="52552"/>
                </a:cubicBezTo>
                <a:cubicBezTo>
                  <a:pt x="155028" y="57478"/>
                  <a:pt x="153681" y="62077"/>
                  <a:pt x="151349" y="65985"/>
                </a:cubicBezTo>
                <a:cubicBezTo>
                  <a:pt x="159790" y="70354"/>
                  <a:pt x="165538" y="79156"/>
                  <a:pt x="165538" y="89338"/>
                </a:cubicBezTo>
                <a:cubicBezTo>
                  <a:pt x="165538" y="97943"/>
                  <a:pt x="161399" y="105563"/>
                  <a:pt x="155028" y="110359"/>
                </a:cubicBezTo>
                <a:cubicBezTo>
                  <a:pt x="158312" y="114760"/>
                  <a:pt x="160283" y="120212"/>
                  <a:pt x="160283" y="126124"/>
                </a:cubicBezTo>
                <a:cubicBezTo>
                  <a:pt x="160283" y="140642"/>
                  <a:pt x="148524" y="152400"/>
                  <a:pt x="134007" y="152400"/>
                </a:cubicBezTo>
                <a:cubicBezTo>
                  <a:pt x="133777" y="152400"/>
                  <a:pt x="133580" y="152400"/>
                  <a:pt x="133350" y="152400"/>
                </a:cubicBezTo>
                <a:cubicBezTo>
                  <a:pt x="131018" y="161465"/>
                  <a:pt x="122774" y="168166"/>
                  <a:pt x="112986" y="168166"/>
                </a:cubicBezTo>
                <a:lnTo>
                  <a:pt x="102476" y="168166"/>
                </a:lnTo>
                <a:cubicBezTo>
                  <a:pt x="96662" y="168166"/>
                  <a:pt x="91966" y="163469"/>
                  <a:pt x="91966" y="157655"/>
                </a:cubicBezTo>
                <a:lnTo>
                  <a:pt x="91966" y="10510"/>
                </a:lnTo>
                <a:cubicBezTo>
                  <a:pt x="91966" y="4697"/>
                  <a:pt x="96662" y="0"/>
                  <a:pt x="102476" y="0"/>
                </a:cubicBezTo>
                <a:lnTo>
                  <a:pt x="110359" y="0"/>
                </a:lnTo>
                <a:cubicBezTo>
                  <a:pt x="120508" y="0"/>
                  <a:pt x="128752" y="8244"/>
                  <a:pt x="128752" y="18393"/>
                </a:cubicBezTo>
                <a:close/>
              </a:path>
            </a:pathLst>
          </a:custGeom>
          <a:solidFill>
            <a:srgbClr val="D9A477"/>
          </a:solidFill>
          <a:ln/>
        </p:spPr>
      </p:sp>
      <p:sp>
        <p:nvSpPr>
          <p:cNvPr id="28" name="Text 25"/>
          <p:cNvSpPr/>
          <p:nvPr/>
        </p:nvSpPr>
        <p:spPr>
          <a:xfrm>
            <a:off x="6379546" y="3643586"/>
            <a:ext cx="588579" cy="186851"/>
          </a:xfrm>
          <a:prstGeom prst="rect">
            <a:avLst/>
          </a:prstGeom>
          <a:noFill/>
          <a:ln/>
        </p:spPr>
        <p:txBody>
          <a:bodyPr wrap="square" lIns="0" tIns="0" rIns="0" bIns="0" rtlCol="0" anchor="ctr"/>
          <a:lstStyle/>
          <a:p>
            <a:pPr>
              <a:lnSpc>
                <a:spcPct val="120000"/>
              </a:lnSpc>
            </a:pPr>
            <a:r>
              <a:rPr lang="en-US" sz="1030" dirty="0">
                <a:solidFill>
                  <a:srgbClr val="E8E8E8">
                    <a:alpha val="90000"/>
                  </a:srgbClr>
                </a:solidFill>
                <a:latin typeface="MiSans" pitchFamily="34" charset="0"/>
                <a:ea typeface="MiSans" pitchFamily="34" charset="-122"/>
                <a:cs typeface="MiSans" pitchFamily="34" charset="-120"/>
              </a:rPr>
              <a:t>习惯学习</a:t>
            </a:r>
            <a:endParaRPr lang="en-US" sz="1600" dirty="0"/>
          </a:p>
        </p:txBody>
      </p:sp>
      <p:sp>
        <p:nvSpPr>
          <p:cNvPr id="29" name="Shape 26"/>
          <p:cNvSpPr/>
          <p:nvPr/>
        </p:nvSpPr>
        <p:spPr>
          <a:xfrm>
            <a:off x="8931341" y="3652929"/>
            <a:ext cx="189186" cy="168166"/>
          </a:xfrm>
          <a:custGeom>
            <a:avLst/>
            <a:gdLst/>
            <a:ahLst/>
            <a:cxnLst/>
            <a:rect l="l" t="t" r="r" b="b"/>
            <a:pathLst>
              <a:path w="189186" h="168166">
                <a:moveTo>
                  <a:pt x="94593" y="31531"/>
                </a:moveTo>
                <a:cubicBezTo>
                  <a:pt x="64737" y="31531"/>
                  <a:pt x="37706" y="43355"/>
                  <a:pt x="17835" y="62602"/>
                </a:cubicBezTo>
                <a:cubicBezTo>
                  <a:pt x="13663" y="66642"/>
                  <a:pt x="6996" y="66544"/>
                  <a:pt x="2989" y="62372"/>
                </a:cubicBezTo>
                <a:cubicBezTo>
                  <a:pt x="-1018" y="58201"/>
                  <a:pt x="-952" y="51534"/>
                  <a:pt x="3219" y="47526"/>
                </a:cubicBezTo>
                <a:cubicBezTo>
                  <a:pt x="26834" y="24601"/>
                  <a:pt x="59088" y="10510"/>
                  <a:pt x="94593" y="10510"/>
                </a:cubicBezTo>
                <a:cubicBezTo>
                  <a:pt x="130098" y="10510"/>
                  <a:pt x="162352" y="24601"/>
                  <a:pt x="186000" y="47526"/>
                </a:cubicBezTo>
                <a:cubicBezTo>
                  <a:pt x="190172" y="51566"/>
                  <a:pt x="190270" y="58234"/>
                  <a:pt x="186230" y="62372"/>
                </a:cubicBezTo>
                <a:cubicBezTo>
                  <a:pt x="182190" y="66511"/>
                  <a:pt x="175523" y="66642"/>
                  <a:pt x="171384" y="62602"/>
                </a:cubicBezTo>
                <a:cubicBezTo>
                  <a:pt x="151480" y="43355"/>
                  <a:pt x="124449" y="31531"/>
                  <a:pt x="94593" y="31531"/>
                </a:cubicBezTo>
                <a:close/>
                <a:moveTo>
                  <a:pt x="78828" y="141890"/>
                </a:moveTo>
                <a:cubicBezTo>
                  <a:pt x="78828" y="133188"/>
                  <a:pt x="85892" y="126124"/>
                  <a:pt x="94593" y="126124"/>
                </a:cubicBezTo>
                <a:cubicBezTo>
                  <a:pt x="103294" y="126124"/>
                  <a:pt x="110359" y="133188"/>
                  <a:pt x="110359" y="141890"/>
                </a:cubicBezTo>
                <a:cubicBezTo>
                  <a:pt x="110359" y="150591"/>
                  <a:pt x="103294" y="157655"/>
                  <a:pt x="94593" y="157655"/>
                </a:cubicBezTo>
                <a:cubicBezTo>
                  <a:pt x="85892" y="157655"/>
                  <a:pt x="78828" y="150591"/>
                  <a:pt x="78828" y="141890"/>
                </a:cubicBezTo>
                <a:close/>
                <a:moveTo>
                  <a:pt x="55179" y="107140"/>
                </a:moveTo>
                <a:cubicBezTo>
                  <a:pt x="51336" y="111508"/>
                  <a:pt x="44702" y="111902"/>
                  <a:pt x="40333" y="108059"/>
                </a:cubicBezTo>
                <a:cubicBezTo>
                  <a:pt x="35965" y="104217"/>
                  <a:pt x="35571" y="97582"/>
                  <a:pt x="39414" y="93214"/>
                </a:cubicBezTo>
                <a:cubicBezTo>
                  <a:pt x="52880" y="77974"/>
                  <a:pt x="72620" y="68317"/>
                  <a:pt x="94593" y="68317"/>
                </a:cubicBezTo>
                <a:cubicBezTo>
                  <a:pt x="116566" y="68317"/>
                  <a:pt x="136306" y="77974"/>
                  <a:pt x="149772" y="93214"/>
                </a:cubicBezTo>
                <a:cubicBezTo>
                  <a:pt x="153615" y="97582"/>
                  <a:pt x="153188" y="104217"/>
                  <a:pt x="148853" y="108059"/>
                </a:cubicBezTo>
                <a:cubicBezTo>
                  <a:pt x="144517" y="111902"/>
                  <a:pt x="137850" y="111475"/>
                  <a:pt x="134007" y="107140"/>
                </a:cubicBezTo>
                <a:cubicBezTo>
                  <a:pt x="124351" y="96203"/>
                  <a:pt x="110293" y="89338"/>
                  <a:pt x="94593" y="89338"/>
                </a:cubicBezTo>
                <a:cubicBezTo>
                  <a:pt x="78893" y="89338"/>
                  <a:pt x="64836" y="96203"/>
                  <a:pt x="55179" y="107140"/>
                </a:cubicBezTo>
                <a:close/>
              </a:path>
            </a:pathLst>
          </a:custGeom>
          <a:solidFill>
            <a:srgbClr val="D9A477"/>
          </a:solidFill>
          <a:ln/>
        </p:spPr>
      </p:sp>
      <p:sp>
        <p:nvSpPr>
          <p:cNvPr id="30" name="Text 27"/>
          <p:cNvSpPr/>
          <p:nvPr/>
        </p:nvSpPr>
        <p:spPr>
          <a:xfrm>
            <a:off x="9203442" y="3643586"/>
            <a:ext cx="588579" cy="186851"/>
          </a:xfrm>
          <a:prstGeom prst="rect">
            <a:avLst/>
          </a:prstGeom>
          <a:noFill/>
          <a:ln/>
        </p:spPr>
        <p:txBody>
          <a:bodyPr wrap="square" lIns="0" tIns="0" rIns="0" bIns="0" rtlCol="0" anchor="ctr"/>
          <a:lstStyle/>
          <a:p>
            <a:pPr>
              <a:lnSpc>
                <a:spcPct val="120000"/>
              </a:lnSpc>
            </a:pPr>
            <a:r>
              <a:rPr lang="en-US" sz="1030" dirty="0">
                <a:solidFill>
                  <a:srgbClr val="E8E8E8">
                    <a:alpha val="90000"/>
                  </a:srgbClr>
                </a:solidFill>
                <a:latin typeface="MiSans" pitchFamily="34" charset="0"/>
                <a:ea typeface="MiSans" pitchFamily="34" charset="-122"/>
                <a:cs typeface="MiSans" pitchFamily="34" charset="-120"/>
              </a:rPr>
              <a:t>远程控制</a:t>
            </a:r>
            <a:endParaRPr lang="en-US" sz="1600" dirty="0"/>
          </a:p>
        </p:txBody>
      </p:sp>
      <p:sp>
        <p:nvSpPr>
          <p:cNvPr id="31" name="Shape 28"/>
          <p:cNvSpPr/>
          <p:nvPr/>
        </p:nvSpPr>
        <p:spPr>
          <a:xfrm>
            <a:off x="6117955" y="3951890"/>
            <a:ext cx="168166" cy="168166"/>
          </a:xfrm>
          <a:custGeom>
            <a:avLst/>
            <a:gdLst/>
            <a:ahLst/>
            <a:cxnLst/>
            <a:rect l="l" t="t" r="r" b="b"/>
            <a:pathLst>
              <a:path w="168166" h="168166">
                <a:moveTo>
                  <a:pt x="21021" y="21021"/>
                </a:moveTo>
                <a:cubicBezTo>
                  <a:pt x="21021" y="15207"/>
                  <a:pt x="16324" y="10510"/>
                  <a:pt x="10510" y="10510"/>
                </a:cubicBezTo>
                <a:cubicBezTo>
                  <a:pt x="4697" y="10510"/>
                  <a:pt x="0" y="15207"/>
                  <a:pt x="0" y="21021"/>
                </a:cubicBezTo>
                <a:lnTo>
                  <a:pt x="0" y="131379"/>
                </a:lnTo>
                <a:cubicBezTo>
                  <a:pt x="0" y="145897"/>
                  <a:pt x="11758" y="157655"/>
                  <a:pt x="26276" y="157655"/>
                </a:cubicBezTo>
                <a:lnTo>
                  <a:pt x="157655" y="157655"/>
                </a:lnTo>
                <a:cubicBezTo>
                  <a:pt x="163469" y="157655"/>
                  <a:pt x="168166" y="152958"/>
                  <a:pt x="168166" y="147145"/>
                </a:cubicBezTo>
                <a:cubicBezTo>
                  <a:pt x="168166" y="141331"/>
                  <a:pt x="163469" y="136634"/>
                  <a:pt x="157655" y="136634"/>
                </a:cubicBezTo>
                <a:lnTo>
                  <a:pt x="26276" y="136634"/>
                </a:lnTo>
                <a:cubicBezTo>
                  <a:pt x="23386" y="136634"/>
                  <a:pt x="21021" y="134270"/>
                  <a:pt x="21021" y="131379"/>
                </a:cubicBezTo>
                <a:lnTo>
                  <a:pt x="21021" y="21021"/>
                </a:lnTo>
                <a:close/>
                <a:moveTo>
                  <a:pt x="154568" y="49464"/>
                </a:moveTo>
                <a:cubicBezTo>
                  <a:pt x="158673" y="45359"/>
                  <a:pt x="158673" y="38691"/>
                  <a:pt x="154568" y="34586"/>
                </a:cubicBezTo>
                <a:cubicBezTo>
                  <a:pt x="150462" y="30480"/>
                  <a:pt x="143795" y="30480"/>
                  <a:pt x="139689" y="34586"/>
                </a:cubicBezTo>
                <a:lnTo>
                  <a:pt x="105103" y="69204"/>
                </a:lnTo>
                <a:lnTo>
                  <a:pt x="86251" y="50384"/>
                </a:lnTo>
                <a:cubicBezTo>
                  <a:pt x="82145" y="46278"/>
                  <a:pt x="75477" y="46278"/>
                  <a:pt x="71372" y="50384"/>
                </a:cubicBezTo>
                <a:lnTo>
                  <a:pt x="39841" y="81915"/>
                </a:lnTo>
                <a:cubicBezTo>
                  <a:pt x="35735" y="86021"/>
                  <a:pt x="35735" y="92688"/>
                  <a:pt x="39841" y="96794"/>
                </a:cubicBezTo>
                <a:cubicBezTo>
                  <a:pt x="43946" y="100899"/>
                  <a:pt x="50614" y="100899"/>
                  <a:pt x="54719" y="96794"/>
                </a:cubicBezTo>
                <a:lnTo>
                  <a:pt x="78828" y="72686"/>
                </a:lnTo>
                <a:lnTo>
                  <a:pt x="97681" y="91539"/>
                </a:lnTo>
                <a:cubicBezTo>
                  <a:pt x="101786" y="95644"/>
                  <a:pt x="108454" y="95644"/>
                  <a:pt x="112559" y="91539"/>
                </a:cubicBezTo>
                <a:lnTo>
                  <a:pt x="154601" y="49497"/>
                </a:lnTo>
                <a:close/>
              </a:path>
            </a:pathLst>
          </a:custGeom>
          <a:solidFill>
            <a:srgbClr val="D9A477"/>
          </a:solidFill>
          <a:ln/>
        </p:spPr>
      </p:sp>
      <p:sp>
        <p:nvSpPr>
          <p:cNvPr id="32" name="Text 29"/>
          <p:cNvSpPr/>
          <p:nvPr/>
        </p:nvSpPr>
        <p:spPr>
          <a:xfrm>
            <a:off x="6379546" y="3942547"/>
            <a:ext cx="588579" cy="186851"/>
          </a:xfrm>
          <a:prstGeom prst="rect">
            <a:avLst/>
          </a:prstGeom>
          <a:noFill/>
          <a:ln/>
        </p:spPr>
        <p:txBody>
          <a:bodyPr wrap="square" lIns="0" tIns="0" rIns="0" bIns="0" rtlCol="0" anchor="ctr"/>
          <a:lstStyle/>
          <a:p>
            <a:pPr>
              <a:lnSpc>
                <a:spcPct val="120000"/>
              </a:lnSpc>
            </a:pPr>
            <a:r>
              <a:rPr lang="en-US" sz="1030" dirty="0">
                <a:solidFill>
                  <a:srgbClr val="E8E8E8">
                    <a:alpha val="90000"/>
                  </a:srgbClr>
                </a:solidFill>
                <a:latin typeface="MiSans" pitchFamily="34" charset="0"/>
                <a:ea typeface="MiSans" pitchFamily="34" charset="-122"/>
                <a:cs typeface="MiSans" pitchFamily="34" charset="-120"/>
              </a:rPr>
              <a:t>预测调节</a:t>
            </a:r>
            <a:endParaRPr lang="en-US" sz="1600" dirty="0"/>
          </a:p>
        </p:txBody>
      </p:sp>
      <p:sp>
        <p:nvSpPr>
          <p:cNvPr id="33" name="Shape 30"/>
          <p:cNvSpPr/>
          <p:nvPr/>
        </p:nvSpPr>
        <p:spPr>
          <a:xfrm>
            <a:off x="8962872" y="3951890"/>
            <a:ext cx="126124" cy="168166"/>
          </a:xfrm>
          <a:custGeom>
            <a:avLst/>
            <a:gdLst/>
            <a:ahLst/>
            <a:cxnLst/>
            <a:rect l="l" t="t" r="r" b="b"/>
            <a:pathLst>
              <a:path w="126124" h="168166">
                <a:moveTo>
                  <a:pt x="5255" y="21021"/>
                </a:moveTo>
                <a:cubicBezTo>
                  <a:pt x="5255" y="9426"/>
                  <a:pt x="14682" y="0"/>
                  <a:pt x="26276" y="0"/>
                </a:cubicBezTo>
                <a:lnTo>
                  <a:pt x="99848" y="0"/>
                </a:lnTo>
                <a:cubicBezTo>
                  <a:pt x="111443" y="0"/>
                  <a:pt x="120869" y="9426"/>
                  <a:pt x="120869" y="21021"/>
                </a:cubicBezTo>
                <a:lnTo>
                  <a:pt x="120869" y="147145"/>
                </a:lnTo>
                <a:cubicBezTo>
                  <a:pt x="120869" y="158739"/>
                  <a:pt x="111443" y="168166"/>
                  <a:pt x="99848" y="168166"/>
                </a:cubicBezTo>
                <a:lnTo>
                  <a:pt x="26276" y="168166"/>
                </a:lnTo>
                <a:cubicBezTo>
                  <a:pt x="14682" y="168166"/>
                  <a:pt x="5255" y="158739"/>
                  <a:pt x="5255" y="147145"/>
                </a:cubicBezTo>
                <a:lnTo>
                  <a:pt x="5255" y="21021"/>
                </a:lnTo>
                <a:close/>
                <a:moveTo>
                  <a:pt x="26276" y="21021"/>
                </a:moveTo>
                <a:lnTo>
                  <a:pt x="26276" y="120869"/>
                </a:lnTo>
                <a:lnTo>
                  <a:pt x="99848" y="120869"/>
                </a:lnTo>
                <a:lnTo>
                  <a:pt x="99848" y="21021"/>
                </a:lnTo>
                <a:lnTo>
                  <a:pt x="26276" y="21021"/>
                </a:lnTo>
                <a:close/>
                <a:moveTo>
                  <a:pt x="63062" y="155028"/>
                </a:moveTo>
                <a:cubicBezTo>
                  <a:pt x="68876" y="155028"/>
                  <a:pt x="73572" y="150331"/>
                  <a:pt x="73572" y="144517"/>
                </a:cubicBezTo>
                <a:cubicBezTo>
                  <a:pt x="73572" y="138704"/>
                  <a:pt x="68876" y="134007"/>
                  <a:pt x="63062" y="134007"/>
                </a:cubicBezTo>
                <a:cubicBezTo>
                  <a:pt x="57249" y="134007"/>
                  <a:pt x="52552" y="138704"/>
                  <a:pt x="52552" y="144517"/>
                </a:cubicBezTo>
                <a:cubicBezTo>
                  <a:pt x="52552" y="150331"/>
                  <a:pt x="57249" y="155028"/>
                  <a:pt x="63062" y="155028"/>
                </a:cubicBezTo>
                <a:close/>
              </a:path>
            </a:pathLst>
          </a:custGeom>
          <a:solidFill>
            <a:srgbClr val="D9A477"/>
          </a:solidFill>
          <a:ln/>
        </p:spPr>
      </p:sp>
      <p:sp>
        <p:nvSpPr>
          <p:cNvPr id="34" name="Text 31"/>
          <p:cNvSpPr/>
          <p:nvPr/>
        </p:nvSpPr>
        <p:spPr>
          <a:xfrm>
            <a:off x="9203442" y="3942547"/>
            <a:ext cx="579237" cy="186851"/>
          </a:xfrm>
          <a:prstGeom prst="rect">
            <a:avLst/>
          </a:prstGeom>
          <a:noFill/>
          <a:ln/>
        </p:spPr>
        <p:txBody>
          <a:bodyPr wrap="square" lIns="0" tIns="0" rIns="0" bIns="0" rtlCol="0" anchor="ctr"/>
          <a:lstStyle/>
          <a:p>
            <a:pPr>
              <a:lnSpc>
                <a:spcPct val="120000"/>
              </a:lnSpc>
            </a:pPr>
            <a:r>
              <a:rPr lang="en-US" sz="1030" dirty="0">
                <a:solidFill>
                  <a:srgbClr val="E8E8E8">
                    <a:alpha val="90000"/>
                  </a:srgbClr>
                </a:solidFill>
                <a:latin typeface="MiSans" pitchFamily="34" charset="0"/>
                <a:ea typeface="MiSans" pitchFamily="34" charset="-122"/>
                <a:cs typeface="MiSans" pitchFamily="34" charset="-120"/>
              </a:rPr>
              <a:t>APP操控</a:t>
            </a:r>
            <a:endParaRPr lang="en-US" sz="1600" dirty="0"/>
          </a:p>
        </p:txBody>
      </p:sp>
      <p:sp>
        <p:nvSpPr>
          <p:cNvPr id="35" name="Shape 32"/>
          <p:cNvSpPr/>
          <p:nvPr/>
        </p:nvSpPr>
        <p:spPr>
          <a:xfrm>
            <a:off x="5186505" y="4465729"/>
            <a:ext cx="6635064" cy="2148782"/>
          </a:xfrm>
          <a:custGeom>
            <a:avLst/>
            <a:gdLst/>
            <a:ahLst/>
            <a:cxnLst/>
            <a:rect l="l" t="t" r="r" b="b"/>
            <a:pathLst>
              <a:path w="6635064" h="2148782">
                <a:moveTo>
                  <a:pt x="0" y="0"/>
                </a:moveTo>
                <a:lnTo>
                  <a:pt x="6635064" y="0"/>
                </a:lnTo>
                <a:lnTo>
                  <a:pt x="6635064" y="2148782"/>
                </a:lnTo>
                <a:lnTo>
                  <a:pt x="0" y="2148782"/>
                </a:lnTo>
                <a:lnTo>
                  <a:pt x="0" y="0"/>
                </a:lnTo>
                <a:close/>
              </a:path>
            </a:pathLst>
          </a:custGeom>
          <a:solidFill>
            <a:srgbClr val="6D7275">
              <a:alpha val="14902"/>
            </a:srgbClr>
          </a:solidFill>
          <a:ln/>
        </p:spPr>
      </p:sp>
      <p:sp>
        <p:nvSpPr>
          <p:cNvPr id="36" name="Shape 33"/>
          <p:cNvSpPr/>
          <p:nvPr/>
        </p:nvSpPr>
        <p:spPr>
          <a:xfrm>
            <a:off x="5186505" y="4465729"/>
            <a:ext cx="22422" cy="2148782"/>
          </a:xfrm>
          <a:custGeom>
            <a:avLst/>
            <a:gdLst/>
            <a:ahLst/>
            <a:cxnLst/>
            <a:rect l="l" t="t" r="r" b="b"/>
            <a:pathLst>
              <a:path w="22422" h="2148782">
                <a:moveTo>
                  <a:pt x="0" y="0"/>
                </a:moveTo>
                <a:lnTo>
                  <a:pt x="22422" y="0"/>
                </a:lnTo>
                <a:lnTo>
                  <a:pt x="22422" y="2148782"/>
                </a:lnTo>
                <a:lnTo>
                  <a:pt x="0" y="2148782"/>
                </a:lnTo>
                <a:lnTo>
                  <a:pt x="0" y="0"/>
                </a:lnTo>
                <a:close/>
              </a:path>
            </a:pathLst>
          </a:custGeom>
          <a:solidFill>
            <a:srgbClr val="6D7275"/>
          </a:solidFill>
          <a:ln/>
        </p:spPr>
      </p:sp>
      <p:sp>
        <p:nvSpPr>
          <p:cNvPr id="37" name="Shape 34"/>
          <p:cNvSpPr/>
          <p:nvPr/>
        </p:nvSpPr>
        <p:spPr>
          <a:xfrm>
            <a:off x="5384567" y="4652579"/>
            <a:ext cx="523182" cy="523182"/>
          </a:xfrm>
          <a:custGeom>
            <a:avLst/>
            <a:gdLst/>
            <a:ahLst/>
            <a:cxnLst/>
            <a:rect l="l" t="t" r="r" b="b"/>
            <a:pathLst>
              <a:path w="523182" h="523182">
                <a:moveTo>
                  <a:pt x="0" y="0"/>
                </a:moveTo>
                <a:lnTo>
                  <a:pt x="523182" y="0"/>
                </a:lnTo>
                <a:lnTo>
                  <a:pt x="523182" y="523182"/>
                </a:lnTo>
                <a:lnTo>
                  <a:pt x="0" y="523182"/>
                </a:lnTo>
                <a:lnTo>
                  <a:pt x="0" y="0"/>
                </a:lnTo>
                <a:close/>
              </a:path>
            </a:pathLst>
          </a:custGeom>
          <a:solidFill>
            <a:srgbClr val="6D7275"/>
          </a:solidFill>
          <a:ln/>
        </p:spPr>
      </p:sp>
      <p:sp>
        <p:nvSpPr>
          <p:cNvPr id="38" name="Text 35"/>
          <p:cNvSpPr/>
          <p:nvPr/>
        </p:nvSpPr>
        <p:spPr>
          <a:xfrm>
            <a:off x="5328512" y="4652579"/>
            <a:ext cx="635292" cy="523182"/>
          </a:xfrm>
          <a:prstGeom prst="rect">
            <a:avLst/>
          </a:prstGeom>
          <a:noFill/>
          <a:ln/>
        </p:spPr>
        <p:txBody>
          <a:bodyPr wrap="square" lIns="0" tIns="0" rIns="0" bIns="0" rtlCol="0" anchor="ctr"/>
          <a:lstStyle/>
          <a:p>
            <a:pPr algn="ctr">
              <a:lnSpc>
                <a:spcPct val="110000"/>
              </a:lnSpc>
            </a:pPr>
            <a:r>
              <a:rPr lang="en-US" sz="1766" b="1" dirty="0">
                <a:solidFill>
                  <a:srgbClr val="FFFFFF"/>
                </a:solidFill>
                <a:latin typeface="MiSans" pitchFamily="34" charset="0"/>
                <a:ea typeface="MiSans" pitchFamily="34" charset="-122"/>
                <a:cs typeface="MiSans" pitchFamily="34" charset="-120"/>
              </a:rPr>
              <a:t>03</a:t>
            </a:r>
            <a:endParaRPr lang="en-US" sz="1600" dirty="0"/>
          </a:p>
        </p:txBody>
      </p:sp>
      <p:sp>
        <p:nvSpPr>
          <p:cNvPr id="39" name="Text 36"/>
          <p:cNvSpPr/>
          <p:nvPr/>
        </p:nvSpPr>
        <p:spPr>
          <a:xfrm>
            <a:off x="6094599" y="4652579"/>
            <a:ext cx="5633545" cy="261591"/>
          </a:xfrm>
          <a:prstGeom prst="rect">
            <a:avLst/>
          </a:prstGeom>
          <a:noFill/>
          <a:ln/>
        </p:spPr>
        <p:txBody>
          <a:bodyPr wrap="square" lIns="0" tIns="0" rIns="0" bIns="0" rtlCol="0" anchor="ctr"/>
          <a:lstStyle/>
          <a:p>
            <a:pPr>
              <a:lnSpc>
                <a:spcPct val="120000"/>
              </a:lnSpc>
            </a:pPr>
            <a:r>
              <a:rPr lang="en-US" sz="1471" b="1" dirty="0">
                <a:solidFill>
                  <a:srgbClr val="E8E8E8"/>
                </a:solidFill>
                <a:latin typeface="MiSans" pitchFamily="34" charset="0"/>
                <a:ea typeface="MiSans" pitchFamily="34" charset="-122"/>
                <a:cs typeface="MiSans" pitchFamily="34" charset="-120"/>
              </a:rPr>
              <a:t>价值回报</a:t>
            </a:r>
            <a:endParaRPr lang="en-US" sz="1600" dirty="0"/>
          </a:p>
        </p:txBody>
      </p:sp>
      <p:sp>
        <p:nvSpPr>
          <p:cNvPr id="40" name="Text 37"/>
          <p:cNvSpPr/>
          <p:nvPr/>
        </p:nvSpPr>
        <p:spPr>
          <a:xfrm>
            <a:off x="6094599" y="5026280"/>
            <a:ext cx="5614860" cy="728717"/>
          </a:xfrm>
          <a:prstGeom prst="rect">
            <a:avLst/>
          </a:prstGeom>
          <a:noFill/>
          <a:ln/>
        </p:spPr>
        <p:txBody>
          <a:bodyPr wrap="square" lIns="0" tIns="0" rIns="0" bIns="0" rtlCol="0" anchor="ctr"/>
          <a:lstStyle/>
          <a:p>
            <a:pPr>
              <a:lnSpc>
                <a:spcPct val="140000"/>
              </a:lnSpc>
            </a:pPr>
            <a:r>
              <a:rPr lang="en-US" sz="1177" dirty="0">
                <a:solidFill>
                  <a:srgbClr val="E8E8E8">
                    <a:alpha val="85000"/>
                  </a:srgbClr>
                </a:solidFill>
                <a:latin typeface="MiSans" pitchFamily="34" charset="0"/>
                <a:ea typeface="MiSans" pitchFamily="34" charset="-122"/>
                <a:cs typeface="MiSans" pitchFamily="34" charset="-120"/>
              </a:rPr>
              <a:t>提供</a:t>
            </a:r>
            <a:r>
              <a:rPr lang="en-US" sz="1177" b="1" dirty="0">
                <a:solidFill>
                  <a:srgbClr val="D9A477"/>
                </a:solidFill>
                <a:latin typeface="MiSans" pitchFamily="34" charset="0"/>
                <a:ea typeface="MiSans" pitchFamily="34" charset="-122"/>
                <a:cs typeface="MiSans" pitchFamily="34" charset="-120"/>
              </a:rPr>
              <a:t>可视化能耗报告</a:t>
            </a:r>
            <a:r>
              <a:rPr lang="en-US" sz="1177" dirty="0">
                <a:solidFill>
                  <a:srgbClr val="E8E8E8">
                    <a:alpha val="85000"/>
                  </a:srgbClr>
                </a:solidFill>
                <a:latin typeface="MiSans" pitchFamily="34" charset="0"/>
                <a:ea typeface="MiSans" pitchFamily="34" charset="-122"/>
                <a:cs typeface="MiSans" pitchFamily="34" charset="-120"/>
              </a:rPr>
              <a:t>,帮助用户优化用电习惯,降低能源成本。根据大量用户反馈,Nest恒温器平均每年可节省电费约</a:t>
            </a:r>
            <a:r>
              <a:rPr lang="en-US" sz="1177" b="1" dirty="0">
                <a:solidFill>
                  <a:srgbClr val="D9A477"/>
                </a:solidFill>
                <a:latin typeface="MiSans" pitchFamily="34" charset="0"/>
                <a:ea typeface="MiSans" pitchFamily="34" charset="-122"/>
                <a:cs typeface="MiSans" pitchFamily="34" charset="-120"/>
              </a:rPr>
              <a:t>10%-15%</a:t>
            </a:r>
            <a:r>
              <a:rPr lang="en-US" sz="1177" dirty="0">
                <a:solidFill>
                  <a:srgbClr val="E8E8E8">
                    <a:alpha val="85000"/>
                  </a:srgbClr>
                </a:solidFill>
                <a:latin typeface="MiSans" pitchFamily="34" charset="0"/>
                <a:ea typeface="MiSans" pitchFamily="34" charset="-122"/>
                <a:cs typeface="MiSans" pitchFamily="34" charset="-120"/>
              </a:rPr>
              <a:t>,在设备生命周期内为用户创造显著的经济价值。</a:t>
            </a:r>
            <a:endParaRPr lang="en-US" sz="1600" dirty="0"/>
          </a:p>
        </p:txBody>
      </p:sp>
      <p:sp>
        <p:nvSpPr>
          <p:cNvPr id="41" name="Text 38"/>
          <p:cNvSpPr/>
          <p:nvPr/>
        </p:nvSpPr>
        <p:spPr>
          <a:xfrm>
            <a:off x="6010516" y="5867108"/>
            <a:ext cx="1270584" cy="373701"/>
          </a:xfrm>
          <a:prstGeom prst="rect">
            <a:avLst/>
          </a:prstGeom>
          <a:noFill/>
          <a:ln/>
        </p:spPr>
        <p:txBody>
          <a:bodyPr wrap="square" lIns="0" tIns="0" rIns="0" bIns="0" rtlCol="0" anchor="ctr"/>
          <a:lstStyle/>
          <a:p>
            <a:pPr algn="ctr">
              <a:lnSpc>
                <a:spcPct val="90000"/>
              </a:lnSpc>
            </a:pPr>
            <a:r>
              <a:rPr lang="en-US" sz="2648" b="1" dirty="0">
                <a:solidFill>
                  <a:srgbClr val="D9A477"/>
                </a:solidFill>
                <a:latin typeface="MiSans" pitchFamily="34" charset="0"/>
                <a:ea typeface="MiSans" pitchFamily="34" charset="-122"/>
                <a:cs typeface="MiSans" pitchFamily="34" charset="-120"/>
              </a:rPr>
              <a:t>10-15%</a:t>
            </a:r>
            <a:endParaRPr lang="en-US" sz="1600" dirty="0"/>
          </a:p>
        </p:txBody>
      </p:sp>
      <p:sp>
        <p:nvSpPr>
          <p:cNvPr id="42" name="Text 39"/>
          <p:cNvSpPr/>
          <p:nvPr/>
        </p:nvSpPr>
        <p:spPr>
          <a:xfrm>
            <a:off x="6061900" y="6240809"/>
            <a:ext cx="1167816" cy="186851"/>
          </a:xfrm>
          <a:prstGeom prst="rect">
            <a:avLst/>
          </a:prstGeom>
          <a:noFill/>
          <a:ln/>
        </p:spPr>
        <p:txBody>
          <a:bodyPr wrap="square" lIns="0" tIns="0" rIns="0" bIns="0" rtlCol="0" anchor="ctr"/>
          <a:lstStyle/>
          <a:p>
            <a:pPr algn="ctr">
              <a:lnSpc>
                <a:spcPct val="120000"/>
              </a:lnSpc>
            </a:pPr>
            <a:r>
              <a:rPr lang="en-US" sz="1030" dirty="0">
                <a:solidFill>
                  <a:srgbClr val="E8E8E8">
                    <a:alpha val="70000"/>
                  </a:srgbClr>
                </a:solidFill>
                <a:latin typeface="MiSans" pitchFamily="34" charset="0"/>
                <a:ea typeface="MiSans" pitchFamily="34" charset="-122"/>
                <a:cs typeface="MiSans" pitchFamily="34" charset="-120"/>
              </a:rPr>
              <a:t>年均节省</a:t>
            </a:r>
            <a:endParaRPr lang="en-US" sz="1600" dirty="0"/>
          </a:p>
        </p:txBody>
      </p:sp>
      <p:sp>
        <p:nvSpPr>
          <p:cNvPr id="43" name="Shape 40"/>
          <p:cNvSpPr/>
          <p:nvPr/>
        </p:nvSpPr>
        <p:spPr>
          <a:xfrm>
            <a:off x="7346965" y="5923163"/>
            <a:ext cx="9343" cy="448441"/>
          </a:xfrm>
          <a:custGeom>
            <a:avLst/>
            <a:gdLst/>
            <a:ahLst/>
            <a:cxnLst/>
            <a:rect l="l" t="t" r="r" b="b"/>
            <a:pathLst>
              <a:path w="9343" h="448441">
                <a:moveTo>
                  <a:pt x="0" y="0"/>
                </a:moveTo>
                <a:lnTo>
                  <a:pt x="9343" y="0"/>
                </a:lnTo>
                <a:lnTo>
                  <a:pt x="9343" y="448441"/>
                </a:lnTo>
                <a:lnTo>
                  <a:pt x="0" y="448441"/>
                </a:lnTo>
                <a:lnTo>
                  <a:pt x="0" y="0"/>
                </a:lnTo>
                <a:close/>
              </a:path>
            </a:pathLst>
          </a:custGeom>
          <a:solidFill>
            <a:srgbClr val="6D7275"/>
          </a:solidFill>
          <a:ln/>
        </p:spPr>
      </p:sp>
      <p:sp>
        <p:nvSpPr>
          <p:cNvPr id="44" name="Text 41"/>
          <p:cNvSpPr/>
          <p:nvPr/>
        </p:nvSpPr>
        <p:spPr>
          <a:xfrm>
            <a:off x="7421705" y="5867108"/>
            <a:ext cx="691347" cy="373701"/>
          </a:xfrm>
          <a:prstGeom prst="rect">
            <a:avLst/>
          </a:prstGeom>
          <a:noFill/>
          <a:ln/>
        </p:spPr>
        <p:txBody>
          <a:bodyPr wrap="square" lIns="0" tIns="0" rIns="0" bIns="0" rtlCol="0" anchor="ctr"/>
          <a:lstStyle/>
          <a:p>
            <a:pPr algn="ctr">
              <a:lnSpc>
                <a:spcPct val="90000"/>
              </a:lnSpc>
            </a:pPr>
            <a:r>
              <a:rPr lang="en-US" sz="2648" b="1" dirty="0">
                <a:solidFill>
                  <a:srgbClr val="D9A477"/>
                </a:solidFill>
                <a:latin typeface="MiSans" pitchFamily="34" charset="0"/>
                <a:ea typeface="MiSans" pitchFamily="34" charset="-122"/>
                <a:cs typeface="MiSans" pitchFamily="34" charset="-120"/>
              </a:rPr>
              <a:t>2年</a:t>
            </a:r>
            <a:endParaRPr lang="en-US" sz="1600" dirty="0"/>
          </a:p>
        </p:txBody>
      </p:sp>
      <p:sp>
        <p:nvSpPr>
          <p:cNvPr id="45" name="Text 42"/>
          <p:cNvSpPr/>
          <p:nvPr/>
        </p:nvSpPr>
        <p:spPr>
          <a:xfrm>
            <a:off x="7473089" y="6240809"/>
            <a:ext cx="588579" cy="186851"/>
          </a:xfrm>
          <a:prstGeom prst="rect">
            <a:avLst/>
          </a:prstGeom>
          <a:noFill/>
          <a:ln/>
        </p:spPr>
        <p:txBody>
          <a:bodyPr wrap="square" lIns="0" tIns="0" rIns="0" bIns="0" rtlCol="0" anchor="ctr"/>
          <a:lstStyle/>
          <a:p>
            <a:pPr algn="ctr">
              <a:lnSpc>
                <a:spcPct val="120000"/>
              </a:lnSpc>
            </a:pPr>
            <a:r>
              <a:rPr lang="en-US" sz="1030" dirty="0">
                <a:solidFill>
                  <a:srgbClr val="E8E8E8">
                    <a:alpha val="70000"/>
                  </a:srgbClr>
                </a:solidFill>
                <a:latin typeface="MiSans" pitchFamily="34" charset="0"/>
                <a:ea typeface="MiSans" pitchFamily="34" charset="-122"/>
                <a:cs typeface="MiSans" pitchFamily="34" charset="-120"/>
              </a:rPr>
              <a:t>回本周期</a:t>
            </a:r>
            <a:endParaRPr lang="en-US" sz="1600" dirty="0"/>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9813" y="379813"/>
            <a:ext cx="11498841" cy="189907"/>
          </a:xfrm>
          <a:prstGeom prst="rect">
            <a:avLst/>
          </a:prstGeom>
          <a:noFill/>
          <a:ln/>
        </p:spPr>
        <p:txBody>
          <a:bodyPr wrap="square" lIns="0" tIns="0" rIns="0" bIns="0" rtlCol="0" anchor="ctr"/>
          <a:lstStyle/>
          <a:p>
            <a:pPr>
              <a:lnSpc>
                <a:spcPct val="120000"/>
              </a:lnSpc>
            </a:pPr>
            <a:r>
              <a:rPr lang="en-US" sz="1047" b="1" kern="0" spc="209" dirty="0">
                <a:solidFill>
                  <a:srgbClr val="D9A477"/>
                </a:solidFill>
                <a:latin typeface="MiSans" pitchFamily="34" charset="0"/>
                <a:ea typeface="MiSans" pitchFamily="34" charset="-122"/>
                <a:cs typeface="MiSans" pitchFamily="34" charset="-120"/>
              </a:rPr>
              <a:t>Value Proposition</a:t>
            </a:r>
            <a:endParaRPr lang="en-US" sz="1600" dirty="0"/>
          </a:p>
        </p:txBody>
      </p:sp>
      <p:sp>
        <p:nvSpPr>
          <p:cNvPr id="3" name="Text 1"/>
          <p:cNvSpPr/>
          <p:nvPr/>
        </p:nvSpPr>
        <p:spPr>
          <a:xfrm>
            <a:off x="379813" y="645682"/>
            <a:ext cx="11603290" cy="379813"/>
          </a:xfrm>
          <a:prstGeom prst="rect">
            <a:avLst/>
          </a:prstGeom>
          <a:noFill/>
          <a:ln/>
        </p:spPr>
        <p:txBody>
          <a:bodyPr wrap="square" lIns="0" tIns="0" rIns="0" bIns="0" rtlCol="0" anchor="ctr"/>
          <a:lstStyle/>
          <a:p>
            <a:pPr>
              <a:lnSpc>
                <a:spcPct val="90000"/>
              </a:lnSpc>
            </a:pPr>
            <a:r>
              <a:rPr lang="en-US" sz="2692" b="1" dirty="0">
                <a:solidFill>
                  <a:srgbClr val="E8E8E8"/>
                </a:solidFill>
                <a:latin typeface="MiSans" pitchFamily="34" charset="0"/>
                <a:ea typeface="MiSans" pitchFamily="34" charset="-122"/>
                <a:cs typeface="MiSans" pitchFamily="34" charset="-120"/>
              </a:rPr>
              <a:t>价值重塑:从开销到投资</a:t>
            </a:r>
            <a:endParaRPr lang="en-US" sz="1600" dirty="0"/>
          </a:p>
        </p:txBody>
      </p:sp>
      <p:sp>
        <p:nvSpPr>
          <p:cNvPr id="4" name="Shape 2"/>
          <p:cNvSpPr/>
          <p:nvPr/>
        </p:nvSpPr>
        <p:spPr>
          <a:xfrm>
            <a:off x="391207" y="1253383"/>
            <a:ext cx="5547170" cy="4158953"/>
          </a:xfrm>
          <a:custGeom>
            <a:avLst/>
            <a:gdLst/>
            <a:ahLst/>
            <a:cxnLst/>
            <a:rect l="l" t="t" r="r" b="b"/>
            <a:pathLst>
              <a:path w="5547170" h="4158953">
                <a:moveTo>
                  <a:pt x="0" y="0"/>
                </a:moveTo>
                <a:lnTo>
                  <a:pt x="5547170" y="0"/>
                </a:lnTo>
                <a:lnTo>
                  <a:pt x="5547170" y="4158953"/>
                </a:lnTo>
                <a:lnTo>
                  <a:pt x="0" y="4158953"/>
                </a:lnTo>
                <a:lnTo>
                  <a:pt x="0" y="0"/>
                </a:lnTo>
                <a:close/>
              </a:path>
            </a:pathLst>
          </a:custGeom>
          <a:solidFill>
            <a:srgbClr val="6D7275">
              <a:alpha val="14902"/>
            </a:srgbClr>
          </a:solidFill>
          <a:ln/>
        </p:spPr>
      </p:sp>
      <p:sp>
        <p:nvSpPr>
          <p:cNvPr id="5" name="Shape 3"/>
          <p:cNvSpPr/>
          <p:nvPr/>
        </p:nvSpPr>
        <p:spPr>
          <a:xfrm>
            <a:off x="391207" y="1253383"/>
            <a:ext cx="22789" cy="4158953"/>
          </a:xfrm>
          <a:custGeom>
            <a:avLst/>
            <a:gdLst/>
            <a:ahLst/>
            <a:cxnLst/>
            <a:rect l="l" t="t" r="r" b="b"/>
            <a:pathLst>
              <a:path w="22789" h="4158953">
                <a:moveTo>
                  <a:pt x="0" y="0"/>
                </a:moveTo>
                <a:lnTo>
                  <a:pt x="22789" y="0"/>
                </a:lnTo>
                <a:lnTo>
                  <a:pt x="22789" y="4158953"/>
                </a:lnTo>
                <a:lnTo>
                  <a:pt x="0" y="4158953"/>
                </a:lnTo>
                <a:lnTo>
                  <a:pt x="0" y="0"/>
                </a:lnTo>
                <a:close/>
              </a:path>
            </a:pathLst>
          </a:custGeom>
          <a:solidFill>
            <a:srgbClr val="6D7275"/>
          </a:solidFill>
          <a:ln/>
        </p:spPr>
      </p:sp>
      <p:sp>
        <p:nvSpPr>
          <p:cNvPr id="6" name="Shape 4"/>
          <p:cNvSpPr/>
          <p:nvPr/>
        </p:nvSpPr>
        <p:spPr>
          <a:xfrm>
            <a:off x="721882" y="1490650"/>
            <a:ext cx="178037" cy="284860"/>
          </a:xfrm>
          <a:custGeom>
            <a:avLst/>
            <a:gdLst/>
            <a:ahLst/>
            <a:cxnLst/>
            <a:rect l="l" t="t" r="r" b="b"/>
            <a:pathLst>
              <a:path w="178037" h="284860">
                <a:moveTo>
                  <a:pt x="89019" y="0"/>
                </a:moveTo>
                <a:cubicBezTo>
                  <a:pt x="59531" y="0"/>
                  <a:pt x="35607" y="23924"/>
                  <a:pt x="35607" y="53411"/>
                </a:cubicBezTo>
                <a:lnTo>
                  <a:pt x="35607" y="145045"/>
                </a:lnTo>
                <a:cubicBezTo>
                  <a:pt x="19195" y="159677"/>
                  <a:pt x="8902" y="181042"/>
                  <a:pt x="8902" y="204743"/>
                </a:cubicBezTo>
                <a:cubicBezTo>
                  <a:pt x="8902" y="248974"/>
                  <a:pt x="44788" y="284860"/>
                  <a:pt x="89019" y="284860"/>
                </a:cubicBezTo>
                <a:cubicBezTo>
                  <a:pt x="133250" y="284860"/>
                  <a:pt x="169136" y="248974"/>
                  <a:pt x="169136" y="204743"/>
                </a:cubicBezTo>
                <a:cubicBezTo>
                  <a:pt x="169136" y="181042"/>
                  <a:pt x="158843" y="159677"/>
                  <a:pt x="142430" y="145045"/>
                </a:cubicBezTo>
                <a:lnTo>
                  <a:pt x="142430" y="53411"/>
                </a:lnTo>
                <a:cubicBezTo>
                  <a:pt x="142430" y="23924"/>
                  <a:pt x="118506" y="0"/>
                  <a:pt x="89019" y="0"/>
                </a:cubicBezTo>
                <a:close/>
                <a:moveTo>
                  <a:pt x="124626" y="204743"/>
                </a:moveTo>
                <a:cubicBezTo>
                  <a:pt x="124626" y="224383"/>
                  <a:pt x="108658" y="240350"/>
                  <a:pt x="89019" y="240350"/>
                </a:cubicBezTo>
                <a:cubicBezTo>
                  <a:pt x="69379" y="240350"/>
                  <a:pt x="53411" y="224383"/>
                  <a:pt x="53411" y="204743"/>
                </a:cubicBezTo>
                <a:cubicBezTo>
                  <a:pt x="53411" y="189777"/>
                  <a:pt x="62591" y="176980"/>
                  <a:pt x="75666" y="171750"/>
                </a:cubicBezTo>
                <a:lnTo>
                  <a:pt x="75666" y="120175"/>
                </a:lnTo>
                <a:cubicBezTo>
                  <a:pt x="75666" y="112776"/>
                  <a:pt x="81619" y="106822"/>
                  <a:pt x="89019" y="106822"/>
                </a:cubicBezTo>
                <a:cubicBezTo>
                  <a:pt x="96418" y="106822"/>
                  <a:pt x="102371" y="112776"/>
                  <a:pt x="102371" y="120175"/>
                </a:cubicBezTo>
                <a:lnTo>
                  <a:pt x="102371" y="171750"/>
                </a:lnTo>
                <a:cubicBezTo>
                  <a:pt x="115446" y="177036"/>
                  <a:pt x="124626" y="189832"/>
                  <a:pt x="124626" y="204743"/>
                </a:cubicBezTo>
                <a:close/>
              </a:path>
            </a:pathLst>
          </a:custGeom>
          <a:solidFill>
            <a:srgbClr val="6D7275"/>
          </a:solidFill>
          <a:ln/>
        </p:spPr>
      </p:sp>
      <p:sp>
        <p:nvSpPr>
          <p:cNvPr id="7" name="Text 5"/>
          <p:cNvSpPr/>
          <p:nvPr/>
        </p:nvSpPr>
        <p:spPr>
          <a:xfrm>
            <a:off x="1100508" y="1481271"/>
            <a:ext cx="1025495" cy="303850"/>
          </a:xfrm>
          <a:prstGeom prst="rect">
            <a:avLst/>
          </a:prstGeom>
          <a:noFill/>
          <a:ln/>
        </p:spPr>
        <p:txBody>
          <a:bodyPr wrap="square" lIns="0" tIns="0" rIns="0" bIns="0" rtlCol="0" anchor="ctr"/>
          <a:lstStyle/>
          <a:p>
            <a:pPr>
              <a:lnSpc>
                <a:spcPct val="110000"/>
              </a:lnSpc>
            </a:pPr>
            <a:r>
              <a:rPr lang="en-US" sz="1794" b="1" dirty="0">
                <a:solidFill>
                  <a:srgbClr val="E8E8E8"/>
                </a:solidFill>
                <a:latin typeface="MiSans" pitchFamily="34" charset="0"/>
                <a:ea typeface="MiSans" pitchFamily="34" charset="-122"/>
                <a:cs typeface="MiSans" pitchFamily="34" charset="-120"/>
              </a:rPr>
              <a:t>传统产品</a:t>
            </a:r>
            <a:endParaRPr lang="en-US" sz="1600" dirty="0"/>
          </a:p>
        </p:txBody>
      </p:sp>
      <p:sp>
        <p:nvSpPr>
          <p:cNvPr id="8" name="Text 6"/>
          <p:cNvSpPr/>
          <p:nvPr/>
        </p:nvSpPr>
        <p:spPr>
          <a:xfrm>
            <a:off x="630490" y="2012893"/>
            <a:ext cx="5146467" cy="189907"/>
          </a:xfrm>
          <a:prstGeom prst="rect">
            <a:avLst/>
          </a:prstGeom>
          <a:noFill/>
          <a:ln/>
        </p:spPr>
        <p:txBody>
          <a:bodyPr wrap="square" lIns="0" tIns="0" rIns="0" bIns="0" rtlCol="0" anchor="ctr"/>
          <a:lstStyle/>
          <a:p>
            <a:pPr>
              <a:lnSpc>
                <a:spcPct val="120000"/>
              </a:lnSpc>
            </a:pPr>
            <a:r>
              <a:rPr lang="en-US" sz="1047" dirty="0">
                <a:solidFill>
                  <a:srgbClr val="E8E8E8">
                    <a:alpha val="70000"/>
                  </a:srgbClr>
                </a:solidFill>
                <a:latin typeface="MiSans" pitchFamily="34" charset="0"/>
                <a:ea typeface="MiSans" pitchFamily="34" charset="-122"/>
                <a:cs typeface="MiSans" pitchFamily="34" charset="-120"/>
              </a:rPr>
              <a:t>价格</a:t>
            </a:r>
            <a:endParaRPr lang="en-US" sz="1600" dirty="0"/>
          </a:p>
        </p:txBody>
      </p:sp>
      <p:sp>
        <p:nvSpPr>
          <p:cNvPr id="9" name="Text 7"/>
          <p:cNvSpPr/>
          <p:nvPr/>
        </p:nvSpPr>
        <p:spPr>
          <a:xfrm>
            <a:off x="630490" y="2278763"/>
            <a:ext cx="1243888" cy="455776"/>
          </a:xfrm>
          <a:prstGeom prst="rect">
            <a:avLst/>
          </a:prstGeom>
          <a:noFill/>
          <a:ln/>
        </p:spPr>
        <p:txBody>
          <a:bodyPr wrap="square" lIns="0" tIns="0" rIns="0" bIns="0" rtlCol="0" anchor="ctr"/>
          <a:lstStyle/>
          <a:p>
            <a:pPr>
              <a:lnSpc>
                <a:spcPct val="80000"/>
              </a:lnSpc>
            </a:pPr>
            <a:r>
              <a:rPr lang="en-US" sz="3589" b="1" dirty="0">
                <a:solidFill>
                  <a:srgbClr val="6D7275"/>
                </a:solidFill>
                <a:latin typeface="MiSans" pitchFamily="34" charset="0"/>
                <a:ea typeface="MiSans" pitchFamily="34" charset="-122"/>
                <a:cs typeface="MiSans" pitchFamily="34" charset="-120"/>
              </a:rPr>
              <a:t>$100</a:t>
            </a:r>
            <a:endParaRPr lang="en-US" sz="1600" dirty="0"/>
          </a:p>
        </p:txBody>
      </p:sp>
      <p:sp>
        <p:nvSpPr>
          <p:cNvPr id="10" name="Text 8"/>
          <p:cNvSpPr/>
          <p:nvPr/>
        </p:nvSpPr>
        <p:spPr>
          <a:xfrm>
            <a:off x="1718773" y="2483858"/>
            <a:ext cx="427290" cy="265869"/>
          </a:xfrm>
          <a:prstGeom prst="rect">
            <a:avLst/>
          </a:prstGeom>
          <a:noFill/>
          <a:ln/>
        </p:spPr>
        <p:txBody>
          <a:bodyPr wrap="square" lIns="0" tIns="0" rIns="0" bIns="0" rtlCol="0" anchor="ctr"/>
          <a:lstStyle/>
          <a:p>
            <a:pPr>
              <a:lnSpc>
                <a:spcPct val="130000"/>
              </a:lnSpc>
            </a:pPr>
            <a:r>
              <a:rPr lang="en-US" sz="1346" dirty="0">
                <a:solidFill>
                  <a:srgbClr val="E8E8E8">
                    <a:alpha val="70000"/>
                  </a:srgbClr>
                </a:solidFill>
                <a:latin typeface="MiSans" pitchFamily="34" charset="0"/>
                <a:ea typeface="MiSans" pitchFamily="34" charset="-122"/>
                <a:cs typeface="MiSans" pitchFamily="34" charset="-120"/>
              </a:rPr>
              <a:t>美元</a:t>
            </a:r>
            <a:endParaRPr lang="en-US" sz="1600" dirty="0"/>
          </a:p>
        </p:txBody>
      </p:sp>
      <p:sp>
        <p:nvSpPr>
          <p:cNvPr id="11" name="Text 9"/>
          <p:cNvSpPr/>
          <p:nvPr/>
        </p:nvSpPr>
        <p:spPr>
          <a:xfrm>
            <a:off x="630490" y="2977615"/>
            <a:ext cx="5155963" cy="227888"/>
          </a:xfrm>
          <a:prstGeom prst="rect">
            <a:avLst/>
          </a:prstGeom>
          <a:noFill/>
          <a:ln/>
        </p:spPr>
        <p:txBody>
          <a:bodyPr wrap="square" lIns="0" tIns="0" rIns="0" bIns="0" rtlCol="0" anchor="ctr"/>
          <a:lstStyle/>
          <a:p>
            <a:pPr>
              <a:lnSpc>
                <a:spcPct val="130000"/>
              </a:lnSpc>
            </a:pPr>
            <a:r>
              <a:rPr lang="en-US" sz="1196" b="1" dirty="0">
                <a:solidFill>
                  <a:srgbClr val="E8E8E8"/>
                </a:solidFill>
                <a:latin typeface="MiSans" pitchFamily="34" charset="0"/>
                <a:ea typeface="MiSans" pitchFamily="34" charset="-122"/>
                <a:cs typeface="MiSans" pitchFamily="34" charset="-120"/>
              </a:rPr>
              <a:t>价值</a:t>
            </a:r>
            <a:endParaRPr lang="en-US" sz="1600" dirty="0"/>
          </a:p>
        </p:txBody>
      </p:sp>
      <p:sp>
        <p:nvSpPr>
          <p:cNvPr id="12" name="Text 10"/>
          <p:cNvSpPr/>
          <p:nvPr/>
        </p:nvSpPr>
        <p:spPr>
          <a:xfrm>
            <a:off x="630490" y="3319447"/>
            <a:ext cx="5155963" cy="493757"/>
          </a:xfrm>
          <a:prstGeom prst="rect">
            <a:avLst/>
          </a:prstGeom>
          <a:noFill/>
          <a:ln/>
        </p:spPr>
        <p:txBody>
          <a:bodyPr wrap="square" lIns="0" tIns="0" rIns="0" bIns="0" rtlCol="0" anchor="ctr"/>
          <a:lstStyle/>
          <a:p>
            <a:pPr>
              <a:lnSpc>
                <a:spcPct val="140000"/>
              </a:lnSpc>
            </a:pPr>
            <a:r>
              <a:rPr lang="en-US" sz="1196" dirty="0">
                <a:solidFill>
                  <a:srgbClr val="E8E8E8">
                    <a:alpha val="85000"/>
                  </a:srgbClr>
                </a:solidFill>
                <a:latin typeface="MiSans" pitchFamily="34" charset="0"/>
                <a:ea typeface="MiSans" pitchFamily="34" charset="-122"/>
                <a:cs typeface="MiSans" pitchFamily="34" charset="-120"/>
              </a:rPr>
              <a:t>仅限于基础的</a:t>
            </a:r>
            <a:r>
              <a:rPr lang="en-US" sz="1196" b="1" dirty="0">
                <a:solidFill>
                  <a:srgbClr val="E8E8E8">
                    <a:alpha val="85000"/>
                  </a:srgbClr>
                </a:solidFill>
                <a:latin typeface="MiSans" pitchFamily="34" charset="0"/>
                <a:ea typeface="MiSans" pitchFamily="34" charset="-122"/>
                <a:cs typeface="MiSans" pitchFamily="34" charset="-120"/>
              </a:rPr>
              <a:t>温度调节功能</a:t>
            </a:r>
            <a:r>
              <a:rPr lang="en-US" sz="1196" dirty="0">
                <a:solidFill>
                  <a:srgbClr val="E8E8E8">
                    <a:alpha val="85000"/>
                  </a:srgbClr>
                </a:solidFill>
                <a:latin typeface="MiSans" pitchFamily="34" charset="0"/>
                <a:ea typeface="MiSans" pitchFamily="34" charset="-122"/>
                <a:cs typeface="MiSans" pitchFamily="34" charset="-120"/>
              </a:rPr>
              <a:t>,需要用户频繁手动操作,无法根据生活习惯自动优化,缺乏智能化和联网能力。</a:t>
            </a:r>
            <a:endParaRPr lang="en-US" sz="1600" dirty="0"/>
          </a:p>
        </p:txBody>
      </p:sp>
      <p:sp>
        <p:nvSpPr>
          <p:cNvPr id="13" name="Shape 11"/>
          <p:cNvSpPr/>
          <p:nvPr/>
        </p:nvSpPr>
        <p:spPr>
          <a:xfrm>
            <a:off x="630490" y="3965129"/>
            <a:ext cx="5080000" cy="797607"/>
          </a:xfrm>
          <a:custGeom>
            <a:avLst/>
            <a:gdLst/>
            <a:ahLst/>
            <a:cxnLst/>
            <a:rect l="l" t="t" r="r" b="b"/>
            <a:pathLst>
              <a:path w="5080000" h="797607">
                <a:moveTo>
                  <a:pt x="0" y="0"/>
                </a:moveTo>
                <a:lnTo>
                  <a:pt x="5080000" y="0"/>
                </a:lnTo>
                <a:lnTo>
                  <a:pt x="5080000" y="797607"/>
                </a:lnTo>
                <a:lnTo>
                  <a:pt x="0" y="797607"/>
                </a:lnTo>
                <a:lnTo>
                  <a:pt x="0" y="0"/>
                </a:lnTo>
                <a:close/>
              </a:path>
            </a:pathLst>
          </a:custGeom>
          <a:solidFill>
            <a:srgbClr val="1A1D21"/>
          </a:solidFill>
          <a:ln/>
        </p:spPr>
      </p:sp>
      <p:sp>
        <p:nvSpPr>
          <p:cNvPr id="14" name="Shape 12"/>
          <p:cNvSpPr/>
          <p:nvPr/>
        </p:nvSpPr>
        <p:spPr>
          <a:xfrm>
            <a:off x="801406" y="4147441"/>
            <a:ext cx="151925" cy="151925"/>
          </a:xfrm>
          <a:custGeom>
            <a:avLst/>
            <a:gdLst/>
            <a:ahLst/>
            <a:cxnLst/>
            <a:rect l="l" t="t" r="r" b="b"/>
            <a:pathLst>
              <a:path w="151925" h="151925">
                <a:moveTo>
                  <a:pt x="75963" y="151925"/>
                </a:moveTo>
                <a:cubicBezTo>
                  <a:pt x="117888" y="151925"/>
                  <a:pt x="151925" y="117888"/>
                  <a:pt x="151925" y="75963"/>
                </a:cubicBezTo>
                <a:cubicBezTo>
                  <a:pt x="151925" y="34038"/>
                  <a:pt x="117888" y="0"/>
                  <a:pt x="75963" y="0"/>
                </a:cubicBezTo>
                <a:cubicBezTo>
                  <a:pt x="34038" y="0"/>
                  <a:pt x="0" y="34038"/>
                  <a:pt x="0" y="75963"/>
                </a:cubicBezTo>
                <a:cubicBezTo>
                  <a:pt x="0" y="117888"/>
                  <a:pt x="34038" y="151925"/>
                  <a:pt x="75963" y="151925"/>
                </a:cubicBezTo>
                <a:close/>
                <a:moveTo>
                  <a:pt x="49554" y="49554"/>
                </a:moveTo>
                <a:cubicBezTo>
                  <a:pt x="52343" y="46764"/>
                  <a:pt x="56853" y="46764"/>
                  <a:pt x="59613" y="49554"/>
                </a:cubicBezTo>
                <a:lnTo>
                  <a:pt x="75933" y="65874"/>
                </a:lnTo>
                <a:lnTo>
                  <a:pt x="92253" y="49554"/>
                </a:lnTo>
                <a:cubicBezTo>
                  <a:pt x="95042" y="46764"/>
                  <a:pt x="99553" y="46764"/>
                  <a:pt x="102312" y="49554"/>
                </a:cubicBezTo>
                <a:cubicBezTo>
                  <a:pt x="105072" y="52343"/>
                  <a:pt x="105101" y="56853"/>
                  <a:pt x="102312" y="59613"/>
                </a:cubicBezTo>
                <a:lnTo>
                  <a:pt x="85992" y="75933"/>
                </a:lnTo>
                <a:lnTo>
                  <a:pt x="102312" y="92253"/>
                </a:lnTo>
                <a:cubicBezTo>
                  <a:pt x="105101" y="95042"/>
                  <a:pt x="105101" y="99553"/>
                  <a:pt x="102312" y="102312"/>
                </a:cubicBezTo>
                <a:cubicBezTo>
                  <a:pt x="99523" y="105072"/>
                  <a:pt x="95013" y="105101"/>
                  <a:pt x="92253" y="102312"/>
                </a:cubicBezTo>
                <a:lnTo>
                  <a:pt x="75933" y="85992"/>
                </a:lnTo>
                <a:lnTo>
                  <a:pt x="59613" y="102312"/>
                </a:lnTo>
                <a:cubicBezTo>
                  <a:pt x="56824" y="105101"/>
                  <a:pt x="52313" y="105101"/>
                  <a:pt x="49554" y="102312"/>
                </a:cubicBezTo>
                <a:cubicBezTo>
                  <a:pt x="46794" y="99523"/>
                  <a:pt x="46764" y="95013"/>
                  <a:pt x="49554" y="92253"/>
                </a:cubicBezTo>
                <a:lnTo>
                  <a:pt x="65874" y="75933"/>
                </a:lnTo>
                <a:lnTo>
                  <a:pt x="49554" y="59613"/>
                </a:lnTo>
                <a:cubicBezTo>
                  <a:pt x="46764" y="56824"/>
                  <a:pt x="46764" y="52313"/>
                  <a:pt x="49554" y="49554"/>
                </a:cubicBezTo>
                <a:close/>
              </a:path>
            </a:pathLst>
          </a:custGeom>
          <a:solidFill>
            <a:srgbClr val="6D7275"/>
          </a:solidFill>
          <a:ln/>
        </p:spPr>
      </p:sp>
      <p:sp>
        <p:nvSpPr>
          <p:cNvPr id="15" name="Text 13"/>
          <p:cNvSpPr/>
          <p:nvPr/>
        </p:nvSpPr>
        <p:spPr>
          <a:xfrm>
            <a:off x="1029116" y="4117054"/>
            <a:ext cx="4605411" cy="227888"/>
          </a:xfrm>
          <a:prstGeom prst="rect">
            <a:avLst/>
          </a:prstGeom>
          <a:noFill/>
          <a:ln/>
        </p:spPr>
        <p:txBody>
          <a:bodyPr wrap="square" lIns="0" tIns="0" rIns="0" bIns="0" rtlCol="0" anchor="ctr"/>
          <a:lstStyle/>
          <a:p>
            <a:pPr>
              <a:lnSpc>
                <a:spcPct val="130000"/>
              </a:lnSpc>
            </a:pPr>
            <a:r>
              <a:rPr lang="en-US" sz="1196" dirty="0">
                <a:solidFill>
                  <a:srgbClr val="E8E8E8">
                    <a:alpha val="80000"/>
                  </a:srgbClr>
                </a:solidFill>
                <a:latin typeface="MiSans" pitchFamily="34" charset="0"/>
                <a:ea typeface="MiSans" pitchFamily="34" charset="-122"/>
                <a:cs typeface="MiSans" pitchFamily="34" charset="-120"/>
              </a:rPr>
              <a:t>单一功能设备</a:t>
            </a:r>
            <a:endParaRPr lang="en-US" sz="1600" dirty="0"/>
          </a:p>
        </p:txBody>
      </p:sp>
      <p:sp>
        <p:nvSpPr>
          <p:cNvPr id="16" name="Text 14"/>
          <p:cNvSpPr/>
          <p:nvPr/>
        </p:nvSpPr>
        <p:spPr>
          <a:xfrm>
            <a:off x="782415" y="4420905"/>
            <a:ext cx="4842617" cy="189907"/>
          </a:xfrm>
          <a:prstGeom prst="rect">
            <a:avLst/>
          </a:prstGeom>
          <a:noFill/>
          <a:ln/>
        </p:spPr>
        <p:txBody>
          <a:bodyPr wrap="square" lIns="0" tIns="0" rIns="0" bIns="0" rtlCol="0" anchor="ctr"/>
          <a:lstStyle/>
          <a:p>
            <a:pPr>
              <a:lnSpc>
                <a:spcPct val="120000"/>
              </a:lnSpc>
            </a:pPr>
            <a:r>
              <a:rPr lang="en-US" sz="1047" dirty="0">
                <a:solidFill>
                  <a:srgbClr val="E8E8E8">
                    <a:alpha val="60000"/>
                  </a:srgbClr>
                </a:solidFill>
                <a:latin typeface="MiSans" pitchFamily="34" charset="0"/>
                <a:ea typeface="MiSans" pitchFamily="34" charset="-122"/>
                <a:cs typeface="MiSans" pitchFamily="34" charset="-120"/>
              </a:rPr>
              <a:t>用户支出为纯成本,无法创造额外价值</a:t>
            </a:r>
            <a:endParaRPr lang="en-US" sz="1600" dirty="0"/>
          </a:p>
        </p:txBody>
      </p:sp>
      <p:sp>
        <p:nvSpPr>
          <p:cNvPr id="17" name="Shape 15"/>
          <p:cNvSpPr/>
          <p:nvPr/>
        </p:nvSpPr>
        <p:spPr>
          <a:xfrm>
            <a:off x="6257183" y="1253383"/>
            <a:ext cx="5547170" cy="4158953"/>
          </a:xfrm>
          <a:custGeom>
            <a:avLst/>
            <a:gdLst/>
            <a:ahLst/>
            <a:cxnLst/>
            <a:rect l="l" t="t" r="r" b="b"/>
            <a:pathLst>
              <a:path w="5547170" h="4158953">
                <a:moveTo>
                  <a:pt x="0" y="0"/>
                </a:moveTo>
                <a:lnTo>
                  <a:pt x="5547170" y="0"/>
                </a:lnTo>
                <a:lnTo>
                  <a:pt x="5547170" y="4158953"/>
                </a:lnTo>
                <a:lnTo>
                  <a:pt x="0" y="4158953"/>
                </a:lnTo>
                <a:lnTo>
                  <a:pt x="0" y="0"/>
                </a:lnTo>
                <a:close/>
              </a:path>
            </a:pathLst>
          </a:custGeom>
          <a:solidFill>
            <a:srgbClr val="D9A477">
              <a:alpha val="14902"/>
            </a:srgbClr>
          </a:solidFill>
          <a:ln/>
        </p:spPr>
      </p:sp>
      <p:sp>
        <p:nvSpPr>
          <p:cNvPr id="18" name="Shape 16"/>
          <p:cNvSpPr/>
          <p:nvPr/>
        </p:nvSpPr>
        <p:spPr>
          <a:xfrm>
            <a:off x="6257183" y="1253383"/>
            <a:ext cx="22789" cy="4158953"/>
          </a:xfrm>
          <a:custGeom>
            <a:avLst/>
            <a:gdLst/>
            <a:ahLst/>
            <a:cxnLst/>
            <a:rect l="l" t="t" r="r" b="b"/>
            <a:pathLst>
              <a:path w="22789" h="4158953">
                <a:moveTo>
                  <a:pt x="0" y="0"/>
                </a:moveTo>
                <a:lnTo>
                  <a:pt x="22789" y="0"/>
                </a:lnTo>
                <a:lnTo>
                  <a:pt x="22789" y="4158953"/>
                </a:lnTo>
                <a:lnTo>
                  <a:pt x="0" y="4158953"/>
                </a:lnTo>
                <a:lnTo>
                  <a:pt x="0" y="0"/>
                </a:lnTo>
                <a:close/>
              </a:path>
            </a:pathLst>
          </a:custGeom>
          <a:solidFill>
            <a:srgbClr val="D9A477"/>
          </a:solidFill>
          <a:ln/>
        </p:spPr>
      </p:sp>
      <p:sp>
        <p:nvSpPr>
          <p:cNvPr id="19" name="Shape 17"/>
          <p:cNvSpPr/>
          <p:nvPr/>
        </p:nvSpPr>
        <p:spPr>
          <a:xfrm>
            <a:off x="6534447" y="1490650"/>
            <a:ext cx="284860" cy="284860"/>
          </a:xfrm>
          <a:custGeom>
            <a:avLst/>
            <a:gdLst/>
            <a:ahLst/>
            <a:cxnLst/>
            <a:rect l="l" t="t" r="r" b="b"/>
            <a:pathLst>
              <a:path w="284860" h="284860">
                <a:moveTo>
                  <a:pt x="97921" y="13353"/>
                </a:moveTo>
                <a:cubicBezTo>
                  <a:pt x="97921" y="5953"/>
                  <a:pt x="91967" y="0"/>
                  <a:pt x="84568" y="0"/>
                </a:cubicBezTo>
                <a:cubicBezTo>
                  <a:pt x="77168" y="0"/>
                  <a:pt x="71215" y="5953"/>
                  <a:pt x="71215" y="13353"/>
                </a:cubicBezTo>
                <a:lnTo>
                  <a:pt x="71215" y="35607"/>
                </a:lnTo>
                <a:cubicBezTo>
                  <a:pt x="51575" y="35607"/>
                  <a:pt x="35607" y="51575"/>
                  <a:pt x="35607" y="71215"/>
                </a:cubicBezTo>
                <a:lnTo>
                  <a:pt x="13353" y="71215"/>
                </a:lnTo>
                <a:cubicBezTo>
                  <a:pt x="5953" y="71215"/>
                  <a:pt x="0" y="77168"/>
                  <a:pt x="0" y="84568"/>
                </a:cubicBezTo>
                <a:cubicBezTo>
                  <a:pt x="0" y="91967"/>
                  <a:pt x="5953" y="97921"/>
                  <a:pt x="13353" y="97921"/>
                </a:cubicBezTo>
                <a:lnTo>
                  <a:pt x="35607" y="97921"/>
                </a:lnTo>
                <a:lnTo>
                  <a:pt x="35607" y="129077"/>
                </a:lnTo>
                <a:lnTo>
                  <a:pt x="13353" y="129077"/>
                </a:lnTo>
                <a:cubicBezTo>
                  <a:pt x="5953" y="129077"/>
                  <a:pt x="0" y="135030"/>
                  <a:pt x="0" y="142430"/>
                </a:cubicBezTo>
                <a:cubicBezTo>
                  <a:pt x="0" y="149830"/>
                  <a:pt x="5953" y="155783"/>
                  <a:pt x="13353" y="155783"/>
                </a:cubicBezTo>
                <a:lnTo>
                  <a:pt x="35607" y="155783"/>
                </a:lnTo>
                <a:lnTo>
                  <a:pt x="35607" y="186939"/>
                </a:lnTo>
                <a:lnTo>
                  <a:pt x="13353" y="186939"/>
                </a:lnTo>
                <a:cubicBezTo>
                  <a:pt x="5953" y="186939"/>
                  <a:pt x="0" y="192892"/>
                  <a:pt x="0" y="200292"/>
                </a:cubicBezTo>
                <a:cubicBezTo>
                  <a:pt x="0" y="207692"/>
                  <a:pt x="5953" y="213645"/>
                  <a:pt x="13353" y="213645"/>
                </a:cubicBezTo>
                <a:lnTo>
                  <a:pt x="35607" y="213645"/>
                </a:lnTo>
                <a:cubicBezTo>
                  <a:pt x="35607" y="233285"/>
                  <a:pt x="51575" y="249252"/>
                  <a:pt x="71215" y="249252"/>
                </a:cubicBezTo>
                <a:lnTo>
                  <a:pt x="71215" y="271507"/>
                </a:lnTo>
                <a:cubicBezTo>
                  <a:pt x="71215" y="278907"/>
                  <a:pt x="77168" y="284860"/>
                  <a:pt x="84568" y="284860"/>
                </a:cubicBezTo>
                <a:cubicBezTo>
                  <a:pt x="91967" y="284860"/>
                  <a:pt x="97921" y="278907"/>
                  <a:pt x="97921" y="271507"/>
                </a:cubicBezTo>
                <a:lnTo>
                  <a:pt x="97921" y="249252"/>
                </a:lnTo>
                <a:lnTo>
                  <a:pt x="129077" y="249252"/>
                </a:lnTo>
                <a:lnTo>
                  <a:pt x="129077" y="271507"/>
                </a:lnTo>
                <a:cubicBezTo>
                  <a:pt x="129077" y="278907"/>
                  <a:pt x="135030" y="284860"/>
                  <a:pt x="142430" y="284860"/>
                </a:cubicBezTo>
                <a:cubicBezTo>
                  <a:pt x="149830" y="284860"/>
                  <a:pt x="155783" y="278907"/>
                  <a:pt x="155783" y="271507"/>
                </a:cubicBezTo>
                <a:lnTo>
                  <a:pt x="155783" y="249252"/>
                </a:lnTo>
                <a:lnTo>
                  <a:pt x="186939" y="249252"/>
                </a:lnTo>
                <a:lnTo>
                  <a:pt x="186939" y="271507"/>
                </a:lnTo>
                <a:cubicBezTo>
                  <a:pt x="186939" y="278907"/>
                  <a:pt x="192892" y="284860"/>
                  <a:pt x="200292" y="284860"/>
                </a:cubicBezTo>
                <a:cubicBezTo>
                  <a:pt x="207692" y="284860"/>
                  <a:pt x="213645" y="278907"/>
                  <a:pt x="213645" y="271507"/>
                </a:cubicBezTo>
                <a:lnTo>
                  <a:pt x="213645" y="249252"/>
                </a:lnTo>
                <a:cubicBezTo>
                  <a:pt x="233285" y="249252"/>
                  <a:pt x="249252" y="233285"/>
                  <a:pt x="249252" y="213645"/>
                </a:cubicBezTo>
                <a:lnTo>
                  <a:pt x="271507" y="213645"/>
                </a:lnTo>
                <a:cubicBezTo>
                  <a:pt x="278907" y="213645"/>
                  <a:pt x="284860" y="207692"/>
                  <a:pt x="284860" y="200292"/>
                </a:cubicBezTo>
                <a:cubicBezTo>
                  <a:pt x="284860" y="192892"/>
                  <a:pt x="278907" y="186939"/>
                  <a:pt x="271507" y="186939"/>
                </a:cubicBezTo>
                <a:lnTo>
                  <a:pt x="249252" y="186939"/>
                </a:lnTo>
                <a:lnTo>
                  <a:pt x="249252" y="155783"/>
                </a:lnTo>
                <a:lnTo>
                  <a:pt x="271507" y="155783"/>
                </a:lnTo>
                <a:cubicBezTo>
                  <a:pt x="278907" y="155783"/>
                  <a:pt x="284860" y="149830"/>
                  <a:pt x="284860" y="142430"/>
                </a:cubicBezTo>
                <a:cubicBezTo>
                  <a:pt x="284860" y="135030"/>
                  <a:pt x="278907" y="129077"/>
                  <a:pt x="271507" y="129077"/>
                </a:cubicBezTo>
                <a:lnTo>
                  <a:pt x="249252" y="129077"/>
                </a:lnTo>
                <a:lnTo>
                  <a:pt x="249252" y="97921"/>
                </a:lnTo>
                <a:lnTo>
                  <a:pt x="271507" y="97921"/>
                </a:lnTo>
                <a:cubicBezTo>
                  <a:pt x="278907" y="97921"/>
                  <a:pt x="284860" y="91967"/>
                  <a:pt x="284860" y="84568"/>
                </a:cubicBezTo>
                <a:cubicBezTo>
                  <a:pt x="284860" y="77168"/>
                  <a:pt x="278907" y="71215"/>
                  <a:pt x="271507" y="71215"/>
                </a:cubicBezTo>
                <a:lnTo>
                  <a:pt x="249252" y="71215"/>
                </a:lnTo>
                <a:cubicBezTo>
                  <a:pt x="249252" y="51575"/>
                  <a:pt x="233285" y="35607"/>
                  <a:pt x="213645" y="35607"/>
                </a:cubicBezTo>
                <a:lnTo>
                  <a:pt x="213645" y="13353"/>
                </a:lnTo>
                <a:cubicBezTo>
                  <a:pt x="213645" y="5953"/>
                  <a:pt x="207692" y="0"/>
                  <a:pt x="200292" y="0"/>
                </a:cubicBezTo>
                <a:cubicBezTo>
                  <a:pt x="192892" y="0"/>
                  <a:pt x="186939" y="5953"/>
                  <a:pt x="186939" y="13353"/>
                </a:cubicBezTo>
                <a:lnTo>
                  <a:pt x="186939" y="35607"/>
                </a:lnTo>
                <a:lnTo>
                  <a:pt x="155783" y="35607"/>
                </a:lnTo>
                <a:lnTo>
                  <a:pt x="155783" y="13353"/>
                </a:lnTo>
                <a:cubicBezTo>
                  <a:pt x="155783" y="5953"/>
                  <a:pt x="149830" y="0"/>
                  <a:pt x="142430" y="0"/>
                </a:cubicBezTo>
                <a:cubicBezTo>
                  <a:pt x="135030" y="0"/>
                  <a:pt x="129077" y="5953"/>
                  <a:pt x="129077" y="13353"/>
                </a:cubicBezTo>
                <a:lnTo>
                  <a:pt x="129077" y="35607"/>
                </a:lnTo>
                <a:lnTo>
                  <a:pt x="97921" y="35607"/>
                </a:lnTo>
                <a:lnTo>
                  <a:pt x="97921" y="13353"/>
                </a:lnTo>
                <a:close/>
                <a:moveTo>
                  <a:pt x="89019" y="71215"/>
                </a:moveTo>
                <a:lnTo>
                  <a:pt x="195841" y="71215"/>
                </a:lnTo>
                <a:cubicBezTo>
                  <a:pt x="205689" y="71215"/>
                  <a:pt x="213645" y="79171"/>
                  <a:pt x="213645" y="89019"/>
                </a:cubicBezTo>
                <a:lnTo>
                  <a:pt x="213645" y="195841"/>
                </a:lnTo>
                <a:cubicBezTo>
                  <a:pt x="213645" y="205689"/>
                  <a:pt x="205689" y="213645"/>
                  <a:pt x="195841" y="213645"/>
                </a:cubicBezTo>
                <a:lnTo>
                  <a:pt x="89019" y="213645"/>
                </a:lnTo>
                <a:cubicBezTo>
                  <a:pt x="79171" y="213645"/>
                  <a:pt x="71215" y="205689"/>
                  <a:pt x="71215" y="195841"/>
                </a:cubicBezTo>
                <a:lnTo>
                  <a:pt x="71215" y="89019"/>
                </a:lnTo>
                <a:cubicBezTo>
                  <a:pt x="71215" y="79171"/>
                  <a:pt x="79171" y="71215"/>
                  <a:pt x="89019" y="71215"/>
                </a:cubicBezTo>
                <a:close/>
                <a:moveTo>
                  <a:pt x="97921" y="97921"/>
                </a:moveTo>
                <a:lnTo>
                  <a:pt x="97921" y="186939"/>
                </a:lnTo>
                <a:lnTo>
                  <a:pt x="186939" y="186939"/>
                </a:lnTo>
                <a:lnTo>
                  <a:pt x="186939" y="97921"/>
                </a:lnTo>
                <a:lnTo>
                  <a:pt x="97921" y="97921"/>
                </a:lnTo>
                <a:close/>
              </a:path>
            </a:pathLst>
          </a:custGeom>
          <a:solidFill>
            <a:srgbClr val="D9A477"/>
          </a:solidFill>
          <a:ln/>
        </p:spPr>
      </p:sp>
      <p:sp>
        <p:nvSpPr>
          <p:cNvPr id="20" name="Text 18"/>
          <p:cNvSpPr/>
          <p:nvPr/>
        </p:nvSpPr>
        <p:spPr>
          <a:xfrm>
            <a:off x="6966484" y="1481271"/>
            <a:ext cx="1053981" cy="303850"/>
          </a:xfrm>
          <a:prstGeom prst="rect">
            <a:avLst/>
          </a:prstGeom>
          <a:noFill/>
          <a:ln/>
        </p:spPr>
        <p:txBody>
          <a:bodyPr wrap="square" lIns="0" tIns="0" rIns="0" bIns="0" rtlCol="0" anchor="ctr"/>
          <a:lstStyle/>
          <a:p>
            <a:pPr>
              <a:lnSpc>
                <a:spcPct val="110000"/>
              </a:lnSpc>
            </a:pPr>
            <a:r>
              <a:rPr lang="en-US" sz="1794" b="1" dirty="0">
                <a:solidFill>
                  <a:srgbClr val="E8E8E8"/>
                </a:solidFill>
                <a:latin typeface="MiSans" pitchFamily="34" charset="0"/>
                <a:ea typeface="MiSans" pitchFamily="34" charset="-122"/>
                <a:cs typeface="MiSans" pitchFamily="34" charset="-120"/>
              </a:rPr>
              <a:t>Nest产品</a:t>
            </a:r>
            <a:endParaRPr lang="en-US" sz="1600" dirty="0"/>
          </a:p>
        </p:txBody>
      </p:sp>
      <p:sp>
        <p:nvSpPr>
          <p:cNvPr id="21" name="Text 19"/>
          <p:cNvSpPr/>
          <p:nvPr/>
        </p:nvSpPr>
        <p:spPr>
          <a:xfrm>
            <a:off x="6496465" y="2012893"/>
            <a:ext cx="5146467" cy="189907"/>
          </a:xfrm>
          <a:prstGeom prst="rect">
            <a:avLst/>
          </a:prstGeom>
          <a:noFill/>
          <a:ln/>
        </p:spPr>
        <p:txBody>
          <a:bodyPr wrap="square" lIns="0" tIns="0" rIns="0" bIns="0" rtlCol="0" anchor="ctr"/>
          <a:lstStyle/>
          <a:p>
            <a:pPr>
              <a:lnSpc>
                <a:spcPct val="120000"/>
              </a:lnSpc>
            </a:pPr>
            <a:r>
              <a:rPr lang="en-US" sz="1047" dirty="0">
                <a:solidFill>
                  <a:srgbClr val="E8E8E8">
                    <a:alpha val="70000"/>
                  </a:srgbClr>
                </a:solidFill>
                <a:latin typeface="MiSans" pitchFamily="34" charset="0"/>
                <a:ea typeface="MiSans" pitchFamily="34" charset="-122"/>
                <a:cs typeface="MiSans" pitchFamily="34" charset="-120"/>
              </a:rPr>
              <a:t>价格</a:t>
            </a:r>
            <a:endParaRPr lang="en-US" sz="1600" dirty="0"/>
          </a:p>
        </p:txBody>
      </p:sp>
      <p:sp>
        <p:nvSpPr>
          <p:cNvPr id="22" name="Text 20"/>
          <p:cNvSpPr/>
          <p:nvPr/>
        </p:nvSpPr>
        <p:spPr>
          <a:xfrm>
            <a:off x="6496465" y="2278763"/>
            <a:ext cx="1281869" cy="455776"/>
          </a:xfrm>
          <a:prstGeom prst="rect">
            <a:avLst/>
          </a:prstGeom>
          <a:noFill/>
          <a:ln/>
        </p:spPr>
        <p:txBody>
          <a:bodyPr wrap="square" lIns="0" tIns="0" rIns="0" bIns="0" rtlCol="0" anchor="ctr"/>
          <a:lstStyle/>
          <a:p>
            <a:pPr>
              <a:lnSpc>
                <a:spcPct val="80000"/>
              </a:lnSpc>
            </a:pPr>
            <a:r>
              <a:rPr lang="en-US" sz="3589" b="1" dirty="0">
                <a:solidFill>
                  <a:srgbClr val="D9A477"/>
                </a:solidFill>
                <a:latin typeface="MiSans" pitchFamily="34" charset="0"/>
                <a:ea typeface="MiSans" pitchFamily="34" charset="-122"/>
                <a:cs typeface="MiSans" pitchFamily="34" charset="-120"/>
              </a:rPr>
              <a:t>$249</a:t>
            </a:r>
            <a:endParaRPr lang="en-US" sz="1600" dirty="0"/>
          </a:p>
        </p:txBody>
      </p:sp>
      <p:sp>
        <p:nvSpPr>
          <p:cNvPr id="23" name="Text 21"/>
          <p:cNvSpPr/>
          <p:nvPr/>
        </p:nvSpPr>
        <p:spPr>
          <a:xfrm>
            <a:off x="7628546" y="2483858"/>
            <a:ext cx="427290" cy="265869"/>
          </a:xfrm>
          <a:prstGeom prst="rect">
            <a:avLst/>
          </a:prstGeom>
          <a:noFill/>
          <a:ln/>
        </p:spPr>
        <p:txBody>
          <a:bodyPr wrap="square" lIns="0" tIns="0" rIns="0" bIns="0" rtlCol="0" anchor="ctr"/>
          <a:lstStyle/>
          <a:p>
            <a:pPr>
              <a:lnSpc>
                <a:spcPct val="130000"/>
              </a:lnSpc>
            </a:pPr>
            <a:r>
              <a:rPr lang="en-US" sz="1346" dirty="0">
                <a:solidFill>
                  <a:srgbClr val="E8E8E8">
                    <a:alpha val="70000"/>
                  </a:srgbClr>
                </a:solidFill>
                <a:latin typeface="MiSans" pitchFamily="34" charset="0"/>
                <a:ea typeface="MiSans" pitchFamily="34" charset="-122"/>
                <a:cs typeface="MiSans" pitchFamily="34" charset="-120"/>
              </a:rPr>
              <a:t>美元</a:t>
            </a:r>
            <a:endParaRPr lang="en-US" sz="1600" dirty="0"/>
          </a:p>
        </p:txBody>
      </p:sp>
      <p:sp>
        <p:nvSpPr>
          <p:cNvPr id="24" name="Text 22"/>
          <p:cNvSpPr/>
          <p:nvPr/>
        </p:nvSpPr>
        <p:spPr>
          <a:xfrm>
            <a:off x="6496465" y="2977615"/>
            <a:ext cx="5155963" cy="227888"/>
          </a:xfrm>
          <a:prstGeom prst="rect">
            <a:avLst/>
          </a:prstGeom>
          <a:noFill/>
          <a:ln/>
        </p:spPr>
        <p:txBody>
          <a:bodyPr wrap="square" lIns="0" tIns="0" rIns="0" bIns="0" rtlCol="0" anchor="ctr"/>
          <a:lstStyle/>
          <a:p>
            <a:pPr>
              <a:lnSpc>
                <a:spcPct val="130000"/>
              </a:lnSpc>
            </a:pPr>
            <a:r>
              <a:rPr lang="en-US" sz="1196" b="1" dirty="0">
                <a:solidFill>
                  <a:srgbClr val="E8E8E8"/>
                </a:solidFill>
                <a:latin typeface="MiSans" pitchFamily="34" charset="0"/>
                <a:ea typeface="MiSans" pitchFamily="34" charset="-122"/>
                <a:cs typeface="MiSans" pitchFamily="34" charset="-120"/>
              </a:rPr>
              <a:t>价值</a:t>
            </a:r>
            <a:endParaRPr lang="en-US" sz="1600" dirty="0"/>
          </a:p>
        </p:txBody>
      </p:sp>
      <p:sp>
        <p:nvSpPr>
          <p:cNvPr id="25" name="Shape 23"/>
          <p:cNvSpPr/>
          <p:nvPr/>
        </p:nvSpPr>
        <p:spPr>
          <a:xfrm>
            <a:off x="6496465" y="3395409"/>
            <a:ext cx="75963" cy="75963"/>
          </a:xfrm>
          <a:custGeom>
            <a:avLst/>
            <a:gdLst/>
            <a:ahLst/>
            <a:cxnLst/>
            <a:rect l="l" t="t" r="r" b="b"/>
            <a:pathLst>
              <a:path w="75963" h="75963">
                <a:moveTo>
                  <a:pt x="0" y="0"/>
                </a:moveTo>
                <a:lnTo>
                  <a:pt x="75963" y="0"/>
                </a:lnTo>
                <a:lnTo>
                  <a:pt x="75963" y="75963"/>
                </a:lnTo>
                <a:lnTo>
                  <a:pt x="0" y="75963"/>
                </a:lnTo>
                <a:lnTo>
                  <a:pt x="0" y="0"/>
                </a:lnTo>
                <a:close/>
              </a:path>
            </a:pathLst>
          </a:custGeom>
          <a:solidFill>
            <a:srgbClr val="D9A477"/>
          </a:solidFill>
          <a:ln/>
        </p:spPr>
      </p:sp>
      <p:sp>
        <p:nvSpPr>
          <p:cNvPr id="26" name="Text 24"/>
          <p:cNvSpPr/>
          <p:nvPr/>
        </p:nvSpPr>
        <p:spPr>
          <a:xfrm>
            <a:off x="6686372" y="3319447"/>
            <a:ext cx="2934056" cy="227888"/>
          </a:xfrm>
          <a:prstGeom prst="rect">
            <a:avLst/>
          </a:prstGeom>
          <a:noFill/>
          <a:ln/>
        </p:spPr>
        <p:txBody>
          <a:bodyPr wrap="square" lIns="0" tIns="0" rIns="0" bIns="0" rtlCol="0" anchor="ctr"/>
          <a:lstStyle/>
          <a:p>
            <a:pPr>
              <a:lnSpc>
                <a:spcPct val="130000"/>
              </a:lnSpc>
            </a:pPr>
            <a:r>
              <a:rPr lang="en-US" sz="1196" b="1" dirty="0">
                <a:solidFill>
                  <a:srgbClr val="D9A477"/>
                </a:solidFill>
                <a:latin typeface="MiSans" pitchFamily="34" charset="0"/>
                <a:ea typeface="MiSans" pitchFamily="34" charset="-122"/>
                <a:cs typeface="MiSans" pitchFamily="34" charset="-120"/>
              </a:rPr>
              <a:t>智能学习:</a:t>
            </a:r>
            <a:r>
              <a:rPr lang="en-US" sz="1196" dirty="0">
                <a:solidFill>
                  <a:srgbClr val="E8E8E8">
                    <a:alpha val="90000"/>
                  </a:srgbClr>
                </a:solidFill>
                <a:latin typeface="MiSans" pitchFamily="34" charset="0"/>
                <a:ea typeface="MiSans" pitchFamily="34" charset="-122"/>
                <a:cs typeface="MiSans" pitchFamily="34" charset="-120"/>
              </a:rPr>
              <a:t> 自动适应用户习惯,无需频繁操作</a:t>
            </a:r>
            <a:endParaRPr lang="en-US" sz="1600" dirty="0"/>
          </a:p>
        </p:txBody>
      </p:sp>
      <p:sp>
        <p:nvSpPr>
          <p:cNvPr id="27" name="Shape 25"/>
          <p:cNvSpPr/>
          <p:nvPr/>
        </p:nvSpPr>
        <p:spPr>
          <a:xfrm>
            <a:off x="6496465" y="3737241"/>
            <a:ext cx="75963" cy="75963"/>
          </a:xfrm>
          <a:custGeom>
            <a:avLst/>
            <a:gdLst/>
            <a:ahLst/>
            <a:cxnLst/>
            <a:rect l="l" t="t" r="r" b="b"/>
            <a:pathLst>
              <a:path w="75963" h="75963">
                <a:moveTo>
                  <a:pt x="0" y="0"/>
                </a:moveTo>
                <a:lnTo>
                  <a:pt x="75963" y="0"/>
                </a:lnTo>
                <a:lnTo>
                  <a:pt x="75963" y="75963"/>
                </a:lnTo>
                <a:lnTo>
                  <a:pt x="0" y="75963"/>
                </a:lnTo>
                <a:lnTo>
                  <a:pt x="0" y="0"/>
                </a:lnTo>
                <a:close/>
              </a:path>
            </a:pathLst>
          </a:custGeom>
          <a:solidFill>
            <a:srgbClr val="D9A477"/>
          </a:solidFill>
          <a:ln/>
        </p:spPr>
      </p:sp>
      <p:sp>
        <p:nvSpPr>
          <p:cNvPr id="28" name="Text 26"/>
          <p:cNvSpPr/>
          <p:nvPr/>
        </p:nvSpPr>
        <p:spPr>
          <a:xfrm>
            <a:off x="6686372" y="3661279"/>
            <a:ext cx="3029009" cy="227888"/>
          </a:xfrm>
          <a:prstGeom prst="rect">
            <a:avLst/>
          </a:prstGeom>
          <a:noFill/>
          <a:ln/>
        </p:spPr>
        <p:txBody>
          <a:bodyPr wrap="square" lIns="0" tIns="0" rIns="0" bIns="0" rtlCol="0" anchor="ctr"/>
          <a:lstStyle/>
          <a:p>
            <a:pPr>
              <a:lnSpc>
                <a:spcPct val="130000"/>
              </a:lnSpc>
            </a:pPr>
            <a:r>
              <a:rPr lang="en-US" sz="1196" b="1" dirty="0">
                <a:solidFill>
                  <a:srgbClr val="D9A477"/>
                </a:solidFill>
                <a:latin typeface="MiSans" pitchFamily="34" charset="0"/>
                <a:ea typeface="MiSans" pitchFamily="34" charset="-122"/>
                <a:cs typeface="MiSans" pitchFamily="34" charset="-120"/>
              </a:rPr>
              <a:t>节能回报:</a:t>
            </a:r>
            <a:r>
              <a:rPr lang="en-US" sz="1196" dirty="0">
                <a:solidFill>
                  <a:srgbClr val="E8E8E8">
                    <a:alpha val="90000"/>
                  </a:srgbClr>
                </a:solidFill>
                <a:latin typeface="MiSans" pitchFamily="34" charset="0"/>
                <a:ea typeface="MiSans" pitchFamily="34" charset="-122"/>
                <a:cs typeface="MiSans" pitchFamily="34" charset="-120"/>
              </a:rPr>
              <a:t> 年均节省电费10%-15%,约2年回本</a:t>
            </a:r>
            <a:endParaRPr lang="en-US" sz="1600" dirty="0"/>
          </a:p>
        </p:txBody>
      </p:sp>
      <p:sp>
        <p:nvSpPr>
          <p:cNvPr id="29" name="Shape 27"/>
          <p:cNvSpPr/>
          <p:nvPr/>
        </p:nvSpPr>
        <p:spPr>
          <a:xfrm>
            <a:off x="6496465" y="4079073"/>
            <a:ext cx="75963" cy="75963"/>
          </a:xfrm>
          <a:custGeom>
            <a:avLst/>
            <a:gdLst/>
            <a:ahLst/>
            <a:cxnLst/>
            <a:rect l="l" t="t" r="r" b="b"/>
            <a:pathLst>
              <a:path w="75963" h="75963">
                <a:moveTo>
                  <a:pt x="0" y="0"/>
                </a:moveTo>
                <a:lnTo>
                  <a:pt x="75963" y="0"/>
                </a:lnTo>
                <a:lnTo>
                  <a:pt x="75963" y="75963"/>
                </a:lnTo>
                <a:lnTo>
                  <a:pt x="0" y="75963"/>
                </a:lnTo>
                <a:lnTo>
                  <a:pt x="0" y="0"/>
                </a:lnTo>
                <a:close/>
              </a:path>
            </a:pathLst>
          </a:custGeom>
          <a:solidFill>
            <a:srgbClr val="D9A477"/>
          </a:solidFill>
          <a:ln/>
        </p:spPr>
      </p:sp>
      <p:sp>
        <p:nvSpPr>
          <p:cNvPr id="30" name="Text 28"/>
          <p:cNvSpPr/>
          <p:nvPr/>
        </p:nvSpPr>
        <p:spPr>
          <a:xfrm>
            <a:off x="6686372" y="4003110"/>
            <a:ext cx="2924561" cy="227888"/>
          </a:xfrm>
          <a:prstGeom prst="rect">
            <a:avLst/>
          </a:prstGeom>
          <a:noFill/>
          <a:ln/>
        </p:spPr>
        <p:txBody>
          <a:bodyPr wrap="square" lIns="0" tIns="0" rIns="0" bIns="0" rtlCol="0" anchor="ctr"/>
          <a:lstStyle/>
          <a:p>
            <a:pPr>
              <a:lnSpc>
                <a:spcPct val="130000"/>
              </a:lnSpc>
            </a:pPr>
            <a:r>
              <a:rPr lang="en-US" sz="1196" b="1" dirty="0">
                <a:solidFill>
                  <a:srgbClr val="D9A477"/>
                </a:solidFill>
                <a:latin typeface="MiSans" pitchFamily="34" charset="0"/>
                <a:ea typeface="MiSans" pitchFamily="34" charset="-122"/>
                <a:cs typeface="MiSans" pitchFamily="34" charset="-120"/>
              </a:rPr>
              <a:t>极致体验:</a:t>
            </a:r>
            <a:r>
              <a:rPr lang="en-US" sz="1196" dirty="0">
                <a:solidFill>
                  <a:srgbClr val="E8E8E8">
                    <a:alpha val="90000"/>
                  </a:srgbClr>
                </a:solidFill>
                <a:latin typeface="MiSans" pitchFamily="34" charset="0"/>
                <a:ea typeface="MiSans" pitchFamily="34" charset="-122"/>
                <a:cs typeface="MiSans" pitchFamily="34" charset="-120"/>
              </a:rPr>
              <a:t> 精美设计+远程控制+可视化报告</a:t>
            </a:r>
            <a:endParaRPr lang="en-US" sz="1600" dirty="0"/>
          </a:p>
        </p:txBody>
      </p:sp>
      <p:sp>
        <p:nvSpPr>
          <p:cNvPr id="31" name="Shape 29"/>
          <p:cNvSpPr/>
          <p:nvPr/>
        </p:nvSpPr>
        <p:spPr>
          <a:xfrm>
            <a:off x="6496465" y="4382923"/>
            <a:ext cx="5080000" cy="797607"/>
          </a:xfrm>
          <a:custGeom>
            <a:avLst/>
            <a:gdLst/>
            <a:ahLst/>
            <a:cxnLst/>
            <a:rect l="l" t="t" r="r" b="b"/>
            <a:pathLst>
              <a:path w="5080000" h="797607">
                <a:moveTo>
                  <a:pt x="0" y="0"/>
                </a:moveTo>
                <a:lnTo>
                  <a:pt x="5080000" y="0"/>
                </a:lnTo>
                <a:lnTo>
                  <a:pt x="5080000" y="797607"/>
                </a:lnTo>
                <a:lnTo>
                  <a:pt x="0" y="797607"/>
                </a:lnTo>
                <a:lnTo>
                  <a:pt x="0" y="0"/>
                </a:lnTo>
                <a:close/>
              </a:path>
            </a:pathLst>
          </a:custGeom>
          <a:solidFill>
            <a:srgbClr val="1A1D21"/>
          </a:solidFill>
          <a:ln/>
        </p:spPr>
      </p:sp>
      <p:sp>
        <p:nvSpPr>
          <p:cNvPr id="32" name="Shape 30"/>
          <p:cNvSpPr/>
          <p:nvPr/>
        </p:nvSpPr>
        <p:spPr>
          <a:xfrm>
            <a:off x="6667381" y="4565236"/>
            <a:ext cx="151925" cy="151925"/>
          </a:xfrm>
          <a:custGeom>
            <a:avLst/>
            <a:gdLst/>
            <a:ahLst/>
            <a:cxnLst/>
            <a:rect l="l" t="t" r="r" b="b"/>
            <a:pathLst>
              <a:path w="151925" h="151925">
                <a:moveTo>
                  <a:pt x="75963" y="151925"/>
                </a:moveTo>
                <a:cubicBezTo>
                  <a:pt x="117888" y="151925"/>
                  <a:pt x="151925" y="117888"/>
                  <a:pt x="151925" y="75963"/>
                </a:cubicBezTo>
                <a:cubicBezTo>
                  <a:pt x="151925" y="34038"/>
                  <a:pt x="117888" y="0"/>
                  <a:pt x="75963" y="0"/>
                </a:cubicBezTo>
                <a:cubicBezTo>
                  <a:pt x="34038" y="0"/>
                  <a:pt x="0" y="34038"/>
                  <a:pt x="0" y="75963"/>
                </a:cubicBezTo>
                <a:cubicBezTo>
                  <a:pt x="0" y="117888"/>
                  <a:pt x="34038" y="151925"/>
                  <a:pt x="75963" y="151925"/>
                </a:cubicBezTo>
                <a:close/>
                <a:moveTo>
                  <a:pt x="101007" y="63114"/>
                </a:moveTo>
                <a:lnTo>
                  <a:pt x="77268" y="101096"/>
                </a:lnTo>
                <a:cubicBezTo>
                  <a:pt x="76022" y="103084"/>
                  <a:pt x="73886" y="104330"/>
                  <a:pt x="71541" y="104449"/>
                </a:cubicBezTo>
                <a:cubicBezTo>
                  <a:pt x="69197" y="104567"/>
                  <a:pt x="66942" y="103499"/>
                  <a:pt x="65547" y="101600"/>
                </a:cubicBezTo>
                <a:lnTo>
                  <a:pt x="51304" y="82609"/>
                </a:lnTo>
                <a:cubicBezTo>
                  <a:pt x="48931" y="79464"/>
                  <a:pt x="49583" y="75013"/>
                  <a:pt x="52729" y="72639"/>
                </a:cubicBezTo>
                <a:cubicBezTo>
                  <a:pt x="55874" y="70265"/>
                  <a:pt x="60325" y="70918"/>
                  <a:pt x="62699" y="74064"/>
                </a:cubicBezTo>
                <a:lnTo>
                  <a:pt x="70711" y="84746"/>
                </a:lnTo>
                <a:lnTo>
                  <a:pt x="88930" y="55577"/>
                </a:lnTo>
                <a:cubicBezTo>
                  <a:pt x="91007" y="52254"/>
                  <a:pt x="95398" y="51215"/>
                  <a:pt x="98751" y="53322"/>
                </a:cubicBezTo>
                <a:cubicBezTo>
                  <a:pt x="102104" y="55429"/>
                  <a:pt x="103113" y="59791"/>
                  <a:pt x="101007" y="63144"/>
                </a:cubicBezTo>
                <a:close/>
              </a:path>
            </a:pathLst>
          </a:custGeom>
          <a:solidFill>
            <a:srgbClr val="D9A477"/>
          </a:solidFill>
          <a:ln/>
        </p:spPr>
      </p:sp>
      <p:sp>
        <p:nvSpPr>
          <p:cNvPr id="33" name="Text 31"/>
          <p:cNvSpPr/>
          <p:nvPr/>
        </p:nvSpPr>
        <p:spPr>
          <a:xfrm>
            <a:off x="6895092" y="4534849"/>
            <a:ext cx="4605411" cy="227888"/>
          </a:xfrm>
          <a:prstGeom prst="rect">
            <a:avLst/>
          </a:prstGeom>
          <a:noFill/>
          <a:ln/>
        </p:spPr>
        <p:txBody>
          <a:bodyPr wrap="square" lIns="0" tIns="0" rIns="0" bIns="0" rtlCol="0" anchor="ctr"/>
          <a:lstStyle/>
          <a:p>
            <a:pPr>
              <a:lnSpc>
                <a:spcPct val="130000"/>
              </a:lnSpc>
            </a:pPr>
            <a:r>
              <a:rPr lang="en-US" sz="1196" dirty="0">
                <a:solidFill>
                  <a:srgbClr val="E8E8E8">
                    <a:alpha val="90000"/>
                  </a:srgbClr>
                </a:solidFill>
                <a:latin typeface="MiSans" pitchFamily="34" charset="0"/>
                <a:ea typeface="MiSans" pitchFamily="34" charset="-122"/>
                <a:cs typeface="MiSans" pitchFamily="34" charset="-120"/>
              </a:rPr>
              <a:t>投资性支出</a:t>
            </a:r>
            <a:endParaRPr lang="en-US" sz="1600" dirty="0"/>
          </a:p>
        </p:txBody>
      </p:sp>
      <p:sp>
        <p:nvSpPr>
          <p:cNvPr id="34" name="Text 32"/>
          <p:cNvSpPr/>
          <p:nvPr/>
        </p:nvSpPr>
        <p:spPr>
          <a:xfrm>
            <a:off x="6648391" y="4838699"/>
            <a:ext cx="4842617" cy="189907"/>
          </a:xfrm>
          <a:prstGeom prst="rect">
            <a:avLst/>
          </a:prstGeom>
          <a:noFill/>
          <a:ln/>
        </p:spPr>
        <p:txBody>
          <a:bodyPr wrap="square" lIns="0" tIns="0" rIns="0" bIns="0" rtlCol="0" anchor="ctr"/>
          <a:lstStyle/>
          <a:p>
            <a:pPr>
              <a:lnSpc>
                <a:spcPct val="120000"/>
              </a:lnSpc>
            </a:pPr>
            <a:r>
              <a:rPr lang="en-US" sz="1047" dirty="0">
                <a:solidFill>
                  <a:srgbClr val="E8E8E8">
                    <a:alpha val="70000"/>
                  </a:srgbClr>
                </a:solidFill>
                <a:latin typeface="MiSans" pitchFamily="34" charset="0"/>
                <a:ea typeface="MiSans" pitchFamily="34" charset="-122"/>
                <a:cs typeface="MiSans" pitchFamily="34" charset="-120"/>
              </a:rPr>
              <a:t>通过节能回报在2年内收回成本,全生命周期创造价值</a:t>
            </a:r>
            <a:endParaRPr lang="en-US" sz="1600" dirty="0"/>
          </a:p>
        </p:txBody>
      </p:sp>
      <p:sp>
        <p:nvSpPr>
          <p:cNvPr id="35" name="Shape 33"/>
          <p:cNvSpPr/>
          <p:nvPr/>
        </p:nvSpPr>
        <p:spPr>
          <a:xfrm>
            <a:off x="391207" y="5636307"/>
            <a:ext cx="11415282" cy="1215402"/>
          </a:xfrm>
          <a:custGeom>
            <a:avLst/>
            <a:gdLst/>
            <a:ahLst/>
            <a:cxnLst/>
            <a:rect l="l" t="t" r="r" b="b"/>
            <a:pathLst>
              <a:path w="11415282" h="1215402">
                <a:moveTo>
                  <a:pt x="0" y="0"/>
                </a:moveTo>
                <a:lnTo>
                  <a:pt x="11415282" y="0"/>
                </a:lnTo>
                <a:lnTo>
                  <a:pt x="11415282" y="1215402"/>
                </a:lnTo>
                <a:lnTo>
                  <a:pt x="0" y="1215402"/>
                </a:lnTo>
                <a:lnTo>
                  <a:pt x="0" y="0"/>
                </a:lnTo>
                <a:close/>
              </a:path>
            </a:pathLst>
          </a:custGeom>
          <a:solidFill>
            <a:srgbClr val="3C8082">
              <a:alpha val="14902"/>
            </a:srgbClr>
          </a:solidFill>
          <a:ln/>
        </p:spPr>
      </p:sp>
      <p:sp>
        <p:nvSpPr>
          <p:cNvPr id="36" name="Shape 34"/>
          <p:cNvSpPr/>
          <p:nvPr/>
        </p:nvSpPr>
        <p:spPr>
          <a:xfrm>
            <a:off x="391207" y="5636307"/>
            <a:ext cx="22789" cy="1215402"/>
          </a:xfrm>
          <a:custGeom>
            <a:avLst/>
            <a:gdLst/>
            <a:ahLst/>
            <a:cxnLst/>
            <a:rect l="l" t="t" r="r" b="b"/>
            <a:pathLst>
              <a:path w="22789" h="1215402">
                <a:moveTo>
                  <a:pt x="0" y="0"/>
                </a:moveTo>
                <a:lnTo>
                  <a:pt x="22789" y="0"/>
                </a:lnTo>
                <a:lnTo>
                  <a:pt x="22789" y="1215402"/>
                </a:lnTo>
                <a:lnTo>
                  <a:pt x="0" y="1215402"/>
                </a:lnTo>
                <a:lnTo>
                  <a:pt x="0" y="0"/>
                </a:lnTo>
                <a:close/>
              </a:path>
            </a:pathLst>
          </a:custGeom>
          <a:solidFill>
            <a:srgbClr val="3C8082"/>
          </a:solidFill>
          <a:ln/>
        </p:spPr>
      </p:sp>
      <p:sp>
        <p:nvSpPr>
          <p:cNvPr id="37" name="Shape 35"/>
          <p:cNvSpPr/>
          <p:nvPr/>
        </p:nvSpPr>
        <p:spPr>
          <a:xfrm>
            <a:off x="666097" y="6101578"/>
            <a:ext cx="213645" cy="284860"/>
          </a:xfrm>
          <a:custGeom>
            <a:avLst/>
            <a:gdLst/>
            <a:ahLst/>
            <a:cxnLst/>
            <a:rect l="l" t="t" r="r" b="b"/>
            <a:pathLst>
              <a:path w="213645" h="284860">
                <a:moveTo>
                  <a:pt x="162960" y="213645"/>
                </a:moveTo>
                <a:cubicBezTo>
                  <a:pt x="167021" y="201238"/>
                  <a:pt x="175144" y="189999"/>
                  <a:pt x="184324" y="180318"/>
                </a:cubicBezTo>
                <a:cubicBezTo>
                  <a:pt x="202518" y="161179"/>
                  <a:pt x="213645" y="135308"/>
                  <a:pt x="213645" y="106822"/>
                </a:cubicBezTo>
                <a:cubicBezTo>
                  <a:pt x="213645" y="47848"/>
                  <a:pt x="165797" y="0"/>
                  <a:pt x="106822" y="0"/>
                </a:cubicBezTo>
                <a:cubicBezTo>
                  <a:pt x="47848" y="0"/>
                  <a:pt x="0" y="47848"/>
                  <a:pt x="0" y="106822"/>
                </a:cubicBezTo>
                <a:cubicBezTo>
                  <a:pt x="0" y="135308"/>
                  <a:pt x="11127" y="161179"/>
                  <a:pt x="29321" y="180318"/>
                </a:cubicBezTo>
                <a:cubicBezTo>
                  <a:pt x="38501" y="189999"/>
                  <a:pt x="46679" y="201238"/>
                  <a:pt x="50685" y="213645"/>
                </a:cubicBezTo>
                <a:lnTo>
                  <a:pt x="162904" y="213645"/>
                </a:lnTo>
                <a:close/>
                <a:moveTo>
                  <a:pt x="160234" y="240350"/>
                </a:moveTo>
                <a:lnTo>
                  <a:pt x="53411" y="240350"/>
                </a:lnTo>
                <a:lnTo>
                  <a:pt x="53411" y="249252"/>
                </a:lnTo>
                <a:cubicBezTo>
                  <a:pt x="53411" y="273844"/>
                  <a:pt x="73329" y="293762"/>
                  <a:pt x="97921" y="293762"/>
                </a:cubicBezTo>
                <a:lnTo>
                  <a:pt x="115724" y="293762"/>
                </a:lnTo>
                <a:cubicBezTo>
                  <a:pt x="140316" y="293762"/>
                  <a:pt x="160234" y="273844"/>
                  <a:pt x="160234" y="249252"/>
                </a:cubicBezTo>
                <a:lnTo>
                  <a:pt x="160234" y="240350"/>
                </a:lnTo>
                <a:close/>
                <a:moveTo>
                  <a:pt x="102371" y="62313"/>
                </a:moveTo>
                <a:cubicBezTo>
                  <a:pt x="80228" y="62313"/>
                  <a:pt x="62313" y="80228"/>
                  <a:pt x="62313" y="102371"/>
                </a:cubicBezTo>
                <a:cubicBezTo>
                  <a:pt x="62313" y="109771"/>
                  <a:pt x="56360" y="115724"/>
                  <a:pt x="48960" y="115724"/>
                </a:cubicBezTo>
                <a:cubicBezTo>
                  <a:pt x="41561" y="115724"/>
                  <a:pt x="35607" y="109771"/>
                  <a:pt x="35607" y="102371"/>
                </a:cubicBezTo>
                <a:cubicBezTo>
                  <a:pt x="35607" y="65484"/>
                  <a:pt x="65484" y="35607"/>
                  <a:pt x="102371" y="35607"/>
                </a:cubicBezTo>
                <a:cubicBezTo>
                  <a:pt x="109771" y="35607"/>
                  <a:pt x="115724" y="41561"/>
                  <a:pt x="115724" y="48960"/>
                </a:cubicBezTo>
                <a:cubicBezTo>
                  <a:pt x="115724" y="56360"/>
                  <a:pt x="109771" y="62313"/>
                  <a:pt x="102371" y="62313"/>
                </a:cubicBezTo>
                <a:close/>
              </a:path>
            </a:pathLst>
          </a:custGeom>
          <a:solidFill>
            <a:srgbClr val="D9A477"/>
          </a:solidFill>
          <a:ln/>
        </p:spPr>
      </p:sp>
      <p:sp>
        <p:nvSpPr>
          <p:cNvPr id="38" name="Text 36"/>
          <p:cNvSpPr/>
          <p:nvPr/>
        </p:nvSpPr>
        <p:spPr>
          <a:xfrm>
            <a:off x="1100508" y="5826213"/>
            <a:ext cx="10615776" cy="265869"/>
          </a:xfrm>
          <a:prstGeom prst="rect">
            <a:avLst/>
          </a:prstGeom>
          <a:noFill/>
          <a:ln/>
        </p:spPr>
        <p:txBody>
          <a:bodyPr wrap="square" lIns="0" tIns="0" rIns="0" bIns="0" rtlCol="0" anchor="ctr"/>
          <a:lstStyle/>
          <a:p>
            <a:pPr>
              <a:lnSpc>
                <a:spcPct val="120000"/>
              </a:lnSpc>
            </a:pPr>
            <a:r>
              <a:rPr lang="en-US" sz="1495" b="1" dirty="0">
                <a:solidFill>
                  <a:srgbClr val="E8E8E8"/>
                </a:solidFill>
                <a:latin typeface="MiSans" pitchFamily="34" charset="0"/>
                <a:ea typeface="MiSans" pitchFamily="34" charset="-122"/>
                <a:cs typeface="MiSans" pitchFamily="34" charset="-120"/>
              </a:rPr>
              <a:t>核心策略:价值感知重塑</a:t>
            </a:r>
            <a:endParaRPr lang="en-US" sz="1600" dirty="0"/>
          </a:p>
        </p:txBody>
      </p:sp>
      <p:sp>
        <p:nvSpPr>
          <p:cNvPr id="39" name="Text 37"/>
          <p:cNvSpPr/>
          <p:nvPr/>
        </p:nvSpPr>
        <p:spPr>
          <a:xfrm>
            <a:off x="1100508" y="6168045"/>
            <a:ext cx="10596785" cy="493757"/>
          </a:xfrm>
          <a:prstGeom prst="rect">
            <a:avLst/>
          </a:prstGeom>
          <a:noFill/>
          <a:ln/>
        </p:spPr>
        <p:txBody>
          <a:bodyPr wrap="square" lIns="0" tIns="0" rIns="0" bIns="0" rtlCol="0" anchor="ctr"/>
          <a:lstStyle/>
          <a:p>
            <a:pPr>
              <a:lnSpc>
                <a:spcPct val="140000"/>
              </a:lnSpc>
            </a:pPr>
            <a:r>
              <a:rPr lang="en-US" sz="1196" dirty="0">
                <a:solidFill>
                  <a:srgbClr val="E8E8E8">
                    <a:alpha val="85000"/>
                  </a:srgbClr>
                </a:solidFill>
                <a:latin typeface="MiSans" pitchFamily="34" charset="0"/>
                <a:ea typeface="MiSans" pitchFamily="34" charset="-122"/>
                <a:cs typeface="MiSans" pitchFamily="34" charset="-120"/>
              </a:rPr>
              <a:t>将用户的</a:t>
            </a:r>
            <a:r>
              <a:rPr lang="en-US" sz="1196" b="1" dirty="0">
                <a:solidFill>
                  <a:srgbClr val="D9A477"/>
                </a:solidFill>
                <a:latin typeface="MiSans" pitchFamily="34" charset="0"/>
                <a:ea typeface="MiSans" pitchFamily="34" charset="-122"/>
                <a:cs typeface="MiSans" pitchFamily="34" charset="-120"/>
              </a:rPr>
              <a:t>购买行为从"开销"转变为"投资"</a:t>
            </a:r>
            <a:r>
              <a:rPr lang="en-US" sz="1196" dirty="0">
                <a:solidFill>
                  <a:srgbClr val="E8E8E8">
                    <a:alpha val="85000"/>
                  </a:srgbClr>
                </a:solidFill>
                <a:latin typeface="MiSans" pitchFamily="34" charset="0"/>
                <a:ea typeface="MiSans" pitchFamily="34" charset="-122"/>
                <a:cs typeface="MiSans" pitchFamily="34" charset="-120"/>
              </a:rPr>
              <a:t>,通过节能回报实现价值闭环。虽然定价高于传统产品149%,但创造的经济价值远超价格差异,重塑了用户对产品的价值认知。</a:t>
            </a:r>
            <a:endParaRPr lang="en-US" sz="1600" dirty="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0.wp.com/0720c854dd2ef0b40c0ea7fd90c5033a7cb1eb32.webp"/>
          <p:cNvPicPr>
            <a:picLocks noChangeAspect="1"/>
          </p:cNvPicPr>
          <p:nvPr/>
        </p:nvPicPr>
        <p:blipFill>
          <a:blip r:embed="rId3">
            <a:alphaModFix amt="25000"/>
          </a:blip>
          <a:src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8000"/>
                </a:srgbClr>
              </a:gs>
              <a:gs pos="50000">
                <a:srgbClr val="1A1D21">
                  <a:alpha val="90000"/>
                </a:srgbClr>
              </a:gs>
              <a:gs pos="100000">
                <a:srgbClr val="3C8082">
                  <a:alpha val="30000"/>
                </a:srgbClr>
              </a:gs>
            </a:gsLst>
            <a:lin ang="0" scaled="1"/>
          </a:gradFill>
          <a:ln/>
        </p:spPr>
      </p:sp>
      <p:sp>
        <p:nvSpPr>
          <p:cNvPr id="4" name="Text 1"/>
          <p:cNvSpPr/>
          <p:nvPr/>
        </p:nvSpPr>
        <p:spPr>
          <a:xfrm>
            <a:off x="381000" y="1607823"/>
            <a:ext cx="2095500" cy="1219200"/>
          </a:xfrm>
          <a:prstGeom prst="rect">
            <a:avLst/>
          </a:prstGeom>
          <a:noFill/>
          <a:ln/>
        </p:spPr>
        <p:txBody>
          <a:bodyPr wrap="square" lIns="0" tIns="0" rIns="0" bIns="0" rtlCol="0" anchor="ctr"/>
          <a:lstStyle/>
          <a:p>
            <a:pPr>
              <a:lnSpc>
                <a:spcPct val="80000"/>
              </a:lnSpc>
            </a:pPr>
            <a:r>
              <a:rPr lang="en-US" sz="9600" b="1" dirty="0">
                <a:solidFill>
                  <a:srgbClr val="3C8082"/>
                </a:solidFill>
                <a:latin typeface="MiSans" pitchFamily="34" charset="0"/>
                <a:ea typeface="MiSans" pitchFamily="34" charset="-122"/>
                <a:cs typeface="MiSans" pitchFamily="34" charset="-120"/>
              </a:rPr>
              <a:t>03</a:t>
            </a:r>
            <a:endParaRPr lang="en-US" sz="1600" dirty="0"/>
          </a:p>
        </p:txBody>
      </p:sp>
      <p:sp>
        <p:nvSpPr>
          <p:cNvPr id="5" name="Text 2"/>
          <p:cNvSpPr/>
          <p:nvPr/>
        </p:nvSpPr>
        <p:spPr>
          <a:xfrm>
            <a:off x="2014776" y="2476500"/>
            <a:ext cx="1352550" cy="266700"/>
          </a:xfrm>
          <a:prstGeom prst="rect">
            <a:avLst/>
          </a:prstGeom>
          <a:noFill/>
          <a:ln/>
        </p:spPr>
        <p:txBody>
          <a:bodyPr wrap="square" lIns="0" tIns="0" rIns="0" bIns="0" rtlCol="0" anchor="ctr"/>
          <a:lstStyle/>
          <a:p>
            <a:pPr>
              <a:lnSpc>
                <a:spcPct val="120000"/>
              </a:lnSpc>
            </a:pPr>
            <a:r>
              <a:rPr lang="en-US" sz="1500" b="1" kern="0" spc="450" dirty="0">
                <a:solidFill>
                  <a:srgbClr val="D9A477"/>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381000" y="3284223"/>
            <a:ext cx="7162800" cy="666750"/>
          </a:xfrm>
          <a:prstGeom prst="rect">
            <a:avLst/>
          </a:prstGeom>
          <a:noFill/>
          <a:ln/>
        </p:spPr>
        <p:txBody>
          <a:bodyPr wrap="square" lIns="0" tIns="0" rIns="0" bIns="0" rtlCol="0" anchor="ctr"/>
          <a:lstStyle/>
          <a:p>
            <a:pPr>
              <a:lnSpc>
                <a:spcPct val="90000"/>
              </a:lnSpc>
            </a:pPr>
            <a:r>
              <a:rPr lang="en-US" sz="4800" b="1" dirty="0">
                <a:solidFill>
                  <a:srgbClr val="E8E8E8"/>
                </a:solidFill>
                <a:latin typeface="MiSans" pitchFamily="34" charset="0"/>
                <a:ea typeface="MiSans" pitchFamily="34" charset="-122"/>
                <a:cs typeface="MiSans" pitchFamily="34" charset="-120"/>
              </a:rPr>
              <a:t>市场策略</a:t>
            </a:r>
            <a:endParaRPr lang="en-US" sz="1600" dirty="0"/>
          </a:p>
        </p:txBody>
      </p:sp>
      <p:sp>
        <p:nvSpPr>
          <p:cNvPr id="7" name="Shape 4"/>
          <p:cNvSpPr/>
          <p:nvPr/>
        </p:nvSpPr>
        <p:spPr>
          <a:xfrm>
            <a:off x="381000" y="4183382"/>
            <a:ext cx="1524000" cy="19050"/>
          </a:xfrm>
          <a:custGeom>
            <a:avLst/>
            <a:gdLst/>
            <a:ahLst/>
            <a:cxnLst/>
            <a:rect l="l" t="t" r="r" b="b"/>
            <a:pathLst>
              <a:path w="1524000" h="19050">
                <a:moveTo>
                  <a:pt x="0" y="0"/>
                </a:moveTo>
                <a:lnTo>
                  <a:pt x="1524000" y="0"/>
                </a:lnTo>
                <a:lnTo>
                  <a:pt x="1524000" y="19050"/>
                </a:lnTo>
                <a:lnTo>
                  <a:pt x="0" y="19050"/>
                </a:lnTo>
                <a:lnTo>
                  <a:pt x="0" y="0"/>
                </a:lnTo>
                <a:close/>
              </a:path>
            </a:pathLst>
          </a:custGeom>
          <a:solidFill>
            <a:srgbClr val="D9A477"/>
          </a:solidFill>
          <a:ln/>
        </p:spPr>
      </p:sp>
      <p:sp>
        <p:nvSpPr>
          <p:cNvPr id="8" name="Text 5"/>
          <p:cNvSpPr/>
          <p:nvPr/>
        </p:nvSpPr>
        <p:spPr>
          <a:xfrm>
            <a:off x="381000" y="4507232"/>
            <a:ext cx="6972300" cy="742950"/>
          </a:xfrm>
          <a:prstGeom prst="rect">
            <a:avLst/>
          </a:prstGeom>
          <a:noFill/>
          <a:ln/>
        </p:spPr>
        <p:txBody>
          <a:bodyPr wrap="square" lIns="0" tIns="0" rIns="0" bIns="0" rtlCol="0" anchor="ctr"/>
          <a:lstStyle/>
          <a:p>
            <a:pPr>
              <a:lnSpc>
                <a:spcPct val="140000"/>
              </a:lnSpc>
            </a:pPr>
            <a:r>
              <a:rPr lang="en-US" sz="1800" dirty="0">
                <a:solidFill>
                  <a:srgbClr val="E8E8E8">
                    <a:alpha val="80000"/>
                  </a:srgbClr>
                </a:solidFill>
                <a:latin typeface="MiSans" pitchFamily="34" charset="0"/>
                <a:ea typeface="MiSans" pitchFamily="34" charset="-122"/>
                <a:cs typeface="MiSans" pitchFamily="34" charset="-120"/>
              </a:rPr>
              <a:t>从市场新兵到行业王者</a:t>
            </a:r>
            <a:endParaRPr lang="en-US" sz="1600" dirty="0"/>
          </a:p>
          <a:p>
            <a:pPr>
              <a:lnSpc>
                <a:spcPct val="140000"/>
              </a:lnSpc>
            </a:pPr>
            <a:r>
              <a:rPr lang="en-US" sz="1800" dirty="0">
                <a:solidFill>
                  <a:srgbClr val="E8E8E8">
                    <a:alpha val="80000"/>
                  </a:srgbClr>
                </a:solidFill>
                <a:latin typeface="MiSans" pitchFamily="34" charset="0"/>
                <a:ea typeface="MiSans" pitchFamily="34" charset="-122"/>
                <a:cs typeface="MiSans" pitchFamily="34" charset="-120"/>
              </a:rPr>
              <a:t>三年登顶的快速增长轨迹</a:t>
            </a:r>
            <a:endParaRPr lang="en-US" sz="160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210" dirty="0">
                <a:solidFill>
                  <a:srgbClr val="D9A477"/>
                </a:solidFill>
                <a:latin typeface="MiSans" pitchFamily="34" charset="0"/>
                <a:ea typeface="MiSans" pitchFamily="34" charset="-122"/>
                <a:cs typeface="MiSans" pitchFamily="34" charset="-120"/>
              </a:rPr>
              <a:t>Market Growth</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E8E8E8"/>
                </a:solidFill>
                <a:latin typeface="MiSans" pitchFamily="34" charset="0"/>
                <a:ea typeface="MiSans" pitchFamily="34" charset="-122"/>
                <a:cs typeface="MiSans" pitchFamily="34" charset="-120"/>
              </a:rPr>
              <a:t>三年登顶:市场份额快速突破</a:t>
            </a:r>
            <a:endParaRPr lang="en-US" sz="1600" dirty="0"/>
          </a:p>
        </p:txBody>
      </p:sp>
      <p:sp>
        <p:nvSpPr>
          <p:cNvPr id="4" name="Shape 2"/>
          <p:cNvSpPr/>
          <p:nvPr/>
        </p:nvSpPr>
        <p:spPr>
          <a:xfrm>
            <a:off x="392430" y="1257300"/>
            <a:ext cx="3649980" cy="4076700"/>
          </a:xfrm>
          <a:custGeom>
            <a:avLst/>
            <a:gdLst/>
            <a:ahLst/>
            <a:cxnLst/>
            <a:rect l="l" t="t" r="r" b="b"/>
            <a:pathLst>
              <a:path w="3649980" h="4076700">
                <a:moveTo>
                  <a:pt x="0" y="0"/>
                </a:moveTo>
                <a:lnTo>
                  <a:pt x="3649980" y="0"/>
                </a:lnTo>
                <a:lnTo>
                  <a:pt x="3649980" y="4076700"/>
                </a:lnTo>
                <a:lnTo>
                  <a:pt x="0" y="4076700"/>
                </a:lnTo>
                <a:lnTo>
                  <a:pt x="0" y="0"/>
                </a:lnTo>
                <a:close/>
              </a:path>
            </a:pathLst>
          </a:custGeom>
          <a:solidFill>
            <a:srgbClr val="6D7275">
              <a:alpha val="14902"/>
            </a:srgbClr>
          </a:solidFill>
          <a:ln/>
        </p:spPr>
      </p:sp>
      <p:sp>
        <p:nvSpPr>
          <p:cNvPr id="5" name="Shape 3"/>
          <p:cNvSpPr/>
          <p:nvPr/>
        </p:nvSpPr>
        <p:spPr>
          <a:xfrm>
            <a:off x="392430" y="1257300"/>
            <a:ext cx="22860" cy="4076700"/>
          </a:xfrm>
          <a:custGeom>
            <a:avLst/>
            <a:gdLst/>
            <a:ahLst/>
            <a:cxnLst/>
            <a:rect l="l" t="t" r="r" b="b"/>
            <a:pathLst>
              <a:path w="22860" h="4076700">
                <a:moveTo>
                  <a:pt x="0" y="0"/>
                </a:moveTo>
                <a:lnTo>
                  <a:pt x="22860" y="0"/>
                </a:lnTo>
                <a:lnTo>
                  <a:pt x="22860" y="4076700"/>
                </a:lnTo>
                <a:lnTo>
                  <a:pt x="0" y="4076700"/>
                </a:lnTo>
                <a:lnTo>
                  <a:pt x="0" y="0"/>
                </a:lnTo>
                <a:close/>
              </a:path>
            </a:pathLst>
          </a:custGeom>
          <a:solidFill>
            <a:srgbClr val="6D7275"/>
          </a:solidFill>
          <a:ln/>
        </p:spPr>
      </p:sp>
      <p:sp>
        <p:nvSpPr>
          <p:cNvPr id="6" name="Shape 4"/>
          <p:cNvSpPr/>
          <p:nvPr/>
        </p:nvSpPr>
        <p:spPr>
          <a:xfrm>
            <a:off x="632460" y="1543050"/>
            <a:ext cx="838200" cy="342900"/>
          </a:xfrm>
          <a:custGeom>
            <a:avLst/>
            <a:gdLst/>
            <a:ahLst/>
            <a:cxnLst/>
            <a:rect l="l" t="t" r="r" b="b"/>
            <a:pathLst>
              <a:path w="838200" h="342900">
                <a:moveTo>
                  <a:pt x="0" y="0"/>
                </a:moveTo>
                <a:lnTo>
                  <a:pt x="838200" y="0"/>
                </a:lnTo>
                <a:lnTo>
                  <a:pt x="838200" y="342900"/>
                </a:lnTo>
                <a:lnTo>
                  <a:pt x="0" y="342900"/>
                </a:lnTo>
                <a:lnTo>
                  <a:pt x="0" y="0"/>
                </a:lnTo>
                <a:close/>
              </a:path>
            </a:pathLst>
          </a:custGeom>
          <a:solidFill>
            <a:srgbClr val="6D7275"/>
          </a:solidFill>
          <a:ln/>
        </p:spPr>
      </p:sp>
      <p:sp>
        <p:nvSpPr>
          <p:cNvPr id="7" name="Text 5"/>
          <p:cNvSpPr/>
          <p:nvPr/>
        </p:nvSpPr>
        <p:spPr>
          <a:xfrm>
            <a:off x="632460" y="1543050"/>
            <a:ext cx="904875" cy="342900"/>
          </a:xfrm>
          <a:prstGeom prst="rect">
            <a:avLst/>
          </a:prstGeom>
          <a:noFill/>
          <a:ln/>
        </p:spPr>
        <p:txBody>
          <a:bodyPr wrap="square" lIns="152400" tIns="76200" rIns="152400" bIns="7620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起步阶段</a:t>
            </a:r>
            <a:endParaRPr lang="en-US" sz="1600" dirty="0"/>
          </a:p>
        </p:txBody>
      </p:sp>
      <p:sp>
        <p:nvSpPr>
          <p:cNvPr id="8" name="Text 6"/>
          <p:cNvSpPr/>
          <p:nvPr/>
        </p:nvSpPr>
        <p:spPr>
          <a:xfrm>
            <a:off x="2907030" y="1485900"/>
            <a:ext cx="1133475" cy="457200"/>
          </a:xfrm>
          <a:prstGeom prst="rect">
            <a:avLst/>
          </a:prstGeom>
          <a:noFill/>
          <a:ln/>
        </p:spPr>
        <p:txBody>
          <a:bodyPr wrap="square" lIns="0" tIns="0" rIns="0" bIns="0" rtlCol="0" anchor="ctr"/>
          <a:lstStyle/>
          <a:p>
            <a:pPr>
              <a:lnSpc>
                <a:spcPct val="80000"/>
              </a:lnSpc>
            </a:pPr>
            <a:r>
              <a:rPr lang="en-US" sz="3600" b="1" dirty="0">
                <a:solidFill>
                  <a:srgbClr val="6D7275"/>
                </a:solidFill>
                <a:latin typeface="MiSans" pitchFamily="34" charset="0"/>
                <a:ea typeface="MiSans" pitchFamily="34" charset="-122"/>
                <a:cs typeface="MiSans" pitchFamily="34" charset="-120"/>
              </a:rPr>
              <a:t>2011</a:t>
            </a:r>
            <a:endParaRPr lang="en-US" sz="1600" dirty="0"/>
          </a:p>
        </p:txBody>
      </p:sp>
      <p:sp>
        <p:nvSpPr>
          <p:cNvPr id="9" name="Text 7"/>
          <p:cNvSpPr/>
          <p:nvPr/>
        </p:nvSpPr>
        <p:spPr>
          <a:xfrm>
            <a:off x="632460" y="2095500"/>
            <a:ext cx="1438275" cy="571500"/>
          </a:xfrm>
          <a:prstGeom prst="rect">
            <a:avLst/>
          </a:prstGeom>
          <a:noFill/>
          <a:ln/>
        </p:spPr>
        <p:txBody>
          <a:bodyPr wrap="square" lIns="0" tIns="0" rIns="0" bIns="0" rtlCol="0" anchor="ctr"/>
          <a:lstStyle/>
          <a:p>
            <a:pPr>
              <a:lnSpc>
                <a:spcPct val="80000"/>
              </a:lnSpc>
            </a:pPr>
            <a:r>
              <a:rPr lang="en-US" sz="4500" b="1" dirty="0">
                <a:solidFill>
                  <a:srgbClr val="6D7275"/>
                </a:solidFill>
                <a:latin typeface="MiSans" pitchFamily="34" charset="0"/>
                <a:ea typeface="MiSans" pitchFamily="34" charset="-122"/>
                <a:cs typeface="MiSans" pitchFamily="34" charset="-120"/>
              </a:rPr>
              <a:t>&lt;5%</a:t>
            </a:r>
            <a:endParaRPr lang="en-US" sz="1600" dirty="0"/>
          </a:p>
        </p:txBody>
      </p:sp>
      <p:sp>
        <p:nvSpPr>
          <p:cNvPr id="10" name="Text 8"/>
          <p:cNvSpPr/>
          <p:nvPr/>
        </p:nvSpPr>
        <p:spPr>
          <a:xfrm>
            <a:off x="632460" y="27432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市场份额</a:t>
            </a:r>
            <a:endParaRPr lang="en-US" sz="1600" dirty="0"/>
          </a:p>
        </p:txBody>
      </p:sp>
      <p:sp>
        <p:nvSpPr>
          <p:cNvPr id="11" name="Text 9"/>
          <p:cNvSpPr/>
          <p:nvPr/>
        </p:nvSpPr>
        <p:spPr>
          <a:xfrm>
            <a:off x="632460" y="3200400"/>
            <a:ext cx="895350" cy="342900"/>
          </a:xfrm>
          <a:prstGeom prst="rect">
            <a:avLst/>
          </a:prstGeom>
          <a:noFill/>
          <a:ln/>
        </p:spPr>
        <p:txBody>
          <a:bodyPr wrap="square" lIns="0" tIns="0" rIns="0" bIns="0" rtlCol="0" anchor="ctr"/>
          <a:lstStyle/>
          <a:p>
            <a:pPr>
              <a:lnSpc>
                <a:spcPct val="100000"/>
              </a:lnSpc>
            </a:pPr>
            <a:r>
              <a:rPr lang="en-US" sz="2250" b="1" dirty="0">
                <a:solidFill>
                  <a:srgbClr val="D9A477"/>
                </a:solidFill>
                <a:latin typeface="MiSans" pitchFamily="34" charset="0"/>
                <a:ea typeface="MiSans" pitchFamily="34" charset="-122"/>
                <a:cs typeface="MiSans" pitchFamily="34" charset="-120"/>
              </a:rPr>
              <a:t>$20M</a:t>
            </a:r>
            <a:endParaRPr lang="en-US" sz="1600" dirty="0"/>
          </a:p>
        </p:txBody>
      </p:sp>
      <p:sp>
        <p:nvSpPr>
          <p:cNvPr id="12" name="Text 10"/>
          <p:cNvSpPr/>
          <p:nvPr/>
        </p:nvSpPr>
        <p:spPr>
          <a:xfrm>
            <a:off x="632460" y="35814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营收规模</a:t>
            </a:r>
            <a:endParaRPr lang="en-US" sz="1600" dirty="0"/>
          </a:p>
        </p:txBody>
      </p:sp>
      <p:sp>
        <p:nvSpPr>
          <p:cNvPr id="13" name="Text 11"/>
          <p:cNvSpPr/>
          <p:nvPr/>
        </p:nvSpPr>
        <p:spPr>
          <a:xfrm>
            <a:off x="632460" y="3962400"/>
            <a:ext cx="32575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关键挑战</a:t>
            </a:r>
            <a:endParaRPr lang="en-US" sz="1600" dirty="0"/>
          </a:p>
        </p:txBody>
      </p:sp>
      <p:sp>
        <p:nvSpPr>
          <p:cNvPr id="14" name="Shape 12"/>
          <p:cNvSpPr/>
          <p:nvPr/>
        </p:nvSpPr>
        <p:spPr>
          <a:xfrm>
            <a:off x="646748" y="43434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6D7275"/>
          </a:solidFill>
          <a:ln/>
        </p:spPr>
      </p:sp>
      <p:sp>
        <p:nvSpPr>
          <p:cNvPr id="15" name="Text 13"/>
          <p:cNvSpPr/>
          <p:nvPr/>
        </p:nvSpPr>
        <p:spPr>
          <a:xfrm>
            <a:off x="851535" y="4305300"/>
            <a:ext cx="14001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进入被巨头垄断的市场</a:t>
            </a:r>
            <a:endParaRPr lang="en-US" sz="1600" dirty="0"/>
          </a:p>
        </p:txBody>
      </p:sp>
      <p:sp>
        <p:nvSpPr>
          <p:cNvPr id="16" name="Shape 14"/>
          <p:cNvSpPr/>
          <p:nvPr/>
        </p:nvSpPr>
        <p:spPr>
          <a:xfrm>
            <a:off x="646748" y="46482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6D7275"/>
          </a:solidFill>
          <a:ln/>
        </p:spPr>
      </p:sp>
      <p:sp>
        <p:nvSpPr>
          <p:cNvPr id="17" name="Text 15"/>
          <p:cNvSpPr/>
          <p:nvPr/>
        </p:nvSpPr>
        <p:spPr>
          <a:xfrm>
            <a:off x="851535" y="4610100"/>
            <a:ext cx="126682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建立品牌认知与信任</a:t>
            </a:r>
            <a:endParaRPr lang="en-US" sz="1600" dirty="0"/>
          </a:p>
        </p:txBody>
      </p:sp>
      <p:sp>
        <p:nvSpPr>
          <p:cNvPr id="18" name="Shape 16"/>
          <p:cNvSpPr/>
          <p:nvPr/>
        </p:nvSpPr>
        <p:spPr>
          <a:xfrm>
            <a:off x="646748" y="49530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6D7275"/>
          </a:solidFill>
          <a:ln/>
        </p:spPr>
      </p:sp>
      <p:sp>
        <p:nvSpPr>
          <p:cNvPr id="19" name="Text 17"/>
          <p:cNvSpPr/>
          <p:nvPr/>
        </p:nvSpPr>
        <p:spPr>
          <a:xfrm>
            <a:off x="851535" y="4914900"/>
            <a:ext cx="153352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教育市场接受新产品理念</a:t>
            </a:r>
            <a:endParaRPr lang="en-US" sz="1600" dirty="0"/>
          </a:p>
        </p:txBody>
      </p:sp>
      <p:sp>
        <p:nvSpPr>
          <p:cNvPr id="20" name="Shape 18"/>
          <p:cNvSpPr/>
          <p:nvPr/>
        </p:nvSpPr>
        <p:spPr>
          <a:xfrm>
            <a:off x="4278630" y="1257300"/>
            <a:ext cx="3649980" cy="4076700"/>
          </a:xfrm>
          <a:custGeom>
            <a:avLst/>
            <a:gdLst/>
            <a:ahLst/>
            <a:cxnLst/>
            <a:rect l="l" t="t" r="r" b="b"/>
            <a:pathLst>
              <a:path w="3649980" h="4076700">
                <a:moveTo>
                  <a:pt x="0" y="0"/>
                </a:moveTo>
                <a:lnTo>
                  <a:pt x="3649980" y="0"/>
                </a:lnTo>
                <a:lnTo>
                  <a:pt x="3649980" y="4076700"/>
                </a:lnTo>
                <a:lnTo>
                  <a:pt x="0" y="4076700"/>
                </a:lnTo>
                <a:lnTo>
                  <a:pt x="0" y="0"/>
                </a:lnTo>
                <a:close/>
              </a:path>
            </a:pathLst>
          </a:custGeom>
          <a:solidFill>
            <a:srgbClr val="3C8082">
              <a:alpha val="14902"/>
            </a:srgbClr>
          </a:solidFill>
          <a:ln/>
        </p:spPr>
      </p:sp>
      <p:sp>
        <p:nvSpPr>
          <p:cNvPr id="21" name="Shape 19"/>
          <p:cNvSpPr/>
          <p:nvPr/>
        </p:nvSpPr>
        <p:spPr>
          <a:xfrm>
            <a:off x="4278630" y="1257300"/>
            <a:ext cx="22860" cy="4076700"/>
          </a:xfrm>
          <a:custGeom>
            <a:avLst/>
            <a:gdLst/>
            <a:ahLst/>
            <a:cxnLst/>
            <a:rect l="l" t="t" r="r" b="b"/>
            <a:pathLst>
              <a:path w="22860" h="4076700">
                <a:moveTo>
                  <a:pt x="0" y="0"/>
                </a:moveTo>
                <a:lnTo>
                  <a:pt x="22860" y="0"/>
                </a:lnTo>
                <a:lnTo>
                  <a:pt x="22860" y="4076700"/>
                </a:lnTo>
                <a:lnTo>
                  <a:pt x="0" y="4076700"/>
                </a:lnTo>
                <a:lnTo>
                  <a:pt x="0" y="0"/>
                </a:lnTo>
                <a:close/>
              </a:path>
            </a:pathLst>
          </a:custGeom>
          <a:solidFill>
            <a:srgbClr val="3C8082"/>
          </a:solidFill>
          <a:ln/>
        </p:spPr>
      </p:sp>
      <p:sp>
        <p:nvSpPr>
          <p:cNvPr id="22" name="Shape 20"/>
          <p:cNvSpPr/>
          <p:nvPr/>
        </p:nvSpPr>
        <p:spPr>
          <a:xfrm>
            <a:off x="4518660" y="1543050"/>
            <a:ext cx="838200" cy="342900"/>
          </a:xfrm>
          <a:custGeom>
            <a:avLst/>
            <a:gdLst/>
            <a:ahLst/>
            <a:cxnLst/>
            <a:rect l="l" t="t" r="r" b="b"/>
            <a:pathLst>
              <a:path w="838200" h="342900">
                <a:moveTo>
                  <a:pt x="0" y="0"/>
                </a:moveTo>
                <a:lnTo>
                  <a:pt x="838200" y="0"/>
                </a:lnTo>
                <a:lnTo>
                  <a:pt x="838200" y="342900"/>
                </a:lnTo>
                <a:lnTo>
                  <a:pt x="0" y="342900"/>
                </a:lnTo>
                <a:lnTo>
                  <a:pt x="0" y="0"/>
                </a:lnTo>
                <a:close/>
              </a:path>
            </a:pathLst>
          </a:custGeom>
          <a:solidFill>
            <a:srgbClr val="3C8082"/>
          </a:solidFill>
          <a:ln/>
        </p:spPr>
      </p:sp>
      <p:sp>
        <p:nvSpPr>
          <p:cNvPr id="23" name="Text 21"/>
          <p:cNvSpPr/>
          <p:nvPr/>
        </p:nvSpPr>
        <p:spPr>
          <a:xfrm>
            <a:off x="4518660" y="1543050"/>
            <a:ext cx="904875" cy="342900"/>
          </a:xfrm>
          <a:prstGeom prst="rect">
            <a:avLst/>
          </a:prstGeom>
          <a:noFill/>
          <a:ln/>
        </p:spPr>
        <p:txBody>
          <a:bodyPr wrap="square" lIns="152400" tIns="76200" rIns="152400" bIns="76200" rtlCol="0" anchor="ctr"/>
          <a:lstStyle/>
          <a:p>
            <a:pPr>
              <a:lnSpc>
                <a:spcPct val="120000"/>
              </a:lnSpc>
            </a:pPr>
            <a:r>
              <a:rPr lang="en-US" sz="1050" b="1" dirty="0">
                <a:solidFill>
                  <a:srgbClr val="FFFFFF"/>
                </a:solidFill>
                <a:latin typeface="MiSans" pitchFamily="34" charset="0"/>
                <a:ea typeface="MiSans" pitchFamily="34" charset="-122"/>
                <a:cs typeface="MiSans" pitchFamily="34" charset="-120"/>
              </a:rPr>
              <a:t>发展阶段</a:t>
            </a:r>
            <a:endParaRPr lang="en-US" sz="1600" dirty="0"/>
          </a:p>
        </p:txBody>
      </p:sp>
      <p:sp>
        <p:nvSpPr>
          <p:cNvPr id="24" name="Text 22"/>
          <p:cNvSpPr/>
          <p:nvPr/>
        </p:nvSpPr>
        <p:spPr>
          <a:xfrm>
            <a:off x="6704052" y="1485900"/>
            <a:ext cx="1219200" cy="457200"/>
          </a:xfrm>
          <a:prstGeom prst="rect">
            <a:avLst/>
          </a:prstGeom>
          <a:noFill/>
          <a:ln/>
        </p:spPr>
        <p:txBody>
          <a:bodyPr wrap="square" lIns="0" tIns="0" rIns="0" bIns="0" rtlCol="0" anchor="ctr"/>
          <a:lstStyle/>
          <a:p>
            <a:pPr>
              <a:lnSpc>
                <a:spcPct val="80000"/>
              </a:lnSpc>
            </a:pPr>
            <a:r>
              <a:rPr lang="en-US" sz="3600" b="1" dirty="0">
                <a:solidFill>
                  <a:srgbClr val="3C8082"/>
                </a:solidFill>
                <a:latin typeface="MiSans" pitchFamily="34" charset="0"/>
                <a:ea typeface="MiSans" pitchFamily="34" charset="-122"/>
                <a:cs typeface="MiSans" pitchFamily="34" charset="-120"/>
              </a:rPr>
              <a:t>2013</a:t>
            </a:r>
            <a:endParaRPr lang="en-US" sz="1600" dirty="0"/>
          </a:p>
        </p:txBody>
      </p:sp>
      <p:sp>
        <p:nvSpPr>
          <p:cNvPr id="25" name="Text 23"/>
          <p:cNvSpPr/>
          <p:nvPr/>
        </p:nvSpPr>
        <p:spPr>
          <a:xfrm>
            <a:off x="4518660" y="2095500"/>
            <a:ext cx="1438275" cy="571500"/>
          </a:xfrm>
          <a:prstGeom prst="rect">
            <a:avLst/>
          </a:prstGeom>
          <a:noFill/>
          <a:ln/>
        </p:spPr>
        <p:txBody>
          <a:bodyPr wrap="square" lIns="0" tIns="0" rIns="0" bIns="0" rtlCol="0" anchor="ctr"/>
          <a:lstStyle/>
          <a:p>
            <a:pPr>
              <a:lnSpc>
                <a:spcPct val="80000"/>
              </a:lnSpc>
            </a:pPr>
            <a:r>
              <a:rPr lang="en-US" sz="4500" b="1" dirty="0">
                <a:solidFill>
                  <a:srgbClr val="3C8082"/>
                </a:solidFill>
                <a:latin typeface="MiSans" pitchFamily="34" charset="0"/>
                <a:ea typeface="MiSans" pitchFamily="34" charset="-122"/>
                <a:cs typeface="MiSans" pitchFamily="34" charset="-120"/>
              </a:rPr>
              <a:t>20%</a:t>
            </a:r>
            <a:endParaRPr lang="en-US" sz="1600" dirty="0"/>
          </a:p>
        </p:txBody>
      </p:sp>
      <p:sp>
        <p:nvSpPr>
          <p:cNvPr id="26" name="Text 24"/>
          <p:cNvSpPr/>
          <p:nvPr/>
        </p:nvSpPr>
        <p:spPr>
          <a:xfrm>
            <a:off x="4518660" y="27432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市场份额</a:t>
            </a:r>
            <a:endParaRPr lang="en-US" sz="1600" dirty="0"/>
          </a:p>
        </p:txBody>
      </p:sp>
      <p:sp>
        <p:nvSpPr>
          <p:cNvPr id="27" name="Text 25"/>
          <p:cNvSpPr/>
          <p:nvPr/>
        </p:nvSpPr>
        <p:spPr>
          <a:xfrm>
            <a:off x="4518660" y="3200400"/>
            <a:ext cx="1028700" cy="342900"/>
          </a:xfrm>
          <a:prstGeom prst="rect">
            <a:avLst/>
          </a:prstGeom>
          <a:noFill/>
          <a:ln/>
        </p:spPr>
        <p:txBody>
          <a:bodyPr wrap="square" lIns="0" tIns="0" rIns="0" bIns="0" rtlCol="0" anchor="ctr"/>
          <a:lstStyle/>
          <a:p>
            <a:pPr>
              <a:lnSpc>
                <a:spcPct val="100000"/>
              </a:lnSpc>
            </a:pPr>
            <a:r>
              <a:rPr lang="en-US" sz="2250" b="1" dirty="0">
                <a:solidFill>
                  <a:srgbClr val="D9A477"/>
                </a:solidFill>
                <a:latin typeface="MiSans" pitchFamily="34" charset="0"/>
                <a:ea typeface="MiSans" pitchFamily="34" charset="-122"/>
                <a:cs typeface="MiSans" pitchFamily="34" charset="-120"/>
              </a:rPr>
              <a:t>$100M</a:t>
            </a:r>
            <a:endParaRPr lang="en-US" sz="1600" dirty="0"/>
          </a:p>
        </p:txBody>
      </p:sp>
      <p:sp>
        <p:nvSpPr>
          <p:cNvPr id="28" name="Text 26"/>
          <p:cNvSpPr/>
          <p:nvPr/>
        </p:nvSpPr>
        <p:spPr>
          <a:xfrm>
            <a:off x="4518660" y="35814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营收规模</a:t>
            </a:r>
            <a:endParaRPr lang="en-US" sz="1600" dirty="0"/>
          </a:p>
        </p:txBody>
      </p:sp>
      <p:sp>
        <p:nvSpPr>
          <p:cNvPr id="29" name="Text 27"/>
          <p:cNvSpPr/>
          <p:nvPr/>
        </p:nvSpPr>
        <p:spPr>
          <a:xfrm>
            <a:off x="4518660" y="3962400"/>
            <a:ext cx="32575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关键突破</a:t>
            </a:r>
            <a:endParaRPr lang="en-US" sz="1600" dirty="0"/>
          </a:p>
        </p:txBody>
      </p:sp>
      <p:sp>
        <p:nvSpPr>
          <p:cNvPr id="30" name="Shape 28"/>
          <p:cNvSpPr/>
          <p:nvPr/>
        </p:nvSpPr>
        <p:spPr>
          <a:xfrm>
            <a:off x="4532947" y="43434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3C8082"/>
          </a:solidFill>
          <a:ln/>
        </p:spPr>
      </p:sp>
      <p:sp>
        <p:nvSpPr>
          <p:cNvPr id="31" name="Text 29"/>
          <p:cNvSpPr/>
          <p:nvPr/>
        </p:nvSpPr>
        <p:spPr>
          <a:xfrm>
            <a:off x="4737735" y="4305300"/>
            <a:ext cx="11334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成为美国市场第一</a:t>
            </a:r>
            <a:endParaRPr lang="en-US" sz="1600" dirty="0"/>
          </a:p>
        </p:txBody>
      </p:sp>
      <p:sp>
        <p:nvSpPr>
          <p:cNvPr id="32" name="Shape 30"/>
          <p:cNvSpPr/>
          <p:nvPr/>
        </p:nvSpPr>
        <p:spPr>
          <a:xfrm>
            <a:off x="4532947" y="46482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3C8082"/>
          </a:solidFill>
          <a:ln/>
        </p:spPr>
      </p:sp>
      <p:sp>
        <p:nvSpPr>
          <p:cNvPr id="33" name="Text 31"/>
          <p:cNvSpPr/>
          <p:nvPr/>
        </p:nvSpPr>
        <p:spPr>
          <a:xfrm>
            <a:off x="4737735" y="4610100"/>
            <a:ext cx="952500"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营收增长400%</a:t>
            </a:r>
            <a:endParaRPr lang="en-US" sz="1600" dirty="0"/>
          </a:p>
        </p:txBody>
      </p:sp>
      <p:sp>
        <p:nvSpPr>
          <p:cNvPr id="34" name="Shape 32"/>
          <p:cNvSpPr/>
          <p:nvPr/>
        </p:nvSpPr>
        <p:spPr>
          <a:xfrm>
            <a:off x="4532947" y="49530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3C8082"/>
          </a:solidFill>
          <a:ln/>
        </p:spPr>
      </p:sp>
      <p:sp>
        <p:nvSpPr>
          <p:cNvPr id="35" name="Text 33"/>
          <p:cNvSpPr/>
          <p:nvPr/>
        </p:nvSpPr>
        <p:spPr>
          <a:xfrm>
            <a:off x="4737735" y="4914900"/>
            <a:ext cx="11334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建立行业领导地位</a:t>
            </a:r>
            <a:endParaRPr lang="en-US" sz="1600" dirty="0"/>
          </a:p>
        </p:txBody>
      </p:sp>
      <p:sp>
        <p:nvSpPr>
          <p:cNvPr id="36" name="Shape 34"/>
          <p:cNvSpPr/>
          <p:nvPr/>
        </p:nvSpPr>
        <p:spPr>
          <a:xfrm>
            <a:off x="8164830" y="1257300"/>
            <a:ext cx="3649980" cy="4076700"/>
          </a:xfrm>
          <a:custGeom>
            <a:avLst/>
            <a:gdLst/>
            <a:ahLst/>
            <a:cxnLst/>
            <a:rect l="l" t="t" r="r" b="b"/>
            <a:pathLst>
              <a:path w="3649980" h="4076700">
                <a:moveTo>
                  <a:pt x="0" y="0"/>
                </a:moveTo>
                <a:lnTo>
                  <a:pt x="3649980" y="0"/>
                </a:lnTo>
                <a:lnTo>
                  <a:pt x="3649980" y="4076700"/>
                </a:lnTo>
                <a:lnTo>
                  <a:pt x="0" y="4076700"/>
                </a:lnTo>
                <a:lnTo>
                  <a:pt x="0" y="0"/>
                </a:lnTo>
                <a:close/>
              </a:path>
            </a:pathLst>
          </a:custGeom>
          <a:solidFill>
            <a:srgbClr val="D9A477">
              <a:alpha val="14902"/>
            </a:srgbClr>
          </a:solidFill>
          <a:ln/>
        </p:spPr>
      </p:sp>
      <p:sp>
        <p:nvSpPr>
          <p:cNvPr id="37" name="Shape 35"/>
          <p:cNvSpPr/>
          <p:nvPr/>
        </p:nvSpPr>
        <p:spPr>
          <a:xfrm>
            <a:off x="8164830" y="1257300"/>
            <a:ext cx="22860" cy="4076700"/>
          </a:xfrm>
          <a:custGeom>
            <a:avLst/>
            <a:gdLst/>
            <a:ahLst/>
            <a:cxnLst/>
            <a:rect l="l" t="t" r="r" b="b"/>
            <a:pathLst>
              <a:path w="22860" h="4076700">
                <a:moveTo>
                  <a:pt x="0" y="0"/>
                </a:moveTo>
                <a:lnTo>
                  <a:pt x="22860" y="0"/>
                </a:lnTo>
                <a:lnTo>
                  <a:pt x="22860" y="4076700"/>
                </a:lnTo>
                <a:lnTo>
                  <a:pt x="0" y="4076700"/>
                </a:lnTo>
                <a:lnTo>
                  <a:pt x="0" y="0"/>
                </a:lnTo>
                <a:close/>
              </a:path>
            </a:pathLst>
          </a:custGeom>
          <a:solidFill>
            <a:srgbClr val="D9A477"/>
          </a:solidFill>
          <a:ln/>
        </p:spPr>
      </p:sp>
      <p:sp>
        <p:nvSpPr>
          <p:cNvPr id="38" name="Shape 36"/>
          <p:cNvSpPr/>
          <p:nvPr/>
        </p:nvSpPr>
        <p:spPr>
          <a:xfrm>
            <a:off x="8404860" y="1543050"/>
            <a:ext cx="838200" cy="342900"/>
          </a:xfrm>
          <a:custGeom>
            <a:avLst/>
            <a:gdLst/>
            <a:ahLst/>
            <a:cxnLst/>
            <a:rect l="l" t="t" r="r" b="b"/>
            <a:pathLst>
              <a:path w="838200" h="342900">
                <a:moveTo>
                  <a:pt x="0" y="0"/>
                </a:moveTo>
                <a:lnTo>
                  <a:pt x="838200" y="0"/>
                </a:lnTo>
                <a:lnTo>
                  <a:pt x="838200" y="342900"/>
                </a:lnTo>
                <a:lnTo>
                  <a:pt x="0" y="342900"/>
                </a:lnTo>
                <a:lnTo>
                  <a:pt x="0" y="0"/>
                </a:lnTo>
                <a:close/>
              </a:path>
            </a:pathLst>
          </a:custGeom>
          <a:solidFill>
            <a:srgbClr val="D9A477"/>
          </a:solidFill>
          <a:ln/>
        </p:spPr>
      </p:sp>
      <p:sp>
        <p:nvSpPr>
          <p:cNvPr id="39" name="Text 37"/>
          <p:cNvSpPr/>
          <p:nvPr/>
        </p:nvSpPr>
        <p:spPr>
          <a:xfrm>
            <a:off x="8404860" y="1543050"/>
            <a:ext cx="904875" cy="342900"/>
          </a:xfrm>
          <a:prstGeom prst="rect">
            <a:avLst/>
          </a:prstGeom>
          <a:noFill/>
          <a:ln/>
        </p:spPr>
        <p:txBody>
          <a:bodyPr wrap="square" lIns="152400" tIns="76200" rIns="152400" bIns="76200" rtlCol="0" anchor="ctr"/>
          <a:lstStyle/>
          <a:p>
            <a:pPr>
              <a:lnSpc>
                <a:spcPct val="120000"/>
              </a:lnSpc>
            </a:pPr>
            <a:r>
              <a:rPr lang="en-US" sz="1050" b="1" dirty="0">
                <a:solidFill>
                  <a:srgbClr val="1A1D21"/>
                </a:solidFill>
                <a:latin typeface="MiSans" pitchFamily="34" charset="0"/>
                <a:ea typeface="MiSans" pitchFamily="34" charset="-122"/>
                <a:cs typeface="MiSans" pitchFamily="34" charset="-120"/>
              </a:rPr>
              <a:t>巩固阶段</a:t>
            </a:r>
            <a:endParaRPr lang="en-US" sz="1600" dirty="0"/>
          </a:p>
        </p:txBody>
      </p:sp>
      <p:sp>
        <p:nvSpPr>
          <p:cNvPr id="40" name="Text 38"/>
          <p:cNvSpPr/>
          <p:nvPr/>
        </p:nvSpPr>
        <p:spPr>
          <a:xfrm>
            <a:off x="10591086" y="1485900"/>
            <a:ext cx="1219200" cy="457200"/>
          </a:xfrm>
          <a:prstGeom prst="rect">
            <a:avLst/>
          </a:prstGeom>
          <a:noFill/>
          <a:ln/>
        </p:spPr>
        <p:txBody>
          <a:bodyPr wrap="square" lIns="0" tIns="0" rIns="0" bIns="0" rtlCol="0" anchor="ctr"/>
          <a:lstStyle/>
          <a:p>
            <a:pPr>
              <a:lnSpc>
                <a:spcPct val="80000"/>
              </a:lnSpc>
            </a:pPr>
            <a:r>
              <a:rPr lang="en-US" sz="3600" b="1" dirty="0">
                <a:solidFill>
                  <a:srgbClr val="D9A477"/>
                </a:solidFill>
                <a:latin typeface="MiSans" pitchFamily="34" charset="0"/>
                <a:ea typeface="MiSans" pitchFamily="34" charset="-122"/>
                <a:cs typeface="MiSans" pitchFamily="34" charset="-120"/>
              </a:rPr>
              <a:t>2014</a:t>
            </a:r>
            <a:endParaRPr lang="en-US" sz="1600" dirty="0"/>
          </a:p>
        </p:txBody>
      </p:sp>
      <p:sp>
        <p:nvSpPr>
          <p:cNvPr id="41" name="Text 39"/>
          <p:cNvSpPr/>
          <p:nvPr/>
        </p:nvSpPr>
        <p:spPr>
          <a:xfrm>
            <a:off x="8404860" y="2095500"/>
            <a:ext cx="1800225" cy="571500"/>
          </a:xfrm>
          <a:prstGeom prst="rect">
            <a:avLst/>
          </a:prstGeom>
          <a:noFill/>
          <a:ln/>
        </p:spPr>
        <p:txBody>
          <a:bodyPr wrap="square" lIns="0" tIns="0" rIns="0" bIns="0" rtlCol="0" anchor="ctr"/>
          <a:lstStyle/>
          <a:p>
            <a:pPr>
              <a:lnSpc>
                <a:spcPct val="80000"/>
              </a:lnSpc>
            </a:pPr>
            <a:r>
              <a:rPr lang="en-US" sz="4500" b="1" dirty="0">
                <a:solidFill>
                  <a:srgbClr val="D9A477"/>
                </a:solidFill>
                <a:latin typeface="MiSans" pitchFamily="34" charset="0"/>
                <a:ea typeface="MiSans" pitchFamily="34" charset="-122"/>
                <a:cs typeface="MiSans" pitchFamily="34" charset="-120"/>
              </a:rPr>
              <a:t>$3.2B</a:t>
            </a:r>
            <a:endParaRPr lang="en-US" sz="1600" dirty="0"/>
          </a:p>
        </p:txBody>
      </p:sp>
      <p:sp>
        <p:nvSpPr>
          <p:cNvPr id="42" name="Text 40"/>
          <p:cNvSpPr/>
          <p:nvPr/>
        </p:nvSpPr>
        <p:spPr>
          <a:xfrm>
            <a:off x="8404860" y="27432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收购估值</a:t>
            </a:r>
            <a:endParaRPr lang="en-US" sz="1600" dirty="0"/>
          </a:p>
        </p:txBody>
      </p:sp>
      <p:sp>
        <p:nvSpPr>
          <p:cNvPr id="43" name="Text 41"/>
          <p:cNvSpPr/>
          <p:nvPr/>
        </p:nvSpPr>
        <p:spPr>
          <a:xfrm>
            <a:off x="8404860" y="3200400"/>
            <a:ext cx="714375" cy="342900"/>
          </a:xfrm>
          <a:prstGeom prst="rect">
            <a:avLst/>
          </a:prstGeom>
          <a:noFill/>
          <a:ln/>
        </p:spPr>
        <p:txBody>
          <a:bodyPr wrap="square" lIns="0" tIns="0" rIns="0" bIns="0" rtlCol="0" anchor="ctr"/>
          <a:lstStyle/>
          <a:p>
            <a:pPr>
              <a:lnSpc>
                <a:spcPct val="100000"/>
              </a:lnSpc>
            </a:pPr>
            <a:r>
              <a:rPr lang="en-US" sz="2250" b="1" dirty="0">
                <a:solidFill>
                  <a:srgbClr val="3C8082"/>
                </a:solidFill>
                <a:latin typeface="MiSans" pitchFamily="34" charset="0"/>
                <a:ea typeface="MiSans" pitchFamily="34" charset="-122"/>
                <a:cs typeface="MiSans" pitchFamily="34" charset="-120"/>
              </a:rPr>
              <a:t>谷歌</a:t>
            </a:r>
            <a:endParaRPr lang="en-US" sz="1600" dirty="0"/>
          </a:p>
        </p:txBody>
      </p:sp>
      <p:sp>
        <p:nvSpPr>
          <p:cNvPr id="44" name="Text 42"/>
          <p:cNvSpPr/>
          <p:nvPr/>
        </p:nvSpPr>
        <p:spPr>
          <a:xfrm>
            <a:off x="8404860" y="3581400"/>
            <a:ext cx="3257550" cy="228600"/>
          </a:xfrm>
          <a:prstGeom prst="rect">
            <a:avLst/>
          </a:prstGeom>
          <a:noFill/>
          <a:ln/>
        </p:spPr>
        <p:txBody>
          <a:bodyPr wrap="square" lIns="0" tIns="0" rIns="0" bIns="0" rtlCol="0" anchor="ctr"/>
          <a:lstStyle/>
          <a:p>
            <a:pPr>
              <a:lnSpc>
                <a:spcPct val="130000"/>
              </a:lnSpc>
            </a:pPr>
            <a:r>
              <a:rPr lang="en-US" sz="1200" dirty="0">
                <a:solidFill>
                  <a:srgbClr val="E8E8E8">
                    <a:alpha val="80000"/>
                  </a:srgbClr>
                </a:solidFill>
                <a:latin typeface="MiSans" pitchFamily="34" charset="0"/>
                <a:ea typeface="MiSans" pitchFamily="34" charset="-122"/>
                <a:cs typeface="MiSans" pitchFamily="34" charset="-120"/>
              </a:rPr>
              <a:t>收购方</a:t>
            </a:r>
            <a:endParaRPr lang="en-US" sz="1600" dirty="0"/>
          </a:p>
        </p:txBody>
      </p:sp>
      <p:sp>
        <p:nvSpPr>
          <p:cNvPr id="45" name="Text 43"/>
          <p:cNvSpPr/>
          <p:nvPr/>
        </p:nvSpPr>
        <p:spPr>
          <a:xfrm>
            <a:off x="8404860" y="3962400"/>
            <a:ext cx="325755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关键成果</a:t>
            </a:r>
            <a:endParaRPr lang="en-US" sz="1600" dirty="0"/>
          </a:p>
        </p:txBody>
      </p:sp>
      <p:sp>
        <p:nvSpPr>
          <p:cNvPr id="46" name="Shape 44"/>
          <p:cNvSpPr/>
          <p:nvPr/>
        </p:nvSpPr>
        <p:spPr>
          <a:xfrm>
            <a:off x="8419148" y="43434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D9A477"/>
          </a:solidFill>
          <a:ln/>
        </p:spPr>
      </p:sp>
      <p:sp>
        <p:nvSpPr>
          <p:cNvPr id="47" name="Text 45"/>
          <p:cNvSpPr/>
          <p:nvPr/>
        </p:nvSpPr>
        <p:spPr>
          <a:xfrm>
            <a:off x="8623935" y="4305300"/>
            <a:ext cx="12858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被谷歌32亿美元收购</a:t>
            </a:r>
            <a:endParaRPr lang="en-US" sz="1600" dirty="0"/>
          </a:p>
        </p:txBody>
      </p:sp>
      <p:sp>
        <p:nvSpPr>
          <p:cNvPr id="48" name="Shape 46"/>
          <p:cNvSpPr/>
          <p:nvPr/>
        </p:nvSpPr>
        <p:spPr>
          <a:xfrm>
            <a:off x="8419148" y="46482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D9A477"/>
          </a:solidFill>
          <a:ln/>
        </p:spPr>
      </p:sp>
      <p:sp>
        <p:nvSpPr>
          <p:cNvPr id="49" name="Text 47"/>
          <p:cNvSpPr/>
          <p:nvPr/>
        </p:nvSpPr>
        <p:spPr>
          <a:xfrm>
            <a:off x="8623935" y="4610100"/>
            <a:ext cx="1438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接入Google Home生态</a:t>
            </a:r>
            <a:endParaRPr lang="en-US" sz="1600" dirty="0"/>
          </a:p>
        </p:txBody>
      </p:sp>
      <p:sp>
        <p:nvSpPr>
          <p:cNvPr id="50" name="Shape 48"/>
          <p:cNvSpPr/>
          <p:nvPr/>
        </p:nvSpPr>
        <p:spPr>
          <a:xfrm>
            <a:off x="8419148" y="495300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D9A477"/>
          </a:solidFill>
          <a:ln/>
        </p:spPr>
      </p:sp>
      <p:sp>
        <p:nvSpPr>
          <p:cNvPr id="51" name="Text 49"/>
          <p:cNvSpPr/>
          <p:nvPr/>
        </p:nvSpPr>
        <p:spPr>
          <a:xfrm>
            <a:off x="8623935" y="4914900"/>
            <a:ext cx="11334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巩固行业领导地位</a:t>
            </a:r>
            <a:endParaRPr lang="en-US" sz="1600" dirty="0"/>
          </a:p>
        </p:txBody>
      </p:sp>
      <p:sp>
        <p:nvSpPr>
          <p:cNvPr id="52" name="Shape 50"/>
          <p:cNvSpPr/>
          <p:nvPr/>
        </p:nvSpPr>
        <p:spPr>
          <a:xfrm>
            <a:off x="392430" y="5562600"/>
            <a:ext cx="11422380" cy="1219200"/>
          </a:xfrm>
          <a:custGeom>
            <a:avLst/>
            <a:gdLst/>
            <a:ahLst/>
            <a:cxnLst/>
            <a:rect l="l" t="t" r="r" b="b"/>
            <a:pathLst>
              <a:path w="11422380" h="1219200">
                <a:moveTo>
                  <a:pt x="0" y="0"/>
                </a:moveTo>
                <a:lnTo>
                  <a:pt x="11422380" y="0"/>
                </a:lnTo>
                <a:lnTo>
                  <a:pt x="11422380" y="1219200"/>
                </a:lnTo>
                <a:lnTo>
                  <a:pt x="0" y="1219200"/>
                </a:lnTo>
                <a:lnTo>
                  <a:pt x="0" y="0"/>
                </a:lnTo>
                <a:close/>
              </a:path>
            </a:pathLst>
          </a:custGeom>
          <a:solidFill>
            <a:srgbClr val="3C8082">
              <a:alpha val="14902"/>
            </a:srgbClr>
          </a:solidFill>
          <a:ln/>
        </p:spPr>
      </p:sp>
      <p:sp>
        <p:nvSpPr>
          <p:cNvPr id="53" name="Shape 51"/>
          <p:cNvSpPr/>
          <p:nvPr/>
        </p:nvSpPr>
        <p:spPr>
          <a:xfrm>
            <a:off x="392430" y="5562600"/>
            <a:ext cx="22860" cy="1219200"/>
          </a:xfrm>
          <a:custGeom>
            <a:avLst/>
            <a:gdLst/>
            <a:ahLst/>
            <a:cxnLst/>
            <a:rect l="l" t="t" r="r" b="b"/>
            <a:pathLst>
              <a:path w="22860" h="1219200">
                <a:moveTo>
                  <a:pt x="0" y="0"/>
                </a:moveTo>
                <a:lnTo>
                  <a:pt x="22860" y="0"/>
                </a:lnTo>
                <a:lnTo>
                  <a:pt x="22860" y="1219200"/>
                </a:lnTo>
                <a:lnTo>
                  <a:pt x="0" y="1219200"/>
                </a:lnTo>
                <a:lnTo>
                  <a:pt x="0" y="0"/>
                </a:lnTo>
                <a:close/>
              </a:path>
            </a:pathLst>
          </a:custGeom>
          <a:solidFill>
            <a:srgbClr val="3C8082"/>
          </a:solidFill>
          <a:ln/>
        </p:spPr>
      </p:sp>
      <p:sp>
        <p:nvSpPr>
          <p:cNvPr id="54" name="Shape 52"/>
          <p:cNvSpPr/>
          <p:nvPr/>
        </p:nvSpPr>
        <p:spPr>
          <a:xfrm>
            <a:off x="632460" y="6029325"/>
            <a:ext cx="285750" cy="285750"/>
          </a:xfrm>
          <a:custGeom>
            <a:avLst/>
            <a:gdLst/>
            <a:ahLst/>
            <a:cxnLst/>
            <a:rect l="l" t="t" r="r" b="b"/>
            <a:pathLst>
              <a:path w="285750" h="285750">
                <a:moveTo>
                  <a:pt x="71438" y="178594"/>
                </a:moveTo>
                <a:lnTo>
                  <a:pt x="13674" y="178594"/>
                </a:lnTo>
                <a:cubicBezTo>
                  <a:pt x="-223" y="178594"/>
                  <a:pt x="-8762" y="163469"/>
                  <a:pt x="-1619" y="151526"/>
                </a:cubicBezTo>
                <a:lnTo>
                  <a:pt x="27905" y="102301"/>
                </a:lnTo>
                <a:cubicBezTo>
                  <a:pt x="32761" y="94208"/>
                  <a:pt x="41467" y="89297"/>
                  <a:pt x="50899" y="89297"/>
                </a:cubicBezTo>
                <a:lnTo>
                  <a:pt x="103919" y="89297"/>
                </a:lnTo>
                <a:cubicBezTo>
                  <a:pt x="146391" y="17357"/>
                  <a:pt x="209736" y="13729"/>
                  <a:pt x="252096" y="19924"/>
                </a:cubicBezTo>
                <a:cubicBezTo>
                  <a:pt x="259240" y="20985"/>
                  <a:pt x="264821" y="26566"/>
                  <a:pt x="265826" y="33654"/>
                </a:cubicBezTo>
                <a:cubicBezTo>
                  <a:pt x="272021" y="76014"/>
                  <a:pt x="268393" y="139359"/>
                  <a:pt x="196453" y="181831"/>
                </a:cubicBezTo>
                <a:lnTo>
                  <a:pt x="196453" y="234851"/>
                </a:lnTo>
                <a:cubicBezTo>
                  <a:pt x="196453" y="244283"/>
                  <a:pt x="191542" y="252989"/>
                  <a:pt x="183449" y="257845"/>
                </a:cubicBezTo>
                <a:lnTo>
                  <a:pt x="134224" y="287369"/>
                </a:lnTo>
                <a:cubicBezTo>
                  <a:pt x="122337" y="294512"/>
                  <a:pt x="107156" y="285917"/>
                  <a:pt x="107156" y="272076"/>
                </a:cubicBezTo>
                <a:lnTo>
                  <a:pt x="107156" y="214313"/>
                </a:lnTo>
                <a:cubicBezTo>
                  <a:pt x="107156" y="194611"/>
                  <a:pt x="91139" y="178594"/>
                  <a:pt x="71438" y="178594"/>
                </a:cubicBezTo>
                <a:lnTo>
                  <a:pt x="71382" y="178594"/>
                </a:lnTo>
                <a:close/>
                <a:moveTo>
                  <a:pt x="223242" y="89297"/>
                </a:moveTo>
                <a:cubicBezTo>
                  <a:pt x="223242" y="74512"/>
                  <a:pt x="211238" y="62508"/>
                  <a:pt x="196453" y="62508"/>
                </a:cubicBezTo>
                <a:cubicBezTo>
                  <a:pt x="181668" y="62508"/>
                  <a:pt x="169664" y="74512"/>
                  <a:pt x="169664" y="89297"/>
                </a:cubicBezTo>
                <a:cubicBezTo>
                  <a:pt x="169664" y="104082"/>
                  <a:pt x="181668" y="116086"/>
                  <a:pt x="196453" y="116086"/>
                </a:cubicBezTo>
                <a:cubicBezTo>
                  <a:pt x="211238" y="116086"/>
                  <a:pt x="223242" y="104082"/>
                  <a:pt x="223242" y="89297"/>
                </a:cubicBezTo>
                <a:close/>
              </a:path>
            </a:pathLst>
          </a:custGeom>
          <a:solidFill>
            <a:srgbClr val="D9A477"/>
          </a:solidFill>
          <a:ln/>
        </p:spPr>
      </p:sp>
      <p:sp>
        <p:nvSpPr>
          <p:cNvPr id="55" name="Text 53"/>
          <p:cNvSpPr/>
          <p:nvPr/>
        </p:nvSpPr>
        <p:spPr>
          <a:xfrm>
            <a:off x="1103948" y="5753100"/>
            <a:ext cx="106108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增长轨迹洞察</a:t>
            </a:r>
            <a:endParaRPr lang="en-US" sz="1600" dirty="0"/>
          </a:p>
        </p:txBody>
      </p:sp>
      <p:sp>
        <p:nvSpPr>
          <p:cNvPr id="56" name="Text 54"/>
          <p:cNvSpPr/>
          <p:nvPr/>
        </p:nvSpPr>
        <p:spPr>
          <a:xfrm>
            <a:off x="1103948" y="6096000"/>
            <a:ext cx="10591800" cy="495300"/>
          </a:xfrm>
          <a:prstGeom prst="rect">
            <a:avLst/>
          </a:prstGeom>
          <a:noFill/>
          <a:ln/>
        </p:spPr>
        <p:txBody>
          <a:bodyPr wrap="square" lIns="0" tIns="0" rIns="0" bIns="0" rtlCol="0" anchor="ctr"/>
          <a:lstStyle/>
          <a:p>
            <a:pPr>
              <a:lnSpc>
                <a:spcPct val="140000"/>
              </a:lnSpc>
            </a:pPr>
            <a:r>
              <a:rPr lang="en-US" sz="1200" dirty="0">
                <a:solidFill>
                  <a:srgbClr val="E8E8E8">
                    <a:alpha val="85000"/>
                  </a:srgbClr>
                </a:solidFill>
                <a:latin typeface="MiSans" pitchFamily="34" charset="0"/>
                <a:ea typeface="MiSans" pitchFamily="34" charset="-122"/>
                <a:cs typeface="MiSans" pitchFamily="34" charset="-120"/>
              </a:rPr>
              <a:t>Nest仅用</a:t>
            </a:r>
            <a:r>
              <a:rPr lang="en-US" sz="1200" b="1" dirty="0">
                <a:solidFill>
                  <a:srgbClr val="D9A477"/>
                </a:solidFill>
                <a:latin typeface="MiSans" pitchFamily="34" charset="0"/>
                <a:ea typeface="MiSans" pitchFamily="34" charset="-122"/>
                <a:cs typeface="MiSans" pitchFamily="34" charset="-120"/>
              </a:rPr>
              <a:t>3年时间</a:t>
            </a:r>
            <a:r>
              <a:rPr lang="en-US" sz="1200" dirty="0">
                <a:solidFill>
                  <a:srgbClr val="E8E8E8">
                    <a:alpha val="85000"/>
                  </a:srgbClr>
                </a:solidFill>
                <a:latin typeface="MiSans" pitchFamily="34" charset="0"/>
                <a:ea typeface="MiSans" pitchFamily="34" charset="-122"/>
                <a:cs typeface="MiSans" pitchFamily="34" charset="-120"/>
              </a:rPr>
              <a:t>就完成了从市场新兵到行业王者的跨越,市场份额增长超过15倍,营收增长50倍。这一快速增长轨迹证明了其产品创新、定价策略和市场打法的有效性,为后来者提供了宝贵的商业案例。</a:t>
            </a:r>
            <a:endParaRPr lang="en-US" sz="1600" dirty="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52625" y="352625"/>
            <a:ext cx="11548460" cy="176312"/>
          </a:xfrm>
          <a:prstGeom prst="rect">
            <a:avLst/>
          </a:prstGeom>
          <a:noFill/>
          <a:ln/>
        </p:spPr>
        <p:txBody>
          <a:bodyPr wrap="square" lIns="0" tIns="0" rIns="0" bIns="0" rtlCol="0" anchor="ctr"/>
          <a:lstStyle/>
          <a:p>
            <a:pPr>
              <a:lnSpc>
                <a:spcPct val="120000"/>
              </a:lnSpc>
            </a:pPr>
            <a:r>
              <a:rPr lang="en-US" sz="972" b="1" kern="0" spc="194" dirty="0">
                <a:solidFill>
                  <a:srgbClr val="D9A477"/>
                </a:solidFill>
                <a:latin typeface="MiSans" pitchFamily="34" charset="0"/>
                <a:ea typeface="MiSans" pitchFamily="34" charset="-122"/>
                <a:cs typeface="MiSans" pitchFamily="34" charset="-120"/>
              </a:rPr>
              <a:t>Competitive Landscape</a:t>
            </a:r>
            <a:endParaRPr lang="en-US" sz="1600" dirty="0"/>
          </a:p>
        </p:txBody>
      </p:sp>
      <p:sp>
        <p:nvSpPr>
          <p:cNvPr id="3" name="Text 1"/>
          <p:cNvSpPr/>
          <p:nvPr/>
        </p:nvSpPr>
        <p:spPr>
          <a:xfrm>
            <a:off x="352625" y="599462"/>
            <a:ext cx="11645432" cy="352625"/>
          </a:xfrm>
          <a:prstGeom prst="rect">
            <a:avLst/>
          </a:prstGeom>
          <a:noFill/>
          <a:ln/>
        </p:spPr>
        <p:txBody>
          <a:bodyPr wrap="square" lIns="0" tIns="0" rIns="0" bIns="0" rtlCol="0" anchor="ctr"/>
          <a:lstStyle/>
          <a:p>
            <a:pPr>
              <a:lnSpc>
                <a:spcPct val="90000"/>
              </a:lnSpc>
            </a:pPr>
            <a:r>
              <a:rPr lang="en-US" sz="2499" b="1" dirty="0">
                <a:solidFill>
                  <a:srgbClr val="E8E8E8"/>
                </a:solidFill>
                <a:latin typeface="MiSans" pitchFamily="34" charset="0"/>
                <a:ea typeface="MiSans" pitchFamily="34" charset="-122"/>
                <a:cs typeface="MiSans" pitchFamily="34" charset="-120"/>
              </a:rPr>
              <a:t>巨头的反击与应对</a:t>
            </a:r>
            <a:endParaRPr lang="en-US" sz="1600" dirty="0"/>
          </a:p>
        </p:txBody>
      </p:sp>
      <p:sp>
        <p:nvSpPr>
          <p:cNvPr id="4" name="Shape 2"/>
          <p:cNvSpPr/>
          <p:nvPr/>
        </p:nvSpPr>
        <p:spPr>
          <a:xfrm>
            <a:off x="363203" y="1163662"/>
            <a:ext cx="4453650" cy="4328469"/>
          </a:xfrm>
          <a:custGeom>
            <a:avLst/>
            <a:gdLst/>
            <a:ahLst/>
            <a:cxnLst/>
            <a:rect l="l" t="t" r="r" b="b"/>
            <a:pathLst>
              <a:path w="4453650" h="4328469">
                <a:moveTo>
                  <a:pt x="0" y="0"/>
                </a:moveTo>
                <a:lnTo>
                  <a:pt x="4453650" y="0"/>
                </a:lnTo>
                <a:lnTo>
                  <a:pt x="4453650" y="4328469"/>
                </a:lnTo>
                <a:lnTo>
                  <a:pt x="0" y="4328469"/>
                </a:lnTo>
                <a:lnTo>
                  <a:pt x="0" y="0"/>
                </a:lnTo>
                <a:close/>
              </a:path>
            </a:pathLst>
          </a:custGeom>
          <a:solidFill>
            <a:srgbClr val="6D7275">
              <a:alpha val="14902"/>
            </a:srgbClr>
          </a:solidFill>
          <a:ln/>
        </p:spPr>
      </p:sp>
      <p:sp>
        <p:nvSpPr>
          <p:cNvPr id="5" name="Shape 3"/>
          <p:cNvSpPr/>
          <p:nvPr/>
        </p:nvSpPr>
        <p:spPr>
          <a:xfrm>
            <a:off x="363203" y="1163662"/>
            <a:ext cx="21157" cy="4328469"/>
          </a:xfrm>
          <a:custGeom>
            <a:avLst/>
            <a:gdLst/>
            <a:ahLst/>
            <a:cxnLst/>
            <a:rect l="l" t="t" r="r" b="b"/>
            <a:pathLst>
              <a:path w="21157" h="4328469">
                <a:moveTo>
                  <a:pt x="0" y="0"/>
                </a:moveTo>
                <a:lnTo>
                  <a:pt x="21157" y="0"/>
                </a:lnTo>
                <a:lnTo>
                  <a:pt x="21157" y="4328469"/>
                </a:lnTo>
                <a:lnTo>
                  <a:pt x="0" y="4328469"/>
                </a:lnTo>
                <a:lnTo>
                  <a:pt x="0" y="0"/>
                </a:lnTo>
                <a:close/>
              </a:path>
            </a:pathLst>
          </a:custGeom>
          <a:solidFill>
            <a:srgbClr val="6D7275"/>
          </a:solidFill>
          <a:ln/>
        </p:spPr>
      </p:sp>
      <p:sp>
        <p:nvSpPr>
          <p:cNvPr id="6" name="Text 4"/>
          <p:cNvSpPr/>
          <p:nvPr/>
        </p:nvSpPr>
        <p:spPr>
          <a:xfrm>
            <a:off x="585357" y="1375236"/>
            <a:ext cx="4108078" cy="246837"/>
          </a:xfrm>
          <a:prstGeom prst="rect">
            <a:avLst/>
          </a:prstGeom>
          <a:noFill/>
          <a:ln/>
        </p:spPr>
        <p:txBody>
          <a:bodyPr wrap="square" lIns="0" tIns="0" rIns="0" bIns="0" rtlCol="0" anchor="ctr"/>
          <a:lstStyle/>
          <a:p>
            <a:pPr>
              <a:lnSpc>
                <a:spcPct val="120000"/>
              </a:lnSpc>
            </a:pPr>
            <a:r>
              <a:rPr lang="en-US" sz="1388" b="1" dirty="0">
                <a:solidFill>
                  <a:srgbClr val="E8E8E8"/>
                </a:solidFill>
                <a:latin typeface="MiSans" pitchFamily="34" charset="0"/>
                <a:ea typeface="MiSans" pitchFamily="34" charset="-122"/>
                <a:cs typeface="MiSans" pitchFamily="34" charset="-120"/>
              </a:rPr>
              <a:t>霍尼韦尔的反击</a:t>
            </a:r>
            <a:endParaRPr lang="en-US" sz="1600" dirty="0"/>
          </a:p>
        </p:txBody>
      </p:sp>
      <p:sp>
        <p:nvSpPr>
          <p:cNvPr id="7" name="Text 5"/>
          <p:cNvSpPr/>
          <p:nvPr/>
        </p:nvSpPr>
        <p:spPr>
          <a:xfrm>
            <a:off x="585357" y="1798386"/>
            <a:ext cx="4081631" cy="176312"/>
          </a:xfrm>
          <a:prstGeom prst="rect">
            <a:avLst/>
          </a:prstGeom>
          <a:noFill/>
          <a:ln/>
        </p:spPr>
        <p:txBody>
          <a:bodyPr wrap="square" lIns="0" tIns="0" rIns="0" bIns="0" rtlCol="0" anchor="ctr"/>
          <a:lstStyle/>
          <a:p>
            <a:pPr>
              <a:lnSpc>
                <a:spcPct val="120000"/>
              </a:lnSpc>
            </a:pPr>
            <a:r>
              <a:rPr lang="en-US" sz="972" dirty="0">
                <a:solidFill>
                  <a:srgbClr val="E8E8E8">
                    <a:alpha val="70000"/>
                  </a:srgbClr>
                </a:solidFill>
                <a:latin typeface="MiSans" pitchFamily="34" charset="0"/>
                <a:ea typeface="MiSans" pitchFamily="34" charset="-122"/>
                <a:cs typeface="MiSans" pitchFamily="34" charset="-120"/>
              </a:rPr>
              <a:t>反击产品</a:t>
            </a:r>
            <a:endParaRPr lang="en-US" sz="1600" dirty="0"/>
          </a:p>
        </p:txBody>
      </p:sp>
      <p:sp>
        <p:nvSpPr>
          <p:cNvPr id="8" name="Text 6"/>
          <p:cNvSpPr/>
          <p:nvPr/>
        </p:nvSpPr>
        <p:spPr>
          <a:xfrm>
            <a:off x="585357" y="2045223"/>
            <a:ext cx="4125709" cy="282100"/>
          </a:xfrm>
          <a:prstGeom prst="rect">
            <a:avLst/>
          </a:prstGeom>
          <a:noFill/>
          <a:ln/>
        </p:spPr>
        <p:txBody>
          <a:bodyPr wrap="square" lIns="0" tIns="0" rIns="0" bIns="0" rtlCol="0" anchor="ctr"/>
          <a:lstStyle/>
          <a:p>
            <a:pPr>
              <a:lnSpc>
                <a:spcPct val="110000"/>
              </a:lnSpc>
            </a:pPr>
            <a:r>
              <a:rPr lang="en-US" sz="1666" b="1" dirty="0">
                <a:solidFill>
                  <a:srgbClr val="E8E8E8"/>
                </a:solidFill>
                <a:latin typeface="MiSans" pitchFamily="34" charset="0"/>
                <a:ea typeface="MiSans" pitchFamily="34" charset="-122"/>
                <a:cs typeface="MiSans" pitchFamily="34" charset="-120"/>
              </a:rPr>
              <a:t>Lyric温控器</a:t>
            </a:r>
            <a:endParaRPr lang="en-US" sz="1600" dirty="0"/>
          </a:p>
        </p:txBody>
      </p:sp>
      <p:sp>
        <p:nvSpPr>
          <p:cNvPr id="9" name="Text 7"/>
          <p:cNvSpPr/>
          <p:nvPr/>
        </p:nvSpPr>
        <p:spPr>
          <a:xfrm>
            <a:off x="585357" y="2503528"/>
            <a:ext cx="4081631" cy="176312"/>
          </a:xfrm>
          <a:prstGeom prst="rect">
            <a:avLst/>
          </a:prstGeom>
          <a:noFill/>
          <a:ln/>
        </p:spPr>
        <p:txBody>
          <a:bodyPr wrap="square" lIns="0" tIns="0" rIns="0" bIns="0" rtlCol="0" anchor="ctr"/>
          <a:lstStyle/>
          <a:p>
            <a:pPr>
              <a:lnSpc>
                <a:spcPct val="120000"/>
              </a:lnSpc>
            </a:pPr>
            <a:r>
              <a:rPr lang="en-US" sz="972" dirty="0">
                <a:solidFill>
                  <a:srgbClr val="E8E8E8">
                    <a:alpha val="70000"/>
                  </a:srgbClr>
                </a:solidFill>
                <a:latin typeface="MiSans" pitchFamily="34" charset="0"/>
                <a:ea typeface="MiSans" pitchFamily="34" charset="-122"/>
                <a:cs typeface="MiSans" pitchFamily="34" charset="-120"/>
              </a:rPr>
              <a:t>发布时间</a:t>
            </a:r>
            <a:endParaRPr lang="en-US" sz="1600" dirty="0"/>
          </a:p>
        </p:txBody>
      </p:sp>
      <p:sp>
        <p:nvSpPr>
          <p:cNvPr id="10" name="Text 8"/>
          <p:cNvSpPr/>
          <p:nvPr/>
        </p:nvSpPr>
        <p:spPr>
          <a:xfrm>
            <a:off x="585357" y="2750365"/>
            <a:ext cx="4125709" cy="282100"/>
          </a:xfrm>
          <a:prstGeom prst="rect">
            <a:avLst/>
          </a:prstGeom>
          <a:noFill/>
          <a:ln/>
        </p:spPr>
        <p:txBody>
          <a:bodyPr wrap="square" lIns="0" tIns="0" rIns="0" bIns="0" rtlCol="0" anchor="ctr"/>
          <a:lstStyle/>
          <a:p>
            <a:pPr>
              <a:lnSpc>
                <a:spcPct val="110000"/>
              </a:lnSpc>
            </a:pPr>
            <a:r>
              <a:rPr lang="en-US" sz="1666" b="1" dirty="0">
                <a:solidFill>
                  <a:srgbClr val="E8E8E8"/>
                </a:solidFill>
                <a:latin typeface="MiSans" pitchFamily="34" charset="0"/>
                <a:ea typeface="MiSans" pitchFamily="34" charset="-122"/>
                <a:cs typeface="MiSans" pitchFamily="34" charset="-120"/>
              </a:rPr>
              <a:t>2013年</a:t>
            </a:r>
            <a:endParaRPr lang="en-US" sz="1600" dirty="0"/>
          </a:p>
        </p:txBody>
      </p:sp>
      <p:sp>
        <p:nvSpPr>
          <p:cNvPr id="11" name="Text 9"/>
          <p:cNvSpPr/>
          <p:nvPr/>
        </p:nvSpPr>
        <p:spPr>
          <a:xfrm>
            <a:off x="585357" y="3208666"/>
            <a:ext cx="4081631" cy="176312"/>
          </a:xfrm>
          <a:prstGeom prst="rect">
            <a:avLst/>
          </a:prstGeom>
          <a:noFill/>
          <a:ln/>
        </p:spPr>
        <p:txBody>
          <a:bodyPr wrap="square" lIns="0" tIns="0" rIns="0" bIns="0" rtlCol="0" anchor="ctr"/>
          <a:lstStyle/>
          <a:p>
            <a:pPr>
              <a:lnSpc>
                <a:spcPct val="120000"/>
              </a:lnSpc>
            </a:pPr>
            <a:r>
              <a:rPr lang="en-US" sz="972" dirty="0">
                <a:solidFill>
                  <a:srgbClr val="E8E8E8">
                    <a:alpha val="70000"/>
                  </a:srgbClr>
                </a:solidFill>
                <a:latin typeface="MiSans" pitchFamily="34" charset="0"/>
                <a:ea typeface="MiSans" pitchFamily="34" charset="-122"/>
                <a:cs typeface="MiSans" pitchFamily="34" charset="-120"/>
              </a:rPr>
              <a:t>定价策略</a:t>
            </a:r>
            <a:endParaRPr lang="en-US" sz="1600" dirty="0"/>
          </a:p>
        </p:txBody>
      </p:sp>
      <p:sp>
        <p:nvSpPr>
          <p:cNvPr id="12" name="Text 10"/>
          <p:cNvSpPr/>
          <p:nvPr/>
        </p:nvSpPr>
        <p:spPr>
          <a:xfrm>
            <a:off x="585357" y="3455503"/>
            <a:ext cx="872746" cy="352625"/>
          </a:xfrm>
          <a:prstGeom prst="rect">
            <a:avLst/>
          </a:prstGeom>
          <a:noFill/>
          <a:ln/>
        </p:spPr>
        <p:txBody>
          <a:bodyPr wrap="square" lIns="0" tIns="0" rIns="0" bIns="0" rtlCol="0" anchor="ctr"/>
          <a:lstStyle/>
          <a:p>
            <a:pPr>
              <a:lnSpc>
                <a:spcPct val="90000"/>
              </a:lnSpc>
            </a:pPr>
            <a:r>
              <a:rPr lang="en-US" sz="2499" b="1" dirty="0">
                <a:solidFill>
                  <a:srgbClr val="6D7275"/>
                </a:solidFill>
                <a:latin typeface="MiSans" pitchFamily="34" charset="0"/>
                <a:ea typeface="MiSans" pitchFamily="34" charset="-122"/>
                <a:cs typeface="MiSans" pitchFamily="34" charset="-120"/>
              </a:rPr>
              <a:t>$279</a:t>
            </a:r>
            <a:endParaRPr lang="en-US" sz="1600" dirty="0"/>
          </a:p>
        </p:txBody>
      </p:sp>
      <p:sp>
        <p:nvSpPr>
          <p:cNvPr id="13" name="Text 11"/>
          <p:cNvSpPr/>
          <p:nvPr/>
        </p:nvSpPr>
        <p:spPr>
          <a:xfrm>
            <a:off x="1369727" y="3596553"/>
            <a:ext cx="352625" cy="211575"/>
          </a:xfrm>
          <a:prstGeom prst="rect">
            <a:avLst/>
          </a:prstGeom>
          <a:noFill/>
          <a:ln/>
        </p:spPr>
        <p:txBody>
          <a:bodyPr wrap="square" lIns="0" tIns="0" rIns="0" bIns="0" rtlCol="0" anchor="ctr"/>
          <a:lstStyle/>
          <a:p>
            <a:pPr>
              <a:lnSpc>
                <a:spcPct val="130000"/>
              </a:lnSpc>
            </a:pPr>
            <a:r>
              <a:rPr lang="en-US" sz="1111" dirty="0">
                <a:solidFill>
                  <a:srgbClr val="E8E8E8">
                    <a:alpha val="70000"/>
                  </a:srgbClr>
                </a:solidFill>
                <a:latin typeface="MiSans" pitchFamily="34" charset="0"/>
                <a:ea typeface="MiSans" pitchFamily="34" charset="-122"/>
                <a:cs typeface="MiSans" pitchFamily="34" charset="-120"/>
              </a:rPr>
              <a:t>美元</a:t>
            </a:r>
            <a:endParaRPr lang="en-US" sz="1600" dirty="0"/>
          </a:p>
        </p:txBody>
      </p:sp>
      <p:sp>
        <p:nvSpPr>
          <p:cNvPr id="14" name="Text 12"/>
          <p:cNvSpPr/>
          <p:nvPr/>
        </p:nvSpPr>
        <p:spPr>
          <a:xfrm>
            <a:off x="585357" y="3878652"/>
            <a:ext cx="4081631" cy="176312"/>
          </a:xfrm>
          <a:prstGeom prst="rect">
            <a:avLst/>
          </a:prstGeom>
          <a:noFill/>
          <a:ln/>
        </p:spPr>
        <p:txBody>
          <a:bodyPr wrap="square" lIns="0" tIns="0" rIns="0" bIns="0" rtlCol="0" anchor="ctr"/>
          <a:lstStyle/>
          <a:p>
            <a:pPr>
              <a:lnSpc>
                <a:spcPct val="120000"/>
              </a:lnSpc>
            </a:pPr>
            <a:r>
              <a:rPr lang="en-US" sz="972" dirty="0">
                <a:solidFill>
                  <a:srgbClr val="E8E8E8">
                    <a:alpha val="70000"/>
                  </a:srgbClr>
                </a:solidFill>
                <a:latin typeface="MiSans" pitchFamily="34" charset="0"/>
                <a:ea typeface="MiSans" pitchFamily="34" charset="-122"/>
                <a:cs typeface="MiSans" pitchFamily="34" charset="-120"/>
              </a:rPr>
              <a:t>比Nest高出$30</a:t>
            </a:r>
            <a:endParaRPr lang="en-US" sz="1600" dirty="0"/>
          </a:p>
        </p:txBody>
      </p:sp>
      <p:sp>
        <p:nvSpPr>
          <p:cNvPr id="15" name="Text 13"/>
          <p:cNvSpPr/>
          <p:nvPr/>
        </p:nvSpPr>
        <p:spPr>
          <a:xfrm>
            <a:off x="585357" y="4231277"/>
            <a:ext cx="4090447"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模仿功能</a:t>
            </a:r>
            <a:endParaRPr lang="en-US" sz="1600" dirty="0"/>
          </a:p>
        </p:txBody>
      </p:sp>
      <p:sp>
        <p:nvSpPr>
          <p:cNvPr id="16" name="Shape 14"/>
          <p:cNvSpPr/>
          <p:nvPr/>
        </p:nvSpPr>
        <p:spPr>
          <a:xfrm>
            <a:off x="585357" y="4619164"/>
            <a:ext cx="70525" cy="70525"/>
          </a:xfrm>
          <a:custGeom>
            <a:avLst/>
            <a:gdLst/>
            <a:ahLst/>
            <a:cxnLst/>
            <a:rect l="l" t="t" r="r" b="b"/>
            <a:pathLst>
              <a:path w="70525" h="70525">
                <a:moveTo>
                  <a:pt x="0" y="0"/>
                </a:moveTo>
                <a:lnTo>
                  <a:pt x="70525" y="0"/>
                </a:lnTo>
                <a:lnTo>
                  <a:pt x="70525" y="70525"/>
                </a:lnTo>
                <a:lnTo>
                  <a:pt x="0" y="70525"/>
                </a:lnTo>
                <a:lnTo>
                  <a:pt x="0" y="0"/>
                </a:lnTo>
                <a:close/>
              </a:path>
            </a:pathLst>
          </a:custGeom>
          <a:solidFill>
            <a:srgbClr val="6D7275"/>
          </a:solidFill>
          <a:ln/>
        </p:spPr>
      </p:sp>
      <p:sp>
        <p:nvSpPr>
          <p:cNvPr id="17" name="Text 15"/>
          <p:cNvSpPr/>
          <p:nvPr/>
        </p:nvSpPr>
        <p:spPr>
          <a:xfrm>
            <a:off x="761669" y="4548639"/>
            <a:ext cx="634725" cy="211575"/>
          </a:xfrm>
          <a:prstGeom prst="rect">
            <a:avLst/>
          </a:prstGeom>
          <a:noFill/>
          <a:ln/>
        </p:spPr>
        <p:txBody>
          <a:bodyPr wrap="square" lIns="0" tIns="0" rIns="0" bIns="0" rtlCol="0" anchor="ctr"/>
          <a:lstStyle/>
          <a:p>
            <a:pPr>
              <a:lnSpc>
                <a:spcPct val="130000"/>
              </a:lnSpc>
            </a:pPr>
            <a:r>
              <a:rPr lang="en-US" sz="1111" dirty="0">
                <a:solidFill>
                  <a:srgbClr val="E8E8E8">
                    <a:alpha val="80000"/>
                  </a:srgbClr>
                </a:solidFill>
                <a:latin typeface="MiSans" pitchFamily="34" charset="0"/>
                <a:ea typeface="MiSans" pitchFamily="34" charset="-122"/>
                <a:cs typeface="MiSans" pitchFamily="34" charset="-120"/>
              </a:rPr>
              <a:t>联网功能</a:t>
            </a:r>
            <a:endParaRPr lang="en-US" sz="1600" dirty="0"/>
          </a:p>
        </p:txBody>
      </p:sp>
      <p:sp>
        <p:nvSpPr>
          <p:cNvPr id="18" name="Shape 16"/>
          <p:cNvSpPr/>
          <p:nvPr/>
        </p:nvSpPr>
        <p:spPr>
          <a:xfrm>
            <a:off x="585357" y="4936527"/>
            <a:ext cx="70525" cy="70525"/>
          </a:xfrm>
          <a:custGeom>
            <a:avLst/>
            <a:gdLst/>
            <a:ahLst/>
            <a:cxnLst/>
            <a:rect l="l" t="t" r="r" b="b"/>
            <a:pathLst>
              <a:path w="70525" h="70525">
                <a:moveTo>
                  <a:pt x="0" y="0"/>
                </a:moveTo>
                <a:lnTo>
                  <a:pt x="70525" y="0"/>
                </a:lnTo>
                <a:lnTo>
                  <a:pt x="70525" y="70525"/>
                </a:lnTo>
                <a:lnTo>
                  <a:pt x="0" y="70525"/>
                </a:lnTo>
                <a:lnTo>
                  <a:pt x="0" y="0"/>
                </a:lnTo>
                <a:close/>
              </a:path>
            </a:pathLst>
          </a:custGeom>
          <a:solidFill>
            <a:srgbClr val="6D7275"/>
          </a:solidFill>
          <a:ln/>
        </p:spPr>
      </p:sp>
      <p:sp>
        <p:nvSpPr>
          <p:cNvPr id="19" name="Text 17"/>
          <p:cNvSpPr/>
          <p:nvPr/>
        </p:nvSpPr>
        <p:spPr>
          <a:xfrm>
            <a:off x="761669" y="4866002"/>
            <a:ext cx="899193" cy="211575"/>
          </a:xfrm>
          <a:prstGeom prst="rect">
            <a:avLst/>
          </a:prstGeom>
          <a:noFill/>
          <a:ln/>
        </p:spPr>
        <p:txBody>
          <a:bodyPr wrap="square" lIns="0" tIns="0" rIns="0" bIns="0" rtlCol="0" anchor="ctr"/>
          <a:lstStyle/>
          <a:p>
            <a:pPr>
              <a:lnSpc>
                <a:spcPct val="130000"/>
              </a:lnSpc>
            </a:pPr>
            <a:r>
              <a:rPr lang="en-US" sz="1111" dirty="0">
                <a:solidFill>
                  <a:srgbClr val="E8E8E8">
                    <a:alpha val="80000"/>
                  </a:srgbClr>
                </a:solidFill>
                <a:latin typeface="MiSans" pitchFamily="34" charset="0"/>
                <a:ea typeface="MiSans" pitchFamily="34" charset="-122"/>
                <a:cs typeface="MiSans" pitchFamily="34" charset="-120"/>
              </a:rPr>
              <a:t>手机APP控制</a:t>
            </a:r>
            <a:endParaRPr lang="en-US" sz="1600" dirty="0"/>
          </a:p>
        </p:txBody>
      </p:sp>
      <p:sp>
        <p:nvSpPr>
          <p:cNvPr id="20" name="Shape 18"/>
          <p:cNvSpPr/>
          <p:nvPr/>
        </p:nvSpPr>
        <p:spPr>
          <a:xfrm>
            <a:off x="363203" y="5665468"/>
            <a:ext cx="4453650" cy="1392868"/>
          </a:xfrm>
          <a:custGeom>
            <a:avLst/>
            <a:gdLst/>
            <a:ahLst/>
            <a:cxnLst/>
            <a:rect l="l" t="t" r="r" b="b"/>
            <a:pathLst>
              <a:path w="4453650" h="1392868">
                <a:moveTo>
                  <a:pt x="0" y="0"/>
                </a:moveTo>
                <a:lnTo>
                  <a:pt x="4453650" y="0"/>
                </a:lnTo>
                <a:lnTo>
                  <a:pt x="4453650" y="1392868"/>
                </a:lnTo>
                <a:lnTo>
                  <a:pt x="0" y="1392868"/>
                </a:lnTo>
                <a:lnTo>
                  <a:pt x="0" y="0"/>
                </a:lnTo>
                <a:close/>
              </a:path>
            </a:pathLst>
          </a:custGeom>
          <a:solidFill>
            <a:srgbClr val="3C8082">
              <a:alpha val="14902"/>
            </a:srgbClr>
          </a:solidFill>
          <a:ln/>
        </p:spPr>
      </p:sp>
      <p:sp>
        <p:nvSpPr>
          <p:cNvPr id="21" name="Shape 19"/>
          <p:cNvSpPr/>
          <p:nvPr/>
        </p:nvSpPr>
        <p:spPr>
          <a:xfrm>
            <a:off x="363203" y="5665468"/>
            <a:ext cx="21157" cy="1392868"/>
          </a:xfrm>
          <a:custGeom>
            <a:avLst/>
            <a:gdLst/>
            <a:ahLst/>
            <a:cxnLst/>
            <a:rect l="l" t="t" r="r" b="b"/>
            <a:pathLst>
              <a:path w="21157" h="1392868">
                <a:moveTo>
                  <a:pt x="0" y="0"/>
                </a:moveTo>
                <a:lnTo>
                  <a:pt x="21157" y="0"/>
                </a:lnTo>
                <a:lnTo>
                  <a:pt x="21157" y="1392868"/>
                </a:lnTo>
                <a:lnTo>
                  <a:pt x="0" y="1392868"/>
                </a:lnTo>
                <a:lnTo>
                  <a:pt x="0" y="0"/>
                </a:lnTo>
                <a:close/>
              </a:path>
            </a:pathLst>
          </a:custGeom>
          <a:solidFill>
            <a:srgbClr val="3C8082"/>
          </a:solidFill>
          <a:ln/>
        </p:spPr>
      </p:sp>
      <p:sp>
        <p:nvSpPr>
          <p:cNvPr id="22" name="Text 20"/>
          <p:cNvSpPr/>
          <p:nvPr/>
        </p:nvSpPr>
        <p:spPr>
          <a:xfrm>
            <a:off x="550095" y="5841780"/>
            <a:ext cx="4169787" cy="246837"/>
          </a:xfrm>
          <a:prstGeom prst="rect">
            <a:avLst/>
          </a:prstGeom>
          <a:noFill/>
          <a:ln/>
        </p:spPr>
        <p:txBody>
          <a:bodyPr wrap="square" lIns="0" tIns="0" rIns="0" bIns="0" rtlCol="0" anchor="ctr"/>
          <a:lstStyle/>
          <a:p>
            <a:pPr>
              <a:lnSpc>
                <a:spcPct val="130000"/>
              </a:lnSpc>
            </a:pPr>
            <a:r>
              <a:rPr lang="en-US" sz="1249" b="1" dirty="0">
                <a:solidFill>
                  <a:srgbClr val="E8E8E8"/>
                </a:solidFill>
                <a:latin typeface="MiSans" pitchFamily="34" charset="0"/>
                <a:ea typeface="MiSans" pitchFamily="34" charset="-122"/>
                <a:cs typeface="MiSans" pitchFamily="34" charset="-120"/>
              </a:rPr>
              <a:t>反击效果</a:t>
            </a:r>
            <a:endParaRPr lang="en-US" sz="1600" dirty="0"/>
          </a:p>
        </p:txBody>
      </p:sp>
      <p:sp>
        <p:nvSpPr>
          <p:cNvPr id="23" name="Text 21"/>
          <p:cNvSpPr/>
          <p:nvPr/>
        </p:nvSpPr>
        <p:spPr>
          <a:xfrm>
            <a:off x="550095" y="6194405"/>
            <a:ext cx="4160972" cy="687618"/>
          </a:xfrm>
          <a:prstGeom prst="rect">
            <a:avLst/>
          </a:prstGeom>
          <a:noFill/>
          <a:ln/>
        </p:spPr>
        <p:txBody>
          <a:bodyPr wrap="square" lIns="0" tIns="0" rIns="0" bIns="0" rtlCol="0" anchor="ctr"/>
          <a:lstStyle/>
          <a:p>
            <a:pPr>
              <a:lnSpc>
                <a:spcPct val="140000"/>
              </a:lnSpc>
            </a:pPr>
            <a:r>
              <a:rPr lang="en-US" sz="1111" dirty="0">
                <a:solidFill>
                  <a:srgbClr val="E8E8E8">
                    <a:alpha val="85000"/>
                  </a:srgbClr>
                </a:solidFill>
                <a:latin typeface="MiSans" pitchFamily="34" charset="0"/>
                <a:ea typeface="MiSans" pitchFamily="34" charset="-122"/>
                <a:cs typeface="MiSans" pitchFamily="34" charset="-120"/>
              </a:rPr>
              <a:t>Lyric温控器虽然模仿了Nest的部分功能,但由于</a:t>
            </a:r>
            <a:r>
              <a:rPr lang="en-US" sz="1111" b="1" dirty="0">
                <a:solidFill>
                  <a:srgbClr val="D9A477"/>
                </a:solidFill>
                <a:latin typeface="MiSans" pitchFamily="34" charset="0"/>
                <a:ea typeface="MiSans" pitchFamily="34" charset="-122"/>
                <a:cs typeface="MiSans" pitchFamily="34" charset="-120"/>
              </a:rPr>
              <a:t>缺乏核心算法能力</a:t>
            </a:r>
            <a:r>
              <a:rPr lang="en-US" sz="1111" dirty="0">
                <a:solidFill>
                  <a:srgbClr val="E8E8E8">
                    <a:alpha val="85000"/>
                  </a:srgbClr>
                </a:solidFill>
                <a:latin typeface="MiSans" pitchFamily="34" charset="0"/>
                <a:ea typeface="MiSans" pitchFamily="34" charset="-122"/>
                <a:cs typeface="MiSans" pitchFamily="34" charset="-120"/>
              </a:rPr>
              <a:t>,无法提供真正的智能学习体验,市场反响平淡,未能阻止Nest的增长势头。</a:t>
            </a:r>
            <a:endParaRPr lang="en-US" sz="1600" dirty="0"/>
          </a:p>
        </p:txBody>
      </p:sp>
      <p:sp>
        <p:nvSpPr>
          <p:cNvPr id="24" name="Shape 22"/>
          <p:cNvSpPr/>
          <p:nvPr/>
        </p:nvSpPr>
        <p:spPr>
          <a:xfrm>
            <a:off x="5042864" y="1163662"/>
            <a:ext cx="6798605" cy="5897649"/>
          </a:xfrm>
          <a:custGeom>
            <a:avLst/>
            <a:gdLst/>
            <a:ahLst/>
            <a:cxnLst/>
            <a:rect l="l" t="t" r="r" b="b"/>
            <a:pathLst>
              <a:path w="6798605" h="5897649">
                <a:moveTo>
                  <a:pt x="0" y="0"/>
                </a:moveTo>
                <a:lnTo>
                  <a:pt x="6798605" y="0"/>
                </a:lnTo>
                <a:lnTo>
                  <a:pt x="6798605" y="5897649"/>
                </a:lnTo>
                <a:lnTo>
                  <a:pt x="0" y="5897649"/>
                </a:lnTo>
                <a:lnTo>
                  <a:pt x="0" y="0"/>
                </a:lnTo>
                <a:close/>
              </a:path>
            </a:pathLst>
          </a:custGeom>
          <a:solidFill>
            <a:srgbClr val="D9A477">
              <a:alpha val="14902"/>
            </a:srgbClr>
          </a:solidFill>
          <a:ln/>
        </p:spPr>
      </p:sp>
      <p:sp>
        <p:nvSpPr>
          <p:cNvPr id="25" name="Shape 23"/>
          <p:cNvSpPr/>
          <p:nvPr/>
        </p:nvSpPr>
        <p:spPr>
          <a:xfrm>
            <a:off x="5042864" y="1163662"/>
            <a:ext cx="21157" cy="5897649"/>
          </a:xfrm>
          <a:custGeom>
            <a:avLst/>
            <a:gdLst/>
            <a:ahLst/>
            <a:cxnLst/>
            <a:rect l="l" t="t" r="r" b="b"/>
            <a:pathLst>
              <a:path w="21157" h="5897649">
                <a:moveTo>
                  <a:pt x="0" y="0"/>
                </a:moveTo>
                <a:lnTo>
                  <a:pt x="21157" y="0"/>
                </a:lnTo>
                <a:lnTo>
                  <a:pt x="21157" y="5897649"/>
                </a:lnTo>
                <a:lnTo>
                  <a:pt x="0" y="5897649"/>
                </a:lnTo>
                <a:lnTo>
                  <a:pt x="0" y="0"/>
                </a:lnTo>
                <a:close/>
              </a:path>
            </a:pathLst>
          </a:custGeom>
          <a:solidFill>
            <a:srgbClr val="D9A477"/>
          </a:solidFill>
          <a:ln/>
        </p:spPr>
      </p:sp>
      <p:sp>
        <p:nvSpPr>
          <p:cNvPr id="26" name="Text 24"/>
          <p:cNvSpPr/>
          <p:nvPr/>
        </p:nvSpPr>
        <p:spPr>
          <a:xfrm>
            <a:off x="5265018" y="1375236"/>
            <a:ext cx="6470664" cy="282100"/>
          </a:xfrm>
          <a:prstGeom prst="rect">
            <a:avLst/>
          </a:prstGeom>
          <a:noFill/>
          <a:ln/>
        </p:spPr>
        <p:txBody>
          <a:bodyPr wrap="square" lIns="0" tIns="0" rIns="0" bIns="0" rtlCol="0" anchor="ctr"/>
          <a:lstStyle/>
          <a:p>
            <a:pPr>
              <a:lnSpc>
                <a:spcPct val="110000"/>
              </a:lnSpc>
            </a:pPr>
            <a:r>
              <a:rPr lang="en-US" sz="1666" b="1" dirty="0">
                <a:solidFill>
                  <a:srgbClr val="E8E8E8"/>
                </a:solidFill>
                <a:latin typeface="MiSans" pitchFamily="34" charset="0"/>
                <a:ea typeface="MiSans" pitchFamily="34" charset="-122"/>
                <a:cs typeface="MiSans" pitchFamily="34" charset="-120"/>
              </a:rPr>
              <a:t>核心洞察:护城河的力量</a:t>
            </a:r>
            <a:endParaRPr lang="en-US" sz="1600" dirty="0"/>
          </a:p>
        </p:txBody>
      </p:sp>
      <p:sp>
        <p:nvSpPr>
          <p:cNvPr id="27" name="Text 25"/>
          <p:cNvSpPr/>
          <p:nvPr/>
        </p:nvSpPr>
        <p:spPr>
          <a:xfrm>
            <a:off x="5265018" y="1868803"/>
            <a:ext cx="6435401"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Nest的护城河构成</a:t>
            </a:r>
            <a:endParaRPr lang="en-US" sz="1600" dirty="0"/>
          </a:p>
        </p:txBody>
      </p:sp>
      <p:sp>
        <p:nvSpPr>
          <p:cNvPr id="28" name="Shape 26"/>
          <p:cNvSpPr/>
          <p:nvPr/>
        </p:nvSpPr>
        <p:spPr>
          <a:xfrm>
            <a:off x="5265018" y="2221428"/>
            <a:ext cx="3111913" cy="740512"/>
          </a:xfrm>
          <a:custGeom>
            <a:avLst/>
            <a:gdLst/>
            <a:ahLst/>
            <a:cxnLst/>
            <a:rect l="l" t="t" r="r" b="b"/>
            <a:pathLst>
              <a:path w="3111913" h="740512">
                <a:moveTo>
                  <a:pt x="0" y="0"/>
                </a:moveTo>
                <a:lnTo>
                  <a:pt x="3111913" y="0"/>
                </a:lnTo>
                <a:lnTo>
                  <a:pt x="3111913" y="740512"/>
                </a:lnTo>
                <a:lnTo>
                  <a:pt x="0" y="740512"/>
                </a:lnTo>
                <a:lnTo>
                  <a:pt x="0" y="0"/>
                </a:lnTo>
                <a:close/>
              </a:path>
            </a:pathLst>
          </a:custGeom>
          <a:solidFill>
            <a:srgbClr val="1A1D21"/>
          </a:solidFill>
          <a:ln/>
        </p:spPr>
      </p:sp>
      <p:sp>
        <p:nvSpPr>
          <p:cNvPr id="29" name="Shape 27"/>
          <p:cNvSpPr/>
          <p:nvPr/>
        </p:nvSpPr>
        <p:spPr>
          <a:xfrm>
            <a:off x="5432514" y="2362478"/>
            <a:ext cx="211575" cy="211575"/>
          </a:xfrm>
          <a:custGeom>
            <a:avLst/>
            <a:gdLst/>
            <a:ahLst/>
            <a:cxnLst/>
            <a:rect l="l" t="t" r="r" b="b"/>
            <a:pathLst>
              <a:path w="211575" h="211575">
                <a:moveTo>
                  <a:pt x="49588" y="23141"/>
                </a:moveTo>
                <a:cubicBezTo>
                  <a:pt x="49588" y="10372"/>
                  <a:pt x="59960" y="0"/>
                  <a:pt x="72729" y="0"/>
                </a:cubicBezTo>
                <a:lnTo>
                  <a:pt x="82646" y="0"/>
                </a:lnTo>
                <a:cubicBezTo>
                  <a:pt x="89961" y="0"/>
                  <a:pt x="95870" y="5909"/>
                  <a:pt x="95870" y="13223"/>
                </a:cubicBezTo>
                <a:lnTo>
                  <a:pt x="95870" y="198351"/>
                </a:lnTo>
                <a:cubicBezTo>
                  <a:pt x="95870" y="205666"/>
                  <a:pt x="89961" y="211575"/>
                  <a:pt x="82646" y="211575"/>
                </a:cubicBezTo>
                <a:lnTo>
                  <a:pt x="69423" y="211575"/>
                </a:lnTo>
                <a:cubicBezTo>
                  <a:pt x="57109" y="211575"/>
                  <a:pt x="46737" y="203145"/>
                  <a:pt x="43803" y="191740"/>
                </a:cubicBezTo>
                <a:cubicBezTo>
                  <a:pt x="43513" y="191740"/>
                  <a:pt x="43265" y="191740"/>
                  <a:pt x="42976" y="191740"/>
                </a:cubicBezTo>
                <a:cubicBezTo>
                  <a:pt x="24711" y="191740"/>
                  <a:pt x="9918" y="176946"/>
                  <a:pt x="9918" y="158681"/>
                </a:cubicBezTo>
                <a:cubicBezTo>
                  <a:pt x="9918" y="151243"/>
                  <a:pt x="12397" y="144383"/>
                  <a:pt x="16529" y="138846"/>
                </a:cubicBezTo>
                <a:cubicBezTo>
                  <a:pt x="8513" y="132813"/>
                  <a:pt x="3306" y="123226"/>
                  <a:pt x="3306" y="112399"/>
                </a:cubicBezTo>
                <a:cubicBezTo>
                  <a:pt x="3306" y="99630"/>
                  <a:pt x="10579" y="88514"/>
                  <a:pt x="21157" y="83018"/>
                </a:cubicBezTo>
                <a:cubicBezTo>
                  <a:pt x="18224" y="78060"/>
                  <a:pt x="16529" y="72274"/>
                  <a:pt x="16529" y="66117"/>
                </a:cubicBezTo>
                <a:cubicBezTo>
                  <a:pt x="16529" y="47852"/>
                  <a:pt x="31323" y="33059"/>
                  <a:pt x="49588" y="33059"/>
                </a:cubicBezTo>
                <a:lnTo>
                  <a:pt x="49588" y="23141"/>
                </a:lnTo>
                <a:close/>
                <a:moveTo>
                  <a:pt x="161987" y="23141"/>
                </a:moveTo>
                <a:lnTo>
                  <a:pt x="161987" y="33059"/>
                </a:lnTo>
                <a:cubicBezTo>
                  <a:pt x="180252" y="33059"/>
                  <a:pt x="195046" y="47852"/>
                  <a:pt x="195046" y="66117"/>
                </a:cubicBezTo>
                <a:cubicBezTo>
                  <a:pt x="195046" y="72316"/>
                  <a:pt x="193351" y="78101"/>
                  <a:pt x="190417" y="83018"/>
                </a:cubicBezTo>
                <a:cubicBezTo>
                  <a:pt x="201037" y="88514"/>
                  <a:pt x="208269" y="99589"/>
                  <a:pt x="208269" y="112399"/>
                </a:cubicBezTo>
                <a:cubicBezTo>
                  <a:pt x="208269" y="123226"/>
                  <a:pt x="203062" y="132813"/>
                  <a:pt x="195046" y="138846"/>
                </a:cubicBezTo>
                <a:cubicBezTo>
                  <a:pt x="199178" y="144383"/>
                  <a:pt x="201657" y="151243"/>
                  <a:pt x="201657" y="158681"/>
                </a:cubicBezTo>
                <a:cubicBezTo>
                  <a:pt x="201657" y="176946"/>
                  <a:pt x="186864" y="191740"/>
                  <a:pt x="168599" y="191740"/>
                </a:cubicBezTo>
                <a:cubicBezTo>
                  <a:pt x="168309" y="191740"/>
                  <a:pt x="168061" y="191740"/>
                  <a:pt x="167772" y="191740"/>
                </a:cubicBezTo>
                <a:cubicBezTo>
                  <a:pt x="164838" y="203145"/>
                  <a:pt x="154466" y="211575"/>
                  <a:pt x="142152" y="211575"/>
                </a:cubicBezTo>
                <a:lnTo>
                  <a:pt x="128928" y="211575"/>
                </a:lnTo>
                <a:cubicBezTo>
                  <a:pt x="121614" y="211575"/>
                  <a:pt x="115705" y="205666"/>
                  <a:pt x="115705" y="198351"/>
                </a:cubicBezTo>
                <a:lnTo>
                  <a:pt x="115705" y="13223"/>
                </a:lnTo>
                <a:cubicBezTo>
                  <a:pt x="115705" y="5909"/>
                  <a:pt x="121614" y="0"/>
                  <a:pt x="128928" y="0"/>
                </a:cubicBezTo>
                <a:lnTo>
                  <a:pt x="138846" y="0"/>
                </a:lnTo>
                <a:cubicBezTo>
                  <a:pt x="151615" y="0"/>
                  <a:pt x="161987" y="10372"/>
                  <a:pt x="161987" y="23141"/>
                </a:cubicBezTo>
                <a:close/>
              </a:path>
            </a:pathLst>
          </a:custGeom>
          <a:solidFill>
            <a:srgbClr val="D9A477"/>
          </a:solidFill>
          <a:ln/>
        </p:spPr>
      </p:sp>
      <p:sp>
        <p:nvSpPr>
          <p:cNvPr id="30" name="Text 28"/>
          <p:cNvSpPr/>
          <p:nvPr/>
        </p:nvSpPr>
        <p:spPr>
          <a:xfrm>
            <a:off x="5776324" y="2362478"/>
            <a:ext cx="634725"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核心技术</a:t>
            </a:r>
            <a:endParaRPr lang="en-US" sz="1600" dirty="0"/>
          </a:p>
        </p:txBody>
      </p:sp>
      <p:sp>
        <p:nvSpPr>
          <p:cNvPr id="31" name="Text 29"/>
          <p:cNvSpPr/>
          <p:nvPr/>
        </p:nvSpPr>
        <p:spPr>
          <a:xfrm>
            <a:off x="5406068" y="2644578"/>
            <a:ext cx="2891523" cy="176312"/>
          </a:xfrm>
          <a:prstGeom prst="rect">
            <a:avLst/>
          </a:prstGeom>
          <a:noFill/>
          <a:ln/>
        </p:spPr>
        <p:txBody>
          <a:bodyPr wrap="square" lIns="0" tIns="0" rIns="0" bIns="0" rtlCol="0" anchor="ctr"/>
          <a:lstStyle/>
          <a:p>
            <a:pPr>
              <a:lnSpc>
                <a:spcPct val="120000"/>
              </a:lnSpc>
            </a:pPr>
            <a:r>
              <a:rPr lang="en-US" sz="972" dirty="0">
                <a:solidFill>
                  <a:srgbClr val="E8E8E8">
                    <a:alpha val="80000"/>
                  </a:srgbClr>
                </a:solidFill>
                <a:latin typeface="MiSans" pitchFamily="34" charset="0"/>
                <a:ea typeface="MiSans" pitchFamily="34" charset="-122"/>
                <a:cs typeface="MiSans" pitchFamily="34" charset="-120"/>
              </a:rPr>
              <a:t>机器学习算法,智能预测能力</a:t>
            </a:r>
            <a:endParaRPr lang="en-US" sz="1600" dirty="0"/>
          </a:p>
        </p:txBody>
      </p:sp>
      <p:sp>
        <p:nvSpPr>
          <p:cNvPr id="32" name="Shape 30"/>
          <p:cNvSpPr/>
          <p:nvPr/>
        </p:nvSpPr>
        <p:spPr>
          <a:xfrm>
            <a:off x="8517320" y="2221428"/>
            <a:ext cx="3111913" cy="740512"/>
          </a:xfrm>
          <a:custGeom>
            <a:avLst/>
            <a:gdLst/>
            <a:ahLst/>
            <a:cxnLst/>
            <a:rect l="l" t="t" r="r" b="b"/>
            <a:pathLst>
              <a:path w="3111913" h="740512">
                <a:moveTo>
                  <a:pt x="0" y="0"/>
                </a:moveTo>
                <a:lnTo>
                  <a:pt x="3111913" y="0"/>
                </a:lnTo>
                <a:lnTo>
                  <a:pt x="3111913" y="740512"/>
                </a:lnTo>
                <a:lnTo>
                  <a:pt x="0" y="740512"/>
                </a:lnTo>
                <a:lnTo>
                  <a:pt x="0" y="0"/>
                </a:lnTo>
                <a:close/>
              </a:path>
            </a:pathLst>
          </a:custGeom>
          <a:solidFill>
            <a:srgbClr val="1A1D21"/>
          </a:solidFill>
          <a:ln/>
        </p:spPr>
      </p:sp>
      <p:sp>
        <p:nvSpPr>
          <p:cNvPr id="33" name="Shape 31"/>
          <p:cNvSpPr/>
          <p:nvPr/>
        </p:nvSpPr>
        <p:spPr>
          <a:xfrm>
            <a:off x="8684817" y="2362478"/>
            <a:ext cx="211575" cy="211575"/>
          </a:xfrm>
          <a:custGeom>
            <a:avLst/>
            <a:gdLst/>
            <a:ahLst/>
            <a:cxnLst/>
            <a:rect l="l" t="t" r="r" b="b"/>
            <a:pathLst>
              <a:path w="211575" h="211575">
                <a:moveTo>
                  <a:pt x="211575" y="105787"/>
                </a:moveTo>
                <a:cubicBezTo>
                  <a:pt x="211575" y="106159"/>
                  <a:pt x="211575" y="106531"/>
                  <a:pt x="211575" y="106903"/>
                </a:cubicBezTo>
                <a:cubicBezTo>
                  <a:pt x="211410" y="121986"/>
                  <a:pt x="197690" y="132234"/>
                  <a:pt x="182607" y="132234"/>
                </a:cubicBezTo>
                <a:lnTo>
                  <a:pt x="142152" y="132234"/>
                </a:lnTo>
                <a:cubicBezTo>
                  <a:pt x="131201" y="132234"/>
                  <a:pt x="122317" y="141119"/>
                  <a:pt x="122317" y="152069"/>
                </a:cubicBezTo>
                <a:cubicBezTo>
                  <a:pt x="122317" y="153474"/>
                  <a:pt x="122482" y="154838"/>
                  <a:pt x="122730" y="156160"/>
                </a:cubicBezTo>
                <a:cubicBezTo>
                  <a:pt x="123598" y="160375"/>
                  <a:pt x="125416" y="164425"/>
                  <a:pt x="127193" y="168516"/>
                </a:cubicBezTo>
                <a:cubicBezTo>
                  <a:pt x="129714" y="174219"/>
                  <a:pt x="132193" y="179880"/>
                  <a:pt x="132193" y="185872"/>
                </a:cubicBezTo>
                <a:cubicBezTo>
                  <a:pt x="132193" y="199013"/>
                  <a:pt x="123267" y="210955"/>
                  <a:pt x="110126" y="211492"/>
                </a:cubicBezTo>
                <a:cubicBezTo>
                  <a:pt x="108680" y="211534"/>
                  <a:pt x="107234" y="211575"/>
                  <a:pt x="105746" y="211575"/>
                </a:cubicBezTo>
                <a:cubicBezTo>
                  <a:pt x="47315" y="211575"/>
                  <a:pt x="-41" y="164218"/>
                  <a:pt x="-41" y="105787"/>
                </a:cubicBezTo>
                <a:cubicBezTo>
                  <a:pt x="-41" y="47356"/>
                  <a:pt x="47356" y="0"/>
                  <a:pt x="105787" y="0"/>
                </a:cubicBezTo>
                <a:cubicBezTo>
                  <a:pt x="164218" y="0"/>
                  <a:pt x="211575" y="47356"/>
                  <a:pt x="211575" y="105787"/>
                </a:cubicBezTo>
                <a:close/>
                <a:moveTo>
                  <a:pt x="52894" y="119011"/>
                </a:moveTo>
                <a:cubicBezTo>
                  <a:pt x="52894" y="111713"/>
                  <a:pt x="46968" y="105787"/>
                  <a:pt x="39670" y="105787"/>
                </a:cubicBezTo>
                <a:cubicBezTo>
                  <a:pt x="32372" y="105787"/>
                  <a:pt x="26447" y="111713"/>
                  <a:pt x="26447" y="119011"/>
                </a:cubicBezTo>
                <a:cubicBezTo>
                  <a:pt x="26447" y="126309"/>
                  <a:pt x="32372" y="132234"/>
                  <a:pt x="39670" y="132234"/>
                </a:cubicBezTo>
                <a:cubicBezTo>
                  <a:pt x="46968" y="132234"/>
                  <a:pt x="52894" y="126309"/>
                  <a:pt x="52894" y="119011"/>
                </a:cubicBezTo>
                <a:close/>
                <a:moveTo>
                  <a:pt x="52894" y="79341"/>
                </a:moveTo>
                <a:cubicBezTo>
                  <a:pt x="60192" y="79341"/>
                  <a:pt x="66117" y="73415"/>
                  <a:pt x="66117" y="66117"/>
                </a:cubicBezTo>
                <a:cubicBezTo>
                  <a:pt x="66117" y="58819"/>
                  <a:pt x="60192" y="52894"/>
                  <a:pt x="52894" y="52894"/>
                </a:cubicBezTo>
                <a:cubicBezTo>
                  <a:pt x="45596" y="52894"/>
                  <a:pt x="39670" y="58819"/>
                  <a:pt x="39670" y="66117"/>
                </a:cubicBezTo>
                <a:cubicBezTo>
                  <a:pt x="39670" y="73415"/>
                  <a:pt x="45596" y="79341"/>
                  <a:pt x="52894" y="79341"/>
                </a:cubicBezTo>
                <a:close/>
                <a:moveTo>
                  <a:pt x="119011" y="39670"/>
                </a:moveTo>
                <a:cubicBezTo>
                  <a:pt x="119011" y="32372"/>
                  <a:pt x="113086" y="26447"/>
                  <a:pt x="105787" y="26447"/>
                </a:cubicBezTo>
                <a:cubicBezTo>
                  <a:pt x="98489" y="26447"/>
                  <a:pt x="92564" y="32372"/>
                  <a:pt x="92564" y="39670"/>
                </a:cubicBezTo>
                <a:cubicBezTo>
                  <a:pt x="92564" y="46968"/>
                  <a:pt x="98489" y="52894"/>
                  <a:pt x="105787" y="52894"/>
                </a:cubicBezTo>
                <a:cubicBezTo>
                  <a:pt x="113086" y="52894"/>
                  <a:pt x="119011" y="46968"/>
                  <a:pt x="119011" y="39670"/>
                </a:cubicBezTo>
                <a:close/>
                <a:moveTo>
                  <a:pt x="158681" y="79341"/>
                </a:moveTo>
                <a:cubicBezTo>
                  <a:pt x="165979" y="79341"/>
                  <a:pt x="171905" y="73415"/>
                  <a:pt x="171905" y="66117"/>
                </a:cubicBezTo>
                <a:cubicBezTo>
                  <a:pt x="171905" y="58819"/>
                  <a:pt x="165979" y="52894"/>
                  <a:pt x="158681" y="52894"/>
                </a:cubicBezTo>
                <a:cubicBezTo>
                  <a:pt x="151383" y="52894"/>
                  <a:pt x="145458" y="58819"/>
                  <a:pt x="145458" y="66117"/>
                </a:cubicBezTo>
                <a:cubicBezTo>
                  <a:pt x="145458" y="73415"/>
                  <a:pt x="151383" y="79341"/>
                  <a:pt x="158681" y="79341"/>
                </a:cubicBezTo>
                <a:close/>
              </a:path>
            </a:pathLst>
          </a:custGeom>
          <a:solidFill>
            <a:srgbClr val="D9A477"/>
          </a:solidFill>
          <a:ln/>
        </p:spPr>
      </p:sp>
      <p:sp>
        <p:nvSpPr>
          <p:cNvPr id="34" name="Text 32"/>
          <p:cNvSpPr/>
          <p:nvPr/>
        </p:nvSpPr>
        <p:spPr>
          <a:xfrm>
            <a:off x="9028625" y="2362478"/>
            <a:ext cx="634725"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工业设计</a:t>
            </a:r>
            <a:endParaRPr lang="en-US" sz="1600" dirty="0"/>
          </a:p>
        </p:txBody>
      </p:sp>
      <p:sp>
        <p:nvSpPr>
          <p:cNvPr id="35" name="Text 33"/>
          <p:cNvSpPr/>
          <p:nvPr/>
        </p:nvSpPr>
        <p:spPr>
          <a:xfrm>
            <a:off x="8658370" y="2644578"/>
            <a:ext cx="2891523" cy="176312"/>
          </a:xfrm>
          <a:prstGeom prst="rect">
            <a:avLst/>
          </a:prstGeom>
          <a:noFill/>
          <a:ln/>
        </p:spPr>
        <p:txBody>
          <a:bodyPr wrap="square" lIns="0" tIns="0" rIns="0" bIns="0" rtlCol="0" anchor="ctr"/>
          <a:lstStyle/>
          <a:p>
            <a:pPr>
              <a:lnSpc>
                <a:spcPct val="120000"/>
              </a:lnSpc>
            </a:pPr>
            <a:r>
              <a:rPr lang="en-US" sz="972" dirty="0">
                <a:solidFill>
                  <a:srgbClr val="E8E8E8">
                    <a:alpha val="80000"/>
                  </a:srgbClr>
                </a:solidFill>
                <a:latin typeface="MiSans" pitchFamily="34" charset="0"/>
                <a:ea typeface="MiSans" pitchFamily="34" charset="-122"/>
                <a:cs typeface="MiSans" pitchFamily="34" charset="-120"/>
              </a:rPr>
              <a:t>圆形触控屏+金属机身美学</a:t>
            </a:r>
            <a:endParaRPr lang="en-US" sz="1600" dirty="0"/>
          </a:p>
        </p:txBody>
      </p:sp>
      <p:sp>
        <p:nvSpPr>
          <p:cNvPr id="36" name="Shape 34"/>
          <p:cNvSpPr/>
          <p:nvPr/>
        </p:nvSpPr>
        <p:spPr>
          <a:xfrm>
            <a:off x="5265018" y="3102990"/>
            <a:ext cx="3111913" cy="740512"/>
          </a:xfrm>
          <a:custGeom>
            <a:avLst/>
            <a:gdLst/>
            <a:ahLst/>
            <a:cxnLst/>
            <a:rect l="l" t="t" r="r" b="b"/>
            <a:pathLst>
              <a:path w="3111913" h="740512">
                <a:moveTo>
                  <a:pt x="0" y="0"/>
                </a:moveTo>
                <a:lnTo>
                  <a:pt x="3111913" y="0"/>
                </a:lnTo>
                <a:lnTo>
                  <a:pt x="3111913" y="740512"/>
                </a:lnTo>
                <a:lnTo>
                  <a:pt x="0" y="740512"/>
                </a:lnTo>
                <a:lnTo>
                  <a:pt x="0" y="0"/>
                </a:lnTo>
                <a:close/>
              </a:path>
            </a:pathLst>
          </a:custGeom>
          <a:solidFill>
            <a:srgbClr val="1A1D21"/>
          </a:solidFill>
          <a:ln/>
        </p:spPr>
      </p:sp>
      <p:sp>
        <p:nvSpPr>
          <p:cNvPr id="37" name="Shape 35"/>
          <p:cNvSpPr/>
          <p:nvPr/>
        </p:nvSpPr>
        <p:spPr>
          <a:xfrm>
            <a:off x="5406068" y="3244040"/>
            <a:ext cx="264469" cy="211575"/>
          </a:xfrm>
          <a:custGeom>
            <a:avLst/>
            <a:gdLst/>
            <a:ahLst/>
            <a:cxnLst/>
            <a:rect l="l" t="t" r="r" b="b"/>
            <a:pathLst>
              <a:path w="264469" h="211575">
                <a:moveTo>
                  <a:pt x="132234" y="6612"/>
                </a:moveTo>
                <a:cubicBezTo>
                  <a:pt x="155953" y="6612"/>
                  <a:pt x="175210" y="25869"/>
                  <a:pt x="175210" y="49588"/>
                </a:cubicBezTo>
                <a:cubicBezTo>
                  <a:pt x="175210" y="73307"/>
                  <a:pt x="155953" y="92564"/>
                  <a:pt x="132234" y="92564"/>
                </a:cubicBezTo>
                <a:cubicBezTo>
                  <a:pt x="108515" y="92564"/>
                  <a:pt x="89258" y="73307"/>
                  <a:pt x="89258" y="49588"/>
                </a:cubicBezTo>
                <a:cubicBezTo>
                  <a:pt x="89258" y="25869"/>
                  <a:pt x="108515" y="6612"/>
                  <a:pt x="132234" y="6612"/>
                </a:cubicBezTo>
                <a:close/>
                <a:moveTo>
                  <a:pt x="39670" y="36364"/>
                </a:moveTo>
                <a:cubicBezTo>
                  <a:pt x="56091" y="36364"/>
                  <a:pt x="69423" y="49696"/>
                  <a:pt x="69423" y="66117"/>
                </a:cubicBezTo>
                <a:cubicBezTo>
                  <a:pt x="69423" y="82538"/>
                  <a:pt x="56091" y="95870"/>
                  <a:pt x="39670" y="95870"/>
                </a:cubicBezTo>
                <a:cubicBezTo>
                  <a:pt x="23249" y="95870"/>
                  <a:pt x="9918" y="82538"/>
                  <a:pt x="9918" y="66117"/>
                </a:cubicBezTo>
                <a:cubicBezTo>
                  <a:pt x="9918" y="49696"/>
                  <a:pt x="23249" y="36364"/>
                  <a:pt x="39670" y="36364"/>
                </a:cubicBezTo>
                <a:close/>
                <a:moveTo>
                  <a:pt x="0" y="171905"/>
                </a:moveTo>
                <a:cubicBezTo>
                  <a:pt x="0" y="142689"/>
                  <a:pt x="23678" y="119011"/>
                  <a:pt x="52894" y="119011"/>
                </a:cubicBezTo>
                <a:cubicBezTo>
                  <a:pt x="58183" y="119011"/>
                  <a:pt x="63307" y="119796"/>
                  <a:pt x="68142" y="121242"/>
                </a:cubicBezTo>
                <a:cubicBezTo>
                  <a:pt x="54547" y="136449"/>
                  <a:pt x="46282" y="156532"/>
                  <a:pt x="46282" y="178516"/>
                </a:cubicBezTo>
                <a:lnTo>
                  <a:pt x="46282" y="185128"/>
                </a:lnTo>
                <a:cubicBezTo>
                  <a:pt x="46282" y="189839"/>
                  <a:pt x="47274" y="194302"/>
                  <a:pt x="49051" y="198351"/>
                </a:cubicBezTo>
                <a:lnTo>
                  <a:pt x="13223" y="198351"/>
                </a:lnTo>
                <a:cubicBezTo>
                  <a:pt x="5909" y="198351"/>
                  <a:pt x="0" y="192442"/>
                  <a:pt x="0" y="185128"/>
                </a:cubicBezTo>
                <a:lnTo>
                  <a:pt x="0" y="171905"/>
                </a:lnTo>
                <a:close/>
                <a:moveTo>
                  <a:pt x="215418" y="198351"/>
                </a:moveTo>
                <a:cubicBezTo>
                  <a:pt x="217195" y="194302"/>
                  <a:pt x="218187" y="189839"/>
                  <a:pt x="218187" y="185128"/>
                </a:cubicBezTo>
                <a:lnTo>
                  <a:pt x="218187" y="178516"/>
                </a:lnTo>
                <a:cubicBezTo>
                  <a:pt x="218187" y="156532"/>
                  <a:pt x="209922" y="136449"/>
                  <a:pt x="196327" y="121242"/>
                </a:cubicBezTo>
                <a:cubicBezTo>
                  <a:pt x="201161" y="119796"/>
                  <a:pt x="206285" y="119011"/>
                  <a:pt x="211575" y="119011"/>
                </a:cubicBezTo>
                <a:cubicBezTo>
                  <a:pt x="240790" y="119011"/>
                  <a:pt x="264469" y="142689"/>
                  <a:pt x="264469" y="171905"/>
                </a:cubicBezTo>
                <a:lnTo>
                  <a:pt x="264469" y="185128"/>
                </a:lnTo>
                <a:cubicBezTo>
                  <a:pt x="264469" y="192442"/>
                  <a:pt x="258559" y="198351"/>
                  <a:pt x="251245" y="198351"/>
                </a:cubicBezTo>
                <a:lnTo>
                  <a:pt x="215418" y="198351"/>
                </a:lnTo>
                <a:close/>
                <a:moveTo>
                  <a:pt x="195046" y="66117"/>
                </a:moveTo>
                <a:cubicBezTo>
                  <a:pt x="195046" y="49696"/>
                  <a:pt x="208377" y="36364"/>
                  <a:pt x="224798" y="36364"/>
                </a:cubicBezTo>
                <a:cubicBezTo>
                  <a:pt x="241219" y="36364"/>
                  <a:pt x="254551" y="49696"/>
                  <a:pt x="254551" y="66117"/>
                </a:cubicBezTo>
                <a:cubicBezTo>
                  <a:pt x="254551" y="82538"/>
                  <a:pt x="241219" y="95870"/>
                  <a:pt x="224798" y="95870"/>
                </a:cubicBezTo>
                <a:cubicBezTo>
                  <a:pt x="208377" y="95870"/>
                  <a:pt x="195046" y="82538"/>
                  <a:pt x="195046" y="66117"/>
                </a:cubicBezTo>
                <a:close/>
                <a:moveTo>
                  <a:pt x="66117" y="178516"/>
                </a:moveTo>
                <a:cubicBezTo>
                  <a:pt x="66117" y="141987"/>
                  <a:pt x="95705" y="112399"/>
                  <a:pt x="132234" y="112399"/>
                </a:cubicBezTo>
                <a:cubicBezTo>
                  <a:pt x="168764" y="112399"/>
                  <a:pt x="198351" y="141987"/>
                  <a:pt x="198351" y="178516"/>
                </a:cubicBezTo>
                <a:lnTo>
                  <a:pt x="198351" y="185128"/>
                </a:lnTo>
                <a:cubicBezTo>
                  <a:pt x="198351" y="192442"/>
                  <a:pt x="192442" y="198351"/>
                  <a:pt x="185128" y="198351"/>
                </a:cubicBezTo>
                <a:lnTo>
                  <a:pt x="79341" y="198351"/>
                </a:lnTo>
                <a:cubicBezTo>
                  <a:pt x="72026" y="198351"/>
                  <a:pt x="66117" y="192442"/>
                  <a:pt x="66117" y="185128"/>
                </a:cubicBezTo>
                <a:lnTo>
                  <a:pt x="66117" y="178516"/>
                </a:lnTo>
                <a:close/>
              </a:path>
            </a:pathLst>
          </a:custGeom>
          <a:solidFill>
            <a:srgbClr val="D9A477"/>
          </a:solidFill>
          <a:ln/>
        </p:spPr>
      </p:sp>
      <p:sp>
        <p:nvSpPr>
          <p:cNvPr id="38" name="Text 36"/>
          <p:cNvSpPr/>
          <p:nvPr/>
        </p:nvSpPr>
        <p:spPr>
          <a:xfrm>
            <a:off x="5776324" y="3244040"/>
            <a:ext cx="634725"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用户体验</a:t>
            </a:r>
            <a:endParaRPr lang="en-US" sz="1600" dirty="0"/>
          </a:p>
        </p:txBody>
      </p:sp>
      <p:sp>
        <p:nvSpPr>
          <p:cNvPr id="39" name="Text 37"/>
          <p:cNvSpPr/>
          <p:nvPr/>
        </p:nvSpPr>
        <p:spPr>
          <a:xfrm>
            <a:off x="5406068" y="3526140"/>
            <a:ext cx="2891523" cy="176312"/>
          </a:xfrm>
          <a:prstGeom prst="rect">
            <a:avLst/>
          </a:prstGeom>
          <a:noFill/>
          <a:ln/>
        </p:spPr>
        <p:txBody>
          <a:bodyPr wrap="square" lIns="0" tIns="0" rIns="0" bIns="0" rtlCol="0" anchor="ctr"/>
          <a:lstStyle/>
          <a:p>
            <a:pPr>
              <a:lnSpc>
                <a:spcPct val="120000"/>
              </a:lnSpc>
            </a:pPr>
            <a:r>
              <a:rPr lang="en-US" sz="972" dirty="0">
                <a:solidFill>
                  <a:srgbClr val="E8E8E8">
                    <a:alpha val="80000"/>
                  </a:srgbClr>
                </a:solidFill>
                <a:latin typeface="MiSans" pitchFamily="34" charset="0"/>
                <a:ea typeface="MiSans" pitchFamily="34" charset="-122"/>
                <a:cs typeface="MiSans" pitchFamily="34" charset="-120"/>
              </a:rPr>
              <a:t>简化安装,可视化报告,生态整合</a:t>
            </a:r>
            <a:endParaRPr lang="en-US" sz="1600" dirty="0"/>
          </a:p>
        </p:txBody>
      </p:sp>
      <p:sp>
        <p:nvSpPr>
          <p:cNvPr id="40" name="Shape 38"/>
          <p:cNvSpPr/>
          <p:nvPr/>
        </p:nvSpPr>
        <p:spPr>
          <a:xfrm>
            <a:off x="8517320" y="3102990"/>
            <a:ext cx="3111913" cy="740512"/>
          </a:xfrm>
          <a:custGeom>
            <a:avLst/>
            <a:gdLst/>
            <a:ahLst/>
            <a:cxnLst/>
            <a:rect l="l" t="t" r="r" b="b"/>
            <a:pathLst>
              <a:path w="3111913" h="740512">
                <a:moveTo>
                  <a:pt x="0" y="0"/>
                </a:moveTo>
                <a:lnTo>
                  <a:pt x="3111913" y="0"/>
                </a:lnTo>
                <a:lnTo>
                  <a:pt x="3111913" y="740512"/>
                </a:lnTo>
                <a:lnTo>
                  <a:pt x="0" y="740512"/>
                </a:lnTo>
                <a:lnTo>
                  <a:pt x="0" y="0"/>
                </a:lnTo>
                <a:close/>
              </a:path>
            </a:pathLst>
          </a:custGeom>
          <a:solidFill>
            <a:srgbClr val="1A1D21"/>
          </a:solidFill>
          <a:ln/>
        </p:spPr>
      </p:sp>
      <p:sp>
        <p:nvSpPr>
          <p:cNvPr id="41" name="Shape 39"/>
          <p:cNvSpPr/>
          <p:nvPr/>
        </p:nvSpPr>
        <p:spPr>
          <a:xfrm>
            <a:off x="8658370" y="3244040"/>
            <a:ext cx="264469" cy="211575"/>
          </a:xfrm>
          <a:custGeom>
            <a:avLst/>
            <a:gdLst/>
            <a:ahLst/>
            <a:cxnLst/>
            <a:rect l="l" t="t" r="r" b="b"/>
            <a:pathLst>
              <a:path w="264469" h="211575">
                <a:moveTo>
                  <a:pt x="171863" y="86985"/>
                </a:moveTo>
                <a:cubicBezTo>
                  <a:pt x="176905" y="85622"/>
                  <a:pt x="182194" y="88018"/>
                  <a:pt x="184467" y="92688"/>
                </a:cubicBezTo>
                <a:lnTo>
                  <a:pt x="192153" y="108225"/>
                </a:lnTo>
                <a:cubicBezTo>
                  <a:pt x="196409" y="108804"/>
                  <a:pt x="200583" y="109961"/>
                  <a:pt x="204509" y="111573"/>
                </a:cubicBezTo>
                <a:lnTo>
                  <a:pt x="218972" y="101944"/>
                </a:lnTo>
                <a:cubicBezTo>
                  <a:pt x="223311" y="99052"/>
                  <a:pt x="229055" y="99630"/>
                  <a:pt x="232732" y="103308"/>
                </a:cubicBezTo>
                <a:lnTo>
                  <a:pt x="240666" y="111242"/>
                </a:lnTo>
                <a:cubicBezTo>
                  <a:pt x="244344" y="114920"/>
                  <a:pt x="244923" y="120705"/>
                  <a:pt x="242030" y="125003"/>
                </a:cubicBezTo>
                <a:lnTo>
                  <a:pt x="232402" y="139425"/>
                </a:lnTo>
                <a:cubicBezTo>
                  <a:pt x="233187" y="141367"/>
                  <a:pt x="233889" y="143392"/>
                  <a:pt x="234468" y="145499"/>
                </a:cubicBezTo>
                <a:cubicBezTo>
                  <a:pt x="235046" y="147607"/>
                  <a:pt x="235418" y="149673"/>
                  <a:pt x="235708" y="151780"/>
                </a:cubicBezTo>
                <a:lnTo>
                  <a:pt x="251286" y="159466"/>
                </a:lnTo>
                <a:cubicBezTo>
                  <a:pt x="255956" y="161780"/>
                  <a:pt x="258353" y="167070"/>
                  <a:pt x="256989" y="172070"/>
                </a:cubicBezTo>
                <a:lnTo>
                  <a:pt x="254096" y="182897"/>
                </a:lnTo>
                <a:cubicBezTo>
                  <a:pt x="252733" y="187897"/>
                  <a:pt x="248063" y="191285"/>
                  <a:pt x="242857" y="190955"/>
                </a:cubicBezTo>
                <a:lnTo>
                  <a:pt x="225501" y="189839"/>
                </a:lnTo>
                <a:cubicBezTo>
                  <a:pt x="222897" y="193186"/>
                  <a:pt x="219881" y="196285"/>
                  <a:pt x="216451" y="198930"/>
                </a:cubicBezTo>
                <a:lnTo>
                  <a:pt x="217567" y="216244"/>
                </a:lnTo>
                <a:cubicBezTo>
                  <a:pt x="217897" y="221451"/>
                  <a:pt x="214509" y="226162"/>
                  <a:pt x="209509" y="227484"/>
                </a:cubicBezTo>
                <a:lnTo>
                  <a:pt x="198682" y="230377"/>
                </a:lnTo>
                <a:cubicBezTo>
                  <a:pt x="193641" y="231741"/>
                  <a:pt x="188393" y="229344"/>
                  <a:pt x="186078" y="224674"/>
                </a:cubicBezTo>
                <a:lnTo>
                  <a:pt x="178392" y="209137"/>
                </a:lnTo>
                <a:cubicBezTo>
                  <a:pt x="174136" y="208558"/>
                  <a:pt x="169962" y="207401"/>
                  <a:pt x="166037" y="205790"/>
                </a:cubicBezTo>
                <a:lnTo>
                  <a:pt x="151574" y="215418"/>
                </a:lnTo>
                <a:cubicBezTo>
                  <a:pt x="147235" y="218311"/>
                  <a:pt x="141491" y="217732"/>
                  <a:pt x="137813" y="214054"/>
                </a:cubicBezTo>
                <a:lnTo>
                  <a:pt x="129879" y="206120"/>
                </a:lnTo>
                <a:cubicBezTo>
                  <a:pt x="126201" y="202442"/>
                  <a:pt x="125623" y="196698"/>
                  <a:pt x="128515" y="192360"/>
                </a:cubicBezTo>
                <a:lnTo>
                  <a:pt x="138143" y="177896"/>
                </a:lnTo>
                <a:cubicBezTo>
                  <a:pt x="137358" y="175954"/>
                  <a:pt x="136656" y="173929"/>
                  <a:pt x="136077" y="171822"/>
                </a:cubicBezTo>
                <a:cubicBezTo>
                  <a:pt x="135499" y="169714"/>
                  <a:pt x="135127" y="167607"/>
                  <a:pt x="134838" y="165541"/>
                </a:cubicBezTo>
                <a:lnTo>
                  <a:pt x="119259" y="157855"/>
                </a:lnTo>
                <a:cubicBezTo>
                  <a:pt x="114589" y="155541"/>
                  <a:pt x="112234" y="150251"/>
                  <a:pt x="113556" y="145251"/>
                </a:cubicBezTo>
                <a:lnTo>
                  <a:pt x="116449" y="134424"/>
                </a:lnTo>
                <a:cubicBezTo>
                  <a:pt x="117812" y="129424"/>
                  <a:pt x="122482" y="126036"/>
                  <a:pt x="127689" y="126366"/>
                </a:cubicBezTo>
                <a:lnTo>
                  <a:pt x="145003" y="127482"/>
                </a:lnTo>
                <a:cubicBezTo>
                  <a:pt x="147607" y="124135"/>
                  <a:pt x="150623" y="121036"/>
                  <a:pt x="154053" y="118391"/>
                </a:cubicBezTo>
                <a:lnTo>
                  <a:pt x="152937" y="101118"/>
                </a:lnTo>
                <a:cubicBezTo>
                  <a:pt x="152607" y="95911"/>
                  <a:pt x="155995" y="91200"/>
                  <a:pt x="160995" y="89878"/>
                </a:cubicBezTo>
                <a:lnTo>
                  <a:pt x="171822" y="86985"/>
                </a:lnTo>
                <a:close/>
                <a:moveTo>
                  <a:pt x="185293" y="140499"/>
                </a:moveTo>
                <a:cubicBezTo>
                  <a:pt x="175258" y="140510"/>
                  <a:pt x="167120" y="148667"/>
                  <a:pt x="167132" y="158702"/>
                </a:cubicBezTo>
                <a:cubicBezTo>
                  <a:pt x="167143" y="168737"/>
                  <a:pt x="175300" y="176875"/>
                  <a:pt x="185335" y="176863"/>
                </a:cubicBezTo>
                <a:cubicBezTo>
                  <a:pt x="195370" y="176852"/>
                  <a:pt x="203508" y="168696"/>
                  <a:pt x="203496" y="158660"/>
                </a:cubicBezTo>
                <a:cubicBezTo>
                  <a:pt x="203485" y="148625"/>
                  <a:pt x="195328" y="140488"/>
                  <a:pt x="185293" y="140499"/>
                </a:cubicBezTo>
                <a:close/>
                <a:moveTo>
                  <a:pt x="92936" y="-18802"/>
                </a:moveTo>
                <a:lnTo>
                  <a:pt x="103763" y="-15909"/>
                </a:lnTo>
                <a:cubicBezTo>
                  <a:pt x="108763" y="-14546"/>
                  <a:pt x="112151" y="-9835"/>
                  <a:pt x="111821" y="-4670"/>
                </a:cubicBezTo>
                <a:lnTo>
                  <a:pt x="110705" y="12604"/>
                </a:lnTo>
                <a:cubicBezTo>
                  <a:pt x="114135" y="15248"/>
                  <a:pt x="117151" y="18306"/>
                  <a:pt x="119755" y="21695"/>
                </a:cubicBezTo>
                <a:lnTo>
                  <a:pt x="137110" y="20579"/>
                </a:lnTo>
                <a:cubicBezTo>
                  <a:pt x="142276" y="20248"/>
                  <a:pt x="146987" y="23637"/>
                  <a:pt x="148350" y="28637"/>
                </a:cubicBezTo>
                <a:lnTo>
                  <a:pt x="151243" y="39464"/>
                </a:lnTo>
                <a:cubicBezTo>
                  <a:pt x="152565" y="44464"/>
                  <a:pt x="150210" y="49753"/>
                  <a:pt x="145540" y="52067"/>
                </a:cubicBezTo>
                <a:lnTo>
                  <a:pt x="129961" y="59753"/>
                </a:lnTo>
                <a:cubicBezTo>
                  <a:pt x="129672" y="61861"/>
                  <a:pt x="129259" y="63968"/>
                  <a:pt x="128722" y="66034"/>
                </a:cubicBezTo>
                <a:cubicBezTo>
                  <a:pt x="128185" y="68101"/>
                  <a:pt x="127441" y="70167"/>
                  <a:pt x="126656" y="72109"/>
                </a:cubicBezTo>
                <a:lnTo>
                  <a:pt x="136284" y="86572"/>
                </a:lnTo>
                <a:cubicBezTo>
                  <a:pt x="139177" y="90911"/>
                  <a:pt x="138598" y="96655"/>
                  <a:pt x="134920" y="100333"/>
                </a:cubicBezTo>
                <a:lnTo>
                  <a:pt x="126986" y="108267"/>
                </a:lnTo>
                <a:cubicBezTo>
                  <a:pt x="123308" y="111945"/>
                  <a:pt x="117565" y="112523"/>
                  <a:pt x="113226" y="109630"/>
                </a:cubicBezTo>
                <a:lnTo>
                  <a:pt x="98762" y="100002"/>
                </a:lnTo>
                <a:cubicBezTo>
                  <a:pt x="94837" y="101614"/>
                  <a:pt x="90663" y="102771"/>
                  <a:pt x="86407" y="103349"/>
                </a:cubicBezTo>
                <a:lnTo>
                  <a:pt x="78721" y="118887"/>
                </a:lnTo>
                <a:cubicBezTo>
                  <a:pt x="76407" y="123556"/>
                  <a:pt x="71117" y="125912"/>
                  <a:pt x="66117" y="124589"/>
                </a:cubicBezTo>
                <a:lnTo>
                  <a:pt x="55290" y="121697"/>
                </a:lnTo>
                <a:cubicBezTo>
                  <a:pt x="50249" y="120333"/>
                  <a:pt x="46902" y="115622"/>
                  <a:pt x="47232" y="110457"/>
                </a:cubicBezTo>
                <a:lnTo>
                  <a:pt x="48348" y="93143"/>
                </a:lnTo>
                <a:cubicBezTo>
                  <a:pt x="44918" y="90498"/>
                  <a:pt x="41902" y="87440"/>
                  <a:pt x="39298" y="84051"/>
                </a:cubicBezTo>
                <a:lnTo>
                  <a:pt x="21943" y="85167"/>
                </a:lnTo>
                <a:cubicBezTo>
                  <a:pt x="16777" y="85498"/>
                  <a:pt x="12066" y="82109"/>
                  <a:pt x="10703" y="77109"/>
                </a:cubicBezTo>
                <a:lnTo>
                  <a:pt x="7810" y="66282"/>
                </a:lnTo>
                <a:cubicBezTo>
                  <a:pt x="6488" y="61282"/>
                  <a:pt x="8843" y="55993"/>
                  <a:pt x="13513" y="53679"/>
                </a:cubicBezTo>
                <a:lnTo>
                  <a:pt x="29092" y="45993"/>
                </a:lnTo>
                <a:cubicBezTo>
                  <a:pt x="29381" y="43885"/>
                  <a:pt x="29794" y="41819"/>
                  <a:pt x="30331" y="39712"/>
                </a:cubicBezTo>
                <a:cubicBezTo>
                  <a:pt x="30910" y="37604"/>
                  <a:pt x="31571" y="35579"/>
                  <a:pt x="32397" y="33637"/>
                </a:cubicBezTo>
                <a:lnTo>
                  <a:pt x="22769" y="19215"/>
                </a:lnTo>
                <a:cubicBezTo>
                  <a:pt x="19876" y="14876"/>
                  <a:pt x="20455" y="9132"/>
                  <a:pt x="24133" y="5455"/>
                </a:cubicBezTo>
                <a:lnTo>
                  <a:pt x="32067" y="-2479"/>
                </a:lnTo>
                <a:cubicBezTo>
                  <a:pt x="35745" y="-6157"/>
                  <a:pt x="41489" y="-6736"/>
                  <a:pt x="45827" y="-3843"/>
                </a:cubicBezTo>
                <a:lnTo>
                  <a:pt x="60291" y="5785"/>
                </a:lnTo>
                <a:cubicBezTo>
                  <a:pt x="64216" y="4174"/>
                  <a:pt x="68390" y="3017"/>
                  <a:pt x="72646" y="2438"/>
                </a:cubicBezTo>
                <a:lnTo>
                  <a:pt x="80332" y="-13099"/>
                </a:lnTo>
                <a:cubicBezTo>
                  <a:pt x="82646" y="-17769"/>
                  <a:pt x="87894" y="-20124"/>
                  <a:pt x="92936" y="-18802"/>
                </a:cubicBezTo>
                <a:close/>
                <a:moveTo>
                  <a:pt x="79506" y="34711"/>
                </a:moveTo>
                <a:cubicBezTo>
                  <a:pt x="69471" y="34711"/>
                  <a:pt x="61324" y="42859"/>
                  <a:pt x="61324" y="52894"/>
                </a:cubicBezTo>
                <a:cubicBezTo>
                  <a:pt x="61324" y="62929"/>
                  <a:pt x="69471" y="71076"/>
                  <a:pt x="79506" y="71076"/>
                </a:cubicBezTo>
                <a:cubicBezTo>
                  <a:pt x="89541" y="71076"/>
                  <a:pt x="97688" y="62929"/>
                  <a:pt x="97688" y="52894"/>
                </a:cubicBezTo>
                <a:cubicBezTo>
                  <a:pt x="97688" y="42859"/>
                  <a:pt x="89541" y="34711"/>
                  <a:pt x="79506" y="34711"/>
                </a:cubicBezTo>
                <a:close/>
              </a:path>
            </a:pathLst>
          </a:custGeom>
          <a:solidFill>
            <a:srgbClr val="D9A477"/>
          </a:solidFill>
          <a:ln/>
        </p:spPr>
      </p:sp>
      <p:sp>
        <p:nvSpPr>
          <p:cNvPr id="42" name="Text 40"/>
          <p:cNvSpPr/>
          <p:nvPr/>
        </p:nvSpPr>
        <p:spPr>
          <a:xfrm>
            <a:off x="9028625" y="3244040"/>
            <a:ext cx="634725"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快速迭代</a:t>
            </a:r>
            <a:endParaRPr lang="en-US" sz="1600" dirty="0"/>
          </a:p>
        </p:txBody>
      </p:sp>
      <p:sp>
        <p:nvSpPr>
          <p:cNvPr id="43" name="Text 41"/>
          <p:cNvSpPr/>
          <p:nvPr/>
        </p:nvSpPr>
        <p:spPr>
          <a:xfrm>
            <a:off x="8658370" y="3526140"/>
            <a:ext cx="2891523" cy="176312"/>
          </a:xfrm>
          <a:prstGeom prst="rect">
            <a:avLst/>
          </a:prstGeom>
          <a:noFill/>
          <a:ln/>
        </p:spPr>
        <p:txBody>
          <a:bodyPr wrap="square" lIns="0" tIns="0" rIns="0" bIns="0" rtlCol="0" anchor="ctr"/>
          <a:lstStyle/>
          <a:p>
            <a:pPr>
              <a:lnSpc>
                <a:spcPct val="120000"/>
              </a:lnSpc>
            </a:pPr>
            <a:r>
              <a:rPr lang="en-US" sz="972" dirty="0">
                <a:solidFill>
                  <a:srgbClr val="E8E8E8">
                    <a:alpha val="80000"/>
                  </a:srgbClr>
                </a:solidFill>
                <a:latin typeface="MiSans" pitchFamily="34" charset="0"/>
                <a:ea typeface="MiSans" pitchFamily="34" charset="-122"/>
                <a:cs typeface="MiSans" pitchFamily="34" charset="-120"/>
              </a:rPr>
              <a:t>OTA升级,持续优化算法</a:t>
            </a:r>
            <a:endParaRPr lang="en-US" sz="1600" dirty="0"/>
          </a:p>
        </p:txBody>
      </p:sp>
      <p:sp>
        <p:nvSpPr>
          <p:cNvPr id="44" name="Text 42"/>
          <p:cNvSpPr/>
          <p:nvPr/>
        </p:nvSpPr>
        <p:spPr>
          <a:xfrm>
            <a:off x="5265018" y="4325382"/>
            <a:ext cx="6435401" cy="211575"/>
          </a:xfrm>
          <a:prstGeom prst="rect">
            <a:avLst/>
          </a:prstGeom>
          <a:noFill/>
          <a:ln/>
        </p:spPr>
        <p:txBody>
          <a:bodyPr wrap="square" lIns="0" tIns="0" rIns="0" bIns="0" rtlCol="0" anchor="ctr"/>
          <a:lstStyle/>
          <a:p>
            <a:pPr>
              <a:lnSpc>
                <a:spcPct val="130000"/>
              </a:lnSpc>
            </a:pPr>
            <a:r>
              <a:rPr lang="en-US" sz="1111" b="1" dirty="0">
                <a:solidFill>
                  <a:srgbClr val="E8E8E8"/>
                </a:solidFill>
                <a:latin typeface="MiSans" pitchFamily="34" charset="0"/>
                <a:ea typeface="MiSans" pitchFamily="34" charset="-122"/>
                <a:cs typeface="MiSans" pitchFamily="34" charset="-120"/>
              </a:rPr>
              <a:t>巨头的模仿局限</a:t>
            </a:r>
            <a:endParaRPr lang="en-US" sz="1600" dirty="0"/>
          </a:p>
        </p:txBody>
      </p:sp>
      <p:sp>
        <p:nvSpPr>
          <p:cNvPr id="45" name="Shape 43"/>
          <p:cNvSpPr/>
          <p:nvPr/>
        </p:nvSpPr>
        <p:spPr>
          <a:xfrm>
            <a:off x="5300280" y="5254001"/>
            <a:ext cx="105787" cy="141050"/>
          </a:xfrm>
          <a:custGeom>
            <a:avLst/>
            <a:gdLst/>
            <a:ahLst/>
            <a:cxnLst/>
            <a:rect l="l" t="t" r="r" b="b"/>
            <a:pathLst>
              <a:path w="105787" h="141050">
                <a:moveTo>
                  <a:pt x="15179" y="20221"/>
                </a:moveTo>
                <a:cubicBezTo>
                  <a:pt x="11736" y="16777"/>
                  <a:pt x="6143" y="16777"/>
                  <a:pt x="2700" y="20221"/>
                </a:cubicBezTo>
                <a:cubicBezTo>
                  <a:pt x="-744" y="23664"/>
                  <a:pt x="-744" y="29257"/>
                  <a:pt x="2700" y="32700"/>
                </a:cubicBezTo>
                <a:lnTo>
                  <a:pt x="40552" y="70525"/>
                </a:lnTo>
                <a:lnTo>
                  <a:pt x="2727" y="108377"/>
                </a:lnTo>
                <a:cubicBezTo>
                  <a:pt x="-716" y="111821"/>
                  <a:pt x="-716" y="117413"/>
                  <a:pt x="2727" y="120857"/>
                </a:cubicBezTo>
                <a:cubicBezTo>
                  <a:pt x="6171" y="124300"/>
                  <a:pt x="11763" y="124300"/>
                  <a:pt x="15207" y="120857"/>
                </a:cubicBezTo>
                <a:lnTo>
                  <a:pt x="53031" y="83005"/>
                </a:lnTo>
                <a:lnTo>
                  <a:pt x="90884" y="120829"/>
                </a:lnTo>
                <a:cubicBezTo>
                  <a:pt x="94327" y="124273"/>
                  <a:pt x="99920" y="124273"/>
                  <a:pt x="103363" y="120829"/>
                </a:cubicBezTo>
                <a:cubicBezTo>
                  <a:pt x="106807" y="117385"/>
                  <a:pt x="106807" y="111793"/>
                  <a:pt x="103363" y="108349"/>
                </a:cubicBezTo>
                <a:lnTo>
                  <a:pt x="65511" y="70525"/>
                </a:lnTo>
                <a:lnTo>
                  <a:pt x="103336" y="32673"/>
                </a:lnTo>
                <a:cubicBezTo>
                  <a:pt x="106779" y="29229"/>
                  <a:pt x="106779" y="23637"/>
                  <a:pt x="103336" y="20193"/>
                </a:cubicBezTo>
                <a:cubicBezTo>
                  <a:pt x="99892" y="16750"/>
                  <a:pt x="94300" y="16750"/>
                  <a:pt x="90856" y="20193"/>
                </a:cubicBezTo>
                <a:lnTo>
                  <a:pt x="53031" y="58045"/>
                </a:lnTo>
                <a:lnTo>
                  <a:pt x="15179" y="20221"/>
                </a:lnTo>
                <a:close/>
              </a:path>
            </a:pathLst>
          </a:custGeom>
          <a:solidFill>
            <a:srgbClr val="6D7275"/>
          </a:solidFill>
          <a:ln/>
        </p:spPr>
      </p:sp>
      <p:sp>
        <p:nvSpPr>
          <p:cNvPr id="46" name="Text 44"/>
          <p:cNvSpPr/>
          <p:nvPr/>
        </p:nvSpPr>
        <p:spPr>
          <a:xfrm>
            <a:off x="5547117" y="5218738"/>
            <a:ext cx="2865076" cy="211575"/>
          </a:xfrm>
          <a:prstGeom prst="rect">
            <a:avLst/>
          </a:prstGeom>
          <a:noFill/>
          <a:ln/>
        </p:spPr>
        <p:txBody>
          <a:bodyPr wrap="square" lIns="0" tIns="0" rIns="0" bIns="0" rtlCol="0" anchor="ctr"/>
          <a:lstStyle/>
          <a:p>
            <a:pPr>
              <a:lnSpc>
                <a:spcPct val="130000"/>
              </a:lnSpc>
            </a:pPr>
            <a:r>
              <a:rPr lang="en-US" sz="1111" b="1" dirty="0">
                <a:solidFill>
                  <a:srgbClr val="E8E8E8">
                    <a:alpha val="85000"/>
                  </a:srgbClr>
                </a:solidFill>
                <a:latin typeface="MiSans" pitchFamily="34" charset="0"/>
                <a:ea typeface="MiSans" pitchFamily="34" charset="-122"/>
                <a:cs typeface="MiSans" pitchFamily="34" charset="-120"/>
              </a:rPr>
              <a:t>功能模仿:</a:t>
            </a:r>
            <a:r>
              <a:rPr lang="en-US" sz="1111" dirty="0">
                <a:solidFill>
                  <a:srgbClr val="E8E8E8">
                    <a:alpha val="85000"/>
                  </a:srgbClr>
                </a:solidFill>
                <a:latin typeface="MiSans" pitchFamily="34" charset="0"/>
                <a:ea typeface="MiSans" pitchFamily="34" charset="-122"/>
                <a:cs typeface="MiSans" pitchFamily="34" charset="-120"/>
              </a:rPr>
              <a:t> 仅复制表面功能,无法理解核心逻辑</a:t>
            </a:r>
            <a:endParaRPr lang="en-US" sz="1600" dirty="0"/>
          </a:p>
        </p:txBody>
      </p:sp>
      <p:sp>
        <p:nvSpPr>
          <p:cNvPr id="47" name="Shape 45"/>
          <p:cNvSpPr/>
          <p:nvPr/>
        </p:nvSpPr>
        <p:spPr>
          <a:xfrm>
            <a:off x="5300280" y="5571363"/>
            <a:ext cx="105787" cy="141050"/>
          </a:xfrm>
          <a:custGeom>
            <a:avLst/>
            <a:gdLst/>
            <a:ahLst/>
            <a:cxnLst/>
            <a:rect l="l" t="t" r="r" b="b"/>
            <a:pathLst>
              <a:path w="105787" h="141050">
                <a:moveTo>
                  <a:pt x="15179" y="20221"/>
                </a:moveTo>
                <a:cubicBezTo>
                  <a:pt x="11736" y="16777"/>
                  <a:pt x="6143" y="16777"/>
                  <a:pt x="2700" y="20221"/>
                </a:cubicBezTo>
                <a:cubicBezTo>
                  <a:pt x="-744" y="23664"/>
                  <a:pt x="-744" y="29257"/>
                  <a:pt x="2700" y="32700"/>
                </a:cubicBezTo>
                <a:lnTo>
                  <a:pt x="40552" y="70525"/>
                </a:lnTo>
                <a:lnTo>
                  <a:pt x="2727" y="108377"/>
                </a:lnTo>
                <a:cubicBezTo>
                  <a:pt x="-716" y="111821"/>
                  <a:pt x="-716" y="117413"/>
                  <a:pt x="2727" y="120857"/>
                </a:cubicBezTo>
                <a:cubicBezTo>
                  <a:pt x="6171" y="124300"/>
                  <a:pt x="11763" y="124300"/>
                  <a:pt x="15207" y="120857"/>
                </a:cubicBezTo>
                <a:lnTo>
                  <a:pt x="53031" y="83005"/>
                </a:lnTo>
                <a:lnTo>
                  <a:pt x="90884" y="120829"/>
                </a:lnTo>
                <a:cubicBezTo>
                  <a:pt x="94327" y="124273"/>
                  <a:pt x="99920" y="124273"/>
                  <a:pt x="103363" y="120829"/>
                </a:cubicBezTo>
                <a:cubicBezTo>
                  <a:pt x="106807" y="117385"/>
                  <a:pt x="106807" y="111793"/>
                  <a:pt x="103363" y="108349"/>
                </a:cubicBezTo>
                <a:lnTo>
                  <a:pt x="65511" y="70525"/>
                </a:lnTo>
                <a:lnTo>
                  <a:pt x="103336" y="32673"/>
                </a:lnTo>
                <a:cubicBezTo>
                  <a:pt x="106779" y="29229"/>
                  <a:pt x="106779" y="23637"/>
                  <a:pt x="103336" y="20193"/>
                </a:cubicBezTo>
                <a:cubicBezTo>
                  <a:pt x="99892" y="16750"/>
                  <a:pt x="94300" y="16750"/>
                  <a:pt x="90856" y="20193"/>
                </a:cubicBezTo>
                <a:lnTo>
                  <a:pt x="53031" y="58045"/>
                </a:lnTo>
                <a:lnTo>
                  <a:pt x="15179" y="20221"/>
                </a:lnTo>
                <a:close/>
              </a:path>
            </a:pathLst>
          </a:custGeom>
          <a:solidFill>
            <a:srgbClr val="6D7275"/>
          </a:solidFill>
          <a:ln/>
        </p:spPr>
      </p:sp>
      <p:sp>
        <p:nvSpPr>
          <p:cNvPr id="48" name="Text 46"/>
          <p:cNvSpPr/>
          <p:nvPr/>
        </p:nvSpPr>
        <p:spPr>
          <a:xfrm>
            <a:off x="5547117" y="5536101"/>
            <a:ext cx="2406664" cy="211575"/>
          </a:xfrm>
          <a:prstGeom prst="rect">
            <a:avLst/>
          </a:prstGeom>
          <a:noFill/>
          <a:ln/>
        </p:spPr>
        <p:txBody>
          <a:bodyPr wrap="square" lIns="0" tIns="0" rIns="0" bIns="0" rtlCol="0" anchor="ctr"/>
          <a:lstStyle/>
          <a:p>
            <a:pPr>
              <a:lnSpc>
                <a:spcPct val="130000"/>
              </a:lnSpc>
            </a:pPr>
            <a:r>
              <a:rPr lang="en-US" sz="1111" b="1" dirty="0">
                <a:solidFill>
                  <a:srgbClr val="E8E8E8">
                    <a:alpha val="85000"/>
                  </a:srgbClr>
                </a:solidFill>
                <a:latin typeface="MiSans" pitchFamily="34" charset="0"/>
                <a:ea typeface="MiSans" pitchFamily="34" charset="-122"/>
                <a:cs typeface="MiSans" pitchFamily="34" charset="-120"/>
              </a:rPr>
              <a:t>定价劣势:</a:t>
            </a:r>
            <a:r>
              <a:rPr lang="en-US" sz="1111" dirty="0">
                <a:solidFill>
                  <a:srgbClr val="E8E8E8">
                    <a:alpha val="85000"/>
                  </a:srgbClr>
                </a:solidFill>
                <a:latin typeface="MiSans" pitchFamily="34" charset="0"/>
                <a:ea typeface="MiSans" pitchFamily="34" charset="-122"/>
                <a:cs typeface="MiSans" pitchFamily="34" charset="-120"/>
              </a:rPr>
              <a:t> 更高价格但缺乏差异化价值</a:t>
            </a:r>
            <a:endParaRPr lang="en-US" sz="1600" dirty="0"/>
          </a:p>
        </p:txBody>
      </p:sp>
      <p:sp>
        <p:nvSpPr>
          <p:cNvPr id="49" name="Shape 47"/>
          <p:cNvSpPr/>
          <p:nvPr/>
        </p:nvSpPr>
        <p:spPr>
          <a:xfrm>
            <a:off x="5300280" y="5888725"/>
            <a:ext cx="105787" cy="141050"/>
          </a:xfrm>
          <a:custGeom>
            <a:avLst/>
            <a:gdLst/>
            <a:ahLst/>
            <a:cxnLst/>
            <a:rect l="l" t="t" r="r" b="b"/>
            <a:pathLst>
              <a:path w="105787" h="141050">
                <a:moveTo>
                  <a:pt x="15179" y="20221"/>
                </a:moveTo>
                <a:cubicBezTo>
                  <a:pt x="11736" y="16777"/>
                  <a:pt x="6143" y="16777"/>
                  <a:pt x="2700" y="20221"/>
                </a:cubicBezTo>
                <a:cubicBezTo>
                  <a:pt x="-744" y="23664"/>
                  <a:pt x="-744" y="29257"/>
                  <a:pt x="2700" y="32700"/>
                </a:cubicBezTo>
                <a:lnTo>
                  <a:pt x="40552" y="70525"/>
                </a:lnTo>
                <a:lnTo>
                  <a:pt x="2727" y="108377"/>
                </a:lnTo>
                <a:cubicBezTo>
                  <a:pt x="-716" y="111821"/>
                  <a:pt x="-716" y="117413"/>
                  <a:pt x="2727" y="120857"/>
                </a:cubicBezTo>
                <a:cubicBezTo>
                  <a:pt x="6171" y="124300"/>
                  <a:pt x="11763" y="124300"/>
                  <a:pt x="15207" y="120857"/>
                </a:cubicBezTo>
                <a:lnTo>
                  <a:pt x="53031" y="83005"/>
                </a:lnTo>
                <a:lnTo>
                  <a:pt x="90884" y="120829"/>
                </a:lnTo>
                <a:cubicBezTo>
                  <a:pt x="94327" y="124273"/>
                  <a:pt x="99920" y="124273"/>
                  <a:pt x="103363" y="120829"/>
                </a:cubicBezTo>
                <a:cubicBezTo>
                  <a:pt x="106807" y="117385"/>
                  <a:pt x="106807" y="111793"/>
                  <a:pt x="103363" y="108349"/>
                </a:cubicBezTo>
                <a:lnTo>
                  <a:pt x="65511" y="70525"/>
                </a:lnTo>
                <a:lnTo>
                  <a:pt x="103336" y="32673"/>
                </a:lnTo>
                <a:cubicBezTo>
                  <a:pt x="106779" y="29229"/>
                  <a:pt x="106779" y="23637"/>
                  <a:pt x="103336" y="20193"/>
                </a:cubicBezTo>
                <a:cubicBezTo>
                  <a:pt x="99892" y="16750"/>
                  <a:pt x="94300" y="16750"/>
                  <a:pt x="90856" y="20193"/>
                </a:cubicBezTo>
                <a:lnTo>
                  <a:pt x="53031" y="58045"/>
                </a:lnTo>
                <a:lnTo>
                  <a:pt x="15179" y="20221"/>
                </a:lnTo>
                <a:close/>
              </a:path>
            </a:pathLst>
          </a:custGeom>
          <a:solidFill>
            <a:srgbClr val="6D7275"/>
          </a:solidFill>
          <a:ln/>
        </p:spPr>
      </p:sp>
      <p:sp>
        <p:nvSpPr>
          <p:cNvPr id="50" name="Text 48"/>
          <p:cNvSpPr/>
          <p:nvPr/>
        </p:nvSpPr>
        <p:spPr>
          <a:xfrm>
            <a:off x="5547117" y="5853463"/>
            <a:ext cx="2336139" cy="211575"/>
          </a:xfrm>
          <a:prstGeom prst="rect">
            <a:avLst/>
          </a:prstGeom>
          <a:noFill/>
          <a:ln/>
        </p:spPr>
        <p:txBody>
          <a:bodyPr wrap="square" lIns="0" tIns="0" rIns="0" bIns="0" rtlCol="0" anchor="ctr"/>
          <a:lstStyle/>
          <a:p>
            <a:pPr>
              <a:lnSpc>
                <a:spcPct val="130000"/>
              </a:lnSpc>
            </a:pPr>
            <a:r>
              <a:rPr lang="en-US" sz="1111" b="1" dirty="0">
                <a:solidFill>
                  <a:srgbClr val="E8E8E8">
                    <a:alpha val="85000"/>
                  </a:srgbClr>
                </a:solidFill>
                <a:latin typeface="MiSans" pitchFamily="34" charset="0"/>
                <a:ea typeface="MiSans" pitchFamily="34" charset="-122"/>
                <a:cs typeface="MiSans" pitchFamily="34" charset="-120"/>
              </a:rPr>
              <a:t>生态缺失:</a:t>
            </a:r>
            <a:r>
              <a:rPr lang="en-US" sz="1111" dirty="0">
                <a:solidFill>
                  <a:srgbClr val="E8E8E8">
                    <a:alpha val="85000"/>
                  </a:srgbClr>
                </a:solidFill>
                <a:latin typeface="MiSans" pitchFamily="34" charset="0"/>
                <a:ea typeface="MiSans" pitchFamily="34" charset="-122"/>
                <a:cs typeface="MiSans" pitchFamily="34" charset="-120"/>
              </a:rPr>
              <a:t> 缺乏API开放与第三方整合</a:t>
            </a:r>
            <a:endParaRPr lang="en-US" sz="1600" dirty="0"/>
          </a:p>
        </p:txBody>
      </p:sp>
      <p:sp>
        <p:nvSpPr>
          <p:cNvPr id="51" name="Shape 49"/>
          <p:cNvSpPr/>
          <p:nvPr/>
        </p:nvSpPr>
        <p:spPr>
          <a:xfrm>
            <a:off x="5272070" y="6335455"/>
            <a:ext cx="6354298" cy="511306"/>
          </a:xfrm>
          <a:custGeom>
            <a:avLst/>
            <a:gdLst/>
            <a:ahLst/>
            <a:cxnLst/>
            <a:rect l="l" t="t" r="r" b="b"/>
            <a:pathLst>
              <a:path w="6354298" h="511306">
                <a:moveTo>
                  <a:pt x="0" y="0"/>
                </a:moveTo>
                <a:lnTo>
                  <a:pt x="6354298" y="0"/>
                </a:lnTo>
                <a:lnTo>
                  <a:pt x="6354298" y="511306"/>
                </a:lnTo>
                <a:lnTo>
                  <a:pt x="0" y="511306"/>
                </a:lnTo>
                <a:lnTo>
                  <a:pt x="0" y="0"/>
                </a:lnTo>
                <a:close/>
              </a:path>
            </a:pathLst>
          </a:custGeom>
          <a:solidFill>
            <a:srgbClr val="1A1D21"/>
          </a:solidFill>
          <a:ln/>
        </p:spPr>
      </p:sp>
      <p:sp>
        <p:nvSpPr>
          <p:cNvPr id="52" name="Shape 50"/>
          <p:cNvSpPr/>
          <p:nvPr/>
        </p:nvSpPr>
        <p:spPr>
          <a:xfrm>
            <a:off x="5272070" y="6335455"/>
            <a:ext cx="14105" cy="511306"/>
          </a:xfrm>
          <a:custGeom>
            <a:avLst/>
            <a:gdLst/>
            <a:ahLst/>
            <a:cxnLst/>
            <a:rect l="l" t="t" r="r" b="b"/>
            <a:pathLst>
              <a:path w="14105" h="511306">
                <a:moveTo>
                  <a:pt x="0" y="0"/>
                </a:moveTo>
                <a:lnTo>
                  <a:pt x="14105" y="0"/>
                </a:lnTo>
                <a:lnTo>
                  <a:pt x="14105" y="511306"/>
                </a:lnTo>
                <a:lnTo>
                  <a:pt x="0" y="511306"/>
                </a:lnTo>
                <a:lnTo>
                  <a:pt x="0" y="0"/>
                </a:lnTo>
                <a:close/>
              </a:path>
            </a:pathLst>
          </a:custGeom>
          <a:solidFill>
            <a:srgbClr val="D9A477"/>
          </a:solidFill>
          <a:ln/>
        </p:spPr>
      </p:sp>
      <p:sp>
        <p:nvSpPr>
          <p:cNvPr id="53" name="Shape 51"/>
          <p:cNvSpPr/>
          <p:nvPr/>
        </p:nvSpPr>
        <p:spPr>
          <a:xfrm>
            <a:off x="5446620" y="6511767"/>
            <a:ext cx="123419" cy="141050"/>
          </a:xfrm>
          <a:custGeom>
            <a:avLst/>
            <a:gdLst/>
            <a:ahLst/>
            <a:cxnLst/>
            <a:rect l="l" t="t" r="r" b="b"/>
            <a:pathLst>
              <a:path w="123419" h="141050">
                <a:moveTo>
                  <a:pt x="0" y="59505"/>
                </a:moveTo>
                <a:cubicBezTo>
                  <a:pt x="0" y="41241"/>
                  <a:pt x="14794" y="26447"/>
                  <a:pt x="33059" y="26447"/>
                </a:cubicBezTo>
                <a:lnTo>
                  <a:pt x="35262" y="26447"/>
                </a:lnTo>
                <a:cubicBezTo>
                  <a:pt x="40139" y="26447"/>
                  <a:pt x="44078" y="30386"/>
                  <a:pt x="44078" y="35262"/>
                </a:cubicBezTo>
                <a:cubicBezTo>
                  <a:pt x="44078" y="40139"/>
                  <a:pt x="40139" y="44078"/>
                  <a:pt x="35262" y="44078"/>
                </a:cubicBezTo>
                <a:lnTo>
                  <a:pt x="33059" y="44078"/>
                </a:lnTo>
                <a:cubicBezTo>
                  <a:pt x="24546" y="44078"/>
                  <a:pt x="17631" y="50993"/>
                  <a:pt x="17631" y="59505"/>
                </a:cubicBezTo>
                <a:lnTo>
                  <a:pt x="17631" y="61709"/>
                </a:lnTo>
                <a:lnTo>
                  <a:pt x="35262" y="61709"/>
                </a:lnTo>
                <a:cubicBezTo>
                  <a:pt x="44987" y="61709"/>
                  <a:pt x="52894" y="69616"/>
                  <a:pt x="52894" y="79341"/>
                </a:cubicBezTo>
                <a:lnTo>
                  <a:pt x="52894" y="96972"/>
                </a:lnTo>
                <a:cubicBezTo>
                  <a:pt x="52894" y="106697"/>
                  <a:pt x="44987" y="114603"/>
                  <a:pt x="35262" y="114603"/>
                </a:cubicBezTo>
                <a:lnTo>
                  <a:pt x="17631" y="114603"/>
                </a:lnTo>
                <a:cubicBezTo>
                  <a:pt x="7907" y="114603"/>
                  <a:pt x="0" y="106697"/>
                  <a:pt x="0" y="96972"/>
                </a:cubicBezTo>
                <a:lnTo>
                  <a:pt x="0" y="59505"/>
                </a:lnTo>
                <a:close/>
                <a:moveTo>
                  <a:pt x="70525" y="59505"/>
                </a:moveTo>
                <a:cubicBezTo>
                  <a:pt x="70525" y="41241"/>
                  <a:pt x="85319" y="26447"/>
                  <a:pt x="103584" y="26447"/>
                </a:cubicBezTo>
                <a:lnTo>
                  <a:pt x="105787" y="26447"/>
                </a:lnTo>
                <a:cubicBezTo>
                  <a:pt x="110664" y="26447"/>
                  <a:pt x="114603" y="30386"/>
                  <a:pt x="114603" y="35262"/>
                </a:cubicBezTo>
                <a:cubicBezTo>
                  <a:pt x="114603" y="40139"/>
                  <a:pt x="110664" y="44078"/>
                  <a:pt x="105787" y="44078"/>
                </a:cubicBezTo>
                <a:lnTo>
                  <a:pt x="103584" y="44078"/>
                </a:lnTo>
                <a:cubicBezTo>
                  <a:pt x="95071" y="44078"/>
                  <a:pt x="88156" y="50993"/>
                  <a:pt x="88156" y="59505"/>
                </a:cubicBezTo>
                <a:lnTo>
                  <a:pt x="88156" y="61709"/>
                </a:lnTo>
                <a:lnTo>
                  <a:pt x="105787" y="61709"/>
                </a:lnTo>
                <a:cubicBezTo>
                  <a:pt x="115512" y="61709"/>
                  <a:pt x="123419" y="69616"/>
                  <a:pt x="123419" y="79341"/>
                </a:cubicBezTo>
                <a:lnTo>
                  <a:pt x="123419" y="96972"/>
                </a:lnTo>
                <a:cubicBezTo>
                  <a:pt x="123419" y="106697"/>
                  <a:pt x="115512" y="114603"/>
                  <a:pt x="105787" y="114603"/>
                </a:cubicBezTo>
                <a:lnTo>
                  <a:pt x="88156" y="114603"/>
                </a:lnTo>
                <a:cubicBezTo>
                  <a:pt x="78431" y="114603"/>
                  <a:pt x="70525" y="106697"/>
                  <a:pt x="70525" y="96972"/>
                </a:cubicBezTo>
                <a:lnTo>
                  <a:pt x="70525" y="59505"/>
                </a:lnTo>
                <a:close/>
              </a:path>
            </a:pathLst>
          </a:custGeom>
          <a:solidFill>
            <a:srgbClr val="D9A477"/>
          </a:solidFill>
          <a:ln/>
        </p:spPr>
      </p:sp>
      <p:sp>
        <p:nvSpPr>
          <p:cNvPr id="54" name="Text 52"/>
          <p:cNvSpPr/>
          <p:nvPr/>
        </p:nvSpPr>
        <p:spPr>
          <a:xfrm>
            <a:off x="5707782" y="6490611"/>
            <a:ext cx="4019922" cy="190417"/>
          </a:xfrm>
          <a:prstGeom prst="rect">
            <a:avLst/>
          </a:prstGeom>
          <a:noFill/>
          <a:ln/>
        </p:spPr>
        <p:txBody>
          <a:bodyPr wrap="square" lIns="0" tIns="0" rIns="0" bIns="0" rtlCol="0" anchor="ctr"/>
          <a:lstStyle/>
          <a:p>
            <a:pPr>
              <a:lnSpc>
                <a:spcPct val="140000"/>
              </a:lnSpc>
            </a:pPr>
            <a:r>
              <a:rPr lang="en-US" sz="1111" b="1" dirty="0">
                <a:solidFill>
                  <a:srgbClr val="D9A477"/>
                </a:solidFill>
                <a:latin typeface="MiSans" pitchFamily="34" charset="0"/>
                <a:ea typeface="MiSans" pitchFamily="34" charset="-122"/>
                <a:cs typeface="MiSans" pitchFamily="34" charset="-120"/>
              </a:rPr>
              <a:t>简单的功能模仿无法撼动由核心技术和用户体验构成的护城河。</a:t>
            </a:r>
            <a:endParaRPr lang="en-US" sz="1600" dirty="0"/>
          </a:p>
        </p:txBody>
      </p:sp>
      <p:sp>
        <p:nvSpPr>
          <p:cNvPr id="55" name="Shape 53"/>
          <p:cNvSpPr/>
          <p:nvPr/>
        </p:nvSpPr>
        <p:spPr>
          <a:xfrm>
            <a:off x="9794923" y="6511767"/>
            <a:ext cx="123419" cy="141050"/>
          </a:xfrm>
          <a:custGeom>
            <a:avLst/>
            <a:gdLst/>
            <a:ahLst/>
            <a:cxnLst/>
            <a:rect l="l" t="t" r="r" b="b"/>
            <a:pathLst>
              <a:path w="123419" h="141050">
                <a:moveTo>
                  <a:pt x="123419" y="81544"/>
                </a:moveTo>
                <a:cubicBezTo>
                  <a:pt x="123419" y="99809"/>
                  <a:pt x="108625" y="114603"/>
                  <a:pt x="90360" y="114603"/>
                </a:cubicBezTo>
                <a:lnTo>
                  <a:pt x="88156" y="114603"/>
                </a:lnTo>
                <a:cubicBezTo>
                  <a:pt x="83280" y="114603"/>
                  <a:pt x="79341" y="110664"/>
                  <a:pt x="79341" y="105787"/>
                </a:cubicBezTo>
                <a:cubicBezTo>
                  <a:pt x="79341" y="100911"/>
                  <a:pt x="83280" y="96972"/>
                  <a:pt x="88156" y="96972"/>
                </a:cubicBezTo>
                <a:lnTo>
                  <a:pt x="90360" y="96972"/>
                </a:lnTo>
                <a:cubicBezTo>
                  <a:pt x="98873" y="96972"/>
                  <a:pt x="105787" y="90057"/>
                  <a:pt x="105787" y="81544"/>
                </a:cubicBezTo>
                <a:lnTo>
                  <a:pt x="105787" y="79341"/>
                </a:lnTo>
                <a:lnTo>
                  <a:pt x="88156" y="79341"/>
                </a:lnTo>
                <a:cubicBezTo>
                  <a:pt x="78431" y="79341"/>
                  <a:pt x="70525" y="71434"/>
                  <a:pt x="70525" y="61709"/>
                </a:cubicBezTo>
                <a:lnTo>
                  <a:pt x="70525" y="44078"/>
                </a:lnTo>
                <a:cubicBezTo>
                  <a:pt x="70525" y="34353"/>
                  <a:pt x="78431" y="26447"/>
                  <a:pt x="88156" y="26447"/>
                </a:cubicBezTo>
                <a:lnTo>
                  <a:pt x="105787" y="26447"/>
                </a:lnTo>
                <a:cubicBezTo>
                  <a:pt x="115512" y="26447"/>
                  <a:pt x="123419" y="34353"/>
                  <a:pt x="123419" y="44078"/>
                </a:cubicBezTo>
                <a:lnTo>
                  <a:pt x="123419" y="81544"/>
                </a:lnTo>
                <a:close/>
                <a:moveTo>
                  <a:pt x="52894" y="81544"/>
                </a:moveTo>
                <a:cubicBezTo>
                  <a:pt x="52894" y="99809"/>
                  <a:pt x="38100" y="114603"/>
                  <a:pt x="19835" y="114603"/>
                </a:cubicBezTo>
                <a:lnTo>
                  <a:pt x="17631" y="114603"/>
                </a:lnTo>
                <a:cubicBezTo>
                  <a:pt x="12755" y="114603"/>
                  <a:pt x="8816" y="110664"/>
                  <a:pt x="8816" y="105787"/>
                </a:cubicBezTo>
                <a:cubicBezTo>
                  <a:pt x="8816" y="100911"/>
                  <a:pt x="12755" y="96972"/>
                  <a:pt x="17631" y="96972"/>
                </a:cubicBezTo>
                <a:lnTo>
                  <a:pt x="19835" y="96972"/>
                </a:lnTo>
                <a:cubicBezTo>
                  <a:pt x="28348" y="96972"/>
                  <a:pt x="35262" y="90057"/>
                  <a:pt x="35262" y="81544"/>
                </a:cubicBezTo>
                <a:lnTo>
                  <a:pt x="35262" y="79341"/>
                </a:lnTo>
                <a:lnTo>
                  <a:pt x="17631" y="79341"/>
                </a:lnTo>
                <a:cubicBezTo>
                  <a:pt x="7907" y="79341"/>
                  <a:pt x="0" y="71434"/>
                  <a:pt x="0" y="61709"/>
                </a:cubicBezTo>
                <a:lnTo>
                  <a:pt x="0" y="44078"/>
                </a:lnTo>
                <a:cubicBezTo>
                  <a:pt x="0" y="34353"/>
                  <a:pt x="7907" y="26447"/>
                  <a:pt x="17631" y="26447"/>
                </a:cubicBezTo>
                <a:lnTo>
                  <a:pt x="35262" y="26447"/>
                </a:lnTo>
                <a:cubicBezTo>
                  <a:pt x="44987" y="26447"/>
                  <a:pt x="52894" y="34353"/>
                  <a:pt x="52894" y="44078"/>
                </a:cubicBezTo>
                <a:lnTo>
                  <a:pt x="52894" y="81544"/>
                </a:lnTo>
                <a:close/>
              </a:path>
            </a:pathLst>
          </a:custGeom>
          <a:solidFill>
            <a:srgbClr val="D9A477"/>
          </a:solidFill>
          <a:ln/>
        </p:spPr>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175" dirty="0">
                <a:solidFill>
                  <a:srgbClr val="D9A477"/>
                </a:solidFill>
                <a:latin typeface="MiSans" pitchFamily="34" charset="0"/>
                <a:ea typeface="MiSans" pitchFamily="34" charset="-122"/>
                <a:cs typeface="MiSans" pitchFamily="34" charset="-120"/>
              </a:rPr>
              <a:t>Winning Engine</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E8E8E8"/>
                </a:solidFill>
                <a:latin typeface="MiSans" pitchFamily="34" charset="0"/>
                <a:ea typeface="MiSans" pitchFamily="34" charset="-122"/>
                <a:cs typeface="MiSans" pitchFamily="34" charset="-120"/>
              </a:rPr>
              <a:t>Nest的制胜引擎:四大核心举措</a:t>
            </a:r>
            <a:endParaRPr lang="en-US" sz="1600" dirty="0"/>
          </a:p>
        </p:txBody>
      </p:sp>
      <p:sp>
        <p:nvSpPr>
          <p:cNvPr id="4" name="Shape 2"/>
          <p:cNvSpPr/>
          <p:nvPr/>
        </p:nvSpPr>
        <p:spPr>
          <a:xfrm>
            <a:off x="327025" y="1016000"/>
            <a:ext cx="5692775" cy="2928938"/>
          </a:xfrm>
          <a:custGeom>
            <a:avLst/>
            <a:gdLst/>
            <a:ahLst/>
            <a:cxnLst/>
            <a:rect l="l" t="t" r="r" b="b"/>
            <a:pathLst>
              <a:path w="5692775" h="2928938">
                <a:moveTo>
                  <a:pt x="0" y="0"/>
                </a:moveTo>
                <a:lnTo>
                  <a:pt x="5692775" y="0"/>
                </a:lnTo>
                <a:lnTo>
                  <a:pt x="5692775" y="2928938"/>
                </a:lnTo>
                <a:lnTo>
                  <a:pt x="0" y="2928938"/>
                </a:lnTo>
                <a:lnTo>
                  <a:pt x="0" y="0"/>
                </a:lnTo>
                <a:close/>
              </a:path>
            </a:pathLst>
          </a:custGeom>
          <a:solidFill>
            <a:srgbClr val="3C8082">
              <a:alpha val="14902"/>
            </a:srgbClr>
          </a:solidFill>
          <a:ln/>
        </p:spPr>
      </p:sp>
      <p:sp>
        <p:nvSpPr>
          <p:cNvPr id="5" name="Shape 3"/>
          <p:cNvSpPr/>
          <p:nvPr/>
        </p:nvSpPr>
        <p:spPr>
          <a:xfrm>
            <a:off x="327025" y="1016000"/>
            <a:ext cx="19050" cy="2928938"/>
          </a:xfrm>
          <a:custGeom>
            <a:avLst/>
            <a:gdLst/>
            <a:ahLst/>
            <a:cxnLst/>
            <a:rect l="l" t="t" r="r" b="b"/>
            <a:pathLst>
              <a:path w="19050" h="2928938">
                <a:moveTo>
                  <a:pt x="0" y="0"/>
                </a:moveTo>
                <a:lnTo>
                  <a:pt x="19050" y="0"/>
                </a:lnTo>
                <a:lnTo>
                  <a:pt x="19050" y="2928938"/>
                </a:lnTo>
                <a:lnTo>
                  <a:pt x="0" y="2928938"/>
                </a:lnTo>
                <a:lnTo>
                  <a:pt x="0" y="0"/>
                </a:lnTo>
                <a:close/>
              </a:path>
            </a:pathLst>
          </a:custGeom>
          <a:solidFill>
            <a:srgbClr val="3C8082"/>
          </a:solidFill>
          <a:ln/>
        </p:spPr>
      </p:sp>
      <p:sp>
        <p:nvSpPr>
          <p:cNvPr id="6" name="Shape 4"/>
          <p:cNvSpPr/>
          <p:nvPr/>
        </p:nvSpPr>
        <p:spPr>
          <a:xfrm>
            <a:off x="495300" y="11747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3C8082"/>
          </a:solidFill>
          <a:ln/>
        </p:spPr>
      </p:sp>
      <p:sp>
        <p:nvSpPr>
          <p:cNvPr id="7" name="Text 5"/>
          <p:cNvSpPr/>
          <p:nvPr/>
        </p:nvSpPr>
        <p:spPr>
          <a:xfrm>
            <a:off x="455613" y="11747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MiSans" pitchFamily="34" charset="0"/>
                <a:ea typeface="MiSans" pitchFamily="34" charset="-122"/>
                <a:cs typeface="MiSans" pitchFamily="34" charset="-120"/>
              </a:rPr>
              <a:t>01</a:t>
            </a:r>
            <a:endParaRPr lang="en-US" sz="1600" dirty="0"/>
          </a:p>
        </p:txBody>
      </p:sp>
      <p:sp>
        <p:nvSpPr>
          <p:cNvPr id="8" name="Text 6"/>
          <p:cNvSpPr/>
          <p:nvPr/>
        </p:nvSpPr>
        <p:spPr>
          <a:xfrm>
            <a:off x="971550" y="1254125"/>
            <a:ext cx="873125" cy="222250"/>
          </a:xfrm>
          <a:prstGeom prst="rect">
            <a:avLst/>
          </a:prstGeom>
          <a:noFill/>
          <a:ln/>
        </p:spPr>
        <p:txBody>
          <a:bodyPr wrap="square" lIns="0" tIns="0" rIns="0" bIns="0" rtlCol="0" anchor="ctr"/>
          <a:lstStyle/>
          <a:p>
            <a:pPr>
              <a:lnSpc>
                <a:spcPct val="120000"/>
              </a:lnSpc>
            </a:pPr>
            <a:r>
              <a:rPr lang="en-US" sz="1250" b="1" dirty="0">
                <a:solidFill>
                  <a:srgbClr val="E8E8E8"/>
                </a:solidFill>
                <a:latin typeface="MiSans" pitchFamily="34" charset="0"/>
                <a:ea typeface="MiSans" pitchFamily="34" charset="-122"/>
                <a:cs typeface="MiSans" pitchFamily="34" charset="-120"/>
              </a:rPr>
              <a:t>产品差异化</a:t>
            </a:r>
            <a:endParaRPr lang="en-US" sz="1600" dirty="0"/>
          </a:p>
        </p:txBody>
      </p:sp>
      <p:sp>
        <p:nvSpPr>
          <p:cNvPr id="9" name="Text 7"/>
          <p:cNvSpPr/>
          <p:nvPr/>
        </p:nvSpPr>
        <p:spPr>
          <a:xfrm>
            <a:off x="495300" y="1682750"/>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技术突破</a:t>
            </a:r>
            <a:endParaRPr lang="en-US" sz="1600" dirty="0"/>
          </a:p>
        </p:txBody>
      </p:sp>
      <p:sp>
        <p:nvSpPr>
          <p:cNvPr id="10" name="Text 8"/>
          <p:cNvSpPr/>
          <p:nvPr/>
        </p:nvSpPr>
        <p:spPr>
          <a:xfrm>
            <a:off x="495300" y="1936750"/>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机器学习算法实现智能学习,自动预测用户需求,减少手动操作</a:t>
            </a:r>
            <a:endParaRPr lang="en-US" sz="1600" dirty="0"/>
          </a:p>
        </p:txBody>
      </p:sp>
      <p:sp>
        <p:nvSpPr>
          <p:cNvPr id="11" name="Text 9"/>
          <p:cNvSpPr/>
          <p:nvPr/>
        </p:nvSpPr>
        <p:spPr>
          <a:xfrm>
            <a:off x="495300" y="2238375"/>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工业设计</a:t>
            </a:r>
            <a:endParaRPr lang="en-US" sz="1600" dirty="0"/>
          </a:p>
        </p:txBody>
      </p:sp>
      <p:sp>
        <p:nvSpPr>
          <p:cNvPr id="12" name="Text 10"/>
          <p:cNvSpPr/>
          <p:nvPr/>
        </p:nvSpPr>
        <p:spPr>
          <a:xfrm>
            <a:off x="495300" y="2492375"/>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圆形触控屏+金属机身,打造区别于传统塑料面板的视觉美学</a:t>
            </a:r>
            <a:endParaRPr lang="en-US" sz="1600" dirty="0"/>
          </a:p>
        </p:txBody>
      </p:sp>
      <p:sp>
        <p:nvSpPr>
          <p:cNvPr id="13" name="Text 11"/>
          <p:cNvSpPr/>
          <p:nvPr/>
        </p:nvSpPr>
        <p:spPr>
          <a:xfrm>
            <a:off x="495300" y="2794000"/>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用户体验优化</a:t>
            </a:r>
            <a:endParaRPr lang="en-US" sz="1600" dirty="0"/>
          </a:p>
        </p:txBody>
      </p:sp>
      <p:sp>
        <p:nvSpPr>
          <p:cNvPr id="14" name="Text 12"/>
          <p:cNvSpPr/>
          <p:nvPr/>
        </p:nvSpPr>
        <p:spPr>
          <a:xfrm>
            <a:off x="495300" y="3048000"/>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简化安装流程,提供可视化能耗报告,支持远程APP控制</a:t>
            </a:r>
            <a:endParaRPr lang="en-US" sz="1600" dirty="0"/>
          </a:p>
        </p:txBody>
      </p:sp>
      <p:sp>
        <p:nvSpPr>
          <p:cNvPr id="15" name="Shape 13"/>
          <p:cNvSpPr/>
          <p:nvPr/>
        </p:nvSpPr>
        <p:spPr>
          <a:xfrm>
            <a:off x="6184900" y="1016000"/>
            <a:ext cx="5692775" cy="2928938"/>
          </a:xfrm>
          <a:custGeom>
            <a:avLst/>
            <a:gdLst/>
            <a:ahLst/>
            <a:cxnLst/>
            <a:rect l="l" t="t" r="r" b="b"/>
            <a:pathLst>
              <a:path w="5692775" h="2928938">
                <a:moveTo>
                  <a:pt x="0" y="0"/>
                </a:moveTo>
                <a:lnTo>
                  <a:pt x="5692775" y="0"/>
                </a:lnTo>
                <a:lnTo>
                  <a:pt x="5692775" y="2928938"/>
                </a:lnTo>
                <a:lnTo>
                  <a:pt x="0" y="2928938"/>
                </a:lnTo>
                <a:lnTo>
                  <a:pt x="0" y="0"/>
                </a:lnTo>
                <a:close/>
              </a:path>
            </a:pathLst>
          </a:custGeom>
          <a:solidFill>
            <a:srgbClr val="D9A477">
              <a:alpha val="14902"/>
            </a:srgbClr>
          </a:solidFill>
          <a:ln/>
        </p:spPr>
      </p:sp>
      <p:sp>
        <p:nvSpPr>
          <p:cNvPr id="16" name="Shape 14"/>
          <p:cNvSpPr/>
          <p:nvPr/>
        </p:nvSpPr>
        <p:spPr>
          <a:xfrm>
            <a:off x="6184900" y="1016000"/>
            <a:ext cx="19050" cy="2928938"/>
          </a:xfrm>
          <a:custGeom>
            <a:avLst/>
            <a:gdLst/>
            <a:ahLst/>
            <a:cxnLst/>
            <a:rect l="l" t="t" r="r" b="b"/>
            <a:pathLst>
              <a:path w="19050" h="2928938">
                <a:moveTo>
                  <a:pt x="0" y="0"/>
                </a:moveTo>
                <a:lnTo>
                  <a:pt x="19050" y="0"/>
                </a:lnTo>
                <a:lnTo>
                  <a:pt x="19050" y="2928938"/>
                </a:lnTo>
                <a:lnTo>
                  <a:pt x="0" y="2928938"/>
                </a:lnTo>
                <a:lnTo>
                  <a:pt x="0" y="0"/>
                </a:lnTo>
                <a:close/>
              </a:path>
            </a:pathLst>
          </a:custGeom>
          <a:solidFill>
            <a:srgbClr val="D9A477"/>
          </a:solidFill>
          <a:ln/>
        </p:spPr>
      </p:sp>
      <p:sp>
        <p:nvSpPr>
          <p:cNvPr id="17" name="Shape 15"/>
          <p:cNvSpPr/>
          <p:nvPr/>
        </p:nvSpPr>
        <p:spPr>
          <a:xfrm>
            <a:off x="6353175" y="11747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9A477"/>
          </a:solidFill>
          <a:ln/>
        </p:spPr>
      </p:sp>
      <p:sp>
        <p:nvSpPr>
          <p:cNvPr id="18" name="Text 16"/>
          <p:cNvSpPr/>
          <p:nvPr/>
        </p:nvSpPr>
        <p:spPr>
          <a:xfrm>
            <a:off x="6313488" y="1174750"/>
            <a:ext cx="460375" cy="381000"/>
          </a:xfrm>
          <a:prstGeom prst="rect">
            <a:avLst/>
          </a:prstGeom>
          <a:noFill/>
          <a:ln/>
        </p:spPr>
        <p:txBody>
          <a:bodyPr wrap="square" lIns="0" tIns="0" rIns="0" bIns="0" rtlCol="0" anchor="ctr"/>
          <a:lstStyle/>
          <a:p>
            <a:pPr algn="ctr">
              <a:lnSpc>
                <a:spcPct val="120000"/>
              </a:lnSpc>
            </a:pPr>
            <a:r>
              <a:rPr lang="en-US" sz="1250" b="1" dirty="0">
                <a:solidFill>
                  <a:srgbClr val="1A1D21"/>
                </a:solidFill>
                <a:latin typeface="MiSans" pitchFamily="34" charset="0"/>
                <a:ea typeface="MiSans" pitchFamily="34" charset="-122"/>
                <a:cs typeface="MiSans" pitchFamily="34" charset="-120"/>
              </a:rPr>
              <a:t>02</a:t>
            </a:r>
            <a:endParaRPr lang="en-US" sz="1600" dirty="0"/>
          </a:p>
        </p:txBody>
      </p:sp>
      <p:sp>
        <p:nvSpPr>
          <p:cNvPr id="19" name="Text 17"/>
          <p:cNvSpPr/>
          <p:nvPr/>
        </p:nvSpPr>
        <p:spPr>
          <a:xfrm>
            <a:off x="6829425" y="1254125"/>
            <a:ext cx="714375" cy="222250"/>
          </a:xfrm>
          <a:prstGeom prst="rect">
            <a:avLst/>
          </a:prstGeom>
          <a:noFill/>
          <a:ln/>
        </p:spPr>
        <p:txBody>
          <a:bodyPr wrap="square" lIns="0" tIns="0" rIns="0" bIns="0" rtlCol="0" anchor="ctr"/>
          <a:lstStyle/>
          <a:p>
            <a:pPr>
              <a:lnSpc>
                <a:spcPct val="120000"/>
              </a:lnSpc>
            </a:pPr>
            <a:r>
              <a:rPr lang="en-US" sz="1250" b="1" dirty="0">
                <a:solidFill>
                  <a:srgbClr val="E8E8E8"/>
                </a:solidFill>
                <a:latin typeface="MiSans" pitchFamily="34" charset="0"/>
                <a:ea typeface="MiSans" pitchFamily="34" charset="-122"/>
                <a:cs typeface="MiSans" pitchFamily="34" charset="-120"/>
              </a:rPr>
              <a:t>定价策略</a:t>
            </a:r>
            <a:endParaRPr lang="en-US" sz="1600" dirty="0"/>
          </a:p>
        </p:txBody>
      </p:sp>
      <p:sp>
        <p:nvSpPr>
          <p:cNvPr id="20" name="Text 18"/>
          <p:cNvSpPr/>
          <p:nvPr/>
        </p:nvSpPr>
        <p:spPr>
          <a:xfrm>
            <a:off x="6353175" y="1682750"/>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价值定价</a:t>
            </a:r>
            <a:endParaRPr lang="en-US" sz="1600" dirty="0"/>
          </a:p>
        </p:txBody>
      </p:sp>
      <p:sp>
        <p:nvSpPr>
          <p:cNvPr id="21" name="Text 19"/>
          <p:cNvSpPr/>
          <p:nvPr/>
        </p:nvSpPr>
        <p:spPr>
          <a:xfrm>
            <a:off x="6353175" y="1936750"/>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定价</a:t>
            </a:r>
            <a:r>
              <a:rPr lang="en-US" sz="1000" b="1" dirty="0">
                <a:solidFill>
                  <a:srgbClr val="D9A477"/>
                </a:solidFill>
                <a:latin typeface="MiSans" pitchFamily="34" charset="0"/>
                <a:ea typeface="MiSans" pitchFamily="34" charset="-122"/>
                <a:cs typeface="MiSans" pitchFamily="34" charset="-120"/>
              </a:rPr>
              <a:t>$249</a:t>
            </a:r>
            <a:r>
              <a:rPr lang="en-US" sz="1000" dirty="0">
                <a:solidFill>
                  <a:srgbClr val="E8E8E8">
                    <a:alpha val="85000"/>
                  </a:srgbClr>
                </a:solidFill>
                <a:latin typeface="MiSans" pitchFamily="34" charset="0"/>
                <a:ea typeface="MiSans" pitchFamily="34" charset="-122"/>
                <a:cs typeface="MiSans" pitchFamily="34" charset="-120"/>
              </a:rPr>
              <a:t>,高于传统产品,但通过节能回报强化价值感知</a:t>
            </a:r>
            <a:endParaRPr lang="en-US" sz="1600" dirty="0"/>
          </a:p>
        </p:txBody>
      </p:sp>
      <p:sp>
        <p:nvSpPr>
          <p:cNvPr id="22" name="Text 20"/>
          <p:cNvSpPr/>
          <p:nvPr/>
        </p:nvSpPr>
        <p:spPr>
          <a:xfrm>
            <a:off x="6353175" y="2238375"/>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投资理念</a:t>
            </a:r>
            <a:endParaRPr lang="en-US" sz="1600" dirty="0"/>
          </a:p>
        </p:txBody>
      </p:sp>
      <p:sp>
        <p:nvSpPr>
          <p:cNvPr id="23" name="Text 21"/>
          <p:cNvSpPr/>
          <p:nvPr/>
        </p:nvSpPr>
        <p:spPr>
          <a:xfrm>
            <a:off x="6353175" y="2492375"/>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将购买行为从"开销"转变为"投资",年均节省10%-15%电费</a:t>
            </a:r>
            <a:endParaRPr lang="en-US" sz="1600" dirty="0"/>
          </a:p>
        </p:txBody>
      </p:sp>
      <p:sp>
        <p:nvSpPr>
          <p:cNvPr id="24" name="Text 22"/>
          <p:cNvSpPr/>
          <p:nvPr/>
        </p:nvSpPr>
        <p:spPr>
          <a:xfrm>
            <a:off x="6353175" y="2794000"/>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价格调整</a:t>
            </a:r>
            <a:endParaRPr lang="en-US" sz="1600" dirty="0"/>
          </a:p>
        </p:txBody>
      </p:sp>
      <p:sp>
        <p:nvSpPr>
          <p:cNvPr id="25" name="Text 23"/>
          <p:cNvSpPr/>
          <p:nvPr/>
        </p:nvSpPr>
        <p:spPr>
          <a:xfrm>
            <a:off x="6353175" y="3048000"/>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2014年降价至$199,扩大受众范围,巩固市场地位</a:t>
            </a:r>
            <a:endParaRPr lang="en-US" sz="1600" dirty="0"/>
          </a:p>
        </p:txBody>
      </p:sp>
      <p:sp>
        <p:nvSpPr>
          <p:cNvPr id="26" name="Shape 24"/>
          <p:cNvSpPr/>
          <p:nvPr/>
        </p:nvSpPr>
        <p:spPr>
          <a:xfrm>
            <a:off x="327025" y="4100513"/>
            <a:ext cx="5692775" cy="2928938"/>
          </a:xfrm>
          <a:custGeom>
            <a:avLst/>
            <a:gdLst/>
            <a:ahLst/>
            <a:cxnLst/>
            <a:rect l="l" t="t" r="r" b="b"/>
            <a:pathLst>
              <a:path w="5692775" h="2928938">
                <a:moveTo>
                  <a:pt x="0" y="0"/>
                </a:moveTo>
                <a:lnTo>
                  <a:pt x="5692775" y="0"/>
                </a:lnTo>
                <a:lnTo>
                  <a:pt x="5692775" y="2928938"/>
                </a:lnTo>
                <a:lnTo>
                  <a:pt x="0" y="2928938"/>
                </a:lnTo>
                <a:lnTo>
                  <a:pt x="0" y="0"/>
                </a:lnTo>
                <a:close/>
              </a:path>
            </a:pathLst>
          </a:custGeom>
          <a:solidFill>
            <a:srgbClr val="6D7275">
              <a:alpha val="14902"/>
            </a:srgbClr>
          </a:solidFill>
          <a:ln/>
        </p:spPr>
      </p:sp>
      <p:sp>
        <p:nvSpPr>
          <p:cNvPr id="27" name="Shape 25"/>
          <p:cNvSpPr/>
          <p:nvPr/>
        </p:nvSpPr>
        <p:spPr>
          <a:xfrm>
            <a:off x="327025" y="4100513"/>
            <a:ext cx="19050" cy="2928938"/>
          </a:xfrm>
          <a:custGeom>
            <a:avLst/>
            <a:gdLst/>
            <a:ahLst/>
            <a:cxnLst/>
            <a:rect l="l" t="t" r="r" b="b"/>
            <a:pathLst>
              <a:path w="19050" h="2928938">
                <a:moveTo>
                  <a:pt x="0" y="0"/>
                </a:moveTo>
                <a:lnTo>
                  <a:pt x="19050" y="0"/>
                </a:lnTo>
                <a:lnTo>
                  <a:pt x="19050" y="2928938"/>
                </a:lnTo>
                <a:lnTo>
                  <a:pt x="0" y="2928938"/>
                </a:lnTo>
                <a:lnTo>
                  <a:pt x="0" y="0"/>
                </a:lnTo>
                <a:close/>
              </a:path>
            </a:pathLst>
          </a:custGeom>
          <a:solidFill>
            <a:srgbClr val="6D7275"/>
          </a:solidFill>
          <a:ln/>
        </p:spPr>
      </p:sp>
      <p:sp>
        <p:nvSpPr>
          <p:cNvPr id="28" name="Shape 26"/>
          <p:cNvSpPr/>
          <p:nvPr/>
        </p:nvSpPr>
        <p:spPr>
          <a:xfrm>
            <a:off x="495300" y="4259263"/>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6D7275"/>
          </a:solidFill>
          <a:ln/>
        </p:spPr>
      </p:sp>
      <p:sp>
        <p:nvSpPr>
          <p:cNvPr id="29" name="Text 27"/>
          <p:cNvSpPr/>
          <p:nvPr/>
        </p:nvSpPr>
        <p:spPr>
          <a:xfrm>
            <a:off x="455613" y="4259263"/>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MiSans" pitchFamily="34" charset="0"/>
                <a:ea typeface="MiSans" pitchFamily="34" charset="-122"/>
                <a:cs typeface="MiSans" pitchFamily="34" charset="-120"/>
              </a:rPr>
              <a:t>03</a:t>
            </a:r>
            <a:endParaRPr lang="en-US" sz="1600" dirty="0"/>
          </a:p>
        </p:txBody>
      </p:sp>
      <p:sp>
        <p:nvSpPr>
          <p:cNvPr id="30" name="Text 28"/>
          <p:cNvSpPr/>
          <p:nvPr/>
        </p:nvSpPr>
        <p:spPr>
          <a:xfrm>
            <a:off x="971550" y="4338638"/>
            <a:ext cx="714375" cy="222250"/>
          </a:xfrm>
          <a:prstGeom prst="rect">
            <a:avLst/>
          </a:prstGeom>
          <a:noFill/>
          <a:ln/>
        </p:spPr>
        <p:txBody>
          <a:bodyPr wrap="square" lIns="0" tIns="0" rIns="0" bIns="0" rtlCol="0" anchor="ctr"/>
          <a:lstStyle/>
          <a:p>
            <a:pPr>
              <a:lnSpc>
                <a:spcPct val="120000"/>
              </a:lnSpc>
            </a:pPr>
            <a:r>
              <a:rPr lang="en-US" sz="1250" b="1" dirty="0">
                <a:solidFill>
                  <a:srgbClr val="E8E8E8"/>
                </a:solidFill>
                <a:latin typeface="MiSans" pitchFamily="34" charset="0"/>
                <a:ea typeface="MiSans" pitchFamily="34" charset="-122"/>
                <a:cs typeface="MiSans" pitchFamily="34" charset="-120"/>
              </a:rPr>
              <a:t>渠道创新</a:t>
            </a:r>
            <a:endParaRPr lang="en-US" sz="1600" dirty="0"/>
          </a:p>
        </p:txBody>
      </p:sp>
      <p:sp>
        <p:nvSpPr>
          <p:cNvPr id="31" name="Text 29"/>
          <p:cNvSpPr/>
          <p:nvPr/>
        </p:nvSpPr>
        <p:spPr>
          <a:xfrm>
            <a:off x="495300" y="4767263"/>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避开传统渠道</a:t>
            </a:r>
            <a:endParaRPr lang="en-US" sz="1600" dirty="0"/>
          </a:p>
        </p:txBody>
      </p:sp>
      <p:sp>
        <p:nvSpPr>
          <p:cNvPr id="32" name="Text 30"/>
          <p:cNvSpPr/>
          <p:nvPr/>
        </p:nvSpPr>
        <p:spPr>
          <a:xfrm>
            <a:off x="495300" y="5021263"/>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绕过建材市场,直接对接C端消费者,避免与传统巨头正面竞争</a:t>
            </a:r>
            <a:endParaRPr lang="en-US" sz="1600" dirty="0"/>
          </a:p>
        </p:txBody>
      </p:sp>
      <p:sp>
        <p:nvSpPr>
          <p:cNvPr id="33" name="Text 31"/>
          <p:cNvSpPr/>
          <p:nvPr/>
        </p:nvSpPr>
        <p:spPr>
          <a:xfrm>
            <a:off x="495300" y="5322888"/>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消费电子渠道</a:t>
            </a:r>
            <a:endParaRPr lang="en-US" sz="1600" dirty="0"/>
          </a:p>
        </p:txBody>
      </p:sp>
      <p:sp>
        <p:nvSpPr>
          <p:cNvPr id="34" name="Text 32"/>
          <p:cNvSpPr/>
          <p:nvPr/>
        </p:nvSpPr>
        <p:spPr>
          <a:xfrm>
            <a:off x="495300" y="5576888"/>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通过苹果零售店、Best Buy等渠道销售,利用苹果品牌背书</a:t>
            </a:r>
            <a:endParaRPr lang="en-US" sz="1600" dirty="0"/>
          </a:p>
        </p:txBody>
      </p:sp>
      <p:sp>
        <p:nvSpPr>
          <p:cNvPr id="35" name="Text 33"/>
          <p:cNvSpPr/>
          <p:nvPr/>
        </p:nvSpPr>
        <p:spPr>
          <a:xfrm>
            <a:off x="495300" y="5878513"/>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精准定位</a:t>
            </a:r>
            <a:endParaRPr lang="en-US" sz="1600" dirty="0"/>
          </a:p>
        </p:txBody>
      </p:sp>
      <p:sp>
        <p:nvSpPr>
          <p:cNvPr id="36" name="Text 34"/>
          <p:cNvSpPr/>
          <p:nvPr/>
        </p:nvSpPr>
        <p:spPr>
          <a:xfrm>
            <a:off x="495300" y="6132513"/>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触达科技爱好者和高收入家庭,建立早期用户基础</a:t>
            </a:r>
            <a:endParaRPr lang="en-US" sz="1600" dirty="0"/>
          </a:p>
        </p:txBody>
      </p:sp>
      <p:sp>
        <p:nvSpPr>
          <p:cNvPr id="37" name="Shape 35"/>
          <p:cNvSpPr/>
          <p:nvPr/>
        </p:nvSpPr>
        <p:spPr>
          <a:xfrm>
            <a:off x="6184900" y="4100513"/>
            <a:ext cx="5692775" cy="2928938"/>
          </a:xfrm>
          <a:custGeom>
            <a:avLst/>
            <a:gdLst/>
            <a:ahLst/>
            <a:cxnLst/>
            <a:rect l="l" t="t" r="r" b="b"/>
            <a:pathLst>
              <a:path w="5692775" h="2928938">
                <a:moveTo>
                  <a:pt x="0" y="0"/>
                </a:moveTo>
                <a:lnTo>
                  <a:pt x="5692775" y="0"/>
                </a:lnTo>
                <a:lnTo>
                  <a:pt x="5692775" y="2928938"/>
                </a:lnTo>
                <a:lnTo>
                  <a:pt x="0" y="2928938"/>
                </a:lnTo>
                <a:lnTo>
                  <a:pt x="0" y="0"/>
                </a:lnTo>
                <a:close/>
              </a:path>
            </a:pathLst>
          </a:custGeom>
          <a:solidFill>
            <a:srgbClr val="3C8082">
              <a:alpha val="14902"/>
            </a:srgbClr>
          </a:solidFill>
          <a:ln/>
        </p:spPr>
      </p:sp>
      <p:sp>
        <p:nvSpPr>
          <p:cNvPr id="38" name="Shape 36"/>
          <p:cNvSpPr/>
          <p:nvPr/>
        </p:nvSpPr>
        <p:spPr>
          <a:xfrm>
            <a:off x="6184900" y="4100513"/>
            <a:ext cx="19050" cy="2928938"/>
          </a:xfrm>
          <a:custGeom>
            <a:avLst/>
            <a:gdLst/>
            <a:ahLst/>
            <a:cxnLst/>
            <a:rect l="l" t="t" r="r" b="b"/>
            <a:pathLst>
              <a:path w="19050" h="2928938">
                <a:moveTo>
                  <a:pt x="0" y="0"/>
                </a:moveTo>
                <a:lnTo>
                  <a:pt x="19050" y="0"/>
                </a:lnTo>
                <a:lnTo>
                  <a:pt x="19050" y="2928938"/>
                </a:lnTo>
                <a:lnTo>
                  <a:pt x="0" y="2928938"/>
                </a:lnTo>
                <a:lnTo>
                  <a:pt x="0" y="0"/>
                </a:lnTo>
                <a:close/>
              </a:path>
            </a:pathLst>
          </a:custGeom>
          <a:solidFill>
            <a:srgbClr val="3C8082"/>
          </a:solidFill>
          <a:ln/>
        </p:spPr>
      </p:sp>
      <p:sp>
        <p:nvSpPr>
          <p:cNvPr id="39" name="Shape 37"/>
          <p:cNvSpPr/>
          <p:nvPr/>
        </p:nvSpPr>
        <p:spPr>
          <a:xfrm>
            <a:off x="6353175" y="4259263"/>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3C8082"/>
          </a:solidFill>
          <a:ln/>
        </p:spPr>
      </p:sp>
      <p:sp>
        <p:nvSpPr>
          <p:cNvPr id="40" name="Text 38"/>
          <p:cNvSpPr/>
          <p:nvPr/>
        </p:nvSpPr>
        <p:spPr>
          <a:xfrm>
            <a:off x="6313488" y="4259263"/>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MiSans" pitchFamily="34" charset="0"/>
                <a:ea typeface="MiSans" pitchFamily="34" charset="-122"/>
                <a:cs typeface="MiSans" pitchFamily="34" charset="-120"/>
              </a:rPr>
              <a:t>04</a:t>
            </a:r>
            <a:endParaRPr lang="en-US" sz="1600" dirty="0"/>
          </a:p>
        </p:txBody>
      </p:sp>
      <p:sp>
        <p:nvSpPr>
          <p:cNvPr id="41" name="Text 39"/>
          <p:cNvSpPr/>
          <p:nvPr/>
        </p:nvSpPr>
        <p:spPr>
          <a:xfrm>
            <a:off x="6829425" y="4338638"/>
            <a:ext cx="714375" cy="222250"/>
          </a:xfrm>
          <a:prstGeom prst="rect">
            <a:avLst/>
          </a:prstGeom>
          <a:noFill/>
          <a:ln/>
        </p:spPr>
        <p:txBody>
          <a:bodyPr wrap="square" lIns="0" tIns="0" rIns="0" bIns="0" rtlCol="0" anchor="ctr"/>
          <a:lstStyle/>
          <a:p>
            <a:pPr>
              <a:lnSpc>
                <a:spcPct val="120000"/>
              </a:lnSpc>
            </a:pPr>
            <a:r>
              <a:rPr lang="en-US" sz="1250" b="1" dirty="0">
                <a:solidFill>
                  <a:srgbClr val="E8E8E8"/>
                </a:solidFill>
                <a:latin typeface="MiSans" pitchFamily="34" charset="0"/>
                <a:ea typeface="MiSans" pitchFamily="34" charset="-122"/>
                <a:cs typeface="MiSans" pitchFamily="34" charset="-120"/>
              </a:rPr>
              <a:t>营销引爆</a:t>
            </a:r>
            <a:endParaRPr lang="en-US" sz="1600" dirty="0"/>
          </a:p>
        </p:txBody>
      </p:sp>
      <p:sp>
        <p:nvSpPr>
          <p:cNvPr id="42" name="Text 40"/>
          <p:cNvSpPr/>
          <p:nvPr/>
        </p:nvSpPr>
        <p:spPr>
          <a:xfrm>
            <a:off x="6353175" y="4767263"/>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口碑传播</a:t>
            </a:r>
            <a:endParaRPr lang="en-US" sz="1600" dirty="0"/>
          </a:p>
        </p:txBody>
      </p:sp>
      <p:sp>
        <p:nvSpPr>
          <p:cNvPr id="43" name="Text 41"/>
          <p:cNvSpPr/>
          <p:nvPr/>
        </p:nvSpPr>
        <p:spPr>
          <a:xfrm>
            <a:off x="6353175" y="5021263"/>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科技爱好者通过社交媒体分享使用体验,形成病毒式传播</a:t>
            </a:r>
            <a:endParaRPr lang="en-US" sz="1600" dirty="0"/>
          </a:p>
        </p:txBody>
      </p:sp>
      <p:sp>
        <p:nvSpPr>
          <p:cNvPr id="44" name="Text 42"/>
          <p:cNvSpPr/>
          <p:nvPr/>
        </p:nvSpPr>
        <p:spPr>
          <a:xfrm>
            <a:off x="6353175" y="5322888"/>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KOL合作</a:t>
            </a:r>
            <a:endParaRPr lang="en-US" sz="1600" dirty="0"/>
          </a:p>
        </p:txBody>
      </p:sp>
      <p:sp>
        <p:nvSpPr>
          <p:cNvPr id="45" name="Text 43"/>
          <p:cNvSpPr/>
          <p:nvPr/>
        </p:nvSpPr>
        <p:spPr>
          <a:xfrm>
            <a:off x="6353175" y="5576888"/>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与科技博主(如MKBHD)合作测评,突出易用性和设计美感</a:t>
            </a:r>
            <a:endParaRPr lang="en-US" sz="1600" dirty="0"/>
          </a:p>
        </p:txBody>
      </p:sp>
      <p:sp>
        <p:nvSpPr>
          <p:cNvPr id="48" name="Shape 46"/>
          <p:cNvSpPr/>
          <p:nvPr/>
        </p:nvSpPr>
        <p:spPr>
          <a:xfrm>
            <a:off x="327025" y="7185023"/>
            <a:ext cx="11550650" cy="746125"/>
          </a:xfrm>
          <a:custGeom>
            <a:avLst/>
            <a:gdLst/>
            <a:ahLst/>
            <a:cxnLst/>
            <a:rect l="l" t="t" r="r" b="b"/>
            <a:pathLst>
              <a:path w="11550650" h="746125">
                <a:moveTo>
                  <a:pt x="0" y="0"/>
                </a:moveTo>
                <a:lnTo>
                  <a:pt x="11550650" y="0"/>
                </a:lnTo>
                <a:lnTo>
                  <a:pt x="11550650" y="746125"/>
                </a:lnTo>
                <a:lnTo>
                  <a:pt x="0" y="746125"/>
                </a:lnTo>
                <a:lnTo>
                  <a:pt x="0" y="0"/>
                </a:lnTo>
                <a:close/>
              </a:path>
            </a:pathLst>
          </a:custGeom>
          <a:solidFill>
            <a:srgbClr val="D9A477">
              <a:alpha val="14902"/>
            </a:srgbClr>
          </a:solidFill>
          <a:ln/>
        </p:spPr>
      </p:sp>
      <p:sp>
        <p:nvSpPr>
          <p:cNvPr id="49" name="Shape 47"/>
          <p:cNvSpPr/>
          <p:nvPr/>
        </p:nvSpPr>
        <p:spPr>
          <a:xfrm>
            <a:off x="327025" y="7185023"/>
            <a:ext cx="19050" cy="746125"/>
          </a:xfrm>
          <a:custGeom>
            <a:avLst/>
            <a:gdLst/>
            <a:ahLst/>
            <a:cxnLst/>
            <a:rect l="l" t="t" r="r" b="b"/>
            <a:pathLst>
              <a:path w="19050" h="746125">
                <a:moveTo>
                  <a:pt x="0" y="0"/>
                </a:moveTo>
                <a:lnTo>
                  <a:pt x="19050" y="0"/>
                </a:lnTo>
                <a:lnTo>
                  <a:pt x="19050" y="746125"/>
                </a:lnTo>
                <a:lnTo>
                  <a:pt x="0" y="746125"/>
                </a:lnTo>
                <a:lnTo>
                  <a:pt x="0" y="0"/>
                </a:lnTo>
                <a:close/>
              </a:path>
            </a:pathLst>
          </a:custGeom>
          <a:solidFill>
            <a:srgbClr val="D9A477"/>
          </a:solidFill>
          <a:ln/>
        </p:spPr>
      </p:sp>
      <p:sp>
        <p:nvSpPr>
          <p:cNvPr id="50" name="Shape 48"/>
          <p:cNvSpPr/>
          <p:nvPr/>
        </p:nvSpPr>
        <p:spPr>
          <a:xfrm>
            <a:off x="525066" y="7439023"/>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D9A477"/>
          </a:solidFill>
          <a:ln/>
        </p:spPr>
      </p:sp>
      <p:sp>
        <p:nvSpPr>
          <p:cNvPr id="51" name="Text 49"/>
          <p:cNvSpPr/>
          <p:nvPr/>
        </p:nvSpPr>
        <p:spPr>
          <a:xfrm>
            <a:off x="888206" y="7312023"/>
            <a:ext cx="10937875" cy="222250"/>
          </a:xfrm>
          <a:prstGeom prst="rect">
            <a:avLst/>
          </a:prstGeom>
          <a:noFill/>
          <a:ln/>
        </p:spPr>
        <p:txBody>
          <a:bodyPr wrap="square" lIns="0" tIns="0" rIns="0" bIns="0" rtlCol="0" anchor="ctr"/>
          <a:lstStyle/>
          <a:p>
            <a:pPr>
              <a:lnSpc>
                <a:spcPct val="120000"/>
              </a:lnSpc>
            </a:pPr>
            <a:r>
              <a:rPr lang="en-US" sz="1250" b="1" dirty="0">
                <a:solidFill>
                  <a:srgbClr val="E8E8E8"/>
                </a:solidFill>
                <a:latin typeface="MiSans" pitchFamily="34" charset="0"/>
                <a:ea typeface="MiSans" pitchFamily="34" charset="-122"/>
                <a:cs typeface="MiSans" pitchFamily="34" charset="-120"/>
              </a:rPr>
              <a:t>战略协同效应</a:t>
            </a:r>
            <a:endParaRPr lang="en-US" sz="1600" dirty="0"/>
          </a:p>
        </p:txBody>
      </p:sp>
      <p:sp>
        <p:nvSpPr>
          <p:cNvPr id="52" name="Text 50"/>
          <p:cNvSpPr/>
          <p:nvPr/>
        </p:nvSpPr>
        <p:spPr>
          <a:xfrm>
            <a:off x="888206" y="7597773"/>
            <a:ext cx="1092200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四大举措形成</a:t>
            </a:r>
            <a:r>
              <a:rPr lang="en-US" sz="1000" b="1" dirty="0">
                <a:solidFill>
                  <a:srgbClr val="D9A477"/>
                </a:solidFill>
                <a:latin typeface="MiSans" pitchFamily="34" charset="0"/>
                <a:ea typeface="MiSans" pitchFamily="34" charset="-122"/>
                <a:cs typeface="MiSans" pitchFamily="34" charset="-120"/>
              </a:rPr>
              <a:t>完整的战略闭环</a:t>
            </a:r>
            <a:r>
              <a:rPr lang="en-US" sz="1000" dirty="0">
                <a:solidFill>
                  <a:srgbClr val="E8E8E8">
                    <a:alpha val="85000"/>
                  </a:srgbClr>
                </a:solidFill>
                <a:latin typeface="MiSans" pitchFamily="34" charset="0"/>
                <a:ea typeface="MiSans" pitchFamily="34" charset="-122"/>
                <a:cs typeface="MiSans" pitchFamily="34" charset="-120"/>
              </a:rPr>
              <a:t>:产品差异化建立护城河→定价策略传递价值感知→渠道创新避开正面竞争→营销引爆快速获客。每个环节相互支撑,共同推动Nest从挑战者成长为领导者。</a:t>
            </a:r>
            <a:endParaRPr lang="en-US" sz="1600" dirty="0"/>
          </a:p>
        </p:txBody>
      </p:sp>
      <p:sp>
        <p:nvSpPr>
          <p:cNvPr id="53" name="Text 44"/>
          <p:cNvSpPr/>
          <p:nvPr/>
        </p:nvSpPr>
        <p:spPr>
          <a:xfrm>
            <a:off x="495300" y="3309937"/>
            <a:ext cx="5429250" cy="190500"/>
          </a:xfrm>
          <a:prstGeom prst="rect">
            <a:avLst/>
          </a:prstGeom>
          <a:noFill/>
          <a:ln/>
        </p:spPr>
        <p:txBody>
          <a:bodyPr wrap="square" lIns="0" tIns="0" rIns="0" bIns="0" rtlCol="0" anchor="ctr"/>
          <a:lstStyle/>
          <a:p>
            <a:pPr>
              <a:lnSpc>
                <a:spcPct val="130000"/>
              </a:lnSpc>
            </a:pPr>
            <a:r>
              <a:rPr lang="en-US" sz="1000" b="1" dirty="0">
                <a:solidFill>
                  <a:srgbClr val="E8E8E8"/>
                </a:solidFill>
                <a:latin typeface="MiSans" pitchFamily="34" charset="0"/>
                <a:ea typeface="MiSans" pitchFamily="34" charset="-122"/>
                <a:cs typeface="MiSans" pitchFamily="34" charset="-120"/>
              </a:rPr>
              <a:t>快速迭代与生态扩展</a:t>
            </a:r>
            <a:endParaRPr lang="en-US" sz="1600" dirty="0"/>
          </a:p>
        </p:txBody>
      </p:sp>
      <p:sp>
        <p:nvSpPr>
          <p:cNvPr id="54" name="Text 45"/>
          <p:cNvSpPr/>
          <p:nvPr/>
        </p:nvSpPr>
        <p:spPr>
          <a:xfrm>
            <a:off x="495300" y="3563937"/>
            <a:ext cx="5429250" cy="206375"/>
          </a:xfrm>
          <a:prstGeom prst="rect">
            <a:avLst/>
          </a:prstGeom>
          <a:noFill/>
          <a:ln/>
        </p:spPr>
        <p:txBody>
          <a:bodyPr wrap="square" lIns="0" tIns="0" rIns="0" bIns="0" rtlCol="0" anchor="ctr"/>
          <a:lstStyle/>
          <a:p>
            <a:pPr>
              <a:lnSpc>
                <a:spcPct val="140000"/>
              </a:lnSpc>
            </a:pPr>
            <a:r>
              <a:rPr lang="en-US" sz="1000" dirty="0">
                <a:solidFill>
                  <a:srgbClr val="E8E8E8">
                    <a:alpha val="85000"/>
                  </a:srgbClr>
                </a:solidFill>
                <a:latin typeface="MiSans" pitchFamily="34" charset="0"/>
                <a:ea typeface="MiSans" pitchFamily="34" charset="-122"/>
                <a:cs typeface="MiSans" pitchFamily="34" charset="-120"/>
              </a:rPr>
              <a:t>OTA升级持续优化算法,2012年推出API接口构建智能家居生态</a:t>
            </a:r>
            <a:endParaRPr lang="en-US" sz="1600" dirty="0"/>
          </a:p>
        </p:txBody>
      </p:sp>
      <p:sp>
        <p:nvSpPr>
          <p:cNvPr id="56" name="Text 42"/>
          <p:cNvSpPr/>
          <p:nvPr/>
        </p:nvSpPr>
        <p:spPr>
          <a:xfrm>
            <a:off x="6344744" y="5900088"/>
            <a:ext cx="5429250" cy="190500"/>
          </a:xfrm>
          <a:prstGeom prst="rect">
            <a:avLst/>
          </a:prstGeom>
          <a:noFill/>
          <a:ln/>
        </p:spPr>
        <p:txBody>
          <a:bodyPr wrap="square" lIns="0" tIns="0" rIns="0" bIns="0" rtlCol="0" anchor="ctr"/>
          <a:lstStyle/>
          <a:p>
            <a:pPr>
              <a:lnSpc>
                <a:spcPct val="130000"/>
              </a:lnSpc>
            </a:pPr>
            <a:r>
              <a:rPr lang="zh-CN" altLang="en-US" sz="1000" b="1" dirty="0" smtClean="0">
                <a:solidFill>
                  <a:srgbClr val="E8E8E8"/>
                </a:solidFill>
                <a:latin typeface="MiSans" pitchFamily="34" charset="0"/>
                <a:ea typeface="MiSans" pitchFamily="34" charset="-122"/>
                <a:cs typeface="MiSans" pitchFamily="34" charset="-120"/>
              </a:rPr>
              <a:t>环保叙事</a:t>
            </a:r>
            <a:endParaRPr lang="en-US" sz="1600" dirty="0"/>
          </a:p>
        </p:txBody>
      </p:sp>
      <p:sp>
        <p:nvSpPr>
          <p:cNvPr id="57" name="Text 43"/>
          <p:cNvSpPr/>
          <p:nvPr/>
        </p:nvSpPr>
        <p:spPr>
          <a:xfrm>
            <a:off x="6358157" y="6099770"/>
            <a:ext cx="5429250" cy="206375"/>
          </a:xfrm>
          <a:prstGeom prst="rect">
            <a:avLst/>
          </a:prstGeom>
          <a:noFill/>
          <a:ln/>
        </p:spPr>
        <p:txBody>
          <a:bodyPr wrap="square" lIns="0" tIns="0" rIns="0" bIns="0" rtlCol="0" anchor="ctr"/>
          <a:lstStyle/>
          <a:p>
            <a:pPr>
              <a:lnSpc>
                <a:spcPct val="140000"/>
              </a:lnSpc>
            </a:pPr>
            <a:r>
              <a:rPr lang="zh-CN" altLang="en-US" sz="1000" dirty="0" smtClean="0">
                <a:solidFill>
                  <a:srgbClr val="E8E8E8">
                    <a:alpha val="85000"/>
                  </a:srgbClr>
                </a:solidFill>
                <a:latin typeface="MiSans" pitchFamily="34" charset="0"/>
                <a:ea typeface="MiSans" pitchFamily="34" charset="-122"/>
                <a:cs typeface="MiSans" pitchFamily="34" charset="-120"/>
              </a:rPr>
              <a:t>环保叙事‌：强调产品对减少碳排放的贡献，吸引环保意识较强的消费者。</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210" dirty="0">
                <a:solidFill>
                  <a:srgbClr val="D9A477"/>
                </a:solidFill>
                <a:latin typeface="MiSans" pitchFamily="34" charset="0"/>
                <a:ea typeface="MiSans" pitchFamily="34" charset="-122"/>
                <a:cs typeface="MiSans" pitchFamily="34" charset="-120"/>
              </a:rPr>
              <a:t>Complete Blueprint</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E8E8E8"/>
                </a:solidFill>
                <a:latin typeface="MiSans" pitchFamily="34" charset="0"/>
                <a:ea typeface="MiSans" pitchFamily="34" charset="-122"/>
                <a:cs typeface="MiSans" pitchFamily="34" charset="-120"/>
              </a:rPr>
              <a:t>完整打法:从起步到巩固的全面策略</a:t>
            </a:r>
            <a:endParaRPr lang="en-US" sz="1600" dirty="0"/>
          </a:p>
        </p:txBody>
      </p:sp>
      <p:sp>
        <p:nvSpPr>
          <p:cNvPr id="4" name="Shape 2"/>
          <p:cNvSpPr/>
          <p:nvPr/>
        </p:nvSpPr>
        <p:spPr>
          <a:xfrm>
            <a:off x="392430" y="1219200"/>
            <a:ext cx="3669030" cy="4152900"/>
          </a:xfrm>
          <a:custGeom>
            <a:avLst/>
            <a:gdLst/>
            <a:ahLst/>
            <a:cxnLst/>
            <a:rect l="l" t="t" r="r" b="b"/>
            <a:pathLst>
              <a:path w="3669030" h="4152900">
                <a:moveTo>
                  <a:pt x="0" y="0"/>
                </a:moveTo>
                <a:lnTo>
                  <a:pt x="3669030" y="0"/>
                </a:lnTo>
                <a:lnTo>
                  <a:pt x="3669030" y="4152900"/>
                </a:lnTo>
                <a:lnTo>
                  <a:pt x="0" y="4152900"/>
                </a:lnTo>
                <a:lnTo>
                  <a:pt x="0" y="0"/>
                </a:lnTo>
                <a:close/>
              </a:path>
            </a:pathLst>
          </a:custGeom>
          <a:solidFill>
            <a:srgbClr val="6D7275">
              <a:alpha val="14902"/>
            </a:srgbClr>
          </a:solidFill>
          <a:ln/>
        </p:spPr>
      </p:sp>
      <p:sp>
        <p:nvSpPr>
          <p:cNvPr id="5" name="Shape 3"/>
          <p:cNvSpPr/>
          <p:nvPr/>
        </p:nvSpPr>
        <p:spPr>
          <a:xfrm>
            <a:off x="392430" y="1219200"/>
            <a:ext cx="22860" cy="4152900"/>
          </a:xfrm>
          <a:custGeom>
            <a:avLst/>
            <a:gdLst/>
            <a:ahLst/>
            <a:cxnLst/>
            <a:rect l="l" t="t" r="r" b="b"/>
            <a:pathLst>
              <a:path w="22860" h="4152900">
                <a:moveTo>
                  <a:pt x="0" y="0"/>
                </a:moveTo>
                <a:lnTo>
                  <a:pt x="22860" y="0"/>
                </a:lnTo>
                <a:lnTo>
                  <a:pt x="22860" y="4152900"/>
                </a:lnTo>
                <a:lnTo>
                  <a:pt x="0" y="4152900"/>
                </a:lnTo>
                <a:lnTo>
                  <a:pt x="0" y="0"/>
                </a:lnTo>
                <a:close/>
              </a:path>
            </a:pathLst>
          </a:custGeom>
          <a:solidFill>
            <a:srgbClr val="6D7275"/>
          </a:solidFill>
          <a:ln/>
        </p:spPr>
      </p:sp>
      <p:sp>
        <p:nvSpPr>
          <p:cNvPr id="6" name="Shape 4"/>
          <p:cNvSpPr/>
          <p:nvPr/>
        </p:nvSpPr>
        <p:spPr>
          <a:xfrm>
            <a:off x="594360" y="140970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6D7275"/>
          </a:solidFill>
          <a:ln/>
        </p:spPr>
      </p:sp>
      <p:sp>
        <p:nvSpPr>
          <p:cNvPr id="7" name="Text 5"/>
          <p:cNvSpPr/>
          <p:nvPr/>
        </p:nvSpPr>
        <p:spPr>
          <a:xfrm>
            <a:off x="537210" y="1409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01</a:t>
            </a:r>
            <a:endParaRPr lang="en-US" sz="1600" dirty="0"/>
          </a:p>
        </p:txBody>
      </p:sp>
      <p:sp>
        <p:nvSpPr>
          <p:cNvPr id="8" name="Text 6"/>
          <p:cNvSpPr/>
          <p:nvPr/>
        </p:nvSpPr>
        <p:spPr>
          <a:xfrm>
            <a:off x="1242060" y="1524000"/>
            <a:ext cx="1028700" cy="304800"/>
          </a:xfrm>
          <a:prstGeom prst="rect">
            <a:avLst/>
          </a:prstGeom>
          <a:noFill/>
          <a:ln/>
        </p:spPr>
        <p:txBody>
          <a:bodyPr wrap="square" lIns="0" tIns="0" rIns="0" bIns="0" rtlCol="0" anchor="ctr"/>
          <a:lstStyle/>
          <a:p>
            <a:pPr>
              <a:lnSpc>
                <a:spcPct val="110000"/>
              </a:lnSpc>
            </a:pPr>
            <a:r>
              <a:rPr lang="en-US" sz="1800" b="1" dirty="0">
                <a:solidFill>
                  <a:srgbClr val="E8E8E8"/>
                </a:solidFill>
                <a:latin typeface="MiSans" pitchFamily="34" charset="0"/>
                <a:ea typeface="MiSans" pitchFamily="34" charset="-122"/>
                <a:cs typeface="MiSans" pitchFamily="34" charset="-120"/>
              </a:rPr>
              <a:t>起步阶段</a:t>
            </a:r>
            <a:endParaRPr lang="en-US" sz="1600" dirty="0"/>
          </a:p>
        </p:txBody>
      </p:sp>
      <p:sp>
        <p:nvSpPr>
          <p:cNvPr id="9" name="Shape 7"/>
          <p:cNvSpPr/>
          <p:nvPr/>
        </p:nvSpPr>
        <p:spPr>
          <a:xfrm>
            <a:off x="603885" y="217170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D9A477"/>
          </a:solidFill>
          <a:ln/>
        </p:spPr>
      </p:sp>
      <p:sp>
        <p:nvSpPr>
          <p:cNvPr id="10" name="Text 8"/>
          <p:cNvSpPr/>
          <p:nvPr/>
        </p:nvSpPr>
        <p:spPr>
          <a:xfrm>
            <a:off x="784860" y="21336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做好产品</a:t>
            </a:r>
            <a:endParaRPr lang="en-US" sz="1600" dirty="0"/>
          </a:p>
        </p:txBody>
      </p:sp>
      <p:sp>
        <p:nvSpPr>
          <p:cNvPr id="11" name="Text 9"/>
          <p:cNvSpPr/>
          <p:nvPr/>
        </p:nvSpPr>
        <p:spPr>
          <a:xfrm>
            <a:off x="594360" y="24384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技术差异化+工业设计+用户体验优化</a:t>
            </a:r>
            <a:endParaRPr lang="en-US" sz="1600" dirty="0"/>
          </a:p>
        </p:txBody>
      </p:sp>
      <p:sp>
        <p:nvSpPr>
          <p:cNvPr id="12" name="Shape 10"/>
          <p:cNvSpPr/>
          <p:nvPr/>
        </p:nvSpPr>
        <p:spPr>
          <a:xfrm>
            <a:off x="641985" y="2781300"/>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D9A477"/>
          </a:solidFill>
          <a:ln/>
        </p:spPr>
      </p:sp>
      <p:sp>
        <p:nvSpPr>
          <p:cNvPr id="13" name="Text 11"/>
          <p:cNvSpPr/>
          <p:nvPr/>
        </p:nvSpPr>
        <p:spPr>
          <a:xfrm>
            <a:off x="784860" y="27432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价值定价</a:t>
            </a:r>
            <a:endParaRPr lang="en-US" sz="1600" dirty="0"/>
          </a:p>
        </p:txBody>
      </p:sp>
      <p:sp>
        <p:nvSpPr>
          <p:cNvPr id="14" name="Text 12"/>
          <p:cNvSpPr/>
          <p:nvPr/>
        </p:nvSpPr>
        <p:spPr>
          <a:xfrm>
            <a:off x="594360" y="30480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$249定价,通过节能回报强化价值感知</a:t>
            </a:r>
            <a:endParaRPr lang="en-US" sz="1600" dirty="0"/>
          </a:p>
        </p:txBody>
      </p:sp>
      <p:sp>
        <p:nvSpPr>
          <p:cNvPr id="15" name="Shape 13"/>
          <p:cNvSpPr/>
          <p:nvPr/>
        </p:nvSpPr>
        <p:spPr>
          <a:xfrm>
            <a:off x="594360" y="3390900"/>
            <a:ext cx="190500" cy="152400"/>
          </a:xfrm>
          <a:custGeom>
            <a:avLst/>
            <a:gdLst/>
            <a:ahLst/>
            <a:cxnLst/>
            <a:rect l="l" t="t" r="r" b="b"/>
            <a:pathLst>
              <a:path w="190500" h="152400">
                <a:moveTo>
                  <a:pt x="7144" y="-4762"/>
                </a:moveTo>
                <a:cubicBezTo>
                  <a:pt x="3185" y="-4762"/>
                  <a:pt x="0" y="-1578"/>
                  <a:pt x="0" y="2381"/>
                </a:cubicBezTo>
                <a:cubicBezTo>
                  <a:pt x="0" y="6340"/>
                  <a:pt x="3185" y="9525"/>
                  <a:pt x="7144" y="9525"/>
                </a:cubicBezTo>
                <a:lnTo>
                  <a:pt x="20628" y="9525"/>
                </a:lnTo>
                <a:cubicBezTo>
                  <a:pt x="21788" y="9525"/>
                  <a:pt x="22771" y="10358"/>
                  <a:pt x="22979" y="11490"/>
                </a:cubicBezTo>
                <a:lnTo>
                  <a:pt x="38487" y="96709"/>
                </a:lnTo>
                <a:cubicBezTo>
                  <a:pt x="40332" y="106888"/>
                  <a:pt x="49203" y="114300"/>
                  <a:pt x="59561" y="114300"/>
                </a:cubicBezTo>
                <a:lnTo>
                  <a:pt x="135731" y="114300"/>
                </a:lnTo>
                <a:cubicBezTo>
                  <a:pt x="139690" y="114300"/>
                  <a:pt x="142875" y="111115"/>
                  <a:pt x="142875" y="107156"/>
                </a:cubicBezTo>
                <a:cubicBezTo>
                  <a:pt x="142875" y="103197"/>
                  <a:pt x="139690" y="100013"/>
                  <a:pt x="135731" y="100013"/>
                </a:cubicBezTo>
                <a:lnTo>
                  <a:pt x="59561" y="100013"/>
                </a:lnTo>
                <a:cubicBezTo>
                  <a:pt x="56108" y="100013"/>
                  <a:pt x="53161" y="97542"/>
                  <a:pt x="52536" y="94149"/>
                </a:cubicBezTo>
                <a:lnTo>
                  <a:pt x="51018" y="85725"/>
                </a:lnTo>
                <a:lnTo>
                  <a:pt x="141387" y="85725"/>
                </a:lnTo>
                <a:cubicBezTo>
                  <a:pt x="150555" y="85725"/>
                  <a:pt x="158413" y="79206"/>
                  <a:pt x="160109" y="70187"/>
                </a:cubicBezTo>
                <a:lnTo>
                  <a:pt x="169337" y="20806"/>
                </a:lnTo>
                <a:cubicBezTo>
                  <a:pt x="170438" y="14942"/>
                  <a:pt x="165943" y="9525"/>
                  <a:pt x="159960" y="9525"/>
                </a:cubicBezTo>
                <a:lnTo>
                  <a:pt x="37118" y="9525"/>
                </a:lnTo>
                <a:lnTo>
                  <a:pt x="36999" y="8930"/>
                </a:lnTo>
                <a:cubicBezTo>
                  <a:pt x="35570" y="1012"/>
                  <a:pt x="28664" y="-4762"/>
                  <a:pt x="20598" y="-4762"/>
                </a:cubicBezTo>
                <a:lnTo>
                  <a:pt x="7144" y="-4762"/>
                </a:lnTo>
                <a:close/>
                <a:moveTo>
                  <a:pt x="61912" y="152400"/>
                </a:moveTo>
                <a:cubicBezTo>
                  <a:pt x="69798" y="152400"/>
                  <a:pt x="76200" y="145998"/>
                  <a:pt x="76200" y="138113"/>
                </a:cubicBezTo>
                <a:cubicBezTo>
                  <a:pt x="76200" y="130227"/>
                  <a:pt x="69798" y="123825"/>
                  <a:pt x="61912" y="123825"/>
                </a:cubicBezTo>
                <a:cubicBezTo>
                  <a:pt x="54027" y="123825"/>
                  <a:pt x="47625" y="130227"/>
                  <a:pt x="47625" y="138113"/>
                </a:cubicBezTo>
                <a:cubicBezTo>
                  <a:pt x="47625" y="145998"/>
                  <a:pt x="54027" y="152400"/>
                  <a:pt x="61912" y="152400"/>
                </a:cubicBezTo>
                <a:close/>
                <a:moveTo>
                  <a:pt x="128588" y="152400"/>
                </a:moveTo>
                <a:cubicBezTo>
                  <a:pt x="136473" y="152400"/>
                  <a:pt x="142875" y="145998"/>
                  <a:pt x="142875" y="138113"/>
                </a:cubicBezTo>
                <a:cubicBezTo>
                  <a:pt x="142875" y="130227"/>
                  <a:pt x="136473" y="123825"/>
                  <a:pt x="128588" y="123825"/>
                </a:cubicBezTo>
                <a:cubicBezTo>
                  <a:pt x="120702" y="123825"/>
                  <a:pt x="114300" y="130227"/>
                  <a:pt x="114300" y="138113"/>
                </a:cubicBezTo>
                <a:cubicBezTo>
                  <a:pt x="114300" y="145998"/>
                  <a:pt x="120702" y="152400"/>
                  <a:pt x="128588" y="152400"/>
                </a:cubicBezTo>
                <a:close/>
              </a:path>
            </a:pathLst>
          </a:custGeom>
          <a:solidFill>
            <a:srgbClr val="D9A477"/>
          </a:solidFill>
          <a:ln/>
        </p:spPr>
      </p:sp>
      <p:sp>
        <p:nvSpPr>
          <p:cNvPr id="16" name="Text 14"/>
          <p:cNvSpPr/>
          <p:nvPr/>
        </p:nvSpPr>
        <p:spPr>
          <a:xfrm>
            <a:off x="784860" y="33528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渠道创新</a:t>
            </a:r>
            <a:endParaRPr lang="en-US" sz="1600" dirty="0"/>
          </a:p>
        </p:txBody>
      </p:sp>
      <p:sp>
        <p:nvSpPr>
          <p:cNvPr id="17" name="Text 15"/>
          <p:cNvSpPr/>
          <p:nvPr/>
        </p:nvSpPr>
        <p:spPr>
          <a:xfrm>
            <a:off x="594360" y="36576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苹果零售店+Best Buy,避开传统建材渠道</a:t>
            </a:r>
            <a:endParaRPr lang="en-US" sz="1600" dirty="0"/>
          </a:p>
        </p:txBody>
      </p:sp>
      <p:sp>
        <p:nvSpPr>
          <p:cNvPr id="18" name="Shape 16"/>
          <p:cNvSpPr/>
          <p:nvPr/>
        </p:nvSpPr>
        <p:spPr>
          <a:xfrm>
            <a:off x="613410" y="4000500"/>
            <a:ext cx="152400" cy="152400"/>
          </a:xfrm>
          <a:custGeom>
            <a:avLst/>
            <a:gdLst/>
            <a:ahLst/>
            <a:cxnLst/>
            <a:rect l="l" t="t" r="r" b="b"/>
            <a:pathLst>
              <a:path w="152400" h="152400">
                <a:moveTo>
                  <a:pt x="137279" y="5626"/>
                </a:moveTo>
                <a:cubicBezTo>
                  <a:pt x="140702" y="7144"/>
                  <a:pt x="142875" y="10537"/>
                  <a:pt x="142875" y="14288"/>
                </a:cubicBezTo>
                <a:lnTo>
                  <a:pt x="142875" y="138113"/>
                </a:lnTo>
                <a:cubicBezTo>
                  <a:pt x="142875" y="141863"/>
                  <a:pt x="140702" y="145256"/>
                  <a:pt x="137279" y="146774"/>
                </a:cubicBezTo>
                <a:cubicBezTo>
                  <a:pt x="133856" y="148292"/>
                  <a:pt x="129897" y="147727"/>
                  <a:pt x="127069" y="145256"/>
                </a:cubicBezTo>
                <a:lnTo>
                  <a:pt x="113199" y="133142"/>
                </a:lnTo>
                <a:cubicBezTo>
                  <a:pt x="100221" y="121801"/>
                  <a:pt x="83820" y="115193"/>
                  <a:pt x="66645" y="114389"/>
                </a:cubicBezTo>
                <a:lnTo>
                  <a:pt x="66645" y="142875"/>
                </a:lnTo>
                <a:cubicBezTo>
                  <a:pt x="66645" y="148144"/>
                  <a:pt x="62389" y="152400"/>
                  <a:pt x="57120" y="152400"/>
                </a:cubicBezTo>
                <a:lnTo>
                  <a:pt x="47595" y="152400"/>
                </a:lnTo>
                <a:cubicBezTo>
                  <a:pt x="42327" y="152400"/>
                  <a:pt x="38070" y="148144"/>
                  <a:pt x="38070" y="142875"/>
                </a:cubicBezTo>
                <a:lnTo>
                  <a:pt x="38070" y="114300"/>
                </a:lnTo>
                <a:cubicBezTo>
                  <a:pt x="17056" y="114300"/>
                  <a:pt x="0" y="97244"/>
                  <a:pt x="0" y="76200"/>
                </a:cubicBezTo>
                <a:cubicBezTo>
                  <a:pt x="0" y="55156"/>
                  <a:pt x="17056" y="38100"/>
                  <a:pt x="38100" y="38100"/>
                </a:cubicBezTo>
                <a:lnTo>
                  <a:pt x="63252" y="38100"/>
                </a:lnTo>
                <a:cubicBezTo>
                  <a:pt x="81647" y="38040"/>
                  <a:pt x="99387" y="31343"/>
                  <a:pt x="113228" y="19258"/>
                </a:cubicBezTo>
                <a:lnTo>
                  <a:pt x="127099" y="7144"/>
                </a:lnTo>
                <a:cubicBezTo>
                  <a:pt x="129897" y="4673"/>
                  <a:pt x="133916" y="4108"/>
                  <a:pt x="137309" y="5626"/>
                </a:cubicBezTo>
                <a:close/>
                <a:moveTo>
                  <a:pt x="66675" y="95250"/>
                </a:moveTo>
                <a:lnTo>
                  <a:pt x="66675" y="95310"/>
                </a:lnTo>
                <a:cubicBezTo>
                  <a:pt x="87600" y="96113"/>
                  <a:pt x="107692" y="103793"/>
                  <a:pt x="123825" y="117157"/>
                </a:cubicBezTo>
                <a:lnTo>
                  <a:pt x="123825" y="35213"/>
                </a:lnTo>
                <a:cubicBezTo>
                  <a:pt x="107692" y="48578"/>
                  <a:pt x="87600" y="56257"/>
                  <a:pt x="66675" y="57061"/>
                </a:cubicBezTo>
                <a:lnTo>
                  <a:pt x="66675" y="95250"/>
                </a:lnTo>
                <a:close/>
              </a:path>
            </a:pathLst>
          </a:custGeom>
          <a:solidFill>
            <a:srgbClr val="D9A477"/>
          </a:solidFill>
          <a:ln/>
        </p:spPr>
      </p:sp>
      <p:sp>
        <p:nvSpPr>
          <p:cNvPr id="19" name="Text 17"/>
          <p:cNvSpPr/>
          <p:nvPr/>
        </p:nvSpPr>
        <p:spPr>
          <a:xfrm>
            <a:off x="784860" y="39624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营销引爆</a:t>
            </a:r>
            <a:endParaRPr lang="en-US" sz="1600" dirty="0"/>
          </a:p>
        </p:txBody>
      </p:sp>
      <p:sp>
        <p:nvSpPr>
          <p:cNvPr id="20" name="Text 18"/>
          <p:cNvSpPr/>
          <p:nvPr/>
        </p:nvSpPr>
        <p:spPr>
          <a:xfrm>
            <a:off x="594360" y="42672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口碑传播+KOL合作+环保叙事</a:t>
            </a:r>
            <a:endParaRPr lang="en-US" sz="1600" dirty="0"/>
          </a:p>
        </p:txBody>
      </p:sp>
      <p:sp>
        <p:nvSpPr>
          <p:cNvPr id="21" name="Shape 19"/>
          <p:cNvSpPr/>
          <p:nvPr/>
        </p:nvSpPr>
        <p:spPr>
          <a:xfrm>
            <a:off x="613410" y="4610100"/>
            <a:ext cx="152400" cy="152400"/>
          </a:xfrm>
          <a:custGeom>
            <a:avLst/>
            <a:gdLst/>
            <a:ahLst/>
            <a:cxnLst/>
            <a:rect l="l" t="t" r="r" b="b"/>
            <a:pathLst>
              <a:path w="152400" h="152400">
                <a:moveTo>
                  <a:pt x="142905" y="57150"/>
                </a:moveTo>
                <a:lnTo>
                  <a:pt x="145256" y="57150"/>
                </a:lnTo>
                <a:cubicBezTo>
                  <a:pt x="149215" y="57150"/>
                  <a:pt x="152400" y="53965"/>
                  <a:pt x="152400" y="50006"/>
                </a:cubicBezTo>
                <a:lnTo>
                  <a:pt x="152400" y="7144"/>
                </a:lnTo>
                <a:cubicBezTo>
                  <a:pt x="152400" y="4256"/>
                  <a:pt x="150674" y="1637"/>
                  <a:pt x="147995" y="536"/>
                </a:cubicBezTo>
                <a:cubicBezTo>
                  <a:pt x="145316" y="-566"/>
                  <a:pt x="142250" y="60"/>
                  <a:pt x="140196" y="2084"/>
                </a:cubicBezTo>
                <a:lnTo>
                  <a:pt x="124807" y="17502"/>
                </a:lnTo>
                <a:cubicBezTo>
                  <a:pt x="111621" y="6578"/>
                  <a:pt x="94655" y="0"/>
                  <a:pt x="76200" y="0"/>
                </a:cubicBezTo>
                <a:cubicBezTo>
                  <a:pt x="37802" y="0"/>
                  <a:pt x="6042" y="28396"/>
                  <a:pt x="774" y="65336"/>
                </a:cubicBezTo>
                <a:cubicBezTo>
                  <a:pt x="30" y="70545"/>
                  <a:pt x="3631" y="75367"/>
                  <a:pt x="8840" y="76111"/>
                </a:cubicBezTo>
                <a:cubicBezTo>
                  <a:pt x="14049" y="76855"/>
                  <a:pt x="18871" y="73223"/>
                  <a:pt x="19616" y="68044"/>
                </a:cubicBezTo>
                <a:cubicBezTo>
                  <a:pt x="23574" y="40332"/>
                  <a:pt x="47417" y="19050"/>
                  <a:pt x="76200" y="19050"/>
                </a:cubicBezTo>
                <a:cubicBezTo>
                  <a:pt x="89416" y="19050"/>
                  <a:pt x="101560" y="23515"/>
                  <a:pt x="111234" y="31046"/>
                </a:cubicBezTo>
                <a:lnTo>
                  <a:pt x="97334" y="44946"/>
                </a:lnTo>
                <a:cubicBezTo>
                  <a:pt x="95280" y="47000"/>
                  <a:pt x="94684" y="50066"/>
                  <a:pt x="95786" y="52745"/>
                </a:cubicBezTo>
                <a:cubicBezTo>
                  <a:pt x="96887" y="55424"/>
                  <a:pt x="99506" y="57150"/>
                  <a:pt x="102394" y="57150"/>
                </a:cubicBezTo>
                <a:lnTo>
                  <a:pt x="142905" y="57150"/>
                </a:lnTo>
                <a:close/>
                <a:moveTo>
                  <a:pt x="151656" y="87064"/>
                </a:moveTo>
                <a:cubicBezTo>
                  <a:pt x="152400" y="81855"/>
                  <a:pt x="148769" y="77033"/>
                  <a:pt x="143589" y="76289"/>
                </a:cubicBezTo>
                <a:cubicBezTo>
                  <a:pt x="138410" y="75545"/>
                  <a:pt x="133558" y="79177"/>
                  <a:pt x="132814" y="84356"/>
                </a:cubicBezTo>
                <a:cubicBezTo>
                  <a:pt x="128855" y="112038"/>
                  <a:pt x="105013" y="133320"/>
                  <a:pt x="76230" y="133320"/>
                </a:cubicBezTo>
                <a:cubicBezTo>
                  <a:pt x="63014" y="133320"/>
                  <a:pt x="50869" y="128855"/>
                  <a:pt x="41196" y="121325"/>
                </a:cubicBezTo>
                <a:lnTo>
                  <a:pt x="55066" y="107454"/>
                </a:lnTo>
                <a:cubicBezTo>
                  <a:pt x="57120" y="105400"/>
                  <a:pt x="57716" y="102334"/>
                  <a:pt x="56614" y="99655"/>
                </a:cubicBezTo>
                <a:cubicBezTo>
                  <a:pt x="55513" y="96976"/>
                  <a:pt x="52894" y="95250"/>
                  <a:pt x="50006" y="95250"/>
                </a:cubicBezTo>
                <a:lnTo>
                  <a:pt x="7144" y="95250"/>
                </a:lnTo>
                <a:cubicBezTo>
                  <a:pt x="3185" y="95250"/>
                  <a:pt x="0" y="98435"/>
                  <a:pt x="0" y="102394"/>
                </a:cubicBezTo>
                <a:lnTo>
                  <a:pt x="0" y="145256"/>
                </a:lnTo>
                <a:cubicBezTo>
                  <a:pt x="0" y="148144"/>
                  <a:pt x="1726" y="150763"/>
                  <a:pt x="4405" y="151864"/>
                </a:cubicBezTo>
                <a:cubicBezTo>
                  <a:pt x="7084" y="152966"/>
                  <a:pt x="10150" y="152340"/>
                  <a:pt x="12204" y="150316"/>
                </a:cubicBezTo>
                <a:lnTo>
                  <a:pt x="27622" y="134898"/>
                </a:lnTo>
                <a:cubicBezTo>
                  <a:pt x="40779" y="145822"/>
                  <a:pt x="57745" y="152400"/>
                  <a:pt x="76200" y="152400"/>
                </a:cubicBezTo>
                <a:cubicBezTo>
                  <a:pt x="114598" y="152400"/>
                  <a:pt x="146358" y="124004"/>
                  <a:pt x="151626" y="87064"/>
                </a:cubicBezTo>
                <a:close/>
              </a:path>
            </a:pathLst>
          </a:custGeom>
          <a:solidFill>
            <a:srgbClr val="D9A477"/>
          </a:solidFill>
          <a:ln/>
        </p:spPr>
      </p:sp>
      <p:sp>
        <p:nvSpPr>
          <p:cNvPr id="22" name="Text 20"/>
          <p:cNvSpPr/>
          <p:nvPr/>
        </p:nvSpPr>
        <p:spPr>
          <a:xfrm>
            <a:off x="784860" y="45720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快速迭代</a:t>
            </a:r>
            <a:endParaRPr lang="en-US" sz="1600" dirty="0"/>
          </a:p>
        </p:txBody>
      </p:sp>
      <p:sp>
        <p:nvSpPr>
          <p:cNvPr id="23" name="Text 21"/>
          <p:cNvSpPr/>
          <p:nvPr/>
        </p:nvSpPr>
        <p:spPr>
          <a:xfrm>
            <a:off x="594360" y="48768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OTA升级+API开放,持续优化产品</a:t>
            </a:r>
            <a:endParaRPr lang="en-US" sz="1600" dirty="0"/>
          </a:p>
        </p:txBody>
      </p:sp>
      <p:sp>
        <p:nvSpPr>
          <p:cNvPr id="24" name="Shape 22"/>
          <p:cNvSpPr/>
          <p:nvPr/>
        </p:nvSpPr>
        <p:spPr>
          <a:xfrm>
            <a:off x="4265890" y="1219200"/>
            <a:ext cx="3669030" cy="4152900"/>
          </a:xfrm>
          <a:custGeom>
            <a:avLst/>
            <a:gdLst/>
            <a:ahLst/>
            <a:cxnLst/>
            <a:rect l="l" t="t" r="r" b="b"/>
            <a:pathLst>
              <a:path w="3669030" h="4152900">
                <a:moveTo>
                  <a:pt x="0" y="0"/>
                </a:moveTo>
                <a:lnTo>
                  <a:pt x="3669030" y="0"/>
                </a:lnTo>
                <a:lnTo>
                  <a:pt x="3669030" y="4152900"/>
                </a:lnTo>
                <a:lnTo>
                  <a:pt x="0" y="4152900"/>
                </a:lnTo>
                <a:lnTo>
                  <a:pt x="0" y="0"/>
                </a:lnTo>
                <a:close/>
              </a:path>
            </a:pathLst>
          </a:custGeom>
          <a:solidFill>
            <a:srgbClr val="3C8082">
              <a:alpha val="14902"/>
            </a:srgbClr>
          </a:solidFill>
          <a:ln/>
        </p:spPr>
      </p:sp>
      <p:sp>
        <p:nvSpPr>
          <p:cNvPr id="25" name="Shape 23"/>
          <p:cNvSpPr/>
          <p:nvPr/>
        </p:nvSpPr>
        <p:spPr>
          <a:xfrm>
            <a:off x="4265890" y="1219200"/>
            <a:ext cx="22860" cy="4152900"/>
          </a:xfrm>
          <a:custGeom>
            <a:avLst/>
            <a:gdLst/>
            <a:ahLst/>
            <a:cxnLst/>
            <a:rect l="l" t="t" r="r" b="b"/>
            <a:pathLst>
              <a:path w="22860" h="4152900">
                <a:moveTo>
                  <a:pt x="0" y="0"/>
                </a:moveTo>
                <a:lnTo>
                  <a:pt x="22860" y="0"/>
                </a:lnTo>
                <a:lnTo>
                  <a:pt x="22860" y="4152900"/>
                </a:lnTo>
                <a:lnTo>
                  <a:pt x="0" y="4152900"/>
                </a:lnTo>
                <a:lnTo>
                  <a:pt x="0" y="0"/>
                </a:lnTo>
                <a:close/>
              </a:path>
            </a:pathLst>
          </a:custGeom>
          <a:solidFill>
            <a:srgbClr val="3C8082"/>
          </a:solidFill>
          <a:ln/>
        </p:spPr>
      </p:sp>
      <p:sp>
        <p:nvSpPr>
          <p:cNvPr id="26" name="Shape 24"/>
          <p:cNvSpPr/>
          <p:nvPr/>
        </p:nvSpPr>
        <p:spPr>
          <a:xfrm>
            <a:off x="4467820" y="140970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3C8082"/>
          </a:solidFill>
          <a:ln/>
        </p:spPr>
      </p:sp>
      <p:sp>
        <p:nvSpPr>
          <p:cNvPr id="27" name="Text 25"/>
          <p:cNvSpPr/>
          <p:nvPr/>
        </p:nvSpPr>
        <p:spPr>
          <a:xfrm>
            <a:off x="4410670" y="14097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02</a:t>
            </a:r>
            <a:endParaRPr lang="en-US" sz="1600" dirty="0"/>
          </a:p>
        </p:txBody>
      </p:sp>
      <p:sp>
        <p:nvSpPr>
          <p:cNvPr id="28" name="Text 26"/>
          <p:cNvSpPr/>
          <p:nvPr/>
        </p:nvSpPr>
        <p:spPr>
          <a:xfrm>
            <a:off x="5115520" y="1524000"/>
            <a:ext cx="1028700" cy="304800"/>
          </a:xfrm>
          <a:prstGeom prst="rect">
            <a:avLst/>
          </a:prstGeom>
          <a:noFill/>
          <a:ln/>
        </p:spPr>
        <p:txBody>
          <a:bodyPr wrap="square" lIns="0" tIns="0" rIns="0" bIns="0" rtlCol="0" anchor="ctr"/>
          <a:lstStyle/>
          <a:p>
            <a:pPr>
              <a:lnSpc>
                <a:spcPct val="110000"/>
              </a:lnSpc>
            </a:pPr>
            <a:r>
              <a:rPr lang="en-US" sz="1800" b="1" dirty="0">
                <a:solidFill>
                  <a:srgbClr val="E8E8E8"/>
                </a:solidFill>
                <a:latin typeface="MiSans" pitchFamily="34" charset="0"/>
                <a:ea typeface="MiSans" pitchFamily="34" charset="-122"/>
                <a:cs typeface="MiSans" pitchFamily="34" charset="-120"/>
              </a:rPr>
              <a:t>竞争阶段</a:t>
            </a:r>
            <a:endParaRPr lang="en-US" sz="1600" dirty="0"/>
          </a:p>
        </p:txBody>
      </p:sp>
      <p:sp>
        <p:nvSpPr>
          <p:cNvPr id="29" name="Shape 27"/>
          <p:cNvSpPr/>
          <p:nvPr/>
        </p:nvSpPr>
        <p:spPr>
          <a:xfrm>
            <a:off x="4486870" y="2171700"/>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D9A477"/>
          </a:solidFill>
          <a:ln/>
        </p:spPr>
      </p:sp>
      <p:sp>
        <p:nvSpPr>
          <p:cNvPr id="30" name="Text 28"/>
          <p:cNvSpPr/>
          <p:nvPr/>
        </p:nvSpPr>
        <p:spPr>
          <a:xfrm>
            <a:off x="4658320" y="21336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面对巨头跟进</a:t>
            </a:r>
            <a:endParaRPr lang="en-US" sz="1600" dirty="0"/>
          </a:p>
        </p:txBody>
      </p:sp>
      <p:sp>
        <p:nvSpPr>
          <p:cNvPr id="31" name="Text 29"/>
          <p:cNvSpPr/>
          <p:nvPr/>
        </p:nvSpPr>
        <p:spPr>
          <a:xfrm>
            <a:off x="4467820" y="24384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霍尼韦尔推出Lyric模仿Nest功能</a:t>
            </a:r>
            <a:endParaRPr lang="en-US" sz="1600" dirty="0"/>
          </a:p>
        </p:txBody>
      </p:sp>
      <p:sp>
        <p:nvSpPr>
          <p:cNvPr id="32" name="Shape 30"/>
          <p:cNvSpPr/>
          <p:nvPr/>
        </p:nvSpPr>
        <p:spPr>
          <a:xfrm>
            <a:off x="4505920" y="2781300"/>
            <a:ext cx="114300" cy="152400"/>
          </a:xfrm>
          <a:custGeom>
            <a:avLst/>
            <a:gdLst/>
            <a:ahLst/>
            <a:cxnLst/>
            <a:rect l="l" t="t" r="r" b="b"/>
            <a:pathLst>
              <a:path w="114300" h="152400">
                <a:moveTo>
                  <a:pt x="57150" y="-9525"/>
                </a:moveTo>
                <a:cubicBezTo>
                  <a:pt x="88702" y="-9525"/>
                  <a:pt x="114300" y="16073"/>
                  <a:pt x="114300" y="47625"/>
                </a:cubicBezTo>
                <a:lnTo>
                  <a:pt x="114300" y="87362"/>
                </a:lnTo>
                <a:cubicBezTo>
                  <a:pt x="114300" y="92422"/>
                  <a:pt x="112276" y="97244"/>
                  <a:pt x="108734" y="100816"/>
                </a:cubicBezTo>
                <a:lnTo>
                  <a:pt x="95250" y="114300"/>
                </a:lnTo>
                <a:lnTo>
                  <a:pt x="110371" y="129391"/>
                </a:lnTo>
                <a:cubicBezTo>
                  <a:pt x="112901" y="131921"/>
                  <a:pt x="114300" y="135344"/>
                  <a:pt x="114300" y="138916"/>
                </a:cubicBezTo>
                <a:cubicBezTo>
                  <a:pt x="114300" y="146358"/>
                  <a:pt x="108258" y="152370"/>
                  <a:pt x="100846" y="152400"/>
                </a:cubicBezTo>
                <a:lnTo>
                  <a:pt x="13484" y="152400"/>
                </a:lnTo>
                <a:cubicBezTo>
                  <a:pt x="6042" y="152400"/>
                  <a:pt x="30" y="146358"/>
                  <a:pt x="30" y="138916"/>
                </a:cubicBezTo>
                <a:cubicBezTo>
                  <a:pt x="30" y="135344"/>
                  <a:pt x="1459" y="131921"/>
                  <a:pt x="3959" y="129391"/>
                </a:cubicBezTo>
                <a:lnTo>
                  <a:pt x="19050" y="114300"/>
                </a:lnTo>
                <a:lnTo>
                  <a:pt x="19050" y="104001"/>
                </a:lnTo>
                <a:cubicBezTo>
                  <a:pt x="19050" y="98435"/>
                  <a:pt x="21491" y="93166"/>
                  <a:pt x="25688" y="89535"/>
                </a:cubicBezTo>
                <a:lnTo>
                  <a:pt x="52388" y="66675"/>
                </a:lnTo>
                <a:lnTo>
                  <a:pt x="38100" y="66675"/>
                </a:lnTo>
                <a:lnTo>
                  <a:pt x="34498" y="70277"/>
                </a:lnTo>
                <a:cubicBezTo>
                  <a:pt x="30718" y="74057"/>
                  <a:pt x="25569" y="76200"/>
                  <a:pt x="20211" y="76200"/>
                </a:cubicBezTo>
                <a:cubicBezTo>
                  <a:pt x="9049" y="76200"/>
                  <a:pt x="0" y="67151"/>
                  <a:pt x="0" y="55989"/>
                </a:cubicBezTo>
                <a:lnTo>
                  <a:pt x="0" y="53400"/>
                </a:lnTo>
                <a:cubicBezTo>
                  <a:pt x="0" y="46613"/>
                  <a:pt x="2441" y="40035"/>
                  <a:pt x="6876" y="34856"/>
                </a:cubicBezTo>
                <a:lnTo>
                  <a:pt x="28575" y="9525"/>
                </a:lnTo>
                <a:lnTo>
                  <a:pt x="28575" y="0"/>
                </a:lnTo>
                <a:cubicBezTo>
                  <a:pt x="28575" y="-5269"/>
                  <a:pt x="32831" y="-9525"/>
                  <a:pt x="38100" y="-9525"/>
                </a:cubicBezTo>
                <a:lnTo>
                  <a:pt x="57150" y="-9525"/>
                </a:lnTo>
                <a:close/>
                <a:moveTo>
                  <a:pt x="47625" y="21431"/>
                </a:moveTo>
                <a:cubicBezTo>
                  <a:pt x="43682" y="21431"/>
                  <a:pt x="40481" y="24632"/>
                  <a:pt x="40481" y="28575"/>
                </a:cubicBezTo>
                <a:cubicBezTo>
                  <a:pt x="40481" y="32518"/>
                  <a:pt x="43682" y="35719"/>
                  <a:pt x="47625" y="35719"/>
                </a:cubicBezTo>
                <a:cubicBezTo>
                  <a:pt x="51568" y="35719"/>
                  <a:pt x="54769" y="32518"/>
                  <a:pt x="54769" y="28575"/>
                </a:cubicBezTo>
                <a:cubicBezTo>
                  <a:pt x="54769" y="24632"/>
                  <a:pt x="51568" y="21431"/>
                  <a:pt x="47625" y="21431"/>
                </a:cubicBezTo>
                <a:close/>
              </a:path>
            </a:pathLst>
          </a:custGeom>
          <a:solidFill>
            <a:srgbClr val="D9A477"/>
          </a:solidFill>
          <a:ln/>
        </p:spPr>
      </p:sp>
      <p:sp>
        <p:nvSpPr>
          <p:cNvPr id="33" name="Text 31"/>
          <p:cNvSpPr/>
          <p:nvPr/>
        </p:nvSpPr>
        <p:spPr>
          <a:xfrm>
            <a:off x="4658320" y="27432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应对策略</a:t>
            </a:r>
            <a:endParaRPr lang="en-US" sz="1600" dirty="0"/>
          </a:p>
        </p:txBody>
      </p:sp>
      <p:sp>
        <p:nvSpPr>
          <p:cNvPr id="34" name="Text 32"/>
          <p:cNvSpPr/>
          <p:nvPr/>
        </p:nvSpPr>
        <p:spPr>
          <a:xfrm>
            <a:off x="4467820" y="30480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突出品牌优势,强调技术护城河</a:t>
            </a:r>
            <a:endParaRPr lang="en-US" sz="1600" dirty="0"/>
          </a:p>
        </p:txBody>
      </p:sp>
      <p:sp>
        <p:nvSpPr>
          <p:cNvPr id="35" name="Shape 33"/>
          <p:cNvSpPr/>
          <p:nvPr/>
        </p:nvSpPr>
        <p:spPr>
          <a:xfrm>
            <a:off x="4477345" y="3390900"/>
            <a:ext cx="171450" cy="152400"/>
          </a:xfrm>
          <a:custGeom>
            <a:avLst/>
            <a:gdLst/>
            <a:ahLst/>
            <a:cxnLst/>
            <a:rect l="l" t="t" r="r" b="b"/>
            <a:pathLst>
              <a:path w="171450" h="152400">
                <a:moveTo>
                  <a:pt x="85725" y="-4762"/>
                </a:moveTo>
                <a:cubicBezTo>
                  <a:pt x="90994" y="-4762"/>
                  <a:pt x="95250" y="-506"/>
                  <a:pt x="95250" y="4763"/>
                </a:cubicBezTo>
                <a:lnTo>
                  <a:pt x="95250" y="10210"/>
                </a:lnTo>
                <a:cubicBezTo>
                  <a:pt x="124450" y="14377"/>
                  <a:pt x="147548" y="37475"/>
                  <a:pt x="151715" y="66675"/>
                </a:cubicBezTo>
                <a:lnTo>
                  <a:pt x="157163" y="66675"/>
                </a:lnTo>
                <a:cubicBezTo>
                  <a:pt x="162431" y="66675"/>
                  <a:pt x="166688" y="70931"/>
                  <a:pt x="166688" y="76200"/>
                </a:cubicBezTo>
                <a:cubicBezTo>
                  <a:pt x="166688" y="81469"/>
                  <a:pt x="162431" y="85725"/>
                  <a:pt x="157163" y="85725"/>
                </a:cubicBezTo>
                <a:lnTo>
                  <a:pt x="151715" y="85725"/>
                </a:lnTo>
                <a:cubicBezTo>
                  <a:pt x="147548" y="114925"/>
                  <a:pt x="124450" y="138023"/>
                  <a:pt x="95250" y="142190"/>
                </a:cubicBezTo>
                <a:lnTo>
                  <a:pt x="95250" y="147638"/>
                </a:lnTo>
                <a:cubicBezTo>
                  <a:pt x="95250" y="152906"/>
                  <a:pt x="90994" y="157163"/>
                  <a:pt x="85725" y="157163"/>
                </a:cubicBezTo>
                <a:cubicBezTo>
                  <a:pt x="80456" y="157163"/>
                  <a:pt x="76200" y="152906"/>
                  <a:pt x="76200" y="147638"/>
                </a:cubicBezTo>
                <a:lnTo>
                  <a:pt x="76200" y="142190"/>
                </a:lnTo>
                <a:cubicBezTo>
                  <a:pt x="47000" y="138023"/>
                  <a:pt x="23902" y="114925"/>
                  <a:pt x="19735" y="85725"/>
                </a:cubicBezTo>
                <a:lnTo>
                  <a:pt x="14288" y="85725"/>
                </a:lnTo>
                <a:cubicBezTo>
                  <a:pt x="9019" y="85725"/>
                  <a:pt x="4763" y="81469"/>
                  <a:pt x="4763" y="76200"/>
                </a:cubicBezTo>
                <a:cubicBezTo>
                  <a:pt x="4763" y="70931"/>
                  <a:pt x="9019" y="66675"/>
                  <a:pt x="14288" y="66675"/>
                </a:cubicBezTo>
                <a:lnTo>
                  <a:pt x="19735" y="66675"/>
                </a:lnTo>
                <a:cubicBezTo>
                  <a:pt x="23902" y="37475"/>
                  <a:pt x="47000" y="14377"/>
                  <a:pt x="76200" y="10210"/>
                </a:cubicBezTo>
                <a:lnTo>
                  <a:pt x="76200" y="4763"/>
                </a:lnTo>
                <a:cubicBezTo>
                  <a:pt x="76200" y="-506"/>
                  <a:pt x="80456" y="-4762"/>
                  <a:pt x="85725" y="-4762"/>
                </a:cubicBezTo>
                <a:close/>
                <a:moveTo>
                  <a:pt x="39052" y="85725"/>
                </a:moveTo>
                <a:cubicBezTo>
                  <a:pt x="42833" y="104388"/>
                  <a:pt x="57537" y="119092"/>
                  <a:pt x="76200" y="122873"/>
                </a:cubicBezTo>
                <a:lnTo>
                  <a:pt x="76200" y="119062"/>
                </a:lnTo>
                <a:cubicBezTo>
                  <a:pt x="76200" y="113794"/>
                  <a:pt x="80456" y="109537"/>
                  <a:pt x="85725" y="109537"/>
                </a:cubicBezTo>
                <a:cubicBezTo>
                  <a:pt x="90994" y="109537"/>
                  <a:pt x="95250" y="113794"/>
                  <a:pt x="95250" y="119062"/>
                </a:cubicBezTo>
                <a:lnTo>
                  <a:pt x="95250" y="122873"/>
                </a:lnTo>
                <a:cubicBezTo>
                  <a:pt x="113913" y="119092"/>
                  <a:pt x="128617" y="104388"/>
                  <a:pt x="132398" y="85725"/>
                </a:cubicBezTo>
                <a:lnTo>
                  <a:pt x="128588" y="85725"/>
                </a:lnTo>
                <a:cubicBezTo>
                  <a:pt x="123319" y="85725"/>
                  <a:pt x="119062" y="81469"/>
                  <a:pt x="119062" y="76200"/>
                </a:cubicBezTo>
                <a:cubicBezTo>
                  <a:pt x="119062" y="70931"/>
                  <a:pt x="123319" y="66675"/>
                  <a:pt x="128588" y="66675"/>
                </a:cubicBezTo>
                <a:lnTo>
                  <a:pt x="132398" y="66675"/>
                </a:lnTo>
                <a:cubicBezTo>
                  <a:pt x="128617" y="48012"/>
                  <a:pt x="113913" y="33308"/>
                  <a:pt x="95250" y="29527"/>
                </a:cubicBezTo>
                <a:lnTo>
                  <a:pt x="95250" y="33338"/>
                </a:lnTo>
                <a:cubicBezTo>
                  <a:pt x="95250" y="38606"/>
                  <a:pt x="90994" y="42863"/>
                  <a:pt x="85725" y="42863"/>
                </a:cubicBezTo>
                <a:cubicBezTo>
                  <a:pt x="80456" y="42863"/>
                  <a:pt x="76200" y="38606"/>
                  <a:pt x="76200" y="33338"/>
                </a:cubicBezTo>
                <a:lnTo>
                  <a:pt x="76200" y="29527"/>
                </a:lnTo>
                <a:cubicBezTo>
                  <a:pt x="57537" y="33308"/>
                  <a:pt x="42833" y="48012"/>
                  <a:pt x="39052" y="66675"/>
                </a:cubicBezTo>
                <a:lnTo>
                  <a:pt x="42863" y="66675"/>
                </a:lnTo>
                <a:cubicBezTo>
                  <a:pt x="48131" y="66675"/>
                  <a:pt x="52388" y="70931"/>
                  <a:pt x="52388" y="76200"/>
                </a:cubicBezTo>
                <a:cubicBezTo>
                  <a:pt x="52388" y="81469"/>
                  <a:pt x="48131" y="85725"/>
                  <a:pt x="42863" y="85725"/>
                </a:cubicBezTo>
                <a:lnTo>
                  <a:pt x="39052" y="85725"/>
                </a:lnTo>
                <a:close/>
                <a:moveTo>
                  <a:pt x="85725" y="61912"/>
                </a:moveTo>
                <a:cubicBezTo>
                  <a:pt x="93610" y="61912"/>
                  <a:pt x="100013" y="68315"/>
                  <a:pt x="100013" y="76200"/>
                </a:cubicBezTo>
                <a:cubicBezTo>
                  <a:pt x="100013" y="84085"/>
                  <a:pt x="93610" y="90488"/>
                  <a:pt x="85725" y="90488"/>
                </a:cubicBezTo>
                <a:cubicBezTo>
                  <a:pt x="77840" y="90488"/>
                  <a:pt x="71438" y="84085"/>
                  <a:pt x="71438" y="76200"/>
                </a:cubicBezTo>
                <a:cubicBezTo>
                  <a:pt x="71438" y="68315"/>
                  <a:pt x="77840" y="61912"/>
                  <a:pt x="85725" y="61912"/>
                </a:cubicBezTo>
                <a:close/>
              </a:path>
            </a:pathLst>
          </a:custGeom>
          <a:solidFill>
            <a:srgbClr val="D9A477"/>
          </a:solidFill>
          <a:ln/>
        </p:spPr>
      </p:sp>
      <p:sp>
        <p:nvSpPr>
          <p:cNvPr id="36" name="Text 34"/>
          <p:cNvSpPr/>
          <p:nvPr/>
        </p:nvSpPr>
        <p:spPr>
          <a:xfrm>
            <a:off x="4658320" y="33528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市场份额目标</a:t>
            </a:r>
            <a:endParaRPr lang="en-US" sz="1600" dirty="0"/>
          </a:p>
        </p:txBody>
      </p:sp>
      <p:sp>
        <p:nvSpPr>
          <p:cNvPr id="37" name="Text 35"/>
          <p:cNvSpPr/>
          <p:nvPr/>
        </p:nvSpPr>
        <p:spPr>
          <a:xfrm>
            <a:off x="4467820" y="36576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快速把优势做到胜势,以市场份额为第一目标</a:t>
            </a:r>
            <a:endParaRPr lang="en-US" sz="1600" dirty="0"/>
          </a:p>
        </p:txBody>
      </p:sp>
      <p:sp>
        <p:nvSpPr>
          <p:cNvPr id="38" name="Shape 36"/>
          <p:cNvSpPr/>
          <p:nvPr/>
        </p:nvSpPr>
        <p:spPr>
          <a:xfrm>
            <a:off x="4486870" y="4000500"/>
            <a:ext cx="152400" cy="152400"/>
          </a:xfrm>
          <a:custGeom>
            <a:avLst/>
            <a:gdLst/>
            <a:ahLst/>
            <a:cxnLst/>
            <a:rect l="l" t="t" r="r" b="b"/>
            <a:pathLst>
              <a:path w="152400" h="152400">
                <a:moveTo>
                  <a:pt x="42952" y="0"/>
                </a:moveTo>
                <a:lnTo>
                  <a:pt x="109627" y="0"/>
                </a:lnTo>
                <a:cubicBezTo>
                  <a:pt x="117515" y="0"/>
                  <a:pt x="123944" y="6489"/>
                  <a:pt x="123646" y="14347"/>
                </a:cubicBezTo>
                <a:cubicBezTo>
                  <a:pt x="123587" y="15925"/>
                  <a:pt x="123527" y="17502"/>
                  <a:pt x="123438" y="19050"/>
                </a:cubicBezTo>
                <a:lnTo>
                  <a:pt x="138202" y="19050"/>
                </a:lnTo>
                <a:cubicBezTo>
                  <a:pt x="145971" y="19050"/>
                  <a:pt x="152817" y="25479"/>
                  <a:pt x="152221" y="33873"/>
                </a:cubicBezTo>
                <a:cubicBezTo>
                  <a:pt x="149989" y="64740"/>
                  <a:pt x="134213" y="81707"/>
                  <a:pt x="117098" y="90577"/>
                </a:cubicBezTo>
                <a:cubicBezTo>
                  <a:pt x="112395" y="93018"/>
                  <a:pt x="107603" y="94833"/>
                  <a:pt x="103049" y="96173"/>
                </a:cubicBezTo>
                <a:cubicBezTo>
                  <a:pt x="97036" y="104686"/>
                  <a:pt x="90785" y="109180"/>
                  <a:pt x="85814" y="111591"/>
                </a:cubicBezTo>
                <a:lnTo>
                  <a:pt x="85814" y="133350"/>
                </a:lnTo>
                <a:lnTo>
                  <a:pt x="104864" y="133350"/>
                </a:lnTo>
                <a:cubicBezTo>
                  <a:pt x="110133" y="133350"/>
                  <a:pt x="114389" y="137606"/>
                  <a:pt x="114389" y="142875"/>
                </a:cubicBezTo>
                <a:cubicBezTo>
                  <a:pt x="114389" y="148144"/>
                  <a:pt x="110133" y="152400"/>
                  <a:pt x="104864" y="152400"/>
                </a:cubicBezTo>
                <a:lnTo>
                  <a:pt x="47714" y="152400"/>
                </a:lnTo>
                <a:cubicBezTo>
                  <a:pt x="42446" y="152400"/>
                  <a:pt x="38189" y="148144"/>
                  <a:pt x="38189" y="142875"/>
                </a:cubicBezTo>
                <a:cubicBezTo>
                  <a:pt x="38189" y="137606"/>
                  <a:pt x="42446" y="133350"/>
                  <a:pt x="47714" y="133350"/>
                </a:cubicBezTo>
                <a:lnTo>
                  <a:pt x="66764" y="133350"/>
                </a:lnTo>
                <a:lnTo>
                  <a:pt x="66764" y="111591"/>
                </a:lnTo>
                <a:cubicBezTo>
                  <a:pt x="62002" y="109299"/>
                  <a:pt x="56078" y="105043"/>
                  <a:pt x="50304" y="97215"/>
                </a:cubicBezTo>
                <a:cubicBezTo>
                  <a:pt x="44827" y="95786"/>
                  <a:pt x="38874" y="93613"/>
                  <a:pt x="33070" y="90339"/>
                </a:cubicBezTo>
                <a:cubicBezTo>
                  <a:pt x="16966" y="81320"/>
                  <a:pt x="2441" y="64324"/>
                  <a:pt x="357" y="33814"/>
                </a:cubicBezTo>
                <a:cubicBezTo>
                  <a:pt x="-208" y="25450"/>
                  <a:pt x="6608" y="19020"/>
                  <a:pt x="14377" y="19020"/>
                </a:cubicBezTo>
                <a:lnTo>
                  <a:pt x="29141" y="19020"/>
                </a:lnTo>
                <a:cubicBezTo>
                  <a:pt x="29051" y="17472"/>
                  <a:pt x="28992" y="15925"/>
                  <a:pt x="28932" y="14317"/>
                </a:cubicBezTo>
                <a:cubicBezTo>
                  <a:pt x="28635" y="6429"/>
                  <a:pt x="35064" y="-30"/>
                  <a:pt x="42952" y="-30"/>
                </a:cubicBezTo>
                <a:close/>
                <a:moveTo>
                  <a:pt x="30212" y="33338"/>
                </a:moveTo>
                <a:lnTo>
                  <a:pt x="14615" y="33338"/>
                </a:lnTo>
                <a:cubicBezTo>
                  <a:pt x="16460" y="58549"/>
                  <a:pt x="28039" y="71170"/>
                  <a:pt x="39975" y="77867"/>
                </a:cubicBezTo>
                <a:cubicBezTo>
                  <a:pt x="35689" y="66764"/>
                  <a:pt x="32147" y="52268"/>
                  <a:pt x="30212" y="33338"/>
                </a:cubicBezTo>
                <a:close/>
                <a:moveTo>
                  <a:pt x="113109" y="76438"/>
                </a:moveTo>
                <a:cubicBezTo>
                  <a:pt x="125164" y="69354"/>
                  <a:pt x="136059" y="56763"/>
                  <a:pt x="137904" y="33338"/>
                </a:cubicBezTo>
                <a:lnTo>
                  <a:pt x="122337" y="33338"/>
                </a:lnTo>
                <a:cubicBezTo>
                  <a:pt x="120491" y="51465"/>
                  <a:pt x="117157" y="65544"/>
                  <a:pt x="113109" y="76438"/>
                </a:cubicBezTo>
                <a:close/>
              </a:path>
            </a:pathLst>
          </a:custGeom>
          <a:solidFill>
            <a:srgbClr val="D9A477"/>
          </a:solidFill>
          <a:ln/>
        </p:spPr>
      </p:sp>
      <p:sp>
        <p:nvSpPr>
          <p:cNvPr id="39" name="Text 37"/>
          <p:cNvSpPr/>
          <p:nvPr/>
        </p:nvSpPr>
        <p:spPr>
          <a:xfrm>
            <a:off x="4658320" y="39624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竞争成果</a:t>
            </a:r>
            <a:endParaRPr lang="en-US" sz="1600" dirty="0"/>
          </a:p>
        </p:txBody>
      </p:sp>
      <p:sp>
        <p:nvSpPr>
          <p:cNvPr id="40" name="Text 38"/>
          <p:cNvSpPr/>
          <p:nvPr/>
        </p:nvSpPr>
        <p:spPr>
          <a:xfrm>
            <a:off x="4467820" y="42672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2013年市场份额达20%,成为美国市场第一</a:t>
            </a:r>
            <a:endParaRPr lang="en-US" sz="1600" dirty="0"/>
          </a:p>
        </p:txBody>
      </p:sp>
      <p:sp>
        <p:nvSpPr>
          <p:cNvPr id="41" name="Shape 39"/>
          <p:cNvSpPr/>
          <p:nvPr/>
        </p:nvSpPr>
        <p:spPr>
          <a:xfrm>
            <a:off x="4475440" y="4572000"/>
            <a:ext cx="3274695" cy="609600"/>
          </a:xfrm>
          <a:custGeom>
            <a:avLst/>
            <a:gdLst/>
            <a:ahLst/>
            <a:cxnLst/>
            <a:rect l="l" t="t" r="r" b="b"/>
            <a:pathLst>
              <a:path w="3274695" h="609600">
                <a:moveTo>
                  <a:pt x="0" y="0"/>
                </a:moveTo>
                <a:lnTo>
                  <a:pt x="3274695" y="0"/>
                </a:lnTo>
                <a:lnTo>
                  <a:pt x="3274695" y="609600"/>
                </a:lnTo>
                <a:lnTo>
                  <a:pt x="0" y="609600"/>
                </a:lnTo>
                <a:lnTo>
                  <a:pt x="0" y="0"/>
                </a:lnTo>
                <a:close/>
              </a:path>
            </a:pathLst>
          </a:custGeom>
          <a:solidFill>
            <a:srgbClr val="1A1D21"/>
          </a:solidFill>
          <a:ln/>
        </p:spPr>
      </p:sp>
      <p:sp>
        <p:nvSpPr>
          <p:cNvPr id="42" name="Shape 40"/>
          <p:cNvSpPr/>
          <p:nvPr/>
        </p:nvSpPr>
        <p:spPr>
          <a:xfrm>
            <a:off x="4475440" y="4572000"/>
            <a:ext cx="15240" cy="609600"/>
          </a:xfrm>
          <a:custGeom>
            <a:avLst/>
            <a:gdLst/>
            <a:ahLst/>
            <a:cxnLst/>
            <a:rect l="l" t="t" r="r" b="b"/>
            <a:pathLst>
              <a:path w="15240" h="609600">
                <a:moveTo>
                  <a:pt x="0" y="0"/>
                </a:moveTo>
                <a:lnTo>
                  <a:pt x="15240" y="0"/>
                </a:lnTo>
                <a:lnTo>
                  <a:pt x="15240" y="609600"/>
                </a:lnTo>
                <a:lnTo>
                  <a:pt x="0" y="609600"/>
                </a:lnTo>
                <a:lnTo>
                  <a:pt x="0" y="0"/>
                </a:lnTo>
                <a:close/>
              </a:path>
            </a:pathLst>
          </a:custGeom>
          <a:solidFill>
            <a:srgbClr val="3C8082"/>
          </a:solidFill>
          <a:ln/>
        </p:spPr>
      </p:sp>
      <p:sp>
        <p:nvSpPr>
          <p:cNvPr id="43" name="Text 41"/>
          <p:cNvSpPr/>
          <p:nvPr/>
        </p:nvSpPr>
        <p:spPr>
          <a:xfrm>
            <a:off x="4597360" y="4686300"/>
            <a:ext cx="3105150" cy="381000"/>
          </a:xfrm>
          <a:prstGeom prst="rect">
            <a:avLst/>
          </a:prstGeom>
          <a:noFill/>
          <a:ln/>
        </p:spPr>
        <p:txBody>
          <a:bodyPr wrap="square" lIns="0" tIns="0" rIns="0" bIns="0" rtlCol="0" anchor="ctr"/>
          <a:lstStyle/>
          <a:p>
            <a:pPr>
              <a:lnSpc>
                <a:spcPct val="120000"/>
              </a:lnSpc>
            </a:pPr>
            <a:r>
              <a:rPr lang="en-US" sz="1050" b="1" dirty="0">
                <a:solidFill>
                  <a:srgbClr val="3C8082"/>
                </a:solidFill>
                <a:latin typeface="MiSans" pitchFamily="34" charset="0"/>
                <a:ea typeface="MiSans" pitchFamily="34" charset="-122"/>
                <a:cs typeface="MiSans" pitchFamily="34" charset="-120"/>
              </a:rPr>
              <a:t>核心洞察:</a:t>
            </a:r>
            <a:r>
              <a:rPr lang="en-US" sz="1050" dirty="0">
                <a:solidFill>
                  <a:srgbClr val="E8E8E8">
                    <a:alpha val="90000"/>
                  </a:srgbClr>
                </a:solidFill>
                <a:latin typeface="MiSans" pitchFamily="34" charset="0"/>
                <a:ea typeface="MiSans" pitchFamily="34" charset="-122"/>
                <a:cs typeface="MiSans" pitchFamily="34" charset="-120"/>
              </a:rPr>
              <a:t> 简单的功能模仿无法撼动由核心技术和用户体验构成的护城河</a:t>
            </a:r>
            <a:endParaRPr lang="en-US" sz="1600" dirty="0"/>
          </a:p>
        </p:txBody>
      </p:sp>
      <p:sp>
        <p:nvSpPr>
          <p:cNvPr id="44" name="Shape 42"/>
          <p:cNvSpPr/>
          <p:nvPr/>
        </p:nvSpPr>
        <p:spPr>
          <a:xfrm>
            <a:off x="8139351" y="1219200"/>
            <a:ext cx="3669030" cy="4152900"/>
          </a:xfrm>
          <a:custGeom>
            <a:avLst/>
            <a:gdLst/>
            <a:ahLst/>
            <a:cxnLst/>
            <a:rect l="l" t="t" r="r" b="b"/>
            <a:pathLst>
              <a:path w="3669030" h="4152900">
                <a:moveTo>
                  <a:pt x="0" y="0"/>
                </a:moveTo>
                <a:lnTo>
                  <a:pt x="3669030" y="0"/>
                </a:lnTo>
                <a:lnTo>
                  <a:pt x="3669030" y="4152900"/>
                </a:lnTo>
                <a:lnTo>
                  <a:pt x="0" y="4152900"/>
                </a:lnTo>
                <a:lnTo>
                  <a:pt x="0" y="0"/>
                </a:lnTo>
                <a:close/>
              </a:path>
            </a:pathLst>
          </a:custGeom>
          <a:solidFill>
            <a:srgbClr val="D9A477">
              <a:alpha val="14902"/>
            </a:srgbClr>
          </a:solidFill>
          <a:ln/>
        </p:spPr>
      </p:sp>
      <p:sp>
        <p:nvSpPr>
          <p:cNvPr id="45" name="Shape 43"/>
          <p:cNvSpPr/>
          <p:nvPr/>
        </p:nvSpPr>
        <p:spPr>
          <a:xfrm>
            <a:off x="8139351" y="1219200"/>
            <a:ext cx="22860" cy="4152900"/>
          </a:xfrm>
          <a:custGeom>
            <a:avLst/>
            <a:gdLst/>
            <a:ahLst/>
            <a:cxnLst/>
            <a:rect l="l" t="t" r="r" b="b"/>
            <a:pathLst>
              <a:path w="22860" h="4152900">
                <a:moveTo>
                  <a:pt x="0" y="0"/>
                </a:moveTo>
                <a:lnTo>
                  <a:pt x="22860" y="0"/>
                </a:lnTo>
                <a:lnTo>
                  <a:pt x="22860" y="4152900"/>
                </a:lnTo>
                <a:lnTo>
                  <a:pt x="0" y="4152900"/>
                </a:lnTo>
                <a:lnTo>
                  <a:pt x="0" y="0"/>
                </a:lnTo>
                <a:close/>
              </a:path>
            </a:pathLst>
          </a:custGeom>
          <a:solidFill>
            <a:srgbClr val="D9A477"/>
          </a:solidFill>
          <a:ln/>
        </p:spPr>
      </p:sp>
      <p:sp>
        <p:nvSpPr>
          <p:cNvPr id="46" name="Shape 44"/>
          <p:cNvSpPr/>
          <p:nvPr/>
        </p:nvSpPr>
        <p:spPr>
          <a:xfrm>
            <a:off x="8341281" y="140970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9A477"/>
          </a:solidFill>
          <a:ln/>
        </p:spPr>
      </p:sp>
      <p:sp>
        <p:nvSpPr>
          <p:cNvPr id="47" name="Text 45"/>
          <p:cNvSpPr/>
          <p:nvPr/>
        </p:nvSpPr>
        <p:spPr>
          <a:xfrm>
            <a:off x="8284131" y="1409700"/>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MiSans" pitchFamily="34" charset="0"/>
                <a:ea typeface="MiSans" pitchFamily="34" charset="-122"/>
                <a:cs typeface="MiSans" pitchFamily="34" charset="-120"/>
              </a:rPr>
              <a:t>03</a:t>
            </a:r>
            <a:endParaRPr lang="en-US" sz="1600" dirty="0"/>
          </a:p>
        </p:txBody>
      </p:sp>
      <p:sp>
        <p:nvSpPr>
          <p:cNvPr id="48" name="Text 46"/>
          <p:cNvSpPr/>
          <p:nvPr/>
        </p:nvSpPr>
        <p:spPr>
          <a:xfrm>
            <a:off x="8988981" y="1524000"/>
            <a:ext cx="1028700" cy="304800"/>
          </a:xfrm>
          <a:prstGeom prst="rect">
            <a:avLst/>
          </a:prstGeom>
          <a:noFill/>
          <a:ln/>
        </p:spPr>
        <p:txBody>
          <a:bodyPr wrap="square" lIns="0" tIns="0" rIns="0" bIns="0" rtlCol="0" anchor="ctr"/>
          <a:lstStyle/>
          <a:p>
            <a:pPr>
              <a:lnSpc>
                <a:spcPct val="110000"/>
              </a:lnSpc>
            </a:pPr>
            <a:r>
              <a:rPr lang="en-US" sz="1800" b="1" dirty="0">
                <a:solidFill>
                  <a:srgbClr val="E8E8E8"/>
                </a:solidFill>
                <a:latin typeface="MiSans" pitchFamily="34" charset="0"/>
                <a:ea typeface="MiSans" pitchFamily="34" charset="-122"/>
                <a:cs typeface="MiSans" pitchFamily="34" charset="-120"/>
              </a:rPr>
              <a:t>巩固阶段</a:t>
            </a:r>
            <a:endParaRPr lang="en-US" sz="1600" dirty="0"/>
          </a:p>
        </p:txBody>
      </p:sp>
      <p:sp>
        <p:nvSpPr>
          <p:cNvPr id="49" name="Shape 47"/>
          <p:cNvSpPr/>
          <p:nvPr/>
        </p:nvSpPr>
        <p:spPr>
          <a:xfrm>
            <a:off x="8350806" y="2171700"/>
            <a:ext cx="171450" cy="152400"/>
          </a:xfrm>
          <a:custGeom>
            <a:avLst/>
            <a:gdLst/>
            <a:ahLst/>
            <a:cxnLst/>
            <a:rect l="l" t="t" r="r" b="b"/>
            <a:pathLst>
              <a:path w="171450" h="152400">
                <a:moveTo>
                  <a:pt x="93166" y="25956"/>
                </a:moveTo>
                <a:cubicBezTo>
                  <a:pt x="95905" y="23783"/>
                  <a:pt x="97631" y="20419"/>
                  <a:pt x="97631" y="16669"/>
                </a:cubicBezTo>
                <a:cubicBezTo>
                  <a:pt x="97631" y="10091"/>
                  <a:pt x="92303" y="4763"/>
                  <a:pt x="85725" y="4763"/>
                </a:cubicBezTo>
                <a:cubicBezTo>
                  <a:pt x="79147" y="4763"/>
                  <a:pt x="73819" y="10091"/>
                  <a:pt x="73819" y="16669"/>
                </a:cubicBezTo>
                <a:cubicBezTo>
                  <a:pt x="73819" y="20419"/>
                  <a:pt x="75575" y="23783"/>
                  <a:pt x="78284" y="25956"/>
                </a:cubicBezTo>
                <a:lnTo>
                  <a:pt x="57924" y="57983"/>
                </a:lnTo>
                <a:cubicBezTo>
                  <a:pt x="54947" y="62657"/>
                  <a:pt x="48607" y="63818"/>
                  <a:pt x="44172" y="60484"/>
                </a:cubicBezTo>
                <a:lnTo>
                  <a:pt x="26462" y="47238"/>
                </a:lnTo>
                <a:cubicBezTo>
                  <a:pt x="27801" y="45333"/>
                  <a:pt x="28575" y="42982"/>
                  <a:pt x="28575" y="40481"/>
                </a:cubicBezTo>
                <a:cubicBezTo>
                  <a:pt x="28575" y="33903"/>
                  <a:pt x="23247" y="28575"/>
                  <a:pt x="16669" y="28575"/>
                </a:cubicBezTo>
                <a:cubicBezTo>
                  <a:pt x="10091" y="28575"/>
                  <a:pt x="4763" y="33903"/>
                  <a:pt x="4763" y="40481"/>
                </a:cubicBezTo>
                <a:cubicBezTo>
                  <a:pt x="4763" y="46970"/>
                  <a:pt x="9971" y="52268"/>
                  <a:pt x="16431" y="52388"/>
                </a:cubicBezTo>
                <a:lnTo>
                  <a:pt x="26134" y="117128"/>
                </a:lnTo>
                <a:cubicBezTo>
                  <a:pt x="27533" y="126444"/>
                  <a:pt x="35540" y="133350"/>
                  <a:pt x="44976" y="133350"/>
                </a:cubicBezTo>
                <a:lnTo>
                  <a:pt x="126474" y="133350"/>
                </a:lnTo>
                <a:cubicBezTo>
                  <a:pt x="135910" y="133350"/>
                  <a:pt x="143917" y="126444"/>
                  <a:pt x="145316" y="117128"/>
                </a:cubicBezTo>
                <a:lnTo>
                  <a:pt x="155019" y="52388"/>
                </a:lnTo>
                <a:cubicBezTo>
                  <a:pt x="161479" y="52268"/>
                  <a:pt x="166688" y="46970"/>
                  <a:pt x="166688" y="40481"/>
                </a:cubicBezTo>
                <a:cubicBezTo>
                  <a:pt x="166688" y="33903"/>
                  <a:pt x="161359" y="28575"/>
                  <a:pt x="154781" y="28575"/>
                </a:cubicBezTo>
                <a:cubicBezTo>
                  <a:pt x="148203" y="28575"/>
                  <a:pt x="142875" y="33903"/>
                  <a:pt x="142875" y="40481"/>
                </a:cubicBezTo>
                <a:cubicBezTo>
                  <a:pt x="142875" y="42982"/>
                  <a:pt x="143649" y="45333"/>
                  <a:pt x="144988" y="47238"/>
                </a:cubicBezTo>
                <a:lnTo>
                  <a:pt x="127308" y="60514"/>
                </a:lnTo>
                <a:cubicBezTo>
                  <a:pt x="122873" y="63847"/>
                  <a:pt x="116532" y="62686"/>
                  <a:pt x="113556" y="58013"/>
                </a:cubicBezTo>
                <a:lnTo>
                  <a:pt x="93166" y="25956"/>
                </a:lnTo>
                <a:close/>
              </a:path>
            </a:pathLst>
          </a:custGeom>
          <a:solidFill>
            <a:srgbClr val="3C8082"/>
          </a:solidFill>
          <a:ln/>
        </p:spPr>
      </p:sp>
      <p:sp>
        <p:nvSpPr>
          <p:cNvPr id="50" name="Text 48"/>
          <p:cNvSpPr/>
          <p:nvPr/>
        </p:nvSpPr>
        <p:spPr>
          <a:xfrm>
            <a:off x="8531781" y="21336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取得行业第一</a:t>
            </a:r>
            <a:endParaRPr lang="en-US" sz="1600" dirty="0"/>
          </a:p>
        </p:txBody>
      </p:sp>
      <p:sp>
        <p:nvSpPr>
          <p:cNvPr id="51" name="Text 49"/>
          <p:cNvSpPr/>
          <p:nvPr/>
        </p:nvSpPr>
        <p:spPr>
          <a:xfrm>
            <a:off x="8341281" y="24384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2013年登顶,建立领导地位</a:t>
            </a:r>
            <a:endParaRPr lang="en-US" sz="1600" dirty="0"/>
          </a:p>
        </p:txBody>
      </p:sp>
      <p:sp>
        <p:nvSpPr>
          <p:cNvPr id="52" name="Shape 50"/>
          <p:cNvSpPr/>
          <p:nvPr/>
        </p:nvSpPr>
        <p:spPr>
          <a:xfrm>
            <a:off x="8360331" y="2781300"/>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3C8082"/>
          </a:solidFill>
          <a:ln/>
        </p:spPr>
      </p:sp>
      <p:sp>
        <p:nvSpPr>
          <p:cNvPr id="53" name="Text 51"/>
          <p:cNvSpPr/>
          <p:nvPr/>
        </p:nvSpPr>
        <p:spPr>
          <a:xfrm>
            <a:off x="8531781" y="27432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规模效应降本</a:t>
            </a:r>
            <a:endParaRPr lang="en-US" sz="1600" dirty="0"/>
          </a:p>
        </p:txBody>
      </p:sp>
      <p:sp>
        <p:nvSpPr>
          <p:cNvPr id="54" name="Text 52"/>
          <p:cNvSpPr/>
          <p:nvPr/>
        </p:nvSpPr>
        <p:spPr>
          <a:xfrm>
            <a:off x="8341281" y="30480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通过规模化生产降低成本,调整价格策略</a:t>
            </a:r>
            <a:endParaRPr lang="en-US" sz="1600" dirty="0"/>
          </a:p>
        </p:txBody>
      </p:sp>
      <p:sp>
        <p:nvSpPr>
          <p:cNvPr id="55" name="Shape 53"/>
          <p:cNvSpPr/>
          <p:nvPr/>
        </p:nvSpPr>
        <p:spPr>
          <a:xfrm>
            <a:off x="8350806" y="3390900"/>
            <a:ext cx="171450" cy="152400"/>
          </a:xfrm>
          <a:custGeom>
            <a:avLst/>
            <a:gdLst/>
            <a:ahLst/>
            <a:cxn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3C8082"/>
          </a:solidFill>
          <a:ln/>
        </p:spPr>
      </p:sp>
      <p:sp>
        <p:nvSpPr>
          <p:cNvPr id="56" name="Text 54"/>
          <p:cNvSpPr/>
          <p:nvPr/>
        </p:nvSpPr>
        <p:spPr>
          <a:xfrm>
            <a:off x="8531781" y="33528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价格调整</a:t>
            </a:r>
            <a:endParaRPr lang="en-US" sz="1600" dirty="0"/>
          </a:p>
        </p:txBody>
      </p:sp>
      <p:sp>
        <p:nvSpPr>
          <p:cNvPr id="57" name="Text 55"/>
          <p:cNvSpPr/>
          <p:nvPr/>
        </p:nvSpPr>
        <p:spPr>
          <a:xfrm>
            <a:off x="8341281" y="36576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2014年降价至$199,扩大市场覆盖</a:t>
            </a:r>
            <a:endParaRPr lang="en-US" sz="1600" dirty="0"/>
          </a:p>
        </p:txBody>
      </p:sp>
      <p:sp>
        <p:nvSpPr>
          <p:cNvPr id="58" name="Shape 56"/>
          <p:cNvSpPr/>
          <p:nvPr/>
        </p:nvSpPr>
        <p:spPr>
          <a:xfrm>
            <a:off x="8350806" y="4000500"/>
            <a:ext cx="171450" cy="152400"/>
          </a:xfrm>
          <a:custGeom>
            <a:avLst/>
            <a:gdLst/>
            <a:ahLst/>
            <a:cxnLst/>
            <a:rect l="l" t="t" r="r" b="b"/>
            <a:pathLst>
              <a:path w="171450" h="152400">
                <a:moveTo>
                  <a:pt x="124867" y="28575"/>
                </a:moveTo>
                <a:cubicBezTo>
                  <a:pt x="119926" y="28575"/>
                  <a:pt x="115133" y="29914"/>
                  <a:pt x="110936" y="32355"/>
                </a:cubicBezTo>
                <a:cubicBezTo>
                  <a:pt x="106234" y="27593"/>
                  <a:pt x="100757" y="23604"/>
                  <a:pt x="94714" y="20598"/>
                </a:cubicBezTo>
                <a:cubicBezTo>
                  <a:pt x="103108" y="13454"/>
                  <a:pt x="113794" y="9525"/>
                  <a:pt x="124867" y="9525"/>
                </a:cubicBezTo>
                <a:cubicBezTo>
                  <a:pt x="150584" y="9525"/>
                  <a:pt x="171450" y="30361"/>
                  <a:pt x="171450" y="56108"/>
                </a:cubicBezTo>
                <a:cubicBezTo>
                  <a:pt x="171450" y="68461"/>
                  <a:pt x="166539" y="80308"/>
                  <a:pt x="157817" y="89029"/>
                </a:cubicBezTo>
                <a:lnTo>
                  <a:pt x="136654" y="110192"/>
                </a:lnTo>
                <a:cubicBezTo>
                  <a:pt x="127933" y="118914"/>
                  <a:pt x="116086" y="123825"/>
                  <a:pt x="103733" y="123825"/>
                </a:cubicBezTo>
                <a:cubicBezTo>
                  <a:pt x="78016" y="123825"/>
                  <a:pt x="57150" y="102989"/>
                  <a:pt x="57150" y="77242"/>
                </a:cubicBezTo>
                <a:cubicBezTo>
                  <a:pt x="57150" y="76795"/>
                  <a:pt x="57150" y="76349"/>
                  <a:pt x="57180" y="75902"/>
                </a:cubicBezTo>
                <a:cubicBezTo>
                  <a:pt x="57329" y="70634"/>
                  <a:pt x="61704" y="66496"/>
                  <a:pt x="66973" y="66645"/>
                </a:cubicBezTo>
                <a:cubicBezTo>
                  <a:pt x="72241" y="66794"/>
                  <a:pt x="76379" y="71170"/>
                  <a:pt x="76230" y="76438"/>
                </a:cubicBezTo>
                <a:cubicBezTo>
                  <a:pt x="76230" y="76706"/>
                  <a:pt x="76230" y="76974"/>
                  <a:pt x="76230" y="77212"/>
                </a:cubicBezTo>
                <a:cubicBezTo>
                  <a:pt x="76230" y="92422"/>
                  <a:pt x="88553" y="104745"/>
                  <a:pt x="103763" y="104745"/>
                </a:cubicBezTo>
                <a:cubicBezTo>
                  <a:pt x="111056" y="104745"/>
                  <a:pt x="118050" y="101858"/>
                  <a:pt x="123230" y="96679"/>
                </a:cubicBezTo>
                <a:lnTo>
                  <a:pt x="144393" y="75515"/>
                </a:lnTo>
                <a:cubicBezTo>
                  <a:pt x="149543" y="70366"/>
                  <a:pt x="152460" y="63341"/>
                  <a:pt x="152460" y="56049"/>
                </a:cubicBezTo>
                <a:cubicBezTo>
                  <a:pt x="152460" y="40838"/>
                  <a:pt x="140137" y="28515"/>
                  <a:pt x="124926" y="28515"/>
                </a:cubicBezTo>
                <a:close/>
                <a:moveTo>
                  <a:pt x="81915" y="51584"/>
                </a:moveTo>
                <a:cubicBezTo>
                  <a:pt x="81349" y="51346"/>
                  <a:pt x="80784" y="51018"/>
                  <a:pt x="80278" y="50661"/>
                </a:cubicBezTo>
                <a:cubicBezTo>
                  <a:pt x="76527" y="48726"/>
                  <a:pt x="72241" y="47625"/>
                  <a:pt x="67747" y="47625"/>
                </a:cubicBezTo>
                <a:cubicBezTo>
                  <a:pt x="60454" y="47625"/>
                  <a:pt x="53459" y="50512"/>
                  <a:pt x="48280" y="55691"/>
                </a:cubicBezTo>
                <a:lnTo>
                  <a:pt x="27116" y="76855"/>
                </a:lnTo>
                <a:cubicBezTo>
                  <a:pt x="21967" y="82004"/>
                  <a:pt x="19050" y="89029"/>
                  <a:pt x="19050" y="96322"/>
                </a:cubicBezTo>
                <a:cubicBezTo>
                  <a:pt x="19050" y="111532"/>
                  <a:pt x="31373" y="123855"/>
                  <a:pt x="46583" y="123855"/>
                </a:cubicBezTo>
                <a:cubicBezTo>
                  <a:pt x="51495" y="123855"/>
                  <a:pt x="56287" y="122545"/>
                  <a:pt x="60484" y="120104"/>
                </a:cubicBezTo>
                <a:cubicBezTo>
                  <a:pt x="65187" y="124867"/>
                  <a:pt x="70664" y="128855"/>
                  <a:pt x="76736" y="131862"/>
                </a:cubicBezTo>
                <a:cubicBezTo>
                  <a:pt x="68342" y="138976"/>
                  <a:pt x="57686" y="142935"/>
                  <a:pt x="46583" y="142935"/>
                </a:cubicBezTo>
                <a:cubicBezTo>
                  <a:pt x="20866" y="142935"/>
                  <a:pt x="0" y="122099"/>
                  <a:pt x="0" y="96351"/>
                </a:cubicBezTo>
                <a:cubicBezTo>
                  <a:pt x="0" y="83999"/>
                  <a:pt x="4911" y="72152"/>
                  <a:pt x="13633" y="63431"/>
                </a:cubicBezTo>
                <a:lnTo>
                  <a:pt x="34796" y="42267"/>
                </a:lnTo>
                <a:cubicBezTo>
                  <a:pt x="43517" y="33546"/>
                  <a:pt x="55364" y="28635"/>
                  <a:pt x="67717" y="28635"/>
                </a:cubicBezTo>
                <a:cubicBezTo>
                  <a:pt x="93494" y="28635"/>
                  <a:pt x="114300" y="49649"/>
                  <a:pt x="114300" y="75337"/>
                </a:cubicBezTo>
                <a:cubicBezTo>
                  <a:pt x="114300" y="75724"/>
                  <a:pt x="114300" y="76111"/>
                  <a:pt x="114300" y="76498"/>
                </a:cubicBezTo>
                <a:cubicBezTo>
                  <a:pt x="114181" y="81766"/>
                  <a:pt x="109805" y="85904"/>
                  <a:pt x="104537" y="85785"/>
                </a:cubicBezTo>
                <a:cubicBezTo>
                  <a:pt x="99268" y="85665"/>
                  <a:pt x="95131" y="81290"/>
                  <a:pt x="95250" y="76021"/>
                </a:cubicBezTo>
                <a:cubicBezTo>
                  <a:pt x="95250" y="75783"/>
                  <a:pt x="95250" y="75575"/>
                  <a:pt x="95250" y="75337"/>
                </a:cubicBezTo>
                <a:cubicBezTo>
                  <a:pt x="95250" y="65306"/>
                  <a:pt x="89892" y="56495"/>
                  <a:pt x="81915" y="51643"/>
                </a:cubicBezTo>
                <a:close/>
              </a:path>
            </a:pathLst>
          </a:custGeom>
          <a:solidFill>
            <a:srgbClr val="3C8082"/>
          </a:solidFill>
          <a:ln/>
        </p:spPr>
      </p:sp>
      <p:sp>
        <p:nvSpPr>
          <p:cNvPr id="59" name="Text 57"/>
          <p:cNvSpPr/>
          <p:nvPr/>
        </p:nvSpPr>
        <p:spPr>
          <a:xfrm>
            <a:off x="8531781" y="39624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生态整合</a:t>
            </a:r>
            <a:endParaRPr lang="en-US" sz="1600" dirty="0"/>
          </a:p>
        </p:txBody>
      </p:sp>
      <p:sp>
        <p:nvSpPr>
          <p:cNvPr id="60" name="Text 58"/>
          <p:cNvSpPr/>
          <p:nvPr/>
        </p:nvSpPr>
        <p:spPr>
          <a:xfrm>
            <a:off x="8341281" y="42672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2014年被谷歌收购,接入Google Home生态</a:t>
            </a:r>
            <a:endParaRPr lang="en-US" sz="1600" dirty="0"/>
          </a:p>
        </p:txBody>
      </p:sp>
      <p:sp>
        <p:nvSpPr>
          <p:cNvPr id="61" name="Shape 59"/>
          <p:cNvSpPr/>
          <p:nvPr/>
        </p:nvSpPr>
        <p:spPr>
          <a:xfrm>
            <a:off x="8350806" y="4610100"/>
            <a:ext cx="171450" cy="152400"/>
          </a:xfrm>
          <a:custGeom>
            <a:avLst/>
            <a:gdLst/>
            <a:ahLst/>
            <a:cxnLst/>
            <a:rect l="l" t="t" r="r" b="b"/>
            <a:pathLst>
              <a:path w="171450" h="152400">
                <a:moveTo>
                  <a:pt x="85725" y="19050"/>
                </a:moveTo>
                <a:cubicBezTo>
                  <a:pt x="80468" y="19050"/>
                  <a:pt x="76200" y="23318"/>
                  <a:pt x="76200" y="28575"/>
                </a:cubicBezTo>
                <a:cubicBezTo>
                  <a:pt x="76200" y="33832"/>
                  <a:pt x="80468" y="38100"/>
                  <a:pt x="85725" y="38100"/>
                </a:cubicBezTo>
                <a:cubicBezTo>
                  <a:pt x="90982" y="38100"/>
                  <a:pt x="95250" y="33832"/>
                  <a:pt x="95250" y="28575"/>
                </a:cubicBezTo>
                <a:cubicBezTo>
                  <a:pt x="95250" y="23318"/>
                  <a:pt x="90982" y="19050"/>
                  <a:pt x="85725" y="19050"/>
                </a:cubicBezTo>
                <a:close/>
                <a:moveTo>
                  <a:pt x="57150" y="28575"/>
                </a:moveTo>
                <a:cubicBezTo>
                  <a:pt x="57150" y="12799"/>
                  <a:pt x="69949" y="0"/>
                  <a:pt x="85725" y="0"/>
                </a:cubicBezTo>
                <a:cubicBezTo>
                  <a:pt x="101501" y="0"/>
                  <a:pt x="114300" y="12799"/>
                  <a:pt x="114300" y="28575"/>
                </a:cubicBezTo>
                <a:cubicBezTo>
                  <a:pt x="114300" y="41017"/>
                  <a:pt x="106353" y="51614"/>
                  <a:pt x="95250" y="55513"/>
                </a:cubicBezTo>
                <a:lnTo>
                  <a:pt x="95250" y="132278"/>
                </a:lnTo>
                <a:cubicBezTo>
                  <a:pt x="113973" y="128022"/>
                  <a:pt x="128052" y="111532"/>
                  <a:pt x="128558" y="91648"/>
                </a:cubicBezTo>
                <a:lnTo>
                  <a:pt x="123765" y="95845"/>
                </a:lnTo>
                <a:cubicBezTo>
                  <a:pt x="120789" y="98435"/>
                  <a:pt x="116294" y="98137"/>
                  <a:pt x="113675" y="95161"/>
                </a:cubicBezTo>
                <a:cubicBezTo>
                  <a:pt x="111056" y="92184"/>
                  <a:pt x="111383" y="87690"/>
                  <a:pt x="114360" y="85070"/>
                </a:cubicBezTo>
                <a:lnTo>
                  <a:pt x="133410" y="68401"/>
                </a:lnTo>
                <a:cubicBezTo>
                  <a:pt x="136088" y="66050"/>
                  <a:pt x="140137" y="66050"/>
                  <a:pt x="142815" y="68401"/>
                </a:cubicBezTo>
                <a:lnTo>
                  <a:pt x="161865" y="85070"/>
                </a:lnTo>
                <a:cubicBezTo>
                  <a:pt x="164842" y="87660"/>
                  <a:pt x="165140" y="92184"/>
                  <a:pt x="162550" y="95161"/>
                </a:cubicBezTo>
                <a:cubicBezTo>
                  <a:pt x="159960" y="98137"/>
                  <a:pt x="155436" y="98435"/>
                  <a:pt x="152460" y="95845"/>
                </a:cubicBezTo>
                <a:lnTo>
                  <a:pt x="147638" y="91648"/>
                </a:lnTo>
                <a:cubicBezTo>
                  <a:pt x="147012" y="125313"/>
                  <a:pt x="119539" y="152400"/>
                  <a:pt x="85725" y="152400"/>
                </a:cubicBezTo>
                <a:cubicBezTo>
                  <a:pt x="51911" y="152400"/>
                  <a:pt x="24438" y="125313"/>
                  <a:pt x="23813" y="91648"/>
                </a:cubicBezTo>
                <a:lnTo>
                  <a:pt x="18990" y="95875"/>
                </a:lnTo>
                <a:cubicBezTo>
                  <a:pt x="16014" y="98465"/>
                  <a:pt x="11519" y="98167"/>
                  <a:pt x="8900" y="95190"/>
                </a:cubicBezTo>
                <a:cubicBezTo>
                  <a:pt x="6281" y="92214"/>
                  <a:pt x="6608" y="87719"/>
                  <a:pt x="9585" y="85100"/>
                </a:cubicBezTo>
                <a:lnTo>
                  <a:pt x="28635" y="68431"/>
                </a:lnTo>
                <a:cubicBezTo>
                  <a:pt x="31313" y="66080"/>
                  <a:pt x="35362" y="66080"/>
                  <a:pt x="38040" y="68431"/>
                </a:cubicBezTo>
                <a:lnTo>
                  <a:pt x="57090" y="85100"/>
                </a:lnTo>
                <a:cubicBezTo>
                  <a:pt x="60067" y="87690"/>
                  <a:pt x="60365" y="92214"/>
                  <a:pt x="57775" y="95190"/>
                </a:cubicBezTo>
                <a:cubicBezTo>
                  <a:pt x="55185" y="98167"/>
                  <a:pt x="50661" y="98465"/>
                  <a:pt x="47685" y="95875"/>
                </a:cubicBezTo>
                <a:lnTo>
                  <a:pt x="42892" y="91678"/>
                </a:lnTo>
                <a:cubicBezTo>
                  <a:pt x="43428" y="111562"/>
                  <a:pt x="57507" y="128052"/>
                  <a:pt x="76200" y="132308"/>
                </a:cubicBezTo>
                <a:lnTo>
                  <a:pt x="76200" y="55543"/>
                </a:lnTo>
                <a:cubicBezTo>
                  <a:pt x="65097" y="51614"/>
                  <a:pt x="57150" y="41047"/>
                  <a:pt x="57150" y="28605"/>
                </a:cubicBezTo>
                <a:close/>
              </a:path>
            </a:pathLst>
          </a:custGeom>
          <a:solidFill>
            <a:srgbClr val="3C8082"/>
          </a:solidFill>
          <a:ln/>
        </p:spPr>
      </p:sp>
      <p:sp>
        <p:nvSpPr>
          <p:cNvPr id="62" name="Text 60"/>
          <p:cNvSpPr/>
          <p:nvPr/>
        </p:nvSpPr>
        <p:spPr>
          <a:xfrm>
            <a:off x="8531781" y="4572000"/>
            <a:ext cx="3162300" cy="228600"/>
          </a:xfrm>
          <a:prstGeom prst="rect">
            <a:avLst/>
          </a:prstGeom>
          <a:noFill/>
          <a:ln/>
        </p:spPr>
        <p:txBody>
          <a:bodyPr wrap="square" lIns="0" tIns="0" rIns="0" bIns="0" rtlCol="0" anchor="ctr"/>
          <a:lstStyle/>
          <a:p>
            <a:pPr>
              <a:lnSpc>
                <a:spcPct val="130000"/>
              </a:lnSpc>
            </a:pPr>
            <a:r>
              <a:rPr lang="en-US" sz="1200" b="1" dirty="0">
                <a:solidFill>
                  <a:srgbClr val="E8E8E8"/>
                </a:solidFill>
                <a:latin typeface="MiSans" pitchFamily="34" charset="0"/>
                <a:ea typeface="MiSans" pitchFamily="34" charset="-122"/>
                <a:cs typeface="MiSans" pitchFamily="34" charset="-120"/>
              </a:rPr>
              <a:t>巩固地位</a:t>
            </a:r>
            <a:endParaRPr lang="en-US" sz="1600" dirty="0"/>
          </a:p>
        </p:txBody>
      </p:sp>
      <p:sp>
        <p:nvSpPr>
          <p:cNvPr id="63" name="Text 61"/>
          <p:cNvSpPr/>
          <p:nvPr/>
        </p:nvSpPr>
        <p:spPr>
          <a:xfrm>
            <a:off x="8341281" y="4876800"/>
            <a:ext cx="3343275" cy="190500"/>
          </a:xfrm>
          <a:prstGeom prst="rect">
            <a:avLst/>
          </a:prstGeom>
          <a:noFill/>
          <a:ln/>
        </p:spPr>
        <p:txBody>
          <a:bodyPr wrap="square" lIns="0" tIns="0" rIns="0" bIns="0" rtlCol="0" anchor="ctr"/>
          <a:lstStyle/>
          <a:p>
            <a:pPr>
              <a:lnSpc>
                <a:spcPct val="120000"/>
              </a:lnSpc>
            </a:pPr>
            <a:r>
              <a:rPr lang="en-US" sz="1050" dirty="0">
                <a:solidFill>
                  <a:srgbClr val="E8E8E8">
                    <a:alpha val="80000"/>
                  </a:srgbClr>
                </a:solidFill>
                <a:latin typeface="MiSans" pitchFamily="34" charset="0"/>
                <a:ea typeface="MiSans" pitchFamily="34" charset="-122"/>
                <a:cs typeface="MiSans" pitchFamily="34" charset="-120"/>
              </a:rPr>
              <a:t>通过技术+生态双重护城河锁定领导地位</a:t>
            </a:r>
            <a:endParaRPr lang="en-US" sz="1600" dirty="0"/>
          </a:p>
        </p:txBody>
      </p:sp>
      <p:sp>
        <p:nvSpPr>
          <p:cNvPr id="64" name="Shape 62"/>
          <p:cNvSpPr/>
          <p:nvPr/>
        </p:nvSpPr>
        <p:spPr>
          <a:xfrm>
            <a:off x="392430" y="5562600"/>
            <a:ext cx="11422380" cy="1143000"/>
          </a:xfrm>
          <a:custGeom>
            <a:avLst/>
            <a:gdLst/>
            <a:ahLst/>
            <a:cxnLst/>
            <a:rect l="l" t="t" r="r" b="b"/>
            <a:pathLst>
              <a:path w="11422380" h="1143000">
                <a:moveTo>
                  <a:pt x="0" y="0"/>
                </a:moveTo>
                <a:lnTo>
                  <a:pt x="11422380" y="0"/>
                </a:lnTo>
                <a:lnTo>
                  <a:pt x="11422380" y="1143000"/>
                </a:lnTo>
                <a:lnTo>
                  <a:pt x="0" y="1143000"/>
                </a:lnTo>
                <a:lnTo>
                  <a:pt x="0" y="0"/>
                </a:lnTo>
                <a:close/>
              </a:path>
            </a:pathLst>
          </a:custGeom>
          <a:solidFill>
            <a:srgbClr val="D9A477">
              <a:alpha val="14902"/>
            </a:srgbClr>
          </a:solidFill>
          <a:ln/>
        </p:spPr>
      </p:sp>
      <p:sp>
        <p:nvSpPr>
          <p:cNvPr id="65" name="Shape 63"/>
          <p:cNvSpPr/>
          <p:nvPr/>
        </p:nvSpPr>
        <p:spPr>
          <a:xfrm>
            <a:off x="392430" y="5562600"/>
            <a:ext cx="22860" cy="1143000"/>
          </a:xfrm>
          <a:custGeom>
            <a:avLst/>
            <a:gdLst/>
            <a:ahLst/>
            <a:cxnLst/>
            <a:rect l="l" t="t" r="r" b="b"/>
            <a:pathLst>
              <a:path w="22860" h="1143000">
                <a:moveTo>
                  <a:pt x="0" y="0"/>
                </a:moveTo>
                <a:lnTo>
                  <a:pt x="22860" y="0"/>
                </a:lnTo>
                <a:lnTo>
                  <a:pt x="22860" y="1143000"/>
                </a:lnTo>
                <a:lnTo>
                  <a:pt x="0" y="1143000"/>
                </a:lnTo>
                <a:lnTo>
                  <a:pt x="0" y="0"/>
                </a:lnTo>
                <a:close/>
              </a:path>
            </a:pathLst>
          </a:custGeom>
          <a:solidFill>
            <a:srgbClr val="D9A477"/>
          </a:solidFill>
          <a:ln/>
        </p:spPr>
      </p:sp>
      <p:sp>
        <p:nvSpPr>
          <p:cNvPr id="66" name="Shape 64"/>
          <p:cNvSpPr/>
          <p:nvPr/>
        </p:nvSpPr>
        <p:spPr>
          <a:xfrm>
            <a:off x="594360" y="5991225"/>
            <a:ext cx="285750" cy="285750"/>
          </a:xfrm>
          <a:custGeom>
            <a:avLst/>
            <a:gdLst/>
            <a:ahLst/>
            <a:cxnLst/>
            <a:rect l="l" t="t" r="r" b="b"/>
            <a:pathLst>
              <a:path w="285750" h="285750">
                <a:moveTo>
                  <a:pt x="285750" y="53578"/>
                </a:moveTo>
                <a:cubicBezTo>
                  <a:pt x="285750" y="81595"/>
                  <a:pt x="252766" y="123397"/>
                  <a:pt x="238534" y="140084"/>
                </a:cubicBezTo>
                <a:cubicBezTo>
                  <a:pt x="236413" y="142540"/>
                  <a:pt x="233288" y="143489"/>
                  <a:pt x="230442" y="142875"/>
                </a:cubicBezTo>
                <a:lnTo>
                  <a:pt x="178594" y="142875"/>
                </a:lnTo>
                <a:cubicBezTo>
                  <a:pt x="168715" y="142875"/>
                  <a:pt x="160734" y="150856"/>
                  <a:pt x="160734" y="160734"/>
                </a:cubicBezTo>
                <a:cubicBezTo>
                  <a:pt x="160734" y="170613"/>
                  <a:pt x="168715" y="178594"/>
                  <a:pt x="178594" y="178594"/>
                </a:cubicBezTo>
                <a:lnTo>
                  <a:pt x="232172" y="178594"/>
                </a:lnTo>
                <a:cubicBezTo>
                  <a:pt x="261751" y="178594"/>
                  <a:pt x="285750" y="202592"/>
                  <a:pt x="285750" y="232172"/>
                </a:cubicBezTo>
                <a:cubicBezTo>
                  <a:pt x="285750" y="261751"/>
                  <a:pt x="261751" y="285750"/>
                  <a:pt x="232172" y="285750"/>
                </a:cubicBezTo>
                <a:lnTo>
                  <a:pt x="77912" y="285750"/>
                </a:lnTo>
                <a:cubicBezTo>
                  <a:pt x="82767" y="280225"/>
                  <a:pt x="88683" y="273137"/>
                  <a:pt x="94655" y="265212"/>
                </a:cubicBezTo>
                <a:cubicBezTo>
                  <a:pt x="98171" y="260524"/>
                  <a:pt x="101798" y="255389"/>
                  <a:pt x="105259" y="250031"/>
                </a:cubicBezTo>
                <a:lnTo>
                  <a:pt x="232172" y="250031"/>
                </a:lnTo>
                <a:cubicBezTo>
                  <a:pt x="242050" y="250031"/>
                  <a:pt x="250031" y="242050"/>
                  <a:pt x="250031" y="232172"/>
                </a:cubicBezTo>
                <a:cubicBezTo>
                  <a:pt x="250031" y="222293"/>
                  <a:pt x="242050" y="214313"/>
                  <a:pt x="232172" y="214313"/>
                </a:cubicBezTo>
                <a:lnTo>
                  <a:pt x="178594" y="214313"/>
                </a:lnTo>
                <a:cubicBezTo>
                  <a:pt x="149014" y="214313"/>
                  <a:pt x="125016" y="190314"/>
                  <a:pt x="125016" y="160734"/>
                </a:cubicBezTo>
                <a:cubicBezTo>
                  <a:pt x="125016" y="131155"/>
                  <a:pt x="149014" y="107156"/>
                  <a:pt x="178594" y="107156"/>
                </a:cubicBezTo>
                <a:lnTo>
                  <a:pt x="200806" y="107156"/>
                </a:lnTo>
                <a:cubicBezTo>
                  <a:pt x="189086" y="89576"/>
                  <a:pt x="178594" y="69373"/>
                  <a:pt x="178594" y="53578"/>
                </a:cubicBezTo>
                <a:cubicBezTo>
                  <a:pt x="178594" y="23999"/>
                  <a:pt x="202592" y="0"/>
                  <a:pt x="232172" y="0"/>
                </a:cubicBezTo>
                <a:cubicBezTo>
                  <a:pt x="261751" y="0"/>
                  <a:pt x="285750" y="23999"/>
                  <a:pt x="285750" y="53578"/>
                </a:cubicBezTo>
                <a:close/>
                <a:moveTo>
                  <a:pt x="65354" y="272969"/>
                </a:moveTo>
                <a:cubicBezTo>
                  <a:pt x="63233" y="275369"/>
                  <a:pt x="61336" y="277490"/>
                  <a:pt x="59717" y="279276"/>
                </a:cubicBezTo>
                <a:lnTo>
                  <a:pt x="58713" y="280392"/>
                </a:lnTo>
                <a:lnTo>
                  <a:pt x="58601" y="280281"/>
                </a:lnTo>
                <a:cubicBezTo>
                  <a:pt x="55252" y="282848"/>
                  <a:pt x="50453" y="282513"/>
                  <a:pt x="47439" y="279276"/>
                </a:cubicBezTo>
                <a:cubicBezTo>
                  <a:pt x="33375" y="263984"/>
                  <a:pt x="0" y="224637"/>
                  <a:pt x="0" y="196453"/>
                </a:cubicBezTo>
                <a:cubicBezTo>
                  <a:pt x="0" y="166874"/>
                  <a:pt x="23999" y="142875"/>
                  <a:pt x="53578" y="142875"/>
                </a:cubicBezTo>
                <a:cubicBezTo>
                  <a:pt x="83158" y="142875"/>
                  <a:pt x="107156" y="166874"/>
                  <a:pt x="107156" y="196453"/>
                </a:cubicBezTo>
                <a:cubicBezTo>
                  <a:pt x="107156" y="213196"/>
                  <a:pt x="95380" y="233846"/>
                  <a:pt x="82879" y="251092"/>
                </a:cubicBezTo>
                <a:cubicBezTo>
                  <a:pt x="76907" y="259296"/>
                  <a:pt x="70768" y="266719"/>
                  <a:pt x="65689" y="272579"/>
                </a:cubicBezTo>
                <a:lnTo>
                  <a:pt x="65354" y="272969"/>
                </a:lnTo>
                <a:close/>
                <a:moveTo>
                  <a:pt x="71438" y="196453"/>
                </a:moveTo>
                <a:cubicBezTo>
                  <a:pt x="71438" y="186596"/>
                  <a:pt x="63435" y="178594"/>
                  <a:pt x="53578" y="178594"/>
                </a:cubicBezTo>
                <a:cubicBezTo>
                  <a:pt x="43721" y="178594"/>
                  <a:pt x="35719" y="186596"/>
                  <a:pt x="35719" y="196453"/>
                </a:cubicBezTo>
                <a:cubicBezTo>
                  <a:pt x="35719" y="206310"/>
                  <a:pt x="43721" y="214313"/>
                  <a:pt x="53578" y="214313"/>
                </a:cubicBezTo>
                <a:cubicBezTo>
                  <a:pt x="63435" y="214313"/>
                  <a:pt x="71438" y="206310"/>
                  <a:pt x="71438" y="196453"/>
                </a:cubicBezTo>
                <a:close/>
                <a:moveTo>
                  <a:pt x="232172" y="71438"/>
                </a:moveTo>
                <a:cubicBezTo>
                  <a:pt x="242029" y="71438"/>
                  <a:pt x="250031" y="63435"/>
                  <a:pt x="250031" y="53578"/>
                </a:cubicBezTo>
                <a:cubicBezTo>
                  <a:pt x="250031" y="43721"/>
                  <a:pt x="242029" y="35719"/>
                  <a:pt x="232172" y="35719"/>
                </a:cubicBezTo>
                <a:cubicBezTo>
                  <a:pt x="222315" y="35719"/>
                  <a:pt x="214313" y="43721"/>
                  <a:pt x="214313" y="53578"/>
                </a:cubicBezTo>
                <a:cubicBezTo>
                  <a:pt x="214313" y="63435"/>
                  <a:pt x="222315" y="71438"/>
                  <a:pt x="232172" y="71438"/>
                </a:cubicBezTo>
                <a:close/>
              </a:path>
            </a:pathLst>
          </a:custGeom>
          <a:solidFill>
            <a:srgbClr val="D9A477"/>
          </a:solidFill>
          <a:ln/>
        </p:spPr>
      </p:sp>
      <p:sp>
        <p:nvSpPr>
          <p:cNvPr id="67" name="Text 65"/>
          <p:cNvSpPr/>
          <p:nvPr/>
        </p:nvSpPr>
        <p:spPr>
          <a:xfrm>
            <a:off x="1065848" y="5715000"/>
            <a:ext cx="10687050" cy="266700"/>
          </a:xfrm>
          <a:prstGeom prst="rect">
            <a:avLst/>
          </a:prstGeom>
          <a:noFill/>
          <a:ln/>
        </p:spPr>
        <p:txBody>
          <a:bodyPr wrap="square" lIns="0" tIns="0" rIns="0" bIns="0" rtlCol="0" anchor="ctr"/>
          <a:lstStyle/>
          <a:p>
            <a:pPr>
              <a:lnSpc>
                <a:spcPct val="120000"/>
              </a:lnSpc>
            </a:pPr>
            <a:r>
              <a:rPr lang="en-US" sz="1500" b="1" dirty="0">
                <a:solidFill>
                  <a:srgbClr val="E8E8E8"/>
                </a:solidFill>
                <a:latin typeface="MiSans" pitchFamily="34" charset="0"/>
                <a:ea typeface="MiSans" pitchFamily="34" charset="-122"/>
                <a:cs typeface="MiSans" pitchFamily="34" charset="-120"/>
              </a:rPr>
              <a:t>战略路径总结</a:t>
            </a:r>
            <a:endParaRPr lang="en-US" sz="1600" dirty="0"/>
          </a:p>
        </p:txBody>
      </p:sp>
      <p:sp>
        <p:nvSpPr>
          <p:cNvPr id="68" name="Text 66"/>
          <p:cNvSpPr/>
          <p:nvPr/>
        </p:nvSpPr>
        <p:spPr>
          <a:xfrm>
            <a:off x="1065848" y="6057900"/>
            <a:ext cx="10668000" cy="495300"/>
          </a:xfrm>
          <a:prstGeom prst="rect">
            <a:avLst/>
          </a:prstGeom>
          <a:noFill/>
          <a:ln/>
        </p:spPr>
        <p:txBody>
          <a:bodyPr wrap="square" lIns="0" tIns="0" rIns="0" bIns="0" rtlCol="0" anchor="ctr"/>
          <a:lstStyle/>
          <a:p>
            <a:pPr>
              <a:lnSpc>
                <a:spcPct val="140000"/>
              </a:lnSpc>
            </a:pPr>
            <a:r>
              <a:rPr lang="en-US" sz="1200" dirty="0">
                <a:solidFill>
                  <a:srgbClr val="E8E8E8">
                    <a:alpha val="85000"/>
                  </a:srgbClr>
                </a:solidFill>
                <a:latin typeface="MiSans" pitchFamily="34" charset="0"/>
                <a:ea typeface="MiSans" pitchFamily="34" charset="-122"/>
                <a:cs typeface="MiSans" pitchFamily="34" charset="-120"/>
              </a:rPr>
              <a:t>Nest的完整打法遵循</a:t>
            </a:r>
            <a:r>
              <a:rPr lang="en-US" sz="1200" b="1" dirty="0">
                <a:solidFill>
                  <a:srgbClr val="D9A477"/>
                </a:solidFill>
                <a:latin typeface="MiSans" pitchFamily="34" charset="0"/>
                <a:ea typeface="MiSans" pitchFamily="34" charset="-122"/>
                <a:cs typeface="MiSans" pitchFamily="34" charset="-120"/>
              </a:rPr>
              <a:t>"产品突破→市场扩张→规模巩固"</a:t>
            </a:r>
            <a:r>
              <a:rPr lang="en-US" sz="1200" dirty="0">
                <a:solidFill>
                  <a:srgbClr val="E8E8E8">
                    <a:alpha val="85000"/>
                  </a:srgbClr>
                </a:solidFill>
                <a:latin typeface="MiSans" pitchFamily="34" charset="0"/>
                <a:ea typeface="MiSans" pitchFamily="34" charset="-122"/>
                <a:cs typeface="MiSans" pitchFamily="34" charset="-120"/>
              </a:rPr>
              <a:t>的三阶段战略。每个阶段目标明确、策略协同,最终实现了从挑战者到领导者的跨越,为科技创业公司提供了可复制的商业范本。</a:t>
            </a:r>
            <a:endParaRPr lang="en-US" sz="1600"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www.innovationinbusiness.com/e453b2f424c7b7013d1886dd754482373ec59517.jpg"/>
          <p:cNvPicPr>
            <a:picLocks noChangeAspect="1"/>
          </p:cNvPicPr>
          <p:nvPr/>
        </p:nvPicPr>
        <p:blipFill>
          <a:blip r:embed="rId3">
            <a:alphaModFix amt="20000"/>
          </a:blip>
          <a:srcRect l="5013" r="5013"/>
          <a:stretch/>
        </p:blipFill>
        <p:spPr>
          <a:xfrm>
            <a:off x="0" y="0"/>
            <a:ext cx="12192000" cy="7622143"/>
          </a:xfrm>
          <a:prstGeom prst="roundRect">
            <a:avLst>
              <a:gd name="adj" fmla="val 0"/>
            </a:avLst>
          </a:prstGeom>
        </p:spPr>
      </p:pic>
      <p:sp>
        <p:nvSpPr>
          <p:cNvPr id="3" name="Shape 0"/>
          <p:cNvSpPr/>
          <p:nvPr/>
        </p:nvSpPr>
        <p:spPr>
          <a:xfrm>
            <a:off x="0" y="0"/>
            <a:ext cx="12192000" cy="7622143"/>
          </a:xfrm>
          <a:custGeom>
            <a:avLst/>
            <a:gdLst/>
            <a:ahLst/>
            <a:cxnLst/>
            <a:rect l="l" t="t" r="r" b="b"/>
            <a:pathLst>
              <a:path w="12192000" h="7622143">
                <a:moveTo>
                  <a:pt x="0" y="0"/>
                </a:moveTo>
                <a:lnTo>
                  <a:pt x="12192000" y="0"/>
                </a:lnTo>
                <a:lnTo>
                  <a:pt x="12192000" y="7622143"/>
                </a:lnTo>
                <a:lnTo>
                  <a:pt x="0" y="7622143"/>
                </a:lnTo>
                <a:lnTo>
                  <a:pt x="0" y="0"/>
                </a:lnTo>
                <a:close/>
              </a:path>
            </a:pathLst>
          </a:custGeom>
          <a:gradFill flip="none" rotWithShape="1">
            <a:gsLst>
              <a:gs pos="0">
                <a:srgbClr val="1A1D21">
                  <a:alpha val="98000"/>
                </a:srgbClr>
              </a:gs>
              <a:gs pos="50000">
                <a:srgbClr val="1A1D21">
                  <a:alpha val="95000"/>
                </a:srgbClr>
              </a:gs>
              <a:gs pos="100000">
                <a:srgbClr val="3C8082">
                  <a:alpha val="40000"/>
                </a:srgbClr>
              </a:gs>
            </a:gsLst>
            <a:lin ang="2700000" scaled="1"/>
          </a:gradFill>
          <a:ln/>
        </p:spPr>
      </p:sp>
      <p:sp>
        <p:nvSpPr>
          <p:cNvPr id="4" name="Shape 1"/>
          <p:cNvSpPr/>
          <p:nvPr/>
        </p:nvSpPr>
        <p:spPr>
          <a:xfrm>
            <a:off x="346383" y="346383"/>
            <a:ext cx="1558724" cy="349813"/>
          </a:xfrm>
          <a:custGeom>
            <a:avLst/>
            <a:gdLst/>
            <a:ahLst/>
            <a:cxnLst/>
            <a:rect l="l" t="t" r="r" b="b"/>
            <a:pathLst>
              <a:path w="1558724" h="349813">
                <a:moveTo>
                  <a:pt x="0" y="0"/>
                </a:moveTo>
                <a:lnTo>
                  <a:pt x="1558724" y="0"/>
                </a:lnTo>
                <a:lnTo>
                  <a:pt x="1558724" y="349813"/>
                </a:lnTo>
                <a:lnTo>
                  <a:pt x="0" y="349813"/>
                </a:lnTo>
                <a:lnTo>
                  <a:pt x="0" y="0"/>
                </a:lnTo>
                <a:close/>
              </a:path>
            </a:pathLst>
          </a:custGeom>
          <a:solidFill>
            <a:srgbClr val="3C8082">
              <a:alpha val="25098"/>
            </a:srgbClr>
          </a:solidFill>
          <a:ln w="10160">
            <a:solidFill>
              <a:srgbClr val="3C8082"/>
            </a:solidFill>
            <a:prstDash val="solid"/>
          </a:ln>
        </p:spPr>
      </p:sp>
      <p:sp>
        <p:nvSpPr>
          <p:cNvPr id="5" name="Text 2"/>
          <p:cNvSpPr/>
          <p:nvPr/>
        </p:nvSpPr>
        <p:spPr>
          <a:xfrm>
            <a:off x="521289" y="445840"/>
            <a:ext cx="1265499" cy="157759"/>
          </a:xfrm>
          <a:prstGeom prst="rect">
            <a:avLst/>
          </a:prstGeom>
          <a:noFill/>
          <a:ln/>
        </p:spPr>
        <p:txBody>
          <a:bodyPr wrap="square" lIns="0" tIns="0" rIns="0" bIns="0" rtlCol="0" anchor="ctr"/>
          <a:lstStyle/>
          <a:p>
            <a:pPr>
              <a:lnSpc>
                <a:spcPct val="120000"/>
              </a:lnSpc>
            </a:pPr>
            <a:r>
              <a:rPr lang="en-US" sz="945" b="1" kern="0" spc="189" dirty="0">
                <a:solidFill>
                  <a:srgbClr val="D9A477"/>
                </a:solidFill>
                <a:latin typeface="MiSans" pitchFamily="34" charset="0"/>
                <a:ea typeface="MiSans" pitchFamily="34" charset="-122"/>
                <a:cs typeface="MiSans" pitchFamily="34" charset="-120"/>
              </a:rPr>
              <a:t>Core Insights</a:t>
            </a:r>
            <a:endParaRPr lang="en-US" sz="1600" dirty="0"/>
          </a:p>
        </p:txBody>
      </p:sp>
      <p:sp>
        <p:nvSpPr>
          <p:cNvPr id="6" name="Text 3"/>
          <p:cNvSpPr/>
          <p:nvPr/>
        </p:nvSpPr>
        <p:spPr>
          <a:xfrm>
            <a:off x="342954" y="836812"/>
            <a:ext cx="11711865" cy="411544"/>
          </a:xfrm>
          <a:prstGeom prst="rect">
            <a:avLst/>
          </a:prstGeom>
          <a:noFill/>
          <a:ln/>
        </p:spPr>
        <p:txBody>
          <a:bodyPr wrap="square" lIns="0" tIns="0" rIns="0" bIns="0" rtlCol="0" anchor="ctr"/>
          <a:lstStyle/>
          <a:p>
            <a:pPr>
              <a:lnSpc>
                <a:spcPct val="80000"/>
              </a:lnSpc>
            </a:pPr>
            <a:r>
              <a:rPr lang="en-US" sz="3241" b="1" dirty="0">
                <a:solidFill>
                  <a:srgbClr val="E8E8E8"/>
                </a:solidFill>
                <a:latin typeface="MiSans" pitchFamily="34" charset="0"/>
                <a:ea typeface="MiSans" pitchFamily="34" charset="-122"/>
                <a:cs typeface="MiSans" pitchFamily="34" charset="-120"/>
              </a:rPr>
              <a:t>核心启示</a:t>
            </a:r>
            <a:endParaRPr lang="en-US" sz="1600" dirty="0"/>
          </a:p>
        </p:txBody>
      </p:sp>
      <p:sp>
        <p:nvSpPr>
          <p:cNvPr id="7" name="Text 4"/>
          <p:cNvSpPr/>
          <p:nvPr/>
        </p:nvSpPr>
        <p:spPr>
          <a:xfrm>
            <a:off x="342954" y="1351242"/>
            <a:ext cx="11583257" cy="240068"/>
          </a:xfrm>
          <a:prstGeom prst="rect">
            <a:avLst/>
          </a:prstGeom>
          <a:noFill/>
          <a:ln/>
        </p:spPr>
        <p:txBody>
          <a:bodyPr wrap="square" lIns="0" tIns="0" rIns="0" bIns="0" rtlCol="0" anchor="ctr"/>
          <a:lstStyle/>
          <a:p>
            <a:pPr>
              <a:lnSpc>
                <a:spcPct val="130000"/>
              </a:lnSpc>
            </a:pPr>
            <a:r>
              <a:rPr lang="en-US" sz="1215" dirty="0">
                <a:solidFill>
                  <a:srgbClr val="E8E8E8">
                    <a:alpha val="70000"/>
                  </a:srgbClr>
                </a:solidFill>
                <a:latin typeface="MiSans" pitchFamily="34" charset="0"/>
                <a:ea typeface="MiSans" pitchFamily="34" charset="-122"/>
                <a:cs typeface="MiSans" pitchFamily="34" charset="-120"/>
              </a:rPr>
              <a:t>Nest案例的战略洞察与方法论</a:t>
            </a:r>
            <a:endParaRPr lang="en-US" sz="1600" dirty="0"/>
          </a:p>
        </p:txBody>
      </p:sp>
      <p:sp>
        <p:nvSpPr>
          <p:cNvPr id="8" name="Shape 5"/>
          <p:cNvSpPr/>
          <p:nvPr/>
        </p:nvSpPr>
        <p:spPr>
          <a:xfrm>
            <a:off x="353242" y="1797082"/>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3C8082">
              <a:alpha val="14902"/>
            </a:srgbClr>
          </a:solidFill>
          <a:ln/>
        </p:spPr>
      </p:sp>
      <p:sp>
        <p:nvSpPr>
          <p:cNvPr id="9" name="Shape 6"/>
          <p:cNvSpPr/>
          <p:nvPr/>
        </p:nvSpPr>
        <p:spPr>
          <a:xfrm>
            <a:off x="353242" y="1797082"/>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3C8082"/>
          </a:solidFill>
          <a:ln/>
        </p:spPr>
      </p:sp>
      <p:sp>
        <p:nvSpPr>
          <p:cNvPr id="10" name="Shape 7"/>
          <p:cNvSpPr/>
          <p:nvPr/>
        </p:nvSpPr>
        <p:spPr>
          <a:xfrm>
            <a:off x="535008" y="1968559"/>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3C8082"/>
          </a:solidFill>
          <a:ln/>
        </p:spPr>
      </p:sp>
      <p:sp>
        <p:nvSpPr>
          <p:cNvPr id="11" name="Text 8"/>
          <p:cNvSpPr/>
          <p:nvPr/>
        </p:nvSpPr>
        <p:spPr>
          <a:xfrm>
            <a:off x="496425" y="1968559"/>
            <a:ext cx="420118" cy="342954"/>
          </a:xfrm>
          <a:prstGeom prst="rect">
            <a:avLst/>
          </a:prstGeom>
          <a:noFill/>
          <a:ln/>
        </p:spPr>
        <p:txBody>
          <a:bodyPr wrap="square" lIns="0" tIns="0" rIns="0" bIns="0" rtlCol="0" anchor="ctr"/>
          <a:lstStyle/>
          <a:p>
            <a:pPr algn="ctr">
              <a:lnSpc>
                <a:spcPct val="130000"/>
              </a:lnSpc>
            </a:pPr>
            <a:r>
              <a:rPr lang="en-US" sz="1215" b="1" dirty="0">
                <a:solidFill>
                  <a:srgbClr val="FFFFFF"/>
                </a:solidFill>
                <a:latin typeface="MiSans" pitchFamily="34" charset="0"/>
                <a:ea typeface="MiSans" pitchFamily="34" charset="-122"/>
                <a:cs typeface="MiSans" pitchFamily="34" charset="-120"/>
              </a:rPr>
              <a:t>01</a:t>
            </a:r>
            <a:endParaRPr lang="en-US" sz="1600" dirty="0"/>
          </a:p>
        </p:txBody>
      </p:sp>
      <p:sp>
        <p:nvSpPr>
          <p:cNvPr id="12" name="Text 9"/>
          <p:cNvSpPr/>
          <p:nvPr/>
        </p:nvSpPr>
        <p:spPr>
          <a:xfrm>
            <a:off x="980847" y="2020002"/>
            <a:ext cx="1800506"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以用户为中心创造价值</a:t>
            </a:r>
            <a:endParaRPr lang="en-US" sz="1600" dirty="0"/>
          </a:p>
        </p:txBody>
      </p:sp>
      <p:sp>
        <p:nvSpPr>
          <p:cNvPr id="13" name="Text 10"/>
          <p:cNvSpPr/>
          <p:nvPr/>
        </p:nvSpPr>
        <p:spPr>
          <a:xfrm>
            <a:off x="535008" y="2414398"/>
            <a:ext cx="5375797" cy="445840"/>
          </a:xfrm>
          <a:prstGeom prst="rect">
            <a:avLst/>
          </a:prstGeom>
          <a:noFill/>
          <a:ln/>
        </p:spPr>
        <p:txBody>
          <a:bodyPr wrap="square" lIns="0" tIns="0" rIns="0" bIns="0" rtlCol="0" anchor="ctr"/>
          <a:lstStyle/>
          <a:p>
            <a:pPr>
              <a:lnSpc>
                <a:spcPct val="140000"/>
              </a:lnSpc>
            </a:pPr>
            <a:r>
              <a:rPr lang="en-US" sz="1080" dirty="0">
                <a:solidFill>
                  <a:srgbClr val="E8E8E8">
                    <a:alpha val="85000"/>
                  </a:srgbClr>
                </a:solidFill>
                <a:latin typeface="MiSans" pitchFamily="34" charset="0"/>
                <a:ea typeface="MiSans" pitchFamily="34" charset="-122"/>
                <a:cs typeface="MiSans" pitchFamily="34" charset="-120"/>
              </a:rPr>
              <a:t>从用户需求出发,解决真实痛点。</a:t>
            </a:r>
            <a:r>
              <a:rPr lang="en-US" sz="1080" b="1" dirty="0">
                <a:solidFill>
                  <a:srgbClr val="D9A477"/>
                </a:solidFill>
                <a:latin typeface="MiSans" pitchFamily="34" charset="0"/>
                <a:ea typeface="MiSans" pitchFamily="34" charset="-122"/>
                <a:cs typeface="MiSans" pitchFamily="34" charset="-120"/>
              </a:rPr>
              <a:t>"终于不用每天手动调温度了"</a:t>
            </a:r>
            <a:r>
              <a:rPr lang="en-US" sz="1080" dirty="0">
                <a:solidFill>
                  <a:srgbClr val="E8E8E8">
                    <a:alpha val="85000"/>
                  </a:srgbClr>
                </a:solidFill>
                <a:latin typeface="MiSans" pitchFamily="34" charset="0"/>
                <a:ea typeface="MiSans" pitchFamily="34" charset="-122"/>
                <a:cs typeface="MiSans" pitchFamily="34" charset="-120"/>
              </a:rPr>
              <a:t>——用户反馈印证了产品价值。深度理解用户场景,创造超越功能本身的情感价值。</a:t>
            </a:r>
            <a:endParaRPr lang="en-US" sz="1600" dirty="0"/>
          </a:p>
        </p:txBody>
      </p:sp>
      <p:sp>
        <p:nvSpPr>
          <p:cNvPr id="14" name="Shape 11"/>
          <p:cNvSpPr/>
          <p:nvPr/>
        </p:nvSpPr>
        <p:spPr>
          <a:xfrm>
            <a:off x="353242" y="3168896"/>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D9A477">
              <a:alpha val="14902"/>
            </a:srgbClr>
          </a:solidFill>
          <a:ln/>
        </p:spPr>
      </p:sp>
      <p:sp>
        <p:nvSpPr>
          <p:cNvPr id="15" name="Shape 12"/>
          <p:cNvSpPr/>
          <p:nvPr/>
        </p:nvSpPr>
        <p:spPr>
          <a:xfrm>
            <a:off x="353242" y="3168896"/>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D9A477"/>
          </a:solidFill>
          <a:ln/>
        </p:spPr>
      </p:sp>
      <p:sp>
        <p:nvSpPr>
          <p:cNvPr id="16" name="Shape 13"/>
          <p:cNvSpPr/>
          <p:nvPr/>
        </p:nvSpPr>
        <p:spPr>
          <a:xfrm>
            <a:off x="535008" y="3340373"/>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D9A477"/>
          </a:solidFill>
          <a:ln/>
        </p:spPr>
      </p:sp>
      <p:sp>
        <p:nvSpPr>
          <p:cNvPr id="17" name="Text 14"/>
          <p:cNvSpPr/>
          <p:nvPr/>
        </p:nvSpPr>
        <p:spPr>
          <a:xfrm>
            <a:off x="496425" y="3340373"/>
            <a:ext cx="420118" cy="342954"/>
          </a:xfrm>
          <a:prstGeom prst="rect">
            <a:avLst/>
          </a:prstGeom>
          <a:noFill/>
          <a:ln/>
        </p:spPr>
        <p:txBody>
          <a:bodyPr wrap="square" lIns="0" tIns="0" rIns="0" bIns="0" rtlCol="0" anchor="ctr"/>
          <a:lstStyle/>
          <a:p>
            <a:pPr algn="ctr">
              <a:lnSpc>
                <a:spcPct val="130000"/>
              </a:lnSpc>
            </a:pPr>
            <a:r>
              <a:rPr lang="en-US" sz="1215" b="1" dirty="0">
                <a:solidFill>
                  <a:srgbClr val="1A1D21"/>
                </a:solidFill>
                <a:latin typeface="MiSans" pitchFamily="34" charset="0"/>
                <a:ea typeface="MiSans" pitchFamily="34" charset="-122"/>
                <a:cs typeface="MiSans" pitchFamily="34" charset="-120"/>
              </a:rPr>
              <a:t>02</a:t>
            </a:r>
            <a:endParaRPr lang="en-US" sz="1600" dirty="0"/>
          </a:p>
        </p:txBody>
      </p:sp>
      <p:sp>
        <p:nvSpPr>
          <p:cNvPr id="18" name="Text 15"/>
          <p:cNvSpPr/>
          <p:nvPr/>
        </p:nvSpPr>
        <p:spPr>
          <a:xfrm>
            <a:off x="980847" y="3391816"/>
            <a:ext cx="1800506"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技术差异化构建护城河</a:t>
            </a:r>
            <a:endParaRPr lang="en-US" sz="1600" dirty="0"/>
          </a:p>
        </p:txBody>
      </p:sp>
      <p:sp>
        <p:nvSpPr>
          <p:cNvPr id="19" name="Text 16"/>
          <p:cNvSpPr/>
          <p:nvPr/>
        </p:nvSpPr>
        <p:spPr>
          <a:xfrm>
            <a:off x="535008" y="3786213"/>
            <a:ext cx="5375797" cy="445840"/>
          </a:xfrm>
          <a:prstGeom prst="rect">
            <a:avLst/>
          </a:prstGeom>
          <a:noFill/>
          <a:ln/>
        </p:spPr>
        <p:txBody>
          <a:bodyPr wrap="square" lIns="0" tIns="0" rIns="0" bIns="0" rtlCol="0" anchor="ctr"/>
          <a:lstStyle/>
          <a:p>
            <a:pPr>
              <a:lnSpc>
                <a:spcPct val="140000"/>
              </a:lnSpc>
            </a:pPr>
            <a:r>
              <a:rPr lang="en-US" sz="1080" dirty="0">
                <a:solidFill>
                  <a:srgbClr val="E8E8E8">
                    <a:alpha val="85000"/>
                  </a:srgbClr>
                </a:solidFill>
                <a:latin typeface="MiSans" pitchFamily="34" charset="0"/>
                <a:ea typeface="MiSans" pitchFamily="34" charset="-122"/>
                <a:cs typeface="MiSans" pitchFamily="34" charset="-120"/>
              </a:rPr>
              <a:t>机器学习算法+智能学习能力形成</a:t>
            </a:r>
            <a:r>
              <a:rPr lang="en-US" sz="1080" b="1" dirty="0">
                <a:solidFill>
                  <a:srgbClr val="D9A477"/>
                </a:solidFill>
                <a:latin typeface="MiSans" pitchFamily="34" charset="0"/>
                <a:ea typeface="MiSans" pitchFamily="34" charset="-122"/>
                <a:cs typeface="MiSans" pitchFamily="34" charset="-120"/>
              </a:rPr>
              <a:t>核心技术壁垒</a:t>
            </a:r>
            <a:r>
              <a:rPr lang="en-US" sz="1080" dirty="0">
                <a:solidFill>
                  <a:srgbClr val="E8E8E8">
                    <a:alpha val="85000"/>
                  </a:srgbClr>
                </a:solidFill>
                <a:latin typeface="MiSans" pitchFamily="34" charset="0"/>
                <a:ea typeface="MiSans" pitchFamily="34" charset="-122"/>
                <a:cs typeface="MiSans" pitchFamily="34" charset="-120"/>
              </a:rPr>
              <a:t>。简单的功能模仿无法撼动由算法、数据、用户体验构成的护城河,技术深度决定竞争高度。</a:t>
            </a:r>
            <a:endParaRPr lang="en-US" sz="1600" dirty="0"/>
          </a:p>
        </p:txBody>
      </p:sp>
      <p:sp>
        <p:nvSpPr>
          <p:cNvPr id="20" name="Shape 17"/>
          <p:cNvSpPr/>
          <p:nvPr/>
        </p:nvSpPr>
        <p:spPr>
          <a:xfrm>
            <a:off x="353242" y="4540711"/>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6D7275">
              <a:alpha val="14902"/>
            </a:srgbClr>
          </a:solidFill>
          <a:ln/>
        </p:spPr>
      </p:sp>
      <p:sp>
        <p:nvSpPr>
          <p:cNvPr id="21" name="Shape 18"/>
          <p:cNvSpPr/>
          <p:nvPr/>
        </p:nvSpPr>
        <p:spPr>
          <a:xfrm>
            <a:off x="353242" y="4540711"/>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6D7275"/>
          </a:solidFill>
          <a:ln/>
        </p:spPr>
      </p:sp>
      <p:sp>
        <p:nvSpPr>
          <p:cNvPr id="22" name="Shape 19"/>
          <p:cNvSpPr/>
          <p:nvPr/>
        </p:nvSpPr>
        <p:spPr>
          <a:xfrm>
            <a:off x="535008" y="4712187"/>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6D7275"/>
          </a:solidFill>
          <a:ln/>
        </p:spPr>
      </p:sp>
      <p:sp>
        <p:nvSpPr>
          <p:cNvPr id="23" name="Text 20"/>
          <p:cNvSpPr/>
          <p:nvPr/>
        </p:nvSpPr>
        <p:spPr>
          <a:xfrm>
            <a:off x="496425" y="4712187"/>
            <a:ext cx="420118" cy="342954"/>
          </a:xfrm>
          <a:prstGeom prst="rect">
            <a:avLst/>
          </a:prstGeom>
          <a:noFill/>
          <a:ln/>
        </p:spPr>
        <p:txBody>
          <a:bodyPr wrap="square" lIns="0" tIns="0" rIns="0" bIns="0" rtlCol="0" anchor="ctr"/>
          <a:lstStyle/>
          <a:p>
            <a:pPr algn="ctr">
              <a:lnSpc>
                <a:spcPct val="130000"/>
              </a:lnSpc>
            </a:pPr>
            <a:r>
              <a:rPr lang="en-US" sz="1215" b="1" dirty="0">
                <a:solidFill>
                  <a:srgbClr val="FFFFFF"/>
                </a:solidFill>
                <a:latin typeface="MiSans" pitchFamily="34" charset="0"/>
                <a:ea typeface="MiSans" pitchFamily="34" charset="-122"/>
                <a:cs typeface="MiSans" pitchFamily="34" charset="-120"/>
              </a:rPr>
              <a:t>03</a:t>
            </a:r>
            <a:endParaRPr lang="en-US" sz="1600" dirty="0"/>
          </a:p>
        </p:txBody>
      </p:sp>
      <p:sp>
        <p:nvSpPr>
          <p:cNvPr id="24" name="Text 21"/>
          <p:cNvSpPr/>
          <p:nvPr/>
        </p:nvSpPr>
        <p:spPr>
          <a:xfrm>
            <a:off x="980847" y="4763630"/>
            <a:ext cx="1800506"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价值定价而非成本定价</a:t>
            </a:r>
            <a:endParaRPr lang="en-US" sz="1600" dirty="0"/>
          </a:p>
        </p:txBody>
      </p:sp>
      <p:sp>
        <p:nvSpPr>
          <p:cNvPr id="25" name="Text 22"/>
          <p:cNvSpPr/>
          <p:nvPr/>
        </p:nvSpPr>
        <p:spPr>
          <a:xfrm>
            <a:off x="535008" y="5158027"/>
            <a:ext cx="5375797" cy="445840"/>
          </a:xfrm>
          <a:prstGeom prst="rect">
            <a:avLst/>
          </a:prstGeom>
          <a:noFill/>
          <a:ln/>
        </p:spPr>
        <p:txBody>
          <a:bodyPr wrap="square" lIns="0" tIns="0" rIns="0" bIns="0" rtlCol="0" anchor="ctr"/>
          <a:lstStyle/>
          <a:p>
            <a:pPr>
              <a:lnSpc>
                <a:spcPct val="140000"/>
              </a:lnSpc>
            </a:pPr>
            <a:r>
              <a:rPr lang="en-US" sz="1080" dirty="0">
                <a:solidFill>
                  <a:srgbClr val="E8E8E8">
                    <a:alpha val="85000"/>
                  </a:srgbClr>
                </a:solidFill>
                <a:latin typeface="MiSans" pitchFamily="34" charset="0"/>
                <a:ea typeface="MiSans" pitchFamily="34" charset="-122"/>
                <a:cs typeface="MiSans" pitchFamily="34" charset="-120"/>
              </a:rPr>
              <a:t>定价</a:t>
            </a:r>
            <a:r>
              <a:rPr lang="en-US" sz="1080" b="1" dirty="0">
                <a:solidFill>
                  <a:srgbClr val="D9A477"/>
                </a:solidFill>
                <a:latin typeface="MiSans" pitchFamily="34" charset="0"/>
                <a:ea typeface="MiSans" pitchFamily="34" charset="-122"/>
                <a:cs typeface="MiSans" pitchFamily="34" charset="-120"/>
              </a:rPr>
              <a:t>$249</a:t>
            </a:r>
            <a:r>
              <a:rPr lang="en-US" sz="1080" dirty="0">
                <a:solidFill>
                  <a:srgbClr val="E8E8E8">
                    <a:alpha val="85000"/>
                  </a:srgbClr>
                </a:solidFill>
                <a:latin typeface="MiSans" pitchFamily="34" charset="0"/>
                <a:ea typeface="MiSans" pitchFamily="34" charset="-122"/>
                <a:cs typeface="MiSans" pitchFamily="34" charset="-120"/>
              </a:rPr>
              <a:t>高于传统产品149%,但通过节能回报实现价值闭环。将购买从"开销"转变为"投资",重塑用户价值认知。</a:t>
            </a:r>
            <a:endParaRPr lang="en-US" sz="1600" dirty="0"/>
          </a:p>
        </p:txBody>
      </p:sp>
      <p:sp>
        <p:nvSpPr>
          <p:cNvPr id="26" name="Shape 23"/>
          <p:cNvSpPr/>
          <p:nvPr/>
        </p:nvSpPr>
        <p:spPr>
          <a:xfrm>
            <a:off x="6192885" y="1797082"/>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3C8082">
              <a:alpha val="14902"/>
            </a:srgbClr>
          </a:solidFill>
          <a:ln/>
        </p:spPr>
      </p:sp>
      <p:sp>
        <p:nvSpPr>
          <p:cNvPr id="27" name="Shape 24"/>
          <p:cNvSpPr/>
          <p:nvPr/>
        </p:nvSpPr>
        <p:spPr>
          <a:xfrm>
            <a:off x="6192885" y="1797082"/>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3C8082"/>
          </a:solidFill>
          <a:ln/>
        </p:spPr>
      </p:sp>
      <p:sp>
        <p:nvSpPr>
          <p:cNvPr id="28" name="Shape 25"/>
          <p:cNvSpPr/>
          <p:nvPr/>
        </p:nvSpPr>
        <p:spPr>
          <a:xfrm>
            <a:off x="6374650" y="1968559"/>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3C8082"/>
          </a:solidFill>
          <a:ln/>
        </p:spPr>
      </p:sp>
      <p:sp>
        <p:nvSpPr>
          <p:cNvPr id="29" name="Text 26"/>
          <p:cNvSpPr/>
          <p:nvPr/>
        </p:nvSpPr>
        <p:spPr>
          <a:xfrm>
            <a:off x="6336068" y="1968559"/>
            <a:ext cx="420118" cy="342954"/>
          </a:xfrm>
          <a:prstGeom prst="rect">
            <a:avLst/>
          </a:prstGeom>
          <a:noFill/>
          <a:ln/>
        </p:spPr>
        <p:txBody>
          <a:bodyPr wrap="square" lIns="0" tIns="0" rIns="0" bIns="0" rtlCol="0" anchor="ctr"/>
          <a:lstStyle/>
          <a:p>
            <a:pPr algn="ctr">
              <a:lnSpc>
                <a:spcPct val="130000"/>
              </a:lnSpc>
            </a:pPr>
            <a:r>
              <a:rPr lang="en-US" sz="1215" b="1" dirty="0">
                <a:solidFill>
                  <a:srgbClr val="FFFFFF"/>
                </a:solidFill>
                <a:latin typeface="MiSans" pitchFamily="34" charset="0"/>
                <a:ea typeface="MiSans" pitchFamily="34" charset="-122"/>
                <a:cs typeface="MiSans" pitchFamily="34" charset="-120"/>
              </a:rPr>
              <a:t>04</a:t>
            </a:r>
            <a:endParaRPr lang="en-US" sz="1600" dirty="0"/>
          </a:p>
        </p:txBody>
      </p:sp>
      <p:sp>
        <p:nvSpPr>
          <p:cNvPr id="30" name="Text 27"/>
          <p:cNvSpPr/>
          <p:nvPr/>
        </p:nvSpPr>
        <p:spPr>
          <a:xfrm>
            <a:off x="6820489" y="2020002"/>
            <a:ext cx="1800506"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创新的渠道与营销策略</a:t>
            </a:r>
            <a:endParaRPr lang="en-US" sz="1600" dirty="0"/>
          </a:p>
        </p:txBody>
      </p:sp>
      <p:sp>
        <p:nvSpPr>
          <p:cNvPr id="31" name="Text 28"/>
          <p:cNvSpPr/>
          <p:nvPr/>
        </p:nvSpPr>
        <p:spPr>
          <a:xfrm>
            <a:off x="6374650" y="2414398"/>
            <a:ext cx="5375797" cy="445840"/>
          </a:xfrm>
          <a:prstGeom prst="rect">
            <a:avLst/>
          </a:prstGeom>
          <a:noFill/>
          <a:ln/>
        </p:spPr>
        <p:txBody>
          <a:bodyPr wrap="square" lIns="0" tIns="0" rIns="0" bIns="0" rtlCol="0" anchor="ctr"/>
          <a:lstStyle/>
          <a:p>
            <a:pPr>
              <a:lnSpc>
                <a:spcPct val="140000"/>
              </a:lnSpc>
            </a:pPr>
            <a:r>
              <a:rPr lang="en-US" sz="1080" dirty="0">
                <a:solidFill>
                  <a:srgbClr val="E8E8E8">
                    <a:alpha val="85000"/>
                  </a:srgbClr>
                </a:solidFill>
                <a:latin typeface="MiSans" pitchFamily="34" charset="0"/>
                <a:ea typeface="MiSans" pitchFamily="34" charset="-122"/>
                <a:cs typeface="MiSans" pitchFamily="34" charset="-120"/>
              </a:rPr>
              <a:t>避开传统建材渠道,通过</a:t>
            </a:r>
            <a:r>
              <a:rPr lang="en-US" sz="1080" b="1" dirty="0">
                <a:solidFill>
                  <a:srgbClr val="D9A477"/>
                </a:solidFill>
                <a:latin typeface="MiSans" pitchFamily="34" charset="0"/>
                <a:ea typeface="MiSans" pitchFamily="34" charset="-122"/>
                <a:cs typeface="MiSans" pitchFamily="34" charset="-120"/>
              </a:rPr>
              <a:t>苹果零售店+Best Buy</a:t>
            </a:r>
            <a:r>
              <a:rPr lang="en-US" sz="1080" dirty="0">
                <a:solidFill>
                  <a:srgbClr val="E8E8E8">
                    <a:alpha val="85000"/>
                  </a:srgbClr>
                </a:solidFill>
                <a:latin typeface="MiSans" pitchFamily="34" charset="0"/>
                <a:ea typeface="MiSans" pitchFamily="34" charset="-122"/>
                <a:cs typeface="MiSans" pitchFamily="34" charset="-120"/>
              </a:rPr>
              <a:t>精准触达早期用户。口碑传播+KOL合作+环保叙事形成营销组合拳,快速引爆市场。</a:t>
            </a:r>
            <a:endParaRPr lang="en-US" sz="1600" dirty="0"/>
          </a:p>
        </p:txBody>
      </p:sp>
      <p:sp>
        <p:nvSpPr>
          <p:cNvPr id="32" name="Shape 29"/>
          <p:cNvSpPr/>
          <p:nvPr/>
        </p:nvSpPr>
        <p:spPr>
          <a:xfrm>
            <a:off x="6192885" y="3168896"/>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D9A477">
              <a:alpha val="14902"/>
            </a:srgbClr>
          </a:solidFill>
          <a:ln/>
        </p:spPr>
      </p:sp>
      <p:sp>
        <p:nvSpPr>
          <p:cNvPr id="33" name="Shape 30"/>
          <p:cNvSpPr/>
          <p:nvPr/>
        </p:nvSpPr>
        <p:spPr>
          <a:xfrm>
            <a:off x="6192885" y="3168896"/>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D9A477"/>
          </a:solidFill>
          <a:ln/>
        </p:spPr>
      </p:sp>
      <p:sp>
        <p:nvSpPr>
          <p:cNvPr id="34" name="Shape 31"/>
          <p:cNvSpPr/>
          <p:nvPr/>
        </p:nvSpPr>
        <p:spPr>
          <a:xfrm>
            <a:off x="6374650" y="3340373"/>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D9A477"/>
          </a:solidFill>
          <a:ln/>
        </p:spPr>
      </p:sp>
      <p:sp>
        <p:nvSpPr>
          <p:cNvPr id="35" name="Text 32"/>
          <p:cNvSpPr/>
          <p:nvPr/>
        </p:nvSpPr>
        <p:spPr>
          <a:xfrm>
            <a:off x="6336068" y="3340373"/>
            <a:ext cx="420118" cy="342954"/>
          </a:xfrm>
          <a:prstGeom prst="rect">
            <a:avLst/>
          </a:prstGeom>
          <a:noFill/>
          <a:ln/>
        </p:spPr>
        <p:txBody>
          <a:bodyPr wrap="square" lIns="0" tIns="0" rIns="0" bIns="0" rtlCol="0" anchor="ctr"/>
          <a:lstStyle/>
          <a:p>
            <a:pPr algn="ctr">
              <a:lnSpc>
                <a:spcPct val="130000"/>
              </a:lnSpc>
            </a:pPr>
            <a:r>
              <a:rPr lang="en-US" sz="1215" b="1" dirty="0">
                <a:solidFill>
                  <a:srgbClr val="1A1D21"/>
                </a:solidFill>
                <a:latin typeface="MiSans" pitchFamily="34" charset="0"/>
                <a:ea typeface="MiSans" pitchFamily="34" charset="-122"/>
                <a:cs typeface="MiSans" pitchFamily="34" charset="-120"/>
              </a:rPr>
              <a:t>05</a:t>
            </a:r>
            <a:endParaRPr lang="en-US" sz="1600" dirty="0"/>
          </a:p>
        </p:txBody>
      </p:sp>
      <p:sp>
        <p:nvSpPr>
          <p:cNvPr id="36" name="Text 33"/>
          <p:cNvSpPr/>
          <p:nvPr/>
        </p:nvSpPr>
        <p:spPr>
          <a:xfrm>
            <a:off x="6820489" y="3391816"/>
            <a:ext cx="1629030"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快速迭代与生态布局</a:t>
            </a:r>
            <a:endParaRPr lang="en-US" sz="1600" dirty="0"/>
          </a:p>
        </p:txBody>
      </p:sp>
      <p:sp>
        <p:nvSpPr>
          <p:cNvPr id="37" name="Text 34"/>
          <p:cNvSpPr/>
          <p:nvPr/>
        </p:nvSpPr>
        <p:spPr>
          <a:xfrm>
            <a:off x="6374650" y="3786213"/>
            <a:ext cx="5375797" cy="445840"/>
          </a:xfrm>
          <a:prstGeom prst="rect">
            <a:avLst/>
          </a:prstGeom>
          <a:noFill/>
          <a:ln/>
        </p:spPr>
        <p:txBody>
          <a:bodyPr wrap="square" lIns="0" tIns="0" rIns="0" bIns="0" rtlCol="0" anchor="ctr"/>
          <a:lstStyle/>
          <a:p>
            <a:pPr>
              <a:lnSpc>
                <a:spcPct val="140000"/>
              </a:lnSpc>
            </a:pPr>
            <a:r>
              <a:rPr lang="en-US" sz="1080" dirty="0">
                <a:solidFill>
                  <a:srgbClr val="E8E8E8">
                    <a:alpha val="85000"/>
                  </a:srgbClr>
                </a:solidFill>
                <a:latin typeface="MiSans" pitchFamily="34" charset="0"/>
                <a:ea typeface="MiSans" pitchFamily="34" charset="-122"/>
                <a:cs typeface="MiSans" pitchFamily="34" charset="-120"/>
              </a:rPr>
              <a:t>通过</a:t>
            </a:r>
            <a:r>
              <a:rPr lang="en-US" sz="1080" b="1" dirty="0">
                <a:solidFill>
                  <a:srgbClr val="D9A477"/>
                </a:solidFill>
                <a:latin typeface="MiSans" pitchFamily="34" charset="0"/>
                <a:ea typeface="MiSans" pitchFamily="34" charset="-122"/>
                <a:cs typeface="MiSans" pitchFamily="34" charset="-120"/>
              </a:rPr>
              <a:t>OTA升级</a:t>
            </a:r>
            <a:r>
              <a:rPr lang="en-US" sz="1080" dirty="0">
                <a:solidFill>
                  <a:srgbClr val="E8E8E8">
                    <a:alpha val="85000"/>
                  </a:srgbClr>
                </a:solidFill>
                <a:latin typeface="MiSans" pitchFamily="34" charset="0"/>
                <a:ea typeface="MiSans" pitchFamily="34" charset="-122"/>
                <a:cs typeface="MiSans" pitchFamily="34" charset="-120"/>
              </a:rPr>
              <a:t>持续优化算法,推出"离家模式"等功能。2012年开放API接口,构建智能家居生态,形成网络效应。</a:t>
            </a:r>
            <a:endParaRPr lang="en-US" sz="1600" dirty="0"/>
          </a:p>
        </p:txBody>
      </p:sp>
      <p:sp>
        <p:nvSpPr>
          <p:cNvPr id="38" name="Shape 35"/>
          <p:cNvSpPr/>
          <p:nvPr/>
        </p:nvSpPr>
        <p:spPr>
          <a:xfrm>
            <a:off x="6192885" y="4540711"/>
            <a:ext cx="5660449" cy="1234633"/>
          </a:xfrm>
          <a:custGeom>
            <a:avLst/>
            <a:gdLst/>
            <a:ahLst/>
            <a:cxnLst/>
            <a:rect l="l" t="t" r="r" b="b"/>
            <a:pathLst>
              <a:path w="5660449" h="1234633">
                <a:moveTo>
                  <a:pt x="0" y="0"/>
                </a:moveTo>
                <a:lnTo>
                  <a:pt x="5660449" y="0"/>
                </a:lnTo>
                <a:lnTo>
                  <a:pt x="5660449" y="1234633"/>
                </a:lnTo>
                <a:lnTo>
                  <a:pt x="0" y="1234633"/>
                </a:lnTo>
                <a:lnTo>
                  <a:pt x="0" y="0"/>
                </a:lnTo>
                <a:close/>
              </a:path>
            </a:pathLst>
          </a:custGeom>
          <a:solidFill>
            <a:srgbClr val="6D7275">
              <a:alpha val="14902"/>
            </a:srgbClr>
          </a:solidFill>
          <a:ln/>
        </p:spPr>
      </p:sp>
      <p:sp>
        <p:nvSpPr>
          <p:cNvPr id="39" name="Shape 36"/>
          <p:cNvSpPr/>
          <p:nvPr/>
        </p:nvSpPr>
        <p:spPr>
          <a:xfrm>
            <a:off x="6192885" y="4540711"/>
            <a:ext cx="20577" cy="1234633"/>
          </a:xfrm>
          <a:custGeom>
            <a:avLst/>
            <a:gdLst/>
            <a:ahLst/>
            <a:cxnLst/>
            <a:rect l="l" t="t" r="r" b="b"/>
            <a:pathLst>
              <a:path w="20577" h="1234633">
                <a:moveTo>
                  <a:pt x="0" y="0"/>
                </a:moveTo>
                <a:lnTo>
                  <a:pt x="20577" y="0"/>
                </a:lnTo>
                <a:lnTo>
                  <a:pt x="20577" y="1234633"/>
                </a:lnTo>
                <a:lnTo>
                  <a:pt x="0" y="1234633"/>
                </a:lnTo>
                <a:lnTo>
                  <a:pt x="0" y="0"/>
                </a:lnTo>
                <a:close/>
              </a:path>
            </a:pathLst>
          </a:custGeom>
          <a:solidFill>
            <a:srgbClr val="6D7275"/>
          </a:solidFill>
          <a:ln/>
        </p:spPr>
      </p:sp>
      <p:sp>
        <p:nvSpPr>
          <p:cNvPr id="40" name="Shape 37"/>
          <p:cNvSpPr/>
          <p:nvPr/>
        </p:nvSpPr>
        <p:spPr>
          <a:xfrm>
            <a:off x="6374650" y="4712187"/>
            <a:ext cx="342954" cy="342954"/>
          </a:xfrm>
          <a:custGeom>
            <a:avLst/>
            <a:gdLst/>
            <a:ahLst/>
            <a:cxnLst/>
            <a:rect l="l" t="t" r="r" b="b"/>
            <a:pathLst>
              <a:path w="342954" h="342954">
                <a:moveTo>
                  <a:pt x="0" y="0"/>
                </a:moveTo>
                <a:lnTo>
                  <a:pt x="342954" y="0"/>
                </a:lnTo>
                <a:lnTo>
                  <a:pt x="342954" y="342954"/>
                </a:lnTo>
                <a:lnTo>
                  <a:pt x="0" y="342954"/>
                </a:lnTo>
                <a:lnTo>
                  <a:pt x="0" y="0"/>
                </a:lnTo>
                <a:close/>
              </a:path>
            </a:pathLst>
          </a:custGeom>
          <a:solidFill>
            <a:srgbClr val="6D7275"/>
          </a:solidFill>
          <a:ln/>
        </p:spPr>
      </p:sp>
      <p:sp>
        <p:nvSpPr>
          <p:cNvPr id="41" name="Text 38"/>
          <p:cNvSpPr/>
          <p:nvPr/>
        </p:nvSpPr>
        <p:spPr>
          <a:xfrm>
            <a:off x="6336068" y="4712187"/>
            <a:ext cx="420118" cy="342954"/>
          </a:xfrm>
          <a:prstGeom prst="rect">
            <a:avLst/>
          </a:prstGeom>
          <a:noFill/>
          <a:ln/>
        </p:spPr>
        <p:txBody>
          <a:bodyPr wrap="square" lIns="0" tIns="0" rIns="0" bIns="0" rtlCol="0" anchor="ctr"/>
          <a:lstStyle/>
          <a:p>
            <a:pPr algn="ctr">
              <a:lnSpc>
                <a:spcPct val="130000"/>
              </a:lnSpc>
            </a:pPr>
            <a:r>
              <a:rPr lang="en-US" sz="1215" b="1" dirty="0">
                <a:solidFill>
                  <a:srgbClr val="FFFFFF"/>
                </a:solidFill>
                <a:latin typeface="MiSans" pitchFamily="34" charset="0"/>
                <a:ea typeface="MiSans" pitchFamily="34" charset="-122"/>
                <a:cs typeface="MiSans" pitchFamily="34" charset="-120"/>
              </a:rPr>
              <a:t>06</a:t>
            </a:r>
            <a:endParaRPr lang="en-US" sz="1600" dirty="0"/>
          </a:p>
        </p:txBody>
      </p:sp>
      <p:sp>
        <p:nvSpPr>
          <p:cNvPr id="42" name="Text 39"/>
          <p:cNvSpPr/>
          <p:nvPr/>
        </p:nvSpPr>
        <p:spPr>
          <a:xfrm>
            <a:off x="6820489" y="4763630"/>
            <a:ext cx="1286076" cy="240068"/>
          </a:xfrm>
          <a:prstGeom prst="rect">
            <a:avLst/>
          </a:prstGeom>
          <a:noFill/>
          <a:ln/>
        </p:spPr>
        <p:txBody>
          <a:bodyPr wrap="square" lIns="0" tIns="0" rIns="0" bIns="0" rtlCol="0" anchor="ctr"/>
          <a:lstStyle/>
          <a:p>
            <a:pPr>
              <a:lnSpc>
                <a:spcPct val="120000"/>
              </a:lnSpc>
            </a:pPr>
            <a:r>
              <a:rPr lang="en-US" sz="1350" b="1" dirty="0">
                <a:solidFill>
                  <a:srgbClr val="E8E8E8"/>
                </a:solidFill>
                <a:latin typeface="MiSans" pitchFamily="34" charset="0"/>
                <a:ea typeface="MiSans" pitchFamily="34" charset="-122"/>
                <a:cs typeface="MiSans" pitchFamily="34" charset="-120"/>
              </a:rPr>
              <a:t>三阶段战略路径</a:t>
            </a:r>
            <a:endParaRPr lang="en-US" sz="1600" dirty="0"/>
          </a:p>
        </p:txBody>
      </p:sp>
      <p:sp>
        <p:nvSpPr>
          <p:cNvPr id="43" name="Text 40"/>
          <p:cNvSpPr/>
          <p:nvPr/>
        </p:nvSpPr>
        <p:spPr>
          <a:xfrm>
            <a:off x="6374650" y="5158027"/>
            <a:ext cx="5375797" cy="445840"/>
          </a:xfrm>
          <a:prstGeom prst="rect">
            <a:avLst/>
          </a:prstGeom>
          <a:noFill/>
          <a:ln/>
        </p:spPr>
        <p:txBody>
          <a:bodyPr wrap="square" lIns="0" tIns="0" rIns="0" bIns="0" rtlCol="0" anchor="ctr"/>
          <a:lstStyle/>
          <a:p>
            <a:pPr>
              <a:lnSpc>
                <a:spcPct val="140000"/>
              </a:lnSpc>
            </a:pPr>
            <a:r>
              <a:rPr lang="en-US" sz="1080" b="1" dirty="0">
                <a:solidFill>
                  <a:srgbClr val="D9A477"/>
                </a:solidFill>
                <a:latin typeface="MiSans" pitchFamily="34" charset="0"/>
                <a:ea typeface="MiSans" pitchFamily="34" charset="-122"/>
                <a:cs typeface="MiSans" pitchFamily="34" charset="-120"/>
              </a:rPr>
              <a:t>"产品突破→市场扩张→规模巩固"</a:t>
            </a:r>
            <a:r>
              <a:rPr lang="en-US" sz="1080" dirty="0">
                <a:solidFill>
                  <a:srgbClr val="E8E8E8">
                    <a:alpha val="85000"/>
                  </a:srgbClr>
                </a:solidFill>
                <a:latin typeface="MiSans" pitchFamily="34" charset="0"/>
                <a:ea typeface="MiSans" pitchFamily="34" charset="-122"/>
                <a:cs typeface="MiSans" pitchFamily="34" charset="-120"/>
              </a:rPr>
              <a:t>的三阶段战略清晰。每个阶段目标明确、策略协同,最终实现了从挑战者到领导者的跨越。</a:t>
            </a:r>
            <a:endParaRPr lang="en-US" sz="1600" dirty="0"/>
          </a:p>
        </p:txBody>
      </p:sp>
      <p:sp>
        <p:nvSpPr>
          <p:cNvPr id="44" name="Shape 41"/>
          <p:cNvSpPr/>
          <p:nvPr/>
        </p:nvSpPr>
        <p:spPr>
          <a:xfrm>
            <a:off x="346383" y="6367689"/>
            <a:ext cx="11504378" cy="907112"/>
          </a:xfrm>
          <a:custGeom>
            <a:avLst/>
            <a:gdLst/>
            <a:ahLst/>
            <a:cxnLst/>
            <a:rect l="l" t="t" r="r" b="b"/>
            <a:pathLst>
              <a:path w="11504378" h="907112">
                <a:moveTo>
                  <a:pt x="0" y="0"/>
                </a:moveTo>
                <a:lnTo>
                  <a:pt x="11504378" y="0"/>
                </a:lnTo>
                <a:lnTo>
                  <a:pt x="11504378" y="907112"/>
                </a:lnTo>
                <a:lnTo>
                  <a:pt x="0" y="907112"/>
                </a:lnTo>
                <a:lnTo>
                  <a:pt x="0" y="0"/>
                </a:lnTo>
                <a:close/>
              </a:path>
            </a:pathLst>
          </a:custGeom>
          <a:solidFill>
            <a:srgbClr val="3C8082">
              <a:alpha val="20000"/>
            </a:srgbClr>
          </a:solidFill>
          <a:ln w="10160">
            <a:solidFill>
              <a:srgbClr val="3C8082"/>
            </a:solidFill>
            <a:prstDash val="solid"/>
          </a:ln>
        </p:spPr>
      </p:sp>
      <p:sp>
        <p:nvSpPr>
          <p:cNvPr id="45" name="Shape 42"/>
          <p:cNvSpPr/>
          <p:nvPr/>
        </p:nvSpPr>
        <p:spPr>
          <a:xfrm>
            <a:off x="579163" y="6666914"/>
            <a:ext cx="270076" cy="308658"/>
          </a:xfrm>
          <a:custGeom>
            <a:avLst/>
            <a:gdLst/>
            <a:ahLst/>
            <a:cxnLst/>
            <a:rect l="l" t="t" r="r" b="b"/>
            <a:pathLst>
              <a:path w="270076" h="308658">
                <a:moveTo>
                  <a:pt x="0" y="130215"/>
                </a:moveTo>
                <a:cubicBezTo>
                  <a:pt x="0" y="90246"/>
                  <a:pt x="32373" y="57873"/>
                  <a:pt x="72342" y="57873"/>
                </a:cubicBezTo>
                <a:lnTo>
                  <a:pt x="77165" y="57873"/>
                </a:lnTo>
                <a:cubicBezTo>
                  <a:pt x="87835" y="57873"/>
                  <a:pt x="96456" y="66494"/>
                  <a:pt x="96456" y="77165"/>
                </a:cubicBezTo>
                <a:cubicBezTo>
                  <a:pt x="96456" y="87835"/>
                  <a:pt x="87835" y="96456"/>
                  <a:pt x="77165" y="96456"/>
                </a:cubicBezTo>
                <a:lnTo>
                  <a:pt x="72342" y="96456"/>
                </a:lnTo>
                <a:cubicBezTo>
                  <a:pt x="53714" y="96456"/>
                  <a:pt x="38582" y="111587"/>
                  <a:pt x="38582" y="130215"/>
                </a:cubicBezTo>
                <a:lnTo>
                  <a:pt x="38582" y="135038"/>
                </a:lnTo>
                <a:lnTo>
                  <a:pt x="77165" y="135038"/>
                </a:lnTo>
                <a:cubicBezTo>
                  <a:pt x="98445" y="135038"/>
                  <a:pt x="115747" y="152340"/>
                  <a:pt x="115747" y="173620"/>
                </a:cubicBezTo>
                <a:lnTo>
                  <a:pt x="115747" y="212203"/>
                </a:lnTo>
                <a:cubicBezTo>
                  <a:pt x="115747" y="233483"/>
                  <a:pt x="98445" y="250785"/>
                  <a:pt x="77165" y="250785"/>
                </a:cubicBezTo>
                <a:lnTo>
                  <a:pt x="38582" y="250785"/>
                </a:lnTo>
                <a:cubicBezTo>
                  <a:pt x="17302" y="250785"/>
                  <a:pt x="0" y="233483"/>
                  <a:pt x="0" y="212203"/>
                </a:cubicBezTo>
                <a:lnTo>
                  <a:pt x="0" y="130215"/>
                </a:lnTo>
                <a:close/>
                <a:moveTo>
                  <a:pt x="154329" y="130215"/>
                </a:moveTo>
                <a:cubicBezTo>
                  <a:pt x="154329" y="90246"/>
                  <a:pt x="186702" y="57873"/>
                  <a:pt x="226671" y="57873"/>
                </a:cubicBezTo>
                <a:lnTo>
                  <a:pt x="231494" y="57873"/>
                </a:lnTo>
                <a:cubicBezTo>
                  <a:pt x="242164" y="57873"/>
                  <a:pt x="250785" y="66494"/>
                  <a:pt x="250785" y="77165"/>
                </a:cubicBezTo>
                <a:cubicBezTo>
                  <a:pt x="250785" y="87835"/>
                  <a:pt x="242164" y="96456"/>
                  <a:pt x="231494" y="96456"/>
                </a:cubicBezTo>
                <a:lnTo>
                  <a:pt x="226671" y="96456"/>
                </a:lnTo>
                <a:cubicBezTo>
                  <a:pt x="208043" y="96456"/>
                  <a:pt x="192911" y="111587"/>
                  <a:pt x="192911" y="130215"/>
                </a:cubicBezTo>
                <a:lnTo>
                  <a:pt x="192911" y="135038"/>
                </a:lnTo>
                <a:lnTo>
                  <a:pt x="231494" y="135038"/>
                </a:lnTo>
                <a:cubicBezTo>
                  <a:pt x="252774" y="135038"/>
                  <a:pt x="270076" y="152340"/>
                  <a:pt x="270076" y="173620"/>
                </a:cubicBezTo>
                <a:lnTo>
                  <a:pt x="270076" y="212203"/>
                </a:lnTo>
                <a:cubicBezTo>
                  <a:pt x="270076" y="233483"/>
                  <a:pt x="252774" y="250785"/>
                  <a:pt x="231494" y="250785"/>
                </a:cubicBezTo>
                <a:lnTo>
                  <a:pt x="192911" y="250785"/>
                </a:lnTo>
                <a:cubicBezTo>
                  <a:pt x="171631" y="250785"/>
                  <a:pt x="154329" y="233483"/>
                  <a:pt x="154329" y="212203"/>
                </a:cubicBezTo>
                <a:lnTo>
                  <a:pt x="154329" y="130215"/>
                </a:lnTo>
                <a:close/>
              </a:path>
            </a:pathLst>
          </a:custGeom>
          <a:solidFill>
            <a:srgbClr val="D9A477"/>
          </a:solidFill>
          <a:ln/>
        </p:spPr>
      </p:sp>
      <p:sp>
        <p:nvSpPr>
          <p:cNvPr id="46" name="Text 43"/>
          <p:cNvSpPr/>
          <p:nvPr/>
        </p:nvSpPr>
        <p:spPr>
          <a:xfrm>
            <a:off x="1078589" y="6542593"/>
            <a:ext cx="10125705" cy="557300"/>
          </a:xfrm>
          <a:prstGeom prst="rect">
            <a:avLst/>
          </a:prstGeom>
          <a:noFill/>
          <a:ln/>
        </p:spPr>
        <p:txBody>
          <a:bodyPr wrap="square" lIns="0" tIns="0" rIns="0" bIns="0" rtlCol="0" anchor="ctr"/>
          <a:lstStyle/>
          <a:p>
            <a:pPr>
              <a:lnSpc>
                <a:spcPct val="140000"/>
              </a:lnSpc>
            </a:pPr>
            <a:r>
              <a:rPr lang="en-US" sz="1350" dirty="0">
                <a:solidFill>
                  <a:srgbClr val="E8E8E8"/>
                </a:solidFill>
                <a:latin typeface="MiSans" pitchFamily="34" charset="0"/>
                <a:ea typeface="MiSans" pitchFamily="34" charset="-122"/>
                <a:cs typeface="MiSans" pitchFamily="34" charset="-120"/>
              </a:rPr>
              <a:t>Nest的成功不是偶然,而是</a:t>
            </a:r>
            <a:r>
              <a:rPr lang="en-US" sz="1350" b="1" dirty="0">
                <a:solidFill>
                  <a:srgbClr val="D9A477"/>
                </a:solidFill>
                <a:latin typeface="MiSans" pitchFamily="34" charset="0"/>
                <a:ea typeface="MiSans" pitchFamily="34" charset="-122"/>
                <a:cs typeface="MiSans" pitchFamily="34" charset="-120"/>
              </a:rPr>
              <a:t>以用户为中心的产品创新、技术差异化的护城河、价值定价的商业模式、渠道与营销的战略协同</a:t>
            </a:r>
            <a:r>
              <a:rPr lang="en-US" sz="1350" dirty="0">
                <a:solidFill>
                  <a:srgbClr val="E8E8E8"/>
                </a:solidFill>
                <a:latin typeface="MiSans" pitchFamily="34" charset="0"/>
                <a:ea typeface="MiSans" pitchFamily="34" charset="-122"/>
                <a:cs typeface="MiSans" pitchFamily="34" charset="-120"/>
              </a:rPr>
              <a:t>共同作用的结果。这一案例为科技创业公司提供了从市场挑战者到行业王者的完整方法论。</a:t>
            </a:r>
            <a:endParaRPr lang="en-US" sz="1600" dirty="0"/>
          </a:p>
        </p:txBody>
      </p:sp>
      <p:sp>
        <p:nvSpPr>
          <p:cNvPr id="47" name="Shape 44"/>
          <p:cNvSpPr/>
          <p:nvPr/>
        </p:nvSpPr>
        <p:spPr>
          <a:xfrm>
            <a:off x="11344583" y="6666914"/>
            <a:ext cx="270076" cy="308658"/>
          </a:xfrm>
          <a:custGeom>
            <a:avLst/>
            <a:gdLst/>
            <a:ahLst/>
            <a:cxnLst/>
            <a:rect l="l" t="t" r="r" b="b"/>
            <a:pathLst>
              <a:path w="270076" h="308658">
                <a:moveTo>
                  <a:pt x="270076" y="178443"/>
                </a:moveTo>
                <a:cubicBezTo>
                  <a:pt x="270076" y="218412"/>
                  <a:pt x="237703" y="250785"/>
                  <a:pt x="197734" y="250785"/>
                </a:cubicBezTo>
                <a:lnTo>
                  <a:pt x="192911" y="250785"/>
                </a:lnTo>
                <a:cubicBezTo>
                  <a:pt x="182241" y="250785"/>
                  <a:pt x="173620" y="242164"/>
                  <a:pt x="173620" y="231494"/>
                </a:cubicBezTo>
                <a:cubicBezTo>
                  <a:pt x="173620" y="220823"/>
                  <a:pt x="182241" y="212203"/>
                  <a:pt x="192911" y="212203"/>
                </a:cubicBezTo>
                <a:lnTo>
                  <a:pt x="197734" y="212203"/>
                </a:lnTo>
                <a:cubicBezTo>
                  <a:pt x="216362" y="212203"/>
                  <a:pt x="231494" y="197071"/>
                  <a:pt x="231494" y="178443"/>
                </a:cubicBezTo>
                <a:lnTo>
                  <a:pt x="231494" y="173620"/>
                </a:lnTo>
                <a:lnTo>
                  <a:pt x="192911" y="173620"/>
                </a:lnTo>
                <a:cubicBezTo>
                  <a:pt x="171631" y="173620"/>
                  <a:pt x="154329" y="156319"/>
                  <a:pt x="154329" y="135038"/>
                </a:cubicBezTo>
                <a:lnTo>
                  <a:pt x="154329" y="96456"/>
                </a:lnTo>
                <a:cubicBezTo>
                  <a:pt x="154329" y="75175"/>
                  <a:pt x="171631" y="57873"/>
                  <a:pt x="192911" y="57873"/>
                </a:cubicBezTo>
                <a:lnTo>
                  <a:pt x="231494" y="57873"/>
                </a:lnTo>
                <a:cubicBezTo>
                  <a:pt x="252774" y="57873"/>
                  <a:pt x="270076" y="75175"/>
                  <a:pt x="270076" y="96456"/>
                </a:cubicBezTo>
                <a:lnTo>
                  <a:pt x="270076" y="178443"/>
                </a:lnTo>
                <a:close/>
                <a:moveTo>
                  <a:pt x="115747" y="178443"/>
                </a:moveTo>
                <a:cubicBezTo>
                  <a:pt x="115747" y="218412"/>
                  <a:pt x="83374" y="250785"/>
                  <a:pt x="43405" y="250785"/>
                </a:cubicBezTo>
                <a:lnTo>
                  <a:pt x="38582" y="250785"/>
                </a:lnTo>
                <a:cubicBezTo>
                  <a:pt x="27912" y="250785"/>
                  <a:pt x="19291" y="242164"/>
                  <a:pt x="19291" y="231494"/>
                </a:cubicBezTo>
                <a:cubicBezTo>
                  <a:pt x="19291" y="220823"/>
                  <a:pt x="27912" y="212203"/>
                  <a:pt x="38582" y="212203"/>
                </a:cubicBezTo>
                <a:lnTo>
                  <a:pt x="43405" y="212203"/>
                </a:lnTo>
                <a:cubicBezTo>
                  <a:pt x="62033" y="212203"/>
                  <a:pt x="77165" y="197071"/>
                  <a:pt x="77165" y="178443"/>
                </a:cubicBezTo>
                <a:lnTo>
                  <a:pt x="77165" y="173620"/>
                </a:lnTo>
                <a:lnTo>
                  <a:pt x="38582" y="173620"/>
                </a:lnTo>
                <a:cubicBezTo>
                  <a:pt x="17302" y="173620"/>
                  <a:pt x="0" y="156319"/>
                  <a:pt x="0" y="135038"/>
                </a:cubicBezTo>
                <a:lnTo>
                  <a:pt x="0" y="96456"/>
                </a:lnTo>
                <a:cubicBezTo>
                  <a:pt x="0" y="75175"/>
                  <a:pt x="17302" y="57873"/>
                  <a:pt x="38582" y="57873"/>
                </a:cubicBezTo>
                <a:lnTo>
                  <a:pt x="77165" y="57873"/>
                </a:lnTo>
                <a:cubicBezTo>
                  <a:pt x="98445" y="57873"/>
                  <a:pt x="115747" y="75175"/>
                  <a:pt x="115747" y="96456"/>
                </a:cubicBezTo>
                <a:lnTo>
                  <a:pt x="115747" y="178443"/>
                </a:lnTo>
                <a:close/>
              </a:path>
            </a:pathLst>
          </a:custGeom>
          <a:solidFill>
            <a:srgbClr val="D9A477"/>
          </a:solidFill>
          <a:ln/>
        </p:spPr>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847</Words>
  <Application>Microsoft Office PowerPoint</Application>
  <PresentationFormat>宽屏</PresentationFormat>
  <Paragraphs>285</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Calibri</vt:lpstr>
      <vt:lpstr>MiSans</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Nest恒温器:颠覆巨头的创新之路</dc:title>
  <dc:subject>Nest恒温器:颠覆巨头的创新之路</dc:subject>
  <dc:creator>Kimi</dc:creator>
  <cp:lastModifiedBy>Lenovo</cp:lastModifiedBy>
  <cp:revision>4</cp:revision>
  <dcterms:created xsi:type="dcterms:W3CDTF">2026-01-09T09:01:02Z</dcterms:created>
  <dcterms:modified xsi:type="dcterms:W3CDTF">2026-01-09T09:28:55Z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{"Label":"Nest恒温器:颠覆巨头的创新之路","ContentProducer":"001191110108MACG2KBH8F10000","ProduceID":"19ba1f28-ded2-85d6-8000-00002ba8e325","ReservedCode1":"","ContentPropagator":"001191110108MACG2KBH8F20000","PropagateID":"19ba1f28-ded2-85d6-8000-00002ba8e325","Rese</vt:lpwstr>
  </property>
</Properties>
</file>