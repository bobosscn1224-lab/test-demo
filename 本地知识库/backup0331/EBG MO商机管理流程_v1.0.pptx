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3" r:id="rId10"/>
    <p:sldId id="264" r:id="rId11"/>
    <p:sldId id="265" r:id="rId12"/>
    <p:sldId id="267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MiSans" panose="02010600030101010101" charset="-122"/>
      <p:regular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得意黑" panose="02010600030101010101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6EF"/>
    <a:srgbClr val="E9EBEB"/>
    <a:srgbClr val="F8F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51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457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1c3942fa3e5f01d927c1269c444b6581e093d648.jpg"/>
          <p:cNvPicPr>
            <a:picLocks noChangeAspect="1"/>
          </p:cNvPicPr>
          <p:nvPr/>
        </p:nvPicPr>
        <p:blipFill>
          <a:blip r:embed="rId3"/>
          <a:srcRect l="189" r="1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85000"/>
                </a:srgbClr>
              </a:gs>
              <a:gs pos="50000">
                <a:srgbClr val="2C3E50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929878"/>
            <a:ext cx="2333625" cy="381000"/>
          </a:xfrm>
          <a:custGeom>
            <a:avLst/>
            <a:gdLst/>
            <a:ahLst/>
            <a:cxnLst/>
            <a:rect l="l" t="t" r="r" b="b"/>
            <a:pathLst>
              <a:path w="2333625" h="381000">
                <a:moveTo>
                  <a:pt x="76200" y="0"/>
                </a:moveTo>
                <a:lnTo>
                  <a:pt x="2257425" y="0"/>
                </a:lnTo>
                <a:cubicBezTo>
                  <a:pt x="2299481" y="0"/>
                  <a:pt x="2333625" y="34144"/>
                  <a:pt x="2333625" y="76200"/>
                </a:cubicBezTo>
                <a:lnTo>
                  <a:pt x="2333625" y="304800"/>
                </a:lnTo>
                <a:cubicBezTo>
                  <a:pt x="2333625" y="346856"/>
                  <a:pt x="2299481" y="381000"/>
                  <a:pt x="225742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006078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 BUSINESS PROCESS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39478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EBG MO商机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管理流程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406378"/>
            <a:ext cx="1066800" cy="38100"/>
          </a:xfrm>
          <a:custGeom>
            <a:avLst/>
            <a:gdLst/>
            <a:ahLst/>
            <a:cxnLst/>
            <a:rect l="l" t="t" r="r" b="b"/>
            <a:pathLst>
              <a:path w="1066800" h="38100">
                <a:moveTo>
                  <a:pt x="0" y="0"/>
                </a:moveTo>
                <a:lnTo>
                  <a:pt x="1066800" y="0"/>
                </a:lnTo>
                <a:lnTo>
                  <a:pt x="1066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3673078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F8F6F2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MO流程各专项组及系统部立项项目输入拉通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442222"/>
            <a:ext cx="7296150" cy="1028700"/>
          </a:xfrm>
          <a:custGeom>
            <a:avLst/>
            <a:gdLst/>
            <a:ahLst/>
            <a:cxnLst/>
            <a:rect l="l" t="t" r="r" b="b"/>
            <a:pathLst>
              <a:path w="7296150" h="1028700">
                <a:moveTo>
                  <a:pt x="38100" y="0"/>
                </a:moveTo>
                <a:lnTo>
                  <a:pt x="7181851" y="0"/>
                </a:lnTo>
                <a:cubicBezTo>
                  <a:pt x="7244977" y="0"/>
                  <a:pt x="7296150" y="51173"/>
                  <a:pt x="7296150" y="114299"/>
                </a:cubicBezTo>
                <a:lnTo>
                  <a:pt x="7296150" y="914401"/>
                </a:lnTo>
                <a:cubicBezTo>
                  <a:pt x="7296150" y="977527"/>
                  <a:pt x="7244977" y="1028700"/>
                  <a:pt x="7181851" y="1028700"/>
                </a:cubicBez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4442222"/>
            <a:ext cx="38100" cy="1028700"/>
          </a:xfrm>
          <a:custGeom>
            <a:avLst/>
            <a:gdLst/>
            <a:ahLst/>
            <a:cxnLst/>
            <a:rect l="l" t="t" r="r" b="b"/>
            <a:pathLst>
              <a:path w="38100" h="1028700">
                <a:moveTo>
                  <a:pt x="38100" y="0"/>
                </a:moveTo>
                <a:lnTo>
                  <a:pt x="38100" y="0"/>
                </a:lnTo>
                <a:lnTo>
                  <a:pt x="38100" y="1028700"/>
                </a:lnTo>
                <a:lnTo>
                  <a:pt x="38100" y="1028700"/>
                </a:lnTo>
                <a:cubicBezTo>
                  <a:pt x="17072" y="1028700"/>
                  <a:pt x="0" y="1011628"/>
                  <a:pt x="0" y="990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670822"/>
            <a:ext cx="6915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26年GTM、重客、系统部 重点关注项目立项管理要求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7700" y="5013722"/>
            <a:ext cx="689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全面提升商机转化质量与效率 · 全生命周期管理体系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1000" y="6019800"/>
            <a:ext cx="1047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2026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5050" y="60198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EBG事业部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355050" y="624840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商机管理流程项目组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087815" y="6134100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6F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会议议程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954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56210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00050" y="1562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2063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206371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95400" y="203513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立项管理变革背景与核心变化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237803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从单一金额标准到多维度评估体系的演进逻辑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91250" y="156210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1250" y="156210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06371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6343650" y="206371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03513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378035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BG级/BU级/区域级/一般项目的四级分类体系详解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251121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0050" y="325112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752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0" name="Text 18"/>
          <p:cNvSpPr/>
          <p:nvPr/>
        </p:nvSpPr>
        <p:spPr>
          <a:xfrm>
            <a:off x="552450" y="375273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95400" y="372415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MO流程运转机制与关键节点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06705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六大关键节点、责任人、时间要求与业务目标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3251121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91250" y="3251121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375273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6343650" y="375273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72415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各角色职责与协作要求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406705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GTM/重客/系统部项目清单提报要求与协作机制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94026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0050" y="494026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544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2" name="Text 30"/>
          <p:cNvSpPr/>
          <p:nvPr/>
        </p:nvSpPr>
        <p:spPr>
          <a:xfrm>
            <a:off x="552450" y="544187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" y="541329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5400" y="575619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会前准备、会中跟进、会后执行的完整闭环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1250" y="4940260"/>
            <a:ext cx="5619750" cy="1533525"/>
          </a:xfrm>
          <a:custGeom>
            <a:avLst/>
            <a:gdLst/>
            <a:ahLst/>
            <a:cxnLst/>
            <a:rect l="l" t="t" r="r" b="b"/>
            <a:pathLst>
              <a:path w="5619750" h="1533525">
                <a:moveTo>
                  <a:pt x="38100" y="0"/>
                </a:moveTo>
                <a:lnTo>
                  <a:pt x="5505456" y="0"/>
                </a:lnTo>
                <a:cubicBezTo>
                  <a:pt x="5568579" y="0"/>
                  <a:pt x="5619750" y="51171"/>
                  <a:pt x="5619750" y="114294"/>
                </a:cubicBezTo>
                <a:lnTo>
                  <a:pt x="5619750" y="1419231"/>
                </a:lnTo>
                <a:cubicBezTo>
                  <a:pt x="5619750" y="1482354"/>
                  <a:pt x="5568579" y="1533525"/>
                  <a:pt x="5505456" y="1533525"/>
                </a:cubicBezTo>
                <a:lnTo>
                  <a:pt x="38100" y="1533525"/>
                </a:lnTo>
                <a:cubicBezTo>
                  <a:pt x="17058" y="1533525"/>
                  <a:pt x="0" y="1516467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91250" y="4940260"/>
            <a:ext cx="38100" cy="1533525"/>
          </a:xfrm>
          <a:custGeom>
            <a:avLst/>
            <a:gdLst/>
            <a:ahLst/>
            <a:cxnLst/>
            <a:rect l="l" t="t" r="r" b="b"/>
            <a:pathLst>
              <a:path w="38100" h="1533525">
                <a:moveTo>
                  <a:pt x="38100" y="0"/>
                </a:moveTo>
                <a:lnTo>
                  <a:pt x="38100" y="0"/>
                </a:lnTo>
                <a:lnTo>
                  <a:pt x="38100" y="1533525"/>
                </a:lnTo>
                <a:lnTo>
                  <a:pt x="38100" y="1533525"/>
                </a:lnTo>
                <a:cubicBezTo>
                  <a:pt x="17072" y="1533525"/>
                  <a:pt x="0" y="1516453"/>
                  <a:pt x="0" y="14954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544187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8" name="Text 36"/>
          <p:cNvSpPr/>
          <p:nvPr/>
        </p:nvSpPr>
        <p:spPr>
          <a:xfrm>
            <a:off x="6343650" y="5441871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5413296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系统操作指南与执行检查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5756196"/>
            <a:ext cx="4610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CRM系统操作、考核机制与下一步执行要求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立项管理变革:从单一金额到多维度标准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174750"/>
            <a:ext cx="5715000" cy="3333750"/>
          </a:xfrm>
          <a:custGeom>
            <a:avLst/>
            <a:gdLst/>
            <a:ahLst/>
            <a:cxnLst/>
            <a:rect l="l" t="t" r="r" b="b"/>
            <a:pathLst>
              <a:path w="5715000" h="3333750">
                <a:moveTo>
                  <a:pt x="95245" y="0"/>
                </a:moveTo>
                <a:lnTo>
                  <a:pt x="5619755" y="0"/>
                </a:lnTo>
                <a:cubicBezTo>
                  <a:pt x="5672357" y="0"/>
                  <a:pt x="5715000" y="42643"/>
                  <a:pt x="5715000" y="95245"/>
                </a:cubicBezTo>
                <a:lnTo>
                  <a:pt x="5715000" y="3238505"/>
                </a:lnTo>
                <a:cubicBezTo>
                  <a:pt x="5715000" y="3291107"/>
                  <a:pt x="5672357" y="3333750"/>
                  <a:pt x="5619755" y="3333750"/>
                </a:cubicBezTo>
                <a:lnTo>
                  <a:pt x="95245" y="3333750"/>
                </a:lnTo>
                <a:cubicBezTo>
                  <a:pt x="42643" y="3333750"/>
                  <a:pt x="0" y="3291107"/>
                  <a:pt x="0" y="32385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8000" y="13413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77670" y="77670"/>
                </a:moveTo>
                <a:cubicBezTo>
                  <a:pt x="82042" y="73298"/>
                  <a:pt x="89111" y="73298"/>
                  <a:pt x="93436" y="77670"/>
                </a:cubicBezTo>
                <a:lnTo>
                  <a:pt x="119016" y="103250"/>
                </a:lnTo>
                <a:lnTo>
                  <a:pt x="144596" y="77670"/>
                </a:lnTo>
                <a:cubicBezTo>
                  <a:pt x="148968" y="73298"/>
                  <a:pt x="156037" y="73298"/>
                  <a:pt x="160362" y="77670"/>
                </a:cubicBezTo>
                <a:cubicBezTo>
                  <a:pt x="164688" y="82042"/>
                  <a:pt x="164734" y="89111"/>
                  <a:pt x="160362" y="93436"/>
                </a:cubicBezTo>
                <a:lnTo>
                  <a:pt x="134782" y="119016"/>
                </a:lnTo>
                <a:lnTo>
                  <a:pt x="160362" y="144596"/>
                </a:lnTo>
                <a:cubicBezTo>
                  <a:pt x="164734" y="148968"/>
                  <a:pt x="164734" y="156037"/>
                  <a:pt x="160362" y="160362"/>
                </a:cubicBezTo>
                <a:cubicBezTo>
                  <a:pt x="155990" y="164688"/>
                  <a:pt x="148921" y="164734"/>
                  <a:pt x="144596" y="160362"/>
                </a:cubicBezTo>
                <a:lnTo>
                  <a:pt x="119016" y="134782"/>
                </a:lnTo>
                <a:lnTo>
                  <a:pt x="93436" y="160362"/>
                </a:lnTo>
                <a:cubicBezTo>
                  <a:pt x="89064" y="164734"/>
                  <a:pt x="81995" y="164734"/>
                  <a:pt x="77670" y="160362"/>
                </a:cubicBezTo>
                <a:cubicBezTo>
                  <a:pt x="73344" y="155990"/>
                  <a:pt x="73298" y="148921"/>
                  <a:pt x="77670" y="144596"/>
                </a:cubicBezTo>
                <a:lnTo>
                  <a:pt x="103250" y="119016"/>
                </a:lnTo>
                <a:lnTo>
                  <a:pt x="77670" y="93436"/>
                </a:lnTo>
                <a:cubicBezTo>
                  <a:pt x="73298" y="89064"/>
                  <a:pt x="73298" y="81995"/>
                  <a:pt x="77670" y="7767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7" name="Text 5"/>
          <p:cNvSpPr/>
          <p:nvPr/>
        </p:nvSpPr>
        <p:spPr>
          <a:xfrm>
            <a:off x="869156" y="1333500"/>
            <a:ext cx="85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原有标准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2125" y="1714401"/>
            <a:ext cx="5381625" cy="75719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2125" y="1714401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" y="1778030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单一金额判断</a:t>
            </a:r>
          </a:p>
        </p:txBody>
      </p:sp>
      <p:sp>
        <p:nvSpPr>
          <p:cNvPr id="11" name="Text 9"/>
          <p:cNvSpPr/>
          <p:nvPr/>
        </p:nvSpPr>
        <p:spPr>
          <a:xfrm>
            <a:off x="635000" y="212715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仅根据项目预估金额是否达到200万门槛值来确定是否发起立项</a:t>
            </a:r>
          </a:p>
        </p:txBody>
      </p:sp>
      <p:sp>
        <p:nvSpPr>
          <p:cNvPr id="12" name="Shape 10"/>
          <p:cNvSpPr/>
          <p:nvPr/>
        </p:nvSpPr>
        <p:spPr>
          <a:xfrm>
            <a:off x="492125" y="2555776"/>
            <a:ext cx="5381625" cy="945297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92125" y="2555775"/>
            <a:ext cx="31750" cy="900000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000" y="2619405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缺乏综合评估</a:t>
            </a:r>
          </a:p>
        </p:txBody>
      </p:sp>
      <p:sp>
        <p:nvSpPr>
          <p:cNvPr id="15" name="Text 13"/>
          <p:cNvSpPr/>
          <p:nvPr/>
        </p:nvSpPr>
        <p:spPr>
          <a:xfrm>
            <a:off x="635000" y="2968526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缺乏对客户战略重要性、竞争态势、解决方案重要级复杂度等关键维度的综合评估</a:t>
            </a:r>
          </a:p>
        </p:txBody>
      </p:sp>
      <p:sp>
        <p:nvSpPr>
          <p:cNvPr id="16" name="Shape 14"/>
          <p:cNvSpPr/>
          <p:nvPr/>
        </p:nvSpPr>
        <p:spPr>
          <a:xfrm>
            <a:off x="492125" y="3596323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2125" y="3596325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000" y="3678058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资源错配风险</a:t>
            </a:r>
          </a:p>
        </p:txBody>
      </p:sp>
      <p:sp>
        <p:nvSpPr>
          <p:cNvPr id="19" name="Text 17"/>
          <p:cNvSpPr/>
          <p:nvPr/>
        </p:nvSpPr>
        <p:spPr>
          <a:xfrm>
            <a:off x="635000" y="394570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易导致战略资源错配</a:t>
            </a:r>
          </a:p>
        </p:txBody>
      </p:sp>
      <p:sp>
        <p:nvSpPr>
          <p:cNvPr id="20" name="Shape 18"/>
          <p:cNvSpPr/>
          <p:nvPr/>
        </p:nvSpPr>
        <p:spPr>
          <a:xfrm>
            <a:off x="6159500" y="1174750"/>
            <a:ext cx="5715000" cy="3333750"/>
          </a:xfrm>
          <a:custGeom>
            <a:avLst/>
            <a:gdLst/>
            <a:ahLst/>
            <a:cxnLst/>
            <a:rect l="l" t="t" r="r" b="b"/>
            <a:pathLst>
              <a:path w="5715000" h="3333750">
                <a:moveTo>
                  <a:pt x="95245" y="0"/>
                </a:moveTo>
                <a:lnTo>
                  <a:pt x="5619755" y="0"/>
                </a:lnTo>
                <a:cubicBezTo>
                  <a:pt x="5672357" y="0"/>
                  <a:pt x="5715000" y="42643"/>
                  <a:pt x="5715000" y="95245"/>
                </a:cubicBezTo>
                <a:lnTo>
                  <a:pt x="5715000" y="3238505"/>
                </a:lnTo>
                <a:cubicBezTo>
                  <a:pt x="5715000" y="3291107"/>
                  <a:pt x="5672357" y="3333750"/>
                  <a:pt x="5619755" y="3333750"/>
                </a:cubicBezTo>
                <a:lnTo>
                  <a:pt x="95245" y="3333750"/>
                </a:lnTo>
                <a:cubicBezTo>
                  <a:pt x="42643" y="3333750"/>
                  <a:pt x="0" y="3291107"/>
                  <a:pt x="0" y="32385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0000" y="1341339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2" name="Text 20"/>
          <p:cNvSpPr/>
          <p:nvPr/>
        </p:nvSpPr>
        <p:spPr>
          <a:xfrm>
            <a:off x="6711156" y="1333500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新标准核心变化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34125" y="1714401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334125" y="1714401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477000" y="1787083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金额标准保留</a:t>
            </a:r>
          </a:p>
        </p:txBody>
      </p:sp>
      <p:sp>
        <p:nvSpPr>
          <p:cNvPr id="26" name="Text 24"/>
          <p:cNvSpPr/>
          <p:nvPr/>
        </p:nvSpPr>
        <p:spPr>
          <a:xfrm>
            <a:off x="6477000" y="2127151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保留200万+/500万+/800万+的金额门槛作为基础判断维度</a:t>
            </a:r>
          </a:p>
        </p:txBody>
      </p:sp>
      <p:sp>
        <p:nvSpPr>
          <p:cNvPr id="27" name="Shape 25"/>
          <p:cNvSpPr/>
          <p:nvPr/>
        </p:nvSpPr>
        <p:spPr>
          <a:xfrm>
            <a:off x="6334125" y="2555776"/>
            <a:ext cx="5381625" cy="952500"/>
          </a:xfrm>
          <a:custGeom>
            <a:avLst/>
            <a:gdLst/>
            <a:ahLst/>
            <a:cxnLst/>
            <a:rect l="l" t="t" r="r" b="b"/>
            <a:pathLst>
              <a:path w="5381625" h="952500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888997"/>
                </a:lnTo>
                <a:cubicBezTo>
                  <a:pt x="5381625" y="924069"/>
                  <a:pt x="5353194" y="952500"/>
                  <a:pt x="5318122" y="952500"/>
                </a:cubicBez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334125" y="2555776"/>
            <a:ext cx="31750" cy="952500"/>
          </a:xfrm>
          <a:custGeom>
            <a:avLst/>
            <a:gdLst/>
            <a:ahLst/>
            <a:cxnLst/>
            <a:rect l="l" t="t" r="r" b="b"/>
            <a:pathLst>
              <a:path w="31750" h="952500">
                <a:moveTo>
                  <a:pt x="31750" y="0"/>
                </a:moveTo>
                <a:lnTo>
                  <a:pt x="31750" y="0"/>
                </a:lnTo>
                <a:lnTo>
                  <a:pt x="31750" y="952500"/>
                </a:lnTo>
                <a:lnTo>
                  <a:pt x="31750" y="952500"/>
                </a:lnTo>
                <a:cubicBezTo>
                  <a:pt x="14227" y="952500"/>
                  <a:pt x="0" y="938273"/>
                  <a:pt x="0" y="920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2619404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负责人指定项目</a:t>
            </a:r>
          </a:p>
        </p:txBody>
      </p:sp>
      <p:sp>
        <p:nvSpPr>
          <p:cNvPr id="30" name="Text 28"/>
          <p:cNvSpPr/>
          <p:nvPr/>
        </p:nvSpPr>
        <p:spPr>
          <a:xfrm>
            <a:off x="6477000" y="2914208"/>
            <a:ext cx="5175250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核心变革：GTM负责人、重客负责人、系统总年初指定的重点项目清单,无论金额大小均需立项</a:t>
            </a:r>
          </a:p>
        </p:txBody>
      </p:sp>
      <p:sp>
        <p:nvSpPr>
          <p:cNvPr id="31" name="Shape 29"/>
          <p:cNvSpPr/>
          <p:nvPr/>
        </p:nvSpPr>
        <p:spPr>
          <a:xfrm>
            <a:off x="6334125" y="3603526"/>
            <a:ext cx="5381625" cy="746125"/>
          </a:xfrm>
          <a:custGeom>
            <a:avLst/>
            <a:gdLst/>
            <a:ahLst/>
            <a:cxnLst/>
            <a:rect l="l" t="t" r="r" b="b"/>
            <a:pathLst>
              <a:path w="5381625" h="746125">
                <a:moveTo>
                  <a:pt x="31750" y="0"/>
                </a:moveTo>
                <a:lnTo>
                  <a:pt x="5318122" y="0"/>
                </a:lnTo>
                <a:cubicBezTo>
                  <a:pt x="5353194" y="0"/>
                  <a:pt x="5381625" y="28431"/>
                  <a:pt x="5381625" y="63503"/>
                </a:cubicBezTo>
                <a:lnTo>
                  <a:pt x="5381625" y="682622"/>
                </a:lnTo>
                <a:cubicBezTo>
                  <a:pt x="5381625" y="717694"/>
                  <a:pt x="5353194" y="746125"/>
                  <a:pt x="5318122" y="746125"/>
                </a:cubicBezTo>
                <a:lnTo>
                  <a:pt x="31750" y="746125"/>
                </a:lnTo>
                <a:cubicBezTo>
                  <a:pt x="14215" y="746125"/>
                  <a:pt x="0" y="731910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334125" y="3603526"/>
            <a:ext cx="31750" cy="746125"/>
          </a:xfrm>
          <a:custGeom>
            <a:avLst/>
            <a:gdLst/>
            <a:ahLst/>
            <a:cxnLst/>
            <a:rect l="l" t="t" r="r" b="b"/>
            <a:pathLst>
              <a:path w="31750" h="746125">
                <a:moveTo>
                  <a:pt x="31750" y="0"/>
                </a:moveTo>
                <a:lnTo>
                  <a:pt x="31750" y="0"/>
                </a:lnTo>
                <a:lnTo>
                  <a:pt x="31750" y="746125"/>
                </a:lnTo>
                <a:lnTo>
                  <a:pt x="31750" y="746125"/>
                </a:lnTo>
                <a:cubicBezTo>
                  <a:pt x="14227" y="746125"/>
                  <a:pt x="0" y="731898"/>
                  <a:pt x="0" y="714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3" name="Text 31"/>
          <p:cNvSpPr/>
          <p:nvPr/>
        </p:nvSpPr>
        <p:spPr>
          <a:xfrm>
            <a:off x="6477000" y="3639996"/>
            <a:ext cx="5183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客户维度强制立项</a:t>
            </a:r>
          </a:p>
        </p:txBody>
      </p:sp>
      <p:sp>
        <p:nvSpPr>
          <p:cNvPr id="34" name="Text 32"/>
          <p:cNvSpPr/>
          <p:nvPr/>
        </p:nvSpPr>
        <p:spPr>
          <a:xfrm>
            <a:off x="6477000" y="4016276"/>
            <a:ext cx="5175250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重客立项规则从默认所有金额必须立项,修订为大于80W立项,确保资源投入有效性</a:t>
            </a:r>
          </a:p>
        </p:txBody>
      </p:sp>
      <p:sp>
        <p:nvSpPr>
          <p:cNvPr id="35" name="Shape 33"/>
          <p:cNvSpPr/>
          <p:nvPr/>
        </p:nvSpPr>
        <p:spPr>
          <a:xfrm>
            <a:off x="317500" y="4635401"/>
            <a:ext cx="8890000" cy="1492250"/>
          </a:xfrm>
          <a:custGeom>
            <a:avLst/>
            <a:gdLst/>
            <a:ahLst/>
            <a:cxnLst/>
            <a:rect l="l" t="t" r="r" b="b"/>
            <a:pathLst>
              <a:path w="8890000" h="1492250">
                <a:moveTo>
                  <a:pt x="95250" y="0"/>
                </a:moveTo>
                <a:lnTo>
                  <a:pt x="8794750" y="0"/>
                </a:lnTo>
                <a:cubicBezTo>
                  <a:pt x="8847355" y="0"/>
                  <a:pt x="8890000" y="42645"/>
                  <a:pt x="8890000" y="95250"/>
                </a:cubicBezTo>
                <a:lnTo>
                  <a:pt x="8890000" y="1397000"/>
                </a:lnTo>
                <a:cubicBezTo>
                  <a:pt x="8890000" y="1449605"/>
                  <a:pt x="8847355" y="1492250"/>
                  <a:pt x="8794750" y="1492250"/>
                </a:cubicBezTo>
                <a:lnTo>
                  <a:pt x="95250" y="1492250"/>
                </a:lnTo>
                <a:cubicBezTo>
                  <a:pt x="42645" y="1492250"/>
                  <a:pt x="0" y="1449605"/>
                  <a:pt x="0" y="1397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6" name="Shape 34"/>
          <p:cNvSpPr/>
          <p:nvPr/>
        </p:nvSpPr>
        <p:spPr>
          <a:xfrm>
            <a:off x="496094" y="482590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9688" y="99219"/>
                </a:moveTo>
                <a:lnTo>
                  <a:pt x="7596" y="99219"/>
                </a:lnTo>
                <a:cubicBezTo>
                  <a:pt x="-124" y="99219"/>
                  <a:pt x="-4868" y="90816"/>
                  <a:pt x="-899" y="84181"/>
                </a:cubicBezTo>
                <a:lnTo>
                  <a:pt x="15503" y="56834"/>
                </a:lnTo>
                <a:cubicBezTo>
                  <a:pt x="18200" y="52338"/>
                  <a:pt x="23037" y="49609"/>
                  <a:pt x="28277" y="49609"/>
                </a:cubicBezTo>
                <a:lnTo>
                  <a:pt x="57733" y="49609"/>
                </a:lnTo>
                <a:cubicBezTo>
                  <a:pt x="81328" y="9643"/>
                  <a:pt x="116520" y="7627"/>
                  <a:pt x="140053" y="11069"/>
                </a:cubicBezTo>
                <a:cubicBezTo>
                  <a:pt x="144022" y="11658"/>
                  <a:pt x="147123" y="14759"/>
                  <a:pt x="147681" y="18697"/>
                </a:cubicBezTo>
                <a:cubicBezTo>
                  <a:pt x="151123" y="42230"/>
                  <a:pt x="149107" y="77422"/>
                  <a:pt x="109141" y="101017"/>
                </a:cubicBezTo>
                <a:lnTo>
                  <a:pt x="109141" y="130473"/>
                </a:lnTo>
                <a:cubicBezTo>
                  <a:pt x="109141" y="135713"/>
                  <a:pt x="106412" y="140550"/>
                  <a:pt x="101916" y="143247"/>
                </a:cubicBezTo>
                <a:lnTo>
                  <a:pt x="74569" y="159649"/>
                </a:lnTo>
                <a:cubicBezTo>
                  <a:pt x="67965" y="163618"/>
                  <a:pt x="59531" y="158843"/>
                  <a:pt x="59531" y="151154"/>
                </a:cubicBezTo>
                <a:lnTo>
                  <a:pt x="59531" y="119062"/>
                </a:lnTo>
                <a:cubicBezTo>
                  <a:pt x="59531" y="108117"/>
                  <a:pt x="50633" y="99219"/>
                  <a:pt x="39688" y="99219"/>
                </a:cubicBezTo>
                <a:lnTo>
                  <a:pt x="39656" y="99219"/>
                </a:lnTo>
                <a:close/>
                <a:moveTo>
                  <a:pt x="124023" y="49609"/>
                </a:moveTo>
                <a:cubicBezTo>
                  <a:pt x="124023" y="41395"/>
                  <a:pt x="117355" y="34727"/>
                  <a:pt x="109141" y="34727"/>
                </a:cubicBezTo>
                <a:cubicBezTo>
                  <a:pt x="100927" y="34727"/>
                  <a:pt x="94258" y="41395"/>
                  <a:pt x="94258" y="49609"/>
                </a:cubicBezTo>
                <a:cubicBezTo>
                  <a:pt x="94258" y="57823"/>
                  <a:pt x="100927" y="64492"/>
                  <a:pt x="109141" y="64492"/>
                </a:cubicBezTo>
                <a:cubicBezTo>
                  <a:pt x="117355" y="64492"/>
                  <a:pt x="124023" y="57823"/>
                  <a:pt x="124023" y="49609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674688" y="4794151"/>
            <a:ext cx="845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变革驱动力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2862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提升管理精准性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846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前置识别战略级项目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1787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优化资源配置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3771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确保核心资源投入关键战场</a:t>
            </a:r>
          </a:p>
        </p:txBody>
      </p:sp>
      <p:sp>
        <p:nvSpPr>
          <p:cNvPr id="42" name="Text 40"/>
          <p:cNvSpPr/>
          <p:nvPr/>
        </p:nvSpPr>
        <p:spPr>
          <a:xfrm>
            <a:off x="6207125" y="5111651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强化协同作战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226969" y="5397302"/>
            <a:ext cx="2849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通过立项机制组建项目铁三角</a:t>
            </a:r>
          </a:p>
        </p:txBody>
      </p:sp>
      <p:sp>
        <p:nvSpPr>
          <p:cNvPr id="44" name="Shape 42"/>
          <p:cNvSpPr/>
          <p:nvPr/>
        </p:nvSpPr>
        <p:spPr>
          <a:xfrm>
            <a:off x="9334500" y="4651276"/>
            <a:ext cx="2540000" cy="1476375"/>
          </a:xfrm>
          <a:custGeom>
            <a:avLst/>
            <a:gdLst/>
            <a:ahLst/>
            <a:cxnLst/>
            <a:rect l="l" t="t" r="r" b="b"/>
            <a:pathLst>
              <a:path w="2540000" h="1476375">
                <a:moveTo>
                  <a:pt x="31750" y="0"/>
                </a:moveTo>
                <a:lnTo>
                  <a:pt x="2508250" y="0"/>
                </a:lnTo>
                <a:cubicBezTo>
                  <a:pt x="2525773" y="0"/>
                  <a:pt x="2540000" y="14227"/>
                  <a:pt x="2540000" y="31750"/>
                </a:cubicBezTo>
                <a:lnTo>
                  <a:pt x="2540000" y="1381119"/>
                </a:lnTo>
                <a:cubicBezTo>
                  <a:pt x="2540000" y="1433728"/>
                  <a:pt x="2497353" y="1476375"/>
                  <a:pt x="2444744" y="1476375"/>
                </a:cubicBezTo>
                <a:lnTo>
                  <a:pt x="95256" y="1476375"/>
                </a:lnTo>
                <a:cubicBezTo>
                  <a:pt x="42683" y="1476375"/>
                  <a:pt x="0" y="1433692"/>
                  <a:pt x="0" y="1381119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334500" y="4651276"/>
            <a:ext cx="2540000" cy="31750"/>
          </a:xfrm>
          <a:custGeom>
            <a:avLst/>
            <a:gdLst/>
            <a:ahLst/>
            <a:cxnLst/>
            <a:rect l="l" t="t" r="r" b="b"/>
            <a:pathLst>
              <a:path w="2540000" h="31750">
                <a:moveTo>
                  <a:pt x="31750" y="0"/>
                </a:moveTo>
                <a:lnTo>
                  <a:pt x="2508250" y="0"/>
                </a:lnTo>
                <a:cubicBezTo>
                  <a:pt x="2525773" y="0"/>
                  <a:pt x="2540000" y="14227"/>
                  <a:pt x="2540000" y="31750"/>
                </a:cubicBezTo>
                <a:lnTo>
                  <a:pt x="2540000" y="31750"/>
                </a:lnTo>
                <a:lnTo>
                  <a:pt x="0" y="31750"/>
                </a:ln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6" name="Shape 44"/>
          <p:cNvSpPr/>
          <p:nvPr/>
        </p:nvSpPr>
        <p:spPr>
          <a:xfrm>
            <a:off x="9503172" y="4857651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95963" y="-5860"/>
                </a:moveTo>
                <a:cubicBezTo>
                  <a:pt x="94692" y="-8341"/>
                  <a:pt x="92118" y="-9922"/>
                  <a:pt x="89328" y="-9922"/>
                </a:cubicBezTo>
                <a:cubicBezTo>
                  <a:pt x="86537" y="-9922"/>
                  <a:pt x="83964" y="-8341"/>
                  <a:pt x="82693" y="-5860"/>
                </a:cubicBezTo>
                <a:lnTo>
                  <a:pt x="59872" y="38850"/>
                </a:lnTo>
                <a:lnTo>
                  <a:pt x="10294" y="46726"/>
                </a:lnTo>
                <a:cubicBezTo>
                  <a:pt x="7534" y="47160"/>
                  <a:pt x="5240" y="49113"/>
                  <a:pt x="4372" y="51780"/>
                </a:cubicBezTo>
                <a:cubicBezTo>
                  <a:pt x="3504" y="54446"/>
                  <a:pt x="4217" y="57361"/>
                  <a:pt x="6170" y="59345"/>
                </a:cubicBezTo>
                <a:lnTo>
                  <a:pt x="41641" y="94847"/>
                </a:lnTo>
                <a:lnTo>
                  <a:pt x="33827" y="144425"/>
                </a:lnTo>
                <a:cubicBezTo>
                  <a:pt x="33393" y="147185"/>
                  <a:pt x="34541" y="149975"/>
                  <a:pt x="36804" y="151619"/>
                </a:cubicBezTo>
                <a:cubicBezTo>
                  <a:pt x="39067" y="153262"/>
                  <a:pt x="42044" y="153510"/>
                  <a:pt x="44555" y="152239"/>
                </a:cubicBezTo>
                <a:lnTo>
                  <a:pt x="89328" y="129480"/>
                </a:lnTo>
                <a:lnTo>
                  <a:pt x="134069" y="152239"/>
                </a:lnTo>
                <a:cubicBezTo>
                  <a:pt x="136550" y="153510"/>
                  <a:pt x="139557" y="153262"/>
                  <a:pt x="141821" y="151619"/>
                </a:cubicBezTo>
                <a:cubicBezTo>
                  <a:pt x="144084" y="149975"/>
                  <a:pt x="145231" y="147216"/>
                  <a:pt x="144797" y="144425"/>
                </a:cubicBezTo>
                <a:lnTo>
                  <a:pt x="136953" y="94847"/>
                </a:lnTo>
                <a:lnTo>
                  <a:pt x="172424" y="59345"/>
                </a:lnTo>
                <a:cubicBezTo>
                  <a:pt x="174408" y="57361"/>
                  <a:pt x="175090" y="54446"/>
                  <a:pt x="174222" y="51780"/>
                </a:cubicBezTo>
                <a:cubicBezTo>
                  <a:pt x="173354" y="49113"/>
                  <a:pt x="171090" y="47160"/>
                  <a:pt x="168300" y="46726"/>
                </a:cubicBezTo>
                <a:lnTo>
                  <a:pt x="118752" y="38850"/>
                </a:lnTo>
                <a:lnTo>
                  <a:pt x="95963" y="-586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9691688" y="4825901"/>
            <a:ext cx="2103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特殊项目识别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493250" y="5143401"/>
            <a:ext cx="2286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可由系统部和平台管理部直接勾选的立项商机,如部门级/系统部解决方案前三单、行业类大金额的框采、行业EC&amp;DC类项目、区域直签项目等</a:t>
            </a:r>
            <a:endParaRPr lang="en-US" sz="1130" dirty="0"/>
          </a:p>
        </p:txBody>
      </p:sp>
      <p:sp>
        <p:nvSpPr>
          <p:cNvPr id="49" name="Shape 47"/>
          <p:cNvSpPr/>
          <p:nvPr/>
        </p:nvSpPr>
        <p:spPr>
          <a:xfrm>
            <a:off x="317500" y="6254651"/>
            <a:ext cx="11557000" cy="476250"/>
          </a:xfrm>
          <a:custGeom>
            <a:avLst/>
            <a:gdLst/>
            <a:ahLst/>
            <a:cxnLst/>
            <a:rect l="l" t="t" r="r" b="b"/>
            <a:pathLst>
              <a:path w="11557000" h="476250">
                <a:moveTo>
                  <a:pt x="95250" y="0"/>
                </a:moveTo>
                <a:lnTo>
                  <a:pt x="11461750" y="0"/>
                </a:lnTo>
                <a:cubicBezTo>
                  <a:pt x="11514320" y="0"/>
                  <a:pt x="11557000" y="42680"/>
                  <a:pt x="11557000" y="95250"/>
                </a:cubicBezTo>
                <a:lnTo>
                  <a:pt x="11557000" y="381000"/>
                </a:lnTo>
                <a:cubicBezTo>
                  <a:pt x="11557000" y="433570"/>
                  <a:pt x="11514320" y="476250"/>
                  <a:pt x="11461750" y="476250"/>
                </a:cubicBezTo>
                <a:lnTo>
                  <a:pt x="95250" y="476250"/>
                </a:lnTo>
                <a:cubicBezTo>
                  <a:pt x="42680" y="476250"/>
                  <a:pt x="0" y="433570"/>
                  <a:pt x="0" y="3810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0" name="Shape 48"/>
          <p:cNvSpPr/>
          <p:nvPr/>
        </p:nvSpPr>
        <p:spPr>
          <a:xfrm>
            <a:off x="2439392" y="642133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25016" y="71438"/>
                </a:moveTo>
                <a:cubicBezTo>
                  <a:pt x="125016" y="41867"/>
                  <a:pt x="101008" y="17859"/>
                  <a:pt x="71438" y="17859"/>
                </a:cubicBezTo>
                <a:cubicBezTo>
                  <a:pt x="41867" y="17859"/>
                  <a:pt x="17859" y="41867"/>
                  <a:pt x="17859" y="71438"/>
                </a:cubicBezTo>
                <a:cubicBezTo>
                  <a:pt x="17859" y="101008"/>
                  <a:pt x="41867" y="125016"/>
                  <a:pt x="71438" y="125016"/>
                </a:cubicBezTo>
                <a:cubicBezTo>
                  <a:pt x="101008" y="125016"/>
                  <a:pt x="125016" y="101008"/>
                  <a:pt x="125016" y="71438"/>
                </a:cubicBezTo>
                <a:close/>
                <a:moveTo>
                  <a:pt x="0" y="71438"/>
                </a:moveTo>
                <a:cubicBezTo>
                  <a:pt x="0" y="32010"/>
                  <a:pt x="32010" y="0"/>
                  <a:pt x="71437" y="0"/>
                </a:cubicBezTo>
                <a:cubicBezTo>
                  <a:pt x="110865" y="0"/>
                  <a:pt x="142875" y="32010"/>
                  <a:pt x="142875" y="71437"/>
                </a:cubicBezTo>
                <a:cubicBezTo>
                  <a:pt x="142875" y="110865"/>
                  <a:pt x="110865" y="142875"/>
                  <a:pt x="71438" y="142875"/>
                </a:cubicBezTo>
                <a:cubicBezTo>
                  <a:pt x="32010" y="142875"/>
                  <a:pt x="0" y="110865"/>
                  <a:pt x="0" y="71438"/>
                </a:cubicBezTo>
                <a:close/>
                <a:moveTo>
                  <a:pt x="71438" y="93762"/>
                </a:moveTo>
                <a:cubicBezTo>
                  <a:pt x="83759" y="93762"/>
                  <a:pt x="93762" y="83759"/>
                  <a:pt x="93762" y="71438"/>
                </a:cubicBezTo>
                <a:cubicBezTo>
                  <a:pt x="93762" y="59116"/>
                  <a:pt x="83759" y="49113"/>
                  <a:pt x="71438" y="49113"/>
                </a:cubicBezTo>
                <a:cubicBezTo>
                  <a:pt x="59116" y="49113"/>
                  <a:pt x="49113" y="59116"/>
                  <a:pt x="49113" y="71438"/>
                </a:cubicBezTo>
                <a:cubicBezTo>
                  <a:pt x="49113" y="83759"/>
                  <a:pt x="59116" y="93762"/>
                  <a:pt x="71438" y="93762"/>
                </a:cubicBezTo>
                <a:close/>
                <a:moveTo>
                  <a:pt x="71438" y="31254"/>
                </a:moveTo>
                <a:cubicBezTo>
                  <a:pt x="93615" y="31254"/>
                  <a:pt x="111621" y="49260"/>
                  <a:pt x="111621" y="71438"/>
                </a:cubicBezTo>
                <a:cubicBezTo>
                  <a:pt x="111621" y="93615"/>
                  <a:pt x="93615" y="111621"/>
                  <a:pt x="71438" y="111621"/>
                </a:cubicBezTo>
                <a:cubicBezTo>
                  <a:pt x="49260" y="111621"/>
                  <a:pt x="31254" y="93615"/>
                  <a:pt x="31254" y="71438"/>
                </a:cubicBezTo>
                <a:cubicBezTo>
                  <a:pt x="31254" y="49260"/>
                  <a:pt x="49260" y="31254"/>
                  <a:pt x="71438" y="31254"/>
                </a:cubicBezTo>
                <a:close/>
                <a:moveTo>
                  <a:pt x="62508" y="71438"/>
                </a:moveTo>
                <a:cubicBezTo>
                  <a:pt x="62508" y="66509"/>
                  <a:pt x="66509" y="62508"/>
                  <a:pt x="71438" y="62508"/>
                </a:cubicBezTo>
                <a:cubicBezTo>
                  <a:pt x="76366" y="62508"/>
                  <a:pt x="80367" y="66509"/>
                  <a:pt x="80367" y="71438"/>
                </a:cubicBezTo>
                <a:cubicBezTo>
                  <a:pt x="80367" y="76366"/>
                  <a:pt x="76366" y="80367"/>
                  <a:pt x="71438" y="80367"/>
                </a:cubicBezTo>
                <a:cubicBezTo>
                  <a:pt x="66509" y="80367"/>
                  <a:pt x="62508" y="76366"/>
                  <a:pt x="62508" y="714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2657674" y="6381651"/>
            <a:ext cx="715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核心目标:通过多维度立项标准,实现从"被动立项"到"主动识别"的转变,确保战略项目100%纳入全生命周期管理体系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296" y="376296"/>
            <a:ext cx="11514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kern="0" spc="59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STANDARD &amp; CLASSIFICATION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6296" y="677333"/>
            <a:ext cx="11608741" cy="376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67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立项标准与分层分级机制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296" y="1166519"/>
            <a:ext cx="903111" cy="37630"/>
          </a:xfrm>
          <a:custGeom>
            <a:avLst/>
            <a:gdLst/>
            <a:ahLst/>
            <a:cxnLst/>
            <a:rect l="l" t="t" r="r" b="b"/>
            <a:pathLst>
              <a:path w="903111" h="37630">
                <a:moveTo>
                  <a:pt x="0" y="0"/>
                </a:moveTo>
                <a:lnTo>
                  <a:pt x="903111" y="0"/>
                </a:lnTo>
                <a:lnTo>
                  <a:pt x="903111" y="37630"/>
                </a:lnTo>
                <a:lnTo>
                  <a:pt x="0" y="3763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76296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76296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" name="Text 5"/>
          <p:cNvSpPr/>
          <p:nvPr/>
        </p:nvSpPr>
        <p:spPr>
          <a:xfrm>
            <a:off x="526815" y="1407019"/>
            <a:ext cx="64911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48370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9" name="Text 7"/>
          <p:cNvSpPr/>
          <p:nvPr/>
        </p:nvSpPr>
        <p:spPr>
          <a:xfrm>
            <a:off x="2248370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最高级别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6815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9704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12" name="Text 10"/>
          <p:cNvSpPr/>
          <p:nvPr/>
        </p:nvSpPr>
        <p:spPr>
          <a:xfrm>
            <a:off x="639704" y="2197124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200w+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800w+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6815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39704" y="293584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15" name="Text 13"/>
          <p:cNvSpPr/>
          <p:nvPr/>
        </p:nvSpPr>
        <p:spPr>
          <a:xfrm>
            <a:off x="639704" y="3244520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系统总年初指定项目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BG级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altLang="zh-CN" sz="1600" dirty="0"/>
          </a:p>
        </p:txBody>
      </p:sp>
      <p:sp>
        <p:nvSpPr>
          <p:cNvPr id="16" name="Shape 14"/>
          <p:cNvSpPr/>
          <p:nvPr/>
        </p:nvSpPr>
        <p:spPr>
          <a:xfrm>
            <a:off x="526815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9704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</a:p>
        </p:txBody>
      </p:sp>
      <p:sp>
        <p:nvSpPr>
          <p:cNvPr id="18" name="Text 16"/>
          <p:cNvSpPr/>
          <p:nvPr/>
        </p:nvSpPr>
        <p:spPr>
          <a:xfrm>
            <a:off x="639704" y="4073645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平台总、售前总、客户体验部总经理、系统总、区域铁三角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</a:t>
            </a:r>
            <a:endParaRPr lang="en-US" altLang="zh-CN" sz="1600" dirty="0" smtClean="0"/>
          </a:p>
        </p:txBody>
      </p:sp>
      <p:sp>
        <p:nvSpPr>
          <p:cNvPr id="19" name="Shape 17"/>
          <p:cNvSpPr/>
          <p:nvPr/>
        </p:nvSpPr>
        <p:spPr>
          <a:xfrm>
            <a:off x="526815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39704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21" name="Text 19"/>
          <p:cNvSpPr/>
          <p:nvPr/>
        </p:nvSpPr>
        <p:spPr>
          <a:xfrm>
            <a:off x="639704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64370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370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4" name="Text 22"/>
          <p:cNvSpPr/>
          <p:nvPr/>
        </p:nvSpPr>
        <p:spPr>
          <a:xfrm>
            <a:off x="3414889" y="1407019"/>
            <a:ext cx="649111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BU级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36444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6" name="Text 24"/>
          <p:cNvSpPr/>
          <p:nvPr/>
        </p:nvSpPr>
        <p:spPr>
          <a:xfrm>
            <a:off x="5136444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重要级别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414889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7778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29" name="Text 27"/>
          <p:cNvSpPr/>
          <p:nvPr/>
        </p:nvSpPr>
        <p:spPr>
          <a:xfrm>
            <a:off x="3527778" y="2197124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80-200W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非重客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500w+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14889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27778" y="28577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32" name="Text 30"/>
          <p:cNvSpPr/>
          <p:nvPr/>
        </p:nvSpPr>
        <p:spPr>
          <a:xfrm>
            <a:off x="3527778" y="3175494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系统总年初指定项目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BU级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altLang="zh-CN" sz="1600" dirty="0"/>
          </a:p>
        </p:txBody>
      </p:sp>
      <p:sp>
        <p:nvSpPr>
          <p:cNvPr id="33" name="Shape 31"/>
          <p:cNvSpPr/>
          <p:nvPr/>
        </p:nvSpPr>
        <p:spPr>
          <a:xfrm>
            <a:off x="3414889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1110074">
                <a:moveTo>
                  <a:pt x="75263" y="0"/>
                </a:moveTo>
                <a:lnTo>
                  <a:pt x="2398885" y="0"/>
                </a:lnTo>
                <a:cubicBezTo>
                  <a:pt x="2440452" y="0"/>
                  <a:pt x="2474148" y="33696"/>
                  <a:pt x="2474148" y="75263"/>
                </a:cubicBezTo>
                <a:lnTo>
                  <a:pt x="2474148" y="1034811"/>
                </a:lnTo>
                <a:cubicBezTo>
                  <a:pt x="2474148" y="1076378"/>
                  <a:pt x="2440452" y="1110074"/>
                  <a:pt x="2398885" y="1110074"/>
                </a:cubicBezTo>
                <a:lnTo>
                  <a:pt x="75263" y="1110074"/>
                </a:lnTo>
                <a:cubicBezTo>
                  <a:pt x="33696" y="1110074"/>
                  <a:pt x="0" y="1076378"/>
                  <a:pt x="0" y="1034811"/>
                </a:cubicBezTo>
                <a:lnTo>
                  <a:pt x="0" y="75263"/>
                </a:lnTo>
                <a:cubicBezTo>
                  <a:pt x="0" y="33696"/>
                  <a:pt x="33696" y="0"/>
                  <a:pt x="75263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27778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介入层级</a:t>
            </a:r>
          </a:p>
        </p:txBody>
      </p:sp>
      <p:sp>
        <p:nvSpPr>
          <p:cNvPr id="35" name="Text 33"/>
          <p:cNvSpPr/>
          <p:nvPr/>
        </p:nvSpPr>
        <p:spPr>
          <a:xfrm>
            <a:off x="3527778" y="3874476"/>
            <a:ext cx="2323630" cy="620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系统总、行业营销拓展负责人、区域铁三角、项目铁三角</a:t>
            </a:r>
          </a:p>
        </p:txBody>
      </p:sp>
      <p:sp>
        <p:nvSpPr>
          <p:cNvPr id="36" name="Shape 34"/>
          <p:cNvSpPr/>
          <p:nvPr/>
        </p:nvSpPr>
        <p:spPr>
          <a:xfrm>
            <a:off x="3414889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527778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38" name="Text 36"/>
          <p:cNvSpPr/>
          <p:nvPr/>
        </p:nvSpPr>
        <p:spPr>
          <a:xfrm>
            <a:off x="3527778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</a:t>
            </a:r>
            <a:r>
              <a:rPr lang="en-US" altLang="zh-CN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152444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52444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1" name="Text 39"/>
          <p:cNvSpPr/>
          <p:nvPr/>
        </p:nvSpPr>
        <p:spPr>
          <a:xfrm>
            <a:off x="6302963" y="1407019"/>
            <a:ext cx="790222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区域级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24519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3" name="Text 41"/>
          <p:cNvSpPr/>
          <p:nvPr/>
        </p:nvSpPr>
        <p:spPr>
          <a:xfrm>
            <a:off x="8024519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常规级别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02963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15852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46" name="Text 44"/>
          <p:cNvSpPr/>
          <p:nvPr/>
        </p:nvSpPr>
        <p:spPr>
          <a:xfrm>
            <a:off x="6415852" y="2197124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漏斗内预估下单金额</a:t>
            </a:r>
            <a:r>
              <a:rPr lang="en-US" sz="1185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200w+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02963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15852" y="284305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49" name="Text 47"/>
          <p:cNvSpPr/>
          <p:nvPr/>
        </p:nvSpPr>
        <p:spPr>
          <a:xfrm>
            <a:off x="6415852" y="2988777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直签项目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02963" y="3735699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15852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</a:t>
            </a:r>
          </a:p>
        </p:txBody>
      </p:sp>
      <p:sp>
        <p:nvSpPr>
          <p:cNvPr id="52" name="Text 50"/>
          <p:cNvSpPr/>
          <p:nvPr/>
        </p:nvSpPr>
        <p:spPr>
          <a:xfrm>
            <a:off x="6415852" y="4073645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区域铁三角、行业经理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02963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15852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55" name="Text 53"/>
          <p:cNvSpPr/>
          <p:nvPr/>
        </p:nvSpPr>
        <p:spPr>
          <a:xfrm>
            <a:off x="6415852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全KCP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9040519" y="1237685"/>
            <a:ext cx="2775185" cy="4383852"/>
          </a:xfrm>
          <a:custGeom>
            <a:avLst/>
            <a:gdLst/>
            <a:ahLst/>
            <a:cxnLst/>
            <a:rect l="l" t="t" r="r" b="b"/>
            <a:pathLst>
              <a:path w="2775185" h="4383852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4270957"/>
                </a:lnTo>
                <a:cubicBezTo>
                  <a:pt x="2775185" y="4333307"/>
                  <a:pt x="2724641" y="4383852"/>
                  <a:pt x="2662291" y="4383852"/>
                </a:cubicBezTo>
                <a:lnTo>
                  <a:pt x="112895" y="4383852"/>
                </a:lnTo>
                <a:cubicBezTo>
                  <a:pt x="50545" y="4383852"/>
                  <a:pt x="0" y="4333307"/>
                  <a:pt x="0" y="4270957"/>
                </a:cubicBezTo>
                <a:lnTo>
                  <a:pt x="0" y="37630"/>
                </a:lnTo>
                <a:cubicBezTo>
                  <a:pt x="0" y="16861"/>
                  <a:pt x="16861" y="0"/>
                  <a:pt x="376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222" dist="9407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9040519" y="1237685"/>
            <a:ext cx="2775185" cy="37630"/>
          </a:xfrm>
          <a:custGeom>
            <a:avLst/>
            <a:gdLst/>
            <a:ahLst/>
            <a:cxnLst/>
            <a:rect l="l" t="t" r="r" b="b"/>
            <a:pathLst>
              <a:path w="2775185" h="37630">
                <a:moveTo>
                  <a:pt x="37630" y="0"/>
                </a:moveTo>
                <a:lnTo>
                  <a:pt x="2737556" y="0"/>
                </a:lnTo>
                <a:cubicBezTo>
                  <a:pt x="2758324" y="0"/>
                  <a:pt x="2775185" y="16861"/>
                  <a:pt x="2775185" y="37630"/>
                </a:cubicBezTo>
                <a:lnTo>
                  <a:pt x="2775185" y="37630"/>
                </a:lnTo>
                <a:lnTo>
                  <a:pt x="0" y="37630"/>
                </a:lnTo>
                <a:lnTo>
                  <a:pt x="0" y="37630"/>
                </a:lnTo>
                <a:cubicBezTo>
                  <a:pt x="0" y="16847"/>
                  <a:pt x="16847" y="0"/>
                  <a:pt x="3763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58" name="Text 56"/>
          <p:cNvSpPr/>
          <p:nvPr/>
        </p:nvSpPr>
        <p:spPr>
          <a:xfrm>
            <a:off x="9191037" y="1407019"/>
            <a:ext cx="1016000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8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一般项目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912593" y="1425716"/>
            <a:ext cx="752593" cy="263407"/>
          </a:xfrm>
          <a:custGeom>
            <a:avLst/>
            <a:gdLst/>
            <a:ahLst/>
            <a:cxnLst/>
            <a:rect l="l" t="t" r="r" b="b"/>
            <a:pathLst>
              <a:path w="752593" h="263407">
                <a:moveTo>
                  <a:pt x="75258" y="0"/>
                </a:moveTo>
                <a:lnTo>
                  <a:pt x="677334" y="0"/>
                </a:lnTo>
                <a:cubicBezTo>
                  <a:pt x="718871" y="0"/>
                  <a:pt x="752593" y="33722"/>
                  <a:pt x="752593" y="75258"/>
                </a:cubicBezTo>
                <a:lnTo>
                  <a:pt x="752593" y="188149"/>
                </a:lnTo>
                <a:cubicBezTo>
                  <a:pt x="752593" y="229685"/>
                  <a:pt x="718871" y="263407"/>
                  <a:pt x="677334" y="263407"/>
                </a:cubicBezTo>
                <a:lnTo>
                  <a:pt x="75258" y="263407"/>
                </a:lnTo>
                <a:cubicBezTo>
                  <a:pt x="33722" y="263407"/>
                  <a:pt x="0" y="229685"/>
                  <a:pt x="0" y="188149"/>
                </a:cubicBezTo>
                <a:lnTo>
                  <a:pt x="0" y="75258"/>
                </a:lnTo>
                <a:cubicBezTo>
                  <a:pt x="0" y="33722"/>
                  <a:pt x="33722" y="0"/>
                  <a:pt x="75258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0" name="Text 58"/>
          <p:cNvSpPr/>
          <p:nvPr/>
        </p:nvSpPr>
        <p:spPr>
          <a:xfrm>
            <a:off x="10912593" y="1425716"/>
            <a:ext cx="818444" cy="263407"/>
          </a:xfrm>
          <a:prstGeom prst="rect">
            <a:avLst/>
          </a:prstGeom>
          <a:noFill/>
          <a:ln/>
        </p:spPr>
        <p:txBody>
          <a:bodyPr wrap="square" lIns="112889" tIns="37630" rIns="112889" bIns="37630" rtlCol="0" anchor="ctr"/>
          <a:lstStyle/>
          <a:p>
            <a:pPr>
              <a:lnSpc>
                <a:spcPct val="120000"/>
              </a:lnSpc>
            </a:pPr>
            <a:r>
              <a:rPr lang="en-US" sz="10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基础级别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191037" y="182082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9303926" y="1933716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63" name="Text 61"/>
          <p:cNvSpPr/>
          <p:nvPr/>
        </p:nvSpPr>
        <p:spPr>
          <a:xfrm>
            <a:off x="9303926" y="2197124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未达立项标准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91037" y="278448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903111">
                <a:moveTo>
                  <a:pt x="75256" y="0"/>
                </a:moveTo>
                <a:lnTo>
                  <a:pt x="2398892" y="0"/>
                </a:lnTo>
                <a:cubicBezTo>
                  <a:pt x="2440455" y="0"/>
                  <a:pt x="2474148" y="33693"/>
                  <a:pt x="2474148" y="75256"/>
                </a:cubicBezTo>
                <a:lnTo>
                  <a:pt x="2474148" y="827855"/>
                </a:lnTo>
                <a:cubicBezTo>
                  <a:pt x="2474148" y="869418"/>
                  <a:pt x="2440455" y="903111"/>
                  <a:pt x="2398892" y="903111"/>
                </a:cubicBezTo>
                <a:lnTo>
                  <a:pt x="75256" y="903111"/>
                </a:lnTo>
                <a:cubicBezTo>
                  <a:pt x="33693" y="903111"/>
                  <a:pt x="0" y="869418"/>
                  <a:pt x="0" y="827855"/>
                </a:cubicBezTo>
                <a:lnTo>
                  <a:pt x="0" y="75256"/>
                </a:lnTo>
                <a:cubicBezTo>
                  <a:pt x="0" y="33693"/>
                  <a:pt x="33693" y="0"/>
                  <a:pt x="75256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9303926" y="284305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特殊项目</a:t>
            </a:r>
          </a:p>
        </p:txBody>
      </p:sp>
      <p:sp>
        <p:nvSpPr>
          <p:cNvPr id="66" name="Text 64"/>
          <p:cNvSpPr/>
          <p:nvPr/>
        </p:nvSpPr>
        <p:spPr>
          <a:xfrm>
            <a:off x="9303926" y="2979721"/>
            <a:ext cx="2323630" cy="413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zh-CN" altLang="en-US" sz="1185" dirty="0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满足立项条件但是决策不立项项目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191037" y="3735698"/>
            <a:ext cx="2474148" cy="900000"/>
          </a:xfrm>
          <a:custGeom>
            <a:avLst/>
            <a:gdLst/>
            <a:ahLst/>
            <a:cxnLst/>
            <a:rect l="l" t="t" r="r" b="b"/>
            <a:pathLst>
              <a:path w="2474148" h="696148">
                <a:moveTo>
                  <a:pt x="75261" y="0"/>
                </a:moveTo>
                <a:lnTo>
                  <a:pt x="2398888" y="0"/>
                </a:lnTo>
                <a:cubicBezTo>
                  <a:pt x="2440453" y="0"/>
                  <a:pt x="2474148" y="33695"/>
                  <a:pt x="2474148" y="75261"/>
                </a:cubicBezTo>
                <a:lnTo>
                  <a:pt x="2474148" y="620888"/>
                </a:lnTo>
                <a:cubicBezTo>
                  <a:pt x="2474148" y="662453"/>
                  <a:pt x="2440453" y="696148"/>
                  <a:pt x="2398888" y="696148"/>
                </a:cubicBezTo>
                <a:lnTo>
                  <a:pt x="75261" y="696148"/>
                </a:lnTo>
                <a:cubicBezTo>
                  <a:pt x="33695" y="696148"/>
                  <a:pt x="0" y="662453"/>
                  <a:pt x="0" y="620888"/>
                </a:cubicBezTo>
                <a:lnTo>
                  <a:pt x="0" y="75261"/>
                </a:lnTo>
                <a:cubicBezTo>
                  <a:pt x="0" y="33723"/>
                  <a:pt x="33723" y="0"/>
                  <a:pt x="75261" y="0"/>
                </a:cubicBezTo>
                <a:close/>
              </a:path>
            </a:pathLst>
          </a:custGeom>
          <a:solidFill>
            <a:srgbClr val="A0988A">
              <a:alpha val="1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9303926" y="3758058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负责人</a:t>
            </a:r>
          </a:p>
        </p:txBody>
      </p:sp>
      <p:sp>
        <p:nvSpPr>
          <p:cNvPr id="69" name="Text 67"/>
          <p:cNvSpPr/>
          <p:nvPr/>
        </p:nvSpPr>
        <p:spPr>
          <a:xfrm>
            <a:off x="9303926" y="4073645"/>
            <a:ext cx="2323630" cy="206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85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销售经理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9191037" y="4728779"/>
            <a:ext cx="2474148" cy="720000"/>
          </a:xfrm>
          <a:custGeom>
            <a:avLst/>
            <a:gdLst/>
            <a:ahLst/>
            <a:cxnLst/>
            <a:rect l="l" t="t" r="r" b="b"/>
            <a:pathLst>
              <a:path w="2474148" h="714963">
                <a:moveTo>
                  <a:pt x="75257" y="0"/>
                </a:moveTo>
                <a:lnTo>
                  <a:pt x="2398891" y="0"/>
                </a:lnTo>
                <a:cubicBezTo>
                  <a:pt x="2440454" y="0"/>
                  <a:pt x="2474148" y="33694"/>
                  <a:pt x="2474148" y="75257"/>
                </a:cubicBezTo>
                <a:lnTo>
                  <a:pt x="2474148" y="639706"/>
                </a:lnTo>
                <a:cubicBezTo>
                  <a:pt x="2474148" y="681269"/>
                  <a:pt x="2440454" y="714963"/>
                  <a:pt x="2398891" y="714963"/>
                </a:cubicBezTo>
                <a:lnTo>
                  <a:pt x="75257" y="714963"/>
                </a:lnTo>
                <a:cubicBezTo>
                  <a:pt x="33694" y="714963"/>
                  <a:pt x="0" y="681269"/>
                  <a:pt x="0" y="639706"/>
                </a:cubicBezTo>
                <a:lnTo>
                  <a:pt x="0" y="75257"/>
                </a:lnTo>
                <a:cubicBezTo>
                  <a:pt x="0" y="33722"/>
                  <a:pt x="33722" y="0"/>
                  <a:pt x="75257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9303926" y="4841669"/>
            <a:ext cx="2314222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KCP要求</a:t>
            </a:r>
          </a:p>
        </p:txBody>
      </p:sp>
      <p:sp>
        <p:nvSpPr>
          <p:cNvPr id="72" name="Text 70"/>
          <p:cNvSpPr/>
          <p:nvPr/>
        </p:nvSpPr>
        <p:spPr>
          <a:xfrm>
            <a:off x="9303926" y="5132235"/>
            <a:ext cx="2323630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altLang="zh-CN" sz="1185" dirty="0" err="1" smtClean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仅标前评审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76296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4" name="Shape 72"/>
          <p:cNvSpPr/>
          <p:nvPr/>
        </p:nvSpPr>
        <p:spPr>
          <a:xfrm>
            <a:off x="1646296" y="5847198"/>
            <a:ext cx="235185" cy="188148"/>
          </a:xfrm>
          <a:custGeom>
            <a:avLst/>
            <a:gdLst/>
            <a:ahLst/>
            <a:cxnLst/>
            <a:rect l="l" t="t" r="r" b="b"/>
            <a:pathLst>
              <a:path w="235185" h="188148">
                <a:moveTo>
                  <a:pt x="117593" y="5880"/>
                </a:moveTo>
                <a:cubicBezTo>
                  <a:pt x="138685" y="5880"/>
                  <a:pt x="155810" y="23004"/>
                  <a:pt x="155810" y="44097"/>
                </a:cubicBezTo>
                <a:cubicBezTo>
                  <a:pt x="155810" y="65190"/>
                  <a:pt x="138685" y="82315"/>
                  <a:pt x="117593" y="82315"/>
                </a:cubicBezTo>
                <a:cubicBezTo>
                  <a:pt x="96500" y="82315"/>
                  <a:pt x="79375" y="65190"/>
                  <a:pt x="79375" y="44097"/>
                </a:cubicBezTo>
                <a:cubicBezTo>
                  <a:pt x="79375" y="23004"/>
                  <a:pt x="96500" y="5880"/>
                  <a:pt x="117593" y="5880"/>
                </a:cubicBezTo>
                <a:close/>
                <a:moveTo>
                  <a:pt x="35278" y="32338"/>
                </a:moveTo>
                <a:cubicBezTo>
                  <a:pt x="49881" y="32338"/>
                  <a:pt x="61736" y="44194"/>
                  <a:pt x="61736" y="58796"/>
                </a:cubicBezTo>
                <a:cubicBezTo>
                  <a:pt x="61736" y="73399"/>
                  <a:pt x="49881" y="85255"/>
                  <a:pt x="35278" y="85255"/>
                </a:cubicBezTo>
                <a:cubicBezTo>
                  <a:pt x="20675" y="85255"/>
                  <a:pt x="8819" y="73399"/>
                  <a:pt x="8819" y="58796"/>
                </a:cubicBezTo>
                <a:cubicBezTo>
                  <a:pt x="8819" y="44194"/>
                  <a:pt x="20675" y="32338"/>
                  <a:pt x="35278" y="32338"/>
                </a:cubicBezTo>
                <a:close/>
                <a:moveTo>
                  <a:pt x="0" y="152870"/>
                </a:moveTo>
                <a:cubicBezTo>
                  <a:pt x="0" y="126890"/>
                  <a:pt x="21056" y="105833"/>
                  <a:pt x="47037" y="105833"/>
                </a:cubicBezTo>
                <a:cubicBezTo>
                  <a:pt x="51741" y="105833"/>
                  <a:pt x="56297" y="106532"/>
                  <a:pt x="60597" y="107818"/>
                </a:cubicBezTo>
                <a:cubicBezTo>
                  <a:pt x="48507" y="121341"/>
                  <a:pt x="41157" y="139200"/>
                  <a:pt x="41157" y="158750"/>
                </a:cubicBezTo>
                <a:lnTo>
                  <a:pt x="41157" y="164630"/>
                </a:lnTo>
                <a:cubicBezTo>
                  <a:pt x="41157" y="168819"/>
                  <a:pt x="42039" y="172788"/>
                  <a:pt x="43620" y="176389"/>
                </a:cubicBezTo>
                <a:lnTo>
                  <a:pt x="11759" y="176389"/>
                </a:lnTo>
                <a:cubicBezTo>
                  <a:pt x="5255" y="176389"/>
                  <a:pt x="0" y="171134"/>
                  <a:pt x="0" y="164630"/>
                </a:cubicBezTo>
                <a:lnTo>
                  <a:pt x="0" y="152870"/>
                </a:lnTo>
                <a:close/>
                <a:moveTo>
                  <a:pt x="191566" y="176389"/>
                </a:moveTo>
                <a:cubicBezTo>
                  <a:pt x="193146" y="172788"/>
                  <a:pt x="194028" y="168819"/>
                  <a:pt x="194028" y="164630"/>
                </a:cubicBezTo>
                <a:lnTo>
                  <a:pt x="194028" y="158750"/>
                </a:lnTo>
                <a:cubicBezTo>
                  <a:pt x="194028" y="139200"/>
                  <a:pt x="186678" y="121341"/>
                  <a:pt x="174588" y="107818"/>
                </a:cubicBezTo>
                <a:cubicBezTo>
                  <a:pt x="178888" y="106532"/>
                  <a:pt x="183444" y="105833"/>
                  <a:pt x="188148" y="105833"/>
                </a:cubicBezTo>
                <a:cubicBezTo>
                  <a:pt x="214129" y="105833"/>
                  <a:pt x="235185" y="126890"/>
                  <a:pt x="235185" y="152870"/>
                </a:cubicBezTo>
                <a:lnTo>
                  <a:pt x="235185" y="164630"/>
                </a:lnTo>
                <a:cubicBezTo>
                  <a:pt x="235185" y="171134"/>
                  <a:pt x="229930" y="176389"/>
                  <a:pt x="223426" y="176389"/>
                </a:cubicBezTo>
                <a:lnTo>
                  <a:pt x="191566" y="176389"/>
                </a:lnTo>
                <a:close/>
                <a:moveTo>
                  <a:pt x="173449" y="58796"/>
                </a:moveTo>
                <a:cubicBezTo>
                  <a:pt x="173449" y="44194"/>
                  <a:pt x="185305" y="32338"/>
                  <a:pt x="199907" y="32338"/>
                </a:cubicBezTo>
                <a:cubicBezTo>
                  <a:pt x="214510" y="32338"/>
                  <a:pt x="226366" y="44194"/>
                  <a:pt x="226366" y="58796"/>
                </a:cubicBezTo>
                <a:cubicBezTo>
                  <a:pt x="226366" y="73399"/>
                  <a:pt x="214510" y="85255"/>
                  <a:pt x="199907" y="85255"/>
                </a:cubicBezTo>
                <a:cubicBezTo>
                  <a:pt x="185305" y="85255"/>
                  <a:pt x="173449" y="73399"/>
                  <a:pt x="173449" y="58796"/>
                </a:cubicBezTo>
                <a:close/>
                <a:moveTo>
                  <a:pt x="58796" y="158750"/>
                </a:moveTo>
                <a:cubicBezTo>
                  <a:pt x="58796" y="126265"/>
                  <a:pt x="85108" y="99954"/>
                  <a:pt x="117593" y="99954"/>
                </a:cubicBezTo>
                <a:cubicBezTo>
                  <a:pt x="150078" y="99954"/>
                  <a:pt x="176389" y="126265"/>
                  <a:pt x="176389" y="158750"/>
                </a:cubicBezTo>
                <a:lnTo>
                  <a:pt x="176389" y="164630"/>
                </a:lnTo>
                <a:cubicBezTo>
                  <a:pt x="176389" y="171134"/>
                  <a:pt x="171134" y="176389"/>
                  <a:pt x="164630" y="176389"/>
                </a:cubicBezTo>
                <a:lnTo>
                  <a:pt x="70556" y="176389"/>
                </a:lnTo>
                <a:cubicBezTo>
                  <a:pt x="64051" y="176389"/>
                  <a:pt x="58796" y="171134"/>
                  <a:pt x="58796" y="164630"/>
                </a:cubicBezTo>
                <a:lnTo>
                  <a:pt x="58796" y="15875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Text 73"/>
          <p:cNvSpPr/>
          <p:nvPr/>
        </p:nvSpPr>
        <p:spPr>
          <a:xfrm>
            <a:off x="456259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客户维度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460963" y="6423970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重客重点项目必须立项,确保战略客户全流程管理</a:t>
            </a:r>
            <a:endParaRPr lang="en-US" sz="1190" dirty="0"/>
          </a:p>
        </p:txBody>
      </p:sp>
      <p:sp>
        <p:nvSpPr>
          <p:cNvPr id="77" name="Shape 75"/>
          <p:cNvSpPr/>
          <p:nvPr/>
        </p:nvSpPr>
        <p:spPr>
          <a:xfrm>
            <a:off x="3264370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8" name="Shape 76"/>
          <p:cNvSpPr/>
          <p:nvPr/>
        </p:nvSpPr>
        <p:spPr>
          <a:xfrm>
            <a:off x="4557889" y="5847198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23519" y="23519"/>
                </a:moveTo>
                <a:cubicBezTo>
                  <a:pt x="23519" y="17014"/>
                  <a:pt x="18264" y="11759"/>
                  <a:pt x="11759" y="11759"/>
                </a:cubicBezTo>
                <a:cubicBezTo>
                  <a:pt x="5255" y="11759"/>
                  <a:pt x="0" y="17014"/>
                  <a:pt x="0" y="23519"/>
                </a:cubicBezTo>
                <a:lnTo>
                  <a:pt x="0" y="146991"/>
                </a:lnTo>
                <a:cubicBezTo>
                  <a:pt x="0" y="163233"/>
                  <a:pt x="13156" y="176389"/>
                  <a:pt x="29398" y="176389"/>
                </a:cubicBezTo>
                <a:lnTo>
                  <a:pt x="176389" y="176389"/>
                </a:lnTo>
                <a:cubicBezTo>
                  <a:pt x="182893" y="176389"/>
                  <a:pt x="188148" y="171134"/>
                  <a:pt x="188148" y="164630"/>
                </a:cubicBezTo>
                <a:cubicBezTo>
                  <a:pt x="188148" y="158125"/>
                  <a:pt x="182893" y="152870"/>
                  <a:pt x="176389" y="152870"/>
                </a:cubicBezTo>
                <a:lnTo>
                  <a:pt x="29398" y="152870"/>
                </a:lnTo>
                <a:cubicBezTo>
                  <a:pt x="26164" y="152870"/>
                  <a:pt x="23519" y="150225"/>
                  <a:pt x="23519" y="146991"/>
                </a:cubicBezTo>
                <a:lnTo>
                  <a:pt x="23519" y="23519"/>
                </a:lnTo>
                <a:close/>
                <a:moveTo>
                  <a:pt x="172935" y="55342"/>
                </a:moveTo>
                <a:cubicBezTo>
                  <a:pt x="177528" y="50749"/>
                  <a:pt x="177528" y="43289"/>
                  <a:pt x="172935" y="38695"/>
                </a:cubicBezTo>
                <a:cubicBezTo>
                  <a:pt x="168341" y="34102"/>
                  <a:pt x="160881" y="34102"/>
                  <a:pt x="156288" y="38695"/>
                </a:cubicBezTo>
                <a:lnTo>
                  <a:pt x="117593" y="77427"/>
                </a:lnTo>
                <a:lnTo>
                  <a:pt x="96499" y="56371"/>
                </a:lnTo>
                <a:cubicBezTo>
                  <a:pt x="91906" y="51777"/>
                  <a:pt x="84446" y="51777"/>
                  <a:pt x="79853" y="56371"/>
                </a:cubicBezTo>
                <a:lnTo>
                  <a:pt x="44575" y="91649"/>
                </a:lnTo>
                <a:cubicBezTo>
                  <a:pt x="39981" y="96242"/>
                  <a:pt x="39981" y="103702"/>
                  <a:pt x="44575" y="108295"/>
                </a:cubicBezTo>
                <a:cubicBezTo>
                  <a:pt x="49168" y="112889"/>
                  <a:pt x="56628" y="112889"/>
                  <a:pt x="61222" y="108295"/>
                </a:cubicBezTo>
                <a:lnTo>
                  <a:pt x="88194" y="81323"/>
                </a:lnTo>
                <a:lnTo>
                  <a:pt x="109288" y="102416"/>
                </a:lnTo>
                <a:cubicBezTo>
                  <a:pt x="113881" y="107009"/>
                  <a:pt x="121341" y="107009"/>
                  <a:pt x="125934" y="102416"/>
                </a:cubicBezTo>
                <a:lnTo>
                  <a:pt x="172971" y="55379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9" name="Text 77"/>
          <p:cNvSpPr/>
          <p:nvPr/>
        </p:nvSpPr>
        <p:spPr>
          <a:xfrm>
            <a:off x="3344333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竞争程度</a:t>
            </a:r>
          </a:p>
        </p:txBody>
      </p:sp>
      <p:sp>
        <p:nvSpPr>
          <p:cNvPr id="80" name="Text 78"/>
          <p:cNvSpPr/>
          <p:nvPr/>
        </p:nvSpPr>
        <p:spPr>
          <a:xfrm>
            <a:off x="3349037" y="6342490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小项目不立项,避免资源浪费</a:t>
            </a:r>
          </a:p>
        </p:txBody>
      </p:sp>
      <p:sp>
        <p:nvSpPr>
          <p:cNvPr id="81" name="Shape 79"/>
          <p:cNvSpPr/>
          <p:nvPr/>
        </p:nvSpPr>
        <p:spPr>
          <a:xfrm>
            <a:off x="6152444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2" name="Shape 80"/>
          <p:cNvSpPr/>
          <p:nvPr/>
        </p:nvSpPr>
        <p:spPr>
          <a:xfrm>
            <a:off x="7481241" y="5847198"/>
            <a:ext cx="117593" cy="188148"/>
          </a:xfrm>
          <a:custGeom>
            <a:avLst/>
            <a:gdLst/>
            <a:ahLst/>
            <a:cxnLst/>
            <a:rect l="l" t="t" r="r" b="b"/>
            <a:pathLst>
              <a:path w="117593" h="188148">
                <a:moveTo>
                  <a:pt x="49977" y="8819"/>
                </a:moveTo>
                <a:cubicBezTo>
                  <a:pt x="49977" y="3932"/>
                  <a:pt x="53909" y="0"/>
                  <a:pt x="58796" y="0"/>
                </a:cubicBezTo>
                <a:cubicBezTo>
                  <a:pt x="63684" y="0"/>
                  <a:pt x="67616" y="3932"/>
                  <a:pt x="67616" y="8819"/>
                </a:cubicBezTo>
                <a:lnTo>
                  <a:pt x="67616" y="23519"/>
                </a:lnTo>
                <a:lnTo>
                  <a:pt x="88194" y="23519"/>
                </a:lnTo>
                <a:cubicBezTo>
                  <a:pt x="94699" y="23519"/>
                  <a:pt x="99954" y="28773"/>
                  <a:pt x="99954" y="35278"/>
                </a:cubicBezTo>
                <a:cubicBezTo>
                  <a:pt x="99954" y="41782"/>
                  <a:pt x="94699" y="47037"/>
                  <a:pt x="88194" y="47037"/>
                </a:cubicBezTo>
                <a:lnTo>
                  <a:pt x="45971" y="47037"/>
                </a:lnTo>
                <a:cubicBezTo>
                  <a:pt x="36821" y="47037"/>
                  <a:pt x="29398" y="54460"/>
                  <a:pt x="29398" y="63610"/>
                </a:cubicBezTo>
                <a:cubicBezTo>
                  <a:pt x="29398" y="71878"/>
                  <a:pt x="35462" y="78861"/>
                  <a:pt x="43620" y="80036"/>
                </a:cubicBezTo>
                <a:lnTo>
                  <a:pt x="77280" y="84850"/>
                </a:lnTo>
                <a:cubicBezTo>
                  <a:pt x="97051" y="87680"/>
                  <a:pt x="111713" y="104584"/>
                  <a:pt x="111713" y="124538"/>
                </a:cubicBezTo>
                <a:cubicBezTo>
                  <a:pt x="111713" y="146697"/>
                  <a:pt x="93743" y="164630"/>
                  <a:pt x="71621" y="164630"/>
                </a:cubicBezTo>
                <a:lnTo>
                  <a:pt x="67616" y="164630"/>
                </a:lnTo>
                <a:lnTo>
                  <a:pt x="67616" y="179329"/>
                </a:lnTo>
                <a:cubicBezTo>
                  <a:pt x="67616" y="184216"/>
                  <a:pt x="63684" y="188148"/>
                  <a:pt x="58796" y="188148"/>
                </a:cubicBezTo>
                <a:cubicBezTo>
                  <a:pt x="53909" y="188148"/>
                  <a:pt x="49977" y="184216"/>
                  <a:pt x="49977" y="179329"/>
                </a:cubicBezTo>
                <a:lnTo>
                  <a:pt x="49977" y="164630"/>
                </a:lnTo>
                <a:lnTo>
                  <a:pt x="23519" y="164630"/>
                </a:lnTo>
                <a:cubicBezTo>
                  <a:pt x="17014" y="164630"/>
                  <a:pt x="11759" y="159375"/>
                  <a:pt x="11759" y="152870"/>
                </a:cubicBezTo>
                <a:cubicBezTo>
                  <a:pt x="11759" y="146366"/>
                  <a:pt x="17014" y="141111"/>
                  <a:pt x="23519" y="141111"/>
                </a:cubicBezTo>
                <a:lnTo>
                  <a:pt x="71621" y="141111"/>
                </a:lnTo>
                <a:cubicBezTo>
                  <a:pt x="80771" y="141111"/>
                  <a:pt x="88194" y="133688"/>
                  <a:pt x="88194" y="124538"/>
                </a:cubicBezTo>
                <a:cubicBezTo>
                  <a:pt x="88194" y="116270"/>
                  <a:pt x="82131" y="109288"/>
                  <a:pt x="73973" y="108112"/>
                </a:cubicBezTo>
                <a:lnTo>
                  <a:pt x="40312" y="103298"/>
                </a:lnTo>
                <a:cubicBezTo>
                  <a:pt x="20542" y="100505"/>
                  <a:pt x="5880" y="83564"/>
                  <a:pt x="5880" y="63610"/>
                </a:cubicBezTo>
                <a:cubicBezTo>
                  <a:pt x="5880" y="41488"/>
                  <a:pt x="23849" y="23519"/>
                  <a:pt x="45971" y="23519"/>
                </a:cubicBezTo>
                <a:lnTo>
                  <a:pt x="49977" y="23519"/>
                </a:lnTo>
                <a:lnTo>
                  <a:pt x="49977" y="8819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3" name="Text 81"/>
          <p:cNvSpPr/>
          <p:nvPr/>
        </p:nvSpPr>
        <p:spPr>
          <a:xfrm>
            <a:off x="6232407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金额维度</a:t>
            </a:r>
          </a:p>
        </p:txBody>
      </p:sp>
      <p:sp>
        <p:nvSpPr>
          <p:cNvPr id="84" name="Text 82"/>
          <p:cNvSpPr/>
          <p:nvPr/>
        </p:nvSpPr>
        <p:spPr>
          <a:xfrm>
            <a:off x="6237111" y="6333437"/>
            <a:ext cx="2605852" cy="301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重客:80W+/200W+ 非重客:200w+/500w+/800w+</a:t>
            </a:r>
          </a:p>
        </p:txBody>
      </p:sp>
      <p:sp>
        <p:nvSpPr>
          <p:cNvPr id="85" name="Shape 83"/>
          <p:cNvSpPr/>
          <p:nvPr/>
        </p:nvSpPr>
        <p:spPr>
          <a:xfrm>
            <a:off x="9040519" y="5734309"/>
            <a:ext cx="2775185" cy="987778"/>
          </a:xfrm>
          <a:custGeom>
            <a:avLst/>
            <a:gdLst/>
            <a:ahLst/>
            <a:cxnLst/>
            <a:rect l="l" t="t" r="r" b="b"/>
            <a:pathLst>
              <a:path w="2775185" h="987778">
                <a:moveTo>
                  <a:pt x="75259" y="0"/>
                </a:moveTo>
                <a:lnTo>
                  <a:pt x="2699926" y="0"/>
                </a:lnTo>
                <a:cubicBezTo>
                  <a:pt x="2741491" y="0"/>
                  <a:pt x="2775185" y="33695"/>
                  <a:pt x="2775185" y="75259"/>
                </a:cubicBezTo>
                <a:lnTo>
                  <a:pt x="2775185" y="912519"/>
                </a:lnTo>
                <a:cubicBezTo>
                  <a:pt x="2775185" y="954083"/>
                  <a:pt x="2741491" y="987778"/>
                  <a:pt x="2699926" y="987778"/>
                </a:cubicBezTo>
                <a:lnTo>
                  <a:pt x="75259" y="987778"/>
                </a:lnTo>
                <a:cubicBezTo>
                  <a:pt x="33695" y="987778"/>
                  <a:pt x="0" y="954083"/>
                  <a:pt x="0" y="912519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6" name="Shape 84"/>
          <p:cNvSpPr/>
          <p:nvPr/>
        </p:nvSpPr>
        <p:spPr>
          <a:xfrm>
            <a:off x="10322278" y="5847198"/>
            <a:ext cx="211667" cy="188148"/>
          </a:xfrm>
          <a:custGeom>
            <a:avLst/>
            <a:gdLst/>
            <a:ahLst/>
            <a:cxnLst/>
            <a:rect l="l" t="t" r="r" b="b"/>
            <a:pathLst>
              <a:path w="211667" h="188148">
                <a:moveTo>
                  <a:pt x="113734" y="-6945"/>
                </a:moveTo>
                <a:cubicBezTo>
                  <a:pt x="112227" y="-9885"/>
                  <a:pt x="109177" y="-11759"/>
                  <a:pt x="105870" y="-11759"/>
                </a:cubicBezTo>
                <a:cubicBezTo>
                  <a:pt x="102563" y="-11759"/>
                  <a:pt x="99513" y="-9885"/>
                  <a:pt x="98006" y="-6945"/>
                </a:cubicBezTo>
                <a:lnTo>
                  <a:pt x="70960" y="46045"/>
                </a:lnTo>
                <a:lnTo>
                  <a:pt x="12200" y="55379"/>
                </a:lnTo>
                <a:cubicBezTo>
                  <a:pt x="8930" y="55893"/>
                  <a:pt x="6210" y="58208"/>
                  <a:pt x="5181" y="61369"/>
                </a:cubicBezTo>
                <a:cubicBezTo>
                  <a:pt x="4152" y="64529"/>
                  <a:pt x="4998" y="67983"/>
                  <a:pt x="7313" y="70335"/>
                </a:cubicBezTo>
                <a:lnTo>
                  <a:pt x="49352" y="112411"/>
                </a:lnTo>
                <a:lnTo>
                  <a:pt x="40092" y="171171"/>
                </a:lnTo>
                <a:cubicBezTo>
                  <a:pt x="39577" y="174441"/>
                  <a:pt x="40937" y="177749"/>
                  <a:pt x="43620" y="179696"/>
                </a:cubicBezTo>
                <a:cubicBezTo>
                  <a:pt x="46302" y="181644"/>
                  <a:pt x="49830" y="181938"/>
                  <a:pt x="52806" y="180431"/>
                </a:cubicBezTo>
                <a:lnTo>
                  <a:pt x="105870" y="153458"/>
                </a:lnTo>
                <a:lnTo>
                  <a:pt x="158897" y="180431"/>
                </a:lnTo>
                <a:cubicBezTo>
                  <a:pt x="161837" y="181938"/>
                  <a:pt x="165401" y="181644"/>
                  <a:pt x="168084" y="179696"/>
                </a:cubicBezTo>
                <a:cubicBezTo>
                  <a:pt x="170766" y="177749"/>
                  <a:pt x="172126" y="174478"/>
                  <a:pt x="171612" y="171171"/>
                </a:cubicBezTo>
                <a:lnTo>
                  <a:pt x="162315" y="112411"/>
                </a:lnTo>
                <a:lnTo>
                  <a:pt x="204354" y="70335"/>
                </a:lnTo>
                <a:cubicBezTo>
                  <a:pt x="206706" y="67983"/>
                  <a:pt x="207514" y="64529"/>
                  <a:pt x="206485" y="61369"/>
                </a:cubicBezTo>
                <a:cubicBezTo>
                  <a:pt x="205456" y="58208"/>
                  <a:pt x="202774" y="55893"/>
                  <a:pt x="199466" y="55379"/>
                </a:cubicBezTo>
                <a:lnTo>
                  <a:pt x="140744" y="46045"/>
                </a:lnTo>
                <a:lnTo>
                  <a:pt x="113734" y="-6945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7" name="Text 85"/>
          <p:cNvSpPr/>
          <p:nvPr/>
        </p:nvSpPr>
        <p:spPr>
          <a:xfrm>
            <a:off x="9120481" y="6080500"/>
            <a:ext cx="2615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特殊立项</a:t>
            </a:r>
          </a:p>
        </p:txBody>
      </p:sp>
      <p:sp>
        <p:nvSpPr>
          <p:cNvPr id="88" name="Text 86"/>
          <p:cNvSpPr/>
          <p:nvPr/>
        </p:nvSpPr>
        <p:spPr>
          <a:xfrm>
            <a:off x="9125185" y="6378702"/>
            <a:ext cx="2605852" cy="150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19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系统部/平台管理部直接勾选的项目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378343" y="1253140"/>
            <a:ext cx="8606630" cy="5536960"/>
          </a:xfrm>
          <a:custGeom>
            <a:avLst/>
            <a:gdLst/>
            <a:ahLst/>
            <a:cxnLst/>
            <a:rect l="l" t="t" r="r" b="b"/>
            <a:pathLst>
              <a:path w="8606630" h="5900197">
                <a:moveTo>
                  <a:pt x="104433" y="0"/>
                </a:moveTo>
                <a:lnTo>
                  <a:pt x="8502196" y="0"/>
                </a:lnTo>
                <a:cubicBezTo>
                  <a:pt x="8559873" y="0"/>
                  <a:pt x="8606630" y="46756"/>
                  <a:pt x="8606630" y="104433"/>
                </a:cubicBezTo>
                <a:lnTo>
                  <a:pt x="8606630" y="5795764"/>
                </a:lnTo>
                <a:cubicBezTo>
                  <a:pt x="8606630" y="5853441"/>
                  <a:pt x="8559873" y="5900197"/>
                  <a:pt x="8502196" y="5900197"/>
                </a:cubicBezTo>
                <a:lnTo>
                  <a:pt x="104433" y="5900197"/>
                </a:lnTo>
                <a:cubicBezTo>
                  <a:pt x="46756" y="5900197"/>
                  <a:pt x="0" y="5853441"/>
                  <a:pt x="0" y="5795764"/>
                </a:cubicBezTo>
                <a:lnTo>
                  <a:pt x="0" y="104433"/>
                </a:lnTo>
                <a:cubicBezTo>
                  <a:pt x="0" y="46795"/>
                  <a:pt x="46795" y="0"/>
                  <a:pt x="10443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99" name="圆角矩形 98"/>
          <p:cNvSpPr/>
          <p:nvPr/>
        </p:nvSpPr>
        <p:spPr>
          <a:xfrm>
            <a:off x="3253762" y="1687784"/>
            <a:ext cx="2474148" cy="873577"/>
          </a:xfrm>
          <a:prstGeom prst="roundRect">
            <a:avLst/>
          </a:prstGeom>
          <a:solidFill>
            <a:srgbClr val="FBF6E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6" b="1" kern="0" spc="55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8094" y="62657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MO商机管理流程概览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8094" y="1079092"/>
            <a:ext cx="835426" cy="34809"/>
          </a:xfrm>
          <a:custGeom>
            <a:avLst/>
            <a:gdLst/>
            <a:ahLst/>
            <a:cxnLst/>
            <a:rect l="l" t="t" r="r" b="b"/>
            <a:pathLst>
              <a:path w="835426" h="34809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4"/>
          <p:cNvSpPr/>
          <p:nvPr/>
        </p:nvSpPr>
        <p:spPr>
          <a:xfrm>
            <a:off x="9091024" y="1253139"/>
            <a:ext cx="2749944" cy="2018946"/>
          </a:xfrm>
          <a:custGeom>
            <a:avLst/>
            <a:gdLst/>
            <a:ahLst/>
            <a:cxnLst/>
            <a:rect l="l" t="t" r="r" b="b"/>
            <a:pathLst>
              <a:path w="2749944" h="2018946">
                <a:moveTo>
                  <a:pt x="104420" y="0"/>
                </a:moveTo>
                <a:lnTo>
                  <a:pt x="2645524" y="0"/>
                </a:lnTo>
                <a:cubicBezTo>
                  <a:pt x="2703194" y="0"/>
                  <a:pt x="2749944" y="46750"/>
                  <a:pt x="2749944" y="104420"/>
                </a:cubicBezTo>
                <a:lnTo>
                  <a:pt x="2749944" y="1914527"/>
                </a:lnTo>
                <a:cubicBezTo>
                  <a:pt x="2749944" y="1972196"/>
                  <a:pt x="2703194" y="2018946"/>
                  <a:pt x="2645524" y="2018946"/>
                </a:cubicBezTo>
                <a:lnTo>
                  <a:pt x="104420" y="2018946"/>
                </a:lnTo>
                <a:cubicBezTo>
                  <a:pt x="46750" y="2018946"/>
                  <a:pt x="0" y="1972196"/>
                  <a:pt x="0" y="1914527"/>
                </a:cubicBezTo>
                <a:lnTo>
                  <a:pt x="0" y="104420"/>
                </a:lnTo>
                <a:cubicBezTo>
                  <a:pt x="0" y="46789"/>
                  <a:pt x="46789" y="0"/>
                  <a:pt x="10442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8" name="Shape 5"/>
          <p:cNvSpPr/>
          <p:nvPr/>
        </p:nvSpPr>
        <p:spPr>
          <a:xfrm>
            <a:off x="9252018" y="1427186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87024" y="0"/>
                </a:move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ubicBezTo>
                  <a:pt x="0" y="38994"/>
                  <a:pt x="38994" y="0"/>
                  <a:pt x="87024" y="0"/>
                </a:cubicBezTo>
                <a:close/>
                <a:moveTo>
                  <a:pt x="78865" y="40792"/>
                </a:moveTo>
                <a:lnTo>
                  <a:pt x="78865" y="87024"/>
                </a:lnTo>
                <a:cubicBezTo>
                  <a:pt x="78865" y="89743"/>
                  <a:pt x="80225" y="92293"/>
                  <a:pt x="82502" y="93822"/>
                </a:cubicBezTo>
                <a:lnTo>
                  <a:pt x="115136" y="115578"/>
                </a:lnTo>
                <a:cubicBezTo>
                  <a:pt x="118876" y="118094"/>
                  <a:pt x="123941" y="117074"/>
                  <a:pt x="126456" y="113301"/>
                </a:cubicBezTo>
                <a:cubicBezTo>
                  <a:pt x="128972" y="109527"/>
                  <a:pt x="127952" y="104496"/>
                  <a:pt x="124179" y="101981"/>
                </a:cubicBezTo>
                <a:lnTo>
                  <a:pt x="95182" y="82672"/>
                </a:lnTo>
                <a:lnTo>
                  <a:pt x="95182" y="40792"/>
                </a:lnTo>
                <a:cubicBezTo>
                  <a:pt x="95182" y="36271"/>
                  <a:pt x="91545" y="32634"/>
                  <a:pt x="87024" y="32634"/>
                </a:cubicBezTo>
                <a:cubicBezTo>
                  <a:pt x="82502" y="32634"/>
                  <a:pt x="78865" y="36271"/>
                  <a:pt x="78865" y="4079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9" name="Text 6"/>
          <p:cNvSpPr/>
          <p:nvPr/>
        </p:nvSpPr>
        <p:spPr>
          <a:xfrm>
            <a:off x="9447821" y="1392377"/>
            <a:ext cx="23409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230262" y="1740471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9299881" y="1810090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2" name="Text 9"/>
          <p:cNvSpPr/>
          <p:nvPr/>
        </p:nvSpPr>
        <p:spPr>
          <a:xfrm>
            <a:off x="9269422" y="1810090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47975" y="1862304"/>
            <a:ext cx="1931407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进入漏斗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完成立项决策</a:t>
            </a:r>
            <a:endParaRPr lang="en-US" sz="1130" dirty="0"/>
          </a:p>
        </p:txBody>
      </p:sp>
      <p:sp>
        <p:nvSpPr>
          <p:cNvPr id="14" name="Shape 11"/>
          <p:cNvSpPr/>
          <p:nvPr/>
        </p:nvSpPr>
        <p:spPr>
          <a:xfrm>
            <a:off x="9230262" y="2227803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9299881" y="2297422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3"/>
          <p:cNvSpPr/>
          <p:nvPr/>
        </p:nvSpPr>
        <p:spPr>
          <a:xfrm>
            <a:off x="9269422" y="2297422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647975" y="2349636"/>
            <a:ext cx="1942019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获取标书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3天内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组织标前评审</a:t>
            </a:r>
            <a:endParaRPr lang="en-US" sz="1130" dirty="0"/>
          </a:p>
        </p:txBody>
      </p:sp>
      <p:sp>
        <p:nvSpPr>
          <p:cNvPr id="18" name="Shape 15"/>
          <p:cNvSpPr/>
          <p:nvPr/>
        </p:nvSpPr>
        <p:spPr>
          <a:xfrm>
            <a:off x="9230262" y="2715135"/>
            <a:ext cx="2471469" cy="417713"/>
          </a:xfrm>
          <a:custGeom>
            <a:avLst/>
            <a:gdLst/>
            <a:ahLst/>
            <a:cxnLst/>
            <a:rect l="l" t="t" r="r" b="b"/>
            <a:pathLst>
              <a:path w="2471469" h="417713">
                <a:moveTo>
                  <a:pt x="69620" y="0"/>
                </a:moveTo>
                <a:lnTo>
                  <a:pt x="2401849" y="0"/>
                </a:lnTo>
                <a:cubicBezTo>
                  <a:pt x="2440299" y="0"/>
                  <a:pt x="2471469" y="31170"/>
                  <a:pt x="2471469" y="69620"/>
                </a:cubicBezTo>
                <a:lnTo>
                  <a:pt x="2471469" y="348093"/>
                </a:lnTo>
                <a:cubicBezTo>
                  <a:pt x="2471469" y="386543"/>
                  <a:pt x="2440299" y="417713"/>
                  <a:pt x="2401849" y="417713"/>
                </a:cubicBezTo>
                <a:lnTo>
                  <a:pt x="69620" y="417713"/>
                </a:lnTo>
                <a:cubicBezTo>
                  <a:pt x="31196" y="417713"/>
                  <a:pt x="0" y="386517"/>
                  <a:pt x="0" y="348093"/>
                </a:cubicBezTo>
                <a:lnTo>
                  <a:pt x="0" y="69620"/>
                </a:lnTo>
                <a:cubicBezTo>
                  <a:pt x="0" y="31196"/>
                  <a:pt x="31196" y="0"/>
                  <a:pt x="6962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9299881" y="2784754"/>
            <a:ext cx="278475" cy="278475"/>
          </a:xfrm>
          <a:custGeom>
            <a:avLst/>
            <a:gdLst/>
            <a:ahLst/>
            <a:cxnLst/>
            <a:rect l="l" t="t" r="r" b="b"/>
            <a:pathLst>
              <a:path w="278475" h="278475">
                <a:moveTo>
                  <a:pt x="139238" y="0"/>
                </a:moveTo>
                <a:lnTo>
                  <a:pt x="139238" y="0"/>
                </a:lnTo>
                <a:cubicBezTo>
                  <a:pt x="216085" y="0"/>
                  <a:pt x="278475" y="62390"/>
                  <a:pt x="278475" y="139238"/>
                </a:cubicBezTo>
                <a:lnTo>
                  <a:pt x="278475" y="139238"/>
                </a:lnTo>
                <a:cubicBezTo>
                  <a:pt x="278475" y="216085"/>
                  <a:pt x="216085" y="278475"/>
                  <a:pt x="139238" y="278475"/>
                </a:cubicBezTo>
                <a:lnTo>
                  <a:pt x="139238" y="278475"/>
                </a:lnTo>
                <a:cubicBezTo>
                  <a:pt x="62390" y="278475"/>
                  <a:pt x="0" y="216085"/>
                  <a:pt x="0" y="139238"/>
                </a:cubicBezTo>
                <a:lnTo>
                  <a:pt x="0" y="139238"/>
                </a:lnTo>
                <a:cubicBezTo>
                  <a:pt x="0" y="62390"/>
                  <a:pt x="62390" y="0"/>
                  <a:pt x="1392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0" name="Text 17"/>
          <p:cNvSpPr/>
          <p:nvPr/>
        </p:nvSpPr>
        <p:spPr>
          <a:xfrm>
            <a:off x="9269422" y="2784754"/>
            <a:ext cx="33939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47975" y="2836968"/>
            <a:ext cx="1644879" cy="191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商机关闭</a:t>
            </a: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</a:t>
            </a:r>
            <a:r>
              <a:rPr lang="en-US" sz="113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完成复盘</a:t>
            </a:r>
            <a:endParaRPr lang="en-US" sz="1130" dirty="0"/>
          </a:p>
        </p:txBody>
      </p:sp>
      <p:sp>
        <p:nvSpPr>
          <p:cNvPr id="22" name="Shape 19"/>
          <p:cNvSpPr/>
          <p:nvPr/>
        </p:nvSpPr>
        <p:spPr>
          <a:xfrm>
            <a:off x="9091024" y="3376514"/>
            <a:ext cx="2749944" cy="3413586"/>
          </a:xfrm>
          <a:custGeom>
            <a:avLst/>
            <a:gdLst/>
            <a:ahLst/>
            <a:cxnLst/>
            <a:rect l="l" t="t" r="r" b="b"/>
            <a:pathLst>
              <a:path w="2749944" h="3776822">
                <a:moveTo>
                  <a:pt x="104415" y="0"/>
                </a:moveTo>
                <a:lnTo>
                  <a:pt x="2645529" y="0"/>
                </a:lnTo>
                <a:cubicBezTo>
                  <a:pt x="2703196" y="0"/>
                  <a:pt x="2749944" y="46748"/>
                  <a:pt x="2749944" y="104415"/>
                </a:cubicBezTo>
                <a:lnTo>
                  <a:pt x="2749944" y="3672407"/>
                </a:lnTo>
                <a:cubicBezTo>
                  <a:pt x="2749944" y="3730074"/>
                  <a:pt x="2703196" y="3776822"/>
                  <a:pt x="2645529" y="3776822"/>
                </a:cubicBezTo>
                <a:lnTo>
                  <a:pt x="104415" y="3776822"/>
                </a:lnTo>
                <a:cubicBezTo>
                  <a:pt x="46748" y="3776822"/>
                  <a:pt x="0" y="3730074"/>
                  <a:pt x="0" y="3672407"/>
                </a:cubicBezTo>
                <a:lnTo>
                  <a:pt x="0" y="104415"/>
                </a:lnTo>
                <a:cubicBezTo>
                  <a:pt x="0" y="46787"/>
                  <a:pt x="46787" y="0"/>
                  <a:pt x="10441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107" dist="870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52018" y="3550561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152291" y="87024"/>
                </a:moveTo>
                <a:cubicBezTo>
                  <a:pt x="152291" y="51001"/>
                  <a:pt x="123046" y="21756"/>
                  <a:pt x="87024" y="21756"/>
                </a:cubicBezTo>
                <a:cubicBezTo>
                  <a:pt x="51001" y="21756"/>
                  <a:pt x="21756" y="51001"/>
                  <a:pt x="21756" y="87024"/>
                </a:cubicBezTo>
                <a:cubicBezTo>
                  <a:pt x="21756" y="123046"/>
                  <a:pt x="51001" y="152291"/>
                  <a:pt x="87024" y="152291"/>
                </a:cubicBezTo>
                <a:cubicBezTo>
                  <a:pt x="123046" y="152291"/>
                  <a:pt x="152291" y="123046"/>
                  <a:pt x="152291" y="87024"/>
                </a:cubicBezTo>
                <a:close/>
                <a:moveTo>
                  <a:pt x="0" y="87024"/>
                </a:moveTo>
                <a:cubicBezTo>
                  <a:pt x="0" y="38994"/>
                  <a:pt x="38994" y="0"/>
                  <a:pt x="87024" y="0"/>
                </a:cubicBezTo>
                <a:cubicBezTo>
                  <a:pt x="135053" y="0"/>
                  <a:pt x="174047" y="38994"/>
                  <a:pt x="174047" y="87024"/>
                </a:cubicBezTo>
                <a:cubicBezTo>
                  <a:pt x="174047" y="135053"/>
                  <a:pt x="135053" y="174047"/>
                  <a:pt x="87024" y="174047"/>
                </a:cubicBezTo>
                <a:cubicBezTo>
                  <a:pt x="38994" y="174047"/>
                  <a:pt x="0" y="135053"/>
                  <a:pt x="0" y="87024"/>
                </a:cubicBezTo>
                <a:close/>
                <a:moveTo>
                  <a:pt x="87024" y="114218"/>
                </a:moveTo>
                <a:cubicBezTo>
                  <a:pt x="102033" y="114218"/>
                  <a:pt x="114218" y="102033"/>
                  <a:pt x="114218" y="87024"/>
                </a:cubicBezTo>
                <a:cubicBezTo>
                  <a:pt x="114218" y="72014"/>
                  <a:pt x="102033" y="59829"/>
                  <a:pt x="87024" y="59829"/>
                </a:cubicBezTo>
                <a:cubicBezTo>
                  <a:pt x="72014" y="59829"/>
                  <a:pt x="59829" y="72014"/>
                  <a:pt x="59829" y="87024"/>
                </a:cubicBezTo>
                <a:cubicBezTo>
                  <a:pt x="59829" y="102033"/>
                  <a:pt x="72014" y="114218"/>
                  <a:pt x="87024" y="114218"/>
                </a:cubicBezTo>
                <a:close/>
                <a:moveTo>
                  <a:pt x="87024" y="38073"/>
                </a:moveTo>
                <a:cubicBezTo>
                  <a:pt x="114040" y="38073"/>
                  <a:pt x="135974" y="60007"/>
                  <a:pt x="135974" y="87024"/>
                </a:cubicBezTo>
                <a:cubicBezTo>
                  <a:pt x="135974" y="114040"/>
                  <a:pt x="114040" y="135974"/>
                  <a:pt x="87024" y="135974"/>
                </a:cubicBezTo>
                <a:cubicBezTo>
                  <a:pt x="60007" y="135974"/>
                  <a:pt x="38073" y="114040"/>
                  <a:pt x="38073" y="87024"/>
                </a:cubicBezTo>
                <a:cubicBezTo>
                  <a:pt x="38073" y="60007"/>
                  <a:pt x="60007" y="38073"/>
                  <a:pt x="87024" y="38073"/>
                </a:cubicBezTo>
                <a:close/>
                <a:moveTo>
                  <a:pt x="76146" y="87024"/>
                </a:moveTo>
                <a:cubicBezTo>
                  <a:pt x="76146" y="81020"/>
                  <a:pt x="81020" y="76146"/>
                  <a:pt x="87024" y="76146"/>
                </a:cubicBezTo>
                <a:cubicBezTo>
                  <a:pt x="93027" y="76146"/>
                  <a:pt x="97901" y="81020"/>
                  <a:pt x="97901" y="87024"/>
                </a:cubicBezTo>
                <a:cubicBezTo>
                  <a:pt x="97901" y="93027"/>
                  <a:pt x="93027" y="97901"/>
                  <a:pt x="87024" y="97901"/>
                </a:cubicBezTo>
                <a:cubicBezTo>
                  <a:pt x="81020" y="97901"/>
                  <a:pt x="76146" y="93027"/>
                  <a:pt x="76146" y="8702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4" name="Text 21"/>
          <p:cNvSpPr/>
          <p:nvPr/>
        </p:nvSpPr>
        <p:spPr>
          <a:xfrm>
            <a:off x="9447821" y="3515752"/>
            <a:ext cx="2340934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执行目标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247667" y="3863846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9247667" y="3863846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7" name="Text 24"/>
          <p:cNvSpPr/>
          <p:nvPr/>
        </p:nvSpPr>
        <p:spPr>
          <a:xfrm>
            <a:off x="9369500" y="4020378"/>
            <a:ext cx="846197" cy="188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立项启动率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11254757" y="3968274"/>
            <a:ext cx="45252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80%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369500" y="4281448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7天内完成立项决策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9247667" y="4594625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9247667" y="4594625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29"/>
          <p:cNvSpPr/>
          <p:nvPr/>
        </p:nvSpPr>
        <p:spPr>
          <a:xfrm>
            <a:off x="9369500" y="4751159"/>
            <a:ext cx="1191620" cy="18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解决方案评审率</a:t>
            </a:r>
          </a:p>
        </p:txBody>
      </p:sp>
      <p:sp>
        <p:nvSpPr>
          <p:cNvPr id="33" name="Text 30"/>
          <p:cNvSpPr/>
          <p:nvPr/>
        </p:nvSpPr>
        <p:spPr>
          <a:xfrm>
            <a:off x="11190685" y="4699053"/>
            <a:ext cx="51343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369500" y="5012230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所有立项项目必须执行</a:t>
            </a:r>
          </a:p>
        </p:txBody>
      </p:sp>
      <p:sp>
        <p:nvSpPr>
          <p:cNvPr id="35" name="Shape 32"/>
          <p:cNvSpPr/>
          <p:nvPr/>
        </p:nvSpPr>
        <p:spPr>
          <a:xfrm>
            <a:off x="9247667" y="5325406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9247667" y="5325406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4"/>
          <p:cNvSpPr/>
          <p:nvPr/>
        </p:nvSpPr>
        <p:spPr>
          <a:xfrm>
            <a:off x="9369500" y="5481940"/>
            <a:ext cx="1096306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标前评审执行率</a:t>
            </a:r>
          </a:p>
        </p:txBody>
      </p:sp>
      <p:sp>
        <p:nvSpPr>
          <p:cNvPr id="38" name="Text 35"/>
          <p:cNvSpPr/>
          <p:nvPr/>
        </p:nvSpPr>
        <p:spPr>
          <a:xfrm>
            <a:off x="11254757" y="5429834"/>
            <a:ext cx="452522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80%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9369500" y="5743011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3天内组织标前评审</a:t>
            </a:r>
          </a:p>
        </p:txBody>
      </p:sp>
      <p:sp>
        <p:nvSpPr>
          <p:cNvPr id="40" name="Shape 37"/>
          <p:cNvSpPr/>
          <p:nvPr/>
        </p:nvSpPr>
        <p:spPr>
          <a:xfrm>
            <a:off x="9247667" y="6056185"/>
            <a:ext cx="2454064" cy="661379"/>
          </a:xfrm>
          <a:custGeom>
            <a:avLst/>
            <a:gdLst/>
            <a:ahLst/>
            <a:cxnLst/>
            <a:rect l="l" t="t" r="r" b="b"/>
            <a:pathLst>
              <a:path w="2454064" h="661379">
                <a:moveTo>
                  <a:pt x="34809" y="0"/>
                </a:moveTo>
                <a:lnTo>
                  <a:pt x="2384447" y="0"/>
                </a:lnTo>
                <a:cubicBezTo>
                  <a:pt x="2422896" y="0"/>
                  <a:pt x="2454064" y="31168"/>
                  <a:pt x="2454064" y="69617"/>
                </a:cubicBezTo>
                <a:lnTo>
                  <a:pt x="2454064" y="591762"/>
                </a:lnTo>
                <a:cubicBezTo>
                  <a:pt x="2454064" y="630211"/>
                  <a:pt x="2422896" y="661379"/>
                  <a:pt x="2384447" y="661379"/>
                </a:cubicBez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9247667" y="6056185"/>
            <a:ext cx="34809" cy="661379"/>
          </a:xfrm>
          <a:custGeom>
            <a:avLst/>
            <a:gdLst/>
            <a:ahLst/>
            <a:cxnLst/>
            <a:rect l="l" t="t" r="r" b="b"/>
            <a:pathLst>
              <a:path w="34809" h="661379">
                <a:moveTo>
                  <a:pt x="34809" y="0"/>
                </a:moveTo>
                <a:lnTo>
                  <a:pt x="34809" y="0"/>
                </a:lnTo>
                <a:lnTo>
                  <a:pt x="34809" y="661379"/>
                </a:lnTo>
                <a:lnTo>
                  <a:pt x="34809" y="661379"/>
                </a:lnTo>
                <a:cubicBezTo>
                  <a:pt x="15598" y="661379"/>
                  <a:pt x="0" y="645781"/>
                  <a:pt x="0" y="626570"/>
                </a:cubicBezTo>
                <a:lnTo>
                  <a:pt x="0" y="34809"/>
                </a:lnTo>
                <a:cubicBezTo>
                  <a:pt x="0" y="15598"/>
                  <a:pt x="15598" y="0"/>
                  <a:pt x="348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2" name="Text 39"/>
          <p:cNvSpPr/>
          <p:nvPr/>
        </p:nvSpPr>
        <p:spPr>
          <a:xfrm>
            <a:off x="9369500" y="6212719"/>
            <a:ext cx="1096306" cy="188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丢/赢单复盘率</a:t>
            </a:r>
          </a:p>
        </p:txBody>
      </p:sp>
      <p:sp>
        <p:nvSpPr>
          <p:cNvPr id="43" name="Text 40"/>
          <p:cNvSpPr/>
          <p:nvPr/>
        </p:nvSpPr>
        <p:spPr>
          <a:xfrm>
            <a:off x="11190685" y="6160613"/>
            <a:ext cx="513439" cy="278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5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9369500" y="6473790"/>
            <a:ext cx="2280017" cy="1392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2周内完成经验总结</a:t>
            </a:r>
          </a:p>
        </p:txBody>
      </p:sp>
      <p:sp>
        <p:nvSpPr>
          <p:cNvPr id="46" name="圆角矩形 45"/>
          <p:cNvSpPr/>
          <p:nvPr/>
        </p:nvSpPr>
        <p:spPr>
          <a:xfrm>
            <a:off x="761435" y="4548086"/>
            <a:ext cx="1330859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1</a:t>
            </a:r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、立项评审决策</a:t>
            </a:r>
          </a:p>
          <a:p>
            <a:pPr algn="ctr"/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（进漏斗</a:t>
            </a:r>
            <a:r>
              <a:rPr lang="en-US" altLang="zh-CN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7</a:t>
            </a:r>
            <a:r>
              <a:rPr lang="zh-CN" altLang="en-US" sz="1100" b="1" dirty="0" smtClean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zh-CN" altLang="en-US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2239336" y="4548086"/>
            <a:ext cx="1330859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2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、立项启动会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（立项通过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7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zh-CN" altLang="en-US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3717237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3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、解决方案评审会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(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明确客户需求后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)</a:t>
            </a:r>
          </a:p>
        </p:txBody>
      </p:sp>
      <p:sp>
        <p:nvSpPr>
          <p:cNvPr id="49" name="圆角矩形 48"/>
          <p:cNvSpPr/>
          <p:nvPr/>
        </p:nvSpPr>
        <p:spPr>
          <a:xfrm>
            <a:off x="5411476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4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、标前评审会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（获取标书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3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日内）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7105714" y="4548086"/>
            <a:ext cx="1547197" cy="382794"/>
          </a:xfrm>
          <a:prstGeom prst="roundRect">
            <a:avLst/>
          </a:prstGeom>
          <a:solidFill>
            <a:srgbClr val="E9EBE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5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、赢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/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丢单复盘会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pPr algn="ctr"/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（关闭商机</a:t>
            </a:r>
            <a:r>
              <a:rPr lang="en-US" altLang="zh-CN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2</a:t>
            </a:r>
            <a:r>
              <a:rPr lang="zh-CN" altLang="en-US" sz="1100" b="1" dirty="0">
                <a:solidFill>
                  <a:sysClr val="windowText" lastClr="000000"/>
                </a:solidFill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周内）</a:t>
            </a:r>
            <a:endParaRPr lang="en-US" altLang="zh-CN" sz="1100" b="1" dirty="0">
              <a:solidFill>
                <a:sysClr val="windowText" lastClr="000000"/>
              </a:solidFill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69676" y="5574597"/>
            <a:ext cx="1555234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决策是否立项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确定项目组核心成员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7" name="下箭头 66"/>
          <p:cNvSpPr/>
          <p:nvPr/>
        </p:nvSpPr>
        <p:spPr>
          <a:xfrm>
            <a:off x="1297549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2195239" y="5574597"/>
            <a:ext cx="1555234" cy="4585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明确项目组成员分工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组建项目飞书群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69" name="下箭头 68"/>
          <p:cNvSpPr/>
          <p:nvPr/>
        </p:nvSpPr>
        <p:spPr>
          <a:xfrm>
            <a:off x="2805516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755535" y="5574597"/>
            <a:ext cx="1615702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制定解决方案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夯实在客户端构建价值认同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1" name="下箭头 70"/>
          <p:cNvSpPr/>
          <p:nvPr/>
        </p:nvSpPr>
        <p:spPr>
          <a:xfrm>
            <a:off x="4372546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5457258" y="5574597"/>
            <a:ext cx="1734426" cy="641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技术方案审核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价格策略，投标策略建议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3" name="下箭头 72"/>
          <p:cNvSpPr/>
          <p:nvPr/>
        </p:nvSpPr>
        <p:spPr>
          <a:xfrm>
            <a:off x="6085541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442023" y="5574597"/>
            <a:ext cx="1279247" cy="45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经验总结闭环</a:t>
            </a:r>
            <a:endParaRPr lang="en-US" altLang="zh-CN" sz="1190" dirty="0" smtClean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  <a:p>
            <a:r>
              <a:rPr lang="zh-CN" altLang="en-US" sz="1190" dirty="0" smtClean="0">
                <a:latin typeface="MiSans" panose="02010600030101010101" charset="-122"/>
                <a:ea typeface="MiSans" panose="02010600030101010101" charset="-122"/>
                <a:cs typeface="MiSans" panose="02010600030101010101" charset="-122"/>
              </a:rPr>
              <a:t>提升组织能力</a:t>
            </a:r>
            <a:endParaRPr lang="zh-CN" altLang="en-US" sz="1190" dirty="0">
              <a:latin typeface="MiSans" panose="02010600030101010101" charset="-122"/>
              <a:ea typeface="MiSans" panose="02010600030101010101" charset="-122"/>
              <a:cs typeface="MiSans" panose="02010600030101010101" charset="-122"/>
            </a:endParaRPr>
          </a:p>
        </p:txBody>
      </p:sp>
      <p:sp>
        <p:nvSpPr>
          <p:cNvPr id="75" name="下箭头 74"/>
          <p:cNvSpPr/>
          <p:nvPr/>
        </p:nvSpPr>
        <p:spPr>
          <a:xfrm>
            <a:off x="7780063" y="5033105"/>
            <a:ext cx="198497" cy="408354"/>
          </a:xfrm>
          <a:prstGeom prst="down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12236" y="1936895"/>
            <a:ext cx="1919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MO</a:t>
            </a:r>
            <a:r>
              <a:rPr lang="zh-CN" altLang="en-US" dirty="0" smtClean="0"/>
              <a:t>商机管理流程</a:t>
            </a:r>
            <a:endParaRPr lang="zh-CN" altLang="en-US" dirty="0"/>
          </a:p>
        </p:txBody>
      </p:sp>
      <p:cxnSp>
        <p:nvCxnSpPr>
          <p:cNvPr id="61" name="曲线连接符 60"/>
          <p:cNvCxnSpPr>
            <a:stCxn id="99" idx="2"/>
            <a:endCxn id="46" idx="0"/>
          </p:cNvCxnSpPr>
          <p:nvPr/>
        </p:nvCxnSpPr>
        <p:spPr>
          <a:xfrm rot="5400000">
            <a:off x="1965489" y="2022738"/>
            <a:ext cx="1986725" cy="306397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线连接符 76"/>
          <p:cNvCxnSpPr>
            <a:stCxn id="99" idx="2"/>
            <a:endCxn id="47" idx="0"/>
          </p:cNvCxnSpPr>
          <p:nvPr/>
        </p:nvCxnSpPr>
        <p:spPr>
          <a:xfrm rot="5400000">
            <a:off x="2704439" y="2761688"/>
            <a:ext cx="1986725" cy="15860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曲线连接符 77"/>
          <p:cNvCxnSpPr>
            <a:stCxn id="99" idx="2"/>
            <a:endCxn id="48" idx="0"/>
          </p:cNvCxnSpPr>
          <p:nvPr/>
        </p:nvCxnSpPr>
        <p:spPr>
          <a:xfrm rot="5400000">
            <a:off x="3497474" y="3554723"/>
            <a:ext cx="1986725" cy="1270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曲线连接符 83"/>
          <p:cNvCxnSpPr>
            <a:stCxn id="99" idx="2"/>
            <a:endCxn id="49" idx="0"/>
          </p:cNvCxnSpPr>
          <p:nvPr/>
        </p:nvCxnSpPr>
        <p:spPr>
          <a:xfrm rot="16200000" flipH="1">
            <a:off x="4344593" y="2707603"/>
            <a:ext cx="1986725" cy="169423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曲线连接符 86"/>
          <p:cNvCxnSpPr>
            <a:stCxn id="99" idx="2"/>
            <a:endCxn id="50" idx="0"/>
          </p:cNvCxnSpPr>
          <p:nvPr/>
        </p:nvCxnSpPr>
        <p:spPr>
          <a:xfrm rot="16200000" flipH="1">
            <a:off x="5191712" y="1860484"/>
            <a:ext cx="1986725" cy="338847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NODES &amp; RESPONSIBILITIES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关键节点执行要求与责任人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（</a:t>
            </a:r>
            <a:r>
              <a:rPr lang="en-US" altLang="zh-CN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1/2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17500" y="1602339"/>
            <a:ext cx="5715000" cy="3775509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17500" y="1602339"/>
            <a:ext cx="31750" cy="3744000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460375" y="17293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6"/>
          <p:cNvSpPr/>
          <p:nvPr/>
        </p:nvSpPr>
        <p:spPr>
          <a:xfrm>
            <a:off x="420688" y="172933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6625" y="1729339"/>
            <a:ext cx="1031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立项评审决策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36625" y="1951589"/>
            <a:ext cx="1008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第一关键节点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0375" y="220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78445" y="23198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Text 11"/>
          <p:cNvSpPr/>
          <p:nvPr/>
        </p:nvSpPr>
        <p:spPr>
          <a:xfrm>
            <a:off x="738188" y="230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14" name="Text 12"/>
          <p:cNvSpPr/>
          <p:nvPr/>
        </p:nvSpPr>
        <p:spPr>
          <a:xfrm>
            <a:off x="555625" y="249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销售经理</a:t>
            </a:r>
          </a:p>
        </p:txBody>
      </p:sp>
      <p:sp>
        <p:nvSpPr>
          <p:cNvPr id="15" name="Shape 13"/>
          <p:cNvSpPr/>
          <p:nvPr/>
        </p:nvSpPr>
        <p:spPr>
          <a:xfrm>
            <a:off x="460375" y="284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71500" y="295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738188" y="293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18" name="Text 16"/>
          <p:cNvSpPr/>
          <p:nvPr/>
        </p:nvSpPr>
        <p:spPr>
          <a:xfrm>
            <a:off x="555625" y="312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进入漏斗7天内发起立项评审决策</a:t>
            </a:r>
          </a:p>
        </p:txBody>
      </p:sp>
      <p:sp>
        <p:nvSpPr>
          <p:cNvPr id="19" name="Shape 17"/>
          <p:cNvSpPr/>
          <p:nvPr/>
        </p:nvSpPr>
        <p:spPr>
          <a:xfrm>
            <a:off x="460375" y="347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71500" y="3589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1" name="Text 19"/>
          <p:cNvSpPr/>
          <p:nvPr/>
        </p:nvSpPr>
        <p:spPr>
          <a:xfrm>
            <a:off x="738188" y="357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22" name="Text 20"/>
          <p:cNvSpPr/>
          <p:nvPr/>
        </p:nvSpPr>
        <p:spPr>
          <a:xfrm>
            <a:off x="555625" y="376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决策是否立项及确定项目组成员,每周销售例会呈现立项项目池</a:t>
            </a:r>
          </a:p>
        </p:txBody>
      </p:sp>
      <p:sp>
        <p:nvSpPr>
          <p:cNvPr id="23" name="Shape 21"/>
          <p:cNvSpPr/>
          <p:nvPr/>
        </p:nvSpPr>
        <p:spPr>
          <a:xfrm>
            <a:off x="460375" y="411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422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42345" y="2062"/>
                </a:moveTo>
                <a:cubicBezTo>
                  <a:pt x="42996" y="-1150"/>
                  <a:pt x="45839" y="-3473"/>
                  <a:pt x="49138" y="-3473"/>
                </a:cubicBezTo>
                <a:lnTo>
                  <a:pt x="62117" y="-3473"/>
                </a:lnTo>
                <a:cubicBezTo>
                  <a:pt x="65416" y="-3473"/>
                  <a:pt x="68259" y="-1150"/>
                  <a:pt x="68911" y="2062"/>
                </a:cubicBezTo>
                <a:lnTo>
                  <a:pt x="72058" y="17255"/>
                </a:lnTo>
                <a:cubicBezTo>
                  <a:pt x="75118" y="18557"/>
                  <a:pt x="77983" y="20228"/>
                  <a:pt x="80587" y="22203"/>
                </a:cubicBezTo>
                <a:lnTo>
                  <a:pt x="95303" y="17320"/>
                </a:lnTo>
                <a:cubicBezTo>
                  <a:pt x="98428" y="16278"/>
                  <a:pt x="101857" y="17580"/>
                  <a:pt x="103507" y="20445"/>
                </a:cubicBezTo>
                <a:lnTo>
                  <a:pt x="109996" y="31688"/>
                </a:lnTo>
                <a:cubicBezTo>
                  <a:pt x="111646" y="34553"/>
                  <a:pt x="111060" y="38156"/>
                  <a:pt x="108586" y="40348"/>
                </a:cubicBezTo>
                <a:lnTo>
                  <a:pt x="97017" y="50636"/>
                </a:lnTo>
                <a:cubicBezTo>
                  <a:pt x="97213" y="52242"/>
                  <a:pt x="97299" y="53891"/>
                  <a:pt x="97299" y="55563"/>
                </a:cubicBezTo>
                <a:cubicBezTo>
                  <a:pt x="97299" y="57234"/>
                  <a:pt x="97191" y="58883"/>
                  <a:pt x="97017" y="60489"/>
                </a:cubicBezTo>
                <a:lnTo>
                  <a:pt x="108607" y="70799"/>
                </a:lnTo>
                <a:cubicBezTo>
                  <a:pt x="111082" y="72991"/>
                  <a:pt x="111646" y="76615"/>
                  <a:pt x="110018" y="79459"/>
                </a:cubicBezTo>
                <a:lnTo>
                  <a:pt x="103529" y="90701"/>
                </a:lnTo>
                <a:cubicBezTo>
                  <a:pt x="101879" y="93545"/>
                  <a:pt x="98450" y="94869"/>
                  <a:pt x="95324" y="93827"/>
                </a:cubicBezTo>
                <a:lnTo>
                  <a:pt x="80609" y="88943"/>
                </a:lnTo>
                <a:cubicBezTo>
                  <a:pt x="77983" y="90918"/>
                  <a:pt x="75118" y="92568"/>
                  <a:pt x="72079" y="93892"/>
                </a:cubicBezTo>
                <a:lnTo>
                  <a:pt x="68954" y="109063"/>
                </a:lnTo>
                <a:cubicBezTo>
                  <a:pt x="68281" y="112297"/>
                  <a:pt x="65438" y="114598"/>
                  <a:pt x="62161" y="114598"/>
                </a:cubicBezTo>
                <a:lnTo>
                  <a:pt x="49181" y="114598"/>
                </a:lnTo>
                <a:cubicBezTo>
                  <a:pt x="45882" y="114598"/>
                  <a:pt x="43039" y="112275"/>
                  <a:pt x="42388" y="109063"/>
                </a:cubicBezTo>
                <a:lnTo>
                  <a:pt x="39263" y="93892"/>
                </a:lnTo>
                <a:cubicBezTo>
                  <a:pt x="36202" y="92590"/>
                  <a:pt x="33359" y="90918"/>
                  <a:pt x="30733" y="88943"/>
                </a:cubicBezTo>
                <a:lnTo>
                  <a:pt x="15953" y="93827"/>
                </a:lnTo>
                <a:cubicBezTo>
                  <a:pt x="12827" y="94869"/>
                  <a:pt x="9398" y="93566"/>
                  <a:pt x="7748" y="90701"/>
                </a:cubicBezTo>
                <a:lnTo>
                  <a:pt x="1259" y="79459"/>
                </a:lnTo>
                <a:cubicBezTo>
                  <a:pt x="-391" y="76594"/>
                  <a:pt x="195" y="72991"/>
                  <a:pt x="2670" y="70799"/>
                </a:cubicBezTo>
                <a:lnTo>
                  <a:pt x="14260" y="60489"/>
                </a:lnTo>
                <a:cubicBezTo>
                  <a:pt x="14064" y="58883"/>
                  <a:pt x="13977" y="57234"/>
                  <a:pt x="13977" y="55563"/>
                </a:cubicBezTo>
                <a:cubicBezTo>
                  <a:pt x="13977" y="53891"/>
                  <a:pt x="14086" y="52242"/>
                  <a:pt x="14260" y="50636"/>
                </a:cubicBezTo>
                <a:lnTo>
                  <a:pt x="2670" y="40326"/>
                </a:lnTo>
                <a:cubicBezTo>
                  <a:pt x="195" y="38134"/>
                  <a:pt x="-369" y="34510"/>
                  <a:pt x="1259" y="31666"/>
                </a:cubicBezTo>
                <a:lnTo>
                  <a:pt x="7748" y="20424"/>
                </a:lnTo>
                <a:cubicBezTo>
                  <a:pt x="9398" y="17559"/>
                  <a:pt x="12827" y="16256"/>
                  <a:pt x="15953" y="17298"/>
                </a:cubicBezTo>
                <a:lnTo>
                  <a:pt x="30668" y="22182"/>
                </a:lnTo>
                <a:cubicBezTo>
                  <a:pt x="33294" y="20207"/>
                  <a:pt x="36159" y="18557"/>
                  <a:pt x="39198" y="17233"/>
                </a:cubicBezTo>
                <a:lnTo>
                  <a:pt x="42345" y="2062"/>
                </a:lnTo>
                <a:close/>
                <a:moveTo>
                  <a:pt x="55628" y="72926"/>
                </a:moveTo>
                <a:cubicBezTo>
                  <a:pt x="61831" y="72903"/>
                  <a:pt x="67551" y="69572"/>
                  <a:pt x="70632" y="64188"/>
                </a:cubicBezTo>
                <a:cubicBezTo>
                  <a:pt x="73714" y="58804"/>
                  <a:pt x="73689" y="52185"/>
                  <a:pt x="70567" y="46824"/>
                </a:cubicBezTo>
                <a:cubicBezTo>
                  <a:pt x="67445" y="41464"/>
                  <a:pt x="61701" y="38176"/>
                  <a:pt x="55497" y="38199"/>
                </a:cubicBezTo>
                <a:cubicBezTo>
                  <a:pt x="49294" y="38222"/>
                  <a:pt x="43574" y="41553"/>
                  <a:pt x="40493" y="46937"/>
                </a:cubicBezTo>
                <a:cubicBezTo>
                  <a:pt x="37411" y="52321"/>
                  <a:pt x="37436" y="58940"/>
                  <a:pt x="40558" y="64301"/>
                </a:cubicBezTo>
                <a:cubicBezTo>
                  <a:pt x="43680" y="69661"/>
                  <a:pt x="49424" y="72949"/>
                  <a:pt x="55628" y="72926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5" name="Text 23"/>
          <p:cNvSpPr/>
          <p:nvPr/>
        </p:nvSpPr>
        <p:spPr>
          <a:xfrm>
            <a:off x="738188" y="420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运转机制</a:t>
            </a:r>
          </a:p>
        </p:txBody>
      </p:sp>
      <p:sp>
        <p:nvSpPr>
          <p:cNvPr id="26" name="Text 24"/>
          <p:cNvSpPr/>
          <p:nvPr/>
        </p:nvSpPr>
        <p:spPr>
          <a:xfrm>
            <a:off x="555625" y="439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销管BP通过周例会看板追踪,区域经理督促执行</a:t>
            </a:r>
          </a:p>
        </p:txBody>
      </p:sp>
      <p:sp>
        <p:nvSpPr>
          <p:cNvPr id="27" name="Shape 25"/>
          <p:cNvSpPr/>
          <p:nvPr/>
        </p:nvSpPr>
        <p:spPr>
          <a:xfrm>
            <a:off x="6143625" y="1602339"/>
            <a:ext cx="5715000" cy="3775509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43625" y="1602339"/>
            <a:ext cx="31750" cy="3744000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Shape 27"/>
          <p:cNvSpPr/>
          <p:nvPr/>
        </p:nvSpPr>
        <p:spPr>
          <a:xfrm>
            <a:off x="6286500" y="17293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6246813" y="1729339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762750" y="1729339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2750" y="1951589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第二关键节点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86500" y="220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04570" y="2319888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5" name="Text 33"/>
          <p:cNvSpPr/>
          <p:nvPr/>
        </p:nvSpPr>
        <p:spPr>
          <a:xfrm>
            <a:off x="6564313" y="230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36" name="Text 34"/>
          <p:cNvSpPr/>
          <p:nvPr/>
        </p:nvSpPr>
        <p:spPr>
          <a:xfrm>
            <a:off x="6381750" y="249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</a:p>
        </p:txBody>
      </p:sp>
      <p:sp>
        <p:nvSpPr>
          <p:cNvPr id="37" name="Shape 35"/>
          <p:cNvSpPr/>
          <p:nvPr/>
        </p:nvSpPr>
        <p:spPr>
          <a:xfrm>
            <a:off x="6286500" y="284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397625" y="295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9" name="Text 37"/>
          <p:cNvSpPr/>
          <p:nvPr/>
        </p:nvSpPr>
        <p:spPr>
          <a:xfrm>
            <a:off x="6564313" y="293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40" name="Text 38"/>
          <p:cNvSpPr/>
          <p:nvPr/>
        </p:nvSpPr>
        <p:spPr>
          <a:xfrm>
            <a:off x="6381750" y="312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立项评审通过7天内召开第一次项目分析会</a:t>
            </a:r>
          </a:p>
        </p:txBody>
      </p:sp>
      <p:sp>
        <p:nvSpPr>
          <p:cNvPr id="41" name="Shape 39"/>
          <p:cNvSpPr/>
          <p:nvPr/>
        </p:nvSpPr>
        <p:spPr>
          <a:xfrm>
            <a:off x="6286500" y="3475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397625" y="3589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3" name="Text 41"/>
          <p:cNvSpPr/>
          <p:nvPr/>
        </p:nvSpPr>
        <p:spPr>
          <a:xfrm>
            <a:off x="6564313" y="3570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44" name="Text 42"/>
          <p:cNvSpPr/>
          <p:nvPr/>
        </p:nvSpPr>
        <p:spPr>
          <a:xfrm>
            <a:off x="6381750" y="3761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明确项目组成员及分工,组建项目飞书群,应用至QBC季度考核</a:t>
            </a:r>
          </a:p>
        </p:txBody>
      </p:sp>
      <p:sp>
        <p:nvSpPr>
          <p:cNvPr id="45" name="Shape 43"/>
          <p:cNvSpPr/>
          <p:nvPr/>
        </p:nvSpPr>
        <p:spPr>
          <a:xfrm>
            <a:off x="6286500" y="4110589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97625" y="4224888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58753" y="0"/>
                  <a:pt x="61683" y="1758"/>
                  <a:pt x="63202" y="4558"/>
                </a:cubicBezTo>
                <a:lnTo>
                  <a:pt x="110083" y="91374"/>
                </a:lnTo>
                <a:cubicBezTo>
                  <a:pt x="111537" y="94066"/>
                  <a:pt x="111472" y="97321"/>
                  <a:pt x="109910" y="99947"/>
                </a:cubicBezTo>
                <a:cubicBezTo>
                  <a:pt x="108347" y="102574"/>
                  <a:pt x="105504" y="104180"/>
                  <a:pt x="102443" y="104180"/>
                </a:cubicBezTo>
                <a:lnTo>
                  <a:pt x="8682" y="104180"/>
                </a:lnTo>
                <a:cubicBezTo>
                  <a:pt x="5621" y="104180"/>
                  <a:pt x="2800" y="102574"/>
                  <a:pt x="1215" y="99947"/>
                </a:cubicBezTo>
                <a:cubicBezTo>
                  <a:pt x="-369" y="97321"/>
                  <a:pt x="-412" y="94066"/>
                  <a:pt x="1042" y="91374"/>
                </a:cubicBezTo>
                <a:lnTo>
                  <a:pt x="47923" y="4558"/>
                </a:lnTo>
                <a:cubicBezTo>
                  <a:pt x="49442" y="1758"/>
                  <a:pt x="52372" y="0"/>
                  <a:pt x="55563" y="0"/>
                </a:cubicBezTo>
                <a:close/>
                <a:moveTo>
                  <a:pt x="55563" y="36463"/>
                </a:moveTo>
                <a:cubicBezTo>
                  <a:pt x="52676" y="36463"/>
                  <a:pt x="50354" y="38785"/>
                  <a:pt x="50354" y="41672"/>
                </a:cubicBezTo>
                <a:lnTo>
                  <a:pt x="50354" y="65980"/>
                </a:lnTo>
                <a:cubicBezTo>
                  <a:pt x="50354" y="68867"/>
                  <a:pt x="52676" y="71189"/>
                  <a:pt x="55563" y="71189"/>
                </a:cubicBezTo>
                <a:cubicBezTo>
                  <a:pt x="58449" y="71189"/>
                  <a:pt x="60771" y="68867"/>
                  <a:pt x="60771" y="65980"/>
                </a:cubicBezTo>
                <a:lnTo>
                  <a:pt x="60771" y="41672"/>
                </a:lnTo>
                <a:cubicBezTo>
                  <a:pt x="60771" y="38785"/>
                  <a:pt x="58449" y="36463"/>
                  <a:pt x="55563" y="36463"/>
                </a:cubicBezTo>
                <a:close/>
                <a:moveTo>
                  <a:pt x="61357" y="83344"/>
                </a:moveTo>
                <a:cubicBezTo>
                  <a:pt x="61489" y="81193"/>
                  <a:pt x="60417" y="79146"/>
                  <a:pt x="58573" y="78031"/>
                </a:cubicBezTo>
                <a:cubicBezTo>
                  <a:pt x="56729" y="76915"/>
                  <a:pt x="54418" y="76915"/>
                  <a:pt x="52574" y="78031"/>
                </a:cubicBezTo>
                <a:cubicBezTo>
                  <a:pt x="50730" y="79146"/>
                  <a:pt x="49657" y="81193"/>
                  <a:pt x="49789" y="83344"/>
                </a:cubicBezTo>
                <a:cubicBezTo>
                  <a:pt x="49657" y="85495"/>
                  <a:pt x="50730" y="87541"/>
                  <a:pt x="52574" y="88657"/>
                </a:cubicBezTo>
                <a:cubicBezTo>
                  <a:pt x="54418" y="89772"/>
                  <a:pt x="56729" y="89772"/>
                  <a:pt x="58573" y="88657"/>
                </a:cubicBezTo>
                <a:cubicBezTo>
                  <a:pt x="60417" y="87541"/>
                  <a:pt x="61489" y="85495"/>
                  <a:pt x="61357" y="8334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6564313" y="4205839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考核机制</a:t>
            </a:r>
          </a:p>
        </p:txBody>
      </p:sp>
      <p:sp>
        <p:nvSpPr>
          <p:cNvPr id="48" name="Text 46"/>
          <p:cNvSpPr/>
          <p:nvPr/>
        </p:nvSpPr>
        <p:spPr>
          <a:xfrm>
            <a:off x="6381750" y="4396339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每个未执行周关键任务次数扣减0.5分QBC分值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47"/>
          <p:cNvSpPr/>
          <p:nvPr/>
        </p:nvSpPr>
        <p:spPr>
          <a:xfrm>
            <a:off x="377031" y="1370436"/>
            <a:ext cx="5715000" cy="3881438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" name="Shape 48"/>
          <p:cNvSpPr/>
          <p:nvPr/>
        </p:nvSpPr>
        <p:spPr>
          <a:xfrm>
            <a:off x="377031" y="1370436"/>
            <a:ext cx="31750" cy="3881438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" name="Shape 49"/>
          <p:cNvSpPr/>
          <p:nvPr/>
        </p:nvSpPr>
        <p:spPr>
          <a:xfrm>
            <a:off x="519906" y="14974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50"/>
          <p:cNvSpPr/>
          <p:nvPr/>
        </p:nvSpPr>
        <p:spPr>
          <a:xfrm>
            <a:off x="480219" y="1497436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51"/>
          <p:cNvSpPr/>
          <p:nvPr/>
        </p:nvSpPr>
        <p:spPr>
          <a:xfrm>
            <a:off x="996156" y="1497436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7" name="Text 52"/>
          <p:cNvSpPr/>
          <p:nvPr/>
        </p:nvSpPr>
        <p:spPr>
          <a:xfrm>
            <a:off x="996156" y="1719686"/>
            <a:ext cx="1166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第三关键节点</a:t>
            </a:r>
            <a:endParaRPr lang="en-US" sz="1600" dirty="0"/>
          </a:p>
        </p:txBody>
      </p:sp>
      <p:sp>
        <p:nvSpPr>
          <p:cNvPr id="8" name="Shape 53"/>
          <p:cNvSpPr/>
          <p:nvPr/>
        </p:nvSpPr>
        <p:spPr>
          <a:xfrm>
            <a:off x="519906" y="197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9" name="Shape 54"/>
          <p:cNvSpPr/>
          <p:nvPr/>
        </p:nvSpPr>
        <p:spPr>
          <a:xfrm>
            <a:off x="637976" y="2087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0" name="Text 55"/>
          <p:cNvSpPr/>
          <p:nvPr/>
        </p:nvSpPr>
        <p:spPr>
          <a:xfrm>
            <a:off x="797719" y="206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11" name="Text 56"/>
          <p:cNvSpPr/>
          <p:nvPr/>
        </p:nvSpPr>
        <p:spPr>
          <a:xfrm>
            <a:off x="615156" y="225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</a:t>
            </a:r>
          </a:p>
        </p:txBody>
      </p:sp>
      <p:sp>
        <p:nvSpPr>
          <p:cNvPr id="12" name="Shape 57"/>
          <p:cNvSpPr/>
          <p:nvPr/>
        </p:nvSpPr>
        <p:spPr>
          <a:xfrm>
            <a:off x="519906" y="260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3" name="Shape 58"/>
          <p:cNvSpPr/>
          <p:nvPr/>
        </p:nvSpPr>
        <p:spPr>
          <a:xfrm>
            <a:off x="631031" y="272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40869" y="31927"/>
                </a:moveTo>
                <a:cubicBezTo>
                  <a:pt x="39219" y="32838"/>
                  <a:pt x="38199" y="34596"/>
                  <a:pt x="38199" y="36463"/>
                </a:cubicBezTo>
                <a:lnTo>
                  <a:pt x="38199" y="74662"/>
                </a:lnTo>
                <a:cubicBezTo>
                  <a:pt x="38199" y="76550"/>
                  <a:pt x="39219" y="78287"/>
                  <a:pt x="40869" y="79198"/>
                </a:cubicBezTo>
                <a:cubicBezTo>
                  <a:pt x="42518" y="80110"/>
                  <a:pt x="44515" y="80088"/>
                  <a:pt x="46143" y="79090"/>
                </a:cubicBezTo>
                <a:lnTo>
                  <a:pt x="77397" y="59990"/>
                </a:lnTo>
                <a:cubicBezTo>
                  <a:pt x="78938" y="59035"/>
                  <a:pt x="79893" y="57364"/>
                  <a:pt x="79893" y="55541"/>
                </a:cubicBezTo>
                <a:cubicBezTo>
                  <a:pt x="79893" y="53718"/>
                  <a:pt x="78938" y="52046"/>
                  <a:pt x="77397" y="51091"/>
                </a:cubicBezTo>
                <a:lnTo>
                  <a:pt x="46143" y="31992"/>
                </a:lnTo>
                <a:cubicBezTo>
                  <a:pt x="44537" y="31015"/>
                  <a:pt x="42518" y="30972"/>
                  <a:pt x="40869" y="3188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4" name="Text 59"/>
          <p:cNvSpPr/>
          <p:nvPr/>
        </p:nvSpPr>
        <p:spPr>
          <a:xfrm>
            <a:off x="797719" y="270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执行时机</a:t>
            </a:r>
          </a:p>
        </p:txBody>
      </p:sp>
      <p:sp>
        <p:nvSpPr>
          <p:cNvPr id="15" name="Text 60"/>
          <p:cNvSpPr/>
          <p:nvPr/>
        </p:nvSpPr>
        <p:spPr>
          <a:xfrm>
            <a:off x="615156" y="289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明确客户需求后及时制定解决方案并发起评审</a:t>
            </a:r>
          </a:p>
        </p:txBody>
      </p:sp>
      <p:sp>
        <p:nvSpPr>
          <p:cNvPr id="16" name="Shape 61"/>
          <p:cNvSpPr/>
          <p:nvPr/>
        </p:nvSpPr>
        <p:spPr>
          <a:xfrm>
            <a:off x="519906" y="324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7" name="Shape 62"/>
          <p:cNvSpPr/>
          <p:nvPr/>
        </p:nvSpPr>
        <p:spPr>
          <a:xfrm>
            <a:off x="631031" y="3357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8" name="Text 63"/>
          <p:cNvSpPr/>
          <p:nvPr/>
        </p:nvSpPr>
        <p:spPr>
          <a:xfrm>
            <a:off x="797719" y="333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19" name="Text 64"/>
          <p:cNvSpPr/>
          <p:nvPr/>
        </p:nvSpPr>
        <p:spPr>
          <a:xfrm>
            <a:off x="615156" y="352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及时刷新方案保证有效性,夯实在客户端构建方案价值认可</a:t>
            </a:r>
          </a:p>
        </p:txBody>
      </p:sp>
      <p:sp>
        <p:nvSpPr>
          <p:cNvPr id="20" name="Shape 65"/>
          <p:cNvSpPr/>
          <p:nvPr/>
        </p:nvSpPr>
        <p:spPr>
          <a:xfrm>
            <a:off x="519906" y="387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66"/>
          <p:cNvSpPr/>
          <p:nvPr/>
        </p:nvSpPr>
        <p:spPr>
          <a:xfrm>
            <a:off x="631031" y="399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97234" y="55563"/>
                </a:moveTo>
                <a:cubicBezTo>
                  <a:pt x="97234" y="32563"/>
                  <a:pt x="78562" y="13891"/>
                  <a:pt x="55563" y="13891"/>
                </a:cubicBezTo>
                <a:cubicBezTo>
                  <a:pt x="32563" y="13891"/>
                  <a:pt x="13891" y="32563"/>
                  <a:pt x="13891" y="55563"/>
                </a:cubicBezTo>
                <a:cubicBezTo>
                  <a:pt x="13891" y="78562"/>
                  <a:pt x="32563" y="97234"/>
                  <a:pt x="55563" y="97234"/>
                </a:cubicBezTo>
                <a:cubicBezTo>
                  <a:pt x="78562" y="97234"/>
                  <a:pt x="97234" y="78562"/>
                  <a:pt x="97234" y="55563"/>
                </a:cubicBezTo>
                <a:close/>
                <a:moveTo>
                  <a:pt x="0" y="55563"/>
                </a:moveTo>
                <a:cubicBezTo>
                  <a:pt x="0" y="24897"/>
                  <a:pt x="24897" y="0"/>
                  <a:pt x="55562" y="0"/>
                </a:cubicBezTo>
                <a:cubicBezTo>
                  <a:pt x="86228" y="0"/>
                  <a:pt x="111125" y="24897"/>
                  <a:pt x="111125" y="55562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lose/>
                <a:moveTo>
                  <a:pt x="55563" y="72926"/>
                </a:moveTo>
                <a:cubicBezTo>
                  <a:pt x="65146" y="72926"/>
                  <a:pt x="72926" y="65146"/>
                  <a:pt x="72926" y="55563"/>
                </a:cubicBezTo>
                <a:cubicBezTo>
                  <a:pt x="72926" y="45979"/>
                  <a:pt x="65146" y="38199"/>
                  <a:pt x="55563" y="38199"/>
                </a:cubicBezTo>
                <a:cubicBezTo>
                  <a:pt x="45979" y="38199"/>
                  <a:pt x="38199" y="45979"/>
                  <a:pt x="38199" y="55563"/>
                </a:cubicBezTo>
                <a:cubicBezTo>
                  <a:pt x="38199" y="65146"/>
                  <a:pt x="45979" y="72926"/>
                  <a:pt x="55563" y="72926"/>
                </a:cubicBezTo>
                <a:close/>
                <a:moveTo>
                  <a:pt x="55563" y="24309"/>
                </a:moveTo>
                <a:cubicBezTo>
                  <a:pt x="72812" y="24309"/>
                  <a:pt x="86816" y="38313"/>
                  <a:pt x="86816" y="55563"/>
                </a:cubicBezTo>
                <a:cubicBezTo>
                  <a:pt x="86816" y="72812"/>
                  <a:pt x="72812" y="86816"/>
                  <a:pt x="55563" y="86816"/>
                </a:cubicBezTo>
                <a:cubicBezTo>
                  <a:pt x="38313" y="86816"/>
                  <a:pt x="24309" y="72812"/>
                  <a:pt x="24309" y="55563"/>
                </a:cubicBezTo>
                <a:cubicBezTo>
                  <a:pt x="24309" y="38313"/>
                  <a:pt x="38313" y="24309"/>
                  <a:pt x="55563" y="24309"/>
                </a:cubicBezTo>
                <a:close/>
                <a:moveTo>
                  <a:pt x="48617" y="55563"/>
                </a:moveTo>
                <a:cubicBezTo>
                  <a:pt x="48617" y="51729"/>
                  <a:pt x="51729" y="48617"/>
                  <a:pt x="55563" y="48617"/>
                </a:cubicBezTo>
                <a:cubicBezTo>
                  <a:pt x="59396" y="48617"/>
                  <a:pt x="62508" y="51729"/>
                  <a:pt x="62508" y="55563"/>
                </a:cubicBezTo>
                <a:cubicBezTo>
                  <a:pt x="62508" y="59396"/>
                  <a:pt x="59396" y="62508"/>
                  <a:pt x="55563" y="62508"/>
                </a:cubicBezTo>
                <a:cubicBezTo>
                  <a:pt x="51729" y="62508"/>
                  <a:pt x="48617" y="59396"/>
                  <a:pt x="48617" y="55563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67"/>
          <p:cNvSpPr/>
          <p:nvPr/>
        </p:nvSpPr>
        <p:spPr>
          <a:xfrm>
            <a:off x="797719" y="397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目标要求</a:t>
            </a:r>
          </a:p>
        </p:txBody>
      </p:sp>
      <p:sp>
        <p:nvSpPr>
          <p:cNvPr id="23" name="Text 68"/>
          <p:cNvSpPr/>
          <p:nvPr/>
        </p:nvSpPr>
        <p:spPr>
          <a:xfrm>
            <a:off x="615156" y="416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立项项目解决方案评审率100%,标前评审会前必须完成</a:t>
            </a:r>
          </a:p>
        </p:txBody>
      </p:sp>
      <p:sp>
        <p:nvSpPr>
          <p:cNvPr id="24" name="Shape 69"/>
          <p:cNvSpPr/>
          <p:nvPr/>
        </p:nvSpPr>
        <p:spPr>
          <a:xfrm>
            <a:off x="6203156" y="1370436"/>
            <a:ext cx="5715000" cy="3881438"/>
          </a:xfrm>
          <a:custGeom>
            <a:avLst/>
            <a:gdLst/>
            <a:ahLst/>
            <a:cxnLst/>
            <a:rect l="l" t="t" r="r" b="b"/>
            <a:pathLst>
              <a:path w="5715000" h="3881438">
                <a:moveTo>
                  <a:pt x="31750" y="0"/>
                </a:moveTo>
                <a:lnTo>
                  <a:pt x="5619750" y="0"/>
                </a:lnTo>
                <a:cubicBezTo>
                  <a:pt x="5672355" y="0"/>
                  <a:pt x="5715000" y="42645"/>
                  <a:pt x="5715000" y="95250"/>
                </a:cubicBezTo>
                <a:lnTo>
                  <a:pt x="5715000" y="3786187"/>
                </a:lnTo>
                <a:cubicBezTo>
                  <a:pt x="5715000" y="3838792"/>
                  <a:pt x="5672355" y="3881438"/>
                  <a:pt x="5619750" y="3881438"/>
                </a:cubicBezTo>
                <a:lnTo>
                  <a:pt x="31750" y="3881438"/>
                </a:lnTo>
                <a:cubicBezTo>
                  <a:pt x="14215" y="3881438"/>
                  <a:pt x="0" y="3867223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3813" dist="793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70"/>
          <p:cNvSpPr/>
          <p:nvPr/>
        </p:nvSpPr>
        <p:spPr>
          <a:xfrm>
            <a:off x="6203156" y="1370436"/>
            <a:ext cx="31750" cy="3881438"/>
          </a:xfrm>
          <a:custGeom>
            <a:avLst/>
            <a:gdLst/>
            <a:ahLst/>
            <a:cxnLst/>
            <a:rect l="l" t="t" r="r" b="b"/>
            <a:pathLst>
              <a:path w="31750" h="3881438">
                <a:moveTo>
                  <a:pt x="31750" y="0"/>
                </a:moveTo>
                <a:lnTo>
                  <a:pt x="31750" y="0"/>
                </a:lnTo>
                <a:lnTo>
                  <a:pt x="31750" y="3881438"/>
                </a:lnTo>
                <a:lnTo>
                  <a:pt x="31750" y="3881438"/>
                </a:lnTo>
                <a:cubicBezTo>
                  <a:pt x="14227" y="3881438"/>
                  <a:pt x="0" y="3867211"/>
                  <a:pt x="0" y="3849688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Shape 71"/>
          <p:cNvSpPr/>
          <p:nvPr/>
        </p:nvSpPr>
        <p:spPr>
          <a:xfrm>
            <a:off x="6346031" y="149743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72"/>
          <p:cNvSpPr/>
          <p:nvPr/>
        </p:nvSpPr>
        <p:spPr>
          <a:xfrm>
            <a:off x="6306344" y="1497436"/>
            <a:ext cx="4603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73"/>
          <p:cNvSpPr/>
          <p:nvPr/>
        </p:nvSpPr>
        <p:spPr>
          <a:xfrm>
            <a:off x="6822281" y="1497436"/>
            <a:ext cx="873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标前评审会</a:t>
            </a:r>
            <a:endParaRPr lang="en-US" sz="1600" dirty="0"/>
          </a:p>
        </p:txBody>
      </p:sp>
      <p:sp>
        <p:nvSpPr>
          <p:cNvPr id="29" name="Text 74"/>
          <p:cNvSpPr/>
          <p:nvPr/>
        </p:nvSpPr>
        <p:spPr>
          <a:xfrm>
            <a:off x="6822281" y="1719686"/>
            <a:ext cx="8493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第四关键节点</a:t>
            </a:r>
            <a:endParaRPr lang="en-US" sz="1600" dirty="0"/>
          </a:p>
        </p:txBody>
      </p:sp>
      <p:sp>
        <p:nvSpPr>
          <p:cNvPr id="30" name="Shape 75"/>
          <p:cNvSpPr/>
          <p:nvPr/>
        </p:nvSpPr>
        <p:spPr>
          <a:xfrm>
            <a:off x="6346031" y="197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76"/>
          <p:cNvSpPr/>
          <p:nvPr/>
        </p:nvSpPr>
        <p:spPr>
          <a:xfrm>
            <a:off x="6464101" y="20879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48617" y="53826"/>
                </a:moveTo>
                <a:cubicBezTo>
                  <a:pt x="62992" y="53826"/>
                  <a:pt x="74662" y="42156"/>
                  <a:pt x="74662" y="27781"/>
                </a:cubicBezTo>
                <a:cubicBezTo>
                  <a:pt x="74662" y="13407"/>
                  <a:pt x="62992" y="1736"/>
                  <a:pt x="48617" y="1736"/>
                </a:cubicBezTo>
                <a:cubicBezTo>
                  <a:pt x="34243" y="1736"/>
                  <a:pt x="22572" y="13407"/>
                  <a:pt x="22572" y="27781"/>
                </a:cubicBezTo>
                <a:cubicBezTo>
                  <a:pt x="22572" y="42156"/>
                  <a:pt x="34243" y="53826"/>
                  <a:pt x="48617" y="53826"/>
                </a:cubicBezTo>
                <a:close/>
                <a:moveTo>
                  <a:pt x="42171" y="65980"/>
                </a:moveTo>
                <a:cubicBezTo>
                  <a:pt x="20793" y="65980"/>
                  <a:pt x="3473" y="83300"/>
                  <a:pt x="3473" y="104679"/>
                </a:cubicBezTo>
                <a:cubicBezTo>
                  <a:pt x="3473" y="108238"/>
                  <a:pt x="6359" y="111125"/>
                  <a:pt x="9919" y="111125"/>
                </a:cubicBezTo>
                <a:lnTo>
                  <a:pt x="87316" y="111125"/>
                </a:lnTo>
                <a:cubicBezTo>
                  <a:pt x="90875" y="111125"/>
                  <a:pt x="93762" y="108238"/>
                  <a:pt x="93762" y="104679"/>
                </a:cubicBezTo>
                <a:cubicBezTo>
                  <a:pt x="93762" y="83300"/>
                  <a:pt x="76442" y="65980"/>
                  <a:pt x="55063" y="65980"/>
                </a:cubicBezTo>
                <a:lnTo>
                  <a:pt x="42171" y="6598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77"/>
          <p:cNvSpPr/>
          <p:nvPr/>
        </p:nvSpPr>
        <p:spPr>
          <a:xfrm>
            <a:off x="6623844" y="206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</a:p>
        </p:txBody>
      </p:sp>
      <p:sp>
        <p:nvSpPr>
          <p:cNvPr id="33" name="Text 78"/>
          <p:cNvSpPr/>
          <p:nvPr/>
        </p:nvSpPr>
        <p:spPr>
          <a:xfrm>
            <a:off x="6441281" y="225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</a:p>
        </p:txBody>
      </p:sp>
      <p:sp>
        <p:nvSpPr>
          <p:cNvPr id="34" name="Shape 79"/>
          <p:cNvSpPr/>
          <p:nvPr/>
        </p:nvSpPr>
        <p:spPr>
          <a:xfrm>
            <a:off x="6346031" y="260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5" name="Shape 80"/>
          <p:cNvSpPr/>
          <p:nvPr/>
        </p:nvSpPr>
        <p:spPr>
          <a:xfrm>
            <a:off x="6457156" y="2722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0"/>
                </a:moveTo>
                <a:cubicBezTo>
                  <a:pt x="86228" y="0"/>
                  <a:pt x="111125" y="24897"/>
                  <a:pt x="111125" y="55563"/>
                </a:cubicBezTo>
                <a:cubicBezTo>
                  <a:pt x="111125" y="86228"/>
                  <a:pt x="86228" y="111125"/>
                  <a:pt x="55563" y="111125"/>
                </a:cubicBezTo>
                <a:cubicBezTo>
                  <a:pt x="24897" y="111125"/>
                  <a:pt x="0" y="86228"/>
                  <a:pt x="0" y="55563"/>
                </a:cubicBezTo>
                <a:cubicBezTo>
                  <a:pt x="0" y="24897"/>
                  <a:pt x="24897" y="0"/>
                  <a:pt x="55562" y="0"/>
                </a:cubicBezTo>
                <a:close/>
                <a:moveTo>
                  <a:pt x="50354" y="26045"/>
                </a:moveTo>
                <a:lnTo>
                  <a:pt x="50354" y="55563"/>
                </a:lnTo>
                <a:cubicBezTo>
                  <a:pt x="50354" y="57299"/>
                  <a:pt x="51222" y="58927"/>
                  <a:pt x="52676" y="59903"/>
                </a:cubicBezTo>
                <a:lnTo>
                  <a:pt x="73512" y="73794"/>
                </a:lnTo>
                <a:cubicBezTo>
                  <a:pt x="75899" y="75400"/>
                  <a:pt x="79133" y="74749"/>
                  <a:pt x="80739" y="72340"/>
                </a:cubicBezTo>
                <a:cubicBezTo>
                  <a:pt x="82345" y="69931"/>
                  <a:pt x="81694" y="66718"/>
                  <a:pt x="79285" y="65112"/>
                </a:cubicBezTo>
                <a:lnTo>
                  <a:pt x="60771" y="52784"/>
                </a:lnTo>
                <a:lnTo>
                  <a:pt x="60771" y="26045"/>
                </a:lnTo>
                <a:cubicBezTo>
                  <a:pt x="60771" y="23158"/>
                  <a:pt x="58449" y="20836"/>
                  <a:pt x="55563" y="20836"/>
                </a:cubicBezTo>
                <a:cubicBezTo>
                  <a:pt x="52676" y="20836"/>
                  <a:pt x="50354" y="23158"/>
                  <a:pt x="50354" y="26045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6" name="Text 81"/>
          <p:cNvSpPr/>
          <p:nvPr/>
        </p:nvSpPr>
        <p:spPr>
          <a:xfrm>
            <a:off x="6623844" y="270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</a:p>
        </p:txBody>
      </p:sp>
      <p:sp>
        <p:nvSpPr>
          <p:cNvPr id="37" name="Text 82"/>
          <p:cNvSpPr/>
          <p:nvPr/>
        </p:nvSpPr>
        <p:spPr>
          <a:xfrm>
            <a:off x="6441281" y="289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获取正式标书3天内组织开展标前评审会</a:t>
            </a:r>
          </a:p>
        </p:txBody>
      </p:sp>
      <p:sp>
        <p:nvSpPr>
          <p:cNvPr id="38" name="Shape 83"/>
          <p:cNvSpPr/>
          <p:nvPr/>
        </p:nvSpPr>
        <p:spPr>
          <a:xfrm>
            <a:off x="6346031" y="3243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84"/>
          <p:cNvSpPr/>
          <p:nvPr/>
        </p:nvSpPr>
        <p:spPr>
          <a:xfrm>
            <a:off x="6457156" y="3357985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29040" y="7879"/>
                </a:moveTo>
                <a:cubicBezTo>
                  <a:pt x="31406" y="9528"/>
                  <a:pt x="31970" y="12784"/>
                  <a:pt x="30321" y="15128"/>
                </a:cubicBezTo>
                <a:lnTo>
                  <a:pt x="18166" y="32491"/>
                </a:lnTo>
                <a:cubicBezTo>
                  <a:pt x="17276" y="33750"/>
                  <a:pt x="15887" y="34553"/>
                  <a:pt x="14346" y="34683"/>
                </a:cubicBezTo>
                <a:cubicBezTo>
                  <a:pt x="12805" y="34813"/>
                  <a:pt x="11286" y="34292"/>
                  <a:pt x="10201" y="33207"/>
                </a:cubicBezTo>
                <a:lnTo>
                  <a:pt x="1519" y="24526"/>
                </a:lnTo>
                <a:cubicBezTo>
                  <a:pt x="-499" y="22485"/>
                  <a:pt x="-499" y="19186"/>
                  <a:pt x="1519" y="17146"/>
                </a:cubicBezTo>
                <a:cubicBezTo>
                  <a:pt x="3538" y="15106"/>
                  <a:pt x="6858" y="15128"/>
                  <a:pt x="8899" y="17146"/>
                </a:cubicBezTo>
                <a:lnTo>
                  <a:pt x="13196" y="21444"/>
                </a:lnTo>
                <a:lnTo>
                  <a:pt x="21791" y="9159"/>
                </a:lnTo>
                <a:cubicBezTo>
                  <a:pt x="23440" y="6793"/>
                  <a:pt x="26696" y="6229"/>
                  <a:pt x="29040" y="7879"/>
                </a:cubicBezTo>
                <a:close/>
                <a:moveTo>
                  <a:pt x="29040" y="42605"/>
                </a:moveTo>
                <a:cubicBezTo>
                  <a:pt x="31406" y="44255"/>
                  <a:pt x="31970" y="47510"/>
                  <a:pt x="30321" y="49854"/>
                </a:cubicBezTo>
                <a:lnTo>
                  <a:pt x="18166" y="67218"/>
                </a:lnTo>
                <a:cubicBezTo>
                  <a:pt x="17276" y="68476"/>
                  <a:pt x="15887" y="69279"/>
                  <a:pt x="14346" y="69410"/>
                </a:cubicBezTo>
                <a:cubicBezTo>
                  <a:pt x="12805" y="69540"/>
                  <a:pt x="11286" y="69019"/>
                  <a:pt x="10201" y="67934"/>
                </a:cubicBezTo>
                <a:lnTo>
                  <a:pt x="1519" y="59252"/>
                </a:lnTo>
                <a:cubicBezTo>
                  <a:pt x="-521" y="57212"/>
                  <a:pt x="-521" y="53913"/>
                  <a:pt x="1519" y="51895"/>
                </a:cubicBezTo>
                <a:cubicBezTo>
                  <a:pt x="3559" y="49876"/>
                  <a:pt x="6858" y="49854"/>
                  <a:pt x="8877" y="51895"/>
                </a:cubicBezTo>
                <a:lnTo>
                  <a:pt x="13174" y="56192"/>
                </a:lnTo>
                <a:lnTo>
                  <a:pt x="21769" y="43907"/>
                </a:lnTo>
                <a:cubicBezTo>
                  <a:pt x="23419" y="41542"/>
                  <a:pt x="26674" y="40977"/>
                  <a:pt x="29018" y="42627"/>
                </a:cubicBezTo>
                <a:close/>
                <a:moveTo>
                  <a:pt x="48617" y="20836"/>
                </a:moveTo>
                <a:cubicBezTo>
                  <a:pt x="48617" y="16994"/>
                  <a:pt x="51721" y="13891"/>
                  <a:pt x="55563" y="13891"/>
                </a:cubicBezTo>
                <a:lnTo>
                  <a:pt x="104180" y="13891"/>
                </a:lnTo>
                <a:cubicBezTo>
                  <a:pt x="108021" y="13891"/>
                  <a:pt x="111125" y="16994"/>
                  <a:pt x="111125" y="20836"/>
                </a:cubicBezTo>
                <a:cubicBezTo>
                  <a:pt x="111125" y="24678"/>
                  <a:pt x="108021" y="27781"/>
                  <a:pt x="104180" y="27781"/>
                </a:cubicBezTo>
                <a:lnTo>
                  <a:pt x="55563" y="27781"/>
                </a:lnTo>
                <a:cubicBezTo>
                  <a:pt x="51721" y="27781"/>
                  <a:pt x="48617" y="24678"/>
                  <a:pt x="48617" y="20836"/>
                </a:cubicBezTo>
                <a:close/>
                <a:moveTo>
                  <a:pt x="48617" y="55563"/>
                </a:moveTo>
                <a:cubicBezTo>
                  <a:pt x="48617" y="51721"/>
                  <a:pt x="51721" y="48617"/>
                  <a:pt x="55563" y="48617"/>
                </a:cubicBezTo>
                <a:lnTo>
                  <a:pt x="104180" y="48617"/>
                </a:lnTo>
                <a:cubicBezTo>
                  <a:pt x="108021" y="48617"/>
                  <a:pt x="111125" y="51721"/>
                  <a:pt x="111125" y="55563"/>
                </a:cubicBezTo>
                <a:cubicBezTo>
                  <a:pt x="111125" y="59404"/>
                  <a:pt x="108021" y="62508"/>
                  <a:pt x="104180" y="62508"/>
                </a:cubicBezTo>
                <a:lnTo>
                  <a:pt x="55563" y="62508"/>
                </a:lnTo>
                <a:cubicBezTo>
                  <a:pt x="51721" y="62508"/>
                  <a:pt x="48617" y="59404"/>
                  <a:pt x="48617" y="55563"/>
                </a:cubicBezTo>
                <a:close/>
                <a:moveTo>
                  <a:pt x="34727" y="90289"/>
                </a:moveTo>
                <a:cubicBezTo>
                  <a:pt x="34727" y="86447"/>
                  <a:pt x="37830" y="83344"/>
                  <a:pt x="41672" y="83344"/>
                </a:cubicBezTo>
                <a:lnTo>
                  <a:pt x="104180" y="83344"/>
                </a:lnTo>
                <a:cubicBezTo>
                  <a:pt x="108021" y="83344"/>
                  <a:pt x="111125" y="86447"/>
                  <a:pt x="111125" y="90289"/>
                </a:cubicBezTo>
                <a:cubicBezTo>
                  <a:pt x="111125" y="94131"/>
                  <a:pt x="108021" y="97234"/>
                  <a:pt x="104180" y="97234"/>
                </a:cubicBezTo>
                <a:lnTo>
                  <a:pt x="41672" y="97234"/>
                </a:lnTo>
                <a:cubicBezTo>
                  <a:pt x="37830" y="97234"/>
                  <a:pt x="34727" y="94131"/>
                  <a:pt x="34727" y="90289"/>
                </a:cubicBezTo>
                <a:close/>
                <a:moveTo>
                  <a:pt x="13891" y="81607"/>
                </a:moveTo>
                <a:cubicBezTo>
                  <a:pt x="18682" y="81607"/>
                  <a:pt x="22572" y="85498"/>
                  <a:pt x="22572" y="90289"/>
                </a:cubicBezTo>
                <a:cubicBezTo>
                  <a:pt x="22572" y="95081"/>
                  <a:pt x="18682" y="98971"/>
                  <a:pt x="13891" y="98971"/>
                </a:cubicBezTo>
                <a:cubicBezTo>
                  <a:pt x="9099" y="98971"/>
                  <a:pt x="5209" y="95081"/>
                  <a:pt x="5209" y="90289"/>
                </a:cubicBezTo>
                <a:cubicBezTo>
                  <a:pt x="5209" y="85498"/>
                  <a:pt x="9099" y="81607"/>
                  <a:pt x="13891" y="8160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85"/>
          <p:cNvSpPr/>
          <p:nvPr/>
        </p:nvSpPr>
        <p:spPr>
          <a:xfrm>
            <a:off x="6623844" y="3338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执行内容</a:t>
            </a:r>
          </a:p>
        </p:txBody>
      </p:sp>
      <p:sp>
        <p:nvSpPr>
          <p:cNvPr id="41" name="Text 86"/>
          <p:cNvSpPr/>
          <p:nvPr/>
        </p:nvSpPr>
        <p:spPr>
          <a:xfrm>
            <a:off x="6441281" y="3529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技术负责人给出技术方案审核、价格策略、投标策略建议</a:t>
            </a:r>
          </a:p>
        </p:txBody>
      </p:sp>
      <p:sp>
        <p:nvSpPr>
          <p:cNvPr id="42" name="Shape 87"/>
          <p:cNvSpPr/>
          <p:nvPr/>
        </p:nvSpPr>
        <p:spPr>
          <a:xfrm>
            <a:off x="6346031" y="3878686"/>
            <a:ext cx="5445125" cy="571500"/>
          </a:xfrm>
          <a:custGeom>
            <a:avLst/>
            <a:gdLst/>
            <a:ahLst/>
            <a:cxnLst/>
            <a:rect l="l" t="t" r="r" b="b"/>
            <a:pathLst>
              <a:path w="5445125" h="571500">
                <a:moveTo>
                  <a:pt x="63499" y="0"/>
                </a:moveTo>
                <a:lnTo>
                  <a:pt x="5381626" y="0"/>
                </a:lnTo>
                <a:cubicBezTo>
                  <a:pt x="5416695" y="0"/>
                  <a:pt x="5445125" y="28430"/>
                  <a:pt x="5445125" y="63499"/>
                </a:cubicBezTo>
                <a:lnTo>
                  <a:pt x="5445125" y="508001"/>
                </a:lnTo>
                <a:cubicBezTo>
                  <a:pt x="5445125" y="543070"/>
                  <a:pt x="5416695" y="571500"/>
                  <a:pt x="53816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3" name="Shape 88"/>
          <p:cNvSpPr/>
          <p:nvPr/>
        </p:nvSpPr>
        <p:spPr>
          <a:xfrm>
            <a:off x="6450211" y="3992985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2508" y="6945"/>
                </a:moveTo>
                <a:cubicBezTo>
                  <a:pt x="44971" y="6945"/>
                  <a:pt x="30928" y="14932"/>
                  <a:pt x="20706" y="24439"/>
                </a:cubicBezTo>
                <a:cubicBezTo>
                  <a:pt x="10548" y="33880"/>
                  <a:pt x="3755" y="45145"/>
                  <a:pt x="521" y="52893"/>
                </a:cubicBezTo>
                <a:cubicBezTo>
                  <a:pt x="-195" y="54608"/>
                  <a:pt x="-195" y="56517"/>
                  <a:pt x="521" y="58232"/>
                </a:cubicBezTo>
                <a:cubicBezTo>
                  <a:pt x="3755" y="65980"/>
                  <a:pt x="10548" y="77267"/>
                  <a:pt x="20706" y="86686"/>
                </a:cubicBezTo>
                <a:cubicBezTo>
                  <a:pt x="30928" y="96171"/>
                  <a:pt x="44971" y="104180"/>
                  <a:pt x="62508" y="104180"/>
                </a:cubicBezTo>
                <a:cubicBezTo>
                  <a:pt x="80045" y="104180"/>
                  <a:pt x="94087" y="96193"/>
                  <a:pt x="104310" y="86686"/>
                </a:cubicBezTo>
                <a:cubicBezTo>
                  <a:pt x="114467" y="77245"/>
                  <a:pt x="121261" y="65980"/>
                  <a:pt x="124495" y="58232"/>
                </a:cubicBezTo>
                <a:cubicBezTo>
                  <a:pt x="125211" y="56517"/>
                  <a:pt x="125211" y="54608"/>
                  <a:pt x="124495" y="52893"/>
                </a:cubicBezTo>
                <a:cubicBezTo>
                  <a:pt x="121261" y="45145"/>
                  <a:pt x="114467" y="33858"/>
                  <a:pt x="104310" y="24439"/>
                </a:cubicBezTo>
                <a:cubicBezTo>
                  <a:pt x="94087" y="14954"/>
                  <a:pt x="80045" y="6945"/>
                  <a:pt x="62508" y="6945"/>
                </a:cubicBezTo>
                <a:close/>
                <a:moveTo>
                  <a:pt x="31254" y="55563"/>
                </a:moveTo>
                <a:cubicBezTo>
                  <a:pt x="31254" y="38313"/>
                  <a:pt x="45258" y="24309"/>
                  <a:pt x="62508" y="24309"/>
                </a:cubicBezTo>
                <a:cubicBezTo>
                  <a:pt x="79757" y="24309"/>
                  <a:pt x="93762" y="38313"/>
                  <a:pt x="93762" y="55563"/>
                </a:cubicBezTo>
                <a:cubicBezTo>
                  <a:pt x="93762" y="72812"/>
                  <a:pt x="79757" y="86816"/>
                  <a:pt x="62508" y="86816"/>
                </a:cubicBezTo>
                <a:cubicBezTo>
                  <a:pt x="45258" y="86816"/>
                  <a:pt x="31254" y="72812"/>
                  <a:pt x="31254" y="55563"/>
                </a:cubicBezTo>
                <a:close/>
                <a:moveTo>
                  <a:pt x="62508" y="41672"/>
                </a:moveTo>
                <a:cubicBezTo>
                  <a:pt x="62508" y="49333"/>
                  <a:pt x="56279" y="55563"/>
                  <a:pt x="48617" y="55563"/>
                </a:cubicBezTo>
                <a:cubicBezTo>
                  <a:pt x="46121" y="55563"/>
                  <a:pt x="43777" y="54911"/>
                  <a:pt x="41737" y="53739"/>
                </a:cubicBezTo>
                <a:cubicBezTo>
                  <a:pt x="41520" y="56105"/>
                  <a:pt x="41715" y="58536"/>
                  <a:pt x="42366" y="60945"/>
                </a:cubicBezTo>
                <a:cubicBezTo>
                  <a:pt x="45340" y="72058"/>
                  <a:pt x="56778" y="78656"/>
                  <a:pt x="67890" y="75682"/>
                </a:cubicBezTo>
                <a:cubicBezTo>
                  <a:pt x="79003" y="72709"/>
                  <a:pt x="85601" y="61271"/>
                  <a:pt x="82628" y="50158"/>
                </a:cubicBezTo>
                <a:cubicBezTo>
                  <a:pt x="79980" y="40239"/>
                  <a:pt x="70582" y="33924"/>
                  <a:pt x="60685" y="34792"/>
                </a:cubicBezTo>
                <a:cubicBezTo>
                  <a:pt x="61835" y="36810"/>
                  <a:pt x="62508" y="39154"/>
                  <a:pt x="62508" y="4167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4" name="Text 89"/>
          <p:cNvSpPr/>
          <p:nvPr/>
        </p:nvSpPr>
        <p:spPr>
          <a:xfrm>
            <a:off x="6623844" y="3973936"/>
            <a:ext cx="512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监控机制</a:t>
            </a:r>
          </a:p>
        </p:txBody>
      </p:sp>
      <p:sp>
        <p:nvSpPr>
          <p:cNvPr id="45" name="Text 90"/>
          <p:cNvSpPr/>
          <p:nvPr/>
        </p:nvSpPr>
        <p:spPr>
          <a:xfrm>
            <a:off x="6441281" y="4164436"/>
            <a:ext cx="531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销管BP提前30天提醒跟踪,周例会呈现30日内开标项目清单</a:t>
            </a:r>
          </a:p>
        </p:txBody>
      </p:sp>
      <p:sp>
        <p:nvSpPr>
          <p:cNvPr id="46" name="Shape 91"/>
          <p:cNvSpPr/>
          <p:nvPr/>
        </p:nvSpPr>
        <p:spPr>
          <a:xfrm>
            <a:off x="361156" y="5389331"/>
            <a:ext cx="11557000" cy="794185"/>
          </a:xfrm>
          <a:custGeom>
            <a:avLst/>
            <a:gdLst/>
            <a:ahLst/>
            <a:cxnLst/>
            <a:rect l="l" t="t" r="r" b="b"/>
            <a:pathLst>
              <a:path w="11557000" h="603250">
                <a:moveTo>
                  <a:pt x="95247" y="0"/>
                </a:moveTo>
                <a:lnTo>
                  <a:pt x="11461753" y="0"/>
                </a:lnTo>
                <a:cubicBezTo>
                  <a:pt x="11514356" y="0"/>
                  <a:pt x="11557000" y="42644"/>
                  <a:pt x="11557000" y="95247"/>
                </a:cubicBezTo>
                <a:lnTo>
                  <a:pt x="11557000" y="508003"/>
                </a:lnTo>
                <a:cubicBezTo>
                  <a:pt x="11557000" y="560606"/>
                  <a:pt x="11514356" y="603250"/>
                  <a:pt x="11461753" y="603250"/>
                </a:cubicBezTo>
                <a:lnTo>
                  <a:pt x="95247" y="603250"/>
                </a:lnTo>
                <a:cubicBezTo>
                  <a:pt x="42644" y="603250"/>
                  <a:pt x="0" y="560606"/>
                  <a:pt x="0" y="508003"/>
                </a:cubicBezTo>
                <a:lnTo>
                  <a:pt x="0" y="95247"/>
                </a:lnTo>
                <a:cubicBezTo>
                  <a:pt x="0" y="42644"/>
                  <a:pt x="42644" y="0"/>
                  <a:pt x="9524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7" name="Shape 92"/>
          <p:cNvSpPr/>
          <p:nvPr/>
        </p:nvSpPr>
        <p:spPr>
          <a:xfrm>
            <a:off x="456406" y="5595478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158750" y="0"/>
                </a:moveTo>
                <a:lnTo>
                  <a:pt x="158750" y="0"/>
                </a:lnTo>
                <a:cubicBezTo>
                  <a:pt x="246367" y="0"/>
                  <a:pt x="317500" y="71133"/>
                  <a:pt x="317500" y="158750"/>
                </a:cubicBezTo>
                <a:lnTo>
                  <a:pt x="317500" y="158750"/>
                </a:lnTo>
                <a:cubicBezTo>
                  <a:pt x="317500" y="246367"/>
                  <a:pt x="246367" y="317500"/>
                  <a:pt x="158750" y="317500"/>
                </a:cubicBezTo>
                <a:lnTo>
                  <a:pt x="158750" y="317500"/>
                </a:lnTo>
                <a:cubicBezTo>
                  <a:pt x="71133" y="317500"/>
                  <a:pt x="0" y="246367"/>
                  <a:pt x="0" y="158750"/>
                </a:cubicBezTo>
                <a:lnTo>
                  <a:pt x="0" y="158750"/>
                </a:lnTo>
                <a:cubicBezTo>
                  <a:pt x="0" y="71133"/>
                  <a:pt x="71133" y="0"/>
                  <a:pt x="1587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8" name="Text 93"/>
          <p:cNvSpPr/>
          <p:nvPr/>
        </p:nvSpPr>
        <p:spPr>
          <a:xfrm>
            <a:off x="420687" y="5595480"/>
            <a:ext cx="3889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05</a:t>
            </a:r>
            <a:endParaRPr lang="en-US" sz="1600" dirty="0"/>
          </a:p>
        </p:txBody>
      </p:sp>
      <p:sp>
        <p:nvSpPr>
          <p:cNvPr id="49" name="Text 94"/>
          <p:cNvSpPr/>
          <p:nvPr/>
        </p:nvSpPr>
        <p:spPr>
          <a:xfrm>
            <a:off x="869156" y="5500356"/>
            <a:ext cx="152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赢/丢单复盘会</a:t>
            </a:r>
            <a:endParaRPr lang="en-US" sz="1200" dirty="0"/>
          </a:p>
        </p:txBody>
      </p:sp>
      <p:sp>
        <p:nvSpPr>
          <p:cNvPr id="50" name="Text 95"/>
          <p:cNvSpPr/>
          <p:nvPr/>
        </p:nvSpPr>
        <p:spPr>
          <a:xfrm>
            <a:off x="869156" y="5804084"/>
            <a:ext cx="2399145" cy="242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第五关键节点 · 经验总结闭环</a:t>
            </a:r>
            <a:endParaRPr lang="en-US" sz="1200" dirty="0"/>
          </a:p>
        </p:txBody>
      </p:sp>
      <p:sp>
        <p:nvSpPr>
          <p:cNvPr id="51" name="Text 96"/>
          <p:cNvSpPr/>
          <p:nvPr/>
        </p:nvSpPr>
        <p:spPr>
          <a:xfrm>
            <a:off x="9337384" y="5552443"/>
            <a:ext cx="563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责任人</a:t>
            </a:r>
            <a:endParaRPr lang="en-US" sz="1000" b="1" dirty="0"/>
          </a:p>
        </p:txBody>
      </p:sp>
      <p:sp>
        <p:nvSpPr>
          <p:cNvPr id="52" name="Text 97"/>
          <p:cNvSpPr/>
          <p:nvPr/>
        </p:nvSpPr>
        <p:spPr>
          <a:xfrm>
            <a:off x="9306254" y="5819834"/>
            <a:ext cx="57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130" dirty="0"/>
          </a:p>
        </p:txBody>
      </p:sp>
      <p:sp>
        <p:nvSpPr>
          <p:cNvPr id="53" name="Text 98"/>
          <p:cNvSpPr/>
          <p:nvPr/>
        </p:nvSpPr>
        <p:spPr>
          <a:xfrm>
            <a:off x="10144522" y="5552443"/>
            <a:ext cx="1143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时间要求</a:t>
            </a:r>
            <a:endParaRPr lang="en-US" sz="1000" b="1" dirty="0"/>
          </a:p>
        </p:txBody>
      </p:sp>
      <p:sp>
        <p:nvSpPr>
          <p:cNvPr id="54" name="Text 99"/>
          <p:cNvSpPr/>
          <p:nvPr/>
        </p:nvSpPr>
        <p:spPr>
          <a:xfrm>
            <a:off x="9995026" y="5819834"/>
            <a:ext cx="12964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3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关闭活动商机2周内</a:t>
            </a:r>
            <a:endParaRPr lang="en-US" sz="1130" dirty="0"/>
          </a:p>
        </p:txBody>
      </p:sp>
      <p:sp>
        <p:nvSpPr>
          <p:cNvPr id="55" name="Text 100"/>
          <p:cNvSpPr/>
          <p:nvPr/>
        </p:nvSpPr>
        <p:spPr>
          <a:xfrm>
            <a:off x="11422460" y="5552443"/>
            <a:ext cx="428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0" b="1" dirty="0">
                <a:solidFill>
                  <a:srgbClr val="FFFFFF">
                    <a:alpha val="7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目标</a:t>
            </a:r>
            <a:endParaRPr lang="en-US" sz="1000" b="1" dirty="0"/>
          </a:p>
        </p:txBody>
      </p:sp>
      <p:sp>
        <p:nvSpPr>
          <p:cNvPr id="56" name="Text 101"/>
          <p:cNvSpPr/>
          <p:nvPr/>
        </p:nvSpPr>
        <p:spPr>
          <a:xfrm>
            <a:off x="11402616" y="5788185"/>
            <a:ext cx="46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100%</a:t>
            </a:r>
            <a:endParaRPr lang="en-US" sz="1600" dirty="0"/>
          </a:p>
        </p:txBody>
      </p:sp>
      <p:sp>
        <p:nvSpPr>
          <p:cNvPr id="57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 err="1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关键节点执行要求与责任人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（</a:t>
            </a:r>
            <a:r>
              <a:rPr lang="en-US" altLang="zh-CN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2/2</a:t>
            </a:r>
            <a:r>
              <a:rPr lang="zh-CN" altLang="en-US" sz="2250" b="1" dirty="0" smtClean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）</a:t>
            </a:r>
            <a:endParaRPr lang="en-US" sz="1600" dirty="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479" y="614899"/>
            <a:ext cx="1005927" cy="358171"/>
          </a:xfrm>
          <a:prstGeom prst="rect">
            <a:avLst/>
          </a:prstGeom>
        </p:spPr>
      </p:pic>
      <p:sp>
        <p:nvSpPr>
          <p:cNvPr id="59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NODES &amp; RESPONSIBILITIES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47009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3391" y="353391"/>
            <a:ext cx="11555896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3" b="1" kern="0" spc="56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3391" y="636104"/>
            <a:ext cx="11644243" cy="353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04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GTM、重客、系统部项目清单提报要求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3391" y="1095513"/>
            <a:ext cx="848139" cy="35339"/>
          </a:xfrm>
          <a:custGeom>
            <a:avLst/>
            <a:gdLst/>
            <a:ahLst/>
            <a:cxnLst/>
            <a:rect l="l" t="t" r="r" b="b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53391" y="1272209"/>
            <a:ext cx="7562574" cy="1961322"/>
          </a:xfrm>
          <a:custGeom>
            <a:avLst/>
            <a:gdLst/>
            <a:ahLst/>
            <a:cxnLst/>
            <a:rect l="l" t="t" r="r" b="b"/>
            <a:pathLst>
              <a:path w="7562574" h="1961322">
                <a:moveTo>
                  <a:pt x="106009" y="0"/>
                </a:moveTo>
                <a:lnTo>
                  <a:pt x="7456564" y="0"/>
                </a:lnTo>
                <a:cubicBezTo>
                  <a:pt x="7515112" y="0"/>
                  <a:pt x="7562574" y="47462"/>
                  <a:pt x="7562574" y="106009"/>
                </a:cubicBezTo>
                <a:lnTo>
                  <a:pt x="7562574" y="1855312"/>
                </a:lnTo>
                <a:cubicBezTo>
                  <a:pt x="7562574" y="1913860"/>
                  <a:pt x="7515112" y="1961322"/>
                  <a:pt x="7456564" y="1961322"/>
                </a:cubicBezTo>
                <a:lnTo>
                  <a:pt x="106009" y="1961322"/>
                </a:lnTo>
                <a:cubicBezTo>
                  <a:pt x="47462" y="1961322"/>
                  <a:pt x="0" y="1913860"/>
                  <a:pt x="0" y="1855312"/>
                </a:cubicBezTo>
                <a:lnTo>
                  <a:pt x="0" y="106009"/>
                </a:lnTo>
                <a:cubicBezTo>
                  <a:pt x="0" y="47501"/>
                  <a:pt x="47501" y="0"/>
                  <a:pt x="1060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516835" y="1448904"/>
            <a:ext cx="176696" cy="176696"/>
          </a:xfrm>
          <a:custGeom>
            <a:avLst/>
            <a:gdLst/>
            <a:ahLst/>
            <a:cxnLst/>
            <a:rect l="l" t="t" r="r" b="b"/>
            <a:pathLst>
              <a:path w="176696" h="176696">
                <a:moveTo>
                  <a:pt x="88348" y="176696"/>
                </a:moveTo>
                <a:cubicBezTo>
                  <a:pt x="137108" y="176696"/>
                  <a:pt x="176696" y="137108"/>
                  <a:pt x="176696" y="88348"/>
                </a:cubicBezTo>
                <a:cubicBezTo>
                  <a:pt x="176696" y="39587"/>
                  <a:pt x="137108" y="0"/>
                  <a:pt x="88348" y="0"/>
                </a:cubicBezTo>
                <a:cubicBezTo>
                  <a:pt x="39587" y="0"/>
                  <a:pt x="0" y="39587"/>
                  <a:pt x="0" y="88348"/>
                </a:cubicBezTo>
                <a:cubicBezTo>
                  <a:pt x="0" y="137108"/>
                  <a:pt x="39587" y="176696"/>
                  <a:pt x="88348" y="176696"/>
                </a:cubicBezTo>
                <a:close/>
                <a:moveTo>
                  <a:pt x="88348" y="46935"/>
                </a:moveTo>
                <a:cubicBezTo>
                  <a:pt x="92938" y="46935"/>
                  <a:pt x="96630" y="50627"/>
                  <a:pt x="96630" y="55217"/>
                </a:cubicBezTo>
                <a:lnTo>
                  <a:pt x="96630" y="93870"/>
                </a:lnTo>
                <a:cubicBezTo>
                  <a:pt x="96630" y="98460"/>
                  <a:pt x="92938" y="102152"/>
                  <a:pt x="88348" y="102152"/>
                </a:cubicBezTo>
                <a:cubicBezTo>
                  <a:pt x="83758" y="102152"/>
                  <a:pt x="80065" y="98460"/>
                  <a:pt x="80065" y="93870"/>
                </a:cubicBezTo>
                <a:lnTo>
                  <a:pt x="80065" y="55217"/>
                </a:lnTo>
                <a:cubicBezTo>
                  <a:pt x="80065" y="50627"/>
                  <a:pt x="83758" y="46935"/>
                  <a:pt x="88348" y="46935"/>
                </a:cubicBezTo>
                <a:close/>
                <a:moveTo>
                  <a:pt x="79133" y="121478"/>
                </a:moveTo>
                <a:cubicBezTo>
                  <a:pt x="78924" y="118058"/>
                  <a:pt x="80629" y="114804"/>
                  <a:pt x="83562" y="113030"/>
                </a:cubicBezTo>
                <a:cubicBezTo>
                  <a:pt x="86494" y="111257"/>
                  <a:pt x="90168" y="111257"/>
                  <a:pt x="93100" y="113030"/>
                </a:cubicBezTo>
                <a:cubicBezTo>
                  <a:pt x="96032" y="114804"/>
                  <a:pt x="97737" y="118058"/>
                  <a:pt x="97528" y="121478"/>
                </a:cubicBezTo>
                <a:cubicBezTo>
                  <a:pt x="97737" y="124899"/>
                  <a:pt x="96032" y="128153"/>
                  <a:pt x="93100" y="129926"/>
                </a:cubicBezTo>
                <a:cubicBezTo>
                  <a:pt x="90168" y="131700"/>
                  <a:pt x="86494" y="131700"/>
                  <a:pt x="83562" y="129926"/>
                </a:cubicBezTo>
                <a:cubicBezTo>
                  <a:pt x="80629" y="128153"/>
                  <a:pt x="78924" y="124899"/>
                  <a:pt x="79133" y="1214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715617" y="1413565"/>
            <a:ext cx="7147339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核心要求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94748" y="1766957"/>
            <a:ext cx="7279861" cy="627270"/>
          </a:xfrm>
          <a:custGeom>
            <a:avLst/>
            <a:gdLst/>
            <a:ahLst/>
            <a:cxnLst/>
            <a:rect l="l" t="t" r="r" b="b"/>
            <a:pathLst>
              <a:path w="7279861" h="627270">
                <a:moveTo>
                  <a:pt x="70681" y="0"/>
                </a:moveTo>
                <a:lnTo>
                  <a:pt x="7209180" y="0"/>
                </a:lnTo>
                <a:cubicBezTo>
                  <a:pt x="7248216" y="0"/>
                  <a:pt x="7279861" y="31645"/>
                  <a:pt x="7279861" y="70681"/>
                </a:cubicBezTo>
                <a:lnTo>
                  <a:pt x="7279861" y="556589"/>
                </a:lnTo>
                <a:cubicBezTo>
                  <a:pt x="7279861" y="595625"/>
                  <a:pt x="7248216" y="627270"/>
                  <a:pt x="7209180" y="627270"/>
                </a:cubicBezTo>
                <a:lnTo>
                  <a:pt x="70681" y="627270"/>
                </a:lnTo>
                <a:cubicBezTo>
                  <a:pt x="31645" y="627270"/>
                  <a:pt x="0" y="595625"/>
                  <a:pt x="0" y="556589"/>
                </a:cubicBezTo>
                <a:lnTo>
                  <a:pt x="0" y="70681"/>
                </a:lnTo>
                <a:cubicBezTo>
                  <a:pt x="0" y="31645"/>
                  <a:pt x="31645" y="0"/>
                  <a:pt x="706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00765" y="1872974"/>
            <a:ext cx="712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年初指定立项项目范围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0765" y="2085009"/>
            <a:ext cx="71296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GTM负责人、重客负责人、系统总需在年初明确指定本年度重点关注项目清单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4748" y="2462696"/>
            <a:ext cx="7279861" cy="627270"/>
          </a:xfrm>
          <a:custGeom>
            <a:avLst/>
            <a:gdLst/>
            <a:ahLst/>
            <a:cxnLst/>
            <a:rect l="l" t="t" r="r" b="b"/>
            <a:pathLst>
              <a:path w="7279861" h="627270">
                <a:moveTo>
                  <a:pt x="70681" y="0"/>
                </a:moveTo>
                <a:lnTo>
                  <a:pt x="7209180" y="0"/>
                </a:lnTo>
                <a:cubicBezTo>
                  <a:pt x="7248216" y="0"/>
                  <a:pt x="7279861" y="31645"/>
                  <a:pt x="7279861" y="70681"/>
                </a:cubicBezTo>
                <a:lnTo>
                  <a:pt x="7279861" y="556589"/>
                </a:lnTo>
                <a:cubicBezTo>
                  <a:pt x="7279861" y="595625"/>
                  <a:pt x="7248216" y="627270"/>
                  <a:pt x="7209180" y="627270"/>
                </a:cubicBezTo>
                <a:lnTo>
                  <a:pt x="70681" y="627270"/>
                </a:lnTo>
                <a:cubicBezTo>
                  <a:pt x="31645" y="627270"/>
                  <a:pt x="0" y="595625"/>
                  <a:pt x="0" y="556589"/>
                </a:cubicBezTo>
                <a:lnTo>
                  <a:pt x="0" y="70681"/>
                </a:lnTo>
                <a:cubicBezTo>
                  <a:pt x="0" y="31645"/>
                  <a:pt x="31645" y="0"/>
                  <a:pt x="7068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0765" y="2568713"/>
            <a:ext cx="7129670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CRM中批量立项并跟踪推进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0765" y="2780748"/>
            <a:ext cx="712967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4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MO流程项目组协调IT统一在系统中批量立项,各负责人全生命周期管理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3391" y="3335130"/>
            <a:ext cx="7562574" cy="2120348"/>
          </a:xfrm>
          <a:custGeom>
            <a:avLst/>
            <a:gdLst/>
            <a:ahLst/>
            <a:cxnLst/>
            <a:rect l="l" t="t" r="r" b="b"/>
            <a:pathLst>
              <a:path w="7562574" h="2120348">
                <a:moveTo>
                  <a:pt x="106017" y="0"/>
                </a:moveTo>
                <a:lnTo>
                  <a:pt x="7456557" y="0"/>
                </a:lnTo>
                <a:cubicBezTo>
                  <a:pt x="7515108" y="0"/>
                  <a:pt x="7562574" y="47466"/>
                  <a:pt x="7562574" y="106017"/>
                </a:cubicBezTo>
                <a:lnTo>
                  <a:pt x="7562574" y="2014330"/>
                </a:lnTo>
                <a:cubicBezTo>
                  <a:pt x="7562574" y="2072882"/>
                  <a:pt x="7515108" y="2120348"/>
                  <a:pt x="7456557" y="2120348"/>
                </a:cubicBezTo>
                <a:lnTo>
                  <a:pt x="106017" y="2120348"/>
                </a:lnTo>
                <a:cubicBezTo>
                  <a:pt x="47466" y="2120348"/>
                  <a:pt x="0" y="2072882"/>
                  <a:pt x="0" y="2014330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6835" y="3520661"/>
            <a:ext cx="159026" cy="159026"/>
          </a:xfrm>
          <a:custGeom>
            <a:avLst/>
            <a:gdLst/>
            <a:ahLst/>
            <a:cxnLst/>
            <a:rect l="l" t="t" r="r" b="b"/>
            <a:pathLst>
              <a:path w="159026" h="159026">
                <a:moveTo>
                  <a:pt x="12424" y="14909"/>
                </a:moveTo>
                <a:cubicBezTo>
                  <a:pt x="8293" y="14909"/>
                  <a:pt x="4970" y="18232"/>
                  <a:pt x="4970" y="22363"/>
                </a:cubicBezTo>
                <a:lnTo>
                  <a:pt x="4970" y="37272"/>
                </a:lnTo>
                <a:cubicBezTo>
                  <a:pt x="4970" y="41403"/>
                  <a:pt x="8293" y="44726"/>
                  <a:pt x="12424" y="44726"/>
                </a:cubicBezTo>
                <a:lnTo>
                  <a:pt x="27333" y="44726"/>
                </a:lnTo>
                <a:cubicBezTo>
                  <a:pt x="31464" y="44726"/>
                  <a:pt x="34787" y="41403"/>
                  <a:pt x="34787" y="37272"/>
                </a:cubicBezTo>
                <a:lnTo>
                  <a:pt x="34787" y="22363"/>
                </a:lnTo>
                <a:cubicBezTo>
                  <a:pt x="34787" y="18232"/>
                  <a:pt x="31464" y="14909"/>
                  <a:pt x="27333" y="14909"/>
                </a:cubicBezTo>
                <a:lnTo>
                  <a:pt x="12424" y="14909"/>
                </a:lnTo>
                <a:close/>
                <a:moveTo>
                  <a:pt x="59635" y="19878"/>
                </a:moveTo>
                <a:cubicBezTo>
                  <a:pt x="54137" y="19878"/>
                  <a:pt x="49696" y="24320"/>
                  <a:pt x="49696" y="29817"/>
                </a:cubicBezTo>
                <a:cubicBezTo>
                  <a:pt x="49696" y="35315"/>
                  <a:pt x="54137" y="39757"/>
                  <a:pt x="59635" y="39757"/>
                </a:cubicBezTo>
                <a:lnTo>
                  <a:pt x="149087" y="39757"/>
                </a:lnTo>
                <a:cubicBezTo>
                  <a:pt x="154585" y="39757"/>
                  <a:pt x="159026" y="35315"/>
                  <a:pt x="159026" y="29817"/>
                </a:cubicBezTo>
                <a:cubicBezTo>
                  <a:pt x="159026" y="24320"/>
                  <a:pt x="154585" y="19878"/>
                  <a:pt x="149087" y="19878"/>
                </a:cubicBezTo>
                <a:lnTo>
                  <a:pt x="59635" y="19878"/>
                </a:lnTo>
                <a:close/>
                <a:moveTo>
                  <a:pt x="59635" y="69574"/>
                </a:moveTo>
                <a:cubicBezTo>
                  <a:pt x="54137" y="69574"/>
                  <a:pt x="49696" y="74015"/>
                  <a:pt x="49696" y="79513"/>
                </a:cubicBezTo>
                <a:cubicBezTo>
                  <a:pt x="49696" y="85011"/>
                  <a:pt x="54137" y="89452"/>
                  <a:pt x="59635" y="89452"/>
                </a:cubicBezTo>
                <a:lnTo>
                  <a:pt x="149087" y="89452"/>
                </a:lnTo>
                <a:cubicBezTo>
                  <a:pt x="154585" y="89452"/>
                  <a:pt x="159026" y="85011"/>
                  <a:pt x="159026" y="79513"/>
                </a:cubicBezTo>
                <a:cubicBezTo>
                  <a:pt x="159026" y="74015"/>
                  <a:pt x="154585" y="69574"/>
                  <a:pt x="149087" y="69574"/>
                </a:cubicBezTo>
                <a:lnTo>
                  <a:pt x="59635" y="69574"/>
                </a:lnTo>
                <a:close/>
                <a:moveTo>
                  <a:pt x="59635" y="119270"/>
                </a:moveTo>
                <a:cubicBezTo>
                  <a:pt x="54137" y="119270"/>
                  <a:pt x="49696" y="123711"/>
                  <a:pt x="49696" y="129209"/>
                </a:cubicBezTo>
                <a:cubicBezTo>
                  <a:pt x="49696" y="134706"/>
                  <a:pt x="54137" y="139148"/>
                  <a:pt x="59635" y="139148"/>
                </a:cubicBezTo>
                <a:lnTo>
                  <a:pt x="149087" y="139148"/>
                </a:lnTo>
                <a:cubicBezTo>
                  <a:pt x="154585" y="139148"/>
                  <a:pt x="159026" y="134706"/>
                  <a:pt x="159026" y="129209"/>
                </a:cubicBezTo>
                <a:cubicBezTo>
                  <a:pt x="159026" y="123711"/>
                  <a:pt x="154585" y="119270"/>
                  <a:pt x="149087" y="119270"/>
                </a:cubicBezTo>
                <a:lnTo>
                  <a:pt x="59635" y="119270"/>
                </a:lnTo>
                <a:close/>
                <a:moveTo>
                  <a:pt x="4970" y="72059"/>
                </a:moveTo>
                <a:lnTo>
                  <a:pt x="4970" y="86967"/>
                </a:lnTo>
                <a:cubicBezTo>
                  <a:pt x="4970" y="91098"/>
                  <a:pt x="8293" y="94422"/>
                  <a:pt x="12424" y="94422"/>
                </a:cubicBezTo>
                <a:lnTo>
                  <a:pt x="27333" y="94422"/>
                </a:lnTo>
                <a:cubicBezTo>
                  <a:pt x="31464" y="94422"/>
                  <a:pt x="34787" y="91098"/>
                  <a:pt x="34787" y="86967"/>
                </a:cubicBezTo>
                <a:lnTo>
                  <a:pt x="34787" y="72059"/>
                </a:lnTo>
                <a:cubicBezTo>
                  <a:pt x="34787" y="67928"/>
                  <a:pt x="31464" y="64604"/>
                  <a:pt x="27333" y="64604"/>
                </a:cubicBezTo>
                <a:lnTo>
                  <a:pt x="12424" y="64604"/>
                </a:lnTo>
                <a:cubicBezTo>
                  <a:pt x="8293" y="64604"/>
                  <a:pt x="4970" y="67928"/>
                  <a:pt x="4970" y="72059"/>
                </a:cubicBezTo>
                <a:close/>
                <a:moveTo>
                  <a:pt x="12424" y="114300"/>
                </a:moveTo>
                <a:cubicBezTo>
                  <a:pt x="8293" y="114300"/>
                  <a:pt x="4970" y="117623"/>
                  <a:pt x="4970" y="121754"/>
                </a:cubicBezTo>
                <a:lnTo>
                  <a:pt x="4970" y="136663"/>
                </a:lnTo>
                <a:cubicBezTo>
                  <a:pt x="4970" y="140794"/>
                  <a:pt x="8293" y="144117"/>
                  <a:pt x="12424" y="144117"/>
                </a:cubicBezTo>
                <a:lnTo>
                  <a:pt x="27333" y="144117"/>
                </a:lnTo>
                <a:cubicBezTo>
                  <a:pt x="31464" y="144117"/>
                  <a:pt x="34787" y="140794"/>
                  <a:pt x="34787" y="136663"/>
                </a:cubicBezTo>
                <a:lnTo>
                  <a:pt x="34787" y="121754"/>
                </a:lnTo>
                <a:cubicBezTo>
                  <a:pt x="34787" y="117623"/>
                  <a:pt x="31464" y="114300"/>
                  <a:pt x="27333" y="114300"/>
                </a:cubicBezTo>
                <a:lnTo>
                  <a:pt x="12424" y="11430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4"/>
          <p:cNvSpPr/>
          <p:nvPr/>
        </p:nvSpPr>
        <p:spPr>
          <a:xfrm>
            <a:off x="697948" y="3476487"/>
            <a:ext cx="7156174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项目清单内容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417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12417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9" name="Text 17"/>
          <p:cNvSpPr/>
          <p:nvPr/>
        </p:nvSpPr>
        <p:spPr>
          <a:xfrm>
            <a:off x="600765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业务机会编码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86362" y="3829878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186362" y="3829878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Text 20"/>
          <p:cNvSpPr/>
          <p:nvPr/>
        </p:nvSpPr>
        <p:spPr>
          <a:xfrm>
            <a:off x="4274710" y="390055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业务机会名称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417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2417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00765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预估下单金额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86362" y="421860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86362" y="421860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4274710" y="428928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预计要货时间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417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12417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1" name="Text 29"/>
          <p:cNvSpPr/>
          <p:nvPr/>
        </p:nvSpPr>
        <p:spPr>
          <a:xfrm>
            <a:off x="600765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预计下单时间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86362" y="4607339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86362" y="4607339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4274710" y="4678017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预计开标时间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417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2417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600765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竞争态势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86362" y="4996070"/>
            <a:ext cx="3586922" cy="318052"/>
          </a:xfrm>
          <a:custGeom>
            <a:avLst/>
            <a:gdLst/>
            <a:ahLst/>
            <a:cxnLst/>
            <a:rect l="l" t="t" r="r" b="b"/>
            <a:pathLst>
              <a:path w="3586922" h="318052">
                <a:moveTo>
                  <a:pt x="35339" y="0"/>
                </a:moveTo>
                <a:lnTo>
                  <a:pt x="3516244" y="0"/>
                </a:lnTo>
                <a:cubicBezTo>
                  <a:pt x="3555278" y="0"/>
                  <a:pt x="3586922" y="31643"/>
                  <a:pt x="3586922" y="70678"/>
                </a:cubicBezTo>
                <a:lnTo>
                  <a:pt x="3586922" y="247375"/>
                </a:lnTo>
                <a:cubicBezTo>
                  <a:pt x="3586922" y="286409"/>
                  <a:pt x="3555278" y="318052"/>
                  <a:pt x="3516244" y="318052"/>
                </a:cubicBez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186362" y="4996070"/>
            <a:ext cx="35339" cy="318052"/>
          </a:xfrm>
          <a:custGeom>
            <a:avLst/>
            <a:gdLst/>
            <a:ahLst/>
            <a:cxnLst/>
            <a:rect l="l" t="t" r="r" b="b"/>
            <a:pathLst>
              <a:path w="35339" h="318052">
                <a:moveTo>
                  <a:pt x="35339" y="0"/>
                </a:moveTo>
                <a:lnTo>
                  <a:pt x="35339" y="0"/>
                </a:lnTo>
                <a:lnTo>
                  <a:pt x="35339" y="318052"/>
                </a:lnTo>
                <a:lnTo>
                  <a:pt x="35339" y="318052"/>
                </a:lnTo>
                <a:cubicBezTo>
                  <a:pt x="15822" y="318052"/>
                  <a:pt x="0" y="302230"/>
                  <a:pt x="0" y="282713"/>
                </a:cubicBezTo>
                <a:lnTo>
                  <a:pt x="0" y="35339"/>
                </a:lnTo>
                <a:cubicBezTo>
                  <a:pt x="0" y="15835"/>
                  <a:pt x="15835" y="0"/>
                  <a:pt x="3533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4274710" y="5066748"/>
            <a:ext cx="3489739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是否重客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54671" y="1272209"/>
            <a:ext cx="3781287" cy="3569252"/>
          </a:xfrm>
          <a:custGeom>
            <a:avLst/>
            <a:gdLst/>
            <a:ahLst/>
            <a:cxnLst/>
            <a:rect l="l" t="t" r="r" b="b"/>
            <a:pathLst>
              <a:path w="3781287" h="3569252">
                <a:moveTo>
                  <a:pt x="106007" y="0"/>
                </a:moveTo>
                <a:lnTo>
                  <a:pt x="3675280" y="0"/>
                </a:lnTo>
                <a:cubicBezTo>
                  <a:pt x="3733826" y="0"/>
                  <a:pt x="3781287" y="47461"/>
                  <a:pt x="3781287" y="106007"/>
                </a:cubicBezTo>
                <a:lnTo>
                  <a:pt x="3781287" y="3463245"/>
                </a:lnTo>
                <a:cubicBezTo>
                  <a:pt x="3781287" y="3521791"/>
                  <a:pt x="3733826" y="3569252"/>
                  <a:pt x="3675280" y="3569252"/>
                </a:cubicBezTo>
                <a:lnTo>
                  <a:pt x="106007" y="3569252"/>
                </a:lnTo>
                <a:cubicBezTo>
                  <a:pt x="47461" y="3569252"/>
                  <a:pt x="0" y="3521791"/>
                  <a:pt x="0" y="3463245"/>
                </a:cubicBezTo>
                <a:lnTo>
                  <a:pt x="0" y="106007"/>
                </a:lnTo>
                <a:cubicBezTo>
                  <a:pt x="0" y="47500"/>
                  <a:pt x="47500" y="0"/>
                  <a:pt x="1060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04" dist="883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98237" y="1457739"/>
            <a:ext cx="198783" cy="159026"/>
          </a:xfrm>
          <a:custGeom>
            <a:avLst/>
            <a:gdLst/>
            <a:ahLst/>
            <a:cxnLst/>
            <a:rect l="l" t="t" r="r" b="b"/>
            <a:pathLst>
              <a:path w="198783" h="159026">
                <a:moveTo>
                  <a:pt x="99391" y="4970"/>
                </a:moveTo>
                <a:cubicBezTo>
                  <a:pt x="117219" y="4970"/>
                  <a:pt x="131693" y="19444"/>
                  <a:pt x="131693" y="37272"/>
                </a:cubicBezTo>
                <a:cubicBezTo>
                  <a:pt x="131693" y="55100"/>
                  <a:pt x="117219" y="69574"/>
                  <a:pt x="99391" y="69574"/>
                </a:cubicBezTo>
                <a:cubicBezTo>
                  <a:pt x="81563" y="69574"/>
                  <a:pt x="67089" y="55100"/>
                  <a:pt x="67089" y="37272"/>
                </a:cubicBezTo>
                <a:cubicBezTo>
                  <a:pt x="67089" y="19444"/>
                  <a:pt x="81563" y="4970"/>
                  <a:pt x="99391" y="4970"/>
                </a:cubicBezTo>
                <a:close/>
                <a:moveTo>
                  <a:pt x="29817" y="27333"/>
                </a:moveTo>
                <a:cubicBezTo>
                  <a:pt x="42160" y="27333"/>
                  <a:pt x="52180" y="37353"/>
                  <a:pt x="52180" y="49696"/>
                </a:cubicBezTo>
                <a:cubicBezTo>
                  <a:pt x="52180" y="62038"/>
                  <a:pt x="42160" y="72059"/>
                  <a:pt x="29817" y="72059"/>
                </a:cubicBezTo>
                <a:cubicBezTo>
                  <a:pt x="17475" y="72059"/>
                  <a:pt x="7454" y="62038"/>
                  <a:pt x="7454" y="49696"/>
                </a:cubicBezTo>
                <a:cubicBezTo>
                  <a:pt x="7454" y="37353"/>
                  <a:pt x="17475" y="27333"/>
                  <a:pt x="29817" y="27333"/>
                </a:cubicBezTo>
                <a:close/>
                <a:moveTo>
                  <a:pt x="0" y="129209"/>
                </a:moveTo>
                <a:cubicBezTo>
                  <a:pt x="0" y="107249"/>
                  <a:pt x="17797" y="89452"/>
                  <a:pt x="39757" y="89452"/>
                </a:cubicBezTo>
                <a:cubicBezTo>
                  <a:pt x="43732" y="89452"/>
                  <a:pt x="47584" y="90042"/>
                  <a:pt x="51218" y="91129"/>
                </a:cubicBezTo>
                <a:cubicBezTo>
                  <a:pt x="40999" y="102559"/>
                  <a:pt x="34787" y="117654"/>
                  <a:pt x="34787" y="134178"/>
                </a:cubicBezTo>
                <a:lnTo>
                  <a:pt x="34787" y="139148"/>
                </a:lnTo>
                <a:cubicBezTo>
                  <a:pt x="34787" y="142689"/>
                  <a:pt x="35532" y="146043"/>
                  <a:pt x="36868" y="149087"/>
                </a:cubicBezTo>
                <a:lnTo>
                  <a:pt x="9939" y="149087"/>
                </a:lnTo>
                <a:cubicBezTo>
                  <a:pt x="4442" y="149087"/>
                  <a:pt x="0" y="144645"/>
                  <a:pt x="0" y="139148"/>
                </a:cubicBezTo>
                <a:lnTo>
                  <a:pt x="0" y="129209"/>
                </a:lnTo>
                <a:close/>
                <a:moveTo>
                  <a:pt x="161915" y="149087"/>
                </a:moveTo>
                <a:cubicBezTo>
                  <a:pt x="163250" y="146043"/>
                  <a:pt x="163996" y="142689"/>
                  <a:pt x="163996" y="139148"/>
                </a:cubicBezTo>
                <a:lnTo>
                  <a:pt x="163996" y="134178"/>
                </a:lnTo>
                <a:cubicBezTo>
                  <a:pt x="163996" y="117654"/>
                  <a:pt x="157784" y="102559"/>
                  <a:pt x="147565" y="91129"/>
                </a:cubicBezTo>
                <a:cubicBezTo>
                  <a:pt x="151199" y="90042"/>
                  <a:pt x="155050" y="89452"/>
                  <a:pt x="159026" y="89452"/>
                </a:cubicBezTo>
                <a:cubicBezTo>
                  <a:pt x="180985" y="89452"/>
                  <a:pt x="198783" y="107249"/>
                  <a:pt x="198783" y="129209"/>
                </a:cubicBezTo>
                <a:lnTo>
                  <a:pt x="198783" y="139148"/>
                </a:lnTo>
                <a:cubicBezTo>
                  <a:pt x="198783" y="144645"/>
                  <a:pt x="194341" y="149087"/>
                  <a:pt x="188843" y="149087"/>
                </a:cubicBezTo>
                <a:lnTo>
                  <a:pt x="161915" y="149087"/>
                </a:lnTo>
                <a:close/>
                <a:moveTo>
                  <a:pt x="146602" y="49696"/>
                </a:moveTo>
                <a:cubicBezTo>
                  <a:pt x="146602" y="37353"/>
                  <a:pt x="156623" y="27333"/>
                  <a:pt x="168965" y="27333"/>
                </a:cubicBezTo>
                <a:cubicBezTo>
                  <a:pt x="181308" y="27333"/>
                  <a:pt x="191328" y="37353"/>
                  <a:pt x="191328" y="49696"/>
                </a:cubicBezTo>
                <a:cubicBezTo>
                  <a:pt x="191328" y="62038"/>
                  <a:pt x="181308" y="72059"/>
                  <a:pt x="168965" y="72059"/>
                </a:cubicBezTo>
                <a:cubicBezTo>
                  <a:pt x="156623" y="72059"/>
                  <a:pt x="146602" y="62038"/>
                  <a:pt x="146602" y="49696"/>
                </a:cubicBezTo>
                <a:close/>
                <a:moveTo>
                  <a:pt x="49696" y="134178"/>
                </a:moveTo>
                <a:cubicBezTo>
                  <a:pt x="49696" y="106721"/>
                  <a:pt x="71934" y="84483"/>
                  <a:pt x="99391" y="84483"/>
                </a:cubicBezTo>
                <a:cubicBezTo>
                  <a:pt x="126848" y="84483"/>
                  <a:pt x="149087" y="106721"/>
                  <a:pt x="149087" y="134178"/>
                </a:cubicBezTo>
                <a:lnTo>
                  <a:pt x="149087" y="139148"/>
                </a:lnTo>
                <a:cubicBezTo>
                  <a:pt x="149087" y="144645"/>
                  <a:pt x="144645" y="149087"/>
                  <a:pt x="139148" y="149087"/>
                </a:cubicBezTo>
                <a:lnTo>
                  <a:pt x="59635" y="149087"/>
                </a:lnTo>
                <a:cubicBezTo>
                  <a:pt x="54137" y="149087"/>
                  <a:pt x="49696" y="144645"/>
                  <a:pt x="49696" y="139148"/>
                </a:cubicBezTo>
                <a:lnTo>
                  <a:pt x="49696" y="13417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3" name="Text 41"/>
          <p:cNvSpPr/>
          <p:nvPr/>
        </p:nvSpPr>
        <p:spPr>
          <a:xfrm>
            <a:off x="8399228" y="1413565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立项组织信息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96028" y="176695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66706" y="183763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190" dirty="0"/>
          </a:p>
        </p:txBody>
      </p:sp>
      <p:sp>
        <p:nvSpPr>
          <p:cNvPr id="46" name="Text 44"/>
          <p:cNvSpPr/>
          <p:nvPr/>
        </p:nvSpPr>
        <p:spPr>
          <a:xfrm>
            <a:off x="8266706" y="204967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项目整体负责人</a:t>
            </a:r>
            <a:endParaRPr lang="en-US" sz="1190" dirty="0"/>
          </a:p>
        </p:txBody>
      </p:sp>
      <p:sp>
        <p:nvSpPr>
          <p:cNvPr id="47" name="Shape 45"/>
          <p:cNvSpPr/>
          <p:nvPr/>
        </p:nvSpPr>
        <p:spPr>
          <a:xfrm>
            <a:off x="8196028" y="2332275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266706" y="2402953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客户关系负责人</a:t>
            </a:r>
            <a:endParaRPr lang="en-US" sz="1190" dirty="0"/>
          </a:p>
        </p:txBody>
      </p:sp>
      <p:sp>
        <p:nvSpPr>
          <p:cNvPr id="49" name="Text 47"/>
          <p:cNvSpPr/>
          <p:nvPr/>
        </p:nvSpPr>
        <p:spPr>
          <a:xfrm>
            <a:off x="8266706" y="2614988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机会所有人/销售</a:t>
            </a:r>
            <a:endParaRPr lang="en-US" sz="1190" dirty="0"/>
          </a:p>
        </p:txBody>
      </p:sp>
      <p:sp>
        <p:nvSpPr>
          <p:cNvPr id="50" name="Shape 48"/>
          <p:cNvSpPr/>
          <p:nvPr/>
        </p:nvSpPr>
        <p:spPr>
          <a:xfrm>
            <a:off x="8196028" y="2897589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266706" y="2968267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技术负责人</a:t>
            </a:r>
            <a:endParaRPr lang="en-US" sz="1190" dirty="0"/>
          </a:p>
        </p:txBody>
      </p:sp>
      <p:sp>
        <p:nvSpPr>
          <p:cNvPr id="52" name="Text 50"/>
          <p:cNvSpPr/>
          <p:nvPr/>
        </p:nvSpPr>
        <p:spPr>
          <a:xfrm>
            <a:off x="8266706" y="3180302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解决方案技术负责人</a:t>
            </a:r>
            <a:endParaRPr lang="en-US" sz="1190" dirty="0"/>
          </a:p>
        </p:txBody>
      </p:sp>
      <p:sp>
        <p:nvSpPr>
          <p:cNvPr id="53" name="Shape 51"/>
          <p:cNvSpPr/>
          <p:nvPr/>
        </p:nvSpPr>
        <p:spPr>
          <a:xfrm>
            <a:off x="8196028" y="3462907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8266706" y="3533585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客户体验负责人</a:t>
            </a:r>
            <a:endParaRPr lang="en-US" sz="1190" dirty="0"/>
          </a:p>
        </p:txBody>
      </p:sp>
      <p:sp>
        <p:nvSpPr>
          <p:cNvPr id="55" name="Text 53"/>
          <p:cNvSpPr/>
          <p:nvPr/>
        </p:nvSpPr>
        <p:spPr>
          <a:xfrm>
            <a:off x="8266706" y="3745620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客户体验保障负责人</a:t>
            </a:r>
            <a:endParaRPr lang="en-US" sz="1190" dirty="0"/>
          </a:p>
        </p:txBody>
      </p:sp>
      <p:sp>
        <p:nvSpPr>
          <p:cNvPr id="56" name="Shape 54"/>
          <p:cNvSpPr/>
          <p:nvPr/>
        </p:nvSpPr>
        <p:spPr>
          <a:xfrm>
            <a:off x="8196028" y="4028221"/>
            <a:ext cx="3498574" cy="494748"/>
          </a:xfrm>
          <a:custGeom>
            <a:avLst/>
            <a:gdLst/>
            <a:ahLst/>
            <a:cxnLst/>
            <a:rect l="l" t="t" r="r" b="b"/>
            <a:pathLst>
              <a:path w="3498574" h="494748">
                <a:moveTo>
                  <a:pt x="70680" y="0"/>
                </a:moveTo>
                <a:lnTo>
                  <a:pt x="3427894" y="0"/>
                </a:lnTo>
                <a:cubicBezTo>
                  <a:pt x="3466930" y="0"/>
                  <a:pt x="3498574" y="31644"/>
                  <a:pt x="3498574" y="70680"/>
                </a:cubicBezTo>
                <a:lnTo>
                  <a:pt x="3498574" y="424068"/>
                </a:lnTo>
                <a:cubicBezTo>
                  <a:pt x="3498574" y="463077"/>
                  <a:pt x="3466903" y="494748"/>
                  <a:pt x="3427894" y="494748"/>
                </a:cubicBezTo>
                <a:lnTo>
                  <a:pt x="70680" y="494748"/>
                </a:lnTo>
                <a:cubicBezTo>
                  <a:pt x="31644" y="494748"/>
                  <a:pt x="0" y="463103"/>
                  <a:pt x="0" y="424068"/>
                </a:cubicBezTo>
                <a:lnTo>
                  <a:pt x="0" y="70680"/>
                </a:lnTo>
                <a:cubicBezTo>
                  <a:pt x="0" y="31671"/>
                  <a:pt x="31671" y="0"/>
                  <a:pt x="7068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266706" y="4098899"/>
            <a:ext cx="3419061" cy="17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</a:t>
            </a:r>
            <a:endParaRPr lang="en-US" sz="1190" dirty="0"/>
          </a:p>
        </p:txBody>
      </p:sp>
      <p:sp>
        <p:nvSpPr>
          <p:cNvPr id="58" name="Text 56"/>
          <p:cNvSpPr/>
          <p:nvPr/>
        </p:nvSpPr>
        <p:spPr>
          <a:xfrm>
            <a:off x="8266706" y="4310934"/>
            <a:ext cx="3410226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90" dirty="0">
                <a:solidFill>
                  <a:srgbClr val="A098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销售管理BP</a:t>
            </a:r>
            <a:endParaRPr lang="en-US" sz="1190" dirty="0"/>
          </a:p>
        </p:txBody>
      </p:sp>
      <p:sp>
        <p:nvSpPr>
          <p:cNvPr id="59" name="Shape 57"/>
          <p:cNvSpPr/>
          <p:nvPr/>
        </p:nvSpPr>
        <p:spPr>
          <a:xfrm>
            <a:off x="8054671" y="4950571"/>
            <a:ext cx="3781287" cy="1554922"/>
          </a:xfrm>
          <a:custGeom>
            <a:avLst/>
            <a:gdLst/>
            <a:ahLst/>
            <a:cxnLst/>
            <a:rect l="l" t="t" r="r" b="b"/>
            <a:pathLst>
              <a:path w="3781287" h="1554922">
                <a:moveTo>
                  <a:pt x="106015" y="0"/>
                </a:moveTo>
                <a:lnTo>
                  <a:pt x="3675272" y="0"/>
                </a:lnTo>
                <a:cubicBezTo>
                  <a:pt x="3733823" y="0"/>
                  <a:pt x="3781287" y="47464"/>
                  <a:pt x="3781287" y="106015"/>
                </a:cubicBezTo>
                <a:lnTo>
                  <a:pt x="3781287" y="1448907"/>
                </a:lnTo>
                <a:cubicBezTo>
                  <a:pt x="3781287" y="1507457"/>
                  <a:pt x="3733823" y="1554922"/>
                  <a:pt x="3675272" y="1554922"/>
                </a:cubicBezTo>
                <a:lnTo>
                  <a:pt x="106015" y="1554922"/>
                </a:lnTo>
                <a:cubicBezTo>
                  <a:pt x="47464" y="1554922"/>
                  <a:pt x="0" y="1507457"/>
                  <a:pt x="0" y="1448907"/>
                </a:cubicBezTo>
                <a:lnTo>
                  <a:pt x="0" y="106015"/>
                </a:lnTo>
                <a:cubicBezTo>
                  <a:pt x="0" y="47504"/>
                  <a:pt x="47504" y="0"/>
                  <a:pt x="106015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0" name="Shape 58"/>
          <p:cNvSpPr/>
          <p:nvPr/>
        </p:nvSpPr>
        <p:spPr>
          <a:xfrm>
            <a:off x="8228054" y="5136102"/>
            <a:ext cx="139148" cy="159026"/>
          </a:xfrm>
          <a:custGeom>
            <a:avLst/>
            <a:gdLst/>
            <a:ahLst/>
            <a:cxnLst/>
            <a:rect l="l" t="t" r="r" b="b"/>
            <a:pathLst>
              <a:path w="139148" h="159026">
                <a:moveTo>
                  <a:pt x="39757" y="0"/>
                </a:moveTo>
                <a:cubicBezTo>
                  <a:pt x="45254" y="0"/>
                  <a:pt x="49696" y="4442"/>
                  <a:pt x="49696" y="9939"/>
                </a:cubicBezTo>
                <a:lnTo>
                  <a:pt x="49696" y="19878"/>
                </a:lnTo>
                <a:lnTo>
                  <a:pt x="89452" y="19878"/>
                </a:lnTo>
                <a:lnTo>
                  <a:pt x="89452" y="9939"/>
                </a:lnTo>
                <a:cubicBezTo>
                  <a:pt x="89452" y="4442"/>
                  <a:pt x="93894" y="0"/>
                  <a:pt x="99391" y="0"/>
                </a:cubicBezTo>
                <a:cubicBezTo>
                  <a:pt x="104889" y="0"/>
                  <a:pt x="109330" y="4442"/>
                  <a:pt x="109330" y="9939"/>
                </a:cubicBezTo>
                <a:lnTo>
                  <a:pt x="109330" y="19878"/>
                </a:lnTo>
                <a:lnTo>
                  <a:pt x="119270" y="19878"/>
                </a:lnTo>
                <a:cubicBezTo>
                  <a:pt x="130234" y="19878"/>
                  <a:pt x="139148" y="28792"/>
                  <a:pt x="139148" y="39757"/>
                </a:cubicBezTo>
                <a:lnTo>
                  <a:pt x="139148" y="129209"/>
                </a:lnTo>
                <a:cubicBezTo>
                  <a:pt x="139148" y="140173"/>
                  <a:pt x="130234" y="149087"/>
                  <a:pt x="119270" y="149087"/>
                </a:cubicBezTo>
                <a:lnTo>
                  <a:pt x="19878" y="149087"/>
                </a:lnTo>
                <a:cubicBezTo>
                  <a:pt x="8914" y="149087"/>
                  <a:pt x="0" y="140173"/>
                  <a:pt x="0" y="129209"/>
                </a:cubicBezTo>
                <a:lnTo>
                  <a:pt x="0" y="39757"/>
                </a:lnTo>
                <a:cubicBezTo>
                  <a:pt x="0" y="28792"/>
                  <a:pt x="8914" y="19878"/>
                  <a:pt x="19878" y="19878"/>
                </a:cubicBezTo>
                <a:lnTo>
                  <a:pt x="29817" y="19878"/>
                </a:lnTo>
                <a:lnTo>
                  <a:pt x="29817" y="9939"/>
                </a:lnTo>
                <a:cubicBezTo>
                  <a:pt x="29817" y="4442"/>
                  <a:pt x="34259" y="0"/>
                  <a:pt x="39757" y="0"/>
                </a:cubicBezTo>
                <a:close/>
                <a:moveTo>
                  <a:pt x="19878" y="74543"/>
                </a:moveTo>
                <a:lnTo>
                  <a:pt x="19878" y="84483"/>
                </a:lnTo>
                <a:cubicBezTo>
                  <a:pt x="19878" y="87216"/>
                  <a:pt x="22115" y="89452"/>
                  <a:pt x="24848" y="89452"/>
                </a:cubicBezTo>
                <a:lnTo>
                  <a:pt x="34787" y="89452"/>
                </a:lnTo>
                <a:cubicBezTo>
                  <a:pt x="37520" y="89452"/>
                  <a:pt x="39757" y="87216"/>
                  <a:pt x="39757" y="84483"/>
                </a:cubicBezTo>
                <a:lnTo>
                  <a:pt x="39757" y="74543"/>
                </a:lnTo>
                <a:cubicBezTo>
                  <a:pt x="39757" y="71810"/>
                  <a:pt x="37520" y="69574"/>
                  <a:pt x="34787" y="69574"/>
                </a:cubicBezTo>
                <a:lnTo>
                  <a:pt x="24848" y="69574"/>
                </a:lnTo>
                <a:cubicBezTo>
                  <a:pt x="22115" y="69574"/>
                  <a:pt x="19878" y="71810"/>
                  <a:pt x="19878" y="74543"/>
                </a:cubicBezTo>
                <a:close/>
                <a:moveTo>
                  <a:pt x="59635" y="74543"/>
                </a:moveTo>
                <a:lnTo>
                  <a:pt x="59635" y="84483"/>
                </a:lnTo>
                <a:cubicBezTo>
                  <a:pt x="59635" y="87216"/>
                  <a:pt x="61871" y="89452"/>
                  <a:pt x="64604" y="89452"/>
                </a:cubicBezTo>
                <a:lnTo>
                  <a:pt x="74543" y="89452"/>
                </a:lnTo>
                <a:cubicBezTo>
                  <a:pt x="77277" y="89452"/>
                  <a:pt x="79513" y="87216"/>
                  <a:pt x="79513" y="84483"/>
                </a:cubicBezTo>
                <a:lnTo>
                  <a:pt x="79513" y="74543"/>
                </a:lnTo>
                <a:cubicBezTo>
                  <a:pt x="79513" y="71810"/>
                  <a:pt x="77277" y="69574"/>
                  <a:pt x="74543" y="69574"/>
                </a:cubicBezTo>
                <a:lnTo>
                  <a:pt x="64604" y="69574"/>
                </a:lnTo>
                <a:cubicBezTo>
                  <a:pt x="61871" y="69574"/>
                  <a:pt x="59635" y="71810"/>
                  <a:pt x="59635" y="74543"/>
                </a:cubicBezTo>
                <a:close/>
                <a:moveTo>
                  <a:pt x="104361" y="69574"/>
                </a:moveTo>
                <a:cubicBezTo>
                  <a:pt x="101628" y="69574"/>
                  <a:pt x="99391" y="71810"/>
                  <a:pt x="99391" y="74543"/>
                </a:cubicBezTo>
                <a:lnTo>
                  <a:pt x="99391" y="84483"/>
                </a:lnTo>
                <a:cubicBezTo>
                  <a:pt x="99391" y="87216"/>
                  <a:pt x="101628" y="89452"/>
                  <a:pt x="104361" y="89452"/>
                </a:cubicBezTo>
                <a:lnTo>
                  <a:pt x="114300" y="89452"/>
                </a:lnTo>
                <a:cubicBezTo>
                  <a:pt x="117033" y="89452"/>
                  <a:pt x="119270" y="87216"/>
                  <a:pt x="119270" y="84483"/>
                </a:cubicBezTo>
                <a:lnTo>
                  <a:pt x="119270" y="74543"/>
                </a:lnTo>
                <a:cubicBezTo>
                  <a:pt x="119270" y="71810"/>
                  <a:pt x="117033" y="69574"/>
                  <a:pt x="114300" y="69574"/>
                </a:cubicBezTo>
                <a:lnTo>
                  <a:pt x="104361" y="69574"/>
                </a:lnTo>
                <a:close/>
                <a:moveTo>
                  <a:pt x="19878" y="114300"/>
                </a:moveTo>
                <a:lnTo>
                  <a:pt x="19878" y="124239"/>
                </a:lnTo>
                <a:cubicBezTo>
                  <a:pt x="19878" y="126972"/>
                  <a:pt x="22115" y="129209"/>
                  <a:pt x="24848" y="129209"/>
                </a:cubicBezTo>
                <a:lnTo>
                  <a:pt x="34787" y="129209"/>
                </a:lnTo>
                <a:cubicBezTo>
                  <a:pt x="37520" y="129209"/>
                  <a:pt x="39757" y="126972"/>
                  <a:pt x="39757" y="124239"/>
                </a:cubicBezTo>
                <a:lnTo>
                  <a:pt x="39757" y="114300"/>
                </a:lnTo>
                <a:cubicBezTo>
                  <a:pt x="39757" y="111567"/>
                  <a:pt x="37520" y="109330"/>
                  <a:pt x="34787" y="109330"/>
                </a:cubicBezTo>
                <a:lnTo>
                  <a:pt x="24848" y="109330"/>
                </a:lnTo>
                <a:cubicBezTo>
                  <a:pt x="22115" y="109330"/>
                  <a:pt x="19878" y="111567"/>
                  <a:pt x="19878" y="114300"/>
                </a:cubicBezTo>
                <a:close/>
                <a:moveTo>
                  <a:pt x="64604" y="109330"/>
                </a:moveTo>
                <a:cubicBezTo>
                  <a:pt x="61871" y="109330"/>
                  <a:pt x="59635" y="111567"/>
                  <a:pt x="59635" y="114300"/>
                </a:cubicBezTo>
                <a:lnTo>
                  <a:pt x="59635" y="124239"/>
                </a:lnTo>
                <a:cubicBezTo>
                  <a:pt x="59635" y="126972"/>
                  <a:pt x="61871" y="129209"/>
                  <a:pt x="64604" y="129209"/>
                </a:cubicBezTo>
                <a:lnTo>
                  <a:pt x="74543" y="129209"/>
                </a:lnTo>
                <a:cubicBezTo>
                  <a:pt x="77277" y="129209"/>
                  <a:pt x="79513" y="126972"/>
                  <a:pt x="79513" y="124239"/>
                </a:cubicBezTo>
                <a:lnTo>
                  <a:pt x="79513" y="114300"/>
                </a:lnTo>
                <a:cubicBezTo>
                  <a:pt x="79513" y="111567"/>
                  <a:pt x="77277" y="109330"/>
                  <a:pt x="74543" y="109330"/>
                </a:cubicBezTo>
                <a:lnTo>
                  <a:pt x="64604" y="109330"/>
                </a:lnTo>
                <a:close/>
                <a:moveTo>
                  <a:pt x="99391" y="114300"/>
                </a:moveTo>
                <a:lnTo>
                  <a:pt x="99391" y="124239"/>
                </a:lnTo>
                <a:cubicBezTo>
                  <a:pt x="99391" y="126972"/>
                  <a:pt x="101628" y="129209"/>
                  <a:pt x="104361" y="129209"/>
                </a:cubicBezTo>
                <a:lnTo>
                  <a:pt x="114300" y="129209"/>
                </a:lnTo>
                <a:cubicBezTo>
                  <a:pt x="117033" y="129209"/>
                  <a:pt x="119270" y="126972"/>
                  <a:pt x="119270" y="124239"/>
                </a:cubicBezTo>
                <a:lnTo>
                  <a:pt x="119270" y="114300"/>
                </a:lnTo>
                <a:cubicBezTo>
                  <a:pt x="119270" y="111567"/>
                  <a:pt x="117033" y="109330"/>
                  <a:pt x="114300" y="109330"/>
                </a:cubicBezTo>
                <a:lnTo>
                  <a:pt x="104361" y="109330"/>
                </a:lnTo>
                <a:cubicBezTo>
                  <a:pt x="101628" y="109330"/>
                  <a:pt x="99391" y="111567"/>
                  <a:pt x="99391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8399228" y="5091928"/>
            <a:ext cx="3374887" cy="2473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2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输出时间节点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209280" y="5501861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8399227" y="5480657"/>
            <a:ext cx="2222583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提交年度重点项目清单</a:t>
            </a:r>
            <a:endParaRPr lang="en-US" sz="1190" dirty="0"/>
          </a:p>
        </p:txBody>
      </p:sp>
      <p:sp>
        <p:nvSpPr>
          <p:cNvPr id="64" name="Shape 62"/>
          <p:cNvSpPr/>
          <p:nvPr/>
        </p:nvSpPr>
        <p:spPr>
          <a:xfrm>
            <a:off x="8209280" y="5749235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8399227" y="5728031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季度更新: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根据业务变化动态调整</a:t>
            </a:r>
            <a:endParaRPr lang="en-US" sz="1190" dirty="0"/>
          </a:p>
        </p:txBody>
      </p:sp>
      <p:sp>
        <p:nvSpPr>
          <p:cNvPr id="66" name="Shape 64"/>
          <p:cNvSpPr/>
          <p:nvPr/>
        </p:nvSpPr>
        <p:spPr>
          <a:xfrm>
            <a:off x="8209280" y="5996609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399227" y="5975405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月度补充: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新增战略项目及时提报</a:t>
            </a:r>
            <a:endParaRPr lang="en-US" sz="1190" dirty="0"/>
          </a:p>
        </p:txBody>
      </p:sp>
      <p:sp>
        <p:nvSpPr>
          <p:cNvPr id="68" name="Shape 66"/>
          <p:cNvSpPr/>
          <p:nvPr/>
        </p:nvSpPr>
        <p:spPr>
          <a:xfrm>
            <a:off x="8209280" y="6243983"/>
            <a:ext cx="146543" cy="84814"/>
          </a:xfrm>
          <a:custGeom>
            <a:avLst/>
            <a:gdLst/>
            <a:ahLst/>
            <a:cxnLst/>
            <a:rect l="l" t="t" r="r" b="b"/>
            <a:pathLst>
              <a:path w="106017" h="106017">
                <a:moveTo>
                  <a:pt x="0" y="53009"/>
                </a:moveTo>
                <a:cubicBezTo>
                  <a:pt x="0" y="23752"/>
                  <a:pt x="23752" y="0"/>
                  <a:pt x="53009" y="0"/>
                </a:cubicBezTo>
                <a:cubicBezTo>
                  <a:pt x="82265" y="0"/>
                  <a:pt x="106017" y="23752"/>
                  <a:pt x="106017" y="53009"/>
                </a:cubicBezTo>
                <a:cubicBezTo>
                  <a:pt x="106017" y="82265"/>
                  <a:pt x="82265" y="106017"/>
                  <a:pt x="53009" y="106017"/>
                </a:cubicBezTo>
                <a:cubicBezTo>
                  <a:pt x="23752" y="106017"/>
                  <a:pt x="0" y="82265"/>
                  <a:pt x="0" y="5300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399227" y="6222779"/>
            <a:ext cx="2564519" cy="141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周度跟进:</a:t>
            </a:r>
            <a:r>
              <a:rPr lang="en-US" sz="119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区域例会同步项目进展</a:t>
            </a:r>
            <a:endParaRPr lang="en-US" sz="1190" dirty="0"/>
          </a:p>
        </p:txBody>
      </p:sp>
      <p:sp>
        <p:nvSpPr>
          <p:cNvPr id="70" name="Shape 68"/>
          <p:cNvSpPr/>
          <p:nvPr/>
        </p:nvSpPr>
        <p:spPr>
          <a:xfrm>
            <a:off x="335162" y="5595369"/>
            <a:ext cx="7544905" cy="910123"/>
          </a:xfrm>
          <a:custGeom>
            <a:avLst/>
            <a:gdLst/>
            <a:ahLst/>
            <a:cxnLst/>
            <a:rect l="l" t="t" r="r" b="b"/>
            <a:pathLst>
              <a:path w="11485217" h="424070">
                <a:moveTo>
                  <a:pt x="106017" y="0"/>
                </a:moveTo>
                <a:lnTo>
                  <a:pt x="11379200" y="0"/>
                </a:lnTo>
                <a:cubicBezTo>
                  <a:pt x="11437752" y="0"/>
                  <a:pt x="11485217" y="47466"/>
                  <a:pt x="11485217" y="106017"/>
                </a:cubicBezTo>
                <a:lnTo>
                  <a:pt x="11485217" y="318052"/>
                </a:lnTo>
                <a:cubicBezTo>
                  <a:pt x="11485217" y="376604"/>
                  <a:pt x="11437752" y="424070"/>
                  <a:pt x="11379200" y="424070"/>
                </a:cubicBezTo>
                <a:lnTo>
                  <a:pt x="106017" y="424070"/>
                </a:lnTo>
                <a:cubicBezTo>
                  <a:pt x="47466" y="424070"/>
                  <a:pt x="0" y="376604"/>
                  <a:pt x="0" y="318052"/>
                </a:cubicBezTo>
                <a:lnTo>
                  <a:pt x="0" y="106017"/>
                </a:lnTo>
                <a:cubicBezTo>
                  <a:pt x="0" y="47505"/>
                  <a:pt x="47505" y="0"/>
                  <a:pt x="10601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2405711" y="6752867"/>
            <a:ext cx="141357" cy="141357"/>
          </a:xfrm>
          <a:custGeom>
            <a:avLst/>
            <a:gdLst/>
            <a:ahLst/>
            <a:cxnLst/>
            <a:rect l="l" t="t" r="r" b="b"/>
            <a:pathLst>
              <a:path w="141357" h="141357">
                <a:moveTo>
                  <a:pt x="123687" y="70678"/>
                </a:moveTo>
                <a:cubicBezTo>
                  <a:pt x="123687" y="41422"/>
                  <a:pt x="99935" y="17670"/>
                  <a:pt x="70678" y="17670"/>
                </a:cubicBezTo>
                <a:cubicBezTo>
                  <a:pt x="41422" y="17670"/>
                  <a:pt x="17670" y="41422"/>
                  <a:pt x="17670" y="70678"/>
                </a:cubicBezTo>
                <a:cubicBezTo>
                  <a:pt x="17670" y="99935"/>
                  <a:pt x="41422" y="123687"/>
                  <a:pt x="70678" y="123687"/>
                </a:cubicBezTo>
                <a:cubicBezTo>
                  <a:pt x="99935" y="123687"/>
                  <a:pt x="123687" y="99935"/>
                  <a:pt x="123687" y="70678"/>
                </a:cubicBezTo>
                <a:close/>
                <a:moveTo>
                  <a:pt x="0" y="70678"/>
                </a:moveTo>
                <a:cubicBezTo>
                  <a:pt x="0" y="31670"/>
                  <a:pt x="31670" y="0"/>
                  <a:pt x="70678" y="0"/>
                </a:cubicBezTo>
                <a:cubicBezTo>
                  <a:pt x="109687" y="0"/>
                  <a:pt x="141357" y="31670"/>
                  <a:pt x="141357" y="70678"/>
                </a:cubicBezTo>
                <a:cubicBezTo>
                  <a:pt x="141357" y="109687"/>
                  <a:pt x="109687" y="141357"/>
                  <a:pt x="70678" y="141357"/>
                </a:cubicBezTo>
                <a:cubicBezTo>
                  <a:pt x="31670" y="141357"/>
                  <a:pt x="0" y="109687"/>
                  <a:pt x="0" y="70678"/>
                </a:cubicBezTo>
                <a:close/>
                <a:moveTo>
                  <a:pt x="70678" y="92765"/>
                </a:moveTo>
                <a:cubicBezTo>
                  <a:pt x="82868" y="92765"/>
                  <a:pt x="92765" y="82868"/>
                  <a:pt x="92765" y="70678"/>
                </a:cubicBezTo>
                <a:cubicBezTo>
                  <a:pt x="92765" y="58488"/>
                  <a:pt x="82868" y="48591"/>
                  <a:pt x="70678" y="48591"/>
                </a:cubicBezTo>
                <a:cubicBezTo>
                  <a:pt x="58488" y="48591"/>
                  <a:pt x="48591" y="58488"/>
                  <a:pt x="48591" y="70678"/>
                </a:cubicBezTo>
                <a:cubicBezTo>
                  <a:pt x="48591" y="82868"/>
                  <a:pt x="58488" y="92765"/>
                  <a:pt x="70678" y="92765"/>
                </a:cubicBezTo>
                <a:close/>
                <a:moveTo>
                  <a:pt x="70678" y="30922"/>
                </a:moveTo>
                <a:cubicBezTo>
                  <a:pt x="92620" y="30922"/>
                  <a:pt x="110435" y="48736"/>
                  <a:pt x="110435" y="70678"/>
                </a:cubicBezTo>
                <a:cubicBezTo>
                  <a:pt x="110435" y="92620"/>
                  <a:pt x="92620" y="110435"/>
                  <a:pt x="70678" y="110435"/>
                </a:cubicBezTo>
                <a:cubicBezTo>
                  <a:pt x="48736" y="110435"/>
                  <a:pt x="30922" y="92620"/>
                  <a:pt x="30922" y="70678"/>
                </a:cubicBezTo>
                <a:cubicBezTo>
                  <a:pt x="30922" y="48736"/>
                  <a:pt x="48736" y="30922"/>
                  <a:pt x="70678" y="30922"/>
                </a:cubicBezTo>
                <a:close/>
                <a:moveTo>
                  <a:pt x="61843" y="70678"/>
                </a:moveTo>
                <a:cubicBezTo>
                  <a:pt x="61843" y="65802"/>
                  <a:pt x="65802" y="61843"/>
                  <a:pt x="70678" y="61843"/>
                </a:cubicBezTo>
                <a:cubicBezTo>
                  <a:pt x="75554" y="61843"/>
                  <a:pt x="79513" y="65802"/>
                  <a:pt x="79513" y="70678"/>
                </a:cubicBezTo>
                <a:cubicBezTo>
                  <a:pt x="79513" y="75554"/>
                  <a:pt x="75554" y="79513"/>
                  <a:pt x="70678" y="79513"/>
                </a:cubicBezTo>
                <a:cubicBezTo>
                  <a:pt x="65802" y="79513"/>
                  <a:pt x="61843" y="75554"/>
                  <a:pt x="61843" y="7067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2" name="Text 70"/>
          <p:cNvSpPr/>
          <p:nvPr/>
        </p:nvSpPr>
        <p:spPr>
          <a:xfrm>
            <a:off x="490330" y="5975405"/>
            <a:ext cx="7200348" cy="29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核心目标:各负责人需在年初一次性提供完整清单,MO流程项目组协调IT批量导入CRM系统立项,实现全生命周期管理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ROLES &amp; COLLABORATION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各角色主要职责与协作机制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4171950" cy="2409825"/>
          </a:xfrm>
          <a:custGeom>
            <a:avLst/>
            <a:gdLst/>
            <a:ahLst/>
            <a:cxnLst/>
            <a:rect l="l" t="t" r="r" b="b"/>
            <a:pathLst>
              <a:path w="4171950" h="24098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295527"/>
                </a:lnTo>
                <a:cubicBezTo>
                  <a:pt x="4171950" y="2358610"/>
                  <a:pt x="4120735" y="2409825"/>
                  <a:pt x="4057652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Shape 6"/>
          <p:cNvSpPr/>
          <p:nvPr/>
        </p:nvSpPr>
        <p:spPr>
          <a:xfrm>
            <a:off x="657225" y="1676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1619250"/>
            <a:ext cx="1695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销售/业务机会所有人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245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2057400"/>
            <a:ext cx="3019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填写MANT信息:登录CRM填写商机关键信息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2450" y="240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362200"/>
            <a:ext cx="3038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3T时间:准确填写预计要货、下单、开标时间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245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26670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发起立项申请:对漏斗内满足立项条件的商机自动发起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245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2971800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项目文档:下载模板创建项目过程管理材料并上传飞书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7250" y="1390650"/>
            <a:ext cx="4171950" cy="2409825"/>
          </a:xfrm>
          <a:custGeom>
            <a:avLst/>
            <a:gdLst/>
            <a:ahLst/>
            <a:cxnLst/>
            <a:rect l="l" t="t" r="r" b="b"/>
            <a:pathLst>
              <a:path w="4171950" h="24098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295527"/>
                </a:lnTo>
                <a:cubicBezTo>
                  <a:pt x="4171950" y="2358610"/>
                  <a:pt x="4120735" y="2409825"/>
                  <a:pt x="4057652" y="2409825"/>
                </a:cubicBezTo>
                <a:lnTo>
                  <a:pt x="114298" y="2409825"/>
                </a:lnTo>
                <a:cubicBezTo>
                  <a:pt x="51215" y="2409825"/>
                  <a:pt x="0" y="2358610"/>
                  <a:pt x="0" y="229552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7250" y="1390650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0" name="Shape 18"/>
          <p:cNvSpPr/>
          <p:nvPr/>
        </p:nvSpPr>
        <p:spPr>
          <a:xfrm>
            <a:off x="4819650" y="1562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924425" y="16764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276850" y="1619250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区域经理/系统总/主管VP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38700" y="20955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5086350" y="2057400"/>
            <a:ext cx="3638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审批决策:审批决策是否立项通过(区域级/BU级/BG级)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38700" y="2400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6" name="Text 24"/>
          <p:cNvSpPr/>
          <p:nvPr/>
        </p:nvSpPr>
        <p:spPr>
          <a:xfrm>
            <a:off x="5086350" y="2362200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确认项目组:确认项目经理及铁三角人员准确无误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38700" y="2705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5086350" y="2667000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漏斗审批:核实商机信息,交叉验证后审批进漏斗申请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38700" y="3009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0" name="Text 28"/>
          <p:cNvSpPr/>
          <p:nvPr/>
        </p:nvSpPr>
        <p:spPr>
          <a:xfrm>
            <a:off x="5086350" y="2971800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分级分层:根据项目分级分层要求对项目是否立项进行填写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936206"/>
            <a:ext cx="4171950" cy="2867025"/>
          </a:xfrm>
          <a:custGeom>
            <a:avLst/>
            <a:gdLst/>
            <a:ahLst/>
            <a:cxnLst/>
            <a:rect l="l" t="t" r="r" b="b"/>
            <a:pathLst>
              <a:path w="4171950" h="28670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752717"/>
                </a:lnTo>
                <a:cubicBezTo>
                  <a:pt x="4171950" y="2815847"/>
                  <a:pt x="4120772" y="2867025"/>
                  <a:pt x="405764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1000" y="3936206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3" name="Shape 31"/>
          <p:cNvSpPr/>
          <p:nvPr/>
        </p:nvSpPr>
        <p:spPr>
          <a:xfrm>
            <a:off x="533400" y="41076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" y="4221956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76349" y="2381"/>
                </a:moveTo>
                <a:cubicBezTo>
                  <a:pt x="96063" y="2381"/>
                  <a:pt x="112068" y="18386"/>
                  <a:pt x="112068" y="38100"/>
                </a:cubicBezTo>
                <a:cubicBezTo>
                  <a:pt x="112068" y="57814"/>
                  <a:pt x="96063" y="73819"/>
                  <a:pt x="76349" y="73819"/>
                </a:cubicBezTo>
                <a:cubicBezTo>
                  <a:pt x="56635" y="73819"/>
                  <a:pt x="40630" y="57814"/>
                  <a:pt x="40630" y="38100"/>
                </a:cubicBezTo>
                <a:cubicBezTo>
                  <a:pt x="40630" y="18386"/>
                  <a:pt x="56635" y="2381"/>
                  <a:pt x="76349" y="2381"/>
                </a:cubicBezTo>
                <a:close/>
                <a:moveTo>
                  <a:pt x="67479" y="90488"/>
                </a:moveTo>
                <a:lnTo>
                  <a:pt x="85159" y="90488"/>
                </a:lnTo>
                <a:lnTo>
                  <a:pt x="85606" y="90488"/>
                </a:lnTo>
                <a:cubicBezTo>
                  <a:pt x="81766" y="98465"/>
                  <a:pt x="83284" y="107811"/>
                  <a:pt x="89029" y="114151"/>
                </a:cubicBezTo>
                <a:cubicBezTo>
                  <a:pt x="83016" y="120789"/>
                  <a:pt x="81647" y="130760"/>
                  <a:pt x="86231" y="138976"/>
                </a:cubicBezTo>
                <a:lnTo>
                  <a:pt x="92928" y="151001"/>
                </a:lnTo>
                <a:cubicBezTo>
                  <a:pt x="93196" y="151477"/>
                  <a:pt x="93494" y="151954"/>
                  <a:pt x="93791" y="152400"/>
                </a:cubicBezTo>
                <a:lnTo>
                  <a:pt x="23247" y="152400"/>
                </a:lnTo>
                <a:cubicBezTo>
                  <a:pt x="18365" y="152400"/>
                  <a:pt x="14407" y="148441"/>
                  <a:pt x="14407" y="143560"/>
                </a:cubicBezTo>
                <a:cubicBezTo>
                  <a:pt x="14407" y="114240"/>
                  <a:pt x="38160" y="90487"/>
                  <a:pt x="67479" y="90487"/>
                </a:cubicBezTo>
                <a:close/>
                <a:moveTo>
                  <a:pt x="128766" y="73700"/>
                </a:moveTo>
                <a:cubicBezTo>
                  <a:pt x="128766" y="69741"/>
                  <a:pt x="131951" y="66556"/>
                  <a:pt x="135910" y="66556"/>
                </a:cubicBezTo>
                <a:lnTo>
                  <a:pt x="150197" y="66556"/>
                </a:lnTo>
                <a:cubicBezTo>
                  <a:pt x="154156" y="66556"/>
                  <a:pt x="157341" y="69741"/>
                  <a:pt x="157341" y="73700"/>
                </a:cubicBezTo>
                <a:lnTo>
                  <a:pt x="157341" y="75515"/>
                </a:lnTo>
                <a:cubicBezTo>
                  <a:pt x="157341" y="81141"/>
                  <a:pt x="164515" y="85279"/>
                  <a:pt x="169396" y="82481"/>
                </a:cubicBezTo>
                <a:lnTo>
                  <a:pt x="170884" y="81617"/>
                </a:lnTo>
                <a:cubicBezTo>
                  <a:pt x="174337" y="79623"/>
                  <a:pt x="178772" y="80843"/>
                  <a:pt x="180707" y="84326"/>
                </a:cubicBezTo>
                <a:lnTo>
                  <a:pt x="187375" y="96292"/>
                </a:lnTo>
                <a:cubicBezTo>
                  <a:pt x="189220" y="99626"/>
                  <a:pt x="188149" y="103793"/>
                  <a:pt x="184934" y="105817"/>
                </a:cubicBezTo>
                <a:lnTo>
                  <a:pt x="183535" y="106680"/>
                </a:lnTo>
                <a:cubicBezTo>
                  <a:pt x="178713" y="109686"/>
                  <a:pt x="178713" y="118556"/>
                  <a:pt x="183535" y="121593"/>
                </a:cubicBezTo>
                <a:lnTo>
                  <a:pt x="184904" y="122456"/>
                </a:lnTo>
                <a:cubicBezTo>
                  <a:pt x="188119" y="124480"/>
                  <a:pt x="189220" y="128647"/>
                  <a:pt x="187375" y="131981"/>
                </a:cubicBezTo>
                <a:lnTo>
                  <a:pt x="180677" y="144006"/>
                </a:lnTo>
                <a:cubicBezTo>
                  <a:pt x="178743" y="147489"/>
                  <a:pt x="174308" y="148739"/>
                  <a:pt x="170855" y="146715"/>
                </a:cubicBezTo>
                <a:lnTo>
                  <a:pt x="169396" y="145852"/>
                </a:lnTo>
                <a:cubicBezTo>
                  <a:pt x="164515" y="143024"/>
                  <a:pt x="157341" y="147191"/>
                  <a:pt x="157341" y="152817"/>
                </a:cubicBezTo>
                <a:lnTo>
                  <a:pt x="157341" y="154632"/>
                </a:lnTo>
                <a:cubicBezTo>
                  <a:pt x="157341" y="158591"/>
                  <a:pt x="154156" y="161776"/>
                  <a:pt x="150197" y="161776"/>
                </a:cubicBezTo>
                <a:lnTo>
                  <a:pt x="135910" y="161776"/>
                </a:lnTo>
                <a:cubicBezTo>
                  <a:pt x="131951" y="161776"/>
                  <a:pt x="128766" y="158591"/>
                  <a:pt x="128766" y="154632"/>
                </a:cubicBezTo>
                <a:lnTo>
                  <a:pt x="128766" y="152876"/>
                </a:lnTo>
                <a:cubicBezTo>
                  <a:pt x="128766" y="147221"/>
                  <a:pt x="121563" y="143054"/>
                  <a:pt x="116651" y="145881"/>
                </a:cubicBezTo>
                <a:lnTo>
                  <a:pt x="115223" y="146715"/>
                </a:lnTo>
                <a:cubicBezTo>
                  <a:pt x="111770" y="148709"/>
                  <a:pt x="107365" y="147489"/>
                  <a:pt x="105400" y="144006"/>
                </a:cubicBezTo>
                <a:lnTo>
                  <a:pt x="98673" y="131981"/>
                </a:lnTo>
                <a:cubicBezTo>
                  <a:pt x="96828" y="128647"/>
                  <a:pt x="97899" y="124450"/>
                  <a:pt x="101144" y="122426"/>
                </a:cubicBezTo>
                <a:lnTo>
                  <a:pt x="102453" y="121622"/>
                </a:lnTo>
                <a:cubicBezTo>
                  <a:pt x="107305" y="118616"/>
                  <a:pt x="107305" y="109686"/>
                  <a:pt x="102453" y="106680"/>
                </a:cubicBezTo>
                <a:lnTo>
                  <a:pt x="101114" y="105847"/>
                </a:lnTo>
                <a:cubicBezTo>
                  <a:pt x="97869" y="103823"/>
                  <a:pt x="96798" y="99626"/>
                  <a:pt x="98643" y="96292"/>
                </a:cubicBezTo>
                <a:lnTo>
                  <a:pt x="105341" y="84296"/>
                </a:lnTo>
                <a:cubicBezTo>
                  <a:pt x="107275" y="80814"/>
                  <a:pt x="111710" y="79593"/>
                  <a:pt x="115133" y="81588"/>
                </a:cubicBezTo>
                <a:lnTo>
                  <a:pt x="116562" y="82421"/>
                </a:lnTo>
                <a:cubicBezTo>
                  <a:pt x="121474" y="85249"/>
                  <a:pt x="128677" y="81082"/>
                  <a:pt x="128677" y="75426"/>
                </a:cubicBezTo>
                <a:lnTo>
                  <a:pt x="128677" y="73670"/>
                </a:lnTo>
                <a:close/>
                <a:moveTo>
                  <a:pt x="158502" y="114240"/>
                </a:moveTo>
                <a:cubicBezTo>
                  <a:pt x="158502" y="105698"/>
                  <a:pt x="151566" y="98762"/>
                  <a:pt x="143024" y="98762"/>
                </a:cubicBezTo>
                <a:cubicBezTo>
                  <a:pt x="134481" y="98762"/>
                  <a:pt x="127546" y="105698"/>
                  <a:pt x="127546" y="114240"/>
                </a:cubicBezTo>
                <a:cubicBezTo>
                  <a:pt x="127546" y="122783"/>
                  <a:pt x="134481" y="129719"/>
                  <a:pt x="143024" y="129719"/>
                </a:cubicBezTo>
                <a:cubicBezTo>
                  <a:pt x="151566" y="129719"/>
                  <a:pt x="158502" y="122783"/>
                  <a:pt x="158502" y="11424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90600" y="4164806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项目经理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52450" y="4641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800100" y="4602956"/>
            <a:ext cx="3086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立项启动会:7天内组织召开第一次项目分析会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52450" y="49458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9" name="Text 37"/>
          <p:cNvSpPr/>
          <p:nvPr/>
        </p:nvSpPr>
        <p:spPr>
          <a:xfrm>
            <a:off x="800100" y="49077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项目分析会:组织召开不同阶段的项目分析会(价值主张、招标策略等)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52450" y="54792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1" name="Text 39"/>
          <p:cNvSpPr/>
          <p:nvPr/>
        </p:nvSpPr>
        <p:spPr>
          <a:xfrm>
            <a:off x="800100" y="5441156"/>
            <a:ext cx="3552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赢丢单复盘:关闭商机2周内开展赢丢单复盘经验总结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2450" y="5784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3" name="Text 41"/>
          <p:cNvSpPr/>
          <p:nvPr/>
        </p:nvSpPr>
        <p:spPr>
          <a:xfrm>
            <a:off x="800100" y="57459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CRM留痕:在CRM各模块留痕并完成飞书项目文档填写上传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667250" y="3936206"/>
            <a:ext cx="4171950" cy="2867025"/>
          </a:xfrm>
          <a:custGeom>
            <a:avLst/>
            <a:gdLst/>
            <a:ahLst/>
            <a:cxnLst/>
            <a:rect l="l" t="t" r="r" b="b"/>
            <a:pathLst>
              <a:path w="4171950" h="2867025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2752717"/>
                </a:lnTo>
                <a:cubicBezTo>
                  <a:pt x="4171950" y="2815847"/>
                  <a:pt x="4120772" y="2867025"/>
                  <a:pt x="4057642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667250" y="3936206"/>
            <a:ext cx="4171950" cy="38100"/>
          </a:xfrm>
          <a:custGeom>
            <a:avLst/>
            <a:gdLst/>
            <a:ahLst/>
            <a:cxnLst/>
            <a:rect l="l" t="t" r="r" b="b"/>
            <a:pathLst>
              <a:path w="4171950" h="38100">
                <a:moveTo>
                  <a:pt x="38100" y="0"/>
                </a:moveTo>
                <a:lnTo>
                  <a:pt x="4133850" y="0"/>
                </a:lnTo>
                <a:cubicBezTo>
                  <a:pt x="4154878" y="0"/>
                  <a:pt x="4171950" y="17072"/>
                  <a:pt x="4171950" y="38100"/>
                </a:cubicBezTo>
                <a:lnTo>
                  <a:pt x="41719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6" name="Shape 44"/>
          <p:cNvSpPr/>
          <p:nvPr/>
        </p:nvSpPr>
        <p:spPr>
          <a:xfrm>
            <a:off x="4819650" y="410765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7" name="Shape 45"/>
          <p:cNvSpPr/>
          <p:nvPr/>
        </p:nvSpPr>
        <p:spPr>
          <a:xfrm>
            <a:off x="4943475" y="4221956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1824" y="-3870"/>
                </a:moveTo>
                <a:cubicBezTo>
                  <a:pt x="68431" y="-4554"/>
                  <a:pt x="64949" y="-4554"/>
                  <a:pt x="61555" y="-3870"/>
                </a:cubicBezTo>
                <a:lnTo>
                  <a:pt x="5745" y="7293"/>
                </a:lnTo>
                <a:cubicBezTo>
                  <a:pt x="2411" y="7947"/>
                  <a:pt x="0" y="10894"/>
                  <a:pt x="0" y="14288"/>
                </a:cubicBezTo>
                <a:cubicBezTo>
                  <a:pt x="0" y="17353"/>
                  <a:pt x="1935" y="20032"/>
                  <a:pt x="4763" y="21015"/>
                </a:cubicBezTo>
                <a:lnTo>
                  <a:pt x="4763" y="42863"/>
                </a:lnTo>
                <a:lnTo>
                  <a:pt x="89" y="66258"/>
                </a:lnTo>
                <a:cubicBezTo>
                  <a:pt x="30" y="66526"/>
                  <a:pt x="0" y="66824"/>
                  <a:pt x="0" y="67121"/>
                </a:cubicBezTo>
                <a:cubicBezTo>
                  <a:pt x="0" y="69503"/>
                  <a:pt x="1935" y="71467"/>
                  <a:pt x="4346" y="71467"/>
                </a:cubicBezTo>
                <a:lnTo>
                  <a:pt x="14734" y="71467"/>
                </a:lnTo>
                <a:cubicBezTo>
                  <a:pt x="17115" y="71467"/>
                  <a:pt x="19080" y="69533"/>
                  <a:pt x="19080" y="67121"/>
                </a:cubicBezTo>
                <a:cubicBezTo>
                  <a:pt x="19080" y="66824"/>
                  <a:pt x="19050" y="66556"/>
                  <a:pt x="18990" y="66258"/>
                </a:cubicBezTo>
                <a:lnTo>
                  <a:pt x="14288" y="42863"/>
                </a:lnTo>
                <a:lnTo>
                  <a:pt x="14288" y="23009"/>
                </a:lnTo>
                <a:lnTo>
                  <a:pt x="28575" y="25866"/>
                </a:lnTo>
                <a:lnTo>
                  <a:pt x="28575" y="42863"/>
                </a:lnTo>
                <a:cubicBezTo>
                  <a:pt x="28575" y="63907"/>
                  <a:pt x="45631" y="80962"/>
                  <a:pt x="66675" y="80962"/>
                </a:cubicBezTo>
                <a:cubicBezTo>
                  <a:pt x="87719" y="80962"/>
                  <a:pt x="104775" y="63907"/>
                  <a:pt x="104775" y="42863"/>
                </a:cubicBezTo>
                <a:lnTo>
                  <a:pt x="104775" y="25866"/>
                </a:lnTo>
                <a:lnTo>
                  <a:pt x="127605" y="21312"/>
                </a:lnTo>
                <a:cubicBezTo>
                  <a:pt x="130939" y="20628"/>
                  <a:pt x="133350" y="17681"/>
                  <a:pt x="133350" y="14288"/>
                </a:cubicBezTo>
                <a:cubicBezTo>
                  <a:pt x="133350" y="10894"/>
                  <a:pt x="130939" y="7947"/>
                  <a:pt x="127605" y="7293"/>
                </a:cubicBezTo>
                <a:lnTo>
                  <a:pt x="71824" y="-3870"/>
                </a:lnTo>
                <a:close/>
                <a:moveTo>
                  <a:pt x="66675" y="66675"/>
                </a:moveTo>
                <a:cubicBezTo>
                  <a:pt x="53519" y="66675"/>
                  <a:pt x="42863" y="56019"/>
                  <a:pt x="42863" y="42863"/>
                </a:cubicBezTo>
                <a:lnTo>
                  <a:pt x="90488" y="42863"/>
                </a:lnTo>
                <a:cubicBezTo>
                  <a:pt x="90488" y="56019"/>
                  <a:pt x="79831" y="66675"/>
                  <a:pt x="66675" y="66675"/>
                </a:cubicBezTo>
                <a:close/>
                <a:moveTo>
                  <a:pt x="35749" y="95280"/>
                </a:moveTo>
                <a:cubicBezTo>
                  <a:pt x="17472" y="103674"/>
                  <a:pt x="4763" y="122128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59531" y="152400"/>
                </a:lnTo>
                <a:lnTo>
                  <a:pt x="59531" y="108942"/>
                </a:lnTo>
                <a:lnTo>
                  <a:pt x="42446" y="96143"/>
                </a:lnTo>
                <a:cubicBezTo>
                  <a:pt x="40511" y="94684"/>
                  <a:pt x="37921" y="94298"/>
                  <a:pt x="35719" y="95310"/>
                </a:cubicBezTo>
                <a:close/>
                <a:moveTo>
                  <a:pt x="73819" y="152400"/>
                </a:move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22128"/>
                  <a:pt x="115878" y="103674"/>
                  <a:pt x="97601" y="95310"/>
                </a:cubicBezTo>
                <a:cubicBezTo>
                  <a:pt x="95399" y="94298"/>
                  <a:pt x="92809" y="94684"/>
                  <a:pt x="90874" y="96143"/>
                </a:cubicBezTo>
                <a:lnTo>
                  <a:pt x="73789" y="108942"/>
                </a:lnTo>
                <a:lnTo>
                  <a:pt x="73789" y="1524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5276850" y="4164806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技术把关负责人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38700" y="46410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0" name="Text 48"/>
          <p:cNvSpPr/>
          <p:nvPr/>
        </p:nvSpPr>
        <p:spPr>
          <a:xfrm>
            <a:off x="5086350" y="46029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解决方案评审:明确价值主张或建议项目铁三角明确需求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838700" y="51744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2" name="Text 50"/>
          <p:cNvSpPr/>
          <p:nvPr/>
        </p:nvSpPr>
        <p:spPr>
          <a:xfrm>
            <a:off x="5086350" y="51363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标前分析会:给出技术方案审核、价格策略、投标策略建议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838700" y="57078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5086350" y="5669756"/>
            <a:ext cx="350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夯实价值:夯实在客户端构建方案价值认可,愿景重构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838700" y="60126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6" name="Text 54"/>
          <p:cNvSpPr/>
          <p:nvPr/>
        </p:nvSpPr>
        <p:spPr>
          <a:xfrm>
            <a:off x="5086350" y="5974556"/>
            <a:ext cx="3676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策略建议:项目铁三角根据技术负责人输入进行修订完善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10650" y="1371600"/>
            <a:ext cx="2800350" cy="1943100"/>
          </a:xfrm>
          <a:custGeom>
            <a:avLst/>
            <a:gdLst/>
            <a:ahLst/>
            <a:cxnLst/>
            <a:rect l="l" t="t" r="r" b="b"/>
            <a:pathLst>
              <a:path w="2800350" h="1943100">
                <a:moveTo>
                  <a:pt x="38100" y="0"/>
                </a:moveTo>
                <a:lnTo>
                  <a:pt x="2686057" y="0"/>
                </a:lnTo>
                <a:cubicBezTo>
                  <a:pt x="2749137" y="0"/>
                  <a:pt x="2800350" y="51213"/>
                  <a:pt x="2800350" y="114293"/>
                </a:cubicBezTo>
                <a:lnTo>
                  <a:pt x="2800350" y="1828807"/>
                </a:lnTo>
                <a:cubicBezTo>
                  <a:pt x="2800350" y="1891887"/>
                  <a:pt x="2749137" y="1943100"/>
                  <a:pt x="2686057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010650" y="13716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59" name="Shape 57"/>
          <p:cNvSpPr/>
          <p:nvPr/>
        </p:nvSpPr>
        <p:spPr>
          <a:xfrm>
            <a:off x="9182100" y="152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0" name="Shape 58"/>
          <p:cNvSpPr/>
          <p:nvPr/>
        </p:nvSpPr>
        <p:spPr>
          <a:xfrm>
            <a:off x="9277350" y="16383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9639300" y="158115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201150" y="2057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3" name="Text 61"/>
          <p:cNvSpPr/>
          <p:nvPr/>
        </p:nvSpPr>
        <p:spPr>
          <a:xfrm>
            <a:off x="9448800" y="20193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周例会看板准备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201150" y="236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5" name="Text 63"/>
          <p:cNvSpPr/>
          <p:nvPr/>
        </p:nvSpPr>
        <p:spPr>
          <a:xfrm>
            <a:off x="9448800" y="23241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数据追踪监控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201150" y="2667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7" name="Text 65"/>
          <p:cNvSpPr/>
          <p:nvPr/>
        </p:nvSpPr>
        <p:spPr>
          <a:xfrm>
            <a:off x="9448800" y="2628900"/>
            <a:ext cx="99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任务提醒跟催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201150" y="2971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69" name="Text 67"/>
          <p:cNvSpPr/>
          <p:nvPr/>
        </p:nvSpPr>
        <p:spPr>
          <a:xfrm>
            <a:off x="9448800" y="2933700"/>
            <a:ext cx="1019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CRM系统留痕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991600" y="3429000"/>
            <a:ext cx="2819400" cy="3381375"/>
          </a:xfrm>
          <a:custGeom>
            <a:avLst/>
            <a:gdLst/>
            <a:ahLst/>
            <a:cxnLst/>
            <a:rect l="l" t="t" r="r" b="b"/>
            <a:pathLst>
              <a:path w="2819400" h="3381375">
                <a:moveTo>
                  <a:pt x="114298" y="0"/>
                </a:moveTo>
                <a:lnTo>
                  <a:pt x="2705102" y="0"/>
                </a:lnTo>
                <a:cubicBezTo>
                  <a:pt x="2768227" y="0"/>
                  <a:pt x="2819400" y="51173"/>
                  <a:pt x="2819400" y="114298"/>
                </a:cubicBezTo>
                <a:lnTo>
                  <a:pt x="2819400" y="3267077"/>
                </a:lnTo>
                <a:cubicBezTo>
                  <a:pt x="2819400" y="3330202"/>
                  <a:pt x="2768227" y="3381375"/>
                  <a:pt x="2705102" y="3381375"/>
                </a:cubicBezTo>
                <a:lnTo>
                  <a:pt x="114298" y="3381375"/>
                </a:lnTo>
                <a:cubicBezTo>
                  <a:pt x="51173" y="3381375"/>
                  <a:pt x="0" y="3330202"/>
                  <a:pt x="0" y="3267077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9155906" y="36195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0050" y="31700"/>
                </a:moveTo>
                <a:lnTo>
                  <a:pt x="56666" y="79921"/>
                </a:lnTo>
                <a:cubicBezTo>
                  <a:pt x="54955" y="81818"/>
                  <a:pt x="55029" y="84758"/>
                  <a:pt x="56852" y="86581"/>
                </a:cubicBezTo>
                <a:cubicBezTo>
                  <a:pt x="68200" y="97929"/>
                  <a:pt x="86618" y="97929"/>
                  <a:pt x="97966" y="86581"/>
                </a:cubicBezTo>
                <a:lnTo>
                  <a:pt x="109798" y="74749"/>
                </a:lnTo>
                <a:cubicBezTo>
                  <a:pt x="111361" y="73186"/>
                  <a:pt x="113333" y="72330"/>
                  <a:pt x="115342" y="72182"/>
                </a:cubicBezTo>
                <a:cubicBezTo>
                  <a:pt x="117872" y="71958"/>
                  <a:pt x="120476" y="72814"/>
                  <a:pt x="122411" y="74749"/>
                </a:cubicBezTo>
                <a:lnTo>
                  <a:pt x="188119" y="139898"/>
                </a:lnTo>
                <a:lnTo>
                  <a:pt x="214313" y="119063"/>
                </a:lnTo>
                <a:lnTo>
                  <a:pt x="214313" y="11906"/>
                </a:lnTo>
                <a:lnTo>
                  <a:pt x="172641" y="35719"/>
                </a:lnTo>
                <a:lnTo>
                  <a:pt x="163785" y="29803"/>
                </a:lnTo>
                <a:cubicBezTo>
                  <a:pt x="157907" y="25896"/>
                  <a:pt x="151023" y="23812"/>
                  <a:pt x="143954" y="23812"/>
                </a:cubicBezTo>
                <a:lnTo>
                  <a:pt x="117760" y="23812"/>
                </a:lnTo>
                <a:cubicBezTo>
                  <a:pt x="117351" y="23812"/>
                  <a:pt x="116904" y="23812"/>
                  <a:pt x="116495" y="23850"/>
                </a:cubicBezTo>
                <a:cubicBezTo>
                  <a:pt x="110207" y="24185"/>
                  <a:pt x="104291" y="27012"/>
                  <a:pt x="100050" y="31700"/>
                </a:cubicBezTo>
                <a:close/>
                <a:moveTo>
                  <a:pt x="43383" y="67977"/>
                </a:moveTo>
                <a:lnTo>
                  <a:pt x="83121" y="23812"/>
                </a:lnTo>
                <a:lnTo>
                  <a:pt x="68387" y="23812"/>
                </a:lnTo>
                <a:cubicBezTo>
                  <a:pt x="58899" y="23812"/>
                  <a:pt x="49820" y="27570"/>
                  <a:pt x="43123" y="34268"/>
                </a:cubicBezTo>
                <a:lnTo>
                  <a:pt x="41672" y="35719"/>
                </a:lnTo>
                <a:lnTo>
                  <a:pt x="0" y="11906"/>
                </a:lnTo>
                <a:lnTo>
                  <a:pt x="0" y="119063"/>
                </a:lnTo>
                <a:lnTo>
                  <a:pt x="58192" y="167543"/>
                </a:lnTo>
                <a:cubicBezTo>
                  <a:pt x="66749" y="174687"/>
                  <a:pt x="77539" y="178594"/>
                  <a:pt x="88664" y="178594"/>
                </a:cubicBezTo>
                <a:lnTo>
                  <a:pt x="94506" y="178594"/>
                </a:lnTo>
                <a:lnTo>
                  <a:pt x="91901" y="175989"/>
                </a:lnTo>
                <a:cubicBezTo>
                  <a:pt x="88404" y="172492"/>
                  <a:pt x="88404" y="166836"/>
                  <a:pt x="91901" y="163376"/>
                </a:cubicBezTo>
                <a:cubicBezTo>
                  <a:pt x="95399" y="159916"/>
                  <a:pt x="101054" y="159879"/>
                  <a:pt x="104515" y="163376"/>
                </a:cubicBezTo>
                <a:lnTo>
                  <a:pt x="119769" y="178631"/>
                </a:lnTo>
                <a:lnTo>
                  <a:pt x="123118" y="178631"/>
                </a:lnTo>
                <a:cubicBezTo>
                  <a:pt x="130225" y="178631"/>
                  <a:pt x="137182" y="177031"/>
                  <a:pt x="143508" y="174054"/>
                </a:cubicBezTo>
                <a:lnTo>
                  <a:pt x="133573" y="164083"/>
                </a:lnTo>
                <a:cubicBezTo>
                  <a:pt x="130076" y="160586"/>
                  <a:pt x="130076" y="154930"/>
                  <a:pt x="133573" y="151470"/>
                </a:cubicBezTo>
                <a:cubicBezTo>
                  <a:pt x="137071" y="148010"/>
                  <a:pt x="142726" y="147972"/>
                  <a:pt x="146186" y="151470"/>
                </a:cubicBezTo>
                <a:lnTo>
                  <a:pt x="158093" y="163376"/>
                </a:lnTo>
                <a:lnTo>
                  <a:pt x="164604" y="156865"/>
                </a:lnTo>
                <a:cubicBezTo>
                  <a:pt x="167915" y="153553"/>
                  <a:pt x="168883" y="148754"/>
                  <a:pt x="167432" y="144549"/>
                </a:cubicBezTo>
                <a:lnTo>
                  <a:pt x="116123" y="93650"/>
                </a:lnTo>
                <a:lnTo>
                  <a:pt x="110579" y="99194"/>
                </a:lnTo>
                <a:cubicBezTo>
                  <a:pt x="92236" y="117537"/>
                  <a:pt x="62545" y="117537"/>
                  <a:pt x="44202" y="99194"/>
                </a:cubicBezTo>
                <a:cubicBezTo>
                  <a:pt x="35644" y="90636"/>
                  <a:pt x="35309" y="76907"/>
                  <a:pt x="43383" y="6794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2" name="Text 70"/>
          <p:cNvSpPr/>
          <p:nvPr/>
        </p:nvSpPr>
        <p:spPr>
          <a:xfrm>
            <a:off x="9382125" y="35814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协作机制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144000" y="3962400"/>
            <a:ext cx="2514600" cy="723900"/>
          </a:xfrm>
          <a:custGeom>
            <a:avLst/>
            <a:gdLst/>
            <a:ahLst/>
            <a:cxnLst/>
            <a:rect l="l" t="t" r="r" b="b"/>
            <a:pathLst>
              <a:path w="2514600" h="723900">
                <a:moveTo>
                  <a:pt x="76198" y="0"/>
                </a:moveTo>
                <a:lnTo>
                  <a:pt x="2438402" y="0"/>
                </a:lnTo>
                <a:cubicBezTo>
                  <a:pt x="2480457" y="0"/>
                  <a:pt x="2514600" y="34143"/>
                  <a:pt x="2514600" y="76198"/>
                </a:cubicBezTo>
                <a:lnTo>
                  <a:pt x="2514600" y="647702"/>
                </a:lnTo>
                <a:cubicBezTo>
                  <a:pt x="2514600" y="689757"/>
                  <a:pt x="2480457" y="723900"/>
                  <a:pt x="2438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258300" y="4114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Text 73"/>
          <p:cNvSpPr/>
          <p:nvPr/>
        </p:nvSpPr>
        <p:spPr>
          <a:xfrm>
            <a:off x="9448800" y="40767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区域铁三角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9258300" y="43815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 + 行业经理 + 项目铁三角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144000" y="4800600"/>
            <a:ext cx="2514600" cy="723900"/>
          </a:xfrm>
          <a:custGeom>
            <a:avLst/>
            <a:gdLst/>
            <a:ahLst/>
            <a:cxnLst/>
            <a:rect l="l" t="t" r="r" b="b"/>
            <a:pathLst>
              <a:path w="2514600" h="723900">
                <a:moveTo>
                  <a:pt x="76198" y="0"/>
                </a:moveTo>
                <a:lnTo>
                  <a:pt x="2438402" y="0"/>
                </a:lnTo>
                <a:cubicBezTo>
                  <a:pt x="2480457" y="0"/>
                  <a:pt x="2514600" y="34143"/>
                  <a:pt x="2514600" y="76198"/>
                </a:cubicBezTo>
                <a:lnTo>
                  <a:pt x="2514600" y="647702"/>
                </a:lnTo>
                <a:cubicBezTo>
                  <a:pt x="2514600" y="689757"/>
                  <a:pt x="2480457" y="723900"/>
                  <a:pt x="243840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9277350" y="4953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9" name="Text 77"/>
          <p:cNvSpPr/>
          <p:nvPr/>
        </p:nvSpPr>
        <p:spPr>
          <a:xfrm>
            <a:off x="9448800" y="49149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项目铁三角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258300" y="52197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 + 技术 + 客户关系负责人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9144000" y="5638800"/>
            <a:ext cx="2514600" cy="1019175"/>
          </a:xfrm>
          <a:custGeom>
            <a:avLst/>
            <a:gdLst/>
            <a:ahLst/>
            <a:cxnLst/>
            <a:rect l="l" t="t" r="r" b="b"/>
            <a:pathLst>
              <a:path w="2514600" h="1019175">
                <a:moveTo>
                  <a:pt x="76204" y="0"/>
                </a:moveTo>
                <a:lnTo>
                  <a:pt x="2438396" y="0"/>
                </a:lnTo>
                <a:cubicBezTo>
                  <a:pt x="2480482" y="0"/>
                  <a:pt x="2514600" y="34118"/>
                  <a:pt x="2514600" y="76204"/>
                </a:cubicBezTo>
                <a:lnTo>
                  <a:pt x="2514600" y="942971"/>
                </a:lnTo>
                <a:cubicBezTo>
                  <a:pt x="2514600" y="985057"/>
                  <a:pt x="2480482" y="1019175"/>
                  <a:pt x="2438396" y="1019175"/>
                </a:cubicBezTo>
                <a:lnTo>
                  <a:pt x="76204" y="1019175"/>
                </a:lnTo>
                <a:cubicBezTo>
                  <a:pt x="34118" y="1019175"/>
                  <a:pt x="0" y="985057"/>
                  <a:pt x="0" y="9429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2" name="Text 80"/>
          <p:cNvSpPr/>
          <p:nvPr/>
        </p:nvSpPr>
        <p:spPr>
          <a:xfrm>
            <a:off x="9258300" y="5753100"/>
            <a:ext cx="2352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协同目标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9258300" y="5981700"/>
            <a:ext cx="234315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通过明确的角色分工和协作机制,确保MO流程各关键节点高效执行,提升商机转化质量和效率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WEEKLY MEETING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区域周例会落地机制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10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Shape 5"/>
          <p:cNvSpPr/>
          <p:nvPr/>
        </p:nvSpPr>
        <p:spPr>
          <a:xfrm>
            <a:off x="533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Shape 6"/>
          <p:cNvSpPr/>
          <p:nvPr/>
        </p:nvSpPr>
        <p:spPr>
          <a:xfrm>
            <a:off x="690563" y="16954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16573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会前准备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1975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723900" y="21336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销售准备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4384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整理名下商机数据,分类梳理,搞清楚所处阶段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0861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82285" y="39499"/>
                </a:moveTo>
                <a:lnTo>
                  <a:pt x="158472" y="77599"/>
                </a:lnTo>
                <a:cubicBezTo>
                  <a:pt x="157222" y="79593"/>
                  <a:pt x="155079" y="80843"/>
                  <a:pt x="152727" y="80962"/>
                </a:cubicBezTo>
                <a:cubicBezTo>
                  <a:pt x="150376" y="81082"/>
                  <a:pt x="148114" y="80010"/>
                  <a:pt x="146715" y="78105"/>
                </a:cubicBezTo>
                <a:lnTo>
                  <a:pt x="132427" y="59055"/>
                </a:lnTo>
                <a:cubicBezTo>
                  <a:pt x="130046" y="55900"/>
                  <a:pt x="130701" y="51435"/>
                  <a:pt x="133856" y="49054"/>
                </a:cubicBezTo>
                <a:cubicBezTo>
                  <a:pt x="137011" y="46673"/>
                  <a:pt x="141476" y="47327"/>
                  <a:pt x="143857" y="50483"/>
                </a:cubicBezTo>
                <a:lnTo>
                  <a:pt x="151894" y="61198"/>
                </a:lnTo>
                <a:lnTo>
                  <a:pt x="170170" y="31939"/>
                </a:lnTo>
                <a:cubicBezTo>
                  <a:pt x="172254" y="28605"/>
                  <a:pt x="176659" y="27563"/>
                  <a:pt x="180023" y="29676"/>
                </a:cubicBezTo>
                <a:cubicBezTo>
                  <a:pt x="183386" y="31790"/>
                  <a:pt x="184398" y="36165"/>
                  <a:pt x="182285" y="39529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4" name="Text 12"/>
          <p:cNvSpPr/>
          <p:nvPr/>
        </p:nvSpPr>
        <p:spPr>
          <a:xfrm>
            <a:off x="723900" y="30480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销管BP准备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3400" y="33528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准备上周异常数据、本周需提醒执行的数据,发会议通知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2925" y="4000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88463" y="152400"/>
                </a:lnTo>
                <a:cubicBezTo>
                  <a:pt x="77688" y="139720"/>
                  <a:pt x="71438" y="123379"/>
                  <a:pt x="71438" y="106085"/>
                </a:cubicBezTo>
                <a:lnTo>
                  <a:pt x="71438" y="96828"/>
                </a:lnTo>
                <a:cubicBezTo>
                  <a:pt x="71438" y="94655"/>
                  <a:pt x="71735" y="92512"/>
                  <a:pt x="72301" y="90487"/>
                </a:cubicBezTo>
                <a:lnTo>
                  <a:pt x="57835" y="90487"/>
                </a:lnTo>
                <a:close/>
                <a:moveTo>
                  <a:pt x="132546" y="145405"/>
                </a:moveTo>
                <a:lnTo>
                  <a:pt x="128588" y="147280"/>
                </a:lnTo>
                <a:lnTo>
                  <a:pt x="128588" y="91291"/>
                </a:lnTo>
                <a:lnTo>
                  <a:pt x="157163" y="100816"/>
                </a:lnTo>
                <a:lnTo>
                  <a:pt x="157163" y="106650"/>
                </a:lnTo>
                <a:cubicBezTo>
                  <a:pt x="157163" y="123259"/>
                  <a:pt x="147578" y="138351"/>
                  <a:pt x="132546" y="145435"/>
                </a:cubicBezTo>
                <a:close/>
                <a:moveTo>
                  <a:pt x="125581" y="77242"/>
                </a:moveTo>
                <a:lnTo>
                  <a:pt x="92244" y="88344"/>
                </a:lnTo>
                <a:cubicBezTo>
                  <a:pt x="88344" y="89654"/>
                  <a:pt x="85725" y="93285"/>
                  <a:pt x="85725" y="97393"/>
                </a:cubicBezTo>
                <a:lnTo>
                  <a:pt x="85725" y="106650"/>
                </a:lnTo>
                <a:cubicBezTo>
                  <a:pt x="85725" y="128796"/>
                  <a:pt x="98524" y="148947"/>
                  <a:pt x="118527" y="158353"/>
                </a:cubicBezTo>
                <a:lnTo>
                  <a:pt x="124033" y="160943"/>
                </a:lnTo>
                <a:cubicBezTo>
                  <a:pt x="125462" y="161598"/>
                  <a:pt x="127010" y="161955"/>
                  <a:pt x="128558" y="161955"/>
                </a:cubicBezTo>
                <a:cubicBezTo>
                  <a:pt x="130106" y="161955"/>
                  <a:pt x="131683" y="161598"/>
                  <a:pt x="133082" y="160943"/>
                </a:cubicBezTo>
                <a:lnTo>
                  <a:pt x="138589" y="158353"/>
                </a:lnTo>
                <a:cubicBezTo>
                  <a:pt x="158651" y="148917"/>
                  <a:pt x="171450" y="128766"/>
                  <a:pt x="171450" y="106620"/>
                </a:cubicBezTo>
                <a:lnTo>
                  <a:pt x="171450" y="97363"/>
                </a:lnTo>
                <a:cubicBezTo>
                  <a:pt x="171450" y="93256"/>
                  <a:pt x="168831" y="89624"/>
                  <a:pt x="164931" y="88315"/>
                </a:cubicBezTo>
                <a:lnTo>
                  <a:pt x="131594" y="77212"/>
                </a:lnTo>
                <a:cubicBezTo>
                  <a:pt x="129629" y="76557"/>
                  <a:pt x="127516" y="76557"/>
                  <a:pt x="125581" y="7721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7" name="Text 15"/>
          <p:cNvSpPr/>
          <p:nvPr/>
        </p:nvSpPr>
        <p:spPr>
          <a:xfrm>
            <a:off x="723900" y="39624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区域经理准备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3400" y="42672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明确需重点讨论的异常项目及需提醒执行关键流程活动的项目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85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385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1" name="Shape 19"/>
          <p:cNvSpPr/>
          <p:nvPr/>
        </p:nvSpPr>
        <p:spPr>
          <a:xfrm>
            <a:off x="3390900" y="160008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2" name="Shape 20"/>
          <p:cNvSpPr/>
          <p:nvPr/>
        </p:nvSpPr>
        <p:spPr>
          <a:xfrm>
            <a:off x="3500438" y="1733434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924300" y="1562100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会中要求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924300" y="1866900"/>
            <a:ext cx="542925" cy="228600"/>
          </a:xfrm>
          <a:custGeom>
            <a:avLst/>
            <a:gdLst/>
            <a:ahLst/>
            <a:cxnLst/>
            <a:rect l="l" t="t" r="r" b="b"/>
            <a:pathLst>
              <a:path w="542925" h="228600">
                <a:moveTo>
                  <a:pt x="38101" y="0"/>
                </a:moveTo>
                <a:lnTo>
                  <a:pt x="504824" y="0"/>
                </a:lnTo>
                <a:cubicBezTo>
                  <a:pt x="525867" y="0"/>
                  <a:pt x="542925" y="17058"/>
                  <a:pt x="542925" y="38101"/>
                </a:cubicBezTo>
                <a:lnTo>
                  <a:pt x="542925" y="190499"/>
                </a:lnTo>
                <a:cubicBezTo>
                  <a:pt x="542925" y="211542"/>
                  <a:pt x="525867" y="228600"/>
                  <a:pt x="5048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3924300" y="1866900"/>
            <a:ext cx="6000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每周1次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40806" y="1866900"/>
            <a:ext cx="609600" cy="228600"/>
          </a:xfrm>
          <a:custGeom>
            <a:avLst/>
            <a:gdLst/>
            <a:ahLst/>
            <a:cxnLst/>
            <a:rect l="l" t="t" r="r" b="b"/>
            <a:pathLst>
              <a:path w="609600" h="228600">
                <a:moveTo>
                  <a:pt x="38101" y="0"/>
                </a:moveTo>
                <a:lnTo>
                  <a:pt x="571499" y="0"/>
                </a:lnTo>
                <a:cubicBezTo>
                  <a:pt x="592542" y="0"/>
                  <a:pt x="609600" y="17058"/>
                  <a:pt x="609600" y="38101"/>
                </a:cubicBezTo>
                <a:lnTo>
                  <a:pt x="609600" y="190499"/>
                </a:lnTo>
                <a:cubicBezTo>
                  <a:pt x="609600" y="211542"/>
                  <a:pt x="592542" y="228600"/>
                  <a:pt x="5714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4540806" y="1866900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固定时间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400425" y="2247784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3581400" y="220968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反馈与跟进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390900" y="2514484"/>
            <a:ext cx="25146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商机所有人反馈项目情况、异常活动执行情况及下一步计划,销管BP实时记录更新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90900" y="3409834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38100" y="9525"/>
                </a:moveTo>
                <a:cubicBezTo>
                  <a:pt x="27593" y="9525"/>
                  <a:pt x="19050" y="18068"/>
                  <a:pt x="19050" y="28575"/>
                </a:cubicBezTo>
                <a:lnTo>
                  <a:pt x="19050" y="100013"/>
                </a:lnTo>
                <a:lnTo>
                  <a:pt x="38100" y="100013"/>
                </a:lnTo>
                <a:lnTo>
                  <a:pt x="38100" y="28575"/>
                </a:lnTo>
                <a:lnTo>
                  <a:pt x="152400" y="28575"/>
                </a:lnTo>
                <a:lnTo>
                  <a:pt x="152400" y="100013"/>
                </a:lnTo>
                <a:lnTo>
                  <a:pt x="171450" y="100013"/>
                </a:lnTo>
                <a:lnTo>
                  <a:pt x="171450" y="28575"/>
                </a:lnTo>
                <a:cubicBezTo>
                  <a:pt x="171450" y="18068"/>
                  <a:pt x="162907" y="9525"/>
                  <a:pt x="152400" y="9525"/>
                </a:cubicBezTo>
                <a:lnTo>
                  <a:pt x="38100" y="9525"/>
                </a:lnTo>
                <a:close/>
                <a:moveTo>
                  <a:pt x="5715" y="114300"/>
                </a:moveTo>
                <a:cubicBezTo>
                  <a:pt x="2560" y="114300"/>
                  <a:pt x="0" y="116860"/>
                  <a:pt x="0" y="120015"/>
                </a:cubicBezTo>
                <a:cubicBezTo>
                  <a:pt x="0" y="132636"/>
                  <a:pt x="10239" y="142875"/>
                  <a:pt x="22860" y="142875"/>
                </a:cubicBezTo>
                <a:lnTo>
                  <a:pt x="167640" y="142875"/>
                </a:lnTo>
                <a:cubicBezTo>
                  <a:pt x="180261" y="142875"/>
                  <a:pt x="190500" y="132636"/>
                  <a:pt x="190500" y="120015"/>
                </a:cubicBezTo>
                <a:cubicBezTo>
                  <a:pt x="190500" y="116860"/>
                  <a:pt x="187940" y="114300"/>
                  <a:pt x="184785" y="114300"/>
                </a:cubicBezTo>
                <a:lnTo>
                  <a:pt x="5715" y="114300"/>
                </a:ln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3581400" y="3371734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系统操作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390900" y="3676534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根据会议要求在CRM及飞书中执行相应操作,确保流程闭环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096000" y="1390650"/>
            <a:ext cx="2743200" cy="4857750"/>
          </a:xfrm>
          <a:custGeom>
            <a:avLst/>
            <a:gdLst/>
            <a:ahLst/>
            <a:cxnLst/>
            <a:rect l="l" t="t" r="r" b="b"/>
            <a:pathLst>
              <a:path w="2743200" h="485775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4743441"/>
                </a:lnTo>
                <a:cubicBezTo>
                  <a:pt x="2743200" y="4806572"/>
                  <a:pt x="2692022" y="4857750"/>
                  <a:pt x="2628891" y="4857750"/>
                </a:cubicBezTo>
                <a:lnTo>
                  <a:pt x="114309" y="4857750"/>
                </a:lnTo>
                <a:cubicBezTo>
                  <a:pt x="51178" y="4857750"/>
                  <a:pt x="0" y="4806572"/>
                  <a:pt x="0" y="4743441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960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84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37" name="Shape 35"/>
          <p:cNvSpPr/>
          <p:nvPr/>
        </p:nvSpPr>
        <p:spPr>
          <a:xfrm>
            <a:off x="6381750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781800" y="1657350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会后执行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67450" y="2171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0" name="Text 38"/>
          <p:cNvSpPr/>
          <p:nvPr/>
        </p:nvSpPr>
        <p:spPr>
          <a:xfrm>
            <a:off x="6438900" y="21336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行动计划与任务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48400" y="24384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异常数据责任人认领行动,销管BP跟催提醒,明确截止时间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67450" y="308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A0988A"/>
          </a:solidFill>
          <a:ln/>
        </p:spPr>
      </p:sp>
      <p:sp>
        <p:nvSpPr>
          <p:cNvPr id="43" name="Text 41"/>
          <p:cNvSpPr/>
          <p:nvPr/>
        </p:nvSpPr>
        <p:spPr>
          <a:xfrm>
            <a:off x="6438900" y="30480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持续跟进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248400" y="3352800"/>
            <a:ext cx="2514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销管BP对进行中项目做任务提醒,活动责任人及时跟进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991600" y="1371600"/>
            <a:ext cx="2819400" cy="2057400"/>
          </a:xfrm>
          <a:custGeom>
            <a:avLst/>
            <a:gdLst/>
            <a:ahLst/>
            <a:cxnLst/>
            <a:rect l="l" t="t" r="r" b="b"/>
            <a:pathLst>
              <a:path w="2819400" h="2057400">
                <a:moveTo>
                  <a:pt x="114309" y="0"/>
                </a:moveTo>
                <a:lnTo>
                  <a:pt x="2705091" y="0"/>
                </a:lnTo>
                <a:cubicBezTo>
                  <a:pt x="2768222" y="0"/>
                  <a:pt x="2819400" y="51178"/>
                  <a:pt x="2819400" y="114309"/>
                </a:cubicBezTo>
                <a:lnTo>
                  <a:pt x="2819400" y="1943091"/>
                </a:lnTo>
                <a:cubicBezTo>
                  <a:pt x="2819400" y="2006222"/>
                  <a:pt x="2768222" y="2057400"/>
                  <a:pt x="2705091" y="2057400"/>
                </a:cubicBezTo>
                <a:lnTo>
                  <a:pt x="114309" y="2057400"/>
                </a:lnTo>
                <a:cubicBezTo>
                  <a:pt x="51178" y="2057400"/>
                  <a:pt x="0" y="2006222"/>
                  <a:pt x="0" y="19430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6" name="Shape 44"/>
          <p:cNvSpPr/>
          <p:nvPr/>
        </p:nvSpPr>
        <p:spPr>
          <a:xfrm>
            <a:off x="9179719" y="15621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47625" y="95250"/>
                </a:moveTo>
                <a:cubicBezTo>
                  <a:pt x="41039" y="95250"/>
                  <a:pt x="35719" y="100571"/>
                  <a:pt x="35719" y="107156"/>
                </a:cubicBezTo>
                <a:lnTo>
                  <a:pt x="35719" y="130969"/>
                </a:lnTo>
                <a:cubicBezTo>
                  <a:pt x="35719" y="137554"/>
                  <a:pt x="41039" y="142875"/>
                  <a:pt x="47625" y="142875"/>
                </a:cubicBezTo>
                <a:lnTo>
                  <a:pt x="119063" y="142875"/>
                </a:lnTo>
                <a:cubicBezTo>
                  <a:pt x="125648" y="142875"/>
                  <a:pt x="130969" y="137554"/>
                  <a:pt x="130969" y="130969"/>
                </a:cubicBezTo>
                <a:lnTo>
                  <a:pt x="130969" y="107156"/>
                </a:lnTo>
                <a:cubicBezTo>
                  <a:pt x="130969" y="100571"/>
                  <a:pt x="125648" y="95250"/>
                  <a:pt x="119063" y="95250"/>
                </a:cubicBezTo>
                <a:lnTo>
                  <a:pt x="47625" y="9525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Text 45"/>
          <p:cNvSpPr/>
          <p:nvPr/>
        </p:nvSpPr>
        <p:spPr>
          <a:xfrm>
            <a:off x="9382125" y="1524000"/>
            <a:ext cx="2371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召开频次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01125" y="1905000"/>
            <a:ext cx="28003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86850" y="25527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次/周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10663" y="2895484"/>
            <a:ext cx="2581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固定时间召开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确保全员参与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991600" y="3543184"/>
            <a:ext cx="2819400" cy="2705100"/>
          </a:xfrm>
          <a:custGeom>
            <a:avLst/>
            <a:gdLst/>
            <a:ahLst/>
            <a:cxnLst/>
            <a:rect l="l" t="t" r="r" b="b"/>
            <a:pathLst>
              <a:path w="2819400" h="2705100">
                <a:moveTo>
                  <a:pt x="114290" y="0"/>
                </a:moveTo>
                <a:lnTo>
                  <a:pt x="2705110" y="0"/>
                </a:lnTo>
                <a:cubicBezTo>
                  <a:pt x="2768230" y="0"/>
                  <a:pt x="2819400" y="51170"/>
                  <a:pt x="2819400" y="114290"/>
                </a:cubicBezTo>
                <a:lnTo>
                  <a:pt x="2819400" y="2590810"/>
                </a:lnTo>
                <a:cubicBezTo>
                  <a:pt x="2819400" y="2653930"/>
                  <a:pt x="2768230" y="2705100"/>
                  <a:pt x="2705110" y="2705100"/>
                </a:cubicBezTo>
                <a:lnTo>
                  <a:pt x="114290" y="2705100"/>
                </a:lnTo>
                <a:cubicBezTo>
                  <a:pt x="51170" y="2705100"/>
                  <a:pt x="0" y="2653930"/>
                  <a:pt x="0" y="259081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167813" y="387655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3" name="Text 51"/>
          <p:cNvSpPr/>
          <p:nvPr/>
        </p:nvSpPr>
        <p:spPr>
          <a:xfrm>
            <a:off x="9363075" y="3695584"/>
            <a:ext cx="238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周例会呈现的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四大数据看板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163050" y="43432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163050" y="43432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6" name="Shape 54"/>
          <p:cNvSpPr/>
          <p:nvPr/>
        </p:nvSpPr>
        <p:spPr>
          <a:xfrm>
            <a:off x="9258300" y="44194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7" name="Text 55"/>
          <p:cNvSpPr/>
          <p:nvPr/>
        </p:nvSpPr>
        <p:spPr>
          <a:xfrm>
            <a:off x="9229725" y="44194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63100" y="4438534"/>
            <a:ext cx="866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立项申请进展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9163050" y="48004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163050" y="48004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1" name="Shape 59"/>
          <p:cNvSpPr/>
          <p:nvPr/>
        </p:nvSpPr>
        <p:spPr>
          <a:xfrm>
            <a:off x="9258300" y="48766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2" name="Text 60"/>
          <p:cNvSpPr/>
          <p:nvPr/>
        </p:nvSpPr>
        <p:spPr>
          <a:xfrm>
            <a:off x="9229725" y="48766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563100" y="4895734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立项启动会进展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9163050" y="52576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163050" y="52576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6" name="Shape 64"/>
          <p:cNvSpPr/>
          <p:nvPr/>
        </p:nvSpPr>
        <p:spPr>
          <a:xfrm>
            <a:off x="9258300" y="53338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7" name="Text 65"/>
          <p:cNvSpPr/>
          <p:nvPr/>
        </p:nvSpPr>
        <p:spPr>
          <a:xfrm>
            <a:off x="9229725" y="53338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9563100" y="5352934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标前分析会进展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163050" y="5714884"/>
            <a:ext cx="2495550" cy="381000"/>
          </a:xfrm>
          <a:custGeom>
            <a:avLst/>
            <a:gdLst/>
            <a:ahLst/>
            <a:cxnLst/>
            <a:rect l="l" t="t" r="r" b="b"/>
            <a:pathLst>
              <a:path w="2495550" h="381000">
                <a:moveTo>
                  <a:pt x="38100" y="0"/>
                </a:moveTo>
                <a:lnTo>
                  <a:pt x="2419350" y="0"/>
                </a:lnTo>
                <a:cubicBezTo>
                  <a:pt x="2461406" y="0"/>
                  <a:pt x="2495550" y="34144"/>
                  <a:pt x="2495550" y="76200"/>
                </a:cubicBezTo>
                <a:lnTo>
                  <a:pt x="2495550" y="304800"/>
                </a:lnTo>
                <a:cubicBezTo>
                  <a:pt x="2495550" y="346856"/>
                  <a:pt x="2461406" y="381000"/>
                  <a:pt x="241935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163050" y="5714884"/>
            <a:ext cx="38100" cy="381000"/>
          </a:xfrm>
          <a:custGeom>
            <a:avLst/>
            <a:gdLst/>
            <a:ahLst/>
            <a:cxnLst/>
            <a:rect l="l" t="t" r="r" b="b"/>
            <a:pathLst>
              <a:path w="38100" h="381000">
                <a:moveTo>
                  <a:pt x="38100" y="0"/>
                </a:moveTo>
                <a:lnTo>
                  <a:pt x="38100" y="0"/>
                </a:lnTo>
                <a:lnTo>
                  <a:pt x="38100" y="381000"/>
                </a:ln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1" name="Shape 69"/>
          <p:cNvSpPr/>
          <p:nvPr/>
        </p:nvSpPr>
        <p:spPr>
          <a:xfrm>
            <a:off x="9258300" y="57910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72" name="Text 70"/>
          <p:cNvSpPr/>
          <p:nvPr/>
        </p:nvSpPr>
        <p:spPr>
          <a:xfrm>
            <a:off x="9229725" y="5791084"/>
            <a:ext cx="28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563100" y="5810134"/>
            <a:ext cx="1133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赢丢单复盘会进展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81000" y="6362584"/>
            <a:ext cx="11430000" cy="457200"/>
          </a:xfrm>
          <a:custGeom>
            <a:avLst/>
            <a:gdLst/>
            <a:ahLst/>
            <a:cxnLst/>
            <a:rect l="l" t="t" r="r" b="b"/>
            <a:pathLst>
              <a:path w="11430000" h="457200">
                <a:moveTo>
                  <a:pt x="114300" y="0"/>
                </a:moveTo>
                <a:lnTo>
                  <a:pt x="11315700" y="0"/>
                </a:lnTo>
                <a:cubicBezTo>
                  <a:pt x="11378784" y="0"/>
                  <a:pt x="11430000" y="51216"/>
                  <a:pt x="11430000" y="114300"/>
                </a:cubicBezTo>
                <a:lnTo>
                  <a:pt x="11430000" y="342900"/>
                </a:lnTo>
                <a:cubicBezTo>
                  <a:pt x="11430000" y="405984"/>
                  <a:pt x="11378784" y="457200"/>
                  <a:pt x="113157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5" name="Shape 73"/>
          <p:cNvSpPr/>
          <p:nvPr/>
        </p:nvSpPr>
        <p:spPr>
          <a:xfrm>
            <a:off x="2464356" y="6514984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2692956" y="6476884"/>
            <a:ext cx="7115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通过会前准备、会中跟进、会后执行的完整闭环,确保MO流程各关键节点有效落地,持续提升商机转化效率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kern="0" spc="56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OPERATION &amp; INSPECTION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系统操作指南与落地执行检查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4419" y="1098698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54419" y="1275907"/>
            <a:ext cx="7557977" cy="2286000"/>
          </a:xfrm>
          <a:custGeom>
            <a:avLst/>
            <a:gdLst/>
            <a:ahLst/>
            <a:cxnLst/>
            <a:rect l="l" t="t" r="r" b="b"/>
            <a:pathLst>
              <a:path w="7557977" h="2286000">
                <a:moveTo>
                  <a:pt x="106322" y="0"/>
                </a:moveTo>
                <a:lnTo>
                  <a:pt x="7451655" y="0"/>
                </a:lnTo>
                <a:cubicBezTo>
                  <a:pt x="7510375" y="0"/>
                  <a:pt x="7557977" y="47602"/>
                  <a:pt x="7557977" y="106322"/>
                </a:cubicBezTo>
                <a:lnTo>
                  <a:pt x="7557977" y="2179678"/>
                </a:lnTo>
                <a:cubicBezTo>
                  <a:pt x="7557977" y="2238398"/>
                  <a:pt x="7510375" y="2286000"/>
                  <a:pt x="7451655" y="2286000"/>
                </a:cubicBezTo>
                <a:lnTo>
                  <a:pt x="106322" y="2286000"/>
                </a:lnTo>
                <a:cubicBezTo>
                  <a:pt x="47602" y="2286000"/>
                  <a:pt x="0" y="2238398"/>
                  <a:pt x="0" y="2179678"/>
                </a:cubicBezTo>
                <a:lnTo>
                  <a:pt x="0" y="106322"/>
                </a:lnTo>
                <a:cubicBezTo>
                  <a:pt x="0" y="47641"/>
                  <a:pt x="47641" y="0"/>
                  <a:pt x="10632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81" dist="88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6186" y="1453116"/>
            <a:ext cx="221512" cy="177209"/>
          </a:xfrm>
          <a:custGeom>
            <a:avLst/>
            <a:gdLst/>
            <a:ahLst/>
            <a:cxnLst/>
            <a:rect l="l" t="t" r="r" b="b"/>
            <a:pathLst>
              <a:path w="221512" h="177209">
                <a:moveTo>
                  <a:pt x="22151" y="33227"/>
                </a:moveTo>
                <a:cubicBezTo>
                  <a:pt x="22151" y="21009"/>
                  <a:pt x="32085" y="11076"/>
                  <a:pt x="44302" y="11076"/>
                </a:cubicBezTo>
                <a:lnTo>
                  <a:pt x="177209" y="11076"/>
                </a:lnTo>
                <a:cubicBezTo>
                  <a:pt x="189427" y="11076"/>
                  <a:pt x="199360" y="21009"/>
                  <a:pt x="199360" y="33227"/>
                </a:cubicBezTo>
                <a:lnTo>
                  <a:pt x="199360" y="116294"/>
                </a:lnTo>
                <a:lnTo>
                  <a:pt x="177209" y="116294"/>
                </a:lnTo>
                <a:lnTo>
                  <a:pt x="177209" y="33227"/>
                </a:lnTo>
                <a:lnTo>
                  <a:pt x="44302" y="33227"/>
                </a:lnTo>
                <a:lnTo>
                  <a:pt x="44302" y="116294"/>
                </a:lnTo>
                <a:lnTo>
                  <a:pt x="22151" y="116294"/>
                </a:lnTo>
                <a:lnTo>
                  <a:pt x="22151" y="33227"/>
                </a:lnTo>
                <a:close/>
                <a:moveTo>
                  <a:pt x="0" y="139552"/>
                </a:moveTo>
                <a:cubicBezTo>
                  <a:pt x="0" y="135884"/>
                  <a:pt x="2977" y="132907"/>
                  <a:pt x="6645" y="132907"/>
                </a:cubicBezTo>
                <a:lnTo>
                  <a:pt x="214866" y="132907"/>
                </a:lnTo>
                <a:cubicBezTo>
                  <a:pt x="218535" y="132907"/>
                  <a:pt x="221512" y="135884"/>
                  <a:pt x="221512" y="139552"/>
                </a:cubicBezTo>
                <a:cubicBezTo>
                  <a:pt x="221512" y="154227"/>
                  <a:pt x="209605" y="166134"/>
                  <a:pt x="194930" y="166134"/>
                </a:cubicBezTo>
                <a:lnTo>
                  <a:pt x="26581" y="166134"/>
                </a:lnTo>
                <a:cubicBezTo>
                  <a:pt x="11906" y="166134"/>
                  <a:pt x="0" y="154227"/>
                  <a:pt x="0" y="139552"/>
                </a:cubicBezTo>
                <a:close/>
                <a:moveTo>
                  <a:pt x="97257" y="72337"/>
                </a:moveTo>
                <a:lnTo>
                  <a:pt x="86528" y="83067"/>
                </a:lnTo>
                <a:lnTo>
                  <a:pt x="97257" y="93796"/>
                </a:lnTo>
                <a:cubicBezTo>
                  <a:pt x="100511" y="97050"/>
                  <a:pt x="100511" y="102311"/>
                  <a:pt x="97257" y="105530"/>
                </a:cubicBezTo>
                <a:cubicBezTo>
                  <a:pt x="94004" y="108748"/>
                  <a:pt x="88743" y="108783"/>
                  <a:pt x="85524" y="105530"/>
                </a:cubicBezTo>
                <a:lnTo>
                  <a:pt x="68911" y="88916"/>
                </a:lnTo>
                <a:cubicBezTo>
                  <a:pt x="65657" y="85663"/>
                  <a:pt x="65657" y="80402"/>
                  <a:pt x="68911" y="77183"/>
                </a:cubicBezTo>
                <a:lnTo>
                  <a:pt x="85524" y="60570"/>
                </a:lnTo>
                <a:cubicBezTo>
                  <a:pt x="88778" y="57316"/>
                  <a:pt x="94039" y="57316"/>
                  <a:pt x="97257" y="60570"/>
                </a:cubicBezTo>
                <a:cubicBezTo>
                  <a:pt x="100476" y="63823"/>
                  <a:pt x="100511" y="69084"/>
                  <a:pt x="97257" y="72303"/>
                </a:cubicBezTo>
                <a:close/>
                <a:moveTo>
                  <a:pt x="136022" y="60570"/>
                </a:moveTo>
                <a:lnTo>
                  <a:pt x="152635" y="77183"/>
                </a:lnTo>
                <a:cubicBezTo>
                  <a:pt x="155889" y="80436"/>
                  <a:pt x="155889" y="85697"/>
                  <a:pt x="152635" y="88916"/>
                </a:cubicBezTo>
                <a:lnTo>
                  <a:pt x="136022" y="105530"/>
                </a:lnTo>
                <a:cubicBezTo>
                  <a:pt x="132769" y="108783"/>
                  <a:pt x="127508" y="108783"/>
                  <a:pt x="124289" y="105530"/>
                </a:cubicBezTo>
                <a:cubicBezTo>
                  <a:pt x="121070" y="102276"/>
                  <a:pt x="121035" y="97015"/>
                  <a:pt x="124289" y="93796"/>
                </a:cubicBezTo>
                <a:lnTo>
                  <a:pt x="135018" y="83067"/>
                </a:lnTo>
                <a:lnTo>
                  <a:pt x="124289" y="72337"/>
                </a:lnTo>
                <a:cubicBezTo>
                  <a:pt x="121035" y="69084"/>
                  <a:pt x="121035" y="63823"/>
                  <a:pt x="124289" y="60604"/>
                </a:cubicBezTo>
                <a:cubicBezTo>
                  <a:pt x="127542" y="57385"/>
                  <a:pt x="132803" y="57351"/>
                  <a:pt x="136022" y="6060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717698" y="1417674"/>
            <a:ext cx="714153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CRM系统关键操作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3907" y="1772093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13907" y="1772093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0" name="Shape 8"/>
          <p:cNvSpPr/>
          <p:nvPr/>
        </p:nvSpPr>
        <p:spPr>
          <a:xfrm>
            <a:off x="637953" y="187841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9"/>
          <p:cNvSpPr/>
          <p:nvPr/>
        </p:nvSpPr>
        <p:spPr>
          <a:xfrm>
            <a:off x="606942" y="1878419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2372" y="1913860"/>
            <a:ext cx="92148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提交漏斗审批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7953" y="2232837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填写MANT信息、3T时间、项目分级分层,区域经理审批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5731" y="1772093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05731" y="1772093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29777" y="1878419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4298765" y="1878419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84196" y="1913860"/>
            <a:ext cx="120502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自动立项审批提交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29777" y="2232837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系统根据项目级别自动发起立项决策申请,自动发送决策人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3907" y="2647064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13907" y="2647064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2" name="Shape 20"/>
          <p:cNvSpPr/>
          <p:nvPr/>
        </p:nvSpPr>
        <p:spPr>
          <a:xfrm>
            <a:off x="637953" y="2753390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3" name="Text 21"/>
          <p:cNvSpPr/>
          <p:nvPr/>
        </p:nvSpPr>
        <p:spPr>
          <a:xfrm>
            <a:off x="606942" y="2753390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2372" y="2788831"/>
            <a:ext cx="779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立项启动会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7953" y="3107808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下载模板创建项目文档、上传飞书、填写项目基本信息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05731" y="2647064"/>
            <a:ext cx="3570767" cy="770860"/>
          </a:xfrm>
          <a:custGeom>
            <a:avLst/>
            <a:gdLst/>
            <a:ahLst/>
            <a:cxnLst/>
            <a:rect l="l" t="t" r="r" b="b"/>
            <a:pathLst>
              <a:path w="3570767" h="770860">
                <a:moveTo>
                  <a:pt x="35442" y="0"/>
                </a:moveTo>
                <a:lnTo>
                  <a:pt x="3499887" y="0"/>
                </a:lnTo>
                <a:cubicBezTo>
                  <a:pt x="3539033" y="0"/>
                  <a:pt x="3570767" y="31734"/>
                  <a:pt x="3570767" y="70881"/>
                </a:cubicBezTo>
                <a:lnTo>
                  <a:pt x="3570767" y="699980"/>
                </a:lnTo>
                <a:cubicBezTo>
                  <a:pt x="3570767" y="739126"/>
                  <a:pt x="3539033" y="770860"/>
                  <a:pt x="3499887" y="770860"/>
                </a:cubicBez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205731" y="2647064"/>
            <a:ext cx="35442" cy="770860"/>
          </a:xfrm>
          <a:custGeom>
            <a:avLst/>
            <a:gdLst/>
            <a:ahLst/>
            <a:cxnLst/>
            <a:rect l="l" t="t" r="r" b="b"/>
            <a:pathLst>
              <a:path w="35442" h="770860">
                <a:moveTo>
                  <a:pt x="35442" y="0"/>
                </a:moveTo>
                <a:lnTo>
                  <a:pt x="35442" y="0"/>
                </a:lnTo>
                <a:lnTo>
                  <a:pt x="35442" y="770860"/>
                </a:lnTo>
                <a:lnTo>
                  <a:pt x="35442" y="770860"/>
                </a:lnTo>
                <a:cubicBezTo>
                  <a:pt x="15868" y="770860"/>
                  <a:pt x="0" y="754993"/>
                  <a:pt x="0" y="735419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8" name="Shape 26"/>
          <p:cNvSpPr/>
          <p:nvPr/>
        </p:nvSpPr>
        <p:spPr>
          <a:xfrm>
            <a:off x="4329777" y="2753390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141767" y="0"/>
                </a:moveTo>
                <a:lnTo>
                  <a:pt x="141767" y="0"/>
                </a:lnTo>
                <a:cubicBezTo>
                  <a:pt x="220011" y="0"/>
                  <a:pt x="283535" y="63524"/>
                  <a:pt x="283535" y="141767"/>
                </a:cubicBezTo>
                <a:lnTo>
                  <a:pt x="283535" y="141767"/>
                </a:lnTo>
                <a:cubicBezTo>
                  <a:pt x="283535" y="220011"/>
                  <a:pt x="220011" y="283535"/>
                  <a:pt x="141767" y="283535"/>
                </a:cubicBezTo>
                <a:lnTo>
                  <a:pt x="141767" y="283535"/>
                </a:lnTo>
                <a:cubicBezTo>
                  <a:pt x="63524" y="283535"/>
                  <a:pt x="0" y="220011"/>
                  <a:pt x="0" y="141767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9" name="Text 27"/>
          <p:cNvSpPr/>
          <p:nvPr/>
        </p:nvSpPr>
        <p:spPr>
          <a:xfrm>
            <a:off x="4298765" y="2753390"/>
            <a:ext cx="34555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84196" y="2788831"/>
            <a:ext cx="779721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评审会留痕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29777" y="3107808"/>
            <a:ext cx="3402419" cy="203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解决方案评审会/标前分析会/赢丢单复盘会CRM留痕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54419" y="3663802"/>
            <a:ext cx="7557977" cy="1630326"/>
          </a:xfrm>
          <a:custGeom>
            <a:avLst/>
            <a:gdLst/>
            <a:ahLst/>
            <a:cxnLst/>
            <a:rect l="l" t="t" r="r" b="b"/>
            <a:pathLst>
              <a:path w="7557977" h="1630326">
                <a:moveTo>
                  <a:pt x="106330" y="0"/>
                </a:moveTo>
                <a:lnTo>
                  <a:pt x="7451647" y="0"/>
                </a:lnTo>
                <a:cubicBezTo>
                  <a:pt x="7510371" y="0"/>
                  <a:pt x="7557977" y="47605"/>
                  <a:pt x="7557977" y="106330"/>
                </a:cubicBezTo>
                <a:lnTo>
                  <a:pt x="7557977" y="1523996"/>
                </a:lnTo>
                <a:cubicBezTo>
                  <a:pt x="7557977" y="1582720"/>
                  <a:pt x="7510371" y="1630326"/>
                  <a:pt x="7451647" y="1630326"/>
                </a:cubicBezTo>
                <a:lnTo>
                  <a:pt x="106330" y="1630326"/>
                </a:lnTo>
                <a:cubicBezTo>
                  <a:pt x="47605" y="1630326"/>
                  <a:pt x="0" y="1582720"/>
                  <a:pt x="0" y="1523996"/>
                </a:cubicBezTo>
                <a:lnTo>
                  <a:pt x="0" y="106330"/>
                </a:lnTo>
                <a:cubicBezTo>
                  <a:pt x="0" y="47645"/>
                  <a:pt x="47645" y="0"/>
                  <a:pt x="10633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3" name="Shape 31"/>
          <p:cNvSpPr/>
          <p:nvPr/>
        </p:nvSpPr>
        <p:spPr>
          <a:xfrm>
            <a:off x="540488" y="3841012"/>
            <a:ext cx="132907" cy="177209"/>
          </a:xfrm>
          <a:custGeom>
            <a:avLst/>
            <a:gdLst/>
            <a:ahLst/>
            <a:cxnLst/>
            <a:rect l="l" t="t" r="r" b="b"/>
            <a:pathLst>
              <a:path w="132907" h="177209">
                <a:moveTo>
                  <a:pt x="107779" y="11076"/>
                </a:moveTo>
                <a:lnTo>
                  <a:pt x="110756" y="11076"/>
                </a:lnTo>
                <a:cubicBezTo>
                  <a:pt x="122974" y="11076"/>
                  <a:pt x="132907" y="21009"/>
                  <a:pt x="132907" y="33227"/>
                </a:cubicBezTo>
                <a:lnTo>
                  <a:pt x="132907" y="155058"/>
                </a:lnTo>
                <a:cubicBezTo>
                  <a:pt x="132907" y="167276"/>
                  <a:pt x="122974" y="177209"/>
                  <a:pt x="110756" y="177209"/>
                </a:cubicBezTo>
                <a:lnTo>
                  <a:pt x="22151" y="177209"/>
                </a:lnTo>
                <a:cubicBezTo>
                  <a:pt x="9933" y="177209"/>
                  <a:pt x="0" y="167276"/>
                  <a:pt x="0" y="155058"/>
                </a:cubicBezTo>
                <a:lnTo>
                  <a:pt x="0" y="33227"/>
                </a:lnTo>
                <a:cubicBezTo>
                  <a:pt x="0" y="21009"/>
                  <a:pt x="9933" y="11076"/>
                  <a:pt x="22151" y="11076"/>
                </a:cubicBezTo>
                <a:lnTo>
                  <a:pt x="25128" y="11076"/>
                </a:lnTo>
                <a:cubicBezTo>
                  <a:pt x="28935" y="4465"/>
                  <a:pt x="36099" y="0"/>
                  <a:pt x="44302" y="0"/>
                </a:cubicBezTo>
                <a:lnTo>
                  <a:pt x="88605" y="0"/>
                </a:lnTo>
                <a:cubicBezTo>
                  <a:pt x="96808" y="0"/>
                  <a:pt x="103972" y="4465"/>
                  <a:pt x="107779" y="11076"/>
                </a:cubicBezTo>
                <a:close/>
                <a:moveTo>
                  <a:pt x="85836" y="38765"/>
                </a:moveTo>
                <a:cubicBezTo>
                  <a:pt x="90439" y="38765"/>
                  <a:pt x="94142" y="35061"/>
                  <a:pt x="94142" y="30458"/>
                </a:cubicBezTo>
                <a:cubicBezTo>
                  <a:pt x="94142" y="25855"/>
                  <a:pt x="90439" y="22151"/>
                  <a:pt x="85836" y="22151"/>
                </a:cubicBezTo>
                <a:lnTo>
                  <a:pt x="47071" y="22151"/>
                </a:lnTo>
                <a:cubicBezTo>
                  <a:pt x="42468" y="22151"/>
                  <a:pt x="38765" y="25855"/>
                  <a:pt x="38765" y="30458"/>
                </a:cubicBezTo>
                <a:cubicBezTo>
                  <a:pt x="38765" y="35061"/>
                  <a:pt x="42468" y="38765"/>
                  <a:pt x="47071" y="38765"/>
                </a:cubicBezTo>
                <a:lnTo>
                  <a:pt x="85836" y="38765"/>
                </a:lnTo>
                <a:close/>
                <a:moveTo>
                  <a:pt x="95665" y="90231"/>
                </a:moveTo>
                <a:cubicBezTo>
                  <a:pt x="98088" y="86355"/>
                  <a:pt x="96911" y="81232"/>
                  <a:pt x="93035" y="78775"/>
                </a:cubicBezTo>
                <a:cubicBezTo>
                  <a:pt x="89158" y="76318"/>
                  <a:pt x="84036" y="77529"/>
                  <a:pt x="81579" y="81406"/>
                </a:cubicBezTo>
                <a:lnTo>
                  <a:pt x="60327" y="115428"/>
                </a:lnTo>
                <a:lnTo>
                  <a:pt x="50982" y="102968"/>
                </a:lnTo>
                <a:cubicBezTo>
                  <a:pt x="48213" y="99300"/>
                  <a:pt x="43022" y="98538"/>
                  <a:pt x="39353" y="101307"/>
                </a:cubicBezTo>
                <a:cubicBezTo>
                  <a:pt x="35684" y="104076"/>
                  <a:pt x="34923" y="109268"/>
                  <a:pt x="37692" y="112936"/>
                </a:cubicBezTo>
                <a:lnTo>
                  <a:pt x="54305" y="135087"/>
                </a:lnTo>
                <a:cubicBezTo>
                  <a:pt x="55932" y="137268"/>
                  <a:pt x="58562" y="138514"/>
                  <a:pt x="61296" y="138410"/>
                </a:cubicBezTo>
                <a:cubicBezTo>
                  <a:pt x="64031" y="138306"/>
                  <a:pt x="66523" y="136853"/>
                  <a:pt x="67976" y="134499"/>
                </a:cubicBezTo>
                <a:lnTo>
                  <a:pt x="95665" y="90197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4" name="Text 32"/>
          <p:cNvSpPr/>
          <p:nvPr/>
        </p:nvSpPr>
        <p:spPr>
          <a:xfrm>
            <a:off x="717698" y="3805570"/>
            <a:ext cx="714153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执行检查机制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96186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80596" y="4266314"/>
            <a:ext cx="186070" cy="212651"/>
          </a:xfrm>
          <a:custGeom>
            <a:avLst/>
            <a:gdLst/>
            <a:ahLst/>
            <a:cxnLst/>
            <a:rect l="l" t="t" r="r" b="b"/>
            <a:pathLst>
              <a:path w="186070" h="212651">
                <a:moveTo>
                  <a:pt x="53163" y="0"/>
                </a:moveTo>
                <a:cubicBezTo>
                  <a:pt x="60514" y="0"/>
                  <a:pt x="66453" y="5939"/>
                  <a:pt x="66453" y="13291"/>
                </a:cubicBezTo>
                <a:lnTo>
                  <a:pt x="66453" y="26581"/>
                </a:lnTo>
                <a:lnTo>
                  <a:pt x="119616" y="26581"/>
                </a:lnTo>
                <a:lnTo>
                  <a:pt x="119616" y="13291"/>
                </a:lnTo>
                <a:cubicBezTo>
                  <a:pt x="119616" y="5939"/>
                  <a:pt x="125556" y="0"/>
                  <a:pt x="132907" y="0"/>
                </a:cubicBezTo>
                <a:cubicBezTo>
                  <a:pt x="140258" y="0"/>
                  <a:pt x="146198" y="5939"/>
                  <a:pt x="146198" y="13291"/>
                </a:cubicBezTo>
                <a:lnTo>
                  <a:pt x="146198" y="26581"/>
                </a:lnTo>
                <a:lnTo>
                  <a:pt x="159488" y="26581"/>
                </a:lnTo>
                <a:cubicBezTo>
                  <a:pt x="174150" y="26581"/>
                  <a:pt x="186070" y="38501"/>
                  <a:pt x="186070" y="53163"/>
                </a:cubicBezTo>
                <a:lnTo>
                  <a:pt x="186070" y="172779"/>
                </a:lnTo>
                <a:cubicBezTo>
                  <a:pt x="186070" y="187440"/>
                  <a:pt x="174150" y="199360"/>
                  <a:pt x="159488" y="199360"/>
                </a:cubicBezTo>
                <a:lnTo>
                  <a:pt x="26581" y="199360"/>
                </a:lnTo>
                <a:cubicBezTo>
                  <a:pt x="11920" y="199360"/>
                  <a:pt x="0" y="187440"/>
                  <a:pt x="0" y="172779"/>
                </a:cubicBezTo>
                <a:lnTo>
                  <a:pt x="0" y="53163"/>
                </a:lnTo>
                <a:cubicBezTo>
                  <a:pt x="0" y="38501"/>
                  <a:pt x="11920" y="26581"/>
                  <a:pt x="26581" y="26581"/>
                </a:cubicBezTo>
                <a:lnTo>
                  <a:pt x="39872" y="26581"/>
                </a:lnTo>
                <a:lnTo>
                  <a:pt x="39872" y="13291"/>
                </a:lnTo>
                <a:cubicBezTo>
                  <a:pt x="39872" y="5939"/>
                  <a:pt x="45811" y="0"/>
                  <a:pt x="53163" y="0"/>
                </a:cubicBezTo>
                <a:close/>
                <a:moveTo>
                  <a:pt x="128089" y="94987"/>
                </a:moveTo>
                <a:cubicBezTo>
                  <a:pt x="130996" y="90335"/>
                  <a:pt x="129584" y="84188"/>
                  <a:pt x="124933" y="81239"/>
                </a:cubicBezTo>
                <a:cubicBezTo>
                  <a:pt x="120281" y="78291"/>
                  <a:pt x="114134" y="79744"/>
                  <a:pt x="111185" y="84396"/>
                </a:cubicBezTo>
                <a:lnTo>
                  <a:pt x="85683" y="125223"/>
                </a:lnTo>
                <a:lnTo>
                  <a:pt x="74469" y="110271"/>
                </a:lnTo>
                <a:cubicBezTo>
                  <a:pt x="71147" y="105869"/>
                  <a:pt x="64917" y="104955"/>
                  <a:pt x="60514" y="108278"/>
                </a:cubicBezTo>
                <a:cubicBezTo>
                  <a:pt x="56112" y="111600"/>
                  <a:pt x="55198" y="117830"/>
                  <a:pt x="58521" y="122233"/>
                </a:cubicBezTo>
                <a:lnTo>
                  <a:pt x="78457" y="148814"/>
                </a:lnTo>
                <a:cubicBezTo>
                  <a:pt x="80409" y="151431"/>
                  <a:pt x="83565" y="152926"/>
                  <a:pt x="86846" y="152801"/>
                </a:cubicBezTo>
                <a:cubicBezTo>
                  <a:pt x="90128" y="152677"/>
                  <a:pt x="93118" y="150932"/>
                  <a:pt x="94862" y="148108"/>
                </a:cubicBezTo>
                <a:lnTo>
                  <a:pt x="128089" y="94945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7" name="Text 35"/>
          <p:cNvSpPr/>
          <p:nvPr/>
        </p:nvSpPr>
        <p:spPr>
          <a:xfrm>
            <a:off x="571500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考核周期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5930" y="4762500"/>
            <a:ext cx="219739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月度、季度进行关键任务执行看板检查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2957402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15231" y="4266314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119658" y="146862"/>
                </a:moveTo>
                <a:cubicBezTo>
                  <a:pt x="123811" y="146862"/>
                  <a:pt x="127923" y="147817"/>
                  <a:pt x="131703" y="149770"/>
                </a:cubicBezTo>
                <a:lnTo>
                  <a:pt x="162603" y="165511"/>
                </a:lnTo>
                <a:lnTo>
                  <a:pt x="157204" y="131246"/>
                </a:lnTo>
                <a:cubicBezTo>
                  <a:pt x="155875" y="122856"/>
                  <a:pt x="158658" y="114342"/>
                  <a:pt x="164639" y="108319"/>
                </a:cubicBezTo>
                <a:lnTo>
                  <a:pt x="189143" y="83773"/>
                </a:lnTo>
                <a:lnTo>
                  <a:pt x="154878" y="78332"/>
                </a:lnTo>
                <a:cubicBezTo>
                  <a:pt x="146488" y="77003"/>
                  <a:pt x="139220" y="71728"/>
                  <a:pt x="135357" y="64169"/>
                </a:cubicBezTo>
                <a:lnTo>
                  <a:pt x="119575" y="33268"/>
                </a:lnTo>
                <a:lnTo>
                  <a:pt x="119575" y="146904"/>
                </a:lnTo>
                <a:close/>
                <a:moveTo>
                  <a:pt x="189974" y="203098"/>
                </a:moveTo>
                <a:cubicBezTo>
                  <a:pt x="186942" y="205300"/>
                  <a:pt x="182913" y="205632"/>
                  <a:pt x="179591" y="203929"/>
                </a:cubicBezTo>
                <a:lnTo>
                  <a:pt x="119658" y="173444"/>
                </a:lnTo>
                <a:lnTo>
                  <a:pt x="59725" y="203929"/>
                </a:lnTo>
                <a:cubicBezTo>
                  <a:pt x="56402" y="205632"/>
                  <a:pt x="52374" y="205300"/>
                  <a:pt x="49342" y="203098"/>
                </a:cubicBezTo>
                <a:cubicBezTo>
                  <a:pt x="46310" y="200897"/>
                  <a:pt x="44773" y="197201"/>
                  <a:pt x="45355" y="193463"/>
                </a:cubicBezTo>
                <a:lnTo>
                  <a:pt x="55821" y="127051"/>
                </a:lnTo>
                <a:lnTo>
                  <a:pt x="8307" y="79495"/>
                </a:lnTo>
                <a:cubicBezTo>
                  <a:pt x="5649" y="76837"/>
                  <a:pt x="4735" y="72933"/>
                  <a:pt x="5898" y="69361"/>
                </a:cubicBezTo>
                <a:cubicBezTo>
                  <a:pt x="7061" y="65789"/>
                  <a:pt x="10093" y="63172"/>
                  <a:pt x="13831" y="62591"/>
                </a:cubicBezTo>
                <a:lnTo>
                  <a:pt x="80243" y="52041"/>
                </a:lnTo>
                <a:lnTo>
                  <a:pt x="110811" y="-7850"/>
                </a:lnTo>
                <a:cubicBezTo>
                  <a:pt x="112514" y="-11172"/>
                  <a:pt x="115961" y="-13291"/>
                  <a:pt x="119699" y="-13291"/>
                </a:cubicBezTo>
                <a:cubicBezTo>
                  <a:pt x="123437" y="-13291"/>
                  <a:pt x="126885" y="-11172"/>
                  <a:pt x="128587" y="-7850"/>
                </a:cubicBezTo>
                <a:lnTo>
                  <a:pt x="159073" y="52041"/>
                </a:lnTo>
                <a:lnTo>
                  <a:pt x="225485" y="62591"/>
                </a:lnTo>
                <a:cubicBezTo>
                  <a:pt x="229181" y="63172"/>
                  <a:pt x="232255" y="65789"/>
                  <a:pt x="233418" y="69361"/>
                </a:cubicBezTo>
                <a:cubicBezTo>
                  <a:pt x="234581" y="72933"/>
                  <a:pt x="233626" y="76837"/>
                  <a:pt x="231009" y="79495"/>
                </a:cubicBezTo>
                <a:lnTo>
                  <a:pt x="183453" y="127051"/>
                </a:lnTo>
                <a:lnTo>
                  <a:pt x="193961" y="193463"/>
                </a:lnTo>
                <a:cubicBezTo>
                  <a:pt x="194543" y="197159"/>
                  <a:pt x="193006" y="200897"/>
                  <a:pt x="189974" y="20309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1" name="Text 39"/>
          <p:cNvSpPr/>
          <p:nvPr/>
        </p:nvSpPr>
        <p:spPr>
          <a:xfrm>
            <a:off x="3032716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考核应用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037146" y="4762500"/>
            <a:ext cx="2197395" cy="141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应用至QBC季度考核打分,直接应用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418617" y="4159988"/>
            <a:ext cx="2356884" cy="992372"/>
          </a:xfrm>
          <a:custGeom>
            <a:avLst/>
            <a:gdLst/>
            <a:ahLst/>
            <a:cxnLst/>
            <a:rect l="l" t="t" r="r" b="b"/>
            <a:pathLst>
              <a:path w="2356884" h="992372">
                <a:moveTo>
                  <a:pt x="70885" y="0"/>
                </a:moveTo>
                <a:lnTo>
                  <a:pt x="2285999" y="0"/>
                </a:lnTo>
                <a:cubicBezTo>
                  <a:pt x="2325147" y="0"/>
                  <a:pt x="2356884" y="31736"/>
                  <a:pt x="2356884" y="70885"/>
                </a:cubicBezTo>
                <a:lnTo>
                  <a:pt x="2356884" y="921487"/>
                </a:lnTo>
                <a:cubicBezTo>
                  <a:pt x="2356884" y="960636"/>
                  <a:pt x="2325147" y="992372"/>
                  <a:pt x="2285999" y="992372"/>
                </a:cubicBezTo>
                <a:lnTo>
                  <a:pt x="70885" y="992372"/>
                </a:lnTo>
                <a:cubicBezTo>
                  <a:pt x="31736" y="992372"/>
                  <a:pt x="0" y="960636"/>
                  <a:pt x="0" y="921487"/>
                </a:cubicBezTo>
                <a:lnTo>
                  <a:pt x="0" y="70885"/>
                </a:lnTo>
                <a:cubicBezTo>
                  <a:pt x="0" y="31763"/>
                  <a:pt x="31763" y="0"/>
                  <a:pt x="7088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489737" y="4266314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212651"/>
                </a:moveTo>
                <a:cubicBezTo>
                  <a:pt x="165008" y="212651"/>
                  <a:pt x="212651" y="165008"/>
                  <a:pt x="212651" y="106326"/>
                </a:cubicBezTo>
                <a:cubicBezTo>
                  <a:pt x="212651" y="47643"/>
                  <a:pt x="165008" y="0"/>
                  <a:pt x="106326" y="0"/>
                </a:cubicBezTo>
                <a:cubicBezTo>
                  <a:pt x="47643" y="0"/>
                  <a:pt x="0" y="47643"/>
                  <a:pt x="0" y="106326"/>
                </a:cubicBezTo>
                <a:cubicBezTo>
                  <a:pt x="0" y="165008"/>
                  <a:pt x="47643" y="212651"/>
                  <a:pt x="106326" y="212651"/>
                </a:cubicBezTo>
                <a:close/>
                <a:moveTo>
                  <a:pt x="69776" y="96358"/>
                </a:moveTo>
                <a:lnTo>
                  <a:pt x="142875" y="96358"/>
                </a:lnTo>
                <a:cubicBezTo>
                  <a:pt x="148399" y="96358"/>
                  <a:pt x="152843" y="100802"/>
                  <a:pt x="152843" y="106326"/>
                </a:cubicBezTo>
                <a:cubicBezTo>
                  <a:pt x="152843" y="111850"/>
                  <a:pt x="148399" y="116294"/>
                  <a:pt x="142875" y="116294"/>
                </a:cubicBezTo>
                <a:lnTo>
                  <a:pt x="69776" y="116294"/>
                </a:lnTo>
                <a:cubicBezTo>
                  <a:pt x="64252" y="116294"/>
                  <a:pt x="59808" y="111850"/>
                  <a:pt x="59808" y="106326"/>
                </a:cubicBezTo>
                <a:cubicBezTo>
                  <a:pt x="59808" y="100802"/>
                  <a:pt x="64252" y="96358"/>
                  <a:pt x="69776" y="96358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5" name="Text 43"/>
          <p:cNvSpPr/>
          <p:nvPr/>
        </p:nvSpPr>
        <p:spPr>
          <a:xfrm>
            <a:off x="5493931" y="4549849"/>
            <a:ext cx="2206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扣分标准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498362" y="4762500"/>
            <a:ext cx="219739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每个未执行周关键任务次数扣减0.5分QBC分值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57153" y="1275907"/>
            <a:ext cx="3783419" cy="2675860"/>
          </a:xfrm>
          <a:custGeom>
            <a:avLst/>
            <a:gdLst/>
            <a:ahLst/>
            <a:cxnLst/>
            <a:rect l="l" t="t" r="r" b="b"/>
            <a:pathLst>
              <a:path w="3783419" h="2675860">
                <a:moveTo>
                  <a:pt x="106339" y="0"/>
                </a:moveTo>
                <a:lnTo>
                  <a:pt x="3677080" y="0"/>
                </a:lnTo>
                <a:cubicBezTo>
                  <a:pt x="3735809" y="0"/>
                  <a:pt x="3783419" y="47609"/>
                  <a:pt x="3783419" y="106339"/>
                </a:cubicBezTo>
                <a:lnTo>
                  <a:pt x="3783419" y="2569522"/>
                </a:lnTo>
                <a:cubicBezTo>
                  <a:pt x="3783419" y="2628251"/>
                  <a:pt x="3735809" y="2675860"/>
                  <a:pt x="3677080" y="2675860"/>
                </a:cubicBezTo>
                <a:lnTo>
                  <a:pt x="106339" y="2675860"/>
                </a:lnTo>
                <a:cubicBezTo>
                  <a:pt x="47609" y="2675860"/>
                  <a:pt x="0" y="2628251"/>
                  <a:pt x="0" y="2569522"/>
                </a:cubicBezTo>
                <a:lnTo>
                  <a:pt x="0" y="106339"/>
                </a:lnTo>
                <a:cubicBezTo>
                  <a:pt x="0" y="47609"/>
                  <a:pt x="47609" y="0"/>
                  <a:pt x="10633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581" dist="886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21072" y="1461977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79744" y="54824"/>
                </a:moveTo>
                <a:cubicBezTo>
                  <a:pt x="74231" y="54824"/>
                  <a:pt x="69776" y="59279"/>
                  <a:pt x="69776" y="64792"/>
                </a:cubicBezTo>
                <a:cubicBezTo>
                  <a:pt x="69776" y="68935"/>
                  <a:pt x="66443" y="72268"/>
                  <a:pt x="62300" y="72268"/>
                </a:cubicBezTo>
                <a:cubicBezTo>
                  <a:pt x="58157" y="72268"/>
                  <a:pt x="54824" y="68935"/>
                  <a:pt x="54824" y="64792"/>
                </a:cubicBezTo>
                <a:cubicBezTo>
                  <a:pt x="54824" y="51024"/>
                  <a:pt x="65976" y="39872"/>
                  <a:pt x="79744" y="39872"/>
                </a:cubicBezTo>
                <a:cubicBezTo>
                  <a:pt x="93513" y="39872"/>
                  <a:pt x="104664" y="51024"/>
                  <a:pt x="104664" y="64792"/>
                </a:cubicBezTo>
                <a:cubicBezTo>
                  <a:pt x="104664" y="79495"/>
                  <a:pt x="93450" y="85725"/>
                  <a:pt x="87220" y="87999"/>
                </a:cubicBezTo>
                <a:lnTo>
                  <a:pt x="87220" y="89183"/>
                </a:lnTo>
                <a:cubicBezTo>
                  <a:pt x="87220" y="93326"/>
                  <a:pt x="83887" y="96659"/>
                  <a:pt x="79744" y="96659"/>
                </a:cubicBezTo>
                <a:cubicBezTo>
                  <a:pt x="75601" y="96659"/>
                  <a:pt x="72268" y="93326"/>
                  <a:pt x="72268" y="89183"/>
                </a:cubicBezTo>
                <a:lnTo>
                  <a:pt x="72268" y="86660"/>
                </a:lnTo>
                <a:cubicBezTo>
                  <a:pt x="72268" y="80274"/>
                  <a:pt x="76878" y="75695"/>
                  <a:pt x="81644" y="74137"/>
                </a:cubicBezTo>
                <a:cubicBezTo>
                  <a:pt x="83638" y="73483"/>
                  <a:pt x="85756" y="72424"/>
                  <a:pt x="87314" y="70929"/>
                </a:cubicBezTo>
                <a:cubicBezTo>
                  <a:pt x="88653" y="69620"/>
                  <a:pt x="89712" y="67814"/>
                  <a:pt x="89712" y="64823"/>
                </a:cubicBezTo>
                <a:cubicBezTo>
                  <a:pt x="89712" y="59310"/>
                  <a:pt x="85258" y="54855"/>
                  <a:pt x="79744" y="54855"/>
                </a:cubicBezTo>
                <a:close/>
                <a:moveTo>
                  <a:pt x="69776" y="114632"/>
                </a:moveTo>
                <a:cubicBezTo>
                  <a:pt x="69776" y="109131"/>
                  <a:pt x="74243" y="104664"/>
                  <a:pt x="79744" y="104664"/>
                </a:cubicBezTo>
                <a:cubicBezTo>
                  <a:pt x="85246" y="104664"/>
                  <a:pt x="89712" y="109131"/>
                  <a:pt x="89712" y="114632"/>
                </a:cubicBezTo>
                <a:cubicBezTo>
                  <a:pt x="89712" y="120134"/>
                  <a:pt x="85246" y="124600"/>
                  <a:pt x="79744" y="124600"/>
                </a:cubicBezTo>
                <a:cubicBezTo>
                  <a:pt x="74243" y="124600"/>
                  <a:pt x="69776" y="120134"/>
                  <a:pt x="69776" y="11463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9" name="Text 47"/>
          <p:cNvSpPr/>
          <p:nvPr/>
        </p:nvSpPr>
        <p:spPr>
          <a:xfrm>
            <a:off x="8402712" y="1417674"/>
            <a:ext cx="3375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特殊场景说明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16642" y="1772093"/>
            <a:ext cx="3482163" cy="868326"/>
          </a:xfrm>
          <a:custGeom>
            <a:avLst/>
            <a:gdLst/>
            <a:ahLst/>
            <a:cxnLst/>
            <a:rect l="l" t="t" r="r" b="b"/>
            <a:pathLst>
              <a:path w="3482163" h="868326">
                <a:moveTo>
                  <a:pt x="35442" y="0"/>
                </a:moveTo>
                <a:lnTo>
                  <a:pt x="3411281" y="0"/>
                </a:lnTo>
                <a:cubicBezTo>
                  <a:pt x="3450428" y="0"/>
                  <a:pt x="3482163" y="31735"/>
                  <a:pt x="3482163" y="70881"/>
                </a:cubicBezTo>
                <a:lnTo>
                  <a:pt x="3482163" y="797444"/>
                </a:lnTo>
                <a:cubicBezTo>
                  <a:pt x="3482163" y="836591"/>
                  <a:pt x="3450428" y="868326"/>
                  <a:pt x="3411281" y="868326"/>
                </a:cubicBezTo>
                <a:lnTo>
                  <a:pt x="35442" y="868326"/>
                </a:lnTo>
                <a:cubicBezTo>
                  <a:pt x="15868" y="868326"/>
                  <a:pt x="0" y="852458"/>
                  <a:pt x="0" y="83288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216642" y="1772093"/>
            <a:ext cx="35442" cy="868326"/>
          </a:xfrm>
          <a:custGeom>
            <a:avLst/>
            <a:gdLst/>
            <a:ahLst/>
            <a:cxnLst/>
            <a:rect l="l" t="t" r="r" b="b"/>
            <a:pathLst>
              <a:path w="35442" h="868326">
                <a:moveTo>
                  <a:pt x="35442" y="0"/>
                </a:moveTo>
                <a:lnTo>
                  <a:pt x="35442" y="0"/>
                </a:lnTo>
                <a:lnTo>
                  <a:pt x="35442" y="868326"/>
                </a:lnTo>
                <a:lnTo>
                  <a:pt x="35442" y="868326"/>
                </a:lnTo>
                <a:cubicBezTo>
                  <a:pt x="15868" y="868326"/>
                  <a:pt x="0" y="852458"/>
                  <a:pt x="0" y="83288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2" name="Text 50"/>
          <p:cNvSpPr/>
          <p:nvPr/>
        </p:nvSpPr>
        <p:spPr>
          <a:xfrm>
            <a:off x="8340688" y="1878419"/>
            <a:ext cx="331381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340688" y="2126512"/>
            <a:ext cx="3313814" cy="4075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满足立项标准的区域级/BU级/BG级项目修改"是否发起立项申请"为"否",需填写具体不立项原因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16642" y="2742314"/>
            <a:ext cx="3482163" cy="1063256"/>
          </a:xfrm>
          <a:custGeom>
            <a:avLst/>
            <a:gdLst/>
            <a:ahLst/>
            <a:cxnLst/>
            <a:rect l="l" t="t" r="r" b="b"/>
            <a:pathLst>
              <a:path w="3482163" h="1063256">
                <a:moveTo>
                  <a:pt x="35442" y="0"/>
                </a:moveTo>
                <a:lnTo>
                  <a:pt x="3411276" y="0"/>
                </a:lnTo>
                <a:cubicBezTo>
                  <a:pt x="3450425" y="0"/>
                  <a:pt x="3482163" y="31737"/>
                  <a:pt x="3482163" y="70887"/>
                </a:cubicBezTo>
                <a:lnTo>
                  <a:pt x="3482163" y="992369"/>
                </a:lnTo>
                <a:cubicBezTo>
                  <a:pt x="3482163" y="1031519"/>
                  <a:pt x="3450425" y="1063256"/>
                  <a:pt x="3411276" y="1063256"/>
                </a:cubicBezTo>
                <a:lnTo>
                  <a:pt x="35442" y="1063256"/>
                </a:lnTo>
                <a:cubicBezTo>
                  <a:pt x="15868" y="1063256"/>
                  <a:pt x="0" y="1047388"/>
                  <a:pt x="0" y="102781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216642" y="2742314"/>
            <a:ext cx="35442" cy="1063256"/>
          </a:xfrm>
          <a:custGeom>
            <a:avLst/>
            <a:gdLst/>
            <a:ahLst/>
            <a:cxnLst/>
            <a:rect l="l" t="t" r="r" b="b"/>
            <a:pathLst>
              <a:path w="35442" h="1063256">
                <a:moveTo>
                  <a:pt x="35442" y="0"/>
                </a:moveTo>
                <a:lnTo>
                  <a:pt x="35442" y="0"/>
                </a:lnTo>
                <a:lnTo>
                  <a:pt x="35442" y="1063256"/>
                </a:lnTo>
                <a:lnTo>
                  <a:pt x="35442" y="1063256"/>
                </a:lnTo>
                <a:cubicBezTo>
                  <a:pt x="15868" y="1063256"/>
                  <a:pt x="0" y="1047388"/>
                  <a:pt x="0" y="1027814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6" name="Text 54"/>
          <p:cNvSpPr/>
          <p:nvPr/>
        </p:nvSpPr>
        <p:spPr>
          <a:xfrm>
            <a:off x="8340688" y="2848640"/>
            <a:ext cx="331381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40688" y="3096733"/>
            <a:ext cx="3313814" cy="602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7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不满足立项初始标准的一般项目想要立项,需调整"分级分层"为区域级/BU级/BG级,同时"是否发起立项申请"填写为"是"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057153" y="4055878"/>
            <a:ext cx="3783419" cy="2427767"/>
          </a:xfrm>
          <a:custGeom>
            <a:avLst/>
            <a:gdLst/>
            <a:ahLst/>
            <a:cxnLst/>
            <a:rect l="l" t="t" r="r" b="b"/>
            <a:pathLst>
              <a:path w="3783419" h="2427767">
                <a:moveTo>
                  <a:pt x="106336" y="0"/>
                </a:moveTo>
                <a:lnTo>
                  <a:pt x="3677082" y="0"/>
                </a:lnTo>
                <a:cubicBezTo>
                  <a:pt x="3735810" y="0"/>
                  <a:pt x="3783419" y="47608"/>
                  <a:pt x="3783419" y="106336"/>
                </a:cubicBezTo>
                <a:lnTo>
                  <a:pt x="3783419" y="2321431"/>
                </a:lnTo>
                <a:cubicBezTo>
                  <a:pt x="3783419" y="2380159"/>
                  <a:pt x="3735810" y="2427767"/>
                  <a:pt x="3677082" y="2427767"/>
                </a:cubicBezTo>
                <a:lnTo>
                  <a:pt x="106336" y="2427767"/>
                </a:lnTo>
                <a:cubicBezTo>
                  <a:pt x="47608" y="2427767"/>
                  <a:pt x="0" y="2380159"/>
                  <a:pt x="0" y="2321431"/>
                </a:cubicBezTo>
                <a:lnTo>
                  <a:pt x="0" y="106336"/>
                </a:lnTo>
                <a:cubicBezTo>
                  <a:pt x="0" y="47608"/>
                  <a:pt x="47608" y="0"/>
                  <a:pt x="10633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9" name="Shape 57"/>
          <p:cNvSpPr/>
          <p:nvPr/>
        </p:nvSpPr>
        <p:spPr>
          <a:xfrm>
            <a:off x="8221072" y="4241948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159488" y="29904"/>
                </a:moveTo>
                <a:cubicBezTo>
                  <a:pt x="159488" y="45541"/>
                  <a:pt x="141079" y="68873"/>
                  <a:pt x="133135" y="78187"/>
                </a:cubicBezTo>
                <a:cubicBezTo>
                  <a:pt x="131952" y="79557"/>
                  <a:pt x="130207" y="80087"/>
                  <a:pt x="128619" y="79744"/>
                </a:cubicBezTo>
                <a:lnTo>
                  <a:pt x="99680" y="79744"/>
                </a:lnTo>
                <a:cubicBezTo>
                  <a:pt x="94167" y="79744"/>
                  <a:pt x="89712" y="84199"/>
                  <a:pt x="89712" y="89712"/>
                </a:cubicBezTo>
                <a:cubicBezTo>
                  <a:pt x="89712" y="95226"/>
                  <a:pt x="94167" y="99680"/>
                  <a:pt x="99680" y="99680"/>
                </a:cubicBezTo>
                <a:lnTo>
                  <a:pt x="129584" y="99680"/>
                </a:lnTo>
                <a:cubicBezTo>
                  <a:pt x="146094" y="99680"/>
                  <a:pt x="159488" y="113075"/>
                  <a:pt x="159488" y="129584"/>
                </a:cubicBezTo>
                <a:cubicBezTo>
                  <a:pt x="159488" y="146094"/>
                  <a:pt x="146094" y="159488"/>
                  <a:pt x="129584" y="159488"/>
                </a:cubicBezTo>
                <a:lnTo>
                  <a:pt x="43486" y="159488"/>
                </a:lnTo>
                <a:cubicBezTo>
                  <a:pt x="46196" y="156405"/>
                  <a:pt x="49497" y="152448"/>
                  <a:pt x="52831" y="148025"/>
                </a:cubicBezTo>
                <a:cubicBezTo>
                  <a:pt x="54793" y="145409"/>
                  <a:pt x="56818" y="142543"/>
                  <a:pt x="58749" y="139552"/>
                </a:cubicBezTo>
                <a:lnTo>
                  <a:pt x="129584" y="139552"/>
                </a:lnTo>
                <a:cubicBezTo>
                  <a:pt x="135098" y="139552"/>
                  <a:pt x="139552" y="135098"/>
                  <a:pt x="139552" y="129584"/>
                </a:cubicBezTo>
                <a:cubicBezTo>
                  <a:pt x="139552" y="124071"/>
                  <a:pt x="135098" y="119616"/>
                  <a:pt x="129584" y="119616"/>
                </a:cubicBezTo>
                <a:lnTo>
                  <a:pt x="99680" y="119616"/>
                </a:lnTo>
                <a:cubicBezTo>
                  <a:pt x="83171" y="119616"/>
                  <a:pt x="69776" y="106222"/>
                  <a:pt x="69776" y="89712"/>
                </a:cubicBezTo>
                <a:cubicBezTo>
                  <a:pt x="69776" y="73203"/>
                  <a:pt x="83171" y="59808"/>
                  <a:pt x="99680" y="59808"/>
                </a:cubicBezTo>
                <a:lnTo>
                  <a:pt x="112078" y="59808"/>
                </a:lnTo>
                <a:cubicBezTo>
                  <a:pt x="105536" y="49996"/>
                  <a:pt x="99680" y="38720"/>
                  <a:pt x="99680" y="29904"/>
                </a:cubicBezTo>
                <a:cubicBezTo>
                  <a:pt x="99680" y="13395"/>
                  <a:pt x="113075" y="0"/>
                  <a:pt x="129584" y="0"/>
                </a:cubicBezTo>
                <a:cubicBezTo>
                  <a:pt x="146094" y="0"/>
                  <a:pt x="159488" y="13395"/>
                  <a:pt x="159488" y="29904"/>
                </a:cubicBezTo>
                <a:close/>
                <a:moveTo>
                  <a:pt x="36477" y="152355"/>
                </a:moveTo>
                <a:cubicBezTo>
                  <a:pt x="35293" y="153694"/>
                  <a:pt x="34234" y="154878"/>
                  <a:pt x="33331" y="155875"/>
                </a:cubicBezTo>
                <a:lnTo>
                  <a:pt x="32770" y="156498"/>
                </a:lnTo>
                <a:lnTo>
                  <a:pt x="32708" y="156436"/>
                </a:lnTo>
                <a:cubicBezTo>
                  <a:pt x="30839" y="157869"/>
                  <a:pt x="28160" y="157682"/>
                  <a:pt x="26478" y="155875"/>
                </a:cubicBezTo>
                <a:cubicBezTo>
                  <a:pt x="18628" y="147340"/>
                  <a:pt x="0" y="125379"/>
                  <a:pt x="0" y="109648"/>
                </a:cubicBezTo>
                <a:cubicBezTo>
                  <a:pt x="0" y="93139"/>
                  <a:pt x="13395" y="79744"/>
                  <a:pt x="29904" y="79744"/>
                </a:cubicBezTo>
                <a:cubicBezTo>
                  <a:pt x="46414" y="79744"/>
                  <a:pt x="59808" y="93139"/>
                  <a:pt x="59808" y="109648"/>
                </a:cubicBezTo>
                <a:cubicBezTo>
                  <a:pt x="59808" y="118993"/>
                  <a:pt x="53235" y="130519"/>
                  <a:pt x="46258" y="140144"/>
                </a:cubicBezTo>
                <a:cubicBezTo>
                  <a:pt x="42925" y="144723"/>
                  <a:pt x="39498" y="148866"/>
                  <a:pt x="36664" y="152137"/>
                </a:cubicBezTo>
                <a:lnTo>
                  <a:pt x="36477" y="152355"/>
                </a:lnTo>
                <a:close/>
                <a:moveTo>
                  <a:pt x="39872" y="109648"/>
                </a:moveTo>
                <a:cubicBezTo>
                  <a:pt x="39872" y="104147"/>
                  <a:pt x="35406" y="99680"/>
                  <a:pt x="29904" y="99680"/>
                </a:cubicBezTo>
                <a:cubicBezTo>
                  <a:pt x="24403" y="99680"/>
                  <a:pt x="19936" y="104147"/>
                  <a:pt x="19936" y="109648"/>
                </a:cubicBezTo>
                <a:cubicBezTo>
                  <a:pt x="19936" y="115150"/>
                  <a:pt x="24403" y="119616"/>
                  <a:pt x="29904" y="119616"/>
                </a:cubicBezTo>
                <a:cubicBezTo>
                  <a:pt x="35406" y="119616"/>
                  <a:pt x="39872" y="115150"/>
                  <a:pt x="39872" y="109648"/>
                </a:cubicBezTo>
                <a:close/>
                <a:moveTo>
                  <a:pt x="129584" y="39872"/>
                </a:moveTo>
                <a:cubicBezTo>
                  <a:pt x="135086" y="39872"/>
                  <a:pt x="139552" y="35406"/>
                  <a:pt x="139552" y="29904"/>
                </a:cubicBezTo>
                <a:cubicBezTo>
                  <a:pt x="139552" y="24403"/>
                  <a:pt x="135086" y="19936"/>
                  <a:pt x="129584" y="19936"/>
                </a:cubicBezTo>
                <a:cubicBezTo>
                  <a:pt x="124083" y="19936"/>
                  <a:pt x="119616" y="24403"/>
                  <a:pt x="119616" y="29904"/>
                </a:cubicBezTo>
                <a:cubicBezTo>
                  <a:pt x="119616" y="35406"/>
                  <a:pt x="124083" y="39872"/>
                  <a:pt x="129584" y="3987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8402712" y="4197645"/>
            <a:ext cx="3375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CRM访问路径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98921" y="4552064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269805" y="4622948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243223" y="4622948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53339" y="4640669"/>
            <a:ext cx="584791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登录CRM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198921" y="4977366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269805" y="5048250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243223" y="5048250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553339" y="5065971"/>
            <a:ext cx="558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智能分析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198921" y="5402669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269805" y="5473552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243223" y="5473552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553339" y="5491273"/>
            <a:ext cx="558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公共空间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8198921" y="5827971"/>
            <a:ext cx="3499884" cy="354419"/>
          </a:xfrm>
          <a:custGeom>
            <a:avLst/>
            <a:gdLst/>
            <a:ahLst/>
            <a:cxnLst/>
            <a:rect l="l" t="t" r="r" b="b"/>
            <a:pathLst>
              <a:path w="3499884" h="354419">
                <a:moveTo>
                  <a:pt x="70884" y="0"/>
                </a:moveTo>
                <a:lnTo>
                  <a:pt x="3429000" y="0"/>
                </a:lnTo>
                <a:cubicBezTo>
                  <a:pt x="3468148" y="0"/>
                  <a:pt x="3499884" y="31736"/>
                  <a:pt x="3499884" y="70884"/>
                </a:cubicBezTo>
                <a:lnTo>
                  <a:pt x="3499884" y="283535"/>
                </a:lnTo>
                <a:cubicBezTo>
                  <a:pt x="3499884" y="322683"/>
                  <a:pt x="3468148" y="354419"/>
                  <a:pt x="3429000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8269805" y="5898855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06326" y="0"/>
                </a:moveTo>
                <a:lnTo>
                  <a:pt x="106326" y="0"/>
                </a:lnTo>
                <a:cubicBezTo>
                  <a:pt x="165008" y="0"/>
                  <a:pt x="212651" y="47643"/>
                  <a:pt x="212651" y="106326"/>
                </a:cubicBezTo>
                <a:lnTo>
                  <a:pt x="212651" y="106326"/>
                </a:lnTo>
                <a:cubicBezTo>
                  <a:pt x="212651" y="165008"/>
                  <a:pt x="165008" y="212651"/>
                  <a:pt x="106326" y="212651"/>
                </a:cubicBezTo>
                <a:lnTo>
                  <a:pt x="106326" y="212651"/>
                </a:lnTo>
                <a:cubicBezTo>
                  <a:pt x="47643" y="212651"/>
                  <a:pt x="0" y="165008"/>
                  <a:pt x="0" y="106326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243223" y="5898855"/>
            <a:ext cx="265814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3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553339" y="5916576"/>
            <a:ext cx="76200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MO流程看板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339247" y="5408619"/>
            <a:ext cx="7557978" cy="1075026"/>
          </a:xfrm>
          <a:custGeom>
            <a:avLst/>
            <a:gdLst/>
            <a:ahLst/>
            <a:cxnLst/>
            <a:rect l="l" t="t" r="r" b="b"/>
            <a:pathLst>
              <a:path w="11483163" h="425302">
                <a:moveTo>
                  <a:pt x="106326" y="0"/>
                </a:moveTo>
                <a:lnTo>
                  <a:pt x="11376837" y="0"/>
                </a:lnTo>
                <a:cubicBezTo>
                  <a:pt x="11435559" y="0"/>
                  <a:pt x="11483163" y="47604"/>
                  <a:pt x="11483163" y="106326"/>
                </a:cubicBezTo>
                <a:lnTo>
                  <a:pt x="11483163" y="318977"/>
                </a:lnTo>
                <a:cubicBezTo>
                  <a:pt x="11483163" y="377699"/>
                  <a:pt x="11435559" y="425302"/>
                  <a:pt x="1137683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8" name="Shape 76"/>
          <p:cNvSpPr/>
          <p:nvPr/>
        </p:nvSpPr>
        <p:spPr>
          <a:xfrm>
            <a:off x="2770889" y="6734395"/>
            <a:ext cx="141767" cy="141767"/>
          </a:xfrm>
          <a:custGeom>
            <a:avLst/>
            <a:gdLst/>
            <a:ahLst/>
            <a:cxnLst/>
            <a:rect l="l" t="t" r="r" b="b"/>
            <a:pathLst>
              <a:path w="141767" h="141767">
                <a:moveTo>
                  <a:pt x="124047" y="70884"/>
                </a:moveTo>
                <a:cubicBezTo>
                  <a:pt x="124047" y="41542"/>
                  <a:pt x="100225" y="17721"/>
                  <a:pt x="70884" y="17721"/>
                </a:cubicBezTo>
                <a:cubicBezTo>
                  <a:pt x="41542" y="17721"/>
                  <a:pt x="17721" y="41542"/>
                  <a:pt x="17721" y="70884"/>
                </a:cubicBezTo>
                <a:cubicBezTo>
                  <a:pt x="17721" y="100225"/>
                  <a:pt x="41542" y="124047"/>
                  <a:pt x="70884" y="124047"/>
                </a:cubicBezTo>
                <a:cubicBezTo>
                  <a:pt x="100225" y="124047"/>
                  <a:pt x="124047" y="100225"/>
                  <a:pt x="124047" y="70884"/>
                </a:cubicBezTo>
                <a:close/>
                <a:moveTo>
                  <a:pt x="0" y="70884"/>
                </a:moveTo>
                <a:cubicBezTo>
                  <a:pt x="0" y="31762"/>
                  <a:pt x="31762" y="0"/>
                  <a:pt x="70884" y="0"/>
                </a:cubicBezTo>
                <a:cubicBezTo>
                  <a:pt x="110006" y="0"/>
                  <a:pt x="141767" y="31762"/>
                  <a:pt x="141767" y="70884"/>
                </a:cubicBezTo>
                <a:cubicBezTo>
                  <a:pt x="141767" y="110006"/>
                  <a:pt x="110006" y="141767"/>
                  <a:pt x="70884" y="141767"/>
                </a:cubicBezTo>
                <a:cubicBezTo>
                  <a:pt x="31762" y="141767"/>
                  <a:pt x="0" y="110006"/>
                  <a:pt x="0" y="70884"/>
                </a:cubicBezTo>
                <a:close/>
                <a:moveTo>
                  <a:pt x="70884" y="93035"/>
                </a:moveTo>
                <a:cubicBezTo>
                  <a:pt x="83109" y="93035"/>
                  <a:pt x="93035" y="83109"/>
                  <a:pt x="93035" y="70884"/>
                </a:cubicBezTo>
                <a:cubicBezTo>
                  <a:pt x="93035" y="58658"/>
                  <a:pt x="83109" y="48733"/>
                  <a:pt x="70884" y="48733"/>
                </a:cubicBezTo>
                <a:cubicBezTo>
                  <a:pt x="58658" y="48733"/>
                  <a:pt x="48733" y="58658"/>
                  <a:pt x="48733" y="70884"/>
                </a:cubicBezTo>
                <a:cubicBezTo>
                  <a:pt x="48733" y="83109"/>
                  <a:pt x="58658" y="93035"/>
                  <a:pt x="70884" y="93035"/>
                </a:cubicBezTo>
                <a:close/>
                <a:moveTo>
                  <a:pt x="70884" y="31012"/>
                </a:moveTo>
                <a:cubicBezTo>
                  <a:pt x="92890" y="31012"/>
                  <a:pt x="110756" y="48878"/>
                  <a:pt x="110756" y="70884"/>
                </a:cubicBezTo>
                <a:cubicBezTo>
                  <a:pt x="110756" y="92890"/>
                  <a:pt x="92890" y="110756"/>
                  <a:pt x="70884" y="110756"/>
                </a:cubicBezTo>
                <a:cubicBezTo>
                  <a:pt x="48878" y="110756"/>
                  <a:pt x="31012" y="92890"/>
                  <a:pt x="31012" y="70884"/>
                </a:cubicBezTo>
                <a:cubicBezTo>
                  <a:pt x="31012" y="48878"/>
                  <a:pt x="48878" y="31012"/>
                  <a:pt x="70884" y="31012"/>
                </a:cubicBezTo>
                <a:close/>
                <a:moveTo>
                  <a:pt x="62023" y="70884"/>
                </a:moveTo>
                <a:cubicBezTo>
                  <a:pt x="62023" y="65993"/>
                  <a:pt x="65993" y="62023"/>
                  <a:pt x="70884" y="62023"/>
                </a:cubicBezTo>
                <a:cubicBezTo>
                  <a:pt x="75774" y="62023"/>
                  <a:pt x="79744" y="65993"/>
                  <a:pt x="79744" y="70884"/>
                </a:cubicBezTo>
                <a:cubicBezTo>
                  <a:pt x="79744" y="75774"/>
                  <a:pt x="75774" y="79744"/>
                  <a:pt x="70884" y="79744"/>
                </a:cubicBezTo>
                <a:cubicBezTo>
                  <a:pt x="65993" y="79744"/>
                  <a:pt x="62023" y="75774"/>
                  <a:pt x="62023" y="7088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801872" y="5865269"/>
            <a:ext cx="647700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通过系统操作的标准化和执行检查机制的落地,确保MO流程各关键节点有效执行,持续提升商机管理能力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.homeadore.com/86fc4d6ca86d602cf8789fdb1d6b240e6f9b4cbc.jpg"/>
          <p:cNvPicPr>
            <a:picLocks noChangeAspect="1"/>
          </p:cNvPicPr>
          <p:nvPr/>
        </p:nvPicPr>
        <p:blipFill>
          <a:blip r:embed="rId3"/>
          <a:srcRect t="6185" b="6185"/>
          <a:stretch/>
        </p:blipFill>
        <p:spPr>
          <a:xfrm>
            <a:off x="0" y="0"/>
            <a:ext cx="12192000" cy="713030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130306"/>
          </a:xfrm>
          <a:custGeom>
            <a:avLst/>
            <a:gdLst/>
            <a:ahLst/>
            <a:cxnLst/>
            <a:rect l="l" t="t" r="r" b="b"/>
            <a:pathLst>
              <a:path w="12192000" h="7130306">
                <a:moveTo>
                  <a:pt x="0" y="0"/>
                </a:moveTo>
                <a:lnTo>
                  <a:pt x="12192000" y="0"/>
                </a:lnTo>
                <a:lnTo>
                  <a:pt x="12192000" y="7130306"/>
                </a:lnTo>
                <a:lnTo>
                  <a:pt x="0" y="713030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3E50">
                  <a:alpha val="90000"/>
                </a:srgbClr>
              </a:gs>
              <a:gs pos="50000">
                <a:srgbClr val="2C3E50">
                  <a:alpha val="80000"/>
                </a:srgbClr>
              </a:gs>
              <a:gs pos="100000">
                <a:srgbClr val="D4A276">
                  <a:alpha val="7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63875" y="9037"/>
            <a:ext cx="2855784" cy="402739"/>
          </a:xfrm>
          <a:custGeom>
            <a:avLst/>
            <a:gdLst/>
            <a:ahLst/>
            <a:cxnLst/>
            <a:rect l="l" t="t" r="r" b="b"/>
            <a:pathLst>
              <a:path w="2855784" h="402739">
                <a:moveTo>
                  <a:pt x="73226" y="0"/>
                </a:moveTo>
                <a:lnTo>
                  <a:pt x="2782558" y="0"/>
                </a:lnTo>
                <a:cubicBezTo>
                  <a:pt x="2822999" y="0"/>
                  <a:pt x="2855784" y="32784"/>
                  <a:pt x="2855784" y="73226"/>
                </a:cubicBezTo>
                <a:lnTo>
                  <a:pt x="2855784" y="329513"/>
                </a:lnTo>
                <a:cubicBezTo>
                  <a:pt x="2855784" y="369954"/>
                  <a:pt x="2822999" y="402739"/>
                  <a:pt x="2782558" y="402739"/>
                </a:cubicBezTo>
                <a:lnTo>
                  <a:pt x="73226" y="402739"/>
                </a:lnTo>
                <a:cubicBezTo>
                  <a:pt x="32784" y="402739"/>
                  <a:pt x="0" y="369954"/>
                  <a:pt x="0" y="329513"/>
                </a:cubicBezTo>
                <a:lnTo>
                  <a:pt x="0" y="73226"/>
                </a:lnTo>
                <a:cubicBezTo>
                  <a:pt x="0" y="32784"/>
                  <a:pt x="32784" y="0"/>
                  <a:pt x="73226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Text 2"/>
          <p:cNvSpPr/>
          <p:nvPr/>
        </p:nvSpPr>
        <p:spPr>
          <a:xfrm>
            <a:off x="4842362" y="82262"/>
            <a:ext cx="2498811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7" b="1" kern="0" spc="65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TOGETHER WE GO FURTHER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28829" y="631451"/>
            <a:ext cx="11734342" cy="13729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324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携手并进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324" b="1" dirty="0">
                <a:solidFill>
                  <a:srgbClr val="F8F6F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推动MO流程高质量落地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508139" y="2150875"/>
            <a:ext cx="1171604" cy="36613"/>
          </a:xfrm>
          <a:custGeom>
            <a:avLst/>
            <a:gdLst/>
            <a:ahLst/>
            <a:cxnLst/>
            <a:rect l="l" t="t" r="r" b="b"/>
            <a:pathLst>
              <a:path w="1171604" h="36613">
                <a:moveTo>
                  <a:pt x="0" y="0"/>
                </a:moveTo>
                <a:lnTo>
                  <a:pt x="1171604" y="0"/>
                </a:lnTo>
                <a:lnTo>
                  <a:pt x="1171604" y="36613"/>
                </a:lnTo>
                <a:lnTo>
                  <a:pt x="0" y="36613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8" name="Text 5"/>
          <p:cNvSpPr/>
          <p:nvPr/>
        </p:nvSpPr>
        <p:spPr>
          <a:xfrm>
            <a:off x="311207" y="2407163"/>
            <a:ext cx="11569586" cy="292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0" dirty="0">
                <a:solidFill>
                  <a:srgbClr val="F8F6F2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全生命周期管理 · 共创高质量商机转化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3449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09233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1" name="Text 8"/>
          <p:cNvSpPr/>
          <p:nvPr/>
        </p:nvSpPr>
        <p:spPr>
          <a:xfrm>
            <a:off x="1840585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4681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年初提报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3834" y="4691679"/>
            <a:ext cx="3276829" cy="47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GTM/重客/系统部负责人按要求提供重点项目清单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265141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0925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6" name="Text 13"/>
          <p:cNvSpPr/>
          <p:nvPr/>
        </p:nvSpPr>
        <p:spPr>
          <a:xfrm>
            <a:off x="5732277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46373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系统立项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455526" y="4691679"/>
            <a:ext cx="3276829" cy="23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MO项目组协调IT批量导入CRM统一立项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156947" y="3366306"/>
            <a:ext cx="3657600" cy="2028339"/>
          </a:xfrm>
          <a:custGeom>
            <a:avLst/>
            <a:gdLst/>
            <a:ahLst/>
            <a:cxnLst/>
            <a:rect l="l" t="t" r="r" b="b"/>
            <a:pathLst>
              <a:path w="3657600" h="2028339">
                <a:moveTo>
                  <a:pt x="109835" y="0"/>
                </a:moveTo>
                <a:lnTo>
                  <a:pt x="3547765" y="0"/>
                </a:lnTo>
                <a:cubicBezTo>
                  <a:pt x="3608425" y="0"/>
                  <a:pt x="3657600" y="49175"/>
                  <a:pt x="3657600" y="109835"/>
                </a:cubicBezTo>
                <a:lnTo>
                  <a:pt x="3657600" y="1918504"/>
                </a:lnTo>
                <a:cubicBezTo>
                  <a:pt x="3657600" y="1979164"/>
                  <a:pt x="3608425" y="2028339"/>
                  <a:pt x="3547765" y="2028339"/>
                </a:cubicBezTo>
                <a:lnTo>
                  <a:pt x="109835" y="2028339"/>
                </a:lnTo>
                <a:cubicBezTo>
                  <a:pt x="49175" y="2028339"/>
                  <a:pt x="0" y="1979164"/>
                  <a:pt x="0" y="1918504"/>
                </a:cubicBezTo>
                <a:lnTo>
                  <a:pt x="0" y="109835"/>
                </a:lnTo>
                <a:cubicBezTo>
                  <a:pt x="0" y="49215"/>
                  <a:pt x="49215" y="0"/>
                  <a:pt x="109835" y="0"/>
                </a:cubicBezTo>
                <a:close/>
              </a:path>
            </a:pathLst>
          </a:custGeom>
          <a:solidFill>
            <a:srgbClr val="F8F6F2">
              <a:alpha val="14902"/>
            </a:srgbClr>
          </a:solidFill>
          <a:ln w="20320">
            <a:solidFill>
              <a:srgbClr val="F8F6F2">
                <a:alpha val="30196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692732" y="3593301"/>
            <a:ext cx="585802" cy="585802"/>
          </a:xfrm>
          <a:custGeom>
            <a:avLst/>
            <a:gdLst/>
            <a:ahLst/>
            <a:cxnLst/>
            <a:rect l="l" t="t" r="r" b="b"/>
            <a:pathLst>
              <a:path w="585802" h="585802">
                <a:moveTo>
                  <a:pt x="292901" y="0"/>
                </a:moveTo>
                <a:lnTo>
                  <a:pt x="292901" y="0"/>
                </a:lnTo>
                <a:cubicBezTo>
                  <a:pt x="454557" y="0"/>
                  <a:pt x="585802" y="131244"/>
                  <a:pt x="585802" y="292901"/>
                </a:cubicBezTo>
                <a:lnTo>
                  <a:pt x="585802" y="292901"/>
                </a:lnTo>
                <a:cubicBezTo>
                  <a:pt x="585802" y="454557"/>
                  <a:pt x="454557" y="585802"/>
                  <a:pt x="292901" y="585802"/>
                </a:cubicBezTo>
                <a:lnTo>
                  <a:pt x="292901" y="585802"/>
                </a:lnTo>
                <a:cubicBezTo>
                  <a:pt x="131244" y="585802"/>
                  <a:pt x="0" y="454557"/>
                  <a:pt x="0" y="292901"/>
                </a:cubicBezTo>
                <a:lnTo>
                  <a:pt x="0" y="292901"/>
                </a:lnTo>
                <a:cubicBezTo>
                  <a:pt x="0" y="131244"/>
                  <a:pt x="131244" y="0"/>
                  <a:pt x="292901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1" name="Text 18"/>
          <p:cNvSpPr/>
          <p:nvPr/>
        </p:nvSpPr>
        <p:spPr>
          <a:xfrm>
            <a:off x="9624084" y="3593301"/>
            <a:ext cx="723099" cy="585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62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38180" y="4325553"/>
            <a:ext cx="3295135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8F6F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全周期管理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347333" y="4691679"/>
            <a:ext cx="3276829" cy="237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3" dirty="0">
                <a:solidFill>
                  <a:srgbClr val="F8F6F2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通过周例会机制持续追踪推进,提升转化效率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66126" y="5768087"/>
            <a:ext cx="11459748" cy="915315"/>
          </a:xfrm>
          <a:custGeom>
            <a:avLst/>
            <a:gdLst/>
            <a:ahLst/>
            <a:cxnLst/>
            <a:rect l="l" t="t" r="r" b="b"/>
            <a:pathLst>
              <a:path w="11459748" h="915315">
                <a:moveTo>
                  <a:pt x="109838" y="0"/>
                </a:moveTo>
                <a:lnTo>
                  <a:pt x="11349910" y="0"/>
                </a:lnTo>
                <a:cubicBezTo>
                  <a:pt x="11410572" y="0"/>
                  <a:pt x="11459748" y="49176"/>
                  <a:pt x="11459748" y="109838"/>
                </a:cubicBezTo>
                <a:lnTo>
                  <a:pt x="11459748" y="805477"/>
                </a:lnTo>
                <a:cubicBezTo>
                  <a:pt x="11459748" y="866139"/>
                  <a:pt x="11410572" y="915315"/>
                  <a:pt x="11349910" y="915315"/>
                </a:cubicBezTo>
                <a:lnTo>
                  <a:pt x="109838" y="915315"/>
                </a:lnTo>
                <a:cubicBezTo>
                  <a:pt x="49176" y="915315"/>
                  <a:pt x="0" y="866139"/>
                  <a:pt x="0" y="805477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2"/>
          <p:cNvSpPr/>
          <p:nvPr/>
        </p:nvSpPr>
        <p:spPr>
          <a:xfrm>
            <a:off x="503423" y="5951150"/>
            <a:ext cx="11185153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4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严格执行MO流程各关键节点 · 共同提升商机转化质量和效率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2577" y="6280663"/>
            <a:ext cx="11166847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如有疑问,请联系MO流程项目组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29514" y="6903077"/>
            <a:ext cx="1153297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3" dirty="0">
                <a:solidFill>
                  <a:srgbClr val="F8F6F2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2026年1月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1901" y="321901"/>
            <a:ext cx="11612578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kern="0" spc="51" dirty="0">
                <a:solidFill>
                  <a:srgbClr val="D4A27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STATUS &amp; NEXT STEPS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1901" y="579422"/>
            <a:ext cx="11693053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81" b="1" dirty="0">
                <a:solidFill>
                  <a:srgbClr val="2C3E50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当前执行情况分析与下一步要求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901" y="997893"/>
            <a:ext cx="772562" cy="32190"/>
          </a:xfrm>
          <a:custGeom>
            <a:avLst/>
            <a:gdLst/>
            <a:ahLst/>
            <a:cxnLst/>
            <a:rect l="l" t="t" r="r" b="b"/>
            <a:pathLst>
              <a:path w="772562" h="32190">
                <a:moveTo>
                  <a:pt x="0" y="0"/>
                </a:moveTo>
                <a:lnTo>
                  <a:pt x="772562" y="0"/>
                </a:lnTo>
                <a:lnTo>
                  <a:pt x="772562" y="32190"/>
                </a:lnTo>
                <a:lnTo>
                  <a:pt x="0" y="32190"/>
                </a:lnTo>
                <a:lnTo>
                  <a:pt x="0" y="0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" name="Shape 3"/>
          <p:cNvSpPr/>
          <p:nvPr/>
        </p:nvSpPr>
        <p:spPr>
          <a:xfrm>
            <a:off x="321901" y="1158844"/>
            <a:ext cx="5705695" cy="2510828"/>
          </a:xfrm>
          <a:custGeom>
            <a:avLst/>
            <a:gdLst/>
            <a:ahLst/>
            <a:cxnLst/>
            <a:rect l="l" t="t" r="r" b="b"/>
            <a:pathLst>
              <a:path w="5705695" h="2510828">
                <a:moveTo>
                  <a:pt x="96566" y="0"/>
                </a:moveTo>
                <a:lnTo>
                  <a:pt x="5609129" y="0"/>
                </a:lnTo>
                <a:cubicBezTo>
                  <a:pt x="5662461" y="0"/>
                  <a:pt x="5705695" y="43234"/>
                  <a:pt x="5705695" y="96566"/>
                </a:cubicBezTo>
                <a:lnTo>
                  <a:pt x="5705695" y="2414261"/>
                </a:lnTo>
                <a:cubicBezTo>
                  <a:pt x="5705695" y="2467593"/>
                  <a:pt x="5662461" y="2510828"/>
                  <a:pt x="5609129" y="2510828"/>
                </a:cubicBezTo>
                <a:lnTo>
                  <a:pt x="96566" y="2510828"/>
                </a:lnTo>
                <a:cubicBezTo>
                  <a:pt x="43234" y="2510828"/>
                  <a:pt x="0" y="2467593"/>
                  <a:pt x="0" y="2414261"/>
                </a:cubicBezTo>
                <a:lnTo>
                  <a:pt x="0" y="96566"/>
                </a:lnTo>
                <a:cubicBezTo>
                  <a:pt x="0" y="43270"/>
                  <a:pt x="43270" y="0"/>
                  <a:pt x="96566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" name="Shape 4"/>
          <p:cNvSpPr/>
          <p:nvPr/>
        </p:nvSpPr>
        <p:spPr>
          <a:xfrm>
            <a:off x="470780" y="1319794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20119" y="20119"/>
                </a:moveTo>
                <a:cubicBezTo>
                  <a:pt x="20119" y="14555"/>
                  <a:pt x="15624" y="10059"/>
                  <a:pt x="10059" y="10059"/>
                </a:cubicBezTo>
                <a:cubicBezTo>
                  <a:pt x="4495" y="10059"/>
                  <a:pt x="0" y="14555"/>
                  <a:pt x="0" y="20119"/>
                </a:cubicBezTo>
                <a:lnTo>
                  <a:pt x="0" y="125743"/>
                </a:lnTo>
                <a:cubicBezTo>
                  <a:pt x="0" y="139637"/>
                  <a:pt x="11254" y="150891"/>
                  <a:pt x="25149" y="150891"/>
                </a:cubicBezTo>
                <a:lnTo>
                  <a:pt x="150891" y="150891"/>
                </a:lnTo>
                <a:cubicBezTo>
                  <a:pt x="156455" y="150891"/>
                  <a:pt x="160950" y="146396"/>
                  <a:pt x="160950" y="140832"/>
                </a:cubicBezTo>
                <a:cubicBezTo>
                  <a:pt x="160950" y="135268"/>
                  <a:pt x="156455" y="130772"/>
                  <a:pt x="150891" y="130772"/>
                </a:cubicBezTo>
                <a:lnTo>
                  <a:pt x="25149" y="130772"/>
                </a:lnTo>
                <a:cubicBezTo>
                  <a:pt x="22382" y="130772"/>
                  <a:pt x="20119" y="128509"/>
                  <a:pt x="20119" y="125743"/>
                </a:cubicBezTo>
                <a:lnTo>
                  <a:pt x="20119" y="20119"/>
                </a:lnTo>
                <a:close/>
                <a:moveTo>
                  <a:pt x="147936" y="47342"/>
                </a:moveTo>
                <a:cubicBezTo>
                  <a:pt x="151866" y="43413"/>
                  <a:pt x="151866" y="37031"/>
                  <a:pt x="147936" y="33102"/>
                </a:cubicBezTo>
                <a:cubicBezTo>
                  <a:pt x="144007" y="29172"/>
                  <a:pt x="137625" y="29172"/>
                  <a:pt x="133696" y="33102"/>
                </a:cubicBezTo>
                <a:lnTo>
                  <a:pt x="100594" y="66235"/>
                </a:lnTo>
                <a:lnTo>
                  <a:pt x="82550" y="48222"/>
                </a:lnTo>
                <a:cubicBezTo>
                  <a:pt x="78621" y="44293"/>
                  <a:pt x="72239" y="44293"/>
                  <a:pt x="68310" y="48222"/>
                </a:cubicBezTo>
                <a:lnTo>
                  <a:pt x="38131" y="78400"/>
                </a:lnTo>
                <a:cubicBezTo>
                  <a:pt x="34202" y="82330"/>
                  <a:pt x="34202" y="88711"/>
                  <a:pt x="38131" y="92641"/>
                </a:cubicBezTo>
                <a:cubicBezTo>
                  <a:pt x="42061" y="96570"/>
                  <a:pt x="48442" y="96570"/>
                  <a:pt x="52372" y="92641"/>
                </a:cubicBezTo>
                <a:lnTo>
                  <a:pt x="75446" y="69567"/>
                </a:lnTo>
                <a:lnTo>
                  <a:pt x="93490" y="87611"/>
                </a:lnTo>
                <a:cubicBezTo>
                  <a:pt x="97419" y="91541"/>
                  <a:pt x="103800" y="91541"/>
                  <a:pt x="107730" y="87611"/>
                </a:cubicBezTo>
                <a:lnTo>
                  <a:pt x="147968" y="47374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7" name="Text 5"/>
          <p:cNvSpPr/>
          <p:nvPr/>
        </p:nvSpPr>
        <p:spPr>
          <a:xfrm>
            <a:off x="651850" y="1287604"/>
            <a:ext cx="532746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执行数据(截至9月25日)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661" y="1609505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7232" y="1754360"/>
            <a:ext cx="83694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大项目启动会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61170" y="1706075"/>
            <a:ext cx="667945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23.9%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7232" y="2027976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47232" y="2027976"/>
            <a:ext cx="1255414" cy="64380"/>
          </a:xfrm>
          <a:custGeom>
            <a:avLst/>
            <a:gdLst/>
            <a:ahLst/>
            <a:cxnLst/>
            <a:rect l="l" t="t" r="r" b="b"/>
            <a:pathLst>
              <a:path w="1255414" h="64380">
                <a:moveTo>
                  <a:pt x="32190" y="0"/>
                </a:moveTo>
                <a:lnTo>
                  <a:pt x="1223224" y="0"/>
                </a:lnTo>
                <a:cubicBezTo>
                  <a:pt x="1241002" y="0"/>
                  <a:pt x="1255414" y="14412"/>
                  <a:pt x="1255414" y="32190"/>
                </a:cubicBezTo>
                <a:lnTo>
                  <a:pt x="1255414" y="32190"/>
                </a:lnTo>
                <a:cubicBezTo>
                  <a:pt x="1255414" y="49968"/>
                  <a:pt x="1241002" y="64380"/>
                  <a:pt x="122322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661" y="2285497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47232" y="2430352"/>
            <a:ext cx="965703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解决方案评审会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8280" y="2382067"/>
            <a:ext cx="531137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1.8%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7232" y="2703968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7232" y="2703968"/>
            <a:ext cx="96570" cy="64380"/>
          </a:xfrm>
          <a:custGeom>
            <a:avLst/>
            <a:gdLst/>
            <a:ahLst/>
            <a:cxnLst/>
            <a:rect l="l" t="t" r="r" b="b"/>
            <a:pathLst>
              <a:path w="96570" h="64380">
                <a:moveTo>
                  <a:pt x="32190" y="0"/>
                </a:moveTo>
                <a:lnTo>
                  <a:pt x="64380" y="0"/>
                </a:lnTo>
                <a:cubicBezTo>
                  <a:pt x="82146" y="0"/>
                  <a:pt x="96570" y="14424"/>
                  <a:pt x="96570" y="32190"/>
                </a:cubicBezTo>
                <a:lnTo>
                  <a:pt x="96570" y="32190"/>
                </a:lnTo>
                <a:cubicBezTo>
                  <a:pt x="96570" y="49956"/>
                  <a:pt x="82146" y="64380"/>
                  <a:pt x="64380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18" name="Shape 16"/>
          <p:cNvSpPr/>
          <p:nvPr/>
        </p:nvSpPr>
        <p:spPr>
          <a:xfrm>
            <a:off x="450661" y="2961489"/>
            <a:ext cx="5448174" cy="579422"/>
          </a:xfrm>
          <a:custGeom>
            <a:avLst/>
            <a:gdLst/>
            <a:ahLst/>
            <a:cxnLst/>
            <a:rect l="l" t="t" r="r" b="b"/>
            <a:pathLst>
              <a:path w="5448174" h="579422">
                <a:moveTo>
                  <a:pt x="64380" y="0"/>
                </a:moveTo>
                <a:lnTo>
                  <a:pt x="5383795" y="0"/>
                </a:lnTo>
                <a:cubicBezTo>
                  <a:pt x="5419351" y="0"/>
                  <a:pt x="5448174" y="28824"/>
                  <a:pt x="5448174" y="64380"/>
                </a:cubicBezTo>
                <a:lnTo>
                  <a:pt x="5448174" y="515042"/>
                </a:lnTo>
                <a:cubicBezTo>
                  <a:pt x="5448174" y="550598"/>
                  <a:pt x="5419351" y="579422"/>
                  <a:pt x="5383795" y="579422"/>
                </a:cubicBezTo>
                <a:lnTo>
                  <a:pt x="64380" y="579422"/>
                </a:lnTo>
                <a:cubicBezTo>
                  <a:pt x="28848" y="579422"/>
                  <a:pt x="0" y="550574"/>
                  <a:pt x="0" y="515042"/>
                </a:cubicBezTo>
                <a:lnTo>
                  <a:pt x="0" y="64380"/>
                </a:lnTo>
                <a:cubicBezTo>
                  <a:pt x="0" y="28848"/>
                  <a:pt x="28848" y="0"/>
                  <a:pt x="6438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7232" y="3106345"/>
            <a:ext cx="708182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标前分析会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75847" y="3058059"/>
            <a:ext cx="547232" cy="2897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01" b="1" dirty="0">
                <a:solidFill>
                  <a:srgbClr val="D4A27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3.2%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7232" y="3379960"/>
            <a:ext cx="5255034" cy="64380"/>
          </a:xfrm>
          <a:custGeom>
            <a:avLst/>
            <a:gdLst/>
            <a:ahLst/>
            <a:cxnLst/>
            <a:rect l="l" t="t" r="r" b="b"/>
            <a:pathLst>
              <a:path w="5255034" h="64380">
                <a:moveTo>
                  <a:pt x="32190" y="0"/>
                </a:moveTo>
                <a:lnTo>
                  <a:pt x="5222844" y="0"/>
                </a:lnTo>
                <a:cubicBezTo>
                  <a:pt x="5240622" y="0"/>
                  <a:pt x="5255034" y="14412"/>
                  <a:pt x="5255034" y="32190"/>
                </a:cubicBezTo>
                <a:lnTo>
                  <a:pt x="5255034" y="32190"/>
                </a:lnTo>
                <a:cubicBezTo>
                  <a:pt x="5255034" y="49968"/>
                  <a:pt x="5240622" y="64380"/>
                  <a:pt x="5222844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47232" y="3379960"/>
            <a:ext cx="168998" cy="64380"/>
          </a:xfrm>
          <a:custGeom>
            <a:avLst/>
            <a:gdLst/>
            <a:ahLst/>
            <a:cxnLst/>
            <a:rect l="l" t="t" r="r" b="b"/>
            <a:pathLst>
              <a:path w="168998" h="64380">
                <a:moveTo>
                  <a:pt x="32190" y="0"/>
                </a:moveTo>
                <a:lnTo>
                  <a:pt x="136808" y="0"/>
                </a:lnTo>
                <a:cubicBezTo>
                  <a:pt x="154574" y="0"/>
                  <a:pt x="168998" y="14424"/>
                  <a:pt x="168998" y="32190"/>
                </a:cubicBezTo>
                <a:lnTo>
                  <a:pt x="168998" y="32190"/>
                </a:lnTo>
                <a:cubicBezTo>
                  <a:pt x="168998" y="49956"/>
                  <a:pt x="154574" y="64380"/>
                  <a:pt x="136808" y="64380"/>
                </a:cubicBezTo>
                <a:lnTo>
                  <a:pt x="32190" y="64380"/>
                </a:lnTo>
                <a:cubicBezTo>
                  <a:pt x="14424" y="64380"/>
                  <a:pt x="0" y="49956"/>
                  <a:pt x="0" y="32190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901" y="3766242"/>
            <a:ext cx="5705695" cy="3091758"/>
          </a:xfrm>
          <a:custGeom>
            <a:avLst/>
            <a:gdLst/>
            <a:ahLst/>
            <a:cxnLst/>
            <a:rect l="l" t="t" r="r" b="b"/>
            <a:pathLst>
              <a:path w="5705695" h="4023762">
                <a:moveTo>
                  <a:pt x="96570" y="0"/>
                </a:moveTo>
                <a:lnTo>
                  <a:pt x="5609125" y="0"/>
                </a:lnTo>
                <a:cubicBezTo>
                  <a:pt x="5662459" y="0"/>
                  <a:pt x="5705695" y="43236"/>
                  <a:pt x="5705695" y="96570"/>
                </a:cubicBezTo>
                <a:lnTo>
                  <a:pt x="5705695" y="3927192"/>
                </a:lnTo>
                <a:cubicBezTo>
                  <a:pt x="5705695" y="3980526"/>
                  <a:pt x="5662459" y="4023762"/>
                  <a:pt x="5609125" y="4023762"/>
                </a:cubicBezTo>
                <a:lnTo>
                  <a:pt x="96570" y="4023762"/>
                </a:lnTo>
                <a:cubicBezTo>
                  <a:pt x="43236" y="4023762"/>
                  <a:pt x="0" y="3980526"/>
                  <a:pt x="0" y="3927192"/>
                </a:cubicBezTo>
                <a:lnTo>
                  <a:pt x="0" y="96570"/>
                </a:lnTo>
                <a:cubicBezTo>
                  <a:pt x="0" y="43236"/>
                  <a:pt x="43236" y="0"/>
                  <a:pt x="9657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143" dist="80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780" y="3935240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72428" y="0"/>
                </a:moveTo>
                <a:cubicBezTo>
                  <a:pt x="76587" y="0"/>
                  <a:pt x="80406" y="2292"/>
                  <a:pt x="82387" y="5941"/>
                </a:cubicBezTo>
                <a:lnTo>
                  <a:pt x="143497" y="119110"/>
                </a:lnTo>
                <a:cubicBezTo>
                  <a:pt x="145393" y="122618"/>
                  <a:pt x="145308" y="126862"/>
                  <a:pt x="143271" y="130285"/>
                </a:cubicBezTo>
                <a:cubicBezTo>
                  <a:pt x="141234" y="133708"/>
                  <a:pt x="137528" y="135802"/>
                  <a:pt x="133539" y="135802"/>
                </a:cubicBezTo>
                <a:lnTo>
                  <a:pt x="11317" y="135802"/>
                </a:lnTo>
                <a:cubicBezTo>
                  <a:pt x="7328" y="135802"/>
                  <a:pt x="3650" y="133708"/>
                  <a:pt x="1584" y="130285"/>
                </a:cubicBezTo>
                <a:cubicBezTo>
                  <a:pt x="-481" y="126862"/>
                  <a:pt x="-538" y="122618"/>
                  <a:pt x="1358" y="119110"/>
                </a:cubicBezTo>
                <a:lnTo>
                  <a:pt x="62469" y="5941"/>
                </a:lnTo>
                <a:cubicBezTo>
                  <a:pt x="64449" y="2292"/>
                  <a:pt x="68269" y="0"/>
                  <a:pt x="72428" y="0"/>
                </a:cubicBezTo>
                <a:close/>
                <a:moveTo>
                  <a:pt x="72428" y="47531"/>
                </a:moveTo>
                <a:cubicBezTo>
                  <a:pt x="68665" y="47531"/>
                  <a:pt x="65638" y="50558"/>
                  <a:pt x="65638" y="54321"/>
                </a:cubicBezTo>
                <a:lnTo>
                  <a:pt x="65638" y="86008"/>
                </a:lnTo>
                <a:cubicBezTo>
                  <a:pt x="65638" y="89771"/>
                  <a:pt x="68665" y="92798"/>
                  <a:pt x="72428" y="92798"/>
                </a:cubicBezTo>
                <a:cubicBezTo>
                  <a:pt x="76191" y="92798"/>
                  <a:pt x="79218" y="89771"/>
                  <a:pt x="79218" y="86008"/>
                </a:cubicBezTo>
                <a:lnTo>
                  <a:pt x="79218" y="54321"/>
                </a:lnTo>
                <a:cubicBezTo>
                  <a:pt x="79218" y="50558"/>
                  <a:pt x="76191" y="47531"/>
                  <a:pt x="72428" y="47531"/>
                </a:cubicBezTo>
                <a:close/>
                <a:moveTo>
                  <a:pt x="79982" y="108642"/>
                </a:moveTo>
                <a:cubicBezTo>
                  <a:pt x="80154" y="105838"/>
                  <a:pt x="78755" y="103170"/>
                  <a:pt x="76352" y="101716"/>
                </a:cubicBezTo>
                <a:cubicBezTo>
                  <a:pt x="73948" y="100262"/>
                  <a:pt x="70936" y="100262"/>
                  <a:pt x="68532" y="101716"/>
                </a:cubicBezTo>
                <a:cubicBezTo>
                  <a:pt x="66129" y="103170"/>
                  <a:pt x="64730" y="105838"/>
                  <a:pt x="64902" y="108642"/>
                </a:cubicBezTo>
                <a:cubicBezTo>
                  <a:pt x="64730" y="111446"/>
                  <a:pt x="66129" y="114113"/>
                  <a:pt x="68532" y="115567"/>
                </a:cubicBezTo>
                <a:cubicBezTo>
                  <a:pt x="70936" y="117021"/>
                  <a:pt x="73948" y="117021"/>
                  <a:pt x="76352" y="115567"/>
                </a:cubicBezTo>
                <a:cubicBezTo>
                  <a:pt x="78755" y="114113"/>
                  <a:pt x="80154" y="111446"/>
                  <a:pt x="79982" y="108642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5" name="Text 23"/>
          <p:cNvSpPr/>
          <p:nvPr/>
        </p:nvSpPr>
        <p:spPr>
          <a:xfrm>
            <a:off x="635754" y="3895002"/>
            <a:ext cx="533550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存在的主要问题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66756" y="4216903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66756" y="4216903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28" name="Text 26"/>
          <p:cNvSpPr/>
          <p:nvPr/>
        </p:nvSpPr>
        <p:spPr>
          <a:xfrm>
            <a:off x="579422" y="4313473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整体执行率偏低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422" y="4538804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大项目启动会、解决方案评审会、标前分析会执行率均不理想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756" y="4860705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66756" y="4860705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32" name="Text 30"/>
          <p:cNvSpPr/>
          <p:nvPr/>
        </p:nvSpPr>
        <p:spPr>
          <a:xfrm>
            <a:off x="579422" y="4957275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流程落地存在明显断点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79422" y="5182606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相关会议未留痕,资料未上系统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66756" y="5504507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66756" y="5504507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36" name="Text 34"/>
          <p:cNvSpPr/>
          <p:nvPr/>
        </p:nvSpPr>
        <p:spPr>
          <a:xfrm>
            <a:off x="579422" y="5601077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区域间执行差异显著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9422" y="5826408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北京、新疆、福建等执行率接近100%,浙江、广东等为0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6756" y="6148309"/>
            <a:ext cx="5432079" cy="579422"/>
          </a:xfrm>
          <a:custGeom>
            <a:avLst/>
            <a:gdLst/>
            <a:ahLst/>
            <a:cxnLst/>
            <a:rect l="l" t="t" r="r" b="b"/>
            <a:pathLst>
              <a:path w="5432079" h="579422">
                <a:moveTo>
                  <a:pt x="32190" y="0"/>
                </a:moveTo>
                <a:lnTo>
                  <a:pt x="5367700" y="0"/>
                </a:lnTo>
                <a:cubicBezTo>
                  <a:pt x="5403255" y="0"/>
                  <a:pt x="5432079" y="28824"/>
                  <a:pt x="5432079" y="64380"/>
                </a:cubicBezTo>
                <a:lnTo>
                  <a:pt x="5432079" y="515042"/>
                </a:lnTo>
                <a:cubicBezTo>
                  <a:pt x="5432079" y="550598"/>
                  <a:pt x="5403255" y="579422"/>
                  <a:pt x="5367700" y="579422"/>
                </a:cubicBez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756" y="6148309"/>
            <a:ext cx="32190" cy="579422"/>
          </a:xfrm>
          <a:custGeom>
            <a:avLst/>
            <a:gdLst/>
            <a:ahLst/>
            <a:cxnLst/>
            <a:rect l="l" t="t" r="r" b="b"/>
            <a:pathLst>
              <a:path w="32190" h="579422">
                <a:moveTo>
                  <a:pt x="32190" y="0"/>
                </a:moveTo>
                <a:lnTo>
                  <a:pt x="32190" y="0"/>
                </a:lnTo>
                <a:lnTo>
                  <a:pt x="32190" y="579422"/>
                </a:lnTo>
                <a:lnTo>
                  <a:pt x="32190" y="579422"/>
                </a:lnTo>
                <a:cubicBezTo>
                  <a:pt x="14412" y="579422"/>
                  <a:pt x="0" y="565010"/>
                  <a:pt x="0" y="547232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40" name="Text 38"/>
          <p:cNvSpPr/>
          <p:nvPr/>
        </p:nvSpPr>
        <p:spPr>
          <a:xfrm>
            <a:off x="579422" y="6244879"/>
            <a:ext cx="5287224" cy="193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14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管理缺失问题突出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9422" y="6470210"/>
            <a:ext cx="5279176" cy="160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7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立项项目为可能+-项目,更需要组织协同推优,现阶段存在管理缺失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58972" y="1158844"/>
            <a:ext cx="5705695" cy="5568887"/>
          </a:xfrm>
          <a:custGeom>
            <a:avLst/>
            <a:gdLst/>
            <a:ahLst/>
            <a:cxnLst/>
            <a:rect l="l" t="t" r="r" b="b"/>
            <a:pathLst>
              <a:path w="5705695" h="5568887">
                <a:moveTo>
                  <a:pt x="96565" y="0"/>
                </a:moveTo>
                <a:lnTo>
                  <a:pt x="5609131" y="0"/>
                </a:lnTo>
                <a:cubicBezTo>
                  <a:pt x="5662462" y="0"/>
                  <a:pt x="5705695" y="43233"/>
                  <a:pt x="5705695" y="96565"/>
                </a:cubicBezTo>
                <a:lnTo>
                  <a:pt x="5705695" y="5472323"/>
                </a:lnTo>
                <a:cubicBezTo>
                  <a:pt x="5705695" y="5525654"/>
                  <a:pt x="5662462" y="5568887"/>
                  <a:pt x="5609131" y="5568887"/>
                </a:cubicBezTo>
                <a:lnTo>
                  <a:pt x="96565" y="5568887"/>
                </a:lnTo>
                <a:cubicBezTo>
                  <a:pt x="43233" y="5568887"/>
                  <a:pt x="0" y="5525654"/>
                  <a:pt x="0" y="5472323"/>
                </a:cubicBezTo>
                <a:lnTo>
                  <a:pt x="0" y="96565"/>
                </a:lnTo>
                <a:cubicBezTo>
                  <a:pt x="0" y="43233"/>
                  <a:pt x="43233" y="0"/>
                  <a:pt x="9656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143" dist="8048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40041" y="1351984"/>
            <a:ext cx="160950" cy="160950"/>
          </a:xfrm>
          <a:custGeom>
            <a:avLst/>
            <a:gdLst/>
            <a:ahLst/>
            <a:cxnLst/>
            <a:rect l="l" t="t" r="r" b="b"/>
            <a:pathLst>
              <a:path w="160950" h="160950">
                <a:moveTo>
                  <a:pt x="157996" y="87580"/>
                </a:moveTo>
                <a:cubicBezTo>
                  <a:pt x="161925" y="83650"/>
                  <a:pt x="161925" y="77269"/>
                  <a:pt x="157996" y="73339"/>
                </a:cubicBezTo>
                <a:lnTo>
                  <a:pt x="107699" y="23042"/>
                </a:lnTo>
                <a:cubicBezTo>
                  <a:pt x="103769" y="19113"/>
                  <a:pt x="97388" y="19113"/>
                  <a:pt x="93458" y="23042"/>
                </a:cubicBezTo>
                <a:cubicBezTo>
                  <a:pt x="89529" y="26972"/>
                  <a:pt x="89529" y="33353"/>
                  <a:pt x="93458" y="37283"/>
                </a:cubicBezTo>
                <a:lnTo>
                  <a:pt x="126591" y="70416"/>
                </a:lnTo>
                <a:lnTo>
                  <a:pt x="10059" y="70416"/>
                </a:lnTo>
                <a:cubicBezTo>
                  <a:pt x="4495" y="70416"/>
                  <a:pt x="0" y="74911"/>
                  <a:pt x="0" y="80475"/>
                </a:cubicBezTo>
                <a:cubicBezTo>
                  <a:pt x="0" y="86039"/>
                  <a:pt x="4495" y="90535"/>
                  <a:pt x="10059" y="90535"/>
                </a:cubicBezTo>
                <a:lnTo>
                  <a:pt x="126591" y="90535"/>
                </a:lnTo>
                <a:lnTo>
                  <a:pt x="93458" y="123668"/>
                </a:lnTo>
                <a:cubicBezTo>
                  <a:pt x="89529" y="127597"/>
                  <a:pt x="89529" y="133979"/>
                  <a:pt x="93458" y="137908"/>
                </a:cubicBezTo>
                <a:cubicBezTo>
                  <a:pt x="97388" y="141838"/>
                  <a:pt x="103769" y="141838"/>
                  <a:pt x="107699" y="137908"/>
                </a:cubicBezTo>
                <a:lnTo>
                  <a:pt x="157996" y="87611"/>
                </a:ln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4" name="Text 42"/>
          <p:cNvSpPr/>
          <p:nvPr/>
        </p:nvSpPr>
        <p:spPr>
          <a:xfrm>
            <a:off x="6521111" y="1319794"/>
            <a:ext cx="526308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7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下一步要求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36018" y="1673885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336018" y="1673885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7" name="Shape 45"/>
          <p:cNvSpPr/>
          <p:nvPr/>
        </p:nvSpPr>
        <p:spPr>
          <a:xfrm>
            <a:off x="6480873" y="1802646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48" name="Text 46"/>
          <p:cNvSpPr/>
          <p:nvPr/>
        </p:nvSpPr>
        <p:spPr>
          <a:xfrm>
            <a:off x="6444659" y="1802646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899344" y="1850931"/>
            <a:ext cx="123127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加强流程执行监督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480873" y="2188927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建立定期检查和通报机制,确保各关键节点按时间要求执行,提升整体执行率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36018" y="2623493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336018" y="2623493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3" name="Shape 51"/>
          <p:cNvSpPr/>
          <p:nvPr/>
        </p:nvSpPr>
        <p:spPr>
          <a:xfrm>
            <a:off x="6480873" y="2752253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54" name="Text 52"/>
          <p:cNvSpPr/>
          <p:nvPr/>
        </p:nvSpPr>
        <p:spPr>
          <a:xfrm>
            <a:off x="6444659" y="2752253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9344" y="2800539"/>
            <a:ext cx="1376127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统一标准和留痕要求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480873" y="3138535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规范会议记录、资料上传、CRM系统留痕等操作,消除流程断点,实现全流程可追溯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36018" y="3573101"/>
            <a:ext cx="5367699" cy="853038"/>
          </a:xfrm>
          <a:custGeom>
            <a:avLst/>
            <a:gdLst/>
            <a:ahLst/>
            <a:cxnLst/>
            <a:rect l="l" t="t" r="r" b="b"/>
            <a:pathLst>
              <a:path w="5367699" h="853038">
                <a:moveTo>
                  <a:pt x="32190" y="0"/>
                </a:moveTo>
                <a:lnTo>
                  <a:pt x="5271127" y="0"/>
                </a:lnTo>
                <a:cubicBezTo>
                  <a:pt x="5324462" y="0"/>
                  <a:pt x="5367699" y="43237"/>
                  <a:pt x="5367699" y="96572"/>
                </a:cubicBezTo>
                <a:lnTo>
                  <a:pt x="5367699" y="756465"/>
                </a:lnTo>
                <a:cubicBezTo>
                  <a:pt x="5367699" y="809801"/>
                  <a:pt x="5324462" y="853038"/>
                  <a:pt x="5271127" y="853038"/>
                </a:cubicBez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>
              <a:alpha val="1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336018" y="3573101"/>
            <a:ext cx="32190" cy="853038"/>
          </a:xfrm>
          <a:custGeom>
            <a:avLst/>
            <a:gdLst/>
            <a:ahLst/>
            <a:cxnLst/>
            <a:rect l="l" t="t" r="r" b="b"/>
            <a:pathLst>
              <a:path w="32190" h="853038">
                <a:moveTo>
                  <a:pt x="32190" y="0"/>
                </a:moveTo>
                <a:lnTo>
                  <a:pt x="32190" y="0"/>
                </a:lnTo>
                <a:lnTo>
                  <a:pt x="32190" y="853038"/>
                </a:lnTo>
                <a:lnTo>
                  <a:pt x="32190" y="853038"/>
                </a:lnTo>
                <a:cubicBezTo>
                  <a:pt x="14412" y="853038"/>
                  <a:pt x="0" y="838626"/>
                  <a:pt x="0" y="820848"/>
                </a:cubicBezTo>
                <a:lnTo>
                  <a:pt x="0" y="32190"/>
                </a:lnTo>
                <a:cubicBezTo>
                  <a:pt x="0" y="14424"/>
                  <a:pt x="14424" y="0"/>
                  <a:pt x="3219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59" name="Shape 57"/>
          <p:cNvSpPr/>
          <p:nvPr/>
        </p:nvSpPr>
        <p:spPr>
          <a:xfrm>
            <a:off x="6480873" y="3701861"/>
            <a:ext cx="321901" cy="321901"/>
          </a:xfrm>
          <a:custGeom>
            <a:avLst/>
            <a:gdLst/>
            <a:ahLst/>
            <a:cxnLst/>
            <a:rect l="l" t="t" r="r" b="b"/>
            <a:pathLst>
              <a:path w="321901" h="321901">
                <a:moveTo>
                  <a:pt x="160950" y="0"/>
                </a:moveTo>
                <a:lnTo>
                  <a:pt x="160950" y="0"/>
                </a:lnTo>
                <a:cubicBezTo>
                  <a:pt x="249781" y="0"/>
                  <a:pt x="321901" y="72119"/>
                  <a:pt x="321901" y="160950"/>
                </a:cubicBezTo>
                <a:lnTo>
                  <a:pt x="321901" y="160950"/>
                </a:lnTo>
                <a:cubicBezTo>
                  <a:pt x="321901" y="249781"/>
                  <a:pt x="249781" y="321901"/>
                  <a:pt x="160950" y="321901"/>
                </a:cubicBezTo>
                <a:lnTo>
                  <a:pt x="160950" y="321901"/>
                </a:lnTo>
                <a:cubicBezTo>
                  <a:pt x="72119" y="321901"/>
                  <a:pt x="0" y="249781"/>
                  <a:pt x="0" y="160950"/>
                </a:cubicBezTo>
                <a:lnTo>
                  <a:pt x="0" y="160950"/>
                </a:lnTo>
                <a:cubicBezTo>
                  <a:pt x="0" y="72119"/>
                  <a:pt x="72119" y="0"/>
                  <a:pt x="160950" y="0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0" name="Text 58"/>
          <p:cNvSpPr/>
          <p:nvPr/>
        </p:nvSpPr>
        <p:spPr>
          <a:xfrm>
            <a:off x="6444659" y="3701861"/>
            <a:ext cx="394329" cy="321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899344" y="3750147"/>
            <a:ext cx="1231271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2C3E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建立经验分享机制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480873" y="4088143"/>
            <a:ext cx="5158463" cy="209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34495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促进高执行率区域与低执行率区域的经验交流,缩小区域间差异,提升整体管理水平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07851" y="5053845"/>
            <a:ext cx="5526034" cy="965703"/>
          </a:xfrm>
          <a:custGeom>
            <a:avLst/>
            <a:gdLst/>
            <a:ahLst/>
            <a:cxnLst/>
            <a:rect l="l" t="t" r="r" b="b"/>
            <a:pathLst>
              <a:path w="5705695" h="965703">
                <a:moveTo>
                  <a:pt x="96570" y="0"/>
                </a:moveTo>
                <a:lnTo>
                  <a:pt x="5609125" y="0"/>
                </a:lnTo>
                <a:cubicBezTo>
                  <a:pt x="5662459" y="0"/>
                  <a:pt x="5705695" y="43236"/>
                  <a:pt x="5705695" y="96570"/>
                </a:cubicBezTo>
                <a:lnTo>
                  <a:pt x="5705695" y="869133"/>
                </a:lnTo>
                <a:cubicBezTo>
                  <a:pt x="5705695" y="922431"/>
                  <a:pt x="5662423" y="965703"/>
                  <a:pt x="5609125" y="965703"/>
                </a:cubicBezTo>
                <a:lnTo>
                  <a:pt x="96570" y="965703"/>
                </a:lnTo>
                <a:cubicBezTo>
                  <a:pt x="43236" y="965703"/>
                  <a:pt x="0" y="922467"/>
                  <a:pt x="0" y="869133"/>
                </a:cubicBezTo>
                <a:lnTo>
                  <a:pt x="0" y="96570"/>
                </a:lnTo>
                <a:cubicBezTo>
                  <a:pt x="0" y="43236"/>
                  <a:pt x="43236" y="0"/>
                  <a:pt x="96570" y="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64" name="Shape 62"/>
          <p:cNvSpPr/>
          <p:nvPr/>
        </p:nvSpPr>
        <p:spPr>
          <a:xfrm>
            <a:off x="6307851" y="6994910"/>
            <a:ext cx="144855" cy="144855"/>
          </a:xfrm>
          <a:custGeom>
            <a:avLst/>
            <a:gdLst/>
            <a:ahLst/>
            <a:cxnLst/>
            <a:rect l="l" t="t" r="r" b="b"/>
            <a:pathLst>
              <a:path w="144855" h="144855">
                <a:moveTo>
                  <a:pt x="18644" y="64647"/>
                </a:moveTo>
                <a:cubicBezTo>
                  <a:pt x="22407" y="38336"/>
                  <a:pt x="45069" y="18107"/>
                  <a:pt x="72428" y="18107"/>
                </a:cubicBezTo>
                <a:cubicBezTo>
                  <a:pt x="87423" y="18107"/>
                  <a:pt x="101003" y="24190"/>
                  <a:pt x="110848" y="34007"/>
                </a:cubicBezTo>
                <a:cubicBezTo>
                  <a:pt x="110905" y="34064"/>
                  <a:pt x="110962" y="34120"/>
                  <a:pt x="111018" y="34177"/>
                </a:cubicBezTo>
                <a:lnTo>
                  <a:pt x="113168" y="36214"/>
                </a:lnTo>
                <a:lnTo>
                  <a:pt x="99616" y="36214"/>
                </a:lnTo>
                <a:cubicBezTo>
                  <a:pt x="94609" y="36214"/>
                  <a:pt x="90563" y="40260"/>
                  <a:pt x="90563" y="45267"/>
                </a:cubicBezTo>
                <a:cubicBezTo>
                  <a:pt x="90563" y="50275"/>
                  <a:pt x="94609" y="54321"/>
                  <a:pt x="99616" y="54321"/>
                </a:cubicBezTo>
                <a:lnTo>
                  <a:pt x="135830" y="54321"/>
                </a:lnTo>
                <a:cubicBezTo>
                  <a:pt x="140838" y="54321"/>
                  <a:pt x="144884" y="50275"/>
                  <a:pt x="144884" y="45267"/>
                </a:cubicBezTo>
                <a:lnTo>
                  <a:pt x="144884" y="9053"/>
                </a:lnTo>
                <a:cubicBezTo>
                  <a:pt x="144884" y="4046"/>
                  <a:pt x="140838" y="0"/>
                  <a:pt x="135830" y="0"/>
                </a:cubicBezTo>
                <a:cubicBezTo>
                  <a:pt x="130823" y="0"/>
                  <a:pt x="126777" y="4046"/>
                  <a:pt x="126777" y="9053"/>
                </a:cubicBezTo>
                <a:lnTo>
                  <a:pt x="126777" y="24161"/>
                </a:lnTo>
                <a:lnTo>
                  <a:pt x="123580" y="21134"/>
                </a:lnTo>
                <a:cubicBezTo>
                  <a:pt x="110481" y="8092"/>
                  <a:pt x="92374" y="0"/>
                  <a:pt x="72428" y="0"/>
                </a:cubicBezTo>
                <a:cubicBezTo>
                  <a:pt x="35931" y="0"/>
                  <a:pt x="5743" y="26991"/>
                  <a:pt x="736" y="62101"/>
                </a:cubicBezTo>
                <a:cubicBezTo>
                  <a:pt x="28" y="67052"/>
                  <a:pt x="3452" y="71636"/>
                  <a:pt x="8403" y="72343"/>
                </a:cubicBezTo>
                <a:cubicBezTo>
                  <a:pt x="13354" y="73050"/>
                  <a:pt x="17937" y="69599"/>
                  <a:pt x="18644" y="64676"/>
                </a:cubicBezTo>
                <a:close/>
                <a:moveTo>
                  <a:pt x="144120" y="82754"/>
                </a:moveTo>
                <a:cubicBezTo>
                  <a:pt x="144827" y="77803"/>
                  <a:pt x="141376" y="73220"/>
                  <a:pt x="136453" y="72513"/>
                </a:cubicBezTo>
                <a:cubicBezTo>
                  <a:pt x="131530" y="71805"/>
                  <a:pt x="126918" y="75257"/>
                  <a:pt x="126211" y="80180"/>
                </a:cubicBezTo>
                <a:cubicBezTo>
                  <a:pt x="122448" y="106491"/>
                  <a:pt x="99786" y="126720"/>
                  <a:pt x="72428" y="126720"/>
                </a:cubicBezTo>
                <a:cubicBezTo>
                  <a:pt x="57433" y="126720"/>
                  <a:pt x="43853" y="120637"/>
                  <a:pt x="34007" y="110820"/>
                </a:cubicBezTo>
                <a:cubicBezTo>
                  <a:pt x="33950" y="110763"/>
                  <a:pt x="33894" y="110707"/>
                  <a:pt x="33837" y="110650"/>
                </a:cubicBezTo>
                <a:lnTo>
                  <a:pt x="31687" y="108613"/>
                </a:lnTo>
                <a:lnTo>
                  <a:pt x="45239" y="108613"/>
                </a:lnTo>
                <a:cubicBezTo>
                  <a:pt x="50247" y="108613"/>
                  <a:pt x="54292" y="104568"/>
                  <a:pt x="54292" y="99560"/>
                </a:cubicBezTo>
                <a:cubicBezTo>
                  <a:pt x="54292" y="94552"/>
                  <a:pt x="50247" y="90506"/>
                  <a:pt x="45239" y="90506"/>
                </a:cubicBezTo>
                <a:lnTo>
                  <a:pt x="9053" y="90535"/>
                </a:lnTo>
                <a:cubicBezTo>
                  <a:pt x="6649" y="90535"/>
                  <a:pt x="4329" y="91497"/>
                  <a:pt x="2631" y="93222"/>
                </a:cubicBezTo>
                <a:cubicBezTo>
                  <a:pt x="934" y="94948"/>
                  <a:pt x="-28" y="97240"/>
                  <a:pt x="0" y="99673"/>
                </a:cubicBezTo>
                <a:lnTo>
                  <a:pt x="283" y="135604"/>
                </a:lnTo>
                <a:cubicBezTo>
                  <a:pt x="311" y="140612"/>
                  <a:pt x="4414" y="144629"/>
                  <a:pt x="9421" y="144573"/>
                </a:cubicBezTo>
                <a:cubicBezTo>
                  <a:pt x="14429" y="144516"/>
                  <a:pt x="18446" y="140442"/>
                  <a:pt x="18390" y="135434"/>
                </a:cubicBezTo>
                <a:lnTo>
                  <a:pt x="18277" y="120864"/>
                </a:lnTo>
                <a:lnTo>
                  <a:pt x="21304" y="123721"/>
                </a:lnTo>
                <a:cubicBezTo>
                  <a:pt x="34403" y="136764"/>
                  <a:pt x="52482" y="144855"/>
                  <a:pt x="72428" y="144855"/>
                </a:cubicBezTo>
                <a:cubicBezTo>
                  <a:pt x="108925" y="144855"/>
                  <a:pt x="139112" y="117865"/>
                  <a:pt x="144120" y="82754"/>
                </a:cubicBezTo>
                <a:close/>
              </a:path>
            </a:pathLst>
          </a:custGeom>
          <a:solidFill>
            <a:srgbClr val="D4A276"/>
          </a:solidFill>
          <a:ln/>
        </p:spPr>
      </p:sp>
      <p:sp>
        <p:nvSpPr>
          <p:cNvPr id="65" name="Text 63"/>
          <p:cNvSpPr/>
          <p:nvPr/>
        </p:nvSpPr>
        <p:spPr>
          <a:xfrm>
            <a:off x="6500991" y="5167770"/>
            <a:ext cx="5335509" cy="22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1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21925" y="5457481"/>
            <a:ext cx="5281792" cy="4184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14" dirty="0">
                <a:solidFill>
                  <a:srgbClr val="FFFFFF">
                    <a:alpha val="95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通过问题分析和针对性改进措施,全面提升MO流程执行率,确保战略项目100%纳入全生命周期管理体系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1115</Words>
  <Application>Microsoft Office PowerPoint</Application>
  <PresentationFormat>宽屏</PresentationFormat>
  <Paragraphs>406</Paragraphs>
  <Slides>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Calibri</vt:lpstr>
      <vt:lpstr>MiSans</vt:lpstr>
      <vt:lpstr>等线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EBG MO商机管理流程</dc:title>
  <dc:subject>EBG MO商机管理流程</dc:subject>
  <dc:creator>Kimi</dc:creator>
  <cp:lastModifiedBy>Lenovo</cp:lastModifiedBy>
  <cp:revision>11</cp:revision>
  <dcterms:created xsi:type="dcterms:W3CDTF">2026-01-20T03:16:59Z</dcterms:created>
  <dcterms:modified xsi:type="dcterms:W3CDTF">2026-01-20T06:29:39Z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{"Label":"EBG MO商机管理流程","ContentProducer":"001191110108MACG2KBH8F10000","ProduceID":"19bd9063-d052-8692-8000-0000d1639007","ReservedCode1":"","ContentPropagator":"001191110108MACG2KBH8F20000","PropagateID":"19bd9063-d052-8692-8000-0000d1639007","ReservedC</vt:lpwstr>
  </property>
</Properties>
</file>