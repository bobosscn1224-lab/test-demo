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3" r:id="rId3"/>
    <p:sldId id="264" r:id="rId4"/>
    <p:sldId id="258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5F6"/>
    <a:srgbClr val="F1F5F4"/>
    <a:srgbClr val="F2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ACAF8-3E03-4BC7-9875-CE2FD5250F0E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708F0-414E-42BB-8B00-A85611F02E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80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找一个快速做大市场份额，优势到胜势的商业案例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740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找一个快速做大市场份额，优势到胜势的商业案例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942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45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1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95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4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7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1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12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1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029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52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83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4.xml"/><Relationship Id="rId7" Type="http://schemas.openxmlformats.org/officeDocument/2006/relationships/image" Target="../media/image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H="1">
            <a:off x="1605973" y="2754989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1153" y="1457325"/>
            <a:ext cx="3038248" cy="4870618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259121" y="1577107"/>
            <a:ext cx="6632842" cy="4488613"/>
            <a:chOff x="856180" y="1767682"/>
            <a:chExt cx="4782619" cy="3984541"/>
          </a:xfrm>
        </p:grpSpPr>
        <p:sp>
          <p:nvSpPr>
            <p:cNvPr id="11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423055" y="1032471"/>
            <a:ext cx="3010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400" b="1" dirty="0">
              <a:solidFill>
                <a:srgbClr val="174E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63"/>
          <p:cNvPicPr>
            <a:picLocks noChangeAspect="1"/>
          </p:cNvPicPr>
          <p:nvPr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504104" y="1093548"/>
            <a:ext cx="360000" cy="36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372526" y="1978591"/>
            <a:ext cx="4220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313131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恒温器</a:t>
            </a:r>
            <a:r>
              <a:rPr lang="zh-CN" altLang="en-US" sz="1400" dirty="0">
                <a:solidFill>
                  <a:srgbClr val="313131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也叫风机盘管温控器，是中央空调的控制部件，在所有使用中央空调的地方均有使用。可以自动控制暖气、通风及空气调节设备（如空调、电暖器等），让室内温度恒定在你设定的温度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66902" y="164203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>
              <a:defRPr/>
            </a:pPr>
            <a:r>
              <a:rPr lang="zh-CN" altLang="en-US" b="1" kern="0" dirty="0" smtClean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产品定义</a:t>
            </a:r>
            <a:endParaRPr lang="zh-CN" altLang="en-US" b="1" kern="0" dirty="0">
              <a:solidFill>
                <a:srgbClr val="174E7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703898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91742" y="210995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精准控温</a:t>
            </a:r>
            <a:endParaRPr lang="zh-CN" altLang="en-US"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91742" y="267227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智能交互</a:t>
            </a:r>
            <a:endParaRPr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91742" y="323459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能耗管理</a:t>
            </a:r>
            <a:endParaRPr lang="zh-CN" altLang="en-US"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650409" y="17873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650409" y="237329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650409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864104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446855" y="4430517"/>
            <a:ext cx="414613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年前，全球智能温控器市场由</a:t>
            </a:r>
            <a:r>
              <a:rPr lang="zh-CN" altLang="en-US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霍尼韦尔（</a:t>
            </a:r>
            <a:r>
              <a:rPr lang="en-US" altLang="zh-CN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Honeywell</a:t>
            </a:r>
            <a:r>
              <a:rPr lang="zh-CN" altLang="en-US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西门子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等工业巨头主导，占据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市场份额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，产品以功能单一、操作复杂著称，用户需手动调节温度，且缺乏联网能力。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366902" y="402359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solidFill>
                  <a:srgbClr val="904C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行业格局</a:t>
            </a:r>
            <a:endParaRPr lang="zh-CN" altLang="en-US" dirty="0">
              <a:solidFill>
                <a:srgbClr val="904C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703898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64104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791742" y="4454418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市场主导者明确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791742" y="4968389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产品功能单一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825151" y="5482360"/>
            <a:ext cx="18214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用户体验不佳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0650409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650409" y="4695506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650409" y="5209715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206" y="1568276"/>
            <a:ext cx="2442316" cy="2198942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523" y="3862687"/>
            <a:ext cx="2486105" cy="2238368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恒温器的逆袭之路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450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圆角矩形 70"/>
          <p:cNvSpPr/>
          <p:nvPr/>
        </p:nvSpPr>
        <p:spPr>
          <a:xfrm>
            <a:off x="318184" y="2526836"/>
            <a:ext cx="3407330" cy="2881777"/>
          </a:xfrm>
          <a:prstGeom prst="roundRect">
            <a:avLst>
              <a:gd name="adj" fmla="val 2166"/>
            </a:avLst>
          </a:prstGeom>
          <a:solidFill>
            <a:srgbClr val="904C47">
              <a:lumMod val="20000"/>
              <a:lumOff val="80000"/>
              <a:alpha val="1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4092507" y="2519213"/>
            <a:ext cx="7796438" cy="2881777"/>
          </a:xfrm>
          <a:prstGeom prst="roundRect">
            <a:avLst>
              <a:gd name="adj" fmla="val 2166"/>
            </a:avLst>
          </a:prstGeom>
          <a:solidFill>
            <a:srgbClr val="904C47">
              <a:lumMod val="20000"/>
              <a:lumOff val="80000"/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7179655" y="261541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7414952" y="355973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179655" y="447294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49036" y="5170715"/>
            <a:ext cx="11572666" cy="1687286"/>
            <a:chOff x="334963" y="2161129"/>
            <a:chExt cx="11523727" cy="4632616"/>
          </a:xfrm>
        </p:grpSpPr>
        <p:sp>
          <p:nvSpPr>
            <p:cNvPr id="80" name="矩形 79"/>
            <p:cNvSpPr/>
            <p:nvPr/>
          </p:nvSpPr>
          <p:spPr>
            <a:xfrm>
              <a:off x="334963" y="3099135"/>
              <a:ext cx="11523727" cy="3694610"/>
            </a:xfrm>
            <a:prstGeom prst="rect">
              <a:avLst/>
            </a:prstGeom>
            <a:solidFill>
              <a:srgbClr val="174E78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81" name="梯形 80"/>
            <p:cNvSpPr/>
            <p:nvPr/>
          </p:nvSpPr>
          <p:spPr>
            <a:xfrm>
              <a:off x="348976" y="2161129"/>
              <a:ext cx="11494048" cy="932994"/>
            </a:xfrm>
            <a:prstGeom prst="trapezoid">
              <a:avLst>
                <a:gd name="adj" fmla="val 97150"/>
              </a:avLst>
            </a:prstGeom>
            <a:gradFill flip="none" rotWithShape="1">
              <a:gsLst>
                <a:gs pos="0">
                  <a:srgbClr val="174E78"/>
                </a:gs>
                <a:gs pos="66000">
                  <a:srgbClr val="174E78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88" name="任意多边形: 形状 28"/>
          <p:cNvSpPr/>
          <p:nvPr/>
        </p:nvSpPr>
        <p:spPr>
          <a:xfrm flipH="1">
            <a:off x="7833432" y="1111220"/>
            <a:ext cx="2631440" cy="270481"/>
          </a:xfrm>
          <a:custGeom>
            <a:avLst/>
            <a:gdLst>
              <a:gd name="connsiteX0" fmla="*/ 0 w 2631440"/>
              <a:gd name="connsiteY0" fmla="*/ 528320 h 751840"/>
              <a:gd name="connsiteX1" fmla="*/ 1554480 w 2631440"/>
              <a:gd name="connsiteY1" fmla="*/ 528320 h 751840"/>
              <a:gd name="connsiteX2" fmla="*/ 1676400 w 2631440"/>
              <a:gd name="connsiteY2" fmla="*/ 203200 h 751840"/>
              <a:gd name="connsiteX3" fmla="*/ 1869440 w 2631440"/>
              <a:gd name="connsiteY3" fmla="*/ 751840 h 751840"/>
              <a:gd name="connsiteX4" fmla="*/ 1991360 w 2631440"/>
              <a:gd name="connsiteY4" fmla="*/ 0 h 751840"/>
              <a:gd name="connsiteX5" fmla="*/ 2133600 w 2631440"/>
              <a:gd name="connsiteY5" fmla="*/ 660400 h 751840"/>
              <a:gd name="connsiteX6" fmla="*/ 2255520 w 2631440"/>
              <a:gd name="connsiteY6" fmla="*/ 447040 h 751840"/>
              <a:gd name="connsiteX7" fmla="*/ 2631440 w 2631440"/>
              <a:gd name="connsiteY7" fmla="*/ 44704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1440" h="751840">
                <a:moveTo>
                  <a:pt x="0" y="528320"/>
                </a:moveTo>
                <a:lnTo>
                  <a:pt x="1554480" y="528320"/>
                </a:lnTo>
                <a:lnTo>
                  <a:pt x="1676400" y="203200"/>
                </a:lnTo>
                <a:lnTo>
                  <a:pt x="1869440" y="751840"/>
                </a:lnTo>
                <a:lnTo>
                  <a:pt x="1991360" y="0"/>
                </a:lnTo>
                <a:lnTo>
                  <a:pt x="2133600" y="660400"/>
                </a:lnTo>
                <a:lnTo>
                  <a:pt x="2255520" y="447040"/>
                </a:lnTo>
                <a:lnTo>
                  <a:pt x="2631440" y="44704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174E78">
                    <a:alpha val="0"/>
                  </a:srgbClr>
                </a:gs>
                <a:gs pos="34000">
                  <a:srgbClr val="174E78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HarmonyOS Sans SC" panose="00000500000000000000" pitchFamily="2" charset="-122"/>
            </a:endParaRPr>
          </a:p>
        </p:txBody>
      </p:sp>
      <p:sp>
        <p:nvSpPr>
          <p:cNvPr id="89" name="任意多边形: 形状 27"/>
          <p:cNvSpPr/>
          <p:nvPr/>
        </p:nvSpPr>
        <p:spPr>
          <a:xfrm>
            <a:off x="1688550" y="1130270"/>
            <a:ext cx="2631440" cy="270481"/>
          </a:xfrm>
          <a:custGeom>
            <a:avLst/>
            <a:gdLst>
              <a:gd name="connsiteX0" fmla="*/ 0 w 2631440"/>
              <a:gd name="connsiteY0" fmla="*/ 528320 h 751840"/>
              <a:gd name="connsiteX1" fmla="*/ 1554480 w 2631440"/>
              <a:gd name="connsiteY1" fmla="*/ 528320 h 751840"/>
              <a:gd name="connsiteX2" fmla="*/ 1676400 w 2631440"/>
              <a:gd name="connsiteY2" fmla="*/ 203200 h 751840"/>
              <a:gd name="connsiteX3" fmla="*/ 1869440 w 2631440"/>
              <a:gd name="connsiteY3" fmla="*/ 751840 h 751840"/>
              <a:gd name="connsiteX4" fmla="*/ 1991360 w 2631440"/>
              <a:gd name="connsiteY4" fmla="*/ 0 h 751840"/>
              <a:gd name="connsiteX5" fmla="*/ 2133600 w 2631440"/>
              <a:gd name="connsiteY5" fmla="*/ 660400 h 751840"/>
              <a:gd name="connsiteX6" fmla="*/ 2255520 w 2631440"/>
              <a:gd name="connsiteY6" fmla="*/ 447040 h 751840"/>
              <a:gd name="connsiteX7" fmla="*/ 2631440 w 2631440"/>
              <a:gd name="connsiteY7" fmla="*/ 44704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1440" h="751840">
                <a:moveTo>
                  <a:pt x="0" y="528320"/>
                </a:moveTo>
                <a:lnTo>
                  <a:pt x="1554480" y="528320"/>
                </a:lnTo>
                <a:lnTo>
                  <a:pt x="1676400" y="203200"/>
                </a:lnTo>
                <a:lnTo>
                  <a:pt x="1869440" y="751840"/>
                </a:lnTo>
                <a:lnTo>
                  <a:pt x="1991360" y="0"/>
                </a:lnTo>
                <a:lnTo>
                  <a:pt x="2133600" y="660400"/>
                </a:lnTo>
                <a:lnTo>
                  <a:pt x="2255520" y="447040"/>
                </a:lnTo>
                <a:lnTo>
                  <a:pt x="2631440" y="44704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174E78">
                    <a:alpha val="0"/>
                  </a:srgbClr>
                </a:gs>
                <a:gs pos="34000">
                  <a:srgbClr val="174E78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HarmonyOS Sans SC" panose="00000500000000000000" pitchFamily="2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1"/>
            </p:custDataLst>
          </p:nvPr>
        </p:nvSpPr>
        <p:spPr>
          <a:xfrm>
            <a:off x="3964225" y="1111220"/>
            <a:ext cx="42635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以</a:t>
            </a:r>
            <a:r>
              <a:rPr lang="zh-CN" altLang="en-US" sz="2400" b="1" dirty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用户</a:t>
            </a: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为</a:t>
            </a:r>
            <a:r>
              <a:rPr lang="zh-CN" altLang="en-US" sz="2400" b="1" dirty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中心创造价值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202024" y="1614854"/>
            <a:ext cx="7820782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“定调 ：</a:t>
            </a:r>
            <a:r>
              <a:rPr lang="zh-CN" altLang="en-US" sz="1600" dirty="0" smtClean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确定方向</a:t>
            </a:r>
            <a:r>
              <a:rPr lang="zh-CN" altLang="en-US" sz="160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和</a:t>
            </a:r>
            <a:r>
              <a:rPr lang="zh-CN" altLang="en-US" sz="1600" dirty="0" smtClean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立足点</a:t>
            </a:r>
            <a:endParaRPr lang="zh-CN" altLang="en-US" sz="160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26638" y="5577999"/>
            <a:ext cx="2587957" cy="2774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b="1" dirty="0" smtClean="0"/>
              <a:t>价格（</a:t>
            </a:r>
            <a:r>
              <a:rPr lang="en-US" altLang="zh-CN" b="1" dirty="0" smtClean="0"/>
              <a:t>Price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</p:txBody>
      </p:sp>
      <p:sp>
        <p:nvSpPr>
          <p:cNvPr id="94" name="文本框 93"/>
          <p:cNvSpPr txBox="1"/>
          <p:nvPr/>
        </p:nvSpPr>
        <p:spPr>
          <a:xfrm>
            <a:off x="3411293" y="5577999"/>
            <a:ext cx="2684707" cy="27686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b="1" dirty="0" smtClean="0"/>
              <a:t>渠道（</a:t>
            </a:r>
            <a:r>
              <a:rPr lang="en-US" altLang="zh-CN" b="1" dirty="0" smtClean="0"/>
              <a:t>Place</a:t>
            </a:r>
            <a:r>
              <a:rPr lang="zh-CN" altLang="en-US" b="1" dirty="0" smtClean="0"/>
              <a:t>）</a:t>
            </a:r>
            <a:endParaRPr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7750320" y="5577999"/>
            <a:ext cx="2684707" cy="27686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b="1" dirty="0" smtClean="0"/>
              <a:t>营销（</a:t>
            </a:r>
            <a:r>
              <a:rPr lang="en-US" altLang="zh-CN" b="1" dirty="0" smtClean="0"/>
              <a:t>Promotion</a:t>
            </a:r>
            <a:r>
              <a:rPr lang="zh-CN" altLang="en-US" b="1" dirty="0" smtClean="0"/>
              <a:t>）</a:t>
            </a:r>
            <a:endParaRPr b="1" dirty="0"/>
          </a:p>
        </p:txBody>
      </p:sp>
      <p:sp>
        <p:nvSpPr>
          <p:cNvPr id="100" name="矩形 99"/>
          <p:cNvSpPr/>
          <p:nvPr/>
        </p:nvSpPr>
        <p:spPr>
          <a:xfrm>
            <a:off x="327298" y="2000683"/>
            <a:ext cx="3398216" cy="491364"/>
          </a:xfrm>
          <a:prstGeom prst="rect">
            <a:avLst/>
          </a:prstGeom>
          <a:solidFill>
            <a:srgbClr val="904C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全新的产品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079875" y="2000683"/>
            <a:ext cx="7826094" cy="491490"/>
          </a:xfrm>
          <a:prstGeom prst="rect">
            <a:avLst/>
          </a:prstGeom>
          <a:solidFill>
            <a:srgbClr val="904C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制胜引擎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：技术差异化、用户体验优化、创新的市场策略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5668614" y="3219093"/>
            <a:ext cx="1231618" cy="1231618"/>
          </a:xfrm>
          <a:prstGeom prst="ellipse">
            <a:avLst/>
          </a:prstGeom>
          <a:gradFill flip="none" rotWithShape="1">
            <a:gsLst>
              <a:gs pos="0">
                <a:srgbClr val="904C47"/>
              </a:gs>
              <a:gs pos="89000">
                <a:srgbClr val="904C47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innerShdw blurRad="203200">
              <a:sysClr val="window" lastClr="FFFFFF"/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5193893" y="2797545"/>
            <a:ext cx="2223314" cy="2223314"/>
          </a:xfrm>
          <a:prstGeom prst="ellipse">
            <a:avLst/>
          </a:prstGeom>
          <a:noFill/>
          <a:ln w="12700" cap="flat" cmpd="sng" algn="ctr">
            <a:gradFill flip="none" rotWithShape="1">
              <a:gsLst>
                <a:gs pos="24000">
                  <a:srgbClr val="904C47">
                    <a:alpha val="0"/>
                  </a:srgbClr>
                </a:gs>
                <a:gs pos="100000">
                  <a:srgbClr val="904C47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6763518" y="2646549"/>
            <a:ext cx="519458" cy="519458"/>
            <a:chOff x="5335998" y="6516722"/>
            <a:chExt cx="1020486" cy="1020484"/>
          </a:xfrm>
        </p:grpSpPr>
        <p:sp>
          <p:nvSpPr>
            <p:cNvPr id="111" name="椭圆 110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rgbClr val="904C47"/>
            </a:solidFill>
            <a:ln w="6350" cap="flat" cmpd="sng" algn="ctr">
              <a:noFill/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4664118" y="3706718"/>
            <a:ext cx="6636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rgbClr val="A13422"/>
                </a:solidFill>
                <a:effectLst/>
                <a:uLnTx/>
                <a:uFillTx/>
                <a:latin typeface="+mn-ea"/>
                <a:cs typeface="思源黑体 CN Normal" charset="-122"/>
              </a:defRPr>
            </a:lvl1pPr>
          </a:lstStyle>
          <a:p>
            <a:r>
              <a:rPr lang="zh-CN" altLang="en-US" dirty="0">
                <a:solidFill>
                  <a:srgbClr val="904C47"/>
                </a:solidFill>
                <a:latin typeface="思源黑体 CN Regular"/>
              </a:rPr>
              <a:t>“ </a:t>
            </a:r>
            <a:r>
              <a:rPr lang="zh-CN" altLang="en-US" dirty="0" smtClean="0">
                <a:solidFill>
                  <a:srgbClr val="904C47"/>
                </a:solidFill>
                <a:latin typeface="思源黑体 CN Regular"/>
              </a:rPr>
              <a:t>术 ”</a:t>
            </a:r>
            <a:endParaRPr lang="zh-CN" altLang="en-US" dirty="0">
              <a:solidFill>
                <a:srgbClr val="904C47"/>
              </a:solidFill>
              <a:latin typeface="思源黑体 CN Regular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782123" y="3541295"/>
            <a:ext cx="1033232" cy="517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产品</a:t>
            </a:r>
            <a:endParaRPr lang="en-US" altLang="zh-CN" sz="14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（</a:t>
            </a:r>
            <a:r>
              <a:rPr lang="en-US" altLang="zh-CN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Product</a:t>
            </a: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）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6" name="矩形: 圆角 189"/>
          <p:cNvSpPr/>
          <p:nvPr/>
        </p:nvSpPr>
        <p:spPr>
          <a:xfrm>
            <a:off x="7542596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机器学习算法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7" name="矩形: 圆角 189"/>
          <p:cNvSpPr/>
          <p:nvPr/>
        </p:nvSpPr>
        <p:spPr>
          <a:xfrm>
            <a:off x="9007289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联网功能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8" name="矩形: 圆角 189"/>
          <p:cNvSpPr/>
          <p:nvPr/>
        </p:nvSpPr>
        <p:spPr>
          <a:xfrm>
            <a:off x="10469034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工业设计</a:t>
            </a:r>
          </a:p>
        </p:txBody>
      </p:sp>
      <p:sp>
        <p:nvSpPr>
          <p:cNvPr id="119" name="矩形: 圆角 189"/>
          <p:cNvSpPr/>
          <p:nvPr/>
        </p:nvSpPr>
        <p:spPr>
          <a:xfrm>
            <a:off x="7542596" y="4719791"/>
            <a:ext cx="1779245" cy="2598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价值定价</a:t>
            </a:r>
          </a:p>
        </p:txBody>
      </p:sp>
      <p:sp>
        <p:nvSpPr>
          <p:cNvPr id="120" name="矩形: 圆角 189"/>
          <p:cNvSpPr/>
          <p:nvPr/>
        </p:nvSpPr>
        <p:spPr>
          <a:xfrm>
            <a:off x="9007289" y="4729316"/>
            <a:ext cx="1779245" cy="2598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渠道创新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21" name="矩形: 圆角 189"/>
          <p:cNvSpPr/>
          <p:nvPr/>
        </p:nvSpPr>
        <p:spPr>
          <a:xfrm>
            <a:off x="10469034" y="4719791"/>
            <a:ext cx="1779245" cy="2598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营销引爆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22" name="矩形: 圆角 189"/>
          <p:cNvSpPr/>
          <p:nvPr/>
        </p:nvSpPr>
        <p:spPr>
          <a:xfrm>
            <a:off x="7756908" y="3702194"/>
            <a:ext cx="2265898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安装简化</a:t>
            </a:r>
          </a:p>
        </p:txBody>
      </p:sp>
      <p:sp>
        <p:nvSpPr>
          <p:cNvPr id="123" name="矩形: 圆角 189"/>
          <p:cNvSpPr/>
          <p:nvPr/>
        </p:nvSpPr>
        <p:spPr>
          <a:xfrm>
            <a:off x="9110890" y="3702194"/>
            <a:ext cx="2265898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能耗可视化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7122293" y="3635411"/>
            <a:ext cx="519458" cy="519458"/>
            <a:chOff x="5335998" y="6516722"/>
            <a:chExt cx="1020486" cy="1020484"/>
          </a:xfrm>
        </p:grpSpPr>
        <p:sp>
          <p:nvSpPr>
            <p:cNvPr id="126" name="椭圆 125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rgbClr val="904C47"/>
            </a:solidFill>
            <a:ln w="6350" cap="flat" cmpd="sng" algn="ctr">
              <a:noFill/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6725594" y="4496792"/>
            <a:ext cx="519458" cy="519458"/>
            <a:chOff x="5335998" y="6516722"/>
            <a:chExt cx="1020486" cy="1020484"/>
          </a:xfrm>
          <a:solidFill>
            <a:schemeClr val="accent4">
              <a:lumMod val="75000"/>
            </a:schemeClr>
          </a:solidFill>
        </p:grpSpPr>
        <p:sp>
          <p:nvSpPr>
            <p:cNvPr id="130" name="椭圆 129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grpFill/>
            <a:ln w="6350" cap="flat" cmpd="sng" algn="ctr">
              <a:noFill/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grpFill/>
            <a:ln w="6350" cap="flat" cmpd="sng" algn="ctr">
              <a:noFill/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6854330" y="2797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904C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sz="1400" b="1" dirty="0" smtClean="0"/>
              <a:t>技术</a:t>
            </a:r>
            <a:endParaRPr lang="zh-CN" altLang="en-US" sz="1400" b="1" dirty="0"/>
          </a:p>
        </p:txBody>
      </p:sp>
      <p:sp>
        <p:nvSpPr>
          <p:cNvPr id="134" name="文本框 133"/>
          <p:cNvSpPr txBox="1"/>
          <p:nvPr/>
        </p:nvSpPr>
        <p:spPr>
          <a:xfrm>
            <a:off x="7208431" y="379476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Normal" charset="-122"/>
              </a:defRPr>
            </a:lvl1pPr>
          </a:lstStyle>
          <a:p>
            <a:pPr>
              <a:defRPr/>
            </a:pPr>
            <a:r>
              <a:rPr lang="zh-CN" altLang="en-US" sz="1400" b="1" dirty="0" smtClean="0">
                <a:solidFill>
                  <a:srgbClr val="904C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endParaRPr lang="zh-CN" altLang="en-US" sz="1400" b="1" dirty="0">
              <a:solidFill>
                <a:srgbClr val="904C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6797413" y="4652786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904C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sz="1400" b="1" dirty="0" smtClean="0"/>
              <a:t>策略</a:t>
            </a:r>
            <a:endParaRPr lang="zh-CN" altLang="en-US" sz="1400" b="1" dirty="0"/>
          </a:p>
        </p:txBody>
      </p:sp>
      <p:grpSp>
        <p:nvGrpSpPr>
          <p:cNvPr id="137" name="组合 136"/>
          <p:cNvGrpSpPr/>
          <p:nvPr/>
        </p:nvGrpSpPr>
        <p:grpSpPr>
          <a:xfrm>
            <a:off x="4319990" y="3822313"/>
            <a:ext cx="1289714" cy="332556"/>
            <a:chOff x="5078379" y="3210921"/>
            <a:chExt cx="2029992" cy="523439"/>
          </a:xfrm>
        </p:grpSpPr>
        <p:sp>
          <p:nvSpPr>
            <p:cNvPr id="138" name="梯形 137"/>
            <p:cNvSpPr/>
            <p:nvPr/>
          </p:nvSpPr>
          <p:spPr>
            <a:xfrm>
              <a:off x="5246915" y="3210921"/>
              <a:ext cx="1719942" cy="442965"/>
            </a:xfrm>
            <a:prstGeom prst="trapezoid">
              <a:avLst>
                <a:gd name="adj" fmla="val 96266"/>
              </a:avLst>
            </a:prstGeom>
            <a:gradFill flip="none" rotWithShape="1">
              <a:gsLst>
                <a:gs pos="0">
                  <a:srgbClr val="904C47">
                    <a:lumMod val="60000"/>
                    <a:lumOff val="40000"/>
                    <a:alpha val="0"/>
                  </a:srgbClr>
                </a:gs>
                <a:gs pos="100000">
                  <a:srgbClr val="904C47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904C47"/>
                    </a:gs>
                    <a:gs pos="93000">
                      <a:srgbClr val="904C47">
                        <a:lumMod val="60000"/>
                        <a:lumOff val="4000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9" name="梯形 138"/>
            <p:cNvSpPr/>
            <p:nvPr/>
          </p:nvSpPr>
          <p:spPr>
            <a:xfrm>
              <a:off x="5078379" y="3355378"/>
              <a:ext cx="2029992" cy="378982"/>
            </a:xfrm>
            <a:prstGeom prst="trapezoid">
              <a:avLst>
                <a:gd name="adj" fmla="val 96266"/>
              </a:avLst>
            </a:prstGeom>
            <a:noFill/>
            <a:ln w="12700" cap="flat" cmpd="sng" algn="ctr">
              <a:gradFill>
                <a:gsLst>
                  <a:gs pos="0">
                    <a:srgbClr val="904C47">
                      <a:alpha val="0"/>
                    </a:srgbClr>
                  </a:gs>
                  <a:gs pos="100000">
                    <a:srgbClr val="904C47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pic>
        <p:nvPicPr>
          <p:cNvPr id="140" name="Picture 2" descr="https://bkimg.cdn.bcebos.com/pic/267f9e2f07082838b73299f8b999a9014c08f11b?x-bce-process=image/format,f_auto/watermark,image_d2F0ZXIvYmFpa2UyNzI,g_7,xp_5,yp_5,P_20/resize,m_lfit,limit_1,h_10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89" y="2545387"/>
            <a:ext cx="2125018" cy="163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文本框 140">
            <a:extLst>
              <a:ext uri="{FF2B5EF4-FFF2-40B4-BE49-F238E27FC236}">
                <a16:creationId xmlns="" xmlns:a16="http://schemas.microsoft.com/office/drawing/2014/main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142" name="矩形: 圆角 189"/>
          <p:cNvSpPr/>
          <p:nvPr/>
        </p:nvSpPr>
        <p:spPr>
          <a:xfrm>
            <a:off x="10464872" y="3702194"/>
            <a:ext cx="1601587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远程迭代升级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449251" y="4265255"/>
            <a:ext cx="327626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Nest Labs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的起点‌：</a:t>
            </a:r>
          </a:p>
          <a:p>
            <a:pPr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之父托尼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法德尔（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Tony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Fadell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）和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Matt Rogers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2011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年创立，托尼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法戴尔是前苹果公司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部门主管，被称为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之父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，做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了一个突破性产品：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Nest Learning Thermostat‌</a:t>
            </a:r>
          </a:p>
        </p:txBody>
      </p:sp>
      <p:sp>
        <p:nvSpPr>
          <p:cNvPr id="145" name="矩形 144"/>
          <p:cNvSpPr/>
          <p:nvPr/>
        </p:nvSpPr>
        <p:spPr>
          <a:xfrm>
            <a:off x="408577" y="5941249"/>
            <a:ext cx="28326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首款产品定价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249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美元，高于传统恒温器价格（约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），但通过“节能回报”宣传（如用户反馈年省电费约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10%-15%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），强化价值感知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3411293" y="5981743"/>
            <a:ext cx="27315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避开传统建材渠道，直接通过苹果零售店、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Best Buy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等消费电子渠道销售，利用苹果的品牌背书吸引早期用户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6182972" y="5918224"/>
            <a:ext cx="5652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口碑传播‌：早期用户多为科技爱好者，通过社交媒体分享使用体验，形成病毒式传播。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合作‌：与科技博主（如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MKBHD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）合作测评，突出产品易用性和设计美感。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环保叙事‌：强调产品对减少碳排放的贡献，吸引环保意识较强的消费者。</a:t>
            </a:r>
          </a:p>
        </p:txBody>
      </p:sp>
      <p:sp>
        <p:nvSpPr>
          <p:cNvPr id="149" name="等腰三角形 148"/>
          <p:cNvSpPr/>
          <p:nvPr/>
        </p:nvSpPr>
        <p:spPr>
          <a:xfrm flipH="1">
            <a:off x="4646987" y="4915624"/>
            <a:ext cx="4638217" cy="506531"/>
          </a:xfrm>
          <a:prstGeom prst="triangle">
            <a:avLst/>
          </a:prstGeom>
          <a:gradFill flip="none" rotWithShape="1">
            <a:gsLst>
              <a:gs pos="81000">
                <a:schemeClr val="accent5">
                  <a:lumMod val="60000"/>
                  <a:lumOff val="40000"/>
                </a:schemeClr>
              </a:gs>
              <a:gs pos="47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0" name="直接连接符 149"/>
          <p:cNvCxnSpPr/>
          <p:nvPr/>
        </p:nvCxnSpPr>
        <p:spPr>
          <a:xfrm>
            <a:off x="3300740" y="5754496"/>
            <a:ext cx="0" cy="892628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6136084" y="5754496"/>
            <a:ext cx="0" cy="892628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3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2925" y="906941"/>
            <a:ext cx="3086138" cy="5874859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68776" y="3688225"/>
            <a:ext cx="5664877" cy="3127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1219" y="1716384"/>
            <a:ext cx="594412" cy="4724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219" y="3699786"/>
            <a:ext cx="579170" cy="4419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1219" y="5592336"/>
            <a:ext cx="609653" cy="480102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76195" y="1716384"/>
            <a:ext cx="196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初出茅庐</a:t>
            </a:r>
            <a:endParaRPr lang="zh-CN" altLang="en-US" sz="2400" b="1" dirty="0">
              <a:solidFill>
                <a:srgbClr val="174E78"/>
              </a:solidFill>
              <a:effectLst>
                <a:reflection blurRad="101600" stA="33000" endPos="220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62333" y="1808717"/>
            <a:ext cx="5808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市场份额不足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，营收约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万美元。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76195" y="3701670"/>
            <a:ext cx="196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高速发展</a:t>
            </a:r>
          </a:p>
        </p:txBody>
      </p:sp>
      <p:sp>
        <p:nvSpPr>
          <p:cNvPr id="12" name="矩形 11"/>
          <p:cNvSpPr/>
          <p:nvPr/>
        </p:nvSpPr>
        <p:spPr>
          <a:xfrm>
            <a:off x="3762333" y="3495453"/>
            <a:ext cx="70640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年‌：市场份额跃升至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，营收突破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亿美元，成为美国智能温控器市场第一。</a:t>
            </a:r>
          </a:p>
        </p:txBody>
      </p:sp>
      <p:sp>
        <p:nvSpPr>
          <p:cNvPr id="13" name="矩形 12"/>
          <p:cNvSpPr/>
          <p:nvPr/>
        </p:nvSpPr>
        <p:spPr>
          <a:xfrm>
            <a:off x="3790882" y="5603871"/>
            <a:ext cx="7064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年‌：被谷歌以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亿美元收购，巩固行业领导地位。</a:t>
            </a: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76195" y="5557705"/>
            <a:ext cx="196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目标达成</a:t>
            </a:r>
            <a:endParaRPr lang="zh-CN" altLang="en-US" sz="2400" b="1" dirty="0">
              <a:solidFill>
                <a:srgbClr val="174E78"/>
              </a:solidFill>
              <a:effectLst>
                <a:reflection blurRad="101600" stA="33000" endPos="220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25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53066" y="3466532"/>
            <a:ext cx="123601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技术</a:t>
            </a:r>
            <a:r>
              <a:rPr lang="zh-CN" altLang="en-US" dirty="0"/>
              <a:t>差异化‌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机器学习算法‌：设备通过记录用户手动调节习惯，自动学习并预测温度需求（如工作日早晨自动升温，夜间降温），减少用户干预。</a:t>
            </a:r>
          </a:p>
          <a:p>
            <a:r>
              <a:rPr lang="zh-CN" altLang="en-US" dirty="0"/>
              <a:t>联网功能‌：支持</a:t>
            </a:r>
            <a:r>
              <a:rPr lang="en-US" altLang="zh-CN" dirty="0"/>
              <a:t>Wi-Fi</a:t>
            </a:r>
            <a:r>
              <a:rPr lang="zh-CN" altLang="en-US" dirty="0"/>
              <a:t>连接，用户可通过手机</a:t>
            </a:r>
            <a:r>
              <a:rPr lang="en-US" altLang="zh-CN" dirty="0"/>
              <a:t>APP</a:t>
            </a:r>
            <a:r>
              <a:rPr lang="zh-CN" altLang="en-US" dirty="0"/>
              <a:t>远程控制，并接收能耗报告。</a:t>
            </a:r>
          </a:p>
          <a:p>
            <a:r>
              <a:rPr lang="zh-CN" altLang="en-US" dirty="0"/>
              <a:t>工业设计‌：采用圆形触控屏和金属机身，外观简洁时尚，与传统温控器的塑料面板形成鲜明对比。</a:t>
            </a:r>
          </a:p>
          <a:p>
            <a:r>
              <a:rPr lang="zh-CN" altLang="en-US" dirty="0"/>
              <a:t>用户体验优化‌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安装简化‌：提供视频教程和在线支持，用户可自行安装，无需专业电工。</a:t>
            </a:r>
          </a:p>
          <a:p>
            <a:r>
              <a:rPr lang="zh-CN" altLang="en-US" dirty="0"/>
              <a:t>能耗可视化‌：通过</a:t>
            </a:r>
            <a:r>
              <a:rPr lang="en-US" altLang="zh-CN" dirty="0"/>
              <a:t>APP</a:t>
            </a:r>
            <a:r>
              <a:rPr lang="zh-CN" altLang="en-US" dirty="0"/>
              <a:t>展示每日能耗数据，帮助用户优化用电习惯，降低能源成本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首款产品定价</a:t>
            </a:r>
            <a:r>
              <a:rPr lang="en-US" altLang="zh-CN" dirty="0"/>
              <a:t>249</a:t>
            </a:r>
            <a:r>
              <a:rPr lang="zh-CN" altLang="en-US" dirty="0"/>
              <a:t>美元，高于传统温控器（约</a:t>
            </a:r>
            <a:r>
              <a:rPr lang="en-US" altLang="zh-CN" dirty="0"/>
              <a:t>100</a:t>
            </a:r>
            <a:r>
              <a:rPr lang="zh-CN" altLang="en-US" dirty="0"/>
              <a:t>美元），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1026" name="Picture 2" descr="https://bkimg.cdn.bcebos.com/pic/267f9e2f07082838b73299f8b999a9014c08f11b?x-bce-process=image/format,f_auto/watermark,image_d2F0ZXIvYmFpa2UyNzI,g_7,xp_5,yp_5,P_20/resize,m_lfit,limit_1,h_10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66" y="1092457"/>
            <a:ext cx="2839983" cy="218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478924" y="1146712"/>
            <a:ext cx="85238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Nest Labs</a:t>
            </a:r>
            <a:r>
              <a:rPr lang="zh-CN" altLang="en-US" dirty="0"/>
              <a:t>的起点‌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en-US" dirty="0" smtClean="0"/>
              <a:t>由</a:t>
            </a:r>
            <a:r>
              <a:rPr lang="en-US" altLang="zh-CN" dirty="0"/>
              <a:t>iPod</a:t>
            </a:r>
            <a:r>
              <a:rPr lang="zh-CN" altLang="en-US" dirty="0"/>
              <a:t>之父托尼</a:t>
            </a:r>
            <a:r>
              <a:rPr lang="en-US" altLang="zh-CN" dirty="0"/>
              <a:t>·</a:t>
            </a:r>
            <a:r>
              <a:rPr lang="zh-CN" altLang="en-US" dirty="0"/>
              <a:t>法德尔（</a:t>
            </a:r>
            <a:r>
              <a:rPr lang="en-US" altLang="zh-CN" dirty="0"/>
              <a:t>Tony Fadell</a:t>
            </a:r>
            <a:r>
              <a:rPr lang="zh-CN" altLang="en-US" dirty="0"/>
              <a:t>）和</a:t>
            </a:r>
            <a:r>
              <a:rPr lang="en-US" altLang="zh-CN" dirty="0"/>
              <a:t>Matt Rogers</a:t>
            </a:r>
            <a:r>
              <a:rPr lang="zh-CN" altLang="en-US" dirty="0"/>
              <a:t>于</a:t>
            </a:r>
            <a:r>
              <a:rPr lang="en-US" altLang="zh-CN" dirty="0"/>
              <a:t>2011</a:t>
            </a:r>
            <a:r>
              <a:rPr lang="zh-CN" altLang="en-US" dirty="0"/>
              <a:t>年</a:t>
            </a:r>
            <a:r>
              <a:rPr lang="zh-CN" altLang="en-US" dirty="0" smtClean="0"/>
              <a:t>创立，</a:t>
            </a:r>
            <a:r>
              <a:rPr lang="zh-CN" altLang="en-US" b="1" dirty="0" smtClean="0"/>
              <a:t>托尼</a:t>
            </a:r>
            <a:r>
              <a:rPr lang="en-US" altLang="zh-CN" b="1" dirty="0"/>
              <a:t>·</a:t>
            </a:r>
            <a:r>
              <a:rPr lang="zh-CN" altLang="en-US" b="1" dirty="0" smtClean="0"/>
              <a:t>法戴尔是</a:t>
            </a:r>
            <a:r>
              <a:rPr lang="zh-CN" altLang="en-US" b="1" dirty="0"/>
              <a:t>前苹果公司</a:t>
            </a:r>
            <a:r>
              <a:rPr lang="en-US" altLang="zh-CN" b="1" dirty="0"/>
              <a:t>iPod </a:t>
            </a:r>
            <a:r>
              <a:rPr lang="zh-CN" altLang="en-US" b="1" dirty="0"/>
              <a:t>部门主管，被称为</a:t>
            </a:r>
            <a:r>
              <a:rPr lang="en-US" altLang="zh-CN" b="1" dirty="0"/>
              <a:t>iPod</a:t>
            </a:r>
            <a:r>
              <a:rPr lang="zh-CN" altLang="en-US" b="1" dirty="0"/>
              <a:t>之父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做了一个突破性</a:t>
            </a:r>
            <a:r>
              <a:rPr lang="zh-CN" altLang="en-US" dirty="0"/>
              <a:t>产品：</a:t>
            </a:r>
            <a:r>
              <a:rPr lang="en-US" altLang="zh-CN" dirty="0"/>
              <a:t>Nest Learning Thermostat‌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由于</a:t>
            </a:r>
            <a:r>
              <a:rPr lang="zh-CN" altLang="en-US" dirty="0"/>
              <a:t>这个原因，</a:t>
            </a:r>
            <a:r>
              <a:rPr lang="en-US" altLang="zh-CN" b="1" dirty="0"/>
              <a:t>Nest</a:t>
            </a:r>
            <a:r>
              <a:rPr lang="zh-CN" altLang="en-US" b="1" dirty="0"/>
              <a:t>也被人们称为恒温器领域的</a:t>
            </a:r>
            <a:r>
              <a:rPr lang="en-US" altLang="zh-CN" b="1" dirty="0" smtClean="0"/>
              <a:t>iPod</a:t>
            </a:r>
            <a:r>
              <a:rPr lang="zh-CN" altLang="en-US" b="1" dirty="0" smtClean="0"/>
              <a:t>，</a:t>
            </a:r>
            <a:endParaRPr lang="zh-CN" altLang="en-US" sz="2000" b="1" dirty="0"/>
          </a:p>
        </p:txBody>
      </p:sp>
      <p:sp>
        <p:nvSpPr>
          <p:cNvPr id="2" name="矩形 1"/>
          <p:cNvSpPr/>
          <p:nvPr/>
        </p:nvSpPr>
        <p:spPr>
          <a:xfrm>
            <a:off x="5906814" y="62326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早期用户评价‌：“终于不用每天手动调温度了，它比我更懂我的习惯。”</a:t>
            </a:r>
            <a:r>
              <a:rPr lang="en-US" altLang="zh-CN" dirty="0"/>
              <a:t>——</a:t>
            </a:r>
            <a:r>
              <a:rPr lang="zh-CN" altLang="en-US" dirty="0"/>
              <a:t>科技博客读者。</a:t>
            </a:r>
          </a:p>
        </p:txBody>
      </p:sp>
    </p:spTree>
    <p:extLst>
      <p:ext uri="{BB962C8B-B14F-4D97-AF65-F5344CB8AC3E}">
        <p14:creationId xmlns:p14="http://schemas.microsoft.com/office/powerpoint/2010/main" val="273560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6538" y="1088563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但</a:t>
            </a:r>
            <a:r>
              <a:rPr lang="zh-CN" altLang="en-US" dirty="0" smtClean="0"/>
              <a:t>初期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年，市场</a:t>
            </a:r>
            <a:r>
              <a:rPr lang="zh-CN" altLang="en-US" dirty="0"/>
              <a:t>份额不足</a:t>
            </a:r>
            <a:r>
              <a:rPr lang="en-US" altLang="zh-CN" dirty="0"/>
              <a:t>5%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546538" y="2442526"/>
            <a:ext cx="1137219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快速推出与市场策略</a:t>
            </a:r>
            <a:r>
              <a:rPr lang="zh-CN" altLang="en-US" dirty="0" smtClean="0"/>
              <a:t>‌</a:t>
            </a:r>
            <a:endParaRPr lang="zh-CN" altLang="en-US" dirty="0"/>
          </a:p>
          <a:p>
            <a:r>
              <a:rPr lang="zh-CN" altLang="en-US" dirty="0"/>
              <a:t>定价策略‌：首款产品定价</a:t>
            </a:r>
            <a:r>
              <a:rPr lang="en-US" altLang="zh-CN" dirty="0"/>
              <a:t>249</a:t>
            </a:r>
            <a:r>
              <a:rPr lang="zh-CN" altLang="en-US" dirty="0"/>
              <a:t>美元，高于传统温控器（约</a:t>
            </a:r>
            <a:r>
              <a:rPr lang="en-US" altLang="zh-CN" dirty="0"/>
              <a:t>100</a:t>
            </a:r>
            <a:r>
              <a:rPr lang="zh-CN" altLang="en-US" dirty="0"/>
              <a:t>美元），但通过“节能回报”宣传（如用户反馈年省电费约</a:t>
            </a:r>
            <a:r>
              <a:rPr lang="en-US" altLang="zh-CN" dirty="0"/>
              <a:t>10%-15%</a:t>
            </a:r>
            <a:r>
              <a:rPr lang="zh-CN" altLang="en-US" dirty="0"/>
              <a:t>），强化价值感知。</a:t>
            </a:r>
          </a:p>
          <a:p>
            <a:r>
              <a:rPr lang="zh-CN" altLang="en-US" dirty="0"/>
              <a:t>渠道创新‌：避开传统建材渠道，直接通过苹果零售店、</a:t>
            </a:r>
            <a:r>
              <a:rPr lang="en-US" altLang="zh-CN" dirty="0"/>
              <a:t>Best Buy</a:t>
            </a:r>
            <a:r>
              <a:rPr lang="zh-CN" altLang="en-US" dirty="0"/>
              <a:t>等消费电子渠道销售，利用苹果的品牌背书吸引早期用户。</a:t>
            </a:r>
          </a:p>
          <a:p>
            <a:r>
              <a:rPr lang="zh-CN" altLang="en-US" dirty="0"/>
              <a:t>营销引爆‌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口碑传播‌：早期用户多为科技爱好者，通过社交媒体分享使用体验，形成病毒式传播。</a:t>
            </a:r>
          </a:p>
          <a:p>
            <a:r>
              <a:rPr lang="en-US" altLang="zh-CN" dirty="0"/>
              <a:t>KOL</a:t>
            </a:r>
            <a:r>
              <a:rPr lang="zh-CN" altLang="en-US" dirty="0"/>
              <a:t>合作‌：与科技博主（如</a:t>
            </a:r>
            <a:r>
              <a:rPr lang="en-US" altLang="zh-CN" dirty="0"/>
              <a:t>MKBHD</a:t>
            </a:r>
            <a:r>
              <a:rPr lang="zh-CN" altLang="en-US" dirty="0"/>
              <a:t>）合作测评，突出产品易用性和设计美感。</a:t>
            </a:r>
          </a:p>
          <a:p>
            <a:r>
              <a:rPr lang="zh-CN" altLang="en-US" dirty="0"/>
              <a:t>环保叙事‌：强调产品对减少碳排放的贡献，吸引环保意识较强的消费者。</a:t>
            </a:r>
          </a:p>
          <a:p>
            <a:r>
              <a:rPr lang="zh-CN" altLang="en-US" dirty="0"/>
              <a:t>快速迭代‌</a:t>
            </a:r>
            <a:r>
              <a:rPr lang="zh-CN" altLang="en-US" dirty="0" smtClean="0"/>
              <a:t>：通过</a:t>
            </a:r>
            <a:r>
              <a:rPr lang="en-US" altLang="zh-CN" dirty="0"/>
              <a:t>OTA</a:t>
            </a:r>
            <a:r>
              <a:rPr lang="zh-CN" altLang="en-US" dirty="0"/>
              <a:t>（空中升级）持续优化算法，如增加“离家模式”自动关闭温控，提升用户体验。</a:t>
            </a:r>
          </a:p>
          <a:p>
            <a:r>
              <a:rPr lang="zh-CN" altLang="en-US" dirty="0"/>
              <a:t>生态扩展‌：</a:t>
            </a:r>
            <a:r>
              <a:rPr lang="en-US" altLang="zh-CN" dirty="0"/>
              <a:t>2012</a:t>
            </a:r>
            <a:r>
              <a:rPr lang="zh-CN" altLang="en-US" dirty="0"/>
              <a:t>年推出</a:t>
            </a:r>
            <a:r>
              <a:rPr lang="en-US" altLang="zh-CN" dirty="0"/>
              <a:t>API</a:t>
            </a:r>
            <a:r>
              <a:rPr lang="zh-CN" altLang="en-US" dirty="0"/>
              <a:t>接口，允许第三方开发者接入，构建智能家居生态。</a:t>
            </a:r>
          </a:p>
          <a:p>
            <a:r>
              <a:rPr lang="zh-CN" altLang="en-US" dirty="0"/>
              <a:t>市场反应与竞争应对‌</a:t>
            </a:r>
          </a:p>
          <a:p>
            <a:r>
              <a:rPr lang="zh-CN" altLang="en-US" dirty="0"/>
              <a:t>用户反馈‌：</a:t>
            </a:r>
          </a:p>
          <a:p>
            <a:endParaRPr lang="zh-CN" altLang="en-US" dirty="0"/>
          </a:p>
          <a:p>
            <a:r>
              <a:rPr lang="zh-CN" altLang="en-US" dirty="0" smtClean="0"/>
              <a:t>能耗</a:t>
            </a:r>
            <a:r>
              <a:rPr lang="zh-CN" altLang="en-US" dirty="0"/>
              <a:t>数据‌：用户平均节省</a:t>
            </a:r>
            <a:r>
              <a:rPr lang="en-US" altLang="zh-CN" dirty="0"/>
              <a:t>12%</a:t>
            </a:r>
            <a:r>
              <a:rPr lang="zh-CN" altLang="en-US" dirty="0"/>
              <a:t>的能源费用，成为核心卖点。</a:t>
            </a:r>
          </a:p>
          <a:p>
            <a:endParaRPr lang="zh-CN" altLang="en-US" dirty="0"/>
          </a:p>
          <a:p>
            <a:r>
              <a:rPr lang="zh-CN" altLang="en-US" dirty="0"/>
              <a:t>降价策略‌：</a:t>
            </a:r>
            <a:r>
              <a:rPr lang="en-US" altLang="zh-CN" dirty="0"/>
              <a:t>2014</a:t>
            </a:r>
            <a:r>
              <a:rPr lang="zh-CN" altLang="en-US" dirty="0"/>
              <a:t>年将价格降至</a:t>
            </a:r>
            <a:r>
              <a:rPr lang="en-US" altLang="zh-CN" dirty="0"/>
              <a:t>199</a:t>
            </a:r>
            <a:r>
              <a:rPr lang="zh-CN" altLang="en-US" dirty="0"/>
              <a:t>美元，扩大受众范围</a:t>
            </a:r>
            <a:r>
              <a:rPr lang="zh-CN" altLang="en-US" dirty="0" smtClean="0"/>
              <a:t>。生态整合‌：与谷歌合作（</a:t>
            </a:r>
            <a:r>
              <a:rPr lang="en-US" altLang="zh-CN" dirty="0" smtClean="0"/>
              <a:t>2014</a:t>
            </a:r>
            <a:r>
              <a:rPr lang="zh-CN" altLang="en-US" dirty="0" smtClean="0"/>
              <a:t>年被谷歌收购），接入</a:t>
            </a:r>
            <a:r>
              <a:rPr lang="en-US" altLang="zh-CN" dirty="0" smtClean="0"/>
              <a:t>Google Home</a:t>
            </a:r>
            <a:r>
              <a:rPr lang="zh-CN" altLang="en-US" dirty="0" smtClean="0"/>
              <a:t>生态，进一步巩固市场地位。</a:t>
            </a:r>
          </a:p>
        </p:txBody>
      </p:sp>
      <p:sp>
        <p:nvSpPr>
          <p:cNvPr id="5" name="矩形 4"/>
          <p:cNvSpPr/>
          <p:nvPr/>
        </p:nvSpPr>
        <p:spPr>
          <a:xfrm>
            <a:off x="546538" y="1627045"/>
            <a:ext cx="10899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霍尼韦尔回应‌：</a:t>
            </a:r>
            <a:r>
              <a:rPr lang="en-US" altLang="zh-CN" dirty="0"/>
              <a:t>2013</a:t>
            </a:r>
            <a:r>
              <a:rPr lang="zh-CN" altLang="en-US" dirty="0"/>
              <a:t>年推出</a:t>
            </a:r>
            <a:r>
              <a:rPr lang="en-US" altLang="zh-CN" dirty="0"/>
              <a:t>Lyric</a:t>
            </a:r>
            <a:r>
              <a:rPr lang="zh-CN" altLang="en-US" dirty="0"/>
              <a:t>温控器，模仿</a:t>
            </a:r>
            <a:r>
              <a:rPr lang="en-US" altLang="zh-CN" dirty="0"/>
              <a:t>Nest</a:t>
            </a:r>
            <a:r>
              <a:rPr lang="zh-CN" altLang="en-US" dirty="0"/>
              <a:t>的联网功能，但定价更高（</a:t>
            </a:r>
            <a:r>
              <a:rPr lang="en-US" altLang="zh-CN" dirty="0"/>
              <a:t>279</a:t>
            </a:r>
            <a:r>
              <a:rPr lang="zh-CN" altLang="en-US" dirty="0"/>
              <a:t>美元），且缺乏机器学习能力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343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54621" y="18303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2011</a:t>
            </a:r>
            <a:r>
              <a:rPr lang="zh-CN" altLang="en-US" dirty="0"/>
              <a:t>年‌：</a:t>
            </a:r>
            <a:r>
              <a:rPr lang="en-US" altLang="zh-CN" dirty="0"/>
              <a:t>Nest</a:t>
            </a:r>
            <a:r>
              <a:rPr lang="zh-CN" altLang="en-US" dirty="0"/>
              <a:t>市场份额不足</a:t>
            </a:r>
            <a:r>
              <a:rPr lang="en-US" altLang="zh-CN" dirty="0"/>
              <a:t>5%</a:t>
            </a:r>
            <a:r>
              <a:rPr lang="zh-CN" altLang="en-US" dirty="0"/>
              <a:t>，营收约</a:t>
            </a:r>
            <a:r>
              <a:rPr lang="en-US" altLang="zh-CN" dirty="0"/>
              <a:t>2000</a:t>
            </a:r>
            <a:r>
              <a:rPr lang="zh-CN" altLang="en-US" dirty="0"/>
              <a:t>万美元。</a:t>
            </a:r>
          </a:p>
          <a:p>
            <a:r>
              <a:rPr lang="en-US" altLang="zh-CN" dirty="0"/>
              <a:t>2013</a:t>
            </a:r>
            <a:r>
              <a:rPr lang="zh-CN" altLang="en-US" dirty="0"/>
              <a:t>年‌：市场份额跃升至</a:t>
            </a:r>
            <a:r>
              <a:rPr lang="en-US" altLang="zh-CN" dirty="0"/>
              <a:t>20%</a:t>
            </a:r>
            <a:r>
              <a:rPr lang="zh-CN" altLang="en-US" dirty="0"/>
              <a:t>，营收突破</a:t>
            </a:r>
            <a:r>
              <a:rPr lang="en-US" altLang="zh-CN" dirty="0"/>
              <a:t>1</a:t>
            </a:r>
            <a:r>
              <a:rPr lang="zh-CN" altLang="en-US" dirty="0"/>
              <a:t>亿美元，成为美国智能温控器市场第一。</a:t>
            </a:r>
          </a:p>
          <a:p>
            <a:r>
              <a:rPr lang="en-US" altLang="zh-CN" dirty="0"/>
              <a:t>2014</a:t>
            </a:r>
            <a:r>
              <a:rPr lang="zh-CN" altLang="en-US" dirty="0"/>
              <a:t>年‌：被谷歌以</a:t>
            </a:r>
            <a:r>
              <a:rPr lang="en-US" altLang="zh-CN" dirty="0"/>
              <a:t>32</a:t>
            </a:r>
            <a:r>
              <a:rPr lang="zh-CN" altLang="en-US" dirty="0"/>
              <a:t>亿美元收购，巩固行业领导地位。</a:t>
            </a:r>
          </a:p>
        </p:txBody>
      </p:sp>
    </p:spTree>
    <p:extLst>
      <p:ext uri="{BB962C8B-B14F-4D97-AF65-F5344CB8AC3E}">
        <p14:creationId xmlns:p14="http://schemas.microsoft.com/office/powerpoint/2010/main" val="355064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恒温器的逆袭之路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83357" y="1366932"/>
            <a:ext cx="60035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恒温器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叫风机盘管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温控器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中央空调的控制部件，在所有使用中央空调的地方均有使用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可以自动控制暖气、通风及空气调节设备（如空调、电暖器等），让室内温度恒定在你设定的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6080" y="4404764"/>
            <a:ext cx="119608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行业格局‌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年前，全球智能温控器市场由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霍尼韦尔（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Honeywell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西门子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等工业巨头主导，占据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市场份额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，产品以功能单一、操作复杂著称，用户需手动调节温度，且缺乏联网能力。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80" y="1394490"/>
            <a:ext cx="2750593" cy="25502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295" y="1394490"/>
            <a:ext cx="2832542" cy="25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34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1219</Words>
  <Application>Microsoft Office PowerPoint</Application>
  <PresentationFormat>宽屏</PresentationFormat>
  <Paragraphs>94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HarmonyOS Sans SC</vt:lpstr>
      <vt:lpstr>OPPOSans M</vt:lpstr>
      <vt:lpstr>OPPOSans R</vt:lpstr>
      <vt:lpstr>等线</vt:lpstr>
      <vt:lpstr>等线 Light</vt:lpstr>
      <vt:lpstr>思源黑体 CN Normal</vt:lpstr>
      <vt:lpstr>思源黑体 CN Regular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ruijie</dc:creator>
  <cp:lastModifiedBy>Lenovo</cp:lastModifiedBy>
  <cp:revision>12</cp:revision>
  <dcterms:created xsi:type="dcterms:W3CDTF">2026-01-08T03:33:34Z</dcterms:created>
  <dcterms:modified xsi:type="dcterms:W3CDTF">2026-01-08T05:24:52Z</dcterms:modified>
</cp:coreProperties>
</file>