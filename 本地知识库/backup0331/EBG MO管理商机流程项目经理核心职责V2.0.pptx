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68" r:id="rId4"/>
    <p:sldId id="270" r:id="rId5"/>
    <p:sldId id="269" r:id="rId6"/>
    <p:sldId id="272" r:id="rId7"/>
    <p:sldId id="271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12192000"/>
  <p:embeddedFontLst>
    <p:embeddedFont>
      <p:font typeface="等线" panose="02010600030101010101" pitchFamily="2" charset="-122"/>
      <p:regular r:id="rId20"/>
      <p:bold r:id="rId21"/>
    </p:embeddedFont>
    <p:embeddedFont>
      <p:font typeface="微软雅黑" panose="020B0503020204020204" pitchFamily="34" charset="-122"/>
      <p:regular r:id="rId22"/>
      <p:bold r:id="rId23"/>
    </p:embeddedFont>
    <p:embeddedFont>
      <p:font typeface="MiSans" panose="02010600030101010101" charset="-122"/>
      <p:regular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51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6474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ruijie.feishu.cn/wiki/A3Bsw8XayiJ3uzkSbOyc9Ulbnvg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ruijie.feishu.cn/wiki/TfVcwj2ALivZlZk8lQRc2bmknzd" TargetMode="External"/><Relationship Id="rId2" Type="http://schemas.openxmlformats.org/officeDocument/2006/relationships/hyperlink" Target="https://ruijie.feishu.cn/wiki/EIYdwxOdEiJeqDkg3t4c05XLnih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ruijie.feishu.cn/wiki/Y6AHwvbv2i5krVkCV3KceXCenMd" TargetMode="External"/><Relationship Id="rId4" Type="http://schemas.openxmlformats.org/officeDocument/2006/relationships/hyperlink" Target="https://ruijie.feishu.cn/wiki/Wcygw76jAir9vnkN67Icpr22nUg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ruijie.feishu.cn/wiki/Y6AHwvbv2i5krVkCV3KceXCenMd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presentationgo.com/281308db27f647616c105eb6b9942e52e640c855.jpg"/>
          <p:cNvPicPr>
            <a:picLocks noChangeAspect="1"/>
          </p:cNvPicPr>
          <p:nvPr/>
        </p:nvPicPr>
        <p:blipFill>
          <a:blip r:embed="rId3">
            <a:alphaModFix amt="20000"/>
          </a:blip>
          <a:srcRect t="12656" b="1265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52CC">
                  <a:alpha val="90000"/>
                </a:srgbClr>
              </a:gs>
              <a:gs pos="50000">
                <a:srgbClr val="0052CC">
                  <a:alpha val="70000"/>
                </a:srgbClr>
              </a:gs>
              <a:gs pos="100000">
                <a:srgbClr val="00B8D9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791075" y="1724025"/>
            <a:ext cx="2609850" cy="495300"/>
          </a:xfrm>
          <a:custGeom>
            <a:avLst/>
            <a:gdLst/>
            <a:ahLst/>
            <a:cxnLst/>
            <a:rect l="l" t="t" r="r" b="b"/>
            <a:pathLst>
              <a:path w="2609850" h="495300">
                <a:moveTo>
                  <a:pt x="247650" y="0"/>
                </a:moveTo>
                <a:lnTo>
                  <a:pt x="2362200" y="0"/>
                </a:lnTo>
                <a:cubicBezTo>
                  <a:pt x="2498882" y="0"/>
                  <a:pt x="2609850" y="110968"/>
                  <a:pt x="2609850" y="247650"/>
                </a:cubicBezTo>
                <a:lnTo>
                  <a:pt x="2609850" y="247650"/>
                </a:lnTo>
                <a:cubicBezTo>
                  <a:pt x="2609850" y="384332"/>
                  <a:pt x="2498882" y="495300"/>
                  <a:pt x="2362200" y="495300"/>
                </a:cubicBezTo>
                <a:lnTo>
                  <a:pt x="247650" y="495300"/>
                </a:lnTo>
                <a:cubicBezTo>
                  <a:pt x="110968" y="495300"/>
                  <a:pt x="0" y="384332"/>
                  <a:pt x="0" y="247650"/>
                </a:cubicBezTo>
                <a:lnTo>
                  <a:pt x="0" y="247650"/>
                </a:lnTo>
                <a:cubicBezTo>
                  <a:pt x="0" y="110968"/>
                  <a:pt x="110968" y="0"/>
                  <a:pt x="24765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048250" y="1838325"/>
            <a:ext cx="2095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kern="0" spc="7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立项项目管理培训宣贯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520196" y="2524125"/>
            <a:ext cx="715327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EBG MO管理商机流程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项目经理核心职责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0" y="4467225"/>
            <a:ext cx="1219200" cy="57150"/>
          </a:xfrm>
          <a:custGeom>
            <a:avLst/>
            <a:gdLst/>
            <a:ahLst/>
            <a:cxnLst/>
            <a:rect l="l" t="t" r="r" b="b"/>
            <a:pathLst>
              <a:path w="1219200" h="57150">
                <a:moveTo>
                  <a:pt x="0" y="0"/>
                </a:moveTo>
                <a:lnTo>
                  <a:pt x="1219200" y="0"/>
                </a:lnTo>
                <a:lnTo>
                  <a:pt x="12192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8" name="Text 5"/>
          <p:cNvSpPr/>
          <p:nvPr/>
        </p:nvSpPr>
        <p:spPr>
          <a:xfrm>
            <a:off x="3734991" y="4829175"/>
            <a:ext cx="472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以流程为准则 · 以目标为导向 · 以结果为核心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00B8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TRAINING AGENDA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27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培训内容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81000" y="1257300"/>
            <a:ext cx="762000" cy="57150"/>
          </a:xfrm>
          <a:custGeom>
            <a:avLst/>
            <a:gdLst/>
            <a:ahLst/>
            <a:cxnLst/>
            <a:rect l="l" t="t" r="r" b="b"/>
            <a:pathLst>
              <a:path w="762000" h="57150">
                <a:moveTo>
                  <a:pt x="0" y="0"/>
                </a:moveTo>
                <a:lnTo>
                  <a:pt x="762000" y="0"/>
                </a:lnTo>
                <a:lnTo>
                  <a:pt x="762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695450"/>
            <a:ext cx="5543550" cy="1352550"/>
          </a:xfrm>
          <a:custGeom>
            <a:avLst/>
            <a:gdLst/>
            <a:ahLst/>
            <a:cxnLst/>
            <a:rect l="l" t="t" r="r" b="b"/>
            <a:pathLst>
              <a:path w="5543550" h="1352550">
                <a:moveTo>
                  <a:pt x="38100" y="0"/>
                </a:moveTo>
                <a:lnTo>
                  <a:pt x="5429246" y="0"/>
                </a:lnTo>
                <a:cubicBezTo>
                  <a:pt x="5492374" y="0"/>
                  <a:pt x="5543550" y="51176"/>
                  <a:pt x="5543550" y="114304"/>
                </a:cubicBezTo>
                <a:lnTo>
                  <a:pt x="5543550" y="1238246"/>
                </a:lnTo>
                <a:cubicBezTo>
                  <a:pt x="5543550" y="1301374"/>
                  <a:pt x="5492374" y="1352550"/>
                  <a:pt x="5429246" y="1352550"/>
                </a:cubicBezTo>
                <a:lnTo>
                  <a:pt x="38100" y="1352550"/>
                </a:lnTo>
                <a:cubicBezTo>
                  <a:pt x="17072" y="1352550"/>
                  <a:pt x="0" y="1335478"/>
                  <a:pt x="0" y="1314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0050" y="1695450"/>
            <a:ext cx="38100" cy="1352550"/>
          </a:xfrm>
          <a:custGeom>
            <a:avLst/>
            <a:gdLst/>
            <a:ahLst/>
            <a:cxnLst/>
            <a:rect l="l" t="t" r="r" b="b"/>
            <a:pathLst>
              <a:path w="38100" h="1352550">
                <a:moveTo>
                  <a:pt x="38100" y="0"/>
                </a:moveTo>
                <a:lnTo>
                  <a:pt x="38100" y="0"/>
                </a:lnTo>
                <a:lnTo>
                  <a:pt x="38100" y="1352550"/>
                </a:lnTo>
                <a:lnTo>
                  <a:pt x="38100" y="1352550"/>
                </a:lnTo>
                <a:cubicBezTo>
                  <a:pt x="17072" y="1352550"/>
                  <a:pt x="0" y="1335478"/>
                  <a:pt x="0" y="1314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7" name="Shape 5"/>
          <p:cNvSpPr/>
          <p:nvPr/>
        </p:nvSpPr>
        <p:spPr>
          <a:xfrm>
            <a:off x="647700" y="19240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8" name="Text 6"/>
          <p:cNvSpPr/>
          <p:nvPr/>
        </p:nvSpPr>
        <p:spPr>
          <a:xfrm>
            <a:off x="590550" y="192405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33499" y="2038350"/>
            <a:ext cx="461010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altLang="zh-CN" sz="1800" b="1" dirty="0" smtClean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</a:t>
            </a:r>
            <a:r>
              <a:rPr lang="zh-CN" altLang="en-US" sz="1800" b="1" dirty="0" smtClean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流程介绍及项目经理</a:t>
            </a:r>
            <a:r>
              <a:rPr lang="en-US" sz="1800" b="1" dirty="0" err="1" smtClean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核心定位与</a:t>
            </a:r>
            <a:r>
              <a:rPr lang="zh-CN" altLang="en-US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原则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33500" y="2571750"/>
            <a:ext cx="4457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altLang="en-US" sz="1200" dirty="0">
                <a:solidFill>
                  <a:srgbClr val="212529">
                    <a:alpha val="70000"/>
                  </a:srgbClr>
                </a:solidFill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介绍</a:t>
            </a:r>
            <a:r>
              <a:rPr lang="en-US" altLang="zh-CN" sz="1200" dirty="0" smtClean="0">
                <a:solidFill>
                  <a:srgbClr val="212529">
                    <a:alpha val="70000"/>
                  </a:srgbClr>
                </a:solidFill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MO</a:t>
            </a:r>
            <a:r>
              <a:rPr lang="zh-CN" altLang="en-US" sz="1200" dirty="0" smtClean="0">
                <a:solidFill>
                  <a:srgbClr val="212529">
                    <a:alpha val="70000"/>
                  </a:srgbClr>
                </a:solidFill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流程，</a:t>
            </a:r>
            <a:r>
              <a:rPr lang="en-US" sz="1200" dirty="0" err="1" smtClean="0">
                <a:solidFill>
                  <a:srgbClr val="212529">
                    <a:alpha val="70000"/>
                  </a:srgbClr>
                </a:solidFill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明确项目经理的角色定位与五大履职原则</a:t>
            </a:r>
            <a:endParaRPr lang="en-US" sz="1600" dirty="0">
              <a:latin typeface="MiSans" panose="02010600030101010101" charset="-122"/>
              <a:ea typeface="MiSans" panose="02010600030101010101" charset="-122"/>
              <a:cs typeface="MiSans" panose="02010600030101010101" charset="-122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267450" y="1695450"/>
            <a:ext cx="5543550" cy="1352550"/>
          </a:xfrm>
          <a:custGeom>
            <a:avLst/>
            <a:gdLst/>
            <a:ahLst/>
            <a:cxnLst/>
            <a:rect l="l" t="t" r="r" b="b"/>
            <a:pathLst>
              <a:path w="5543550" h="1352550">
                <a:moveTo>
                  <a:pt x="38100" y="0"/>
                </a:moveTo>
                <a:lnTo>
                  <a:pt x="5429246" y="0"/>
                </a:lnTo>
                <a:cubicBezTo>
                  <a:pt x="5492374" y="0"/>
                  <a:pt x="5543550" y="51176"/>
                  <a:pt x="5543550" y="114304"/>
                </a:cubicBezTo>
                <a:lnTo>
                  <a:pt x="5543550" y="1238246"/>
                </a:lnTo>
                <a:cubicBezTo>
                  <a:pt x="5543550" y="1301374"/>
                  <a:pt x="5492374" y="1352550"/>
                  <a:pt x="5429246" y="1352550"/>
                </a:cubicBezTo>
                <a:lnTo>
                  <a:pt x="38100" y="1352550"/>
                </a:lnTo>
                <a:cubicBezTo>
                  <a:pt x="17072" y="1352550"/>
                  <a:pt x="0" y="1335478"/>
                  <a:pt x="0" y="1314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7450" y="1695450"/>
            <a:ext cx="38100" cy="1352550"/>
          </a:xfrm>
          <a:custGeom>
            <a:avLst/>
            <a:gdLst/>
            <a:ahLst/>
            <a:cxnLst/>
            <a:rect l="l" t="t" r="r" b="b"/>
            <a:pathLst>
              <a:path w="38100" h="1352550">
                <a:moveTo>
                  <a:pt x="38100" y="0"/>
                </a:moveTo>
                <a:lnTo>
                  <a:pt x="38100" y="0"/>
                </a:lnTo>
                <a:lnTo>
                  <a:pt x="38100" y="1352550"/>
                </a:lnTo>
                <a:lnTo>
                  <a:pt x="38100" y="1352550"/>
                </a:lnTo>
                <a:cubicBezTo>
                  <a:pt x="17072" y="1352550"/>
                  <a:pt x="0" y="1335478"/>
                  <a:pt x="0" y="1314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13" name="Shape 11"/>
          <p:cNvSpPr/>
          <p:nvPr/>
        </p:nvSpPr>
        <p:spPr>
          <a:xfrm>
            <a:off x="6515100" y="19240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14" name="Text 12"/>
          <p:cNvSpPr/>
          <p:nvPr/>
        </p:nvSpPr>
        <p:spPr>
          <a:xfrm>
            <a:off x="6457950" y="192405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00900" y="2038350"/>
            <a:ext cx="217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全流程核心工作职责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00900" y="2571750"/>
            <a:ext cx="4457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覆盖五大核心阶段的项目全生命周期管理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3276600"/>
            <a:ext cx="5543550" cy="1352550"/>
          </a:xfrm>
          <a:custGeom>
            <a:avLst/>
            <a:gdLst/>
            <a:ahLst/>
            <a:cxnLst/>
            <a:rect l="l" t="t" r="r" b="b"/>
            <a:pathLst>
              <a:path w="5543550" h="1352550">
                <a:moveTo>
                  <a:pt x="38100" y="0"/>
                </a:moveTo>
                <a:lnTo>
                  <a:pt x="5429246" y="0"/>
                </a:lnTo>
                <a:cubicBezTo>
                  <a:pt x="5492374" y="0"/>
                  <a:pt x="5543550" y="51176"/>
                  <a:pt x="5543550" y="114304"/>
                </a:cubicBezTo>
                <a:lnTo>
                  <a:pt x="5543550" y="1238246"/>
                </a:lnTo>
                <a:cubicBezTo>
                  <a:pt x="5543550" y="1301374"/>
                  <a:pt x="5492374" y="1352550"/>
                  <a:pt x="5429246" y="1352550"/>
                </a:cubicBezTo>
                <a:lnTo>
                  <a:pt x="38100" y="1352550"/>
                </a:lnTo>
                <a:cubicBezTo>
                  <a:pt x="17072" y="1352550"/>
                  <a:pt x="0" y="1335478"/>
                  <a:pt x="0" y="1314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00050" y="3276600"/>
            <a:ext cx="38100" cy="1352550"/>
          </a:xfrm>
          <a:custGeom>
            <a:avLst/>
            <a:gdLst/>
            <a:ahLst/>
            <a:cxnLst/>
            <a:rect l="l" t="t" r="r" b="b"/>
            <a:pathLst>
              <a:path w="38100" h="1352550">
                <a:moveTo>
                  <a:pt x="38100" y="0"/>
                </a:moveTo>
                <a:lnTo>
                  <a:pt x="38100" y="0"/>
                </a:lnTo>
                <a:lnTo>
                  <a:pt x="38100" y="1352550"/>
                </a:lnTo>
                <a:lnTo>
                  <a:pt x="38100" y="1352550"/>
                </a:lnTo>
                <a:cubicBezTo>
                  <a:pt x="17072" y="1352550"/>
                  <a:pt x="0" y="1335478"/>
                  <a:pt x="0" y="1314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19" name="Shape 17"/>
          <p:cNvSpPr/>
          <p:nvPr/>
        </p:nvSpPr>
        <p:spPr>
          <a:xfrm>
            <a:off x="647700" y="3505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590550" y="35052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33500" y="3619500"/>
            <a:ext cx="217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日常管理与协同职责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33500" y="4152900"/>
            <a:ext cx="4457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信息同步、节点跟进、跨部门协同等日常工作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67450" y="3276600"/>
            <a:ext cx="5543550" cy="1352550"/>
          </a:xfrm>
          <a:custGeom>
            <a:avLst/>
            <a:gdLst/>
            <a:ahLst/>
            <a:cxnLst/>
            <a:rect l="l" t="t" r="r" b="b"/>
            <a:pathLst>
              <a:path w="5543550" h="1352550">
                <a:moveTo>
                  <a:pt x="38100" y="0"/>
                </a:moveTo>
                <a:lnTo>
                  <a:pt x="5429246" y="0"/>
                </a:lnTo>
                <a:cubicBezTo>
                  <a:pt x="5492374" y="0"/>
                  <a:pt x="5543550" y="51176"/>
                  <a:pt x="5543550" y="114304"/>
                </a:cubicBezTo>
                <a:lnTo>
                  <a:pt x="5543550" y="1238246"/>
                </a:lnTo>
                <a:cubicBezTo>
                  <a:pt x="5543550" y="1301374"/>
                  <a:pt x="5492374" y="1352550"/>
                  <a:pt x="5429246" y="1352550"/>
                </a:cubicBezTo>
                <a:lnTo>
                  <a:pt x="38100" y="1352550"/>
                </a:lnTo>
                <a:cubicBezTo>
                  <a:pt x="17072" y="1352550"/>
                  <a:pt x="0" y="1335478"/>
                  <a:pt x="0" y="1314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67450" y="3276600"/>
            <a:ext cx="38100" cy="1352550"/>
          </a:xfrm>
          <a:custGeom>
            <a:avLst/>
            <a:gdLst/>
            <a:ahLst/>
            <a:cxnLst/>
            <a:rect l="l" t="t" r="r" b="b"/>
            <a:pathLst>
              <a:path w="38100" h="1352550">
                <a:moveTo>
                  <a:pt x="38100" y="0"/>
                </a:moveTo>
                <a:lnTo>
                  <a:pt x="38100" y="0"/>
                </a:lnTo>
                <a:lnTo>
                  <a:pt x="38100" y="1352550"/>
                </a:lnTo>
                <a:lnTo>
                  <a:pt x="38100" y="1352550"/>
                </a:lnTo>
                <a:cubicBezTo>
                  <a:pt x="17072" y="1352550"/>
                  <a:pt x="0" y="1335478"/>
                  <a:pt x="0" y="1314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25" name="Shape 23"/>
          <p:cNvSpPr/>
          <p:nvPr/>
        </p:nvSpPr>
        <p:spPr>
          <a:xfrm>
            <a:off x="6515100" y="3505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26" name="Text 24"/>
          <p:cNvSpPr/>
          <p:nvPr/>
        </p:nvSpPr>
        <p:spPr>
          <a:xfrm>
            <a:off x="6457950" y="35052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00900" y="3619500"/>
            <a:ext cx="217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考核标准与核心要求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200900" y="4152900"/>
            <a:ext cx="4457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五项基本要求与五项核心考核标准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17287" y="4936779"/>
            <a:ext cx="11410950" cy="1584545"/>
          </a:xfrm>
          <a:custGeom>
            <a:avLst/>
            <a:gdLst/>
            <a:ahLst/>
            <a:cxnLst/>
            <a:rect l="l" t="t" r="r" b="b"/>
            <a:pathLst>
              <a:path w="11410950" h="933450">
                <a:moveTo>
                  <a:pt x="38100" y="0"/>
                </a:moveTo>
                <a:lnTo>
                  <a:pt x="11296649" y="0"/>
                </a:lnTo>
                <a:cubicBezTo>
                  <a:pt x="11359776" y="0"/>
                  <a:pt x="11410950" y="51174"/>
                  <a:pt x="11410950" y="114301"/>
                </a:cubicBezTo>
                <a:lnTo>
                  <a:pt x="11410950" y="819149"/>
                </a:lnTo>
                <a:cubicBezTo>
                  <a:pt x="11410950" y="882276"/>
                  <a:pt x="11359776" y="933450"/>
                  <a:pt x="11296649" y="933450"/>
                </a:cubicBezTo>
                <a:lnTo>
                  <a:pt x="38100" y="933450"/>
                </a:lnTo>
                <a:cubicBezTo>
                  <a:pt x="17072" y="933450"/>
                  <a:pt x="0" y="916378"/>
                  <a:pt x="0" y="895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2CC">
              <a:alpha val="5098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00050" y="4933950"/>
            <a:ext cx="38100" cy="1548000"/>
          </a:xfrm>
          <a:custGeom>
            <a:avLst/>
            <a:gdLst/>
            <a:ahLst/>
            <a:cxnLst/>
            <a:rect l="l" t="t" r="r" b="b"/>
            <a:pathLst>
              <a:path w="38100" h="933450">
                <a:moveTo>
                  <a:pt x="38100" y="0"/>
                </a:moveTo>
                <a:lnTo>
                  <a:pt x="38100" y="0"/>
                </a:lnTo>
                <a:lnTo>
                  <a:pt x="38100" y="933450"/>
                </a:lnTo>
                <a:lnTo>
                  <a:pt x="38100" y="933450"/>
                </a:lnTo>
                <a:cubicBezTo>
                  <a:pt x="17072" y="933450"/>
                  <a:pt x="0" y="916378"/>
                  <a:pt x="0" y="895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31" name="Shape 29"/>
          <p:cNvSpPr/>
          <p:nvPr/>
        </p:nvSpPr>
        <p:spPr>
          <a:xfrm>
            <a:off x="683419" y="5162550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32" name="Text 30"/>
          <p:cNvSpPr/>
          <p:nvPr/>
        </p:nvSpPr>
        <p:spPr>
          <a:xfrm>
            <a:off x="1119188" y="5124450"/>
            <a:ext cx="670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培训目标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19188" y="5429250"/>
            <a:ext cx="66960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帮助项目经理全面掌握MO流程要求,明确核心职责,提升项目管理能力,确保重点项目高效推进与赢单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1162994" y="6134100"/>
            <a:ext cx="66960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altLang="en-US" sz="1200" dirty="0" smtClean="0">
                <a:hlinkClick r:id="rId3"/>
              </a:rPr>
              <a:t>‬﻿﻿​​‬‌​​﻿﻿‌‌﻿​﻿‍‌​​﻿‌​​​​﻿​‍​‍​​​⁠﻿⁠⁠​‍​‬​‬​​​‌</a:t>
            </a:r>
            <a:r>
              <a:rPr lang="en-US" altLang="zh-CN" sz="1200" dirty="0" smtClean="0">
                <a:hlinkClick r:id="rId3"/>
              </a:rPr>
              <a:t>MO </a:t>
            </a:r>
            <a:r>
              <a:rPr lang="zh-CN" altLang="en-US" sz="1200" dirty="0" smtClean="0">
                <a:hlinkClick r:id="rId3"/>
              </a:rPr>
              <a:t>商机管理流程项目经理核心职责 </a:t>
            </a:r>
            <a:r>
              <a:rPr lang="en-US" altLang="zh-CN" sz="1200" dirty="0" smtClean="0">
                <a:hlinkClick r:id="rId3"/>
              </a:rPr>
              <a:t>- </a:t>
            </a:r>
            <a:r>
              <a:rPr lang="zh-CN" altLang="en-US" sz="1200" dirty="0" smtClean="0">
                <a:hlinkClick r:id="rId3"/>
              </a:rPr>
              <a:t>飞书云文档</a:t>
            </a:r>
            <a:endParaRPr lang="en-US" sz="1600" dirty="0"/>
          </a:p>
        </p:txBody>
      </p:sp>
      <p:sp>
        <p:nvSpPr>
          <p:cNvPr id="35" name="Text 30"/>
          <p:cNvSpPr/>
          <p:nvPr/>
        </p:nvSpPr>
        <p:spPr>
          <a:xfrm>
            <a:off x="1126780" y="5893240"/>
            <a:ext cx="2268269" cy="240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350" b="1" dirty="0" smtClean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操作指南参见飞书文档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 smtClean="0">
                <a:solidFill>
                  <a:srgbClr val="00B8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</a:t>
            </a:r>
            <a:r>
              <a:rPr lang="en-US" altLang="zh-CN" sz="1200" b="1" kern="0" spc="120" dirty="0" smtClean="0">
                <a:solidFill>
                  <a:srgbClr val="00B8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rocess Introduction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 smtClean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</a:t>
            </a:r>
            <a:r>
              <a:rPr lang="zh-CN" altLang="en-US" sz="2700" b="1" dirty="0" smtClean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流程</a:t>
            </a:r>
            <a:r>
              <a:rPr lang="zh-CN" altLang="en-US" sz="27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定义</a:t>
            </a:r>
            <a:endParaRPr lang="en-US" sz="2700" b="1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762000" cy="57150"/>
          </a:xfrm>
          <a:custGeom>
            <a:avLst/>
            <a:gdLst/>
            <a:ahLst/>
            <a:cxnLst/>
            <a:rect l="l" t="t" r="r" b="b"/>
            <a:pathLst>
              <a:path w="762000" h="57150">
                <a:moveTo>
                  <a:pt x="0" y="0"/>
                </a:moveTo>
                <a:lnTo>
                  <a:pt x="762000" y="0"/>
                </a:lnTo>
                <a:lnTo>
                  <a:pt x="762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FF6B35"/>
          </a:solidFill>
          <a:ln/>
        </p:spPr>
      </p:sp>
      <p:pic>
        <p:nvPicPr>
          <p:cNvPr id="1025" name="Picture 1" descr="https://ruijie.feishu.cn/space/api/box/stream/download/asynccode/?code=MWY5N2UzMjYxOGNhYmJkNzc1NDJjOGE1ZGY4YmU2YmZfY2xSQ2psNnZ0TDNaQzk3aUNZRmpOZW1oNmhLT2N0WWFfVG9rZW46TUxYRmJhMVl0b0pzUlV4T0JWYmNNUHd2bnVjXzE3NzI1OTQyNDM6MTc3MjU5Nzg0M19WN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89" y="1446242"/>
            <a:ext cx="11896961" cy="4652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85488" y="1446240"/>
            <a:ext cx="859374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6447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91885" y="244990"/>
            <a:ext cx="810014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 smtClean="0">
                <a:solidFill>
                  <a:srgbClr val="00B8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STANDARD &amp; CLASSIFICATION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zh-CN" altLang="en-US" sz="2700" b="1" dirty="0" smtClean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立项标准与分级分层机制</a:t>
            </a:r>
            <a:endParaRPr lang="en-US" sz="2700" dirty="0"/>
          </a:p>
        </p:txBody>
      </p:sp>
      <p:sp>
        <p:nvSpPr>
          <p:cNvPr id="6" name="Shape 2"/>
          <p:cNvSpPr/>
          <p:nvPr/>
        </p:nvSpPr>
        <p:spPr>
          <a:xfrm>
            <a:off x="381000" y="1181100"/>
            <a:ext cx="762000" cy="57150"/>
          </a:xfrm>
          <a:custGeom>
            <a:avLst/>
            <a:gdLst/>
            <a:ahLst/>
            <a:cxnLst/>
            <a:rect l="l" t="t" r="r" b="b"/>
            <a:pathLst>
              <a:path w="762000" h="57150">
                <a:moveTo>
                  <a:pt x="0" y="0"/>
                </a:moveTo>
                <a:lnTo>
                  <a:pt x="762000" y="0"/>
                </a:lnTo>
                <a:lnTo>
                  <a:pt x="762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85488" y="1446240"/>
            <a:ext cx="859374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85725" y="13525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450" y="1352550"/>
            <a:ext cx="10971300" cy="5356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752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 smtClean="0">
                <a:solidFill>
                  <a:srgbClr val="00B8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</a:t>
            </a:r>
            <a:r>
              <a:rPr lang="en-US" altLang="zh-CN" sz="1200" b="1" kern="0" spc="120" dirty="0" smtClean="0">
                <a:solidFill>
                  <a:srgbClr val="00B8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rocess Introduction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altLang="zh-CN" sz="2700" b="1" dirty="0" smtClean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</a:t>
            </a:r>
            <a:r>
              <a:rPr lang="zh-CN" altLang="en-US" sz="2700" b="1" dirty="0" smtClean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流程及</a:t>
            </a:r>
            <a:r>
              <a:rPr lang="en-US" sz="2700" b="1" dirty="0" smtClean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KCP</a:t>
            </a:r>
            <a:r>
              <a:rPr lang="en-US" sz="2700" b="1" dirty="0" smtClean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/KDP</a:t>
            </a:r>
            <a:r>
              <a:rPr lang="zh-CN" altLang="en-US" sz="2700" b="1" dirty="0" smtClean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762000" cy="57150"/>
          </a:xfrm>
          <a:custGeom>
            <a:avLst/>
            <a:gdLst/>
            <a:ahLst/>
            <a:cxnLst/>
            <a:rect l="l" t="t" r="r" b="b"/>
            <a:pathLst>
              <a:path w="762000" h="57150">
                <a:moveTo>
                  <a:pt x="0" y="0"/>
                </a:moveTo>
                <a:lnTo>
                  <a:pt x="762000" y="0"/>
                </a:lnTo>
                <a:lnTo>
                  <a:pt x="762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85488" y="1446240"/>
            <a:ext cx="859374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85725" y="13525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2" name="AutoShape 16"/>
          <p:cNvSpPr>
            <a:spLocks noChangeArrowheads="1"/>
          </p:cNvSpPr>
          <p:nvPr/>
        </p:nvSpPr>
        <p:spPr bwMode="auto">
          <a:xfrm>
            <a:off x="806772" y="1352550"/>
            <a:ext cx="10597176" cy="1298899"/>
          </a:xfrm>
          <a:prstGeom prst="chevron">
            <a:avLst>
              <a:gd name="adj" fmla="val 11465"/>
            </a:avLst>
          </a:prstGeom>
          <a:solidFill>
            <a:srgbClr val="00ACE2">
              <a:alpha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77939" tIns="38970" rIns="77939" bIns="38970"/>
          <a:lstStyle/>
          <a:p>
            <a:pPr algn="ctr" defTabSz="582930">
              <a:defRPr/>
            </a:pPr>
            <a:r>
              <a:rPr lang="en-US" altLang="zh-CN" sz="16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MO</a:t>
            </a:r>
            <a:r>
              <a:rPr lang="zh-CN" altLang="en-US" sz="16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管理</a:t>
            </a: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机会点</a:t>
            </a:r>
            <a:endParaRPr lang="zh-HK" altLang="en-US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13" name="AutoShape 12"/>
          <p:cNvSpPr>
            <a:spLocks noChangeArrowheads="1"/>
          </p:cNvSpPr>
          <p:nvPr/>
        </p:nvSpPr>
        <p:spPr bwMode="gray">
          <a:xfrm>
            <a:off x="3278182" y="2142114"/>
            <a:ext cx="2586134" cy="437462"/>
          </a:xfrm>
          <a:prstGeom prst="chevron">
            <a:avLst>
              <a:gd name="adj" fmla="val 15486"/>
            </a:avLst>
          </a:prstGeom>
          <a:solidFill>
            <a:schemeClr val="bg1"/>
          </a:solidFill>
          <a:ln w="12700" algn="ctr">
            <a:noFill/>
            <a:miter lim="800000"/>
          </a:ln>
          <a:effectLst/>
        </p:spPr>
        <p:txBody>
          <a:bodyPr lIns="0" tIns="7793" rIns="0" bIns="7793" anchor="ctr"/>
          <a:lstStyle/>
          <a:p>
            <a:pPr algn="ctr" eaLnBrk="0" hangingPunct="0">
              <a:buSzPct val="100000"/>
              <a:buFont typeface="Wingdings" panose="05000000000000000000" pitchFamily="2" charset="2"/>
              <a:buNone/>
            </a:pPr>
            <a:r>
              <a:rPr lang="zh-CN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商机推进</a:t>
            </a:r>
            <a:endParaRPr lang="en-US" altLang="zh-CN" sz="1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14" name="AutoShape 13"/>
          <p:cNvSpPr>
            <a:spLocks noChangeArrowheads="1"/>
          </p:cNvSpPr>
          <p:nvPr/>
        </p:nvSpPr>
        <p:spPr bwMode="gray">
          <a:xfrm>
            <a:off x="5840369" y="2142114"/>
            <a:ext cx="2758542" cy="437462"/>
          </a:xfrm>
          <a:prstGeom prst="chevron">
            <a:avLst>
              <a:gd name="adj" fmla="val 16781"/>
            </a:avLst>
          </a:prstGeom>
          <a:solidFill>
            <a:schemeClr val="bg1"/>
          </a:solidFill>
          <a:ln w="12700" algn="ctr">
            <a:noFill/>
            <a:miter lim="800000"/>
          </a:ln>
          <a:effectLst/>
        </p:spPr>
        <p:txBody>
          <a:bodyPr lIns="0" tIns="7793" rIns="0" bIns="7793" anchor="ctr"/>
          <a:lstStyle/>
          <a:p>
            <a:pPr algn="ctr" eaLnBrk="0" hangingPunct="0">
              <a:buSzPct val="100000"/>
              <a:buFont typeface="Wingdings" panose="05000000000000000000" pitchFamily="2" charset="2"/>
              <a:buNone/>
            </a:pPr>
            <a:r>
              <a:rPr lang="zh-CN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制定并执行投标策略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15" name="AutoShape 10"/>
          <p:cNvSpPr>
            <a:spLocks noChangeArrowheads="1"/>
          </p:cNvSpPr>
          <p:nvPr/>
        </p:nvSpPr>
        <p:spPr bwMode="gray">
          <a:xfrm>
            <a:off x="953289" y="2142114"/>
            <a:ext cx="2348839" cy="437462"/>
          </a:xfrm>
          <a:prstGeom prst="chevron">
            <a:avLst>
              <a:gd name="adj" fmla="val 15711"/>
            </a:avLst>
          </a:prstGeom>
          <a:solidFill>
            <a:schemeClr val="bg1"/>
          </a:solidFill>
          <a:ln w="12700" algn="ctr">
            <a:noFill/>
            <a:miter lim="800000"/>
          </a:ln>
          <a:effectLst/>
        </p:spPr>
        <p:txBody>
          <a:bodyPr lIns="0" tIns="7793" rIns="0" bIns="7793" anchor="ctr"/>
          <a:lstStyle/>
          <a:p>
            <a:pPr algn="ctr" eaLnBrk="0" hangingPunct="0">
              <a:buSzPct val="100000"/>
            </a:pPr>
            <a:r>
              <a:rPr lang="zh-CN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验证</a:t>
            </a: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商机</a:t>
            </a:r>
          </a:p>
        </p:txBody>
      </p:sp>
      <p:sp>
        <p:nvSpPr>
          <p:cNvPr id="16" name="AutoShape 14"/>
          <p:cNvSpPr>
            <a:spLocks noChangeArrowheads="1"/>
          </p:cNvSpPr>
          <p:nvPr/>
        </p:nvSpPr>
        <p:spPr bwMode="gray">
          <a:xfrm>
            <a:off x="8574964" y="2142114"/>
            <a:ext cx="2658433" cy="437462"/>
          </a:xfrm>
          <a:prstGeom prst="chevron">
            <a:avLst>
              <a:gd name="adj" fmla="val 15684"/>
            </a:avLst>
          </a:prstGeom>
          <a:solidFill>
            <a:schemeClr val="bg1"/>
          </a:solidFill>
          <a:ln w="12700" algn="ctr">
            <a:noFill/>
            <a:miter lim="800000"/>
          </a:ln>
          <a:effectLst/>
        </p:spPr>
        <p:txBody>
          <a:bodyPr lIns="0" tIns="7793" rIns="0" bIns="7793" anchor="ctr"/>
          <a:lstStyle/>
          <a:p>
            <a:pPr algn="ctr" eaLnBrk="0" hangingPunct="0">
              <a:buSzPct val="100000"/>
              <a:buFont typeface="Wingdings" panose="05000000000000000000" pitchFamily="2" charset="2"/>
              <a:buNone/>
            </a:pPr>
            <a:r>
              <a:rPr lang="zh-CN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谈判并签订合同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17" name="AutoShape 10"/>
          <p:cNvSpPr>
            <a:spLocks noChangeArrowheads="1"/>
          </p:cNvSpPr>
          <p:nvPr/>
        </p:nvSpPr>
        <p:spPr bwMode="gray">
          <a:xfrm>
            <a:off x="1059418" y="1775873"/>
            <a:ext cx="10173980" cy="289837"/>
          </a:xfrm>
          <a:prstGeom prst="chevron">
            <a:avLst>
              <a:gd name="adj" fmla="val 15711"/>
            </a:avLst>
          </a:prstGeom>
          <a:solidFill>
            <a:schemeClr val="bg1">
              <a:lumMod val="85000"/>
            </a:schemeClr>
          </a:solidFill>
          <a:ln w="12700" algn="ctr">
            <a:noFill/>
            <a:miter lim="800000"/>
          </a:ln>
          <a:effectLst/>
        </p:spPr>
        <p:txBody>
          <a:bodyPr lIns="0" tIns="7793" rIns="0" bIns="7793" anchor="ctr"/>
          <a:lstStyle/>
          <a:p>
            <a:pPr algn="ctr" eaLnBrk="0" hangingPunct="0">
              <a:buSzPct val="100000"/>
            </a:pP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管理决策链</a:t>
            </a:r>
          </a:p>
        </p:txBody>
      </p:sp>
      <p:sp>
        <p:nvSpPr>
          <p:cNvPr id="18" name="AutoShape 47"/>
          <p:cNvSpPr>
            <a:spLocks noChangeArrowheads="1"/>
          </p:cNvSpPr>
          <p:nvPr/>
        </p:nvSpPr>
        <p:spPr bwMode="auto">
          <a:xfrm>
            <a:off x="7055860" y="1839068"/>
            <a:ext cx="613356" cy="259035"/>
          </a:xfrm>
          <a:prstGeom prst="diamond">
            <a:avLst/>
          </a:prstGeom>
          <a:solidFill>
            <a:srgbClr val="F7B021"/>
          </a:solidFill>
          <a:ln w="9525" algn="ctr">
            <a:noFill/>
            <a:miter lim="800000"/>
          </a:ln>
        </p:spPr>
        <p:txBody>
          <a:bodyPr lIns="0" tIns="0" rIns="0" bIns="0"/>
          <a:lstStyle/>
          <a:p>
            <a:pPr>
              <a:lnSpc>
                <a:spcPct val="80000"/>
              </a:lnSpc>
            </a:pPr>
            <a:endParaRPr lang="zh-CN" altLang="en-US" sz="10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19" name="Rectangle 76"/>
          <p:cNvSpPr>
            <a:spLocks noChangeArrowheads="1"/>
          </p:cNvSpPr>
          <p:nvPr/>
        </p:nvSpPr>
        <p:spPr bwMode="auto">
          <a:xfrm>
            <a:off x="6986205" y="1852473"/>
            <a:ext cx="752667" cy="230832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 sz="9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投标决策</a:t>
            </a:r>
            <a:endParaRPr lang="en-US" altLang="zh-CN" sz="9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20" name="AutoShape 80"/>
          <p:cNvSpPr>
            <a:spLocks noChangeArrowheads="1"/>
          </p:cNvSpPr>
          <p:nvPr/>
        </p:nvSpPr>
        <p:spPr bwMode="auto">
          <a:xfrm>
            <a:off x="9094823" y="1828962"/>
            <a:ext cx="656559" cy="275837"/>
          </a:xfrm>
          <a:prstGeom prst="diamond">
            <a:avLst/>
          </a:prstGeom>
          <a:solidFill>
            <a:srgbClr val="F7B021"/>
          </a:solidFill>
          <a:ln w="9525" algn="ctr">
            <a:noFill/>
            <a:miter lim="800000"/>
          </a:ln>
        </p:spPr>
        <p:txBody>
          <a:bodyPr lIns="0" tIns="0" rIns="0" bIns="0"/>
          <a:lstStyle/>
          <a:p>
            <a:pPr>
              <a:lnSpc>
                <a:spcPct val="80000"/>
              </a:lnSpc>
            </a:pPr>
            <a:endParaRPr lang="zh-CN" altLang="en-US" sz="10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21" name="Rectangle 81"/>
          <p:cNvSpPr>
            <a:spLocks noChangeArrowheads="1"/>
          </p:cNvSpPr>
          <p:nvPr/>
        </p:nvSpPr>
        <p:spPr bwMode="auto">
          <a:xfrm>
            <a:off x="9045843" y="1850767"/>
            <a:ext cx="754521" cy="230832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 sz="9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签约决策</a:t>
            </a:r>
            <a:endParaRPr lang="en-US" altLang="zh-CN" sz="9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22" name="AutoShape 47"/>
          <p:cNvSpPr>
            <a:spLocks noChangeArrowheads="1"/>
          </p:cNvSpPr>
          <p:nvPr/>
        </p:nvSpPr>
        <p:spPr bwMode="auto">
          <a:xfrm>
            <a:off x="2230265" y="1852544"/>
            <a:ext cx="613356" cy="259035"/>
          </a:xfrm>
          <a:prstGeom prst="diamond">
            <a:avLst/>
          </a:prstGeom>
          <a:solidFill>
            <a:srgbClr val="F7B021"/>
          </a:solidFill>
          <a:ln w="9525" algn="ctr">
            <a:noFill/>
            <a:miter lim="800000"/>
          </a:ln>
        </p:spPr>
        <p:txBody>
          <a:bodyPr lIns="0" tIns="0" rIns="0" bIns="0"/>
          <a:lstStyle/>
          <a:p>
            <a:pPr>
              <a:lnSpc>
                <a:spcPct val="80000"/>
              </a:lnSpc>
            </a:pPr>
            <a:endParaRPr lang="zh-CN" altLang="en-US" sz="10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23" name="Rectangle 76"/>
          <p:cNvSpPr>
            <a:spLocks noChangeArrowheads="1"/>
          </p:cNvSpPr>
          <p:nvPr/>
        </p:nvSpPr>
        <p:spPr bwMode="auto">
          <a:xfrm>
            <a:off x="2160609" y="1865949"/>
            <a:ext cx="752667" cy="230832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 sz="9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立项决策</a:t>
            </a:r>
            <a:endParaRPr lang="en-US" altLang="zh-CN" sz="9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24" name="圆角矩形 23"/>
          <p:cNvSpPr/>
          <p:nvPr/>
        </p:nvSpPr>
        <p:spPr bwMode="auto">
          <a:xfrm>
            <a:off x="6291301" y="3734607"/>
            <a:ext cx="5175895" cy="2832338"/>
          </a:xfrm>
          <a:prstGeom prst="roundRect">
            <a:avLst>
              <a:gd name="adj" fmla="val 6098"/>
            </a:avLst>
          </a:prstGeom>
          <a:solidFill>
            <a:srgbClr val="FBD89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25" name="矩形 24"/>
          <p:cNvSpPr/>
          <p:nvPr/>
        </p:nvSpPr>
        <p:spPr bwMode="auto">
          <a:xfrm>
            <a:off x="6282226" y="3734607"/>
            <a:ext cx="5174253" cy="528389"/>
          </a:xfrm>
          <a:prstGeom prst="rect">
            <a:avLst/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26" name="圆角矩形 25"/>
          <p:cNvSpPr/>
          <p:nvPr/>
        </p:nvSpPr>
        <p:spPr bwMode="auto">
          <a:xfrm>
            <a:off x="868476" y="3720880"/>
            <a:ext cx="5273121" cy="2846065"/>
          </a:xfrm>
          <a:prstGeom prst="roundRect">
            <a:avLst>
              <a:gd name="adj" fmla="val 7017"/>
            </a:avLst>
          </a:prstGeom>
          <a:solidFill>
            <a:srgbClr val="FBD89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27" name="矩形 26"/>
          <p:cNvSpPr/>
          <p:nvPr/>
        </p:nvSpPr>
        <p:spPr bwMode="auto">
          <a:xfrm>
            <a:off x="859435" y="3734607"/>
            <a:ext cx="5282161" cy="528389"/>
          </a:xfrm>
          <a:prstGeom prst="rect">
            <a:avLst/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28" name="Flowchart: Process 117"/>
          <p:cNvSpPr>
            <a:spLocks noChangeArrowheads="1"/>
          </p:cNvSpPr>
          <p:nvPr/>
        </p:nvSpPr>
        <p:spPr bwMode="auto">
          <a:xfrm>
            <a:off x="8740300" y="2671398"/>
            <a:ext cx="2473048" cy="842228"/>
          </a:xfrm>
          <a:prstGeom prst="flowChartProcess">
            <a:avLst/>
          </a:prstGeom>
          <a:noFill/>
          <a:ln w="28575" algn="ctr">
            <a:noFill/>
            <a:round/>
          </a:ln>
        </p:spPr>
        <p:txBody>
          <a:bodyPr lIns="77939" tIns="38970" rIns="77939" bIns="38970"/>
          <a:lstStyle/>
          <a:p>
            <a:pPr defTabSz="582930" fontAlgn="ctr">
              <a:defRPr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29" name="Flowchart: Process 109"/>
          <p:cNvSpPr>
            <a:spLocks noChangeArrowheads="1"/>
          </p:cNvSpPr>
          <p:nvPr/>
        </p:nvSpPr>
        <p:spPr bwMode="auto">
          <a:xfrm>
            <a:off x="823223" y="2769045"/>
            <a:ext cx="2652872" cy="722368"/>
          </a:xfrm>
          <a:prstGeom prst="flowChartProcess">
            <a:avLst/>
          </a:prstGeom>
          <a:noFill/>
          <a:ln w="28575" algn="ctr">
            <a:noFill/>
            <a:round/>
          </a:ln>
        </p:spPr>
        <p:txBody>
          <a:bodyPr lIns="77939" tIns="38970" rIns="77939" bIns="38970"/>
          <a:lstStyle/>
          <a:p>
            <a:pPr defTabSz="582930" eaLnBrk="0" hangingPunct="0">
              <a:defRPr/>
            </a:pPr>
            <a:endParaRPr lang="en-US" altLang="zh-CN" sz="1400" dirty="0">
              <a:solidFill>
                <a:schemeClr val="bg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30" name="Flowchart: Process 115"/>
          <p:cNvSpPr>
            <a:spLocks noChangeArrowheads="1"/>
          </p:cNvSpPr>
          <p:nvPr/>
        </p:nvSpPr>
        <p:spPr bwMode="auto">
          <a:xfrm>
            <a:off x="5973331" y="2748411"/>
            <a:ext cx="2436055" cy="765216"/>
          </a:xfrm>
          <a:prstGeom prst="flowChartProcess">
            <a:avLst/>
          </a:prstGeom>
          <a:noFill/>
          <a:ln w="28575" algn="ctr">
            <a:noFill/>
            <a:round/>
          </a:ln>
        </p:spPr>
        <p:txBody>
          <a:bodyPr lIns="77939" tIns="38970" rIns="77939" bIns="38970"/>
          <a:lstStyle/>
          <a:p>
            <a:pPr defTabSz="582930" fontAlgn="ctr">
              <a:defRPr/>
            </a:pPr>
            <a:endParaRPr lang="en-US" altLang="zh-CN" sz="1400" dirty="0">
              <a:solidFill>
                <a:srgbClr val="08080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31" name="TextBox 15"/>
          <p:cNvSpPr txBox="1"/>
          <p:nvPr/>
        </p:nvSpPr>
        <p:spPr bwMode="auto">
          <a:xfrm>
            <a:off x="2907257" y="3842881"/>
            <a:ext cx="2009800" cy="2941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77939" tIns="38970" rIns="77939" bIns="38970" anchor="b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关键</a:t>
            </a:r>
            <a:r>
              <a:rPr lang="en-US" altLang="zh-CN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KCP/KDP</a:t>
            </a:r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设计</a:t>
            </a:r>
            <a:endParaRPr lang="en-US" altLang="zh-CN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32" name="TextBox 103"/>
          <p:cNvSpPr txBox="1"/>
          <p:nvPr/>
        </p:nvSpPr>
        <p:spPr bwMode="auto">
          <a:xfrm>
            <a:off x="8236622" y="3842881"/>
            <a:ext cx="2192970" cy="2941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77939" tIns="38970" rIns="77939" bIns="38970" anchor="b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重要指导书和工作模板</a:t>
            </a:r>
            <a:endParaRPr lang="en-US" altLang="zh-CN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33" name="Rectangle 100"/>
          <p:cNvSpPr/>
          <p:nvPr/>
        </p:nvSpPr>
        <p:spPr>
          <a:xfrm>
            <a:off x="6476692" y="4589091"/>
            <a:ext cx="4913510" cy="263367"/>
          </a:xfrm>
          <a:prstGeom prst="rect">
            <a:avLst/>
          </a:prstGeom>
        </p:spPr>
        <p:txBody>
          <a:bodyPr wrap="none" lIns="77939" tIns="38970" rIns="77939" bIns="38970">
            <a:spAutoFit/>
          </a:bodyPr>
          <a:lstStyle/>
          <a:p>
            <a:r>
              <a:rPr lang="en-US" altLang="zh-CN" sz="1200" dirty="0" smtClean="0">
                <a:hlinkClick r:id="rId2"/>
              </a:rPr>
              <a:t>EBG</a:t>
            </a:r>
            <a:r>
              <a:rPr lang="zh-CN" altLang="en-US" sz="1200" dirty="0">
                <a:hlinkClick r:id="rId2"/>
              </a:rPr>
              <a:t>关于各区域 高质量落实</a:t>
            </a:r>
            <a:r>
              <a:rPr lang="en-US" altLang="zh-CN" sz="1200" dirty="0">
                <a:hlinkClick r:id="rId2"/>
              </a:rPr>
              <a:t>MO</a:t>
            </a:r>
            <a:r>
              <a:rPr lang="zh-CN" altLang="en-US" sz="1200" dirty="0">
                <a:hlinkClick r:id="rId2"/>
              </a:rPr>
              <a:t>商机管理流程的运转机制 </a:t>
            </a:r>
            <a:r>
              <a:rPr lang="en-US" altLang="zh-CN" sz="1200" dirty="0">
                <a:hlinkClick r:id="rId2"/>
              </a:rPr>
              <a:t>- </a:t>
            </a:r>
            <a:r>
              <a:rPr lang="zh-CN" altLang="en-US" sz="1200" dirty="0">
                <a:hlinkClick r:id="rId2"/>
              </a:rPr>
              <a:t>飞书云文档</a:t>
            </a:r>
            <a:endParaRPr lang="zh-CN" altLang="en-US" sz="1200" dirty="0"/>
          </a:p>
        </p:txBody>
      </p:sp>
      <p:sp>
        <p:nvSpPr>
          <p:cNvPr id="34" name="Rectangle 81"/>
          <p:cNvSpPr/>
          <p:nvPr/>
        </p:nvSpPr>
        <p:spPr bwMode="auto">
          <a:xfrm>
            <a:off x="6171745" y="2706718"/>
            <a:ext cx="2459356" cy="95751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7939" tIns="38970" rIns="77939" bIns="38970" numCol="1" rtlCol="0" anchor="t" anchorCtr="0" compatLnSpc="1">
            <a:noAutofit/>
          </a:bodyPr>
          <a:lstStyle/>
          <a:p>
            <a:pPr defTabSz="582930" fontAlgn="ctr">
              <a:defRPr/>
            </a:pP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6291302" y="2858901"/>
            <a:ext cx="22202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582930" fontAlgn="ctr">
              <a:defRPr/>
            </a:pPr>
            <a:r>
              <a:rPr lang="zh-CN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分析客户标书，制定有效</a:t>
            </a:r>
            <a:r>
              <a:rPr lang="zh-CN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投标策略</a:t>
            </a:r>
            <a:r>
              <a:rPr lang="zh-CN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，包括</a:t>
            </a:r>
            <a:r>
              <a:rPr lang="en-US" altLang="zh-CN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: </a:t>
            </a:r>
            <a:r>
              <a:rPr lang="zh-CN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价格策略</a:t>
            </a:r>
            <a:r>
              <a:rPr lang="zh-CN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，商务策略等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36" name="Rectangle 86"/>
          <p:cNvSpPr/>
          <p:nvPr/>
        </p:nvSpPr>
        <p:spPr bwMode="auto">
          <a:xfrm>
            <a:off x="8811057" y="2706718"/>
            <a:ext cx="2459356" cy="95751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7939" tIns="38970" rIns="77939" bIns="38970" numCol="1" rtlCol="0" anchor="t" anchorCtr="0" compatLnSpc="1">
            <a:noAutofit/>
          </a:bodyPr>
          <a:lstStyle/>
          <a:p>
            <a:pPr defTabSz="582930" fontAlgn="ctr">
              <a:defRPr/>
            </a:pP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8799576" y="2858901"/>
            <a:ext cx="248231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582930" fontAlgn="ctr"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与客户谈判并签约，准备合同交接并关闭机会</a:t>
            </a:r>
            <a:r>
              <a:rPr lang="zh-CN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点，同时，启动</a:t>
            </a:r>
            <a:r>
              <a:rPr lang="zh-CN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丢</a:t>
            </a:r>
            <a:r>
              <a:rPr lang="en-US" altLang="zh-CN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/</a:t>
            </a:r>
            <a:r>
              <a:rPr lang="zh-CN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赢单复盘</a:t>
            </a:r>
            <a:endParaRPr lang="en-US" altLang="zh-CN" sz="12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38" name="Rectangle 83"/>
          <p:cNvSpPr/>
          <p:nvPr/>
        </p:nvSpPr>
        <p:spPr bwMode="auto">
          <a:xfrm>
            <a:off x="868474" y="2706718"/>
            <a:ext cx="2459356" cy="95751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7939" tIns="38970" rIns="77939" bIns="38970" numCol="1" rtlCol="0" anchor="t" anchorCtr="0" compatLnSpc="1">
            <a:noAutofit/>
          </a:bodyPr>
          <a:lstStyle/>
          <a:p>
            <a:pPr defTabSz="582930" eaLnBrk="0" hangingPunct="0">
              <a:defRPr/>
            </a:pP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923878" y="2858901"/>
            <a:ext cx="24515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582930" eaLnBrk="0" hangingPunct="0"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分析和评估机会点</a:t>
            </a:r>
            <a:r>
              <a:rPr lang="zh-CN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，完成商机进漏斗审批，</a:t>
            </a:r>
            <a:r>
              <a:rPr lang="zh-CN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分级分层及立项</a:t>
            </a:r>
            <a:r>
              <a:rPr lang="zh-CN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决策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40" name="Rectangle 82"/>
          <p:cNvSpPr/>
          <p:nvPr/>
        </p:nvSpPr>
        <p:spPr bwMode="auto">
          <a:xfrm>
            <a:off x="3543915" y="2706718"/>
            <a:ext cx="2459356" cy="95751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7939" tIns="38970" rIns="77939" bIns="38970" numCol="1" rtlCol="0" anchor="t" anchorCtr="0" compatLnSpc="1">
            <a:noAutofit/>
          </a:bodyPr>
          <a:lstStyle/>
          <a:p>
            <a:pPr defTabSz="582930" fontAlgn="ctr">
              <a:defRPr/>
            </a:pP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3581561" y="2828085"/>
            <a:ext cx="238406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582930" fontAlgn="ctr">
              <a:defRPr/>
            </a:pPr>
            <a:r>
              <a:rPr lang="zh-CN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立项启动会</a:t>
            </a:r>
            <a:r>
              <a:rPr lang="zh-CN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及制定</a:t>
            </a:r>
            <a:r>
              <a:rPr lang="zh-CN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解决方案和价值主张</a:t>
            </a:r>
            <a:r>
              <a:rPr lang="zh-CN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，影响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客户</a:t>
            </a:r>
            <a:r>
              <a:rPr lang="zh-CN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的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购买构想并取得认可，引导客户标书和评标标准</a:t>
            </a:r>
          </a:p>
        </p:txBody>
      </p:sp>
      <p:sp>
        <p:nvSpPr>
          <p:cNvPr id="42" name="Rectangle 100"/>
          <p:cNvSpPr/>
          <p:nvPr/>
        </p:nvSpPr>
        <p:spPr>
          <a:xfrm>
            <a:off x="945048" y="4491886"/>
            <a:ext cx="2566393" cy="245413"/>
          </a:xfrm>
          <a:prstGeom prst="rect">
            <a:avLst/>
          </a:prstGeom>
        </p:spPr>
        <p:txBody>
          <a:bodyPr wrap="none" lIns="77939" tIns="38970" rIns="77939" bIns="38970">
            <a:spAutoFit/>
          </a:bodyPr>
          <a:lstStyle/>
          <a:p>
            <a:pPr marL="215900" lvl="1" indent="-252095">
              <a:lnSpc>
                <a:spcPts val="1280"/>
              </a:lnSpc>
              <a:spcBef>
                <a:spcPts val="765"/>
              </a:spcBef>
              <a:buClr>
                <a:srgbClr val="0070C0"/>
              </a:buClr>
              <a:buSzPct val="100000"/>
              <a:buFont typeface="Wingdings" panose="05000000000000000000" pitchFamily="2" charset="2"/>
              <a:buChar char="u"/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验证商机：商机审批，</a:t>
            </a:r>
            <a:r>
              <a:rPr lang="zh-CN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立项决策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43" name="Rectangle 100"/>
          <p:cNvSpPr/>
          <p:nvPr/>
        </p:nvSpPr>
        <p:spPr>
          <a:xfrm>
            <a:off x="952043" y="4915862"/>
            <a:ext cx="3028058" cy="245413"/>
          </a:xfrm>
          <a:prstGeom prst="rect">
            <a:avLst/>
          </a:prstGeom>
        </p:spPr>
        <p:txBody>
          <a:bodyPr wrap="none" lIns="77939" tIns="38970" rIns="77939" bIns="38970">
            <a:spAutoFit/>
          </a:bodyPr>
          <a:lstStyle/>
          <a:p>
            <a:pPr marL="215900" lvl="1" indent="-252095">
              <a:lnSpc>
                <a:spcPts val="1280"/>
              </a:lnSpc>
              <a:spcBef>
                <a:spcPts val="765"/>
              </a:spcBef>
              <a:buClr>
                <a:srgbClr val="0070C0"/>
              </a:buClr>
              <a:buSzPct val="100000"/>
              <a:buFont typeface="Wingdings" panose="05000000000000000000" pitchFamily="2" charset="2"/>
              <a:buChar char="u"/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推进商机</a:t>
            </a:r>
            <a:r>
              <a:rPr lang="zh-CN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：立项启动会、解决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方案评审</a:t>
            </a:r>
          </a:p>
        </p:txBody>
      </p:sp>
      <p:sp>
        <p:nvSpPr>
          <p:cNvPr id="44" name="Rectangle 100"/>
          <p:cNvSpPr/>
          <p:nvPr/>
        </p:nvSpPr>
        <p:spPr>
          <a:xfrm>
            <a:off x="952043" y="5380098"/>
            <a:ext cx="2566393" cy="245413"/>
          </a:xfrm>
          <a:prstGeom prst="rect">
            <a:avLst/>
          </a:prstGeom>
        </p:spPr>
        <p:txBody>
          <a:bodyPr wrap="none" lIns="77939" tIns="38970" rIns="77939" bIns="38970">
            <a:spAutoFit/>
          </a:bodyPr>
          <a:lstStyle/>
          <a:p>
            <a:pPr marL="215900" lvl="1" indent="-252095">
              <a:lnSpc>
                <a:spcPts val="1280"/>
              </a:lnSpc>
              <a:spcBef>
                <a:spcPts val="765"/>
              </a:spcBef>
              <a:buClr>
                <a:srgbClr val="0070C0"/>
              </a:buClr>
              <a:buSzPct val="100000"/>
              <a:buFont typeface="Wingdings" panose="05000000000000000000" pitchFamily="2" charset="2"/>
              <a:buChar char="u"/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制定并执行投标策略：标前</a:t>
            </a:r>
            <a:r>
              <a:rPr lang="zh-CN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评审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45" name="Rectangle 100"/>
          <p:cNvSpPr/>
          <p:nvPr/>
        </p:nvSpPr>
        <p:spPr>
          <a:xfrm>
            <a:off x="962168" y="5863044"/>
            <a:ext cx="3863223" cy="245413"/>
          </a:xfrm>
          <a:prstGeom prst="rect">
            <a:avLst/>
          </a:prstGeom>
        </p:spPr>
        <p:txBody>
          <a:bodyPr wrap="none" lIns="77939" tIns="38970" rIns="77939" bIns="38970">
            <a:spAutoFit/>
          </a:bodyPr>
          <a:lstStyle/>
          <a:p>
            <a:pPr marL="215900" lvl="1" indent="-252095">
              <a:lnSpc>
                <a:spcPts val="1280"/>
              </a:lnSpc>
              <a:spcBef>
                <a:spcPts val="765"/>
              </a:spcBef>
              <a:buClr>
                <a:srgbClr val="0070C0"/>
              </a:buClr>
              <a:buSzPct val="100000"/>
              <a:buFont typeface="Wingdings" panose="05000000000000000000" pitchFamily="2" charset="2"/>
              <a:buChar char="u"/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谈判并签订合同：直签项目合同评审，丢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/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rPr>
              <a:t>赢单复盘</a:t>
            </a:r>
          </a:p>
        </p:txBody>
      </p:sp>
      <p:sp>
        <p:nvSpPr>
          <p:cNvPr id="46" name="Rectangle 100"/>
          <p:cNvSpPr/>
          <p:nvPr/>
        </p:nvSpPr>
        <p:spPr>
          <a:xfrm>
            <a:off x="6476692" y="4860362"/>
            <a:ext cx="2252526" cy="448033"/>
          </a:xfrm>
          <a:prstGeom prst="rect">
            <a:avLst/>
          </a:prstGeom>
        </p:spPr>
        <p:txBody>
          <a:bodyPr wrap="none" lIns="77939" tIns="38970" rIns="77939" bIns="38970">
            <a:spAutoFit/>
          </a:bodyPr>
          <a:lstStyle/>
          <a:p>
            <a:r>
              <a:rPr lang="en-US" altLang="zh-CN" sz="1200" dirty="0">
                <a:hlinkClick r:id="rId3"/>
              </a:rPr>
              <a:t>MO</a:t>
            </a:r>
            <a:r>
              <a:rPr lang="zh-CN" altLang="en-US" sz="1200" dirty="0">
                <a:hlinkClick r:id="rId3"/>
              </a:rPr>
              <a:t>管理立项项目过程分析模</a:t>
            </a:r>
            <a:r>
              <a:rPr lang="zh-CN" altLang="en-US" sz="1200" dirty="0" smtClean="0">
                <a:hlinkClick r:id="rId3"/>
              </a:rPr>
              <a:t>版</a:t>
            </a:r>
            <a:endParaRPr lang="en-US" altLang="zh-CN" sz="1200" dirty="0" smtClean="0"/>
          </a:p>
          <a:p>
            <a:endParaRPr lang="zh-CN" altLang="en-US" sz="1200" dirty="0"/>
          </a:p>
        </p:txBody>
      </p:sp>
      <p:sp>
        <p:nvSpPr>
          <p:cNvPr id="47" name="矩形 46"/>
          <p:cNvSpPr/>
          <p:nvPr/>
        </p:nvSpPr>
        <p:spPr>
          <a:xfrm>
            <a:off x="6476692" y="5173373"/>
            <a:ext cx="2149933" cy="263367"/>
          </a:xfrm>
          <a:prstGeom prst="rect">
            <a:avLst/>
          </a:prstGeom>
        </p:spPr>
        <p:txBody>
          <a:bodyPr wrap="none" lIns="77939" tIns="38970" rIns="77939" bIns="38970">
            <a:spAutoFit/>
          </a:bodyPr>
          <a:lstStyle/>
          <a:p>
            <a:r>
              <a:rPr lang="en-US" altLang="zh-CN" sz="1200" dirty="0">
                <a:hlinkClick r:id="rId4"/>
              </a:rPr>
              <a:t>MO</a:t>
            </a:r>
            <a:r>
              <a:rPr lang="zh-CN" altLang="en-US" sz="1200" dirty="0">
                <a:hlinkClick r:id="rId4"/>
              </a:rPr>
              <a:t>管理商机流程手册</a:t>
            </a:r>
            <a:r>
              <a:rPr lang="en-US" altLang="zh-CN" sz="1200" dirty="0">
                <a:hlinkClick r:id="rId4"/>
              </a:rPr>
              <a:t>-</a:t>
            </a:r>
            <a:r>
              <a:rPr lang="zh-CN" altLang="en-US" sz="1200" dirty="0">
                <a:hlinkClick r:id="rId4"/>
              </a:rPr>
              <a:t>整合版</a:t>
            </a:r>
            <a:endParaRPr lang="zh-CN" altLang="en-US" sz="1200" dirty="0"/>
          </a:p>
        </p:txBody>
      </p:sp>
      <p:sp>
        <p:nvSpPr>
          <p:cNvPr id="48" name="矩形 47"/>
          <p:cNvSpPr/>
          <p:nvPr/>
        </p:nvSpPr>
        <p:spPr>
          <a:xfrm>
            <a:off x="6486411" y="5498598"/>
            <a:ext cx="1688269" cy="263367"/>
          </a:xfrm>
          <a:prstGeom prst="rect">
            <a:avLst/>
          </a:prstGeom>
        </p:spPr>
        <p:txBody>
          <a:bodyPr wrap="none" lIns="77939" tIns="38970" rIns="77939" bIns="38970">
            <a:spAutoFit/>
          </a:bodyPr>
          <a:lstStyle/>
          <a:p>
            <a:r>
              <a:rPr lang="en-US" altLang="zh-CN" sz="1200" dirty="0">
                <a:hlinkClick r:id="rId5"/>
              </a:rPr>
              <a:t>MO</a:t>
            </a:r>
            <a:r>
              <a:rPr lang="zh-CN" altLang="en-US" sz="1200" dirty="0">
                <a:hlinkClick r:id="rId5"/>
              </a:rPr>
              <a:t>流程执行卡</a:t>
            </a:r>
            <a:r>
              <a:rPr lang="en-US" altLang="zh-CN" sz="1200" dirty="0">
                <a:hlinkClick r:id="rId5"/>
              </a:rPr>
              <a:t>-</a:t>
            </a:r>
            <a:r>
              <a:rPr lang="zh-CN" altLang="en-US" sz="1200" dirty="0">
                <a:hlinkClick r:id="rId5"/>
              </a:rPr>
              <a:t>更新版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030695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 smtClean="0">
                <a:solidFill>
                  <a:srgbClr val="00B8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</a:t>
            </a:r>
            <a:r>
              <a:rPr lang="en-US" altLang="zh-CN" sz="1200" b="1" kern="0" spc="120" dirty="0" smtClean="0">
                <a:solidFill>
                  <a:srgbClr val="00B8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xecution Requirements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 smtClean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KCP</a:t>
            </a:r>
            <a:r>
              <a:rPr lang="en-US" sz="2700" b="1" dirty="0" smtClean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/KDP</a:t>
            </a:r>
            <a:r>
              <a:rPr lang="zh-CN" altLang="en-US" sz="2700" b="1" dirty="0" smtClean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执行要求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762000" cy="57150"/>
          </a:xfrm>
          <a:custGeom>
            <a:avLst/>
            <a:gdLst/>
            <a:ahLst/>
            <a:cxnLst/>
            <a:rect l="l" t="t" r="r" b="b"/>
            <a:pathLst>
              <a:path w="762000" h="57150">
                <a:moveTo>
                  <a:pt x="0" y="0"/>
                </a:moveTo>
                <a:lnTo>
                  <a:pt x="762000" y="0"/>
                </a:lnTo>
                <a:lnTo>
                  <a:pt x="762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85725" y="13525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736" y="1420873"/>
            <a:ext cx="6927767" cy="404841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0503" y="449322"/>
            <a:ext cx="4701947" cy="5959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194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Picture 1" descr="https://ruijie.feishu.cn/space/api/box/stream/download/asynccode/?code=ZjVhZmRlN2MxYWUwZTE1MDNkY2E2ZDFmNjMxMGQyZmRfWUJscHNVMndOSkNIQ0VuWnYzQjZtTm0zc1A2R1JISjRfVG9rZW46SDYyQWJHSlRsb0J1a3d4R2x3OGNMSUkzbldoXzE3NzI2MDU1OTI6MTc3MjYwOTE5Ml9WN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455" y="1428750"/>
            <a:ext cx="11697745" cy="3385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hape 27"/>
          <p:cNvSpPr/>
          <p:nvPr/>
        </p:nvSpPr>
        <p:spPr>
          <a:xfrm>
            <a:off x="307149" y="5049599"/>
            <a:ext cx="11430000" cy="1219200"/>
          </a:xfrm>
          <a:custGeom>
            <a:avLst/>
            <a:gdLst/>
            <a:ahLst/>
            <a:cxnLst/>
            <a:rect l="l" t="t" r="r" b="b"/>
            <a:pathLst>
              <a:path w="11430000" h="1219200">
                <a:moveTo>
                  <a:pt x="114300" y="0"/>
                </a:moveTo>
                <a:lnTo>
                  <a:pt x="11315700" y="0"/>
                </a:lnTo>
                <a:cubicBezTo>
                  <a:pt x="11378784" y="0"/>
                  <a:pt x="11430000" y="51216"/>
                  <a:pt x="11430000" y="114300"/>
                </a:cubicBezTo>
                <a:lnTo>
                  <a:pt x="11430000" y="1104900"/>
                </a:lnTo>
                <a:cubicBezTo>
                  <a:pt x="11430000" y="1167984"/>
                  <a:pt x="11378784" y="1219200"/>
                  <a:pt x="11315700" y="1219200"/>
                </a:cubicBezTo>
                <a:lnTo>
                  <a:pt x="114300" y="1219200"/>
                </a:lnTo>
                <a:cubicBezTo>
                  <a:pt x="51216" y="1219200"/>
                  <a:pt x="0" y="1167984"/>
                  <a:pt x="0" y="1104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/>
        </p:spPr>
      </p:sp>
      <p:sp>
        <p:nvSpPr>
          <p:cNvPr id="5" name="Shape 28"/>
          <p:cNvSpPr/>
          <p:nvPr/>
        </p:nvSpPr>
        <p:spPr>
          <a:xfrm>
            <a:off x="587276" y="5301587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72734" y="-10548"/>
                </a:moveTo>
                <a:cubicBezTo>
                  <a:pt x="170445" y="-15013"/>
                  <a:pt x="165813" y="-17859"/>
                  <a:pt x="160790" y="-17859"/>
                </a:cubicBezTo>
                <a:cubicBezTo>
                  <a:pt x="155767" y="-17859"/>
                  <a:pt x="151135" y="-15013"/>
                  <a:pt x="148847" y="-10548"/>
                </a:cubicBezTo>
                <a:lnTo>
                  <a:pt x="107770" y="69931"/>
                </a:lnTo>
                <a:lnTo>
                  <a:pt x="18529" y="84106"/>
                </a:lnTo>
                <a:cubicBezTo>
                  <a:pt x="13562" y="84888"/>
                  <a:pt x="9432" y="88404"/>
                  <a:pt x="7869" y="93204"/>
                </a:cubicBezTo>
                <a:cubicBezTo>
                  <a:pt x="6307" y="98003"/>
                  <a:pt x="7590" y="103250"/>
                  <a:pt x="11106" y="106821"/>
                </a:cubicBezTo>
                <a:lnTo>
                  <a:pt x="74954" y="170724"/>
                </a:lnTo>
                <a:lnTo>
                  <a:pt x="60889" y="259966"/>
                </a:lnTo>
                <a:cubicBezTo>
                  <a:pt x="60108" y="264933"/>
                  <a:pt x="62173" y="269956"/>
                  <a:pt x="66247" y="272914"/>
                </a:cubicBezTo>
                <a:cubicBezTo>
                  <a:pt x="70321" y="275872"/>
                  <a:pt x="75679" y="276318"/>
                  <a:pt x="80200" y="274030"/>
                </a:cubicBezTo>
                <a:lnTo>
                  <a:pt x="160790" y="233065"/>
                </a:lnTo>
                <a:lnTo>
                  <a:pt x="241325" y="274030"/>
                </a:lnTo>
                <a:cubicBezTo>
                  <a:pt x="245790" y="276318"/>
                  <a:pt x="251203" y="275872"/>
                  <a:pt x="255277" y="272914"/>
                </a:cubicBezTo>
                <a:cubicBezTo>
                  <a:pt x="259352" y="269956"/>
                  <a:pt x="261417" y="264988"/>
                  <a:pt x="260635" y="259966"/>
                </a:cubicBezTo>
                <a:lnTo>
                  <a:pt x="246515" y="170724"/>
                </a:lnTo>
                <a:lnTo>
                  <a:pt x="310362" y="106821"/>
                </a:lnTo>
                <a:cubicBezTo>
                  <a:pt x="313934" y="103250"/>
                  <a:pt x="315162" y="98003"/>
                  <a:pt x="313599" y="93204"/>
                </a:cubicBezTo>
                <a:cubicBezTo>
                  <a:pt x="312037" y="88404"/>
                  <a:pt x="307963" y="84888"/>
                  <a:pt x="302940" y="84106"/>
                </a:cubicBezTo>
                <a:lnTo>
                  <a:pt x="213754" y="69931"/>
                </a:lnTo>
                <a:lnTo>
                  <a:pt x="172734" y="-10548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6" name="Text 29"/>
          <p:cNvSpPr/>
          <p:nvPr/>
        </p:nvSpPr>
        <p:spPr>
          <a:xfrm>
            <a:off x="1073527" y="5263487"/>
            <a:ext cx="10629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35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详情</a:t>
            </a:r>
            <a:r>
              <a:rPr lang="zh-CN" altLang="en-US" sz="1350" b="1" dirty="0" smtClean="0">
                <a:latin typeface="MiSans" pitchFamily="34" charset="0"/>
                <a:ea typeface="MiSans" pitchFamily="34" charset="-122"/>
                <a:cs typeface="MiSans" pitchFamily="34" charset="-120"/>
              </a:rPr>
              <a:t>请参看流程执行卡：</a:t>
            </a:r>
            <a:endParaRPr lang="en-US" sz="1600" dirty="0"/>
          </a:p>
        </p:txBody>
      </p:sp>
      <p:sp>
        <p:nvSpPr>
          <p:cNvPr id="7" name="Text 30"/>
          <p:cNvSpPr/>
          <p:nvPr/>
        </p:nvSpPr>
        <p:spPr>
          <a:xfrm>
            <a:off x="1073527" y="5606387"/>
            <a:ext cx="10620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altLang="en-US" sz="1200" dirty="0">
                <a:hlinkClick r:id="rId3"/>
              </a:rPr>
              <a:t>‬​​⁠​‌‍​‬‬⁠​﻿​​​﻿‬‌‍‬﻿​​​​​​‍​​⁠⁠​​​‍‍​‍‌‬​​​﻿﻿</a:t>
            </a:r>
            <a:r>
              <a:rPr lang="en-US" altLang="zh-CN" sz="1200" dirty="0">
                <a:hlinkClick r:id="rId3"/>
              </a:rPr>
              <a:t>MO</a:t>
            </a:r>
            <a:r>
              <a:rPr lang="zh-CN" altLang="en-US" sz="1200" dirty="0">
                <a:hlinkClick r:id="rId3"/>
              </a:rPr>
              <a:t>流程执行卡</a:t>
            </a:r>
            <a:r>
              <a:rPr lang="en-US" altLang="zh-CN" sz="1200" dirty="0">
                <a:hlinkClick r:id="rId3"/>
              </a:rPr>
              <a:t>-</a:t>
            </a:r>
            <a:r>
              <a:rPr lang="zh-CN" altLang="en-US" sz="1200" dirty="0">
                <a:hlinkClick r:id="rId3"/>
              </a:rPr>
              <a:t>更新版 </a:t>
            </a:r>
            <a:r>
              <a:rPr lang="en-US" altLang="zh-CN" sz="1200" dirty="0">
                <a:hlinkClick r:id="rId3"/>
              </a:rPr>
              <a:t>- </a:t>
            </a:r>
            <a:r>
              <a:rPr lang="zh-CN" altLang="en-US" sz="1200" dirty="0">
                <a:hlinkClick r:id="rId3"/>
              </a:rPr>
              <a:t>飞书云文档</a:t>
            </a:r>
            <a:endParaRPr lang="en-US" sz="1600" dirty="0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391885" y="244990"/>
            <a:ext cx="810014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Text 0"/>
          <p:cNvSpPr/>
          <p:nvPr/>
        </p:nvSpPr>
        <p:spPr>
          <a:xfrm>
            <a:off x="381000" y="335735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 smtClean="0">
                <a:solidFill>
                  <a:srgbClr val="00B8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E2E </a:t>
            </a:r>
            <a:r>
              <a:rPr lang="en-US" sz="1200" b="1" kern="0" spc="120" dirty="0" smtClean="0">
                <a:solidFill>
                  <a:srgbClr val="00B8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Process Execution</a:t>
            </a:r>
            <a:endParaRPr lang="en-US" sz="1600" dirty="0"/>
          </a:p>
        </p:txBody>
      </p:sp>
      <p:sp>
        <p:nvSpPr>
          <p:cNvPr id="10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zh-CN" altLang="en-US" sz="2700" b="1" dirty="0" smtClean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端到端流程执行卡</a:t>
            </a:r>
            <a:endParaRPr lang="en-US" sz="2700" dirty="0"/>
          </a:p>
        </p:txBody>
      </p:sp>
      <p:sp>
        <p:nvSpPr>
          <p:cNvPr id="11" name="Shape 2"/>
          <p:cNvSpPr/>
          <p:nvPr/>
        </p:nvSpPr>
        <p:spPr>
          <a:xfrm>
            <a:off x="381000" y="1181100"/>
            <a:ext cx="762000" cy="57150"/>
          </a:xfrm>
          <a:custGeom>
            <a:avLst/>
            <a:gdLst/>
            <a:ahLst/>
            <a:cxnLst/>
            <a:rect l="l" t="t" r="r" b="b"/>
            <a:pathLst>
              <a:path w="762000" h="57150">
                <a:moveTo>
                  <a:pt x="0" y="0"/>
                </a:moveTo>
                <a:lnTo>
                  <a:pt x="762000" y="0"/>
                </a:lnTo>
                <a:lnTo>
                  <a:pt x="762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85488" y="1446240"/>
            <a:ext cx="859374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85725" y="13525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5457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00B8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CORE POSITIONING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项目经理的核心定位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762000" cy="57150"/>
          </a:xfrm>
          <a:custGeom>
            <a:avLst/>
            <a:gdLst/>
            <a:ahLst/>
            <a:cxnLst/>
            <a:rect l="l" t="t" r="r" b="b"/>
            <a:pathLst>
              <a:path w="762000" h="57150">
                <a:moveTo>
                  <a:pt x="0" y="0"/>
                </a:moveTo>
                <a:lnTo>
                  <a:pt x="762000" y="0"/>
                </a:lnTo>
                <a:lnTo>
                  <a:pt x="762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485900"/>
            <a:ext cx="5619750" cy="1466850"/>
          </a:xfrm>
          <a:custGeom>
            <a:avLst/>
            <a:gdLst/>
            <a:ahLst/>
            <a:cxnLst/>
            <a:rect l="l" t="t" r="r" b="b"/>
            <a:pathLst>
              <a:path w="5619750" h="146685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1352553"/>
                </a:lnTo>
                <a:cubicBezTo>
                  <a:pt x="5619750" y="1415678"/>
                  <a:pt x="5568578" y="1466850"/>
                  <a:pt x="5505453" y="1466850"/>
                </a:cubicBezTo>
                <a:lnTo>
                  <a:pt x="114297" y="1466850"/>
                </a:lnTo>
                <a:cubicBezTo>
                  <a:pt x="51172" y="1466850"/>
                  <a:pt x="0" y="1415678"/>
                  <a:pt x="0" y="135255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1000" y="1485900"/>
            <a:ext cx="5619750" cy="38100"/>
          </a:xfrm>
          <a:custGeom>
            <a:avLst/>
            <a:gdLst/>
            <a:ahLst/>
            <a:cxnLst/>
            <a:rect l="l" t="t" r="r" b="b"/>
            <a:pathLst>
              <a:path w="5619750" h="3810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7" name="Shape 5"/>
          <p:cNvSpPr/>
          <p:nvPr/>
        </p:nvSpPr>
        <p:spPr>
          <a:xfrm>
            <a:off x="571500" y="16954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052CC">
              <a:alpha val="1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71513" y="180975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00013" y="110728"/>
                </a:moveTo>
                <a:cubicBezTo>
                  <a:pt x="129583" y="110728"/>
                  <a:pt x="153591" y="86721"/>
                  <a:pt x="153591" y="57150"/>
                </a:cubicBezTo>
                <a:cubicBezTo>
                  <a:pt x="153591" y="27579"/>
                  <a:pt x="129583" y="3572"/>
                  <a:pt x="100013" y="3572"/>
                </a:cubicBezTo>
                <a:cubicBezTo>
                  <a:pt x="70442" y="3572"/>
                  <a:pt x="46434" y="27579"/>
                  <a:pt x="46434" y="57150"/>
                </a:cubicBezTo>
                <a:cubicBezTo>
                  <a:pt x="46434" y="86721"/>
                  <a:pt x="70442" y="110728"/>
                  <a:pt x="100012" y="110728"/>
                </a:cubicBezTo>
                <a:close/>
                <a:moveTo>
                  <a:pt x="86752" y="135731"/>
                </a:moveTo>
                <a:cubicBezTo>
                  <a:pt x="42773" y="135731"/>
                  <a:pt x="7144" y="171361"/>
                  <a:pt x="7144" y="215339"/>
                </a:cubicBezTo>
                <a:cubicBezTo>
                  <a:pt x="7144" y="222662"/>
                  <a:pt x="13082" y="228600"/>
                  <a:pt x="20404" y="228600"/>
                </a:cubicBezTo>
                <a:lnTo>
                  <a:pt x="132695" y="228600"/>
                </a:lnTo>
                <a:cubicBezTo>
                  <a:pt x="116532" y="209580"/>
                  <a:pt x="107156" y="185068"/>
                  <a:pt x="107156" y="159127"/>
                </a:cubicBezTo>
                <a:lnTo>
                  <a:pt x="107156" y="145241"/>
                </a:lnTo>
                <a:cubicBezTo>
                  <a:pt x="107156" y="141982"/>
                  <a:pt x="107603" y="138767"/>
                  <a:pt x="108451" y="135731"/>
                </a:cubicBezTo>
                <a:lnTo>
                  <a:pt x="86752" y="135731"/>
                </a:lnTo>
                <a:close/>
                <a:moveTo>
                  <a:pt x="198819" y="218108"/>
                </a:moveTo>
                <a:lnTo>
                  <a:pt x="192881" y="220920"/>
                </a:lnTo>
                <a:lnTo>
                  <a:pt x="192881" y="136937"/>
                </a:lnTo>
                <a:lnTo>
                  <a:pt x="235744" y="151224"/>
                </a:lnTo>
                <a:lnTo>
                  <a:pt x="235744" y="159975"/>
                </a:lnTo>
                <a:cubicBezTo>
                  <a:pt x="235744" y="184889"/>
                  <a:pt x="221367" y="207526"/>
                  <a:pt x="198819" y="218152"/>
                </a:cubicBezTo>
                <a:close/>
                <a:moveTo>
                  <a:pt x="188372" y="115863"/>
                </a:moveTo>
                <a:lnTo>
                  <a:pt x="138366" y="132517"/>
                </a:lnTo>
                <a:cubicBezTo>
                  <a:pt x="132517" y="134481"/>
                  <a:pt x="128588" y="139928"/>
                  <a:pt x="128588" y="146090"/>
                </a:cubicBezTo>
                <a:lnTo>
                  <a:pt x="128588" y="159975"/>
                </a:lnTo>
                <a:cubicBezTo>
                  <a:pt x="128588" y="193194"/>
                  <a:pt x="147786" y="223421"/>
                  <a:pt x="177790" y="237530"/>
                </a:cubicBezTo>
                <a:lnTo>
                  <a:pt x="186050" y="241414"/>
                </a:lnTo>
                <a:cubicBezTo>
                  <a:pt x="188193" y="242396"/>
                  <a:pt x="190515" y="242932"/>
                  <a:pt x="192837" y="242932"/>
                </a:cubicBezTo>
                <a:cubicBezTo>
                  <a:pt x="195158" y="242932"/>
                  <a:pt x="197525" y="242396"/>
                  <a:pt x="199623" y="241414"/>
                </a:cubicBezTo>
                <a:lnTo>
                  <a:pt x="207883" y="237530"/>
                </a:lnTo>
                <a:cubicBezTo>
                  <a:pt x="237976" y="223376"/>
                  <a:pt x="257175" y="193149"/>
                  <a:pt x="257175" y="159931"/>
                </a:cubicBezTo>
                <a:lnTo>
                  <a:pt x="257175" y="146045"/>
                </a:lnTo>
                <a:cubicBezTo>
                  <a:pt x="257175" y="139884"/>
                  <a:pt x="253246" y="134436"/>
                  <a:pt x="247397" y="132472"/>
                </a:cubicBezTo>
                <a:lnTo>
                  <a:pt x="197391" y="115818"/>
                </a:lnTo>
                <a:cubicBezTo>
                  <a:pt x="194444" y="114836"/>
                  <a:pt x="191274" y="114836"/>
                  <a:pt x="188372" y="115818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1790700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第一责任人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" y="2266950"/>
            <a:ext cx="5314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对项目从立项启动到赢/丢单复盘的全流程结果负责,统筹项目内外部资源,推动项目各环节按MO流程要求落地。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91250" y="1485900"/>
            <a:ext cx="5619750" cy="1466850"/>
          </a:xfrm>
          <a:custGeom>
            <a:avLst/>
            <a:gdLst/>
            <a:ahLst/>
            <a:cxnLst/>
            <a:rect l="l" t="t" r="r" b="b"/>
            <a:pathLst>
              <a:path w="5619750" h="146685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1352553"/>
                </a:lnTo>
                <a:cubicBezTo>
                  <a:pt x="5619750" y="1415678"/>
                  <a:pt x="5568578" y="1466850"/>
                  <a:pt x="5505453" y="1466850"/>
                </a:cubicBezTo>
                <a:lnTo>
                  <a:pt x="114297" y="1466850"/>
                </a:lnTo>
                <a:cubicBezTo>
                  <a:pt x="51172" y="1466850"/>
                  <a:pt x="0" y="1415678"/>
                  <a:pt x="0" y="135255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91250" y="1485900"/>
            <a:ext cx="5619750" cy="38100"/>
          </a:xfrm>
          <a:custGeom>
            <a:avLst/>
            <a:gdLst/>
            <a:ahLst/>
            <a:cxnLst/>
            <a:rect l="l" t="t" r="r" b="b"/>
            <a:pathLst>
              <a:path w="5619750" h="3810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13" name="Shape 11"/>
          <p:cNvSpPr/>
          <p:nvPr/>
        </p:nvSpPr>
        <p:spPr>
          <a:xfrm>
            <a:off x="6381750" y="16954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0B8D9">
              <a:alpha val="1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467475" y="180975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100013"/>
                </a:moveTo>
                <a:cubicBezTo>
                  <a:pt x="168503" y="100013"/>
                  <a:pt x="189309" y="79206"/>
                  <a:pt x="189309" y="53578"/>
                </a:cubicBezTo>
                <a:cubicBezTo>
                  <a:pt x="189309" y="27950"/>
                  <a:pt x="168503" y="7144"/>
                  <a:pt x="142875" y="7144"/>
                </a:cubicBezTo>
                <a:cubicBezTo>
                  <a:pt x="117247" y="7144"/>
                  <a:pt x="96441" y="27950"/>
                  <a:pt x="96441" y="53578"/>
                </a:cubicBezTo>
                <a:cubicBezTo>
                  <a:pt x="96441" y="79206"/>
                  <a:pt x="117247" y="100013"/>
                  <a:pt x="142875" y="100013"/>
                </a:cubicBezTo>
                <a:close/>
                <a:moveTo>
                  <a:pt x="42863" y="103584"/>
                </a:moveTo>
                <a:cubicBezTo>
                  <a:pt x="60605" y="103584"/>
                  <a:pt x="75009" y="89180"/>
                  <a:pt x="75009" y="71438"/>
                </a:cubicBezTo>
                <a:cubicBezTo>
                  <a:pt x="75009" y="53695"/>
                  <a:pt x="60605" y="39291"/>
                  <a:pt x="42863" y="39291"/>
                </a:cubicBezTo>
                <a:cubicBezTo>
                  <a:pt x="25120" y="39291"/>
                  <a:pt x="10716" y="53695"/>
                  <a:pt x="10716" y="71438"/>
                </a:cubicBezTo>
                <a:cubicBezTo>
                  <a:pt x="10716" y="89180"/>
                  <a:pt x="25120" y="103584"/>
                  <a:pt x="42862" y="103584"/>
                </a:cubicBezTo>
                <a:close/>
                <a:moveTo>
                  <a:pt x="0" y="185738"/>
                </a:moveTo>
                <a:lnTo>
                  <a:pt x="0" y="200025"/>
                </a:lnTo>
                <a:cubicBezTo>
                  <a:pt x="0" y="207928"/>
                  <a:pt x="6385" y="214313"/>
                  <a:pt x="14288" y="214313"/>
                </a:cubicBezTo>
                <a:lnTo>
                  <a:pt x="52998" y="214313"/>
                </a:lnTo>
                <a:cubicBezTo>
                  <a:pt x="51078" y="209937"/>
                  <a:pt x="50006" y="205115"/>
                  <a:pt x="50006" y="200025"/>
                </a:cubicBezTo>
                <a:lnTo>
                  <a:pt x="50006" y="192881"/>
                </a:lnTo>
                <a:cubicBezTo>
                  <a:pt x="50006" y="169128"/>
                  <a:pt x="58936" y="147429"/>
                  <a:pt x="73625" y="130999"/>
                </a:cubicBezTo>
                <a:cubicBezTo>
                  <a:pt x="68401" y="129436"/>
                  <a:pt x="62865" y="128588"/>
                  <a:pt x="57150" y="128588"/>
                </a:cubicBezTo>
                <a:cubicBezTo>
                  <a:pt x="25584" y="128588"/>
                  <a:pt x="0" y="154171"/>
                  <a:pt x="0" y="185738"/>
                </a:cubicBezTo>
                <a:close/>
                <a:moveTo>
                  <a:pt x="275034" y="71438"/>
                </a:moveTo>
                <a:cubicBezTo>
                  <a:pt x="275034" y="53695"/>
                  <a:pt x="260630" y="39291"/>
                  <a:pt x="242888" y="39291"/>
                </a:cubicBezTo>
                <a:cubicBezTo>
                  <a:pt x="225145" y="39291"/>
                  <a:pt x="210741" y="53695"/>
                  <a:pt x="210741" y="71438"/>
                </a:cubicBezTo>
                <a:cubicBezTo>
                  <a:pt x="210741" y="89180"/>
                  <a:pt x="225145" y="103584"/>
                  <a:pt x="242888" y="103584"/>
                </a:cubicBezTo>
                <a:cubicBezTo>
                  <a:pt x="260630" y="103584"/>
                  <a:pt x="275034" y="89180"/>
                  <a:pt x="275034" y="71438"/>
                </a:cubicBezTo>
                <a:close/>
                <a:moveTo>
                  <a:pt x="71438" y="192881"/>
                </a:moveTo>
                <a:lnTo>
                  <a:pt x="71438" y="200025"/>
                </a:lnTo>
                <a:cubicBezTo>
                  <a:pt x="71438" y="207928"/>
                  <a:pt x="77822" y="214313"/>
                  <a:pt x="85725" y="214313"/>
                </a:cubicBezTo>
                <a:lnTo>
                  <a:pt x="155734" y="214313"/>
                </a:lnTo>
                <a:cubicBezTo>
                  <a:pt x="152564" y="204668"/>
                  <a:pt x="152921" y="194489"/>
                  <a:pt x="160511" y="185738"/>
                </a:cubicBezTo>
                <a:cubicBezTo>
                  <a:pt x="154260" y="178504"/>
                  <a:pt x="151358" y="168012"/>
                  <a:pt x="155421" y="157475"/>
                </a:cubicBezTo>
                <a:cubicBezTo>
                  <a:pt x="158368" y="149840"/>
                  <a:pt x="162520" y="142696"/>
                  <a:pt x="167655" y="136356"/>
                </a:cubicBezTo>
                <a:cubicBezTo>
                  <a:pt x="170066" y="133410"/>
                  <a:pt x="172834" y="131132"/>
                  <a:pt x="175826" y="129480"/>
                </a:cubicBezTo>
                <a:cubicBezTo>
                  <a:pt x="165958" y="124346"/>
                  <a:pt x="154751" y="121444"/>
                  <a:pt x="142875" y="121444"/>
                </a:cubicBezTo>
                <a:cubicBezTo>
                  <a:pt x="103406" y="121444"/>
                  <a:pt x="71438" y="153412"/>
                  <a:pt x="71438" y="192881"/>
                </a:cubicBezTo>
                <a:close/>
                <a:moveTo>
                  <a:pt x="278874" y="173191"/>
                </a:moveTo>
                <a:cubicBezTo>
                  <a:pt x="281687" y="171584"/>
                  <a:pt x="283116" y="168235"/>
                  <a:pt x="281910" y="165155"/>
                </a:cubicBezTo>
                <a:cubicBezTo>
                  <a:pt x="279767" y="159618"/>
                  <a:pt x="276776" y="154394"/>
                  <a:pt x="273025" y="149796"/>
                </a:cubicBezTo>
                <a:cubicBezTo>
                  <a:pt x="270971" y="147251"/>
                  <a:pt x="267355" y="146804"/>
                  <a:pt x="264542" y="148456"/>
                </a:cubicBezTo>
                <a:cubicBezTo>
                  <a:pt x="254809" y="154082"/>
                  <a:pt x="242843" y="147206"/>
                  <a:pt x="242843" y="135910"/>
                </a:cubicBezTo>
                <a:cubicBezTo>
                  <a:pt x="242843" y="132651"/>
                  <a:pt x="240655" y="129748"/>
                  <a:pt x="237440" y="129257"/>
                </a:cubicBezTo>
                <a:cubicBezTo>
                  <a:pt x="231681" y="128364"/>
                  <a:pt x="225475" y="128364"/>
                  <a:pt x="219715" y="129257"/>
                </a:cubicBezTo>
                <a:cubicBezTo>
                  <a:pt x="216500" y="129748"/>
                  <a:pt x="214312" y="132651"/>
                  <a:pt x="214312" y="135910"/>
                </a:cubicBezTo>
                <a:cubicBezTo>
                  <a:pt x="214312" y="147161"/>
                  <a:pt x="202347" y="154082"/>
                  <a:pt x="192613" y="148456"/>
                </a:cubicBezTo>
                <a:cubicBezTo>
                  <a:pt x="189801" y="146849"/>
                  <a:pt x="186184" y="147295"/>
                  <a:pt x="184130" y="149796"/>
                </a:cubicBezTo>
                <a:cubicBezTo>
                  <a:pt x="180380" y="154394"/>
                  <a:pt x="177388" y="159618"/>
                  <a:pt x="175245" y="165155"/>
                </a:cubicBezTo>
                <a:cubicBezTo>
                  <a:pt x="174084" y="168191"/>
                  <a:pt x="175468" y="171539"/>
                  <a:pt x="178281" y="173147"/>
                </a:cubicBezTo>
                <a:cubicBezTo>
                  <a:pt x="188059" y="178772"/>
                  <a:pt x="188059" y="192569"/>
                  <a:pt x="178281" y="198239"/>
                </a:cubicBezTo>
                <a:cubicBezTo>
                  <a:pt x="175468" y="199846"/>
                  <a:pt x="174040" y="203195"/>
                  <a:pt x="175245" y="206231"/>
                </a:cubicBezTo>
                <a:cubicBezTo>
                  <a:pt x="177388" y="211768"/>
                  <a:pt x="180380" y="216991"/>
                  <a:pt x="184130" y="221590"/>
                </a:cubicBezTo>
                <a:cubicBezTo>
                  <a:pt x="186184" y="224135"/>
                  <a:pt x="189801" y="224582"/>
                  <a:pt x="192613" y="222930"/>
                </a:cubicBezTo>
                <a:cubicBezTo>
                  <a:pt x="202347" y="217304"/>
                  <a:pt x="214312" y="224224"/>
                  <a:pt x="214312" y="235476"/>
                </a:cubicBezTo>
                <a:cubicBezTo>
                  <a:pt x="214312" y="238735"/>
                  <a:pt x="216500" y="241637"/>
                  <a:pt x="219715" y="242128"/>
                </a:cubicBezTo>
                <a:cubicBezTo>
                  <a:pt x="225475" y="243021"/>
                  <a:pt x="231681" y="243021"/>
                  <a:pt x="237440" y="242128"/>
                </a:cubicBezTo>
                <a:cubicBezTo>
                  <a:pt x="240655" y="241637"/>
                  <a:pt x="242843" y="238735"/>
                  <a:pt x="242843" y="235476"/>
                </a:cubicBezTo>
                <a:cubicBezTo>
                  <a:pt x="242843" y="224224"/>
                  <a:pt x="254809" y="217304"/>
                  <a:pt x="264542" y="222930"/>
                </a:cubicBezTo>
                <a:cubicBezTo>
                  <a:pt x="267355" y="224537"/>
                  <a:pt x="270971" y="224091"/>
                  <a:pt x="273025" y="221590"/>
                </a:cubicBezTo>
                <a:cubicBezTo>
                  <a:pt x="276776" y="216991"/>
                  <a:pt x="279767" y="211768"/>
                  <a:pt x="281910" y="206231"/>
                </a:cubicBezTo>
                <a:cubicBezTo>
                  <a:pt x="283071" y="203195"/>
                  <a:pt x="281687" y="199846"/>
                  <a:pt x="278874" y="198239"/>
                </a:cubicBezTo>
                <a:cubicBezTo>
                  <a:pt x="269096" y="192613"/>
                  <a:pt x="269096" y="178817"/>
                  <a:pt x="278874" y="173147"/>
                </a:cubicBezTo>
                <a:close/>
                <a:moveTo>
                  <a:pt x="210741" y="185738"/>
                </a:moveTo>
                <a:cubicBezTo>
                  <a:pt x="210741" y="175881"/>
                  <a:pt x="218743" y="167878"/>
                  <a:pt x="228600" y="167878"/>
                </a:cubicBezTo>
                <a:cubicBezTo>
                  <a:pt x="238457" y="167878"/>
                  <a:pt x="246459" y="175881"/>
                  <a:pt x="246459" y="185738"/>
                </a:cubicBezTo>
                <a:cubicBezTo>
                  <a:pt x="246459" y="195594"/>
                  <a:pt x="238457" y="203597"/>
                  <a:pt x="228600" y="203597"/>
                </a:cubicBezTo>
                <a:cubicBezTo>
                  <a:pt x="218743" y="203597"/>
                  <a:pt x="210741" y="195594"/>
                  <a:pt x="210741" y="185738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15" name="Text 13"/>
          <p:cNvSpPr/>
          <p:nvPr/>
        </p:nvSpPr>
        <p:spPr>
          <a:xfrm>
            <a:off x="6953250" y="1790700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统筹协调者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81750" y="2266950"/>
            <a:ext cx="5314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牵头组建项目组,明确成员分工,拉齐项目信息,协调跨部门、跨区域资源,解决项目推进中的各类问题。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1000" y="3162300"/>
            <a:ext cx="5619750" cy="1466850"/>
          </a:xfrm>
          <a:custGeom>
            <a:avLst/>
            <a:gdLst/>
            <a:ahLst/>
            <a:cxnLst/>
            <a:rect l="l" t="t" r="r" b="b"/>
            <a:pathLst>
              <a:path w="5619750" h="146685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1352553"/>
                </a:lnTo>
                <a:cubicBezTo>
                  <a:pt x="5619750" y="1415678"/>
                  <a:pt x="5568578" y="1466850"/>
                  <a:pt x="5505453" y="1466850"/>
                </a:cubicBezTo>
                <a:lnTo>
                  <a:pt x="114297" y="1466850"/>
                </a:lnTo>
                <a:cubicBezTo>
                  <a:pt x="51172" y="1466850"/>
                  <a:pt x="0" y="1415678"/>
                  <a:pt x="0" y="135255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1000" y="3162300"/>
            <a:ext cx="5619750" cy="38100"/>
          </a:xfrm>
          <a:custGeom>
            <a:avLst/>
            <a:gdLst/>
            <a:ahLst/>
            <a:cxnLst/>
            <a:rect l="l" t="t" r="r" b="b"/>
            <a:pathLst>
              <a:path w="5619750" h="3810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19" name="Shape 17"/>
          <p:cNvSpPr/>
          <p:nvPr/>
        </p:nvSpPr>
        <p:spPr>
          <a:xfrm>
            <a:off x="571500" y="33718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6B35">
              <a:alpha val="1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34861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9740" y="16207"/>
                </a:moveTo>
                <a:cubicBezTo>
                  <a:pt x="64606" y="19601"/>
                  <a:pt x="65767" y="26298"/>
                  <a:pt x="62374" y="31120"/>
                </a:cubicBezTo>
                <a:lnTo>
                  <a:pt x="37371" y="66839"/>
                </a:lnTo>
                <a:cubicBezTo>
                  <a:pt x="35540" y="69428"/>
                  <a:pt x="32683" y="71080"/>
                  <a:pt x="29513" y="71348"/>
                </a:cubicBezTo>
                <a:cubicBezTo>
                  <a:pt x="26343" y="71616"/>
                  <a:pt x="23217" y="70545"/>
                  <a:pt x="20985" y="68312"/>
                </a:cubicBezTo>
                <a:lnTo>
                  <a:pt x="3125" y="50453"/>
                </a:lnTo>
                <a:cubicBezTo>
                  <a:pt x="-1027" y="46256"/>
                  <a:pt x="-1027" y="39469"/>
                  <a:pt x="3125" y="35272"/>
                </a:cubicBezTo>
                <a:cubicBezTo>
                  <a:pt x="7278" y="31075"/>
                  <a:pt x="14109" y="31120"/>
                  <a:pt x="18306" y="35272"/>
                </a:cubicBezTo>
                <a:lnTo>
                  <a:pt x="27146" y="44113"/>
                </a:lnTo>
                <a:lnTo>
                  <a:pt x="44827" y="18842"/>
                </a:lnTo>
                <a:cubicBezTo>
                  <a:pt x="48220" y="13975"/>
                  <a:pt x="54918" y="12814"/>
                  <a:pt x="59740" y="16207"/>
                </a:cubicBezTo>
                <a:close/>
                <a:moveTo>
                  <a:pt x="59740" y="87645"/>
                </a:moveTo>
                <a:cubicBezTo>
                  <a:pt x="64606" y="91038"/>
                  <a:pt x="65767" y="97735"/>
                  <a:pt x="62374" y="102557"/>
                </a:cubicBezTo>
                <a:lnTo>
                  <a:pt x="37371" y="138276"/>
                </a:lnTo>
                <a:cubicBezTo>
                  <a:pt x="35540" y="140866"/>
                  <a:pt x="32683" y="142518"/>
                  <a:pt x="29513" y="142786"/>
                </a:cubicBezTo>
                <a:cubicBezTo>
                  <a:pt x="26343" y="143054"/>
                  <a:pt x="23217" y="141982"/>
                  <a:pt x="20985" y="139750"/>
                </a:cubicBezTo>
                <a:lnTo>
                  <a:pt x="3125" y="121890"/>
                </a:lnTo>
                <a:cubicBezTo>
                  <a:pt x="-1072" y="117693"/>
                  <a:pt x="-1072" y="110907"/>
                  <a:pt x="3125" y="106754"/>
                </a:cubicBezTo>
                <a:cubicBezTo>
                  <a:pt x="7322" y="102602"/>
                  <a:pt x="14109" y="102557"/>
                  <a:pt x="18261" y="106754"/>
                </a:cubicBezTo>
                <a:lnTo>
                  <a:pt x="27102" y="115595"/>
                </a:lnTo>
                <a:lnTo>
                  <a:pt x="44782" y="90324"/>
                </a:lnTo>
                <a:cubicBezTo>
                  <a:pt x="48176" y="85457"/>
                  <a:pt x="54873" y="84296"/>
                  <a:pt x="59695" y="87690"/>
                </a:cubicBezTo>
                <a:close/>
                <a:moveTo>
                  <a:pt x="100013" y="42863"/>
                </a:moveTo>
                <a:cubicBezTo>
                  <a:pt x="100013" y="34960"/>
                  <a:pt x="106397" y="28575"/>
                  <a:pt x="114300" y="28575"/>
                </a:cubicBezTo>
                <a:lnTo>
                  <a:pt x="214313" y="28575"/>
                </a:lnTo>
                <a:cubicBezTo>
                  <a:pt x="222215" y="28575"/>
                  <a:pt x="228600" y="34960"/>
                  <a:pt x="228600" y="42863"/>
                </a:cubicBezTo>
                <a:cubicBezTo>
                  <a:pt x="228600" y="50765"/>
                  <a:pt x="222215" y="57150"/>
                  <a:pt x="214313" y="57150"/>
                </a:cubicBezTo>
                <a:lnTo>
                  <a:pt x="114300" y="57150"/>
                </a:lnTo>
                <a:cubicBezTo>
                  <a:pt x="106397" y="57150"/>
                  <a:pt x="100013" y="50765"/>
                  <a:pt x="100013" y="42863"/>
                </a:cubicBezTo>
                <a:close/>
                <a:moveTo>
                  <a:pt x="100013" y="114300"/>
                </a:moveTo>
                <a:cubicBezTo>
                  <a:pt x="100013" y="106397"/>
                  <a:pt x="106397" y="100013"/>
                  <a:pt x="114300" y="100013"/>
                </a:cubicBezTo>
                <a:lnTo>
                  <a:pt x="214313" y="100013"/>
                </a:lnTo>
                <a:cubicBezTo>
                  <a:pt x="222215" y="100013"/>
                  <a:pt x="228600" y="106397"/>
                  <a:pt x="228600" y="114300"/>
                </a:cubicBezTo>
                <a:cubicBezTo>
                  <a:pt x="228600" y="122203"/>
                  <a:pt x="222215" y="128588"/>
                  <a:pt x="214313" y="128588"/>
                </a:cubicBezTo>
                <a:lnTo>
                  <a:pt x="114300" y="128588"/>
                </a:lnTo>
                <a:cubicBezTo>
                  <a:pt x="106397" y="128588"/>
                  <a:pt x="100013" y="122203"/>
                  <a:pt x="100013" y="114300"/>
                </a:cubicBezTo>
                <a:close/>
                <a:moveTo>
                  <a:pt x="71438" y="185738"/>
                </a:moveTo>
                <a:cubicBezTo>
                  <a:pt x="71438" y="177835"/>
                  <a:pt x="77822" y="171450"/>
                  <a:pt x="85725" y="171450"/>
                </a:cubicBezTo>
                <a:lnTo>
                  <a:pt x="214313" y="171450"/>
                </a:lnTo>
                <a:cubicBezTo>
                  <a:pt x="222215" y="171450"/>
                  <a:pt x="228600" y="177835"/>
                  <a:pt x="228600" y="185738"/>
                </a:cubicBezTo>
                <a:cubicBezTo>
                  <a:pt x="228600" y="193640"/>
                  <a:pt x="222215" y="200025"/>
                  <a:pt x="214313" y="200025"/>
                </a:cubicBezTo>
                <a:lnTo>
                  <a:pt x="85725" y="200025"/>
                </a:lnTo>
                <a:cubicBezTo>
                  <a:pt x="77822" y="200025"/>
                  <a:pt x="71438" y="193640"/>
                  <a:pt x="71438" y="185738"/>
                </a:cubicBezTo>
                <a:close/>
                <a:moveTo>
                  <a:pt x="28575" y="167878"/>
                </a:moveTo>
                <a:cubicBezTo>
                  <a:pt x="38432" y="167878"/>
                  <a:pt x="46434" y="175881"/>
                  <a:pt x="46434" y="185738"/>
                </a:cubicBezTo>
                <a:cubicBezTo>
                  <a:pt x="46434" y="195594"/>
                  <a:pt x="38432" y="203597"/>
                  <a:pt x="28575" y="203597"/>
                </a:cubicBezTo>
                <a:cubicBezTo>
                  <a:pt x="18718" y="203597"/>
                  <a:pt x="10716" y="195594"/>
                  <a:pt x="10716" y="185738"/>
                </a:cubicBezTo>
                <a:cubicBezTo>
                  <a:pt x="10716" y="175881"/>
                  <a:pt x="18718" y="167878"/>
                  <a:pt x="28575" y="167878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" y="3467100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流程执行者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71500" y="3943350"/>
            <a:ext cx="5314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确保项目立项、启动、方案评审、标前评审、投标执行、合同谈判、赢丢单复盘等关键环节严格遵循MO流程要求。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91250" y="3162300"/>
            <a:ext cx="5619750" cy="1466850"/>
          </a:xfrm>
          <a:custGeom>
            <a:avLst/>
            <a:gdLst/>
            <a:ahLst/>
            <a:cxnLst/>
            <a:rect l="l" t="t" r="r" b="b"/>
            <a:pathLst>
              <a:path w="5619750" h="146685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1352553"/>
                </a:lnTo>
                <a:cubicBezTo>
                  <a:pt x="5619750" y="1415678"/>
                  <a:pt x="5568578" y="1466850"/>
                  <a:pt x="5505453" y="1466850"/>
                </a:cubicBezTo>
                <a:lnTo>
                  <a:pt x="114297" y="1466850"/>
                </a:lnTo>
                <a:cubicBezTo>
                  <a:pt x="51172" y="1466850"/>
                  <a:pt x="0" y="1415678"/>
                  <a:pt x="0" y="135255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91250" y="3162300"/>
            <a:ext cx="5619750" cy="38100"/>
          </a:xfrm>
          <a:custGeom>
            <a:avLst/>
            <a:gdLst/>
            <a:ahLst/>
            <a:cxnLst/>
            <a:rect l="l" t="t" r="r" b="b"/>
            <a:pathLst>
              <a:path w="5619750" h="3810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25" name="Shape 23"/>
          <p:cNvSpPr/>
          <p:nvPr/>
        </p:nvSpPr>
        <p:spPr>
          <a:xfrm>
            <a:off x="6381750" y="33718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052CC">
              <a:alpha val="1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496050" y="34861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27" name="Text 25"/>
          <p:cNvSpPr/>
          <p:nvPr/>
        </p:nvSpPr>
        <p:spPr>
          <a:xfrm>
            <a:off x="6953250" y="3467100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风险管控者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81750" y="3943350"/>
            <a:ext cx="5314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全程识别项目推进中的各类风险(交付风险、投标风险、客户关系风险等),制定应对策略,推动风险闭环解决。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1000" y="4819650"/>
            <a:ext cx="11430000" cy="1219200"/>
          </a:xfrm>
          <a:custGeom>
            <a:avLst/>
            <a:gdLst/>
            <a:ahLst/>
            <a:cxnLst/>
            <a:rect l="l" t="t" r="r" b="b"/>
            <a:pathLst>
              <a:path w="11430000" h="1219200">
                <a:moveTo>
                  <a:pt x="114300" y="0"/>
                </a:moveTo>
                <a:lnTo>
                  <a:pt x="11315700" y="0"/>
                </a:lnTo>
                <a:cubicBezTo>
                  <a:pt x="11378784" y="0"/>
                  <a:pt x="11430000" y="51216"/>
                  <a:pt x="11430000" y="114300"/>
                </a:cubicBezTo>
                <a:lnTo>
                  <a:pt x="11430000" y="1104900"/>
                </a:lnTo>
                <a:cubicBezTo>
                  <a:pt x="11430000" y="1167984"/>
                  <a:pt x="11378784" y="1219200"/>
                  <a:pt x="11315700" y="1219200"/>
                </a:cubicBezTo>
                <a:lnTo>
                  <a:pt x="114300" y="1219200"/>
                </a:lnTo>
                <a:cubicBezTo>
                  <a:pt x="51216" y="1219200"/>
                  <a:pt x="0" y="1167984"/>
                  <a:pt x="0" y="1104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30" name="Shape 28"/>
          <p:cNvSpPr/>
          <p:nvPr/>
        </p:nvSpPr>
        <p:spPr>
          <a:xfrm>
            <a:off x="586978" y="5048250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72734" y="-10548"/>
                </a:moveTo>
                <a:cubicBezTo>
                  <a:pt x="170445" y="-15013"/>
                  <a:pt x="165813" y="-17859"/>
                  <a:pt x="160790" y="-17859"/>
                </a:cubicBezTo>
                <a:cubicBezTo>
                  <a:pt x="155767" y="-17859"/>
                  <a:pt x="151135" y="-15013"/>
                  <a:pt x="148847" y="-10548"/>
                </a:cubicBezTo>
                <a:lnTo>
                  <a:pt x="107770" y="69931"/>
                </a:lnTo>
                <a:lnTo>
                  <a:pt x="18529" y="84106"/>
                </a:lnTo>
                <a:cubicBezTo>
                  <a:pt x="13562" y="84888"/>
                  <a:pt x="9432" y="88404"/>
                  <a:pt x="7869" y="93204"/>
                </a:cubicBezTo>
                <a:cubicBezTo>
                  <a:pt x="6307" y="98003"/>
                  <a:pt x="7590" y="103250"/>
                  <a:pt x="11106" y="106821"/>
                </a:cubicBezTo>
                <a:lnTo>
                  <a:pt x="74954" y="170724"/>
                </a:lnTo>
                <a:lnTo>
                  <a:pt x="60889" y="259966"/>
                </a:lnTo>
                <a:cubicBezTo>
                  <a:pt x="60108" y="264933"/>
                  <a:pt x="62173" y="269956"/>
                  <a:pt x="66247" y="272914"/>
                </a:cubicBezTo>
                <a:cubicBezTo>
                  <a:pt x="70321" y="275872"/>
                  <a:pt x="75679" y="276318"/>
                  <a:pt x="80200" y="274030"/>
                </a:cubicBezTo>
                <a:lnTo>
                  <a:pt x="160790" y="233065"/>
                </a:lnTo>
                <a:lnTo>
                  <a:pt x="241325" y="274030"/>
                </a:lnTo>
                <a:cubicBezTo>
                  <a:pt x="245790" y="276318"/>
                  <a:pt x="251203" y="275872"/>
                  <a:pt x="255277" y="272914"/>
                </a:cubicBezTo>
                <a:cubicBezTo>
                  <a:pt x="259352" y="269956"/>
                  <a:pt x="261417" y="264988"/>
                  <a:pt x="260635" y="259966"/>
                </a:cubicBezTo>
                <a:lnTo>
                  <a:pt x="246515" y="170724"/>
                </a:lnTo>
                <a:lnTo>
                  <a:pt x="310362" y="106821"/>
                </a:lnTo>
                <a:cubicBezTo>
                  <a:pt x="313934" y="103250"/>
                  <a:pt x="315162" y="98003"/>
                  <a:pt x="313599" y="93204"/>
                </a:cubicBezTo>
                <a:cubicBezTo>
                  <a:pt x="312037" y="88404"/>
                  <a:pt x="307963" y="84888"/>
                  <a:pt x="302940" y="84106"/>
                </a:cubicBezTo>
                <a:lnTo>
                  <a:pt x="213754" y="69931"/>
                </a:lnTo>
                <a:lnTo>
                  <a:pt x="172734" y="-10548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31" name="Text 29"/>
          <p:cNvSpPr/>
          <p:nvPr/>
        </p:nvSpPr>
        <p:spPr>
          <a:xfrm>
            <a:off x="1073229" y="5010150"/>
            <a:ext cx="10629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岗位匹配规则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73229" y="5353050"/>
            <a:ext cx="10620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区域级项目由区域行业经理担任; BU级、BG级、GTM及重客项目由系统部拓展经理担任。所有项目经理需严格按照要求落实各项工作,协同项目组完成项目目标。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00B8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OPERATING PRINCIPLES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履职的五大原则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762000" cy="57150"/>
          </a:xfrm>
          <a:custGeom>
            <a:avLst/>
            <a:gdLst/>
            <a:ahLst/>
            <a:cxnLst/>
            <a:rect l="l" t="t" r="r" b="b"/>
            <a:pathLst>
              <a:path w="762000" h="57150">
                <a:moveTo>
                  <a:pt x="0" y="0"/>
                </a:moveTo>
                <a:lnTo>
                  <a:pt x="762000" y="0"/>
                </a:lnTo>
                <a:lnTo>
                  <a:pt x="762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466850"/>
            <a:ext cx="11410950" cy="1219200"/>
          </a:xfrm>
          <a:custGeom>
            <a:avLst/>
            <a:gdLst/>
            <a:ahLst/>
            <a:cxnLst/>
            <a:rect l="l" t="t" r="r" b="b"/>
            <a:pathLst>
              <a:path w="11410950" h="1219200">
                <a:moveTo>
                  <a:pt x="38100" y="0"/>
                </a:moveTo>
                <a:lnTo>
                  <a:pt x="11296650" y="0"/>
                </a:lnTo>
                <a:cubicBezTo>
                  <a:pt x="11359734" y="0"/>
                  <a:pt x="11410950" y="51216"/>
                  <a:pt x="11410950" y="114300"/>
                </a:cubicBezTo>
                <a:lnTo>
                  <a:pt x="11410950" y="1104900"/>
                </a:lnTo>
                <a:cubicBezTo>
                  <a:pt x="11410950" y="1167984"/>
                  <a:pt x="11359734" y="1219200"/>
                  <a:pt x="11296650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0050" y="146685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6573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8" name="Text 6"/>
          <p:cNvSpPr/>
          <p:nvPr/>
        </p:nvSpPr>
        <p:spPr>
          <a:xfrm>
            <a:off x="552450" y="165735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33500" y="1657350"/>
            <a:ext cx="10382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流程至上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33500" y="2000250"/>
            <a:ext cx="10363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所有项目工作均需严格遵循MO商机管理流程及各子流程(验证商机、推进商机、制定并执行投标策略、谈判并签订合同)要求,</a:t>
            </a:r>
            <a:r>
              <a:rPr lang="en-US" sz="1200" dirty="0">
                <a:solidFill>
                  <a:srgbClr val="FF6B35"/>
                </a:solidFill>
                <a:highlight>
                  <a:srgbClr val="FF6B35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不随意简化流程、跳过关键节点 </a:t>
            </a: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0050" y="2838450"/>
            <a:ext cx="11410950" cy="971550"/>
          </a:xfrm>
          <a:custGeom>
            <a:avLst/>
            <a:gdLst/>
            <a:ahLst/>
            <a:cxnLst/>
            <a:rect l="l" t="t" r="r" b="b"/>
            <a:pathLst>
              <a:path w="11410950" h="971550">
                <a:moveTo>
                  <a:pt x="38100" y="0"/>
                </a:moveTo>
                <a:lnTo>
                  <a:pt x="11296647" y="0"/>
                </a:lnTo>
                <a:cubicBezTo>
                  <a:pt x="11359733" y="0"/>
                  <a:pt x="11410950" y="51217"/>
                  <a:pt x="11410950" y="114303"/>
                </a:cubicBezTo>
                <a:lnTo>
                  <a:pt x="11410950" y="857247"/>
                </a:lnTo>
                <a:cubicBezTo>
                  <a:pt x="11410950" y="920333"/>
                  <a:pt x="11359733" y="971550"/>
                  <a:pt x="11296647" y="971550"/>
                </a:cubicBez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00050" y="2838450"/>
            <a:ext cx="38100" cy="971550"/>
          </a:xfrm>
          <a:custGeom>
            <a:avLst/>
            <a:gdLst/>
            <a:ahLst/>
            <a:cxnLst/>
            <a:rect l="l" t="t" r="r" b="b"/>
            <a:pathLst>
              <a:path w="38100" h="971550">
                <a:moveTo>
                  <a:pt x="38100" y="0"/>
                </a:moveTo>
                <a:lnTo>
                  <a:pt x="38100" y="0"/>
                </a:lnTo>
                <a:lnTo>
                  <a:pt x="38100" y="971550"/>
                </a:ln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13" name="Shape 11"/>
          <p:cNvSpPr/>
          <p:nvPr/>
        </p:nvSpPr>
        <p:spPr>
          <a:xfrm>
            <a:off x="609600" y="30289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14" name="Text 12"/>
          <p:cNvSpPr/>
          <p:nvPr/>
        </p:nvSpPr>
        <p:spPr>
          <a:xfrm>
            <a:off x="552450" y="302895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33500" y="3028950"/>
            <a:ext cx="10382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目标导向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33500" y="3371850"/>
            <a:ext cx="10363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以项目赢单为核心目标,统筹各项工作,确保项目各环节动作围绕赢单策略落地,</a:t>
            </a:r>
            <a:r>
              <a:rPr lang="en-US" sz="1200" dirty="0">
                <a:solidFill>
                  <a:srgbClr val="FF6B35"/>
                </a:solidFill>
                <a:highlight>
                  <a:srgbClr val="FF6B35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所有工作指向明确的结果导向 </a:t>
            </a: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3962400"/>
            <a:ext cx="11410950" cy="971550"/>
          </a:xfrm>
          <a:custGeom>
            <a:avLst/>
            <a:gdLst/>
            <a:ahLst/>
            <a:cxnLst/>
            <a:rect l="l" t="t" r="r" b="b"/>
            <a:pathLst>
              <a:path w="11410950" h="971550">
                <a:moveTo>
                  <a:pt x="38100" y="0"/>
                </a:moveTo>
                <a:lnTo>
                  <a:pt x="11296647" y="0"/>
                </a:lnTo>
                <a:cubicBezTo>
                  <a:pt x="11359733" y="0"/>
                  <a:pt x="11410950" y="51217"/>
                  <a:pt x="11410950" y="114303"/>
                </a:cubicBezTo>
                <a:lnTo>
                  <a:pt x="11410950" y="857247"/>
                </a:lnTo>
                <a:cubicBezTo>
                  <a:pt x="11410950" y="920333"/>
                  <a:pt x="11359733" y="971550"/>
                  <a:pt x="11296647" y="971550"/>
                </a:cubicBez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00050" y="3962400"/>
            <a:ext cx="38100" cy="971550"/>
          </a:xfrm>
          <a:custGeom>
            <a:avLst/>
            <a:gdLst/>
            <a:ahLst/>
            <a:cxnLst/>
            <a:rect l="l" t="t" r="r" b="b"/>
            <a:pathLst>
              <a:path w="38100" h="971550">
                <a:moveTo>
                  <a:pt x="38100" y="0"/>
                </a:moveTo>
                <a:lnTo>
                  <a:pt x="38100" y="0"/>
                </a:lnTo>
                <a:lnTo>
                  <a:pt x="38100" y="971550"/>
                </a:lnTo>
                <a:lnTo>
                  <a:pt x="38100" y="971550"/>
                </a:lnTo>
                <a:cubicBezTo>
                  <a:pt x="17072" y="971550"/>
                  <a:pt x="0" y="954478"/>
                  <a:pt x="0" y="933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19" name="Shape 17"/>
          <p:cNvSpPr/>
          <p:nvPr/>
        </p:nvSpPr>
        <p:spPr>
          <a:xfrm>
            <a:off x="609600" y="41529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552450" y="41529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33500" y="4152900"/>
            <a:ext cx="10382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协同高效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33500" y="4495800"/>
            <a:ext cx="10363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建立高效的项目组沟通机制,确保项目组成员信息同步、分工明确、行动一致,</a:t>
            </a:r>
            <a:r>
              <a:rPr lang="en-US" sz="1200" dirty="0">
                <a:solidFill>
                  <a:srgbClr val="FF6B35"/>
                </a:solidFill>
                <a:highlight>
                  <a:srgbClr val="FF6B35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提升跨部门协同效率 </a:t>
            </a: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00050" y="5086350"/>
            <a:ext cx="5619750" cy="1181100"/>
          </a:xfrm>
          <a:custGeom>
            <a:avLst/>
            <a:gdLst/>
            <a:ahLst/>
            <a:cxnLst/>
            <a:rect l="l" t="t" r="r" b="b"/>
            <a:pathLst>
              <a:path w="5619750" h="1181100">
                <a:moveTo>
                  <a:pt x="38100" y="0"/>
                </a:moveTo>
                <a:lnTo>
                  <a:pt x="5505455" y="0"/>
                </a:lnTo>
                <a:cubicBezTo>
                  <a:pt x="5568578" y="0"/>
                  <a:pt x="5619750" y="51172"/>
                  <a:pt x="5619750" y="114295"/>
                </a:cubicBezTo>
                <a:lnTo>
                  <a:pt x="5619750" y="1066805"/>
                </a:lnTo>
                <a:cubicBezTo>
                  <a:pt x="5619750" y="1129928"/>
                  <a:pt x="5568578" y="1181100"/>
                  <a:pt x="5505455" y="1181100"/>
                </a:cubicBez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00050" y="5086350"/>
            <a:ext cx="38100" cy="1181100"/>
          </a:xfrm>
          <a:custGeom>
            <a:avLst/>
            <a:gdLst/>
            <a:ahLst/>
            <a:cxnLst/>
            <a:rect l="l" t="t" r="r" b="b"/>
            <a:pathLst>
              <a:path w="38100" h="1181100">
                <a:moveTo>
                  <a:pt x="38100" y="0"/>
                </a:moveTo>
                <a:lnTo>
                  <a:pt x="38100" y="0"/>
                </a:lnTo>
                <a:lnTo>
                  <a:pt x="38100" y="1181100"/>
                </a:ln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25" name="Shape 23"/>
          <p:cNvSpPr/>
          <p:nvPr/>
        </p:nvSpPr>
        <p:spPr>
          <a:xfrm>
            <a:off x="609600" y="52768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26" name="Text 24"/>
          <p:cNvSpPr/>
          <p:nvPr/>
        </p:nvSpPr>
        <p:spPr>
          <a:xfrm>
            <a:off x="561975" y="527685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19200" y="5276850"/>
            <a:ext cx="4695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留痕可溯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19200" y="5581650"/>
            <a:ext cx="4686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所有项目工作动作、决策、会议结论均需按要求在CRM及飞书项目文档中留痕,确保项目过程可追溯、可复盘。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91250" y="5086350"/>
            <a:ext cx="5619750" cy="1181100"/>
          </a:xfrm>
          <a:custGeom>
            <a:avLst/>
            <a:gdLst/>
            <a:ahLst/>
            <a:cxnLst/>
            <a:rect l="l" t="t" r="r" b="b"/>
            <a:pathLst>
              <a:path w="5619750" h="1181100">
                <a:moveTo>
                  <a:pt x="38100" y="0"/>
                </a:moveTo>
                <a:lnTo>
                  <a:pt x="5505455" y="0"/>
                </a:lnTo>
                <a:cubicBezTo>
                  <a:pt x="5568578" y="0"/>
                  <a:pt x="5619750" y="51172"/>
                  <a:pt x="5619750" y="114295"/>
                </a:cubicBezTo>
                <a:lnTo>
                  <a:pt x="5619750" y="1066805"/>
                </a:lnTo>
                <a:cubicBezTo>
                  <a:pt x="5619750" y="1129928"/>
                  <a:pt x="5568578" y="1181100"/>
                  <a:pt x="5505455" y="1181100"/>
                </a:cubicBez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91250" y="5086350"/>
            <a:ext cx="38100" cy="1181100"/>
          </a:xfrm>
          <a:custGeom>
            <a:avLst/>
            <a:gdLst/>
            <a:ahLst/>
            <a:cxnLst/>
            <a:rect l="l" t="t" r="r" b="b"/>
            <a:pathLst>
              <a:path w="38100" h="1181100">
                <a:moveTo>
                  <a:pt x="38100" y="0"/>
                </a:moveTo>
                <a:lnTo>
                  <a:pt x="38100" y="0"/>
                </a:lnTo>
                <a:lnTo>
                  <a:pt x="38100" y="1181100"/>
                </a:ln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31" name="Shape 29"/>
          <p:cNvSpPr/>
          <p:nvPr/>
        </p:nvSpPr>
        <p:spPr>
          <a:xfrm>
            <a:off x="6400800" y="52768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32" name="Text 30"/>
          <p:cNvSpPr/>
          <p:nvPr/>
        </p:nvSpPr>
        <p:spPr>
          <a:xfrm>
            <a:off x="6353175" y="527685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10400" y="5276850"/>
            <a:ext cx="4695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结果负责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10400" y="5581650"/>
            <a:ext cx="4686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对项目各关键节点执行质量、项目推进效率及最终赢/丢单结果承担全部责任,未按流程执行导致项目问题的,按相关考核规则追责。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00B8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FULL PROCESS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全流程核心工作职责概览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762000" cy="57150"/>
          </a:xfrm>
          <a:custGeom>
            <a:avLst/>
            <a:gdLst/>
            <a:ahLst/>
            <a:cxnLst/>
            <a:rect l="l" t="t" r="r" b="b"/>
            <a:pathLst>
              <a:path w="762000" h="57150">
                <a:moveTo>
                  <a:pt x="0" y="0"/>
                </a:moveTo>
                <a:lnTo>
                  <a:pt x="762000" y="0"/>
                </a:lnTo>
                <a:lnTo>
                  <a:pt x="762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466850"/>
            <a:ext cx="1876425" cy="1600200"/>
          </a:xfrm>
          <a:custGeom>
            <a:avLst/>
            <a:gdLst/>
            <a:ahLst/>
            <a:cxnLst/>
            <a:rect l="l" t="t" r="r" b="b"/>
            <a:pathLst>
              <a:path w="1876425" h="1600200">
                <a:moveTo>
                  <a:pt x="114302" y="0"/>
                </a:moveTo>
                <a:lnTo>
                  <a:pt x="1762123" y="0"/>
                </a:lnTo>
                <a:cubicBezTo>
                  <a:pt x="1825208" y="0"/>
                  <a:pt x="1876425" y="51217"/>
                  <a:pt x="1876425" y="114302"/>
                </a:cubicBezTo>
                <a:lnTo>
                  <a:pt x="1876425" y="1485898"/>
                </a:lnTo>
                <a:cubicBezTo>
                  <a:pt x="1876425" y="1548983"/>
                  <a:pt x="1825208" y="1600200"/>
                  <a:pt x="1762123" y="1600200"/>
                </a:cubicBezTo>
                <a:lnTo>
                  <a:pt x="114302" y="1600200"/>
                </a:lnTo>
                <a:cubicBezTo>
                  <a:pt x="51217" y="1600200"/>
                  <a:pt x="0" y="1548983"/>
                  <a:pt x="0" y="14858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52CC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89660" y="16573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223010" y="17907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28638" y="2190750"/>
            <a:ext cx="1581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立项启动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8163" y="2495550"/>
            <a:ext cx="1562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夯实基础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明确分工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398395" y="21526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11" name="Shape 9"/>
          <p:cNvSpPr/>
          <p:nvPr/>
        </p:nvSpPr>
        <p:spPr>
          <a:xfrm>
            <a:off x="2769870" y="1466850"/>
            <a:ext cx="1876425" cy="1600200"/>
          </a:xfrm>
          <a:custGeom>
            <a:avLst/>
            <a:gdLst/>
            <a:ahLst/>
            <a:cxnLst/>
            <a:rect l="l" t="t" r="r" b="b"/>
            <a:pathLst>
              <a:path w="1876425" h="1600200">
                <a:moveTo>
                  <a:pt x="114302" y="0"/>
                </a:moveTo>
                <a:lnTo>
                  <a:pt x="1762123" y="0"/>
                </a:lnTo>
                <a:cubicBezTo>
                  <a:pt x="1825208" y="0"/>
                  <a:pt x="1876425" y="51217"/>
                  <a:pt x="1876425" y="114302"/>
                </a:cubicBezTo>
                <a:lnTo>
                  <a:pt x="1876425" y="1485898"/>
                </a:lnTo>
                <a:cubicBezTo>
                  <a:pt x="1876425" y="1548983"/>
                  <a:pt x="1825208" y="1600200"/>
                  <a:pt x="1762123" y="1600200"/>
                </a:cubicBezTo>
                <a:lnTo>
                  <a:pt x="114302" y="1600200"/>
                </a:lnTo>
                <a:cubicBezTo>
                  <a:pt x="51217" y="1600200"/>
                  <a:pt x="0" y="1548983"/>
                  <a:pt x="0" y="14858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B8D9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8530" y="16573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611880" y="17907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54781" y="77391"/>
                </a:moveTo>
                <a:cubicBezTo>
                  <a:pt x="154781" y="94469"/>
                  <a:pt x="149237" y="110244"/>
                  <a:pt x="139898" y="123044"/>
                </a:cubicBezTo>
                <a:lnTo>
                  <a:pt x="187003" y="170185"/>
                </a:lnTo>
                <a:cubicBezTo>
                  <a:pt x="191653" y="174836"/>
                  <a:pt x="191653" y="182389"/>
                  <a:pt x="187003" y="187040"/>
                </a:cubicBezTo>
                <a:cubicBezTo>
                  <a:pt x="182352" y="191691"/>
                  <a:pt x="174799" y="191691"/>
                  <a:pt x="170148" y="187040"/>
                </a:cubicBezTo>
                <a:lnTo>
                  <a:pt x="123044" y="139898"/>
                </a:lnTo>
                <a:cubicBezTo>
                  <a:pt x="110244" y="149237"/>
                  <a:pt x="94469" y="154781"/>
                  <a:pt x="77391" y="154781"/>
                </a:cubicBezTo>
                <a:cubicBezTo>
                  <a:pt x="34640" y="154781"/>
                  <a:pt x="0" y="120142"/>
                  <a:pt x="0" y="77391"/>
                </a:cubicBezTo>
                <a:cubicBezTo>
                  <a:pt x="0" y="34640"/>
                  <a:pt x="34640" y="0"/>
                  <a:pt x="77391" y="0"/>
                </a:cubicBezTo>
                <a:cubicBezTo>
                  <a:pt x="120142" y="0"/>
                  <a:pt x="154781" y="34640"/>
                  <a:pt x="154781" y="77391"/>
                </a:cubicBezTo>
                <a:close/>
                <a:moveTo>
                  <a:pt x="78879" y="35719"/>
                </a:moveTo>
                <a:cubicBezTo>
                  <a:pt x="74786" y="35719"/>
                  <a:pt x="71438" y="39067"/>
                  <a:pt x="71438" y="43160"/>
                </a:cubicBezTo>
                <a:lnTo>
                  <a:pt x="71438" y="44648"/>
                </a:lnTo>
                <a:cubicBezTo>
                  <a:pt x="60722" y="44760"/>
                  <a:pt x="52090" y="53467"/>
                  <a:pt x="52090" y="64182"/>
                </a:cubicBezTo>
                <a:cubicBezTo>
                  <a:pt x="52090" y="73744"/>
                  <a:pt x="58973" y="81893"/>
                  <a:pt x="68424" y="83455"/>
                </a:cubicBezTo>
                <a:lnTo>
                  <a:pt x="83939" y="86060"/>
                </a:lnTo>
                <a:cubicBezTo>
                  <a:pt x="86171" y="86432"/>
                  <a:pt x="87809" y="88367"/>
                  <a:pt x="87809" y="90636"/>
                </a:cubicBezTo>
                <a:cubicBezTo>
                  <a:pt x="87809" y="93204"/>
                  <a:pt x="85725" y="95287"/>
                  <a:pt x="83158" y="95287"/>
                </a:cubicBezTo>
                <a:lnTo>
                  <a:pt x="62508" y="95250"/>
                </a:lnTo>
                <a:cubicBezTo>
                  <a:pt x="58415" y="95250"/>
                  <a:pt x="55066" y="98599"/>
                  <a:pt x="55066" y="102691"/>
                </a:cubicBezTo>
                <a:cubicBezTo>
                  <a:pt x="55066" y="106784"/>
                  <a:pt x="58415" y="110133"/>
                  <a:pt x="62508" y="110133"/>
                </a:cubicBezTo>
                <a:lnTo>
                  <a:pt x="71438" y="110133"/>
                </a:lnTo>
                <a:lnTo>
                  <a:pt x="71438" y="111621"/>
                </a:lnTo>
                <a:cubicBezTo>
                  <a:pt x="71438" y="115714"/>
                  <a:pt x="74786" y="119063"/>
                  <a:pt x="78879" y="119063"/>
                </a:cubicBezTo>
                <a:cubicBezTo>
                  <a:pt x="82972" y="119063"/>
                  <a:pt x="86320" y="115714"/>
                  <a:pt x="86320" y="111621"/>
                </a:cubicBezTo>
                <a:lnTo>
                  <a:pt x="86320" y="109872"/>
                </a:lnTo>
                <a:cubicBezTo>
                  <a:pt x="95622" y="108347"/>
                  <a:pt x="102691" y="100310"/>
                  <a:pt x="102691" y="90599"/>
                </a:cubicBezTo>
                <a:cubicBezTo>
                  <a:pt x="102691" y="81037"/>
                  <a:pt x="95808" y="72889"/>
                  <a:pt x="86358" y="71326"/>
                </a:cubicBezTo>
                <a:lnTo>
                  <a:pt x="70842" y="68721"/>
                </a:lnTo>
                <a:cubicBezTo>
                  <a:pt x="68610" y="68349"/>
                  <a:pt x="66973" y="66415"/>
                  <a:pt x="66973" y="64145"/>
                </a:cubicBezTo>
                <a:cubicBezTo>
                  <a:pt x="66973" y="61578"/>
                  <a:pt x="69056" y="59494"/>
                  <a:pt x="71624" y="59494"/>
                </a:cubicBezTo>
                <a:lnTo>
                  <a:pt x="89297" y="59494"/>
                </a:lnTo>
                <a:cubicBezTo>
                  <a:pt x="93390" y="59494"/>
                  <a:pt x="96738" y="56145"/>
                  <a:pt x="96738" y="52053"/>
                </a:cubicBezTo>
                <a:cubicBezTo>
                  <a:pt x="96738" y="47960"/>
                  <a:pt x="93390" y="44611"/>
                  <a:pt x="89297" y="44611"/>
                </a:cubicBezTo>
                <a:lnTo>
                  <a:pt x="86320" y="44611"/>
                </a:lnTo>
                <a:lnTo>
                  <a:pt x="86320" y="43123"/>
                </a:lnTo>
                <a:cubicBezTo>
                  <a:pt x="86320" y="39030"/>
                  <a:pt x="82972" y="35682"/>
                  <a:pt x="78879" y="3568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2917508" y="2190750"/>
            <a:ext cx="1581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商机推进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27033" y="2495550"/>
            <a:ext cx="1562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聚焦需求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制定策略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87265" y="21526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17" name="Shape 15"/>
          <p:cNvSpPr/>
          <p:nvPr/>
        </p:nvSpPr>
        <p:spPr>
          <a:xfrm>
            <a:off x="5158740" y="1466850"/>
            <a:ext cx="1876425" cy="1600200"/>
          </a:xfrm>
          <a:custGeom>
            <a:avLst/>
            <a:gdLst/>
            <a:ahLst/>
            <a:cxnLst/>
            <a:rect l="l" t="t" r="r" b="b"/>
            <a:pathLst>
              <a:path w="1876425" h="1600200">
                <a:moveTo>
                  <a:pt x="114302" y="0"/>
                </a:moveTo>
                <a:lnTo>
                  <a:pt x="1762123" y="0"/>
                </a:lnTo>
                <a:cubicBezTo>
                  <a:pt x="1825208" y="0"/>
                  <a:pt x="1876425" y="51217"/>
                  <a:pt x="1876425" y="114302"/>
                </a:cubicBezTo>
                <a:lnTo>
                  <a:pt x="1876425" y="1485898"/>
                </a:lnTo>
                <a:cubicBezTo>
                  <a:pt x="1876425" y="1548983"/>
                  <a:pt x="1825208" y="1600200"/>
                  <a:pt x="1762123" y="1600200"/>
                </a:cubicBezTo>
                <a:lnTo>
                  <a:pt x="114302" y="1600200"/>
                </a:lnTo>
                <a:cubicBezTo>
                  <a:pt x="51217" y="1600200"/>
                  <a:pt x="0" y="1548983"/>
                  <a:pt x="0" y="14858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6B35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867400" y="16573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976938" y="17907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23850" y="23812"/>
                </a:moveTo>
                <a:cubicBezTo>
                  <a:pt x="23850" y="10678"/>
                  <a:pt x="34528" y="0"/>
                  <a:pt x="47662" y="0"/>
                </a:cubicBezTo>
                <a:lnTo>
                  <a:pt x="103287" y="0"/>
                </a:lnTo>
                <a:cubicBezTo>
                  <a:pt x="109612" y="0"/>
                  <a:pt x="115677" y="2493"/>
                  <a:pt x="120142" y="6958"/>
                </a:cubicBezTo>
                <a:lnTo>
                  <a:pt x="159730" y="46620"/>
                </a:lnTo>
                <a:cubicBezTo>
                  <a:pt x="164195" y="51085"/>
                  <a:pt x="166688" y="57150"/>
                  <a:pt x="166688" y="63475"/>
                </a:cubicBezTo>
                <a:lnTo>
                  <a:pt x="166688" y="99752"/>
                </a:lnTo>
                <a:lnTo>
                  <a:pt x="117574" y="148865"/>
                </a:lnTo>
                <a:lnTo>
                  <a:pt x="101910" y="148865"/>
                </a:lnTo>
                <a:lnTo>
                  <a:pt x="95920" y="128922"/>
                </a:lnTo>
                <a:cubicBezTo>
                  <a:pt x="94171" y="123081"/>
                  <a:pt x="88813" y="119100"/>
                  <a:pt x="82711" y="119100"/>
                </a:cubicBezTo>
                <a:cubicBezTo>
                  <a:pt x="78507" y="119100"/>
                  <a:pt x="74563" y="120997"/>
                  <a:pt x="71958" y="124271"/>
                </a:cubicBezTo>
                <a:lnTo>
                  <a:pt x="49597" y="152177"/>
                </a:lnTo>
                <a:cubicBezTo>
                  <a:pt x="46509" y="156009"/>
                  <a:pt x="47141" y="161665"/>
                  <a:pt x="50974" y="164716"/>
                </a:cubicBezTo>
                <a:cubicBezTo>
                  <a:pt x="54806" y="167767"/>
                  <a:pt x="60461" y="167171"/>
                  <a:pt x="63512" y="163302"/>
                </a:cubicBezTo>
                <a:lnTo>
                  <a:pt x="81037" y="141424"/>
                </a:lnTo>
                <a:lnTo>
                  <a:pt x="86692" y="160288"/>
                </a:lnTo>
                <a:cubicBezTo>
                  <a:pt x="87809" y="164083"/>
                  <a:pt x="91306" y="166650"/>
                  <a:pt x="95250" y="166650"/>
                </a:cubicBezTo>
                <a:lnTo>
                  <a:pt x="106970" y="166650"/>
                </a:lnTo>
                <a:cubicBezTo>
                  <a:pt x="106635" y="167804"/>
                  <a:pt x="106338" y="168994"/>
                  <a:pt x="106114" y="170185"/>
                </a:cubicBezTo>
                <a:lnTo>
                  <a:pt x="102059" y="190463"/>
                </a:lnTo>
                <a:lnTo>
                  <a:pt x="47662" y="190463"/>
                </a:lnTo>
                <a:cubicBezTo>
                  <a:pt x="34528" y="190463"/>
                  <a:pt x="23850" y="179784"/>
                  <a:pt x="23850" y="166650"/>
                </a:cubicBezTo>
                <a:lnTo>
                  <a:pt x="23850" y="23775"/>
                </a:lnTo>
                <a:close/>
                <a:moveTo>
                  <a:pt x="101240" y="21766"/>
                </a:moveTo>
                <a:lnTo>
                  <a:pt x="101240" y="56555"/>
                </a:lnTo>
                <a:cubicBezTo>
                  <a:pt x="101240" y="61503"/>
                  <a:pt x="105221" y="65484"/>
                  <a:pt x="110170" y="65484"/>
                </a:cubicBezTo>
                <a:lnTo>
                  <a:pt x="144959" y="65484"/>
                </a:lnTo>
                <a:lnTo>
                  <a:pt x="101240" y="21766"/>
                </a:lnTo>
                <a:close/>
                <a:moveTo>
                  <a:pt x="123639" y="173720"/>
                </a:moveTo>
                <a:cubicBezTo>
                  <a:pt x="124569" y="169106"/>
                  <a:pt x="126839" y="164864"/>
                  <a:pt x="130150" y="161553"/>
                </a:cubicBezTo>
                <a:lnTo>
                  <a:pt x="174389" y="117314"/>
                </a:lnTo>
                <a:lnTo>
                  <a:pt x="204155" y="147079"/>
                </a:lnTo>
                <a:lnTo>
                  <a:pt x="159916" y="191319"/>
                </a:lnTo>
                <a:cubicBezTo>
                  <a:pt x="156604" y="194630"/>
                  <a:pt x="152363" y="196900"/>
                  <a:pt x="147749" y="197830"/>
                </a:cubicBezTo>
                <a:lnTo>
                  <a:pt x="125574" y="202257"/>
                </a:lnTo>
                <a:cubicBezTo>
                  <a:pt x="125239" y="202332"/>
                  <a:pt x="124867" y="202369"/>
                  <a:pt x="124495" y="202369"/>
                </a:cubicBezTo>
                <a:cubicBezTo>
                  <a:pt x="121518" y="202369"/>
                  <a:pt x="119063" y="199951"/>
                  <a:pt x="119063" y="196937"/>
                </a:cubicBezTo>
                <a:cubicBezTo>
                  <a:pt x="119063" y="196565"/>
                  <a:pt x="119100" y="196230"/>
                  <a:pt x="119174" y="195858"/>
                </a:cubicBezTo>
                <a:lnTo>
                  <a:pt x="123602" y="173682"/>
                </a:lnTo>
                <a:close/>
                <a:moveTo>
                  <a:pt x="223279" y="127955"/>
                </a:moveTo>
                <a:lnTo>
                  <a:pt x="212564" y="138671"/>
                </a:lnTo>
                <a:lnTo>
                  <a:pt x="182798" y="108905"/>
                </a:lnTo>
                <a:lnTo>
                  <a:pt x="193514" y="98189"/>
                </a:lnTo>
                <a:cubicBezTo>
                  <a:pt x="201737" y="89967"/>
                  <a:pt x="215057" y="89967"/>
                  <a:pt x="223279" y="98189"/>
                </a:cubicBezTo>
                <a:cubicBezTo>
                  <a:pt x="231502" y="106412"/>
                  <a:pt x="231502" y="119732"/>
                  <a:pt x="223279" y="12795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306378" y="2190750"/>
            <a:ext cx="1581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投标执行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15903" y="2495550"/>
            <a:ext cx="1562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精准施策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高效落地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176135" y="21526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23" name="Shape 21"/>
          <p:cNvSpPr/>
          <p:nvPr/>
        </p:nvSpPr>
        <p:spPr>
          <a:xfrm>
            <a:off x="7547610" y="1466850"/>
            <a:ext cx="1876425" cy="1600200"/>
          </a:xfrm>
          <a:custGeom>
            <a:avLst/>
            <a:gdLst/>
            <a:ahLst/>
            <a:cxnLst/>
            <a:rect l="l" t="t" r="r" b="b"/>
            <a:pathLst>
              <a:path w="1876425" h="1600200">
                <a:moveTo>
                  <a:pt x="114302" y="0"/>
                </a:moveTo>
                <a:lnTo>
                  <a:pt x="1762123" y="0"/>
                </a:lnTo>
                <a:cubicBezTo>
                  <a:pt x="1825208" y="0"/>
                  <a:pt x="1876425" y="51217"/>
                  <a:pt x="1876425" y="114302"/>
                </a:cubicBezTo>
                <a:lnTo>
                  <a:pt x="1876425" y="1485898"/>
                </a:lnTo>
                <a:cubicBezTo>
                  <a:pt x="1876425" y="1548983"/>
                  <a:pt x="1825208" y="1600200"/>
                  <a:pt x="1762123" y="1600200"/>
                </a:cubicBezTo>
                <a:lnTo>
                  <a:pt x="114302" y="1600200"/>
                </a:lnTo>
                <a:cubicBezTo>
                  <a:pt x="51217" y="1600200"/>
                  <a:pt x="0" y="1548983"/>
                  <a:pt x="0" y="14858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52CC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256270" y="16573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377714" y="17907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0050" y="31700"/>
                </a:moveTo>
                <a:lnTo>
                  <a:pt x="56666" y="79921"/>
                </a:lnTo>
                <a:cubicBezTo>
                  <a:pt x="54955" y="81818"/>
                  <a:pt x="55029" y="84758"/>
                  <a:pt x="56852" y="86581"/>
                </a:cubicBezTo>
                <a:cubicBezTo>
                  <a:pt x="68200" y="97929"/>
                  <a:pt x="86618" y="97929"/>
                  <a:pt x="97966" y="86581"/>
                </a:cubicBezTo>
                <a:lnTo>
                  <a:pt x="109798" y="74749"/>
                </a:lnTo>
                <a:cubicBezTo>
                  <a:pt x="111361" y="73186"/>
                  <a:pt x="113333" y="72330"/>
                  <a:pt x="115342" y="72182"/>
                </a:cubicBezTo>
                <a:cubicBezTo>
                  <a:pt x="117872" y="71958"/>
                  <a:pt x="120476" y="72814"/>
                  <a:pt x="122411" y="74749"/>
                </a:cubicBezTo>
                <a:lnTo>
                  <a:pt x="188119" y="139898"/>
                </a:lnTo>
                <a:lnTo>
                  <a:pt x="214313" y="119063"/>
                </a:lnTo>
                <a:lnTo>
                  <a:pt x="214313" y="11906"/>
                </a:lnTo>
                <a:lnTo>
                  <a:pt x="172641" y="35719"/>
                </a:lnTo>
                <a:lnTo>
                  <a:pt x="163785" y="29803"/>
                </a:lnTo>
                <a:cubicBezTo>
                  <a:pt x="157907" y="25896"/>
                  <a:pt x="151023" y="23812"/>
                  <a:pt x="143954" y="23812"/>
                </a:cubicBezTo>
                <a:lnTo>
                  <a:pt x="117760" y="23812"/>
                </a:lnTo>
                <a:cubicBezTo>
                  <a:pt x="117351" y="23812"/>
                  <a:pt x="116904" y="23812"/>
                  <a:pt x="116495" y="23850"/>
                </a:cubicBezTo>
                <a:cubicBezTo>
                  <a:pt x="110207" y="24185"/>
                  <a:pt x="104291" y="27012"/>
                  <a:pt x="100050" y="31700"/>
                </a:cubicBezTo>
                <a:close/>
                <a:moveTo>
                  <a:pt x="43383" y="67977"/>
                </a:moveTo>
                <a:lnTo>
                  <a:pt x="83121" y="23812"/>
                </a:lnTo>
                <a:lnTo>
                  <a:pt x="68387" y="23812"/>
                </a:lnTo>
                <a:cubicBezTo>
                  <a:pt x="58899" y="23812"/>
                  <a:pt x="49820" y="27570"/>
                  <a:pt x="43123" y="34268"/>
                </a:cubicBezTo>
                <a:lnTo>
                  <a:pt x="41672" y="35719"/>
                </a:lnTo>
                <a:lnTo>
                  <a:pt x="0" y="11906"/>
                </a:lnTo>
                <a:lnTo>
                  <a:pt x="0" y="119063"/>
                </a:lnTo>
                <a:lnTo>
                  <a:pt x="58192" y="167543"/>
                </a:lnTo>
                <a:cubicBezTo>
                  <a:pt x="66749" y="174687"/>
                  <a:pt x="77539" y="178594"/>
                  <a:pt x="88664" y="178594"/>
                </a:cubicBezTo>
                <a:lnTo>
                  <a:pt x="94506" y="178594"/>
                </a:lnTo>
                <a:lnTo>
                  <a:pt x="91901" y="175989"/>
                </a:lnTo>
                <a:cubicBezTo>
                  <a:pt x="88404" y="172492"/>
                  <a:pt x="88404" y="166836"/>
                  <a:pt x="91901" y="163376"/>
                </a:cubicBezTo>
                <a:cubicBezTo>
                  <a:pt x="95399" y="159916"/>
                  <a:pt x="101054" y="159879"/>
                  <a:pt x="104515" y="163376"/>
                </a:cubicBezTo>
                <a:lnTo>
                  <a:pt x="119769" y="178631"/>
                </a:lnTo>
                <a:lnTo>
                  <a:pt x="123118" y="178631"/>
                </a:lnTo>
                <a:cubicBezTo>
                  <a:pt x="130225" y="178631"/>
                  <a:pt x="137182" y="177031"/>
                  <a:pt x="143508" y="174054"/>
                </a:cubicBezTo>
                <a:lnTo>
                  <a:pt x="133573" y="164083"/>
                </a:lnTo>
                <a:cubicBezTo>
                  <a:pt x="130076" y="160586"/>
                  <a:pt x="130076" y="154930"/>
                  <a:pt x="133573" y="151470"/>
                </a:cubicBezTo>
                <a:cubicBezTo>
                  <a:pt x="137071" y="148010"/>
                  <a:pt x="142726" y="147972"/>
                  <a:pt x="146186" y="151470"/>
                </a:cubicBezTo>
                <a:lnTo>
                  <a:pt x="158093" y="163376"/>
                </a:lnTo>
                <a:lnTo>
                  <a:pt x="164604" y="156865"/>
                </a:lnTo>
                <a:cubicBezTo>
                  <a:pt x="167915" y="153553"/>
                  <a:pt x="168883" y="148754"/>
                  <a:pt x="167432" y="144549"/>
                </a:cubicBezTo>
                <a:lnTo>
                  <a:pt x="116123" y="93650"/>
                </a:lnTo>
                <a:lnTo>
                  <a:pt x="110579" y="99194"/>
                </a:lnTo>
                <a:cubicBezTo>
                  <a:pt x="92236" y="117537"/>
                  <a:pt x="62545" y="117537"/>
                  <a:pt x="44202" y="99194"/>
                </a:cubicBezTo>
                <a:cubicBezTo>
                  <a:pt x="35644" y="90636"/>
                  <a:pt x="35309" y="76907"/>
                  <a:pt x="43383" y="6794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7695248" y="2190750"/>
            <a:ext cx="1581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合同谈判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704773" y="2495550"/>
            <a:ext cx="1562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严控风险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促成签约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565005" y="21526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29" name="Shape 27"/>
          <p:cNvSpPr/>
          <p:nvPr/>
        </p:nvSpPr>
        <p:spPr>
          <a:xfrm>
            <a:off x="9936481" y="1466850"/>
            <a:ext cx="1876425" cy="1600200"/>
          </a:xfrm>
          <a:custGeom>
            <a:avLst/>
            <a:gdLst/>
            <a:ahLst/>
            <a:cxnLst/>
            <a:rect l="l" t="t" r="r" b="b"/>
            <a:pathLst>
              <a:path w="1876425" h="1600200">
                <a:moveTo>
                  <a:pt x="114302" y="0"/>
                </a:moveTo>
                <a:lnTo>
                  <a:pt x="1762123" y="0"/>
                </a:lnTo>
                <a:cubicBezTo>
                  <a:pt x="1825208" y="0"/>
                  <a:pt x="1876425" y="51217"/>
                  <a:pt x="1876425" y="114302"/>
                </a:cubicBezTo>
                <a:lnTo>
                  <a:pt x="1876425" y="1485898"/>
                </a:lnTo>
                <a:cubicBezTo>
                  <a:pt x="1876425" y="1548983"/>
                  <a:pt x="1825208" y="1600200"/>
                  <a:pt x="1762123" y="1600200"/>
                </a:cubicBezTo>
                <a:lnTo>
                  <a:pt x="114302" y="1600200"/>
                </a:lnTo>
                <a:cubicBezTo>
                  <a:pt x="51217" y="1600200"/>
                  <a:pt x="0" y="1548983"/>
                  <a:pt x="0" y="14858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B8D9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645140" y="16573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778490" y="17907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10084118" y="2190750"/>
            <a:ext cx="1581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赢丢单复盘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093643" y="2495550"/>
            <a:ext cx="1562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总结经验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沉淀复用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81000" y="3295650"/>
            <a:ext cx="3686175" cy="1257300"/>
          </a:xfrm>
          <a:custGeom>
            <a:avLst/>
            <a:gdLst/>
            <a:ahLst/>
            <a:cxnLst/>
            <a:rect l="l" t="t" r="r" b="b"/>
            <a:pathLst>
              <a:path w="3686175" h="1257300">
                <a:moveTo>
                  <a:pt x="114301" y="0"/>
                </a:moveTo>
                <a:lnTo>
                  <a:pt x="3571874" y="0"/>
                </a:lnTo>
                <a:cubicBezTo>
                  <a:pt x="3634958" y="0"/>
                  <a:pt x="3686175" y="51217"/>
                  <a:pt x="3686175" y="114301"/>
                </a:cubicBezTo>
                <a:lnTo>
                  <a:pt x="3686175" y="1142999"/>
                </a:lnTo>
                <a:cubicBezTo>
                  <a:pt x="3686175" y="1206083"/>
                  <a:pt x="3634958" y="1257300"/>
                  <a:pt x="3571874" y="1257300"/>
                </a:cubicBezTo>
                <a:lnTo>
                  <a:pt x="114301" y="1257300"/>
                </a:lnTo>
                <a:cubicBezTo>
                  <a:pt x="51217" y="1257300"/>
                  <a:pt x="0" y="1206083"/>
                  <a:pt x="0" y="114299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0075" y="3505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ubicBezTo>
                  <a:pt x="0" y="51216"/>
                  <a:pt x="51216" y="0"/>
                  <a:pt x="114300" y="0"/>
                </a:cubicBezTo>
                <a:close/>
                <a:moveTo>
                  <a:pt x="103584" y="53578"/>
                </a:moveTo>
                <a:lnTo>
                  <a:pt x="103584" y="114300"/>
                </a:lnTo>
                <a:cubicBezTo>
                  <a:pt x="103584" y="117872"/>
                  <a:pt x="105370" y="121221"/>
                  <a:pt x="108362" y="123230"/>
                </a:cubicBezTo>
                <a:lnTo>
                  <a:pt x="151224" y="151805"/>
                </a:lnTo>
                <a:cubicBezTo>
                  <a:pt x="156136" y="155109"/>
                  <a:pt x="162788" y="153769"/>
                  <a:pt x="166092" y="148813"/>
                </a:cubicBezTo>
                <a:cubicBezTo>
                  <a:pt x="169396" y="143857"/>
                  <a:pt x="168057" y="137249"/>
                  <a:pt x="163101" y="133945"/>
                </a:cubicBezTo>
                <a:lnTo>
                  <a:pt x="125016" y="108585"/>
                </a:lnTo>
                <a:lnTo>
                  <a:pt x="125016" y="53578"/>
                </a:lnTo>
                <a:cubicBezTo>
                  <a:pt x="125016" y="47640"/>
                  <a:pt x="120238" y="42863"/>
                  <a:pt x="114300" y="42863"/>
                </a:cubicBezTo>
                <a:cubicBezTo>
                  <a:pt x="108362" y="42863"/>
                  <a:pt x="103584" y="47640"/>
                  <a:pt x="103584" y="53578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36" name="Text 34"/>
          <p:cNvSpPr/>
          <p:nvPr/>
        </p:nvSpPr>
        <p:spPr>
          <a:xfrm>
            <a:off x="971550" y="3486150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时间要求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71500" y="3867150"/>
            <a:ext cx="3381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各阶段工作均需严格遵循MO流程时间要求,确保关键节点按时完成,不得拖延。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254460" y="3295650"/>
            <a:ext cx="3686175" cy="1257300"/>
          </a:xfrm>
          <a:custGeom>
            <a:avLst/>
            <a:gdLst/>
            <a:ahLst/>
            <a:cxnLst/>
            <a:rect l="l" t="t" r="r" b="b"/>
            <a:pathLst>
              <a:path w="3686175" h="1257300">
                <a:moveTo>
                  <a:pt x="114301" y="0"/>
                </a:moveTo>
                <a:lnTo>
                  <a:pt x="3571874" y="0"/>
                </a:lnTo>
                <a:cubicBezTo>
                  <a:pt x="3634958" y="0"/>
                  <a:pt x="3686175" y="51217"/>
                  <a:pt x="3686175" y="114301"/>
                </a:cubicBezTo>
                <a:lnTo>
                  <a:pt x="3686175" y="1142999"/>
                </a:lnTo>
                <a:cubicBezTo>
                  <a:pt x="3686175" y="1206083"/>
                  <a:pt x="3634958" y="1257300"/>
                  <a:pt x="3571874" y="1257300"/>
                </a:cubicBezTo>
                <a:lnTo>
                  <a:pt x="114301" y="1257300"/>
                </a:lnTo>
                <a:cubicBezTo>
                  <a:pt x="51217" y="1257300"/>
                  <a:pt x="0" y="1206083"/>
                  <a:pt x="0" y="114299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502110" y="35052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9035" y="14288"/>
                </a:moveTo>
                <a:lnTo>
                  <a:pt x="142875" y="14288"/>
                </a:lnTo>
                <a:cubicBezTo>
                  <a:pt x="158636" y="14288"/>
                  <a:pt x="171450" y="27102"/>
                  <a:pt x="171450" y="42863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42863"/>
                </a:lnTo>
                <a:cubicBezTo>
                  <a:pt x="0" y="27102"/>
                  <a:pt x="12814" y="14288"/>
                  <a:pt x="28575" y="14288"/>
                </a:cubicBezTo>
                <a:lnTo>
                  <a:pt x="32415" y="14288"/>
                </a:lnTo>
                <a:cubicBezTo>
                  <a:pt x="37326" y="5760"/>
                  <a:pt x="46568" y="0"/>
                  <a:pt x="57150" y="0"/>
                </a:cubicBezTo>
                <a:lnTo>
                  <a:pt x="114300" y="0"/>
                </a:lnTo>
                <a:cubicBezTo>
                  <a:pt x="124882" y="0"/>
                  <a:pt x="134124" y="5760"/>
                  <a:pt x="139035" y="14288"/>
                </a:cubicBezTo>
                <a:close/>
                <a:moveTo>
                  <a:pt x="110728" y="50006"/>
                </a:moveTo>
                <a:cubicBezTo>
                  <a:pt x="116666" y="50006"/>
                  <a:pt x="121444" y="45229"/>
                  <a:pt x="121444" y="39291"/>
                </a:cubicBezTo>
                <a:cubicBezTo>
                  <a:pt x="121444" y="33352"/>
                  <a:pt x="116666" y="28575"/>
                  <a:pt x="110728" y="28575"/>
                </a:cubicBezTo>
                <a:lnTo>
                  <a:pt x="60722" y="28575"/>
                </a:lnTo>
                <a:cubicBezTo>
                  <a:pt x="54784" y="28575"/>
                  <a:pt x="50006" y="33352"/>
                  <a:pt x="50006" y="39291"/>
                </a:cubicBezTo>
                <a:cubicBezTo>
                  <a:pt x="50006" y="45229"/>
                  <a:pt x="54784" y="50006"/>
                  <a:pt x="60722" y="50006"/>
                </a:cubicBezTo>
                <a:lnTo>
                  <a:pt x="110728" y="50006"/>
                </a:lnTo>
                <a:close/>
                <a:moveTo>
                  <a:pt x="123408" y="116398"/>
                </a:moveTo>
                <a:cubicBezTo>
                  <a:pt x="126534" y="111398"/>
                  <a:pt x="125016" y="104790"/>
                  <a:pt x="120015" y="101620"/>
                </a:cubicBezTo>
                <a:cubicBezTo>
                  <a:pt x="115014" y="98450"/>
                  <a:pt x="108406" y="100013"/>
                  <a:pt x="105236" y="105013"/>
                </a:cubicBezTo>
                <a:lnTo>
                  <a:pt x="77822" y="148903"/>
                </a:lnTo>
                <a:lnTo>
                  <a:pt x="65767" y="132829"/>
                </a:lnTo>
                <a:cubicBezTo>
                  <a:pt x="62195" y="128096"/>
                  <a:pt x="55498" y="127114"/>
                  <a:pt x="50765" y="130686"/>
                </a:cubicBezTo>
                <a:cubicBezTo>
                  <a:pt x="46033" y="134258"/>
                  <a:pt x="45050" y="140955"/>
                  <a:pt x="48622" y="145688"/>
                </a:cubicBezTo>
                <a:lnTo>
                  <a:pt x="70053" y="174263"/>
                </a:lnTo>
                <a:cubicBezTo>
                  <a:pt x="72152" y="177076"/>
                  <a:pt x="75545" y="178683"/>
                  <a:pt x="79072" y="178549"/>
                </a:cubicBezTo>
                <a:cubicBezTo>
                  <a:pt x="82600" y="178415"/>
                  <a:pt x="85814" y="176540"/>
                  <a:pt x="87690" y="173504"/>
                </a:cubicBezTo>
                <a:lnTo>
                  <a:pt x="123408" y="116354"/>
                </a:ln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40" name="Text 38"/>
          <p:cNvSpPr/>
          <p:nvPr/>
        </p:nvSpPr>
        <p:spPr>
          <a:xfrm>
            <a:off x="4845010" y="3486150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执行标准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444960" y="3867150"/>
            <a:ext cx="3381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每个阶段都有明确的执行标准和质量要求,确保项目推进的科学性和规范性。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127921" y="3295650"/>
            <a:ext cx="3686175" cy="1257300"/>
          </a:xfrm>
          <a:custGeom>
            <a:avLst/>
            <a:gdLst/>
            <a:ahLst/>
            <a:cxnLst/>
            <a:rect l="l" t="t" r="r" b="b"/>
            <a:pathLst>
              <a:path w="3686175" h="1257300">
                <a:moveTo>
                  <a:pt x="114301" y="0"/>
                </a:moveTo>
                <a:lnTo>
                  <a:pt x="3571874" y="0"/>
                </a:lnTo>
                <a:cubicBezTo>
                  <a:pt x="3634958" y="0"/>
                  <a:pt x="3686175" y="51217"/>
                  <a:pt x="3686175" y="114301"/>
                </a:cubicBezTo>
                <a:lnTo>
                  <a:pt x="3686175" y="1142999"/>
                </a:lnTo>
                <a:cubicBezTo>
                  <a:pt x="3686175" y="1206083"/>
                  <a:pt x="3634958" y="1257300"/>
                  <a:pt x="3571874" y="1257300"/>
                </a:cubicBezTo>
                <a:lnTo>
                  <a:pt x="114301" y="1257300"/>
                </a:lnTo>
                <a:cubicBezTo>
                  <a:pt x="51217" y="1257300"/>
                  <a:pt x="0" y="1206083"/>
                  <a:pt x="0" y="114299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375571" y="35052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28575"/>
                </a:moveTo>
                <a:cubicBezTo>
                  <a:pt x="0" y="12814"/>
                  <a:pt x="12814" y="0"/>
                  <a:pt x="28575" y="0"/>
                </a:cubicBezTo>
                <a:lnTo>
                  <a:pt x="95324" y="0"/>
                </a:lnTo>
                <a:cubicBezTo>
                  <a:pt x="102915" y="0"/>
                  <a:pt x="110192" y="2991"/>
                  <a:pt x="115550" y="8349"/>
                </a:cubicBezTo>
                <a:lnTo>
                  <a:pt x="163101" y="55944"/>
                </a:lnTo>
                <a:cubicBezTo>
                  <a:pt x="168459" y="61302"/>
                  <a:pt x="171450" y="68580"/>
                  <a:pt x="171450" y="76170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28575"/>
                </a:lnTo>
                <a:close/>
                <a:moveTo>
                  <a:pt x="92869" y="26119"/>
                </a:moveTo>
                <a:lnTo>
                  <a:pt x="92869" y="67866"/>
                </a:lnTo>
                <a:cubicBezTo>
                  <a:pt x="92869" y="73804"/>
                  <a:pt x="97646" y="78581"/>
                  <a:pt x="103584" y="78581"/>
                </a:cubicBezTo>
                <a:lnTo>
                  <a:pt x="145331" y="78581"/>
                </a:lnTo>
                <a:lnTo>
                  <a:pt x="92869" y="26119"/>
                </a:lnTo>
                <a:close/>
                <a:moveTo>
                  <a:pt x="53578" y="114300"/>
                </a:moveTo>
                <a:cubicBezTo>
                  <a:pt x="47640" y="114300"/>
                  <a:pt x="42863" y="119077"/>
                  <a:pt x="42863" y="125016"/>
                </a:cubicBezTo>
                <a:cubicBezTo>
                  <a:pt x="42863" y="130954"/>
                  <a:pt x="47640" y="135731"/>
                  <a:pt x="53578" y="135731"/>
                </a:cubicBezTo>
                <a:lnTo>
                  <a:pt x="117872" y="135731"/>
                </a:lnTo>
                <a:cubicBezTo>
                  <a:pt x="123810" y="135731"/>
                  <a:pt x="128588" y="130954"/>
                  <a:pt x="128588" y="125016"/>
                </a:cubicBezTo>
                <a:cubicBezTo>
                  <a:pt x="128588" y="119077"/>
                  <a:pt x="123810" y="114300"/>
                  <a:pt x="117872" y="114300"/>
                </a:cubicBezTo>
                <a:lnTo>
                  <a:pt x="53578" y="114300"/>
                </a:lnTo>
                <a:close/>
                <a:moveTo>
                  <a:pt x="53578" y="157163"/>
                </a:moveTo>
                <a:cubicBezTo>
                  <a:pt x="47640" y="157163"/>
                  <a:pt x="42863" y="161940"/>
                  <a:pt x="42863" y="167878"/>
                </a:cubicBezTo>
                <a:cubicBezTo>
                  <a:pt x="42863" y="173816"/>
                  <a:pt x="47640" y="178594"/>
                  <a:pt x="53578" y="178594"/>
                </a:cubicBezTo>
                <a:lnTo>
                  <a:pt x="117872" y="178594"/>
                </a:lnTo>
                <a:cubicBezTo>
                  <a:pt x="123810" y="178594"/>
                  <a:pt x="128588" y="173816"/>
                  <a:pt x="128588" y="167878"/>
                </a:cubicBezTo>
                <a:cubicBezTo>
                  <a:pt x="128588" y="161940"/>
                  <a:pt x="123810" y="157163"/>
                  <a:pt x="117872" y="157163"/>
                </a:cubicBezTo>
                <a:lnTo>
                  <a:pt x="53578" y="157163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44" name="Text 42"/>
          <p:cNvSpPr/>
          <p:nvPr/>
        </p:nvSpPr>
        <p:spPr>
          <a:xfrm>
            <a:off x="8718471" y="3486150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留痕规范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318421" y="3867150"/>
            <a:ext cx="3381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所有工作动作、决策、会议结论均需在CRM及飞书项目文档中完整留痕。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00050" y="4743450"/>
            <a:ext cx="11410950" cy="1181100"/>
          </a:xfrm>
          <a:custGeom>
            <a:avLst/>
            <a:gdLst/>
            <a:ahLst/>
            <a:cxnLst/>
            <a:rect l="l" t="t" r="r" b="b"/>
            <a:pathLst>
              <a:path w="11410950" h="1181100">
                <a:moveTo>
                  <a:pt x="38100" y="0"/>
                </a:moveTo>
                <a:lnTo>
                  <a:pt x="11296655" y="0"/>
                </a:lnTo>
                <a:cubicBezTo>
                  <a:pt x="11359778" y="0"/>
                  <a:pt x="11410950" y="51172"/>
                  <a:pt x="11410950" y="114295"/>
                </a:cubicBezTo>
                <a:lnTo>
                  <a:pt x="11410950" y="1066805"/>
                </a:lnTo>
                <a:cubicBezTo>
                  <a:pt x="11410950" y="1129928"/>
                  <a:pt x="11359778" y="1181100"/>
                  <a:pt x="11296655" y="1181100"/>
                </a:cubicBez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2CC">
              <a:alpha val="5098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00050" y="4743450"/>
            <a:ext cx="38100" cy="1181100"/>
          </a:xfrm>
          <a:custGeom>
            <a:avLst/>
            <a:gdLst/>
            <a:ahLst/>
            <a:cxnLst/>
            <a:rect l="l" t="t" r="r" b="b"/>
            <a:pathLst>
              <a:path w="38100" h="1181100">
                <a:moveTo>
                  <a:pt x="38100" y="0"/>
                </a:moveTo>
                <a:lnTo>
                  <a:pt x="38100" y="0"/>
                </a:lnTo>
                <a:lnTo>
                  <a:pt x="38100" y="1181100"/>
                </a:ln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48" name="Shape 46"/>
          <p:cNvSpPr/>
          <p:nvPr/>
        </p:nvSpPr>
        <p:spPr>
          <a:xfrm>
            <a:off x="623888" y="49720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00013" y="71438"/>
                </a:moveTo>
                <a:cubicBezTo>
                  <a:pt x="100013" y="63552"/>
                  <a:pt x="106415" y="57150"/>
                  <a:pt x="114300" y="57150"/>
                </a:cubicBezTo>
                <a:cubicBezTo>
                  <a:pt x="122185" y="57150"/>
                  <a:pt x="128588" y="63552"/>
                  <a:pt x="128588" y="71438"/>
                </a:cubicBezTo>
                <a:cubicBezTo>
                  <a:pt x="128588" y="79323"/>
                  <a:pt x="122185" y="85725"/>
                  <a:pt x="114300" y="85725"/>
                </a:cubicBezTo>
                <a:cubicBezTo>
                  <a:pt x="106415" y="85725"/>
                  <a:pt x="100013" y="79323"/>
                  <a:pt x="100013" y="71438"/>
                </a:cubicBezTo>
                <a:close/>
                <a:moveTo>
                  <a:pt x="96441" y="100013"/>
                </a:moveTo>
                <a:lnTo>
                  <a:pt x="117872" y="100013"/>
                </a:lnTo>
                <a:cubicBezTo>
                  <a:pt x="123810" y="100013"/>
                  <a:pt x="128588" y="104790"/>
                  <a:pt x="128588" y="110728"/>
                </a:cubicBezTo>
                <a:lnTo>
                  <a:pt x="128588" y="150019"/>
                </a:lnTo>
                <a:lnTo>
                  <a:pt x="132159" y="150019"/>
                </a:lnTo>
                <a:cubicBezTo>
                  <a:pt x="138098" y="150019"/>
                  <a:pt x="142875" y="154796"/>
                  <a:pt x="142875" y="160734"/>
                </a:cubicBezTo>
                <a:cubicBezTo>
                  <a:pt x="142875" y="166673"/>
                  <a:pt x="138098" y="171450"/>
                  <a:pt x="132159" y="171450"/>
                </a:cubicBezTo>
                <a:lnTo>
                  <a:pt x="96441" y="171450"/>
                </a:lnTo>
                <a:cubicBezTo>
                  <a:pt x="90502" y="171450"/>
                  <a:pt x="85725" y="166673"/>
                  <a:pt x="85725" y="160734"/>
                </a:cubicBezTo>
                <a:cubicBezTo>
                  <a:pt x="85725" y="154796"/>
                  <a:pt x="90502" y="150019"/>
                  <a:pt x="96441" y="150019"/>
                </a:cubicBezTo>
                <a:lnTo>
                  <a:pt x="107156" y="150019"/>
                </a:lnTo>
                <a:lnTo>
                  <a:pt x="107156" y="121444"/>
                </a:lnTo>
                <a:lnTo>
                  <a:pt x="96441" y="121444"/>
                </a:lnTo>
                <a:cubicBezTo>
                  <a:pt x="90502" y="121444"/>
                  <a:pt x="85725" y="116666"/>
                  <a:pt x="85725" y="110728"/>
                </a:cubicBezTo>
                <a:cubicBezTo>
                  <a:pt x="85725" y="104790"/>
                  <a:pt x="90502" y="100013"/>
                  <a:pt x="96441" y="100013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49" name="Text 47"/>
          <p:cNvSpPr/>
          <p:nvPr/>
        </p:nvSpPr>
        <p:spPr>
          <a:xfrm>
            <a:off x="1015246" y="4933950"/>
            <a:ext cx="10687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全流程管理闭环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015246" y="5238750"/>
            <a:ext cx="106775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项目经理的职责覆盖项目立项启动、商机推进、投标执行、合同谈判、赢丢单复盘五大核心阶段,形成完整的项目全生命周期管理闭环,确保项目从始至终都在可控范围内高效推进。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00B8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PHASE 01 · PROJECT INITIATION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立项启动阶段:夯实基础,明确分工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762000" cy="57150"/>
          </a:xfrm>
          <a:custGeom>
            <a:avLst/>
            <a:gdLst/>
            <a:ahLst/>
            <a:cxnLst/>
            <a:rect l="l" t="t" r="r" b="b"/>
            <a:pathLst>
              <a:path w="762000" h="57150">
                <a:moveTo>
                  <a:pt x="0" y="0"/>
                </a:moveTo>
                <a:lnTo>
                  <a:pt x="762000" y="0"/>
                </a:lnTo>
                <a:lnTo>
                  <a:pt x="762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390650"/>
            <a:ext cx="11430000" cy="838200"/>
          </a:xfrm>
          <a:custGeom>
            <a:avLst/>
            <a:gdLst/>
            <a:ahLst/>
            <a:cxnLst/>
            <a:rect l="l" t="t" r="r" b="b"/>
            <a:pathLst>
              <a:path w="11430000" h="838200">
                <a:moveTo>
                  <a:pt x="114297" y="0"/>
                </a:moveTo>
                <a:lnTo>
                  <a:pt x="11315703" y="0"/>
                </a:lnTo>
                <a:cubicBezTo>
                  <a:pt x="11378828" y="0"/>
                  <a:pt x="11430000" y="51172"/>
                  <a:pt x="11430000" y="114297"/>
                </a:cubicBezTo>
                <a:lnTo>
                  <a:pt x="11430000" y="723903"/>
                </a:lnTo>
                <a:cubicBezTo>
                  <a:pt x="11430000" y="787028"/>
                  <a:pt x="11378828" y="838200"/>
                  <a:pt x="11315703" y="838200"/>
                </a:cubicBezTo>
                <a:lnTo>
                  <a:pt x="114297" y="838200"/>
                </a:lnTo>
                <a:cubicBezTo>
                  <a:pt x="51172" y="838200"/>
                  <a:pt x="0" y="787028"/>
                  <a:pt x="0" y="7239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" y="16668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50031" y="142875"/>
                </a:moveTo>
                <a:cubicBezTo>
                  <a:pt x="250031" y="83734"/>
                  <a:pt x="202016" y="35719"/>
                  <a:pt x="142875" y="35719"/>
                </a:cubicBezTo>
                <a:cubicBezTo>
                  <a:pt x="83734" y="35719"/>
                  <a:pt x="35719" y="83734"/>
                  <a:pt x="35719" y="142875"/>
                </a:cubicBezTo>
                <a:cubicBezTo>
                  <a:pt x="35719" y="202016"/>
                  <a:pt x="83734" y="250031"/>
                  <a:pt x="142875" y="250031"/>
                </a:cubicBezTo>
                <a:cubicBezTo>
                  <a:pt x="202016" y="250031"/>
                  <a:pt x="250031" y="202016"/>
                  <a:pt x="250031" y="142875"/>
                </a:cubicBezTo>
                <a:close/>
                <a:moveTo>
                  <a:pt x="0" y="142875"/>
                </a:moveTo>
                <a:cubicBezTo>
                  <a:pt x="0" y="64020"/>
                  <a:pt x="64020" y="0"/>
                  <a:pt x="142875" y="0"/>
                </a:cubicBez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lose/>
                <a:moveTo>
                  <a:pt x="142875" y="187523"/>
                </a:moveTo>
                <a:cubicBezTo>
                  <a:pt x="167517" y="187523"/>
                  <a:pt x="187523" y="167517"/>
                  <a:pt x="187523" y="142875"/>
                </a:cubicBezTo>
                <a:cubicBezTo>
                  <a:pt x="187523" y="118233"/>
                  <a:pt x="167517" y="98227"/>
                  <a:pt x="142875" y="98227"/>
                </a:cubicBezTo>
                <a:cubicBezTo>
                  <a:pt x="118233" y="98227"/>
                  <a:pt x="98227" y="118233"/>
                  <a:pt x="98227" y="142875"/>
                </a:cubicBezTo>
                <a:cubicBezTo>
                  <a:pt x="98227" y="167517"/>
                  <a:pt x="118233" y="187523"/>
                  <a:pt x="142875" y="187523"/>
                </a:cubicBezTo>
                <a:close/>
                <a:moveTo>
                  <a:pt x="142875" y="62508"/>
                </a:moveTo>
                <a:cubicBezTo>
                  <a:pt x="187231" y="62508"/>
                  <a:pt x="223242" y="98519"/>
                  <a:pt x="223242" y="142875"/>
                </a:cubicBezTo>
                <a:cubicBezTo>
                  <a:pt x="223242" y="187231"/>
                  <a:pt x="187231" y="223242"/>
                  <a:pt x="142875" y="223242"/>
                </a:cubicBezTo>
                <a:cubicBezTo>
                  <a:pt x="98519" y="223242"/>
                  <a:pt x="62508" y="187231"/>
                  <a:pt x="62508" y="142875"/>
                </a:cubicBezTo>
                <a:cubicBezTo>
                  <a:pt x="62508" y="98519"/>
                  <a:pt x="98519" y="62508"/>
                  <a:pt x="142875" y="62508"/>
                </a:cubicBezTo>
                <a:close/>
                <a:moveTo>
                  <a:pt x="125016" y="142875"/>
                </a:moveTo>
                <a:cubicBezTo>
                  <a:pt x="125016" y="133018"/>
                  <a:pt x="133018" y="125016"/>
                  <a:pt x="142875" y="125016"/>
                </a:cubicBezTo>
                <a:cubicBezTo>
                  <a:pt x="152732" y="125016"/>
                  <a:pt x="160734" y="133018"/>
                  <a:pt x="160734" y="142875"/>
                </a:cubicBezTo>
                <a:cubicBezTo>
                  <a:pt x="160734" y="152732"/>
                  <a:pt x="152732" y="160734"/>
                  <a:pt x="142875" y="160734"/>
                </a:cubicBezTo>
                <a:cubicBezTo>
                  <a:pt x="133018" y="160734"/>
                  <a:pt x="125016" y="152732"/>
                  <a:pt x="125016" y="1428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042988" y="1543050"/>
            <a:ext cx="8277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阶段核心目标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42988" y="1847850"/>
            <a:ext cx="8267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完成项目立项审批、组建项目组、召开立项启动会,明确项目目标与成员分工,完成项目基础信息同步,为项目推进奠定基础。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1000" y="2400300"/>
            <a:ext cx="3705225" cy="1885950"/>
          </a:xfrm>
          <a:custGeom>
            <a:avLst/>
            <a:gdLst/>
            <a:ahLst/>
            <a:cxnLst/>
            <a:rect l="l" t="t" r="r" b="b"/>
            <a:pathLst>
              <a:path w="3705225" h="18859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771643"/>
                </a:lnTo>
                <a:cubicBezTo>
                  <a:pt x="3705225" y="1834773"/>
                  <a:pt x="3654048" y="1885950"/>
                  <a:pt x="3590918" y="1885950"/>
                </a:cubicBezTo>
                <a:lnTo>
                  <a:pt x="114307" y="1885950"/>
                </a:lnTo>
                <a:cubicBezTo>
                  <a:pt x="51177" y="1885950"/>
                  <a:pt x="0" y="1834773"/>
                  <a:pt x="0" y="177164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1000" y="240030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11" name="Shape 9"/>
          <p:cNvSpPr/>
          <p:nvPr/>
        </p:nvSpPr>
        <p:spPr>
          <a:xfrm>
            <a:off x="533400" y="2571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12" name="Text 10"/>
          <p:cNvSpPr/>
          <p:nvPr/>
        </p:nvSpPr>
        <p:spPr>
          <a:xfrm>
            <a:off x="490538" y="257175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28700" y="2628900"/>
            <a:ext cx="111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立项审批跟进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52450" y="31051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15" name="Text 13"/>
          <p:cNvSpPr/>
          <p:nvPr/>
        </p:nvSpPr>
        <p:spPr>
          <a:xfrm>
            <a:off x="800100" y="3067050"/>
            <a:ext cx="24574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确认项目分级符合MO商机分级标准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52450" y="3390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17" name="Text 15"/>
          <p:cNvSpPr/>
          <p:nvPr/>
        </p:nvSpPr>
        <p:spPr>
          <a:xfrm>
            <a:off x="800100" y="3352800"/>
            <a:ext cx="1600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跟进立项申请审批流程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52450" y="36766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19" name="Shape 17"/>
          <p:cNvSpPr/>
          <p:nvPr/>
        </p:nvSpPr>
        <p:spPr>
          <a:xfrm>
            <a:off x="800100" y="3638550"/>
            <a:ext cx="1679258" cy="205740"/>
          </a:xfrm>
          <a:custGeom>
            <a:avLst/>
            <a:gdLst/>
            <a:ahLst/>
            <a:cxnLst/>
            <a:rect l="l" t="t" r="r" b="b"/>
            <a:pathLst>
              <a:path w="1679258" h="205740">
                <a:moveTo>
                  <a:pt x="0" y="0"/>
                </a:moveTo>
                <a:lnTo>
                  <a:pt x="1679258" y="0"/>
                </a:lnTo>
                <a:lnTo>
                  <a:pt x="1679258" y="205740"/>
                </a:lnTo>
                <a:lnTo>
                  <a:pt x="0" y="205740"/>
                </a:lnTo>
                <a:lnTo>
                  <a:pt x="0" y="0"/>
                </a:lnTo>
                <a:close/>
              </a:path>
            </a:pathLst>
          </a:custGeom>
          <a:solidFill>
            <a:srgbClr val="FF6B35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00100" y="3638550"/>
            <a:ext cx="1755458" cy="20574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FF6B3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7天内完成立项评审决策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52450" y="3962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22" name="Text 20"/>
          <p:cNvSpPr/>
          <p:nvPr/>
        </p:nvSpPr>
        <p:spPr>
          <a:xfrm>
            <a:off x="800100" y="3924300"/>
            <a:ext cx="12954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及时协调解决问题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41721" y="2400300"/>
            <a:ext cx="3705225" cy="1885950"/>
          </a:xfrm>
          <a:custGeom>
            <a:avLst/>
            <a:gdLst/>
            <a:ahLst/>
            <a:cxnLst/>
            <a:rect l="l" t="t" r="r" b="b"/>
            <a:pathLst>
              <a:path w="3705225" h="18859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771643"/>
                </a:lnTo>
                <a:cubicBezTo>
                  <a:pt x="3705225" y="1834773"/>
                  <a:pt x="3654048" y="1885950"/>
                  <a:pt x="3590918" y="1885950"/>
                </a:cubicBezTo>
                <a:lnTo>
                  <a:pt x="114307" y="1885950"/>
                </a:lnTo>
                <a:cubicBezTo>
                  <a:pt x="51177" y="1885950"/>
                  <a:pt x="0" y="1834773"/>
                  <a:pt x="0" y="177164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241721" y="240030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25" name="Shape 23"/>
          <p:cNvSpPr/>
          <p:nvPr/>
        </p:nvSpPr>
        <p:spPr>
          <a:xfrm>
            <a:off x="4394121" y="2571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26" name="Text 24"/>
          <p:cNvSpPr/>
          <p:nvPr/>
        </p:nvSpPr>
        <p:spPr>
          <a:xfrm>
            <a:off x="4351258" y="257175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889421" y="2628900"/>
            <a:ext cx="942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项目组组建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413171" y="31051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29" name="Text 27"/>
          <p:cNvSpPr/>
          <p:nvPr/>
        </p:nvSpPr>
        <p:spPr>
          <a:xfrm>
            <a:off x="4660821" y="306705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按项目分级要求组建项目组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413171" y="3390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31" name="Text 29"/>
          <p:cNvSpPr/>
          <p:nvPr/>
        </p:nvSpPr>
        <p:spPr>
          <a:xfrm>
            <a:off x="4660821" y="3352800"/>
            <a:ext cx="2762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明确项目铁三角(销售、技术、客户关系)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413171" y="36766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33" name="Text 31"/>
          <p:cNvSpPr/>
          <p:nvPr/>
        </p:nvSpPr>
        <p:spPr>
          <a:xfrm>
            <a:off x="4660821" y="3638550"/>
            <a:ext cx="1600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确定其他关键参与人员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413171" y="3962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35" name="Text 33"/>
          <p:cNvSpPr/>
          <p:nvPr/>
        </p:nvSpPr>
        <p:spPr>
          <a:xfrm>
            <a:off x="4660821" y="3924300"/>
            <a:ext cx="20574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通过飞书项目群建立沟通载体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102561" y="2400300"/>
            <a:ext cx="3705225" cy="1885950"/>
          </a:xfrm>
          <a:custGeom>
            <a:avLst/>
            <a:gdLst/>
            <a:ahLst/>
            <a:cxnLst/>
            <a:rect l="l" t="t" r="r" b="b"/>
            <a:pathLst>
              <a:path w="3705225" h="18859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771643"/>
                </a:lnTo>
                <a:cubicBezTo>
                  <a:pt x="3705225" y="1834773"/>
                  <a:pt x="3654048" y="1885950"/>
                  <a:pt x="3590918" y="1885950"/>
                </a:cubicBezTo>
                <a:lnTo>
                  <a:pt x="114307" y="1885950"/>
                </a:lnTo>
                <a:cubicBezTo>
                  <a:pt x="51177" y="1885950"/>
                  <a:pt x="0" y="1834773"/>
                  <a:pt x="0" y="177164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102561" y="240030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38" name="Shape 36"/>
          <p:cNvSpPr/>
          <p:nvPr/>
        </p:nvSpPr>
        <p:spPr>
          <a:xfrm>
            <a:off x="8254961" y="2571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39" name="Text 37"/>
          <p:cNvSpPr/>
          <p:nvPr/>
        </p:nvSpPr>
        <p:spPr>
          <a:xfrm>
            <a:off x="8212098" y="257175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750261" y="2628900"/>
            <a:ext cx="942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启动会组织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274011" y="31051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42" name="Shape 40"/>
          <p:cNvSpPr/>
          <p:nvPr/>
        </p:nvSpPr>
        <p:spPr>
          <a:xfrm>
            <a:off x="8521661" y="3067050"/>
            <a:ext cx="1831658" cy="205740"/>
          </a:xfrm>
          <a:custGeom>
            <a:avLst/>
            <a:gdLst/>
            <a:ahLst/>
            <a:cxnLst/>
            <a:rect l="l" t="t" r="r" b="b"/>
            <a:pathLst>
              <a:path w="1831658" h="205740">
                <a:moveTo>
                  <a:pt x="0" y="0"/>
                </a:moveTo>
                <a:lnTo>
                  <a:pt x="1831658" y="0"/>
                </a:lnTo>
                <a:lnTo>
                  <a:pt x="1831658" y="205740"/>
                </a:lnTo>
                <a:lnTo>
                  <a:pt x="0" y="205740"/>
                </a:lnTo>
                <a:lnTo>
                  <a:pt x="0" y="0"/>
                </a:lnTo>
                <a:close/>
              </a:path>
            </a:pathLst>
          </a:custGeom>
          <a:solidFill>
            <a:srgbClr val="FF6B35">
              <a:alpha val="2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8521661" y="3067050"/>
            <a:ext cx="1907858" cy="20574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FF6B3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7天内组织召开立项启动会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274011" y="3390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45" name="Text 43"/>
          <p:cNvSpPr/>
          <p:nvPr/>
        </p:nvSpPr>
        <p:spPr>
          <a:xfrm>
            <a:off x="8521661" y="3352800"/>
            <a:ext cx="1600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完成项目基础资料准备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274011" y="36766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47" name="Text 45"/>
          <p:cNvSpPr/>
          <p:nvPr/>
        </p:nvSpPr>
        <p:spPr>
          <a:xfrm>
            <a:off x="8521661" y="3638550"/>
            <a:ext cx="2209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明确项目目标、分工及关键动作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274011" y="3962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49" name="Text 47"/>
          <p:cNvSpPr/>
          <p:nvPr/>
        </p:nvSpPr>
        <p:spPr>
          <a:xfrm>
            <a:off x="8521661" y="3924300"/>
            <a:ext cx="16668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CRM留痕,上传飞书文档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00050" y="4438650"/>
            <a:ext cx="5619750" cy="990600"/>
          </a:xfrm>
          <a:custGeom>
            <a:avLst/>
            <a:gdLst/>
            <a:ahLst/>
            <a:cxnLst/>
            <a:rect l="l" t="t" r="r" b="b"/>
            <a:pathLst>
              <a:path w="5619750" h="990600">
                <a:moveTo>
                  <a:pt x="38100" y="0"/>
                </a:moveTo>
                <a:lnTo>
                  <a:pt x="5505455" y="0"/>
                </a:lnTo>
                <a:cubicBezTo>
                  <a:pt x="5568536" y="0"/>
                  <a:pt x="5619750" y="51214"/>
                  <a:pt x="5619750" y="114295"/>
                </a:cubicBezTo>
                <a:lnTo>
                  <a:pt x="5619750" y="876305"/>
                </a:lnTo>
                <a:cubicBezTo>
                  <a:pt x="5619750" y="939386"/>
                  <a:pt x="5568536" y="990600"/>
                  <a:pt x="5505455" y="990600"/>
                </a:cubicBez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35">
              <a:alpha val="10196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400050" y="4438650"/>
            <a:ext cx="38100" cy="990600"/>
          </a:xfrm>
          <a:custGeom>
            <a:avLst/>
            <a:gdLst/>
            <a:ahLst/>
            <a:cxnLst/>
            <a:rect l="l" t="t" r="r" b="b"/>
            <a:pathLst>
              <a:path w="38100" h="990600">
                <a:moveTo>
                  <a:pt x="38100" y="0"/>
                </a:moveTo>
                <a:lnTo>
                  <a:pt x="38100" y="0"/>
                </a:lnTo>
                <a:lnTo>
                  <a:pt x="38100" y="990600"/>
                </a:ln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2" name="Shape 50"/>
          <p:cNvSpPr/>
          <p:nvPr/>
        </p:nvSpPr>
        <p:spPr>
          <a:xfrm>
            <a:off x="571500" y="46291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3" name="Text 51"/>
          <p:cNvSpPr/>
          <p:nvPr/>
        </p:nvSpPr>
        <p:spPr>
          <a:xfrm>
            <a:off x="914400" y="459105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硬性要求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914400" y="4857750"/>
            <a:ext cx="5029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立项审批通过后7天内组织召开立项启动会(第一次项目分析会),此为MO流程硬性要求,</a:t>
            </a:r>
            <a:r>
              <a:rPr lang="en-US" sz="1200" b="1" dirty="0">
                <a:solidFill>
                  <a:srgbClr val="FF6B35"/>
                </a:solidFill>
                <a:highlight>
                  <a:srgbClr val="FF6B35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不得拖延 </a:t>
            </a: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191250" y="4438650"/>
            <a:ext cx="5619750" cy="990600"/>
          </a:xfrm>
          <a:custGeom>
            <a:avLst/>
            <a:gdLst/>
            <a:ahLst/>
            <a:cxnLst/>
            <a:rect l="l" t="t" r="r" b="b"/>
            <a:pathLst>
              <a:path w="5619750" h="990600">
                <a:moveTo>
                  <a:pt x="38100" y="0"/>
                </a:moveTo>
                <a:lnTo>
                  <a:pt x="5505455" y="0"/>
                </a:lnTo>
                <a:cubicBezTo>
                  <a:pt x="5568536" y="0"/>
                  <a:pt x="5619750" y="51214"/>
                  <a:pt x="5619750" y="114295"/>
                </a:cubicBezTo>
                <a:lnTo>
                  <a:pt x="5619750" y="876305"/>
                </a:lnTo>
                <a:cubicBezTo>
                  <a:pt x="5619750" y="939386"/>
                  <a:pt x="5568536" y="990600"/>
                  <a:pt x="5505455" y="990600"/>
                </a:cubicBez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2CC">
              <a:alpha val="10196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191250" y="4438650"/>
            <a:ext cx="38100" cy="990600"/>
          </a:xfrm>
          <a:custGeom>
            <a:avLst/>
            <a:gdLst/>
            <a:ahLst/>
            <a:cxnLst/>
            <a:rect l="l" t="t" r="r" b="b"/>
            <a:pathLst>
              <a:path w="38100" h="990600">
                <a:moveTo>
                  <a:pt x="38100" y="0"/>
                </a:moveTo>
                <a:lnTo>
                  <a:pt x="38100" y="0"/>
                </a:lnTo>
                <a:lnTo>
                  <a:pt x="38100" y="990600"/>
                </a:ln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57" name="Shape 55"/>
          <p:cNvSpPr/>
          <p:nvPr/>
        </p:nvSpPr>
        <p:spPr>
          <a:xfrm>
            <a:off x="6391275" y="46291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58" name="Text 56"/>
          <p:cNvSpPr/>
          <p:nvPr/>
        </p:nvSpPr>
        <p:spPr>
          <a:xfrm>
            <a:off x="6705600" y="459105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关键提示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705600" y="4857750"/>
            <a:ext cx="5029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启动会前完成项目基础资料准备(含MANT+P信息、客户需求、项目分级、预计节点等),确保会议高效有成果。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0849" y="350849"/>
            <a:ext cx="11560472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b="1" kern="0" spc="111" dirty="0">
                <a:solidFill>
                  <a:srgbClr val="00B8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PHASE 02 · OPPORTUNITY ADVANCEMENT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0849" y="631528"/>
            <a:ext cx="11648184" cy="350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86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商机推进阶段:聚焦需求,制定策略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0849" y="1087632"/>
            <a:ext cx="701698" cy="52627"/>
          </a:xfrm>
          <a:custGeom>
            <a:avLst/>
            <a:gdLst/>
            <a:ahLst/>
            <a:cxnLst/>
            <a:rect l="l" t="t" r="r" b="b"/>
            <a:pathLst>
              <a:path w="701698" h="52627">
                <a:moveTo>
                  <a:pt x="0" y="0"/>
                </a:moveTo>
                <a:lnTo>
                  <a:pt x="701698" y="0"/>
                </a:lnTo>
                <a:lnTo>
                  <a:pt x="701698" y="52627"/>
                </a:lnTo>
                <a:lnTo>
                  <a:pt x="0" y="52627"/>
                </a:lnTo>
                <a:lnTo>
                  <a:pt x="0" y="0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350849" y="1280599"/>
            <a:ext cx="11490302" cy="771868"/>
          </a:xfrm>
          <a:custGeom>
            <a:avLst/>
            <a:gdLst/>
            <a:ahLst/>
            <a:cxnLst/>
            <a:rect l="l" t="t" r="r" b="b"/>
            <a:pathLst>
              <a:path w="11490302" h="771868">
                <a:moveTo>
                  <a:pt x="105252" y="0"/>
                </a:moveTo>
                <a:lnTo>
                  <a:pt x="11385050" y="0"/>
                </a:lnTo>
                <a:cubicBezTo>
                  <a:pt x="11443179" y="0"/>
                  <a:pt x="11490302" y="47123"/>
                  <a:pt x="11490302" y="105252"/>
                </a:cubicBezTo>
                <a:lnTo>
                  <a:pt x="11490302" y="666616"/>
                </a:lnTo>
                <a:cubicBezTo>
                  <a:pt x="11490302" y="724745"/>
                  <a:pt x="11443179" y="771868"/>
                  <a:pt x="11385050" y="771868"/>
                </a:cubicBezTo>
                <a:lnTo>
                  <a:pt x="105252" y="771868"/>
                </a:lnTo>
                <a:cubicBezTo>
                  <a:pt x="47123" y="771868"/>
                  <a:pt x="0" y="724745"/>
                  <a:pt x="0" y="666616"/>
                </a:cubicBezTo>
                <a:lnTo>
                  <a:pt x="0" y="105252"/>
                </a:lnTo>
                <a:cubicBezTo>
                  <a:pt x="0" y="47162"/>
                  <a:pt x="47162" y="0"/>
                  <a:pt x="105252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6" name="Shape 4"/>
          <p:cNvSpPr/>
          <p:nvPr/>
        </p:nvSpPr>
        <p:spPr>
          <a:xfrm>
            <a:off x="526273" y="1534964"/>
            <a:ext cx="263137" cy="263137"/>
          </a:xfrm>
          <a:custGeom>
            <a:avLst/>
            <a:gdLst/>
            <a:ahLst/>
            <a:cxnLst/>
            <a:rect l="l" t="t" r="r" b="b"/>
            <a:pathLst>
              <a:path w="263137" h="263137">
                <a:moveTo>
                  <a:pt x="230245" y="131568"/>
                </a:moveTo>
                <a:cubicBezTo>
                  <a:pt x="230245" y="77107"/>
                  <a:pt x="186029" y="32892"/>
                  <a:pt x="131568" y="32892"/>
                </a:cubicBezTo>
                <a:cubicBezTo>
                  <a:pt x="77107" y="32892"/>
                  <a:pt x="32892" y="77107"/>
                  <a:pt x="32892" y="131568"/>
                </a:cubicBezTo>
                <a:cubicBezTo>
                  <a:pt x="32892" y="186029"/>
                  <a:pt x="77107" y="230245"/>
                  <a:pt x="131568" y="230245"/>
                </a:cubicBezTo>
                <a:cubicBezTo>
                  <a:pt x="186029" y="230245"/>
                  <a:pt x="230245" y="186029"/>
                  <a:pt x="230245" y="131568"/>
                </a:cubicBezTo>
                <a:close/>
                <a:moveTo>
                  <a:pt x="0" y="131568"/>
                </a:moveTo>
                <a:cubicBezTo>
                  <a:pt x="0" y="58954"/>
                  <a:pt x="58954" y="0"/>
                  <a:pt x="131568" y="0"/>
                </a:cubicBezTo>
                <a:cubicBezTo>
                  <a:pt x="204183" y="0"/>
                  <a:pt x="263137" y="58954"/>
                  <a:pt x="263137" y="131568"/>
                </a:cubicBezTo>
                <a:cubicBezTo>
                  <a:pt x="263137" y="204183"/>
                  <a:pt x="204183" y="263137"/>
                  <a:pt x="131568" y="263137"/>
                </a:cubicBezTo>
                <a:cubicBezTo>
                  <a:pt x="58954" y="263137"/>
                  <a:pt x="0" y="204183"/>
                  <a:pt x="0" y="131568"/>
                </a:cubicBezTo>
                <a:close/>
                <a:moveTo>
                  <a:pt x="131568" y="172683"/>
                </a:moveTo>
                <a:cubicBezTo>
                  <a:pt x="154260" y="172683"/>
                  <a:pt x="172683" y="154260"/>
                  <a:pt x="172683" y="131568"/>
                </a:cubicBezTo>
                <a:cubicBezTo>
                  <a:pt x="172683" y="108876"/>
                  <a:pt x="154260" y="90453"/>
                  <a:pt x="131568" y="90453"/>
                </a:cubicBezTo>
                <a:cubicBezTo>
                  <a:pt x="108876" y="90453"/>
                  <a:pt x="90453" y="108876"/>
                  <a:pt x="90453" y="131568"/>
                </a:cubicBezTo>
                <a:cubicBezTo>
                  <a:pt x="90453" y="154260"/>
                  <a:pt x="108876" y="172683"/>
                  <a:pt x="131568" y="172683"/>
                </a:cubicBezTo>
                <a:close/>
                <a:moveTo>
                  <a:pt x="131568" y="57561"/>
                </a:moveTo>
                <a:cubicBezTo>
                  <a:pt x="172414" y="57561"/>
                  <a:pt x="205576" y="90723"/>
                  <a:pt x="205576" y="131568"/>
                </a:cubicBezTo>
                <a:cubicBezTo>
                  <a:pt x="205576" y="172414"/>
                  <a:pt x="172414" y="205576"/>
                  <a:pt x="131568" y="205576"/>
                </a:cubicBezTo>
                <a:cubicBezTo>
                  <a:pt x="90723" y="205576"/>
                  <a:pt x="57561" y="172414"/>
                  <a:pt x="57561" y="131568"/>
                </a:cubicBezTo>
                <a:cubicBezTo>
                  <a:pt x="57561" y="90723"/>
                  <a:pt x="90723" y="57561"/>
                  <a:pt x="131568" y="57561"/>
                </a:cubicBezTo>
                <a:close/>
                <a:moveTo>
                  <a:pt x="115122" y="131568"/>
                </a:moveTo>
                <a:cubicBezTo>
                  <a:pt x="115122" y="122492"/>
                  <a:pt x="122492" y="115122"/>
                  <a:pt x="131568" y="115122"/>
                </a:cubicBezTo>
                <a:cubicBezTo>
                  <a:pt x="140645" y="115122"/>
                  <a:pt x="148014" y="122492"/>
                  <a:pt x="148014" y="131568"/>
                </a:cubicBezTo>
                <a:cubicBezTo>
                  <a:pt x="148014" y="140645"/>
                  <a:pt x="140645" y="148014"/>
                  <a:pt x="131568" y="148014"/>
                </a:cubicBezTo>
                <a:cubicBezTo>
                  <a:pt x="122492" y="148014"/>
                  <a:pt x="115122" y="140645"/>
                  <a:pt x="115122" y="13156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960449" y="1420938"/>
            <a:ext cx="8639655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3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阶段核心目标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449" y="1701617"/>
            <a:ext cx="8630883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带领项目组深入分析客户需求,制定价值主张与赢单策略,完成解决方案编制与评审,引导客户决策标准向我司倾斜,为投标工作奠定策略基础。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8391" y="2192806"/>
            <a:ext cx="5657439" cy="1806872"/>
          </a:xfrm>
          <a:custGeom>
            <a:avLst/>
            <a:gdLst/>
            <a:ahLst/>
            <a:cxnLst/>
            <a:rect l="l" t="t" r="r" b="b"/>
            <a:pathLst>
              <a:path w="5657439" h="1806872">
                <a:moveTo>
                  <a:pt x="35085" y="0"/>
                </a:moveTo>
                <a:lnTo>
                  <a:pt x="5552189" y="0"/>
                </a:lnTo>
                <a:cubicBezTo>
                  <a:pt x="5610317" y="0"/>
                  <a:pt x="5657439" y="47122"/>
                  <a:pt x="5657439" y="105250"/>
                </a:cubicBezTo>
                <a:lnTo>
                  <a:pt x="5657439" y="1701622"/>
                </a:lnTo>
                <a:cubicBezTo>
                  <a:pt x="5657439" y="1759750"/>
                  <a:pt x="5610317" y="1806872"/>
                  <a:pt x="5552189" y="1806872"/>
                </a:cubicBezTo>
                <a:lnTo>
                  <a:pt x="35085" y="1806872"/>
                </a:lnTo>
                <a:cubicBezTo>
                  <a:pt x="15708" y="1806872"/>
                  <a:pt x="0" y="1791164"/>
                  <a:pt x="0" y="1771787"/>
                </a:cubicBezTo>
                <a:lnTo>
                  <a:pt x="0" y="35085"/>
                </a:lnTo>
                <a:cubicBezTo>
                  <a:pt x="0" y="15708"/>
                  <a:pt x="15708" y="0"/>
                  <a:pt x="3508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1568" dist="8771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8391" y="2192806"/>
            <a:ext cx="35085" cy="1806872"/>
          </a:xfrm>
          <a:custGeom>
            <a:avLst/>
            <a:gdLst/>
            <a:ahLst/>
            <a:cxnLst/>
            <a:rect l="l" t="t" r="r" b="b"/>
            <a:pathLst>
              <a:path w="35085" h="1806872">
                <a:moveTo>
                  <a:pt x="35085" y="0"/>
                </a:moveTo>
                <a:lnTo>
                  <a:pt x="35085" y="0"/>
                </a:lnTo>
                <a:lnTo>
                  <a:pt x="35085" y="1806872"/>
                </a:lnTo>
                <a:lnTo>
                  <a:pt x="35085" y="1806872"/>
                </a:lnTo>
                <a:cubicBezTo>
                  <a:pt x="15708" y="1806872"/>
                  <a:pt x="0" y="1791164"/>
                  <a:pt x="0" y="1771787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11" name="Shape 9"/>
          <p:cNvSpPr/>
          <p:nvPr/>
        </p:nvSpPr>
        <p:spPr>
          <a:xfrm>
            <a:off x="526273" y="2333145"/>
            <a:ext cx="350849" cy="350849"/>
          </a:xfrm>
          <a:custGeom>
            <a:avLst/>
            <a:gdLst/>
            <a:ahLst/>
            <a:cxnLst/>
            <a:rect l="l" t="t" r="r" b="b"/>
            <a:pathLst>
              <a:path w="350849" h="350849">
                <a:moveTo>
                  <a:pt x="70170" y="0"/>
                </a:moveTo>
                <a:lnTo>
                  <a:pt x="280679" y="0"/>
                </a:lnTo>
                <a:cubicBezTo>
                  <a:pt x="319433" y="0"/>
                  <a:pt x="350849" y="31416"/>
                  <a:pt x="350849" y="70170"/>
                </a:cubicBezTo>
                <a:lnTo>
                  <a:pt x="350849" y="280679"/>
                </a:lnTo>
                <a:cubicBezTo>
                  <a:pt x="350849" y="319433"/>
                  <a:pt x="319433" y="350849"/>
                  <a:pt x="280679" y="350849"/>
                </a:cubicBezTo>
                <a:lnTo>
                  <a:pt x="70170" y="350849"/>
                </a:lnTo>
                <a:cubicBezTo>
                  <a:pt x="31416" y="350849"/>
                  <a:pt x="0" y="319433"/>
                  <a:pt x="0" y="280679"/>
                </a:cubicBezTo>
                <a:lnTo>
                  <a:pt x="0" y="70170"/>
                </a:lnTo>
                <a:cubicBezTo>
                  <a:pt x="0" y="31442"/>
                  <a:pt x="31442" y="0"/>
                  <a:pt x="70170" y="0"/>
                </a:cubicBezTo>
                <a:close/>
              </a:path>
            </a:pathLst>
          </a:custGeom>
          <a:solidFill>
            <a:srgbClr val="0052CC">
              <a:alpha val="1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92058" y="2420858"/>
            <a:ext cx="219281" cy="175424"/>
          </a:xfrm>
          <a:custGeom>
            <a:avLst/>
            <a:gdLst/>
            <a:ahLst/>
            <a:cxnLst/>
            <a:rect l="l" t="t" r="r" b="b"/>
            <a:pathLst>
              <a:path w="219281" h="175424">
                <a:moveTo>
                  <a:pt x="109640" y="5482"/>
                </a:moveTo>
                <a:cubicBezTo>
                  <a:pt x="129307" y="5482"/>
                  <a:pt x="145273" y="21449"/>
                  <a:pt x="145273" y="41115"/>
                </a:cubicBezTo>
                <a:cubicBezTo>
                  <a:pt x="145273" y="60782"/>
                  <a:pt x="129307" y="76748"/>
                  <a:pt x="109640" y="76748"/>
                </a:cubicBezTo>
                <a:cubicBezTo>
                  <a:pt x="89974" y="76748"/>
                  <a:pt x="74007" y="60782"/>
                  <a:pt x="74007" y="41115"/>
                </a:cubicBezTo>
                <a:cubicBezTo>
                  <a:pt x="74007" y="21449"/>
                  <a:pt x="89974" y="5482"/>
                  <a:pt x="109640" y="5482"/>
                </a:cubicBezTo>
                <a:close/>
                <a:moveTo>
                  <a:pt x="32892" y="30151"/>
                </a:moveTo>
                <a:cubicBezTo>
                  <a:pt x="46507" y="30151"/>
                  <a:pt x="57561" y="41205"/>
                  <a:pt x="57561" y="54820"/>
                </a:cubicBezTo>
                <a:cubicBezTo>
                  <a:pt x="57561" y="68435"/>
                  <a:pt x="46507" y="79489"/>
                  <a:pt x="32892" y="79489"/>
                </a:cubicBezTo>
                <a:cubicBezTo>
                  <a:pt x="19277" y="79489"/>
                  <a:pt x="8223" y="68435"/>
                  <a:pt x="8223" y="54820"/>
                </a:cubicBezTo>
                <a:cubicBezTo>
                  <a:pt x="8223" y="41205"/>
                  <a:pt x="19277" y="30151"/>
                  <a:pt x="32892" y="30151"/>
                </a:cubicBezTo>
                <a:close/>
                <a:moveTo>
                  <a:pt x="0" y="142532"/>
                </a:moveTo>
                <a:cubicBezTo>
                  <a:pt x="0" y="118309"/>
                  <a:pt x="19632" y="98676"/>
                  <a:pt x="43856" y="98676"/>
                </a:cubicBezTo>
                <a:cubicBezTo>
                  <a:pt x="48242" y="98676"/>
                  <a:pt x="52490" y="99327"/>
                  <a:pt x="56499" y="100526"/>
                </a:cubicBezTo>
                <a:cubicBezTo>
                  <a:pt x="45227" y="113135"/>
                  <a:pt x="38374" y="129787"/>
                  <a:pt x="38374" y="148014"/>
                </a:cubicBezTo>
                <a:lnTo>
                  <a:pt x="38374" y="153496"/>
                </a:lnTo>
                <a:cubicBezTo>
                  <a:pt x="38374" y="157402"/>
                  <a:pt x="39196" y="161103"/>
                  <a:pt x="40670" y="164460"/>
                </a:cubicBezTo>
                <a:lnTo>
                  <a:pt x="10964" y="164460"/>
                </a:lnTo>
                <a:cubicBezTo>
                  <a:pt x="4900" y="164460"/>
                  <a:pt x="0" y="159561"/>
                  <a:pt x="0" y="153496"/>
                </a:cubicBezTo>
                <a:lnTo>
                  <a:pt x="0" y="142532"/>
                </a:lnTo>
                <a:close/>
                <a:moveTo>
                  <a:pt x="178611" y="164460"/>
                </a:moveTo>
                <a:cubicBezTo>
                  <a:pt x="180084" y="161103"/>
                  <a:pt x="180906" y="157402"/>
                  <a:pt x="180906" y="153496"/>
                </a:cubicBezTo>
                <a:lnTo>
                  <a:pt x="180906" y="148014"/>
                </a:lnTo>
                <a:cubicBezTo>
                  <a:pt x="180906" y="129787"/>
                  <a:pt x="174054" y="113135"/>
                  <a:pt x="162782" y="100526"/>
                </a:cubicBezTo>
                <a:cubicBezTo>
                  <a:pt x="166790" y="99327"/>
                  <a:pt x="171039" y="98676"/>
                  <a:pt x="175424" y="98676"/>
                </a:cubicBezTo>
                <a:cubicBezTo>
                  <a:pt x="199648" y="98676"/>
                  <a:pt x="219281" y="118309"/>
                  <a:pt x="219281" y="142532"/>
                </a:cubicBezTo>
                <a:lnTo>
                  <a:pt x="219281" y="153496"/>
                </a:lnTo>
                <a:cubicBezTo>
                  <a:pt x="219281" y="159561"/>
                  <a:pt x="214381" y="164460"/>
                  <a:pt x="208317" y="164460"/>
                </a:cubicBezTo>
                <a:lnTo>
                  <a:pt x="178611" y="164460"/>
                </a:lnTo>
                <a:close/>
                <a:moveTo>
                  <a:pt x="161719" y="54820"/>
                </a:moveTo>
                <a:cubicBezTo>
                  <a:pt x="161719" y="41205"/>
                  <a:pt x="172773" y="30151"/>
                  <a:pt x="186388" y="30151"/>
                </a:cubicBezTo>
                <a:cubicBezTo>
                  <a:pt x="200004" y="30151"/>
                  <a:pt x="211058" y="41205"/>
                  <a:pt x="211058" y="54820"/>
                </a:cubicBezTo>
                <a:cubicBezTo>
                  <a:pt x="211058" y="68435"/>
                  <a:pt x="200004" y="79489"/>
                  <a:pt x="186388" y="79489"/>
                </a:cubicBezTo>
                <a:cubicBezTo>
                  <a:pt x="172773" y="79489"/>
                  <a:pt x="161719" y="68435"/>
                  <a:pt x="161719" y="54820"/>
                </a:cubicBezTo>
                <a:close/>
                <a:moveTo>
                  <a:pt x="54820" y="148014"/>
                </a:moveTo>
                <a:cubicBezTo>
                  <a:pt x="54820" y="117726"/>
                  <a:pt x="79352" y="93194"/>
                  <a:pt x="109640" y="93194"/>
                </a:cubicBezTo>
                <a:cubicBezTo>
                  <a:pt x="139928" y="93194"/>
                  <a:pt x="164460" y="117726"/>
                  <a:pt x="164460" y="148014"/>
                </a:cubicBezTo>
                <a:lnTo>
                  <a:pt x="164460" y="153496"/>
                </a:lnTo>
                <a:cubicBezTo>
                  <a:pt x="164460" y="159561"/>
                  <a:pt x="159561" y="164460"/>
                  <a:pt x="153496" y="164460"/>
                </a:cubicBezTo>
                <a:lnTo>
                  <a:pt x="65784" y="164460"/>
                </a:lnTo>
                <a:cubicBezTo>
                  <a:pt x="59720" y="164460"/>
                  <a:pt x="54820" y="159561"/>
                  <a:pt x="54820" y="153496"/>
                </a:cubicBezTo>
                <a:lnTo>
                  <a:pt x="54820" y="148014"/>
                </a:ln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13" name="Text 11"/>
          <p:cNvSpPr/>
          <p:nvPr/>
        </p:nvSpPr>
        <p:spPr>
          <a:xfrm>
            <a:off x="982377" y="2385773"/>
            <a:ext cx="1499879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3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项目分析会统筹组织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26273" y="2806791"/>
            <a:ext cx="210509" cy="210509"/>
          </a:xfrm>
          <a:custGeom>
            <a:avLst/>
            <a:gdLst/>
            <a:ahLst/>
            <a:cxnLst/>
            <a:rect l="l" t="t" r="r" b="b"/>
            <a:pathLst>
              <a:path w="210509" h="210509">
                <a:moveTo>
                  <a:pt x="105255" y="0"/>
                </a:moveTo>
                <a:lnTo>
                  <a:pt x="105255" y="0"/>
                </a:lnTo>
                <a:cubicBezTo>
                  <a:pt x="163346" y="0"/>
                  <a:pt x="210509" y="47163"/>
                  <a:pt x="210509" y="105255"/>
                </a:cubicBezTo>
                <a:lnTo>
                  <a:pt x="210509" y="105255"/>
                </a:lnTo>
                <a:cubicBezTo>
                  <a:pt x="210509" y="163346"/>
                  <a:pt x="163346" y="210509"/>
                  <a:pt x="105255" y="210509"/>
                </a:cubicBezTo>
                <a:lnTo>
                  <a:pt x="105255" y="210509"/>
                </a:lnTo>
                <a:cubicBezTo>
                  <a:pt x="47163" y="210509"/>
                  <a:pt x="0" y="163346"/>
                  <a:pt x="0" y="105255"/>
                </a:cubicBezTo>
                <a:lnTo>
                  <a:pt x="0" y="105255"/>
                </a:lnTo>
                <a:cubicBezTo>
                  <a:pt x="0" y="47163"/>
                  <a:pt x="47163" y="0"/>
                  <a:pt x="105255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15" name="Text 13"/>
          <p:cNvSpPr/>
          <p:nvPr/>
        </p:nvSpPr>
        <p:spPr>
          <a:xfrm>
            <a:off x="499960" y="2806791"/>
            <a:ext cx="263137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06953" y="2789249"/>
            <a:ext cx="3578659" cy="192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牵头组织价值主张制定、招标策略分析等各类项目分析会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26273" y="3087471"/>
            <a:ext cx="210509" cy="210509"/>
          </a:xfrm>
          <a:custGeom>
            <a:avLst/>
            <a:gdLst/>
            <a:ahLst/>
            <a:cxnLst/>
            <a:rect l="l" t="t" r="r" b="b"/>
            <a:pathLst>
              <a:path w="210509" h="210509">
                <a:moveTo>
                  <a:pt x="105255" y="0"/>
                </a:moveTo>
                <a:lnTo>
                  <a:pt x="105255" y="0"/>
                </a:lnTo>
                <a:cubicBezTo>
                  <a:pt x="163346" y="0"/>
                  <a:pt x="210509" y="47163"/>
                  <a:pt x="210509" y="105255"/>
                </a:cubicBezTo>
                <a:lnTo>
                  <a:pt x="210509" y="105255"/>
                </a:lnTo>
                <a:cubicBezTo>
                  <a:pt x="210509" y="163346"/>
                  <a:pt x="163346" y="210509"/>
                  <a:pt x="105255" y="210509"/>
                </a:cubicBezTo>
                <a:lnTo>
                  <a:pt x="105255" y="210509"/>
                </a:lnTo>
                <a:cubicBezTo>
                  <a:pt x="47163" y="210509"/>
                  <a:pt x="0" y="163346"/>
                  <a:pt x="0" y="105255"/>
                </a:cubicBezTo>
                <a:lnTo>
                  <a:pt x="0" y="105255"/>
                </a:lnTo>
                <a:cubicBezTo>
                  <a:pt x="0" y="47163"/>
                  <a:pt x="47163" y="0"/>
                  <a:pt x="105255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18" name="Text 16"/>
          <p:cNvSpPr/>
          <p:nvPr/>
        </p:nvSpPr>
        <p:spPr>
          <a:xfrm>
            <a:off x="499960" y="3087471"/>
            <a:ext cx="263137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06953" y="3069928"/>
            <a:ext cx="2771706" cy="192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会议前明确讨论议题,提前组织准备相关资料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26273" y="3368150"/>
            <a:ext cx="210509" cy="210509"/>
          </a:xfrm>
          <a:custGeom>
            <a:avLst/>
            <a:gdLst/>
            <a:ahLst/>
            <a:cxnLst/>
            <a:rect l="l" t="t" r="r" b="b"/>
            <a:pathLst>
              <a:path w="210509" h="210509">
                <a:moveTo>
                  <a:pt x="105255" y="0"/>
                </a:moveTo>
                <a:lnTo>
                  <a:pt x="105255" y="0"/>
                </a:lnTo>
                <a:cubicBezTo>
                  <a:pt x="163346" y="0"/>
                  <a:pt x="210509" y="47163"/>
                  <a:pt x="210509" y="105255"/>
                </a:cubicBezTo>
                <a:lnTo>
                  <a:pt x="210509" y="105255"/>
                </a:lnTo>
                <a:cubicBezTo>
                  <a:pt x="210509" y="163346"/>
                  <a:pt x="163346" y="210509"/>
                  <a:pt x="105255" y="210509"/>
                </a:cubicBezTo>
                <a:lnTo>
                  <a:pt x="105255" y="210509"/>
                </a:lnTo>
                <a:cubicBezTo>
                  <a:pt x="47163" y="210509"/>
                  <a:pt x="0" y="163346"/>
                  <a:pt x="0" y="105255"/>
                </a:cubicBezTo>
                <a:lnTo>
                  <a:pt x="0" y="105255"/>
                </a:lnTo>
                <a:cubicBezTo>
                  <a:pt x="0" y="47163"/>
                  <a:pt x="47163" y="0"/>
                  <a:pt x="105255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21" name="Text 19"/>
          <p:cNvSpPr/>
          <p:nvPr/>
        </p:nvSpPr>
        <p:spPr>
          <a:xfrm>
            <a:off x="499960" y="3368150"/>
            <a:ext cx="263137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6953" y="3350607"/>
            <a:ext cx="3192725" cy="192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会议中引导团队达成共识,确定价值主张与赢单策略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26273" y="3648829"/>
            <a:ext cx="210509" cy="210509"/>
          </a:xfrm>
          <a:custGeom>
            <a:avLst/>
            <a:gdLst/>
            <a:ahLst/>
            <a:cxnLst/>
            <a:rect l="l" t="t" r="r" b="b"/>
            <a:pathLst>
              <a:path w="210509" h="210509">
                <a:moveTo>
                  <a:pt x="105255" y="0"/>
                </a:moveTo>
                <a:lnTo>
                  <a:pt x="105255" y="0"/>
                </a:lnTo>
                <a:cubicBezTo>
                  <a:pt x="163346" y="0"/>
                  <a:pt x="210509" y="47163"/>
                  <a:pt x="210509" y="105255"/>
                </a:cubicBezTo>
                <a:lnTo>
                  <a:pt x="210509" y="105255"/>
                </a:lnTo>
                <a:cubicBezTo>
                  <a:pt x="210509" y="163346"/>
                  <a:pt x="163346" y="210509"/>
                  <a:pt x="105255" y="210509"/>
                </a:cubicBezTo>
                <a:lnTo>
                  <a:pt x="105255" y="210509"/>
                </a:lnTo>
                <a:cubicBezTo>
                  <a:pt x="47163" y="210509"/>
                  <a:pt x="0" y="163346"/>
                  <a:pt x="0" y="105255"/>
                </a:cubicBezTo>
                <a:lnTo>
                  <a:pt x="0" y="105255"/>
                </a:lnTo>
                <a:cubicBezTo>
                  <a:pt x="0" y="47163"/>
                  <a:pt x="47163" y="0"/>
                  <a:pt x="105255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24" name="Text 22"/>
          <p:cNvSpPr/>
          <p:nvPr/>
        </p:nvSpPr>
        <p:spPr>
          <a:xfrm>
            <a:off x="499960" y="3648829"/>
            <a:ext cx="263137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06953" y="3631286"/>
            <a:ext cx="3534803" cy="192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会议后整理会议纪要,上传飞书及CRM,明确责任人与时限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84590" y="2192806"/>
            <a:ext cx="5657439" cy="1806872"/>
          </a:xfrm>
          <a:custGeom>
            <a:avLst/>
            <a:gdLst/>
            <a:ahLst/>
            <a:cxnLst/>
            <a:rect l="l" t="t" r="r" b="b"/>
            <a:pathLst>
              <a:path w="5657439" h="1806872">
                <a:moveTo>
                  <a:pt x="35085" y="0"/>
                </a:moveTo>
                <a:lnTo>
                  <a:pt x="5552189" y="0"/>
                </a:lnTo>
                <a:cubicBezTo>
                  <a:pt x="5610317" y="0"/>
                  <a:pt x="5657439" y="47122"/>
                  <a:pt x="5657439" y="105250"/>
                </a:cubicBezTo>
                <a:lnTo>
                  <a:pt x="5657439" y="1701622"/>
                </a:lnTo>
                <a:cubicBezTo>
                  <a:pt x="5657439" y="1759750"/>
                  <a:pt x="5610317" y="1806872"/>
                  <a:pt x="5552189" y="1806872"/>
                </a:cubicBezTo>
                <a:lnTo>
                  <a:pt x="35085" y="1806872"/>
                </a:lnTo>
                <a:cubicBezTo>
                  <a:pt x="15708" y="1806872"/>
                  <a:pt x="0" y="1791164"/>
                  <a:pt x="0" y="1771787"/>
                </a:cubicBezTo>
                <a:lnTo>
                  <a:pt x="0" y="35085"/>
                </a:lnTo>
                <a:cubicBezTo>
                  <a:pt x="0" y="15708"/>
                  <a:pt x="15708" y="0"/>
                  <a:pt x="3508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1568" dist="8771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84590" y="2192806"/>
            <a:ext cx="35085" cy="1806872"/>
          </a:xfrm>
          <a:custGeom>
            <a:avLst/>
            <a:gdLst/>
            <a:ahLst/>
            <a:cxnLst/>
            <a:rect l="l" t="t" r="r" b="b"/>
            <a:pathLst>
              <a:path w="35085" h="1806872">
                <a:moveTo>
                  <a:pt x="35085" y="0"/>
                </a:moveTo>
                <a:lnTo>
                  <a:pt x="35085" y="0"/>
                </a:lnTo>
                <a:lnTo>
                  <a:pt x="35085" y="1806872"/>
                </a:lnTo>
                <a:lnTo>
                  <a:pt x="35085" y="1806872"/>
                </a:lnTo>
                <a:cubicBezTo>
                  <a:pt x="15708" y="1806872"/>
                  <a:pt x="0" y="1791164"/>
                  <a:pt x="0" y="1771787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28" name="Shape 26"/>
          <p:cNvSpPr/>
          <p:nvPr/>
        </p:nvSpPr>
        <p:spPr>
          <a:xfrm>
            <a:off x="6342472" y="2333145"/>
            <a:ext cx="350849" cy="350849"/>
          </a:xfrm>
          <a:custGeom>
            <a:avLst/>
            <a:gdLst/>
            <a:ahLst/>
            <a:cxnLst/>
            <a:rect l="l" t="t" r="r" b="b"/>
            <a:pathLst>
              <a:path w="350849" h="350849">
                <a:moveTo>
                  <a:pt x="70170" y="0"/>
                </a:moveTo>
                <a:lnTo>
                  <a:pt x="280679" y="0"/>
                </a:lnTo>
                <a:cubicBezTo>
                  <a:pt x="319433" y="0"/>
                  <a:pt x="350849" y="31416"/>
                  <a:pt x="350849" y="70170"/>
                </a:cubicBezTo>
                <a:lnTo>
                  <a:pt x="350849" y="280679"/>
                </a:lnTo>
                <a:cubicBezTo>
                  <a:pt x="350849" y="319433"/>
                  <a:pt x="319433" y="350849"/>
                  <a:pt x="280679" y="350849"/>
                </a:cubicBezTo>
                <a:lnTo>
                  <a:pt x="70170" y="350849"/>
                </a:lnTo>
                <a:cubicBezTo>
                  <a:pt x="31416" y="350849"/>
                  <a:pt x="0" y="319433"/>
                  <a:pt x="0" y="280679"/>
                </a:cubicBezTo>
                <a:lnTo>
                  <a:pt x="0" y="70170"/>
                </a:lnTo>
                <a:cubicBezTo>
                  <a:pt x="0" y="31442"/>
                  <a:pt x="31442" y="0"/>
                  <a:pt x="70170" y="0"/>
                </a:cubicBezTo>
                <a:close/>
              </a:path>
            </a:pathLst>
          </a:custGeom>
          <a:solidFill>
            <a:srgbClr val="00B8D9">
              <a:alpha val="1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452112" y="2420858"/>
            <a:ext cx="131568" cy="175424"/>
          </a:xfrm>
          <a:custGeom>
            <a:avLst/>
            <a:gdLst/>
            <a:ahLst/>
            <a:cxnLst/>
            <a:rect l="l" t="t" r="r" b="b"/>
            <a:pathLst>
              <a:path w="131568" h="175424">
                <a:moveTo>
                  <a:pt x="100355" y="131568"/>
                </a:moveTo>
                <a:cubicBezTo>
                  <a:pt x="102856" y="123928"/>
                  <a:pt x="107859" y="117007"/>
                  <a:pt x="113512" y="111045"/>
                </a:cubicBezTo>
                <a:cubicBezTo>
                  <a:pt x="124716" y="99259"/>
                  <a:pt x="131568" y="83327"/>
                  <a:pt x="131568" y="65784"/>
                </a:cubicBezTo>
                <a:cubicBezTo>
                  <a:pt x="131568" y="29466"/>
                  <a:pt x="102103" y="0"/>
                  <a:pt x="65784" y="0"/>
                </a:cubicBezTo>
                <a:cubicBezTo>
                  <a:pt x="29466" y="0"/>
                  <a:pt x="0" y="29466"/>
                  <a:pt x="0" y="65784"/>
                </a:cubicBezTo>
                <a:cubicBezTo>
                  <a:pt x="0" y="83327"/>
                  <a:pt x="6853" y="99259"/>
                  <a:pt x="18056" y="111045"/>
                </a:cubicBezTo>
                <a:cubicBezTo>
                  <a:pt x="23710" y="117007"/>
                  <a:pt x="28746" y="123928"/>
                  <a:pt x="31213" y="131568"/>
                </a:cubicBezTo>
                <a:lnTo>
                  <a:pt x="100321" y="131568"/>
                </a:lnTo>
                <a:close/>
                <a:moveTo>
                  <a:pt x="98676" y="148014"/>
                </a:moveTo>
                <a:lnTo>
                  <a:pt x="32892" y="148014"/>
                </a:lnTo>
                <a:lnTo>
                  <a:pt x="32892" y="153496"/>
                </a:lnTo>
                <a:cubicBezTo>
                  <a:pt x="32892" y="168640"/>
                  <a:pt x="45158" y="180906"/>
                  <a:pt x="60302" y="180906"/>
                </a:cubicBezTo>
                <a:lnTo>
                  <a:pt x="71266" y="180906"/>
                </a:lnTo>
                <a:cubicBezTo>
                  <a:pt x="86410" y="180906"/>
                  <a:pt x="98676" y="168640"/>
                  <a:pt x="98676" y="153496"/>
                </a:cubicBezTo>
                <a:lnTo>
                  <a:pt x="98676" y="148014"/>
                </a:lnTo>
                <a:close/>
                <a:moveTo>
                  <a:pt x="63043" y="38374"/>
                </a:moveTo>
                <a:cubicBezTo>
                  <a:pt x="49407" y="38374"/>
                  <a:pt x="38374" y="49407"/>
                  <a:pt x="38374" y="63043"/>
                </a:cubicBezTo>
                <a:cubicBezTo>
                  <a:pt x="38374" y="67600"/>
                  <a:pt x="34708" y="71266"/>
                  <a:pt x="30151" y="71266"/>
                </a:cubicBezTo>
                <a:cubicBezTo>
                  <a:pt x="25594" y="71266"/>
                  <a:pt x="21928" y="67600"/>
                  <a:pt x="21928" y="63043"/>
                </a:cubicBezTo>
                <a:cubicBezTo>
                  <a:pt x="21928" y="40327"/>
                  <a:pt x="40327" y="21928"/>
                  <a:pt x="63043" y="21928"/>
                </a:cubicBezTo>
                <a:cubicBezTo>
                  <a:pt x="67600" y="21928"/>
                  <a:pt x="71266" y="25594"/>
                  <a:pt x="71266" y="30151"/>
                </a:cubicBezTo>
                <a:cubicBezTo>
                  <a:pt x="71266" y="34708"/>
                  <a:pt x="67600" y="38374"/>
                  <a:pt x="63043" y="38374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30" name="Text 28"/>
          <p:cNvSpPr/>
          <p:nvPr/>
        </p:nvSpPr>
        <p:spPr>
          <a:xfrm>
            <a:off x="6798575" y="2385773"/>
            <a:ext cx="1815643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3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价值主张与赢单策略制定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42472" y="2806791"/>
            <a:ext cx="210509" cy="210509"/>
          </a:xfrm>
          <a:custGeom>
            <a:avLst/>
            <a:gdLst/>
            <a:ahLst/>
            <a:cxnLst/>
            <a:rect l="l" t="t" r="r" b="b"/>
            <a:pathLst>
              <a:path w="210509" h="210509">
                <a:moveTo>
                  <a:pt x="105255" y="0"/>
                </a:moveTo>
                <a:lnTo>
                  <a:pt x="105255" y="0"/>
                </a:lnTo>
                <a:cubicBezTo>
                  <a:pt x="163346" y="0"/>
                  <a:pt x="210509" y="47163"/>
                  <a:pt x="210509" y="105255"/>
                </a:cubicBezTo>
                <a:lnTo>
                  <a:pt x="210509" y="105255"/>
                </a:lnTo>
                <a:cubicBezTo>
                  <a:pt x="210509" y="163346"/>
                  <a:pt x="163346" y="210509"/>
                  <a:pt x="105255" y="210509"/>
                </a:cubicBezTo>
                <a:lnTo>
                  <a:pt x="105255" y="210509"/>
                </a:lnTo>
                <a:cubicBezTo>
                  <a:pt x="47163" y="210509"/>
                  <a:pt x="0" y="163346"/>
                  <a:pt x="0" y="105255"/>
                </a:cubicBezTo>
                <a:lnTo>
                  <a:pt x="0" y="105255"/>
                </a:lnTo>
                <a:cubicBezTo>
                  <a:pt x="0" y="47163"/>
                  <a:pt x="47163" y="0"/>
                  <a:pt x="105255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32" name="Text 30"/>
          <p:cNvSpPr/>
          <p:nvPr/>
        </p:nvSpPr>
        <p:spPr>
          <a:xfrm>
            <a:off x="6316158" y="2806791"/>
            <a:ext cx="263137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623151" y="2789249"/>
            <a:ext cx="2876961" cy="192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审核并指导项目组制定的价值主张及赢单策略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42472" y="3087471"/>
            <a:ext cx="210509" cy="210509"/>
          </a:xfrm>
          <a:custGeom>
            <a:avLst/>
            <a:gdLst/>
            <a:ahLst/>
            <a:cxnLst/>
            <a:rect l="l" t="t" r="r" b="b"/>
            <a:pathLst>
              <a:path w="210509" h="210509">
                <a:moveTo>
                  <a:pt x="105255" y="0"/>
                </a:moveTo>
                <a:lnTo>
                  <a:pt x="105255" y="0"/>
                </a:lnTo>
                <a:cubicBezTo>
                  <a:pt x="163346" y="0"/>
                  <a:pt x="210509" y="47163"/>
                  <a:pt x="210509" y="105255"/>
                </a:cubicBezTo>
                <a:lnTo>
                  <a:pt x="210509" y="105255"/>
                </a:lnTo>
                <a:cubicBezTo>
                  <a:pt x="210509" y="163346"/>
                  <a:pt x="163346" y="210509"/>
                  <a:pt x="105255" y="210509"/>
                </a:cubicBezTo>
                <a:lnTo>
                  <a:pt x="105255" y="210509"/>
                </a:lnTo>
                <a:cubicBezTo>
                  <a:pt x="47163" y="210509"/>
                  <a:pt x="0" y="163346"/>
                  <a:pt x="0" y="105255"/>
                </a:cubicBezTo>
                <a:lnTo>
                  <a:pt x="0" y="105255"/>
                </a:lnTo>
                <a:cubicBezTo>
                  <a:pt x="0" y="47163"/>
                  <a:pt x="47163" y="0"/>
                  <a:pt x="105255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35" name="Text 33"/>
          <p:cNvSpPr/>
          <p:nvPr/>
        </p:nvSpPr>
        <p:spPr>
          <a:xfrm>
            <a:off x="6316158" y="3087471"/>
            <a:ext cx="263137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623151" y="3069928"/>
            <a:ext cx="3087471" cy="192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确保策略贴合客户需求、突出我司USP(独特卖点)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42472" y="3368150"/>
            <a:ext cx="210509" cy="210509"/>
          </a:xfrm>
          <a:custGeom>
            <a:avLst/>
            <a:gdLst/>
            <a:ahLst/>
            <a:cxnLst/>
            <a:rect l="l" t="t" r="r" b="b"/>
            <a:pathLst>
              <a:path w="210509" h="210509">
                <a:moveTo>
                  <a:pt x="105255" y="0"/>
                </a:moveTo>
                <a:lnTo>
                  <a:pt x="105255" y="0"/>
                </a:lnTo>
                <a:cubicBezTo>
                  <a:pt x="163346" y="0"/>
                  <a:pt x="210509" y="47163"/>
                  <a:pt x="210509" y="105255"/>
                </a:cubicBezTo>
                <a:lnTo>
                  <a:pt x="210509" y="105255"/>
                </a:lnTo>
                <a:cubicBezTo>
                  <a:pt x="210509" y="163346"/>
                  <a:pt x="163346" y="210509"/>
                  <a:pt x="105255" y="210509"/>
                </a:cubicBezTo>
                <a:lnTo>
                  <a:pt x="105255" y="210509"/>
                </a:lnTo>
                <a:cubicBezTo>
                  <a:pt x="47163" y="210509"/>
                  <a:pt x="0" y="163346"/>
                  <a:pt x="0" y="105255"/>
                </a:cubicBezTo>
                <a:lnTo>
                  <a:pt x="0" y="105255"/>
                </a:lnTo>
                <a:cubicBezTo>
                  <a:pt x="0" y="47163"/>
                  <a:pt x="47163" y="0"/>
                  <a:pt x="105255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38" name="Text 36"/>
          <p:cNvSpPr/>
          <p:nvPr/>
        </p:nvSpPr>
        <p:spPr>
          <a:xfrm>
            <a:off x="6316158" y="3368150"/>
            <a:ext cx="263137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623151" y="3350607"/>
            <a:ext cx="2034924" cy="192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针对竞争对手制定有效应对方案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42472" y="3648829"/>
            <a:ext cx="210509" cy="210509"/>
          </a:xfrm>
          <a:custGeom>
            <a:avLst/>
            <a:gdLst/>
            <a:ahLst/>
            <a:cxnLst/>
            <a:rect l="l" t="t" r="r" b="b"/>
            <a:pathLst>
              <a:path w="210509" h="210509">
                <a:moveTo>
                  <a:pt x="105255" y="0"/>
                </a:moveTo>
                <a:lnTo>
                  <a:pt x="105255" y="0"/>
                </a:lnTo>
                <a:cubicBezTo>
                  <a:pt x="163346" y="0"/>
                  <a:pt x="210509" y="47163"/>
                  <a:pt x="210509" y="105255"/>
                </a:cubicBezTo>
                <a:lnTo>
                  <a:pt x="210509" y="105255"/>
                </a:lnTo>
                <a:cubicBezTo>
                  <a:pt x="210509" y="163346"/>
                  <a:pt x="163346" y="210509"/>
                  <a:pt x="105255" y="210509"/>
                </a:cubicBezTo>
                <a:lnTo>
                  <a:pt x="105255" y="210509"/>
                </a:lnTo>
                <a:cubicBezTo>
                  <a:pt x="47163" y="210509"/>
                  <a:pt x="0" y="163346"/>
                  <a:pt x="0" y="105255"/>
                </a:cubicBezTo>
                <a:lnTo>
                  <a:pt x="0" y="105255"/>
                </a:lnTo>
                <a:cubicBezTo>
                  <a:pt x="0" y="47163"/>
                  <a:pt x="47163" y="0"/>
                  <a:pt x="105255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41" name="Text 39"/>
          <p:cNvSpPr/>
          <p:nvPr/>
        </p:nvSpPr>
        <p:spPr>
          <a:xfrm>
            <a:off x="6316158" y="3648829"/>
            <a:ext cx="263137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623151" y="3631286"/>
            <a:ext cx="3192725" cy="192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组织与客户决策人沟通,推动客户认可我司价值主张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68391" y="4140017"/>
            <a:ext cx="5657439" cy="1806872"/>
          </a:xfrm>
          <a:custGeom>
            <a:avLst/>
            <a:gdLst/>
            <a:ahLst/>
            <a:cxnLst/>
            <a:rect l="l" t="t" r="r" b="b"/>
            <a:pathLst>
              <a:path w="5657439" h="1806872">
                <a:moveTo>
                  <a:pt x="35085" y="0"/>
                </a:moveTo>
                <a:lnTo>
                  <a:pt x="5552189" y="0"/>
                </a:lnTo>
                <a:cubicBezTo>
                  <a:pt x="5610317" y="0"/>
                  <a:pt x="5657439" y="47122"/>
                  <a:pt x="5657439" y="105250"/>
                </a:cubicBezTo>
                <a:lnTo>
                  <a:pt x="5657439" y="1701622"/>
                </a:lnTo>
                <a:cubicBezTo>
                  <a:pt x="5657439" y="1759750"/>
                  <a:pt x="5610317" y="1806872"/>
                  <a:pt x="5552189" y="1806872"/>
                </a:cubicBezTo>
                <a:lnTo>
                  <a:pt x="35085" y="1806872"/>
                </a:lnTo>
                <a:cubicBezTo>
                  <a:pt x="15708" y="1806872"/>
                  <a:pt x="0" y="1791164"/>
                  <a:pt x="0" y="1771787"/>
                </a:cubicBezTo>
                <a:lnTo>
                  <a:pt x="0" y="35085"/>
                </a:lnTo>
                <a:cubicBezTo>
                  <a:pt x="0" y="15708"/>
                  <a:pt x="15708" y="0"/>
                  <a:pt x="3508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1568" dist="8771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68391" y="4140017"/>
            <a:ext cx="35085" cy="1806872"/>
          </a:xfrm>
          <a:custGeom>
            <a:avLst/>
            <a:gdLst/>
            <a:ahLst/>
            <a:cxnLst/>
            <a:rect l="l" t="t" r="r" b="b"/>
            <a:pathLst>
              <a:path w="35085" h="1806872">
                <a:moveTo>
                  <a:pt x="35085" y="0"/>
                </a:moveTo>
                <a:lnTo>
                  <a:pt x="35085" y="0"/>
                </a:lnTo>
                <a:lnTo>
                  <a:pt x="35085" y="1806872"/>
                </a:lnTo>
                <a:lnTo>
                  <a:pt x="35085" y="1806872"/>
                </a:lnTo>
                <a:cubicBezTo>
                  <a:pt x="15708" y="1806872"/>
                  <a:pt x="0" y="1791164"/>
                  <a:pt x="0" y="1771787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45" name="Shape 43"/>
          <p:cNvSpPr/>
          <p:nvPr/>
        </p:nvSpPr>
        <p:spPr>
          <a:xfrm>
            <a:off x="526273" y="4280357"/>
            <a:ext cx="350849" cy="350849"/>
          </a:xfrm>
          <a:custGeom>
            <a:avLst/>
            <a:gdLst/>
            <a:ahLst/>
            <a:cxnLst/>
            <a:rect l="l" t="t" r="r" b="b"/>
            <a:pathLst>
              <a:path w="350849" h="350849">
                <a:moveTo>
                  <a:pt x="70170" y="0"/>
                </a:moveTo>
                <a:lnTo>
                  <a:pt x="280679" y="0"/>
                </a:lnTo>
                <a:cubicBezTo>
                  <a:pt x="319433" y="0"/>
                  <a:pt x="350849" y="31416"/>
                  <a:pt x="350849" y="70170"/>
                </a:cubicBezTo>
                <a:lnTo>
                  <a:pt x="350849" y="280679"/>
                </a:lnTo>
                <a:cubicBezTo>
                  <a:pt x="350849" y="319433"/>
                  <a:pt x="319433" y="350849"/>
                  <a:pt x="280679" y="350849"/>
                </a:cubicBezTo>
                <a:lnTo>
                  <a:pt x="70170" y="350849"/>
                </a:lnTo>
                <a:cubicBezTo>
                  <a:pt x="31416" y="350849"/>
                  <a:pt x="0" y="319433"/>
                  <a:pt x="0" y="280679"/>
                </a:cubicBezTo>
                <a:lnTo>
                  <a:pt x="0" y="70170"/>
                </a:lnTo>
                <a:cubicBezTo>
                  <a:pt x="0" y="31442"/>
                  <a:pt x="31442" y="0"/>
                  <a:pt x="70170" y="0"/>
                </a:cubicBezTo>
                <a:close/>
              </a:path>
            </a:pathLst>
          </a:custGeom>
          <a:solidFill>
            <a:srgbClr val="FF6B35">
              <a:alpha val="10196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35914" y="4368069"/>
            <a:ext cx="131568" cy="175424"/>
          </a:xfrm>
          <a:custGeom>
            <a:avLst/>
            <a:gdLst/>
            <a:ahLst/>
            <a:cxnLst/>
            <a:rect l="l" t="t" r="r" b="b"/>
            <a:pathLst>
              <a:path w="131568" h="175424">
                <a:moveTo>
                  <a:pt x="106694" y="10964"/>
                </a:moveTo>
                <a:lnTo>
                  <a:pt x="109640" y="10964"/>
                </a:lnTo>
                <a:cubicBezTo>
                  <a:pt x="121735" y="10964"/>
                  <a:pt x="131568" y="20797"/>
                  <a:pt x="131568" y="32892"/>
                </a:cubicBezTo>
                <a:lnTo>
                  <a:pt x="131568" y="153496"/>
                </a:lnTo>
                <a:cubicBezTo>
                  <a:pt x="131568" y="165591"/>
                  <a:pt x="121735" y="175424"/>
                  <a:pt x="109640" y="175424"/>
                </a:cubicBezTo>
                <a:lnTo>
                  <a:pt x="21928" y="175424"/>
                </a:lnTo>
                <a:cubicBezTo>
                  <a:pt x="9833" y="175424"/>
                  <a:pt x="0" y="165591"/>
                  <a:pt x="0" y="153496"/>
                </a:cubicBezTo>
                <a:lnTo>
                  <a:pt x="0" y="32892"/>
                </a:lnTo>
                <a:cubicBezTo>
                  <a:pt x="0" y="20797"/>
                  <a:pt x="9833" y="10964"/>
                  <a:pt x="21928" y="10964"/>
                </a:cubicBezTo>
                <a:lnTo>
                  <a:pt x="24875" y="10964"/>
                </a:lnTo>
                <a:cubicBezTo>
                  <a:pt x="28644" y="4420"/>
                  <a:pt x="35736" y="0"/>
                  <a:pt x="43856" y="0"/>
                </a:cubicBezTo>
                <a:lnTo>
                  <a:pt x="87712" y="0"/>
                </a:lnTo>
                <a:cubicBezTo>
                  <a:pt x="95832" y="0"/>
                  <a:pt x="102925" y="4420"/>
                  <a:pt x="106694" y="10964"/>
                </a:cubicBezTo>
                <a:close/>
                <a:moveTo>
                  <a:pt x="84971" y="38374"/>
                </a:moveTo>
                <a:cubicBezTo>
                  <a:pt x="89528" y="38374"/>
                  <a:pt x="93194" y="34708"/>
                  <a:pt x="93194" y="30151"/>
                </a:cubicBezTo>
                <a:cubicBezTo>
                  <a:pt x="93194" y="25594"/>
                  <a:pt x="89528" y="21928"/>
                  <a:pt x="84971" y="21928"/>
                </a:cubicBezTo>
                <a:lnTo>
                  <a:pt x="46597" y="21928"/>
                </a:lnTo>
                <a:cubicBezTo>
                  <a:pt x="42040" y="21928"/>
                  <a:pt x="38374" y="25594"/>
                  <a:pt x="38374" y="30151"/>
                </a:cubicBezTo>
                <a:cubicBezTo>
                  <a:pt x="38374" y="34708"/>
                  <a:pt x="42040" y="38374"/>
                  <a:pt x="46597" y="38374"/>
                </a:cubicBezTo>
                <a:lnTo>
                  <a:pt x="84971" y="38374"/>
                </a:lnTo>
                <a:close/>
                <a:moveTo>
                  <a:pt x="94702" y="89323"/>
                </a:moveTo>
                <a:cubicBezTo>
                  <a:pt x="97100" y="85485"/>
                  <a:pt x="95935" y="80414"/>
                  <a:pt x="92098" y="77982"/>
                </a:cubicBezTo>
                <a:cubicBezTo>
                  <a:pt x="88260" y="75549"/>
                  <a:pt x="83190" y="76748"/>
                  <a:pt x="80757" y="80586"/>
                </a:cubicBezTo>
                <a:lnTo>
                  <a:pt x="59720" y="114266"/>
                </a:lnTo>
                <a:lnTo>
                  <a:pt x="50469" y="101931"/>
                </a:lnTo>
                <a:cubicBezTo>
                  <a:pt x="47728" y="98299"/>
                  <a:pt x="42588" y="97546"/>
                  <a:pt x="38957" y="100287"/>
                </a:cubicBezTo>
                <a:cubicBezTo>
                  <a:pt x="35325" y="103028"/>
                  <a:pt x="34571" y="108167"/>
                  <a:pt x="37312" y="111799"/>
                </a:cubicBezTo>
                <a:lnTo>
                  <a:pt x="53758" y="133727"/>
                </a:lnTo>
                <a:cubicBezTo>
                  <a:pt x="55368" y="135885"/>
                  <a:pt x="57972" y="137119"/>
                  <a:pt x="60679" y="137016"/>
                </a:cubicBezTo>
                <a:cubicBezTo>
                  <a:pt x="63386" y="136913"/>
                  <a:pt x="65853" y="135474"/>
                  <a:pt x="67292" y="133144"/>
                </a:cubicBezTo>
                <a:lnTo>
                  <a:pt x="94702" y="89288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47" name="Text 45"/>
          <p:cNvSpPr/>
          <p:nvPr/>
        </p:nvSpPr>
        <p:spPr>
          <a:xfrm>
            <a:off x="982377" y="4332984"/>
            <a:ext cx="1341997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3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解决方案评审跟进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26273" y="4754003"/>
            <a:ext cx="210509" cy="210509"/>
          </a:xfrm>
          <a:custGeom>
            <a:avLst/>
            <a:gdLst/>
            <a:ahLst/>
            <a:cxnLst/>
            <a:rect l="l" t="t" r="r" b="b"/>
            <a:pathLst>
              <a:path w="210509" h="210509">
                <a:moveTo>
                  <a:pt x="105255" y="0"/>
                </a:moveTo>
                <a:lnTo>
                  <a:pt x="105255" y="0"/>
                </a:lnTo>
                <a:cubicBezTo>
                  <a:pt x="163346" y="0"/>
                  <a:pt x="210509" y="47163"/>
                  <a:pt x="210509" y="105255"/>
                </a:cubicBezTo>
                <a:lnTo>
                  <a:pt x="210509" y="105255"/>
                </a:lnTo>
                <a:cubicBezTo>
                  <a:pt x="210509" y="163346"/>
                  <a:pt x="163346" y="210509"/>
                  <a:pt x="105255" y="210509"/>
                </a:cubicBezTo>
                <a:lnTo>
                  <a:pt x="105255" y="210509"/>
                </a:lnTo>
                <a:cubicBezTo>
                  <a:pt x="47163" y="210509"/>
                  <a:pt x="0" y="163346"/>
                  <a:pt x="0" y="105255"/>
                </a:cubicBezTo>
                <a:lnTo>
                  <a:pt x="0" y="105255"/>
                </a:lnTo>
                <a:cubicBezTo>
                  <a:pt x="0" y="47163"/>
                  <a:pt x="47163" y="0"/>
                  <a:pt x="105255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49" name="Text 47"/>
          <p:cNvSpPr/>
          <p:nvPr/>
        </p:nvSpPr>
        <p:spPr>
          <a:xfrm>
            <a:off x="499960" y="4754003"/>
            <a:ext cx="263137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06953" y="4736460"/>
            <a:ext cx="2876961" cy="192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督促技术负责人按项目进度制定客户解决方案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526273" y="5034682"/>
            <a:ext cx="210509" cy="210509"/>
          </a:xfrm>
          <a:custGeom>
            <a:avLst/>
            <a:gdLst/>
            <a:ahLst/>
            <a:cxnLst/>
            <a:rect l="l" t="t" r="r" b="b"/>
            <a:pathLst>
              <a:path w="210509" h="210509">
                <a:moveTo>
                  <a:pt x="105255" y="0"/>
                </a:moveTo>
                <a:lnTo>
                  <a:pt x="105255" y="0"/>
                </a:lnTo>
                <a:cubicBezTo>
                  <a:pt x="163346" y="0"/>
                  <a:pt x="210509" y="47163"/>
                  <a:pt x="210509" y="105255"/>
                </a:cubicBezTo>
                <a:lnTo>
                  <a:pt x="210509" y="105255"/>
                </a:lnTo>
                <a:cubicBezTo>
                  <a:pt x="210509" y="163346"/>
                  <a:pt x="163346" y="210509"/>
                  <a:pt x="105255" y="210509"/>
                </a:cubicBezTo>
                <a:lnTo>
                  <a:pt x="105255" y="210509"/>
                </a:lnTo>
                <a:cubicBezTo>
                  <a:pt x="47163" y="210509"/>
                  <a:pt x="0" y="163346"/>
                  <a:pt x="0" y="105255"/>
                </a:cubicBezTo>
                <a:lnTo>
                  <a:pt x="0" y="105255"/>
                </a:lnTo>
                <a:cubicBezTo>
                  <a:pt x="0" y="47163"/>
                  <a:pt x="47163" y="0"/>
                  <a:pt x="105255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2" name="Text 50"/>
          <p:cNvSpPr/>
          <p:nvPr/>
        </p:nvSpPr>
        <p:spPr>
          <a:xfrm>
            <a:off x="499960" y="5034682"/>
            <a:ext cx="263137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06953" y="5017140"/>
            <a:ext cx="2521507" cy="189458"/>
          </a:xfrm>
          <a:custGeom>
            <a:avLst/>
            <a:gdLst/>
            <a:ahLst/>
            <a:cxnLst/>
            <a:rect l="l" t="t" r="r" b="b"/>
            <a:pathLst>
              <a:path w="2521507" h="189458">
                <a:moveTo>
                  <a:pt x="0" y="0"/>
                </a:moveTo>
                <a:lnTo>
                  <a:pt x="2521507" y="0"/>
                </a:lnTo>
                <a:lnTo>
                  <a:pt x="2521507" y="189458"/>
                </a:lnTo>
                <a:lnTo>
                  <a:pt x="0" y="189458"/>
                </a:lnTo>
                <a:lnTo>
                  <a:pt x="0" y="0"/>
                </a:lnTo>
                <a:close/>
              </a:path>
            </a:pathLst>
          </a:custGeom>
          <a:solidFill>
            <a:srgbClr val="FF6B35">
              <a:alpha val="20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806953" y="5017140"/>
            <a:ext cx="2591677" cy="189458"/>
          </a:xfrm>
          <a:prstGeom prst="rect">
            <a:avLst/>
          </a:prstGeom>
          <a:noFill/>
          <a:ln/>
        </p:spPr>
        <p:txBody>
          <a:bodyPr wrap="square" lIns="35085" tIns="0" rIns="35085" bIns="0" rtlCol="0" anchor="ctr"/>
          <a:lstStyle/>
          <a:p>
            <a:pPr>
              <a:lnSpc>
                <a:spcPct val="110000"/>
              </a:lnSpc>
            </a:pPr>
            <a:r>
              <a:rPr lang="en-US" sz="1105" b="1" dirty="0">
                <a:solidFill>
                  <a:srgbClr val="FF6B3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确保立项项目100%召开解决方案评审会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526273" y="5315361"/>
            <a:ext cx="210509" cy="210509"/>
          </a:xfrm>
          <a:custGeom>
            <a:avLst/>
            <a:gdLst/>
            <a:ahLst/>
            <a:cxnLst/>
            <a:rect l="l" t="t" r="r" b="b"/>
            <a:pathLst>
              <a:path w="210509" h="210509">
                <a:moveTo>
                  <a:pt x="105255" y="0"/>
                </a:moveTo>
                <a:lnTo>
                  <a:pt x="105255" y="0"/>
                </a:lnTo>
                <a:cubicBezTo>
                  <a:pt x="163346" y="0"/>
                  <a:pt x="210509" y="47163"/>
                  <a:pt x="210509" y="105255"/>
                </a:cubicBezTo>
                <a:lnTo>
                  <a:pt x="210509" y="105255"/>
                </a:lnTo>
                <a:cubicBezTo>
                  <a:pt x="210509" y="163346"/>
                  <a:pt x="163346" y="210509"/>
                  <a:pt x="105255" y="210509"/>
                </a:cubicBezTo>
                <a:lnTo>
                  <a:pt x="105255" y="210509"/>
                </a:lnTo>
                <a:cubicBezTo>
                  <a:pt x="47163" y="210509"/>
                  <a:pt x="0" y="163346"/>
                  <a:pt x="0" y="105255"/>
                </a:cubicBezTo>
                <a:lnTo>
                  <a:pt x="0" y="105255"/>
                </a:lnTo>
                <a:cubicBezTo>
                  <a:pt x="0" y="47163"/>
                  <a:pt x="47163" y="0"/>
                  <a:pt x="105255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6" name="Text 54"/>
          <p:cNvSpPr/>
          <p:nvPr/>
        </p:nvSpPr>
        <p:spPr>
          <a:xfrm>
            <a:off x="499960" y="5315361"/>
            <a:ext cx="263137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06953" y="5297819"/>
            <a:ext cx="1754245" cy="192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评审会在标前评审会前完成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526273" y="5596040"/>
            <a:ext cx="210509" cy="210509"/>
          </a:xfrm>
          <a:custGeom>
            <a:avLst/>
            <a:gdLst/>
            <a:ahLst/>
            <a:cxnLst/>
            <a:rect l="l" t="t" r="r" b="b"/>
            <a:pathLst>
              <a:path w="210509" h="210509">
                <a:moveTo>
                  <a:pt x="105255" y="0"/>
                </a:moveTo>
                <a:lnTo>
                  <a:pt x="105255" y="0"/>
                </a:lnTo>
                <a:cubicBezTo>
                  <a:pt x="163346" y="0"/>
                  <a:pt x="210509" y="47163"/>
                  <a:pt x="210509" y="105255"/>
                </a:cubicBezTo>
                <a:lnTo>
                  <a:pt x="210509" y="105255"/>
                </a:lnTo>
                <a:cubicBezTo>
                  <a:pt x="210509" y="163346"/>
                  <a:pt x="163346" y="210509"/>
                  <a:pt x="105255" y="210509"/>
                </a:cubicBezTo>
                <a:lnTo>
                  <a:pt x="105255" y="210509"/>
                </a:lnTo>
                <a:cubicBezTo>
                  <a:pt x="47163" y="210509"/>
                  <a:pt x="0" y="163346"/>
                  <a:pt x="0" y="105255"/>
                </a:cubicBezTo>
                <a:lnTo>
                  <a:pt x="0" y="105255"/>
                </a:lnTo>
                <a:cubicBezTo>
                  <a:pt x="0" y="47163"/>
                  <a:pt x="47163" y="0"/>
                  <a:pt x="105255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9" name="Text 57"/>
          <p:cNvSpPr/>
          <p:nvPr/>
        </p:nvSpPr>
        <p:spPr>
          <a:xfrm>
            <a:off x="499960" y="5596040"/>
            <a:ext cx="263137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06953" y="5578498"/>
            <a:ext cx="2482256" cy="192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确保解决方案评审会结果在CRM中留痕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184590" y="4140017"/>
            <a:ext cx="5657439" cy="1806872"/>
          </a:xfrm>
          <a:custGeom>
            <a:avLst/>
            <a:gdLst/>
            <a:ahLst/>
            <a:cxnLst/>
            <a:rect l="l" t="t" r="r" b="b"/>
            <a:pathLst>
              <a:path w="5657439" h="1806872">
                <a:moveTo>
                  <a:pt x="35085" y="0"/>
                </a:moveTo>
                <a:lnTo>
                  <a:pt x="5552189" y="0"/>
                </a:lnTo>
                <a:cubicBezTo>
                  <a:pt x="5610317" y="0"/>
                  <a:pt x="5657439" y="47122"/>
                  <a:pt x="5657439" y="105250"/>
                </a:cubicBezTo>
                <a:lnTo>
                  <a:pt x="5657439" y="1701622"/>
                </a:lnTo>
                <a:cubicBezTo>
                  <a:pt x="5657439" y="1759750"/>
                  <a:pt x="5610317" y="1806872"/>
                  <a:pt x="5552189" y="1806872"/>
                </a:cubicBezTo>
                <a:lnTo>
                  <a:pt x="35085" y="1806872"/>
                </a:lnTo>
                <a:cubicBezTo>
                  <a:pt x="15708" y="1806872"/>
                  <a:pt x="0" y="1791164"/>
                  <a:pt x="0" y="1771787"/>
                </a:cubicBezTo>
                <a:lnTo>
                  <a:pt x="0" y="35085"/>
                </a:lnTo>
                <a:cubicBezTo>
                  <a:pt x="0" y="15708"/>
                  <a:pt x="15708" y="0"/>
                  <a:pt x="3508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1568" dist="8771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184590" y="4140017"/>
            <a:ext cx="35085" cy="1806872"/>
          </a:xfrm>
          <a:custGeom>
            <a:avLst/>
            <a:gdLst/>
            <a:ahLst/>
            <a:cxnLst/>
            <a:rect l="l" t="t" r="r" b="b"/>
            <a:pathLst>
              <a:path w="35085" h="1806872">
                <a:moveTo>
                  <a:pt x="35085" y="0"/>
                </a:moveTo>
                <a:lnTo>
                  <a:pt x="35085" y="0"/>
                </a:lnTo>
                <a:lnTo>
                  <a:pt x="35085" y="1806872"/>
                </a:lnTo>
                <a:lnTo>
                  <a:pt x="35085" y="1806872"/>
                </a:lnTo>
                <a:cubicBezTo>
                  <a:pt x="15708" y="1806872"/>
                  <a:pt x="0" y="1791164"/>
                  <a:pt x="0" y="1771787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63" name="Shape 61"/>
          <p:cNvSpPr/>
          <p:nvPr/>
        </p:nvSpPr>
        <p:spPr>
          <a:xfrm>
            <a:off x="6342472" y="4280357"/>
            <a:ext cx="350849" cy="350849"/>
          </a:xfrm>
          <a:custGeom>
            <a:avLst/>
            <a:gdLst/>
            <a:ahLst/>
            <a:cxnLst/>
            <a:rect l="l" t="t" r="r" b="b"/>
            <a:pathLst>
              <a:path w="350849" h="350849">
                <a:moveTo>
                  <a:pt x="70170" y="0"/>
                </a:moveTo>
                <a:lnTo>
                  <a:pt x="280679" y="0"/>
                </a:lnTo>
                <a:cubicBezTo>
                  <a:pt x="319433" y="0"/>
                  <a:pt x="350849" y="31416"/>
                  <a:pt x="350849" y="70170"/>
                </a:cubicBezTo>
                <a:lnTo>
                  <a:pt x="350849" y="280679"/>
                </a:lnTo>
                <a:cubicBezTo>
                  <a:pt x="350849" y="319433"/>
                  <a:pt x="319433" y="350849"/>
                  <a:pt x="280679" y="350849"/>
                </a:cubicBezTo>
                <a:lnTo>
                  <a:pt x="70170" y="350849"/>
                </a:lnTo>
                <a:cubicBezTo>
                  <a:pt x="31416" y="350849"/>
                  <a:pt x="0" y="319433"/>
                  <a:pt x="0" y="280679"/>
                </a:cubicBezTo>
                <a:lnTo>
                  <a:pt x="0" y="70170"/>
                </a:lnTo>
                <a:cubicBezTo>
                  <a:pt x="0" y="31442"/>
                  <a:pt x="31442" y="0"/>
                  <a:pt x="70170" y="0"/>
                </a:cubicBezTo>
                <a:close/>
              </a:path>
            </a:pathLst>
          </a:custGeom>
          <a:solidFill>
            <a:srgbClr val="0052CC">
              <a:alpha val="10196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6419220" y="4368069"/>
            <a:ext cx="197353" cy="175424"/>
          </a:xfrm>
          <a:custGeom>
            <a:avLst/>
            <a:gdLst/>
            <a:ahLst/>
            <a:cxnLst/>
            <a:rect l="l" t="t" r="r" b="b"/>
            <a:pathLst>
              <a:path w="197353" h="175424">
                <a:moveTo>
                  <a:pt x="92132" y="29192"/>
                </a:moveTo>
                <a:lnTo>
                  <a:pt x="52182" y="73596"/>
                </a:lnTo>
                <a:cubicBezTo>
                  <a:pt x="50606" y="75343"/>
                  <a:pt x="50674" y="78050"/>
                  <a:pt x="52353" y="79729"/>
                </a:cubicBezTo>
                <a:cubicBezTo>
                  <a:pt x="62803" y="90179"/>
                  <a:pt x="79763" y="90179"/>
                  <a:pt x="90213" y="79729"/>
                </a:cubicBezTo>
                <a:lnTo>
                  <a:pt x="101109" y="68834"/>
                </a:lnTo>
                <a:cubicBezTo>
                  <a:pt x="102548" y="67395"/>
                  <a:pt x="104364" y="66606"/>
                  <a:pt x="106214" y="66469"/>
                </a:cubicBezTo>
                <a:cubicBezTo>
                  <a:pt x="108544" y="66264"/>
                  <a:pt x="110942" y="67052"/>
                  <a:pt x="112724" y="68834"/>
                </a:cubicBezTo>
                <a:lnTo>
                  <a:pt x="173232" y="128827"/>
                </a:lnTo>
                <a:lnTo>
                  <a:pt x="197353" y="109640"/>
                </a:lnTo>
                <a:lnTo>
                  <a:pt x="197353" y="10964"/>
                </a:lnTo>
                <a:lnTo>
                  <a:pt x="158978" y="32892"/>
                </a:lnTo>
                <a:lnTo>
                  <a:pt x="150824" y="27444"/>
                </a:lnTo>
                <a:cubicBezTo>
                  <a:pt x="145410" y="23847"/>
                  <a:pt x="139072" y="21928"/>
                  <a:pt x="132562" y="21928"/>
                </a:cubicBezTo>
                <a:lnTo>
                  <a:pt x="108441" y="21928"/>
                </a:lnTo>
                <a:cubicBezTo>
                  <a:pt x="108064" y="21928"/>
                  <a:pt x="107653" y="21928"/>
                  <a:pt x="107276" y="21962"/>
                </a:cubicBezTo>
                <a:cubicBezTo>
                  <a:pt x="101486" y="22271"/>
                  <a:pt x="96038" y="24875"/>
                  <a:pt x="92132" y="29192"/>
                </a:cubicBezTo>
                <a:close/>
                <a:moveTo>
                  <a:pt x="39950" y="62598"/>
                </a:moveTo>
                <a:lnTo>
                  <a:pt x="76543" y="21928"/>
                </a:lnTo>
                <a:lnTo>
                  <a:pt x="62975" y="21928"/>
                </a:lnTo>
                <a:cubicBezTo>
                  <a:pt x="54238" y="21928"/>
                  <a:pt x="45878" y="25389"/>
                  <a:pt x="39710" y="31556"/>
                </a:cubicBezTo>
                <a:lnTo>
                  <a:pt x="38374" y="32892"/>
                </a:lnTo>
                <a:lnTo>
                  <a:pt x="0" y="10964"/>
                </a:lnTo>
                <a:lnTo>
                  <a:pt x="0" y="109640"/>
                </a:lnTo>
                <a:lnTo>
                  <a:pt x="53587" y="154284"/>
                </a:lnTo>
                <a:cubicBezTo>
                  <a:pt x="61467" y="160863"/>
                  <a:pt x="71403" y="164460"/>
                  <a:pt x="81648" y="164460"/>
                </a:cubicBezTo>
                <a:lnTo>
                  <a:pt x="87027" y="164460"/>
                </a:lnTo>
                <a:lnTo>
                  <a:pt x="84629" y="162062"/>
                </a:lnTo>
                <a:cubicBezTo>
                  <a:pt x="81408" y="158841"/>
                  <a:pt x="81408" y="153633"/>
                  <a:pt x="84629" y="150447"/>
                </a:cubicBezTo>
                <a:cubicBezTo>
                  <a:pt x="87849" y="147261"/>
                  <a:pt x="93057" y="147226"/>
                  <a:pt x="96244" y="150447"/>
                </a:cubicBezTo>
                <a:lnTo>
                  <a:pt x="110291" y="164495"/>
                </a:lnTo>
                <a:lnTo>
                  <a:pt x="113375" y="164495"/>
                </a:lnTo>
                <a:cubicBezTo>
                  <a:pt x="119919" y="164495"/>
                  <a:pt x="126326" y="163021"/>
                  <a:pt x="132151" y="160280"/>
                </a:cubicBezTo>
                <a:lnTo>
                  <a:pt x="123003" y="151098"/>
                </a:lnTo>
                <a:cubicBezTo>
                  <a:pt x="119782" y="147877"/>
                  <a:pt x="119782" y="142669"/>
                  <a:pt x="123003" y="139483"/>
                </a:cubicBezTo>
                <a:cubicBezTo>
                  <a:pt x="126223" y="136297"/>
                  <a:pt x="131431" y="136262"/>
                  <a:pt x="134618" y="139483"/>
                </a:cubicBezTo>
                <a:lnTo>
                  <a:pt x="145582" y="150447"/>
                </a:lnTo>
                <a:lnTo>
                  <a:pt x="151578" y="144451"/>
                </a:lnTo>
                <a:cubicBezTo>
                  <a:pt x="154627" y="141402"/>
                  <a:pt x="155518" y="136982"/>
                  <a:pt x="154182" y="133110"/>
                </a:cubicBezTo>
                <a:lnTo>
                  <a:pt x="106934" y="86239"/>
                </a:lnTo>
                <a:lnTo>
                  <a:pt x="101828" y="91344"/>
                </a:lnTo>
                <a:cubicBezTo>
                  <a:pt x="84937" y="108236"/>
                  <a:pt x="57595" y="108236"/>
                  <a:pt x="40704" y="91344"/>
                </a:cubicBezTo>
                <a:cubicBezTo>
                  <a:pt x="32824" y="83464"/>
                  <a:pt x="32515" y="70821"/>
                  <a:pt x="39950" y="62563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65" name="Text 63"/>
          <p:cNvSpPr/>
          <p:nvPr/>
        </p:nvSpPr>
        <p:spPr>
          <a:xfrm>
            <a:off x="6798575" y="4332984"/>
            <a:ext cx="1499879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3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客户关系与需求跟进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342472" y="4754003"/>
            <a:ext cx="210509" cy="210509"/>
          </a:xfrm>
          <a:custGeom>
            <a:avLst/>
            <a:gdLst/>
            <a:ahLst/>
            <a:cxnLst/>
            <a:rect l="l" t="t" r="r" b="b"/>
            <a:pathLst>
              <a:path w="210509" h="210509">
                <a:moveTo>
                  <a:pt x="105255" y="0"/>
                </a:moveTo>
                <a:lnTo>
                  <a:pt x="105255" y="0"/>
                </a:lnTo>
                <a:cubicBezTo>
                  <a:pt x="163346" y="0"/>
                  <a:pt x="210509" y="47163"/>
                  <a:pt x="210509" y="105255"/>
                </a:cubicBezTo>
                <a:lnTo>
                  <a:pt x="210509" y="105255"/>
                </a:lnTo>
                <a:cubicBezTo>
                  <a:pt x="210509" y="163346"/>
                  <a:pt x="163346" y="210509"/>
                  <a:pt x="105255" y="210509"/>
                </a:cubicBezTo>
                <a:lnTo>
                  <a:pt x="105255" y="210509"/>
                </a:lnTo>
                <a:cubicBezTo>
                  <a:pt x="47163" y="210509"/>
                  <a:pt x="0" y="163346"/>
                  <a:pt x="0" y="105255"/>
                </a:cubicBezTo>
                <a:lnTo>
                  <a:pt x="0" y="105255"/>
                </a:lnTo>
                <a:cubicBezTo>
                  <a:pt x="0" y="47163"/>
                  <a:pt x="47163" y="0"/>
                  <a:pt x="105255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67" name="Text 65"/>
          <p:cNvSpPr/>
          <p:nvPr/>
        </p:nvSpPr>
        <p:spPr>
          <a:xfrm>
            <a:off x="6316158" y="4754003"/>
            <a:ext cx="263137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6623151" y="4736460"/>
            <a:ext cx="2034924" cy="192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维护客户拍板者的核心客户关系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6342472" y="5034682"/>
            <a:ext cx="210509" cy="210509"/>
          </a:xfrm>
          <a:custGeom>
            <a:avLst/>
            <a:gdLst/>
            <a:ahLst/>
            <a:cxnLst/>
            <a:rect l="l" t="t" r="r" b="b"/>
            <a:pathLst>
              <a:path w="210509" h="210509">
                <a:moveTo>
                  <a:pt x="105255" y="0"/>
                </a:moveTo>
                <a:lnTo>
                  <a:pt x="105255" y="0"/>
                </a:lnTo>
                <a:cubicBezTo>
                  <a:pt x="163346" y="0"/>
                  <a:pt x="210509" y="47163"/>
                  <a:pt x="210509" y="105255"/>
                </a:cubicBezTo>
                <a:lnTo>
                  <a:pt x="210509" y="105255"/>
                </a:lnTo>
                <a:cubicBezTo>
                  <a:pt x="210509" y="163346"/>
                  <a:pt x="163346" y="210509"/>
                  <a:pt x="105255" y="210509"/>
                </a:cubicBezTo>
                <a:lnTo>
                  <a:pt x="105255" y="210509"/>
                </a:lnTo>
                <a:cubicBezTo>
                  <a:pt x="47163" y="210509"/>
                  <a:pt x="0" y="163346"/>
                  <a:pt x="0" y="105255"/>
                </a:cubicBezTo>
                <a:lnTo>
                  <a:pt x="0" y="105255"/>
                </a:lnTo>
                <a:cubicBezTo>
                  <a:pt x="0" y="47163"/>
                  <a:pt x="47163" y="0"/>
                  <a:pt x="105255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70" name="Text 68"/>
          <p:cNvSpPr/>
          <p:nvPr/>
        </p:nvSpPr>
        <p:spPr>
          <a:xfrm>
            <a:off x="6316158" y="5034682"/>
            <a:ext cx="263137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6623151" y="5017140"/>
            <a:ext cx="3227810" cy="192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协同客户关系负责人开展高质量客户交流、11N活动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6342472" y="5315361"/>
            <a:ext cx="210509" cy="210509"/>
          </a:xfrm>
          <a:custGeom>
            <a:avLst/>
            <a:gdLst/>
            <a:ahLst/>
            <a:cxnLst/>
            <a:rect l="l" t="t" r="r" b="b"/>
            <a:pathLst>
              <a:path w="210509" h="210509">
                <a:moveTo>
                  <a:pt x="105255" y="0"/>
                </a:moveTo>
                <a:lnTo>
                  <a:pt x="105255" y="0"/>
                </a:lnTo>
                <a:cubicBezTo>
                  <a:pt x="163346" y="0"/>
                  <a:pt x="210509" y="47163"/>
                  <a:pt x="210509" y="105255"/>
                </a:cubicBezTo>
                <a:lnTo>
                  <a:pt x="210509" y="105255"/>
                </a:lnTo>
                <a:cubicBezTo>
                  <a:pt x="210509" y="163346"/>
                  <a:pt x="163346" y="210509"/>
                  <a:pt x="105255" y="210509"/>
                </a:cubicBezTo>
                <a:lnTo>
                  <a:pt x="105255" y="210509"/>
                </a:lnTo>
                <a:cubicBezTo>
                  <a:pt x="47163" y="210509"/>
                  <a:pt x="0" y="163346"/>
                  <a:pt x="0" y="105255"/>
                </a:cubicBezTo>
                <a:lnTo>
                  <a:pt x="0" y="105255"/>
                </a:lnTo>
                <a:cubicBezTo>
                  <a:pt x="0" y="47163"/>
                  <a:pt x="47163" y="0"/>
                  <a:pt x="105255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73" name="Text 71"/>
          <p:cNvSpPr/>
          <p:nvPr/>
        </p:nvSpPr>
        <p:spPr>
          <a:xfrm>
            <a:off x="6316158" y="5315361"/>
            <a:ext cx="263137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6623151" y="5297819"/>
            <a:ext cx="3297980" cy="192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及时掌握客户需求变化、决策链动态及竞争对手动作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342472" y="5596040"/>
            <a:ext cx="210509" cy="210509"/>
          </a:xfrm>
          <a:custGeom>
            <a:avLst/>
            <a:gdLst/>
            <a:ahLst/>
            <a:cxnLst/>
            <a:rect l="l" t="t" r="r" b="b"/>
            <a:pathLst>
              <a:path w="210509" h="210509">
                <a:moveTo>
                  <a:pt x="105255" y="0"/>
                </a:moveTo>
                <a:lnTo>
                  <a:pt x="105255" y="0"/>
                </a:lnTo>
                <a:cubicBezTo>
                  <a:pt x="163346" y="0"/>
                  <a:pt x="210509" y="47163"/>
                  <a:pt x="210509" y="105255"/>
                </a:cubicBezTo>
                <a:lnTo>
                  <a:pt x="210509" y="105255"/>
                </a:lnTo>
                <a:cubicBezTo>
                  <a:pt x="210509" y="163346"/>
                  <a:pt x="163346" y="210509"/>
                  <a:pt x="105255" y="210509"/>
                </a:cubicBezTo>
                <a:lnTo>
                  <a:pt x="105255" y="210509"/>
                </a:lnTo>
                <a:cubicBezTo>
                  <a:pt x="47163" y="210509"/>
                  <a:pt x="0" y="163346"/>
                  <a:pt x="0" y="105255"/>
                </a:cubicBezTo>
                <a:lnTo>
                  <a:pt x="0" y="105255"/>
                </a:lnTo>
                <a:cubicBezTo>
                  <a:pt x="0" y="47163"/>
                  <a:pt x="47163" y="0"/>
                  <a:pt x="105255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76" name="Text 74"/>
          <p:cNvSpPr/>
          <p:nvPr/>
        </p:nvSpPr>
        <p:spPr>
          <a:xfrm>
            <a:off x="6316158" y="5596040"/>
            <a:ext cx="263137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6623151" y="5578498"/>
            <a:ext cx="2210348" cy="192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针对客户侧问题,及时协调资源解决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368391" y="6087229"/>
            <a:ext cx="11472760" cy="421019"/>
          </a:xfrm>
          <a:custGeom>
            <a:avLst/>
            <a:gdLst/>
            <a:ahLst/>
            <a:cxnLst/>
            <a:rect l="l" t="t" r="r" b="b"/>
            <a:pathLst>
              <a:path w="11472760" h="421019">
                <a:moveTo>
                  <a:pt x="35085" y="0"/>
                </a:moveTo>
                <a:lnTo>
                  <a:pt x="11367505" y="0"/>
                </a:lnTo>
                <a:cubicBezTo>
                  <a:pt x="11425636" y="0"/>
                  <a:pt x="11472760" y="47124"/>
                  <a:pt x="11472760" y="105255"/>
                </a:cubicBezTo>
                <a:lnTo>
                  <a:pt x="11472760" y="315764"/>
                </a:lnTo>
                <a:cubicBezTo>
                  <a:pt x="11472760" y="373895"/>
                  <a:pt x="11425636" y="421019"/>
                  <a:pt x="11367505" y="421019"/>
                </a:cubicBezTo>
                <a:lnTo>
                  <a:pt x="35085" y="421019"/>
                </a:lnTo>
                <a:cubicBezTo>
                  <a:pt x="15708" y="421019"/>
                  <a:pt x="0" y="405311"/>
                  <a:pt x="0" y="385934"/>
                </a:cubicBezTo>
                <a:lnTo>
                  <a:pt x="0" y="35085"/>
                </a:lnTo>
                <a:cubicBezTo>
                  <a:pt x="0" y="15708"/>
                  <a:pt x="15708" y="0"/>
                  <a:pt x="35085" y="0"/>
                </a:cubicBezTo>
                <a:close/>
              </a:path>
            </a:pathLst>
          </a:custGeom>
          <a:solidFill>
            <a:srgbClr val="00B8D9">
              <a:alpha val="10196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368391" y="6087229"/>
            <a:ext cx="35085" cy="421019"/>
          </a:xfrm>
          <a:custGeom>
            <a:avLst/>
            <a:gdLst/>
            <a:ahLst/>
            <a:cxnLst/>
            <a:rect l="l" t="t" r="r" b="b"/>
            <a:pathLst>
              <a:path w="35085" h="421019">
                <a:moveTo>
                  <a:pt x="35085" y="0"/>
                </a:moveTo>
                <a:lnTo>
                  <a:pt x="35085" y="0"/>
                </a:lnTo>
                <a:lnTo>
                  <a:pt x="35085" y="421019"/>
                </a:lnTo>
                <a:lnTo>
                  <a:pt x="35085" y="421019"/>
                </a:lnTo>
                <a:cubicBezTo>
                  <a:pt x="15708" y="421019"/>
                  <a:pt x="0" y="405311"/>
                  <a:pt x="0" y="385934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80" name="Shape 78"/>
          <p:cNvSpPr/>
          <p:nvPr/>
        </p:nvSpPr>
        <p:spPr>
          <a:xfrm>
            <a:off x="502153" y="6210026"/>
            <a:ext cx="197353" cy="175424"/>
          </a:xfrm>
          <a:custGeom>
            <a:avLst/>
            <a:gdLst/>
            <a:ahLst/>
            <a:cxnLst/>
            <a:rect l="l" t="t" r="r" b="b"/>
            <a:pathLst>
              <a:path w="197353" h="175424">
                <a:moveTo>
                  <a:pt x="106043" y="-6476"/>
                </a:moveTo>
                <a:cubicBezTo>
                  <a:pt x="104638" y="-9217"/>
                  <a:pt x="101794" y="-10964"/>
                  <a:pt x="98711" y="-10964"/>
                </a:cubicBezTo>
                <a:cubicBezTo>
                  <a:pt x="95627" y="-10964"/>
                  <a:pt x="92783" y="-9217"/>
                  <a:pt x="91378" y="-6476"/>
                </a:cubicBezTo>
                <a:lnTo>
                  <a:pt x="66161" y="42931"/>
                </a:lnTo>
                <a:lnTo>
                  <a:pt x="11375" y="51634"/>
                </a:lnTo>
                <a:cubicBezTo>
                  <a:pt x="8326" y="52113"/>
                  <a:pt x="5790" y="54272"/>
                  <a:pt x="4831" y="57219"/>
                </a:cubicBezTo>
                <a:cubicBezTo>
                  <a:pt x="3872" y="60165"/>
                  <a:pt x="4660" y="63386"/>
                  <a:pt x="6818" y="65579"/>
                </a:cubicBezTo>
                <a:lnTo>
                  <a:pt x="46015" y="104809"/>
                </a:lnTo>
                <a:lnTo>
                  <a:pt x="37380" y="159595"/>
                </a:lnTo>
                <a:cubicBezTo>
                  <a:pt x="36901" y="162645"/>
                  <a:pt x="38169" y="165728"/>
                  <a:pt x="40670" y="167544"/>
                </a:cubicBezTo>
                <a:cubicBezTo>
                  <a:pt x="43171" y="169360"/>
                  <a:pt x="46460" y="169634"/>
                  <a:pt x="49235" y="168229"/>
                </a:cubicBezTo>
                <a:lnTo>
                  <a:pt x="98711" y="143081"/>
                </a:lnTo>
                <a:lnTo>
                  <a:pt x="148151" y="168229"/>
                </a:lnTo>
                <a:cubicBezTo>
                  <a:pt x="150892" y="169634"/>
                  <a:pt x="154216" y="169360"/>
                  <a:pt x="156717" y="167544"/>
                </a:cubicBezTo>
                <a:cubicBezTo>
                  <a:pt x="159218" y="165728"/>
                  <a:pt x="160486" y="162679"/>
                  <a:pt x="160006" y="159595"/>
                </a:cubicBezTo>
                <a:lnTo>
                  <a:pt x="151338" y="104809"/>
                </a:lnTo>
                <a:lnTo>
                  <a:pt x="190534" y="65579"/>
                </a:lnTo>
                <a:cubicBezTo>
                  <a:pt x="192727" y="63386"/>
                  <a:pt x="193481" y="60165"/>
                  <a:pt x="192521" y="57219"/>
                </a:cubicBezTo>
                <a:cubicBezTo>
                  <a:pt x="191562" y="54272"/>
                  <a:pt x="189061" y="52113"/>
                  <a:pt x="185977" y="51634"/>
                </a:cubicBezTo>
                <a:lnTo>
                  <a:pt x="131226" y="42931"/>
                </a:lnTo>
                <a:lnTo>
                  <a:pt x="106043" y="-6476"/>
                </a:ln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81" name="Text 79"/>
          <p:cNvSpPr/>
          <p:nvPr/>
        </p:nvSpPr>
        <p:spPr>
          <a:xfrm>
            <a:off x="815724" y="6192483"/>
            <a:ext cx="4394383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核心目标:</a:t>
            </a:r>
            <a:r>
              <a:rPr lang="en-US" sz="110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引导客户决策标准倾向我司,为投标工作奠定坚实的策略基础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00B8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PHASE 03 · BID EXECUTION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投标执行阶段:精准施策,高效落地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762000" cy="57150"/>
          </a:xfrm>
          <a:custGeom>
            <a:avLst/>
            <a:gdLst/>
            <a:ahLst/>
            <a:cxnLst/>
            <a:rect l="l" t="t" r="r" b="b"/>
            <a:pathLst>
              <a:path w="762000" h="57150">
                <a:moveTo>
                  <a:pt x="0" y="0"/>
                </a:moveTo>
                <a:lnTo>
                  <a:pt x="762000" y="0"/>
                </a:lnTo>
                <a:lnTo>
                  <a:pt x="762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390650"/>
            <a:ext cx="11430000" cy="838200"/>
          </a:xfrm>
          <a:custGeom>
            <a:avLst/>
            <a:gdLst/>
            <a:ahLst/>
            <a:cxnLst/>
            <a:rect l="l" t="t" r="r" b="b"/>
            <a:pathLst>
              <a:path w="11430000" h="838200">
                <a:moveTo>
                  <a:pt x="114297" y="0"/>
                </a:moveTo>
                <a:lnTo>
                  <a:pt x="11315703" y="0"/>
                </a:lnTo>
                <a:cubicBezTo>
                  <a:pt x="11378828" y="0"/>
                  <a:pt x="11430000" y="51172"/>
                  <a:pt x="11430000" y="114297"/>
                </a:cubicBezTo>
                <a:lnTo>
                  <a:pt x="11430000" y="723903"/>
                </a:lnTo>
                <a:cubicBezTo>
                  <a:pt x="11430000" y="787028"/>
                  <a:pt x="11378828" y="838200"/>
                  <a:pt x="11315703" y="838200"/>
                </a:cubicBezTo>
                <a:lnTo>
                  <a:pt x="114297" y="838200"/>
                </a:lnTo>
                <a:cubicBezTo>
                  <a:pt x="51172" y="838200"/>
                  <a:pt x="0" y="787028"/>
                  <a:pt x="0" y="7239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" y="16668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50031" y="142875"/>
                </a:moveTo>
                <a:cubicBezTo>
                  <a:pt x="250031" y="83734"/>
                  <a:pt x="202016" y="35719"/>
                  <a:pt x="142875" y="35719"/>
                </a:cubicBezTo>
                <a:cubicBezTo>
                  <a:pt x="83734" y="35719"/>
                  <a:pt x="35719" y="83734"/>
                  <a:pt x="35719" y="142875"/>
                </a:cubicBezTo>
                <a:cubicBezTo>
                  <a:pt x="35719" y="202016"/>
                  <a:pt x="83734" y="250031"/>
                  <a:pt x="142875" y="250031"/>
                </a:cubicBezTo>
                <a:cubicBezTo>
                  <a:pt x="202016" y="250031"/>
                  <a:pt x="250031" y="202016"/>
                  <a:pt x="250031" y="142875"/>
                </a:cubicBezTo>
                <a:close/>
                <a:moveTo>
                  <a:pt x="0" y="142875"/>
                </a:moveTo>
                <a:cubicBezTo>
                  <a:pt x="0" y="64020"/>
                  <a:pt x="64020" y="0"/>
                  <a:pt x="142875" y="0"/>
                </a:cubicBez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lose/>
                <a:moveTo>
                  <a:pt x="142875" y="187523"/>
                </a:moveTo>
                <a:cubicBezTo>
                  <a:pt x="167517" y="187523"/>
                  <a:pt x="187523" y="167517"/>
                  <a:pt x="187523" y="142875"/>
                </a:cubicBezTo>
                <a:cubicBezTo>
                  <a:pt x="187523" y="118233"/>
                  <a:pt x="167517" y="98227"/>
                  <a:pt x="142875" y="98227"/>
                </a:cubicBezTo>
                <a:cubicBezTo>
                  <a:pt x="118233" y="98227"/>
                  <a:pt x="98227" y="118233"/>
                  <a:pt x="98227" y="142875"/>
                </a:cubicBezTo>
                <a:cubicBezTo>
                  <a:pt x="98227" y="167517"/>
                  <a:pt x="118233" y="187523"/>
                  <a:pt x="142875" y="187523"/>
                </a:cubicBezTo>
                <a:close/>
                <a:moveTo>
                  <a:pt x="142875" y="62508"/>
                </a:moveTo>
                <a:cubicBezTo>
                  <a:pt x="187231" y="62508"/>
                  <a:pt x="223242" y="98519"/>
                  <a:pt x="223242" y="142875"/>
                </a:cubicBezTo>
                <a:cubicBezTo>
                  <a:pt x="223242" y="187231"/>
                  <a:pt x="187231" y="223242"/>
                  <a:pt x="142875" y="223242"/>
                </a:cubicBezTo>
                <a:cubicBezTo>
                  <a:pt x="98519" y="223242"/>
                  <a:pt x="62508" y="187231"/>
                  <a:pt x="62508" y="142875"/>
                </a:cubicBezTo>
                <a:cubicBezTo>
                  <a:pt x="62508" y="98519"/>
                  <a:pt x="98519" y="62508"/>
                  <a:pt x="142875" y="62508"/>
                </a:cubicBezTo>
                <a:close/>
                <a:moveTo>
                  <a:pt x="125016" y="142875"/>
                </a:moveTo>
                <a:cubicBezTo>
                  <a:pt x="125016" y="133018"/>
                  <a:pt x="133018" y="125016"/>
                  <a:pt x="142875" y="125016"/>
                </a:cubicBezTo>
                <a:cubicBezTo>
                  <a:pt x="152732" y="125016"/>
                  <a:pt x="160734" y="133018"/>
                  <a:pt x="160734" y="142875"/>
                </a:cubicBezTo>
                <a:cubicBezTo>
                  <a:pt x="160734" y="152732"/>
                  <a:pt x="152732" y="160734"/>
                  <a:pt x="142875" y="160734"/>
                </a:cubicBezTo>
                <a:cubicBezTo>
                  <a:pt x="133018" y="160734"/>
                  <a:pt x="125016" y="152732"/>
                  <a:pt x="125016" y="1428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042988" y="1543050"/>
            <a:ext cx="7820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阶段核心目标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42988" y="1847850"/>
            <a:ext cx="781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带领项目组完成标书分析、投标策略制定与评审,推动投标策略高效执行,确保投标工作科学、有序开展,提升中标率。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1000" y="2400300"/>
            <a:ext cx="3705225" cy="2876550"/>
          </a:xfrm>
          <a:custGeom>
            <a:avLst/>
            <a:gdLst/>
            <a:ahLst/>
            <a:cxnLst/>
            <a:rect l="l" t="t" r="r" b="b"/>
            <a:pathLst>
              <a:path w="3705225" h="28765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2762236"/>
                </a:lnTo>
                <a:cubicBezTo>
                  <a:pt x="3705225" y="2825370"/>
                  <a:pt x="3654045" y="2876550"/>
                  <a:pt x="3590911" y="2876550"/>
                </a:cubicBezTo>
                <a:lnTo>
                  <a:pt x="114314" y="2876550"/>
                </a:lnTo>
                <a:cubicBezTo>
                  <a:pt x="51180" y="2876550"/>
                  <a:pt x="0" y="2825370"/>
                  <a:pt x="0" y="276223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1000" y="240030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11" name="Shape 9"/>
          <p:cNvSpPr/>
          <p:nvPr/>
        </p:nvSpPr>
        <p:spPr>
          <a:xfrm>
            <a:off x="533400" y="2571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12" name="Text 10"/>
          <p:cNvSpPr/>
          <p:nvPr/>
        </p:nvSpPr>
        <p:spPr>
          <a:xfrm>
            <a:off x="490538" y="257175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28700" y="2628900"/>
            <a:ext cx="128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标前评审会组织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52450" y="3067050"/>
            <a:ext cx="3381375" cy="628650"/>
          </a:xfrm>
          <a:custGeom>
            <a:avLst/>
            <a:gdLst/>
            <a:ahLst/>
            <a:cxnLst/>
            <a:rect l="l" t="t" r="r" b="b"/>
            <a:pathLst>
              <a:path w="3381375" h="628650">
                <a:moveTo>
                  <a:pt x="38100" y="0"/>
                </a:moveTo>
                <a:lnTo>
                  <a:pt x="3305176" y="0"/>
                </a:lnTo>
                <a:cubicBezTo>
                  <a:pt x="3347260" y="0"/>
                  <a:pt x="3381375" y="34115"/>
                  <a:pt x="3381375" y="76199"/>
                </a:cubicBezTo>
                <a:lnTo>
                  <a:pt x="3381375" y="552451"/>
                </a:lnTo>
                <a:cubicBezTo>
                  <a:pt x="3381375" y="594535"/>
                  <a:pt x="3347260" y="628650"/>
                  <a:pt x="3305176" y="628650"/>
                </a:cubicBezTo>
                <a:lnTo>
                  <a:pt x="38100" y="628650"/>
                </a:lnTo>
                <a:cubicBezTo>
                  <a:pt x="17072" y="628650"/>
                  <a:pt x="0" y="611578"/>
                  <a:pt x="0" y="590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35">
              <a:alpha val="1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52450" y="3067050"/>
            <a:ext cx="38100" cy="628650"/>
          </a:xfrm>
          <a:custGeom>
            <a:avLst/>
            <a:gdLst/>
            <a:ahLst/>
            <a:cxnLst/>
            <a:rect l="l" t="t" r="r" b="b"/>
            <a:pathLst>
              <a:path w="38100" h="628650">
                <a:moveTo>
                  <a:pt x="38100" y="0"/>
                </a:moveTo>
                <a:lnTo>
                  <a:pt x="38100" y="0"/>
                </a:lnTo>
                <a:lnTo>
                  <a:pt x="38100" y="628650"/>
                </a:lnTo>
                <a:lnTo>
                  <a:pt x="38100" y="628650"/>
                </a:lnTo>
                <a:cubicBezTo>
                  <a:pt x="17072" y="628650"/>
                  <a:pt x="0" y="611578"/>
                  <a:pt x="0" y="590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647700" y="3143250"/>
            <a:ext cx="3286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硬性时间要求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7700" y="3409950"/>
            <a:ext cx="32861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拿到标书后</a:t>
            </a:r>
            <a:r>
              <a:rPr lang="en-US" sz="1200" b="1" dirty="0">
                <a:solidFill>
                  <a:srgbClr val="FF6B35"/>
                </a:solidFill>
                <a:highlight>
                  <a:srgbClr val="FF6B35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3天内 </a:t>
            </a: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组织召开标前评审会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52450" y="3810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19" name="Text 17"/>
          <p:cNvSpPr/>
          <p:nvPr/>
        </p:nvSpPr>
        <p:spPr>
          <a:xfrm>
            <a:off x="800100" y="3771900"/>
            <a:ext cx="2667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督促客户关系负责人及时获取正式标书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52450" y="40957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21" name="Text 19"/>
          <p:cNvSpPr/>
          <p:nvPr/>
        </p:nvSpPr>
        <p:spPr>
          <a:xfrm>
            <a:off x="800100" y="4057650"/>
            <a:ext cx="29146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组织完成标书分析(技术、商务、服务条款)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52450" y="4381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23" name="Text 21"/>
          <p:cNvSpPr/>
          <p:nvPr/>
        </p:nvSpPr>
        <p:spPr>
          <a:xfrm>
            <a:off x="800100" y="4343400"/>
            <a:ext cx="29146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制定投标策略(价格、商务、竞争应对策略)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52450" y="46672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25" name="Text 23"/>
          <p:cNvSpPr/>
          <p:nvPr/>
        </p:nvSpPr>
        <p:spPr>
          <a:xfrm>
            <a:off x="800100" y="4629150"/>
            <a:ext cx="20574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评估投标风险并制定应对方案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52450" y="4953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27" name="Text 25"/>
          <p:cNvSpPr/>
          <p:nvPr/>
        </p:nvSpPr>
        <p:spPr>
          <a:xfrm>
            <a:off x="800100" y="4914900"/>
            <a:ext cx="23907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确保标前评审会结果在CRM中留痕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241721" y="2400300"/>
            <a:ext cx="3705225" cy="2876550"/>
          </a:xfrm>
          <a:custGeom>
            <a:avLst/>
            <a:gdLst/>
            <a:ahLst/>
            <a:cxnLst/>
            <a:rect l="l" t="t" r="r" b="b"/>
            <a:pathLst>
              <a:path w="3705225" h="28765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2762236"/>
                </a:lnTo>
                <a:cubicBezTo>
                  <a:pt x="3705225" y="2825370"/>
                  <a:pt x="3654045" y="2876550"/>
                  <a:pt x="3590911" y="2876550"/>
                </a:cubicBezTo>
                <a:lnTo>
                  <a:pt x="114314" y="2876550"/>
                </a:lnTo>
                <a:cubicBezTo>
                  <a:pt x="51180" y="2876550"/>
                  <a:pt x="0" y="2825370"/>
                  <a:pt x="0" y="276223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241721" y="240030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30" name="Shape 28"/>
          <p:cNvSpPr/>
          <p:nvPr/>
        </p:nvSpPr>
        <p:spPr>
          <a:xfrm>
            <a:off x="4394121" y="2571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31" name="Text 29"/>
          <p:cNvSpPr/>
          <p:nvPr/>
        </p:nvSpPr>
        <p:spPr>
          <a:xfrm>
            <a:off x="4351258" y="257175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889421" y="2628900"/>
            <a:ext cx="1628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投标策略制定与评审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413171" y="31051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34" name="Text 32"/>
          <p:cNvSpPr/>
          <p:nvPr/>
        </p:nvSpPr>
        <p:spPr>
          <a:xfrm>
            <a:off x="4660821" y="3067050"/>
            <a:ext cx="2514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牵头组织项目组制定投标策略规划书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413171" y="3390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36" name="Text 34"/>
          <p:cNvSpPr/>
          <p:nvPr/>
        </p:nvSpPr>
        <p:spPr>
          <a:xfrm>
            <a:off x="4660821" y="3352800"/>
            <a:ext cx="2514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整合技术、商务、服务等各板块意见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413171" y="36766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38" name="Text 36"/>
          <p:cNvSpPr/>
          <p:nvPr/>
        </p:nvSpPr>
        <p:spPr>
          <a:xfrm>
            <a:off x="4660821" y="3638550"/>
            <a:ext cx="2514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组织评审委员会对投标策略进行评审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413171" y="3962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40" name="Text 38"/>
          <p:cNvSpPr/>
          <p:nvPr/>
        </p:nvSpPr>
        <p:spPr>
          <a:xfrm>
            <a:off x="4660821" y="392430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汇总各方分歧点并推动决策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413171" y="42481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42" name="Text 40"/>
          <p:cNvSpPr/>
          <p:nvPr/>
        </p:nvSpPr>
        <p:spPr>
          <a:xfrm>
            <a:off x="4660821" y="4210050"/>
            <a:ext cx="30099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跟踪策略修订闭环,确保策略落地、风险可控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413171" y="4533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44" name="Text 42"/>
          <p:cNvSpPr/>
          <p:nvPr/>
        </p:nvSpPr>
        <p:spPr>
          <a:xfrm>
            <a:off x="4660821" y="4495800"/>
            <a:ext cx="2552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跟进特价申请,协调内部价格审批流程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102561" y="2400300"/>
            <a:ext cx="3705225" cy="2876550"/>
          </a:xfrm>
          <a:custGeom>
            <a:avLst/>
            <a:gdLst/>
            <a:ahLst/>
            <a:cxnLst/>
            <a:rect l="l" t="t" r="r" b="b"/>
            <a:pathLst>
              <a:path w="3705225" h="28765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2762236"/>
                </a:lnTo>
                <a:cubicBezTo>
                  <a:pt x="3705225" y="2825370"/>
                  <a:pt x="3654045" y="2876550"/>
                  <a:pt x="3590911" y="2876550"/>
                </a:cubicBezTo>
                <a:lnTo>
                  <a:pt x="114314" y="2876550"/>
                </a:lnTo>
                <a:cubicBezTo>
                  <a:pt x="51180" y="2876550"/>
                  <a:pt x="0" y="2825370"/>
                  <a:pt x="0" y="276223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102561" y="240030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47" name="Shape 45"/>
          <p:cNvSpPr/>
          <p:nvPr/>
        </p:nvSpPr>
        <p:spPr>
          <a:xfrm>
            <a:off x="8254961" y="2571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48" name="Text 46"/>
          <p:cNvSpPr/>
          <p:nvPr/>
        </p:nvSpPr>
        <p:spPr>
          <a:xfrm>
            <a:off x="8212098" y="257175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750261" y="2628900"/>
            <a:ext cx="1628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投标策略执行与管控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274011" y="31051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1" name="Text 49"/>
          <p:cNvSpPr/>
          <p:nvPr/>
        </p:nvSpPr>
        <p:spPr>
          <a:xfrm>
            <a:off x="8521661" y="3067050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全程跟踪投标策略执行进展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274011" y="3390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3" name="Text 51"/>
          <p:cNvSpPr/>
          <p:nvPr/>
        </p:nvSpPr>
        <p:spPr>
          <a:xfrm>
            <a:off x="8521661" y="3352800"/>
            <a:ext cx="2971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针对执行中的异常问题及时跟催、协调解决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274011" y="36766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5" name="Text 53"/>
          <p:cNvSpPr/>
          <p:nvPr/>
        </p:nvSpPr>
        <p:spPr>
          <a:xfrm>
            <a:off x="8521661" y="3638550"/>
            <a:ext cx="3124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督促完成技术标书、商务标书、服务方案编制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274011" y="3962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7" name="Text 55"/>
          <p:cNvSpPr/>
          <p:nvPr/>
        </p:nvSpPr>
        <p:spPr>
          <a:xfrm>
            <a:off x="8521661" y="3924300"/>
            <a:ext cx="2857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协助合作伙伴完成投标文件,确保标书质量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274011" y="42481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9" name="Text 57"/>
          <p:cNvSpPr/>
          <p:nvPr/>
        </p:nvSpPr>
        <p:spPr>
          <a:xfrm>
            <a:off x="8521661" y="4210050"/>
            <a:ext cx="20574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统筹安排讲标人员与演示材料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274011" y="4533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61" name="Text 59"/>
          <p:cNvSpPr/>
          <p:nvPr/>
        </p:nvSpPr>
        <p:spPr>
          <a:xfrm>
            <a:off x="8521661" y="4495800"/>
            <a:ext cx="2857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确保讲标过程突出我司优势,贴合客户需求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400050" y="5429250"/>
            <a:ext cx="5619750" cy="457200"/>
          </a:xfrm>
          <a:custGeom>
            <a:avLst/>
            <a:gdLst/>
            <a:ahLst/>
            <a:cxnLst/>
            <a:rect l="l" t="t" r="r" b="b"/>
            <a:pathLst>
              <a:path w="5619750" h="457200">
                <a:moveTo>
                  <a:pt x="38100" y="0"/>
                </a:moveTo>
                <a:lnTo>
                  <a:pt x="5505450" y="0"/>
                </a:lnTo>
                <a:cubicBezTo>
                  <a:pt x="5568534" y="0"/>
                  <a:pt x="5619750" y="51216"/>
                  <a:pt x="5619750" y="114300"/>
                </a:cubicBezTo>
                <a:lnTo>
                  <a:pt x="5619750" y="342900"/>
                </a:lnTo>
                <a:cubicBezTo>
                  <a:pt x="5619750" y="405984"/>
                  <a:pt x="5568534" y="457200"/>
                  <a:pt x="5505450" y="457200"/>
                </a:cubicBezTo>
                <a:lnTo>
                  <a:pt x="38100" y="457200"/>
                </a:lnTo>
                <a:cubicBezTo>
                  <a:pt x="17058" y="457200"/>
                  <a:pt x="0" y="440142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2CC">
              <a:alpha val="10196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400050" y="5429250"/>
            <a:ext cx="38100" cy="457200"/>
          </a:xfrm>
          <a:custGeom>
            <a:avLst/>
            <a:gdLst/>
            <a:ahLst/>
            <a:cxnLst/>
            <a:rect l="l" t="t" r="r" b="b"/>
            <a:pathLst>
              <a:path w="38100" h="457200">
                <a:moveTo>
                  <a:pt x="38100" y="0"/>
                </a:moveTo>
                <a:lnTo>
                  <a:pt x="38100" y="0"/>
                </a:lnTo>
                <a:lnTo>
                  <a:pt x="38100" y="457200"/>
                </a:ln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64" name="Shape 62"/>
          <p:cNvSpPr/>
          <p:nvPr/>
        </p:nvSpPr>
        <p:spPr>
          <a:xfrm>
            <a:off x="557213" y="55626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0" y="44648"/>
                </a:moveTo>
                <a:lnTo>
                  <a:pt x="86320" y="95250"/>
                </a:lnTo>
                <a:cubicBezTo>
                  <a:pt x="86320" y="98227"/>
                  <a:pt x="87809" y="101017"/>
                  <a:pt x="90301" y="102691"/>
                </a:cubicBezTo>
                <a:lnTo>
                  <a:pt x="126020" y="126504"/>
                </a:lnTo>
                <a:cubicBezTo>
                  <a:pt x="130113" y="129257"/>
                  <a:pt x="135657" y="128141"/>
                  <a:pt x="138410" y="124011"/>
                </a:cubicBezTo>
                <a:cubicBezTo>
                  <a:pt x="141163" y="119881"/>
                  <a:pt x="140047" y="114374"/>
                  <a:pt x="135917" y="111621"/>
                </a:cubicBezTo>
                <a:lnTo>
                  <a:pt x="104180" y="90488"/>
                </a:lnTo>
                <a:lnTo>
                  <a:pt x="104180" y="44648"/>
                </a:lnTo>
                <a:cubicBezTo>
                  <a:pt x="104180" y="39700"/>
                  <a:pt x="100199" y="35719"/>
                  <a:pt x="95250" y="35719"/>
                </a:cubicBezTo>
                <a:cubicBezTo>
                  <a:pt x="90301" y="35719"/>
                  <a:pt x="86320" y="39700"/>
                  <a:pt x="86320" y="44648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65" name="Text 63"/>
          <p:cNvSpPr/>
          <p:nvPr/>
        </p:nvSpPr>
        <p:spPr>
          <a:xfrm>
            <a:off x="885825" y="5543550"/>
            <a:ext cx="495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时间红线:</a:t>
            </a: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拿到标书后3天内必须召开标前评审会,这是MO流程的硬性要求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191250" y="5429250"/>
            <a:ext cx="5619750" cy="457200"/>
          </a:xfrm>
          <a:custGeom>
            <a:avLst/>
            <a:gdLst/>
            <a:ahLst/>
            <a:cxnLst/>
            <a:rect l="l" t="t" r="r" b="b"/>
            <a:pathLst>
              <a:path w="5619750" h="457200">
                <a:moveTo>
                  <a:pt x="38100" y="0"/>
                </a:moveTo>
                <a:lnTo>
                  <a:pt x="5505450" y="0"/>
                </a:lnTo>
                <a:cubicBezTo>
                  <a:pt x="5568534" y="0"/>
                  <a:pt x="5619750" y="51216"/>
                  <a:pt x="5619750" y="114300"/>
                </a:cubicBezTo>
                <a:lnTo>
                  <a:pt x="5619750" y="342900"/>
                </a:lnTo>
                <a:cubicBezTo>
                  <a:pt x="5619750" y="405984"/>
                  <a:pt x="5568534" y="457200"/>
                  <a:pt x="5505450" y="457200"/>
                </a:cubicBezTo>
                <a:lnTo>
                  <a:pt x="38100" y="457200"/>
                </a:lnTo>
                <a:cubicBezTo>
                  <a:pt x="17058" y="457200"/>
                  <a:pt x="0" y="440142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35">
              <a:alpha val="10196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6191250" y="5429250"/>
            <a:ext cx="38100" cy="457200"/>
          </a:xfrm>
          <a:custGeom>
            <a:avLst/>
            <a:gdLst/>
            <a:ahLst/>
            <a:cxnLst/>
            <a:rect l="l" t="t" r="r" b="b"/>
            <a:pathLst>
              <a:path w="38100" h="457200">
                <a:moveTo>
                  <a:pt x="38100" y="0"/>
                </a:moveTo>
                <a:lnTo>
                  <a:pt x="38100" y="0"/>
                </a:lnTo>
                <a:lnTo>
                  <a:pt x="38100" y="457200"/>
                </a:ln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68" name="Shape 66"/>
          <p:cNvSpPr/>
          <p:nvPr/>
        </p:nvSpPr>
        <p:spPr>
          <a:xfrm>
            <a:off x="6348413" y="55626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95250" y="50602"/>
                </a:moveTo>
                <a:cubicBezTo>
                  <a:pt x="100199" y="50602"/>
                  <a:pt x="104180" y="54583"/>
                  <a:pt x="104180" y="59531"/>
                </a:cubicBezTo>
                <a:lnTo>
                  <a:pt x="104180" y="101203"/>
                </a:lnTo>
                <a:cubicBezTo>
                  <a:pt x="104180" y="106152"/>
                  <a:pt x="100199" y="110133"/>
                  <a:pt x="95250" y="110133"/>
                </a:cubicBezTo>
                <a:cubicBezTo>
                  <a:pt x="90301" y="110133"/>
                  <a:pt x="86320" y="106152"/>
                  <a:pt x="86320" y="101203"/>
                </a:cubicBezTo>
                <a:lnTo>
                  <a:pt x="86320" y="59531"/>
                </a:lnTo>
                <a:cubicBezTo>
                  <a:pt x="86320" y="54583"/>
                  <a:pt x="90301" y="50602"/>
                  <a:pt x="95250" y="50602"/>
                </a:cubicBezTo>
                <a:close/>
                <a:moveTo>
                  <a:pt x="85316" y="130969"/>
                </a:moveTo>
                <a:cubicBezTo>
                  <a:pt x="85090" y="127281"/>
                  <a:pt x="86929" y="123773"/>
                  <a:pt x="90090" y="121861"/>
                </a:cubicBezTo>
                <a:cubicBezTo>
                  <a:pt x="93251" y="119949"/>
                  <a:pt x="97212" y="119949"/>
                  <a:pt x="100373" y="121861"/>
                </a:cubicBezTo>
                <a:cubicBezTo>
                  <a:pt x="103534" y="123773"/>
                  <a:pt x="105373" y="127281"/>
                  <a:pt x="105147" y="130969"/>
                </a:cubicBezTo>
                <a:cubicBezTo>
                  <a:pt x="105373" y="134656"/>
                  <a:pt x="103534" y="138165"/>
                  <a:pt x="100373" y="140077"/>
                </a:cubicBezTo>
                <a:cubicBezTo>
                  <a:pt x="97212" y="141989"/>
                  <a:pt x="93251" y="141989"/>
                  <a:pt x="90090" y="140077"/>
                </a:cubicBezTo>
                <a:cubicBezTo>
                  <a:pt x="86929" y="138165"/>
                  <a:pt x="85090" y="134656"/>
                  <a:pt x="85316" y="130969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69" name="Text 67"/>
          <p:cNvSpPr/>
          <p:nvPr/>
        </p:nvSpPr>
        <p:spPr>
          <a:xfrm>
            <a:off x="6677025" y="5543550"/>
            <a:ext cx="4924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关键提醒:</a:t>
            </a: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投标策略需在标前评审会中充分讨论,确保策略落地、风险可控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100" dirty="0">
                <a:solidFill>
                  <a:srgbClr val="00B8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PHASE 04 &amp; 05 · CONTRACT &amp; REVIEW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合同谈判与复盘阶段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84250"/>
            <a:ext cx="635000" cy="47625"/>
          </a:xfrm>
          <a:custGeom>
            <a:avLst/>
            <a:gdLst/>
            <a:ahLst/>
            <a:cxnLst/>
            <a:rect l="l" t="t" r="r" b="b"/>
            <a:pathLst>
              <a:path w="635000" h="47625">
                <a:moveTo>
                  <a:pt x="0" y="0"/>
                </a:moveTo>
                <a:lnTo>
                  <a:pt x="635000" y="0"/>
                </a:lnTo>
                <a:lnTo>
                  <a:pt x="635000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317500" y="1158875"/>
            <a:ext cx="5699125" cy="666750"/>
          </a:xfrm>
          <a:custGeom>
            <a:avLst/>
            <a:gdLst/>
            <a:ahLst/>
            <a:cxnLst/>
            <a:rect l="l" t="t" r="r" b="b"/>
            <a:pathLst>
              <a:path w="5699125" h="666750">
                <a:moveTo>
                  <a:pt x="95252" y="0"/>
                </a:moveTo>
                <a:lnTo>
                  <a:pt x="5603873" y="0"/>
                </a:lnTo>
                <a:cubicBezTo>
                  <a:pt x="5656479" y="0"/>
                  <a:pt x="5699125" y="42646"/>
                  <a:pt x="5699125" y="95252"/>
                </a:cubicBezTo>
                <a:lnTo>
                  <a:pt x="5699125" y="571498"/>
                </a:lnTo>
                <a:cubicBezTo>
                  <a:pt x="5699125" y="624104"/>
                  <a:pt x="5656479" y="666750"/>
                  <a:pt x="5603873" y="666750"/>
                </a:cubicBezTo>
                <a:lnTo>
                  <a:pt x="95252" y="666750"/>
                </a:lnTo>
                <a:cubicBezTo>
                  <a:pt x="42681" y="666750"/>
                  <a:pt x="0" y="624069"/>
                  <a:pt x="0" y="57149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6" name="Shape 4"/>
          <p:cNvSpPr/>
          <p:nvPr/>
        </p:nvSpPr>
        <p:spPr>
          <a:xfrm>
            <a:off x="492125" y="13970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2" y="6958"/>
                </a:cubicBezTo>
                <a:lnTo>
                  <a:pt x="135917" y="46620"/>
                </a:lnTo>
                <a:cubicBezTo>
                  <a:pt x="140382" y="51085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6"/>
                </a:moveTo>
                <a:lnTo>
                  <a:pt x="77391" y="56555"/>
                </a:lnTo>
                <a:cubicBezTo>
                  <a:pt x="77391" y="61503"/>
                  <a:pt x="81372" y="65484"/>
                  <a:pt x="86320" y="65484"/>
                </a:cubicBezTo>
                <a:lnTo>
                  <a:pt x="121109" y="65484"/>
                </a:lnTo>
                <a:lnTo>
                  <a:pt x="77391" y="21766"/>
                </a:lnTo>
                <a:close/>
                <a:moveTo>
                  <a:pt x="32742" y="23812"/>
                </a:moveTo>
                <a:cubicBezTo>
                  <a:pt x="27794" y="23812"/>
                  <a:pt x="23812" y="27794"/>
                  <a:pt x="23812" y="32742"/>
                </a:cubicBezTo>
                <a:cubicBezTo>
                  <a:pt x="23812" y="37691"/>
                  <a:pt x="27794" y="41672"/>
                  <a:pt x="32742" y="41672"/>
                </a:cubicBezTo>
                <a:lnTo>
                  <a:pt x="50602" y="41672"/>
                </a:lnTo>
                <a:cubicBezTo>
                  <a:pt x="55550" y="41672"/>
                  <a:pt x="59531" y="37691"/>
                  <a:pt x="59531" y="32742"/>
                </a:cubicBezTo>
                <a:cubicBezTo>
                  <a:pt x="59531" y="27794"/>
                  <a:pt x="55550" y="23812"/>
                  <a:pt x="50602" y="23812"/>
                </a:cubicBezTo>
                <a:lnTo>
                  <a:pt x="32742" y="23812"/>
                </a:lnTo>
                <a:close/>
                <a:moveTo>
                  <a:pt x="32742" y="59531"/>
                </a:moveTo>
                <a:cubicBezTo>
                  <a:pt x="27794" y="59531"/>
                  <a:pt x="23812" y="63512"/>
                  <a:pt x="23812" y="68461"/>
                </a:cubicBezTo>
                <a:cubicBezTo>
                  <a:pt x="23812" y="73409"/>
                  <a:pt x="27794" y="77391"/>
                  <a:pt x="32742" y="77391"/>
                </a:cubicBezTo>
                <a:lnTo>
                  <a:pt x="50602" y="77391"/>
                </a:lnTo>
                <a:cubicBezTo>
                  <a:pt x="55550" y="77391"/>
                  <a:pt x="59531" y="73409"/>
                  <a:pt x="59531" y="68461"/>
                </a:cubicBezTo>
                <a:cubicBezTo>
                  <a:pt x="59531" y="63512"/>
                  <a:pt x="55550" y="59531"/>
                  <a:pt x="50602" y="59531"/>
                </a:cubicBezTo>
                <a:lnTo>
                  <a:pt x="32742" y="59531"/>
                </a:lnTo>
                <a:close/>
                <a:moveTo>
                  <a:pt x="58899" y="119063"/>
                </a:moveTo>
                <a:cubicBezTo>
                  <a:pt x="54694" y="119063"/>
                  <a:pt x="50750" y="120960"/>
                  <a:pt x="48146" y="124234"/>
                </a:cubicBezTo>
                <a:lnTo>
                  <a:pt x="25784" y="152177"/>
                </a:lnTo>
                <a:cubicBezTo>
                  <a:pt x="22696" y="156009"/>
                  <a:pt x="23329" y="161665"/>
                  <a:pt x="27161" y="164716"/>
                </a:cubicBezTo>
                <a:cubicBezTo>
                  <a:pt x="30993" y="167767"/>
                  <a:pt x="36649" y="167171"/>
                  <a:pt x="39700" y="163302"/>
                </a:cubicBezTo>
                <a:lnTo>
                  <a:pt x="57224" y="141424"/>
                </a:lnTo>
                <a:lnTo>
                  <a:pt x="62880" y="160288"/>
                </a:lnTo>
                <a:cubicBezTo>
                  <a:pt x="63996" y="164083"/>
                  <a:pt x="67494" y="166650"/>
                  <a:pt x="71438" y="166650"/>
                </a:cubicBezTo>
                <a:lnTo>
                  <a:pt x="110133" y="166650"/>
                </a:lnTo>
                <a:cubicBezTo>
                  <a:pt x="115081" y="166650"/>
                  <a:pt x="119063" y="162669"/>
                  <a:pt x="119063" y="157721"/>
                </a:cubicBezTo>
                <a:cubicBezTo>
                  <a:pt x="119063" y="152772"/>
                  <a:pt x="115081" y="148791"/>
                  <a:pt x="110133" y="148791"/>
                </a:cubicBezTo>
                <a:lnTo>
                  <a:pt x="78098" y="148791"/>
                </a:lnTo>
                <a:lnTo>
                  <a:pt x="72107" y="128848"/>
                </a:lnTo>
                <a:cubicBezTo>
                  <a:pt x="70358" y="123006"/>
                  <a:pt x="65001" y="119025"/>
                  <a:pt x="58899" y="1190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777875" y="1285875"/>
            <a:ext cx="992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合同谈判阶段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875" y="1539875"/>
            <a:ext cx="976312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严控风险,促成签约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3375" y="1920875"/>
            <a:ext cx="5683250" cy="1222375"/>
          </a:xfrm>
          <a:custGeom>
            <a:avLst/>
            <a:gdLst/>
            <a:ahLst/>
            <a:cxnLst/>
            <a:rect l="l" t="t" r="r" b="b"/>
            <a:pathLst>
              <a:path w="5683250" h="1222375">
                <a:moveTo>
                  <a:pt x="31750" y="0"/>
                </a:moveTo>
                <a:lnTo>
                  <a:pt x="5619748" y="0"/>
                </a:lnTo>
                <a:cubicBezTo>
                  <a:pt x="5654819" y="0"/>
                  <a:pt x="5683250" y="28431"/>
                  <a:pt x="5683250" y="63502"/>
                </a:cubicBezTo>
                <a:lnTo>
                  <a:pt x="5683250" y="1158873"/>
                </a:lnTo>
                <a:cubicBezTo>
                  <a:pt x="5683250" y="1193944"/>
                  <a:pt x="5654819" y="1222375"/>
                  <a:pt x="5619748" y="1222375"/>
                </a:cubicBezTo>
                <a:lnTo>
                  <a:pt x="31750" y="1222375"/>
                </a:lnTo>
                <a:cubicBezTo>
                  <a:pt x="14215" y="1222375"/>
                  <a:pt x="0" y="1208160"/>
                  <a:pt x="0" y="1190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375" y="1920875"/>
            <a:ext cx="31750" cy="1222375"/>
          </a:xfrm>
          <a:custGeom>
            <a:avLst/>
            <a:gdLst/>
            <a:ahLst/>
            <a:cxnLst/>
            <a:rect l="l" t="t" r="r" b="b"/>
            <a:pathLst>
              <a:path w="31750" h="1222375">
                <a:moveTo>
                  <a:pt x="31750" y="0"/>
                </a:moveTo>
                <a:lnTo>
                  <a:pt x="31750" y="0"/>
                </a:lnTo>
                <a:lnTo>
                  <a:pt x="31750" y="1222375"/>
                </a:lnTo>
                <a:lnTo>
                  <a:pt x="31750" y="1222375"/>
                </a:lnTo>
                <a:cubicBezTo>
                  <a:pt x="14227" y="1222375"/>
                  <a:pt x="0" y="1208148"/>
                  <a:pt x="0" y="1190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11" name="Shape 9"/>
          <p:cNvSpPr/>
          <p:nvPr/>
        </p:nvSpPr>
        <p:spPr>
          <a:xfrm>
            <a:off x="452438" y="2047875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66700" y="21134"/>
                </a:moveTo>
                <a:lnTo>
                  <a:pt x="37778" y="53280"/>
                </a:lnTo>
                <a:cubicBezTo>
                  <a:pt x="36637" y="54546"/>
                  <a:pt x="36686" y="56505"/>
                  <a:pt x="37902" y="57721"/>
                </a:cubicBezTo>
                <a:cubicBezTo>
                  <a:pt x="45467" y="65286"/>
                  <a:pt x="57745" y="65286"/>
                  <a:pt x="65311" y="57721"/>
                </a:cubicBezTo>
                <a:lnTo>
                  <a:pt x="73199" y="49833"/>
                </a:lnTo>
                <a:cubicBezTo>
                  <a:pt x="74240" y="48791"/>
                  <a:pt x="75555" y="48220"/>
                  <a:pt x="76895" y="48121"/>
                </a:cubicBezTo>
                <a:cubicBezTo>
                  <a:pt x="78581" y="47972"/>
                  <a:pt x="80318" y="48543"/>
                  <a:pt x="81607" y="49833"/>
                </a:cubicBezTo>
                <a:lnTo>
                  <a:pt x="125413" y="93266"/>
                </a:lnTo>
                <a:lnTo>
                  <a:pt x="142875" y="79375"/>
                </a:lnTo>
                <a:lnTo>
                  <a:pt x="142875" y="7938"/>
                </a:lnTo>
                <a:lnTo>
                  <a:pt x="115094" y="23812"/>
                </a:lnTo>
                <a:lnTo>
                  <a:pt x="109190" y="19869"/>
                </a:lnTo>
                <a:cubicBezTo>
                  <a:pt x="105271" y="17264"/>
                  <a:pt x="100682" y="15875"/>
                  <a:pt x="95969" y="15875"/>
                </a:cubicBezTo>
                <a:lnTo>
                  <a:pt x="78507" y="15875"/>
                </a:lnTo>
                <a:cubicBezTo>
                  <a:pt x="78234" y="15875"/>
                  <a:pt x="77936" y="15875"/>
                  <a:pt x="77663" y="15900"/>
                </a:cubicBezTo>
                <a:cubicBezTo>
                  <a:pt x="73471" y="16123"/>
                  <a:pt x="69528" y="18008"/>
                  <a:pt x="66700" y="21134"/>
                </a:cubicBezTo>
                <a:close/>
                <a:moveTo>
                  <a:pt x="28922" y="45318"/>
                </a:moveTo>
                <a:lnTo>
                  <a:pt x="55414" y="15875"/>
                </a:lnTo>
                <a:lnTo>
                  <a:pt x="45591" y="15875"/>
                </a:lnTo>
                <a:cubicBezTo>
                  <a:pt x="39266" y="15875"/>
                  <a:pt x="33213" y="18380"/>
                  <a:pt x="28749" y="22845"/>
                </a:cubicBezTo>
                <a:lnTo>
                  <a:pt x="27781" y="23812"/>
                </a:lnTo>
                <a:lnTo>
                  <a:pt x="0" y="7938"/>
                </a:lnTo>
                <a:lnTo>
                  <a:pt x="0" y="79375"/>
                </a:lnTo>
                <a:lnTo>
                  <a:pt x="38795" y="111696"/>
                </a:lnTo>
                <a:cubicBezTo>
                  <a:pt x="44500" y="116458"/>
                  <a:pt x="51693" y="119063"/>
                  <a:pt x="59110" y="119063"/>
                </a:cubicBezTo>
                <a:lnTo>
                  <a:pt x="63004" y="119063"/>
                </a:lnTo>
                <a:lnTo>
                  <a:pt x="61268" y="117326"/>
                </a:lnTo>
                <a:cubicBezTo>
                  <a:pt x="58936" y="114995"/>
                  <a:pt x="58936" y="111224"/>
                  <a:pt x="61268" y="108917"/>
                </a:cubicBezTo>
                <a:cubicBezTo>
                  <a:pt x="63599" y="106611"/>
                  <a:pt x="67370" y="106586"/>
                  <a:pt x="69676" y="108917"/>
                </a:cubicBezTo>
                <a:lnTo>
                  <a:pt x="79846" y="119087"/>
                </a:lnTo>
                <a:lnTo>
                  <a:pt x="82079" y="119087"/>
                </a:lnTo>
                <a:cubicBezTo>
                  <a:pt x="86816" y="119087"/>
                  <a:pt x="91455" y="118021"/>
                  <a:pt x="95672" y="116036"/>
                </a:cubicBezTo>
                <a:lnTo>
                  <a:pt x="89049" y="109389"/>
                </a:lnTo>
                <a:cubicBezTo>
                  <a:pt x="86717" y="107057"/>
                  <a:pt x="86717" y="103287"/>
                  <a:pt x="89049" y="100980"/>
                </a:cubicBezTo>
                <a:cubicBezTo>
                  <a:pt x="91380" y="98673"/>
                  <a:pt x="95151" y="98648"/>
                  <a:pt x="97458" y="100980"/>
                </a:cubicBezTo>
                <a:lnTo>
                  <a:pt x="105395" y="108917"/>
                </a:lnTo>
                <a:lnTo>
                  <a:pt x="109736" y="104577"/>
                </a:lnTo>
                <a:cubicBezTo>
                  <a:pt x="111944" y="102369"/>
                  <a:pt x="112588" y="99169"/>
                  <a:pt x="111621" y="96366"/>
                </a:cubicBezTo>
                <a:lnTo>
                  <a:pt x="77415" y="62433"/>
                </a:lnTo>
                <a:lnTo>
                  <a:pt x="73720" y="66129"/>
                </a:lnTo>
                <a:cubicBezTo>
                  <a:pt x="61491" y="78358"/>
                  <a:pt x="41697" y="78358"/>
                  <a:pt x="29468" y="66129"/>
                </a:cubicBezTo>
                <a:cubicBezTo>
                  <a:pt x="23763" y="60424"/>
                  <a:pt x="23540" y="51271"/>
                  <a:pt x="28922" y="45293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12" name="Text 10"/>
          <p:cNvSpPr/>
          <p:nvPr/>
        </p:nvSpPr>
        <p:spPr>
          <a:xfrm>
            <a:off x="603250" y="2016125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合同谈判统筹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4500" y="2270125"/>
            <a:ext cx="553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非直签项目:协同确认价格及商务条款,推动合同谈判与签约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4500" y="2476500"/>
            <a:ext cx="553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直签项目:直接参与与最终用户的合同谈判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4500" y="2682875"/>
            <a:ext cx="553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把控价格、付款方式、交付周期、验收标准、服务条款等核心内容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4500" y="2889250"/>
            <a:ext cx="553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坚决规避重大商业风险,及时组织评估并制定应对策略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33375" y="3206750"/>
            <a:ext cx="5683250" cy="1222375"/>
          </a:xfrm>
          <a:custGeom>
            <a:avLst/>
            <a:gdLst/>
            <a:ahLst/>
            <a:cxnLst/>
            <a:rect l="l" t="t" r="r" b="b"/>
            <a:pathLst>
              <a:path w="5683250" h="1222375">
                <a:moveTo>
                  <a:pt x="31750" y="0"/>
                </a:moveTo>
                <a:lnTo>
                  <a:pt x="5619748" y="0"/>
                </a:lnTo>
                <a:cubicBezTo>
                  <a:pt x="5654819" y="0"/>
                  <a:pt x="5683250" y="28431"/>
                  <a:pt x="5683250" y="63502"/>
                </a:cubicBezTo>
                <a:lnTo>
                  <a:pt x="5683250" y="1158873"/>
                </a:lnTo>
                <a:cubicBezTo>
                  <a:pt x="5683250" y="1193944"/>
                  <a:pt x="5654819" y="1222375"/>
                  <a:pt x="5619748" y="1222375"/>
                </a:cubicBezTo>
                <a:lnTo>
                  <a:pt x="31750" y="1222375"/>
                </a:lnTo>
                <a:cubicBezTo>
                  <a:pt x="14215" y="1222375"/>
                  <a:pt x="0" y="1208160"/>
                  <a:pt x="0" y="1190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3375" y="3206750"/>
            <a:ext cx="31750" cy="1222375"/>
          </a:xfrm>
          <a:custGeom>
            <a:avLst/>
            <a:gdLst/>
            <a:ahLst/>
            <a:cxnLst/>
            <a:rect l="l" t="t" r="r" b="b"/>
            <a:pathLst>
              <a:path w="31750" h="1222375">
                <a:moveTo>
                  <a:pt x="31750" y="0"/>
                </a:moveTo>
                <a:lnTo>
                  <a:pt x="31750" y="0"/>
                </a:lnTo>
                <a:lnTo>
                  <a:pt x="31750" y="1222375"/>
                </a:lnTo>
                <a:lnTo>
                  <a:pt x="31750" y="1222375"/>
                </a:lnTo>
                <a:cubicBezTo>
                  <a:pt x="14227" y="1222375"/>
                  <a:pt x="0" y="1208148"/>
                  <a:pt x="0" y="1190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19" name="Shape 17"/>
          <p:cNvSpPr/>
          <p:nvPr/>
        </p:nvSpPr>
        <p:spPr>
          <a:xfrm>
            <a:off x="476250" y="3333750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77242" y="7938"/>
                </a:moveTo>
                <a:lnTo>
                  <a:pt x="79375" y="7938"/>
                </a:lnTo>
                <a:cubicBezTo>
                  <a:pt x="88131" y="7938"/>
                  <a:pt x="95250" y="15056"/>
                  <a:pt x="95250" y="23812"/>
                </a:cubicBezTo>
                <a:lnTo>
                  <a:pt x="95250" y="111125"/>
                </a:lnTo>
                <a:cubicBezTo>
                  <a:pt x="95250" y="119881"/>
                  <a:pt x="88131" y="127000"/>
                  <a:pt x="79375" y="127000"/>
                </a:cubicBezTo>
                <a:lnTo>
                  <a:pt x="15875" y="127000"/>
                </a:lnTo>
                <a:cubicBezTo>
                  <a:pt x="7119" y="127000"/>
                  <a:pt x="0" y="119881"/>
                  <a:pt x="0" y="111125"/>
                </a:cubicBezTo>
                <a:lnTo>
                  <a:pt x="0" y="23812"/>
                </a:lnTo>
                <a:cubicBezTo>
                  <a:pt x="0" y="15056"/>
                  <a:pt x="7119" y="7938"/>
                  <a:pt x="15875" y="7938"/>
                </a:cubicBezTo>
                <a:lnTo>
                  <a:pt x="18008" y="7938"/>
                </a:lnTo>
                <a:cubicBezTo>
                  <a:pt x="20737" y="3200"/>
                  <a:pt x="25871" y="0"/>
                  <a:pt x="31750" y="0"/>
                </a:cubicBezTo>
                <a:lnTo>
                  <a:pt x="63500" y="0"/>
                </a:lnTo>
                <a:cubicBezTo>
                  <a:pt x="69379" y="0"/>
                  <a:pt x="74513" y="3200"/>
                  <a:pt x="77242" y="7938"/>
                </a:cubicBezTo>
                <a:close/>
                <a:moveTo>
                  <a:pt x="61516" y="27781"/>
                </a:moveTo>
                <a:cubicBezTo>
                  <a:pt x="64815" y="27781"/>
                  <a:pt x="67469" y="25127"/>
                  <a:pt x="67469" y="21828"/>
                </a:cubicBezTo>
                <a:cubicBezTo>
                  <a:pt x="67469" y="18529"/>
                  <a:pt x="64815" y="15875"/>
                  <a:pt x="61516" y="15875"/>
                </a:cubicBezTo>
                <a:lnTo>
                  <a:pt x="33734" y="15875"/>
                </a:lnTo>
                <a:cubicBezTo>
                  <a:pt x="30435" y="15875"/>
                  <a:pt x="27781" y="18529"/>
                  <a:pt x="27781" y="21828"/>
                </a:cubicBezTo>
                <a:cubicBezTo>
                  <a:pt x="27781" y="25127"/>
                  <a:pt x="30435" y="27781"/>
                  <a:pt x="33734" y="27781"/>
                </a:cubicBezTo>
                <a:lnTo>
                  <a:pt x="61516" y="27781"/>
                </a:lnTo>
                <a:close/>
                <a:moveTo>
                  <a:pt x="68560" y="64666"/>
                </a:moveTo>
                <a:cubicBezTo>
                  <a:pt x="70296" y="61888"/>
                  <a:pt x="69453" y="58217"/>
                  <a:pt x="66675" y="56455"/>
                </a:cubicBezTo>
                <a:cubicBezTo>
                  <a:pt x="63897" y="54694"/>
                  <a:pt x="60226" y="55563"/>
                  <a:pt x="58465" y="58341"/>
                </a:cubicBezTo>
                <a:lnTo>
                  <a:pt x="43235" y="82724"/>
                </a:lnTo>
                <a:lnTo>
                  <a:pt x="36537" y="73794"/>
                </a:lnTo>
                <a:cubicBezTo>
                  <a:pt x="34553" y="71165"/>
                  <a:pt x="30832" y="70619"/>
                  <a:pt x="28203" y="72603"/>
                </a:cubicBezTo>
                <a:cubicBezTo>
                  <a:pt x="25574" y="74588"/>
                  <a:pt x="25028" y="78308"/>
                  <a:pt x="27012" y="80938"/>
                </a:cubicBezTo>
                <a:lnTo>
                  <a:pt x="38919" y="96813"/>
                </a:lnTo>
                <a:cubicBezTo>
                  <a:pt x="40084" y="98375"/>
                  <a:pt x="41970" y="99268"/>
                  <a:pt x="43929" y="99194"/>
                </a:cubicBezTo>
                <a:cubicBezTo>
                  <a:pt x="45889" y="99120"/>
                  <a:pt x="47675" y="98078"/>
                  <a:pt x="48716" y="96391"/>
                </a:cubicBezTo>
                <a:lnTo>
                  <a:pt x="68560" y="64641"/>
                </a:ln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20" name="Text 18"/>
          <p:cNvSpPr/>
          <p:nvPr/>
        </p:nvSpPr>
        <p:spPr>
          <a:xfrm>
            <a:off x="603250" y="3302000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合同评审跟进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4500" y="3556000"/>
            <a:ext cx="553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督促商务助理及时在BPMS上发起业务三审流程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44500" y="3762375"/>
            <a:ext cx="553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协调信控、法务、客户体验、销管等部门完成合同评审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44500" y="3968750"/>
            <a:ext cx="553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督促客户体验负责人对服务条款进行审核,评估交付可行性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44500" y="4175125"/>
            <a:ext cx="553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针对评审提出的问题,及时组织与客沟通修订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33375" y="4492625"/>
            <a:ext cx="5683250" cy="1222375"/>
          </a:xfrm>
          <a:custGeom>
            <a:avLst/>
            <a:gdLst/>
            <a:ahLst/>
            <a:cxnLst/>
            <a:rect l="l" t="t" r="r" b="b"/>
            <a:pathLst>
              <a:path w="5683250" h="1222375">
                <a:moveTo>
                  <a:pt x="31750" y="0"/>
                </a:moveTo>
                <a:lnTo>
                  <a:pt x="5619748" y="0"/>
                </a:lnTo>
                <a:cubicBezTo>
                  <a:pt x="5654819" y="0"/>
                  <a:pt x="5683250" y="28431"/>
                  <a:pt x="5683250" y="63502"/>
                </a:cubicBezTo>
                <a:lnTo>
                  <a:pt x="5683250" y="1158873"/>
                </a:lnTo>
                <a:cubicBezTo>
                  <a:pt x="5683250" y="1193944"/>
                  <a:pt x="5654819" y="1222375"/>
                  <a:pt x="5619748" y="1222375"/>
                </a:cubicBezTo>
                <a:lnTo>
                  <a:pt x="31750" y="1222375"/>
                </a:lnTo>
                <a:cubicBezTo>
                  <a:pt x="14215" y="1222375"/>
                  <a:pt x="0" y="1208160"/>
                  <a:pt x="0" y="1190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3375" y="4492625"/>
            <a:ext cx="31750" cy="1222375"/>
          </a:xfrm>
          <a:custGeom>
            <a:avLst/>
            <a:gdLst/>
            <a:ahLst/>
            <a:cxnLst/>
            <a:rect l="l" t="t" r="r" b="b"/>
            <a:pathLst>
              <a:path w="31750" h="1222375">
                <a:moveTo>
                  <a:pt x="31750" y="0"/>
                </a:moveTo>
                <a:lnTo>
                  <a:pt x="31750" y="0"/>
                </a:lnTo>
                <a:lnTo>
                  <a:pt x="31750" y="1222375"/>
                </a:lnTo>
                <a:lnTo>
                  <a:pt x="31750" y="1222375"/>
                </a:lnTo>
                <a:cubicBezTo>
                  <a:pt x="14227" y="1222375"/>
                  <a:pt x="0" y="1208148"/>
                  <a:pt x="0" y="1190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27" name="Shape 25"/>
          <p:cNvSpPr/>
          <p:nvPr/>
        </p:nvSpPr>
        <p:spPr>
          <a:xfrm>
            <a:off x="444500" y="4619625"/>
            <a:ext cx="158750" cy="127000"/>
          </a:xfrm>
          <a:custGeom>
            <a:avLst/>
            <a:gdLst/>
            <a:ahLst/>
            <a:cxnLst/>
            <a:rect l="l" t="t" r="r" b="b"/>
            <a:pathLst>
              <a:path w="158750" h="127000">
                <a:moveTo>
                  <a:pt x="15900" y="15875"/>
                </a:moveTo>
                <a:cubicBezTo>
                  <a:pt x="15900" y="7119"/>
                  <a:pt x="23019" y="0"/>
                  <a:pt x="31775" y="0"/>
                </a:cubicBezTo>
                <a:lnTo>
                  <a:pt x="68858" y="0"/>
                </a:lnTo>
                <a:cubicBezTo>
                  <a:pt x="73075" y="0"/>
                  <a:pt x="77118" y="1662"/>
                  <a:pt x="80094" y="4638"/>
                </a:cubicBezTo>
                <a:lnTo>
                  <a:pt x="106487" y="31080"/>
                </a:lnTo>
                <a:cubicBezTo>
                  <a:pt x="109463" y="34057"/>
                  <a:pt x="111125" y="38100"/>
                  <a:pt x="111125" y="42317"/>
                </a:cubicBezTo>
                <a:lnTo>
                  <a:pt x="111125" y="66501"/>
                </a:lnTo>
                <a:lnTo>
                  <a:pt x="78383" y="99244"/>
                </a:lnTo>
                <a:lnTo>
                  <a:pt x="67940" y="99244"/>
                </a:lnTo>
                <a:lnTo>
                  <a:pt x="63946" y="85948"/>
                </a:lnTo>
                <a:cubicBezTo>
                  <a:pt x="62781" y="82054"/>
                  <a:pt x="59209" y="79400"/>
                  <a:pt x="55141" y="79400"/>
                </a:cubicBezTo>
                <a:cubicBezTo>
                  <a:pt x="52338" y="79400"/>
                  <a:pt x="49709" y="80665"/>
                  <a:pt x="47972" y="82848"/>
                </a:cubicBezTo>
                <a:lnTo>
                  <a:pt x="33065" y="101451"/>
                </a:lnTo>
                <a:cubicBezTo>
                  <a:pt x="31006" y="104006"/>
                  <a:pt x="31428" y="107776"/>
                  <a:pt x="33982" y="109810"/>
                </a:cubicBezTo>
                <a:cubicBezTo>
                  <a:pt x="36537" y="111844"/>
                  <a:pt x="40308" y="111447"/>
                  <a:pt x="42342" y="108868"/>
                </a:cubicBezTo>
                <a:lnTo>
                  <a:pt x="54025" y="94283"/>
                </a:lnTo>
                <a:lnTo>
                  <a:pt x="57795" y="106859"/>
                </a:lnTo>
                <a:cubicBezTo>
                  <a:pt x="58539" y="109389"/>
                  <a:pt x="60871" y="111100"/>
                  <a:pt x="63500" y="111100"/>
                </a:cubicBezTo>
                <a:lnTo>
                  <a:pt x="71313" y="111100"/>
                </a:lnTo>
                <a:cubicBezTo>
                  <a:pt x="71090" y="111869"/>
                  <a:pt x="70892" y="112663"/>
                  <a:pt x="70743" y="113457"/>
                </a:cubicBezTo>
                <a:lnTo>
                  <a:pt x="68039" y="126975"/>
                </a:lnTo>
                <a:lnTo>
                  <a:pt x="31775" y="126975"/>
                </a:lnTo>
                <a:cubicBezTo>
                  <a:pt x="23019" y="126975"/>
                  <a:pt x="15900" y="119856"/>
                  <a:pt x="15900" y="111100"/>
                </a:cubicBezTo>
                <a:lnTo>
                  <a:pt x="15900" y="15850"/>
                </a:lnTo>
                <a:close/>
                <a:moveTo>
                  <a:pt x="67494" y="14511"/>
                </a:moveTo>
                <a:lnTo>
                  <a:pt x="67494" y="37703"/>
                </a:lnTo>
                <a:cubicBezTo>
                  <a:pt x="67494" y="41002"/>
                  <a:pt x="70148" y="43656"/>
                  <a:pt x="73447" y="43656"/>
                </a:cubicBezTo>
                <a:lnTo>
                  <a:pt x="96639" y="43656"/>
                </a:lnTo>
                <a:lnTo>
                  <a:pt x="67494" y="14511"/>
                </a:lnTo>
                <a:close/>
                <a:moveTo>
                  <a:pt x="82426" y="115813"/>
                </a:moveTo>
                <a:cubicBezTo>
                  <a:pt x="83046" y="112737"/>
                  <a:pt x="84559" y="109910"/>
                  <a:pt x="86767" y="107702"/>
                </a:cubicBezTo>
                <a:lnTo>
                  <a:pt x="116260" y="78209"/>
                </a:lnTo>
                <a:lnTo>
                  <a:pt x="136103" y="98053"/>
                </a:lnTo>
                <a:lnTo>
                  <a:pt x="106611" y="127546"/>
                </a:lnTo>
                <a:cubicBezTo>
                  <a:pt x="104403" y="129753"/>
                  <a:pt x="101575" y="131266"/>
                  <a:pt x="98499" y="131887"/>
                </a:cubicBezTo>
                <a:lnTo>
                  <a:pt x="83716" y="134838"/>
                </a:lnTo>
                <a:cubicBezTo>
                  <a:pt x="83493" y="134888"/>
                  <a:pt x="83245" y="134913"/>
                  <a:pt x="82996" y="134913"/>
                </a:cubicBezTo>
                <a:cubicBezTo>
                  <a:pt x="81012" y="134913"/>
                  <a:pt x="79375" y="133300"/>
                  <a:pt x="79375" y="131291"/>
                </a:cubicBezTo>
                <a:cubicBezTo>
                  <a:pt x="79375" y="131043"/>
                  <a:pt x="79400" y="130820"/>
                  <a:pt x="79449" y="130572"/>
                </a:cubicBezTo>
                <a:lnTo>
                  <a:pt x="82401" y="115788"/>
                </a:lnTo>
                <a:close/>
                <a:moveTo>
                  <a:pt x="148853" y="85303"/>
                </a:moveTo>
                <a:lnTo>
                  <a:pt x="141709" y="92447"/>
                </a:lnTo>
                <a:lnTo>
                  <a:pt x="121865" y="72603"/>
                </a:lnTo>
                <a:lnTo>
                  <a:pt x="129009" y="65460"/>
                </a:lnTo>
                <a:cubicBezTo>
                  <a:pt x="134491" y="59978"/>
                  <a:pt x="143371" y="59978"/>
                  <a:pt x="148853" y="65460"/>
                </a:cubicBezTo>
                <a:cubicBezTo>
                  <a:pt x="154335" y="70941"/>
                  <a:pt x="154335" y="79821"/>
                  <a:pt x="148853" y="85303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28" name="Text 26"/>
          <p:cNvSpPr/>
          <p:nvPr/>
        </p:nvSpPr>
        <p:spPr>
          <a:xfrm>
            <a:off x="603250" y="4587875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合同签订与信息留痕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44500" y="4841875"/>
            <a:ext cx="553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推动合同双方完成盖章签约,确保过程规范、高效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44500" y="5048250"/>
            <a:ext cx="553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合同签订后,及时将正式合同上传至飞书及CRM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44500" y="5254625"/>
            <a:ext cx="553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督促技术负责人在项目下单后3天内完成售前移交售后表单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44500" y="5461000"/>
            <a:ext cx="553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确保售前售后衔接顺畅,为项目交付奠定基础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75375" y="1158875"/>
            <a:ext cx="5699125" cy="666750"/>
          </a:xfrm>
          <a:custGeom>
            <a:avLst/>
            <a:gdLst/>
            <a:ahLst/>
            <a:cxnLst/>
            <a:rect l="l" t="t" r="r" b="b"/>
            <a:pathLst>
              <a:path w="5699125" h="666750">
                <a:moveTo>
                  <a:pt x="95252" y="0"/>
                </a:moveTo>
                <a:lnTo>
                  <a:pt x="5603873" y="0"/>
                </a:lnTo>
                <a:cubicBezTo>
                  <a:pt x="5656479" y="0"/>
                  <a:pt x="5699125" y="42646"/>
                  <a:pt x="5699125" y="95252"/>
                </a:cubicBezTo>
                <a:lnTo>
                  <a:pt x="5699125" y="571498"/>
                </a:lnTo>
                <a:cubicBezTo>
                  <a:pt x="5699125" y="624104"/>
                  <a:pt x="5656479" y="666750"/>
                  <a:pt x="5603873" y="666750"/>
                </a:cubicBezTo>
                <a:lnTo>
                  <a:pt x="95252" y="666750"/>
                </a:lnTo>
                <a:cubicBezTo>
                  <a:pt x="42681" y="666750"/>
                  <a:pt x="0" y="624069"/>
                  <a:pt x="0" y="57149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34" name="Shape 32"/>
          <p:cNvSpPr/>
          <p:nvPr/>
        </p:nvSpPr>
        <p:spPr>
          <a:xfrm>
            <a:off x="6326188" y="13970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6635750" y="1285875"/>
            <a:ext cx="1071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赢丢单复盘阶段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635750" y="1539875"/>
            <a:ext cx="1055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总结经验,沉淀复用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91250" y="1920875"/>
            <a:ext cx="5683250" cy="1524000"/>
          </a:xfrm>
          <a:custGeom>
            <a:avLst/>
            <a:gdLst/>
            <a:ahLst/>
            <a:cxnLst/>
            <a:rect l="l" t="t" r="r" b="b"/>
            <a:pathLst>
              <a:path w="5683250" h="1524000">
                <a:moveTo>
                  <a:pt x="31750" y="0"/>
                </a:moveTo>
                <a:lnTo>
                  <a:pt x="5619745" y="0"/>
                </a:lnTo>
                <a:cubicBezTo>
                  <a:pt x="5654818" y="0"/>
                  <a:pt x="5683250" y="28432"/>
                  <a:pt x="5683250" y="63505"/>
                </a:cubicBezTo>
                <a:lnTo>
                  <a:pt x="5683250" y="1460495"/>
                </a:lnTo>
                <a:cubicBezTo>
                  <a:pt x="5683250" y="1495568"/>
                  <a:pt x="5654818" y="1524000"/>
                  <a:pt x="5619745" y="1524000"/>
                </a:cubicBezTo>
                <a:lnTo>
                  <a:pt x="31750" y="1524000"/>
                </a:lnTo>
                <a:cubicBezTo>
                  <a:pt x="14215" y="1524000"/>
                  <a:pt x="0" y="1509785"/>
                  <a:pt x="0" y="1492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91250" y="1920875"/>
            <a:ext cx="31750" cy="1524000"/>
          </a:xfrm>
          <a:custGeom>
            <a:avLst/>
            <a:gdLst/>
            <a:ahLst/>
            <a:cxnLst/>
            <a:rect l="l" t="t" r="r" b="b"/>
            <a:pathLst>
              <a:path w="31750" h="1524000">
                <a:moveTo>
                  <a:pt x="31750" y="0"/>
                </a:moveTo>
                <a:lnTo>
                  <a:pt x="31750" y="0"/>
                </a:lnTo>
                <a:lnTo>
                  <a:pt x="31750" y="1524000"/>
                </a:lnTo>
                <a:lnTo>
                  <a:pt x="31750" y="1524000"/>
                </a:lnTo>
                <a:cubicBezTo>
                  <a:pt x="14227" y="1524000"/>
                  <a:pt x="0" y="1509773"/>
                  <a:pt x="0" y="1492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39" name="Shape 37"/>
          <p:cNvSpPr/>
          <p:nvPr/>
        </p:nvSpPr>
        <p:spPr>
          <a:xfrm>
            <a:off x="6302375" y="2047875"/>
            <a:ext cx="158750" cy="127000"/>
          </a:xfrm>
          <a:custGeom>
            <a:avLst/>
            <a:gdLst/>
            <a:ahLst/>
            <a:cxnLst/>
            <a:rect l="l" t="t" r="r" b="b"/>
            <a:pathLst>
              <a:path w="158750" h="127000">
                <a:moveTo>
                  <a:pt x="79375" y="3969"/>
                </a:moveTo>
                <a:cubicBezTo>
                  <a:pt x="93613" y="3969"/>
                  <a:pt x="105172" y="15528"/>
                  <a:pt x="105172" y="29766"/>
                </a:cubicBezTo>
                <a:cubicBezTo>
                  <a:pt x="105172" y="44003"/>
                  <a:pt x="93613" y="55563"/>
                  <a:pt x="79375" y="55563"/>
                </a:cubicBezTo>
                <a:cubicBezTo>
                  <a:pt x="65137" y="55563"/>
                  <a:pt x="53578" y="44003"/>
                  <a:pt x="53578" y="29766"/>
                </a:cubicBezTo>
                <a:cubicBezTo>
                  <a:pt x="53578" y="15528"/>
                  <a:pt x="65137" y="3969"/>
                  <a:pt x="79375" y="3969"/>
                </a:cubicBezTo>
                <a:close/>
                <a:moveTo>
                  <a:pt x="23812" y="21828"/>
                </a:moveTo>
                <a:cubicBezTo>
                  <a:pt x="33669" y="21828"/>
                  <a:pt x="41672" y="29831"/>
                  <a:pt x="41672" y="39688"/>
                </a:cubicBezTo>
                <a:cubicBezTo>
                  <a:pt x="41672" y="49544"/>
                  <a:pt x="33669" y="57547"/>
                  <a:pt x="23812" y="57547"/>
                </a:cubicBezTo>
                <a:cubicBezTo>
                  <a:pt x="13956" y="57547"/>
                  <a:pt x="5953" y="49544"/>
                  <a:pt x="5953" y="39688"/>
                </a:cubicBezTo>
                <a:cubicBezTo>
                  <a:pt x="5953" y="29831"/>
                  <a:pt x="13956" y="21828"/>
                  <a:pt x="23812" y="21828"/>
                </a:cubicBezTo>
                <a:close/>
                <a:moveTo>
                  <a:pt x="0" y="103188"/>
                </a:moveTo>
                <a:cubicBezTo>
                  <a:pt x="0" y="85651"/>
                  <a:pt x="14213" y="71438"/>
                  <a:pt x="31750" y="71438"/>
                </a:cubicBezTo>
                <a:cubicBezTo>
                  <a:pt x="34925" y="71438"/>
                  <a:pt x="38001" y="71909"/>
                  <a:pt x="40903" y="72777"/>
                </a:cubicBezTo>
                <a:cubicBezTo>
                  <a:pt x="32742" y="81905"/>
                  <a:pt x="27781" y="93960"/>
                  <a:pt x="27781" y="107156"/>
                </a:cubicBezTo>
                <a:lnTo>
                  <a:pt x="27781" y="111125"/>
                </a:lnTo>
                <a:cubicBezTo>
                  <a:pt x="27781" y="113953"/>
                  <a:pt x="28377" y="116632"/>
                  <a:pt x="29443" y="119063"/>
                </a:cubicBezTo>
                <a:lnTo>
                  <a:pt x="7938" y="119063"/>
                </a:lnTo>
                <a:cubicBezTo>
                  <a:pt x="3547" y="119063"/>
                  <a:pt x="0" y="115515"/>
                  <a:pt x="0" y="111125"/>
                </a:cubicBezTo>
                <a:lnTo>
                  <a:pt x="0" y="103188"/>
                </a:lnTo>
                <a:close/>
                <a:moveTo>
                  <a:pt x="129307" y="119063"/>
                </a:moveTo>
                <a:cubicBezTo>
                  <a:pt x="130373" y="116632"/>
                  <a:pt x="130969" y="113953"/>
                  <a:pt x="130969" y="111125"/>
                </a:cubicBezTo>
                <a:lnTo>
                  <a:pt x="130969" y="107156"/>
                </a:lnTo>
                <a:cubicBezTo>
                  <a:pt x="130969" y="93960"/>
                  <a:pt x="126008" y="81905"/>
                  <a:pt x="117847" y="72777"/>
                </a:cubicBezTo>
                <a:cubicBezTo>
                  <a:pt x="120749" y="71909"/>
                  <a:pt x="123825" y="71438"/>
                  <a:pt x="127000" y="71438"/>
                </a:cubicBezTo>
                <a:cubicBezTo>
                  <a:pt x="144537" y="71438"/>
                  <a:pt x="158750" y="85651"/>
                  <a:pt x="158750" y="103188"/>
                </a:cubicBezTo>
                <a:lnTo>
                  <a:pt x="158750" y="111125"/>
                </a:lnTo>
                <a:cubicBezTo>
                  <a:pt x="158750" y="115515"/>
                  <a:pt x="155203" y="119063"/>
                  <a:pt x="150813" y="119063"/>
                </a:cubicBezTo>
                <a:lnTo>
                  <a:pt x="129307" y="119063"/>
                </a:lnTo>
                <a:close/>
                <a:moveTo>
                  <a:pt x="117078" y="39688"/>
                </a:moveTo>
                <a:cubicBezTo>
                  <a:pt x="117078" y="29831"/>
                  <a:pt x="125081" y="21828"/>
                  <a:pt x="134938" y="21828"/>
                </a:cubicBezTo>
                <a:cubicBezTo>
                  <a:pt x="144794" y="21828"/>
                  <a:pt x="152797" y="29831"/>
                  <a:pt x="152797" y="39687"/>
                </a:cubicBezTo>
                <a:cubicBezTo>
                  <a:pt x="152797" y="49544"/>
                  <a:pt x="144794" y="57547"/>
                  <a:pt x="134938" y="57547"/>
                </a:cubicBezTo>
                <a:cubicBezTo>
                  <a:pt x="125081" y="57547"/>
                  <a:pt x="117078" y="49544"/>
                  <a:pt x="117078" y="39688"/>
                </a:cubicBezTo>
                <a:close/>
                <a:moveTo>
                  <a:pt x="39688" y="107156"/>
                </a:moveTo>
                <a:cubicBezTo>
                  <a:pt x="39688" y="85229"/>
                  <a:pt x="57448" y="67469"/>
                  <a:pt x="79375" y="67469"/>
                </a:cubicBezTo>
                <a:cubicBezTo>
                  <a:pt x="101302" y="67469"/>
                  <a:pt x="119063" y="85229"/>
                  <a:pt x="119063" y="107156"/>
                </a:cubicBezTo>
                <a:lnTo>
                  <a:pt x="119063" y="111125"/>
                </a:lnTo>
                <a:cubicBezTo>
                  <a:pt x="119063" y="115515"/>
                  <a:pt x="115515" y="119063"/>
                  <a:pt x="111125" y="119063"/>
                </a:cubicBezTo>
                <a:lnTo>
                  <a:pt x="47625" y="119063"/>
                </a:lnTo>
                <a:cubicBezTo>
                  <a:pt x="43235" y="119063"/>
                  <a:pt x="39688" y="115515"/>
                  <a:pt x="39688" y="111125"/>
                </a:cubicBezTo>
                <a:lnTo>
                  <a:pt x="39688" y="107156"/>
                </a:ln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40" name="Text 38"/>
          <p:cNvSpPr/>
          <p:nvPr/>
        </p:nvSpPr>
        <p:spPr>
          <a:xfrm>
            <a:off x="6461125" y="2016125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复盘会议组织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18250" y="2270125"/>
            <a:ext cx="5461000" cy="444500"/>
          </a:xfrm>
          <a:custGeom>
            <a:avLst/>
            <a:gdLst/>
            <a:ahLst/>
            <a:cxnLst/>
            <a:rect l="l" t="t" r="r" b="b"/>
            <a:pathLst>
              <a:path w="5461000" h="444500">
                <a:moveTo>
                  <a:pt x="31750" y="0"/>
                </a:moveTo>
                <a:lnTo>
                  <a:pt x="5429249" y="0"/>
                </a:lnTo>
                <a:cubicBezTo>
                  <a:pt x="5446785" y="0"/>
                  <a:pt x="5461000" y="14215"/>
                  <a:pt x="5461000" y="31751"/>
                </a:cubicBezTo>
                <a:lnTo>
                  <a:pt x="5461000" y="412749"/>
                </a:lnTo>
                <a:cubicBezTo>
                  <a:pt x="5461000" y="430285"/>
                  <a:pt x="5446785" y="444500"/>
                  <a:pt x="5429249" y="444500"/>
                </a:cubicBezTo>
                <a:lnTo>
                  <a:pt x="31750" y="444500"/>
                </a:lnTo>
                <a:cubicBezTo>
                  <a:pt x="14215" y="444500"/>
                  <a:pt x="0" y="430285"/>
                  <a:pt x="0" y="412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6B35">
              <a:alpha val="1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318250" y="2270125"/>
            <a:ext cx="31750" cy="444500"/>
          </a:xfrm>
          <a:custGeom>
            <a:avLst/>
            <a:gdLst/>
            <a:ahLst/>
            <a:cxnLst/>
            <a:rect l="l" t="t" r="r" b="b"/>
            <a:pathLst>
              <a:path w="31750" h="444500">
                <a:moveTo>
                  <a:pt x="31750" y="0"/>
                </a:moveTo>
                <a:lnTo>
                  <a:pt x="31750" y="0"/>
                </a:lnTo>
                <a:lnTo>
                  <a:pt x="31750" y="444500"/>
                </a:lnTo>
                <a:lnTo>
                  <a:pt x="31750" y="444500"/>
                </a:lnTo>
                <a:cubicBezTo>
                  <a:pt x="14227" y="444500"/>
                  <a:pt x="0" y="430273"/>
                  <a:pt x="0" y="412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43" name="Text 41"/>
          <p:cNvSpPr/>
          <p:nvPr/>
        </p:nvSpPr>
        <p:spPr>
          <a:xfrm>
            <a:off x="6397625" y="2333625"/>
            <a:ext cx="5373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硬性要求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397625" y="2492375"/>
            <a:ext cx="5373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项目丢单/赢单(下单)后,在关闭活动商机时间</a:t>
            </a:r>
            <a:r>
              <a:rPr lang="en-US" sz="875" b="1" dirty="0">
                <a:solidFill>
                  <a:srgbClr val="FF6B35"/>
                </a:solidFill>
                <a:highlight>
                  <a:srgbClr val="FF6B35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2周内 </a:t>
            </a: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组织召开赢丢单复盘会,</a:t>
            </a:r>
            <a:r>
              <a:rPr lang="en-US" sz="875" b="1" dirty="0">
                <a:solidFill>
                  <a:srgbClr val="FF6B35"/>
                </a:solidFill>
                <a:highlight>
                  <a:srgbClr val="FF6B35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所有立项项目必须100%完成复盘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302375" y="2778125"/>
            <a:ext cx="553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提前明确复盘会议时间、参与人员及讨论议题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302375" y="2984500"/>
            <a:ext cx="553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组织项目组成员按时间轴还原项目全流程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302375" y="3190875"/>
            <a:ext cx="553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客观分析赢单关键因素或丢单核心原因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191250" y="3508375"/>
            <a:ext cx="5683250" cy="1222375"/>
          </a:xfrm>
          <a:custGeom>
            <a:avLst/>
            <a:gdLst/>
            <a:ahLst/>
            <a:cxnLst/>
            <a:rect l="l" t="t" r="r" b="b"/>
            <a:pathLst>
              <a:path w="5683250" h="1222375">
                <a:moveTo>
                  <a:pt x="31750" y="0"/>
                </a:moveTo>
                <a:lnTo>
                  <a:pt x="5619748" y="0"/>
                </a:lnTo>
                <a:cubicBezTo>
                  <a:pt x="5654819" y="0"/>
                  <a:pt x="5683250" y="28431"/>
                  <a:pt x="5683250" y="63502"/>
                </a:cubicBezTo>
                <a:lnTo>
                  <a:pt x="5683250" y="1158873"/>
                </a:lnTo>
                <a:cubicBezTo>
                  <a:pt x="5683250" y="1193944"/>
                  <a:pt x="5654819" y="1222375"/>
                  <a:pt x="5619748" y="1222375"/>
                </a:cubicBezTo>
                <a:lnTo>
                  <a:pt x="31750" y="1222375"/>
                </a:lnTo>
                <a:cubicBezTo>
                  <a:pt x="14215" y="1222375"/>
                  <a:pt x="0" y="1208160"/>
                  <a:pt x="0" y="1190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191250" y="3508375"/>
            <a:ext cx="31750" cy="1222375"/>
          </a:xfrm>
          <a:custGeom>
            <a:avLst/>
            <a:gdLst/>
            <a:ahLst/>
            <a:cxnLst/>
            <a:rect l="l" t="t" r="r" b="b"/>
            <a:pathLst>
              <a:path w="31750" h="1222375">
                <a:moveTo>
                  <a:pt x="31750" y="0"/>
                </a:moveTo>
                <a:lnTo>
                  <a:pt x="31750" y="0"/>
                </a:lnTo>
                <a:lnTo>
                  <a:pt x="31750" y="1222375"/>
                </a:lnTo>
                <a:lnTo>
                  <a:pt x="31750" y="1222375"/>
                </a:lnTo>
                <a:cubicBezTo>
                  <a:pt x="14227" y="1222375"/>
                  <a:pt x="0" y="1208148"/>
                  <a:pt x="0" y="1190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50" name="Shape 48"/>
          <p:cNvSpPr/>
          <p:nvPr/>
        </p:nvSpPr>
        <p:spPr>
          <a:xfrm>
            <a:off x="6334125" y="3635375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0" y="15875"/>
                </a:moveTo>
                <a:cubicBezTo>
                  <a:pt x="0" y="7119"/>
                  <a:pt x="7119" y="0"/>
                  <a:pt x="15875" y="0"/>
                </a:cubicBezTo>
                <a:lnTo>
                  <a:pt x="52958" y="0"/>
                </a:lnTo>
                <a:cubicBezTo>
                  <a:pt x="57175" y="0"/>
                  <a:pt x="61218" y="1662"/>
                  <a:pt x="64195" y="4638"/>
                </a:cubicBezTo>
                <a:lnTo>
                  <a:pt x="90612" y="31080"/>
                </a:lnTo>
                <a:cubicBezTo>
                  <a:pt x="93588" y="34057"/>
                  <a:pt x="95250" y="38100"/>
                  <a:pt x="95250" y="42317"/>
                </a:cubicBezTo>
                <a:lnTo>
                  <a:pt x="95250" y="111125"/>
                </a:lnTo>
                <a:cubicBezTo>
                  <a:pt x="95250" y="119881"/>
                  <a:pt x="88131" y="127000"/>
                  <a:pt x="79375" y="127000"/>
                </a:cubicBezTo>
                <a:lnTo>
                  <a:pt x="15875" y="127000"/>
                </a:lnTo>
                <a:cubicBezTo>
                  <a:pt x="7119" y="127000"/>
                  <a:pt x="0" y="119881"/>
                  <a:pt x="0" y="111125"/>
                </a:cubicBezTo>
                <a:lnTo>
                  <a:pt x="0" y="15875"/>
                </a:lnTo>
                <a:close/>
                <a:moveTo>
                  <a:pt x="51594" y="14511"/>
                </a:moveTo>
                <a:lnTo>
                  <a:pt x="51594" y="37703"/>
                </a:lnTo>
                <a:cubicBezTo>
                  <a:pt x="51594" y="41002"/>
                  <a:pt x="54248" y="43656"/>
                  <a:pt x="57547" y="43656"/>
                </a:cubicBezTo>
                <a:lnTo>
                  <a:pt x="80739" y="43656"/>
                </a:lnTo>
                <a:lnTo>
                  <a:pt x="51594" y="14511"/>
                </a:lnTo>
                <a:close/>
                <a:moveTo>
                  <a:pt x="29766" y="63500"/>
                </a:moveTo>
                <a:cubicBezTo>
                  <a:pt x="26467" y="63500"/>
                  <a:pt x="23812" y="66154"/>
                  <a:pt x="23812" y="69453"/>
                </a:cubicBezTo>
                <a:cubicBezTo>
                  <a:pt x="23812" y="72752"/>
                  <a:pt x="26467" y="75406"/>
                  <a:pt x="29766" y="75406"/>
                </a:cubicBezTo>
                <a:lnTo>
                  <a:pt x="65484" y="75406"/>
                </a:lnTo>
                <a:cubicBezTo>
                  <a:pt x="68783" y="75406"/>
                  <a:pt x="71438" y="72752"/>
                  <a:pt x="71438" y="69453"/>
                </a:cubicBezTo>
                <a:cubicBezTo>
                  <a:pt x="71438" y="66154"/>
                  <a:pt x="68783" y="63500"/>
                  <a:pt x="65484" y="63500"/>
                </a:cubicBezTo>
                <a:lnTo>
                  <a:pt x="29766" y="63500"/>
                </a:lnTo>
                <a:close/>
                <a:moveTo>
                  <a:pt x="29766" y="87313"/>
                </a:moveTo>
                <a:cubicBezTo>
                  <a:pt x="26467" y="87313"/>
                  <a:pt x="23812" y="89967"/>
                  <a:pt x="23812" y="93266"/>
                </a:cubicBezTo>
                <a:cubicBezTo>
                  <a:pt x="23812" y="96565"/>
                  <a:pt x="26467" y="99219"/>
                  <a:pt x="29766" y="99219"/>
                </a:cubicBezTo>
                <a:lnTo>
                  <a:pt x="65484" y="99219"/>
                </a:lnTo>
                <a:cubicBezTo>
                  <a:pt x="68783" y="99219"/>
                  <a:pt x="71438" y="96565"/>
                  <a:pt x="71438" y="93266"/>
                </a:cubicBezTo>
                <a:cubicBezTo>
                  <a:pt x="71438" y="89967"/>
                  <a:pt x="68783" y="87313"/>
                  <a:pt x="65484" y="87313"/>
                </a:cubicBezTo>
                <a:lnTo>
                  <a:pt x="29766" y="87313"/>
                </a:ln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51" name="Text 49"/>
          <p:cNvSpPr/>
          <p:nvPr/>
        </p:nvSpPr>
        <p:spPr>
          <a:xfrm>
            <a:off x="6461125" y="3603625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复盘报告编制与上传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302375" y="3857625"/>
            <a:ext cx="553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结合复盘会议结论,组织编制赢丢单复盘总结报告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302375" y="4064000"/>
            <a:ext cx="553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报告需客观、真实反映项目问题,提炼可复用的经验教训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302375" y="4270375"/>
            <a:ext cx="553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明确后续改进方向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302375" y="4476750"/>
            <a:ext cx="553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确保复盘报告在CRM中完成留痕,并上传至飞书项目文档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191250" y="4794250"/>
            <a:ext cx="5683250" cy="1016000"/>
          </a:xfrm>
          <a:custGeom>
            <a:avLst/>
            <a:gdLst/>
            <a:ahLst/>
            <a:cxnLst/>
            <a:rect l="l" t="t" r="r" b="b"/>
            <a:pathLst>
              <a:path w="5683250" h="1016000">
                <a:moveTo>
                  <a:pt x="31750" y="0"/>
                </a:moveTo>
                <a:lnTo>
                  <a:pt x="5619750" y="0"/>
                </a:lnTo>
                <a:cubicBezTo>
                  <a:pt x="5654797" y="0"/>
                  <a:pt x="5683250" y="28453"/>
                  <a:pt x="5683250" y="63500"/>
                </a:cubicBezTo>
                <a:lnTo>
                  <a:pt x="5683250" y="952500"/>
                </a:lnTo>
                <a:cubicBezTo>
                  <a:pt x="5683250" y="987547"/>
                  <a:pt x="5654797" y="1016000"/>
                  <a:pt x="5619750" y="1016000"/>
                </a:cubicBezTo>
                <a:lnTo>
                  <a:pt x="31750" y="1016000"/>
                </a:lnTo>
                <a:cubicBezTo>
                  <a:pt x="14227" y="1016000"/>
                  <a:pt x="0" y="1001773"/>
                  <a:pt x="0" y="984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191250" y="4794250"/>
            <a:ext cx="31750" cy="1016000"/>
          </a:xfrm>
          <a:custGeom>
            <a:avLst/>
            <a:gdLst/>
            <a:ahLst/>
            <a:cxnLst/>
            <a:rect l="l" t="t" r="r" b="b"/>
            <a:pathLst>
              <a:path w="31750" h="1016000">
                <a:moveTo>
                  <a:pt x="31750" y="0"/>
                </a:moveTo>
                <a:lnTo>
                  <a:pt x="31750" y="0"/>
                </a:lnTo>
                <a:lnTo>
                  <a:pt x="31750" y="1016000"/>
                </a:lnTo>
                <a:lnTo>
                  <a:pt x="31750" y="1016000"/>
                </a:lnTo>
                <a:cubicBezTo>
                  <a:pt x="14227" y="1016000"/>
                  <a:pt x="0" y="1001773"/>
                  <a:pt x="0" y="984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8" name="Shape 56"/>
          <p:cNvSpPr/>
          <p:nvPr/>
        </p:nvSpPr>
        <p:spPr>
          <a:xfrm>
            <a:off x="6318250" y="492125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95250" y="47625"/>
                </a:moveTo>
                <a:cubicBezTo>
                  <a:pt x="108396" y="47625"/>
                  <a:pt x="119063" y="36959"/>
                  <a:pt x="119063" y="23812"/>
                </a:cubicBezTo>
                <a:cubicBezTo>
                  <a:pt x="119063" y="10666"/>
                  <a:pt x="108396" y="0"/>
                  <a:pt x="95250" y="0"/>
                </a:cubicBezTo>
                <a:cubicBezTo>
                  <a:pt x="82104" y="0"/>
                  <a:pt x="71438" y="10666"/>
                  <a:pt x="71438" y="23812"/>
                </a:cubicBezTo>
                <a:cubicBezTo>
                  <a:pt x="71438" y="25152"/>
                  <a:pt x="71562" y="26491"/>
                  <a:pt x="71760" y="27781"/>
                </a:cubicBezTo>
                <a:lnTo>
                  <a:pt x="39588" y="45665"/>
                </a:lnTo>
                <a:cubicBezTo>
                  <a:pt x="35396" y="41945"/>
                  <a:pt x="29865" y="39688"/>
                  <a:pt x="23812" y="39688"/>
                </a:cubicBezTo>
                <a:cubicBezTo>
                  <a:pt x="10666" y="39688"/>
                  <a:pt x="0" y="50354"/>
                  <a:pt x="0" y="63500"/>
                </a:cubicBezTo>
                <a:cubicBezTo>
                  <a:pt x="0" y="76646"/>
                  <a:pt x="10666" y="87313"/>
                  <a:pt x="23812" y="87313"/>
                </a:cubicBezTo>
                <a:cubicBezTo>
                  <a:pt x="29865" y="87313"/>
                  <a:pt x="35371" y="85055"/>
                  <a:pt x="39588" y="81335"/>
                </a:cubicBezTo>
                <a:lnTo>
                  <a:pt x="71760" y="99219"/>
                </a:lnTo>
                <a:cubicBezTo>
                  <a:pt x="71537" y="100509"/>
                  <a:pt x="71438" y="101823"/>
                  <a:pt x="71438" y="103188"/>
                </a:cubicBezTo>
                <a:cubicBezTo>
                  <a:pt x="71438" y="116334"/>
                  <a:pt x="82104" y="127000"/>
                  <a:pt x="95250" y="127000"/>
                </a:cubicBezTo>
                <a:cubicBezTo>
                  <a:pt x="108396" y="127000"/>
                  <a:pt x="119063" y="116334"/>
                  <a:pt x="119063" y="103188"/>
                </a:cubicBezTo>
                <a:cubicBezTo>
                  <a:pt x="119063" y="90041"/>
                  <a:pt x="108396" y="79375"/>
                  <a:pt x="95250" y="79375"/>
                </a:cubicBezTo>
                <a:cubicBezTo>
                  <a:pt x="89198" y="79375"/>
                  <a:pt x="83691" y="81632"/>
                  <a:pt x="79474" y="85353"/>
                </a:cubicBezTo>
                <a:lnTo>
                  <a:pt x="47303" y="67469"/>
                </a:lnTo>
                <a:cubicBezTo>
                  <a:pt x="47526" y="66179"/>
                  <a:pt x="47625" y="64864"/>
                  <a:pt x="47625" y="63500"/>
                </a:cubicBezTo>
                <a:cubicBezTo>
                  <a:pt x="47625" y="62136"/>
                  <a:pt x="47501" y="60821"/>
                  <a:pt x="47303" y="59531"/>
                </a:cubicBezTo>
                <a:lnTo>
                  <a:pt x="79474" y="41647"/>
                </a:lnTo>
                <a:cubicBezTo>
                  <a:pt x="83666" y="45368"/>
                  <a:pt x="89198" y="47625"/>
                  <a:pt x="95250" y="47625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9" name="Text 57"/>
          <p:cNvSpPr/>
          <p:nvPr/>
        </p:nvSpPr>
        <p:spPr>
          <a:xfrm>
            <a:off x="6461125" y="4889500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经验沉淀与推广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302375" y="5143500"/>
            <a:ext cx="553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针对赢单项目:提炼可复制的项目推进策略、客户应对方法、团队协同模式,在区域/系统部内进行推广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302375" y="5349875"/>
            <a:ext cx="553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针对丢单项目:制定针对性改进措施,避免后续项目出现同类问题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302375" y="5556250"/>
            <a:ext cx="553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参与公司/区域组织的复盘经验分享会,推动团队整体能力提升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333375" y="5937250"/>
            <a:ext cx="11541125" cy="381000"/>
          </a:xfrm>
          <a:custGeom>
            <a:avLst/>
            <a:gdLst/>
            <a:ahLst/>
            <a:cxnLst/>
            <a:rect l="l" t="t" r="r" b="b"/>
            <a:pathLst>
              <a:path w="11541125" h="381000">
                <a:moveTo>
                  <a:pt x="31750" y="0"/>
                </a:moveTo>
                <a:lnTo>
                  <a:pt x="11445875" y="0"/>
                </a:lnTo>
                <a:cubicBezTo>
                  <a:pt x="11498445" y="0"/>
                  <a:pt x="11541125" y="42680"/>
                  <a:pt x="11541125" y="95250"/>
                </a:cubicBezTo>
                <a:lnTo>
                  <a:pt x="11541125" y="285750"/>
                </a:lnTo>
                <a:cubicBezTo>
                  <a:pt x="11541125" y="338320"/>
                  <a:pt x="11498445" y="381000"/>
                  <a:pt x="11445875" y="381000"/>
                </a:cubicBezTo>
                <a:lnTo>
                  <a:pt x="31750" y="381000"/>
                </a:lnTo>
                <a:cubicBezTo>
                  <a:pt x="14215" y="381000"/>
                  <a:pt x="0" y="366785"/>
                  <a:pt x="0" y="349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52CC">
              <a:alpha val="10196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333375" y="5937250"/>
            <a:ext cx="31750" cy="381000"/>
          </a:xfrm>
          <a:custGeom>
            <a:avLst/>
            <a:gdLst/>
            <a:ahLst/>
            <a:cxnLst/>
            <a:rect l="l" t="t" r="r" b="b"/>
            <a:pathLst>
              <a:path w="31750" h="381000">
                <a:moveTo>
                  <a:pt x="31750" y="0"/>
                </a:moveTo>
                <a:lnTo>
                  <a:pt x="31750" y="0"/>
                </a:lnTo>
                <a:lnTo>
                  <a:pt x="31750" y="381000"/>
                </a:lnTo>
                <a:lnTo>
                  <a:pt x="31750" y="381000"/>
                </a:lnTo>
                <a:cubicBezTo>
                  <a:pt x="14227" y="381000"/>
                  <a:pt x="0" y="366773"/>
                  <a:pt x="0" y="349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65" name="Shape 63"/>
          <p:cNvSpPr/>
          <p:nvPr/>
        </p:nvSpPr>
        <p:spPr>
          <a:xfrm>
            <a:off x="484187" y="6048375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90816" y="119062"/>
                </a:moveTo>
                <a:cubicBezTo>
                  <a:pt x="93080" y="112148"/>
                  <a:pt x="97606" y="105885"/>
                  <a:pt x="102722" y="100490"/>
                </a:cubicBezTo>
                <a:cubicBezTo>
                  <a:pt x="112861" y="89824"/>
                  <a:pt x="119062" y="75406"/>
                  <a:pt x="119062" y="59531"/>
                </a:cubicBezTo>
                <a:cubicBezTo>
                  <a:pt x="119062" y="26665"/>
                  <a:pt x="92397" y="0"/>
                  <a:pt x="59531" y="0"/>
                </a:cubicBezTo>
                <a:cubicBezTo>
                  <a:pt x="26665" y="0"/>
                  <a:pt x="0" y="26665"/>
                  <a:pt x="0" y="59531"/>
                </a:cubicBezTo>
                <a:cubicBezTo>
                  <a:pt x="0" y="75406"/>
                  <a:pt x="6201" y="89824"/>
                  <a:pt x="16340" y="100490"/>
                </a:cubicBezTo>
                <a:cubicBezTo>
                  <a:pt x="21456" y="105885"/>
                  <a:pt x="26014" y="112148"/>
                  <a:pt x="28246" y="119062"/>
                </a:cubicBezTo>
                <a:lnTo>
                  <a:pt x="90785" y="119062"/>
                </a:lnTo>
                <a:close/>
                <a:moveTo>
                  <a:pt x="89297" y="133945"/>
                </a:moveTo>
                <a:lnTo>
                  <a:pt x="29766" y="133945"/>
                </a:lnTo>
                <a:lnTo>
                  <a:pt x="29766" y="138906"/>
                </a:lnTo>
                <a:cubicBezTo>
                  <a:pt x="29766" y="152611"/>
                  <a:pt x="40866" y="163711"/>
                  <a:pt x="54570" y="163711"/>
                </a:cubicBezTo>
                <a:lnTo>
                  <a:pt x="64492" y="163711"/>
                </a:lnTo>
                <a:cubicBezTo>
                  <a:pt x="78197" y="163711"/>
                  <a:pt x="89297" y="152611"/>
                  <a:pt x="89297" y="138906"/>
                </a:cubicBezTo>
                <a:lnTo>
                  <a:pt x="89297" y="133945"/>
                </a:lnTo>
                <a:close/>
                <a:moveTo>
                  <a:pt x="57051" y="34727"/>
                </a:moveTo>
                <a:cubicBezTo>
                  <a:pt x="44710" y="34727"/>
                  <a:pt x="34727" y="44710"/>
                  <a:pt x="34727" y="57051"/>
                </a:cubicBezTo>
                <a:cubicBezTo>
                  <a:pt x="34727" y="61175"/>
                  <a:pt x="31409" y="64492"/>
                  <a:pt x="27285" y="64492"/>
                </a:cubicBezTo>
                <a:cubicBezTo>
                  <a:pt x="23161" y="64492"/>
                  <a:pt x="19844" y="61175"/>
                  <a:pt x="19844" y="57051"/>
                </a:cubicBezTo>
                <a:cubicBezTo>
                  <a:pt x="19844" y="36494"/>
                  <a:pt x="36494" y="19844"/>
                  <a:pt x="57051" y="19844"/>
                </a:cubicBezTo>
                <a:cubicBezTo>
                  <a:pt x="61175" y="19844"/>
                  <a:pt x="64492" y="23161"/>
                  <a:pt x="64492" y="27285"/>
                </a:cubicBezTo>
                <a:cubicBezTo>
                  <a:pt x="64492" y="31409"/>
                  <a:pt x="61175" y="34727"/>
                  <a:pt x="57051" y="34727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66" name="Text 64"/>
          <p:cNvSpPr/>
          <p:nvPr/>
        </p:nvSpPr>
        <p:spPr>
          <a:xfrm>
            <a:off x="738188" y="6032500"/>
            <a:ext cx="8866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关键价值:</a:t>
            </a:r>
            <a:r>
              <a:rPr lang="en-US" sz="100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合同谈判阶段确保合同条款合法合规、保障公司利益;复盘阶段实现经验沉淀与复用,为后续项目提供参考,推动团队整体项目管理能力与赢单能力提升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54" y="342954"/>
            <a:ext cx="11574684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kern="0" spc="108" dirty="0">
                <a:solidFill>
                  <a:srgbClr val="00B8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DAILY MANAGEMENT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2954" y="617316"/>
            <a:ext cx="11660422" cy="34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3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日常管理与协同职责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2954" y="1063156"/>
            <a:ext cx="685907" cy="51443"/>
          </a:xfrm>
          <a:custGeom>
            <a:avLst/>
            <a:gdLst/>
            <a:ahLst/>
            <a:cxnLst/>
            <a:rect l="l" t="t" r="r" b="b"/>
            <a:pathLst>
              <a:path w="685907" h="51443">
                <a:moveTo>
                  <a:pt x="0" y="0"/>
                </a:moveTo>
                <a:lnTo>
                  <a:pt x="685907" y="0"/>
                </a:lnTo>
                <a:lnTo>
                  <a:pt x="685907" y="51443"/>
                </a:lnTo>
                <a:lnTo>
                  <a:pt x="0" y="51443"/>
                </a:lnTo>
                <a:lnTo>
                  <a:pt x="0" y="0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342954" y="1251781"/>
            <a:ext cx="11506093" cy="531578"/>
          </a:xfrm>
          <a:custGeom>
            <a:avLst/>
            <a:gdLst/>
            <a:ahLst/>
            <a:cxnLst/>
            <a:rect l="l" t="t" r="r" b="b"/>
            <a:pathLst>
              <a:path w="11506093" h="531578">
                <a:moveTo>
                  <a:pt x="102887" y="0"/>
                </a:moveTo>
                <a:lnTo>
                  <a:pt x="11403206" y="0"/>
                </a:lnTo>
                <a:cubicBezTo>
                  <a:pt x="11460029" y="0"/>
                  <a:pt x="11506093" y="46064"/>
                  <a:pt x="11506093" y="102887"/>
                </a:cubicBezTo>
                <a:lnTo>
                  <a:pt x="11506093" y="428691"/>
                </a:lnTo>
                <a:cubicBezTo>
                  <a:pt x="11506093" y="485514"/>
                  <a:pt x="11460029" y="531578"/>
                  <a:pt x="11403206" y="531578"/>
                </a:cubicBezTo>
                <a:lnTo>
                  <a:pt x="102887" y="531578"/>
                </a:lnTo>
                <a:cubicBezTo>
                  <a:pt x="46064" y="531578"/>
                  <a:pt x="0" y="485514"/>
                  <a:pt x="0" y="428691"/>
                </a:cubicBezTo>
                <a:lnTo>
                  <a:pt x="0" y="102887"/>
                </a:lnTo>
                <a:cubicBezTo>
                  <a:pt x="0" y="46102"/>
                  <a:pt x="46102" y="0"/>
                  <a:pt x="102887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6" name="Shape 4"/>
          <p:cNvSpPr/>
          <p:nvPr/>
        </p:nvSpPr>
        <p:spPr>
          <a:xfrm>
            <a:off x="514430" y="1388962"/>
            <a:ext cx="257215" cy="257215"/>
          </a:xfrm>
          <a:custGeom>
            <a:avLst/>
            <a:gdLst/>
            <a:ahLst/>
            <a:cxnLst/>
            <a:rect l="l" t="t" r="r" b="b"/>
            <a:pathLst>
              <a:path w="257215" h="257215">
                <a:moveTo>
                  <a:pt x="128608" y="257215"/>
                </a:moveTo>
                <a:cubicBezTo>
                  <a:pt x="199588" y="257215"/>
                  <a:pt x="257215" y="199588"/>
                  <a:pt x="257215" y="128608"/>
                </a:cubicBezTo>
                <a:cubicBezTo>
                  <a:pt x="257215" y="57627"/>
                  <a:pt x="199588" y="0"/>
                  <a:pt x="128608" y="0"/>
                </a:cubicBezTo>
                <a:cubicBezTo>
                  <a:pt x="57627" y="0"/>
                  <a:pt x="0" y="57627"/>
                  <a:pt x="0" y="128608"/>
                </a:cubicBezTo>
                <a:cubicBezTo>
                  <a:pt x="0" y="199588"/>
                  <a:pt x="57627" y="257215"/>
                  <a:pt x="128608" y="257215"/>
                </a:cubicBezTo>
                <a:close/>
                <a:moveTo>
                  <a:pt x="112532" y="80380"/>
                </a:moveTo>
                <a:cubicBezTo>
                  <a:pt x="112532" y="71507"/>
                  <a:pt x="119735" y="64304"/>
                  <a:pt x="128608" y="64304"/>
                </a:cubicBezTo>
                <a:cubicBezTo>
                  <a:pt x="137480" y="64304"/>
                  <a:pt x="144684" y="71507"/>
                  <a:pt x="144684" y="80380"/>
                </a:cubicBezTo>
                <a:cubicBezTo>
                  <a:pt x="144684" y="89252"/>
                  <a:pt x="137480" y="96456"/>
                  <a:pt x="128608" y="96456"/>
                </a:cubicBezTo>
                <a:cubicBezTo>
                  <a:pt x="119735" y="96456"/>
                  <a:pt x="112532" y="89252"/>
                  <a:pt x="112532" y="80380"/>
                </a:cubicBezTo>
                <a:close/>
                <a:moveTo>
                  <a:pt x="108513" y="112532"/>
                </a:moveTo>
                <a:lnTo>
                  <a:pt x="132627" y="112532"/>
                </a:lnTo>
                <a:cubicBezTo>
                  <a:pt x="139308" y="112532"/>
                  <a:pt x="144684" y="117907"/>
                  <a:pt x="144684" y="124589"/>
                </a:cubicBezTo>
                <a:lnTo>
                  <a:pt x="144684" y="168797"/>
                </a:lnTo>
                <a:lnTo>
                  <a:pt x="148703" y="168797"/>
                </a:lnTo>
                <a:cubicBezTo>
                  <a:pt x="155384" y="168797"/>
                  <a:pt x="160759" y="174173"/>
                  <a:pt x="160759" y="180854"/>
                </a:cubicBezTo>
                <a:cubicBezTo>
                  <a:pt x="160759" y="187536"/>
                  <a:pt x="155384" y="192911"/>
                  <a:pt x="148703" y="192911"/>
                </a:cubicBezTo>
                <a:lnTo>
                  <a:pt x="108513" y="192911"/>
                </a:lnTo>
                <a:cubicBezTo>
                  <a:pt x="101831" y="192911"/>
                  <a:pt x="96456" y="187536"/>
                  <a:pt x="96456" y="180854"/>
                </a:cubicBezTo>
                <a:cubicBezTo>
                  <a:pt x="96456" y="174173"/>
                  <a:pt x="101831" y="168797"/>
                  <a:pt x="108513" y="168797"/>
                </a:cubicBezTo>
                <a:lnTo>
                  <a:pt x="120570" y="168797"/>
                </a:lnTo>
                <a:lnTo>
                  <a:pt x="120570" y="136646"/>
                </a:lnTo>
                <a:lnTo>
                  <a:pt x="108513" y="136646"/>
                </a:lnTo>
                <a:cubicBezTo>
                  <a:pt x="101831" y="136646"/>
                  <a:pt x="96456" y="131270"/>
                  <a:pt x="96456" y="124589"/>
                </a:cubicBezTo>
                <a:cubicBezTo>
                  <a:pt x="96456" y="117907"/>
                  <a:pt x="101831" y="112532"/>
                  <a:pt x="108513" y="11253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938835" y="1414684"/>
            <a:ext cx="10074262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除项目各阶段核心工作外,项目经理还需履行日常项目管理与协同职责,尤其是与销管BP的信息协同,确保项目推进的连续性和高效性,同时配合MO流程的整体运转要求。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2954" y="1937688"/>
            <a:ext cx="5684456" cy="1766211"/>
          </a:xfrm>
          <a:custGeom>
            <a:avLst/>
            <a:gdLst/>
            <a:ahLst/>
            <a:cxnLst/>
            <a:rect l="l" t="t" r="r" b="b"/>
            <a:pathLst>
              <a:path w="5684456" h="1766211">
                <a:moveTo>
                  <a:pt x="34295" y="0"/>
                </a:moveTo>
                <a:lnTo>
                  <a:pt x="5650160" y="0"/>
                </a:lnTo>
                <a:cubicBezTo>
                  <a:pt x="5669101" y="0"/>
                  <a:pt x="5684456" y="15355"/>
                  <a:pt x="5684456" y="34295"/>
                </a:cubicBezTo>
                <a:lnTo>
                  <a:pt x="5684456" y="1663329"/>
                </a:lnTo>
                <a:cubicBezTo>
                  <a:pt x="5684456" y="1720149"/>
                  <a:pt x="5638394" y="1766211"/>
                  <a:pt x="5581574" y="1766211"/>
                </a:cubicBezTo>
                <a:lnTo>
                  <a:pt x="102882" y="1766211"/>
                </a:lnTo>
                <a:cubicBezTo>
                  <a:pt x="46062" y="1766211"/>
                  <a:pt x="0" y="1720149"/>
                  <a:pt x="0" y="1663329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8608" dist="857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2954" y="1937688"/>
            <a:ext cx="5684456" cy="34295"/>
          </a:xfrm>
          <a:custGeom>
            <a:avLst/>
            <a:gdLst/>
            <a:ahLst/>
            <a:cxnLst/>
            <a:rect l="l" t="t" r="r" b="b"/>
            <a:pathLst>
              <a:path w="5684456" h="34295">
                <a:moveTo>
                  <a:pt x="34295" y="0"/>
                </a:moveTo>
                <a:lnTo>
                  <a:pt x="5650160" y="0"/>
                </a:lnTo>
                <a:cubicBezTo>
                  <a:pt x="5669101" y="0"/>
                  <a:pt x="5684456" y="15355"/>
                  <a:pt x="5684456" y="34295"/>
                </a:cubicBezTo>
                <a:lnTo>
                  <a:pt x="5684456" y="34295"/>
                </a:lnTo>
                <a:lnTo>
                  <a:pt x="0" y="34295"/>
                </a:ln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10" name="Shape 8"/>
          <p:cNvSpPr/>
          <p:nvPr/>
        </p:nvSpPr>
        <p:spPr>
          <a:xfrm>
            <a:off x="480135" y="2092017"/>
            <a:ext cx="411544" cy="411544"/>
          </a:xfrm>
          <a:custGeom>
            <a:avLst/>
            <a:gdLst/>
            <a:ahLst/>
            <a:cxnLst/>
            <a:rect l="l" t="t" r="r" b="b"/>
            <a:pathLst>
              <a:path w="411544" h="411544">
                <a:moveTo>
                  <a:pt x="205772" y="0"/>
                </a:moveTo>
                <a:lnTo>
                  <a:pt x="205772" y="0"/>
                </a:lnTo>
                <a:cubicBezTo>
                  <a:pt x="319341" y="0"/>
                  <a:pt x="411544" y="92203"/>
                  <a:pt x="411544" y="205772"/>
                </a:cubicBezTo>
                <a:lnTo>
                  <a:pt x="411544" y="205772"/>
                </a:lnTo>
                <a:cubicBezTo>
                  <a:pt x="411544" y="319341"/>
                  <a:pt x="319341" y="411544"/>
                  <a:pt x="205772" y="411544"/>
                </a:cubicBezTo>
                <a:lnTo>
                  <a:pt x="205772" y="411544"/>
                </a:lnTo>
                <a:cubicBezTo>
                  <a:pt x="92203" y="411544"/>
                  <a:pt x="0" y="319341"/>
                  <a:pt x="0" y="205772"/>
                </a:cubicBezTo>
                <a:lnTo>
                  <a:pt x="0" y="205772"/>
                </a:lnTo>
                <a:cubicBezTo>
                  <a:pt x="0" y="92203"/>
                  <a:pt x="92203" y="0"/>
                  <a:pt x="205772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11" name="Text 9"/>
          <p:cNvSpPr/>
          <p:nvPr/>
        </p:nvSpPr>
        <p:spPr>
          <a:xfrm>
            <a:off x="437266" y="2092017"/>
            <a:ext cx="497283" cy="411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94565" y="2177755"/>
            <a:ext cx="1629030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项目信息同步与更新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97283" y="2640743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91204" y="56989"/>
                </a:moveTo>
                <a:lnTo>
                  <a:pt x="69770" y="91285"/>
                </a:lnTo>
                <a:cubicBezTo>
                  <a:pt x="68644" y="93080"/>
                  <a:pt x="66715" y="94205"/>
                  <a:pt x="64599" y="94312"/>
                </a:cubicBezTo>
                <a:cubicBezTo>
                  <a:pt x="62482" y="94419"/>
                  <a:pt x="60446" y="93455"/>
                  <a:pt x="59186" y="91740"/>
                </a:cubicBezTo>
                <a:lnTo>
                  <a:pt x="46326" y="74592"/>
                </a:lnTo>
                <a:cubicBezTo>
                  <a:pt x="44182" y="71752"/>
                  <a:pt x="44772" y="67733"/>
                  <a:pt x="47612" y="65590"/>
                </a:cubicBezTo>
                <a:cubicBezTo>
                  <a:pt x="50452" y="63446"/>
                  <a:pt x="54471" y="64036"/>
                  <a:pt x="56614" y="66876"/>
                </a:cubicBezTo>
                <a:lnTo>
                  <a:pt x="63848" y="76522"/>
                </a:lnTo>
                <a:lnTo>
                  <a:pt x="80299" y="50184"/>
                </a:lnTo>
                <a:cubicBezTo>
                  <a:pt x="82175" y="47183"/>
                  <a:pt x="86140" y="46245"/>
                  <a:pt x="89168" y="48147"/>
                </a:cubicBezTo>
                <a:cubicBezTo>
                  <a:pt x="92196" y="50050"/>
                  <a:pt x="93107" y="53988"/>
                  <a:pt x="91204" y="57016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14" name="Text 12"/>
          <p:cNvSpPr/>
          <p:nvPr/>
        </p:nvSpPr>
        <p:spPr>
          <a:xfrm>
            <a:off x="720203" y="2606447"/>
            <a:ext cx="2563578" cy="188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8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持续更新飞书项目群及CRM中的项目信息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7283" y="2897958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91204" y="56989"/>
                </a:moveTo>
                <a:lnTo>
                  <a:pt x="69770" y="91285"/>
                </a:lnTo>
                <a:cubicBezTo>
                  <a:pt x="68644" y="93080"/>
                  <a:pt x="66715" y="94205"/>
                  <a:pt x="64599" y="94312"/>
                </a:cubicBezTo>
                <a:cubicBezTo>
                  <a:pt x="62482" y="94419"/>
                  <a:pt x="60446" y="93455"/>
                  <a:pt x="59186" y="91740"/>
                </a:cubicBezTo>
                <a:lnTo>
                  <a:pt x="46326" y="74592"/>
                </a:lnTo>
                <a:cubicBezTo>
                  <a:pt x="44182" y="71752"/>
                  <a:pt x="44772" y="67733"/>
                  <a:pt x="47612" y="65590"/>
                </a:cubicBezTo>
                <a:cubicBezTo>
                  <a:pt x="50452" y="63446"/>
                  <a:pt x="54471" y="64036"/>
                  <a:pt x="56614" y="66876"/>
                </a:cubicBezTo>
                <a:lnTo>
                  <a:pt x="63848" y="76522"/>
                </a:lnTo>
                <a:lnTo>
                  <a:pt x="80299" y="50184"/>
                </a:lnTo>
                <a:cubicBezTo>
                  <a:pt x="82175" y="47183"/>
                  <a:pt x="86140" y="46245"/>
                  <a:pt x="89168" y="48147"/>
                </a:cubicBezTo>
                <a:cubicBezTo>
                  <a:pt x="92196" y="50050"/>
                  <a:pt x="93107" y="53988"/>
                  <a:pt x="91204" y="57016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16" name="Text 14"/>
          <p:cNvSpPr/>
          <p:nvPr/>
        </p:nvSpPr>
        <p:spPr>
          <a:xfrm>
            <a:off x="720203" y="2863662"/>
            <a:ext cx="3909671" cy="188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8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包括项目推进进度、客户动态、竞争信息、关键动作完成情况等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97283" y="3155173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91204" y="56989"/>
                </a:moveTo>
                <a:lnTo>
                  <a:pt x="69770" y="91285"/>
                </a:lnTo>
                <a:cubicBezTo>
                  <a:pt x="68644" y="93080"/>
                  <a:pt x="66715" y="94205"/>
                  <a:pt x="64599" y="94312"/>
                </a:cubicBezTo>
                <a:cubicBezTo>
                  <a:pt x="62482" y="94419"/>
                  <a:pt x="60446" y="93455"/>
                  <a:pt x="59186" y="91740"/>
                </a:cubicBezTo>
                <a:lnTo>
                  <a:pt x="46326" y="74592"/>
                </a:lnTo>
                <a:cubicBezTo>
                  <a:pt x="44182" y="71752"/>
                  <a:pt x="44772" y="67733"/>
                  <a:pt x="47612" y="65590"/>
                </a:cubicBezTo>
                <a:cubicBezTo>
                  <a:pt x="50452" y="63446"/>
                  <a:pt x="54471" y="64036"/>
                  <a:pt x="56614" y="66876"/>
                </a:cubicBezTo>
                <a:lnTo>
                  <a:pt x="63848" y="76522"/>
                </a:lnTo>
                <a:lnTo>
                  <a:pt x="80299" y="50184"/>
                </a:lnTo>
                <a:cubicBezTo>
                  <a:pt x="82175" y="47183"/>
                  <a:pt x="86140" y="46245"/>
                  <a:pt x="89168" y="48147"/>
                </a:cubicBezTo>
                <a:cubicBezTo>
                  <a:pt x="92196" y="50050"/>
                  <a:pt x="93107" y="53988"/>
                  <a:pt x="91204" y="57016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18" name="Text 16"/>
          <p:cNvSpPr/>
          <p:nvPr/>
        </p:nvSpPr>
        <p:spPr>
          <a:xfrm>
            <a:off x="720203" y="3120878"/>
            <a:ext cx="2812219" cy="188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8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确保项目组成员信息同步、实时掌握项目状态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97283" y="3412388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91204" y="56989"/>
                </a:moveTo>
                <a:lnTo>
                  <a:pt x="69770" y="91285"/>
                </a:lnTo>
                <a:cubicBezTo>
                  <a:pt x="68644" y="93080"/>
                  <a:pt x="66715" y="94205"/>
                  <a:pt x="64599" y="94312"/>
                </a:cubicBezTo>
                <a:cubicBezTo>
                  <a:pt x="62482" y="94419"/>
                  <a:pt x="60446" y="93455"/>
                  <a:pt x="59186" y="91740"/>
                </a:cubicBezTo>
                <a:lnTo>
                  <a:pt x="46326" y="74592"/>
                </a:lnTo>
                <a:cubicBezTo>
                  <a:pt x="44182" y="71752"/>
                  <a:pt x="44772" y="67733"/>
                  <a:pt x="47612" y="65590"/>
                </a:cubicBezTo>
                <a:cubicBezTo>
                  <a:pt x="50452" y="63446"/>
                  <a:pt x="54471" y="64036"/>
                  <a:pt x="56614" y="66876"/>
                </a:cubicBezTo>
                <a:lnTo>
                  <a:pt x="63848" y="76522"/>
                </a:lnTo>
                <a:lnTo>
                  <a:pt x="80299" y="50184"/>
                </a:lnTo>
                <a:cubicBezTo>
                  <a:pt x="82175" y="47183"/>
                  <a:pt x="86140" y="46245"/>
                  <a:pt x="89168" y="48147"/>
                </a:cubicBezTo>
                <a:cubicBezTo>
                  <a:pt x="92196" y="50050"/>
                  <a:pt x="93107" y="53988"/>
                  <a:pt x="91204" y="57016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20" name="Text 18"/>
          <p:cNvSpPr/>
          <p:nvPr/>
        </p:nvSpPr>
        <p:spPr>
          <a:xfrm>
            <a:off x="720203" y="3378093"/>
            <a:ext cx="4286920" cy="188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8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按要求参加区域销售周例会,汇报项目进展,反馈问题,提出资源协调需求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65448" y="1937688"/>
            <a:ext cx="5684456" cy="1766211"/>
          </a:xfrm>
          <a:custGeom>
            <a:avLst/>
            <a:gdLst/>
            <a:ahLst/>
            <a:cxnLst/>
            <a:rect l="l" t="t" r="r" b="b"/>
            <a:pathLst>
              <a:path w="5684456" h="1766211">
                <a:moveTo>
                  <a:pt x="34295" y="0"/>
                </a:moveTo>
                <a:lnTo>
                  <a:pt x="5650160" y="0"/>
                </a:lnTo>
                <a:cubicBezTo>
                  <a:pt x="5669101" y="0"/>
                  <a:pt x="5684456" y="15355"/>
                  <a:pt x="5684456" y="34295"/>
                </a:cubicBezTo>
                <a:lnTo>
                  <a:pt x="5684456" y="1663329"/>
                </a:lnTo>
                <a:cubicBezTo>
                  <a:pt x="5684456" y="1720149"/>
                  <a:pt x="5638394" y="1766211"/>
                  <a:pt x="5581574" y="1766211"/>
                </a:cubicBezTo>
                <a:lnTo>
                  <a:pt x="102882" y="1766211"/>
                </a:lnTo>
                <a:cubicBezTo>
                  <a:pt x="46062" y="1766211"/>
                  <a:pt x="0" y="1720149"/>
                  <a:pt x="0" y="1663329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8608" dist="857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65448" y="1937688"/>
            <a:ext cx="5684456" cy="34295"/>
          </a:xfrm>
          <a:custGeom>
            <a:avLst/>
            <a:gdLst/>
            <a:ahLst/>
            <a:cxnLst/>
            <a:rect l="l" t="t" r="r" b="b"/>
            <a:pathLst>
              <a:path w="5684456" h="34295">
                <a:moveTo>
                  <a:pt x="34295" y="0"/>
                </a:moveTo>
                <a:lnTo>
                  <a:pt x="5650160" y="0"/>
                </a:lnTo>
                <a:cubicBezTo>
                  <a:pt x="5669101" y="0"/>
                  <a:pt x="5684456" y="15355"/>
                  <a:pt x="5684456" y="34295"/>
                </a:cubicBezTo>
                <a:lnTo>
                  <a:pt x="5684456" y="34295"/>
                </a:lnTo>
                <a:lnTo>
                  <a:pt x="0" y="34295"/>
                </a:ln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23" name="Shape 21"/>
          <p:cNvSpPr/>
          <p:nvPr/>
        </p:nvSpPr>
        <p:spPr>
          <a:xfrm>
            <a:off x="6302630" y="2092017"/>
            <a:ext cx="411544" cy="411544"/>
          </a:xfrm>
          <a:custGeom>
            <a:avLst/>
            <a:gdLst/>
            <a:ahLst/>
            <a:cxnLst/>
            <a:rect l="l" t="t" r="r" b="b"/>
            <a:pathLst>
              <a:path w="411544" h="411544">
                <a:moveTo>
                  <a:pt x="205772" y="0"/>
                </a:moveTo>
                <a:lnTo>
                  <a:pt x="205772" y="0"/>
                </a:lnTo>
                <a:cubicBezTo>
                  <a:pt x="319341" y="0"/>
                  <a:pt x="411544" y="92203"/>
                  <a:pt x="411544" y="205772"/>
                </a:cubicBezTo>
                <a:lnTo>
                  <a:pt x="411544" y="205772"/>
                </a:lnTo>
                <a:cubicBezTo>
                  <a:pt x="411544" y="319341"/>
                  <a:pt x="319341" y="411544"/>
                  <a:pt x="205772" y="411544"/>
                </a:cubicBezTo>
                <a:lnTo>
                  <a:pt x="205772" y="411544"/>
                </a:lnTo>
                <a:cubicBezTo>
                  <a:pt x="92203" y="411544"/>
                  <a:pt x="0" y="319341"/>
                  <a:pt x="0" y="205772"/>
                </a:cubicBezTo>
                <a:lnTo>
                  <a:pt x="0" y="205772"/>
                </a:lnTo>
                <a:cubicBezTo>
                  <a:pt x="0" y="92203"/>
                  <a:pt x="92203" y="0"/>
                  <a:pt x="205772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24" name="Text 22"/>
          <p:cNvSpPr/>
          <p:nvPr/>
        </p:nvSpPr>
        <p:spPr>
          <a:xfrm>
            <a:off x="6259761" y="2092017"/>
            <a:ext cx="497283" cy="411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17060" y="2177755"/>
            <a:ext cx="1629030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关键节点跟进与提醒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19778" y="2640743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91204" y="56989"/>
                </a:moveTo>
                <a:lnTo>
                  <a:pt x="69770" y="91285"/>
                </a:lnTo>
                <a:cubicBezTo>
                  <a:pt x="68644" y="93080"/>
                  <a:pt x="66715" y="94205"/>
                  <a:pt x="64599" y="94312"/>
                </a:cubicBezTo>
                <a:cubicBezTo>
                  <a:pt x="62482" y="94419"/>
                  <a:pt x="60446" y="93455"/>
                  <a:pt x="59186" y="91740"/>
                </a:cubicBezTo>
                <a:lnTo>
                  <a:pt x="46326" y="74592"/>
                </a:lnTo>
                <a:cubicBezTo>
                  <a:pt x="44182" y="71752"/>
                  <a:pt x="44772" y="67733"/>
                  <a:pt x="47612" y="65590"/>
                </a:cubicBezTo>
                <a:cubicBezTo>
                  <a:pt x="50452" y="63446"/>
                  <a:pt x="54471" y="64036"/>
                  <a:pt x="56614" y="66876"/>
                </a:cubicBezTo>
                <a:lnTo>
                  <a:pt x="63848" y="76522"/>
                </a:lnTo>
                <a:lnTo>
                  <a:pt x="80299" y="50184"/>
                </a:lnTo>
                <a:cubicBezTo>
                  <a:pt x="82175" y="47183"/>
                  <a:pt x="86140" y="46245"/>
                  <a:pt x="89168" y="48147"/>
                </a:cubicBezTo>
                <a:cubicBezTo>
                  <a:pt x="92196" y="50050"/>
                  <a:pt x="93107" y="53988"/>
                  <a:pt x="91204" y="57016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27" name="Text 25"/>
          <p:cNvSpPr/>
          <p:nvPr/>
        </p:nvSpPr>
        <p:spPr>
          <a:xfrm>
            <a:off x="6542697" y="2606447"/>
            <a:ext cx="3172321" cy="188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8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对照MO流程看板实时跟踪项目各关键节点完成情况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19778" y="2897958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91204" y="56989"/>
                </a:moveTo>
                <a:lnTo>
                  <a:pt x="69770" y="91285"/>
                </a:lnTo>
                <a:cubicBezTo>
                  <a:pt x="68644" y="93080"/>
                  <a:pt x="66715" y="94205"/>
                  <a:pt x="64599" y="94312"/>
                </a:cubicBezTo>
                <a:cubicBezTo>
                  <a:pt x="62482" y="94419"/>
                  <a:pt x="60446" y="93455"/>
                  <a:pt x="59186" y="91740"/>
                </a:cubicBezTo>
                <a:lnTo>
                  <a:pt x="46326" y="74592"/>
                </a:lnTo>
                <a:cubicBezTo>
                  <a:pt x="44182" y="71752"/>
                  <a:pt x="44772" y="67733"/>
                  <a:pt x="47612" y="65590"/>
                </a:cubicBezTo>
                <a:cubicBezTo>
                  <a:pt x="50452" y="63446"/>
                  <a:pt x="54471" y="64036"/>
                  <a:pt x="56614" y="66876"/>
                </a:cubicBezTo>
                <a:lnTo>
                  <a:pt x="63848" y="76522"/>
                </a:lnTo>
                <a:lnTo>
                  <a:pt x="80299" y="50184"/>
                </a:lnTo>
                <a:cubicBezTo>
                  <a:pt x="82175" y="47183"/>
                  <a:pt x="86140" y="46245"/>
                  <a:pt x="89168" y="48147"/>
                </a:cubicBezTo>
                <a:cubicBezTo>
                  <a:pt x="92196" y="50050"/>
                  <a:pt x="93107" y="53988"/>
                  <a:pt x="91204" y="57016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29" name="Text 27"/>
          <p:cNvSpPr/>
          <p:nvPr/>
        </p:nvSpPr>
        <p:spPr>
          <a:xfrm>
            <a:off x="6542697" y="2863662"/>
            <a:ext cx="4629873" cy="188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8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包括:立项申请进展、立项启动会进展、标前分析会进展、赢丢单复盘会进展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19778" y="3155173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91204" y="56989"/>
                </a:moveTo>
                <a:lnTo>
                  <a:pt x="69770" y="91285"/>
                </a:lnTo>
                <a:cubicBezTo>
                  <a:pt x="68644" y="93080"/>
                  <a:pt x="66715" y="94205"/>
                  <a:pt x="64599" y="94312"/>
                </a:cubicBezTo>
                <a:cubicBezTo>
                  <a:pt x="62482" y="94419"/>
                  <a:pt x="60446" y="93455"/>
                  <a:pt x="59186" y="91740"/>
                </a:cubicBezTo>
                <a:lnTo>
                  <a:pt x="46326" y="74592"/>
                </a:lnTo>
                <a:cubicBezTo>
                  <a:pt x="44182" y="71752"/>
                  <a:pt x="44772" y="67733"/>
                  <a:pt x="47612" y="65590"/>
                </a:cubicBezTo>
                <a:cubicBezTo>
                  <a:pt x="50452" y="63446"/>
                  <a:pt x="54471" y="64036"/>
                  <a:pt x="56614" y="66876"/>
                </a:cubicBezTo>
                <a:lnTo>
                  <a:pt x="63848" y="76522"/>
                </a:lnTo>
                <a:lnTo>
                  <a:pt x="80299" y="50184"/>
                </a:lnTo>
                <a:cubicBezTo>
                  <a:pt x="82175" y="47183"/>
                  <a:pt x="86140" y="46245"/>
                  <a:pt x="89168" y="48147"/>
                </a:cubicBezTo>
                <a:cubicBezTo>
                  <a:pt x="92196" y="50050"/>
                  <a:pt x="93107" y="53988"/>
                  <a:pt x="91204" y="57016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31" name="Text 29"/>
          <p:cNvSpPr/>
          <p:nvPr/>
        </p:nvSpPr>
        <p:spPr>
          <a:xfrm>
            <a:off x="6542697" y="3120878"/>
            <a:ext cx="3258059" cy="188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8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对即将到期的动作及时提醒责任人,确保节点按时完成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19778" y="3412388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91204" y="56989"/>
                </a:moveTo>
                <a:lnTo>
                  <a:pt x="69770" y="91285"/>
                </a:lnTo>
                <a:cubicBezTo>
                  <a:pt x="68644" y="93080"/>
                  <a:pt x="66715" y="94205"/>
                  <a:pt x="64599" y="94312"/>
                </a:cubicBezTo>
                <a:cubicBezTo>
                  <a:pt x="62482" y="94419"/>
                  <a:pt x="60446" y="93455"/>
                  <a:pt x="59186" y="91740"/>
                </a:cubicBezTo>
                <a:lnTo>
                  <a:pt x="46326" y="74592"/>
                </a:lnTo>
                <a:cubicBezTo>
                  <a:pt x="44182" y="71752"/>
                  <a:pt x="44772" y="67733"/>
                  <a:pt x="47612" y="65590"/>
                </a:cubicBezTo>
                <a:cubicBezTo>
                  <a:pt x="50452" y="63446"/>
                  <a:pt x="54471" y="64036"/>
                  <a:pt x="56614" y="66876"/>
                </a:cubicBezTo>
                <a:lnTo>
                  <a:pt x="63848" y="76522"/>
                </a:lnTo>
                <a:lnTo>
                  <a:pt x="80299" y="50184"/>
                </a:lnTo>
                <a:cubicBezTo>
                  <a:pt x="82175" y="47183"/>
                  <a:pt x="86140" y="46245"/>
                  <a:pt x="89168" y="48147"/>
                </a:cubicBezTo>
                <a:cubicBezTo>
                  <a:pt x="92196" y="50050"/>
                  <a:pt x="93107" y="53988"/>
                  <a:pt x="91204" y="57016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33" name="Text 31"/>
          <p:cNvSpPr/>
          <p:nvPr/>
        </p:nvSpPr>
        <p:spPr>
          <a:xfrm>
            <a:off x="6542697" y="3378093"/>
            <a:ext cx="4749907" cy="188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8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若项目出现节点延误,及时分析原因,制定补救措施,同时向区域经理/系统总汇报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42954" y="3858228"/>
            <a:ext cx="5684456" cy="1766211"/>
          </a:xfrm>
          <a:custGeom>
            <a:avLst/>
            <a:gdLst/>
            <a:ahLst/>
            <a:cxnLst/>
            <a:rect l="l" t="t" r="r" b="b"/>
            <a:pathLst>
              <a:path w="5684456" h="1766211">
                <a:moveTo>
                  <a:pt x="34295" y="0"/>
                </a:moveTo>
                <a:lnTo>
                  <a:pt x="5650160" y="0"/>
                </a:lnTo>
                <a:cubicBezTo>
                  <a:pt x="5669101" y="0"/>
                  <a:pt x="5684456" y="15355"/>
                  <a:pt x="5684456" y="34295"/>
                </a:cubicBezTo>
                <a:lnTo>
                  <a:pt x="5684456" y="1663329"/>
                </a:lnTo>
                <a:cubicBezTo>
                  <a:pt x="5684456" y="1720149"/>
                  <a:pt x="5638394" y="1766211"/>
                  <a:pt x="5581574" y="1766211"/>
                </a:cubicBezTo>
                <a:lnTo>
                  <a:pt x="102882" y="1766211"/>
                </a:lnTo>
                <a:cubicBezTo>
                  <a:pt x="46062" y="1766211"/>
                  <a:pt x="0" y="1720149"/>
                  <a:pt x="0" y="1663329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8608" dist="857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42954" y="3858228"/>
            <a:ext cx="5684456" cy="34295"/>
          </a:xfrm>
          <a:custGeom>
            <a:avLst/>
            <a:gdLst/>
            <a:ahLst/>
            <a:cxnLst/>
            <a:rect l="l" t="t" r="r" b="b"/>
            <a:pathLst>
              <a:path w="5684456" h="34295">
                <a:moveTo>
                  <a:pt x="34295" y="0"/>
                </a:moveTo>
                <a:lnTo>
                  <a:pt x="5650160" y="0"/>
                </a:lnTo>
                <a:cubicBezTo>
                  <a:pt x="5669101" y="0"/>
                  <a:pt x="5684456" y="15355"/>
                  <a:pt x="5684456" y="34295"/>
                </a:cubicBezTo>
                <a:lnTo>
                  <a:pt x="5684456" y="34295"/>
                </a:lnTo>
                <a:lnTo>
                  <a:pt x="0" y="34295"/>
                </a:ln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36" name="Shape 34"/>
          <p:cNvSpPr/>
          <p:nvPr/>
        </p:nvSpPr>
        <p:spPr>
          <a:xfrm>
            <a:off x="480135" y="4012557"/>
            <a:ext cx="411544" cy="411544"/>
          </a:xfrm>
          <a:custGeom>
            <a:avLst/>
            <a:gdLst/>
            <a:ahLst/>
            <a:cxnLst/>
            <a:rect l="l" t="t" r="r" b="b"/>
            <a:pathLst>
              <a:path w="411544" h="411544">
                <a:moveTo>
                  <a:pt x="205772" y="0"/>
                </a:moveTo>
                <a:lnTo>
                  <a:pt x="205772" y="0"/>
                </a:lnTo>
                <a:cubicBezTo>
                  <a:pt x="319341" y="0"/>
                  <a:pt x="411544" y="92203"/>
                  <a:pt x="411544" y="205772"/>
                </a:cubicBezTo>
                <a:lnTo>
                  <a:pt x="411544" y="205772"/>
                </a:lnTo>
                <a:cubicBezTo>
                  <a:pt x="411544" y="319341"/>
                  <a:pt x="319341" y="411544"/>
                  <a:pt x="205772" y="411544"/>
                </a:cubicBezTo>
                <a:lnTo>
                  <a:pt x="205772" y="411544"/>
                </a:lnTo>
                <a:cubicBezTo>
                  <a:pt x="92203" y="411544"/>
                  <a:pt x="0" y="319341"/>
                  <a:pt x="0" y="205772"/>
                </a:cubicBezTo>
                <a:lnTo>
                  <a:pt x="0" y="205772"/>
                </a:lnTo>
                <a:cubicBezTo>
                  <a:pt x="0" y="92203"/>
                  <a:pt x="92203" y="0"/>
                  <a:pt x="205772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37" name="Text 35"/>
          <p:cNvSpPr/>
          <p:nvPr/>
        </p:nvSpPr>
        <p:spPr>
          <a:xfrm>
            <a:off x="437266" y="4012557"/>
            <a:ext cx="497283" cy="411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94565" y="4098295"/>
            <a:ext cx="1526143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跨部门/跨区域协同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97283" y="4561283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91204" y="56989"/>
                </a:moveTo>
                <a:lnTo>
                  <a:pt x="69770" y="91285"/>
                </a:lnTo>
                <a:cubicBezTo>
                  <a:pt x="68644" y="93080"/>
                  <a:pt x="66715" y="94205"/>
                  <a:pt x="64599" y="94312"/>
                </a:cubicBezTo>
                <a:cubicBezTo>
                  <a:pt x="62482" y="94419"/>
                  <a:pt x="60446" y="93455"/>
                  <a:pt x="59186" y="91740"/>
                </a:cubicBezTo>
                <a:lnTo>
                  <a:pt x="46326" y="74592"/>
                </a:lnTo>
                <a:cubicBezTo>
                  <a:pt x="44182" y="71752"/>
                  <a:pt x="44772" y="67733"/>
                  <a:pt x="47612" y="65590"/>
                </a:cubicBezTo>
                <a:cubicBezTo>
                  <a:pt x="50452" y="63446"/>
                  <a:pt x="54471" y="64036"/>
                  <a:pt x="56614" y="66876"/>
                </a:cubicBezTo>
                <a:lnTo>
                  <a:pt x="63848" y="76522"/>
                </a:lnTo>
                <a:lnTo>
                  <a:pt x="80299" y="50184"/>
                </a:lnTo>
                <a:cubicBezTo>
                  <a:pt x="82175" y="47183"/>
                  <a:pt x="86140" y="46245"/>
                  <a:pt x="89168" y="48147"/>
                </a:cubicBezTo>
                <a:cubicBezTo>
                  <a:pt x="92196" y="50050"/>
                  <a:pt x="93107" y="53988"/>
                  <a:pt x="91204" y="57016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40" name="Text 38"/>
          <p:cNvSpPr/>
          <p:nvPr/>
        </p:nvSpPr>
        <p:spPr>
          <a:xfrm>
            <a:off x="720203" y="4526987"/>
            <a:ext cx="5238616" cy="377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8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针对项目推进中的跨部门(售前、售后、法务、供应链)、跨区域资源需求,主动作为,牵头协调对接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97283" y="5007122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91204" y="56989"/>
                </a:moveTo>
                <a:lnTo>
                  <a:pt x="69770" y="91285"/>
                </a:lnTo>
                <a:cubicBezTo>
                  <a:pt x="68644" y="93080"/>
                  <a:pt x="66715" y="94205"/>
                  <a:pt x="64599" y="94312"/>
                </a:cubicBezTo>
                <a:cubicBezTo>
                  <a:pt x="62482" y="94419"/>
                  <a:pt x="60446" y="93455"/>
                  <a:pt x="59186" y="91740"/>
                </a:cubicBezTo>
                <a:lnTo>
                  <a:pt x="46326" y="74592"/>
                </a:lnTo>
                <a:cubicBezTo>
                  <a:pt x="44182" y="71752"/>
                  <a:pt x="44772" y="67733"/>
                  <a:pt x="47612" y="65590"/>
                </a:cubicBezTo>
                <a:cubicBezTo>
                  <a:pt x="50452" y="63446"/>
                  <a:pt x="54471" y="64036"/>
                  <a:pt x="56614" y="66876"/>
                </a:cubicBezTo>
                <a:lnTo>
                  <a:pt x="63848" y="76522"/>
                </a:lnTo>
                <a:lnTo>
                  <a:pt x="80299" y="50184"/>
                </a:lnTo>
                <a:cubicBezTo>
                  <a:pt x="82175" y="47183"/>
                  <a:pt x="86140" y="46245"/>
                  <a:pt x="89168" y="48147"/>
                </a:cubicBezTo>
                <a:cubicBezTo>
                  <a:pt x="92196" y="50050"/>
                  <a:pt x="93107" y="53988"/>
                  <a:pt x="91204" y="57016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42" name="Text 40"/>
          <p:cNvSpPr/>
          <p:nvPr/>
        </p:nvSpPr>
        <p:spPr>
          <a:xfrm>
            <a:off x="720203" y="4972827"/>
            <a:ext cx="2709333" cy="188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8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明确各方职责与时间节点,确保资源及时到位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97283" y="5264338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91204" y="56989"/>
                </a:moveTo>
                <a:lnTo>
                  <a:pt x="69770" y="91285"/>
                </a:lnTo>
                <a:cubicBezTo>
                  <a:pt x="68644" y="93080"/>
                  <a:pt x="66715" y="94205"/>
                  <a:pt x="64599" y="94312"/>
                </a:cubicBezTo>
                <a:cubicBezTo>
                  <a:pt x="62482" y="94419"/>
                  <a:pt x="60446" y="93455"/>
                  <a:pt x="59186" y="91740"/>
                </a:cubicBezTo>
                <a:lnTo>
                  <a:pt x="46326" y="74592"/>
                </a:lnTo>
                <a:cubicBezTo>
                  <a:pt x="44182" y="71752"/>
                  <a:pt x="44772" y="67733"/>
                  <a:pt x="47612" y="65590"/>
                </a:cubicBezTo>
                <a:cubicBezTo>
                  <a:pt x="50452" y="63446"/>
                  <a:pt x="54471" y="64036"/>
                  <a:pt x="56614" y="66876"/>
                </a:cubicBezTo>
                <a:lnTo>
                  <a:pt x="63848" y="76522"/>
                </a:lnTo>
                <a:lnTo>
                  <a:pt x="80299" y="50184"/>
                </a:lnTo>
                <a:cubicBezTo>
                  <a:pt x="82175" y="47183"/>
                  <a:pt x="86140" y="46245"/>
                  <a:pt x="89168" y="48147"/>
                </a:cubicBezTo>
                <a:cubicBezTo>
                  <a:pt x="92196" y="50050"/>
                  <a:pt x="93107" y="53988"/>
                  <a:pt x="91204" y="57016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44" name="Text 42"/>
          <p:cNvSpPr/>
          <p:nvPr/>
        </p:nvSpPr>
        <p:spPr>
          <a:xfrm>
            <a:off x="720203" y="5230042"/>
            <a:ext cx="3566717" cy="188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8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建立高效的协同沟通机制,减少沟通成本,提升问题解决效率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165448" y="3858228"/>
            <a:ext cx="5684456" cy="1766211"/>
          </a:xfrm>
          <a:custGeom>
            <a:avLst/>
            <a:gdLst/>
            <a:ahLst/>
            <a:cxnLst/>
            <a:rect l="l" t="t" r="r" b="b"/>
            <a:pathLst>
              <a:path w="5684456" h="1766211">
                <a:moveTo>
                  <a:pt x="34295" y="0"/>
                </a:moveTo>
                <a:lnTo>
                  <a:pt x="5650160" y="0"/>
                </a:lnTo>
                <a:cubicBezTo>
                  <a:pt x="5669101" y="0"/>
                  <a:pt x="5684456" y="15355"/>
                  <a:pt x="5684456" y="34295"/>
                </a:cubicBezTo>
                <a:lnTo>
                  <a:pt x="5684456" y="1663329"/>
                </a:lnTo>
                <a:cubicBezTo>
                  <a:pt x="5684456" y="1720149"/>
                  <a:pt x="5638394" y="1766211"/>
                  <a:pt x="5581574" y="1766211"/>
                </a:cubicBezTo>
                <a:lnTo>
                  <a:pt x="102882" y="1766211"/>
                </a:lnTo>
                <a:cubicBezTo>
                  <a:pt x="46062" y="1766211"/>
                  <a:pt x="0" y="1720149"/>
                  <a:pt x="0" y="1663329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8608" dist="857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65448" y="3858228"/>
            <a:ext cx="5684456" cy="34295"/>
          </a:xfrm>
          <a:custGeom>
            <a:avLst/>
            <a:gdLst/>
            <a:ahLst/>
            <a:cxnLst/>
            <a:rect l="l" t="t" r="r" b="b"/>
            <a:pathLst>
              <a:path w="5684456" h="34295">
                <a:moveTo>
                  <a:pt x="34295" y="0"/>
                </a:moveTo>
                <a:lnTo>
                  <a:pt x="5650160" y="0"/>
                </a:lnTo>
                <a:cubicBezTo>
                  <a:pt x="5669101" y="0"/>
                  <a:pt x="5684456" y="15355"/>
                  <a:pt x="5684456" y="34295"/>
                </a:cubicBezTo>
                <a:lnTo>
                  <a:pt x="5684456" y="34295"/>
                </a:lnTo>
                <a:lnTo>
                  <a:pt x="0" y="34295"/>
                </a:ln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47" name="Shape 45"/>
          <p:cNvSpPr/>
          <p:nvPr/>
        </p:nvSpPr>
        <p:spPr>
          <a:xfrm>
            <a:off x="6302630" y="4012557"/>
            <a:ext cx="411544" cy="411544"/>
          </a:xfrm>
          <a:custGeom>
            <a:avLst/>
            <a:gdLst/>
            <a:ahLst/>
            <a:cxnLst/>
            <a:rect l="l" t="t" r="r" b="b"/>
            <a:pathLst>
              <a:path w="411544" h="411544">
                <a:moveTo>
                  <a:pt x="205772" y="0"/>
                </a:moveTo>
                <a:lnTo>
                  <a:pt x="205772" y="0"/>
                </a:lnTo>
                <a:cubicBezTo>
                  <a:pt x="319341" y="0"/>
                  <a:pt x="411544" y="92203"/>
                  <a:pt x="411544" y="205772"/>
                </a:cubicBezTo>
                <a:lnTo>
                  <a:pt x="411544" y="205772"/>
                </a:lnTo>
                <a:cubicBezTo>
                  <a:pt x="411544" y="319341"/>
                  <a:pt x="319341" y="411544"/>
                  <a:pt x="205772" y="411544"/>
                </a:cubicBezTo>
                <a:lnTo>
                  <a:pt x="205772" y="411544"/>
                </a:lnTo>
                <a:cubicBezTo>
                  <a:pt x="92203" y="411544"/>
                  <a:pt x="0" y="319341"/>
                  <a:pt x="0" y="205772"/>
                </a:cubicBezTo>
                <a:lnTo>
                  <a:pt x="0" y="205772"/>
                </a:lnTo>
                <a:cubicBezTo>
                  <a:pt x="0" y="92203"/>
                  <a:pt x="92203" y="0"/>
                  <a:pt x="205772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48" name="Text 46"/>
          <p:cNvSpPr/>
          <p:nvPr/>
        </p:nvSpPr>
        <p:spPr>
          <a:xfrm>
            <a:off x="6259761" y="4012557"/>
            <a:ext cx="497283" cy="411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817060" y="4098295"/>
            <a:ext cx="1971983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配合流程考核与看板监控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19778" y="4561283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91204" y="56989"/>
                </a:moveTo>
                <a:lnTo>
                  <a:pt x="69770" y="91285"/>
                </a:lnTo>
                <a:cubicBezTo>
                  <a:pt x="68644" y="93080"/>
                  <a:pt x="66715" y="94205"/>
                  <a:pt x="64599" y="94312"/>
                </a:cubicBezTo>
                <a:cubicBezTo>
                  <a:pt x="62482" y="94419"/>
                  <a:pt x="60446" y="93455"/>
                  <a:pt x="59186" y="91740"/>
                </a:cubicBezTo>
                <a:lnTo>
                  <a:pt x="46326" y="74592"/>
                </a:lnTo>
                <a:cubicBezTo>
                  <a:pt x="44182" y="71752"/>
                  <a:pt x="44772" y="67733"/>
                  <a:pt x="47612" y="65590"/>
                </a:cubicBezTo>
                <a:cubicBezTo>
                  <a:pt x="50452" y="63446"/>
                  <a:pt x="54471" y="64036"/>
                  <a:pt x="56614" y="66876"/>
                </a:cubicBezTo>
                <a:lnTo>
                  <a:pt x="63848" y="76522"/>
                </a:lnTo>
                <a:lnTo>
                  <a:pt x="80299" y="50184"/>
                </a:lnTo>
                <a:cubicBezTo>
                  <a:pt x="82175" y="47183"/>
                  <a:pt x="86140" y="46245"/>
                  <a:pt x="89168" y="48147"/>
                </a:cubicBezTo>
                <a:cubicBezTo>
                  <a:pt x="92196" y="50050"/>
                  <a:pt x="93107" y="53988"/>
                  <a:pt x="91204" y="57016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51" name="Text 49"/>
          <p:cNvSpPr/>
          <p:nvPr/>
        </p:nvSpPr>
        <p:spPr>
          <a:xfrm>
            <a:off x="6542697" y="4526987"/>
            <a:ext cx="2709333" cy="188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8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协同销管BP完成项目各环节数据统计与看板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19778" y="4818498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91204" y="56989"/>
                </a:moveTo>
                <a:lnTo>
                  <a:pt x="69770" y="91285"/>
                </a:lnTo>
                <a:cubicBezTo>
                  <a:pt x="68644" y="93080"/>
                  <a:pt x="66715" y="94205"/>
                  <a:pt x="64599" y="94312"/>
                </a:cubicBezTo>
                <a:cubicBezTo>
                  <a:pt x="62482" y="94419"/>
                  <a:pt x="60446" y="93455"/>
                  <a:pt x="59186" y="91740"/>
                </a:cubicBezTo>
                <a:lnTo>
                  <a:pt x="46326" y="74592"/>
                </a:lnTo>
                <a:cubicBezTo>
                  <a:pt x="44182" y="71752"/>
                  <a:pt x="44772" y="67733"/>
                  <a:pt x="47612" y="65590"/>
                </a:cubicBezTo>
                <a:cubicBezTo>
                  <a:pt x="50452" y="63446"/>
                  <a:pt x="54471" y="64036"/>
                  <a:pt x="56614" y="66876"/>
                </a:cubicBezTo>
                <a:lnTo>
                  <a:pt x="63848" y="76522"/>
                </a:lnTo>
                <a:lnTo>
                  <a:pt x="80299" y="50184"/>
                </a:lnTo>
                <a:cubicBezTo>
                  <a:pt x="82175" y="47183"/>
                  <a:pt x="86140" y="46245"/>
                  <a:pt x="89168" y="48147"/>
                </a:cubicBezTo>
                <a:cubicBezTo>
                  <a:pt x="92196" y="50050"/>
                  <a:pt x="93107" y="53988"/>
                  <a:pt x="91204" y="57016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53" name="Text 51"/>
          <p:cNvSpPr/>
          <p:nvPr/>
        </p:nvSpPr>
        <p:spPr>
          <a:xfrm>
            <a:off x="6542697" y="4784203"/>
            <a:ext cx="3343797" cy="188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8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确保数据真实、准确,支撑MO流程的可视化监控与考核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19778" y="5075713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91204" y="56989"/>
                </a:moveTo>
                <a:lnTo>
                  <a:pt x="69770" y="91285"/>
                </a:lnTo>
                <a:cubicBezTo>
                  <a:pt x="68644" y="93080"/>
                  <a:pt x="66715" y="94205"/>
                  <a:pt x="64599" y="94312"/>
                </a:cubicBezTo>
                <a:cubicBezTo>
                  <a:pt x="62482" y="94419"/>
                  <a:pt x="60446" y="93455"/>
                  <a:pt x="59186" y="91740"/>
                </a:cubicBezTo>
                <a:lnTo>
                  <a:pt x="46326" y="74592"/>
                </a:lnTo>
                <a:cubicBezTo>
                  <a:pt x="44182" y="71752"/>
                  <a:pt x="44772" y="67733"/>
                  <a:pt x="47612" y="65590"/>
                </a:cubicBezTo>
                <a:cubicBezTo>
                  <a:pt x="50452" y="63446"/>
                  <a:pt x="54471" y="64036"/>
                  <a:pt x="56614" y="66876"/>
                </a:cubicBezTo>
                <a:lnTo>
                  <a:pt x="63848" y="76522"/>
                </a:lnTo>
                <a:lnTo>
                  <a:pt x="80299" y="50184"/>
                </a:lnTo>
                <a:cubicBezTo>
                  <a:pt x="82175" y="47183"/>
                  <a:pt x="86140" y="46245"/>
                  <a:pt x="89168" y="48147"/>
                </a:cubicBezTo>
                <a:cubicBezTo>
                  <a:pt x="92196" y="50050"/>
                  <a:pt x="93107" y="53988"/>
                  <a:pt x="91204" y="57016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55" name="Text 53"/>
          <p:cNvSpPr/>
          <p:nvPr/>
        </p:nvSpPr>
        <p:spPr>
          <a:xfrm>
            <a:off x="6542697" y="5041418"/>
            <a:ext cx="2520709" cy="188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8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针对MO流程考核中发现的问题,及时整改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19778" y="5332928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91204" y="56989"/>
                </a:moveTo>
                <a:lnTo>
                  <a:pt x="69770" y="91285"/>
                </a:lnTo>
                <a:cubicBezTo>
                  <a:pt x="68644" y="93080"/>
                  <a:pt x="66715" y="94205"/>
                  <a:pt x="64599" y="94312"/>
                </a:cubicBezTo>
                <a:cubicBezTo>
                  <a:pt x="62482" y="94419"/>
                  <a:pt x="60446" y="93455"/>
                  <a:pt x="59186" y="91740"/>
                </a:cubicBezTo>
                <a:lnTo>
                  <a:pt x="46326" y="74592"/>
                </a:lnTo>
                <a:cubicBezTo>
                  <a:pt x="44182" y="71752"/>
                  <a:pt x="44772" y="67733"/>
                  <a:pt x="47612" y="65590"/>
                </a:cubicBezTo>
                <a:cubicBezTo>
                  <a:pt x="50452" y="63446"/>
                  <a:pt x="54471" y="64036"/>
                  <a:pt x="56614" y="66876"/>
                </a:cubicBezTo>
                <a:lnTo>
                  <a:pt x="63848" y="76522"/>
                </a:lnTo>
                <a:lnTo>
                  <a:pt x="80299" y="50184"/>
                </a:lnTo>
                <a:cubicBezTo>
                  <a:pt x="82175" y="47183"/>
                  <a:pt x="86140" y="46245"/>
                  <a:pt x="89168" y="48147"/>
                </a:cubicBezTo>
                <a:cubicBezTo>
                  <a:pt x="92196" y="50050"/>
                  <a:pt x="93107" y="53988"/>
                  <a:pt x="91204" y="57016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57" name="Text 55"/>
          <p:cNvSpPr/>
          <p:nvPr/>
        </p:nvSpPr>
        <p:spPr>
          <a:xfrm>
            <a:off x="6542697" y="5298633"/>
            <a:ext cx="2812219" cy="188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8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不断提升自身项目管理能力与流程执行规范性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360101" y="5761620"/>
            <a:ext cx="11488945" cy="411544"/>
          </a:xfrm>
          <a:custGeom>
            <a:avLst/>
            <a:gdLst/>
            <a:ahLst/>
            <a:cxnLst/>
            <a:rect l="l" t="t" r="r" b="b"/>
            <a:pathLst>
              <a:path w="11488945" h="411544">
                <a:moveTo>
                  <a:pt x="34295" y="0"/>
                </a:moveTo>
                <a:lnTo>
                  <a:pt x="11386059" y="0"/>
                </a:lnTo>
                <a:cubicBezTo>
                  <a:pt x="11442881" y="0"/>
                  <a:pt x="11488945" y="46064"/>
                  <a:pt x="11488945" y="102886"/>
                </a:cubicBezTo>
                <a:lnTo>
                  <a:pt x="11488945" y="308658"/>
                </a:lnTo>
                <a:cubicBezTo>
                  <a:pt x="11488945" y="365481"/>
                  <a:pt x="11442881" y="411544"/>
                  <a:pt x="11386059" y="411544"/>
                </a:cubicBezTo>
                <a:lnTo>
                  <a:pt x="34295" y="411544"/>
                </a:lnTo>
                <a:cubicBezTo>
                  <a:pt x="15367" y="411544"/>
                  <a:pt x="0" y="396177"/>
                  <a:pt x="0" y="377249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00B8D9">
              <a:alpha val="10196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360101" y="5761620"/>
            <a:ext cx="34295" cy="411544"/>
          </a:xfrm>
          <a:custGeom>
            <a:avLst/>
            <a:gdLst/>
            <a:ahLst/>
            <a:cxnLst/>
            <a:rect l="l" t="t" r="r" b="b"/>
            <a:pathLst>
              <a:path w="34295" h="411544">
                <a:moveTo>
                  <a:pt x="34295" y="0"/>
                </a:moveTo>
                <a:lnTo>
                  <a:pt x="34295" y="0"/>
                </a:lnTo>
                <a:lnTo>
                  <a:pt x="34295" y="411544"/>
                </a:lnTo>
                <a:lnTo>
                  <a:pt x="34295" y="411544"/>
                </a:lnTo>
                <a:cubicBezTo>
                  <a:pt x="15367" y="411544"/>
                  <a:pt x="0" y="396177"/>
                  <a:pt x="0" y="377249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60" name="Shape 58"/>
          <p:cNvSpPr/>
          <p:nvPr/>
        </p:nvSpPr>
        <p:spPr>
          <a:xfrm>
            <a:off x="490852" y="5881654"/>
            <a:ext cx="192911" cy="171477"/>
          </a:xfrm>
          <a:custGeom>
            <a:avLst/>
            <a:gdLst/>
            <a:ahLst/>
            <a:cxnLst/>
            <a:rect l="l" t="t" r="r" b="b"/>
            <a:pathLst>
              <a:path w="192911" h="171477">
                <a:moveTo>
                  <a:pt x="103656" y="-6330"/>
                </a:moveTo>
                <a:cubicBezTo>
                  <a:pt x="102283" y="-9009"/>
                  <a:pt x="99503" y="-10717"/>
                  <a:pt x="96489" y="-10717"/>
                </a:cubicBezTo>
                <a:cubicBezTo>
                  <a:pt x="93475" y="-10717"/>
                  <a:pt x="90695" y="-9009"/>
                  <a:pt x="89322" y="-6330"/>
                </a:cubicBezTo>
                <a:lnTo>
                  <a:pt x="64672" y="41965"/>
                </a:lnTo>
                <a:lnTo>
                  <a:pt x="11119" y="50472"/>
                </a:lnTo>
                <a:cubicBezTo>
                  <a:pt x="8138" y="50941"/>
                  <a:pt x="5660" y="53051"/>
                  <a:pt x="4722" y="55931"/>
                </a:cubicBezTo>
                <a:cubicBezTo>
                  <a:pt x="3785" y="58811"/>
                  <a:pt x="4555" y="61959"/>
                  <a:pt x="6665" y="64103"/>
                </a:cubicBezTo>
                <a:lnTo>
                  <a:pt x="44979" y="102451"/>
                </a:lnTo>
                <a:lnTo>
                  <a:pt x="36539" y="156004"/>
                </a:lnTo>
                <a:cubicBezTo>
                  <a:pt x="36070" y="158984"/>
                  <a:pt x="37310" y="161999"/>
                  <a:pt x="39754" y="163774"/>
                </a:cubicBezTo>
                <a:cubicBezTo>
                  <a:pt x="42199" y="165549"/>
                  <a:pt x="45415" y="165817"/>
                  <a:pt x="48127" y="164444"/>
                </a:cubicBezTo>
                <a:lnTo>
                  <a:pt x="96489" y="139861"/>
                </a:lnTo>
                <a:lnTo>
                  <a:pt x="144818" y="164444"/>
                </a:lnTo>
                <a:cubicBezTo>
                  <a:pt x="147497" y="165817"/>
                  <a:pt x="150746" y="165549"/>
                  <a:pt x="153190" y="163774"/>
                </a:cubicBezTo>
                <a:cubicBezTo>
                  <a:pt x="155635" y="161999"/>
                  <a:pt x="156874" y="159018"/>
                  <a:pt x="156406" y="156004"/>
                </a:cubicBezTo>
                <a:lnTo>
                  <a:pt x="147932" y="102451"/>
                </a:lnTo>
                <a:lnTo>
                  <a:pt x="186247" y="64103"/>
                </a:lnTo>
                <a:cubicBezTo>
                  <a:pt x="188390" y="61959"/>
                  <a:pt x="189127" y="58811"/>
                  <a:pt x="188189" y="55931"/>
                </a:cubicBezTo>
                <a:cubicBezTo>
                  <a:pt x="187251" y="53051"/>
                  <a:pt x="184806" y="50941"/>
                  <a:pt x="181792" y="50472"/>
                </a:cubicBezTo>
                <a:lnTo>
                  <a:pt x="128273" y="41965"/>
                </a:lnTo>
                <a:lnTo>
                  <a:pt x="103656" y="-6330"/>
                </a:ln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61" name="Text 59"/>
          <p:cNvSpPr/>
          <p:nvPr/>
        </p:nvSpPr>
        <p:spPr>
          <a:xfrm>
            <a:off x="797367" y="5864506"/>
            <a:ext cx="8856776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核心要点:</a:t>
            </a:r>
            <a:r>
              <a:rPr lang="en-US" sz="1080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日常管理工作是确保项目顺利推进的基础保障,项目经理需保持高度的责任心和主动性,确保信息同步及时、节点跟进到位、协同高效顺畅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100" dirty="0">
                <a:solidFill>
                  <a:srgbClr val="00B8D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REQUIREMENTS &amp; STANDARDS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 err="1" smtClean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标准与核心要求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84250"/>
            <a:ext cx="635000" cy="47625"/>
          </a:xfrm>
          <a:custGeom>
            <a:avLst/>
            <a:gdLst/>
            <a:ahLst/>
            <a:cxnLst/>
            <a:rect l="l" t="t" r="r" b="b"/>
            <a:pathLst>
              <a:path w="635000" h="47625">
                <a:moveTo>
                  <a:pt x="0" y="0"/>
                </a:moveTo>
                <a:lnTo>
                  <a:pt x="635000" y="0"/>
                </a:lnTo>
                <a:lnTo>
                  <a:pt x="635000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317500" y="1158875"/>
            <a:ext cx="5699125" cy="476250"/>
          </a:xfrm>
          <a:custGeom>
            <a:avLst/>
            <a:gdLst/>
            <a:ahLst/>
            <a:cxnLst/>
            <a:rect l="l" t="t" r="r" b="b"/>
            <a:pathLst>
              <a:path w="5699125" h="476250">
                <a:moveTo>
                  <a:pt x="95250" y="0"/>
                </a:moveTo>
                <a:lnTo>
                  <a:pt x="5603875" y="0"/>
                </a:lnTo>
                <a:cubicBezTo>
                  <a:pt x="5656445" y="0"/>
                  <a:pt x="5699125" y="42680"/>
                  <a:pt x="5699125" y="95250"/>
                </a:cubicBezTo>
                <a:lnTo>
                  <a:pt x="5699125" y="381000"/>
                </a:lnTo>
                <a:cubicBezTo>
                  <a:pt x="5699125" y="433570"/>
                  <a:pt x="5656445" y="476250"/>
                  <a:pt x="5603875" y="476250"/>
                </a:cubicBezTo>
                <a:lnTo>
                  <a:pt x="95250" y="476250"/>
                </a:lnTo>
                <a:cubicBezTo>
                  <a:pt x="42680" y="476250"/>
                  <a:pt x="0" y="433570"/>
                  <a:pt x="0" y="38100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6" name="Shape 4"/>
          <p:cNvSpPr/>
          <p:nvPr/>
        </p:nvSpPr>
        <p:spPr>
          <a:xfrm>
            <a:off x="492125" y="13017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15863" y="11906"/>
                </a:moveTo>
                <a:lnTo>
                  <a:pt x="119063" y="11906"/>
                </a:lnTo>
                <a:cubicBezTo>
                  <a:pt x="132197" y="11906"/>
                  <a:pt x="142875" y="22585"/>
                  <a:pt x="142875" y="35719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35719"/>
                </a:lnTo>
                <a:cubicBezTo>
                  <a:pt x="0" y="22585"/>
                  <a:pt x="10678" y="11906"/>
                  <a:pt x="23812" y="11906"/>
                </a:cubicBezTo>
                <a:lnTo>
                  <a:pt x="27012" y="11906"/>
                </a:lnTo>
                <a:cubicBezTo>
                  <a:pt x="31105" y="4800"/>
                  <a:pt x="38807" y="0"/>
                  <a:pt x="47625" y="0"/>
                </a:cubicBezTo>
                <a:lnTo>
                  <a:pt x="95250" y="0"/>
                </a:lnTo>
                <a:cubicBezTo>
                  <a:pt x="104068" y="0"/>
                  <a:pt x="111770" y="4800"/>
                  <a:pt x="115863" y="11906"/>
                </a:cubicBezTo>
                <a:close/>
                <a:moveTo>
                  <a:pt x="92273" y="41672"/>
                </a:moveTo>
                <a:cubicBezTo>
                  <a:pt x="97222" y="41672"/>
                  <a:pt x="101203" y="37691"/>
                  <a:pt x="101203" y="32742"/>
                </a:cubicBezTo>
                <a:cubicBezTo>
                  <a:pt x="101203" y="27794"/>
                  <a:pt x="97222" y="23812"/>
                  <a:pt x="92273" y="23812"/>
                </a:cubicBezTo>
                <a:lnTo>
                  <a:pt x="50602" y="23812"/>
                </a:lnTo>
                <a:cubicBezTo>
                  <a:pt x="45653" y="23812"/>
                  <a:pt x="41672" y="27794"/>
                  <a:pt x="41672" y="32742"/>
                </a:cubicBezTo>
                <a:cubicBezTo>
                  <a:pt x="41672" y="37691"/>
                  <a:pt x="45653" y="41672"/>
                  <a:pt x="50602" y="41672"/>
                </a:cubicBezTo>
                <a:lnTo>
                  <a:pt x="92273" y="41672"/>
                </a:lnTo>
                <a:close/>
                <a:moveTo>
                  <a:pt x="47625" y="95250"/>
                </a:moveTo>
                <a:cubicBezTo>
                  <a:pt x="47625" y="88679"/>
                  <a:pt x="42290" y="83344"/>
                  <a:pt x="35719" y="83344"/>
                </a:cubicBezTo>
                <a:cubicBezTo>
                  <a:pt x="29148" y="83344"/>
                  <a:pt x="23812" y="88679"/>
                  <a:pt x="23812" y="95250"/>
                </a:cubicBezTo>
                <a:cubicBezTo>
                  <a:pt x="23812" y="101821"/>
                  <a:pt x="29148" y="107156"/>
                  <a:pt x="35719" y="107156"/>
                </a:cubicBezTo>
                <a:cubicBezTo>
                  <a:pt x="42290" y="107156"/>
                  <a:pt x="47625" y="101821"/>
                  <a:pt x="47625" y="95250"/>
                </a:cubicBezTo>
                <a:close/>
                <a:moveTo>
                  <a:pt x="59531" y="95250"/>
                </a:moveTo>
                <a:cubicBezTo>
                  <a:pt x="59531" y="100199"/>
                  <a:pt x="63512" y="104180"/>
                  <a:pt x="68461" y="104180"/>
                </a:cubicBezTo>
                <a:lnTo>
                  <a:pt x="110133" y="104180"/>
                </a:lnTo>
                <a:cubicBezTo>
                  <a:pt x="115081" y="104180"/>
                  <a:pt x="119063" y="100199"/>
                  <a:pt x="119063" y="95250"/>
                </a:cubicBezTo>
                <a:cubicBezTo>
                  <a:pt x="119063" y="90301"/>
                  <a:pt x="115081" y="86320"/>
                  <a:pt x="110133" y="86320"/>
                </a:cubicBezTo>
                <a:lnTo>
                  <a:pt x="68461" y="86320"/>
                </a:lnTo>
                <a:cubicBezTo>
                  <a:pt x="63512" y="86320"/>
                  <a:pt x="59531" y="90301"/>
                  <a:pt x="59531" y="95250"/>
                </a:cubicBezTo>
                <a:close/>
                <a:moveTo>
                  <a:pt x="59531" y="142875"/>
                </a:moveTo>
                <a:cubicBezTo>
                  <a:pt x="59531" y="147824"/>
                  <a:pt x="63512" y="151805"/>
                  <a:pt x="68461" y="151805"/>
                </a:cubicBezTo>
                <a:lnTo>
                  <a:pt x="110133" y="151805"/>
                </a:lnTo>
                <a:cubicBezTo>
                  <a:pt x="115081" y="151805"/>
                  <a:pt x="119063" y="147824"/>
                  <a:pt x="119063" y="142875"/>
                </a:cubicBezTo>
                <a:cubicBezTo>
                  <a:pt x="119063" y="137926"/>
                  <a:pt x="115081" y="133945"/>
                  <a:pt x="110133" y="133945"/>
                </a:cubicBezTo>
                <a:lnTo>
                  <a:pt x="68461" y="133945"/>
                </a:lnTo>
                <a:cubicBezTo>
                  <a:pt x="63512" y="133945"/>
                  <a:pt x="59531" y="137926"/>
                  <a:pt x="59531" y="142875"/>
                </a:cubicBezTo>
                <a:close/>
                <a:moveTo>
                  <a:pt x="35719" y="154781"/>
                </a:moveTo>
                <a:cubicBezTo>
                  <a:pt x="42290" y="154781"/>
                  <a:pt x="47625" y="149446"/>
                  <a:pt x="47625" y="142875"/>
                </a:cubicBezTo>
                <a:cubicBezTo>
                  <a:pt x="47625" y="136304"/>
                  <a:pt x="42290" y="130969"/>
                  <a:pt x="35719" y="130969"/>
                </a:cubicBezTo>
                <a:cubicBezTo>
                  <a:pt x="29148" y="130969"/>
                  <a:pt x="23812" y="136304"/>
                  <a:pt x="23812" y="142875"/>
                </a:cubicBezTo>
                <a:cubicBezTo>
                  <a:pt x="23812" y="149446"/>
                  <a:pt x="29148" y="154781"/>
                  <a:pt x="35719" y="15478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777875" y="1285875"/>
            <a:ext cx="1031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五项基本要求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3375" y="1730375"/>
            <a:ext cx="5683250" cy="563563"/>
          </a:xfrm>
          <a:custGeom>
            <a:avLst/>
            <a:gdLst/>
            <a:ahLst/>
            <a:cxnLst/>
            <a:rect l="l" t="t" r="r" b="b"/>
            <a:pathLst>
              <a:path w="5683250" h="563563">
                <a:moveTo>
                  <a:pt x="31750" y="0"/>
                </a:moveTo>
                <a:lnTo>
                  <a:pt x="5619748" y="0"/>
                </a:lnTo>
                <a:cubicBezTo>
                  <a:pt x="5654819" y="0"/>
                  <a:pt x="5683250" y="28431"/>
                  <a:pt x="5683250" y="63502"/>
                </a:cubicBezTo>
                <a:lnTo>
                  <a:pt x="5683250" y="500060"/>
                </a:lnTo>
                <a:cubicBezTo>
                  <a:pt x="5683250" y="535132"/>
                  <a:pt x="5654819" y="563563"/>
                  <a:pt x="5619748" y="563563"/>
                </a:cubicBezTo>
                <a:lnTo>
                  <a:pt x="31750" y="563563"/>
                </a:lnTo>
                <a:cubicBezTo>
                  <a:pt x="14227" y="563563"/>
                  <a:pt x="0" y="549336"/>
                  <a:pt x="0" y="53181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375" y="1730375"/>
            <a:ext cx="31750" cy="563563"/>
          </a:xfrm>
          <a:custGeom>
            <a:avLst/>
            <a:gdLst/>
            <a:ahLst/>
            <a:cxnLst/>
            <a:rect l="l" t="t" r="r" b="b"/>
            <a:pathLst>
              <a:path w="31750" h="563563">
                <a:moveTo>
                  <a:pt x="31750" y="0"/>
                </a:moveTo>
                <a:lnTo>
                  <a:pt x="31750" y="0"/>
                </a:lnTo>
                <a:lnTo>
                  <a:pt x="31750" y="563563"/>
                </a:lnTo>
                <a:lnTo>
                  <a:pt x="31750" y="563563"/>
                </a:lnTo>
                <a:cubicBezTo>
                  <a:pt x="14227" y="563563"/>
                  <a:pt x="0" y="549336"/>
                  <a:pt x="0" y="53181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10" name="Shape 8"/>
          <p:cNvSpPr/>
          <p:nvPr/>
        </p:nvSpPr>
        <p:spPr>
          <a:xfrm>
            <a:off x="444500" y="182562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11" name="Text 9"/>
          <p:cNvSpPr/>
          <p:nvPr/>
        </p:nvSpPr>
        <p:spPr>
          <a:xfrm>
            <a:off x="416719" y="1825625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3750" y="1825625"/>
            <a:ext cx="4389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熟悉流程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93750" y="2047875"/>
            <a:ext cx="4381500" cy="15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全面掌握MO商机管理流程及各子流程的全部要求,包括时间节点、执行标准、留痕规范等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33375" y="2359422"/>
            <a:ext cx="5683250" cy="563563"/>
          </a:xfrm>
          <a:custGeom>
            <a:avLst/>
            <a:gdLst/>
            <a:ahLst/>
            <a:cxnLst/>
            <a:rect l="l" t="t" r="r" b="b"/>
            <a:pathLst>
              <a:path w="5683250" h="563563">
                <a:moveTo>
                  <a:pt x="31750" y="0"/>
                </a:moveTo>
                <a:lnTo>
                  <a:pt x="5619748" y="0"/>
                </a:lnTo>
                <a:cubicBezTo>
                  <a:pt x="5654819" y="0"/>
                  <a:pt x="5683250" y="28431"/>
                  <a:pt x="5683250" y="63502"/>
                </a:cubicBezTo>
                <a:lnTo>
                  <a:pt x="5683250" y="500060"/>
                </a:lnTo>
                <a:cubicBezTo>
                  <a:pt x="5683250" y="535132"/>
                  <a:pt x="5654819" y="563563"/>
                  <a:pt x="5619748" y="563563"/>
                </a:cubicBezTo>
                <a:lnTo>
                  <a:pt x="31750" y="563563"/>
                </a:lnTo>
                <a:cubicBezTo>
                  <a:pt x="14227" y="563563"/>
                  <a:pt x="0" y="549336"/>
                  <a:pt x="0" y="53181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375" y="2359422"/>
            <a:ext cx="31750" cy="563563"/>
          </a:xfrm>
          <a:custGeom>
            <a:avLst/>
            <a:gdLst/>
            <a:ahLst/>
            <a:cxnLst/>
            <a:rect l="l" t="t" r="r" b="b"/>
            <a:pathLst>
              <a:path w="31750" h="563563">
                <a:moveTo>
                  <a:pt x="31750" y="0"/>
                </a:moveTo>
                <a:lnTo>
                  <a:pt x="31750" y="0"/>
                </a:lnTo>
                <a:lnTo>
                  <a:pt x="31750" y="563563"/>
                </a:lnTo>
                <a:lnTo>
                  <a:pt x="31750" y="563563"/>
                </a:lnTo>
                <a:cubicBezTo>
                  <a:pt x="14227" y="563563"/>
                  <a:pt x="0" y="549336"/>
                  <a:pt x="0" y="53181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16" name="Shape 14"/>
          <p:cNvSpPr/>
          <p:nvPr/>
        </p:nvSpPr>
        <p:spPr>
          <a:xfrm>
            <a:off x="444500" y="2454672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17" name="Text 15"/>
          <p:cNvSpPr/>
          <p:nvPr/>
        </p:nvSpPr>
        <p:spPr>
          <a:xfrm>
            <a:off x="416719" y="2454672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93750" y="2454672"/>
            <a:ext cx="5008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主动作为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93750" y="2676922"/>
            <a:ext cx="5000625" cy="15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以第一责任人的姿态主动推进项目工作,不推诿、不拖延,针对项目问题主动识别、主动协调、主动解决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33375" y="2988469"/>
            <a:ext cx="5683250" cy="722313"/>
          </a:xfrm>
          <a:custGeom>
            <a:avLst/>
            <a:gdLst/>
            <a:ahLst/>
            <a:cxnLst/>
            <a:rect l="l" t="t" r="r" b="b"/>
            <a:pathLst>
              <a:path w="5683250" h="722313">
                <a:moveTo>
                  <a:pt x="31750" y="0"/>
                </a:moveTo>
                <a:lnTo>
                  <a:pt x="5619752" y="0"/>
                </a:lnTo>
                <a:cubicBezTo>
                  <a:pt x="5654821" y="0"/>
                  <a:pt x="5683250" y="28429"/>
                  <a:pt x="5683250" y="63498"/>
                </a:cubicBezTo>
                <a:lnTo>
                  <a:pt x="5683250" y="658814"/>
                </a:lnTo>
                <a:cubicBezTo>
                  <a:pt x="5683250" y="693883"/>
                  <a:pt x="5654821" y="722312"/>
                  <a:pt x="5619752" y="722313"/>
                </a:cubicBezTo>
                <a:lnTo>
                  <a:pt x="31750" y="722313"/>
                </a:lnTo>
                <a:cubicBezTo>
                  <a:pt x="14215" y="722313"/>
                  <a:pt x="0" y="708098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3375" y="2988469"/>
            <a:ext cx="31750" cy="722313"/>
          </a:xfrm>
          <a:custGeom>
            <a:avLst/>
            <a:gdLst/>
            <a:ahLst/>
            <a:cxnLst/>
            <a:rect l="l" t="t" r="r" b="b"/>
            <a:pathLst>
              <a:path w="31750" h="722313">
                <a:moveTo>
                  <a:pt x="31750" y="0"/>
                </a:moveTo>
                <a:lnTo>
                  <a:pt x="31750" y="0"/>
                </a:lnTo>
                <a:lnTo>
                  <a:pt x="31750" y="722313"/>
                </a:lnTo>
                <a:lnTo>
                  <a:pt x="31750" y="722313"/>
                </a:lnTo>
                <a:cubicBezTo>
                  <a:pt x="14227" y="722313"/>
                  <a:pt x="0" y="708086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22" name="Shape 20"/>
          <p:cNvSpPr/>
          <p:nvPr/>
        </p:nvSpPr>
        <p:spPr>
          <a:xfrm>
            <a:off x="444500" y="3083719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23" name="Text 21"/>
          <p:cNvSpPr/>
          <p:nvPr/>
        </p:nvSpPr>
        <p:spPr>
          <a:xfrm>
            <a:off x="416719" y="3083719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93750" y="3083719"/>
            <a:ext cx="519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专业能力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93750" y="3305969"/>
            <a:ext cx="5183188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具备良好的客户关系维护能力、策略制定能力、统筹协调能力、风险管控能力,能够带领项目组高效完成项目目标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33375" y="3770313"/>
            <a:ext cx="5683250" cy="563563"/>
          </a:xfrm>
          <a:custGeom>
            <a:avLst/>
            <a:gdLst/>
            <a:ahLst/>
            <a:cxnLst/>
            <a:rect l="l" t="t" r="r" b="b"/>
            <a:pathLst>
              <a:path w="5683250" h="563563">
                <a:moveTo>
                  <a:pt x="31750" y="0"/>
                </a:moveTo>
                <a:lnTo>
                  <a:pt x="5619748" y="0"/>
                </a:lnTo>
                <a:cubicBezTo>
                  <a:pt x="5654819" y="0"/>
                  <a:pt x="5683250" y="28431"/>
                  <a:pt x="5683250" y="63502"/>
                </a:cubicBezTo>
                <a:lnTo>
                  <a:pt x="5683250" y="500060"/>
                </a:lnTo>
                <a:cubicBezTo>
                  <a:pt x="5683250" y="535132"/>
                  <a:pt x="5654819" y="563563"/>
                  <a:pt x="5619748" y="563563"/>
                </a:cubicBezTo>
                <a:lnTo>
                  <a:pt x="31750" y="563563"/>
                </a:lnTo>
                <a:cubicBezTo>
                  <a:pt x="14227" y="563563"/>
                  <a:pt x="0" y="549336"/>
                  <a:pt x="0" y="53181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3375" y="3770313"/>
            <a:ext cx="31750" cy="563563"/>
          </a:xfrm>
          <a:custGeom>
            <a:avLst/>
            <a:gdLst/>
            <a:ahLst/>
            <a:cxnLst/>
            <a:rect l="l" t="t" r="r" b="b"/>
            <a:pathLst>
              <a:path w="31750" h="563563">
                <a:moveTo>
                  <a:pt x="31750" y="0"/>
                </a:moveTo>
                <a:lnTo>
                  <a:pt x="31750" y="0"/>
                </a:lnTo>
                <a:lnTo>
                  <a:pt x="31750" y="563563"/>
                </a:lnTo>
                <a:lnTo>
                  <a:pt x="31750" y="563563"/>
                </a:lnTo>
                <a:cubicBezTo>
                  <a:pt x="14227" y="563563"/>
                  <a:pt x="0" y="549336"/>
                  <a:pt x="0" y="53181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28" name="Shape 26"/>
          <p:cNvSpPr/>
          <p:nvPr/>
        </p:nvSpPr>
        <p:spPr>
          <a:xfrm>
            <a:off x="444500" y="386556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29" name="Text 27"/>
          <p:cNvSpPr/>
          <p:nvPr/>
        </p:nvSpPr>
        <p:spPr>
          <a:xfrm>
            <a:off x="416719" y="3865563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93750" y="3865563"/>
            <a:ext cx="4230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团队协作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93750" y="4087812"/>
            <a:ext cx="4222750" cy="15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善于调动项目组成员积极性,建立良好的团队协作氛围,确保项目组高效协同、目标一致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33375" y="4399359"/>
            <a:ext cx="5683250" cy="722313"/>
          </a:xfrm>
          <a:custGeom>
            <a:avLst/>
            <a:gdLst/>
            <a:ahLst/>
            <a:cxnLst/>
            <a:rect l="l" t="t" r="r" b="b"/>
            <a:pathLst>
              <a:path w="5683250" h="722313">
                <a:moveTo>
                  <a:pt x="31750" y="0"/>
                </a:moveTo>
                <a:lnTo>
                  <a:pt x="5619752" y="0"/>
                </a:lnTo>
                <a:cubicBezTo>
                  <a:pt x="5654821" y="0"/>
                  <a:pt x="5683250" y="28429"/>
                  <a:pt x="5683250" y="63498"/>
                </a:cubicBezTo>
                <a:lnTo>
                  <a:pt x="5683250" y="658814"/>
                </a:lnTo>
                <a:cubicBezTo>
                  <a:pt x="5683250" y="693883"/>
                  <a:pt x="5654821" y="722312"/>
                  <a:pt x="5619752" y="722313"/>
                </a:cubicBezTo>
                <a:lnTo>
                  <a:pt x="31750" y="722313"/>
                </a:lnTo>
                <a:cubicBezTo>
                  <a:pt x="14215" y="722313"/>
                  <a:pt x="0" y="708098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33375" y="4399359"/>
            <a:ext cx="31750" cy="722313"/>
          </a:xfrm>
          <a:custGeom>
            <a:avLst/>
            <a:gdLst/>
            <a:ahLst/>
            <a:cxnLst/>
            <a:rect l="l" t="t" r="r" b="b"/>
            <a:pathLst>
              <a:path w="31750" h="722313">
                <a:moveTo>
                  <a:pt x="31750" y="0"/>
                </a:moveTo>
                <a:lnTo>
                  <a:pt x="31750" y="0"/>
                </a:lnTo>
                <a:lnTo>
                  <a:pt x="31750" y="722313"/>
                </a:lnTo>
                <a:lnTo>
                  <a:pt x="31750" y="722313"/>
                </a:lnTo>
                <a:cubicBezTo>
                  <a:pt x="14227" y="722313"/>
                  <a:pt x="0" y="708086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34" name="Shape 32"/>
          <p:cNvSpPr/>
          <p:nvPr/>
        </p:nvSpPr>
        <p:spPr>
          <a:xfrm>
            <a:off x="444500" y="4494609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35" name="Text 33"/>
          <p:cNvSpPr/>
          <p:nvPr/>
        </p:nvSpPr>
        <p:spPr>
          <a:xfrm>
            <a:off x="416719" y="4494609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93750" y="4494609"/>
            <a:ext cx="519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留痕规范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93750" y="4716859"/>
            <a:ext cx="5183188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严格遵守MO流程留痕要求,所有项目工作动作、决策、会议结论均需在CRM及飞书中完整留痕,做到过程可溯、结果可查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75375" y="1158875"/>
            <a:ext cx="5699125" cy="476250"/>
          </a:xfrm>
          <a:custGeom>
            <a:avLst/>
            <a:gdLst/>
            <a:ahLst/>
            <a:cxnLst/>
            <a:rect l="l" t="t" r="r" b="b"/>
            <a:pathLst>
              <a:path w="5699125" h="476250">
                <a:moveTo>
                  <a:pt x="95250" y="0"/>
                </a:moveTo>
                <a:lnTo>
                  <a:pt x="5603875" y="0"/>
                </a:lnTo>
                <a:cubicBezTo>
                  <a:pt x="5656445" y="0"/>
                  <a:pt x="5699125" y="42680"/>
                  <a:pt x="5699125" y="95250"/>
                </a:cubicBezTo>
                <a:lnTo>
                  <a:pt x="5699125" y="381000"/>
                </a:lnTo>
                <a:cubicBezTo>
                  <a:pt x="5699125" y="433570"/>
                  <a:pt x="5656445" y="476250"/>
                  <a:pt x="5603875" y="476250"/>
                </a:cubicBezTo>
                <a:lnTo>
                  <a:pt x="95250" y="476250"/>
                </a:lnTo>
                <a:cubicBezTo>
                  <a:pt x="42680" y="476250"/>
                  <a:pt x="0" y="433570"/>
                  <a:pt x="0" y="38100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39" name="Shape 37"/>
          <p:cNvSpPr/>
          <p:nvPr/>
        </p:nvSpPr>
        <p:spPr>
          <a:xfrm>
            <a:off x="6326188" y="1301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47625" y="35719"/>
                </a:moveTo>
                <a:cubicBezTo>
                  <a:pt x="47625" y="29133"/>
                  <a:pt x="52946" y="23812"/>
                  <a:pt x="59531" y="23812"/>
                </a:cubicBezTo>
                <a:lnTo>
                  <a:pt x="130969" y="23812"/>
                </a:lnTo>
                <a:cubicBezTo>
                  <a:pt x="137554" y="23812"/>
                  <a:pt x="142875" y="29133"/>
                  <a:pt x="142875" y="35719"/>
                </a:cubicBezTo>
                <a:cubicBezTo>
                  <a:pt x="142875" y="42304"/>
                  <a:pt x="137554" y="47625"/>
                  <a:pt x="130969" y="47625"/>
                </a:cubicBezTo>
                <a:lnTo>
                  <a:pt x="59531" y="47625"/>
                </a:lnTo>
                <a:cubicBezTo>
                  <a:pt x="52946" y="47625"/>
                  <a:pt x="47625" y="42304"/>
                  <a:pt x="47625" y="35719"/>
                </a:cubicBezTo>
                <a:close/>
                <a:moveTo>
                  <a:pt x="59531" y="65484"/>
                </a:moveTo>
                <a:lnTo>
                  <a:pt x="107156" y="65484"/>
                </a:lnTo>
                <a:cubicBezTo>
                  <a:pt x="113742" y="65484"/>
                  <a:pt x="119063" y="70805"/>
                  <a:pt x="119063" y="77391"/>
                </a:cubicBezTo>
                <a:cubicBezTo>
                  <a:pt x="119063" y="83976"/>
                  <a:pt x="113742" y="89297"/>
                  <a:pt x="107156" y="89297"/>
                </a:cubicBezTo>
                <a:lnTo>
                  <a:pt x="59531" y="89297"/>
                </a:lnTo>
                <a:cubicBezTo>
                  <a:pt x="52946" y="89297"/>
                  <a:pt x="47625" y="83976"/>
                  <a:pt x="47625" y="77391"/>
                </a:cubicBezTo>
                <a:cubicBezTo>
                  <a:pt x="47625" y="70805"/>
                  <a:pt x="52946" y="65484"/>
                  <a:pt x="59531" y="65484"/>
                </a:cubicBezTo>
                <a:close/>
                <a:moveTo>
                  <a:pt x="59531" y="107156"/>
                </a:move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59531" y="130969"/>
                </a:lnTo>
                <a:cubicBezTo>
                  <a:pt x="52946" y="130969"/>
                  <a:pt x="47625" y="125648"/>
                  <a:pt x="47625" y="119063"/>
                </a:cubicBezTo>
                <a:cubicBezTo>
                  <a:pt x="47625" y="112477"/>
                  <a:pt x="52946" y="107156"/>
                  <a:pt x="59531" y="10715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6635750" y="1285875"/>
            <a:ext cx="1349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五项核心考核标准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75375" y="1730375"/>
            <a:ext cx="5699125" cy="3897313"/>
          </a:xfrm>
          <a:custGeom>
            <a:avLst/>
            <a:gdLst/>
            <a:ahLst/>
            <a:cxnLst/>
            <a:rect l="l" t="t" r="r" b="b"/>
            <a:pathLst>
              <a:path w="5699125" h="3897313">
                <a:moveTo>
                  <a:pt x="95250" y="0"/>
                </a:moveTo>
                <a:lnTo>
                  <a:pt x="5603875" y="0"/>
                </a:lnTo>
                <a:cubicBezTo>
                  <a:pt x="5656480" y="0"/>
                  <a:pt x="5699125" y="42645"/>
                  <a:pt x="5699125" y="95250"/>
                </a:cubicBezTo>
                <a:lnTo>
                  <a:pt x="5699125" y="3802062"/>
                </a:lnTo>
                <a:cubicBezTo>
                  <a:pt x="5699125" y="3854667"/>
                  <a:pt x="5656480" y="3897313"/>
                  <a:pt x="5603875" y="3897312"/>
                </a:cubicBezTo>
                <a:lnTo>
                  <a:pt x="95250" y="3897313"/>
                </a:lnTo>
                <a:cubicBezTo>
                  <a:pt x="42645" y="3897312"/>
                  <a:pt x="0" y="3854667"/>
                  <a:pt x="0" y="3802062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302375" y="1857375"/>
            <a:ext cx="5500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 err="1">
                <a:solidFill>
                  <a:srgbClr val="212529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项目经理的履职情况纳入MO</a:t>
            </a:r>
            <a:r>
              <a:rPr lang="en-US" sz="875" dirty="0" err="1" smtClean="0">
                <a:solidFill>
                  <a:srgbClr val="212529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流程考核体系</a:t>
            </a:r>
            <a:r>
              <a:rPr lang="zh-CN" altLang="en-US" sz="875" dirty="0" smtClean="0">
                <a:solidFill>
                  <a:srgbClr val="212529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，逐步与</a:t>
            </a:r>
            <a:r>
              <a:rPr lang="en-US" altLang="zh-CN" sz="875" dirty="0" smtClean="0">
                <a:solidFill>
                  <a:srgbClr val="212529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QBC</a:t>
            </a:r>
            <a:r>
              <a:rPr lang="zh-CN" altLang="en-US" sz="875" dirty="0" smtClean="0">
                <a:solidFill>
                  <a:srgbClr val="212529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挂钩。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18250" y="2111375"/>
            <a:ext cx="5429250" cy="722313"/>
          </a:xfrm>
          <a:custGeom>
            <a:avLst/>
            <a:gdLst/>
            <a:ahLst/>
            <a:cxnLst/>
            <a:rect l="l" t="t" r="r" b="b"/>
            <a:pathLst>
              <a:path w="5429250" h="722313">
                <a:moveTo>
                  <a:pt x="31750" y="0"/>
                </a:moveTo>
                <a:lnTo>
                  <a:pt x="5365752" y="0"/>
                </a:lnTo>
                <a:cubicBezTo>
                  <a:pt x="5400821" y="0"/>
                  <a:pt x="5429250" y="28429"/>
                  <a:pt x="5429250" y="63498"/>
                </a:cubicBezTo>
                <a:lnTo>
                  <a:pt x="5429250" y="658814"/>
                </a:lnTo>
                <a:cubicBezTo>
                  <a:pt x="5429250" y="693883"/>
                  <a:pt x="5400821" y="722312"/>
                  <a:pt x="5365752" y="722313"/>
                </a:cubicBezTo>
                <a:lnTo>
                  <a:pt x="31750" y="722313"/>
                </a:lnTo>
                <a:cubicBezTo>
                  <a:pt x="14215" y="722313"/>
                  <a:pt x="0" y="708098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52CC">
              <a:alpha val="5098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318250" y="2111375"/>
            <a:ext cx="31750" cy="722313"/>
          </a:xfrm>
          <a:custGeom>
            <a:avLst/>
            <a:gdLst/>
            <a:ahLst/>
            <a:cxnLst/>
            <a:rect l="l" t="t" r="r" b="b"/>
            <a:pathLst>
              <a:path w="31750" h="722313">
                <a:moveTo>
                  <a:pt x="31750" y="0"/>
                </a:moveTo>
                <a:lnTo>
                  <a:pt x="31750" y="0"/>
                </a:lnTo>
                <a:lnTo>
                  <a:pt x="31750" y="722313"/>
                </a:lnTo>
                <a:lnTo>
                  <a:pt x="31750" y="722313"/>
                </a:lnTo>
                <a:cubicBezTo>
                  <a:pt x="14227" y="722313"/>
                  <a:pt x="0" y="708086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45" name="Shape 43"/>
          <p:cNvSpPr/>
          <p:nvPr/>
        </p:nvSpPr>
        <p:spPr>
          <a:xfrm>
            <a:off x="6445250" y="223837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98547" y="0"/>
                  <a:pt x="127000" y="28453"/>
                  <a:pt x="127000" y="63500"/>
                </a:cubicBezTo>
                <a:cubicBezTo>
                  <a:pt x="127000" y="98547"/>
                  <a:pt x="98547" y="127000"/>
                  <a:pt x="63500" y="127000"/>
                </a:cubicBezTo>
                <a:cubicBezTo>
                  <a:pt x="28453" y="127000"/>
                  <a:pt x="0" y="98547"/>
                  <a:pt x="0" y="63500"/>
                </a:cubicBezTo>
                <a:cubicBezTo>
                  <a:pt x="0" y="28453"/>
                  <a:pt x="28453" y="0"/>
                  <a:pt x="63500" y="0"/>
                </a:cubicBezTo>
                <a:close/>
                <a:moveTo>
                  <a:pt x="57547" y="29766"/>
                </a:moveTo>
                <a:lnTo>
                  <a:pt x="57547" y="63500"/>
                </a:lnTo>
                <a:cubicBezTo>
                  <a:pt x="57547" y="65484"/>
                  <a:pt x="58539" y="67345"/>
                  <a:pt x="60201" y="68461"/>
                </a:cubicBezTo>
                <a:lnTo>
                  <a:pt x="84013" y="84336"/>
                </a:lnTo>
                <a:cubicBezTo>
                  <a:pt x="86742" y="86171"/>
                  <a:pt x="90438" y="85427"/>
                  <a:pt x="92273" y="82674"/>
                </a:cubicBezTo>
                <a:cubicBezTo>
                  <a:pt x="94109" y="79921"/>
                  <a:pt x="93365" y="76250"/>
                  <a:pt x="90612" y="74414"/>
                </a:cubicBezTo>
                <a:lnTo>
                  <a:pt x="69453" y="60325"/>
                </a:lnTo>
                <a:lnTo>
                  <a:pt x="69453" y="29766"/>
                </a:lnTo>
                <a:cubicBezTo>
                  <a:pt x="69453" y="26467"/>
                  <a:pt x="66799" y="23812"/>
                  <a:pt x="63500" y="23812"/>
                </a:cubicBezTo>
                <a:cubicBezTo>
                  <a:pt x="60201" y="23812"/>
                  <a:pt x="57547" y="26467"/>
                  <a:pt x="57547" y="29766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46" name="Text 44"/>
          <p:cNvSpPr/>
          <p:nvPr/>
        </p:nvSpPr>
        <p:spPr>
          <a:xfrm>
            <a:off x="6651625" y="2206625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流程节点及时性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429375" y="2428875"/>
            <a:ext cx="5278438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75" dirty="0" err="1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立项启动会、标前评审会、</a:t>
            </a:r>
            <a:r>
              <a:rPr lang="en-US" sz="875" dirty="0" err="1" smtClean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赢丢单复盘会等关键节点是否按时间要求完成</a:t>
            </a:r>
            <a:r>
              <a:rPr lang="zh-CN" alt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</a:t>
            </a:r>
            <a:r>
              <a:rPr lang="zh-CN" altLang="en-US" sz="900" b="1" dirty="0" smtClean="0">
                <a:solidFill>
                  <a:srgbClr val="FF0000"/>
                </a:solidFill>
              </a:rPr>
              <a:t>每未执行 </a:t>
            </a:r>
            <a:r>
              <a:rPr lang="en-US" altLang="zh-CN" sz="900" b="1" dirty="0" smtClean="0">
                <a:solidFill>
                  <a:srgbClr val="FF0000"/>
                </a:solidFill>
              </a:rPr>
              <a:t>1 </a:t>
            </a:r>
            <a:r>
              <a:rPr lang="zh-CN" altLang="en-US" sz="900" b="1" dirty="0" smtClean="0">
                <a:solidFill>
                  <a:srgbClr val="FF0000"/>
                </a:solidFill>
              </a:rPr>
              <a:t>周关键任务，会进行看板呈现及问题复盘联合分析（后续逐步应用于</a:t>
            </a:r>
            <a:r>
              <a:rPr lang="en-US" altLang="zh-CN" sz="900" b="1" dirty="0" smtClean="0">
                <a:solidFill>
                  <a:srgbClr val="FF0000"/>
                </a:solidFill>
              </a:rPr>
              <a:t>QBC</a:t>
            </a:r>
            <a:r>
              <a:rPr lang="zh-CN" altLang="en-US" sz="900" b="1" dirty="0" smtClean="0">
                <a:solidFill>
                  <a:srgbClr val="FF0000"/>
                </a:solidFill>
              </a:rPr>
              <a:t>）</a:t>
            </a:r>
            <a:endParaRPr lang="zh-CN" altLang="en-US" sz="900" b="1" dirty="0">
              <a:solidFill>
                <a:srgbClr val="FF0000"/>
              </a:solidFill>
            </a:endParaRPr>
          </a:p>
        </p:txBody>
      </p:sp>
      <p:sp>
        <p:nvSpPr>
          <p:cNvPr id="48" name="Shape 46"/>
          <p:cNvSpPr/>
          <p:nvPr/>
        </p:nvSpPr>
        <p:spPr>
          <a:xfrm>
            <a:off x="6318250" y="2893219"/>
            <a:ext cx="5429250" cy="563563"/>
          </a:xfrm>
          <a:custGeom>
            <a:avLst/>
            <a:gdLst/>
            <a:ahLst/>
            <a:cxnLst/>
            <a:rect l="l" t="t" r="r" b="b"/>
            <a:pathLst>
              <a:path w="5429250" h="563563">
                <a:moveTo>
                  <a:pt x="31750" y="0"/>
                </a:moveTo>
                <a:lnTo>
                  <a:pt x="5365748" y="0"/>
                </a:lnTo>
                <a:cubicBezTo>
                  <a:pt x="5400819" y="0"/>
                  <a:pt x="5429250" y="28431"/>
                  <a:pt x="5429250" y="63502"/>
                </a:cubicBezTo>
                <a:lnTo>
                  <a:pt x="5429250" y="500060"/>
                </a:lnTo>
                <a:cubicBezTo>
                  <a:pt x="5429250" y="535132"/>
                  <a:pt x="5400819" y="563563"/>
                  <a:pt x="5365748" y="563563"/>
                </a:cubicBezTo>
                <a:lnTo>
                  <a:pt x="31750" y="563563"/>
                </a:lnTo>
                <a:cubicBezTo>
                  <a:pt x="14227" y="563563"/>
                  <a:pt x="0" y="549336"/>
                  <a:pt x="0" y="53181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B8D9">
              <a:alpha val="5098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318250" y="2893219"/>
            <a:ext cx="31750" cy="563563"/>
          </a:xfrm>
          <a:custGeom>
            <a:avLst/>
            <a:gdLst/>
            <a:ahLst/>
            <a:cxnLst/>
            <a:rect l="l" t="t" r="r" b="b"/>
            <a:pathLst>
              <a:path w="31750" h="563563">
                <a:moveTo>
                  <a:pt x="31750" y="0"/>
                </a:moveTo>
                <a:lnTo>
                  <a:pt x="31750" y="0"/>
                </a:lnTo>
                <a:lnTo>
                  <a:pt x="31750" y="563563"/>
                </a:lnTo>
                <a:lnTo>
                  <a:pt x="31750" y="563563"/>
                </a:lnTo>
                <a:cubicBezTo>
                  <a:pt x="14227" y="563563"/>
                  <a:pt x="0" y="549336"/>
                  <a:pt x="0" y="53181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50" name="Shape 48"/>
          <p:cNvSpPr/>
          <p:nvPr/>
        </p:nvSpPr>
        <p:spPr>
          <a:xfrm>
            <a:off x="6445250" y="295684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33189" y="9004"/>
                </a:moveTo>
                <a:cubicBezTo>
                  <a:pt x="35892" y="10889"/>
                  <a:pt x="36537" y="14610"/>
                  <a:pt x="34652" y="17289"/>
                </a:cubicBezTo>
                <a:lnTo>
                  <a:pt x="20762" y="37133"/>
                </a:lnTo>
                <a:cubicBezTo>
                  <a:pt x="19745" y="38571"/>
                  <a:pt x="18157" y="39489"/>
                  <a:pt x="16396" y="39638"/>
                </a:cubicBezTo>
                <a:cubicBezTo>
                  <a:pt x="14635" y="39787"/>
                  <a:pt x="12898" y="39191"/>
                  <a:pt x="11658" y="37951"/>
                </a:cubicBezTo>
                <a:lnTo>
                  <a:pt x="1736" y="28029"/>
                </a:lnTo>
                <a:cubicBezTo>
                  <a:pt x="-571" y="25698"/>
                  <a:pt x="-571" y="21927"/>
                  <a:pt x="1736" y="19596"/>
                </a:cubicBezTo>
                <a:cubicBezTo>
                  <a:pt x="4043" y="17264"/>
                  <a:pt x="7838" y="17289"/>
                  <a:pt x="10170" y="19596"/>
                </a:cubicBezTo>
                <a:lnTo>
                  <a:pt x="15081" y="24507"/>
                </a:lnTo>
                <a:lnTo>
                  <a:pt x="24904" y="10468"/>
                </a:lnTo>
                <a:cubicBezTo>
                  <a:pt x="26789" y="7764"/>
                  <a:pt x="30510" y="7119"/>
                  <a:pt x="33189" y="9004"/>
                </a:cubicBezTo>
                <a:close/>
                <a:moveTo>
                  <a:pt x="33189" y="48692"/>
                </a:moveTo>
                <a:cubicBezTo>
                  <a:pt x="35892" y="50577"/>
                  <a:pt x="36537" y="54297"/>
                  <a:pt x="34652" y="56976"/>
                </a:cubicBezTo>
                <a:lnTo>
                  <a:pt x="20762" y="76820"/>
                </a:lnTo>
                <a:cubicBezTo>
                  <a:pt x="19745" y="78259"/>
                  <a:pt x="18157" y="79177"/>
                  <a:pt x="16396" y="79325"/>
                </a:cubicBezTo>
                <a:cubicBezTo>
                  <a:pt x="14635" y="79474"/>
                  <a:pt x="12898" y="78879"/>
                  <a:pt x="11658" y="77639"/>
                </a:cubicBezTo>
                <a:lnTo>
                  <a:pt x="1736" y="67717"/>
                </a:lnTo>
                <a:cubicBezTo>
                  <a:pt x="-595" y="65385"/>
                  <a:pt x="-595" y="61615"/>
                  <a:pt x="1736" y="59308"/>
                </a:cubicBezTo>
                <a:cubicBezTo>
                  <a:pt x="4068" y="57001"/>
                  <a:pt x="7838" y="56976"/>
                  <a:pt x="10145" y="59308"/>
                </a:cubicBezTo>
                <a:lnTo>
                  <a:pt x="15056" y="64219"/>
                </a:lnTo>
                <a:lnTo>
                  <a:pt x="24879" y="50180"/>
                </a:lnTo>
                <a:cubicBezTo>
                  <a:pt x="26764" y="47476"/>
                  <a:pt x="30485" y="46831"/>
                  <a:pt x="33164" y="48716"/>
                </a:cubicBezTo>
                <a:close/>
                <a:moveTo>
                  <a:pt x="55563" y="23812"/>
                </a:moveTo>
                <a:cubicBezTo>
                  <a:pt x="55563" y="19422"/>
                  <a:pt x="59110" y="15875"/>
                  <a:pt x="63500" y="15875"/>
                </a:cubicBezTo>
                <a:lnTo>
                  <a:pt x="119063" y="15875"/>
                </a:lnTo>
                <a:cubicBezTo>
                  <a:pt x="123453" y="15875"/>
                  <a:pt x="127000" y="19422"/>
                  <a:pt x="127000" y="23812"/>
                </a:cubicBezTo>
                <a:cubicBezTo>
                  <a:pt x="127000" y="28203"/>
                  <a:pt x="123453" y="31750"/>
                  <a:pt x="119063" y="31750"/>
                </a:cubicBezTo>
                <a:lnTo>
                  <a:pt x="63500" y="31750"/>
                </a:lnTo>
                <a:cubicBezTo>
                  <a:pt x="59110" y="31750"/>
                  <a:pt x="55563" y="28203"/>
                  <a:pt x="55563" y="23812"/>
                </a:cubicBezTo>
                <a:close/>
                <a:moveTo>
                  <a:pt x="55563" y="63500"/>
                </a:moveTo>
                <a:cubicBezTo>
                  <a:pt x="55563" y="59110"/>
                  <a:pt x="59110" y="55563"/>
                  <a:pt x="63500" y="55563"/>
                </a:cubicBezTo>
                <a:lnTo>
                  <a:pt x="119063" y="55563"/>
                </a:lnTo>
                <a:cubicBezTo>
                  <a:pt x="123453" y="55563"/>
                  <a:pt x="127000" y="59110"/>
                  <a:pt x="127000" y="63500"/>
                </a:cubicBezTo>
                <a:cubicBezTo>
                  <a:pt x="127000" y="67890"/>
                  <a:pt x="123453" y="71438"/>
                  <a:pt x="119063" y="71438"/>
                </a:cubicBezTo>
                <a:lnTo>
                  <a:pt x="63500" y="71438"/>
                </a:lnTo>
                <a:cubicBezTo>
                  <a:pt x="59110" y="71438"/>
                  <a:pt x="55563" y="67890"/>
                  <a:pt x="55563" y="63500"/>
                </a:cubicBezTo>
                <a:close/>
                <a:moveTo>
                  <a:pt x="39688" y="103188"/>
                </a:moveTo>
                <a:cubicBezTo>
                  <a:pt x="39688" y="98797"/>
                  <a:pt x="43235" y="95250"/>
                  <a:pt x="47625" y="95250"/>
                </a:cubicBezTo>
                <a:lnTo>
                  <a:pt x="119063" y="95250"/>
                </a:lnTo>
                <a:cubicBezTo>
                  <a:pt x="123453" y="95250"/>
                  <a:pt x="127000" y="98797"/>
                  <a:pt x="127000" y="103188"/>
                </a:cubicBezTo>
                <a:cubicBezTo>
                  <a:pt x="127000" y="107578"/>
                  <a:pt x="123453" y="111125"/>
                  <a:pt x="119063" y="111125"/>
                </a:cubicBezTo>
                <a:lnTo>
                  <a:pt x="47625" y="111125"/>
                </a:lnTo>
                <a:cubicBezTo>
                  <a:pt x="43235" y="111125"/>
                  <a:pt x="39688" y="107578"/>
                  <a:pt x="39688" y="103188"/>
                </a:cubicBezTo>
                <a:close/>
                <a:moveTo>
                  <a:pt x="15875" y="93266"/>
                </a:moveTo>
                <a:cubicBezTo>
                  <a:pt x="21351" y="93266"/>
                  <a:pt x="25797" y="97711"/>
                  <a:pt x="25797" y="103188"/>
                </a:cubicBezTo>
                <a:cubicBezTo>
                  <a:pt x="25797" y="108664"/>
                  <a:pt x="21351" y="113109"/>
                  <a:pt x="15875" y="113109"/>
                </a:cubicBezTo>
                <a:cubicBezTo>
                  <a:pt x="10399" y="113109"/>
                  <a:pt x="5953" y="108664"/>
                  <a:pt x="5953" y="103188"/>
                </a:cubicBezTo>
                <a:cubicBezTo>
                  <a:pt x="5953" y="97711"/>
                  <a:pt x="10399" y="93266"/>
                  <a:pt x="15875" y="93266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51" name="Text 49"/>
          <p:cNvSpPr/>
          <p:nvPr/>
        </p:nvSpPr>
        <p:spPr>
          <a:xfrm>
            <a:off x="6651625" y="2943204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流程执行完整性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429375" y="3228825"/>
            <a:ext cx="5278438" cy="15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zh-CN" altLang="en-US" sz="875" dirty="0" smtClean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解决方案评审率、标前评审执行率、赢 </a:t>
            </a:r>
            <a:r>
              <a:rPr lang="en-US" altLang="zh-CN" sz="875" dirty="0" smtClean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 </a:t>
            </a:r>
            <a:r>
              <a:rPr lang="zh-CN" altLang="en-US" sz="875" dirty="0" smtClean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丢单复盘率是否达到 </a:t>
            </a:r>
            <a:r>
              <a:rPr lang="en-US" altLang="zh-CN" sz="875" dirty="0" smtClean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 </a:t>
            </a:r>
            <a:r>
              <a:rPr lang="zh-CN" altLang="en-US" sz="875" dirty="0" smtClean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流程目标（</a:t>
            </a:r>
            <a:r>
              <a:rPr lang="en-US" altLang="zh-CN" sz="875" dirty="0" smtClean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26</a:t>
            </a:r>
            <a:r>
              <a:rPr lang="zh-CN" altLang="en-US" sz="875" dirty="0" smtClean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年目标为 </a:t>
            </a:r>
            <a:r>
              <a:rPr lang="en-US" altLang="zh-CN" sz="875" dirty="0" smtClean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100%</a:t>
            </a:r>
            <a:r>
              <a:rPr lang="zh-CN" altLang="en-US" sz="875" dirty="0" smtClean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en-US" altLang="zh-CN" sz="875" dirty="0" smtClean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100%</a:t>
            </a:r>
            <a:r>
              <a:rPr lang="zh-CN" altLang="en-US" sz="875" dirty="0" smtClean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en-US" altLang="zh-CN" sz="875" dirty="0" smtClean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100%</a:t>
            </a:r>
            <a:r>
              <a:rPr lang="zh-CN" altLang="en-US" sz="875" dirty="0" smtClean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，上半年目标为</a:t>
            </a:r>
            <a:r>
              <a:rPr lang="en-US" altLang="zh-CN" sz="875" dirty="0" smtClean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80%</a:t>
            </a:r>
            <a:r>
              <a:rPr lang="zh-CN" altLang="en-US" sz="875" dirty="0" smtClean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en-US" altLang="zh-CN" sz="875" dirty="0" smtClean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80%</a:t>
            </a:r>
            <a:r>
              <a:rPr lang="zh-CN" altLang="en-US" sz="875" dirty="0" smtClean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en-US" altLang="zh-CN" sz="875" dirty="0" smtClean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80%</a:t>
            </a:r>
            <a:r>
              <a:rPr lang="zh-CN" altLang="en-US" sz="875" dirty="0" smtClean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）。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18250" y="3522266"/>
            <a:ext cx="5429250" cy="722313"/>
          </a:xfrm>
          <a:custGeom>
            <a:avLst/>
            <a:gdLst/>
            <a:ahLst/>
            <a:cxnLst/>
            <a:rect l="l" t="t" r="r" b="b"/>
            <a:pathLst>
              <a:path w="5429250" h="722313">
                <a:moveTo>
                  <a:pt x="31750" y="0"/>
                </a:moveTo>
                <a:lnTo>
                  <a:pt x="5365752" y="0"/>
                </a:lnTo>
                <a:cubicBezTo>
                  <a:pt x="5400821" y="0"/>
                  <a:pt x="5429250" y="28429"/>
                  <a:pt x="5429250" y="63498"/>
                </a:cubicBezTo>
                <a:lnTo>
                  <a:pt x="5429250" y="658814"/>
                </a:lnTo>
                <a:cubicBezTo>
                  <a:pt x="5429250" y="693883"/>
                  <a:pt x="5400821" y="722312"/>
                  <a:pt x="5365752" y="722313"/>
                </a:cubicBezTo>
                <a:lnTo>
                  <a:pt x="31750" y="722313"/>
                </a:lnTo>
                <a:cubicBezTo>
                  <a:pt x="14215" y="722313"/>
                  <a:pt x="0" y="708098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6B35">
              <a:alpha val="5098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318250" y="3522266"/>
            <a:ext cx="31750" cy="722313"/>
          </a:xfrm>
          <a:custGeom>
            <a:avLst/>
            <a:gdLst/>
            <a:ahLst/>
            <a:cxnLst/>
            <a:rect l="l" t="t" r="r" b="b"/>
            <a:pathLst>
              <a:path w="31750" h="722313">
                <a:moveTo>
                  <a:pt x="31750" y="0"/>
                </a:moveTo>
                <a:lnTo>
                  <a:pt x="31750" y="0"/>
                </a:lnTo>
                <a:lnTo>
                  <a:pt x="31750" y="722313"/>
                </a:lnTo>
                <a:lnTo>
                  <a:pt x="31750" y="722313"/>
                </a:lnTo>
                <a:cubicBezTo>
                  <a:pt x="14227" y="722313"/>
                  <a:pt x="0" y="708086"/>
                  <a:pt x="0" y="690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5" name="Shape 53"/>
          <p:cNvSpPr/>
          <p:nvPr/>
        </p:nvSpPr>
        <p:spPr>
          <a:xfrm>
            <a:off x="6461125" y="3649266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0" y="15875"/>
                </a:moveTo>
                <a:cubicBezTo>
                  <a:pt x="0" y="7119"/>
                  <a:pt x="7119" y="0"/>
                  <a:pt x="15875" y="0"/>
                </a:cubicBezTo>
                <a:lnTo>
                  <a:pt x="52958" y="0"/>
                </a:lnTo>
                <a:cubicBezTo>
                  <a:pt x="57175" y="0"/>
                  <a:pt x="61218" y="1662"/>
                  <a:pt x="64195" y="4638"/>
                </a:cubicBezTo>
                <a:lnTo>
                  <a:pt x="90612" y="31080"/>
                </a:lnTo>
                <a:cubicBezTo>
                  <a:pt x="93588" y="34057"/>
                  <a:pt x="95250" y="38100"/>
                  <a:pt x="95250" y="42317"/>
                </a:cubicBezTo>
                <a:lnTo>
                  <a:pt x="95250" y="111125"/>
                </a:lnTo>
                <a:cubicBezTo>
                  <a:pt x="95250" y="119881"/>
                  <a:pt x="88131" y="127000"/>
                  <a:pt x="79375" y="127000"/>
                </a:cubicBezTo>
                <a:lnTo>
                  <a:pt x="15875" y="127000"/>
                </a:lnTo>
                <a:cubicBezTo>
                  <a:pt x="7119" y="127000"/>
                  <a:pt x="0" y="119881"/>
                  <a:pt x="0" y="111125"/>
                </a:cubicBezTo>
                <a:lnTo>
                  <a:pt x="0" y="15875"/>
                </a:lnTo>
                <a:close/>
                <a:moveTo>
                  <a:pt x="51594" y="14511"/>
                </a:moveTo>
                <a:lnTo>
                  <a:pt x="51594" y="37703"/>
                </a:lnTo>
                <a:cubicBezTo>
                  <a:pt x="51594" y="41002"/>
                  <a:pt x="54248" y="43656"/>
                  <a:pt x="57547" y="43656"/>
                </a:cubicBezTo>
                <a:lnTo>
                  <a:pt x="80739" y="43656"/>
                </a:lnTo>
                <a:lnTo>
                  <a:pt x="51594" y="14511"/>
                </a:lnTo>
                <a:close/>
                <a:moveTo>
                  <a:pt x="29766" y="63500"/>
                </a:moveTo>
                <a:cubicBezTo>
                  <a:pt x="26467" y="63500"/>
                  <a:pt x="23812" y="66154"/>
                  <a:pt x="23812" y="69453"/>
                </a:cubicBezTo>
                <a:cubicBezTo>
                  <a:pt x="23812" y="72752"/>
                  <a:pt x="26467" y="75406"/>
                  <a:pt x="29766" y="75406"/>
                </a:cubicBezTo>
                <a:lnTo>
                  <a:pt x="65484" y="75406"/>
                </a:lnTo>
                <a:cubicBezTo>
                  <a:pt x="68783" y="75406"/>
                  <a:pt x="71438" y="72752"/>
                  <a:pt x="71438" y="69453"/>
                </a:cubicBezTo>
                <a:cubicBezTo>
                  <a:pt x="71438" y="66154"/>
                  <a:pt x="68783" y="63500"/>
                  <a:pt x="65484" y="63500"/>
                </a:cubicBezTo>
                <a:lnTo>
                  <a:pt x="29766" y="63500"/>
                </a:lnTo>
                <a:close/>
                <a:moveTo>
                  <a:pt x="29766" y="87313"/>
                </a:moveTo>
                <a:cubicBezTo>
                  <a:pt x="26467" y="87313"/>
                  <a:pt x="23812" y="89967"/>
                  <a:pt x="23812" y="93266"/>
                </a:cubicBezTo>
                <a:cubicBezTo>
                  <a:pt x="23812" y="96565"/>
                  <a:pt x="26467" y="99219"/>
                  <a:pt x="29766" y="99219"/>
                </a:cubicBezTo>
                <a:lnTo>
                  <a:pt x="65484" y="99219"/>
                </a:lnTo>
                <a:cubicBezTo>
                  <a:pt x="68783" y="99219"/>
                  <a:pt x="71438" y="96565"/>
                  <a:pt x="71438" y="93266"/>
                </a:cubicBezTo>
                <a:cubicBezTo>
                  <a:pt x="71438" y="89967"/>
                  <a:pt x="68783" y="87313"/>
                  <a:pt x="65484" y="87313"/>
                </a:cubicBezTo>
                <a:lnTo>
                  <a:pt x="29766" y="87313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6" name="Text 54"/>
          <p:cNvSpPr/>
          <p:nvPr/>
        </p:nvSpPr>
        <p:spPr>
          <a:xfrm>
            <a:off x="6651625" y="3617516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项目留痕规范性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429375" y="3839766"/>
            <a:ext cx="5278438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CRM及飞书项目文档中的项目信息、会议结论、流程结果等是否完整、准确留痕,未按要求留痕的按相关规则考核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18250" y="4304109"/>
            <a:ext cx="5429250" cy="563563"/>
          </a:xfrm>
          <a:custGeom>
            <a:avLst/>
            <a:gdLst/>
            <a:ahLst/>
            <a:cxnLst/>
            <a:rect l="l" t="t" r="r" b="b"/>
            <a:pathLst>
              <a:path w="5429250" h="563563">
                <a:moveTo>
                  <a:pt x="31750" y="0"/>
                </a:moveTo>
                <a:lnTo>
                  <a:pt x="5365748" y="0"/>
                </a:lnTo>
                <a:cubicBezTo>
                  <a:pt x="5400819" y="0"/>
                  <a:pt x="5429250" y="28431"/>
                  <a:pt x="5429250" y="63502"/>
                </a:cubicBezTo>
                <a:lnTo>
                  <a:pt x="5429250" y="500060"/>
                </a:lnTo>
                <a:cubicBezTo>
                  <a:pt x="5429250" y="535132"/>
                  <a:pt x="5400819" y="563563"/>
                  <a:pt x="5365748" y="563563"/>
                </a:cubicBezTo>
                <a:lnTo>
                  <a:pt x="31750" y="563563"/>
                </a:lnTo>
                <a:cubicBezTo>
                  <a:pt x="14227" y="563563"/>
                  <a:pt x="0" y="549336"/>
                  <a:pt x="0" y="53181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52CC">
              <a:alpha val="5098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318250" y="4304109"/>
            <a:ext cx="31750" cy="563563"/>
          </a:xfrm>
          <a:custGeom>
            <a:avLst/>
            <a:gdLst/>
            <a:ahLst/>
            <a:cxnLst/>
            <a:rect l="l" t="t" r="r" b="b"/>
            <a:pathLst>
              <a:path w="31750" h="563563">
                <a:moveTo>
                  <a:pt x="31750" y="0"/>
                </a:moveTo>
                <a:lnTo>
                  <a:pt x="31750" y="0"/>
                </a:lnTo>
                <a:lnTo>
                  <a:pt x="31750" y="563563"/>
                </a:lnTo>
                <a:lnTo>
                  <a:pt x="31750" y="563563"/>
                </a:lnTo>
                <a:cubicBezTo>
                  <a:pt x="14227" y="563563"/>
                  <a:pt x="0" y="549336"/>
                  <a:pt x="0" y="53181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60" name="Shape 58"/>
          <p:cNvSpPr/>
          <p:nvPr/>
        </p:nvSpPr>
        <p:spPr>
          <a:xfrm>
            <a:off x="6445250" y="436773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35793" y="0"/>
                </a:moveTo>
                <a:lnTo>
                  <a:pt x="91356" y="0"/>
                </a:lnTo>
                <a:cubicBezTo>
                  <a:pt x="97929" y="0"/>
                  <a:pt x="103287" y="5407"/>
                  <a:pt x="103039" y="11956"/>
                </a:cubicBezTo>
                <a:cubicBezTo>
                  <a:pt x="102989" y="13271"/>
                  <a:pt x="102939" y="14585"/>
                  <a:pt x="102865" y="15875"/>
                </a:cubicBezTo>
                <a:lnTo>
                  <a:pt x="115168" y="15875"/>
                </a:lnTo>
                <a:cubicBezTo>
                  <a:pt x="121642" y="15875"/>
                  <a:pt x="127347" y="21233"/>
                  <a:pt x="126851" y="28228"/>
                </a:cubicBezTo>
                <a:cubicBezTo>
                  <a:pt x="124991" y="53950"/>
                  <a:pt x="111844" y="68089"/>
                  <a:pt x="97582" y="75481"/>
                </a:cubicBezTo>
                <a:cubicBezTo>
                  <a:pt x="93663" y="77515"/>
                  <a:pt x="89669" y="79028"/>
                  <a:pt x="85874" y="80144"/>
                </a:cubicBezTo>
                <a:cubicBezTo>
                  <a:pt x="80863" y="87238"/>
                  <a:pt x="75654" y="90984"/>
                  <a:pt x="71512" y="92993"/>
                </a:cubicBezTo>
                <a:lnTo>
                  <a:pt x="71512" y="111125"/>
                </a:lnTo>
                <a:lnTo>
                  <a:pt x="87387" y="111125"/>
                </a:lnTo>
                <a:cubicBezTo>
                  <a:pt x="91777" y="111125"/>
                  <a:pt x="95324" y="114672"/>
                  <a:pt x="95324" y="119063"/>
                </a:cubicBezTo>
                <a:cubicBezTo>
                  <a:pt x="95324" y="123453"/>
                  <a:pt x="91777" y="127000"/>
                  <a:pt x="87387" y="127000"/>
                </a:cubicBezTo>
                <a:lnTo>
                  <a:pt x="39762" y="127000"/>
                </a:lnTo>
                <a:cubicBezTo>
                  <a:pt x="35371" y="127000"/>
                  <a:pt x="31824" y="123453"/>
                  <a:pt x="31824" y="119063"/>
                </a:cubicBezTo>
                <a:cubicBezTo>
                  <a:pt x="31824" y="114672"/>
                  <a:pt x="35371" y="111125"/>
                  <a:pt x="39762" y="111125"/>
                </a:cubicBezTo>
                <a:lnTo>
                  <a:pt x="55637" y="111125"/>
                </a:lnTo>
                <a:lnTo>
                  <a:pt x="55637" y="92993"/>
                </a:lnTo>
                <a:cubicBezTo>
                  <a:pt x="51668" y="91083"/>
                  <a:pt x="46732" y="87536"/>
                  <a:pt x="41920" y="81012"/>
                </a:cubicBezTo>
                <a:cubicBezTo>
                  <a:pt x="37356" y="79821"/>
                  <a:pt x="32395" y="78011"/>
                  <a:pt x="27558" y="75282"/>
                </a:cubicBezTo>
                <a:cubicBezTo>
                  <a:pt x="14139" y="67766"/>
                  <a:pt x="2034" y="53603"/>
                  <a:pt x="298" y="28178"/>
                </a:cubicBezTo>
                <a:cubicBezTo>
                  <a:pt x="-174" y="21208"/>
                  <a:pt x="5507" y="15850"/>
                  <a:pt x="11981" y="15850"/>
                </a:cubicBezTo>
                <a:lnTo>
                  <a:pt x="24284" y="15850"/>
                </a:lnTo>
                <a:cubicBezTo>
                  <a:pt x="24209" y="14560"/>
                  <a:pt x="24160" y="13271"/>
                  <a:pt x="24110" y="11931"/>
                </a:cubicBezTo>
                <a:cubicBezTo>
                  <a:pt x="23862" y="5358"/>
                  <a:pt x="29220" y="-25"/>
                  <a:pt x="35793" y="-25"/>
                </a:cubicBezTo>
                <a:close/>
                <a:moveTo>
                  <a:pt x="25177" y="27781"/>
                </a:moveTo>
                <a:lnTo>
                  <a:pt x="12179" y="27781"/>
                </a:lnTo>
                <a:cubicBezTo>
                  <a:pt x="13717" y="48791"/>
                  <a:pt x="23366" y="59308"/>
                  <a:pt x="33313" y="64889"/>
                </a:cubicBezTo>
                <a:cubicBezTo>
                  <a:pt x="29741" y="55637"/>
                  <a:pt x="26789" y="43557"/>
                  <a:pt x="25177" y="27781"/>
                </a:cubicBezTo>
                <a:close/>
                <a:moveTo>
                  <a:pt x="94258" y="63698"/>
                </a:moveTo>
                <a:cubicBezTo>
                  <a:pt x="104304" y="57795"/>
                  <a:pt x="113382" y="47303"/>
                  <a:pt x="114920" y="27781"/>
                </a:cubicBezTo>
                <a:lnTo>
                  <a:pt x="101947" y="27781"/>
                </a:lnTo>
                <a:cubicBezTo>
                  <a:pt x="100409" y="42887"/>
                  <a:pt x="97631" y="54620"/>
                  <a:pt x="94258" y="63698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61" name="Text 59"/>
          <p:cNvSpPr/>
          <p:nvPr/>
        </p:nvSpPr>
        <p:spPr>
          <a:xfrm>
            <a:off x="6651625" y="431788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项目结果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429375" y="4621609"/>
            <a:ext cx="5278438" cy="15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880" dirty="0" smtClean="0"/>
              <a:t>项目最终赢单率、合同签订质量、项目交付风险管控情况等，作为项目经理履职的核心结果考核依据，执行及结果</a:t>
            </a:r>
            <a:r>
              <a:rPr lang="en-US" altLang="zh-CN" sz="880" dirty="0" smtClean="0"/>
              <a:t>TOP10</a:t>
            </a:r>
            <a:r>
              <a:rPr lang="zh-CN" altLang="en-US" sz="880" dirty="0" smtClean="0"/>
              <a:t>各级项目经理，会给与现金、荣誉及</a:t>
            </a:r>
            <a:r>
              <a:rPr lang="en-US" altLang="zh-CN" sz="880" dirty="0" smtClean="0"/>
              <a:t>QBC</a:t>
            </a:r>
            <a:r>
              <a:rPr lang="zh-CN" altLang="en-US" sz="880" dirty="0" smtClean="0"/>
              <a:t>加分奖励。</a:t>
            </a:r>
            <a:endParaRPr lang="zh-CN" altLang="en-US" sz="880" dirty="0"/>
          </a:p>
        </p:txBody>
      </p:sp>
      <p:sp>
        <p:nvSpPr>
          <p:cNvPr id="63" name="Shape 61"/>
          <p:cNvSpPr/>
          <p:nvPr/>
        </p:nvSpPr>
        <p:spPr>
          <a:xfrm>
            <a:off x="6318250" y="4933156"/>
            <a:ext cx="5429250" cy="563563"/>
          </a:xfrm>
          <a:custGeom>
            <a:avLst/>
            <a:gdLst/>
            <a:ahLst/>
            <a:cxnLst/>
            <a:rect l="l" t="t" r="r" b="b"/>
            <a:pathLst>
              <a:path w="5429250" h="563563">
                <a:moveTo>
                  <a:pt x="31750" y="0"/>
                </a:moveTo>
                <a:lnTo>
                  <a:pt x="5365748" y="0"/>
                </a:lnTo>
                <a:cubicBezTo>
                  <a:pt x="5400819" y="0"/>
                  <a:pt x="5429250" y="28431"/>
                  <a:pt x="5429250" y="63502"/>
                </a:cubicBezTo>
                <a:lnTo>
                  <a:pt x="5429250" y="500060"/>
                </a:lnTo>
                <a:cubicBezTo>
                  <a:pt x="5429250" y="535132"/>
                  <a:pt x="5400819" y="563563"/>
                  <a:pt x="5365748" y="563563"/>
                </a:cubicBezTo>
                <a:lnTo>
                  <a:pt x="31750" y="563563"/>
                </a:lnTo>
                <a:cubicBezTo>
                  <a:pt x="14227" y="563563"/>
                  <a:pt x="0" y="549336"/>
                  <a:pt x="0" y="53181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B8D9">
              <a:alpha val="5098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6318250" y="4933156"/>
            <a:ext cx="31750" cy="563563"/>
          </a:xfrm>
          <a:custGeom>
            <a:avLst/>
            <a:gdLst/>
            <a:ahLst/>
            <a:cxnLst/>
            <a:rect l="l" t="t" r="r" b="b"/>
            <a:pathLst>
              <a:path w="31750" h="563563">
                <a:moveTo>
                  <a:pt x="31750" y="0"/>
                </a:moveTo>
                <a:lnTo>
                  <a:pt x="31750" y="0"/>
                </a:lnTo>
                <a:lnTo>
                  <a:pt x="31750" y="563563"/>
                </a:lnTo>
                <a:lnTo>
                  <a:pt x="31750" y="563563"/>
                </a:lnTo>
                <a:cubicBezTo>
                  <a:pt x="14227" y="563563"/>
                  <a:pt x="0" y="549336"/>
                  <a:pt x="0" y="53181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65" name="Shape 63"/>
          <p:cNvSpPr/>
          <p:nvPr/>
        </p:nvSpPr>
        <p:spPr>
          <a:xfrm>
            <a:off x="6437313" y="5060156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66700" y="21134"/>
                </a:moveTo>
                <a:lnTo>
                  <a:pt x="37778" y="53280"/>
                </a:lnTo>
                <a:cubicBezTo>
                  <a:pt x="36637" y="54546"/>
                  <a:pt x="36686" y="56505"/>
                  <a:pt x="37902" y="57721"/>
                </a:cubicBezTo>
                <a:cubicBezTo>
                  <a:pt x="45467" y="65286"/>
                  <a:pt x="57745" y="65286"/>
                  <a:pt x="65311" y="57721"/>
                </a:cubicBezTo>
                <a:lnTo>
                  <a:pt x="73199" y="49833"/>
                </a:lnTo>
                <a:cubicBezTo>
                  <a:pt x="74240" y="48791"/>
                  <a:pt x="75555" y="48220"/>
                  <a:pt x="76895" y="48121"/>
                </a:cubicBezTo>
                <a:cubicBezTo>
                  <a:pt x="78581" y="47972"/>
                  <a:pt x="80318" y="48543"/>
                  <a:pt x="81607" y="49833"/>
                </a:cubicBezTo>
                <a:lnTo>
                  <a:pt x="125413" y="93266"/>
                </a:lnTo>
                <a:lnTo>
                  <a:pt x="142875" y="79375"/>
                </a:lnTo>
                <a:lnTo>
                  <a:pt x="142875" y="7938"/>
                </a:lnTo>
                <a:lnTo>
                  <a:pt x="115094" y="23812"/>
                </a:lnTo>
                <a:lnTo>
                  <a:pt x="109190" y="19869"/>
                </a:lnTo>
                <a:cubicBezTo>
                  <a:pt x="105271" y="17264"/>
                  <a:pt x="100682" y="15875"/>
                  <a:pt x="95969" y="15875"/>
                </a:cubicBezTo>
                <a:lnTo>
                  <a:pt x="78507" y="15875"/>
                </a:lnTo>
                <a:cubicBezTo>
                  <a:pt x="78234" y="15875"/>
                  <a:pt x="77936" y="15875"/>
                  <a:pt x="77663" y="15900"/>
                </a:cubicBezTo>
                <a:cubicBezTo>
                  <a:pt x="73471" y="16123"/>
                  <a:pt x="69528" y="18008"/>
                  <a:pt x="66700" y="21134"/>
                </a:cubicBezTo>
                <a:close/>
                <a:moveTo>
                  <a:pt x="28922" y="45318"/>
                </a:moveTo>
                <a:lnTo>
                  <a:pt x="55414" y="15875"/>
                </a:lnTo>
                <a:lnTo>
                  <a:pt x="45591" y="15875"/>
                </a:lnTo>
                <a:cubicBezTo>
                  <a:pt x="39266" y="15875"/>
                  <a:pt x="33213" y="18380"/>
                  <a:pt x="28749" y="22845"/>
                </a:cubicBezTo>
                <a:lnTo>
                  <a:pt x="27781" y="23812"/>
                </a:lnTo>
                <a:lnTo>
                  <a:pt x="0" y="7938"/>
                </a:lnTo>
                <a:lnTo>
                  <a:pt x="0" y="79375"/>
                </a:lnTo>
                <a:lnTo>
                  <a:pt x="38795" y="111696"/>
                </a:lnTo>
                <a:cubicBezTo>
                  <a:pt x="44500" y="116458"/>
                  <a:pt x="51693" y="119063"/>
                  <a:pt x="59110" y="119063"/>
                </a:cubicBezTo>
                <a:lnTo>
                  <a:pt x="63004" y="119063"/>
                </a:lnTo>
                <a:lnTo>
                  <a:pt x="61268" y="117326"/>
                </a:lnTo>
                <a:cubicBezTo>
                  <a:pt x="58936" y="114995"/>
                  <a:pt x="58936" y="111224"/>
                  <a:pt x="61268" y="108917"/>
                </a:cubicBezTo>
                <a:cubicBezTo>
                  <a:pt x="63599" y="106611"/>
                  <a:pt x="67370" y="106586"/>
                  <a:pt x="69676" y="108917"/>
                </a:cubicBezTo>
                <a:lnTo>
                  <a:pt x="79846" y="119087"/>
                </a:lnTo>
                <a:lnTo>
                  <a:pt x="82079" y="119087"/>
                </a:lnTo>
                <a:cubicBezTo>
                  <a:pt x="86816" y="119087"/>
                  <a:pt x="91455" y="118021"/>
                  <a:pt x="95672" y="116036"/>
                </a:cubicBezTo>
                <a:lnTo>
                  <a:pt x="89049" y="109389"/>
                </a:lnTo>
                <a:cubicBezTo>
                  <a:pt x="86717" y="107057"/>
                  <a:pt x="86717" y="103287"/>
                  <a:pt x="89049" y="100980"/>
                </a:cubicBezTo>
                <a:cubicBezTo>
                  <a:pt x="91380" y="98673"/>
                  <a:pt x="95151" y="98648"/>
                  <a:pt x="97458" y="100980"/>
                </a:cubicBezTo>
                <a:lnTo>
                  <a:pt x="105395" y="108917"/>
                </a:lnTo>
                <a:lnTo>
                  <a:pt x="109736" y="104577"/>
                </a:lnTo>
                <a:cubicBezTo>
                  <a:pt x="111944" y="102369"/>
                  <a:pt x="112588" y="99169"/>
                  <a:pt x="111621" y="96366"/>
                </a:cubicBezTo>
                <a:lnTo>
                  <a:pt x="77415" y="62433"/>
                </a:lnTo>
                <a:lnTo>
                  <a:pt x="73720" y="66129"/>
                </a:lnTo>
                <a:cubicBezTo>
                  <a:pt x="61491" y="78358"/>
                  <a:pt x="41697" y="78358"/>
                  <a:pt x="29468" y="66129"/>
                </a:cubicBezTo>
                <a:cubicBezTo>
                  <a:pt x="23763" y="60424"/>
                  <a:pt x="23540" y="51271"/>
                  <a:pt x="28922" y="45293"/>
                </a:cubicBezTo>
                <a:close/>
              </a:path>
            </a:pathLst>
          </a:custGeom>
          <a:solidFill>
            <a:srgbClr val="00B8D9"/>
          </a:solidFill>
          <a:ln/>
        </p:spPr>
      </p:sp>
      <p:sp>
        <p:nvSpPr>
          <p:cNvPr id="66" name="Text 64"/>
          <p:cNvSpPr/>
          <p:nvPr/>
        </p:nvSpPr>
        <p:spPr>
          <a:xfrm>
            <a:off x="6651625" y="5028406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1252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协同配合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6429375" y="5250656"/>
            <a:ext cx="5278438" cy="15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21252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配合销管BP、区域经理完成流程看板填报、数据统计、例会汇报等工作的及时性与准确性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317500" y="5752703"/>
            <a:ext cx="11557000" cy="381000"/>
          </a:xfrm>
          <a:custGeom>
            <a:avLst/>
            <a:gdLst/>
            <a:ahLst/>
            <a:cxnLst/>
            <a:rect l="l" t="t" r="r" b="b"/>
            <a:pathLst>
              <a:path w="11557000" h="381000">
                <a:moveTo>
                  <a:pt x="95250" y="0"/>
                </a:moveTo>
                <a:lnTo>
                  <a:pt x="11461750" y="0"/>
                </a:lnTo>
                <a:cubicBezTo>
                  <a:pt x="11514320" y="0"/>
                  <a:pt x="11557000" y="42680"/>
                  <a:pt x="11557000" y="95250"/>
                </a:cubicBezTo>
                <a:lnTo>
                  <a:pt x="11557000" y="285750"/>
                </a:lnTo>
                <a:cubicBezTo>
                  <a:pt x="11557000" y="338320"/>
                  <a:pt x="11514320" y="381000"/>
                  <a:pt x="11461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0052CC"/>
          </a:solidFill>
          <a:ln/>
        </p:spPr>
      </p:sp>
      <p:sp>
        <p:nvSpPr>
          <p:cNvPr id="69" name="Shape 67"/>
          <p:cNvSpPr/>
          <p:nvPr/>
        </p:nvSpPr>
        <p:spPr>
          <a:xfrm>
            <a:off x="432594" y="586382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79375" y="42168"/>
                </a:moveTo>
                <a:cubicBezTo>
                  <a:pt x="83499" y="42168"/>
                  <a:pt x="86816" y="45486"/>
                  <a:pt x="86816" y="49609"/>
                </a:cubicBezTo>
                <a:lnTo>
                  <a:pt x="86816" y="84336"/>
                </a:lnTo>
                <a:cubicBezTo>
                  <a:pt x="86816" y="88460"/>
                  <a:pt x="83499" y="91777"/>
                  <a:pt x="79375" y="91777"/>
                </a:cubicBezTo>
                <a:cubicBezTo>
                  <a:pt x="75251" y="91777"/>
                  <a:pt x="71934" y="88460"/>
                  <a:pt x="71934" y="84336"/>
                </a:cubicBezTo>
                <a:lnTo>
                  <a:pt x="71934" y="49609"/>
                </a:lnTo>
                <a:cubicBezTo>
                  <a:pt x="71934" y="45486"/>
                  <a:pt x="75251" y="42168"/>
                  <a:pt x="79375" y="42168"/>
                </a:cubicBezTo>
                <a:close/>
                <a:moveTo>
                  <a:pt x="71096" y="109141"/>
                </a:moveTo>
                <a:cubicBezTo>
                  <a:pt x="70908" y="106068"/>
                  <a:pt x="72441" y="103144"/>
                  <a:pt x="75075" y="101551"/>
                </a:cubicBezTo>
                <a:cubicBezTo>
                  <a:pt x="77709" y="99957"/>
                  <a:pt x="81010" y="99957"/>
                  <a:pt x="83644" y="101551"/>
                </a:cubicBezTo>
                <a:cubicBezTo>
                  <a:pt x="86278" y="103144"/>
                  <a:pt x="87811" y="106068"/>
                  <a:pt x="87623" y="109141"/>
                </a:cubicBezTo>
                <a:cubicBezTo>
                  <a:pt x="87811" y="112214"/>
                  <a:pt x="86278" y="115137"/>
                  <a:pt x="83644" y="116731"/>
                </a:cubicBezTo>
                <a:cubicBezTo>
                  <a:pt x="81010" y="118324"/>
                  <a:pt x="77709" y="118324"/>
                  <a:pt x="75075" y="116731"/>
                </a:cubicBezTo>
                <a:cubicBezTo>
                  <a:pt x="72441" y="115137"/>
                  <a:pt x="70908" y="112214"/>
                  <a:pt x="71096" y="10914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0" name="Text 68"/>
          <p:cNvSpPr/>
          <p:nvPr/>
        </p:nvSpPr>
        <p:spPr>
          <a:xfrm>
            <a:off x="706438" y="5847953"/>
            <a:ext cx="6421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重要提示:</a:t>
            </a:r>
            <a:r>
              <a:rPr lang="en-US" sz="1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项目经理需严格按照基本要求和考核标准履行职责,未按流程执行导致项目问题的,将按相关考核规则追责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wproject.com/56b2afb5449d4b40c2aa2c600972bf9ca3642abb.png"/>
          <p:cNvPicPr>
            <a:picLocks noChangeAspect="1"/>
          </p:cNvPicPr>
          <p:nvPr/>
        </p:nvPicPr>
        <p:blipFill>
          <a:blip r:embed="rId3">
            <a:alphaModFix amt="10000"/>
          </a:blip>
          <a:srcRect t="7811" b="7811"/>
          <a:stretch/>
        </p:blipFill>
        <p:spPr>
          <a:xfrm>
            <a:off x="0" y="0"/>
            <a:ext cx="12192000" cy="6855626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5626"/>
          </a:xfrm>
          <a:custGeom>
            <a:avLst/>
            <a:gdLst/>
            <a:ahLst/>
            <a:cxnLst/>
            <a:rect l="l" t="t" r="r" b="b"/>
            <a:pathLst>
              <a:path w="12192000" h="6855626">
                <a:moveTo>
                  <a:pt x="0" y="0"/>
                </a:moveTo>
                <a:lnTo>
                  <a:pt x="12192000" y="0"/>
                </a:lnTo>
                <a:lnTo>
                  <a:pt x="12192000" y="6855626"/>
                </a:lnTo>
                <a:lnTo>
                  <a:pt x="0" y="6855626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52CC">
                  <a:alpha val="95000"/>
                </a:srgbClr>
              </a:gs>
              <a:gs pos="50000">
                <a:srgbClr val="0052CC">
                  <a:alpha val="85000"/>
                </a:srgbClr>
              </a:gs>
              <a:gs pos="100000">
                <a:srgbClr val="00B8D9">
                  <a:alpha val="7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809004" y="-13056"/>
            <a:ext cx="569720" cy="569720"/>
          </a:xfrm>
          <a:custGeom>
            <a:avLst/>
            <a:gdLst/>
            <a:ahLst/>
            <a:cxnLst/>
            <a:rect l="l" t="t" r="r" b="b"/>
            <a:pathLst>
              <a:path w="569720" h="569720">
                <a:moveTo>
                  <a:pt x="142430" y="356075"/>
                </a:moveTo>
                <a:lnTo>
                  <a:pt x="27262" y="356075"/>
                </a:lnTo>
                <a:cubicBezTo>
                  <a:pt x="-445" y="356075"/>
                  <a:pt x="-17470" y="325920"/>
                  <a:pt x="-3227" y="302107"/>
                </a:cubicBezTo>
                <a:lnTo>
                  <a:pt x="55637" y="203964"/>
                </a:lnTo>
                <a:cubicBezTo>
                  <a:pt x="65317" y="187829"/>
                  <a:pt x="82676" y="178037"/>
                  <a:pt x="101481" y="178037"/>
                </a:cubicBezTo>
                <a:lnTo>
                  <a:pt x="207191" y="178037"/>
                </a:lnTo>
                <a:cubicBezTo>
                  <a:pt x="291870" y="34606"/>
                  <a:pt x="418165" y="27373"/>
                  <a:pt x="502622" y="39725"/>
                </a:cubicBezTo>
                <a:cubicBezTo>
                  <a:pt x="516865" y="41839"/>
                  <a:pt x="527992" y="52966"/>
                  <a:pt x="529995" y="67098"/>
                </a:cubicBezTo>
                <a:cubicBezTo>
                  <a:pt x="542346" y="151554"/>
                  <a:pt x="535114" y="277850"/>
                  <a:pt x="391682" y="362529"/>
                </a:cubicBezTo>
                <a:lnTo>
                  <a:pt x="391682" y="468238"/>
                </a:lnTo>
                <a:cubicBezTo>
                  <a:pt x="391682" y="487044"/>
                  <a:pt x="381890" y="504402"/>
                  <a:pt x="365756" y="514083"/>
                </a:cubicBezTo>
                <a:lnTo>
                  <a:pt x="267612" y="572947"/>
                </a:lnTo>
                <a:cubicBezTo>
                  <a:pt x="243911" y="587190"/>
                  <a:pt x="213645" y="570053"/>
                  <a:pt x="213645" y="542458"/>
                </a:cubicBezTo>
                <a:lnTo>
                  <a:pt x="213645" y="427290"/>
                </a:lnTo>
                <a:cubicBezTo>
                  <a:pt x="213645" y="388010"/>
                  <a:pt x="181709" y="356075"/>
                  <a:pt x="142430" y="356075"/>
                </a:cubicBezTo>
                <a:lnTo>
                  <a:pt x="142319" y="356075"/>
                </a:lnTo>
                <a:close/>
                <a:moveTo>
                  <a:pt x="445093" y="178037"/>
                </a:moveTo>
                <a:cubicBezTo>
                  <a:pt x="445093" y="148559"/>
                  <a:pt x="421161" y="124626"/>
                  <a:pt x="391682" y="124626"/>
                </a:cubicBezTo>
                <a:cubicBezTo>
                  <a:pt x="362204" y="124626"/>
                  <a:pt x="338271" y="148559"/>
                  <a:pt x="338271" y="178037"/>
                </a:cubicBezTo>
                <a:cubicBezTo>
                  <a:pt x="338271" y="207516"/>
                  <a:pt x="362204" y="231449"/>
                  <a:pt x="391682" y="231449"/>
                </a:cubicBezTo>
                <a:cubicBezTo>
                  <a:pt x="421161" y="231449"/>
                  <a:pt x="445093" y="207516"/>
                  <a:pt x="445093" y="178037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5" name="Text 2"/>
          <p:cNvSpPr/>
          <p:nvPr/>
        </p:nvSpPr>
        <p:spPr>
          <a:xfrm>
            <a:off x="4612592" y="708589"/>
            <a:ext cx="2962542" cy="1139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58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以流程为准则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358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以结果为核心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163" y="1999953"/>
            <a:ext cx="1215402" cy="56972"/>
          </a:xfrm>
          <a:custGeom>
            <a:avLst/>
            <a:gdLst/>
            <a:ahLst/>
            <a:cxnLst/>
            <a:rect l="l" t="t" r="r" b="b"/>
            <a:pathLst>
              <a:path w="1215402" h="56972">
                <a:moveTo>
                  <a:pt x="0" y="0"/>
                </a:moveTo>
                <a:lnTo>
                  <a:pt x="1215402" y="0"/>
                </a:lnTo>
                <a:lnTo>
                  <a:pt x="1215402" y="56972"/>
                </a:lnTo>
                <a:lnTo>
                  <a:pt x="0" y="56972"/>
                </a:lnTo>
                <a:lnTo>
                  <a:pt x="0" y="0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7" name="Shape 4"/>
          <p:cNvSpPr/>
          <p:nvPr/>
        </p:nvSpPr>
        <p:spPr>
          <a:xfrm>
            <a:off x="1839957" y="2512701"/>
            <a:ext cx="8507813" cy="2060486"/>
          </a:xfrm>
          <a:custGeom>
            <a:avLst/>
            <a:gdLst/>
            <a:ahLst/>
            <a:cxnLst/>
            <a:rect l="l" t="t" r="r" b="b"/>
            <a:pathLst>
              <a:path w="8507813" h="2060486">
                <a:moveTo>
                  <a:pt x="151920" y="0"/>
                </a:moveTo>
                <a:lnTo>
                  <a:pt x="8355893" y="0"/>
                </a:lnTo>
                <a:cubicBezTo>
                  <a:pt x="8439796" y="0"/>
                  <a:pt x="8507813" y="68017"/>
                  <a:pt x="8507813" y="151920"/>
                </a:cubicBezTo>
                <a:lnTo>
                  <a:pt x="8507813" y="1908566"/>
                </a:lnTo>
                <a:cubicBezTo>
                  <a:pt x="8507813" y="1992469"/>
                  <a:pt x="8439796" y="2060486"/>
                  <a:pt x="8355893" y="2060486"/>
                </a:cubicBezTo>
                <a:lnTo>
                  <a:pt x="151920" y="2060486"/>
                </a:lnTo>
                <a:cubicBezTo>
                  <a:pt x="68073" y="2060486"/>
                  <a:pt x="0" y="1992413"/>
                  <a:pt x="0" y="1908566"/>
                </a:cubicBezTo>
                <a:lnTo>
                  <a:pt x="0" y="151920"/>
                </a:lnTo>
                <a:cubicBezTo>
                  <a:pt x="0" y="68073"/>
                  <a:pt x="68073" y="0"/>
                  <a:pt x="15192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2020368" y="2740589"/>
            <a:ext cx="8146991" cy="617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9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立项项目经理是MO商机管理流程落地的</a:t>
            </a:r>
            <a:r>
              <a:rPr lang="en-US" sz="1495" b="1" dirty="0">
                <a:solidFill>
                  <a:srgbClr val="FFFFFF"/>
                </a:solidFill>
                <a:highlight>
                  <a:srgbClr val="FF6B35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核心关键角色 </a:t>
            </a:r>
            <a:r>
              <a:rPr lang="en-US" sz="149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,其履职能力与工作成效直接决定了重点项目的推进效率与赢单概率。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025116" y="3509710"/>
            <a:ext cx="8137495" cy="835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46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作为项目第一责任人,所有项目经理需严格遵循本材料明确的核心职责与履职要求,将MO流程要求贯穿项目全生命周期,以</a:t>
            </a:r>
            <a:r>
              <a:rPr lang="en-US" sz="1346" dirty="0">
                <a:solidFill>
                  <a:srgbClr val="FFFFFF">
                    <a:alpha val="90000"/>
                  </a:srgbClr>
                </a:solidFill>
                <a:highlight>
                  <a:srgbClr val="FFFFFF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流程为准则 </a:t>
            </a:r>
            <a:r>
              <a:rPr lang="en-US" sz="1346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、以</a:t>
            </a:r>
            <a:r>
              <a:rPr lang="en-US" sz="1346" dirty="0">
                <a:solidFill>
                  <a:srgbClr val="FFFFFF">
                    <a:alpha val="90000"/>
                  </a:srgbClr>
                </a:solidFill>
                <a:highlight>
                  <a:srgbClr val="FFFFFF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目标为导向 </a:t>
            </a:r>
            <a:r>
              <a:rPr lang="en-US" sz="1346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、以</a:t>
            </a:r>
            <a:r>
              <a:rPr lang="en-US" sz="1346" dirty="0">
                <a:solidFill>
                  <a:srgbClr val="FFFFFF">
                    <a:alpha val="90000"/>
                  </a:srgbClr>
                </a:solidFill>
                <a:highlight>
                  <a:srgbClr val="FFFFFF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协同为支撑 </a:t>
            </a:r>
            <a:r>
              <a:rPr lang="en-US" sz="1346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、以</a:t>
            </a:r>
            <a:r>
              <a:rPr lang="en-US" sz="1346" dirty="0">
                <a:solidFill>
                  <a:srgbClr val="FFFFFF">
                    <a:alpha val="90000"/>
                  </a:srgbClr>
                </a:solidFill>
                <a:highlight>
                  <a:srgbClr val="FFFFFF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结果为核心 </a:t>
            </a:r>
            <a:r>
              <a:rPr lang="en-US" sz="1346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,扎实做好项目统筹、推进、管控工作,确保项目各关键环节落地见效。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839957" y="4798701"/>
            <a:ext cx="2687178" cy="1348336"/>
          </a:xfrm>
          <a:custGeom>
            <a:avLst/>
            <a:gdLst/>
            <a:ahLst/>
            <a:cxnLst/>
            <a:rect l="l" t="t" r="r" b="b"/>
            <a:pathLst>
              <a:path w="2687178" h="1348336">
                <a:moveTo>
                  <a:pt x="113948" y="0"/>
                </a:moveTo>
                <a:lnTo>
                  <a:pt x="2573230" y="0"/>
                </a:lnTo>
                <a:cubicBezTo>
                  <a:pt x="2636161" y="0"/>
                  <a:pt x="2687178" y="51016"/>
                  <a:pt x="2687178" y="113948"/>
                </a:cubicBezTo>
                <a:lnTo>
                  <a:pt x="2687178" y="1234389"/>
                </a:lnTo>
                <a:cubicBezTo>
                  <a:pt x="2687178" y="1297320"/>
                  <a:pt x="2636161" y="1348336"/>
                  <a:pt x="2573230" y="1348336"/>
                </a:cubicBezTo>
                <a:lnTo>
                  <a:pt x="113948" y="1348336"/>
                </a:lnTo>
                <a:cubicBezTo>
                  <a:pt x="51016" y="1348336"/>
                  <a:pt x="0" y="1297320"/>
                  <a:pt x="0" y="1234389"/>
                </a:cubicBezTo>
                <a:lnTo>
                  <a:pt x="0" y="113948"/>
                </a:lnTo>
                <a:cubicBezTo>
                  <a:pt x="0" y="51058"/>
                  <a:pt x="51058" y="0"/>
                  <a:pt x="11394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041828" y="4950626"/>
            <a:ext cx="284860" cy="284860"/>
          </a:xfrm>
          <a:custGeom>
            <a:avLst/>
            <a:gdLst/>
            <a:ahLst/>
            <a:cxnLst/>
            <a:rect l="l" t="t" r="r" b="b"/>
            <a:pathLst>
              <a:path w="284860" h="284860">
                <a:moveTo>
                  <a:pt x="142430" y="84568"/>
                </a:moveTo>
                <a:cubicBezTo>
                  <a:pt x="169452" y="84568"/>
                  <a:pt x="191390" y="62629"/>
                  <a:pt x="191390" y="35607"/>
                </a:cubicBezTo>
                <a:cubicBezTo>
                  <a:pt x="191390" y="8586"/>
                  <a:pt x="169452" y="-13353"/>
                  <a:pt x="142430" y="-13353"/>
                </a:cubicBezTo>
                <a:cubicBezTo>
                  <a:pt x="115408" y="-13353"/>
                  <a:pt x="93470" y="8586"/>
                  <a:pt x="93470" y="35607"/>
                </a:cubicBezTo>
                <a:cubicBezTo>
                  <a:pt x="93470" y="62629"/>
                  <a:pt x="115408" y="84568"/>
                  <a:pt x="142430" y="84568"/>
                </a:cubicBezTo>
                <a:close/>
                <a:moveTo>
                  <a:pt x="142430" y="250755"/>
                </a:moveTo>
                <a:lnTo>
                  <a:pt x="142430" y="167689"/>
                </a:lnTo>
                <a:cubicBezTo>
                  <a:pt x="151499" y="163906"/>
                  <a:pt x="160734" y="160067"/>
                  <a:pt x="170081" y="156172"/>
                </a:cubicBezTo>
                <a:cubicBezTo>
                  <a:pt x="191780" y="147159"/>
                  <a:pt x="215036" y="142486"/>
                  <a:pt x="238570" y="142486"/>
                </a:cubicBezTo>
                <a:lnTo>
                  <a:pt x="249252" y="142486"/>
                </a:lnTo>
                <a:lnTo>
                  <a:pt x="249252" y="231504"/>
                </a:lnTo>
                <a:lnTo>
                  <a:pt x="238570" y="231504"/>
                </a:lnTo>
                <a:cubicBezTo>
                  <a:pt x="205689" y="231504"/>
                  <a:pt x="173086" y="238014"/>
                  <a:pt x="142708" y="250699"/>
                </a:cubicBezTo>
                <a:lnTo>
                  <a:pt x="142430" y="250810"/>
                </a:lnTo>
                <a:close/>
                <a:moveTo>
                  <a:pt x="142430" y="129077"/>
                </a:moveTo>
                <a:lnTo>
                  <a:pt x="128465" y="123235"/>
                </a:lnTo>
                <a:cubicBezTo>
                  <a:pt x="102427" y="112386"/>
                  <a:pt x="74498" y="106822"/>
                  <a:pt x="46290" y="106822"/>
                </a:cubicBezTo>
                <a:lnTo>
                  <a:pt x="26706" y="106822"/>
                </a:lnTo>
                <a:cubicBezTo>
                  <a:pt x="11962" y="106822"/>
                  <a:pt x="0" y="118784"/>
                  <a:pt x="0" y="133528"/>
                </a:cubicBezTo>
                <a:lnTo>
                  <a:pt x="0" y="240350"/>
                </a:lnTo>
                <a:cubicBezTo>
                  <a:pt x="0" y="255094"/>
                  <a:pt x="11962" y="267056"/>
                  <a:pt x="26706" y="267056"/>
                </a:cubicBezTo>
                <a:lnTo>
                  <a:pt x="46290" y="267056"/>
                </a:lnTo>
                <a:cubicBezTo>
                  <a:pt x="74498" y="267056"/>
                  <a:pt x="102427" y="272620"/>
                  <a:pt x="128465" y="283469"/>
                </a:cubicBezTo>
                <a:lnTo>
                  <a:pt x="135587" y="286418"/>
                </a:lnTo>
                <a:cubicBezTo>
                  <a:pt x="139982" y="288254"/>
                  <a:pt x="144878" y="288254"/>
                  <a:pt x="149273" y="286418"/>
                </a:cubicBezTo>
                <a:lnTo>
                  <a:pt x="156395" y="283469"/>
                </a:lnTo>
                <a:cubicBezTo>
                  <a:pt x="182433" y="272620"/>
                  <a:pt x="210362" y="267056"/>
                  <a:pt x="238570" y="267056"/>
                </a:cubicBezTo>
                <a:lnTo>
                  <a:pt x="258154" y="267056"/>
                </a:lnTo>
                <a:cubicBezTo>
                  <a:pt x="272898" y="267056"/>
                  <a:pt x="284860" y="255094"/>
                  <a:pt x="284860" y="240350"/>
                </a:cubicBezTo>
                <a:lnTo>
                  <a:pt x="284860" y="133528"/>
                </a:lnTo>
                <a:cubicBezTo>
                  <a:pt x="284860" y="118784"/>
                  <a:pt x="272898" y="106822"/>
                  <a:pt x="258154" y="106822"/>
                </a:cubicBezTo>
                <a:lnTo>
                  <a:pt x="238570" y="106822"/>
                </a:lnTo>
                <a:cubicBezTo>
                  <a:pt x="210362" y="106822"/>
                  <a:pt x="182433" y="112386"/>
                  <a:pt x="156395" y="123235"/>
                </a:cubicBezTo>
                <a:lnTo>
                  <a:pt x="142430" y="129077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12" name="Text 9"/>
          <p:cNvSpPr/>
          <p:nvPr/>
        </p:nvSpPr>
        <p:spPr>
          <a:xfrm>
            <a:off x="1949153" y="5311449"/>
            <a:ext cx="2468785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46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持续学习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958649" y="5615299"/>
            <a:ext cx="2449794" cy="379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7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不断学习MO流程细则、项目管理技巧、行业知识及竞品信息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751818" y="4798701"/>
            <a:ext cx="2687178" cy="1348336"/>
          </a:xfrm>
          <a:custGeom>
            <a:avLst/>
            <a:gdLst/>
            <a:ahLst/>
            <a:cxnLst/>
            <a:rect l="l" t="t" r="r" b="b"/>
            <a:pathLst>
              <a:path w="2687178" h="1348336">
                <a:moveTo>
                  <a:pt x="113948" y="0"/>
                </a:moveTo>
                <a:lnTo>
                  <a:pt x="2573230" y="0"/>
                </a:lnTo>
                <a:cubicBezTo>
                  <a:pt x="2636161" y="0"/>
                  <a:pt x="2687178" y="51016"/>
                  <a:pt x="2687178" y="113948"/>
                </a:cubicBezTo>
                <a:lnTo>
                  <a:pt x="2687178" y="1234389"/>
                </a:lnTo>
                <a:cubicBezTo>
                  <a:pt x="2687178" y="1297320"/>
                  <a:pt x="2636161" y="1348336"/>
                  <a:pt x="2573230" y="1348336"/>
                </a:cubicBezTo>
                <a:lnTo>
                  <a:pt x="113948" y="1348336"/>
                </a:lnTo>
                <a:cubicBezTo>
                  <a:pt x="51016" y="1348336"/>
                  <a:pt x="0" y="1297320"/>
                  <a:pt x="0" y="1234389"/>
                </a:cubicBezTo>
                <a:lnTo>
                  <a:pt x="0" y="113948"/>
                </a:lnTo>
                <a:cubicBezTo>
                  <a:pt x="0" y="51058"/>
                  <a:pt x="51058" y="0"/>
                  <a:pt x="11394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5953689" y="4950626"/>
            <a:ext cx="284860" cy="284860"/>
          </a:xfrm>
          <a:custGeom>
            <a:avLst/>
            <a:gdLst/>
            <a:ahLst/>
            <a:cxnLst/>
            <a:rect l="l" t="t" r="r" b="b"/>
            <a:pathLst>
              <a:path w="284860" h="284860">
                <a:moveTo>
                  <a:pt x="35607" y="35607"/>
                </a:moveTo>
                <a:cubicBezTo>
                  <a:pt x="35607" y="25760"/>
                  <a:pt x="27651" y="17804"/>
                  <a:pt x="17804" y="17804"/>
                </a:cubicBezTo>
                <a:cubicBezTo>
                  <a:pt x="7956" y="17804"/>
                  <a:pt x="0" y="25760"/>
                  <a:pt x="0" y="35607"/>
                </a:cubicBezTo>
                <a:lnTo>
                  <a:pt x="0" y="222547"/>
                </a:lnTo>
                <a:cubicBezTo>
                  <a:pt x="0" y="247138"/>
                  <a:pt x="19918" y="267056"/>
                  <a:pt x="44509" y="267056"/>
                </a:cubicBezTo>
                <a:lnTo>
                  <a:pt x="267056" y="267056"/>
                </a:lnTo>
                <a:cubicBezTo>
                  <a:pt x="276904" y="267056"/>
                  <a:pt x="284860" y="259100"/>
                  <a:pt x="284860" y="249252"/>
                </a:cubicBezTo>
                <a:cubicBezTo>
                  <a:pt x="284860" y="239405"/>
                  <a:pt x="276904" y="231449"/>
                  <a:pt x="267056" y="231449"/>
                </a:cubicBezTo>
                <a:lnTo>
                  <a:pt x="44509" y="231449"/>
                </a:lnTo>
                <a:cubicBezTo>
                  <a:pt x="39613" y="231449"/>
                  <a:pt x="35607" y="227443"/>
                  <a:pt x="35607" y="222547"/>
                </a:cubicBezTo>
                <a:lnTo>
                  <a:pt x="35607" y="35607"/>
                </a:lnTo>
                <a:close/>
                <a:moveTo>
                  <a:pt x="261826" y="83789"/>
                </a:moveTo>
                <a:cubicBezTo>
                  <a:pt x="268781" y="76834"/>
                  <a:pt x="268781" y="65540"/>
                  <a:pt x="261826" y="58585"/>
                </a:cubicBezTo>
                <a:cubicBezTo>
                  <a:pt x="254872" y="51631"/>
                  <a:pt x="243577" y="51631"/>
                  <a:pt x="236623" y="58585"/>
                </a:cubicBezTo>
                <a:lnTo>
                  <a:pt x="178037" y="117226"/>
                </a:lnTo>
                <a:lnTo>
                  <a:pt x="146102" y="85347"/>
                </a:lnTo>
                <a:cubicBezTo>
                  <a:pt x="139147" y="78392"/>
                  <a:pt x="127853" y="78392"/>
                  <a:pt x="120899" y="85347"/>
                </a:cubicBezTo>
                <a:lnTo>
                  <a:pt x="67487" y="138758"/>
                </a:lnTo>
                <a:cubicBezTo>
                  <a:pt x="60533" y="145712"/>
                  <a:pt x="60533" y="157007"/>
                  <a:pt x="67487" y="163961"/>
                </a:cubicBezTo>
                <a:cubicBezTo>
                  <a:pt x="74442" y="170916"/>
                  <a:pt x="85736" y="170916"/>
                  <a:pt x="92691" y="163961"/>
                </a:cubicBezTo>
                <a:lnTo>
                  <a:pt x="133528" y="123124"/>
                </a:lnTo>
                <a:lnTo>
                  <a:pt x="165463" y="155059"/>
                </a:lnTo>
                <a:cubicBezTo>
                  <a:pt x="172418" y="162014"/>
                  <a:pt x="183712" y="162014"/>
                  <a:pt x="190667" y="155059"/>
                </a:cubicBezTo>
                <a:lnTo>
                  <a:pt x="261882" y="83844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16" name="Text 13"/>
          <p:cNvSpPr/>
          <p:nvPr/>
        </p:nvSpPr>
        <p:spPr>
          <a:xfrm>
            <a:off x="4861014" y="5311449"/>
            <a:ext cx="2468785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46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能力提升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870509" y="5615299"/>
            <a:ext cx="2449794" cy="379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7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提升统筹协调能力、策略制定能力和风险管控能力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663679" y="4798701"/>
            <a:ext cx="2687178" cy="1348336"/>
          </a:xfrm>
          <a:custGeom>
            <a:avLst/>
            <a:gdLst/>
            <a:ahLst/>
            <a:cxnLst/>
            <a:rect l="l" t="t" r="r" b="b"/>
            <a:pathLst>
              <a:path w="2687178" h="1348336">
                <a:moveTo>
                  <a:pt x="113948" y="0"/>
                </a:moveTo>
                <a:lnTo>
                  <a:pt x="2573230" y="0"/>
                </a:lnTo>
                <a:cubicBezTo>
                  <a:pt x="2636161" y="0"/>
                  <a:pt x="2687178" y="51016"/>
                  <a:pt x="2687178" y="113948"/>
                </a:cubicBezTo>
                <a:lnTo>
                  <a:pt x="2687178" y="1234389"/>
                </a:lnTo>
                <a:cubicBezTo>
                  <a:pt x="2687178" y="1297320"/>
                  <a:pt x="2636161" y="1348336"/>
                  <a:pt x="2573230" y="1348336"/>
                </a:cubicBezTo>
                <a:lnTo>
                  <a:pt x="113948" y="1348336"/>
                </a:lnTo>
                <a:cubicBezTo>
                  <a:pt x="51016" y="1348336"/>
                  <a:pt x="0" y="1297320"/>
                  <a:pt x="0" y="1234389"/>
                </a:cubicBezTo>
                <a:lnTo>
                  <a:pt x="0" y="113948"/>
                </a:lnTo>
                <a:cubicBezTo>
                  <a:pt x="0" y="51058"/>
                  <a:pt x="51058" y="0"/>
                  <a:pt x="11394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8830061" y="4950626"/>
            <a:ext cx="356075" cy="284860"/>
          </a:xfrm>
          <a:custGeom>
            <a:avLst/>
            <a:gdLst/>
            <a:ahLst/>
            <a:cxnLst/>
            <a:rect l="l" t="t" r="r" b="b"/>
            <a:pathLst>
              <a:path w="356075" h="284860">
                <a:moveTo>
                  <a:pt x="178037" y="8902"/>
                </a:moveTo>
                <a:cubicBezTo>
                  <a:pt x="209972" y="8902"/>
                  <a:pt x="235900" y="34829"/>
                  <a:pt x="235900" y="66764"/>
                </a:cubicBezTo>
                <a:cubicBezTo>
                  <a:pt x="235900" y="98699"/>
                  <a:pt x="209972" y="124626"/>
                  <a:pt x="178037" y="124626"/>
                </a:cubicBezTo>
                <a:cubicBezTo>
                  <a:pt x="146102" y="124626"/>
                  <a:pt x="120175" y="98699"/>
                  <a:pt x="120175" y="66764"/>
                </a:cubicBezTo>
                <a:cubicBezTo>
                  <a:pt x="120175" y="34829"/>
                  <a:pt x="146102" y="8902"/>
                  <a:pt x="178037" y="8902"/>
                </a:cubicBezTo>
                <a:close/>
                <a:moveTo>
                  <a:pt x="53411" y="48960"/>
                </a:moveTo>
                <a:cubicBezTo>
                  <a:pt x="75520" y="48960"/>
                  <a:pt x="93470" y="66910"/>
                  <a:pt x="93470" y="89019"/>
                </a:cubicBezTo>
                <a:cubicBezTo>
                  <a:pt x="93470" y="111128"/>
                  <a:pt x="75520" y="129077"/>
                  <a:pt x="53411" y="129077"/>
                </a:cubicBezTo>
                <a:cubicBezTo>
                  <a:pt x="31302" y="129077"/>
                  <a:pt x="13353" y="111128"/>
                  <a:pt x="13353" y="89019"/>
                </a:cubicBezTo>
                <a:cubicBezTo>
                  <a:pt x="13353" y="66910"/>
                  <a:pt x="31302" y="48960"/>
                  <a:pt x="53411" y="48960"/>
                </a:cubicBezTo>
                <a:close/>
                <a:moveTo>
                  <a:pt x="0" y="231449"/>
                </a:moveTo>
                <a:cubicBezTo>
                  <a:pt x="0" y="192113"/>
                  <a:pt x="31880" y="160234"/>
                  <a:pt x="71215" y="160234"/>
                </a:cubicBezTo>
                <a:cubicBezTo>
                  <a:pt x="78336" y="160234"/>
                  <a:pt x="85235" y="161291"/>
                  <a:pt x="91745" y="163238"/>
                </a:cubicBezTo>
                <a:cubicBezTo>
                  <a:pt x="73440" y="183712"/>
                  <a:pt x="62313" y="210752"/>
                  <a:pt x="62313" y="240350"/>
                </a:cubicBezTo>
                <a:lnTo>
                  <a:pt x="62313" y="249252"/>
                </a:lnTo>
                <a:cubicBezTo>
                  <a:pt x="62313" y="255595"/>
                  <a:pt x="63648" y="261604"/>
                  <a:pt x="66041" y="267056"/>
                </a:cubicBezTo>
                <a:lnTo>
                  <a:pt x="17804" y="267056"/>
                </a:lnTo>
                <a:cubicBezTo>
                  <a:pt x="7956" y="267056"/>
                  <a:pt x="0" y="259100"/>
                  <a:pt x="0" y="249252"/>
                </a:cubicBezTo>
                <a:lnTo>
                  <a:pt x="0" y="231449"/>
                </a:lnTo>
                <a:close/>
                <a:moveTo>
                  <a:pt x="290034" y="267056"/>
                </a:moveTo>
                <a:cubicBezTo>
                  <a:pt x="292426" y="261604"/>
                  <a:pt x="293762" y="255595"/>
                  <a:pt x="293762" y="249252"/>
                </a:cubicBezTo>
                <a:lnTo>
                  <a:pt x="293762" y="240350"/>
                </a:lnTo>
                <a:cubicBezTo>
                  <a:pt x="293762" y="210752"/>
                  <a:pt x="282634" y="183712"/>
                  <a:pt x="264330" y="163238"/>
                </a:cubicBezTo>
                <a:cubicBezTo>
                  <a:pt x="270839" y="161291"/>
                  <a:pt x="277738" y="160234"/>
                  <a:pt x="284860" y="160234"/>
                </a:cubicBezTo>
                <a:cubicBezTo>
                  <a:pt x="324195" y="160234"/>
                  <a:pt x="356075" y="192113"/>
                  <a:pt x="356075" y="231449"/>
                </a:cubicBezTo>
                <a:lnTo>
                  <a:pt x="356075" y="249252"/>
                </a:lnTo>
                <a:cubicBezTo>
                  <a:pt x="356075" y="259100"/>
                  <a:pt x="348119" y="267056"/>
                  <a:pt x="338271" y="267056"/>
                </a:cubicBezTo>
                <a:lnTo>
                  <a:pt x="290034" y="267056"/>
                </a:lnTo>
                <a:close/>
                <a:moveTo>
                  <a:pt x="262605" y="89019"/>
                </a:moveTo>
                <a:cubicBezTo>
                  <a:pt x="262605" y="66910"/>
                  <a:pt x="280555" y="48960"/>
                  <a:pt x="302664" y="48960"/>
                </a:cubicBezTo>
                <a:cubicBezTo>
                  <a:pt x="324772" y="48960"/>
                  <a:pt x="342722" y="66910"/>
                  <a:pt x="342722" y="89019"/>
                </a:cubicBezTo>
                <a:cubicBezTo>
                  <a:pt x="342722" y="111128"/>
                  <a:pt x="324772" y="129077"/>
                  <a:pt x="302664" y="129077"/>
                </a:cubicBezTo>
                <a:cubicBezTo>
                  <a:pt x="280555" y="129077"/>
                  <a:pt x="262605" y="111128"/>
                  <a:pt x="262605" y="89019"/>
                </a:cubicBezTo>
                <a:close/>
                <a:moveTo>
                  <a:pt x="89019" y="240350"/>
                </a:moveTo>
                <a:cubicBezTo>
                  <a:pt x="89019" y="191168"/>
                  <a:pt x="128855" y="151332"/>
                  <a:pt x="178037" y="151332"/>
                </a:cubicBezTo>
                <a:cubicBezTo>
                  <a:pt x="227220" y="151332"/>
                  <a:pt x="267056" y="191168"/>
                  <a:pt x="267056" y="240350"/>
                </a:cubicBezTo>
                <a:lnTo>
                  <a:pt x="267056" y="249252"/>
                </a:lnTo>
                <a:cubicBezTo>
                  <a:pt x="267056" y="259100"/>
                  <a:pt x="259100" y="267056"/>
                  <a:pt x="249252" y="267056"/>
                </a:cubicBezTo>
                <a:lnTo>
                  <a:pt x="106822" y="267056"/>
                </a:lnTo>
                <a:cubicBezTo>
                  <a:pt x="96975" y="267056"/>
                  <a:pt x="89019" y="259100"/>
                  <a:pt x="89019" y="249252"/>
                </a:cubicBezTo>
                <a:lnTo>
                  <a:pt x="89019" y="240350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20" name="Text 17"/>
          <p:cNvSpPr/>
          <p:nvPr/>
        </p:nvSpPr>
        <p:spPr>
          <a:xfrm>
            <a:off x="7772875" y="5311449"/>
            <a:ext cx="2468785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46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团队成长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782370" y="5615299"/>
            <a:ext cx="2449794" cy="379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7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推动团队项目管理能力与MO流程执行水平的整体提升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4555621" y="6374925"/>
            <a:ext cx="3076486" cy="493757"/>
          </a:xfrm>
          <a:custGeom>
            <a:avLst/>
            <a:gdLst/>
            <a:ahLst/>
            <a:cxnLst/>
            <a:rect l="l" t="t" r="r" b="b"/>
            <a:pathLst>
              <a:path w="3076486" h="493757">
                <a:moveTo>
                  <a:pt x="246879" y="0"/>
                </a:moveTo>
                <a:lnTo>
                  <a:pt x="2829607" y="0"/>
                </a:lnTo>
                <a:cubicBezTo>
                  <a:pt x="2965955" y="0"/>
                  <a:pt x="3076486" y="110531"/>
                  <a:pt x="3076486" y="246879"/>
                </a:cubicBezTo>
                <a:lnTo>
                  <a:pt x="3076486" y="246879"/>
                </a:lnTo>
                <a:cubicBezTo>
                  <a:pt x="3076486" y="383226"/>
                  <a:pt x="2965955" y="493757"/>
                  <a:pt x="2829607" y="493757"/>
                </a:cubicBezTo>
                <a:lnTo>
                  <a:pt x="246879" y="493757"/>
                </a:lnTo>
                <a:cubicBezTo>
                  <a:pt x="110531" y="493757"/>
                  <a:pt x="0" y="383226"/>
                  <a:pt x="0" y="246879"/>
                </a:cubicBezTo>
                <a:lnTo>
                  <a:pt x="0" y="246879"/>
                </a:lnTo>
                <a:cubicBezTo>
                  <a:pt x="0" y="110531"/>
                  <a:pt x="110531" y="0"/>
                  <a:pt x="246879" y="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23" name="Text 20"/>
          <p:cNvSpPr/>
          <p:nvPr/>
        </p:nvSpPr>
        <p:spPr>
          <a:xfrm>
            <a:off x="4811994" y="6488869"/>
            <a:ext cx="2563738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9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为公司业务增长提供坚实保障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1375</Words>
  <Application>Microsoft Office PowerPoint</Application>
  <PresentationFormat>宽屏</PresentationFormat>
  <Paragraphs>327</Paragraphs>
  <Slides>17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4" baseType="lpstr">
      <vt:lpstr>Wingdings</vt:lpstr>
      <vt:lpstr>等线</vt:lpstr>
      <vt:lpstr>Arial</vt:lpstr>
      <vt:lpstr>微软雅黑</vt:lpstr>
      <vt:lpstr>MiSans</vt:lpstr>
      <vt:lpstr>Calibri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EBG MO管理商机流程项目经理核心职责</dc:title>
  <dc:subject>EBG MO管理商机流程项目经理核心职责</dc:subject>
  <dc:creator>Kimi</dc:creator>
  <cp:lastModifiedBy>Lenovo</cp:lastModifiedBy>
  <cp:revision>7</cp:revision>
  <dcterms:created xsi:type="dcterms:W3CDTF">2026-03-04T02:23:58Z</dcterms:created>
  <dcterms:modified xsi:type="dcterms:W3CDTF">2026-03-04T06:47:09Z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{"Label":"EBG MO管理商机流程项目经理核心职责","ContentProducer":"001191110108MACG2KBH8F10000","ProduceID":"19cb6a4b-8e92-8d49-8000-00000ef74a05","ReservedCode1":"","ContentPropagator":"001191110108MACG2KBH8F20000","PropagateID":"19cb6a4b-8e92-8d49-8000-00000ef74a05","R</vt:lpwstr>
  </property>
</Properties>
</file>