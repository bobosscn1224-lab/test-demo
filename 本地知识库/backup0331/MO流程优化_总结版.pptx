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288" y="-9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7475200" cy="97337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076" y="483209"/>
            <a:ext cx="11375390" cy="588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51436" y="5992761"/>
            <a:ext cx="79184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商机推进</a:t>
            </a:r>
            <a:endParaRPr sz="16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92816" y="5954661"/>
            <a:ext cx="572833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60395" algn="l"/>
                <a:tab pos="4796155" algn="l"/>
              </a:tabLst>
            </a:pPr>
            <a:r>
              <a:rPr sz="1900" spc="-14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商机验</a:t>
            </a:r>
            <a:r>
              <a:rPr sz="1900" spc="-6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证</a:t>
            </a:r>
            <a:r>
              <a:rPr sz="1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	</a:t>
            </a:r>
            <a:r>
              <a:rPr sz="1900" spc="-14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投标策</a:t>
            </a:r>
            <a:r>
              <a:rPr sz="1900" spc="-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略</a:t>
            </a:r>
            <a:r>
              <a:rPr sz="1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	</a:t>
            </a:r>
            <a:r>
              <a:rPr sz="1900" spc="-14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签约复</a:t>
            </a:r>
            <a:r>
              <a:rPr sz="1900" spc="-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盘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97541" y="6444246"/>
            <a:ext cx="5396865" cy="926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严格执行商机验证、商机推进、投标策略和签约复盘流程。</a:t>
            </a:r>
            <a:endParaRPr sz="16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6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  <a:p>
            <a:pPr marL="13335">
              <a:lnSpc>
                <a:spcPct val="100000"/>
              </a:lnSpc>
            </a:pPr>
            <a:r>
              <a:rPr sz="1900" b="1" spc="9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关键协同：供应链前置参与</a:t>
            </a:r>
            <a:endParaRPr sz="19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97541" y="8883281"/>
            <a:ext cx="7462520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2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供应链前置参与解决方案、投标策略、合同评审三大节点。</a:t>
            </a:r>
            <a:endParaRPr sz="15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5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  <a:p>
            <a:pPr marR="5080" algn="r">
              <a:lnSpc>
                <a:spcPct val="100000"/>
              </a:lnSpc>
            </a:pPr>
            <a:r>
              <a:rPr sz="15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A</a:t>
            </a:r>
            <a:r>
              <a:rPr sz="1500" b="1" spc="-15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1500" b="1" spc="-1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NotebookLM</a:t>
            </a:r>
            <a:endParaRPr sz="150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14400" y="2951988"/>
            <a:ext cx="4127500" cy="5087620"/>
            <a:chOff x="914400" y="2951988"/>
            <a:chExt cx="4127500" cy="50876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6298691"/>
              <a:ext cx="4126991" cy="17404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7267" y="2951988"/>
              <a:ext cx="1670304" cy="13715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1956986" y="2747733"/>
            <a:ext cx="826351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1+1+1</a:t>
            </a:r>
            <a:endParaRPr sz="150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55862" y="3207658"/>
            <a:ext cx="241628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M-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0</a:t>
            </a:r>
            <a:r>
              <a:rPr sz="2000" spc="23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</a:t>
            </a:r>
            <a:r>
              <a:rPr lang="en-US" sz="2000" spc="23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</a:t>
            </a:r>
            <a:r>
              <a:rPr sz="2000" spc="-12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M-</a:t>
            </a:r>
            <a:r>
              <a:rPr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1</a:t>
            </a:r>
            <a:r>
              <a:rPr sz="2000" spc="24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</a:t>
            </a:r>
            <a:r>
              <a:rPr sz="2000" spc="-12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M-</a:t>
            </a:r>
            <a:r>
              <a:rPr sz="2000" spc="-5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2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74476" y="4826232"/>
            <a:ext cx="99758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核心解法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489200" y="483209"/>
            <a:ext cx="11934266" cy="581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MO</a:t>
            </a:r>
            <a:r>
              <a:rPr spc="325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pc="-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流程优化方案：提升预测准确性与端到端协同效率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9024" y="2437999"/>
            <a:ext cx="4768915" cy="2539798"/>
          </a:xfrm>
          <a:prstGeom prst="rect">
            <a:avLst/>
          </a:prstGeom>
        </p:spPr>
        <p:txBody>
          <a:bodyPr vert="horz" wrap="square" lIns="0" tIns="605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65"/>
              </a:spcBef>
            </a:pPr>
            <a:r>
              <a:rPr sz="8000" b="1" spc="-25" dirty="0">
                <a:solidFill>
                  <a:srgbClr val="EF40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22</a:t>
            </a:r>
            <a:r>
              <a:rPr sz="8000" b="1" spc="-25" dirty="0" smtClean="0">
                <a:solidFill>
                  <a:srgbClr val="EF40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%</a:t>
            </a:r>
            <a:endParaRPr sz="8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endParaRPr 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M+2</a:t>
            </a:r>
            <a:r>
              <a:rPr lang="zh-CN" altLang="en-US" sz="1600" b="1" spc="6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要货时间</a:t>
            </a:r>
            <a:r>
              <a:rPr sz="1600" b="1" spc="6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准确率仅</a:t>
            </a:r>
            <a:r>
              <a:rPr sz="1600" b="1" spc="5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22%,</a:t>
            </a:r>
            <a:r>
              <a:rPr sz="1600" b="1" spc="4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且无改善迹象。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76840" y="4669459"/>
            <a:ext cx="5944311" cy="3135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课题二：高质量执行</a:t>
            </a:r>
            <a:r>
              <a:rPr sz="1950" b="1" spc="-20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MO</a:t>
            </a:r>
            <a:r>
              <a:rPr sz="1950" b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流程一强化四大关键阶段</a:t>
            </a:r>
            <a:endParaRPr sz="1950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2555" y="2364917"/>
            <a:ext cx="283908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远期销售预测准确率严峻</a:t>
            </a:r>
            <a:endParaRPr sz="1950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99726" y="2372537"/>
            <a:ext cx="543433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课题一：做准</a:t>
            </a:r>
            <a:r>
              <a:rPr sz="1950" b="1" spc="-25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N</a:t>
            </a:r>
            <a:r>
              <a:rPr sz="195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</a:t>
            </a:r>
            <a:r>
              <a:rPr sz="195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和</a:t>
            </a:r>
            <a:r>
              <a:rPr sz="195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T</a:t>
            </a:r>
            <a:r>
              <a:rPr sz="1950" b="1" spc="45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—— </a:t>
            </a:r>
            <a:r>
              <a:rPr sz="195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实施滚动3</a:t>
            </a:r>
            <a:r>
              <a:rPr sz="1950" b="1" spc="-1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个月预测管理</a:t>
            </a:r>
            <a:endParaRPr sz="195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16995" y="1447800"/>
            <a:ext cx="4553711" cy="59740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344262" y="1675155"/>
            <a:ext cx="366204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8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解决方案： 两大课题</a:t>
            </a:r>
            <a:r>
              <a:rPr sz="1900" b="1" spc="-2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&amp;</a:t>
            </a:r>
            <a:r>
              <a:rPr sz="1900" b="1" spc="-3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 关键举指</a:t>
            </a:r>
            <a:endParaRPr sz="19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4108" y="0"/>
            <a:ext cx="16611600" cy="2033270"/>
            <a:chOff x="864108" y="0"/>
            <a:chExt cx="16611600" cy="203327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00603" y="0"/>
              <a:ext cx="1974596" cy="18989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8" y="1277111"/>
              <a:ext cx="4515612" cy="75590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349400" y="1614804"/>
            <a:ext cx="4187800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核心挑战： 预测不准</a:t>
            </a:r>
            <a:r>
              <a:rPr sz="1900" b="1" spc="-2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&amp;</a:t>
            </a:r>
            <a:r>
              <a:rPr sz="1900" b="1" spc="-1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 </a:t>
            </a:r>
            <a:r>
              <a:rPr lang="zh-CN" altLang="en-US" sz="1900" b="1" spc="-1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流程</a:t>
            </a:r>
            <a:r>
              <a:rPr sz="1900" b="1" spc="-1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执行率低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9024" y="8197494"/>
            <a:ext cx="5181576" cy="2784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699"/>
              </a:lnSpc>
              <a:spcBef>
                <a:spcPts val="100"/>
              </a:spcBef>
            </a:pPr>
            <a:r>
              <a:rPr sz="1500" b="1" spc="155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解决方案评审、标前评审等关键环节执行率远</a:t>
            </a:r>
            <a:r>
              <a:rPr sz="1500" b="1" spc="-5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未达标。</a:t>
            </a:r>
            <a:endParaRPr sz="15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97541" y="4097464"/>
            <a:ext cx="541655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固化“1+1+1”</a:t>
            </a:r>
            <a:r>
              <a:rPr sz="1500" b="1" spc="8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承诺预测标准，提升未来三个月的预测质量。</a:t>
            </a:r>
            <a:endParaRPr sz="15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2555" y="5837630"/>
            <a:ext cx="335978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关键流程活动执行率严重偏低</a:t>
            </a:r>
            <a:endParaRPr sz="19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863904" y="2820035"/>
            <a:ext cx="103323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26年</a:t>
            </a:r>
            <a:r>
              <a:rPr sz="1000" b="1" spc="-2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Q2</a:t>
            </a:r>
            <a:r>
              <a:rPr sz="1000" b="1" spc="-30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目际</a:t>
            </a: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906448" y="3083558"/>
            <a:ext cx="839027" cy="151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b="1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N</a:t>
            </a:r>
            <a:r>
              <a:rPr sz="900" b="1" spc="-105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- 下单清单</a:t>
            </a:r>
            <a:endParaRPr sz="900" b="1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493823" y="3473450"/>
            <a:ext cx="40143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76%</a:t>
            </a:r>
            <a:endParaRPr sz="100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897138" y="3084423"/>
            <a:ext cx="819785" cy="151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3T</a:t>
            </a:r>
            <a:r>
              <a:rPr sz="900" b="1" spc="-35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- </a:t>
            </a:r>
            <a:r>
              <a:rPr sz="900" b="1" spc="-1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下单时间</a:t>
            </a:r>
            <a:endParaRPr sz="900" b="1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443238" y="3403701"/>
            <a:ext cx="297505" cy="419346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80%</a:t>
            </a: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370"/>
              </a:spcBef>
            </a:pPr>
            <a:r>
              <a:rPr sz="1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65%</a:t>
            </a: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68586" y="3057167"/>
            <a:ext cx="998310" cy="548868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3T-</a:t>
            </a:r>
            <a:r>
              <a:rPr sz="9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要货</a:t>
            </a:r>
            <a:r>
              <a:rPr sz="900" b="1" spc="-25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时间</a:t>
            </a:r>
            <a:endParaRPr sz="900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  <a:p>
            <a:pPr marL="561975">
              <a:lnSpc>
                <a:spcPct val="100000"/>
              </a:lnSpc>
              <a:spcBef>
                <a:spcPts val="240"/>
              </a:spcBef>
            </a:pPr>
            <a:r>
              <a:rPr sz="1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70%</a:t>
            </a: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561975">
              <a:lnSpc>
                <a:spcPct val="100000"/>
              </a:lnSpc>
              <a:spcBef>
                <a:spcPts val="330"/>
              </a:spcBef>
            </a:pPr>
            <a:r>
              <a:rPr sz="1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60%</a:t>
            </a: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417861" y="3695650"/>
            <a:ext cx="4490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50%</a:t>
            </a: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46787" y="4826232"/>
            <a:ext cx="99377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关键问题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102</Words>
  <Application>Microsoft Office PowerPoint</Application>
  <PresentationFormat>自定义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黑体</vt:lpstr>
      <vt:lpstr>宋体</vt:lpstr>
      <vt:lpstr>微软雅黑</vt:lpstr>
      <vt:lpstr>Arial</vt:lpstr>
      <vt:lpstr>Calibri</vt:lpstr>
      <vt:lpstr>Times New Roman</vt:lpstr>
      <vt:lpstr>Office Theme</vt:lpstr>
      <vt:lpstr>MO 流程优化方案：提升预测准确性与端到端协同效率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 流程优化方案：提升预测准确性与端到端协同效率</dc:title>
  <dc:creator>bobosscn</dc:creator>
  <dc:description/>
  <cp:lastModifiedBy>Lenovo</cp:lastModifiedBy>
  <cp:revision>1</cp:revision>
  <dcterms:created xsi:type="dcterms:W3CDTF">2025-12-15T01:19:48Z</dcterms:created>
  <dcterms:modified xsi:type="dcterms:W3CDTF">2025-12-15T01:27:45Z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2025-12-14T00:00:00Z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2025-12-15T00:00:00Z</vt:filetime>
  </property>
  <property fmtid="{D5CDD505-2E9C-101B-9397-08002B2CF9AE}" pid="5" name="SourceModified">
    <vt:lpwstr>D:20251214162956+08'00'</vt:lpwstr>
  </property>
</Properties>
</file>