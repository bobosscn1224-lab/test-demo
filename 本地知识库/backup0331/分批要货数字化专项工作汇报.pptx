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Lst>
  <p:notesMasterIdLst>
    <p:notesMasterId r:id="rId13"/>
  </p:notesMasterIdLst>
  <p:sldIdLst>
    <p:sldId id="256" r:id="rId3"/>
    <p:sldId id="257" r:id="rId4"/>
    <p:sldId id="258" r:id="rId5"/>
    <p:sldId id="259" r:id="rId6"/>
    <p:sldId id="260" r:id="rId7"/>
    <p:sldId id="261" r:id="rId8"/>
    <p:sldId id="262" r:id="rId9"/>
    <p:sldId id="263" r:id="rId10"/>
    <p:sldId id="264" r:id="rId11"/>
    <p:sldId id="265" r:id="rId1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3857" autoAdjust="0"/>
  </p:normalViewPr>
  <p:slideViewPr>
    <p:cSldViewPr snapToGrid="0">
      <p:cViewPr varScale="1">
        <p:scale>
          <a:sx n="79" d="100"/>
          <a:sy n="79" d="100"/>
        </p:scale>
        <p:origin x="710" y="48"/>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notesMaster" Target="notesMasters/notesMaster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viewProps" Target="view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大家好，欢迎参加本次分批要货数字化专项工作汇报。本次汇报的核心目的，是向各位领导清晰呈现当前因分批要货场景线下处理所导致的供应链问题，并就数字化解决方案的投入决策，提请管理层审议。</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4427407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本次汇报将分为四个部分展开。首先，我们会介绍项目的背景和当前面临的核心问题；其次，将通过具体数据量化分析分批要货场景的现状与影响；接着，展示我们设计的解决方案及预期目标；最后，提出当前推进过程中存在的争议点，并明确需要领导决策的事项。</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20394388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首先我们来看项目背景。目前，我们面临一个核心的业务痛点：前端销售在商机阶段录入的基础数据，也就是配置清单和三个关键时间节点，质量不高。这直接导致了后端供应链的连锁反应——因为拿不到准确的需求预测，我们的备货总是不准，要么缺料影响交付，要么库存积压占用资金，同时还推高了各种供应成本，最终业务端也因此承受损失。专项组经过分析，发现“分批要货”这个场景，是影响我们供应链预测准确性的一个非常重要的因素。</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22061615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我们用数据说话，看看分批要货的具体影响有多大。根据2025年全年的EBG业务数据，我们30万以上的大额订单有2067个，其中明确是分批要货的就有643个，占比高达31%。业务高峰期，单月处理的分批订单就超过80个，涉及的总金额更是达到了4.2亿元。如此大规模的业务场景，目前完全依靠线下人工处理，信息无法同步到供应链系统，导致供应链对这部分需求几乎是“盲视”状态，这正是我们预测不准的关键症结所在。</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31269525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既然问题已经明确，那么我们该如何解决？这就是我接下来要汇报的第三部分：解决方案与目标。我们的思路是从源头入手，解决分批要货信息不透明的问题。</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25323584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设计的解决方案很明确，就是推动销售端分批信息的标准化录入。具体来说，就是让销售人员在系统里做商机预测时，不仅要报总数，还要把分批的计划说清楚：分几批、每批要什么产品、分别在什么时间下单和要货。这些信息会实时同步到供应链系统。这样一来，供应链就能清清楚楚地看到每个订单的节奏，从而实现精准备货。我们的目标，就是让分批需求从“黑箱”变成“透明池”。</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9491482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方案虽然清晰，但在具体推进时，我们也遇到了一些现实的挑战和内部的不同声音。这就是最后一部分，我们需要提请领导决策的核心争议点。</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1147778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目前主要的争议集中在两点。第一，对销售端的影响。让销售录入这么详细的分批信息，尤其是面对复杂订单时，无疑会增加他们的工作量和操作难度，甚至可能引发抵触情绪。第二，是IT投入的问题。这个功能需要打通前后端系统，开发逻辑复杂，意味着我们需要投入不小的预算和开发资源。正是因为这两个现实的顾虑，项目组内部无法达成一致，所以今天特别来请领导定夺。</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3411376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所以，今天我们需要领导明确决策的问题只有一个：是否批准我们投入相应的IT资源和预算，正式启动这个分批要货场景的数字化建设项目？如果领导批准，我们将立刻开始细化需求、安排开发；如果暂不批准，我们也会调整策略，继续寻找其他优化路径。</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6033618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我的汇报到此结束，感谢各位领导的聆听，敬请领导指示。</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9462775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a:ea typeface="Arial"/>
                <a:cs typeface="Arial"/>
                <a:sym typeface="Arial"/>
              </a:defRPr>
            </a:lvl1pPr>
            <a:lvl2pPr marL="0" marR="0" lvl="1" indent="0" algn="r" rtl="0">
              <a:spcBef>
                <a:spcPts val="0"/>
              </a:spcBef>
              <a:buNone/>
              <a:defRPr sz="900" b="0" i="0" u="none" strike="noStrike" cap="none">
                <a:solidFill>
                  <a:srgbClr val="888888"/>
                </a:solidFill>
                <a:latin typeface="Arial"/>
                <a:ea typeface="Arial"/>
                <a:cs typeface="Arial"/>
                <a:sym typeface="Arial"/>
              </a:defRPr>
            </a:lvl2pPr>
            <a:lvl3pPr marL="0" marR="0" lvl="2" indent="0" algn="r" rtl="0">
              <a:spcBef>
                <a:spcPts val="0"/>
              </a:spcBef>
              <a:buNone/>
              <a:defRPr sz="900" b="0" i="0" u="none" strike="noStrike" cap="none">
                <a:solidFill>
                  <a:srgbClr val="888888"/>
                </a:solidFill>
                <a:latin typeface="Arial"/>
                <a:ea typeface="Arial"/>
                <a:cs typeface="Arial"/>
                <a:sym typeface="Arial"/>
              </a:defRPr>
            </a:lvl3pPr>
            <a:lvl4pPr marL="0" marR="0" lvl="3" indent="0" algn="r" rtl="0">
              <a:spcBef>
                <a:spcPts val="0"/>
              </a:spcBef>
              <a:buNone/>
              <a:defRPr sz="900" b="0" i="0" u="none" strike="noStrike" cap="none">
                <a:solidFill>
                  <a:srgbClr val="888888"/>
                </a:solidFill>
                <a:latin typeface="Arial"/>
                <a:ea typeface="Arial"/>
                <a:cs typeface="Arial"/>
                <a:sym typeface="Arial"/>
              </a:defRPr>
            </a:lvl4pPr>
            <a:lvl5pPr marL="0" marR="0" lvl="4" indent="0" algn="r" rtl="0">
              <a:spcBef>
                <a:spcPts val="0"/>
              </a:spcBef>
              <a:buNone/>
              <a:defRPr sz="900" b="0" i="0" u="none" strike="noStrike" cap="none">
                <a:solidFill>
                  <a:srgbClr val="888888"/>
                </a:solidFill>
                <a:latin typeface="Arial"/>
                <a:ea typeface="Arial"/>
                <a:cs typeface="Arial"/>
                <a:sym typeface="Arial"/>
              </a:defRPr>
            </a:lvl5pPr>
            <a:lvl6pPr marL="0" marR="0" lvl="5" indent="0" algn="r" rtl="0">
              <a:spcBef>
                <a:spcPts val="0"/>
              </a:spcBef>
              <a:buNone/>
              <a:defRPr sz="900" b="0" i="0" u="none" strike="noStrike" cap="none">
                <a:solidFill>
                  <a:srgbClr val="888888"/>
                </a:solidFill>
                <a:latin typeface="Arial"/>
                <a:ea typeface="Arial"/>
                <a:cs typeface="Arial"/>
                <a:sym typeface="Arial"/>
              </a:defRPr>
            </a:lvl6pPr>
            <a:lvl7pPr marL="0" marR="0" lvl="6" indent="0" algn="r" rtl="0">
              <a:spcBef>
                <a:spcPts val="0"/>
              </a:spcBef>
              <a:buNone/>
              <a:defRPr sz="900" b="0" i="0" u="none" strike="noStrike" cap="none">
                <a:solidFill>
                  <a:srgbClr val="888888"/>
                </a:solidFill>
                <a:latin typeface="Arial"/>
                <a:ea typeface="Arial"/>
                <a:cs typeface="Arial"/>
                <a:sym typeface="Arial"/>
              </a:defRPr>
            </a:lvl7pPr>
            <a:lvl8pPr marL="0" marR="0" lvl="7" indent="0" algn="r" rtl="0">
              <a:spcBef>
                <a:spcPts val="0"/>
              </a:spcBef>
              <a:buNone/>
              <a:defRPr sz="900" b="0" i="0" u="none" strike="noStrike" cap="none">
                <a:solidFill>
                  <a:srgbClr val="888888"/>
                </a:solidFill>
                <a:latin typeface="Arial"/>
                <a:ea typeface="Arial"/>
                <a:cs typeface="Arial"/>
                <a:sym typeface="Arial"/>
              </a:defRPr>
            </a:lvl8pPr>
            <a:lvl9pPr marL="0" marR="0" lvl="8" indent="0" algn="r" rtl="0">
              <a:spcBef>
                <a:spcPts val="0"/>
              </a:spcBef>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C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默认主题">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5748369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jpeg"/><Relationship Id="rId7" Type="http://schemas.openxmlformats.org/officeDocument/2006/relationships/image" Target="../media/image6.sv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4.pn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6.png"/><Relationship Id="rId4" Type="http://schemas.openxmlformats.org/officeDocument/2006/relationships/image" Target="../media/image3.png"/><Relationship Id="rId9" Type="http://schemas.openxmlformats.org/officeDocument/2006/relationships/image" Target="../media/image8.svg"/></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2.jpeg"/><Relationship Id="rId7" Type="http://schemas.openxmlformats.org/officeDocument/2006/relationships/image" Target="../media/image14.sv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8.png"/><Relationship Id="rId5" Type="http://schemas.openxmlformats.org/officeDocument/2006/relationships/image" Target="../media/image12.svg"/><Relationship Id="rId4" Type="http://schemas.openxmlformats.org/officeDocument/2006/relationships/image" Target="../media/image7.png"/><Relationship Id="rId9" Type="http://schemas.openxmlformats.org/officeDocument/2006/relationships/image" Target="../media/image16.svg"/></Relationships>
</file>

<file path=ppt/slides/_rels/slide4.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24.svg"/><Relationship Id="rId18" Type="http://schemas.openxmlformats.org/officeDocument/2006/relationships/image" Target="../media/image16.png"/><Relationship Id="rId3" Type="http://schemas.openxmlformats.org/officeDocument/2006/relationships/image" Target="../media/image2.jpeg"/><Relationship Id="rId7" Type="http://schemas.openxmlformats.org/officeDocument/2006/relationships/image" Target="../media/image20.svg"/><Relationship Id="rId12" Type="http://schemas.openxmlformats.org/officeDocument/2006/relationships/image" Target="../media/image13.png"/><Relationship Id="rId17" Type="http://schemas.openxmlformats.org/officeDocument/2006/relationships/image" Target="../media/image28.svg"/><Relationship Id="rId2" Type="http://schemas.openxmlformats.org/officeDocument/2006/relationships/notesSlide" Target="../notesSlides/notesSlide4.xml"/><Relationship Id="rId16" Type="http://schemas.openxmlformats.org/officeDocument/2006/relationships/image" Target="../media/image15.png"/><Relationship Id="rId1" Type="http://schemas.openxmlformats.org/officeDocument/2006/relationships/slideLayout" Target="../slideLayouts/slideLayout12.xml"/><Relationship Id="rId6" Type="http://schemas.openxmlformats.org/officeDocument/2006/relationships/image" Target="../media/image11.png"/><Relationship Id="rId11" Type="http://schemas.openxmlformats.org/officeDocument/2006/relationships/image" Target="../media/image12.svg"/><Relationship Id="rId5" Type="http://schemas.openxmlformats.org/officeDocument/2006/relationships/image" Target="../media/image18.svg"/><Relationship Id="rId15" Type="http://schemas.openxmlformats.org/officeDocument/2006/relationships/image" Target="../media/image26.svg"/><Relationship Id="rId10" Type="http://schemas.openxmlformats.org/officeDocument/2006/relationships/image" Target="../media/image7.png"/><Relationship Id="rId19" Type="http://schemas.openxmlformats.org/officeDocument/2006/relationships/image" Target="../media/image30.svg"/><Relationship Id="rId4" Type="http://schemas.openxmlformats.org/officeDocument/2006/relationships/image" Target="../media/image10.png"/><Relationship Id="rId9" Type="http://schemas.openxmlformats.org/officeDocument/2006/relationships/image" Target="../media/image22.svg"/><Relationship Id="rId14" Type="http://schemas.openxmlformats.org/officeDocument/2006/relationships/image" Target="../media/image14.png"/></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2.jpeg"/><Relationship Id="rId7" Type="http://schemas.openxmlformats.org/officeDocument/2006/relationships/image" Target="../media/image34.svg"/><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image" Target="../media/image18.png"/><Relationship Id="rId11" Type="http://schemas.openxmlformats.org/officeDocument/2006/relationships/image" Target="../media/image38.svg"/><Relationship Id="rId5" Type="http://schemas.openxmlformats.org/officeDocument/2006/relationships/image" Target="../media/image32.svg"/><Relationship Id="rId10" Type="http://schemas.openxmlformats.org/officeDocument/2006/relationships/image" Target="../media/image20.png"/><Relationship Id="rId4" Type="http://schemas.openxmlformats.org/officeDocument/2006/relationships/image" Target="../media/image17.png"/><Relationship Id="rId9" Type="http://schemas.openxmlformats.org/officeDocument/2006/relationships/image" Target="../media/image36.svg"/></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2.jpeg"/><Relationship Id="rId7" Type="http://schemas.openxmlformats.org/officeDocument/2006/relationships/image" Target="../media/image42.svg"/><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22.png"/><Relationship Id="rId5" Type="http://schemas.openxmlformats.org/officeDocument/2006/relationships/image" Target="../media/image40.svg"/><Relationship Id="rId4" Type="http://schemas.openxmlformats.org/officeDocument/2006/relationships/image" Target="../media/image21.png"/><Relationship Id="rId9" Type="http://schemas.openxmlformats.org/officeDocument/2006/relationships/image" Target="../media/image44.svg"/></Relationships>
</file>

<file path=ppt/slides/_rels/slide9.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jpeg"/><Relationship Id="rId7" Type="http://schemas.openxmlformats.org/officeDocument/2006/relationships/image" Target="../media/image48.svg"/><Relationship Id="rId2" Type="http://schemas.openxmlformats.org/officeDocument/2006/relationships/notesSlide" Target="../notesSlides/notesSlide9.xml"/><Relationship Id="rId1" Type="http://schemas.openxmlformats.org/officeDocument/2006/relationships/slideLayout" Target="../slideLayouts/slideLayout12.xml"/><Relationship Id="rId6" Type="http://schemas.openxmlformats.org/officeDocument/2006/relationships/image" Target="../media/image25.png"/><Relationship Id="rId5" Type="http://schemas.openxmlformats.org/officeDocument/2006/relationships/image" Target="../media/image46.svg"/><Relationship Id="rId4" Type="http://schemas.openxmlformats.org/officeDocument/2006/relationships/image" Target="../media/image24.png"/><Relationship Id="rId9" Type="http://schemas.openxmlformats.org/officeDocument/2006/relationships/image" Target="../media/image50.svg"/></Relationships>
</file>

<file path=ppt/slides/_rels/slide10.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10.xml"/><Relationship Id="rId1" Type="http://schemas.openxmlformats.org/officeDocument/2006/relationships/slideLayout" Target="../slideLayouts/slideLayout12.xml"/><Relationship Id="rId6" Type="http://schemas.openxmlformats.org/officeDocument/2006/relationships/image" Target="../media/image29.png"/><Relationship Id="rId5" Type="http://schemas.openxmlformats.org/officeDocument/2006/relationships/image" Target="../media/image53.svg"/><Relationship Id="rId4" Type="http://schemas.openxmlformats.org/officeDocument/2006/relationships/image" Target="../media/image28.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A0F1E">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A1428">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1187450" y="2809875"/>
            <a:ext cx="10160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600" b="1" i="0" u="none" strike="noStrike" dirty="0" err="1">
                <a:solidFill>
                  <a:srgbClr val="FFFFFF"/>
                </a:solidFill>
                <a:latin typeface="Noto Sans SC"/>
                <a:ea typeface="Noto Sans SC"/>
                <a:cs typeface="Noto Sans SC"/>
                <a:sym typeface="Noto Sans SC"/>
              </a:rPr>
              <a:t>分批要货数字化专项工作汇报</a:t>
            </a:r>
            <a:endParaRPr lang="en-US" sz="1100" dirty="0"/>
          </a:p>
        </p:txBody>
      </p:sp>
      <p:cxnSp>
        <p:nvCxnSpPr>
          <p:cNvPr id="6" name="Connector 6"/>
          <p:cNvCxnSpPr/>
          <p:nvPr/>
        </p:nvCxnSpPr>
        <p:spPr>
          <a:xfrm rot="-34376">
            <a:off x="5461032" y="3930650"/>
            <a:ext cx="1270000" cy="12700"/>
          </a:xfrm>
          <a:prstGeom prst="straightConnector1">
            <a:avLst/>
          </a:prstGeom>
          <a:solidFill>
            <a:srgbClr val="DEE0E3">
              <a:alpha val="100000"/>
            </a:srgbClr>
          </a:solidFill>
          <a:ln w="25400" cap="flat" cmpd="sng">
            <a:solidFill>
              <a:srgbClr val="4A90E2">
                <a:alpha val="100000"/>
              </a:srgbClr>
            </a:solidFill>
            <a:prstDash val="solid"/>
            <a:round/>
            <a:headEnd type="none" w="lg" len="lg"/>
            <a:tailEnd type="none" w="lg" len="lg"/>
          </a:ln>
        </p:spPr>
      </p:cxnSp>
      <p:sp>
        <p:nvSpPr>
          <p:cNvPr id="7" name="AutoShape 7"/>
          <p:cNvSpPr/>
          <p:nvPr/>
        </p:nvSpPr>
        <p:spPr>
          <a:xfrm>
            <a:off x="1016000" y="4191000"/>
            <a:ext cx="10160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C8C8C8"/>
                </a:solidFill>
                <a:latin typeface="Noto Sans SC"/>
                <a:ea typeface="Noto Sans SC"/>
                <a:cs typeface="Noto Sans SC"/>
                <a:sym typeface="Noto Sans SC"/>
              </a:rPr>
              <a:t>专项工作组 | 2026年2月</a:t>
            </a:r>
            <a:endParaRPr lang="en-US" sz="110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41414">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4" name="AutoShape 4"/>
          <p:cNvSpPr/>
          <p:nvPr/>
        </p:nvSpPr>
        <p:spPr>
          <a:xfrm>
            <a:off x="762000" y="1651000"/>
            <a:ext cx="10668000" cy="1016000"/>
          </a:xfrm>
          <a:prstGeom prst="roundRect">
            <a:avLst>
              <a:gd name="adj" fmla="val 12500"/>
            </a:avLst>
          </a:prstGeom>
          <a:solidFill>
            <a:srgbClr val="FFFFFF">
              <a:alpha val="8000"/>
            </a:srgbClr>
          </a:solidFill>
          <a:ln w="12700" cap="flat" cmpd="sng">
            <a:solidFill>
              <a:srgbClr val="4A90E2">
                <a:alpha val="3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016000" y="1905000"/>
            <a:ext cx="762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rgbClr val="4A90E2"/>
                </a:solidFill>
                <a:latin typeface="Poppins"/>
                <a:ea typeface="Poppins"/>
                <a:cs typeface="Poppins"/>
                <a:sym typeface="Poppins"/>
              </a:rPr>
              <a:t>01</a:t>
            </a:r>
            <a:endParaRPr lang="en-US" sz="1100"/>
          </a:p>
        </p:txBody>
      </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 xmlns:asvg="http://schemas.microsoft.com/office/drawing/2016/SVG/main" r:embed="rId5"/>
              </a:ext>
            </a:extLst>
          </a:blip>
          <a:stretch>
            <a:fillRect/>
          </a:stretch>
        </p:blipFill>
        <p:spPr>
          <a:xfrm>
            <a:off x="1905000" y="1981200"/>
            <a:ext cx="355600" cy="355600"/>
          </a:xfrm>
          <a:prstGeom prst="rect">
            <a:avLst/>
          </a:prstGeom>
        </p:spPr>
      </p:pic>
      <p:sp>
        <p:nvSpPr>
          <p:cNvPr id="7" name="AutoShape 7"/>
          <p:cNvSpPr/>
          <p:nvPr/>
        </p:nvSpPr>
        <p:spPr>
          <a:xfrm>
            <a:off x="2413000" y="1930400"/>
            <a:ext cx="762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0" i="0" u="none" strike="noStrike">
                <a:solidFill>
                  <a:srgbClr val="F5F5F7"/>
                </a:solidFill>
                <a:latin typeface="Noto Sans SC"/>
                <a:ea typeface="Noto Sans SC"/>
                <a:cs typeface="Noto Sans SC"/>
                <a:sym typeface="Noto Sans SC"/>
              </a:rPr>
              <a:t>项目背景与核心问题</a:t>
            </a:r>
            <a:endParaRPr lang="en-US" sz="1100"/>
          </a:p>
        </p:txBody>
      </p:sp>
      <p:sp>
        <p:nvSpPr>
          <p:cNvPr id="8" name="AutoShape 8"/>
          <p:cNvSpPr/>
          <p:nvPr/>
        </p:nvSpPr>
        <p:spPr>
          <a:xfrm>
            <a:off x="762000" y="2857500"/>
            <a:ext cx="10668000" cy="1016000"/>
          </a:xfrm>
          <a:prstGeom prst="roundRect">
            <a:avLst>
              <a:gd name="adj" fmla="val 12500"/>
            </a:avLst>
          </a:prstGeom>
          <a:solidFill>
            <a:srgbClr val="FFFFFF">
              <a:alpha val="8000"/>
            </a:srgbClr>
          </a:solidFill>
          <a:ln w="12700" cap="flat" cmpd="sng">
            <a:solidFill>
              <a:srgbClr val="4A90E2">
                <a:alpha val="30000"/>
              </a:srgbClr>
            </a:solid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1016000" y="3111500"/>
            <a:ext cx="762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rgbClr val="4A90E2"/>
                </a:solidFill>
                <a:latin typeface="Poppins"/>
                <a:ea typeface="Poppins"/>
                <a:cs typeface="Poppins"/>
                <a:sym typeface="Poppins"/>
              </a:rPr>
              <a:t>02</a:t>
            </a:r>
            <a:endParaRPr lang="en-US" sz="1100"/>
          </a:p>
        </p:txBody>
      </p:sp>
      <p:pic>
        <p:nvPicPr>
          <p:cNvPr id="10"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 xmlns:asvg="http://schemas.microsoft.com/office/drawing/2016/SVG/main" r:embed="rId7"/>
              </a:ext>
            </a:extLst>
          </a:blip>
          <a:stretch>
            <a:fillRect/>
          </a:stretch>
        </p:blipFill>
        <p:spPr>
          <a:xfrm>
            <a:off x="1905000" y="3187700"/>
            <a:ext cx="355600" cy="355600"/>
          </a:xfrm>
          <a:prstGeom prst="rect">
            <a:avLst/>
          </a:prstGeom>
        </p:spPr>
      </p:pic>
      <p:sp>
        <p:nvSpPr>
          <p:cNvPr id="11" name="AutoShape 11"/>
          <p:cNvSpPr/>
          <p:nvPr/>
        </p:nvSpPr>
        <p:spPr>
          <a:xfrm>
            <a:off x="2413000" y="3136900"/>
            <a:ext cx="762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0" i="0" u="none" strike="noStrike">
                <a:solidFill>
                  <a:srgbClr val="F5F5F7"/>
                </a:solidFill>
                <a:latin typeface="Noto Sans SC"/>
                <a:ea typeface="Noto Sans SC"/>
                <a:cs typeface="Noto Sans SC"/>
                <a:sym typeface="Noto Sans SC"/>
              </a:rPr>
              <a:t>分批要货现状与量化影响</a:t>
            </a:r>
            <a:endParaRPr lang="en-US" sz="1100"/>
          </a:p>
        </p:txBody>
      </p:sp>
      <p:sp>
        <p:nvSpPr>
          <p:cNvPr id="12" name="AutoShape 12"/>
          <p:cNvSpPr/>
          <p:nvPr/>
        </p:nvSpPr>
        <p:spPr>
          <a:xfrm>
            <a:off x="762000" y="4064000"/>
            <a:ext cx="10668000" cy="1016000"/>
          </a:xfrm>
          <a:prstGeom prst="roundRect">
            <a:avLst>
              <a:gd name="adj" fmla="val 12500"/>
            </a:avLst>
          </a:prstGeom>
          <a:solidFill>
            <a:srgbClr val="FFFFFF">
              <a:alpha val="8000"/>
            </a:srgbClr>
          </a:solidFill>
          <a:ln w="12700" cap="flat" cmpd="sng">
            <a:solidFill>
              <a:srgbClr val="4A90E2">
                <a:alpha val="30000"/>
              </a:srgbClr>
            </a:solid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1016000" y="4318000"/>
            <a:ext cx="762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rgbClr val="4A90E2"/>
                </a:solidFill>
                <a:latin typeface="Poppins"/>
                <a:ea typeface="Poppins"/>
                <a:cs typeface="Poppins"/>
                <a:sym typeface="Poppins"/>
              </a:rPr>
              <a:t>03</a:t>
            </a:r>
            <a:endParaRPr lang="en-US" sz="1100"/>
          </a:p>
        </p:txBody>
      </p:sp>
      <p:pic>
        <p:nvPicPr>
          <p:cNvPr id="14" name="Picture 14"/>
          <p:cNvPicPr>
            <a:picLocks noChangeAspect="1"/>
          </p:cNvPicPr>
          <p:nvPr/>
        </p:nvPicPr>
        <p:blipFill>
          <a:blip r:embed="rId8">
            <a:extLst>
              <a:ext uri="{28A0092B-C50C-407E-A947-70E740481C1C}">
                <a14:useLocalDpi xmlns:a14="http://schemas.microsoft.com/office/drawing/2010/main" val="0"/>
              </a:ext>
              <a:ext uri="{96DAC541-7B7A-43D3-8B79-37D633B846F1}">
                <asvg:svgBlip xmlns="" xmlns:asvg="http://schemas.microsoft.com/office/drawing/2016/SVG/main" r:embed="rId9"/>
              </a:ext>
            </a:extLst>
          </a:blip>
          <a:stretch>
            <a:fillRect/>
          </a:stretch>
        </p:blipFill>
        <p:spPr>
          <a:xfrm>
            <a:off x="1905000" y="4394200"/>
            <a:ext cx="355600" cy="355600"/>
          </a:xfrm>
          <a:prstGeom prst="rect">
            <a:avLst/>
          </a:prstGeom>
        </p:spPr>
      </p:pic>
      <p:sp>
        <p:nvSpPr>
          <p:cNvPr id="15" name="AutoShape 15"/>
          <p:cNvSpPr/>
          <p:nvPr/>
        </p:nvSpPr>
        <p:spPr>
          <a:xfrm>
            <a:off x="2413000" y="4343400"/>
            <a:ext cx="762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0" i="0" u="none" strike="noStrike" dirty="0" err="1">
                <a:solidFill>
                  <a:srgbClr val="F5F5F7"/>
                </a:solidFill>
                <a:latin typeface="Noto Sans SC"/>
                <a:ea typeface="Noto Sans SC"/>
                <a:cs typeface="Noto Sans SC"/>
                <a:sym typeface="Noto Sans SC"/>
              </a:rPr>
              <a:t>解决方案设计与目标</a:t>
            </a:r>
            <a:endParaRPr lang="en-US" sz="1100" dirty="0"/>
          </a:p>
        </p:txBody>
      </p:sp>
      <p:sp>
        <p:nvSpPr>
          <p:cNvPr id="16" name="AutoShape 16"/>
          <p:cNvSpPr/>
          <p:nvPr/>
        </p:nvSpPr>
        <p:spPr>
          <a:xfrm>
            <a:off x="762000" y="5270500"/>
            <a:ext cx="10668000" cy="1016000"/>
          </a:xfrm>
          <a:prstGeom prst="roundRect">
            <a:avLst>
              <a:gd name="adj" fmla="val 12500"/>
            </a:avLst>
          </a:prstGeom>
          <a:solidFill>
            <a:srgbClr val="FFFFFF">
              <a:alpha val="8000"/>
            </a:srgbClr>
          </a:solidFill>
          <a:ln w="12700" cap="flat" cmpd="sng">
            <a:solidFill>
              <a:srgbClr val="4A90E2">
                <a:alpha val="30000"/>
              </a:srgbClr>
            </a:solid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1016000" y="5524500"/>
            <a:ext cx="762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rgbClr val="4A90E2"/>
                </a:solidFill>
                <a:latin typeface="Poppins"/>
                <a:ea typeface="Poppins"/>
                <a:cs typeface="Poppins"/>
                <a:sym typeface="Poppins"/>
              </a:rPr>
              <a:t>04</a:t>
            </a:r>
            <a:endParaRPr lang="en-US" sz="1100"/>
          </a:p>
        </p:txBody>
      </p:sp>
      <p:pic>
        <p:nvPicPr>
          <p:cNvPr id="18" name="Picture 18"/>
          <p:cNvPicPr>
            <a:picLocks noChangeAspect="1"/>
          </p:cNvPicPr>
          <p:nvPr/>
        </p:nvPicPr>
        <p:blipFill>
          <a:blip r:embed="rId10">
            <a:extLst>
              <a:ext uri="{28A0092B-C50C-407E-A947-70E740481C1C}">
                <a14:useLocalDpi xmlns:a14="http://schemas.microsoft.com/office/drawing/2010/main" val="0"/>
              </a:ext>
              <a:ext uri="{96DAC541-7B7A-43D3-8B79-37D633B846F1}">
                <asvg:svgBlip xmlns="" xmlns:asvg="http://schemas.microsoft.com/office/drawing/2016/SVG/main" r:embed="rId11"/>
              </a:ext>
            </a:extLst>
          </a:blip>
          <a:stretch>
            <a:fillRect/>
          </a:stretch>
        </p:blipFill>
        <p:spPr>
          <a:xfrm>
            <a:off x="1905000" y="5600700"/>
            <a:ext cx="355600" cy="355600"/>
          </a:xfrm>
          <a:prstGeom prst="rect">
            <a:avLst/>
          </a:prstGeom>
        </p:spPr>
      </p:pic>
      <p:sp>
        <p:nvSpPr>
          <p:cNvPr id="19" name="AutoShape 19"/>
          <p:cNvSpPr/>
          <p:nvPr/>
        </p:nvSpPr>
        <p:spPr>
          <a:xfrm>
            <a:off x="2413000" y="5549900"/>
            <a:ext cx="762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0" i="0" u="none" strike="noStrike">
                <a:solidFill>
                  <a:srgbClr val="F5F5F7"/>
                </a:solidFill>
                <a:latin typeface="Noto Sans SC"/>
                <a:ea typeface="Noto Sans SC"/>
                <a:cs typeface="Noto Sans SC"/>
                <a:sym typeface="Noto Sans SC"/>
              </a:rPr>
              <a:t>推进争议与待决策事项</a:t>
            </a:r>
            <a:endParaRPr lang="en-US" sz="110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1651000" y="206375"/>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dirty="0" err="1">
                <a:solidFill>
                  <a:srgbClr val="FFFFFF"/>
                </a:solidFill>
                <a:latin typeface="Noto Sans SC"/>
                <a:ea typeface="Noto Sans SC"/>
                <a:cs typeface="Noto Sans SC"/>
                <a:sym typeface="Noto Sans SC"/>
              </a:rPr>
              <a:t>项目背景与核心问题</a:t>
            </a:r>
            <a:endParaRPr lang="en-US" sz="1100" dirty="0"/>
          </a:p>
        </p:txBody>
      </p:sp>
      <p:sp>
        <p:nvSpPr>
          <p:cNvPr id="3" name="AutoShape 3"/>
          <p:cNvSpPr/>
          <p:nvPr/>
        </p:nvSpPr>
        <p:spPr>
          <a:xfrm>
            <a:off x="762000" y="1524000"/>
            <a:ext cx="5207000" cy="3302000"/>
          </a:xfrm>
          <a:prstGeom prst="roundRect">
            <a:avLst>
              <a:gd name="adj" fmla="val 3846"/>
            </a:avLst>
          </a:prstGeom>
          <a:solidFill>
            <a:srgbClr val="FFFFFF">
              <a:alpha val="8000"/>
            </a:srgbClr>
          </a:solidFill>
          <a:ln w="12700" cap="flat" cmpd="sng">
            <a:solidFill>
              <a:srgbClr val="4A90E2">
                <a:alpha val="30000"/>
              </a:srgbClr>
            </a:solidFill>
            <a:prstDash val="solid"/>
            <a:round/>
          </a:ln>
        </p:spPr>
        <p:txBody>
          <a:bodyPr vert="horz" wrap="square" lIns="63500" tIns="63500" rIns="63500" bIns="63500" rtlCol="0" anchor="ctr"/>
          <a:lstStyle/>
          <a:p>
            <a:pPr algn="ctr">
              <a:defRPr/>
            </a:pPr>
            <a:endParaRPr/>
          </a:p>
        </p:txBody>
      </p:sp>
      <p:pic>
        <p:nvPicPr>
          <p:cNvPr id="4" name="Picture 4"/>
          <p:cNvPicPr>
            <a:picLocks noChangeAspect="1"/>
          </p:cNvPicPr>
          <p:nvPr/>
        </p:nvPicPr>
        <p:blipFill>
          <a:blip r:embed="rId4">
            <a:extLst>
              <a:ext uri="{28A0092B-C50C-407E-A947-70E740481C1C}">
                <a14:useLocalDpi xmlns:a14="http://schemas.microsoft.com/office/drawing/2010/main" val="0"/>
              </a:ext>
              <a:ext uri="{96DAC541-7B7A-43D3-8B79-37D633B846F1}">
                <asvg:svgBlip xmlns="" xmlns:asvg="http://schemas.microsoft.com/office/drawing/2016/SVG/main" r:embed="rId5"/>
              </a:ext>
            </a:extLst>
          </a:blip>
          <a:stretch>
            <a:fillRect/>
          </a:stretch>
        </p:blipFill>
        <p:spPr>
          <a:xfrm>
            <a:off x="1016000" y="1778000"/>
            <a:ext cx="406400" cy="406400"/>
          </a:xfrm>
          <a:prstGeom prst="rect">
            <a:avLst/>
          </a:prstGeom>
        </p:spPr>
      </p:pic>
      <p:sp>
        <p:nvSpPr>
          <p:cNvPr id="5" name="AutoShape 5"/>
          <p:cNvSpPr/>
          <p:nvPr/>
        </p:nvSpPr>
        <p:spPr>
          <a:xfrm>
            <a:off x="1524000" y="1778000"/>
            <a:ext cx="4191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2000" b="1" i="0" u="none" strike="noStrike" dirty="0" smtClean="0">
                <a:solidFill>
                  <a:srgbClr val="4A90E2"/>
                </a:solidFill>
                <a:latin typeface="Noto Sans SC"/>
                <a:ea typeface="Noto Sans SC"/>
                <a:cs typeface="Noto Sans SC"/>
                <a:sym typeface="Noto Sans SC"/>
              </a:rPr>
              <a:t>分批要货信息无法准确输入</a:t>
            </a:r>
            <a:endParaRPr lang="en-US" sz="1100" dirty="0"/>
          </a:p>
        </p:txBody>
      </p:sp>
      <p:cxnSp>
        <p:nvCxnSpPr>
          <p:cNvPr id="6" name="Connector 6"/>
          <p:cNvCxnSpPr/>
          <p:nvPr/>
        </p:nvCxnSpPr>
        <p:spPr>
          <a:xfrm rot="-9291">
            <a:off x="1016009" y="2279650"/>
            <a:ext cx="4699000" cy="12700"/>
          </a:xfrm>
          <a:prstGeom prst="straightConnector1">
            <a:avLst/>
          </a:prstGeom>
          <a:solidFill>
            <a:srgbClr val="DEE0E3">
              <a:alpha val="100000"/>
            </a:srgbClr>
          </a:solidFill>
          <a:ln w="12700" cap="flat" cmpd="sng">
            <a:solidFill>
              <a:srgbClr val="FFFFFF">
                <a:alpha val="15000"/>
              </a:srgbClr>
            </a:solidFill>
            <a:prstDash val="solid"/>
            <a:round/>
            <a:headEnd type="none" w="med" len="med"/>
            <a:tailEnd type="none" w="med" len="med"/>
          </a:ln>
        </p:spPr>
      </p:cxnSp>
      <p:sp>
        <p:nvSpPr>
          <p:cNvPr id="7" name="AutoShape 7"/>
          <p:cNvSpPr/>
          <p:nvPr/>
        </p:nvSpPr>
        <p:spPr>
          <a:xfrm>
            <a:off x="1016000" y="2413000"/>
            <a:ext cx="4699000" cy="2159000"/>
          </a:xfrm>
          <a:prstGeom prst="rect">
            <a:avLst/>
          </a:prstGeom>
          <a:noFill/>
          <a:ln w="12700" cap="flat" cmpd="sng">
            <a:noFill/>
            <a:prstDash val="solid"/>
            <a:round/>
          </a:ln>
        </p:spPr>
        <p:txBody>
          <a:bodyPr vert="horz" wrap="square" lIns="0" tIns="0" rIns="0" bIns="0" rtlCol="0" anchor="ctr" anchorCtr="0"/>
          <a:lstStyle/>
          <a:p>
            <a:pPr marL="203200" indent="-203200" algn="l">
              <a:lnSpc>
                <a:spcPct val="125000"/>
              </a:lnSpc>
              <a:buClr>
                <a:srgbClr val="F5F5F7"/>
              </a:buClr>
              <a:buChar char="•"/>
              <a:defRPr/>
            </a:pPr>
            <a:r>
              <a:rPr lang="en-US" sz="1600" b="1" i="0" u="none" strike="noStrike" dirty="0" err="1">
                <a:solidFill>
                  <a:srgbClr val="F5F5F7"/>
                </a:solidFill>
                <a:latin typeface="Noto Sans SC"/>
                <a:ea typeface="Noto Sans SC"/>
                <a:cs typeface="Noto Sans SC"/>
                <a:sym typeface="Noto Sans SC"/>
              </a:rPr>
              <a:t>数据失真</a:t>
            </a:r>
            <a:r>
              <a:rPr lang="en-US" sz="1600" b="1" i="0" u="none" strike="noStrike" dirty="0" smtClean="0">
                <a:solidFill>
                  <a:srgbClr val="F5F5F7"/>
                </a:solidFill>
                <a:latin typeface="Noto Sans SC"/>
                <a:ea typeface="Noto Sans SC"/>
                <a:cs typeface="Noto Sans SC"/>
                <a:sym typeface="Noto Sans SC"/>
              </a:rPr>
              <a:t>：</a:t>
            </a:r>
            <a:r>
              <a:rPr lang="zh-CN" altLang="en-US" sz="1600" b="0" i="0" u="none" strike="noStrike" dirty="0" smtClean="0">
                <a:solidFill>
                  <a:srgbClr val="F5F5F7">
                    <a:alpha val="80000"/>
                  </a:srgbClr>
                </a:solidFill>
                <a:latin typeface="Noto Sans SC"/>
                <a:ea typeface="Noto Sans SC"/>
                <a:cs typeface="Noto Sans SC"/>
                <a:sym typeface="Noto Sans SC"/>
              </a:rPr>
              <a:t>分批</a:t>
            </a:r>
            <a:r>
              <a:rPr lang="zh-CN" altLang="en-US" sz="1600" b="0" i="0" u="none" strike="noStrike" dirty="0" smtClean="0">
                <a:solidFill>
                  <a:srgbClr val="F5F5F7">
                    <a:alpha val="80000"/>
                  </a:srgbClr>
                </a:solidFill>
                <a:latin typeface="Noto Sans SC"/>
                <a:ea typeface="Noto Sans SC"/>
                <a:cs typeface="Noto Sans SC"/>
                <a:sym typeface="Noto Sans SC"/>
              </a:rPr>
              <a:t>要</a:t>
            </a:r>
            <a:r>
              <a:rPr lang="zh-CN" altLang="en-US" sz="1600" b="0" i="0" u="none" strike="noStrike" dirty="0" smtClean="0">
                <a:solidFill>
                  <a:srgbClr val="F5F5F7">
                    <a:alpha val="80000"/>
                  </a:srgbClr>
                </a:solidFill>
                <a:latin typeface="Noto Sans SC"/>
                <a:ea typeface="Noto Sans SC"/>
                <a:cs typeface="Noto Sans SC"/>
                <a:sym typeface="Noto Sans SC"/>
              </a:rPr>
              <a:t>货业务是整个销售预测流程中的场景之一，由于现有系统的局限性，导致分批计划数据输入不</a:t>
            </a:r>
            <a:r>
              <a:rPr lang="zh-CN" altLang="en-US" sz="1600" b="0" i="0" u="none" strike="noStrike" dirty="0" smtClean="0">
                <a:solidFill>
                  <a:srgbClr val="F5F5F7">
                    <a:alpha val="80000"/>
                  </a:srgbClr>
                </a:solidFill>
                <a:latin typeface="Noto Sans SC"/>
                <a:ea typeface="Noto Sans SC"/>
                <a:cs typeface="Noto Sans SC"/>
                <a:sym typeface="Noto Sans SC"/>
              </a:rPr>
              <a:t>质量</a:t>
            </a:r>
            <a:endParaRPr lang="en-US" altLang="zh-CN" sz="1600" b="0" i="0" u="none" strike="noStrike" dirty="0" smtClean="0">
              <a:solidFill>
                <a:srgbClr val="F5F5F7">
                  <a:alpha val="80000"/>
                </a:srgbClr>
              </a:solidFill>
              <a:latin typeface="Noto Sans SC"/>
              <a:ea typeface="Noto Sans SC"/>
              <a:cs typeface="Noto Sans SC"/>
              <a:sym typeface="Noto Sans SC"/>
            </a:endParaRPr>
          </a:p>
          <a:p>
            <a:pPr marL="203200" indent="-203200" algn="l">
              <a:lnSpc>
                <a:spcPct val="125000"/>
              </a:lnSpc>
              <a:buClr>
                <a:srgbClr val="F5F5F7"/>
              </a:buClr>
              <a:buChar char="•"/>
              <a:defRPr/>
            </a:pPr>
            <a:r>
              <a:rPr lang="en-US" sz="1600" b="1" i="0" u="none" strike="noStrike" dirty="0" err="1" smtClean="0">
                <a:solidFill>
                  <a:srgbClr val="F5F5F7"/>
                </a:solidFill>
                <a:latin typeface="Noto Sans SC"/>
                <a:ea typeface="Noto Sans SC"/>
                <a:cs typeface="Noto Sans SC"/>
                <a:sym typeface="Noto Sans SC"/>
              </a:rPr>
              <a:t>核心痛点</a:t>
            </a:r>
            <a:r>
              <a:rPr lang="en-US" sz="1600" b="1" i="0" u="none" strike="noStrike" dirty="0" smtClean="0">
                <a:solidFill>
                  <a:srgbClr val="F5F5F7"/>
                </a:solidFill>
                <a:latin typeface="Noto Sans SC"/>
                <a:ea typeface="Noto Sans SC"/>
                <a:cs typeface="Noto Sans SC"/>
                <a:sym typeface="Noto Sans SC"/>
              </a:rPr>
              <a:t>：</a:t>
            </a:r>
            <a:r>
              <a:rPr lang="zh-CN" altLang="en-US" sz="1600" i="0" u="none" strike="noStrike" dirty="0" smtClean="0">
                <a:solidFill>
                  <a:srgbClr val="F5F5F7"/>
                </a:solidFill>
                <a:latin typeface="Noto Sans SC"/>
                <a:ea typeface="Noto Sans SC"/>
                <a:cs typeface="Noto Sans SC"/>
                <a:sym typeface="Noto Sans SC"/>
              </a:rPr>
              <a:t>缺乏有效的</a:t>
            </a:r>
            <a:r>
              <a:rPr lang="en-US" altLang="zh-CN" sz="1600" i="0" u="none" strike="noStrike" dirty="0" smtClean="0">
                <a:solidFill>
                  <a:srgbClr val="F5F5F7"/>
                </a:solidFill>
                <a:latin typeface="Noto Sans SC"/>
                <a:ea typeface="Noto Sans SC"/>
                <a:cs typeface="Noto Sans SC"/>
                <a:sym typeface="Noto Sans SC"/>
              </a:rPr>
              <a:t>IT</a:t>
            </a:r>
            <a:r>
              <a:rPr lang="zh-CN" altLang="en-US" sz="1600" i="0" u="none" strike="noStrike" dirty="0" smtClean="0">
                <a:solidFill>
                  <a:srgbClr val="F5F5F7"/>
                </a:solidFill>
                <a:latin typeface="Noto Sans SC"/>
                <a:ea typeface="Noto Sans SC"/>
                <a:cs typeface="Noto Sans SC"/>
                <a:sym typeface="Noto Sans SC"/>
              </a:rPr>
              <a:t>系统功能</a:t>
            </a:r>
            <a:r>
              <a:rPr lang="zh-CN" altLang="en-US" sz="1600" dirty="0" smtClean="0">
                <a:solidFill>
                  <a:srgbClr val="F5F5F7">
                    <a:alpha val="80000"/>
                  </a:srgbClr>
                </a:solidFill>
                <a:latin typeface="Noto Sans SC"/>
                <a:ea typeface="Noto Sans SC"/>
                <a:cs typeface="Noto Sans SC"/>
                <a:sym typeface="Noto Sans SC"/>
              </a:rPr>
              <a:t>支持分批计划的管理与有效传递</a:t>
            </a:r>
            <a:endParaRPr lang="en-US" sz="1600" b="0" i="0" u="none" strike="noStrike" dirty="0">
              <a:solidFill>
                <a:srgbClr val="F5F5F7">
                  <a:alpha val="80000"/>
                </a:srgbClr>
              </a:solidFill>
              <a:latin typeface="Noto Sans SC"/>
              <a:ea typeface="Noto Sans SC"/>
              <a:cs typeface="Noto Sans SC"/>
              <a:sym typeface="Noto Sans SC"/>
            </a:endParaRPr>
          </a:p>
        </p:txBody>
      </p:sp>
      <p:sp>
        <p:nvSpPr>
          <p:cNvPr id="8" name="AutoShape 8"/>
          <p:cNvSpPr/>
          <p:nvPr/>
        </p:nvSpPr>
        <p:spPr>
          <a:xfrm>
            <a:off x="6223000" y="1524000"/>
            <a:ext cx="5207000" cy="3302000"/>
          </a:xfrm>
          <a:prstGeom prst="roundRect">
            <a:avLst>
              <a:gd name="adj" fmla="val 3846"/>
            </a:avLst>
          </a:prstGeom>
          <a:solidFill>
            <a:srgbClr val="FFFFFF">
              <a:alpha val="8000"/>
            </a:srgbClr>
          </a:solidFill>
          <a:ln w="12700" cap="flat" cmpd="sng">
            <a:solidFill>
              <a:srgbClr val="4A90E2">
                <a:alpha val="30000"/>
              </a:srgbClr>
            </a:solidFill>
            <a:prstDash val="solid"/>
            <a:round/>
          </a:ln>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r:embed="rId6">
            <a:extLst>
              <a:ext uri="{28A0092B-C50C-407E-A947-70E740481C1C}">
                <a14:useLocalDpi xmlns:a14="http://schemas.microsoft.com/office/drawing/2010/main" val="0"/>
              </a:ext>
              <a:ext uri="{96DAC541-7B7A-43D3-8B79-37D633B846F1}">
                <asvg:svgBlip xmlns="" xmlns:asvg="http://schemas.microsoft.com/office/drawing/2016/SVG/main" r:embed="rId7"/>
              </a:ext>
            </a:extLst>
          </a:blip>
          <a:stretch>
            <a:fillRect/>
          </a:stretch>
        </p:blipFill>
        <p:spPr>
          <a:xfrm>
            <a:off x="6477000" y="1778000"/>
            <a:ext cx="406400" cy="406400"/>
          </a:xfrm>
          <a:prstGeom prst="rect">
            <a:avLst/>
          </a:prstGeom>
        </p:spPr>
      </p:pic>
      <p:sp>
        <p:nvSpPr>
          <p:cNvPr id="10" name="AutoShape 10"/>
          <p:cNvSpPr/>
          <p:nvPr/>
        </p:nvSpPr>
        <p:spPr>
          <a:xfrm>
            <a:off x="6985000" y="1778000"/>
            <a:ext cx="4191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4A90E2"/>
                </a:solidFill>
                <a:latin typeface="Noto Sans SC"/>
                <a:ea typeface="Noto Sans SC"/>
                <a:cs typeface="Noto Sans SC"/>
                <a:sym typeface="Noto Sans SC"/>
              </a:rPr>
              <a:t>后端供应链连锁反应</a:t>
            </a:r>
            <a:endParaRPr lang="en-US" sz="1100"/>
          </a:p>
        </p:txBody>
      </p:sp>
      <p:cxnSp>
        <p:nvCxnSpPr>
          <p:cNvPr id="11" name="Connector 11"/>
          <p:cNvCxnSpPr/>
          <p:nvPr/>
        </p:nvCxnSpPr>
        <p:spPr>
          <a:xfrm rot="-9291">
            <a:off x="6477009" y="2279650"/>
            <a:ext cx="4699000" cy="12700"/>
          </a:xfrm>
          <a:prstGeom prst="straightConnector1">
            <a:avLst/>
          </a:prstGeom>
          <a:solidFill>
            <a:srgbClr val="DEE0E3">
              <a:alpha val="100000"/>
            </a:srgbClr>
          </a:solidFill>
          <a:ln w="12700" cap="flat" cmpd="sng">
            <a:solidFill>
              <a:srgbClr val="FFFFFF">
                <a:alpha val="15000"/>
              </a:srgbClr>
            </a:solidFill>
            <a:prstDash val="solid"/>
            <a:round/>
            <a:headEnd type="none" w="med" len="med"/>
            <a:tailEnd type="none" w="med" len="med"/>
          </a:ln>
        </p:spPr>
      </p:cxnSp>
      <p:sp>
        <p:nvSpPr>
          <p:cNvPr id="12" name="AutoShape 12"/>
          <p:cNvSpPr/>
          <p:nvPr/>
        </p:nvSpPr>
        <p:spPr>
          <a:xfrm>
            <a:off x="6477000" y="2413000"/>
            <a:ext cx="4699000" cy="2159000"/>
          </a:xfrm>
          <a:prstGeom prst="rect">
            <a:avLst/>
          </a:prstGeom>
          <a:noFill/>
          <a:ln w="12700" cap="flat" cmpd="sng">
            <a:noFill/>
            <a:prstDash val="solid"/>
            <a:round/>
          </a:ln>
        </p:spPr>
        <p:txBody>
          <a:bodyPr vert="horz" wrap="square" lIns="0" tIns="0" rIns="0" bIns="0" rtlCol="0" anchor="ctr" anchorCtr="0"/>
          <a:lstStyle/>
          <a:p>
            <a:pPr marL="203200" indent="-203200" algn="l">
              <a:lnSpc>
                <a:spcPct val="125000"/>
              </a:lnSpc>
              <a:buClr>
                <a:srgbClr val="F5F5F7"/>
              </a:buClr>
              <a:buChar char="•"/>
              <a:defRPr/>
            </a:pPr>
            <a:r>
              <a:rPr lang="en-US" sz="1600" b="1" i="0" u="none" strike="noStrike" dirty="0" err="1">
                <a:solidFill>
                  <a:srgbClr val="F5F5F7"/>
                </a:solidFill>
                <a:latin typeface="Noto Sans SC"/>
                <a:ea typeface="Noto Sans SC"/>
                <a:cs typeface="Noto Sans SC"/>
                <a:sym typeface="Noto Sans SC"/>
              </a:rPr>
              <a:t>运营低效：</a:t>
            </a:r>
            <a:r>
              <a:rPr lang="en-US" sz="1600" b="0" i="0" u="none" strike="noStrike" dirty="0" err="1">
                <a:solidFill>
                  <a:srgbClr val="F5F5F7">
                    <a:alpha val="80000"/>
                  </a:srgbClr>
                </a:solidFill>
                <a:latin typeface="Noto Sans SC"/>
                <a:ea typeface="Noto Sans SC"/>
                <a:cs typeface="Noto Sans SC"/>
                <a:sym typeface="Noto Sans SC"/>
              </a:rPr>
              <a:t>备货精准度低，缺料与囤货并存，库存周转受阻</a:t>
            </a:r>
            <a:r>
              <a:rPr lang="en-US" sz="1600" b="0" i="0" u="none" strike="noStrike" dirty="0">
                <a:solidFill>
                  <a:srgbClr val="F5F5F7">
                    <a:alpha val="80000"/>
                  </a:srgbClr>
                </a:solidFill>
                <a:latin typeface="Noto Sans SC"/>
                <a:ea typeface="Noto Sans SC"/>
                <a:cs typeface="Noto Sans SC"/>
                <a:sym typeface="Noto Sans SC"/>
              </a:rPr>
              <a:t>。</a:t>
            </a:r>
            <a:endParaRPr lang="en-US" sz="1100" dirty="0"/>
          </a:p>
          <a:p>
            <a:pPr marL="203200" indent="-203200" algn="l">
              <a:lnSpc>
                <a:spcPct val="125000"/>
              </a:lnSpc>
              <a:buClr>
                <a:srgbClr val="F5F5F7"/>
              </a:buClr>
              <a:buChar char="•"/>
            </a:pPr>
            <a:r>
              <a:rPr lang="en-US" sz="1600" b="1" i="0" u="none" strike="noStrike" dirty="0" err="1">
                <a:solidFill>
                  <a:srgbClr val="F5F5F7"/>
                </a:solidFill>
                <a:latin typeface="Noto Sans SC"/>
                <a:ea typeface="Noto Sans SC"/>
                <a:cs typeface="Noto Sans SC"/>
                <a:sym typeface="Noto Sans SC"/>
              </a:rPr>
              <a:t>成本高企：</a:t>
            </a:r>
            <a:r>
              <a:rPr lang="en-US" sz="1600" b="0" i="0" u="none" strike="noStrike" dirty="0" err="1">
                <a:solidFill>
                  <a:srgbClr val="F5F5F7">
                    <a:alpha val="80000"/>
                  </a:srgbClr>
                </a:solidFill>
                <a:latin typeface="Noto Sans SC"/>
                <a:ea typeface="Noto Sans SC"/>
                <a:cs typeface="Noto Sans SC"/>
                <a:sym typeface="Noto Sans SC"/>
              </a:rPr>
              <a:t>紧急采购与加急物流频发，供应成本居高不下</a:t>
            </a:r>
            <a:r>
              <a:rPr lang="en-US" sz="1600" b="0" i="0" u="none" strike="noStrike" dirty="0">
                <a:solidFill>
                  <a:srgbClr val="F5F5F7">
                    <a:alpha val="80000"/>
                  </a:srgbClr>
                </a:solidFill>
                <a:latin typeface="Noto Sans SC"/>
                <a:ea typeface="Noto Sans SC"/>
                <a:cs typeface="Noto Sans SC"/>
                <a:sym typeface="Noto Sans SC"/>
              </a:rPr>
              <a:t>。</a:t>
            </a:r>
          </a:p>
          <a:p>
            <a:pPr marL="203200" indent="-203200" algn="l">
              <a:lnSpc>
                <a:spcPct val="125000"/>
              </a:lnSpc>
              <a:buClr>
                <a:srgbClr val="F5F5F7"/>
              </a:buClr>
              <a:buChar char="•"/>
            </a:pPr>
            <a:r>
              <a:rPr lang="en-US" sz="1600" b="1" i="0" u="none" strike="noStrike" dirty="0" err="1">
                <a:solidFill>
                  <a:srgbClr val="F5F5F7"/>
                </a:solidFill>
                <a:latin typeface="Noto Sans SC"/>
                <a:ea typeface="Noto Sans SC"/>
                <a:cs typeface="Noto Sans SC"/>
                <a:sym typeface="Noto Sans SC"/>
              </a:rPr>
              <a:t>业务风险：</a:t>
            </a:r>
            <a:r>
              <a:rPr lang="en-US" sz="1600" b="0" i="0" u="none" strike="noStrike" dirty="0" err="1">
                <a:solidFill>
                  <a:srgbClr val="F5F5F7">
                    <a:alpha val="80000"/>
                  </a:srgbClr>
                </a:solidFill>
                <a:latin typeface="Noto Sans SC"/>
                <a:ea typeface="Noto Sans SC"/>
                <a:cs typeface="Noto Sans SC"/>
                <a:sym typeface="Noto Sans SC"/>
              </a:rPr>
              <a:t>交付延迟导致客户投诉，直接影响业绩达成</a:t>
            </a:r>
            <a:r>
              <a:rPr lang="en-US" sz="1600" b="0" i="0" u="none" strike="noStrike" dirty="0">
                <a:solidFill>
                  <a:srgbClr val="F5F5F7">
                    <a:alpha val="80000"/>
                  </a:srgbClr>
                </a:solidFill>
                <a:latin typeface="Noto Sans SC"/>
                <a:ea typeface="Noto Sans SC"/>
                <a:cs typeface="Noto Sans SC"/>
                <a:sym typeface="Noto Sans SC"/>
              </a:rPr>
              <a:t>。</a:t>
            </a:r>
          </a:p>
        </p:txBody>
      </p:sp>
      <p:sp>
        <p:nvSpPr>
          <p:cNvPr id="13" name="AutoShape 13"/>
          <p:cNvSpPr/>
          <p:nvPr/>
        </p:nvSpPr>
        <p:spPr>
          <a:xfrm>
            <a:off x="762000" y="5080000"/>
            <a:ext cx="10668000" cy="1270000"/>
          </a:xfrm>
          <a:prstGeom prst="roundRect">
            <a:avLst>
              <a:gd name="adj" fmla="val 10000"/>
            </a:avLst>
          </a:prstGeom>
          <a:solidFill>
            <a:srgbClr val="4A90E2">
              <a:alpha val="15000"/>
            </a:srgbClr>
          </a:solidFill>
          <a:ln w="12700" cap="flat" cmpd="sng">
            <a:solidFill>
              <a:srgbClr val="4A90E2">
                <a:alpha val="50000"/>
              </a:srgbClr>
            </a:solid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r:embed="rId8">
            <a:extLst>
              <a:ext uri="{28A0092B-C50C-407E-A947-70E740481C1C}">
                <a14:useLocalDpi xmlns:a14="http://schemas.microsoft.com/office/drawing/2010/main" val="0"/>
              </a:ext>
              <a:ext uri="{96DAC541-7B7A-43D3-8B79-37D633B846F1}">
                <asvg:svgBlip xmlns="" xmlns:asvg="http://schemas.microsoft.com/office/drawing/2016/SVG/main" r:embed="rId9"/>
              </a:ext>
            </a:extLst>
          </a:blip>
          <a:stretch>
            <a:fillRect/>
          </a:stretch>
        </p:blipFill>
        <p:spPr>
          <a:xfrm>
            <a:off x="1016000" y="5334000"/>
            <a:ext cx="406400" cy="406400"/>
          </a:xfrm>
          <a:prstGeom prst="rect">
            <a:avLst/>
          </a:prstGeom>
        </p:spPr>
      </p:pic>
      <p:sp>
        <p:nvSpPr>
          <p:cNvPr id="15" name="AutoShape 15"/>
          <p:cNvSpPr/>
          <p:nvPr/>
        </p:nvSpPr>
        <p:spPr>
          <a:xfrm>
            <a:off x="1524000" y="5334000"/>
            <a:ext cx="9652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dirty="0" err="1">
                <a:solidFill>
                  <a:srgbClr val="FFFFFF"/>
                </a:solidFill>
                <a:latin typeface="Noto Sans SC"/>
                <a:ea typeface="Noto Sans SC"/>
                <a:cs typeface="Noto Sans SC"/>
                <a:sym typeface="Noto Sans SC"/>
              </a:rPr>
              <a:t>专项组关键发现</a:t>
            </a:r>
            <a:r>
              <a:rPr lang="en-US" sz="1800" b="1" i="0" u="none" strike="noStrike" dirty="0">
                <a:solidFill>
                  <a:srgbClr val="FFFFFF"/>
                </a:solidFill>
                <a:latin typeface="Noto Sans SC"/>
                <a:ea typeface="Noto Sans SC"/>
                <a:cs typeface="Noto Sans SC"/>
                <a:sym typeface="Noto Sans SC"/>
              </a:rPr>
              <a:t>：“</a:t>
            </a:r>
            <a:r>
              <a:rPr lang="en-US" sz="1800" b="1" i="0" u="none" strike="noStrike" dirty="0" err="1">
                <a:solidFill>
                  <a:srgbClr val="FFFFFF"/>
                </a:solidFill>
                <a:latin typeface="Noto Sans SC"/>
                <a:ea typeface="Noto Sans SC"/>
                <a:cs typeface="Noto Sans SC"/>
                <a:sym typeface="Noto Sans SC"/>
              </a:rPr>
              <a:t>分批要货”</a:t>
            </a:r>
            <a:r>
              <a:rPr lang="en-US" sz="1800" b="1" i="0" u="none" strike="noStrike" dirty="0" err="1" smtClean="0">
                <a:solidFill>
                  <a:srgbClr val="FFFFFF"/>
                </a:solidFill>
                <a:latin typeface="Noto Sans SC"/>
                <a:ea typeface="Noto Sans SC"/>
                <a:cs typeface="Noto Sans SC"/>
                <a:sym typeface="Noto Sans SC"/>
              </a:rPr>
              <a:t>是影响备货准确率的</a:t>
            </a:r>
            <a:r>
              <a:rPr lang="zh-CN" altLang="en-US" sz="1800" b="1" i="0" u="none" strike="noStrike" dirty="0" smtClean="0">
                <a:solidFill>
                  <a:srgbClr val="FFFFFF"/>
                </a:solidFill>
                <a:latin typeface="Noto Sans SC"/>
                <a:ea typeface="Noto Sans SC"/>
                <a:cs typeface="Noto Sans SC"/>
                <a:sym typeface="Noto Sans SC"/>
              </a:rPr>
              <a:t>变量之一</a:t>
            </a:r>
            <a:endParaRPr lang="en-US" sz="1100" dirty="0"/>
          </a:p>
        </p:txBody>
      </p:sp>
      <p:sp>
        <p:nvSpPr>
          <p:cNvPr id="16" name="AutoShape 16"/>
          <p:cNvSpPr/>
          <p:nvPr/>
        </p:nvSpPr>
        <p:spPr>
          <a:xfrm>
            <a:off x="1524000" y="5740400"/>
            <a:ext cx="9652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F5F5F7">
                    <a:alpha val="70196"/>
                  </a:srgbClr>
                </a:solidFill>
                <a:latin typeface="Noto Sans SC"/>
                <a:ea typeface="Noto Sans SC"/>
                <a:cs typeface="Noto Sans SC"/>
                <a:sym typeface="Noto Sans SC"/>
              </a:rPr>
              <a:t>经深度分析，该场景直接导致需求信号断裂，是供应链预测不准的主要诱因之一。</a:t>
            </a:r>
            <a:endParaRPr lang="en-US" sz="110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1714500" y="1397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dirty="0" err="1">
                <a:solidFill>
                  <a:srgbClr val="FFFFFF"/>
                </a:solidFill>
                <a:latin typeface="Noto Sans SC"/>
                <a:ea typeface="Noto Sans SC"/>
                <a:cs typeface="Noto Sans SC"/>
                <a:sym typeface="Noto Sans SC"/>
              </a:rPr>
              <a:t>分批要货现状与量化影响</a:t>
            </a:r>
            <a:r>
              <a:rPr lang="en-US" sz="3200" b="1" i="0" u="none" strike="noStrike" dirty="0">
                <a:solidFill>
                  <a:srgbClr val="FFFFFF"/>
                </a:solidFill>
                <a:latin typeface="Noto Sans SC"/>
                <a:ea typeface="Noto Sans SC"/>
                <a:cs typeface="Noto Sans SC"/>
                <a:sym typeface="Noto Sans SC"/>
              </a:rPr>
              <a:t> (2025年EBG数据)</a:t>
            </a:r>
            <a:endParaRPr lang="en-US" sz="1100" dirty="0"/>
          </a:p>
        </p:txBody>
      </p:sp>
      <p:sp>
        <p:nvSpPr>
          <p:cNvPr id="3" name="AutoShape 3"/>
          <p:cNvSpPr/>
          <p:nvPr/>
        </p:nvSpPr>
        <p:spPr>
          <a:xfrm>
            <a:off x="762000" y="1524000"/>
            <a:ext cx="5080000" cy="2921000"/>
          </a:xfrm>
          <a:prstGeom prst="roundRect">
            <a:avLst>
              <a:gd name="adj" fmla="val 4347"/>
            </a:avLst>
          </a:prstGeom>
          <a:solidFill>
            <a:srgbClr val="FFFFFF">
              <a:alpha val="8000"/>
            </a:srgbClr>
          </a:solidFill>
          <a:ln w="12700" cap="flat" cmpd="sng">
            <a:solidFill>
              <a:srgbClr val="4A90E2">
                <a:alpha val="30000"/>
              </a:srgbClr>
            </a:solidFill>
            <a:prstDash val="solid"/>
            <a:round/>
          </a:ln>
        </p:spPr>
        <p:txBody>
          <a:bodyPr vert="horz" wrap="square" lIns="63500" tIns="63500" rIns="63500" bIns="63500" rtlCol="0" anchor="ctr"/>
          <a:lstStyle/>
          <a:p>
            <a:pPr algn="ctr">
              <a:defRPr/>
            </a:pPr>
            <a:endParaRPr/>
          </a:p>
        </p:txBody>
      </p:sp>
      <p:pic>
        <p:nvPicPr>
          <p:cNvPr id="4" name="Picture 4"/>
          <p:cNvPicPr>
            <a:picLocks noChangeAspect="1"/>
          </p:cNvPicPr>
          <p:nvPr/>
        </p:nvPicPr>
        <p:blipFill>
          <a:blip r:embed="rId4">
            <a:extLst>
              <a:ext uri="{28A0092B-C50C-407E-A947-70E740481C1C}">
                <a14:useLocalDpi xmlns:a14="http://schemas.microsoft.com/office/drawing/2010/main" val="0"/>
              </a:ext>
              <a:ext uri="{96DAC541-7B7A-43D3-8B79-37D633B846F1}">
                <asvg:svgBlip xmlns="" xmlns:asvg="http://schemas.microsoft.com/office/drawing/2016/SVG/main" r:embed="rId5"/>
              </a:ext>
            </a:extLst>
          </a:blip>
          <a:stretch>
            <a:fillRect/>
          </a:stretch>
        </p:blipFill>
        <p:spPr>
          <a:xfrm>
            <a:off x="1016000" y="1714500"/>
            <a:ext cx="304800" cy="304800"/>
          </a:xfrm>
          <a:prstGeom prst="rect">
            <a:avLst/>
          </a:prstGeom>
        </p:spPr>
      </p:pic>
      <p:sp>
        <p:nvSpPr>
          <p:cNvPr id="5" name="AutoShape 5"/>
          <p:cNvSpPr/>
          <p:nvPr/>
        </p:nvSpPr>
        <p:spPr>
          <a:xfrm>
            <a:off x="1397000" y="16764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核心数据概览</a:t>
            </a:r>
            <a:endParaRPr lang="en-US" sz="1100"/>
          </a:p>
        </p:txBody>
      </p:sp>
      <p:sp>
        <p:nvSpPr>
          <p:cNvPr id="6" name="AutoShape 6"/>
          <p:cNvSpPr/>
          <p:nvPr/>
        </p:nvSpPr>
        <p:spPr>
          <a:xfrm>
            <a:off x="1016000" y="2159000"/>
            <a:ext cx="2286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800" b="1" i="0" u="none" strike="noStrike">
                <a:solidFill>
                  <a:srgbClr val="F5A623"/>
                </a:solidFill>
                <a:latin typeface="Noto Sans SC"/>
                <a:ea typeface="Noto Sans SC"/>
                <a:cs typeface="Noto Sans SC"/>
                <a:sym typeface="Noto Sans SC"/>
              </a:rPr>
              <a:t>4.2 亿元</a:t>
            </a:r>
            <a:endParaRPr lang="en-US" sz="1100"/>
          </a:p>
        </p:txBody>
      </p:sp>
      <p:sp>
        <p:nvSpPr>
          <p:cNvPr id="7" name="AutoShape 7"/>
          <p:cNvSpPr/>
          <p:nvPr/>
        </p:nvSpPr>
        <p:spPr>
          <a:xfrm>
            <a:off x="1016000" y="2603500"/>
            <a:ext cx="2286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F5F5F7">
                    <a:alpha val="70196"/>
                  </a:srgbClr>
                </a:solidFill>
                <a:latin typeface="Noto Sans SC"/>
                <a:ea typeface="Noto Sans SC"/>
                <a:cs typeface="Noto Sans SC"/>
                <a:sym typeface="Noto Sans SC"/>
              </a:rPr>
              <a:t>涉及总金额</a:t>
            </a:r>
            <a:endParaRPr lang="en-US" sz="1100"/>
          </a:p>
        </p:txBody>
      </p:sp>
      <p:sp>
        <p:nvSpPr>
          <p:cNvPr id="8" name="AutoShape 8"/>
          <p:cNvSpPr/>
          <p:nvPr/>
        </p:nvSpPr>
        <p:spPr>
          <a:xfrm>
            <a:off x="3302000" y="2159000"/>
            <a:ext cx="2286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800" b="1" i="0" u="none" strike="noStrike" dirty="0">
                <a:solidFill>
                  <a:srgbClr val="4A90E2"/>
                </a:solidFill>
                <a:latin typeface="Noto Sans SC"/>
                <a:ea typeface="Noto Sans SC"/>
                <a:cs typeface="Noto Sans SC"/>
                <a:sym typeface="Noto Sans SC"/>
              </a:rPr>
              <a:t>31%</a:t>
            </a:r>
            <a:endParaRPr lang="en-US" sz="1100" dirty="0"/>
          </a:p>
        </p:txBody>
      </p:sp>
      <p:sp>
        <p:nvSpPr>
          <p:cNvPr id="9" name="AutoShape 9"/>
          <p:cNvSpPr/>
          <p:nvPr/>
        </p:nvSpPr>
        <p:spPr>
          <a:xfrm>
            <a:off x="3302000" y="2603500"/>
            <a:ext cx="2286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dirty="0" err="1">
                <a:solidFill>
                  <a:srgbClr val="F5F5F7">
                    <a:alpha val="70196"/>
                  </a:srgbClr>
                </a:solidFill>
                <a:latin typeface="Noto Sans SC"/>
                <a:ea typeface="Noto Sans SC"/>
                <a:cs typeface="Noto Sans SC"/>
                <a:sym typeface="Noto Sans SC"/>
              </a:rPr>
              <a:t>分批订单占比</a:t>
            </a:r>
            <a:r>
              <a:rPr lang="en-US" sz="1400" b="0" i="0" u="none" strike="noStrike" dirty="0">
                <a:solidFill>
                  <a:srgbClr val="F5F5F7">
                    <a:alpha val="70196"/>
                  </a:srgbClr>
                </a:solidFill>
                <a:latin typeface="Noto Sans SC"/>
                <a:ea typeface="Noto Sans SC"/>
                <a:cs typeface="Noto Sans SC"/>
                <a:sym typeface="Noto Sans SC"/>
              </a:rPr>
              <a:t> (643/2067)</a:t>
            </a:r>
            <a:endParaRPr lang="en-US" sz="1100" dirty="0"/>
          </a:p>
        </p:txBody>
      </p:sp>
      <p:cxnSp>
        <p:nvCxnSpPr>
          <p:cNvPr id="10" name="Connector 10"/>
          <p:cNvCxnSpPr/>
          <p:nvPr/>
        </p:nvCxnSpPr>
        <p:spPr>
          <a:xfrm rot="-9549">
            <a:off x="1016009" y="2978150"/>
            <a:ext cx="4572000" cy="12700"/>
          </a:xfrm>
          <a:prstGeom prst="line">
            <a:avLst/>
          </a:prstGeom>
          <a:solidFill>
            <a:srgbClr val="DEE0E3">
              <a:alpha val="100000"/>
            </a:srgbClr>
          </a:solidFill>
          <a:ln w="12700" cap="flat" cmpd="sng">
            <a:solidFill>
              <a:srgbClr val="FFFFFF">
                <a:alpha val="10000"/>
              </a:srgbClr>
            </a:solidFill>
            <a:prstDash val="solid"/>
            <a:round/>
            <a:headEnd type="none" w="med" len="med"/>
            <a:tailEnd type="none" w="med" len="med"/>
          </a:ln>
        </p:spPr>
      </p:cxnSp>
      <p:pic>
        <p:nvPicPr>
          <p:cNvPr id="11" name="Picture 11"/>
          <p:cNvPicPr>
            <a:picLocks noChangeAspect="1"/>
          </p:cNvPicPr>
          <p:nvPr/>
        </p:nvPicPr>
        <p:blipFill>
          <a:blip r:embed="rId6">
            <a:extLst>
              <a:ext uri="{28A0092B-C50C-407E-A947-70E740481C1C}">
                <a14:useLocalDpi xmlns:a14="http://schemas.microsoft.com/office/drawing/2010/main" val="0"/>
              </a:ext>
              <a:ext uri="{96DAC541-7B7A-43D3-8B79-37D633B846F1}">
                <asvg:svgBlip xmlns="" xmlns:asvg="http://schemas.microsoft.com/office/drawing/2016/SVG/main" r:embed="rId7"/>
              </a:ext>
            </a:extLst>
          </a:blip>
          <a:stretch>
            <a:fillRect/>
          </a:stretch>
        </p:blipFill>
        <p:spPr>
          <a:xfrm>
            <a:off x="1016000" y="3175000"/>
            <a:ext cx="254000" cy="254000"/>
          </a:xfrm>
          <a:prstGeom prst="rect">
            <a:avLst/>
          </a:prstGeom>
        </p:spPr>
      </p:pic>
      <p:sp>
        <p:nvSpPr>
          <p:cNvPr id="12" name="AutoShape 12"/>
          <p:cNvSpPr/>
          <p:nvPr/>
        </p:nvSpPr>
        <p:spPr>
          <a:xfrm>
            <a:off x="1397000" y="3149600"/>
            <a:ext cx="2032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FFFFFF"/>
                </a:solidFill>
                <a:latin typeface="Noto Sans SC"/>
                <a:ea typeface="Noto Sans SC"/>
                <a:cs typeface="Noto Sans SC"/>
                <a:sym typeface="Noto Sans SC"/>
              </a:rPr>
              <a:t>大额订单: 2067个</a:t>
            </a:r>
            <a:endParaRPr lang="en-US" sz="1100"/>
          </a:p>
        </p:txBody>
      </p:sp>
      <p:pic>
        <p:nvPicPr>
          <p:cNvPr id="13" name="Picture 13"/>
          <p:cNvPicPr>
            <a:picLocks noChangeAspect="1"/>
          </p:cNvPicPr>
          <p:nvPr/>
        </p:nvPicPr>
        <p:blipFill>
          <a:blip r:embed="rId8">
            <a:extLst>
              <a:ext uri="{28A0092B-C50C-407E-A947-70E740481C1C}">
                <a14:useLocalDpi xmlns:a14="http://schemas.microsoft.com/office/drawing/2010/main" val="0"/>
              </a:ext>
              <a:ext uri="{96DAC541-7B7A-43D3-8B79-37D633B846F1}">
                <asvg:svgBlip xmlns="" xmlns:asvg="http://schemas.microsoft.com/office/drawing/2016/SVG/main" r:embed="rId9"/>
              </a:ext>
            </a:extLst>
          </a:blip>
          <a:stretch>
            <a:fillRect/>
          </a:stretch>
        </p:blipFill>
        <p:spPr>
          <a:xfrm>
            <a:off x="3302000" y="3175000"/>
            <a:ext cx="254000" cy="254000"/>
          </a:xfrm>
          <a:prstGeom prst="rect">
            <a:avLst/>
          </a:prstGeom>
        </p:spPr>
      </p:pic>
      <p:sp>
        <p:nvSpPr>
          <p:cNvPr id="14" name="AutoShape 14"/>
          <p:cNvSpPr/>
          <p:nvPr/>
        </p:nvSpPr>
        <p:spPr>
          <a:xfrm>
            <a:off x="3683000" y="3149600"/>
            <a:ext cx="2032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FFFFFF"/>
                </a:solidFill>
                <a:latin typeface="Noto Sans SC"/>
                <a:ea typeface="Noto Sans SC"/>
                <a:cs typeface="Noto Sans SC"/>
                <a:sym typeface="Noto Sans SC"/>
              </a:rPr>
              <a:t>高峰月单量: 80+</a:t>
            </a:r>
            <a:endParaRPr lang="en-US" sz="1100"/>
          </a:p>
        </p:txBody>
      </p:sp>
      <p:sp>
        <p:nvSpPr>
          <p:cNvPr id="15" name="AutoShape 15"/>
          <p:cNvSpPr/>
          <p:nvPr/>
        </p:nvSpPr>
        <p:spPr>
          <a:xfrm>
            <a:off x="762000" y="4635500"/>
            <a:ext cx="5080000" cy="1714500"/>
          </a:xfrm>
          <a:prstGeom prst="roundRect">
            <a:avLst>
              <a:gd name="adj" fmla="val 7407"/>
            </a:avLst>
          </a:prstGeom>
          <a:solidFill>
            <a:srgbClr val="FFFFFF">
              <a:alpha val="8000"/>
            </a:srgbClr>
          </a:solidFill>
          <a:ln w="12700" cap="flat" cmpd="sng">
            <a:solidFill>
              <a:srgbClr val="4A90E2">
                <a:alpha val="30000"/>
              </a:srgbClr>
            </a:solidFill>
            <a:prstDash val="solid"/>
            <a:round/>
          </a:ln>
        </p:spPr>
        <p:txBody>
          <a:bodyPr vert="horz" wrap="square" lIns="63500" tIns="63500" rIns="63500" bIns="63500" rtlCol="0" anchor="ctr"/>
          <a:lstStyle/>
          <a:p>
            <a:pPr algn="ctr">
              <a:defRPr/>
            </a:pPr>
            <a:endParaRPr/>
          </a:p>
        </p:txBody>
      </p:sp>
      <p:pic>
        <p:nvPicPr>
          <p:cNvPr id="16" name="Picture 16"/>
          <p:cNvPicPr>
            <a:picLocks noChangeAspect="1"/>
          </p:cNvPicPr>
          <p:nvPr/>
        </p:nvPicPr>
        <p:blipFill>
          <a:blip r:embed="rId10">
            <a:extLst>
              <a:ext uri="{28A0092B-C50C-407E-A947-70E740481C1C}">
                <a14:useLocalDpi xmlns:a14="http://schemas.microsoft.com/office/drawing/2010/main" val="0"/>
              </a:ext>
              <a:ext uri="{96DAC541-7B7A-43D3-8B79-37D633B846F1}">
                <asvg:svgBlip xmlns="" xmlns:asvg="http://schemas.microsoft.com/office/drawing/2016/SVG/main" r:embed="rId11"/>
              </a:ext>
            </a:extLst>
          </a:blip>
          <a:stretch>
            <a:fillRect/>
          </a:stretch>
        </p:blipFill>
        <p:spPr>
          <a:xfrm>
            <a:off x="1016000" y="4826000"/>
            <a:ext cx="304800" cy="304800"/>
          </a:xfrm>
          <a:prstGeom prst="rect">
            <a:avLst/>
          </a:prstGeom>
        </p:spPr>
      </p:pic>
      <p:sp>
        <p:nvSpPr>
          <p:cNvPr id="17" name="AutoShape 17"/>
          <p:cNvSpPr/>
          <p:nvPr/>
        </p:nvSpPr>
        <p:spPr>
          <a:xfrm>
            <a:off x="1397000" y="47879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当前处理模式痛点</a:t>
            </a:r>
            <a:endParaRPr lang="en-US" sz="1100"/>
          </a:p>
        </p:txBody>
      </p:sp>
      <p:sp>
        <p:nvSpPr>
          <p:cNvPr id="18" name="AutoShape 18"/>
          <p:cNvSpPr/>
          <p:nvPr/>
        </p:nvSpPr>
        <p:spPr>
          <a:xfrm>
            <a:off x="1016000" y="5207000"/>
            <a:ext cx="4572000" cy="889000"/>
          </a:xfrm>
          <a:prstGeom prst="rect">
            <a:avLst/>
          </a:prstGeom>
          <a:noFill/>
          <a:ln w="12700" cap="flat" cmpd="sng">
            <a:noFill/>
            <a:prstDash val="solid"/>
            <a:round/>
          </a:ln>
        </p:spPr>
        <p:txBody>
          <a:bodyPr vert="horz" wrap="square" lIns="0" tIns="0" rIns="0" bIns="0" rtlCol="0" anchor="ctr" anchorCtr="0"/>
          <a:lstStyle/>
          <a:p>
            <a:pPr marL="177800" indent="-177800" algn="l">
              <a:lnSpc>
                <a:spcPct val="125000"/>
              </a:lnSpc>
              <a:buClr>
                <a:srgbClr val="F5F5F7"/>
              </a:buClr>
              <a:buChar char="•"/>
              <a:defRPr/>
            </a:pPr>
            <a:r>
              <a:rPr lang="en-US" sz="1400" b="0" i="0" u="none" strike="noStrike">
                <a:solidFill>
                  <a:srgbClr val="F5F5F7">
                    <a:alpha val="80000"/>
                  </a:srgbClr>
                </a:solidFill>
                <a:latin typeface="Noto Sans SC"/>
                <a:ea typeface="Noto Sans SC"/>
                <a:cs typeface="Noto Sans SC"/>
                <a:sym typeface="Noto Sans SC"/>
              </a:rPr>
              <a:t>纯线下人工处理，信息不透明、不同步</a:t>
            </a:r>
            <a:endParaRPr lang="en-US" sz="1100"/>
          </a:p>
          <a:p>
            <a:pPr marL="177800" indent="-177800" algn="l">
              <a:lnSpc>
                <a:spcPct val="125000"/>
              </a:lnSpc>
              <a:buClr>
                <a:srgbClr val="F5F5F7"/>
              </a:buClr>
              <a:buChar char="•"/>
            </a:pPr>
            <a:r>
              <a:rPr lang="en-US" sz="1400" b="0" i="0" u="none" strike="noStrike">
                <a:solidFill>
                  <a:srgbClr val="F5F5F7">
                    <a:alpha val="80000"/>
                  </a:srgbClr>
                </a:solidFill>
                <a:latin typeface="Noto Sans SC"/>
                <a:ea typeface="Noto Sans SC"/>
                <a:cs typeface="Noto Sans SC"/>
                <a:sym typeface="Noto Sans SC"/>
              </a:rPr>
              <a:t>供应链系统“盲视”，无法获取有效分批需求</a:t>
            </a:r>
          </a:p>
        </p:txBody>
      </p:sp>
      <p:sp>
        <p:nvSpPr>
          <p:cNvPr id="19" name="AutoShape 19"/>
          <p:cNvSpPr/>
          <p:nvPr/>
        </p:nvSpPr>
        <p:spPr>
          <a:xfrm>
            <a:off x="6096000" y="1524000"/>
            <a:ext cx="5080000" cy="4826000"/>
          </a:xfrm>
          <a:prstGeom prst="roundRect">
            <a:avLst>
              <a:gd name="adj" fmla="val 2631"/>
            </a:avLst>
          </a:prstGeom>
          <a:solidFill>
            <a:srgbClr val="FFFFFF">
              <a:alpha val="8000"/>
            </a:srgbClr>
          </a:solidFill>
          <a:ln w="12700" cap="flat" cmpd="sng">
            <a:solidFill>
              <a:srgbClr val="4A90E2">
                <a:alpha val="30000"/>
              </a:srgbClr>
            </a:solidFill>
            <a:prstDash val="solid"/>
            <a:round/>
          </a:ln>
        </p:spPr>
        <p:txBody>
          <a:bodyPr vert="horz" wrap="square" lIns="63500" tIns="63500" rIns="63500" bIns="63500" rtlCol="0" anchor="ctr"/>
          <a:lstStyle/>
          <a:p>
            <a:pPr algn="ctr">
              <a:defRPr/>
            </a:pPr>
            <a:endParaRPr/>
          </a:p>
        </p:txBody>
      </p:sp>
      <p:pic>
        <p:nvPicPr>
          <p:cNvPr id="20" name="Picture 20"/>
          <p:cNvPicPr>
            <a:picLocks noChangeAspect="1"/>
          </p:cNvPicPr>
          <p:nvPr/>
        </p:nvPicPr>
        <p:blipFill>
          <a:blip r:embed="rId12">
            <a:extLst>
              <a:ext uri="{28A0092B-C50C-407E-A947-70E740481C1C}">
                <a14:useLocalDpi xmlns:a14="http://schemas.microsoft.com/office/drawing/2010/main" val="0"/>
              </a:ext>
              <a:ext uri="{96DAC541-7B7A-43D3-8B79-37D633B846F1}">
                <asvg:svgBlip xmlns="" xmlns:asvg="http://schemas.microsoft.com/office/drawing/2016/SVG/main" r:embed="rId13"/>
              </a:ext>
            </a:extLst>
          </a:blip>
          <a:stretch>
            <a:fillRect/>
          </a:stretch>
        </p:blipFill>
        <p:spPr>
          <a:xfrm>
            <a:off x="6350000" y="1714500"/>
            <a:ext cx="304800" cy="304800"/>
          </a:xfrm>
          <a:prstGeom prst="rect">
            <a:avLst/>
          </a:prstGeom>
        </p:spPr>
      </p:pic>
      <p:sp>
        <p:nvSpPr>
          <p:cNvPr id="21" name="AutoShape 21"/>
          <p:cNvSpPr/>
          <p:nvPr/>
        </p:nvSpPr>
        <p:spPr>
          <a:xfrm>
            <a:off x="6731000" y="16764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业务影响与结论</a:t>
            </a:r>
            <a:endParaRPr lang="en-US" sz="1100"/>
          </a:p>
        </p:txBody>
      </p:sp>
      <p:sp>
        <p:nvSpPr>
          <p:cNvPr id="22" name="AutoShape 22"/>
          <p:cNvSpPr/>
          <p:nvPr/>
        </p:nvSpPr>
        <p:spPr>
          <a:xfrm>
            <a:off x="6350000" y="2222500"/>
            <a:ext cx="4572000" cy="1270000"/>
          </a:xfrm>
          <a:prstGeom prst="roundRect">
            <a:avLst>
              <a:gd name="adj" fmla="val 10000"/>
            </a:avLst>
          </a:prstGeom>
          <a:solidFill>
            <a:srgbClr val="4A90E2">
              <a:alpha val="1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3" name="Picture 23"/>
          <p:cNvPicPr>
            <a:picLocks noChangeAspect="1"/>
          </p:cNvPicPr>
          <p:nvPr/>
        </p:nvPicPr>
        <p:blipFill>
          <a:blip r:embed="rId14">
            <a:extLst>
              <a:ext uri="{28A0092B-C50C-407E-A947-70E740481C1C}">
                <a14:useLocalDpi xmlns:a14="http://schemas.microsoft.com/office/drawing/2010/main" val="0"/>
              </a:ext>
              <a:ext uri="{96DAC541-7B7A-43D3-8B79-37D633B846F1}">
                <asvg:svgBlip xmlns="" xmlns:asvg="http://schemas.microsoft.com/office/drawing/2016/SVG/main" r:embed="rId15"/>
              </a:ext>
            </a:extLst>
          </a:blip>
          <a:stretch>
            <a:fillRect/>
          </a:stretch>
        </p:blipFill>
        <p:spPr>
          <a:xfrm>
            <a:off x="6540500" y="2413000"/>
            <a:ext cx="406400" cy="406400"/>
          </a:xfrm>
          <a:prstGeom prst="rect">
            <a:avLst/>
          </a:prstGeom>
        </p:spPr>
      </p:pic>
      <p:sp>
        <p:nvSpPr>
          <p:cNvPr id="24" name="AutoShape 24"/>
          <p:cNvSpPr/>
          <p:nvPr/>
        </p:nvSpPr>
        <p:spPr>
          <a:xfrm>
            <a:off x="7048500" y="2387600"/>
            <a:ext cx="3683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规模化影响已形成</a:t>
            </a:r>
            <a:endParaRPr lang="en-US" sz="1100"/>
          </a:p>
        </p:txBody>
      </p:sp>
      <p:sp>
        <p:nvSpPr>
          <p:cNvPr id="25" name="AutoShape 25"/>
          <p:cNvSpPr/>
          <p:nvPr/>
        </p:nvSpPr>
        <p:spPr>
          <a:xfrm>
            <a:off x="7048500" y="2730500"/>
            <a:ext cx="3683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F5F5F7">
                    <a:alpha val="70196"/>
                  </a:srgbClr>
                </a:solidFill>
                <a:latin typeface="Noto Sans SC"/>
                <a:ea typeface="Noto Sans SC"/>
                <a:cs typeface="Noto Sans SC"/>
                <a:sym typeface="Noto Sans SC"/>
              </a:rPr>
              <a:t>涉及4.2亿资金规模，占比高达31%，已成为不可忽视的业务场景，传统人工方式已无法支撑。</a:t>
            </a:r>
            <a:endParaRPr lang="en-US" sz="1100"/>
          </a:p>
        </p:txBody>
      </p:sp>
      <p:sp>
        <p:nvSpPr>
          <p:cNvPr id="26" name="AutoShape 26"/>
          <p:cNvSpPr/>
          <p:nvPr/>
        </p:nvSpPr>
        <p:spPr>
          <a:xfrm>
            <a:off x="6350000" y="3619500"/>
            <a:ext cx="4572000" cy="1270000"/>
          </a:xfrm>
          <a:prstGeom prst="roundRect">
            <a:avLst>
              <a:gd name="adj" fmla="val 10000"/>
            </a:avLst>
          </a:prstGeom>
          <a:solidFill>
            <a:srgbClr val="F5A623">
              <a:alpha val="1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7" name="Picture 27"/>
          <p:cNvPicPr>
            <a:picLocks noChangeAspect="1"/>
          </p:cNvPicPr>
          <p:nvPr/>
        </p:nvPicPr>
        <p:blipFill>
          <a:blip r:embed="rId16">
            <a:extLst>
              <a:ext uri="{28A0092B-C50C-407E-A947-70E740481C1C}">
                <a14:useLocalDpi xmlns:a14="http://schemas.microsoft.com/office/drawing/2010/main" val="0"/>
              </a:ext>
              <a:ext uri="{96DAC541-7B7A-43D3-8B79-37D633B846F1}">
                <asvg:svgBlip xmlns="" xmlns:asvg="http://schemas.microsoft.com/office/drawing/2016/SVG/main" r:embed="rId17"/>
              </a:ext>
            </a:extLst>
          </a:blip>
          <a:stretch>
            <a:fillRect/>
          </a:stretch>
        </p:blipFill>
        <p:spPr>
          <a:xfrm>
            <a:off x="6540500" y="3810000"/>
            <a:ext cx="406400" cy="406400"/>
          </a:xfrm>
          <a:prstGeom prst="rect">
            <a:avLst/>
          </a:prstGeom>
        </p:spPr>
      </p:pic>
      <p:sp>
        <p:nvSpPr>
          <p:cNvPr id="28" name="AutoShape 28"/>
          <p:cNvSpPr/>
          <p:nvPr/>
        </p:nvSpPr>
        <p:spPr>
          <a:xfrm>
            <a:off x="7048500" y="3784600"/>
            <a:ext cx="3683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供应链预测不准的关键症结</a:t>
            </a:r>
            <a:endParaRPr lang="en-US" sz="1100"/>
          </a:p>
        </p:txBody>
      </p:sp>
      <p:sp>
        <p:nvSpPr>
          <p:cNvPr id="29" name="AutoShape 29"/>
          <p:cNvSpPr/>
          <p:nvPr/>
        </p:nvSpPr>
        <p:spPr>
          <a:xfrm>
            <a:off x="7048500" y="4127500"/>
            <a:ext cx="3683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F5F5F7">
                    <a:alpha val="70196"/>
                  </a:srgbClr>
                </a:solidFill>
                <a:latin typeface="Noto Sans SC"/>
                <a:ea typeface="Noto Sans SC"/>
                <a:cs typeface="Noto Sans SC"/>
                <a:sym typeface="Noto Sans SC"/>
              </a:rPr>
              <a:t>信息断层导致供应链对这部分需求处于“盲视”状态，是造成库存积压和缺货并存的重要原因。</a:t>
            </a:r>
            <a:endParaRPr lang="en-US" sz="1100"/>
          </a:p>
        </p:txBody>
      </p:sp>
      <p:sp>
        <p:nvSpPr>
          <p:cNvPr id="30" name="AutoShape 30"/>
          <p:cNvSpPr/>
          <p:nvPr/>
        </p:nvSpPr>
        <p:spPr>
          <a:xfrm>
            <a:off x="6350000" y="5016500"/>
            <a:ext cx="4572000" cy="1143000"/>
          </a:xfrm>
          <a:prstGeom prst="roundRect">
            <a:avLst>
              <a:gd name="adj" fmla="val 11111"/>
            </a:avLst>
          </a:prstGeom>
          <a:solidFill>
            <a:srgbClr val="2ECC71">
              <a:alpha val="10000"/>
            </a:srgbClr>
          </a:solidFill>
          <a:ln w="25400" cap="flat" cmpd="sng">
            <a:noFill/>
            <a:prstDash val="solid"/>
            <a:round/>
          </a:ln>
        </p:spPr>
        <p:txBody>
          <a:bodyPr vert="horz" wrap="square" lIns="63500" tIns="63500" rIns="63500" bIns="63500" rtlCol="0" anchor="ctr"/>
          <a:lstStyle/>
          <a:p>
            <a:pPr algn="ctr">
              <a:defRPr/>
            </a:pPr>
            <a:endParaRPr/>
          </a:p>
        </p:txBody>
      </p:sp>
      <p:pic>
        <p:nvPicPr>
          <p:cNvPr id="31" name="Picture 31"/>
          <p:cNvPicPr>
            <a:picLocks noChangeAspect="1"/>
          </p:cNvPicPr>
          <p:nvPr/>
        </p:nvPicPr>
        <p:blipFill>
          <a:blip r:embed="rId18">
            <a:extLst>
              <a:ext uri="{28A0092B-C50C-407E-A947-70E740481C1C}">
                <a14:useLocalDpi xmlns:a14="http://schemas.microsoft.com/office/drawing/2010/main" val="0"/>
              </a:ext>
              <a:ext uri="{96DAC541-7B7A-43D3-8B79-37D633B846F1}">
                <asvg:svgBlip xmlns="" xmlns:asvg="http://schemas.microsoft.com/office/drawing/2016/SVG/main" r:embed="rId19"/>
              </a:ext>
            </a:extLst>
          </a:blip>
          <a:stretch>
            <a:fillRect/>
          </a:stretch>
        </p:blipFill>
        <p:spPr>
          <a:xfrm>
            <a:off x="6540500" y="5207000"/>
            <a:ext cx="406400" cy="406400"/>
          </a:xfrm>
          <a:prstGeom prst="rect">
            <a:avLst/>
          </a:prstGeom>
        </p:spPr>
      </p:pic>
      <p:sp>
        <p:nvSpPr>
          <p:cNvPr id="32" name="AutoShape 32"/>
          <p:cNvSpPr/>
          <p:nvPr/>
        </p:nvSpPr>
        <p:spPr>
          <a:xfrm>
            <a:off x="7048500" y="5181600"/>
            <a:ext cx="3683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建议：实施系统化解决方案</a:t>
            </a:r>
            <a:endParaRPr lang="en-US" sz="1100"/>
          </a:p>
        </p:txBody>
      </p:sp>
      <p:sp>
        <p:nvSpPr>
          <p:cNvPr id="33" name="AutoShape 33"/>
          <p:cNvSpPr/>
          <p:nvPr/>
        </p:nvSpPr>
        <p:spPr>
          <a:xfrm>
            <a:off x="7048500" y="5524500"/>
            <a:ext cx="3683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F5F5F7">
                    <a:alpha val="70196"/>
                  </a:srgbClr>
                </a:solidFill>
                <a:latin typeface="Noto Sans SC"/>
                <a:ea typeface="Noto Sans SC"/>
                <a:cs typeface="Noto Sans SC"/>
                <a:sym typeface="Noto Sans SC"/>
              </a:rPr>
              <a:t>建立线上化分批要货流程，实现数据实时同步，赋能供应链精准预测。</a:t>
            </a:r>
            <a:endParaRPr lang="en-US" sz="110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1905000"/>
            <a:ext cx="12192000" cy="1270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6400" b="1" i="0" u="none" strike="noStrike">
                <a:solidFill>
                  <a:srgbClr val="4A90E2"/>
                </a:solidFill>
                <a:latin typeface="Noto Sans SC"/>
                <a:ea typeface="Noto Sans SC"/>
                <a:cs typeface="Noto Sans SC"/>
                <a:sym typeface="Noto Sans SC"/>
              </a:rPr>
              <a:t>03</a:t>
            </a:r>
            <a:endParaRPr lang="en-US" sz="1100"/>
          </a:p>
        </p:txBody>
      </p:sp>
      <p:sp>
        <p:nvSpPr>
          <p:cNvPr id="3" name="AutoShape 3"/>
          <p:cNvSpPr/>
          <p:nvPr/>
        </p:nvSpPr>
        <p:spPr>
          <a:xfrm>
            <a:off x="0" y="3175000"/>
            <a:ext cx="121920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800" b="1" i="0" u="none" strike="noStrike">
                <a:solidFill>
                  <a:srgbClr val="FFFFFF"/>
                </a:solidFill>
                <a:latin typeface="Noto Sans SC"/>
                <a:ea typeface="Noto Sans SC"/>
                <a:cs typeface="Noto Sans SC"/>
                <a:sym typeface="Noto Sans SC"/>
              </a:rPr>
              <a:t>解决方案设计与目标</a:t>
            </a:r>
            <a:endParaRPr lang="en-US" sz="1100"/>
          </a:p>
        </p:txBody>
      </p:sp>
      <p:cxnSp>
        <p:nvCxnSpPr>
          <p:cNvPr id="4" name="Connector 4"/>
          <p:cNvCxnSpPr/>
          <p:nvPr/>
        </p:nvCxnSpPr>
        <p:spPr>
          <a:xfrm rot="-42969">
            <a:off x="5588040" y="3930650"/>
            <a:ext cx="1016000" cy="12700"/>
          </a:xfrm>
          <a:prstGeom prst="straightConnector1">
            <a:avLst/>
          </a:prstGeom>
          <a:solidFill>
            <a:srgbClr val="DEE0E3">
              <a:alpha val="100000"/>
            </a:srgbClr>
          </a:solidFill>
          <a:ln w="25400" cap="flat" cmpd="sng">
            <a:solidFill>
              <a:srgbClr val="4A90E2">
                <a:alpha val="100000"/>
              </a:srgbClr>
            </a:solidFill>
            <a:prstDash val="solid"/>
            <a:round/>
            <a:headEnd type="none" w="lg" len="lg"/>
            <a:tailEnd type="none" w="lg" len="lg"/>
          </a:ln>
        </p:spPr>
      </p:cxnSp>
      <p:sp>
        <p:nvSpPr>
          <p:cNvPr id="5" name="AutoShape 5"/>
          <p:cNvSpPr/>
          <p:nvPr/>
        </p:nvSpPr>
        <p:spPr>
          <a:xfrm>
            <a:off x="1016000" y="4191000"/>
            <a:ext cx="10160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0" i="0" u="none" strike="noStrike">
                <a:solidFill>
                  <a:srgbClr val="FFFFFF">
                    <a:alpha val="70196"/>
                  </a:srgbClr>
                </a:solidFill>
                <a:latin typeface="Noto Sans SC"/>
                <a:ea typeface="Noto Sans SC"/>
                <a:cs typeface="Noto Sans SC"/>
                <a:sym typeface="Noto Sans SC"/>
              </a:rPr>
              <a:t>从源头解决分批要货导致的预测不准问题</a:t>
            </a:r>
            <a:endParaRPr lang="en-US" sz="110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1762125" y="12065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dirty="0" err="1">
                <a:solidFill>
                  <a:srgbClr val="FFFFFF"/>
                </a:solidFill>
                <a:latin typeface="Noto Sans SC"/>
                <a:ea typeface="Noto Sans SC"/>
                <a:cs typeface="Noto Sans SC"/>
                <a:sym typeface="Noto Sans SC"/>
              </a:rPr>
              <a:t>解决方案：</a:t>
            </a:r>
            <a:r>
              <a:rPr lang="en-US" sz="3200" b="1" i="0" u="none" strike="noStrike" dirty="0" err="1" smtClean="0">
                <a:solidFill>
                  <a:srgbClr val="FFFFFF"/>
                </a:solidFill>
                <a:latin typeface="Noto Sans SC"/>
                <a:ea typeface="Noto Sans SC"/>
                <a:cs typeface="Noto Sans SC"/>
                <a:sym typeface="Noto Sans SC"/>
              </a:rPr>
              <a:t>销售端</a:t>
            </a:r>
            <a:r>
              <a:rPr lang="zh-CN" altLang="en-US" sz="3200" b="1" i="0" u="none" strike="noStrike" dirty="0" smtClean="0">
                <a:solidFill>
                  <a:srgbClr val="FFFFFF"/>
                </a:solidFill>
                <a:latin typeface="Noto Sans SC"/>
                <a:ea typeface="Noto Sans SC"/>
                <a:cs typeface="Noto Sans SC"/>
                <a:sym typeface="Noto Sans SC"/>
              </a:rPr>
              <a:t>预测</a:t>
            </a:r>
            <a:r>
              <a:rPr lang="en-US" sz="3200" b="1" i="0" u="none" strike="noStrike" dirty="0" err="1" smtClean="0">
                <a:solidFill>
                  <a:srgbClr val="FFFFFF"/>
                </a:solidFill>
                <a:latin typeface="Noto Sans SC"/>
                <a:ea typeface="Noto Sans SC"/>
                <a:cs typeface="Noto Sans SC"/>
                <a:sym typeface="Noto Sans SC"/>
              </a:rPr>
              <a:t>信息标准化录入</a:t>
            </a:r>
            <a:r>
              <a:rPr lang="zh-CN" altLang="en-US" sz="3200" b="1" i="0" u="none" strike="noStrike" dirty="0" smtClean="0">
                <a:solidFill>
                  <a:srgbClr val="FFFFFF"/>
                </a:solidFill>
                <a:latin typeface="Noto Sans SC"/>
                <a:ea typeface="Noto Sans SC"/>
                <a:cs typeface="Noto Sans SC"/>
                <a:sym typeface="Noto Sans SC"/>
              </a:rPr>
              <a:t>（含分批）</a:t>
            </a:r>
            <a:endParaRPr lang="en-US" sz="1100" dirty="0"/>
          </a:p>
        </p:txBody>
      </p:sp>
      <p:sp>
        <p:nvSpPr>
          <p:cNvPr id="3" name="AutoShape 3"/>
          <p:cNvSpPr/>
          <p:nvPr/>
        </p:nvSpPr>
        <p:spPr>
          <a:xfrm>
            <a:off x="762000" y="1778000"/>
            <a:ext cx="3302000" cy="3048000"/>
          </a:xfrm>
          <a:prstGeom prst="roundRect">
            <a:avLst>
              <a:gd name="adj" fmla="val 4166"/>
            </a:avLst>
          </a:prstGeom>
          <a:solidFill>
            <a:srgbClr val="FFFFFF">
              <a:alpha val="8000"/>
            </a:srgbClr>
          </a:solidFill>
          <a:ln w="12700" cap="flat" cmpd="sng">
            <a:solidFill>
              <a:srgbClr val="4A90E2">
                <a:alpha val="40000"/>
              </a:srgbClr>
            </a:solidFill>
            <a:prstDash val="solid"/>
            <a:round/>
          </a:ln>
        </p:spPr>
        <p:txBody>
          <a:bodyPr vert="horz" wrap="square" lIns="63500" tIns="63500" rIns="63500" bIns="63500" rtlCol="0" anchor="ctr"/>
          <a:lstStyle/>
          <a:p>
            <a:pPr algn="ctr">
              <a:defRPr/>
            </a:pPr>
            <a:endParaRPr/>
          </a:p>
        </p:txBody>
      </p:sp>
      <p:pic>
        <p:nvPicPr>
          <p:cNvPr id="4" name="Picture 4"/>
          <p:cNvPicPr>
            <a:picLocks noChangeAspect="1"/>
          </p:cNvPicPr>
          <p:nvPr/>
        </p:nvPicPr>
        <p:blipFill>
          <a:blip r:embed="rId4">
            <a:extLst>
              <a:ext uri="{28A0092B-C50C-407E-A947-70E740481C1C}">
                <a14:useLocalDpi xmlns:a14="http://schemas.microsoft.com/office/drawing/2010/main" val="0"/>
              </a:ext>
              <a:ext uri="{96DAC541-7B7A-43D3-8B79-37D633B846F1}">
                <asvg:svgBlip xmlns="" xmlns:asvg="http://schemas.microsoft.com/office/drawing/2016/SVG/main" r:embed="rId5"/>
              </a:ext>
            </a:extLst>
          </a:blip>
          <a:stretch>
            <a:fillRect/>
          </a:stretch>
        </p:blipFill>
        <p:spPr>
          <a:xfrm>
            <a:off x="1016000" y="2032000"/>
            <a:ext cx="406400" cy="406400"/>
          </a:xfrm>
          <a:prstGeom prst="rect">
            <a:avLst/>
          </a:prstGeom>
        </p:spPr>
      </p:pic>
      <p:sp>
        <p:nvSpPr>
          <p:cNvPr id="5" name="AutoShape 5"/>
          <p:cNvSpPr/>
          <p:nvPr/>
        </p:nvSpPr>
        <p:spPr>
          <a:xfrm>
            <a:off x="1524000" y="1960345"/>
            <a:ext cx="2286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b="1" i="0" u="none" strike="noStrike" dirty="0" smtClean="0">
                <a:solidFill>
                  <a:srgbClr val="FFFFFF"/>
                </a:solidFill>
                <a:latin typeface="Noto Sans SC"/>
                <a:ea typeface="Noto Sans SC"/>
                <a:cs typeface="Noto Sans SC"/>
                <a:sym typeface="Noto Sans SC"/>
              </a:rPr>
              <a:t>上工序：</a:t>
            </a:r>
            <a:r>
              <a:rPr lang="zh-CN" altLang="en-US" b="1" dirty="0" smtClean="0">
                <a:solidFill>
                  <a:srgbClr val="FFFFFF"/>
                </a:solidFill>
                <a:latin typeface="Noto Sans SC"/>
                <a:ea typeface="Noto Sans SC"/>
                <a:cs typeface="Noto Sans SC"/>
                <a:sym typeface="Noto Sans SC"/>
              </a:rPr>
              <a:t>销售录入</a:t>
            </a:r>
            <a:r>
              <a:rPr lang="en-US" altLang="zh-CN" b="1" dirty="0" smtClean="0">
                <a:solidFill>
                  <a:srgbClr val="FFFFFF"/>
                </a:solidFill>
                <a:latin typeface="Noto Sans SC"/>
                <a:ea typeface="Noto Sans SC"/>
                <a:cs typeface="Noto Sans SC"/>
                <a:sym typeface="Noto Sans SC"/>
              </a:rPr>
              <a:t>CRM</a:t>
            </a:r>
          </a:p>
          <a:p>
            <a:pPr indent="0" algn="l">
              <a:lnSpc>
                <a:spcPct val="125000"/>
              </a:lnSpc>
              <a:defRPr/>
            </a:pPr>
            <a:r>
              <a:rPr lang="zh-CN" altLang="en-US" b="1" dirty="0" smtClean="0">
                <a:solidFill>
                  <a:srgbClr val="FFFFFF"/>
                </a:solidFill>
                <a:latin typeface="Noto Sans SC"/>
                <a:ea typeface="Noto Sans SC"/>
                <a:cs typeface="Noto Sans SC"/>
                <a:sym typeface="Noto Sans SC"/>
              </a:rPr>
              <a:t>确保数据及时、完整、准确</a:t>
            </a:r>
            <a:endParaRPr lang="en-US" sz="1000" dirty="0"/>
          </a:p>
        </p:txBody>
      </p:sp>
      <p:cxnSp>
        <p:nvCxnSpPr>
          <p:cNvPr id="6" name="Connector 6"/>
          <p:cNvCxnSpPr/>
          <p:nvPr/>
        </p:nvCxnSpPr>
        <p:spPr>
          <a:xfrm rot="-15626">
            <a:off x="1016014" y="2533650"/>
            <a:ext cx="2794000" cy="12700"/>
          </a:xfrm>
          <a:prstGeom prst="line">
            <a:avLst/>
          </a:prstGeom>
          <a:solidFill>
            <a:srgbClr val="DEE0E3">
              <a:alpha val="100000"/>
            </a:srgbClr>
          </a:solidFill>
          <a:ln w="12700" cap="flat" cmpd="sng">
            <a:solidFill>
              <a:srgbClr val="FFFFFF">
                <a:alpha val="20000"/>
              </a:srgbClr>
            </a:solidFill>
            <a:prstDash val="solid"/>
            <a:round/>
            <a:headEnd type="none" w="med" len="med"/>
            <a:tailEnd type="none" w="med" len="med"/>
          </a:ln>
        </p:spPr>
      </p:cxnSp>
      <p:sp>
        <p:nvSpPr>
          <p:cNvPr id="7" name="AutoShape 7"/>
          <p:cNvSpPr/>
          <p:nvPr/>
        </p:nvSpPr>
        <p:spPr>
          <a:xfrm>
            <a:off x="1016000" y="2667000"/>
            <a:ext cx="2794000" cy="1905000"/>
          </a:xfrm>
          <a:prstGeom prst="rect">
            <a:avLst/>
          </a:prstGeom>
          <a:noFill/>
          <a:ln w="12700" cap="flat" cmpd="sng">
            <a:noFill/>
            <a:prstDash val="solid"/>
            <a:round/>
          </a:ln>
        </p:spPr>
        <p:txBody>
          <a:bodyPr vert="horz" wrap="square" lIns="0" tIns="0" rIns="0" bIns="0" rtlCol="0" anchor="t" anchorCtr="0"/>
          <a:lstStyle/>
          <a:p>
            <a:pPr marL="177800" indent="-177800">
              <a:lnSpc>
                <a:spcPct val="125000"/>
              </a:lnSpc>
              <a:buClr>
                <a:srgbClr val="F5F5F7"/>
              </a:buClr>
              <a:buChar char="•"/>
              <a:defRPr/>
            </a:pPr>
            <a:r>
              <a:rPr lang="en-US" sz="1400" b="0" i="0" u="none" strike="noStrike" dirty="0" err="1" smtClean="0">
                <a:solidFill>
                  <a:srgbClr val="F5F5F7"/>
                </a:solidFill>
                <a:latin typeface="Noto Sans SC"/>
                <a:ea typeface="Noto Sans SC"/>
                <a:cs typeface="Noto Sans SC"/>
                <a:sym typeface="Noto Sans SC"/>
              </a:rPr>
              <a:t>商机预测阶段</a:t>
            </a:r>
            <a:r>
              <a:rPr lang="zh-CN" altLang="en-US" sz="1400" b="0" i="0" u="none" strike="noStrike" dirty="0" smtClean="0">
                <a:solidFill>
                  <a:srgbClr val="F5F5F7"/>
                </a:solidFill>
                <a:latin typeface="Noto Sans SC"/>
                <a:ea typeface="Noto Sans SC"/>
                <a:cs typeface="Noto Sans SC"/>
                <a:sym typeface="Noto Sans SC"/>
              </a:rPr>
              <a:t>信息（</a:t>
            </a:r>
            <a:r>
              <a:rPr lang="en-US" altLang="zh-CN" dirty="0">
                <a:solidFill>
                  <a:srgbClr val="F5F5F7"/>
                </a:solidFill>
                <a:latin typeface="Noto Sans SC"/>
                <a:ea typeface="Noto Sans SC"/>
                <a:cs typeface="Noto Sans SC"/>
                <a:sym typeface="Noto Sans SC"/>
              </a:rPr>
              <a:t> N</a:t>
            </a:r>
            <a:r>
              <a:rPr lang="zh-CN" altLang="en-US" dirty="0">
                <a:solidFill>
                  <a:srgbClr val="F5F5F7"/>
                </a:solidFill>
                <a:latin typeface="Noto Sans SC"/>
                <a:ea typeface="Noto Sans SC"/>
                <a:cs typeface="Noto Sans SC"/>
                <a:sym typeface="Noto Sans SC"/>
              </a:rPr>
              <a:t>和</a:t>
            </a:r>
            <a:r>
              <a:rPr lang="en-US" altLang="zh-CN" dirty="0" smtClean="0">
                <a:solidFill>
                  <a:srgbClr val="F5F5F7"/>
                </a:solidFill>
                <a:latin typeface="Noto Sans SC"/>
                <a:ea typeface="Noto Sans SC"/>
                <a:cs typeface="Noto Sans SC"/>
                <a:sym typeface="Noto Sans SC"/>
              </a:rPr>
              <a:t>T</a:t>
            </a:r>
            <a:r>
              <a:rPr lang="zh-CN" altLang="en-US" dirty="0" smtClean="0">
                <a:solidFill>
                  <a:srgbClr val="F5F5F7"/>
                </a:solidFill>
                <a:latin typeface="Noto Sans SC"/>
                <a:ea typeface="Noto Sans SC"/>
                <a:cs typeface="Noto Sans SC"/>
                <a:sym typeface="Noto Sans SC"/>
              </a:rPr>
              <a:t>，</a:t>
            </a:r>
            <a:r>
              <a:rPr lang="zh-CN" altLang="en-US" sz="1400" b="0" i="0" u="none" strike="noStrike" dirty="0" smtClean="0">
                <a:solidFill>
                  <a:srgbClr val="F5F5F7"/>
                </a:solidFill>
                <a:latin typeface="Noto Sans SC"/>
                <a:ea typeface="Noto Sans SC"/>
                <a:cs typeface="Noto Sans SC"/>
                <a:sym typeface="Noto Sans SC"/>
              </a:rPr>
              <a:t>分批计划）</a:t>
            </a:r>
            <a:endParaRPr lang="en-US" sz="1100" dirty="0"/>
          </a:p>
          <a:p>
            <a:pPr marL="177800" indent="-177800" algn="l">
              <a:lnSpc>
                <a:spcPct val="125000"/>
              </a:lnSpc>
              <a:buClr>
                <a:srgbClr val="F5F5F7"/>
              </a:buClr>
              <a:buChar char="•"/>
            </a:pPr>
            <a:r>
              <a:rPr lang="zh-CN" altLang="en-US" sz="1400" b="0" i="0" u="none" strike="noStrike" dirty="0" smtClean="0">
                <a:solidFill>
                  <a:srgbClr val="F5F5F7"/>
                </a:solidFill>
                <a:latin typeface="Noto Sans SC"/>
                <a:ea typeface="Noto Sans SC"/>
                <a:cs typeface="Noto Sans SC"/>
                <a:sym typeface="Noto Sans SC"/>
              </a:rPr>
              <a:t>结合整体承诺</a:t>
            </a:r>
            <a:r>
              <a:rPr lang="zh-CN" altLang="en-US" sz="1400" b="0" i="0" u="none" strike="noStrike" dirty="0" smtClean="0">
                <a:solidFill>
                  <a:srgbClr val="F5F5F7"/>
                </a:solidFill>
                <a:latin typeface="Noto Sans SC"/>
                <a:ea typeface="Noto Sans SC"/>
                <a:cs typeface="Noto Sans SC"/>
                <a:sym typeface="Noto Sans SC"/>
              </a:rPr>
              <a:t>预测流程，</a:t>
            </a:r>
            <a:r>
              <a:rPr lang="en-US" sz="1400" b="0" i="0" u="none" strike="noStrike" dirty="0" err="1" smtClean="0">
                <a:solidFill>
                  <a:srgbClr val="F5F5F7"/>
                </a:solidFill>
                <a:latin typeface="Noto Sans SC"/>
                <a:ea typeface="Noto Sans SC"/>
                <a:cs typeface="Noto Sans SC"/>
                <a:sym typeface="Noto Sans SC"/>
              </a:rPr>
              <a:t>系统内精准填报</a:t>
            </a:r>
            <a:r>
              <a:rPr lang="en-US" sz="1400" b="0" i="0" u="none" strike="noStrike" dirty="0" err="1">
                <a:solidFill>
                  <a:srgbClr val="F5F5F7"/>
                </a:solidFill>
                <a:latin typeface="Noto Sans SC"/>
                <a:ea typeface="Noto Sans SC"/>
                <a:cs typeface="Noto Sans SC"/>
                <a:sym typeface="Noto Sans SC"/>
              </a:rPr>
              <a:t>，拒绝模糊需求</a:t>
            </a:r>
            <a:endParaRPr lang="en-US" sz="1400" b="0" i="0" u="none" strike="noStrike" dirty="0">
              <a:solidFill>
                <a:srgbClr val="F5F5F7"/>
              </a:solidFill>
              <a:latin typeface="Noto Sans SC"/>
              <a:ea typeface="Noto Sans SC"/>
              <a:cs typeface="Noto Sans SC"/>
              <a:sym typeface="Noto Sans SC"/>
            </a:endParaRPr>
          </a:p>
        </p:txBody>
      </p:sp>
      <p:sp>
        <p:nvSpPr>
          <p:cNvPr id="8" name="AutoShape 8"/>
          <p:cNvSpPr/>
          <p:nvPr/>
        </p:nvSpPr>
        <p:spPr>
          <a:xfrm>
            <a:off x="4445000" y="1778000"/>
            <a:ext cx="3302000" cy="3048000"/>
          </a:xfrm>
          <a:prstGeom prst="roundRect">
            <a:avLst>
              <a:gd name="adj" fmla="val 4166"/>
            </a:avLst>
          </a:prstGeom>
          <a:solidFill>
            <a:srgbClr val="FFFFFF">
              <a:alpha val="8000"/>
            </a:srgbClr>
          </a:solidFill>
          <a:ln w="12700" cap="flat" cmpd="sng">
            <a:solidFill>
              <a:srgbClr val="4A90E2">
                <a:alpha val="40000"/>
              </a:srgbClr>
            </a:solidFill>
            <a:prstDash val="solid"/>
            <a:round/>
          </a:ln>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r:embed="rId6">
            <a:extLst>
              <a:ext uri="{28A0092B-C50C-407E-A947-70E740481C1C}">
                <a14:useLocalDpi xmlns:a14="http://schemas.microsoft.com/office/drawing/2010/main" val="0"/>
              </a:ext>
              <a:ext uri="{96DAC541-7B7A-43D3-8B79-37D633B846F1}">
                <asvg:svgBlip xmlns="" xmlns:asvg="http://schemas.microsoft.com/office/drawing/2016/SVG/main" r:embed="rId7"/>
              </a:ext>
            </a:extLst>
          </a:blip>
          <a:stretch>
            <a:fillRect/>
          </a:stretch>
        </p:blipFill>
        <p:spPr>
          <a:xfrm>
            <a:off x="4699000" y="2032000"/>
            <a:ext cx="406400" cy="406400"/>
          </a:xfrm>
          <a:prstGeom prst="rect">
            <a:avLst/>
          </a:prstGeom>
        </p:spPr>
      </p:pic>
      <p:sp>
        <p:nvSpPr>
          <p:cNvPr id="10" name="AutoShape 10"/>
          <p:cNvSpPr/>
          <p:nvPr/>
        </p:nvSpPr>
        <p:spPr>
          <a:xfrm>
            <a:off x="5207000" y="2032000"/>
            <a:ext cx="2445084"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b="1" i="0" u="none" strike="noStrike" dirty="0" smtClean="0">
                <a:solidFill>
                  <a:srgbClr val="FFFFFF"/>
                </a:solidFill>
                <a:latin typeface="Noto Sans SC"/>
                <a:ea typeface="Noto Sans SC"/>
                <a:cs typeface="Noto Sans SC"/>
                <a:sym typeface="Noto Sans SC"/>
              </a:rPr>
              <a:t>本工序：销售预测</a:t>
            </a:r>
            <a:endParaRPr lang="en-US" altLang="zh-CN" b="1" i="0" u="none" strike="noStrike" dirty="0" smtClean="0">
              <a:solidFill>
                <a:srgbClr val="FFFFFF"/>
              </a:solidFill>
              <a:latin typeface="Noto Sans SC"/>
              <a:ea typeface="Noto Sans SC"/>
              <a:cs typeface="Noto Sans SC"/>
              <a:sym typeface="Noto Sans SC"/>
            </a:endParaRPr>
          </a:p>
          <a:p>
            <a:pPr>
              <a:lnSpc>
                <a:spcPct val="125000"/>
              </a:lnSpc>
              <a:defRPr/>
            </a:pPr>
            <a:r>
              <a:rPr lang="en-US" altLang="zh-CN" b="1" i="0" u="none" strike="noStrike" dirty="0" smtClean="0">
                <a:solidFill>
                  <a:srgbClr val="FFFFFF"/>
                </a:solidFill>
                <a:latin typeface="Noto Sans SC"/>
                <a:ea typeface="Noto Sans SC"/>
                <a:cs typeface="Noto Sans SC"/>
                <a:sym typeface="Noto Sans SC"/>
              </a:rPr>
              <a:t>-</a:t>
            </a:r>
            <a:r>
              <a:rPr lang="zh-CN" altLang="en-US" b="1" dirty="0" smtClean="0">
                <a:solidFill>
                  <a:srgbClr val="FFFFFF"/>
                </a:solidFill>
                <a:latin typeface="Noto Sans SC"/>
                <a:ea typeface="Noto Sans SC"/>
                <a:sym typeface="Noto Sans SC"/>
              </a:rPr>
              <a:t>牵引预测质量提升</a:t>
            </a:r>
            <a:endParaRPr lang="en-US" sz="1000" dirty="0"/>
          </a:p>
        </p:txBody>
      </p:sp>
      <p:cxnSp>
        <p:nvCxnSpPr>
          <p:cNvPr id="11" name="Connector 11"/>
          <p:cNvCxnSpPr/>
          <p:nvPr/>
        </p:nvCxnSpPr>
        <p:spPr>
          <a:xfrm rot="-15626">
            <a:off x="4699014" y="2533650"/>
            <a:ext cx="2794000" cy="12700"/>
          </a:xfrm>
          <a:prstGeom prst="line">
            <a:avLst/>
          </a:prstGeom>
          <a:solidFill>
            <a:srgbClr val="DEE0E3">
              <a:alpha val="100000"/>
            </a:srgbClr>
          </a:solidFill>
          <a:ln w="12700" cap="flat" cmpd="sng">
            <a:solidFill>
              <a:srgbClr val="FFFFFF">
                <a:alpha val="20000"/>
              </a:srgbClr>
            </a:solidFill>
            <a:prstDash val="solid"/>
            <a:round/>
            <a:headEnd type="none" w="med" len="med"/>
            <a:tailEnd type="none" w="med" len="med"/>
          </a:ln>
        </p:spPr>
      </p:cxnSp>
      <p:sp>
        <p:nvSpPr>
          <p:cNvPr id="12" name="AutoShape 12"/>
          <p:cNvSpPr/>
          <p:nvPr/>
        </p:nvSpPr>
        <p:spPr>
          <a:xfrm>
            <a:off x="4699000" y="2667000"/>
            <a:ext cx="2794000" cy="1905000"/>
          </a:xfrm>
          <a:prstGeom prst="rect">
            <a:avLst/>
          </a:prstGeom>
          <a:noFill/>
          <a:ln w="12700" cap="flat" cmpd="sng">
            <a:noFill/>
            <a:prstDash val="solid"/>
            <a:round/>
          </a:ln>
        </p:spPr>
        <p:txBody>
          <a:bodyPr vert="horz" wrap="square" lIns="0" tIns="0" rIns="0" bIns="0" rtlCol="0" anchor="ctr" anchorCtr="0"/>
          <a:lstStyle/>
          <a:p>
            <a:pPr marL="177800" indent="-177800">
              <a:lnSpc>
                <a:spcPct val="125000"/>
              </a:lnSpc>
              <a:buClr>
                <a:srgbClr val="F5F5F7"/>
              </a:buClr>
              <a:buFont typeface="Arial"/>
              <a:buChar char="•"/>
            </a:pPr>
            <a:r>
              <a:rPr lang="zh-CN" altLang="en-US" dirty="0" smtClean="0">
                <a:solidFill>
                  <a:srgbClr val="F5F5F7"/>
                </a:solidFill>
                <a:latin typeface="Noto Sans SC"/>
                <a:ea typeface="Noto Sans SC"/>
                <a:cs typeface="Noto Sans SC"/>
                <a:sym typeface="Noto Sans SC"/>
              </a:rPr>
              <a:t>通过</a:t>
            </a:r>
            <a:r>
              <a:rPr lang="zh-CN" altLang="en-US" dirty="0">
                <a:solidFill>
                  <a:srgbClr val="F5F5F7"/>
                </a:solidFill>
                <a:latin typeface="Noto Sans SC"/>
                <a:ea typeface="Noto Sans SC"/>
                <a:cs typeface="Noto Sans SC"/>
                <a:sym typeface="Noto Sans SC"/>
              </a:rPr>
              <a:t>实时数据与快照信息的比对，识别：哪些预测没有</a:t>
            </a:r>
            <a:r>
              <a:rPr lang="zh-CN" altLang="en-US" dirty="0" smtClean="0">
                <a:solidFill>
                  <a:srgbClr val="F5F5F7"/>
                </a:solidFill>
                <a:latin typeface="Noto Sans SC"/>
                <a:ea typeface="Noto Sans SC"/>
                <a:cs typeface="Noto Sans SC"/>
                <a:sym typeface="Noto Sans SC"/>
              </a:rPr>
              <a:t>做，哪些</a:t>
            </a:r>
            <a:r>
              <a:rPr lang="zh-CN" altLang="en-US" dirty="0">
                <a:solidFill>
                  <a:srgbClr val="F5F5F7"/>
                </a:solidFill>
                <a:latin typeface="Noto Sans SC"/>
                <a:ea typeface="Noto Sans SC"/>
                <a:cs typeface="Noto Sans SC"/>
                <a:sym typeface="Noto Sans SC"/>
              </a:rPr>
              <a:t>预测做的不质量（信息缺失，频繁变更等</a:t>
            </a:r>
            <a:r>
              <a:rPr lang="zh-CN" altLang="en-US" dirty="0" smtClean="0">
                <a:solidFill>
                  <a:srgbClr val="F5F5F7"/>
                </a:solidFill>
                <a:latin typeface="Noto Sans SC"/>
                <a:ea typeface="Noto Sans SC"/>
                <a:cs typeface="Noto Sans SC"/>
                <a:sym typeface="Noto Sans SC"/>
              </a:rPr>
              <a:t>），哪些预测信息需要重点关注及时跟进</a:t>
            </a:r>
            <a:endParaRPr lang="en-US" altLang="zh-CN" dirty="0">
              <a:solidFill>
                <a:srgbClr val="F5F5F7"/>
              </a:solidFill>
              <a:latin typeface="Noto Sans SC"/>
              <a:ea typeface="Noto Sans SC"/>
              <a:cs typeface="Noto Sans SC"/>
              <a:sym typeface="Noto Sans SC"/>
            </a:endParaRPr>
          </a:p>
          <a:p>
            <a:pPr marL="177800" indent="-177800" algn="l">
              <a:lnSpc>
                <a:spcPct val="125000"/>
              </a:lnSpc>
              <a:buClr>
                <a:srgbClr val="F5F5F7"/>
              </a:buClr>
              <a:buChar char="•"/>
            </a:pPr>
            <a:endParaRPr lang="en-US" sz="1400" b="0" i="0" u="none" strike="noStrike" dirty="0" smtClean="0">
              <a:solidFill>
                <a:srgbClr val="F5F5F7"/>
              </a:solidFill>
              <a:latin typeface="Noto Sans SC"/>
              <a:ea typeface="Noto Sans SC"/>
              <a:cs typeface="Noto Sans SC"/>
              <a:sym typeface="Noto Sans SC"/>
            </a:endParaRPr>
          </a:p>
          <a:p>
            <a:pPr marL="177800" indent="-177800" algn="l">
              <a:lnSpc>
                <a:spcPct val="125000"/>
              </a:lnSpc>
              <a:buClr>
                <a:srgbClr val="F5F5F7"/>
              </a:buClr>
              <a:buChar char="•"/>
            </a:pPr>
            <a:endParaRPr lang="en-US" sz="1400" b="0" i="0" u="none" strike="noStrike" dirty="0">
              <a:solidFill>
                <a:srgbClr val="F5F5F7"/>
              </a:solidFill>
              <a:latin typeface="Noto Sans SC"/>
              <a:ea typeface="Noto Sans SC"/>
              <a:cs typeface="Noto Sans SC"/>
              <a:sym typeface="Noto Sans SC"/>
            </a:endParaRPr>
          </a:p>
        </p:txBody>
      </p:sp>
      <p:sp>
        <p:nvSpPr>
          <p:cNvPr id="13" name="AutoShape 13"/>
          <p:cNvSpPr/>
          <p:nvPr/>
        </p:nvSpPr>
        <p:spPr>
          <a:xfrm>
            <a:off x="8128000" y="1778000"/>
            <a:ext cx="3302000" cy="3048000"/>
          </a:xfrm>
          <a:prstGeom prst="roundRect">
            <a:avLst>
              <a:gd name="adj" fmla="val 4166"/>
            </a:avLst>
          </a:prstGeom>
          <a:solidFill>
            <a:srgbClr val="FFFFFF">
              <a:alpha val="8000"/>
            </a:srgbClr>
          </a:solidFill>
          <a:ln w="12700" cap="flat" cmpd="sng">
            <a:solidFill>
              <a:srgbClr val="4A90E2">
                <a:alpha val="40000"/>
              </a:srgbClr>
            </a:solid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r:embed="rId8">
            <a:extLst>
              <a:ext uri="{28A0092B-C50C-407E-A947-70E740481C1C}">
                <a14:useLocalDpi xmlns:a14="http://schemas.microsoft.com/office/drawing/2010/main" val="0"/>
              </a:ext>
              <a:ext uri="{96DAC541-7B7A-43D3-8B79-37D633B846F1}">
                <asvg:svgBlip xmlns="" xmlns:asvg="http://schemas.microsoft.com/office/drawing/2016/SVG/main" r:embed="rId9"/>
              </a:ext>
            </a:extLst>
          </a:blip>
          <a:stretch>
            <a:fillRect/>
          </a:stretch>
        </p:blipFill>
        <p:spPr>
          <a:xfrm>
            <a:off x="8382000" y="2032000"/>
            <a:ext cx="406400" cy="406400"/>
          </a:xfrm>
          <a:prstGeom prst="rect">
            <a:avLst/>
          </a:prstGeom>
        </p:spPr>
      </p:pic>
      <p:sp>
        <p:nvSpPr>
          <p:cNvPr id="15" name="AutoShape 15"/>
          <p:cNvSpPr/>
          <p:nvPr/>
        </p:nvSpPr>
        <p:spPr>
          <a:xfrm>
            <a:off x="8889999" y="2032000"/>
            <a:ext cx="2438935"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b="1" i="0" u="none" strike="noStrike" dirty="0" smtClean="0">
                <a:solidFill>
                  <a:srgbClr val="FFFFFF"/>
                </a:solidFill>
                <a:latin typeface="Noto Sans SC"/>
                <a:ea typeface="Noto Sans SC"/>
                <a:cs typeface="Noto Sans SC"/>
                <a:sym typeface="Noto Sans SC"/>
              </a:rPr>
              <a:t>下工序：</a:t>
            </a:r>
            <a:r>
              <a:rPr lang="en-US" b="1" i="0" u="none" strike="noStrike" dirty="0" err="1" smtClean="0">
                <a:solidFill>
                  <a:srgbClr val="FFFFFF"/>
                </a:solidFill>
                <a:latin typeface="Noto Sans SC"/>
                <a:ea typeface="Noto Sans SC"/>
                <a:cs typeface="Noto Sans SC"/>
                <a:sym typeface="Noto Sans SC"/>
              </a:rPr>
              <a:t>数据</a:t>
            </a:r>
            <a:r>
              <a:rPr lang="zh-CN" altLang="en-US" b="1" i="0" u="none" strike="noStrike" dirty="0" smtClean="0">
                <a:solidFill>
                  <a:srgbClr val="FFFFFF"/>
                </a:solidFill>
                <a:latin typeface="Noto Sans SC"/>
                <a:ea typeface="Noto Sans SC"/>
                <a:cs typeface="Noto Sans SC"/>
                <a:sym typeface="Noto Sans SC"/>
              </a:rPr>
              <a:t>应用</a:t>
            </a:r>
            <a:endParaRPr lang="en-US" altLang="zh-CN" b="1" i="0" u="none" strike="noStrike" dirty="0" smtClean="0">
              <a:solidFill>
                <a:srgbClr val="FFFFFF"/>
              </a:solidFill>
              <a:latin typeface="Noto Sans SC"/>
              <a:ea typeface="Noto Sans SC"/>
              <a:cs typeface="Noto Sans SC"/>
              <a:sym typeface="Noto Sans SC"/>
            </a:endParaRPr>
          </a:p>
          <a:p>
            <a:pPr indent="0" algn="l">
              <a:lnSpc>
                <a:spcPct val="125000"/>
              </a:lnSpc>
              <a:defRPr/>
            </a:pPr>
            <a:r>
              <a:rPr lang="en-US" altLang="zh-CN" b="1" dirty="0" smtClean="0">
                <a:solidFill>
                  <a:srgbClr val="FFFFFF"/>
                </a:solidFill>
                <a:latin typeface="Noto Sans SC"/>
                <a:ea typeface="Noto Sans SC"/>
                <a:sym typeface="Noto Sans SC"/>
              </a:rPr>
              <a:t>-</a:t>
            </a:r>
            <a:r>
              <a:rPr lang="zh-CN" altLang="en-US" b="1" dirty="0" smtClean="0">
                <a:solidFill>
                  <a:srgbClr val="FFFFFF"/>
                </a:solidFill>
                <a:latin typeface="Noto Sans SC"/>
                <a:ea typeface="Noto Sans SC"/>
                <a:sym typeface="Noto Sans SC"/>
              </a:rPr>
              <a:t>充分利用预测数据</a:t>
            </a:r>
            <a:endParaRPr lang="en-US" sz="1000" dirty="0"/>
          </a:p>
        </p:txBody>
      </p:sp>
      <p:cxnSp>
        <p:nvCxnSpPr>
          <p:cNvPr id="16" name="Connector 16"/>
          <p:cNvCxnSpPr/>
          <p:nvPr/>
        </p:nvCxnSpPr>
        <p:spPr>
          <a:xfrm rot="-15626">
            <a:off x="8382014" y="2533650"/>
            <a:ext cx="2794000" cy="12700"/>
          </a:xfrm>
          <a:prstGeom prst="line">
            <a:avLst/>
          </a:prstGeom>
          <a:solidFill>
            <a:srgbClr val="DEE0E3">
              <a:alpha val="100000"/>
            </a:srgbClr>
          </a:solidFill>
          <a:ln w="12700" cap="flat" cmpd="sng">
            <a:solidFill>
              <a:srgbClr val="FFFFFF">
                <a:alpha val="20000"/>
              </a:srgbClr>
            </a:solidFill>
            <a:prstDash val="solid"/>
            <a:round/>
            <a:headEnd type="none" w="med" len="med"/>
            <a:tailEnd type="none" w="med" len="med"/>
          </a:ln>
        </p:spPr>
      </p:cxnSp>
      <p:sp>
        <p:nvSpPr>
          <p:cNvPr id="17" name="AutoShape 17"/>
          <p:cNvSpPr/>
          <p:nvPr/>
        </p:nvSpPr>
        <p:spPr>
          <a:xfrm>
            <a:off x="8382000" y="2667000"/>
            <a:ext cx="2794000" cy="1905000"/>
          </a:xfrm>
          <a:prstGeom prst="rect">
            <a:avLst/>
          </a:prstGeom>
          <a:noFill/>
          <a:ln w="12700" cap="flat" cmpd="sng">
            <a:noFill/>
            <a:prstDash val="solid"/>
            <a:round/>
          </a:ln>
        </p:spPr>
        <p:txBody>
          <a:bodyPr vert="horz" wrap="square" lIns="0" tIns="0" rIns="0" bIns="0" rtlCol="0" anchor="t" anchorCtr="0"/>
          <a:lstStyle/>
          <a:p>
            <a:pPr marL="177800" indent="-177800">
              <a:lnSpc>
                <a:spcPct val="125000"/>
              </a:lnSpc>
              <a:buClr>
                <a:srgbClr val="F5F5F7"/>
              </a:buClr>
              <a:buFont typeface="Arial"/>
              <a:buChar char="•"/>
              <a:defRPr/>
            </a:pPr>
            <a:r>
              <a:rPr lang="zh-CN" altLang="en-US" dirty="0" smtClean="0">
                <a:solidFill>
                  <a:srgbClr val="F5F5F7"/>
                </a:solidFill>
                <a:latin typeface="Noto Sans SC"/>
                <a:ea typeface="Noto Sans SC"/>
                <a:cs typeface="Noto Sans SC"/>
                <a:sym typeface="Noto Sans SC"/>
              </a:rPr>
              <a:t>通过对完整且逻辑性强的预测数据进行应用，支撑其他业务的有效开展，比如：趋势分析，预测准确率计算，后端供应链流程支持等。</a:t>
            </a:r>
            <a:endParaRPr lang="en-US" sz="1400" b="0" i="0" u="none" strike="noStrike" dirty="0">
              <a:solidFill>
                <a:srgbClr val="F5F5F7"/>
              </a:solidFill>
              <a:latin typeface="Noto Sans SC"/>
              <a:ea typeface="Noto Sans SC"/>
              <a:cs typeface="Noto Sans SC"/>
              <a:sym typeface="Noto Sans SC"/>
            </a:endParaRPr>
          </a:p>
        </p:txBody>
      </p:sp>
      <p:sp>
        <p:nvSpPr>
          <p:cNvPr id="18" name="AutoShape 18"/>
          <p:cNvSpPr/>
          <p:nvPr/>
        </p:nvSpPr>
        <p:spPr>
          <a:xfrm>
            <a:off x="762000" y="5080000"/>
            <a:ext cx="10668000" cy="1270000"/>
          </a:xfrm>
          <a:prstGeom prst="roundRect">
            <a:avLst>
              <a:gd name="adj" fmla="val 10000"/>
            </a:avLst>
          </a:prstGeom>
          <a:solidFill>
            <a:srgbClr val="4A90E2">
              <a:alpha val="15000"/>
            </a:srgbClr>
          </a:solidFill>
          <a:ln w="12700" cap="flat" cmpd="sng">
            <a:solidFill>
              <a:srgbClr val="4A90E2">
                <a:alpha val="60000"/>
              </a:srgbClr>
            </a:solidFill>
            <a:prstDash val="solid"/>
            <a:round/>
          </a:ln>
        </p:spPr>
        <p:txBody>
          <a:bodyPr vert="horz" wrap="square" lIns="63500" tIns="63500" rIns="63500" bIns="63500" rtlCol="0" anchor="ctr"/>
          <a:lstStyle/>
          <a:p>
            <a:pPr algn="ctr">
              <a:defRPr/>
            </a:pPr>
            <a:endParaRPr/>
          </a:p>
        </p:txBody>
      </p:sp>
      <p:pic>
        <p:nvPicPr>
          <p:cNvPr id="19" name="Picture 19"/>
          <p:cNvPicPr>
            <a:picLocks noChangeAspect="1"/>
          </p:cNvPicPr>
          <p:nvPr/>
        </p:nvPicPr>
        <p:blipFill>
          <a:blip r:embed="rId10">
            <a:extLst>
              <a:ext uri="{28A0092B-C50C-407E-A947-70E740481C1C}">
                <a14:useLocalDpi xmlns:a14="http://schemas.microsoft.com/office/drawing/2010/main" val="0"/>
              </a:ext>
              <a:ext uri="{96DAC541-7B7A-43D3-8B79-37D633B846F1}">
                <asvg:svgBlip xmlns="" xmlns:asvg="http://schemas.microsoft.com/office/drawing/2016/SVG/main" r:embed="rId11"/>
              </a:ext>
            </a:extLst>
          </a:blip>
          <a:stretch>
            <a:fillRect/>
          </a:stretch>
        </p:blipFill>
        <p:spPr>
          <a:xfrm>
            <a:off x="1016000" y="5334000"/>
            <a:ext cx="457200" cy="457200"/>
          </a:xfrm>
          <a:prstGeom prst="rect">
            <a:avLst/>
          </a:prstGeom>
        </p:spPr>
      </p:pic>
      <p:sp>
        <p:nvSpPr>
          <p:cNvPr id="20" name="AutoShape 20"/>
          <p:cNvSpPr/>
          <p:nvPr/>
        </p:nvSpPr>
        <p:spPr>
          <a:xfrm>
            <a:off x="1587500" y="5334000"/>
            <a:ext cx="1905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方案目标</a:t>
            </a:r>
            <a:endParaRPr lang="en-US" sz="1100"/>
          </a:p>
        </p:txBody>
      </p:sp>
      <p:sp>
        <p:nvSpPr>
          <p:cNvPr id="21" name="AutoShape 21"/>
          <p:cNvSpPr/>
          <p:nvPr/>
        </p:nvSpPr>
        <p:spPr>
          <a:xfrm>
            <a:off x="1016000" y="5715000"/>
            <a:ext cx="1016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1400" b="0" i="0" u="none" strike="noStrike" dirty="0" smtClean="0">
                <a:solidFill>
                  <a:srgbClr val="F5F5F7"/>
                </a:solidFill>
                <a:latin typeface="Noto Sans SC"/>
                <a:ea typeface="Noto Sans SC"/>
                <a:cs typeface="Noto Sans SC"/>
                <a:sym typeface="Noto Sans SC"/>
              </a:rPr>
              <a:t>设计统一的销售预测管理系统，</a:t>
            </a:r>
            <a:r>
              <a:rPr lang="en-US" sz="1400" b="0" i="0" u="none" strike="noStrike" dirty="0" err="1" smtClean="0">
                <a:solidFill>
                  <a:srgbClr val="F5F5F7"/>
                </a:solidFill>
                <a:latin typeface="Noto Sans SC"/>
                <a:ea typeface="Noto Sans SC"/>
                <a:cs typeface="Noto Sans SC"/>
                <a:sym typeface="Noto Sans SC"/>
              </a:rPr>
              <a:t>实现</a:t>
            </a:r>
            <a:r>
              <a:rPr lang="zh-CN" altLang="en-US" dirty="0">
                <a:solidFill>
                  <a:srgbClr val="F5F5F7"/>
                </a:solidFill>
                <a:latin typeface="Noto Sans SC"/>
                <a:ea typeface="Noto Sans SC"/>
                <a:cs typeface="Noto Sans SC"/>
                <a:sym typeface="Noto Sans SC"/>
              </a:rPr>
              <a:t>包含</a:t>
            </a:r>
            <a:r>
              <a:rPr lang="en-US" sz="1400" b="0" i="0" u="none" strike="noStrike" dirty="0" err="1" smtClean="0">
                <a:solidFill>
                  <a:srgbClr val="F5F5F7"/>
                </a:solidFill>
                <a:latin typeface="Noto Sans SC"/>
                <a:ea typeface="Noto Sans SC"/>
                <a:cs typeface="Noto Sans SC"/>
                <a:sym typeface="Noto Sans SC"/>
              </a:rPr>
              <a:t>分批要货</a:t>
            </a:r>
            <a:r>
              <a:rPr lang="zh-CN" altLang="en-US" sz="1400" b="0" i="0" u="none" strike="noStrike" dirty="0" smtClean="0">
                <a:solidFill>
                  <a:srgbClr val="F5F5F7"/>
                </a:solidFill>
                <a:latin typeface="Noto Sans SC"/>
                <a:ea typeface="Noto Sans SC"/>
                <a:cs typeface="Noto Sans SC"/>
                <a:sym typeface="Noto Sans SC"/>
              </a:rPr>
              <a:t>场景</a:t>
            </a:r>
            <a:r>
              <a:rPr lang="en-US" sz="1400" b="0" i="0" u="none" strike="noStrike" dirty="0" err="1" smtClean="0">
                <a:solidFill>
                  <a:srgbClr val="F5F5F7"/>
                </a:solidFill>
                <a:latin typeface="Noto Sans SC"/>
                <a:ea typeface="Noto Sans SC"/>
                <a:cs typeface="Noto Sans SC"/>
                <a:sym typeface="Noto Sans SC"/>
              </a:rPr>
              <a:t>需求的</a:t>
            </a:r>
            <a:r>
              <a:rPr lang="en-US" sz="1400" b="1" i="0" u="none" strike="noStrike" dirty="0" err="1" smtClean="0">
                <a:solidFill>
                  <a:srgbClr val="F5F5F7"/>
                </a:solidFill>
                <a:latin typeface="Noto Sans SC"/>
                <a:ea typeface="Noto Sans SC"/>
                <a:cs typeface="Noto Sans SC"/>
                <a:sym typeface="Noto Sans SC"/>
              </a:rPr>
              <a:t>可视化</a:t>
            </a:r>
            <a:r>
              <a:rPr lang="en-US" sz="1400" b="1" i="0" u="none" strike="noStrike" dirty="0" err="1">
                <a:solidFill>
                  <a:srgbClr val="F5F5F7"/>
                </a:solidFill>
                <a:latin typeface="Noto Sans SC"/>
                <a:ea typeface="Noto Sans SC"/>
                <a:cs typeface="Noto Sans SC"/>
                <a:sym typeface="Noto Sans SC"/>
              </a:rPr>
              <a:t>、标准化、数字化</a:t>
            </a:r>
            <a:r>
              <a:rPr lang="en-US" sz="1400" b="0" i="0" u="none" strike="noStrike" dirty="0" err="1">
                <a:solidFill>
                  <a:srgbClr val="F5F5F7"/>
                </a:solidFill>
                <a:latin typeface="Noto Sans SC"/>
                <a:ea typeface="Noto Sans SC"/>
                <a:cs typeface="Noto Sans SC"/>
                <a:sym typeface="Noto Sans SC"/>
              </a:rPr>
              <a:t>，为供应链提供精准、可执行的需求预测依据，从根本上提升备货准确率</a:t>
            </a:r>
            <a:r>
              <a:rPr lang="en-US" sz="1400" b="0" i="0" u="none" strike="noStrike" dirty="0">
                <a:solidFill>
                  <a:srgbClr val="F5F5F7"/>
                </a:solidFill>
                <a:latin typeface="Noto Sans SC"/>
                <a:ea typeface="Noto Sans SC"/>
                <a:cs typeface="Noto Sans SC"/>
                <a:sym typeface="Noto Sans SC"/>
              </a:rPr>
              <a:t>。</a:t>
            </a:r>
            <a:endParaRPr lang="en-US" sz="1100" dirty="0"/>
          </a:p>
        </p:txBody>
      </p:sp>
      <p:sp>
        <p:nvSpPr>
          <p:cNvPr id="23" name="矩形 22"/>
          <p:cNvSpPr/>
          <p:nvPr/>
        </p:nvSpPr>
        <p:spPr>
          <a:xfrm>
            <a:off x="762000" y="1009650"/>
            <a:ext cx="3302000" cy="64589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CRM</a:t>
            </a:r>
            <a:endParaRPr lang="zh-CN" altLang="en-US" dirty="0"/>
          </a:p>
        </p:txBody>
      </p:sp>
      <p:sp>
        <p:nvSpPr>
          <p:cNvPr id="24" name="矩形 23"/>
          <p:cNvSpPr/>
          <p:nvPr/>
        </p:nvSpPr>
        <p:spPr>
          <a:xfrm>
            <a:off x="4445000" y="1017805"/>
            <a:ext cx="3302000" cy="64589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预测管理平台（建议方案）</a:t>
            </a:r>
            <a:endParaRPr lang="zh-CN" altLang="en-US" dirty="0"/>
          </a:p>
        </p:txBody>
      </p:sp>
      <p:sp>
        <p:nvSpPr>
          <p:cNvPr id="32" name="矩形 31"/>
          <p:cNvSpPr/>
          <p:nvPr/>
        </p:nvSpPr>
        <p:spPr>
          <a:xfrm>
            <a:off x="8128000" y="1017805"/>
            <a:ext cx="3302000" cy="64589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其他系统平台</a:t>
            </a:r>
            <a:endParaRPr lang="zh-CN" altLang="en-US" dirty="0"/>
          </a:p>
        </p:txBody>
      </p:sp>
      <p:sp>
        <p:nvSpPr>
          <p:cNvPr id="33" name="右箭头 32"/>
          <p:cNvSpPr/>
          <p:nvPr/>
        </p:nvSpPr>
        <p:spPr>
          <a:xfrm>
            <a:off x="4033253" y="1146625"/>
            <a:ext cx="444499" cy="38825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右箭头 33"/>
          <p:cNvSpPr/>
          <p:nvPr/>
        </p:nvSpPr>
        <p:spPr>
          <a:xfrm>
            <a:off x="7747000" y="1146625"/>
            <a:ext cx="444499" cy="38825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4181E">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00000">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0" y="2159000"/>
            <a:ext cx="12192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800" b="1" i="0" u="none" strike="noStrike">
                <a:solidFill>
                  <a:srgbClr val="4A90E2"/>
                </a:solidFill>
                <a:latin typeface="Noto Sans SC"/>
                <a:ea typeface="Noto Sans SC"/>
                <a:cs typeface="Noto Sans SC"/>
                <a:sym typeface="Noto Sans SC"/>
              </a:rPr>
              <a:t>04</a:t>
            </a:r>
            <a:endParaRPr lang="en-US" sz="1100"/>
          </a:p>
        </p:txBody>
      </p:sp>
      <p:sp>
        <p:nvSpPr>
          <p:cNvPr id="5" name="AutoShape 5"/>
          <p:cNvSpPr/>
          <p:nvPr/>
        </p:nvSpPr>
        <p:spPr>
          <a:xfrm>
            <a:off x="0" y="3048000"/>
            <a:ext cx="121920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200" b="1" i="0" u="none" strike="noStrike">
                <a:solidFill>
                  <a:srgbClr val="FFFFFF"/>
                </a:solidFill>
                <a:latin typeface="Noto Sans SC"/>
                <a:ea typeface="Noto Sans SC"/>
                <a:cs typeface="Noto Sans SC"/>
                <a:sym typeface="Noto Sans SC"/>
              </a:rPr>
              <a:t>推进争议与待决策事项</a:t>
            </a:r>
            <a:endParaRPr lang="en-US" sz="1100"/>
          </a:p>
        </p:txBody>
      </p:sp>
      <p:cxnSp>
        <p:nvCxnSpPr>
          <p:cNvPr id="6" name="Connector 6"/>
          <p:cNvCxnSpPr/>
          <p:nvPr/>
        </p:nvCxnSpPr>
        <p:spPr>
          <a:xfrm rot="-42969">
            <a:off x="5588040" y="3803650"/>
            <a:ext cx="1016000" cy="12700"/>
          </a:xfrm>
          <a:prstGeom prst="straightConnector1">
            <a:avLst/>
          </a:prstGeom>
          <a:solidFill>
            <a:srgbClr val="DEE0E3">
              <a:alpha val="100000"/>
            </a:srgbClr>
          </a:solidFill>
          <a:ln w="25400" cap="flat" cmpd="sng">
            <a:solidFill>
              <a:srgbClr val="4A90E2">
                <a:alpha val="100000"/>
              </a:srgbClr>
            </a:solidFill>
            <a:prstDash val="solid"/>
            <a:round/>
            <a:headEnd type="none" w="lg" len="lg"/>
            <a:tailEnd type="none" w="lg" len="lg"/>
          </a:ln>
        </p:spPr>
      </p:cxnSp>
      <p:sp>
        <p:nvSpPr>
          <p:cNvPr id="7" name="AutoShape 7"/>
          <p:cNvSpPr/>
          <p:nvPr/>
        </p:nvSpPr>
        <p:spPr>
          <a:xfrm>
            <a:off x="0" y="4000500"/>
            <a:ext cx="12192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0" i="0" u="none" strike="noStrike">
                <a:solidFill>
                  <a:srgbClr val="FFFFFF">
                    <a:alpha val="80000"/>
                  </a:srgbClr>
                </a:solidFill>
                <a:latin typeface="Noto Sans SC"/>
                <a:ea typeface="Noto Sans SC"/>
                <a:cs typeface="Noto Sans SC"/>
                <a:sym typeface="Noto Sans SC"/>
              </a:rPr>
              <a:t>方案落地的核心顾虑与项目组分歧</a:t>
            </a:r>
            <a:endParaRPr lang="en-US" sz="110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1663700" y="1143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dirty="0" err="1">
                <a:solidFill>
                  <a:srgbClr val="FFFFFF"/>
                </a:solidFill>
                <a:latin typeface="Noto Sans SC"/>
                <a:ea typeface="Noto Sans SC"/>
                <a:cs typeface="Noto Sans SC"/>
                <a:sym typeface="Noto Sans SC"/>
              </a:rPr>
              <a:t>核心争议与顾虑</a:t>
            </a:r>
            <a:endParaRPr lang="en-US" sz="1100" dirty="0"/>
          </a:p>
        </p:txBody>
      </p:sp>
      <p:sp>
        <p:nvSpPr>
          <p:cNvPr id="3" name="AutoShape 3"/>
          <p:cNvSpPr/>
          <p:nvPr/>
        </p:nvSpPr>
        <p:spPr>
          <a:xfrm>
            <a:off x="762000" y="1651000"/>
            <a:ext cx="5143500" cy="3429000"/>
          </a:xfrm>
          <a:prstGeom prst="roundRect">
            <a:avLst>
              <a:gd name="adj" fmla="val 3703"/>
            </a:avLst>
          </a:prstGeom>
          <a:solidFill>
            <a:srgbClr val="FFFFFF">
              <a:alpha val="8000"/>
            </a:srgbClr>
          </a:solidFill>
          <a:ln w="12700" cap="flat" cmpd="sng">
            <a:solidFill>
              <a:srgbClr val="4A90E2">
                <a:alpha val="30000"/>
              </a:srgbClr>
            </a:solidFill>
            <a:prstDash val="solid"/>
            <a:round/>
          </a:ln>
        </p:spPr>
        <p:txBody>
          <a:bodyPr vert="horz" wrap="square" lIns="63500" tIns="63500" rIns="63500" bIns="63500" rtlCol="0" anchor="ctr"/>
          <a:lstStyle/>
          <a:p>
            <a:pPr algn="ctr">
              <a:defRPr/>
            </a:pPr>
            <a:endParaRPr/>
          </a:p>
        </p:txBody>
      </p:sp>
      <p:pic>
        <p:nvPicPr>
          <p:cNvPr id="4" name="Picture 4"/>
          <p:cNvPicPr>
            <a:picLocks noChangeAspect="1"/>
          </p:cNvPicPr>
          <p:nvPr/>
        </p:nvPicPr>
        <p:blipFill>
          <a:blip r:embed="rId4">
            <a:extLst>
              <a:ext uri="{28A0092B-C50C-407E-A947-70E740481C1C}">
                <a14:useLocalDpi xmlns:a14="http://schemas.microsoft.com/office/drawing/2010/main" val="0"/>
              </a:ext>
              <a:ext uri="{96DAC541-7B7A-43D3-8B79-37D633B846F1}">
                <asvg:svgBlip xmlns="" xmlns:asvg="http://schemas.microsoft.com/office/drawing/2016/SVG/main" r:embed="rId5"/>
              </a:ext>
            </a:extLst>
          </a:blip>
          <a:stretch>
            <a:fillRect/>
          </a:stretch>
        </p:blipFill>
        <p:spPr>
          <a:xfrm>
            <a:off x="1066800" y="1955800"/>
            <a:ext cx="406400" cy="406400"/>
          </a:xfrm>
          <a:prstGeom prst="rect">
            <a:avLst/>
          </a:prstGeom>
        </p:spPr>
      </p:pic>
      <p:sp>
        <p:nvSpPr>
          <p:cNvPr id="5" name="AutoShape 5"/>
          <p:cNvSpPr/>
          <p:nvPr/>
        </p:nvSpPr>
        <p:spPr>
          <a:xfrm>
            <a:off x="1574800" y="1930400"/>
            <a:ext cx="4064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dirty="0" err="1">
                <a:solidFill>
                  <a:srgbClr val="4A90E2"/>
                </a:solidFill>
                <a:latin typeface="Noto Sans SC"/>
                <a:ea typeface="Noto Sans SC"/>
                <a:cs typeface="Noto Sans SC"/>
                <a:sym typeface="Noto Sans SC"/>
              </a:rPr>
              <a:t>争议点一：</a:t>
            </a:r>
            <a:r>
              <a:rPr lang="en-US" sz="2000" b="1" i="0" u="none" strike="noStrike" dirty="0" err="1" smtClean="0">
                <a:solidFill>
                  <a:srgbClr val="4A90E2"/>
                </a:solidFill>
                <a:latin typeface="Noto Sans SC"/>
                <a:ea typeface="Noto Sans SC"/>
                <a:cs typeface="Noto Sans SC"/>
                <a:sym typeface="Noto Sans SC"/>
              </a:rPr>
              <a:t>销售端</a:t>
            </a:r>
            <a:r>
              <a:rPr lang="zh-CN" altLang="en-US" sz="2000" b="1" i="0" u="none" strike="noStrike" dirty="0" smtClean="0">
                <a:solidFill>
                  <a:srgbClr val="4A90E2"/>
                </a:solidFill>
                <a:latin typeface="Noto Sans SC"/>
                <a:ea typeface="Noto Sans SC"/>
                <a:cs typeface="Noto Sans SC"/>
                <a:sym typeface="Noto Sans SC"/>
              </a:rPr>
              <a:t>现有流程改变</a:t>
            </a:r>
            <a:endParaRPr lang="en-US" sz="1100" dirty="0"/>
          </a:p>
        </p:txBody>
      </p:sp>
      <p:cxnSp>
        <p:nvCxnSpPr>
          <p:cNvPr id="6" name="Connector 6"/>
          <p:cNvCxnSpPr/>
          <p:nvPr/>
        </p:nvCxnSpPr>
        <p:spPr>
          <a:xfrm rot="-9629">
            <a:off x="1066809" y="2406650"/>
            <a:ext cx="4533900" cy="12700"/>
          </a:xfrm>
          <a:prstGeom prst="straightConnector1">
            <a:avLst/>
          </a:prstGeom>
          <a:solidFill>
            <a:srgbClr val="DEE0E3">
              <a:alpha val="100000"/>
            </a:srgbClr>
          </a:solidFill>
          <a:ln w="12700" cap="flat" cmpd="sng">
            <a:solidFill>
              <a:srgbClr val="FFFFFF">
                <a:alpha val="15000"/>
              </a:srgbClr>
            </a:solidFill>
            <a:prstDash val="solid"/>
            <a:round/>
            <a:headEnd type="none" w="med" len="med"/>
            <a:tailEnd type="none" w="med" len="med"/>
          </a:ln>
        </p:spPr>
      </p:cxnSp>
      <p:sp>
        <p:nvSpPr>
          <p:cNvPr id="7" name="AutoShape 7"/>
          <p:cNvSpPr/>
          <p:nvPr/>
        </p:nvSpPr>
        <p:spPr>
          <a:xfrm>
            <a:off x="1066800" y="2603500"/>
            <a:ext cx="457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dirty="0" err="1">
                <a:solidFill>
                  <a:srgbClr val="F5A623"/>
                </a:solidFill>
                <a:latin typeface="Noto Sans SC"/>
                <a:ea typeface="Noto Sans SC"/>
                <a:cs typeface="Noto Sans SC"/>
                <a:sym typeface="Noto Sans SC"/>
              </a:rPr>
              <a:t>核心顾虑</a:t>
            </a:r>
            <a:r>
              <a:rPr lang="en-US" sz="1600" b="1" i="0" u="none" strike="noStrike" dirty="0" smtClean="0">
                <a:solidFill>
                  <a:srgbClr val="F5A623"/>
                </a:solidFill>
                <a:latin typeface="Noto Sans SC"/>
                <a:ea typeface="Noto Sans SC"/>
                <a:cs typeface="Noto Sans SC"/>
                <a:sym typeface="Noto Sans SC"/>
              </a:rPr>
              <a:t>：</a:t>
            </a:r>
            <a:r>
              <a:rPr lang="zh-CN" altLang="en-US" sz="1600" b="1" dirty="0" smtClean="0">
                <a:solidFill>
                  <a:srgbClr val="F5A623"/>
                </a:solidFill>
                <a:latin typeface="Noto Sans SC"/>
                <a:ea typeface="Noto Sans SC"/>
                <a:cs typeface="Noto Sans SC"/>
                <a:sym typeface="Noto Sans SC"/>
              </a:rPr>
              <a:t>付出额外工作量应对分批业务</a:t>
            </a:r>
            <a:endParaRPr lang="en-US" sz="1100" dirty="0"/>
          </a:p>
        </p:txBody>
      </p:sp>
      <p:sp>
        <p:nvSpPr>
          <p:cNvPr id="8" name="AutoShape 8"/>
          <p:cNvSpPr/>
          <p:nvPr/>
        </p:nvSpPr>
        <p:spPr>
          <a:xfrm>
            <a:off x="1066800" y="2984500"/>
            <a:ext cx="4572000" cy="165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dirty="0" smtClean="0">
                <a:solidFill>
                  <a:srgbClr val="F5F5F7"/>
                </a:solidFill>
                <a:latin typeface="Noto Sans SC"/>
                <a:ea typeface="Noto Sans SC"/>
                <a:cs typeface="Noto Sans SC"/>
                <a:sym typeface="Noto Sans SC"/>
              </a:rPr>
              <a:t>针对分批业务</a:t>
            </a:r>
            <a:r>
              <a:rPr lang="en-US" sz="1400" b="0" i="0" u="none" strike="noStrike" dirty="0" err="1" smtClean="0">
                <a:solidFill>
                  <a:srgbClr val="F5F5F7"/>
                </a:solidFill>
                <a:latin typeface="Noto Sans SC"/>
                <a:ea typeface="Noto Sans SC"/>
                <a:cs typeface="Noto Sans SC"/>
                <a:sym typeface="Noto Sans SC"/>
              </a:rPr>
              <a:t>需拆分录入</a:t>
            </a:r>
            <a:r>
              <a:rPr lang="zh-CN" altLang="en-US" sz="1400" b="0" i="0" u="none" strike="noStrike" dirty="0" smtClean="0">
                <a:solidFill>
                  <a:srgbClr val="F5F5F7"/>
                </a:solidFill>
                <a:latin typeface="Noto Sans SC"/>
                <a:ea typeface="Noto Sans SC"/>
                <a:cs typeface="Noto Sans SC"/>
                <a:sym typeface="Noto Sans SC"/>
              </a:rPr>
              <a:t>分批计划</a:t>
            </a:r>
            <a:r>
              <a:rPr lang="en-US" sz="1400" b="0" i="0" u="none" strike="noStrike" dirty="0" smtClean="0">
                <a:solidFill>
                  <a:srgbClr val="F5F5F7"/>
                </a:solidFill>
                <a:latin typeface="Noto Sans SC"/>
                <a:ea typeface="Noto Sans SC"/>
                <a:cs typeface="Noto Sans SC"/>
                <a:sym typeface="Noto Sans SC"/>
              </a:rPr>
              <a:t>；</a:t>
            </a:r>
            <a:r>
              <a:rPr lang="en-US" sz="1400" b="0" i="0" u="none" strike="noStrike" dirty="0" err="1" smtClean="0">
                <a:solidFill>
                  <a:srgbClr val="F5F5F7"/>
                </a:solidFill>
                <a:latin typeface="Noto Sans SC"/>
                <a:ea typeface="Noto Sans SC"/>
                <a:cs typeface="Noto Sans SC"/>
                <a:sym typeface="Noto Sans SC"/>
              </a:rPr>
              <a:t>客户调整分批计划时</a:t>
            </a:r>
            <a:r>
              <a:rPr lang="en-US" sz="1400" b="0" i="0" u="none" strike="noStrike" dirty="0" err="1">
                <a:solidFill>
                  <a:srgbClr val="F5F5F7"/>
                </a:solidFill>
                <a:latin typeface="Noto Sans SC"/>
                <a:ea typeface="Noto Sans SC"/>
                <a:cs typeface="Noto Sans SC"/>
                <a:sym typeface="Noto Sans SC"/>
              </a:rPr>
              <a:t>，销售需反复修改数据</a:t>
            </a:r>
            <a:r>
              <a:rPr lang="en-US" sz="1400" b="0" i="0" u="none" strike="noStrike" dirty="0" smtClean="0">
                <a:solidFill>
                  <a:srgbClr val="F5F5F7"/>
                </a:solidFill>
                <a:latin typeface="Noto Sans SC"/>
                <a:ea typeface="Noto Sans SC"/>
                <a:cs typeface="Noto Sans SC"/>
                <a:sym typeface="Noto Sans SC"/>
              </a:rPr>
              <a:t>，</a:t>
            </a:r>
            <a:r>
              <a:rPr lang="zh-CN" altLang="en-US" sz="1400" b="0" i="0" u="none" strike="noStrike" dirty="0" smtClean="0">
                <a:solidFill>
                  <a:srgbClr val="F5F5F7"/>
                </a:solidFill>
                <a:latin typeface="Noto Sans SC"/>
                <a:ea typeface="Noto Sans SC"/>
                <a:cs typeface="Noto Sans SC"/>
                <a:sym typeface="Noto Sans SC"/>
              </a:rPr>
              <a:t>增加一定工作量</a:t>
            </a:r>
            <a:endParaRPr lang="en-US" sz="1100" dirty="0"/>
          </a:p>
        </p:txBody>
      </p:sp>
      <p:sp>
        <p:nvSpPr>
          <p:cNvPr id="9" name="AutoShape 9"/>
          <p:cNvSpPr/>
          <p:nvPr/>
        </p:nvSpPr>
        <p:spPr>
          <a:xfrm>
            <a:off x="6286500" y="1651000"/>
            <a:ext cx="5143500" cy="3429000"/>
          </a:xfrm>
          <a:prstGeom prst="roundRect">
            <a:avLst>
              <a:gd name="adj" fmla="val 3703"/>
            </a:avLst>
          </a:prstGeom>
          <a:solidFill>
            <a:srgbClr val="FFFFFF">
              <a:alpha val="8000"/>
            </a:srgbClr>
          </a:solidFill>
          <a:ln w="12700" cap="flat" cmpd="sng">
            <a:solidFill>
              <a:srgbClr val="4A90E2">
                <a:alpha val="3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 xmlns:asvg="http://schemas.microsoft.com/office/drawing/2016/SVG/main" r:embed="rId7"/>
              </a:ext>
            </a:extLst>
          </a:blip>
          <a:stretch>
            <a:fillRect/>
          </a:stretch>
        </p:blipFill>
        <p:spPr>
          <a:xfrm>
            <a:off x="6591300" y="1955800"/>
            <a:ext cx="406400" cy="406400"/>
          </a:xfrm>
          <a:prstGeom prst="rect">
            <a:avLst/>
          </a:prstGeom>
        </p:spPr>
      </p:pic>
      <p:sp>
        <p:nvSpPr>
          <p:cNvPr id="11" name="AutoShape 11"/>
          <p:cNvSpPr/>
          <p:nvPr/>
        </p:nvSpPr>
        <p:spPr>
          <a:xfrm>
            <a:off x="7099300" y="1930400"/>
            <a:ext cx="4064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4A90E2"/>
                </a:solidFill>
                <a:latin typeface="Noto Sans SC"/>
                <a:ea typeface="Noto Sans SC"/>
                <a:cs typeface="Noto Sans SC"/>
                <a:sym typeface="Noto Sans SC"/>
              </a:rPr>
              <a:t>争议点二：IT系统开发投入</a:t>
            </a:r>
            <a:endParaRPr lang="en-US" sz="1100"/>
          </a:p>
        </p:txBody>
      </p:sp>
      <p:cxnSp>
        <p:nvCxnSpPr>
          <p:cNvPr id="12" name="Connector 12"/>
          <p:cNvCxnSpPr/>
          <p:nvPr/>
        </p:nvCxnSpPr>
        <p:spPr>
          <a:xfrm rot="-9629">
            <a:off x="6591309" y="2406650"/>
            <a:ext cx="4533900" cy="12700"/>
          </a:xfrm>
          <a:prstGeom prst="straightConnector1">
            <a:avLst/>
          </a:prstGeom>
          <a:solidFill>
            <a:srgbClr val="DEE0E3">
              <a:alpha val="100000"/>
            </a:srgbClr>
          </a:solidFill>
          <a:ln w="12700" cap="flat" cmpd="sng">
            <a:solidFill>
              <a:srgbClr val="FFFFFF">
                <a:alpha val="15000"/>
              </a:srgbClr>
            </a:solidFill>
            <a:prstDash val="solid"/>
            <a:round/>
            <a:headEnd type="none" w="med" len="med"/>
            <a:tailEnd type="none" w="med" len="med"/>
          </a:ln>
        </p:spPr>
      </p:cxnSp>
      <p:sp>
        <p:nvSpPr>
          <p:cNvPr id="13" name="AutoShape 13"/>
          <p:cNvSpPr/>
          <p:nvPr/>
        </p:nvSpPr>
        <p:spPr>
          <a:xfrm>
            <a:off x="6591300" y="2603500"/>
            <a:ext cx="457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5A623"/>
                </a:solidFill>
                <a:latin typeface="Noto Sans SC"/>
                <a:ea typeface="Noto Sans SC"/>
                <a:cs typeface="Noto Sans SC"/>
                <a:sym typeface="Noto Sans SC"/>
              </a:rPr>
              <a:t>核心顾虑：高复杂度与预算超支</a:t>
            </a:r>
            <a:endParaRPr lang="en-US" sz="1100"/>
          </a:p>
        </p:txBody>
      </p:sp>
      <p:sp>
        <p:nvSpPr>
          <p:cNvPr id="14" name="AutoShape 14"/>
          <p:cNvSpPr/>
          <p:nvPr/>
        </p:nvSpPr>
        <p:spPr>
          <a:xfrm>
            <a:off x="6591300" y="2984500"/>
            <a:ext cx="4572000" cy="165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F5F5F7"/>
                </a:solidFill>
                <a:latin typeface="Noto Sans SC"/>
                <a:ea typeface="Noto Sans SC"/>
                <a:cs typeface="Noto Sans SC"/>
                <a:sym typeface="Noto Sans SC"/>
              </a:rPr>
              <a:t>涉及前后端系统深度对接与定制化开发，数据逻辑复杂，整体工作量远超常规优化项目，导致预算成本和开发周期存在较大不确定性。</a:t>
            </a:r>
            <a:endParaRPr lang="en-US" sz="1100"/>
          </a:p>
        </p:txBody>
      </p:sp>
      <p:sp>
        <p:nvSpPr>
          <p:cNvPr id="15" name="AutoShape 15"/>
          <p:cNvSpPr/>
          <p:nvPr/>
        </p:nvSpPr>
        <p:spPr>
          <a:xfrm>
            <a:off x="762000" y="5334000"/>
            <a:ext cx="10668000" cy="1016000"/>
          </a:xfrm>
          <a:prstGeom prst="roundRect">
            <a:avLst>
              <a:gd name="adj" fmla="val 12500"/>
            </a:avLst>
          </a:prstGeom>
          <a:solidFill>
            <a:srgbClr val="4A90E2">
              <a:alpha val="15000"/>
            </a:srgbClr>
          </a:solidFill>
          <a:ln w="12700" cap="flat" cmpd="sng">
            <a:solidFill>
              <a:srgbClr val="4A90E2">
                <a:alpha val="50000"/>
              </a:srgbClr>
            </a:solidFill>
            <a:prstDash val="solid"/>
            <a:round/>
          </a:ln>
        </p:spPr>
        <p:txBody>
          <a:bodyPr vert="horz" wrap="square" lIns="63500" tIns="63500" rIns="63500" bIns="63500" rtlCol="0" anchor="ctr"/>
          <a:lstStyle/>
          <a:p>
            <a:pPr algn="ctr">
              <a:defRPr/>
            </a:pPr>
            <a:endParaRPr/>
          </a:p>
        </p:txBody>
      </p:sp>
      <p:pic>
        <p:nvPicPr>
          <p:cNvPr id="16" name="Picture 16"/>
          <p:cNvPicPr>
            <a:picLocks noChangeAspect="1"/>
          </p:cNvPicPr>
          <p:nvPr/>
        </p:nvPicPr>
        <p:blipFill>
          <a:blip r:embed="rId8">
            <a:extLst>
              <a:ext uri="{28A0092B-C50C-407E-A947-70E740481C1C}">
                <a14:useLocalDpi xmlns:a14="http://schemas.microsoft.com/office/drawing/2010/main" val="0"/>
              </a:ext>
              <a:ext uri="{96DAC541-7B7A-43D3-8B79-37D633B846F1}">
                <asvg:svgBlip xmlns="" xmlns:asvg="http://schemas.microsoft.com/office/drawing/2016/SVG/main" r:embed="rId9"/>
              </a:ext>
            </a:extLst>
          </a:blip>
          <a:stretch>
            <a:fillRect/>
          </a:stretch>
        </p:blipFill>
        <p:spPr>
          <a:xfrm>
            <a:off x="1066800" y="5588000"/>
            <a:ext cx="355600" cy="355600"/>
          </a:xfrm>
          <a:prstGeom prst="rect">
            <a:avLst/>
          </a:prstGeom>
        </p:spPr>
      </p:pic>
      <p:sp>
        <p:nvSpPr>
          <p:cNvPr id="17" name="AutoShape 17"/>
          <p:cNvSpPr/>
          <p:nvPr/>
        </p:nvSpPr>
        <p:spPr>
          <a:xfrm>
            <a:off x="1574800" y="5486400"/>
            <a:ext cx="9525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项目组分歧：投入产出比存疑</a:t>
            </a:r>
            <a:endParaRPr lang="en-US" sz="1100"/>
          </a:p>
          <a:p>
            <a:pPr indent="0" algn="l">
              <a:lnSpc>
                <a:spcPct val="125000"/>
              </a:lnSpc>
            </a:pPr>
            <a:r>
              <a:rPr lang="en-US" sz="1400" b="0" i="0" u="none" strike="noStrike">
                <a:solidFill>
                  <a:srgbClr val="C8C8C8"/>
                </a:solidFill>
                <a:latin typeface="Noto Sans SC"/>
                <a:ea typeface="Noto Sans SC"/>
                <a:cs typeface="Noto Sans SC"/>
                <a:sym typeface="Noto Sans SC"/>
              </a:rPr>
              <a:t>由于上述顾虑，内部对方案ROI判断不一，需高层决策定夺。</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1733550" y="19685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FFFFFF"/>
                </a:solidFill>
                <a:latin typeface="Noto Sans SC"/>
                <a:ea typeface="Noto Sans SC"/>
                <a:cs typeface="Noto Sans SC"/>
                <a:sym typeface="Noto Sans SC"/>
              </a:rPr>
              <a:t>本次汇报需领导明确决策事项</a:t>
            </a:r>
            <a:endParaRPr lang="en-US" sz="1100"/>
          </a:p>
        </p:txBody>
      </p:sp>
      <p:sp>
        <p:nvSpPr>
          <p:cNvPr id="3" name="AutoShape 3"/>
          <p:cNvSpPr/>
          <p:nvPr/>
        </p:nvSpPr>
        <p:spPr>
          <a:xfrm>
            <a:off x="762000" y="1524000"/>
            <a:ext cx="10668000" cy="1397000"/>
          </a:xfrm>
          <a:prstGeom prst="roundRect">
            <a:avLst>
              <a:gd name="adj" fmla="val 9090"/>
            </a:avLst>
          </a:prstGeom>
          <a:solidFill>
            <a:srgbClr val="4A90E2">
              <a:alpha val="15000"/>
            </a:srgbClr>
          </a:solidFill>
          <a:ln w="12700" cap="flat" cmpd="sng">
            <a:solidFill>
              <a:srgbClr val="4A90E2">
                <a:alpha val="50000"/>
              </a:srgbClr>
            </a:solidFill>
            <a:prstDash val="solid"/>
            <a:round/>
          </a:ln>
        </p:spPr>
        <p:txBody>
          <a:bodyPr vert="horz" wrap="square" lIns="63500" tIns="63500" rIns="63500" bIns="63500" rtlCol="0" anchor="ctr"/>
          <a:lstStyle/>
          <a:p>
            <a:pPr algn="ctr">
              <a:defRPr/>
            </a:pPr>
            <a:endParaRPr/>
          </a:p>
        </p:txBody>
      </p:sp>
      <p:pic>
        <p:nvPicPr>
          <p:cNvPr id="4" name="Picture 4"/>
          <p:cNvPicPr>
            <a:picLocks noChangeAspect="1"/>
          </p:cNvPicPr>
          <p:nvPr/>
        </p:nvPicPr>
        <p:blipFill>
          <a:blip r:embed="rId4">
            <a:extLst>
              <a:ext uri="{28A0092B-C50C-407E-A947-70E740481C1C}">
                <a14:useLocalDpi xmlns:a14="http://schemas.microsoft.com/office/drawing/2010/main" val="0"/>
              </a:ext>
              <a:ext uri="{96DAC541-7B7A-43D3-8B79-37D633B846F1}">
                <asvg:svgBlip xmlns="" xmlns:asvg="http://schemas.microsoft.com/office/drawing/2016/SVG/main" r:embed="rId5"/>
              </a:ext>
            </a:extLst>
          </a:blip>
          <a:stretch>
            <a:fillRect/>
          </a:stretch>
        </p:blipFill>
        <p:spPr>
          <a:xfrm>
            <a:off x="1066800" y="1841500"/>
            <a:ext cx="406400" cy="406400"/>
          </a:xfrm>
          <a:prstGeom prst="rect">
            <a:avLst/>
          </a:prstGeom>
        </p:spPr>
      </p:pic>
      <p:sp>
        <p:nvSpPr>
          <p:cNvPr id="5" name="AutoShape 5"/>
          <p:cNvSpPr/>
          <p:nvPr/>
        </p:nvSpPr>
        <p:spPr>
          <a:xfrm>
            <a:off x="1600200" y="1714500"/>
            <a:ext cx="9525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5A623"/>
                </a:solidFill>
                <a:latin typeface="Noto Sans SC"/>
                <a:ea typeface="Noto Sans SC"/>
                <a:cs typeface="Noto Sans SC"/>
                <a:sym typeface="Noto Sans SC"/>
              </a:rPr>
              <a:t>核心决策问题：</a:t>
            </a:r>
            <a:endParaRPr lang="en-US" sz="1100"/>
          </a:p>
          <a:p>
            <a:pPr indent="0" algn="l">
              <a:lnSpc>
                <a:spcPct val="125000"/>
              </a:lnSpc>
            </a:pPr>
            <a:r>
              <a:rPr lang="en-US" sz="1800" b="0" i="0" u="none" strike="noStrike">
                <a:solidFill>
                  <a:srgbClr val="FFFFFF"/>
                </a:solidFill>
                <a:latin typeface="Noto Sans SC"/>
                <a:ea typeface="Noto Sans SC"/>
                <a:cs typeface="Noto Sans SC"/>
                <a:sym typeface="Noto Sans SC"/>
              </a:rPr>
              <a:t>是否批准投入IT资源及对应预算，正式启动分批要货场景数字化系统建设？</a:t>
            </a:r>
          </a:p>
        </p:txBody>
      </p:sp>
      <p:sp>
        <p:nvSpPr>
          <p:cNvPr id="6" name="AutoShape 6"/>
          <p:cNvSpPr/>
          <p:nvPr/>
        </p:nvSpPr>
        <p:spPr>
          <a:xfrm>
            <a:off x="762000" y="3175000"/>
            <a:ext cx="5207000" cy="2540000"/>
          </a:xfrm>
          <a:prstGeom prst="roundRect">
            <a:avLst>
              <a:gd name="adj" fmla="val 5000"/>
            </a:avLst>
          </a:prstGeom>
          <a:solidFill>
            <a:srgbClr val="FFFFFF">
              <a:alpha val="5000"/>
            </a:srgbClr>
          </a:solidFill>
          <a:ln w="12700" cap="flat" cmpd="sng">
            <a:solidFill>
              <a:srgbClr val="FFFFFF">
                <a:alpha val="10000"/>
              </a:srgbClr>
            </a:solidFill>
            <a:prstDash val="solid"/>
            <a:round/>
          </a:ln>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r:embed="rId6">
            <a:extLst>
              <a:ext uri="{28A0092B-C50C-407E-A947-70E740481C1C}">
                <a14:useLocalDpi xmlns:a14="http://schemas.microsoft.com/office/drawing/2010/main" val="0"/>
              </a:ext>
              <a:ext uri="{96DAC541-7B7A-43D3-8B79-37D633B846F1}">
                <asvg:svgBlip xmlns="" xmlns:asvg="http://schemas.microsoft.com/office/drawing/2016/SVG/main" r:embed="rId7"/>
              </a:ext>
            </a:extLst>
          </a:blip>
          <a:stretch>
            <a:fillRect/>
          </a:stretch>
        </p:blipFill>
        <p:spPr>
          <a:xfrm>
            <a:off x="1066800" y="3429000"/>
            <a:ext cx="355600" cy="355600"/>
          </a:xfrm>
          <a:prstGeom prst="rect">
            <a:avLst/>
          </a:prstGeom>
        </p:spPr>
      </p:pic>
      <p:sp>
        <p:nvSpPr>
          <p:cNvPr id="8" name="AutoShape 8"/>
          <p:cNvSpPr/>
          <p:nvPr/>
        </p:nvSpPr>
        <p:spPr>
          <a:xfrm>
            <a:off x="1524000" y="34290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4A90E2"/>
                </a:solidFill>
                <a:latin typeface="Noto Sans SC"/>
                <a:ea typeface="Noto Sans SC"/>
                <a:cs typeface="Noto Sans SC"/>
                <a:sym typeface="Noto Sans SC"/>
              </a:rPr>
              <a:t>若批准：立即启动落地执行</a:t>
            </a:r>
            <a:endParaRPr lang="en-US" sz="1100"/>
          </a:p>
        </p:txBody>
      </p:sp>
      <p:cxnSp>
        <p:nvCxnSpPr>
          <p:cNvPr id="9" name="Connector 9"/>
          <p:cNvCxnSpPr/>
          <p:nvPr/>
        </p:nvCxnSpPr>
        <p:spPr>
          <a:xfrm rot="-9496">
            <a:off x="1066809" y="3930650"/>
            <a:ext cx="4597400" cy="12700"/>
          </a:xfrm>
          <a:prstGeom prst="straightConnector1">
            <a:avLst/>
          </a:prstGeom>
          <a:solidFill>
            <a:srgbClr val="DEE0E3">
              <a:alpha val="100000"/>
            </a:srgbClr>
          </a:solidFill>
          <a:ln w="12700" cap="flat" cmpd="sng">
            <a:solidFill>
              <a:srgbClr val="FFFFFF">
                <a:alpha val="10000"/>
              </a:srgbClr>
            </a:solidFill>
            <a:prstDash val="solid"/>
            <a:round/>
            <a:headEnd type="none" w="med" len="med"/>
            <a:tailEnd type="none" w="med" len="med"/>
          </a:ln>
        </p:spPr>
      </p:cxnSp>
      <p:sp>
        <p:nvSpPr>
          <p:cNvPr id="10" name="AutoShape 10"/>
          <p:cNvSpPr/>
          <p:nvPr/>
        </p:nvSpPr>
        <p:spPr>
          <a:xfrm>
            <a:off x="1066800" y="4064000"/>
            <a:ext cx="4597400" cy="1397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F5F5F7">
                    <a:alpha val="80000"/>
                  </a:srgbClr>
                </a:solidFill>
                <a:latin typeface="Noto Sans SC"/>
                <a:ea typeface="Noto Sans SC"/>
                <a:cs typeface="Noto Sans SC"/>
                <a:sym typeface="Noto Sans SC"/>
              </a:rPr>
              <a:t>专项组将立即启动需求细化、IT开发排期、销售端流程宣导与培训，按计划推进项目落地。</a:t>
            </a:r>
            <a:endParaRPr lang="en-US" sz="1100"/>
          </a:p>
        </p:txBody>
      </p:sp>
      <p:sp>
        <p:nvSpPr>
          <p:cNvPr id="11" name="AutoShape 11"/>
          <p:cNvSpPr/>
          <p:nvPr/>
        </p:nvSpPr>
        <p:spPr>
          <a:xfrm>
            <a:off x="6223000" y="3175000"/>
            <a:ext cx="5207000" cy="2540000"/>
          </a:xfrm>
          <a:prstGeom prst="roundRect">
            <a:avLst>
              <a:gd name="adj" fmla="val 5000"/>
            </a:avLst>
          </a:prstGeom>
          <a:solidFill>
            <a:srgbClr val="FFFFFF">
              <a:alpha val="5000"/>
            </a:srgbClr>
          </a:solidFill>
          <a:ln w="12700" cap="flat" cmpd="sng">
            <a:solidFill>
              <a:srgbClr val="FFFFFF">
                <a:alpha val="10000"/>
              </a:srgbClr>
            </a:solidFill>
            <a:prstDash val="solid"/>
            <a:round/>
          </a:ln>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r:embed="rId8">
            <a:extLst>
              <a:ext uri="{28A0092B-C50C-407E-A947-70E740481C1C}">
                <a14:useLocalDpi xmlns:a14="http://schemas.microsoft.com/office/drawing/2010/main" val="0"/>
              </a:ext>
              <a:ext uri="{96DAC541-7B7A-43D3-8B79-37D633B846F1}">
                <asvg:svgBlip xmlns="" xmlns:asvg="http://schemas.microsoft.com/office/drawing/2016/SVG/main" r:embed="rId9"/>
              </a:ext>
            </a:extLst>
          </a:blip>
          <a:stretch>
            <a:fillRect/>
          </a:stretch>
        </p:blipFill>
        <p:spPr>
          <a:xfrm>
            <a:off x="6527800" y="3429000"/>
            <a:ext cx="355600" cy="355600"/>
          </a:xfrm>
          <a:prstGeom prst="rect">
            <a:avLst/>
          </a:prstGeom>
        </p:spPr>
      </p:pic>
      <p:sp>
        <p:nvSpPr>
          <p:cNvPr id="13" name="AutoShape 13"/>
          <p:cNvSpPr/>
          <p:nvPr/>
        </p:nvSpPr>
        <p:spPr>
          <a:xfrm>
            <a:off x="6985000" y="34290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5A623"/>
                </a:solidFill>
                <a:latin typeface="Noto Sans SC"/>
                <a:ea typeface="Noto Sans SC"/>
                <a:cs typeface="Noto Sans SC"/>
                <a:sym typeface="Noto Sans SC"/>
              </a:rPr>
              <a:t>若暂不批准：调整策略优化</a:t>
            </a:r>
            <a:endParaRPr lang="en-US" sz="1100"/>
          </a:p>
        </p:txBody>
      </p:sp>
      <p:cxnSp>
        <p:nvCxnSpPr>
          <p:cNvPr id="14" name="Connector 14"/>
          <p:cNvCxnSpPr/>
          <p:nvPr/>
        </p:nvCxnSpPr>
        <p:spPr>
          <a:xfrm rot="-9496">
            <a:off x="6527809" y="3930650"/>
            <a:ext cx="4597400" cy="12700"/>
          </a:xfrm>
          <a:prstGeom prst="straightConnector1">
            <a:avLst/>
          </a:prstGeom>
          <a:solidFill>
            <a:srgbClr val="DEE0E3">
              <a:alpha val="100000"/>
            </a:srgbClr>
          </a:solidFill>
          <a:ln w="12700" cap="flat" cmpd="sng">
            <a:solidFill>
              <a:srgbClr val="FFFFFF">
                <a:alpha val="10000"/>
              </a:srgbClr>
            </a:solidFill>
            <a:prstDash val="solid"/>
            <a:round/>
            <a:headEnd type="none" w="med" len="med"/>
            <a:tailEnd type="none" w="med" len="med"/>
          </a:ln>
        </p:spPr>
      </p:cxnSp>
      <p:sp>
        <p:nvSpPr>
          <p:cNvPr id="15" name="AutoShape 15"/>
          <p:cNvSpPr/>
          <p:nvPr/>
        </p:nvSpPr>
        <p:spPr>
          <a:xfrm>
            <a:off x="6527800" y="4064000"/>
            <a:ext cx="4597400" cy="1397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dirty="0" err="1">
                <a:solidFill>
                  <a:srgbClr val="F5F5F7">
                    <a:alpha val="80000"/>
                  </a:srgbClr>
                </a:solidFill>
                <a:latin typeface="Noto Sans SC"/>
                <a:ea typeface="Noto Sans SC"/>
                <a:cs typeface="Noto Sans SC"/>
                <a:sym typeface="Noto Sans SC"/>
              </a:rPr>
              <a:t>维持现有线下模式，供应链备货准确率问题无法改善。专项组需调整整体策略，探索其他可能性</a:t>
            </a:r>
            <a:r>
              <a:rPr lang="en-US" sz="1400" b="0" i="0" u="none" strike="noStrike" dirty="0">
                <a:solidFill>
                  <a:srgbClr val="F5F5F7">
                    <a:alpha val="80000"/>
                  </a:srgbClr>
                </a:solidFill>
                <a:latin typeface="Noto Sans SC"/>
                <a:ea typeface="Noto Sans SC"/>
                <a:cs typeface="Noto Sans SC"/>
                <a:sym typeface="Noto Sans SC"/>
              </a:rPr>
              <a:t>。</a:t>
            </a:r>
            <a:endParaRPr lang="en-US" sz="110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F172A">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A1428">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1016000" y="2286000"/>
            <a:ext cx="10160000" cy="1016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400" b="1" i="0" u="none" strike="noStrike">
                <a:solidFill>
                  <a:srgbClr val="FFFFFF"/>
                </a:solidFill>
                <a:latin typeface="Noto Sans SC"/>
                <a:ea typeface="Noto Sans SC"/>
                <a:cs typeface="Noto Sans SC"/>
                <a:sym typeface="Noto Sans SC"/>
              </a:rPr>
              <a:t>感谢聆听 敬请指示</a:t>
            </a:r>
            <a:endParaRPr lang="en-US" sz="1100"/>
          </a:p>
        </p:txBody>
      </p:sp>
      <p:cxnSp>
        <p:nvCxnSpPr>
          <p:cNvPr id="5" name="Connector 5"/>
          <p:cNvCxnSpPr/>
          <p:nvPr/>
        </p:nvCxnSpPr>
        <p:spPr>
          <a:xfrm rot="-34376">
            <a:off x="5461032" y="3422650"/>
            <a:ext cx="1270000" cy="12700"/>
          </a:xfrm>
          <a:prstGeom prst="straightConnector1">
            <a:avLst/>
          </a:prstGeom>
          <a:solidFill>
            <a:srgbClr val="DEE0E3">
              <a:alpha val="100000"/>
            </a:srgbClr>
          </a:solidFill>
          <a:ln w="25400" cap="flat" cmpd="sng">
            <a:solidFill>
              <a:srgbClr val="FFFFFF">
                <a:alpha val="50000"/>
              </a:srgbClr>
            </a:solidFill>
            <a:prstDash val="solid"/>
            <a:round/>
            <a:headEnd type="none" w="lg" len="lg"/>
            <a:tailEnd type="none" w="lg" len="lg"/>
          </a:ln>
        </p:spPr>
      </p:cxn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 xmlns:asvg="http://schemas.microsoft.com/office/drawing/2016/SVG/main" r:embed="rId5"/>
              </a:ext>
            </a:extLst>
          </a:blip>
          <a:stretch>
            <a:fillRect/>
          </a:stretch>
        </p:blipFill>
        <p:spPr>
          <a:xfrm>
            <a:off x="5334000" y="3683000"/>
            <a:ext cx="304800" cy="304800"/>
          </a:xfrm>
          <a:prstGeom prst="rect">
            <a:avLst/>
          </a:prstGeom>
        </p:spPr>
      </p:pic>
      <p:pic>
        <p:nvPicPr>
          <p:cNvPr id="8" name="Picture 8"/>
          <p:cNvPicPr>
            <a:picLocks noChangeAspect="1"/>
          </p:cNvPicPr>
          <p:nvPr/>
        </p:nvPicPr>
        <p:blipFill>
          <a:blip r:embed="rId6"/>
          <a:stretch>
            <a:fillRect/>
          </a:stretch>
        </p:blipFill>
        <p:spPr>
          <a:xfrm>
            <a:off x="10668000" y="6190112"/>
            <a:ext cx="1524000" cy="667888"/>
          </a:xfrm>
          <a:prstGeom prst="rect">
            <a:avLst/>
          </a:prstGeom>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4366</TotalTime>
  <Words>683</Words>
  <Application>Microsoft Office PowerPoint</Application>
  <PresentationFormat>宽屏</PresentationFormat>
  <Paragraphs>107</Paragraphs>
  <Slides>10</Slides>
  <Notes>10</Notes>
  <HiddenSlides>0</HiddenSlides>
  <MMClips>0</MMClips>
  <ScaleCrop>false</ScaleCrop>
  <HeadingPairs>
    <vt:vector size="6" baseType="variant">
      <vt:variant>
        <vt:lpstr>已用的字体</vt:lpstr>
      </vt:variant>
      <vt:variant>
        <vt:i4>4</vt:i4>
      </vt:variant>
      <vt:variant>
        <vt:lpstr>主题</vt:lpstr>
      </vt:variant>
      <vt:variant>
        <vt:i4>2</vt:i4>
      </vt:variant>
      <vt:variant>
        <vt:lpstr>幻灯片标题</vt:lpstr>
      </vt:variant>
      <vt:variant>
        <vt:i4>10</vt:i4>
      </vt:variant>
    </vt:vector>
  </HeadingPairs>
  <TitlesOfParts>
    <vt:vector size="16" baseType="lpstr">
      <vt:lpstr>Noto Sans SC</vt:lpstr>
      <vt:lpstr>Poppins</vt:lpstr>
      <vt:lpstr>宋体</vt:lpstr>
      <vt:lpstr>Arial</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bobosscn</dc:creator>
  <cp:lastModifiedBy>Lenovo</cp:lastModifiedBy>
  <cp:revision>10</cp:revision>
  <dcterms:modified xsi:type="dcterms:W3CDTF">2026-03-03T02:32:37Z</dcterms:modified>
</cp:coreProperties>
</file>