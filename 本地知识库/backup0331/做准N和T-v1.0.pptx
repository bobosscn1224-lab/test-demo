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5"/>
  </p:notesMasterIdLst>
  <p:sldIdLst>
    <p:sldId id="256" r:id="rId3"/>
    <p:sldId id="259" r:id="rId4"/>
    <p:sldId id="324" r:id="rId5"/>
    <p:sldId id="347" r:id="rId6"/>
    <p:sldId id="282" r:id="rId7"/>
    <p:sldId id="339" r:id="rId8"/>
    <p:sldId id="308" r:id="rId9"/>
    <p:sldId id="311" r:id="rId10"/>
    <p:sldId id="340" r:id="rId11"/>
    <p:sldId id="341" r:id="rId12"/>
    <p:sldId id="330" r:id="rId13"/>
    <p:sldId id="332" r:id="rId14"/>
    <p:sldId id="315" r:id="rId15"/>
    <p:sldId id="317" r:id="rId16"/>
    <p:sldId id="318" r:id="rId17"/>
    <p:sldId id="319" r:id="rId18"/>
    <p:sldId id="348" r:id="rId19"/>
    <p:sldId id="346" r:id="rId20"/>
    <p:sldId id="349" r:id="rId21"/>
    <p:sldId id="350" r:id="rId22"/>
    <p:sldId id="352" r:id="rId23"/>
    <p:sldId id="266"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70" autoAdjust="0"/>
    <p:restoredTop sz="90196" autoAdjust="0"/>
  </p:normalViewPr>
  <p:slideViewPr>
    <p:cSldViewPr snapToGrid="0">
      <p:cViewPr varScale="1">
        <p:scale>
          <a:sx n="84" d="100"/>
          <a:sy n="84" d="100"/>
        </p:scale>
        <p:origin x="581"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2026/1/22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66089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2026/1/22</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852337" cy="492443"/>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如何做好预测与交付工作</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2025.11</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90" y="24427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对于预测与交付需要关注的几</a:t>
            </a:r>
            <a:r>
              <a:rPr lang="zh-CN" altLang="en-US" dirty="0"/>
              <a:t>个</a:t>
            </a:r>
            <a:r>
              <a:rPr lang="zh-CN" altLang="en-US" dirty="0" smtClean="0"/>
              <a:t>核心点</a:t>
            </a:r>
            <a:endParaRPr lang="zh-CN" altLang="en-US" dirty="0"/>
          </a:p>
        </p:txBody>
      </p:sp>
      <p:sp>
        <p:nvSpPr>
          <p:cNvPr id="60" name="矩形 59"/>
          <p:cNvSpPr/>
          <p:nvPr/>
        </p:nvSpPr>
        <p:spPr>
          <a:xfrm>
            <a:off x="10118573" y="1327514"/>
            <a:ext cx="1933889"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9957802" y="892834"/>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问题描述</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085131" y="1566150"/>
            <a:ext cx="1932889" cy="4401205"/>
          </a:xfrm>
          <a:prstGeom prst="rect">
            <a:avLst/>
          </a:prstGeom>
        </p:spPr>
        <p:txBody>
          <a:bodyPr wrap="square">
            <a:spAutoFit/>
          </a:bodyPr>
          <a:lstStyle/>
          <a:p>
            <a:r>
              <a:rPr lang="en-US" altLang="zh-CN" sz="1400" dirty="0"/>
              <a:t>1</a:t>
            </a:r>
            <a:r>
              <a:rPr lang="zh-CN" altLang="en-US" sz="1400" dirty="0" smtClean="0"/>
              <a:t>）做准</a:t>
            </a:r>
            <a:r>
              <a:rPr lang="en-US" altLang="zh-CN" sz="1400" dirty="0" smtClean="0"/>
              <a:t>N</a:t>
            </a:r>
            <a:r>
              <a:rPr lang="zh-CN" altLang="en-US" sz="1400" dirty="0" smtClean="0"/>
              <a:t>和</a:t>
            </a:r>
            <a:r>
              <a:rPr lang="en-US" altLang="zh-CN" sz="1400" dirty="0" smtClean="0"/>
              <a:t>T</a:t>
            </a:r>
            <a:r>
              <a:rPr lang="zh-CN" altLang="en-US" sz="1400" dirty="0" smtClean="0"/>
              <a:t>直接影响销售预测，供应链备货和订单交付流程；</a:t>
            </a:r>
            <a:endParaRPr lang="en-US" altLang="zh-CN" sz="1400" dirty="0" smtClean="0"/>
          </a:p>
          <a:p>
            <a:endParaRPr lang="en-US" altLang="zh-CN" sz="1400" dirty="0"/>
          </a:p>
          <a:p>
            <a:r>
              <a:rPr lang="en-US" altLang="zh-CN" sz="1400" dirty="0"/>
              <a:t>2</a:t>
            </a:r>
            <a:r>
              <a:rPr lang="zh-CN" altLang="en-US" sz="1400" dirty="0" smtClean="0"/>
              <a:t>）为了更好的支持后端备货及交付，销售预测不光要管理下单承诺还需要关注要货时间；</a:t>
            </a:r>
            <a:endParaRPr lang="en-US" altLang="zh-CN" sz="1400" dirty="0" smtClean="0"/>
          </a:p>
          <a:p>
            <a:endParaRPr lang="en-US" altLang="zh-CN" sz="1400" dirty="0"/>
          </a:p>
          <a:p>
            <a:r>
              <a:rPr lang="en-US" altLang="zh-CN" sz="1400" dirty="0"/>
              <a:t>3</a:t>
            </a:r>
            <a:r>
              <a:rPr lang="zh-CN" altLang="en-US" sz="1400" dirty="0" smtClean="0"/>
              <a:t>）供应链对于前端销售项目的支撑对于备货和交付有很重要意义；</a:t>
            </a:r>
            <a:endParaRPr lang="en-US" altLang="zh-CN" sz="1400" dirty="0" smtClean="0"/>
          </a:p>
          <a:p>
            <a:endParaRPr lang="en-US" altLang="zh-CN" sz="1400" dirty="0"/>
          </a:p>
          <a:p>
            <a:r>
              <a:rPr lang="en-US" altLang="zh-CN" sz="1400" dirty="0" smtClean="0"/>
              <a:t>4</a:t>
            </a:r>
            <a:r>
              <a:rPr lang="zh-CN" altLang="en-US" sz="1400" dirty="0" smtClean="0"/>
              <a:t>）预测的下单和要货时间需要及时与渠道进行沟通与确认，确保预测与交付保持一致。</a:t>
            </a:r>
            <a:endParaRPr lang="en-US" altLang="zh-CN" sz="1400" dirty="0"/>
          </a:p>
        </p:txBody>
      </p:sp>
      <p:pic>
        <p:nvPicPr>
          <p:cNvPr id="4" name="图片 3"/>
          <p:cNvPicPr>
            <a:picLocks noChangeAspect="1"/>
          </p:cNvPicPr>
          <p:nvPr/>
        </p:nvPicPr>
        <p:blipFill>
          <a:blip r:embed="rId2"/>
          <a:stretch>
            <a:fillRect/>
          </a:stretch>
        </p:blipFill>
        <p:spPr>
          <a:xfrm>
            <a:off x="188115" y="1327514"/>
            <a:ext cx="9769687" cy="44657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99499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4165160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N</a:t>
            </a:r>
            <a:r>
              <a:rPr lang="zh-CN" altLang="en-US" dirty="0"/>
              <a:t>的定义及关键影响因素分析</a:t>
            </a:r>
          </a:p>
        </p:txBody>
      </p:sp>
      <p:sp>
        <p:nvSpPr>
          <p:cNvPr id="45" name="矩形 44"/>
          <p:cNvSpPr/>
          <p:nvPr/>
        </p:nvSpPr>
        <p:spPr>
          <a:xfrm>
            <a:off x="331865" y="1019068"/>
            <a:ext cx="5093283" cy="5219506"/>
          </a:xfrm>
          <a:prstGeom prst="rect">
            <a:avLst/>
          </a:prstGeom>
        </p:spPr>
        <p:txBody>
          <a:bodyPr wrap="square">
            <a:spAutoFit/>
          </a:bodyPr>
          <a:lstStyle/>
          <a:p>
            <a:pPr>
              <a:lnSpc>
                <a:spcPct val="150000"/>
              </a:lnSpc>
            </a:pPr>
            <a:r>
              <a:rPr lang="en-US" altLang="zh-CN" sz="1600" b="1" dirty="0">
                <a:latin typeface="+mn-ea"/>
              </a:rPr>
              <a:t>N</a:t>
            </a:r>
            <a:r>
              <a:rPr lang="zh-CN" altLang="en-US" sz="1600" b="1" dirty="0">
                <a:latin typeface="+mn-ea"/>
              </a:rPr>
              <a:t>就是指项目的产品清单</a:t>
            </a:r>
            <a:r>
              <a:rPr lang="zh-CN" altLang="en-US" sz="1600" dirty="0">
                <a:latin typeface="+mn-ea"/>
              </a:rPr>
              <a:t>，产品清单是客户需求的最终体现，把清单做准就是把</a:t>
            </a:r>
            <a:r>
              <a:rPr lang="en-US" altLang="zh-CN" sz="1600" dirty="0">
                <a:latin typeface="+mn-ea"/>
              </a:rPr>
              <a:t>N</a:t>
            </a:r>
            <a:r>
              <a:rPr lang="zh-CN" altLang="en-US" sz="1600" dirty="0">
                <a:latin typeface="+mn-ea"/>
              </a:rPr>
              <a:t>做准。</a:t>
            </a:r>
            <a:endParaRPr lang="en-US" altLang="zh-CN" sz="1600" dirty="0">
              <a:latin typeface="+mn-ea"/>
            </a:endParaRPr>
          </a:p>
          <a:p>
            <a:pPr>
              <a:lnSpc>
                <a:spcPct val="150000"/>
              </a:lnSpc>
            </a:pPr>
            <a:r>
              <a:rPr lang="zh-CN" altLang="en-US" sz="1600" dirty="0">
                <a:latin typeface="+mn-ea"/>
              </a:rPr>
              <a:t>它有两个条件：</a:t>
            </a:r>
            <a:endParaRPr lang="en-US" altLang="zh-CN" sz="1600" dirty="0">
              <a:latin typeface="+mn-ea"/>
            </a:endParaRPr>
          </a:p>
          <a:p>
            <a:pPr marL="285750" indent="-285750">
              <a:lnSpc>
                <a:spcPct val="150000"/>
              </a:lnSpc>
              <a:buFont typeface="Wingdings" panose="05000000000000000000" pitchFamily="2" charset="2"/>
              <a:buChar char="n"/>
            </a:pPr>
            <a:r>
              <a:rPr lang="zh-CN" altLang="en-US" sz="1400" dirty="0">
                <a:latin typeface="+mn-ea"/>
              </a:rPr>
              <a:t>一是产品清单</a:t>
            </a:r>
            <a:r>
              <a:rPr lang="zh-CN" altLang="en-US" sz="1400" b="1" dirty="0">
                <a:latin typeface="+mn-ea"/>
              </a:rPr>
              <a:t>配置准确</a:t>
            </a:r>
            <a:r>
              <a:rPr lang="zh-CN" altLang="en-US" sz="1400" dirty="0">
                <a:latin typeface="+mn-ea"/>
              </a:rPr>
              <a:t>，适配客户需求（</a:t>
            </a:r>
            <a:r>
              <a:rPr lang="en-US" altLang="zh-CN" sz="1400" dirty="0">
                <a:latin typeface="+mn-ea"/>
              </a:rPr>
              <a:t>PMF</a:t>
            </a:r>
            <a:r>
              <a:rPr lang="zh-CN" altLang="en-US" sz="1400" dirty="0">
                <a:latin typeface="+mn-ea"/>
              </a:rPr>
              <a:t>策略）；</a:t>
            </a:r>
            <a:endParaRPr lang="en-US" altLang="zh-CN" sz="1400" dirty="0">
              <a:latin typeface="+mn-ea"/>
            </a:endParaRPr>
          </a:p>
          <a:p>
            <a:pPr marL="285750" indent="-285750">
              <a:lnSpc>
                <a:spcPct val="150000"/>
              </a:lnSpc>
              <a:buFont typeface="Wingdings" panose="05000000000000000000" pitchFamily="2" charset="2"/>
              <a:buChar char="n"/>
            </a:pPr>
            <a:r>
              <a:rPr lang="zh-CN" altLang="en-US" sz="1400" dirty="0">
                <a:latin typeface="+mn-ea"/>
              </a:rPr>
              <a:t>二是产品清单</a:t>
            </a:r>
            <a:r>
              <a:rPr lang="zh-CN" altLang="en-US" sz="1400" b="1" dirty="0">
                <a:latin typeface="+mn-ea"/>
              </a:rPr>
              <a:t>及时更新</a:t>
            </a:r>
            <a:r>
              <a:rPr lang="zh-CN" altLang="en-US" sz="1400" dirty="0">
                <a:latin typeface="+mn-ea"/>
              </a:rPr>
              <a:t>到</a:t>
            </a:r>
            <a:r>
              <a:rPr lang="en-US" altLang="zh-CN" sz="1400" dirty="0">
                <a:latin typeface="+mn-ea"/>
              </a:rPr>
              <a:t>CRM</a:t>
            </a:r>
            <a:r>
              <a:rPr lang="zh-CN" altLang="en-US" sz="1400" dirty="0">
                <a:latin typeface="+mn-ea"/>
              </a:rPr>
              <a:t>系统中；</a:t>
            </a:r>
          </a:p>
          <a:p>
            <a:pPr marL="171450" indent="-171450">
              <a:lnSpc>
                <a:spcPct val="150000"/>
              </a:lnSpc>
              <a:buFont typeface="Wingdings" panose="05000000000000000000" pitchFamily="2" charset="2"/>
              <a:buChar char="l"/>
            </a:pPr>
            <a:endParaRPr lang="en-US" altLang="zh-CN" sz="1200" dirty="0">
              <a:latin typeface="+mn-ea"/>
            </a:endParaRPr>
          </a:p>
          <a:p>
            <a:pPr>
              <a:lnSpc>
                <a:spcPct val="150000"/>
              </a:lnSpc>
            </a:pPr>
            <a:endParaRPr lang="en-US" altLang="zh-CN" sz="1200" dirty="0">
              <a:latin typeface="+mn-ea"/>
            </a:endParaRPr>
          </a:p>
          <a:p>
            <a:pPr>
              <a:lnSpc>
                <a:spcPct val="150000"/>
              </a:lnSpc>
            </a:pPr>
            <a:endParaRPr lang="en-US" altLang="zh-CN" sz="1200" dirty="0">
              <a:latin typeface="+mn-ea"/>
            </a:endParaRPr>
          </a:p>
          <a:p>
            <a:pPr>
              <a:lnSpc>
                <a:spcPct val="150000"/>
              </a:lnSpc>
            </a:pPr>
            <a:endParaRPr lang="zh-CN" altLang="en-US" sz="1600" dirty="0">
              <a:latin typeface="+mn-ea"/>
            </a:endParaRPr>
          </a:p>
          <a:p>
            <a:pPr>
              <a:lnSpc>
                <a:spcPct val="150000"/>
              </a:lnSpc>
            </a:pPr>
            <a:r>
              <a:rPr lang="zh-CN" altLang="en-US" sz="1600" dirty="0">
                <a:latin typeface="+mn-ea"/>
              </a:rPr>
              <a:t>把</a:t>
            </a:r>
            <a:r>
              <a:rPr lang="en-US" altLang="zh-CN" sz="1600" dirty="0">
                <a:latin typeface="+mn-ea"/>
              </a:rPr>
              <a:t>N</a:t>
            </a:r>
            <a:r>
              <a:rPr lang="zh-CN" altLang="en-US" sz="1600" dirty="0">
                <a:latin typeface="+mn-ea"/>
              </a:rPr>
              <a:t>做准聚集于</a:t>
            </a:r>
            <a:r>
              <a:rPr lang="en-US" altLang="zh-CN" sz="1600" dirty="0">
                <a:latin typeface="+mn-ea"/>
              </a:rPr>
              <a:t>2</a:t>
            </a:r>
            <a:r>
              <a:rPr lang="zh-CN" altLang="en-US" sz="1600" dirty="0">
                <a:latin typeface="+mn-ea"/>
              </a:rPr>
              <a:t>类业务：</a:t>
            </a:r>
          </a:p>
          <a:p>
            <a:pPr>
              <a:lnSpc>
                <a:spcPct val="150000"/>
              </a:lnSpc>
            </a:pPr>
            <a:r>
              <a:rPr lang="en-US" altLang="zh-CN" sz="1600" b="1" dirty="0">
                <a:latin typeface="+mn-ea"/>
              </a:rPr>
              <a:t>1</a:t>
            </a:r>
            <a:r>
              <a:rPr lang="zh-CN" altLang="en-US" sz="1600" b="1" dirty="0">
                <a:latin typeface="+mn-ea"/>
              </a:rPr>
              <a:t>、项目进漏斗内</a:t>
            </a:r>
            <a:r>
              <a:rPr lang="zh-CN" altLang="en-US" sz="1600" dirty="0">
                <a:latin typeface="+mn-ea"/>
              </a:rPr>
              <a:t>：项目由漏斗外转漏斗内时，</a:t>
            </a:r>
            <a:r>
              <a:rPr lang="zh-CN" altLang="en-US" sz="1600" dirty="0">
                <a:solidFill>
                  <a:schemeClr val="accent4">
                    <a:lumMod val="50000"/>
                  </a:schemeClr>
                </a:solidFill>
                <a:latin typeface="+mn-ea"/>
              </a:rPr>
              <a:t>产品清单中的产品系列</a:t>
            </a:r>
            <a:r>
              <a:rPr lang="zh-CN" altLang="en-US" sz="1600" dirty="0">
                <a:latin typeface="+mn-ea"/>
              </a:rPr>
              <a:t>须是明确的，否则不允许转漏斗内；</a:t>
            </a:r>
          </a:p>
          <a:p>
            <a:pPr>
              <a:lnSpc>
                <a:spcPct val="150000"/>
              </a:lnSpc>
            </a:pPr>
            <a:r>
              <a:rPr lang="en-US" altLang="zh-CN" sz="1600" b="1" dirty="0">
                <a:latin typeface="+mn-ea"/>
              </a:rPr>
              <a:t>2</a:t>
            </a:r>
            <a:r>
              <a:rPr lang="zh-CN" altLang="en-US" sz="1600" b="1" dirty="0">
                <a:latin typeface="+mn-ea"/>
              </a:rPr>
              <a:t>、漏斗内项目管理</a:t>
            </a:r>
            <a:r>
              <a:rPr lang="zh-CN" altLang="en-US" sz="1600" dirty="0">
                <a:latin typeface="+mn-ea"/>
              </a:rPr>
              <a:t>：项目的预测类别、距离开标天数，分别对应不同的</a:t>
            </a:r>
            <a:r>
              <a:rPr lang="zh-CN" altLang="en-US" sz="1600" dirty="0">
                <a:solidFill>
                  <a:schemeClr val="accent4">
                    <a:lumMod val="50000"/>
                  </a:schemeClr>
                </a:solidFill>
                <a:latin typeface="+mn-ea"/>
              </a:rPr>
              <a:t>清单可信度</a:t>
            </a:r>
            <a:r>
              <a:rPr lang="zh-CN" altLang="en-US" sz="1600" dirty="0">
                <a:latin typeface="+mn-ea"/>
              </a:rPr>
              <a:t>要求，清单可信度低于对应要求时，应在规定时间内提升清单可信度达标。</a:t>
            </a:r>
          </a:p>
        </p:txBody>
      </p:sp>
      <p:sp>
        <p:nvSpPr>
          <p:cNvPr id="3" name="流程图: 合并 2"/>
          <p:cNvSpPr/>
          <p:nvPr/>
        </p:nvSpPr>
        <p:spPr>
          <a:xfrm>
            <a:off x="5923476" y="2565487"/>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5949355" y="2554273"/>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5914849" y="2591366"/>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曲线连接符 6"/>
          <p:cNvCxnSpPr/>
          <p:nvPr/>
        </p:nvCxnSpPr>
        <p:spPr>
          <a:xfrm rot="10800000" flipV="1">
            <a:off x="8042055" y="2230823"/>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菱形 58"/>
          <p:cNvSpPr/>
          <p:nvPr/>
        </p:nvSpPr>
        <p:spPr>
          <a:xfrm>
            <a:off x="6767753" y="2286351"/>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进漏斗商机</a:t>
            </a:r>
          </a:p>
        </p:txBody>
      </p:sp>
      <p:sp>
        <p:nvSpPr>
          <p:cNvPr id="65" name="右箭头 64"/>
          <p:cNvSpPr/>
          <p:nvPr/>
        </p:nvSpPr>
        <p:spPr>
          <a:xfrm>
            <a:off x="8265459" y="4229340"/>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7013748" y="4003492"/>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漏斗内项目发生变化</a:t>
            </a:r>
          </a:p>
        </p:txBody>
      </p:sp>
      <p:sp>
        <p:nvSpPr>
          <p:cNvPr id="67" name="圆角矩形 66"/>
          <p:cNvSpPr/>
          <p:nvPr/>
        </p:nvSpPr>
        <p:spPr>
          <a:xfrm>
            <a:off x="9287777" y="4020085"/>
            <a:ext cx="2297540"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清单可信度是否达标</a:t>
            </a:r>
            <a:r>
              <a:rPr lang="en-US" altLang="zh-CN" sz="1600" dirty="0">
                <a:solidFill>
                  <a:schemeClr val="tx1"/>
                </a:solidFill>
              </a:rPr>
              <a:t>?</a:t>
            </a:r>
            <a:endParaRPr lang="zh-CN" altLang="en-US" sz="1600" dirty="0">
              <a:solidFill>
                <a:schemeClr val="tx1"/>
              </a:solidFill>
            </a:endParaRPr>
          </a:p>
        </p:txBody>
      </p:sp>
      <p:sp>
        <p:nvSpPr>
          <p:cNvPr id="78" name="圆角矩形 77"/>
          <p:cNvSpPr/>
          <p:nvPr/>
        </p:nvSpPr>
        <p:spPr>
          <a:xfrm>
            <a:off x="9287777" y="1771276"/>
            <a:ext cx="2217697"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产品系列是否明确</a:t>
            </a:r>
            <a:r>
              <a:rPr lang="en-US" altLang="zh-CN" dirty="0">
                <a:solidFill>
                  <a:schemeClr val="tx1"/>
                </a:solidFill>
              </a:rPr>
              <a:t>?</a:t>
            </a:r>
            <a:endParaRPr lang="zh-CN" altLang="en-US" dirty="0">
              <a:solidFill>
                <a:schemeClr val="tx1"/>
              </a:solidFill>
            </a:endParaRPr>
          </a:p>
        </p:txBody>
      </p:sp>
      <p:sp>
        <p:nvSpPr>
          <p:cNvPr id="69" name="矩形 68"/>
          <p:cNvSpPr/>
          <p:nvPr/>
        </p:nvSpPr>
        <p:spPr>
          <a:xfrm>
            <a:off x="5569528" y="1019068"/>
            <a:ext cx="6234590"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 xmlns:a16="http://schemas.microsoft.com/office/drawing/2014/main" id="{05AEF057-8047-5F33-B283-D10B05284498}"/>
              </a:ext>
            </a:extLst>
          </p:cNvPr>
          <p:cNvSpPr/>
          <p:nvPr/>
        </p:nvSpPr>
        <p:spPr>
          <a:xfrm>
            <a:off x="387882" y="2901940"/>
            <a:ext cx="4774759" cy="890693"/>
          </a:xfrm>
          <a:prstGeom prst="rect">
            <a:avLst/>
          </a:prstGeom>
          <a:ln>
            <a:solidFill>
              <a:schemeClr val="accent1"/>
            </a:solidFill>
          </a:ln>
        </p:spPr>
        <p:txBody>
          <a:bodyPr wrap="square">
            <a:spAutoFit/>
          </a:bodyPr>
          <a:lstStyle/>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做准，提升整体漏斗质量，夯实（产品）销售预测；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做准，准确反馈市场需求、夯实（产品）要货预测；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做准，主体责任人是售前，销售为及时更新到</a:t>
            </a:r>
            <a:r>
              <a:rPr lang="en-US" altLang="zh-CN" sz="1200" dirty="0">
                <a:latin typeface="+mn-ea"/>
              </a:rPr>
              <a:t>CRM</a:t>
            </a:r>
            <a:r>
              <a:rPr lang="zh-CN" altLang="en-US" sz="1200" dirty="0">
                <a:latin typeface="+mn-ea"/>
              </a:rPr>
              <a:t>系统负责。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C1D12F-B95D-EADC-48B5-8512AA32356B}"/>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876DED28-08CD-A724-FC25-A52DFBDC70AB}"/>
              </a:ext>
            </a:extLst>
          </p:cNvPr>
          <p:cNvSpPr>
            <a:spLocks noGrp="1"/>
          </p:cNvSpPr>
          <p:nvPr>
            <p:ph type="body" sz="quarter" idx="13"/>
          </p:nvPr>
        </p:nvSpPr>
        <p:spPr>
          <a:xfrm>
            <a:off x="3902970" y="3181032"/>
            <a:ext cx="3535243" cy="495935"/>
          </a:xfrm>
        </p:spPr>
        <p:txBody>
          <a:bodyPr/>
          <a:lstStyle/>
          <a:p>
            <a:pPr algn="ctr"/>
            <a:r>
              <a:rPr lang="zh-CN" altLang="en-US" dirty="0"/>
              <a:t>四个标准，两类业务</a:t>
            </a:r>
          </a:p>
        </p:txBody>
      </p:sp>
      <p:sp>
        <p:nvSpPr>
          <p:cNvPr id="8" name="文本框 7">
            <a:extLst>
              <a:ext uri="{FF2B5EF4-FFF2-40B4-BE49-F238E27FC236}">
                <a16:creationId xmlns="" xmlns:a16="http://schemas.microsoft.com/office/drawing/2014/main" id="{E2874AC4-4A17-3587-98F1-1C81914A8EFD}"/>
              </a:ext>
            </a:extLst>
          </p:cNvPr>
          <p:cNvSpPr txBox="1"/>
          <p:nvPr/>
        </p:nvSpPr>
        <p:spPr>
          <a:xfrm>
            <a:off x="1320345" y="2807142"/>
            <a:ext cx="2146742" cy="134652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可信度自评打分标准</a:t>
            </a:r>
            <a:endParaRPr lang="en-US" altLang="zh-CN" sz="1400" dirty="0"/>
          </a:p>
          <a:p>
            <a:pPr marL="342900" indent="-342900">
              <a:lnSpc>
                <a:spcPct val="150000"/>
              </a:lnSpc>
              <a:buFont typeface="+mj-lt"/>
              <a:buAutoNum type="arabicPeriod"/>
            </a:pPr>
            <a:r>
              <a:rPr lang="zh-CN" altLang="en-US" sz="1400" dirty="0"/>
              <a:t>进漏斗内可信度标准</a:t>
            </a:r>
            <a:endParaRPr lang="en-US" altLang="zh-CN" sz="1400" dirty="0"/>
          </a:p>
          <a:p>
            <a:pPr marL="342900" indent="-342900">
              <a:lnSpc>
                <a:spcPct val="150000"/>
              </a:lnSpc>
              <a:buFont typeface="+mj-lt"/>
              <a:buAutoNum type="arabicPeriod"/>
            </a:pPr>
            <a:r>
              <a:rPr lang="zh-CN" altLang="en-US" sz="1400" dirty="0"/>
              <a:t>预测类别可信度标准</a:t>
            </a:r>
            <a:endParaRPr lang="en-US" altLang="zh-CN" sz="1400" dirty="0"/>
          </a:p>
          <a:p>
            <a:pPr marL="342900" indent="-342900">
              <a:lnSpc>
                <a:spcPct val="150000"/>
              </a:lnSpc>
              <a:buFont typeface="+mj-lt"/>
              <a:buAutoNum type="arabicPeriod"/>
            </a:pPr>
            <a:r>
              <a:rPr lang="zh-CN" altLang="en-US" sz="1400" dirty="0"/>
              <a:t>开标时间可信度标准</a:t>
            </a:r>
          </a:p>
        </p:txBody>
      </p:sp>
      <p:sp>
        <p:nvSpPr>
          <p:cNvPr id="9" name="右大括号 8">
            <a:extLst>
              <a:ext uri="{FF2B5EF4-FFF2-40B4-BE49-F238E27FC236}">
                <a16:creationId xmlns="" xmlns:a16="http://schemas.microsoft.com/office/drawing/2014/main" id="{F86F1A72-0B0D-1958-D49F-A9625B7A80A2}"/>
              </a:ext>
            </a:extLst>
          </p:cNvPr>
          <p:cNvSpPr/>
          <p:nvPr/>
        </p:nvSpPr>
        <p:spPr>
          <a:xfrm>
            <a:off x="3902970" y="2968725"/>
            <a:ext cx="94967" cy="10233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 xmlns:a16="http://schemas.microsoft.com/office/drawing/2014/main" id="{63564102-76D9-2A8D-BFFF-C1B4E13F0C01}"/>
              </a:ext>
            </a:extLst>
          </p:cNvPr>
          <p:cNvSpPr txBox="1"/>
          <p:nvPr/>
        </p:nvSpPr>
        <p:spPr>
          <a:xfrm>
            <a:off x="7370681" y="3078903"/>
            <a:ext cx="1787669" cy="70019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漏斗外进漏斗内</a:t>
            </a:r>
            <a:endParaRPr lang="en-US" altLang="zh-CN" sz="1400" dirty="0"/>
          </a:p>
          <a:p>
            <a:pPr marL="342900" indent="-342900">
              <a:lnSpc>
                <a:spcPct val="150000"/>
              </a:lnSpc>
              <a:buFont typeface="+mj-lt"/>
              <a:buAutoNum type="arabicPeriod"/>
            </a:pPr>
            <a:r>
              <a:rPr lang="zh-CN" altLang="en-US" sz="1400" dirty="0"/>
              <a:t>漏斗内项目跟进</a:t>
            </a:r>
          </a:p>
        </p:txBody>
      </p:sp>
      <p:sp>
        <p:nvSpPr>
          <p:cNvPr id="11" name="左大括号 10">
            <a:extLst>
              <a:ext uri="{FF2B5EF4-FFF2-40B4-BE49-F238E27FC236}">
                <a16:creationId xmlns="" xmlns:a16="http://schemas.microsoft.com/office/drawing/2014/main" id="{0BB77BDE-AA6B-C55E-BDA5-B37573D09B31}"/>
              </a:ext>
            </a:extLst>
          </p:cNvPr>
          <p:cNvSpPr/>
          <p:nvPr/>
        </p:nvSpPr>
        <p:spPr>
          <a:xfrm>
            <a:off x="7241391" y="2968726"/>
            <a:ext cx="129289" cy="10233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396470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标准一：可信度自评打分标准</a:t>
            </a:r>
          </a:p>
        </p:txBody>
      </p:sp>
      <p:graphicFrame>
        <p:nvGraphicFramePr>
          <p:cNvPr id="6" name="表格 5"/>
          <p:cNvGraphicFramePr>
            <a:graphicFrameLocks noGrp="1"/>
          </p:cNvGraphicFramePr>
          <p:nvPr/>
        </p:nvGraphicFramePr>
        <p:xfrm>
          <a:off x="573405" y="898822"/>
          <a:ext cx="11046913" cy="5790735"/>
        </p:xfrm>
        <a:graphic>
          <a:graphicData uri="http://schemas.openxmlformats.org/drawingml/2006/table">
            <a:tbl>
              <a:tblPr/>
              <a:tblGrid>
                <a:gridCol w="858156">
                  <a:extLst>
                    <a:ext uri="{9D8B030D-6E8A-4147-A177-3AD203B41FA5}">
                      <a16:colId xmlns="" xmlns:a16="http://schemas.microsoft.com/office/drawing/2014/main" val="20000"/>
                    </a:ext>
                  </a:extLst>
                </a:gridCol>
                <a:gridCol w="480366">
                  <a:extLst>
                    <a:ext uri="{9D8B030D-6E8A-4147-A177-3AD203B41FA5}">
                      <a16:colId xmlns="" xmlns:a16="http://schemas.microsoft.com/office/drawing/2014/main" val="20001"/>
                    </a:ext>
                  </a:extLst>
                </a:gridCol>
                <a:gridCol w="888150">
                  <a:extLst>
                    <a:ext uri="{9D8B030D-6E8A-4147-A177-3AD203B41FA5}">
                      <a16:colId xmlns="" xmlns:a16="http://schemas.microsoft.com/office/drawing/2014/main" val="20002"/>
                    </a:ext>
                  </a:extLst>
                </a:gridCol>
                <a:gridCol w="963242">
                  <a:extLst>
                    <a:ext uri="{9D8B030D-6E8A-4147-A177-3AD203B41FA5}">
                      <a16:colId xmlns="" xmlns:a16="http://schemas.microsoft.com/office/drawing/2014/main" val="20003"/>
                    </a:ext>
                  </a:extLst>
                </a:gridCol>
                <a:gridCol w="3243971">
                  <a:extLst>
                    <a:ext uri="{9D8B030D-6E8A-4147-A177-3AD203B41FA5}">
                      <a16:colId xmlns="" xmlns:a16="http://schemas.microsoft.com/office/drawing/2014/main" val="20004"/>
                    </a:ext>
                  </a:extLst>
                </a:gridCol>
                <a:gridCol w="774441">
                  <a:extLst>
                    <a:ext uri="{9D8B030D-6E8A-4147-A177-3AD203B41FA5}">
                      <a16:colId xmlns="" xmlns:a16="http://schemas.microsoft.com/office/drawing/2014/main" val="20005"/>
                    </a:ext>
                  </a:extLst>
                </a:gridCol>
                <a:gridCol w="914400">
                  <a:extLst>
                    <a:ext uri="{9D8B030D-6E8A-4147-A177-3AD203B41FA5}">
                      <a16:colId xmlns="" xmlns:a16="http://schemas.microsoft.com/office/drawing/2014/main" val="20006"/>
                    </a:ext>
                  </a:extLst>
                </a:gridCol>
                <a:gridCol w="2924187">
                  <a:extLst>
                    <a:ext uri="{9D8B030D-6E8A-4147-A177-3AD203B41FA5}">
                      <a16:colId xmlns="" xmlns:a16="http://schemas.microsoft.com/office/drawing/2014/main" val="20007"/>
                    </a:ext>
                  </a:extLst>
                </a:gridCol>
              </a:tblGrid>
              <a:tr h="523190">
                <a:tc>
                  <a:txBody>
                    <a:bodyPr/>
                    <a:lstStyle/>
                    <a:p>
                      <a:pPr algn="ctr" fontAlgn="ctr" latinLnBrk="0"/>
                      <a:r>
                        <a:rPr lang="zh-CN" altLang="en-US" sz="120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0000"/>
                  </a:ext>
                </a:extLst>
              </a:tr>
              <a:tr h="1442843">
                <a:tc>
                  <a:txBody>
                    <a:bodyPr/>
                    <a:lstStyle/>
                    <a:p>
                      <a:pPr algn="ctr" fontAlgn="ctr" latinLnBrk="0"/>
                      <a:r>
                        <a:rPr lang="zh-CN" altLang="en-US" sz="120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我司相关预算，采购规则、历史采购价格及竞手价格策略确认。</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我司相关预算明确。</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项目整体预算确认，我司相关预算可估算。</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20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1"/>
                  </a:ext>
                </a:extLst>
              </a:tr>
              <a:tr h="1501808">
                <a:tc rowSpan="2">
                  <a:txBody>
                    <a:bodyPr/>
                    <a:lstStyle/>
                    <a:p>
                      <a:pPr algn="ctr" fontAlgn="ctr" latinLnBrk="0"/>
                      <a:r>
                        <a:rPr lang="zh-CN" altLang="en-US" sz="120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所有产品系列均可以确定；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20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分：技术路线已写进招标文件。</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分：决策者已经确定技术路线。</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分：我司主推技术路线已经明确。</a:t>
                      </a:r>
                      <a:br>
                        <a:rPr lang="zh-CN" altLang="en-US" sz="1200" b="0" i="0" dirty="0">
                          <a:solidFill>
                            <a:srgbClr val="000000"/>
                          </a:solidFill>
                          <a:effectLst/>
                          <a:latin typeface="+mn-ea"/>
                          <a:ea typeface="+mn-ea"/>
                        </a:rPr>
                      </a:br>
                      <a:endParaRPr lang="en-US" altLang="zh-CN" sz="1200" b="0" i="0" dirty="0">
                        <a:solidFill>
                          <a:srgbClr val="000000"/>
                        </a:solidFill>
                        <a:effectLst/>
                        <a:latin typeface="+mn-ea"/>
                        <a:ea typeface="+mn-ea"/>
                      </a:endParaRPr>
                    </a:p>
                    <a:p>
                      <a:pPr fontAlgn="ctr" latinLnBrk="0"/>
                      <a:r>
                        <a:rPr lang="zh-CN" altLang="en-US" sz="9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2"/>
                  </a:ext>
                </a:extLst>
              </a:tr>
              <a:tr h="983017">
                <a:tc vMerge="1">
                  <a:txBody>
                    <a:bodyPr/>
                    <a:lstStyle/>
                    <a:p>
                      <a:endParaRPr lang="zh-CN" altLang="en-US"/>
                    </a:p>
                  </a:txBody>
                  <a:tcPr/>
                </a:tc>
                <a:tc>
                  <a:txBody>
                    <a:bodyPr/>
                    <a:lstStyle/>
                    <a:p>
                      <a:pPr algn="ctr" fontAlgn="ctr" latinLnBrk="0"/>
                      <a:r>
                        <a:rPr lang="en-US" altLang="zh-CN" sz="120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所有产品型号均可以确定；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分：产品技术参数已写进招标文件。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分：评估者已经确定产品技术要求。</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3"/>
                  </a:ext>
                </a:extLst>
              </a:tr>
              <a:tr h="983017">
                <a:tc>
                  <a:txBody>
                    <a:bodyPr/>
                    <a:lstStyle/>
                    <a:p>
                      <a:pPr algn="ctr" fontAlgn="ctr" latinLnBrk="0"/>
                      <a:r>
                        <a:rPr lang="zh-CN" altLang="en-US" sz="120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所有产品数量均确定；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分：产品数量已写进招标文件。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分：评估者已经确定产品数量。</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4"/>
                  </a:ext>
                </a:extLst>
              </a:tr>
              <a:tr h="356860">
                <a:tc gridSpan="6">
                  <a:txBody>
                    <a:bodyPr/>
                    <a:lstStyle/>
                    <a:p>
                      <a:pPr algn="ctr" fontAlgn="ctr" latinLnBrk="0"/>
                      <a:r>
                        <a:rPr lang="zh-CN" altLang="en-US" sz="120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200" b="0" i="0" dirty="0">
                          <a:solidFill>
                            <a:srgbClr val="000000"/>
                          </a:solidFill>
                          <a:effectLst/>
                          <a:latin typeface="+mn-ea"/>
                          <a:ea typeface="+mn-ea"/>
                        </a:rPr>
                        <a:t>60.00%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168791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标准二：</a:t>
            </a:r>
            <a:r>
              <a:rPr lang="zh-CN" altLang="en-US" sz="2400" dirty="0"/>
              <a:t>进漏斗内可信度标准</a:t>
            </a:r>
            <a:endParaRPr lang="en-US" altLang="zh-CN" sz="2400" dirty="0"/>
          </a:p>
        </p:txBody>
      </p:sp>
      <p:sp>
        <p:nvSpPr>
          <p:cNvPr id="7" name="矩形 6"/>
          <p:cNvSpPr/>
          <p:nvPr/>
        </p:nvSpPr>
        <p:spPr>
          <a:xfrm>
            <a:off x="374535" y="5226855"/>
            <a:ext cx="11442929" cy="11124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84179" y="5346095"/>
            <a:ext cx="11133375" cy="873957"/>
          </a:xfrm>
          <a:prstGeom prst="rect">
            <a:avLst/>
          </a:prstGeom>
          <a:noFill/>
        </p:spPr>
        <p:txBody>
          <a:bodyPr wrap="square" rtlCol="0">
            <a:spAutoFit/>
          </a:bodyPr>
          <a:lstStyle/>
          <a:p>
            <a:pPr>
              <a:lnSpc>
                <a:spcPct val="150000"/>
              </a:lnSpc>
            </a:pPr>
            <a:r>
              <a:rPr lang="zh-CN" altLang="en-US" dirty="0"/>
              <a:t>进漏斗时售前根据“可信度自评打分标准”对产品清单做可信度自评， 当“</a:t>
            </a:r>
            <a:r>
              <a:rPr lang="zh-CN" altLang="en-US" dirty="0">
                <a:solidFill>
                  <a:schemeClr val="accent4">
                    <a:lumMod val="50000"/>
                  </a:schemeClr>
                </a:solidFill>
              </a:rPr>
              <a:t>预算金额</a:t>
            </a:r>
            <a:r>
              <a:rPr lang="zh-CN" altLang="en-US" dirty="0"/>
              <a:t>”和“</a:t>
            </a:r>
            <a:r>
              <a:rPr lang="zh-CN" altLang="en-US" dirty="0">
                <a:solidFill>
                  <a:schemeClr val="accent4">
                    <a:lumMod val="50000"/>
                  </a:schemeClr>
                </a:solidFill>
              </a:rPr>
              <a:t>产品系列</a:t>
            </a:r>
            <a:r>
              <a:rPr lang="zh-CN" altLang="en-US" dirty="0"/>
              <a:t>”两项均不低于</a:t>
            </a:r>
            <a:r>
              <a:rPr lang="en-US" altLang="zh-CN" dirty="0"/>
              <a:t>3</a:t>
            </a:r>
            <a:r>
              <a:rPr lang="zh-CN" altLang="en-US" dirty="0"/>
              <a:t>分时，才可以把产品清单分享销售。销售导入售前分享的清单后提交漏斗申请。</a:t>
            </a:r>
          </a:p>
        </p:txBody>
      </p:sp>
      <p:graphicFrame>
        <p:nvGraphicFramePr>
          <p:cNvPr id="10" name="表格 9">
            <a:extLst>
              <a:ext uri="{FF2B5EF4-FFF2-40B4-BE49-F238E27FC236}">
                <a16:creationId xmlns="" xmlns:a16="http://schemas.microsoft.com/office/drawing/2014/main" id="{04A3B24D-8728-83A6-045D-CF1CEFE691CA}"/>
              </a:ext>
            </a:extLst>
          </p:cNvPr>
          <p:cNvGraphicFramePr>
            <a:graphicFrameLocks noGrp="1"/>
          </p:cNvGraphicFramePr>
          <p:nvPr/>
        </p:nvGraphicFramePr>
        <p:xfrm>
          <a:off x="573405" y="898824"/>
          <a:ext cx="11046913" cy="4173431"/>
        </p:xfrm>
        <a:graphic>
          <a:graphicData uri="http://schemas.openxmlformats.org/drawingml/2006/table">
            <a:tbl>
              <a:tblPr/>
              <a:tblGrid>
                <a:gridCol w="858156">
                  <a:extLst>
                    <a:ext uri="{9D8B030D-6E8A-4147-A177-3AD203B41FA5}">
                      <a16:colId xmlns="" xmlns:a16="http://schemas.microsoft.com/office/drawing/2014/main" val="20000"/>
                    </a:ext>
                  </a:extLst>
                </a:gridCol>
                <a:gridCol w="480366">
                  <a:extLst>
                    <a:ext uri="{9D8B030D-6E8A-4147-A177-3AD203B41FA5}">
                      <a16:colId xmlns="" xmlns:a16="http://schemas.microsoft.com/office/drawing/2014/main" val="20001"/>
                    </a:ext>
                  </a:extLst>
                </a:gridCol>
                <a:gridCol w="888150">
                  <a:extLst>
                    <a:ext uri="{9D8B030D-6E8A-4147-A177-3AD203B41FA5}">
                      <a16:colId xmlns="" xmlns:a16="http://schemas.microsoft.com/office/drawing/2014/main" val="20002"/>
                    </a:ext>
                  </a:extLst>
                </a:gridCol>
                <a:gridCol w="963242">
                  <a:extLst>
                    <a:ext uri="{9D8B030D-6E8A-4147-A177-3AD203B41FA5}">
                      <a16:colId xmlns="" xmlns:a16="http://schemas.microsoft.com/office/drawing/2014/main" val="20003"/>
                    </a:ext>
                  </a:extLst>
                </a:gridCol>
                <a:gridCol w="3243971">
                  <a:extLst>
                    <a:ext uri="{9D8B030D-6E8A-4147-A177-3AD203B41FA5}">
                      <a16:colId xmlns="" xmlns:a16="http://schemas.microsoft.com/office/drawing/2014/main" val="20004"/>
                    </a:ext>
                  </a:extLst>
                </a:gridCol>
                <a:gridCol w="774441">
                  <a:extLst>
                    <a:ext uri="{9D8B030D-6E8A-4147-A177-3AD203B41FA5}">
                      <a16:colId xmlns="" xmlns:a16="http://schemas.microsoft.com/office/drawing/2014/main" val="20005"/>
                    </a:ext>
                  </a:extLst>
                </a:gridCol>
                <a:gridCol w="914400">
                  <a:extLst>
                    <a:ext uri="{9D8B030D-6E8A-4147-A177-3AD203B41FA5}">
                      <a16:colId xmlns="" xmlns:a16="http://schemas.microsoft.com/office/drawing/2014/main" val="20006"/>
                    </a:ext>
                  </a:extLst>
                </a:gridCol>
                <a:gridCol w="2924187">
                  <a:extLst>
                    <a:ext uri="{9D8B030D-6E8A-4147-A177-3AD203B41FA5}">
                      <a16:colId xmlns="" xmlns:a16="http://schemas.microsoft.com/office/drawing/2014/main" val="20007"/>
                    </a:ext>
                  </a:extLst>
                </a:gridCol>
              </a:tblGrid>
              <a:tr h="368182">
                <a:tc>
                  <a:txBody>
                    <a:bodyPr/>
                    <a:lstStyle/>
                    <a:p>
                      <a:pPr algn="ctr" fontAlgn="ctr" latinLnBrk="0"/>
                      <a:r>
                        <a:rPr lang="zh-CN" altLang="en-US" sz="105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0000"/>
                  </a:ext>
                </a:extLst>
              </a:tr>
              <a:tr h="1015364">
                <a:tc>
                  <a:txBody>
                    <a:bodyPr/>
                    <a:lstStyle/>
                    <a:p>
                      <a:pPr algn="ctr" fontAlgn="ctr" latinLnBrk="0"/>
                      <a:r>
                        <a:rPr lang="zh-CN" altLang="en-US" sz="105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我司相关预算，采购规则、历史采购价格及竞手价格策略确认。</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我司相关预算明确。</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项目整体预算确认，我司相关预算可估算。</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5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1"/>
                  </a:ext>
                </a:extLst>
              </a:tr>
              <a:tr h="1056858">
                <a:tc rowSpan="2">
                  <a:txBody>
                    <a:bodyPr/>
                    <a:lstStyle/>
                    <a:p>
                      <a:pPr algn="ctr" fontAlgn="ctr" latinLnBrk="0"/>
                      <a:r>
                        <a:rPr lang="zh-CN" altLang="en-US" sz="105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所有产品系列均可以确定；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05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分：技术路线已写进招标文件。</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分：决策者已经确定技术路线。</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分：我司主推技术路线已经明确。</a:t>
                      </a:r>
                      <a:br>
                        <a:rPr lang="zh-CN" altLang="en-US" sz="1050" b="0" i="0" dirty="0">
                          <a:solidFill>
                            <a:srgbClr val="000000"/>
                          </a:solidFill>
                          <a:effectLst/>
                          <a:latin typeface="+mn-ea"/>
                          <a:ea typeface="+mn-ea"/>
                        </a:rPr>
                      </a:br>
                      <a:endParaRPr lang="en-US" altLang="zh-CN" sz="1050" b="0" i="0" dirty="0">
                        <a:solidFill>
                          <a:srgbClr val="000000"/>
                        </a:solidFill>
                        <a:effectLst/>
                        <a:latin typeface="+mn-ea"/>
                        <a:ea typeface="+mn-ea"/>
                      </a:endParaRPr>
                    </a:p>
                    <a:p>
                      <a:pPr fontAlgn="ctr" latinLnBrk="0"/>
                      <a:r>
                        <a:rPr lang="zh-CN" altLang="en-US" sz="7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2"/>
                  </a:ext>
                </a:extLst>
              </a:tr>
              <a:tr h="740948">
                <a:tc vMerge="1">
                  <a:txBody>
                    <a:bodyPr/>
                    <a:lstStyle/>
                    <a:p>
                      <a:endParaRPr lang="zh-CN" altLang="en-US"/>
                    </a:p>
                  </a:txBody>
                  <a:tcPr/>
                </a:tc>
                <a:tc>
                  <a:txBody>
                    <a:bodyPr/>
                    <a:lstStyle/>
                    <a:p>
                      <a:pPr algn="ctr" fontAlgn="ctr" latinLnBrk="0"/>
                      <a:r>
                        <a:rPr lang="en-US" altLang="zh-CN" sz="105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所有产品型号均可以确定；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分：产品技术参数已写进招标文件。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分：评估者已经确定产品技术要求。</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3"/>
                  </a:ext>
                </a:extLst>
              </a:tr>
              <a:tr h="740948">
                <a:tc>
                  <a:txBody>
                    <a:bodyPr/>
                    <a:lstStyle/>
                    <a:p>
                      <a:pPr algn="ctr" fontAlgn="ctr" latinLnBrk="0"/>
                      <a:r>
                        <a:rPr lang="zh-CN" altLang="en-US" sz="105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所有产品数量均确定；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分：产品数量已写进招标文件。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分：评估者已经确定产品数量。</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4"/>
                  </a:ext>
                </a:extLst>
              </a:tr>
              <a:tr h="251131">
                <a:tc gridSpan="6">
                  <a:txBody>
                    <a:bodyPr/>
                    <a:lstStyle/>
                    <a:p>
                      <a:pPr algn="ctr" fontAlgn="ctr" latinLnBrk="0"/>
                      <a:r>
                        <a:rPr lang="zh-CN" altLang="en-US" sz="105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050" b="0" i="0" dirty="0">
                          <a:solidFill>
                            <a:srgbClr val="000000"/>
                          </a:solidFill>
                          <a:effectLst/>
                          <a:latin typeface="+mn-ea"/>
                          <a:ea typeface="+mn-ea"/>
                        </a:rPr>
                        <a:t>NA</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
        <p:nvSpPr>
          <p:cNvPr id="11" name="矩形 10">
            <a:extLst>
              <a:ext uri="{FF2B5EF4-FFF2-40B4-BE49-F238E27FC236}">
                <a16:creationId xmlns="" xmlns:a16="http://schemas.microsoft.com/office/drawing/2014/main" id="{45806659-68A7-B6CB-C4C4-34C4B924D86B}"/>
              </a:ext>
            </a:extLst>
          </p:cNvPr>
          <p:cNvSpPr/>
          <p:nvPr/>
        </p:nvSpPr>
        <p:spPr>
          <a:xfrm>
            <a:off x="1894407" y="898824"/>
            <a:ext cx="1853403" cy="241433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8497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A125E63-3B73-80D4-0DD7-C5B0AA54B478}"/>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A7B4E690-876C-14CC-977C-CE218B19FC64}"/>
              </a:ext>
            </a:extLst>
          </p:cNvPr>
          <p:cNvSpPr>
            <a:spLocks noGrp="1"/>
          </p:cNvSpPr>
          <p:nvPr>
            <p:ph type="body" sz="quarter" idx="13"/>
          </p:nvPr>
        </p:nvSpPr>
        <p:spPr/>
        <p:txBody>
          <a:bodyPr/>
          <a:lstStyle/>
          <a:p>
            <a:r>
              <a:rPr lang="zh-CN" altLang="en-US" dirty="0"/>
              <a:t>标准三：</a:t>
            </a:r>
            <a:r>
              <a:rPr lang="zh-CN" altLang="en-US" sz="2400" dirty="0"/>
              <a:t>预测类别可信度标准</a:t>
            </a:r>
            <a:endParaRPr lang="en-US" altLang="zh-CN" sz="2400" dirty="0"/>
          </a:p>
        </p:txBody>
      </p:sp>
      <p:graphicFrame>
        <p:nvGraphicFramePr>
          <p:cNvPr id="10" name="表格 9">
            <a:extLst>
              <a:ext uri="{FF2B5EF4-FFF2-40B4-BE49-F238E27FC236}">
                <a16:creationId xmlns="" xmlns:a16="http://schemas.microsoft.com/office/drawing/2014/main" id="{E7337CDF-5CC9-C3C8-B96D-98232DC074B8}"/>
              </a:ext>
            </a:extLst>
          </p:cNvPr>
          <p:cNvGraphicFramePr>
            <a:graphicFrameLocks noGrp="1"/>
          </p:cNvGraphicFramePr>
          <p:nvPr/>
        </p:nvGraphicFramePr>
        <p:xfrm>
          <a:off x="2501665" y="2107959"/>
          <a:ext cx="5822245" cy="1926015"/>
        </p:xfrm>
        <a:graphic>
          <a:graphicData uri="http://schemas.openxmlformats.org/drawingml/2006/table">
            <a:tbl>
              <a:tblPr/>
              <a:tblGrid>
                <a:gridCol w="2001397">
                  <a:extLst>
                    <a:ext uri="{9D8B030D-6E8A-4147-A177-3AD203B41FA5}">
                      <a16:colId xmlns="" xmlns:a16="http://schemas.microsoft.com/office/drawing/2014/main" val="3965880924"/>
                    </a:ext>
                  </a:extLst>
                </a:gridCol>
                <a:gridCol w="1273616">
                  <a:extLst>
                    <a:ext uri="{9D8B030D-6E8A-4147-A177-3AD203B41FA5}">
                      <a16:colId xmlns="" xmlns:a16="http://schemas.microsoft.com/office/drawing/2014/main" val="2554890528"/>
                    </a:ext>
                  </a:extLst>
                </a:gridCol>
                <a:gridCol w="1273616">
                  <a:extLst>
                    <a:ext uri="{9D8B030D-6E8A-4147-A177-3AD203B41FA5}">
                      <a16:colId xmlns="" xmlns:a16="http://schemas.microsoft.com/office/drawing/2014/main" val="3988217625"/>
                    </a:ext>
                  </a:extLst>
                </a:gridCol>
                <a:gridCol w="1273616">
                  <a:extLst>
                    <a:ext uri="{9D8B030D-6E8A-4147-A177-3AD203B41FA5}">
                      <a16:colId xmlns="" xmlns:a16="http://schemas.microsoft.com/office/drawing/2014/main" val="3446891013"/>
                    </a:ext>
                  </a:extLst>
                </a:gridCol>
              </a:tblGrid>
              <a:tr h="557333">
                <a:tc gridSpan="4">
                  <a:txBody>
                    <a:bodyPr/>
                    <a:lstStyle/>
                    <a:p>
                      <a:pPr algn="ctr" fontAlgn="ctr" latinLnBrk="0">
                        <a:buNone/>
                      </a:pPr>
                      <a:r>
                        <a:rPr lang="zh-CN" altLang="en-US" sz="1200" b="0" i="0" dirty="0">
                          <a:solidFill>
                            <a:srgbClr val="000000"/>
                          </a:solidFill>
                          <a:effectLst/>
                        </a:rPr>
                        <a:t>预测类别对应的产品清单可信度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752954404"/>
                  </a:ext>
                </a:extLst>
              </a:tr>
              <a:tr h="676574">
                <a:tc>
                  <a:txBody>
                    <a:bodyPr/>
                    <a:lstStyle/>
                    <a:p>
                      <a:pPr algn="ctr" fontAlgn="ctr" latinLnBrk="0">
                        <a:buNone/>
                      </a:pPr>
                      <a:r>
                        <a:rPr lang="zh-CN" altLang="en-US" sz="1200" b="0" i="0">
                          <a:solidFill>
                            <a:srgbClr val="000000"/>
                          </a:solidFill>
                          <a:effectLst/>
                        </a:rPr>
                        <a:t>预测类别</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优势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extLst>
                  <a:ext uri="{0D108BD9-81ED-4DB2-BD59-A6C34878D82A}">
                    <a16:rowId xmlns="" xmlns:a16="http://schemas.microsoft.com/office/drawing/2014/main" val="3805497502"/>
                  </a:ext>
                </a:extLst>
              </a:tr>
              <a:tr h="692108">
                <a:tc>
                  <a:txBody>
                    <a:bodyPr/>
                    <a:lstStyle/>
                    <a:p>
                      <a:pPr algn="ctr" fontAlgn="ctr" latinLnBrk="0">
                        <a:buNone/>
                      </a:pPr>
                      <a:r>
                        <a:rPr lang="zh-CN" altLang="en-US" sz="1200" b="0" i="0" dirty="0">
                          <a:solidFill>
                            <a:srgbClr val="000000"/>
                          </a:solidFill>
                          <a:effectLst/>
                        </a:rPr>
                        <a:t>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60%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80%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502859330"/>
                  </a:ext>
                </a:extLst>
              </a:tr>
            </a:tbl>
          </a:graphicData>
        </a:graphic>
      </p:graphicFrame>
      <p:sp>
        <p:nvSpPr>
          <p:cNvPr id="11" name="Rectangle 1">
            <a:extLst>
              <a:ext uri="{FF2B5EF4-FFF2-40B4-BE49-F238E27FC236}">
                <a16:creationId xmlns="" xmlns:a16="http://schemas.microsoft.com/office/drawing/2014/main" id="{A2542151-B2B1-6495-DA8A-50C545E6BCBE}"/>
              </a:ext>
            </a:extLst>
          </p:cNvPr>
          <p:cNvSpPr>
            <a:spLocks noChangeArrowheads="1"/>
          </p:cNvSpPr>
          <p:nvPr/>
        </p:nvSpPr>
        <p:spPr bwMode="auto">
          <a:xfrm>
            <a:off x="4789488" y="3406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07570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B75552-EB6D-20E6-58A0-79C792805EBC}"/>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3E890377-E2B3-9200-F5D9-E8C3112EEF21}"/>
              </a:ext>
            </a:extLst>
          </p:cNvPr>
          <p:cNvSpPr>
            <a:spLocks noGrp="1"/>
          </p:cNvSpPr>
          <p:nvPr>
            <p:ph type="body" sz="quarter" idx="13"/>
          </p:nvPr>
        </p:nvSpPr>
        <p:spPr/>
        <p:txBody>
          <a:bodyPr/>
          <a:lstStyle/>
          <a:p>
            <a:r>
              <a:rPr lang="zh-CN" altLang="en-US" dirty="0"/>
              <a:t>标准四：</a:t>
            </a:r>
            <a:r>
              <a:rPr lang="zh-CN" altLang="en-US" sz="2400" dirty="0"/>
              <a:t>开标时间可信度标准</a:t>
            </a:r>
          </a:p>
        </p:txBody>
      </p:sp>
      <p:graphicFrame>
        <p:nvGraphicFramePr>
          <p:cNvPr id="10" name="表格 9">
            <a:extLst>
              <a:ext uri="{FF2B5EF4-FFF2-40B4-BE49-F238E27FC236}">
                <a16:creationId xmlns="" xmlns:a16="http://schemas.microsoft.com/office/drawing/2014/main" id="{7559D63B-9E33-8916-8A13-F40F6E52106A}"/>
              </a:ext>
            </a:extLst>
          </p:cNvPr>
          <p:cNvGraphicFramePr>
            <a:graphicFrameLocks noGrp="1"/>
          </p:cNvGraphicFramePr>
          <p:nvPr/>
        </p:nvGraphicFramePr>
        <p:xfrm>
          <a:off x="2661192" y="2132233"/>
          <a:ext cx="5117359" cy="2517675"/>
        </p:xfrm>
        <a:graphic>
          <a:graphicData uri="http://schemas.openxmlformats.org/drawingml/2006/table">
            <a:tbl>
              <a:tblPr/>
              <a:tblGrid>
                <a:gridCol w="2148509">
                  <a:extLst>
                    <a:ext uri="{9D8B030D-6E8A-4147-A177-3AD203B41FA5}">
                      <a16:colId xmlns="" xmlns:a16="http://schemas.microsoft.com/office/drawing/2014/main" val="4290358819"/>
                    </a:ext>
                  </a:extLst>
                </a:gridCol>
                <a:gridCol w="2968850">
                  <a:extLst>
                    <a:ext uri="{9D8B030D-6E8A-4147-A177-3AD203B41FA5}">
                      <a16:colId xmlns="" xmlns:a16="http://schemas.microsoft.com/office/drawing/2014/main" val="513514917"/>
                    </a:ext>
                  </a:extLst>
                </a:gridCol>
              </a:tblGrid>
              <a:tr h="839225">
                <a:tc gridSpan="2">
                  <a:txBody>
                    <a:bodyPr/>
                    <a:lstStyle/>
                    <a:p>
                      <a:pPr algn="ctr" fontAlgn="ctr" latinLnBrk="0">
                        <a:buNone/>
                      </a:pPr>
                      <a:r>
                        <a:rPr lang="zh-CN" altLang="en-US" sz="1200" b="0" i="0" dirty="0">
                          <a:solidFill>
                            <a:srgbClr val="000000"/>
                          </a:solidFill>
                          <a:effectLst/>
                        </a:rPr>
                        <a:t>距离开标</a:t>
                      </a:r>
                      <a:r>
                        <a:rPr lang="en-US" altLang="zh-CN" sz="1200" b="0" i="0" dirty="0">
                          <a:solidFill>
                            <a:srgbClr val="000000"/>
                          </a:solidFill>
                          <a:effectLst/>
                        </a:rPr>
                        <a:t>30</a:t>
                      </a:r>
                      <a:r>
                        <a:rPr lang="zh-CN" altLang="en-US" sz="1200" b="0" i="0" dirty="0">
                          <a:solidFill>
                            <a:srgbClr val="000000"/>
                          </a:solidFill>
                          <a:effectLst/>
                        </a:rPr>
                        <a:t>天以内对应的清单可信度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 xmlns:a16="http://schemas.microsoft.com/office/drawing/2014/main" val="3282005789"/>
                  </a:ext>
                </a:extLst>
              </a:tr>
              <a:tr h="839225">
                <a:tc>
                  <a:txBody>
                    <a:bodyPr/>
                    <a:lstStyle/>
                    <a:p>
                      <a:pPr algn="ctr" fontAlgn="ctr" latinLnBrk="0">
                        <a:buNone/>
                      </a:pPr>
                      <a:r>
                        <a:rPr lang="zh-CN" altLang="en-US" sz="1200" b="0" i="0">
                          <a:solidFill>
                            <a:srgbClr val="000000"/>
                          </a:solidFill>
                          <a:effectLst/>
                        </a:rPr>
                        <a:t>非弱电</a:t>
                      </a:r>
                      <a:r>
                        <a:rPr lang="en-US" altLang="zh-CN" sz="1200" b="0" i="0">
                          <a:solidFill>
                            <a:srgbClr val="000000"/>
                          </a:solidFill>
                          <a:effectLst/>
                        </a:rPr>
                        <a:t>&amp;</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a:solidFill>
                            <a:srgbClr val="000000"/>
                          </a:solidFill>
                          <a:effectLst/>
                        </a:rPr>
                        <a:t>100%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742244116"/>
                  </a:ext>
                </a:extLst>
              </a:tr>
              <a:tr h="839225">
                <a:tc>
                  <a:txBody>
                    <a:bodyPr/>
                    <a:lstStyle/>
                    <a:p>
                      <a:pPr algn="ctr" fontAlgn="ctr" latinLnBrk="0">
                        <a:buNone/>
                      </a:pPr>
                      <a:r>
                        <a:rPr lang="zh-CN" altLang="en-US" sz="1200" b="0" i="0">
                          <a:solidFill>
                            <a:srgbClr val="000000"/>
                          </a:solidFill>
                          <a:effectLst/>
                        </a:rPr>
                        <a:t>弱电</a:t>
                      </a:r>
                      <a:r>
                        <a:rPr lang="en-US" altLang="zh-CN" sz="1200" b="0" i="0">
                          <a:solidFill>
                            <a:srgbClr val="000000"/>
                          </a:solidFill>
                          <a:effectLst/>
                        </a:rPr>
                        <a:t>/</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450714906"/>
                  </a:ext>
                </a:extLst>
              </a:tr>
            </a:tbl>
          </a:graphicData>
        </a:graphic>
      </p:graphicFrame>
      <p:sp>
        <p:nvSpPr>
          <p:cNvPr id="11" name="Rectangle 1">
            <a:extLst>
              <a:ext uri="{FF2B5EF4-FFF2-40B4-BE49-F238E27FC236}">
                <a16:creationId xmlns="" xmlns:a16="http://schemas.microsoft.com/office/drawing/2014/main" id="{3C20F3BF-EAEE-C7FD-81F4-DF2B2224E7A0}"/>
              </a:ext>
            </a:extLst>
          </p:cNvPr>
          <p:cNvSpPr>
            <a:spLocks noChangeArrowheads="1"/>
          </p:cNvSpPr>
          <p:nvPr/>
        </p:nvSpPr>
        <p:spPr bwMode="auto">
          <a:xfrm>
            <a:off x="5026025" y="3316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5503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F20E0-6A92-CD5E-697C-3E087CB974B4}"/>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AEA9122C-4849-5D0C-6D8C-84E6BD5DAE81}"/>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1-</a:t>
            </a:r>
            <a:r>
              <a:rPr lang="zh-CN" altLang="en-US" dirty="0"/>
              <a:t>漏斗外进漏斗内</a:t>
            </a:r>
          </a:p>
        </p:txBody>
      </p:sp>
      <p:sp>
        <p:nvSpPr>
          <p:cNvPr id="13" name="Rectangle 1">
            <a:extLst>
              <a:ext uri="{FF2B5EF4-FFF2-40B4-BE49-F238E27FC236}">
                <a16:creationId xmlns="" xmlns:a16="http://schemas.microsoft.com/office/drawing/2014/main" id="{333CB7A5-7029-0FE4-51A3-CC62EDD2EBA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 xmlns:a16="http://schemas.microsoft.com/office/drawing/2014/main" id="{F805F899-66D5-3C11-2F57-A80046BE7191}"/>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 xmlns:a16="http://schemas.microsoft.com/office/drawing/2014/main" id="{F5E32523-284A-8B63-6CEA-0A9B21D65A82}"/>
              </a:ext>
            </a:extLst>
          </p:cNvPr>
          <p:cNvGraphicFramePr>
            <a:graphicFrameLocks noGrp="1"/>
          </p:cNvGraphicFramePr>
          <p:nvPr/>
        </p:nvGraphicFramePr>
        <p:xfrm>
          <a:off x="331911" y="936541"/>
          <a:ext cx="10275949" cy="5153184"/>
        </p:xfrm>
        <a:graphic>
          <a:graphicData uri="http://schemas.openxmlformats.org/drawingml/2006/table">
            <a:tbl>
              <a:tblPr/>
              <a:tblGrid>
                <a:gridCol w="748858">
                  <a:extLst>
                    <a:ext uri="{9D8B030D-6E8A-4147-A177-3AD203B41FA5}">
                      <a16:colId xmlns="" xmlns:a16="http://schemas.microsoft.com/office/drawing/2014/main" val="1424276263"/>
                    </a:ext>
                  </a:extLst>
                </a:gridCol>
                <a:gridCol w="1118012">
                  <a:extLst>
                    <a:ext uri="{9D8B030D-6E8A-4147-A177-3AD203B41FA5}">
                      <a16:colId xmlns="" xmlns:a16="http://schemas.microsoft.com/office/drawing/2014/main" val="579850757"/>
                    </a:ext>
                  </a:extLst>
                </a:gridCol>
                <a:gridCol w="1065276">
                  <a:extLst>
                    <a:ext uri="{9D8B030D-6E8A-4147-A177-3AD203B41FA5}">
                      <a16:colId xmlns="" xmlns:a16="http://schemas.microsoft.com/office/drawing/2014/main" val="1952244882"/>
                    </a:ext>
                  </a:extLst>
                </a:gridCol>
                <a:gridCol w="7343803">
                  <a:extLst>
                    <a:ext uri="{9D8B030D-6E8A-4147-A177-3AD203B41FA5}">
                      <a16:colId xmlns="" xmlns:a16="http://schemas.microsoft.com/office/drawing/2014/main" val="3847008033"/>
                    </a:ext>
                  </a:extLst>
                </a:gridCol>
              </a:tblGrid>
              <a:tr h="445997">
                <a:tc gridSpan="4">
                  <a:txBody>
                    <a:bodyPr/>
                    <a:lstStyle/>
                    <a:p>
                      <a:pPr algn="ctr" fontAlgn="ctr" latinLnBrk="0">
                        <a:buNone/>
                      </a:pPr>
                      <a:r>
                        <a:rPr lang="zh-CN" altLang="en-US" sz="1100" b="0" i="0" dirty="0">
                          <a:solidFill>
                            <a:srgbClr val="000000"/>
                          </a:solidFill>
                          <a:effectLst/>
                        </a:rPr>
                        <a:t>项目进漏斗时做准清单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 xmlns:a16="http://schemas.microsoft.com/office/drawing/2014/main" val="2299279229"/>
                  </a:ext>
                </a:extLst>
              </a:tr>
              <a:tr h="479066">
                <a:tc>
                  <a:txBody>
                    <a:bodyPr/>
                    <a:lstStyle/>
                    <a:p>
                      <a:pPr algn="ctr" fontAlgn="ctr" latinLnBrk="0">
                        <a:buNone/>
                      </a:pPr>
                      <a:r>
                        <a:rPr lang="zh-CN" altLang="en-US" sz="1100" b="0" i="0" dirty="0">
                          <a:solidFill>
                            <a:srgbClr val="000000"/>
                          </a:solidFill>
                          <a:effectLst/>
                        </a:rPr>
                        <a:t>工序步骤</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工序名称</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工序角色</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操作指导</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2300142081"/>
                  </a:ext>
                </a:extLst>
              </a:tr>
              <a:tr h="968202">
                <a:tc>
                  <a:txBody>
                    <a:bodyPr/>
                    <a:lstStyle/>
                    <a:p>
                      <a:pPr algn="ctr" fontAlgn="ctr" latinLnBrk="0">
                        <a:lnSpc>
                          <a:spcPct val="150000"/>
                        </a:lnSpc>
                        <a:buNone/>
                      </a:pPr>
                      <a:r>
                        <a:rPr lang="en-US" altLang="zh-CN" sz="1200" b="0" i="0" dirty="0">
                          <a:solidFill>
                            <a:srgbClr val="000000"/>
                          </a:solidFill>
                          <a:effectLst/>
                        </a:rPr>
                        <a:t>1</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配置清单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、接到销售需求，售前根据需求配置产品清单。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、按照清单可信度自评打分标准，</a:t>
                      </a:r>
                      <a:r>
                        <a:rPr lang="zh-CN" altLang="en-US" sz="1100" b="1" i="0" dirty="0">
                          <a:solidFill>
                            <a:srgbClr val="000000"/>
                          </a:solidFill>
                          <a:effectLst/>
                        </a:rPr>
                        <a:t>在系统中填写可信度评分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、把达标的产品清单分享给销售，</a:t>
                      </a:r>
                      <a:r>
                        <a:rPr lang="zh-CN" altLang="en-US" sz="1100" b="1" i="0" dirty="0">
                          <a:solidFill>
                            <a:srgbClr val="000000"/>
                          </a:solidFill>
                          <a:effectLst/>
                        </a:rPr>
                        <a:t>未达标无法分享</a:t>
                      </a:r>
                      <a:r>
                        <a:rPr lang="zh-CN" altLang="en-US" sz="1100" b="0" i="0" dirty="0">
                          <a:solidFill>
                            <a:srgbClr val="000000"/>
                          </a:solidFill>
                          <a:effectLst/>
                        </a:rPr>
                        <a:t>。</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2728066998"/>
                  </a:ext>
                </a:extLst>
              </a:tr>
              <a:tr h="1142773">
                <a:tc>
                  <a:txBody>
                    <a:bodyPr/>
                    <a:lstStyle/>
                    <a:p>
                      <a:pPr algn="ctr" fontAlgn="ctr" latinLnBrk="0">
                        <a:lnSpc>
                          <a:spcPct val="150000"/>
                        </a:lnSpc>
                        <a:buNone/>
                      </a:pPr>
                      <a:r>
                        <a:rPr lang="en-US" altLang="zh-CN" sz="1200" b="0" i="0">
                          <a:solidFill>
                            <a:srgbClr val="000000"/>
                          </a:solidFill>
                          <a:effectLst/>
                        </a:rPr>
                        <a:t>2</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录入清单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、通知售前，</a:t>
                      </a:r>
                      <a:r>
                        <a:rPr lang="en-US" altLang="zh-CN" sz="1100" b="0" i="0" dirty="0">
                          <a:solidFill>
                            <a:srgbClr val="000000"/>
                          </a:solidFill>
                          <a:effectLst/>
                        </a:rPr>
                        <a:t>XX</a:t>
                      </a:r>
                      <a:r>
                        <a:rPr lang="zh-CN" altLang="en-US" sz="1100" b="0" i="0" dirty="0">
                          <a:solidFill>
                            <a:srgbClr val="000000"/>
                          </a:solidFill>
                          <a:effectLst/>
                        </a:rPr>
                        <a:t>项目准备进漏斗，需要更新一版清单。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、只能导入售前分享的最新清单（</a:t>
                      </a:r>
                      <a:r>
                        <a:rPr lang="zh-CN" altLang="en-US" sz="1100" b="1" i="0" dirty="0">
                          <a:solidFill>
                            <a:srgbClr val="000000"/>
                          </a:solidFill>
                          <a:effectLst/>
                        </a:rPr>
                        <a:t>唯一匹配且携带可信度评分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、保存至</a:t>
                      </a:r>
                      <a:r>
                        <a:rPr lang="en-US" altLang="zh-CN" sz="1100" b="0" i="0" dirty="0">
                          <a:solidFill>
                            <a:srgbClr val="000000"/>
                          </a:solidFill>
                          <a:effectLst/>
                        </a:rPr>
                        <a:t>CRM</a:t>
                      </a:r>
                      <a:r>
                        <a:rPr lang="zh-CN" altLang="en-US" sz="1100" b="0" i="0" dirty="0">
                          <a:solidFill>
                            <a:srgbClr val="000000"/>
                          </a:solidFill>
                          <a:effectLst/>
                        </a:rPr>
                        <a:t>。</a:t>
                      </a:r>
                      <a:endParaRPr lang="en-US" altLang="zh-CN" sz="1100" b="0" i="0" dirty="0">
                        <a:solidFill>
                          <a:srgbClr val="000000"/>
                        </a:solidFill>
                        <a:effectLst/>
                      </a:endParaRPr>
                    </a:p>
                    <a:p>
                      <a:pPr algn="l" fontAlgn="ctr" latinLnBrk="0">
                        <a:lnSpc>
                          <a:spcPct val="150000"/>
                        </a:lnSpc>
                        <a:buNone/>
                      </a:pPr>
                      <a:r>
                        <a:rPr lang="zh-CN" altLang="en-US" sz="1000" b="0" i="0" dirty="0">
                          <a:solidFill>
                            <a:schemeClr val="tx1">
                              <a:lumMod val="50000"/>
                              <a:lumOff val="50000"/>
                            </a:schemeClr>
                          </a:solidFill>
                          <a:effectLst/>
                        </a:rPr>
                        <a:t>注：如果是销售自己配置的清单或渠道工程师配置的清单，需交由售前核准，售前核准后通过产品配置器分享给销售。</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690673922"/>
                  </a:ext>
                </a:extLst>
              </a:tr>
              <a:tr h="669098">
                <a:tc>
                  <a:txBody>
                    <a:bodyPr/>
                    <a:lstStyle/>
                    <a:p>
                      <a:pPr algn="ctr" fontAlgn="ctr" latinLnBrk="0">
                        <a:lnSpc>
                          <a:spcPct val="150000"/>
                        </a:lnSpc>
                        <a:buNone/>
                      </a:pPr>
                      <a:r>
                        <a:rPr lang="en-US" altLang="zh-CN" sz="1200" b="0" i="0">
                          <a:solidFill>
                            <a:srgbClr val="000000"/>
                          </a:solidFill>
                          <a:effectLst/>
                        </a:rPr>
                        <a:t>3</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提交申请</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、提交漏斗申请时，</a:t>
                      </a:r>
                      <a:r>
                        <a:rPr lang="en-US" altLang="zh-CN" sz="1100" b="1" i="0" dirty="0">
                          <a:solidFill>
                            <a:srgbClr val="000000"/>
                          </a:solidFill>
                          <a:effectLst/>
                        </a:rPr>
                        <a:t>CRM</a:t>
                      </a:r>
                      <a:r>
                        <a:rPr lang="zh-CN" altLang="en-US" sz="1100" b="1" i="0" dirty="0">
                          <a:solidFill>
                            <a:srgbClr val="000000"/>
                          </a:solidFill>
                          <a:effectLst/>
                        </a:rPr>
                        <a:t>系统自动判断产品清单可信度，不达标不允许提交</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509154941"/>
                  </a:ext>
                </a:extLst>
              </a:tr>
              <a:tr h="564274">
                <a:tc>
                  <a:txBody>
                    <a:bodyPr/>
                    <a:lstStyle/>
                    <a:p>
                      <a:pPr algn="ctr" fontAlgn="ctr" latinLnBrk="0">
                        <a:lnSpc>
                          <a:spcPct val="150000"/>
                        </a:lnSpc>
                        <a:buNone/>
                      </a:pPr>
                      <a:r>
                        <a:rPr lang="en-US" altLang="zh-CN" sz="1200" b="0" i="0">
                          <a:solidFill>
                            <a:srgbClr val="000000"/>
                          </a:solidFill>
                          <a:effectLst/>
                        </a:rPr>
                        <a:t>4</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审批漏斗</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区域经理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、审批漏斗时，</a:t>
                      </a:r>
                      <a:r>
                        <a:rPr lang="zh-CN" altLang="en-US" sz="1100" b="1" i="0" dirty="0">
                          <a:solidFill>
                            <a:srgbClr val="000000"/>
                          </a:solidFill>
                          <a:effectLst/>
                        </a:rPr>
                        <a:t>可以看到产品清单可信度评分</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1630124422"/>
                  </a:ext>
                </a:extLst>
              </a:tr>
              <a:tr h="883774">
                <a:tc>
                  <a:txBody>
                    <a:bodyPr/>
                    <a:lstStyle/>
                    <a:p>
                      <a:pPr algn="ctr" fontAlgn="ctr" latinLnBrk="0">
                        <a:lnSpc>
                          <a:spcPct val="150000"/>
                        </a:lnSpc>
                        <a:buNone/>
                      </a:pPr>
                      <a:r>
                        <a:rPr lang="en-US" altLang="zh-CN" sz="1200" b="0" i="0">
                          <a:solidFill>
                            <a:srgbClr val="000000"/>
                          </a:solidFill>
                          <a:effectLst/>
                        </a:rPr>
                        <a:t>5</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清单校准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、进入</a:t>
                      </a:r>
                      <a:r>
                        <a:rPr lang="en-US" altLang="zh-CN" sz="1100" b="0" i="0" dirty="0">
                          <a:solidFill>
                            <a:srgbClr val="000000"/>
                          </a:solidFill>
                          <a:effectLst/>
                        </a:rPr>
                        <a:t>ECP</a:t>
                      </a:r>
                      <a:r>
                        <a:rPr lang="zh-CN" altLang="en-US" sz="1100" b="0" i="0" dirty="0">
                          <a:solidFill>
                            <a:srgbClr val="000000"/>
                          </a:solidFill>
                          <a:effectLst/>
                        </a:rPr>
                        <a:t>系统，检查配置器、</a:t>
                      </a:r>
                      <a:r>
                        <a:rPr lang="en-US" altLang="zh-CN" sz="1100" b="0" i="0" dirty="0">
                          <a:solidFill>
                            <a:srgbClr val="000000"/>
                          </a:solidFill>
                          <a:effectLst/>
                        </a:rPr>
                        <a:t>ECP</a:t>
                      </a:r>
                      <a:r>
                        <a:rPr lang="zh-CN" altLang="en-US" sz="1100" b="0" i="0" dirty="0">
                          <a:solidFill>
                            <a:srgbClr val="000000"/>
                          </a:solidFill>
                          <a:effectLst/>
                        </a:rPr>
                        <a:t>、</a:t>
                      </a:r>
                      <a:r>
                        <a:rPr lang="en-US" altLang="zh-CN" sz="1100" b="0" i="0" dirty="0">
                          <a:solidFill>
                            <a:srgbClr val="000000"/>
                          </a:solidFill>
                          <a:effectLst/>
                        </a:rPr>
                        <a:t>CRM</a:t>
                      </a:r>
                      <a:r>
                        <a:rPr lang="zh-CN" altLang="en-US" sz="1100" b="0" i="0" dirty="0">
                          <a:solidFill>
                            <a:srgbClr val="000000"/>
                          </a:solidFill>
                          <a:effectLst/>
                        </a:rPr>
                        <a:t>三者清单是否一致</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2268522579"/>
                  </a:ext>
                </a:extLst>
              </a:tr>
            </a:tbl>
          </a:graphicData>
        </a:graphic>
      </p:graphicFrame>
      <p:sp>
        <p:nvSpPr>
          <p:cNvPr id="4" name="Rectangle 1">
            <a:extLst>
              <a:ext uri="{FF2B5EF4-FFF2-40B4-BE49-F238E27FC236}">
                <a16:creationId xmlns="" xmlns:a16="http://schemas.microsoft.com/office/drawing/2014/main" id="{816253C5-A85F-B186-E021-EF531BED654B}"/>
              </a:ext>
            </a:extLst>
          </p:cNvPr>
          <p:cNvSpPr>
            <a:spLocks noChangeArrowheads="1"/>
          </p:cNvSpPr>
          <p:nvPr/>
        </p:nvSpPr>
        <p:spPr bwMode="auto">
          <a:xfrm>
            <a:off x="3998913" y="18240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33304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805A87-4C27-191E-28CF-51DB1CB3B306}"/>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ABEAB8F8-61D2-45C4-2679-5F236402DAAB}"/>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2-</a:t>
            </a:r>
            <a:r>
              <a:rPr lang="zh-CN" altLang="en-US" dirty="0"/>
              <a:t>漏斗内项目管理</a:t>
            </a:r>
          </a:p>
        </p:txBody>
      </p:sp>
      <p:sp>
        <p:nvSpPr>
          <p:cNvPr id="13" name="Rectangle 1">
            <a:extLst>
              <a:ext uri="{FF2B5EF4-FFF2-40B4-BE49-F238E27FC236}">
                <a16:creationId xmlns="" xmlns:a16="http://schemas.microsoft.com/office/drawing/2014/main" id="{E159B7D8-9C99-8CAF-256C-D01B96B5473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 xmlns:a16="http://schemas.microsoft.com/office/drawing/2014/main" id="{E9090F20-03E6-4F10-CF12-D9844403489E}"/>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 xmlns:a16="http://schemas.microsoft.com/office/drawing/2014/main" id="{A238EAA0-6A4F-2D5B-8E11-8D71D505B339}"/>
              </a:ext>
            </a:extLst>
          </p:cNvPr>
          <p:cNvGraphicFramePr>
            <a:graphicFrameLocks noGrp="1"/>
          </p:cNvGraphicFramePr>
          <p:nvPr>
            <p:extLst>
              <p:ext uri="{D42A27DB-BD31-4B8C-83A1-F6EECF244321}">
                <p14:modId xmlns:p14="http://schemas.microsoft.com/office/powerpoint/2010/main" val="1980319396"/>
              </p:ext>
            </p:extLst>
          </p:nvPr>
        </p:nvGraphicFramePr>
        <p:xfrm>
          <a:off x="332593" y="1069338"/>
          <a:ext cx="11238872" cy="5098595"/>
        </p:xfrm>
        <a:graphic>
          <a:graphicData uri="http://schemas.openxmlformats.org/drawingml/2006/table">
            <a:tbl>
              <a:tblPr/>
              <a:tblGrid>
                <a:gridCol w="785435">
                  <a:extLst>
                    <a:ext uri="{9D8B030D-6E8A-4147-A177-3AD203B41FA5}">
                      <a16:colId xmlns="" xmlns:a16="http://schemas.microsoft.com/office/drawing/2014/main" val="3888131057"/>
                    </a:ext>
                  </a:extLst>
                </a:gridCol>
                <a:gridCol w="1054137">
                  <a:extLst>
                    <a:ext uri="{9D8B030D-6E8A-4147-A177-3AD203B41FA5}">
                      <a16:colId xmlns="" xmlns:a16="http://schemas.microsoft.com/office/drawing/2014/main" val="2282877473"/>
                    </a:ext>
                  </a:extLst>
                </a:gridCol>
                <a:gridCol w="1043804">
                  <a:extLst>
                    <a:ext uri="{9D8B030D-6E8A-4147-A177-3AD203B41FA5}">
                      <a16:colId xmlns="" xmlns:a16="http://schemas.microsoft.com/office/drawing/2014/main" val="2172044278"/>
                    </a:ext>
                  </a:extLst>
                </a:gridCol>
                <a:gridCol w="8355496">
                  <a:extLst>
                    <a:ext uri="{9D8B030D-6E8A-4147-A177-3AD203B41FA5}">
                      <a16:colId xmlns="" xmlns:a16="http://schemas.microsoft.com/office/drawing/2014/main" val="3166024810"/>
                    </a:ext>
                  </a:extLst>
                </a:gridCol>
              </a:tblGrid>
              <a:tr h="436682">
                <a:tc gridSpan="4">
                  <a:txBody>
                    <a:bodyPr/>
                    <a:lstStyle/>
                    <a:p>
                      <a:pPr algn="ctr" fontAlgn="ctr" latinLnBrk="0">
                        <a:lnSpc>
                          <a:spcPct val="150000"/>
                        </a:lnSpc>
                        <a:buNone/>
                      </a:pPr>
                      <a:r>
                        <a:rPr lang="zh-CN" altLang="en-US" sz="1100" b="0" i="0" dirty="0">
                          <a:solidFill>
                            <a:srgbClr val="000000"/>
                          </a:solidFill>
                          <a:effectLst/>
                        </a:rPr>
                        <a:t>漏内项目做准清单</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 xmlns:a16="http://schemas.microsoft.com/office/drawing/2014/main" val="2800951906"/>
                  </a:ext>
                </a:extLst>
              </a:tr>
              <a:tr h="450424">
                <a:tc>
                  <a:txBody>
                    <a:bodyPr/>
                    <a:lstStyle/>
                    <a:p>
                      <a:pPr algn="ctr" fontAlgn="ctr" latinLnBrk="0">
                        <a:lnSpc>
                          <a:spcPct val="150000"/>
                        </a:lnSpc>
                        <a:buNone/>
                      </a:pPr>
                      <a:r>
                        <a:rPr lang="zh-CN" altLang="en-US" sz="1000" b="0" i="0">
                          <a:solidFill>
                            <a:srgbClr val="000000"/>
                          </a:solidFill>
                          <a:effectLst/>
                        </a:rPr>
                        <a:t>工序步骤</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工序名称</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工序角色</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dirty="0">
                          <a:solidFill>
                            <a:srgbClr val="000000"/>
                          </a:solidFill>
                          <a:effectLst/>
                        </a:rPr>
                        <a:t>操作指导</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635360056"/>
                  </a:ext>
                </a:extLst>
              </a:tr>
              <a:tr h="1433383">
                <a:tc>
                  <a:txBody>
                    <a:bodyPr/>
                    <a:lstStyle/>
                    <a:p>
                      <a:pPr algn="ctr" fontAlgn="ctr" latinLnBrk="0">
                        <a:lnSpc>
                          <a:spcPct val="150000"/>
                        </a:lnSpc>
                        <a:buNone/>
                      </a:pPr>
                      <a:r>
                        <a:rPr lang="en-US" altLang="zh-CN" sz="1000" b="0" i="0" dirty="0">
                          <a:solidFill>
                            <a:srgbClr val="000000"/>
                          </a:solidFill>
                          <a:effectLst/>
                        </a:rPr>
                        <a:t>1</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日常项目自盘</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、项目的产品清单可信度自评打分，</a:t>
                      </a:r>
                      <a:r>
                        <a:rPr lang="zh-CN" altLang="en-US" sz="1000" b="1" i="0" dirty="0">
                          <a:solidFill>
                            <a:srgbClr val="000000"/>
                          </a:solidFill>
                          <a:effectLst/>
                        </a:rPr>
                        <a:t>记录在配置器</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2</a:t>
                      </a:r>
                      <a:r>
                        <a:rPr lang="zh-CN" altLang="en-US" sz="1000" b="0" i="0" dirty="0">
                          <a:solidFill>
                            <a:srgbClr val="000000"/>
                          </a:solidFill>
                          <a:effectLst/>
                        </a:rPr>
                        <a:t>、产品清单（更新）分享销售，</a:t>
                      </a:r>
                      <a:r>
                        <a:rPr lang="zh-CN" altLang="en-US" sz="1000" b="1"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3</a:t>
                      </a:r>
                      <a:r>
                        <a:rPr lang="zh-CN" altLang="en-US" sz="1000" b="0" i="0" dirty="0">
                          <a:solidFill>
                            <a:srgbClr val="000000"/>
                          </a:solidFill>
                          <a:effectLst/>
                        </a:rPr>
                        <a:t>、</a:t>
                      </a:r>
                      <a:r>
                        <a:rPr lang="en-US" altLang="zh-CN" sz="1000" b="0" i="0" dirty="0">
                          <a:solidFill>
                            <a:srgbClr val="000000"/>
                          </a:solidFill>
                          <a:effectLst/>
                        </a:rPr>
                        <a:t>ECP</a:t>
                      </a:r>
                      <a:r>
                        <a:rPr lang="zh-CN" altLang="en-US" sz="1000" b="0" i="0" dirty="0">
                          <a:solidFill>
                            <a:srgbClr val="000000"/>
                          </a:solidFill>
                          <a:effectLst/>
                        </a:rPr>
                        <a:t>导入产品清单（唯一匹配），保存至</a:t>
                      </a:r>
                      <a:r>
                        <a:rPr lang="en-US" altLang="zh-CN" sz="1000" b="0" i="0" dirty="0">
                          <a:solidFill>
                            <a:srgbClr val="000000"/>
                          </a:solidFill>
                          <a:effectLst/>
                        </a:rPr>
                        <a:t>CRM</a:t>
                      </a:r>
                      <a:r>
                        <a:rPr lang="zh-CN" altLang="en-US" sz="1000" b="0"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7</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580977653"/>
                  </a:ext>
                </a:extLst>
              </a:tr>
              <a:tr h="1233784">
                <a:tc>
                  <a:txBody>
                    <a:bodyPr/>
                    <a:lstStyle/>
                    <a:p>
                      <a:pPr algn="ctr" fontAlgn="ctr" latinLnBrk="0">
                        <a:lnSpc>
                          <a:spcPct val="150000"/>
                        </a:lnSpc>
                        <a:buNone/>
                      </a:pPr>
                      <a:r>
                        <a:rPr lang="en-US" altLang="zh-CN" sz="1000" b="0" i="0" dirty="0">
                          <a:solidFill>
                            <a:srgbClr val="000000"/>
                          </a:solidFill>
                          <a:effectLst/>
                        </a:rPr>
                        <a:t>2</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提升预测类别</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、项目预测类别变化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30</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3767137226"/>
                  </a:ext>
                </a:extLst>
              </a:tr>
              <a:tr h="1319097">
                <a:tc>
                  <a:txBody>
                    <a:bodyPr/>
                    <a:lstStyle/>
                    <a:p>
                      <a:pPr algn="ctr" fontAlgn="ctr" latinLnBrk="0">
                        <a:lnSpc>
                          <a:spcPct val="150000"/>
                        </a:lnSpc>
                        <a:buNone/>
                      </a:pPr>
                      <a:r>
                        <a:rPr lang="en-US" altLang="zh-CN" sz="1000" b="0" i="0">
                          <a:solidFill>
                            <a:srgbClr val="000000"/>
                          </a:solidFill>
                          <a:effectLst/>
                        </a:rPr>
                        <a:t>3</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更新开标时间</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、项目开标时间变化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7</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1881572835"/>
                  </a:ext>
                </a:extLst>
              </a:tr>
            </a:tbl>
          </a:graphicData>
        </a:graphic>
      </p:graphicFrame>
      <p:sp>
        <p:nvSpPr>
          <p:cNvPr id="4" name="Rectangle 1">
            <a:extLst>
              <a:ext uri="{FF2B5EF4-FFF2-40B4-BE49-F238E27FC236}">
                <a16:creationId xmlns="" xmlns:a16="http://schemas.microsoft.com/office/drawing/2014/main" id="{DE354879-F838-3B2F-1128-7576190C7D42}"/>
              </a:ext>
            </a:extLst>
          </p:cNvPr>
          <p:cNvSpPr>
            <a:spLocks noChangeArrowheads="1"/>
          </p:cNvSpPr>
          <p:nvPr/>
        </p:nvSpPr>
        <p:spPr bwMode="auto">
          <a:xfrm>
            <a:off x="4610100" y="1690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1678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的定义</a:t>
            </a:r>
          </a:p>
        </p:txBody>
      </p:sp>
      <p:graphicFrame>
        <p:nvGraphicFramePr>
          <p:cNvPr id="8" name="表格 7"/>
          <p:cNvGraphicFramePr>
            <a:graphicFrameLocks noGrp="1"/>
          </p:cNvGraphicFramePr>
          <p:nvPr/>
        </p:nvGraphicFramePr>
        <p:xfrm>
          <a:off x="923732" y="2584867"/>
          <a:ext cx="10067728" cy="4229849"/>
        </p:xfrm>
        <a:graphic>
          <a:graphicData uri="http://schemas.openxmlformats.org/drawingml/2006/table">
            <a:tbl>
              <a:tblPr/>
              <a:tblGrid>
                <a:gridCol w="836322">
                  <a:extLst>
                    <a:ext uri="{9D8B030D-6E8A-4147-A177-3AD203B41FA5}">
                      <a16:colId xmlns="" xmlns:a16="http://schemas.microsoft.com/office/drawing/2014/main" val="20000"/>
                    </a:ext>
                  </a:extLst>
                </a:gridCol>
                <a:gridCol w="1168702">
                  <a:extLst>
                    <a:ext uri="{9D8B030D-6E8A-4147-A177-3AD203B41FA5}">
                      <a16:colId xmlns="" xmlns:a16="http://schemas.microsoft.com/office/drawing/2014/main" val="20001"/>
                    </a:ext>
                  </a:extLst>
                </a:gridCol>
                <a:gridCol w="2584011">
                  <a:extLst>
                    <a:ext uri="{9D8B030D-6E8A-4147-A177-3AD203B41FA5}">
                      <a16:colId xmlns="" xmlns:a16="http://schemas.microsoft.com/office/drawing/2014/main" val="20002"/>
                    </a:ext>
                  </a:extLst>
                </a:gridCol>
                <a:gridCol w="5478693">
                  <a:extLst>
                    <a:ext uri="{9D8B030D-6E8A-4147-A177-3AD203B41FA5}">
                      <a16:colId xmlns="" xmlns:a16="http://schemas.microsoft.com/office/drawing/2014/main" val="20003"/>
                    </a:ext>
                  </a:extLst>
                </a:gridCol>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extLst>
                  <a:ext uri="{0D108BD9-81ED-4DB2-BD59-A6C34878D82A}">
                    <a16:rowId xmlns="" xmlns:a16="http://schemas.microsoft.com/office/drawing/2014/main" val="10000"/>
                  </a:ext>
                </a:extLst>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lnSpc>
                          <a:spcPct val="150000"/>
                        </a:lnSpc>
                      </a:pPr>
                      <a:r>
                        <a:rPr lang="zh-CN" altLang="en-US" sz="1400" b="0" i="0" dirty="0">
                          <a:solidFill>
                            <a:srgbClr val="000000"/>
                          </a:solidFill>
                          <a:effectLst/>
                        </a:rPr>
                        <a:t>以最终设备使用或者上线时间来倒推（</a:t>
                      </a:r>
                      <a:r>
                        <a:rPr lang="zh-CN" altLang="en-US" sz="1400" b="0" i="0" dirty="0">
                          <a:solidFill>
                            <a:srgbClr val="000000"/>
                          </a:solidFill>
                        </a:rPr>
                        <a:t>客户希望货到现场的时间，不限于我司，而是客户针对这个项目要求到货时间。备注：“要求到货时间”跟“是否备货”不再强关联）</a:t>
                      </a:r>
                      <a:r>
                        <a:rPr lang="zh-CN" altLang="en-US" sz="1400" b="0" i="0" dirty="0">
                          <a:solidFill>
                            <a:srgbClr val="000000"/>
                          </a:solidFill>
                          <a:effectLst/>
                        </a:rPr>
                        <a:t>）</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extLst>
                  <a:ext uri="{0D108BD9-81ED-4DB2-BD59-A6C34878D82A}">
                    <a16:rowId xmlns="" xmlns:a16="http://schemas.microsoft.com/office/drawing/2014/main" val="10001"/>
                  </a:ext>
                </a:extLst>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extLst>
                  <a:ext uri="{0D108BD9-81ED-4DB2-BD59-A6C34878D82A}">
                    <a16:rowId xmlns="" xmlns:a16="http://schemas.microsoft.com/office/drawing/2014/main" val="10002"/>
                  </a:ext>
                </a:extLst>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extLst>
                  <a:ext uri="{0D108BD9-81ED-4DB2-BD59-A6C34878D82A}">
                    <a16:rowId xmlns="" xmlns:a16="http://schemas.microsoft.com/office/drawing/2014/main" val="10004"/>
                  </a:ext>
                </a:extLst>
              </a:tr>
              <a:tr h="551336">
                <a:tc vMerge="1">
                  <a:txBody>
                    <a:bodyPr/>
                    <a:lstStyle/>
                    <a:p>
                      <a:endParaRPr lang="zh-CN"/>
                    </a:p>
                  </a:txBody>
                  <a:tcPr/>
                </a:tc>
                <a:tc vMerge="1">
                  <a:txBody>
                    <a:bodyPr/>
                    <a:lstStyle/>
                    <a:p>
                      <a:endParaRPr lang="zh-CN"/>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extLst>
                  <a:ext uri="{0D108BD9-81ED-4DB2-BD59-A6C34878D82A}">
                    <a16:rowId xmlns="" xmlns:a16="http://schemas.microsoft.com/office/drawing/2014/main" val="10005"/>
                  </a:ext>
                </a:extLst>
              </a:tr>
              <a:tr h="551336">
                <a:tc vMerge="1">
                  <a:txBody>
                    <a:bodyPr/>
                    <a:lstStyle/>
                    <a:p>
                      <a:endParaRPr lang="zh-CN"/>
                    </a:p>
                  </a:txBody>
                  <a:tcPr/>
                </a:tc>
                <a:tc vMerge="1">
                  <a:txBody>
                    <a:bodyPr/>
                    <a:lstStyle/>
                    <a:p>
                      <a:endParaRPr lang="zh-CN"/>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 xmlns:a16="http://schemas.microsoft.com/office/drawing/2014/main" val="10006"/>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 xmlns:a16="http://schemas.microsoft.com/office/drawing/2014/main" val="10007"/>
                  </a:ext>
                </a:extLst>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a:t>要求到货时间</a:t>
            </a:r>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a:t>正式上线使用</a:t>
            </a:r>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a:t>预计下单日期</a:t>
            </a:r>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a:t>预计开标日期</a:t>
            </a:r>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a:t>获取商机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要求到货时间的估算方法和填写标准</a:t>
            </a:r>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a:t>正式上线使用</a:t>
            </a:r>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1</a:t>
            </a:r>
            <a:r>
              <a:rPr lang="zh-CN" altLang="en-US" sz="1400" b="1" dirty="0">
                <a:solidFill>
                  <a:schemeClr val="tx1"/>
                </a:solidFill>
              </a:rPr>
              <a:t>：</a:t>
            </a:r>
          </a:p>
          <a:p>
            <a:r>
              <a:rPr lang="zh-CN" altLang="en-US" sz="1400" dirty="0">
                <a:solidFill>
                  <a:schemeClr val="tx1"/>
                </a:solidFill>
              </a:rPr>
              <a:t>不需要大量施工布线的项目，从正式上线使用时间倒推</a:t>
            </a:r>
            <a:r>
              <a:rPr lang="en-US" altLang="zh-CN" sz="1400" dirty="0">
                <a:solidFill>
                  <a:schemeClr val="tx1"/>
                </a:solidFill>
              </a:rPr>
              <a:t>15</a:t>
            </a:r>
            <a:r>
              <a:rPr lang="zh-CN" altLang="en-US" sz="1400" dirty="0">
                <a:solidFill>
                  <a:schemeClr val="tx1"/>
                </a:solidFill>
              </a:rPr>
              <a:t>天</a:t>
            </a: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a:solidFill>
                  <a:srgbClr val="C00000"/>
                </a:solidFill>
              </a:rPr>
              <a:t>15</a:t>
            </a:r>
            <a:r>
              <a:rPr lang="zh-CN" altLang="en-US" b="1" dirty="0">
                <a:solidFill>
                  <a:srgbClr val="C00000"/>
                </a:solidFill>
              </a:rPr>
              <a:t>天左右</a:t>
            </a: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a:solidFill>
                  <a:srgbClr val="C00000"/>
                </a:solidFill>
              </a:rPr>
              <a:t>30</a:t>
            </a:r>
            <a:r>
              <a:rPr lang="zh-CN" altLang="en-US" b="1" dirty="0">
                <a:solidFill>
                  <a:srgbClr val="C00000"/>
                </a:solidFill>
              </a:rPr>
              <a:t>天左右</a:t>
            </a: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2</a:t>
            </a:r>
            <a:r>
              <a:rPr lang="zh-CN" altLang="en-US" sz="1400" b="1" dirty="0">
                <a:solidFill>
                  <a:schemeClr val="tx1"/>
                </a:solidFill>
              </a:rPr>
              <a:t>：</a:t>
            </a: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填写标准</a:t>
            </a: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r>
              <a:rPr lang="zh-CN" altLang="en-US" sz="1200" dirty="0"/>
              <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a:t>要求到货时间</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预计下单时间的估算方法和填写标准</a:t>
            </a:r>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a:solidFill>
                  <a:srgbClr val="000000"/>
                </a:solidFill>
                <a:latin typeface="MonospacedNumber"/>
              </a:rPr>
              <a:t>一个订单里面如果涉及多款产品，每款产品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endParaRPr lang="en-US" altLang="zh-CN" sz="1600" b="1" dirty="0">
              <a:solidFill>
                <a:srgbClr val="000000"/>
              </a:solidFill>
              <a:latin typeface="MonospacedNumber"/>
            </a:endParaRPr>
          </a:p>
          <a:p>
            <a:pPr>
              <a:lnSpc>
                <a:spcPct val="150000"/>
              </a:lnSpc>
            </a:pPr>
            <a:endParaRPr lang="en-US" altLang="zh-CN" sz="1600" dirty="0"/>
          </a:p>
          <a:p>
            <a:pPr>
              <a:lnSpc>
                <a:spcPct val="150000"/>
              </a:lnSpc>
            </a:pPr>
            <a:r>
              <a:rPr lang="zh-CN" altLang="en-US" sz="1600" dirty="0"/>
              <a:t>跟据预计要货时间以及订单的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预计开标时间的估算方法和填写标准</a:t>
            </a:r>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针对“预计开标日期”以“正推法”和“倒推法”，重点以正推法作为指导。</a:t>
            </a:r>
            <a:endParaRPr lang="en-US" altLang="zh-CN" sz="1600" dirty="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a:effectLst/>
                <a:hlinkClick r:id="" action="ppaction://noaction"/>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a:t>当前时间</a:t>
            </a:r>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a:t>客户采购时间点</a:t>
            </a:r>
            <a:r>
              <a:rPr lang="en-US" altLang="zh-CN" sz="1400" dirty="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a:t>客户采购时间点</a:t>
            </a:r>
            <a:r>
              <a:rPr lang="en-US" altLang="zh-CN" sz="1400" dirty="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当前时间</a:t>
            </a:r>
            <a:r>
              <a:rPr lang="en-US" altLang="zh-CN" sz="1600" b="1" dirty="0">
                <a:solidFill>
                  <a:schemeClr val="accent6"/>
                </a:solidFill>
              </a:rPr>
              <a:t>+ 【</a:t>
            </a:r>
            <a:r>
              <a:rPr lang="zh-CN" altLang="en-US" sz="1600" b="1" dirty="0">
                <a:solidFill>
                  <a:schemeClr val="accent6"/>
                </a:solidFill>
              </a:rPr>
              <a:t>客户采购周期（</a:t>
            </a:r>
            <a:r>
              <a:rPr lang="en-US" altLang="zh-CN" sz="1600" b="1" dirty="0">
                <a:solidFill>
                  <a:schemeClr val="accent6"/>
                </a:solidFill>
              </a:rPr>
              <a:t>1---n</a:t>
            </a:r>
            <a:r>
              <a:rPr lang="zh-CN" altLang="en-US" sz="1600" b="1" dirty="0">
                <a:solidFill>
                  <a:schemeClr val="accent6"/>
                </a:solidFill>
              </a:rPr>
              <a:t>）</a:t>
            </a:r>
            <a:r>
              <a:rPr lang="en-US" altLang="zh-CN" sz="1600" b="1" dirty="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a:t>采购周期</a:t>
            </a:r>
            <a:r>
              <a:rPr lang="en-US" altLang="zh-CN" sz="1400" dirty="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a:t>采购周期</a:t>
            </a:r>
            <a:r>
              <a:rPr lang="en-US" altLang="zh-CN" sz="1400" dirty="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a:t>当前时间</a:t>
            </a:r>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a:t>预计下单日期</a:t>
            </a:r>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客户要货日期</a:t>
            </a:r>
            <a:r>
              <a:rPr lang="en-US" altLang="zh-CN" sz="1600" b="1" dirty="0">
                <a:solidFill>
                  <a:schemeClr val="accent6"/>
                </a:solidFill>
              </a:rPr>
              <a:t> -【</a:t>
            </a:r>
            <a:r>
              <a:rPr lang="zh-CN" altLang="en-US" sz="1600" b="1" dirty="0">
                <a:solidFill>
                  <a:schemeClr val="accent6"/>
                </a:solidFill>
              </a:rPr>
              <a:t>关键活动耗时</a:t>
            </a:r>
            <a:r>
              <a:rPr lang="en-US" altLang="zh-CN" sz="1600" b="1" dirty="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a:t>合同签订及下单周期</a:t>
            </a:r>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a:t>项目复杂程度</a:t>
            </a:r>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a:t>中标公示</a:t>
            </a:r>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a:t>客户最晚要货日期</a:t>
            </a:r>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3610721"/>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3249368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预测流程</a:t>
            </a:r>
            <a:endParaRPr lang="zh-CN" altLang="en-US" dirty="0"/>
          </a:p>
        </p:txBody>
      </p:sp>
      <p:pic>
        <p:nvPicPr>
          <p:cNvPr id="43" name="图片 42"/>
          <p:cNvPicPr>
            <a:picLocks noChangeAspect="1"/>
          </p:cNvPicPr>
          <p:nvPr/>
        </p:nvPicPr>
        <p:blipFill>
          <a:blip r:embed="rId2"/>
          <a:stretch>
            <a:fillRect/>
          </a:stretch>
        </p:blipFill>
        <p:spPr>
          <a:xfrm>
            <a:off x="1834194" y="936747"/>
            <a:ext cx="8740897" cy="5921253"/>
          </a:xfrm>
          <a:prstGeom prst="rect">
            <a:avLst/>
          </a:prstGeom>
        </p:spPr>
      </p:pic>
    </p:spTree>
    <p:extLst>
      <p:ext uri="{BB962C8B-B14F-4D97-AF65-F5344CB8AC3E}">
        <p14:creationId xmlns:p14="http://schemas.microsoft.com/office/powerpoint/2010/main" val="2722257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4172036"/>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1226071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471524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2401359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要货日期管理方案</a:t>
            </a:r>
            <a:endParaRPr lang="zh-CN" altLang="en-US" dirty="0"/>
          </a:p>
        </p:txBody>
      </p:sp>
      <p:pic>
        <p:nvPicPr>
          <p:cNvPr id="1025" name="Picture 1" descr="https://ruijie.feishu.cn/space/api/box/stream/download/asynccode/?code=MjI3MDE2NzQ0ODMyZjRlYTEyODlhMjQ1ZjJjNjA5YWRfWEt1OUI1c09NMG4yRURrVWlKVEFXT1k1aGg2NVF0UERfVG9rZW46WVlMUGJtd1Q4b2s2VzN4N2t3YWN2MnNLbld1XzE3NjkwNjQ5MTI6MTc2OTA2ODUxMl9W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961" y="1205690"/>
            <a:ext cx="11618595" cy="522598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714399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1970</Words>
  <Application>Microsoft Office PowerPoint</Application>
  <PresentationFormat>宽屏</PresentationFormat>
  <Paragraphs>297</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MonospacedNumber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289</cp:revision>
  <dcterms:created xsi:type="dcterms:W3CDTF">2025-07-28T02:11:00Z</dcterms:created>
  <dcterms:modified xsi:type="dcterms:W3CDTF">2026-01-22T06:56:54Z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